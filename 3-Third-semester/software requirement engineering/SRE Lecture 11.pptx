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0" r:id="rId1"/>
  </p:sldMasterIdLst>
  <p:notesMasterIdLst>
    <p:notesMasterId r:id="rId14"/>
  </p:notesMasterIdLst>
  <p:handoutMasterIdLst>
    <p:handoutMasterId r:id="rId15"/>
  </p:handoutMasterIdLst>
  <p:sldIdLst>
    <p:sldId id="265" r:id="rId2"/>
    <p:sldId id="316" r:id="rId3"/>
    <p:sldId id="317" r:id="rId4"/>
    <p:sldId id="318" r:id="rId5"/>
    <p:sldId id="319" r:id="rId6"/>
    <p:sldId id="320" r:id="rId7"/>
    <p:sldId id="321" r:id="rId8"/>
    <p:sldId id="322" r:id="rId9"/>
    <p:sldId id="323" r:id="rId10"/>
    <p:sldId id="324" r:id="rId11"/>
    <p:sldId id="325" r:id="rId12"/>
    <p:sldId id="301" r:id="rId13"/>
  </p:sldIdLst>
  <p:sldSz cx="9144000" cy="6858000" type="screen4x3"/>
  <p:notesSz cx="10234613" cy="71024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CC0000"/>
    <a:srgbClr val="A1D8FD"/>
    <a:srgbClr val="66FF33"/>
    <a:srgbClr val="FFFF00"/>
    <a:srgbClr val="FF33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44" autoAdjust="0"/>
    <p:restoredTop sz="94576" autoAdjust="0"/>
  </p:normalViewPr>
  <p:slideViewPr>
    <p:cSldViewPr>
      <p:cViewPr varScale="1">
        <p:scale>
          <a:sx n="70" d="100"/>
          <a:sy n="70" d="100"/>
        </p:scale>
        <p:origin x="14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5" name="Rectangle 3"/>
          <p:cNvSpPr>
            <a:spLocks noGrp="1" noChangeArrowheads="1"/>
          </p:cNvSpPr>
          <p:nvPr>
            <p:ph type="dt" sz="quarter" idx="1"/>
          </p:nvPr>
        </p:nvSpPr>
        <p:spPr bwMode="auto">
          <a:xfrm>
            <a:off x="5797583" y="1"/>
            <a:ext cx="4435338" cy="35450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eaLnBrk="0" hangingPunct="0">
              <a:defRPr sz="1300">
                <a:latin typeface="Times New Roman" pitchFamily="18" charset="0"/>
              </a:defRPr>
            </a:lvl1pPr>
          </a:lstStyle>
          <a:p>
            <a:endParaRPr lang="en-US" dirty="0"/>
          </a:p>
        </p:txBody>
      </p:sp>
      <p:sp>
        <p:nvSpPr>
          <p:cNvPr id="74756" name="Rectangle 4"/>
          <p:cNvSpPr>
            <a:spLocks noGrp="1" noChangeArrowheads="1"/>
          </p:cNvSpPr>
          <p:nvPr>
            <p:ph type="ftr" sz="quarter" idx="2"/>
          </p:nvPr>
        </p:nvSpPr>
        <p:spPr bwMode="auto">
          <a:xfrm>
            <a:off x="0"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eaLnBrk="0" hangingPunct="0">
              <a:defRPr sz="1300">
                <a:latin typeface="Times New Roman" pitchFamily="18" charset="0"/>
              </a:defRPr>
            </a:lvl1pPr>
          </a:lstStyle>
          <a:p>
            <a:endParaRPr lang="en-US" dirty="0"/>
          </a:p>
        </p:txBody>
      </p:sp>
      <p:sp>
        <p:nvSpPr>
          <p:cNvPr id="74757" name="Rectangle 5"/>
          <p:cNvSpPr>
            <a:spLocks noGrp="1" noChangeArrowheads="1"/>
          </p:cNvSpPr>
          <p:nvPr>
            <p:ph type="sldNum" sz="quarter" idx="3"/>
          </p:nvPr>
        </p:nvSpPr>
        <p:spPr bwMode="auto">
          <a:xfrm>
            <a:off x="5797583" y="6746428"/>
            <a:ext cx="4435338" cy="354507"/>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eaLnBrk="0" hangingPunct="0">
              <a:defRPr sz="1300">
                <a:latin typeface="Times New Roman" pitchFamily="18" charset="0"/>
              </a:defRPr>
            </a:lvl1pPr>
          </a:lstStyle>
          <a:p>
            <a:fld id="{98277AA0-422D-49C5-AD31-D6F6794DCACC}" type="slidenum">
              <a:rPr lang="en-US"/>
              <a:pPr/>
              <a:t>‹#›</a:t>
            </a:fld>
            <a:endParaRPr lang="en-US" dirty="0"/>
          </a:p>
        </p:txBody>
      </p:sp>
    </p:spTree>
    <p:extLst>
      <p:ext uri="{BB962C8B-B14F-4D97-AF65-F5344CB8AC3E}">
        <p14:creationId xmlns:p14="http://schemas.microsoft.com/office/powerpoint/2010/main" val="39718540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3" name="Rectangle 3"/>
          <p:cNvSpPr>
            <a:spLocks noGrp="1" noChangeArrowheads="1"/>
          </p:cNvSpPr>
          <p:nvPr>
            <p:ph type="dt" idx="1"/>
          </p:nvPr>
        </p:nvSpPr>
        <p:spPr bwMode="auto">
          <a:xfrm>
            <a:off x="5797583" y="1"/>
            <a:ext cx="4435338" cy="35450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endParaRPr lang="en-US" dirty="0"/>
          </a:p>
        </p:txBody>
      </p:sp>
      <p:sp>
        <p:nvSpPr>
          <p:cNvPr id="128004" name="Rectangle 4"/>
          <p:cNvSpPr>
            <a:spLocks noGrp="1" noRot="1" noChangeAspect="1" noChangeArrowheads="1" noTextEdit="1"/>
          </p:cNvSpPr>
          <p:nvPr>
            <p:ph type="sldImg" idx="2"/>
          </p:nvPr>
        </p:nvSpPr>
        <p:spPr bwMode="auto">
          <a:xfrm>
            <a:off x="3341688" y="533400"/>
            <a:ext cx="3552825" cy="2663825"/>
          </a:xfrm>
          <a:prstGeom prst="rect">
            <a:avLst/>
          </a:prstGeom>
          <a:noFill/>
          <a:ln w="9525">
            <a:solidFill>
              <a:srgbClr val="000000"/>
            </a:solidFill>
            <a:miter lim="800000"/>
            <a:headEnd/>
            <a:tailEnd/>
          </a:ln>
          <a:effectLst/>
        </p:spPr>
      </p:sp>
      <p:sp>
        <p:nvSpPr>
          <p:cNvPr id="128005" name="Rectangle 5"/>
          <p:cNvSpPr>
            <a:spLocks noGrp="1" noChangeArrowheads="1"/>
          </p:cNvSpPr>
          <p:nvPr>
            <p:ph type="body" sz="quarter" idx="3"/>
          </p:nvPr>
        </p:nvSpPr>
        <p:spPr bwMode="auto">
          <a:xfrm>
            <a:off x="1023801" y="3373985"/>
            <a:ext cx="8187014" cy="3195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28006" name="Rectangle 6"/>
          <p:cNvSpPr>
            <a:spLocks noGrp="1" noChangeArrowheads="1"/>
          </p:cNvSpPr>
          <p:nvPr>
            <p:ph type="ftr" sz="quarter" idx="4"/>
          </p:nvPr>
        </p:nvSpPr>
        <p:spPr bwMode="auto">
          <a:xfrm>
            <a:off x="0"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endParaRPr lang="en-US" dirty="0"/>
          </a:p>
        </p:txBody>
      </p:sp>
      <p:sp>
        <p:nvSpPr>
          <p:cNvPr id="128007" name="Rectangle 7"/>
          <p:cNvSpPr>
            <a:spLocks noGrp="1" noChangeArrowheads="1"/>
          </p:cNvSpPr>
          <p:nvPr>
            <p:ph type="sldNum" sz="quarter" idx="5"/>
          </p:nvPr>
        </p:nvSpPr>
        <p:spPr bwMode="auto">
          <a:xfrm>
            <a:off x="5797583" y="6746428"/>
            <a:ext cx="4435338" cy="35450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itchFamily="18" charset="0"/>
              </a:defRPr>
            </a:lvl1pPr>
          </a:lstStyle>
          <a:p>
            <a:fld id="{B375FC27-C9DA-4FC8-8D8B-B445BA50C65D}" type="slidenum">
              <a:rPr lang="en-US"/>
              <a:pPr/>
              <a:t>‹#›</a:t>
            </a:fld>
            <a:endParaRPr lang="en-US" dirty="0"/>
          </a:p>
        </p:txBody>
      </p:sp>
    </p:spTree>
    <p:extLst>
      <p:ext uri="{BB962C8B-B14F-4D97-AF65-F5344CB8AC3E}">
        <p14:creationId xmlns:p14="http://schemas.microsoft.com/office/powerpoint/2010/main" val="36448465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D6F981B-5368-48B0-8DC1-5E439685D15B}" type="slidenum">
              <a:rPr lang="en-US" smtClean="0"/>
              <a:pPr/>
              <a:t>‹#›</a:t>
            </a:fld>
            <a:endParaRPr lang="en-US" dirty="0"/>
          </a:p>
        </p:txBody>
      </p:sp>
      <p:pic>
        <p:nvPicPr>
          <p:cNvPr id="7" name="Picture 6" descr="dse_logo_clr.jpg"/>
          <p:cNvPicPr>
            <a:picLocks noChangeAspect="1"/>
          </p:cNvPicPr>
          <p:nvPr userDrawn="1"/>
        </p:nvPicPr>
        <p:blipFill>
          <a:blip r:embed="rId2" cstate="print"/>
          <a:stretch>
            <a:fillRect/>
          </a:stretch>
        </p:blipFill>
        <p:spPr>
          <a:xfrm>
            <a:off x="7622841" y="54864"/>
            <a:ext cx="1451056" cy="1697736"/>
          </a:xfrm>
          <a:prstGeom prst="rect">
            <a:avLst/>
          </a:prstGeom>
        </p:spPr>
      </p:pic>
    </p:spTree>
    <p:extLst>
      <p:ext uri="{BB962C8B-B14F-4D97-AF65-F5344CB8AC3E}">
        <p14:creationId xmlns:p14="http://schemas.microsoft.com/office/powerpoint/2010/main" val="2204401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8E39768-55DC-42DF-B2CB-4D4CE6063993}" type="slidenum">
              <a:rPr lang="en-US" smtClean="0"/>
              <a:pPr/>
              <a:t>‹#›</a:t>
            </a:fld>
            <a:endParaRPr lang="en-US" dirty="0"/>
          </a:p>
        </p:txBody>
      </p:sp>
    </p:spTree>
    <p:extLst>
      <p:ext uri="{BB962C8B-B14F-4D97-AF65-F5344CB8AC3E}">
        <p14:creationId xmlns:p14="http://schemas.microsoft.com/office/powerpoint/2010/main" val="4017629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483D255-0C04-4D39-A4CD-FCC0B5073F6E}" type="slidenum">
              <a:rPr lang="en-US" smtClean="0"/>
              <a:pPr/>
              <a:t>‹#›</a:t>
            </a:fld>
            <a:endParaRPr lang="en-US" dirty="0"/>
          </a:p>
        </p:txBody>
      </p:sp>
    </p:spTree>
    <p:extLst>
      <p:ext uri="{BB962C8B-B14F-4D97-AF65-F5344CB8AC3E}">
        <p14:creationId xmlns:p14="http://schemas.microsoft.com/office/powerpoint/2010/main" val="3837243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3D9D79A-F946-4617-93EE-BA949AD47439}" type="slidenum">
              <a:rPr lang="en-US" smtClean="0"/>
              <a:pPr/>
              <a:t>‹#›</a:t>
            </a:fld>
            <a:endParaRPr lang="en-US" dirty="0"/>
          </a:p>
        </p:txBody>
      </p:sp>
    </p:spTree>
    <p:extLst>
      <p:ext uri="{BB962C8B-B14F-4D97-AF65-F5344CB8AC3E}">
        <p14:creationId xmlns:p14="http://schemas.microsoft.com/office/powerpoint/2010/main" val="2683421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1081621-0B77-4E7D-8BD7-0767F3E05AB6}" type="slidenum">
              <a:rPr lang="en-US" smtClean="0"/>
              <a:pPr/>
              <a:t>‹#›</a:t>
            </a:fld>
            <a:endParaRPr lang="en-US" dirty="0"/>
          </a:p>
        </p:txBody>
      </p:sp>
    </p:spTree>
    <p:extLst>
      <p:ext uri="{BB962C8B-B14F-4D97-AF65-F5344CB8AC3E}">
        <p14:creationId xmlns:p14="http://schemas.microsoft.com/office/powerpoint/2010/main" val="235431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FB2B2A6-2657-4C65-993A-37AD5A8BFA13}" type="slidenum">
              <a:rPr lang="en-US" smtClean="0"/>
              <a:pPr/>
              <a:t>‹#›</a:t>
            </a:fld>
            <a:endParaRPr lang="en-US" dirty="0"/>
          </a:p>
        </p:txBody>
      </p:sp>
    </p:spTree>
    <p:extLst>
      <p:ext uri="{BB962C8B-B14F-4D97-AF65-F5344CB8AC3E}">
        <p14:creationId xmlns:p14="http://schemas.microsoft.com/office/powerpoint/2010/main" val="3803314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39BEC99-8755-42E6-A142-15F8A97C0276}" type="slidenum">
              <a:rPr lang="en-US" smtClean="0"/>
              <a:pPr/>
              <a:t>‹#›</a:t>
            </a:fld>
            <a:endParaRPr lang="en-US" dirty="0"/>
          </a:p>
        </p:txBody>
      </p:sp>
    </p:spTree>
    <p:extLst>
      <p:ext uri="{BB962C8B-B14F-4D97-AF65-F5344CB8AC3E}">
        <p14:creationId xmlns:p14="http://schemas.microsoft.com/office/powerpoint/2010/main" val="2487680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AFB4B43-2647-4DB3-812C-88FAA9FABE2B}" type="slidenum">
              <a:rPr lang="en-US" smtClean="0"/>
              <a:pPr/>
              <a:t>‹#›</a:t>
            </a:fld>
            <a:endParaRPr lang="en-US" dirty="0"/>
          </a:p>
        </p:txBody>
      </p:sp>
    </p:spTree>
    <p:extLst>
      <p:ext uri="{BB962C8B-B14F-4D97-AF65-F5344CB8AC3E}">
        <p14:creationId xmlns:p14="http://schemas.microsoft.com/office/powerpoint/2010/main" val="554608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570D00-7FB1-483A-9555-997AB2D170E1}" type="slidenum">
              <a:rPr lang="en-US" smtClean="0"/>
              <a:pPr/>
              <a:t>‹#›</a:t>
            </a:fld>
            <a:endParaRPr lang="en-US" dirty="0"/>
          </a:p>
        </p:txBody>
      </p:sp>
    </p:spTree>
    <p:extLst>
      <p:ext uri="{BB962C8B-B14F-4D97-AF65-F5344CB8AC3E}">
        <p14:creationId xmlns:p14="http://schemas.microsoft.com/office/powerpoint/2010/main" val="3956900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C22A75-4EAE-42DD-A329-D351D2353A1F}" type="slidenum">
              <a:rPr lang="en-US" smtClean="0"/>
              <a:pPr/>
              <a:t>‹#›</a:t>
            </a:fld>
            <a:endParaRPr lang="en-US" dirty="0"/>
          </a:p>
        </p:txBody>
      </p:sp>
    </p:spTree>
    <p:extLst>
      <p:ext uri="{BB962C8B-B14F-4D97-AF65-F5344CB8AC3E}">
        <p14:creationId xmlns:p14="http://schemas.microsoft.com/office/powerpoint/2010/main" val="799463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10CC31-C690-42E2-91AE-B48223F38F8E}" type="slidenum">
              <a:rPr lang="en-US" smtClean="0"/>
              <a:pPr/>
              <a:t>‹#›</a:t>
            </a:fld>
            <a:endParaRPr lang="en-US" dirty="0"/>
          </a:p>
        </p:txBody>
      </p:sp>
    </p:spTree>
    <p:extLst>
      <p:ext uri="{BB962C8B-B14F-4D97-AF65-F5344CB8AC3E}">
        <p14:creationId xmlns:p14="http://schemas.microsoft.com/office/powerpoint/2010/main" val="225202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4CA22F1-4A8B-4633-A241-853BEA80DC70}" type="slidenum">
              <a:rPr lang="en-US" smtClean="0"/>
              <a:pPr/>
              <a:t>‹#›</a:t>
            </a:fld>
            <a:endParaRPr lang="en-US" dirty="0"/>
          </a:p>
        </p:txBody>
      </p:sp>
      <p:pic>
        <p:nvPicPr>
          <p:cNvPr id="7" name="Picture 6" descr="dse_logo_clr.jpg"/>
          <p:cNvPicPr>
            <a:picLocks noChangeAspect="1"/>
          </p:cNvPicPr>
          <p:nvPr userDrawn="1"/>
        </p:nvPicPr>
        <p:blipFill>
          <a:blip r:embed="rId13" cstate="print"/>
          <a:stretch>
            <a:fillRect/>
          </a:stretch>
        </p:blipFill>
        <p:spPr>
          <a:xfrm>
            <a:off x="8548937" y="6172200"/>
            <a:ext cx="515815" cy="603503"/>
          </a:xfrm>
          <a:prstGeom prst="rect">
            <a:avLst/>
          </a:prstGeom>
        </p:spPr>
      </p:pic>
    </p:spTree>
    <p:extLst>
      <p:ext uri="{BB962C8B-B14F-4D97-AF65-F5344CB8AC3E}">
        <p14:creationId xmlns:p14="http://schemas.microsoft.com/office/powerpoint/2010/main" val="89405501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6" name="Rectangle 10"/>
          <p:cNvSpPr>
            <a:spLocks noGrp="1" noChangeArrowheads="1"/>
          </p:cNvSpPr>
          <p:nvPr>
            <p:ph type="ctrTitle"/>
          </p:nvPr>
        </p:nvSpPr>
        <p:spPr/>
        <p:txBody>
          <a:bodyPr/>
          <a:lstStyle/>
          <a:p>
            <a:r>
              <a:rPr lang="en-US" dirty="0" smtClean="0"/>
              <a:t>Requirements Engineering</a:t>
            </a:r>
            <a:endParaRPr lang="en-US" dirty="0"/>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Requirements Documentation</a:t>
            </a:r>
          </a:p>
        </p:txBody>
      </p:sp>
      <p:grpSp>
        <p:nvGrpSpPr>
          <p:cNvPr id="2" name="Group 49"/>
          <p:cNvGrpSpPr>
            <a:grpSpLocks/>
          </p:cNvGrpSpPr>
          <p:nvPr/>
        </p:nvGrpSpPr>
        <p:grpSpPr bwMode="auto">
          <a:xfrm>
            <a:off x="660400" y="2971800"/>
            <a:ext cx="8001000" cy="2455863"/>
            <a:chOff x="416" y="1872"/>
            <a:chExt cx="5040" cy="1547"/>
          </a:xfrm>
        </p:grpSpPr>
        <p:sp>
          <p:nvSpPr>
            <p:cNvPr id="35875" name="AutoShape 35"/>
            <p:cNvSpPr>
              <a:spLocks noChangeArrowheads="1"/>
            </p:cNvSpPr>
            <p:nvPr/>
          </p:nvSpPr>
          <p:spPr bwMode="auto">
            <a:xfrm>
              <a:off x="416" y="1872"/>
              <a:ext cx="1008" cy="528"/>
            </a:xfrm>
            <a:prstGeom prst="roundRect">
              <a:avLst>
                <a:gd name="adj" fmla="val 16667"/>
              </a:avLst>
            </a:prstGeom>
            <a:solidFill>
              <a:srgbClr val="99CCFF"/>
            </a:solidFill>
            <a:ln w="9525">
              <a:solidFill>
                <a:schemeClr val="tx1"/>
              </a:solidFill>
              <a:round/>
              <a:headEnd/>
              <a:tailEnd/>
            </a:ln>
            <a:effectLst/>
          </p:spPr>
          <p:txBody>
            <a:bodyPr wrap="none" anchor="ctr"/>
            <a:lstStyle/>
            <a:p>
              <a:pPr algn="ctr" eaLnBrk="0" hangingPunct="0"/>
              <a:r>
                <a:rPr lang="en-US">
                  <a:latin typeface="Tahoma" pitchFamily="34" charset="0"/>
                </a:rPr>
                <a:t>Requirements</a:t>
              </a:r>
              <a:br>
                <a:rPr lang="en-US">
                  <a:latin typeface="Tahoma" pitchFamily="34" charset="0"/>
                </a:rPr>
              </a:br>
              <a:r>
                <a:rPr lang="en-US">
                  <a:latin typeface="Tahoma" pitchFamily="34" charset="0"/>
                </a:rPr>
                <a:t>definition</a:t>
              </a:r>
            </a:p>
          </p:txBody>
        </p:sp>
        <p:sp>
          <p:nvSpPr>
            <p:cNvPr id="35877" name="AutoShape 37"/>
            <p:cNvSpPr>
              <a:spLocks noChangeArrowheads="1"/>
            </p:cNvSpPr>
            <p:nvPr/>
          </p:nvSpPr>
          <p:spPr bwMode="auto">
            <a:xfrm>
              <a:off x="1728" y="1872"/>
              <a:ext cx="1008" cy="528"/>
            </a:xfrm>
            <a:prstGeom prst="roundRect">
              <a:avLst>
                <a:gd name="adj" fmla="val 16667"/>
              </a:avLst>
            </a:prstGeom>
            <a:solidFill>
              <a:srgbClr val="99CCFF"/>
            </a:solidFill>
            <a:ln w="9525">
              <a:solidFill>
                <a:schemeClr val="tx1"/>
              </a:solidFill>
              <a:round/>
              <a:headEnd/>
              <a:tailEnd/>
            </a:ln>
            <a:effectLst/>
          </p:spPr>
          <p:txBody>
            <a:bodyPr wrap="none" anchor="ctr"/>
            <a:lstStyle/>
            <a:p>
              <a:pPr algn="ctr" eaLnBrk="0" hangingPunct="0"/>
              <a:r>
                <a:rPr lang="en-US">
                  <a:latin typeface="Tahoma" pitchFamily="34" charset="0"/>
                </a:rPr>
                <a:t>Requirements</a:t>
              </a:r>
              <a:br>
                <a:rPr lang="en-US">
                  <a:latin typeface="Tahoma" pitchFamily="34" charset="0"/>
                </a:rPr>
              </a:br>
              <a:r>
                <a:rPr lang="en-US">
                  <a:latin typeface="Tahoma" pitchFamily="34" charset="0"/>
                </a:rPr>
                <a:t>Specification</a:t>
              </a:r>
            </a:p>
          </p:txBody>
        </p:sp>
        <p:sp>
          <p:nvSpPr>
            <p:cNvPr id="35878" name="AutoShape 38"/>
            <p:cNvSpPr>
              <a:spLocks noChangeArrowheads="1"/>
            </p:cNvSpPr>
            <p:nvPr/>
          </p:nvSpPr>
          <p:spPr bwMode="auto">
            <a:xfrm>
              <a:off x="3040" y="1872"/>
              <a:ext cx="1008" cy="528"/>
            </a:xfrm>
            <a:prstGeom prst="roundRect">
              <a:avLst>
                <a:gd name="adj" fmla="val 16667"/>
              </a:avLst>
            </a:prstGeom>
            <a:solidFill>
              <a:srgbClr val="99CCFF"/>
            </a:solidFill>
            <a:ln w="9525">
              <a:solidFill>
                <a:schemeClr val="tx1"/>
              </a:solidFill>
              <a:round/>
              <a:headEnd/>
              <a:tailEnd/>
            </a:ln>
            <a:effectLst/>
          </p:spPr>
          <p:txBody>
            <a:bodyPr wrap="none" anchor="ctr"/>
            <a:lstStyle/>
            <a:p>
              <a:pPr algn="ctr" eaLnBrk="0" hangingPunct="0"/>
              <a:r>
                <a:rPr lang="en-US">
                  <a:latin typeface="Tahoma" pitchFamily="34" charset="0"/>
                </a:rPr>
                <a:t>Architectural</a:t>
              </a:r>
              <a:br>
                <a:rPr lang="en-US">
                  <a:latin typeface="Tahoma" pitchFamily="34" charset="0"/>
                </a:rPr>
              </a:br>
              <a:r>
                <a:rPr lang="en-US">
                  <a:latin typeface="Tahoma" pitchFamily="34" charset="0"/>
                </a:rPr>
                <a:t>design</a:t>
              </a:r>
            </a:p>
          </p:txBody>
        </p:sp>
        <p:sp>
          <p:nvSpPr>
            <p:cNvPr id="35879" name="AutoShape 39"/>
            <p:cNvSpPr>
              <a:spLocks noChangeArrowheads="1"/>
            </p:cNvSpPr>
            <p:nvPr/>
          </p:nvSpPr>
          <p:spPr bwMode="auto">
            <a:xfrm>
              <a:off x="4352" y="1872"/>
              <a:ext cx="1008" cy="528"/>
            </a:xfrm>
            <a:prstGeom prst="roundRect">
              <a:avLst>
                <a:gd name="adj" fmla="val 16667"/>
              </a:avLst>
            </a:prstGeom>
            <a:solidFill>
              <a:srgbClr val="99CCFF"/>
            </a:solidFill>
            <a:ln w="9525">
              <a:solidFill>
                <a:schemeClr val="tx1"/>
              </a:solidFill>
              <a:round/>
              <a:headEnd/>
              <a:tailEnd/>
            </a:ln>
            <a:effectLst/>
          </p:spPr>
          <p:txBody>
            <a:bodyPr wrap="none" anchor="ctr"/>
            <a:lstStyle/>
            <a:p>
              <a:pPr algn="ctr" eaLnBrk="0" hangingPunct="0"/>
              <a:r>
                <a:rPr lang="en-US">
                  <a:latin typeface="Tahoma" pitchFamily="34" charset="0"/>
                </a:rPr>
                <a:t>Software</a:t>
              </a:r>
              <a:br>
                <a:rPr lang="en-US">
                  <a:latin typeface="Tahoma" pitchFamily="34" charset="0"/>
                </a:rPr>
              </a:br>
              <a:r>
                <a:rPr lang="en-US">
                  <a:latin typeface="Tahoma" pitchFamily="34" charset="0"/>
                </a:rPr>
                <a:t>specification</a:t>
              </a:r>
            </a:p>
          </p:txBody>
        </p:sp>
        <p:cxnSp>
          <p:nvCxnSpPr>
            <p:cNvPr id="35880" name="AutoShape 40"/>
            <p:cNvCxnSpPr>
              <a:cxnSpLocks noChangeShapeType="1"/>
              <a:stCxn id="35875" idx="3"/>
              <a:endCxn id="35877" idx="1"/>
            </p:cNvCxnSpPr>
            <p:nvPr/>
          </p:nvCxnSpPr>
          <p:spPr bwMode="auto">
            <a:xfrm>
              <a:off x="1424" y="2136"/>
              <a:ext cx="304" cy="0"/>
            </a:xfrm>
            <a:prstGeom prst="straightConnector1">
              <a:avLst/>
            </a:prstGeom>
            <a:noFill/>
            <a:ln w="9525">
              <a:solidFill>
                <a:schemeClr val="tx1"/>
              </a:solidFill>
              <a:round/>
              <a:headEnd/>
              <a:tailEnd type="triangle" w="med" len="med"/>
            </a:ln>
            <a:effectLst/>
          </p:spPr>
        </p:cxnSp>
        <p:cxnSp>
          <p:nvCxnSpPr>
            <p:cNvPr id="35881" name="AutoShape 41"/>
            <p:cNvCxnSpPr>
              <a:cxnSpLocks noChangeShapeType="1"/>
              <a:stCxn id="35877" idx="3"/>
              <a:endCxn id="35878" idx="1"/>
            </p:cNvCxnSpPr>
            <p:nvPr/>
          </p:nvCxnSpPr>
          <p:spPr bwMode="auto">
            <a:xfrm>
              <a:off x="2736" y="2136"/>
              <a:ext cx="304" cy="0"/>
            </a:xfrm>
            <a:prstGeom prst="straightConnector1">
              <a:avLst/>
            </a:prstGeom>
            <a:noFill/>
            <a:ln w="9525">
              <a:solidFill>
                <a:schemeClr val="tx1"/>
              </a:solidFill>
              <a:round/>
              <a:headEnd/>
              <a:tailEnd type="triangle" w="med" len="med"/>
            </a:ln>
            <a:effectLst/>
          </p:spPr>
        </p:cxnSp>
        <p:cxnSp>
          <p:nvCxnSpPr>
            <p:cNvPr id="35882" name="AutoShape 42"/>
            <p:cNvCxnSpPr>
              <a:cxnSpLocks noChangeShapeType="1"/>
              <a:stCxn id="35878" idx="3"/>
              <a:endCxn id="35879" idx="1"/>
            </p:cNvCxnSpPr>
            <p:nvPr/>
          </p:nvCxnSpPr>
          <p:spPr bwMode="auto">
            <a:xfrm>
              <a:off x="4048" y="2136"/>
              <a:ext cx="304" cy="0"/>
            </a:xfrm>
            <a:prstGeom prst="straightConnector1">
              <a:avLst/>
            </a:prstGeom>
            <a:noFill/>
            <a:ln w="9525">
              <a:solidFill>
                <a:schemeClr val="tx1"/>
              </a:solidFill>
              <a:round/>
              <a:headEnd/>
              <a:tailEnd type="triangle" w="med" len="med"/>
            </a:ln>
            <a:effectLst/>
          </p:spPr>
        </p:cxnSp>
        <p:cxnSp>
          <p:nvCxnSpPr>
            <p:cNvPr id="35883" name="AutoShape 43"/>
            <p:cNvCxnSpPr>
              <a:cxnSpLocks noChangeShapeType="1"/>
              <a:stCxn id="35877" idx="2"/>
              <a:endCxn id="35875" idx="2"/>
            </p:cNvCxnSpPr>
            <p:nvPr/>
          </p:nvCxnSpPr>
          <p:spPr bwMode="auto">
            <a:xfrm rot="5400000">
              <a:off x="1575" y="1745"/>
              <a:ext cx="1" cy="1312"/>
            </a:xfrm>
            <a:prstGeom prst="bentConnector3">
              <a:avLst>
                <a:gd name="adj1" fmla="val 14400000"/>
              </a:avLst>
            </a:prstGeom>
            <a:noFill/>
            <a:ln w="9525">
              <a:solidFill>
                <a:schemeClr val="tx1"/>
              </a:solidFill>
              <a:miter lim="800000"/>
              <a:headEnd/>
              <a:tailEnd type="triangle" w="med" len="med"/>
            </a:ln>
            <a:effectLst/>
          </p:spPr>
        </p:cxnSp>
        <p:cxnSp>
          <p:nvCxnSpPr>
            <p:cNvPr id="35884" name="AutoShape 44"/>
            <p:cNvCxnSpPr>
              <a:cxnSpLocks noChangeShapeType="1"/>
            </p:cNvCxnSpPr>
            <p:nvPr/>
          </p:nvCxnSpPr>
          <p:spPr bwMode="auto">
            <a:xfrm rot="5400000">
              <a:off x="3743" y="1089"/>
              <a:ext cx="1" cy="2624"/>
            </a:xfrm>
            <a:prstGeom prst="bentConnector3">
              <a:avLst>
                <a:gd name="adj1" fmla="val 14400000"/>
              </a:avLst>
            </a:prstGeom>
            <a:noFill/>
            <a:ln w="9525">
              <a:solidFill>
                <a:schemeClr val="tx1"/>
              </a:solidFill>
              <a:miter lim="800000"/>
              <a:headEnd/>
              <a:tailEnd type="triangle" w="med" len="med"/>
            </a:ln>
            <a:effectLst/>
          </p:spPr>
        </p:cxnSp>
        <p:sp>
          <p:nvSpPr>
            <p:cNvPr id="35885" name="Line 45"/>
            <p:cNvSpPr>
              <a:spLocks noChangeShapeType="1"/>
            </p:cNvSpPr>
            <p:nvPr/>
          </p:nvSpPr>
          <p:spPr bwMode="auto">
            <a:xfrm>
              <a:off x="464" y="2928"/>
              <a:ext cx="4896" cy="0"/>
            </a:xfrm>
            <a:prstGeom prst="line">
              <a:avLst/>
            </a:prstGeom>
            <a:noFill/>
            <a:ln w="38100">
              <a:solidFill>
                <a:schemeClr val="tx1"/>
              </a:solidFill>
              <a:round/>
              <a:headEnd type="arrow" w="med" len="med"/>
              <a:tailEnd type="arrow" w="med" len="med"/>
            </a:ln>
            <a:effectLst/>
          </p:spPr>
          <p:txBody>
            <a:bodyPr/>
            <a:lstStyle/>
            <a:p>
              <a:endParaRPr lang="en-GB"/>
            </a:p>
          </p:txBody>
        </p:sp>
        <p:sp>
          <p:nvSpPr>
            <p:cNvPr id="35886" name="Line 46"/>
            <p:cNvSpPr>
              <a:spLocks noChangeShapeType="1"/>
            </p:cNvSpPr>
            <p:nvPr/>
          </p:nvSpPr>
          <p:spPr bwMode="auto">
            <a:xfrm>
              <a:off x="2912" y="3216"/>
              <a:ext cx="2544" cy="0"/>
            </a:xfrm>
            <a:prstGeom prst="line">
              <a:avLst/>
            </a:prstGeom>
            <a:noFill/>
            <a:ln w="38100">
              <a:solidFill>
                <a:schemeClr val="tx1"/>
              </a:solidFill>
              <a:round/>
              <a:headEnd type="arrow" w="med" len="med"/>
              <a:tailEnd/>
            </a:ln>
            <a:effectLst/>
          </p:spPr>
          <p:txBody>
            <a:bodyPr/>
            <a:lstStyle/>
            <a:p>
              <a:endParaRPr lang="en-GB"/>
            </a:p>
          </p:txBody>
        </p:sp>
        <p:sp>
          <p:nvSpPr>
            <p:cNvPr id="35887" name="Text Box 47"/>
            <p:cNvSpPr txBox="1">
              <a:spLocks noChangeArrowheads="1"/>
            </p:cNvSpPr>
            <p:nvPr/>
          </p:nvSpPr>
          <p:spPr bwMode="auto">
            <a:xfrm>
              <a:off x="1846" y="2900"/>
              <a:ext cx="911" cy="231"/>
            </a:xfrm>
            <a:prstGeom prst="rect">
              <a:avLst/>
            </a:prstGeom>
            <a:noFill/>
            <a:ln w="9525">
              <a:noFill/>
              <a:miter lim="800000"/>
              <a:headEnd/>
              <a:tailEnd/>
            </a:ln>
            <a:effectLst/>
          </p:spPr>
          <p:txBody>
            <a:bodyPr wrap="none">
              <a:spAutoFit/>
            </a:bodyPr>
            <a:lstStyle/>
            <a:p>
              <a:pPr eaLnBrk="0" hangingPunct="0"/>
              <a:r>
                <a:rPr lang="en-US">
                  <a:latin typeface="Tahoma" pitchFamily="34" charset="0"/>
                </a:rPr>
                <a:t>Specification</a:t>
              </a:r>
            </a:p>
          </p:txBody>
        </p:sp>
        <p:sp>
          <p:nvSpPr>
            <p:cNvPr id="35888" name="Text Box 48"/>
            <p:cNvSpPr txBox="1">
              <a:spLocks noChangeArrowheads="1"/>
            </p:cNvSpPr>
            <p:nvPr/>
          </p:nvSpPr>
          <p:spPr bwMode="auto">
            <a:xfrm>
              <a:off x="3814" y="3188"/>
              <a:ext cx="547" cy="231"/>
            </a:xfrm>
            <a:prstGeom prst="rect">
              <a:avLst/>
            </a:prstGeom>
            <a:noFill/>
            <a:ln w="9525">
              <a:noFill/>
              <a:miter lim="800000"/>
              <a:headEnd/>
              <a:tailEnd/>
            </a:ln>
            <a:effectLst/>
          </p:spPr>
          <p:txBody>
            <a:bodyPr wrap="none">
              <a:spAutoFit/>
            </a:bodyPr>
            <a:lstStyle/>
            <a:p>
              <a:pPr eaLnBrk="0" hangingPunct="0"/>
              <a:r>
                <a:rPr lang="en-US">
                  <a:latin typeface="Tahoma" pitchFamily="34" charset="0"/>
                </a:rPr>
                <a:t>Design</a:t>
              </a:r>
            </a:p>
          </p:txBody>
        </p:sp>
      </p:gr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p:txBody>
          <a:bodyPr/>
          <a:lstStyle/>
          <a:p>
            <a:r>
              <a:rPr lang="en-US"/>
              <a:t>Requirements Definition</a:t>
            </a:r>
          </a:p>
        </p:txBody>
      </p:sp>
      <p:sp>
        <p:nvSpPr>
          <p:cNvPr id="32773" name="Rectangle 5"/>
          <p:cNvSpPr>
            <a:spLocks noGrp="1" noChangeArrowheads="1"/>
          </p:cNvSpPr>
          <p:nvPr>
            <p:ph idx="1"/>
          </p:nvPr>
        </p:nvSpPr>
        <p:spPr/>
        <p:txBody>
          <a:bodyPr>
            <a:normAutofit/>
          </a:bodyPr>
          <a:lstStyle/>
          <a:p>
            <a:r>
              <a:rPr lang="en-US" sz="2800"/>
              <a:t>A statement in a natural language plus diagrams of what services the system is expected to provide and the constraints under which it must operate.</a:t>
            </a:r>
          </a:p>
          <a:p>
            <a:r>
              <a:rPr lang="en-US" sz="2800"/>
              <a:t>Generated using customer-supplied information</a:t>
            </a:r>
          </a:p>
          <a:p>
            <a:r>
              <a:rPr lang="en-US" sz="2800"/>
              <a:t>Reflect what the customers wants</a:t>
            </a:r>
          </a:p>
          <a:p>
            <a:r>
              <a:rPr lang="en-US" sz="2800"/>
              <a:t>Example</a:t>
            </a:r>
          </a:p>
          <a:p>
            <a:pPr lvl="1"/>
            <a:r>
              <a:rPr lang="en-US" sz="2400"/>
              <a:t>The software must provide a means of representing and accessing external files created by other tools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32772"/>
                                        </p:tgtEl>
                                        <p:attrNameLst>
                                          <p:attrName>style.visibility</p:attrName>
                                        </p:attrNameLst>
                                      </p:cBhvr>
                                      <p:to>
                                        <p:strVal val="visible"/>
                                      </p:to>
                                    </p:set>
                                    <p:animEffect transition="in" filter="fade">
                                      <p:cBhvr>
                                        <p:cTn id="7" dur="600">
                                          <p:stCondLst>
                                            <p:cond delay="0"/>
                                          </p:stCondLst>
                                        </p:cTn>
                                        <p:tgtEl>
                                          <p:spTgt spid="32772"/>
                                        </p:tgtEl>
                                      </p:cBhvr>
                                    </p:animEffect>
                                    <p:anim calcmode="lin" valueType="num">
                                      <p:cBhvr>
                                        <p:cTn id="8" dur="600" fill="hold">
                                          <p:stCondLst>
                                            <p:cond delay="0"/>
                                          </p:stCondLst>
                                        </p:cTn>
                                        <p:tgtEl>
                                          <p:spTgt spid="32772"/>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32772"/>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3277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32773">
                                            <p:txEl>
                                              <p:pRg st="0" end="0"/>
                                            </p:txEl>
                                          </p:spTgt>
                                        </p:tgtEl>
                                        <p:attrNameLst>
                                          <p:attrName>style.visibility</p:attrName>
                                        </p:attrNameLst>
                                      </p:cBhvr>
                                      <p:to>
                                        <p:strVal val="visible"/>
                                      </p:to>
                                    </p:set>
                                    <p:animEffect transition="in" filter="slide(fromBottom)">
                                      <p:cBhvr>
                                        <p:cTn id="15" dur="500">
                                          <p:stCondLst>
                                            <p:cond delay="0"/>
                                          </p:stCondLst>
                                        </p:cTn>
                                        <p:tgtEl>
                                          <p:spTgt spid="3277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2773">
                                            <p:txEl>
                                              <p:pRg st="1" end="1"/>
                                            </p:txEl>
                                          </p:spTgt>
                                        </p:tgtEl>
                                        <p:attrNameLst>
                                          <p:attrName>style.visibility</p:attrName>
                                        </p:attrNameLst>
                                      </p:cBhvr>
                                      <p:to>
                                        <p:strVal val="visible"/>
                                      </p:to>
                                    </p:set>
                                    <p:animEffect transition="in" filter="slide(fromBottom)">
                                      <p:cBhvr>
                                        <p:cTn id="20" dur="500">
                                          <p:stCondLst>
                                            <p:cond delay="0"/>
                                          </p:stCondLst>
                                        </p:cTn>
                                        <p:tgtEl>
                                          <p:spTgt spid="3277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2773">
                                            <p:txEl>
                                              <p:pRg st="2" end="2"/>
                                            </p:txEl>
                                          </p:spTgt>
                                        </p:tgtEl>
                                        <p:attrNameLst>
                                          <p:attrName>style.visibility</p:attrName>
                                        </p:attrNameLst>
                                      </p:cBhvr>
                                      <p:to>
                                        <p:strVal val="visible"/>
                                      </p:to>
                                    </p:set>
                                    <p:animEffect transition="in" filter="slide(fromBottom)">
                                      <p:cBhvr>
                                        <p:cTn id="25" dur="500">
                                          <p:stCondLst>
                                            <p:cond delay="0"/>
                                          </p:stCondLst>
                                        </p:cTn>
                                        <p:tgtEl>
                                          <p:spTgt spid="3277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32773">
                                            <p:txEl>
                                              <p:pRg st="3" end="3"/>
                                            </p:txEl>
                                          </p:spTgt>
                                        </p:tgtEl>
                                        <p:attrNameLst>
                                          <p:attrName>style.visibility</p:attrName>
                                        </p:attrNameLst>
                                      </p:cBhvr>
                                      <p:to>
                                        <p:strVal val="visible"/>
                                      </p:to>
                                    </p:set>
                                    <p:animEffect transition="in" filter="slide(fromBottom)">
                                      <p:cBhvr>
                                        <p:cTn id="30" dur="500">
                                          <p:stCondLst>
                                            <p:cond delay="0"/>
                                          </p:stCondLst>
                                        </p:cTn>
                                        <p:tgtEl>
                                          <p:spTgt spid="32773">
                                            <p:txEl>
                                              <p:pRg st="3" end="3"/>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32773">
                                            <p:txEl>
                                              <p:pRg st="4" end="4"/>
                                            </p:txEl>
                                          </p:spTgt>
                                        </p:tgtEl>
                                        <p:attrNameLst>
                                          <p:attrName>style.visibility</p:attrName>
                                        </p:attrNameLst>
                                      </p:cBhvr>
                                      <p:to>
                                        <p:strVal val="visible"/>
                                      </p:to>
                                    </p:set>
                                    <p:animEffect transition="in" filter="slide(fromBottom)">
                                      <p:cBhvr>
                                        <p:cTn id="33" dur="500">
                                          <p:stCondLst>
                                            <p:cond delay="0"/>
                                          </p:stCondLst>
                                        </p:cTn>
                                        <p:tgtEl>
                                          <p:spTgt spid="3277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p:bldP spid="32773" grpId="0"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6" name="Rectangle 4"/>
          <p:cNvSpPr>
            <a:spLocks noGrp="1" noChangeArrowheads="1"/>
          </p:cNvSpPr>
          <p:nvPr>
            <p:ph type="title"/>
          </p:nvPr>
        </p:nvSpPr>
        <p:spPr/>
        <p:txBody>
          <a:bodyPr/>
          <a:lstStyle/>
          <a:p>
            <a:r>
              <a:rPr lang="en-US"/>
              <a:t>Requirements Specification</a:t>
            </a:r>
          </a:p>
        </p:txBody>
      </p:sp>
      <p:sp>
        <p:nvSpPr>
          <p:cNvPr id="33797" name="Rectangle 5"/>
          <p:cNvSpPr>
            <a:spLocks noGrp="1" noChangeArrowheads="1"/>
          </p:cNvSpPr>
          <p:nvPr>
            <p:ph idx="1"/>
          </p:nvPr>
        </p:nvSpPr>
        <p:spPr/>
        <p:txBody>
          <a:bodyPr>
            <a:normAutofit/>
          </a:bodyPr>
          <a:lstStyle/>
          <a:p>
            <a:pPr>
              <a:lnSpc>
                <a:spcPct val="90000"/>
              </a:lnSpc>
            </a:pPr>
            <a:r>
              <a:rPr lang="en-US" sz="2400"/>
              <a:t>Add further information to the requirements definition</a:t>
            </a:r>
          </a:p>
          <a:p>
            <a:pPr>
              <a:lnSpc>
                <a:spcPct val="90000"/>
              </a:lnSpc>
            </a:pPr>
            <a:r>
              <a:rPr lang="en-US" sz="2400"/>
              <a:t>A structured document which sets out the system services in detail – set out to act a basis for contract</a:t>
            </a:r>
          </a:p>
          <a:p>
            <a:pPr>
              <a:lnSpc>
                <a:spcPct val="90000"/>
              </a:lnSpc>
            </a:pPr>
            <a:r>
              <a:rPr lang="en-US" sz="2400"/>
              <a:t>Presented with the system models developed during analysis</a:t>
            </a:r>
          </a:p>
          <a:p>
            <a:pPr>
              <a:lnSpc>
                <a:spcPct val="90000"/>
              </a:lnSpc>
            </a:pPr>
            <a:r>
              <a:rPr lang="en-US" sz="2400"/>
              <a:t>Include all necessary information about what the system must do and all constraints on its operation</a:t>
            </a:r>
          </a:p>
          <a:p>
            <a:pPr>
              <a:lnSpc>
                <a:spcPct val="90000"/>
              </a:lnSpc>
            </a:pPr>
            <a:r>
              <a:rPr lang="en-US" sz="2400"/>
              <a:t>This document should be precise and it may serve as a contract between the system buyer and software developer</a:t>
            </a:r>
          </a:p>
          <a:p>
            <a:pPr>
              <a:lnSpc>
                <a:spcPct val="90000"/>
              </a:lnSpc>
            </a:pPr>
            <a:r>
              <a:rPr lang="en-US" sz="2400"/>
              <a:t>Techniques</a:t>
            </a:r>
          </a:p>
          <a:p>
            <a:pPr lvl="2">
              <a:lnSpc>
                <a:spcPct val="90000"/>
              </a:lnSpc>
            </a:pPr>
            <a:r>
              <a:rPr lang="en-US" sz="1800"/>
              <a:t>Structured natural language, Requirements specification languages, Graphical notations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33796"/>
                                        </p:tgtEl>
                                        <p:attrNameLst>
                                          <p:attrName>style.visibility</p:attrName>
                                        </p:attrNameLst>
                                      </p:cBhvr>
                                      <p:to>
                                        <p:strVal val="visible"/>
                                      </p:to>
                                    </p:set>
                                    <p:animEffect transition="in" filter="fade">
                                      <p:cBhvr>
                                        <p:cTn id="7" dur="600">
                                          <p:stCondLst>
                                            <p:cond delay="0"/>
                                          </p:stCondLst>
                                        </p:cTn>
                                        <p:tgtEl>
                                          <p:spTgt spid="33796"/>
                                        </p:tgtEl>
                                      </p:cBhvr>
                                    </p:animEffect>
                                    <p:anim calcmode="lin" valueType="num">
                                      <p:cBhvr>
                                        <p:cTn id="8" dur="600" fill="hold">
                                          <p:stCondLst>
                                            <p:cond delay="0"/>
                                          </p:stCondLst>
                                        </p:cTn>
                                        <p:tgtEl>
                                          <p:spTgt spid="33796"/>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33796"/>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33796"/>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33797">
                                            <p:txEl>
                                              <p:pRg st="0" end="0"/>
                                            </p:txEl>
                                          </p:spTgt>
                                        </p:tgtEl>
                                        <p:attrNameLst>
                                          <p:attrName>style.visibility</p:attrName>
                                        </p:attrNameLst>
                                      </p:cBhvr>
                                      <p:to>
                                        <p:strVal val="visible"/>
                                      </p:to>
                                    </p:set>
                                    <p:animEffect transition="in" filter="slide(fromBottom)">
                                      <p:cBhvr>
                                        <p:cTn id="15" dur="500">
                                          <p:stCondLst>
                                            <p:cond delay="0"/>
                                          </p:stCondLst>
                                        </p:cTn>
                                        <p:tgtEl>
                                          <p:spTgt spid="3379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3797">
                                            <p:txEl>
                                              <p:pRg st="1" end="1"/>
                                            </p:txEl>
                                          </p:spTgt>
                                        </p:tgtEl>
                                        <p:attrNameLst>
                                          <p:attrName>style.visibility</p:attrName>
                                        </p:attrNameLst>
                                      </p:cBhvr>
                                      <p:to>
                                        <p:strVal val="visible"/>
                                      </p:to>
                                    </p:set>
                                    <p:animEffect transition="in" filter="slide(fromBottom)">
                                      <p:cBhvr>
                                        <p:cTn id="20" dur="500">
                                          <p:stCondLst>
                                            <p:cond delay="0"/>
                                          </p:stCondLst>
                                        </p:cTn>
                                        <p:tgtEl>
                                          <p:spTgt spid="3379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3797">
                                            <p:txEl>
                                              <p:pRg st="2" end="2"/>
                                            </p:txEl>
                                          </p:spTgt>
                                        </p:tgtEl>
                                        <p:attrNameLst>
                                          <p:attrName>style.visibility</p:attrName>
                                        </p:attrNameLst>
                                      </p:cBhvr>
                                      <p:to>
                                        <p:strVal val="visible"/>
                                      </p:to>
                                    </p:set>
                                    <p:animEffect transition="in" filter="slide(fromBottom)">
                                      <p:cBhvr>
                                        <p:cTn id="25" dur="500">
                                          <p:stCondLst>
                                            <p:cond delay="0"/>
                                          </p:stCondLst>
                                        </p:cTn>
                                        <p:tgtEl>
                                          <p:spTgt spid="3379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33797">
                                            <p:txEl>
                                              <p:pRg st="3" end="3"/>
                                            </p:txEl>
                                          </p:spTgt>
                                        </p:tgtEl>
                                        <p:attrNameLst>
                                          <p:attrName>style.visibility</p:attrName>
                                        </p:attrNameLst>
                                      </p:cBhvr>
                                      <p:to>
                                        <p:strVal val="visible"/>
                                      </p:to>
                                    </p:set>
                                    <p:animEffect transition="in" filter="slide(fromBottom)">
                                      <p:cBhvr>
                                        <p:cTn id="30" dur="500">
                                          <p:stCondLst>
                                            <p:cond delay="0"/>
                                          </p:stCondLst>
                                        </p:cTn>
                                        <p:tgtEl>
                                          <p:spTgt spid="33797">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3797">
                                            <p:txEl>
                                              <p:pRg st="4" end="4"/>
                                            </p:txEl>
                                          </p:spTgt>
                                        </p:tgtEl>
                                        <p:attrNameLst>
                                          <p:attrName>style.visibility</p:attrName>
                                        </p:attrNameLst>
                                      </p:cBhvr>
                                      <p:to>
                                        <p:strVal val="visible"/>
                                      </p:to>
                                    </p:set>
                                    <p:animEffect transition="in" filter="slide(fromBottom)">
                                      <p:cBhvr>
                                        <p:cTn id="35" dur="500">
                                          <p:stCondLst>
                                            <p:cond delay="0"/>
                                          </p:stCondLst>
                                        </p:cTn>
                                        <p:tgtEl>
                                          <p:spTgt spid="33797">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3797">
                                            <p:txEl>
                                              <p:pRg st="5" end="5"/>
                                            </p:txEl>
                                          </p:spTgt>
                                        </p:tgtEl>
                                        <p:attrNameLst>
                                          <p:attrName>style.visibility</p:attrName>
                                        </p:attrNameLst>
                                      </p:cBhvr>
                                      <p:to>
                                        <p:strVal val="visible"/>
                                      </p:to>
                                    </p:set>
                                    <p:animEffect transition="in" filter="slide(fromBottom)">
                                      <p:cBhvr>
                                        <p:cTn id="40" dur="500">
                                          <p:stCondLst>
                                            <p:cond delay="0"/>
                                          </p:stCondLst>
                                        </p:cTn>
                                        <p:tgtEl>
                                          <p:spTgt spid="33797">
                                            <p:txEl>
                                              <p:pRg st="5" end="5"/>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33797">
                                            <p:txEl>
                                              <p:pRg st="6" end="6"/>
                                            </p:txEl>
                                          </p:spTgt>
                                        </p:tgtEl>
                                        <p:attrNameLst>
                                          <p:attrName>style.visibility</p:attrName>
                                        </p:attrNameLst>
                                      </p:cBhvr>
                                      <p:to>
                                        <p:strVal val="visible"/>
                                      </p:to>
                                    </p:set>
                                    <p:animEffect transition="in" filter="slide(fromBottom)">
                                      <p:cBhvr>
                                        <p:cTn id="43" dur="500">
                                          <p:stCondLst>
                                            <p:cond delay="0"/>
                                          </p:stCondLst>
                                        </p:cTn>
                                        <p:tgtEl>
                                          <p:spTgt spid="3379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p:bldP spid="33797"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z="3600"/>
              <a:t>Requirements Specification Example</a:t>
            </a:r>
          </a:p>
        </p:txBody>
      </p:sp>
      <p:sp>
        <p:nvSpPr>
          <p:cNvPr id="34819" name="Rectangle 3"/>
          <p:cNvSpPr>
            <a:spLocks noGrp="1" noChangeArrowheads="1"/>
          </p:cNvSpPr>
          <p:nvPr>
            <p:ph idx="1"/>
          </p:nvPr>
        </p:nvSpPr>
        <p:spPr/>
        <p:txBody>
          <a:bodyPr>
            <a:normAutofit lnSpcReduction="10000"/>
          </a:bodyPr>
          <a:lstStyle/>
          <a:p>
            <a:pPr>
              <a:lnSpc>
                <a:spcPct val="90000"/>
              </a:lnSpc>
            </a:pPr>
            <a:r>
              <a:rPr lang="en-US" sz="2400"/>
              <a:t>The user should be provided with facilities to define the type of external files</a:t>
            </a:r>
          </a:p>
          <a:p>
            <a:pPr>
              <a:lnSpc>
                <a:spcPct val="90000"/>
              </a:lnSpc>
            </a:pPr>
            <a:r>
              <a:rPr lang="en-US" sz="2400"/>
              <a:t>Each external  file type may have an associated tool which may be applied to the file</a:t>
            </a:r>
          </a:p>
          <a:p>
            <a:pPr>
              <a:lnSpc>
                <a:spcPct val="90000"/>
              </a:lnSpc>
            </a:pPr>
            <a:r>
              <a:rPr lang="en-US" sz="2400"/>
              <a:t>Each external file type may be represented  as a specific icon on the user’s display</a:t>
            </a:r>
          </a:p>
          <a:p>
            <a:pPr>
              <a:lnSpc>
                <a:spcPct val="90000"/>
              </a:lnSpc>
            </a:pPr>
            <a:r>
              <a:rPr lang="en-US" sz="2400"/>
              <a:t>Facilities should be provided for the icon representing an external file type to be defined by the user</a:t>
            </a:r>
          </a:p>
          <a:p>
            <a:pPr>
              <a:lnSpc>
                <a:spcPct val="90000"/>
              </a:lnSpc>
            </a:pPr>
            <a:r>
              <a:rPr lang="en-US" sz="2400"/>
              <a:t>When a user selects an icon representing an external file, the effect of that selection is to apply the tool associated with the type of the external file to the file represented by the selected icon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34818"/>
                                        </p:tgtEl>
                                        <p:attrNameLst>
                                          <p:attrName>style.visibility</p:attrName>
                                        </p:attrNameLst>
                                      </p:cBhvr>
                                      <p:to>
                                        <p:strVal val="visible"/>
                                      </p:to>
                                    </p:set>
                                    <p:animEffect transition="in" filter="fade">
                                      <p:cBhvr>
                                        <p:cTn id="7" dur="600">
                                          <p:stCondLst>
                                            <p:cond delay="0"/>
                                          </p:stCondLst>
                                        </p:cTn>
                                        <p:tgtEl>
                                          <p:spTgt spid="34818"/>
                                        </p:tgtEl>
                                      </p:cBhvr>
                                    </p:animEffect>
                                    <p:anim calcmode="lin" valueType="num">
                                      <p:cBhvr>
                                        <p:cTn id="8" dur="600" fill="hold">
                                          <p:stCondLst>
                                            <p:cond delay="0"/>
                                          </p:stCondLst>
                                        </p:cTn>
                                        <p:tgtEl>
                                          <p:spTgt spid="34818"/>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34818"/>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34818"/>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34819">
                                            <p:txEl>
                                              <p:pRg st="0" end="0"/>
                                            </p:txEl>
                                          </p:spTgt>
                                        </p:tgtEl>
                                        <p:attrNameLst>
                                          <p:attrName>style.visibility</p:attrName>
                                        </p:attrNameLst>
                                      </p:cBhvr>
                                      <p:to>
                                        <p:strVal val="visible"/>
                                      </p:to>
                                    </p:set>
                                    <p:animEffect transition="in" filter="slide(fromBottom)">
                                      <p:cBhvr>
                                        <p:cTn id="15" dur="500">
                                          <p:stCondLst>
                                            <p:cond delay="0"/>
                                          </p:stCondLst>
                                        </p:cTn>
                                        <p:tgtEl>
                                          <p:spTgt spid="3481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4819">
                                            <p:txEl>
                                              <p:pRg st="1" end="1"/>
                                            </p:txEl>
                                          </p:spTgt>
                                        </p:tgtEl>
                                        <p:attrNameLst>
                                          <p:attrName>style.visibility</p:attrName>
                                        </p:attrNameLst>
                                      </p:cBhvr>
                                      <p:to>
                                        <p:strVal val="visible"/>
                                      </p:to>
                                    </p:set>
                                    <p:animEffect transition="in" filter="slide(fromBottom)">
                                      <p:cBhvr>
                                        <p:cTn id="20" dur="500">
                                          <p:stCondLst>
                                            <p:cond delay="0"/>
                                          </p:stCondLst>
                                        </p:cTn>
                                        <p:tgtEl>
                                          <p:spTgt spid="3481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4819">
                                            <p:txEl>
                                              <p:pRg st="2" end="2"/>
                                            </p:txEl>
                                          </p:spTgt>
                                        </p:tgtEl>
                                        <p:attrNameLst>
                                          <p:attrName>style.visibility</p:attrName>
                                        </p:attrNameLst>
                                      </p:cBhvr>
                                      <p:to>
                                        <p:strVal val="visible"/>
                                      </p:to>
                                    </p:set>
                                    <p:animEffect transition="in" filter="slide(fromBottom)">
                                      <p:cBhvr>
                                        <p:cTn id="25" dur="500">
                                          <p:stCondLst>
                                            <p:cond delay="0"/>
                                          </p:stCondLst>
                                        </p:cTn>
                                        <p:tgtEl>
                                          <p:spTgt spid="3481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34819">
                                            <p:txEl>
                                              <p:pRg st="3" end="3"/>
                                            </p:txEl>
                                          </p:spTgt>
                                        </p:tgtEl>
                                        <p:attrNameLst>
                                          <p:attrName>style.visibility</p:attrName>
                                        </p:attrNameLst>
                                      </p:cBhvr>
                                      <p:to>
                                        <p:strVal val="visible"/>
                                      </p:to>
                                    </p:set>
                                    <p:animEffect transition="in" filter="slide(fromBottom)">
                                      <p:cBhvr>
                                        <p:cTn id="30" dur="500">
                                          <p:stCondLst>
                                            <p:cond delay="0"/>
                                          </p:stCondLst>
                                        </p:cTn>
                                        <p:tgtEl>
                                          <p:spTgt spid="3481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34819">
                                            <p:txEl>
                                              <p:pRg st="4" end="4"/>
                                            </p:txEl>
                                          </p:spTgt>
                                        </p:tgtEl>
                                        <p:attrNameLst>
                                          <p:attrName>style.visibility</p:attrName>
                                        </p:attrNameLst>
                                      </p:cBhvr>
                                      <p:to>
                                        <p:strVal val="visible"/>
                                      </p:to>
                                    </p:set>
                                    <p:animEffect transition="in" filter="slide(fromBottom)">
                                      <p:cBhvr>
                                        <p:cTn id="35" dur="500">
                                          <p:stCondLst>
                                            <p:cond delay="0"/>
                                          </p:stCondLst>
                                        </p:cTn>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Software Specification</a:t>
            </a:r>
          </a:p>
        </p:txBody>
      </p:sp>
      <p:sp>
        <p:nvSpPr>
          <p:cNvPr id="36867" name="Rectangle 3"/>
          <p:cNvSpPr>
            <a:spLocks noGrp="1" noChangeArrowheads="1"/>
          </p:cNvSpPr>
          <p:nvPr>
            <p:ph idx="1"/>
          </p:nvPr>
        </p:nvSpPr>
        <p:spPr/>
        <p:txBody>
          <a:bodyPr/>
          <a:lstStyle/>
          <a:p>
            <a:pPr>
              <a:lnSpc>
                <a:spcPct val="80000"/>
              </a:lnSpc>
            </a:pPr>
            <a:r>
              <a:rPr lang="en-US" sz="2800" dirty="0"/>
              <a:t>An abstract description of the software which is a basis for design and implementation</a:t>
            </a:r>
          </a:p>
          <a:p>
            <a:pPr>
              <a:lnSpc>
                <a:spcPct val="80000"/>
              </a:lnSpc>
            </a:pPr>
            <a:r>
              <a:rPr lang="en-US" sz="2800" dirty="0"/>
              <a:t>It is a document for the design team rather than the system customer</a:t>
            </a:r>
          </a:p>
          <a:p>
            <a:pPr>
              <a:lnSpc>
                <a:spcPct val="80000"/>
              </a:lnSpc>
            </a:pPr>
            <a:r>
              <a:rPr lang="en-US" sz="2800" dirty="0"/>
              <a:t>It may be expressed using a formal notation (such as Z) or some </a:t>
            </a:r>
            <a:r>
              <a:rPr lang="en-US" sz="2800"/>
              <a:t>design </a:t>
            </a:r>
            <a:r>
              <a:rPr lang="en-US" sz="2800" smtClean="0"/>
              <a:t>language</a:t>
            </a:r>
          </a:p>
          <a:p>
            <a:pPr>
              <a:lnSpc>
                <a:spcPct val="80000"/>
              </a:lnSpc>
            </a:pPr>
            <a:r>
              <a:rPr lang="en-US" sz="2400" smtClean="0"/>
              <a:t>The </a:t>
            </a:r>
            <a:r>
              <a:rPr lang="en-US" sz="2400" dirty="0"/>
              <a:t>design is based directly on requirements specification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36866"/>
                                        </p:tgtEl>
                                        <p:attrNameLst>
                                          <p:attrName>style.visibility</p:attrName>
                                        </p:attrNameLst>
                                      </p:cBhvr>
                                      <p:to>
                                        <p:strVal val="visible"/>
                                      </p:to>
                                    </p:set>
                                    <p:animEffect transition="in" filter="fade">
                                      <p:cBhvr>
                                        <p:cTn id="7" dur="600">
                                          <p:stCondLst>
                                            <p:cond delay="0"/>
                                          </p:stCondLst>
                                        </p:cTn>
                                        <p:tgtEl>
                                          <p:spTgt spid="36866"/>
                                        </p:tgtEl>
                                      </p:cBhvr>
                                    </p:animEffect>
                                    <p:anim calcmode="lin" valueType="num">
                                      <p:cBhvr>
                                        <p:cTn id="8" dur="600" fill="hold">
                                          <p:stCondLst>
                                            <p:cond delay="0"/>
                                          </p:stCondLst>
                                        </p:cTn>
                                        <p:tgtEl>
                                          <p:spTgt spid="36866"/>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36866"/>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36866"/>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36867">
                                            <p:txEl>
                                              <p:pRg st="0" end="0"/>
                                            </p:txEl>
                                          </p:spTgt>
                                        </p:tgtEl>
                                        <p:attrNameLst>
                                          <p:attrName>style.visibility</p:attrName>
                                        </p:attrNameLst>
                                      </p:cBhvr>
                                      <p:to>
                                        <p:strVal val="visible"/>
                                      </p:to>
                                    </p:set>
                                    <p:animEffect transition="in" filter="slide(fromBottom)">
                                      <p:cBhvr>
                                        <p:cTn id="15" dur="500">
                                          <p:stCondLst>
                                            <p:cond delay="0"/>
                                          </p:stCondLst>
                                        </p:cTn>
                                        <p:tgtEl>
                                          <p:spTgt spid="3686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6867">
                                            <p:txEl>
                                              <p:pRg st="1" end="1"/>
                                            </p:txEl>
                                          </p:spTgt>
                                        </p:tgtEl>
                                        <p:attrNameLst>
                                          <p:attrName>style.visibility</p:attrName>
                                        </p:attrNameLst>
                                      </p:cBhvr>
                                      <p:to>
                                        <p:strVal val="visible"/>
                                      </p:to>
                                    </p:set>
                                    <p:animEffect transition="in" filter="slide(fromBottom)">
                                      <p:cBhvr>
                                        <p:cTn id="20" dur="500">
                                          <p:stCondLst>
                                            <p:cond delay="0"/>
                                          </p:stCondLst>
                                        </p:cTn>
                                        <p:tgtEl>
                                          <p:spTgt spid="3686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36867">
                                            <p:txEl>
                                              <p:pRg st="2" end="2"/>
                                            </p:txEl>
                                          </p:spTgt>
                                        </p:tgtEl>
                                        <p:attrNameLst>
                                          <p:attrName>style.visibility</p:attrName>
                                        </p:attrNameLst>
                                      </p:cBhvr>
                                      <p:to>
                                        <p:strVal val="visible"/>
                                      </p:to>
                                    </p:set>
                                    <p:animEffect transition="in" filter="slide(fromBottom)">
                                      <p:cBhvr>
                                        <p:cTn id="25" dur="500">
                                          <p:stCondLst>
                                            <p:cond delay="0"/>
                                          </p:stCondLst>
                                        </p:cTn>
                                        <p:tgtEl>
                                          <p:spTgt spid="3686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36867">
                                            <p:txEl>
                                              <p:pRg st="3" end="3"/>
                                            </p:txEl>
                                          </p:spTgt>
                                        </p:tgtEl>
                                        <p:attrNameLst>
                                          <p:attrName>style.visibility</p:attrName>
                                        </p:attrNameLst>
                                      </p:cBhvr>
                                      <p:to>
                                        <p:strVal val="visible"/>
                                      </p:to>
                                    </p:set>
                                    <p:animEffect transition="in" filter="slide(fromBottom)">
                                      <p:cBhvr>
                                        <p:cTn id="30" dur="500">
                                          <p:stCondLst>
                                            <p:cond delay="0"/>
                                          </p:stCondLst>
                                        </p:cTn>
                                        <p:tgtEl>
                                          <p:spTgt spid="368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normAutofit/>
          </a:bodyPr>
          <a:lstStyle/>
          <a:p>
            <a:r>
              <a:rPr lang="en-US" sz="3600"/>
              <a:t>Software Requirements Specification</a:t>
            </a:r>
          </a:p>
        </p:txBody>
      </p:sp>
      <p:sp>
        <p:nvSpPr>
          <p:cNvPr id="20483" name="Rectangle 3"/>
          <p:cNvSpPr>
            <a:spLocks noGrp="1" noChangeArrowheads="1"/>
          </p:cNvSpPr>
          <p:nvPr>
            <p:ph idx="1"/>
          </p:nvPr>
        </p:nvSpPr>
        <p:spPr/>
        <p:txBody>
          <a:bodyPr>
            <a:normAutofit lnSpcReduction="10000"/>
          </a:bodyPr>
          <a:lstStyle/>
          <a:p>
            <a:pPr>
              <a:lnSpc>
                <a:spcPct val="90000"/>
              </a:lnSpc>
            </a:pPr>
            <a:r>
              <a:rPr lang="en-US" sz="2800"/>
              <a:t>Purpose</a:t>
            </a:r>
          </a:p>
          <a:p>
            <a:pPr lvl="1">
              <a:lnSpc>
                <a:spcPct val="90000"/>
              </a:lnSpc>
            </a:pPr>
            <a:r>
              <a:rPr lang="en-US" sz="2400"/>
              <a:t>Communicates an understanding of the requirements</a:t>
            </a:r>
          </a:p>
          <a:p>
            <a:pPr lvl="2">
              <a:lnSpc>
                <a:spcPct val="90000"/>
              </a:lnSpc>
            </a:pPr>
            <a:r>
              <a:rPr lang="en-US" sz="2000"/>
              <a:t>explains both the application domain and the system to be developed</a:t>
            </a:r>
          </a:p>
          <a:p>
            <a:pPr lvl="1">
              <a:lnSpc>
                <a:spcPct val="90000"/>
              </a:lnSpc>
            </a:pPr>
            <a:r>
              <a:rPr lang="en-US" sz="2400"/>
              <a:t>Contractual</a:t>
            </a:r>
          </a:p>
          <a:p>
            <a:pPr lvl="2">
              <a:lnSpc>
                <a:spcPct val="90000"/>
              </a:lnSpc>
            </a:pPr>
            <a:r>
              <a:rPr lang="en-US" sz="2000"/>
              <a:t>May be legally binding!</a:t>
            </a:r>
          </a:p>
          <a:p>
            <a:pPr lvl="2">
              <a:lnSpc>
                <a:spcPct val="90000"/>
              </a:lnSpc>
            </a:pPr>
            <a:r>
              <a:rPr lang="en-US" sz="2000"/>
              <a:t>Expresses an agreement and a commitment</a:t>
            </a:r>
          </a:p>
          <a:p>
            <a:pPr lvl="1">
              <a:lnSpc>
                <a:spcPct val="90000"/>
              </a:lnSpc>
            </a:pPr>
            <a:r>
              <a:rPr lang="en-US" sz="2400"/>
              <a:t>Baseline for evaluating subsequent products</a:t>
            </a:r>
          </a:p>
          <a:p>
            <a:pPr lvl="2">
              <a:lnSpc>
                <a:spcPct val="90000"/>
              </a:lnSpc>
            </a:pPr>
            <a:r>
              <a:rPr lang="en-US" sz="2000"/>
              <a:t>supports system testing, verification and validation activities</a:t>
            </a:r>
          </a:p>
          <a:p>
            <a:pPr lvl="2">
              <a:lnSpc>
                <a:spcPct val="90000"/>
              </a:lnSpc>
            </a:pPr>
            <a:r>
              <a:rPr lang="en-US" sz="2000"/>
              <a:t>should contain enough information to verify whether the delivered system meets requirements</a:t>
            </a:r>
          </a:p>
          <a:p>
            <a:pPr lvl="1">
              <a:lnSpc>
                <a:spcPct val="90000"/>
              </a:lnSpc>
            </a:pPr>
            <a:r>
              <a:rPr lang="en-US" sz="2400"/>
              <a:t>Baseline for change control</a:t>
            </a:r>
          </a:p>
          <a:p>
            <a:pPr lvl="2">
              <a:lnSpc>
                <a:spcPct val="90000"/>
              </a:lnSpc>
            </a:pPr>
            <a:r>
              <a:rPr lang="en-US" sz="2000"/>
              <a:t>requirements change, software evolves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20482"/>
                                        </p:tgtEl>
                                        <p:attrNameLst>
                                          <p:attrName>style.visibility</p:attrName>
                                        </p:attrNameLst>
                                      </p:cBhvr>
                                      <p:to>
                                        <p:strVal val="visible"/>
                                      </p:to>
                                    </p:set>
                                    <p:animEffect transition="in" filter="fade">
                                      <p:cBhvr>
                                        <p:cTn id="7" dur="600">
                                          <p:stCondLst>
                                            <p:cond delay="0"/>
                                          </p:stCondLst>
                                        </p:cTn>
                                        <p:tgtEl>
                                          <p:spTgt spid="20482"/>
                                        </p:tgtEl>
                                      </p:cBhvr>
                                    </p:animEffect>
                                    <p:anim calcmode="lin" valueType="num">
                                      <p:cBhvr>
                                        <p:cTn id="8" dur="600" fill="hold">
                                          <p:stCondLst>
                                            <p:cond delay="0"/>
                                          </p:stCondLst>
                                        </p:cTn>
                                        <p:tgtEl>
                                          <p:spTgt spid="20482"/>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20482"/>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2048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0483">
                                            <p:txEl>
                                              <p:pRg st="0" end="0"/>
                                            </p:txEl>
                                          </p:spTgt>
                                        </p:tgtEl>
                                        <p:attrNameLst>
                                          <p:attrName>style.visibility</p:attrName>
                                        </p:attrNameLst>
                                      </p:cBhvr>
                                      <p:to>
                                        <p:strVal val="visible"/>
                                      </p:to>
                                    </p:set>
                                    <p:animEffect transition="in" filter="slide(fromBottom)">
                                      <p:cBhvr>
                                        <p:cTn id="15" dur="500">
                                          <p:stCondLst>
                                            <p:cond delay="0"/>
                                          </p:stCondLst>
                                        </p:cTn>
                                        <p:tgtEl>
                                          <p:spTgt spid="20483">
                                            <p:txEl>
                                              <p:pRg st="0" end="0"/>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0483">
                                            <p:txEl>
                                              <p:pRg st="1" end="1"/>
                                            </p:txEl>
                                          </p:spTgt>
                                        </p:tgtEl>
                                        <p:attrNameLst>
                                          <p:attrName>style.visibility</p:attrName>
                                        </p:attrNameLst>
                                      </p:cBhvr>
                                      <p:to>
                                        <p:strVal val="visible"/>
                                      </p:to>
                                    </p:set>
                                    <p:animEffect transition="in" filter="slide(fromBottom)">
                                      <p:cBhvr>
                                        <p:cTn id="18" dur="500">
                                          <p:stCondLst>
                                            <p:cond delay="0"/>
                                          </p:stCondLst>
                                        </p:cTn>
                                        <p:tgtEl>
                                          <p:spTgt spid="20483">
                                            <p:txEl>
                                              <p:pRg st="1" end="1"/>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0483">
                                            <p:txEl>
                                              <p:pRg st="2" end="2"/>
                                            </p:txEl>
                                          </p:spTgt>
                                        </p:tgtEl>
                                        <p:attrNameLst>
                                          <p:attrName>style.visibility</p:attrName>
                                        </p:attrNameLst>
                                      </p:cBhvr>
                                      <p:to>
                                        <p:strVal val="visible"/>
                                      </p:to>
                                    </p:set>
                                    <p:animEffect transition="in" filter="slide(fromBottom)">
                                      <p:cBhvr>
                                        <p:cTn id="21" dur="500">
                                          <p:stCondLst>
                                            <p:cond delay="0"/>
                                          </p:stCondLst>
                                        </p:cTn>
                                        <p:tgtEl>
                                          <p:spTgt spid="20483">
                                            <p:txEl>
                                              <p:pRg st="2" end="2"/>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20483">
                                            <p:txEl>
                                              <p:pRg st="3" end="3"/>
                                            </p:txEl>
                                          </p:spTgt>
                                        </p:tgtEl>
                                        <p:attrNameLst>
                                          <p:attrName>style.visibility</p:attrName>
                                        </p:attrNameLst>
                                      </p:cBhvr>
                                      <p:to>
                                        <p:strVal val="visible"/>
                                      </p:to>
                                    </p:set>
                                    <p:animEffect transition="in" filter="slide(fromBottom)">
                                      <p:cBhvr>
                                        <p:cTn id="24" dur="500">
                                          <p:stCondLst>
                                            <p:cond delay="0"/>
                                          </p:stCondLst>
                                        </p:cTn>
                                        <p:tgtEl>
                                          <p:spTgt spid="20483">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slide(fromBottom)">
                                      <p:cBhvr>
                                        <p:cTn id="27" dur="500">
                                          <p:stCondLst>
                                            <p:cond delay="0"/>
                                          </p:stCondLst>
                                        </p:cTn>
                                        <p:tgtEl>
                                          <p:spTgt spid="20483">
                                            <p:txEl>
                                              <p:pRg st="4" end="4"/>
                                            </p:txEl>
                                          </p:spTgt>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20483">
                                            <p:txEl>
                                              <p:pRg st="5" end="5"/>
                                            </p:txEl>
                                          </p:spTgt>
                                        </p:tgtEl>
                                        <p:attrNameLst>
                                          <p:attrName>style.visibility</p:attrName>
                                        </p:attrNameLst>
                                      </p:cBhvr>
                                      <p:to>
                                        <p:strVal val="visible"/>
                                      </p:to>
                                    </p:set>
                                    <p:animEffect transition="in" filter="slide(fromBottom)">
                                      <p:cBhvr>
                                        <p:cTn id="30" dur="500">
                                          <p:stCondLst>
                                            <p:cond delay="0"/>
                                          </p:stCondLst>
                                        </p:cTn>
                                        <p:tgtEl>
                                          <p:spTgt spid="20483">
                                            <p:txEl>
                                              <p:pRg st="5" end="5"/>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20483">
                                            <p:txEl>
                                              <p:pRg st="6" end="6"/>
                                            </p:txEl>
                                          </p:spTgt>
                                        </p:tgtEl>
                                        <p:attrNameLst>
                                          <p:attrName>style.visibility</p:attrName>
                                        </p:attrNameLst>
                                      </p:cBhvr>
                                      <p:to>
                                        <p:strVal val="visible"/>
                                      </p:to>
                                    </p:set>
                                    <p:animEffect transition="in" filter="slide(fromBottom)">
                                      <p:cBhvr>
                                        <p:cTn id="33" dur="500">
                                          <p:stCondLst>
                                            <p:cond delay="0"/>
                                          </p:stCondLst>
                                        </p:cTn>
                                        <p:tgtEl>
                                          <p:spTgt spid="20483">
                                            <p:txEl>
                                              <p:pRg st="6" end="6"/>
                                            </p:txEl>
                                          </p:spTgt>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20483">
                                            <p:txEl>
                                              <p:pRg st="7" end="7"/>
                                            </p:txEl>
                                          </p:spTgt>
                                        </p:tgtEl>
                                        <p:attrNameLst>
                                          <p:attrName>style.visibility</p:attrName>
                                        </p:attrNameLst>
                                      </p:cBhvr>
                                      <p:to>
                                        <p:strVal val="visible"/>
                                      </p:to>
                                    </p:set>
                                    <p:animEffect transition="in" filter="slide(fromBottom)">
                                      <p:cBhvr>
                                        <p:cTn id="36" dur="500">
                                          <p:stCondLst>
                                            <p:cond delay="0"/>
                                          </p:stCondLst>
                                        </p:cTn>
                                        <p:tgtEl>
                                          <p:spTgt spid="20483">
                                            <p:txEl>
                                              <p:pRg st="7" end="7"/>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0483">
                                            <p:txEl>
                                              <p:pRg st="8" end="8"/>
                                            </p:txEl>
                                          </p:spTgt>
                                        </p:tgtEl>
                                        <p:attrNameLst>
                                          <p:attrName>style.visibility</p:attrName>
                                        </p:attrNameLst>
                                      </p:cBhvr>
                                      <p:to>
                                        <p:strVal val="visible"/>
                                      </p:to>
                                    </p:set>
                                    <p:animEffect transition="in" filter="slide(fromBottom)">
                                      <p:cBhvr>
                                        <p:cTn id="39" dur="500">
                                          <p:stCondLst>
                                            <p:cond delay="0"/>
                                          </p:stCondLst>
                                        </p:cTn>
                                        <p:tgtEl>
                                          <p:spTgt spid="20483">
                                            <p:txEl>
                                              <p:pRg st="8" end="8"/>
                                            </p:txEl>
                                          </p:spTgt>
                                        </p:tgtEl>
                                      </p:cBhvr>
                                    </p:animEffect>
                                  </p:childTnLst>
                                </p:cTn>
                              </p:par>
                              <p:par>
                                <p:cTn id="40" presetID="12" presetClass="entr" presetSubtype="4" fill="hold" grpId="0" nodeType="withEffect">
                                  <p:stCondLst>
                                    <p:cond delay="0"/>
                                  </p:stCondLst>
                                  <p:childTnLst>
                                    <p:set>
                                      <p:cBhvr>
                                        <p:cTn id="41" dur="1" fill="hold">
                                          <p:stCondLst>
                                            <p:cond delay="0"/>
                                          </p:stCondLst>
                                        </p:cTn>
                                        <p:tgtEl>
                                          <p:spTgt spid="20483">
                                            <p:txEl>
                                              <p:pRg st="9" end="9"/>
                                            </p:txEl>
                                          </p:spTgt>
                                        </p:tgtEl>
                                        <p:attrNameLst>
                                          <p:attrName>style.visibility</p:attrName>
                                        </p:attrNameLst>
                                      </p:cBhvr>
                                      <p:to>
                                        <p:strVal val="visible"/>
                                      </p:to>
                                    </p:set>
                                    <p:animEffect transition="in" filter="slide(fromBottom)">
                                      <p:cBhvr>
                                        <p:cTn id="42" dur="500">
                                          <p:stCondLst>
                                            <p:cond delay="0"/>
                                          </p:stCondLst>
                                        </p:cTn>
                                        <p:tgtEl>
                                          <p:spTgt spid="20483">
                                            <p:txEl>
                                              <p:pRg st="9" end="9"/>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20483">
                                            <p:txEl>
                                              <p:pRg st="10" end="10"/>
                                            </p:txEl>
                                          </p:spTgt>
                                        </p:tgtEl>
                                        <p:attrNameLst>
                                          <p:attrName>style.visibility</p:attrName>
                                        </p:attrNameLst>
                                      </p:cBhvr>
                                      <p:to>
                                        <p:strVal val="visible"/>
                                      </p:to>
                                    </p:set>
                                    <p:animEffect transition="in" filter="slide(fromBottom)">
                                      <p:cBhvr>
                                        <p:cTn id="45" dur="500">
                                          <p:stCondLst>
                                            <p:cond delay="0"/>
                                          </p:stCondLst>
                                        </p:cTn>
                                        <p:tgtEl>
                                          <p:spTgt spid="2048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normAutofit/>
          </a:bodyPr>
          <a:lstStyle/>
          <a:p>
            <a:r>
              <a:rPr lang="en-US" sz="3600"/>
              <a:t>Software Requirements Specification</a:t>
            </a:r>
          </a:p>
        </p:txBody>
      </p:sp>
      <p:sp>
        <p:nvSpPr>
          <p:cNvPr id="21507" name="Rectangle 3"/>
          <p:cNvSpPr>
            <a:spLocks noGrp="1" noChangeArrowheads="1"/>
          </p:cNvSpPr>
          <p:nvPr>
            <p:ph idx="1"/>
          </p:nvPr>
        </p:nvSpPr>
        <p:spPr/>
        <p:txBody>
          <a:bodyPr/>
          <a:lstStyle/>
          <a:p>
            <a:pPr>
              <a:lnSpc>
                <a:spcPct val="80000"/>
              </a:lnSpc>
            </a:pPr>
            <a:r>
              <a:rPr lang="en-US" sz="2400"/>
              <a:t>Audience</a:t>
            </a:r>
          </a:p>
          <a:p>
            <a:pPr lvl="1">
              <a:lnSpc>
                <a:spcPct val="80000"/>
              </a:lnSpc>
            </a:pPr>
            <a:r>
              <a:rPr lang="en-US" sz="2000"/>
              <a:t>Users, Purchasers</a:t>
            </a:r>
          </a:p>
          <a:p>
            <a:pPr lvl="2">
              <a:lnSpc>
                <a:spcPct val="80000"/>
              </a:lnSpc>
            </a:pPr>
            <a:r>
              <a:rPr lang="en-US" sz="1800"/>
              <a:t>Most interested in system requirements</a:t>
            </a:r>
          </a:p>
          <a:p>
            <a:pPr lvl="2">
              <a:lnSpc>
                <a:spcPct val="80000"/>
              </a:lnSpc>
            </a:pPr>
            <a:r>
              <a:rPr lang="en-US" sz="1800"/>
              <a:t>Not generally interested in detailed software requirements</a:t>
            </a:r>
          </a:p>
          <a:p>
            <a:pPr lvl="1">
              <a:lnSpc>
                <a:spcPct val="80000"/>
              </a:lnSpc>
            </a:pPr>
            <a:r>
              <a:rPr lang="en-US" sz="2000"/>
              <a:t>Systems Analysts, Requirements Analysts</a:t>
            </a:r>
          </a:p>
          <a:p>
            <a:pPr lvl="2">
              <a:lnSpc>
                <a:spcPct val="80000"/>
              </a:lnSpc>
            </a:pPr>
            <a:r>
              <a:rPr lang="en-US" sz="1800"/>
              <a:t>Write various specifications that interrelate</a:t>
            </a:r>
          </a:p>
          <a:p>
            <a:pPr lvl="1">
              <a:lnSpc>
                <a:spcPct val="80000"/>
              </a:lnSpc>
            </a:pPr>
            <a:r>
              <a:rPr lang="en-US" sz="2000"/>
              <a:t>Developers, Programmers</a:t>
            </a:r>
          </a:p>
          <a:p>
            <a:pPr lvl="2">
              <a:lnSpc>
                <a:spcPct val="80000"/>
              </a:lnSpc>
            </a:pPr>
            <a:r>
              <a:rPr lang="en-US" sz="1800"/>
              <a:t>Have to implement the requirements</a:t>
            </a:r>
          </a:p>
          <a:p>
            <a:pPr lvl="1">
              <a:lnSpc>
                <a:spcPct val="80000"/>
              </a:lnSpc>
            </a:pPr>
            <a:r>
              <a:rPr lang="en-US" sz="2000"/>
              <a:t>Testers</a:t>
            </a:r>
          </a:p>
          <a:p>
            <a:pPr lvl="2">
              <a:lnSpc>
                <a:spcPct val="80000"/>
              </a:lnSpc>
            </a:pPr>
            <a:r>
              <a:rPr lang="en-US" sz="1800"/>
              <a:t>Determine that the requirements have been met</a:t>
            </a:r>
          </a:p>
          <a:p>
            <a:pPr lvl="1">
              <a:lnSpc>
                <a:spcPct val="80000"/>
              </a:lnSpc>
            </a:pPr>
            <a:r>
              <a:rPr lang="en-US" sz="2000"/>
              <a:t>Project Managers</a:t>
            </a:r>
          </a:p>
          <a:p>
            <a:pPr lvl="2">
              <a:lnSpc>
                <a:spcPct val="80000"/>
              </a:lnSpc>
            </a:pPr>
            <a:r>
              <a:rPr lang="en-US" sz="1800"/>
              <a:t>Measure and control the analysis and development processes</a:t>
            </a:r>
          </a:p>
          <a:p>
            <a:pPr>
              <a:lnSpc>
                <a:spcPct val="80000"/>
              </a:lnSpc>
            </a:pPr>
            <a:r>
              <a:rPr lang="en-US" sz="2400"/>
              <a:t>IEEE Standard recommends SRS jointly developed by procurer &amp; developer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21506"/>
                                        </p:tgtEl>
                                        <p:attrNameLst>
                                          <p:attrName>style.visibility</p:attrName>
                                        </p:attrNameLst>
                                      </p:cBhvr>
                                      <p:to>
                                        <p:strVal val="visible"/>
                                      </p:to>
                                    </p:set>
                                    <p:animEffect transition="in" filter="fade">
                                      <p:cBhvr>
                                        <p:cTn id="7" dur="600">
                                          <p:stCondLst>
                                            <p:cond delay="0"/>
                                          </p:stCondLst>
                                        </p:cTn>
                                        <p:tgtEl>
                                          <p:spTgt spid="21506"/>
                                        </p:tgtEl>
                                      </p:cBhvr>
                                    </p:animEffect>
                                    <p:anim calcmode="lin" valueType="num">
                                      <p:cBhvr>
                                        <p:cTn id="8" dur="600" fill="hold">
                                          <p:stCondLst>
                                            <p:cond delay="0"/>
                                          </p:stCondLst>
                                        </p:cTn>
                                        <p:tgtEl>
                                          <p:spTgt spid="21506"/>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21506"/>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21506"/>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1507">
                                            <p:txEl>
                                              <p:pRg st="0" end="0"/>
                                            </p:txEl>
                                          </p:spTgt>
                                        </p:tgtEl>
                                        <p:attrNameLst>
                                          <p:attrName>style.visibility</p:attrName>
                                        </p:attrNameLst>
                                      </p:cBhvr>
                                      <p:to>
                                        <p:strVal val="visible"/>
                                      </p:to>
                                    </p:set>
                                    <p:animEffect transition="in" filter="slide(fromBottom)">
                                      <p:cBhvr>
                                        <p:cTn id="15" dur="500">
                                          <p:stCondLst>
                                            <p:cond delay="0"/>
                                          </p:stCondLst>
                                        </p:cTn>
                                        <p:tgtEl>
                                          <p:spTgt spid="21507">
                                            <p:txEl>
                                              <p:pRg st="0" end="0"/>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1507">
                                            <p:txEl>
                                              <p:pRg st="1" end="1"/>
                                            </p:txEl>
                                          </p:spTgt>
                                        </p:tgtEl>
                                        <p:attrNameLst>
                                          <p:attrName>style.visibility</p:attrName>
                                        </p:attrNameLst>
                                      </p:cBhvr>
                                      <p:to>
                                        <p:strVal val="visible"/>
                                      </p:to>
                                    </p:set>
                                    <p:animEffect transition="in" filter="slide(fromBottom)">
                                      <p:cBhvr>
                                        <p:cTn id="18" dur="500">
                                          <p:stCondLst>
                                            <p:cond delay="0"/>
                                          </p:stCondLst>
                                        </p:cTn>
                                        <p:tgtEl>
                                          <p:spTgt spid="21507">
                                            <p:txEl>
                                              <p:pRg st="1" end="1"/>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1507">
                                            <p:txEl>
                                              <p:pRg st="2" end="2"/>
                                            </p:txEl>
                                          </p:spTgt>
                                        </p:tgtEl>
                                        <p:attrNameLst>
                                          <p:attrName>style.visibility</p:attrName>
                                        </p:attrNameLst>
                                      </p:cBhvr>
                                      <p:to>
                                        <p:strVal val="visible"/>
                                      </p:to>
                                    </p:set>
                                    <p:animEffect transition="in" filter="slide(fromBottom)">
                                      <p:cBhvr>
                                        <p:cTn id="21" dur="500">
                                          <p:stCondLst>
                                            <p:cond delay="0"/>
                                          </p:stCondLst>
                                        </p:cTn>
                                        <p:tgtEl>
                                          <p:spTgt spid="21507">
                                            <p:txEl>
                                              <p:pRg st="2" end="2"/>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21507">
                                            <p:txEl>
                                              <p:pRg st="3" end="3"/>
                                            </p:txEl>
                                          </p:spTgt>
                                        </p:tgtEl>
                                        <p:attrNameLst>
                                          <p:attrName>style.visibility</p:attrName>
                                        </p:attrNameLst>
                                      </p:cBhvr>
                                      <p:to>
                                        <p:strVal val="visible"/>
                                      </p:to>
                                    </p:set>
                                    <p:animEffect transition="in" filter="slide(fromBottom)">
                                      <p:cBhvr>
                                        <p:cTn id="24" dur="500">
                                          <p:stCondLst>
                                            <p:cond delay="0"/>
                                          </p:stCondLst>
                                        </p:cTn>
                                        <p:tgtEl>
                                          <p:spTgt spid="21507">
                                            <p:txEl>
                                              <p:pRg st="3" end="3"/>
                                            </p:txEl>
                                          </p:spTgt>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slide(fromBottom)">
                                      <p:cBhvr>
                                        <p:cTn id="27" dur="500">
                                          <p:stCondLst>
                                            <p:cond delay="0"/>
                                          </p:stCondLst>
                                        </p:cTn>
                                        <p:tgtEl>
                                          <p:spTgt spid="21507">
                                            <p:txEl>
                                              <p:pRg st="4" end="4"/>
                                            </p:txEl>
                                          </p:spTgt>
                                        </p:tgtEl>
                                      </p:cBhvr>
                                    </p:animEffect>
                                  </p:childTnLst>
                                </p:cTn>
                              </p:par>
                              <p:par>
                                <p:cTn id="28" presetID="12" presetClass="entr" presetSubtype="4" fill="hold" grpId="0" nodeType="withEffect">
                                  <p:stCondLst>
                                    <p:cond delay="0"/>
                                  </p:stCondLst>
                                  <p:childTnLst>
                                    <p:set>
                                      <p:cBhvr>
                                        <p:cTn id="29" dur="1" fill="hold">
                                          <p:stCondLst>
                                            <p:cond delay="0"/>
                                          </p:stCondLst>
                                        </p:cTn>
                                        <p:tgtEl>
                                          <p:spTgt spid="21507">
                                            <p:txEl>
                                              <p:pRg st="5" end="5"/>
                                            </p:txEl>
                                          </p:spTgt>
                                        </p:tgtEl>
                                        <p:attrNameLst>
                                          <p:attrName>style.visibility</p:attrName>
                                        </p:attrNameLst>
                                      </p:cBhvr>
                                      <p:to>
                                        <p:strVal val="visible"/>
                                      </p:to>
                                    </p:set>
                                    <p:animEffect transition="in" filter="slide(fromBottom)">
                                      <p:cBhvr>
                                        <p:cTn id="30" dur="500">
                                          <p:stCondLst>
                                            <p:cond delay="0"/>
                                          </p:stCondLst>
                                        </p:cTn>
                                        <p:tgtEl>
                                          <p:spTgt spid="21507">
                                            <p:txEl>
                                              <p:pRg st="5" end="5"/>
                                            </p:txEl>
                                          </p:spTgt>
                                        </p:tgtEl>
                                      </p:cBhvr>
                                    </p:animEffect>
                                  </p:childTnLst>
                                </p:cTn>
                              </p:par>
                              <p:par>
                                <p:cTn id="31" presetID="12" presetClass="entr" presetSubtype="4" fill="hold" grpId="0" nodeType="withEffect">
                                  <p:stCondLst>
                                    <p:cond delay="0"/>
                                  </p:stCondLst>
                                  <p:childTnLst>
                                    <p:set>
                                      <p:cBhvr>
                                        <p:cTn id="32" dur="1" fill="hold">
                                          <p:stCondLst>
                                            <p:cond delay="0"/>
                                          </p:stCondLst>
                                        </p:cTn>
                                        <p:tgtEl>
                                          <p:spTgt spid="21507">
                                            <p:txEl>
                                              <p:pRg st="6" end="6"/>
                                            </p:txEl>
                                          </p:spTgt>
                                        </p:tgtEl>
                                        <p:attrNameLst>
                                          <p:attrName>style.visibility</p:attrName>
                                        </p:attrNameLst>
                                      </p:cBhvr>
                                      <p:to>
                                        <p:strVal val="visible"/>
                                      </p:to>
                                    </p:set>
                                    <p:animEffect transition="in" filter="slide(fromBottom)">
                                      <p:cBhvr>
                                        <p:cTn id="33" dur="500">
                                          <p:stCondLst>
                                            <p:cond delay="0"/>
                                          </p:stCondLst>
                                        </p:cTn>
                                        <p:tgtEl>
                                          <p:spTgt spid="21507">
                                            <p:txEl>
                                              <p:pRg st="6" end="6"/>
                                            </p:txEl>
                                          </p:spTgt>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21507">
                                            <p:txEl>
                                              <p:pRg st="7" end="7"/>
                                            </p:txEl>
                                          </p:spTgt>
                                        </p:tgtEl>
                                        <p:attrNameLst>
                                          <p:attrName>style.visibility</p:attrName>
                                        </p:attrNameLst>
                                      </p:cBhvr>
                                      <p:to>
                                        <p:strVal val="visible"/>
                                      </p:to>
                                    </p:set>
                                    <p:animEffect transition="in" filter="slide(fromBottom)">
                                      <p:cBhvr>
                                        <p:cTn id="36" dur="500">
                                          <p:stCondLst>
                                            <p:cond delay="0"/>
                                          </p:stCondLst>
                                        </p:cTn>
                                        <p:tgtEl>
                                          <p:spTgt spid="21507">
                                            <p:txEl>
                                              <p:pRg st="7" end="7"/>
                                            </p:txEl>
                                          </p:spTgt>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1507">
                                            <p:txEl>
                                              <p:pRg st="8" end="8"/>
                                            </p:txEl>
                                          </p:spTgt>
                                        </p:tgtEl>
                                        <p:attrNameLst>
                                          <p:attrName>style.visibility</p:attrName>
                                        </p:attrNameLst>
                                      </p:cBhvr>
                                      <p:to>
                                        <p:strVal val="visible"/>
                                      </p:to>
                                    </p:set>
                                    <p:animEffect transition="in" filter="slide(fromBottom)">
                                      <p:cBhvr>
                                        <p:cTn id="39" dur="500">
                                          <p:stCondLst>
                                            <p:cond delay="0"/>
                                          </p:stCondLst>
                                        </p:cTn>
                                        <p:tgtEl>
                                          <p:spTgt spid="21507">
                                            <p:txEl>
                                              <p:pRg st="8" end="8"/>
                                            </p:txEl>
                                          </p:spTgt>
                                        </p:tgtEl>
                                      </p:cBhvr>
                                    </p:animEffect>
                                  </p:childTnLst>
                                </p:cTn>
                              </p:par>
                              <p:par>
                                <p:cTn id="40" presetID="12" presetClass="entr" presetSubtype="4" fill="hold" grpId="0" nodeType="withEffect">
                                  <p:stCondLst>
                                    <p:cond delay="0"/>
                                  </p:stCondLst>
                                  <p:childTnLst>
                                    <p:set>
                                      <p:cBhvr>
                                        <p:cTn id="41" dur="1" fill="hold">
                                          <p:stCondLst>
                                            <p:cond delay="0"/>
                                          </p:stCondLst>
                                        </p:cTn>
                                        <p:tgtEl>
                                          <p:spTgt spid="21507">
                                            <p:txEl>
                                              <p:pRg st="9" end="9"/>
                                            </p:txEl>
                                          </p:spTgt>
                                        </p:tgtEl>
                                        <p:attrNameLst>
                                          <p:attrName>style.visibility</p:attrName>
                                        </p:attrNameLst>
                                      </p:cBhvr>
                                      <p:to>
                                        <p:strVal val="visible"/>
                                      </p:to>
                                    </p:set>
                                    <p:animEffect transition="in" filter="slide(fromBottom)">
                                      <p:cBhvr>
                                        <p:cTn id="42" dur="500">
                                          <p:stCondLst>
                                            <p:cond delay="0"/>
                                          </p:stCondLst>
                                        </p:cTn>
                                        <p:tgtEl>
                                          <p:spTgt spid="21507">
                                            <p:txEl>
                                              <p:pRg st="9" end="9"/>
                                            </p:txEl>
                                          </p:spTgt>
                                        </p:tgtEl>
                                      </p:cBhvr>
                                    </p:animEffect>
                                  </p:childTnLst>
                                </p:cTn>
                              </p:par>
                              <p:par>
                                <p:cTn id="43" presetID="12" presetClass="entr" presetSubtype="4" fill="hold" grpId="0" nodeType="withEffect">
                                  <p:stCondLst>
                                    <p:cond delay="0"/>
                                  </p:stCondLst>
                                  <p:childTnLst>
                                    <p:set>
                                      <p:cBhvr>
                                        <p:cTn id="44" dur="1" fill="hold">
                                          <p:stCondLst>
                                            <p:cond delay="0"/>
                                          </p:stCondLst>
                                        </p:cTn>
                                        <p:tgtEl>
                                          <p:spTgt spid="21507">
                                            <p:txEl>
                                              <p:pRg st="10" end="10"/>
                                            </p:txEl>
                                          </p:spTgt>
                                        </p:tgtEl>
                                        <p:attrNameLst>
                                          <p:attrName>style.visibility</p:attrName>
                                        </p:attrNameLst>
                                      </p:cBhvr>
                                      <p:to>
                                        <p:strVal val="visible"/>
                                      </p:to>
                                    </p:set>
                                    <p:animEffect transition="in" filter="slide(fromBottom)">
                                      <p:cBhvr>
                                        <p:cTn id="45" dur="500">
                                          <p:stCondLst>
                                            <p:cond delay="0"/>
                                          </p:stCondLst>
                                        </p:cTn>
                                        <p:tgtEl>
                                          <p:spTgt spid="21507">
                                            <p:txEl>
                                              <p:pRg st="10" end="10"/>
                                            </p:txEl>
                                          </p:spTgt>
                                        </p:tgtEl>
                                      </p:cBhvr>
                                    </p:animEffect>
                                  </p:childTnLst>
                                </p:cTn>
                              </p:par>
                              <p:par>
                                <p:cTn id="46" presetID="12" presetClass="entr" presetSubtype="4" fill="hold" grpId="0" nodeType="withEffect">
                                  <p:stCondLst>
                                    <p:cond delay="0"/>
                                  </p:stCondLst>
                                  <p:childTnLst>
                                    <p:set>
                                      <p:cBhvr>
                                        <p:cTn id="47" dur="1" fill="hold">
                                          <p:stCondLst>
                                            <p:cond delay="0"/>
                                          </p:stCondLst>
                                        </p:cTn>
                                        <p:tgtEl>
                                          <p:spTgt spid="21507">
                                            <p:txEl>
                                              <p:pRg st="11" end="11"/>
                                            </p:txEl>
                                          </p:spTgt>
                                        </p:tgtEl>
                                        <p:attrNameLst>
                                          <p:attrName>style.visibility</p:attrName>
                                        </p:attrNameLst>
                                      </p:cBhvr>
                                      <p:to>
                                        <p:strVal val="visible"/>
                                      </p:to>
                                    </p:set>
                                    <p:animEffect transition="in" filter="slide(fromBottom)">
                                      <p:cBhvr>
                                        <p:cTn id="48" dur="500">
                                          <p:stCondLst>
                                            <p:cond delay="0"/>
                                          </p:stCondLst>
                                        </p:cTn>
                                        <p:tgtEl>
                                          <p:spTgt spid="21507">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21507">
                                            <p:txEl>
                                              <p:pRg st="12" end="12"/>
                                            </p:txEl>
                                          </p:spTgt>
                                        </p:tgtEl>
                                        <p:attrNameLst>
                                          <p:attrName>style.visibility</p:attrName>
                                        </p:attrNameLst>
                                      </p:cBhvr>
                                      <p:to>
                                        <p:strVal val="visible"/>
                                      </p:to>
                                    </p:set>
                                    <p:animEffect transition="in" filter="slide(fromBottom)">
                                      <p:cBhvr>
                                        <p:cTn id="53" dur="500">
                                          <p:stCondLst>
                                            <p:cond delay="0"/>
                                          </p:stCondLst>
                                        </p:cTn>
                                        <p:tgtEl>
                                          <p:spTgt spid="2150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8" name="Rectangle 6"/>
          <p:cNvSpPr>
            <a:spLocks noGrp="1" noChangeArrowheads="1"/>
          </p:cNvSpPr>
          <p:nvPr>
            <p:ph type="title"/>
          </p:nvPr>
        </p:nvSpPr>
        <p:spPr/>
        <p:txBody>
          <a:bodyPr>
            <a:normAutofit/>
          </a:bodyPr>
          <a:lstStyle/>
          <a:p>
            <a:r>
              <a:rPr lang="en-US" sz="4000"/>
              <a:t>Characteristics for Specifications</a:t>
            </a:r>
          </a:p>
        </p:txBody>
      </p:sp>
      <p:sp>
        <p:nvSpPr>
          <p:cNvPr id="23559" name="Rectangle 7"/>
          <p:cNvSpPr>
            <a:spLocks noGrp="1" noChangeArrowheads="1"/>
          </p:cNvSpPr>
          <p:nvPr>
            <p:ph idx="1"/>
          </p:nvPr>
        </p:nvSpPr>
        <p:spPr/>
        <p:txBody>
          <a:bodyPr>
            <a:normAutofit lnSpcReduction="10000"/>
          </a:bodyPr>
          <a:lstStyle/>
          <a:p>
            <a:pPr>
              <a:lnSpc>
                <a:spcPct val="80000"/>
              </a:lnSpc>
            </a:pPr>
            <a:r>
              <a:rPr lang="en-US" sz="2000"/>
              <a:t>Correct</a:t>
            </a:r>
          </a:p>
          <a:p>
            <a:pPr lvl="1">
              <a:lnSpc>
                <a:spcPct val="80000"/>
              </a:lnSpc>
            </a:pPr>
            <a:r>
              <a:rPr lang="en-US" sz="1800"/>
              <a:t>Expresses only the real needs of the stakeholders (customers, users,…)</a:t>
            </a:r>
          </a:p>
          <a:p>
            <a:pPr lvl="1">
              <a:lnSpc>
                <a:spcPct val="80000"/>
              </a:lnSpc>
            </a:pPr>
            <a:r>
              <a:rPr lang="en-US" sz="1800"/>
              <a:t>Accurately describe the functionality to be delivered</a:t>
            </a:r>
          </a:p>
          <a:p>
            <a:pPr>
              <a:lnSpc>
                <a:spcPct val="80000"/>
              </a:lnSpc>
            </a:pPr>
            <a:r>
              <a:rPr lang="en-US" sz="2000"/>
              <a:t>Complete</a:t>
            </a:r>
          </a:p>
          <a:p>
            <a:pPr lvl="1">
              <a:lnSpc>
                <a:spcPct val="80000"/>
              </a:lnSpc>
            </a:pPr>
            <a:r>
              <a:rPr lang="en-US" sz="1800"/>
              <a:t>Specifies all the things the system must do ...and all the things it must not do!</a:t>
            </a:r>
          </a:p>
          <a:p>
            <a:pPr lvl="1">
              <a:lnSpc>
                <a:spcPct val="80000"/>
              </a:lnSpc>
            </a:pPr>
            <a:r>
              <a:rPr lang="en-US" sz="1800"/>
              <a:t>Conceptual Completeness</a:t>
            </a:r>
          </a:p>
          <a:p>
            <a:pPr lvl="2">
              <a:lnSpc>
                <a:spcPct val="80000"/>
              </a:lnSpc>
            </a:pPr>
            <a:r>
              <a:rPr lang="en-US" sz="1600"/>
              <a:t>E.g. responses to all classes of input</a:t>
            </a:r>
          </a:p>
          <a:p>
            <a:pPr lvl="1">
              <a:lnSpc>
                <a:spcPct val="80000"/>
              </a:lnSpc>
            </a:pPr>
            <a:r>
              <a:rPr lang="en-US" sz="1800"/>
              <a:t>Structural Completeness - no TBDs!!!</a:t>
            </a:r>
          </a:p>
          <a:p>
            <a:pPr>
              <a:lnSpc>
                <a:spcPct val="80000"/>
              </a:lnSpc>
            </a:pPr>
            <a:r>
              <a:rPr lang="en-US" sz="2000"/>
              <a:t>Feasible</a:t>
            </a:r>
          </a:p>
          <a:p>
            <a:pPr lvl="1">
              <a:lnSpc>
                <a:spcPct val="80000"/>
              </a:lnSpc>
            </a:pPr>
            <a:r>
              <a:rPr lang="en-US" sz="1800"/>
              <a:t>It must be possible to implement each requirement within known capabilities and limitations of the system and its environment</a:t>
            </a:r>
          </a:p>
          <a:p>
            <a:pPr>
              <a:lnSpc>
                <a:spcPct val="80000"/>
              </a:lnSpc>
            </a:pPr>
            <a:r>
              <a:rPr lang="en-US" sz="2000"/>
              <a:t>Consistent</a:t>
            </a:r>
          </a:p>
          <a:p>
            <a:pPr lvl="1">
              <a:lnSpc>
                <a:spcPct val="80000"/>
              </a:lnSpc>
            </a:pPr>
            <a:r>
              <a:rPr lang="en-US" sz="1800"/>
              <a:t>Doesn’t contradict itself</a:t>
            </a:r>
          </a:p>
          <a:p>
            <a:pPr lvl="1">
              <a:lnSpc>
                <a:spcPct val="80000"/>
              </a:lnSpc>
            </a:pPr>
            <a:r>
              <a:rPr lang="en-US" sz="1800"/>
              <a:t>Consistent requirements do not conflict with other software requirements or with higher level (system or business) requirements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23558"/>
                                        </p:tgtEl>
                                        <p:attrNameLst>
                                          <p:attrName>style.visibility</p:attrName>
                                        </p:attrNameLst>
                                      </p:cBhvr>
                                      <p:to>
                                        <p:strVal val="visible"/>
                                      </p:to>
                                    </p:set>
                                    <p:animEffect transition="in" filter="fade">
                                      <p:cBhvr>
                                        <p:cTn id="7" dur="600">
                                          <p:stCondLst>
                                            <p:cond delay="0"/>
                                          </p:stCondLst>
                                        </p:cTn>
                                        <p:tgtEl>
                                          <p:spTgt spid="23558"/>
                                        </p:tgtEl>
                                      </p:cBhvr>
                                    </p:animEffect>
                                    <p:anim calcmode="lin" valueType="num">
                                      <p:cBhvr>
                                        <p:cTn id="8" dur="600" fill="hold">
                                          <p:stCondLst>
                                            <p:cond delay="0"/>
                                          </p:stCondLst>
                                        </p:cTn>
                                        <p:tgtEl>
                                          <p:spTgt spid="23558"/>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23558"/>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23558"/>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3559">
                                            <p:txEl>
                                              <p:pRg st="0" end="0"/>
                                            </p:txEl>
                                          </p:spTgt>
                                        </p:tgtEl>
                                        <p:attrNameLst>
                                          <p:attrName>style.visibility</p:attrName>
                                        </p:attrNameLst>
                                      </p:cBhvr>
                                      <p:to>
                                        <p:strVal val="visible"/>
                                      </p:to>
                                    </p:set>
                                    <p:animEffect transition="in" filter="slide(fromBottom)">
                                      <p:cBhvr>
                                        <p:cTn id="15" dur="500">
                                          <p:stCondLst>
                                            <p:cond delay="0"/>
                                          </p:stCondLst>
                                        </p:cTn>
                                        <p:tgtEl>
                                          <p:spTgt spid="23559">
                                            <p:txEl>
                                              <p:pRg st="0" end="0"/>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3559">
                                            <p:txEl>
                                              <p:pRg st="1" end="1"/>
                                            </p:txEl>
                                          </p:spTgt>
                                        </p:tgtEl>
                                        <p:attrNameLst>
                                          <p:attrName>style.visibility</p:attrName>
                                        </p:attrNameLst>
                                      </p:cBhvr>
                                      <p:to>
                                        <p:strVal val="visible"/>
                                      </p:to>
                                    </p:set>
                                    <p:animEffect transition="in" filter="slide(fromBottom)">
                                      <p:cBhvr>
                                        <p:cTn id="18" dur="500">
                                          <p:stCondLst>
                                            <p:cond delay="0"/>
                                          </p:stCondLst>
                                        </p:cTn>
                                        <p:tgtEl>
                                          <p:spTgt spid="23559">
                                            <p:txEl>
                                              <p:pRg st="1" end="1"/>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3559">
                                            <p:txEl>
                                              <p:pRg st="2" end="2"/>
                                            </p:txEl>
                                          </p:spTgt>
                                        </p:tgtEl>
                                        <p:attrNameLst>
                                          <p:attrName>style.visibility</p:attrName>
                                        </p:attrNameLst>
                                      </p:cBhvr>
                                      <p:to>
                                        <p:strVal val="visible"/>
                                      </p:to>
                                    </p:set>
                                    <p:animEffect transition="in" filter="slide(fromBottom)">
                                      <p:cBhvr>
                                        <p:cTn id="21" dur="500">
                                          <p:stCondLst>
                                            <p:cond delay="0"/>
                                          </p:stCondLst>
                                        </p:cTn>
                                        <p:tgtEl>
                                          <p:spTgt spid="2355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3559">
                                            <p:txEl>
                                              <p:pRg st="3" end="3"/>
                                            </p:txEl>
                                          </p:spTgt>
                                        </p:tgtEl>
                                        <p:attrNameLst>
                                          <p:attrName>style.visibility</p:attrName>
                                        </p:attrNameLst>
                                      </p:cBhvr>
                                      <p:to>
                                        <p:strVal val="visible"/>
                                      </p:to>
                                    </p:set>
                                    <p:animEffect transition="in" filter="slide(fromBottom)">
                                      <p:cBhvr>
                                        <p:cTn id="26" dur="500">
                                          <p:stCondLst>
                                            <p:cond delay="0"/>
                                          </p:stCondLst>
                                        </p:cTn>
                                        <p:tgtEl>
                                          <p:spTgt spid="23559">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23559">
                                            <p:txEl>
                                              <p:pRg st="4" end="4"/>
                                            </p:txEl>
                                          </p:spTgt>
                                        </p:tgtEl>
                                        <p:attrNameLst>
                                          <p:attrName>style.visibility</p:attrName>
                                        </p:attrNameLst>
                                      </p:cBhvr>
                                      <p:to>
                                        <p:strVal val="visible"/>
                                      </p:to>
                                    </p:set>
                                    <p:animEffect transition="in" filter="slide(fromBottom)">
                                      <p:cBhvr>
                                        <p:cTn id="29" dur="500">
                                          <p:stCondLst>
                                            <p:cond delay="0"/>
                                          </p:stCondLst>
                                        </p:cTn>
                                        <p:tgtEl>
                                          <p:spTgt spid="23559">
                                            <p:txEl>
                                              <p:pRg st="4" end="4"/>
                                            </p:txEl>
                                          </p:spTgt>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23559">
                                            <p:txEl>
                                              <p:pRg st="5" end="5"/>
                                            </p:txEl>
                                          </p:spTgt>
                                        </p:tgtEl>
                                        <p:attrNameLst>
                                          <p:attrName>style.visibility</p:attrName>
                                        </p:attrNameLst>
                                      </p:cBhvr>
                                      <p:to>
                                        <p:strVal val="visible"/>
                                      </p:to>
                                    </p:set>
                                    <p:animEffect transition="in" filter="slide(fromBottom)">
                                      <p:cBhvr>
                                        <p:cTn id="32" dur="500">
                                          <p:stCondLst>
                                            <p:cond delay="0"/>
                                          </p:stCondLst>
                                        </p:cTn>
                                        <p:tgtEl>
                                          <p:spTgt spid="23559">
                                            <p:txEl>
                                              <p:pRg st="5" end="5"/>
                                            </p:txEl>
                                          </p:spTgt>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3559">
                                            <p:txEl>
                                              <p:pRg st="6" end="6"/>
                                            </p:txEl>
                                          </p:spTgt>
                                        </p:tgtEl>
                                        <p:attrNameLst>
                                          <p:attrName>style.visibility</p:attrName>
                                        </p:attrNameLst>
                                      </p:cBhvr>
                                      <p:to>
                                        <p:strVal val="visible"/>
                                      </p:to>
                                    </p:set>
                                    <p:animEffect transition="in" filter="slide(fromBottom)">
                                      <p:cBhvr>
                                        <p:cTn id="35" dur="500">
                                          <p:stCondLst>
                                            <p:cond delay="0"/>
                                          </p:stCondLst>
                                        </p:cTn>
                                        <p:tgtEl>
                                          <p:spTgt spid="23559">
                                            <p:txEl>
                                              <p:pRg st="6" end="6"/>
                                            </p:txEl>
                                          </p:spTgt>
                                        </p:tgtEl>
                                      </p:cBhvr>
                                    </p:animEffect>
                                  </p:childTnLst>
                                </p:cTn>
                              </p:par>
                              <p:par>
                                <p:cTn id="36" presetID="12" presetClass="entr" presetSubtype="4" fill="hold" grpId="0" nodeType="withEffect">
                                  <p:stCondLst>
                                    <p:cond delay="0"/>
                                  </p:stCondLst>
                                  <p:childTnLst>
                                    <p:set>
                                      <p:cBhvr>
                                        <p:cTn id="37" dur="1" fill="hold">
                                          <p:stCondLst>
                                            <p:cond delay="0"/>
                                          </p:stCondLst>
                                        </p:cTn>
                                        <p:tgtEl>
                                          <p:spTgt spid="23559">
                                            <p:txEl>
                                              <p:pRg st="7" end="7"/>
                                            </p:txEl>
                                          </p:spTgt>
                                        </p:tgtEl>
                                        <p:attrNameLst>
                                          <p:attrName>style.visibility</p:attrName>
                                        </p:attrNameLst>
                                      </p:cBhvr>
                                      <p:to>
                                        <p:strVal val="visible"/>
                                      </p:to>
                                    </p:set>
                                    <p:animEffect transition="in" filter="slide(fromBottom)">
                                      <p:cBhvr>
                                        <p:cTn id="38" dur="500">
                                          <p:stCondLst>
                                            <p:cond delay="0"/>
                                          </p:stCondLst>
                                        </p:cTn>
                                        <p:tgtEl>
                                          <p:spTgt spid="23559">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grpId="0" nodeType="clickEffect">
                                  <p:stCondLst>
                                    <p:cond delay="0"/>
                                  </p:stCondLst>
                                  <p:childTnLst>
                                    <p:set>
                                      <p:cBhvr>
                                        <p:cTn id="42" dur="1" fill="hold">
                                          <p:stCondLst>
                                            <p:cond delay="0"/>
                                          </p:stCondLst>
                                        </p:cTn>
                                        <p:tgtEl>
                                          <p:spTgt spid="23559">
                                            <p:txEl>
                                              <p:pRg st="8" end="8"/>
                                            </p:txEl>
                                          </p:spTgt>
                                        </p:tgtEl>
                                        <p:attrNameLst>
                                          <p:attrName>style.visibility</p:attrName>
                                        </p:attrNameLst>
                                      </p:cBhvr>
                                      <p:to>
                                        <p:strVal val="visible"/>
                                      </p:to>
                                    </p:set>
                                    <p:animEffect transition="in" filter="slide(fromBottom)">
                                      <p:cBhvr>
                                        <p:cTn id="43" dur="500">
                                          <p:stCondLst>
                                            <p:cond delay="0"/>
                                          </p:stCondLst>
                                        </p:cTn>
                                        <p:tgtEl>
                                          <p:spTgt spid="23559">
                                            <p:txEl>
                                              <p:pRg st="8" end="8"/>
                                            </p:txEl>
                                          </p:spTgt>
                                        </p:tgtEl>
                                      </p:cBhvr>
                                    </p:animEffect>
                                  </p:childTnLst>
                                </p:cTn>
                              </p:par>
                              <p:par>
                                <p:cTn id="44" presetID="12" presetClass="entr" presetSubtype="4" fill="hold" grpId="0" nodeType="withEffect">
                                  <p:stCondLst>
                                    <p:cond delay="0"/>
                                  </p:stCondLst>
                                  <p:childTnLst>
                                    <p:set>
                                      <p:cBhvr>
                                        <p:cTn id="45" dur="1" fill="hold">
                                          <p:stCondLst>
                                            <p:cond delay="0"/>
                                          </p:stCondLst>
                                        </p:cTn>
                                        <p:tgtEl>
                                          <p:spTgt spid="23559">
                                            <p:txEl>
                                              <p:pRg st="9" end="9"/>
                                            </p:txEl>
                                          </p:spTgt>
                                        </p:tgtEl>
                                        <p:attrNameLst>
                                          <p:attrName>style.visibility</p:attrName>
                                        </p:attrNameLst>
                                      </p:cBhvr>
                                      <p:to>
                                        <p:strVal val="visible"/>
                                      </p:to>
                                    </p:set>
                                    <p:animEffect transition="in" filter="slide(fromBottom)">
                                      <p:cBhvr>
                                        <p:cTn id="46" dur="500">
                                          <p:stCondLst>
                                            <p:cond delay="0"/>
                                          </p:stCondLst>
                                        </p:cTn>
                                        <p:tgtEl>
                                          <p:spTgt spid="23559">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23559">
                                            <p:txEl>
                                              <p:pRg st="10" end="10"/>
                                            </p:txEl>
                                          </p:spTgt>
                                        </p:tgtEl>
                                        <p:attrNameLst>
                                          <p:attrName>style.visibility</p:attrName>
                                        </p:attrNameLst>
                                      </p:cBhvr>
                                      <p:to>
                                        <p:strVal val="visible"/>
                                      </p:to>
                                    </p:set>
                                    <p:animEffect transition="in" filter="slide(fromBottom)">
                                      <p:cBhvr>
                                        <p:cTn id="51" dur="500">
                                          <p:stCondLst>
                                            <p:cond delay="0"/>
                                          </p:stCondLst>
                                        </p:cTn>
                                        <p:tgtEl>
                                          <p:spTgt spid="23559">
                                            <p:txEl>
                                              <p:pRg st="10" end="10"/>
                                            </p:txEl>
                                          </p:spTgt>
                                        </p:tgtEl>
                                      </p:cBhvr>
                                    </p:animEffect>
                                  </p:childTnLst>
                                </p:cTn>
                              </p:par>
                              <p:par>
                                <p:cTn id="52" presetID="12" presetClass="entr" presetSubtype="4" fill="hold" grpId="0" nodeType="withEffect">
                                  <p:stCondLst>
                                    <p:cond delay="0"/>
                                  </p:stCondLst>
                                  <p:childTnLst>
                                    <p:set>
                                      <p:cBhvr>
                                        <p:cTn id="53" dur="1" fill="hold">
                                          <p:stCondLst>
                                            <p:cond delay="0"/>
                                          </p:stCondLst>
                                        </p:cTn>
                                        <p:tgtEl>
                                          <p:spTgt spid="23559">
                                            <p:txEl>
                                              <p:pRg st="11" end="11"/>
                                            </p:txEl>
                                          </p:spTgt>
                                        </p:tgtEl>
                                        <p:attrNameLst>
                                          <p:attrName>style.visibility</p:attrName>
                                        </p:attrNameLst>
                                      </p:cBhvr>
                                      <p:to>
                                        <p:strVal val="visible"/>
                                      </p:to>
                                    </p:set>
                                    <p:animEffect transition="in" filter="slide(fromBottom)">
                                      <p:cBhvr>
                                        <p:cTn id="54" dur="500">
                                          <p:stCondLst>
                                            <p:cond delay="0"/>
                                          </p:stCondLst>
                                        </p:cTn>
                                        <p:tgtEl>
                                          <p:spTgt spid="23559">
                                            <p:txEl>
                                              <p:pRg st="11" end="11"/>
                                            </p:txEl>
                                          </p:spTgt>
                                        </p:tgtEl>
                                      </p:cBhvr>
                                    </p:animEffect>
                                  </p:childTnLst>
                                </p:cTn>
                              </p:par>
                              <p:par>
                                <p:cTn id="55" presetID="12" presetClass="entr" presetSubtype="4" fill="hold" grpId="0" nodeType="withEffect">
                                  <p:stCondLst>
                                    <p:cond delay="0"/>
                                  </p:stCondLst>
                                  <p:childTnLst>
                                    <p:set>
                                      <p:cBhvr>
                                        <p:cTn id="56" dur="1" fill="hold">
                                          <p:stCondLst>
                                            <p:cond delay="0"/>
                                          </p:stCondLst>
                                        </p:cTn>
                                        <p:tgtEl>
                                          <p:spTgt spid="23559">
                                            <p:txEl>
                                              <p:pRg st="12" end="12"/>
                                            </p:txEl>
                                          </p:spTgt>
                                        </p:tgtEl>
                                        <p:attrNameLst>
                                          <p:attrName>style.visibility</p:attrName>
                                        </p:attrNameLst>
                                      </p:cBhvr>
                                      <p:to>
                                        <p:strVal val="visible"/>
                                      </p:to>
                                    </p:set>
                                    <p:animEffect transition="in" filter="slide(fromBottom)">
                                      <p:cBhvr>
                                        <p:cTn id="57" dur="500">
                                          <p:stCondLst>
                                            <p:cond delay="0"/>
                                          </p:stCondLst>
                                        </p:cTn>
                                        <p:tgtEl>
                                          <p:spTgt spid="23559">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P spid="2355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82" name="Rectangle 6"/>
          <p:cNvSpPr>
            <a:spLocks noGrp="1" noChangeArrowheads="1"/>
          </p:cNvSpPr>
          <p:nvPr>
            <p:ph type="title"/>
          </p:nvPr>
        </p:nvSpPr>
        <p:spPr/>
        <p:txBody>
          <a:bodyPr>
            <a:normAutofit/>
          </a:bodyPr>
          <a:lstStyle/>
          <a:p>
            <a:r>
              <a:rPr lang="en-US" sz="4000"/>
              <a:t>Characteristics for Specifications</a:t>
            </a:r>
          </a:p>
        </p:txBody>
      </p:sp>
      <p:sp>
        <p:nvSpPr>
          <p:cNvPr id="24583" name="Rectangle 7"/>
          <p:cNvSpPr>
            <a:spLocks noGrp="1" noChangeArrowheads="1"/>
          </p:cNvSpPr>
          <p:nvPr>
            <p:ph idx="1"/>
          </p:nvPr>
        </p:nvSpPr>
        <p:spPr/>
        <p:txBody>
          <a:bodyPr>
            <a:normAutofit lnSpcReduction="10000"/>
          </a:bodyPr>
          <a:lstStyle/>
          <a:p>
            <a:pPr>
              <a:lnSpc>
                <a:spcPct val="80000"/>
              </a:lnSpc>
            </a:pPr>
            <a:r>
              <a:rPr lang="en-US" sz="1800"/>
              <a:t>Necessary</a:t>
            </a:r>
          </a:p>
          <a:p>
            <a:pPr lvl="1">
              <a:lnSpc>
                <a:spcPct val="80000"/>
              </a:lnSpc>
            </a:pPr>
            <a:r>
              <a:rPr lang="en-US" sz="1600"/>
              <a:t>Doesn’t contain anything that isn’t “required”</a:t>
            </a:r>
          </a:p>
          <a:p>
            <a:pPr lvl="1">
              <a:lnSpc>
                <a:spcPct val="80000"/>
              </a:lnSpc>
            </a:pPr>
            <a:r>
              <a:rPr lang="en-US" sz="1600"/>
              <a:t>Each requirement should document something the customers really need or something that is required for conformance to an external requirement, an external interface, or a standard </a:t>
            </a:r>
          </a:p>
          <a:p>
            <a:pPr>
              <a:lnSpc>
                <a:spcPct val="80000"/>
              </a:lnSpc>
            </a:pPr>
            <a:r>
              <a:rPr lang="en-US" sz="1800"/>
              <a:t>Unambiguous</a:t>
            </a:r>
          </a:p>
          <a:p>
            <a:pPr lvl="1">
              <a:lnSpc>
                <a:spcPct val="80000"/>
              </a:lnSpc>
            </a:pPr>
            <a:r>
              <a:rPr lang="en-US" sz="1600"/>
              <a:t>Every statement can be read in exactly one way</a:t>
            </a:r>
          </a:p>
          <a:p>
            <a:pPr lvl="1">
              <a:lnSpc>
                <a:spcPct val="80000"/>
              </a:lnSpc>
            </a:pPr>
            <a:r>
              <a:rPr lang="en-US" sz="1600"/>
              <a:t>Clearly defines confusing terms</a:t>
            </a:r>
          </a:p>
          <a:p>
            <a:pPr>
              <a:lnSpc>
                <a:spcPct val="80000"/>
              </a:lnSpc>
            </a:pPr>
            <a:r>
              <a:rPr lang="en-US" sz="1800"/>
              <a:t>Verifiable</a:t>
            </a:r>
          </a:p>
          <a:p>
            <a:pPr lvl="1">
              <a:lnSpc>
                <a:spcPct val="80000"/>
              </a:lnSpc>
            </a:pPr>
            <a:r>
              <a:rPr lang="en-US" sz="1600"/>
              <a:t>A process exists to test satisfaction of each requirement</a:t>
            </a:r>
          </a:p>
          <a:p>
            <a:pPr lvl="1">
              <a:lnSpc>
                <a:spcPct val="80000"/>
              </a:lnSpc>
            </a:pPr>
            <a:r>
              <a:rPr lang="en-US" sz="1600"/>
              <a:t>Any requirement that says the product shall support something is not verifiable</a:t>
            </a:r>
          </a:p>
          <a:p>
            <a:pPr>
              <a:lnSpc>
                <a:spcPct val="80000"/>
              </a:lnSpc>
            </a:pPr>
            <a:r>
              <a:rPr lang="en-US" sz="1800"/>
              <a:t>Understandable (Clear)</a:t>
            </a:r>
          </a:p>
          <a:p>
            <a:pPr lvl="1">
              <a:lnSpc>
                <a:spcPct val="80000"/>
              </a:lnSpc>
            </a:pPr>
            <a:r>
              <a:rPr lang="en-US" sz="1600"/>
              <a:t>E.g. by non-specialists</a:t>
            </a:r>
          </a:p>
          <a:p>
            <a:pPr>
              <a:lnSpc>
                <a:spcPct val="80000"/>
              </a:lnSpc>
            </a:pPr>
            <a:r>
              <a:rPr lang="en-US" sz="1800"/>
              <a:t>Modifiable</a:t>
            </a:r>
          </a:p>
          <a:p>
            <a:pPr lvl="1">
              <a:lnSpc>
                <a:spcPct val="80000"/>
              </a:lnSpc>
            </a:pPr>
            <a:r>
              <a:rPr lang="en-US" sz="1600"/>
              <a:t>Can be changed without difficulty</a:t>
            </a:r>
          </a:p>
          <a:p>
            <a:pPr lvl="2">
              <a:lnSpc>
                <a:spcPct val="80000"/>
              </a:lnSpc>
            </a:pPr>
            <a:r>
              <a:rPr lang="en-US" sz="1400"/>
              <a:t>Good structure and cross-referencing</a:t>
            </a:r>
          </a:p>
          <a:p>
            <a:pPr lvl="1">
              <a:lnSpc>
                <a:spcPct val="80000"/>
              </a:lnSpc>
            </a:pPr>
            <a:r>
              <a:rPr lang="en-US" sz="1600"/>
              <a:t>It must be kept up to date!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withEffect">
                                  <p:stCondLst>
                                    <p:cond delay="0"/>
                                  </p:stCondLst>
                                  <p:iterate type="lt">
                                    <p:tmPct val="10000"/>
                                  </p:iterate>
                                  <p:childTnLst>
                                    <p:set>
                                      <p:cBhvr>
                                        <p:cTn id="6" dur="1" fill="hold">
                                          <p:stCondLst>
                                            <p:cond delay="0"/>
                                          </p:stCondLst>
                                        </p:cTn>
                                        <p:tgtEl>
                                          <p:spTgt spid="24582"/>
                                        </p:tgtEl>
                                        <p:attrNameLst>
                                          <p:attrName>style.visibility</p:attrName>
                                        </p:attrNameLst>
                                      </p:cBhvr>
                                      <p:to>
                                        <p:strVal val="visible"/>
                                      </p:to>
                                    </p:set>
                                    <p:animEffect transition="in" filter="fade">
                                      <p:cBhvr>
                                        <p:cTn id="7" dur="600">
                                          <p:stCondLst>
                                            <p:cond delay="0"/>
                                          </p:stCondLst>
                                        </p:cTn>
                                        <p:tgtEl>
                                          <p:spTgt spid="24582"/>
                                        </p:tgtEl>
                                      </p:cBhvr>
                                    </p:animEffect>
                                    <p:anim calcmode="lin" valueType="num">
                                      <p:cBhvr>
                                        <p:cTn id="8" dur="600" fill="hold">
                                          <p:stCondLst>
                                            <p:cond delay="0"/>
                                          </p:stCondLst>
                                        </p:cTn>
                                        <p:tgtEl>
                                          <p:spTgt spid="24582"/>
                                        </p:tgtEl>
                                        <p:attrNameLst>
                                          <p:attrName>style.rotation</p:attrName>
                                        </p:attrNameLst>
                                      </p:cBhvr>
                                      <p:tavLst>
                                        <p:tav tm="0">
                                          <p:val>
                                            <p:fltVal val="720"/>
                                          </p:val>
                                        </p:tav>
                                        <p:tav tm="100000">
                                          <p:val>
                                            <p:fltVal val="0"/>
                                          </p:val>
                                        </p:tav>
                                      </p:tavLst>
                                    </p:anim>
                                    <p:anim calcmode="lin" valueType="num">
                                      <p:cBhvr>
                                        <p:cTn id="9" dur="600" fill="hold">
                                          <p:stCondLst>
                                            <p:cond delay="0"/>
                                          </p:stCondLst>
                                        </p:cTn>
                                        <p:tgtEl>
                                          <p:spTgt spid="24582"/>
                                        </p:tgtEl>
                                        <p:attrNameLst>
                                          <p:attrName>ppt_h</p:attrName>
                                        </p:attrNameLst>
                                      </p:cBhvr>
                                      <p:tavLst>
                                        <p:tav tm="0">
                                          <p:val>
                                            <p:fltVal val="0"/>
                                          </p:val>
                                        </p:tav>
                                        <p:tav tm="100000">
                                          <p:val>
                                            <p:strVal val="#ppt_h"/>
                                          </p:val>
                                        </p:tav>
                                      </p:tavLst>
                                    </p:anim>
                                    <p:anim calcmode="lin" valueType="num">
                                      <p:cBhvr>
                                        <p:cTn id="10" dur="600" fill="hold">
                                          <p:stCondLst>
                                            <p:cond delay="0"/>
                                          </p:stCondLst>
                                        </p:cTn>
                                        <p:tgtEl>
                                          <p:spTgt spid="2458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grpId="0" nodeType="clickEffect">
                                  <p:stCondLst>
                                    <p:cond delay="0"/>
                                  </p:stCondLst>
                                  <p:childTnLst>
                                    <p:set>
                                      <p:cBhvr>
                                        <p:cTn id="14" dur="1" fill="hold">
                                          <p:stCondLst>
                                            <p:cond delay="0"/>
                                          </p:stCondLst>
                                        </p:cTn>
                                        <p:tgtEl>
                                          <p:spTgt spid="24583">
                                            <p:txEl>
                                              <p:pRg st="0" end="0"/>
                                            </p:txEl>
                                          </p:spTgt>
                                        </p:tgtEl>
                                        <p:attrNameLst>
                                          <p:attrName>style.visibility</p:attrName>
                                        </p:attrNameLst>
                                      </p:cBhvr>
                                      <p:to>
                                        <p:strVal val="visible"/>
                                      </p:to>
                                    </p:set>
                                    <p:animEffect transition="in" filter="slide(fromBottom)">
                                      <p:cBhvr>
                                        <p:cTn id="15" dur="500">
                                          <p:stCondLst>
                                            <p:cond delay="0"/>
                                          </p:stCondLst>
                                        </p:cTn>
                                        <p:tgtEl>
                                          <p:spTgt spid="24583">
                                            <p:txEl>
                                              <p:pRg st="0" end="0"/>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24583">
                                            <p:txEl>
                                              <p:pRg st="1" end="1"/>
                                            </p:txEl>
                                          </p:spTgt>
                                        </p:tgtEl>
                                        <p:attrNameLst>
                                          <p:attrName>style.visibility</p:attrName>
                                        </p:attrNameLst>
                                      </p:cBhvr>
                                      <p:to>
                                        <p:strVal val="visible"/>
                                      </p:to>
                                    </p:set>
                                    <p:animEffect transition="in" filter="slide(fromBottom)">
                                      <p:cBhvr>
                                        <p:cTn id="18" dur="500">
                                          <p:stCondLst>
                                            <p:cond delay="0"/>
                                          </p:stCondLst>
                                        </p:cTn>
                                        <p:tgtEl>
                                          <p:spTgt spid="24583">
                                            <p:txEl>
                                              <p:pRg st="1" end="1"/>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24583">
                                            <p:txEl>
                                              <p:pRg st="2" end="2"/>
                                            </p:txEl>
                                          </p:spTgt>
                                        </p:tgtEl>
                                        <p:attrNameLst>
                                          <p:attrName>style.visibility</p:attrName>
                                        </p:attrNameLst>
                                      </p:cBhvr>
                                      <p:to>
                                        <p:strVal val="visible"/>
                                      </p:to>
                                    </p:set>
                                    <p:animEffect transition="in" filter="slide(fromBottom)">
                                      <p:cBhvr>
                                        <p:cTn id="21" dur="500">
                                          <p:stCondLst>
                                            <p:cond delay="0"/>
                                          </p:stCondLst>
                                        </p:cTn>
                                        <p:tgtEl>
                                          <p:spTgt spid="2458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4583">
                                            <p:txEl>
                                              <p:pRg st="3" end="3"/>
                                            </p:txEl>
                                          </p:spTgt>
                                        </p:tgtEl>
                                        <p:attrNameLst>
                                          <p:attrName>style.visibility</p:attrName>
                                        </p:attrNameLst>
                                      </p:cBhvr>
                                      <p:to>
                                        <p:strVal val="visible"/>
                                      </p:to>
                                    </p:set>
                                    <p:animEffect transition="in" filter="slide(fromBottom)">
                                      <p:cBhvr>
                                        <p:cTn id="26" dur="500">
                                          <p:stCondLst>
                                            <p:cond delay="0"/>
                                          </p:stCondLst>
                                        </p:cTn>
                                        <p:tgtEl>
                                          <p:spTgt spid="24583">
                                            <p:txEl>
                                              <p:pRg st="3" end="3"/>
                                            </p:txEl>
                                          </p:spTgt>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24583">
                                            <p:txEl>
                                              <p:pRg st="4" end="4"/>
                                            </p:txEl>
                                          </p:spTgt>
                                        </p:tgtEl>
                                        <p:attrNameLst>
                                          <p:attrName>style.visibility</p:attrName>
                                        </p:attrNameLst>
                                      </p:cBhvr>
                                      <p:to>
                                        <p:strVal val="visible"/>
                                      </p:to>
                                    </p:set>
                                    <p:animEffect transition="in" filter="slide(fromBottom)">
                                      <p:cBhvr>
                                        <p:cTn id="29" dur="500">
                                          <p:stCondLst>
                                            <p:cond delay="0"/>
                                          </p:stCondLst>
                                        </p:cTn>
                                        <p:tgtEl>
                                          <p:spTgt spid="24583">
                                            <p:txEl>
                                              <p:pRg st="4" end="4"/>
                                            </p:txEl>
                                          </p:spTgt>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24583">
                                            <p:txEl>
                                              <p:pRg st="5" end="5"/>
                                            </p:txEl>
                                          </p:spTgt>
                                        </p:tgtEl>
                                        <p:attrNameLst>
                                          <p:attrName>style.visibility</p:attrName>
                                        </p:attrNameLst>
                                      </p:cBhvr>
                                      <p:to>
                                        <p:strVal val="visible"/>
                                      </p:to>
                                    </p:set>
                                    <p:animEffect transition="in" filter="slide(fromBottom)">
                                      <p:cBhvr>
                                        <p:cTn id="32" dur="500">
                                          <p:stCondLst>
                                            <p:cond delay="0"/>
                                          </p:stCondLst>
                                        </p:cTn>
                                        <p:tgtEl>
                                          <p:spTgt spid="2458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4583">
                                            <p:txEl>
                                              <p:pRg st="6" end="6"/>
                                            </p:txEl>
                                          </p:spTgt>
                                        </p:tgtEl>
                                        <p:attrNameLst>
                                          <p:attrName>style.visibility</p:attrName>
                                        </p:attrNameLst>
                                      </p:cBhvr>
                                      <p:to>
                                        <p:strVal val="visible"/>
                                      </p:to>
                                    </p:set>
                                    <p:animEffect transition="in" filter="slide(fromBottom)">
                                      <p:cBhvr>
                                        <p:cTn id="37" dur="500">
                                          <p:stCondLst>
                                            <p:cond delay="0"/>
                                          </p:stCondLst>
                                        </p:cTn>
                                        <p:tgtEl>
                                          <p:spTgt spid="24583">
                                            <p:txEl>
                                              <p:pRg st="6" end="6"/>
                                            </p:txEl>
                                          </p:spTgt>
                                        </p:tgtEl>
                                      </p:cBhvr>
                                    </p:animEffect>
                                  </p:childTnLst>
                                </p:cTn>
                              </p:par>
                              <p:par>
                                <p:cTn id="38" presetID="12" presetClass="entr" presetSubtype="4" fill="hold" grpId="0" nodeType="withEffect">
                                  <p:stCondLst>
                                    <p:cond delay="0"/>
                                  </p:stCondLst>
                                  <p:childTnLst>
                                    <p:set>
                                      <p:cBhvr>
                                        <p:cTn id="39" dur="1" fill="hold">
                                          <p:stCondLst>
                                            <p:cond delay="0"/>
                                          </p:stCondLst>
                                        </p:cTn>
                                        <p:tgtEl>
                                          <p:spTgt spid="24583">
                                            <p:txEl>
                                              <p:pRg st="7" end="7"/>
                                            </p:txEl>
                                          </p:spTgt>
                                        </p:tgtEl>
                                        <p:attrNameLst>
                                          <p:attrName>style.visibility</p:attrName>
                                        </p:attrNameLst>
                                      </p:cBhvr>
                                      <p:to>
                                        <p:strVal val="visible"/>
                                      </p:to>
                                    </p:set>
                                    <p:animEffect transition="in" filter="slide(fromBottom)">
                                      <p:cBhvr>
                                        <p:cTn id="40" dur="500">
                                          <p:stCondLst>
                                            <p:cond delay="0"/>
                                          </p:stCondLst>
                                        </p:cTn>
                                        <p:tgtEl>
                                          <p:spTgt spid="24583">
                                            <p:txEl>
                                              <p:pRg st="7" end="7"/>
                                            </p:txEl>
                                          </p:spTgt>
                                        </p:tgtEl>
                                      </p:cBhvr>
                                    </p:animEffect>
                                  </p:childTnLst>
                                </p:cTn>
                              </p:par>
                              <p:par>
                                <p:cTn id="41" presetID="12" presetClass="entr" presetSubtype="4" fill="hold" grpId="0" nodeType="withEffect">
                                  <p:stCondLst>
                                    <p:cond delay="0"/>
                                  </p:stCondLst>
                                  <p:childTnLst>
                                    <p:set>
                                      <p:cBhvr>
                                        <p:cTn id="42" dur="1" fill="hold">
                                          <p:stCondLst>
                                            <p:cond delay="0"/>
                                          </p:stCondLst>
                                        </p:cTn>
                                        <p:tgtEl>
                                          <p:spTgt spid="24583">
                                            <p:txEl>
                                              <p:pRg st="8" end="8"/>
                                            </p:txEl>
                                          </p:spTgt>
                                        </p:tgtEl>
                                        <p:attrNameLst>
                                          <p:attrName>style.visibility</p:attrName>
                                        </p:attrNameLst>
                                      </p:cBhvr>
                                      <p:to>
                                        <p:strVal val="visible"/>
                                      </p:to>
                                    </p:set>
                                    <p:animEffect transition="in" filter="slide(fromBottom)">
                                      <p:cBhvr>
                                        <p:cTn id="43" dur="500">
                                          <p:stCondLst>
                                            <p:cond delay="0"/>
                                          </p:stCondLst>
                                        </p:cTn>
                                        <p:tgtEl>
                                          <p:spTgt spid="2458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4" fill="hold" grpId="0" nodeType="clickEffect">
                                  <p:stCondLst>
                                    <p:cond delay="0"/>
                                  </p:stCondLst>
                                  <p:childTnLst>
                                    <p:set>
                                      <p:cBhvr>
                                        <p:cTn id="47" dur="1" fill="hold">
                                          <p:stCondLst>
                                            <p:cond delay="0"/>
                                          </p:stCondLst>
                                        </p:cTn>
                                        <p:tgtEl>
                                          <p:spTgt spid="24583">
                                            <p:txEl>
                                              <p:pRg st="9" end="9"/>
                                            </p:txEl>
                                          </p:spTgt>
                                        </p:tgtEl>
                                        <p:attrNameLst>
                                          <p:attrName>style.visibility</p:attrName>
                                        </p:attrNameLst>
                                      </p:cBhvr>
                                      <p:to>
                                        <p:strVal val="visible"/>
                                      </p:to>
                                    </p:set>
                                    <p:animEffect transition="in" filter="slide(fromBottom)">
                                      <p:cBhvr>
                                        <p:cTn id="48" dur="500">
                                          <p:stCondLst>
                                            <p:cond delay="0"/>
                                          </p:stCondLst>
                                        </p:cTn>
                                        <p:tgtEl>
                                          <p:spTgt spid="24583">
                                            <p:txEl>
                                              <p:pRg st="9" end="9"/>
                                            </p:txEl>
                                          </p:spTgt>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24583">
                                            <p:txEl>
                                              <p:pRg st="10" end="10"/>
                                            </p:txEl>
                                          </p:spTgt>
                                        </p:tgtEl>
                                        <p:attrNameLst>
                                          <p:attrName>style.visibility</p:attrName>
                                        </p:attrNameLst>
                                      </p:cBhvr>
                                      <p:to>
                                        <p:strVal val="visible"/>
                                      </p:to>
                                    </p:set>
                                    <p:animEffect transition="in" filter="slide(fromBottom)">
                                      <p:cBhvr>
                                        <p:cTn id="51" dur="500">
                                          <p:stCondLst>
                                            <p:cond delay="0"/>
                                          </p:stCondLst>
                                        </p:cTn>
                                        <p:tgtEl>
                                          <p:spTgt spid="24583">
                                            <p:txEl>
                                              <p:pRg st="10" end="1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24583">
                                            <p:txEl>
                                              <p:pRg st="11" end="11"/>
                                            </p:txEl>
                                          </p:spTgt>
                                        </p:tgtEl>
                                        <p:attrNameLst>
                                          <p:attrName>style.visibility</p:attrName>
                                        </p:attrNameLst>
                                      </p:cBhvr>
                                      <p:to>
                                        <p:strVal val="visible"/>
                                      </p:to>
                                    </p:set>
                                    <p:animEffect transition="in" filter="slide(fromBottom)">
                                      <p:cBhvr>
                                        <p:cTn id="56" dur="500">
                                          <p:stCondLst>
                                            <p:cond delay="0"/>
                                          </p:stCondLst>
                                        </p:cTn>
                                        <p:tgtEl>
                                          <p:spTgt spid="24583">
                                            <p:txEl>
                                              <p:pRg st="11" end="11"/>
                                            </p:txEl>
                                          </p:spTgt>
                                        </p:tgtEl>
                                      </p:cBhvr>
                                    </p:animEffect>
                                  </p:childTnLst>
                                </p:cTn>
                              </p:par>
                              <p:par>
                                <p:cTn id="57" presetID="12" presetClass="entr" presetSubtype="4" fill="hold" grpId="0" nodeType="withEffect">
                                  <p:stCondLst>
                                    <p:cond delay="0"/>
                                  </p:stCondLst>
                                  <p:childTnLst>
                                    <p:set>
                                      <p:cBhvr>
                                        <p:cTn id="58" dur="1" fill="hold">
                                          <p:stCondLst>
                                            <p:cond delay="0"/>
                                          </p:stCondLst>
                                        </p:cTn>
                                        <p:tgtEl>
                                          <p:spTgt spid="24583">
                                            <p:txEl>
                                              <p:pRg st="12" end="12"/>
                                            </p:txEl>
                                          </p:spTgt>
                                        </p:tgtEl>
                                        <p:attrNameLst>
                                          <p:attrName>style.visibility</p:attrName>
                                        </p:attrNameLst>
                                      </p:cBhvr>
                                      <p:to>
                                        <p:strVal val="visible"/>
                                      </p:to>
                                    </p:set>
                                    <p:animEffect transition="in" filter="slide(fromBottom)">
                                      <p:cBhvr>
                                        <p:cTn id="59" dur="500">
                                          <p:stCondLst>
                                            <p:cond delay="0"/>
                                          </p:stCondLst>
                                        </p:cTn>
                                        <p:tgtEl>
                                          <p:spTgt spid="24583">
                                            <p:txEl>
                                              <p:pRg st="12" end="12"/>
                                            </p:txEl>
                                          </p:spTgt>
                                        </p:tgtEl>
                                      </p:cBhvr>
                                    </p:animEffect>
                                  </p:childTnLst>
                                </p:cTn>
                              </p:par>
                              <p:par>
                                <p:cTn id="60" presetID="12" presetClass="entr" presetSubtype="4" fill="hold" grpId="0" nodeType="withEffect">
                                  <p:stCondLst>
                                    <p:cond delay="0"/>
                                  </p:stCondLst>
                                  <p:childTnLst>
                                    <p:set>
                                      <p:cBhvr>
                                        <p:cTn id="61" dur="1" fill="hold">
                                          <p:stCondLst>
                                            <p:cond delay="0"/>
                                          </p:stCondLst>
                                        </p:cTn>
                                        <p:tgtEl>
                                          <p:spTgt spid="24583">
                                            <p:txEl>
                                              <p:pRg st="13" end="13"/>
                                            </p:txEl>
                                          </p:spTgt>
                                        </p:tgtEl>
                                        <p:attrNameLst>
                                          <p:attrName>style.visibility</p:attrName>
                                        </p:attrNameLst>
                                      </p:cBhvr>
                                      <p:to>
                                        <p:strVal val="visible"/>
                                      </p:to>
                                    </p:set>
                                    <p:animEffect transition="in" filter="slide(fromBottom)">
                                      <p:cBhvr>
                                        <p:cTn id="62" dur="500">
                                          <p:stCondLst>
                                            <p:cond delay="0"/>
                                          </p:stCondLst>
                                        </p:cTn>
                                        <p:tgtEl>
                                          <p:spTgt spid="24583">
                                            <p:txEl>
                                              <p:pRg st="13" end="13"/>
                                            </p:txEl>
                                          </p:spTgt>
                                        </p:tgtEl>
                                      </p:cBhvr>
                                    </p:animEffect>
                                  </p:childTnLst>
                                </p:cTn>
                              </p:par>
                              <p:par>
                                <p:cTn id="63" presetID="12" presetClass="entr" presetSubtype="4" fill="hold" grpId="0" nodeType="withEffect">
                                  <p:stCondLst>
                                    <p:cond delay="0"/>
                                  </p:stCondLst>
                                  <p:childTnLst>
                                    <p:set>
                                      <p:cBhvr>
                                        <p:cTn id="64" dur="1" fill="hold">
                                          <p:stCondLst>
                                            <p:cond delay="0"/>
                                          </p:stCondLst>
                                        </p:cTn>
                                        <p:tgtEl>
                                          <p:spTgt spid="24583">
                                            <p:txEl>
                                              <p:pRg st="14" end="14"/>
                                            </p:txEl>
                                          </p:spTgt>
                                        </p:tgtEl>
                                        <p:attrNameLst>
                                          <p:attrName>style.visibility</p:attrName>
                                        </p:attrNameLst>
                                      </p:cBhvr>
                                      <p:to>
                                        <p:strVal val="visible"/>
                                      </p:to>
                                    </p:set>
                                    <p:animEffect transition="in" filter="slide(fromBottom)">
                                      <p:cBhvr>
                                        <p:cTn id="65" dur="500">
                                          <p:stCondLst>
                                            <p:cond delay="0"/>
                                          </p:stCondLst>
                                        </p:cTn>
                                        <p:tgtEl>
                                          <p:spTgt spid="2458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P spid="2458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4"/>
          <p:cNvSpPr>
            <a:spLocks noGrp="1" noChangeArrowheads="1"/>
          </p:cNvSpPr>
          <p:nvPr>
            <p:ph type="ctrTitle"/>
          </p:nvPr>
        </p:nvSpPr>
        <p:spPr/>
        <p:txBody>
          <a:bodyPr/>
          <a:lstStyle/>
          <a:p>
            <a:r>
              <a:rPr lang="en-US"/>
              <a:t>Specification Methods</a:t>
            </a:r>
          </a:p>
        </p:txBody>
      </p:sp>
      <p:sp>
        <p:nvSpPr>
          <p:cNvPr id="58373" name="Rectangle 5"/>
          <p:cNvSpPr>
            <a:spLocks noGrp="1" noChangeArrowheads="1"/>
          </p:cNvSpPr>
          <p:nvPr>
            <p:ph type="subTitle" idx="1"/>
          </p:nvPr>
        </p:nvSpPr>
        <p:spPr/>
        <p:txBody>
          <a:bodyPr/>
          <a:lstStyle/>
          <a:p>
            <a:r>
              <a:rPr lang="en-US" dirty="0" smtClean="0"/>
              <a:t>Will do after </a:t>
            </a:r>
            <a:r>
              <a:rPr lang="en-US" dirty="0" err="1" smtClean="0"/>
              <a:t>mids</a:t>
            </a:r>
            <a:r>
              <a:rPr lang="en-US" dirty="0" smtClean="0"/>
              <a:t>….</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ctrTitle"/>
          </p:nvPr>
        </p:nvSpPr>
        <p:spPr/>
        <p:txBody>
          <a:bodyPr>
            <a:normAutofit/>
          </a:bodyPr>
          <a:lstStyle/>
          <a:p>
            <a:pPr algn="ctr"/>
            <a:r>
              <a:rPr lang="en-US" sz="9600" dirty="0"/>
              <a:t>Q</a:t>
            </a:r>
            <a:r>
              <a:rPr lang="en-US" sz="8000" dirty="0"/>
              <a:t>&amp;</a:t>
            </a:r>
            <a:r>
              <a:rPr lang="en-US" sz="9600" dirty="0"/>
              <a:t>A</a:t>
            </a:r>
          </a:p>
        </p:txBody>
      </p:sp>
      <p:sp>
        <p:nvSpPr>
          <p:cNvPr id="553987" name="Rectangle 3"/>
          <p:cNvSpPr>
            <a:spLocks noGrp="1" noChangeArrowheads="1"/>
          </p:cNvSpPr>
          <p:nvPr>
            <p:ph type="subTitle" idx="1"/>
          </p:nvPr>
        </p:nvSpPr>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1571</TotalTime>
  <Words>648</Words>
  <Application>Microsoft Office PowerPoint</Application>
  <PresentationFormat>On-screen Show (4:3)</PresentationFormat>
  <Paragraphs>92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Tahoma</vt:lpstr>
      <vt:lpstr>Times New Roman</vt:lpstr>
      <vt:lpstr>Office Theme</vt:lpstr>
      <vt:lpstr>Requirements Engineering</vt:lpstr>
      <vt:lpstr>Requirements Documentation</vt:lpstr>
      <vt:lpstr>Requirements Definition</vt:lpstr>
      <vt:lpstr>Requirements Specification</vt:lpstr>
      <vt:lpstr>Requirements Specification Example</vt:lpstr>
      <vt:lpstr>Software Specification</vt:lpstr>
      <vt:lpstr>Software Requirements Specification</vt:lpstr>
      <vt:lpstr>Software Requirements Specification</vt:lpstr>
      <vt:lpstr>Characteristics for Specifications</vt:lpstr>
      <vt:lpstr>Characteristics for Specifications</vt:lpstr>
      <vt:lpstr>Specification Methods</vt:lpstr>
      <vt:lpstr>Q&amp;A</vt:lpstr>
    </vt:vector>
  </TitlesOfParts>
  <Company>Private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Ammad</dc:creator>
  <cp:lastModifiedBy>Pc Planet</cp:lastModifiedBy>
  <cp:revision>322</cp:revision>
  <dcterms:created xsi:type="dcterms:W3CDTF">2001-01-05T12:38:16Z</dcterms:created>
  <dcterms:modified xsi:type="dcterms:W3CDTF">2023-04-06T09:02:07Z</dcterms:modified>
</cp:coreProperties>
</file>