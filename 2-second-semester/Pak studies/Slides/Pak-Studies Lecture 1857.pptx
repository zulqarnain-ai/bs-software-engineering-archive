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2" r:id="rId1"/>
  </p:sldMasterIdLst>
  <p:notesMasterIdLst>
    <p:notesMasterId r:id="rId11"/>
  </p:notesMasterIdLst>
  <p:sldIdLst>
    <p:sldId id="256" r:id="rId2"/>
    <p:sldId id="257" r:id="rId3"/>
    <p:sldId id="264"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34430A-7C7A-4DD4-AA1A-41C951525AB7}" type="datetimeFigureOut">
              <a:rPr lang="en-US" smtClean="0"/>
              <a:t>9/18/2020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A4AD9F-4CC6-4059-BBD9-7BE854074BFA}" type="slidenum">
              <a:rPr lang="en-US" smtClean="0"/>
              <a:t>‹#›</a:t>
            </a:fld>
            <a:endParaRPr lang="en-US"/>
          </a:p>
        </p:txBody>
      </p:sp>
    </p:spTree>
    <p:extLst>
      <p:ext uri="{BB962C8B-B14F-4D97-AF65-F5344CB8AC3E}">
        <p14:creationId xmlns:p14="http://schemas.microsoft.com/office/powerpoint/2010/main" val="2418002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A4AD9F-4CC6-4059-BBD9-7BE854074BFA}" type="slidenum">
              <a:rPr lang="en-US" smtClean="0"/>
              <a:t>6</a:t>
            </a:fld>
            <a:endParaRPr lang="en-US"/>
          </a:p>
        </p:txBody>
      </p:sp>
    </p:spTree>
    <p:extLst>
      <p:ext uri="{BB962C8B-B14F-4D97-AF65-F5344CB8AC3E}">
        <p14:creationId xmlns:p14="http://schemas.microsoft.com/office/powerpoint/2010/main" val="1678685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F9D1F45-12A6-47E8-8C57-BEC2E861E109}" type="datetimeFigureOut">
              <a:rPr lang="en-US" smtClean="0"/>
              <a:t>9/18/2020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1344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D1F45-12A6-47E8-8C57-BEC2E861E109}" type="datetimeFigureOut">
              <a:rPr lang="en-US" smtClean="0"/>
              <a:t>9/18/2020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4159933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F9D1F45-12A6-47E8-8C57-BEC2E861E109}" type="datetimeFigureOut">
              <a:rPr lang="en-US" smtClean="0"/>
              <a:t>9/18/2020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3191808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9D1F45-12A6-47E8-8C57-BEC2E861E109}" type="datetimeFigureOut">
              <a:rPr lang="en-US" smtClean="0"/>
              <a:t>9/18/2020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2746760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9D1F45-12A6-47E8-8C57-BEC2E861E109}" type="datetimeFigureOut">
              <a:rPr lang="en-US" smtClean="0"/>
              <a:t>9/18/2020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2153759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9D1F45-12A6-47E8-8C57-BEC2E861E109}" type="datetimeFigureOut">
              <a:rPr lang="en-US" smtClean="0"/>
              <a:t>9/18/2020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375115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9D1F45-12A6-47E8-8C57-BEC2E861E109}" type="datetimeFigureOut">
              <a:rPr lang="en-US" smtClean="0"/>
              <a:t>9/18/2020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2884241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9D1F45-12A6-47E8-8C57-BEC2E861E109}" type="datetimeFigureOut">
              <a:rPr lang="en-US" smtClean="0"/>
              <a:t>9/18/2020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1498454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F9D1F45-12A6-47E8-8C57-BEC2E861E109}" type="datetimeFigureOut">
              <a:rPr lang="en-US" smtClean="0"/>
              <a:t>9/18/2020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1523047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D1F45-12A6-47E8-8C57-BEC2E861E109}" type="datetimeFigureOut">
              <a:rPr lang="en-US" smtClean="0"/>
              <a:t>9/18/2020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466381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9D1F45-12A6-47E8-8C57-BEC2E861E109}" type="datetimeFigureOut">
              <a:rPr lang="en-US" smtClean="0"/>
              <a:t>9/18/2020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99C880-4FAB-474D-B386-365E8304E608}" type="slidenum">
              <a:rPr lang="en-US" smtClean="0"/>
              <a:t>‹#›</a:t>
            </a:fld>
            <a:endParaRPr lang="en-US"/>
          </a:p>
        </p:txBody>
      </p:sp>
    </p:spTree>
    <p:extLst>
      <p:ext uri="{BB962C8B-B14F-4D97-AF65-F5344CB8AC3E}">
        <p14:creationId xmlns:p14="http://schemas.microsoft.com/office/powerpoint/2010/main" val="2613855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0">
          <a:fgClr>
            <a:srgbClr val="00B050"/>
          </a:fgClr>
          <a:bgClr>
            <a:srgbClr val="92D050"/>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9D1F45-12A6-47E8-8C57-BEC2E861E109}" type="datetimeFigureOut">
              <a:rPr lang="en-US" smtClean="0"/>
              <a:t>9/18/2020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99C880-4FAB-474D-B386-365E8304E608}" type="slidenum">
              <a:rPr lang="en-US" smtClean="0"/>
              <a:t>‹#›</a:t>
            </a:fld>
            <a:endParaRPr lang="en-US"/>
          </a:p>
        </p:txBody>
      </p:sp>
    </p:spTree>
    <p:extLst>
      <p:ext uri="{BB962C8B-B14F-4D97-AF65-F5344CB8AC3E}">
        <p14:creationId xmlns:p14="http://schemas.microsoft.com/office/powerpoint/2010/main" val="965307035"/>
      </p:ext>
    </p:extLst>
  </p:cSld>
  <p:clrMap bg1="lt1" tx1="dk1" bg2="lt2" tx2="dk2" accent1="accent1" accent2="accent2" accent3="accent3" accent4="accent4" accent5="accent5" accent6="accent6" hlink="hlink" folHlink="folHlink"/>
  <p:sldLayoutIdLst>
    <p:sldLayoutId id="2147484103" r:id="rId1"/>
    <p:sldLayoutId id="2147484104" r:id="rId2"/>
    <p:sldLayoutId id="2147484105" r:id="rId3"/>
    <p:sldLayoutId id="2147484106" r:id="rId4"/>
    <p:sldLayoutId id="2147484107" r:id="rId5"/>
    <p:sldLayoutId id="2147484108" r:id="rId6"/>
    <p:sldLayoutId id="2147484109" r:id="rId7"/>
    <p:sldLayoutId id="2147484110" r:id="rId8"/>
    <p:sldLayoutId id="2147484111" r:id="rId9"/>
    <p:sldLayoutId id="2147484112" r:id="rId10"/>
    <p:sldLayoutId id="21474841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latin typeface="Times New Roman" panose="02020603050405020304" pitchFamily="18" charset="0"/>
                <a:cs typeface="Times New Roman" panose="02020603050405020304" pitchFamily="18" charset="0"/>
              </a:rPr>
              <a:t>1857</a:t>
            </a:r>
          </a:p>
        </p:txBody>
      </p:sp>
      <p:sp>
        <p:nvSpPr>
          <p:cNvPr id="3" name="Subtitle 2"/>
          <p:cNvSpPr>
            <a:spLocks noGrp="1"/>
          </p:cNvSpPr>
          <p:nvPr>
            <p:ph type="subTitle" idx="1"/>
          </p:nvPr>
        </p:nvSpPr>
        <p:spPr/>
        <p:txBody>
          <a:bodyPr>
            <a:normAutofit/>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War of Independence</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Mutiny, Rebellion    </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Military Uprising/Sepoy Movement </a:t>
            </a:r>
          </a:p>
        </p:txBody>
      </p:sp>
    </p:spTree>
    <p:extLst>
      <p:ext uri="{BB962C8B-B14F-4D97-AF65-F5344CB8AC3E}">
        <p14:creationId xmlns:p14="http://schemas.microsoft.com/office/powerpoint/2010/main" val="994391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Long Term Causes of 1857</a:t>
            </a:r>
          </a:p>
        </p:txBody>
      </p:sp>
      <p:sp>
        <p:nvSpPr>
          <p:cNvPr id="3" name="Content Placeholder 2"/>
          <p:cNvSpPr>
            <a:spLocks noGrp="1"/>
          </p:cNvSpPr>
          <p:nvPr>
            <p:ph idx="1"/>
          </p:nvPr>
        </p:nvSpPr>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Doctrine Lapse </a:t>
            </a:r>
          </a:p>
          <a:p>
            <a:pPr algn="just">
              <a:lnSpc>
                <a:spcPct val="150000"/>
              </a:lnSpc>
            </a:pPr>
            <a:r>
              <a:rPr lang="en-US" dirty="0">
                <a:latin typeface="Times New Roman" panose="02020603050405020304" pitchFamily="18" charset="0"/>
                <a:cs typeface="Times New Roman" panose="02020603050405020304" pitchFamily="18" charset="0"/>
              </a:rPr>
              <a:t>Military</a:t>
            </a:r>
          </a:p>
          <a:p>
            <a:pPr algn="just">
              <a:lnSpc>
                <a:spcPct val="150000"/>
              </a:lnSpc>
            </a:pPr>
            <a:r>
              <a:rPr lang="en-US" dirty="0">
                <a:latin typeface="Times New Roman" panose="02020603050405020304" pitchFamily="18" charset="0"/>
                <a:cs typeface="Times New Roman" panose="02020603050405020304" pitchFamily="18" charset="0"/>
              </a:rPr>
              <a:t>Religious</a:t>
            </a:r>
          </a:p>
          <a:p>
            <a:pPr algn="just">
              <a:lnSpc>
                <a:spcPct val="150000"/>
              </a:lnSpc>
            </a:pPr>
            <a:r>
              <a:rPr lang="en-US" dirty="0">
                <a:latin typeface="Times New Roman" panose="02020603050405020304" pitchFamily="18" charset="0"/>
                <a:cs typeface="Times New Roman" panose="02020603050405020304" pitchFamily="18" charset="0"/>
              </a:rPr>
              <a:t>Political </a:t>
            </a:r>
          </a:p>
          <a:p>
            <a:pPr algn="just">
              <a:lnSpc>
                <a:spcPct val="150000"/>
              </a:lnSpc>
            </a:pPr>
            <a:r>
              <a:rPr lang="en-US" dirty="0">
                <a:latin typeface="Times New Roman" panose="02020603050405020304" pitchFamily="18" charset="0"/>
                <a:cs typeface="Times New Roman" panose="02020603050405020304" pitchFamily="18" charset="0"/>
              </a:rPr>
              <a:t>Economic</a:t>
            </a:r>
          </a:p>
          <a:p>
            <a:pPr algn="just">
              <a:lnSpc>
                <a:spcPct val="150000"/>
              </a:lnSpc>
            </a:pPr>
            <a:r>
              <a:rPr lang="en-US" dirty="0">
                <a:latin typeface="Times New Roman" panose="02020603050405020304" pitchFamily="18" charset="0"/>
                <a:cs typeface="Times New Roman" panose="02020603050405020304" pitchFamily="18" charset="0"/>
              </a:rPr>
              <a:t>Accession of Princely States</a:t>
            </a:r>
          </a:p>
        </p:txBody>
      </p:sp>
    </p:spTree>
    <p:extLst>
      <p:ext uri="{BB962C8B-B14F-4D97-AF65-F5344CB8AC3E}">
        <p14:creationId xmlns:p14="http://schemas.microsoft.com/office/powerpoint/2010/main" val="96270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97DBC-B301-4F02-9A51-AFE2B9AC9CD2}"/>
              </a:ext>
            </a:extLst>
          </p:cNvPr>
          <p:cNvSpPr>
            <a:spLocks noGrp="1"/>
          </p:cNvSpPr>
          <p:nvPr>
            <p:ph type="title"/>
          </p:nvPr>
        </p:nvSpPr>
        <p:spPr/>
        <p:txBody>
          <a:bodyPr>
            <a:normAutofit/>
          </a:bodyPr>
          <a:lstStyle/>
          <a:p>
            <a:pPr algn="ctr"/>
            <a:r>
              <a:rPr lang="en-US" sz="4000" dirty="0">
                <a:latin typeface="Times New Roman" panose="02020603050405020304" pitchFamily="18" charset="0"/>
                <a:cs typeface="Times New Roman" panose="02020603050405020304" pitchFamily="18" charset="0"/>
              </a:rPr>
              <a:t>Doctrine of Lapse </a:t>
            </a:r>
          </a:p>
        </p:txBody>
      </p:sp>
      <p:sp>
        <p:nvSpPr>
          <p:cNvPr id="3" name="Content Placeholder 2">
            <a:extLst>
              <a:ext uri="{FF2B5EF4-FFF2-40B4-BE49-F238E27FC236}">
                <a16:creationId xmlns:a16="http://schemas.microsoft.com/office/drawing/2014/main" id="{A845BBC5-E493-4B53-94AD-BD2637E19785}"/>
              </a:ext>
            </a:extLst>
          </p:cNvPr>
          <p:cNvSpPr>
            <a:spLocks noGrp="1"/>
          </p:cNvSpPr>
          <p:nvPr>
            <p:ph idx="1"/>
          </p:nvPr>
        </p:nvSpPr>
        <p:spPr/>
        <p:txBody>
          <a:bodyPr>
            <a:normAutofit/>
          </a:bodyPr>
          <a:lstStyle/>
          <a:p>
            <a:pPr algn="just">
              <a:lnSpc>
                <a:spcPct val="100000"/>
              </a:lnSpc>
            </a:pPr>
            <a:r>
              <a:rPr lang="en-US" sz="2400" dirty="0">
                <a:latin typeface="Times New Roman" panose="02020603050405020304" pitchFamily="18" charset="0"/>
                <a:cs typeface="Times New Roman" panose="02020603050405020304" pitchFamily="18" charset="0"/>
              </a:rPr>
              <a:t>The Doctrine of Lapse was an annexation policy followed widely by Lord Dalhousie when he was India’s Governor-General from 1848 to 1856.</a:t>
            </a:r>
          </a:p>
          <a:p>
            <a:pPr algn="just">
              <a:lnSpc>
                <a:spcPct val="100000"/>
              </a:lnSpc>
            </a:pPr>
            <a:r>
              <a:rPr lang="en-US" sz="2400" dirty="0">
                <a:latin typeface="Times New Roman" panose="02020603050405020304" pitchFamily="18" charset="0"/>
                <a:cs typeface="Times New Roman" panose="02020603050405020304" pitchFamily="18" charset="0"/>
              </a:rPr>
              <a:t>According to this doctrine, any princely state under the direct or indirect (as a vassal) control of the East India Company, if the ruler do not produce a legal male heir, it would be annexed by the EIC. </a:t>
            </a:r>
          </a:p>
          <a:p>
            <a:pPr algn="just">
              <a:lnSpc>
                <a:spcPct val="100000"/>
              </a:lnSpc>
            </a:pPr>
            <a:r>
              <a:rPr lang="en-US" sz="2400" dirty="0">
                <a:latin typeface="Times New Roman" panose="02020603050405020304" pitchFamily="18" charset="0"/>
                <a:cs typeface="Times New Roman" panose="02020603050405020304" pitchFamily="18" charset="0"/>
              </a:rPr>
              <a:t>As per this, any adopted son of the Indian ruler could not be proclaimed as heir to the kingdom. The adopted son would only inherit his foster father’s personal property and estates.</a:t>
            </a:r>
          </a:p>
          <a:p>
            <a:pPr algn="just">
              <a:lnSpc>
                <a:spcPct val="100000"/>
              </a:lnSpc>
            </a:pPr>
            <a:r>
              <a:rPr lang="en-US" sz="2400" dirty="0">
                <a:latin typeface="Times New Roman" panose="02020603050405020304" pitchFamily="18" charset="0"/>
                <a:cs typeface="Times New Roman" panose="02020603050405020304" pitchFamily="18" charset="0"/>
              </a:rPr>
              <a:t>The adopted son would also not be entitled to any pension that his father had been receiving or to any of his father’s titles.</a:t>
            </a:r>
          </a:p>
        </p:txBody>
      </p:sp>
    </p:spTree>
    <p:extLst>
      <p:ext uri="{BB962C8B-B14F-4D97-AF65-F5344CB8AC3E}">
        <p14:creationId xmlns:p14="http://schemas.microsoft.com/office/powerpoint/2010/main" val="2660150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Military Causes</a:t>
            </a:r>
          </a:p>
        </p:txBody>
      </p:sp>
      <p:sp>
        <p:nvSpPr>
          <p:cNvPr id="3" name="Content Placeholder 2"/>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Sir George Barlow order of Not Using “</a:t>
            </a:r>
            <a:r>
              <a:rPr lang="en-US" dirty="0" err="1">
                <a:latin typeface="Times New Roman" panose="02020603050405020304" pitchFamily="18" charset="0"/>
                <a:cs typeface="Times New Roman" panose="02020603050405020304" pitchFamily="18" charset="0"/>
              </a:rPr>
              <a:t>Tilak</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Safa</a:t>
            </a:r>
            <a:r>
              <a:rPr lang="en-US" dirty="0">
                <a:latin typeface="Times New Roman" panose="02020603050405020304" pitchFamily="18" charset="0"/>
                <a:cs typeface="Times New Roman" panose="02020603050405020304" pitchFamily="18" charset="0"/>
              </a:rPr>
              <a:t>/Scarf </a:t>
            </a:r>
          </a:p>
          <a:p>
            <a:pPr algn="just">
              <a:lnSpc>
                <a:spcPct val="100000"/>
              </a:lnSpc>
            </a:pPr>
            <a:r>
              <a:rPr lang="en-US" dirty="0">
                <a:latin typeface="Times New Roman" panose="02020603050405020304" pitchFamily="18" charset="0"/>
                <a:cs typeface="Times New Roman" panose="02020603050405020304" pitchFamily="18" charset="0"/>
              </a:rPr>
              <a:t>Indian Sub-continent Military (315520)</a:t>
            </a:r>
          </a:p>
          <a:p>
            <a:pPr algn="just">
              <a:lnSpc>
                <a:spcPct val="100000"/>
              </a:lnSpc>
            </a:pPr>
            <a:r>
              <a:rPr lang="en-US" dirty="0">
                <a:latin typeface="Times New Roman" panose="02020603050405020304" pitchFamily="18" charset="0"/>
                <a:cs typeface="Times New Roman" panose="02020603050405020304" pitchFamily="18" charset="0"/>
              </a:rPr>
              <a:t>Annual Budget of Military was 9802235 Pounds </a:t>
            </a:r>
          </a:p>
          <a:p>
            <a:pPr algn="just">
              <a:lnSpc>
                <a:spcPct val="100000"/>
              </a:lnSpc>
            </a:pPr>
            <a:r>
              <a:rPr lang="en-US" dirty="0">
                <a:latin typeface="Times New Roman" panose="02020603050405020304" pitchFamily="18" charset="0"/>
                <a:cs typeface="Times New Roman" panose="02020603050405020304" pitchFamily="18" charset="0"/>
              </a:rPr>
              <a:t>51316 British troops and budget was (5668110) pounds</a:t>
            </a:r>
          </a:p>
          <a:p>
            <a:pPr algn="just">
              <a:lnSpc>
                <a:spcPct val="100000"/>
              </a:lnSpc>
            </a:pPr>
            <a:r>
              <a:rPr lang="en-US" dirty="0">
                <a:latin typeface="Times New Roman" panose="02020603050405020304" pitchFamily="18" charset="0"/>
                <a:cs typeface="Times New Roman" panose="02020603050405020304" pitchFamily="18" charset="0"/>
              </a:rPr>
              <a:t>Indian Infantry soldier earn (7-INR-Month) and cavalry (27-INR/Month)</a:t>
            </a:r>
          </a:p>
          <a:p>
            <a:pPr algn="just">
              <a:lnSpc>
                <a:spcPct val="100000"/>
              </a:lnSpc>
            </a:pPr>
            <a:r>
              <a:rPr lang="en-US" dirty="0">
                <a:latin typeface="Times New Roman" panose="02020603050405020304" pitchFamily="18" charset="0"/>
                <a:cs typeface="Times New Roman" panose="02020603050405020304" pitchFamily="18" charset="0"/>
              </a:rPr>
              <a:t>Soldiers were continuously felt the issue of preaching  of Christianity in barracks and assembly in the morning.  </a:t>
            </a:r>
          </a:p>
        </p:txBody>
      </p:sp>
    </p:spTree>
    <p:extLst>
      <p:ext uri="{BB962C8B-B14F-4D97-AF65-F5344CB8AC3E}">
        <p14:creationId xmlns:p14="http://schemas.microsoft.com/office/powerpoint/2010/main" val="2507436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Religious Cause </a:t>
            </a:r>
          </a:p>
        </p:txBody>
      </p:sp>
      <p:sp>
        <p:nvSpPr>
          <p:cNvPr id="3" name="Content Placeholder 2"/>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E. Edmund letter in 1855 to Board of Directors “ Since India is now under one /British Govt it should have one religion (Christianity)</a:t>
            </a:r>
          </a:p>
          <a:p>
            <a:pPr algn="just">
              <a:lnSpc>
                <a:spcPct val="100000"/>
              </a:lnSpc>
            </a:pPr>
            <a:r>
              <a:rPr lang="en-US" dirty="0">
                <a:latin typeface="Times New Roman" panose="02020603050405020304" pitchFamily="18" charset="0"/>
                <a:cs typeface="Times New Roman" panose="02020603050405020304" pitchFamily="18" charset="0"/>
              </a:rPr>
              <a:t>Mangles the chairman of Board of Directors in the House of Commons stated “Banner of Christ Should wave from one end of India to the other” </a:t>
            </a:r>
          </a:p>
          <a:p>
            <a:pPr algn="just">
              <a:lnSpc>
                <a:spcPct val="100000"/>
              </a:lnSpc>
            </a:pPr>
            <a:r>
              <a:rPr lang="en-US" dirty="0">
                <a:latin typeface="Times New Roman" panose="02020603050405020304" pitchFamily="18" charset="0"/>
                <a:cs typeface="Times New Roman" panose="02020603050405020304" pitchFamily="18" charset="0"/>
              </a:rPr>
              <a:t>Sikandra (1837 Famine), orphans admitted to orphan houses were thought Christianity</a:t>
            </a:r>
          </a:p>
          <a:p>
            <a:pPr algn="just">
              <a:lnSpc>
                <a:spcPct val="100000"/>
              </a:lnSpc>
            </a:pPr>
            <a:r>
              <a:rPr lang="en-US" dirty="0">
                <a:latin typeface="Times New Roman" panose="02020603050405020304" pitchFamily="18" charset="0"/>
                <a:cs typeface="Times New Roman" panose="02020603050405020304" pitchFamily="18" charset="0"/>
              </a:rPr>
              <a:t>The Caste Disabilities Removal Act, 1850 </a:t>
            </a:r>
          </a:p>
        </p:txBody>
      </p:sp>
    </p:spTree>
    <p:extLst>
      <p:ext uri="{BB962C8B-B14F-4D97-AF65-F5344CB8AC3E}">
        <p14:creationId xmlns:p14="http://schemas.microsoft.com/office/powerpoint/2010/main" val="1371725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Political Causes </a:t>
            </a:r>
          </a:p>
        </p:txBody>
      </p:sp>
      <p:sp>
        <p:nvSpPr>
          <p:cNvPr id="3" name="Content Placeholder 2"/>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Books and History distortion </a:t>
            </a:r>
          </a:p>
          <a:p>
            <a:pPr algn="just">
              <a:lnSpc>
                <a:spcPct val="100000"/>
              </a:lnSpc>
            </a:pPr>
            <a:r>
              <a:rPr lang="en-US" dirty="0">
                <a:latin typeface="Times New Roman" panose="02020603050405020304" pitchFamily="18" charset="0"/>
                <a:cs typeface="Times New Roman" panose="02020603050405020304" pitchFamily="18" charset="0"/>
              </a:rPr>
              <a:t>Confiscated titles of Shah and King from Mughals</a:t>
            </a:r>
          </a:p>
          <a:p>
            <a:pPr algn="just">
              <a:lnSpc>
                <a:spcPct val="100000"/>
              </a:lnSpc>
            </a:pPr>
            <a:r>
              <a:rPr lang="en-US" dirty="0">
                <a:latin typeface="Times New Roman" panose="02020603050405020304" pitchFamily="18" charset="0"/>
                <a:cs typeface="Times New Roman" panose="02020603050405020304" pitchFamily="18" charset="0"/>
              </a:rPr>
              <a:t>Permanent Settlement Act Governor-General Lord Cornwallis 1793 in Bengal</a:t>
            </a:r>
          </a:p>
          <a:p>
            <a:pPr algn="just">
              <a:lnSpc>
                <a:spcPct val="100000"/>
              </a:lnSpc>
            </a:pPr>
            <a:r>
              <a:rPr lang="en-US" dirty="0">
                <a:latin typeface="Times New Roman" panose="02020603050405020304" pitchFamily="18" charset="0"/>
                <a:cs typeface="Times New Roman" panose="02020603050405020304" pitchFamily="18" charset="0"/>
              </a:rPr>
              <a:t>1827 Mughal emperor powers had taken by East India Company </a:t>
            </a:r>
          </a:p>
          <a:p>
            <a:pPr algn="just">
              <a:lnSpc>
                <a:spcPct val="100000"/>
              </a:lnSpc>
            </a:pPr>
            <a:r>
              <a:rPr lang="en-US" dirty="0">
                <a:latin typeface="Times New Roman" panose="02020603050405020304" pitchFamily="18" charset="0"/>
                <a:cs typeface="Times New Roman" panose="02020603050405020304" pitchFamily="18" charset="0"/>
              </a:rPr>
              <a:t>Lord Dalhousie declared that After Bahadur Shah Zafar emperorship would come to an end &amp; Red port would be vacated. </a:t>
            </a:r>
          </a:p>
          <a:p>
            <a:pPr algn="just">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1968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Economics &amp; Accession of Princely States</a:t>
            </a:r>
          </a:p>
        </p:txBody>
      </p:sp>
      <p:sp>
        <p:nvSpPr>
          <p:cNvPr id="3" name="Content Placeholder 2"/>
          <p:cNvSpPr>
            <a:spLocks noGrp="1"/>
          </p:cNvSpPr>
          <p:nvPr>
            <p:ph idx="1"/>
          </p:nvPr>
        </p:nvSpPr>
        <p:spPr/>
        <p:txBody>
          <a:bodyPr/>
          <a:lstStyle/>
          <a:p>
            <a:pPr algn="just">
              <a:lnSpc>
                <a:spcPct val="100000"/>
              </a:lnSpc>
            </a:pPr>
            <a:r>
              <a:rPr lang="en-US" dirty="0">
                <a:latin typeface="Times New Roman" panose="02020603050405020304" pitchFamily="18" charset="0"/>
                <a:cs typeface="Times New Roman" panose="02020603050405020304" pitchFamily="18" charset="0"/>
              </a:rPr>
              <a:t>Seven States during Lord Dalhousie regime were taken by East India Company (Satara, Jhansi, Samblpur, Jaitpur, Tajnor, Carnatic and Awadh)  </a:t>
            </a:r>
          </a:p>
          <a:p>
            <a:pPr algn="just">
              <a:lnSpc>
                <a:spcPct val="100000"/>
              </a:lnSpc>
            </a:pPr>
            <a:r>
              <a:rPr lang="en-US" dirty="0">
                <a:latin typeface="Times New Roman" panose="02020603050405020304" pitchFamily="18" charset="0"/>
                <a:cs typeface="Times New Roman" panose="02020603050405020304" pitchFamily="18" charset="0"/>
              </a:rPr>
              <a:t>Sixteen Lack in Military expenses </a:t>
            </a:r>
          </a:p>
          <a:p>
            <a:pPr algn="just">
              <a:lnSpc>
                <a:spcPct val="100000"/>
              </a:lnSpc>
            </a:pPr>
            <a:r>
              <a:rPr lang="en-US" dirty="0">
                <a:latin typeface="Times New Roman" panose="02020603050405020304" pitchFamily="18" charset="0"/>
                <a:cs typeface="Times New Roman" panose="02020603050405020304" pitchFamily="18" charset="0"/>
              </a:rPr>
              <a:t>21,000 out 0f 35,000 properties were confiscated by 1853</a:t>
            </a:r>
          </a:p>
          <a:p>
            <a:pPr algn="just">
              <a:lnSpc>
                <a:spcPct val="100000"/>
              </a:lnSpc>
            </a:pPr>
            <a:r>
              <a:rPr lang="en-US" dirty="0">
                <a:latin typeface="Times New Roman" panose="02020603050405020304" pitchFamily="18" charset="0"/>
                <a:cs typeface="Times New Roman" panose="02020603050405020304" pitchFamily="18" charset="0"/>
              </a:rPr>
              <a:t>Indigo color (3645745 pounds in 1793) , Spices, cloths, Rice, wheat, lather and other worthy exports were taken away from India.</a:t>
            </a:r>
          </a:p>
          <a:p>
            <a:pPr algn="just">
              <a:lnSpc>
                <a:spcPct val="100000"/>
              </a:lnSpc>
            </a:pPr>
            <a:r>
              <a:rPr lang="en-US" dirty="0">
                <a:latin typeface="Times New Roman" panose="02020603050405020304" pitchFamily="18" charset="0"/>
                <a:cs typeface="Times New Roman" panose="02020603050405020304" pitchFamily="18" charset="0"/>
              </a:rPr>
              <a:t>$ 45 trillion by Britain from India (1850-1947) source </a:t>
            </a:r>
            <a:r>
              <a:rPr lang="de-DE" dirty="0">
                <a:latin typeface="Times New Roman" panose="02020603050405020304" pitchFamily="18" charset="0"/>
                <a:cs typeface="Times New Roman" panose="02020603050405020304" pitchFamily="18" charset="0"/>
              </a:rPr>
              <a:t>Jason Hickel.</a:t>
            </a:r>
            <a:endParaRPr lang="en-US" dirty="0">
              <a:latin typeface="Times New Roman" panose="02020603050405020304" pitchFamily="18" charset="0"/>
              <a:cs typeface="Times New Roman" panose="02020603050405020304" pitchFamily="18" charset="0"/>
            </a:endParaRPr>
          </a:p>
          <a:p>
            <a:pPr algn="just">
              <a:lnSpc>
                <a:spcPct val="10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9317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Immediate Causes </a:t>
            </a:r>
          </a:p>
        </p:txBody>
      </p:sp>
      <p:sp>
        <p:nvSpPr>
          <p:cNvPr id="3" name="Content Placeholder 2"/>
          <p:cNvSpPr>
            <a:spLocks noGrp="1"/>
          </p:cNvSpPr>
          <p:nvPr>
            <p:ph idx="1"/>
          </p:nvPr>
        </p:nvSpPr>
        <p:spPr/>
        <p:txBody>
          <a:bodyPr>
            <a:normAutofit fontScale="92500" lnSpcReduction="10000"/>
          </a:bodyPr>
          <a:lstStyle/>
          <a:p>
            <a:pPr algn="just">
              <a:lnSpc>
                <a:spcPct val="110000"/>
              </a:lnSpc>
            </a:pPr>
            <a:r>
              <a:rPr lang="en-US" dirty="0">
                <a:latin typeface="Times New Roman" panose="02020603050405020304" pitchFamily="18" charset="0"/>
                <a:cs typeface="Times New Roman" panose="02020603050405020304" pitchFamily="18" charset="0"/>
              </a:rPr>
              <a:t>Enfield Riffle (1852) cartridges with pigs/cow grease </a:t>
            </a:r>
          </a:p>
          <a:p>
            <a:pPr algn="just">
              <a:lnSpc>
                <a:spcPct val="110000"/>
              </a:lnSpc>
            </a:pPr>
            <a:r>
              <a:rPr lang="en-US" dirty="0">
                <a:latin typeface="Times New Roman" panose="02020603050405020304" pitchFamily="18" charset="0"/>
                <a:cs typeface="Times New Roman" panose="02020603050405020304" pitchFamily="18" charset="0"/>
              </a:rPr>
              <a:t>According to Lord Canning &amp; Lord Lawrence real outbreak was due cartridges </a:t>
            </a:r>
          </a:p>
          <a:p>
            <a:pPr algn="just">
              <a:lnSpc>
                <a:spcPct val="110000"/>
              </a:lnSpc>
            </a:pPr>
            <a:r>
              <a:rPr lang="en-US" dirty="0">
                <a:latin typeface="Times New Roman" panose="02020603050405020304" pitchFamily="18" charset="0"/>
                <a:cs typeface="Times New Roman" panose="02020603050405020304" pitchFamily="18" charset="0"/>
              </a:rPr>
              <a:t>In April and 10</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May 1857 (Meerut outbreak) 70 km from Delhi </a:t>
            </a:r>
          </a:p>
          <a:p>
            <a:pPr algn="just">
              <a:lnSpc>
                <a:spcPct val="110000"/>
              </a:lnSpc>
            </a:pPr>
            <a:r>
              <a:rPr lang="en-US" dirty="0">
                <a:latin typeface="Times New Roman" panose="02020603050405020304" pitchFamily="18" charset="0"/>
                <a:cs typeface="Times New Roman" panose="02020603050405020304" pitchFamily="18" charset="0"/>
              </a:rPr>
              <a:t>11</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May 1857, Take over Delhi and support Bahadur Shah Zafar</a:t>
            </a:r>
          </a:p>
          <a:p>
            <a:pPr algn="just">
              <a:lnSpc>
                <a:spcPct val="110000"/>
              </a:lnSpc>
            </a:pPr>
            <a:r>
              <a:rPr lang="en-US" dirty="0">
                <a:latin typeface="Times New Roman" panose="02020603050405020304" pitchFamily="18" charset="0"/>
                <a:cs typeface="Times New Roman" panose="02020603050405020304" pitchFamily="18" charset="0"/>
              </a:rPr>
              <a:t>22 sep-1857 Bahadur Shah Zafar and two sons were arrested, Sons were beheaded, and Bahadur Shah Zafar was sent to Jail in Rangoon Burma </a:t>
            </a:r>
          </a:p>
          <a:p>
            <a:pPr algn="just">
              <a:lnSpc>
                <a:spcPct val="110000"/>
              </a:lnSpc>
            </a:pPr>
            <a:r>
              <a:rPr lang="en-US" dirty="0">
                <a:latin typeface="Times New Roman" panose="02020603050405020304" pitchFamily="18" charset="0"/>
                <a:cs typeface="Times New Roman" panose="02020603050405020304" pitchFamily="18" charset="0"/>
              </a:rPr>
              <a:t>General Bakht Khan, Rani of Jhansi, Tantia Topi, Nana Saab and </a:t>
            </a:r>
            <a:r>
              <a:rPr lang="en-US" dirty="0" err="1">
                <a:latin typeface="Times New Roman" panose="02020603050405020304" pitchFamily="18" charset="0"/>
                <a:cs typeface="Times New Roman" panose="02020603050405020304" pitchFamily="18" charset="0"/>
              </a:rPr>
              <a:t>Amedullah</a:t>
            </a:r>
            <a:r>
              <a:rPr lang="en-US" dirty="0">
                <a:latin typeface="Times New Roman" panose="02020603050405020304" pitchFamily="18" charset="0"/>
                <a:cs typeface="Times New Roman" panose="02020603050405020304" pitchFamily="18" charset="0"/>
              </a:rPr>
              <a:t> fought for independence of India. </a:t>
            </a:r>
          </a:p>
        </p:txBody>
      </p:sp>
    </p:spTree>
    <p:extLst>
      <p:ext uri="{BB962C8B-B14F-4D97-AF65-F5344CB8AC3E}">
        <p14:creationId xmlns:p14="http://schemas.microsoft.com/office/powerpoint/2010/main" val="2636995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Causes of Failure </a:t>
            </a:r>
          </a:p>
        </p:txBody>
      </p:sp>
      <p:sp>
        <p:nvSpPr>
          <p:cNvPr id="3" name="Content Placeholder 2"/>
          <p:cNvSpPr>
            <a:spLocks noGrp="1"/>
          </p:cNvSpPr>
          <p:nvPr>
            <p:ph idx="1"/>
          </p:nvPr>
        </p:nvSpPr>
        <p:spPr/>
        <p:txBody>
          <a:bodyPr>
            <a:normAutofit lnSpcReduction="10000"/>
          </a:bodyPr>
          <a:lstStyle/>
          <a:p>
            <a:pPr algn="just">
              <a:lnSpc>
                <a:spcPct val="100000"/>
              </a:lnSpc>
            </a:pPr>
            <a:r>
              <a:rPr lang="en-US" dirty="0">
                <a:latin typeface="Times New Roman" panose="02020603050405020304" pitchFamily="18" charset="0"/>
                <a:cs typeface="Times New Roman" panose="02020603050405020304" pitchFamily="18" charset="0"/>
              </a:rPr>
              <a:t>Change of Plan (War throughout India from 31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May 1857)</a:t>
            </a:r>
          </a:p>
          <a:p>
            <a:pPr algn="just">
              <a:lnSpc>
                <a:spcPct val="100000"/>
              </a:lnSpc>
            </a:pPr>
            <a:r>
              <a:rPr lang="en-US" dirty="0">
                <a:latin typeface="Times New Roman" panose="02020603050405020304" pitchFamily="18" charset="0"/>
                <a:cs typeface="Times New Roman" panose="02020603050405020304" pitchFamily="18" charset="0"/>
              </a:rPr>
              <a:t>Sikh State of Jindh and Patiala provided military, economic and Intelligence assistance to East India Company</a:t>
            </a:r>
          </a:p>
          <a:p>
            <a:pPr algn="just">
              <a:lnSpc>
                <a:spcPct val="100000"/>
              </a:lnSpc>
            </a:pPr>
            <a:r>
              <a:rPr lang="en-US" dirty="0">
                <a:latin typeface="Times New Roman" panose="02020603050405020304" pitchFamily="18" charset="0"/>
                <a:cs typeface="Times New Roman" panose="02020603050405020304" pitchFamily="18" charset="0"/>
              </a:rPr>
              <a:t>Absence of Leader </a:t>
            </a:r>
          </a:p>
          <a:p>
            <a:pPr algn="just">
              <a:lnSpc>
                <a:spcPct val="100000"/>
              </a:lnSpc>
            </a:pPr>
            <a:r>
              <a:rPr lang="en-US" dirty="0">
                <a:latin typeface="Times New Roman" panose="02020603050405020304" pitchFamily="18" charset="0"/>
                <a:cs typeface="Times New Roman" panose="02020603050405020304" pitchFamily="18" charset="0"/>
              </a:rPr>
              <a:t>Company control over resources and communication </a:t>
            </a:r>
          </a:p>
          <a:p>
            <a:pPr algn="just">
              <a:lnSpc>
                <a:spcPct val="100000"/>
              </a:lnSpc>
            </a:pPr>
            <a:r>
              <a:rPr lang="en-US" dirty="0">
                <a:latin typeface="Times New Roman" panose="02020603050405020304" pitchFamily="18" charset="0"/>
                <a:cs typeface="Times New Roman" panose="02020603050405020304" pitchFamily="18" charset="0"/>
              </a:rPr>
              <a:t>East India Company was abolished and secretary of state for India was appointed </a:t>
            </a:r>
          </a:p>
          <a:p>
            <a:pPr algn="just">
              <a:lnSpc>
                <a:spcPct val="100000"/>
              </a:lnSpc>
            </a:pPr>
            <a:r>
              <a:rPr lang="en-US" dirty="0">
                <a:latin typeface="Times New Roman" panose="02020603050405020304" pitchFamily="18" charset="0"/>
                <a:cs typeface="Times New Roman" panose="02020603050405020304" pitchFamily="18" charset="0"/>
              </a:rPr>
              <a:t>On 1</a:t>
            </a:r>
            <a:r>
              <a:rPr lang="en-US" baseline="30000" dirty="0">
                <a:latin typeface="Times New Roman" panose="02020603050405020304" pitchFamily="18" charset="0"/>
                <a:cs typeface="Times New Roman" panose="02020603050405020304" pitchFamily="18" charset="0"/>
              </a:rPr>
              <a:t>st</a:t>
            </a:r>
            <a:r>
              <a:rPr lang="en-US" dirty="0">
                <a:latin typeface="Times New Roman" panose="02020603050405020304" pitchFamily="18" charset="0"/>
                <a:cs typeface="Times New Roman" panose="02020603050405020304" pitchFamily="18" charset="0"/>
              </a:rPr>
              <a:t> November 1858 Indian Colony’s powers were transferred to British Parliament.</a:t>
            </a:r>
          </a:p>
        </p:txBody>
      </p:sp>
    </p:spTree>
    <p:extLst>
      <p:ext uri="{BB962C8B-B14F-4D97-AF65-F5344CB8AC3E}">
        <p14:creationId xmlns:p14="http://schemas.microsoft.com/office/powerpoint/2010/main" val="14640627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TotalTime>
  <Words>614</Words>
  <Application>Microsoft Office PowerPoint</Application>
  <PresentationFormat>Widescreen</PresentationFormat>
  <Paragraphs>55</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1857</vt:lpstr>
      <vt:lpstr>Long Term Causes of 1857</vt:lpstr>
      <vt:lpstr>Doctrine of Lapse </vt:lpstr>
      <vt:lpstr>Military Causes</vt:lpstr>
      <vt:lpstr>Religious Cause </vt:lpstr>
      <vt:lpstr>Political Causes </vt:lpstr>
      <vt:lpstr>Economics &amp; Accession of Princely States</vt:lpstr>
      <vt:lpstr>Immediate Causes </vt:lpstr>
      <vt:lpstr>Causes of Failure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1857</dc:title>
  <dc:creator>Ahmed Khan</dc:creator>
  <cp:lastModifiedBy>Ahmed Khan</cp:lastModifiedBy>
  <cp:revision>40</cp:revision>
  <dcterms:created xsi:type="dcterms:W3CDTF">2019-10-09T07:32:25Z</dcterms:created>
  <dcterms:modified xsi:type="dcterms:W3CDTF">2020-09-18T05:17:17Z</dcterms:modified>
</cp:coreProperties>
</file>