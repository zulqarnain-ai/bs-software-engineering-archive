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53" d="100"/>
          <a:sy n="53" d="100"/>
        </p:scale>
        <p:origin x="748" y="44"/>
      </p:cViewPr>
      <p:guideLst/>
    </p:cSldViewPr>
  </p:slideViewPr>
  <p:notesTextViewPr>
    <p:cViewPr>
      <p:scale>
        <a:sx n="1" d="1"/>
        <a:sy n="1" d="1"/>
      </p:scale>
      <p:origin x="0" y="-248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727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What is Data Modeling?</a:t>
            </a:r>
          </a:p>
          <a:p>
            <a:r>
              <a:rPr lang="en-US" sz="1200" b="1" i="0" kern="1200" dirty="0" smtClean="0">
                <a:solidFill>
                  <a:schemeClr val="tx1"/>
                </a:solidFill>
                <a:effectLst/>
                <a:latin typeface="+mn-lt"/>
                <a:ea typeface="+mn-ea"/>
                <a:cs typeface="+mn-cs"/>
              </a:rPr>
              <a:t>Definition:</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Data modeling is the process of creating a conceptual representation of data objects, relationships, and constraints to design a database schema. It helps in understanding and visualizing the structure of the database.</a:t>
            </a:r>
          </a:p>
          <a:p>
            <a:r>
              <a:rPr lang="en-US" sz="1200" b="1" i="0" kern="1200" dirty="0" smtClean="0">
                <a:solidFill>
                  <a:schemeClr val="tx1"/>
                </a:solidFill>
                <a:effectLst/>
                <a:latin typeface="+mn-lt"/>
                <a:ea typeface="+mn-ea"/>
                <a:cs typeface="+mn-cs"/>
              </a:rPr>
              <a:t>Real-Life Example:</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1" i="0" kern="1200" dirty="0" smtClean="0">
                <a:solidFill>
                  <a:schemeClr val="tx1"/>
                </a:solidFill>
                <a:effectLst/>
                <a:latin typeface="+mn-lt"/>
                <a:ea typeface="+mn-ea"/>
                <a:cs typeface="+mn-cs"/>
              </a:rPr>
              <a:t>Architectural Blueprint</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Before constructing a building, architects create detailed blueprints to visualize the structure, layout, and design. Similarly, data modeling provides a blueprint or visual representation of how data will be organized, connected, and stored in the database.</a:t>
            </a:r>
          </a:p>
          <a:p>
            <a:r>
              <a:rPr lang="en-US" sz="1200" b="1" i="0" kern="1200" dirty="0" smtClean="0">
                <a:solidFill>
                  <a:schemeClr val="tx1"/>
                </a:solidFill>
                <a:effectLst/>
                <a:latin typeface="+mn-lt"/>
                <a:ea typeface="+mn-ea"/>
                <a:cs typeface="+mn-cs"/>
              </a:rPr>
              <a:t>Importance of Data Modeling:</a:t>
            </a:r>
          </a:p>
          <a:p>
            <a:r>
              <a:rPr lang="en-US" sz="1200" b="1" i="0" kern="1200" dirty="0" smtClean="0">
                <a:solidFill>
                  <a:schemeClr val="tx1"/>
                </a:solidFill>
                <a:effectLst/>
                <a:latin typeface="+mn-lt"/>
                <a:ea typeface="+mn-ea"/>
                <a:cs typeface="+mn-cs"/>
              </a:rPr>
              <a:t>Ensuring Data Integrity:</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Data modeling helps in defining rules and constraints that maintain the accuracy and consistency of data.</a:t>
            </a:r>
          </a:p>
          <a:p>
            <a:r>
              <a:rPr lang="en-US" sz="1200" b="1" i="0" kern="1200" dirty="0" smtClean="0">
                <a:solidFill>
                  <a:schemeClr val="tx1"/>
                </a:solidFill>
                <a:effectLst/>
                <a:latin typeface="+mn-lt"/>
                <a:ea typeface="+mn-ea"/>
                <a:cs typeface="+mn-cs"/>
              </a:rPr>
              <a:t>Real-Life Example:</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1" i="0" kern="1200" dirty="0" smtClean="0">
                <a:solidFill>
                  <a:schemeClr val="tx1"/>
                </a:solidFill>
                <a:effectLst/>
                <a:latin typeface="+mn-lt"/>
                <a:ea typeface="+mn-ea"/>
                <a:cs typeface="+mn-cs"/>
              </a:rPr>
              <a:t>Online Shopping</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In an online shopping system, data modeling ensures that each product has a unique identifier, price, and description, preventing errors like two products with the same identifier or missing price information.</a:t>
            </a:r>
          </a:p>
          <a:p>
            <a:r>
              <a:rPr lang="en-US" sz="1200" b="1" i="0" kern="1200" dirty="0" smtClean="0">
                <a:solidFill>
                  <a:schemeClr val="tx1"/>
                </a:solidFill>
                <a:effectLst/>
                <a:latin typeface="+mn-lt"/>
                <a:ea typeface="+mn-ea"/>
                <a:cs typeface="+mn-cs"/>
              </a:rPr>
              <a:t>Enabling Strategic Decision-Making:</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By visualizing the relationships and dependencies between data entities, data modeling aids in making informed business decisions.</a:t>
            </a:r>
          </a:p>
          <a:p>
            <a:r>
              <a:rPr lang="en-US" sz="1200" b="1" i="0" kern="1200" dirty="0" smtClean="0">
                <a:solidFill>
                  <a:schemeClr val="tx1"/>
                </a:solidFill>
                <a:effectLst/>
                <a:latin typeface="+mn-lt"/>
                <a:ea typeface="+mn-ea"/>
                <a:cs typeface="+mn-cs"/>
              </a:rPr>
              <a:t>Real-Life Example:</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1" i="0" kern="1200" dirty="0" smtClean="0">
                <a:solidFill>
                  <a:schemeClr val="tx1"/>
                </a:solidFill>
                <a:effectLst/>
                <a:latin typeface="+mn-lt"/>
                <a:ea typeface="+mn-ea"/>
                <a:cs typeface="+mn-cs"/>
              </a:rPr>
              <a:t>Sales Analytics</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In a retail business, data modeling can help analyze the relationship between sales data, customer demographics, and product categories to identify trends, optimize inventory, and develop targeted marketing strategies.</a:t>
            </a:r>
          </a:p>
          <a:p>
            <a:r>
              <a:rPr lang="en-US" sz="1200" b="0" i="0" kern="1200" dirty="0" smtClean="0">
                <a:solidFill>
                  <a:schemeClr val="tx1"/>
                </a:solidFill>
                <a:effectLst/>
                <a:latin typeface="+mn-lt"/>
                <a:ea typeface="+mn-ea"/>
                <a:cs typeface="+mn-cs"/>
              </a:rPr>
              <a:t>In summary, data management is like organizing and maintaining your personal address book, a database is like a library catalog, a DBMS is like librarian software, and data modeling is like creating a blueprint for a building. </a:t>
            </a:r>
            <a:r>
              <a:rPr lang="en-US" sz="1200" b="0" i="0" kern="1200" smtClean="0">
                <a:solidFill>
                  <a:schemeClr val="tx1"/>
                </a:solidFill>
                <a:effectLst/>
                <a:latin typeface="+mn-lt"/>
                <a:ea typeface="+mn-ea"/>
                <a:cs typeface="+mn-cs"/>
              </a:rPr>
              <a:t>Together, they play a critical role in ensuring data quality, security, and strategic decision-making in modern enterprises.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gamma.app"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amma.ap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gamma.app"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amma.app"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gamma.app"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gamma.app"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hyperlink" Target="https://gamma.app" TargetMode="External"/><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amma.app"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hyperlink" Target="https://gamma.app"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gamma.app" TargetMode="Externa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833199" y="2507099"/>
            <a:ext cx="7477601" cy="832961"/>
          </a:xfrm>
          <a:prstGeom prst="rect">
            <a:avLst/>
          </a:prstGeom>
          <a:noFill/>
          <a:ln/>
        </p:spPr>
        <p:txBody>
          <a:bodyPr wrap="square" rtlCol="0" anchor="t"/>
          <a:lstStyle/>
          <a:p>
            <a:pPr marL="0" indent="0">
              <a:lnSpc>
                <a:spcPts val="3281"/>
              </a:lnSpc>
              <a:buNone/>
            </a:pPr>
            <a:r>
              <a:rPr lang="en-US" sz="2624" b="1" dirty="0">
                <a:solidFill>
                  <a:srgbClr val="396AF1"/>
                </a:solidFill>
                <a:latin typeface="Barlow" pitchFamily="34" charset="0"/>
                <a:ea typeface="Barlow" pitchFamily="34" charset="-122"/>
                <a:cs typeface="Barlow" pitchFamily="34" charset="-120"/>
              </a:rPr>
              <a:t>Introduction to DBMS and the Importance of Data Modelling</a:t>
            </a:r>
            <a:endParaRPr lang="en-US" sz="2624" dirty="0"/>
          </a:p>
        </p:txBody>
      </p:sp>
      <p:sp>
        <p:nvSpPr>
          <p:cNvPr id="6" name="Text 2"/>
          <p:cNvSpPr/>
          <p:nvPr/>
        </p:nvSpPr>
        <p:spPr>
          <a:xfrm>
            <a:off x="833199" y="3589973"/>
            <a:ext cx="7477601" cy="2132409"/>
          </a:xfrm>
          <a:prstGeom prst="rect">
            <a:avLst/>
          </a:prstGeom>
          <a:noFill/>
          <a:ln/>
        </p:spPr>
        <p:txBody>
          <a:bodyPr wrap="square" rtlCol="0" anchor="t"/>
          <a:lstStyle/>
          <a:p>
            <a:pPr marL="0" indent="0">
              <a:lnSpc>
                <a:spcPts val="2799"/>
              </a:lnSpc>
              <a:buNone/>
            </a:pPr>
            <a:r>
              <a:rPr lang="en-US" sz="1750" dirty="0">
                <a:solidFill>
                  <a:srgbClr val="272525"/>
                </a:solidFill>
                <a:latin typeface="Montserrat" pitchFamily="34" charset="0"/>
                <a:ea typeface="Montserrat" pitchFamily="34" charset="-122"/>
                <a:cs typeface="Montserrat" pitchFamily="34" charset="-120"/>
              </a:rPr>
              <a:t>Data management is the backbone of modern enterprises. Databases and data modeling are essential tools for organizing, storing, and retrieving information effectively. This section explores the fundamentals of database management systems (DBMS) and the critical role of data modeling in ensuring data integrity and enabling strategic decision-making.</a:t>
            </a:r>
            <a:endParaRPr lang="en-US" sz="1750" dirty="0"/>
          </a:p>
        </p:txBody>
      </p:sp>
      <p:pic>
        <p:nvPicPr>
          <p:cNvPr id="7" name="Image 2" descr="preencoded.png">
            <a:hlinkClick r:id="rId5"/>
          </p:cNvPr>
          <p:cNvPicPr>
            <a:picLocks noChangeAspect="1"/>
          </p:cNvPicPr>
          <p:nvPr/>
        </p:nvPicPr>
        <p:blipFill>
          <a:blip r:embed="rId6"/>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sp>
        <p:nvSpPr>
          <p:cNvPr id="4" name="Text 1"/>
          <p:cNvSpPr/>
          <p:nvPr/>
        </p:nvSpPr>
        <p:spPr>
          <a:xfrm>
            <a:off x="1760220" y="1207413"/>
            <a:ext cx="11109960" cy="1388745"/>
          </a:xfrm>
          <a:prstGeom prst="rect">
            <a:avLst/>
          </a:prstGeom>
          <a:noFill/>
          <a:ln/>
        </p:spPr>
        <p:txBody>
          <a:bodyPr wrap="square" rtlCol="0" anchor="t"/>
          <a:lstStyle/>
          <a:p>
            <a:pPr marL="0" indent="0">
              <a:lnSpc>
                <a:spcPts val="5468"/>
              </a:lnSpc>
              <a:buNone/>
            </a:pPr>
            <a:r>
              <a:rPr lang="en-US" sz="4374" b="1" dirty="0">
                <a:solidFill>
                  <a:srgbClr val="396AF1"/>
                </a:solidFill>
                <a:latin typeface="Barlow" pitchFamily="34" charset="0"/>
                <a:ea typeface="Barlow" pitchFamily="34" charset="-122"/>
                <a:cs typeface="Barlow" pitchFamily="34" charset="-120"/>
              </a:rPr>
              <a:t>What is an Entity Relationship Diagram (ERD)?</a:t>
            </a:r>
            <a:endParaRPr lang="en-US" sz="4374" dirty="0"/>
          </a:p>
        </p:txBody>
      </p:sp>
      <p:sp>
        <p:nvSpPr>
          <p:cNvPr id="5" name="Text 2"/>
          <p:cNvSpPr/>
          <p:nvPr/>
        </p:nvSpPr>
        <p:spPr>
          <a:xfrm>
            <a:off x="1760220" y="3040499"/>
            <a:ext cx="11109960" cy="1421606"/>
          </a:xfrm>
          <a:prstGeom prst="rect">
            <a:avLst/>
          </a:prstGeom>
          <a:noFill/>
          <a:ln/>
        </p:spPr>
        <p:txBody>
          <a:bodyPr wrap="square" rtlCol="0" anchor="t"/>
          <a:lstStyle/>
          <a:p>
            <a:pPr marL="0" indent="0">
              <a:lnSpc>
                <a:spcPts val="2799"/>
              </a:lnSpc>
              <a:buNone/>
            </a:pPr>
            <a:r>
              <a:rPr lang="en-US" sz="1750" dirty="0">
                <a:solidFill>
                  <a:srgbClr val="272525"/>
                </a:solidFill>
                <a:latin typeface="Montserrat" pitchFamily="34" charset="0"/>
                <a:ea typeface="Montserrat" pitchFamily="34" charset="-122"/>
                <a:cs typeface="Montserrat" pitchFamily="34" charset="-120"/>
              </a:rPr>
              <a:t>An Entity Relationship Diagram (ERD) is a visual tool used in database design to represent the relationships between different entities, or data objects, within a system. It provides a clear and organized way to model the structure of a database, helping to ensure data integrity and facilitating effective data management.</a:t>
            </a:r>
            <a:endParaRPr lang="en-US" sz="1750" dirty="0"/>
          </a:p>
        </p:txBody>
      </p:sp>
      <p:sp>
        <p:nvSpPr>
          <p:cNvPr id="6" name="Text 3"/>
          <p:cNvSpPr/>
          <p:nvPr/>
        </p:nvSpPr>
        <p:spPr>
          <a:xfrm>
            <a:off x="2115622" y="4712018"/>
            <a:ext cx="10754558" cy="710803"/>
          </a:xfrm>
          <a:prstGeom prst="rect">
            <a:avLst/>
          </a:prstGeom>
          <a:noFill/>
          <a:ln/>
        </p:spPr>
        <p:txBody>
          <a:bodyPr wrap="square" rtlCol="0" anchor="t"/>
          <a:lstStyle/>
          <a:p>
            <a:pPr marL="342900" indent="-342900" algn="l">
              <a:lnSpc>
                <a:spcPts val="2799"/>
              </a:lnSpc>
              <a:buSzPct val="100000"/>
              <a:buFont typeface="+mj-lt"/>
              <a:buAutoNum type="arabicPeriod"/>
            </a:pPr>
            <a:r>
              <a:rPr lang="en-US" sz="1750" dirty="0">
                <a:solidFill>
                  <a:srgbClr val="272525"/>
                </a:solidFill>
                <a:latin typeface="Montserrat" pitchFamily="34" charset="0"/>
                <a:ea typeface="Montserrat" pitchFamily="34" charset="-122"/>
                <a:cs typeface="Montserrat" pitchFamily="34" charset="-120"/>
              </a:rPr>
              <a:t>ERDs depict </a:t>
            </a:r>
            <a:r>
              <a:rPr lang="en-US" sz="1750" b="1" dirty="0">
                <a:solidFill>
                  <a:srgbClr val="272525"/>
                </a:solidFill>
                <a:latin typeface="Montserrat" pitchFamily="34" charset="0"/>
                <a:ea typeface="Montserrat" pitchFamily="34" charset="-122"/>
                <a:cs typeface="Montserrat" pitchFamily="34" charset="-120"/>
              </a:rPr>
              <a:t>entities</a:t>
            </a:r>
            <a:r>
              <a:rPr lang="en-US" sz="1750" dirty="0">
                <a:solidFill>
                  <a:srgbClr val="272525"/>
                </a:solidFill>
                <a:latin typeface="Montserrat" pitchFamily="34" charset="0"/>
                <a:ea typeface="Montserrat" pitchFamily="34" charset="-122"/>
                <a:cs typeface="Montserrat" pitchFamily="34" charset="-120"/>
              </a:rPr>
              <a:t> (such as customers, products, or orders) as rectangles, and </a:t>
            </a:r>
            <a:r>
              <a:rPr lang="en-US" sz="1750" b="1" dirty="0">
                <a:solidFill>
                  <a:srgbClr val="272525"/>
                </a:solidFill>
                <a:latin typeface="Montserrat" pitchFamily="34" charset="0"/>
                <a:ea typeface="Montserrat" pitchFamily="34" charset="-122"/>
                <a:cs typeface="Montserrat" pitchFamily="34" charset="-120"/>
              </a:rPr>
              <a:t>relationships</a:t>
            </a:r>
            <a:r>
              <a:rPr lang="en-US" sz="1750" dirty="0">
                <a:solidFill>
                  <a:srgbClr val="272525"/>
                </a:solidFill>
                <a:latin typeface="Montserrat" pitchFamily="34" charset="0"/>
                <a:ea typeface="Montserrat" pitchFamily="34" charset="-122"/>
                <a:cs typeface="Montserrat" pitchFamily="34" charset="-120"/>
              </a:rPr>
              <a:t> between these entities as lines connecting them.</a:t>
            </a:r>
            <a:endParaRPr lang="en-US" sz="1750" dirty="0"/>
          </a:p>
        </p:txBody>
      </p:sp>
      <p:sp>
        <p:nvSpPr>
          <p:cNvPr id="7" name="Text 4"/>
          <p:cNvSpPr/>
          <p:nvPr/>
        </p:nvSpPr>
        <p:spPr>
          <a:xfrm>
            <a:off x="2115622" y="5511641"/>
            <a:ext cx="10754558" cy="710803"/>
          </a:xfrm>
          <a:prstGeom prst="rect">
            <a:avLst/>
          </a:prstGeom>
          <a:noFill/>
          <a:ln/>
        </p:spPr>
        <p:txBody>
          <a:bodyPr wrap="square" rtlCol="0" anchor="t"/>
          <a:lstStyle/>
          <a:p>
            <a:pPr marL="342900" indent="-342900" algn="l">
              <a:lnSpc>
                <a:spcPts val="2799"/>
              </a:lnSpc>
              <a:buSzPct val="100000"/>
              <a:buFont typeface="+mj-lt"/>
              <a:buAutoNum type="arabicPeriod" startAt="2"/>
            </a:pPr>
            <a:r>
              <a:rPr lang="en-US" sz="1750" dirty="0">
                <a:solidFill>
                  <a:srgbClr val="272525"/>
                </a:solidFill>
                <a:latin typeface="Montserrat" pitchFamily="34" charset="0"/>
                <a:ea typeface="Montserrat" pitchFamily="34" charset="-122"/>
                <a:cs typeface="Montserrat" pitchFamily="34" charset="-120"/>
              </a:rPr>
              <a:t>Entities have </a:t>
            </a:r>
            <a:r>
              <a:rPr lang="en-US" sz="1750" b="1" dirty="0">
                <a:solidFill>
                  <a:srgbClr val="272525"/>
                </a:solidFill>
                <a:latin typeface="Montserrat" pitchFamily="34" charset="0"/>
                <a:ea typeface="Montserrat" pitchFamily="34" charset="-122"/>
                <a:cs typeface="Montserrat" pitchFamily="34" charset="-120"/>
              </a:rPr>
              <a:t>attributes</a:t>
            </a:r>
            <a:r>
              <a:rPr lang="en-US" sz="1750" dirty="0">
                <a:solidFill>
                  <a:srgbClr val="272525"/>
                </a:solidFill>
                <a:latin typeface="Montserrat" pitchFamily="34" charset="0"/>
                <a:ea typeface="Montserrat" pitchFamily="34" charset="-122"/>
                <a:cs typeface="Montserrat" pitchFamily="34" charset="-120"/>
              </a:rPr>
              <a:t>, which are the specific pieces of data that describe each entity, shown as columns within the entity rectangles.</a:t>
            </a:r>
            <a:endParaRPr lang="en-US" sz="1750" dirty="0"/>
          </a:p>
        </p:txBody>
      </p:sp>
      <p:sp>
        <p:nvSpPr>
          <p:cNvPr id="8" name="Text 5"/>
          <p:cNvSpPr/>
          <p:nvPr/>
        </p:nvSpPr>
        <p:spPr>
          <a:xfrm>
            <a:off x="2115622" y="6311265"/>
            <a:ext cx="10754558" cy="710803"/>
          </a:xfrm>
          <a:prstGeom prst="rect">
            <a:avLst/>
          </a:prstGeom>
          <a:noFill/>
          <a:ln/>
        </p:spPr>
        <p:txBody>
          <a:bodyPr wrap="square" rtlCol="0" anchor="t"/>
          <a:lstStyle/>
          <a:p>
            <a:pPr marL="342900" indent="-342900" algn="l">
              <a:lnSpc>
                <a:spcPts val="2799"/>
              </a:lnSpc>
              <a:buSzPct val="100000"/>
              <a:buFont typeface="+mj-lt"/>
              <a:buAutoNum type="arabicPeriod" startAt="3"/>
            </a:pPr>
            <a:r>
              <a:rPr lang="en-US" sz="1750" dirty="0">
                <a:solidFill>
                  <a:srgbClr val="272525"/>
                </a:solidFill>
                <a:latin typeface="Montserrat" pitchFamily="34" charset="0"/>
                <a:ea typeface="Montserrat" pitchFamily="34" charset="-122"/>
                <a:cs typeface="Montserrat" pitchFamily="34" charset="-120"/>
              </a:rPr>
              <a:t>The relationships between entities can be one-to-one, one-to-many, or many-to-many, and these are indicated by the symbols and labels on the connecting lines.</a:t>
            </a:r>
            <a:endParaRPr lang="en-US" sz="1750" dirty="0"/>
          </a:p>
        </p:txBody>
      </p:sp>
      <p:pic>
        <p:nvPicPr>
          <p:cNvPr id="9"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9421654" y="2635448"/>
            <a:ext cx="4931093" cy="2958584"/>
          </a:xfrm>
          <a:prstGeom prst="rect">
            <a:avLst/>
          </a:prstGeom>
        </p:spPr>
      </p:pic>
      <p:sp>
        <p:nvSpPr>
          <p:cNvPr id="6" name="Text 1"/>
          <p:cNvSpPr/>
          <p:nvPr/>
        </p:nvSpPr>
        <p:spPr>
          <a:xfrm>
            <a:off x="833199" y="2232065"/>
            <a:ext cx="6594634" cy="694373"/>
          </a:xfrm>
          <a:prstGeom prst="rect">
            <a:avLst/>
          </a:prstGeom>
          <a:noFill/>
          <a:ln/>
        </p:spPr>
        <p:txBody>
          <a:bodyPr wrap="none" rtlCol="0" anchor="t"/>
          <a:lstStyle/>
          <a:p>
            <a:pPr marL="0" indent="0">
              <a:lnSpc>
                <a:spcPts val="5468"/>
              </a:lnSpc>
              <a:buNone/>
            </a:pPr>
            <a:r>
              <a:rPr lang="en-US" sz="4374" b="1" dirty="0">
                <a:solidFill>
                  <a:srgbClr val="396AF1"/>
                </a:solidFill>
                <a:latin typeface="Barlow" pitchFamily="34" charset="0"/>
                <a:ea typeface="Barlow" pitchFamily="34" charset="-122"/>
                <a:cs typeface="Barlow" pitchFamily="34" charset="-120"/>
              </a:rPr>
              <a:t>Key Components of an ERD</a:t>
            </a:r>
            <a:endParaRPr lang="en-US" sz="4374" dirty="0"/>
          </a:p>
        </p:txBody>
      </p:sp>
      <p:sp>
        <p:nvSpPr>
          <p:cNvPr id="7" name="Text 2"/>
          <p:cNvSpPr/>
          <p:nvPr/>
        </p:nvSpPr>
        <p:spPr>
          <a:xfrm>
            <a:off x="833199" y="3259693"/>
            <a:ext cx="7477601" cy="1066205"/>
          </a:xfrm>
          <a:prstGeom prst="rect">
            <a:avLst/>
          </a:prstGeom>
          <a:noFill/>
          <a:ln/>
        </p:spPr>
        <p:txBody>
          <a:bodyPr wrap="square" rtlCol="0" anchor="t"/>
          <a:lstStyle/>
          <a:p>
            <a:pPr marL="0" indent="0">
              <a:lnSpc>
                <a:spcPts val="2799"/>
              </a:lnSpc>
              <a:buNone/>
            </a:pPr>
            <a:r>
              <a:rPr lang="en-US" sz="1750" dirty="0">
                <a:solidFill>
                  <a:srgbClr val="272525"/>
                </a:solidFill>
                <a:latin typeface="Montserrat" pitchFamily="34" charset="0"/>
                <a:ea typeface="Montserrat" pitchFamily="34" charset="-122"/>
                <a:cs typeface="Montserrat" pitchFamily="34" charset="-120"/>
              </a:rPr>
              <a:t>An Entity Relationship Diagram (ERD) is a data modelling technique that visually represents the relationships between the key elements of a database: </a:t>
            </a:r>
            <a:r>
              <a:rPr lang="en-US" sz="1750" b="1" dirty="0">
                <a:solidFill>
                  <a:srgbClr val="272525"/>
                </a:solidFill>
                <a:latin typeface="Montserrat" pitchFamily="34" charset="0"/>
                <a:ea typeface="Montserrat" pitchFamily="34" charset="-122"/>
                <a:cs typeface="Montserrat" pitchFamily="34" charset="-120"/>
              </a:rPr>
              <a:t>entities</a:t>
            </a:r>
            <a:r>
              <a:rPr lang="en-US" sz="1750" dirty="0">
                <a:solidFill>
                  <a:srgbClr val="272525"/>
                </a:solidFill>
                <a:latin typeface="Montserrat" pitchFamily="34" charset="0"/>
                <a:ea typeface="Montserrat" pitchFamily="34" charset="-122"/>
                <a:cs typeface="Montserrat" pitchFamily="34" charset="-120"/>
              </a:rPr>
              <a:t>, </a:t>
            </a:r>
            <a:r>
              <a:rPr lang="en-US" sz="1750" b="1" dirty="0">
                <a:solidFill>
                  <a:srgbClr val="272525"/>
                </a:solidFill>
                <a:latin typeface="Montserrat" pitchFamily="34" charset="0"/>
                <a:ea typeface="Montserrat" pitchFamily="34" charset="-122"/>
                <a:cs typeface="Montserrat" pitchFamily="34" charset="-120"/>
              </a:rPr>
              <a:t>attributes</a:t>
            </a:r>
            <a:r>
              <a:rPr lang="en-US" sz="1750" dirty="0">
                <a:solidFill>
                  <a:srgbClr val="272525"/>
                </a:solidFill>
                <a:latin typeface="Montserrat" pitchFamily="34" charset="0"/>
                <a:ea typeface="Montserrat" pitchFamily="34" charset="-122"/>
                <a:cs typeface="Montserrat" pitchFamily="34" charset="-120"/>
              </a:rPr>
              <a:t>, and </a:t>
            </a:r>
            <a:r>
              <a:rPr lang="en-US" sz="1750" b="1" dirty="0">
                <a:solidFill>
                  <a:srgbClr val="272525"/>
                </a:solidFill>
                <a:latin typeface="Montserrat" pitchFamily="34" charset="0"/>
                <a:ea typeface="Montserrat" pitchFamily="34" charset="-122"/>
                <a:cs typeface="Montserrat" pitchFamily="34" charset="-120"/>
              </a:rPr>
              <a:t>relationships</a:t>
            </a:r>
            <a:r>
              <a:rPr lang="en-US" sz="1750" dirty="0">
                <a:solidFill>
                  <a:srgbClr val="272525"/>
                </a:solidFill>
                <a:latin typeface="Montserrat" pitchFamily="34" charset="0"/>
                <a:ea typeface="Montserrat" pitchFamily="34" charset="-122"/>
                <a:cs typeface="Montserrat" pitchFamily="34" charset="-120"/>
              </a:rPr>
              <a:t>.</a:t>
            </a:r>
            <a:endParaRPr lang="en-US" sz="1750" dirty="0"/>
          </a:p>
        </p:txBody>
      </p:sp>
      <p:sp>
        <p:nvSpPr>
          <p:cNvPr id="8" name="Text 3"/>
          <p:cNvSpPr/>
          <p:nvPr/>
        </p:nvSpPr>
        <p:spPr>
          <a:xfrm>
            <a:off x="833199" y="4575810"/>
            <a:ext cx="7477601" cy="1421606"/>
          </a:xfrm>
          <a:prstGeom prst="rect">
            <a:avLst/>
          </a:prstGeom>
          <a:noFill/>
          <a:ln/>
        </p:spPr>
        <p:txBody>
          <a:bodyPr wrap="square" rtlCol="0" anchor="t"/>
          <a:lstStyle/>
          <a:p>
            <a:pPr marL="0" indent="0">
              <a:lnSpc>
                <a:spcPts val="2799"/>
              </a:lnSpc>
              <a:buNone/>
            </a:pPr>
            <a:r>
              <a:rPr lang="en-US" sz="1750" b="1" dirty="0">
                <a:solidFill>
                  <a:srgbClr val="272525"/>
                </a:solidFill>
                <a:latin typeface="Montserrat" pitchFamily="34" charset="0"/>
                <a:ea typeface="Montserrat" pitchFamily="34" charset="-122"/>
                <a:cs typeface="Montserrat" pitchFamily="34" charset="-120"/>
              </a:rPr>
              <a:t>Entities</a:t>
            </a:r>
            <a:r>
              <a:rPr lang="en-US" sz="1750" dirty="0">
                <a:solidFill>
                  <a:srgbClr val="272525"/>
                </a:solidFill>
                <a:latin typeface="Montserrat" pitchFamily="34" charset="0"/>
                <a:ea typeface="Montserrat" pitchFamily="34" charset="-122"/>
                <a:cs typeface="Montserrat" pitchFamily="34" charset="-120"/>
              </a:rPr>
              <a:t> are the primary objects or concepts being modeled, such as customers, products, or orders. </a:t>
            </a:r>
            <a:r>
              <a:rPr lang="en-US" sz="1750" b="1" dirty="0">
                <a:solidFill>
                  <a:srgbClr val="272525"/>
                </a:solidFill>
                <a:latin typeface="Montserrat" pitchFamily="34" charset="0"/>
                <a:ea typeface="Montserrat" pitchFamily="34" charset="-122"/>
                <a:cs typeface="Montserrat" pitchFamily="34" charset="-120"/>
              </a:rPr>
              <a:t>Attributes</a:t>
            </a:r>
            <a:r>
              <a:rPr lang="en-US" sz="1750" dirty="0">
                <a:solidFill>
                  <a:srgbClr val="272525"/>
                </a:solidFill>
                <a:latin typeface="Montserrat" pitchFamily="34" charset="0"/>
                <a:ea typeface="Montserrat" pitchFamily="34" charset="-122"/>
                <a:cs typeface="Montserrat" pitchFamily="34" charset="-120"/>
              </a:rPr>
              <a:t> are the specific characteristics or properties that describe each entity. </a:t>
            </a:r>
            <a:r>
              <a:rPr lang="en-US" sz="1750" b="1" dirty="0">
                <a:solidFill>
                  <a:srgbClr val="272525"/>
                </a:solidFill>
                <a:latin typeface="Montserrat" pitchFamily="34" charset="0"/>
                <a:ea typeface="Montserrat" pitchFamily="34" charset="-122"/>
                <a:cs typeface="Montserrat" pitchFamily="34" charset="-120"/>
              </a:rPr>
              <a:t>Relationships</a:t>
            </a:r>
            <a:r>
              <a:rPr lang="en-US" sz="1750" dirty="0">
                <a:solidFill>
                  <a:srgbClr val="272525"/>
                </a:solidFill>
                <a:latin typeface="Montserrat" pitchFamily="34" charset="0"/>
                <a:ea typeface="Montserrat" pitchFamily="34" charset="-122"/>
                <a:cs typeface="Montserrat" pitchFamily="34" charset="-120"/>
              </a:rPr>
              <a:t> define how the entities interact with one another.</a:t>
            </a:r>
            <a:endParaRPr lang="en-US" sz="1750" dirty="0"/>
          </a:p>
        </p:txBody>
      </p:sp>
      <p:pic>
        <p:nvPicPr>
          <p:cNvPr id="9" name="Image 3" descr="preencoded.png">
            <a:hlinkClick r:id="rId6"/>
          </p:cNvPr>
          <p:cNvPicPr>
            <a:picLocks noChangeAspect="1"/>
          </p:cNvPicPr>
          <p:nvPr/>
        </p:nvPicPr>
        <p:blipFill>
          <a:blip r:embed="rId7"/>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2100"/>
          </a:xfrm>
          <a:prstGeom prst="rect">
            <a:avLst/>
          </a:prstGeom>
          <a:solidFill>
            <a:srgbClr val="EEEFF5"/>
          </a:solidFill>
          <a:ln/>
        </p:spPr>
      </p:sp>
      <p:sp>
        <p:nvSpPr>
          <p:cNvPr id="4" name="Text 1"/>
          <p:cNvSpPr/>
          <p:nvPr/>
        </p:nvSpPr>
        <p:spPr>
          <a:xfrm>
            <a:off x="1801058" y="606504"/>
            <a:ext cx="11028164" cy="1378268"/>
          </a:xfrm>
          <a:prstGeom prst="rect">
            <a:avLst/>
          </a:prstGeom>
          <a:noFill/>
          <a:ln/>
        </p:spPr>
        <p:txBody>
          <a:bodyPr wrap="square" rtlCol="0" anchor="t"/>
          <a:lstStyle/>
          <a:p>
            <a:pPr marL="0" indent="0">
              <a:lnSpc>
                <a:spcPts val="5427"/>
              </a:lnSpc>
              <a:buNone/>
            </a:pPr>
            <a:r>
              <a:rPr lang="en-US" sz="4342" b="1" dirty="0">
                <a:solidFill>
                  <a:srgbClr val="396AF1"/>
                </a:solidFill>
                <a:latin typeface="Barlow" pitchFamily="34" charset="0"/>
                <a:ea typeface="Barlow" pitchFamily="34" charset="-122"/>
                <a:cs typeface="Barlow" pitchFamily="34" charset="-120"/>
              </a:rPr>
              <a:t>Advantages of using an ERD in database design</a:t>
            </a:r>
            <a:endParaRPr lang="en-US" sz="4342" dirty="0"/>
          </a:p>
        </p:txBody>
      </p:sp>
      <p:sp>
        <p:nvSpPr>
          <p:cNvPr id="5" name="Shape 2"/>
          <p:cNvSpPr/>
          <p:nvPr/>
        </p:nvSpPr>
        <p:spPr>
          <a:xfrm>
            <a:off x="1801058" y="2598182"/>
            <a:ext cx="496253" cy="496253"/>
          </a:xfrm>
          <a:prstGeom prst="roundRect">
            <a:avLst>
              <a:gd name="adj" fmla="val 26668"/>
            </a:avLst>
          </a:prstGeom>
          <a:solidFill>
            <a:srgbClr val="EEEFF5"/>
          </a:solidFill>
          <a:ln/>
        </p:spPr>
      </p:sp>
      <p:sp>
        <p:nvSpPr>
          <p:cNvPr id="6" name="Text 3"/>
          <p:cNvSpPr/>
          <p:nvPr/>
        </p:nvSpPr>
        <p:spPr>
          <a:xfrm>
            <a:off x="1990606" y="2639497"/>
            <a:ext cx="117157" cy="413504"/>
          </a:xfrm>
          <a:prstGeom prst="rect">
            <a:avLst/>
          </a:prstGeom>
          <a:noFill/>
          <a:ln/>
        </p:spPr>
        <p:txBody>
          <a:bodyPr wrap="none" rtlCol="0" anchor="t"/>
          <a:lstStyle/>
          <a:p>
            <a:pPr marL="0" indent="0" algn="ctr">
              <a:lnSpc>
                <a:spcPts val="3256"/>
              </a:lnSpc>
              <a:buNone/>
            </a:pPr>
            <a:r>
              <a:rPr lang="en-US" sz="2605" b="1" dirty="0">
                <a:solidFill>
                  <a:srgbClr val="396AF1"/>
                </a:solidFill>
                <a:latin typeface="Barlow" pitchFamily="34" charset="0"/>
                <a:ea typeface="Barlow" pitchFamily="34" charset="-122"/>
                <a:cs typeface="Barlow" pitchFamily="34" charset="-120"/>
              </a:rPr>
              <a:t>1</a:t>
            </a:r>
            <a:endParaRPr lang="en-US" sz="2605" dirty="0"/>
          </a:p>
        </p:txBody>
      </p:sp>
      <p:sp>
        <p:nvSpPr>
          <p:cNvPr id="7" name="Text 4"/>
          <p:cNvSpPr/>
          <p:nvPr/>
        </p:nvSpPr>
        <p:spPr>
          <a:xfrm>
            <a:off x="2517815" y="2674025"/>
            <a:ext cx="3079671" cy="344686"/>
          </a:xfrm>
          <a:prstGeom prst="rect">
            <a:avLst/>
          </a:prstGeom>
          <a:noFill/>
          <a:ln/>
        </p:spPr>
        <p:txBody>
          <a:bodyPr wrap="none" rtlCol="0" anchor="t"/>
          <a:lstStyle/>
          <a:p>
            <a:pPr marL="0" indent="0">
              <a:lnSpc>
                <a:spcPts val="2714"/>
              </a:lnSpc>
              <a:buNone/>
            </a:pPr>
            <a:r>
              <a:rPr lang="en-US" sz="2171" b="1" dirty="0">
                <a:solidFill>
                  <a:srgbClr val="396AF1"/>
                </a:solidFill>
                <a:latin typeface="Barlow" pitchFamily="34" charset="0"/>
                <a:ea typeface="Barlow" pitchFamily="34" charset="-122"/>
                <a:cs typeface="Barlow" pitchFamily="34" charset="-120"/>
              </a:rPr>
              <a:t>Visualizes Data Structure</a:t>
            </a:r>
            <a:endParaRPr lang="en-US" sz="2171" dirty="0"/>
          </a:p>
        </p:txBody>
      </p:sp>
      <p:sp>
        <p:nvSpPr>
          <p:cNvPr id="8" name="Text 5"/>
          <p:cNvSpPr/>
          <p:nvPr/>
        </p:nvSpPr>
        <p:spPr>
          <a:xfrm>
            <a:off x="2517815" y="3150989"/>
            <a:ext cx="4687133" cy="1764506"/>
          </a:xfrm>
          <a:prstGeom prst="rect">
            <a:avLst/>
          </a:prstGeom>
          <a:noFill/>
          <a:ln/>
        </p:spPr>
        <p:txBody>
          <a:bodyPr wrap="square" rtlCol="0" anchor="t"/>
          <a:lstStyle/>
          <a:p>
            <a:pPr marL="0" indent="0">
              <a:lnSpc>
                <a:spcPts val="2779"/>
              </a:lnSpc>
              <a:buNone/>
            </a:pPr>
            <a:r>
              <a:rPr lang="en-US" sz="1737" dirty="0">
                <a:solidFill>
                  <a:srgbClr val="272525"/>
                </a:solidFill>
                <a:latin typeface="Montserrat" pitchFamily="34" charset="0"/>
                <a:ea typeface="Montserrat" pitchFamily="34" charset="-122"/>
                <a:cs typeface="Montserrat" pitchFamily="34" charset="-120"/>
              </a:rPr>
              <a:t>An ERD provides a clear, visual representation of the entities, attributes, and relationships within a database, making it easier to understand the data model.</a:t>
            </a:r>
            <a:endParaRPr lang="en-US" sz="1737" dirty="0"/>
          </a:p>
        </p:txBody>
      </p:sp>
      <p:sp>
        <p:nvSpPr>
          <p:cNvPr id="9" name="Shape 6"/>
          <p:cNvSpPr/>
          <p:nvPr/>
        </p:nvSpPr>
        <p:spPr>
          <a:xfrm>
            <a:off x="7425452" y="2598182"/>
            <a:ext cx="496253" cy="496253"/>
          </a:xfrm>
          <a:prstGeom prst="roundRect">
            <a:avLst>
              <a:gd name="adj" fmla="val 26668"/>
            </a:avLst>
          </a:prstGeom>
          <a:solidFill>
            <a:srgbClr val="EEEFF5"/>
          </a:solidFill>
          <a:ln/>
        </p:spPr>
      </p:sp>
      <p:sp>
        <p:nvSpPr>
          <p:cNvPr id="10" name="Text 7"/>
          <p:cNvSpPr/>
          <p:nvPr/>
        </p:nvSpPr>
        <p:spPr>
          <a:xfrm>
            <a:off x="7580948" y="2639497"/>
            <a:ext cx="185261" cy="413504"/>
          </a:xfrm>
          <a:prstGeom prst="rect">
            <a:avLst/>
          </a:prstGeom>
          <a:noFill/>
          <a:ln/>
        </p:spPr>
        <p:txBody>
          <a:bodyPr wrap="none" rtlCol="0" anchor="t"/>
          <a:lstStyle/>
          <a:p>
            <a:pPr marL="0" indent="0" algn="ctr">
              <a:lnSpc>
                <a:spcPts val="3256"/>
              </a:lnSpc>
              <a:buNone/>
            </a:pPr>
            <a:r>
              <a:rPr lang="en-US" sz="2605" b="1" dirty="0">
                <a:solidFill>
                  <a:srgbClr val="396AF1"/>
                </a:solidFill>
                <a:latin typeface="Barlow" pitchFamily="34" charset="0"/>
                <a:ea typeface="Barlow" pitchFamily="34" charset="-122"/>
                <a:cs typeface="Barlow" pitchFamily="34" charset="-120"/>
              </a:rPr>
              <a:t>2</a:t>
            </a:r>
            <a:endParaRPr lang="en-US" sz="2605" dirty="0"/>
          </a:p>
        </p:txBody>
      </p:sp>
      <p:sp>
        <p:nvSpPr>
          <p:cNvPr id="11" name="Text 8"/>
          <p:cNvSpPr/>
          <p:nvPr/>
        </p:nvSpPr>
        <p:spPr>
          <a:xfrm>
            <a:off x="8142208" y="2674025"/>
            <a:ext cx="2885122" cy="344686"/>
          </a:xfrm>
          <a:prstGeom prst="rect">
            <a:avLst/>
          </a:prstGeom>
          <a:noFill/>
          <a:ln/>
        </p:spPr>
        <p:txBody>
          <a:bodyPr wrap="none" rtlCol="0" anchor="t"/>
          <a:lstStyle/>
          <a:p>
            <a:pPr marL="0" indent="0">
              <a:lnSpc>
                <a:spcPts val="2714"/>
              </a:lnSpc>
              <a:buNone/>
            </a:pPr>
            <a:r>
              <a:rPr lang="en-US" sz="2171" b="1" dirty="0">
                <a:solidFill>
                  <a:srgbClr val="396AF1"/>
                </a:solidFill>
                <a:latin typeface="Barlow" pitchFamily="34" charset="0"/>
                <a:ea typeface="Barlow" pitchFamily="34" charset="-122"/>
                <a:cs typeface="Barlow" pitchFamily="34" charset="-120"/>
              </a:rPr>
              <a:t>Identifies Relationships</a:t>
            </a:r>
            <a:endParaRPr lang="en-US" sz="2171" dirty="0"/>
          </a:p>
        </p:txBody>
      </p:sp>
      <p:sp>
        <p:nvSpPr>
          <p:cNvPr id="12" name="Text 9"/>
          <p:cNvSpPr/>
          <p:nvPr/>
        </p:nvSpPr>
        <p:spPr>
          <a:xfrm>
            <a:off x="8142208" y="3150989"/>
            <a:ext cx="4687133" cy="1764506"/>
          </a:xfrm>
          <a:prstGeom prst="rect">
            <a:avLst/>
          </a:prstGeom>
          <a:noFill/>
          <a:ln/>
        </p:spPr>
        <p:txBody>
          <a:bodyPr wrap="square" rtlCol="0" anchor="t"/>
          <a:lstStyle/>
          <a:p>
            <a:pPr marL="0" indent="0">
              <a:lnSpc>
                <a:spcPts val="2779"/>
              </a:lnSpc>
              <a:buNone/>
            </a:pPr>
            <a:r>
              <a:rPr lang="en-US" sz="1737" dirty="0">
                <a:solidFill>
                  <a:srgbClr val="272525"/>
                </a:solidFill>
                <a:latin typeface="Montserrat" pitchFamily="34" charset="0"/>
                <a:ea typeface="Montserrat" pitchFamily="34" charset="-122"/>
                <a:cs typeface="Montserrat" pitchFamily="34" charset="-120"/>
              </a:rPr>
              <a:t>The ERD helps identify the different types of relationships between entities, such as one-to-one, one-to-many, and many-to-many, which is crucial for ensuring data integrity.</a:t>
            </a:r>
            <a:endParaRPr lang="en-US" sz="1737" dirty="0"/>
          </a:p>
        </p:txBody>
      </p:sp>
      <p:sp>
        <p:nvSpPr>
          <p:cNvPr id="13" name="Shape 10"/>
          <p:cNvSpPr/>
          <p:nvPr/>
        </p:nvSpPr>
        <p:spPr>
          <a:xfrm>
            <a:off x="1801058" y="5308283"/>
            <a:ext cx="496253" cy="496253"/>
          </a:xfrm>
          <a:prstGeom prst="roundRect">
            <a:avLst>
              <a:gd name="adj" fmla="val 26668"/>
            </a:avLst>
          </a:prstGeom>
          <a:solidFill>
            <a:srgbClr val="EEEFF5"/>
          </a:solidFill>
          <a:ln/>
        </p:spPr>
      </p:sp>
      <p:sp>
        <p:nvSpPr>
          <p:cNvPr id="14" name="Text 11"/>
          <p:cNvSpPr/>
          <p:nvPr/>
        </p:nvSpPr>
        <p:spPr>
          <a:xfrm>
            <a:off x="1959769" y="5349597"/>
            <a:ext cx="178713" cy="413504"/>
          </a:xfrm>
          <a:prstGeom prst="rect">
            <a:avLst/>
          </a:prstGeom>
          <a:noFill/>
          <a:ln/>
        </p:spPr>
        <p:txBody>
          <a:bodyPr wrap="none" rtlCol="0" anchor="t"/>
          <a:lstStyle/>
          <a:p>
            <a:pPr marL="0" indent="0" algn="ctr">
              <a:lnSpc>
                <a:spcPts val="3256"/>
              </a:lnSpc>
              <a:buNone/>
            </a:pPr>
            <a:r>
              <a:rPr lang="en-US" sz="2605" b="1" dirty="0">
                <a:solidFill>
                  <a:srgbClr val="396AF1"/>
                </a:solidFill>
                <a:latin typeface="Barlow" pitchFamily="34" charset="0"/>
                <a:ea typeface="Barlow" pitchFamily="34" charset="-122"/>
                <a:cs typeface="Barlow" pitchFamily="34" charset="-120"/>
              </a:rPr>
              <a:t>3</a:t>
            </a:r>
            <a:endParaRPr lang="en-US" sz="2605" dirty="0"/>
          </a:p>
        </p:txBody>
      </p:sp>
      <p:sp>
        <p:nvSpPr>
          <p:cNvPr id="15" name="Text 12"/>
          <p:cNvSpPr/>
          <p:nvPr/>
        </p:nvSpPr>
        <p:spPr>
          <a:xfrm>
            <a:off x="2517815" y="5384125"/>
            <a:ext cx="3256597" cy="344686"/>
          </a:xfrm>
          <a:prstGeom prst="rect">
            <a:avLst/>
          </a:prstGeom>
          <a:noFill/>
          <a:ln/>
        </p:spPr>
        <p:txBody>
          <a:bodyPr wrap="none" rtlCol="0" anchor="t"/>
          <a:lstStyle/>
          <a:p>
            <a:pPr marL="0" indent="0">
              <a:lnSpc>
                <a:spcPts val="2714"/>
              </a:lnSpc>
              <a:buNone/>
            </a:pPr>
            <a:r>
              <a:rPr lang="en-US" sz="2171" b="1" dirty="0">
                <a:solidFill>
                  <a:srgbClr val="396AF1"/>
                </a:solidFill>
                <a:latin typeface="Barlow" pitchFamily="34" charset="0"/>
                <a:ea typeface="Barlow" pitchFamily="34" charset="-122"/>
                <a:cs typeface="Barlow" pitchFamily="34" charset="-120"/>
              </a:rPr>
              <a:t>Facilitates Communication</a:t>
            </a:r>
            <a:endParaRPr lang="en-US" sz="2171" dirty="0"/>
          </a:p>
        </p:txBody>
      </p:sp>
      <p:sp>
        <p:nvSpPr>
          <p:cNvPr id="16" name="Text 13"/>
          <p:cNvSpPr/>
          <p:nvPr/>
        </p:nvSpPr>
        <p:spPr>
          <a:xfrm>
            <a:off x="2517815" y="5861090"/>
            <a:ext cx="4687133" cy="1764506"/>
          </a:xfrm>
          <a:prstGeom prst="rect">
            <a:avLst/>
          </a:prstGeom>
          <a:noFill/>
          <a:ln/>
        </p:spPr>
        <p:txBody>
          <a:bodyPr wrap="square" rtlCol="0" anchor="t"/>
          <a:lstStyle/>
          <a:p>
            <a:pPr marL="0" indent="0">
              <a:lnSpc>
                <a:spcPts val="2779"/>
              </a:lnSpc>
              <a:buNone/>
            </a:pPr>
            <a:r>
              <a:rPr lang="en-US" sz="1737" dirty="0">
                <a:solidFill>
                  <a:srgbClr val="272525"/>
                </a:solidFill>
                <a:latin typeface="Montserrat" pitchFamily="34" charset="0"/>
                <a:ea typeface="Montserrat" pitchFamily="34" charset="-122"/>
                <a:cs typeface="Montserrat" pitchFamily="34" charset="-120"/>
              </a:rPr>
              <a:t>The visual nature of an ERD makes it a useful tool for communicating the database design to stakeholders, developers, and other team members, fostering better collaboration.</a:t>
            </a:r>
            <a:endParaRPr lang="en-US" sz="1737" dirty="0"/>
          </a:p>
        </p:txBody>
      </p:sp>
      <p:sp>
        <p:nvSpPr>
          <p:cNvPr id="17" name="Shape 14"/>
          <p:cNvSpPr/>
          <p:nvPr/>
        </p:nvSpPr>
        <p:spPr>
          <a:xfrm>
            <a:off x="7425452" y="5308283"/>
            <a:ext cx="496253" cy="496253"/>
          </a:xfrm>
          <a:prstGeom prst="roundRect">
            <a:avLst>
              <a:gd name="adj" fmla="val 26668"/>
            </a:avLst>
          </a:prstGeom>
          <a:solidFill>
            <a:srgbClr val="EEEFF5"/>
          </a:solidFill>
          <a:ln/>
        </p:spPr>
      </p:sp>
      <p:sp>
        <p:nvSpPr>
          <p:cNvPr id="18" name="Text 15"/>
          <p:cNvSpPr/>
          <p:nvPr/>
        </p:nvSpPr>
        <p:spPr>
          <a:xfrm>
            <a:off x="7573447" y="5349597"/>
            <a:ext cx="200144" cy="413504"/>
          </a:xfrm>
          <a:prstGeom prst="rect">
            <a:avLst/>
          </a:prstGeom>
          <a:noFill/>
          <a:ln/>
        </p:spPr>
        <p:txBody>
          <a:bodyPr wrap="none" rtlCol="0" anchor="t"/>
          <a:lstStyle/>
          <a:p>
            <a:pPr marL="0" indent="0" algn="ctr">
              <a:lnSpc>
                <a:spcPts val="3256"/>
              </a:lnSpc>
              <a:buNone/>
            </a:pPr>
            <a:r>
              <a:rPr lang="en-US" sz="2605" b="1" dirty="0">
                <a:solidFill>
                  <a:srgbClr val="396AF1"/>
                </a:solidFill>
                <a:latin typeface="Barlow" pitchFamily="34" charset="0"/>
                <a:ea typeface="Barlow" pitchFamily="34" charset="-122"/>
                <a:cs typeface="Barlow" pitchFamily="34" charset="-120"/>
              </a:rPr>
              <a:t>4</a:t>
            </a:r>
            <a:endParaRPr lang="en-US" sz="2605" dirty="0"/>
          </a:p>
        </p:txBody>
      </p:sp>
      <p:sp>
        <p:nvSpPr>
          <p:cNvPr id="19" name="Text 16"/>
          <p:cNvSpPr/>
          <p:nvPr/>
        </p:nvSpPr>
        <p:spPr>
          <a:xfrm>
            <a:off x="8142208" y="5384125"/>
            <a:ext cx="2757011" cy="344686"/>
          </a:xfrm>
          <a:prstGeom prst="rect">
            <a:avLst/>
          </a:prstGeom>
          <a:noFill/>
          <a:ln/>
        </p:spPr>
        <p:txBody>
          <a:bodyPr wrap="none" rtlCol="0" anchor="t"/>
          <a:lstStyle/>
          <a:p>
            <a:pPr marL="0" indent="0">
              <a:lnSpc>
                <a:spcPts val="2714"/>
              </a:lnSpc>
              <a:buNone/>
            </a:pPr>
            <a:r>
              <a:rPr lang="en-US" sz="2171" b="1" dirty="0">
                <a:solidFill>
                  <a:srgbClr val="396AF1"/>
                </a:solidFill>
                <a:latin typeface="Barlow" pitchFamily="34" charset="0"/>
                <a:ea typeface="Barlow" pitchFamily="34" charset="-122"/>
                <a:cs typeface="Barlow" pitchFamily="34" charset="-120"/>
              </a:rPr>
              <a:t>Supports Scalability</a:t>
            </a:r>
            <a:endParaRPr lang="en-US" sz="2171" dirty="0"/>
          </a:p>
        </p:txBody>
      </p:sp>
      <p:sp>
        <p:nvSpPr>
          <p:cNvPr id="20" name="Text 17"/>
          <p:cNvSpPr/>
          <p:nvPr/>
        </p:nvSpPr>
        <p:spPr>
          <a:xfrm>
            <a:off x="8142208" y="5861090"/>
            <a:ext cx="4687133" cy="1411605"/>
          </a:xfrm>
          <a:prstGeom prst="rect">
            <a:avLst/>
          </a:prstGeom>
          <a:noFill/>
          <a:ln/>
        </p:spPr>
        <p:txBody>
          <a:bodyPr wrap="square" rtlCol="0" anchor="t"/>
          <a:lstStyle/>
          <a:p>
            <a:pPr marL="0" indent="0">
              <a:lnSpc>
                <a:spcPts val="2779"/>
              </a:lnSpc>
              <a:buNone/>
            </a:pPr>
            <a:r>
              <a:rPr lang="en-US" sz="1737" dirty="0">
                <a:solidFill>
                  <a:srgbClr val="272525"/>
                </a:solidFill>
                <a:latin typeface="Montserrat" pitchFamily="34" charset="0"/>
                <a:ea typeface="Montserrat" pitchFamily="34" charset="-122"/>
                <a:cs typeface="Montserrat" pitchFamily="34" charset="-120"/>
              </a:rPr>
              <a:t>By clearly defining the data structure, an ERD helps ensure the database can accommodate future growth and changes, making it more scalable.</a:t>
            </a:r>
            <a:endParaRPr lang="en-US" sz="1737" dirty="0"/>
          </a:p>
        </p:txBody>
      </p:sp>
      <p:pic>
        <p:nvPicPr>
          <p:cNvPr id="21"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833199" y="2279094"/>
            <a:ext cx="7477601" cy="1916430"/>
          </a:xfrm>
          <a:prstGeom prst="rect">
            <a:avLst/>
          </a:prstGeom>
          <a:noFill/>
          <a:ln/>
        </p:spPr>
        <p:txBody>
          <a:bodyPr wrap="square" rtlCol="0" anchor="t"/>
          <a:lstStyle/>
          <a:p>
            <a:pPr marL="0" indent="0">
              <a:lnSpc>
                <a:spcPts val="7545"/>
              </a:lnSpc>
              <a:buNone/>
            </a:pPr>
            <a:r>
              <a:rPr lang="en-US" sz="6036" b="1" dirty="0">
                <a:solidFill>
                  <a:srgbClr val="396AF1"/>
                </a:solidFill>
                <a:latin typeface="Barlow" pitchFamily="34" charset="0"/>
                <a:ea typeface="Barlow" pitchFamily="34" charset="-122"/>
                <a:cs typeface="Barlow" pitchFamily="34" charset="-120"/>
              </a:rPr>
              <a:t>What are Business Rules in DBMS?</a:t>
            </a:r>
            <a:endParaRPr lang="en-US" sz="6036" dirty="0"/>
          </a:p>
        </p:txBody>
      </p:sp>
      <p:sp>
        <p:nvSpPr>
          <p:cNvPr id="6" name="Text 2"/>
          <p:cNvSpPr/>
          <p:nvPr/>
        </p:nvSpPr>
        <p:spPr>
          <a:xfrm>
            <a:off x="833199" y="4528780"/>
            <a:ext cx="7477601" cy="1421606"/>
          </a:xfrm>
          <a:prstGeom prst="rect">
            <a:avLst/>
          </a:prstGeom>
          <a:noFill/>
          <a:ln/>
        </p:spPr>
        <p:txBody>
          <a:bodyPr wrap="square" rtlCol="0" anchor="t"/>
          <a:lstStyle/>
          <a:p>
            <a:pPr marL="0" indent="0">
              <a:lnSpc>
                <a:spcPts val="2799"/>
              </a:lnSpc>
              <a:buNone/>
            </a:pPr>
            <a:r>
              <a:rPr lang="en-US" sz="1750" dirty="0">
                <a:solidFill>
                  <a:srgbClr val="272525"/>
                </a:solidFill>
                <a:latin typeface="Montserrat" pitchFamily="34" charset="0"/>
                <a:ea typeface="Montserrat" pitchFamily="34" charset="-122"/>
                <a:cs typeface="Montserrat" pitchFamily="34" charset="-120"/>
              </a:rPr>
              <a:t>Business rules are the guidelines, policies, and constraints that govern the operations and data management within a database management system (DBMS). These rules ensure the integrity, consistency, and accuracy of data stored in the database.</a:t>
            </a:r>
            <a:endParaRPr lang="en-US" sz="1750" dirty="0"/>
          </a:p>
        </p:txBody>
      </p:sp>
      <p:pic>
        <p:nvPicPr>
          <p:cNvPr id="7" name="Image 2" descr="preencoded.png">
            <a:hlinkClick r:id="rId5"/>
          </p:cNvPr>
          <p:cNvPicPr>
            <a:picLocks noChangeAspect="1"/>
          </p:cNvPicPr>
          <p:nvPr/>
        </p:nvPicPr>
        <p:blipFill>
          <a:blip r:embed="rId6"/>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319599" y="1351836"/>
            <a:ext cx="7477601" cy="1388745"/>
          </a:xfrm>
          <a:prstGeom prst="rect">
            <a:avLst/>
          </a:prstGeom>
          <a:noFill/>
          <a:ln/>
        </p:spPr>
        <p:txBody>
          <a:bodyPr wrap="square" rtlCol="0" anchor="t"/>
          <a:lstStyle/>
          <a:p>
            <a:pPr marL="0" indent="0">
              <a:lnSpc>
                <a:spcPts val="5468"/>
              </a:lnSpc>
              <a:buNone/>
            </a:pPr>
            <a:r>
              <a:rPr lang="en-US" sz="4374" b="1" dirty="0">
                <a:solidFill>
                  <a:srgbClr val="396AF1"/>
                </a:solidFill>
                <a:latin typeface="Barlow" pitchFamily="34" charset="0"/>
                <a:ea typeface="Barlow" pitchFamily="34" charset="-122"/>
                <a:cs typeface="Barlow" pitchFamily="34" charset="-120"/>
              </a:rPr>
              <a:t>Identifying and Documenting Business Rules</a:t>
            </a:r>
            <a:endParaRPr lang="en-US" sz="4374" dirty="0"/>
          </a:p>
        </p:txBody>
      </p:sp>
      <p:sp>
        <p:nvSpPr>
          <p:cNvPr id="6" name="Text 2"/>
          <p:cNvSpPr/>
          <p:nvPr/>
        </p:nvSpPr>
        <p:spPr>
          <a:xfrm>
            <a:off x="6319599" y="3073837"/>
            <a:ext cx="7477601" cy="1777008"/>
          </a:xfrm>
          <a:prstGeom prst="rect">
            <a:avLst/>
          </a:prstGeom>
          <a:noFill/>
          <a:ln/>
        </p:spPr>
        <p:txBody>
          <a:bodyPr wrap="square" rtlCol="0" anchor="t"/>
          <a:lstStyle/>
          <a:p>
            <a:pPr marL="0" indent="0">
              <a:lnSpc>
                <a:spcPts val="2799"/>
              </a:lnSpc>
              <a:buNone/>
            </a:pPr>
            <a:r>
              <a:rPr lang="en-US" sz="1750" dirty="0">
                <a:solidFill>
                  <a:srgbClr val="272525"/>
                </a:solidFill>
                <a:latin typeface="Montserrat" pitchFamily="34" charset="0"/>
                <a:ea typeface="Montserrat" pitchFamily="34" charset="-122"/>
                <a:cs typeface="Montserrat" pitchFamily="34" charset="-120"/>
              </a:rPr>
              <a:t>Identifying and documenting business rules is a crucial step in database design. Business rules are the constraints, policies, and guidelines that govern how an organization operates. They define what data is valid, what relationships exist between entities, and how the system should behave.</a:t>
            </a:r>
            <a:endParaRPr lang="en-US" sz="1750" dirty="0"/>
          </a:p>
        </p:txBody>
      </p:sp>
      <p:sp>
        <p:nvSpPr>
          <p:cNvPr id="7" name="Text 3"/>
          <p:cNvSpPr/>
          <p:nvPr/>
        </p:nvSpPr>
        <p:spPr>
          <a:xfrm>
            <a:off x="6319599" y="5100757"/>
            <a:ext cx="7477601" cy="1777008"/>
          </a:xfrm>
          <a:prstGeom prst="rect">
            <a:avLst/>
          </a:prstGeom>
          <a:noFill/>
          <a:ln/>
        </p:spPr>
        <p:txBody>
          <a:bodyPr wrap="square" rtlCol="0" anchor="t"/>
          <a:lstStyle/>
          <a:p>
            <a:pPr marL="0" indent="0">
              <a:lnSpc>
                <a:spcPts val="2799"/>
              </a:lnSpc>
              <a:buNone/>
            </a:pPr>
            <a:r>
              <a:rPr lang="en-US" sz="1750" dirty="0">
                <a:solidFill>
                  <a:srgbClr val="272525"/>
                </a:solidFill>
                <a:latin typeface="Montserrat" pitchFamily="34" charset="0"/>
                <a:ea typeface="Montserrat" pitchFamily="34" charset="-122"/>
                <a:cs typeface="Montserrat" pitchFamily="34" charset="-120"/>
              </a:rPr>
              <a:t>The process involves carefully analyzing the organization's requirements, interviewing stakeholders, and extracting the key rules that must be enforced in the database. These rules should be documented in a clear and concise manner, using natural language or a formal specification language.</a:t>
            </a:r>
            <a:endParaRPr lang="en-US" sz="1750" dirty="0"/>
          </a:p>
        </p:txBody>
      </p:sp>
      <p:pic>
        <p:nvPicPr>
          <p:cNvPr id="8" name="Image 2" descr="preencoded.png">
            <a:hlinkClick r:id="rId5"/>
          </p:cNvPr>
          <p:cNvPicPr>
            <a:picLocks noChangeAspect="1"/>
          </p:cNvPicPr>
          <p:nvPr/>
        </p:nvPicPr>
        <p:blipFill>
          <a:blip r:embed="rId6"/>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p:cNvPicPr>
            <a:picLocks noChangeAspect="1"/>
          </p:cNvPicPr>
          <p:nvPr/>
        </p:nvPicPr>
        <p:blipFill>
          <a:blip r:embed="rId4"/>
          <a:stretch>
            <a:fillRect/>
          </a:stretch>
        </p:blipFill>
        <p:spPr>
          <a:xfrm>
            <a:off x="0" y="0"/>
            <a:ext cx="14630400" cy="8229600"/>
          </a:xfrm>
          <a:prstGeom prst="rect">
            <a:avLst/>
          </a:prstGeom>
        </p:spPr>
      </p:pic>
      <p:sp>
        <p:nvSpPr>
          <p:cNvPr id="5" name="Shape 1"/>
          <p:cNvSpPr/>
          <p:nvPr/>
        </p:nvSpPr>
        <p:spPr>
          <a:xfrm>
            <a:off x="0" y="0"/>
            <a:ext cx="14630400" cy="8229600"/>
          </a:xfrm>
          <a:prstGeom prst="rect">
            <a:avLst/>
          </a:prstGeom>
          <a:solidFill>
            <a:srgbClr val="EEEFF5">
              <a:alpha val="85000"/>
            </a:srgbClr>
          </a:solidFill>
          <a:ln/>
        </p:spPr>
      </p:sp>
      <p:sp>
        <p:nvSpPr>
          <p:cNvPr id="6" name="Text 2"/>
          <p:cNvSpPr/>
          <p:nvPr/>
        </p:nvSpPr>
        <p:spPr>
          <a:xfrm>
            <a:off x="1760220" y="1572458"/>
            <a:ext cx="10114955" cy="694373"/>
          </a:xfrm>
          <a:prstGeom prst="rect">
            <a:avLst/>
          </a:prstGeom>
          <a:noFill/>
          <a:ln/>
        </p:spPr>
        <p:txBody>
          <a:bodyPr wrap="none" rtlCol="0" anchor="t"/>
          <a:lstStyle/>
          <a:p>
            <a:pPr marL="0" indent="0">
              <a:lnSpc>
                <a:spcPts val="5468"/>
              </a:lnSpc>
              <a:buNone/>
            </a:pPr>
            <a:r>
              <a:rPr lang="en-US" sz="4374" b="1" dirty="0">
                <a:solidFill>
                  <a:srgbClr val="396AF1"/>
                </a:solidFill>
                <a:latin typeface="Barlow" pitchFamily="34" charset="0"/>
                <a:ea typeface="Barlow" pitchFamily="34" charset="-122"/>
                <a:cs typeface="Barlow" pitchFamily="34" charset="-120"/>
              </a:rPr>
              <a:t>Incorporating business rules into the ERD</a:t>
            </a:r>
            <a:endParaRPr lang="en-US" sz="4374" dirty="0"/>
          </a:p>
        </p:txBody>
      </p:sp>
      <p:pic>
        <p:nvPicPr>
          <p:cNvPr id="7" name="Image 2" descr="preencoded.png"/>
          <p:cNvPicPr>
            <a:picLocks noChangeAspect="1"/>
          </p:cNvPicPr>
          <p:nvPr/>
        </p:nvPicPr>
        <p:blipFill>
          <a:blip r:embed="rId5"/>
          <a:stretch>
            <a:fillRect/>
          </a:stretch>
        </p:blipFill>
        <p:spPr>
          <a:xfrm>
            <a:off x="1760220" y="2600087"/>
            <a:ext cx="3703320" cy="888682"/>
          </a:xfrm>
          <a:prstGeom prst="rect">
            <a:avLst/>
          </a:prstGeom>
        </p:spPr>
      </p:pic>
      <p:sp>
        <p:nvSpPr>
          <p:cNvPr id="8" name="Text 3"/>
          <p:cNvSpPr/>
          <p:nvPr/>
        </p:nvSpPr>
        <p:spPr>
          <a:xfrm>
            <a:off x="1982391" y="3822025"/>
            <a:ext cx="2856547" cy="347186"/>
          </a:xfrm>
          <a:prstGeom prst="rect">
            <a:avLst/>
          </a:prstGeom>
          <a:noFill/>
          <a:ln/>
        </p:spPr>
        <p:txBody>
          <a:bodyPr wrap="none" rtlCol="0" anchor="t"/>
          <a:lstStyle/>
          <a:p>
            <a:pPr marL="0" indent="0" algn="l">
              <a:lnSpc>
                <a:spcPts val="2734"/>
              </a:lnSpc>
              <a:buNone/>
            </a:pPr>
            <a:r>
              <a:rPr lang="en-US" sz="2187" b="1" dirty="0">
                <a:solidFill>
                  <a:srgbClr val="396AF1"/>
                </a:solidFill>
                <a:latin typeface="Barlow" pitchFamily="34" charset="0"/>
                <a:ea typeface="Barlow" pitchFamily="34" charset="-122"/>
                <a:cs typeface="Barlow" pitchFamily="34" charset="-120"/>
              </a:rPr>
              <a:t>Identify Business Rules</a:t>
            </a:r>
            <a:endParaRPr lang="en-US" sz="2187" dirty="0"/>
          </a:p>
        </p:txBody>
      </p:sp>
      <p:sp>
        <p:nvSpPr>
          <p:cNvPr id="9" name="Text 4"/>
          <p:cNvSpPr/>
          <p:nvPr/>
        </p:nvSpPr>
        <p:spPr>
          <a:xfrm>
            <a:off x="1982391" y="4302443"/>
            <a:ext cx="3258979" cy="2132409"/>
          </a:xfrm>
          <a:prstGeom prst="rect">
            <a:avLst/>
          </a:prstGeom>
          <a:noFill/>
          <a:ln/>
        </p:spPr>
        <p:txBody>
          <a:bodyPr wrap="square" rtlCol="0" anchor="t"/>
          <a:lstStyle/>
          <a:p>
            <a:pPr marL="0" indent="0" algn="l">
              <a:lnSpc>
                <a:spcPts val="2799"/>
              </a:lnSpc>
              <a:buNone/>
            </a:pPr>
            <a:r>
              <a:rPr lang="en-US" sz="1750" dirty="0">
                <a:solidFill>
                  <a:srgbClr val="272525"/>
                </a:solidFill>
                <a:latin typeface="Montserrat" pitchFamily="34" charset="0"/>
                <a:ea typeface="Montserrat" pitchFamily="34" charset="-122"/>
                <a:cs typeface="Montserrat" pitchFamily="34" charset="-120"/>
              </a:rPr>
              <a:t>Carefully examine the business requirements to identify all the relevant rules and constraints that must be reflected in the database design.</a:t>
            </a:r>
            <a:endParaRPr lang="en-US" sz="1750" dirty="0"/>
          </a:p>
        </p:txBody>
      </p:sp>
      <p:pic>
        <p:nvPicPr>
          <p:cNvPr id="10" name="Image 3" descr="preencoded.png"/>
          <p:cNvPicPr>
            <a:picLocks noChangeAspect="1"/>
          </p:cNvPicPr>
          <p:nvPr/>
        </p:nvPicPr>
        <p:blipFill>
          <a:blip r:embed="rId6"/>
          <a:stretch>
            <a:fillRect/>
          </a:stretch>
        </p:blipFill>
        <p:spPr>
          <a:xfrm>
            <a:off x="5463540" y="2600087"/>
            <a:ext cx="3703320" cy="888682"/>
          </a:xfrm>
          <a:prstGeom prst="rect">
            <a:avLst/>
          </a:prstGeom>
        </p:spPr>
      </p:pic>
      <p:sp>
        <p:nvSpPr>
          <p:cNvPr id="11" name="Text 5"/>
          <p:cNvSpPr/>
          <p:nvPr/>
        </p:nvSpPr>
        <p:spPr>
          <a:xfrm>
            <a:off x="5685711" y="3822025"/>
            <a:ext cx="2777490" cy="347186"/>
          </a:xfrm>
          <a:prstGeom prst="rect">
            <a:avLst/>
          </a:prstGeom>
          <a:noFill/>
          <a:ln/>
        </p:spPr>
        <p:txBody>
          <a:bodyPr wrap="none" rtlCol="0" anchor="t"/>
          <a:lstStyle/>
          <a:p>
            <a:pPr marL="0" indent="0" algn="l">
              <a:lnSpc>
                <a:spcPts val="2734"/>
              </a:lnSpc>
              <a:buNone/>
            </a:pPr>
            <a:r>
              <a:rPr lang="en-US" sz="2187" b="1" dirty="0">
                <a:solidFill>
                  <a:srgbClr val="396AF1"/>
                </a:solidFill>
                <a:latin typeface="Barlow" pitchFamily="34" charset="0"/>
                <a:ea typeface="Barlow" pitchFamily="34" charset="-122"/>
                <a:cs typeface="Barlow" pitchFamily="34" charset="-120"/>
              </a:rPr>
              <a:t>Map to ERD Elements</a:t>
            </a:r>
            <a:endParaRPr lang="en-US" sz="2187" dirty="0"/>
          </a:p>
        </p:txBody>
      </p:sp>
      <p:sp>
        <p:nvSpPr>
          <p:cNvPr id="12" name="Text 6"/>
          <p:cNvSpPr/>
          <p:nvPr/>
        </p:nvSpPr>
        <p:spPr>
          <a:xfrm>
            <a:off x="5685711" y="4302443"/>
            <a:ext cx="3258979" cy="1777008"/>
          </a:xfrm>
          <a:prstGeom prst="rect">
            <a:avLst/>
          </a:prstGeom>
          <a:noFill/>
          <a:ln/>
        </p:spPr>
        <p:txBody>
          <a:bodyPr wrap="square" rtlCol="0" anchor="t"/>
          <a:lstStyle/>
          <a:p>
            <a:pPr marL="0" indent="0" algn="l">
              <a:lnSpc>
                <a:spcPts val="2799"/>
              </a:lnSpc>
              <a:buNone/>
            </a:pPr>
            <a:r>
              <a:rPr lang="en-US" sz="1750" dirty="0">
                <a:solidFill>
                  <a:srgbClr val="272525"/>
                </a:solidFill>
                <a:latin typeface="Montserrat" pitchFamily="34" charset="0"/>
                <a:ea typeface="Montserrat" pitchFamily="34" charset="-122"/>
                <a:cs typeface="Montserrat" pitchFamily="34" charset="-120"/>
              </a:rPr>
              <a:t>Translate each business rule into the appropriate constructs within the ERD, such as entity types, attributes, and relationships.</a:t>
            </a:r>
            <a:endParaRPr lang="en-US" sz="1750" dirty="0"/>
          </a:p>
        </p:txBody>
      </p:sp>
      <p:pic>
        <p:nvPicPr>
          <p:cNvPr id="13" name="Image 4" descr="preencoded.png"/>
          <p:cNvPicPr>
            <a:picLocks noChangeAspect="1"/>
          </p:cNvPicPr>
          <p:nvPr/>
        </p:nvPicPr>
        <p:blipFill>
          <a:blip r:embed="rId7"/>
          <a:stretch>
            <a:fillRect/>
          </a:stretch>
        </p:blipFill>
        <p:spPr>
          <a:xfrm>
            <a:off x="9166860" y="2600087"/>
            <a:ext cx="3703320" cy="888682"/>
          </a:xfrm>
          <a:prstGeom prst="rect">
            <a:avLst/>
          </a:prstGeom>
        </p:spPr>
      </p:pic>
      <p:sp>
        <p:nvSpPr>
          <p:cNvPr id="14" name="Text 7"/>
          <p:cNvSpPr/>
          <p:nvPr/>
        </p:nvSpPr>
        <p:spPr>
          <a:xfrm>
            <a:off x="9389031" y="3822025"/>
            <a:ext cx="2777490" cy="347186"/>
          </a:xfrm>
          <a:prstGeom prst="rect">
            <a:avLst/>
          </a:prstGeom>
          <a:noFill/>
          <a:ln/>
        </p:spPr>
        <p:txBody>
          <a:bodyPr wrap="none" rtlCol="0" anchor="t"/>
          <a:lstStyle/>
          <a:p>
            <a:pPr marL="0" indent="0" algn="l">
              <a:lnSpc>
                <a:spcPts val="2734"/>
              </a:lnSpc>
              <a:buNone/>
            </a:pPr>
            <a:r>
              <a:rPr lang="en-US" sz="2187" b="1" dirty="0">
                <a:solidFill>
                  <a:srgbClr val="396AF1"/>
                </a:solidFill>
                <a:latin typeface="Barlow" pitchFamily="34" charset="0"/>
                <a:ea typeface="Barlow" pitchFamily="34" charset="-122"/>
                <a:cs typeface="Barlow" pitchFamily="34" charset="-120"/>
              </a:rPr>
              <a:t>Validate and Refine</a:t>
            </a:r>
            <a:endParaRPr lang="en-US" sz="2187" dirty="0"/>
          </a:p>
        </p:txBody>
      </p:sp>
      <p:sp>
        <p:nvSpPr>
          <p:cNvPr id="15" name="Text 8"/>
          <p:cNvSpPr/>
          <p:nvPr/>
        </p:nvSpPr>
        <p:spPr>
          <a:xfrm>
            <a:off x="9389031" y="4302443"/>
            <a:ext cx="3258979" cy="2132409"/>
          </a:xfrm>
          <a:prstGeom prst="rect">
            <a:avLst/>
          </a:prstGeom>
          <a:noFill/>
          <a:ln/>
        </p:spPr>
        <p:txBody>
          <a:bodyPr wrap="square" rtlCol="0" anchor="t"/>
          <a:lstStyle/>
          <a:p>
            <a:pPr marL="0" indent="0" algn="l">
              <a:lnSpc>
                <a:spcPts val="2799"/>
              </a:lnSpc>
              <a:buNone/>
            </a:pPr>
            <a:r>
              <a:rPr lang="en-US" sz="1750" dirty="0">
                <a:solidFill>
                  <a:srgbClr val="272525"/>
                </a:solidFill>
                <a:latin typeface="Montserrat" pitchFamily="34" charset="0"/>
                <a:ea typeface="Montserrat" pitchFamily="34" charset="-122"/>
                <a:cs typeface="Montserrat" pitchFamily="34" charset="-120"/>
              </a:rPr>
              <a:t>Review the ERD to ensure all business rules are accurately represented, making adjustments as needed to align the model with the requirements.</a:t>
            </a:r>
            <a:endParaRPr lang="en-US" sz="1750" dirty="0"/>
          </a:p>
        </p:txBody>
      </p:sp>
      <p:pic>
        <p:nvPicPr>
          <p:cNvPr id="16" name="Image 5" descr="preencoded.png">
            <a:hlinkClick r:id="rId8"/>
          </p:cNvPr>
          <p:cNvPicPr>
            <a:picLocks noChangeAspect="1"/>
          </p:cNvPicPr>
          <p:nvPr/>
        </p:nvPicPr>
        <p:blipFill>
          <a:blip r:embed="rId9"/>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sp>
        <p:nvSpPr>
          <p:cNvPr id="4" name="Text 1"/>
          <p:cNvSpPr/>
          <p:nvPr/>
        </p:nvSpPr>
        <p:spPr>
          <a:xfrm>
            <a:off x="1760220" y="807482"/>
            <a:ext cx="11109960" cy="1388745"/>
          </a:xfrm>
          <a:prstGeom prst="rect">
            <a:avLst/>
          </a:prstGeom>
          <a:noFill/>
          <a:ln/>
        </p:spPr>
        <p:txBody>
          <a:bodyPr wrap="square" rtlCol="0" anchor="t"/>
          <a:lstStyle/>
          <a:p>
            <a:pPr marL="0" indent="0">
              <a:lnSpc>
                <a:spcPts val="5468"/>
              </a:lnSpc>
              <a:buNone/>
            </a:pPr>
            <a:r>
              <a:rPr lang="en-US" sz="4374" b="1" dirty="0">
                <a:solidFill>
                  <a:srgbClr val="396AF1"/>
                </a:solidFill>
                <a:latin typeface="Barlow" pitchFamily="34" charset="0"/>
                <a:ea typeface="Barlow" pitchFamily="34" charset="-122"/>
                <a:cs typeface="Barlow" pitchFamily="34" charset="-120"/>
              </a:rPr>
              <a:t>Differences and Complementary Nature of ERDs and Business Rules</a:t>
            </a:r>
            <a:endParaRPr lang="en-US" sz="4374" dirty="0"/>
          </a:p>
        </p:txBody>
      </p:sp>
      <p:sp>
        <p:nvSpPr>
          <p:cNvPr id="5" name="Text 2"/>
          <p:cNvSpPr/>
          <p:nvPr/>
        </p:nvSpPr>
        <p:spPr>
          <a:xfrm>
            <a:off x="1760220" y="2751653"/>
            <a:ext cx="2371011" cy="694373"/>
          </a:xfrm>
          <a:prstGeom prst="rect">
            <a:avLst/>
          </a:prstGeom>
          <a:noFill/>
          <a:ln/>
        </p:spPr>
        <p:txBody>
          <a:bodyPr wrap="square" rtlCol="0" anchor="t"/>
          <a:lstStyle/>
          <a:p>
            <a:pPr marL="0" indent="0">
              <a:lnSpc>
                <a:spcPts val="2734"/>
              </a:lnSpc>
              <a:buNone/>
            </a:pPr>
            <a:r>
              <a:rPr lang="en-US" sz="2187" b="1" dirty="0">
                <a:solidFill>
                  <a:srgbClr val="396AF1"/>
                </a:solidFill>
                <a:latin typeface="Barlow" pitchFamily="34" charset="0"/>
                <a:ea typeface="Barlow" pitchFamily="34" charset="-122"/>
                <a:cs typeface="Barlow" pitchFamily="34" charset="-120"/>
              </a:rPr>
              <a:t>Conceptual vs Logical</a:t>
            </a:r>
            <a:endParaRPr lang="en-US" sz="2187" dirty="0"/>
          </a:p>
        </p:txBody>
      </p:sp>
      <p:sp>
        <p:nvSpPr>
          <p:cNvPr id="6" name="Text 3"/>
          <p:cNvSpPr/>
          <p:nvPr/>
        </p:nvSpPr>
        <p:spPr>
          <a:xfrm>
            <a:off x="1760220" y="3668197"/>
            <a:ext cx="2371011" cy="3554016"/>
          </a:xfrm>
          <a:prstGeom prst="rect">
            <a:avLst/>
          </a:prstGeom>
          <a:noFill/>
          <a:ln/>
        </p:spPr>
        <p:txBody>
          <a:bodyPr wrap="square" rtlCol="0" anchor="t"/>
          <a:lstStyle/>
          <a:p>
            <a:pPr marL="0" indent="0">
              <a:lnSpc>
                <a:spcPts val="2799"/>
              </a:lnSpc>
              <a:buNone/>
            </a:pPr>
            <a:r>
              <a:rPr lang="en-US" sz="1750" dirty="0">
                <a:solidFill>
                  <a:srgbClr val="272525"/>
                </a:solidFill>
                <a:latin typeface="Montserrat" pitchFamily="34" charset="0"/>
                <a:ea typeface="Montserrat" pitchFamily="34" charset="-122"/>
                <a:cs typeface="Montserrat" pitchFamily="34" charset="-120"/>
              </a:rPr>
              <a:t>ERDs represent the conceptual data model, focusing on entities, attributes, and relationships. Business rules describe the logical constraints and validations on the data.</a:t>
            </a:r>
            <a:endParaRPr lang="en-US" sz="1750" dirty="0"/>
          </a:p>
        </p:txBody>
      </p:sp>
      <p:sp>
        <p:nvSpPr>
          <p:cNvPr id="7" name="Text 4"/>
          <p:cNvSpPr/>
          <p:nvPr/>
        </p:nvSpPr>
        <p:spPr>
          <a:xfrm>
            <a:off x="4680823" y="2751653"/>
            <a:ext cx="2371011" cy="347186"/>
          </a:xfrm>
          <a:prstGeom prst="rect">
            <a:avLst/>
          </a:prstGeom>
          <a:noFill/>
          <a:ln/>
        </p:spPr>
        <p:txBody>
          <a:bodyPr wrap="none" rtlCol="0" anchor="t"/>
          <a:lstStyle/>
          <a:p>
            <a:pPr marL="0" indent="0">
              <a:lnSpc>
                <a:spcPts val="2734"/>
              </a:lnSpc>
              <a:buNone/>
            </a:pPr>
            <a:r>
              <a:rPr lang="en-US" sz="2187" b="1" dirty="0">
                <a:solidFill>
                  <a:srgbClr val="396AF1"/>
                </a:solidFill>
                <a:latin typeface="Barlow" pitchFamily="34" charset="0"/>
                <a:ea typeface="Barlow" pitchFamily="34" charset="-122"/>
                <a:cs typeface="Barlow" pitchFamily="34" charset="-120"/>
              </a:rPr>
              <a:t>Scope and Focus</a:t>
            </a:r>
            <a:endParaRPr lang="en-US" sz="2187" dirty="0"/>
          </a:p>
        </p:txBody>
      </p:sp>
      <p:sp>
        <p:nvSpPr>
          <p:cNvPr id="8" name="Text 5"/>
          <p:cNvSpPr/>
          <p:nvPr/>
        </p:nvSpPr>
        <p:spPr>
          <a:xfrm>
            <a:off x="4680823" y="3321010"/>
            <a:ext cx="2371011" cy="2487811"/>
          </a:xfrm>
          <a:prstGeom prst="rect">
            <a:avLst/>
          </a:prstGeom>
          <a:noFill/>
          <a:ln/>
        </p:spPr>
        <p:txBody>
          <a:bodyPr wrap="square" rtlCol="0" anchor="t"/>
          <a:lstStyle/>
          <a:p>
            <a:pPr marL="0" indent="0">
              <a:lnSpc>
                <a:spcPts val="2799"/>
              </a:lnSpc>
              <a:buNone/>
            </a:pPr>
            <a:r>
              <a:rPr lang="en-US" sz="1750" dirty="0">
                <a:solidFill>
                  <a:srgbClr val="272525"/>
                </a:solidFill>
                <a:latin typeface="Montserrat" pitchFamily="34" charset="0"/>
                <a:ea typeface="Montserrat" pitchFamily="34" charset="-122"/>
                <a:cs typeface="Montserrat" pitchFamily="34" charset="-120"/>
              </a:rPr>
              <a:t>ERDs have a broader, holistic view of the entire database structure. Business rules address specific data-related policies and constraints.</a:t>
            </a:r>
            <a:endParaRPr lang="en-US" sz="1750" dirty="0"/>
          </a:p>
        </p:txBody>
      </p:sp>
      <p:sp>
        <p:nvSpPr>
          <p:cNvPr id="9" name="Text 6"/>
          <p:cNvSpPr/>
          <p:nvPr/>
        </p:nvSpPr>
        <p:spPr>
          <a:xfrm>
            <a:off x="7601426" y="2751653"/>
            <a:ext cx="2371011" cy="347186"/>
          </a:xfrm>
          <a:prstGeom prst="rect">
            <a:avLst/>
          </a:prstGeom>
          <a:noFill/>
          <a:ln/>
        </p:spPr>
        <p:txBody>
          <a:bodyPr wrap="none" rtlCol="0" anchor="t"/>
          <a:lstStyle/>
          <a:p>
            <a:pPr marL="0" indent="0">
              <a:lnSpc>
                <a:spcPts val="2734"/>
              </a:lnSpc>
              <a:buNone/>
            </a:pPr>
            <a:r>
              <a:rPr lang="en-US" sz="2187" b="1" dirty="0">
                <a:solidFill>
                  <a:srgbClr val="396AF1"/>
                </a:solidFill>
                <a:latin typeface="Barlow" pitchFamily="34" charset="0"/>
                <a:ea typeface="Barlow" pitchFamily="34" charset="-122"/>
                <a:cs typeface="Barlow" pitchFamily="34" charset="-120"/>
              </a:rPr>
              <a:t>Flexibility</a:t>
            </a:r>
            <a:endParaRPr lang="en-US" sz="2187" dirty="0"/>
          </a:p>
        </p:txBody>
      </p:sp>
      <p:sp>
        <p:nvSpPr>
          <p:cNvPr id="10" name="Text 7"/>
          <p:cNvSpPr/>
          <p:nvPr/>
        </p:nvSpPr>
        <p:spPr>
          <a:xfrm>
            <a:off x="7601426" y="3321010"/>
            <a:ext cx="2371011" cy="3198614"/>
          </a:xfrm>
          <a:prstGeom prst="rect">
            <a:avLst/>
          </a:prstGeom>
          <a:noFill/>
          <a:ln/>
        </p:spPr>
        <p:txBody>
          <a:bodyPr wrap="square" rtlCol="0" anchor="t"/>
          <a:lstStyle/>
          <a:p>
            <a:pPr marL="0" indent="0">
              <a:lnSpc>
                <a:spcPts val="2799"/>
              </a:lnSpc>
              <a:buNone/>
            </a:pPr>
            <a:r>
              <a:rPr lang="en-US" sz="1750" dirty="0">
                <a:solidFill>
                  <a:srgbClr val="272525"/>
                </a:solidFill>
                <a:latin typeface="Montserrat" pitchFamily="34" charset="0"/>
                <a:ea typeface="Montserrat" pitchFamily="34" charset="-122"/>
                <a:cs typeface="Montserrat" pitchFamily="34" charset="-120"/>
              </a:rPr>
              <a:t>ERDs are more static, representing the core data entities. Business rules can be more dynamic, adapting to changing organizational requirements.</a:t>
            </a:r>
            <a:endParaRPr lang="en-US" sz="1750" dirty="0"/>
          </a:p>
        </p:txBody>
      </p:sp>
      <p:sp>
        <p:nvSpPr>
          <p:cNvPr id="11" name="Text 8"/>
          <p:cNvSpPr/>
          <p:nvPr/>
        </p:nvSpPr>
        <p:spPr>
          <a:xfrm>
            <a:off x="10522029" y="2751653"/>
            <a:ext cx="2371011" cy="347186"/>
          </a:xfrm>
          <a:prstGeom prst="rect">
            <a:avLst/>
          </a:prstGeom>
          <a:noFill/>
          <a:ln/>
        </p:spPr>
        <p:txBody>
          <a:bodyPr wrap="none" rtlCol="0" anchor="t"/>
          <a:lstStyle/>
          <a:p>
            <a:pPr marL="0" indent="0">
              <a:lnSpc>
                <a:spcPts val="2734"/>
              </a:lnSpc>
              <a:buNone/>
            </a:pPr>
            <a:r>
              <a:rPr lang="en-US" sz="2187" b="1" dirty="0">
                <a:solidFill>
                  <a:srgbClr val="396AF1"/>
                </a:solidFill>
                <a:latin typeface="Barlow" pitchFamily="34" charset="0"/>
                <a:ea typeface="Barlow" pitchFamily="34" charset="-122"/>
                <a:cs typeface="Barlow" pitchFamily="34" charset="-120"/>
              </a:rPr>
              <a:t>Synergy</a:t>
            </a:r>
            <a:endParaRPr lang="en-US" sz="2187" dirty="0"/>
          </a:p>
        </p:txBody>
      </p:sp>
      <p:sp>
        <p:nvSpPr>
          <p:cNvPr id="12" name="Text 9"/>
          <p:cNvSpPr/>
          <p:nvPr/>
        </p:nvSpPr>
        <p:spPr>
          <a:xfrm>
            <a:off x="10522029" y="3321010"/>
            <a:ext cx="2371011" cy="3198614"/>
          </a:xfrm>
          <a:prstGeom prst="rect">
            <a:avLst/>
          </a:prstGeom>
          <a:noFill/>
          <a:ln/>
        </p:spPr>
        <p:txBody>
          <a:bodyPr wrap="square" rtlCol="0" anchor="t"/>
          <a:lstStyle/>
          <a:p>
            <a:pPr marL="0" indent="0">
              <a:lnSpc>
                <a:spcPts val="2799"/>
              </a:lnSpc>
              <a:buNone/>
            </a:pPr>
            <a:r>
              <a:rPr lang="en-US" sz="1750" dirty="0">
                <a:solidFill>
                  <a:srgbClr val="272525"/>
                </a:solidFill>
                <a:latin typeface="Montserrat" pitchFamily="34" charset="0"/>
                <a:ea typeface="Montserrat" pitchFamily="34" charset="-122"/>
                <a:cs typeface="Montserrat" pitchFamily="34" charset="-120"/>
              </a:rPr>
              <a:t>Together, ERDs and business rules provide a comprehensive data model that ensures data integrity, validity, and alignment with business needs.</a:t>
            </a:r>
            <a:endParaRPr lang="en-US" sz="1750" dirty="0"/>
          </a:p>
        </p:txBody>
      </p:sp>
      <p:pic>
        <p:nvPicPr>
          <p:cNvPr id="13" name="Image 1" descr="preencoded.png">
            <a:hlinkClick r:id="rId4"/>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sp>
        <p:nvSpPr>
          <p:cNvPr id="4" name="Text 1"/>
          <p:cNvSpPr/>
          <p:nvPr/>
        </p:nvSpPr>
        <p:spPr>
          <a:xfrm>
            <a:off x="2125385" y="570786"/>
            <a:ext cx="10379512" cy="1297305"/>
          </a:xfrm>
          <a:prstGeom prst="rect">
            <a:avLst/>
          </a:prstGeom>
          <a:noFill/>
          <a:ln/>
        </p:spPr>
        <p:txBody>
          <a:bodyPr wrap="square" rtlCol="0" anchor="t"/>
          <a:lstStyle/>
          <a:p>
            <a:pPr marL="0" indent="0">
              <a:lnSpc>
                <a:spcPts val="5108"/>
              </a:lnSpc>
              <a:buNone/>
            </a:pPr>
            <a:r>
              <a:rPr lang="en-US" sz="4086" b="1" dirty="0">
                <a:solidFill>
                  <a:srgbClr val="396AF1"/>
                </a:solidFill>
                <a:latin typeface="Barlow" pitchFamily="34" charset="0"/>
                <a:ea typeface="Barlow" pitchFamily="34" charset="-122"/>
                <a:cs typeface="Barlow" pitchFamily="34" charset="-120"/>
              </a:rPr>
              <a:t>Practical examples of ERDs and business rules</a:t>
            </a:r>
            <a:endParaRPr lang="en-US" sz="4086" dirty="0"/>
          </a:p>
        </p:txBody>
      </p:sp>
      <p:pic>
        <p:nvPicPr>
          <p:cNvPr id="5" name="Image 1" descr="preencoded.png"/>
          <p:cNvPicPr>
            <a:picLocks noChangeAspect="1"/>
          </p:cNvPicPr>
          <p:nvPr/>
        </p:nvPicPr>
        <p:blipFill>
          <a:blip r:embed="rId4"/>
          <a:stretch>
            <a:fillRect/>
          </a:stretch>
        </p:blipFill>
        <p:spPr>
          <a:xfrm>
            <a:off x="2125385" y="2283262"/>
            <a:ext cx="3252192" cy="2009894"/>
          </a:xfrm>
          <a:prstGeom prst="rect">
            <a:avLst/>
          </a:prstGeom>
        </p:spPr>
      </p:pic>
      <p:sp>
        <p:nvSpPr>
          <p:cNvPr id="6" name="Text 2"/>
          <p:cNvSpPr/>
          <p:nvPr/>
        </p:nvSpPr>
        <p:spPr>
          <a:xfrm>
            <a:off x="2125385" y="4552593"/>
            <a:ext cx="2642473" cy="324207"/>
          </a:xfrm>
          <a:prstGeom prst="rect">
            <a:avLst/>
          </a:prstGeom>
          <a:noFill/>
          <a:ln/>
        </p:spPr>
        <p:txBody>
          <a:bodyPr wrap="none" rtlCol="0" anchor="t"/>
          <a:lstStyle/>
          <a:p>
            <a:pPr marL="0" indent="0" algn="l">
              <a:lnSpc>
                <a:spcPts val="2554"/>
              </a:lnSpc>
              <a:buNone/>
            </a:pPr>
            <a:r>
              <a:rPr lang="en-US" sz="2043" b="1" dirty="0">
                <a:solidFill>
                  <a:srgbClr val="396AF1"/>
                </a:solidFill>
                <a:latin typeface="Barlow" pitchFamily="34" charset="0"/>
                <a:ea typeface="Barlow" pitchFamily="34" charset="-122"/>
                <a:cs typeface="Barlow" pitchFamily="34" charset="-120"/>
              </a:rPr>
              <a:t>ERD for an Online Store</a:t>
            </a:r>
            <a:endParaRPr lang="en-US" sz="2043" dirty="0"/>
          </a:p>
        </p:txBody>
      </p:sp>
      <p:sp>
        <p:nvSpPr>
          <p:cNvPr id="7" name="Text 3"/>
          <p:cNvSpPr/>
          <p:nvPr/>
        </p:nvSpPr>
        <p:spPr>
          <a:xfrm>
            <a:off x="2125385" y="5001339"/>
            <a:ext cx="3252192" cy="2657475"/>
          </a:xfrm>
          <a:prstGeom prst="rect">
            <a:avLst/>
          </a:prstGeom>
          <a:noFill/>
          <a:ln/>
        </p:spPr>
        <p:txBody>
          <a:bodyPr wrap="square" rtlCol="0" anchor="t"/>
          <a:lstStyle/>
          <a:p>
            <a:pPr marL="0" indent="0" algn="l">
              <a:lnSpc>
                <a:spcPts val="2615"/>
              </a:lnSpc>
              <a:buNone/>
            </a:pPr>
            <a:r>
              <a:rPr lang="en-US" sz="1635" dirty="0">
                <a:solidFill>
                  <a:srgbClr val="272525"/>
                </a:solidFill>
                <a:latin typeface="Montserrat" pitchFamily="34" charset="0"/>
                <a:ea typeface="Montserrat" pitchFamily="34" charset="-122"/>
                <a:cs typeface="Montserrat" pitchFamily="34" charset="-120"/>
              </a:rPr>
              <a:t>This ERD illustrates the key entities involved in an e-commerce website, such as customers, orders, and products, and how they interrelate. It provides a blueprint for the database design.</a:t>
            </a:r>
            <a:endParaRPr lang="en-US" sz="1635" dirty="0"/>
          </a:p>
        </p:txBody>
      </p:sp>
      <p:pic>
        <p:nvPicPr>
          <p:cNvPr id="8" name="Image 2" descr="preencoded.png"/>
          <p:cNvPicPr>
            <a:picLocks noChangeAspect="1"/>
          </p:cNvPicPr>
          <p:nvPr/>
        </p:nvPicPr>
        <p:blipFill>
          <a:blip r:embed="rId5"/>
          <a:stretch>
            <a:fillRect/>
          </a:stretch>
        </p:blipFill>
        <p:spPr>
          <a:xfrm>
            <a:off x="5688925" y="2283262"/>
            <a:ext cx="3252311" cy="2010013"/>
          </a:xfrm>
          <a:prstGeom prst="rect">
            <a:avLst/>
          </a:prstGeom>
        </p:spPr>
      </p:pic>
      <p:sp>
        <p:nvSpPr>
          <p:cNvPr id="9" name="Text 4"/>
          <p:cNvSpPr/>
          <p:nvPr/>
        </p:nvSpPr>
        <p:spPr>
          <a:xfrm>
            <a:off x="5688925" y="4552712"/>
            <a:ext cx="3252311" cy="648414"/>
          </a:xfrm>
          <a:prstGeom prst="rect">
            <a:avLst/>
          </a:prstGeom>
          <a:noFill/>
          <a:ln/>
        </p:spPr>
        <p:txBody>
          <a:bodyPr wrap="square" rtlCol="0" anchor="t"/>
          <a:lstStyle/>
          <a:p>
            <a:pPr marL="0" indent="0" algn="l">
              <a:lnSpc>
                <a:spcPts val="2554"/>
              </a:lnSpc>
              <a:buNone/>
            </a:pPr>
            <a:r>
              <a:rPr lang="en-US" sz="2043" b="1" dirty="0">
                <a:solidFill>
                  <a:srgbClr val="396AF1"/>
                </a:solidFill>
                <a:latin typeface="Barlow" pitchFamily="34" charset="0"/>
                <a:ea typeface="Barlow" pitchFamily="34" charset="-122"/>
                <a:cs typeface="Barlow" pitchFamily="34" charset="-120"/>
              </a:rPr>
              <a:t>Business Rules for HR System</a:t>
            </a:r>
            <a:endParaRPr lang="en-US" sz="2043" dirty="0"/>
          </a:p>
        </p:txBody>
      </p:sp>
      <p:sp>
        <p:nvSpPr>
          <p:cNvPr id="10" name="Text 5"/>
          <p:cNvSpPr/>
          <p:nvPr/>
        </p:nvSpPr>
        <p:spPr>
          <a:xfrm>
            <a:off x="5688925" y="5325666"/>
            <a:ext cx="3252311" cy="2325291"/>
          </a:xfrm>
          <a:prstGeom prst="rect">
            <a:avLst/>
          </a:prstGeom>
          <a:noFill/>
          <a:ln/>
        </p:spPr>
        <p:txBody>
          <a:bodyPr wrap="square" rtlCol="0" anchor="t"/>
          <a:lstStyle/>
          <a:p>
            <a:pPr marL="0" indent="0" algn="l">
              <a:lnSpc>
                <a:spcPts val="2615"/>
              </a:lnSpc>
              <a:buNone/>
            </a:pPr>
            <a:r>
              <a:rPr lang="en-US" sz="1635" dirty="0">
                <a:solidFill>
                  <a:srgbClr val="272525"/>
                </a:solidFill>
                <a:latin typeface="Montserrat" pitchFamily="34" charset="0"/>
                <a:ea typeface="Montserrat" pitchFamily="34" charset="-122"/>
                <a:cs typeface="Montserrat" pitchFamily="34" charset="-120"/>
              </a:rPr>
              <a:t>The business rules document outlines critical policies and constraints for an HR management system, covering areas like employee data, leave management, and organizational hierarchy.</a:t>
            </a:r>
            <a:endParaRPr lang="en-US" sz="1635" dirty="0"/>
          </a:p>
        </p:txBody>
      </p:sp>
      <p:pic>
        <p:nvPicPr>
          <p:cNvPr id="11" name="Image 3" descr="preencoded.png"/>
          <p:cNvPicPr>
            <a:picLocks noChangeAspect="1"/>
          </p:cNvPicPr>
          <p:nvPr/>
        </p:nvPicPr>
        <p:blipFill>
          <a:blip r:embed="rId6"/>
          <a:stretch>
            <a:fillRect/>
          </a:stretch>
        </p:blipFill>
        <p:spPr>
          <a:xfrm>
            <a:off x="9252585" y="2283262"/>
            <a:ext cx="3252311" cy="2010013"/>
          </a:xfrm>
          <a:prstGeom prst="rect">
            <a:avLst/>
          </a:prstGeom>
        </p:spPr>
      </p:pic>
      <p:sp>
        <p:nvSpPr>
          <p:cNvPr id="12" name="Text 6"/>
          <p:cNvSpPr/>
          <p:nvPr/>
        </p:nvSpPr>
        <p:spPr>
          <a:xfrm>
            <a:off x="9252585" y="4552712"/>
            <a:ext cx="3252311" cy="648414"/>
          </a:xfrm>
          <a:prstGeom prst="rect">
            <a:avLst/>
          </a:prstGeom>
          <a:noFill/>
          <a:ln/>
        </p:spPr>
        <p:txBody>
          <a:bodyPr wrap="square" rtlCol="0" anchor="t"/>
          <a:lstStyle/>
          <a:p>
            <a:pPr marL="0" indent="0" algn="l">
              <a:lnSpc>
                <a:spcPts val="2554"/>
              </a:lnSpc>
              <a:buNone/>
            </a:pPr>
            <a:r>
              <a:rPr lang="en-US" sz="2043" b="1" dirty="0">
                <a:solidFill>
                  <a:srgbClr val="396AF1"/>
                </a:solidFill>
                <a:latin typeface="Barlow" pitchFamily="34" charset="0"/>
                <a:ea typeface="Barlow" pitchFamily="34" charset="-122"/>
                <a:cs typeface="Barlow" pitchFamily="34" charset="-120"/>
              </a:rPr>
              <a:t>ERD and Business Rules in Sync</a:t>
            </a:r>
            <a:endParaRPr lang="en-US" sz="2043" dirty="0"/>
          </a:p>
        </p:txBody>
      </p:sp>
      <p:sp>
        <p:nvSpPr>
          <p:cNvPr id="13" name="Text 7"/>
          <p:cNvSpPr/>
          <p:nvPr/>
        </p:nvSpPr>
        <p:spPr>
          <a:xfrm>
            <a:off x="9252585" y="5325666"/>
            <a:ext cx="3252311" cy="2325291"/>
          </a:xfrm>
          <a:prstGeom prst="rect">
            <a:avLst/>
          </a:prstGeom>
          <a:noFill/>
          <a:ln/>
        </p:spPr>
        <p:txBody>
          <a:bodyPr wrap="square" rtlCol="0" anchor="t"/>
          <a:lstStyle/>
          <a:p>
            <a:pPr marL="0" indent="0" algn="l">
              <a:lnSpc>
                <a:spcPts val="2615"/>
              </a:lnSpc>
              <a:buNone/>
            </a:pPr>
            <a:r>
              <a:rPr lang="en-US" sz="1635" dirty="0">
                <a:solidFill>
                  <a:srgbClr val="272525"/>
                </a:solidFill>
                <a:latin typeface="Montserrat" pitchFamily="34" charset="0"/>
                <a:ea typeface="Montserrat" pitchFamily="34" charset="-122"/>
                <a:cs typeface="Montserrat" pitchFamily="34" charset="-120"/>
              </a:rPr>
              <a:t>This combined diagram demonstrates how an ERD and documented business rules work hand-in-hand to capture the complete data model and operational requirements for a course registration system.</a:t>
            </a:r>
            <a:endParaRPr lang="en-US" sz="1635" dirty="0"/>
          </a:p>
        </p:txBody>
      </p:sp>
      <p:pic>
        <p:nvPicPr>
          <p:cNvPr id="14" name="Image 4" descr="preencoded.png">
            <a:hlinkClick r:id="rId7"/>
          </p:cNvPr>
          <p:cNvPicPr>
            <a:picLocks noChangeAspect="1"/>
          </p:cNvPicPr>
          <p:nvPr/>
        </p:nvPicPr>
        <p:blipFill>
          <a:blip r:embed="rId8"/>
          <a:stretch>
            <a:fillRect/>
          </a:stretch>
        </p:blipFill>
        <p:spPr>
          <a:xfrm>
            <a:off x="12242153" y="7589520"/>
            <a:ext cx="2296807"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p:cNvPicPr>
            <a:picLocks noChangeAspect="1"/>
          </p:cNvPicPr>
          <p:nvPr/>
        </p:nvPicPr>
        <p:blipFill>
          <a:blip r:embed="rId4"/>
          <a:stretch>
            <a:fillRect/>
          </a:stretch>
        </p:blipFill>
        <p:spPr>
          <a:xfrm>
            <a:off x="0" y="0"/>
            <a:ext cx="3657600" cy="8229600"/>
          </a:xfrm>
          <a:prstGeom prst="rect">
            <a:avLst/>
          </a:prstGeom>
        </p:spPr>
      </p:pic>
      <p:sp>
        <p:nvSpPr>
          <p:cNvPr id="5" name="Text 1"/>
          <p:cNvSpPr/>
          <p:nvPr/>
        </p:nvSpPr>
        <p:spPr>
          <a:xfrm>
            <a:off x="4389715" y="538639"/>
            <a:ext cx="9508569" cy="1220391"/>
          </a:xfrm>
          <a:prstGeom prst="rect">
            <a:avLst/>
          </a:prstGeom>
          <a:noFill/>
          <a:ln/>
        </p:spPr>
        <p:txBody>
          <a:bodyPr wrap="square" rtlCol="0" anchor="t"/>
          <a:lstStyle/>
          <a:p>
            <a:pPr marL="0" indent="0">
              <a:lnSpc>
                <a:spcPts val="4805"/>
              </a:lnSpc>
              <a:buNone/>
            </a:pPr>
            <a:r>
              <a:rPr lang="en-US" sz="3844" b="1" dirty="0">
                <a:solidFill>
                  <a:srgbClr val="396AF1"/>
                </a:solidFill>
                <a:latin typeface="Barlow" pitchFamily="34" charset="0"/>
                <a:ea typeface="Barlow" pitchFamily="34" charset="-122"/>
                <a:cs typeface="Barlow" pitchFamily="34" charset="-120"/>
              </a:rPr>
              <a:t>Conclusion and Best Practices for Effective Data Modeling</a:t>
            </a:r>
            <a:endParaRPr lang="en-US" sz="3844" dirty="0"/>
          </a:p>
        </p:txBody>
      </p:sp>
      <p:sp>
        <p:nvSpPr>
          <p:cNvPr id="6" name="Shape 2"/>
          <p:cNvSpPr/>
          <p:nvPr/>
        </p:nvSpPr>
        <p:spPr>
          <a:xfrm>
            <a:off x="4638675" y="2051804"/>
            <a:ext cx="87749" cy="5639157"/>
          </a:xfrm>
          <a:prstGeom prst="roundRect">
            <a:avLst>
              <a:gd name="adj" fmla="val 133513"/>
            </a:avLst>
          </a:prstGeom>
          <a:solidFill>
            <a:srgbClr val="EEEFF5"/>
          </a:solidFill>
          <a:ln/>
        </p:spPr>
      </p:sp>
      <p:sp>
        <p:nvSpPr>
          <p:cNvPr id="7" name="Shape 3"/>
          <p:cNvSpPr/>
          <p:nvPr/>
        </p:nvSpPr>
        <p:spPr>
          <a:xfrm>
            <a:off x="4902101" y="2380000"/>
            <a:ext cx="683300" cy="87749"/>
          </a:xfrm>
          <a:prstGeom prst="roundRect">
            <a:avLst>
              <a:gd name="adj" fmla="val 133513"/>
            </a:avLst>
          </a:prstGeom>
          <a:solidFill>
            <a:srgbClr val="EEEFF5"/>
          </a:solidFill>
          <a:ln/>
        </p:spPr>
      </p:sp>
      <p:sp>
        <p:nvSpPr>
          <p:cNvPr id="8" name="Shape 4"/>
          <p:cNvSpPr/>
          <p:nvPr/>
        </p:nvSpPr>
        <p:spPr>
          <a:xfrm>
            <a:off x="4462879" y="2204323"/>
            <a:ext cx="439222" cy="439222"/>
          </a:xfrm>
          <a:prstGeom prst="roundRect">
            <a:avLst>
              <a:gd name="adj" fmla="val 26674"/>
            </a:avLst>
          </a:prstGeom>
          <a:solidFill>
            <a:srgbClr val="EEEFF5"/>
          </a:solidFill>
          <a:ln/>
        </p:spPr>
      </p:sp>
      <p:sp>
        <p:nvSpPr>
          <p:cNvPr id="9" name="Text 5"/>
          <p:cNvSpPr/>
          <p:nvPr/>
        </p:nvSpPr>
        <p:spPr>
          <a:xfrm>
            <a:off x="4630638" y="2240875"/>
            <a:ext cx="103703" cy="366117"/>
          </a:xfrm>
          <a:prstGeom prst="rect">
            <a:avLst/>
          </a:prstGeom>
          <a:noFill/>
          <a:ln/>
        </p:spPr>
        <p:txBody>
          <a:bodyPr wrap="none" rtlCol="0" anchor="t"/>
          <a:lstStyle/>
          <a:p>
            <a:pPr marL="0" indent="0" algn="ctr">
              <a:lnSpc>
                <a:spcPts val="2883"/>
              </a:lnSpc>
              <a:buNone/>
            </a:pPr>
            <a:r>
              <a:rPr lang="en-US" sz="2306" b="1" dirty="0">
                <a:solidFill>
                  <a:srgbClr val="396AF1"/>
                </a:solidFill>
                <a:latin typeface="Barlow" pitchFamily="34" charset="0"/>
                <a:ea typeface="Barlow" pitchFamily="34" charset="-122"/>
                <a:cs typeface="Barlow" pitchFamily="34" charset="-120"/>
              </a:rPr>
              <a:t>1</a:t>
            </a:r>
            <a:endParaRPr lang="en-US" sz="2306" dirty="0"/>
          </a:p>
        </p:txBody>
      </p:sp>
      <p:sp>
        <p:nvSpPr>
          <p:cNvPr id="10" name="Text 6"/>
          <p:cNvSpPr/>
          <p:nvPr/>
        </p:nvSpPr>
        <p:spPr>
          <a:xfrm>
            <a:off x="5756315" y="2246948"/>
            <a:ext cx="2440662" cy="305038"/>
          </a:xfrm>
          <a:prstGeom prst="rect">
            <a:avLst/>
          </a:prstGeom>
          <a:noFill/>
          <a:ln/>
        </p:spPr>
        <p:txBody>
          <a:bodyPr wrap="none" rtlCol="0" anchor="t"/>
          <a:lstStyle/>
          <a:p>
            <a:pPr marL="0" indent="0" algn="l">
              <a:lnSpc>
                <a:spcPts val="2402"/>
              </a:lnSpc>
              <a:buNone/>
            </a:pPr>
            <a:r>
              <a:rPr lang="en-US" sz="1922" b="1" dirty="0">
                <a:solidFill>
                  <a:srgbClr val="396AF1"/>
                </a:solidFill>
                <a:latin typeface="Barlow" pitchFamily="34" charset="0"/>
                <a:ea typeface="Barlow" pitchFamily="34" charset="-122"/>
                <a:cs typeface="Barlow" pitchFamily="34" charset="-120"/>
              </a:rPr>
              <a:t>Iterative Process</a:t>
            </a:r>
            <a:endParaRPr lang="en-US" sz="1922" dirty="0"/>
          </a:p>
        </p:txBody>
      </p:sp>
      <p:sp>
        <p:nvSpPr>
          <p:cNvPr id="11" name="Text 7"/>
          <p:cNvSpPr/>
          <p:nvPr/>
        </p:nvSpPr>
        <p:spPr>
          <a:xfrm>
            <a:off x="5756315" y="2669024"/>
            <a:ext cx="8141970" cy="937260"/>
          </a:xfrm>
          <a:prstGeom prst="rect">
            <a:avLst/>
          </a:prstGeom>
          <a:noFill/>
          <a:ln/>
        </p:spPr>
        <p:txBody>
          <a:bodyPr wrap="square" rtlCol="0" anchor="t"/>
          <a:lstStyle/>
          <a:p>
            <a:pPr marL="0" indent="0" algn="l">
              <a:lnSpc>
                <a:spcPts val="2460"/>
              </a:lnSpc>
              <a:buNone/>
            </a:pPr>
            <a:r>
              <a:rPr lang="en-US" sz="1537" dirty="0">
                <a:solidFill>
                  <a:srgbClr val="272525"/>
                </a:solidFill>
                <a:latin typeface="Montserrat" pitchFamily="34" charset="0"/>
                <a:ea typeface="Montserrat" pitchFamily="34" charset="-122"/>
                <a:cs typeface="Montserrat" pitchFamily="34" charset="-120"/>
              </a:rPr>
              <a:t>Data modeling is an iterative process, requiring regular review and refinement as business requirements evolve. Adaptability is key to ensuring the model remains relevant and effective.</a:t>
            </a:r>
            <a:endParaRPr lang="en-US" sz="1537" dirty="0"/>
          </a:p>
        </p:txBody>
      </p:sp>
      <p:sp>
        <p:nvSpPr>
          <p:cNvPr id="12" name="Shape 8"/>
          <p:cNvSpPr/>
          <p:nvPr/>
        </p:nvSpPr>
        <p:spPr>
          <a:xfrm>
            <a:off x="4902101" y="4324767"/>
            <a:ext cx="683300" cy="87749"/>
          </a:xfrm>
          <a:prstGeom prst="roundRect">
            <a:avLst>
              <a:gd name="adj" fmla="val 133513"/>
            </a:avLst>
          </a:prstGeom>
          <a:solidFill>
            <a:srgbClr val="EEEFF5"/>
          </a:solidFill>
          <a:ln/>
        </p:spPr>
      </p:sp>
      <p:sp>
        <p:nvSpPr>
          <p:cNvPr id="13" name="Shape 9"/>
          <p:cNvSpPr/>
          <p:nvPr/>
        </p:nvSpPr>
        <p:spPr>
          <a:xfrm>
            <a:off x="4462879" y="4149090"/>
            <a:ext cx="439222" cy="439222"/>
          </a:xfrm>
          <a:prstGeom prst="roundRect">
            <a:avLst>
              <a:gd name="adj" fmla="val 26674"/>
            </a:avLst>
          </a:prstGeom>
          <a:solidFill>
            <a:srgbClr val="EEEFF5"/>
          </a:solidFill>
          <a:ln/>
        </p:spPr>
      </p:sp>
      <p:sp>
        <p:nvSpPr>
          <p:cNvPr id="14" name="Text 10"/>
          <p:cNvSpPr/>
          <p:nvPr/>
        </p:nvSpPr>
        <p:spPr>
          <a:xfrm>
            <a:off x="4600396" y="4185642"/>
            <a:ext cx="164068" cy="366117"/>
          </a:xfrm>
          <a:prstGeom prst="rect">
            <a:avLst/>
          </a:prstGeom>
          <a:noFill/>
          <a:ln/>
        </p:spPr>
        <p:txBody>
          <a:bodyPr wrap="none" rtlCol="0" anchor="t"/>
          <a:lstStyle/>
          <a:p>
            <a:pPr marL="0" indent="0" algn="ctr">
              <a:lnSpc>
                <a:spcPts val="2883"/>
              </a:lnSpc>
              <a:buNone/>
            </a:pPr>
            <a:r>
              <a:rPr lang="en-US" sz="2306" b="1" dirty="0">
                <a:solidFill>
                  <a:srgbClr val="396AF1"/>
                </a:solidFill>
                <a:latin typeface="Barlow" pitchFamily="34" charset="0"/>
                <a:ea typeface="Barlow" pitchFamily="34" charset="-122"/>
                <a:cs typeface="Barlow" pitchFamily="34" charset="-120"/>
              </a:rPr>
              <a:t>2</a:t>
            </a:r>
            <a:endParaRPr lang="en-US" sz="2306" dirty="0"/>
          </a:p>
        </p:txBody>
      </p:sp>
      <p:sp>
        <p:nvSpPr>
          <p:cNvPr id="15" name="Text 11"/>
          <p:cNvSpPr/>
          <p:nvPr/>
        </p:nvSpPr>
        <p:spPr>
          <a:xfrm>
            <a:off x="5756315" y="4191714"/>
            <a:ext cx="3418403" cy="305038"/>
          </a:xfrm>
          <a:prstGeom prst="rect">
            <a:avLst/>
          </a:prstGeom>
          <a:noFill/>
          <a:ln/>
        </p:spPr>
        <p:txBody>
          <a:bodyPr wrap="none" rtlCol="0" anchor="t"/>
          <a:lstStyle/>
          <a:p>
            <a:pPr marL="0" indent="0" algn="l">
              <a:lnSpc>
                <a:spcPts val="2402"/>
              </a:lnSpc>
              <a:buNone/>
            </a:pPr>
            <a:r>
              <a:rPr lang="en-US" sz="1922" b="1" dirty="0">
                <a:solidFill>
                  <a:srgbClr val="396AF1"/>
                </a:solidFill>
                <a:latin typeface="Barlow" pitchFamily="34" charset="0"/>
                <a:ea typeface="Barlow" pitchFamily="34" charset="-122"/>
                <a:cs typeface="Barlow" pitchFamily="34" charset="-120"/>
              </a:rPr>
              <a:t>Collaboration &amp; Communication</a:t>
            </a:r>
            <a:endParaRPr lang="en-US" sz="1922" dirty="0"/>
          </a:p>
        </p:txBody>
      </p:sp>
      <p:sp>
        <p:nvSpPr>
          <p:cNvPr id="16" name="Text 12"/>
          <p:cNvSpPr/>
          <p:nvPr/>
        </p:nvSpPr>
        <p:spPr>
          <a:xfrm>
            <a:off x="5756315" y="4613791"/>
            <a:ext cx="8141970" cy="937260"/>
          </a:xfrm>
          <a:prstGeom prst="rect">
            <a:avLst/>
          </a:prstGeom>
          <a:noFill/>
          <a:ln/>
        </p:spPr>
        <p:txBody>
          <a:bodyPr wrap="square" rtlCol="0" anchor="t"/>
          <a:lstStyle/>
          <a:p>
            <a:pPr marL="0" indent="0" algn="l">
              <a:lnSpc>
                <a:spcPts val="2460"/>
              </a:lnSpc>
              <a:buNone/>
            </a:pPr>
            <a:r>
              <a:rPr lang="en-US" sz="1537" dirty="0">
                <a:solidFill>
                  <a:srgbClr val="272525"/>
                </a:solidFill>
                <a:latin typeface="Montserrat" pitchFamily="34" charset="0"/>
                <a:ea typeface="Montserrat" pitchFamily="34" charset="-122"/>
                <a:cs typeface="Montserrat" pitchFamily="34" charset="-120"/>
              </a:rPr>
              <a:t>Effective data modeling relies on close collaboration between IT professionals and subject matter experts. Clear communication and a shared understanding of business needs are essential.</a:t>
            </a:r>
            <a:endParaRPr lang="en-US" sz="1537" dirty="0"/>
          </a:p>
        </p:txBody>
      </p:sp>
      <p:sp>
        <p:nvSpPr>
          <p:cNvPr id="17" name="Shape 13"/>
          <p:cNvSpPr/>
          <p:nvPr/>
        </p:nvSpPr>
        <p:spPr>
          <a:xfrm>
            <a:off x="4902101" y="6269534"/>
            <a:ext cx="683300" cy="87749"/>
          </a:xfrm>
          <a:prstGeom prst="roundRect">
            <a:avLst>
              <a:gd name="adj" fmla="val 133513"/>
            </a:avLst>
          </a:prstGeom>
          <a:solidFill>
            <a:srgbClr val="EEEFF5"/>
          </a:solidFill>
          <a:ln/>
        </p:spPr>
      </p:sp>
      <p:sp>
        <p:nvSpPr>
          <p:cNvPr id="18" name="Shape 14"/>
          <p:cNvSpPr/>
          <p:nvPr/>
        </p:nvSpPr>
        <p:spPr>
          <a:xfrm>
            <a:off x="4462879" y="6093857"/>
            <a:ext cx="439222" cy="439222"/>
          </a:xfrm>
          <a:prstGeom prst="roundRect">
            <a:avLst>
              <a:gd name="adj" fmla="val 26674"/>
            </a:avLst>
          </a:prstGeom>
          <a:solidFill>
            <a:srgbClr val="EEEFF5"/>
          </a:solidFill>
          <a:ln/>
        </p:spPr>
      </p:sp>
      <p:sp>
        <p:nvSpPr>
          <p:cNvPr id="19" name="Text 15"/>
          <p:cNvSpPr/>
          <p:nvPr/>
        </p:nvSpPr>
        <p:spPr>
          <a:xfrm>
            <a:off x="4603373" y="6130409"/>
            <a:ext cx="158115" cy="366117"/>
          </a:xfrm>
          <a:prstGeom prst="rect">
            <a:avLst/>
          </a:prstGeom>
          <a:noFill/>
          <a:ln/>
        </p:spPr>
        <p:txBody>
          <a:bodyPr wrap="none" rtlCol="0" anchor="t"/>
          <a:lstStyle/>
          <a:p>
            <a:pPr marL="0" indent="0" algn="ctr">
              <a:lnSpc>
                <a:spcPts val="2883"/>
              </a:lnSpc>
              <a:buNone/>
            </a:pPr>
            <a:r>
              <a:rPr lang="en-US" sz="2306" b="1" dirty="0">
                <a:solidFill>
                  <a:srgbClr val="396AF1"/>
                </a:solidFill>
                <a:latin typeface="Barlow" pitchFamily="34" charset="0"/>
                <a:ea typeface="Barlow" pitchFamily="34" charset="-122"/>
                <a:cs typeface="Barlow" pitchFamily="34" charset="-120"/>
              </a:rPr>
              <a:t>3</a:t>
            </a:r>
            <a:endParaRPr lang="en-US" sz="2306" dirty="0"/>
          </a:p>
        </p:txBody>
      </p:sp>
      <p:sp>
        <p:nvSpPr>
          <p:cNvPr id="20" name="Text 16"/>
          <p:cNvSpPr/>
          <p:nvPr/>
        </p:nvSpPr>
        <p:spPr>
          <a:xfrm>
            <a:off x="5756315" y="6136481"/>
            <a:ext cx="2440662" cy="305038"/>
          </a:xfrm>
          <a:prstGeom prst="rect">
            <a:avLst/>
          </a:prstGeom>
          <a:noFill/>
          <a:ln/>
        </p:spPr>
        <p:txBody>
          <a:bodyPr wrap="none" rtlCol="0" anchor="t"/>
          <a:lstStyle/>
          <a:p>
            <a:pPr marL="0" indent="0" algn="l">
              <a:lnSpc>
                <a:spcPts val="2402"/>
              </a:lnSpc>
              <a:buNone/>
            </a:pPr>
            <a:r>
              <a:rPr lang="en-US" sz="1922" b="1" dirty="0">
                <a:solidFill>
                  <a:srgbClr val="396AF1"/>
                </a:solidFill>
                <a:latin typeface="Barlow" pitchFamily="34" charset="0"/>
                <a:ea typeface="Barlow" pitchFamily="34" charset="-122"/>
                <a:cs typeface="Barlow" pitchFamily="34" charset="-120"/>
              </a:rPr>
              <a:t>Validation &amp; Testing</a:t>
            </a:r>
            <a:endParaRPr lang="en-US" sz="1922" dirty="0"/>
          </a:p>
        </p:txBody>
      </p:sp>
      <p:sp>
        <p:nvSpPr>
          <p:cNvPr id="21" name="Text 17"/>
          <p:cNvSpPr/>
          <p:nvPr/>
        </p:nvSpPr>
        <p:spPr>
          <a:xfrm>
            <a:off x="5756315" y="6558558"/>
            <a:ext cx="8141970" cy="937260"/>
          </a:xfrm>
          <a:prstGeom prst="rect">
            <a:avLst/>
          </a:prstGeom>
          <a:noFill/>
          <a:ln/>
        </p:spPr>
        <p:txBody>
          <a:bodyPr wrap="square" rtlCol="0" anchor="t"/>
          <a:lstStyle/>
          <a:p>
            <a:pPr marL="0" indent="0" algn="l">
              <a:lnSpc>
                <a:spcPts val="2460"/>
              </a:lnSpc>
              <a:buNone/>
            </a:pPr>
            <a:r>
              <a:rPr lang="en-US" sz="1537" dirty="0">
                <a:solidFill>
                  <a:srgbClr val="272525"/>
                </a:solidFill>
                <a:latin typeface="Montserrat" pitchFamily="34" charset="0"/>
                <a:ea typeface="Montserrat" pitchFamily="34" charset="-122"/>
                <a:cs typeface="Montserrat" pitchFamily="34" charset="-120"/>
              </a:rPr>
              <a:t>Regularly validate the data model against real-world data and test its ability to support desired functionality. This helps ensure the model accurately reflects the business and its needs.</a:t>
            </a:r>
            <a:endParaRPr lang="en-US" sz="1537" dirty="0"/>
          </a:p>
        </p:txBody>
      </p:sp>
      <p:pic>
        <p:nvPicPr>
          <p:cNvPr id="22" name="Image 2" descr="preencoded.png">
            <a:hlinkClick r:id="rId5"/>
          </p:cNvPr>
          <p:cNvPicPr>
            <a:picLocks noChangeAspect="1"/>
          </p:cNvPicPr>
          <p:nvPr/>
        </p:nvPicPr>
        <p:blipFill>
          <a:blip r:embed="rId6"/>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1003</Words>
  <Application>Microsoft Office PowerPoint</Application>
  <PresentationFormat>Custom</PresentationFormat>
  <Paragraphs>80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Barlow</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ayesha jarral</cp:lastModifiedBy>
  <cp:revision>2</cp:revision>
  <dcterms:created xsi:type="dcterms:W3CDTF">2024-04-16T08:55:03Z</dcterms:created>
  <dcterms:modified xsi:type="dcterms:W3CDTF">2024-04-16T09:41:04Z</dcterms:modified>
</cp:coreProperties>
</file>