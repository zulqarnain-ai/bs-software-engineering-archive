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429" r:id="rId2"/>
    <p:sldId id="430" r:id="rId3"/>
    <p:sldId id="431" r:id="rId4"/>
    <p:sldId id="432" r:id="rId5"/>
    <p:sldId id="480" r:id="rId6"/>
    <p:sldId id="482" r:id="rId7"/>
    <p:sldId id="485" r:id="rId8"/>
    <p:sldId id="479" r:id="rId9"/>
    <p:sldId id="477" r:id="rId10"/>
    <p:sldId id="483" r:id="rId11"/>
    <p:sldId id="484" r:id="rId12"/>
    <p:sldId id="435" r:id="rId13"/>
    <p:sldId id="439" r:id="rId14"/>
    <p:sldId id="440" r:id="rId15"/>
    <p:sldId id="441" r:id="rId16"/>
    <p:sldId id="442" r:id="rId17"/>
    <p:sldId id="443" r:id="rId18"/>
    <p:sldId id="444" r:id="rId19"/>
    <p:sldId id="445" r:id="rId20"/>
    <p:sldId id="446" r:id="rId21"/>
    <p:sldId id="447" r:id="rId22"/>
    <p:sldId id="451" r:id="rId23"/>
    <p:sldId id="452" r:id="rId24"/>
    <p:sldId id="453" r:id="rId25"/>
    <p:sldId id="454" r:id="rId26"/>
    <p:sldId id="455" r:id="rId27"/>
    <p:sldId id="456" r:id="rId28"/>
    <p:sldId id="459" r:id="rId29"/>
    <p:sldId id="462" r:id="rId30"/>
    <p:sldId id="460" r:id="rId31"/>
    <p:sldId id="475" r:id="rId32"/>
    <p:sldId id="466" r:id="rId33"/>
    <p:sldId id="296" r:id="rId3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6" autoAdjust="0"/>
    <p:restoredTop sz="85996" autoAdjust="0"/>
  </p:normalViewPr>
  <p:slideViewPr>
    <p:cSldViewPr>
      <p:cViewPr varScale="1">
        <p:scale>
          <a:sx n="56" d="100"/>
          <a:sy n="56" d="100"/>
        </p:scale>
        <p:origin x="1564"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1FDC6807-4165-4B04-A84D-0CD366095F2E}" type="datetimeFigureOut">
              <a:rPr lang="en-US"/>
              <a:pPr>
                <a:defRPr/>
              </a:pPr>
              <a:t>5/9/2024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B50536F-6F13-4993-8890-A344B936845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1&gt; Some of these exceptions are caused by user error, others by programmer error, and others by physical resources that have failed in some manner.</a:t>
            </a:r>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434CCD3-45CD-4795-A3AF-9EDA6FA5F13E}" type="slidenum">
              <a:rPr lang="en-US" altLang="en-US" smtClean="0"/>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045E4DD-406F-4848-A932-F1C7877DA28F}" type="slidenum">
              <a:rPr lang="en-US" altLang="en-US" smtClean="0"/>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B88FCB6-E793-42A9-B711-5ECBA4FE7C84}" type="slidenum">
              <a:rPr lang="en-US" altLang="en-US" smtClean="0"/>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a:t>
            </a:r>
            <a:r>
              <a:rPr lang="en-US" altLang="en-US" b="1"/>
              <a:t>Object class</a:t>
            </a:r>
            <a:r>
              <a:rPr lang="en-US" altLang="en-US"/>
              <a:t> is the parent class of all the classes in java by default. In other words, it is the topmost class of java.</a:t>
            </a:r>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2B2C9FD-F673-4602-9E9F-0BC1F9336D06}" type="slidenum">
              <a:rPr lang="en-US" altLang="en-US" smtClean="0"/>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202124"/>
                </a:solidFill>
                <a:effectLst/>
                <a:latin typeface="Google Sans"/>
              </a:rPr>
              <a:t>IOException</a:t>
            </a:r>
            <a:r>
              <a:rPr lang="en-US" b="0" i="0" dirty="0">
                <a:solidFill>
                  <a:srgbClr val="202124"/>
                </a:solidFill>
                <a:effectLst/>
                <a:latin typeface="Google Sans"/>
              </a:rPr>
              <a:t> is a checked exception in Java that </a:t>
            </a:r>
            <a:r>
              <a:rPr lang="en-US" b="0" i="0" dirty="0">
                <a:solidFill>
                  <a:srgbClr val="040C28"/>
                </a:solidFill>
                <a:effectLst/>
                <a:latin typeface="Google Sans"/>
              </a:rPr>
              <a:t>indicates a problem while performing Input/Output (I/O) operations</a:t>
            </a:r>
            <a:r>
              <a:rPr lang="en-US" b="0" i="0" dirty="0">
                <a:solidFill>
                  <a:srgbClr val="202124"/>
                </a:solidFill>
                <a:effectLst/>
                <a:latin typeface="Google Sans"/>
              </a:rPr>
              <a:t>. This usually happens when a failure occurs while performing read, write or search operations in files or directories</a:t>
            </a:r>
            <a:endParaRPr lang="en-PK" dirty="0"/>
          </a:p>
        </p:txBody>
      </p:sp>
      <p:sp>
        <p:nvSpPr>
          <p:cNvPr id="4" name="Slide Number Placeholder 3"/>
          <p:cNvSpPr>
            <a:spLocks noGrp="1"/>
          </p:cNvSpPr>
          <p:nvPr>
            <p:ph type="sldNum" sz="quarter" idx="5"/>
          </p:nvPr>
        </p:nvSpPr>
        <p:spPr/>
        <p:txBody>
          <a:bodyPr/>
          <a:lstStyle/>
          <a:p>
            <a:pPr>
              <a:defRPr/>
            </a:pPr>
            <a:fld id="{6B50536F-6F13-4993-8890-A344B9368453}" type="slidenum">
              <a:rPr lang="en-US" smtClean="0"/>
              <a:pPr>
                <a:defRPr/>
              </a:pPr>
              <a:t>7</a:t>
            </a:fld>
            <a:endParaRPr lang="en-US"/>
          </a:p>
        </p:txBody>
      </p:sp>
    </p:spTree>
    <p:extLst>
      <p:ext uri="{BB962C8B-B14F-4D97-AF65-F5344CB8AC3E}">
        <p14:creationId xmlns:p14="http://schemas.microsoft.com/office/powerpoint/2010/main" val="653281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1F0F75-21CA-40CD-A8D3-FFDCF3A9031A}" type="slidenum">
              <a:rPr lang="en-US" altLang="en-US" smtClean="0"/>
              <a:pPr/>
              <a:t>13</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endParaRPr lang="en-US" dirty="0"/>
          </a:p>
        </p:txBody>
      </p:sp>
      <p:sp>
        <p:nvSpPr>
          <p:cNvPr id="778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2998E8E-8C92-48A0-8EC3-A7B1A768A7CC}" type="slidenum">
              <a:rPr lang="en-US" altLang="en-US" smtClean="0"/>
              <a:pPr/>
              <a:t>17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798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7C403D6-1436-49D5-A5DA-FF50F69FD8F2}" type="slidenum">
              <a:rPr lang="en-US" altLang="en-US" smtClean="0"/>
              <a:pPr/>
              <a:t>18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E379AF-355C-4C21-8DD0-3C466750F10F}" type="slidenum">
              <a:rPr lang="en-US" altLang="en-US" smtClean="0"/>
              <a:pPr/>
              <a:t>19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Compile-time error</a:t>
            </a:r>
          </a:p>
          <a:p>
            <a:r>
              <a:rPr lang="en-US" altLang="en-US" dirty="0"/>
              <a:t>Rule 2: example</a:t>
            </a:r>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D5ED7E8-6371-4A3D-A3E7-0AB4E6A14E10}" type="slidenum">
              <a:rPr lang="en-US" altLang="en-US" smtClean="0"/>
              <a:pPr/>
              <a:t>21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2872E46-85E7-4EE0-8DBC-8293637BFDCE}" type="slidenum">
              <a:rPr lang="en-US" altLang="en-US" smtClean="0"/>
              <a:pPr/>
              <a:t>23</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defRPr/>
            </a:pPr>
            <a:endParaRPr lang="en-US" altLang="en-US" dirty="0"/>
          </a:p>
        </p:txBody>
      </p:sp>
      <p:sp>
        <p:nvSpPr>
          <p:cNvPr id="1013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9140B2-C9E6-46F3-A05A-1166FE3B05A6}" type="slidenum">
              <a:rPr lang="en-US" altLang="en-US" smtClean="0"/>
              <a:pPr/>
              <a:t>29</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Generally, </a:t>
            </a:r>
            <a:r>
              <a:rPr lang="en-US" altLang="en-US" b="1" i="1" dirty="0"/>
              <a:t>throws</a:t>
            </a:r>
            <a:r>
              <a:rPr lang="en-US" altLang="en-US" i="1" dirty="0"/>
              <a:t> </a:t>
            </a:r>
            <a:r>
              <a:rPr lang="en-US" altLang="en-US" dirty="0"/>
              <a:t>is used to postpone the handling of a checked exception and </a:t>
            </a:r>
            <a:r>
              <a:rPr lang="en-US" altLang="en-US" b="1" i="1" dirty="0"/>
              <a:t>throw</a:t>
            </a:r>
            <a:r>
              <a:rPr lang="en-US" altLang="en-US" dirty="0"/>
              <a:t> is used to invoke an exception explicitly.</a:t>
            </a:r>
          </a:p>
          <a:p>
            <a:endParaRPr lang="en-US" altLang="en-US" dirty="0"/>
          </a:p>
        </p:txBody>
      </p:sp>
      <p:sp>
        <p:nvSpPr>
          <p:cNvPr id="103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96AAA9-1F80-4978-8B3B-E16996539AF4}" type="slidenum">
              <a:rPr lang="en-US" altLang="en-US" smtClean="0"/>
              <a:pPr/>
              <a:t>30</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09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0DABE9-0C28-4C1D-8B5F-E97A0E873932}" type="slidenum">
              <a:rPr lang="en-US" altLang="en-US" smtClean="0"/>
              <a:pPr/>
              <a:t>31</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15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B2E5DDC-6B45-41E9-93E9-AD239233A131}" type="slidenum">
              <a:rPr lang="en-US" altLang="en-US" smtClean="0"/>
              <a:pPr/>
              <a:t>32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7" name="Freeform 18"/>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latin typeface="Arial" pitchFamily="34" charset="0"/>
                <a:cs typeface="Arial" pitchFamily="34" charset="0"/>
              </a:defRPr>
            </a:lvl1pPr>
            <a:extLst/>
          </a:lstStyle>
          <a:p>
            <a:r>
              <a:rPr lang="en-US" dirty="0"/>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latin typeface="Arial" pitchFamily="34" charset="0"/>
                <a:cs typeface="Arial"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fld id="{463CCBD8-DB6A-4E0E-A79B-95BC50E3B3FF}" type="datetimeFigureOut">
              <a:rPr lang="en-US"/>
              <a:pPr>
                <a:defRPr/>
              </a:pPr>
              <a:t>5/9/2024</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lstStyle>
          <a:p>
            <a:pPr>
              <a:defRPr/>
            </a:pPr>
            <a:fld id="{A6D57181-B2CA-4BEC-B5F3-9EECF1877A28}" type="slidenum">
              <a:rPr lang="en-US"/>
              <a:pPr>
                <a:defRPr/>
              </a:pPr>
              <a:t>‹#›</a:t>
            </a:fld>
            <a:endParaRPr lang="en-US"/>
          </a:p>
        </p:txBody>
      </p:sp>
    </p:spTree>
    <p:extLst>
      <p:ext uri="{BB962C8B-B14F-4D97-AF65-F5344CB8AC3E}">
        <p14:creationId xmlns:p14="http://schemas.microsoft.com/office/powerpoint/2010/main" val="3272225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lang="en-US" dirty="0"/>
              <a:t>Click to edit Master title style</a:t>
            </a:r>
          </a:p>
        </p:txBody>
      </p:sp>
      <p:sp>
        <p:nvSpPr>
          <p:cNvPr id="4" name="Date Placeholder 9"/>
          <p:cNvSpPr>
            <a:spLocks noGrp="1"/>
          </p:cNvSpPr>
          <p:nvPr>
            <p:ph type="dt" sz="half" idx="10"/>
          </p:nvPr>
        </p:nvSpPr>
        <p:spPr/>
        <p:txBody>
          <a:bodyPr/>
          <a:lstStyle>
            <a:lvl1pPr>
              <a:defRPr/>
            </a:lvl1pPr>
          </a:lstStyle>
          <a:p>
            <a:pPr>
              <a:defRPr/>
            </a:pPr>
            <a:fld id="{38878469-23FA-4F8B-B4DF-EE75568BCC72}" type="datetimeFigureOut">
              <a:rPr lang="en-US"/>
              <a:pPr>
                <a:defRPr/>
              </a:pPr>
              <a:t>5/9/2024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CD6EAD64-66EB-4D79-B1B8-31E226DFA729}" type="slidenum">
              <a:rPr lang="en-US"/>
              <a:pPr>
                <a:defRPr/>
              </a:pPr>
              <a:t>‹#›</a:t>
            </a:fld>
            <a:endParaRPr lang="en-US"/>
          </a:p>
        </p:txBody>
      </p:sp>
    </p:spTree>
    <p:extLst>
      <p:ext uri="{BB962C8B-B14F-4D97-AF65-F5344CB8AC3E}">
        <p14:creationId xmlns:p14="http://schemas.microsoft.com/office/powerpoint/2010/main" val="3744942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F5C507E0-172A-40C9-B725-8B7834C13800}" type="datetimeFigureOut">
              <a:rPr lang="en-US"/>
              <a:pPr>
                <a:defRPr/>
              </a:pPr>
              <a:t>5/9/2024</a:t>
            </a:fld>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7980CD9F-6D90-46C4-AABC-BF19CF16C8BC}" type="slidenum">
              <a:rPr lang="en-US"/>
              <a:pPr>
                <a:defRPr/>
              </a:pPr>
              <a:t>‹#›</a:t>
            </a:fld>
            <a:endParaRPr lang="en-US"/>
          </a:p>
        </p:txBody>
      </p:sp>
    </p:spTree>
    <p:extLst>
      <p:ext uri="{BB962C8B-B14F-4D97-AF65-F5344CB8AC3E}">
        <p14:creationId xmlns:p14="http://schemas.microsoft.com/office/powerpoint/2010/main" val="256969445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fld id="{B280FFC7-7563-493E-8FE1-8E2079EFE20A}" type="datetimeFigureOut">
              <a:rPr lang="en-US"/>
              <a:pPr>
                <a:defRPr/>
              </a:pPr>
              <a:t>5/9/2024</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69AAA4B5-FD10-4DF3-9BB1-070BBCFA25D2}" type="slidenum">
              <a:rPr lang="en-US"/>
              <a:pPr>
                <a:defRPr/>
              </a:pPr>
              <a:t>‹#›</a:t>
            </a:fld>
            <a:endParaRPr lang="en-US"/>
          </a:p>
        </p:txBody>
      </p:sp>
    </p:spTree>
    <p:extLst>
      <p:ext uri="{BB962C8B-B14F-4D97-AF65-F5344CB8AC3E}">
        <p14:creationId xmlns:p14="http://schemas.microsoft.com/office/powerpoint/2010/main" val="216470390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B9191C99-D8C2-4F7B-8BCC-288ACD35B6B0}" type="datetimeFigureOut">
              <a:rPr lang="en-US"/>
              <a:pPr>
                <a:defRPr/>
              </a:pPr>
              <a:t>5/9/2024</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B56DB18D-3186-4209-B9EB-24D7D0F2E5EB}" type="slidenum">
              <a:rPr lang="en-US"/>
              <a:pPr>
                <a:defRPr/>
              </a:pPr>
              <a:t>‹#›</a:t>
            </a:fld>
            <a:endParaRPr lang="en-US"/>
          </a:p>
        </p:txBody>
      </p:sp>
    </p:spTree>
    <p:extLst>
      <p:ext uri="{BB962C8B-B14F-4D97-AF65-F5344CB8AC3E}">
        <p14:creationId xmlns:p14="http://schemas.microsoft.com/office/powerpoint/2010/main" val="2220732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fld id="{6BF920D2-25A4-42A1-B540-AD5C781BA247}" type="datetimeFigureOut">
              <a:rPr lang="en-US"/>
              <a:pPr>
                <a:defRPr/>
              </a:pPr>
              <a:t>5/9/2024</a:t>
            </a:fld>
            <a:endParaRPr lang="en-US"/>
          </a:p>
        </p:txBody>
      </p:sp>
      <p:sp>
        <p:nvSpPr>
          <p:cNvPr id="4" name="Footer Placeholder 3"/>
          <p:cNvSpPr>
            <a:spLocks noGrp="1"/>
          </p:cNvSpPr>
          <p:nvPr>
            <p:ph type="ftr" sz="quarter" idx="11"/>
          </p:nvPr>
        </p:nvSpPr>
        <p:spPr/>
        <p:txBody>
          <a:bodyPr/>
          <a:lstStyle>
            <a:lvl1pPr>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F0333B9F-EAFC-471B-BB3F-FBC838A9B26E}" type="slidenum">
              <a:rPr lang="en-US"/>
              <a:pPr>
                <a:defRPr/>
              </a:pPr>
              <a:t>‹#›</a:t>
            </a:fld>
            <a:endParaRPr lang="en-US"/>
          </a:p>
        </p:txBody>
      </p:sp>
    </p:spTree>
    <p:extLst>
      <p:ext uri="{BB962C8B-B14F-4D97-AF65-F5344CB8AC3E}">
        <p14:creationId xmlns:p14="http://schemas.microsoft.com/office/powerpoint/2010/main" val="316547968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AC3D7D13-1C2A-4152-BD52-E41D950F28C2}" type="datetimeFigureOut">
              <a:rPr lang="en-US"/>
              <a:pPr>
                <a:defRPr/>
              </a:pPr>
              <a:t>5/9/2024</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E85F7059-42A1-4166-A48F-78238B6A922C}" type="slidenum">
              <a:rPr lang="en-US"/>
              <a:pPr>
                <a:defRPr/>
              </a:pPr>
              <a:t>‹#›</a:t>
            </a:fld>
            <a:endParaRPr lang="en-US"/>
          </a:p>
        </p:txBody>
      </p:sp>
    </p:spTree>
    <p:extLst>
      <p:ext uri="{BB962C8B-B14F-4D97-AF65-F5344CB8AC3E}">
        <p14:creationId xmlns:p14="http://schemas.microsoft.com/office/powerpoint/2010/main" val="1337346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43F6B21D-E8D7-42E4-B5E0-11E43E4C2EA8}" type="datetimeFigureOut">
              <a:rPr lang="en-US"/>
              <a:pPr>
                <a:defRPr/>
              </a:pPr>
              <a:t>5/9/2024</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0E372413-70FE-494A-B665-76515568FAD3}" type="slidenum">
              <a:rPr lang="en-US"/>
              <a:pPr>
                <a:defRPr/>
              </a:pPr>
              <a:t>‹#›</a:t>
            </a:fld>
            <a:endParaRPr lang="en-US"/>
          </a:p>
        </p:txBody>
      </p:sp>
    </p:spTree>
    <p:extLst>
      <p:ext uri="{BB962C8B-B14F-4D97-AF65-F5344CB8AC3E}">
        <p14:creationId xmlns:p14="http://schemas.microsoft.com/office/powerpoint/2010/main" val="351211177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Freeform 15"/>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A835AA84-51A4-457E-AB67-91C490651B52}" type="datetimeFigureOut">
              <a:rPr lang="en-US"/>
              <a:pPr>
                <a:defRPr/>
              </a:pPr>
              <a:t>5/9/2024</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pPr>
              <a:defRPr/>
            </a:pPr>
            <a:fld id="{BCFAA7FC-6664-458B-B0B5-4073F1BDB960}" type="slidenum">
              <a:rPr lang="en-US"/>
              <a:pPr>
                <a:defRPr/>
              </a:pPr>
              <a:t>‹#›</a:t>
            </a:fld>
            <a:endParaRPr lang="en-US"/>
          </a:p>
        </p:txBody>
      </p:sp>
    </p:spTree>
    <p:extLst>
      <p:ext uri="{BB962C8B-B14F-4D97-AF65-F5344CB8AC3E}">
        <p14:creationId xmlns:p14="http://schemas.microsoft.com/office/powerpoint/2010/main" val="385595338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AE310435-902B-4860-B772-2C2CAF9AD0E4}" type="datetimeFigureOut">
              <a:rPr lang="en-US"/>
              <a:pPr>
                <a:defRPr/>
              </a:pPr>
              <a:t>5/9/2024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76D3797B-6FFB-4EA7-966E-6164A72DD96C}" type="slidenum">
              <a:rPr lang="en-US"/>
              <a:pPr>
                <a:defRPr/>
              </a:pPr>
              <a:t>‹#›</a:t>
            </a:fld>
            <a:endParaRPr lang="en-US"/>
          </a:p>
        </p:txBody>
      </p:sp>
    </p:spTree>
    <p:extLst>
      <p:ext uri="{BB962C8B-B14F-4D97-AF65-F5344CB8AC3E}">
        <p14:creationId xmlns:p14="http://schemas.microsoft.com/office/powerpoint/2010/main" val="1937416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067F7AD3-E535-48D0-98B1-771301A7DBC7}" type="datetimeFigureOut">
              <a:rPr lang="en-US"/>
              <a:pPr>
                <a:defRPr/>
              </a:pPr>
              <a:t>5/9/2024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5C2B981C-878B-4EDD-B254-2DE6FE555AEA}" type="slidenum">
              <a:rPr lang="en-US"/>
              <a:pPr>
                <a:defRPr/>
              </a:pPr>
              <a:t>‹#›</a:t>
            </a:fld>
            <a:endParaRPr lang="en-US"/>
          </a:p>
        </p:txBody>
      </p:sp>
    </p:spTree>
    <p:extLst>
      <p:ext uri="{BB962C8B-B14F-4D97-AF65-F5344CB8AC3E}">
        <p14:creationId xmlns:p14="http://schemas.microsoft.com/office/powerpoint/2010/main" val="156060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cs typeface="+mn-cs"/>
              </a:defRPr>
            </a:lvl1pPr>
            <a:extLst/>
          </a:lstStyle>
          <a:p>
            <a:pPr>
              <a:defRPr/>
            </a:pPr>
            <a:fld id="{3E98EF9C-100F-4DA4-87EA-204833FE986B}" type="datetimeFigureOut">
              <a:rPr lang="en-US"/>
              <a:pPr>
                <a:defRPr/>
              </a:pPr>
              <a:t>5/9/2024</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cs typeface="+mn-cs"/>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Lucida Sans Unicode" panose="020B0602030504020204" pitchFamily="34" charset="0"/>
              </a:defRPr>
            </a:lvl1pPr>
          </a:lstStyle>
          <a:p>
            <a:pPr>
              <a:defRPr/>
            </a:pPr>
            <a:fld id="{F048CE76-0476-41EA-BF02-9C5D48BC31C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115" r:id="rId1"/>
    <p:sldLayoutId id="2147484111" r:id="rId2"/>
    <p:sldLayoutId id="2147484116" r:id="rId3"/>
    <p:sldLayoutId id="2147484117" r:id="rId4"/>
    <p:sldLayoutId id="2147484118" r:id="rId5"/>
    <p:sldLayoutId id="2147484119" r:id="rId6"/>
    <p:sldLayoutId id="2147484112" r:id="rId7"/>
    <p:sldLayoutId id="2147484120" r:id="rId8"/>
    <p:sldLayoutId id="2147484121" r:id="rId9"/>
    <p:sldLayoutId id="2147484113" r:id="rId10"/>
    <p:sldLayoutId id="2147484114"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Arial" pitchFamily="34" charset="0"/>
          <a:ea typeface="+mj-ea"/>
          <a:cs typeface="Arial" pitchFamily="34" charset="0"/>
        </a:defRPr>
      </a:lvl1pPr>
      <a:lvl2pPr algn="l" rtl="0" eaLnBrk="0" fontAlgn="base" hangingPunct="0">
        <a:spcBef>
          <a:spcPct val="0"/>
        </a:spcBef>
        <a:spcAft>
          <a:spcPct val="0"/>
        </a:spcAft>
        <a:defRPr sz="4100" b="1">
          <a:solidFill>
            <a:schemeClr val="tx2"/>
          </a:solidFill>
          <a:latin typeface="Arial" pitchFamily="34" charset="0"/>
          <a:cs typeface="Arial" pitchFamily="34" charset="0"/>
        </a:defRPr>
      </a:lvl2pPr>
      <a:lvl3pPr algn="l" rtl="0" eaLnBrk="0" fontAlgn="base" hangingPunct="0">
        <a:spcBef>
          <a:spcPct val="0"/>
        </a:spcBef>
        <a:spcAft>
          <a:spcPct val="0"/>
        </a:spcAft>
        <a:defRPr sz="4100" b="1">
          <a:solidFill>
            <a:schemeClr val="tx2"/>
          </a:solidFill>
          <a:latin typeface="Arial" pitchFamily="34" charset="0"/>
          <a:cs typeface="Arial" pitchFamily="34" charset="0"/>
        </a:defRPr>
      </a:lvl3pPr>
      <a:lvl4pPr algn="l" rtl="0" eaLnBrk="0" fontAlgn="base" hangingPunct="0">
        <a:spcBef>
          <a:spcPct val="0"/>
        </a:spcBef>
        <a:spcAft>
          <a:spcPct val="0"/>
        </a:spcAft>
        <a:defRPr sz="4100" b="1">
          <a:solidFill>
            <a:schemeClr val="tx2"/>
          </a:solidFill>
          <a:latin typeface="Arial" pitchFamily="34" charset="0"/>
          <a:cs typeface="Arial" pitchFamily="34" charset="0"/>
        </a:defRPr>
      </a:lvl4pPr>
      <a:lvl5pPr algn="l" rtl="0" eaLnBrk="0" fontAlgn="base" hangingPunct="0">
        <a:spcBef>
          <a:spcPct val="0"/>
        </a:spcBef>
        <a:spcAft>
          <a:spcPct val="0"/>
        </a:spcAft>
        <a:defRPr sz="4100" b="1">
          <a:solidFill>
            <a:schemeClr val="tx2"/>
          </a:solidFill>
          <a:latin typeface="Arial" pitchFamily="34" charset="0"/>
          <a:cs typeface="Arial" pitchFamily="34" charset="0"/>
        </a:defRPr>
      </a:lvl5pPr>
      <a:lvl6pPr marL="457200" algn="l" rtl="0" fontAlgn="base">
        <a:spcBef>
          <a:spcPct val="0"/>
        </a:spcBef>
        <a:spcAft>
          <a:spcPct val="0"/>
        </a:spcAft>
        <a:defRPr sz="4100" b="1">
          <a:solidFill>
            <a:schemeClr val="tx2"/>
          </a:solidFill>
          <a:latin typeface="Arial" pitchFamily="34" charset="0"/>
          <a:cs typeface="Arial" pitchFamily="34" charset="0"/>
        </a:defRPr>
      </a:lvl6pPr>
      <a:lvl7pPr marL="914400" algn="l" rtl="0" fontAlgn="base">
        <a:spcBef>
          <a:spcPct val="0"/>
        </a:spcBef>
        <a:spcAft>
          <a:spcPct val="0"/>
        </a:spcAft>
        <a:defRPr sz="4100" b="1">
          <a:solidFill>
            <a:schemeClr val="tx2"/>
          </a:solidFill>
          <a:latin typeface="Arial" pitchFamily="34" charset="0"/>
          <a:cs typeface="Arial" pitchFamily="34" charset="0"/>
        </a:defRPr>
      </a:lvl7pPr>
      <a:lvl8pPr marL="1371600" algn="l" rtl="0" fontAlgn="base">
        <a:spcBef>
          <a:spcPct val="0"/>
        </a:spcBef>
        <a:spcAft>
          <a:spcPct val="0"/>
        </a:spcAft>
        <a:defRPr sz="4100" b="1">
          <a:solidFill>
            <a:schemeClr val="tx2"/>
          </a:solidFill>
          <a:latin typeface="Arial" pitchFamily="34" charset="0"/>
          <a:cs typeface="Arial" pitchFamily="34" charset="0"/>
        </a:defRPr>
      </a:lvl8pPr>
      <a:lvl9pPr marL="1828800" algn="l" rtl="0" fontAlgn="base">
        <a:spcBef>
          <a:spcPct val="0"/>
        </a:spcBef>
        <a:spcAft>
          <a:spcPct val="0"/>
        </a:spcAft>
        <a:defRPr sz="4100" b="1">
          <a:solidFill>
            <a:schemeClr val="tx2"/>
          </a:solidFill>
          <a:latin typeface="Arial" pitchFamily="34" charset="0"/>
          <a:cs typeface="Arial"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Arial" pitchFamily="34" charset="0"/>
          <a:ea typeface="+mn-ea"/>
          <a:cs typeface="Arial" pitchFamily="34" charset="0"/>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Arial" pitchFamily="34" charset="0"/>
          <a:ea typeface="+mn-ea"/>
          <a:cs typeface="Arial" pitchFamily="34" charset="0"/>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Arial" pitchFamily="34" charset="0"/>
          <a:ea typeface="+mn-ea"/>
          <a:cs typeface="Arial" pitchFamily="34" charset="0"/>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Arial" pitchFamily="34" charset="0"/>
          <a:ea typeface="+mn-ea"/>
          <a:cs typeface="Arial" pitchFamily="34" charset="0"/>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Arial" pitchFamily="34" charset="0"/>
          <a:ea typeface="+mn-ea"/>
          <a:cs typeface="Arial" pitchFamily="34" charset="0"/>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a:t>An exception can occur for many different reasons:</a:t>
            </a:r>
          </a:p>
          <a:p>
            <a:pPr lvl="1"/>
            <a:r>
              <a:rPr lang="en-US" altLang="en-US"/>
              <a:t>A user has entered an invalid data.</a:t>
            </a:r>
          </a:p>
          <a:p>
            <a:pPr lvl="1"/>
            <a:r>
              <a:rPr lang="en-US" altLang="en-US"/>
              <a:t>A file that needs to be opened cannot be found.</a:t>
            </a:r>
          </a:p>
          <a:p>
            <a:pPr lvl="1"/>
            <a:r>
              <a:rPr lang="en-US" altLang="en-US"/>
              <a:t>A network connection has been lost in the middle of communications or the JVM has run out of memory.</a:t>
            </a:r>
          </a:p>
          <a:p>
            <a:endParaRPr lang="en-US" altLang="en-US"/>
          </a:p>
          <a:p>
            <a:r>
              <a:rPr lang="en-US" altLang="en-US"/>
              <a:t>Exception handling</a:t>
            </a:r>
          </a:p>
          <a:p>
            <a:pPr lvl="1"/>
            <a:r>
              <a:rPr lang="en-US" altLang="en-US"/>
              <a:t>a mechanism to handle runtime errors such as ClassNotFound, IO, SQL, Remote etc.</a:t>
            </a:r>
          </a:p>
          <a:p>
            <a:endParaRPr lang="en-US" altLang="en-US"/>
          </a:p>
        </p:txBody>
      </p:sp>
      <p:sp>
        <p:nvSpPr>
          <p:cNvPr id="3" name="Title 2"/>
          <p:cNvSpPr>
            <a:spLocks noGrp="1"/>
          </p:cNvSpPr>
          <p:nvPr>
            <p:ph type="title"/>
          </p:nvPr>
        </p:nvSpPr>
        <p:spPr/>
        <p:txBody>
          <a:bodyPr/>
          <a:lstStyle/>
          <a:p>
            <a:pPr>
              <a:defRPr/>
            </a:pPr>
            <a:r>
              <a:rPr lang="en-US" dirty="0"/>
              <a:t>Exception Handling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fade">
                                      <p:cBhvr>
                                        <p:cTn id="25" dur="1000"/>
                                        <p:tgtEl>
                                          <p:spTgt spid="2">
                                            <p:txEl>
                                              <p:pRg st="5" end="5"/>
                                            </p:txEl>
                                          </p:spTgt>
                                        </p:tgtEl>
                                      </p:cBhvr>
                                    </p:animEffect>
                                    <p:anim calcmode="lin" valueType="num">
                                      <p:cBhvr>
                                        <p:cTn id="26"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7"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fade">
                                      <p:cBhvr>
                                        <p:cTn id="30" dur="1000"/>
                                        <p:tgtEl>
                                          <p:spTgt spid="2">
                                            <p:txEl>
                                              <p:pRg st="6" end="6"/>
                                            </p:txEl>
                                          </p:spTgt>
                                        </p:tgtEl>
                                      </p:cBhvr>
                                    </p:animEffect>
                                    <p:anim calcmode="lin" valueType="num">
                                      <p:cBhvr>
                                        <p:cTn id="3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2"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p:cNvSpPr>
            <a:spLocks noGrp="1"/>
          </p:cNvSpPr>
          <p:nvPr>
            <p:ph idx="1"/>
          </p:nvPr>
        </p:nvSpPr>
        <p:spPr/>
        <p:txBody>
          <a:bodyPr/>
          <a:lstStyle/>
          <a:p>
            <a:r>
              <a:rPr lang="en-US" altLang="en-US"/>
              <a:t>The core advantage of exception handling is </a:t>
            </a:r>
            <a:r>
              <a:rPr lang="en-US" altLang="en-US" b="1"/>
              <a:t>to maintain the normal flow of the application</a:t>
            </a:r>
            <a:r>
              <a:rPr lang="en-US" altLang="en-US"/>
              <a:t>. </a:t>
            </a:r>
          </a:p>
          <a:p>
            <a:r>
              <a:rPr lang="en-US" altLang="en-US"/>
              <a:t>Exception normally disrupts the normal flow of the application that is why, exception handling is used</a:t>
            </a:r>
          </a:p>
          <a:p>
            <a:r>
              <a:rPr lang="en-US" altLang="en-US"/>
              <a:t>E.g. </a:t>
            </a:r>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normAutofit fontScale="90000"/>
          </a:bodyPr>
          <a:lstStyle/>
          <a:p>
            <a:pPr>
              <a:defRPr/>
            </a:pPr>
            <a:r>
              <a:rPr lang="en-US" dirty="0">
                <a:solidFill>
                  <a:srgbClr val="FF0000"/>
                </a:solidFill>
              </a:rPr>
              <a:t>Advantage of Exception Handling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276600"/>
            <a:ext cx="38862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 calcmode="lin" valueType="num">
                                      <p:cBhvr additive="base">
                                        <p:cTn id="7" dur="500" fill="hold"/>
                                        <p:tgtEl>
                                          <p:spTgt spid="563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6322">
                                            <p:txEl>
                                              <p:pRg st="1" end="1"/>
                                            </p:txEl>
                                          </p:spTgt>
                                        </p:tgtEl>
                                        <p:attrNameLst>
                                          <p:attrName>style.visibility</p:attrName>
                                        </p:attrNameLst>
                                      </p:cBhvr>
                                      <p:to>
                                        <p:strVal val="visible"/>
                                      </p:to>
                                    </p:set>
                                    <p:anim calcmode="lin" valueType="num">
                                      <p:cBhvr additive="base">
                                        <p:cTn id="13" dur="500" fill="hold"/>
                                        <p:tgtEl>
                                          <p:spTgt spid="5632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6322">
                                            <p:txEl>
                                              <p:pRg st="2" end="2"/>
                                            </p:txEl>
                                          </p:spTgt>
                                        </p:tgtEl>
                                        <p:attrNameLst>
                                          <p:attrName>style.visibility</p:attrName>
                                        </p:attrNameLst>
                                      </p:cBhvr>
                                      <p:to>
                                        <p:strVal val="visible"/>
                                      </p:to>
                                    </p:set>
                                    <p:anim calcmode="lin" valueType="num">
                                      <p:cBhvr additive="base">
                                        <p:cTn id="19" dur="500" fill="hold"/>
                                        <p:tgtEl>
                                          <p:spTgt spid="5632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p:cNvSpPr>
            <a:spLocks noGrp="1"/>
          </p:cNvSpPr>
          <p:nvPr>
            <p:ph idx="1"/>
          </p:nvPr>
        </p:nvSpPr>
        <p:spPr/>
        <p:txBody>
          <a:bodyPr/>
          <a:lstStyle/>
          <a:p>
            <a:r>
              <a:rPr lang="en-US" altLang="en-US" dirty="0"/>
              <a:t>All exception classes are subtypes of the </a:t>
            </a:r>
            <a:r>
              <a:rPr lang="en-US" altLang="en-US" dirty="0" err="1"/>
              <a:t>java.lang.Exception</a:t>
            </a:r>
            <a:r>
              <a:rPr lang="en-US" altLang="en-US" dirty="0"/>
              <a:t> class. </a:t>
            </a:r>
          </a:p>
          <a:p>
            <a:r>
              <a:rPr lang="en-US" altLang="en-US" dirty="0"/>
              <a:t>The exception class is a subclass of the Throwable class. </a:t>
            </a:r>
          </a:p>
          <a:p>
            <a:endParaRPr lang="en-US" altLang="en-US" dirty="0"/>
          </a:p>
          <a:p>
            <a:endParaRPr lang="en-US" altLang="en-US" dirty="0"/>
          </a:p>
          <a:p>
            <a:endParaRPr lang="en-US" altLang="en-US" dirty="0"/>
          </a:p>
        </p:txBody>
      </p:sp>
      <p:sp>
        <p:nvSpPr>
          <p:cNvPr id="3" name="Title 2"/>
          <p:cNvSpPr>
            <a:spLocks noGrp="1"/>
          </p:cNvSpPr>
          <p:nvPr>
            <p:ph type="title"/>
          </p:nvPr>
        </p:nvSpPr>
        <p:spPr/>
        <p:txBody>
          <a:bodyPr/>
          <a:lstStyle/>
          <a:p>
            <a:pPr>
              <a:defRPr/>
            </a:pPr>
            <a:r>
              <a:rPr lang="en-US" dirty="0"/>
              <a:t>Exception Hierarchy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p:cNvSpPr>
            <a:spLocks noGrp="1"/>
          </p:cNvSpPr>
          <p:nvPr>
            <p:ph idx="1"/>
          </p:nvPr>
        </p:nvSpPr>
        <p:spPr/>
        <p:txBody>
          <a:bodyPr/>
          <a:lstStyle/>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lstStyle/>
          <a:p>
            <a:pPr>
              <a:defRPr/>
            </a:pPr>
            <a:r>
              <a:rPr lang="en-US" dirty="0"/>
              <a:t>Exception Hierarchy</a:t>
            </a:r>
          </a:p>
        </p:txBody>
      </p:sp>
      <p:pic>
        <p:nvPicPr>
          <p:cNvPr id="6042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8800"/>
            <a:ext cx="7467600"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697641-E39E-48F7-9423-6404DE828198}"/>
              </a:ext>
            </a:extLst>
          </p:cNvPr>
          <p:cNvSpPr>
            <a:spLocks noGrp="1"/>
          </p:cNvSpPr>
          <p:nvPr>
            <p:ph idx="1"/>
          </p:nvPr>
        </p:nvSpPr>
        <p:spPr/>
        <p:txBody>
          <a:bodyPr/>
          <a:lstStyle/>
          <a:p>
            <a:r>
              <a:rPr lang="en-US" sz="1800" b="1" i="0" dirty="0">
                <a:effectLst/>
                <a:latin typeface="__Source_Sans_Pro_fea366"/>
              </a:rPr>
              <a:t>Checked Exceptions </a:t>
            </a:r>
            <a:r>
              <a:rPr lang="en-US" sz="1800" b="0" i="0" dirty="0">
                <a:effectLst/>
                <a:latin typeface="__Source_Sans_Pro_fea366"/>
              </a:rPr>
              <a:t>are exceptions that are checked by the compiler during the compilation of the program.</a:t>
            </a:r>
          </a:p>
          <a:p>
            <a:r>
              <a:rPr lang="en-US" sz="1800" b="0" i="0" dirty="0">
                <a:effectLst/>
                <a:latin typeface="__Source_Sans_Pro_fea366"/>
              </a:rPr>
              <a:t> An example of a Checked Exception is the </a:t>
            </a:r>
            <a:r>
              <a:rPr lang="en-US" sz="1800" b="0" i="0" dirty="0" err="1">
                <a:effectLst/>
                <a:latin typeface="__Source_Sans_Pro_fea366"/>
              </a:rPr>
              <a:t>FileNotFoundException</a:t>
            </a:r>
            <a:r>
              <a:rPr lang="en-US" sz="1800" b="0" i="0" dirty="0">
                <a:effectLst/>
                <a:latin typeface="__Source_Sans_Pro_fea366"/>
              </a:rPr>
              <a:t>, which occurs during file handling in a Java program when the path of the file is invalid. This is a common cause of </a:t>
            </a:r>
            <a:r>
              <a:rPr lang="en-US" sz="1800" b="0" i="0" dirty="0" err="1">
                <a:effectLst/>
                <a:latin typeface="__Source_Sans_Pro_fea366"/>
              </a:rPr>
              <a:t>FileNotFoundException</a:t>
            </a:r>
            <a:r>
              <a:rPr lang="en-US" sz="1800" b="0" i="0" dirty="0">
                <a:effectLst/>
                <a:latin typeface="__Source_Sans_Pro_fea366"/>
              </a:rPr>
              <a:t> during compilation of a Java program.</a:t>
            </a:r>
            <a:endParaRPr lang="en-PK" sz="1800" dirty="0"/>
          </a:p>
        </p:txBody>
      </p:sp>
      <p:sp>
        <p:nvSpPr>
          <p:cNvPr id="3" name="Title 2">
            <a:extLst>
              <a:ext uri="{FF2B5EF4-FFF2-40B4-BE49-F238E27FC236}">
                <a16:creationId xmlns:a16="http://schemas.microsoft.com/office/drawing/2014/main" id="{2F16121C-9C3C-4A7F-94DE-BA53447CB73B}"/>
              </a:ext>
            </a:extLst>
          </p:cNvPr>
          <p:cNvSpPr>
            <a:spLocks noGrp="1"/>
          </p:cNvSpPr>
          <p:nvPr>
            <p:ph type="title"/>
          </p:nvPr>
        </p:nvSpPr>
        <p:spPr/>
        <p:txBody>
          <a:bodyPr>
            <a:normAutofit fontScale="90000"/>
          </a:bodyPr>
          <a:lstStyle/>
          <a:p>
            <a:r>
              <a:rPr lang="en-US" dirty="0"/>
              <a:t>Checked &amp; Unchecked Exception</a:t>
            </a:r>
            <a:endParaRPr lang="en-PK" dirty="0"/>
          </a:p>
        </p:txBody>
      </p:sp>
    </p:spTree>
    <p:extLst>
      <p:ext uri="{BB962C8B-B14F-4D97-AF65-F5344CB8AC3E}">
        <p14:creationId xmlns:p14="http://schemas.microsoft.com/office/powerpoint/2010/main" val="3381480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ADB7C1-1657-4E3A-8A0A-659BFC463702}"/>
              </a:ext>
            </a:extLst>
          </p:cNvPr>
          <p:cNvSpPr>
            <a:spLocks noGrp="1"/>
          </p:cNvSpPr>
          <p:nvPr>
            <p:ph idx="1"/>
          </p:nvPr>
        </p:nvSpPr>
        <p:spPr/>
        <p:txBody>
          <a:bodyPr/>
          <a:lstStyle/>
          <a:p>
            <a:pPr algn="l"/>
            <a:r>
              <a:rPr lang="en-US" sz="1600" b="1" i="0" dirty="0">
                <a:effectLst/>
                <a:latin typeface="__Source_Sans_Pro_fea366"/>
              </a:rPr>
              <a:t>Runtime Exceptions </a:t>
            </a:r>
            <a:r>
              <a:rPr lang="en-US" sz="1600" b="0" i="0" dirty="0">
                <a:effectLst/>
                <a:latin typeface="__Source_Sans_Pro_fea366"/>
              </a:rPr>
              <a:t>are known as unchecked exceptions. These are exceptions that occur during the runtime of the java program. </a:t>
            </a:r>
          </a:p>
          <a:p>
            <a:pPr algn="l"/>
            <a:r>
              <a:rPr lang="en-US" sz="1600" b="0" i="0" dirty="0">
                <a:effectLst/>
                <a:latin typeface="__Source_Sans_Pro_fea366"/>
              </a:rPr>
              <a:t>These exceptions are not checked at compile time which means even if your program is giving an unchecked exception and even if you are not handling it, the program will not give a compilation error. These exceptions occur mainly from the programmer’s side during the run time of the program.</a:t>
            </a:r>
          </a:p>
          <a:p>
            <a:pPr algn="l"/>
            <a:r>
              <a:rPr lang="en-US" sz="1600" b="0" i="0" dirty="0">
                <a:effectLst/>
                <a:latin typeface="__Source_Sans_Pro_fea366"/>
              </a:rPr>
              <a:t>Let’s take a real-time example to understand the unchecked exception in java:</a:t>
            </a:r>
          </a:p>
          <a:p>
            <a:pPr algn="l">
              <a:buFont typeface="Arial" panose="020B0604020202020204" pitchFamily="34" charset="0"/>
              <a:buChar char="•"/>
            </a:pPr>
            <a:r>
              <a:rPr lang="en-US" sz="1600" b="0" i="0" dirty="0">
                <a:effectLst/>
                <a:latin typeface="__Source_Sans_Pro_fea366"/>
              </a:rPr>
              <a:t>A real-life example of an unchecked exception in Java is when you try to divide a number by zero. This will result in an </a:t>
            </a:r>
            <a:r>
              <a:rPr lang="en-US" sz="1600" b="0" i="0" dirty="0" err="1">
                <a:effectLst/>
                <a:latin typeface="__Source_Sans_Pro_fea366"/>
              </a:rPr>
              <a:t>ArithmeticException</a:t>
            </a:r>
            <a:r>
              <a:rPr lang="en-US" sz="1600" b="0" i="0" dirty="0">
                <a:effectLst/>
                <a:latin typeface="__Source_Sans_Pro_fea366"/>
              </a:rPr>
              <a:t> at runtime, which is an unchecked exception.</a:t>
            </a:r>
          </a:p>
          <a:p>
            <a:pPr algn="l">
              <a:buFont typeface="Arial" panose="020B0604020202020204" pitchFamily="34" charset="0"/>
              <a:buChar char="•"/>
            </a:pPr>
            <a:r>
              <a:rPr lang="en-US" sz="1600" b="0" i="0" dirty="0">
                <a:effectLst/>
                <a:latin typeface="__Source_Sans_Pro_fea366"/>
              </a:rPr>
              <a:t>For example, imagine you are writing a program to calculate the average of some numbers, and you accidentally divide by zero because you forgot to check for zero values.</a:t>
            </a:r>
          </a:p>
          <a:p>
            <a:pPr algn="l">
              <a:buFont typeface="Arial" panose="020B0604020202020204" pitchFamily="34" charset="0"/>
              <a:buChar char="•"/>
            </a:pPr>
            <a:r>
              <a:rPr lang="en-US" sz="1600" b="0" i="0" dirty="0">
                <a:effectLst/>
                <a:latin typeface="__Source_Sans_Pro_fea366"/>
              </a:rPr>
              <a:t>The program will compile without any errors, but when you run it, it will throw an </a:t>
            </a:r>
            <a:r>
              <a:rPr lang="en-US" sz="1600" b="0" i="0" dirty="0" err="1">
                <a:effectLst/>
                <a:latin typeface="__Source_Sans_Pro_fea366"/>
              </a:rPr>
              <a:t>ArithmeticException</a:t>
            </a:r>
            <a:r>
              <a:rPr lang="en-US" sz="1600" b="0" i="0" dirty="0">
                <a:effectLst/>
                <a:latin typeface="__Source_Sans_Pro_fea366"/>
              </a:rPr>
              <a:t> because dividing by zero is not allowed.</a:t>
            </a:r>
          </a:p>
          <a:p>
            <a:endParaRPr lang="en-PK" sz="1600" dirty="0"/>
          </a:p>
        </p:txBody>
      </p:sp>
      <p:sp>
        <p:nvSpPr>
          <p:cNvPr id="3" name="Title 2">
            <a:extLst>
              <a:ext uri="{FF2B5EF4-FFF2-40B4-BE49-F238E27FC236}">
                <a16:creationId xmlns:a16="http://schemas.microsoft.com/office/drawing/2014/main" id="{0EBA4545-E099-4D66-AD47-B4E97B848127}"/>
              </a:ext>
            </a:extLst>
          </p:cNvPr>
          <p:cNvSpPr>
            <a:spLocks noGrp="1"/>
          </p:cNvSpPr>
          <p:nvPr>
            <p:ph type="title"/>
          </p:nvPr>
        </p:nvSpPr>
        <p:spPr/>
        <p:txBody>
          <a:bodyPr/>
          <a:lstStyle/>
          <a:p>
            <a:r>
              <a:rPr lang="en-US" dirty="0"/>
              <a:t>Unchecked Exceptions</a:t>
            </a:r>
            <a:endParaRPr lang="en-PK" dirty="0"/>
          </a:p>
        </p:txBody>
      </p:sp>
    </p:spTree>
    <p:extLst>
      <p:ext uri="{BB962C8B-B14F-4D97-AF65-F5344CB8AC3E}">
        <p14:creationId xmlns:p14="http://schemas.microsoft.com/office/powerpoint/2010/main" val="1651933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59B034-4692-45A4-9E4C-781F49812E66}"/>
              </a:ext>
            </a:extLst>
          </p:cNvPr>
          <p:cNvSpPr>
            <a:spLocks noGrp="1"/>
          </p:cNvSpPr>
          <p:nvPr>
            <p:ph idx="1"/>
          </p:nvPr>
        </p:nvSpPr>
        <p:spPr/>
        <p:txBody>
          <a:bodyPr/>
          <a:lstStyle/>
          <a:p>
            <a:endParaRPr lang="en-PK"/>
          </a:p>
        </p:txBody>
      </p:sp>
      <p:sp>
        <p:nvSpPr>
          <p:cNvPr id="3" name="Title 2">
            <a:extLst>
              <a:ext uri="{FF2B5EF4-FFF2-40B4-BE49-F238E27FC236}">
                <a16:creationId xmlns:a16="http://schemas.microsoft.com/office/drawing/2014/main" id="{5F9DEB6D-AD6E-44F0-8BD1-E07823CD4F22}"/>
              </a:ext>
            </a:extLst>
          </p:cNvPr>
          <p:cNvSpPr>
            <a:spLocks noGrp="1"/>
          </p:cNvSpPr>
          <p:nvPr>
            <p:ph type="title"/>
          </p:nvPr>
        </p:nvSpPr>
        <p:spPr/>
        <p:txBody>
          <a:bodyPr/>
          <a:lstStyle/>
          <a:p>
            <a:endParaRPr lang="en-PK"/>
          </a:p>
        </p:txBody>
      </p:sp>
      <p:pic>
        <p:nvPicPr>
          <p:cNvPr id="5" name="Picture 4">
            <a:extLst>
              <a:ext uri="{FF2B5EF4-FFF2-40B4-BE49-F238E27FC236}">
                <a16:creationId xmlns:a16="http://schemas.microsoft.com/office/drawing/2014/main" id="{F2BCC629-FEE9-4A52-AD00-37D319E00027}"/>
              </a:ext>
            </a:extLst>
          </p:cNvPr>
          <p:cNvPicPr>
            <a:picLocks noChangeAspect="1"/>
          </p:cNvPicPr>
          <p:nvPr/>
        </p:nvPicPr>
        <p:blipFill>
          <a:blip r:embed="rId3"/>
          <a:stretch>
            <a:fillRect/>
          </a:stretch>
        </p:blipFill>
        <p:spPr>
          <a:xfrm>
            <a:off x="1628623" y="1701711"/>
            <a:ext cx="5886753" cy="3454578"/>
          </a:xfrm>
          <a:prstGeom prst="rect">
            <a:avLst/>
          </a:prstGeom>
        </p:spPr>
      </p:pic>
    </p:spTree>
    <p:extLst>
      <p:ext uri="{BB962C8B-B14F-4D97-AF65-F5344CB8AC3E}">
        <p14:creationId xmlns:p14="http://schemas.microsoft.com/office/powerpoint/2010/main" val="1754259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605EF4-BA2E-4A74-8244-95DD4DEBA46B}"/>
              </a:ext>
            </a:extLst>
          </p:cNvPr>
          <p:cNvSpPr>
            <a:spLocks noGrp="1"/>
          </p:cNvSpPr>
          <p:nvPr>
            <p:ph idx="1"/>
          </p:nvPr>
        </p:nvSpPr>
        <p:spPr/>
        <p:txBody>
          <a:bodyPr/>
          <a:lstStyle/>
          <a:p>
            <a:endParaRPr lang="en-PK" dirty="0"/>
          </a:p>
        </p:txBody>
      </p:sp>
      <p:sp>
        <p:nvSpPr>
          <p:cNvPr id="3" name="Title 2">
            <a:extLst>
              <a:ext uri="{FF2B5EF4-FFF2-40B4-BE49-F238E27FC236}">
                <a16:creationId xmlns:a16="http://schemas.microsoft.com/office/drawing/2014/main" id="{494F2055-4D0A-4570-A92B-C514D6051B31}"/>
              </a:ext>
            </a:extLst>
          </p:cNvPr>
          <p:cNvSpPr>
            <a:spLocks noGrp="1"/>
          </p:cNvSpPr>
          <p:nvPr>
            <p:ph type="title"/>
          </p:nvPr>
        </p:nvSpPr>
        <p:spPr/>
        <p:txBody>
          <a:bodyPr/>
          <a:lstStyle/>
          <a:p>
            <a:r>
              <a:rPr lang="en-US" dirty="0"/>
              <a:t>Exceptions Not handled</a:t>
            </a:r>
            <a:endParaRPr lang="en-PK" dirty="0"/>
          </a:p>
        </p:txBody>
      </p:sp>
      <p:pic>
        <p:nvPicPr>
          <p:cNvPr id="5" name="Picture 4">
            <a:extLst>
              <a:ext uri="{FF2B5EF4-FFF2-40B4-BE49-F238E27FC236}">
                <a16:creationId xmlns:a16="http://schemas.microsoft.com/office/drawing/2014/main" id="{AC7E36F5-F4B8-4166-8E41-F39A7A112B0C}"/>
              </a:ext>
            </a:extLst>
          </p:cNvPr>
          <p:cNvPicPr>
            <a:picLocks noChangeAspect="1"/>
          </p:cNvPicPr>
          <p:nvPr/>
        </p:nvPicPr>
        <p:blipFill>
          <a:blip r:embed="rId2"/>
          <a:stretch>
            <a:fillRect/>
          </a:stretch>
        </p:blipFill>
        <p:spPr>
          <a:xfrm>
            <a:off x="1187276" y="1644558"/>
            <a:ext cx="6769448" cy="3568883"/>
          </a:xfrm>
          <a:prstGeom prst="rect">
            <a:avLst/>
          </a:prstGeom>
        </p:spPr>
      </p:pic>
    </p:spTree>
    <p:extLst>
      <p:ext uri="{BB962C8B-B14F-4D97-AF65-F5344CB8AC3E}">
        <p14:creationId xmlns:p14="http://schemas.microsoft.com/office/powerpoint/2010/main" val="807438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57200" y="274638"/>
            <a:ext cx="8229600" cy="1143000"/>
          </a:xfrm>
        </p:spPr>
        <p:txBody>
          <a:bodyPr>
            <a:normAutofit fontScale="90000"/>
          </a:bodyPr>
          <a:lstStyle/>
          <a:p>
            <a:r>
              <a:rPr lang="en-US" dirty="0"/>
              <a:t>Summarized Exception Hierarchy </a:t>
            </a:r>
          </a:p>
        </p:txBody>
      </p:sp>
      <p:pic>
        <p:nvPicPr>
          <p:cNvPr id="5" name="Content Placeholder 5"/>
          <p:cNvPicPr>
            <a:picLocks noGrp="1" noChangeAspect="1"/>
          </p:cNvPicPr>
          <p:nvPr>
            <p:ph idx="1"/>
          </p:nvPr>
        </p:nvPicPr>
        <p:blipFill>
          <a:blip r:embed="rId2"/>
          <a:stretch>
            <a:fillRect/>
          </a:stretch>
        </p:blipFill>
        <p:spPr>
          <a:xfrm>
            <a:off x="1066800" y="1143000"/>
            <a:ext cx="6858000" cy="5715000"/>
          </a:xfrm>
          <a:prstGeom prst="rect">
            <a:avLst/>
          </a:prstGeom>
        </p:spPr>
      </p:pic>
    </p:spTree>
    <p:extLst>
      <p:ext uri="{BB962C8B-B14F-4D97-AF65-F5344CB8AC3E}">
        <p14:creationId xmlns:p14="http://schemas.microsoft.com/office/powerpoint/2010/main" val="3560768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5C2BB4-FD86-495B-B593-9CA3B242DE31}"/>
              </a:ext>
            </a:extLst>
          </p:cNvPr>
          <p:cNvSpPr>
            <a:spLocks noGrp="1"/>
          </p:cNvSpPr>
          <p:nvPr>
            <p:ph idx="1"/>
          </p:nvPr>
        </p:nvSpPr>
        <p:spPr/>
        <p:txBody>
          <a:bodyPr/>
          <a:lstStyle/>
          <a:p>
            <a:pPr algn="l"/>
            <a:r>
              <a:rPr lang="en-US" sz="1800" b="1" i="0" dirty="0" err="1">
                <a:effectLst/>
                <a:latin typeface="__Source_Sans_Pro_fea366"/>
              </a:rPr>
              <a:t>ArrayIndexOutOfBoundsException</a:t>
            </a:r>
            <a:endParaRPr lang="en-US" sz="1800" b="1" i="0" dirty="0">
              <a:effectLst/>
              <a:latin typeface="__Source_Sans_Pro_fea366"/>
            </a:endParaRPr>
          </a:p>
          <a:p>
            <a:pPr marL="109537" indent="0" algn="l">
              <a:buNone/>
            </a:pPr>
            <a:r>
              <a:rPr lang="en-US" sz="1800" b="0" i="0" dirty="0" err="1">
                <a:effectLst/>
                <a:latin typeface="__Source_Sans_Pro_fea366"/>
              </a:rPr>
              <a:t>ArrayIndexOutOfBoundsException</a:t>
            </a:r>
            <a:r>
              <a:rPr lang="en-US" sz="1800" b="0" i="0" dirty="0">
                <a:effectLst/>
                <a:latin typeface="__Source_Sans_Pro_fea366"/>
              </a:rPr>
              <a:t> is an unchecked exception in Java that occurs when an attempt is made to access an array element at an invalid index</a:t>
            </a:r>
          </a:p>
          <a:p>
            <a:pPr marL="109537" indent="0" algn="l">
              <a:buNone/>
            </a:pPr>
            <a:r>
              <a:rPr lang="en-US" sz="1800" b="0" i="0" dirty="0">
                <a:effectLst/>
                <a:latin typeface="__Source_Sans_Pro_fea366"/>
              </a:rPr>
              <a:t>.The index can be either negative or greater than or equal to the size of the array.</a:t>
            </a:r>
          </a:p>
          <a:p>
            <a:pPr marL="109537" indent="0" algn="l">
              <a:buNone/>
            </a:pPr>
            <a:r>
              <a:rPr lang="en-US" sz="1800" b="0" i="0" dirty="0">
                <a:effectLst/>
                <a:latin typeface="__Source_Sans_Pro_fea366"/>
              </a:rPr>
              <a:t> For example, if an array has 5 elements, trying to access the 6th element will result in an </a:t>
            </a:r>
            <a:r>
              <a:rPr lang="en-US" sz="1800" b="0" i="0" dirty="0" err="1">
                <a:effectLst/>
                <a:latin typeface="__Source_Sans_Pro_fea366"/>
              </a:rPr>
              <a:t>ArrayIndexOutOfBoundsException</a:t>
            </a:r>
            <a:r>
              <a:rPr lang="en-US" sz="1800" b="0" i="0" dirty="0">
                <a:effectLst/>
                <a:latin typeface="__Source_Sans_Pro_fea366"/>
              </a:rPr>
              <a:t>.</a:t>
            </a:r>
          </a:p>
          <a:p>
            <a:pPr marL="109537" indent="0" algn="l">
              <a:buNone/>
            </a:pPr>
            <a:endParaRPr lang="en-US" b="0" i="0" dirty="0">
              <a:effectLst/>
              <a:latin typeface="__Source_Sans_Pro_fea366"/>
            </a:endParaRPr>
          </a:p>
          <a:p>
            <a:endParaRPr lang="en-PK" dirty="0"/>
          </a:p>
        </p:txBody>
      </p:sp>
      <p:sp>
        <p:nvSpPr>
          <p:cNvPr id="3" name="Title 2">
            <a:extLst>
              <a:ext uri="{FF2B5EF4-FFF2-40B4-BE49-F238E27FC236}">
                <a16:creationId xmlns:a16="http://schemas.microsoft.com/office/drawing/2014/main" id="{6505E740-7252-4351-BB13-1A0329D06A1F}"/>
              </a:ext>
            </a:extLst>
          </p:cNvPr>
          <p:cNvSpPr>
            <a:spLocks noGrp="1"/>
          </p:cNvSpPr>
          <p:nvPr>
            <p:ph type="title"/>
          </p:nvPr>
        </p:nvSpPr>
        <p:spPr/>
        <p:txBody>
          <a:bodyPr/>
          <a:lstStyle/>
          <a:p>
            <a:r>
              <a:rPr lang="en-US" dirty="0"/>
              <a:t>Runtime Exceptions</a:t>
            </a:r>
            <a:endParaRPr lang="en-PK" dirty="0"/>
          </a:p>
        </p:txBody>
      </p:sp>
      <p:pic>
        <p:nvPicPr>
          <p:cNvPr id="5" name="Picture 4">
            <a:extLst>
              <a:ext uri="{FF2B5EF4-FFF2-40B4-BE49-F238E27FC236}">
                <a16:creationId xmlns:a16="http://schemas.microsoft.com/office/drawing/2014/main" id="{9A5712CE-69A2-4DB2-9593-C540C868C4DF}"/>
              </a:ext>
            </a:extLst>
          </p:cNvPr>
          <p:cNvPicPr>
            <a:picLocks noChangeAspect="1"/>
          </p:cNvPicPr>
          <p:nvPr/>
        </p:nvPicPr>
        <p:blipFill>
          <a:blip r:embed="rId2"/>
          <a:stretch>
            <a:fillRect/>
          </a:stretch>
        </p:blipFill>
        <p:spPr>
          <a:xfrm>
            <a:off x="1981200" y="3429000"/>
            <a:ext cx="5035809" cy="3035456"/>
          </a:xfrm>
          <a:prstGeom prst="rect">
            <a:avLst/>
          </a:prstGeom>
        </p:spPr>
      </p:pic>
    </p:spTree>
    <p:extLst>
      <p:ext uri="{BB962C8B-B14F-4D97-AF65-F5344CB8AC3E}">
        <p14:creationId xmlns:p14="http://schemas.microsoft.com/office/powerpoint/2010/main" val="424275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BDB6D7-F1C3-41CD-AD5D-CA3981C0573B}"/>
              </a:ext>
            </a:extLst>
          </p:cNvPr>
          <p:cNvSpPr>
            <a:spLocks noGrp="1"/>
          </p:cNvSpPr>
          <p:nvPr>
            <p:ph idx="1"/>
          </p:nvPr>
        </p:nvSpPr>
        <p:spPr/>
        <p:txBody>
          <a:bodyPr/>
          <a:lstStyle/>
          <a:p>
            <a:pPr algn="l"/>
            <a:r>
              <a:rPr lang="en-US" sz="1600" b="1" i="0" dirty="0" err="1">
                <a:effectLst/>
                <a:latin typeface="__Source_Sans_Pro_fea366"/>
              </a:rPr>
              <a:t>InputMismatchException</a:t>
            </a:r>
            <a:endParaRPr lang="en-US" sz="1600" b="1" i="0" dirty="0">
              <a:effectLst/>
              <a:latin typeface="__Source_Sans_Pro_fea366"/>
            </a:endParaRPr>
          </a:p>
          <a:p>
            <a:pPr algn="l"/>
            <a:r>
              <a:rPr lang="en-US" sz="1600" b="0" i="0" dirty="0" err="1">
                <a:solidFill>
                  <a:srgbClr val="61738E"/>
                </a:solidFill>
                <a:effectLst/>
                <a:latin typeface="__Source_Sans_Pro_fea366"/>
              </a:rPr>
              <a:t>InputMismatchException</a:t>
            </a:r>
            <a:r>
              <a:rPr lang="en-US" sz="1600" b="0" i="0" dirty="0">
                <a:solidFill>
                  <a:srgbClr val="61738E"/>
                </a:solidFill>
                <a:effectLst/>
                <a:latin typeface="__Source_Sans_Pro_fea366"/>
              </a:rPr>
              <a:t> is a type of unchecked exception in Java, which is thrown when a program tries to read data of a different type than what is expected. For example, if the program expects an integer input but the user enters a string, this exception can be thrown. This exception is commonly encountered when using the Scanner class to read input from the user.</a:t>
            </a:r>
          </a:p>
          <a:p>
            <a:endParaRPr lang="en-PK" dirty="0"/>
          </a:p>
        </p:txBody>
      </p:sp>
      <p:sp>
        <p:nvSpPr>
          <p:cNvPr id="3" name="Title 2">
            <a:extLst>
              <a:ext uri="{FF2B5EF4-FFF2-40B4-BE49-F238E27FC236}">
                <a16:creationId xmlns:a16="http://schemas.microsoft.com/office/drawing/2014/main" id="{B5215A45-A1DA-46CD-AC89-846C7C194AC8}"/>
              </a:ext>
            </a:extLst>
          </p:cNvPr>
          <p:cNvSpPr>
            <a:spLocks noGrp="1"/>
          </p:cNvSpPr>
          <p:nvPr>
            <p:ph type="title"/>
          </p:nvPr>
        </p:nvSpPr>
        <p:spPr/>
        <p:txBody>
          <a:bodyPr/>
          <a:lstStyle/>
          <a:p>
            <a:r>
              <a:rPr lang="en-US" dirty="0"/>
              <a:t>Runtime Exceptions</a:t>
            </a:r>
            <a:endParaRPr lang="en-PK" dirty="0"/>
          </a:p>
        </p:txBody>
      </p:sp>
      <p:pic>
        <p:nvPicPr>
          <p:cNvPr id="5" name="Picture 4">
            <a:extLst>
              <a:ext uri="{FF2B5EF4-FFF2-40B4-BE49-F238E27FC236}">
                <a16:creationId xmlns:a16="http://schemas.microsoft.com/office/drawing/2014/main" id="{1AF62977-CC8C-4B6D-ABE1-F40203824D24}"/>
              </a:ext>
            </a:extLst>
          </p:cNvPr>
          <p:cNvPicPr>
            <a:picLocks noChangeAspect="1"/>
          </p:cNvPicPr>
          <p:nvPr/>
        </p:nvPicPr>
        <p:blipFill>
          <a:blip r:embed="rId2"/>
          <a:stretch>
            <a:fillRect/>
          </a:stretch>
        </p:blipFill>
        <p:spPr>
          <a:xfrm>
            <a:off x="1828800" y="2895600"/>
            <a:ext cx="4902452" cy="3245017"/>
          </a:xfrm>
          <a:prstGeom prst="rect">
            <a:avLst/>
          </a:prstGeom>
        </p:spPr>
      </p:pic>
    </p:spTree>
    <p:extLst>
      <p:ext uri="{BB962C8B-B14F-4D97-AF65-F5344CB8AC3E}">
        <p14:creationId xmlns:p14="http://schemas.microsoft.com/office/powerpoint/2010/main" val="400043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1"/>
          <p:cNvSpPr>
            <a:spLocks noGrp="1"/>
          </p:cNvSpPr>
          <p:nvPr>
            <p:ph idx="1"/>
          </p:nvPr>
        </p:nvSpPr>
        <p:spPr/>
        <p:txBody>
          <a:bodyPr/>
          <a:lstStyle/>
          <a:p>
            <a:r>
              <a:rPr lang="en-US" altLang="en-US"/>
              <a:t>There are 5 keywords used in java exception handling.</a:t>
            </a:r>
          </a:p>
          <a:p>
            <a:pPr lvl="1"/>
            <a:r>
              <a:rPr lang="en-US" altLang="en-US"/>
              <a:t>try</a:t>
            </a:r>
          </a:p>
          <a:p>
            <a:pPr lvl="1"/>
            <a:r>
              <a:rPr lang="en-US" altLang="en-US"/>
              <a:t>catch</a:t>
            </a:r>
          </a:p>
          <a:p>
            <a:pPr lvl="1"/>
            <a:r>
              <a:rPr lang="en-US" altLang="en-US"/>
              <a:t>finally</a:t>
            </a:r>
          </a:p>
          <a:p>
            <a:pPr lvl="1"/>
            <a:r>
              <a:rPr lang="en-US" altLang="en-US"/>
              <a:t>throw</a:t>
            </a:r>
          </a:p>
          <a:p>
            <a:pPr lvl="1"/>
            <a:r>
              <a:rPr lang="en-US" altLang="en-US"/>
              <a:t>throws</a:t>
            </a:r>
          </a:p>
          <a:p>
            <a:endParaRPr lang="en-US" altLang="en-US"/>
          </a:p>
        </p:txBody>
      </p:sp>
      <p:sp>
        <p:nvSpPr>
          <p:cNvPr id="3" name="Title 2"/>
          <p:cNvSpPr>
            <a:spLocks noGrp="1"/>
          </p:cNvSpPr>
          <p:nvPr>
            <p:ph type="title"/>
          </p:nvPr>
        </p:nvSpPr>
        <p:spPr/>
        <p:txBody>
          <a:bodyPr>
            <a:normAutofit fontScale="90000"/>
          </a:bodyPr>
          <a:lstStyle/>
          <a:p>
            <a:pPr>
              <a:defRPr/>
            </a:pPr>
            <a:r>
              <a:rPr lang="en-US" dirty="0"/>
              <a:t>Java Exception Handling Keywords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a:t>Java try block</a:t>
            </a:r>
          </a:p>
          <a:p>
            <a:pPr lvl="1"/>
            <a:r>
              <a:rPr lang="en-US" altLang="en-US"/>
              <a:t>Java try block is used to enclose the code that might throw an exception. </a:t>
            </a:r>
          </a:p>
          <a:p>
            <a:pPr lvl="1"/>
            <a:r>
              <a:rPr lang="en-US" altLang="en-US"/>
              <a:t>Java try block must be followed by either catch or finally block.</a:t>
            </a:r>
          </a:p>
          <a:p>
            <a:r>
              <a:rPr lang="en-US" altLang="en-US"/>
              <a:t>Java catch block</a:t>
            </a:r>
          </a:p>
          <a:p>
            <a:pPr lvl="1"/>
            <a:r>
              <a:rPr lang="en-US" altLang="en-US"/>
              <a:t>Java catch block is used to handle the Exception.</a:t>
            </a:r>
          </a:p>
          <a:p>
            <a:pPr lvl="1"/>
            <a:r>
              <a:rPr lang="en-US" altLang="en-US"/>
              <a:t>It must be used after the try block only.</a:t>
            </a:r>
          </a:p>
          <a:p>
            <a:endParaRPr lang="en-US" altLang="en-US"/>
          </a:p>
          <a:p>
            <a:endParaRPr lang="en-US" altLang="en-US"/>
          </a:p>
        </p:txBody>
      </p:sp>
      <p:sp>
        <p:nvSpPr>
          <p:cNvPr id="3" name="Title 2"/>
          <p:cNvSpPr>
            <a:spLocks noGrp="1"/>
          </p:cNvSpPr>
          <p:nvPr>
            <p:ph type="title"/>
          </p:nvPr>
        </p:nvSpPr>
        <p:spPr/>
        <p:txBody>
          <a:bodyPr/>
          <a:lstStyle/>
          <a:p>
            <a:pPr>
              <a:defRPr/>
            </a:pPr>
            <a:r>
              <a:rPr lang="en-US" dirty="0"/>
              <a:t>try-catch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Syntax of java try-catch</a:t>
            </a:r>
          </a:p>
          <a:p>
            <a:pPr marL="109537" indent="0">
              <a:buFont typeface="Wingdings 3" panose="05040102010807070707" pitchFamily="18" charset="2"/>
              <a:buNone/>
              <a:defRPr/>
            </a:pPr>
            <a:r>
              <a:rPr lang="en-US" b="1" dirty="0"/>
              <a:t>	try</a:t>
            </a:r>
            <a:r>
              <a:rPr lang="en-US" dirty="0"/>
              <a:t>{  </a:t>
            </a:r>
          </a:p>
          <a:p>
            <a:pPr marL="109537" indent="0">
              <a:buFont typeface="Wingdings 3" panose="05040102010807070707" pitchFamily="18" charset="2"/>
              <a:buNone/>
              <a:defRPr/>
            </a:pPr>
            <a:r>
              <a:rPr lang="en-US" dirty="0"/>
              <a:t>	</a:t>
            </a:r>
            <a:r>
              <a:rPr lang="en-US" dirty="0">
                <a:solidFill>
                  <a:srgbClr val="00B050"/>
                </a:solidFill>
              </a:rPr>
              <a:t>//code that may throw exception </a:t>
            </a:r>
            <a:r>
              <a:rPr lang="en-US" dirty="0"/>
              <a:t> </a:t>
            </a:r>
          </a:p>
          <a:p>
            <a:pPr marL="109537" indent="0">
              <a:buFont typeface="Wingdings 3" panose="05040102010807070707" pitchFamily="18" charset="2"/>
              <a:buNone/>
              <a:defRPr/>
            </a:pPr>
            <a:r>
              <a:rPr lang="en-US" dirty="0"/>
              <a:t>	}</a:t>
            </a:r>
            <a:r>
              <a:rPr lang="en-US" b="1" dirty="0"/>
              <a:t>catch</a:t>
            </a:r>
            <a:r>
              <a:rPr lang="en-US" dirty="0"/>
              <a:t>(</a:t>
            </a:r>
            <a:r>
              <a:rPr lang="en-US" dirty="0" err="1"/>
              <a:t>Exception_class_Name</a:t>
            </a:r>
            <a:r>
              <a:rPr lang="en-US" dirty="0"/>
              <a:t> ref){ }  </a:t>
            </a:r>
          </a:p>
          <a:p>
            <a:pPr>
              <a:defRPr/>
            </a:pPr>
            <a:endParaRPr lang="en-US" dirty="0"/>
          </a:p>
          <a:p>
            <a:pPr>
              <a:defRPr/>
            </a:pPr>
            <a:r>
              <a:rPr lang="en-US" dirty="0"/>
              <a:t>Syntax of try-finally block</a:t>
            </a:r>
          </a:p>
          <a:p>
            <a:pPr marL="109537" indent="0">
              <a:buFont typeface="Wingdings 3" panose="05040102010807070707" pitchFamily="18" charset="2"/>
              <a:buNone/>
              <a:defRPr/>
            </a:pPr>
            <a:r>
              <a:rPr lang="en-US" b="1" dirty="0"/>
              <a:t>	try</a:t>
            </a:r>
            <a:r>
              <a:rPr lang="en-US" dirty="0"/>
              <a:t>{  </a:t>
            </a:r>
          </a:p>
          <a:p>
            <a:pPr marL="109537" indent="0">
              <a:buFont typeface="Wingdings 3" panose="05040102010807070707" pitchFamily="18" charset="2"/>
              <a:buNone/>
              <a:defRPr/>
            </a:pPr>
            <a:r>
              <a:rPr lang="en-US" dirty="0"/>
              <a:t>	</a:t>
            </a:r>
            <a:r>
              <a:rPr lang="en-US" dirty="0">
                <a:solidFill>
                  <a:srgbClr val="00B050"/>
                </a:solidFill>
              </a:rPr>
              <a:t>//code that may throw exception </a:t>
            </a:r>
            <a:r>
              <a:rPr lang="en-US" dirty="0"/>
              <a:t> </a:t>
            </a:r>
          </a:p>
          <a:p>
            <a:pPr marL="109537" indent="0">
              <a:buFont typeface="Wingdings 3" panose="05040102010807070707" pitchFamily="18" charset="2"/>
              <a:buNone/>
              <a:defRPr/>
            </a:pPr>
            <a:r>
              <a:rPr lang="en-US" dirty="0"/>
              <a:t>	}</a:t>
            </a:r>
            <a:r>
              <a:rPr lang="en-US" b="1" dirty="0"/>
              <a:t>finally</a:t>
            </a:r>
            <a:r>
              <a:rPr lang="en-US" dirty="0"/>
              <a:t>{ }  </a:t>
            </a:r>
          </a:p>
          <a:p>
            <a:pPr>
              <a:defRPr/>
            </a:pPr>
            <a:endParaRPr lang="en-US" dirty="0"/>
          </a:p>
        </p:txBody>
      </p:sp>
      <p:sp>
        <p:nvSpPr>
          <p:cNvPr id="3" name="Title 2"/>
          <p:cNvSpPr>
            <a:spLocks noGrp="1"/>
          </p:cNvSpPr>
          <p:nvPr>
            <p:ph type="title"/>
          </p:nvPr>
        </p:nvSpPr>
        <p:spPr/>
        <p:txBody>
          <a:bodyPr/>
          <a:lstStyle/>
          <a:p>
            <a:pPr>
              <a:defRPr/>
            </a:pPr>
            <a:r>
              <a:rPr lang="en-US" dirty="0"/>
              <a:t>try-catch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 calcmode="lin" valueType="num">
                                      <p:cBhvr additive="base">
                                        <p:cTn id="2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 calcmode="lin" valueType="num">
                                      <p:cBhvr additive="base">
                                        <p:cTn id="3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 calcmode="lin" valueType="num">
                                      <p:cBhvr additive="base">
                                        <p:cTn id="3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endParaRPr lang="en-US" dirty="0"/>
          </a:p>
          <a:p>
            <a:pPr>
              <a:defRPr/>
            </a:pPr>
            <a:endParaRPr lang="en-US" dirty="0"/>
          </a:p>
          <a:p>
            <a:pPr marL="109537" indent="0">
              <a:buFont typeface="Wingdings 3" panose="05040102010807070707" pitchFamily="18" charset="2"/>
              <a:buNone/>
              <a:defRPr/>
            </a:pPr>
            <a:endParaRPr lang="en-US" dirty="0"/>
          </a:p>
          <a:p>
            <a:pPr marL="109537" indent="0">
              <a:buFont typeface="Wingdings 3" panose="05040102010807070707" pitchFamily="18" charset="2"/>
              <a:buNone/>
              <a:defRPr/>
            </a:pPr>
            <a:endParaRPr lang="en-US" dirty="0"/>
          </a:p>
          <a:p>
            <a:pPr>
              <a:defRPr/>
            </a:pPr>
            <a:r>
              <a:rPr lang="en-US" dirty="0"/>
              <a:t>if we don't use try-catch block, it will throw exception and code after exception will not be executed.</a:t>
            </a:r>
          </a:p>
          <a:p>
            <a:pPr>
              <a:defRPr/>
            </a:pPr>
            <a:endParaRPr lang="en-US" dirty="0"/>
          </a:p>
          <a:p>
            <a:pPr>
              <a:defRPr/>
            </a:pPr>
            <a:endParaRPr lang="en-US" dirty="0"/>
          </a:p>
        </p:txBody>
      </p:sp>
      <p:sp>
        <p:nvSpPr>
          <p:cNvPr id="3" name="Title 2"/>
          <p:cNvSpPr>
            <a:spLocks noGrp="1"/>
          </p:cNvSpPr>
          <p:nvPr>
            <p:ph type="title"/>
          </p:nvPr>
        </p:nvSpPr>
        <p:spPr>
          <a:xfrm>
            <a:off x="457200" y="274638"/>
            <a:ext cx="8382000" cy="1143000"/>
          </a:xfrm>
        </p:spPr>
        <p:txBody>
          <a:bodyPr>
            <a:normAutofit fontScale="90000"/>
          </a:bodyPr>
          <a:lstStyle/>
          <a:p>
            <a:pPr>
              <a:defRPr/>
            </a:pPr>
            <a:r>
              <a:rPr lang="en-US" dirty="0"/>
              <a:t>Problem without exception handling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81138"/>
            <a:ext cx="52006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889500"/>
            <a:ext cx="6400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 calcmode="lin" valueType="num">
                                      <p:cBhvr additive="base">
                                        <p:cTn id="14"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r>
              <a:rPr lang="en-US" altLang="en-US"/>
              <a:t>Now, rest of the code will executed i.e. rest of the code... statement is printed.</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lstStyle/>
          <a:p>
            <a:pPr>
              <a:defRPr/>
            </a:pPr>
            <a:r>
              <a:rPr lang="en-US" dirty="0"/>
              <a:t>Solution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81138"/>
            <a:ext cx="5867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953000"/>
            <a:ext cx="533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5" end="5"/>
                                            </p:txEl>
                                          </p:spTgt>
                                        </p:tgtEl>
                                        <p:attrNameLst>
                                          <p:attrName>style.visibility</p:attrName>
                                        </p:attrNameLst>
                                      </p:cBhvr>
                                      <p:to>
                                        <p:strVal val="visible"/>
                                      </p:to>
                                    </p:set>
                                    <p:anim calcmode="lin" valueType="num">
                                      <p:cBhvr additive="base">
                                        <p:cTn id="14"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noAutofit/>
          </a:bodyPr>
          <a:lstStyle/>
          <a:p>
            <a:pPr>
              <a:defRPr/>
            </a:pPr>
            <a:r>
              <a:rPr lang="en-US" dirty="0">
                <a:effectLst>
                  <a:outerShdw blurRad="38100" dist="38100" dir="2700000" algn="tl">
                    <a:srgbClr val="000000">
                      <a:alpha val="43137"/>
                    </a:srgbClr>
                  </a:outerShdw>
                </a:effectLst>
              </a:rPr>
              <a:t>Internal working of try-catch block</a:t>
            </a:r>
          </a:p>
        </p:txBody>
      </p:sp>
      <p:pic>
        <p:nvPicPr>
          <p:cNvPr id="7680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3913" y="1676400"/>
            <a:ext cx="710088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multiple catch blocks can be used with a single try.</a:t>
            </a:r>
          </a:p>
          <a:p>
            <a:pPr>
              <a:defRPr/>
            </a:pPr>
            <a:r>
              <a:rPr lang="en-US" dirty="0"/>
              <a:t>If we want to perform different tasks at the occurrence of different Exceptions, </a:t>
            </a:r>
            <a:r>
              <a:rPr lang="en-US" dirty="0">
                <a:solidFill>
                  <a:srgbClr val="FF0000"/>
                </a:solidFill>
              </a:rPr>
              <a:t>java multi catch block</a:t>
            </a:r>
            <a:r>
              <a:rPr lang="en-US" dirty="0"/>
              <a:t> is used.</a:t>
            </a:r>
          </a:p>
          <a:p>
            <a:pPr>
              <a:defRPr/>
            </a:pPr>
            <a:r>
              <a:rPr lang="en-US" dirty="0"/>
              <a:t>Syntax:</a:t>
            </a:r>
          </a:p>
          <a:p>
            <a:pPr marL="1116012" lvl="4" indent="0">
              <a:buFont typeface="Wingdings 2" panose="05020102010507070707" pitchFamily="18" charset="2"/>
              <a:buNone/>
              <a:defRPr/>
            </a:pPr>
            <a:r>
              <a:rPr lang="en-US" sz="2700" dirty="0"/>
              <a:t>try { // Protected code }</a:t>
            </a:r>
          </a:p>
          <a:p>
            <a:pPr marL="1116012" lvl="4" indent="0">
              <a:buFont typeface="Wingdings 2" panose="05020102010507070707" pitchFamily="18" charset="2"/>
              <a:buNone/>
              <a:defRPr/>
            </a:pPr>
            <a:r>
              <a:rPr lang="en-US" sz="2700" dirty="0"/>
              <a:t>catch (ExceptionType1 e1) {// Catch block }</a:t>
            </a:r>
          </a:p>
          <a:p>
            <a:pPr marL="1116012" lvl="4" indent="0">
              <a:buFont typeface="Wingdings 2" panose="05020102010507070707" pitchFamily="18" charset="2"/>
              <a:buNone/>
              <a:defRPr/>
            </a:pPr>
            <a:r>
              <a:rPr lang="en-US" sz="2700" dirty="0"/>
              <a:t>catch (ExceptionType2 e2) {// Catch block }</a:t>
            </a:r>
          </a:p>
          <a:p>
            <a:pPr marL="1116012" lvl="4" indent="0">
              <a:buFont typeface="Wingdings 2" panose="05020102010507070707" pitchFamily="18" charset="2"/>
              <a:buNone/>
              <a:defRPr/>
            </a:pPr>
            <a:r>
              <a:rPr lang="en-US" sz="2700" dirty="0"/>
              <a:t>catch (ExceptionType3 e3) {// Catch block }</a:t>
            </a:r>
          </a:p>
          <a:p>
            <a:pPr marL="109537" indent="0">
              <a:buFont typeface="Wingdings 3" panose="05040102010807070707" pitchFamily="18" charset="2"/>
              <a:buNone/>
              <a:defRPr/>
            </a:pPr>
            <a:endParaRPr lang="en-US" b="1" dirty="0"/>
          </a:p>
          <a:p>
            <a:pPr>
              <a:defRPr/>
            </a:pPr>
            <a:endParaRPr lang="en-US" dirty="0"/>
          </a:p>
        </p:txBody>
      </p:sp>
      <p:sp>
        <p:nvSpPr>
          <p:cNvPr id="3" name="Title 2"/>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catch multiple exceptions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lstStyle/>
          <a:p>
            <a:pPr>
              <a:defRPr/>
            </a:pPr>
            <a:r>
              <a:rPr lang="en-US" dirty="0"/>
              <a:t>Example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3900" y="1498600"/>
            <a:ext cx="769620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5486400"/>
            <a:ext cx="426720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b="1" dirty="0"/>
              <a:t>Rule: </a:t>
            </a:r>
          </a:p>
          <a:p>
            <a:pPr marL="109537" indent="0">
              <a:buFont typeface="Wingdings 3" panose="05040102010807070707" pitchFamily="18" charset="2"/>
              <a:buNone/>
              <a:defRPr/>
            </a:pPr>
            <a:r>
              <a:rPr lang="en-US" b="1" dirty="0"/>
              <a:t>	At a time only one Exception is occurred 	and at a time only one catch block is 	executed.</a:t>
            </a:r>
          </a:p>
          <a:p>
            <a:pPr>
              <a:defRPr/>
            </a:pPr>
            <a:endParaRPr lang="en-US" dirty="0"/>
          </a:p>
          <a:p>
            <a:pPr>
              <a:defRPr/>
            </a:pPr>
            <a:r>
              <a:rPr lang="en-US" b="1" dirty="0"/>
              <a:t>Rule: </a:t>
            </a:r>
          </a:p>
          <a:p>
            <a:pPr marL="109537" indent="0">
              <a:buFont typeface="Wingdings 3" panose="05040102010807070707" pitchFamily="18" charset="2"/>
              <a:buNone/>
              <a:defRPr/>
            </a:pPr>
            <a:r>
              <a:rPr lang="en-US" b="1" dirty="0"/>
              <a:t>	All catch blocks must be ordered from 	most specific to most general i.e. catch for 	</a:t>
            </a:r>
            <a:r>
              <a:rPr lang="en-US" b="1" dirty="0" err="1"/>
              <a:t>ArithmeticException</a:t>
            </a:r>
            <a:r>
              <a:rPr lang="en-US" b="1" dirty="0"/>
              <a:t> must come before 	catch for Exception .</a:t>
            </a:r>
          </a:p>
          <a:p>
            <a:pPr>
              <a:defRPr/>
            </a:pPr>
            <a:endParaRPr lang="en-US" dirty="0"/>
          </a:p>
        </p:txBody>
      </p:sp>
      <p:sp>
        <p:nvSpPr>
          <p:cNvPr id="3" name="Title 2"/>
          <p:cNvSpPr>
            <a:spLocks noGrp="1"/>
          </p:cNvSpPr>
          <p:nvPr>
            <p:ph type="title"/>
          </p:nvPr>
        </p:nvSpPr>
        <p:spPr/>
        <p:txBody>
          <a:bodyPr/>
          <a:lstStyle/>
          <a:p>
            <a:pPr>
              <a:defRPr/>
            </a:pPr>
            <a:r>
              <a:rPr lang="en-US" dirty="0"/>
              <a:t>Rules for Multi-catch block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lstStyle/>
          <a:p>
            <a:pPr>
              <a:defRPr/>
            </a:pPr>
            <a:r>
              <a:rPr lang="en-US" dirty="0"/>
              <a:t>Example </a:t>
            </a:r>
          </a:p>
        </p:txBody>
      </p:sp>
      <p:pic>
        <p:nvPicPr>
          <p:cNvPr id="8397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76400"/>
            <a:ext cx="71628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711700"/>
          </a:xfrm>
        </p:spPr>
        <p:txBody>
          <a:bodyPr/>
          <a:lstStyle/>
          <a:p>
            <a:r>
              <a:rPr lang="en-US" altLang="en-US"/>
              <a:t>Java finally block is always executed whether exception is handled or not.</a:t>
            </a:r>
          </a:p>
          <a:p>
            <a:r>
              <a:rPr lang="en-US" altLang="en-US"/>
              <a:t>Java finally block follows try or catch block.</a:t>
            </a:r>
          </a:p>
          <a:p>
            <a:r>
              <a:rPr lang="en-US" altLang="en-US"/>
              <a:t>Why use java finally?</a:t>
            </a:r>
          </a:p>
          <a:p>
            <a:pPr lvl="1"/>
            <a:r>
              <a:rPr lang="en-US" altLang="en-US"/>
              <a:t>Finally block in java can be used to put "cleanup" code such as closing a file, closing connection etc.</a:t>
            </a:r>
          </a:p>
          <a:p>
            <a:r>
              <a:rPr lang="en-US" altLang="en-US"/>
              <a:t>Syntax:</a:t>
            </a:r>
          </a:p>
          <a:p>
            <a:pPr marL="1114425" lvl="4" indent="0">
              <a:buFont typeface="Wingdings 2" panose="05020102010507070707" pitchFamily="18" charset="2"/>
              <a:buNone/>
            </a:pPr>
            <a:r>
              <a:rPr lang="en-US" altLang="en-US" sz="2700"/>
              <a:t>try { // Protected code }</a:t>
            </a:r>
          </a:p>
          <a:p>
            <a:pPr marL="1114425" lvl="4" indent="0">
              <a:buFont typeface="Wingdings 2" panose="05020102010507070707" pitchFamily="18" charset="2"/>
              <a:buNone/>
            </a:pPr>
            <a:r>
              <a:rPr lang="en-US" altLang="en-US" sz="2700"/>
              <a:t>catch (ExceptionType1 e1) {// Catch block }</a:t>
            </a:r>
          </a:p>
          <a:p>
            <a:pPr marL="1114425" lvl="4" indent="0">
              <a:buFont typeface="Wingdings 2" panose="05020102010507070707" pitchFamily="18" charset="2"/>
              <a:buNone/>
            </a:pPr>
            <a:r>
              <a:rPr lang="en-US" altLang="en-US" sz="2700"/>
              <a:t>catch (ExceptionType2 e2) {// Catch block }</a:t>
            </a:r>
          </a:p>
          <a:p>
            <a:pPr marL="1114425" lvl="4" indent="0">
              <a:buFont typeface="Wingdings 2" panose="05020102010507070707" pitchFamily="18" charset="2"/>
              <a:buNone/>
            </a:pPr>
            <a:r>
              <a:rPr lang="en-US" altLang="en-US" sz="2700"/>
              <a:t>finally {// finally block </a:t>
            </a:r>
            <a:r>
              <a:rPr lang="en-US" altLang="en-US" sz="2800"/>
              <a:t>always executes</a:t>
            </a:r>
            <a:r>
              <a:rPr lang="en-US" altLang="en-US" sz="2700"/>
              <a:t>}</a:t>
            </a:r>
          </a:p>
        </p:txBody>
      </p:sp>
      <p:sp>
        <p:nvSpPr>
          <p:cNvPr id="3" name="Title 2"/>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finally block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additive="base">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 calcmode="lin" valueType="num">
                                      <p:cBhvr additive="base">
                                        <p:cTn id="2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anim calcmode="lin" valueType="num">
                                      <p:cBhvr additive="base">
                                        <p:cTn id="2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 calcmode="lin" valueType="num">
                                      <p:cBhvr additive="base">
                                        <p:cTn id="3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1"/>
          <p:cNvSpPr>
            <a:spLocks noGrp="1"/>
          </p:cNvSpPr>
          <p:nvPr>
            <p:ph idx="1"/>
          </p:nvPr>
        </p:nvSpPr>
        <p:spPr/>
        <p:txBody>
          <a:bodyPr/>
          <a:lstStyle/>
          <a:p>
            <a:r>
              <a:rPr lang="en-US" altLang="en-US"/>
              <a:t>Note: If you don't handle exception, before terminating the program, JVM executes finally block(if any).</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lstStyle/>
          <a:p>
            <a:pPr>
              <a:defRPr/>
            </a:pPr>
            <a:r>
              <a:rPr lang="en-US" dirty="0"/>
              <a:t>Internal Working</a:t>
            </a:r>
          </a:p>
        </p:txBody>
      </p:sp>
      <p:pic>
        <p:nvPicPr>
          <p:cNvPr id="9114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514600"/>
            <a:ext cx="55626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 name="TextBox 4"/>
          <p:cNvSpPr txBox="1">
            <a:spLocks noChangeArrowheads="1"/>
          </p:cNvSpPr>
          <p:nvPr/>
        </p:nvSpPr>
        <p:spPr bwMode="auto">
          <a:xfrm>
            <a:off x="4191000" y="5486400"/>
            <a:ext cx="30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800">
                <a:solidFill>
                  <a:srgbClr val="FF0000"/>
                </a:solidFill>
              </a:rPr>
              <a:t>1</a:t>
            </a:r>
          </a:p>
        </p:txBody>
      </p:sp>
      <p:sp>
        <p:nvSpPr>
          <p:cNvPr id="91142" name="TextBox 6"/>
          <p:cNvSpPr txBox="1">
            <a:spLocks noChangeArrowheads="1"/>
          </p:cNvSpPr>
          <p:nvPr/>
        </p:nvSpPr>
        <p:spPr bwMode="auto">
          <a:xfrm>
            <a:off x="4648200" y="49530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800">
                <a:solidFill>
                  <a:srgbClr val="FF0000"/>
                </a:solidFill>
              </a:rPr>
              <a:t>2</a:t>
            </a:r>
          </a:p>
        </p:txBody>
      </p:sp>
      <p:sp>
        <p:nvSpPr>
          <p:cNvPr id="91143" name="TextBox 7"/>
          <p:cNvSpPr txBox="1">
            <a:spLocks noChangeArrowheads="1"/>
          </p:cNvSpPr>
          <p:nvPr/>
        </p:nvSpPr>
        <p:spPr bwMode="auto">
          <a:xfrm>
            <a:off x="5424488" y="5486400"/>
            <a:ext cx="266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800">
                <a:solidFill>
                  <a:srgbClr val="FF0000"/>
                </a:solidFill>
              </a:rPr>
              <a:t>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Different cases where java finally block can be used:</a:t>
            </a:r>
          </a:p>
          <a:p>
            <a:pPr>
              <a:defRPr/>
            </a:pPr>
            <a:r>
              <a:rPr lang="en-US" b="1" dirty="0"/>
              <a:t>Case 1 : exception doesn't occur</a:t>
            </a:r>
          </a:p>
          <a:p>
            <a:pPr>
              <a:defRPr/>
            </a:pPr>
            <a:r>
              <a:rPr lang="en-US" b="1" dirty="0"/>
              <a:t>Case 2 : exception occurs and not handled</a:t>
            </a:r>
          </a:p>
          <a:p>
            <a:pPr>
              <a:defRPr/>
            </a:pPr>
            <a:r>
              <a:rPr lang="en-US" b="1" dirty="0"/>
              <a:t>Case 3 : exception occurs and handled</a:t>
            </a:r>
          </a:p>
          <a:p>
            <a:pPr marL="109537" indent="0">
              <a:buFont typeface="Wingdings 3" panose="05040102010807070707" pitchFamily="18" charset="2"/>
              <a:buNone/>
              <a:defRPr/>
            </a:pPr>
            <a:endParaRPr lang="en-US" b="1" dirty="0"/>
          </a:p>
          <a:p>
            <a:pPr>
              <a:defRPr/>
            </a:pPr>
            <a:r>
              <a:rPr lang="en-US" b="1" dirty="0"/>
              <a:t>Rule: </a:t>
            </a:r>
          </a:p>
          <a:p>
            <a:pPr marL="109537" indent="0">
              <a:buFont typeface="Wingdings 3" panose="05040102010807070707" pitchFamily="18" charset="2"/>
              <a:buNone/>
              <a:defRPr/>
            </a:pPr>
            <a:r>
              <a:rPr lang="en-US" b="1" dirty="0"/>
              <a:t>	For each try block there can be zero or 	more catch blocks, but only one finally 	block.</a:t>
            </a:r>
          </a:p>
          <a:p>
            <a:pPr>
              <a:defRPr/>
            </a:pPr>
            <a:endParaRPr lang="en-US" dirty="0"/>
          </a:p>
        </p:txBody>
      </p:sp>
      <p:sp>
        <p:nvSpPr>
          <p:cNvPr id="3" name="Title 2"/>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Usage of Java finally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anim calcmode="lin" valueType="num">
                                      <p:cBhvr additive="base">
                                        <p:cTn id="1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Output:</a:t>
            </a:r>
          </a:p>
          <a:p>
            <a:endParaRPr lang="en-US" altLang="en-US"/>
          </a:p>
          <a:p>
            <a:endParaRPr lang="en-US" altLang="en-US"/>
          </a:p>
          <a:p>
            <a:endParaRPr lang="en-US" altLang="en-US"/>
          </a:p>
        </p:txBody>
      </p:sp>
      <p:sp>
        <p:nvSpPr>
          <p:cNvPr id="3" name="Title 2"/>
          <p:cNvSpPr>
            <a:spLocks noGrp="1"/>
          </p:cNvSpPr>
          <p:nvPr>
            <p:ph type="title"/>
          </p:nvPr>
        </p:nvSpPr>
        <p:spPr/>
        <p:txBody>
          <a:bodyPr>
            <a:normAutofit fontScale="90000"/>
          </a:bodyPr>
          <a:lstStyle/>
          <a:p>
            <a:pPr>
              <a:defRPr/>
            </a:pPr>
            <a:r>
              <a:rPr lang="en-US" dirty="0"/>
              <a:t>Case 1 : exception doesn't occur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1450"/>
            <a:ext cx="7620000"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5124450"/>
            <a:ext cx="40005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8" end="8"/>
                                            </p:txEl>
                                          </p:spTgt>
                                        </p:tgtEl>
                                        <p:attrNameLst>
                                          <p:attrName>style.visibility</p:attrName>
                                        </p:attrNameLst>
                                      </p:cBhvr>
                                      <p:to>
                                        <p:strVal val="visible"/>
                                      </p:to>
                                    </p:set>
                                    <p:anim calcmode="lin" valueType="num">
                                      <p:cBhvr additive="base">
                                        <p:cTn id="14"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Output:</a:t>
            </a:r>
          </a:p>
          <a:p>
            <a:endParaRPr lang="en-US" altLang="en-US"/>
          </a:p>
          <a:p>
            <a:endParaRPr lang="en-US" altLang="en-US"/>
          </a:p>
          <a:p>
            <a:endParaRPr lang="en-US" altLang="en-US"/>
          </a:p>
          <a:p>
            <a:endParaRPr lang="en-US" altLang="en-US"/>
          </a:p>
          <a:p>
            <a:endParaRPr lang="en-US" altLang="en-US"/>
          </a:p>
        </p:txBody>
      </p:sp>
      <p:sp>
        <p:nvSpPr>
          <p:cNvPr id="3" name="Title 2"/>
          <p:cNvSpPr>
            <a:spLocks noGrp="1"/>
          </p:cNvSpPr>
          <p:nvPr>
            <p:ph type="title"/>
          </p:nvPr>
        </p:nvSpPr>
        <p:spPr/>
        <p:txBody>
          <a:bodyPr>
            <a:normAutofit fontScale="90000"/>
          </a:bodyPr>
          <a:lstStyle/>
          <a:p>
            <a:pPr>
              <a:defRPr/>
            </a:pPr>
            <a:r>
              <a:rPr lang="en-US" dirty="0"/>
              <a:t>Case 2 : exception occurs and not handled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81138"/>
            <a:ext cx="7315200"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768975"/>
            <a:ext cx="69342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8" end="8"/>
                                            </p:txEl>
                                          </p:spTgt>
                                        </p:tgtEl>
                                        <p:attrNameLst>
                                          <p:attrName>style.visibility</p:attrName>
                                        </p:attrNameLst>
                                      </p:cBhvr>
                                      <p:to>
                                        <p:strVal val="visible"/>
                                      </p:to>
                                    </p:set>
                                    <p:anim calcmode="lin" valueType="num">
                                      <p:cBhvr additive="base">
                                        <p:cTn id="14"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Output:</a:t>
            </a:r>
          </a:p>
          <a:p>
            <a:endParaRPr lang="en-US" altLang="en-US"/>
          </a:p>
          <a:p>
            <a:endParaRPr lang="en-US" altLang="en-US"/>
          </a:p>
        </p:txBody>
      </p:sp>
      <p:sp>
        <p:nvSpPr>
          <p:cNvPr id="3" name="Title 2"/>
          <p:cNvSpPr>
            <a:spLocks noGrp="1"/>
          </p:cNvSpPr>
          <p:nvPr>
            <p:ph type="title"/>
          </p:nvPr>
        </p:nvSpPr>
        <p:spPr/>
        <p:txBody>
          <a:bodyPr>
            <a:normAutofit fontScale="90000"/>
          </a:bodyPr>
          <a:lstStyle/>
          <a:p>
            <a:pPr>
              <a:defRPr/>
            </a:pPr>
            <a:r>
              <a:rPr lang="en-US" dirty="0"/>
              <a:t>Case 3 : exception occurs and handled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81138"/>
            <a:ext cx="7315200" cy="309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5262563"/>
            <a:ext cx="5105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7" end="7"/>
                                            </p:txEl>
                                          </p:spTgt>
                                        </p:tgtEl>
                                        <p:attrNameLst>
                                          <p:attrName>style.visibility</p:attrName>
                                        </p:attrNameLst>
                                      </p:cBhvr>
                                      <p:to>
                                        <p:strVal val="visible"/>
                                      </p:to>
                                    </p:set>
                                    <p:anim calcmode="lin" valueType="num">
                                      <p:cBhvr additive="base">
                                        <p:cTn id="14"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458200" cy="4525962"/>
          </a:xfrm>
        </p:spPr>
        <p:txBody>
          <a:bodyPr/>
          <a:lstStyle/>
          <a:p>
            <a:pPr>
              <a:defRPr/>
            </a:pPr>
            <a:r>
              <a:rPr lang="en-US" dirty="0"/>
              <a:t>throw keyword is used to explicitly throw an exception (either checked or un-checked exception)</a:t>
            </a:r>
          </a:p>
          <a:p>
            <a:pPr>
              <a:defRPr/>
            </a:pPr>
            <a:r>
              <a:rPr lang="en-US" dirty="0"/>
              <a:t>mainly used to throw </a:t>
            </a:r>
            <a:r>
              <a:rPr lang="en-US" b="1" dirty="0">
                <a:solidFill>
                  <a:srgbClr val="FF0000"/>
                </a:solidFill>
              </a:rPr>
              <a:t>custom exception</a:t>
            </a:r>
          </a:p>
          <a:p>
            <a:pPr>
              <a:defRPr/>
            </a:pPr>
            <a:endParaRPr lang="en-US" dirty="0"/>
          </a:p>
          <a:p>
            <a:pPr>
              <a:defRPr/>
            </a:pPr>
            <a:r>
              <a:rPr lang="en-US" dirty="0"/>
              <a:t>Syntax:</a:t>
            </a:r>
          </a:p>
          <a:p>
            <a:pPr marL="109537" indent="0">
              <a:buFont typeface="Wingdings 3" panose="05040102010807070707" pitchFamily="18" charset="2"/>
              <a:buNone/>
              <a:defRPr/>
            </a:pPr>
            <a:r>
              <a:rPr lang="en-US" b="1" dirty="0"/>
              <a:t>	throw</a:t>
            </a:r>
            <a:r>
              <a:rPr lang="en-US" dirty="0"/>
              <a:t> exception; </a:t>
            </a:r>
          </a:p>
          <a:p>
            <a:pPr marL="109537" indent="0">
              <a:buFont typeface="Wingdings 3" panose="05040102010807070707" pitchFamily="18" charset="2"/>
              <a:buNone/>
              <a:defRPr/>
            </a:pPr>
            <a:r>
              <a:rPr lang="en-US" dirty="0"/>
              <a:t> </a:t>
            </a:r>
          </a:p>
          <a:p>
            <a:pPr>
              <a:defRPr/>
            </a:pPr>
            <a:r>
              <a:rPr lang="en-US" dirty="0"/>
              <a:t>example of throw </a:t>
            </a:r>
            <a:r>
              <a:rPr lang="en-US" dirty="0" err="1"/>
              <a:t>IOException</a:t>
            </a:r>
            <a:r>
              <a:rPr lang="en-US" dirty="0"/>
              <a:t>.</a:t>
            </a:r>
          </a:p>
          <a:p>
            <a:pPr marL="109537" indent="0">
              <a:buFont typeface="Wingdings 3" panose="05040102010807070707" pitchFamily="18" charset="2"/>
              <a:buNone/>
              <a:defRPr/>
            </a:pPr>
            <a:r>
              <a:rPr lang="en-US" b="1" dirty="0"/>
              <a:t>	throw</a:t>
            </a:r>
            <a:r>
              <a:rPr lang="en-US" dirty="0"/>
              <a:t> </a:t>
            </a:r>
            <a:r>
              <a:rPr lang="en-US" b="1" dirty="0"/>
              <a:t>new</a:t>
            </a:r>
            <a:r>
              <a:rPr lang="en-US" dirty="0"/>
              <a:t> </a:t>
            </a:r>
            <a:r>
              <a:rPr lang="en-US" dirty="0" err="1"/>
              <a:t>IOException</a:t>
            </a:r>
            <a:r>
              <a:rPr lang="en-US" dirty="0"/>
              <a:t>("sorry device error);  </a:t>
            </a:r>
          </a:p>
          <a:p>
            <a:pPr>
              <a:defRPr/>
            </a:pPr>
            <a:endParaRPr lang="en-US" dirty="0"/>
          </a:p>
        </p:txBody>
      </p:sp>
      <p:sp>
        <p:nvSpPr>
          <p:cNvPr id="3" name="Title 2"/>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Java throw exception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Output: </a:t>
            </a:r>
          </a:p>
        </p:txBody>
      </p:sp>
      <p:sp>
        <p:nvSpPr>
          <p:cNvPr id="3" name="Title 2"/>
          <p:cNvSpPr>
            <a:spLocks noGrp="1"/>
          </p:cNvSpPr>
          <p:nvPr>
            <p:ph type="title"/>
          </p:nvPr>
        </p:nvSpPr>
        <p:spPr/>
        <p:txBody>
          <a:bodyPr/>
          <a:lstStyle/>
          <a:p>
            <a:pPr>
              <a:defRPr/>
            </a:pPr>
            <a:r>
              <a:rPr lang="en-US" dirty="0"/>
              <a:t>Example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417638"/>
            <a:ext cx="6797675" cy="361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03438" y="5619750"/>
            <a:ext cx="65532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8" end="8"/>
                                            </p:txEl>
                                          </p:spTgt>
                                        </p:tgtEl>
                                        <p:attrNameLst>
                                          <p:attrName>style.visibility</p:attrName>
                                        </p:attrNameLst>
                                      </p:cBhvr>
                                      <p:to>
                                        <p:strVal val="visible"/>
                                      </p:to>
                                    </p:set>
                                    <p:anim calcmode="lin" valueType="num">
                                      <p:cBhvr additive="base">
                                        <p:cTn id="14"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1"/>
          <p:cNvSpPr>
            <a:spLocks noGrp="1"/>
          </p:cNvSpPr>
          <p:nvPr>
            <p:ph idx="1"/>
          </p:nvPr>
        </p:nvSpPr>
        <p:spPr/>
        <p:txBody>
          <a:bodyPr/>
          <a:lstStyle/>
          <a:p>
            <a:r>
              <a:rPr lang="en-US" altLang="en-US" b="1"/>
              <a:t>throws keyword</a:t>
            </a:r>
            <a:r>
              <a:rPr lang="en-US" altLang="en-US"/>
              <a:t> is used to declare an exception</a:t>
            </a:r>
          </a:p>
          <a:p>
            <a:r>
              <a:rPr lang="en-US" altLang="en-US"/>
              <a:t>If a method does not handle a checked exception, the method must declare it using </a:t>
            </a:r>
            <a:r>
              <a:rPr lang="en-US" altLang="en-US" b="1"/>
              <a:t>throws keyword</a:t>
            </a:r>
            <a:r>
              <a:rPr lang="en-US" altLang="en-US"/>
              <a:t> </a:t>
            </a:r>
          </a:p>
          <a:p>
            <a:r>
              <a:rPr lang="en-US" altLang="en-US"/>
              <a:t>The throws keyword appears at the end of a method's signature.</a:t>
            </a:r>
          </a:p>
          <a:p>
            <a:r>
              <a:rPr lang="en-US" altLang="en-US"/>
              <a:t>Basically used to postpone the handling of a checked exception</a:t>
            </a:r>
          </a:p>
          <a:p>
            <a:pPr lvl="1"/>
            <a:r>
              <a:rPr lang="en-US" altLang="en-US"/>
              <a:t>declare the exceptions in the method signature using throws and handle the exceptions where you are calling this method by using try-catch.</a:t>
            </a:r>
          </a:p>
          <a:p>
            <a:pPr lvl="1"/>
            <a:r>
              <a:rPr lang="en-US" altLang="en-US"/>
              <a:t>The calling method is forced to handle declared exceptions</a:t>
            </a:r>
          </a:p>
          <a:p>
            <a:endParaRPr lang="en-US" altLang="en-US"/>
          </a:p>
          <a:p>
            <a:endParaRPr lang="en-US" altLang="en-US"/>
          </a:p>
        </p:txBody>
      </p:sp>
      <p:sp>
        <p:nvSpPr>
          <p:cNvPr id="3" name="Title 2"/>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Java throws keyword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1"/>
          <p:cNvSpPr>
            <a:spLocks noGrp="1"/>
          </p:cNvSpPr>
          <p:nvPr>
            <p:ph idx="1"/>
          </p:nvPr>
        </p:nvSpPr>
        <p:spPr/>
        <p:txBody>
          <a:bodyPr/>
          <a:lstStyle/>
          <a:p>
            <a:r>
              <a:rPr lang="en-US" altLang="en-US"/>
              <a:t>By using throws we can declare multiple exceptions in one go</a:t>
            </a:r>
          </a:p>
          <a:p>
            <a:endParaRPr lang="en-US" altLang="en-US"/>
          </a:p>
          <a:p>
            <a:endParaRPr lang="en-US" altLang="en-US"/>
          </a:p>
          <a:p>
            <a:endParaRPr lang="en-US" altLang="en-US"/>
          </a:p>
        </p:txBody>
      </p:sp>
      <p:sp>
        <p:nvSpPr>
          <p:cNvPr id="3" name="Title 2"/>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Java throws keyword</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9900" y="2514600"/>
            <a:ext cx="8216900" cy="413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effectLst>
                  <a:outerShdw blurRad="38100" dist="38100" dir="2700000" algn="tl">
                    <a:srgbClr val="000000">
                      <a:alpha val="43137"/>
                    </a:srgbClr>
                  </a:outerShdw>
                </a:effectLst>
              </a:rPr>
              <a:t>Difference between throw and throws</a:t>
            </a:r>
          </a:p>
        </p:txBody>
      </p:sp>
      <p:sp>
        <p:nvSpPr>
          <p:cNvPr id="114691" name="Text Placeholder 2"/>
          <p:cNvSpPr>
            <a:spLocks noGrp="1"/>
          </p:cNvSpPr>
          <p:nvPr>
            <p:ph type="body" idx="1"/>
          </p:nvPr>
        </p:nvSpPr>
        <p:spPr>
          <a:xfrm>
            <a:off x="457200" y="5815013"/>
            <a:ext cx="4040188" cy="762000"/>
          </a:xfrm>
          <a:ln>
            <a:headEnd/>
            <a:tailEnd/>
          </a:ln>
        </p:spPr>
        <p:txBody>
          <a:bodyPr/>
          <a:lstStyle/>
          <a:p>
            <a:pPr algn="ctr"/>
            <a:r>
              <a:rPr lang="en-US" altLang="en-US" sz="3200" b="1"/>
              <a:t>throw</a:t>
            </a:r>
          </a:p>
        </p:txBody>
      </p:sp>
      <p:sp>
        <p:nvSpPr>
          <p:cNvPr id="114692" name="Text Placeholder 3"/>
          <p:cNvSpPr>
            <a:spLocks noGrp="1"/>
          </p:cNvSpPr>
          <p:nvPr>
            <p:ph type="body" sz="half" idx="3"/>
          </p:nvPr>
        </p:nvSpPr>
        <p:spPr>
          <a:xfrm>
            <a:off x="4759325" y="5795963"/>
            <a:ext cx="4041775" cy="762000"/>
          </a:xfrm>
          <a:ln>
            <a:headEnd/>
            <a:tailEnd/>
          </a:ln>
        </p:spPr>
        <p:txBody>
          <a:bodyPr/>
          <a:lstStyle/>
          <a:p>
            <a:pPr algn="ctr"/>
            <a:r>
              <a:rPr lang="en-US" altLang="en-US" sz="3200" b="1"/>
              <a:t>throws</a:t>
            </a:r>
          </a:p>
        </p:txBody>
      </p:sp>
      <p:sp>
        <p:nvSpPr>
          <p:cNvPr id="5" name="Content Placeholder 4"/>
          <p:cNvSpPr>
            <a:spLocks noGrp="1"/>
          </p:cNvSpPr>
          <p:nvPr>
            <p:ph sz="quarter" idx="2"/>
          </p:nvPr>
        </p:nvSpPr>
        <p:spPr>
          <a:xfrm>
            <a:off x="457200" y="1444625"/>
            <a:ext cx="4040188"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r>
              <a:rPr lang="en-US" altLang="en-US"/>
              <a:t>throw keyword is used to explicitly throw an exception.</a:t>
            </a:r>
          </a:p>
          <a:p>
            <a:r>
              <a:rPr lang="en-US" altLang="en-US"/>
              <a:t>Checked exception cannot be propagated using throw only.</a:t>
            </a:r>
          </a:p>
          <a:p>
            <a:r>
              <a:rPr lang="en-US" altLang="en-US"/>
              <a:t>Followed by an instance</a:t>
            </a:r>
          </a:p>
          <a:p>
            <a:r>
              <a:rPr lang="en-US" altLang="en-US"/>
              <a:t>used within the method.</a:t>
            </a:r>
          </a:p>
          <a:p>
            <a:r>
              <a:rPr lang="en-US" altLang="en-US"/>
              <a:t>cannot throw multiple exceptions</a:t>
            </a:r>
          </a:p>
        </p:txBody>
      </p:sp>
      <p:sp>
        <p:nvSpPr>
          <p:cNvPr id="6" name="Content Placeholder 5"/>
          <p:cNvSpPr>
            <a:spLocks noGrp="1"/>
          </p:cNvSpPr>
          <p:nvPr>
            <p:ph sz="quarter" idx="4"/>
          </p:nvPr>
        </p:nvSpPr>
        <p:spPr>
          <a:xfrm>
            <a:off x="4645025" y="1444625"/>
            <a:ext cx="42703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altLang="en-US"/>
              <a:t>throws keyword is used to declare an exception.</a:t>
            </a:r>
          </a:p>
          <a:p>
            <a:pPr>
              <a:spcBef>
                <a:spcPct val="0"/>
              </a:spcBef>
            </a:pPr>
            <a:r>
              <a:rPr lang="en-US" altLang="en-US"/>
              <a:t>Checked exception can be propagated with throws.</a:t>
            </a:r>
          </a:p>
          <a:p>
            <a:pPr>
              <a:spcBef>
                <a:spcPct val="0"/>
              </a:spcBef>
            </a:pPr>
            <a:r>
              <a:rPr lang="en-US" altLang="en-US"/>
              <a:t>Followed by class</a:t>
            </a:r>
          </a:p>
          <a:p>
            <a:pPr>
              <a:spcBef>
                <a:spcPct val="0"/>
              </a:spcBef>
            </a:pPr>
            <a:r>
              <a:rPr lang="en-US" altLang="en-US"/>
              <a:t>with the method signature.</a:t>
            </a:r>
          </a:p>
          <a:p>
            <a:pPr>
              <a:spcBef>
                <a:spcPct val="0"/>
              </a:spcBef>
            </a:pPr>
            <a:r>
              <a:rPr lang="en-US" altLang="en-US"/>
              <a:t>can declare multiple exceptions e.g.</a:t>
            </a:r>
            <a:br>
              <a:rPr lang="en-US" altLang="en-US"/>
            </a:br>
            <a:r>
              <a:rPr lang="en-US" altLang="en-US"/>
              <a:t>public void method()throws IOException,SQLException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 calcmode="lin" valueType="num">
                                      <p:cBhvr additive="base">
                                        <p:cTn id="3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3" end="3"/>
                                            </p:txEl>
                                          </p:spTgt>
                                        </p:tgtEl>
                                        <p:attrNameLst>
                                          <p:attrName>style.visibility</p:attrName>
                                        </p:attrNameLst>
                                      </p:cBhvr>
                                      <p:to>
                                        <p:strVal val="visible"/>
                                      </p:to>
                                    </p:set>
                                    <p:anim calcmode="lin" valueType="num">
                                      <p:cBhvr additive="base">
                                        <p:cTn id="4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additive="base">
                                        <p:cTn id="4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anim calcmode="lin" valueType="num">
                                      <p:cBhvr additive="base">
                                        <p:cTn id="5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ChangeArrowheads="1"/>
          </p:cNvSpPr>
          <p:nvPr/>
        </p:nvSpPr>
        <p:spPr bwMode="auto">
          <a:xfrm>
            <a:off x="381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br>
              <a:rPr lang="en-US" altLang="en-US" sz="1800">
                <a:solidFill>
                  <a:schemeClr val="tx2"/>
                </a:solidFill>
                <a:latin typeface="Lucida Sans Unicode" panose="020B0602030504020204" pitchFamily="34" charset="0"/>
              </a:rPr>
            </a:br>
            <a:endParaRPr lang="en-US" altLang="en-US" sz="1800">
              <a:solidFill>
                <a:schemeClr val="tx2"/>
              </a:solidFill>
              <a:latin typeface="Lucida Sans Unicode" panose="020B0602030504020204" pitchFamily="34" charset="0"/>
            </a:endParaRPr>
          </a:p>
        </p:txBody>
      </p:sp>
      <p:sp>
        <p:nvSpPr>
          <p:cNvPr id="128003" name="Title 1"/>
          <p:cNvSpPr txBox="1">
            <a:spLocks/>
          </p:cNvSpPr>
          <p:nvPr/>
        </p:nvSpPr>
        <p:spPr bwMode="auto">
          <a:xfrm>
            <a:off x="685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4400">
                <a:latin typeface="Calibri" panose="020F0502020204030204" pitchFamily="34" charset="0"/>
              </a:rPr>
              <a:t>Questions?</a:t>
            </a:r>
          </a:p>
        </p:txBody>
      </p:sp>
      <p:sp>
        <p:nvSpPr>
          <p:cNvPr id="128004" name="Slide Number Placeholder 2"/>
          <p:cNvSpPr>
            <a:spLocks noGrp="1"/>
          </p:cNvSpPr>
          <p:nvPr>
            <p:ph type="sldNum" sz="quarter" idx="12"/>
          </p:nvPr>
        </p:nvSpPr>
        <p:spPr bwMode="auto">
          <a:xfrm>
            <a:off x="9926638" y="8534400"/>
            <a:ext cx="312737" cy="257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l">
              <a:spcBef>
                <a:spcPct val="0"/>
              </a:spcBef>
              <a:buClrTx/>
              <a:buSzTx/>
              <a:buFontTx/>
              <a:buNone/>
            </a:pPr>
            <a:fld id="{5C604340-5CF7-4974-ABBC-D4188BD3C46C}" type="slidenum">
              <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rPr>
              <a:pPr algn="l">
                <a:spcBef>
                  <a:spcPct val="0"/>
                </a:spcBef>
                <a:buClrTx/>
                <a:buSzTx/>
                <a:buFontTx/>
                <a:buNone/>
              </a:pPr>
              <a:t>33</a:t>
            </a:fld>
            <a:endParaRPr lang="en-US" altLang="en-US" sz="1400">
              <a:solidFill>
                <a:schemeClr val="bg1"/>
              </a:solidFill>
              <a:latin typeface="Lucida Sans Unicode" panose="020B0602030504020204" pitchFamily="34" charset="0"/>
              <a:ea typeface="ヒラギノ角ゴ ProN W3"/>
              <a:cs typeface="ヒラギノ角ゴ ProN W3"/>
              <a:sym typeface="Arial" panose="020B0604020202020204" pitchFamily="34" charset="0"/>
            </a:endParaRP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14144</TotalTime>
  <Words>1406</Words>
  <Application>Microsoft Office PowerPoint</Application>
  <PresentationFormat>On-screen Show (4:3)</PresentationFormat>
  <Paragraphs>251</Paragraphs>
  <Slides>33</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__Source_Sans_Pro_fea366</vt:lpstr>
      <vt:lpstr>Arial</vt:lpstr>
      <vt:lpstr>Calibri</vt:lpstr>
      <vt:lpstr>Google Sans</vt:lpstr>
      <vt:lpstr>Lucida Sans Unicode</vt:lpstr>
      <vt:lpstr>Verdana</vt:lpstr>
      <vt:lpstr>Wingdings 2</vt:lpstr>
      <vt:lpstr>Wingdings 3</vt:lpstr>
      <vt:lpstr>Concourse</vt:lpstr>
      <vt:lpstr>Exception Handling</vt:lpstr>
      <vt:lpstr>Advantage of Exception Handling</vt:lpstr>
      <vt:lpstr>Exception Hierarchy</vt:lpstr>
      <vt:lpstr>Exception Hierarchy</vt:lpstr>
      <vt:lpstr>Checked &amp; Unchecked Exception</vt:lpstr>
      <vt:lpstr>Unchecked Exceptions</vt:lpstr>
      <vt:lpstr>PowerPoint Presentation</vt:lpstr>
      <vt:lpstr>Exceptions Not handled</vt:lpstr>
      <vt:lpstr>Summarized Exception Hierarchy </vt:lpstr>
      <vt:lpstr>Runtime Exceptions</vt:lpstr>
      <vt:lpstr>Runtime Exceptions</vt:lpstr>
      <vt:lpstr>Java Exception Handling Keywords</vt:lpstr>
      <vt:lpstr>try-catch </vt:lpstr>
      <vt:lpstr>try-catch</vt:lpstr>
      <vt:lpstr>Problem without exception handling</vt:lpstr>
      <vt:lpstr>Solution </vt:lpstr>
      <vt:lpstr>Internal working of try-catch block</vt:lpstr>
      <vt:lpstr>catch multiple exceptions</vt:lpstr>
      <vt:lpstr>Example</vt:lpstr>
      <vt:lpstr>Rules for Multi-catch block</vt:lpstr>
      <vt:lpstr>Example </vt:lpstr>
      <vt:lpstr>finally block</vt:lpstr>
      <vt:lpstr>Internal Working</vt:lpstr>
      <vt:lpstr>Usage of Java finally</vt:lpstr>
      <vt:lpstr>Case 1 : exception doesn't occur</vt:lpstr>
      <vt:lpstr>Case 2 : exception occurs and not handled</vt:lpstr>
      <vt:lpstr>Case 3 : exception occurs and handled</vt:lpstr>
      <vt:lpstr>Java throw exception</vt:lpstr>
      <vt:lpstr>Example</vt:lpstr>
      <vt:lpstr>Java throws keyword</vt:lpstr>
      <vt:lpstr>Java throws keyword</vt:lpstr>
      <vt:lpstr>Difference between throw and throws</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WinDows7</dc:creator>
  <cp:lastModifiedBy>Fatima gillani</cp:lastModifiedBy>
  <cp:revision>269</cp:revision>
  <dcterms:created xsi:type="dcterms:W3CDTF">2010-12-04T04:33:58Z</dcterms:created>
  <dcterms:modified xsi:type="dcterms:W3CDTF">2024-05-09T10:10:55Z</dcterms:modified>
</cp:coreProperties>
</file>