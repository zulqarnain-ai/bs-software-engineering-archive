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89" r:id="rId8"/>
    <p:sldId id="262" r:id="rId9"/>
    <p:sldId id="263" r:id="rId10"/>
    <p:sldId id="264" r:id="rId11"/>
    <p:sldId id="265" r:id="rId12"/>
    <p:sldId id="266" r:id="rId13"/>
    <p:sldId id="267" r:id="rId14"/>
    <p:sldId id="288"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2" r:id="rId29"/>
    <p:sldId id="281" r:id="rId30"/>
    <p:sldId id="284" r:id="rId31"/>
    <p:sldId id="285" r:id="rId32"/>
    <p:sldId id="283" r:id="rId33"/>
    <p:sldId id="286" r:id="rId34"/>
    <p:sldId id="287"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835"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424248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2957303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440971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279574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8F25A8-FF26-436F-A583-0C8F25F0E80D}" type="datetimeFigureOut">
              <a:rPr lang="en-US" smtClean="0"/>
              <a:t>08-Dec-24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1151611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8F25A8-FF26-436F-A583-0C8F25F0E80D}" type="datetimeFigureOut">
              <a:rPr lang="en-US" smtClean="0"/>
              <a:t>08-Dec-24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419775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8F25A8-FF26-436F-A583-0C8F25F0E80D}" type="datetimeFigureOut">
              <a:rPr lang="en-US" smtClean="0"/>
              <a:t>08-Dec-24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4119195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3030838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2684350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283834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738912-3771-419D-9B9B-5D206F2AD7E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1856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4280528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738912-3771-419D-9B9B-5D206F2AD7E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9898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78F25A8-FF26-436F-A583-0C8F25F0E80D}" type="datetimeFigureOut">
              <a:rPr lang="en-US" smtClean="0"/>
              <a:t>08-Dec-24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65967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3459784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8F25A8-FF26-436F-A583-0C8F25F0E80D}" type="datetimeFigureOut">
              <a:rPr lang="en-US" smtClean="0"/>
              <a:t>08-Dec-24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738912-3771-419D-9B9B-5D206F2AD7EB}" type="slidenum">
              <a:rPr lang="en-US" smtClean="0"/>
              <a:t>‹#›</a:t>
            </a:fld>
            <a:endParaRPr lang="en-US"/>
          </a:p>
        </p:txBody>
      </p:sp>
    </p:spTree>
    <p:extLst>
      <p:ext uri="{BB962C8B-B14F-4D97-AF65-F5344CB8AC3E}">
        <p14:creationId xmlns:p14="http://schemas.microsoft.com/office/powerpoint/2010/main" val="1788717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78F25A8-FF26-436F-A583-0C8F25F0E80D}" type="datetimeFigureOut">
              <a:rPr lang="en-US" smtClean="0"/>
              <a:t>08-Dec-24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9738912-3771-419D-9B9B-5D206F2AD7EB}" type="slidenum">
              <a:rPr lang="en-US" smtClean="0"/>
              <a:t>‹#›</a:t>
            </a:fld>
            <a:endParaRPr lang="en-US"/>
          </a:p>
        </p:txBody>
      </p:sp>
    </p:spTree>
    <p:extLst>
      <p:ext uri="{BB962C8B-B14F-4D97-AF65-F5344CB8AC3E}">
        <p14:creationId xmlns:p14="http://schemas.microsoft.com/office/powerpoint/2010/main" val="78235641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4FEF-7652-3149-ACBE-8B254AC26844}"/>
              </a:ext>
            </a:extLst>
          </p:cNvPr>
          <p:cNvSpPr>
            <a:spLocks noGrp="1"/>
          </p:cNvSpPr>
          <p:nvPr>
            <p:ph type="ctrTitle"/>
          </p:nvPr>
        </p:nvSpPr>
        <p:spPr/>
        <p:txBody>
          <a:bodyPr>
            <a:normAutofit/>
          </a:bodyPr>
          <a:lstStyle/>
          <a:p>
            <a:r>
              <a:rPr lang="en-US" sz="4000" b="1" dirty="0">
                <a:solidFill>
                  <a:srgbClr val="00ACEF"/>
                </a:solidFill>
                <a:latin typeface="NimbusRomNo9L"/>
              </a:rPr>
              <a:t>TRANSMISSION CONTROL PROTOCOL </a:t>
            </a:r>
            <a:endParaRPr lang="en-US" sz="11500" dirty="0"/>
          </a:p>
        </p:txBody>
      </p:sp>
      <p:sp>
        <p:nvSpPr>
          <p:cNvPr id="3" name="Subtitle 2">
            <a:extLst>
              <a:ext uri="{FF2B5EF4-FFF2-40B4-BE49-F238E27FC236}">
                <a16:creationId xmlns:a16="http://schemas.microsoft.com/office/drawing/2014/main" id="{88B16AB0-BE65-4F05-CD85-D0FCEA068683}"/>
              </a:ext>
            </a:extLst>
          </p:cNvPr>
          <p:cNvSpPr>
            <a:spLocks noGrp="1"/>
          </p:cNvSpPr>
          <p:nvPr>
            <p:ph type="subTitle" idx="1"/>
          </p:nvPr>
        </p:nvSpPr>
        <p:spPr/>
        <p:txBody>
          <a:bodyPr>
            <a:normAutofit/>
          </a:bodyPr>
          <a:lstStyle/>
          <a:p>
            <a:r>
              <a:rPr lang="en-US" sz="2000" dirty="0"/>
              <a:t>Lecture by Hasan Shah</a:t>
            </a:r>
          </a:p>
          <a:p>
            <a:r>
              <a:rPr lang="en-US" sz="2000" dirty="0"/>
              <a:t>Book :Data Communication and Networks, Behrouz A. </a:t>
            </a:r>
            <a:r>
              <a:rPr lang="en-US" sz="2000" dirty="0" err="1"/>
              <a:t>Forouzan</a:t>
            </a:r>
            <a:r>
              <a:rPr lang="en-US" sz="2000" dirty="0"/>
              <a:t> 5e</a:t>
            </a:r>
          </a:p>
        </p:txBody>
      </p:sp>
      <p:pic>
        <p:nvPicPr>
          <p:cNvPr id="5" name="Picture 4">
            <a:extLst>
              <a:ext uri="{FF2B5EF4-FFF2-40B4-BE49-F238E27FC236}">
                <a16:creationId xmlns:a16="http://schemas.microsoft.com/office/drawing/2014/main" id="{3381477A-DE78-5560-BD1A-5231A52E2B02}"/>
              </a:ext>
            </a:extLst>
          </p:cNvPr>
          <p:cNvPicPr>
            <a:picLocks noChangeAspect="1"/>
          </p:cNvPicPr>
          <p:nvPr/>
        </p:nvPicPr>
        <p:blipFill>
          <a:blip r:embed="rId2"/>
          <a:stretch>
            <a:fillRect/>
          </a:stretch>
        </p:blipFill>
        <p:spPr>
          <a:xfrm>
            <a:off x="2589213" y="358775"/>
            <a:ext cx="7838573" cy="3842312"/>
          </a:xfrm>
          <a:prstGeom prst="rect">
            <a:avLst/>
          </a:prstGeom>
        </p:spPr>
      </p:pic>
    </p:spTree>
    <p:extLst>
      <p:ext uri="{BB962C8B-B14F-4D97-AF65-F5344CB8AC3E}">
        <p14:creationId xmlns:p14="http://schemas.microsoft.com/office/powerpoint/2010/main" val="3105601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3E147-FDB9-56E9-2605-B1F21626AD96}"/>
              </a:ext>
            </a:extLst>
          </p:cNvPr>
          <p:cNvSpPr>
            <a:spLocks noGrp="1"/>
          </p:cNvSpPr>
          <p:nvPr>
            <p:ph type="title"/>
          </p:nvPr>
        </p:nvSpPr>
        <p:spPr/>
        <p:txBody>
          <a:bodyPr/>
          <a:lstStyle/>
          <a:p>
            <a:r>
              <a:rPr lang="en-US" dirty="0"/>
              <a:t>Transmission Control Protocol (TCP)</a:t>
            </a:r>
          </a:p>
        </p:txBody>
      </p:sp>
      <p:sp>
        <p:nvSpPr>
          <p:cNvPr id="3" name="Content Placeholder 2">
            <a:extLst>
              <a:ext uri="{FF2B5EF4-FFF2-40B4-BE49-F238E27FC236}">
                <a16:creationId xmlns:a16="http://schemas.microsoft.com/office/drawing/2014/main" id="{B2D8E873-8C2E-93EE-3F1A-1375B28AFBA2}"/>
              </a:ext>
            </a:extLst>
          </p:cNvPr>
          <p:cNvSpPr>
            <a:spLocks noGrp="1"/>
          </p:cNvSpPr>
          <p:nvPr>
            <p:ph idx="1"/>
          </p:nvPr>
        </p:nvSpPr>
        <p:spPr>
          <a:xfrm>
            <a:off x="687388" y="1630017"/>
            <a:ext cx="10817224" cy="4281205"/>
          </a:xfrm>
        </p:spPr>
        <p:txBody>
          <a:bodyPr>
            <a:normAutofit/>
          </a:bodyPr>
          <a:lstStyle/>
          <a:p>
            <a:r>
              <a:rPr lang="en-US" sz="2000" dirty="0"/>
              <a:t>TCP is a connection-oriented, reliable protocol. </a:t>
            </a:r>
          </a:p>
          <a:p>
            <a:r>
              <a:rPr lang="en-US" sz="2000" dirty="0"/>
              <a:t>TCP explicitly defines connection establishment, data transfer, and connection teardown phases to provide a connection-oriented service. </a:t>
            </a:r>
          </a:p>
          <a:p>
            <a:r>
              <a:rPr lang="en-US" sz="2000" dirty="0"/>
              <a:t>TCP uses a combination of GBN and SR protocols to provide reliability. </a:t>
            </a:r>
          </a:p>
          <a:p>
            <a:pPr lvl="1"/>
            <a:r>
              <a:rPr lang="en-US" sz="2000" dirty="0"/>
              <a:t>To achieve this goal, TCP uses checksum (for error detection), retransmission of lost or corrupted packets, cumulative and selective acknowledgments, and timers. </a:t>
            </a:r>
          </a:p>
        </p:txBody>
      </p:sp>
    </p:spTree>
    <p:extLst>
      <p:ext uri="{BB962C8B-B14F-4D97-AF65-F5344CB8AC3E}">
        <p14:creationId xmlns:p14="http://schemas.microsoft.com/office/powerpoint/2010/main" val="758709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C5EA-CC14-8333-C709-249FB95C9003}"/>
              </a:ext>
            </a:extLst>
          </p:cNvPr>
          <p:cNvSpPr>
            <a:spLocks noGrp="1"/>
          </p:cNvSpPr>
          <p:nvPr>
            <p:ph type="title"/>
          </p:nvPr>
        </p:nvSpPr>
        <p:spPr>
          <a:xfrm>
            <a:off x="2592925" y="641694"/>
            <a:ext cx="8911687" cy="1280890"/>
          </a:xfrm>
        </p:spPr>
        <p:txBody>
          <a:bodyPr/>
          <a:lstStyle/>
          <a:p>
            <a:r>
              <a:rPr lang="en-US" b="1" dirty="0"/>
              <a:t>24.3.1 </a:t>
            </a:r>
            <a:br>
              <a:rPr lang="en-US" b="1" dirty="0"/>
            </a:br>
            <a:r>
              <a:rPr lang="en-US" b="1" dirty="0"/>
              <a:t>TCP Services</a:t>
            </a:r>
          </a:p>
        </p:txBody>
      </p:sp>
      <p:sp>
        <p:nvSpPr>
          <p:cNvPr id="3" name="Content Placeholder 2">
            <a:extLst>
              <a:ext uri="{FF2B5EF4-FFF2-40B4-BE49-F238E27FC236}">
                <a16:creationId xmlns:a16="http://schemas.microsoft.com/office/drawing/2014/main" id="{4092AD3C-A3FE-FEDE-8C2D-30A0990AADC6}"/>
              </a:ext>
            </a:extLst>
          </p:cNvPr>
          <p:cNvSpPr>
            <a:spLocks noGrp="1"/>
          </p:cNvSpPr>
          <p:nvPr>
            <p:ph idx="1"/>
          </p:nvPr>
        </p:nvSpPr>
        <p:spPr/>
        <p:txBody>
          <a:bodyPr/>
          <a:lstStyle/>
          <a:p>
            <a:r>
              <a:rPr lang="en-US" dirty="0"/>
              <a:t>Before discussing TCP in detail, let us explain the services offered by TCP to the processes at the application layer. </a:t>
            </a:r>
          </a:p>
          <a:p>
            <a:r>
              <a:rPr lang="en-US" b="1" dirty="0"/>
              <a:t>Process-to-Process Communication </a:t>
            </a:r>
          </a:p>
          <a:p>
            <a:pPr lvl="1"/>
            <a:r>
              <a:rPr lang="en-US" dirty="0"/>
              <a:t>As with UDP, TCP provides process-to-process communication using port numbers. </a:t>
            </a:r>
          </a:p>
        </p:txBody>
      </p:sp>
    </p:spTree>
    <p:extLst>
      <p:ext uri="{BB962C8B-B14F-4D97-AF65-F5344CB8AC3E}">
        <p14:creationId xmlns:p14="http://schemas.microsoft.com/office/powerpoint/2010/main" val="174290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527D3-2306-16DD-F228-6461B53586BC}"/>
              </a:ext>
            </a:extLst>
          </p:cNvPr>
          <p:cNvSpPr>
            <a:spLocks noGrp="1"/>
          </p:cNvSpPr>
          <p:nvPr>
            <p:ph type="title"/>
          </p:nvPr>
        </p:nvSpPr>
        <p:spPr>
          <a:xfrm>
            <a:off x="1459864" y="574414"/>
            <a:ext cx="8911687" cy="1280890"/>
          </a:xfrm>
        </p:spPr>
        <p:txBody>
          <a:bodyPr/>
          <a:lstStyle/>
          <a:p>
            <a:r>
              <a:rPr lang="en-US" b="1" dirty="0"/>
              <a:t>TCP Services</a:t>
            </a:r>
            <a:br>
              <a:rPr lang="en-US" dirty="0"/>
            </a:br>
            <a:r>
              <a:rPr lang="en-US" dirty="0"/>
              <a:t>	Stream Delivery Service </a:t>
            </a:r>
          </a:p>
        </p:txBody>
      </p:sp>
      <p:sp>
        <p:nvSpPr>
          <p:cNvPr id="3" name="Content Placeholder 2">
            <a:extLst>
              <a:ext uri="{FF2B5EF4-FFF2-40B4-BE49-F238E27FC236}">
                <a16:creationId xmlns:a16="http://schemas.microsoft.com/office/drawing/2014/main" id="{3D231C07-2E9E-977E-189C-A0887A6B0E86}"/>
              </a:ext>
            </a:extLst>
          </p:cNvPr>
          <p:cNvSpPr>
            <a:spLocks noGrp="1"/>
          </p:cNvSpPr>
          <p:nvPr>
            <p:ph idx="1"/>
          </p:nvPr>
        </p:nvSpPr>
        <p:spPr>
          <a:xfrm>
            <a:off x="1104037" y="2223356"/>
            <a:ext cx="9785142" cy="4472609"/>
          </a:xfrm>
        </p:spPr>
        <p:txBody>
          <a:bodyPr>
            <a:normAutofit/>
          </a:bodyPr>
          <a:lstStyle/>
          <a:p>
            <a:r>
              <a:rPr lang="en-US" dirty="0"/>
              <a:t>TCP, unlike UDP, is a stream-oriented protocol. </a:t>
            </a:r>
          </a:p>
          <a:p>
            <a:r>
              <a:rPr lang="en-US" dirty="0"/>
              <a:t>In UDP, a process sends messages with predefined boundaries to UDP for delivery. </a:t>
            </a:r>
          </a:p>
          <a:p>
            <a:pPr lvl="1"/>
            <a:r>
              <a:rPr lang="en-US" dirty="0"/>
              <a:t>UDP adds its own header to each of these messages and delivers it to IP for transmission. </a:t>
            </a:r>
          </a:p>
          <a:p>
            <a:pPr lvl="1"/>
            <a:r>
              <a:rPr lang="en-US" dirty="0"/>
              <a:t>Each message from the process is called a user datagram, and becomes, eventually, one IP datagram. </a:t>
            </a:r>
          </a:p>
          <a:p>
            <a:pPr lvl="1"/>
            <a:r>
              <a:rPr lang="en-US" dirty="0"/>
              <a:t>Neither IP nor UDP recognizes any relationship between the datagrams. </a:t>
            </a:r>
          </a:p>
          <a:p>
            <a:r>
              <a:rPr lang="en-US" dirty="0"/>
              <a:t>TCP, on the other hand, allows the sending process to deliver data as a stream of bytes and allows the receiving process to obtain data as a stream of bytes. </a:t>
            </a:r>
          </a:p>
          <a:p>
            <a:r>
              <a:rPr lang="en-US" dirty="0"/>
              <a:t>TCP creates an environment in which the two processes seem to be connected by an imaginary “tube” that carries their bytes across the Internet. </a:t>
            </a:r>
          </a:p>
          <a:p>
            <a:r>
              <a:rPr lang="en-US" dirty="0"/>
              <a:t>This imaginary environment is depicted in Figure 24.4. The sending process produces (writes to) the stream and the receiving process consumes (reads from) it.</a:t>
            </a:r>
          </a:p>
        </p:txBody>
      </p:sp>
      <p:pic>
        <p:nvPicPr>
          <p:cNvPr id="5" name="Picture 4">
            <a:extLst>
              <a:ext uri="{FF2B5EF4-FFF2-40B4-BE49-F238E27FC236}">
                <a16:creationId xmlns:a16="http://schemas.microsoft.com/office/drawing/2014/main" id="{5FD20034-092A-A00D-F4EA-2C6BA435C9B7}"/>
              </a:ext>
            </a:extLst>
          </p:cNvPr>
          <p:cNvPicPr>
            <a:picLocks noChangeAspect="1"/>
          </p:cNvPicPr>
          <p:nvPr/>
        </p:nvPicPr>
        <p:blipFill>
          <a:blip r:embed="rId2"/>
          <a:stretch>
            <a:fillRect/>
          </a:stretch>
        </p:blipFill>
        <p:spPr>
          <a:xfrm>
            <a:off x="7184825" y="162035"/>
            <a:ext cx="4636513" cy="2061321"/>
          </a:xfrm>
          <a:prstGeom prst="rect">
            <a:avLst/>
          </a:prstGeom>
        </p:spPr>
      </p:pic>
    </p:spTree>
    <p:extLst>
      <p:ext uri="{BB962C8B-B14F-4D97-AF65-F5344CB8AC3E}">
        <p14:creationId xmlns:p14="http://schemas.microsoft.com/office/powerpoint/2010/main" val="360710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F790-4DEC-F532-A93D-B01A217B2D7C}"/>
              </a:ext>
            </a:extLst>
          </p:cNvPr>
          <p:cNvSpPr>
            <a:spLocks noGrp="1"/>
          </p:cNvSpPr>
          <p:nvPr>
            <p:ph type="title"/>
          </p:nvPr>
        </p:nvSpPr>
        <p:spPr>
          <a:xfrm>
            <a:off x="1650666" y="561048"/>
            <a:ext cx="8911687" cy="1280890"/>
          </a:xfrm>
        </p:spPr>
        <p:txBody>
          <a:bodyPr/>
          <a:lstStyle/>
          <a:p>
            <a:r>
              <a:rPr lang="en-US" b="1" dirty="0"/>
              <a:t>TCP Services</a:t>
            </a:r>
            <a:br>
              <a:rPr lang="en-US" dirty="0"/>
            </a:br>
            <a:r>
              <a:rPr lang="en-US" dirty="0"/>
              <a:t>	Sending and Receiving Buffers</a:t>
            </a:r>
          </a:p>
        </p:txBody>
      </p:sp>
      <p:sp>
        <p:nvSpPr>
          <p:cNvPr id="3" name="Content Placeholder 2">
            <a:extLst>
              <a:ext uri="{FF2B5EF4-FFF2-40B4-BE49-F238E27FC236}">
                <a16:creationId xmlns:a16="http://schemas.microsoft.com/office/drawing/2014/main" id="{9A6C9F90-9AF2-71BA-F942-8A5AE9C193BC}"/>
              </a:ext>
            </a:extLst>
          </p:cNvPr>
          <p:cNvSpPr>
            <a:spLocks noGrp="1"/>
          </p:cNvSpPr>
          <p:nvPr>
            <p:ph idx="1"/>
          </p:nvPr>
        </p:nvSpPr>
        <p:spPr>
          <a:xfrm>
            <a:off x="1341783" y="1935161"/>
            <a:ext cx="10624930" cy="4045226"/>
          </a:xfrm>
        </p:spPr>
        <p:txBody>
          <a:bodyPr>
            <a:normAutofit/>
          </a:bodyPr>
          <a:lstStyle/>
          <a:p>
            <a:r>
              <a:rPr lang="en-US" sz="2000" dirty="0"/>
              <a:t>The sending and the receiving processes to write or read data at the same rate, needs buffers for storage. </a:t>
            </a:r>
          </a:p>
          <a:p>
            <a:r>
              <a:rPr lang="en-US" sz="2000" dirty="0"/>
              <a:t>There are two buffers, the sending buffer and the receiving buffer, one for each direction.</a:t>
            </a:r>
          </a:p>
          <a:p>
            <a:pPr lvl="1"/>
            <a:r>
              <a:rPr lang="en-US" sz="1800" dirty="0"/>
              <a:t>These buffers are necessary for flow- and error-control mechanisms used by TCP. </a:t>
            </a:r>
          </a:p>
          <a:p>
            <a:pPr lvl="1"/>
            <a:r>
              <a:rPr lang="en-US" sz="1800" dirty="0"/>
              <a:t>One way to implement a buffer is to use a circular array of 1-byte locations.</a:t>
            </a:r>
          </a:p>
          <a:p>
            <a:pPr lvl="1"/>
            <a:r>
              <a:rPr lang="en-US" sz="1800" dirty="0"/>
              <a:t>Two buffers of 20 bytes each; normally the buffers are hundreds or thousands of bytes, depending on the implementation. We also show the buffers as the same size, which is not always the case. </a:t>
            </a:r>
          </a:p>
        </p:txBody>
      </p:sp>
    </p:spTree>
    <p:extLst>
      <p:ext uri="{BB962C8B-B14F-4D97-AF65-F5344CB8AC3E}">
        <p14:creationId xmlns:p14="http://schemas.microsoft.com/office/powerpoint/2010/main" val="3109785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FC83A-6DC2-ECC7-D52B-C3555B36379F}"/>
              </a:ext>
            </a:extLst>
          </p:cNvPr>
          <p:cNvSpPr>
            <a:spLocks noGrp="1"/>
          </p:cNvSpPr>
          <p:nvPr>
            <p:ph idx="1"/>
          </p:nvPr>
        </p:nvSpPr>
        <p:spPr>
          <a:xfrm>
            <a:off x="745572" y="1546473"/>
            <a:ext cx="10700856" cy="4623100"/>
          </a:xfrm>
        </p:spPr>
        <p:txBody>
          <a:bodyPr>
            <a:normAutofit/>
          </a:bodyPr>
          <a:lstStyle/>
          <a:p>
            <a:pPr lvl="1"/>
            <a:r>
              <a:rPr lang="en-US" sz="1800" dirty="0"/>
              <a:t>The figure shows the movement of the data in one direction. </a:t>
            </a:r>
          </a:p>
          <a:p>
            <a:pPr lvl="1"/>
            <a:r>
              <a:rPr lang="en-US" sz="1800" dirty="0"/>
              <a:t>At the </a:t>
            </a:r>
            <a:r>
              <a:rPr lang="en-US" sz="1800" b="1" dirty="0"/>
              <a:t>sender</a:t>
            </a:r>
            <a:r>
              <a:rPr lang="en-US" sz="1800" dirty="0"/>
              <a:t>, the buffer has three types of chambers. </a:t>
            </a:r>
          </a:p>
          <a:p>
            <a:pPr lvl="2"/>
            <a:r>
              <a:rPr lang="en-US" sz="1600" dirty="0"/>
              <a:t>The </a:t>
            </a:r>
            <a:r>
              <a:rPr lang="en-US" sz="1600" b="1" dirty="0"/>
              <a:t>white </a:t>
            </a:r>
            <a:r>
              <a:rPr lang="en-US" sz="1600" dirty="0"/>
              <a:t>section contains empty chambers that can be filled by the sending process (producer).</a:t>
            </a:r>
          </a:p>
          <a:p>
            <a:pPr lvl="2"/>
            <a:r>
              <a:rPr lang="en-US" sz="1600" dirty="0"/>
              <a:t>The </a:t>
            </a:r>
            <a:r>
              <a:rPr lang="en-US" sz="1600" b="1" dirty="0"/>
              <a:t>Blue</a:t>
            </a:r>
            <a:r>
              <a:rPr lang="en-US" sz="1600" dirty="0"/>
              <a:t> colored area holds bytes that have been sent but not yet acknowledged. </a:t>
            </a:r>
          </a:p>
          <a:p>
            <a:pPr lvl="2"/>
            <a:r>
              <a:rPr lang="en-US" sz="1600" dirty="0"/>
              <a:t>The TCP sender keeps these bytes in the buffer until it receives an acknowledgment. </a:t>
            </a:r>
          </a:p>
          <a:p>
            <a:pPr lvl="2"/>
            <a:r>
              <a:rPr lang="en-US" sz="1600" dirty="0"/>
              <a:t>The </a:t>
            </a:r>
            <a:r>
              <a:rPr lang="en-US" sz="1600" b="1" dirty="0"/>
              <a:t>black </a:t>
            </a:r>
            <a:r>
              <a:rPr lang="en-US" sz="1600" i="1" dirty="0"/>
              <a:t>shaded area </a:t>
            </a:r>
            <a:r>
              <a:rPr lang="en-US" sz="1600" dirty="0"/>
              <a:t>contains bytes to be sent by the sending TCP. </a:t>
            </a:r>
          </a:p>
          <a:p>
            <a:endParaRPr lang="en-US" sz="2000" dirty="0"/>
          </a:p>
        </p:txBody>
      </p:sp>
      <p:pic>
        <p:nvPicPr>
          <p:cNvPr id="5" name="Picture 4">
            <a:extLst>
              <a:ext uri="{FF2B5EF4-FFF2-40B4-BE49-F238E27FC236}">
                <a16:creationId xmlns:a16="http://schemas.microsoft.com/office/drawing/2014/main" id="{28B72D12-978F-EE16-4768-C87D0FC96933}"/>
              </a:ext>
            </a:extLst>
          </p:cNvPr>
          <p:cNvPicPr>
            <a:picLocks noChangeAspect="1"/>
          </p:cNvPicPr>
          <p:nvPr/>
        </p:nvPicPr>
        <p:blipFill>
          <a:blip r:embed="rId2"/>
          <a:stretch>
            <a:fillRect/>
          </a:stretch>
        </p:blipFill>
        <p:spPr>
          <a:xfrm>
            <a:off x="2553638" y="4004441"/>
            <a:ext cx="6127907" cy="2827457"/>
          </a:xfrm>
          <a:prstGeom prst="rect">
            <a:avLst/>
          </a:prstGeom>
        </p:spPr>
      </p:pic>
      <p:pic>
        <p:nvPicPr>
          <p:cNvPr id="6" name="Picture 5">
            <a:extLst>
              <a:ext uri="{FF2B5EF4-FFF2-40B4-BE49-F238E27FC236}">
                <a16:creationId xmlns:a16="http://schemas.microsoft.com/office/drawing/2014/main" id="{FF3343D1-B451-6AE3-6E79-CAFC520522B5}"/>
              </a:ext>
            </a:extLst>
          </p:cNvPr>
          <p:cNvPicPr>
            <a:picLocks noChangeAspect="1"/>
          </p:cNvPicPr>
          <p:nvPr/>
        </p:nvPicPr>
        <p:blipFill>
          <a:blip r:embed="rId3"/>
          <a:stretch>
            <a:fillRect/>
          </a:stretch>
        </p:blipFill>
        <p:spPr>
          <a:xfrm>
            <a:off x="4854585" y="5708925"/>
            <a:ext cx="1535704" cy="553861"/>
          </a:xfrm>
          <a:prstGeom prst="rect">
            <a:avLst/>
          </a:prstGeom>
        </p:spPr>
      </p:pic>
      <p:sp>
        <p:nvSpPr>
          <p:cNvPr id="9" name="Title 1">
            <a:extLst>
              <a:ext uri="{FF2B5EF4-FFF2-40B4-BE49-F238E27FC236}">
                <a16:creationId xmlns:a16="http://schemas.microsoft.com/office/drawing/2014/main" id="{E789F1F3-E265-E689-5702-6F7FE070EE4E}"/>
              </a:ext>
            </a:extLst>
          </p:cNvPr>
          <p:cNvSpPr txBox="1">
            <a:spLocks/>
          </p:cNvSpPr>
          <p:nvPr/>
        </p:nvSpPr>
        <p:spPr>
          <a:xfrm>
            <a:off x="1408929" y="286602"/>
            <a:ext cx="6946795" cy="1280890"/>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TCP Services</a:t>
            </a:r>
            <a:br>
              <a:rPr lang="en-US" dirty="0"/>
            </a:br>
            <a:r>
              <a:rPr lang="en-US" dirty="0"/>
              <a:t>	Sending and Receiving Buffers</a:t>
            </a:r>
          </a:p>
        </p:txBody>
      </p:sp>
    </p:spTree>
    <p:extLst>
      <p:ext uri="{BB962C8B-B14F-4D97-AF65-F5344CB8AC3E}">
        <p14:creationId xmlns:p14="http://schemas.microsoft.com/office/powerpoint/2010/main" val="2817005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FC83A-6DC2-ECC7-D52B-C3555B36379F}"/>
              </a:ext>
            </a:extLst>
          </p:cNvPr>
          <p:cNvSpPr>
            <a:spLocks noGrp="1"/>
          </p:cNvSpPr>
          <p:nvPr>
            <p:ph idx="1"/>
          </p:nvPr>
        </p:nvSpPr>
        <p:spPr>
          <a:xfrm>
            <a:off x="745572" y="1567492"/>
            <a:ext cx="10700856" cy="5586689"/>
          </a:xfrm>
        </p:spPr>
        <p:txBody>
          <a:bodyPr>
            <a:normAutofit/>
          </a:bodyPr>
          <a:lstStyle/>
          <a:p>
            <a:pPr lvl="1"/>
            <a:r>
              <a:rPr lang="en-US" sz="1800" dirty="0"/>
              <a:t>TCP may be able to send only part of this </a:t>
            </a:r>
            <a:r>
              <a:rPr lang="en-US" sz="1800" b="1" dirty="0"/>
              <a:t>Black</a:t>
            </a:r>
            <a:r>
              <a:rPr lang="en-US" sz="1800" dirty="0"/>
              <a:t> shaded section due to the slowness of the receiving process or to congestion in the network. </a:t>
            </a:r>
          </a:p>
          <a:p>
            <a:pPr lvl="1"/>
            <a:r>
              <a:rPr lang="en-US" sz="1800" dirty="0"/>
              <a:t>Also note that, after the bytes in the Blue colored chambers are acknowledged, the chambers are recycled and available for use by the sending process. </a:t>
            </a:r>
          </a:p>
          <a:p>
            <a:pPr lvl="1"/>
            <a:r>
              <a:rPr lang="en-US" sz="1800" dirty="0"/>
              <a:t>This is why we show a circular buffer. </a:t>
            </a:r>
          </a:p>
          <a:p>
            <a:pPr lvl="1"/>
            <a:r>
              <a:rPr lang="en-US" sz="1800" dirty="0"/>
              <a:t>The operation of the buffer at the </a:t>
            </a:r>
            <a:r>
              <a:rPr lang="en-US" sz="1800" b="1" dirty="0"/>
              <a:t>receiver </a:t>
            </a:r>
            <a:r>
              <a:rPr lang="en-US" sz="1800" dirty="0"/>
              <a:t>is simpler. </a:t>
            </a:r>
          </a:p>
          <a:p>
            <a:pPr lvl="2"/>
            <a:r>
              <a:rPr lang="en-US" sz="1600" dirty="0"/>
              <a:t>The circular buffer is divided into two areas (shown as white and colored). </a:t>
            </a:r>
          </a:p>
          <a:p>
            <a:pPr lvl="2"/>
            <a:r>
              <a:rPr lang="en-US" sz="1600" dirty="0"/>
              <a:t>The white area contains empty chambers to be filled by bytes received from the network.</a:t>
            </a:r>
          </a:p>
        </p:txBody>
      </p:sp>
      <p:pic>
        <p:nvPicPr>
          <p:cNvPr id="5" name="Picture 4">
            <a:extLst>
              <a:ext uri="{FF2B5EF4-FFF2-40B4-BE49-F238E27FC236}">
                <a16:creationId xmlns:a16="http://schemas.microsoft.com/office/drawing/2014/main" id="{28B72D12-978F-EE16-4768-C87D0FC96933}"/>
              </a:ext>
            </a:extLst>
          </p:cNvPr>
          <p:cNvPicPr>
            <a:picLocks noChangeAspect="1"/>
          </p:cNvPicPr>
          <p:nvPr/>
        </p:nvPicPr>
        <p:blipFill>
          <a:blip r:embed="rId2"/>
          <a:stretch>
            <a:fillRect/>
          </a:stretch>
        </p:blipFill>
        <p:spPr>
          <a:xfrm>
            <a:off x="3646714" y="4534434"/>
            <a:ext cx="5035830" cy="2323565"/>
          </a:xfrm>
          <a:prstGeom prst="rect">
            <a:avLst/>
          </a:prstGeom>
        </p:spPr>
      </p:pic>
      <p:pic>
        <p:nvPicPr>
          <p:cNvPr id="6" name="Picture 5">
            <a:extLst>
              <a:ext uri="{FF2B5EF4-FFF2-40B4-BE49-F238E27FC236}">
                <a16:creationId xmlns:a16="http://schemas.microsoft.com/office/drawing/2014/main" id="{FF3343D1-B451-6AE3-6E79-CAFC520522B5}"/>
              </a:ext>
            </a:extLst>
          </p:cNvPr>
          <p:cNvPicPr>
            <a:picLocks noChangeAspect="1"/>
          </p:cNvPicPr>
          <p:nvPr/>
        </p:nvPicPr>
        <p:blipFill>
          <a:blip r:embed="rId3"/>
          <a:stretch>
            <a:fillRect/>
          </a:stretch>
        </p:blipFill>
        <p:spPr>
          <a:xfrm>
            <a:off x="5548267" y="5866579"/>
            <a:ext cx="1248108" cy="450138"/>
          </a:xfrm>
          <a:prstGeom prst="rect">
            <a:avLst/>
          </a:prstGeom>
        </p:spPr>
      </p:pic>
      <p:sp>
        <p:nvSpPr>
          <p:cNvPr id="9" name="Title 1">
            <a:extLst>
              <a:ext uri="{FF2B5EF4-FFF2-40B4-BE49-F238E27FC236}">
                <a16:creationId xmlns:a16="http://schemas.microsoft.com/office/drawing/2014/main" id="{E789F1F3-E265-E689-5702-6F7FE070EE4E}"/>
              </a:ext>
            </a:extLst>
          </p:cNvPr>
          <p:cNvSpPr txBox="1">
            <a:spLocks/>
          </p:cNvSpPr>
          <p:nvPr/>
        </p:nvSpPr>
        <p:spPr>
          <a:xfrm>
            <a:off x="1408929" y="286602"/>
            <a:ext cx="775609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TCP Services</a:t>
            </a:r>
            <a:br>
              <a:rPr lang="en-US" dirty="0"/>
            </a:br>
            <a:r>
              <a:rPr lang="en-US" dirty="0"/>
              <a:t>	Sending and Receiving Buffers</a:t>
            </a:r>
          </a:p>
        </p:txBody>
      </p:sp>
    </p:spTree>
    <p:extLst>
      <p:ext uri="{BB962C8B-B14F-4D97-AF65-F5344CB8AC3E}">
        <p14:creationId xmlns:p14="http://schemas.microsoft.com/office/powerpoint/2010/main" val="220246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B451-C5AE-46F1-DB5F-00ECDC3A61D1}"/>
              </a:ext>
            </a:extLst>
          </p:cNvPr>
          <p:cNvSpPr>
            <a:spLocks noGrp="1"/>
          </p:cNvSpPr>
          <p:nvPr>
            <p:ph type="title"/>
          </p:nvPr>
        </p:nvSpPr>
        <p:spPr>
          <a:xfrm>
            <a:off x="1640156" y="256248"/>
            <a:ext cx="8911687" cy="1280890"/>
          </a:xfrm>
        </p:spPr>
        <p:txBody>
          <a:bodyPr/>
          <a:lstStyle/>
          <a:p>
            <a:r>
              <a:rPr lang="en-US" b="1" dirty="0"/>
              <a:t>TCP Services </a:t>
            </a:r>
            <a:br>
              <a:rPr lang="en-US" b="1" dirty="0"/>
            </a:br>
            <a:r>
              <a:rPr lang="en-US" b="1" dirty="0"/>
              <a:t>	</a:t>
            </a:r>
            <a:r>
              <a:rPr lang="en-US" dirty="0"/>
              <a:t>Other Services</a:t>
            </a:r>
          </a:p>
        </p:txBody>
      </p:sp>
      <p:sp>
        <p:nvSpPr>
          <p:cNvPr id="3" name="Content Placeholder 2">
            <a:extLst>
              <a:ext uri="{FF2B5EF4-FFF2-40B4-BE49-F238E27FC236}">
                <a16:creationId xmlns:a16="http://schemas.microsoft.com/office/drawing/2014/main" id="{7F52D230-BA5D-9CE1-C7F0-DC3E85607CC5}"/>
              </a:ext>
            </a:extLst>
          </p:cNvPr>
          <p:cNvSpPr>
            <a:spLocks noGrp="1"/>
          </p:cNvSpPr>
          <p:nvPr>
            <p:ph idx="1"/>
          </p:nvPr>
        </p:nvSpPr>
        <p:spPr>
          <a:xfrm>
            <a:off x="788276" y="1548246"/>
            <a:ext cx="10663784" cy="5309754"/>
          </a:xfrm>
        </p:spPr>
        <p:txBody>
          <a:bodyPr>
            <a:normAutofit fontScale="92500" lnSpcReduction="10000"/>
          </a:bodyPr>
          <a:lstStyle/>
          <a:p>
            <a:r>
              <a:rPr lang="en-US" sz="2100" b="1" dirty="0"/>
              <a:t>Full-Duplex Communication </a:t>
            </a:r>
          </a:p>
          <a:p>
            <a:pPr lvl="1"/>
            <a:r>
              <a:rPr lang="en-US" dirty="0"/>
              <a:t>TCP offers full-duplex service, where data can flow in both directions at the same time. </a:t>
            </a:r>
          </a:p>
          <a:p>
            <a:pPr lvl="1"/>
            <a:r>
              <a:rPr lang="en-US" dirty="0"/>
              <a:t>Each TCP endpoint then has its own sending and receiving buffer, and segments move in both directions. </a:t>
            </a:r>
          </a:p>
          <a:p>
            <a:r>
              <a:rPr lang="en-US" sz="2100" b="1" dirty="0"/>
              <a:t>Multiplexing and Demultiplexing </a:t>
            </a:r>
            <a:endParaRPr lang="en-US" b="1" dirty="0"/>
          </a:p>
          <a:p>
            <a:pPr lvl="1"/>
            <a:r>
              <a:rPr lang="en-US" dirty="0"/>
              <a:t>Like UDP, TCP performs multiplexing at the sender and demultiplexing at the receiver. </a:t>
            </a:r>
          </a:p>
          <a:p>
            <a:r>
              <a:rPr lang="en-US" sz="2100" b="1" dirty="0"/>
              <a:t>Connection-Oriented Service </a:t>
            </a:r>
          </a:p>
          <a:p>
            <a:pPr lvl="1"/>
            <a:r>
              <a:rPr lang="en-US" dirty="0"/>
              <a:t>TCP, unlike UDP, is a connection-oriented protocol. </a:t>
            </a:r>
          </a:p>
          <a:p>
            <a:pPr lvl="1"/>
            <a:r>
              <a:rPr lang="en-US" dirty="0"/>
              <a:t>When a process at site A wants to send to and receive data from another process at site B, the following three phases occur: </a:t>
            </a:r>
          </a:p>
          <a:p>
            <a:pPr lvl="2"/>
            <a:r>
              <a:rPr lang="en-US" dirty="0"/>
              <a:t>1. The two TCP’s establish a logical connection between them. </a:t>
            </a:r>
          </a:p>
          <a:p>
            <a:pPr lvl="2"/>
            <a:r>
              <a:rPr lang="en-US" dirty="0"/>
              <a:t>2. Data are exchanged in both directions. </a:t>
            </a:r>
          </a:p>
          <a:p>
            <a:pPr lvl="2"/>
            <a:r>
              <a:rPr lang="en-US" dirty="0"/>
              <a:t>3. The connection is terminated. </a:t>
            </a:r>
          </a:p>
          <a:p>
            <a:pPr lvl="1"/>
            <a:r>
              <a:rPr lang="en-US" b="1" i="1" dirty="0"/>
              <a:t>Note </a:t>
            </a:r>
            <a:r>
              <a:rPr lang="en-US" i="1" dirty="0"/>
              <a:t>that this is a logical connection, not a physical connection. </a:t>
            </a:r>
          </a:p>
          <a:p>
            <a:r>
              <a:rPr lang="en-US" sz="2100" b="1" dirty="0"/>
              <a:t>Reliable Service </a:t>
            </a:r>
          </a:p>
          <a:p>
            <a:pPr lvl="1"/>
            <a:r>
              <a:rPr lang="en-US" dirty="0"/>
              <a:t>TCP is a reliable transport protocol. It uses an acknowledgment mechanism to check the safe and sound arrival of data. We will discuss this feature further in the section on error control</a:t>
            </a:r>
          </a:p>
        </p:txBody>
      </p:sp>
    </p:spTree>
    <p:extLst>
      <p:ext uri="{BB962C8B-B14F-4D97-AF65-F5344CB8AC3E}">
        <p14:creationId xmlns:p14="http://schemas.microsoft.com/office/powerpoint/2010/main" val="3254566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273E8-6598-D944-C154-985C41880F2A}"/>
              </a:ext>
            </a:extLst>
          </p:cNvPr>
          <p:cNvSpPr>
            <a:spLocks noGrp="1"/>
          </p:cNvSpPr>
          <p:nvPr>
            <p:ph type="title"/>
          </p:nvPr>
        </p:nvSpPr>
        <p:spPr/>
        <p:txBody>
          <a:bodyPr/>
          <a:lstStyle/>
          <a:p>
            <a:r>
              <a:rPr lang="en-US" dirty="0"/>
              <a:t>24.3.2 </a:t>
            </a:r>
            <a:br>
              <a:rPr lang="en-US" dirty="0"/>
            </a:br>
            <a:r>
              <a:rPr lang="en-US" dirty="0"/>
              <a:t>TCP Features</a:t>
            </a:r>
          </a:p>
        </p:txBody>
      </p:sp>
      <p:sp>
        <p:nvSpPr>
          <p:cNvPr id="3" name="Content Placeholder 2">
            <a:extLst>
              <a:ext uri="{FF2B5EF4-FFF2-40B4-BE49-F238E27FC236}">
                <a16:creationId xmlns:a16="http://schemas.microsoft.com/office/drawing/2014/main" id="{F3960166-B35C-FF3A-066C-6E88F59A2171}"/>
              </a:ext>
            </a:extLst>
          </p:cNvPr>
          <p:cNvSpPr>
            <a:spLocks noGrp="1"/>
          </p:cNvSpPr>
          <p:nvPr>
            <p:ph idx="1"/>
          </p:nvPr>
        </p:nvSpPr>
        <p:spPr/>
        <p:txBody>
          <a:bodyPr>
            <a:normAutofit/>
          </a:bodyPr>
          <a:lstStyle/>
          <a:p>
            <a:r>
              <a:rPr lang="en-US" sz="2400" dirty="0">
                <a:solidFill>
                  <a:srgbClr val="231F20"/>
                </a:solidFill>
                <a:latin typeface="NimbusRomNo9L"/>
              </a:rPr>
              <a:t>To provide the services mentioned in the previous section</a:t>
            </a:r>
          </a:p>
          <a:p>
            <a:r>
              <a:rPr lang="en-US" sz="2400" dirty="0">
                <a:solidFill>
                  <a:srgbClr val="231F20"/>
                </a:solidFill>
                <a:latin typeface="NimbusRomNo9L"/>
              </a:rPr>
              <a:t>TCP has several features.</a:t>
            </a:r>
          </a:p>
          <a:p>
            <a:pPr lvl="1"/>
            <a:r>
              <a:rPr lang="en-US" sz="2000" b="1" i="1" dirty="0">
                <a:solidFill>
                  <a:schemeClr val="tx1"/>
                </a:solidFill>
                <a:latin typeface="NimbusRomNo9L"/>
              </a:rPr>
              <a:t>Numbering System</a:t>
            </a:r>
          </a:p>
          <a:p>
            <a:pPr lvl="2"/>
            <a:r>
              <a:rPr lang="en-US" sz="1800" b="1" i="1" dirty="0">
                <a:solidFill>
                  <a:schemeClr val="tx1"/>
                </a:solidFill>
                <a:latin typeface="NimbusRomNo9L"/>
              </a:rPr>
              <a:t>Byte Number</a:t>
            </a:r>
          </a:p>
          <a:p>
            <a:pPr lvl="2"/>
            <a:r>
              <a:rPr lang="en-US" sz="1800" b="1" i="1" dirty="0">
                <a:solidFill>
                  <a:schemeClr val="tx1"/>
                </a:solidFill>
                <a:latin typeface="NimbusRomNo9L"/>
              </a:rPr>
              <a:t>Sequence Number</a:t>
            </a:r>
          </a:p>
          <a:p>
            <a:pPr lvl="1"/>
            <a:r>
              <a:rPr lang="en-US" sz="2400" b="1" dirty="0">
                <a:solidFill>
                  <a:schemeClr val="tx1"/>
                </a:solidFill>
                <a:latin typeface="NimbusRomNo9L"/>
              </a:rPr>
              <a:t>Segment (not included)</a:t>
            </a:r>
            <a:endParaRPr lang="en-US" sz="2400" b="1" i="1" dirty="0">
              <a:solidFill>
                <a:schemeClr val="tx1"/>
              </a:solidFill>
              <a:latin typeface="NimbusRomNo9L"/>
            </a:endParaRPr>
          </a:p>
          <a:p>
            <a:pPr lvl="1"/>
            <a:r>
              <a:rPr lang="en-US" sz="2400" b="1" i="1" dirty="0">
                <a:solidFill>
                  <a:schemeClr val="tx1"/>
                </a:solidFill>
                <a:latin typeface="NimbusRomNo9L"/>
              </a:rPr>
              <a:t>Encapsulation</a:t>
            </a:r>
          </a:p>
          <a:p>
            <a:pPr lvl="1"/>
            <a:endParaRPr lang="en-US" sz="2000" dirty="0"/>
          </a:p>
        </p:txBody>
      </p:sp>
    </p:spTree>
    <p:extLst>
      <p:ext uri="{BB962C8B-B14F-4D97-AF65-F5344CB8AC3E}">
        <p14:creationId xmlns:p14="http://schemas.microsoft.com/office/powerpoint/2010/main" val="3334183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DACEC-E760-24D7-27BE-E01C8F40EC1A}"/>
              </a:ext>
            </a:extLst>
          </p:cNvPr>
          <p:cNvSpPr>
            <a:spLocks noGrp="1"/>
          </p:cNvSpPr>
          <p:nvPr>
            <p:ph type="title"/>
          </p:nvPr>
        </p:nvSpPr>
        <p:spPr/>
        <p:txBody>
          <a:bodyPr/>
          <a:lstStyle/>
          <a:p>
            <a:r>
              <a:rPr lang="en-US" dirty="0"/>
              <a:t>TCP Features </a:t>
            </a:r>
            <a:br>
              <a:rPr lang="en-US" dirty="0"/>
            </a:br>
            <a:r>
              <a:rPr lang="en-US" dirty="0"/>
              <a:t>	</a:t>
            </a:r>
            <a:r>
              <a:rPr lang="en-US" b="1" dirty="0"/>
              <a:t>Numbering System</a:t>
            </a:r>
          </a:p>
        </p:txBody>
      </p:sp>
      <p:sp>
        <p:nvSpPr>
          <p:cNvPr id="3" name="Content Placeholder 2">
            <a:extLst>
              <a:ext uri="{FF2B5EF4-FFF2-40B4-BE49-F238E27FC236}">
                <a16:creationId xmlns:a16="http://schemas.microsoft.com/office/drawing/2014/main" id="{20EB46B9-024E-A1B8-EAE2-0596ABAAEF2E}"/>
              </a:ext>
            </a:extLst>
          </p:cNvPr>
          <p:cNvSpPr>
            <a:spLocks noGrp="1"/>
          </p:cNvSpPr>
          <p:nvPr>
            <p:ph idx="1"/>
          </p:nvPr>
        </p:nvSpPr>
        <p:spPr/>
        <p:txBody>
          <a:bodyPr/>
          <a:lstStyle/>
          <a:p>
            <a:r>
              <a:rPr lang="en-US" dirty="0"/>
              <a:t>Although the TCP software keeps track of the segments being transmitted or received.</a:t>
            </a:r>
          </a:p>
          <a:p>
            <a:r>
              <a:rPr lang="en-US" dirty="0"/>
              <a:t>There is no field for a </a:t>
            </a:r>
            <a:r>
              <a:rPr lang="en-US" b="1" dirty="0"/>
              <a:t>segment number </a:t>
            </a:r>
            <a:r>
              <a:rPr lang="en-US" dirty="0"/>
              <a:t>value in the </a:t>
            </a:r>
            <a:r>
              <a:rPr lang="en-US" b="1" dirty="0"/>
              <a:t>segment header</a:t>
            </a:r>
            <a:r>
              <a:rPr lang="en-US" dirty="0"/>
              <a:t>. </a:t>
            </a:r>
          </a:p>
          <a:p>
            <a:r>
              <a:rPr lang="en-US" dirty="0"/>
              <a:t>Instead, there are two fields, </a:t>
            </a:r>
          </a:p>
          <a:p>
            <a:pPr lvl="1"/>
            <a:r>
              <a:rPr lang="en-US" dirty="0"/>
              <a:t>sequence number </a:t>
            </a:r>
          </a:p>
          <a:p>
            <a:pPr lvl="1"/>
            <a:r>
              <a:rPr lang="en-US" dirty="0"/>
              <a:t>the acknowledgment number. </a:t>
            </a:r>
          </a:p>
          <a:p>
            <a:r>
              <a:rPr lang="en-US" dirty="0"/>
              <a:t>These two fields refer to a byte number and not a segment number.</a:t>
            </a:r>
          </a:p>
        </p:txBody>
      </p:sp>
    </p:spTree>
    <p:extLst>
      <p:ext uri="{BB962C8B-B14F-4D97-AF65-F5344CB8AC3E}">
        <p14:creationId xmlns:p14="http://schemas.microsoft.com/office/powerpoint/2010/main" val="3089178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A5FD5-8A4C-049F-09E9-BE675ADE7B55}"/>
              </a:ext>
            </a:extLst>
          </p:cNvPr>
          <p:cNvSpPr>
            <a:spLocks noGrp="1"/>
          </p:cNvSpPr>
          <p:nvPr>
            <p:ph type="title"/>
          </p:nvPr>
        </p:nvSpPr>
        <p:spPr>
          <a:xfrm>
            <a:off x="1965435" y="624110"/>
            <a:ext cx="9539178" cy="1280890"/>
          </a:xfrm>
        </p:spPr>
        <p:txBody>
          <a:bodyPr/>
          <a:lstStyle/>
          <a:p>
            <a:r>
              <a:rPr lang="en-US" b="1" dirty="0"/>
              <a:t>Numbering System</a:t>
            </a:r>
            <a:br>
              <a:rPr lang="en-US" dirty="0"/>
            </a:br>
            <a:r>
              <a:rPr lang="en-US" dirty="0"/>
              <a:t>	</a:t>
            </a:r>
            <a:r>
              <a:rPr lang="en-US" sz="3200" dirty="0"/>
              <a:t>Byte Number</a:t>
            </a:r>
            <a:endParaRPr lang="en-US" dirty="0"/>
          </a:p>
        </p:txBody>
      </p:sp>
      <p:sp>
        <p:nvSpPr>
          <p:cNvPr id="3" name="Content Placeholder 2">
            <a:extLst>
              <a:ext uri="{FF2B5EF4-FFF2-40B4-BE49-F238E27FC236}">
                <a16:creationId xmlns:a16="http://schemas.microsoft.com/office/drawing/2014/main" id="{FBC07F17-3A46-E314-ED6F-D56AF48EFD46}"/>
              </a:ext>
            </a:extLst>
          </p:cNvPr>
          <p:cNvSpPr>
            <a:spLocks noGrp="1"/>
          </p:cNvSpPr>
          <p:nvPr>
            <p:ph idx="1"/>
          </p:nvPr>
        </p:nvSpPr>
        <p:spPr>
          <a:xfrm>
            <a:off x="1965435" y="1905000"/>
            <a:ext cx="9539178" cy="4292629"/>
          </a:xfrm>
        </p:spPr>
        <p:txBody>
          <a:bodyPr>
            <a:normAutofit/>
          </a:bodyPr>
          <a:lstStyle/>
          <a:p>
            <a:r>
              <a:rPr lang="en-US" sz="2000" dirty="0"/>
              <a:t>TCP numbers all data bytes (octets) that are transmitted in a connection.</a:t>
            </a:r>
          </a:p>
          <a:p>
            <a:r>
              <a:rPr lang="en-US" sz="2000" dirty="0"/>
              <a:t> Numbering is independent in each direction. </a:t>
            </a:r>
          </a:p>
          <a:p>
            <a:r>
              <a:rPr lang="en-US" sz="2000" dirty="0"/>
              <a:t>When TCP receives bytes of data from a process, TCP stores them in the sending buffer and numbers them. </a:t>
            </a:r>
          </a:p>
          <a:p>
            <a:r>
              <a:rPr lang="en-US" sz="2000" dirty="0"/>
              <a:t>The numbering does not necessarily start from 0. </a:t>
            </a:r>
          </a:p>
          <a:p>
            <a:r>
              <a:rPr lang="en-US" sz="2000" dirty="0"/>
              <a:t>Instead, TCP chooses an arbitrary number between 0 and 2</a:t>
            </a:r>
            <a:r>
              <a:rPr lang="en-US" sz="2000" baseline="30000" dirty="0"/>
              <a:t>32</a:t>
            </a:r>
            <a:r>
              <a:rPr lang="en-US" sz="2000" dirty="0"/>
              <a:t> − 1 for the number of the first byte. </a:t>
            </a:r>
          </a:p>
          <a:p>
            <a:r>
              <a:rPr lang="en-US" sz="2000" dirty="0"/>
              <a:t>For example, if the number happens to be 1057 and the total data to be sent is 6000 bytes, the bytes are numbered from 1057 to 7056. </a:t>
            </a:r>
          </a:p>
          <a:p>
            <a:r>
              <a:rPr lang="en-US" sz="2000" dirty="0"/>
              <a:t>Byte numbering is used for </a:t>
            </a:r>
            <a:r>
              <a:rPr lang="en-US" sz="2000" b="1" dirty="0"/>
              <a:t>flow and error control.</a:t>
            </a:r>
          </a:p>
        </p:txBody>
      </p:sp>
    </p:spTree>
    <p:extLst>
      <p:ext uri="{BB962C8B-B14F-4D97-AF65-F5344CB8AC3E}">
        <p14:creationId xmlns:p14="http://schemas.microsoft.com/office/powerpoint/2010/main" val="256438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78A0-6601-317F-2113-1E497CFCD216}"/>
              </a:ext>
            </a:extLst>
          </p:cNvPr>
          <p:cNvSpPr>
            <a:spLocks noGrp="1"/>
          </p:cNvSpPr>
          <p:nvPr>
            <p:ph type="title"/>
          </p:nvPr>
        </p:nvSpPr>
        <p:spPr>
          <a:xfrm>
            <a:off x="1776249" y="624110"/>
            <a:ext cx="9728364" cy="1280890"/>
          </a:xfrm>
        </p:spPr>
        <p:txBody>
          <a:bodyPr/>
          <a:lstStyle/>
          <a:p>
            <a:r>
              <a:rPr lang="en-US" b="1" dirty="0"/>
              <a:t>Numbering System</a:t>
            </a:r>
            <a:br>
              <a:rPr lang="en-US" dirty="0"/>
            </a:br>
            <a:r>
              <a:rPr lang="en-US" dirty="0"/>
              <a:t>	Sequence Number</a:t>
            </a:r>
          </a:p>
        </p:txBody>
      </p:sp>
      <p:sp>
        <p:nvSpPr>
          <p:cNvPr id="3" name="Content Placeholder 2">
            <a:extLst>
              <a:ext uri="{FF2B5EF4-FFF2-40B4-BE49-F238E27FC236}">
                <a16:creationId xmlns:a16="http://schemas.microsoft.com/office/drawing/2014/main" id="{401C6186-3089-1106-94F2-69F362FFF702}"/>
              </a:ext>
            </a:extLst>
          </p:cNvPr>
          <p:cNvSpPr>
            <a:spLocks noGrp="1"/>
          </p:cNvSpPr>
          <p:nvPr>
            <p:ph idx="1"/>
          </p:nvPr>
        </p:nvSpPr>
        <p:spPr>
          <a:xfrm>
            <a:off x="1702676" y="1839308"/>
            <a:ext cx="9801936" cy="4992413"/>
          </a:xfrm>
        </p:spPr>
        <p:txBody>
          <a:bodyPr>
            <a:normAutofit fontScale="92500" lnSpcReduction="10000"/>
          </a:bodyPr>
          <a:lstStyle/>
          <a:p>
            <a:r>
              <a:rPr lang="en-US" dirty="0"/>
              <a:t>Once numbered, TCP assigns a sequence number to each segment that is being sent. </a:t>
            </a:r>
          </a:p>
          <a:p>
            <a:r>
              <a:rPr lang="en-US" dirty="0"/>
              <a:t>The sequence number, in each direction, is defined as follows: </a:t>
            </a:r>
          </a:p>
          <a:p>
            <a:pPr lvl="1"/>
            <a:r>
              <a:rPr lang="en-US" dirty="0"/>
              <a:t>1. The sequence number of the first segment is the ISN (initial sequence number), which is a random number. </a:t>
            </a:r>
          </a:p>
          <a:p>
            <a:pPr lvl="1"/>
            <a:r>
              <a:rPr lang="en-US" dirty="0"/>
              <a:t>2. The sequence number of any other segment is the sequence number of the previous segment plus the number of bytes (real or imaginary) carried by the previous segment. </a:t>
            </a:r>
          </a:p>
          <a:p>
            <a:r>
              <a:rPr lang="en-US" dirty="0"/>
              <a:t>When a segment carries a combination of data and control information (piggybacking), it uses a sequence number. </a:t>
            </a:r>
          </a:p>
          <a:p>
            <a:r>
              <a:rPr lang="en-US" dirty="0"/>
              <a:t>If a segment does not carry user data, it does not logically define a sequence number. The field is there, but the value is not valid. </a:t>
            </a:r>
          </a:p>
          <a:p>
            <a:r>
              <a:rPr lang="en-US" dirty="0"/>
              <a:t>However, segments, when carrying only control information, need a sequence number to allow an acknowledgment from the receiver. </a:t>
            </a:r>
          </a:p>
          <a:p>
            <a:pPr lvl="1"/>
            <a:r>
              <a:rPr lang="en-US" dirty="0"/>
              <a:t>These segments are used for connection </a:t>
            </a:r>
            <a:r>
              <a:rPr lang="en-US" b="1" dirty="0"/>
              <a:t>establishment, termination, or abortion</a:t>
            </a:r>
            <a:r>
              <a:rPr lang="en-US" dirty="0"/>
              <a:t>. </a:t>
            </a:r>
          </a:p>
          <a:p>
            <a:r>
              <a:rPr lang="en-US" dirty="0"/>
              <a:t>Each of these segments consume one sequence number as though it carries one byte, but there are no actual data. We will elaborate on this issue when we discuss connections.</a:t>
            </a:r>
          </a:p>
        </p:txBody>
      </p:sp>
    </p:spTree>
    <p:extLst>
      <p:ext uri="{BB962C8B-B14F-4D97-AF65-F5344CB8AC3E}">
        <p14:creationId xmlns:p14="http://schemas.microsoft.com/office/powerpoint/2010/main" val="343599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2841-F7FC-49A7-BB45-4E0C7069C605}"/>
              </a:ext>
            </a:extLst>
          </p:cNvPr>
          <p:cNvSpPr>
            <a:spLocks noGrp="1"/>
          </p:cNvSpPr>
          <p:nvPr>
            <p:ph type="title"/>
          </p:nvPr>
        </p:nvSpPr>
        <p:spPr>
          <a:xfrm>
            <a:off x="1640156" y="382372"/>
            <a:ext cx="8911687" cy="1280890"/>
          </a:xfrm>
        </p:spPr>
        <p:txBody>
          <a:bodyPr/>
          <a:lstStyle/>
          <a:p>
            <a:r>
              <a:rPr lang="en-US" b="1" dirty="0"/>
              <a:t>Numbering System</a:t>
            </a:r>
            <a:br>
              <a:rPr lang="en-US" dirty="0"/>
            </a:br>
            <a:r>
              <a:rPr lang="en-US" dirty="0"/>
              <a:t>	Acknowledgment Number</a:t>
            </a:r>
          </a:p>
        </p:txBody>
      </p:sp>
      <p:sp>
        <p:nvSpPr>
          <p:cNvPr id="3" name="Content Placeholder 2">
            <a:extLst>
              <a:ext uri="{FF2B5EF4-FFF2-40B4-BE49-F238E27FC236}">
                <a16:creationId xmlns:a16="http://schemas.microsoft.com/office/drawing/2014/main" id="{61CACBC5-A1EB-7914-2D1A-A4B273134C3B}"/>
              </a:ext>
            </a:extLst>
          </p:cNvPr>
          <p:cNvSpPr>
            <a:spLocks noGrp="1"/>
          </p:cNvSpPr>
          <p:nvPr>
            <p:ph idx="1"/>
          </p:nvPr>
        </p:nvSpPr>
        <p:spPr>
          <a:xfrm>
            <a:off x="1492469" y="1663261"/>
            <a:ext cx="10012143" cy="5063359"/>
          </a:xfrm>
        </p:spPr>
        <p:txBody>
          <a:bodyPr>
            <a:normAutofit/>
          </a:bodyPr>
          <a:lstStyle/>
          <a:p>
            <a:r>
              <a:rPr lang="en-US" dirty="0"/>
              <a:t>As communication in TCP is full duplex</a:t>
            </a:r>
          </a:p>
          <a:p>
            <a:r>
              <a:rPr lang="en-US" dirty="0"/>
              <a:t>when a connection is established, both parties can send and receive data at the same time. </a:t>
            </a:r>
          </a:p>
          <a:p>
            <a:r>
              <a:rPr lang="en-US" dirty="0"/>
              <a:t>Each party numbers the bytes, usually with a different starting byte number. </a:t>
            </a:r>
          </a:p>
          <a:p>
            <a:r>
              <a:rPr lang="en-US" dirty="0"/>
              <a:t>The sequence number in each direction shows the number of the first byte carried by the segment. </a:t>
            </a:r>
          </a:p>
          <a:p>
            <a:r>
              <a:rPr lang="en-US" dirty="0"/>
              <a:t>Each party also uses an acknowledgment number to confirm the bytes it has received. </a:t>
            </a:r>
          </a:p>
          <a:p>
            <a:r>
              <a:rPr lang="en-US" dirty="0"/>
              <a:t>However, the acknowledgment number defines the number of the next byte that the party expects to receive. </a:t>
            </a:r>
          </a:p>
          <a:p>
            <a:r>
              <a:rPr lang="en-US" dirty="0"/>
              <a:t>The acknowledgment is cumulative, meaning that the party takes the number of the last byte that it has received, safe and sound, adds 1 to it, and announces this sum as the acknowledgment number. </a:t>
            </a:r>
          </a:p>
        </p:txBody>
      </p:sp>
    </p:spTree>
    <p:extLst>
      <p:ext uri="{BB962C8B-B14F-4D97-AF65-F5344CB8AC3E}">
        <p14:creationId xmlns:p14="http://schemas.microsoft.com/office/powerpoint/2010/main" val="1387540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9534-B015-2521-8989-80F7F86C17BD}"/>
              </a:ext>
            </a:extLst>
          </p:cNvPr>
          <p:cNvSpPr>
            <a:spLocks noGrp="1"/>
          </p:cNvSpPr>
          <p:nvPr>
            <p:ph type="title"/>
          </p:nvPr>
        </p:nvSpPr>
        <p:spPr/>
        <p:txBody>
          <a:bodyPr/>
          <a:lstStyle/>
          <a:p>
            <a:r>
              <a:rPr lang="en-US" b="1" dirty="0"/>
              <a:t>TCP Features </a:t>
            </a:r>
            <a:br>
              <a:rPr lang="en-US" dirty="0"/>
            </a:br>
            <a:r>
              <a:rPr lang="en-US" dirty="0"/>
              <a:t>	Encapsulation</a:t>
            </a:r>
          </a:p>
        </p:txBody>
      </p:sp>
      <p:sp>
        <p:nvSpPr>
          <p:cNvPr id="3" name="Content Placeholder 2">
            <a:extLst>
              <a:ext uri="{FF2B5EF4-FFF2-40B4-BE49-F238E27FC236}">
                <a16:creationId xmlns:a16="http://schemas.microsoft.com/office/drawing/2014/main" id="{10156031-8DD0-6887-A7CE-1010E9693BB1}"/>
              </a:ext>
            </a:extLst>
          </p:cNvPr>
          <p:cNvSpPr>
            <a:spLocks noGrp="1"/>
          </p:cNvSpPr>
          <p:nvPr>
            <p:ph idx="1"/>
          </p:nvPr>
        </p:nvSpPr>
        <p:spPr/>
        <p:txBody>
          <a:bodyPr/>
          <a:lstStyle/>
          <a:p>
            <a:r>
              <a:rPr lang="en-US" dirty="0"/>
              <a:t>A TCP segment encapsulates the data received from the application layer. The TCP segment is encapsulated in an IP datagram, which in turn is encapsulated in a frame at the data-link layer.</a:t>
            </a:r>
          </a:p>
        </p:txBody>
      </p:sp>
    </p:spTree>
    <p:extLst>
      <p:ext uri="{BB962C8B-B14F-4D97-AF65-F5344CB8AC3E}">
        <p14:creationId xmlns:p14="http://schemas.microsoft.com/office/powerpoint/2010/main" val="3245952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8386-7B89-56E1-6B48-A598DDA06ACE}"/>
              </a:ext>
            </a:extLst>
          </p:cNvPr>
          <p:cNvSpPr>
            <a:spLocks noGrp="1"/>
          </p:cNvSpPr>
          <p:nvPr>
            <p:ph type="title"/>
          </p:nvPr>
        </p:nvSpPr>
        <p:spPr>
          <a:xfrm>
            <a:off x="1562911" y="306333"/>
            <a:ext cx="8911687" cy="1280890"/>
          </a:xfrm>
        </p:spPr>
        <p:txBody>
          <a:bodyPr>
            <a:normAutofit/>
          </a:bodyPr>
          <a:lstStyle/>
          <a:p>
            <a:r>
              <a:rPr lang="en-US" dirty="0"/>
              <a:t>24.3.4 </a:t>
            </a:r>
            <a:br>
              <a:rPr lang="en-US" dirty="0"/>
            </a:br>
            <a:r>
              <a:rPr lang="en-US" b="1" dirty="0"/>
              <a:t>A TCP Connection</a:t>
            </a:r>
            <a:r>
              <a:rPr lang="en-US" dirty="0"/>
              <a:t> </a:t>
            </a:r>
            <a:r>
              <a:rPr lang="en-US" sz="1800" dirty="0"/>
              <a:t>(TCP is connection-oriented)</a:t>
            </a:r>
            <a:endParaRPr lang="en-US" dirty="0"/>
          </a:p>
        </p:txBody>
      </p:sp>
      <p:sp>
        <p:nvSpPr>
          <p:cNvPr id="3" name="Content Placeholder 2">
            <a:extLst>
              <a:ext uri="{FF2B5EF4-FFF2-40B4-BE49-F238E27FC236}">
                <a16:creationId xmlns:a16="http://schemas.microsoft.com/office/drawing/2014/main" id="{D9E528B9-B670-B795-3FF3-7C549B9CFBCF}"/>
              </a:ext>
            </a:extLst>
          </p:cNvPr>
          <p:cNvSpPr>
            <a:spLocks noGrp="1"/>
          </p:cNvSpPr>
          <p:nvPr>
            <p:ph idx="1"/>
          </p:nvPr>
        </p:nvSpPr>
        <p:spPr>
          <a:xfrm>
            <a:off x="1562911" y="1513489"/>
            <a:ext cx="9941701" cy="5038177"/>
          </a:xfrm>
        </p:spPr>
        <p:txBody>
          <a:bodyPr>
            <a:normAutofit fontScale="92500" lnSpcReduction="10000"/>
          </a:bodyPr>
          <a:lstStyle/>
          <a:p>
            <a:r>
              <a:rPr lang="en-US" dirty="0"/>
              <a:t>A connection-oriented transport protocol establishes a logical path between the source and destination. </a:t>
            </a:r>
          </a:p>
          <a:p>
            <a:r>
              <a:rPr lang="en-US" dirty="0"/>
              <a:t>A single logical pathway facilitates the acknowledgment process as well as retransmission of damaged or lost frames.</a:t>
            </a:r>
          </a:p>
          <a:p>
            <a:r>
              <a:rPr lang="en-US" dirty="0"/>
              <a:t>You may wonder how TCP, which uses the services of IP, a connectionless protocol, can be connection-oriented. </a:t>
            </a:r>
          </a:p>
          <a:p>
            <a:pPr lvl="1"/>
            <a:r>
              <a:rPr lang="en-US" dirty="0"/>
              <a:t>The point is that a TCP connection is logical, not physical. </a:t>
            </a:r>
          </a:p>
          <a:p>
            <a:r>
              <a:rPr lang="en-US" dirty="0"/>
              <a:t>TCP operates at a higher level. </a:t>
            </a:r>
          </a:p>
          <a:p>
            <a:r>
              <a:rPr lang="en-US" dirty="0"/>
              <a:t>TCP uses the services of IP to deliver individual segments to the receiver, but it controls the connection itself. </a:t>
            </a:r>
          </a:p>
          <a:p>
            <a:r>
              <a:rPr lang="en-US" dirty="0"/>
              <a:t>If a segment is lost or corrupted, it is retransmitted. </a:t>
            </a:r>
          </a:p>
          <a:p>
            <a:pPr lvl="1"/>
            <a:r>
              <a:rPr lang="en-US" dirty="0"/>
              <a:t>Unlike TCP, IP is unaware of this retransmission. </a:t>
            </a:r>
          </a:p>
          <a:p>
            <a:r>
              <a:rPr lang="en-US" dirty="0"/>
              <a:t>If a segment arrives out of order, TCP holds it until the missing segments arrive; IP is unaware of this reordering. </a:t>
            </a:r>
          </a:p>
          <a:p>
            <a:r>
              <a:rPr lang="en-US" dirty="0"/>
              <a:t>In TCP, connection-oriented transmission requires three phases: </a:t>
            </a:r>
          </a:p>
          <a:p>
            <a:r>
              <a:rPr lang="en-US" b="1" dirty="0"/>
              <a:t>connection establishment, data transfer, and connection termination</a:t>
            </a:r>
          </a:p>
        </p:txBody>
      </p:sp>
    </p:spTree>
    <p:extLst>
      <p:ext uri="{BB962C8B-B14F-4D97-AF65-F5344CB8AC3E}">
        <p14:creationId xmlns:p14="http://schemas.microsoft.com/office/powerpoint/2010/main" val="274144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1186-E97A-64C4-D69D-97E19CC4D90F}"/>
              </a:ext>
            </a:extLst>
          </p:cNvPr>
          <p:cNvSpPr>
            <a:spLocks noGrp="1"/>
          </p:cNvSpPr>
          <p:nvPr>
            <p:ph type="title"/>
          </p:nvPr>
        </p:nvSpPr>
        <p:spPr>
          <a:xfrm>
            <a:off x="1640156" y="306333"/>
            <a:ext cx="8911687" cy="1280890"/>
          </a:xfrm>
        </p:spPr>
        <p:txBody>
          <a:bodyPr>
            <a:normAutofit/>
          </a:bodyPr>
          <a:lstStyle/>
          <a:p>
            <a:r>
              <a:rPr lang="en-US" b="1" dirty="0"/>
              <a:t>A TCP Connection </a:t>
            </a:r>
            <a:br>
              <a:rPr lang="en-US" dirty="0"/>
            </a:br>
            <a:r>
              <a:rPr lang="en-US" dirty="0"/>
              <a:t>	Connection Establishment</a:t>
            </a:r>
          </a:p>
        </p:txBody>
      </p:sp>
      <p:sp>
        <p:nvSpPr>
          <p:cNvPr id="3" name="Content Placeholder 2">
            <a:extLst>
              <a:ext uri="{FF2B5EF4-FFF2-40B4-BE49-F238E27FC236}">
                <a16:creationId xmlns:a16="http://schemas.microsoft.com/office/drawing/2014/main" id="{FA838870-2ADE-4DBB-31DB-EE5CA1BDE9BD}"/>
              </a:ext>
            </a:extLst>
          </p:cNvPr>
          <p:cNvSpPr>
            <a:spLocks noGrp="1"/>
          </p:cNvSpPr>
          <p:nvPr>
            <p:ph idx="1"/>
          </p:nvPr>
        </p:nvSpPr>
        <p:spPr>
          <a:xfrm>
            <a:off x="1429407" y="1587223"/>
            <a:ext cx="10075205" cy="4323999"/>
          </a:xfrm>
        </p:spPr>
        <p:txBody>
          <a:bodyPr/>
          <a:lstStyle/>
          <a:p>
            <a:r>
              <a:rPr lang="en-US" dirty="0"/>
              <a:t>TCP transmits data in full-duplex mode. </a:t>
            </a:r>
          </a:p>
          <a:p>
            <a:r>
              <a:rPr lang="en-US" dirty="0"/>
              <a:t>When two TCPs in two machines are connected, they are able to send segments to each other simultaneously. </a:t>
            </a:r>
          </a:p>
          <a:p>
            <a:r>
              <a:rPr lang="en-US" dirty="0"/>
              <a:t>This implies that each party must initialize communication and get approval from the other party before any data are transferred.</a:t>
            </a:r>
          </a:p>
        </p:txBody>
      </p:sp>
    </p:spTree>
    <p:extLst>
      <p:ext uri="{BB962C8B-B14F-4D97-AF65-F5344CB8AC3E}">
        <p14:creationId xmlns:p14="http://schemas.microsoft.com/office/powerpoint/2010/main" val="2971530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1B26-ADF6-933A-B812-526103FF9989}"/>
              </a:ext>
            </a:extLst>
          </p:cNvPr>
          <p:cNvSpPr>
            <a:spLocks noGrp="1"/>
          </p:cNvSpPr>
          <p:nvPr>
            <p:ph type="title"/>
          </p:nvPr>
        </p:nvSpPr>
        <p:spPr>
          <a:xfrm>
            <a:off x="1629105" y="306333"/>
            <a:ext cx="9549688" cy="1280890"/>
          </a:xfrm>
        </p:spPr>
        <p:txBody>
          <a:bodyPr>
            <a:normAutofit fontScale="90000"/>
          </a:bodyPr>
          <a:lstStyle/>
          <a:p>
            <a:r>
              <a:rPr lang="en-US" b="1" dirty="0"/>
              <a:t>A TCP Connection </a:t>
            </a:r>
            <a:br>
              <a:rPr lang="en-US" dirty="0"/>
            </a:br>
            <a:r>
              <a:rPr lang="en-US" dirty="0"/>
              <a:t>		Connection Establishment</a:t>
            </a:r>
            <a:br>
              <a:rPr lang="en-US" dirty="0"/>
            </a:br>
            <a:r>
              <a:rPr lang="en-US" dirty="0"/>
              <a:t>						</a:t>
            </a:r>
            <a:r>
              <a:rPr lang="en-US" sz="2700" dirty="0"/>
              <a:t>Three-Way Handshaking</a:t>
            </a:r>
          </a:p>
        </p:txBody>
      </p:sp>
      <p:sp>
        <p:nvSpPr>
          <p:cNvPr id="3" name="Content Placeholder 2">
            <a:extLst>
              <a:ext uri="{FF2B5EF4-FFF2-40B4-BE49-F238E27FC236}">
                <a16:creationId xmlns:a16="http://schemas.microsoft.com/office/drawing/2014/main" id="{9807BCAF-1DE6-30D6-9113-19D2653682AD}"/>
              </a:ext>
            </a:extLst>
          </p:cNvPr>
          <p:cNvSpPr>
            <a:spLocks noGrp="1"/>
          </p:cNvSpPr>
          <p:nvPr>
            <p:ph idx="1"/>
          </p:nvPr>
        </p:nvSpPr>
        <p:spPr>
          <a:xfrm>
            <a:off x="1629105" y="2133599"/>
            <a:ext cx="9875507" cy="4418067"/>
          </a:xfrm>
        </p:spPr>
        <p:txBody>
          <a:bodyPr>
            <a:normAutofit lnSpcReduction="10000"/>
          </a:bodyPr>
          <a:lstStyle/>
          <a:p>
            <a:r>
              <a:rPr lang="en-US" dirty="0"/>
              <a:t>The connection establishment in TCP is called three-way handshaking. </a:t>
            </a:r>
          </a:p>
          <a:p>
            <a:r>
              <a:rPr lang="en-US" dirty="0"/>
              <a:t>For example, </a:t>
            </a:r>
          </a:p>
          <a:p>
            <a:pPr lvl="1"/>
            <a:r>
              <a:rPr lang="en-US" dirty="0"/>
              <a:t>an application program, called the client, wants to make a connection with another application program, called the server, using TCP as the transport-layer protocol. </a:t>
            </a:r>
          </a:p>
          <a:p>
            <a:r>
              <a:rPr lang="en-US" dirty="0"/>
              <a:t>The process starts with the </a:t>
            </a:r>
            <a:r>
              <a:rPr lang="en-US" b="1" dirty="0"/>
              <a:t>server</a:t>
            </a:r>
            <a:r>
              <a:rPr lang="en-US" dirty="0"/>
              <a:t>. </a:t>
            </a:r>
          </a:p>
          <a:p>
            <a:r>
              <a:rPr lang="en-US" dirty="0"/>
              <a:t>The server program tells its TCP that it is ready to accept a connection. </a:t>
            </a:r>
          </a:p>
          <a:p>
            <a:r>
              <a:rPr lang="en-US" dirty="0"/>
              <a:t>This </a:t>
            </a:r>
            <a:r>
              <a:rPr lang="en-US" b="1" dirty="0"/>
              <a:t>request</a:t>
            </a:r>
            <a:r>
              <a:rPr lang="en-US" dirty="0"/>
              <a:t> is called a </a:t>
            </a:r>
            <a:r>
              <a:rPr lang="en-US" b="1" dirty="0"/>
              <a:t>passive open</a:t>
            </a:r>
            <a:r>
              <a:rPr lang="en-US" dirty="0"/>
              <a:t>. </a:t>
            </a:r>
          </a:p>
          <a:p>
            <a:r>
              <a:rPr lang="en-US" dirty="0"/>
              <a:t>Although the server TCP is ready to accept a connection from any machine in the world, it cannot make the connection itself. </a:t>
            </a:r>
          </a:p>
          <a:p>
            <a:r>
              <a:rPr lang="en-US" dirty="0"/>
              <a:t>The </a:t>
            </a:r>
            <a:r>
              <a:rPr lang="en-US" b="1" dirty="0"/>
              <a:t>client</a:t>
            </a:r>
            <a:r>
              <a:rPr lang="en-US" dirty="0"/>
              <a:t> program issues a </a:t>
            </a:r>
            <a:r>
              <a:rPr lang="en-US" b="1" dirty="0"/>
              <a:t>request</a:t>
            </a:r>
            <a:r>
              <a:rPr lang="en-US" dirty="0"/>
              <a:t> for an </a:t>
            </a:r>
            <a:r>
              <a:rPr lang="en-US" b="1" dirty="0"/>
              <a:t>active open</a:t>
            </a:r>
            <a:r>
              <a:rPr lang="en-US" dirty="0"/>
              <a:t>. </a:t>
            </a:r>
          </a:p>
          <a:p>
            <a:r>
              <a:rPr lang="en-US" dirty="0"/>
              <a:t>A client that wishes to connect to an open server tells its TCP to connect to a particular server. </a:t>
            </a:r>
          </a:p>
          <a:p>
            <a:r>
              <a:rPr lang="en-US" dirty="0"/>
              <a:t>TCP can now start the three-way handshaking process.</a:t>
            </a:r>
          </a:p>
        </p:txBody>
      </p:sp>
    </p:spTree>
    <p:extLst>
      <p:ext uri="{BB962C8B-B14F-4D97-AF65-F5344CB8AC3E}">
        <p14:creationId xmlns:p14="http://schemas.microsoft.com/office/powerpoint/2010/main" val="4232295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3EAF-91DC-6501-12F2-5FE730135B31}"/>
              </a:ext>
            </a:extLst>
          </p:cNvPr>
          <p:cNvSpPr>
            <a:spLocks noGrp="1"/>
          </p:cNvSpPr>
          <p:nvPr>
            <p:ph type="title"/>
          </p:nvPr>
        </p:nvSpPr>
        <p:spPr>
          <a:xfrm>
            <a:off x="1752098" y="379744"/>
            <a:ext cx="8911687" cy="1280890"/>
          </a:xfrm>
        </p:spPr>
        <p:txBody>
          <a:bodyPr/>
          <a:lstStyle/>
          <a:p>
            <a:r>
              <a:rPr lang="en-US" dirty="0"/>
              <a:t>Three-way handshaking process</a:t>
            </a:r>
          </a:p>
        </p:txBody>
      </p:sp>
      <p:sp>
        <p:nvSpPr>
          <p:cNvPr id="3" name="Content Placeholder 2">
            <a:extLst>
              <a:ext uri="{FF2B5EF4-FFF2-40B4-BE49-F238E27FC236}">
                <a16:creationId xmlns:a16="http://schemas.microsoft.com/office/drawing/2014/main" id="{A3E0FC9A-7536-9568-CD38-9CD63BF92E6C}"/>
              </a:ext>
            </a:extLst>
          </p:cNvPr>
          <p:cNvSpPr>
            <a:spLocks noGrp="1"/>
          </p:cNvSpPr>
          <p:nvPr>
            <p:ph idx="1"/>
          </p:nvPr>
        </p:nvSpPr>
        <p:spPr>
          <a:xfrm>
            <a:off x="872359" y="1660633"/>
            <a:ext cx="5861099" cy="4214649"/>
          </a:xfrm>
        </p:spPr>
        <p:txBody>
          <a:bodyPr/>
          <a:lstStyle/>
          <a:p>
            <a:r>
              <a:rPr lang="en-US" dirty="0"/>
              <a:t>To show the process we use time lines. </a:t>
            </a:r>
          </a:p>
          <a:p>
            <a:r>
              <a:rPr lang="en-US" dirty="0"/>
              <a:t>Each segment has values for all its header fields and perhaps for some of its option fields too.</a:t>
            </a:r>
          </a:p>
          <a:p>
            <a:r>
              <a:rPr lang="en-US" dirty="0"/>
              <a:t>However, we show only the few fields necessary to understand each phase.</a:t>
            </a:r>
          </a:p>
          <a:p>
            <a:r>
              <a:rPr lang="en-US" dirty="0"/>
              <a:t>We show the </a:t>
            </a:r>
          </a:p>
          <a:p>
            <a:pPr lvl="1"/>
            <a:r>
              <a:rPr lang="en-US" dirty="0"/>
              <a:t>sequence number, </a:t>
            </a:r>
          </a:p>
          <a:p>
            <a:pPr lvl="1"/>
            <a:r>
              <a:rPr lang="en-US" dirty="0"/>
              <a:t>the acknowledgment number, </a:t>
            </a:r>
          </a:p>
          <a:p>
            <a:pPr lvl="1"/>
            <a:r>
              <a:rPr lang="en-US" dirty="0"/>
              <a:t>the control flags (only those that are set), and </a:t>
            </a:r>
          </a:p>
          <a:p>
            <a:pPr lvl="1"/>
            <a:r>
              <a:rPr lang="en-US" dirty="0"/>
              <a:t>window size if relevant. </a:t>
            </a:r>
          </a:p>
          <a:p>
            <a:r>
              <a:rPr lang="en-US" dirty="0"/>
              <a:t>The three steps in this phase are explained next</a:t>
            </a:r>
          </a:p>
          <a:p>
            <a:endParaRPr lang="en-US" dirty="0"/>
          </a:p>
        </p:txBody>
      </p:sp>
      <p:pic>
        <p:nvPicPr>
          <p:cNvPr id="5" name="Picture 4">
            <a:extLst>
              <a:ext uri="{FF2B5EF4-FFF2-40B4-BE49-F238E27FC236}">
                <a16:creationId xmlns:a16="http://schemas.microsoft.com/office/drawing/2014/main" id="{9346FEC2-7068-5D23-8F7F-1F4EB44352A7}"/>
              </a:ext>
            </a:extLst>
          </p:cNvPr>
          <p:cNvPicPr>
            <a:picLocks noChangeAspect="1"/>
          </p:cNvPicPr>
          <p:nvPr/>
        </p:nvPicPr>
        <p:blipFill>
          <a:blip r:embed="rId2"/>
          <a:stretch>
            <a:fillRect/>
          </a:stretch>
        </p:blipFill>
        <p:spPr>
          <a:xfrm>
            <a:off x="6696921" y="1660632"/>
            <a:ext cx="5495079" cy="3363313"/>
          </a:xfrm>
          <a:prstGeom prst="rect">
            <a:avLst/>
          </a:prstGeom>
        </p:spPr>
      </p:pic>
    </p:spTree>
    <p:extLst>
      <p:ext uri="{BB962C8B-B14F-4D97-AF65-F5344CB8AC3E}">
        <p14:creationId xmlns:p14="http://schemas.microsoft.com/office/powerpoint/2010/main" val="3032220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EF2A-6181-1D92-B627-37BF2360022C}"/>
              </a:ext>
            </a:extLst>
          </p:cNvPr>
          <p:cNvSpPr>
            <a:spLocks noGrp="1"/>
          </p:cNvSpPr>
          <p:nvPr>
            <p:ph type="title"/>
          </p:nvPr>
        </p:nvSpPr>
        <p:spPr>
          <a:xfrm>
            <a:off x="1640156" y="603089"/>
            <a:ext cx="8911687" cy="1280890"/>
          </a:xfrm>
        </p:spPr>
        <p:txBody>
          <a:bodyPr>
            <a:normAutofit fontScale="90000"/>
          </a:bodyPr>
          <a:lstStyle/>
          <a:p>
            <a:r>
              <a:rPr lang="en-US" dirty="0"/>
              <a:t>Step 1</a:t>
            </a:r>
            <a:br>
              <a:rPr lang="en-US" dirty="0"/>
            </a:br>
            <a:r>
              <a:rPr lang="en-US" dirty="0"/>
              <a:t>Connection</a:t>
            </a:r>
            <a:br>
              <a:rPr lang="en-US" dirty="0"/>
            </a:br>
            <a:endParaRPr lang="en-US" dirty="0"/>
          </a:p>
        </p:txBody>
      </p:sp>
      <p:sp>
        <p:nvSpPr>
          <p:cNvPr id="3" name="Content Placeholder 2">
            <a:extLst>
              <a:ext uri="{FF2B5EF4-FFF2-40B4-BE49-F238E27FC236}">
                <a16:creationId xmlns:a16="http://schemas.microsoft.com/office/drawing/2014/main" id="{3DA15F41-B0CC-D43E-6152-A392E121287E}"/>
              </a:ext>
            </a:extLst>
          </p:cNvPr>
          <p:cNvSpPr>
            <a:spLocks noGrp="1"/>
          </p:cNvSpPr>
          <p:nvPr>
            <p:ph idx="1"/>
          </p:nvPr>
        </p:nvSpPr>
        <p:spPr>
          <a:xfrm>
            <a:off x="1264908" y="2699360"/>
            <a:ext cx="10454126" cy="3777622"/>
          </a:xfrm>
        </p:spPr>
        <p:txBody>
          <a:bodyPr>
            <a:normAutofit lnSpcReduction="10000"/>
          </a:bodyPr>
          <a:lstStyle/>
          <a:p>
            <a:r>
              <a:rPr lang="en-US" dirty="0"/>
              <a:t>The client sends the first segment, a </a:t>
            </a:r>
            <a:r>
              <a:rPr lang="en-US" b="1" dirty="0"/>
              <a:t>SYN</a:t>
            </a:r>
            <a:r>
              <a:rPr lang="en-US" dirty="0"/>
              <a:t> segment, in which only the SYN flag is set. </a:t>
            </a:r>
          </a:p>
          <a:p>
            <a:r>
              <a:rPr lang="en-US" dirty="0"/>
              <a:t>This segment is for synchronization of sequence numbers. </a:t>
            </a:r>
          </a:p>
          <a:p>
            <a:r>
              <a:rPr lang="en-US" dirty="0"/>
              <a:t>The </a:t>
            </a:r>
            <a:r>
              <a:rPr lang="en-US" b="1" dirty="0"/>
              <a:t>client, </a:t>
            </a:r>
            <a:r>
              <a:rPr lang="en-US" dirty="0"/>
              <a:t>chooses a </a:t>
            </a:r>
            <a:r>
              <a:rPr lang="en-US" b="1" dirty="0"/>
              <a:t>random number </a:t>
            </a:r>
            <a:r>
              <a:rPr lang="en-US" dirty="0"/>
              <a:t>as the first sequence number and sends this number to the server. </a:t>
            </a:r>
          </a:p>
          <a:p>
            <a:r>
              <a:rPr lang="en-US" dirty="0"/>
              <a:t>This sequence number is called the </a:t>
            </a:r>
            <a:r>
              <a:rPr lang="en-US" b="1" dirty="0"/>
              <a:t>initial sequence number (ISN</a:t>
            </a:r>
            <a:r>
              <a:rPr lang="en-US" dirty="0"/>
              <a:t>). </a:t>
            </a:r>
          </a:p>
          <a:p>
            <a:pPr lvl="1"/>
            <a:r>
              <a:rPr lang="en-US" i="1" dirty="0"/>
              <a:t>Note that this segment does not contain an acknowledgment number. </a:t>
            </a:r>
          </a:p>
          <a:p>
            <a:pPr lvl="1"/>
            <a:r>
              <a:rPr lang="en-US" dirty="0"/>
              <a:t>It does not define the window size either; a window size definition makes sense only when a segment includes an acknowledgment. </a:t>
            </a:r>
          </a:p>
          <a:p>
            <a:pPr lvl="1"/>
            <a:r>
              <a:rPr lang="en-US" dirty="0"/>
              <a:t>Note that the SYN segment is a control segment and carries no data. </a:t>
            </a:r>
          </a:p>
          <a:p>
            <a:pPr lvl="1"/>
            <a:r>
              <a:rPr lang="en-US" dirty="0"/>
              <a:t>However, it consumes one sequence number because it needs to be acknowledged. </a:t>
            </a:r>
          </a:p>
          <a:p>
            <a:pPr lvl="1"/>
            <a:r>
              <a:rPr lang="en-US" dirty="0"/>
              <a:t>We can say that the SYN segment carries one imaginary byte.</a:t>
            </a:r>
          </a:p>
        </p:txBody>
      </p:sp>
      <p:pic>
        <p:nvPicPr>
          <p:cNvPr id="7" name="Picture 6">
            <a:extLst>
              <a:ext uri="{FF2B5EF4-FFF2-40B4-BE49-F238E27FC236}">
                <a16:creationId xmlns:a16="http://schemas.microsoft.com/office/drawing/2014/main" id="{C15E518C-D190-D4CA-EE56-BA4DC33B3DE5}"/>
              </a:ext>
            </a:extLst>
          </p:cNvPr>
          <p:cNvPicPr>
            <a:picLocks noChangeAspect="1"/>
          </p:cNvPicPr>
          <p:nvPr/>
        </p:nvPicPr>
        <p:blipFill>
          <a:blip r:embed="rId2"/>
          <a:stretch>
            <a:fillRect/>
          </a:stretch>
        </p:blipFill>
        <p:spPr>
          <a:xfrm>
            <a:off x="4073754" y="123298"/>
            <a:ext cx="7552944" cy="2576062"/>
          </a:xfrm>
          <a:prstGeom prst="rect">
            <a:avLst/>
          </a:prstGeom>
        </p:spPr>
      </p:pic>
    </p:spTree>
    <p:extLst>
      <p:ext uri="{BB962C8B-B14F-4D97-AF65-F5344CB8AC3E}">
        <p14:creationId xmlns:p14="http://schemas.microsoft.com/office/powerpoint/2010/main" val="1375480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4FDB6-7376-8F88-BF1A-48A4AC3EFDB3}"/>
              </a:ext>
            </a:extLst>
          </p:cNvPr>
          <p:cNvSpPr>
            <a:spLocks noGrp="1"/>
          </p:cNvSpPr>
          <p:nvPr>
            <p:ph type="title"/>
          </p:nvPr>
        </p:nvSpPr>
        <p:spPr>
          <a:xfrm>
            <a:off x="1640156" y="666151"/>
            <a:ext cx="8911687" cy="1280890"/>
          </a:xfrm>
        </p:spPr>
        <p:txBody>
          <a:bodyPr/>
          <a:lstStyle/>
          <a:p>
            <a:r>
              <a:rPr lang="en-US" dirty="0"/>
              <a:t>Step 2</a:t>
            </a:r>
            <a:br>
              <a:rPr lang="en-US" dirty="0"/>
            </a:br>
            <a:r>
              <a:rPr lang="en-US" dirty="0"/>
              <a:t>Connection</a:t>
            </a:r>
          </a:p>
        </p:txBody>
      </p:sp>
      <p:sp>
        <p:nvSpPr>
          <p:cNvPr id="3" name="Content Placeholder 2">
            <a:extLst>
              <a:ext uri="{FF2B5EF4-FFF2-40B4-BE49-F238E27FC236}">
                <a16:creationId xmlns:a16="http://schemas.microsoft.com/office/drawing/2014/main" id="{0933C090-D77B-0E9C-BFA2-F0C6E6D86E21}"/>
              </a:ext>
            </a:extLst>
          </p:cNvPr>
          <p:cNvSpPr>
            <a:spLocks noGrp="1"/>
          </p:cNvSpPr>
          <p:nvPr>
            <p:ph idx="1"/>
          </p:nvPr>
        </p:nvSpPr>
        <p:spPr>
          <a:xfrm>
            <a:off x="1401542" y="2747520"/>
            <a:ext cx="10233409" cy="4014950"/>
          </a:xfrm>
        </p:spPr>
        <p:txBody>
          <a:bodyPr>
            <a:normAutofit fontScale="92500" lnSpcReduction="10000"/>
          </a:bodyPr>
          <a:lstStyle/>
          <a:p>
            <a:r>
              <a:rPr lang="en-US" dirty="0"/>
              <a:t>The server sends the second segment, a SYN + ACK segment with two flag bits set as: </a:t>
            </a:r>
            <a:r>
              <a:rPr lang="en-US" b="1" dirty="0"/>
              <a:t>SYN and ACK</a:t>
            </a:r>
            <a:r>
              <a:rPr lang="en-US" dirty="0"/>
              <a:t>. </a:t>
            </a:r>
          </a:p>
          <a:p>
            <a:r>
              <a:rPr lang="en-US" dirty="0"/>
              <a:t>This segment has a dual purpose. </a:t>
            </a:r>
          </a:p>
          <a:p>
            <a:pPr lvl="1"/>
            <a:r>
              <a:rPr lang="en-US" dirty="0"/>
              <a:t>First, it is a </a:t>
            </a:r>
            <a:r>
              <a:rPr lang="en-US" b="1" dirty="0"/>
              <a:t>SYN segment </a:t>
            </a:r>
            <a:r>
              <a:rPr lang="en-US" dirty="0"/>
              <a:t>for communication in the other direction. </a:t>
            </a:r>
          </a:p>
          <a:p>
            <a:pPr lvl="1"/>
            <a:r>
              <a:rPr lang="en-US" dirty="0"/>
              <a:t>The server uses this segment to initialize a sequence number for numbering the bytes sent from the </a:t>
            </a:r>
            <a:r>
              <a:rPr lang="en-US" b="1" dirty="0"/>
              <a:t>server to the client</a:t>
            </a:r>
            <a:r>
              <a:rPr lang="en-US" dirty="0"/>
              <a:t>. </a:t>
            </a:r>
          </a:p>
          <a:p>
            <a:pPr lvl="1"/>
            <a:r>
              <a:rPr lang="en-US" dirty="0"/>
              <a:t>The server also </a:t>
            </a:r>
            <a:r>
              <a:rPr lang="en-US" b="1" dirty="0"/>
              <a:t>acknowledges </a:t>
            </a:r>
            <a:r>
              <a:rPr lang="en-US" dirty="0"/>
              <a:t>the receipt of the SYN segment from the client by setting the </a:t>
            </a:r>
            <a:r>
              <a:rPr lang="en-US" b="1" dirty="0"/>
              <a:t>ACK flag </a:t>
            </a:r>
            <a:r>
              <a:rPr lang="en-US" dirty="0"/>
              <a:t>and displaying the next sequence number it expects to receive from the client.</a:t>
            </a:r>
          </a:p>
          <a:p>
            <a:pPr lvl="1"/>
            <a:r>
              <a:rPr lang="en-US" dirty="0"/>
              <a:t>Because the segment contains an acknowledgment, it also needs to define the receive window size, </a:t>
            </a:r>
            <a:r>
              <a:rPr lang="en-US" b="1" dirty="0" err="1"/>
              <a:t>rwnd</a:t>
            </a:r>
            <a:r>
              <a:rPr lang="en-US" b="1" dirty="0"/>
              <a:t> </a:t>
            </a:r>
            <a:r>
              <a:rPr lang="en-US" dirty="0"/>
              <a:t>(to be used by the client). </a:t>
            </a:r>
          </a:p>
          <a:p>
            <a:pPr lvl="2"/>
            <a:r>
              <a:rPr lang="en-US" sz="1200" dirty="0"/>
              <a:t>which means that the maximum size of the window is 65,535 bytes. This value is normally referred to as the receiving window (</a:t>
            </a:r>
            <a:r>
              <a:rPr lang="en-US" sz="1200" dirty="0" err="1"/>
              <a:t>rwnd</a:t>
            </a:r>
            <a:r>
              <a:rPr lang="en-US" sz="1200" dirty="0"/>
              <a:t>) and is determined by the receiver. The sender must obey the dictation of the receiver in this case.</a:t>
            </a:r>
          </a:p>
          <a:p>
            <a:pPr lvl="1"/>
            <a:r>
              <a:rPr lang="en-US" dirty="0"/>
              <a:t>Since this segment is playing the role of a SYN segment, it needs to be acknowledged. It, therefore, consumes one sequence number.</a:t>
            </a:r>
          </a:p>
        </p:txBody>
      </p:sp>
      <p:pic>
        <p:nvPicPr>
          <p:cNvPr id="5" name="Picture 4">
            <a:extLst>
              <a:ext uri="{FF2B5EF4-FFF2-40B4-BE49-F238E27FC236}">
                <a16:creationId xmlns:a16="http://schemas.microsoft.com/office/drawing/2014/main" id="{CD99910E-911D-2224-1B17-440909181A8E}"/>
              </a:ext>
            </a:extLst>
          </p:cNvPr>
          <p:cNvPicPr>
            <a:picLocks noChangeAspect="1"/>
          </p:cNvPicPr>
          <p:nvPr/>
        </p:nvPicPr>
        <p:blipFill>
          <a:blip r:embed="rId2"/>
          <a:stretch>
            <a:fillRect/>
          </a:stretch>
        </p:blipFill>
        <p:spPr>
          <a:xfrm>
            <a:off x="4920361" y="95530"/>
            <a:ext cx="6584251" cy="2651990"/>
          </a:xfrm>
          <a:prstGeom prst="rect">
            <a:avLst/>
          </a:prstGeom>
        </p:spPr>
      </p:pic>
    </p:spTree>
    <p:extLst>
      <p:ext uri="{BB962C8B-B14F-4D97-AF65-F5344CB8AC3E}">
        <p14:creationId xmlns:p14="http://schemas.microsoft.com/office/powerpoint/2010/main" val="665396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1AB8C-5AA1-618F-D9F0-D27C795BAA91}"/>
              </a:ext>
            </a:extLst>
          </p:cNvPr>
          <p:cNvSpPr>
            <a:spLocks noGrp="1"/>
          </p:cNvSpPr>
          <p:nvPr>
            <p:ph type="title"/>
          </p:nvPr>
        </p:nvSpPr>
        <p:spPr>
          <a:xfrm>
            <a:off x="1640156" y="488745"/>
            <a:ext cx="8911687" cy="1280890"/>
          </a:xfrm>
        </p:spPr>
        <p:txBody>
          <a:bodyPr/>
          <a:lstStyle/>
          <a:p>
            <a:r>
              <a:rPr lang="en-US" dirty="0"/>
              <a:t>Step 3 </a:t>
            </a:r>
            <a:br>
              <a:rPr lang="en-US" dirty="0"/>
            </a:br>
            <a:r>
              <a:rPr lang="en-US" dirty="0"/>
              <a:t>Connection</a:t>
            </a:r>
          </a:p>
        </p:txBody>
      </p:sp>
      <p:sp>
        <p:nvSpPr>
          <p:cNvPr id="3" name="Content Placeholder 2">
            <a:extLst>
              <a:ext uri="{FF2B5EF4-FFF2-40B4-BE49-F238E27FC236}">
                <a16:creationId xmlns:a16="http://schemas.microsoft.com/office/drawing/2014/main" id="{E4D7EE0C-2F70-9EE2-7DE7-83CE7D18F381}"/>
              </a:ext>
            </a:extLst>
          </p:cNvPr>
          <p:cNvSpPr>
            <a:spLocks noGrp="1"/>
          </p:cNvSpPr>
          <p:nvPr>
            <p:ph idx="1"/>
          </p:nvPr>
        </p:nvSpPr>
        <p:spPr>
          <a:xfrm>
            <a:off x="487691" y="1769635"/>
            <a:ext cx="6209230" cy="4126668"/>
          </a:xfrm>
        </p:spPr>
        <p:txBody>
          <a:bodyPr/>
          <a:lstStyle/>
          <a:p>
            <a:r>
              <a:rPr lang="en-US" dirty="0"/>
              <a:t>The client sends the third segment. </a:t>
            </a:r>
          </a:p>
          <a:p>
            <a:r>
              <a:rPr lang="en-US" dirty="0"/>
              <a:t>This is just an ACK segment. It acknowledges the receipt of the second segment with the ACK flag and acknowledgment number field. </a:t>
            </a:r>
          </a:p>
          <a:p>
            <a:pPr lvl="1"/>
            <a:r>
              <a:rPr lang="en-US" i="1" dirty="0"/>
              <a:t>Note that the ACK segment does not consume any sequence numbers if it does not carry data, but some implementations allow this third segment in the connection phase to carry the first chunk of data from the client. </a:t>
            </a:r>
          </a:p>
          <a:p>
            <a:r>
              <a:rPr lang="en-US" dirty="0"/>
              <a:t>In this case, the segment consumes as many sequence numbers as the number of data bytes.</a:t>
            </a:r>
          </a:p>
        </p:txBody>
      </p:sp>
      <p:pic>
        <p:nvPicPr>
          <p:cNvPr id="4" name="Picture 3">
            <a:extLst>
              <a:ext uri="{FF2B5EF4-FFF2-40B4-BE49-F238E27FC236}">
                <a16:creationId xmlns:a16="http://schemas.microsoft.com/office/drawing/2014/main" id="{BD9ECC44-14AA-D99F-6213-B9E9D965AA41}"/>
              </a:ext>
            </a:extLst>
          </p:cNvPr>
          <p:cNvPicPr>
            <a:picLocks noChangeAspect="1"/>
          </p:cNvPicPr>
          <p:nvPr/>
        </p:nvPicPr>
        <p:blipFill>
          <a:blip r:embed="rId2">
            <a:alphaModFix/>
          </a:blip>
          <a:stretch>
            <a:fillRect/>
          </a:stretch>
        </p:blipFill>
        <p:spPr>
          <a:xfrm>
            <a:off x="6696921" y="1976790"/>
            <a:ext cx="5495079" cy="3363313"/>
          </a:xfrm>
          <a:prstGeom prst="rect">
            <a:avLst/>
          </a:prstGeom>
        </p:spPr>
      </p:pic>
    </p:spTree>
    <p:extLst>
      <p:ext uri="{BB962C8B-B14F-4D97-AF65-F5344CB8AC3E}">
        <p14:creationId xmlns:p14="http://schemas.microsoft.com/office/powerpoint/2010/main" val="996568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45E1-2A6E-429D-9D0E-18AC2230FF34}"/>
              </a:ext>
            </a:extLst>
          </p:cNvPr>
          <p:cNvSpPr>
            <a:spLocks noGrp="1"/>
          </p:cNvSpPr>
          <p:nvPr>
            <p:ph type="title"/>
          </p:nvPr>
        </p:nvSpPr>
        <p:spPr>
          <a:xfrm>
            <a:off x="1899242" y="224717"/>
            <a:ext cx="8911687" cy="1280890"/>
          </a:xfrm>
        </p:spPr>
        <p:txBody>
          <a:bodyPr>
            <a:normAutofit fontScale="90000"/>
          </a:bodyPr>
          <a:lstStyle/>
          <a:p>
            <a:r>
              <a:rPr lang="en-US" b="1" dirty="0"/>
              <a:t>A TCP Connection </a:t>
            </a:r>
            <a:br>
              <a:rPr lang="en-US" dirty="0"/>
            </a:br>
            <a:r>
              <a:rPr lang="en-US" dirty="0"/>
              <a:t>		Connection Establishment</a:t>
            </a:r>
            <a:br>
              <a:rPr lang="en-US" dirty="0"/>
            </a:br>
            <a:r>
              <a:rPr lang="en-US" dirty="0"/>
              <a:t>		 	SYN Flooding Attack </a:t>
            </a:r>
          </a:p>
        </p:txBody>
      </p:sp>
      <p:sp>
        <p:nvSpPr>
          <p:cNvPr id="3" name="Content Placeholder 2">
            <a:extLst>
              <a:ext uri="{FF2B5EF4-FFF2-40B4-BE49-F238E27FC236}">
                <a16:creationId xmlns:a16="http://schemas.microsoft.com/office/drawing/2014/main" id="{635E9E8F-34C5-6E03-EA65-195810FE1B57}"/>
              </a:ext>
            </a:extLst>
          </p:cNvPr>
          <p:cNvSpPr>
            <a:spLocks noGrp="1"/>
          </p:cNvSpPr>
          <p:nvPr>
            <p:ph idx="1"/>
          </p:nvPr>
        </p:nvSpPr>
        <p:spPr>
          <a:xfrm>
            <a:off x="977461" y="1849821"/>
            <a:ext cx="11130455" cy="5255172"/>
          </a:xfrm>
        </p:spPr>
        <p:txBody>
          <a:bodyPr>
            <a:normAutofit fontScale="85000" lnSpcReduction="20000"/>
          </a:bodyPr>
          <a:lstStyle/>
          <a:p>
            <a:r>
              <a:rPr lang="en-US" dirty="0"/>
              <a:t>TCP is susceptible to a serious security problem called SYN flooding attack. </a:t>
            </a:r>
          </a:p>
          <a:p>
            <a:r>
              <a:rPr lang="en-US" dirty="0"/>
              <a:t>When one or more malicious attackers send a large number of SYN segments to a server pretending that each of them is coming from a different client by faking the source IP addresses in the datagrams. </a:t>
            </a:r>
          </a:p>
          <a:p>
            <a:r>
              <a:rPr lang="en-US" dirty="0"/>
              <a:t>The </a:t>
            </a:r>
            <a:r>
              <a:rPr lang="en-US" b="1" dirty="0"/>
              <a:t>server</a:t>
            </a:r>
            <a:r>
              <a:rPr lang="en-US" dirty="0"/>
              <a:t>, assuming that the clients are issuing an active open, allocates the necessary resources, such as creating </a:t>
            </a:r>
            <a:r>
              <a:rPr lang="en-US" b="1" dirty="0"/>
              <a:t>transfer control block (TCB</a:t>
            </a:r>
            <a:r>
              <a:rPr lang="en-US" dirty="0"/>
              <a:t>) tables and setting timers. </a:t>
            </a:r>
          </a:p>
          <a:p>
            <a:r>
              <a:rPr lang="en-US" dirty="0"/>
              <a:t>The TCP server then sends the SYN + ACK segments to the fake clients, </a:t>
            </a:r>
            <a:r>
              <a:rPr lang="en-US" b="1" dirty="0"/>
              <a:t>which are lost. </a:t>
            </a:r>
          </a:p>
          <a:p>
            <a:r>
              <a:rPr lang="en-US" dirty="0"/>
              <a:t>When the server waits for the third leg of the handshaking process, however, resources are allocated without being used. </a:t>
            </a:r>
          </a:p>
          <a:p>
            <a:r>
              <a:rPr lang="en-US" dirty="0"/>
              <a:t>If, during this short period of time, the number of SYN segments is large, the server eventually runs out of resources and may be unable to accept connection requests from valid clients. </a:t>
            </a:r>
          </a:p>
          <a:p>
            <a:r>
              <a:rPr lang="en-US" dirty="0"/>
              <a:t>This SYN flooding attack belongs to a group of security attacks known as a </a:t>
            </a:r>
            <a:r>
              <a:rPr lang="en-US" b="1" dirty="0"/>
              <a:t>denial of service attack (DOS)</a:t>
            </a:r>
            <a:r>
              <a:rPr lang="en-US" dirty="0"/>
              <a:t>, in which an attacker monopolizes a system with so many service requests that the system overloads and denies service to valid requests. </a:t>
            </a:r>
          </a:p>
          <a:p>
            <a:r>
              <a:rPr lang="en-US" dirty="0"/>
              <a:t>Some implementations of TCP have strategies to alleviate the effect of a SYN attack. </a:t>
            </a:r>
          </a:p>
          <a:p>
            <a:r>
              <a:rPr lang="en-US" dirty="0"/>
              <a:t>Some have imposed a limit of connection requests during a specified period of time. </a:t>
            </a:r>
          </a:p>
          <a:p>
            <a:r>
              <a:rPr lang="en-US" dirty="0"/>
              <a:t>Others try to filter out datagrams coming from unwanted source addresses. </a:t>
            </a:r>
          </a:p>
          <a:p>
            <a:r>
              <a:rPr lang="en-US" dirty="0"/>
              <a:t>One recent strategy is to postpone resource allocation until the server can verify that the connection request is coming from a valid IP address, by using what is called a cookie. </a:t>
            </a:r>
          </a:p>
          <a:p>
            <a:r>
              <a:rPr lang="en-US" dirty="0"/>
              <a:t>SCTP, the new transport-layer protocol that we discuss later, uses this strategy</a:t>
            </a:r>
          </a:p>
        </p:txBody>
      </p:sp>
    </p:spTree>
    <p:extLst>
      <p:ext uri="{BB962C8B-B14F-4D97-AF65-F5344CB8AC3E}">
        <p14:creationId xmlns:p14="http://schemas.microsoft.com/office/powerpoint/2010/main" val="1259380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1855-2662-9161-FDB1-3EC83FD81C7A}"/>
              </a:ext>
            </a:extLst>
          </p:cNvPr>
          <p:cNvSpPr>
            <a:spLocks noGrp="1"/>
          </p:cNvSpPr>
          <p:nvPr>
            <p:ph type="title"/>
          </p:nvPr>
        </p:nvSpPr>
        <p:spPr>
          <a:xfrm>
            <a:off x="1640156" y="497986"/>
            <a:ext cx="8911687" cy="1280890"/>
          </a:xfrm>
        </p:spPr>
        <p:txBody>
          <a:bodyPr/>
          <a:lstStyle/>
          <a:p>
            <a:r>
              <a:rPr lang="en-US" b="1" dirty="0"/>
              <a:t>A TCP Connection </a:t>
            </a:r>
            <a:br>
              <a:rPr lang="en-US" b="1" dirty="0"/>
            </a:br>
            <a:r>
              <a:rPr lang="en-US" dirty="0"/>
              <a:t>Data Transfer</a:t>
            </a:r>
          </a:p>
        </p:txBody>
      </p:sp>
      <p:sp>
        <p:nvSpPr>
          <p:cNvPr id="3" name="Content Placeholder 2">
            <a:extLst>
              <a:ext uri="{FF2B5EF4-FFF2-40B4-BE49-F238E27FC236}">
                <a16:creationId xmlns:a16="http://schemas.microsoft.com/office/drawing/2014/main" id="{A938244D-BADD-4187-4B09-772D3FD2CD65}"/>
              </a:ext>
            </a:extLst>
          </p:cNvPr>
          <p:cNvSpPr>
            <a:spLocks noGrp="1"/>
          </p:cNvSpPr>
          <p:nvPr>
            <p:ph idx="1"/>
          </p:nvPr>
        </p:nvSpPr>
        <p:spPr>
          <a:xfrm>
            <a:off x="756745" y="2133600"/>
            <a:ext cx="10747867" cy="3777622"/>
          </a:xfrm>
        </p:spPr>
        <p:txBody>
          <a:bodyPr>
            <a:normAutofit/>
          </a:bodyPr>
          <a:lstStyle/>
          <a:p>
            <a:r>
              <a:rPr lang="en-US" dirty="0"/>
              <a:t>After connection is established, bidirectional data transfer can take place. </a:t>
            </a:r>
          </a:p>
          <a:p>
            <a:r>
              <a:rPr lang="en-US" dirty="0"/>
              <a:t>The client and server can send data and acknowledgments in both directions. </a:t>
            </a:r>
          </a:p>
          <a:p>
            <a:r>
              <a:rPr lang="en-US" dirty="0"/>
              <a:t>It is enough to know that data traveling in the same direction as an acknowledgment are carried on the same segment. The acknowledgment is piggybacked with the data. </a:t>
            </a:r>
          </a:p>
        </p:txBody>
      </p:sp>
    </p:spTree>
    <p:extLst>
      <p:ext uri="{BB962C8B-B14F-4D97-AF65-F5344CB8AC3E}">
        <p14:creationId xmlns:p14="http://schemas.microsoft.com/office/powerpoint/2010/main" val="261265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CA614-5367-B971-BAAD-5F189F6B699F}"/>
              </a:ext>
            </a:extLst>
          </p:cNvPr>
          <p:cNvSpPr>
            <a:spLocks noGrp="1"/>
          </p:cNvSpPr>
          <p:nvPr>
            <p:ph type="title"/>
          </p:nvPr>
        </p:nvSpPr>
        <p:spPr>
          <a:xfrm>
            <a:off x="1640156" y="424413"/>
            <a:ext cx="8911687" cy="1280890"/>
          </a:xfrm>
        </p:spPr>
        <p:txBody>
          <a:bodyPr/>
          <a:lstStyle/>
          <a:p>
            <a:r>
              <a:rPr lang="en-US" b="1" dirty="0"/>
              <a:t>Data Transfer </a:t>
            </a:r>
            <a:br>
              <a:rPr lang="en-US" dirty="0"/>
            </a:br>
            <a:r>
              <a:rPr lang="en-US" dirty="0"/>
              <a:t>Example</a:t>
            </a:r>
          </a:p>
        </p:txBody>
      </p:sp>
      <p:sp>
        <p:nvSpPr>
          <p:cNvPr id="3" name="Content Placeholder 2">
            <a:extLst>
              <a:ext uri="{FF2B5EF4-FFF2-40B4-BE49-F238E27FC236}">
                <a16:creationId xmlns:a16="http://schemas.microsoft.com/office/drawing/2014/main" id="{0109FA60-3025-6C9F-557F-DDE709BB9EAE}"/>
              </a:ext>
            </a:extLst>
          </p:cNvPr>
          <p:cNvSpPr>
            <a:spLocks noGrp="1"/>
          </p:cNvSpPr>
          <p:nvPr>
            <p:ph idx="1"/>
          </p:nvPr>
        </p:nvSpPr>
        <p:spPr>
          <a:xfrm>
            <a:off x="472966" y="1786758"/>
            <a:ext cx="6421820" cy="5071242"/>
          </a:xfrm>
        </p:spPr>
        <p:txBody>
          <a:bodyPr>
            <a:normAutofit fontScale="92500" lnSpcReduction="20000"/>
          </a:bodyPr>
          <a:lstStyle/>
          <a:p>
            <a:r>
              <a:rPr lang="en-US" dirty="0"/>
              <a:t>Figure 24.11 shows an example. </a:t>
            </a:r>
          </a:p>
          <a:p>
            <a:r>
              <a:rPr lang="en-US" dirty="0"/>
              <a:t>In this example, after a connection is established, the client sends 2,000 bytes of data in two segments. </a:t>
            </a:r>
            <a:r>
              <a:rPr lang="en-US" b="1" dirty="0"/>
              <a:t>(8000 – 9000) + (9000 – 10000)</a:t>
            </a:r>
          </a:p>
          <a:p>
            <a:r>
              <a:rPr lang="en-US" dirty="0"/>
              <a:t>The server then sends 2,000 bytes in one segment. The client sends one more segment. </a:t>
            </a:r>
            <a:r>
              <a:rPr lang="en-US" b="1" dirty="0"/>
              <a:t>(15000-17000)</a:t>
            </a:r>
          </a:p>
          <a:p>
            <a:r>
              <a:rPr lang="en-US" dirty="0"/>
              <a:t>The first three segments carry both data and acknowledgment, but the last segment carries only an acknowledgment because there is no more data to be sent. </a:t>
            </a:r>
          </a:p>
          <a:p>
            <a:r>
              <a:rPr lang="en-US" dirty="0"/>
              <a:t>Note the values of the sequence and acknowledgment numbers. </a:t>
            </a:r>
          </a:p>
          <a:p>
            <a:r>
              <a:rPr lang="en-US" dirty="0"/>
              <a:t>The data segments sent by the client have the PSH </a:t>
            </a:r>
            <a:r>
              <a:rPr lang="en-US" b="1" dirty="0"/>
              <a:t>(P)</a:t>
            </a:r>
            <a:r>
              <a:rPr lang="en-US" dirty="0"/>
              <a:t> (push) flag set so that the server TCP knows to deliver data to the server process as soon as they are received.</a:t>
            </a:r>
          </a:p>
          <a:p>
            <a:r>
              <a:rPr lang="en-US" dirty="0"/>
              <a:t>The segment from the server, on the other hand, does not set the push flag. </a:t>
            </a:r>
          </a:p>
          <a:p>
            <a:r>
              <a:rPr lang="en-US" dirty="0"/>
              <a:t>Most TCP implementations have the option to set or not to set this flag</a:t>
            </a:r>
          </a:p>
          <a:p>
            <a:endParaRPr lang="en-US" dirty="0"/>
          </a:p>
        </p:txBody>
      </p:sp>
      <p:pic>
        <p:nvPicPr>
          <p:cNvPr id="5" name="Picture 4">
            <a:extLst>
              <a:ext uri="{FF2B5EF4-FFF2-40B4-BE49-F238E27FC236}">
                <a16:creationId xmlns:a16="http://schemas.microsoft.com/office/drawing/2014/main" id="{DCF22161-CBDD-E3BA-6B0A-B9EB4BA55EE9}"/>
              </a:ext>
            </a:extLst>
          </p:cNvPr>
          <p:cNvPicPr>
            <a:picLocks noChangeAspect="1"/>
          </p:cNvPicPr>
          <p:nvPr/>
        </p:nvPicPr>
        <p:blipFill>
          <a:blip r:embed="rId2"/>
          <a:stretch>
            <a:fillRect/>
          </a:stretch>
        </p:blipFill>
        <p:spPr>
          <a:xfrm>
            <a:off x="6894786" y="1625674"/>
            <a:ext cx="5279893" cy="4953802"/>
          </a:xfrm>
          <a:prstGeom prst="rect">
            <a:avLst/>
          </a:prstGeom>
        </p:spPr>
      </p:pic>
    </p:spTree>
    <p:extLst>
      <p:ext uri="{BB962C8B-B14F-4D97-AF65-F5344CB8AC3E}">
        <p14:creationId xmlns:p14="http://schemas.microsoft.com/office/powerpoint/2010/main" val="1736081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38EA-5C90-F1C7-B1C4-47FACEA531A1}"/>
              </a:ext>
            </a:extLst>
          </p:cNvPr>
          <p:cNvSpPr>
            <a:spLocks noGrp="1"/>
          </p:cNvSpPr>
          <p:nvPr>
            <p:ph type="title"/>
          </p:nvPr>
        </p:nvSpPr>
        <p:spPr>
          <a:xfrm>
            <a:off x="1640156" y="413903"/>
            <a:ext cx="8911687" cy="1280890"/>
          </a:xfrm>
        </p:spPr>
        <p:txBody>
          <a:bodyPr/>
          <a:lstStyle/>
          <a:p>
            <a:r>
              <a:rPr lang="en-US" b="1" dirty="0"/>
              <a:t>Data Transfer </a:t>
            </a:r>
            <a:br>
              <a:rPr lang="en-US" b="1" dirty="0"/>
            </a:br>
            <a:r>
              <a:rPr lang="en-US" dirty="0"/>
              <a:t>Pushing Data </a:t>
            </a:r>
          </a:p>
        </p:txBody>
      </p:sp>
      <p:sp>
        <p:nvSpPr>
          <p:cNvPr id="3" name="Content Placeholder 2">
            <a:extLst>
              <a:ext uri="{FF2B5EF4-FFF2-40B4-BE49-F238E27FC236}">
                <a16:creationId xmlns:a16="http://schemas.microsoft.com/office/drawing/2014/main" id="{701CA623-7067-70D6-F4B2-E6B63B1C7C6E}"/>
              </a:ext>
            </a:extLst>
          </p:cNvPr>
          <p:cNvSpPr>
            <a:spLocks noGrp="1"/>
          </p:cNvSpPr>
          <p:nvPr>
            <p:ph idx="1"/>
          </p:nvPr>
        </p:nvSpPr>
        <p:spPr>
          <a:xfrm>
            <a:off x="1061545" y="1776247"/>
            <a:ext cx="10443067" cy="4908332"/>
          </a:xfrm>
        </p:spPr>
        <p:txBody>
          <a:bodyPr>
            <a:normAutofit lnSpcReduction="10000"/>
          </a:bodyPr>
          <a:lstStyle/>
          <a:p>
            <a:r>
              <a:rPr lang="en-US" dirty="0"/>
              <a:t>We saw that the sending TCP uses a buffer to store the stream of data coming from the sending application program. </a:t>
            </a:r>
          </a:p>
          <a:p>
            <a:r>
              <a:rPr lang="en-US" dirty="0"/>
              <a:t>The sending TCP can select the segment size. </a:t>
            </a:r>
          </a:p>
          <a:p>
            <a:r>
              <a:rPr lang="en-US" dirty="0"/>
              <a:t>The receiving TCP also buffers the data when they arrive and delivers them to the application program when the application program is ready or when it is convenient for the receiving TCP. </a:t>
            </a:r>
          </a:p>
          <a:p>
            <a:r>
              <a:rPr lang="en-US" dirty="0"/>
              <a:t>This type of flexibility increases the efficiency of TCP. </a:t>
            </a:r>
          </a:p>
          <a:p>
            <a:r>
              <a:rPr lang="en-US" dirty="0"/>
              <a:t>However, there are occasions in which the </a:t>
            </a:r>
            <a:r>
              <a:rPr lang="en-US" b="1" dirty="0"/>
              <a:t>application program has no need for this flexibility</a:t>
            </a:r>
            <a:r>
              <a:rPr lang="en-US" dirty="0"/>
              <a:t>. </a:t>
            </a:r>
          </a:p>
          <a:p>
            <a:r>
              <a:rPr lang="en-US" dirty="0"/>
              <a:t>For example, consider an application program that communicates interactively with another application program on the other end. </a:t>
            </a:r>
          </a:p>
          <a:p>
            <a:r>
              <a:rPr lang="en-US" dirty="0"/>
              <a:t>The application program on one site wants to send a chunk of data to the application program at the other site and receive an immediate response. </a:t>
            </a:r>
          </a:p>
          <a:p>
            <a:r>
              <a:rPr lang="en-US" dirty="0"/>
              <a:t>Delayed transmission and delayed delivery of data may not be acceptable by the application program</a:t>
            </a:r>
          </a:p>
        </p:txBody>
      </p:sp>
    </p:spTree>
    <p:extLst>
      <p:ext uri="{BB962C8B-B14F-4D97-AF65-F5344CB8AC3E}">
        <p14:creationId xmlns:p14="http://schemas.microsoft.com/office/powerpoint/2010/main" val="2677459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38EA-5C90-F1C7-B1C4-47FACEA531A1}"/>
              </a:ext>
            </a:extLst>
          </p:cNvPr>
          <p:cNvSpPr>
            <a:spLocks noGrp="1"/>
          </p:cNvSpPr>
          <p:nvPr>
            <p:ph type="title"/>
          </p:nvPr>
        </p:nvSpPr>
        <p:spPr>
          <a:xfrm>
            <a:off x="1640156" y="413903"/>
            <a:ext cx="8911687" cy="1280890"/>
          </a:xfrm>
        </p:spPr>
        <p:txBody>
          <a:bodyPr/>
          <a:lstStyle/>
          <a:p>
            <a:r>
              <a:rPr lang="en-US" b="1" dirty="0"/>
              <a:t>Data Transfer </a:t>
            </a:r>
            <a:br>
              <a:rPr lang="en-US" b="1" dirty="0"/>
            </a:br>
            <a:r>
              <a:rPr lang="en-US" dirty="0"/>
              <a:t>Pushing Data(Conti….)</a:t>
            </a:r>
          </a:p>
        </p:txBody>
      </p:sp>
      <p:sp>
        <p:nvSpPr>
          <p:cNvPr id="3" name="Content Placeholder 2">
            <a:extLst>
              <a:ext uri="{FF2B5EF4-FFF2-40B4-BE49-F238E27FC236}">
                <a16:creationId xmlns:a16="http://schemas.microsoft.com/office/drawing/2014/main" id="{701CA623-7067-70D6-F4B2-E6B63B1C7C6E}"/>
              </a:ext>
            </a:extLst>
          </p:cNvPr>
          <p:cNvSpPr>
            <a:spLocks noGrp="1"/>
          </p:cNvSpPr>
          <p:nvPr>
            <p:ph idx="1"/>
          </p:nvPr>
        </p:nvSpPr>
        <p:spPr>
          <a:xfrm>
            <a:off x="1061545" y="1776247"/>
            <a:ext cx="10443067" cy="4667849"/>
          </a:xfrm>
        </p:spPr>
        <p:txBody>
          <a:bodyPr/>
          <a:lstStyle/>
          <a:p>
            <a:r>
              <a:rPr lang="en-US" dirty="0"/>
              <a:t>TCP can handle such a situation. </a:t>
            </a:r>
          </a:p>
          <a:p>
            <a:r>
              <a:rPr lang="en-US" dirty="0"/>
              <a:t>The application program at the sender can request a push operation. </a:t>
            </a:r>
          </a:p>
          <a:p>
            <a:r>
              <a:rPr lang="en-US" dirty="0"/>
              <a:t>This means that the sending TCP must not wait for the window to be filled. </a:t>
            </a:r>
          </a:p>
          <a:p>
            <a:r>
              <a:rPr lang="en-US" dirty="0"/>
              <a:t>It must create a segment and send it immediately. </a:t>
            </a:r>
          </a:p>
          <a:p>
            <a:r>
              <a:rPr lang="en-US" dirty="0"/>
              <a:t>The sending TCP must also set the push bit (PSH) to let the receiving TCP know that the segment includes data that must be delivered to the receiving application </a:t>
            </a:r>
            <a:r>
              <a:rPr lang="en-US" b="1" dirty="0"/>
              <a:t>program as soon as possible</a:t>
            </a:r>
            <a:r>
              <a:rPr lang="en-US" dirty="0"/>
              <a:t> and not to wait for more data to come. </a:t>
            </a:r>
          </a:p>
          <a:p>
            <a:r>
              <a:rPr lang="en-US" dirty="0"/>
              <a:t>This means to change the byte oriented TCP to a chunk-oriented TCP, but TCP can choose whether or not to use this feature</a:t>
            </a:r>
          </a:p>
        </p:txBody>
      </p:sp>
    </p:spTree>
    <p:extLst>
      <p:ext uri="{BB962C8B-B14F-4D97-AF65-F5344CB8AC3E}">
        <p14:creationId xmlns:p14="http://schemas.microsoft.com/office/powerpoint/2010/main" val="233997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FE0F-5ACF-F3BD-D8DC-CCF32FCD150D}"/>
              </a:ext>
            </a:extLst>
          </p:cNvPr>
          <p:cNvSpPr>
            <a:spLocks noGrp="1"/>
          </p:cNvSpPr>
          <p:nvPr>
            <p:ph type="title"/>
          </p:nvPr>
        </p:nvSpPr>
        <p:spPr/>
        <p:txBody>
          <a:bodyPr/>
          <a:lstStyle/>
          <a:p>
            <a:r>
              <a:rPr lang="en-US" b="1" dirty="0"/>
              <a:t>A TCP Connection </a:t>
            </a:r>
            <a:br>
              <a:rPr lang="en-US" b="1" dirty="0"/>
            </a:br>
            <a:r>
              <a:rPr lang="en-US" b="1" dirty="0"/>
              <a:t>	</a:t>
            </a:r>
            <a:r>
              <a:rPr lang="en-US" dirty="0"/>
              <a:t>Connection Termination </a:t>
            </a:r>
          </a:p>
        </p:txBody>
      </p:sp>
      <p:sp>
        <p:nvSpPr>
          <p:cNvPr id="3" name="Content Placeholder 2">
            <a:extLst>
              <a:ext uri="{FF2B5EF4-FFF2-40B4-BE49-F238E27FC236}">
                <a16:creationId xmlns:a16="http://schemas.microsoft.com/office/drawing/2014/main" id="{83577664-76E9-D9EC-4F7F-22AC1CC899B3}"/>
              </a:ext>
            </a:extLst>
          </p:cNvPr>
          <p:cNvSpPr>
            <a:spLocks noGrp="1"/>
          </p:cNvSpPr>
          <p:nvPr>
            <p:ph idx="1"/>
          </p:nvPr>
        </p:nvSpPr>
        <p:spPr/>
        <p:txBody>
          <a:bodyPr/>
          <a:lstStyle/>
          <a:p>
            <a:r>
              <a:rPr lang="en-US" dirty="0"/>
              <a:t>Either of the two parties involved in exchanging data (client or server) can close the connection, although it is usually initiated by the client. </a:t>
            </a:r>
          </a:p>
          <a:p>
            <a:r>
              <a:rPr lang="en-US" dirty="0"/>
              <a:t>Most implementations today allow two options for connection termination:</a:t>
            </a:r>
          </a:p>
          <a:p>
            <a:pPr lvl="1"/>
            <a:r>
              <a:rPr lang="en-US" dirty="0"/>
              <a:t>Three-way handshaking and</a:t>
            </a:r>
          </a:p>
          <a:p>
            <a:pPr lvl="1"/>
            <a:r>
              <a:rPr lang="en-US" dirty="0"/>
              <a:t>Four-way handshaking with a half-close option.</a:t>
            </a:r>
          </a:p>
        </p:txBody>
      </p:sp>
    </p:spTree>
    <p:extLst>
      <p:ext uri="{BB962C8B-B14F-4D97-AF65-F5344CB8AC3E}">
        <p14:creationId xmlns:p14="http://schemas.microsoft.com/office/powerpoint/2010/main" val="4165003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6668-3AF5-1576-289E-C6FA46D7A429}"/>
              </a:ext>
            </a:extLst>
          </p:cNvPr>
          <p:cNvSpPr>
            <a:spLocks noGrp="1"/>
          </p:cNvSpPr>
          <p:nvPr>
            <p:ph type="title"/>
          </p:nvPr>
        </p:nvSpPr>
        <p:spPr/>
        <p:txBody>
          <a:bodyPr/>
          <a:lstStyle/>
          <a:p>
            <a:r>
              <a:rPr lang="en-US" dirty="0"/>
              <a:t>Connection Termination</a:t>
            </a:r>
            <a:br>
              <a:rPr lang="en-US" dirty="0"/>
            </a:br>
            <a:r>
              <a:rPr lang="en-US" dirty="0"/>
              <a:t>	Three-Way Handshaking </a:t>
            </a:r>
          </a:p>
        </p:txBody>
      </p:sp>
      <p:sp>
        <p:nvSpPr>
          <p:cNvPr id="3" name="Content Placeholder 2">
            <a:extLst>
              <a:ext uri="{FF2B5EF4-FFF2-40B4-BE49-F238E27FC236}">
                <a16:creationId xmlns:a16="http://schemas.microsoft.com/office/drawing/2014/main" id="{D6147A2C-88A5-8A06-18A3-E0A751FAC03B}"/>
              </a:ext>
            </a:extLst>
          </p:cNvPr>
          <p:cNvSpPr>
            <a:spLocks noGrp="1"/>
          </p:cNvSpPr>
          <p:nvPr>
            <p:ph idx="1"/>
          </p:nvPr>
        </p:nvSpPr>
        <p:spPr>
          <a:xfrm>
            <a:off x="1527667" y="1905000"/>
            <a:ext cx="3380664" cy="3777622"/>
          </a:xfrm>
        </p:spPr>
        <p:txBody>
          <a:bodyPr/>
          <a:lstStyle/>
          <a:p>
            <a:r>
              <a:rPr lang="en-US" dirty="0"/>
              <a:t>Most implementations today allow three-way handshaking for connection termination, as shown in Figure 24.12. </a:t>
            </a:r>
          </a:p>
        </p:txBody>
      </p:sp>
      <p:pic>
        <p:nvPicPr>
          <p:cNvPr id="5" name="Picture 4">
            <a:extLst>
              <a:ext uri="{FF2B5EF4-FFF2-40B4-BE49-F238E27FC236}">
                <a16:creationId xmlns:a16="http://schemas.microsoft.com/office/drawing/2014/main" id="{F4018F41-D9C3-F2DB-11AD-20EF51CDE2BF}"/>
              </a:ext>
            </a:extLst>
          </p:cNvPr>
          <p:cNvPicPr>
            <a:picLocks noChangeAspect="1"/>
          </p:cNvPicPr>
          <p:nvPr/>
        </p:nvPicPr>
        <p:blipFill>
          <a:blip r:embed="rId2"/>
          <a:stretch>
            <a:fillRect/>
          </a:stretch>
        </p:blipFill>
        <p:spPr>
          <a:xfrm>
            <a:off x="5291801" y="1905000"/>
            <a:ext cx="6858931" cy="4506310"/>
          </a:xfrm>
          <a:prstGeom prst="rect">
            <a:avLst/>
          </a:prstGeom>
        </p:spPr>
      </p:pic>
    </p:spTree>
    <p:extLst>
      <p:ext uri="{BB962C8B-B14F-4D97-AF65-F5344CB8AC3E}">
        <p14:creationId xmlns:p14="http://schemas.microsoft.com/office/powerpoint/2010/main" val="1829651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409E-3398-7135-9A4A-96DA8606F1B3}"/>
              </a:ext>
            </a:extLst>
          </p:cNvPr>
          <p:cNvSpPr>
            <a:spLocks noGrp="1"/>
          </p:cNvSpPr>
          <p:nvPr>
            <p:ph type="title"/>
          </p:nvPr>
        </p:nvSpPr>
        <p:spPr>
          <a:xfrm>
            <a:off x="1720567" y="519006"/>
            <a:ext cx="8911687" cy="1280890"/>
          </a:xfrm>
        </p:spPr>
        <p:txBody>
          <a:bodyPr>
            <a:normAutofit fontScale="90000"/>
          </a:bodyPr>
          <a:lstStyle/>
          <a:p>
            <a:r>
              <a:rPr lang="en-US" dirty="0"/>
              <a:t>Step 1</a:t>
            </a:r>
            <a:br>
              <a:rPr lang="en-US" dirty="0"/>
            </a:br>
            <a:r>
              <a:rPr lang="en-US" dirty="0"/>
              <a:t>Connection Termination</a:t>
            </a:r>
            <a:br>
              <a:rPr lang="en-US" dirty="0"/>
            </a:br>
            <a:endParaRPr lang="en-US" dirty="0"/>
          </a:p>
        </p:txBody>
      </p:sp>
      <p:sp>
        <p:nvSpPr>
          <p:cNvPr id="3" name="Content Placeholder 2">
            <a:extLst>
              <a:ext uri="{FF2B5EF4-FFF2-40B4-BE49-F238E27FC236}">
                <a16:creationId xmlns:a16="http://schemas.microsoft.com/office/drawing/2014/main" id="{2D4BEE93-8780-BF0A-CE9B-39E5F7EA2C4F}"/>
              </a:ext>
            </a:extLst>
          </p:cNvPr>
          <p:cNvSpPr>
            <a:spLocks noGrp="1"/>
          </p:cNvSpPr>
          <p:nvPr>
            <p:ph idx="1"/>
          </p:nvPr>
        </p:nvSpPr>
        <p:spPr>
          <a:xfrm>
            <a:off x="1720567" y="3882693"/>
            <a:ext cx="9301656" cy="2709481"/>
          </a:xfrm>
        </p:spPr>
        <p:txBody>
          <a:bodyPr/>
          <a:lstStyle/>
          <a:p>
            <a:r>
              <a:rPr lang="en-US" dirty="0"/>
              <a:t>In this situation, the client TCP, after receiving a close command from the client process, sends the first segment, a FIN segment in which the FIN flag is set. </a:t>
            </a:r>
          </a:p>
          <a:p>
            <a:r>
              <a:rPr lang="en-US" dirty="0"/>
              <a:t>Note that a FIN segment can include the last chunk of data sent by the client or it can be just a control segment as shown in the figure.</a:t>
            </a:r>
          </a:p>
          <a:p>
            <a:r>
              <a:rPr lang="en-US" dirty="0"/>
              <a:t>If it is only a control segment, it consumes only one sequence number because it needs to be acknowledged.</a:t>
            </a:r>
          </a:p>
          <a:p>
            <a:endParaRPr lang="en-US" dirty="0"/>
          </a:p>
        </p:txBody>
      </p:sp>
      <p:pic>
        <p:nvPicPr>
          <p:cNvPr id="7" name="Picture 6">
            <a:extLst>
              <a:ext uri="{FF2B5EF4-FFF2-40B4-BE49-F238E27FC236}">
                <a16:creationId xmlns:a16="http://schemas.microsoft.com/office/drawing/2014/main" id="{E7F24C20-3F65-368B-2B9A-9D9F6C17524F}"/>
              </a:ext>
            </a:extLst>
          </p:cNvPr>
          <p:cNvPicPr>
            <a:picLocks noChangeAspect="1"/>
          </p:cNvPicPr>
          <p:nvPr/>
        </p:nvPicPr>
        <p:blipFill>
          <a:blip r:embed="rId2"/>
          <a:stretch>
            <a:fillRect/>
          </a:stretch>
        </p:blipFill>
        <p:spPr>
          <a:xfrm>
            <a:off x="2921595" y="1595820"/>
            <a:ext cx="6509630" cy="2208923"/>
          </a:xfrm>
          <a:prstGeom prst="rect">
            <a:avLst/>
          </a:prstGeom>
        </p:spPr>
      </p:pic>
    </p:spTree>
    <p:extLst>
      <p:ext uri="{BB962C8B-B14F-4D97-AF65-F5344CB8AC3E}">
        <p14:creationId xmlns:p14="http://schemas.microsoft.com/office/powerpoint/2010/main" val="3166051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409E-3398-7135-9A4A-96DA8606F1B3}"/>
              </a:ext>
            </a:extLst>
          </p:cNvPr>
          <p:cNvSpPr>
            <a:spLocks noGrp="1"/>
          </p:cNvSpPr>
          <p:nvPr>
            <p:ph type="title"/>
          </p:nvPr>
        </p:nvSpPr>
        <p:spPr>
          <a:xfrm>
            <a:off x="1720567" y="519006"/>
            <a:ext cx="8911687" cy="1280890"/>
          </a:xfrm>
        </p:spPr>
        <p:txBody>
          <a:bodyPr>
            <a:normAutofit fontScale="90000"/>
          </a:bodyPr>
          <a:lstStyle/>
          <a:p>
            <a:r>
              <a:rPr lang="en-US" dirty="0"/>
              <a:t>Step 2</a:t>
            </a:r>
            <a:br>
              <a:rPr lang="en-US" dirty="0"/>
            </a:br>
            <a:r>
              <a:rPr lang="en-US" dirty="0"/>
              <a:t>Connection Termination</a:t>
            </a:r>
            <a:br>
              <a:rPr lang="en-US" dirty="0"/>
            </a:br>
            <a:endParaRPr lang="en-US" dirty="0"/>
          </a:p>
        </p:txBody>
      </p:sp>
      <p:sp>
        <p:nvSpPr>
          <p:cNvPr id="3" name="Content Placeholder 2">
            <a:extLst>
              <a:ext uri="{FF2B5EF4-FFF2-40B4-BE49-F238E27FC236}">
                <a16:creationId xmlns:a16="http://schemas.microsoft.com/office/drawing/2014/main" id="{2D4BEE93-8780-BF0A-CE9B-39E5F7EA2C4F}"/>
              </a:ext>
            </a:extLst>
          </p:cNvPr>
          <p:cNvSpPr>
            <a:spLocks noGrp="1"/>
          </p:cNvSpPr>
          <p:nvPr>
            <p:ph idx="1"/>
          </p:nvPr>
        </p:nvSpPr>
        <p:spPr>
          <a:xfrm>
            <a:off x="1720567" y="3882693"/>
            <a:ext cx="9301656" cy="2709481"/>
          </a:xfrm>
        </p:spPr>
        <p:txBody>
          <a:bodyPr/>
          <a:lstStyle/>
          <a:p>
            <a:r>
              <a:rPr lang="en-US" dirty="0"/>
              <a:t>The server TCP, after receiving the FIN segment, informs its process of the situation and sends the second segment, a FIN + ACK segment, to confirm the receipt of the FIN segment from the client and at the same time to announce the closing of the con- </a:t>
            </a:r>
            <a:r>
              <a:rPr lang="en-US" dirty="0" err="1"/>
              <a:t>nection</a:t>
            </a:r>
            <a:r>
              <a:rPr lang="en-US" dirty="0"/>
              <a:t> in the other direction. </a:t>
            </a:r>
          </a:p>
          <a:p>
            <a:r>
              <a:rPr lang="en-US" dirty="0"/>
              <a:t>This segment can also contain the last chunk of data from the server. </a:t>
            </a:r>
          </a:p>
          <a:p>
            <a:r>
              <a:rPr lang="en-US" dirty="0"/>
              <a:t>If it does not carry data, it consumes only one sequence number because it needs to be acknowledged.</a:t>
            </a:r>
          </a:p>
        </p:txBody>
      </p:sp>
      <p:pic>
        <p:nvPicPr>
          <p:cNvPr id="5" name="Picture 4">
            <a:extLst>
              <a:ext uri="{FF2B5EF4-FFF2-40B4-BE49-F238E27FC236}">
                <a16:creationId xmlns:a16="http://schemas.microsoft.com/office/drawing/2014/main" id="{08449DCE-2E12-4D58-F388-648451F8AF55}"/>
              </a:ext>
            </a:extLst>
          </p:cNvPr>
          <p:cNvPicPr>
            <a:picLocks noChangeAspect="1"/>
          </p:cNvPicPr>
          <p:nvPr/>
        </p:nvPicPr>
        <p:blipFill>
          <a:blip r:embed="rId2"/>
          <a:stretch>
            <a:fillRect/>
          </a:stretch>
        </p:blipFill>
        <p:spPr>
          <a:xfrm>
            <a:off x="3101080" y="1513489"/>
            <a:ext cx="5989839" cy="2295631"/>
          </a:xfrm>
          <a:prstGeom prst="rect">
            <a:avLst/>
          </a:prstGeom>
        </p:spPr>
      </p:pic>
    </p:spTree>
    <p:extLst>
      <p:ext uri="{BB962C8B-B14F-4D97-AF65-F5344CB8AC3E}">
        <p14:creationId xmlns:p14="http://schemas.microsoft.com/office/powerpoint/2010/main" val="4006915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409E-3398-7135-9A4A-96DA8606F1B3}"/>
              </a:ext>
            </a:extLst>
          </p:cNvPr>
          <p:cNvSpPr>
            <a:spLocks noGrp="1"/>
          </p:cNvSpPr>
          <p:nvPr>
            <p:ph type="title"/>
          </p:nvPr>
        </p:nvSpPr>
        <p:spPr>
          <a:xfrm>
            <a:off x="1720567" y="519006"/>
            <a:ext cx="8911687" cy="1280890"/>
          </a:xfrm>
        </p:spPr>
        <p:txBody>
          <a:bodyPr>
            <a:normAutofit fontScale="90000"/>
          </a:bodyPr>
          <a:lstStyle/>
          <a:p>
            <a:r>
              <a:rPr lang="en-US" dirty="0"/>
              <a:t>Step 3</a:t>
            </a:r>
            <a:br>
              <a:rPr lang="en-US" dirty="0"/>
            </a:br>
            <a:r>
              <a:rPr lang="en-US" dirty="0"/>
              <a:t>Connection Termination</a:t>
            </a:r>
            <a:br>
              <a:rPr lang="en-US" dirty="0"/>
            </a:br>
            <a:endParaRPr lang="en-US" dirty="0"/>
          </a:p>
        </p:txBody>
      </p:sp>
      <p:sp>
        <p:nvSpPr>
          <p:cNvPr id="3" name="Content Placeholder 2">
            <a:extLst>
              <a:ext uri="{FF2B5EF4-FFF2-40B4-BE49-F238E27FC236}">
                <a16:creationId xmlns:a16="http://schemas.microsoft.com/office/drawing/2014/main" id="{2D4BEE93-8780-BF0A-CE9B-39E5F7EA2C4F}"/>
              </a:ext>
            </a:extLst>
          </p:cNvPr>
          <p:cNvSpPr>
            <a:spLocks noGrp="1"/>
          </p:cNvSpPr>
          <p:nvPr>
            <p:ph idx="1"/>
          </p:nvPr>
        </p:nvSpPr>
        <p:spPr>
          <a:xfrm>
            <a:off x="659022" y="1967679"/>
            <a:ext cx="5132178" cy="3550251"/>
          </a:xfrm>
        </p:spPr>
        <p:txBody>
          <a:bodyPr>
            <a:normAutofit/>
          </a:bodyPr>
          <a:lstStyle/>
          <a:p>
            <a:r>
              <a:rPr lang="en-US" dirty="0"/>
              <a:t>The client TCP sends the last segment, an ACK segment, to confirm the receipt of the FIN segment from the TCP server. </a:t>
            </a:r>
          </a:p>
          <a:p>
            <a:r>
              <a:rPr lang="en-US" dirty="0"/>
              <a:t>This segment contains the acknowledgment number, which is one plus the sequence number received in the FIN segment from the server. </a:t>
            </a:r>
          </a:p>
          <a:p>
            <a:r>
              <a:rPr lang="en-US" dirty="0"/>
              <a:t>This segment cannot carry data and consumes no sequence numbers.</a:t>
            </a:r>
          </a:p>
        </p:txBody>
      </p:sp>
      <p:pic>
        <p:nvPicPr>
          <p:cNvPr id="4" name="Picture 3">
            <a:extLst>
              <a:ext uri="{FF2B5EF4-FFF2-40B4-BE49-F238E27FC236}">
                <a16:creationId xmlns:a16="http://schemas.microsoft.com/office/drawing/2014/main" id="{4B1F260B-47FD-1C9B-3E02-658981B1EB8B}"/>
              </a:ext>
            </a:extLst>
          </p:cNvPr>
          <p:cNvPicPr>
            <a:picLocks noChangeAspect="1"/>
          </p:cNvPicPr>
          <p:nvPr/>
        </p:nvPicPr>
        <p:blipFill>
          <a:blip r:embed="rId2"/>
          <a:stretch>
            <a:fillRect/>
          </a:stretch>
        </p:blipFill>
        <p:spPr>
          <a:xfrm>
            <a:off x="5875283" y="1686910"/>
            <a:ext cx="6191366" cy="4067721"/>
          </a:xfrm>
          <a:prstGeom prst="rect">
            <a:avLst/>
          </a:prstGeom>
        </p:spPr>
      </p:pic>
    </p:spTree>
    <p:extLst>
      <p:ext uri="{BB962C8B-B14F-4D97-AF65-F5344CB8AC3E}">
        <p14:creationId xmlns:p14="http://schemas.microsoft.com/office/powerpoint/2010/main" val="1159739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43051-9BFE-0CD4-85E4-33A8176A9A77}"/>
              </a:ext>
            </a:extLst>
          </p:cNvPr>
          <p:cNvSpPr>
            <a:spLocks noGrp="1"/>
          </p:cNvSpPr>
          <p:nvPr>
            <p:ph type="title"/>
          </p:nvPr>
        </p:nvSpPr>
        <p:spPr>
          <a:xfrm>
            <a:off x="1640156" y="561048"/>
            <a:ext cx="8911687" cy="1280890"/>
          </a:xfrm>
        </p:spPr>
        <p:txBody>
          <a:bodyPr>
            <a:normAutofit fontScale="90000"/>
          </a:bodyPr>
          <a:lstStyle/>
          <a:p>
            <a:r>
              <a:rPr lang="en-US" dirty="0"/>
              <a:t>Connection Termination</a:t>
            </a:r>
            <a:br>
              <a:rPr lang="en-US" dirty="0"/>
            </a:br>
            <a:r>
              <a:rPr lang="en-US" dirty="0"/>
              <a:t>		Four-way Handshaking </a:t>
            </a:r>
            <a:br>
              <a:rPr lang="en-US" dirty="0"/>
            </a:br>
            <a:r>
              <a:rPr lang="en-US" dirty="0"/>
              <a:t>				Half-Close</a:t>
            </a:r>
          </a:p>
        </p:txBody>
      </p:sp>
      <p:sp>
        <p:nvSpPr>
          <p:cNvPr id="3" name="Content Placeholder 2">
            <a:extLst>
              <a:ext uri="{FF2B5EF4-FFF2-40B4-BE49-F238E27FC236}">
                <a16:creationId xmlns:a16="http://schemas.microsoft.com/office/drawing/2014/main" id="{1673038C-5CC6-EED8-A3DF-F10E9802E8F6}"/>
              </a:ext>
            </a:extLst>
          </p:cNvPr>
          <p:cNvSpPr>
            <a:spLocks noGrp="1"/>
          </p:cNvSpPr>
          <p:nvPr>
            <p:ph idx="1"/>
          </p:nvPr>
        </p:nvSpPr>
        <p:spPr>
          <a:xfrm>
            <a:off x="1345324" y="2133599"/>
            <a:ext cx="10159288" cy="4540469"/>
          </a:xfrm>
        </p:spPr>
        <p:txBody>
          <a:bodyPr>
            <a:normAutofit/>
          </a:bodyPr>
          <a:lstStyle/>
          <a:p>
            <a:r>
              <a:rPr lang="en-US" dirty="0"/>
              <a:t>In TCP, one end can stop sending data while still receiving data. </a:t>
            </a:r>
          </a:p>
          <a:p>
            <a:r>
              <a:rPr lang="en-US" dirty="0"/>
              <a:t>This is called a </a:t>
            </a:r>
            <a:r>
              <a:rPr lang="en-US" dirty="0" err="1"/>
              <a:t>halfclose</a:t>
            </a:r>
            <a:r>
              <a:rPr lang="en-US" dirty="0"/>
              <a:t>. </a:t>
            </a:r>
          </a:p>
          <a:p>
            <a:r>
              <a:rPr lang="en-US" dirty="0"/>
              <a:t>Either the server or the client can issue a half-close request. </a:t>
            </a:r>
          </a:p>
          <a:p>
            <a:r>
              <a:rPr lang="en-US" dirty="0"/>
              <a:t>It can occur when the server needs all the data before processing can begin. </a:t>
            </a:r>
          </a:p>
          <a:p>
            <a:r>
              <a:rPr lang="en-US" dirty="0"/>
              <a:t>A good example is sorting. </a:t>
            </a:r>
          </a:p>
          <a:p>
            <a:r>
              <a:rPr lang="en-US" dirty="0"/>
              <a:t>When the client sends data to the server to be sorted, the server needs to receive all the data before sorting can start. </a:t>
            </a:r>
          </a:p>
          <a:p>
            <a:r>
              <a:rPr lang="en-US" dirty="0"/>
              <a:t>This means the client, after sending all data, can close the connection in the client-to-server direction. </a:t>
            </a:r>
          </a:p>
          <a:p>
            <a:r>
              <a:rPr lang="en-US" dirty="0"/>
              <a:t>However, the server-to-client direction must remain open to return the sorted data. </a:t>
            </a:r>
          </a:p>
        </p:txBody>
      </p:sp>
    </p:spTree>
    <p:extLst>
      <p:ext uri="{BB962C8B-B14F-4D97-AF65-F5344CB8AC3E}">
        <p14:creationId xmlns:p14="http://schemas.microsoft.com/office/powerpoint/2010/main" val="1560481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43051-9BFE-0CD4-85E4-33A8176A9A77}"/>
              </a:ext>
            </a:extLst>
          </p:cNvPr>
          <p:cNvSpPr>
            <a:spLocks noGrp="1"/>
          </p:cNvSpPr>
          <p:nvPr>
            <p:ph type="title"/>
          </p:nvPr>
        </p:nvSpPr>
        <p:spPr>
          <a:xfrm>
            <a:off x="1640156" y="326507"/>
            <a:ext cx="8911687" cy="1280890"/>
          </a:xfrm>
        </p:spPr>
        <p:txBody>
          <a:bodyPr>
            <a:normAutofit fontScale="90000"/>
          </a:bodyPr>
          <a:lstStyle/>
          <a:p>
            <a:r>
              <a:rPr lang="en-US" dirty="0"/>
              <a:t>Connection Termination</a:t>
            </a:r>
            <a:br>
              <a:rPr lang="en-US" dirty="0"/>
            </a:br>
            <a:r>
              <a:rPr lang="en-US" dirty="0"/>
              <a:t>		Four-way Handshaking </a:t>
            </a:r>
            <a:br>
              <a:rPr lang="en-US" dirty="0"/>
            </a:br>
            <a:r>
              <a:rPr lang="en-US" dirty="0"/>
              <a:t>				Half-Close</a:t>
            </a:r>
          </a:p>
        </p:txBody>
      </p:sp>
      <p:sp>
        <p:nvSpPr>
          <p:cNvPr id="3" name="Content Placeholder 2">
            <a:extLst>
              <a:ext uri="{FF2B5EF4-FFF2-40B4-BE49-F238E27FC236}">
                <a16:creationId xmlns:a16="http://schemas.microsoft.com/office/drawing/2014/main" id="{1673038C-5CC6-EED8-A3DF-F10E9802E8F6}"/>
              </a:ext>
            </a:extLst>
          </p:cNvPr>
          <p:cNvSpPr>
            <a:spLocks noGrp="1"/>
          </p:cNvSpPr>
          <p:nvPr>
            <p:ph idx="1"/>
          </p:nvPr>
        </p:nvSpPr>
        <p:spPr>
          <a:xfrm>
            <a:off x="536028" y="1991024"/>
            <a:ext cx="6310619" cy="4866976"/>
          </a:xfrm>
        </p:spPr>
        <p:txBody>
          <a:bodyPr>
            <a:normAutofit fontScale="92500" lnSpcReduction="10000"/>
          </a:bodyPr>
          <a:lstStyle/>
          <a:p>
            <a:r>
              <a:rPr lang="en-US" dirty="0"/>
              <a:t>The server, after receiving the data, still needs time for sorting; its outbound direction must remain open. </a:t>
            </a:r>
          </a:p>
          <a:p>
            <a:r>
              <a:rPr lang="en-US" dirty="0"/>
              <a:t>Figure 24.13 shows an example of a </a:t>
            </a:r>
            <a:r>
              <a:rPr lang="en-US" b="1" dirty="0"/>
              <a:t>half-close</a:t>
            </a:r>
            <a:r>
              <a:rPr lang="en-US" dirty="0"/>
              <a:t>. </a:t>
            </a:r>
          </a:p>
          <a:p>
            <a:r>
              <a:rPr lang="en-US" dirty="0"/>
              <a:t>The data transfer from the client to the server stops. </a:t>
            </a:r>
          </a:p>
          <a:p>
            <a:r>
              <a:rPr lang="en-US" dirty="0"/>
              <a:t>The client half-closes the connection by sending a </a:t>
            </a:r>
            <a:r>
              <a:rPr lang="en-US" b="1" dirty="0"/>
              <a:t>FIN segment</a:t>
            </a:r>
            <a:r>
              <a:rPr lang="en-US" dirty="0"/>
              <a:t>. </a:t>
            </a:r>
          </a:p>
          <a:p>
            <a:r>
              <a:rPr lang="en-US" dirty="0"/>
              <a:t>The server accepts the half-close by sending the ACK segment. </a:t>
            </a:r>
          </a:p>
          <a:p>
            <a:r>
              <a:rPr lang="en-US" dirty="0"/>
              <a:t>The server, however, can still send data. When the server has sent all of the processed data, it sends a FIN segment, which is acknowledged by an ACK from the client. </a:t>
            </a:r>
          </a:p>
          <a:p>
            <a:r>
              <a:rPr lang="en-US" dirty="0"/>
              <a:t>After half-closing the connection, data can travel from the server to the client and acknowledgments can travel from the client to the server. </a:t>
            </a:r>
          </a:p>
          <a:p>
            <a:r>
              <a:rPr lang="en-US" dirty="0"/>
              <a:t>The client cannot send any more data to the server.</a:t>
            </a:r>
          </a:p>
        </p:txBody>
      </p:sp>
      <p:pic>
        <p:nvPicPr>
          <p:cNvPr id="5" name="Picture 4">
            <a:extLst>
              <a:ext uri="{FF2B5EF4-FFF2-40B4-BE49-F238E27FC236}">
                <a16:creationId xmlns:a16="http://schemas.microsoft.com/office/drawing/2014/main" id="{23ECA07F-E082-6CD5-CE01-0DE71EF6B315}"/>
              </a:ext>
            </a:extLst>
          </p:cNvPr>
          <p:cNvPicPr>
            <a:picLocks noChangeAspect="1"/>
          </p:cNvPicPr>
          <p:nvPr/>
        </p:nvPicPr>
        <p:blipFill>
          <a:blip r:embed="rId2"/>
          <a:stretch>
            <a:fillRect/>
          </a:stretch>
        </p:blipFill>
        <p:spPr>
          <a:xfrm>
            <a:off x="6846647" y="2062666"/>
            <a:ext cx="5271781" cy="4516810"/>
          </a:xfrm>
          <a:prstGeom prst="rect">
            <a:avLst/>
          </a:prstGeom>
        </p:spPr>
      </p:pic>
    </p:spTree>
    <p:extLst>
      <p:ext uri="{BB962C8B-B14F-4D97-AF65-F5344CB8AC3E}">
        <p14:creationId xmlns:p14="http://schemas.microsoft.com/office/powerpoint/2010/main" val="1644969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47051-F3D4-C7F1-DBEC-F40536DBB45D}"/>
              </a:ext>
            </a:extLst>
          </p:cNvPr>
          <p:cNvSpPr>
            <a:spLocks noGrp="1"/>
          </p:cNvSpPr>
          <p:nvPr>
            <p:ph type="title"/>
          </p:nvPr>
        </p:nvSpPr>
        <p:spPr/>
        <p:txBody>
          <a:bodyPr>
            <a:normAutofit fontScale="90000"/>
          </a:bodyPr>
          <a:lstStyle/>
          <a:p>
            <a:r>
              <a:rPr lang="en-US" b="1" dirty="0"/>
              <a:t>A TCP Connection </a:t>
            </a:r>
            <a:br>
              <a:rPr lang="en-US" b="1" dirty="0"/>
            </a:br>
            <a:r>
              <a:rPr lang="en-US" b="1" dirty="0"/>
              <a:t>	</a:t>
            </a:r>
            <a:r>
              <a:rPr lang="en-US" sz="3600" b="1" i="1" dirty="0">
                <a:solidFill>
                  <a:schemeClr val="tx1"/>
                </a:solidFill>
                <a:latin typeface="NimbusRomNo9L"/>
              </a:rPr>
              <a:t>Connection Reset</a:t>
            </a:r>
            <a:br>
              <a:rPr lang="en-US" sz="3600" b="1" i="1" dirty="0">
                <a:solidFill>
                  <a:schemeClr val="tx1"/>
                </a:solidFill>
                <a:latin typeface="NimbusRomNo9L"/>
              </a:rPr>
            </a:br>
            <a:endParaRPr lang="en-US" dirty="0">
              <a:solidFill>
                <a:schemeClr val="tx1"/>
              </a:solidFill>
            </a:endParaRPr>
          </a:p>
        </p:txBody>
      </p:sp>
      <p:sp>
        <p:nvSpPr>
          <p:cNvPr id="3" name="Content Placeholder 2">
            <a:extLst>
              <a:ext uri="{FF2B5EF4-FFF2-40B4-BE49-F238E27FC236}">
                <a16:creationId xmlns:a16="http://schemas.microsoft.com/office/drawing/2014/main" id="{B2BD15F4-05F2-D92D-B010-334E8745C244}"/>
              </a:ext>
            </a:extLst>
          </p:cNvPr>
          <p:cNvSpPr>
            <a:spLocks noGrp="1"/>
          </p:cNvSpPr>
          <p:nvPr>
            <p:ph idx="1"/>
          </p:nvPr>
        </p:nvSpPr>
        <p:spPr/>
        <p:txBody>
          <a:bodyPr>
            <a:normAutofit/>
          </a:bodyPr>
          <a:lstStyle/>
          <a:p>
            <a:r>
              <a:rPr lang="en-US" sz="2000" dirty="0"/>
              <a:t>TCP at one end may deny a connection request, may abort an existing connection, or may terminate an idle connection. </a:t>
            </a:r>
          </a:p>
          <a:p>
            <a:r>
              <a:rPr lang="en-US" sz="2000" dirty="0"/>
              <a:t>All of these are done with the RST (reset) flag.</a:t>
            </a:r>
          </a:p>
        </p:txBody>
      </p:sp>
    </p:spTree>
    <p:extLst>
      <p:ext uri="{BB962C8B-B14F-4D97-AF65-F5344CB8AC3E}">
        <p14:creationId xmlns:p14="http://schemas.microsoft.com/office/powerpoint/2010/main" val="1738293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E660-8BDB-AB97-AE4C-38271632894C}"/>
              </a:ext>
            </a:extLst>
          </p:cNvPr>
          <p:cNvSpPr>
            <a:spLocks noGrp="1"/>
          </p:cNvSpPr>
          <p:nvPr>
            <p:ph type="title"/>
          </p:nvPr>
        </p:nvSpPr>
        <p:spPr/>
        <p:txBody>
          <a:bodyPr/>
          <a:lstStyle/>
          <a:p>
            <a:r>
              <a:rPr lang="en-US" dirty="0"/>
              <a:t>24.3.7 </a:t>
            </a:r>
            <a:br>
              <a:rPr lang="en-US" dirty="0"/>
            </a:br>
            <a:r>
              <a:rPr lang="en-US" dirty="0"/>
              <a:t>Flow Control</a:t>
            </a:r>
          </a:p>
        </p:txBody>
      </p:sp>
      <p:sp>
        <p:nvSpPr>
          <p:cNvPr id="3" name="Content Placeholder 2">
            <a:extLst>
              <a:ext uri="{FF2B5EF4-FFF2-40B4-BE49-F238E27FC236}">
                <a16:creationId xmlns:a16="http://schemas.microsoft.com/office/drawing/2014/main" id="{D1F2A0EE-5DD2-3AF5-6D07-5D144E66DA74}"/>
              </a:ext>
            </a:extLst>
          </p:cNvPr>
          <p:cNvSpPr>
            <a:spLocks noGrp="1"/>
          </p:cNvSpPr>
          <p:nvPr>
            <p:ph idx="1"/>
          </p:nvPr>
        </p:nvSpPr>
        <p:spPr/>
        <p:txBody>
          <a:bodyPr/>
          <a:lstStyle/>
          <a:p>
            <a:r>
              <a:rPr lang="en-US" sz="1800" dirty="0">
                <a:solidFill>
                  <a:srgbClr val="231F20"/>
                </a:solidFill>
                <a:latin typeface="NimbusRomNo9L"/>
              </a:rPr>
              <a:t>As discussed before, </a:t>
            </a:r>
            <a:r>
              <a:rPr lang="en-US" sz="1800" i="1" dirty="0">
                <a:solidFill>
                  <a:srgbClr val="231F20"/>
                </a:solidFill>
                <a:latin typeface="NimbusRomNo9L"/>
              </a:rPr>
              <a:t>flow control balances the rate a producer creates data with the rate </a:t>
            </a:r>
            <a:r>
              <a:rPr lang="en-US" sz="1800" dirty="0">
                <a:solidFill>
                  <a:srgbClr val="231F20"/>
                </a:solidFill>
                <a:latin typeface="NimbusRomNo9L"/>
              </a:rPr>
              <a:t>a consumer can use the data. </a:t>
            </a:r>
          </a:p>
          <a:p>
            <a:r>
              <a:rPr lang="en-US" sz="1800" dirty="0">
                <a:solidFill>
                  <a:srgbClr val="231F20"/>
                </a:solidFill>
                <a:latin typeface="NimbusRomNo9L"/>
              </a:rPr>
              <a:t>TCP separates flow control from error control. </a:t>
            </a:r>
          </a:p>
          <a:p>
            <a:r>
              <a:rPr lang="en-US" sz="1800" dirty="0">
                <a:solidFill>
                  <a:srgbClr val="231F20"/>
                </a:solidFill>
                <a:latin typeface="NimbusRomNo9L"/>
              </a:rPr>
              <a:t>In this section we discuss flow control, ignoring error control. </a:t>
            </a:r>
          </a:p>
          <a:p>
            <a:r>
              <a:rPr lang="en-US" sz="1800" dirty="0">
                <a:solidFill>
                  <a:srgbClr val="231F20"/>
                </a:solidFill>
                <a:latin typeface="NimbusRomNo9L"/>
              </a:rPr>
              <a:t>We assume that the logical channel between the sending and receiving TCP is error-free</a:t>
            </a:r>
            <a:endParaRPr lang="en-US" dirty="0"/>
          </a:p>
        </p:txBody>
      </p:sp>
    </p:spTree>
    <p:extLst>
      <p:ext uri="{BB962C8B-B14F-4D97-AF65-F5344CB8AC3E}">
        <p14:creationId xmlns:p14="http://schemas.microsoft.com/office/powerpoint/2010/main" val="660167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DCAB-0AC8-BD6C-29C8-AF351F38AF31}"/>
              </a:ext>
            </a:extLst>
          </p:cNvPr>
          <p:cNvSpPr>
            <a:spLocks noGrp="1"/>
          </p:cNvSpPr>
          <p:nvPr>
            <p:ph type="title"/>
          </p:nvPr>
        </p:nvSpPr>
        <p:spPr>
          <a:xfrm>
            <a:off x="2592925" y="624110"/>
            <a:ext cx="8911687" cy="598021"/>
          </a:xfrm>
        </p:spPr>
        <p:txBody>
          <a:bodyPr>
            <a:normAutofit fontScale="90000"/>
          </a:bodyPr>
          <a:lstStyle/>
          <a:p>
            <a:r>
              <a:rPr lang="en-US" dirty="0"/>
              <a:t>Flow Control</a:t>
            </a:r>
          </a:p>
        </p:txBody>
      </p:sp>
      <p:sp>
        <p:nvSpPr>
          <p:cNvPr id="3" name="Content Placeholder 2">
            <a:extLst>
              <a:ext uri="{FF2B5EF4-FFF2-40B4-BE49-F238E27FC236}">
                <a16:creationId xmlns:a16="http://schemas.microsoft.com/office/drawing/2014/main" id="{84CE26EA-0207-ED36-696F-2393DC99B7D8}"/>
              </a:ext>
            </a:extLst>
          </p:cNvPr>
          <p:cNvSpPr>
            <a:spLocks noGrp="1"/>
          </p:cNvSpPr>
          <p:nvPr>
            <p:ph idx="1"/>
          </p:nvPr>
        </p:nvSpPr>
        <p:spPr>
          <a:xfrm>
            <a:off x="2228728" y="1289539"/>
            <a:ext cx="8915400" cy="3777622"/>
          </a:xfrm>
        </p:spPr>
        <p:txBody>
          <a:bodyPr/>
          <a:lstStyle/>
          <a:p>
            <a:r>
              <a:rPr lang="en-US" sz="1800" dirty="0">
                <a:solidFill>
                  <a:srgbClr val="231F20"/>
                </a:solidFill>
                <a:latin typeface="NimbusRomNo9L"/>
              </a:rPr>
              <a:t>Figure 24.19 shows unidirectional data transfer between a sender and a receiver; bidirectional data transfer can be deduced from the unidirectional process. </a:t>
            </a:r>
          </a:p>
          <a:p>
            <a:endParaRPr lang="en-US" dirty="0"/>
          </a:p>
        </p:txBody>
      </p:sp>
      <p:pic>
        <p:nvPicPr>
          <p:cNvPr id="5" name="Picture 4">
            <a:extLst>
              <a:ext uri="{FF2B5EF4-FFF2-40B4-BE49-F238E27FC236}">
                <a16:creationId xmlns:a16="http://schemas.microsoft.com/office/drawing/2014/main" id="{56E56445-759E-312A-B91E-C49790F91CD5}"/>
              </a:ext>
            </a:extLst>
          </p:cNvPr>
          <p:cNvPicPr>
            <a:picLocks noChangeAspect="1"/>
          </p:cNvPicPr>
          <p:nvPr/>
        </p:nvPicPr>
        <p:blipFill>
          <a:blip r:embed="rId2"/>
          <a:stretch>
            <a:fillRect/>
          </a:stretch>
        </p:blipFill>
        <p:spPr>
          <a:xfrm>
            <a:off x="5729950" y="3428999"/>
            <a:ext cx="6310520" cy="2892669"/>
          </a:xfrm>
          <a:prstGeom prst="rect">
            <a:avLst/>
          </a:prstGeom>
        </p:spPr>
      </p:pic>
      <p:sp>
        <p:nvSpPr>
          <p:cNvPr id="9" name="TextBox 8">
            <a:extLst>
              <a:ext uri="{FF2B5EF4-FFF2-40B4-BE49-F238E27FC236}">
                <a16:creationId xmlns:a16="http://schemas.microsoft.com/office/drawing/2014/main" id="{C0CBC8A5-8C81-EBC2-908D-D7D4C0FDB3B1}"/>
              </a:ext>
            </a:extLst>
          </p:cNvPr>
          <p:cNvSpPr txBox="1"/>
          <p:nvPr/>
        </p:nvSpPr>
        <p:spPr>
          <a:xfrm>
            <a:off x="681281" y="1859339"/>
            <a:ext cx="10994903" cy="1477328"/>
          </a:xfrm>
          <a:prstGeom prst="rect">
            <a:avLst/>
          </a:prstGeom>
          <a:noFill/>
        </p:spPr>
        <p:txBody>
          <a:bodyPr wrap="square">
            <a:spAutoFit/>
          </a:bodyPr>
          <a:lstStyle/>
          <a:p>
            <a:pPr algn="just"/>
            <a:r>
              <a:rPr lang="en-US" dirty="0"/>
              <a:t>The figure shows that </a:t>
            </a:r>
            <a:r>
              <a:rPr lang="en-US" b="1" dirty="0"/>
              <a:t>data travel </a:t>
            </a:r>
            <a:r>
              <a:rPr lang="en-US" dirty="0"/>
              <a:t>from the </a:t>
            </a:r>
            <a:r>
              <a:rPr lang="en-US" u="sng" dirty="0"/>
              <a:t>sending process down </a:t>
            </a:r>
            <a:r>
              <a:rPr lang="en-US" dirty="0"/>
              <a:t>to the </a:t>
            </a:r>
            <a:r>
              <a:rPr lang="en-US" u="sng" dirty="0"/>
              <a:t>sending TCP</a:t>
            </a:r>
            <a:r>
              <a:rPr lang="en-US" dirty="0"/>
              <a:t>, from the sending TCP to the receiving TCP, and from the receiving TCP up to the receiving process (paths 1, 2, and 3). </a:t>
            </a:r>
          </a:p>
          <a:p>
            <a:pPr algn="just"/>
            <a:r>
              <a:rPr lang="en-US" b="1" dirty="0"/>
              <a:t>Flow control feedbacks</a:t>
            </a:r>
            <a:r>
              <a:rPr lang="en-US" dirty="0"/>
              <a:t>, are traveling from the </a:t>
            </a:r>
            <a:r>
              <a:rPr lang="en-US" u="sng" dirty="0"/>
              <a:t>receiving TCP </a:t>
            </a:r>
            <a:r>
              <a:rPr lang="en-US" dirty="0"/>
              <a:t>to the </a:t>
            </a:r>
            <a:r>
              <a:rPr lang="en-US" u="sng" dirty="0"/>
              <a:t>sending TCP </a:t>
            </a:r>
            <a:r>
              <a:rPr lang="en-US" dirty="0"/>
              <a:t>and from the sending TCP up to the sending process (paths 4 and 5). </a:t>
            </a:r>
          </a:p>
        </p:txBody>
      </p:sp>
      <p:sp>
        <p:nvSpPr>
          <p:cNvPr id="11" name="TextBox 10">
            <a:extLst>
              <a:ext uri="{FF2B5EF4-FFF2-40B4-BE49-F238E27FC236}">
                <a16:creationId xmlns:a16="http://schemas.microsoft.com/office/drawing/2014/main" id="{0C8774C3-82A7-5829-262D-2A819486D08B}"/>
              </a:ext>
            </a:extLst>
          </p:cNvPr>
          <p:cNvSpPr txBox="1"/>
          <p:nvPr/>
        </p:nvSpPr>
        <p:spPr>
          <a:xfrm>
            <a:off x="681281" y="3624084"/>
            <a:ext cx="5024207" cy="2585323"/>
          </a:xfrm>
          <a:prstGeom prst="rect">
            <a:avLst/>
          </a:prstGeom>
          <a:noFill/>
        </p:spPr>
        <p:txBody>
          <a:bodyPr wrap="square">
            <a:spAutoFit/>
          </a:bodyPr>
          <a:lstStyle/>
          <a:p>
            <a:pPr algn="just"/>
            <a:r>
              <a:rPr lang="en-US" dirty="0"/>
              <a:t>Flow control feedback from the sending TCP to the sending process (path 5) is achieved through simple rejection of data by the sending TCP when its window is full. </a:t>
            </a:r>
          </a:p>
          <a:p>
            <a:pPr algn="just"/>
            <a:endParaRPr lang="en-US" dirty="0"/>
          </a:p>
          <a:p>
            <a:pPr algn="just"/>
            <a:r>
              <a:rPr lang="en-US" dirty="0"/>
              <a:t>This means that our discussion of flow control concentrates on the feedback sent from the receiving TCP to the sending TCP (path 4).</a:t>
            </a:r>
          </a:p>
        </p:txBody>
      </p:sp>
    </p:spTree>
    <p:extLst>
      <p:ext uri="{BB962C8B-B14F-4D97-AF65-F5344CB8AC3E}">
        <p14:creationId xmlns:p14="http://schemas.microsoft.com/office/powerpoint/2010/main" val="3457256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EF65-52B2-22D0-06B7-5662C1AEAC26}"/>
              </a:ext>
            </a:extLst>
          </p:cNvPr>
          <p:cNvSpPr>
            <a:spLocks noGrp="1"/>
          </p:cNvSpPr>
          <p:nvPr>
            <p:ph type="title"/>
          </p:nvPr>
        </p:nvSpPr>
        <p:spPr/>
        <p:txBody>
          <a:bodyPr/>
          <a:lstStyle/>
          <a:p>
            <a:r>
              <a:rPr lang="en-US" dirty="0"/>
              <a:t>Silly Window Syndrome</a:t>
            </a:r>
          </a:p>
        </p:txBody>
      </p:sp>
      <p:sp>
        <p:nvSpPr>
          <p:cNvPr id="3" name="Content Placeholder 2">
            <a:extLst>
              <a:ext uri="{FF2B5EF4-FFF2-40B4-BE49-F238E27FC236}">
                <a16:creationId xmlns:a16="http://schemas.microsoft.com/office/drawing/2014/main" id="{BF22DD6F-A071-B786-8253-D7A39C96DACA}"/>
              </a:ext>
            </a:extLst>
          </p:cNvPr>
          <p:cNvSpPr>
            <a:spLocks noGrp="1"/>
          </p:cNvSpPr>
          <p:nvPr>
            <p:ph idx="1"/>
          </p:nvPr>
        </p:nvSpPr>
        <p:spPr>
          <a:xfrm>
            <a:off x="2110154" y="2133599"/>
            <a:ext cx="9394458" cy="4293577"/>
          </a:xfrm>
        </p:spPr>
        <p:txBody>
          <a:bodyPr>
            <a:normAutofit/>
          </a:bodyPr>
          <a:lstStyle/>
          <a:p>
            <a:pPr algn="just"/>
            <a:r>
              <a:rPr lang="en-US" dirty="0"/>
              <a:t>A serious problem can arise in the sliding window operation when either the sending application program </a:t>
            </a:r>
            <a:r>
              <a:rPr lang="en-US" u="sng" dirty="0"/>
              <a:t>creates data </a:t>
            </a:r>
            <a:r>
              <a:rPr lang="en-US" dirty="0"/>
              <a:t>slowly or the receiving application program </a:t>
            </a:r>
            <a:r>
              <a:rPr lang="en-US" u="sng" dirty="0"/>
              <a:t>consumes data slowly</a:t>
            </a:r>
            <a:r>
              <a:rPr lang="en-US" dirty="0"/>
              <a:t>, or both. </a:t>
            </a:r>
          </a:p>
          <a:p>
            <a:pPr algn="just"/>
            <a:r>
              <a:rPr lang="en-US" dirty="0"/>
              <a:t>Any of these situations results in the sending of data in very small segments, which reduces the efficiency of the operation.</a:t>
            </a:r>
          </a:p>
          <a:p>
            <a:pPr algn="just"/>
            <a:r>
              <a:rPr lang="en-US" dirty="0"/>
              <a:t>For example, if TCP sends segments containing only 1 byte of data, it means that a 41-byte datagram (20 bytes of TCP header and 20 bytes of IP header) transfers only 1 byte of user data. Here the overhead is 41/1, which indicates that we are using the capacity of the network very inefficiently.</a:t>
            </a:r>
          </a:p>
          <a:p>
            <a:pPr algn="just"/>
            <a:r>
              <a:rPr lang="en-US" dirty="0"/>
              <a:t> The inefficiency is even worse after accounting for the data-link layer and physical-layer overhead. </a:t>
            </a:r>
          </a:p>
          <a:p>
            <a:pPr algn="just"/>
            <a:r>
              <a:rPr lang="en-US" dirty="0"/>
              <a:t>This problem is called the </a:t>
            </a:r>
            <a:r>
              <a:rPr lang="en-US" b="1" dirty="0"/>
              <a:t>silly window syndrome</a:t>
            </a:r>
            <a:r>
              <a:rPr lang="en-US" dirty="0"/>
              <a:t>. </a:t>
            </a:r>
          </a:p>
        </p:txBody>
      </p:sp>
    </p:spTree>
    <p:extLst>
      <p:ext uri="{BB962C8B-B14F-4D97-AF65-F5344CB8AC3E}">
        <p14:creationId xmlns:p14="http://schemas.microsoft.com/office/powerpoint/2010/main" val="1902767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4BBE6-72B8-E3AB-01C3-3BED943A6A6A}"/>
              </a:ext>
            </a:extLst>
          </p:cNvPr>
          <p:cNvSpPr>
            <a:spLocks noGrp="1"/>
          </p:cNvSpPr>
          <p:nvPr>
            <p:ph type="title"/>
          </p:nvPr>
        </p:nvSpPr>
        <p:spPr/>
        <p:txBody>
          <a:bodyPr/>
          <a:lstStyle/>
          <a:p>
            <a:r>
              <a:rPr lang="en-US" dirty="0"/>
              <a:t>Problem and Solution to silly window</a:t>
            </a:r>
          </a:p>
        </p:txBody>
      </p:sp>
      <p:sp>
        <p:nvSpPr>
          <p:cNvPr id="3" name="Content Placeholder 2">
            <a:extLst>
              <a:ext uri="{FF2B5EF4-FFF2-40B4-BE49-F238E27FC236}">
                <a16:creationId xmlns:a16="http://schemas.microsoft.com/office/drawing/2014/main" id="{73F749FA-36D3-EEDC-89BC-1E5ED5FBE3A9}"/>
              </a:ext>
            </a:extLst>
          </p:cNvPr>
          <p:cNvSpPr>
            <a:spLocks noGrp="1"/>
          </p:cNvSpPr>
          <p:nvPr>
            <p:ph idx="1"/>
          </p:nvPr>
        </p:nvSpPr>
        <p:spPr>
          <a:xfrm>
            <a:off x="2589212" y="2133600"/>
            <a:ext cx="8915400" cy="4381500"/>
          </a:xfrm>
        </p:spPr>
        <p:txBody>
          <a:bodyPr>
            <a:normAutofit fontScale="92500" lnSpcReduction="10000"/>
          </a:bodyPr>
          <a:lstStyle/>
          <a:p>
            <a:r>
              <a:rPr lang="en-US" dirty="0"/>
              <a:t>For each site, we first describe how the problem is created and then give a proposed solution.</a:t>
            </a:r>
          </a:p>
          <a:p>
            <a:r>
              <a:rPr lang="en-US" dirty="0"/>
              <a:t>The sending TCP may create a silly window syndrome if it is serving an application program that creates data slowly,</a:t>
            </a:r>
          </a:p>
          <a:p>
            <a:r>
              <a:rPr lang="en-US" dirty="0"/>
              <a:t>For example, 1 byte at a time. </a:t>
            </a:r>
          </a:p>
          <a:p>
            <a:r>
              <a:rPr lang="en-US" dirty="0"/>
              <a:t>The application program </a:t>
            </a:r>
            <a:r>
              <a:rPr lang="en-US" b="1" dirty="0"/>
              <a:t>writes 1 byte </a:t>
            </a:r>
            <a:r>
              <a:rPr lang="en-US" dirty="0"/>
              <a:t>at a time into the </a:t>
            </a:r>
            <a:r>
              <a:rPr lang="en-US" b="1" dirty="0"/>
              <a:t>buffer </a:t>
            </a:r>
            <a:r>
              <a:rPr lang="en-US" dirty="0"/>
              <a:t>of the sending TCP. </a:t>
            </a:r>
          </a:p>
          <a:p>
            <a:r>
              <a:rPr lang="en-US" dirty="0"/>
              <a:t>The result is a lot of 41-byte segments that are traveling through an internet. </a:t>
            </a:r>
          </a:p>
          <a:p>
            <a:r>
              <a:rPr lang="en-US" dirty="0"/>
              <a:t>The solution is to prevent the sending TCP from sending the data byte by byte.</a:t>
            </a:r>
          </a:p>
          <a:p>
            <a:r>
              <a:rPr lang="en-US" dirty="0"/>
              <a:t>The sending TCP must be forced to wait and collect data to send in a larger block. </a:t>
            </a:r>
          </a:p>
          <a:p>
            <a:r>
              <a:rPr lang="en-US" dirty="0"/>
              <a:t>How long should the sending TCP wait? </a:t>
            </a:r>
          </a:p>
          <a:p>
            <a:r>
              <a:rPr lang="en-US" dirty="0"/>
              <a:t>If it waits too long, it may delay the process. If it does not wait long enough, it may end up sending small segments.</a:t>
            </a:r>
          </a:p>
          <a:p>
            <a:endParaRPr lang="en-US" dirty="0"/>
          </a:p>
        </p:txBody>
      </p:sp>
    </p:spTree>
    <p:extLst>
      <p:ext uri="{BB962C8B-B14F-4D97-AF65-F5344CB8AC3E}">
        <p14:creationId xmlns:p14="http://schemas.microsoft.com/office/powerpoint/2010/main" val="609658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8A3F-F16A-9BCE-1525-9EF505E11339}"/>
              </a:ext>
            </a:extLst>
          </p:cNvPr>
          <p:cNvSpPr>
            <a:spLocks noGrp="1"/>
          </p:cNvSpPr>
          <p:nvPr>
            <p:ph type="title"/>
          </p:nvPr>
        </p:nvSpPr>
        <p:spPr/>
        <p:txBody>
          <a:bodyPr/>
          <a:lstStyle/>
          <a:p>
            <a:r>
              <a:rPr lang="en-US" dirty="0"/>
              <a:t>Solution for Sender side</a:t>
            </a:r>
          </a:p>
        </p:txBody>
      </p:sp>
      <p:sp>
        <p:nvSpPr>
          <p:cNvPr id="3" name="Content Placeholder 2">
            <a:extLst>
              <a:ext uri="{FF2B5EF4-FFF2-40B4-BE49-F238E27FC236}">
                <a16:creationId xmlns:a16="http://schemas.microsoft.com/office/drawing/2014/main" id="{9723B6D6-4D76-603B-36A1-2E7E292B8ACE}"/>
              </a:ext>
            </a:extLst>
          </p:cNvPr>
          <p:cNvSpPr>
            <a:spLocks noGrp="1"/>
          </p:cNvSpPr>
          <p:nvPr>
            <p:ph idx="1"/>
          </p:nvPr>
        </p:nvSpPr>
        <p:spPr>
          <a:xfrm>
            <a:off x="2592924" y="2133599"/>
            <a:ext cx="8911687" cy="4346331"/>
          </a:xfrm>
        </p:spPr>
        <p:txBody>
          <a:bodyPr>
            <a:normAutofit fontScale="92500" lnSpcReduction="20000"/>
          </a:bodyPr>
          <a:lstStyle/>
          <a:p>
            <a:pPr algn="just"/>
            <a:r>
              <a:rPr lang="en-US" dirty="0"/>
              <a:t>Nagle found an elegant solution.</a:t>
            </a:r>
          </a:p>
          <a:p>
            <a:pPr algn="just"/>
            <a:r>
              <a:rPr lang="en-US" dirty="0"/>
              <a:t>The sending TCP sends the first piece of data it receives from the sending application program even if it is only </a:t>
            </a:r>
            <a:r>
              <a:rPr lang="en-US" b="1" dirty="0"/>
              <a:t>1 byte</a:t>
            </a:r>
            <a:r>
              <a:rPr lang="en-US" dirty="0"/>
              <a:t>. </a:t>
            </a:r>
          </a:p>
          <a:p>
            <a:pPr algn="just"/>
            <a:r>
              <a:rPr lang="en-US" dirty="0"/>
              <a:t>Step 2 : After sending the first segment, the sending TCP accumulates data in the output buffer and waits until either the receiving TCP sends an </a:t>
            </a:r>
            <a:r>
              <a:rPr lang="en-US" u="sng" dirty="0"/>
              <a:t>acknowledgment</a:t>
            </a:r>
            <a:r>
              <a:rPr lang="en-US" dirty="0"/>
              <a:t> or until </a:t>
            </a:r>
            <a:r>
              <a:rPr lang="en-US" u="sng" dirty="0"/>
              <a:t>enough data have accumulated</a:t>
            </a:r>
            <a:r>
              <a:rPr lang="en-US" dirty="0"/>
              <a:t> to fill a maximum-size segment. </a:t>
            </a:r>
          </a:p>
          <a:p>
            <a:pPr algn="just"/>
            <a:r>
              <a:rPr lang="en-US" dirty="0"/>
              <a:t>At this time, the sending TCP can send the segment. </a:t>
            </a:r>
          </a:p>
          <a:p>
            <a:pPr algn="just"/>
            <a:r>
              <a:rPr lang="en-US" dirty="0"/>
              <a:t>Step 2 is repeated for the rest of the transmission. </a:t>
            </a:r>
          </a:p>
          <a:p>
            <a:pPr algn="just"/>
            <a:r>
              <a:rPr lang="en-US" dirty="0"/>
              <a:t>The elegance of Nagle’s algorithm is in its simplicity and in the fact that it takes into account the speed of the application program that creates the data and the speed of the network that transports the data. </a:t>
            </a:r>
          </a:p>
          <a:p>
            <a:pPr algn="just"/>
            <a:r>
              <a:rPr lang="en-US" dirty="0"/>
              <a:t>If the application program is faster than the network, the segments are larger (maximum-size segments). </a:t>
            </a:r>
          </a:p>
          <a:p>
            <a:pPr algn="just"/>
            <a:r>
              <a:rPr lang="en-US" dirty="0"/>
              <a:t>If the application program is slower than the network, the segments are smaller (less than the maximum segment size).</a:t>
            </a:r>
          </a:p>
        </p:txBody>
      </p:sp>
    </p:spTree>
    <p:extLst>
      <p:ext uri="{BB962C8B-B14F-4D97-AF65-F5344CB8AC3E}">
        <p14:creationId xmlns:p14="http://schemas.microsoft.com/office/powerpoint/2010/main" val="29678178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63555-57D2-5D1A-7505-EE33E204D1EA}"/>
              </a:ext>
            </a:extLst>
          </p:cNvPr>
          <p:cNvSpPr>
            <a:spLocks noGrp="1"/>
          </p:cNvSpPr>
          <p:nvPr>
            <p:ph type="title"/>
          </p:nvPr>
        </p:nvSpPr>
        <p:spPr/>
        <p:txBody>
          <a:bodyPr/>
          <a:lstStyle/>
          <a:p>
            <a:r>
              <a:rPr lang="en-US" dirty="0"/>
              <a:t>Syndrome Created by the Receiver</a:t>
            </a:r>
          </a:p>
        </p:txBody>
      </p:sp>
      <p:sp>
        <p:nvSpPr>
          <p:cNvPr id="3" name="Content Placeholder 2">
            <a:extLst>
              <a:ext uri="{FF2B5EF4-FFF2-40B4-BE49-F238E27FC236}">
                <a16:creationId xmlns:a16="http://schemas.microsoft.com/office/drawing/2014/main" id="{4C9D4556-4069-BD0F-94D5-805B6C88272A}"/>
              </a:ext>
            </a:extLst>
          </p:cNvPr>
          <p:cNvSpPr>
            <a:spLocks noGrp="1"/>
          </p:cNvSpPr>
          <p:nvPr>
            <p:ph idx="1"/>
          </p:nvPr>
        </p:nvSpPr>
        <p:spPr>
          <a:xfrm>
            <a:off x="1958009" y="1500809"/>
            <a:ext cx="9546603" cy="5146175"/>
          </a:xfrm>
        </p:spPr>
        <p:txBody>
          <a:bodyPr>
            <a:normAutofit fontScale="85000" lnSpcReduction="10000"/>
          </a:bodyPr>
          <a:lstStyle/>
          <a:p>
            <a:r>
              <a:rPr lang="en-US" dirty="0"/>
              <a:t>The receiving TCP may create a silly window syndrome if it is serving an application program that consumes data slowly</a:t>
            </a:r>
          </a:p>
          <a:p>
            <a:r>
              <a:rPr lang="en-US" dirty="0"/>
              <a:t>For example, 1 byte at a time. </a:t>
            </a:r>
          </a:p>
          <a:p>
            <a:r>
              <a:rPr lang="en-US" dirty="0"/>
              <a:t>Suppose that the sending application program creates data in blocks of </a:t>
            </a:r>
            <a:r>
              <a:rPr lang="en-US" b="1" dirty="0"/>
              <a:t>1 kilobyte</a:t>
            </a:r>
            <a:r>
              <a:rPr lang="en-US" dirty="0"/>
              <a:t>, but the receiving application program consumes data </a:t>
            </a:r>
            <a:r>
              <a:rPr lang="en-US" u="sng" dirty="0"/>
              <a:t>1 byte</a:t>
            </a:r>
            <a:r>
              <a:rPr lang="en-US" dirty="0"/>
              <a:t> at a time. </a:t>
            </a:r>
          </a:p>
          <a:p>
            <a:r>
              <a:rPr lang="en-US" dirty="0"/>
              <a:t>Also suppose that the </a:t>
            </a:r>
            <a:r>
              <a:rPr lang="en-US" b="1" dirty="0"/>
              <a:t>input buffer of the receiving </a:t>
            </a:r>
            <a:r>
              <a:rPr lang="en-US" dirty="0"/>
              <a:t>TCP is </a:t>
            </a:r>
            <a:r>
              <a:rPr lang="en-US" u="sng" dirty="0"/>
              <a:t>4 kilobytes</a:t>
            </a:r>
            <a:r>
              <a:rPr lang="en-US" dirty="0"/>
              <a:t>. </a:t>
            </a:r>
          </a:p>
          <a:p>
            <a:r>
              <a:rPr lang="en-US" dirty="0"/>
              <a:t>The sender </a:t>
            </a:r>
            <a:r>
              <a:rPr lang="en-US" u="sng" dirty="0"/>
              <a:t>sends </a:t>
            </a:r>
            <a:r>
              <a:rPr lang="en-US" dirty="0"/>
              <a:t>the </a:t>
            </a:r>
            <a:r>
              <a:rPr lang="en-US" b="1" dirty="0"/>
              <a:t>first 4 kilobytes of data</a:t>
            </a:r>
            <a:r>
              <a:rPr lang="en-US" dirty="0"/>
              <a:t>. </a:t>
            </a:r>
          </a:p>
          <a:p>
            <a:r>
              <a:rPr lang="en-US" dirty="0"/>
              <a:t>The receiver stores it in its buffer. Now its buffer is full. </a:t>
            </a:r>
          </a:p>
          <a:p>
            <a:r>
              <a:rPr lang="en-US" dirty="0"/>
              <a:t>It advertises a window size of zero, which means the sender should stop sending data. </a:t>
            </a:r>
          </a:p>
          <a:p>
            <a:r>
              <a:rPr lang="en-US" dirty="0"/>
              <a:t>The </a:t>
            </a:r>
            <a:r>
              <a:rPr lang="en-US" b="1" dirty="0"/>
              <a:t>receiving </a:t>
            </a:r>
            <a:r>
              <a:rPr lang="en-US" dirty="0"/>
              <a:t>application reads the </a:t>
            </a:r>
            <a:r>
              <a:rPr lang="en-US" b="1" dirty="0"/>
              <a:t>first byte </a:t>
            </a:r>
            <a:r>
              <a:rPr lang="en-US" dirty="0"/>
              <a:t>of data from the input buffer of the receiving TCP. </a:t>
            </a:r>
          </a:p>
          <a:p>
            <a:pPr lvl="1"/>
            <a:r>
              <a:rPr lang="en-US" dirty="0"/>
              <a:t>Now there is 1 byte of space in the incoming buffer. </a:t>
            </a:r>
          </a:p>
          <a:p>
            <a:r>
              <a:rPr lang="en-US" dirty="0"/>
              <a:t>The receiving TCP announces a window size of 1 byte, which means that the sending TCP, which is eagerly waiting to send data, takes this advertisement as good news and sends a segment carrying only 1 byte of data. </a:t>
            </a:r>
          </a:p>
          <a:p>
            <a:r>
              <a:rPr lang="en-US" dirty="0"/>
              <a:t>The procedure will continue. One byte of data is consumed and a segment carrying 1 byte of data is sent. </a:t>
            </a:r>
          </a:p>
          <a:p>
            <a:r>
              <a:rPr lang="en-US" dirty="0"/>
              <a:t>Again, we have an efficiency problem and the silly window syndrome.</a:t>
            </a:r>
          </a:p>
        </p:txBody>
      </p:sp>
    </p:spTree>
    <p:extLst>
      <p:ext uri="{BB962C8B-B14F-4D97-AF65-F5344CB8AC3E}">
        <p14:creationId xmlns:p14="http://schemas.microsoft.com/office/powerpoint/2010/main" val="2172731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2A595-6D29-87A9-1386-494DF0323AF1}"/>
              </a:ext>
            </a:extLst>
          </p:cNvPr>
          <p:cNvSpPr>
            <a:spLocks noGrp="1"/>
          </p:cNvSpPr>
          <p:nvPr>
            <p:ph type="title"/>
          </p:nvPr>
        </p:nvSpPr>
        <p:spPr/>
        <p:txBody>
          <a:bodyPr/>
          <a:lstStyle/>
          <a:p>
            <a:r>
              <a:rPr lang="en-US" dirty="0"/>
              <a:t>Solution to Receiver silly window</a:t>
            </a:r>
          </a:p>
        </p:txBody>
      </p:sp>
      <p:sp>
        <p:nvSpPr>
          <p:cNvPr id="3" name="Content Placeholder 2">
            <a:extLst>
              <a:ext uri="{FF2B5EF4-FFF2-40B4-BE49-F238E27FC236}">
                <a16:creationId xmlns:a16="http://schemas.microsoft.com/office/drawing/2014/main" id="{3DA6B6E4-3571-D0D2-923D-9B257E561F1A}"/>
              </a:ext>
            </a:extLst>
          </p:cNvPr>
          <p:cNvSpPr>
            <a:spLocks noGrp="1"/>
          </p:cNvSpPr>
          <p:nvPr>
            <p:ph idx="1"/>
          </p:nvPr>
        </p:nvSpPr>
        <p:spPr>
          <a:xfrm>
            <a:off x="2589212" y="1470991"/>
            <a:ext cx="8915400" cy="5009322"/>
          </a:xfrm>
        </p:spPr>
        <p:txBody>
          <a:bodyPr>
            <a:normAutofit fontScale="92500" lnSpcReduction="20000"/>
          </a:bodyPr>
          <a:lstStyle/>
          <a:p>
            <a:r>
              <a:rPr lang="en-US" dirty="0"/>
              <a:t>Two solutions have been proposed to prevent the silly window syndrome created by an application program that consumes data more slowly than they arrive. </a:t>
            </a:r>
          </a:p>
          <a:p>
            <a:r>
              <a:rPr lang="en-US" b="1" dirty="0"/>
              <a:t>Clark’s solution </a:t>
            </a:r>
            <a:r>
              <a:rPr lang="en-US" dirty="0"/>
              <a:t>is to send an acknowledgment as soon as the data arrive, but to announce a window size of zero until either there is enough space to accommodate a segment of maximum size or until at least half of the receive buffer is empty. </a:t>
            </a:r>
          </a:p>
          <a:p>
            <a:r>
              <a:rPr lang="en-US" b="1" dirty="0"/>
              <a:t>The second </a:t>
            </a:r>
            <a:r>
              <a:rPr lang="en-US" dirty="0"/>
              <a:t>solution is to delay sending the acknowledgment. </a:t>
            </a:r>
          </a:p>
          <a:p>
            <a:pPr lvl="1"/>
            <a:r>
              <a:rPr lang="en-US" dirty="0"/>
              <a:t>This means that when a segment arrives, it is not acknowledged immediately. </a:t>
            </a:r>
          </a:p>
          <a:p>
            <a:pPr lvl="1"/>
            <a:r>
              <a:rPr lang="en-US" dirty="0"/>
              <a:t>The receiver waits until there is a decent amount of space in its incoming buffer before acknowledging the arrived segments. </a:t>
            </a:r>
          </a:p>
          <a:p>
            <a:pPr lvl="1"/>
            <a:r>
              <a:rPr lang="en-US" dirty="0"/>
              <a:t>The delayed acknowledgment prevents the sending TCP from sliding its window. </a:t>
            </a:r>
          </a:p>
          <a:p>
            <a:pPr lvl="1"/>
            <a:r>
              <a:rPr lang="en-US" dirty="0"/>
              <a:t>After the sending TCP has sent the data in the window, it stops. </a:t>
            </a:r>
            <a:r>
              <a:rPr lang="en-US" b="1" dirty="0"/>
              <a:t>This kills the syndrome. </a:t>
            </a:r>
          </a:p>
          <a:p>
            <a:r>
              <a:rPr lang="en-US" dirty="0"/>
              <a:t>Delayed acknowledgment also has another </a:t>
            </a:r>
            <a:r>
              <a:rPr lang="en-US" b="1" dirty="0"/>
              <a:t>advantage</a:t>
            </a:r>
            <a:r>
              <a:rPr lang="en-US" dirty="0"/>
              <a:t>: </a:t>
            </a:r>
          </a:p>
          <a:p>
            <a:pPr lvl="1"/>
            <a:r>
              <a:rPr lang="en-US" dirty="0"/>
              <a:t>it reduces traffic. </a:t>
            </a:r>
          </a:p>
          <a:p>
            <a:pPr lvl="1"/>
            <a:r>
              <a:rPr lang="en-US" dirty="0"/>
              <a:t>The receiver does not have to acknowledge each segment. </a:t>
            </a:r>
          </a:p>
          <a:p>
            <a:r>
              <a:rPr lang="en-US" dirty="0"/>
              <a:t>There also is a </a:t>
            </a:r>
            <a:r>
              <a:rPr lang="en-US" b="1" dirty="0"/>
              <a:t>disadvantage </a:t>
            </a:r>
            <a:r>
              <a:rPr lang="en-US" dirty="0"/>
              <a:t>in that the delayed acknowledgment may result in the sender unnecessarily retransmitting the unacknowledged segments.</a:t>
            </a:r>
          </a:p>
        </p:txBody>
      </p:sp>
    </p:spTree>
    <p:extLst>
      <p:ext uri="{BB962C8B-B14F-4D97-AF65-F5344CB8AC3E}">
        <p14:creationId xmlns:p14="http://schemas.microsoft.com/office/powerpoint/2010/main" val="3202225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B1502-55C7-C962-2D68-1C1213CC6940}"/>
              </a:ext>
            </a:extLst>
          </p:cNvPr>
          <p:cNvSpPr>
            <a:spLocks noGrp="1"/>
          </p:cNvSpPr>
          <p:nvPr>
            <p:ph type="title"/>
          </p:nvPr>
        </p:nvSpPr>
        <p:spPr/>
        <p:txBody>
          <a:bodyPr/>
          <a:lstStyle/>
          <a:p>
            <a:r>
              <a:rPr lang="en-US" dirty="0"/>
              <a:t>24.3.9</a:t>
            </a:r>
            <a:br>
              <a:rPr lang="en-US" dirty="0"/>
            </a:br>
            <a:r>
              <a:rPr lang="en-US"/>
              <a:t>Congestion Control</a:t>
            </a:r>
          </a:p>
        </p:txBody>
      </p:sp>
      <p:sp>
        <p:nvSpPr>
          <p:cNvPr id="3" name="Content Placeholder 2">
            <a:extLst>
              <a:ext uri="{FF2B5EF4-FFF2-40B4-BE49-F238E27FC236}">
                <a16:creationId xmlns:a16="http://schemas.microsoft.com/office/drawing/2014/main" id="{EBA28B35-9784-5949-E8C5-6245036CD2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4259948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290</TotalTime>
  <Words>4874</Words>
  <Application>Microsoft Office PowerPoint</Application>
  <PresentationFormat>Widescreen</PresentationFormat>
  <Paragraphs>305</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Century Gothic</vt:lpstr>
      <vt:lpstr>NimbusRomNo9L</vt:lpstr>
      <vt:lpstr>Wingdings 3</vt:lpstr>
      <vt:lpstr>Wisp</vt:lpstr>
      <vt:lpstr>TRANSMISSION CONTROL PROTOCOL </vt:lpstr>
      <vt:lpstr>Transmission Control Protocol (TCP)</vt:lpstr>
      <vt:lpstr>24.3.1  TCP Services</vt:lpstr>
      <vt:lpstr>TCP Services  Stream Delivery Service </vt:lpstr>
      <vt:lpstr>TCP Services  Sending and Receiving Buffers</vt:lpstr>
      <vt:lpstr>PowerPoint Presentation</vt:lpstr>
      <vt:lpstr>PowerPoint Presentation</vt:lpstr>
      <vt:lpstr>TCP Services   Other Services</vt:lpstr>
      <vt:lpstr>24.3.2  TCP Features</vt:lpstr>
      <vt:lpstr>TCP Features   Numbering System</vt:lpstr>
      <vt:lpstr>Numbering System  Byte Number</vt:lpstr>
      <vt:lpstr>Numbering System  Sequence Number</vt:lpstr>
      <vt:lpstr>Numbering System  Acknowledgment Number</vt:lpstr>
      <vt:lpstr>TCP Features   Encapsulation</vt:lpstr>
      <vt:lpstr>24.3.4  A TCP Connection (TCP is connection-oriented)</vt:lpstr>
      <vt:lpstr>A TCP Connection   Connection Establishment</vt:lpstr>
      <vt:lpstr>A TCP Connection    Connection Establishment       Three-Way Handshaking</vt:lpstr>
      <vt:lpstr>Three-way handshaking process</vt:lpstr>
      <vt:lpstr>Step 1 Connection </vt:lpstr>
      <vt:lpstr>Step 2 Connection</vt:lpstr>
      <vt:lpstr>Step 3  Connection</vt:lpstr>
      <vt:lpstr>A TCP Connection    Connection Establishment     SYN Flooding Attack </vt:lpstr>
      <vt:lpstr>A TCP Connection  Data Transfer</vt:lpstr>
      <vt:lpstr>Data Transfer  Example</vt:lpstr>
      <vt:lpstr>Data Transfer  Pushing Data </vt:lpstr>
      <vt:lpstr>Data Transfer  Pushing Data(Conti….)</vt:lpstr>
      <vt:lpstr>A TCP Connection   Connection Termination </vt:lpstr>
      <vt:lpstr>Connection Termination  Three-Way Handshaking </vt:lpstr>
      <vt:lpstr>Step 1 Connection Termination </vt:lpstr>
      <vt:lpstr>Step 2 Connection Termination </vt:lpstr>
      <vt:lpstr>Step 3 Connection Termination </vt:lpstr>
      <vt:lpstr>Connection Termination   Four-way Handshaking      Half-Close</vt:lpstr>
      <vt:lpstr>Connection Termination   Four-way Handshaking      Half-Close</vt:lpstr>
      <vt:lpstr>A TCP Connection   Connection Reset </vt:lpstr>
      <vt:lpstr>24.3.7  Flow Control</vt:lpstr>
      <vt:lpstr>Flow Control</vt:lpstr>
      <vt:lpstr>Silly Window Syndrome</vt:lpstr>
      <vt:lpstr>Problem and Solution to silly window</vt:lpstr>
      <vt:lpstr>Solution for Sender side</vt:lpstr>
      <vt:lpstr>Syndrome Created by the Receiver</vt:lpstr>
      <vt:lpstr>Solution to Receiver silly window</vt:lpstr>
      <vt:lpstr>24.3.9 Congestion 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TRANSMISSION CONTROL PROTOCOL </dc:title>
  <dc:creator>Hasan Shah</dc:creator>
  <cp:lastModifiedBy>Hasan Shah</cp:lastModifiedBy>
  <cp:revision>37</cp:revision>
  <dcterms:created xsi:type="dcterms:W3CDTF">2024-05-17T05:53:09Z</dcterms:created>
  <dcterms:modified xsi:type="dcterms:W3CDTF">2024-12-08T16:16:17Z</dcterms:modified>
</cp:coreProperties>
</file>