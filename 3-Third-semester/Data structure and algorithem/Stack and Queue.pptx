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96" r:id="rId19"/>
    <p:sldId id="297" r:id="rId20"/>
    <p:sldId id="298" r:id="rId21"/>
    <p:sldId id="299" r:id="rId22"/>
    <p:sldId id="300" r:id="rId23"/>
    <p:sldId id="301" r:id="rId24"/>
    <p:sldId id="302" r:id="rId25"/>
    <p:sldId id="303" r:id="rId26"/>
    <p:sldId id="304" r:id="rId27"/>
    <p:sldId id="273" r:id="rId28"/>
    <p:sldId id="274" r:id="rId29"/>
    <p:sldId id="275" r:id="rId30"/>
    <p:sldId id="276" r:id="rId31"/>
    <p:sldId id="277" r:id="rId32"/>
    <p:sldId id="278" r:id="rId33"/>
    <p:sldId id="279" r:id="rId34"/>
    <p:sldId id="280" r:id="rId35"/>
    <p:sldId id="281" r:id="rId36"/>
    <p:sldId id="295"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3"/>
  </p:normalViewPr>
  <p:slideViewPr>
    <p:cSldViewPr snapToGrid="0" snapToObjects="1">
      <p:cViewPr varScale="1">
        <p:scale>
          <a:sx n="84" d="100"/>
          <a:sy n="84" d="100"/>
        </p:scale>
        <p:origin x="7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9445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61493-9DD8-5EB2-E601-701E181681ED}"/>
              </a:ext>
            </a:extLst>
          </p:cNvPr>
          <p:cNvSpPr txBox="1"/>
          <p:nvPr/>
        </p:nvSpPr>
        <p:spPr>
          <a:xfrm>
            <a:off x="702129" y="424544"/>
            <a:ext cx="7658100" cy="4524315"/>
          </a:xfrm>
          <a:prstGeom prst="rect">
            <a:avLst/>
          </a:prstGeom>
          <a:noFill/>
        </p:spPr>
        <p:txBody>
          <a:bodyPr wrap="square" rtlCol="0">
            <a:spAutoFit/>
          </a:bodyPr>
          <a:lstStyle/>
          <a:p>
            <a:pPr marL="285750" indent="-285750">
              <a:buFont typeface="Arial" panose="020B0604020202020204" pitchFamily="34" charset="0"/>
              <a:buChar char="•"/>
            </a:pPr>
            <a:r>
              <a:rPr lang="en-US" b="0" i="0" dirty="0">
                <a:solidFill>
                  <a:srgbClr val="333333"/>
                </a:solidFill>
                <a:effectLst/>
                <a:latin typeface="inter-regular"/>
              </a:rPr>
              <a:t>An expression consists of constants, variables, and symbols. Symbols can be operators or parenthesis. </a:t>
            </a:r>
          </a:p>
          <a:p>
            <a:endParaRPr lang="en-US" b="0" i="0" dirty="0">
              <a:solidFill>
                <a:srgbClr val="333333"/>
              </a:solidFill>
              <a:effectLst/>
              <a:latin typeface="inter-regular"/>
            </a:endParaRPr>
          </a:p>
          <a:p>
            <a:pPr marL="285750" indent="-285750">
              <a:buFont typeface="Arial" panose="020B0604020202020204" pitchFamily="34" charset="0"/>
              <a:buChar char="•"/>
            </a:pPr>
            <a:r>
              <a:rPr lang="en-US" b="0" i="0" dirty="0">
                <a:solidFill>
                  <a:srgbClr val="333333"/>
                </a:solidFill>
                <a:effectLst/>
                <a:latin typeface="inter-regular"/>
              </a:rPr>
              <a:t>All these components must be arranged according to a set of rules so that all these expressions can be evaluated using the set of rules.</a:t>
            </a:r>
          </a:p>
          <a:p>
            <a:endParaRPr lang="en-US" dirty="0">
              <a:solidFill>
                <a:srgbClr val="333333"/>
              </a:solidFill>
              <a:latin typeface="inter-regular"/>
            </a:endParaRPr>
          </a:p>
          <a:p>
            <a:pPr algn="just"/>
            <a:r>
              <a:rPr lang="en-US" b="1" i="0" dirty="0">
                <a:solidFill>
                  <a:srgbClr val="333333"/>
                </a:solidFill>
                <a:effectLst/>
                <a:latin typeface="inter-bold"/>
              </a:rPr>
              <a:t>Examples of expressions are:</a:t>
            </a:r>
            <a:endParaRPr lang="en-US" b="0" i="0" dirty="0">
              <a:solidFill>
                <a:srgbClr val="333333"/>
              </a:solidFill>
              <a:effectLst/>
              <a:latin typeface="inter-regular"/>
            </a:endParaRPr>
          </a:p>
          <a:p>
            <a:pPr algn="just"/>
            <a:r>
              <a:rPr lang="en-US" b="1" i="0" dirty="0">
                <a:solidFill>
                  <a:srgbClr val="333333"/>
                </a:solidFill>
                <a:effectLst/>
                <a:latin typeface="inter-bold"/>
              </a:rPr>
              <a:t>5 + 6</a:t>
            </a:r>
            <a:endParaRPr lang="en-US" b="0" i="0" dirty="0">
              <a:solidFill>
                <a:srgbClr val="333333"/>
              </a:solidFill>
              <a:effectLst/>
              <a:latin typeface="inter-regular"/>
            </a:endParaRPr>
          </a:p>
          <a:p>
            <a:pPr algn="just"/>
            <a:r>
              <a:rPr lang="en-US" b="1" i="0" dirty="0">
                <a:solidFill>
                  <a:srgbClr val="333333"/>
                </a:solidFill>
                <a:effectLst/>
                <a:latin typeface="inter-bold"/>
              </a:rPr>
              <a:t>A - B</a:t>
            </a:r>
            <a:endParaRPr lang="en-US" b="0" i="0" dirty="0">
              <a:solidFill>
                <a:srgbClr val="333333"/>
              </a:solidFill>
              <a:effectLst/>
              <a:latin typeface="inter-regular"/>
            </a:endParaRPr>
          </a:p>
          <a:p>
            <a:pPr algn="just"/>
            <a:r>
              <a:rPr lang="en-US" b="1" i="0" dirty="0">
                <a:solidFill>
                  <a:srgbClr val="333333"/>
                </a:solidFill>
                <a:effectLst/>
                <a:latin typeface="inter-bold"/>
              </a:rPr>
              <a:t>(P * 5)</a:t>
            </a:r>
          </a:p>
          <a:p>
            <a:pPr algn="just"/>
            <a:endParaRPr lang="en-US" b="0" i="0" dirty="0">
              <a:solidFill>
                <a:srgbClr val="333333"/>
              </a:solidFill>
              <a:effectLst/>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All the above expressions have a common structure, i.e., we have an operator between the two operands. An Operand is an object or a value on which the operation is to be performed. In the above expressions, 5, 6 are the operands while '+', '-', and '*' are the operators.</a:t>
            </a:r>
          </a:p>
          <a:p>
            <a:endParaRPr lang="en-US" dirty="0"/>
          </a:p>
        </p:txBody>
      </p:sp>
    </p:spTree>
    <p:extLst>
      <p:ext uri="{BB962C8B-B14F-4D97-AF65-F5344CB8AC3E}">
        <p14:creationId xmlns:p14="http://schemas.microsoft.com/office/powerpoint/2010/main" val="3255740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10E822-104C-739A-0F45-DC9FABBAF644}"/>
              </a:ext>
            </a:extLst>
          </p:cNvPr>
          <p:cNvSpPr txBox="1"/>
          <p:nvPr/>
        </p:nvSpPr>
        <p:spPr>
          <a:xfrm>
            <a:off x="465364" y="449036"/>
            <a:ext cx="8229600" cy="2862322"/>
          </a:xfrm>
          <a:prstGeom prst="rect">
            <a:avLst/>
          </a:prstGeom>
          <a:noFill/>
        </p:spPr>
        <p:txBody>
          <a:bodyPr wrap="square" rtlCol="0">
            <a:spAutoFit/>
          </a:bodyPr>
          <a:lstStyle/>
          <a:p>
            <a:pPr algn="ctr"/>
            <a:r>
              <a:rPr lang="en-US" b="1" dirty="0"/>
              <a:t>What is infix notation?</a:t>
            </a:r>
          </a:p>
          <a:p>
            <a:pPr marL="285750" indent="-285750">
              <a:buFont typeface="Arial" panose="020B0604020202020204" pitchFamily="34" charset="0"/>
              <a:buChar char="•"/>
            </a:pPr>
            <a:r>
              <a:rPr lang="en-US" dirty="0"/>
              <a:t>When the operator is written in between the operands, then it is known as infix notation. Operand does not have to be always a constant or a variable; it can also be an expression itself.</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there are multiple operators involved in an expression, we have to remember their precedence.</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p:txBody>
      </p:sp>
      <p:graphicFrame>
        <p:nvGraphicFramePr>
          <p:cNvPr id="3" name="Table 2">
            <a:extLst>
              <a:ext uri="{FF2B5EF4-FFF2-40B4-BE49-F238E27FC236}">
                <a16:creationId xmlns:a16="http://schemas.microsoft.com/office/drawing/2014/main" id="{631D8BD1-B56D-BAD1-FA3F-C172DC79F6A2}"/>
              </a:ext>
            </a:extLst>
          </p:cNvPr>
          <p:cNvGraphicFramePr>
            <a:graphicFrameLocks noGrp="1"/>
          </p:cNvGraphicFramePr>
          <p:nvPr>
            <p:extLst>
              <p:ext uri="{D42A27DB-BD31-4B8C-83A1-F6EECF244321}">
                <p14:modId xmlns:p14="http://schemas.microsoft.com/office/powerpoint/2010/main" val="1450552164"/>
              </p:ext>
            </p:extLst>
          </p:nvPr>
        </p:nvGraphicFramePr>
        <p:xfrm>
          <a:off x="1346199" y="2554817"/>
          <a:ext cx="6409268" cy="2437734"/>
        </p:xfrm>
        <a:graphic>
          <a:graphicData uri="http://schemas.openxmlformats.org/drawingml/2006/table">
            <a:tbl>
              <a:tblPr/>
              <a:tblGrid>
                <a:gridCol w="3204634">
                  <a:extLst>
                    <a:ext uri="{9D8B030D-6E8A-4147-A177-3AD203B41FA5}">
                      <a16:colId xmlns:a16="http://schemas.microsoft.com/office/drawing/2014/main" val="3385577994"/>
                    </a:ext>
                  </a:extLst>
                </a:gridCol>
                <a:gridCol w="3204634">
                  <a:extLst>
                    <a:ext uri="{9D8B030D-6E8A-4147-A177-3AD203B41FA5}">
                      <a16:colId xmlns:a16="http://schemas.microsoft.com/office/drawing/2014/main" val="713657226"/>
                    </a:ext>
                  </a:extLst>
                </a:gridCol>
              </a:tblGrid>
              <a:tr h="413166">
                <a:tc>
                  <a:txBody>
                    <a:bodyPr/>
                    <a:lstStyle/>
                    <a:p>
                      <a:pPr algn="l" fontAlgn="t"/>
                      <a:r>
                        <a:rPr lang="en-US">
                          <a:solidFill>
                            <a:srgbClr val="000000"/>
                          </a:solidFill>
                          <a:effectLst/>
                          <a:latin typeface="times new roman" panose="02020603050405020304" pitchFamily="18" charset="0"/>
                        </a:rPr>
                        <a:t>Operators</a:t>
                      </a:r>
                    </a:p>
                  </a:txBody>
                  <a:tcPr marL="76200" marR="76200" marT="76200" marB="76200">
                    <a:lnL w="6350" cap="flat" cmpd="sng" algn="ctr">
                      <a:solidFill>
                        <a:srgbClr val="607A78"/>
                      </a:solidFill>
                      <a:prstDash val="solid"/>
                      <a:round/>
                      <a:headEnd type="none" w="med" len="med"/>
                      <a:tailEnd type="none" w="med" len="med"/>
                    </a:lnL>
                    <a:lnR w="6350" cap="flat" cmpd="sng" algn="ctr">
                      <a:solidFill>
                        <a:srgbClr val="607A78"/>
                      </a:solidFill>
                      <a:prstDash val="solid"/>
                      <a:round/>
                      <a:headEnd type="none" w="med" len="med"/>
                      <a:tailEnd type="none" w="med" len="med"/>
                    </a:lnR>
                    <a:lnT w="6350" cap="flat" cmpd="sng" algn="ctr">
                      <a:solidFill>
                        <a:srgbClr val="607A78"/>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US" dirty="0">
                          <a:solidFill>
                            <a:srgbClr val="000000"/>
                          </a:solidFill>
                          <a:effectLst/>
                          <a:latin typeface="times new roman" panose="02020603050405020304" pitchFamily="18" charset="0"/>
                        </a:rPr>
                        <a:t>Symbols</a:t>
                      </a:r>
                    </a:p>
                  </a:txBody>
                  <a:tcPr marL="76200" marR="76200" marT="76200" marB="76200">
                    <a:lnL w="6350" cap="flat" cmpd="sng" algn="ctr">
                      <a:solidFill>
                        <a:srgbClr val="607A78"/>
                      </a:solidFill>
                      <a:prstDash val="solid"/>
                      <a:round/>
                      <a:headEnd type="none" w="med" len="med"/>
                      <a:tailEnd type="none" w="med" len="med"/>
                    </a:lnL>
                    <a:lnR w="6350" cap="flat" cmpd="sng" algn="ctr">
                      <a:solidFill>
                        <a:srgbClr val="607A78"/>
                      </a:solidFill>
                      <a:prstDash val="solid"/>
                      <a:round/>
                      <a:headEnd type="none" w="med" len="med"/>
                      <a:tailEnd type="none" w="med" len="med"/>
                    </a:lnR>
                    <a:lnT w="6350" cap="flat" cmpd="sng" algn="ctr">
                      <a:solidFill>
                        <a:srgbClr val="607A78"/>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124492597"/>
                  </a:ext>
                </a:extLst>
              </a:tr>
              <a:tr h="363980">
                <a:tc>
                  <a:txBody>
                    <a:bodyPr/>
                    <a:lstStyle/>
                    <a:p>
                      <a:pPr algn="just" fontAlgn="t"/>
                      <a:r>
                        <a:rPr lang="en-US" dirty="0">
                          <a:solidFill>
                            <a:srgbClr val="333333"/>
                          </a:solidFill>
                          <a:effectLst/>
                          <a:latin typeface="inter-regular"/>
                        </a:rPr>
                        <a:t>Parenthesis</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inter-regular"/>
                        </a:rPr>
                        <a:t>( ), {}, [ ]   (L-R)</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51307279"/>
                  </a:ext>
                </a:extLst>
              </a:tr>
              <a:tr h="363980">
                <a:tc>
                  <a:txBody>
                    <a:bodyPr/>
                    <a:lstStyle/>
                    <a:p>
                      <a:pPr algn="just" fontAlgn="t"/>
                      <a:r>
                        <a:rPr lang="en-US">
                          <a:solidFill>
                            <a:srgbClr val="333333"/>
                          </a:solidFill>
                          <a:effectLst/>
                          <a:latin typeface="inter-regular"/>
                        </a:rPr>
                        <a:t>Exponents</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inter-regular"/>
                        </a:rPr>
                        <a:t>^               (R-L)</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794160473"/>
                  </a:ext>
                </a:extLst>
              </a:tr>
              <a:tr h="629587">
                <a:tc>
                  <a:txBody>
                    <a:bodyPr/>
                    <a:lstStyle/>
                    <a:p>
                      <a:pPr algn="just" fontAlgn="t"/>
                      <a:r>
                        <a:rPr lang="en-US" dirty="0">
                          <a:solidFill>
                            <a:srgbClr val="333333"/>
                          </a:solidFill>
                          <a:effectLst/>
                          <a:latin typeface="inter-regular"/>
                        </a:rPr>
                        <a:t>Multiplication and Division</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inter-regular"/>
                        </a:rPr>
                        <a:t>*, /           (L-R)</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260806760"/>
                  </a:ext>
                </a:extLst>
              </a:tr>
              <a:tr h="629587">
                <a:tc>
                  <a:txBody>
                    <a:bodyPr/>
                    <a:lstStyle/>
                    <a:p>
                      <a:pPr algn="just" fontAlgn="t"/>
                      <a:r>
                        <a:rPr lang="en-US">
                          <a:solidFill>
                            <a:srgbClr val="333333"/>
                          </a:solidFill>
                          <a:effectLst/>
                          <a:latin typeface="inter-regular"/>
                        </a:rPr>
                        <a:t>Addition and Subtraction</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inter-regular"/>
                        </a:rPr>
                        <a:t>+ , -           (L-R)</a:t>
                      </a:r>
                    </a:p>
                  </a:txBody>
                  <a:tcPr marL="50800" marR="50800" marT="50800" marB="50800">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1150495"/>
                  </a:ext>
                </a:extLst>
              </a:tr>
            </a:tbl>
          </a:graphicData>
        </a:graphic>
      </p:graphicFrame>
    </p:spTree>
    <p:extLst>
      <p:ext uri="{BB962C8B-B14F-4D97-AF65-F5344CB8AC3E}">
        <p14:creationId xmlns:p14="http://schemas.microsoft.com/office/powerpoint/2010/main" val="682951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06836-6399-2D36-CE67-1202F9C48944}"/>
              </a:ext>
            </a:extLst>
          </p:cNvPr>
          <p:cNvSpPr txBox="1"/>
          <p:nvPr/>
        </p:nvSpPr>
        <p:spPr>
          <a:xfrm>
            <a:off x="431800" y="541867"/>
            <a:ext cx="8373533" cy="3970318"/>
          </a:xfrm>
          <a:prstGeom prst="rect">
            <a:avLst/>
          </a:prstGeom>
          <a:noFill/>
        </p:spPr>
        <p:txBody>
          <a:bodyPr wrap="square" rtlCol="0">
            <a:spAutoFit/>
          </a:bodyPr>
          <a:lstStyle/>
          <a:p>
            <a:pPr marL="285750" indent="-285750" algn="just">
              <a:buFont typeface="Arial" panose="020B0604020202020204" pitchFamily="34" charset="0"/>
              <a:buChar char="•"/>
            </a:pPr>
            <a:r>
              <a:rPr lang="en-US" b="0" i="0" dirty="0">
                <a:solidFill>
                  <a:srgbClr val="333333"/>
                </a:solidFill>
                <a:effectLst/>
                <a:latin typeface="inter-regular"/>
              </a:rPr>
              <a:t>The operators that have the same precedence termed as </a:t>
            </a:r>
            <a:r>
              <a:rPr lang="en-US" b="1" i="0" dirty="0">
                <a:solidFill>
                  <a:srgbClr val="333333"/>
                </a:solidFill>
                <a:effectLst/>
                <a:latin typeface="inter-bold"/>
              </a:rPr>
              <a:t>operator associativity</a:t>
            </a:r>
            <a:r>
              <a:rPr lang="en-US" b="0" i="0" dirty="0">
                <a:solidFill>
                  <a:srgbClr val="333333"/>
                </a:solidFill>
                <a:effectLst/>
                <a:latin typeface="inter-regular"/>
              </a:rPr>
              <a:t>. If we go from left to right, then it is known as left-associative. If we go from right to left, then it is known as right-associative.</a:t>
            </a:r>
          </a:p>
          <a:p>
            <a:pPr algn="just"/>
            <a:endParaRPr lang="en-US" b="0" i="0" dirty="0">
              <a:solidFill>
                <a:srgbClr val="333333"/>
              </a:solidFill>
              <a:effectLst/>
              <a:latin typeface="inter-regular"/>
            </a:endParaRPr>
          </a:p>
          <a:p>
            <a:r>
              <a:rPr lang="en-US" b="1" i="0" dirty="0">
                <a:solidFill>
                  <a:srgbClr val="333333"/>
                </a:solidFill>
                <a:effectLst/>
                <a:latin typeface="inter-regular"/>
              </a:rPr>
              <a:t>Problem with infix notation</a:t>
            </a:r>
          </a:p>
          <a:p>
            <a:pPr marL="285750" indent="-285750">
              <a:buFont typeface="Arial" panose="020B0604020202020204" pitchFamily="34" charset="0"/>
              <a:buChar char="•"/>
            </a:pPr>
            <a:r>
              <a:rPr lang="en-US" b="0" i="0" dirty="0">
                <a:solidFill>
                  <a:srgbClr val="333333"/>
                </a:solidFill>
                <a:effectLst/>
                <a:latin typeface="inter-regular"/>
              </a:rPr>
              <a:t>We have to remember operators precedence and associativity rules.</a:t>
            </a:r>
          </a:p>
          <a:p>
            <a:pPr marL="285750" indent="-285750">
              <a:buFont typeface="Arial" panose="020B0604020202020204" pitchFamily="34" charset="0"/>
              <a:buChar char="•"/>
            </a:pPr>
            <a:endParaRPr lang="en-US" dirty="0">
              <a:solidFill>
                <a:srgbClr val="333333"/>
              </a:solidFill>
              <a:latin typeface="inter-regular"/>
            </a:endParaRPr>
          </a:p>
          <a:p>
            <a:pPr marL="285750" indent="-285750" algn="just">
              <a:buFont typeface="Arial" panose="020B0604020202020204" pitchFamily="34" charset="0"/>
              <a:buChar char="•"/>
            </a:pPr>
            <a:r>
              <a:rPr lang="en-US" dirty="0">
                <a:solidFill>
                  <a:srgbClr val="333333"/>
                </a:solidFill>
                <a:latin typeface="inter-regular"/>
              </a:rPr>
              <a:t>M</a:t>
            </a:r>
            <a:r>
              <a:rPr lang="en-US" b="0" i="0" dirty="0">
                <a:solidFill>
                  <a:srgbClr val="333333"/>
                </a:solidFill>
                <a:effectLst/>
                <a:latin typeface="inter-regular"/>
              </a:rPr>
              <a:t>athematicians and logicians studied this problem and discovered two other ways of writing expressions which are prefix and postfix. Both expressions do not require any parenthesis and can be parsed without ambiguity. It does not require operator precedence and associativity rules.</a:t>
            </a:r>
          </a:p>
          <a:p>
            <a:endParaRPr lang="en-US" dirty="0">
              <a:solidFill>
                <a:srgbClr val="333333"/>
              </a:solidFill>
              <a:latin typeface="inter-regular"/>
            </a:endParaRPr>
          </a:p>
          <a:p>
            <a:endParaRPr lang="en-US" dirty="0">
              <a:solidFill>
                <a:srgbClr val="333333"/>
              </a:solidFill>
              <a:latin typeface="inter-regular"/>
            </a:endParaRPr>
          </a:p>
          <a:p>
            <a:endParaRPr lang="en-US" dirty="0"/>
          </a:p>
        </p:txBody>
      </p:sp>
    </p:spTree>
    <p:extLst>
      <p:ext uri="{BB962C8B-B14F-4D97-AF65-F5344CB8AC3E}">
        <p14:creationId xmlns:p14="http://schemas.microsoft.com/office/powerpoint/2010/main" val="1285156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F42E3B-8D54-564D-54D4-A0BD35B560DF}"/>
              </a:ext>
            </a:extLst>
          </p:cNvPr>
          <p:cNvSpPr txBox="1"/>
          <p:nvPr/>
        </p:nvSpPr>
        <p:spPr>
          <a:xfrm>
            <a:off x="375557" y="587829"/>
            <a:ext cx="8294914" cy="3416320"/>
          </a:xfrm>
          <a:prstGeom prst="rect">
            <a:avLst/>
          </a:prstGeom>
          <a:noFill/>
        </p:spPr>
        <p:txBody>
          <a:bodyPr wrap="square" rtlCol="0">
            <a:spAutoFit/>
          </a:bodyPr>
          <a:lstStyle/>
          <a:p>
            <a:pPr algn="ctr"/>
            <a:r>
              <a:rPr lang="en-US" b="1" dirty="0"/>
              <a:t>Postfix Expression</a:t>
            </a:r>
          </a:p>
          <a:p>
            <a:r>
              <a:rPr lang="en-US" b="0" i="0" dirty="0">
                <a:solidFill>
                  <a:srgbClr val="333333"/>
                </a:solidFill>
                <a:effectLst/>
                <a:latin typeface="inter-regular"/>
              </a:rPr>
              <a:t>The postfix expression is an expression in which the operator is written after the operands.</a:t>
            </a:r>
          </a:p>
          <a:p>
            <a:endParaRPr lang="en-US" b="1" i="0" dirty="0">
              <a:solidFill>
                <a:srgbClr val="333333"/>
              </a:solidFill>
              <a:effectLst/>
              <a:latin typeface="inter-regular"/>
            </a:endParaRPr>
          </a:p>
          <a:p>
            <a:r>
              <a:rPr lang="en-US" b="1" dirty="0">
                <a:solidFill>
                  <a:srgbClr val="333333"/>
                </a:solidFill>
                <a:latin typeface="inter-regular"/>
              </a:rPr>
              <a:t>Some key points regarding the postfix expression are:</a:t>
            </a:r>
          </a:p>
          <a:p>
            <a:pPr marL="285750" indent="-285750">
              <a:buFont typeface="Arial" panose="020B0604020202020204" pitchFamily="34" charset="0"/>
              <a:buChar char="•"/>
            </a:pPr>
            <a:r>
              <a:rPr lang="en-US" dirty="0">
                <a:solidFill>
                  <a:srgbClr val="333333"/>
                </a:solidFill>
                <a:latin typeface="inter-regular"/>
              </a:rPr>
              <a:t>In postfix expression, operations are performed in the order in which they have written from left to right.</a:t>
            </a:r>
          </a:p>
          <a:p>
            <a:pPr marL="285750" indent="-285750">
              <a:buFont typeface="Arial" panose="020B0604020202020204" pitchFamily="34" charset="0"/>
              <a:buChar char="•"/>
            </a:pPr>
            <a:endParaRPr lang="en-US" dirty="0">
              <a:solidFill>
                <a:srgbClr val="333333"/>
              </a:solidFill>
              <a:latin typeface="inter-regular"/>
            </a:endParaRPr>
          </a:p>
          <a:p>
            <a:pPr marL="285750" indent="-285750">
              <a:buFont typeface="Arial" panose="020B0604020202020204" pitchFamily="34" charset="0"/>
              <a:buChar char="•"/>
            </a:pPr>
            <a:r>
              <a:rPr lang="en-US" dirty="0">
                <a:solidFill>
                  <a:srgbClr val="333333"/>
                </a:solidFill>
                <a:latin typeface="inter-regular"/>
              </a:rPr>
              <a:t>It does not any require any parenthesis.</a:t>
            </a:r>
          </a:p>
          <a:p>
            <a:pPr marL="285750" indent="-285750">
              <a:buFont typeface="Arial" panose="020B0604020202020204" pitchFamily="34" charset="0"/>
              <a:buChar char="•"/>
            </a:pPr>
            <a:endParaRPr lang="en-US" dirty="0">
              <a:solidFill>
                <a:srgbClr val="333333"/>
              </a:solidFill>
              <a:latin typeface="inter-regular"/>
            </a:endParaRPr>
          </a:p>
          <a:p>
            <a:pPr marL="285750" indent="-285750">
              <a:buFont typeface="Arial" panose="020B0604020202020204" pitchFamily="34" charset="0"/>
              <a:buChar char="•"/>
            </a:pPr>
            <a:r>
              <a:rPr lang="en-US" dirty="0">
                <a:solidFill>
                  <a:srgbClr val="333333"/>
                </a:solidFill>
                <a:latin typeface="inter-regular"/>
              </a:rPr>
              <a:t>We do not need to apply operator precedence rules and associativity rules.</a:t>
            </a:r>
          </a:p>
          <a:p>
            <a:endParaRPr lang="en-US" b="1" dirty="0"/>
          </a:p>
        </p:txBody>
      </p:sp>
    </p:spTree>
    <p:extLst>
      <p:ext uri="{BB962C8B-B14F-4D97-AF65-F5344CB8AC3E}">
        <p14:creationId xmlns:p14="http://schemas.microsoft.com/office/powerpoint/2010/main" val="1644060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AA03FA-8B81-99AF-1D1A-FC665661F218}"/>
              </a:ext>
            </a:extLst>
          </p:cNvPr>
          <p:cNvSpPr txBox="1"/>
          <p:nvPr/>
        </p:nvSpPr>
        <p:spPr>
          <a:xfrm>
            <a:off x="653143" y="506186"/>
            <a:ext cx="8017328" cy="2862322"/>
          </a:xfrm>
          <a:prstGeom prst="rect">
            <a:avLst/>
          </a:prstGeom>
          <a:noFill/>
        </p:spPr>
        <p:txBody>
          <a:bodyPr wrap="square" rtlCol="0">
            <a:spAutoFit/>
          </a:bodyPr>
          <a:lstStyle/>
          <a:p>
            <a:pPr algn="ctr"/>
            <a:r>
              <a:rPr lang="en-US" b="1" dirty="0"/>
              <a:t>Evaluation of postfix expression using stack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Scan the expression from left to right.</a:t>
            </a:r>
          </a:p>
          <a:p>
            <a:pPr marL="285750" indent="-285750">
              <a:buFont typeface="Arial" panose="020B0604020202020204" pitchFamily="34" charset="0"/>
              <a:buChar char="•"/>
            </a:pPr>
            <a:r>
              <a:rPr lang="en-US" dirty="0"/>
              <a:t>If we encounter any operand in the expression, then we push the operand in the stack.</a:t>
            </a:r>
          </a:p>
          <a:p>
            <a:pPr marL="285750" indent="-285750">
              <a:buFont typeface="Arial" panose="020B0604020202020204" pitchFamily="34" charset="0"/>
              <a:buChar char="•"/>
            </a:pPr>
            <a:r>
              <a:rPr lang="en-US" dirty="0"/>
              <a:t>When we encounter any operator in the expression, then we pop the corresponding operands from the stack.</a:t>
            </a:r>
          </a:p>
          <a:p>
            <a:pPr marL="285750" indent="-285750">
              <a:buFont typeface="Arial" panose="020B0604020202020204" pitchFamily="34" charset="0"/>
              <a:buChar char="•"/>
            </a:pPr>
            <a:r>
              <a:rPr lang="en-US" dirty="0"/>
              <a:t>When we finish with the scanning of the expression, the final value remains in the stack.</a:t>
            </a:r>
          </a:p>
          <a:p>
            <a:endParaRPr lang="en-US" dirty="0"/>
          </a:p>
        </p:txBody>
      </p:sp>
    </p:spTree>
    <p:extLst>
      <p:ext uri="{BB962C8B-B14F-4D97-AF65-F5344CB8AC3E}">
        <p14:creationId xmlns:p14="http://schemas.microsoft.com/office/powerpoint/2010/main" val="1698491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53A31C3-F459-1F09-4B10-CDC2325C886D}"/>
              </a:ext>
            </a:extLst>
          </p:cNvPr>
          <p:cNvPicPr>
            <a:picLocks noChangeAspect="1"/>
          </p:cNvPicPr>
          <p:nvPr/>
        </p:nvPicPr>
        <p:blipFill>
          <a:blip r:embed="rId2"/>
          <a:stretch>
            <a:fillRect/>
          </a:stretch>
        </p:blipFill>
        <p:spPr>
          <a:xfrm>
            <a:off x="1289050" y="408213"/>
            <a:ext cx="6565900" cy="4376057"/>
          </a:xfrm>
          <a:prstGeom prst="rect">
            <a:avLst/>
          </a:prstGeom>
        </p:spPr>
      </p:pic>
    </p:spTree>
    <p:extLst>
      <p:ext uri="{BB962C8B-B14F-4D97-AF65-F5344CB8AC3E}">
        <p14:creationId xmlns:p14="http://schemas.microsoft.com/office/powerpoint/2010/main" val="327858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FD413-27FC-77CD-2C42-77DF5B8DEFFC}"/>
              </a:ext>
            </a:extLst>
          </p:cNvPr>
          <p:cNvSpPr txBox="1"/>
          <p:nvPr/>
        </p:nvSpPr>
        <p:spPr>
          <a:xfrm>
            <a:off x="375557" y="489857"/>
            <a:ext cx="8482693" cy="4124206"/>
          </a:xfrm>
          <a:prstGeom prst="rect">
            <a:avLst/>
          </a:prstGeom>
          <a:noFill/>
        </p:spPr>
        <p:txBody>
          <a:bodyPr wrap="square" rtlCol="0">
            <a:spAutoFit/>
          </a:bodyPr>
          <a:lstStyle/>
          <a:p>
            <a:pPr algn="ctr"/>
            <a:r>
              <a:rPr lang="en-US" b="1" dirty="0"/>
              <a:t>Conversion of infix to postfix</a:t>
            </a:r>
          </a:p>
          <a:p>
            <a:pPr algn="just"/>
            <a:r>
              <a:rPr lang="en-US" b="1" i="0" dirty="0">
                <a:solidFill>
                  <a:srgbClr val="333333"/>
                </a:solidFill>
                <a:effectLst/>
                <a:latin typeface="inter-bold"/>
              </a:rPr>
              <a:t>Rules for the conversion from infix to postfix expression</a:t>
            </a:r>
            <a:endParaRPr lang="en-US" b="0" i="0" dirty="0">
              <a:solidFill>
                <a:srgbClr val="333333"/>
              </a:solidFill>
              <a:effectLst/>
              <a:latin typeface="inter-regular"/>
            </a:endParaRPr>
          </a:p>
          <a:p>
            <a:pPr algn="just">
              <a:buFont typeface="+mj-lt"/>
              <a:buAutoNum type="arabicPeriod"/>
            </a:pPr>
            <a:r>
              <a:rPr lang="en-US" sz="1600" b="0" i="0" dirty="0">
                <a:solidFill>
                  <a:srgbClr val="000000"/>
                </a:solidFill>
                <a:effectLst/>
                <a:latin typeface="inter-regular"/>
              </a:rPr>
              <a:t>Print the operand as they arrive.</a:t>
            </a:r>
          </a:p>
          <a:p>
            <a:pPr algn="just">
              <a:buFont typeface="+mj-lt"/>
              <a:buAutoNum type="arabicPeriod"/>
            </a:pPr>
            <a:r>
              <a:rPr lang="en-US" sz="1600" b="0" i="0" dirty="0">
                <a:solidFill>
                  <a:srgbClr val="000000"/>
                </a:solidFill>
                <a:effectLst/>
                <a:latin typeface="inter-regular"/>
              </a:rPr>
              <a:t>If the stack is empty or contains a left parenthesis on top, push the incoming operator on to the stack.</a:t>
            </a:r>
          </a:p>
          <a:p>
            <a:pPr algn="just">
              <a:buFont typeface="+mj-lt"/>
              <a:buAutoNum type="arabicPeriod"/>
            </a:pPr>
            <a:r>
              <a:rPr lang="en-US" sz="1600" b="0" i="0" dirty="0">
                <a:solidFill>
                  <a:srgbClr val="000000"/>
                </a:solidFill>
                <a:effectLst/>
                <a:latin typeface="inter-regular"/>
              </a:rPr>
              <a:t>If the incoming symbol is '(', push it on to the stack.</a:t>
            </a:r>
          </a:p>
          <a:p>
            <a:pPr algn="just">
              <a:buFont typeface="+mj-lt"/>
              <a:buAutoNum type="arabicPeriod"/>
            </a:pPr>
            <a:r>
              <a:rPr lang="en-US" sz="1600" b="0" i="0" dirty="0">
                <a:solidFill>
                  <a:srgbClr val="000000"/>
                </a:solidFill>
                <a:effectLst/>
                <a:latin typeface="inter-regular"/>
              </a:rPr>
              <a:t>If the incoming symbol is ')', pop the stack and print the operators until the left parenthesis is found.</a:t>
            </a:r>
          </a:p>
          <a:p>
            <a:pPr algn="just">
              <a:buFont typeface="+mj-lt"/>
              <a:buAutoNum type="arabicPeriod"/>
            </a:pPr>
            <a:r>
              <a:rPr lang="en-US" sz="1600" b="0" i="0" dirty="0">
                <a:solidFill>
                  <a:srgbClr val="000000"/>
                </a:solidFill>
                <a:effectLst/>
                <a:latin typeface="inter-regular"/>
              </a:rPr>
              <a:t>If the incoming symbol has higher precedence than the top of the stack, push it on the stack.</a:t>
            </a:r>
          </a:p>
          <a:p>
            <a:pPr algn="just">
              <a:buFont typeface="+mj-lt"/>
              <a:buAutoNum type="arabicPeriod"/>
            </a:pPr>
            <a:r>
              <a:rPr lang="en-US" sz="1600" b="0" i="0" dirty="0">
                <a:solidFill>
                  <a:srgbClr val="000000"/>
                </a:solidFill>
                <a:effectLst/>
                <a:latin typeface="inter-regular"/>
              </a:rPr>
              <a:t>If the incoming symbol has lower precedence than the top of the stack, pop and print the top of the stack. Then test the incoming operator against the new top of the stack.</a:t>
            </a:r>
          </a:p>
          <a:p>
            <a:pPr algn="just">
              <a:buFont typeface="+mj-lt"/>
              <a:buAutoNum type="arabicPeriod"/>
            </a:pPr>
            <a:r>
              <a:rPr lang="en-US" sz="1600" b="0" i="0" dirty="0">
                <a:solidFill>
                  <a:srgbClr val="000000"/>
                </a:solidFill>
                <a:effectLst/>
                <a:latin typeface="inter-regular"/>
              </a:rPr>
              <a:t>If the incoming operator has the same precedence with the top of the stack then use the associativity rules. If the associativity is from left to right then pop and print the top of the stack then push the incoming operator. If the associativity is from right to left then push the incoming operator.</a:t>
            </a:r>
          </a:p>
          <a:p>
            <a:pPr algn="just">
              <a:buFont typeface="+mj-lt"/>
              <a:buAutoNum type="arabicPeriod"/>
            </a:pPr>
            <a:r>
              <a:rPr lang="en-US" sz="1600" b="0" i="0" dirty="0">
                <a:solidFill>
                  <a:srgbClr val="000000"/>
                </a:solidFill>
                <a:effectLst/>
                <a:latin typeface="inter-regular"/>
              </a:rPr>
              <a:t>At the end of the expression, pop and print all the operators of the stack.</a:t>
            </a:r>
          </a:p>
          <a:p>
            <a:endParaRPr lang="en-US" b="1" dirty="0"/>
          </a:p>
        </p:txBody>
      </p:sp>
    </p:spTree>
    <p:extLst>
      <p:ext uri="{BB962C8B-B14F-4D97-AF65-F5344CB8AC3E}">
        <p14:creationId xmlns:p14="http://schemas.microsoft.com/office/powerpoint/2010/main" val="952798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202216-BBD9-FA15-A82C-3391E0B6948C}"/>
              </a:ext>
            </a:extLst>
          </p:cNvPr>
          <p:cNvSpPr txBox="1"/>
          <p:nvPr/>
        </p:nvSpPr>
        <p:spPr>
          <a:xfrm>
            <a:off x="718457" y="628650"/>
            <a:ext cx="7666264" cy="4524315"/>
          </a:xfrm>
          <a:prstGeom prst="rect">
            <a:avLst/>
          </a:prstGeom>
          <a:noFill/>
        </p:spPr>
        <p:txBody>
          <a:bodyPr wrap="square" rtlCol="0">
            <a:spAutoFit/>
          </a:bodyPr>
          <a:lstStyle/>
          <a:p>
            <a:pPr algn="ctr"/>
            <a:r>
              <a:rPr lang="en-US" b="1" i="0" dirty="0">
                <a:solidFill>
                  <a:srgbClr val="333333"/>
                </a:solidFill>
                <a:effectLst/>
                <a:latin typeface="inter-bold"/>
              </a:rPr>
              <a:t>Example: </a:t>
            </a:r>
            <a:r>
              <a:rPr lang="pl-PL" b="1" i="0" dirty="0">
                <a:solidFill>
                  <a:srgbClr val="333333"/>
                </a:solidFill>
                <a:effectLst/>
                <a:latin typeface="inter-bold"/>
              </a:rPr>
              <a:t>K + L - M*N + (O^P) * W/U/V * T + Q</a:t>
            </a:r>
            <a:endParaRPr lang="en-US" b="1" i="0" dirty="0">
              <a:solidFill>
                <a:srgbClr val="333333"/>
              </a:solidFill>
              <a:effectLst/>
              <a:latin typeface="inter-bold"/>
            </a:endParaRPr>
          </a:p>
          <a:p>
            <a:r>
              <a:rPr lang="en-US" dirty="0">
                <a:solidFill>
                  <a:srgbClr val="333333"/>
                </a:solidFill>
                <a:latin typeface="inter-bold"/>
              </a:rPr>
              <a:t>Link=https://www.javatpoint.com/convert-infix-to-postfix-notation</a:t>
            </a:r>
          </a:p>
          <a:p>
            <a:pPr algn="ctr"/>
            <a:r>
              <a:rPr lang="en-US" b="1" u="sng" dirty="0"/>
              <a:t>Infix to prefix notation</a:t>
            </a:r>
          </a:p>
          <a:p>
            <a:pPr algn="just"/>
            <a:endParaRPr lang="en-US" b="1" i="0" dirty="0">
              <a:solidFill>
                <a:srgbClr val="333333"/>
              </a:solidFill>
              <a:effectLst/>
              <a:latin typeface="inter-bold"/>
            </a:endParaRPr>
          </a:p>
          <a:p>
            <a:pPr algn="just"/>
            <a:r>
              <a:rPr lang="en-US" b="1" i="0" u="sng" dirty="0">
                <a:solidFill>
                  <a:srgbClr val="333333"/>
                </a:solidFill>
                <a:effectLst/>
                <a:latin typeface="inter-bold"/>
              </a:rPr>
              <a:t>Rules for the conversion of infix to prefix expression:</a:t>
            </a:r>
            <a:endParaRPr lang="en-US" b="1" i="0" u="sng" dirty="0">
              <a:solidFill>
                <a:srgbClr val="333333"/>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First, reverse the infix expression given in the problem.</a:t>
            </a:r>
          </a:p>
          <a:p>
            <a:pPr algn="just">
              <a:buFont typeface="Arial" panose="020B0604020202020204" pitchFamily="34" charset="0"/>
              <a:buChar char="•"/>
            </a:pPr>
            <a:r>
              <a:rPr lang="en-US" b="0" i="0" dirty="0">
                <a:solidFill>
                  <a:srgbClr val="000000"/>
                </a:solidFill>
                <a:effectLst/>
                <a:latin typeface="inter-regular"/>
              </a:rPr>
              <a:t>Scan the expression from left to right.</a:t>
            </a:r>
          </a:p>
          <a:p>
            <a:pPr algn="just">
              <a:buFont typeface="Arial" panose="020B0604020202020204" pitchFamily="34" charset="0"/>
              <a:buChar char="•"/>
            </a:pPr>
            <a:r>
              <a:rPr lang="en-US" b="0" i="0" dirty="0">
                <a:solidFill>
                  <a:srgbClr val="000000"/>
                </a:solidFill>
                <a:effectLst/>
                <a:latin typeface="inter-regular"/>
              </a:rPr>
              <a:t>Whenever the operands arrive, print them.</a:t>
            </a:r>
          </a:p>
          <a:p>
            <a:pPr algn="just">
              <a:buFont typeface="Arial" panose="020B0604020202020204" pitchFamily="34" charset="0"/>
              <a:buChar char="•"/>
            </a:pPr>
            <a:r>
              <a:rPr lang="en-US" b="0" i="0" dirty="0">
                <a:solidFill>
                  <a:srgbClr val="000000"/>
                </a:solidFill>
                <a:effectLst/>
                <a:latin typeface="inter-regular"/>
              </a:rPr>
              <a:t>If the operator arrives and the stack is found to be empty, then simply push the operator into the stack.</a:t>
            </a:r>
          </a:p>
          <a:p>
            <a:pPr algn="just">
              <a:buFont typeface="Arial" panose="020B0604020202020204" pitchFamily="34" charset="0"/>
              <a:buChar char="•"/>
            </a:pPr>
            <a:r>
              <a:rPr lang="en-US" b="0" i="0" dirty="0">
                <a:solidFill>
                  <a:srgbClr val="000000"/>
                </a:solidFill>
                <a:effectLst/>
                <a:latin typeface="inter-regular"/>
              </a:rPr>
              <a:t>If the incoming operator has higher precedence than the TOP of the stack, push the incoming operator into the stack.</a:t>
            </a:r>
          </a:p>
          <a:p>
            <a:pPr algn="just">
              <a:buFont typeface="Arial" panose="020B0604020202020204" pitchFamily="34" charset="0"/>
              <a:buChar char="•"/>
            </a:pPr>
            <a:r>
              <a:rPr lang="en-US" b="0" i="0" dirty="0">
                <a:solidFill>
                  <a:srgbClr val="000000"/>
                </a:solidFill>
                <a:effectLst/>
                <a:latin typeface="inter-regular"/>
              </a:rPr>
              <a:t>If the incoming operator has the same precedence with a TOP of the stack, push the incoming operator into the stack.</a:t>
            </a:r>
          </a:p>
          <a:p>
            <a:endParaRPr lang="en-US" b="1" u="sng" dirty="0"/>
          </a:p>
          <a:p>
            <a:endParaRPr lang="en-US" b="1" u="sng" dirty="0"/>
          </a:p>
        </p:txBody>
      </p:sp>
    </p:spTree>
    <p:extLst>
      <p:ext uri="{BB962C8B-B14F-4D97-AF65-F5344CB8AC3E}">
        <p14:creationId xmlns:p14="http://schemas.microsoft.com/office/powerpoint/2010/main" val="2544922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4D8392-7AE0-B79C-0A44-E639C2FEEE8B}"/>
              </a:ext>
            </a:extLst>
          </p:cNvPr>
          <p:cNvSpPr txBox="1"/>
          <p:nvPr/>
        </p:nvSpPr>
        <p:spPr>
          <a:xfrm>
            <a:off x="563336" y="236764"/>
            <a:ext cx="8074478" cy="5078313"/>
          </a:xfrm>
          <a:prstGeom prst="rect">
            <a:avLst/>
          </a:prstGeom>
          <a:noFill/>
        </p:spPr>
        <p:txBody>
          <a:bodyPr wrap="square" rtlCol="0">
            <a:spAutoFit/>
          </a:bodyPr>
          <a:lstStyle/>
          <a:p>
            <a:pPr algn="just">
              <a:buFont typeface="Arial" panose="020B0604020202020204" pitchFamily="34" charset="0"/>
              <a:buChar char="•"/>
            </a:pPr>
            <a:r>
              <a:rPr lang="en-US" b="0" i="0" dirty="0">
                <a:solidFill>
                  <a:srgbClr val="000000"/>
                </a:solidFill>
                <a:effectLst/>
                <a:latin typeface="inter-regular"/>
              </a:rPr>
              <a:t>If the incoming operator has lower precedence than the TOP of the stack, pop, and print the top of the stack. Test the incoming operator against the top of the stack again and pop the operator from the stack till it finds the operator of a lower precedence or same precedence.</a:t>
            </a:r>
          </a:p>
          <a:p>
            <a:pPr algn="just">
              <a:buFont typeface="Arial" panose="020B0604020202020204" pitchFamily="34" charset="0"/>
              <a:buChar char="•"/>
            </a:pPr>
            <a:r>
              <a:rPr lang="en-US" b="0" i="0" dirty="0">
                <a:solidFill>
                  <a:srgbClr val="000000"/>
                </a:solidFill>
                <a:effectLst/>
                <a:latin typeface="inter-regular"/>
              </a:rPr>
              <a:t>If the incoming operator has the same precedence with the top of the stack and the incoming operator is ^, then pop the top of the stack till the condition is true. If the condition is not true, push the ^ operator.</a:t>
            </a:r>
          </a:p>
          <a:p>
            <a:pPr algn="just">
              <a:buFont typeface="Arial" panose="020B0604020202020204" pitchFamily="34" charset="0"/>
              <a:buChar char="•"/>
            </a:pPr>
            <a:r>
              <a:rPr lang="en-US" b="0" i="0" dirty="0">
                <a:solidFill>
                  <a:srgbClr val="000000"/>
                </a:solidFill>
                <a:effectLst/>
                <a:latin typeface="inter-regular"/>
              </a:rPr>
              <a:t>When we reach the end of the expression, pop, and print all the operators from the top of the stack.</a:t>
            </a:r>
          </a:p>
          <a:p>
            <a:pPr algn="just">
              <a:buFont typeface="Arial" panose="020B0604020202020204" pitchFamily="34" charset="0"/>
              <a:buChar char="•"/>
            </a:pPr>
            <a:r>
              <a:rPr lang="en-US" b="0" i="0" dirty="0">
                <a:solidFill>
                  <a:srgbClr val="000000"/>
                </a:solidFill>
                <a:effectLst/>
                <a:latin typeface="inter-regular"/>
              </a:rPr>
              <a:t>If the operator is ')', then push it into the stack.</a:t>
            </a:r>
          </a:p>
          <a:p>
            <a:pPr algn="just">
              <a:buFont typeface="Arial" panose="020B0604020202020204" pitchFamily="34" charset="0"/>
              <a:buChar char="•"/>
            </a:pPr>
            <a:r>
              <a:rPr lang="en-US" b="0" i="0" dirty="0">
                <a:solidFill>
                  <a:srgbClr val="000000"/>
                </a:solidFill>
                <a:effectLst/>
                <a:latin typeface="inter-regular"/>
              </a:rPr>
              <a:t>If the operator is '(', then pop all the operators from the stack till it finds ) opening bracket in the stack.</a:t>
            </a:r>
          </a:p>
          <a:p>
            <a:pPr algn="just">
              <a:buFont typeface="Arial" panose="020B0604020202020204" pitchFamily="34" charset="0"/>
              <a:buChar char="•"/>
            </a:pPr>
            <a:r>
              <a:rPr lang="en-US" b="0" i="0" dirty="0">
                <a:solidFill>
                  <a:srgbClr val="000000"/>
                </a:solidFill>
                <a:effectLst/>
                <a:latin typeface="inter-regular"/>
              </a:rPr>
              <a:t>If the top of the stack is ')', push the operator on the stack.</a:t>
            </a:r>
          </a:p>
          <a:p>
            <a:pPr algn="just"/>
            <a:r>
              <a:rPr lang="en-US" dirty="0">
                <a:solidFill>
                  <a:srgbClr val="000000"/>
                </a:solidFill>
                <a:latin typeface="inter-regular"/>
              </a:rPr>
              <a:t>Example</a:t>
            </a:r>
          </a:p>
          <a:p>
            <a:pPr algn="just"/>
            <a:r>
              <a:rPr lang="pl-PL" b="1" i="0" dirty="0">
                <a:solidFill>
                  <a:srgbClr val="000000"/>
                </a:solidFill>
                <a:effectLst/>
                <a:latin typeface="inter-regular"/>
              </a:rPr>
              <a:t>K + L - M * N + (O^P) * W/U/V * T + Q</a:t>
            </a:r>
            <a:endParaRPr lang="en-US" b="1" i="0" dirty="0">
              <a:solidFill>
                <a:srgbClr val="000000"/>
              </a:solidFill>
              <a:effectLst/>
              <a:latin typeface="inter-regular"/>
            </a:endParaRPr>
          </a:p>
          <a:p>
            <a:pPr algn="just"/>
            <a:r>
              <a:rPr lang="en-US" b="1" dirty="0">
                <a:solidFill>
                  <a:srgbClr val="000000"/>
                </a:solidFill>
                <a:latin typeface="inter-regular"/>
              </a:rPr>
              <a:t>Link=https://www.javatpoint.com/convert-infix-to-prefix-notation</a:t>
            </a:r>
          </a:p>
          <a:p>
            <a:pPr algn="just"/>
            <a:endParaRPr lang="en-US" b="1" i="0" dirty="0">
              <a:solidFill>
                <a:srgbClr val="000000"/>
              </a:solidFill>
              <a:effectLst/>
              <a:latin typeface="inter-regular"/>
            </a:endParaRPr>
          </a:p>
          <a:p>
            <a:endParaRPr lang="en-US" dirty="0"/>
          </a:p>
        </p:txBody>
      </p:sp>
    </p:spTree>
    <p:extLst>
      <p:ext uri="{BB962C8B-B14F-4D97-AF65-F5344CB8AC3E}">
        <p14:creationId xmlns:p14="http://schemas.microsoft.com/office/powerpoint/2010/main" val="2542600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76950" cy="45529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4672</TotalTime>
  <Words>1035</Words>
  <Application>Microsoft Office PowerPoint</Application>
  <PresentationFormat>On-screen Show (16:9)</PresentationFormat>
  <Paragraphs>104</Paragraphs>
  <Slides>36</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inter-bold</vt:lpstr>
      <vt:lpstr>inter-regular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10</cp:revision>
  <dcterms:created xsi:type="dcterms:W3CDTF">2023-03-13T08:04:42Z</dcterms:created>
  <dcterms:modified xsi:type="dcterms:W3CDTF">2023-03-31T06:17:02Z</dcterms:modified>
</cp:coreProperties>
</file>