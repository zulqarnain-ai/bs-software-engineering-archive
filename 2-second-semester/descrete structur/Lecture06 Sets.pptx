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2" r:id="rId1"/>
  </p:sldMasterIdLst>
  <p:notesMasterIdLst>
    <p:notesMasterId r:id="rId38"/>
  </p:notesMasterIdLst>
  <p:handoutMasterIdLst>
    <p:handoutMasterId r:id="rId39"/>
  </p:handoutMasterIdLst>
  <p:sldIdLst>
    <p:sldId id="495" r:id="rId2"/>
    <p:sldId id="292" r:id="rId3"/>
    <p:sldId id="317" r:id="rId4"/>
    <p:sldId id="504" r:id="rId5"/>
    <p:sldId id="320" r:id="rId6"/>
    <p:sldId id="509" r:id="rId7"/>
    <p:sldId id="510" r:id="rId8"/>
    <p:sldId id="511" r:id="rId9"/>
    <p:sldId id="512" r:id="rId10"/>
    <p:sldId id="513" r:id="rId11"/>
    <p:sldId id="514" r:id="rId12"/>
    <p:sldId id="322" r:id="rId13"/>
    <p:sldId id="498" r:id="rId14"/>
    <p:sldId id="499" r:id="rId15"/>
    <p:sldId id="302" r:id="rId16"/>
    <p:sldId id="323" r:id="rId17"/>
    <p:sldId id="306" r:id="rId18"/>
    <p:sldId id="303" r:id="rId19"/>
    <p:sldId id="304" r:id="rId20"/>
    <p:sldId id="505" r:id="rId21"/>
    <p:sldId id="506" r:id="rId22"/>
    <p:sldId id="508" r:id="rId23"/>
    <p:sldId id="507" r:id="rId24"/>
    <p:sldId id="354" r:id="rId25"/>
    <p:sldId id="330" r:id="rId26"/>
    <p:sldId id="331" r:id="rId27"/>
    <p:sldId id="333" r:id="rId28"/>
    <p:sldId id="334" r:id="rId29"/>
    <p:sldId id="357" r:id="rId30"/>
    <p:sldId id="497" r:id="rId31"/>
    <p:sldId id="492" r:id="rId32"/>
    <p:sldId id="496" r:id="rId33"/>
    <p:sldId id="500" r:id="rId34"/>
    <p:sldId id="503" r:id="rId35"/>
    <p:sldId id="501" r:id="rId36"/>
    <p:sldId id="502" r:id="rId37"/>
  </p:sldIdLst>
  <p:sldSz cx="9144000" cy="6858000" type="screen4x3"/>
  <p:notesSz cx="7010400" cy="9296400"/>
  <p:embeddedFontLst>
    <p:embeddedFont>
      <p:font typeface="Angsana New" panose="02020603050405020304" pitchFamily="18" charset="-34"/>
      <p:regular r:id="rId40"/>
      <p:bold r:id="rId41"/>
      <p:italic r:id="rId42"/>
      <p:boldItalic r:id="rId43"/>
    </p:embeddedFont>
    <p:embeddedFont>
      <p:font typeface="Calibri" panose="020F0502020204030204" pitchFamily="34" charset="0"/>
      <p:regular r:id="rId44"/>
      <p:bold r:id="rId45"/>
      <p:italic r:id="rId46"/>
      <p:boldItalic r:id="rId47"/>
    </p:embeddedFont>
    <p:embeddedFont>
      <p:font typeface="Cambria" panose="02040503050406030204" pitchFamily="18" charset="0"/>
      <p:regular r:id="rId48"/>
      <p:bold r:id="rId49"/>
      <p:italic r:id="rId50"/>
      <p:boldItalic r:id="rId51"/>
    </p:embeddedFont>
    <p:embeddedFont>
      <p:font typeface="Cambria Math" panose="02040503050406030204" pitchFamily="18" charset="0"/>
      <p:regular r:id="rId52"/>
    </p:embeddedFont>
    <p:embeddedFont>
      <p:font typeface="Cordia New" panose="020B0304020202020204" pitchFamily="34" charset="-34"/>
      <p:regular r:id="rId53"/>
      <p:bold r:id="rId54"/>
      <p:italic r:id="rId55"/>
      <p:boldItalic r:id="rId5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6" autoAdjust="0"/>
    <p:restoredTop sz="86813" autoAdjust="0"/>
  </p:normalViewPr>
  <p:slideViewPr>
    <p:cSldViewPr>
      <p:cViewPr varScale="1">
        <p:scale>
          <a:sx n="65" d="100"/>
          <a:sy n="65" d="100"/>
        </p:scale>
        <p:origin x="1008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270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50" Type="http://schemas.openxmlformats.org/officeDocument/2006/relationships/font" Target="fonts/font11.fntdata"/><Relationship Id="rId55" Type="http://schemas.openxmlformats.org/officeDocument/2006/relationships/font" Target="fonts/font16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3" Type="http://schemas.openxmlformats.org/officeDocument/2006/relationships/font" Target="fonts/font14.fntdata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48" Type="http://schemas.openxmlformats.org/officeDocument/2006/relationships/font" Target="fonts/font9.fntdata"/><Relationship Id="rId56" Type="http://schemas.openxmlformats.org/officeDocument/2006/relationships/font" Target="fonts/font17.fntdata"/><Relationship Id="rId8" Type="http://schemas.openxmlformats.org/officeDocument/2006/relationships/slide" Target="slides/slide7.xml"/><Relationship Id="rId51" Type="http://schemas.openxmlformats.org/officeDocument/2006/relationships/font" Target="fonts/font12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7.fntdata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2.fntdata"/><Relationship Id="rId54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0.fntdata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5.fntdata"/><Relationship Id="rId52" Type="http://schemas.openxmlformats.org/officeDocument/2006/relationships/font" Target="fonts/font13.fntdata"/><Relationship Id="rId6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2" tIns="46586" rIns="93172" bIns="46586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2" tIns="46586" rIns="93172" bIns="46586" rtlCol="0"/>
          <a:lstStyle>
            <a:lvl1pPr algn="r">
              <a:defRPr sz="1300"/>
            </a:lvl1pPr>
          </a:lstStyle>
          <a:p>
            <a:fld id="{C0FEF7AE-0C30-4EA7-B74D-470A9C33048D}" type="datetimeFigureOut">
              <a:rPr lang="en-US" smtClean="0"/>
              <a:pPr/>
              <a:t>10/25/22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2" tIns="46586" rIns="93172" bIns="46586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2" tIns="46586" rIns="93172" bIns="46586" rtlCol="0" anchor="b"/>
          <a:lstStyle>
            <a:lvl1pPr algn="r">
              <a:defRPr sz="1300"/>
            </a:lvl1pPr>
          </a:lstStyle>
          <a:p>
            <a:fld id="{E3901582-F5A8-41ED-8946-57B4D8BFA9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8091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2" tIns="46586" rIns="93172" bIns="46586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2" tIns="46586" rIns="93172" bIns="46586" rtlCol="0"/>
          <a:lstStyle>
            <a:lvl1pPr algn="r">
              <a:defRPr sz="1300"/>
            </a:lvl1pPr>
          </a:lstStyle>
          <a:p>
            <a:fld id="{10106763-8029-41BC-9E70-E644A94F0E80}" type="datetimeFigureOut">
              <a:rPr lang="en-US" smtClean="0"/>
              <a:pPr/>
              <a:t>10/25/22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2" tIns="46586" rIns="93172" bIns="4658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2" tIns="46586" rIns="93172" bIns="46586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2" tIns="46586" rIns="93172" bIns="46586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2" tIns="46586" rIns="93172" bIns="46586" rtlCol="0" anchor="b"/>
          <a:lstStyle>
            <a:lvl1pPr algn="r">
              <a:defRPr sz="1300"/>
            </a:lvl1pPr>
          </a:lstStyle>
          <a:p>
            <a:fld id="{A56D6F1B-26ED-417A-B5D8-8AED7AD37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633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cs typeface="Cordia New" pitchFamily="34" charset="-34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6D6F1B-26ED-417A-B5D8-8AED7AD37922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0565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6570F-A1CE-4719-9361-6BB4C10B3911}" type="datetime1">
              <a:rPr lang="en-US" smtClean="0"/>
              <a:pPr/>
              <a:t>10/25/22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62AE9-8558-434C-9B8B-EAE6E283919C}" type="datetime1">
              <a:rPr lang="en-US" smtClean="0"/>
              <a:pPr/>
              <a:t>10/25/22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4DD99-6401-4710-96ED-EB5C0AB9454D}" type="datetime1">
              <a:rPr lang="en-US" smtClean="0"/>
              <a:pPr/>
              <a:t>10/25/22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18224-B4D0-4073-B518-D212685F88BF}" type="datetime1">
              <a:rPr lang="en-US" smtClean="0"/>
              <a:pPr/>
              <a:t>10/25/22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5C56C-2707-45A9-A2C2-C3DC230A8A62}" type="datetime1">
              <a:rPr lang="en-US" smtClean="0"/>
              <a:pPr/>
              <a:t>10/25/22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7E659-FA89-4BD0-A44A-4961D1AFA802}" type="datetime1">
              <a:rPr lang="en-US" smtClean="0"/>
              <a:pPr/>
              <a:t>10/25/22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76141-228C-4140-8138-3EA72A3FAB5B}" type="datetime1">
              <a:rPr lang="en-US" smtClean="0"/>
              <a:pPr/>
              <a:t>10/25/22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77E06-18D9-41A7-BD09-2839AD22F3EF}" type="datetime1">
              <a:rPr lang="en-US" smtClean="0"/>
              <a:pPr/>
              <a:t>10/25/22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65C26-30C9-4D93-B456-78490C122652}" type="datetime1">
              <a:rPr lang="en-US" smtClean="0"/>
              <a:pPr/>
              <a:t>10/25/22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BE894-C24A-40D3-AF82-9B655FD0FEDD}" type="datetime1">
              <a:rPr lang="en-US" smtClean="0"/>
              <a:pPr/>
              <a:t>10/25/22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249CB-441C-4B4E-966A-990D62909680}" type="datetime1">
              <a:rPr lang="en-US" smtClean="0"/>
              <a:pPr/>
              <a:t>10/25/22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F1183F97-3E3C-441B-B116-CBE4CD73E375}" type="datetime1">
              <a:rPr lang="en-US" smtClean="0"/>
              <a:pPr/>
              <a:t>10/25/22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04664"/>
            <a:ext cx="8229600" cy="1143000"/>
          </a:xfrm>
        </p:spPr>
        <p:txBody>
          <a:bodyPr/>
          <a:lstStyle/>
          <a:p>
            <a:r>
              <a:rPr lang="en-US" sz="3600" dirty="0">
                <a:effectLst/>
              </a:rPr>
              <a:t>Discrete </a:t>
            </a:r>
            <a:r>
              <a:rPr lang="en-US" sz="3600" dirty="0"/>
              <a:t>Structures</a:t>
            </a:r>
            <a:endParaRPr lang="th-TH" dirty="0">
              <a:effectLst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idx="1"/>
          </p:nvPr>
        </p:nvSpPr>
        <p:spPr>
          <a:xfrm>
            <a:off x="1219200" y="4191000"/>
            <a:ext cx="6934200" cy="1371600"/>
          </a:xfrm>
        </p:spPr>
        <p:txBody>
          <a:bodyPr>
            <a:normAutofit/>
          </a:bodyPr>
          <a:lstStyle/>
          <a:p>
            <a:pPr>
              <a:buFont typeface="Arial" charset="0"/>
              <a:buChar char="•"/>
            </a:pPr>
            <a:r>
              <a:rPr lang="th-TH" dirty="0">
                <a:effectLst/>
              </a:rPr>
              <a:t>Objective</a:t>
            </a:r>
          </a:p>
          <a:p>
            <a:pPr lvl="1"/>
            <a:r>
              <a:rPr lang="th-TH" dirty="0">
                <a:effectLst/>
              </a:rPr>
              <a:t>to </a:t>
            </a:r>
            <a:r>
              <a:rPr lang="en-US" dirty="0">
                <a:effectLst/>
              </a:rPr>
              <a:t>re-</a:t>
            </a:r>
            <a:r>
              <a:rPr lang="th-TH" dirty="0">
                <a:effectLst/>
              </a:rPr>
              <a:t>introduce </a:t>
            </a:r>
            <a:r>
              <a:rPr lang="en-US" dirty="0"/>
              <a:t>basic set ideas, set operations, set identities</a:t>
            </a:r>
          </a:p>
          <a:p>
            <a:pPr lvl="1"/>
            <a:endParaRPr lang="th-TH" dirty="0">
              <a:effectLst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2053" name="Rectangle 6"/>
          <p:cNvSpPr>
            <a:spLocks noChangeArrowheads="1"/>
          </p:cNvSpPr>
          <p:nvPr/>
        </p:nvSpPr>
        <p:spPr bwMode="auto">
          <a:xfrm>
            <a:off x="2567686" y="2609850"/>
            <a:ext cx="3919538" cy="643766"/>
          </a:xfrm>
          <a:prstGeom prst="rect">
            <a:avLst/>
          </a:prstGeom>
          <a:ln>
            <a:headEnd/>
            <a:tailEnd/>
          </a:ln>
          <a:ex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90488" tIns="44450" rIns="90488" bIns="44450">
            <a:spAutoFit/>
          </a:bodyPr>
          <a:lstStyle/>
          <a:p>
            <a:pPr algn="ctr"/>
            <a:r>
              <a:rPr lang="en-US" sz="3600" dirty="0"/>
              <a:t>1. Set Basics</a:t>
            </a:r>
            <a:endParaRPr lang="th-TH" sz="3600" dirty="0"/>
          </a:p>
        </p:txBody>
      </p:sp>
    </p:spTree>
    <p:extLst>
      <p:ext uri="{BB962C8B-B14F-4D97-AF65-F5344CB8AC3E}">
        <p14:creationId xmlns:p14="http://schemas.microsoft.com/office/powerpoint/2010/main" val="207033001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What are Sets?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47800"/>
            <a:ext cx="8229600" cy="1645920"/>
          </a:xfrm>
        </p:spPr>
        <p:txBody>
          <a:bodyPr>
            <a:normAutofit/>
          </a:bodyPr>
          <a:lstStyle/>
          <a:p>
            <a:r>
              <a:rPr lang="en-US" sz="2400" dirty="0"/>
              <a:t>A </a:t>
            </a:r>
            <a:r>
              <a:rPr lang="en-US" sz="2400" i="1" dirty="0"/>
              <a:t>set</a:t>
            </a:r>
            <a:r>
              <a:rPr lang="en-US" sz="2400" dirty="0"/>
              <a:t> is </a:t>
            </a:r>
            <a:r>
              <a:rPr lang="en-US" sz="2400" b="1" dirty="0">
                <a:solidFill>
                  <a:schemeClr val="tx2"/>
                </a:solidFill>
              </a:rPr>
              <a:t>an unordered collection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of things, with no duplicates allowed</a:t>
            </a:r>
          </a:p>
          <a:p>
            <a:pPr lvl="1"/>
            <a:r>
              <a:rPr lang="en-US" sz="2400" dirty="0"/>
              <a:t> e.g. the students in this class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4800600" y="4038600"/>
            <a:ext cx="2743200" cy="152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5867400" y="4572000"/>
            <a:ext cx="76200" cy="76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5791200" y="5181600"/>
            <a:ext cx="76200" cy="76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6172200" y="4876800"/>
            <a:ext cx="76200" cy="76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6858000" y="5257800"/>
            <a:ext cx="76200" cy="76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6858000" y="4572000"/>
            <a:ext cx="76200" cy="76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867400" y="4278868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200" y="443126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5094" y="5117068"/>
            <a:ext cx="266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8400" y="4800600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75088" y="5040868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2800" y="3962400"/>
            <a:ext cx="340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3206620"/>
            <a:ext cx="1828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 </a:t>
            </a:r>
            <a:r>
              <a:rPr lang="en-US" sz="2000" dirty="0">
                <a:sym typeface="Symbol"/>
              </a:rPr>
              <a:t>A    </a:t>
            </a:r>
          </a:p>
          <a:p>
            <a:r>
              <a:rPr lang="en-US" sz="2000" dirty="0">
                <a:sym typeface="Symbol"/>
              </a:rPr>
              <a:t>(b is a member</a:t>
            </a:r>
          </a:p>
          <a:p>
            <a:r>
              <a:rPr lang="en-US" sz="2000" dirty="0">
                <a:sym typeface="Symbol"/>
              </a:rPr>
              <a:t>or element </a:t>
            </a:r>
          </a:p>
          <a:p>
            <a:r>
              <a:rPr lang="en-US" sz="2000" dirty="0">
                <a:sym typeface="Symbol"/>
              </a:rPr>
              <a:t>of the set A)</a:t>
            </a:r>
            <a:endParaRPr lang="en-US" sz="2000" dirty="0"/>
          </a:p>
        </p:txBody>
      </p:sp>
      <p:sp>
        <p:nvSpPr>
          <p:cNvPr id="18" name="TextBox 17"/>
          <p:cNvSpPr txBox="1"/>
          <p:nvPr/>
        </p:nvSpPr>
        <p:spPr>
          <a:xfrm>
            <a:off x="2532529" y="4876800"/>
            <a:ext cx="2362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x </a:t>
            </a:r>
            <a:r>
              <a:rPr lang="en-US" sz="2000" dirty="0">
                <a:solidFill>
                  <a:srgbClr val="FF0000"/>
                </a:solidFill>
                <a:sym typeface="Symbol"/>
              </a:rPr>
              <a:t>A    </a:t>
            </a:r>
          </a:p>
          <a:p>
            <a:r>
              <a:rPr lang="en-US" sz="2000" dirty="0">
                <a:solidFill>
                  <a:srgbClr val="FF0000"/>
                </a:solidFill>
                <a:sym typeface="Symbol"/>
              </a:rPr>
              <a:t>(x is not a member </a:t>
            </a:r>
          </a:p>
          <a:p>
            <a:r>
              <a:rPr lang="en-US" sz="2000" dirty="0">
                <a:solidFill>
                  <a:srgbClr val="FF0000"/>
                </a:solidFill>
                <a:sym typeface="Symbol"/>
              </a:rPr>
              <a:t>of the set A)</a:t>
            </a:r>
            <a:endParaRPr 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Set of all vowels in the English alphabet:</a:t>
            </a:r>
          </a:p>
          <a:p>
            <a:pPr>
              <a:buNone/>
            </a:pPr>
            <a:r>
              <a:rPr lang="en-US" sz="2800" dirty="0"/>
              <a:t>              </a:t>
            </a:r>
            <a:r>
              <a:rPr lang="en-US" sz="2800" i="1" dirty="0">
                <a:latin typeface="Cambria Math" pitchFamily="18" charset="0"/>
                <a:ea typeface="Cambria Math" pitchFamily="18" charset="0"/>
              </a:rPr>
              <a:t>V</a:t>
            </a:r>
            <a:r>
              <a:rPr lang="en-US" sz="2800" dirty="0">
                <a:latin typeface="Cambria Math" pitchFamily="18" charset="0"/>
                <a:ea typeface="Cambria Math" pitchFamily="18" charset="0"/>
              </a:rPr>
              <a:t> = {</a:t>
            </a:r>
            <a:r>
              <a:rPr lang="en-US" sz="2800" dirty="0" err="1">
                <a:latin typeface="Cambria Math" pitchFamily="18" charset="0"/>
                <a:ea typeface="Cambria Math" pitchFamily="18" charset="0"/>
              </a:rPr>
              <a:t>a,e,i,o,u</a:t>
            </a:r>
            <a:r>
              <a:rPr lang="en-US" sz="2800" dirty="0">
                <a:latin typeface="Cambria Math" pitchFamily="18" charset="0"/>
                <a:ea typeface="Cambria Math" pitchFamily="18" charset="0"/>
              </a:rPr>
              <a:t>}</a:t>
            </a:r>
          </a:p>
          <a:p>
            <a:r>
              <a:rPr lang="en-US" sz="2800" dirty="0"/>
              <a:t>Set of all  odd positive integers less than </a:t>
            </a:r>
            <a:r>
              <a:rPr lang="en-US" sz="2800" dirty="0">
                <a:latin typeface="Cambria Math" pitchFamily="18" charset="0"/>
                <a:ea typeface="Cambria Math" pitchFamily="18" charset="0"/>
              </a:rPr>
              <a:t>10</a:t>
            </a:r>
            <a:r>
              <a:rPr lang="en-US" sz="2800" dirty="0"/>
              <a:t>:</a:t>
            </a:r>
          </a:p>
          <a:p>
            <a:pPr>
              <a:buNone/>
            </a:pPr>
            <a:r>
              <a:rPr lang="en-US" sz="2800" dirty="0"/>
              <a:t>             </a:t>
            </a:r>
            <a:r>
              <a:rPr lang="en-US" sz="2800" i="1" dirty="0">
                <a:latin typeface="Cambria Math" pitchFamily="18" charset="0"/>
                <a:ea typeface="Cambria Math" pitchFamily="18" charset="0"/>
              </a:rPr>
              <a:t>O</a:t>
            </a:r>
            <a:r>
              <a:rPr lang="en-US" sz="2800" dirty="0">
                <a:latin typeface="Cambria Math" pitchFamily="18" charset="0"/>
                <a:ea typeface="Cambria Math" pitchFamily="18" charset="0"/>
              </a:rPr>
              <a:t> = {1,3,5,7,9}</a:t>
            </a:r>
          </a:p>
          <a:p>
            <a:r>
              <a:rPr lang="en-US" sz="2800" dirty="0"/>
              <a:t>Set of all positive integers less than </a:t>
            </a:r>
            <a:r>
              <a:rPr lang="en-US" sz="2800" dirty="0">
                <a:latin typeface="Cambria Math" pitchFamily="18" charset="0"/>
                <a:ea typeface="Cambria Math" pitchFamily="18" charset="0"/>
              </a:rPr>
              <a:t>100</a:t>
            </a:r>
            <a:r>
              <a:rPr lang="en-US" sz="2800" dirty="0"/>
              <a:t>:</a:t>
            </a:r>
          </a:p>
          <a:p>
            <a:pPr>
              <a:buNone/>
            </a:pPr>
            <a:r>
              <a:rPr lang="en-US" sz="2800" dirty="0"/>
              <a:t>              </a:t>
            </a:r>
            <a:r>
              <a:rPr lang="en-US" sz="2800" i="1" dirty="0">
                <a:latin typeface="Cambria Math" pitchFamily="18" charset="0"/>
                <a:ea typeface="Cambria Math" pitchFamily="18" charset="0"/>
              </a:rPr>
              <a:t>S</a:t>
            </a:r>
            <a:r>
              <a:rPr lang="en-US" sz="2800" dirty="0">
                <a:latin typeface="Cambria Math" pitchFamily="18" charset="0"/>
                <a:ea typeface="Cambria Math" pitchFamily="18" charset="0"/>
              </a:rPr>
              <a:t> = {1,2,3,…….., 99}</a:t>
            </a:r>
          </a:p>
          <a:p>
            <a:pPr marL="514350" indent="-514350"/>
            <a:r>
              <a:rPr lang="en-US" sz="2800" dirty="0">
                <a:latin typeface="Cambria Math" pitchFamily="18" charset="0"/>
                <a:ea typeface="Cambria Math" pitchFamily="18" charset="0"/>
              </a:rPr>
              <a:t>Set of all integers less than 0:</a:t>
            </a:r>
          </a:p>
          <a:p>
            <a:pPr>
              <a:buNone/>
            </a:pPr>
            <a:r>
              <a:rPr lang="en-US" sz="2800" dirty="0">
                <a:latin typeface="Cambria Math" pitchFamily="18" charset="0"/>
                <a:ea typeface="Cambria Math" pitchFamily="18" charset="0"/>
              </a:rPr>
              <a:t>               </a:t>
            </a:r>
            <a:r>
              <a:rPr lang="en-US" sz="2800" i="1" dirty="0">
                <a:latin typeface="Cambria Math" pitchFamily="18" charset="0"/>
                <a:ea typeface="Cambria Math" pitchFamily="18" charset="0"/>
              </a:rPr>
              <a:t>S</a:t>
            </a:r>
            <a:r>
              <a:rPr lang="en-US" sz="2800" dirty="0">
                <a:latin typeface="Cambria Math" pitchFamily="18" charset="0"/>
                <a:ea typeface="Cambria Math" pitchFamily="18" charset="0"/>
              </a:rPr>
              <a:t> = {…., -3,-2,-1}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BD30B-873D-1649-A361-9E2CB7E2B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48A157-8576-FD44-A367-8A8565E00D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0"/>
            <a:ext cx="7924800" cy="625152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CBCF26-CACE-A54A-BF84-41DF4ECC2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398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/>
          <a:lstStyle/>
          <a:p>
            <a:r>
              <a:rPr lang="en-US" dirty="0"/>
              <a:t>Set-Builder 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>
            <a:normAutofit/>
          </a:bodyPr>
          <a:lstStyle/>
          <a:p>
            <a:r>
              <a:rPr lang="en-US" sz="2400" dirty="0"/>
              <a:t>Specify the property (or properties) that all members must satisfy:</a:t>
            </a:r>
          </a:p>
          <a:p>
            <a:pPr>
              <a:buNone/>
            </a:pPr>
            <a:r>
              <a:rPr lang="en-US" sz="2400" dirty="0"/>
              <a:t>     </a:t>
            </a:r>
            <a:r>
              <a:rPr lang="en-US" sz="2400" i="1" dirty="0">
                <a:latin typeface="Cambria Math" pitchFamily="18" charset="0"/>
                <a:ea typeface="Cambria Math" pitchFamily="18" charset="0"/>
              </a:rPr>
              <a:t>S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 = {</a:t>
            </a:r>
            <a:r>
              <a:rPr lang="en-US" sz="2400" i="1" dirty="0">
                <a:ea typeface="Cambria Math" pitchFamily="18" charset="0"/>
              </a:rPr>
              <a:t>x</a:t>
            </a:r>
            <a:r>
              <a:rPr lang="en-US" sz="2400" i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| </a:t>
            </a:r>
            <a:r>
              <a:rPr lang="en-US" sz="2400" i="1" dirty="0">
                <a:ea typeface="Cambria Math" pitchFamily="18" charset="0"/>
              </a:rPr>
              <a:t>x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 is a positive integer less than 100}</a:t>
            </a:r>
          </a:p>
          <a:p>
            <a:pPr>
              <a:buNone/>
            </a:pPr>
            <a:r>
              <a:rPr lang="en-US" sz="2400" b="1" dirty="0">
                <a:latin typeface="Cambria Math" pitchFamily="18" charset="0"/>
                <a:ea typeface="Cambria Math" pitchFamily="18" charset="0"/>
              </a:rPr>
              <a:t>     </a:t>
            </a:r>
            <a:r>
              <a:rPr lang="en-US" sz="2400" i="1" dirty="0">
                <a:latin typeface="Cambria Math" pitchFamily="18" charset="0"/>
                <a:ea typeface="Cambria Math" pitchFamily="18" charset="0"/>
              </a:rPr>
              <a:t>O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 = {</a:t>
            </a:r>
            <a:r>
              <a:rPr lang="en-US" sz="2400" i="1" dirty="0">
                <a:ea typeface="Cambria Math" pitchFamily="18" charset="0"/>
              </a:rPr>
              <a:t>x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 ∈</a:t>
            </a:r>
            <a:r>
              <a:rPr lang="en-US" sz="2400" b="1" dirty="0">
                <a:latin typeface="Cambria Math" pitchFamily="18" charset="0"/>
                <a:ea typeface="Cambria Math" pitchFamily="18" charset="0"/>
              </a:rPr>
              <a:t> Z⁺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 | </a:t>
            </a:r>
            <a:r>
              <a:rPr lang="en-US" sz="2400" i="1" dirty="0">
                <a:ea typeface="Cambria Math" pitchFamily="18" charset="0"/>
              </a:rPr>
              <a:t>x</a:t>
            </a:r>
            <a:r>
              <a:rPr lang="en-US" sz="2400" i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is odd and </a:t>
            </a:r>
            <a:r>
              <a:rPr lang="en-US" sz="2400" i="1" dirty="0">
                <a:ea typeface="Cambria Math" pitchFamily="18" charset="0"/>
              </a:rPr>
              <a:t>x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 &lt; 10}      // {1,3,5,7,9}</a:t>
            </a:r>
          </a:p>
          <a:p>
            <a:pPr>
              <a:buNone/>
            </a:pPr>
            <a:endParaRPr lang="en-US" sz="2400" dirty="0">
              <a:latin typeface="Cambria Math" pitchFamily="18" charset="0"/>
              <a:ea typeface="Cambria Math" pitchFamily="18" charset="0"/>
            </a:endParaRPr>
          </a:p>
          <a:p>
            <a:r>
              <a:rPr lang="en-US" sz="2400" dirty="0"/>
              <a:t>A </a:t>
            </a:r>
            <a:r>
              <a:rPr lang="en-US" sz="2400" i="1" dirty="0"/>
              <a:t>predicate</a:t>
            </a:r>
            <a:r>
              <a:rPr lang="en-US" sz="2400" dirty="0"/>
              <a:t> (</a:t>
            </a:r>
            <a:r>
              <a:rPr lang="en-US" sz="2400" dirty="0" err="1"/>
              <a:t>boolean</a:t>
            </a:r>
            <a:r>
              <a:rPr lang="en-US" sz="2400" dirty="0"/>
              <a:t> function) can be used: </a:t>
            </a:r>
          </a:p>
          <a:p>
            <a:pPr>
              <a:buNone/>
            </a:pPr>
            <a:r>
              <a:rPr lang="en-US" sz="2400" dirty="0"/>
              <a:t>                 </a:t>
            </a:r>
            <a:r>
              <a:rPr lang="en-US" sz="2400" i="1" dirty="0">
                <a:latin typeface="Cambria Math" pitchFamily="18" charset="0"/>
                <a:ea typeface="Cambria Math" pitchFamily="18" charset="0"/>
              </a:rPr>
              <a:t>S</a:t>
            </a:r>
            <a:r>
              <a:rPr lang="en-US" sz="2400" b="1" i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400" i="1" dirty="0">
                <a:latin typeface="Cambria Math" pitchFamily="18" charset="0"/>
                <a:ea typeface="Cambria Math" pitchFamily="18" charset="0"/>
              </a:rPr>
              <a:t>= 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{</a:t>
            </a:r>
            <a:r>
              <a:rPr lang="en-US" sz="2400" i="1" dirty="0">
                <a:ea typeface="Cambria Math" pitchFamily="18" charset="0"/>
              </a:rPr>
              <a:t>x</a:t>
            </a:r>
            <a:r>
              <a:rPr lang="en-US" sz="2400" i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| P(</a:t>
            </a:r>
            <a:r>
              <a:rPr lang="en-US" sz="2400" i="1" dirty="0">
                <a:ea typeface="Cambria Math" pitchFamily="18" charset="0"/>
              </a:rPr>
              <a:t>x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)}</a:t>
            </a:r>
          </a:p>
          <a:p>
            <a:r>
              <a:rPr lang="en-US" sz="2400" dirty="0"/>
              <a:t>Example: </a:t>
            </a:r>
            <a:r>
              <a:rPr lang="en-US" sz="2400" i="1" dirty="0">
                <a:latin typeface="Cambria Math" pitchFamily="18" charset="0"/>
                <a:ea typeface="Cambria Math" pitchFamily="18" charset="0"/>
              </a:rPr>
              <a:t>S</a:t>
            </a:r>
            <a:r>
              <a:rPr lang="en-US" sz="2400" b="1" i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400" i="1" dirty="0">
                <a:latin typeface="Cambria Math" pitchFamily="18" charset="0"/>
                <a:ea typeface="Cambria Math" pitchFamily="18" charset="0"/>
              </a:rPr>
              <a:t>= 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{</a:t>
            </a:r>
            <a:r>
              <a:rPr lang="en-US" sz="2400" i="1" dirty="0">
                <a:ea typeface="Cambria Math" pitchFamily="18" charset="0"/>
              </a:rPr>
              <a:t>x</a:t>
            </a:r>
            <a:r>
              <a:rPr lang="en-US" sz="2400" i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|</a:t>
            </a:r>
            <a:r>
              <a:rPr lang="en-US" sz="2400" i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400" dirty="0" err="1">
                <a:latin typeface="Cambria Math" pitchFamily="18" charset="0"/>
                <a:ea typeface="Cambria Math" pitchFamily="18" charset="0"/>
              </a:rPr>
              <a:t>isPrime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(</a:t>
            </a:r>
            <a:r>
              <a:rPr lang="en-US" sz="2400" i="1" dirty="0">
                <a:ea typeface="Cambria Math" pitchFamily="18" charset="0"/>
              </a:rPr>
              <a:t>x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)}</a:t>
            </a:r>
          </a:p>
          <a:p>
            <a:endParaRPr lang="en-US" sz="2400" i="1" dirty="0">
              <a:latin typeface="Cambria Math" pitchFamily="18" charset="0"/>
              <a:ea typeface="Cambria Math" pitchFamily="18" charset="0"/>
            </a:endParaRPr>
          </a:p>
          <a:p>
            <a:pPr>
              <a:buNone/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BCD41-1540-664B-8FF2-80D7EB752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68480CB-B58C-F64C-A8FF-E4D840906C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531788" cy="68580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288F77-55EB-2240-A0A6-605BBFDAE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7087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F7DA0C-F3D9-7846-975E-D0044EFE9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A0BC0521-F94F-F14B-9385-5AEF3CF081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3000"/>
            <a:ext cx="8531788" cy="4743450"/>
          </a:xfrm>
        </p:spPr>
      </p:pic>
    </p:spTree>
    <p:extLst>
      <p:ext uri="{BB962C8B-B14F-4D97-AF65-F5344CB8AC3E}">
        <p14:creationId xmlns:p14="http://schemas.microsoft.com/office/powerpoint/2010/main" val="31559569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07EE2-C08D-FD41-BA83-75F26F08B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Set-Builder Notation?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AEC3581-E5C5-4049-B7AE-9035941100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65" y="2362200"/>
            <a:ext cx="5336785" cy="272415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2AB98F-B4F9-2643-B292-B5326EE84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930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4C72122-0901-5B49-895F-68CF81FABA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7400"/>
            <a:ext cx="7075671" cy="31115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F91C18-28FB-2248-8E50-6028986D8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0847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46CF7-C244-F04D-A915-796AB171D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Set-Builder Notation??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9958071-9934-DD4C-93D7-46D75E6C29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7550" y="3175000"/>
            <a:ext cx="4559300" cy="16510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C9427F-4F51-1543-B02E-64F1143DD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6045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D5EE8BE-F399-7D48-9A04-FCBCEE62DD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905000"/>
            <a:ext cx="7406723" cy="26670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04213A-1716-7E4E-A9FF-DB6B767E4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1818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Interval 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>
                <a:latin typeface="Cambria Math" pitchFamily="18" charset="0"/>
                <a:ea typeface="Cambria Math" pitchFamily="18" charset="0"/>
              </a:rPr>
              <a:t>   [</a:t>
            </a:r>
            <a:r>
              <a:rPr lang="en-US" i="1" dirty="0" err="1"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dirty="0" err="1">
                <a:latin typeface="Cambria Math" pitchFamily="18" charset="0"/>
                <a:ea typeface="Cambria Math" pitchFamily="18" charset="0"/>
              </a:rPr>
              <a:t>,</a:t>
            </a:r>
            <a:r>
              <a:rPr lang="en-US" i="1" dirty="0" err="1">
                <a:latin typeface="Cambria Math" pitchFamily="18" charset="0"/>
                <a:ea typeface="Cambria Math" pitchFamily="18" charset="0"/>
              </a:rPr>
              <a:t>b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] = {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x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| 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dirty="0">
                <a:latin typeface="Cambria Math"/>
                <a:ea typeface="Cambria Math"/>
              </a:rPr>
              <a:t>≤ </a:t>
            </a:r>
            <a:r>
              <a:rPr lang="en-US" i="1" dirty="0">
                <a:latin typeface="Cambria Math"/>
                <a:ea typeface="Cambria Math"/>
              </a:rPr>
              <a:t>x</a:t>
            </a:r>
            <a:r>
              <a:rPr lang="en-US" dirty="0">
                <a:latin typeface="Cambria Math"/>
                <a:ea typeface="Cambria Math"/>
              </a:rPr>
              <a:t> ≤ </a:t>
            </a:r>
            <a:r>
              <a:rPr lang="en-US" i="1" dirty="0">
                <a:latin typeface="Cambria Math"/>
                <a:ea typeface="Cambria Math"/>
              </a:rPr>
              <a:t>b</a:t>
            </a:r>
            <a:r>
              <a:rPr lang="en-US" dirty="0">
                <a:latin typeface="Cambria Math"/>
                <a:ea typeface="Cambria Math"/>
              </a:rPr>
              <a:t>} </a:t>
            </a:r>
            <a:r>
              <a:rPr lang="en-US" sz="2000" dirty="0"/>
              <a:t>e.g. [0, 5] = { 0,1, 2, 3, 4,5}</a:t>
            </a:r>
          </a:p>
          <a:p>
            <a:pPr marL="114300" indent="0">
              <a:buNone/>
            </a:pPr>
            <a:r>
              <a:rPr lang="en-US" dirty="0">
                <a:latin typeface="Cambria Math" pitchFamily="18" charset="0"/>
                <a:ea typeface="Cambria Math" pitchFamily="18" charset="0"/>
              </a:rPr>
              <a:t>    [</a:t>
            </a:r>
            <a:r>
              <a:rPr lang="en-US" i="1" dirty="0" err="1"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dirty="0" err="1">
                <a:latin typeface="Cambria Math" pitchFamily="18" charset="0"/>
                <a:ea typeface="Cambria Math" pitchFamily="18" charset="0"/>
              </a:rPr>
              <a:t>,</a:t>
            </a:r>
            <a:r>
              <a:rPr lang="en-US" i="1" dirty="0" err="1">
                <a:latin typeface="Cambria Math" pitchFamily="18" charset="0"/>
                <a:ea typeface="Cambria Math" pitchFamily="18" charset="0"/>
              </a:rPr>
              <a:t>b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) = {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x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| 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dirty="0">
                <a:latin typeface="Cambria Math"/>
                <a:ea typeface="Cambria Math"/>
              </a:rPr>
              <a:t>≤ </a:t>
            </a:r>
            <a:r>
              <a:rPr lang="en-US" i="1" dirty="0">
                <a:latin typeface="Cambria Math"/>
                <a:ea typeface="Cambria Math"/>
              </a:rPr>
              <a:t>x</a:t>
            </a:r>
            <a:r>
              <a:rPr lang="en-US" dirty="0">
                <a:latin typeface="Cambria Math"/>
                <a:ea typeface="Cambria Math"/>
              </a:rPr>
              <a:t> &lt; </a:t>
            </a:r>
            <a:r>
              <a:rPr lang="en-US" i="1" dirty="0">
                <a:latin typeface="Cambria Math"/>
                <a:ea typeface="Cambria Math"/>
              </a:rPr>
              <a:t>b</a:t>
            </a:r>
            <a:r>
              <a:rPr lang="en-US" dirty="0">
                <a:latin typeface="Cambria Math"/>
                <a:ea typeface="Cambria Math"/>
              </a:rPr>
              <a:t>} </a:t>
            </a:r>
            <a:r>
              <a:rPr lang="en-US" sz="2000" dirty="0"/>
              <a:t>e.g. [0, 5) = {0, 1, 2, 3, 4}</a:t>
            </a:r>
          </a:p>
          <a:p>
            <a:r>
              <a:rPr lang="en-US" sz="2000" dirty="0"/>
              <a:t>A bit like array </a:t>
            </a:r>
            <a:r>
              <a:rPr lang="en-US" sz="2000" dirty="0" err="1"/>
              <a:t>indicies</a:t>
            </a:r>
            <a:r>
              <a:rPr lang="en-US" sz="2000" dirty="0"/>
              <a:t> in C, </a:t>
            </a:r>
          </a:p>
          <a:p>
            <a:r>
              <a:rPr lang="en-US" sz="2000" dirty="0"/>
              <a:t>e.g. A[5]</a:t>
            </a:r>
            <a:endParaRPr lang="en-US" dirty="0">
              <a:latin typeface="Cambria Math"/>
              <a:ea typeface="Cambria Math"/>
            </a:endParaRPr>
          </a:p>
          <a:p>
            <a:pPr>
              <a:buNone/>
            </a:pPr>
            <a:r>
              <a:rPr lang="en-US" dirty="0">
                <a:latin typeface="Cambria Math" pitchFamily="18" charset="0"/>
                <a:ea typeface="Cambria Math" pitchFamily="18" charset="0"/>
              </a:rPr>
              <a:t>   (</a:t>
            </a:r>
            <a:r>
              <a:rPr lang="en-US" i="1" dirty="0" err="1"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dirty="0" err="1">
                <a:latin typeface="Cambria Math" pitchFamily="18" charset="0"/>
                <a:ea typeface="Cambria Math" pitchFamily="18" charset="0"/>
              </a:rPr>
              <a:t>,</a:t>
            </a:r>
            <a:r>
              <a:rPr lang="en-US" i="1" dirty="0" err="1">
                <a:latin typeface="Cambria Math" pitchFamily="18" charset="0"/>
                <a:ea typeface="Cambria Math" pitchFamily="18" charset="0"/>
              </a:rPr>
              <a:t>b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] = {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x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| 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dirty="0">
                <a:latin typeface="Cambria Math"/>
                <a:ea typeface="Cambria Math"/>
              </a:rPr>
              <a:t>&lt; </a:t>
            </a:r>
            <a:r>
              <a:rPr lang="en-US" i="1" dirty="0">
                <a:latin typeface="Cambria Math"/>
                <a:ea typeface="Cambria Math"/>
              </a:rPr>
              <a:t>x</a:t>
            </a:r>
            <a:r>
              <a:rPr lang="en-US" dirty="0">
                <a:latin typeface="Cambria Math"/>
                <a:ea typeface="Cambria Math"/>
              </a:rPr>
              <a:t> ≤ </a:t>
            </a:r>
            <a:r>
              <a:rPr lang="en-US" i="1" dirty="0">
                <a:latin typeface="Cambria Math"/>
                <a:ea typeface="Cambria Math"/>
              </a:rPr>
              <a:t>b</a:t>
            </a:r>
            <a:r>
              <a:rPr lang="en-US" dirty="0">
                <a:latin typeface="Cambria Math"/>
                <a:ea typeface="Cambria Math"/>
              </a:rPr>
              <a:t>}</a:t>
            </a:r>
            <a:r>
              <a:rPr lang="en-US" sz="2400" dirty="0"/>
              <a:t> e.g. (0, 5] = { 1, 2, 3, 4,5}</a:t>
            </a:r>
          </a:p>
          <a:p>
            <a:pPr>
              <a:buNone/>
            </a:pPr>
            <a:r>
              <a:rPr lang="en-US" dirty="0">
                <a:latin typeface="Cambria Math" pitchFamily="18" charset="0"/>
                <a:ea typeface="Cambria Math" pitchFamily="18" charset="0"/>
              </a:rPr>
              <a:t>   (</a:t>
            </a:r>
            <a:r>
              <a:rPr lang="en-US" i="1" dirty="0" err="1"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dirty="0" err="1">
                <a:latin typeface="Cambria Math" pitchFamily="18" charset="0"/>
                <a:ea typeface="Cambria Math" pitchFamily="18" charset="0"/>
              </a:rPr>
              <a:t>,</a:t>
            </a:r>
            <a:r>
              <a:rPr lang="en-US" i="1" dirty="0" err="1">
                <a:latin typeface="Cambria Math" pitchFamily="18" charset="0"/>
                <a:ea typeface="Cambria Math" pitchFamily="18" charset="0"/>
              </a:rPr>
              <a:t>b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) = {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x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| 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dirty="0">
                <a:latin typeface="Cambria Math"/>
                <a:ea typeface="Cambria Math"/>
              </a:rPr>
              <a:t>&lt; </a:t>
            </a:r>
            <a:r>
              <a:rPr lang="en-US" i="1" dirty="0">
                <a:latin typeface="Cambria Math"/>
                <a:ea typeface="Cambria Math"/>
              </a:rPr>
              <a:t>x</a:t>
            </a:r>
            <a:r>
              <a:rPr lang="en-US" dirty="0">
                <a:latin typeface="Cambria Math"/>
                <a:ea typeface="Cambria Math"/>
              </a:rPr>
              <a:t> &lt; </a:t>
            </a:r>
            <a:r>
              <a:rPr lang="en-US" i="1" dirty="0">
                <a:latin typeface="Cambria Math"/>
                <a:ea typeface="Cambria Math"/>
              </a:rPr>
              <a:t>b</a:t>
            </a:r>
            <a:r>
              <a:rPr lang="en-US" dirty="0">
                <a:latin typeface="Cambria Math"/>
                <a:ea typeface="Cambria Math"/>
              </a:rPr>
              <a:t>} </a:t>
            </a:r>
            <a:r>
              <a:rPr lang="en-US" sz="2400" dirty="0"/>
              <a:t>e.g. (0, 5) = { 1, 2, 3, 4}</a:t>
            </a:r>
          </a:p>
          <a:p>
            <a:pPr>
              <a:buNone/>
            </a:pPr>
            <a:endParaRPr lang="en-US" dirty="0">
              <a:latin typeface="Cambria Math"/>
              <a:ea typeface="Cambria Math"/>
            </a:endParaRPr>
          </a:p>
          <a:p>
            <a:pPr>
              <a:buNone/>
            </a:pPr>
            <a:endParaRPr lang="en-US" dirty="0">
              <a:latin typeface="Cambria Math"/>
              <a:ea typeface="Cambria Math"/>
            </a:endParaRPr>
          </a:p>
          <a:p>
            <a:pPr>
              <a:buNone/>
            </a:pPr>
            <a:r>
              <a:rPr lang="en-US" i="1" dirty="0"/>
              <a:t>  </a:t>
            </a:r>
            <a:r>
              <a:rPr lang="en-US" b="1" i="1" dirty="0">
                <a:solidFill>
                  <a:srgbClr val="FF0000"/>
                </a:solidFill>
              </a:rPr>
              <a:t>Closed interval:  </a:t>
            </a:r>
            <a:r>
              <a:rPr lang="en-US" dirty="0"/>
              <a:t>[</a:t>
            </a:r>
            <a:r>
              <a:rPr lang="en-US" dirty="0" err="1"/>
              <a:t>a,b</a:t>
            </a:r>
            <a:r>
              <a:rPr lang="en-US" dirty="0"/>
              <a:t>] that has limit points</a:t>
            </a:r>
          </a:p>
          <a:p>
            <a:pPr>
              <a:buNone/>
            </a:pPr>
            <a:r>
              <a:rPr lang="en-US" i="1" dirty="0"/>
              <a:t>  </a:t>
            </a:r>
            <a:r>
              <a:rPr lang="en-US" b="1" i="1" dirty="0">
                <a:solidFill>
                  <a:srgbClr val="FF0000"/>
                </a:solidFill>
              </a:rPr>
              <a:t>Open interval: </a:t>
            </a:r>
            <a:r>
              <a:rPr lang="en-US" dirty="0"/>
              <a:t>(</a:t>
            </a:r>
            <a:r>
              <a:rPr lang="en-US" dirty="0" err="1"/>
              <a:t>a,b</a:t>
            </a:r>
            <a:r>
              <a:rPr lang="en-US" dirty="0"/>
              <a:t>) interval has no end points</a:t>
            </a:r>
          </a:p>
          <a:p>
            <a:pPr>
              <a:buNone/>
            </a:pPr>
            <a:endParaRPr lang="en-US" dirty="0">
              <a:latin typeface="Cambria Math" pitchFamily="18" charset="0"/>
              <a:ea typeface="Cambria Math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399" y="381000"/>
            <a:ext cx="7685373" cy="556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394748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99" y="304800"/>
            <a:ext cx="7988479" cy="617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549230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/>
          <a:lstStyle/>
          <a:p>
            <a:r>
              <a:rPr lang="en-US" dirty="0"/>
              <a:t>Universal Set and Empty 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1493520"/>
          </a:xfrm>
        </p:spPr>
        <p:txBody>
          <a:bodyPr>
            <a:normAutofit/>
          </a:bodyPr>
          <a:lstStyle/>
          <a:p>
            <a:r>
              <a:rPr lang="en-US" sz="2400" dirty="0"/>
              <a:t>The </a:t>
            </a:r>
            <a:r>
              <a:rPr lang="en-US" sz="2400" i="1" dirty="0"/>
              <a:t>universal set</a:t>
            </a:r>
            <a:r>
              <a:rPr lang="en-US" sz="2400" dirty="0"/>
              <a:t> </a:t>
            </a:r>
            <a:r>
              <a:rPr lang="en-US" sz="2400" i="1" dirty="0"/>
              <a:t>U </a:t>
            </a:r>
            <a:r>
              <a:rPr lang="en-US" sz="2400" dirty="0"/>
              <a:t>contains everything in the </a:t>
            </a:r>
            <a:r>
              <a:rPr lang="en-US" sz="2400" i="1" dirty="0"/>
              <a:t>domain</a:t>
            </a:r>
            <a:r>
              <a:rPr lang="en-US" sz="2400" dirty="0"/>
              <a:t>. </a:t>
            </a:r>
          </a:p>
          <a:p>
            <a:r>
              <a:rPr lang="en-US" sz="2400" dirty="0"/>
              <a:t>The empty set has no elements; written as </a:t>
            </a:r>
            <a:r>
              <a:rPr lang="en-US" sz="2400" b="1" dirty="0">
                <a:solidFill>
                  <a:srgbClr val="FF0000"/>
                </a:solidFill>
                <a:latin typeface="Cambria Math"/>
                <a:ea typeface="Cambria Math"/>
              </a:rPr>
              <a:t>∅, or </a:t>
            </a:r>
            <a:r>
              <a:rPr lang="en-US" sz="2400" b="1" dirty="0">
                <a:solidFill>
                  <a:srgbClr val="FF0000"/>
                </a:solidFill>
              </a:rPr>
              <a:t>{} </a:t>
            </a:r>
            <a:endParaRPr lang="en-US" sz="2400" b="1" dirty="0">
              <a:solidFill>
                <a:srgbClr val="FF0000"/>
              </a:solidFill>
              <a:ea typeface="Cambria Math" pitchFamily="18" charset="0"/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5638800" y="3794916"/>
            <a:ext cx="2590800" cy="1676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6705600" y="4480716"/>
            <a:ext cx="1295400" cy="6858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772400" y="3413916"/>
            <a:ext cx="45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5471316"/>
            <a:ext cx="2057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Venn Diagram</a:t>
            </a:r>
          </a:p>
          <a:p>
            <a:r>
              <a:rPr lang="en-US"/>
              <a:t>(the domain is the </a:t>
            </a:r>
          </a:p>
          <a:p>
            <a:r>
              <a:rPr lang="en-US"/>
              <a:t>small letters)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705600" y="4411719"/>
            <a:ext cx="106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  </a:t>
            </a:r>
            <a:r>
              <a:rPr lang="en-US" sz="2400"/>
              <a:t>a  e  </a:t>
            </a:r>
            <a:r>
              <a:rPr lang="en-US" sz="2400" dirty="0" err="1"/>
              <a:t>i</a:t>
            </a:r>
            <a:endParaRPr lang="en-US" sz="2400" dirty="0"/>
          </a:p>
          <a:p>
            <a:r>
              <a:rPr lang="en-US" sz="2400" dirty="0"/>
              <a:t>    </a:t>
            </a:r>
            <a:r>
              <a:rPr lang="en-US" sz="2400"/>
              <a:t>o  u</a:t>
            </a:r>
            <a:endParaRPr lang="en-US" sz="2400" dirty="0"/>
          </a:p>
        </p:txBody>
      </p:sp>
      <p:pic>
        <p:nvPicPr>
          <p:cNvPr id="13" name="Picture 12" descr="0204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flipH="1">
            <a:off x="1600200" y="3276600"/>
            <a:ext cx="2438400" cy="282954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752600" y="6004716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John Venn </a:t>
            </a:r>
            <a:r>
              <a:rPr lang="en-US"/>
              <a:t>(1834-1923)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791200" y="4023516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7506" y="3945083"/>
            <a:ext cx="3273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44866" y="4641210"/>
            <a:ext cx="3593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600" y="4556916"/>
            <a:ext cx="2792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0900" y="3875581"/>
            <a:ext cx="3417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4019051"/>
            <a:ext cx="4203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...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Sets in Sets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Sets can be elements of sets.</a:t>
            </a:r>
          </a:p>
          <a:p>
            <a:pPr>
              <a:buNone/>
            </a:pPr>
            <a:r>
              <a:rPr lang="en-US" sz="2400" dirty="0">
                <a:latin typeface="Cambria Math" pitchFamily="18" charset="0"/>
                <a:ea typeface="Cambria Math" pitchFamily="18" charset="0"/>
              </a:rPr>
              <a:t>         {{1,2,3}, </a:t>
            </a:r>
            <a:r>
              <a:rPr lang="en-US" sz="2400" i="1" dirty="0"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, {</a:t>
            </a:r>
            <a:r>
              <a:rPr lang="en-US" sz="2400" i="1" dirty="0" err="1">
                <a:latin typeface="Cambria Math" pitchFamily="18" charset="0"/>
                <a:ea typeface="Cambria Math" pitchFamily="18" charset="0"/>
              </a:rPr>
              <a:t>b,c</a:t>
            </a:r>
            <a:r>
              <a:rPr lang="en-US" sz="2400" i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}}</a:t>
            </a:r>
          </a:p>
          <a:p>
            <a:pPr>
              <a:buNone/>
            </a:pPr>
            <a:r>
              <a:rPr lang="en-US" sz="2400" dirty="0">
                <a:latin typeface="Cambria Math" pitchFamily="18" charset="0"/>
                <a:ea typeface="Cambria Math" pitchFamily="18" charset="0"/>
              </a:rPr>
              <a:t>          {</a:t>
            </a:r>
            <a:r>
              <a:rPr lang="en-US" sz="2400" b="1" dirty="0">
                <a:latin typeface="Cambria Math" pitchFamily="18" charset="0"/>
                <a:ea typeface="Cambria Math" pitchFamily="18" charset="0"/>
              </a:rPr>
              <a:t>N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,</a:t>
            </a:r>
            <a:r>
              <a:rPr lang="en-US" sz="2400" b="1" dirty="0">
                <a:latin typeface="Cambria Math" pitchFamily="18" charset="0"/>
                <a:ea typeface="Cambria Math" pitchFamily="18" charset="0"/>
              </a:rPr>
              <a:t>Z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,</a:t>
            </a:r>
            <a:r>
              <a:rPr lang="en-US" sz="2400" b="1" dirty="0">
                <a:latin typeface="Cambria Math" pitchFamily="18" charset="0"/>
                <a:ea typeface="Cambria Math" pitchFamily="18" charset="0"/>
              </a:rPr>
              <a:t>Q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,</a:t>
            </a:r>
            <a:r>
              <a:rPr lang="en-US" sz="2400" b="1" dirty="0">
                <a:latin typeface="Cambria Math" pitchFamily="18" charset="0"/>
                <a:ea typeface="Cambria Math" pitchFamily="18" charset="0"/>
              </a:rPr>
              <a:t>R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}</a:t>
            </a:r>
          </a:p>
          <a:p>
            <a:pPr>
              <a:buNone/>
            </a:pPr>
            <a:endParaRPr lang="en-US" sz="2400" dirty="0">
              <a:latin typeface="Cambria Math" pitchFamily="18" charset="0"/>
              <a:ea typeface="Cambria Math" pitchFamily="18" charset="0"/>
            </a:endParaRPr>
          </a:p>
          <a:p>
            <a:r>
              <a:rPr lang="en-US" sz="2400" dirty="0"/>
              <a:t>The empty set is different from a set containing the empty set.</a:t>
            </a:r>
          </a:p>
          <a:p>
            <a:pPr>
              <a:buNone/>
            </a:pPr>
            <a:r>
              <a:rPr lang="en-US" sz="2400" dirty="0"/>
              <a:t>       </a:t>
            </a:r>
            <a:r>
              <a:rPr lang="en-US" sz="2400" dirty="0">
                <a:latin typeface="Cambria Math"/>
                <a:ea typeface="Cambria Math"/>
              </a:rPr>
              <a:t>∅</a:t>
            </a:r>
            <a:r>
              <a:rPr lang="en-US" sz="2400" dirty="0"/>
              <a:t>  </a:t>
            </a:r>
            <a:r>
              <a:rPr lang="en-US" sz="2400" dirty="0">
                <a:latin typeface="Cambria Math"/>
                <a:ea typeface="Cambria Math"/>
              </a:rPr>
              <a:t>≠ { ∅ } 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3733800" y="4953000"/>
            <a:ext cx="990600" cy="6096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733800" y="6019800"/>
            <a:ext cx="11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empty set</a:t>
            </a:r>
          </a:p>
        </p:txBody>
      </p:sp>
      <p:cxnSp>
        <p:nvCxnSpPr>
          <p:cNvPr id="8" name="Straight Arrow Connector 7"/>
          <p:cNvCxnSpPr>
            <a:stCxn id="6" idx="0"/>
          </p:cNvCxnSpPr>
          <p:nvPr/>
        </p:nvCxnSpPr>
        <p:spPr>
          <a:xfrm flipH="1" flipV="1">
            <a:off x="4229100" y="5638800"/>
            <a:ext cx="80082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6019800" y="4953000"/>
            <a:ext cx="990600" cy="6096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5638800" y="4800600"/>
            <a:ext cx="1752600" cy="838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029200" y="4953000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≠</a:t>
            </a:r>
          </a:p>
        </p:txBody>
      </p:sp>
      <p:sp>
        <p:nvSpPr>
          <p:cNvPr id="12" name="Oval 11"/>
          <p:cNvSpPr/>
          <p:nvPr/>
        </p:nvSpPr>
        <p:spPr>
          <a:xfrm>
            <a:off x="6172200" y="1752600"/>
            <a:ext cx="7620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5791200" y="1600200"/>
            <a:ext cx="2667000" cy="1371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7162800" y="2074985"/>
            <a:ext cx="990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7206762" y="2148952"/>
            <a:ext cx="8787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1  2  3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2802" y="1844152"/>
            <a:ext cx="5607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b 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199" y="2453752"/>
            <a:ext cx="3321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Set Cardinality (size, | | 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400" b="1" dirty="0"/>
              <a:t>   </a:t>
            </a:r>
            <a:r>
              <a:rPr lang="en-US" sz="2400" dirty="0"/>
              <a:t>The  </a:t>
            </a:r>
            <a:r>
              <a:rPr lang="en-US" sz="2400" i="1" dirty="0"/>
              <a:t>cardinality</a:t>
            </a:r>
            <a:r>
              <a:rPr lang="en-US" sz="2400" dirty="0"/>
              <a:t> of a set </a:t>
            </a:r>
            <a:r>
              <a:rPr lang="en-US" sz="2400" i="1" dirty="0"/>
              <a:t>A,</a:t>
            </a:r>
            <a:r>
              <a:rPr lang="en-US" sz="2400" dirty="0"/>
              <a:t> |</a:t>
            </a:r>
            <a:r>
              <a:rPr lang="en-US" sz="2400" i="1" dirty="0"/>
              <a:t>A</a:t>
            </a:r>
            <a:r>
              <a:rPr lang="en-US" sz="2400" dirty="0"/>
              <a:t>|, is the number of elements in </a:t>
            </a:r>
            <a:r>
              <a:rPr lang="en-US" sz="2400" i="1" dirty="0"/>
              <a:t>A</a:t>
            </a:r>
            <a:r>
              <a:rPr lang="en-US" sz="2400" dirty="0"/>
              <a:t>. </a:t>
            </a:r>
          </a:p>
          <a:p>
            <a:pPr>
              <a:buNone/>
            </a:pPr>
            <a:r>
              <a:rPr lang="en-US" sz="2400" dirty="0"/>
              <a:t>   </a:t>
            </a:r>
            <a:r>
              <a:rPr lang="en-US" sz="2400" b="1" dirty="0"/>
              <a:t>Examples</a:t>
            </a:r>
            <a:r>
              <a:rPr lang="en-US" sz="2400" dirty="0"/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|ø| = 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0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|{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1,2,3</a:t>
            </a:r>
            <a:r>
              <a:rPr lang="en-US" sz="2400" dirty="0"/>
              <a:t>}| = 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3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600" dirty="0">
                <a:solidFill>
                  <a:srgbClr val="FF0000"/>
                </a:solidFill>
              </a:rPr>
              <a:t>|{ø}| = </a:t>
            </a:r>
            <a:r>
              <a:rPr lang="en-US" sz="3600" dirty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</a:rPr>
              <a:t>1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The set of integers is infinite in size.</a:t>
            </a:r>
          </a:p>
          <a:p>
            <a:pPr>
              <a:buNone/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Subset (</a:t>
            </a:r>
            <a:r>
              <a:rPr lang="en-US" dirty="0">
                <a:solidFill>
                  <a:srgbClr val="FF0000"/>
                </a:solidFill>
                <a:sym typeface="Symbol"/>
              </a:rPr>
              <a:t></a:t>
            </a:r>
            <a:r>
              <a:rPr lang="en-US" dirty="0">
                <a:sym typeface="Symbol"/>
              </a:rPr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24000"/>
            <a:ext cx="8229600" cy="2514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dirty="0"/>
              <a:t>   </a:t>
            </a:r>
            <a:r>
              <a:rPr lang="en-US" sz="2800" dirty="0"/>
              <a:t>The set </a:t>
            </a:r>
            <a:r>
              <a:rPr lang="en-US" sz="2800" i="1" dirty="0"/>
              <a:t>A</a:t>
            </a:r>
            <a:r>
              <a:rPr lang="en-US" sz="2800" dirty="0"/>
              <a:t> is a </a:t>
            </a:r>
            <a:r>
              <a:rPr lang="en-US" sz="2800" i="1" dirty="0"/>
              <a:t>subset</a:t>
            </a:r>
            <a:r>
              <a:rPr lang="en-US" sz="2800" dirty="0"/>
              <a:t> of </a:t>
            </a:r>
            <a:r>
              <a:rPr lang="en-US" sz="2800" i="1" dirty="0"/>
              <a:t>B</a:t>
            </a:r>
            <a:r>
              <a:rPr lang="en-US" sz="2800" dirty="0"/>
              <a:t>, </a:t>
            </a:r>
            <a:r>
              <a:rPr lang="en-US" sz="2800" dirty="0" err="1"/>
              <a:t>iff</a:t>
            </a:r>
            <a:r>
              <a:rPr lang="en-US" sz="2800" dirty="0"/>
              <a:t> every element of </a:t>
            </a:r>
            <a:r>
              <a:rPr lang="en-US" sz="2800" i="1" dirty="0"/>
              <a:t>A</a:t>
            </a:r>
            <a:r>
              <a:rPr lang="en-US" sz="2800" dirty="0"/>
              <a:t> is also an element of </a:t>
            </a:r>
            <a:r>
              <a:rPr lang="en-US" sz="2800" i="1" dirty="0"/>
              <a:t>B</a:t>
            </a:r>
            <a:r>
              <a:rPr lang="en-US" sz="2800" dirty="0"/>
              <a:t>.  </a:t>
            </a:r>
          </a:p>
          <a:p>
            <a:pPr lvl="1"/>
            <a:r>
              <a:rPr lang="en-US" sz="2800" i="1" dirty="0"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sz="2800" dirty="0">
                <a:latin typeface="Cambria Math" pitchFamily="18" charset="0"/>
                <a:ea typeface="Cambria Math" pitchFamily="18" charset="0"/>
              </a:rPr>
              <a:t> ⊆ </a:t>
            </a:r>
            <a:r>
              <a:rPr lang="en-US" sz="2800" i="1" dirty="0">
                <a:latin typeface="Cambria Math" pitchFamily="18" charset="0"/>
                <a:ea typeface="Cambria Math" pitchFamily="18" charset="0"/>
              </a:rPr>
              <a:t>B</a:t>
            </a:r>
            <a:r>
              <a:rPr lang="en-US" sz="2800" dirty="0">
                <a:latin typeface="Cambria Math" pitchFamily="18" charset="0"/>
                <a:ea typeface="Cambria Math" pitchFamily="18" charset="0"/>
              </a:rPr>
              <a:t>  </a:t>
            </a:r>
            <a:r>
              <a:rPr lang="en-US" sz="2800" dirty="0">
                <a:latin typeface="Cambria Math"/>
                <a:ea typeface="Cambria Math"/>
              </a:rPr>
              <a:t>means that </a:t>
            </a:r>
            <a:r>
              <a:rPr lang="en-US" sz="2800" i="1" dirty="0">
                <a:latin typeface="Cambria Math"/>
                <a:ea typeface="Cambria Math"/>
              </a:rPr>
              <a:t>A</a:t>
            </a:r>
            <a:r>
              <a:rPr lang="en-US" sz="2800" dirty="0">
                <a:latin typeface="Cambria Math"/>
                <a:ea typeface="Cambria Math"/>
              </a:rPr>
              <a:t> is a subset of the set </a:t>
            </a:r>
            <a:r>
              <a:rPr lang="en-US" sz="2800" i="1" dirty="0">
                <a:latin typeface="Cambria Math"/>
                <a:ea typeface="Cambria Math"/>
              </a:rPr>
              <a:t>B</a:t>
            </a:r>
            <a:r>
              <a:rPr lang="en-US" sz="2800" dirty="0">
                <a:latin typeface="Cambria Math"/>
                <a:ea typeface="Cambria Math"/>
              </a:rPr>
              <a:t> </a:t>
            </a:r>
          </a:p>
          <a:p>
            <a:pPr lvl="1"/>
            <a:r>
              <a:rPr lang="en-US" sz="2800" dirty="0">
                <a:latin typeface="Cambria Math"/>
                <a:ea typeface="Cambria Math"/>
              </a:rPr>
              <a:t>A is smaller (</a:t>
            </a:r>
            <a:r>
              <a:rPr lang="en-US" sz="2800" i="1" dirty="0">
                <a:latin typeface="Cambria Math"/>
                <a:ea typeface="Cambria Math"/>
              </a:rPr>
              <a:t>or the same size</a:t>
            </a:r>
            <a:r>
              <a:rPr lang="en-US" sz="2800" dirty="0">
                <a:latin typeface="Cambria Math"/>
                <a:ea typeface="Cambria Math"/>
              </a:rPr>
              <a:t>) as B</a:t>
            </a:r>
          </a:p>
          <a:p>
            <a:r>
              <a:rPr lang="en-US" sz="2800" dirty="0">
                <a:latin typeface="Cambria Math"/>
                <a:ea typeface="Cambria Math"/>
              </a:rPr>
              <a:t>Example: A = {</a:t>
            </a:r>
            <a:r>
              <a:rPr lang="en-US" sz="2800" b="1" dirty="0" err="1">
                <a:solidFill>
                  <a:srgbClr val="00B050"/>
                </a:solidFill>
                <a:latin typeface="Cambria Math"/>
                <a:ea typeface="Cambria Math"/>
              </a:rPr>
              <a:t>jim</a:t>
            </a:r>
            <a:r>
              <a:rPr lang="en-US" sz="2800" b="1" dirty="0">
                <a:solidFill>
                  <a:srgbClr val="00B050"/>
                </a:solidFill>
                <a:latin typeface="Cambria Math"/>
                <a:ea typeface="Cambria Math"/>
              </a:rPr>
              <a:t>, ben </a:t>
            </a:r>
            <a:r>
              <a:rPr lang="en-US" sz="2800" dirty="0">
                <a:latin typeface="Cambria Math"/>
                <a:ea typeface="Cambria Math"/>
              </a:rPr>
              <a:t>}, B = {</a:t>
            </a:r>
            <a:r>
              <a:rPr lang="en-US" sz="2800" b="1" dirty="0" err="1">
                <a:solidFill>
                  <a:srgbClr val="00B050"/>
                </a:solidFill>
                <a:latin typeface="Cambria Math"/>
                <a:ea typeface="Cambria Math"/>
              </a:rPr>
              <a:t>jim</a:t>
            </a:r>
            <a:r>
              <a:rPr lang="en-US" sz="2800" b="1" dirty="0">
                <a:solidFill>
                  <a:srgbClr val="00B050"/>
                </a:solidFill>
                <a:latin typeface="Cambria Math"/>
                <a:ea typeface="Cambria Math"/>
              </a:rPr>
              <a:t>, ben, </a:t>
            </a:r>
            <a:r>
              <a:rPr lang="en-US" sz="2800" dirty="0" err="1">
                <a:latin typeface="Cambria Math"/>
                <a:ea typeface="Cambria Math"/>
              </a:rPr>
              <a:t>andrew</a:t>
            </a:r>
            <a:r>
              <a:rPr lang="en-US" sz="2800" dirty="0">
                <a:latin typeface="Cambria Math"/>
                <a:ea typeface="Cambria Math"/>
              </a:rPr>
              <a:t>}</a:t>
            </a:r>
          </a:p>
          <a:p>
            <a:pPr lvl="1"/>
            <a:endParaRPr lang="en-US" sz="2800" dirty="0">
              <a:latin typeface="Cambria Math"/>
              <a:ea typeface="Cambria Math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1981200" y="4800600"/>
            <a:ext cx="3810000" cy="1600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819400" y="5269468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jim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5726668"/>
            <a:ext cx="558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8200" y="5486400"/>
            <a:ext cx="925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andrew</a:t>
            </a:r>
          </a:p>
        </p:txBody>
      </p:sp>
      <p:sp>
        <p:nvSpPr>
          <p:cNvPr id="10" name="Oval 9"/>
          <p:cNvSpPr/>
          <p:nvPr/>
        </p:nvSpPr>
        <p:spPr>
          <a:xfrm>
            <a:off x="2438400" y="4953000"/>
            <a:ext cx="1981200" cy="1295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4249521" y="5078885"/>
            <a:ext cx="340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10200" y="601980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Proper Subset (</a:t>
            </a:r>
            <a:r>
              <a:rPr lang="en-US" i="1" dirty="0">
                <a:solidFill>
                  <a:srgbClr val="FF0000"/>
                </a:solidFill>
                <a:sym typeface="Symbol"/>
              </a:rPr>
              <a:t>)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133600"/>
            <a:ext cx="8229600" cy="1417320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sz="3200" i="1" dirty="0">
                <a:latin typeface="Times New Roman" pitchFamily="18" charset="0"/>
                <a:ea typeface="Cambria Math" pitchFamily="18" charset="0"/>
                <a:cs typeface="Times New Roman" pitchFamily="18" charset="0"/>
              </a:rPr>
              <a:t>A</a:t>
            </a:r>
            <a:r>
              <a:rPr lang="en-US" sz="3200" dirty="0">
                <a:latin typeface="Times New Roman" pitchFamily="18" charset="0"/>
                <a:ea typeface="Cambria Math" pitchFamily="18" charset="0"/>
                <a:cs typeface="Times New Roman" pitchFamily="18" charset="0"/>
              </a:rPr>
              <a:t> ⊆ </a:t>
            </a:r>
            <a:r>
              <a:rPr lang="en-US" sz="3200" i="1" dirty="0">
                <a:latin typeface="Times New Roman" pitchFamily="18" charset="0"/>
                <a:ea typeface="Cambria Math" pitchFamily="18" charset="0"/>
                <a:cs typeface="Times New Roman" pitchFamily="18" charset="0"/>
              </a:rPr>
              <a:t>B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, but </a:t>
            </a:r>
            <a:r>
              <a:rPr lang="en-US" sz="3200" i="1" dirty="0">
                <a:latin typeface="Times New Roman" pitchFamily="18" charset="0"/>
                <a:ea typeface="Cambria Math" pitchFamily="18" charset="0"/>
                <a:cs typeface="Times New Roman" pitchFamily="18" charset="0"/>
              </a:rPr>
              <a:t>A</a:t>
            </a:r>
            <a:r>
              <a:rPr lang="en-US" sz="3200" dirty="0">
                <a:latin typeface="Times New Roman" pitchFamily="18" charset="0"/>
                <a:ea typeface="Cambria Math" pitchFamily="18" charset="0"/>
                <a:cs typeface="Times New Roman" pitchFamily="18" charset="0"/>
              </a:rPr>
              <a:t> </a:t>
            </a:r>
            <a:r>
              <a:rPr lang="en-US" sz="3200" dirty="0">
                <a:latin typeface="Times New Roman" pitchFamily="18" charset="0"/>
                <a:ea typeface="Cambria Math"/>
                <a:cs typeface="Times New Roman" pitchFamily="18" charset="0"/>
              </a:rPr>
              <a:t>≠</a:t>
            </a:r>
            <a:r>
              <a:rPr lang="en-US" sz="3200" i="1" dirty="0">
                <a:latin typeface="Times New Roman" pitchFamily="18" charset="0"/>
                <a:ea typeface="Cambria Math" pitchFamily="18" charset="0"/>
                <a:cs typeface="Times New Roman" pitchFamily="18" charset="0"/>
              </a:rPr>
              <a:t>B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, then </a:t>
            </a:r>
            <a:r>
              <a:rPr lang="en-US" sz="3200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is a</a:t>
            </a:r>
            <a:r>
              <a:rPr lang="en-US" sz="32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proper subset</a:t>
            </a:r>
            <a:r>
              <a:rPr lang="en-US" sz="32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of </a:t>
            </a:r>
            <a:r>
              <a:rPr lang="en-US" sz="3200" i="1" dirty="0">
                <a:latin typeface="Times New Roman" pitchFamily="18" charset="0"/>
                <a:cs typeface="Times New Roman" pitchFamily="18" charset="0"/>
              </a:rPr>
              <a:t>B</a:t>
            </a:r>
          </a:p>
          <a:p>
            <a:pPr lvl="1"/>
            <a:r>
              <a:rPr lang="en-US" sz="3200" i="1" dirty="0">
                <a:latin typeface="Times New Roman" pitchFamily="18" charset="0"/>
                <a:cs typeface="Times New Roman" pitchFamily="18" charset="0"/>
              </a:rPr>
              <a:t>written as A </a:t>
            </a:r>
            <a:r>
              <a:rPr lang="en-US" sz="3200" i="1" dirty="0">
                <a:latin typeface="Times New Roman" pitchFamily="18" charset="0"/>
                <a:cs typeface="Times New Roman" pitchFamily="18" charset="0"/>
                <a:sym typeface="Symbol"/>
              </a:rPr>
              <a:t>  B</a:t>
            </a:r>
          </a:p>
          <a:p>
            <a:pPr lvl="1"/>
            <a:r>
              <a:rPr lang="en-US" sz="3200" i="1" dirty="0">
                <a:latin typeface="Times New Roman" pitchFamily="18" charset="0"/>
                <a:cs typeface="Times New Roman" pitchFamily="18" charset="0"/>
              </a:rPr>
              <a:t>A is smaller than B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ED33A-1F39-234E-9603-F356BBA67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Proper Subsets?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248A-8705-9F43-BAB3-F339B8D3C4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057400"/>
            <a:ext cx="7620000" cy="4800600"/>
          </a:xfrm>
        </p:spPr>
        <p:txBody>
          <a:bodyPr/>
          <a:lstStyle/>
          <a:p>
            <a:r>
              <a:rPr lang="en-US" dirty="0"/>
              <a:t> </a:t>
            </a:r>
            <a:r>
              <a:rPr lang="en-US" b="1" dirty="0"/>
              <a:t>Set A is considered to be a proper subset of Set B if Set B contains at least one element that is not present in Set A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 Example: If set A has elements as {12, 24} and set B has elements as {12, 24,</a:t>
            </a:r>
            <a:r>
              <a:rPr lang="en-US" dirty="0">
                <a:solidFill>
                  <a:srgbClr val="FF0000"/>
                </a:solidFill>
              </a:rPr>
              <a:t> 36</a:t>
            </a:r>
            <a:r>
              <a:rPr lang="en-US" dirty="0"/>
              <a:t>}, then set A is the proper subset of B because 36 is not present in the set 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18687B-88A7-3845-801A-6EF38151C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6714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E562C-A7D7-9444-9F96-6BF150FC2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Empty Set/NULL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C4D65-7178-D246-A218-4595C8432C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empty set is </a:t>
            </a:r>
            <a:r>
              <a:rPr lang="en-US" b="1" dirty="0"/>
              <a:t>the unique set having no elements; its size or cardinality (count of elements in a set) is zero</a:t>
            </a:r>
          </a:p>
          <a:p>
            <a:endParaRPr lang="en-US" b="1" dirty="0"/>
          </a:p>
          <a:p>
            <a:endParaRPr lang="en-US" b="1" dirty="0"/>
          </a:p>
          <a:p>
            <a:pPr marL="114300" indent="0">
              <a:buNone/>
            </a:pPr>
            <a:r>
              <a:rPr lang="en-US" b="1" dirty="0"/>
              <a:t>  		{}= </a:t>
            </a:r>
            <a:r>
              <a:rPr lang="en-US" dirty="0">
                <a:latin typeface="Cambria Math"/>
                <a:ea typeface="Cambria Math"/>
              </a:rPr>
              <a:t>∅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FEE72D-8E5B-1C49-8439-D89309761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B894729-1AAE-9A4F-8E1B-8012980B6F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7788" y="2922868"/>
            <a:ext cx="5334000" cy="3935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1984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36EB8-9582-5C46-A1C5-46A0048ED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16561C4-C206-024C-98E0-60B7347D84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302" y="0"/>
            <a:ext cx="8010486" cy="67056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8BE33D-DF89-A748-965E-4829D9F09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3170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660C4-DC4D-1B44-A7C1-D336107F2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Singleton Set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498EAB1-E6F1-2442-86D0-40FC935018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813799"/>
            <a:ext cx="7620000" cy="437340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A03AEF-4C90-9A4D-83C8-CDE3082B4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7946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Set 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828800"/>
            <a:ext cx="8229600" cy="2560320"/>
          </a:xfrm>
        </p:spPr>
        <p:txBody>
          <a:bodyPr>
            <a:noAutofit/>
          </a:bodyPr>
          <a:lstStyle/>
          <a:p>
            <a:pPr lvl="1"/>
            <a:r>
              <a:rPr lang="en-US" sz="3600" dirty="0"/>
              <a:t>Union</a:t>
            </a:r>
          </a:p>
          <a:p>
            <a:pPr lvl="1"/>
            <a:r>
              <a:rPr lang="en-US" sz="3600" dirty="0"/>
              <a:t>Intersection</a:t>
            </a:r>
          </a:p>
          <a:p>
            <a:pPr lvl="1"/>
            <a:r>
              <a:rPr lang="en-US" sz="3600" dirty="0"/>
              <a:t>Complement</a:t>
            </a:r>
          </a:p>
          <a:p>
            <a:pPr lvl="1"/>
            <a:r>
              <a:rPr lang="en-US" sz="3600" dirty="0"/>
              <a:t>Difference</a:t>
            </a:r>
          </a:p>
          <a:p>
            <a:pPr lvl="1"/>
            <a:r>
              <a:rPr lang="en-US" sz="3600" dirty="0"/>
              <a:t>Cardinality of Union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Union (</a:t>
            </a:r>
            <a:r>
              <a:rPr lang="en-US">
                <a:sym typeface="Symbol"/>
              </a:rPr>
              <a:t>)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The </a:t>
            </a:r>
            <a:r>
              <a:rPr lang="en-US" sz="2800" i="1" dirty="0"/>
              <a:t>union</a:t>
            </a:r>
            <a:r>
              <a:rPr lang="en-US" sz="2800" dirty="0"/>
              <a:t> of the sets </a:t>
            </a:r>
            <a:r>
              <a:rPr lang="en-US" sz="2800" i="1" dirty="0"/>
              <a:t>A</a:t>
            </a:r>
            <a:r>
              <a:rPr lang="en-US" sz="2800" dirty="0"/>
              <a:t> and </a:t>
            </a:r>
            <a:r>
              <a:rPr lang="en-US" sz="2800" i="1" dirty="0"/>
              <a:t>B</a:t>
            </a:r>
            <a:r>
              <a:rPr lang="en-US" sz="2800" dirty="0"/>
              <a:t> is </a:t>
            </a:r>
            <a:r>
              <a:rPr lang="en-US" sz="2800" i="1" dirty="0">
                <a:ea typeface="Cambria Math" pitchFamily="18" charset="0"/>
              </a:rPr>
              <a:t>A</a:t>
            </a:r>
            <a:r>
              <a:rPr lang="en-US" sz="2800" b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800" dirty="0">
                <a:latin typeface="Cambria Math"/>
                <a:ea typeface="Cambria Math"/>
              </a:rPr>
              <a:t>∪ </a:t>
            </a:r>
            <a:r>
              <a:rPr lang="en-US" sz="2800" i="1" dirty="0">
                <a:ea typeface="Cambria Math"/>
              </a:rPr>
              <a:t>B</a:t>
            </a:r>
            <a:endParaRPr lang="en-US" sz="2800" dirty="0"/>
          </a:p>
          <a:p>
            <a:endParaRPr lang="en-US" sz="2800" dirty="0"/>
          </a:p>
          <a:p>
            <a:r>
              <a:rPr lang="en-US" sz="2800" b="1" dirty="0"/>
              <a:t>Example</a:t>
            </a:r>
            <a:r>
              <a:rPr lang="en-US" sz="2800" dirty="0"/>
              <a:t>: What is   {</a:t>
            </a:r>
            <a:r>
              <a:rPr lang="en-US" sz="2800" dirty="0">
                <a:latin typeface="Cambria Math" pitchFamily="18" charset="0"/>
                <a:ea typeface="Cambria Math" pitchFamily="18" charset="0"/>
              </a:rPr>
              <a:t>1,2,3} </a:t>
            </a:r>
            <a:r>
              <a:rPr lang="en-US" sz="2800" dirty="0"/>
              <a:t> </a:t>
            </a:r>
            <a:r>
              <a:rPr lang="en-US" sz="2800" dirty="0">
                <a:latin typeface="Cambria Math"/>
                <a:ea typeface="Cambria Math"/>
              </a:rPr>
              <a:t>∪ {3, 4, 5}</a:t>
            </a:r>
            <a:r>
              <a:rPr lang="en-US" sz="2800" dirty="0"/>
              <a:t>?</a:t>
            </a:r>
          </a:p>
          <a:p>
            <a:r>
              <a:rPr lang="en-US" sz="2800" b="1" dirty="0"/>
              <a:t>Solution</a:t>
            </a:r>
            <a:r>
              <a:rPr lang="en-US" sz="2800" dirty="0"/>
              <a:t>: {</a:t>
            </a:r>
            <a:r>
              <a:rPr lang="en-US" sz="2800" dirty="0">
                <a:latin typeface="Cambria Math" pitchFamily="18" charset="0"/>
                <a:ea typeface="Cambria Math" pitchFamily="18" charset="0"/>
              </a:rPr>
              <a:t>1,2,3,4,5}</a:t>
            </a:r>
            <a:endParaRPr lang="en-US" sz="2800" dirty="0"/>
          </a:p>
          <a:p>
            <a:pPr>
              <a:buNone/>
            </a:pPr>
            <a:r>
              <a:rPr lang="en-US" sz="2800" dirty="0"/>
              <a:t>             </a:t>
            </a:r>
            <a:r>
              <a:rPr lang="en-US" sz="3200" dirty="0"/>
              <a:t>                                   </a:t>
            </a:r>
            <a:endParaRPr lang="en-US" sz="2800" dirty="0"/>
          </a:p>
          <a:p>
            <a:pPr>
              <a:buNone/>
            </a:pPr>
            <a:r>
              <a:rPr lang="en-US" sz="2800" dirty="0"/>
              <a:t>   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8153400" y="6356350"/>
            <a:ext cx="762000" cy="365125"/>
          </a:xfrm>
        </p:spPr>
        <p:txBody>
          <a:bodyPr/>
          <a:lstStyle/>
          <a:p>
            <a:fld id="{9CA217EF-0505-4C33-BB20-8A8DF2039023}" type="slidenum">
              <a:rPr lang="en-US" smtClean="0"/>
              <a:pPr/>
              <a:t>25</a:t>
            </a:fld>
            <a:endParaRPr lang="en-US"/>
          </a:p>
        </p:txBody>
      </p:sp>
      <p:grpSp>
        <p:nvGrpSpPr>
          <p:cNvPr id="21" name="Group 20"/>
          <p:cNvGrpSpPr/>
          <p:nvPr/>
        </p:nvGrpSpPr>
        <p:grpSpPr>
          <a:xfrm>
            <a:off x="3886200" y="4305300"/>
            <a:ext cx="3429000" cy="1447800"/>
            <a:chOff x="5562600" y="4724400"/>
            <a:chExt cx="3429000" cy="1447800"/>
          </a:xfrm>
        </p:grpSpPr>
        <p:sp>
          <p:nvSpPr>
            <p:cNvPr id="11" name="TextBox 10"/>
            <p:cNvSpPr txBox="1"/>
            <p:nvPr/>
          </p:nvSpPr>
          <p:spPr>
            <a:xfrm>
              <a:off x="8153400" y="4800600"/>
              <a:ext cx="838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U</a:t>
              </a:r>
            </a:p>
          </p:txBody>
        </p:sp>
        <p:grpSp>
          <p:nvGrpSpPr>
            <p:cNvPr id="20" name="Group 19"/>
            <p:cNvGrpSpPr/>
            <p:nvPr/>
          </p:nvGrpSpPr>
          <p:grpSpPr>
            <a:xfrm>
              <a:off x="5562600" y="4724400"/>
              <a:ext cx="2971800" cy="1447800"/>
              <a:chOff x="5562600" y="4724400"/>
              <a:chExt cx="2971800" cy="1447800"/>
            </a:xfrm>
          </p:grpSpPr>
          <p:sp>
            <p:nvSpPr>
              <p:cNvPr id="10" name="Rectangle 9"/>
              <p:cNvSpPr/>
              <p:nvPr/>
            </p:nvSpPr>
            <p:spPr>
              <a:xfrm>
                <a:off x="5562600" y="4724400"/>
                <a:ext cx="2971800" cy="14478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9" name="Group 18"/>
              <p:cNvGrpSpPr/>
              <p:nvPr/>
            </p:nvGrpSpPr>
            <p:grpSpPr>
              <a:xfrm>
                <a:off x="6096000" y="5029200"/>
                <a:ext cx="1905000" cy="990600"/>
                <a:chOff x="6096000" y="5029200"/>
                <a:chExt cx="1905000" cy="990600"/>
              </a:xfrm>
              <a:gradFill>
                <a:gsLst>
                  <a:gs pos="0">
                    <a:schemeClr val="accent1">
                      <a:tint val="66000"/>
                      <a:satMod val="160000"/>
                      <a:alpha val="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</p:grpSpPr>
            <p:sp>
              <p:nvSpPr>
                <p:cNvPr id="13" name="Oval 12"/>
                <p:cNvSpPr/>
                <p:nvPr/>
              </p:nvSpPr>
              <p:spPr>
                <a:xfrm>
                  <a:off x="6096000" y="5029200"/>
                  <a:ext cx="1219200" cy="990600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Oval 13"/>
                <p:cNvSpPr/>
                <p:nvPr/>
              </p:nvSpPr>
              <p:spPr>
                <a:xfrm>
                  <a:off x="6781800" y="5029200"/>
                  <a:ext cx="1219200" cy="990600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17" name="TextBox 16"/>
            <p:cNvSpPr txBox="1"/>
            <p:nvPr/>
          </p:nvSpPr>
          <p:spPr>
            <a:xfrm>
              <a:off x="6248400" y="5181600"/>
              <a:ext cx="381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A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467600" y="5257800"/>
              <a:ext cx="381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B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6553200" y="6183868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A</a:t>
            </a:r>
            <a:r>
              <a:rPr lang="en-US">
                <a:latin typeface="Cambria Math"/>
                <a:ea typeface="Cambria Math"/>
              </a:rPr>
              <a:t> </a:t>
            </a:r>
            <a:r>
              <a:rPr lang="en-US" dirty="0">
                <a:latin typeface="Cambria Math"/>
                <a:ea typeface="Cambria Math"/>
              </a:rPr>
              <a:t>∪ </a:t>
            </a:r>
            <a:r>
              <a:rPr lang="en-US" i="1" dirty="0">
                <a:latin typeface="Cambria Math"/>
                <a:ea typeface="Cambria Math"/>
              </a:rPr>
              <a:t>B</a:t>
            </a:r>
            <a:r>
              <a:rPr lang="en-US" dirty="0"/>
              <a:t>  </a:t>
            </a: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Intersection (</a:t>
            </a:r>
            <a:r>
              <a:rPr lang="en-US">
                <a:sym typeface="Symbol"/>
              </a:rPr>
              <a:t>)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i="1" dirty="0"/>
              <a:t>intersection</a:t>
            </a:r>
            <a:r>
              <a:rPr lang="en-US" dirty="0"/>
              <a:t> of sets </a:t>
            </a:r>
            <a:r>
              <a:rPr lang="en-US" i="1" dirty="0"/>
              <a:t>A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dirty="0"/>
              <a:t> is </a:t>
            </a:r>
            <a:r>
              <a:rPr lang="en-US" i="1" dirty="0">
                <a:ea typeface="Cambria Math" pitchFamily="18" charset="0"/>
              </a:rPr>
              <a:t>A </a:t>
            </a:r>
            <a:r>
              <a:rPr lang="en-US" dirty="0">
                <a:latin typeface="Cambria Math"/>
                <a:ea typeface="Cambria Math"/>
              </a:rPr>
              <a:t>∩ </a:t>
            </a:r>
            <a:r>
              <a:rPr lang="en-US" i="1" dirty="0">
                <a:ea typeface="Cambria Math"/>
              </a:rPr>
              <a:t>B</a:t>
            </a:r>
            <a:endParaRPr lang="en-US" dirty="0"/>
          </a:p>
          <a:p>
            <a:r>
              <a:rPr lang="en-US" dirty="0"/>
              <a:t>If the intersection is empty, then </a:t>
            </a:r>
            <a:r>
              <a:rPr lang="en-US" i="1" dirty="0"/>
              <a:t>A</a:t>
            </a:r>
            <a:r>
              <a:rPr lang="en-US" b="1" dirty="0"/>
              <a:t> </a:t>
            </a:r>
            <a:r>
              <a:rPr lang="en-US" dirty="0"/>
              <a:t>and </a:t>
            </a:r>
            <a:r>
              <a:rPr lang="en-US" i="1" dirty="0"/>
              <a:t>B</a:t>
            </a:r>
            <a:r>
              <a:rPr lang="en-US" dirty="0"/>
              <a:t> are called </a:t>
            </a:r>
            <a:r>
              <a:rPr lang="en-US" i="1" dirty="0"/>
              <a:t>disjoint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Example</a:t>
            </a:r>
            <a:r>
              <a:rPr lang="en-US" dirty="0"/>
              <a:t>: What is? 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{1,2,3} ∩ {3,4,5} ?    {3}</a:t>
            </a:r>
          </a:p>
          <a:p>
            <a:r>
              <a:rPr lang="en-US" b="1" dirty="0"/>
              <a:t>Example:   </a:t>
            </a:r>
            <a:r>
              <a:rPr lang="en-US" dirty="0"/>
              <a:t>What is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{1,2,3} ∩ {4,5,6} ?    </a:t>
            </a:r>
          </a:p>
          <a:p>
            <a:pPr lvl="1"/>
            <a:r>
              <a:rPr lang="en-US" b="1" dirty="0">
                <a:latin typeface="Cambria Math" pitchFamily="18" charset="0"/>
                <a:ea typeface="Cambria Math" pitchFamily="18" charset="0"/>
              </a:rPr>
              <a:t>Solution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: </a:t>
            </a:r>
            <a:r>
              <a:rPr lang="en-US" dirty="0">
                <a:latin typeface="Cambria Math"/>
                <a:ea typeface="Cambria Math"/>
              </a:rPr>
              <a:t>∅  (disjoint)</a:t>
            </a:r>
          </a:p>
          <a:p>
            <a:pPr>
              <a:buNone/>
            </a:pPr>
            <a:endParaRPr lang="en-US" dirty="0">
              <a:latin typeface="Cambria Math" pitchFamily="18" charset="0"/>
              <a:ea typeface="Cambria Math" pitchFamily="18" charset="0"/>
            </a:endParaRPr>
          </a:p>
          <a:p>
            <a:pPr>
              <a:buNone/>
            </a:pPr>
            <a:endParaRPr lang="en-US" dirty="0">
              <a:latin typeface="Cambria Math" pitchFamily="18" charset="0"/>
              <a:ea typeface="Cambria Math" pitchFamily="18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26</a:t>
            </a:fld>
            <a:endParaRPr lang="en-US"/>
          </a:p>
        </p:txBody>
      </p:sp>
      <p:grpSp>
        <p:nvGrpSpPr>
          <p:cNvPr id="36" name="Group 35"/>
          <p:cNvGrpSpPr/>
          <p:nvPr/>
        </p:nvGrpSpPr>
        <p:grpSpPr>
          <a:xfrm>
            <a:off x="5715000" y="4724400"/>
            <a:ext cx="3429000" cy="1447800"/>
            <a:chOff x="5715000" y="4724400"/>
            <a:chExt cx="3429000" cy="1447800"/>
          </a:xfrm>
        </p:grpSpPr>
        <p:sp>
          <p:nvSpPr>
            <p:cNvPr id="23" name="Oval 22"/>
            <p:cNvSpPr/>
            <p:nvPr/>
          </p:nvSpPr>
          <p:spPr>
            <a:xfrm>
              <a:off x="6934200" y="5105400"/>
              <a:ext cx="533400" cy="838200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7" name="Group 20"/>
            <p:cNvGrpSpPr/>
            <p:nvPr/>
          </p:nvGrpSpPr>
          <p:grpSpPr>
            <a:xfrm>
              <a:off x="5715000" y="4724400"/>
              <a:ext cx="2971800" cy="1447800"/>
              <a:chOff x="5715000" y="4724400"/>
              <a:chExt cx="2971800" cy="1447800"/>
            </a:xfrm>
          </p:grpSpPr>
          <p:sp>
            <p:nvSpPr>
              <p:cNvPr id="32" name="Rectangle 31"/>
              <p:cNvSpPr/>
              <p:nvPr/>
            </p:nvSpPr>
            <p:spPr>
              <a:xfrm>
                <a:off x="5715000" y="4724400"/>
                <a:ext cx="2971800" cy="14478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3" name="Group 19"/>
              <p:cNvGrpSpPr/>
              <p:nvPr/>
            </p:nvGrpSpPr>
            <p:grpSpPr>
              <a:xfrm>
                <a:off x="6248400" y="5029200"/>
                <a:ext cx="1905000" cy="990600"/>
                <a:chOff x="6248400" y="5029200"/>
                <a:chExt cx="1905000" cy="990600"/>
              </a:xfrm>
            </p:grpSpPr>
            <p:sp>
              <p:nvSpPr>
                <p:cNvPr id="34" name="Oval 33"/>
                <p:cNvSpPr/>
                <p:nvPr/>
              </p:nvSpPr>
              <p:spPr>
                <a:xfrm>
                  <a:off x="6248400" y="5029200"/>
                  <a:ext cx="1219200" cy="99060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5" name="Oval 34"/>
                <p:cNvSpPr/>
                <p:nvPr/>
              </p:nvSpPr>
              <p:spPr>
                <a:xfrm>
                  <a:off x="6934200" y="5029200"/>
                  <a:ext cx="1219200" cy="99060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28" name="Group 21"/>
            <p:cNvGrpSpPr/>
            <p:nvPr/>
          </p:nvGrpSpPr>
          <p:grpSpPr>
            <a:xfrm>
              <a:off x="6400800" y="4800600"/>
              <a:ext cx="2743200" cy="826532"/>
              <a:chOff x="6400800" y="4800600"/>
              <a:chExt cx="2743200" cy="826532"/>
            </a:xfrm>
          </p:grpSpPr>
          <p:sp>
            <p:nvSpPr>
              <p:cNvPr id="29" name="TextBox 28"/>
              <p:cNvSpPr txBox="1"/>
              <p:nvPr/>
            </p:nvSpPr>
            <p:spPr>
              <a:xfrm>
                <a:off x="8305800" y="4800600"/>
                <a:ext cx="838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/>
                  <a:t>U</a:t>
                </a:r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6400800" y="5181600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/>
                  <a:t>A</a:t>
                </a:r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7620000" y="5257800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/>
                  <a:t>B</a:t>
                </a:r>
              </a:p>
            </p:txBody>
          </p:sp>
        </p:grpSp>
      </p:grpSp>
      <p:sp>
        <p:nvSpPr>
          <p:cNvPr id="16" name="TextBox 15"/>
          <p:cNvSpPr txBox="1"/>
          <p:nvPr/>
        </p:nvSpPr>
        <p:spPr>
          <a:xfrm>
            <a:off x="6934200" y="61722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>
                <a:ea typeface="Cambria Math"/>
              </a:rPr>
              <a:t>A</a:t>
            </a:r>
            <a:r>
              <a:rPr lang="en-US" i="1">
                <a:latin typeface="Cambria Math"/>
                <a:ea typeface="Cambria Math"/>
              </a:rPr>
              <a:t> </a:t>
            </a:r>
            <a:r>
              <a:rPr lang="en-US" dirty="0">
                <a:latin typeface="Cambria Math"/>
                <a:ea typeface="Cambria Math"/>
              </a:rPr>
              <a:t>∩</a:t>
            </a:r>
            <a:r>
              <a:rPr lang="en-US" i="1" dirty="0">
                <a:ea typeface="Cambria Math"/>
              </a:rPr>
              <a:t>B</a:t>
            </a:r>
            <a:r>
              <a:rPr lang="en-US" dirty="0"/>
              <a:t>   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Complement  (not)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3093720"/>
          </a:xfrm>
        </p:spPr>
        <p:txBody>
          <a:bodyPr/>
          <a:lstStyle/>
          <a:p>
            <a:r>
              <a:rPr lang="en-US"/>
              <a:t>The </a:t>
            </a:r>
            <a:r>
              <a:rPr lang="en-US" dirty="0"/>
              <a:t>complement of </a:t>
            </a:r>
            <a:r>
              <a:rPr lang="en-US"/>
              <a:t>the set </a:t>
            </a:r>
            <a:r>
              <a:rPr lang="en-US" i="1"/>
              <a:t>A</a:t>
            </a:r>
            <a:r>
              <a:rPr lang="en-US" b="1"/>
              <a:t> </a:t>
            </a:r>
            <a:r>
              <a:rPr lang="en-US" dirty="0"/>
              <a:t>(with respect to </a:t>
            </a:r>
            <a:r>
              <a:rPr lang="en-US" i="1" dirty="0">
                <a:ea typeface="Cambria Math" pitchFamily="18" charset="0"/>
              </a:rPr>
              <a:t>U</a:t>
            </a:r>
            <a:r>
              <a:rPr lang="en-US"/>
              <a:t>), is </a:t>
            </a:r>
            <a:r>
              <a:rPr lang="en-US" i="1"/>
              <a:t>Ā,</a:t>
            </a:r>
            <a:r>
              <a:rPr lang="en-US"/>
              <a:t> which is the set </a:t>
            </a:r>
            <a:r>
              <a:rPr lang="en-US" i="1">
                <a:ea typeface="Cambria Math" pitchFamily="18" charset="0"/>
              </a:rPr>
              <a:t>U</a:t>
            </a:r>
            <a:r>
              <a:rPr lang="en-US">
                <a:latin typeface="Cambria Math" pitchFamily="18" charset="0"/>
                <a:ea typeface="Cambria Math" pitchFamily="18" charset="0"/>
              </a:rPr>
              <a:t> - </a:t>
            </a:r>
            <a:r>
              <a:rPr lang="en-US" i="1">
                <a:ea typeface="Cambria Math" pitchFamily="18" charset="0"/>
              </a:rPr>
              <a:t>A</a:t>
            </a:r>
            <a:r>
              <a:rPr lang="en-US"/>
              <a:t> </a:t>
            </a:r>
          </a:p>
          <a:p>
            <a:pPr lvl="1"/>
            <a:r>
              <a:rPr lang="en-US"/>
              <a:t>It is also written as </a:t>
            </a:r>
            <a:r>
              <a:rPr lang="en-US" i="1"/>
              <a:t>A</a:t>
            </a:r>
            <a:r>
              <a:rPr lang="en-US" i="1" baseline="30000"/>
              <a:t>c </a:t>
            </a:r>
            <a:endParaRPr lang="en-US" dirty="0"/>
          </a:p>
          <a:p>
            <a:pPr>
              <a:buNone/>
            </a:pPr>
            <a:r>
              <a:rPr lang="en-US" b="1" dirty="0"/>
              <a:t>  Example</a:t>
            </a:r>
            <a:r>
              <a:rPr lang="en-US" dirty="0"/>
              <a:t>: If </a:t>
            </a:r>
            <a:r>
              <a:rPr lang="en-US" i="1" dirty="0"/>
              <a:t>U</a:t>
            </a:r>
            <a:r>
              <a:rPr lang="en-US" dirty="0"/>
              <a:t> is the positive integers less </a:t>
            </a:r>
            <a:r>
              <a:rPr lang="en-US"/>
              <a:t>than 10, </a:t>
            </a:r>
            <a:r>
              <a:rPr lang="en-US" dirty="0"/>
              <a:t>what is the complement of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{</a:t>
            </a:r>
            <a:r>
              <a:rPr lang="en-US" i="1" dirty="0">
                <a:ea typeface="Cambria Math" pitchFamily="18" charset="0"/>
              </a:rPr>
              <a:t>x</a:t>
            </a:r>
            <a:r>
              <a:rPr lang="en-US" dirty="0">
                <a:latin typeface="Cambria Math"/>
                <a:ea typeface="Cambria Math"/>
              </a:rPr>
              <a:t> | </a:t>
            </a:r>
            <a:r>
              <a:rPr lang="en-US" i="1" dirty="0">
                <a:ea typeface="Cambria Math"/>
              </a:rPr>
              <a:t>x</a:t>
            </a:r>
            <a:r>
              <a:rPr lang="en-US" i="1" dirty="0">
                <a:latin typeface="Cambria Math"/>
                <a:ea typeface="Cambria Math"/>
              </a:rPr>
              <a:t> </a:t>
            </a:r>
            <a:r>
              <a:rPr lang="en-US">
                <a:latin typeface="Cambria Math"/>
                <a:ea typeface="Cambria Math"/>
              </a:rPr>
              <a:t>&gt; 3} </a:t>
            </a:r>
            <a:endParaRPr lang="en-US" dirty="0">
              <a:latin typeface="Cambria Math"/>
              <a:ea typeface="Cambria Math"/>
            </a:endParaRPr>
          </a:p>
          <a:p>
            <a:pPr>
              <a:buNone/>
            </a:pPr>
            <a:r>
              <a:rPr lang="en-US" dirty="0">
                <a:latin typeface="Cambria Math"/>
                <a:ea typeface="Cambria Math"/>
              </a:rPr>
              <a:t>            Solution</a:t>
            </a:r>
            <a:r>
              <a:rPr lang="en-US">
                <a:latin typeface="Cambria Math"/>
                <a:ea typeface="Cambria Math"/>
              </a:rPr>
              <a:t>: </a:t>
            </a:r>
            <a:r>
              <a:rPr lang="en-US">
                <a:latin typeface="Cambria Math" pitchFamily="18" charset="0"/>
                <a:ea typeface="Cambria Math" pitchFamily="18" charset="0"/>
              </a:rPr>
              <a:t>{ </a:t>
            </a:r>
            <a:r>
              <a:rPr lang="en-US" i="1">
                <a:ea typeface="Cambria Math" pitchFamily="18" charset="0"/>
              </a:rPr>
              <a:t>1, 2, 3 </a:t>
            </a:r>
            <a:r>
              <a:rPr lang="en-US">
                <a:latin typeface="Cambria Math"/>
                <a:ea typeface="Cambria Math"/>
              </a:rPr>
              <a:t>} </a:t>
            </a:r>
            <a:endParaRPr lang="en-US" dirty="0">
              <a:latin typeface="Cambria Math"/>
              <a:ea typeface="Cambria Math"/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27</a:t>
            </a:fld>
            <a:endParaRPr lang="en-US"/>
          </a:p>
        </p:txBody>
      </p:sp>
      <p:grpSp>
        <p:nvGrpSpPr>
          <p:cNvPr id="25" name="Group 24"/>
          <p:cNvGrpSpPr/>
          <p:nvPr/>
        </p:nvGrpSpPr>
        <p:grpSpPr>
          <a:xfrm>
            <a:off x="3200400" y="4718538"/>
            <a:ext cx="3848100" cy="1529862"/>
            <a:chOff x="5029200" y="4642338"/>
            <a:chExt cx="3848100" cy="1529862"/>
          </a:xfrm>
        </p:grpSpPr>
        <p:grpSp>
          <p:nvGrpSpPr>
            <p:cNvPr id="27" name="Group 19"/>
            <p:cNvGrpSpPr/>
            <p:nvPr/>
          </p:nvGrpSpPr>
          <p:grpSpPr>
            <a:xfrm>
              <a:off x="5029200" y="4724400"/>
              <a:ext cx="2971800" cy="1447800"/>
              <a:chOff x="5029200" y="4724400"/>
              <a:chExt cx="2971800" cy="1447800"/>
            </a:xfrm>
          </p:grpSpPr>
          <p:sp>
            <p:nvSpPr>
              <p:cNvPr id="30" name="Rectangle 29"/>
              <p:cNvSpPr/>
              <p:nvPr/>
            </p:nvSpPr>
            <p:spPr>
              <a:xfrm>
                <a:off x="5029200" y="4724400"/>
                <a:ext cx="2971800" cy="1447800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Oval 31"/>
              <p:cNvSpPr/>
              <p:nvPr/>
            </p:nvSpPr>
            <p:spPr>
              <a:xfrm>
                <a:off x="6096000" y="5029200"/>
                <a:ext cx="1219200" cy="9906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8" name="TextBox 27"/>
            <p:cNvSpPr txBox="1"/>
            <p:nvPr/>
          </p:nvSpPr>
          <p:spPr>
            <a:xfrm>
              <a:off x="6248400" y="5181600"/>
              <a:ext cx="381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A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8039100" y="4642338"/>
              <a:ext cx="838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U</a:t>
              </a:r>
            </a:p>
          </p:txBody>
        </p:sp>
      </p:grpSp>
      <p:sp>
        <p:nvSpPr>
          <p:cNvPr id="11" name="Rectangle 10"/>
          <p:cNvSpPr/>
          <p:nvPr/>
        </p:nvSpPr>
        <p:spPr>
          <a:xfrm>
            <a:off x="5682848" y="5334000"/>
            <a:ext cx="4219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i="1" dirty="0">
                <a:ea typeface="Cambria Math" pitchFamily="18" charset="0"/>
              </a:rPr>
              <a:t>Ā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Difference (-)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24000"/>
            <a:ext cx="8153400" cy="4800600"/>
          </a:xfrm>
        </p:spPr>
        <p:txBody>
          <a:bodyPr>
            <a:normAutofit/>
          </a:bodyPr>
          <a:lstStyle/>
          <a:p>
            <a:r>
              <a:rPr lang="en-US" sz="2800" dirty="0"/>
              <a:t>The </a:t>
            </a:r>
            <a:r>
              <a:rPr lang="en-US" sz="2800" i="1" dirty="0"/>
              <a:t>difference</a:t>
            </a:r>
            <a:r>
              <a:rPr lang="en-US" sz="2800" dirty="0"/>
              <a:t> of the sets </a:t>
            </a:r>
            <a:r>
              <a:rPr lang="en-US" sz="2800" i="1" dirty="0"/>
              <a:t>A</a:t>
            </a:r>
            <a:r>
              <a:rPr lang="en-US" sz="2800" dirty="0"/>
              <a:t> and </a:t>
            </a:r>
            <a:r>
              <a:rPr lang="en-US" sz="2800" i="1" dirty="0"/>
              <a:t>B</a:t>
            </a:r>
            <a:r>
              <a:rPr lang="en-US" sz="2800" dirty="0"/>
              <a:t> is </a:t>
            </a:r>
            <a:r>
              <a:rPr lang="en-US" sz="2800" i="1" dirty="0"/>
              <a:t>A</a:t>
            </a:r>
            <a:r>
              <a:rPr lang="en-US" sz="2800" dirty="0"/>
              <a:t> – </a:t>
            </a:r>
            <a:r>
              <a:rPr lang="en-US" sz="2800" i="1" dirty="0"/>
              <a:t>B</a:t>
            </a:r>
            <a:endParaRPr lang="en-US" sz="2800" dirty="0"/>
          </a:p>
          <a:p>
            <a:pPr lvl="1"/>
            <a:r>
              <a:rPr lang="en-US" sz="2800" dirty="0"/>
              <a:t> the set containing the elements of </a:t>
            </a:r>
            <a:r>
              <a:rPr lang="en-US" sz="2800" i="1" dirty="0"/>
              <a:t>A</a:t>
            </a:r>
            <a:r>
              <a:rPr lang="en-US" sz="2800" dirty="0"/>
              <a:t> that are not in </a:t>
            </a:r>
            <a:r>
              <a:rPr lang="en-US" sz="2800" i="1" dirty="0"/>
              <a:t>B</a:t>
            </a:r>
            <a:endParaRPr lang="en-US" sz="2800" dirty="0"/>
          </a:p>
          <a:p>
            <a:pPr lvl="1"/>
            <a:endParaRPr lang="en-US" sz="2800" dirty="0"/>
          </a:p>
          <a:p>
            <a:r>
              <a:rPr lang="en-US" sz="2800" dirty="0"/>
              <a:t>Also called the complement of </a:t>
            </a:r>
            <a:r>
              <a:rPr lang="en-US" sz="2800" i="1" dirty="0"/>
              <a:t>B</a:t>
            </a:r>
            <a:r>
              <a:rPr lang="en-US" sz="2800" dirty="0"/>
              <a:t> with respect to </a:t>
            </a:r>
            <a:r>
              <a:rPr lang="en-US" sz="2800" i="1" dirty="0"/>
              <a:t>A</a:t>
            </a:r>
            <a:r>
              <a:rPr lang="en-US" sz="2800" dirty="0"/>
              <a:t>.</a:t>
            </a:r>
          </a:p>
          <a:p>
            <a:pPr>
              <a:buNone/>
            </a:pPr>
            <a:r>
              <a:rPr lang="en-US" sz="2800" dirty="0"/>
              <a:t>   </a:t>
            </a:r>
            <a:r>
              <a:rPr lang="en-US" sz="2800" i="1" dirty="0"/>
              <a:t>A</a:t>
            </a:r>
            <a:r>
              <a:rPr lang="en-US" sz="2800" dirty="0"/>
              <a:t> – </a:t>
            </a:r>
            <a:r>
              <a:rPr lang="en-US" sz="2800" i="1" dirty="0"/>
              <a:t>B</a:t>
            </a:r>
            <a:r>
              <a:rPr lang="en-US" sz="2800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800" dirty="0">
                <a:latin typeface="Cambria Math"/>
                <a:ea typeface="Cambria Math"/>
              </a:rPr>
              <a:t>=   </a:t>
            </a:r>
            <a:r>
              <a:rPr lang="en-US" sz="2800" i="1" dirty="0">
                <a:ea typeface="Cambria Math" pitchFamily="18" charset="0"/>
              </a:rPr>
              <a:t>A</a:t>
            </a:r>
            <a:r>
              <a:rPr lang="en-US" sz="2800" dirty="0">
                <a:latin typeface="Cambria Math" pitchFamily="18" charset="0"/>
                <a:ea typeface="Cambria Math" pitchFamily="18" charset="0"/>
              </a:rPr>
              <a:t> ∩</a:t>
            </a:r>
            <a:r>
              <a:rPr lang="en-US" sz="2800" b="1" dirty="0">
                <a:latin typeface="Cambria Math" pitchFamily="18" charset="0"/>
                <a:ea typeface="Cambria Math" pitchFamily="18" charset="0"/>
                <a:sym typeface="Symbol"/>
              </a:rPr>
              <a:t></a:t>
            </a:r>
            <a:r>
              <a:rPr lang="en-US" sz="2800" i="1" dirty="0">
                <a:ea typeface="Cambria Math" pitchFamily="18" charset="0"/>
                <a:sym typeface="Symbol"/>
              </a:rPr>
              <a:t>B</a:t>
            </a:r>
            <a:endParaRPr lang="en-US" sz="2800" i="1" dirty="0">
              <a:ea typeface="Cambria Math" pitchFamily="18" charset="0"/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28</a:t>
            </a:fld>
            <a:endParaRPr lang="en-US"/>
          </a:p>
        </p:txBody>
      </p:sp>
      <p:grpSp>
        <p:nvGrpSpPr>
          <p:cNvPr id="38" name="Group 37"/>
          <p:cNvGrpSpPr/>
          <p:nvPr/>
        </p:nvGrpSpPr>
        <p:grpSpPr>
          <a:xfrm>
            <a:off x="1905000" y="4953000"/>
            <a:ext cx="3429000" cy="1447800"/>
            <a:chOff x="5410200" y="4876800"/>
            <a:chExt cx="3429000" cy="1447800"/>
          </a:xfrm>
        </p:grpSpPr>
        <p:sp>
          <p:nvSpPr>
            <p:cNvPr id="29" name="Rectangle 28"/>
            <p:cNvSpPr/>
            <p:nvPr/>
          </p:nvSpPr>
          <p:spPr>
            <a:xfrm>
              <a:off x="5410200" y="4876800"/>
              <a:ext cx="2971800" cy="1447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/>
            <p:cNvSpPr/>
            <p:nvPr/>
          </p:nvSpPr>
          <p:spPr>
            <a:xfrm>
              <a:off x="5943600" y="5181600"/>
              <a:ext cx="1219200" cy="990600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/>
            <p:cNvSpPr/>
            <p:nvPr/>
          </p:nvSpPr>
          <p:spPr>
            <a:xfrm>
              <a:off x="6629400" y="5181600"/>
              <a:ext cx="1219200" cy="9906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8001000" y="4953000"/>
              <a:ext cx="838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U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715000" y="5181600"/>
              <a:ext cx="381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315200" y="5410200"/>
              <a:ext cx="381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37" name="Oval 36"/>
            <p:cNvSpPr/>
            <p:nvPr/>
          </p:nvSpPr>
          <p:spPr>
            <a:xfrm>
              <a:off x="6629400" y="5257800"/>
              <a:ext cx="533400" cy="8382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4953000" y="5421868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>
                <a:latin typeface="Cambria Math"/>
                <a:ea typeface="Cambria Math"/>
              </a:rPr>
              <a:t>A</a:t>
            </a:r>
            <a:r>
              <a:rPr lang="en-US">
                <a:latin typeface="Cambria Math"/>
                <a:ea typeface="Cambria Math"/>
              </a:rPr>
              <a:t> </a:t>
            </a:r>
            <a:r>
              <a:rPr lang="en-US" dirty="0">
                <a:latin typeface="Cambria Math"/>
                <a:ea typeface="Cambria Math"/>
              </a:rPr>
              <a:t>− </a:t>
            </a:r>
            <a:r>
              <a:rPr lang="en-US" i="1" dirty="0">
                <a:latin typeface="Cambria Math"/>
                <a:ea typeface="Cambria Math"/>
              </a:rPr>
              <a:t>B</a:t>
            </a:r>
            <a:r>
              <a:rPr lang="en-US" dirty="0"/>
              <a:t>    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685800"/>
            <a:ext cx="8458200" cy="896112"/>
          </a:xfrm>
        </p:spPr>
        <p:txBody>
          <a:bodyPr>
            <a:noAutofit/>
          </a:bodyPr>
          <a:lstStyle/>
          <a:p>
            <a:r>
              <a:rPr lang="en-US" sz="4000" dirty="0"/>
              <a:t>The Cardinality of the Union of Two Sets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297543" y="1937906"/>
            <a:ext cx="7932057" cy="2938893"/>
          </a:xfrm>
          <a:prstGeom prst="rect">
            <a:avLst/>
          </a:prstGeom>
        </p:spPr>
        <p:txBody>
          <a:bodyPr vert="horz">
            <a:normAutofit fontScale="85000" lnSpcReduction="10000"/>
          </a:bodyPr>
          <a:lstStyle/>
          <a:p>
            <a:pPr marL="274320" lvl="0" indent="-274320" algn="just">
              <a:spcBef>
                <a:spcPct val="20000"/>
              </a:spcBef>
              <a:buClr>
                <a:schemeClr val="accent3"/>
              </a:buClr>
              <a:buSzPct val="95000"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In mathematics, the cardinality of a set is a measure of the "number of elements of the set".</a:t>
            </a:r>
          </a:p>
          <a:p>
            <a:pPr marL="274320" lvl="0" indent="-274320" algn="just">
              <a:spcBef>
                <a:spcPct val="20000"/>
              </a:spcBef>
              <a:buClr>
                <a:schemeClr val="accent3"/>
              </a:buClr>
              <a:buSzPct val="95000"/>
              <a:defRPr/>
            </a:pPr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 For example, the set A = {2, 4, </a:t>
            </a:r>
            <a:r>
              <a:rPr lang="en-US" sz="3400" b="1" dirty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} contains 3 elements, and therefore A has a cardinality of 3.</a:t>
            </a:r>
          </a:p>
          <a:p>
            <a:pPr marL="274320" lvl="0" indent="-274320" algn="just">
              <a:spcBef>
                <a:spcPct val="20000"/>
              </a:spcBef>
              <a:buClr>
                <a:schemeClr val="accent3"/>
              </a:buClr>
              <a:buSzPct val="95000"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Cambria Math" pitchFamily="18" charset="0"/>
              <a:cs typeface="Times New Roman" pitchFamily="18" charset="0"/>
            </a:endParaRPr>
          </a:p>
          <a:p>
            <a:pPr marL="274320" lvl="0" indent="-274320" algn="just">
              <a:spcBef>
                <a:spcPct val="20000"/>
              </a:spcBef>
              <a:buClr>
                <a:schemeClr val="accent3"/>
              </a:buClr>
              <a:buSzPct val="95000"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Cambria Math" pitchFamily="18" charset="0"/>
                <a:cs typeface="Times New Roman" pitchFamily="18" charset="0"/>
              </a:rPr>
              <a:t>|</a:t>
            </a:r>
            <a:r>
              <a:rPr kumimoji="0" lang="en-US" sz="260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Cambria Math" pitchFamily="18" charset="0"/>
                <a:cs typeface="Times New Roman" pitchFamily="18" charset="0"/>
              </a:rPr>
              <a:t>A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Cambria Math" pitchFamily="18" charset="0"/>
                <a:cs typeface="Times New Roman" pitchFamily="18" charset="0"/>
              </a:rPr>
              <a:t> ∪ </a:t>
            </a:r>
            <a:r>
              <a:rPr kumimoji="0" lang="en-US" sz="260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Cambria Math" pitchFamily="18" charset="0"/>
                <a:cs typeface="Times New Roman" pitchFamily="18" charset="0"/>
              </a:rPr>
              <a:t>B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Cambria Math" pitchFamily="18" charset="0"/>
                <a:cs typeface="Times New Roman" pitchFamily="18" charset="0"/>
              </a:rPr>
              <a:t>| = |</a:t>
            </a:r>
            <a:r>
              <a:rPr kumimoji="0" lang="en-US" sz="260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Cambria Math" pitchFamily="18" charset="0"/>
                <a:cs typeface="Times New Roman" pitchFamily="18" charset="0"/>
              </a:rPr>
              <a:t>A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Cambria Math" pitchFamily="18" charset="0"/>
                <a:cs typeface="Times New Roman" pitchFamily="18" charset="0"/>
              </a:rPr>
              <a:t>| + | </a:t>
            </a:r>
            <a:r>
              <a:rPr kumimoji="0" lang="en-US" sz="260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Cambria Math" pitchFamily="18" charset="0"/>
                <a:cs typeface="Times New Roman" pitchFamily="18" charset="0"/>
              </a:rPr>
              <a:t>B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Cambria Math" pitchFamily="18" charset="0"/>
                <a:cs typeface="Times New Roman" pitchFamily="18" charset="0"/>
              </a:rPr>
              <a:t>| 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itchFamily="18" charset="0"/>
                <a:ea typeface="Cambria Math" pitchFamily="18" charset="0"/>
                <a:cs typeface="Times New Roman" pitchFamily="18" charset="0"/>
              </a:rPr>
              <a:t>-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Cambria Math" pitchFamily="18" charset="0"/>
                <a:cs typeface="Times New Roman" pitchFamily="18" charset="0"/>
              </a:rPr>
              <a:t> |</a:t>
            </a:r>
            <a:r>
              <a:rPr kumimoji="0" lang="en-US" sz="260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Cambria Math" pitchFamily="18" charset="0"/>
                <a:cs typeface="Times New Roman" pitchFamily="18" charset="0"/>
              </a:rPr>
              <a:t>A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Cambria Math" pitchFamily="18" charset="0"/>
                <a:cs typeface="Times New Roman" pitchFamily="18" charset="0"/>
              </a:rPr>
              <a:t> ∩ </a:t>
            </a:r>
            <a:r>
              <a:rPr kumimoji="0" lang="en-US" sz="260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Cambria Math" pitchFamily="18" charset="0"/>
                <a:cs typeface="Times New Roman" pitchFamily="18" charset="0"/>
              </a:rPr>
              <a:t>B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Cambria Math" pitchFamily="18" charset="0"/>
                <a:cs typeface="Times New Roman" pitchFamily="18" charset="0"/>
              </a:rPr>
              <a:t>|</a:t>
            </a:r>
            <a:endParaRPr lang="en-US" sz="2600" dirty="0">
              <a:latin typeface="Times New Roman" pitchFamily="18" charset="0"/>
              <a:ea typeface="Cambria Math" pitchFamily="18" charset="0"/>
              <a:cs typeface="Times New Roman" pitchFamily="18" charset="0"/>
            </a:endParaRPr>
          </a:p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tabLst/>
              <a:defRPr/>
            </a:pPr>
            <a:endParaRPr lang="en-US" sz="26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3" name="Group 22"/>
          <p:cNvGrpSpPr/>
          <p:nvPr/>
        </p:nvGrpSpPr>
        <p:grpSpPr>
          <a:xfrm>
            <a:off x="4610100" y="4876800"/>
            <a:ext cx="3429000" cy="1447800"/>
            <a:chOff x="5715000" y="4724400"/>
            <a:chExt cx="3429000" cy="1447800"/>
          </a:xfrm>
        </p:grpSpPr>
        <p:sp>
          <p:nvSpPr>
            <p:cNvPr id="24" name="Oval 23"/>
            <p:cNvSpPr/>
            <p:nvPr/>
          </p:nvSpPr>
          <p:spPr>
            <a:xfrm>
              <a:off x="6934200" y="5105400"/>
              <a:ext cx="533400" cy="83820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" name="Group 20"/>
            <p:cNvGrpSpPr/>
            <p:nvPr/>
          </p:nvGrpSpPr>
          <p:grpSpPr>
            <a:xfrm>
              <a:off x="5715000" y="4724400"/>
              <a:ext cx="2971800" cy="1447800"/>
              <a:chOff x="5715000" y="4724400"/>
              <a:chExt cx="2971800" cy="1447800"/>
            </a:xfrm>
          </p:grpSpPr>
          <p:sp>
            <p:nvSpPr>
              <p:cNvPr id="30" name="Rectangle 29"/>
              <p:cNvSpPr/>
              <p:nvPr/>
            </p:nvSpPr>
            <p:spPr>
              <a:xfrm>
                <a:off x="5715000" y="4724400"/>
                <a:ext cx="2971800" cy="14478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5" name="Group 19"/>
              <p:cNvGrpSpPr/>
              <p:nvPr/>
            </p:nvGrpSpPr>
            <p:grpSpPr>
              <a:xfrm>
                <a:off x="6248400" y="5029200"/>
                <a:ext cx="1905000" cy="990600"/>
                <a:chOff x="6248400" y="5029200"/>
                <a:chExt cx="1905000" cy="990600"/>
              </a:xfrm>
            </p:grpSpPr>
            <p:sp>
              <p:nvSpPr>
                <p:cNvPr id="32" name="Oval 31"/>
                <p:cNvSpPr/>
                <p:nvPr/>
              </p:nvSpPr>
              <p:spPr>
                <a:xfrm>
                  <a:off x="6248400" y="5029200"/>
                  <a:ext cx="1219200" cy="99060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" name="Oval 32"/>
                <p:cNvSpPr/>
                <p:nvPr/>
              </p:nvSpPr>
              <p:spPr>
                <a:xfrm>
                  <a:off x="6934200" y="5029200"/>
                  <a:ext cx="1219200" cy="99060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6" name="Group 21"/>
            <p:cNvGrpSpPr/>
            <p:nvPr/>
          </p:nvGrpSpPr>
          <p:grpSpPr>
            <a:xfrm>
              <a:off x="6400800" y="4800600"/>
              <a:ext cx="2743200" cy="826532"/>
              <a:chOff x="6400800" y="4800600"/>
              <a:chExt cx="2743200" cy="826532"/>
            </a:xfrm>
          </p:grpSpPr>
          <p:sp>
            <p:nvSpPr>
              <p:cNvPr id="27" name="TextBox 26"/>
              <p:cNvSpPr txBox="1"/>
              <p:nvPr/>
            </p:nvSpPr>
            <p:spPr>
              <a:xfrm>
                <a:off x="8305800" y="4800600"/>
                <a:ext cx="838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/>
                  <a:t>U</a:t>
                </a:r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6400800" y="5181600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/>
                  <a:t>A</a:t>
                </a:r>
              </a:p>
            </p:txBody>
          </p:sp>
          <p:sp>
            <p:nvSpPr>
              <p:cNvPr id="29" name="TextBox 28"/>
              <p:cNvSpPr txBox="1"/>
              <p:nvPr/>
            </p:nvSpPr>
            <p:spPr>
              <a:xfrm>
                <a:off x="7620000" y="5257800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/>
                  <a:t>B</a:t>
                </a:r>
              </a:p>
            </p:txBody>
          </p:sp>
        </p:grp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95310" y="0"/>
            <a:ext cx="381000" cy="762000"/>
          </a:xfrm>
        </p:spPr>
        <p:txBody>
          <a:bodyPr>
            <a:normAutofit fontScale="90000"/>
          </a:bodyPr>
          <a:lstStyle/>
          <a:p>
            <a:r>
              <a:rPr lang="en-US"/>
              <a:t>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30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310" y="76201"/>
            <a:ext cx="6534116" cy="678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721165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16578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One informal way of 'proving' an identity is to draw Venn diagrams for each side of the '=' and show they are the same.</a:t>
            </a:r>
          </a:p>
          <a:p>
            <a:pPr marL="0" indent="0">
              <a:buNone/>
            </a:pPr>
            <a:r>
              <a:rPr lang="en-US"/>
              <a:t>e.g. </a:t>
            </a:r>
            <a:r>
              <a:rPr lang="en-US" sz="2800"/>
              <a:t>2nd De Morgan Law: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31</a:t>
            </a:fld>
            <a:endParaRPr lang="en-US"/>
          </a:p>
        </p:txBody>
      </p:sp>
      <p:pic>
        <p:nvPicPr>
          <p:cNvPr id="5" name="Picture 4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3713797" y="3222307"/>
            <a:ext cx="2534603" cy="328613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2209800" y="4541520"/>
            <a:ext cx="1143000" cy="838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898531" y="4541520"/>
            <a:ext cx="1143000" cy="838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828800" y="4389120"/>
            <a:ext cx="2562701" cy="1143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945842" y="4564966"/>
            <a:ext cx="340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62400" y="4629388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77412" y="5543788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U</a:t>
            </a:r>
          </a:p>
        </p:txBody>
      </p:sp>
      <p:sp>
        <p:nvSpPr>
          <p:cNvPr id="12" name="Oval 11"/>
          <p:cNvSpPr/>
          <p:nvPr/>
        </p:nvSpPr>
        <p:spPr>
          <a:xfrm>
            <a:off x="5994988" y="4541520"/>
            <a:ext cx="1143000" cy="838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6683719" y="4541520"/>
            <a:ext cx="1143000" cy="838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5613988" y="4389120"/>
            <a:ext cx="2562701" cy="1143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5731030" y="4564966"/>
            <a:ext cx="340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47588" y="4629388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62600" y="5543788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42056" y="4885789"/>
            <a:ext cx="4395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/>
              <a:t>=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96558" y="4580989"/>
            <a:ext cx="3850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/>
              <a:t>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More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40280"/>
            <a:ext cx="8229600" cy="2255520"/>
          </a:xfrm>
        </p:spPr>
        <p:txBody>
          <a:bodyPr/>
          <a:lstStyle/>
          <a:p>
            <a:pPr>
              <a:buFont typeface="Arial" charset="0"/>
              <a:buChar char="•"/>
            </a:pPr>
            <a:r>
              <a:rPr lang="th-TH" i="1"/>
              <a:t>Discrete Mathematics and its Applications</a:t>
            </a:r>
            <a:br>
              <a:rPr lang="th-TH" i="1"/>
            </a:br>
            <a:r>
              <a:rPr lang="th-TH"/>
              <a:t>Kenneth H. Rosen</a:t>
            </a:r>
            <a:br>
              <a:rPr lang="th-TH"/>
            </a:br>
            <a:r>
              <a:rPr lang="th-TH"/>
              <a:t>McGraw Hill, </a:t>
            </a:r>
            <a:r>
              <a:rPr lang="en-US"/>
              <a:t>2007</a:t>
            </a:r>
            <a:r>
              <a:rPr lang="th-TH"/>
              <a:t>, </a:t>
            </a:r>
            <a:r>
              <a:rPr lang="en-US"/>
              <a:t>7</a:t>
            </a:r>
            <a:r>
              <a:rPr lang="th-TH"/>
              <a:t>th edition</a:t>
            </a:r>
            <a:endParaRPr lang="en-US"/>
          </a:p>
          <a:p>
            <a:pPr lvl="1">
              <a:buFont typeface="Arial" charset="0"/>
              <a:buChar char="•"/>
            </a:pPr>
            <a:r>
              <a:rPr lang="en-US"/>
              <a:t>chapter 2, sections 2.1 – 2.2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1950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Cartesian product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 A X B be the sets, the Cartesian product of two sets is denoted by A X B.</a:t>
            </a:r>
          </a:p>
          <a:p>
            <a:r>
              <a:rPr lang="en-US" dirty="0"/>
              <a:t>A X B are the ordered pairs (</a:t>
            </a:r>
            <a:r>
              <a:rPr lang="en-US" dirty="0" err="1"/>
              <a:t>a,b</a:t>
            </a:r>
            <a:r>
              <a:rPr lang="en-US" dirty="0"/>
              <a:t>) where a belongs to A and b belongs to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33</a:t>
            </a:fld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081511"/>
            <a:ext cx="6553200" cy="1020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34267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1E48B-9BD1-2B4F-8423-72D6AB469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3BB3B-54BC-4546-AD6F-3618C25D24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Cartesian Product of sets A and B is defined as </a:t>
            </a:r>
            <a:r>
              <a:rPr lang="en-US" b="1" dirty="0"/>
              <a:t>the set of all ordered pairs (x, y) such that x belongs to A and y belongs to B</a:t>
            </a:r>
            <a:r>
              <a:rPr lang="en-US" dirty="0"/>
              <a:t>. For example, if A = {1, 2} and B = {3, 4, 5}, then the Cartesian Product of A and B is {(1, 3), (1, 4), (1, 5), (2, 3), (2, 4), (2, 5)}.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85B5DC-6146-AA43-8F9A-A48CED74B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9290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 A is the set of all students at a university </a:t>
            </a:r>
          </a:p>
          <a:p>
            <a:r>
              <a:rPr lang="en-US" dirty="0"/>
              <a:t>B is the all courses offered in the university. So the </a:t>
            </a:r>
            <a:r>
              <a:rPr lang="en-US" dirty="0" err="1"/>
              <a:t>cartesian</a:t>
            </a:r>
            <a:r>
              <a:rPr lang="en-US" dirty="0"/>
              <a:t> product will be?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35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971800"/>
            <a:ext cx="5353050" cy="1400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309165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Exercise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Show that A X B C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36</a:t>
            </a:fld>
            <a:endParaRPr lang="en-US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8825" y="1600200"/>
            <a:ext cx="5286375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531" y="2514600"/>
            <a:ext cx="1625893" cy="4523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7424" y="2514600"/>
            <a:ext cx="6197953" cy="9168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1776902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\overline{A \cap B} = \overline{A} \cup \overline{B}$&#10;&#10;\end{document}"/>
  <p:tag name="IGUANATEXSIZE" val="30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34561</TotalTime>
  <Words>1443</Words>
  <Application>Microsoft Macintosh PowerPoint</Application>
  <PresentationFormat>On-screen Show (4:3)</PresentationFormat>
  <Paragraphs>224</Paragraphs>
  <Slides>36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5" baseType="lpstr">
      <vt:lpstr>Symbol</vt:lpstr>
      <vt:lpstr>Cambria</vt:lpstr>
      <vt:lpstr>Angsana New</vt:lpstr>
      <vt:lpstr>Cordia New</vt:lpstr>
      <vt:lpstr>Times New Roman</vt:lpstr>
      <vt:lpstr>Calibri</vt:lpstr>
      <vt:lpstr>Cambria Math</vt:lpstr>
      <vt:lpstr>Arial</vt:lpstr>
      <vt:lpstr>Adjacency</vt:lpstr>
      <vt:lpstr>Discrete Structures</vt:lpstr>
      <vt:lpstr>1. What are Sets?</vt:lpstr>
      <vt:lpstr>Examples</vt:lpstr>
      <vt:lpstr>PowerPoint Presentation</vt:lpstr>
      <vt:lpstr>Set-Builder Notation</vt:lpstr>
      <vt:lpstr>PowerPoint Presentation</vt:lpstr>
      <vt:lpstr>PowerPoint Presentation</vt:lpstr>
      <vt:lpstr>Set-Builder Notation?</vt:lpstr>
      <vt:lpstr>PowerPoint Presentation</vt:lpstr>
      <vt:lpstr>Set-Builder Notation??</vt:lpstr>
      <vt:lpstr>PowerPoint Presentation</vt:lpstr>
      <vt:lpstr>Interval Notation</vt:lpstr>
      <vt:lpstr>PowerPoint Presentation</vt:lpstr>
      <vt:lpstr>PowerPoint Presentation</vt:lpstr>
      <vt:lpstr>Universal Set and Empty Set</vt:lpstr>
      <vt:lpstr>Sets in Sets</vt:lpstr>
      <vt:lpstr>Set Cardinality (size, | | )</vt:lpstr>
      <vt:lpstr>Subset ()</vt:lpstr>
      <vt:lpstr>Proper Subset ()</vt:lpstr>
      <vt:lpstr>What are Proper Subsets?</vt:lpstr>
      <vt:lpstr>Empty Set/NULL SET</vt:lpstr>
      <vt:lpstr>PowerPoint Presentation</vt:lpstr>
      <vt:lpstr>Singleton Set</vt:lpstr>
      <vt:lpstr>2. Set Operations</vt:lpstr>
      <vt:lpstr>Union ()</vt:lpstr>
      <vt:lpstr>Intersection ()</vt:lpstr>
      <vt:lpstr>Complement  (not) </vt:lpstr>
      <vt:lpstr>Difference (-)</vt:lpstr>
      <vt:lpstr>The Cardinality of the Union of Two Sets</vt:lpstr>
      <vt:lpstr>3</vt:lpstr>
      <vt:lpstr>PowerPoint Presentation</vt:lpstr>
      <vt:lpstr>4. More Information</vt:lpstr>
      <vt:lpstr>Cartesian product</vt:lpstr>
      <vt:lpstr>PowerPoint Presentation</vt:lpstr>
      <vt:lpstr>Exercise </vt:lpstr>
      <vt:lpstr>Exercise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Discrete Maths</dc:title>
  <cp:lastModifiedBy>Microsoft Office User</cp:lastModifiedBy>
  <cp:revision>2088</cp:revision>
  <dcterms:created xsi:type="dcterms:W3CDTF">2011-03-27T19:09:13Z</dcterms:created>
  <dcterms:modified xsi:type="dcterms:W3CDTF">2022-10-25T05:37:36Z</dcterms:modified>
</cp:coreProperties>
</file>