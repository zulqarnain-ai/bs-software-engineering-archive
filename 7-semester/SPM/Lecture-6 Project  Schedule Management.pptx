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7"/>
  </p:notesMasterIdLst>
  <p:handoutMasterIdLst>
    <p:handoutMasterId r:id="rId38"/>
  </p:handoutMasterIdLst>
  <p:sldIdLst>
    <p:sldId id="308" r:id="rId2"/>
    <p:sldId id="598" r:id="rId3"/>
    <p:sldId id="599" r:id="rId4"/>
    <p:sldId id="645" r:id="rId5"/>
    <p:sldId id="646" r:id="rId6"/>
    <p:sldId id="614" r:id="rId7"/>
    <p:sldId id="615" r:id="rId8"/>
    <p:sldId id="616" r:id="rId9"/>
    <p:sldId id="617" r:id="rId10"/>
    <p:sldId id="618" r:id="rId11"/>
    <p:sldId id="619" r:id="rId12"/>
    <p:sldId id="620" r:id="rId13"/>
    <p:sldId id="601" r:id="rId14"/>
    <p:sldId id="623" r:id="rId15"/>
    <p:sldId id="640" r:id="rId16"/>
    <p:sldId id="641" r:id="rId17"/>
    <p:sldId id="602" r:id="rId18"/>
    <p:sldId id="624" r:id="rId19"/>
    <p:sldId id="625" r:id="rId20"/>
    <p:sldId id="603" r:id="rId21"/>
    <p:sldId id="626" r:id="rId22"/>
    <p:sldId id="604" r:id="rId23"/>
    <p:sldId id="627" r:id="rId24"/>
    <p:sldId id="628" r:id="rId25"/>
    <p:sldId id="629" r:id="rId26"/>
    <p:sldId id="630" r:id="rId27"/>
    <p:sldId id="631" r:id="rId28"/>
    <p:sldId id="648" r:id="rId29"/>
    <p:sldId id="605" r:id="rId30"/>
    <p:sldId id="632" r:id="rId31"/>
    <p:sldId id="608" r:id="rId32"/>
    <p:sldId id="609" r:id="rId33"/>
    <p:sldId id="611" r:id="rId34"/>
    <p:sldId id="610" r:id="rId35"/>
    <p:sldId id="612" r:id="rId36"/>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modifyVerifier cryptProviderType="rsaAES" cryptAlgorithmClass="hash" cryptAlgorithmType="typeAny" cryptAlgorithmSid="14" spinCount="100000" saltData="luzVb7n7qAlQpNgjwsIxcw==" hashData="p8tunWYKwof1mNfuLnHVXKkKM6Vj9VlSlvyxE01mFvqVKifvBwLSXJr/imQh+mAMB3lxmqXBMQFwJ4dJ4f0clg=="/>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04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132" autoAdjust="0"/>
  </p:normalViewPr>
  <p:slideViewPr>
    <p:cSldViewPr>
      <p:cViewPr varScale="1">
        <p:scale>
          <a:sx n="75" d="100"/>
          <a:sy n="75" d="100"/>
        </p:scale>
        <p:origin x="1428" y="39"/>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26980D-A8C3-498A-8FBC-E3A5F68B990E}"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MY"/>
        </a:p>
      </dgm:t>
    </dgm:pt>
    <dgm:pt modelId="{14432F4B-576B-471B-BEC3-41CF34886411}">
      <dgm:prSet phldrT="[Text]"/>
      <dgm:spPr/>
      <dgm:t>
        <a:bodyPr/>
        <a:lstStyle/>
        <a:p>
          <a:r>
            <a:rPr lang="en-MY" dirty="0"/>
            <a:t>Planning Schedule Management</a:t>
          </a:r>
        </a:p>
      </dgm:t>
    </dgm:pt>
    <dgm:pt modelId="{791558F5-D005-460E-B674-B587CAE17096}" type="parTrans" cxnId="{0B406C14-BA7A-439B-BA73-441CA7F267F9}">
      <dgm:prSet/>
      <dgm:spPr/>
      <dgm:t>
        <a:bodyPr/>
        <a:lstStyle/>
        <a:p>
          <a:endParaRPr lang="en-MY"/>
        </a:p>
      </dgm:t>
    </dgm:pt>
    <dgm:pt modelId="{6EFA6EA9-283E-4610-B902-5F583F1B253A}" type="sibTrans" cxnId="{0B406C14-BA7A-439B-BA73-441CA7F267F9}">
      <dgm:prSet/>
      <dgm:spPr/>
      <dgm:t>
        <a:bodyPr/>
        <a:lstStyle/>
        <a:p>
          <a:endParaRPr lang="en-MY"/>
        </a:p>
      </dgm:t>
    </dgm:pt>
    <dgm:pt modelId="{F8456A93-5415-4AEF-844E-12D96604EB26}">
      <dgm:prSet phldrT="[Text]"/>
      <dgm:spPr/>
      <dgm:t>
        <a:bodyPr/>
        <a:lstStyle/>
        <a:p>
          <a:r>
            <a:rPr lang="en-MY" dirty="0"/>
            <a:t>Defining Activities</a:t>
          </a:r>
        </a:p>
      </dgm:t>
    </dgm:pt>
    <dgm:pt modelId="{E7FDEA32-F01E-4071-A512-93979F6C18C4}" type="parTrans" cxnId="{1118766B-3C64-4D17-9A37-FDED1EB9BAD1}">
      <dgm:prSet/>
      <dgm:spPr/>
      <dgm:t>
        <a:bodyPr/>
        <a:lstStyle/>
        <a:p>
          <a:endParaRPr lang="en-MY"/>
        </a:p>
      </dgm:t>
    </dgm:pt>
    <dgm:pt modelId="{B6F7A04F-33D1-4B33-A36E-9F25EA1204D2}" type="sibTrans" cxnId="{1118766B-3C64-4D17-9A37-FDED1EB9BAD1}">
      <dgm:prSet/>
      <dgm:spPr/>
      <dgm:t>
        <a:bodyPr/>
        <a:lstStyle/>
        <a:p>
          <a:endParaRPr lang="en-MY"/>
        </a:p>
      </dgm:t>
    </dgm:pt>
    <dgm:pt modelId="{65156171-82B6-46E5-AE21-4190E8470B54}">
      <dgm:prSet phldrT="[Text]"/>
      <dgm:spPr/>
      <dgm:t>
        <a:bodyPr/>
        <a:lstStyle/>
        <a:p>
          <a:r>
            <a:rPr lang="en-MY" dirty="0"/>
            <a:t>Sequencing Activities</a:t>
          </a:r>
        </a:p>
      </dgm:t>
    </dgm:pt>
    <dgm:pt modelId="{2B00B642-635D-42C7-A511-83218A7A2319}" type="parTrans" cxnId="{B6F3CA70-D4D7-44E7-BC43-700189FD7C95}">
      <dgm:prSet/>
      <dgm:spPr/>
      <dgm:t>
        <a:bodyPr/>
        <a:lstStyle/>
        <a:p>
          <a:endParaRPr lang="en-MY"/>
        </a:p>
      </dgm:t>
    </dgm:pt>
    <dgm:pt modelId="{5215FB45-110E-4329-8DC4-F63C58B77245}" type="sibTrans" cxnId="{B6F3CA70-D4D7-44E7-BC43-700189FD7C95}">
      <dgm:prSet/>
      <dgm:spPr/>
      <dgm:t>
        <a:bodyPr/>
        <a:lstStyle/>
        <a:p>
          <a:endParaRPr lang="en-MY"/>
        </a:p>
      </dgm:t>
    </dgm:pt>
    <dgm:pt modelId="{6D89839D-3C01-4EE6-A44B-EC7126E0D250}">
      <dgm:prSet phldrT="[Text]"/>
      <dgm:spPr/>
      <dgm:t>
        <a:bodyPr/>
        <a:lstStyle/>
        <a:p>
          <a:r>
            <a:rPr lang="en-MY" dirty="0"/>
            <a:t>Estimating Activity Duration</a:t>
          </a:r>
        </a:p>
      </dgm:t>
    </dgm:pt>
    <dgm:pt modelId="{D2E758A6-FC52-43DF-8FC2-98694CDA8856}" type="parTrans" cxnId="{FC2CE58E-4C44-439A-B661-AAE3C7BFAE8D}">
      <dgm:prSet/>
      <dgm:spPr/>
      <dgm:t>
        <a:bodyPr/>
        <a:lstStyle/>
        <a:p>
          <a:endParaRPr lang="en-MY"/>
        </a:p>
      </dgm:t>
    </dgm:pt>
    <dgm:pt modelId="{90269A1B-9FFD-436E-BAD5-8A4932C1FBDE}" type="sibTrans" cxnId="{FC2CE58E-4C44-439A-B661-AAE3C7BFAE8D}">
      <dgm:prSet/>
      <dgm:spPr/>
      <dgm:t>
        <a:bodyPr/>
        <a:lstStyle/>
        <a:p>
          <a:endParaRPr lang="en-MY"/>
        </a:p>
      </dgm:t>
    </dgm:pt>
    <dgm:pt modelId="{ABEA22A8-59BD-46B5-AB8C-21D37CB31FAD}">
      <dgm:prSet phldrT="[Text]"/>
      <dgm:spPr/>
      <dgm:t>
        <a:bodyPr/>
        <a:lstStyle/>
        <a:p>
          <a:r>
            <a:rPr lang="en-MY" dirty="0"/>
            <a:t>Developing the Schedule</a:t>
          </a:r>
        </a:p>
      </dgm:t>
    </dgm:pt>
    <dgm:pt modelId="{9A8FF00A-D928-4334-A063-3B35DFBDDCC9}" type="parTrans" cxnId="{46D7D0C2-BCAC-4F5C-BBBB-0DCE122DF6FD}">
      <dgm:prSet/>
      <dgm:spPr/>
      <dgm:t>
        <a:bodyPr/>
        <a:lstStyle/>
        <a:p>
          <a:endParaRPr lang="en-MY"/>
        </a:p>
      </dgm:t>
    </dgm:pt>
    <dgm:pt modelId="{E626BC59-56E5-4D3C-A00A-614CA67ACDD2}" type="sibTrans" cxnId="{46D7D0C2-BCAC-4F5C-BBBB-0DCE122DF6FD}">
      <dgm:prSet/>
      <dgm:spPr/>
      <dgm:t>
        <a:bodyPr/>
        <a:lstStyle/>
        <a:p>
          <a:endParaRPr lang="en-MY"/>
        </a:p>
      </dgm:t>
    </dgm:pt>
    <dgm:pt modelId="{E1172569-C474-4D95-B0B0-2F7F21B53C21}">
      <dgm:prSet phldrT="[Text]"/>
      <dgm:spPr/>
      <dgm:t>
        <a:bodyPr/>
        <a:lstStyle/>
        <a:p>
          <a:r>
            <a:rPr lang="en-MY" dirty="0"/>
            <a:t>Controlling the Schedule</a:t>
          </a:r>
        </a:p>
      </dgm:t>
    </dgm:pt>
    <dgm:pt modelId="{7DFF532B-1D2C-4D02-8A43-39A68F73D8DE}" type="parTrans" cxnId="{89AF6DA5-C6D4-4243-91FD-0CDEFEAFE8C7}">
      <dgm:prSet/>
      <dgm:spPr/>
      <dgm:t>
        <a:bodyPr/>
        <a:lstStyle/>
        <a:p>
          <a:endParaRPr lang="en-MY"/>
        </a:p>
      </dgm:t>
    </dgm:pt>
    <dgm:pt modelId="{1E8F242D-60FA-4640-9DBC-A3EB0B7DDE65}" type="sibTrans" cxnId="{89AF6DA5-C6D4-4243-91FD-0CDEFEAFE8C7}">
      <dgm:prSet/>
      <dgm:spPr/>
      <dgm:t>
        <a:bodyPr/>
        <a:lstStyle/>
        <a:p>
          <a:endParaRPr lang="en-MY"/>
        </a:p>
      </dgm:t>
    </dgm:pt>
    <dgm:pt modelId="{F2622FF1-AB43-4BDE-B1E8-A3776298F3DD}" type="pres">
      <dgm:prSet presAssocID="{C926980D-A8C3-498A-8FBC-E3A5F68B990E}" presName="diagram" presStyleCnt="0">
        <dgm:presLayoutVars>
          <dgm:dir/>
          <dgm:resizeHandles val="exact"/>
        </dgm:presLayoutVars>
      </dgm:prSet>
      <dgm:spPr/>
    </dgm:pt>
    <dgm:pt modelId="{C16EC67A-4B3A-46B4-9D50-24BB24C39648}" type="pres">
      <dgm:prSet presAssocID="{14432F4B-576B-471B-BEC3-41CF34886411}" presName="node" presStyleLbl="node1" presStyleIdx="0" presStyleCnt="6">
        <dgm:presLayoutVars>
          <dgm:bulletEnabled val="1"/>
        </dgm:presLayoutVars>
      </dgm:prSet>
      <dgm:spPr/>
    </dgm:pt>
    <dgm:pt modelId="{48504BD5-26FF-4B19-9D6D-129F58F41F7A}" type="pres">
      <dgm:prSet presAssocID="{6EFA6EA9-283E-4610-B902-5F583F1B253A}" presName="sibTrans" presStyleCnt="0"/>
      <dgm:spPr/>
    </dgm:pt>
    <dgm:pt modelId="{0965F6E9-325E-498F-A83C-DB0C0F07BED4}" type="pres">
      <dgm:prSet presAssocID="{F8456A93-5415-4AEF-844E-12D96604EB26}" presName="node" presStyleLbl="node1" presStyleIdx="1" presStyleCnt="6">
        <dgm:presLayoutVars>
          <dgm:bulletEnabled val="1"/>
        </dgm:presLayoutVars>
      </dgm:prSet>
      <dgm:spPr/>
    </dgm:pt>
    <dgm:pt modelId="{1363F8BA-2995-4876-8C42-6B81F8811C4C}" type="pres">
      <dgm:prSet presAssocID="{B6F7A04F-33D1-4B33-A36E-9F25EA1204D2}" presName="sibTrans" presStyleCnt="0"/>
      <dgm:spPr/>
    </dgm:pt>
    <dgm:pt modelId="{492BA48B-C3AB-4CB5-B032-54C65A4C994B}" type="pres">
      <dgm:prSet presAssocID="{65156171-82B6-46E5-AE21-4190E8470B54}" presName="node" presStyleLbl="node1" presStyleIdx="2" presStyleCnt="6">
        <dgm:presLayoutVars>
          <dgm:bulletEnabled val="1"/>
        </dgm:presLayoutVars>
      </dgm:prSet>
      <dgm:spPr/>
    </dgm:pt>
    <dgm:pt modelId="{2B8976D8-B3F0-40CA-9F5A-ACB45D2536CC}" type="pres">
      <dgm:prSet presAssocID="{5215FB45-110E-4329-8DC4-F63C58B77245}" presName="sibTrans" presStyleCnt="0"/>
      <dgm:spPr/>
    </dgm:pt>
    <dgm:pt modelId="{531758FC-E676-4029-BC75-D9D135C1D8D0}" type="pres">
      <dgm:prSet presAssocID="{6D89839D-3C01-4EE6-A44B-EC7126E0D250}" presName="node" presStyleLbl="node1" presStyleIdx="3" presStyleCnt="6">
        <dgm:presLayoutVars>
          <dgm:bulletEnabled val="1"/>
        </dgm:presLayoutVars>
      </dgm:prSet>
      <dgm:spPr/>
    </dgm:pt>
    <dgm:pt modelId="{71FDE546-FE9B-4EE0-8497-036A436167F3}" type="pres">
      <dgm:prSet presAssocID="{90269A1B-9FFD-436E-BAD5-8A4932C1FBDE}" presName="sibTrans" presStyleCnt="0"/>
      <dgm:spPr/>
    </dgm:pt>
    <dgm:pt modelId="{D444B7BA-B9DB-47D4-82E7-45E58D46BA1D}" type="pres">
      <dgm:prSet presAssocID="{ABEA22A8-59BD-46B5-AB8C-21D37CB31FAD}" presName="node" presStyleLbl="node1" presStyleIdx="4" presStyleCnt="6">
        <dgm:presLayoutVars>
          <dgm:bulletEnabled val="1"/>
        </dgm:presLayoutVars>
      </dgm:prSet>
      <dgm:spPr/>
    </dgm:pt>
    <dgm:pt modelId="{45F27374-E749-422F-8A6D-7EAB7179F2C1}" type="pres">
      <dgm:prSet presAssocID="{E626BC59-56E5-4D3C-A00A-614CA67ACDD2}" presName="sibTrans" presStyleCnt="0"/>
      <dgm:spPr/>
    </dgm:pt>
    <dgm:pt modelId="{578F71E5-0FD5-4E67-9516-80A8974801DC}" type="pres">
      <dgm:prSet presAssocID="{E1172569-C474-4D95-B0B0-2F7F21B53C21}" presName="node" presStyleLbl="node1" presStyleIdx="5" presStyleCnt="6">
        <dgm:presLayoutVars>
          <dgm:bulletEnabled val="1"/>
        </dgm:presLayoutVars>
      </dgm:prSet>
      <dgm:spPr/>
    </dgm:pt>
  </dgm:ptLst>
  <dgm:cxnLst>
    <dgm:cxn modelId="{6701AF04-6B2E-44A0-B3CC-438DBCDA276B}" type="presOf" srcId="{F8456A93-5415-4AEF-844E-12D96604EB26}" destId="{0965F6E9-325E-498F-A83C-DB0C0F07BED4}" srcOrd="0" destOrd="0" presId="urn:microsoft.com/office/officeart/2005/8/layout/default"/>
    <dgm:cxn modelId="{0B406C14-BA7A-439B-BA73-441CA7F267F9}" srcId="{C926980D-A8C3-498A-8FBC-E3A5F68B990E}" destId="{14432F4B-576B-471B-BEC3-41CF34886411}" srcOrd="0" destOrd="0" parTransId="{791558F5-D005-460E-B674-B587CAE17096}" sibTransId="{6EFA6EA9-283E-4610-B902-5F583F1B253A}"/>
    <dgm:cxn modelId="{68C87740-89A9-41B5-A41A-A51812A5B6F4}" type="presOf" srcId="{14432F4B-576B-471B-BEC3-41CF34886411}" destId="{C16EC67A-4B3A-46B4-9D50-24BB24C39648}" srcOrd="0" destOrd="0" presId="urn:microsoft.com/office/officeart/2005/8/layout/default"/>
    <dgm:cxn modelId="{3413C740-92E3-4388-81DD-21A8102B18B1}" type="presOf" srcId="{65156171-82B6-46E5-AE21-4190E8470B54}" destId="{492BA48B-C3AB-4CB5-B032-54C65A4C994B}" srcOrd="0" destOrd="0" presId="urn:microsoft.com/office/officeart/2005/8/layout/default"/>
    <dgm:cxn modelId="{1118766B-3C64-4D17-9A37-FDED1EB9BAD1}" srcId="{C926980D-A8C3-498A-8FBC-E3A5F68B990E}" destId="{F8456A93-5415-4AEF-844E-12D96604EB26}" srcOrd="1" destOrd="0" parTransId="{E7FDEA32-F01E-4071-A512-93979F6C18C4}" sibTransId="{B6F7A04F-33D1-4B33-A36E-9F25EA1204D2}"/>
    <dgm:cxn modelId="{C9A7786D-0BCE-49DC-986B-43D824A134B7}" type="presOf" srcId="{6D89839D-3C01-4EE6-A44B-EC7126E0D250}" destId="{531758FC-E676-4029-BC75-D9D135C1D8D0}" srcOrd="0" destOrd="0" presId="urn:microsoft.com/office/officeart/2005/8/layout/default"/>
    <dgm:cxn modelId="{B6F3CA70-D4D7-44E7-BC43-700189FD7C95}" srcId="{C926980D-A8C3-498A-8FBC-E3A5F68B990E}" destId="{65156171-82B6-46E5-AE21-4190E8470B54}" srcOrd="2" destOrd="0" parTransId="{2B00B642-635D-42C7-A511-83218A7A2319}" sibTransId="{5215FB45-110E-4329-8DC4-F63C58B77245}"/>
    <dgm:cxn modelId="{EA1E0A7C-A5F3-437C-A7B7-CB04E8F40862}" type="presOf" srcId="{E1172569-C474-4D95-B0B0-2F7F21B53C21}" destId="{578F71E5-0FD5-4E67-9516-80A8974801DC}" srcOrd="0" destOrd="0" presId="urn:microsoft.com/office/officeart/2005/8/layout/default"/>
    <dgm:cxn modelId="{FC2CE58E-4C44-439A-B661-AAE3C7BFAE8D}" srcId="{C926980D-A8C3-498A-8FBC-E3A5F68B990E}" destId="{6D89839D-3C01-4EE6-A44B-EC7126E0D250}" srcOrd="3" destOrd="0" parTransId="{D2E758A6-FC52-43DF-8FC2-98694CDA8856}" sibTransId="{90269A1B-9FFD-436E-BAD5-8A4932C1FBDE}"/>
    <dgm:cxn modelId="{6A3028A4-54C7-4145-8B40-82D3727197A4}" type="presOf" srcId="{ABEA22A8-59BD-46B5-AB8C-21D37CB31FAD}" destId="{D444B7BA-B9DB-47D4-82E7-45E58D46BA1D}" srcOrd="0" destOrd="0" presId="urn:microsoft.com/office/officeart/2005/8/layout/default"/>
    <dgm:cxn modelId="{89AF6DA5-C6D4-4243-91FD-0CDEFEAFE8C7}" srcId="{C926980D-A8C3-498A-8FBC-E3A5F68B990E}" destId="{E1172569-C474-4D95-B0B0-2F7F21B53C21}" srcOrd="5" destOrd="0" parTransId="{7DFF532B-1D2C-4D02-8A43-39A68F73D8DE}" sibTransId="{1E8F242D-60FA-4640-9DBC-A3EB0B7DDE65}"/>
    <dgm:cxn modelId="{46D7D0C2-BCAC-4F5C-BBBB-0DCE122DF6FD}" srcId="{C926980D-A8C3-498A-8FBC-E3A5F68B990E}" destId="{ABEA22A8-59BD-46B5-AB8C-21D37CB31FAD}" srcOrd="4" destOrd="0" parTransId="{9A8FF00A-D928-4334-A063-3B35DFBDDCC9}" sibTransId="{E626BC59-56E5-4D3C-A00A-614CA67ACDD2}"/>
    <dgm:cxn modelId="{394CD7EB-6DD2-4D29-A1B5-51583E0BCEF8}" type="presOf" srcId="{C926980D-A8C3-498A-8FBC-E3A5F68B990E}" destId="{F2622FF1-AB43-4BDE-B1E8-A3776298F3DD}" srcOrd="0" destOrd="0" presId="urn:microsoft.com/office/officeart/2005/8/layout/default"/>
    <dgm:cxn modelId="{D82154BE-AD88-46E2-990D-11E5770BAF46}" type="presParOf" srcId="{F2622FF1-AB43-4BDE-B1E8-A3776298F3DD}" destId="{C16EC67A-4B3A-46B4-9D50-24BB24C39648}" srcOrd="0" destOrd="0" presId="urn:microsoft.com/office/officeart/2005/8/layout/default"/>
    <dgm:cxn modelId="{EA0226CC-6E86-47E0-9871-2301E177F797}" type="presParOf" srcId="{F2622FF1-AB43-4BDE-B1E8-A3776298F3DD}" destId="{48504BD5-26FF-4B19-9D6D-129F58F41F7A}" srcOrd="1" destOrd="0" presId="urn:microsoft.com/office/officeart/2005/8/layout/default"/>
    <dgm:cxn modelId="{7289E8D2-23C7-46B9-8A34-BBB6DEA03994}" type="presParOf" srcId="{F2622FF1-AB43-4BDE-B1E8-A3776298F3DD}" destId="{0965F6E9-325E-498F-A83C-DB0C0F07BED4}" srcOrd="2" destOrd="0" presId="urn:microsoft.com/office/officeart/2005/8/layout/default"/>
    <dgm:cxn modelId="{57A94474-0AFA-4079-8FA2-86996EDAA0DD}" type="presParOf" srcId="{F2622FF1-AB43-4BDE-B1E8-A3776298F3DD}" destId="{1363F8BA-2995-4876-8C42-6B81F8811C4C}" srcOrd="3" destOrd="0" presId="urn:microsoft.com/office/officeart/2005/8/layout/default"/>
    <dgm:cxn modelId="{25759479-6F8B-4579-9F72-00A7FCC7BDC8}" type="presParOf" srcId="{F2622FF1-AB43-4BDE-B1E8-A3776298F3DD}" destId="{492BA48B-C3AB-4CB5-B032-54C65A4C994B}" srcOrd="4" destOrd="0" presId="urn:microsoft.com/office/officeart/2005/8/layout/default"/>
    <dgm:cxn modelId="{7ABFF480-05FB-4D25-865A-64B748B08221}" type="presParOf" srcId="{F2622FF1-AB43-4BDE-B1E8-A3776298F3DD}" destId="{2B8976D8-B3F0-40CA-9F5A-ACB45D2536CC}" srcOrd="5" destOrd="0" presId="urn:microsoft.com/office/officeart/2005/8/layout/default"/>
    <dgm:cxn modelId="{64C7086E-D4B0-4C06-96B0-4826F5BD999D}" type="presParOf" srcId="{F2622FF1-AB43-4BDE-B1E8-A3776298F3DD}" destId="{531758FC-E676-4029-BC75-D9D135C1D8D0}" srcOrd="6" destOrd="0" presId="urn:microsoft.com/office/officeart/2005/8/layout/default"/>
    <dgm:cxn modelId="{7BBC07A5-41A3-4947-9A54-317AD6A3B6E4}" type="presParOf" srcId="{F2622FF1-AB43-4BDE-B1E8-A3776298F3DD}" destId="{71FDE546-FE9B-4EE0-8497-036A436167F3}" srcOrd="7" destOrd="0" presId="urn:microsoft.com/office/officeart/2005/8/layout/default"/>
    <dgm:cxn modelId="{722E7024-F4CB-4AD1-94F8-6520CFB884FE}" type="presParOf" srcId="{F2622FF1-AB43-4BDE-B1E8-A3776298F3DD}" destId="{D444B7BA-B9DB-47D4-82E7-45E58D46BA1D}" srcOrd="8" destOrd="0" presId="urn:microsoft.com/office/officeart/2005/8/layout/default"/>
    <dgm:cxn modelId="{FABD0384-6F18-4303-BF17-08088013B243}" type="presParOf" srcId="{F2622FF1-AB43-4BDE-B1E8-A3776298F3DD}" destId="{45F27374-E749-422F-8A6D-7EAB7179F2C1}" srcOrd="9" destOrd="0" presId="urn:microsoft.com/office/officeart/2005/8/layout/default"/>
    <dgm:cxn modelId="{ABFE15D1-FBCC-4EDB-A160-CB00BF4020E4}" type="presParOf" srcId="{F2622FF1-AB43-4BDE-B1E8-A3776298F3DD}" destId="{578F71E5-0FD5-4E67-9516-80A8974801DC}" srcOrd="1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6EC67A-4B3A-46B4-9D50-24BB24C39648}">
      <dsp:nvSpPr>
        <dsp:cNvPr id="0" name=""/>
        <dsp:cNvSpPr/>
      </dsp:nvSpPr>
      <dsp:spPr>
        <a:xfrm>
          <a:off x="1231277" y="1826"/>
          <a:ext cx="2398473" cy="143908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dirty="0"/>
            <a:t>Planning Schedule Management</a:t>
          </a:r>
        </a:p>
      </dsp:txBody>
      <dsp:txXfrm>
        <a:off x="1231277" y="1826"/>
        <a:ext cx="2398473" cy="1439084"/>
      </dsp:txXfrm>
    </dsp:sp>
    <dsp:sp modelId="{0965F6E9-325E-498F-A83C-DB0C0F07BED4}">
      <dsp:nvSpPr>
        <dsp:cNvPr id="0" name=""/>
        <dsp:cNvSpPr/>
      </dsp:nvSpPr>
      <dsp:spPr>
        <a:xfrm>
          <a:off x="3869598" y="1826"/>
          <a:ext cx="2398473" cy="143908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dirty="0"/>
            <a:t>Defining Activities</a:t>
          </a:r>
        </a:p>
      </dsp:txBody>
      <dsp:txXfrm>
        <a:off x="3869598" y="1826"/>
        <a:ext cx="2398473" cy="1439084"/>
      </dsp:txXfrm>
    </dsp:sp>
    <dsp:sp modelId="{492BA48B-C3AB-4CB5-B032-54C65A4C994B}">
      <dsp:nvSpPr>
        <dsp:cNvPr id="0" name=""/>
        <dsp:cNvSpPr/>
      </dsp:nvSpPr>
      <dsp:spPr>
        <a:xfrm>
          <a:off x="1231277" y="1680757"/>
          <a:ext cx="2398473" cy="143908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dirty="0"/>
            <a:t>Sequencing Activities</a:t>
          </a:r>
        </a:p>
      </dsp:txBody>
      <dsp:txXfrm>
        <a:off x="1231277" y="1680757"/>
        <a:ext cx="2398473" cy="1439084"/>
      </dsp:txXfrm>
    </dsp:sp>
    <dsp:sp modelId="{531758FC-E676-4029-BC75-D9D135C1D8D0}">
      <dsp:nvSpPr>
        <dsp:cNvPr id="0" name=""/>
        <dsp:cNvSpPr/>
      </dsp:nvSpPr>
      <dsp:spPr>
        <a:xfrm>
          <a:off x="3869598" y="1680757"/>
          <a:ext cx="2398473" cy="143908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dirty="0"/>
            <a:t>Estimating Activity Duration</a:t>
          </a:r>
        </a:p>
      </dsp:txBody>
      <dsp:txXfrm>
        <a:off x="3869598" y="1680757"/>
        <a:ext cx="2398473" cy="1439084"/>
      </dsp:txXfrm>
    </dsp:sp>
    <dsp:sp modelId="{D444B7BA-B9DB-47D4-82E7-45E58D46BA1D}">
      <dsp:nvSpPr>
        <dsp:cNvPr id="0" name=""/>
        <dsp:cNvSpPr/>
      </dsp:nvSpPr>
      <dsp:spPr>
        <a:xfrm>
          <a:off x="1231277" y="3359689"/>
          <a:ext cx="2398473" cy="143908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dirty="0"/>
            <a:t>Developing the Schedule</a:t>
          </a:r>
        </a:p>
      </dsp:txBody>
      <dsp:txXfrm>
        <a:off x="1231277" y="3359689"/>
        <a:ext cx="2398473" cy="1439084"/>
      </dsp:txXfrm>
    </dsp:sp>
    <dsp:sp modelId="{578F71E5-0FD5-4E67-9516-80A8974801DC}">
      <dsp:nvSpPr>
        <dsp:cNvPr id="0" name=""/>
        <dsp:cNvSpPr/>
      </dsp:nvSpPr>
      <dsp:spPr>
        <a:xfrm>
          <a:off x="3869598" y="3359689"/>
          <a:ext cx="2398473" cy="143908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MY" sz="3000" kern="1200" dirty="0"/>
            <a:t>Controlling the Schedule</a:t>
          </a:r>
        </a:p>
      </dsp:txBody>
      <dsp:txXfrm>
        <a:off x="3869598" y="3359689"/>
        <a:ext cx="2398473" cy="143908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44B210D1-BB10-4D3F-84EE-23EFEA341F4D}" type="datetimeFigureOut">
              <a:rPr lang="en-US" smtClean="0"/>
              <a:t>5/14/2025</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09735464-44F0-47AE-8A8C-CFA2DB97902C}" type="slidenum">
              <a:rPr lang="en-US" smtClean="0"/>
              <a:t>‹#›</a:t>
            </a:fld>
            <a:endParaRPr lang="en-US"/>
          </a:p>
        </p:txBody>
      </p:sp>
    </p:spTree>
    <p:extLst>
      <p:ext uri="{BB962C8B-B14F-4D97-AF65-F5344CB8AC3E}">
        <p14:creationId xmlns:p14="http://schemas.microsoft.com/office/powerpoint/2010/main" val="773856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398C4478-F009-4084-AF5B-5BBC1C5391ED}" type="datetimeFigureOut">
              <a:rPr lang="en-US"/>
              <a:pPr>
                <a:defRPr/>
              </a:pPr>
              <a:t>5/14/2025</a:t>
            </a:fld>
            <a:endParaRPr lang="en-AU"/>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AU"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AU"/>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4AE8BB69-AF1B-45E0-A550-DEEAC09AE992}" type="slidenum">
              <a:rPr lang="en-AU"/>
              <a:pPr>
                <a:defRPr/>
              </a:pPr>
              <a:t>‹#›</a:t>
            </a:fld>
            <a:endParaRPr lang="en-AU"/>
          </a:p>
        </p:txBody>
      </p:sp>
    </p:spTree>
    <p:extLst>
      <p:ext uri="{BB962C8B-B14F-4D97-AF65-F5344CB8AC3E}">
        <p14:creationId xmlns:p14="http://schemas.microsoft.com/office/powerpoint/2010/main" val="7458512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r>
              <a:rPr lang="ko-KR" altLang="en-US">
                <a:latin typeface="Arial" charset="0"/>
                <a:cs typeface="Arial" charset="0"/>
              </a:rPr>
              <a:t>Header1</a:t>
            </a:r>
            <a:endParaRPr lang="en-US" altLang="ko-KR" dirty="0">
              <a:latin typeface="Arial" charset="0"/>
              <a:cs typeface="Arial" charset="0"/>
            </a:endParaRPr>
          </a:p>
        </p:txBody>
      </p:sp>
      <p:sp>
        <p:nvSpPr>
          <p:cNvPr id="614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2F0B80D-AA9C-4B07-9B7A-DEF1E9678A05}" type="slidenum">
              <a:rPr lang="ko-KR" altLang="en-US">
                <a:latin typeface="Arial" charset="0"/>
                <a:cs typeface="Arial" charset="0"/>
              </a:rPr>
              <a:pPr fontAlgn="base">
                <a:spcBef>
                  <a:spcPct val="0"/>
                </a:spcBef>
                <a:spcAft>
                  <a:spcPct val="0"/>
                </a:spcAft>
              </a:pPr>
              <a:t>1</a:t>
            </a:fld>
            <a:endParaRPr lang="en-US" altLang="ko-KR" dirty="0">
              <a:latin typeface="Arial" charset="0"/>
              <a:cs typeface="Arial" charset="0"/>
            </a:endParaRPr>
          </a:p>
        </p:txBody>
      </p:sp>
      <p:sp>
        <p:nvSpPr>
          <p:cNvPr id="6148" name="Rectangle 2"/>
          <p:cNvSpPr>
            <a:spLocks noGrp="1" noRot="1" noChangeAspect="1" noChangeArrowheads="1" noTextEdit="1"/>
          </p:cNvSpPr>
          <p:nvPr>
            <p:ph type="sldImg"/>
          </p:nvPr>
        </p:nvSpPr>
        <p:spPr bwMode="auto">
          <a:xfrm>
            <a:off x="1144588" y="685800"/>
            <a:ext cx="4576762" cy="3432175"/>
          </a:xfrm>
          <a:noFill/>
          <a:ln>
            <a:solidFill>
              <a:srgbClr val="000000"/>
            </a:solidFill>
            <a:miter lim="800000"/>
            <a:headEnd/>
            <a:tailEnd/>
          </a:ln>
        </p:spPr>
      </p:sp>
      <p:sp>
        <p:nvSpPr>
          <p:cNvPr id="6149" name="Rectangle 3"/>
          <p:cNvSpPr>
            <a:spLocks noGrp="1" noChangeArrowheads="1"/>
          </p:cNvSpPr>
          <p:nvPr>
            <p:ph type="body" idx="1"/>
          </p:nvPr>
        </p:nvSpPr>
        <p:spPr bwMode="auto">
          <a:xfrm>
            <a:off x="912813" y="4343400"/>
            <a:ext cx="5032375" cy="4114800"/>
          </a:xfrm>
          <a:noFill/>
        </p:spPr>
        <p:txBody>
          <a:bodyPr wrap="square" lIns="95059" tIns="47530" rIns="95059" bIns="47530" numCol="1" anchor="t" anchorCtr="0" compatLnSpc="1">
            <a:prstTxWarp prst="textNoShape">
              <a:avLst/>
            </a:prstTxWarp>
          </a:bodyPr>
          <a:lstStyle/>
          <a:p>
            <a:pPr>
              <a:spcBef>
                <a:spcPct val="0"/>
              </a:spcBef>
            </a:pPr>
            <a:r>
              <a:rPr lang="en-US" baseline="0" dirty="0">
                <a:cs typeface="Arial" charset="0"/>
              </a:rPr>
              <a:t> </a:t>
            </a:r>
            <a:endParaRPr lang="en-US" dirty="0">
              <a:cs typeface="Arial" charset="0"/>
            </a:endParaRPr>
          </a:p>
        </p:txBody>
      </p:sp>
    </p:spTree>
    <p:extLst>
      <p:ext uri="{BB962C8B-B14F-4D97-AF65-F5344CB8AC3E}">
        <p14:creationId xmlns:p14="http://schemas.microsoft.com/office/powerpoint/2010/main" val="4294551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6D7BA362-69E2-4DDC-BADC-7B11D5BE817A}" type="datetimeFigureOut">
              <a:rPr lang="en-US"/>
              <a:pPr>
                <a:defRPr/>
              </a:pPr>
              <a:t>5/14/2025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DB08EB19-C617-4428-9A2B-3B89409218EA}" type="slidenum">
              <a:rPr lang="en-AU"/>
              <a:pPr>
                <a:defRPr/>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6"/>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9"/>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7" name="Oval 8"/>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73722BA4-39B3-45A1-A7AC-1F3918C8D142}" type="datetimeFigureOut">
              <a:rPr lang="en-US"/>
              <a:pPr>
                <a:defRPr/>
              </a:pPr>
              <a:t>5/14/2025</a:t>
            </a:fld>
            <a:endParaRPr lang="en-AU"/>
          </a:p>
        </p:txBody>
      </p:sp>
      <p:sp>
        <p:nvSpPr>
          <p:cNvPr id="9" name="Footer Placeholder 4"/>
          <p:cNvSpPr>
            <a:spLocks noGrp="1"/>
          </p:cNvSpPr>
          <p:nvPr>
            <p:ph type="ftr" sz="quarter" idx="11"/>
          </p:nvPr>
        </p:nvSpPr>
        <p:spPr/>
        <p:txBody>
          <a:bodyPr/>
          <a:lstStyle>
            <a:lvl1pPr>
              <a:defRPr/>
            </a:lvl1pPr>
            <a:extLst/>
          </a:lstStyle>
          <a:p>
            <a:pPr>
              <a:defRPr/>
            </a:pPr>
            <a:endParaRPr lang="en-AU"/>
          </a:p>
        </p:txBody>
      </p:sp>
      <p:sp>
        <p:nvSpPr>
          <p:cNvPr id="10" name="Slide Number Placeholder 5"/>
          <p:cNvSpPr>
            <a:spLocks noGrp="1"/>
          </p:cNvSpPr>
          <p:nvPr>
            <p:ph type="sldNum" sz="quarter" idx="12"/>
          </p:nvPr>
        </p:nvSpPr>
        <p:spPr/>
        <p:txBody>
          <a:bodyPr/>
          <a:lstStyle>
            <a:lvl1pPr>
              <a:defRPr/>
            </a:lvl1pPr>
            <a:extLst/>
          </a:lstStyle>
          <a:p>
            <a:pPr>
              <a:defRPr/>
            </a:pPr>
            <a:fld id="{5E03B330-A60E-4F9A-B368-AA9E0D2C0C63}" type="slidenum">
              <a:rPr lang="en-AU"/>
              <a:pPr>
                <a:defRPr/>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fld id="{FAD928D8-2A07-4C9A-AC2B-B87C68A18E32}" type="datetimeFigureOut">
              <a:rPr lang="en-US"/>
              <a:pPr>
                <a:defRPr/>
              </a:pPr>
              <a:t>5/14/2025</a:t>
            </a:fld>
            <a:endParaRPr lang="en-AU"/>
          </a:p>
        </p:txBody>
      </p:sp>
      <p:sp>
        <p:nvSpPr>
          <p:cNvPr id="6" name="Footer Placeholder 9"/>
          <p:cNvSpPr>
            <a:spLocks noGrp="1"/>
          </p:cNvSpPr>
          <p:nvPr>
            <p:ph type="ftr" sz="quarter" idx="11"/>
          </p:nvPr>
        </p:nvSpPr>
        <p:spPr/>
        <p:txBody>
          <a:bodyPr/>
          <a:lstStyle>
            <a:lvl1pPr>
              <a:defRPr/>
            </a:lvl1pPr>
          </a:lstStyle>
          <a:p>
            <a:pPr>
              <a:defRPr/>
            </a:pPr>
            <a:endParaRPr lang="en-AU"/>
          </a:p>
        </p:txBody>
      </p:sp>
      <p:sp>
        <p:nvSpPr>
          <p:cNvPr id="7" name="Slide Number Placeholder 21"/>
          <p:cNvSpPr>
            <a:spLocks noGrp="1"/>
          </p:cNvSpPr>
          <p:nvPr>
            <p:ph type="sldNum" sz="quarter" idx="12"/>
          </p:nvPr>
        </p:nvSpPr>
        <p:spPr/>
        <p:txBody>
          <a:bodyPr/>
          <a:lstStyle>
            <a:lvl1pPr>
              <a:defRPr/>
            </a:lvl1pPr>
          </a:lstStyle>
          <a:p>
            <a:pPr>
              <a:defRPr/>
            </a:pPr>
            <a:fld id="{09FB0840-58FB-42AE-B722-DA08D68A1B7A}" type="slidenum">
              <a:rPr lang="en-AU"/>
              <a:pPr>
                <a:defRPr/>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97E289E5-BF1E-4F65-9039-EDEE690F93CE}" type="datetimeFigureOut">
              <a:rPr lang="en-US"/>
              <a:pPr>
                <a:defRPr/>
              </a:pPr>
              <a:t>5/14/2025</a:t>
            </a:fld>
            <a:endParaRPr lang="en-AU"/>
          </a:p>
        </p:txBody>
      </p:sp>
      <p:sp>
        <p:nvSpPr>
          <p:cNvPr id="8" name="Footer Placeholder 7"/>
          <p:cNvSpPr>
            <a:spLocks noGrp="1"/>
          </p:cNvSpPr>
          <p:nvPr>
            <p:ph type="ftr" sz="quarter" idx="11"/>
          </p:nvPr>
        </p:nvSpPr>
        <p:spPr/>
        <p:txBody>
          <a:bodyPr/>
          <a:lstStyle>
            <a:lvl1pPr>
              <a:defRPr/>
            </a:lvl1pPr>
            <a:extLst/>
          </a:lstStyle>
          <a:p>
            <a:pPr>
              <a:defRPr/>
            </a:pPr>
            <a:endParaRPr lang="en-AU"/>
          </a:p>
        </p:txBody>
      </p:sp>
      <p:sp>
        <p:nvSpPr>
          <p:cNvPr id="9" name="Slide Number Placeholder 8"/>
          <p:cNvSpPr>
            <a:spLocks noGrp="1"/>
          </p:cNvSpPr>
          <p:nvPr>
            <p:ph type="sldNum" sz="quarter" idx="12"/>
          </p:nvPr>
        </p:nvSpPr>
        <p:spPr/>
        <p:txBody>
          <a:bodyPr/>
          <a:lstStyle>
            <a:lvl1pPr>
              <a:defRPr/>
            </a:lvl1pPr>
            <a:extLst/>
          </a:lstStyle>
          <a:p>
            <a:pPr>
              <a:defRPr/>
            </a:pPr>
            <a:fld id="{96944B55-65F2-47D6-AA9A-06DBBEBDF1AA}" type="slidenum">
              <a:rPr lang="en-AU"/>
              <a:pPr>
                <a:defRPr/>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fld id="{E85752A6-4FF7-4D96-86DC-D5737A5BCD80}" type="datetimeFigureOut">
              <a:rPr lang="en-US"/>
              <a:pPr>
                <a:defRPr/>
              </a:pPr>
              <a:t>5/14/2025</a:t>
            </a:fld>
            <a:endParaRPr lang="en-AU"/>
          </a:p>
        </p:txBody>
      </p:sp>
      <p:sp>
        <p:nvSpPr>
          <p:cNvPr id="4" name="Footer Placeholder 9"/>
          <p:cNvSpPr>
            <a:spLocks noGrp="1"/>
          </p:cNvSpPr>
          <p:nvPr>
            <p:ph type="ftr" sz="quarter" idx="11"/>
          </p:nvPr>
        </p:nvSpPr>
        <p:spPr/>
        <p:txBody>
          <a:bodyPr/>
          <a:lstStyle>
            <a:lvl1pPr>
              <a:defRPr/>
            </a:lvl1pPr>
          </a:lstStyle>
          <a:p>
            <a:pPr>
              <a:defRPr/>
            </a:pPr>
            <a:endParaRPr lang="en-AU"/>
          </a:p>
        </p:txBody>
      </p:sp>
      <p:sp>
        <p:nvSpPr>
          <p:cNvPr id="5" name="Slide Number Placeholder 21"/>
          <p:cNvSpPr>
            <a:spLocks noGrp="1"/>
          </p:cNvSpPr>
          <p:nvPr>
            <p:ph type="sldNum" sz="quarter" idx="12"/>
          </p:nvPr>
        </p:nvSpPr>
        <p:spPr/>
        <p:txBody>
          <a:bodyPr/>
          <a:lstStyle>
            <a:lvl1pPr>
              <a:defRPr/>
            </a:lvl1pPr>
          </a:lstStyle>
          <a:p>
            <a:pPr>
              <a:defRPr/>
            </a:pPr>
            <a:fld id="{6787F683-B714-4840-9F7B-D54158E195FB}" type="slidenum">
              <a:rPr lang="en-AU"/>
              <a:pPr>
                <a:defRPr/>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Rectangle 5"/>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extLst/>
          </a:lstStyle>
          <a:p>
            <a:pPr>
              <a:defRPr/>
            </a:pPr>
            <a:fld id="{076632DF-7466-44F8-B14F-7E352A8B1400}" type="datetimeFigureOut">
              <a:rPr lang="en-US"/>
              <a:pPr>
                <a:defRPr/>
              </a:pPr>
              <a:t>5/14/2025</a:t>
            </a:fld>
            <a:endParaRPr lang="en-AU"/>
          </a:p>
        </p:txBody>
      </p:sp>
      <p:sp>
        <p:nvSpPr>
          <p:cNvPr id="5" name="Footer Placeholder 2"/>
          <p:cNvSpPr>
            <a:spLocks noGrp="1"/>
          </p:cNvSpPr>
          <p:nvPr>
            <p:ph type="ftr" sz="quarter" idx="11"/>
          </p:nvPr>
        </p:nvSpPr>
        <p:spPr/>
        <p:txBody>
          <a:bodyPr/>
          <a:lstStyle>
            <a:lvl1pPr>
              <a:defRPr/>
            </a:lvl1pPr>
            <a:extLst/>
          </a:lstStyle>
          <a:p>
            <a:pPr>
              <a:defRPr/>
            </a:pPr>
            <a:endParaRPr lang="en-AU"/>
          </a:p>
        </p:txBody>
      </p:sp>
      <p:sp>
        <p:nvSpPr>
          <p:cNvPr id="6" name="Slide Number Placeholder 3"/>
          <p:cNvSpPr>
            <a:spLocks noGrp="1"/>
          </p:cNvSpPr>
          <p:nvPr>
            <p:ph type="sldNum" sz="quarter" idx="12"/>
          </p:nvPr>
        </p:nvSpPr>
        <p:spPr/>
        <p:txBody>
          <a:bodyPr/>
          <a:lstStyle>
            <a:lvl1pPr>
              <a:defRPr/>
            </a:lvl1pPr>
            <a:extLst/>
          </a:lstStyle>
          <a:p>
            <a:pPr>
              <a:defRPr/>
            </a:pPr>
            <a:fld id="{9B62068E-3DF5-4F07-A479-6ECFC5B4334B}" type="slidenum">
              <a:rPr lang="en-AU"/>
              <a:pPr>
                <a:defRPr/>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2FF663F3-C0EA-42A8-9D3C-15DAC77F7ABD}" type="datetimeFigureOut">
              <a:rPr lang="en-US"/>
              <a:pPr>
                <a:defRPr/>
              </a:pPr>
              <a:t>5/14/2025</a:t>
            </a:fld>
            <a:endParaRPr lang="en-AU"/>
          </a:p>
        </p:txBody>
      </p:sp>
      <p:sp>
        <p:nvSpPr>
          <p:cNvPr id="6" name="Footer Placeholder 5"/>
          <p:cNvSpPr>
            <a:spLocks noGrp="1"/>
          </p:cNvSpPr>
          <p:nvPr>
            <p:ph type="ftr" sz="quarter" idx="11"/>
          </p:nvPr>
        </p:nvSpPr>
        <p:spPr/>
        <p:txBody>
          <a:bodyPr/>
          <a:lstStyle>
            <a:lvl1pPr>
              <a:defRPr/>
            </a:lvl1pPr>
            <a:extLst/>
          </a:lstStyle>
          <a:p>
            <a:pPr>
              <a:defRPr/>
            </a:pPr>
            <a:endParaRPr lang="en-AU"/>
          </a:p>
        </p:txBody>
      </p:sp>
      <p:sp>
        <p:nvSpPr>
          <p:cNvPr id="7" name="Slide Number Placeholder 6"/>
          <p:cNvSpPr>
            <a:spLocks noGrp="1"/>
          </p:cNvSpPr>
          <p:nvPr>
            <p:ph type="sldNum" sz="quarter" idx="12"/>
          </p:nvPr>
        </p:nvSpPr>
        <p:spPr/>
        <p:txBody>
          <a:bodyPr/>
          <a:lstStyle>
            <a:lvl1pPr>
              <a:defRPr/>
            </a:lvl1pPr>
            <a:extLst/>
          </a:lstStyle>
          <a:p>
            <a:pPr>
              <a:defRPr/>
            </a:pPr>
            <a:fld id="{B1A95174-CFA5-499D-88D0-D09D2FB1806C}" type="slidenum">
              <a:rPr lang="en-AU"/>
              <a:pPr>
                <a:defRPr/>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endParaRPr>
          </a:p>
        </p:txBody>
      </p:sp>
      <p:sp>
        <p:nvSpPr>
          <p:cNvPr id="6" name="Flowchart: Process 8"/>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lowchart: Process 9"/>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532F19D3-364E-4BE1-AB1D-9389337F1716}" type="datetimeFigureOut">
              <a:rPr lang="en-US"/>
              <a:pPr>
                <a:defRPr/>
              </a:pPr>
              <a:t>5/14/2025</a:t>
            </a:fld>
            <a:endParaRPr lang="en-AU"/>
          </a:p>
        </p:txBody>
      </p:sp>
      <p:sp>
        <p:nvSpPr>
          <p:cNvPr id="9" name="Footer Placeholder 5"/>
          <p:cNvSpPr>
            <a:spLocks noGrp="1"/>
          </p:cNvSpPr>
          <p:nvPr>
            <p:ph type="ftr" sz="quarter" idx="11"/>
          </p:nvPr>
        </p:nvSpPr>
        <p:spPr/>
        <p:txBody>
          <a:bodyPr/>
          <a:lstStyle>
            <a:lvl1pPr>
              <a:defRPr/>
            </a:lvl1pPr>
            <a:extLst/>
          </a:lstStyle>
          <a:p>
            <a:pPr>
              <a:defRPr/>
            </a:pPr>
            <a:endParaRPr lang="en-AU"/>
          </a:p>
        </p:txBody>
      </p:sp>
      <p:sp>
        <p:nvSpPr>
          <p:cNvPr id="10" name="Slide Number Placeholder 6"/>
          <p:cNvSpPr>
            <a:spLocks noGrp="1"/>
          </p:cNvSpPr>
          <p:nvPr>
            <p:ph type="sldNum" sz="quarter" idx="12"/>
          </p:nvPr>
        </p:nvSpPr>
        <p:spPr/>
        <p:txBody>
          <a:bodyPr/>
          <a:lstStyle>
            <a:lvl1pPr>
              <a:defRPr/>
            </a:lvl1pPr>
            <a:extLst/>
          </a:lstStyle>
          <a:p>
            <a:pPr>
              <a:defRPr/>
            </a:pPr>
            <a:fld id="{D314A49B-29C5-41E1-9157-AF7F5FD4ACA7}" type="slidenum">
              <a:rPr lang="en-AU"/>
              <a:pPr>
                <a:defRPr/>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9659DBE8-5B23-4758-B47C-E9E341EE3328}" type="datetimeFigureOut">
              <a:rPr lang="en-US"/>
              <a:pPr>
                <a:defRPr/>
              </a:pPr>
              <a:t>5/14/2025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388FE86-17E6-4DB8-A3B4-0AF1C45D9DDE}" type="slidenum">
              <a:rPr lang="en-AU"/>
              <a:pPr>
                <a:defRPr/>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4914BA9B-DFDF-4564-91A2-6DF83062B79A}" type="datetimeFigureOut">
              <a:rPr lang="en-US"/>
              <a:pPr>
                <a:defRPr/>
              </a:pPr>
              <a:t>5/14/2025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920A575-958F-452E-A13F-7BD0F68F6B47}" type="slidenum">
              <a:rPr lang="en-AU"/>
              <a:pPr>
                <a:defRPr/>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23"/>
          <p:cNvSpPr>
            <a:spLocks noGrp="1"/>
          </p:cNvSpPr>
          <p:nvPr>
            <p:ph type="dt" sz="half" idx="10"/>
          </p:nvPr>
        </p:nvSpPr>
        <p:spPr/>
        <p:txBody>
          <a:bodyPr/>
          <a:lstStyle>
            <a:lvl1pPr>
              <a:defRPr/>
            </a:lvl1pPr>
          </a:lstStyle>
          <a:p>
            <a:pPr>
              <a:defRPr/>
            </a:pPr>
            <a:fld id="{14BD23C4-0CBE-41AD-9915-09C3EB7D8FC5}" type="datetimeFigureOut">
              <a:rPr lang="en-US"/>
              <a:pPr>
                <a:defRPr/>
              </a:pPr>
              <a:t>5/14/2025</a:t>
            </a:fld>
            <a:endParaRPr lang="en-AU"/>
          </a:p>
        </p:txBody>
      </p:sp>
      <p:sp>
        <p:nvSpPr>
          <p:cNvPr id="3" name="Footer Placeholder 9"/>
          <p:cNvSpPr>
            <a:spLocks noGrp="1"/>
          </p:cNvSpPr>
          <p:nvPr>
            <p:ph type="ftr" sz="quarter" idx="11"/>
          </p:nvPr>
        </p:nvSpPr>
        <p:spPr/>
        <p:txBody>
          <a:bodyPr/>
          <a:lstStyle>
            <a:lvl1pPr>
              <a:defRPr/>
            </a:lvl1pPr>
          </a:lstStyle>
          <a:p>
            <a:pPr>
              <a:defRPr/>
            </a:pPr>
            <a:endParaRPr lang="en-AU"/>
          </a:p>
        </p:txBody>
      </p:sp>
      <p:sp>
        <p:nvSpPr>
          <p:cNvPr id="4" name="Slide Number Placeholder 21"/>
          <p:cNvSpPr>
            <a:spLocks noGrp="1"/>
          </p:cNvSpPr>
          <p:nvPr>
            <p:ph type="sldNum" sz="quarter" idx="12"/>
          </p:nvPr>
        </p:nvSpPr>
        <p:spPr/>
        <p:txBody>
          <a:bodyPr/>
          <a:lstStyle>
            <a:lvl1pPr>
              <a:defRPr/>
            </a:lvl1pPr>
          </a:lstStyle>
          <a:p>
            <a:pPr>
              <a:defRPr/>
            </a:pPr>
            <a:fld id="{1AD7BE41-6580-421D-AAB4-199544DFCC6F}" type="slidenum">
              <a:rPr lang="en-AU"/>
              <a:pPr>
                <a:defRPr/>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5/14/2025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111073"/>
      </p:ext>
    </p:extLst>
  </p:cSld>
  <p:clrMapOvr>
    <a:masterClrMapping/>
  </p:clrMapOvr>
  <p:transition spd="slow">
    <p:blinds dir="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1033"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defRPr>
            </a:lvl1pPr>
            <a:extLst/>
          </a:lstStyle>
          <a:p>
            <a:pPr>
              <a:defRPr/>
            </a:pPr>
            <a:fld id="{4674603B-BE21-4B82-834E-441265CC936A}" type="datetimeFigureOut">
              <a:rPr lang="en-US"/>
              <a:pPr>
                <a:defRPr/>
              </a:pPr>
              <a:t>5/14/2025</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endParaRPr lang="en-AU"/>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fld id="{25D2816C-7373-4FF3-9DF2-CB9F7B7A5FB2}" type="slidenum">
              <a:rPr lang="en-AU"/>
              <a:pPr>
                <a:defRPr/>
              </a:pPr>
              <a:t>‹#›</a:t>
            </a:fld>
            <a:endParaRPr lang="en-AU"/>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02" r:id="rId1"/>
    <p:sldLayoutId id="2147483708" r:id="rId2"/>
    <p:sldLayoutId id="2147483703" r:id="rId3"/>
    <p:sldLayoutId id="2147483709" r:id="rId4"/>
    <p:sldLayoutId id="2147483704" r:id="rId5"/>
    <p:sldLayoutId id="2147483710" r:id="rId6"/>
    <p:sldLayoutId id="2147483711" r:id="rId7"/>
    <p:sldLayoutId id="2147483712" r:id="rId8"/>
    <p:sldLayoutId id="2147483705" r:id="rId9"/>
    <p:sldLayoutId id="2147483706" r:id="rId10"/>
    <p:sldLayoutId id="2147483707" r:id="rId11"/>
    <p:sldLayoutId id="2147483713" r:id="rId12"/>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34817" name="Rectangle 8"/>
          <p:cNvSpPr>
            <a:spLocks noChangeArrowheads="1"/>
          </p:cNvSpPr>
          <p:nvPr/>
        </p:nvSpPr>
        <p:spPr bwMode="auto">
          <a:xfrm>
            <a:off x="107504" y="236124"/>
            <a:ext cx="8893006" cy="1536692"/>
          </a:xfrm>
          <a:prstGeom prst="rect">
            <a:avLst/>
          </a:prstGeom>
          <a:solidFill>
            <a:schemeClr val="bg1">
              <a:lumMod val="65000"/>
            </a:schemeClr>
          </a:solidFill>
          <a:ln w="38100" algn="ctr">
            <a:solidFill>
              <a:schemeClr val="bg1">
                <a:lumMod val="50000"/>
              </a:schemeClr>
            </a:solidFill>
            <a:miter lim="800000"/>
            <a:headEnd/>
            <a:tailEnd/>
          </a:ln>
        </p:spPr>
        <p:txBody>
          <a:bodyPr wrap="none" anchor="ctr"/>
          <a:lstStyle/>
          <a:p>
            <a:pPr algn="ctr" eaLnBrk="0" hangingPunct="0">
              <a:spcBef>
                <a:spcPct val="20000"/>
              </a:spcBef>
              <a:buClr>
                <a:schemeClr val="bg1"/>
              </a:buClr>
              <a:buFontTx/>
              <a:buChar char="•"/>
            </a:pPr>
            <a:endParaRPr lang="en-US" sz="2800" dirty="0">
              <a:latin typeface="Goudy Stout" pitchFamily="18" charset="0"/>
            </a:endParaRPr>
          </a:p>
        </p:txBody>
      </p:sp>
      <p:sp>
        <p:nvSpPr>
          <p:cNvPr id="34820" name="Text Box 5"/>
          <p:cNvSpPr txBox="1">
            <a:spLocks noChangeArrowheads="1"/>
          </p:cNvSpPr>
          <p:nvPr/>
        </p:nvSpPr>
        <p:spPr bwMode="auto">
          <a:xfrm>
            <a:off x="-108520" y="4301081"/>
            <a:ext cx="8568988" cy="1828800"/>
          </a:xfrm>
          <a:prstGeom prst="rect">
            <a:avLst/>
          </a:prstGeom>
          <a:noFill/>
          <a:ln w="9525">
            <a:noFill/>
            <a:miter lim="800000"/>
            <a:headEnd/>
            <a:tailEnd/>
          </a:ln>
        </p:spPr>
        <p:txBody>
          <a:bodyPr wrap="none"/>
          <a:lstStyle/>
          <a:p>
            <a:pPr marL="511175" indent="-279400" algn="ctr"/>
            <a:endParaRPr lang="en-US" sz="1200" dirty="0">
              <a:cs typeface="Times New Roman" pitchFamily="18" charset="0"/>
            </a:endParaRPr>
          </a:p>
          <a:p>
            <a:pPr marL="511175" indent="-279400" algn="r"/>
            <a:r>
              <a:rPr lang="en-US" dirty="0"/>
              <a:t>Dr.  Sumaira Nazir</a:t>
            </a:r>
          </a:p>
          <a:p>
            <a:pPr marL="511175" indent="-279400" algn="r"/>
            <a:r>
              <a:rPr lang="en-US" dirty="0"/>
              <a:t>Department of Software Engineering</a:t>
            </a:r>
          </a:p>
          <a:p>
            <a:pPr marL="511175" indent="-279400" algn="r"/>
            <a:r>
              <a:rPr lang="en-US" dirty="0"/>
              <a:t>National University of Modern Languages, Islamabad</a:t>
            </a:r>
          </a:p>
          <a:p>
            <a:pPr marL="511175" indent="-279400" algn="ctr"/>
            <a:endParaRPr lang="en-US" dirty="0"/>
          </a:p>
        </p:txBody>
      </p:sp>
      <p:sp>
        <p:nvSpPr>
          <p:cNvPr id="2" name="TextBox 1">
            <a:extLst>
              <a:ext uri="{FF2B5EF4-FFF2-40B4-BE49-F238E27FC236}">
                <a16:creationId xmlns:a16="http://schemas.microsoft.com/office/drawing/2014/main" id="{E370068C-DD74-4ED8-9B03-A9F8221E847B}"/>
              </a:ext>
            </a:extLst>
          </p:cNvPr>
          <p:cNvSpPr txBox="1"/>
          <p:nvPr/>
        </p:nvSpPr>
        <p:spPr>
          <a:xfrm>
            <a:off x="269513" y="742860"/>
            <a:ext cx="8568987" cy="523220"/>
          </a:xfrm>
          <a:prstGeom prst="rect">
            <a:avLst/>
          </a:prstGeom>
          <a:noFill/>
        </p:spPr>
        <p:txBody>
          <a:bodyPr wrap="square" rtlCol="0">
            <a:spAutoFit/>
          </a:bodyPr>
          <a:lstStyle/>
          <a:p>
            <a:pPr algn="ctr"/>
            <a:r>
              <a:rPr lang="en-MY" sz="2800" b="1" dirty="0">
                <a:latin typeface="Times" panose="02020603060405020304" pitchFamily="18" charset="0"/>
              </a:rPr>
              <a:t>Software Project Management</a:t>
            </a:r>
          </a:p>
        </p:txBody>
      </p:sp>
    </p:spTree>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altLang="en-US" sz="2800" dirty="0"/>
              <a:t>Project Schedule Management</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93369385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30EBD-AB2C-4C90-AA4E-0131EB891418}"/>
              </a:ext>
            </a:extLst>
          </p:cNvPr>
          <p:cNvSpPr>
            <a:spLocks noGrp="1"/>
          </p:cNvSpPr>
          <p:nvPr>
            <p:ph type="title"/>
          </p:nvPr>
        </p:nvSpPr>
        <p:spPr/>
        <p:txBody>
          <a:bodyPr/>
          <a:lstStyle/>
          <a:p>
            <a:r>
              <a:rPr lang="en-MY" dirty="0"/>
              <a:t>Project Schedule Management</a:t>
            </a:r>
          </a:p>
        </p:txBody>
      </p:sp>
      <p:sp>
        <p:nvSpPr>
          <p:cNvPr id="3" name="Content Placeholder 2">
            <a:extLst>
              <a:ext uri="{FF2B5EF4-FFF2-40B4-BE49-F238E27FC236}">
                <a16:creationId xmlns:a16="http://schemas.microsoft.com/office/drawing/2014/main" id="{995C0CC6-EE5B-40E3-94AF-A3C982A7D687}"/>
              </a:ext>
            </a:extLst>
          </p:cNvPr>
          <p:cNvSpPr>
            <a:spLocks noGrp="1"/>
          </p:cNvSpPr>
          <p:nvPr>
            <p:ph idx="1"/>
          </p:nvPr>
        </p:nvSpPr>
        <p:spPr/>
        <p:txBody>
          <a:bodyPr/>
          <a:lstStyle/>
          <a:p>
            <a:r>
              <a:rPr lang="en-US" dirty="0"/>
              <a:t>Involves the processes required to ensure timely completion of a project</a:t>
            </a:r>
            <a:endParaRPr lang="en-MY" dirty="0"/>
          </a:p>
        </p:txBody>
      </p:sp>
    </p:spTree>
    <p:extLst>
      <p:ext uri="{BB962C8B-B14F-4D97-AF65-F5344CB8AC3E}">
        <p14:creationId xmlns:p14="http://schemas.microsoft.com/office/powerpoint/2010/main" val="844455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altLang="en-US" sz="2800" dirty="0"/>
              <a:t>Project Schedule Management-Processes </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420146378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D16CB-C31A-4EF8-9DC1-6A3FDA89A678}"/>
              </a:ext>
            </a:extLst>
          </p:cNvPr>
          <p:cNvSpPr>
            <a:spLocks noGrp="1"/>
          </p:cNvSpPr>
          <p:nvPr>
            <p:ph type="title"/>
          </p:nvPr>
        </p:nvSpPr>
        <p:spPr/>
        <p:txBody>
          <a:bodyPr>
            <a:normAutofit fontScale="90000"/>
          </a:bodyPr>
          <a:lstStyle/>
          <a:p>
            <a:r>
              <a:rPr lang="en-MY" dirty="0"/>
              <a:t>Project Schedule Management-Processes </a:t>
            </a:r>
          </a:p>
        </p:txBody>
      </p:sp>
      <p:graphicFrame>
        <p:nvGraphicFramePr>
          <p:cNvPr id="4" name="Content Placeholder 3">
            <a:extLst>
              <a:ext uri="{FF2B5EF4-FFF2-40B4-BE49-F238E27FC236}">
                <a16:creationId xmlns:a16="http://schemas.microsoft.com/office/drawing/2014/main" id="{DE1425F2-5B7C-44B6-AA03-B409708C37BE}"/>
              </a:ext>
            </a:extLst>
          </p:cNvPr>
          <p:cNvGraphicFramePr>
            <a:graphicFrameLocks noGrp="1"/>
          </p:cNvGraphicFramePr>
          <p:nvPr>
            <p:ph idx="1"/>
            <p:extLst>
              <p:ext uri="{D42A27DB-BD31-4B8C-83A1-F6EECF244321}">
                <p14:modId xmlns:p14="http://schemas.microsoft.com/office/powerpoint/2010/main" val="1381390868"/>
              </p:ext>
            </p:extLst>
          </p:nvPr>
        </p:nvGraphicFramePr>
        <p:xfrm>
          <a:off x="1435100" y="1447800"/>
          <a:ext cx="749935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80510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E5D3-D56E-4B09-8598-4C8B7BC4616D}"/>
              </a:ext>
            </a:extLst>
          </p:cNvPr>
          <p:cNvSpPr>
            <a:spLocks noGrp="1"/>
          </p:cNvSpPr>
          <p:nvPr>
            <p:ph type="title"/>
          </p:nvPr>
        </p:nvSpPr>
        <p:spPr/>
        <p:txBody>
          <a:bodyPr>
            <a:normAutofit fontScale="90000"/>
          </a:bodyPr>
          <a:lstStyle/>
          <a:p>
            <a:r>
              <a:rPr lang="en-US" dirty="0"/>
              <a:t>Six main processes are involved in project schedule management</a:t>
            </a:r>
            <a:endParaRPr lang="en-MY" dirty="0"/>
          </a:p>
        </p:txBody>
      </p:sp>
      <p:sp>
        <p:nvSpPr>
          <p:cNvPr id="3" name="Content Placeholder 2">
            <a:extLst>
              <a:ext uri="{FF2B5EF4-FFF2-40B4-BE49-F238E27FC236}">
                <a16:creationId xmlns:a16="http://schemas.microsoft.com/office/drawing/2014/main" id="{D53948BE-C3AE-462F-91BA-58767DE2D5AC}"/>
              </a:ext>
            </a:extLst>
          </p:cNvPr>
          <p:cNvSpPr>
            <a:spLocks noGrp="1"/>
          </p:cNvSpPr>
          <p:nvPr>
            <p:ph idx="1"/>
          </p:nvPr>
        </p:nvSpPr>
        <p:spPr/>
        <p:txBody>
          <a:bodyPr/>
          <a:lstStyle/>
          <a:p>
            <a:pPr algn="just"/>
            <a:r>
              <a:rPr lang="en-US" sz="3600" dirty="0"/>
              <a:t>Planning schedule management </a:t>
            </a:r>
          </a:p>
          <a:p>
            <a:pPr lvl="1" algn="just"/>
            <a:r>
              <a:rPr lang="en-US" sz="3200" dirty="0"/>
              <a:t>involves determining the policies, procedures, and documentation that will be used for planning, executing, and controlling the project schedule</a:t>
            </a:r>
            <a:endParaRPr lang="en-MY" sz="3200" dirty="0"/>
          </a:p>
        </p:txBody>
      </p:sp>
    </p:spTree>
    <p:extLst>
      <p:ext uri="{BB962C8B-B14F-4D97-AF65-F5344CB8AC3E}">
        <p14:creationId xmlns:p14="http://schemas.microsoft.com/office/powerpoint/2010/main" val="491760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E5D3-D56E-4B09-8598-4C8B7BC4616D}"/>
              </a:ext>
            </a:extLst>
          </p:cNvPr>
          <p:cNvSpPr>
            <a:spLocks noGrp="1"/>
          </p:cNvSpPr>
          <p:nvPr>
            <p:ph type="title"/>
          </p:nvPr>
        </p:nvSpPr>
        <p:spPr/>
        <p:txBody>
          <a:bodyPr>
            <a:normAutofit fontScale="90000"/>
          </a:bodyPr>
          <a:lstStyle/>
          <a:p>
            <a:r>
              <a:rPr lang="en-US" dirty="0"/>
              <a:t>Six main processes are involved in project schedule management</a:t>
            </a:r>
            <a:endParaRPr lang="en-MY" dirty="0"/>
          </a:p>
        </p:txBody>
      </p:sp>
      <p:sp>
        <p:nvSpPr>
          <p:cNvPr id="3" name="Content Placeholder 2">
            <a:extLst>
              <a:ext uri="{FF2B5EF4-FFF2-40B4-BE49-F238E27FC236}">
                <a16:creationId xmlns:a16="http://schemas.microsoft.com/office/drawing/2014/main" id="{D53948BE-C3AE-462F-91BA-58767DE2D5AC}"/>
              </a:ext>
            </a:extLst>
          </p:cNvPr>
          <p:cNvSpPr>
            <a:spLocks noGrp="1"/>
          </p:cNvSpPr>
          <p:nvPr>
            <p:ph idx="1"/>
          </p:nvPr>
        </p:nvSpPr>
        <p:spPr/>
        <p:txBody>
          <a:bodyPr/>
          <a:lstStyle/>
          <a:p>
            <a:pPr algn="just"/>
            <a:r>
              <a:rPr lang="en-US" dirty="0"/>
              <a:t>Defining activities </a:t>
            </a:r>
          </a:p>
          <a:p>
            <a:pPr lvl="1" algn="just"/>
            <a:r>
              <a:rPr lang="en-US" sz="3200" dirty="0"/>
              <a:t>involves identifying the specific activities that the project team members and stakeholders must perform to produce the project</a:t>
            </a:r>
            <a:endParaRPr lang="en-MY" sz="3200" dirty="0"/>
          </a:p>
        </p:txBody>
      </p:sp>
    </p:spTree>
    <p:extLst>
      <p:ext uri="{BB962C8B-B14F-4D97-AF65-F5344CB8AC3E}">
        <p14:creationId xmlns:p14="http://schemas.microsoft.com/office/powerpoint/2010/main" val="2651325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E5D3-D56E-4B09-8598-4C8B7BC4616D}"/>
              </a:ext>
            </a:extLst>
          </p:cNvPr>
          <p:cNvSpPr>
            <a:spLocks noGrp="1"/>
          </p:cNvSpPr>
          <p:nvPr>
            <p:ph type="title"/>
          </p:nvPr>
        </p:nvSpPr>
        <p:spPr/>
        <p:txBody>
          <a:bodyPr>
            <a:normAutofit fontScale="90000"/>
          </a:bodyPr>
          <a:lstStyle/>
          <a:p>
            <a:r>
              <a:rPr lang="en-US" dirty="0"/>
              <a:t>Six main processes are involved in project schedule management</a:t>
            </a:r>
            <a:endParaRPr lang="en-MY" dirty="0"/>
          </a:p>
        </p:txBody>
      </p:sp>
      <p:sp>
        <p:nvSpPr>
          <p:cNvPr id="3" name="Content Placeholder 2">
            <a:extLst>
              <a:ext uri="{FF2B5EF4-FFF2-40B4-BE49-F238E27FC236}">
                <a16:creationId xmlns:a16="http://schemas.microsoft.com/office/drawing/2014/main" id="{D53948BE-C3AE-462F-91BA-58767DE2D5AC}"/>
              </a:ext>
            </a:extLst>
          </p:cNvPr>
          <p:cNvSpPr>
            <a:spLocks noGrp="1"/>
          </p:cNvSpPr>
          <p:nvPr>
            <p:ph idx="1"/>
          </p:nvPr>
        </p:nvSpPr>
        <p:spPr/>
        <p:txBody>
          <a:bodyPr/>
          <a:lstStyle/>
          <a:p>
            <a:pPr algn="just"/>
            <a:r>
              <a:rPr lang="en-US" dirty="0"/>
              <a:t>Defining activities </a:t>
            </a:r>
          </a:p>
          <a:p>
            <a:pPr lvl="1" algn="just"/>
            <a:r>
              <a:rPr lang="en-US" sz="2400" dirty="0"/>
              <a:t> </a:t>
            </a:r>
            <a:r>
              <a:rPr lang="en-US" sz="3200" dirty="0"/>
              <a:t>An activity or task is an element of work normally found on the work breakdown structure (WBS) that has expected duration, cost, and resource requirements</a:t>
            </a:r>
            <a:endParaRPr lang="en-MY" sz="3200" dirty="0"/>
          </a:p>
        </p:txBody>
      </p:sp>
    </p:spTree>
    <p:extLst>
      <p:ext uri="{BB962C8B-B14F-4D97-AF65-F5344CB8AC3E}">
        <p14:creationId xmlns:p14="http://schemas.microsoft.com/office/powerpoint/2010/main" val="3437238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E5D3-D56E-4B09-8598-4C8B7BC4616D}"/>
              </a:ext>
            </a:extLst>
          </p:cNvPr>
          <p:cNvSpPr>
            <a:spLocks noGrp="1"/>
          </p:cNvSpPr>
          <p:nvPr>
            <p:ph type="title"/>
          </p:nvPr>
        </p:nvSpPr>
        <p:spPr/>
        <p:txBody>
          <a:bodyPr>
            <a:normAutofit fontScale="90000"/>
          </a:bodyPr>
          <a:lstStyle/>
          <a:p>
            <a:r>
              <a:rPr lang="en-US" dirty="0"/>
              <a:t>Six main processes are involved in project schedule management</a:t>
            </a:r>
            <a:endParaRPr lang="en-MY" dirty="0"/>
          </a:p>
        </p:txBody>
      </p:sp>
      <p:sp>
        <p:nvSpPr>
          <p:cNvPr id="3" name="Content Placeholder 2">
            <a:extLst>
              <a:ext uri="{FF2B5EF4-FFF2-40B4-BE49-F238E27FC236}">
                <a16:creationId xmlns:a16="http://schemas.microsoft.com/office/drawing/2014/main" id="{D53948BE-C3AE-462F-91BA-58767DE2D5AC}"/>
              </a:ext>
            </a:extLst>
          </p:cNvPr>
          <p:cNvSpPr>
            <a:spLocks noGrp="1"/>
          </p:cNvSpPr>
          <p:nvPr>
            <p:ph idx="1"/>
          </p:nvPr>
        </p:nvSpPr>
        <p:spPr/>
        <p:txBody>
          <a:bodyPr/>
          <a:lstStyle/>
          <a:p>
            <a:pPr algn="just"/>
            <a:r>
              <a:rPr lang="en-US" dirty="0"/>
              <a:t>Sequencing activities </a:t>
            </a:r>
          </a:p>
          <a:p>
            <a:pPr lvl="1" algn="just"/>
            <a:r>
              <a:rPr lang="en-US" dirty="0"/>
              <a:t>involves identifying and documenting the relationships between project activities. </a:t>
            </a:r>
            <a:endParaRPr lang="en-MY" dirty="0"/>
          </a:p>
        </p:txBody>
      </p:sp>
    </p:spTree>
    <p:extLst>
      <p:ext uri="{BB962C8B-B14F-4D97-AF65-F5344CB8AC3E}">
        <p14:creationId xmlns:p14="http://schemas.microsoft.com/office/powerpoint/2010/main" val="2185663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E5D3-D56E-4B09-8598-4C8B7BC4616D}"/>
              </a:ext>
            </a:extLst>
          </p:cNvPr>
          <p:cNvSpPr>
            <a:spLocks noGrp="1"/>
          </p:cNvSpPr>
          <p:nvPr>
            <p:ph type="title"/>
          </p:nvPr>
        </p:nvSpPr>
        <p:spPr/>
        <p:txBody>
          <a:bodyPr>
            <a:normAutofit fontScale="90000"/>
          </a:bodyPr>
          <a:lstStyle/>
          <a:p>
            <a:r>
              <a:rPr lang="en-US" dirty="0"/>
              <a:t>Six main processes are involved in project schedule management</a:t>
            </a:r>
            <a:endParaRPr lang="en-MY" dirty="0"/>
          </a:p>
        </p:txBody>
      </p:sp>
      <p:sp>
        <p:nvSpPr>
          <p:cNvPr id="3" name="Content Placeholder 2">
            <a:extLst>
              <a:ext uri="{FF2B5EF4-FFF2-40B4-BE49-F238E27FC236}">
                <a16:creationId xmlns:a16="http://schemas.microsoft.com/office/drawing/2014/main" id="{D53948BE-C3AE-462F-91BA-58767DE2D5AC}"/>
              </a:ext>
            </a:extLst>
          </p:cNvPr>
          <p:cNvSpPr>
            <a:spLocks noGrp="1"/>
          </p:cNvSpPr>
          <p:nvPr>
            <p:ph idx="1"/>
          </p:nvPr>
        </p:nvSpPr>
        <p:spPr/>
        <p:txBody>
          <a:bodyPr/>
          <a:lstStyle/>
          <a:p>
            <a:pPr algn="just"/>
            <a:r>
              <a:rPr lang="en-US" dirty="0"/>
              <a:t>Estimating activity durations involves </a:t>
            </a:r>
          </a:p>
          <a:p>
            <a:pPr lvl="1" algn="just"/>
            <a:r>
              <a:rPr lang="en-US" dirty="0"/>
              <a:t>estimating the time needed to complete individual activities</a:t>
            </a:r>
            <a:endParaRPr lang="en-MY" dirty="0"/>
          </a:p>
        </p:txBody>
      </p:sp>
    </p:spTree>
    <p:extLst>
      <p:ext uri="{BB962C8B-B14F-4D97-AF65-F5344CB8AC3E}">
        <p14:creationId xmlns:p14="http://schemas.microsoft.com/office/powerpoint/2010/main" val="2419689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E5D3-D56E-4B09-8598-4C8B7BC4616D}"/>
              </a:ext>
            </a:extLst>
          </p:cNvPr>
          <p:cNvSpPr>
            <a:spLocks noGrp="1"/>
          </p:cNvSpPr>
          <p:nvPr>
            <p:ph type="title"/>
          </p:nvPr>
        </p:nvSpPr>
        <p:spPr/>
        <p:txBody>
          <a:bodyPr>
            <a:normAutofit fontScale="90000"/>
          </a:bodyPr>
          <a:lstStyle/>
          <a:p>
            <a:r>
              <a:rPr lang="en-US" dirty="0"/>
              <a:t>Six main processes are involved in project schedule management</a:t>
            </a:r>
            <a:endParaRPr lang="en-MY" dirty="0"/>
          </a:p>
        </p:txBody>
      </p:sp>
      <p:sp>
        <p:nvSpPr>
          <p:cNvPr id="3" name="Content Placeholder 2">
            <a:extLst>
              <a:ext uri="{FF2B5EF4-FFF2-40B4-BE49-F238E27FC236}">
                <a16:creationId xmlns:a16="http://schemas.microsoft.com/office/drawing/2014/main" id="{D53948BE-C3AE-462F-91BA-58767DE2D5AC}"/>
              </a:ext>
            </a:extLst>
          </p:cNvPr>
          <p:cNvSpPr>
            <a:spLocks noGrp="1"/>
          </p:cNvSpPr>
          <p:nvPr>
            <p:ph idx="1"/>
          </p:nvPr>
        </p:nvSpPr>
        <p:spPr/>
        <p:txBody>
          <a:bodyPr/>
          <a:lstStyle/>
          <a:p>
            <a:pPr algn="just"/>
            <a:r>
              <a:rPr lang="en-US" dirty="0"/>
              <a:t>Developing the schedule involves </a:t>
            </a:r>
          </a:p>
          <a:p>
            <a:pPr lvl="1" algn="just"/>
            <a:r>
              <a:rPr lang="en-US" dirty="0"/>
              <a:t>analyzing activity sequences, resource requirements, and activity duration estimates to create the project schedule.</a:t>
            </a:r>
          </a:p>
          <a:p>
            <a:pPr lvl="1" algn="just"/>
            <a:r>
              <a:rPr lang="en-US" dirty="0"/>
              <a:t>GANTT Chart</a:t>
            </a:r>
            <a:endParaRPr lang="en-MY" dirty="0"/>
          </a:p>
        </p:txBody>
      </p:sp>
    </p:spTree>
    <p:extLst>
      <p:ext uri="{BB962C8B-B14F-4D97-AF65-F5344CB8AC3E}">
        <p14:creationId xmlns:p14="http://schemas.microsoft.com/office/powerpoint/2010/main" val="3098459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E5D3-D56E-4B09-8598-4C8B7BC4616D}"/>
              </a:ext>
            </a:extLst>
          </p:cNvPr>
          <p:cNvSpPr>
            <a:spLocks noGrp="1"/>
          </p:cNvSpPr>
          <p:nvPr>
            <p:ph type="title"/>
          </p:nvPr>
        </p:nvSpPr>
        <p:spPr/>
        <p:txBody>
          <a:bodyPr>
            <a:normAutofit fontScale="90000"/>
          </a:bodyPr>
          <a:lstStyle/>
          <a:p>
            <a:r>
              <a:rPr lang="en-US" dirty="0"/>
              <a:t>Six main processes are involved in project schedule management</a:t>
            </a:r>
            <a:endParaRPr lang="en-MY" dirty="0"/>
          </a:p>
        </p:txBody>
      </p:sp>
      <p:sp>
        <p:nvSpPr>
          <p:cNvPr id="3" name="Content Placeholder 2">
            <a:extLst>
              <a:ext uri="{FF2B5EF4-FFF2-40B4-BE49-F238E27FC236}">
                <a16:creationId xmlns:a16="http://schemas.microsoft.com/office/drawing/2014/main" id="{D53948BE-C3AE-462F-91BA-58767DE2D5AC}"/>
              </a:ext>
            </a:extLst>
          </p:cNvPr>
          <p:cNvSpPr>
            <a:spLocks noGrp="1"/>
          </p:cNvSpPr>
          <p:nvPr>
            <p:ph idx="1"/>
          </p:nvPr>
        </p:nvSpPr>
        <p:spPr/>
        <p:txBody>
          <a:bodyPr/>
          <a:lstStyle/>
          <a:p>
            <a:pPr algn="just"/>
            <a:r>
              <a:rPr lang="en-US" dirty="0"/>
              <a:t>Controlling the schedule involves </a:t>
            </a:r>
          </a:p>
          <a:p>
            <a:pPr lvl="1" algn="just"/>
            <a:r>
              <a:rPr lang="en-US" dirty="0"/>
              <a:t>controlling and managing changes to the project schedule</a:t>
            </a:r>
            <a:endParaRPr lang="en-MY" dirty="0"/>
          </a:p>
        </p:txBody>
      </p:sp>
    </p:spTree>
    <p:extLst>
      <p:ext uri="{BB962C8B-B14F-4D97-AF65-F5344CB8AC3E}">
        <p14:creationId xmlns:p14="http://schemas.microsoft.com/office/powerpoint/2010/main" val="24469200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2DED0-6127-43E3-9AA6-A1ACC27A5854}"/>
              </a:ext>
            </a:extLst>
          </p:cNvPr>
          <p:cNvSpPr>
            <a:spLocks noGrp="1"/>
          </p:cNvSpPr>
          <p:nvPr>
            <p:ph type="title"/>
          </p:nvPr>
        </p:nvSpPr>
        <p:spPr/>
        <p:txBody>
          <a:bodyPr>
            <a:normAutofit/>
          </a:bodyPr>
          <a:lstStyle/>
          <a:p>
            <a:r>
              <a:rPr lang="en-MY" dirty="0"/>
              <a:t>Planning Schedule Management</a:t>
            </a:r>
          </a:p>
        </p:txBody>
      </p:sp>
      <p:sp>
        <p:nvSpPr>
          <p:cNvPr id="3" name="Content Placeholder 2">
            <a:extLst>
              <a:ext uri="{FF2B5EF4-FFF2-40B4-BE49-F238E27FC236}">
                <a16:creationId xmlns:a16="http://schemas.microsoft.com/office/drawing/2014/main" id="{3FA2F0CD-48A7-4A20-BED9-9821484BCFA3}"/>
              </a:ext>
            </a:extLst>
          </p:cNvPr>
          <p:cNvSpPr>
            <a:spLocks noGrp="1"/>
          </p:cNvSpPr>
          <p:nvPr>
            <p:ph idx="1"/>
          </p:nvPr>
        </p:nvSpPr>
        <p:spPr/>
        <p:txBody>
          <a:bodyPr/>
          <a:lstStyle/>
          <a:p>
            <a:pPr algn="just"/>
            <a:r>
              <a:rPr lang="en-US" dirty="0"/>
              <a:t>The first step in project schedule management is planning how the schedule will be managed throughout the life of the project. </a:t>
            </a:r>
          </a:p>
          <a:p>
            <a:pPr algn="just"/>
            <a:r>
              <a:rPr lang="en-US" dirty="0"/>
              <a:t>Project schedules grow out of the basic documents that initiate a project. </a:t>
            </a:r>
          </a:p>
          <a:p>
            <a:pPr algn="just"/>
            <a:r>
              <a:rPr lang="en-US" dirty="0"/>
              <a:t>The </a:t>
            </a:r>
            <a:r>
              <a:rPr lang="en-US" dirty="0">
                <a:solidFill>
                  <a:srgbClr val="FF0000"/>
                </a:solidFill>
              </a:rPr>
              <a:t>project charter</a:t>
            </a:r>
            <a:r>
              <a:rPr lang="en-US" dirty="0"/>
              <a:t> often mentions planned project start and end dates, which </a:t>
            </a:r>
            <a:r>
              <a:rPr lang="en-US" dirty="0">
                <a:solidFill>
                  <a:srgbClr val="FF0000"/>
                </a:solidFill>
              </a:rPr>
              <a:t>serve as the starting points</a:t>
            </a:r>
            <a:r>
              <a:rPr lang="en-US" dirty="0"/>
              <a:t> for a more detailed schedule</a:t>
            </a:r>
            <a:endParaRPr lang="en-MY" dirty="0"/>
          </a:p>
        </p:txBody>
      </p:sp>
    </p:spTree>
    <p:extLst>
      <p:ext uri="{BB962C8B-B14F-4D97-AF65-F5344CB8AC3E}">
        <p14:creationId xmlns:p14="http://schemas.microsoft.com/office/powerpoint/2010/main" val="68891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2DED0-6127-43E3-9AA6-A1ACC27A5854}"/>
              </a:ext>
            </a:extLst>
          </p:cNvPr>
          <p:cNvSpPr>
            <a:spLocks noGrp="1"/>
          </p:cNvSpPr>
          <p:nvPr>
            <p:ph type="title"/>
          </p:nvPr>
        </p:nvSpPr>
        <p:spPr/>
        <p:txBody>
          <a:bodyPr>
            <a:normAutofit/>
          </a:bodyPr>
          <a:lstStyle/>
          <a:p>
            <a:r>
              <a:rPr lang="en-MY" dirty="0"/>
              <a:t>Planning Schedule Management</a:t>
            </a:r>
          </a:p>
        </p:txBody>
      </p:sp>
      <p:sp>
        <p:nvSpPr>
          <p:cNvPr id="3" name="Content Placeholder 2">
            <a:extLst>
              <a:ext uri="{FF2B5EF4-FFF2-40B4-BE49-F238E27FC236}">
                <a16:creationId xmlns:a16="http://schemas.microsoft.com/office/drawing/2014/main" id="{3FA2F0CD-48A7-4A20-BED9-9821484BCFA3}"/>
              </a:ext>
            </a:extLst>
          </p:cNvPr>
          <p:cNvSpPr>
            <a:spLocks noGrp="1"/>
          </p:cNvSpPr>
          <p:nvPr>
            <p:ph idx="1"/>
          </p:nvPr>
        </p:nvSpPr>
        <p:spPr/>
        <p:txBody>
          <a:bodyPr/>
          <a:lstStyle/>
          <a:p>
            <a:pPr algn="just"/>
            <a:r>
              <a:rPr lang="en-US" dirty="0"/>
              <a:t>In general, a schedule management plan includes the following information</a:t>
            </a:r>
          </a:p>
          <a:p>
            <a:pPr lvl="1" algn="just"/>
            <a:r>
              <a:rPr lang="en-US" sz="2400" dirty="0"/>
              <a:t>Project schedule model development: </a:t>
            </a:r>
          </a:p>
          <a:p>
            <a:pPr lvl="2" algn="just"/>
            <a:r>
              <a:rPr lang="en-US" dirty="0"/>
              <a:t>Many projects include a schedule model, which contains project activities with estimated durations, </a:t>
            </a:r>
            <a:r>
              <a:rPr lang="en-US" dirty="0">
                <a:solidFill>
                  <a:srgbClr val="FF0000"/>
                </a:solidFill>
              </a:rPr>
              <a:t>dependencies, </a:t>
            </a:r>
            <a:r>
              <a:rPr lang="en-US" dirty="0"/>
              <a:t>and other planning information that can be used to produce a project schedule.</a:t>
            </a:r>
          </a:p>
          <a:p>
            <a:pPr lvl="1" algn="just"/>
            <a:r>
              <a:rPr lang="en-US" sz="2400" dirty="0"/>
              <a:t>Level of accuracy and units of measure: </a:t>
            </a:r>
          </a:p>
          <a:p>
            <a:pPr lvl="2" algn="just"/>
            <a:r>
              <a:rPr lang="en-US" dirty="0"/>
              <a:t>how accurate schedule estimates should be and determines </a:t>
            </a:r>
            <a:r>
              <a:rPr lang="en-US" dirty="0">
                <a:solidFill>
                  <a:srgbClr val="FF0000"/>
                </a:solidFill>
              </a:rPr>
              <a:t>whether time is measured in hours, days, or another unit.</a:t>
            </a:r>
          </a:p>
        </p:txBody>
      </p:sp>
    </p:spTree>
    <p:extLst>
      <p:ext uri="{BB962C8B-B14F-4D97-AF65-F5344CB8AC3E}">
        <p14:creationId xmlns:p14="http://schemas.microsoft.com/office/powerpoint/2010/main" val="2334148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2DED0-6127-43E3-9AA6-A1ACC27A5854}"/>
              </a:ext>
            </a:extLst>
          </p:cNvPr>
          <p:cNvSpPr>
            <a:spLocks noGrp="1"/>
          </p:cNvSpPr>
          <p:nvPr>
            <p:ph type="title"/>
          </p:nvPr>
        </p:nvSpPr>
        <p:spPr/>
        <p:txBody>
          <a:bodyPr>
            <a:normAutofit/>
          </a:bodyPr>
          <a:lstStyle/>
          <a:p>
            <a:r>
              <a:rPr lang="en-MY" dirty="0"/>
              <a:t>Planning Schedule Management</a:t>
            </a:r>
          </a:p>
        </p:txBody>
      </p:sp>
      <p:sp>
        <p:nvSpPr>
          <p:cNvPr id="3" name="Content Placeholder 2">
            <a:extLst>
              <a:ext uri="{FF2B5EF4-FFF2-40B4-BE49-F238E27FC236}">
                <a16:creationId xmlns:a16="http://schemas.microsoft.com/office/drawing/2014/main" id="{3FA2F0CD-48A7-4A20-BED9-9821484BCFA3}"/>
              </a:ext>
            </a:extLst>
          </p:cNvPr>
          <p:cNvSpPr>
            <a:spLocks noGrp="1"/>
          </p:cNvSpPr>
          <p:nvPr>
            <p:ph idx="1"/>
          </p:nvPr>
        </p:nvSpPr>
        <p:spPr/>
        <p:txBody>
          <a:bodyPr/>
          <a:lstStyle/>
          <a:p>
            <a:pPr algn="just"/>
            <a:endParaRPr lang="en-US" dirty="0"/>
          </a:p>
          <a:p>
            <a:pPr lvl="1" algn="just"/>
            <a:r>
              <a:rPr lang="en-US" sz="2400" dirty="0"/>
              <a:t>Control thresholds: </a:t>
            </a:r>
          </a:p>
          <a:p>
            <a:pPr lvl="2" algn="just"/>
            <a:r>
              <a:rPr lang="en-US" dirty="0"/>
              <a:t>Thresholds, such as 10 percent, are established for monitoring schedule performance. </a:t>
            </a:r>
          </a:p>
          <a:p>
            <a:pPr lvl="1" algn="just"/>
            <a:r>
              <a:rPr lang="en-US" sz="2400" dirty="0"/>
              <a:t>Rules of performance measurement: </a:t>
            </a:r>
          </a:p>
          <a:p>
            <a:pPr lvl="2" algn="just"/>
            <a:r>
              <a:rPr lang="en-US" dirty="0"/>
              <a:t>For example, if team members are expected to track the percentage of work completed, this section specifies how to determine the percentages. </a:t>
            </a:r>
          </a:p>
        </p:txBody>
      </p:sp>
    </p:spTree>
    <p:extLst>
      <p:ext uri="{BB962C8B-B14F-4D97-AF65-F5344CB8AC3E}">
        <p14:creationId xmlns:p14="http://schemas.microsoft.com/office/powerpoint/2010/main" val="2006669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2DED0-6127-43E3-9AA6-A1ACC27A5854}"/>
              </a:ext>
            </a:extLst>
          </p:cNvPr>
          <p:cNvSpPr>
            <a:spLocks noGrp="1"/>
          </p:cNvSpPr>
          <p:nvPr>
            <p:ph type="title"/>
          </p:nvPr>
        </p:nvSpPr>
        <p:spPr/>
        <p:txBody>
          <a:bodyPr>
            <a:normAutofit/>
          </a:bodyPr>
          <a:lstStyle/>
          <a:p>
            <a:r>
              <a:rPr lang="en-MY" dirty="0"/>
              <a:t>Planning Schedule Management</a:t>
            </a:r>
          </a:p>
        </p:txBody>
      </p:sp>
      <p:sp>
        <p:nvSpPr>
          <p:cNvPr id="3" name="Content Placeholder 2">
            <a:extLst>
              <a:ext uri="{FF2B5EF4-FFF2-40B4-BE49-F238E27FC236}">
                <a16:creationId xmlns:a16="http://schemas.microsoft.com/office/drawing/2014/main" id="{3FA2F0CD-48A7-4A20-BED9-9821484BCFA3}"/>
              </a:ext>
            </a:extLst>
          </p:cNvPr>
          <p:cNvSpPr>
            <a:spLocks noGrp="1"/>
          </p:cNvSpPr>
          <p:nvPr>
            <p:ph idx="1"/>
          </p:nvPr>
        </p:nvSpPr>
        <p:spPr/>
        <p:txBody>
          <a:bodyPr/>
          <a:lstStyle/>
          <a:p>
            <a:pPr algn="just"/>
            <a:endParaRPr lang="en-US" dirty="0"/>
          </a:p>
          <a:p>
            <a:pPr lvl="1" algn="just"/>
            <a:r>
              <a:rPr lang="en-US" sz="2400" dirty="0"/>
              <a:t>Reporting formats: </a:t>
            </a:r>
          </a:p>
          <a:p>
            <a:pPr lvl="2" algn="just"/>
            <a:r>
              <a:rPr lang="en-US" dirty="0"/>
              <a:t>This section describes the format and frequency of schedule reports required for the project. </a:t>
            </a:r>
          </a:p>
          <a:p>
            <a:pPr lvl="1" algn="just"/>
            <a:r>
              <a:rPr lang="en-US" sz="2400" dirty="0"/>
              <a:t>Process descriptions: </a:t>
            </a:r>
          </a:p>
          <a:p>
            <a:pPr lvl="2" algn="just"/>
            <a:r>
              <a:rPr lang="en-US" dirty="0"/>
              <a:t>The schedule management plan also describes how all of the schedule management processes will be performed</a:t>
            </a:r>
          </a:p>
        </p:txBody>
      </p:sp>
    </p:spTree>
    <p:extLst>
      <p:ext uri="{BB962C8B-B14F-4D97-AF65-F5344CB8AC3E}">
        <p14:creationId xmlns:p14="http://schemas.microsoft.com/office/powerpoint/2010/main" val="3583357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2DED0-6127-43E3-9AA6-A1ACC27A5854}"/>
              </a:ext>
            </a:extLst>
          </p:cNvPr>
          <p:cNvSpPr>
            <a:spLocks noGrp="1"/>
          </p:cNvSpPr>
          <p:nvPr>
            <p:ph type="title"/>
          </p:nvPr>
        </p:nvSpPr>
        <p:spPr/>
        <p:txBody>
          <a:bodyPr>
            <a:normAutofit/>
          </a:bodyPr>
          <a:lstStyle/>
          <a:p>
            <a:r>
              <a:rPr lang="en-MY" dirty="0"/>
              <a:t>Defining Activities</a:t>
            </a:r>
          </a:p>
        </p:txBody>
      </p:sp>
      <p:sp>
        <p:nvSpPr>
          <p:cNvPr id="3" name="Content Placeholder 2">
            <a:extLst>
              <a:ext uri="{FF2B5EF4-FFF2-40B4-BE49-F238E27FC236}">
                <a16:creationId xmlns:a16="http://schemas.microsoft.com/office/drawing/2014/main" id="{3FA2F0CD-48A7-4A20-BED9-9821484BCFA3}"/>
              </a:ext>
            </a:extLst>
          </p:cNvPr>
          <p:cNvSpPr>
            <a:spLocks noGrp="1"/>
          </p:cNvSpPr>
          <p:nvPr>
            <p:ph idx="1"/>
          </p:nvPr>
        </p:nvSpPr>
        <p:spPr/>
        <p:txBody>
          <a:bodyPr/>
          <a:lstStyle/>
          <a:p>
            <a:pPr algn="just"/>
            <a:r>
              <a:rPr lang="en-US" dirty="0"/>
              <a:t>to describe activities in more detail as part of schedule management.</a:t>
            </a:r>
            <a:endParaRPr lang="en-MY" dirty="0"/>
          </a:p>
        </p:txBody>
      </p:sp>
    </p:spTree>
    <p:extLst>
      <p:ext uri="{BB962C8B-B14F-4D97-AF65-F5344CB8AC3E}">
        <p14:creationId xmlns:p14="http://schemas.microsoft.com/office/powerpoint/2010/main" val="1302991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2DED0-6127-43E3-9AA6-A1ACC27A5854}"/>
              </a:ext>
            </a:extLst>
          </p:cNvPr>
          <p:cNvSpPr>
            <a:spLocks noGrp="1"/>
          </p:cNvSpPr>
          <p:nvPr>
            <p:ph type="title"/>
          </p:nvPr>
        </p:nvSpPr>
        <p:spPr/>
        <p:txBody>
          <a:bodyPr>
            <a:normAutofit/>
          </a:bodyPr>
          <a:lstStyle/>
          <a:p>
            <a:r>
              <a:rPr lang="en-MY" dirty="0"/>
              <a:t>Defining Activities</a:t>
            </a:r>
          </a:p>
        </p:txBody>
      </p:sp>
      <p:sp>
        <p:nvSpPr>
          <p:cNvPr id="3" name="Content Placeholder 2">
            <a:extLst>
              <a:ext uri="{FF2B5EF4-FFF2-40B4-BE49-F238E27FC236}">
                <a16:creationId xmlns:a16="http://schemas.microsoft.com/office/drawing/2014/main" id="{3FA2F0CD-48A7-4A20-BED9-9821484BCFA3}"/>
              </a:ext>
            </a:extLst>
          </p:cNvPr>
          <p:cNvSpPr>
            <a:spLocks noGrp="1"/>
          </p:cNvSpPr>
          <p:nvPr>
            <p:ph idx="1"/>
          </p:nvPr>
        </p:nvSpPr>
        <p:spPr/>
        <p:txBody>
          <a:bodyPr/>
          <a:lstStyle/>
          <a:p>
            <a:pPr algn="just"/>
            <a:r>
              <a:rPr lang="en-US" sz="2800" dirty="0"/>
              <a:t>The </a:t>
            </a:r>
            <a:r>
              <a:rPr lang="en-US" sz="2800" dirty="0">
                <a:solidFill>
                  <a:srgbClr val="FF0000"/>
                </a:solidFill>
              </a:rPr>
              <a:t>activity list is a tabulation</a:t>
            </a:r>
            <a:r>
              <a:rPr lang="en-US" sz="2800" dirty="0"/>
              <a:t> of activities to be included on a project schedule. </a:t>
            </a:r>
          </a:p>
          <a:p>
            <a:pPr algn="just"/>
            <a:r>
              <a:rPr lang="en-US" sz="2800" dirty="0"/>
              <a:t>The list should include the </a:t>
            </a:r>
            <a:r>
              <a:rPr lang="en-US" sz="2800" dirty="0">
                <a:solidFill>
                  <a:srgbClr val="FF0000"/>
                </a:solidFill>
              </a:rPr>
              <a:t>activity name, an activity identifier or number, and a brief description of the activity. </a:t>
            </a:r>
          </a:p>
          <a:p>
            <a:pPr algn="just"/>
            <a:r>
              <a:rPr lang="en-US" sz="2800" dirty="0"/>
              <a:t>The activity attributes provide schedule-related information about each activity, such as predecessors, successors, logical relationships etc.</a:t>
            </a:r>
          </a:p>
          <a:p>
            <a:pPr algn="just"/>
            <a:r>
              <a:rPr lang="en-US" sz="2800" dirty="0"/>
              <a:t>The activity list and activity attributes should agree with the WBS and WBS dictionary. </a:t>
            </a:r>
            <a:endParaRPr lang="en-MY" sz="2800" dirty="0"/>
          </a:p>
        </p:txBody>
      </p:sp>
    </p:spTree>
    <p:extLst>
      <p:ext uri="{BB962C8B-B14F-4D97-AF65-F5344CB8AC3E}">
        <p14:creationId xmlns:p14="http://schemas.microsoft.com/office/powerpoint/2010/main" val="1278566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564A1-EF6E-419F-81CE-3BE22DE872DB}"/>
              </a:ext>
            </a:extLst>
          </p:cNvPr>
          <p:cNvSpPr>
            <a:spLocks noGrp="1"/>
          </p:cNvSpPr>
          <p:nvPr>
            <p:ph type="title"/>
          </p:nvPr>
        </p:nvSpPr>
        <p:spPr/>
        <p:txBody>
          <a:bodyPr/>
          <a:lstStyle/>
          <a:p>
            <a:r>
              <a:rPr lang="en-MY" dirty="0"/>
              <a:t>Defining Activities</a:t>
            </a:r>
          </a:p>
        </p:txBody>
      </p:sp>
      <p:sp>
        <p:nvSpPr>
          <p:cNvPr id="3" name="Content Placeholder 2">
            <a:extLst>
              <a:ext uri="{FF2B5EF4-FFF2-40B4-BE49-F238E27FC236}">
                <a16:creationId xmlns:a16="http://schemas.microsoft.com/office/drawing/2014/main" id="{595B54B1-9A9B-48B7-87A8-CB98F608A899}"/>
              </a:ext>
            </a:extLst>
          </p:cNvPr>
          <p:cNvSpPr>
            <a:spLocks noGrp="1"/>
          </p:cNvSpPr>
          <p:nvPr>
            <p:ph idx="1"/>
          </p:nvPr>
        </p:nvSpPr>
        <p:spPr/>
        <p:txBody>
          <a:bodyPr/>
          <a:lstStyle/>
          <a:p>
            <a:pPr algn="just"/>
            <a:r>
              <a:rPr lang="en-US" dirty="0"/>
              <a:t>A </a:t>
            </a:r>
            <a:r>
              <a:rPr lang="en-US" dirty="0">
                <a:solidFill>
                  <a:srgbClr val="FF0000"/>
                </a:solidFill>
              </a:rPr>
              <a:t>milestone</a:t>
            </a:r>
            <a:r>
              <a:rPr lang="en-US" dirty="0"/>
              <a:t> on a project is a significant event that normally has no duration. It often takes several activities and a lot of work to complete a milestone, but the milestone itself is a marker to help in identifying necessary activities. </a:t>
            </a:r>
          </a:p>
          <a:p>
            <a:pPr algn="just"/>
            <a:r>
              <a:rPr lang="en-US" dirty="0"/>
              <a:t>Milestones are also useful tools for setting schedule goals and monitoring progress.</a:t>
            </a:r>
            <a:endParaRPr lang="en-MY" dirty="0"/>
          </a:p>
        </p:txBody>
      </p:sp>
    </p:spTree>
    <p:extLst>
      <p:ext uri="{BB962C8B-B14F-4D97-AF65-F5344CB8AC3E}">
        <p14:creationId xmlns:p14="http://schemas.microsoft.com/office/powerpoint/2010/main" val="1807578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2DED0-6127-43E3-9AA6-A1ACC27A5854}"/>
              </a:ext>
            </a:extLst>
          </p:cNvPr>
          <p:cNvSpPr>
            <a:spLocks noGrp="1"/>
          </p:cNvSpPr>
          <p:nvPr>
            <p:ph type="title"/>
          </p:nvPr>
        </p:nvSpPr>
        <p:spPr/>
        <p:txBody>
          <a:bodyPr>
            <a:normAutofit/>
          </a:bodyPr>
          <a:lstStyle/>
          <a:p>
            <a:r>
              <a:rPr lang="en-MY" dirty="0"/>
              <a:t>Sequencing Activities</a:t>
            </a:r>
          </a:p>
        </p:txBody>
      </p:sp>
      <p:sp>
        <p:nvSpPr>
          <p:cNvPr id="3" name="Content Placeholder 2">
            <a:extLst>
              <a:ext uri="{FF2B5EF4-FFF2-40B4-BE49-F238E27FC236}">
                <a16:creationId xmlns:a16="http://schemas.microsoft.com/office/drawing/2014/main" id="{3FA2F0CD-48A7-4A20-BED9-9821484BCFA3}"/>
              </a:ext>
            </a:extLst>
          </p:cNvPr>
          <p:cNvSpPr>
            <a:spLocks noGrp="1"/>
          </p:cNvSpPr>
          <p:nvPr>
            <p:ph idx="1"/>
          </p:nvPr>
        </p:nvSpPr>
        <p:spPr/>
        <p:txBody>
          <a:bodyPr/>
          <a:lstStyle/>
          <a:p>
            <a:pPr algn="just"/>
            <a:r>
              <a:rPr lang="en-US" dirty="0"/>
              <a:t>After defining project activities, the next step in project schedule management is sequencing them or determining their dependencies.</a:t>
            </a:r>
            <a:endParaRPr lang="en-MY" dirty="0"/>
          </a:p>
        </p:txBody>
      </p:sp>
    </p:spTree>
    <p:extLst>
      <p:ext uri="{BB962C8B-B14F-4D97-AF65-F5344CB8AC3E}">
        <p14:creationId xmlns:p14="http://schemas.microsoft.com/office/powerpoint/2010/main" val="2157139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2DED0-6127-43E3-9AA6-A1ACC27A5854}"/>
              </a:ext>
            </a:extLst>
          </p:cNvPr>
          <p:cNvSpPr>
            <a:spLocks noGrp="1"/>
          </p:cNvSpPr>
          <p:nvPr>
            <p:ph type="title"/>
          </p:nvPr>
        </p:nvSpPr>
        <p:spPr/>
        <p:txBody>
          <a:bodyPr>
            <a:normAutofit/>
          </a:bodyPr>
          <a:lstStyle/>
          <a:p>
            <a:r>
              <a:rPr lang="en-MY" dirty="0"/>
              <a:t>Sequencing Activities</a:t>
            </a:r>
          </a:p>
        </p:txBody>
      </p:sp>
      <p:sp>
        <p:nvSpPr>
          <p:cNvPr id="3" name="Content Placeholder 2">
            <a:extLst>
              <a:ext uri="{FF2B5EF4-FFF2-40B4-BE49-F238E27FC236}">
                <a16:creationId xmlns:a16="http://schemas.microsoft.com/office/drawing/2014/main" id="{3FA2F0CD-48A7-4A20-BED9-9821484BCFA3}"/>
              </a:ext>
            </a:extLst>
          </p:cNvPr>
          <p:cNvSpPr>
            <a:spLocks noGrp="1"/>
          </p:cNvSpPr>
          <p:nvPr>
            <p:ph idx="1"/>
          </p:nvPr>
        </p:nvSpPr>
        <p:spPr/>
        <p:txBody>
          <a:bodyPr/>
          <a:lstStyle/>
          <a:p>
            <a:pPr algn="just"/>
            <a:r>
              <a:rPr lang="en-US" dirty="0"/>
              <a:t>The sequencing process involves evaluating the reasons for dependencies and the different types of dependencies.</a:t>
            </a:r>
            <a:endParaRPr lang="en-MY" dirty="0"/>
          </a:p>
        </p:txBody>
      </p:sp>
    </p:spTree>
    <p:extLst>
      <p:ext uri="{BB962C8B-B14F-4D97-AF65-F5344CB8AC3E}">
        <p14:creationId xmlns:p14="http://schemas.microsoft.com/office/powerpoint/2010/main" val="1703513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CD37-C13E-4EF7-8535-10586B11AE8E}"/>
              </a:ext>
            </a:extLst>
          </p:cNvPr>
          <p:cNvSpPr>
            <a:spLocks noGrp="1"/>
          </p:cNvSpPr>
          <p:nvPr>
            <p:ph type="title"/>
          </p:nvPr>
        </p:nvSpPr>
        <p:spPr/>
        <p:txBody>
          <a:bodyPr/>
          <a:lstStyle/>
          <a:p>
            <a:r>
              <a:rPr lang="en-MY" dirty="0"/>
              <a:t>Sequencing Activities</a:t>
            </a:r>
          </a:p>
        </p:txBody>
      </p:sp>
      <p:sp>
        <p:nvSpPr>
          <p:cNvPr id="3" name="Content Placeholder 2">
            <a:extLst>
              <a:ext uri="{FF2B5EF4-FFF2-40B4-BE49-F238E27FC236}">
                <a16:creationId xmlns:a16="http://schemas.microsoft.com/office/drawing/2014/main" id="{46CB46C5-ACFC-46C5-B8D4-551CD994E022}"/>
              </a:ext>
            </a:extLst>
          </p:cNvPr>
          <p:cNvSpPr>
            <a:spLocks noGrp="1"/>
          </p:cNvSpPr>
          <p:nvPr>
            <p:ph idx="1"/>
          </p:nvPr>
        </p:nvSpPr>
        <p:spPr/>
        <p:txBody>
          <a:bodyPr/>
          <a:lstStyle/>
          <a:p>
            <a:r>
              <a:rPr lang="en-MY" dirty="0"/>
              <a:t>Dependencies</a:t>
            </a:r>
          </a:p>
          <a:p>
            <a:r>
              <a:rPr lang="en-MY" dirty="0"/>
              <a:t>Network Diagrams</a:t>
            </a:r>
          </a:p>
        </p:txBody>
      </p:sp>
    </p:spTree>
    <p:extLst>
      <p:ext uri="{BB962C8B-B14F-4D97-AF65-F5344CB8AC3E}">
        <p14:creationId xmlns:p14="http://schemas.microsoft.com/office/powerpoint/2010/main" val="12921233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CD37-C13E-4EF7-8535-10586B11AE8E}"/>
              </a:ext>
            </a:extLst>
          </p:cNvPr>
          <p:cNvSpPr>
            <a:spLocks noGrp="1"/>
          </p:cNvSpPr>
          <p:nvPr>
            <p:ph type="title"/>
          </p:nvPr>
        </p:nvSpPr>
        <p:spPr/>
        <p:txBody>
          <a:bodyPr/>
          <a:lstStyle/>
          <a:p>
            <a:r>
              <a:rPr lang="en-MY" dirty="0"/>
              <a:t>Sequencing Activities</a:t>
            </a:r>
          </a:p>
        </p:txBody>
      </p:sp>
      <p:sp>
        <p:nvSpPr>
          <p:cNvPr id="3" name="Content Placeholder 2">
            <a:extLst>
              <a:ext uri="{FF2B5EF4-FFF2-40B4-BE49-F238E27FC236}">
                <a16:creationId xmlns:a16="http://schemas.microsoft.com/office/drawing/2014/main" id="{46CB46C5-ACFC-46C5-B8D4-551CD994E022}"/>
              </a:ext>
            </a:extLst>
          </p:cNvPr>
          <p:cNvSpPr>
            <a:spLocks noGrp="1"/>
          </p:cNvSpPr>
          <p:nvPr>
            <p:ph idx="1"/>
          </p:nvPr>
        </p:nvSpPr>
        <p:spPr/>
        <p:txBody>
          <a:bodyPr/>
          <a:lstStyle/>
          <a:p>
            <a:r>
              <a:rPr lang="en-MY" dirty="0"/>
              <a:t>Dependencies</a:t>
            </a:r>
          </a:p>
          <a:p>
            <a:pPr lvl="1" algn="just"/>
            <a:r>
              <a:rPr lang="en-US" dirty="0"/>
              <a:t>A dependency or relationship pertains to the sequencing of project activities or tasks. </a:t>
            </a:r>
          </a:p>
          <a:p>
            <a:pPr lvl="1" algn="just"/>
            <a:r>
              <a:rPr lang="en-US" dirty="0"/>
              <a:t>There are several types of dependencies among project activities:</a:t>
            </a:r>
            <a:endParaRPr lang="en-MY" dirty="0"/>
          </a:p>
        </p:txBody>
      </p:sp>
    </p:spTree>
    <p:extLst>
      <p:ext uri="{BB962C8B-B14F-4D97-AF65-F5344CB8AC3E}">
        <p14:creationId xmlns:p14="http://schemas.microsoft.com/office/powerpoint/2010/main" val="23840131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CD37-C13E-4EF7-8535-10586B11AE8E}"/>
              </a:ext>
            </a:extLst>
          </p:cNvPr>
          <p:cNvSpPr>
            <a:spLocks noGrp="1"/>
          </p:cNvSpPr>
          <p:nvPr>
            <p:ph type="title"/>
          </p:nvPr>
        </p:nvSpPr>
        <p:spPr/>
        <p:txBody>
          <a:bodyPr/>
          <a:lstStyle/>
          <a:p>
            <a:r>
              <a:rPr lang="en-MY" dirty="0"/>
              <a:t>Sequencing Activities</a:t>
            </a:r>
          </a:p>
        </p:txBody>
      </p:sp>
      <p:sp>
        <p:nvSpPr>
          <p:cNvPr id="3" name="Content Placeholder 2">
            <a:extLst>
              <a:ext uri="{FF2B5EF4-FFF2-40B4-BE49-F238E27FC236}">
                <a16:creationId xmlns:a16="http://schemas.microsoft.com/office/drawing/2014/main" id="{46CB46C5-ACFC-46C5-B8D4-551CD994E022}"/>
              </a:ext>
            </a:extLst>
          </p:cNvPr>
          <p:cNvSpPr>
            <a:spLocks noGrp="1"/>
          </p:cNvSpPr>
          <p:nvPr>
            <p:ph idx="1"/>
          </p:nvPr>
        </p:nvSpPr>
        <p:spPr/>
        <p:txBody>
          <a:bodyPr/>
          <a:lstStyle/>
          <a:p>
            <a:pPr lvl="1" algn="just"/>
            <a:r>
              <a:rPr lang="en-US" dirty="0">
                <a:solidFill>
                  <a:srgbClr val="FF0000"/>
                </a:solidFill>
              </a:rPr>
              <a:t>Mandatory dependencies</a:t>
            </a:r>
            <a:r>
              <a:rPr lang="en-US" dirty="0"/>
              <a:t> are inherent in the nature of the work being performed on a project. </a:t>
            </a:r>
          </a:p>
          <a:p>
            <a:pPr lvl="1" algn="just"/>
            <a:r>
              <a:rPr lang="en-US" dirty="0"/>
              <a:t>They are sometimes referred to as </a:t>
            </a:r>
            <a:r>
              <a:rPr lang="en-US" dirty="0">
                <a:solidFill>
                  <a:srgbClr val="FF0000"/>
                </a:solidFill>
              </a:rPr>
              <a:t>hard logic</a:t>
            </a:r>
            <a:r>
              <a:rPr lang="en-US" dirty="0"/>
              <a:t>. </a:t>
            </a:r>
          </a:p>
          <a:p>
            <a:pPr lvl="1" algn="just"/>
            <a:r>
              <a:rPr lang="en-US" dirty="0"/>
              <a:t>For example, you cannot </a:t>
            </a:r>
            <a:r>
              <a:rPr lang="en-US" dirty="0">
                <a:solidFill>
                  <a:srgbClr val="FF0000"/>
                </a:solidFill>
              </a:rPr>
              <a:t>test code until after the code is written. </a:t>
            </a:r>
          </a:p>
        </p:txBody>
      </p:sp>
    </p:spTree>
    <p:extLst>
      <p:ext uri="{BB962C8B-B14F-4D97-AF65-F5344CB8AC3E}">
        <p14:creationId xmlns:p14="http://schemas.microsoft.com/office/powerpoint/2010/main" val="2517966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CD37-C13E-4EF7-8535-10586B11AE8E}"/>
              </a:ext>
            </a:extLst>
          </p:cNvPr>
          <p:cNvSpPr>
            <a:spLocks noGrp="1"/>
          </p:cNvSpPr>
          <p:nvPr>
            <p:ph type="title"/>
          </p:nvPr>
        </p:nvSpPr>
        <p:spPr/>
        <p:txBody>
          <a:bodyPr/>
          <a:lstStyle/>
          <a:p>
            <a:r>
              <a:rPr lang="en-MY" dirty="0"/>
              <a:t>Sequencing Activities</a:t>
            </a:r>
          </a:p>
        </p:txBody>
      </p:sp>
      <p:sp>
        <p:nvSpPr>
          <p:cNvPr id="3" name="Content Placeholder 2">
            <a:extLst>
              <a:ext uri="{FF2B5EF4-FFF2-40B4-BE49-F238E27FC236}">
                <a16:creationId xmlns:a16="http://schemas.microsoft.com/office/drawing/2014/main" id="{46CB46C5-ACFC-46C5-B8D4-551CD994E022}"/>
              </a:ext>
            </a:extLst>
          </p:cNvPr>
          <p:cNvSpPr>
            <a:spLocks noGrp="1"/>
          </p:cNvSpPr>
          <p:nvPr>
            <p:ph idx="1"/>
          </p:nvPr>
        </p:nvSpPr>
        <p:spPr/>
        <p:txBody>
          <a:bodyPr/>
          <a:lstStyle/>
          <a:p>
            <a:pPr algn="just"/>
            <a:r>
              <a:rPr lang="en-US" dirty="0">
                <a:solidFill>
                  <a:srgbClr val="FF0000"/>
                </a:solidFill>
              </a:rPr>
              <a:t>Discretionary dependencies</a:t>
            </a:r>
            <a:r>
              <a:rPr lang="en-US" dirty="0"/>
              <a:t> are </a:t>
            </a:r>
            <a:r>
              <a:rPr lang="en-US" dirty="0">
                <a:solidFill>
                  <a:srgbClr val="FF0000"/>
                </a:solidFill>
              </a:rPr>
              <a:t>defined by the project team</a:t>
            </a:r>
            <a:r>
              <a:rPr lang="en-US" dirty="0"/>
              <a:t>. For example, a </a:t>
            </a:r>
            <a:r>
              <a:rPr lang="en-US" i="1" dirty="0">
                <a:solidFill>
                  <a:srgbClr val="FF0000"/>
                </a:solidFill>
              </a:rPr>
              <a:t>project team might follow good practice and not start the detailed design of a new information system until the users sign off on all of the analysis work. </a:t>
            </a:r>
          </a:p>
          <a:p>
            <a:pPr algn="just"/>
            <a:r>
              <a:rPr lang="en-US" dirty="0"/>
              <a:t>Discretionary dependencies are sometimes referred to as </a:t>
            </a:r>
            <a:r>
              <a:rPr lang="en-US">
                <a:solidFill>
                  <a:srgbClr val="FF0000"/>
                </a:solidFill>
              </a:rPr>
              <a:t>soft logic</a:t>
            </a:r>
            <a:r>
              <a:rPr lang="en-US"/>
              <a:t>. </a:t>
            </a:r>
            <a:endParaRPr lang="en-MY" dirty="0"/>
          </a:p>
        </p:txBody>
      </p:sp>
    </p:spTree>
    <p:extLst>
      <p:ext uri="{BB962C8B-B14F-4D97-AF65-F5344CB8AC3E}">
        <p14:creationId xmlns:p14="http://schemas.microsoft.com/office/powerpoint/2010/main" val="1237190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CD37-C13E-4EF7-8535-10586B11AE8E}"/>
              </a:ext>
            </a:extLst>
          </p:cNvPr>
          <p:cNvSpPr>
            <a:spLocks noGrp="1"/>
          </p:cNvSpPr>
          <p:nvPr>
            <p:ph type="title"/>
          </p:nvPr>
        </p:nvSpPr>
        <p:spPr/>
        <p:txBody>
          <a:bodyPr/>
          <a:lstStyle/>
          <a:p>
            <a:r>
              <a:rPr lang="en-MY" dirty="0"/>
              <a:t>Sequencing Activities</a:t>
            </a:r>
          </a:p>
        </p:txBody>
      </p:sp>
      <p:sp>
        <p:nvSpPr>
          <p:cNvPr id="3" name="Content Placeholder 2">
            <a:extLst>
              <a:ext uri="{FF2B5EF4-FFF2-40B4-BE49-F238E27FC236}">
                <a16:creationId xmlns:a16="http://schemas.microsoft.com/office/drawing/2014/main" id="{46CB46C5-ACFC-46C5-B8D4-551CD994E022}"/>
              </a:ext>
            </a:extLst>
          </p:cNvPr>
          <p:cNvSpPr>
            <a:spLocks noGrp="1"/>
          </p:cNvSpPr>
          <p:nvPr>
            <p:ph idx="1"/>
          </p:nvPr>
        </p:nvSpPr>
        <p:spPr>
          <a:xfrm>
            <a:off x="1417194" y="1356672"/>
            <a:ext cx="7499350" cy="4800600"/>
          </a:xfrm>
        </p:spPr>
        <p:txBody>
          <a:bodyPr/>
          <a:lstStyle/>
          <a:p>
            <a:pPr algn="just"/>
            <a:r>
              <a:rPr lang="en-US" dirty="0">
                <a:solidFill>
                  <a:srgbClr val="FF0000"/>
                </a:solidFill>
              </a:rPr>
              <a:t>Internal dependencies</a:t>
            </a:r>
            <a:r>
              <a:rPr lang="en-US" dirty="0"/>
              <a:t> involve </a:t>
            </a:r>
            <a:r>
              <a:rPr lang="en-US" dirty="0">
                <a:solidFill>
                  <a:srgbClr val="FF0000"/>
                </a:solidFill>
              </a:rPr>
              <a:t>relationships between project activities that are generally inside the project team's control. </a:t>
            </a:r>
            <a:r>
              <a:rPr lang="en-US" dirty="0"/>
              <a:t>For example, </a:t>
            </a:r>
            <a:r>
              <a:rPr lang="en-US" i="1" dirty="0"/>
              <a:t>if software is developed by the team, they can create dependencies such as performing unit testing before system testing.</a:t>
            </a:r>
          </a:p>
          <a:p>
            <a:pPr algn="just"/>
            <a:endParaRPr lang="en-MY" dirty="0"/>
          </a:p>
        </p:txBody>
      </p:sp>
    </p:spTree>
    <p:extLst>
      <p:ext uri="{BB962C8B-B14F-4D97-AF65-F5344CB8AC3E}">
        <p14:creationId xmlns:p14="http://schemas.microsoft.com/office/powerpoint/2010/main" val="2046738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CD37-C13E-4EF7-8535-10586B11AE8E}"/>
              </a:ext>
            </a:extLst>
          </p:cNvPr>
          <p:cNvSpPr>
            <a:spLocks noGrp="1"/>
          </p:cNvSpPr>
          <p:nvPr>
            <p:ph type="title"/>
          </p:nvPr>
        </p:nvSpPr>
        <p:spPr/>
        <p:txBody>
          <a:bodyPr/>
          <a:lstStyle/>
          <a:p>
            <a:r>
              <a:rPr lang="en-MY" dirty="0"/>
              <a:t>Sequencing Activities</a:t>
            </a:r>
          </a:p>
        </p:txBody>
      </p:sp>
      <p:sp>
        <p:nvSpPr>
          <p:cNvPr id="3" name="Content Placeholder 2">
            <a:extLst>
              <a:ext uri="{FF2B5EF4-FFF2-40B4-BE49-F238E27FC236}">
                <a16:creationId xmlns:a16="http://schemas.microsoft.com/office/drawing/2014/main" id="{46CB46C5-ACFC-46C5-B8D4-551CD994E022}"/>
              </a:ext>
            </a:extLst>
          </p:cNvPr>
          <p:cNvSpPr>
            <a:spLocks noGrp="1"/>
          </p:cNvSpPr>
          <p:nvPr>
            <p:ph idx="1"/>
          </p:nvPr>
        </p:nvSpPr>
        <p:spPr/>
        <p:txBody>
          <a:bodyPr/>
          <a:lstStyle/>
          <a:p>
            <a:pPr algn="just"/>
            <a:r>
              <a:rPr lang="en-US" dirty="0"/>
              <a:t> </a:t>
            </a:r>
            <a:r>
              <a:rPr lang="en-US" dirty="0">
                <a:solidFill>
                  <a:srgbClr val="FF0000"/>
                </a:solidFill>
              </a:rPr>
              <a:t>External dependencies</a:t>
            </a:r>
            <a:r>
              <a:rPr lang="en-US" dirty="0"/>
              <a:t> involve </a:t>
            </a:r>
            <a:r>
              <a:rPr lang="en-US" dirty="0">
                <a:solidFill>
                  <a:srgbClr val="FF0000"/>
                </a:solidFill>
              </a:rPr>
              <a:t>relationships between project and non-project activities. </a:t>
            </a:r>
          </a:p>
          <a:p>
            <a:pPr algn="just"/>
            <a:r>
              <a:rPr lang="en-US" dirty="0"/>
              <a:t>For example, </a:t>
            </a:r>
            <a:r>
              <a:rPr lang="en-US" i="1" dirty="0"/>
              <a:t>the installation of a new operating system and other software may depend on delivery of new hardware from an external supplier. </a:t>
            </a:r>
          </a:p>
        </p:txBody>
      </p:sp>
    </p:spTree>
    <p:extLst>
      <p:ext uri="{BB962C8B-B14F-4D97-AF65-F5344CB8AC3E}">
        <p14:creationId xmlns:p14="http://schemas.microsoft.com/office/powerpoint/2010/main" val="4291379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CD37-C13E-4EF7-8535-10586B11AE8E}"/>
              </a:ext>
            </a:extLst>
          </p:cNvPr>
          <p:cNvSpPr>
            <a:spLocks noGrp="1"/>
          </p:cNvSpPr>
          <p:nvPr>
            <p:ph type="title"/>
          </p:nvPr>
        </p:nvSpPr>
        <p:spPr/>
        <p:txBody>
          <a:bodyPr/>
          <a:lstStyle/>
          <a:p>
            <a:r>
              <a:rPr lang="en-MY" dirty="0"/>
              <a:t>Sequencing Activities</a:t>
            </a:r>
          </a:p>
        </p:txBody>
      </p:sp>
      <p:sp>
        <p:nvSpPr>
          <p:cNvPr id="3" name="Content Placeholder 2">
            <a:extLst>
              <a:ext uri="{FF2B5EF4-FFF2-40B4-BE49-F238E27FC236}">
                <a16:creationId xmlns:a16="http://schemas.microsoft.com/office/drawing/2014/main" id="{46CB46C5-ACFC-46C5-B8D4-551CD994E022}"/>
              </a:ext>
            </a:extLst>
          </p:cNvPr>
          <p:cNvSpPr>
            <a:spLocks noGrp="1"/>
          </p:cNvSpPr>
          <p:nvPr>
            <p:ph idx="1"/>
          </p:nvPr>
        </p:nvSpPr>
        <p:spPr/>
        <p:txBody>
          <a:bodyPr/>
          <a:lstStyle/>
          <a:p>
            <a:pPr algn="just"/>
            <a:r>
              <a:rPr lang="en-US" dirty="0"/>
              <a:t>Even though delivery of the hardware may not be included in the scope of the project, you should add an external dependency to it because late delivery will affect the project schedule. </a:t>
            </a:r>
            <a:endParaRPr lang="en-MY" dirty="0"/>
          </a:p>
        </p:txBody>
      </p:sp>
    </p:spTree>
    <p:extLst>
      <p:ext uri="{BB962C8B-B14F-4D97-AF65-F5344CB8AC3E}">
        <p14:creationId xmlns:p14="http://schemas.microsoft.com/office/powerpoint/2010/main" val="32717165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EC7E2-E6C3-4BF2-8407-70B63455C5C6}"/>
              </a:ext>
            </a:extLst>
          </p:cNvPr>
          <p:cNvSpPr>
            <a:spLocks noGrp="1"/>
          </p:cNvSpPr>
          <p:nvPr>
            <p:ph type="title"/>
          </p:nvPr>
        </p:nvSpPr>
        <p:spPr/>
        <p:txBody>
          <a:bodyPr>
            <a:normAutofit fontScale="90000"/>
          </a:bodyPr>
          <a:lstStyle/>
          <a:p>
            <a:r>
              <a:rPr lang="en-MY" dirty="0"/>
              <a:t>Sequencing Activities-Network Diagrams</a:t>
            </a:r>
          </a:p>
        </p:txBody>
      </p:sp>
      <p:sp>
        <p:nvSpPr>
          <p:cNvPr id="3" name="Content Placeholder 2">
            <a:extLst>
              <a:ext uri="{FF2B5EF4-FFF2-40B4-BE49-F238E27FC236}">
                <a16:creationId xmlns:a16="http://schemas.microsoft.com/office/drawing/2014/main" id="{1B27FA27-C2B5-4217-AF47-B96002AA383C}"/>
              </a:ext>
            </a:extLst>
          </p:cNvPr>
          <p:cNvSpPr>
            <a:spLocks noGrp="1"/>
          </p:cNvSpPr>
          <p:nvPr>
            <p:ph idx="1"/>
          </p:nvPr>
        </p:nvSpPr>
        <p:spPr/>
        <p:txBody>
          <a:bodyPr/>
          <a:lstStyle/>
          <a:p>
            <a:r>
              <a:rPr lang="en-US" dirty="0"/>
              <a:t>A network diagram is a schematic display of the logical relationships among project activities and their sequencing</a:t>
            </a:r>
            <a:endParaRPr lang="en-MY" dirty="0"/>
          </a:p>
        </p:txBody>
      </p:sp>
    </p:spTree>
    <p:extLst>
      <p:ext uri="{BB962C8B-B14F-4D97-AF65-F5344CB8AC3E}">
        <p14:creationId xmlns:p14="http://schemas.microsoft.com/office/powerpoint/2010/main" val="37230151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B5146-EF6A-4BC2-876F-4C5EACAE2D38}"/>
              </a:ext>
            </a:extLst>
          </p:cNvPr>
          <p:cNvSpPr>
            <a:spLocks noGrp="1"/>
          </p:cNvSpPr>
          <p:nvPr>
            <p:ph type="title"/>
          </p:nvPr>
        </p:nvSpPr>
        <p:spPr/>
        <p:txBody>
          <a:bodyPr/>
          <a:lstStyle/>
          <a:p>
            <a:r>
              <a:rPr lang="en-MY" dirty="0"/>
              <a:t>AOA-Activity on Arrow</a:t>
            </a:r>
          </a:p>
        </p:txBody>
      </p:sp>
      <p:pic>
        <p:nvPicPr>
          <p:cNvPr id="5" name="Content Placeholder 4">
            <a:extLst>
              <a:ext uri="{FF2B5EF4-FFF2-40B4-BE49-F238E27FC236}">
                <a16:creationId xmlns:a16="http://schemas.microsoft.com/office/drawing/2014/main" id="{9C4BB68A-2958-4B0B-9932-6AC39F49341A}"/>
              </a:ext>
            </a:extLst>
          </p:cNvPr>
          <p:cNvPicPr>
            <a:picLocks noGrp="1" noChangeAspect="1"/>
          </p:cNvPicPr>
          <p:nvPr>
            <p:ph idx="1"/>
          </p:nvPr>
        </p:nvPicPr>
        <p:blipFill rotWithShape="1">
          <a:blip r:embed="rId2"/>
          <a:srcRect l="22625" t="31531" r="28405" b="27501"/>
          <a:stretch/>
        </p:blipFill>
        <p:spPr>
          <a:xfrm>
            <a:off x="1054074" y="1574794"/>
            <a:ext cx="7880376" cy="3708412"/>
          </a:xfrm>
        </p:spPr>
      </p:pic>
    </p:spTree>
    <p:extLst>
      <p:ext uri="{BB962C8B-B14F-4D97-AF65-F5344CB8AC3E}">
        <p14:creationId xmlns:p14="http://schemas.microsoft.com/office/powerpoint/2010/main" val="33561141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29E53-82D6-46B9-A0F2-B0111C6F82D1}"/>
              </a:ext>
            </a:extLst>
          </p:cNvPr>
          <p:cNvSpPr>
            <a:spLocks noGrp="1"/>
          </p:cNvSpPr>
          <p:nvPr>
            <p:ph type="title"/>
          </p:nvPr>
        </p:nvSpPr>
        <p:spPr/>
        <p:txBody>
          <a:bodyPr/>
          <a:lstStyle/>
          <a:p>
            <a:r>
              <a:rPr lang="en-MY" dirty="0"/>
              <a:t>PERT</a:t>
            </a:r>
          </a:p>
        </p:txBody>
      </p:sp>
      <p:sp>
        <p:nvSpPr>
          <p:cNvPr id="3" name="Content Placeholder 2">
            <a:extLst>
              <a:ext uri="{FF2B5EF4-FFF2-40B4-BE49-F238E27FC236}">
                <a16:creationId xmlns:a16="http://schemas.microsoft.com/office/drawing/2014/main" id="{AAA35278-A42F-4F06-BB91-8F3FAA2AA398}"/>
              </a:ext>
            </a:extLst>
          </p:cNvPr>
          <p:cNvSpPr>
            <a:spLocks noGrp="1"/>
          </p:cNvSpPr>
          <p:nvPr>
            <p:ph idx="1"/>
          </p:nvPr>
        </p:nvSpPr>
        <p:spPr/>
        <p:txBody>
          <a:bodyPr/>
          <a:lstStyle/>
          <a:p>
            <a:pPr algn="just"/>
            <a:r>
              <a:rPr lang="en-US" dirty="0"/>
              <a:t>Program Evaluation and Review Technique </a:t>
            </a:r>
          </a:p>
          <a:p>
            <a:pPr lvl="1" algn="just"/>
            <a:r>
              <a:rPr lang="en-US" dirty="0"/>
              <a:t>When there is a high degree of uncertainty about the individual activity   can be used to estimate project duration. </a:t>
            </a:r>
          </a:p>
        </p:txBody>
      </p:sp>
    </p:spTree>
    <p:extLst>
      <p:ext uri="{BB962C8B-B14F-4D97-AF65-F5344CB8AC3E}">
        <p14:creationId xmlns:p14="http://schemas.microsoft.com/office/powerpoint/2010/main" val="1704617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29E53-82D6-46B9-A0F2-B0111C6F82D1}"/>
              </a:ext>
            </a:extLst>
          </p:cNvPr>
          <p:cNvSpPr>
            <a:spLocks noGrp="1"/>
          </p:cNvSpPr>
          <p:nvPr>
            <p:ph type="title"/>
          </p:nvPr>
        </p:nvSpPr>
        <p:spPr/>
        <p:txBody>
          <a:bodyPr/>
          <a:lstStyle/>
          <a:p>
            <a:r>
              <a:rPr lang="en-MY" dirty="0"/>
              <a:t>PERT</a:t>
            </a:r>
          </a:p>
        </p:txBody>
      </p:sp>
      <p:sp>
        <p:nvSpPr>
          <p:cNvPr id="3" name="Content Placeholder 2">
            <a:extLst>
              <a:ext uri="{FF2B5EF4-FFF2-40B4-BE49-F238E27FC236}">
                <a16:creationId xmlns:a16="http://schemas.microsoft.com/office/drawing/2014/main" id="{AAA35278-A42F-4F06-BB91-8F3FAA2AA398}"/>
              </a:ext>
            </a:extLst>
          </p:cNvPr>
          <p:cNvSpPr>
            <a:spLocks noGrp="1"/>
          </p:cNvSpPr>
          <p:nvPr>
            <p:ph idx="1"/>
          </p:nvPr>
        </p:nvSpPr>
        <p:spPr/>
        <p:txBody>
          <a:bodyPr/>
          <a:lstStyle/>
          <a:p>
            <a:pPr algn="just"/>
            <a:r>
              <a:rPr lang="en-US" dirty="0"/>
              <a:t>PERT uses duration estimates based on using optimistic, most likely, and pessimistic estimates of activity durations—instead of one specific or discrete duration estimate, as CPM does. </a:t>
            </a:r>
          </a:p>
          <a:p>
            <a:pPr algn="just"/>
            <a:r>
              <a:rPr lang="en-US" dirty="0"/>
              <a:t>To use PERT, you calculate a weighted average for the duration estimate of each project activity using the following formula</a:t>
            </a:r>
            <a:endParaRPr lang="en-MY" dirty="0"/>
          </a:p>
        </p:txBody>
      </p:sp>
    </p:spTree>
    <p:extLst>
      <p:ext uri="{BB962C8B-B14F-4D97-AF65-F5344CB8AC3E}">
        <p14:creationId xmlns:p14="http://schemas.microsoft.com/office/powerpoint/2010/main" val="2935912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D1F8F-EF95-48E2-922D-CD5179B6BEF3}"/>
              </a:ext>
            </a:extLst>
          </p:cNvPr>
          <p:cNvSpPr>
            <a:spLocks noGrp="1"/>
          </p:cNvSpPr>
          <p:nvPr>
            <p:ph type="title"/>
          </p:nvPr>
        </p:nvSpPr>
        <p:spPr/>
        <p:txBody>
          <a:bodyPr/>
          <a:lstStyle/>
          <a:p>
            <a:r>
              <a:rPr lang="en-MY" dirty="0"/>
              <a:t>PERT</a:t>
            </a:r>
          </a:p>
        </p:txBody>
      </p:sp>
      <p:pic>
        <p:nvPicPr>
          <p:cNvPr id="5" name="Content Placeholder 4">
            <a:extLst>
              <a:ext uri="{FF2B5EF4-FFF2-40B4-BE49-F238E27FC236}">
                <a16:creationId xmlns:a16="http://schemas.microsoft.com/office/drawing/2014/main" id="{EF2D36DD-374E-445F-8EB1-A4B1A0E063D3}"/>
              </a:ext>
            </a:extLst>
          </p:cNvPr>
          <p:cNvPicPr>
            <a:picLocks noGrp="1" noChangeAspect="1"/>
          </p:cNvPicPr>
          <p:nvPr>
            <p:ph idx="1"/>
          </p:nvPr>
        </p:nvPicPr>
        <p:blipFill rotWithShape="1">
          <a:blip r:embed="rId2"/>
          <a:srcRect l="18785" t="33237" r="18803" b="54814"/>
          <a:stretch/>
        </p:blipFill>
        <p:spPr>
          <a:xfrm>
            <a:off x="179512" y="2204864"/>
            <a:ext cx="8784976" cy="2448272"/>
          </a:xfrm>
        </p:spPr>
      </p:pic>
    </p:spTree>
    <p:extLst>
      <p:ext uri="{BB962C8B-B14F-4D97-AF65-F5344CB8AC3E}">
        <p14:creationId xmlns:p14="http://schemas.microsoft.com/office/powerpoint/2010/main" val="833953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40070-F835-4352-9D85-57F5C44EC4A4}"/>
              </a:ext>
            </a:extLst>
          </p:cNvPr>
          <p:cNvSpPr>
            <a:spLocks noGrp="1"/>
          </p:cNvSpPr>
          <p:nvPr>
            <p:ph type="title"/>
          </p:nvPr>
        </p:nvSpPr>
        <p:spPr/>
        <p:txBody>
          <a:bodyPr/>
          <a:lstStyle/>
          <a:p>
            <a:r>
              <a:rPr lang="en-MY" dirty="0"/>
              <a:t>PERT</a:t>
            </a:r>
          </a:p>
        </p:txBody>
      </p:sp>
      <p:sp>
        <p:nvSpPr>
          <p:cNvPr id="3" name="Content Placeholder 2">
            <a:extLst>
              <a:ext uri="{FF2B5EF4-FFF2-40B4-BE49-F238E27FC236}">
                <a16:creationId xmlns:a16="http://schemas.microsoft.com/office/drawing/2014/main" id="{E09DEF89-A2E4-4B41-9287-161FB72AC7C5}"/>
              </a:ext>
            </a:extLst>
          </p:cNvPr>
          <p:cNvSpPr>
            <a:spLocks noGrp="1"/>
          </p:cNvSpPr>
          <p:nvPr>
            <p:ph idx="1"/>
          </p:nvPr>
        </p:nvSpPr>
        <p:spPr/>
        <p:txBody>
          <a:bodyPr/>
          <a:lstStyle/>
          <a:p>
            <a:pPr algn="just"/>
            <a:r>
              <a:rPr lang="en-US" dirty="0"/>
              <a:t>By using the PERT weighted average for each activity duration estimate, the total project duration estimate takes into account the risk or uncertainty in the individual activity estimates</a:t>
            </a:r>
            <a:endParaRPr lang="en-MY" dirty="0"/>
          </a:p>
        </p:txBody>
      </p:sp>
    </p:spTree>
    <p:extLst>
      <p:ext uri="{BB962C8B-B14F-4D97-AF65-F5344CB8AC3E}">
        <p14:creationId xmlns:p14="http://schemas.microsoft.com/office/powerpoint/2010/main" val="34884018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B142C-D9B4-4641-8775-641FCEA92DB8}"/>
              </a:ext>
            </a:extLst>
          </p:cNvPr>
          <p:cNvSpPr>
            <a:spLocks noGrp="1"/>
          </p:cNvSpPr>
          <p:nvPr>
            <p:ph type="title"/>
          </p:nvPr>
        </p:nvSpPr>
        <p:spPr/>
        <p:txBody>
          <a:bodyPr/>
          <a:lstStyle/>
          <a:p>
            <a:r>
              <a:rPr lang="en-MY" dirty="0"/>
              <a:t>Controlling the Schedule</a:t>
            </a:r>
          </a:p>
        </p:txBody>
      </p:sp>
      <p:sp>
        <p:nvSpPr>
          <p:cNvPr id="3" name="Content Placeholder 2">
            <a:extLst>
              <a:ext uri="{FF2B5EF4-FFF2-40B4-BE49-F238E27FC236}">
                <a16:creationId xmlns:a16="http://schemas.microsoft.com/office/drawing/2014/main" id="{5E1FC0AA-0B81-489B-9FF9-CC23570FBECB}"/>
              </a:ext>
            </a:extLst>
          </p:cNvPr>
          <p:cNvSpPr>
            <a:spLocks noGrp="1"/>
          </p:cNvSpPr>
          <p:nvPr>
            <p:ph idx="1"/>
          </p:nvPr>
        </p:nvSpPr>
        <p:spPr/>
        <p:txBody>
          <a:bodyPr/>
          <a:lstStyle/>
          <a:p>
            <a:pPr algn="just"/>
            <a:r>
              <a:rPr lang="en-US" dirty="0"/>
              <a:t>The goal of schedule control is to know the status of the schedule, factors that cause schedule changes, determine that the schedule has changed, and manage changes when they occur</a:t>
            </a:r>
            <a:endParaRPr lang="en-MY" dirty="0"/>
          </a:p>
        </p:txBody>
      </p:sp>
    </p:spTree>
    <p:extLst>
      <p:ext uri="{BB962C8B-B14F-4D97-AF65-F5344CB8AC3E}">
        <p14:creationId xmlns:p14="http://schemas.microsoft.com/office/powerpoint/2010/main" val="34242453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2743</TotalTime>
  <Words>1091</Words>
  <Application>Microsoft Office PowerPoint</Application>
  <PresentationFormat>On-screen Show (4:3)</PresentationFormat>
  <Paragraphs>112</Paragraphs>
  <Slides>35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Calibri</vt:lpstr>
      <vt:lpstr>Gill Sans MT</vt:lpstr>
      <vt:lpstr>Goudy Stout</vt:lpstr>
      <vt:lpstr>Times</vt:lpstr>
      <vt:lpstr>Times New Roman</vt:lpstr>
      <vt:lpstr>Verdana</vt:lpstr>
      <vt:lpstr>Wingdings 2</vt:lpstr>
      <vt:lpstr>Solstice</vt:lpstr>
      <vt:lpstr>PowerPoint Presentation</vt:lpstr>
      <vt:lpstr>Project Schedule Management</vt:lpstr>
      <vt:lpstr>Project Schedule Management</vt:lpstr>
      <vt:lpstr>Project Schedule Management-Processes </vt:lpstr>
      <vt:lpstr>Project Schedule Management-Processes </vt:lpstr>
      <vt:lpstr>Six main processes are involved in project schedule management</vt:lpstr>
      <vt:lpstr>Six main processes are involved in project schedule management</vt:lpstr>
      <vt:lpstr>Six main processes are involved in project schedule management</vt:lpstr>
      <vt:lpstr>Six main processes are involved in project schedule management</vt:lpstr>
      <vt:lpstr>Six main processes are involved in project schedule management</vt:lpstr>
      <vt:lpstr>Six main processes are involved in project schedule management</vt:lpstr>
      <vt:lpstr>Six main processes are involved in project schedule management</vt:lpstr>
      <vt:lpstr>Planning Schedule Management</vt:lpstr>
      <vt:lpstr>Planning Schedule Management</vt:lpstr>
      <vt:lpstr>Planning Schedule Management</vt:lpstr>
      <vt:lpstr>Planning Schedule Management</vt:lpstr>
      <vt:lpstr>Defining Activities</vt:lpstr>
      <vt:lpstr>Defining Activities</vt:lpstr>
      <vt:lpstr>Defining Activities</vt:lpstr>
      <vt:lpstr>Sequencing Activities</vt:lpstr>
      <vt:lpstr>Sequencing Activities</vt:lpstr>
      <vt:lpstr>Sequencing Activities</vt:lpstr>
      <vt:lpstr>Sequencing Activities</vt:lpstr>
      <vt:lpstr>Sequencing Activities</vt:lpstr>
      <vt:lpstr>Sequencing Activities</vt:lpstr>
      <vt:lpstr>Sequencing Activities</vt:lpstr>
      <vt:lpstr>Sequencing Activities</vt:lpstr>
      <vt:lpstr>Sequencing Activities</vt:lpstr>
      <vt:lpstr>Sequencing Activities-Network Diagrams</vt:lpstr>
      <vt:lpstr>AOA-Activity on Arrow</vt:lpstr>
      <vt:lpstr>PERT</vt:lpstr>
      <vt:lpstr>PERT</vt:lpstr>
      <vt:lpstr>PERT</vt:lpstr>
      <vt:lpstr>PERT</vt:lpstr>
      <vt:lpstr>Controlling the Schedule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MN</dc:creator>
  <cp:lastModifiedBy>Sumaira Nazir</cp:lastModifiedBy>
  <cp:revision>230</cp:revision>
  <cp:lastPrinted>2014-09-07T17:36:35Z</cp:lastPrinted>
  <dcterms:created xsi:type="dcterms:W3CDTF">2006-12-08T11:09:38Z</dcterms:created>
  <dcterms:modified xsi:type="dcterms:W3CDTF">2025-05-14T10:51:52Z</dcterms:modified>
</cp:coreProperties>
</file>