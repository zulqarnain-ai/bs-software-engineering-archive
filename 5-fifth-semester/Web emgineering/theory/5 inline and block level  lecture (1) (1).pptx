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63" r:id="rId3"/>
    <p:sldId id="364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304" r:id="rId12"/>
    <p:sldId id="310" r:id="rId13"/>
    <p:sldId id="275" r:id="rId14"/>
    <p:sldId id="276" r:id="rId15"/>
    <p:sldId id="277" r:id="rId16"/>
    <p:sldId id="278" r:id="rId17"/>
    <p:sldId id="266" r:id="rId18"/>
    <p:sldId id="282" r:id="rId19"/>
    <p:sldId id="283" r:id="rId20"/>
    <p:sldId id="284" r:id="rId21"/>
    <p:sldId id="286" r:id="rId22"/>
    <p:sldId id="287" r:id="rId23"/>
    <p:sldId id="290" r:id="rId24"/>
    <p:sldId id="291" r:id="rId25"/>
    <p:sldId id="292" r:id="rId26"/>
    <p:sldId id="357" r:id="rId27"/>
    <p:sldId id="359" r:id="rId28"/>
    <p:sldId id="360" r:id="rId29"/>
    <p:sldId id="361" r:id="rId30"/>
    <p:sldId id="362" r:id="rId31"/>
    <p:sldId id="268" r:id="rId32"/>
    <p:sldId id="269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23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adia shabbir" userId="d9738f4059b37fcf" providerId="LiveId" clId="{F50A8E53-EC8E-4D07-B1C6-E77969839915}"/>
    <pc:docChg chg="undo custSel delSld modSld">
      <pc:chgData name="saadia shabbir" userId="d9738f4059b37fcf" providerId="LiveId" clId="{F50A8E53-EC8E-4D07-B1C6-E77969839915}" dt="2023-03-18T19:29:46.301" v="21" actId="478"/>
      <pc:docMkLst>
        <pc:docMk/>
      </pc:docMkLst>
      <pc:sldChg chg="addSp delSp modSp">
        <pc:chgData name="saadia shabbir" userId="d9738f4059b37fcf" providerId="LiveId" clId="{F50A8E53-EC8E-4D07-B1C6-E77969839915}" dt="2023-03-18T19:29:46.301" v="21" actId="478"/>
        <pc:sldMkLst>
          <pc:docMk/>
          <pc:sldMk cId="0" sldId="266"/>
        </pc:sldMkLst>
        <pc:spChg chg="del">
          <ac:chgData name="saadia shabbir" userId="d9738f4059b37fcf" providerId="LiveId" clId="{F50A8E53-EC8E-4D07-B1C6-E77969839915}" dt="2023-03-18T19:29:46.301" v="21" actId="478"/>
          <ac:spMkLst>
            <pc:docMk/>
            <pc:sldMk cId="0" sldId="266"/>
            <ac:spMk id="5" creationId="{00000000-0000-0000-0000-000000000000}"/>
          </ac:spMkLst>
        </pc:spChg>
        <pc:picChg chg="add del mod modCrop">
          <ac:chgData name="saadia shabbir" userId="d9738f4059b37fcf" providerId="LiveId" clId="{F50A8E53-EC8E-4D07-B1C6-E77969839915}" dt="2023-03-18T19:29:43.750" v="20" actId="1076"/>
          <ac:picMkLst>
            <pc:docMk/>
            <pc:sldMk cId="0" sldId="266"/>
            <ac:picMk id="6146" creationId="{00000000-0000-0000-0000-000000000000}"/>
          </ac:picMkLst>
        </pc:picChg>
      </pc:sldChg>
      <pc:sldChg chg="modSp">
        <pc:chgData name="saadia shabbir" userId="d9738f4059b37fcf" providerId="LiveId" clId="{F50A8E53-EC8E-4D07-B1C6-E77969839915}" dt="2023-03-18T19:27:18.238" v="2" actId="732"/>
        <pc:sldMkLst>
          <pc:docMk/>
          <pc:sldMk cId="0" sldId="276"/>
        </pc:sldMkLst>
        <pc:picChg chg="mod modCrop">
          <ac:chgData name="saadia shabbir" userId="d9738f4059b37fcf" providerId="LiveId" clId="{F50A8E53-EC8E-4D07-B1C6-E77969839915}" dt="2023-03-18T19:27:18.238" v="2" actId="732"/>
          <ac:picMkLst>
            <pc:docMk/>
            <pc:sldMk cId="0" sldId="276"/>
            <ac:picMk id="1026" creationId="{00000000-0000-0000-0000-000000000000}"/>
          </ac:picMkLst>
        </pc:picChg>
      </pc:sldChg>
      <pc:sldChg chg="modSp">
        <pc:chgData name="saadia shabbir" userId="d9738f4059b37fcf" providerId="LiveId" clId="{F50A8E53-EC8E-4D07-B1C6-E77969839915}" dt="2023-03-18T19:27:30.880" v="3" actId="732"/>
        <pc:sldMkLst>
          <pc:docMk/>
          <pc:sldMk cId="0" sldId="277"/>
        </pc:sldMkLst>
        <pc:picChg chg="mod modCrop">
          <ac:chgData name="saadia shabbir" userId="d9738f4059b37fcf" providerId="LiveId" clId="{F50A8E53-EC8E-4D07-B1C6-E77969839915}" dt="2023-03-18T19:27:30.880" v="3" actId="732"/>
          <ac:picMkLst>
            <pc:docMk/>
            <pc:sldMk cId="0" sldId="277"/>
            <ac:picMk id="2050" creationId="{00000000-0000-0000-0000-000000000000}"/>
          </ac:picMkLst>
        </pc:picChg>
      </pc:sldChg>
      <pc:sldChg chg="modSp">
        <pc:chgData name="saadia shabbir" userId="d9738f4059b37fcf" providerId="LiveId" clId="{F50A8E53-EC8E-4D07-B1C6-E77969839915}" dt="2023-03-18T19:28:52.571" v="10" actId="1076"/>
        <pc:sldMkLst>
          <pc:docMk/>
          <pc:sldMk cId="0" sldId="278"/>
        </pc:sldMkLst>
        <pc:picChg chg="mod modCrop">
          <ac:chgData name="saadia shabbir" userId="d9738f4059b37fcf" providerId="LiveId" clId="{F50A8E53-EC8E-4D07-B1C6-E77969839915}" dt="2023-03-18T19:28:38.355" v="8" actId="732"/>
          <ac:picMkLst>
            <pc:docMk/>
            <pc:sldMk cId="0" sldId="278"/>
            <ac:picMk id="3074" creationId="{00000000-0000-0000-0000-000000000000}"/>
          </ac:picMkLst>
        </pc:picChg>
        <pc:picChg chg="mod">
          <ac:chgData name="saadia shabbir" userId="d9738f4059b37fcf" providerId="LiveId" clId="{F50A8E53-EC8E-4D07-B1C6-E77969839915}" dt="2023-03-18T19:28:52.571" v="10" actId="1076"/>
          <ac:picMkLst>
            <pc:docMk/>
            <pc:sldMk cId="0" sldId="278"/>
            <ac:picMk id="3075" creationId="{00000000-0000-0000-0000-000000000000}"/>
          </ac:picMkLst>
        </pc:picChg>
      </pc:sldChg>
      <pc:sldChg chg="addSp delSp modSp">
        <pc:chgData name="saadia shabbir" userId="d9738f4059b37fcf" providerId="LiveId" clId="{F50A8E53-EC8E-4D07-B1C6-E77969839915}" dt="2023-03-18T19:29:11.793" v="15" actId="20577"/>
        <pc:sldMkLst>
          <pc:docMk/>
          <pc:sldMk cId="0" sldId="279"/>
        </pc:sldMkLst>
        <pc:spChg chg="mod">
          <ac:chgData name="saadia shabbir" userId="d9738f4059b37fcf" providerId="LiveId" clId="{F50A8E53-EC8E-4D07-B1C6-E77969839915}" dt="2023-03-18T19:29:11.793" v="15" actId="20577"/>
          <ac:spMkLst>
            <pc:docMk/>
            <pc:sldMk cId="0" sldId="279"/>
            <ac:spMk id="2" creationId="{00000000-0000-0000-0000-000000000000}"/>
          </ac:spMkLst>
        </pc:spChg>
        <pc:spChg chg="add mod">
          <ac:chgData name="saadia shabbir" userId="d9738f4059b37fcf" providerId="LiveId" clId="{F50A8E53-EC8E-4D07-B1C6-E77969839915}" dt="2023-03-18T19:29:07.008" v="11" actId="478"/>
          <ac:spMkLst>
            <pc:docMk/>
            <pc:sldMk cId="0" sldId="279"/>
            <ac:spMk id="4" creationId="{65D26F05-CA31-4742-92C4-79283A87FA2C}"/>
          </ac:spMkLst>
        </pc:spChg>
        <pc:picChg chg="del">
          <ac:chgData name="saadia shabbir" userId="d9738f4059b37fcf" providerId="LiveId" clId="{F50A8E53-EC8E-4D07-B1C6-E77969839915}" dt="2023-03-18T19:29:07.008" v="11" actId="478"/>
          <ac:picMkLst>
            <pc:docMk/>
            <pc:sldMk cId="0" sldId="279"/>
            <ac:picMk id="4098" creationId="{00000000-0000-0000-0000-000000000000}"/>
          </ac:picMkLst>
        </pc:picChg>
      </pc:sldChg>
      <pc:sldChg chg="addSp modSp">
        <pc:chgData name="saadia shabbir" userId="d9738f4059b37fcf" providerId="LiveId" clId="{F50A8E53-EC8E-4D07-B1C6-E77969839915}" dt="2023-03-18T19:28:02.874" v="6" actId="1076"/>
        <pc:sldMkLst>
          <pc:docMk/>
          <pc:sldMk cId="0" sldId="280"/>
        </pc:sldMkLst>
        <pc:picChg chg="add mod">
          <ac:chgData name="saadia shabbir" userId="d9738f4059b37fcf" providerId="LiveId" clId="{F50A8E53-EC8E-4D07-B1C6-E77969839915}" dt="2023-03-18T19:28:02.874" v="6" actId="1076"/>
          <ac:picMkLst>
            <pc:docMk/>
            <pc:sldMk cId="0" sldId="280"/>
            <ac:picMk id="4" creationId="{87393BFA-FE80-41C2-A549-7321EF3E0643}"/>
          </ac:picMkLst>
        </pc:picChg>
      </pc:sldChg>
      <pc:sldChg chg="delSp del">
        <pc:chgData name="saadia shabbir" userId="d9738f4059b37fcf" providerId="LiveId" clId="{F50A8E53-EC8E-4D07-B1C6-E77969839915}" dt="2023-03-18T19:28:14.626" v="7" actId="47"/>
        <pc:sldMkLst>
          <pc:docMk/>
          <pc:sldMk cId="0" sldId="281"/>
        </pc:sldMkLst>
        <pc:picChg chg="del">
          <ac:chgData name="saadia shabbir" userId="d9738f4059b37fcf" providerId="LiveId" clId="{F50A8E53-EC8E-4D07-B1C6-E77969839915}" dt="2023-03-18T19:27:56.558" v="4" actId="21"/>
          <ac:picMkLst>
            <pc:docMk/>
            <pc:sldMk cId="0" sldId="281"/>
            <ac:picMk id="5123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C735-ED6D-4776-85A7-377C24D3D2A1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46FA-C135-4CC7-BA81-C22596C49A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C735-ED6D-4776-85A7-377C24D3D2A1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46FA-C135-4CC7-BA81-C22596C49A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C735-ED6D-4776-85A7-377C24D3D2A1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46FA-C135-4CC7-BA81-C22596C49A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C735-ED6D-4776-85A7-377C24D3D2A1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46FA-C135-4CC7-BA81-C22596C49A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C735-ED6D-4776-85A7-377C24D3D2A1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46FA-C135-4CC7-BA81-C22596C49A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C735-ED6D-4776-85A7-377C24D3D2A1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46FA-C135-4CC7-BA81-C22596C49A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C735-ED6D-4776-85A7-377C24D3D2A1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46FA-C135-4CC7-BA81-C22596C49A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C735-ED6D-4776-85A7-377C24D3D2A1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46FA-C135-4CC7-BA81-C22596C49A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C735-ED6D-4776-85A7-377C24D3D2A1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46FA-C135-4CC7-BA81-C22596C49A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C735-ED6D-4776-85A7-377C24D3D2A1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46FA-C135-4CC7-BA81-C22596C49A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C735-ED6D-4776-85A7-377C24D3D2A1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B46FA-C135-4CC7-BA81-C22596C49A0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1C735-ED6D-4776-85A7-377C24D3D2A1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2B46FA-C135-4CC7-BA81-C22596C49A0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Block level and </a:t>
            </a:r>
            <a:r>
              <a:rPr lang="en-US"/>
              <a:t>inline elements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501172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HTML</a:t>
            </a:r>
            <a:r>
              <a:rPr spc="-80" dirty="0"/>
              <a:t> </a:t>
            </a:r>
            <a:r>
              <a:rPr spc="105" dirty="0"/>
              <a:t>Block</a:t>
            </a:r>
            <a:r>
              <a:rPr spc="-80" dirty="0"/>
              <a:t> </a:t>
            </a:r>
            <a:r>
              <a:rPr spc="120" dirty="0"/>
              <a:t>and</a:t>
            </a:r>
            <a:r>
              <a:rPr spc="-75" dirty="0"/>
              <a:t> </a:t>
            </a:r>
            <a:r>
              <a:rPr spc="120" dirty="0"/>
              <a:t>Inline</a:t>
            </a:r>
            <a:r>
              <a:rPr spc="-80" dirty="0"/>
              <a:t> </a:t>
            </a:r>
            <a:r>
              <a:rPr spc="114" dirty="0"/>
              <a:t>Elements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6" y="1568467"/>
            <a:ext cx="5873115" cy="3081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Every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element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has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default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display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value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depending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on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what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type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element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5E686C"/>
                </a:solidFill>
                <a:latin typeface="Tahoma"/>
                <a:cs typeface="Tahoma"/>
              </a:rPr>
              <a:t>it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5E686C"/>
                </a:solidFill>
                <a:latin typeface="Tahoma"/>
                <a:cs typeface="Tahoma"/>
              </a:rPr>
              <a:t>is.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default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display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value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for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most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elements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17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b="1" spc="-110" dirty="0">
                <a:solidFill>
                  <a:srgbClr val="5E686C"/>
                </a:solidFill>
                <a:latin typeface="Tahoma"/>
                <a:cs typeface="Tahoma"/>
              </a:rPr>
              <a:t>block</a:t>
            </a:r>
            <a:r>
              <a:rPr sz="1800" b="1" spc="-13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or</a:t>
            </a:r>
            <a:r>
              <a:rPr sz="1800" spc="-18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5E686C"/>
                </a:solidFill>
                <a:latin typeface="Tahoma"/>
                <a:cs typeface="Tahoma"/>
              </a:rPr>
              <a:t>inline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800">
              <a:latin typeface="Tahoma"/>
              <a:cs typeface="Tahoma"/>
            </a:endParaRPr>
          </a:p>
          <a:p>
            <a:pPr marL="12700" marR="19050">
              <a:lnSpc>
                <a:spcPct val="114599"/>
              </a:lnSpc>
            </a:pPr>
            <a:r>
              <a:rPr sz="1800" spc="1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block-level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element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always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starts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on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new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line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takes up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full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width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available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(stretches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out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left</a:t>
            </a:r>
            <a:r>
              <a:rPr sz="1800" spc="-15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right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as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far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as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5E686C"/>
                </a:solidFill>
                <a:latin typeface="Tahoma"/>
                <a:cs typeface="Tahoma"/>
              </a:rPr>
              <a:t>it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can).</a:t>
            </a:r>
            <a:endParaRPr sz="1800">
              <a:latin typeface="Tahoma"/>
              <a:cs typeface="Tahoma"/>
            </a:endParaRPr>
          </a:p>
          <a:p>
            <a:pPr marL="12700" marR="468630">
              <a:lnSpc>
                <a:spcPct val="114599"/>
              </a:lnSpc>
              <a:spcBef>
                <a:spcPts val="1575"/>
              </a:spcBef>
            </a:pPr>
            <a:r>
              <a:rPr sz="1800" spc="70" dirty="0">
                <a:solidFill>
                  <a:srgbClr val="5E686C"/>
                </a:solidFill>
                <a:latin typeface="Tahoma"/>
                <a:cs typeface="Tahoma"/>
              </a:rPr>
              <a:t>An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inline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element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does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not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start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on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new</a:t>
            </a:r>
            <a:r>
              <a:rPr sz="1800" spc="-16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line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17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only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takes</a:t>
            </a:r>
            <a:r>
              <a:rPr sz="1800" spc="-19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up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as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much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width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as</a:t>
            </a:r>
            <a:r>
              <a:rPr sz="1800" spc="-18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necessary.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8557" y="2490717"/>
            <a:ext cx="2354687" cy="333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3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501172"/>
            <a:ext cx="8229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HTML</a:t>
            </a:r>
            <a:r>
              <a:rPr spc="-80" dirty="0"/>
              <a:t> </a:t>
            </a:r>
            <a:r>
              <a:rPr spc="105" dirty="0"/>
              <a:t>Block</a:t>
            </a:r>
            <a:r>
              <a:rPr spc="-80" dirty="0"/>
              <a:t> </a:t>
            </a:r>
            <a:r>
              <a:rPr spc="120" dirty="0"/>
              <a:t>and</a:t>
            </a:r>
            <a:r>
              <a:rPr spc="-75" dirty="0"/>
              <a:t> </a:t>
            </a:r>
            <a:r>
              <a:rPr spc="120" dirty="0"/>
              <a:t>Inline</a:t>
            </a:r>
            <a:r>
              <a:rPr spc="-80" dirty="0"/>
              <a:t> </a:t>
            </a:r>
            <a:r>
              <a:rPr spc="114" dirty="0"/>
              <a:t>Elements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4" y="1621808"/>
            <a:ext cx="8149675" cy="25263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Example</a:t>
            </a:r>
            <a:r>
              <a:rPr sz="1800" spc="-1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Block</a:t>
            </a:r>
            <a:r>
              <a:rPr sz="1800" spc="-114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Elements:</a:t>
            </a:r>
            <a:endParaRPr sz="1800" dirty="0">
              <a:latin typeface="Tahoma"/>
              <a:cs typeface="Tahoma"/>
            </a:endParaRPr>
          </a:p>
          <a:p>
            <a:pPr marL="1561465" algn="ctr">
              <a:lnSpc>
                <a:spcPct val="100000"/>
              </a:lnSpc>
              <a:spcBef>
                <a:spcPts val="1905"/>
              </a:spcBef>
              <a:tabLst>
                <a:tab pos="2308225" algn="l"/>
                <a:tab pos="3268345" algn="l"/>
                <a:tab pos="4441825" algn="l"/>
                <a:tab pos="5295265" algn="l"/>
                <a:tab pos="6042025" algn="l"/>
              </a:tabLst>
            </a:pPr>
            <a:r>
              <a:rPr sz="2000" dirty="0">
                <a:solidFill>
                  <a:srgbClr val="1B4587"/>
                </a:solidFill>
                <a:latin typeface="Courier New"/>
                <a:cs typeface="Courier New"/>
              </a:rPr>
              <a:t>&lt;p&gt;</a:t>
            </a:r>
            <a:r>
              <a:rPr sz="2000" spc="-25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1B4587"/>
                </a:solidFill>
                <a:latin typeface="Courier New"/>
                <a:cs typeface="Courier New"/>
              </a:rPr>
              <a:t>,</a:t>
            </a:r>
            <a:r>
              <a:rPr sz="2000" dirty="0">
                <a:solidFill>
                  <a:srgbClr val="1B4587"/>
                </a:solidFill>
                <a:latin typeface="Courier New"/>
                <a:cs typeface="Courier New"/>
              </a:rPr>
              <a:t>	&lt;pre&gt;</a:t>
            </a:r>
            <a:r>
              <a:rPr sz="2000" spc="-25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1B4587"/>
                </a:solidFill>
                <a:latin typeface="Courier New"/>
                <a:cs typeface="Courier New"/>
              </a:rPr>
              <a:t>,</a:t>
            </a:r>
            <a:r>
              <a:rPr sz="2000" dirty="0">
                <a:solidFill>
                  <a:srgbClr val="1B4587"/>
                </a:solidFill>
                <a:latin typeface="Courier New"/>
                <a:cs typeface="Courier New"/>
              </a:rPr>
              <a:t>	&lt;table&gt;</a:t>
            </a:r>
            <a:r>
              <a:rPr sz="2000" spc="-45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1B4587"/>
                </a:solidFill>
                <a:latin typeface="Courier New"/>
                <a:cs typeface="Courier New"/>
              </a:rPr>
              <a:t>,</a:t>
            </a:r>
            <a:r>
              <a:rPr sz="2000" dirty="0">
                <a:solidFill>
                  <a:srgbClr val="1B4587"/>
                </a:solidFill>
                <a:latin typeface="Courier New"/>
                <a:cs typeface="Courier New"/>
              </a:rPr>
              <a:t>	&lt;ul&gt;</a:t>
            </a:r>
            <a:r>
              <a:rPr sz="2000" spc="-30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1B4587"/>
                </a:solidFill>
                <a:latin typeface="Courier New"/>
                <a:cs typeface="Courier New"/>
              </a:rPr>
              <a:t>,</a:t>
            </a:r>
            <a:r>
              <a:rPr sz="2000" dirty="0">
                <a:solidFill>
                  <a:srgbClr val="1B4587"/>
                </a:solidFill>
                <a:latin typeface="Courier New"/>
                <a:cs typeface="Courier New"/>
              </a:rPr>
              <a:t>	</a:t>
            </a:r>
            <a:r>
              <a:rPr sz="2000" spc="-10" dirty="0">
                <a:solidFill>
                  <a:srgbClr val="1B4587"/>
                </a:solidFill>
                <a:latin typeface="Courier New"/>
                <a:cs typeface="Courier New"/>
              </a:rPr>
              <a:t>&lt;ol&gt;,</a:t>
            </a:r>
            <a:r>
              <a:rPr sz="2000" dirty="0">
                <a:solidFill>
                  <a:srgbClr val="1B4587"/>
                </a:solidFill>
                <a:latin typeface="Courier New"/>
                <a:cs typeface="Courier New"/>
              </a:rPr>
              <a:t>	</a:t>
            </a:r>
            <a:r>
              <a:rPr sz="2000" spc="-25" dirty="0">
                <a:solidFill>
                  <a:srgbClr val="1B4587"/>
                </a:solidFill>
                <a:latin typeface="Courier New"/>
                <a:cs typeface="Courier New"/>
              </a:rPr>
              <a:t>...</a:t>
            </a:r>
            <a:endParaRPr sz="2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Example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Inline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Elements:</a:t>
            </a:r>
            <a:endParaRPr sz="1800" dirty="0">
              <a:latin typeface="Tahoma"/>
              <a:cs typeface="Tahoma"/>
            </a:endParaRPr>
          </a:p>
          <a:p>
            <a:pPr marL="1561465" algn="ctr">
              <a:lnSpc>
                <a:spcPct val="100000"/>
              </a:lnSpc>
              <a:spcBef>
                <a:spcPts val="1905"/>
              </a:spcBef>
              <a:tabLst>
                <a:tab pos="2521585" algn="l"/>
                <a:tab pos="3268345" algn="l"/>
                <a:tab pos="4015104" algn="l"/>
                <a:tab pos="5295265" algn="l"/>
                <a:tab pos="6468745" algn="l"/>
              </a:tabLst>
            </a:pPr>
            <a:r>
              <a:rPr sz="2000" dirty="0">
                <a:solidFill>
                  <a:srgbClr val="1B4587"/>
                </a:solidFill>
                <a:latin typeface="Courier New"/>
                <a:cs typeface="Courier New"/>
              </a:rPr>
              <a:t>&lt;img&gt;</a:t>
            </a:r>
            <a:r>
              <a:rPr sz="2000" spc="-25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1B4587"/>
                </a:solidFill>
                <a:latin typeface="Courier New"/>
                <a:cs typeface="Courier New"/>
              </a:rPr>
              <a:t>,</a:t>
            </a:r>
            <a:r>
              <a:rPr sz="2000" dirty="0">
                <a:solidFill>
                  <a:srgbClr val="1B4587"/>
                </a:solidFill>
                <a:latin typeface="Courier New"/>
                <a:cs typeface="Courier New"/>
              </a:rPr>
              <a:t>	&lt;a&gt;</a:t>
            </a:r>
            <a:r>
              <a:rPr sz="2000" spc="-25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1B4587"/>
                </a:solidFill>
                <a:latin typeface="Courier New"/>
                <a:cs typeface="Courier New"/>
              </a:rPr>
              <a:t>,</a:t>
            </a:r>
            <a:r>
              <a:rPr sz="2000" dirty="0">
                <a:solidFill>
                  <a:srgbClr val="1B4587"/>
                </a:solidFill>
                <a:latin typeface="Courier New"/>
                <a:cs typeface="Courier New"/>
              </a:rPr>
              <a:t>	&lt;b&gt;</a:t>
            </a:r>
            <a:r>
              <a:rPr sz="2000" spc="-25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1B4587"/>
                </a:solidFill>
                <a:latin typeface="Courier New"/>
                <a:cs typeface="Courier New"/>
              </a:rPr>
              <a:t>,</a:t>
            </a:r>
            <a:r>
              <a:rPr sz="2000" dirty="0">
                <a:solidFill>
                  <a:srgbClr val="1B4587"/>
                </a:solidFill>
                <a:latin typeface="Courier New"/>
                <a:cs typeface="Courier New"/>
              </a:rPr>
              <a:t>	&lt;strong&gt;</a:t>
            </a:r>
            <a:r>
              <a:rPr sz="2000" spc="-40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solidFill>
                  <a:srgbClr val="1B4587"/>
                </a:solidFill>
                <a:latin typeface="Courier New"/>
                <a:cs typeface="Courier New"/>
              </a:rPr>
              <a:t>,</a:t>
            </a:r>
            <a:r>
              <a:rPr sz="2000" dirty="0">
                <a:solidFill>
                  <a:srgbClr val="1B4587"/>
                </a:solidFill>
                <a:latin typeface="Courier New"/>
                <a:cs typeface="Courier New"/>
              </a:rPr>
              <a:t>	&lt;small&gt;</a:t>
            </a:r>
            <a:r>
              <a:rPr sz="2000" spc="-45" dirty="0">
                <a:solidFill>
                  <a:srgbClr val="1B4587"/>
                </a:solidFill>
                <a:latin typeface="Courier New"/>
                <a:cs typeface="Courier New"/>
              </a:rPr>
              <a:t> </a:t>
            </a:r>
            <a:endParaRPr sz="20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731106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LEVEL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525963"/>
          </a:xfrm>
        </p:spPr>
        <p:txBody>
          <a:bodyPr>
            <a:normAutofit/>
          </a:bodyPr>
          <a:lstStyle/>
          <a:p>
            <a:r>
              <a:rPr lang="en-US" sz="2000" dirty="0"/>
              <a:t>.</a:t>
            </a:r>
          </a:p>
          <a:p>
            <a:r>
              <a:rPr lang="en-US" sz="2000" dirty="0"/>
              <a:t>Examples &lt;h1&gt; through &lt;h6&gt;, &lt;p&gt;,&lt;</a:t>
            </a:r>
            <a:r>
              <a:rPr lang="en-US" sz="2000" dirty="0" err="1"/>
              <a:t>ul</a:t>
            </a:r>
            <a:r>
              <a:rPr lang="en-US" sz="2000" dirty="0"/>
              <a:t>&gt;,&lt;table&gt;,&lt;div&gt;,&lt;pre&gt;&lt;address&gt;&lt;article&gt; etc</a:t>
            </a:r>
          </a:p>
          <a:p>
            <a:pPr algn="just"/>
            <a:r>
              <a:rPr lang="en-US" sz="2000" dirty="0"/>
              <a:t> An example of the block-element is the &lt;div&gt; element that can act as the container for other HTML documents. The commonly used attributes with it are style, id, and class</a:t>
            </a:r>
            <a:r>
              <a:rPr lang="en-US" sz="1800" dirty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level elements example</a:t>
            </a:r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447800"/>
            <a:ext cx="80772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3810000"/>
            <a:ext cx="80772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8763000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457200"/>
            <a:ext cx="83058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 element with style attribute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676400"/>
            <a:ext cx="7772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3886200"/>
            <a:ext cx="82296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rmAutofit fontScale="90000"/>
          </a:bodyPr>
          <a:lstStyle/>
          <a:p>
            <a:r>
              <a:rPr lang="en-US" dirty="0"/>
              <a:t>Div element with style attribute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905000"/>
            <a:ext cx="75438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685800" y="1066800"/>
            <a:ext cx="75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want to get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rmAutofit fontScale="90000"/>
          </a:bodyPr>
          <a:lstStyle/>
          <a:p>
            <a:r>
              <a:rPr lang="en-US" dirty="0"/>
              <a:t>Div element with style attribute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762000"/>
            <a:ext cx="8839200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FE81862-570F-4B7E-BB04-3BF5203D5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FF01B-D998-4242-B83D-6135CA7EA47D}" type="datetime1">
              <a:rPr lang="en-US" altLang="en-US"/>
              <a:pPr/>
              <a:t>10/21/2024</a:t>
            </a:fld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97E3BE8-708B-4DDC-B453-3BDDE75ED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Using Cascading Style Sheets</a:t>
            </a:r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AD16252-B42D-4234-AC0E-1FC11FBBC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slide </a:t>
            </a:r>
            <a:fld id="{F528D831-5F5E-4BBC-B50C-60D95C2B0F4B}" type="slidenum">
              <a:rPr lang="en-US" altLang="en-US"/>
              <a:pPr/>
              <a:t>11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xmlns="" id="{B0890EDE-8E4F-4AF7-8804-533298814A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57199"/>
          </a:xfrm>
          <a:ln/>
        </p:spPr>
        <p:txBody>
          <a:bodyPr>
            <a:normAutofit fontScale="90000"/>
          </a:bodyPr>
          <a:lstStyle/>
          <a:p>
            <a:r>
              <a:rPr lang="en-US" altLang="en-US" dirty="0"/>
              <a:t>Classes and IDs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xmlns="" id="{F589725B-6DA5-416A-82E9-4CAACDA3FB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838200"/>
            <a:ext cx="8458200" cy="5287963"/>
          </a:xfrm>
          <a:ln/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altLang="en-US" sz="2400" dirty="0">
                <a:latin typeface="Times" panose="02020603050405020304" pitchFamily="18" charset="0"/>
                <a:cs typeface="Times" panose="02020603050405020304" pitchFamily="18" charset="0"/>
              </a:rPr>
              <a:t>HTML has two attributes that make CSS even more useful: </a:t>
            </a:r>
            <a:r>
              <a:rPr lang="en-US" altLang="en-US" sz="2400" i="1" dirty="0">
                <a:latin typeface="Times" panose="02020603050405020304" pitchFamily="18" charset="0"/>
                <a:cs typeface="Times" panose="02020603050405020304" pitchFamily="18" charset="0"/>
              </a:rPr>
              <a:t>class</a:t>
            </a:r>
            <a:r>
              <a:rPr lang="en-US" altLang="en-US" sz="2400" dirty="0">
                <a:latin typeface="Times" panose="02020603050405020304" pitchFamily="18" charset="0"/>
                <a:cs typeface="Times" panose="02020603050405020304" pitchFamily="18" charset="0"/>
              </a:rPr>
              <a:t> and </a:t>
            </a:r>
            <a:r>
              <a:rPr lang="en-US" altLang="en-US" sz="2400" i="1" dirty="0">
                <a:latin typeface="Times" panose="02020603050405020304" pitchFamily="18" charset="0"/>
                <a:cs typeface="Times" panose="02020603050405020304" pitchFamily="18" charset="0"/>
              </a:rPr>
              <a:t>ID</a:t>
            </a:r>
            <a:r>
              <a:rPr lang="en-US" altLang="en-US" sz="2400" dirty="0">
                <a:latin typeface="Times" panose="02020603050405020304" pitchFamily="18" charset="0"/>
                <a:cs typeface="Times" panose="02020603050405020304" pitchFamily="18" charset="0"/>
              </a:rPr>
              <a:t>.  They make it easy to apply style to just about any tag.</a:t>
            </a:r>
          </a:p>
          <a:p>
            <a:pPr>
              <a:lnSpc>
                <a:spcPct val="80000"/>
              </a:lnSpc>
            </a:pPr>
            <a:r>
              <a:rPr lang="en-US" altLang="en-US" sz="2400" dirty="0">
                <a:latin typeface="Times" panose="02020603050405020304" pitchFamily="18" charset="0"/>
                <a:cs typeface="Times" panose="02020603050405020304" pitchFamily="18" charset="0"/>
              </a:rPr>
              <a:t>Classes can describe a generic style that can be applied to any HTML element, or can be created for specific elements. </a:t>
            </a:r>
          </a:p>
          <a:p>
            <a:pPr>
              <a:lnSpc>
                <a:spcPct val="80000"/>
              </a:lnSpc>
            </a:pPr>
            <a:r>
              <a:rPr lang="en-US" altLang="en-US" sz="2400" dirty="0">
                <a:latin typeface="Times" panose="02020603050405020304" pitchFamily="18" charset="0"/>
                <a:cs typeface="Times" panose="02020603050405020304" pitchFamily="18" charset="0"/>
              </a:rPr>
              <a:t>When defining a style for elements with a particular class attribute in the Style Sheet, declare a rule using a dot (.) followed by the class name.  </a:t>
            </a:r>
            <a:r>
              <a:rPr lang="en-US" altLang="en-US" sz="2400" dirty="0" smtClean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  <a:endParaRPr lang="en-US" altLang="en-US" sz="24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lvl="1">
              <a:lnSpc>
                <a:spcPct val="80000"/>
              </a:lnSpc>
            </a:pPr>
            <a:r>
              <a:rPr lang="en-US" altLang="en-US" sz="2400" dirty="0">
                <a:latin typeface="Times" panose="02020603050405020304" pitchFamily="18" charset="0"/>
                <a:cs typeface="Times" panose="02020603050405020304" pitchFamily="18" charset="0"/>
              </a:rPr>
              <a:t>The following rule would apply to any element with the attribute </a:t>
            </a:r>
            <a:r>
              <a:rPr lang="en-US" alt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class=“shade"</a:t>
            </a:r>
          </a:p>
          <a:p>
            <a:pPr lvl="1">
              <a:lnSpc>
                <a:spcPct val="80000"/>
              </a:lnSpc>
              <a:buFont typeface="Times" panose="02020603050405020304" pitchFamily="18" charset="0"/>
              <a:buNone/>
            </a:pPr>
            <a:r>
              <a:rPr lang="en-US" altLang="en-US" sz="2400" dirty="0">
                <a:latin typeface="Times" panose="02020603050405020304" pitchFamily="18" charset="0"/>
                <a:cs typeface="Times" panose="02020603050405020304" pitchFamily="18" charset="0"/>
              </a:rPr>
              <a:t>	  </a:t>
            </a:r>
            <a:r>
              <a:rPr lang="en-US" altLang="en-US" sz="2400" dirty="0">
                <a:solidFill>
                  <a:srgbClr val="9A0B09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.shade { background: yellow; }</a:t>
            </a:r>
          </a:p>
          <a:p>
            <a:pPr lvl="1">
              <a:lnSpc>
                <a:spcPct val="80000"/>
              </a:lnSpc>
            </a:pPr>
            <a:r>
              <a:rPr lang="en-US" altLang="en-US" sz="2400" dirty="0">
                <a:latin typeface="Times" panose="02020603050405020304" pitchFamily="18" charset="0"/>
                <a:cs typeface="Times" panose="02020603050405020304" pitchFamily="18" charset="0"/>
              </a:rPr>
              <a:t>The following rule would apply only to paragraph tags with the class </a:t>
            </a:r>
            <a:r>
              <a:rPr lang="en-US" altLang="en-US" sz="2400" b="1" dirty="0">
                <a:latin typeface="Times" panose="02020603050405020304" pitchFamily="18" charset="0"/>
                <a:cs typeface="Times" panose="02020603050405020304" pitchFamily="18" charset="0"/>
              </a:rPr>
              <a:t>shade</a:t>
            </a:r>
            <a:r>
              <a:rPr lang="en-US" altLang="en-US" sz="2400" dirty="0">
                <a:latin typeface="Times" panose="02020603050405020304" pitchFamily="18" charset="0"/>
                <a:cs typeface="Times" panose="02020603050405020304" pitchFamily="18" charset="0"/>
              </a:rPr>
              <a:t> (&lt;p class="shade"&gt;)</a:t>
            </a:r>
          </a:p>
          <a:p>
            <a:pPr lvl="1">
              <a:lnSpc>
                <a:spcPct val="80000"/>
              </a:lnSpc>
              <a:buFont typeface="Times" panose="02020603050405020304" pitchFamily="18" charset="0"/>
              <a:buNone/>
            </a:pPr>
            <a:r>
              <a:rPr lang="en-US" altLang="en-US" sz="2400" dirty="0">
                <a:latin typeface="Times" panose="02020603050405020304" pitchFamily="18" charset="0"/>
                <a:cs typeface="Times" panose="02020603050405020304" pitchFamily="18" charset="0"/>
              </a:rPr>
              <a:t>	  </a:t>
            </a:r>
            <a:r>
              <a:rPr lang="en-US" altLang="en-US" sz="2400" dirty="0" err="1">
                <a:solidFill>
                  <a:srgbClr val="9A0B09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p.shade</a:t>
            </a:r>
            <a:r>
              <a:rPr lang="en-US" altLang="en-US" sz="2400" dirty="0">
                <a:solidFill>
                  <a:srgbClr val="9A0B09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{ background: red; 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xmlns="" id="{DA08C395-CC6C-4B37-9256-5D6334613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B97FB-7E96-4067-A8F0-44D8A08CB4C7}" type="datetime1">
              <a:rPr lang="en-US" altLang="en-US"/>
              <a:pPr/>
              <a:t>10/21/2024</a:t>
            </a:fld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xmlns="" id="{E18E0E2B-DADA-4C55-B909-3F7BCD754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Using Cascading Style Sheets</a:t>
            </a:r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7685F063-441F-4BAB-A429-C12770684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/>
              <a:t>slide </a:t>
            </a:r>
            <a:fld id="{EB4B98E9-E0B2-423C-A9A2-04D5ED52774D}" type="slidenum">
              <a:rPr lang="en-US" altLang="en-US"/>
              <a:pPr/>
              <a:t>12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xmlns="" id="{30E485EC-FC11-4624-A1B8-2C321054AE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en-US"/>
              <a:t>Class example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xmlns="" id="{CF4DBC54-5FB5-48FC-B051-43928DC8A0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altLang="en-US"/>
              <a:t>Here’s an example of a web page with an internal CSS style with a class called “highlight”:</a:t>
            </a:r>
          </a:p>
        </p:txBody>
      </p:sp>
      <p:pic>
        <p:nvPicPr>
          <p:cNvPr id="40964" name="Picture 4">
            <a:extLst>
              <a:ext uri="{FF2B5EF4-FFF2-40B4-BE49-F238E27FC236}">
                <a16:creationId xmlns:a16="http://schemas.microsoft.com/office/drawing/2014/main" xmlns="" id="{428C116C-E67A-47BE-810A-AF7CDDAAE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667000"/>
            <a:ext cx="4724400" cy="3124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65" name="Picture 5">
            <a:extLst>
              <a:ext uri="{FF2B5EF4-FFF2-40B4-BE49-F238E27FC236}">
                <a16:creationId xmlns:a16="http://schemas.microsoft.com/office/drawing/2014/main" xmlns="" id="{53AA697C-B386-496B-8D6F-34A64FFB6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1175" y="3643313"/>
            <a:ext cx="2819400" cy="1195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class attribute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HTML class attribute is used to specify a class for an HTML element.</a:t>
            </a:r>
          </a:p>
          <a:p>
            <a:r>
              <a:rPr lang="en-US" dirty="0"/>
              <a:t>Multiple HTML elements can share the same class.</a:t>
            </a:r>
          </a:p>
          <a:p>
            <a:r>
              <a:rPr lang="en-US" dirty="0"/>
              <a:t>The class attribute is often used to point to a class name in a style sheet. </a:t>
            </a:r>
          </a:p>
          <a:p>
            <a:r>
              <a:rPr lang="en-US" dirty="0"/>
              <a:t>It can also be used by a JavaScript to access and manipulate elements with the specific class name.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/>
              <a:t>Syntax for class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print"/>
          <a:srcRect b="22666"/>
          <a:stretch/>
        </p:blipFill>
        <p:spPr bwMode="auto">
          <a:xfrm>
            <a:off x="304800" y="914400"/>
            <a:ext cx="80772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print"/>
          <a:srcRect b="29114"/>
          <a:stretch/>
        </p:blipFill>
        <p:spPr bwMode="auto">
          <a:xfrm>
            <a:off x="457200" y="609600"/>
            <a:ext cx="82296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classes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print"/>
          <a:srcRect t="1493" b="49253"/>
          <a:stretch/>
        </p:blipFill>
        <p:spPr bwMode="auto">
          <a:xfrm>
            <a:off x="381000" y="1524000"/>
            <a:ext cx="78486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42260" y="3663949"/>
            <a:ext cx="6286500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 element as class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 cstate="print"/>
          <a:srcRect b="76923"/>
          <a:stretch/>
        </p:blipFill>
        <p:spPr bwMode="auto">
          <a:xfrm>
            <a:off x="685800" y="3440112"/>
            <a:ext cx="4419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1676400"/>
            <a:ext cx="3733800" cy="173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Html id attribute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HTML id attribute is used to specify a unique id for an HTML element.</a:t>
            </a:r>
          </a:p>
          <a:p>
            <a:endParaRPr lang="en-US" dirty="0"/>
          </a:p>
          <a:p>
            <a:r>
              <a:rPr lang="en-US" dirty="0"/>
              <a:t>You cannot have more than one element with the same id in an HTML document.</a:t>
            </a:r>
          </a:p>
          <a:p>
            <a:pPr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The syntax for id is: write a hash character (#), followed by an id name. Then, define the CSS properties within curly braces {}.</a:t>
            </a:r>
          </a:p>
          <a:p>
            <a:endParaRPr lang="en-US" sz="2800" dirty="0"/>
          </a:p>
          <a:p>
            <a:r>
              <a:rPr lang="en-US" sz="2800" dirty="0"/>
              <a:t>The id name is case sensitive!</a:t>
            </a:r>
          </a:p>
          <a:p>
            <a:endParaRPr lang="en-US" sz="2800" dirty="0"/>
          </a:p>
          <a:p>
            <a:r>
              <a:rPr lang="en-US" sz="2800" dirty="0"/>
              <a:t>The id name must contain at least one character, cannot start with a number, and must not contain whitespaces (spaces, tabs, etc.).</a:t>
            </a:r>
          </a:p>
          <a:p>
            <a:pPr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pPr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id attribute</a:t>
            </a:r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143000"/>
            <a:ext cx="67818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86200" y="5019675"/>
            <a:ext cx="4686300" cy="183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Difference between class and 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r>
              <a:rPr lang="en-US" sz="2000" dirty="0"/>
              <a:t>A class name can be used by multiple HTML elements, while an id name must only be used by one HTML element within the page</a:t>
            </a:r>
          </a:p>
          <a:p>
            <a:endParaRPr lang="en-US" dirty="0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810000"/>
            <a:ext cx="72390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1447800"/>
            <a:ext cx="7467600" cy="229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and id selectors</a:t>
            </a:r>
          </a:p>
        </p:txBody>
      </p:sp>
      <p:pic>
        <p:nvPicPr>
          <p:cNvPr id="450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447800"/>
            <a:ext cx="7696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and id selectors</a:t>
            </a:r>
          </a:p>
        </p:txBody>
      </p:sp>
      <p:pic>
        <p:nvPicPr>
          <p:cNvPr id="460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371600"/>
            <a:ext cx="79248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71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600200"/>
            <a:ext cx="7696200" cy="380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304800" y="2743200"/>
            <a:ext cx="7772400" cy="1219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selector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universal selector (*) selects all HTML elements on the page</a:t>
            </a:r>
          </a:p>
          <a:p>
            <a:r>
              <a:rPr lang="en-US" dirty="0"/>
              <a:t>&lt;style&gt;</a:t>
            </a:r>
          </a:p>
          <a:p>
            <a:pPr>
              <a:buNone/>
            </a:pPr>
            <a:r>
              <a:rPr lang="en-US" dirty="0"/>
              <a:t>      * {</a:t>
            </a:r>
          </a:p>
          <a:p>
            <a:pPr>
              <a:buNone/>
            </a:pPr>
            <a:r>
              <a:rPr lang="en-US" dirty="0"/>
              <a:t>      text-align: center;</a:t>
            </a:r>
          </a:p>
          <a:p>
            <a:pPr>
              <a:buNone/>
            </a:pPr>
            <a:r>
              <a:rPr lang="en-US" dirty="0"/>
              <a:t>      color: blue;</a:t>
            </a:r>
          </a:p>
          <a:p>
            <a:pPr>
              <a:buNone/>
            </a:pPr>
            <a:r>
              <a:rPr lang="en-US" dirty="0"/>
              <a:t>      }</a:t>
            </a:r>
          </a:p>
          <a:p>
            <a:pPr>
              <a:buNone/>
            </a:pPr>
            <a:r>
              <a:rPr lang="en-US" dirty="0"/>
              <a:t>      &lt;/style&gt;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BB0B1-F5A1-4ED6-814D-7F67699B7935}" type="slidenum">
              <a:rPr lang="en-US" smtClean="0"/>
              <a:pPr/>
              <a:t>26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GROUPING SELECTOR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Basharat Mahm ood, Department of Computer Science, CIIT,Islamabad, Pakistan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BB0B1-F5A1-4ED6-814D-7F67699B7935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295400"/>
            <a:ext cx="78486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GROUPING SELECTOR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Basharat Mahm ood, Department of Computer Science, CIIT,Islamabad, Pakistan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BB0B1-F5A1-4ED6-814D-7F67699B7935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371600"/>
            <a:ext cx="83820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PSEUDO SELECTOR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Basharat Mahm ood, Department of Computer Science, CIIT,Islamabad, Pakistan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BB0B1-F5A1-4ED6-814D-7F67699B7935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t="61404"/>
          <a:stretch>
            <a:fillRect/>
          </a:stretch>
        </p:blipFill>
        <p:spPr bwMode="auto">
          <a:xfrm>
            <a:off x="457200" y="4419600"/>
            <a:ext cx="8229600" cy="1676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381000" y="1447800"/>
            <a:ext cx="8001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/>
              <a:t> A pseudo-class is used to define a special state of an element.</a:t>
            </a:r>
          </a:p>
          <a:p>
            <a:pPr>
              <a:buFont typeface="Wingdings" pitchFamily="2" charset="2"/>
              <a:buChar char="§"/>
            </a:pPr>
            <a:endParaRPr lang="en-US" dirty="0"/>
          </a:p>
          <a:p>
            <a:pPr>
              <a:buFont typeface="Wingdings" pitchFamily="2" charset="2"/>
              <a:buChar char="§"/>
            </a:pPr>
            <a:r>
              <a:rPr lang="en-US" dirty="0"/>
              <a:t>For example, it can be used to:</a:t>
            </a:r>
          </a:p>
          <a:p>
            <a:endParaRPr lang="en-US" dirty="0"/>
          </a:p>
          <a:p>
            <a:r>
              <a:rPr lang="en-US" dirty="0"/>
              <a:t>Style an element when a user </a:t>
            </a:r>
            <a:r>
              <a:rPr lang="en-US" dirty="0" err="1"/>
              <a:t>mouses</a:t>
            </a:r>
            <a:r>
              <a:rPr lang="en-US" dirty="0"/>
              <a:t> over it</a:t>
            </a:r>
          </a:p>
          <a:p>
            <a:r>
              <a:rPr lang="en-US" dirty="0"/>
              <a:t>Style visited and unvisited links differently</a:t>
            </a:r>
          </a:p>
          <a:p>
            <a:r>
              <a:rPr lang="en-US" dirty="0"/>
              <a:t>Style an element when it gets focus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Basharat Mahm ood, Department of Computer Science, CIIT,Islamabad, Pakistan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BB0B1-F5A1-4ED6-814D-7F67699B7935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381000"/>
            <a:ext cx="769620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Inline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inline element does not start on a new line.</a:t>
            </a:r>
          </a:p>
          <a:p>
            <a:r>
              <a:rPr lang="en-US" dirty="0"/>
              <a:t>Inline elements are normally displayed without breaks </a:t>
            </a:r>
          </a:p>
          <a:p>
            <a:r>
              <a:rPr lang="en-US" dirty="0"/>
              <a:t>An inline element only takes up as much width as necessary.</a:t>
            </a:r>
          </a:p>
          <a:p>
            <a:r>
              <a:rPr lang="en-US" dirty="0"/>
              <a:t> example &lt;b&gt;&lt;td&gt;&lt;</a:t>
            </a:r>
            <a:r>
              <a:rPr lang="en-US" dirty="0" err="1"/>
              <a:t>img</a:t>
            </a:r>
            <a:r>
              <a:rPr lang="en-US" dirty="0"/>
              <a:t>&gt;&lt;a&gt;&lt;span&gt; etc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t="40476" b="16667"/>
          <a:stretch>
            <a:fillRect/>
          </a:stretch>
        </p:blipFill>
        <p:spPr bwMode="auto">
          <a:xfrm>
            <a:off x="457200" y="1828800"/>
            <a:ext cx="8001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 cstate="print"/>
          <a:srcRect t="67027"/>
          <a:stretch>
            <a:fillRect/>
          </a:stretch>
        </p:blipFill>
        <p:spPr bwMode="auto">
          <a:xfrm>
            <a:off x="685800" y="3352800"/>
            <a:ext cx="7239000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609600" y="838200"/>
            <a:ext cx="8001000" cy="1143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62000" y="3276600"/>
            <a:ext cx="502920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</TotalTime>
  <Words>636</Words>
  <Application>Microsoft Office PowerPoint</Application>
  <PresentationFormat>On-screen Show (4:3)</PresentationFormat>
  <Paragraphs>98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Block level and inline elements</vt:lpstr>
      <vt:lpstr>HTML Block and Inline Elements</vt:lpstr>
      <vt:lpstr>HTML Block and Inline Elements</vt:lpstr>
      <vt:lpstr>BLOCK LEVEL ELEMENTS</vt:lpstr>
      <vt:lpstr>Block level elements example</vt:lpstr>
      <vt:lpstr>PowerPoint Presentation</vt:lpstr>
      <vt:lpstr>PowerPoint Presentation</vt:lpstr>
      <vt:lpstr>Div element with style attribute</vt:lpstr>
      <vt:lpstr>Div element with style attribute</vt:lpstr>
      <vt:lpstr>Div element with style attribute</vt:lpstr>
      <vt:lpstr>Classes and IDs</vt:lpstr>
      <vt:lpstr>Class example</vt:lpstr>
      <vt:lpstr>HTML class attribute</vt:lpstr>
      <vt:lpstr>Syntax for class</vt:lpstr>
      <vt:lpstr>PowerPoint Presentation</vt:lpstr>
      <vt:lpstr>Multiple classes</vt:lpstr>
      <vt:lpstr>Div element as class</vt:lpstr>
      <vt:lpstr>PowerPoint Presentation</vt:lpstr>
      <vt:lpstr>PowerPoint Presentation</vt:lpstr>
      <vt:lpstr>PowerPoint Presentation</vt:lpstr>
      <vt:lpstr>Example of id attribute</vt:lpstr>
      <vt:lpstr>Difference between class and id</vt:lpstr>
      <vt:lpstr>Class and id selectors</vt:lpstr>
      <vt:lpstr>Class and id selectors</vt:lpstr>
      <vt:lpstr>PowerPoint Presentation</vt:lpstr>
      <vt:lpstr>Universal selector</vt:lpstr>
      <vt:lpstr>CSS GROUPING SELECTOR</vt:lpstr>
      <vt:lpstr>CSS GROUPING SELECTOR</vt:lpstr>
      <vt:lpstr>CSS PSEUDO SELECTOR</vt:lpstr>
      <vt:lpstr>PowerPoint Presentation</vt:lpstr>
      <vt:lpstr>Inline elements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saadia</dc:creator>
  <cp:lastModifiedBy>Sadi Shabbit</cp:lastModifiedBy>
  <cp:revision>14</cp:revision>
  <dcterms:created xsi:type="dcterms:W3CDTF">2022-03-28T00:16:45Z</dcterms:created>
  <dcterms:modified xsi:type="dcterms:W3CDTF">2024-10-21T12:31:42Z</dcterms:modified>
</cp:coreProperties>
</file>