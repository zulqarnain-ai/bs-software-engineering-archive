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3" r:id="rId17"/>
    <p:sldId id="290" r:id="rId18"/>
    <p:sldId id="291" r:id="rId19"/>
    <p:sldId id="293" r:id="rId20"/>
    <p:sldId id="294" r:id="rId21"/>
    <p:sldId id="295" r:id="rId22"/>
    <p:sldId id="296" r:id="rId23"/>
    <p:sldId id="297" r:id="rId24"/>
    <p:sldId id="298" r:id="rId25"/>
    <p:sldId id="299" r:id="rId26"/>
    <p:sldId id="300" r:id="rId27"/>
    <p:sldId id="30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7E4D3F-B814-4A51-8291-DC4F60C0E6C7}"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A9135F-6182-46E1-BFCA-623A0973B247}" type="slidenum">
              <a:rPr lang="en-US" smtClean="0"/>
              <a:t>‹#›</a:t>
            </a:fld>
            <a:endParaRPr lang="en-US"/>
          </a:p>
        </p:txBody>
      </p:sp>
    </p:spTree>
    <p:extLst>
      <p:ext uri="{BB962C8B-B14F-4D97-AF65-F5344CB8AC3E}">
        <p14:creationId xmlns:p14="http://schemas.microsoft.com/office/powerpoint/2010/main" val="117228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https://reactrouter.com/start/framework/routing</a:t>
            </a:r>
          </a:p>
          <a:p>
            <a:r>
              <a:rPr lang="en-US" sz="1200" b="0" i="0" kern="1200" dirty="0">
                <a:solidFill>
                  <a:schemeClr val="tx1"/>
                </a:solidFill>
                <a:effectLst/>
                <a:latin typeface="+mn-lt"/>
                <a:ea typeface="+mn-ea"/>
                <a:cs typeface="+mn-cs"/>
              </a:rPr>
              <a:t>React Strict Mode is a developer tool highlighting potential bugs or issues in a React application's codebase. It provides warnings to developers as feedback for errors that occur in an application, with no effect on the result because it does not render any visible UI.</a:t>
            </a:r>
            <a:endParaRPr lang="en-US" dirty="0"/>
          </a:p>
        </p:txBody>
      </p:sp>
      <p:sp>
        <p:nvSpPr>
          <p:cNvPr id="4" name="Slide Number Placeholder 3"/>
          <p:cNvSpPr>
            <a:spLocks noGrp="1"/>
          </p:cNvSpPr>
          <p:nvPr>
            <p:ph type="sldNum" sz="quarter" idx="10"/>
          </p:nvPr>
        </p:nvSpPr>
        <p:spPr/>
        <p:txBody>
          <a:bodyPr/>
          <a:lstStyle/>
          <a:p>
            <a:fld id="{8E40E316-2DB3-4563-A2AE-32F3867345CC}" type="slidenum">
              <a:rPr lang="en-US" smtClean="0"/>
              <a:t>18</a:t>
            </a:fld>
            <a:endParaRPr lang="en-US"/>
          </a:p>
        </p:txBody>
      </p:sp>
    </p:spTree>
    <p:extLst>
      <p:ext uri="{BB962C8B-B14F-4D97-AF65-F5344CB8AC3E}">
        <p14:creationId xmlns:p14="http://schemas.microsoft.com/office/powerpoint/2010/main" val="2049394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Browser Router</a:t>
            </a:r>
            <a:r>
              <a:rPr lang="en-US" dirty="0"/>
              <a:t>:  client-side routing (Cust.edu.pk)</a:t>
            </a:r>
            <a:r>
              <a:rPr lang="en-US" baseline="0" dirty="0"/>
              <a:t> each time page refresh and fetch from server while client-side routing (https://react.dev/) not fetch from server.</a:t>
            </a:r>
          </a:p>
          <a:p>
            <a:r>
              <a:rPr lang="en-US" dirty="0"/>
              <a:t>browser history API (</a:t>
            </a:r>
            <a:r>
              <a:rPr lang="en-US" sz="1200" b="0" i="0" kern="1200" dirty="0">
                <a:solidFill>
                  <a:schemeClr val="tx1"/>
                </a:solidFill>
                <a:effectLst/>
                <a:latin typeface="+mn-lt"/>
                <a:ea typeface="+mn-ea"/>
                <a:cs typeface="+mn-cs"/>
              </a:rPr>
              <a:t>The History API </a:t>
            </a:r>
            <a:r>
              <a:rPr lang="en-US" sz="1200" b="1" i="0" kern="1200" dirty="0">
                <a:solidFill>
                  <a:schemeClr val="tx1"/>
                </a:solidFill>
                <a:effectLst/>
                <a:latin typeface="+mn-lt"/>
                <a:ea typeface="+mn-ea"/>
                <a:cs typeface="+mn-cs"/>
              </a:rPr>
              <a:t>provides access to the browser's session history</a:t>
            </a:r>
            <a:r>
              <a:rPr lang="en-US" sz="1200" b="0" i="0" kern="1200" dirty="0">
                <a:solidFill>
                  <a:schemeClr val="tx1"/>
                </a:solidFill>
                <a:effectLst/>
                <a:latin typeface="+mn-lt"/>
                <a:ea typeface="+mn-ea"/>
                <a:cs typeface="+mn-cs"/>
              </a:rPr>
              <a:t> (not to be confused with </a:t>
            </a:r>
            <a:r>
              <a:rPr lang="en-US" sz="1200" b="0" i="0" kern="1200" dirty="0" err="1">
                <a:solidFill>
                  <a:schemeClr val="tx1"/>
                </a:solidFill>
                <a:effectLst/>
                <a:latin typeface="+mn-lt"/>
                <a:ea typeface="+mn-ea"/>
                <a:cs typeface="+mn-cs"/>
              </a:rPr>
              <a:t>WebExtensions</a:t>
            </a:r>
            <a:r>
              <a:rPr lang="en-US" sz="1200" b="0" i="0" kern="1200" dirty="0">
                <a:solidFill>
                  <a:schemeClr val="tx1"/>
                </a:solidFill>
                <a:effectLst/>
                <a:latin typeface="+mn-lt"/>
                <a:ea typeface="+mn-ea"/>
                <a:cs typeface="+mn-cs"/>
              </a:rPr>
              <a:t> history) </a:t>
            </a:r>
            <a:r>
              <a:rPr lang="en-US" dirty="0"/>
              <a:t>): Back arrow forward arrow happen</a:t>
            </a:r>
            <a:r>
              <a:rPr lang="en-US" baseline="0" dirty="0"/>
              <a:t> due to history.</a:t>
            </a:r>
          </a:p>
          <a:p>
            <a:r>
              <a:rPr lang="en-US" b="1" dirty="0"/>
              <a:t>Routes: </a:t>
            </a:r>
            <a:r>
              <a:rPr lang="en-US" b="1" dirty="0" err="1"/>
              <a:t>Kis</a:t>
            </a:r>
            <a:r>
              <a:rPr lang="en-US" b="1" dirty="0"/>
              <a:t> path </a:t>
            </a:r>
            <a:r>
              <a:rPr lang="en-US" b="1" dirty="0" err="1"/>
              <a:t>py</a:t>
            </a:r>
            <a:r>
              <a:rPr lang="en-US" b="1" dirty="0"/>
              <a:t> </a:t>
            </a:r>
            <a:r>
              <a:rPr lang="en-US" b="1" dirty="0" err="1"/>
              <a:t>konsa</a:t>
            </a:r>
            <a:r>
              <a:rPr lang="en-US" b="1" dirty="0"/>
              <a:t> page open ho </a:t>
            </a:r>
            <a:r>
              <a:rPr lang="en-US" b="1" dirty="0" err="1"/>
              <a:t>raha</a:t>
            </a:r>
            <a:r>
              <a:rPr lang="en-US" b="1" dirty="0"/>
              <a:t> </a:t>
            </a:r>
            <a:r>
              <a:rPr lang="en-US" b="1" dirty="0" err="1"/>
              <a:t>hai</a:t>
            </a:r>
            <a:r>
              <a:rPr lang="en-US" b="1" dirty="0"/>
              <a:t>.</a:t>
            </a:r>
            <a:endParaRPr lang="en-US" dirty="0"/>
          </a:p>
        </p:txBody>
      </p:sp>
      <p:sp>
        <p:nvSpPr>
          <p:cNvPr id="4" name="Slide Number Placeholder 3"/>
          <p:cNvSpPr>
            <a:spLocks noGrp="1"/>
          </p:cNvSpPr>
          <p:nvPr>
            <p:ph type="sldNum" sz="quarter" idx="10"/>
          </p:nvPr>
        </p:nvSpPr>
        <p:spPr/>
        <p:txBody>
          <a:bodyPr/>
          <a:lstStyle/>
          <a:p>
            <a:fld id="{8E40E316-2DB3-4563-A2AE-32F3867345CC}" type="slidenum">
              <a:rPr lang="en-US" smtClean="0"/>
              <a:t>19</a:t>
            </a:fld>
            <a:endParaRPr lang="en-US"/>
          </a:p>
        </p:txBody>
      </p:sp>
    </p:spTree>
    <p:extLst>
      <p:ext uri="{BB962C8B-B14F-4D97-AF65-F5344CB8AC3E}">
        <p14:creationId xmlns:p14="http://schemas.microsoft.com/office/powerpoint/2010/main" val="3954204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EBDE3A-332A-412B-9113-4E75BB2EE6A3}" type="datetimeFigureOut">
              <a:rPr lang="en-US" smtClean="0"/>
              <a:t>11/18/2025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1691085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EBDE3A-332A-412B-9113-4E75BB2EE6A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3100894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EBDE3A-332A-412B-9113-4E75BB2EE6A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2208537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EBDE3A-332A-412B-9113-4E75BB2EE6A3}"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3299069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EBDE3A-332A-412B-9113-4E75BB2EE6A3}"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112614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EBDE3A-332A-412B-9113-4E75BB2EE6A3}" type="datetimeFigureOut">
              <a:rPr lang="en-US" smtClean="0"/>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3640227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EBDE3A-332A-412B-9113-4E75BB2EE6A3}" type="datetimeFigureOut">
              <a:rPr lang="en-US" smtClean="0"/>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655208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EBDE3A-332A-412B-9113-4E75BB2EE6A3}"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3475410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EBDE3A-332A-412B-9113-4E75BB2EE6A3}"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335861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EBDE3A-332A-412B-9113-4E75BB2EE6A3}"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1861360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EBDE3A-332A-412B-9113-4E75BB2EE6A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5702897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EBDE3A-332A-412B-9113-4E75BB2EE6A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3366283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EBDE3A-332A-412B-9113-4E75BB2EE6A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25241358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EBDE3A-332A-412B-9113-4E75BB2EE6A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194514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EBDE3A-332A-412B-9113-4E75BB2EE6A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3875159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EBDE3A-332A-412B-9113-4E75BB2EE6A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26868503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EBDE3A-332A-412B-9113-4E75BB2EE6A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9A081-A5D0-452B-9F20-33E2D047BFC6}" type="slidenum">
              <a:rPr lang="en-US" smtClean="0"/>
              <a:t>‹#›</a:t>
            </a:fld>
            <a:endParaRPr lang="en-US"/>
          </a:p>
        </p:txBody>
      </p:sp>
    </p:spTree>
    <p:extLst>
      <p:ext uri="{BB962C8B-B14F-4D97-AF65-F5344CB8AC3E}">
        <p14:creationId xmlns:p14="http://schemas.microsoft.com/office/powerpoint/2010/main" val="1688916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DEBDE3A-332A-412B-9113-4E75BB2EE6A3}" type="datetimeFigureOut">
              <a:rPr lang="en-US" smtClean="0"/>
              <a:t>11/18/2025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319A081-A5D0-452B-9F20-33E2D047BFC6}" type="slidenum">
              <a:rPr lang="en-US" smtClean="0"/>
              <a:t>‹#›</a:t>
            </a:fld>
            <a:endParaRPr lang="en-US"/>
          </a:p>
        </p:txBody>
      </p:sp>
    </p:spTree>
    <p:extLst>
      <p:ext uri="{BB962C8B-B14F-4D97-AF65-F5344CB8AC3E}">
        <p14:creationId xmlns:p14="http://schemas.microsoft.com/office/powerpoint/2010/main" val="36880114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t>Working with React &amp; the Fetch API (CRUD)</a:t>
            </a:r>
            <a:r>
              <a:rPr lang="en-US" dirty="0"/>
              <a:t> and Routes</a:t>
            </a:r>
            <a:endParaRPr dirty="0"/>
          </a:p>
        </p:txBody>
      </p:sp>
      <p:sp>
        <p:nvSpPr>
          <p:cNvPr id="3" name="Subtitle 2"/>
          <p:cNvSpPr>
            <a:spLocks noGrp="1"/>
          </p:cNvSpPr>
          <p:nvPr>
            <p:ph type="subTitle" idx="1"/>
          </p:nvPr>
        </p:nvSpPr>
        <p:spPr/>
        <p:txBody>
          <a:bodyPr/>
          <a:lstStyle/>
          <a:p>
            <a:r>
              <a:rPr dirty="0"/>
              <a:t>GET, POST, PUT, DELETE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the Fetch API?</a:t>
            </a:r>
          </a:p>
        </p:txBody>
      </p:sp>
      <p:sp>
        <p:nvSpPr>
          <p:cNvPr id="3" name="Content Placeholder 2"/>
          <p:cNvSpPr>
            <a:spLocks noGrp="1"/>
          </p:cNvSpPr>
          <p:nvPr>
            <p:ph idx="1"/>
          </p:nvPr>
        </p:nvSpPr>
        <p:spPr/>
        <p:txBody>
          <a:bodyPr/>
          <a:lstStyle/>
          <a:p>
            <a:r>
              <a:t>Built-in browser API for making HTTP requests (promises-based).</a:t>
            </a:r>
          </a:p>
          <a:p>
            <a:r>
              <a:t>Use fetch(url, options) → returns a Promise resolving to a Response.</a:t>
            </a:r>
          </a:p>
          <a:p>
            <a:r>
              <a:t>Commonly used with JSON APIs in frontend apps.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Use Fetch in React?</a:t>
            </a:r>
          </a:p>
        </p:txBody>
      </p:sp>
      <p:sp>
        <p:nvSpPr>
          <p:cNvPr id="3" name="Content Placeholder 2"/>
          <p:cNvSpPr>
            <a:spLocks noGrp="1"/>
          </p:cNvSpPr>
          <p:nvPr>
            <p:ph idx="1"/>
          </p:nvPr>
        </p:nvSpPr>
        <p:spPr/>
        <p:txBody>
          <a:bodyPr/>
          <a:lstStyle/>
          <a:p>
            <a:r>
              <a:t>Load remote data into components and render UI dynamically.</a:t>
            </a:r>
          </a:p>
          <a:p>
            <a:r>
              <a:t>Perform CRUD operations against RESTful APIs.</a:t>
            </a:r>
          </a:p>
          <a:p>
            <a:r>
              <a:t>Use inside useEffect to fetch on mount or when dependencies change.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Core Pattern (Step-by-step)</a:t>
            </a:r>
          </a:p>
        </p:txBody>
      </p:sp>
      <p:sp>
        <p:nvSpPr>
          <p:cNvPr id="3" name="Content Placeholder 2"/>
          <p:cNvSpPr>
            <a:spLocks noGrp="1"/>
          </p:cNvSpPr>
          <p:nvPr>
            <p:ph idx="1"/>
          </p:nvPr>
        </p:nvSpPr>
        <p:spPr/>
        <p:txBody>
          <a:bodyPr/>
          <a:lstStyle/>
          <a:p>
            <a:r>
              <a:t>1. Create state variables: data, loading, error (useState).</a:t>
            </a:r>
          </a:p>
          <a:p>
            <a:r>
              <a:t>2. Trigger fetch in useEffect (on mount or when deps change).</a:t>
            </a:r>
          </a:p>
          <a:p>
            <a:r>
              <a:t>3. Update state with fetched data; handle loading and error.</a:t>
            </a:r>
          </a:p>
          <a:p>
            <a:r>
              <a:t>4. Clean up with AbortController to avoid setting state on unmounted component.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Example (React)</a:t>
            </a:r>
          </a:p>
        </p:txBody>
      </p:sp>
      <p:sp>
        <p:nvSpPr>
          <p:cNvPr id="3" name="Content Placeholder 2"/>
          <p:cNvSpPr>
            <a:spLocks noGrp="1"/>
          </p:cNvSpPr>
          <p:nvPr>
            <p:ph idx="1"/>
          </p:nvPr>
        </p:nvSpPr>
        <p:spPr/>
        <p:txBody>
          <a:bodyPr/>
          <a:lstStyle/>
          <a:p>
            <a:r>
              <a:t>Purpose: Read data from server.</a:t>
            </a:r>
          </a:p>
          <a:p>
            <a:r>
              <a:t>Code (simplified):</a:t>
            </a:r>
          </a:p>
          <a:p>
            <a:r>
              <a:t>useEffect(() =&gt; { const c = new AbortController(); fetch('/api/items',{signal:c.signal}).then(r=&gt;r.json()).then(setItems).catch(e=&gt;setError(e)); return ()=&gt;c.abort(); },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 Example — Full Component</a:t>
            </a:r>
          </a:p>
        </p:txBody>
      </p:sp>
      <p:sp>
        <p:nvSpPr>
          <p:cNvPr id="3" name="Content Placeholder 2"/>
          <p:cNvSpPr>
            <a:spLocks noGrp="1"/>
          </p:cNvSpPr>
          <p:nvPr>
            <p:ph idx="1"/>
          </p:nvPr>
        </p:nvSpPr>
        <p:spPr/>
        <p:txBody>
          <a:bodyPr>
            <a:normAutofit fontScale="77500" lnSpcReduction="20000"/>
          </a:bodyPr>
          <a:lstStyle/>
          <a:p>
            <a:r>
              <a:t>import React, {useEffect, useState} from 'react';</a:t>
            </a:r>
          </a:p>
          <a:p>
            <a:r>
              <a:t>function Items(){</a:t>
            </a:r>
          </a:p>
          <a:p>
            <a:r>
              <a:t>  const [items,setItems]=useState([]); const [loading,setLoading]=useState(true);</a:t>
            </a:r>
          </a:p>
          <a:p>
            <a:r>
              <a:t>  useEffect(()=&gt;{ const ctrl=new AbortController(); fetch('/api/items',{signal:ctrl.signal})</a:t>
            </a:r>
          </a:p>
          <a:p>
            <a:r>
              <a:t>    .then(r=&gt;{ if(!r.ok) throw new Error('Network'); return r.json(); })</a:t>
            </a:r>
          </a:p>
          <a:p>
            <a:r>
              <a:t>    .then(data=&gt;setItems(data)).catch(err=&gt;console.error(err)).finally(()=&gt;setLoading(false));</a:t>
            </a:r>
          </a:p>
          <a:p>
            <a:r>
              <a:t>    return ()=&gt;ctrl.abort(); },[]);</a:t>
            </a:r>
          </a:p>
          <a:p>
            <a:r>
              <a:t>  if(loading) return &lt;div&gt;Loading...&lt;/div&gt;; return &lt;ul&gt;{items.map(i=&gt; &lt;li key={i.id}&gt;{i.name}&lt;/li&gt;)}&lt;/ul&gt;;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Example (React) — Purpose</a:t>
            </a:r>
          </a:p>
        </p:txBody>
      </p:sp>
      <p:sp>
        <p:nvSpPr>
          <p:cNvPr id="3" name="Content Placeholder 2"/>
          <p:cNvSpPr>
            <a:spLocks noGrp="1"/>
          </p:cNvSpPr>
          <p:nvPr>
            <p:ph idx="1"/>
          </p:nvPr>
        </p:nvSpPr>
        <p:spPr/>
        <p:txBody>
          <a:bodyPr/>
          <a:lstStyle/>
          <a:p>
            <a:r>
              <a:t>Create new resource on server (e.g., add item).</a:t>
            </a:r>
          </a:p>
          <a:p>
            <a:r>
              <a:t>Send JSON body using method: 'POST' and headers: {'Content-Type':'application/json'}.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POST Example — Component Snippet</a:t>
            </a:r>
          </a:p>
        </p:txBody>
      </p:sp>
      <p:sp>
        <p:nvSpPr>
          <p:cNvPr id="3" name="Content Placeholder 2"/>
          <p:cNvSpPr>
            <a:spLocks noGrp="1"/>
          </p:cNvSpPr>
          <p:nvPr>
            <p:ph idx="1"/>
          </p:nvPr>
        </p:nvSpPr>
        <p:spPr/>
        <p:txBody>
          <a:bodyPr/>
          <a:lstStyle/>
          <a:p>
            <a:r>
              <a:t>async function addItem(newItem){</a:t>
            </a:r>
          </a:p>
          <a:p>
            <a:r>
              <a:t>  const res = await fetch('/api/items',{ method:'POST', headers:{'Content-Type':'application/json'}, body:JSON.stringify(newItem) });</a:t>
            </a:r>
          </a:p>
          <a:p>
            <a:r>
              <a:t>  if(!res.ok) throw new Error('Failed'); const saved = await res.json();</a:t>
            </a:r>
          </a:p>
          <a:p>
            <a:r>
              <a:t>  setItems(prev =&gt; [saved, ...prev]); // update UI</a:t>
            </a:r>
          </a:p>
          <a:p>
            <a: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Example (React) — Purpose</a:t>
            </a:r>
          </a:p>
        </p:txBody>
      </p:sp>
      <p:sp>
        <p:nvSpPr>
          <p:cNvPr id="3" name="Content Placeholder 2"/>
          <p:cNvSpPr>
            <a:spLocks noGrp="1"/>
          </p:cNvSpPr>
          <p:nvPr>
            <p:ph idx="1"/>
          </p:nvPr>
        </p:nvSpPr>
        <p:spPr/>
        <p:txBody>
          <a:bodyPr/>
          <a:lstStyle/>
          <a:p>
            <a:r>
              <a:t>Update existing resource on server (replace or modify).</a:t>
            </a:r>
          </a:p>
          <a:p>
            <a:r>
              <a:t>Use method: 'PUT' (or PATCH for partial updates) and send updated JSON.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PUT Example — Component Snippet</a:t>
            </a:r>
          </a:p>
        </p:txBody>
      </p:sp>
      <p:sp>
        <p:nvSpPr>
          <p:cNvPr id="3" name="Content Placeholder 2"/>
          <p:cNvSpPr>
            <a:spLocks noGrp="1"/>
          </p:cNvSpPr>
          <p:nvPr>
            <p:ph idx="1"/>
          </p:nvPr>
        </p:nvSpPr>
        <p:spPr/>
        <p:txBody>
          <a:bodyPr>
            <a:normAutofit fontScale="92500"/>
          </a:bodyPr>
          <a:lstStyle/>
          <a:p>
            <a:r>
              <a:t>async function updateItem(id, updates){</a:t>
            </a:r>
          </a:p>
          <a:p>
            <a:r>
              <a:t>  const res = await fetch(`/api/items/${id}`,{ method:'PUT', headers:{'Content-Type':'application/json'}, body:JSON.stringify(updates) });</a:t>
            </a:r>
          </a:p>
          <a:p>
            <a:r>
              <a:t>  if(!res.ok) throw new Error('Update failed'); const updated = await res.json();</a:t>
            </a:r>
          </a:p>
          <a:p>
            <a:r>
              <a:t>  setItems(prev =&gt; prev.map(it =&gt; it.id===id ? updated : it));</a:t>
            </a:r>
          </a:p>
          <a:p>
            <a: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Example (React) — Purpose</a:t>
            </a:r>
          </a:p>
        </p:txBody>
      </p:sp>
      <p:sp>
        <p:nvSpPr>
          <p:cNvPr id="3" name="Content Placeholder 2"/>
          <p:cNvSpPr>
            <a:spLocks noGrp="1"/>
          </p:cNvSpPr>
          <p:nvPr>
            <p:ph idx="1"/>
          </p:nvPr>
        </p:nvSpPr>
        <p:spPr/>
        <p:txBody>
          <a:bodyPr/>
          <a:lstStyle/>
          <a:p>
            <a:r>
              <a:t>Remove resource from server using method: 'DELETE'.</a:t>
            </a:r>
          </a:p>
          <a:p>
            <a:r>
              <a:t>Update UI by filtering out deleted item from state.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DELETE Example — Component Snippet</a:t>
            </a:r>
          </a:p>
        </p:txBody>
      </p:sp>
      <p:sp>
        <p:nvSpPr>
          <p:cNvPr id="3" name="Content Placeholder 2"/>
          <p:cNvSpPr>
            <a:spLocks noGrp="1"/>
          </p:cNvSpPr>
          <p:nvPr>
            <p:ph idx="1"/>
          </p:nvPr>
        </p:nvSpPr>
        <p:spPr/>
        <p:txBody>
          <a:bodyPr/>
          <a:lstStyle/>
          <a:p>
            <a:r>
              <a:t>async function deleteItem(id){</a:t>
            </a:r>
          </a:p>
          <a:p>
            <a:r>
              <a:t>  const res = await fetch(`/api/items/${id}`,{ method:'DELETE' });</a:t>
            </a:r>
          </a:p>
          <a:p>
            <a:r>
              <a:t>  if(!res.ok) throw new Error('Delete failed');</a:t>
            </a:r>
          </a:p>
          <a:p>
            <a:r>
              <a:t>  setItems(prev =&gt; prev.filter(it =&gt; it.id !== id));</a:t>
            </a:r>
          </a:p>
          <a:p>
            <a: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Practices</a:t>
            </a:r>
          </a:p>
        </p:txBody>
      </p:sp>
      <p:sp>
        <p:nvSpPr>
          <p:cNvPr id="3" name="Content Placeholder 2"/>
          <p:cNvSpPr>
            <a:spLocks noGrp="1"/>
          </p:cNvSpPr>
          <p:nvPr>
            <p:ph idx="1"/>
          </p:nvPr>
        </p:nvSpPr>
        <p:spPr/>
        <p:txBody>
          <a:bodyPr/>
          <a:lstStyle/>
          <a:p>
            <a:r>
              <a:t>Handle loading, success, and error states separately (useState).</a:t>
            </a:r>
          </a:p>
          <a:p>
            <a:r>
              <a:t>Use AbortController to cancel requests on unmount/dep change.</a:t>
            </a:r>
          </a:p>
          <a:p>
            <a:r>
              <a:t>Validate response.ok before calling res.json().</a:t>
            </a:r>
          </a:p>
          <a:p>
            <a:r>
              <a:t>Consider libraries (React Query/SWR) for caching &amp; advanced features.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UX Patterns</a:t>
            </a:r>
          </a:p>
        </p:txBody>
      </p:sp>
      <p:sp>
        <p:nvSpPr>
          <p:cNvPr id="3" name="Content Placeholder 2"/>
          <p:cNvSpPr>
            <a:spLocks noGrp="1"/>
          </p:cNvSpPr>
          <p:nvPr>
            <p:ph idx="1"/>
          </p:nvPr>
        </p:nvSpPr>
        <p:spPr/>
        <p:txBody>
          <a:bodyPr/>
          <a:lstStyle/>
          <a:p>
            <a:r>
              <a:t>Optimistic UI updates: show change immediately, rollback on error.</a:t>
            </a:r>
          </a:p>
          <a:p>
            <a:r>
              <a:t>Debounce search inputs to reduce requests.</a:t>
            </a:r>
          </a:p>
          <a:p>
            <a:r>
              <a:t>Show spinners, skeletons, or disabled buttons during network calls.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&amp; Next Steps</a:t>
            </a:r>
          </a:p>
        </p:txBody>
      </p:sp>
      <p:sp>
        <p:nvSpPr>
          <p:cNvPr id="3" name="Content Placeholder 2"/>
          <p:cNvSpPr>
            <a:spLocks noGrp="1"/>
          </p:cNvSpPr>
          <p:nvPr>
            <p:ph idx="1"/>
          </p:nvPr>
        </p:nvSpPr>
        <p:spPr/>
        <p:txBody>
          <a:bodyPr/>
          <a:lstStyle/>
          <a:p>
            <a:r>
              <a:t>Use fetch in useEffect to GET data and use setState to update UI.</a:t>
            </a:r>
          </a:p>
          <a:p>
            <a:r>
              <a:t>Use POST/PUT/DELETE for full CRUD workflow; always update state after success.</a:t>
            </a:r>
          </a:p>
          <a:p>
            <a:r>
              <a:t>Explore React Query or SWR for production-grade data fetching solutions.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React Router </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React Router is a popular JavaScript library that enables navigation between different views or pages in a React application, without refreshing the entire page. It is a crucial tool for building single-page applications (SPAs) where the user interface updates dynamically based on user actions.</a:t>
            </a:r>
          </a:p>
        </p:txBody>
      </p:sp>
    </p:spTree>
    <p:extLst>
      <p:ext uri="{BB962C8B-B14F-4D97-AF65-F5344CB8AC3E}">
        <p14:creationId xmlns:p14="http://schemas.microsoft.com/office/powerpoint/2010/main" val="3308870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4362" y="0"/>
            <a:ext cx="9603275" cy="1049235"/>
          </a:xfrm>
        </p:spPr>
        <p:txBody>
          <a:bodyPr>
            <a:normAutofit fontScale="90000"/>
          </a:bodyPr>
          <a:lstStyle/>
          <a:p>
            <a:pPr lvl="0"/>
            <a:r>
              <a:rPr lang="en-US" altLang="en-US" dirty="0">
                <a:latin typeface="Times New Roman" panose="02020603050405020304" pitchFamily="18" charset="0"/>
                <a:cs typeface="Times New Roman" panose="02020603050405020304" pitchFamily="18" charset="0"/>
              </a:rPr>
              <a:t>Key Concepts of Routing:</a:t>
            </a:r>
            <a:br>
              <a:rPr lang="en-US" altLang="en-US" dirty="0">
                <a:latin typeface="Times New Roman" panose="02020603050405020304" pitchFamily="18" charset="0"/>
                <a:cs typeface="Times New Roman" panose="02020603050405020304" pitchFamily="18" charset="0"/>
              </a:rPr>
            </a:br>
            <a:endParaRPr lang="en-US" dirty="0"/>
          </a:p>
        </p:txBody>
      </p:sp>
      <p:sp>
        <p:nvSpPr>
          <p:cNvPr id="4" name="Rectangle 1"/>
          <p:cNvSpPr>
            <a:spLocks noGrp="1" noChangeArrowheads="1"/>
          </p:cNvSpPr>
          <p:nvPr>
            <p:ph idx="1"/>
          </p:nvPr>
        </p:nvSpPr>
        <p:spPr bwMode="auto">
          <a:xfrm>
            <a:off x="315027" y="1222016"/>
            <a:ext cx="11067401" cy="441396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eaLnBrk="1" fontAlgn="base" hangingPunct="1">
              <a:spcBef>
                <a:spcPts val="1000"/>
              </a:spcBef>
              <a:spcAft>
                <a:spcPct val="0"/>
              </a:spcAft>
              <a:buClrTx/>
              <a:buSzTx/>
              <a:buNone/>
              <a:tabLst/>
            </a:pPr>
            <a:r>
              <a:rPr lang="en-US" altLang="en-US" sz="2000" b="1" dirty="0">
                <a:latin typeface="Times New Roman" panose="02020603050405020304" pitchFamily="18" charset="0"/>
                <a:cs typeface="Times New Roman" panose="02020603050405020304" pitchFamily="18" charset="0"/>
              </a:rPr>
              <a:t>Routing:</a:t>
            </a:r>
          </a:p>
          <a:p>
            <a:pPr marL="0" marR="0" lvl="0" indent="0" eaLnBrk="1" fontAlgn="base" hangingPunct="1">
              <a:spcBef>
                <a:spcPts val="1000"/>
              </a:spcBef>
              <a:spcAft>
                <a:spcPct val="0"/>
              </a:spcAft>
              <a:buClrTx/>
              <a:buSzTx/>
              <a:buNone/>
              <a:tabLst/>
            </a:pPr>
            <a:r>
              <a:rPr lang="en-US" altLang="en-US" sz="2000" dirty="0">
                <a:latin typeface="Times New Roman" panose="02020603050405020304" pitchFamily="18" charset="0"/>
                <a:cs typeface="Times New Roman" panose="02020603050405020304" pitchFamily="18" charset="0"/>
              </a:rPr>
              <a:t>The process of mapping URLs to specific components or views within the application.</a:t>
            </a:r>
          </a:p>
          <a:p>
            <a:pPr marL="0" marR="0" lvl="0" indent="0" eaLnBrk="1" fontAlgn="base" hangingPunct="1">
              <a:spcBef>
                <a:spcPts val="1000"/>
              </a:spcBef>
              <a:spcAft>
                <a:spcPct val="0"/>
              </a:spcAft>
              <a:buClrTx/>
              <a:buSzTx/>
              <a:buNone/>
              <a:tabLst/>
            </a:pPr>
            <a:r>
              <a:rPr lang="en-US" altLang="en-US" sz="2000" b="1" dirty="0">
                <a:latin typeface="Times New Roman" panose="02020603050405020304" pitchFamily="18" charset="0"/>
                <a:cs typeface="Times New Roman" panose="02020603050405020304" pitchFamily="18" charset="0"/>
              </a:rPr>
              <a:t>Single-Page Application (SPA):</a:t>
            </a:r>
          </a:p>
          <a:p>
            <a:pPr marL="0" marR="0" lvl="0" indent="0" eaLnBrk="1" fontAlgn="base" hangingPunct="1">
              <a:spcBef>
                <a:spcPts val="1000"/>
              </a:spcBef>
              <a:spcAft>
                <a:spcPct val="0"/>
              </a:spcAft>
              <a:buClrTx/>
              <a:buSzTx/>
              <a:buNone/>
              <a:tabLst/>
            </a:pPr>
            <a:r>
              <a:rPr lang="en-US" altLang="en-US" sz="2000" dirty="0">
                <a:latin typeface="Times New Roman" panose="02020603050405020304" pitchFamily="18" charset="0"/>
                <a:cs typeface="Times New Roman" panose="02020603050405020304" pitchFamily="18" charset="0"/>
              </a:rPr>
              <a:t>A web application that loads a single HTML page and dynamically updates the content using JavaScript, providing a smoother user experience.</a:t>
            </a:r>
          </a:p>
          <a:p>
            <a:pPr marL="0" marR="0" lvl="0" indent="0" eaLnBrk="1" fontAlgn="base" hangingPunct="1">
              <a:spcBef>
                <a:spcPts val="1000"/>
              </a:spcBef>
              <a:spcAft>
                <a:spcPct val="0"/>
              </a:spcAft>
              <a:buClrTx/>
              <a:buSzTx/>
              <a:buNone/>
              <a:tabLst/>
            </a:pPr>
            <a:r>
              <a:rPr lang="en-US" altLang="en-US" sz="2000" b="1" dirty="0">
                <a:latin typeface="Times New Roman" panose="02020603050405020304" pitchFamily="18" charset="0"/>
                <a:cs typeface="Times New Roman" panose="02020603050405020304" pitchFamily="18" charset="0"/>
              </a:rPr>
              <a:t>Client-Side Routing:</a:t>
            </a:r>
          </a:p>
          <a:p>
            <a:pPr marL="0" marR="0" lvl="0" indent="0" eaLnBrk="1" fontAlgn="base" hangingPunct="1">
              <a:spcBef>
                <a:spcPts val="1000"/>
              </a:spcBef>
              <a:spcAft>
                <a:spcPct val="0"/>
              </a:spcAft>
              <a:buClrTx/>
              <a:buSzTx/>
              <a:buNone/>
              <a:tabLst/>
            </a:pPr>
            <a:r>
              <a:rPr lang="en-US" altLang="en-US" sz="2000" dirty="0">
                <a:latin typeface="Times New Roman" panose="02020603050405020304" pitchFamily="18" charset="0"/>
                <a:cs typeface="Times New Roman" panose="02020603050405020304" pitchFamily="18" charset="0"/>
              </a:rPr>
              <a:t>React Router handles navigation on the client-side, meaning the browser doesn't need to make a new request to the server for each page change.</a:t>
            </a:r>
          </a:p>
          <a:p>
            <a:pPr marL="0" marR="0" lvl="0" indent="0" eaLnBrk="1" fontAlgn="base" hangingPunct="1">
              <a:spcBef>
                <a:spcPts val="1000"/>
              </a:spcBef>
              <a:spcAft>
                <a:spcPct val="0"/>
              </a:spcAft>
              <a:buClrTx/>
              <a:buSzTx/>
              <a:buNone/>
              <a:tabLst/>
            </a:pPr>
            <a:r>
              <a:rPr lang="en-US" altLang="en-US" sz="2000" b="1" dirty="0">
                <a:latin typeface="Times New Roman" panose="02020603050405020304" pitchFamily="18" charset="0"/>
                <a:cs typeface="Times New Roman" panose="02020603050405020304" pitchFamily="18" charset="0"/>
              </a:rPr>
              <a:t>Components:</a:t>
            </a:r>
          </a:p>
          <a:p>
            <a:pPr marL="0" marR="0" lvl="0" indent="0" eaLnBrk="1" fontAlgn="base" hangingPunct="1">
              <a:spcBef>
                <a:spcPts val="1000"/>
              </a:spcBef>
              <a:spcAft>
                <a:spcPct val="0"/>
              </a:spcAft>
              <a:buClrTx/>
              <a:buSzTx/>
              <a:buNone/>
              <a:tabLst/>
            </a:pPr>
            <a:r>
              <a:rPr lang="en-US" altLang="en-US" sz="2000" dirty="0">
                <a:latin typeface="Times New Roman" panose="02020603050405020304" pitchFamily="18" charset="0"/>
                <a:cs typeface="Times New Roman" panose="02020603050405020304" pitchFamily="18" charset="0"/>
              </a:rPr>
              <a:t>React Router uses components like &lt;</a:t>
            </a:r>
            <a:r>
              <a:rPr lang="en-US" altLang="en-US" sz="2000" dirty="0" err="1">
                <a:latin typeface="Times New Roman" panose="02020603050405020304" pitchFamily="18" charset="0"/>
                <a:cs typeface="Times New Roman" panose="02020603050405020304" pitchFamily="18" charset="0"/>
              </a:rPr>
              <a:t>BrowserRouter</a:t>
            </a:r>
            <a:r>
              <a:rPr lang="en-US" altLang="en-US" sz="2000" dirty="0">
                <a:latin typeface="Times New Roman" panose="02020603050405020304" pitchFamily="18" charset="0"/>
                <a:cs typeface="Times New Roman" panose="02020603050405020304" pitchFamily="18" charset="0"/>
              </a:rPr>
              <a:t>&gt;, &lt;Routes&gt;, &lt;Route&gt;, &lt;Link&gt; and &lt;Outlet&gt; to manage navigation and render content.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03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5087" y="179774"/>
            <a:ext cx="10018713" cy="1249532"/>
          </a:xfrm>
        </p:spPr>
        <p:txBody>
          <a:bodyPr/>
          <a:lstStyle/>
          <a:p>
            <a:r>
              <a:rPr lang="en-US" dirty="0">
                <a:latin typeface="Times New Roman" panose="02020603050405020304" pitchFamily="18" charset="0"/>
                <a:cs typeface="Times New Roman" panose="02020603050405020304" pitchFamily="18" charset="0"/>
              </a:rPr>
              <a:t> Installing and verification React Router</a:t>
            </a:r>
          </a:p>
        </p:txBody>
      </p:sp>
      <p:sp>
        <p:nvSpPr>
          <p:cNvPr id="3" name="Content Placeholder 2"/>
          <p:cNvSpPr>
            <a:spLocks noGrp="1"/>
          </p:cNvSpPr>
          <p:nvPr>
            <p:ph idx="1"/>
          </p:nvPr>
        </p:nvSpPr>
        <p:spPr>
          <a:xfrm>
            <a:off x="1148918" y="1166969"/>
            <a:ext cx="10515600" cy="1511935"/>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Installation Code for the terminal</a:t>
            </a:r>
          </a:p>
          <a:p>
            <a:pPr marL="0" indent="0">
              <a:buNone/>
            </a:pPr>
            <a:r>
              <a:rPr lang="en-US" dirty="0" err="1">
                <a:latin typeface="Courier New" panose="02070309020205020404" pitchFamily="49" charset="0"/>
                <a:cs typeface="Courier New" panose="02070309020205020404" pitchFamily="49" charset="0"/>
              </a:rPr>
              <a:t>npm</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react-router</a:t>
            </a:r>
          </a:p>
          <a:p>
            <a:pPr marL="0" indent="0">
              <a:buNone/>
            </a:pPr>
            <a:r>
              <a:rPr lang="en-US" dirty="0">
                <a:latin typeface="Times New Roman" panose="02020603050405020304" pitchFamily="18" charset="0"/>
                <a:cs typeface="Times New Roman" panose="02020603050405020304" pitchFamily="18" charset="0"/>
              </a:rPr>
              <a:t>Finally, render </a:t>
            </a: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BrowserRouter</a:t>
            </a:r>
            <a:r>
              <a:rPr lang="en-US" dirty="0">
                <a:latin typeface="Courier New" panose="02070309020205020404" pitchFamily="49" charset="0"/>
                <a:cs typeface="Courier New" panose="02070309020205020404" pitchFamily="49" charset="0"/>
              </a:rPr>
              <a:t>&gt; </a:t>
            </a:r>
            <a:r>
              <a:rPr lang="en-US" dirty="0">
                <a:latin typeface="Times New Roman" panose="02020603050405020304" pitchFamily="18" charset="0"/>
                <a:cs typeface="Times New Roman" panose="02020603050405020304" pitchFamily="18" charset="0"/>
              </a:rPr>
              <a:t>around your application. (</a:t>
            </a:r>
            <a:r>
              <a:rPr lang="en-US" dirty="0" err="1">
                <a:latin typeface="Courier New" panose="02070309020205020404" pitchFamily="49" charset="0"/>
                <a:cs typeface="Courier New" panose="02070309020205020404" pitchFamily="49" charset="0"/>
              </a:rPr>
              <a:t>Main.jsx</a:t>
            </a:r>
            <a:r>
              <a:rPr lang="en-US" dirty="0">
                <a:latin typeface="Times New Roman" panose="02020603050405020304" pitchFamily="18" charset="0"/>
                <a:cs typeface="Times New Roman" panose="02020603050405020304" pitchFamily="18" charset="0"/>
              </a:rPr>
              <a:t>)</a:t>
            </a:r>
          </a:p>
        </p:txBody>
      </p:sp>
      <p:pic>
        <p:nvPicPr>
          <p:cNvPr id="5" name="Picture 4"/>
          <p:cNvPicPr>
            <a:picLocks noChangeAspect="1"/>
          </p:cNvPicPr>
          <p:nvPr/>
        </p:nvPicPr>
        <p:blipFill>
          <a:blip r:embed="rId3"/>
          <a:stretch>
            <a:fillRect/>
          </a:stretch>
        </p:blipFill>
        <p:spPr>
          <a:xfrm>
            <a:off x="838200" y="2880360"/>
            <a:ext cx="5831194" cy="3703320"/>
          </a:xfrm>
          <a:prstGeom prst="rect">
            <a:avLst/>
          </a:prstGeom>
        </p:spPr>
      </p:pic>
    </p:spTree>
    <p:extLst>
      <p:ext uri="{BB962C8B-B14F-4D97-AF65-F5344CB8AC3E}">
        <p14:creationId xmlns:p14="http://schemas.microsoft.com/office/powerpoint/2010/main" val="544248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Basic Pages with React-Routing</a:t>
            </a:r>
          </a:p>
        </p:txBody>
      </p:sp>
      <p:sp>
        <p:nvSpPr>
          <p:cNvPr id="3" name="Content Placeholder 2"/>
          <p:cNvSpPr>
            <a:spLocks noGrp="1"/>
          </p:cNvSpPr>
          <p:nvPr>
            <p:ph idx="1"/>
          </p:nvPr>
        </p:nvSpPr>
        <p:spPr/>
        <p:txBody>
          <a:bodyPr/>
          <a:lstStyle/>
          <a:p>
            <a:pPr marL="0" indent="0">
              <a:buNone/>
            </a:pPr>
            <a:r>
              <a:rPr lang="en-US" b="1" dirty="0"/>
              <a:t>Browser Router</a:t>
            </a:r>
            <a:r>
              <a:rPr lang="en-US" dirty="0"/>
              <a:t>: This component enables client-side routing using the browser history API.</a:t>
            </a:r>
          </a:p>
          <a:p>
            <a:pPr marL="0" indent="0">
              <a:buNone/>
            </a:pPr>
            <a:r>
              <a:rPr lang="en-US" b="1" dirty="0"/>
              <a:t>Routes: </a:t>
            </a:r>
            <a:r>
              <a:rPr lang="en-US" dirty="0"/>
              <a:t>It renders the appropriate component based on the current URL.</a:t>
            </a:r>
          </a:p>
          <a:p>
            <a:pPr marL="0" indent="0">
              <a:buNone/>
            </a:pPr>
            <a:r>
              <a:rPr lang="en-US" b="1" dirty="0"/>
              <a:t>Route: </a:t>
            </a:r>
            <a:r>
              <a:rPr lang="en-US" dirty="0"/>
              <a:t>Each  Route Component defines a path and the corresponding component to render when that path is matched.</a:t>
            </a:r>
          </a:p>
          <a:p>
            <a:pPr marL="0" indent="0">
              <a:buNone/>
            </a:pPr>
            <a:r>
              <a:rPr lang="en-US" b="1" dirty="0"/>
              <a:t>Link: </a:t>
            </a:r>
            <a:r>
              <a:rPr lang="en-US" dirty="0"/>
              <a:t>A link for navigation from one page to other page.</a:t>
            </a:r>
          </a:p>
        </p:txBody>
      </p:sp>
    </p:spTree>
    <p:extLst>
      <p:ext uri="{BB962C8B-B14F-4D97-AF65-F5344CB8AC3E}">
        <p14:creationId xmlns:p14="http://schemas.microsoft.com/office/powerpoint/2010/main" val="1169171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511457-6982-5007-36A5-D9F9C5911490}"/>
              </a:ext>
            </a:extLst>
          </p:cNvPr>
          <p:cNvSpPr>
            <a:spLocks noGrp="1"/>
          </p:cNvSpPr>
          <p:nvPr>
            <p:ph type="title"/>
          </p:nvPr>
        </p:nvSpPr>
        <p:spPr/>
        <p:txBody>
          <a:bodyPr/>
          <a:lstStyle/>
          <a:p>
            <a:r>
              <a:rPr lang="en-US" b="1" dirty="0"/>
              <a:t>React Routing: Step 1 - Installation</a:t>
            </a:r>
            <a:endParaRPr lang="en-US" dirty="0"/>
          </a:p>
        </p:txBody>
      </p:sp>
      <p:sp>
        <p:nvSpPr>
          <p:cNvPr id="5" name="Content Placeholder 4">
            <a:extLst>
              <a:ext uri="{FF2B5EF4-FFF2-40B4-BE49-F238E27FC236}">
                <a16:creationId xmlns:a16="http://schemas.microsoft.com/office/drawing/2014/main" id="{13429620-9BD7-3F1B-7B8A-8BC5E67BE840}"/>
              </a:ext>
            </a:extLst>
          </p:cNvPr>
          <p:cNvSpPr>
            <a:spLocks noGrp="1"/>
          </p:cNvSpPr>
          <p:nvPr>
            <p:ph idx="1"/>
          </p:nvPr>
        </p:nvSpPr>
        <p:spPr/>
        <p:txBody>
          <a:bodyPr>
            <a:normAutofit fontScale="70000" lnSpcReduction="20000"/>
          </a:bodyPr>
          <a:lstStyle/>
          <a:p>
            <a:r>
              <a:rPr lang="en-US" b="1" dirty="0"/>
              <a:t>Title:</a:t>
            </a:r>
            <a:r>
              <a:rPr lang="en-US" dirty="0"/>
              <a:t> Step 1: Installation</a:t>
            </a:r>
          </a:p>
          <a:p>
            <a:r>
              <a:rPr lang="en-US" b="1" dirty="0"/>
              <a:t>Explanation:</a:t>
            </a:r>
            <a:endParaRPr lang="en-US" dirty="0"/>
          </a:p>
          <a:p>
            <a:r>
              <a:rPr lang="en-US" dirty="0"/>
              <a:t>To use React Router, we first need to add the react-router-</a:t>
            </a:r>
            <a:r>
              <a:rPr lang="en-US" dirty="0" err="1"/>
              <a:t>dom</a:t>
            </a:r>
            <a:r>
              <a:rPr lang="en-US" dirty="0"/>
              <a:t> package to our project.</a:t>
            </a:r>
          </a:p>
          <a:p>
            <a:r>
              <a:rPr lang="en-US" dirty="0"/>
              <a:t>This package contains all the necessary components and hooks (like </a:t>
            </a:r>
            <a:r>
              <a:rPr lang="en-US" dirty="0" err="1"/>
              <a:t>BrowserRouter</a:t>
            </a:r>
            <a:r>
              <a:rPr lang="en-US" dirty="0"/>
              <a:t>, Routes, Route, and Link).</a:t>
            </a:r>
          </a:p>
          <a:p>
            <a:r>
              <a:rPr lang="en-US" b="1" dirty="0"/>
              <a:t>Code Snippet (Terminal):</a:t>
            </a:r>
            <a:endParaRPr lang="en-US" dirty="0"/>
          </a:p>
          <a:p>
            <a:r>
              <a:rPr lang="en-US" dirty="0"/>
              <a:t>We use </a:t>
            </a:r>
            <a:r>
              <a:rPr lang="en-US" dirty="0" err="1"/>
              <a:t>npm</a:t>
            </a:r>
            <a:r>
              <a:rPr lang="en-US" dirty="0"/>
              <a:t> (Node Package Manager) or yarn to install it.</a:t>
            </a:r>
          </a:p>
          <a:p>
            <a:r>
              <a:rPr lang="en-US" b="1" dirty="0"/>
              <a:t>Using </a:t>
            </a:r>
            <a:r>
              <a:rPr lang="en-US" b="1" dirty="0" err="1"/>
              <a:t>npm</a:t>
            </a:r>
            <a:r>
              <a:rPr lang="en-US" b="1" dirty="0"/>
              <a:t>:</a:t>
            </a:r>
            <a:endParaRPr lang="en-US" dirty="0"/>
          </a:p>
          <a:p>
            <a:r>
              <a:rPr lang="en-US" dirty="0" err="1"/>
              <a:t>npm</a:t>
            </a:r>
            <a:r>
              <a:rPr lang="en-US" dirty="0"/>
              <a:t> install react-router-</a:t>
            </a:r>
            <a:r>
              <a:rPr lang="en-US" dirty="0" err="1"/>
              <a:t>dom</a:t>
            </a:r>
            <a:endParaRPr lang="en-US" dirty="0"/>
          </a:p>
          <a:p>
            <a:endParaRPr lang="en-US" dirty="0"/>
          </a:p>
        </p:txBody>
      </p:sp>
    </p:spTree>
    <p:extLst>
      <p:ext uri="{BB962C8B-B14F-4D97-AF65-F5344CB8AC3E}">
        <p14:creationId xmlns:p14="http://schemas.microsoft.com/office/powerpoint/2010/main" val="29052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558FE-B161-3281-9B7D-F7178B69A951}"/>
              </a:ext>
            </a:extLst>
          </p:cNvPr>
          <p:cNvSpPr>
            <a:spLocks noGrp="1"/>
          </p:cNvSpPr>
          <p:nvPr>
            <p:ph type="title"/>
          </p:nvPr>
        </p:nvSpPr>
        <p:spPr/>
        <p:txBody>
          <a:bodyPr>
            <a:normAutofit fontScale="90000"/>
          </a:bodyPr>
          <a:lstStyle/>
          <a:p>
            <a:r>
              <a:rPr lang="en-US" b="1" dirty="0"/>
              <a:t>React Routing: Step 2 - The Setup (</a:t>
            </a:r>
            <a:r>
              <a:rPr lang="en-US" b="1" dirty="0" err="1"/>
              <a:t>BrowserRouter</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D0B8D01E-AFB7-A9AD-B1CE-21092D0ABCC5}"/>
              </a:ext>
            </a:extLst>
          </p:cNvPr>
          <p:cNvSpPr>
            <a:spLocks noGrp="1"/>
          </p:cNvSpPr>
          <p:nvPr>
            <p:ph idx="1"/>
          </p:nvPr>
        </p:nvSpPr>
        <p:spPr/>
        <p:txBody>
          <a:bodyPr>
            <a:normAutofit fontScale="92500" lnSpcReduction="10000"/>
          </a:bodyPr>
          <a:lstStyle/>
          <a:p>
            <a:r>
              <a:rPr lang="en-US" dirty="0"/>
              <a:t>Before we can define routes, our application needs to be "aware" of the browser's URL.</a:t>
            </a:r>
          </a:p>
          <a:p>
            <a:r>
              <a:rPr lang="en-US" dirty="0"/>
              <a:t>We must wrap our </a:t>
            </a:r>
            <a:r>
              <a:rPr lang="en-US" i="1" dirty="0"/>
              <a:t>entire</a:t>
            </a:r>
            <a:r>
              <a:rPr lang="en-US" dirty="0"/>
              <a:t> application (or the part of it that needs routing) with the </a:t>
            </a:r>
            <a:r>
              <a:rPr lang="en-US" dirty="0" err="1"/>
              <a:t>BrowserRouter</a:t>
            </a:r>
            <a:r>
              <a:rPr lang="en-US" dirty="0"/>
              <a:t> component.</a:t>
            </a:r>
          </a:p>
          <a:p>
            <a:r>
              <a:rPr lang="en-US" dirty="0" err="1"/>
              <a:t>BrowserRouter</a:t>
            </a:r>
            <a:r>
              <a:rPr lang="en-US" dirty="0"/>
              <a:t> listens to the URL bar for changes and provides that "routing context" to all components inside it.</a:t>
            </a:r>
          </a:p>
          <a:p>
            <a:r>
              <a:rPr lang="en-US" dirty="0"/>
              <a:t>The best place to do this is in your top-level index.js file, wrapping your &lt;App /&gt; component.</a:t>
            </a:r>
          </a:p>
          <a:p>
            <a:endParaRPr lang="en-US" dirty="0"/>
          </a:p>
        </p:txBody>
      </p:sp>
    </p:spTree>
    <p:extLst>
      <p:ext uri="{BB962C8B-B14F-4D97-AF65-F5344CB8AC3E}">
        <p14:creationId xmlns:p14="http://schemas.microsoft.com/office/powerpoint/2010/main" val="2037956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D347FD-70CF-CA21-F439-6D9B17D63BB8}"/>
              </a:ext>
            </a:extLst>
          </p:cNvPr>
          <p:cNvSpPr>
            <a:spLocks noGrp="1"/>
          </p:cNvSpPr>
          <p:nvPr>
            <p:ph idx="1"/>
          </p:nvPr>
        </p:nvSpPr>
        <p:spPr>
          <a:xfrm>
            <a:off x="1484310" y="239697"/>
            <a:ext cx="10018713" cy="6445188"/>
          </a:xfrm>
        </p:spPr>
        <p:txBody>
          <a:bodyPr>
            <a:normAutofit fontScale="92500" lnSpcReduction="10000"/>
          </a:bodyPr>
          <a:lstStyle/>
          <a:p>
            <a:r>
              <a:rPr lang="en-US" dirty="0"/>
              <a:t>import React from 'react';</a:t>
            </a:r>
          </a:p>
          <a:p>
            <a:r>
              <a:rPr lang="en-US" dirty="0"/>
              <a:t>import </a:t>
            </a:r>
            <a:r>
              <a:rPr lang="en-US" dirty="0" err="1"/>
              <a:t>ReactDOM</a:t>
            </a:r>
            <a:r>
              <a:rPr lang="en-US" dirty="0"/>
              <a:t> from 'react-</a:t>
            </a:r>
            <a:r>
              <a:rPr lang="en-US" dirty="0" err="1"/>
              <a:t>dom</a:t>
            </a:r>
            <a:r>
              <a:rPr lang="en-US" dirty="0"/>
              <a:t>/client';</a:t>
            </a:r>
          </a:p>
          <a:p>
            <a:r>
              <a:rPr lang="en-US" dirty="0"/>
              <a:t>import { </a:t>
            </a:r>
            <a:r>
              <a:rPr lang="en-US" dirty="0" err="1"/>
              <a:t>BrowserRouter</a:t>
            </a:r>
            <a:r>
              <a:rPr lang="en-US" dirty="0"/>
              <a:t> } from 'react-router-</a:t>
            </a:r>
            <a:r>
              <a:rPr lang="en-US" dirty="0" err="1"/>
              <a:t>dom</a:t>
            </a:r>
            <a:r>
              <a:rPr lang="en-US" dirty="0"/>
              <a:t>'; // 1. Import</a:t>
            </a:r>
          </a:p>
          <a:p>
            <a:r>
              <a:rPr lang="en-US" dirty="0"/>
              <a:t>import App from './App';</a:t>
            </a:r>
          </a:p>
          <a:p>
            <a:endParaRPr lang="en-US" dirty="0"/>
          </a:p>
          <a:p>
            <a:r>
              <a:rPr lang="en-US" dirty="0"/>
              <a:t>const root = </a:t>
            </a:r>
            <a:r>
              <a:rPr lang="en-US" dirty="0" err="1"/>
              <a:t>ReactDOM.createRoot</a:t>
            </a:r>
            <a:r>
              <a:rPr lang="en-US" dirty="0"/>
              <a:t>(</a:t>
            </a:r>
            <a:r>
              <a:rPr lang="en-US" dirty="0" err="1"/>
              <a:t>document.getElementById</a:t>
            </a:r>
            <a:r>
              <a:rPr lang="en-US" dirty="0"/>
              <a:t>('root'));</a:t>
            </a:r>
          </a:p>
          <a:p>
            <a:r>
              <a:rPr lang="en-US" dirty="0" err="1"/>
              <a:t>root.render</a:t>
            </a:r>
            <a:r>
              <a:rPr lang="en-US" dirty="0"/>
              <a:t>(</a:t>
            </a:r>
          </a:p>
          <a:p>
            <a:r>
              <a:rPr lang="en-US" dirty="0"/>
              <a:t>  &lt;</a:t>
            </a:r>
            <a:r>
              <a:rPr lang="en-US" dirty="0" err="1"/>
              <a:t>React.StrictMode</a:t>
            </a:r>
            <a:r>
              <a:rPr lang="en-US" dirty="0"/>
              <a:t>&gt;</a:t>
            </a:r>
          </a:p>
          <a:p>
            <a:r>
              <a:rPr lang="en-US" dirty="0"/>
              <a:t>    {/* 2. Wrap your App component */}</a:t>
            </a:r>
          </a:p>
          <a:p>
            <a:r>
              <a:rPr lang="en-US" dirty="0"/>
              <a:t>    &lt;</a:t>
            </a:r>
            <a:r>
              <a:rPr lang="en-US" dirty="0" err="1"/>
              <a:t>BrowserRouter</a:t>
            </a:r>
            <a:r>
              <a:rPr lang="en-US" dirty="0"/>
              <a:t>&gt;</a:t>
            </a:r>
          </a:p>
          <a:p>
            <a:r>
              <a:rPr lang="en-US" dirty="0"/>
              <a:t>      &lt;App /&gt;</a:t>
            </a:r>
          </a:p>
          <a:p>
            <a:r>
              <a:rPr lang="en-US" dirty="0"/>
              <a:t>    &lt;/</a:t>
            </a:r>
            <a:r>
              <a:rPr lang="en-US" dirty="0" err="1"/>
              <a:t>BrowserRouter</a:t>
            </a:r>
            <a:r>
              <a:rPr lang="en-US" dirty="0"/>
              <a:t>&gt;</a:t>
            </a:r>
          </a:p>
          <a:p>
            <a:r>
              <a:rPr lang="en-US" dirty="0"/>
              <a:t>  &lt;/</a:t>
            </a:r>
            <a:r>
              <a:rPr lang="en-US" dirty="0" err="1"/>
              <a:t>React.StrictMode</a:t>
            </a:r>
            <a:r>
              <a:rPr lang="en-US" dirty="0"/>
              <a:t>&gt;</a:t>
            </a:r>
          </a:p>
          <a:p>
            <a:r>
              <a:rPr lang="en-US" dirty="0"/>
              <a:t>);</a:t>
            </a:r>
          </a:p>
          <a:p>
            <a:endParaRPr lang="en-US" dirty="0"/>
          </a:p>
        </p:txBody>
      </p:sp>
    </p:spTree>
    <p:extLst>
      <p:ext uri="{BB962C8B-B14F-4D97-AF65-F5344CB8AC3E}">
        <p14:creationId xmlns:p14="http://schemas.microsoft.com/office/powerpoint/2010/main" val="3035574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1091-55EF-5E4F-4DD3-50985ECE98B7}"/>
              </a:ext>
            </a:extLst>
          </p:cNvPr>
          <p:cNvSpPr>
            <a:spLocks noGrp="1"/>
          </p:cNvSpPr>
          <p:nvPr>
            <p:ph type="title"/>
          </p:nvPr>
        </p:nvSpPr>
        <p:spPr/>
        <p:txBody>
          <a:bodyPr>
            <a:normAutofit fontScale="90000"/>
          </a:bodyPr>
          <a:lstStyle/>
          <a:p>
            <a:r>
              <a:rPr lang="en-US" b="1" dirty="0"/>
              <a:t>React Routing: Step 3 - Defining Routes (Routes &amp; Route)</a:t>
            </a:r>
            <a:br>
              <a:rPr lang="en-US" b="1" dirty="0"/>
            </a:br>
            <a:endParaRPr lang="en-US" dirty="0"/>
          </a:p>
        </p:txBody>
      </p:sp>
      <p:sp>
        <p:nvSpPr>
          <p:cNvPr id="3" name="Content Placeholder 2">
            <a:extLst>
              <a:ext uri="{FF2B5EF4-FFF2-40B4-BE49-F238E27FC236}">
                <a16:creationId xmlns:a16="http://schemas.microsoft.com/office/drawing/2014/main" id="{D8225151-1EDB-4A74-D05D-F614097DBE26}"/>
              </a:ext>
            </a:extLst>
          </p:cNvPr>
          <p:cNvSpPr>
            <a:spLocks noGrp="1"/>
          </p:cNvSpPr>
          <p:nvPr>
            <p:ph idx="1"/>
          </p:nvPr>
        </p:nvSpPr>
        <p:spPr>
          <a:xfrm>
            <a:off x="1484310" y="1917577"/>
            <a:ext cx="10018713" cy="4572000"/>
          </a:xfrm>
        </p:spPr>
        <p:txBody>
          <a:bodyPr>
            <a:normAutofit/>
          </a:bodyPr>
          <a:lstStyle/>
          <a:p>
            <a:r>
              <a:rPr lang="en-US" dirty="0"/>
              <a:t>Defining Your Application's Routes</a:t>
            </a:r>
          </a:p>
          <a:p>
            <a:r>
              <a:rPr lang="en-US" b="1" dirty="0"/>
              <a:t>Explanation:</a:t>
            </a:r>
            <a:endParaRPr lang="en-US" dirty="0"/>
          </a:p>
          <a:p>
            <a:r>
              <a:rPr lang="en-US" dirty="0"/>
              <a:t>Now that the app is set up, we define our "route map." We tell React: "When the URL is </a:t>
            </a:r>
            <a:r>
              <a:rPr lang="en-US" i="1" dirty="0"/>
              <a:t>this</a:t>
            </a:r>
            <a:r>
              <a:rPr lang="en-US" dirty="0"/>
              <a:t>, show </a:t>
            </a:r>
            <a:r>
              <a:rPr lang="en-US" i="1" dirty="0"/>
              <a:t>this</a:t>
            </a:r>
            <a:r>
              <a:rPr lang="en-US" dirty="0"/>
              <a:t> component."</a:t>
            </a:r>
          </a:p>
          <a:p>
            <a:r>
              <a:rPr lang="en-US" dirty="0"/>
              <a:t>We use two main components:</a:t>
            </a:r>
          </a:p>
          <a:p>
            <a:pPr lvl="1"/>
            <a:r>
              <a:rPr lang="en-US" dirty="0"/>
              <a:t>&lt;Routes&gt;: This is a container. It looks at the current URL and renders </a:t>
            </a:r>
            <a:r>
              <a:rPr lang="en-US" i="1" dirty="0"/>
              <a:t>only the first</a:t>
            </a:r>
            <a:r>
              <a:rPr lang="en-US" dirty="0"/>
              <a:t> &lt;Route&gt; that matches.</a:t>
            </a:r>
          </a:p>
          <a:p>
            <a:pPr lvl="1"/>
            <a:r>
              <a:rPr lang="en-US" dirty="0"/>
              <a:t>&lt;Route&gt;: This is the actual mapping.</a:t>
            </a:r>
          </a:p>
          <a:p>
            <a:pPr lvl="2"/>
            <a:r>
              <a:rPr lang="en-US" dirty="0"/>
              <a:t>path="": The URL path (e.g., / for home, /about for the about page).</a:t>
            </a:r>
          </a:p>
          <a:p>
            <a:pPr lvl="2"/>
            <a:r>
              <a:rPr lang="en-US" dirty="0"/>
              <a:t>element={...}: The React component to render for that path.</a:t>
            </a:r>
          </a:p>
          <a:p>
            <a:endParaRPr lang="en-US" dirty="0"/>
          </a:p>
        </p:txBody>
      </p:sp>
    </p:spTree>
    <p:extLst>
      <p:ext uri="{BB962C8B-B14F-4D97-AF65-F5344CB8AC3E}">
        <p14:creationId xmlns:p14="http://schemas.microsoft.com/office/powerpoint/2010/main" val="17193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25F4C-6C64-904C-FF45-854A94B08922}"/>
              </a:ext>
            </a:extLst>
          </p:cNvPr>
          <p:cNvSpPr>
            <a:spLocks noGrp="1"/>
          </p:cNvSpPr>
          <p:nvPr>
            <p:ph idx="1"/>
          </p:nvPr>
        </p:nvSpPr>
        <p:spPr>
          <a:xfrm>
            <a:off x="1484310" y="71021"/>
            <a:ext cx="10018713" cy="6786979"/>
          </a:xfrm>
        </p:spPr>
        <p:txBody>
          <a:bodyPr>
            <a:normAutofit fontScale="62500" lnSpcReduction="20000"/>
          </a:bodyPr>
          <a:lstStyle/>
          <a:p>
            <a:pPr marL="0" indent="0">
              <a:buNone/>
            </a:pPr>
            <a:r>
              <a:rPr lang="en-US" dirty="0"/>
              <a:t>import { Routes, Route } from 'react-router-</a:t>
            </a:r>
            <a:r>
              <a:rPr lang="en-US" dirty="0" err="1"/>
              <a:t>dom</a:t>
            </a:r>
            <a:r>
              <a:rPr lang="en-US" dirty="0"/>
              <a:t>';</a:t>
            </a:r>
          </a:p>
          <a:p>
            <a:pPr marL="0" indent="0">
              <a:buNone/>
            </a:pPr>
            <a:r>
              <a:rPr lang="en-US" dirty="0"/>
              <a:t>// 1. Import the components you want to use as pages</a:t>
            </a:r>
          </a:p>
          <a:p>
            <a:pPr marL="0" indent="0">
              <a:buNone/>
            </a:pPr>
            <a:r>
              <a:rPr lang="en-US" dirty="0"/>
              <a:t>import Home from './pages/Home';</a:t>
            </a:r>
          </a:p>
          <a:p>
            <a:pPr marL="0" indent="0">
              <a:buNone/>
            </a:pPr>
            <a:r>
              <a:rPr lang="en-US" dirty="0"/>
              <a:t>import About from './pages/About';</a:t>
            </a:r>
          </a:p>
          <a:p>
            <a:pPr marL="0" indent="0">
              <a:buNone/>
            </a:pPr>
            <a:r>
              <a:rPr lang="en-US" dirty="0"/>
              <a:t>import Dashboard from './pages/Dashboard';</a:t>
            </a:r>
          </a:p>
          <a:p>
            <a:pPr marL="0" indent="0">
              <a:buNone/>
            </a:pPr>
            <a:endParaRPr lang="en-US" dirty="0"/>
          </a:p>
          <a:p>
            <a:pPr marL="0" indent="0">
              <a:buNone/>
            </a:pPr>
            <a:r>
              <a:rPr lang="en-US" dirty="0"/>
              <a:t>function App() {</a:t>
            </a:r>
          </a:p>
          <a:p>
            <a:pPr marL="0" indent="0">
              <a:buNone/>
            </a:pPr>
            <a:r>
              <a:rPr lang="en-US" dirty="0"/>
              <a:t>  return (</a:t>
            </a:r>
          </a:p>
          <a:p>
            <a:pPr marL="0" indent="0">
              <a:buNone/>
            </a:pPr>
            <a:r>
              <a:rPr lang="en-US" dirty="0"/>
              <a:t>    &lt;div </a:t>
            </a:r>
            <a:r>
              <a:rPr lang="en-US" dirty="0" err="1"/>
              <a:t>className</a:t>
            </a:r>
            <a:r>
              <a:rPr lang="en-US" dirty="0"/>
              <a:t>="App"&gt;</a:t>
            </a:r>
          </a:p>
          <a:p>
            <a:pPr marL="0" indent="0">
              <a:buNone/>
            </a:pPr>
            <a:r>
              <a:rPr lang="en-US" dirty="0"/>
              <a:t>      {/* Navigation will go here (See next slide) */}</a:t>
            </a:r>
          </a:p>
          <a:p>
            <a:pPr marL="0" indent="0">
              <a:buNone/>
            </a:pPr>
            <a:endParaRPr lang="en-US" dirty="0"/>
          </a:p>
          <a:p>
            <a:pPr marL="0" indent="0">
              <a:buNone/>
            </a:pPr>
            <a:r>
              <a:rPr lang="en-US" dirty="0"/>
              <a:t>      {/* 2. Define the Routes container */}</a:t>
            </a:r>
          </a:p>
          <a:p>
            <a:pPr marL="0" indent="0">
              <a:buNone/>
            </a:pPr>
            <a:r>
              <a:rPr lang="en-US" dirty="0"/>
              <a:t>      &lt;Routes&gt;</a:t>
            </a:r>
          </a:p>
          <a:p>
            <a:pPr marL="0" indent="0">
              <a:buNone/>
            </a:pPr>
            <a:r>
              <a:rPr lang="en-US" dirty="0"/>
              <a:t>        {/* 3. Define each individual Route */}</a:t>
            </a:r>
          </a:p>
          <a:p>
            <a:pPr marL="0" indent="0">
              <a:buNone/>
            </a:pPr>
            <a:r>
              <a:rPr lang="en-US" dirty="0"/>
              <a:t>        &lt;Route path="/" element={ &lt;Home /&gt; } /&gt;</a:t>
            </a:r>
          </a:p>
          <a:p>
            <a:pPr marL="0" indent="0">
              <a:buNone/>
            </a:pPr>
            <a:r>
              <a:rPr lang="en-US" dirty="0"/>
              <a:t>        &lt;Route path="/about" element={ &lt;About /&gt; } /&gt;</a:t>
            </a:r>
          </a:p>
          <a:p>
            <a:pPr marL="0" indent="0">
              <a:buNone/>
            </a:pPr>
            <a:r>
              <a:rPr lang="en-US" dirty="0"/>
              <a:t>        &lt;Route path="/dashboard" element={ &lt;Dashboard /&gt; } /&gt;</a:t>
            </a:r>
          </a:p>
          <a:p>
            <a:pPr marL="0" indent="0">
              <a:buNone/>
            </a:pPr>
            <a:r>
              <a:rPr lang="en-US" dirty="0"/>
              <a:t>      &lt;/Routes&gt;</a:t>
            </a:r>
          </a:p>
          <a:p>
            <a:pPr marL="0" indent="0">
              <a:buNone/>
            </a:pPr>
            <a:r>
              <a:rPr lang="en-US" dirty="0"/>
              <a:t>    &lt;/div&gt;</a:t>
            </a:r>
          </a:p>
          <a:p>
            <a:pPr marL="0" indent="0">
              <a:buNone/>
            </a:pPr>
            <a:r>
              <a:rPr lang="en-US" dirty="0"/>
              <a:t>  );</a:t>
            </a:r>
          </a:p>
          <a:p>
            <a:pPr marL="0" indent="0">
              <a:buNone/>
            </a:pPr>
            <a:r>
              <a:rPr lang="en-US" dirty="0"/>
              <a:t>}</a:t>
            </a:r>
          </a:p>
          <a:p>
            <a:pPr marL="0" indent="0">
              <a:buNone/>
            </a:pPr>
            <a:r>
              <a:rPr lang="en-US" dirty="0"/>
              <a:t>export default App;</a:t>
            </a:r>
          </a:p>
          <a:p>
            <a:pPr marL="0" indent="0">
              <a:buNone/>
            </a:pPr>
            <a:endParaRPr lang="en-US" dirty="0"/>
          </a:p>
        </p:txBody>
      </p:sp>
    </p:spTree>
    <p:extLst>
      <p:ext uri="{BB962C8B-B14F-4D97-AF65-F5344CB8AC3E}">
        <p14:creationId xmlns:p14="http://schemas.microsoft.com/office/powerpoint/2010/main" val="2887830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E340D-D29A-CCEC-E3B6-6510266CBE30}"/>
              </a:ext>
            </a:extLst>
          </p:cNvPr>
          <p:cNvSpPr>
            <a:spLocks noGrp="1"/>
          </p:cNvSpPr>
          <p:nvPr>
            <p:ph type="title"/>
          </p:nvPr>
        </p:nvSpPr>
        <p:spPr/>
        <p:txBody>
          <a:bodyPr/>
          <a:lstStyle/>
          <a:p>
            <a:r>
              <a:rPr lang="en-US" b="1" dirty="0"/>
              <a:t>React Routing: Step 4 - Navigation (&lt;Link&gt;)</a:t>
            </a:r>
            <a:endParaRPr lang="en-US" dirty="0"/>
          </a:p>
        </p:txBody>
      </p:sp>
      <p:sp>
        <p:nvSpPr>
          <p:cNvPr id="3" name="Content Placeholder 2">
            <a:extLst>
              <a:ext uri="{FF2B5EF4-FFF2-40B4-BE49-F238E27FC236}">
                <a16:creationId xmlns:a16="http://schemas.microsoft.com/office/drawing/2014/main" id="{051C1865-B170-2BEE-DD4B-64DE47AFD3F4}"/>
              </a:ext>
            </a:extLst>
          </p:cNvPr>
          <p:cNvSpPr>
            <a:spLocks noGrp="1"/>
          </p:cNvSpPr>
          <p:nvPr>
            <p:ph idx="1"/>
          </p:nvPr>
        </p:nvSpPr>
        <p:spPr>
          <a:xfrm>
            <a:off x="1484310" y="2059619"/>
            <a:ext cx="10018713" cy="4563123"/>
          </a:xfrm>
        </p:spPr>
        <p:txBody>
          <a:bodyPr>
            <a:normAutofit fontScale="92500" lnSpcReduction="10000"/>
          </a:bodyPr>
          <a:lstStyle/>
          <a:p>
            <a:r>
              <a:rPr lang="en-US" dirty="0"/>
              <a:t>Creating Navigation Links</a:t>
            </a:r>
          </a:p>
          <a:p>
            <a:r>
              <a:rPr lang="en-US" b="1" dirty="0"/>
              <a:t>Explanation:</a:t>
            </a:r>
            <a:endParaRPr lang="en-US" dirty="0"/>
          </a:p>
          <a:p>
            <a:r>
              <a:rPr lang="en-US" b="1" dirty="0"/>
              <a:t>Problem:</a:t>
            </a:r>
            <a:r>
              <a:rPr lang="en-US" dirty="0"/>
              <a:t> We cannot use a normal &lt;a&gt; (anchor) tag (e.g., &lt;a </a:t>
            </a:r>
            <a:r>
              <a:rPr lang="en-US" dirty="0" err="1"/>
              <a:t>href</a:t>
            </a:r>
            <a:r>
              <a:rPr lang="en-US" dirty="0"/>
              <a:t>="/about"&gt;About&lt;/a&gt;). An &lt;a&gt; tag will trigger a full-page reload, breaking our SPA.</a:t>
            </a:r>
          </a:p>
          <a:p>
            <a:r>
              <a:rPr lang="en-US" b="1" dirty="0"/>
              <a:t>Solution:</a:t>
            </a:r>
            <a:r>
              <a:rPr lang="en-US" dirty="0"/>
              <a:t> react-router-</a:t>
            </a:r>
            <a:r>
              <a:rPr lang="en-US" dirty="0" err="1"/>
              <a:t>dom</a:t>
            </a:r>
            <a:r>
              <a:rPr lang="en-US" dirty="0"/>
              <a:t> provides the &lt;Link&gt; component.</a:t>
            </a:r>
          </a:p>
          <a:p>
            <a:r>
              <a:rPr lang="en-US" b="1" dirty="0"/>
              <a:t>How it works:</a:t>
            </a:r>
            <a:endParaRPr lang="en-US" dirty="0"/>
          </a:p>
          <a:p>
            <a:pPr lvl="1"/>
            <a:r>
              <a:rPr lang="en-US" dirty="0"/>
              <a:t>&lt;Link&gt; renders an &lt;a&gt; tag in the HTML.</a:t>
            </a:r>
          </a:p>
          <a:p>
            <a:pPr lvl="1"/>
            <a:r>
              <a:rPr lang="en-US" dirty="0"/>
              <a:t>However, it </a:t>
            </a:r>
            <a:r>
              <a:rPr lang="en-US" i="1" dirty="0"/>
              <a:t>prevents</a:t>
            </a:r>
            <a:r>
              <a:rPr lang="en-US" dirty="0"/>
              <a:t> the default browser reload.</a:t>
            </a:r>
          </a:p>
          <a:p>
            <a:pPr lvl="1"/>
            <a:r>
              <a:rPr lang="en-US" dirty="0"/>
              <a:t>Instead, it updates the URL in the browser bar and tells the </a:t>
            </a:r>
            <a:r>
              <a:rPr lang="en-US" dirty="0" err="1"/>
              <a:t>BrowserRouter</a:t>
            </a:r>
            <a:r>
              <a:rPr lang="en-US" dirty="0"/>
              <a:t> to render the new component.</a:t>
            </a:r>
          </a:p>
          <a:p>
            <a:endParaRPr lang="en-US" dirty="0"/>
          </a:p>
        </p:txBody>
      </p:sp>
    </p:spTree>
    <p:extLst>
      <p:ext uri="{BB962C8B-B14F-4D97-AF65-F5344CB8AC3E}">
        <p14:creationId xmlns:p14="http://schemas.microsoft.com/office/powerpoint/2010/main" val="3163284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57B39E-0894-DF7E-9CFB-A885829E6D8E}"/>
              </a:ext>
            </a:extLst>
          </p:cNvPr>
          <p:cNvSpPr>
            <a:spLocks noGrp="1"/>
          </p:cNvSpPr>
          <p:nvPr>
            <p:ph idx="1"/>
          </p:nvPr>
        </p:nvSpPr>
        <p:spPr>
          <a:xfrm>
            <a:off x="1484310" y="213065"/>
            <a:ext cx="10018713" cy="6383044"/>
          </a:xfrm>
        </p:spPr>
        <p:txBody>
          <a:bodyPr>
            <a:normAutofit fontScale="62500" lnSpcReduction="20000"/>
          </a:bodyPr>
          <a:lstStyle/>
          <a:p>
            <a:pPr marL="0" indent="0">
              <a:buNone/>
            </a:pPr>
            <a:r>
              <a:rPr lang="en-US" dirty="0"/>
              <a:t>import { Link } from 'react-router-</a:t>
            </a:r>
            <a:r>
              <a:rPr lang="en-US" dirty="0" err="1"/>
              <a:t>dom</a:t>
            </a:r>
            <a:r>
              <a:rPr lang="en-US" dirty="0"/>
              <a:t>';</a:t>
            </a:r>
          </a:p>
          <a:p>
            <a:pPr marL="0" indent="0">
              <a:buNone/>
            </a:pPr>
            <a:endParaRPr lang="en-US" dirty="0"/>
          </a:p>
          <a:p>
            <a:pPr marL="0" indent="0">
              <a:buNone/>
            </a:pPr>
            <a:r>
              <a:rPr lang="en-US" dirty="0"/>
              <a:t>function Navigation() {</a:t>
            </a:r>
          </a:p>
          <a:p>
            <a:pPr marL="0" indent="0">
              <a:buNone/>
            </a:pPr>
            <a:r>
              <a:rPr lang="en-US" dirty="0"/>
              <a:t>  return (</a:t>
            </a:r>
          </a:p>
          <a:p>
            <a:pPr marL="0" indent="0">
              <a:buNone/>
            </a:pPr>
            <a:r>
              <a:rPr lang="en-US" dirty="0"/>
              <a:t>    &lt;nav&gt;</a:t>
            </a:r>
          </a:p>
          <a:p>
            <a:pPr marL="0" indent="0">
              <a:buNone/>
            </a:pPr>
            <a:r>
              <a:rPr lang="en-US" dirty="0"/>
              <a:t>      &lt;ul&gt;</a:t>
            </a:r>
          </a:p>
          <a:p>
            <a:pPr marL="0" indent="0">
              <a:buNone/>
            </a:pPr>
            <a:r>
              <a:rPr lang="en-US" dirty="0"/>
              <a:t>        &lt;li&gt;</a:t>
            </a:r>
          </a:p>
          <a:p>
            <a:pPr marL="0" indent="0">
              <a:buNone/>
            </a:pPr>
            <a:r>
              <a:rPr lang="en-US" dirty="0"/>
              <a:t>          &lt;Link to="/"&gt;Home&lt;/Link&gt;</a:t>
            </a:r>
          </a:p>
          <a:p>
            <a:pPr marL="0" indent="0">
              <a:buNone/>
            </a:pPr>
            <a:r>
              <a:rPr lang="en-US" dirty="0"/>
              <a:t>        &lt;/li&gt;</a:t>
            </a:r>
          </a:p>
          <a:p>
            <a:pPr marL="0" indent="0">
              <a:buNone/>
            </a:pPr>
            <a:r>
              <a:rPr lang="en-US" dirty="0"/>
              <a:t>        &lt;li&gt;</a:t>
            </a:r>
          </a:p>
          <a:p>
            <a:pPr marL="0" indent="0">
              <a:buNone/>
            </a:pPr>
            <a:r>
              <a:rPr lang="en-US" dirty="0"/>
              <a:t>          &lt;Link to="/about"&gt;About Us&lt;/Link&gt;</a:t>
            </a:r>
          </a:p>
          <a:p>
            <a:pPr marL="0" indent="0">
              <a:buNone/>
            </a:pPr>
            <a:r>
              <a:rPr lang="en-US" dirty="0"/>
              <a:t>        &lt;/li&gt;</a:t>
            </a:r>
          </a:p>
          <a:p>
            <a:pPr marL="0" indent="0">
              <a:buNone/>
            </a:pPr>
            <a:r>
              <a:rPr lang="en-US" dirty="0"/>
              <a:t>        &lt;li&gt;</a:t>
            </a:r>
          </a:p>
          <a:p>
            <a:pPr marL="0" indent="0">
              <a:buNone/>
            </a:pPr>
            <a:r>
              <a:rPr lang="en-US" dirty="0"/>
              <a:t>          &lt;Link to="/dashboard"&gt;Dashboard&lt;/Link&gt;</a:t>
            </a:r>
          </a:p>
          <a:p>
            <a:pPr marL="0" indent="0">
              <a:buNone/>
            </a:pPr>
            <a:r>
              <a:rPr lang="en-US" dirty="0"/>
              <a:t>        &lt;/li&gt;</a:t>
            </a:r>
          </a:p>
          <a:p>
            <a:pPr marL="0" indent="0">
              <a:buNone/>
            </a:pPr>
            <a:r>
              <a:rPr lang="en-US" dirty="0"/>
              <a:t>      &lt;/ul&gt;</a:t>
            </a:r>
          </a:p>
          <a:p>
            <a:pPr marL="0" indent="0">
              <a:buNone/>
            </a:pPr>
            <a:r>
              <a:rPr lang="en-US" dirty="0"/>
              <a:t>    &lt;/nav&gt;</a:t>
            </a:r>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1854115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0E9BE7-043D-871D-3514-1C3E978B189B}"/>
              </a:ext>
            </a:extLst>
          </p:cNvPr>
          <p:cNvSpPr>
            <a:spLocks noGrp="1"/>
          </p:cNvSpPr>
          <p:nvPr>
            <p:ph idx="1"/>
          </p:nvPr>
        </p:nvSpPr>
        <p:spPr>
          <a:xfrm>
            <a:off x="1484310" y="248575"/>
            <a:ext cx="10018713" cy="6312023"/>
          </a:xfrm>
        </p:spPr>
        <p:txBody>
          <a:bodyPr>
            <a:normAutofit fontScale="55000" lnSpcReduction="20000"/>
          </a:bodyPr>
          <a:lstStyle/>
          <a:p>
            <a:r>
              <a:rPr lang="en-US" dirty="0"/>
              <a:t>function App() {</a:t>
            </a:r>
          </a:p>
          <a:p>
            <a:r>
              <a:rPr lang="en-US" dirty="0"/>
              <a:t>  return (</a:t>
            </a:r>
          </a:p>
          <a:p>
            <a:r>
              <a:rPr lang="en-US" dirty="0"/>
              <a:t>    &lt;div </a:t>
            </a:r>
            <a:r>
              <a:rPr lang="en-US" dirty="0" err="1"/>
              <a:t>className</a:t>
            </a:r>
            <a:r>
              <a:rPr lang="en-US" dirty="0"/>
              <a:t>="App"&gt;</a:t>
            </a:r>
          </a:p>
          <a:p>
            <a:r>
              <a:rPr lang="en-US" dirty="0"/>
              <a:t>      {/* 1. NAVIGATION using &lt;Link&gt; */}</a:t>
            </a:r>
          </a:p>
          <a:p>
            <a:r>
              <a:rPr lang="en-US" dirty="0"/>
              <a:t>      &lt;nav&gt;</a:t>
            </a:r>
          </a:p>
          <a:p>
            <a:r>
              <a:rPr lang="en-US" dirty="0"/>
              <a:t>        &lt;Link to="/"&gt;Home&lt;/Link&gt; | </a:t>
            </a:r>
          </a:p>
          <a:p>
            <a:r>
              <a:rPr lang="en-US" dirty="0"/>
              <a:t>        &lt;Link to="/about"&gt;About&lt;/Link&gt; | </a:t>
            </a:r>
          </a:p>
          <a:p>
            <a:r>
              <a:rPr lang="en-US" dirty="0"/>
              <a:t>        &lt;Link to="/dashboard"&gt;Dashboard&lt;/Link&gt;</a:t>
            </a:r>
          </a:p>
          <a:p>
            <a:r>
              <a:rPr lang="en-US" dirty="0"/>
              <a:t>      &lt;/nav&gt;</a:t>
            </a:r>
          </a:p>
          <a:p>
            <a:r>
              <a:rPr lang="en-US" dirty="0"/>
              <a:t>      &lt;</a:t>
            </a:r>
            <a:r>
              <a:rPr lang="en-US" dirty="0" err="1"/>
              <a:t>hr</a:t>
            </a:r>
            <a:r>
              <a:rPr lang="en-US" dirty="0"/>
              <a:t> /&gt;</a:t>
            </a:r>
          </a:p>
          <a:p>
            <a:r>
              <a:rPr lang="en-US" dirty="0"/>
              <a:t>      {/* 2. ROUTE DEFINITIONS using &lt;Routes&gt; and &lt;Route&gt; */}</a:t>
            </a:r>
          </a:p>
          <a:p>
            <a:r>
              <a:rPr lang="en-US" dirty="0"/>
              <a:t>      &lt;Routes&gt;</a:t>
            </a:r>
          </a:p>
          <a:p>
            <a:r>
              <a:rPr lang="en-US" dirty="0"/>
              <a:t>        &lt;Route path="/" element={ &lt;Home /&gt; } /&gt;</a:t>
            </a:r>
          </a:p>
          <a:p>
            <a:r>
              <a:rPr lang="en-US" dirty="0"/>
              <a:t>        &lt;Route path="/about" element={ &lt;About /&gt; } /&gt;</a:t>
            </a:r>
          </a:p>
          <a:p>
            <a:r>
              <a:rPr lang="en-US" dirty="0"/>
              <a:t>        &lt;Route path="/dashboard" element={ &lt;Dashboard /&gt; } /&gt;</a:t>
            </a:r>
          </a:p>
          <a:p>
            <a:r>
              <a:rPr lang="en-US" dirty="0"/>
              <a:t>      &lt;/Routes&gt;</a:t>
            </a:r>
          </a:p>
          <a:p>
            <a:r>
              <a:rPr lang="en-US" dirty="0"/>
              <a:t>    &lt;/div&gt;</a:t>
            </a:r>
          </a:p>
          <a:p>
            <a:r>
              <a:rPr lang="en-US" dirty="0"/>
              <a:t>  );</a:t>
            </a:r>
          </a:p>
          <a:p>
            <a:r>
              <a:rPr lang="en-US" dirty="0"/>
              <a:t>}</a:t>
            </a:r>
          </a:p>
          <a:p>
            <a:endParaRPr lang="en-US" dirty="0"/>
          </a:p>
          <a:p>
            <a:r>
              <a:rPr lang="en-US" dirty="0"/>
              <a:t>export default App;</a:t>
            </a:r>
          </a:p>
          <a:p>
            <a:endParaRPr lang="en-US" dirty="0"/>
          </a:p>
        </p:txBody>
      </p:sp>
    </p:spTree>
    <p:extLst>
      <p:ext uri="{BB962C8B-B14F-4D97-AF65-F5344CB8AC3E}">
        <p14:creationId xmlns:p14="http://schemas.microsoft.com/office/powerpoint/2010/main" val="4641165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215</TotalTime>
  <Words>2099</Words>
  <Application>Microsoft Office PowerPoint</Application>
  <PresentationFormat>Widescreen</PresentationFormat>
  <Paragraphs>203</Paragraphs>
  <Slides>27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Corbel</vt:lpstr>
      <vt:lpstr>Courier New</vt:lpstr>
      <vt:lpstr>Times New Roman</vt:lpstr>
      <vt:lpstr>Parallax</vt:lpstr>
      <vt:lpstr>Working with React &amp; the Fetch API (CRUD) and Routes</vt:lpstr>
      <vt:lpstr>What is the Fetch API?</vt:lpstr>
      <vt:lpstr>Why Use Fetch in React?</vt:lpstr>
      <vt:lpstr>Core Pattern (Step-by-step)</vt:lpstr>
      <vt:lpstr>GET Example (React)</vt:lpstr>
      <vt:lpstr>GET Example — Full Component</vt:lpstr>
      <vt:lpstr>POST Example (React) — Purpose</vt:lpstr>
      <vt:lpstr>POST Example — Component Snippet</vt:lpstr>
      <vt:lpstr>PUT Example (React) — Purpose</vt:lpstr>
      <vt:lpstr>PUT Example — Component Snippet</vt:lpstr>
      <vt:lpstr>DELETE Example (React) — Purpose</vt:lpstr>
      <vt:lpstr>DELETE Example — Component Snippet</vt:lpstr>
      <vt:lpstr>Best Practices</vt:lpstr>
      <vt:lpstr>Common UX Patterns</vt:lpstr>
      <vt:lpstr>Summary &amp; Next Steps</vt:lpstr>
      <vt:lpstr>React Router </vt:lpstr>
      <vt:lpstr>Key Concepts of Routing: </vt:lpstr>
      <vt:lpstr> Installing and verification React Router</vt:lpstr>
      <vt:lpstr>Basic Pages with React-Routing</vt:lpstr>
      <vt:lpstr>React Routing: Step 1 - Installation</vt:lpstr>
      <vt:lpstr>React Routing: Step 2 - The Setup (BrowserRouter) </vt:lpstr>
      <vt:lpstr>PowerPoint Presentation</vt:lpstr>
      <vt:lpstr>React Routing: Step 3 - Defining Routes (Routes &amp; Route) </vt:lpstr>
      <vt:lpstr>PowerPoint Presentation</vt:lpstr>
      <vt:lpstr>React Routing: Step 4 - Navigation (&lt;Link&gt;)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 n</dc:creator>
  <cp:lastModifiedBy>d n</cp:lastModifiedBy>
  <cp:revision>2</cp:revision>
  <dcterms:created xsi:type="dcterms:W3CDTF">2025-11-18T06:53:08Z</dcterms:created>
  <dcterms:modified xsi:type="dcterms:W3CDTF">2025-11-18T10:28:28Z</dcterms:modified>
</cp:coreProperties>
</file>