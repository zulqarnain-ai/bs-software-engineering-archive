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68" r:id="rId15"/>
    <p:sldId id="269" r:id="rId16"/>
    <p:sldId id="270"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7" r:id="rId52"/>
    <p:sldId id="306"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8" d="100"/>
          <a:sy n="78" d="100"/>
        </p:scale>
        <p:origin x="778" y="2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77EF1FA6-8BB5-448B-9E5A-2DA11B9B69B9}" type="datetimeFigureOut">
              <a:rPr lang="en-US" smtClean="0"/>
              <a:t>15-Dec-24</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B0CB8A2C-80CD-434B-90A9-B00E0DC3136F}" type="slidenum">
              <a:rPr lang="en-US" smtClean="0"/>
              <a:t>‹#›</a:t>
            </a:fld>
            <a:endParaRPr lang="en-US"/>
          </a:p>
        </p:txBody>
      </p:sp>
    </p:spTree>
    <p:extLst>
      <p:ext uri="{BB962C8B-B14F-4D97-AF65-F5344CB8AC3E}">
        <p14:creationId xmlns:p14="http://schemas.microsoft.com/office/powerpoint/2010/main" val="633378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61110" y="2275840"/>
            <a:ext cx="11082593" cy="41159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EF1FA6-8BB5-448B-9E5A-2DA11B9B69B9}" type="datetimeFigureOut">
              <a:rPr lang="en-US" smtClean="0"/>
              <a:t>15-Dec-24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CB8A2C-80CD-434B-90A9-B00E0DC3136F}" type="slidenum">
              <a:rPr lang="en-US" smtClean="0"/>
              <a:t>‹#›</a:t>
            </a:fld>
            <a:endParaRPr lang="en-US"/>
          </a:p>
        </p:txBody>
      </p:sp>
    </p:spTree>
    <p:extLst>
      <p:ext uri="{BB962C8B-B14F-4D97-AF65-F5344CB8AC3E}">
        <p14:creationId xmlns:p14="http://schemas.microsoft.com/office/powerpoint/2010/main" val="952604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F1FA6-8BB5-448B-9E5A-2DA11B9B69B9}" type="datetimeFigureOut">
              <a:rPr lang="en-US" smtClean="0"/>
              <a:t>15-Dec-24</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0CB8A2C-80CD-434B-90A9-B00E0DC3136F}" type="slidenum">
              <a:rPr lang="en-US" smtClean="0"/>
              <a:t>‹#›</a:t>
            </a:fld>
            <a:endParaRPr lang="en-US"/>
          </a:p>
        </p:txBody>
      </p:sp>
    </p:spTree>
    <p:extLst>
      <p:ext uri="{BB962C8B-B14F-4D97-AF65-F5344CB8AC3E}">
        <p14:creationId xmlns:p14="http://schemas.microsoft.com/office/powerpoint/2010/main" val="3092267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EF1FA6-8BB5-448B-9E5A-2DA11B9B69B9}" type="datetimeFigureOut">
              <a:rPr lang="en-US" smtClean="0"/>
              <a:t>15-Dec-24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CB8A2C-80CD-434B-90A9-B00E0DC3136F}" type="slidenum">
              <a:rPr lang="en-US" smtClean="0"/>
              <a:t>‹#›</a:t>
            </a:fld>
            <a:endParaRPr lang="en-US"/>
          </a:p>
        </p:txBody>
      </p:sp>
    </p:spTree>
    <p:extLst>
      <p:ext uri="{BB962C8B-B14F-4D97-AF65-F5344CB8AC3E}">
        <p14:creationId xmlns:p14="http://schemas.microsoft.com/office/powerpoint/2010/main" val="3477247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EF1FA6-8BB5-448B-9E5A-2DA11B9B69B9}" type="datetimeFigureOut">
              <a:rPr lang="en-US" smtClean="0"/>
              <a:t>15-Dec-24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CB8A2C-80CD-434B-90A9-B00E0DC3136F}" type="slidenum">
              <a:rPr lang="en-US" smtClean="0"/>
              <a:t>‹#›</a:t>
            </a:fld>
            <a:endParaRPr lang="en-US"/>
          </a:p>
        </p:txBody>
      </p:sp>
    </p:spTree>
    <p:extLst>
      <p:ext uri="{BB962C8B-B14F-4D97-AF65-F5344CB8AC3E}">
        <p14:creationId xmlns:p14="http://schemas.microsoft.com/office/powerpoint/2010/main" val="2388903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EF1FA6-8BB5-448B-9E5A-2DA11B9B69B9}" type="datetimeFigureOut">
              <a:rPr lang="en-US" smtClean="0"/>
              <a:t>15-Dec-24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CB8A2C-80CD-434B-90A9-B00E0DC3136F}" type="slidenum">
              <a:rPr lang="en-US" smtClean="0"/>
              <a:t>‹#›</a:t>
            </a:fld>
            <a:endParaRPr lang="en-US"/>
          </a:p>
        </p:txBody>
      </p:sp>
    </p:spTree>
    <p:extLst>
      <p:ext uri="{BB962C8B-B14F-4D97-AF65-F5344CB8AC3E}">
        <p14:creationId xmlns:p14="http://schemas.microsoft.com/office/powerpoint/2010/main" val="3796459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EF1FA6-8BB5-448B-9E5A-2DA11B9B69B9}" type="datetimeFigureOut">
              <a:rPr lang="en-US" smtClean="0"/>
              <a:t>15-Dec-24</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B0CB8A2C-80CD-434B-90A9-B00E0DC3136F}" type="slidenum">
              <a:rPr lang="en-US" smtClean="0"/>
              <a:t>‹#›</a:t>
            </a:fld>
            <a:endParaRPr lang="en-US"/>
          </a:p>
        </p:txBody>
      </p:sp>
    </p:spTree>
    <p:extLst>
      <p:ext uri="{BB962C8B-B14F-4D97-AF65-F5344CB8AC3E}">
        <p14:creationId xmlns:p14="http://schemas.microsoft.com/office/powerpoint/2010/main" val="2879158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EF1FA6-8BB5-448B-9E5A-2DA11B9B69B9}" type="datetimeFigureOut">
              <a:rPr lang="en-US" smtClean="0"/>
              <a:t>15-Dec-24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0CB8A2C-80CD-434B-90A9-B00E0DC3136F}" type="slidenum">
              <a:rPr lang="en-US" smtClean="0"/>
              <a:t>‹#›</a:t>
            </a:fld>
            <a:endParaRPr lang="en-US"/>
          </a:p>
        </p:txBody>
      </p:sp>
    </p:spTree>
    <p:extLst>
      <p:ext uri="{BB962C8B-B14F-4D97-AF65-F5344CB8AC3E}">
        <p14:creationId xmlns:p14="http://schemas.microsoft.com/office/powerpoint/2010/main" val="2434073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EF1FA6-8BB5-448B-9E5A-2DA11B9B69B9}" type="datetimeFigureOut">
              <a:rPr lang="en-US" smtClean="0"/>
              <a:t>15-Dec-24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0CB8A2C-80CD-434B-90A9-B00E0DC3136F}" type="slidenum">
              <a:rPr lang="en-US" smtClean="0"/>
              <a:t>‹#›</a:t>
            </a:fld>
            <a:endParaRPr lang="en-US"/>
          </a:p>
        </p:txBody>
      </p:sp>
    </p:spTree>
    <p:extLst>
      <p:ext uri="{BB962C8B-B14F-4D97-AF65-F5344CB8AC3E}">
        <p14:creationId xmlns:p14="http://schemas.microsoft.com/office/powerpoint/2010/main" val="25215558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EF1FA6-8BB5-448B-9E5A-2DA11B9B69B9}" type="datetimeFigureOut">
              <a:rPr lang="en-US" smtClean="0"/>
              <a:t>15-Dec-24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0CB8A2C-80CD-434B-90A9-B00E0DC3136F}" type="slidenum">
              <a:rPr lang="en-US" smtClean="0"/>
              <a:t>‹#›</a:t>
            </a:fld>
            <a:endParaRPr lang="en-US"/>
          </a:p>
        </p:txBody>
      </p:sp>
    </p:spTree>
    <p:extLst>
      <p:ext uri="{BB962C8B-B14F-4D97-AF65-F5344CB8AC3E}">
        <p14:creationId xmlns:p14="http://schemas.microsoft.com/office/powerpoint/2010/main" val="35350120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7EF1FA6-8BB5-448B-9E5A-2DA11B9B69B9}" type="datetimeFigureOut">
              <a:rPr lang="en-US" smtClean="0"/>
              <a:t>15-Dec-24</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0CB8A2C-80CD-434B-90A9-B00E0DC3136F}" type="slidenum">
              <a:rPr lang="en-US" smtClean="0"/>
              <a:t>‹#›</a:t>
            </a:fld>
            <a:endParaRPr lang="en-US"/>
          </a:p>
        </p:txBody>
      </p:sp>
    </p:spTree>
    <p:extLst>
      <p:ext uri="{BB962C8B-B14F-4D97-AF65-F5344CB8AC3E}">
        <p14:creationId xmlns:p14="http://schemas.microsoft.com/office/powerpoint/2010/main" val="25984618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7EF1FA6-8BB5-448B-9E5A-2DA11B9B69B9}" type="datetimeFigureOut">
              <a:rPr lang="en-US" smtClean="0"/>
              <a:t>15-Dec-24</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0CB8A2C-80CD-434B-90A9-B00E0DC3136F}" type="slidenum">
              <a:rPr lang="en-US" smtClean="0"/>
              <a:t>‹#›</a:t>
            </a:fld>
            <a:endParaRPr lang="en-US"/>
          </a:p>
        </p:txBody>
      </p:sp>
    </p:spTree>
    <p:extLst>
      <p:ext uri="{BB962C8B-B14F-4D97-AF65-F5344CB8AC3E}">
        <p14:creationId xmlns:p14="http://schemas.microsoft.com/office/powerpoint/2010/main" val="15450343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F1FA6-8BB5-448B-9E5A-2DA11B9B69B9}" type="datetimeFigureOut">
              <a:rPr lang="en-US" smtClean="0"/>
              <a:t>15-Dec-24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0CB8A2C-80CD-434B-90A9-B00E0DC3136F}" type="slidenum">
              <a:rPr lang="en-US" smtClean="0"/>
              <a:t>‹#›</a:t>
            </a:fld>
            <a:endParaRPr lang="en-US"/>
          </a:p>
        </p:txBody>
      </p:sp>
    </p:spTree>
    <p:extLst>
      <p:ext uri="{BB962C8B-B14F-4D97-AF65-F5344CB8AC3E}">
        <p14:creationId xmlns:p14="http://schemas.microsoft.com/office/powerpoint/2010/main" val="9366879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77EF1FA6-8BB5-448B-9E5A-2DA11B9B69B9}" type="datetimeFigureOut">
              <a:rPr lang="en-US" smtClean="0"/>
              <a:t>15-Dec-24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CB8A2C-80CD-434B-90A9-B00E0DC3136F}" type="slidenum">
              <a:rPr lang="en-US" smtClean="0"/>
              <a:t>‹#›</a:t>
            </a:fld>
            <a:endParaRPr lang="en-US"/>
          </a:p>
        </p:txBody>
      </p:sp>
    </p:spTree>
    <p:extLst>
      <p:ext uri="{BB962C8B-B14F-4D97-AF65-F5344CB8AC3E}">
        <p14:creationId xmlns:p14="http://schemas.microsoft.com/office/powerpoint/2010/main" val="14855076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77EF1FA6-8BB5-448B-9E5A-2DA11B9B69B9}" type="datetimeFigureOut">
              <a:rPr lang="en-US" smtClean="0"/>
              <a:t>15-Dec-24</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B0CB8A2C-80CD-434B-90A9-B00E0DC3136F}" type="slidenum">
              <a:rPr lang="en-US" smtClean="0"/>
              <a:t>‹#›</a:t>
            </a:fld>
            <a:endParaRPr lang="en-US"/>
          </a:p>
        </p:txBody>
      </p:sp>
    </p:spTree>
    <p:extLst>
      <p:ext uri="{BB962C8B-B14F-4D97-AF65-F5344CB8AC3E}">
        <p14:creationId xmlns:p14="http://schemas.microsoft.com/office/powerpoint/2010/main" val="22888783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77EF1FA6-8BB5-448B-9E5A-2DA11B9B69B9}" type="datetimeFigureOut">
              <a:rPr lang="en-US" smtClean="0"/>
              <a:t>15-Dec-24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CB8A2C-80CD-434B-90A9-B00E0DC3136F}" type="slidenum">
              <a:rPr lang="en-US" smtClean="0"/>
              <a:t>‹#›</a:t>
            </a:fld>
            <a:endParaRPr lang="en-US"/>
          </a:p>
        </p:txBody>
      </p:sp>
    </p:spTree>
    <p:extLst>
      <p:ext uri="{BB962C8B-B14F-4D97-AF65-F5344CB8AC3E}">
        <p14:creationId xmlns:p14="http://schemas.microsoft.com/office/powerpoint/2010/main" val="11349607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77EF1FA6-8BB5-448B-9E5A-2DA11B9B69B9}" type="datetimeFigureOut">
              <a:rPr lang="en-US" smtClean="0"/>
              <a:t>15-Dec-24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0CB8A2C-80CD-434B-90A9-B00E0DC3136F}" type="slidenum">
              <a:rPr lang="en-US" smtClean="0"/>
              <a:t>‹#›</a:t>
            </a:fld>
            <a:endParaRPr lang="en-US"/>
          </a:p>
        </p:txBody>
      </p:sp>
    </p:spTree>
    <p:extLst>
      <p:ext uri="{BB962C8B-B14F-4D97-AF65-F5344CB8AC3E}">
        <p14:creationId xmlns:p14="http://schemas.microsoft.com/office/powerpoint/2010/main" val="1295812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77EF1FA6-8BB5-448B-9E5A-2DA11B9B69B9}" type="datetimeFigureOut">
              <a:rPr lang="en-US" smtClean="0"/>
              <a:t>15-Dec-24</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B0CB8A2C-80CD-434B-90A9-B00E0DC3136F}" type="slidenum">
              <a:rPr lang="en-US" smtClean="0"/>
              <a:t>‹#›</a:t>
            </a:fld>
            <a:endParaRPr lang="en-US"/>
          </a:p>
        </p:txBody>
      </p:sp>
    </p:spTree>
    <p:extLst>
      <p:ext uri="{BB962C8B-B14F-4D97-AF65-F5344CB8AC3E}">
        <p14:creationId xmlns:p14="http://schemas.microsoft.com/office/powerpoint/2010/main" val="12416937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2C54E-D2CC-606D-26D7-F14D85D8B924}"/>
              </a:ext>
            </a:extLst>
          </p:cNvPr>
          <p:cNvSpPr>
            <a:spLocks noGrp="1"/>
          </p:cNvSpPr>
          <p:nvPr>
            <p:ph type="ctrTitle"/>
          </p:nvPr>
        </p:nvSpPr>
        <p:spPr/>
        <p:txBody>
          <a:bodyPr/>
          <a:lstStyle/>
          <a:p>
            <a:r>
              <a:rPr lang="en-US" sz="6000" b="1" dirty="0">
                <a:solidFill>
                  <a:schemeClr val="bg1"/>
                </a:solidFill>
                <a:latin typeface="NimbusRomNo9L"/>
              </a:rPr>
              <a:t>Unicast Routing</a:t>
            </a:r>
            <a:endParaRPr lang="en-US" sz="19900" dirty="0">
              <a:solidFill>
                <a:schemeClr val="bg1"/>
              </a:solidFill>
            </a:endParaRPr>
          </a:p>
        </p:txBody>
      </p:sp>
      <p:sp>
        <p:nvSpPr>
          <p:cNvPr id="3" name="Subtitle 2">
            <a:extLst>
              <a:ext uri="{FF2B5EF4-FFF2-40B4-BE49-F238E27FC236}">
                <a16:creationId xmlns:a16="http://schemas.microsoft.com/office/drawing/2014/main" id="{8B125226-71F1-336C-329D-7E8ECD30B0FC}"/>
              </a:ext>
            </a:extLst>
          </p:cNvPr>
          <p:cNvSpPr>
            <a:spLocks noGrp="1"/>
          </p:cNvSpPr>
          <p:nvPr>
            <p:ph type="subTitle" idx="1"/>
          </p:nvPr>
        </p:nvSpPr>
        <p:spPr/>
        <p:txBody>
          <a:bodyPr/>
          <a:lstStyle/>
          <a:p>
            <a:r>
              <a:rPr lang="en-US" dirty="0"/>
              <a:t>Dr. Hasan Humayun</a:t>
            </a:r>
          </a:p>
        </p:txBody>
      </p:sp>
    </p:spTree>
    <p:extLst>
      <p:ext uri="{BB962C8B-B14F-4D97-AF65-F5344CB8AC3E}">
        <p14:creationId xmlns:p14="http://schemas.microsoft.com/office/powerpoint/2010/main" val="1116968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B3793-6758-EECA-39A7-E6F32056B791}"/>
              </a:ext>
            </a:extLst>
          </p:cNvPr>
          <p:cNvSpPr>
            <a:spLocks noGrp="1"/>
          </p:cNvSpPr>
          <p:nvPr>
            <p:ph type="title"/>
          </p:nvPr>
        </p:nvSpPr>
        <p:spPr/>
        <p:txBody>
          <a:bodyPr/>
          <a:lstStyle/>
          <a:p>
            <a:r>
              <a:rPr lang="en-US" dirty="0"/>
              <a:t>20.1 INTRODUCTION</a:t>
            </a:r>
          </a:p>
        </p:txBody>
      </p:sp>
      <p:sp>
        <p:nvSpPr>
          <p:cNvPr id="3" name="Content Placeholder 2">
            <a:extLst>
              <a:ext uri="{FF2B5EF4-FFF2-40B4-BE49-F238E27FC236}">
                <a16:creationId xmlns:a16="http://schemas.microsoft.com/office/drawing/2014/main" id="{1A0D6D9D-1A2D-0B18-BB8D-9BD30DE6703D}"/>
              </a:ext>
            </a:extLst>
          </p:cNvPr>
          <p:cNvSpPr>
            <a:spLocks noGrp="1"/>
          </p:cNvSpPr>
          <p:nvPr>
            <p:ph idx="1"/>
          </p:nvPr>
        </p:nvSpPr>
        <p:spPr/>
        <p:txBody>
          <a:bodyPr/>
          <a:lstStyle/>
          <a:p>
            <a:r>
              <a:rPr lang="en-US" dirty="0"/>
              <a:t>Unicast routing in the Internet, with a large number of routers and a huge number of hosts, can be done only by using hierarchical routing:</a:t>
            </a:r>
          </a:p>
          <a:p>
            <a:r>
              <a:rPr lang="en-US" dirty="0"/>
              <a:t>Using different routing algorithms. </a:t>
            </a:r>
          </a:p>
          <a:p>
            <a:r>
              <a:rPr lang="en-US" dirty="0"/>
              <a:t>Unicast routing in an internet: </a:t>
            </a:r>
          </a:p>
          <a:p>
            <a:pPr lvl="1"/>
            <a:r>
              <a:rPr lang="en-US" dirty="0"/>
              <a:t>An internetwork made of networks connected by routers. </a:t>
            </a:r>
          </a:p>
          <a:p>
            <a:r>
              <a:rPr lang="en-US" dirty="0"/>
              <a:t>After understanding the routing concepts and algorithms. </a:t>
            </a:r>
          </a:p>
          <a:p>
            <a:pPr lvl="1"/>
            <a:r>
              <a:rPr lang="en-US" dirty="0"/>
              <a:t>We show how we can apply them on RIP using hierarchical routing.</a:t>
            </a:r>
          </a:p>
        </p:txBody>
      </p:sp>
    </p:spTree>
    <p:extLst>
      <p:ext uri="{BB962C8B-B14F-4D97-AF65-F5344CB8AC3E}">
        <p14:creationId xmlns:p14="http://schemas.microsoft.com/office/powerpoint/2010/main" val="2448006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5F049-413A-0864-5916-4754AB793E6E}"/>
              </a:ext>
            </a:extLst>
          </p:cNvPr>
          <p:cNvSpPr>
            <a:spLocks noGrp="1"/>
          </p:cNvSpPr>
          <p:nvPr>
            <p:ph type="title"/>
          </p:nvPr>
        </p:nvSpPr>
        <p:spPr/>
        <p:txBody>
          <a:bodyPr/>
          <a:lstStyle/>
          <a:p>
            <a:r>
              <a:rPr lang="en-US" dirty="0"/>
              <a:t>20.1.1 General Idea</a:t>
            </a:r>
          </a:p>
        </p:txBody>
      </p:sp>
      <p:sp>
        <p:nvSpPr>
          <p:cNvPr id="3" name="Content Placeholder 2">
            <a:extLst>
              <a:ext uri="{FF2B5EF4-FFF2-40B4-BE49-F238E27FC236}">
                <a16:creationId xmlns:a16="http://schemas.microsoft.com/office/drawing/2014/main" id="{86354A86-836A-D7E2-D626-4927EA7607D7}"/>
              </a:ext>
            </a:extLst>
          </p:cNvPr>
          <p:cNvSpPr>
            <a:spLocks noGrp="1"/>
          </p:cNvSpPr>
          <p:nvPr>
            <p:ph idx="1"/>
          </p:nvPr>
        </p:nvSpPr>
        <p:spPr>
          <a:xfrm>
            <a:off x="487680" y="2326640"/>
            <a:ext cx="11165840" cy="4165600"/>
          </a:xfrm>
        </p:spPr>
        <p:txBody>
          <a:bodyPr>
            <a:normAutofit fontScale="92500" lnSpcReduction="20000"/>
          </a:bodyPr>
          <a:lstStyle/>
          <a:p>
            <a:r>
              <a:rPr lang="en-US" dirty="0"/>
              <a:t>In unicast routing, a packet is routed, </a:t>
            </a:r>
            <a:r>
              <a:rPr lang="en-US" b="1" dirty="0"/>
              <a:t>hop by hop</a:t>
            </a:r>
            <a:r>
              <a:rPr lang="en-US" dirty="0"/>
              <a:t>, from its source to its destination by the help of forwarding tables. </a:t>
            </a:r>
          </a:p>
          <a:p>
            <a:r>
              <a:rPr lang="en-US" dirty="0"/>
              <a:t>The </a:t>
            </a:r>
            <a:r>
              <a:rPr lang="en-US" b="1" dirty="0"/>
              <a:t>source host</a:t>
            </a:r>
            <a:r>
              <a:rPr lang="en-US" dirty="0"/>
              <a:t> needs </a:t>
            </a:r>
            <a:r>
              <a:rPr lang="en-US" u="sng" dirty="0"/>
              <a:t>no forwarding table </a:t>
            </a:r>
            <a:r>
              <a:rPr lang="en-US" dirty="0"/>
              <a:t>because it delivers its packet to the </a:t>
            </a:r>
            <a:r>
              <a:rPr lang="en-US" b="1" dirty="0"/>
              <a:t>default router </a:t>
            </a:r>
            <a:r>
              <a:rPr lang="en-US" dirty="0"/>
              <a:t>in its local network. </a:t>
            </a:r>
          </a:p>
          <a:p>
            <a:r>
              <a:rPr lang="en-US" dirty="0"/>
              <a:t>The </a:t>
            </a:r>
            <a:r>
              <a:rPr lang="en-US" b="1" dirty="0"/>
              <a:t>destination host </a:t>
            </a:r>
            <a:r>
              <a:rPr lang="en-US" dirty="0"/>
              <a:t>needs </a:t>
            </a:r>
            <a:r>
              <a:rPr lang="en-US" u="sng" dirty="0"/>
              <a:t>no forwarding table </a:t>
            </a:r>
            <a:r>
              <a:rPr lang="en-US" dirty="0"/>
              <a:t>either because it receives the packet from its default router in its local network. </a:t>
            </a:r>
          </a:p>
          <a:p>
            <a:r>
              <a:rPr lang="en-US" dirty="0"/>
              <a:t>This means that only the routers that glue together the networks in the internet need forwarding tables. </a:t>
            </a:r>
          </a:p>
          <a:p>
            <a:r>
              <a:rPr lang="en-US" dirty="0"/>
              <a:t>So, routing a packet from its source to its destination means routing the packet from a source default router to a destination router. </a:t>
            </a:r>
          </a:p>
          <a:p>
            <a:r>
              <a:rPr lang="en-US" dirty="0"/>
              <a:t>Although a packet needs to visit the source and the destination routers, </a:t>
            </a:r>
          </a:p>
          <a:p>
            <a:r>
              <a:rPr lang="en-US" sz="3000" b="1" dirty="0"/>
              <a:t>? </a:t>
            </a:r>
            <a:r>
              <a:rPr lang="en-US" sz="3000" dirty="0"/>
              <a:t>T</a:t>
            </a:r>
            <a:r>
              <a:rPr lang="en-US" dirty="0"/>
              <a:t>he question is what other routers the packet should visit? </a:t>
            </a:r>
          </a:p>
          <a:p>
            <a:pPr lvl="1"/>
            <a:r>
              <a:rPr lang="en-US" dirty="0"/>
              <a:t>In other words, there are several routes that a packet can travel from the source to the destination; </a:t>
            </a:r>
          </a:p>
          <a:p>
            <a:pPr lvl="1"/>
            <a:r>
              <a:rPr lang="en-US" dirty="0"/>
              <a:t>What must be determined is which route the packet should take.</a:t>
            </a:r>
          </a:p>
        </p:txBody>
      </p:sp>
    </p:spTree>
    <p:extLst>
      <p:ext uri="{BB962C8B-B14F-4D97-AF65-F5344CB8AC3E}">
        <p14:creationId xmlns:p14="http://schemas.microsoft.com/office/powerpoint/2010/main" val="38012019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A019D-EC67-50F0-ADF8-9C79B7C87444}"/>
              </a:ext>
            </a:extLst>
          </p:cNvPr>
          <p:cNvSpPr>
            <a:spLocks noGrp="1"/>
          </p:cNvSpPr>
          <p:nvPr>
            <p:ph type="title"/>
          </p:nvPr>
        </p:nvSpPr>
        <p:spPr/>
        <p:txBody>
          <a:bodyPr/>
          <a:lstStyle/>
          <a:p>
            <a:r>
              <a:rPr lang="en-US" dirty="0"/>
              <a:t>An Internet as a Graph </a:t>
            </a:r>
          </a:p>
        </p:txBody>
      </p:sp>
      <p:sp>
        <p:nvSpPr>
          <p:cNvPr id="3" name="Content Placeholder 2">
            <a:extLst>
              <a:ext uri="{FF2B5EF4-FFF2-40B4-BE49-F238E27FC236}">
                <a16:creationId xmlns:a16="http://schemas.microsoft.com/office/drawing/2014/main" id="{1A736A80-B16F-1719-E02B-285E48CAFD28}"/>
              </a:ext>
            </a:extLst>
          </p:cNvPr>
          <p:cNvSpPr>
            <a:spLocks noGrp="1"/>
          </p:cNvSpPr>
          <p:nvPr>
            <p:ph idx="1"/>
          </p:nvPr>
        </p:nvSpPr>
        <p:spPr/>
        <p:txBody>
          <a:bodyPr>
            <a:normAutofit/>
          </a:bodyPr>
          <a:lstStyle/>
          <a:p>
            <a:r>
              <a:rPr lang="en-US" dirty="0"/>
              <a:t>To find the best route, an internet can be modeled as a graph. </a:t>
            </a:r>
          </a:p>
          <a:p>
            <a:r>
              <a:rPr lang="en-US" dirty="0"/>
              <a:t>A </a:t>
            </a:r>
            <a:r>
              <a:rPr lang="en-US" b="1" dirty="0"/>
              <a:t>graph </a:t>
            </a:r>
            <a:r>
              <a:rPr lang="en-US" dirty="0"/>
              <a:t>is a set of nodes and edges (lines) that connect the nodes. </a:t>
            </a:r>
          </a:p>
          <a:p>
            <a:r>
              <a:rPr lang="en-US" dirty="0"/>
              <a:t>To model an internet as a graph, we can think of each router as a node and each network between a pair of routers as an edge. </a:t>
            </a:r>
          </a:p>
          <a:p>
            <a:r>
              <a:rPr lang="en-US" dirty="0"/>
              <a:t>An internet is, in fact, modeled as a weighted graph, in which each edge is associated with a cost. </a:t>
            </a:r>
          </a:p>
          <a:p>
            <a:pPr lvl="1"/>
            <a:r>
              <a:rPr lang="en-US" dirty="0"/>
              <a:t>If a weighted graph is used to represent a geographical area, the nodes can be cities and the edges can be roads connecting the cities; the weights, in this case, are distances between cities. </a:t>
            </a:r>
          </a:p>
          <a:p>
            <a:r>
              <a:rPr lang="en-US" dirty="0"/>
              <a:t>In routing, however, the cost of an edge has a different interpretation in different routing protocols</a:t>
            </a:r>
          </a:p>
          <a:p>
            <a:pPr lvl="1"/>
            <a:r>
              <a:rPr lang="en-US" dirty="0"/>
              <a:t>For the moment, we assume that there is a cost associated with each edge. If there is no edge between the nodes, the cost is infinity. </a:t>
            </a:r>
          </a:p>
        </p:txBody>
      </p:sp>
    </p:spTree>
    <p:extLst>
      <p:ext uri="{BB962C8B-B14F-4D97-AF65-F5344CB8AC3E}">
        <p14:creationId xmlns:p14="http://schemas.microsoft.com/office/powerpoint/2010/main" val="779348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7D702-7C77-5C0C-5B09-634F73EFA1B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2758EA0-3AD3-8EDC-DAE3-F2E96B91D5CE}"/>
              </a:ext>
            </a:extLst>
          </p:cNvPr>
          <p:cNvSpPr>
            <a:spLocks noGrp="1"/>
          </p:cNvSpPr>
          <p:nvPr>
            <p:ph idx="1"/>
          </p:nvPr>
        </p:nvSpPr>
        <p:spPr/>
        <p:txBody>
          <a:bodyPr/>
          <a:lstStyle/>
          <a:p>
            <a:r>
              <a:rPr lang="en-US" dirty="0"/>
              <a:t>Figure 20.1 shows how an internet can be modeled as a graph.</a:t>
            </a:r>
          </a:p>
        </p:txBody>
      </p:sp>
      <p:pic>
        <p:nvPicPr>
          <p:cNvPr id="5" name="Picture 4">
            <a:extLst>
              <a:ext uri="{FF2B5EF4-FFF2-40B4-BE49-F238E27FC236}">
                <a16:creationId xmlns:a16="http://schemas.microsoft.com/office/drawing/2014/main" id="{BF695ED1-0177-ACAD-90F7-79AE22E40A90}"/>
              </a:ext>
            </a:extLst>
          </p:cNvPr>
          <p:cNvPicPr>
            <a:picLocks noChangeAspect="1"/>
          </p:cNvPicPr>
          <p:nvPr/>
        </p:nvPicPr>
        <p:blipFill>
          <a:blip r:embed="rId2"/>
          <a:stretch>
            <a:fillRect/>
          </a:stretch>
        </p:blipFill>
        <p:spPr>
          <a:xfrm>
            <a:off x="1492703" y="2600503"/>
            <a:ext cx="8840017" cy="4002138"/>
          </a:xfrm>
          <a:prstGeom prst="rect">
            <a:avLst/>
          </a:prstGeom>
        </p:spPr>
      </p:pic>
    </p:spTree>
    <p:extLst>
      <p:ext uri="{BB962C8B-B14F-4D97-AF65-F5344CB8AC3E}">
        <p14:creationId xmlns:p14="http://schemas.microsoft.com/office/powerpoint/2010/main" val="1815887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56198-700E-4D0D-706D-240D342EA4B1}"/>
              </a:ext>
            </a:extLst>
          </p:cNvPr>
          <p:cNvSpPr>
            <a:spLocks noGrp="1"/>
          </p:cNvSpPr>
          <p:nvPr>
            <p:ph type="title"/>
          </p:nvPr>
        </p:nvSpPr>
        <p:spPr/>
        <p:txBody>
          <a:bodyPr/>
          <a:lstStyle/>
          <a:p>
            <a:r>
              <a:rPr lang="en-US" sz="3600" b="1" dirty="0">
                <a:solidFill>
                  <a:srgbClr val="00ACEF"/>
                </a:solidFill>
                <a:latin typeface="NimbusRomNo9L"/>
              </a:rPr>
              <a:t>Least-Cost Routing</a:t>
            </a:r>
            <a:endParaRPr lang="en-US" dirty="0"/>
          </a:p>
        </p:txBody>
      </p:sp>
      <p:sp>
        <p:nvSpPr>
          <p:cNvPr id="3" name="Content Placeholder 2">
            <a:extLst>
              <a:ext uri="{FF2B5EF4-FFF2-40B4-BE49-F238E27FC236}">
                <a16:creationId xmlns:a16="http://schemas.microsoft.com/office/drawing/2014/main" id="{ED7F7B4D-062D-9752-598A-63423D01912A}"/>
              </a:ext>
            </a:extLst>
          </p:cNvPr>
          <p:cNvSpPr>
            <a:spLocks noGrp="1"/>
          </p:cNvSpPr>
          <p:nvPr>
            <p:ph idx="1"/>
          </p:nvPr>
        </p:nvSpPr>
        <p:spPr/>
        <p:txBody>
          <a:bodyPr/>
          <a:lstStyle/>
          <a:p>
            <a:r>
              <a:rPr lang="en-US" sz="1800" dirty="0">
                <a:solidFill>
                  <a:srgbClr val="231F20"/>
                </a:solidFill>
                <a:latin typeface="NimbusRomNo9L"/>
              </a:rPr>
              <a:t>When an internet is modeled as a weighted graph, one of the ways to interpret the </a:t>
            </a:r>
            <a:r>
              <a:rPr lang="en-US" sz="1800" i="1" dirty="0">
                <a:solidFill>
                  <a:srgbClr val="231F20"/>
                </a:solidFill>
                <a:latin typeface="NimbusRomNo9L"/>
              </a:rPr>
              <a:t>best </a:t>
            </a:r>
            <a:r>
              <a:rPr lang="en-US" sz="1800" dirty="0">
                <a:solidFill>
                  <a:srgbClr val="231F20"/>
                </a:solidFill>
                <a:latin typeface="NimbusRomNo9L"/>
              </a:rPr>
              <a:t>route from the source router to the destination router is to find the </a:t>
            </a:r>
            <a:r>
              <a:rPr lang="en-US" sz="1800" b="1" i="1" dirty="0">
                <a:solidFill>
                  <a:srgbClr val="231F20"/>
                </a:solidFill>
                <a:latin typeface="NimbusRomNo9L"/>
              </a:rPr>
              <a:t>least cost</a:t>
            </a:r>
            <a:r>
              <a:rPr lang="en-US" sz="1800" i="1" dirty="0">
                <a:solidFill>
                  <a:srgbClr val="231F20"/>
                </a:solidFill>
                <a:latin typeface="NimbusRomNo9L"/>
              </a:rPr>
              <a:t> between </a:t>
            </a:r>
            <a:r>
              <a:rPr lang="en-US" sz="1800" dirty="0">
                <a:solidFill>
                  <a:srgbClr val="231F20"/>
                </a:solidFill>
                <a:latin typeface="NimbusRomNo9L"/>
              </a:rPr>
              <a:t>the two.</a:t>
            </a:r>
            <a:r>
              <a:rPr lang="en-US" sz="1800" i="1" dirty="0">
                <a:solidFill>
                  <a:srgbClr val="231F20"/>
                </a:solidFill>
                <a:latin typeface="NimbusRomNo9L"/>
              </a:rPr>
              <a:t> </a:t>
            </a:r>
          </a:p>
          <a:p>
            <a:r>
              <a:rPr lang="en-US" sz="1800" i="1" dirty="0">
                <a:solidFill>
                  <a:srgbClr val="231F20"/>
                </a:solidFill>
                <a:latin typeface="NimbusRomNo9L"/>
              </a:rPr>
              <a:t>In other words, the source router chooses a route to the destination router in </a:t>
            </a:r>
            <a:r>
              <a:rPr lang="en-US" sz="1800" dirty="0">
                <a:solidFill>
                  <a:srgbClr val="231F20"/>
                </a:solidFill>
                <a:latin typeface="NimbusRomNo9L"/>
              </a:rPr>
              <a:t>such a way that the total cost for the route is the least cost among all possible routes. </a:t>
            </a:r>
          </a:p>
          <a:p>
            <a:r>
              <a:rPr lang="en-US" sz="1800" dirty="0">
                <a:solidFill>
                  <a:srgbClr val="231F20"/>
                </a:solidFill>
                <a:latin typeface="NimbusRomNo9L"/>
              </a:rPr>
              <a:t>In Figure 20.1, the best route between A and E is A-B-E, with the cost of 6. </a:t>
            </a:r>
          </a:p>
          <a:p>
            <a:r>
              <a:rPr lang="en-US" sz="1800" dirty="0">
                <a:solidFill>
                  <a:srgbClr val="231F20"/>
                </a:solidFill>
                <a:latin typeface="NimbusRomNo9L"/>
              </a:rPr>
              <a:t>This means that each router needs to find the least-cost route between itself and all the other routers to be able to route a packet using this criteria.</a:t>
            </a:r>
            <a:endParaRPr lang="en-US" dirty="0"/>
          </a:p>
        </p:txBody>
      </p:sp>
      <p:pic>
        <p:nvPicPr>
          <p:cNvPr id="5" name="Picture 4">
            <a:extLst>
              <a:ext uri="{FF2B5EF4-FFF2-40B4-BE49-F238E27FC236}">
                <a16:creationId xmlns:a16="http://schemas.microsoft.com/office/drawing/2014/main" id="{FFC0C8BF-E14A-2856-7138-EC25B52DF022}"/>
              </a:ext>
            </a:extLst>
          </p:cNvPr>
          <p:cNvPicPr>
            <a:picLocks noChangeAspect="1"/>
          </p:cNvPicPr>
          <p:nvPr/>
        </p:nvPicPr>
        <p:blipFill>
          <a:blip r:embed="rId2"/>
          <a:stretch>
            <a:fillRect/>
          </a:stretch>
        </p:blipFill>
        <p:spPr>
          <a:xfrm>
            <a:off x="5535660" y="4367704"/>
            <a:ext cx="4583700" cy="2383524"/>
          </a:xfrm>
          <a:prstGeom prst="rect">
            <a:avLst/>
          </a:prstGeom>
        </p:spPr>
      </p:pic>
    </p:spTree>
    <p:extLst>
      <p:ext uri="{BB962C8B-B14F-4D97-AF65-F5344CB8AC3E}">
        <p14:creationId xmlns:p14="http://schemas.microsoft.com/office/powerpoint/2010/main" val="4100516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E7C85-E963-7450-7C63-C7F65A514E00}"/>
              </a:ext>
            </a:extLst>
          </p:cNvPr>
          <p:cNvSpPr>
            <a:spLocks noGrp="1"/>
          </p:cNvSpPr>
          <p:nvPr>
            <p:ph type="title"/>
          </p:nvPr>
        </p:nvSpPr>
        <p:spPr/>
        <p:txBody>
          <a:bodyPr/>
          <a:lstStyle/>
          <a:p>
            <a:r>
              <a:rPr lang="en-US" sz="3600" b="1" i="1" dirty="0">
                <a:solidFill>
                  <a:srgbClr val="00ACEF"/>
                </a:solidFill>
                <a:latin typeface="NimbusRomNo9L"/>
              </a:rPr>
              <a:t>Least-Cost Trees</a:t>
            </a:r>
            <a:endParaRPr lang="en-US" dirty="0"/>
          </a:p>
        </p:txBody>
      </p:sp>
      <p:sp>
        <p:nvSpPr>
          <p:cNvPr id="3" name="Content Placeholder 2">
            <a:extLst>
              <a:ext uri="{FF2B5EF4-FFF2-40B4-BE49-F238E27FC236}">
                <a16:creationId xmlns:a16="http://schemas.microsoft.com/office/drawing/2014/main" id="{B7828FD9-4815-6308-54C6-8966E7348882}"/>
              </a:ext>
            </a:extLst>
          </p:cNvPr>
          <p:cNvSpPr>
            <a:spLocks noGrp="1"/>
          </p:cNvSpPr>
          <p:nvPr>
            <p:ph idx="1"/>
          </p:nvPr>
        </p:nvSpPr>
        <p:spPr/>
        <p:txBody>
          <a:bodyPr/>
          <a:lstStyle/>
          <a:p>
            <a:r>
              <a:rPr lang="en-US" sz="1800" dirty="0">
                <a:solidFill>
                  <a:srgbClr val="231F20"/>
                </a:solidFill>
                <a:latin typeface="NimbusRomNo9L"/>
              </a:rPr>
              <a:t>If there are </a:t>
            </a:r>
            <a:r>
              <a:rPr lang="en-US" sz="1800" i="1" dirty="0">
                <a:solidFill>
                  <a:srgbClr val="231F20"/>
                </a:solidFill>
                <a:latin typeface="NimbusRomNo9L"/>
              </a:rPr>
              <a:t>N routers in an internet, there are (N </a:t>
            </a:r>
            <a:r>
              <a:rPr lang="en-US" sz="1800" i="1" dirty="0">
                <a:solidFill>
                  <a:srgbClr val="231F20"/>
                </a:solidFill>
                <a:latin typeface="StandardSymL"/>
              </a:rPr>
              <a:t>- </a:t>
            </a:r>
            <a:r>
              <a:rPr lang="en-US" sz="1800" i="1" dirty="0">
                <a:solidFill>
                  <a:srgbClr val="231F20"/>
                </a:solidFill>
                <a:latin typeface="NimbusRomNo9L"/>
              </a:rPr>
              <a:t>1) least-cost paths from each router to </a:t>
            </a:r>
            <a:r>
              <a:rPr lang="en-US" sz="1800" dirty="0">
                <a:solidFill>
                  <a:srgbClr val="231F20"/>
                </a:solidFill>
                <a:latin typeface="NimbusRomNo9L"/>
              </a:rPr>
              <a:t>any other router. </a:t>
            </a:r>
          </a:p>
          <a:p>
            <a:r>
              <a:rPr lang="en-US" sz="1800" dirty="0">
                <a:solidFill>
                  <a:srgbClr val="231F20"/>
                </a:solidFill>
                <a:latin typeface="NimbusRomNo9L"/>
              </a:rPr>
              <a:t>This means we need </a:t>
            </a:r>
            <a:r>
              <a:rPr lang="en-US" sz="1800" i="1" dirty="0">
                <a:solidFill>
                  <a:srgbClr val="231F20"/>
                </a:solidFill>
                <a:latin typeface="NimbusRomNo9L"/>
              </a:rPr>
              <a:t>N </a:t>
            </a:r>
            <a:r>
              <a:rPr lang="en-US" sz="1800" i="1" dirty="0">
                <a:solidFill>
                  <a:srgbClr val="231F20"/>
                </a:solidFill>
                <a:latin typeface="StandardSymL"/>
              </a:rPr>
              <a:t>×</a:t>
            </a:r>
            <a:r>
              <a:rPr lang="en-US" sz="1800" i="1" dirty="0">
                <a:solidFill>
                  <a:srgbClr val="231F20"/>
                </a:solidFill>
                <a:latin typeface="NimbusRomNo9L"/>
              </a:rPr>
              <a:t> (N </a:t>
            </a:r>
            <a:r>
              <a:rPr lang="en-US" sz="1800" i="1" dirty="0">
                <a:solidFill>
                  <a:srgbClr val="231F20"/>
                </a:solidFill>
                <a:latin typeface="StandardSymL"/>
              </a:rPr>
              <a:t>- </a:t>
            </a:r>
            <a:r>
              <a:rPr lang="en-US" sz="1800" i="1" dirty="0">
                <a:solidFill>
                  <a:srgbClr val="231F20"/>
                </a:solidFill>
                <a:latin typeface="NimbusRomNo9L"/>
              </a:rPr>
              <a:t>1) least-cost paths for the whole internet. </a:t>
            </a:r>
          </a:p>
          <a:p>
            <a:pPr lvl="1"/>
            <a:r>
              <a:rPr lang="en-US" i="1" dirty="0">
                <a:solidFill>
                  <a:srgbClr val="231F20"/>
                </a:solidFill>
                <a:latin typeface="NimbusRomNo9L"/>
              </a:rPr>
              <a:t>If </a:t>
            </a:r>
            <a:r>
              <a:rPr lang="en-US" dirty="0">
                <a:solidFill>
                  <a:srgbClr val="231F20"/>
                </a:solidFill>
                <a:latin typeface="NimbusRomNo9L"/>
              </a:rPr>
              <a:t>we have only 10 routers in an internet, we need 90 least-cost paths. </a:t>
            </a:r>
          </a:p>
          <a:p>
            <a:r>
              <a:rPr lang="en-US" sz="1800" dirty="0">
                <a:solidFill>
                  <a:srgbClr val="231F20"/>
                </a:solidFill>
                <a:latin typeface="NimbusRomNo9L"/>
              </a:rPr>
              <a:t>A better way to see all of these paths is to combine them in a </a:t>
            </a:r>
            <a:r>
              <a:rPr lang="en-US" sz="1800" b="1" dirty="0">
                <a:solidFill>
                  <a:srgbClr val="231F20"/>
                </a:solidFill>
                <a:latin typeface="NimbusRomNo9L"/>
              </a:rPr>
              <a:t>least-cost tree.</a:t>
            </a:r>
          </a:p>
          <a:p>
            <a:pPr lvl="1"/>
            <a:r>
              <a:rPr lang="en-US" dirty="0">
                <a:solidFill>
                  <a:srgbClr val="231F20"/>
                </a:solidFill>
                <a:latin typeface="NimbusRomNo9L"/>
              </a:rPr>
              <a:t>A </a:t>
            </a:r>
            <a:r>
              <a:rPr lang="en-US" b="1" dirty="0">
                <a:solidFill>
                  <a:srgbClr val="231F20"/>
                </a:solidFill>
                <a:latin typeface="NimbusRomNo9L"/>
              </a:rPr>
              <a:t>least-cost tree </a:t>
            </a:r>
            <a:r>
              <a:rPr lang="en-US" dirty="0">
                <a:solidFill>
                  <a:srgbClr val="231F20"/>
                </a:solidFill>
                <a:latin typeface="NimbusRomNo9L"/>
              </a:rPr>
              <a:t>is a tree with the source router as the root that spans the whole graph (visits all other nodes) and in which the path between the root and any other node is the shortest. </a:t>
            </a:r>
          </a:p>
          <a:p>
            <a:r>
              <a:rPr lang="en-US" sz="1800" dirty="0">
                <a:solidFill>
                  <a:srgbClr val="231F20"/>
                </a:solidFill>
                <a:latin typeface="NimbusRomNo9L"/>
              </a:rPr>
              <a:t>In this way, we can have only one shortest-path tree for each node; we have </a:t>
            </a:r>
            <a:r>
              <a:rPr lang="en-US" sz="1800" i="1" dirty="0">
                <a:solidFill>
                  <a:srgbClr val="231F20"/>
                </a:solidFill>
                <a:latin typeface="NimbusRomNo9L"/>
              </a:rPr>
              <a:t>N least-cost trees for the whole internet. </a:t>
            </a:r>
            <a:endParaRPr lang="en-US" i="1" dirty="0">
              <a:solidFill>
                <a:srgbClr val="231F20"/>
              </a:solidFill>
              <a:latin typeface="NimbusRomNo9L"/>
            </a:endParaRPr>
          </a:p>
        </p:txBody>
      </p:sp>
    </p:spTree>
    <p:extLst>
      <p:ext uri="{BB962C8B-B14F-4D97-AF65-F5344CB8AC3E}">
        <p14:creationId xmlns:p14="http://schemas.microsoft.com/office/powerpoint/2010/main" val="1877206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72689-A8FA-DF9A-EA58-E74F1BC67670}"/>
              </a:ext>
            </a:extLst>
          </p:cNvPr>
          <p:cNvSpPr>
            <a:spLocks noGrp="1"/>
          </p:cNvSpPr>
          <p:nvPr>
            <p:ph type="title"/>
          </p:nvPr>
        </p:nvSpPr>
        <p:spPr/>
        <p:txBody>
          <a:bodyPr/>
          <a:lstStyle/>
          <a:p>
            <a:r>
              <a:rPr lang="en-US" dirty="0"/>
              <a:t>Least Cost Trees</a:t>
            </a:r>
          </a:p>
        </p:txBody>
      </p:sp>
      <p:sp>
        <p:nvSpPr>
          <p:cNvPr id="3" name="Content Placeholder 2">
            <a:extLst>
              <a:ext uri="{FF2B5EF4-FFF2-40B4-BE49-F238E27FC236}">
                <a16:creationId xmlns:a16="http://schemas.microsoft.com/office/drawing/2014/main" id="{81906211-6A12-C07F-26DA-B3833D7EAF8B}"/>
              </a:ext>
            </a:extLst>
          </p:cNvPr>
          <p:cNvSpPr>
            <a:spLocks noGrp="1"/>
          </p:cNvSpPr>
          <p:nvPr>
            <p:ph idx="1"/>
          </p:nvPr>
        </p:nvSpPr>
        <p:spPr>
          <a:xfrm>
            <a:off x="561111" y="2275840"/>
            <a:ext cx="3096489" cy="4115998"/>
          </a:xfrm>
        </p:spPr>
        <p:txBody>
          <a:bodyPr/>
          <a:lstStyle/>
          <a:p>
            <a:r>
              <a:rPr lang="en-US" sz="1800" dirty="0">
                <a:solidFill>
                  <a:srgbClr val="231F20"/>
                </a:solidFill>
                <a:latin typeface="NimbusRomNo9L"/>
              </a:rPr>
              <a:t>Figure 20.2 shows the seven least-cost trees for the internet in Figure 20.1. </a:t>
            </a:r>
            <a:endParaRPr lang="en-US" dirty="0"/>
          </a:p>
          <a:p>
            <a:pPr marL="0" indent="0">
              <a:buNone/>
            </a:pPr>
            <a:endParaRPr lang="en-US" dirty="0"/>
          </a:p>
        </p:txBody>
      </p:sp>
      <p:pic>
        <p:nvPicPr>
          <p:cNvPr id="5" name="Picture 4">
            <a:extLst>
              <a:ext uri="{FF2B5EF4-FFF2-40B4-BE49-F238E27FC236}">
                <a16:creationId xmlns:a16="http://schemas.microsoft.com/office/drawing/2014/main" id="{A51C7AC7-5ED2-DB3B-43F3-E1DA530F7381}"/>
              </a:ext>
            </a:extLst>
          </p:cNvPr>
          <p:cNvPicPr>
            <a:picLocks noChangeAspect="1"/>
          </p:cNvPicPr>
          <p:nvPr/>
        </p:nvPicPr>
        <p:blipFill>
          <a:blip r:embed="rId2"/>
          <a:stretch>
            <a:fillRect/>
          </a:stretch>
        </p:blipFill>
        <p:spPr>
          <a:xfrm>
            <a:off x="3657600" y="1818640"/>
            <a:ext cx="8058748" cy="4876800"/>
          </a:xfrm>
          <a:prstGeom prst="rect">
            <a:avLst/>
          </a:prstGeom>
        </p:spPr>
      </p:pic>
    </p:spTree>
    <p:extLst>
      <p:ext uri="{BB962C8B-B14F-4D97-AF65-F5344CB8AC3E}">
        <p14:creationId xmlns:p14="http://schemas.microsoft.com/office/powerpoint/2010/main" val="4294652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711CA-DCE0-A785-6017-70800430FAA3}"/>
              </a:ext>
            </a:extLst>
          </p:cNvPr>
          <p:cNvSpPr>
            <a:spLocks noGrp="1"/>
          </p:cNvSpPr>
          <p:nvPr>
            <p:ph type="title"/>
          </p:nvPr>
        </p:nvSpPr>
        <p:spPr/>
        <p:txBody>
          <a:bodyPr/>
          <a:lstStyle/>
          <a:p>
            <a:r>
              <a:rPr lang="en-US" sz="3600" b="1" dirty="0">
                <a:solidFill>
                  <a:srgbClr val="00ACEF"/>
                </a:solidFill>
                <a:latin typeface="NimbusRomNo9L"/>
              </a:rPr>
              <a:t>20.2 ROUTING ALGORITHMS</a:t>
            </a:r>
            <a:endParaRPr lang="en-US" dirty="0"/>
          </a:p>
        </p:txBody>
      </p:sp>
      <p:sp>
        <p:nvSpPr>
          <p:cNvPr id="3" name="Content Placeholder 2">
            <a:extLst>
              <a:ext uri="{FF2B5EF4-FFF2-40B4-BE49-F238E27FC236}">
                <a16:creationId xmlns:a16="http://schemas.microsoft.com/office/drawing/2014/main" id="{87B3A33A-113E-06EF-CFDF-416E9281556A}"/>
              </a:ext>
            </a:extLst>
          </p:cNvPr>
          <p:cNvSpPr>
            <a:spLocks noGrp="1"/>
          </p:cNvSpPr>
          <p:nvPr>
            <p:ph idx="1"/>
          </p:nvPr>
        </p:nvSpPr>
        <p:spPr/>
        <p:txBody>
          <a:bodyPr/>
          <a:lstStyle/>
          <a:p>
            <a:r>
              <a:rPr lang="en-US" sz="1800" dirty="0">
                <a:solidFill>
                  <a:srgbClr val="231F20"/>
                </a:solidFill>
                <a:latin typeface="NimbusRomNo9L"/>
              </a:rPr>
              <a:t>After discussing the general idea behind least-cost trees and the forwarding tables that can be made from them, now we concentrate on the routing algorithms. </a:t>
            </a:r>
          </a:p>
          <a:p>
            <a:r>
              <a:rPr lang="en-US" sz="1800" dirty="0">
                <a:solidFill>
                  <a:srgbClr val="231F20"/>
                </a:solidFill>
                <a:latin typeface="NimbusRomNo9L"/>
              </a:rPr>
              <a:t>Several routing algorithms have been designed in the past. </a:t>
            </a:r>
          </a:p>
          <a:p>
            <a:r>
              <a:rPr lang="en-US" sz="1800" dirty="0">
                <a:solidFill>
                  <a:srgbClr val="231F20"/>
                </a:solidFill>
                <a:latin typeface="NimbusRomNo9L"/>
              </a:rPr>
              <a:t>The differences between these methods are in the way they interpret the </a:t>
            </a:r>
            <a:r>
              <a:rPr lang="en-US" sz="1800" b="1" dirty="0">
                <a:solidFill>
                  <a:srgbClr val="231F20"/>
                </a:solidFill>
                <a:latin typeface="NimbusRomNo9L"/>
              </a:rPr>
              <a:t>least cost</a:t>
            </a:r>
            <a:r>
              <a:rPr lang="en-US" sz="1800" dirty="0">
                <a:solidFill>
                  <a:srgbClr val="231F20"/>
                </a:solidFill>
                <a:latin typeface="NimbusRomNo9L"/>
              </a:rPr>
              <a:t> and the way they create the </a:t>
            </a:r>
            <a:r>
              <a:rPr lang="en-US" sz="1800" b="1" dirty="0">
                <a:solidFill>
                  <a:srgbClr val="231F20"/>
                </a:solidFill>
                <a:latin typeface="NimbusRomNo9L"/>
              </a:rPr>
              <a:t>least-cost tree </a:t>
            </a:r>
            <a:r>
              <a:rPr lang="en-US" sz="1800" dirty="0">
                <a:solidFill>
                  <a:srgbClr val="231F20"/>
                </a:solidFill>
                <a:latin typeface="NimbusRomNo9L"/>
              </a:rPr>
              <a:t>for each node. </a:t>
            </a:r>
          </a:p>
          <a:p>
            <a:r>
              <a:rPr lang="en-US" sz="1800" dirty="0">
                <a:solidFill>
                  <a:srgbClr val="231F20"/>
                </a:solidFill>
                <a:latin typeface="NimbusRomNo9L"/>
              </a:rPr>
              <a:t>We shall discuss the common algorithms, and later see how a routing protocol in the Internet implements one of these algorithms, especia</a:t>
            </a:r>
            <a:r>
              <a:rPr lang="en-US" dirty="0">
                <a:solidFill>
                  <a:srgbClr val="231F20"/>
                </a:solidFill>
                <a:latin typeface="NimbusRomNo9L"/>
              </a:rPr>
              <a:t>lly RIP.</a:t>
            </a:r>
          </a:p>
        </p:txBody>
      </p:sp>
    </p:spTree>
    <p:extLst>
      <p:ext uri="{BB962C8B-B14F-4D97-AF65-F5344CB8AC3E}">
        <p14:creationId xmlns:p14="http://schemas.microsoft.com/office/powerpoint/2010/main" val="138501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0B0EF-03DC-95BB-FBC0-D190E1B063CD}"/>
              </a:ext>
            </a:extLst>
          </p:cNvPr>
          <p:cNvSpPr>
            <a:spLocks noGrp="1"/>
          </p:cNvSpPr>
          <p:nvPr>
            <p:ph type="title"/>
          </p:nvPr>
        </p:nvSpPr>
        <p:spPr/>
        <p:txBody>
          <a:bodyPr/>
          <a:lstStyle/>
          <a:p>
            <a:r>
              <a:rPr lang="en-US" dirty="0"/>
              <a:t>20.2.1 Distance-Vector Routing</a:t>
            </a:r>
          </a:p>
        </p:txBody>
      </p:sp>
      <p:sp>
        <p:nvSpPr>
          <p:cNvPr id="3" name="Content Placeholder 2">
            <a:extLst>
              <a:ext uri="{FF2B5EF4-FFF2-40B4-BE49-F238E27FC236}">
                <a16:creationId xmlns:a16="http://schemas.microsoft.com/office/drawing/2014/main" id="{4A0AD132-80BD-AD28-07C4-CCBF2E554838}"/>
              </a:ext>
            </a:extLst>
          </p:cNvPr>
          <p:cNvSpPr>
            <a:spLocks noGrp="1"/>
          </p:cNvSpPr>
          <p:nvPr>
            <p:ph idx="1"/>
          </p:nvPr>
        </p:nvSpPr>
        <p:spPr/>
        <p:txBody>
          <a:bodyPr/>
          <a:lstStyle/>
          <a:p>
            <a:r>
              <a:rPr lang="en-US" dirty="0"/>
              <a:t>The distance-vector (DV) routing has the goal to find the best route. </a:t>
            </a:r>
          </a:p>
          <a:p>
            <a:r>
              <a:rPr lang="en-US" dirty="0"/>
              <a:t>In distance-vector routing, the first thing each node creates is its own </a:t>
            </a:r>
            <a:r>
              <a:rPr lang="en-US" b="1" dirty="0"/>
              <a:t>least-cost tree</a:t>
            </a:r>
            <a:r>
              <a:rPr lang="en-US" dirty="0"/>
              <a:t> with the rudimentary information it has about its </a:t>
            </a:r>
            <a:r>
              <a:rPr lang="en-US" b="1" dirty="0"/>
              <a:t>immediate neighbors – directly connected Routers</a:t>
            </a:r>
            <a:r>
              <a:rPr lang="en-US" dirty="0"/>
              <a:t>. </a:t>
            </a:r>
          </a:p>
          <a:p>
            <a:r>
              <a:rPr lang="en-US" dirty="0"/>
              <a:t>The incomplete trees are exchanged between immediate neighbors to make the trees more and more complete and to represent the whole internet. </a:t>
            </a:r>
          </a:p>
          <a:p>
            <a:r>
              <a:rPr lang="en-US" dirty="0"/>
              <a:t>We can say that in distance-vector routing, a </a:t>
            </a:r>
            <a:r>
              <a:rPr lang="en-US" u="sng" dirty="0"/>
              <a:t>router continuously tells all of its neighbors </a:t>
            </a:r>
            <a:r>
              <a:rPr lang="en-US" dirty="0"/>
              <a:t>what it knows about the </a:t>
            </a:r>
            <a:r>
              <a:rPr lang="en-US" b="1" dirty="0"/>
              <a:t>whole internet </a:t>
            </a:r>
            <a:r>
              <a:rPr lang="en-US" dirty="0"/>
              <a:t>(although the knowledge can be incomplete). </a:t>
            </a:r>
          </a:p>
          <a:p>
            <a:r>
              <a:rPr lang="en-US" dirty="0"/>
              <a:t>Before we show </a:t>
            </a:r>
            <a:r>
              <a:rPr lang="en-US" b="1" dirty="0"/>
              <a:t>how incomplete </a:t>
            </a:r>
            <a:r>
              <a:rPr lang="en-US" dirty="0"/>
              <a:t>least-cost trees can be combined to make complete ones. </a:t>
            </a:r>
          </a:p>
          <a:p>
            <a:pPr lvl="1"/>
            <a:r>
              <a:rPr lang="en-US" dirty="0"/>
              <a:t>We need to discuss two important topics: the </a:t>
            </a:r>
            <a:r>
              <a:rPr lang="en-US" b="1" dirty="0"/>
              <a:t>Bellman-Ford equation </a:t>
            </a:r>
            <a:r>
              <a:rPr lang="en-US" dirty="0"/>
              <a:t>and the </a:t>
            </a:r>
            <a:r>
              <a:rPr lang="en-US" b="1" dirty="0"/>
              <a:t>concept of distance vectors</a:t>
            </a:r>
            <a:r>
              <a:rPr lang="en-US" dirty="0"/>
              <a:t>, which we cover next.</a:t>
            </a:r>
          </a:p>
        </p:txBody>
      </p:sp>
    </p:spTree>
    <p:extLst>
      <p:ext uri="{BB962C8B-B14F-4D97-AF65-F5344CB8AC3E}">
        <p14:creationId xmlns:p14="http://schemas.microsoft.com/office/powerpoint/2010/main" val="1434565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65500-545E-53B7-8F07-8B0EAB2EB5F1}"/>
              </a:ext>
            </a:extLst>
          </p:cNvPr>
          <p:cNvSpPr>
            <a:spLocks noGrp="1"/>
          </p:cNvSpPr>
          <p:nvPr>
            <p:ph type="title"/>
          </p:nvPr>
        </p:nvSpPr>
        <p:spPr/>
        <p:txBody>
          <a:bodyPr/>
          <a:lstStyle/>
          <a:p>
            <a:r>
              <a:rPr lang="en-US" dirty="0"/>
              <a:t>Bellman-Ford Equation</a:t>
            </a:r>
          </a:p>
        </p:txBody>
      </p:sp>
      <p:sp>
        <p:nvSpPr>
          <p:cNvPr id="3" name="Content Placeholder 2">
            <a:extLst>
              <a:ext uri="{FF2B5EF4-FFF2-40B4-BE49-F238E27FC236}">
                <a16:creationId xmlns:a16="http://schemas.microsoft.com/office/drawing/2014/main" id="{AECDFE20-C3FE-D1B3-2EBA-9D9DD92F16EF}"/>
              </a:ext>
            </a:extLst>
          </p:cNvPr>
          <p:cNvSpPr>
            <a:spLocks noGrp="1"/>
          </p:cNvSpPr>
          <p:nvPr>
            <p:ph idx="1"/>
          </p:nvPr>
        </p:nvSpPr>
        <p:spPr>
          <a:xfrm>
            <a:off x="561110" y="2275840"/>
            <a:ext cx="11082593" cy="4267200"/>
          </a:xfrm>
        </p:spPr>
        <p:txBody>
          <a:bodyPr>
            <a:normAutofit/>
          </a:bodyPr>
          <a:lstStyle/>
          <a:p>
            <a:r>
              <a:rPr lang="en-US" dirty="0"/>
              <a:t>The heart of distance-vector routing is the famous Bellman-Ford equation. </a:t>
            </a:r>
          </a:p>
          <a:p>
            <a:r>
              <a:rPr lang="en-US" dirty="0"/>
              <a:t>This equation is used to find the </a:t>
            </a:r>
            <a:r>
              <a:rPr lang="en-US" b="1" dirty="0"/>
              <a:t>least cost </a:t>
            </a:r>
            <a:r>
              <a:rPr lang="en-US" dirty="0"/>
              <a:t>(shortest distance) between a source node, x, and a destination node, y </a:t>
            </a:r>
          </a:p>
          <a:p>
            <a:pPr lvl="1"/>
            <a:r>
              <a:rPr lang="en-US" dirty="0"/>
              <a:t>through some intermediary nodes (a, b, c, . . .) </a:t>
            </a:r>
          </a:p>
          <a:p>
            <a:pPr lvl="1"/>
            <a:r>
              <a:rPr lang="en-US" dirty="0"/>
              <a:t>when the costs between the source and the intermediary nodes and the least costs between the intermediary nodes and the destination are given.</a:t>
            </a:r>
          </a:p>
          <a:p>
            <a:r>
              <a:rPr lang="en-US" sz="1600" dirty="0"/>
              <a:t>In distance-vector routing, normally we want to update an existing least cost with a least cost through an intermediary node, such as z, if the latter is shorter. </a:t>
            </a:r>
          </a:p>
          <a:p>
            <a:r>
              <a:rPr lang="en-US" sz="1600" dirty="0"/>
              <a:t>We can say that the Bellman-Ford equation enables us to build a new least-cost path from previously established least-cost paths.</a:t>
            </a:r>
          </a:p>
          <a:p>
            <a:r>
              <a:rPr lang="en-US" sz="1600" dirty="0"/>
              <a:t>We will shortly show how we use the Bellman-Ford equation and the concept of distance vectors to build least-cost paths for each node in distance-vector routing, but first we need to discuss the concept of a distance vector.</a:t>
            </a:r>
          </a:p>
        </p:txBody>
      </p:sp>
    </p:spTree>
    <p:extLst>
      <p:ext uri="{BB962C8B-B14F-4D97-AF65-F5344CB8AC3E}">
        <p14:creationId xmlns:p14="http://schemas.microsoft.com/office/powerpoint/2010/main" val="1230396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41C93-9FFD-9F0B-0436-ED324FBCE331}"/>
              </a:ext>
            </a:extLst>
          </p:cNvPr>
          <p:cNvSpPr>
            <a:spLocks noGrp="1"/>
          </p:cNvSpPr>
          <p:nvPr>
            <p:ph type="title"/>
          </p:nvPr>
        </p:nvSpPr>
        <p:spPr/>
        <p:txBody>
          <a:bodyPr/>
          <a:lstStyle/>
          <a:p>
            <a:r>
              <a:rPr lang="en-US" dirty="0"/>
              <a:t>Distance Vectors</a:t>
            </a:r>
          </a:p>
        </p:txBody>
      </p:sp>
      <p:sp>
        <p:nvSpPr>
          <p:cNvPr id="3" name="Content Placeholder 2">
            <a:extLst>
              <a:ext uri="{FF2B5EF4-FFF2-40B4-BE49-F238E27FC236}">
                <a16:creationId xmlns:a16="http://schemas.microsoft.com/office/drawing/2014/main" id="{C3FD192C-55FC-E960-71B8-21246A2316F0}"/>
              </a:ext>
            </a:extLst>
          </p:cNvPr>
          <p:cNvSpPr>
            <a:spLocks noGrp="1"/>
          </p:cNvSpPr>
          <p:nvPr>
            <p:ph idx="1"/>
          </p:nvPr>
        </p:nvSpPr>
        <p:spPr/>
        <p:txBody>
          <a:bodyPr>
            <a:normAutofit/>
          </a:bodyPr>
          <a:lstStyle/>
          <a:p>
            <a:r>
              <a:rPr lang="en-US" dirty="0"/>
              <a:t>The concept of a distance vector is the rationale for the name distance-vector routing. </a:t>
            </a:r>
          </a:p>
          <a:p>
            <a:r>
              <a:rPr lang="en-US" dirty="0"/>
              <a:t>A least-cost tree is a combination of least-cost paths from the root of the tree to all destinations.</a:t>
            </a:r>
          </a:p>
          <a:p>
            <a:r>
              <a:rPr lang="en-US" dirty="0"/>
              <a:t>These paths are graphically glued together to form the tree. </a:t>
            </a:r>
          </a:p>
          <a:p>
            <a:r>
              <a:rPr lang="en-US" dirty="0"/>
              <a:t>Distance-vector routing unglues these paths and creates a distance vector, a one-dimensional array to represent the tree. </a:t>
            </a:r>
          </a:p>
          <a:p>
            <a:r>
              <a:rPr lang="en-US" dirty="0"/>
              <a:t>Figure 20.4 shows the tree for node A in the internet in Figure 20.1 and the corresponding distance vector. </a:t>
            </a:r>
          </a:p>
          <a:p>
            <a:pPr marL="0" indent="0">
              <a:buNone/>
            </a:pPr>
            <a:r>
              <a:rPr lang="en-US" b="1" dirty="0"/>
              <a:t>Note</a:t>
            </a:r>
            <a:r>
              <a:rPr lang="en-US" dirty="0"/>
              <a:t> that the name of the distance vector defines the root, the </a:t>
            </a:r>
            <a:r>
              <a:rPr lang="en-US" b="1" dirty="0"/>
              <a:t>indexes </a:t>
            </a:r>
            <a:r>
              <a:rPr lang="en-US" dirty="0"/>
              <a:t>define the destinations, and the value of each cell defines the </a:t>
            </a:r>
            <a:r>
              <a:rPr lang="en-US" b="1" dirty="0"/>
              <a:t>least cost </a:t>
            </a:r>
            <a:r>
              <a:rPr lang="en-US" dirty="0"/>
              <a:t>from the </a:t>
            </a:r>
            <a:r>
              <a:rPr lang="en-US" u="sng" dirty="0"/>
              <a:t>root to the destination</a:t>
            </a:r>
            <a:r>
              <a:rPr lang="en-US" dirty="0"/>
              <a:t>. </a:t>
            </a:r>
          </a:p>
        </p:txBody>
      </p:sp>
    </p:spTree>
    <p:extLst>
      <p:ext uri="{BB962C8B-B14F-4D97-AF65-F5344CB8AC3E}">
        <p14:creationId xmlns:p14="http://schemas.microsoft.com/office/powerpoint/2010/main" val="1696903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4EEF0-B91B-8802-5226-EC85FA53E9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7E80C84-FD77-02BC-E90E-D387A9ADF330}"/>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4B17FFCC-FB3F-E0CB-7D10-E5BC279B377F}"/>
              </a:ext>
            </a:extLst>
          </p:cNvPr>
          <p:cNvPicPr>
            <a:picLocks noChangeAspect="1"/>
          </p:cNvPicPr>
          <p:nvPr/>
        </p:nvPicPr>
        <p:blipFill>
          <a:blip r:embed="rId2"/>
          <a:stretch>
            <a:fillRect/>
          </a:stretch>
        </p:blipFill>
        <p:spPr>
          <a:xfrm>
            <a:off x="1324111" y="1768334"/>
            <a:ext cx="8423097" cy="4115998"/>
          </a:xfrm>
          <a:prstGeom prst="rect">
            <a:avLst/>
          </a:prstGeom>
        </p:spPr>
      </p:pic>
    </p:spTree>
    <p:extLst>
      <p:ext uri="{BB962C8B-B14F-4D97-AF65-F5344CB8AC3E}">
        <p14:creationId xmlns:p14="http://schemas.microsoft.com/office/powerpoint/2010/main" val="1345091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7DF0F-9966-AB78-2D1E-8116DFC89DB4}"/>
              </a:ext>
            </a:extLst>
          </p:cNvPr>
          <p:cNvSpPr>
            <a:spLocks noGrp="1"/>
          </p:cNvSpPr>
          <p:nvPr>
            <p:ph type="title"/>
          </p:nvPr>
        </p:nvSpPr>
        <p:spPr/>
        <p:txBody>
          <a:bodyPr/>
          <a:lstStyle/>
          <a:p>
            <a:r>
              <a:rPr lang="en-US" dirty="0"/>
              <a:t>Distance Vectors Conti……</a:t>
            </a:r>
          </a:p>
        </p:txBody>
      </p:sp>
      <p:sp>
        <p:nvSpPr>
          <p:cNvPr id="3" name="Content Placeholder 2">
            <a:extLst>
              <a:ext uri="{FF2B5EF4-FFF2-40B4-BE49-F238E27FC236}">
                <a16:creationId xmlns:a16="http://schemas.microsoft.com/office/drawing/2014/main" id="{8897EB48-51CD-CF0B-CB47-5F4A6927EBC5}"/>
              </a:ext>
            </a:extLst>
          </p:cNvPr>
          <p:cNvSpPr>
            <a:spLocks noGrp="1"/>
          </p:cNvSpPr>
          <p:nvPr>
            <p:ph idx="1"/>
          </p:nvPr>
        </p:nvSpPr>
        <p:spPr/>
        <p:txBody>
          <a:bodyPr>
            <a:normAutofit/>
          </a:bodyPr>
          <a:lstStyle/>
          <a:p>
            <a:r>
              <a:rPr lang="en-US" dirty="0"/>
              <a:t>A distance vector </a:t>
            </a:r>
            <a:r>
              <a:rPr lang="en-US" u="sng" dirty="0"/>
              <a:t>does not give the path </a:t>
            </a:r>
            <a:r>
              <a:rPr lang="en-US" dirty="0"/>
              <a:t>to the destinations as the least-cost tree does; it gives only the </a:t>
            </a:r>
            <a:r>
              <a:rPr lang="en-US" u="sng" dirty="0"/>
              <a:t>least costs </a:t>
            </a:r>
            <a:r>
              <a:rPr lang="en-US" dirty="0"/>
              <a:t>to the destinations. </a:t>
            </a:r>
          </a:p>
          <a:p>
            <a:r>
              <a:rPr lang="en-US" dirty="0"/>
              <a:t>We can change a distance vector to a forwarding table, but we first need to find all distance vectors for an internet. </a:t>
            </a:r>
          </a:p>
          <a:p>
            <a:r>
              <a:rPr lang="en-US" dirty="0"/>
              <a:t>We know that a distance vector can represent </a:t>
            </a:r>
            <a:r>
              <a:rPr lang="en-US" u="sng" dirty="0"/>
              <a:t>least-cost paths </a:t>
            </a:r>
            <a:r>
              <a:rPr lang="en-US" dirty="0"/>
              <a:t>in a least-cost tree, but the question is how </a:t>
            </a:r>
            <a:r>
              <a:rPr lang="en-US" u="sng" dirty="0"/>
              <a:t>each node </a:t>
            </a:r>
            <a:r>
              <a:rPr lang="en-US" dirty="0"/>
              <a:t>in an internet originally creates the corresponding vector. </a:t>
            </a:r>
          </a:p>
          <a:p>
            <a:r>
              <a:rPr lang="en-US" dirty="0"/>
              <a:t>Each node in an internet, when it is booted, creates a very rudimentary distance vector with the minimum information the node can obtain from its </a:t>
            </a:r>
            <a:r>
              <a:rPr lang="en-US" b="1" dirty="0"/>
              <a:t>neighborhood</a:t>
            </a:r>
            <a:r>
              <a:rPr lang="en-US" dirty="0"/>
              <a:t>. </a:t>
            </a:r>
          </a:p>
          <a:p>
            <a:r>
              <a:rPr lang="en-US" dirty="0"/>
              <a:t>The node sends some </a:t>
            </a:r>
            <a:r>
              <a:rPr lang="en-US" u="sng" dirty="0"/>
              <a:t>greeting messages</a:t>
            </a:r>
            <a:r>
              <a:rPr lang="en-US" dirty="0"/>
              <a:t> out of its interfaces and discovers the identity of the immediate neighbors and the distance between itself and each neighbor. </a:t>
            </a:r>
          </a:p>
          <a:p>
            <a:r>
              <a:rPr lang="en-US" dirty="0"/>
              <a:t>It then makes a simple distance vector by inserting the discovered distances in the corresponding cells and leaves the value of other cells as infinity.</a:t>
            </a:r>
          </a:p>
          <a:p>
            <a:endParaRPr lang="en-US" dirty="0"/>
          </a:p>
          <a:p>
            <a:endParaRPr lang="en-US" dirty="0"/>
          </a:p>
        </p:txBody>
      </p:sp>
    </p:spTree>
    <p:extLst>
      <p:ext uri="{BB962C8B-B14F-4D97-AF65-F5344CB8AC3E}">
        <p14:creationId xmlns:p14="http://schemas.microsoft.com/office/powerpoint/2010/main" val="1423005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ED9CF-8552-BCDF-1B05-A91C1E6D7681}"/>
              </a:ext>
            </a:extLst>
          </p:cNvPr>
          <p:cNvSpPr>
            <a:spLocks noGrp="1"/>
          </p:cNvSpPr>
          <p:nvPr>
            <p:ph type="title"/>
          </p:nvPr>
        </p:nvSpPr>
        <p:spPr>
          <a:xfrm>
            <a:off x="825336" y="873185"/>
            <a:ext cx="10541327" cy="706964"/>
          </a:xfrm>
        </p:spPr>
        <p:txBody>
          <a:bodyPr/>
          <a:lstStyle/>
          <a:p>
            <a:r>
              <a:rPr lang="en-US" dirty="0"/>
              <a:t>Creating 1</a:t>
            </a:r>
            <a:r>
              <a:rPr lang="en-US" baseline="30000" dirty="0"/>
              <a:t>st</a:t>
            </a:r>
            <a:r>
              <a:rPr lang="en-US" dirty="0"/>
              <a:t> Distance Vector with its Neighbors</a:t>
            </a:r>
          </a:p>
        </p:txBody>
      </p:sp>
      <p:pic>
        <p:nvPicPr>
          <p:cNvPr id="5" name="Content Placeholder 4">
            <a:extLst>
              <a:ext uri="{FF2B5EF4-FFF2-40B4-BE49-F238E27FC236}">
                <a16:creationId xmlns:a16="http://schemas.microsoft.com/office/drawing/2014/main" id="{B752177C-DC2E-5BB5-FD74-D789C277A8A3}"/>
              </a:ext>
            </a:extLst>
          </p:cNvPr>
          <p:cNvPicPr>
            <a:picLocks noGrp="1" noChangeAspect="1"/>
          </p:cNvPicPr>
          <p:nvPr>
            <p:ph idx="1"/>
          </p:nvPr>
        </p:nvPicPr>
        <p:blipFill>
          <a:blip r:embed="rId2"/>
          <a:stretch>
            <a:fillRect/>
          </a:stretch>
        </p:blipFill>
        <p:spPr>
          <a:xfrm>
            <a:off x="2029767" y="1777557"/>
            <a:ext cx="6563583" cy="4922688"/>
          </a:xfrm>
        </p:spPr>
      </p:pic>
    </p:spTree>
    <p:extLst>
      <p:ext uri="{BB962C8B-B14F-4D97-AF65-F5344CB8AC3E}">
        <p14:creationId xmlns:p14="http://schemas.microsoft.com/office/powerpoint/2010/main" val="36207560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F4899-430F-0BB4-0C89-0D9B1C69B483}"/>
              </a:ext>
            </a:extLst>
          </p:cNvPr>
          <p:cNvSpPr>
            <a:spLocks noGrp="1"/>
          </p:cNvSpPr>
          <p:nvPr>
            <p:ph type="title"/>
          </p:nvPr>
        </p:nvSpPr>
        <p:spPr/>
        <p:txBody>
          <a:bodyPr/>
          <a:lstStyle/>
          <a:p>
            <a:r>
              <a:rPr lang="en-US" dirty="0"/>
              <a:t>Distance Vector Conti……</a:t>
            </a:r>
          </a:p>
        </p:txBody>
      </p:sp>
      <p:sp>
        <p:nvSpPr>
          <p:cNvPr id="3" name="Content Placeholder 2">
            <a:extLst>
              <a:ext uri="{FF2B5EF4-FFF2-40B4-BE49-F238E27FC236}">
                <a16:creationId xmlns:a16="http://schemas.microsoft.com/office/drawing/2014/main" id="{39F72EF5-378D-202C-240B-2B305E33CF2C}"/>
              </a:ext>
            </a:extLst>
          </p:cNvPr>
          <p:cNvSpPr>
            <a:spLocks noGrp="1"/>
          </p:cNvSpPr>
          <p:nvPr>
            <p:ph idx="1"/>
          </p:nvPr>
        </p:nvSpPr>
        <p:spPr/>
        <p:txBody>
          <a:bodyPr>
            <a:normAutofit/>
          </a:bodyPr>
          <a:lstStyle/>
          <a:p>
            <a:r>
              <a:rPr lang="en-US" dirty="0"/>
              <a:t>Do these distance vectors represent least-cost paths? </a:t>
            </a:r>
          </a:p>
          <a:p>
            <a:r>
              <a:rPr lang="en-US" dirty="0"/>
              <a:t>They do, considering the limited information a node has. </a:t>
            </a:r>
          </a:p>
          <a:p>
            <a:r>
              <a:rPr lang="en-US" dirty="0"/>
              <a:t>When we know only one distance between two nodes, it is the least cost. </a:t>
            </a:r>
          </a:p>
          <a:p>
            <a:pPr lvl="1"/>
            <a:r>
              <a:rPr lang="en-US" dirty="0"/>
              <a:t>Figure 20.5 shows </a:t>
            </a:r>
            <a:r>
              <a:rPr lang="en-US" b="1" dirty="0"/>
              <a:t>all nodes first </a:t>
            </a:r>
            <a:r>
              <a:rPr lang="en-US" dirty="0"/>
              <a:t>distance vectors for our internet. </a:t>
            </a:r>
          </a:p>
          <a:p>
            <a:r>
              <a:rPr lang="en-US" dirty="0"/>
              <a:t>However, we need to mention that these vectors are made asynchronously, when the corresponding node has been booted; the existence of all of them in a figure does not mean synchronous creation of them.</a:t>
            </a:r>
          </a:p>
        </p:txBody>
      </p:sp>
    </p:spTree>
    <p:extLst>
      <p:ext uri="{BB962C8B-B14F-4D97-AF65-F5344CB8AC3E}">
        <p14:creationId xmlns:p14="http://schemas.microsoft.com/office/powerpoint/2010/main" val="1742343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10D05-05E9-BB34-D41F-CA0013250F5F}"/>
              </a:ext>
            </a:extLst>
          </p:cNvPr>
          <p:cNvSpPr>
            <a:spLocks noGrp="1"/>
          </p:cNvSpPr>
          <p:nvPr>
            <p:ph type="title"/>
          </p:nvPr>
        </p:nvSpPr>
        <p:spPr/>
        <p:txBody>
          <a:bodyPr/>
          <a:lstStyle/>
          <a:p>
            <a:r>
              <a:rPr lang="en-US" dirty="0"/>
              <a:t>Distance Vector Conti……</a:t>
            </a:r>
          </a:p>
        </p:txBody>
      </p:sp>
      <p:sp>
        <p:nvSpPr>
          <p:cNvPr id="3" name="Content Placeholder 2">
            <a:extLst>
              <a:ext uri="{FF2B5EF4-FFF2-40B4-BE49-F238E27FC236}">
                <a16:creationId xmlns:a16="http://schemas.microsoft.com/office/drawing/2014/main" id="{693DA8B4-B84E-5F0D-4253-7E4F3FAFF1BF}"/>
              </a:ext>
            </a:extLst>
          </p:cNvPr>
          <p:cNvSpPr>
            <a:spLocks noGrp="1"/>
          </p:cNvSpPr>
          <p:nvPr>
            <p:ph idx="1"/>
          </p:nvPr>
        </p:nvSpPr>
        <p:spPr>
          <a:xfrm>
            <a:off x="341644" y="2275840"/>
            <a:ext cx="7275007" cy="4115998"/>
          </a:xfrm>
        </p:spPr>
        <p:txBody>
          <a:bodyPr>
            <a:normAutofit/>
          </a:bodyPr>
          <a:lstStyle/>
          <a:p>
            <a:r>
              <a:rPr lang="en-US" dirty="0"/>
              <a:t>These rudimentary vectors cannot help the internet to effectively forward a packet.</a:t>
            </a:r>
          </a:p>
          <a:p>
            <a:r>
              <a:rPr lang="en-US" dirty="0"/>
              <a:t>For example, </a:t>
            </a:r>
          </a:p>
          <a:p>
            <a:pPr lvl="1"/>
            <a:r>
              <a:rPr lang="en-US" b="1" dirty="0"/>
              <a:t>Node A </a:t>
            </a:r>
            <a:r>
              <a:rPr lang="en-US" dirty="0"/>
              <a:t>thinks that it is not connected to </a:t>
            </a:r>
            <a:r>
              <a:rPr lang="en-US" b="1" dirty="0"/>
              <a:t>node G </a:t>
            </a:r>
            <a:r>
              <a:rPr lang="en-US" dirty="0"/>
              <a:t>because the corresponding cell shows the least cost of infinity. </a:t>
            </a:r>
          </a:p>
          <a:p>
            <a:pPr lvl="1"/>
            <a:r>
              <a:rPr lang="en-US" dirty="0"/>
              <a:t>To improve these vectors, the nodes in the internet need to help each other by exchanging information. </a:t>
            </a:r>
          </a:p>
          <a:p>
            <a:pPr lvl="1"/>
            <a:r>
              <a:rPr lang="en-US" dirty="0"/>
              <a:t>After each node has created its vector, it sends a copy of the vector to all its immediate neighbors. </a:t>
            </a:r>
          </a:p>
          <a:p>
            <a:pPr lvl="1"/>
            <a:r>
              <a:rPr lang="en-US" dirty="0"/>
              <a:t>After a node receives a distance vector from a neighbor, it updates its distance vector using the Bellman-Ford equation (second case). </a:t>
            </a:r>
          </a:p>
        </p:txBody>
      </p:sp>
      <p:pic>
        <p:nvPicPr>
          <p:cNvPr id="5" name="Picture 4">
            <a:extLst>
              <a:ext uri="{FF2B5EF4-FFF2-40B4-BE49-F238E27FC236}">
                <a16:creationId xmlns:a16="http://schemas.microsoft.com/office/drawing/2014/main" id="{16C1E1C5-5C5C-23E6-8E58-ED30729770A4}"/>
              </a:ext>
            </a:extLst>
          </p:cNvPr>
          <p:cNvPicPr>
            <a:picLocks noChangeAspect="1"/>
          </p:cNvPicPr>
          <p:nvPr/>
        </p:nvPicPr>
        <p:blipFill>
          <a:blip r:embed="rId2"/>
          <a:stretch>
            <a:fillRect/>
          </a:stretch>
        </p:blipFill>
        <p:spPr>
          <a:xfrm>
            <a:off x="7516167" y="2707919"/>
            <a:ext cx="4506590" cy="2903361"/>
          </a:xfrm>
          <a:prstGeom prst="rect">
            <a:avLst/>
          </a:prstGeom>
        </p:spPr>
      </p:pic>
    </p:spTree>
    <p:extLst>
      <p:ext uri="{BB962C8B-B14F-4D97-AF65-F5344CB8AC3E}">
        <p14:creationId xmlns:p14="http://schemas.microsoft.com/office/powerpoint/2010/main" val="14150813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C0131-8AA2-40E8-18F1-5649E133B75D}"/>
              </a:ext>
            </a:extLst>
          </p:cNvPr>
          <p:cNvSpPr>
            <a:spLocks noGrp="1"/>
          </p:cNvSpPr>
          <p:nvPr>
            <p:ph type="title"/>
          </p:nvPr>
        </p:nvSpPr>
        <p:spPr/>
        <p:txBody>
          <a:bodyPr/>
          <a:lstStyle/>
          <a:p>
            <a:r>
              <a:rPr lang="en-US" dirty="0"/>
              <a:t>Distance Vector Conti……</a:t>
            </a:r>
          </a:p>
        </p:txBody>
      </p:sp>
      <p:sp>
        <p:nvSpPr>
          <p:cNvPr id="3" name="Content Placeholder 2">
            <a:extLst>
              <a:ext uri="{FF2B5EF4-FFF2-40B4-BE49-F238E27FC236}">
                <a16:creationId xmlns:a16="http://schemas.microsoft.com/office/drawing/2014/main" id="{1B65DC3D-701F-7D66-B179-BE32EAA132C7}"/>
              </a:ext>
            </a:extLst>
          </p:cNvPr>
          <p:cNvSpPr>
            <a:spLocks noGrp="1"/>
          </p:cNvSpPr>
          <p:nvPr>
            <p:ph idx="1"/>
          </p:nvPr>
        </p:nvSpPr>
        <p:spPr>
          <a:xfrm>
            <a:off x="561110" y="2215552"/>
            <a:ext cx="11082593" cy="4115998"/>
          </a:xfrm>
        </p:spPr>
        <p:txBody>
          <a:bodyPr/>
          <a:lstStyle/>
          <a:p>
            <a:r>
              <a:rPr lang="en-US" dirty="0"/>
              <a:t>However, we need to understand that we need to update, not only one least cost, but N of them in which N is the number of the nodes in the internet.</a:t>
            </a:r>
          </a:p>
          <a:p>
            <a:r>
              <a:rPr lang="en-US" dirty="0"/>
              <a:t>We can show the whole vector instead of the N separate equations. </a:t>
            </a:r>
          </a:p>
          <a:p>
            <a:r>
              <a:rPr lang="en-US" dirty="0"/>
              <a:t>We show the whole vector for each update in Figure 20.6. </a:t>
            </a:r>
          </a:p>
          <a:p>
            <a:r>
              <a:rPr lang="en-US" dirty="0"/>
              <a:t>The figure shows two asynchronous events, happening one after another with some time in between.</a:t>
            </a:r>
          </a:p>
        </p:txBody>
      </p:sp>
      <p:pic>
        <p:nvPicPr>
          <p:cNvPr id="5" name="Picture 4">
            <a:extLst>
              <a:ext uri="{FF2B5EF4-FFF2-40B4-BE49-F238E27FC236}">
                <a16:creationId xmlns:a16="http://schemas.microsoft.com/office/drawing/2014/main" id="{09FF58CE-E2DC-B9F6-4605-DBFBD6797864}"/>
              </a:ext>
            </a:extLst>
          </p:cNvPr>
          <p:cNvPicPr>
            <a:picLocks noChangeAspect="1"/>
          </p:cNvPicPr>
          <p:nvPr/>
        </p:nvPicPr>
        <p:blipFill>
          <a:blip r:embed="rId2"/>
          <a:stretch>
            <a:fillRect/>
          </a:stretch>
        </p:blipFill>
        <p:spPr>
          <a:xfrm>
            <a:off x="2331216" y="4067228"/>
            <a:ext cx="7708091" cy="2686466"/>
          </a:xfrm>
          <a:prstGeom prst="rect">
            <a:avLst/>
          </a:prstGeom>
        </p:spPr>
      </p:pic>
    </p:spTree>
    <p:extLst>
      <p:ext uri="{BB962C8B-B14F-4D97-AF65-F5344CB8AC3E}">
        <p14:creationId xmlns:p14="http://schemas.microsoft.com/office/powerpoint/2010/main" val="3931584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08E46-B00C-C0B2-3441-AA802A827E96}"/>
              </a:ext>
            </a:extLst>
          </p:cNvPr>
          <p:cNvSpPr>
            <a:spLocks noGrp="1"/>
          </p:cNvSpPr>
          <p:nvPr>
            <p:ph type="title"/>
          </p:nvPr>
        </p:nvSpPr>
        <p:spPr/>
        <p:txBody>
          <a:bodyPr/>
          <a:lstStyle/>
          <a:p>
            <a:r>
              <a:rPr lang="en-US" dirty="0"/>
              <a:t>Distance Vector Conti……</a:t>
            </a:r>
          </a:p>
        </p:txBody>
      </p:sp>
      <p:sp>
        <p:nvSpPr>
          <p:cNvPr id="3" name="Content Placeholder 2">
            <a:extLst>
              <a:ext uri="{FF2B5EF4-FFF2-40B4-BE49-F238E27FC236}">
                <a16:creationId xmlns:a16="http://schemas.microsoft.com/office/drawing/2014/main" id="{9AE884AA-BFB2-DAA8-2670-F63B095B1F41}"/>
              </a:ext>
            </a:extLst>
          </p:cNvPr>
          <p:cNvSpPr>
            <a:spLocks noGrp="1"/>
          </p:cNvSpPr>
          <p:nvPr>
            <p:ph idx="1"/>
          </p:nvPr>
        </p:nvSpPr>
        <p:spPr>
          <a:xfrm>
            <a:off x="229516" y="2305986"/>
            <a:ext cx="5700102" cy="4115998"/>
          </a:xfrm>
        </p:spPr>
        <p:txBody>
          <a:bodyPr/>
          <a:lstStyle/>
          <a:p>
            <a:r>
              <a:rPr lang="en-US" sz="1800" dirty="0">
                <a:solidFill>
                  <a:srgbClr val="231F20"/>
                </a:solidFill>
                <a:latin typeface="NimbusRomNo9L"/>
              </a:rPr>
              <a:t> In the first event, node A has sent its vector to node B. </a:t>
            </a:r>
          </a:p>
          <a:p>
            <a:r>
              <a:rPr lang="en-US" sz="1800" dirty="0">
                <a:solidFill>
                  <a:srgbClr val="231F20"/>
                </a:solidFill>
                <a:latin typeface="NimbusRomNo9L"/>
              </a:rPr>
              <a:t>Node B updates its vector using the cost </a:t>
            </a:r>
            <a:r>
              <a:rPr lang="en-US" sz="1800" dirty="0" err="1">
                <a:solidFill>
                  <a:srgbClr val="231F20"/>
                </a:solidFill>
                <a:latin typeface="NimbusRomNo9L"/>
              </a:rPr>
              <a:t>cBA</a:t>
            </a:r>
            <a:r>
              <a:rPr lang="en-US" sz="1800" dirty="0">
                <a:solidFill>
                  <a:srgbClr val="231F20"/>
                </a:solidFill>
                <a:latin typeface="NimbusRomNo9L"/>
              </a:rPr>
              <a:t> </a:t>
            </a:r>
            <a:r>
              <a:rPr lang="en-US" sz="1800" dirty="0">
                <a:solidFill>
                  <a:srgbClr val="231F20"/>
                </a:solidFill>
                <a:latin typeface="StandardSymL"/>
              </a:rPr>
              <a:t>=</a:t>
            </a:r>
            <a:r>
              <a:rPr lang="en-US" sz="1800" dirty="0">
                <a:solidFill>
                  <a:srgbClr val="231F20"/>
                </a:solidFill>
                <a:latin typeface="NimbusRomNo9L"/>
              </a:rPr>
              <a:t> 2. </a:t>
            </a:r>
          </a:p>
        </p:txBody>
      </p:sp>
      <p:pic>
        <p:nvPicPr>
          <p:cNvPr id="4" name="Picture 3">
            <a:extLst>
              <a:ext uri="{FF2B5EF4-FFF2-40B4-BE49-F238E27FC236}">
                <a16:creationId xmlns:a16="http://schemas.microsoft.com/office/drawing/2014/main" id="{2E7D1F11-9045-6A00-F531-DAAD2D07C86F}"/>
              </a:ext>
            </a:extLst>
          </p:cNvPr>
          <p:cNvPicPr>
            <a:picLocks noChangeAspect="1"/>
          </p:cNvPicPr>
          <p:nvPr/>
        </p:nvPicPr>
        <p:blipFill>
          <a:blip r:embed="rId2"/>
          <a:stretch>
            <a:fillRect/>
          </a:stretch>
        </p:blipFill>
        <p:spPr>
          <a:xfrm>
            <a:off x="1185188" y="3235569"/>
            <a:ext cx="9488859" cy="3307109"/>
          </a:xfrm>
          <a:prstGeom prst="rect">
            <a:avLst/>
          </a:prstGeom>
        </p:spPr>
      </p:pic>
      <p:sp>
        <p:nvSpPr>
          <p:cNvPr id="5" name="Content Placeholder 2">
            <a:extLst>
              <a:ext uri="{FF2B5EF4-FFF2-40B4-BE49-F238E27FC236}">
                <a16:creationId xmlns:a16="http://schemas.microsoft.com/office/drawing/2014/main" id="{9DABE8BD-DF82-4AE4-C42F-A89D040C2EED}"/>
              </a:ext>
            </a:extLst>
          </p:cNvPr>
          <p:cNvSpPr txBox="1">
            <a:spLocks/>
          </p:cNvSpPr>
          <p:nvPr/>
        </p:nvSpPr>
        <p:spPr>
          <a:xfrm>
            <a:off x="5998776" y="2295938"/>
            <a:ext cx="5963708" cy="411599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US" dirty="0">
                <a:solidFill>
                  <a:srgbClr val="231F20"/>
                </a:solidFill>
                <a:latin typeface="NimbusRomNo9L"/>
              </a:rPr>
              <a:t>In the second event, node E has sent its vector to node B.</a:t>
            </a:r>
          </a:p>
          <a:p>
            <a:r>
              <a:rPr lang="en-US" dirty="0">
                <a:solidFill>
                  <a:srgbClr val="231F20"/>
                </a:solidFill>
                <a:latin typeface="NimbusRomNo9L"/>
              </a:rPr>
              <a:t>Node B updates its vector using the cost </a:t>
            </a:r>
            <a:r>
              <a:rPr lang="en-US" dirty="0" err="1">
                <a:solidFill>
                  <a:srgbClr val="231F20"/>
                </a:solidFill>
                <a:latin typeface="NimbusRomNo9L"/>
              </a:rPr>
              <a:t>cEA</a:t>
            </a:r>
            <a:r>
              <a:rPr lang="en-US" dirty="0">
                <a:solidFill>
                  <a:srgbClr val="231F20"/>
                </a:solidFill>
                <a:latin typeface="NimbusRomNo9L"/>
              </a:rPr>
              <a:t> </a:t>
            </a:r>
            <a:r>
              <a:rPr lang="en-US" dirty="0">
                <a:solidFill>
                  <a:srgbClr val="231F20"/>
                </a:solidFill>
                <a:latin typeface="StandardSymL"/>
              </a:rPr>
              <a:t>=</a:t>
            </a:r>
            <a:r>
              <a:rPr lang="en-US" dirty="0">
                <a:solidFill>
                  <a:srgbClr val="231F20"/>
                </a:solidFill>
                <a:latin typeface="NimbusRomNo9L"/>
              </a:rPr>
              <a:t> 4. </a:t>
            </a:r>
            <a:endParaRPr lang="en-US" dirty="0"/>
          </a:p>
        </p:txBody>
      </p:sp>
    </p:spTree>
    <p:extLst>
      <p:ext uri="{BB962C8B-B14F-4D97-AF65-F5344CB8AC3E}">
        <p14:creationId xmlns:p14="http://schemas.microsoft.com/office/powerpoint/2010/main" val="21828976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25F83-6F3A-DBBA-9760-FE5A9EC1DB77}"/>
              </a:ext>
            </a:extLst>
          </p:cNvPr>
          <p:cNvSpPr>
            <a:spLocks noGrp="1"/>
          </p:cNvSpPr>
          <p:nvPr>
            <p:ph type="title"/>
          </p:nvPr>
        </p:nvSpPr>
        <p:spPr/>
        <p:txBody>
          <a:bodyPr/>
          <a:lstStyle/>
          <a:p>
            <a:r>
              <a:rPr lang="en-US" dirty="0"/>
              <a:t>Distance Vector Conti……</a:t>
            </a:r>
          </a:p>
        </p:txBody>
      </p:sp>
      <p:sp>
        <p:nvSpPr>
          <p:cNvPr id="3" name="Content Placeholder 2">
            <a:extLst>
              <a:ext uri="{FF2B5EF4-FFF2-40B4-BE49-F238E27FC236}">
                <a16:creationId xmlns:a16="http://schemas.microsoft.com/office/drawing/2014/main" id="{A920F912-D63D-46C5-7736-4C19F1EB7507}"/>
              </a:ext>
            </a:extLst>
          </p:cNvPr>
          <p:cNvSpPr>
            <a:spLocks noGrp="1"/>
          </p:cNvSpPr>
          <p:nvPr>
            <p:ph idx="1"/>
          </p:nvPr>
        </p:nvSpPr>
        <p:spPr>
          <a:xfrm>
            <a:off x="561110" y="2275840"/>
            <a:ext cx="7628297" cy="4115998"/>
          </a:xfrm>
        </p:spPr>
        <p:txBody>
          <a:bodyPr/>
          <a:lstStyle/>
          <a:p>
            <a:r>
              <a:rPr lang="en-US" sz="1800" dirty="0">
                <a:solidFill>
                  <a:srgbClr val="231F20"/>
                </a:solidFill>
                <a:latin typeface="NimbusRomNo9L"/>
              </a:rPr>
              <a:t>After the first event, node B has one improvement in its vector: its least cost to node D has changed from infinity to 5 (via node A). </a:t>
            </a:r>
          </a:p>
          <a:p>
            <a:r>
              <a:rPr lang="en-US" sz="1800" dirty="0">
                <a:solidFill>
                  <a:srgbClr val="231F20"/>
                </a:solidFill>
                <a:latin typeface="NimbusRomNo9L"/>
              </a:rPr>
              <a:t>After the second event, node B has one more improvement in its vector; its least cost to node F has changed from infinity to 6 (via node E). </a:t>
            </a:r>
          </a:p>
          <a:p>
            <a:r>
              <a:rPr lang="en-US" sz="1800" dirty="0">
                <a:solidFill>
                  <a:srgbClr val="231F20"/>
                </a:solidFill>
                <a:latin typeface="NimbusRomNo9L"/>
              </a:rPr>
              <a:t>We hope that we have convinced the reader that exchanging vectors eventually stabilizes the system and allows all nodes to find the ultimate least cost between themselves and any other node. </a:t>
            </a:r>
          </a:p>
          <a:p>
            <a:r>
              <a:rPr lang="en-US" sz="1800" dirty="0">
                <a:solidFill>
                  <a:srgbClr val="231F20"/>
                </a:solidFill>
                <a:latin typeface="NimbusRomNo9L"/>
              </a:rPr>
              <a:t>We need to remember that after updating a node, it immediately sends its updated vector to all neighbors. </a:t>
            </a:r>
          </a:p>
          <a:p>
            <a:r>
              <a:rPr lang="en-US" sz="1800" dirty="0">
                <a:solidFill>
                  <a:srgbClr val="231F20"/>
                </a:solidFill>
                <a:latin typeface="NimbusRomNo9L"/>
              </a:rPr>
              <a:t>Even if its neighbors have received the previous vector, the updated one may help more. </a:t>
            </a:r>
            <a:endParaRPr lang="en-US" dirty="0"/>
          </a:p>
        </p:txBody>
      </p:sp>
      <p:pic>
        <p:nvPicPr>
          <p:cNvPr id="5" name="Picture 4">
            <a:extLst>
              <a:ext uri="{FF2B5EF4-FFF2-40B4-BE49-F238E27FC236}">
                <a16:creationId xmlns:a16="http://schemas.microsoft.com/office/drawing/2014/main" id="{1EF83D4B-B3FA-E65E-F051-BEFF57945AC4}"/>
              </a:ext>
            </a:extLst>
          </p:cNvPr>
          <p:cNvPicPr>
            <a:picLocks noChangeAspect="1"/>
          </p:cNvPicPr>
          <p:nvPr/>
        </p:nvPicPr>
        <p:blipFill>
          <a:blip r:embed="rId2"/>
          <a:stretch>
            <a:fillRect/>
          </a:stretch>
        </p:blipFill>
        <p:spPr>
          <a:xfrm>
            <a:off x="8429114" y="2275840"/>
            <a:ext cx="3553321" cy="2010056"/>
          </a:xfrm>
          <a:prstGeom prst="rect">
            <a:avLst/>
          </a:prstGeom>
        </p:spPr>
      </p:pic>
      <p:pic>
        <p:nvPicPr>
          <p:cNvPr id="7" name="Picture 6">
            <a:extLst>
              <a:ext uri="{FF2B5EF4-FFF2-40B4-BE49-F238E27FC236}">
                <a16:creationId xmlns:a16="http://schemas.microsoft.com/office/drawing/2014/main" id="{4711F2D7-917B-8E56-38C2-6C933E6E4828}"/>
              </a:ext>
            </a:extLst>
          </p:cNvPr>
          <p:cNvPicPr>
            <a:picLocks noChangeAspect="1"/>
          </p:cNvPicPr>
          <p:nvPr/>
        </p:nvPicPr>
        <p:blipFill>
          <a:blip r:embed="rId3"/>
          <a:stretch>
            <a:fillRect/>
          </a:stretch>
        </p:blipFill>
        <p:spPr>
          <a:xfrm>
            <a:off x="8400535" y="4285896"/>
            <a:ext cx="3581900" cy="2010056"/>
          </a:xfrm>
          <a:prstGeom prst="rect">
            <a:avLst/>
          </a:prstGeom>
        </p:spPr>
      </p:pic>
    </p:spTree>
    <p:extLst>
      <p:ext uri="{BB962C8B-B14F-4D97-AF65-F5344CB8AC3E}">
        <p14:creationId xmlns:p14="http://schemas.microsoft.com/office/powerpoint/2010/main" val="1571741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649BB-C584-61F2-B17B-916A894F33FC}"/>
              </a:ext>
            </a:extLst>
          </p:cNvPr>
          <p:cNvSpPr>
            <a:spLocks noGrp="1"/>
          </p:cNvSpPr>
          <p:nvPr>
            <p:ph type="title"/>
          </p:nvPr>
        </p:nvSpPr>
        <p:spPr>
          <a:xfrm>
            <a:off x="1154954" y="973668"/>
            <a:ext cx="9657072" cy="706964"/>
          </a:xfrm>
        </p:spPr>
        <p:txBody>
          <a:bodyPr/>
          <a:lstStyle/>
          <a:p>
            <a:r>
              <a:rPr lang="en-US" dirty="0"/>
              <a:t>Route Propagation Problems in DV Routers</a:t>
            </a:r>
          </a:p>
        </p:txBody>
      </p:sp>
      <p:sp>
        <p:nvSpPr>
          <p:cNvPr id="3" name="Content Placeholder 2">
            <a:extLst>
              <a:ext uri="{FF2B5EF4-FFF2-40B4-BE49-F238E27FC236}">
                <a16:creationId xmlns:a16="http://schemas.microsoft.com/office/drawing/2014/main" id="{D162BE3C-D736-1E52-45A6-BF3B2608FE76}"/>
              </a:ext>
            </a:extLst>
          </p:cNvPr>
          <p:cNvSpPr>
            <a:spLocks noGrp="1"/>
          </p:cNvSpPr>
          <p:nvPr>
            <p:ph idx="1"/>
          </p:nvPr>
        </p:nvSpPr>
        <p:spPr/>
        <p:txBody>
          <a:bodyPr>
            <a:normAutofit/>
          </a:bodyPr>
          <a:lstStyle/>
          <a:p>
            <a:r>
              <a:rPr lang="en-US" b="1" dirty="0"/>
              <a:t>Count to Infinity </a:t>
            </a:r>
          </a:p>
          <a:p>
            <a:pPr lvl="1"/>
            <a:r>
              <a:rPr lang="en-US" dirty="0"/>
              <a:t>A problem with distance-vector routing is that any </a:t>
            </a:r>
            <a:r>
              <a:rPr lang="en-US" b="1" dirty="0"/>
              <a:t>decrease in cost </a:t>
            </a:r>
            <a:r>
              <a:rPr lang="en-US" dirty="0"/>
              <a:t>(good news) propagates </a:t>
            </a:r>
            <a:r>
              <a:rPr lang="en-US" b="1" dirty="0"/>
              <a:t>quickly</a:t>
            </a:r>
            <a:r>
              <a:rPr lang="en-US" dirty="0"/>
              <a:t>, but any </a:t>
            </a:r>
            <a:r>
              <a:rPr lang="en-US" b="1" dirty="0"/>
              <a:t>increase in cost </a:t>
            </a:r>
            <a:r>
              <a:rPr lang="en-US" dirty="0"/>
              <a:t>(bad news) will propagate </a:t>
            </a:r>
            <a:r>
              <a:rPr lang="en-US" b="1" dirty="0"/>
              <a:t>slowly</a:t>
            </a:r>
            <a:r>
              <a:rPr lang="en-US" dirty="0"/>
              <a:t>. </a:t>
            </a:r>
          </a:p>
          <a:p>
            <a:pPr lvl="1"/>
            <a:r>
              <a:rPr lang="en-US" dirty="0"/>
              <a:t>For a routing protocol to work properly, if a link is broken (cost becomes infinity), every other router should be aware of it immediately</a:t>
            </a:r>
          </a:p>
          <a:p>
            <a:pPr lvl="1"/>
            <a:r>
              <a:rPr lang="en-US" dirty="0"/>
              <a:t>In distance-vector routing, this takes some time.  The problem is referred to as </a:t>
            </a:r>
            <a:r>
              <a:rPr lang="en-US" b="1" dirty="0"/>
              <a:t>count to infinity</a:t>
            </a:r>
            <a:r>
              <a:rPr lang="en-US" dirty="0"/>
              <a:t>. </a:t>
            </a:r>
          </a:p>
          <a:p>
            <a:pPr lvl="1"/>
            <a:r>
              <a:rPr lang="en-US" dirty="0"/>
              <a:t>It sometimes takes several updates before the cost for a broken link is recorded as infinity by all routers. </a:t>
            </a:r>
          </a:p>
        </p:txBody>
      </p:sp>
    </p:spTree>
    <p:extLst>
      <p:ext uri="{BB962C8B-B14F-4D97-AF65-F5344CB8AC3E}">
        <p14:creationId xmlns:p14="http://schemas.microsoft.com/office/powerpoint/2010/main" val="11678562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7AFFA-F054-9DE9-A29A-615C4E4B212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41A68CD-4183-A13F-E11F-225F66ECFB52}"/>
              </a:ext>
            </a:extLst>
          </p:cNvPr>
          <p:cNvSpPr>
            <a:spLocks noGrp="1"/>
          </p:cNvSpPr>
          <p:nvPr>
            <p:ph idx="1"/>
          </p:nvPr>
        </p:nvSpPr>
        <p:spPr>
          <a:xfrm>
            <a:off x="380239" y="2004535"/>
            <a:ext cx="11155268" cy="4115998"/>
          </a:xfrm>
        </p:spPr>
        <p:txBody>
          <a:bodyPr/>
          <a:lstStyle/>
          <a:p>
            <a:r>
              <a:rPr lang="en-US" b="1" dirty="0"/>
              <a:t>Two-Node Loop </a:t>
            </a:r>
          </a:p>
          <a:p>
            <a:pPr lvl="1"/>
            <a:r>
              <a:rPr lang="en-US" dirty="0"/>
              <a:t>One example of count to infinity is the two-node loop problem. </a:t>
            </a:r>
          </a:p>
          <a:p>
            <a:pPr lvl="1"/>
            <a:r>
              <a:rPr lang="en-US" dirty="0"/>
              <a:t>To understand the problem, let us look at the scenario depicted in Figure 20.7. </a:t>
            </a:r>
          </a:p>
          <a:p>
            <a:pPr lvl="2"/>
            <a:r>
              <a:rPr lang="en-US" sz="1600" dirty="0"/>
              <a:t>The figure shows a system with three nodes. </a:t>
            </a:r>
          </a:p>
          <a:p>
            <a:pPr lvl="2"/>
            <a:r>
              <a:rPr lang="en-US" sz="1600" dirty="0"/>
              <a:t>We have shown only the portions of the forwarding table needed for our discussion. </a:t>
            </a:r>
          </a:p>
          <a:p>
            <a:pPr lvl="2"/>
            <a:r>
              <a:rPr lang="en-US" sz="1600" dirty="0"/>
              <a:t>At the beginning, both nodes A and B know how to reach node X</a:t>
            </a:r>
          </a:p>
          <a:p>
            <a:endParaRPr lang="en-US" dirty="0"/>
          </a:p>
        </p:txBody>
      </p:sp>
      <p:pic>
        <p:nvPicPr>
          <p:cNvPr id="5" name="Picture 4">
            <a:extLst>
              <a:ext uri="{FF2B5EF4-FFF2-40B4-BE49-F238E27FC236}">
                <a16:creationId xmlns:a16="http://schemas.microsoft.com/office/drawing/2014/main" id="{F00D9C1B-1DCC-1BEA-4769-D0B54E092128}"/>
              </a:ext>
            </a:extLst>
          </p:cNvPr>
          <p:cNvPicPr>
            <a:picLocks noChangeAspect="1"/>
          </p:cNvPicPr>
          <p:nvPr/>
        </p:nvPicPr>
        <p:blipFill>
          <a:blip r:embed="rId2"/>
          <a:srcRect r="61672" b="53293"/>
          <a:stretch/>
        </p:blipFill>
        <p:spPr>
          <a:xfrm>
            <a:off x="4201886" y="4333838"/>
            <a:ext cx="4350936" cy="2321509"/>
          </a:xfrm>
          <a:prstGeom prst="rect">
            <a:avLst/>
          </a:prstGeom>
        </p:spPr>
      </p:pic>
    </p:spTree>
    <p:extLst>
      <p:ext uri="{BB962C8B-B14F-4D97-AF65-F5344CB8AC3E}">
        <p14:creationId xmlns:p14="http://schemas.microsoft.com/office/powerpoint/2010/main" val="294979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69DD5-858D-0926-00DA-7462EBDDE9DF}"/>
              </a:ext>
            </a:extLst>
          </p:cNvPr>
          <p:cNvSpPr>
            <a:spLocks noGrp="1"/>
          </p:cNvSpPr>
          <p:nvPr>
            <p:ph type="title"/>
          </p:nvPr>
        </p:nvSpPr>
        <p:spPr/>
        <p:txBody>
          <a:bodyPr/>
          <a:lstStyle/>
          <a:p>
            <a:r>
              <a:rPr lang="en-US" b="1" dirty="0"/>
              <a:t>Two-Node Loop </a:t>
            </a:r>
            <a:endParaRPr lang="en-US" dirty="0"/>
          </a:p>
        </p:txBody>
      </p:sp>
      <p:sp>
        <p:nvSpPr>
          <p:cNvPr id="6" name="TextBox 5">
            <a:extLst>
              <a:ext uri="{FF2B5EF4-FFF2-40B4-BE49-F238E27FC236}">
                <a16:creationId xmlns:a16="http://schemas.microsoft.com/office/drawing/2014/main" id="{DFCC53E5-8A10-1186-E209-152980C0FFFA}"/>
              </a:ext>
            </a:extLst>
          </p:cNvPr>
          <p:cNvSpPr txBox="1"/>
          <p:nvPr/>
        </p:nvSpPr>
        <p:spPr>
          <a:xfrm>
            <a:off x="301451" y="2274838"/>
            <a:ext cx="11515411" cy="2917402"/>
          </a:xfrm>
          <a:prstGeom prst="rect">
            <a:avLst/>
          </a:prstGeom>
          <a:noFill/>
        </p:spPr>
        <p:txBody>
          <a:bodyPr wrap="square">
            <a:spAutoFit/>
          </a:bodyPr>
          <a:lstStyle/>
          <a:p>
            <a:pPr marL="342900" indent="-342900">
              <a:lnSpc>
                <a:spcPct val="150000"/>
              </a:lnSpc>
              <a:spcBef>
                <a:spcPts val="1000"/>
              </a:spcBef>
              <a:buClr>
                <a:schemeClr val="accent1"/>
              </a:buClr>
              <a:buSzPct val="80000"/>
              <a:buFont typeface="Wingdings 3" charset="2"/>
              <a:buChar char=""/>
            </a:pPr>
            <a:r>
              <a:rPr lang="en-US" dirty="0">
                <a:solidFill>
                  <a:schemeClr val="tx1">
                    <a:lumMod val="75000"/>
                    <a:lumOff val="25000"/>
                  </a:schemeClr>
                </a:solidFill>
              </a:rPr>
              <a:t>But suddenly, the link between A and X fails. </a:t>
            </a:r>
          </a:p>
          <a:p>
            <a:pPr marL="342900" indent="-342900">
              <a:lnSpc>
                <a:spcPct val="150000"/>
              </a:lnSpc>
              <a:spcBef>
                <a:spcPts val="1000"/>
              </a:spcBef>
              <a:buClr>
                <a:schemeClr val="accent1"/>
              </a:buClr>
              <a:buSzPct val="80000"/>
              <a:buFont typeface="Wingdings 3" charset="2"/>
              <a:buChar char=""/>
            </a:pPr>
            <a:r>
              <a:rPr lang="en-US" dirty="0">
                <a:solidFill>
                  <a:schemeClr val="tx1">
                    <a:lumMod val="75000"/>
                    <a:lumOff val="25000"/>
                  </a:schemeClr>
                </a:solidFill>
              </a:rPr>
              <a:t>Node A changes its table. If A can send its table to B immediately, everything is fine.</a:t>
            </a:r>
          </a:p>
          <a:p>
            <a:pPr marL="342900" indent="-342900">
              <a:lnSpc>
                <a:spcPct val="150000"/>
              </a:lnSpc>
              <a:spcBef>
                <a:spcPts val="1000"/>
              </a:spcBef>
              <a:buClr>
                <a:schemeClr val="accent1"/>
              </a:buClr>
              <a:buSzPct val="80000"/>
              <a:buFont typeface="Wingdings 3" charset="2"/>
              <a:buChar char=""/>
            </a:pPr>
            <a:r>
              <a:rPr lang="en-US" dirty="0">
                <a:solidFill>
                  <a:schemeClr val="tx1">
                    <a:lumMod val="75000"/>
                    <a:lumOff val="25000"/>
                  </a:schemeClr>
                </a:solidFill>
              </a:rPr>
              <a:t>However, the system becomes unstable if B sends its forwarding table to A before receiving A’s forwarding table. </a:t>
            </a:r>
          </a:p>
          <a:p>
            <a:pPr marL="342900" indent="-342900">
              <a:lnSpc>
                <a:spcPct val="150000"/>
              </a:lnSpc>
              <a:spcBef>
                <a:spcPts val="1000"/>
              </a:spcBef>
              <a:buClr>
                <a:schemeClr val="accent1"/>
              </a:buClr>
              <a:buSzPct val="80000"/>
              <a:buFont typeface="Wingdings 3" charset="2"/>
              <a:buChar char=""/>
            </a:pPr>
            <a:r>
              <a:rPr lang="en-US" dirty="0">
                <a:solidFill>
                  <a:schemeClr val="tx1">
                    <a:lumMod val="75000"/>
                    <a:lumOff val="25000"/>
                  </a:schemeClr>
                </a:solidFill>
              </a:rPr>
              <a:t>Node A receives the update and, assuming that B has found a way to reach X, immediately updates its forwarding table. </a:t>
            </a:r>
          </a:p>
        </p:txBody>
      </p:sp>
      <p:pic>
        <p:nvPicPr>
          <p:cNvPr id="4" name="Content Placeholder 3">
            <a:extLst>
              <a:ext uri="{FF2B5EF4-FFF2-40B4-BE49-F238E27FC236}">
                <a16:creationId xmlns:a16="http://schemas.microsoft.com/office/drawing/2014/main" id="{FC736ADF-8DF7-7786-A9FE-5D382D8C157D}"/>
              </a:ext>
            </a:extLst>
          </p:cNvPr>
          <p:cNvPicPr>
            <a:picLocks noGrp="1" noChangeAspect="1"/>
          </p:cNvPicPr>
          <p:nvPr>
            <p:ph idx="1"/>
          </p:nvPr>
        </p:nvPicPr>
        <p:blipFill>
          <a:blip r:embed="rId2"/>
          <a:srcRect l="34628" t="15982" b="43728"/>
          <a:stretch/>
        </p:blipFill>
        <p:spPr>
          <a:xfrm>
            <a:off x="4461467" y="4688578"/>
            <a:ext cx="6605695" cy="1782560"/>
          </a:xfrm>
          <a:prstGeom prst="rect">
            <a:avLst/>
          </a:prstGeom>
        </p:spPr>
      </p:pic>
    </p:spTree>
    <p:extLst>
      <p:ext uri="{BB962C8B-B14F-4D97-AF65-F5344CB8AC3E}">
        <p14:creationId xmlns:p14="http://schemas.microsoft.com/office/powerpoint/2010/main" val="36256476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0ADDE-857E-7566-2CD1-29ED9A15B652}"/>
              </a:ext>
            </a:extLst>
          </p:cNvPr>
          <p:cNvSpPr>
            <a:spLocks noGrp="1"/>
          </p:cNvSpPr>
          <p:nvPr>
            <p:ph type="title"/>
          </p:nvPr>
        </p:nvSpPr>
        <p:spPr/>
        <p:txBody>
          <a:bodyPr/>
          <a:lstStyle/>
          <a:p>
            <a:r>
              <a:rPr lang="en-US" b="1" dirty="0"/>
              <a:t>Two-Node Loop </a:t>
            </a:r>
            <a:endParaRPr lang="en-US" dirty="0"/>
          </a:p>
        </p:txBody>
      </p:sp>
      <p:sp>
        <p:nvSpPr>
          <p:cNvPr id="3" name="Content Placeholder 2">
            <a:extLst>
              <a:ext uri="{FF2B5EF4-FFF2-40B4-BE49-F238E27FC236}">
                <a16:creationId xmlns:a16="http://schemas.microsoft.com/office/drawing/2014/main" id="{7DC896BD-FE56-0CB9-8A7D-FB92B831FB8E}"/>
              </a:ext>
            </a:extLst>
          </p:cNvPr>
          <p:cNvSpPr>
            <a:spLocks noGrp="1"/>
          </p:cNvSpPr>
          <p:nvPr>
            <p:ph idx="1"/>
          </p:nvPr>
        </p:nvSpPr>
        <p:spPr/>
        <p:txBody>
          <a:bodyPr/>
          <a:lstStyle/>
          <a:p>
            <a:pPr>
              <a:lnSpc>
                <a:spcPct val="150000"/>
              </a:lnSpc>
            </a:pPr>
            <a:r>
              <a:rPr lang="en-US" dirty="0"/>
              <a:t>Now A sends its new update to B.</a:t>
            </a:r>
          </a:p>
          <a:p>
            <a:pPr>
              <a:lnSpc>
                <a:spcPct val="150000"/>
              </a:lnSpc>
            </a:pPr>
            <a:r>
              <a:rPr lang="en-US" dirty="0"/>
              <a:t>Now B thinks that something has been changed around A and updates its forwarding table. </a:t>
            </a:r>
          </a:p>
          <a:p>
            <a:pPr>
              <a:lnSpc>
                <a:spcPct val="150000"/>
              </a:lnSpc>
            </a:pPr>
            <a:r>
              <a:rPr lang="en-US" dirty="0"/>
              <a:t>The cost of reaching X increases gradually until it reaches infinity. </a:t>
            </a:r>
          </a:p>
          <a:p>
            <a:pPr>
              <a:lnSpc>
                <a:spcPct val="150000"/>
              </a:lnSpc>
            </a:pPr>
            <a:r>
              <a:rPr lang="en-US" dirty="0"/>
              <a:t>At this moment, both A and B know that X cannot be reached. </a:t>
            </a:r>
          </a:p>
          <a:p>
            <a:endParaRPr lang="en-US" dirty="0"/>
          </a:p>
        </p:txBody>
      </p:sp>
      <p:pic>
        <p:nvPicPr>
          <p:cNvPr id="5" name="Content Placeholder 3">
            <a:extLst>
              <a:ext uri="{FF2B5EF4-FFF2-40B4-BE49-F238E27FC236}">
                <a16:creationId xmlns:a16="http://schemas.microsoft.com/office/drawing/2014/main" id="{F2FE4C86-38D6-EBA6-9D88-B2C9092258AE}"/>
              </a:ext>
            </a:extLst>
          </p:cNvPr>
          <p:cNvPicPr>
            <a:picLocks noChangeAspect="1"/>
          </p:cNvPicPr>
          <p:nvPr/>
        </p:nvPicPr>
        <p:blipFill>
          <a:blip r:embed="rId2"/>
          <a:srcRect t="55676"/>
          <a:stretch/>
        </p:blipFill>
        <p:spPr>
          <a:xfrm>
            <a:off x="1744755" y="4572000"/>
            <a:ext cx="8715301" cy="1691415"/>
          </a:xfrm>
          <a:prstGeom prst="rect">
            <a:avLst/>
          </a:prstGeom>
        </p:spPr>
      </p:pic>
    </p:spTree>
    <p:extLst>
      <p:ext uri="{BB962C8B-B14F-4D97-AF65-F5344CB8AC3E}">
        <p14:creationId xmlns:p14="http://schemas.microsoft.com/office/powerpoint/2010/main" val="40318170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D8456-1BF8-E1F0-99F9-6EC65AA1CAD6}"/>
              </a:ext>
            </a:extLst>
          </p:cNvPr>
          <p:cNvSpPr>
            <a:spLocks noGrp="1"/>
          </p:cNvSpPr>
          <p:nvPr>
            <p:ph type="title"/>
          </p:nvPr>
        </p:nvSpPr>
        <p:spPr/>
        <p:txBody>
          <a:bodyPr/>
          <a:lstStyle/>
          <a:p>
            <a:r>
              <a:rPr lang="en-US" b="1" dirty="0"/>
              <a:t>Two-Node Loop </a:t>
            </a:r>
            <a:endParaRPr lang="en-US" dirty="0"/>
          </a:p>
        </p:txBody>
      </p:sp>
      <p:sp>
        <p:nvSpPr>
          <p:cNvPr id="3" name="Content Placeholder 2">
            <a:extLst>
              <a:ext uri="{FF2B5EF4-FFF2-40B4-BE49-F238E27FC236}">
                <a16:creationId xmlns:a16="http://schemas.microsoft.com/office/drawing/2014/main" id="{393BFF45-38F3-F02C-3CF0-4A07D294C618}"/>
              </a:ext>
            </a:extLst>
          </p:cNvPr>
          <p:cNvSpPr>
            <a:spLocks noGrp="1"/>
          </p:cNvSpPr>
          <p:nvPr>
            <p:ph idx="1"/>
          </p:nvPr>
        </p:nvSpPr>
        <p:spPr/>
        <p:txBody>
          <a:bodyPr>
            <a:normAutofit/>
          </a:bodyPr>
          <a:lstStyle/>
          <a:p>
            <a:r>
              <a:rPr lang="en-US" sz="2400" dirty="0"/>
              <a:t>However, during this time the system is not stable. </a:t>
            </a:r>
          </a:p>
          <a:p>
            <a:r>
              <a:rPr lang="en-US" sz="2400" dirty="0"/>
              <a:t>Node A thinks that the route to X is via B; node B thinks that the route to X is via A. </a:t>
            </a:r>
          </a:p>
          <a:p>
            <a:r>
              <a:rPr lang="en-US" sz="2400" dirty="0"/>
              <a:t>If A receives a packet destined for X, the packet goes to B and then comes back to A. </a:t>
            </a:r>
          </a:p>
          <a:p>
            <a:r>
              <a:rPr lang="en-US" sz="2400" dirty="0"/>
              <a:t>Similarly, if B receives a packet destined for X, it goes to A and comes back to B. </a:t>
            </a:r>
          </a:p>
          <a:p>
            <a:r>
              <a:rPr lang="en-US" sz="2400" dirty="0"/>
              <a:t>Packets bounce between A and B, creating a two-node loop problem.</a:t>
            </a:r>
          </a:p>
        </p:txBody>
      </p:sp>
    </p:spTree>
    <p:extLst>
      <p:ext uri="{BB962C8B-B14F-4D97-AF65-F5344CB8AC3E}">
        <p14:creationId xmlns:p14="http://schemas.microsoft.com/office/powerpoint/2010/main" val="39919246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8D371-D713-44DF-2DEF-D0B92490B99B}"/>
              </a:ext>
            </a:extLst>
          </p:cNvPr>
          <p:cNvSpPr>
            <a:spLocks noGrp="1"/>
          </p:cNvSpPr>
          <p:nvPr>
            <p:ph type="title"/>
          </p:nvPr>
        </p:nvSpPr>
        <p:spPr/>
        <p:txBody>
          <a:bodyPr/>
          <a:lstStyle/>
          <a:p>
            <a:r>
              <a:rPr lang="en-US" dirty="0"/>
              <a:t>Solution to Two Node Problem</a:t>
            </a:r>
          </a:p>
        </p:txBody>
      </p:sp>
      <p:sp>
        <p:nvSpPr>
          <p:cNvPr id="3" name="Content Placeholder 2">
            <a:extLst>
              <a:ext uri="{FF2B5EF4-FFF2-40B4-BE49-F238E27FC236}">
                <a16:creationId xmlns:a16="http://schemas.microsoft.com/office/drawing/2014/main" id="{902D4A81-D6B9-E667-0C3A-0E98D3C6A9AC}"/>
              </a:ext>
            </a:extLst>
          </p:cNvPr>
          <p:cNvSpPr>
            <a:spLocks noGrp="1"/>
          </p:cNvSpPr>
          <p:nvPr>
            <p:ph idx="1"/>
          </p:nvPr>
        </p:nvSpPr>
        <p:spPr>
          <a:xfrm>
            <a:off x="561110" y="2275839"/>
            <a:ext cx="11082593" cy="4396265"/>
          </a:xfrm>
        </p:spPr>
        <p:txBody>
          <a:bodyPr>
            <a:normAutofit lnSpcReduction="10000"/>
          </a:bodyPr>
          <a:lstStyle/>
          <a:p>
            <a:r>
              <a:rPr lang="en-US" sz="1800" dirty="0">
                <a:solidFill>
                  <a:srgbClr val="231F20"/>
                </a:solidFill>
                <a:latin typeface="NimbusRomNo9L"/>
              </a:rPr>
              <a:t>A few solutions have been proposed for instability of this kind.</a:t>
            </a:r>
            <a:endParaRPr lang="en-US" dirty="0"/>
          </a:p>
          <a:p>
            <a:r>
              <a:rPr lang="en-US" b="1" dirty="0"/>
              <a:t>Split Horizon</a:t>
            </a:r>
            <a:r>
              <a:rPr lang="en-US" dirty="0"/>
              <a:t>  One solution to instability is called split horizon. </a:t>
            </a:r>
          </a:p>
          <a:p>
            <a:pPr lvl="1"/>
            <a:r>
              <a:rPr lang="en-US" dirty="0"/>
              <a:t>In this strategy, instead of flooding the table through each interface, each node sends only part of its table through each interface. </a:t>
            </a:r>
          </a:p>
          <a:p>
            <a:pPr lvl="1"/>
            <a:r>
              <a:rPr lang="en-US" dirty="0"/>
              <a:t>According to this, Node B thinks that the optimum route to reach X is via A, it does not need to advertise this piece of information to A; </a:t>
            </a:r>
          </a:p>
          <a:p>
            <a:pPr lvl="1"/>
            <a:r>
              <a:rPr lang="en-US" dirty="0"/>
              <a:t>As the information has come from A (A already knows). </a:t>
            </a:r>
          </a:p>
          <a:p>
            <a:pPr lvl="1"/>
            <a:r>
              <a:rPr lang="en-US" dirty="0"/>
              <a:t>Taking information from node A, modifying it, and sending it back to node A is what creates the confusion. </a:t>
            </a:r>
          </a:p>
          <a:p>
            <a:pPr lvl="1"/>
            <a:r>
              <a:rPr lang="en-US" dirty="0"/>
              <a:t>In our scenario, </a:t>
            </a:r>
            <a:r>
              <a:rPr lang="en-US" b="1" dirty="0"/>
              <a:t>node B </a:t>
            </a:r>
            <a:r>
              <a:rPr lang="en-US" dirty="0"/>
              <a:t>eliminates the </a:t>
            </a:r>
            <a:r>
              <a:rPr lang="en-US" u="sng" dirty="0"/>
              <a:t>last line of its forwarding table before </a:t>
            </a:r>
            <a:r>
              <a:rPr lang="en-US" dirty="0"/>
              <a:t>it sends it to A. </a:t>
            </a:r>
          </a:p>
          <a:p>
            <a:pPr lvl="1"/>
            <a:r>
              <a:rPr lang="en-US" dirty="0"/>
              <a:t>In this case, node A keeps the value of infinity as the distance to X. </a:t>
            </a:r>
          </a:p>
          <a:p>
            <a:pPr lvl="1"/>
            <a:r>
              <a:rPr lang="en-US" dirty="0"/>
              <a:t>Later, when node A sends its forwarding table to B, node B also corrects its forwarding table. </a:t>
            </a:r>
          </a:p>
          <a:p>
            <a:pPr lvl="1"/>
            <a:r>
              <a:rPr lang="en-US" dirty="0"/>
              <a:t>The system becomes stable after the first update: both node A and node B know that X is not reachable.</a:t>
            </a:r>
          </a:p>
        </p:txBody>
      </p:sp>
    </p:spTree>
    <p:extLst>
      <p:ext uri="{BB962C8B-B14F-4D97-AF65-F5344CB8AC3E}">
        <p14:creationId xmlns:p14="http://schemas.microsoft.com/office/powerpoint/2010/main" val="13052581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59941-B567-15B8-48F3-46640697E8B4}"/>
              </a:ext>
            </a:extLst>
          </p:cNvPr>
          <p:cNvSpPr>
            <a:spLocks noGrp="1"/>
          </p:cNvSpPr>
          <p:nvPr>
            <p:ph type="title"/>
          </p:nvPr>
        </p:nvSpPr>
        <p:spPr/>
        <p:txBody>
          <a:bodyPr/>
          <a:lstStyle/>
          <a:p>
            <a:r>
              <a:rPr lang="en-US" dirty="0"/>
              <a:t>Poison Reverse</a:t>
            </a:r>
          </a:p>
        </p:txBody>
      </p:sp>
      <p:sp>
        <p:nvSpPr>
          <p:cNvPr id="3" name="Content Placeholder 2">
            <a:extLst>
              <a:ext uri="{FF2B5EF4-FFF2-40B4-BE49-F238E27FC236}">
                <a16:creationId xmlns:a16="http://schemas.microsoft.com/office/drawing/2014/main" id="{77223480-2596-FC34-4C87-B5906C60EE32}"/>
              </a:ext>
            </a:extLst>
          </p:cNvPr>
          <p:cNvSpPr>
            <a:spLocks noGrp="1"/>
          </p:cNvSpPr>
          <p:nvPr>
            <p:ph idx="1"/>
          </p:nvPr>
        </p:nvSpPr>
        <p:spPr>
          <a:xfrm>
            <a:off x="561110" y="2275840"/>
            <a:ext cx="11082593" cy="4300806"/>
          </a:xfrm>
        </p:spPr>
        <p:txBody>
          <a:bodyPr>
            <a:normAutofit/>
          </a:bodyPr>
          <a:lstStyle/>
          <a:p>
            <a:r>
              <a:rPr lang="en-US" dirty="0"/>
              <a:t>Using the split-horizon strategy has one drawback. </a:t>
            </a:r>
          </a:p>
          <a:p>
            <a:r>
              <a:rPr lang="en-US" dirty="0"/>
              <a:t>Normally, the corresponding protocol uses a timer, and if there is no news about a route, the node deletes the route from its table. </a:t>
            </a:r>
          </a:p>
          <a:p>
            <a:r>
              <a:rPr lang="en-US" dirty="0"/>
              <a:t>When node B in Split Horizon eliminates the route to X from its advertisement to A, node A cannot guess whether this is due to the split-horizon strategy (the source of information was A) or because B has not received any news about X recently. </a:t>
            </a:r>
          </a:p>
          <a:p>
            <a:r>
              <a:rPr lang="en-US" dirty="0"/>
              <a:t>In the poison reverse strategy B can still advertise the value for X, but if the source of information is A, it can replace the distance with infinity as a warning: “Do not use this value; what I know about this route comes from you.” </a:t>
            </a:r>
          </a:p>
          <a:p>
            <a:r>
              <a:rPr lang="en-US" sz="2400" b="1" i="1" dirty="0">
                <a:solidFill>
                  <a:srgbClr val="231F20"/>
                </a:solidFill>
                <a:latin typeface="NimbusRomNo9L"/>
              </a:rPr>
              <a:t>Three-Node Instability</a:t>
            </a:r>
          </a:p>
          <a:p>
            <a:pPr lvl="1"/>
            <a:r>
              <a:rPr lang="en-US" sz="1800" dirty="0"/>
              <a:t>The two-node instability can be avoided using split horizon combined with poison reverse. </a:t>
            </a:r>
          </a:p>
          <a:p>
            <a:pPr lvl="1"/>
            <a:r>
              <a:rPr lang="en-US" sz="1800" dirty="0"/>
              <a:t>However, if the instability is between three nodes, stability cannot be guaranteed.</a:t>
            </a:r>
          </a:p>
        </p:txBody>
      </p:sp>
    </p:spTree>
    <p:extLst>
      <p:ext uri="{BB962C8B-B14F-4D97-AF65-F5344CB8AC3E}">
        <p14:creationId xmlns:p14="http://schemas.microsoft.com/office/powerpoint/2010/main" val="17142688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97980-6376-BE39-CAF8-EEDDB341D77C}"/>
              </a:ext>
            </a:extLst>
          </p:cNvPr>
          <p:cNvSpPr>
            <a:spLocks noGrp="1"/>
          </p:cNvSpPr>
          <p:nvPr>
            <p:ph type="title"/>
          </p:nvPr>
        </p:nvSpPr>
        <p:spPr/>
        <p:txBody>
          <a:bodyPr/>
          <a:lstStyle/>
          <a:p>
            <a:r>
              <a:rPr lang="en-US" sz="3600" b="1" dirty="0">
                <a:solidFill>
                  <a:srgbClr val="00ACEF"/>
                </a:solidFill>
                <a:latin typeface="NimbusRomNo9L"/>
              </a:rPr>
              <a:t>20.2.2 Link-State Routing</a:t>
            </a:r>
            <a:endParaRPr lang="en-US" dirty="0"/>
          </a:p>
        </p:txBody>
      </p:sp>
      <p:sp>
        <p:nvSpPr>
          <p:cNvPr id="3" name="Content Placeholder 2">
            <a:extLst>
              <a:ext uri="{FF2B5EF4-FFF2-40B4-BE49-F238E27FC236}">
                <a16:creationId xmlns:a16="http://schemas.microsoft.com/office/drawing/2014/main" id="{2D1C0045-D208-BF68-D31A-140B12BAC1A9}"/>
              </a:ext>
            </a:extLst>
          </p:cNvPr>
          <p:cNvSpPr>
            <a:spLocks noGrp="1"/>
          </p:cNvSpPr>
          <p:nvPr>
            <p:ph idx="1"/>
          </p:nvPr>
        </p:nvSpPr>
        <p:spPr/>
        <p:txBody>
          <a:bodyPr/>
          <a:lstStyle/>
          <a:p>
            <a:r>
              <a:rPr lang="en-US" sz="1800" dirty="0">
                <a:solidFill>
                  <a:srgbClr val="231F20"/>
                </a:solidFill>
                <a:latin typeface="NimbusRomNo9L"/>
              </a:rPr>
              <a:t>A routing algorithm that directly follows our discussion for creating least-cost trees and forwarding tables is </a:t>
            </a:r>
            <a:r>
              <a:rPr lang="en-US" sz="1800" b="1" dirty="0">
                <a:solidFill>
                  <a:srgbClr val="231F20"/>
                </a:solidFill>
                <a:latin typeface="NimbusRomNo9L"/>
              </a:rPr>
              <a:t>link-state (LS) routing. </a:t>
            </a:r>
          </a:p>
          <a:p>
            <a:r>
              <a:rPr lang="en-US" sz="1800" b="1" dirty="0">
                <a:solidFill>
                  <a:srgbClr val="231F20"/>
                </a:solidFill>
                <a:latin typeface="NimbusRomNo9L"/>
              </a:rPr>
              <a:t>This method uses the term </a:t>
            </a:r>
            <a:r>
              <a:rPr lang="en-US" sz="1800" b="1" i="1" dirty="0">
                <a:solidFill>
                  <a:srgbClr val="231F20"/>
                </a:solidFill>
                <a:latin typeface="NimbusRomNo9L"/>
              </a:rPr>
              <a:t>link-state to </a:t>
            </a:r>
            <a:r>
              <a:rPr lang="en-US" sz="1800" dirty="0">
                <a:solidFill>
                  <a:srgbClr val="231F20"/>
                </a:solidFill>
                <a:latin typeface="NimbusRomNo9L"/>
              </a:rPr>
              <a:t>define the characteristic of a link (an edge) that represents a network in the internet. </a:t>
            </a:r>
          </a:p>
          <a:p>
            <a:r>
              <a:rPr lang="en-US" sz="1800" dirty="0">
                <a:solidFill>
                  <a:srgbClr val="231F20"/>
                </a:solidFill>
                <a:latin typeface="NimbusRomNo9L"/>
              </a:rPr>
              <a:t>In this algorithm the cost associated with an edge defines the state of the link. </a:t>
            </a:r>
          </a:p>
          <a:p>
            <a:pPr lvl="1"/>
            <a:r>
              <a:rPr lang="en-US" dirty="0">
                <a:solidFill>
                  <a:srgbClr val="231F20"/>
                </a:solidFill>
                <a:latin typeface="NimbusRomNo9L"/>
              </a:rPr>
              <a:t>Links with lower costs are preferred to links with higher costs; </a:t>
            </a:r>
          </a:p>
          <a:p>
            <a:pPr lvl="1"/>
            <a:r>
              <a:rPr lang="en-US" dirty="0">
                <a:solidFill>
                  <a:srgbClr val="231F20"/>
                </a:solidFill>
                <a:latin typeface="NimbusRomNo9L"/>
              </a:rPr>
              <a:t>if the cost of a link is infinity, it means that the link does not exist or has been broken.</a:t>
            </a:r>
          </a:p>
          <a:p>
            <a:endParaRPr lang="en-US" dirty="0"/>
          </a:p>
        </p:txBody>
      </p:sp>
    </p:spTree>
    <p:extLst>
      <p:ext uri="{BB962C8B-B14F-4D97-AF65-F5344CB8AC3E}">
        <p14:creationId xmlns:p14="http://schemas.microsoft.com/office/powerpoint/2010/main" val="31586533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BBAE2-4C19-3293-2349-1553D40B4849}"/>
              </a:ext>
            </a:extLst>
          </p:cNvPr>
          <p:cNvSpPr>
            <a:spLocks noGrp="1"/>
          </p:cNvSpPr>
          <p:nvPr>
            <p:ph type="title"/>
          </p:nvPr>
        </p:nvSpPr>
        <p:spPr/>
        <p:txBody>
          <a:bodyPr/>
          <a:lstStyle/>
          <a:p>
            <a:r>
              <a:rPr lang="en-US" sz="3600" b="1" i="1" dirty="0">
                <a:solidFill>
                  <a:srgbClr val="00ACEF"/>
                </a:solidFill>
                <a:latin typeface="NimbusRomNo9L"/>
              </a:rPr>
              <a:t>Link-State Database (LSDB)</a:t>
            </a:r>
            <a:endParaRPr lang="en-US" dirty="0"/>
          </a:p>
        </p:txBody>
      </p:sp>
      <p:sp>
        <p:nvSpPr>
          <p:cNvPr id="3" name="Content Placeholder 2">
            <a:extLst>
              <a:ext uri="{FF2B5EF4-FFF2-40B4-BE49-F238E27FC236}">
                <a16:creationId xmlns:a16="http://schemas.microsoft.com/office/drawing/2014/main" id="{02C68337-1D3E-8A23-6987-5B7468F60421}"/>
              </a:ext>
            </a:extLst>
          </p:cNvPr>
          <p:cNvSpPr>
            <a:spLocks noGrp="1"/>
          </p:cNvSpPr>
          <p:nvPr>
            <p:ph idx="1"/>
          </p:nvPr>
        </p:nvSpPr>
        <p:spPr/>
        <p:txBody>
          <a:bodyPr/>
          <a:lstStyle/>
          <a:p>
            <a:r>
              <a:rPr lang="en-US" sz="1800" dirty="0">
                <a:solidFill>
                  <a:srgbClr val="231F20"/>
                </a:solidFill>
                <a:latin typeface="NimbusRomNo9L"/>
              </a:rPr>
              <a:t>To create a least-cost tree with this method, each node needs to have a complete </a:t>
            </a:r>
            <a:r>
              <a:rPr lang="en-US" sz="1800" i="1" dirty="0">
                <a:solidFill>
                  <a:srgbClr val="231F20"/>
                </a:solidFill>
                <a:latin typeface="NimbusRomNo9L"/>
              </a:rPr>
              <a:t>map of </a:t>
            </a:r>
            <a:r>
              <a:rPr lang="en-US" sz="1800" dirty="0">
                <a:solidFill>
                  <a:srgbClr val="231F20"/>
                </a:solidFill>
                <a:latin typeface="NimbusRomNo9L"/>
              </a:rPr>
              <a:t>the network, which means it needs to know the state of each link. </a:t>
            </a:r>
          </a:p>
          <a:p>
            <a:r>
              <a:rPr lang="en-US" sz="1800" dirty="0">
                <a:solidFill>
                  <a:srgbClr val="231F20"/>
                </a:solidFill>
                <a:latin typeface="NimbusRomNo9L"/>
              </a:rPr>
              <a:t>The collection of states for all links is called the </a:t>
            </a:r>
            <a:r>
              <a:rPr lang="en-US" sz="1800" b="1" i="1" dirty="0">
                <a:solidFill>
                  <a:srgbClr val="231F20"/>
                </a:solidFill>
                <a:latin typeface="NimbusRomNo9L"/>
              </a:rPr>
              <a:t>link-state database (LSDB). </a:t>
            </a:r>
          </a:p>
          <a:p>
            <a:r>
              <a:rPr lang="en-US" sz="1800" b="1" i="1" dirty="0">
                <a:solidFill>
                  <a:srgbClr val="231F20"/>
                </a:solidFill>
                <a:latin typeface="NimbusRomNo9L"/>
              </a:rPr>
              <a:t>There is only one LSDB for the </a:t>
            </a:r>
            <a:r>
              <a:rPr lang="en-US" sz="1800" dirty="0">
                <a:solidFill>
                  <a:srgbClr val="231F20"/>
                </a:solidFill>
                <a:latin typeface="NimbusRomNo9L"/>
              </a:rPr>
              <a:t>whole internet; each node needs to have a duplicate of it to be able to create the least-cost tree. </a:t>
            </a:r>
          </a:p>
          <a:p>
            <a:r>
              <a:rPr lang="en-US" sz="1800" dirty="0">
                <a:solidFill>
                  <a:srgbClr val="231F20"/>
                </a:solidFill>
                <a:latin typeface="NimbusRomNo9L"/>
              </a:rPr>
              <a:t>Figure 20.8 shows an example of an LSDB for the graph in Figure 20.1. </a:t>
            </a:r>
          </a:p>
          <a:p>
            <a:r>
              <a:rPr lang="en-US" sz="1800" dirty="0">
                <a:solidFill>
                  <a:srgbClr val="231F20"/>
                </a:solidFill>
                <a:latin typeface="NimbusRomNo9L"/>
              </a:rPr>
              <a:t>The LSDB can be represented as a two-dimensional array(matrix) in which the value of each cell defines the cost of the corresponding link. </a:t>
            </a:r>
            <a:endParaRPr lang="en-US" dirty="0"/>
          </a:p>
        </p:txBody>
      </p:sp>
    </p:spTree>
    <p:extLst>
      <p:ext uri="{BB962C8B-B14F-4D97-AF65-F5344CB8AC3E}">
        <p14:creationId xmlns:p14="http://schemas.microsoft.com/office/powerpoint/2010/main" val="30424238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13049-EFEC-3E35-E613-67480343D1A9}"/>
              </a:ext>
            </a:extLst>
          </p:cNvPr>
          <p:cNvSpPr>
            <a:spLocks noGrp="1"/>
          </p:cNvSpPr>
          <p:nvPr>
            <p:ph type="title"/>
          </p:nvPr>
        </p:nvSpPr>
        <p:spPr/>
        <p:txBody>
          <a:bodyPr/>
          <a:lstStyle/>
          <a:p>
            <a:r>
              <a:rPr lang="en-US" sz="3600" b="1" i="1" dirty="0">
                <a:solidFill>
                  <a:srgbClr val="00ACEF"/>
                </a:solidFill>
                <a:latin typeface="NimbusRomNo9L"/>
              </a:rPr>
              <a:t>Link-State Database (LSDB)</a:t>
            </a:r>
            <a:endParaRPr lang="en-US" dirty="0"/>
          </a:p>
        </p:txBody>
      </p:sp>
      <p:sp>
        <p:nvSpPr>
          <p:cNvPr id="3" name="Content Placeholder 2">
            <a:extLst>
              <a:ext uri="{FF2B5EF4-FFF2-40B4-BE49-F238E27FC236}">
                <a16:creationId xmlns:a16="http://schemas.microsoft.com/office/drawing/2014/main" id="{D4CE587A-1CD2-1BD8-DE6D-14146C29FE3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5FF83E2-42E6-5A09-64D2-B1BFA9601D2D}"/>
              </a:ext>
            </a:extLst>
          </p:cNvPr>
          <p:cNvPicPr>
            <a:picLocks noChangeAspect="1"/>
          </p:cNvPicPr>
          <p:nvPr/>
        </p:nvPicPr>
        <p:blipFill>
          <a:blip r:embed="rId2"/>
          <a:stretch>
            <a:fillRect/>
          </a:stretch>
        </p:blipFill>
        <p:spPr>
          <a:xfrm>
            <a:off x="867373" y="1954963"/>
            <a:ext cx="10457253" cy="4070045"/>
          </a:xfrm>
          <a:prstGeom prst="rect">
            <a:avLst/>
          </a:prstGeom>
        </p:spPr>
      </p:pic>
    </p:spTree>
    <p:extLst>
      <p:ext uri="{BB962C8B-B14F-4D97-AF65-F5344CB8AC3E}">
        <p14:creationId xmlns:p14="http://schemas.microsoft.com/office/powerpoint/2010/main" val="432967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D12CB-17CC-7356-317E-47990C81E6B2}"/>
              </a:ext>
            </a:extLst>
          </p:cNvPr>
          <p:cNvSpPr>
            <a:spLocks noGrp="1"/>
          </p:cNvSpPr>
          <p:nvPr>
            <p:ph type="title"/>
          </p:nvPr>
        </p:nvSpPr>
        <p:spPr/>
        <p:txBody>
          <a:bodyPr/>
          <a:lstStyle/>
          <a:p>
            <a:r>
              <a:rPr lang="en-US" sz="3600" b="1" i="1" dirty="0">
                <a:solidFill>
                  <a:srgbClr val="00ACEF"/>
                </a:solidFill>
                <a:latin typeface="NimbusRomNo9L"/>
              </a:rPr>
              <a:t>Link-State Database (LSDB)</a:t>
            </a:r>
            <a:endParaRPr lang="en-US" dirty="0"/>
          </a:p>
        </p:txBody>
      </p:sp>
      <p:sp>
        <p:nvSpPr>
          <p:cNvPr id="3" name="Content Placeholder 2">
            <a:extLst>
              <a:ext uri="{FF2B5EF4-FFF2-40B4-BE49-F238E27FC236}">
                <a16:creationId xmlns:a16="http://schemas.microsoft.com/office/drawing/2014/main" id="{EB5FC670-FC62-0258-7C3B-71143D761008}"/>
              </a:ext>
            </a:extLst>
          </p:cNvPr>
          <p:cNvSpPr>
            <a:spLocks noGrp="1"/>
          </p:cNvSpPr>
          <p:nvPr>
            <p:ph idx="1"/>
          </p:nvPr>
        </p:nvSpPr>
        <p:spPr/>
        <p:txBody>
          <a:bodyPr>
            <a:normAutofit/>
          </a:bodyPr>
          <a:lstStyle/>
          <a:p>
            <a:r>
              <a:rPr lang="en-US" dirty="0"/>
              <a:t>Now the question is how each node can create this LSDB that contains information about the whole internet. </a:t>
            </a:r>
          </a:p>
          <a:p>
            <a:r>
              <a:rPr lang="en-US" dirty="0"/>
              <a:t>This can be done by a process called flooding. </a:t>
            </a:r>
          </a:p>
          <a:p>
            <a:r>
              <a:rPr lang="en-US" dirty="0"/>
              <a:t>Each node can send some greeting messages to all its immediate neighbors (those nodes to which it is connected directly) </a:t>
            </a:r>
          </a:p>
          <a:p>
            <a:r>
              <a:rPr lang="en-US" dirty="0"/>
              <a:t>To collect two pieces of information for each neighboring node: </a:t>
            </a:r>
          </a:p>
          <a:p>
            <a:pPr lvl="1"/>
            <a:r>
              <a:rPr lang="en-US" dirty="0"/>
              <a:t>the identity of the node and </a:t>
            </a:r>
          </a:p>
          <a:p>
            <a:pPr lvl="1"/>
            <a:r>
              <a:rPr lang="en-US" dirty="0"/>
              <a:t>the cost of the link. </a:t>
            </a:r>
          </a:p>
          <a:p>
            <a:r>
              <a:rPr lang="en-US" dirty="0"/>
              <a:t>The combination of these two pieces of information is called the LS packet (LSP); </a:t>
            </a:r>
          </a:p>
        </p:txBody>
      </p:sp>
    </p:spTree>
    <p:extLst>
      <p:ext uri="{BB962C8B-B14F-4D97-AF65-F5344CB8AC3E}">
        <p14:creationId xmlns:p14="http://schemas.microsoft.com/office/powerpoint/2010/main" val="37973006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24871E7-F767-0FE6-4368-4C39D705198E}"/>
              </a:ext>
            </a:extLst>
          </p:cNvPr>
          <p:cNvPicPr>
            <a:picLocks noChangeAspect="1"/>
          </p:cNvPicPr>
          <p:nvPr/>
        </p:nvPicPr>
        <p:blipFill>
          <a:blip r:embed="rId2"/>
          <a:stretch>
            <a:fillRect/>
          </a:stretch>
        </p:blipFill>
        <p:spPr>
          <a:xfrm>
            <a:off x="6239437" y="2618942"/>
            <a:ext cx="5557185" cy="3189462"/>
          </a:xfrm>
          <a:prstGeom prst="rect">
            <a:avLst/>
          </a:prstGeom>
        </p:spPr>
      </p:pic>
      <p:sp>
        <p:nvSpPr>
          <p:cNvPr id="2" name="Title 1">
            <a:extLst>
              <a:ext uri="{FF2B5EF4-FFF2-40B4-BE49-F238E27FC236}">
                <a16:creationId xmlns:a16="http://schemas.microsoft.com/office/drawing/2014/main" id="{659A9852-9F8A-AC43-E7D4-737CAE6C216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7D36945-F3C2-78C8-F331-A0ACD542A441}"/>
              </a:ext>
            </a:extLst>
          </p:cNvPr>
          <p:cNvSpPr>
            <a:spLocks noGrp="1"/>
          </p:cNvSpPr>
          <p:nvPr>
            <p:ph idx="1"/>
          </p:nvPr>
        </p:nvSpPr>
        <p:spPr>
          <a:xfrm>
            <a:off x="561110" y="2275840"/>
            <a:ext cx="6108631" cy="4115998"/>
          </a:xfrm>
        </p:spPr>
        <p:txBody>
          <a:bodyPr>
            <a:normAutofit/>
          </a:bodyPr>
          <a:lstStyle/>
          <a:p>
            <a:r>
              <a:rPr lang="en-US" dirty="0"/>
              <a:t>The LSP is sent out of each interface, as shown in Figure 20.9 for our internet in Figure 20.1. </a:t>
            </a:r>
          </a:p>
          <a:p>
            <a:r>
              <a:rPr lang="en-US" dirty="0"/>
              <a:t>When a node receives an LSP from one of its interfaces, </a:t>
            </a:r>
          </a:p>
          <a:p>
            <a:r>
              <a:rPr lang="en-US" dirty="0"/>
              <a:t>it compares the LSP with the copy it may already have.</a:t>
            </a:r>
          </a:p>
          <a:p>
            <a:r>
              <a:rPr lang="en-US" dirty="0"/>
              <a:t> If the newly arrived LSP is older than the one it has (found by checking the sequence number), it discards the LSP. </a:t>
            </a:r>
          </a:p>
          <a:p>
            <a:r>
              <a:rPr lang="en-US" dirty="0"/>
              <a:t>If it is newer or the first one received, the node discards the old LSP (if there is one) and keeps the received one. </a:t>
            </a:r>
          </a:p>
          <a:p>
            <a:endParaRPr lang="en-US" dirty="0"/>
          </a:p>
        </p:txBody>
      </p:sp>
    </p:spTree>
    <p:extLst>
      <p:ext uri="{BB962C8B-B14F-4D97-AF65-F5344CB8AC3E}">
        <p14:creationId xmlns:p14="http://schemas.microsoft.com/office/powerpoint/2010/main" val="23343234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CA83B2E-4795-9384-F1CF-4F20DDAB74CD}"/>
              </a:ext>
            </a:extLst>
          </p:cNvPr>
          <p:cNvPicPr>
            <a:picLocks noChangeAspect="1"/>
          </p:cNvPicPr>
          <p:nvPr/>
        </p:nvPicPr>
        <p:blipFill>
          <a:blip r:embed="rId2"/>
          <a:stretch>
            <a:fillRect/>
          </a:stretch>
        </p:blipFill>
        <p:spPr>
          <a:xfrm>
            <a:off x="6239436" y="2515576"/>
            <a:ext cx="5557185" cy="3189462"/>
          </a:xfrm>
          <a:prstGeom prst="rect">
            <a:avLst/>
          </a:prstGeom>
        </p:spPr>
      </p:pic>
      <p:sp>
        <p:nvSpPr>
          <p:cNvPr id="2" name="Title 1">
            <a:extLst>
              <a:ext uri="{FF2B5EF4-FFF2-40B4-BE49-F238E27FC236}">
                <a16:creationId xmlns:a16="http://schemas.microsoft.com/office/drawing/2014/main" id="{00232E23-FA68-33A9-5064-D269921298A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4EE4093-02FD-884A-A176-D3E6315D2A09}"/>
              </a:ext>
            </a:extLst>
          </p:cNvPr>
          <p:cNvSpPr>
            <a:spLocks noGrp="1"/>
          </p:cNvSpPr>
          <p:nvPr>
            <p:ph idx="1"/>
          </p:nvPr>
        </p:nvSpPr>
        <p:spPr>
          <a:xfrm>
            <a:off x="561110" y="2275840"/>
            <a:ext cx="6350678" cy="4115998"/>
          </a:xfrm>
        </p:spPr>
        <p:txBody>
          <a:bodyPr/>
          <a:lstStyle/>
          <a:p>
            <a:r>
              <a:rPr lang="en-US" dirty="0"/>
              <a:t>It then sends a copy of it out of each interface except the one from which the packet arrived. </a:t>
            </a:r>
          </a:p>
          <a:p>
            <a:r>
              <a:rPr lang="en-US" dirty="0"/>
              <a:t>This guarantees that flooding stops somewhere in the network (where a node has only one interface). </a:t>
            </a:r>
          </a:p>
          <a:p>
            <a:r>
              <a:rPr lang="en-US" dirty="0"/>
              <a:t>We need to convince ourselves that, after receiving all new LSPs, each node creates the comprehensive LSDB as shown in Figure 20.9. </a:t>
            </a:r>
          </a:p>
          <a:p>
            <a:r>
              <a:rPr lang="en-US" dirty="0"/>
              <a:t>This LSDB is the same for each node and shows the whole map of the internet.</a:t>
            </a:r>
          </a:p>
          <a:p>
            <a:r>
              <a:rPr lang="en-US" dirty="0"/>
              <a:t>In other words, a node can make the whole map if it needs to, using this LSDB</a:t>
            </a:r>
          </a:p>
          <a:p>
            <a:endParaRPr lang="en-US" dirty="0"/>
          </a:p>
        </p:txBody>
      </p:sp>
    </p:spTree>
    <p:extLst>
      <p:ext uri="{BB962C8B-B14F-4D97-AF65-F5344CB8AC3E}">
        <p14:creationId xmlns:p14="http://schemas.microsoft.com/office/powerpoint/2010/main" val="32270853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0516-0397-5AD0-A78F-ECB518E00E4C}"/>
              </a:ext>
            </a:extLst>
          </p:cNvPr>
          <p:cNvSpPr>
            <a:spLocks noGrp="1"/>
          </p:cNvSpPr>
          <p:nvPr>
            <p:ph type="title"/>
          </p:nvPr>
        </p:nvSpPr>
        <p:spPr/>
        <p:txBody>
          <a:bodyPr/>
          <a:lstStyle/>
          <a:p>
            <a:r>
              <a:rPr lang="en-US" dirty="0"/>
              <a:t>Comparing DV with LS</a:t>
            </a:r>
          </a:p>
        </p:txBody>
      </p:sp>
      <p:sp>
        <p:nvSpPr>
          <p:cNvPr id="3" name="Content Placeholder 2">
            <a:extLst>
              <a:ext uri="{FF2B5EF4-FFF2-40B4-BE49-F238E27FC236}">
                <a16:creationId xmlns:a16="http://schemas.microsoft.com/office/drawing/2014/main" id="{51EFA05A-883A-EE0F-8B75-05604A6B4A85}"/>
              </a:ext>
            </a:extLst>
          </p:cNvPr>
          <p:cNvSpPr>
            <a:spLocks noGrp="1"/>
          </p:cNvSpPr>
          <p:nvPr>
            <p:ph idx="1"/>
          </p:nvPr>
        </p:nvSpPr>
        <p:spPr/>
        <p:txBody>
          <a:bodyPr/>
          <a:lstStyle/>
          <a:p>
            <a:r>
              <a:rPr lang="en-US" sz="1800" dirty="0">
                <a:solidFill>
                  <a:srgbClr val="231F20"/>
                </a:solidFill>
                <a:latin typeface="NimbusRomNo9L"/>
              </a:rPr>
              <a:t>We can compare the link-state routing algorithm with the distance-vector routing algorithm.</a:t>
            </a:r>
          </a:p>
          <a:p>
            <a:pPr marL="0" indent="0">
              <a:buNone/>
            </a:pPr>
            <a:r>
              <a:rPr lang="en-US" sz="1800" dirty="0">
                <a:solidFill>
                  <a:srgbClr val="231F20"/>
                </a:solidFill>
                <a:latin typeface="NimbusRomNo9L"/>
              </a:rPr>
              <a:t> </a:t>
            </a:r>
          </a:p>
          <a:p>
            <a:r>
              <a:rPr lang="en-US" sz="1800" dirty="0">
                <a:solidFill>
                  <a:srgbClr val="231F20"/>
                </a:solidFill>
                <a:latin typeface="NimbusRomNo9L"/>
              </a:rPr>
              <a:t>In the </a:t>
            </a:r>
            <a:r>
              <a:rPr lang="en-US" sz="1800" b="1" dirty="0">
                <a:solidFill>
                  <a:srgbClr val="231F20"/>
                </a:solidFill>
                <a:latin typeface="NimbusRomNo9L"/>
              </a:rPr>
              <a:t>distance-vector routing </a:t>
            </a:r>
            <a:r>
              <a:rPr lang="en-US" sz="1800" dirty="0">
                <a:solidFill>
                  <a:srgbClr val="231F20"/>
                </a:solidFill>
                <a:latin typeface="NimbusRomNo9L"/>
              </a:rPr>
              <a:t>algorithm, </a:t>
            </a:r>
          </a:p>
          <a:p>
            <a:pPr lvl="1"/>
            <a:r>
              <a:rPr lang="en-US" dirty="0">
                <a:solidFill>
                  <a:srgbClr val="231F20"/>
                </a:solidFill>
                <a:latin typeface="NimbusRomNo9L"/>
              </a:rPr>
              <a:t>Each router tells its neighbors what it knows about the whole internet; </a:t>
            </a:r>
          </a:p>
          <a:p>
            <a:pPr marL="457200" lvl="1" indent="0">
              <a:buNone/>
            </a:pPr>
            <a:endParaRPr lang="en-US" dirty="0">
              <a:solidFill>
                <a:srgbClr val="231F20"/>
              </a:solidFill>
              <a:latin typeface="NimbusRomNo9L"/>
            </a:endParaRPr>
          </a:p>
          <a:p>
            <a:r>
              <a:rPr lang="en-US" dirty="0">
                <a:solidFill>
                  <a:srgbClr val="231F20"/>
                </a:solidFill>
                <a:latin typeface="NimbusRomNo9L"/>
              </a:rPr>
              <a:t>I</a:t>
            </a:r>
            <a:r>
              <a:rPr lang="en-US" sz="1800" dirty="0">
                <a:solidFill>
                  <a:srgbClr val="231F20"/>
                </a:solidFill>
                <a:latin typeface="NimbusRomNo9L"/>
              </a:rPr>
              <a:t>n the </a:t>
            </a:r>
            <a:r>
              <a:rPr lang="en-US" sz="1800" b="1" dirty="0">
                <a:solidFill>
                  <a:srgbClr val="231F20"/>
                </a:solidFill>
                <a:latin typeface="NimbusRomNo9L"/>
              </a:rPr>
              <a:t>link-state routing algorithm</a:t>
            </a:r>
            <a:r>
              <a:rPr lang="en-US" sz="1800" dirty="0">
                <a:solidFill>
                  <a:srgbClr val="231F20"/>
                </a:solidFill>
                <a:latin typeface="NimbusRomNo9L"/>
              </a:rPr>
              <a:t>, </a:t>
            </a:r>
          </a:p>
          <a:p>
            <a:pPr lvl="1"/>
            <a:r>
              <a:rPr lang="en-US" dirty="0">
                <a:solidFill>
                  <a:srgbClr val="231F20"/>
                </a:solidFill>
                <a:latin typeface="NimbusRomNo9L"/>
              </a:rPr>
              <a:t>each router tells the whole internet what it knows about its neighbors.</a:t>
            </a:r>
            <a:endParaRPr lang="en-US" dirty="0"/>
          </a:p>
        </p:txBody>
      </p:sp>
    </p:spTree>
    <p:extLst>
      <p:ext uri="{BB962C8B-B14F-4D97-AF65-F5344CB8AC3E}">
        <p14:creationId xmlns:p14="http://schemas.microsoft.com/office/powerpoint/2010/main" val="24734840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CC3C2-2E41-8A26-3C87-810F7D8FEF19}"/>
              </a:ext>
            </a:extLst>
          </p:cNvPr>
          <p:cNvSpPr>
            <a:spLocks noGrp="1"/>
          </p:cNvSpPr>
          <p:nvPr>
            <p:ph type="title"/>
          </p:nvPr>
        </p:nvSpPr>
        <p:spPr/>
        <p:txBody>
          <a:bodyPr/>
          <a:lstStyle/>
          <a:p>
            <a:r>
              <a:rPr lang="en-US" sz="3600" b="1" i="1" dirty="0">
                <a:solidFill>
                  <a:srgbClr val="00ACEF"/>
                </a:solidFill>
                <a:latin typeface="NimbusRomNo9L"/>
              </a:rPr>
              <a:t>Formation of Least-Cost Trees</a:t>
            </a:r>
            <a:endParaRPr lang="en-US" dirty="0"/>
          </a:p>
        </p:txBody>
      </p:sp>
      <p:sp>
        <p:nvSpPr>
          <p:cNvPr id="3" name="Content Placeholder 2">
            <a:extLst>
              <a:ext uri="{FF2B5EF4-FFF2-40B4-BE49-F238E27FC236}">
                <a16:creationId xmlns:a16="http://schemas.microsoft.com/office/drawing/2014/main" id="{FF2ABD16-D44F-B096-8B02-601146349F2F}"/>
              </a:ext>
            </a:extLst>
          </p:cNvPr>
          <p:cNvSpPr>
            <a:spLocks noGrp="1"/>
          </p:cNvSpPr>
          <p:nvPr>
            <p:ph idx="1"/>
          </p:nvPr>
        </p:nvSpPr>
        <p:spPr/>
        <p:txBody>
          <a:bodyPr>
            <a:normAutofit/>
          </a:bodyPr>
          <a:lstStyle/>
          <a:p>
            <a:r>
              <a:rPr lang="en-US" sz="1800" dirty="0">
                <a:solidFill>
                  <a:srgbClr val="231F20"/>
                </a:solidFill>
                <a:latin typeface="NimbusRomNo9L"/>
              </a:rPr>
              <a:t>To create a least-cost tree for itself, using the shared LSDB, each node needs to run the famous </a:t>
            </a:r>
            <a:r>
              <a:rPr lang="en-US" sz="1800" b="1" dirty="0">
                <a:solidFill>
                  <a:srgbClr val="231F20"/>
                </a:solidFill>
                <a:latin typeface="NimbusRomNo9L"/>
              </a:rPr>
              <a:t>Dijkstra Algorithm. </a:t>
            </a:r>
          </a:p>
          <a:p>
            <a:r>
              <a:rPr lang="en-US" sz="1800" b="1" dirty="0">
                <a:solidFill>
                  <a:srgbClr val="231F20"/>
                </a:solidFill>
                <a:latin typeface="NimbusRomNo9L"/>
              </a:rPr>
              <a:t>This iterative algorithm uses the following steps:</a:t>
            </a:r>
          </a:p>
          <a:p>
            <a:pPr lvl="1"/>
            <a:r>
              <a:rPr lang="en-US" b="1" dirty="0">
                <a:solidFill>
                  <a:srgbClr val="00ACEF"/>
                </a:solidFill>
                <a:latin typeface="NimbusRomNo9L"/>
              </a:rPr>
              <a:t>1. </a:t>
            </a:r>
            <a:r>
              <a:rPr lang="en-US" b="1" dirty="0">
                <a:solidFill>
                  <a:srgbClr val="231F20"/>
                </a:solidFill>
                <a:latin typeface="NimbusRomNo9L"/>
              </a:rPr>
              <a:t>The node chooses itself as the root of the tree, </a:t>
            </a:r>
            <a:r>
              <a:rPr lang="en-US" dirty="0">
                <a:solidFill>
                  <a:srgbClr val="231F20"/>
                </a:solidFill>
                <a:latin typeface="NimbusRomNo9L"/>
              </a:rPr>
              <a:t>creating a tree with a single node, </a:t>
            </a:r>
            <a:r>
              <a:rPr lang="en-US" sz="1800" dirty="0">
                <a:solidFill>
                  <a:srgbClr val="231F20"/>
                </a:solidFill>
                <a:latin typeface="NimbusRomNo9L"/>
              </a:rPr>
              <a:t>and sets the total cost of each node based on the information in the LSDB.</a:t>
            </a:r>
          </a:p>
          <a:p>
            <a:pPr lvl="1"/>
            <a:r>
              <a:rPr lang="en-US" b="1" dirty="0">
                <a:solidFill>
                  <a:srgbClr val="00ACEF"/>
                </a:solidFill>
                <a:latin typeface="NimbusRomNo9L"/>
              </a:rPr>
              <a:t>2. </a:t>
            </a:r>
            <a:r>
              <a:rPr lang="en-US" b="1" dirty="0">
                <a:solidFill>
                  <a:srgbClr val="231F20"/>
                </a:solidFill>
                <a:latin typeface="NimbusRomNo9L"/>
              </a:rPr>
              <a:t>The node selects one node, </a:t>
            </a:r>
            <a:r>
              <a:rPr lang="en-US" dirty="0">
                <a:solidFill>
                  <a:srgbClr val="231F20"/>
                </a:solidFill>
                <a:latin typeface="NimbusRomNo9L"/>
              </a:rPr>
              <a:t>among all nodes not in the tree, which is closest to the </a:t>
            </a:r>
            <a:r>
              <a:rPr lang="en-US" sz="1800" dirty="0">
                <a:solidFill>
                  <a:srgbClr val="231F20"/>
                </a:solidFill>
                <a:latin typeface="NimbusRomNo9L"/>
              </a:rPr>
              <a:t>root, and adds this to the tree. After this node is added to the tree, the cost of all other nodes not in the tree needs to be updated because the paths may have been changed. </a:t>
            </a:r>
          </a:p>
          <a:p>
            <a:pPr lvl="1"/>
            <a:r>
              <a:rPr lang="en-US" b="1" dirty="0">
                <a:solidFill>
                  <a:srgbClr val="00ACEF"/>
                </a:solidFill>
                <a:latin typeface="NimbusRomNo9L"/>
              </a:rPr>
              <a:t>3. </a:t>
            </a:r>
            <a:r>
              <a:rPr lang="en-US" b="1" dirty="0">
                <a:solidFill>
                  <a:srgbClr val="231F20"/>
                </a:solidFill>
                <a:latin typeface="NimbusRomNo9L"/>
              </a:rPr>
              <a:t>The node repeats step 2 </a:t>
            </a:r>
            <a:r>
              <a:rPr lang="en-US" dirty="0">
                <a:solidFill>
                  <a:srgbClr val="231F20"/>
                </a:solidFill>
                <a:latin typeface="NimbusRomNo9L"/>
              </a:rPr>
              <a:t>until all nodes are added to the tree.</a:t>
            </a:r>
          </a:p>
          <a:p>
            <a:r>
              <a:rPr lang="en-US" sz="1800" dirty="0">
                <a:solidFill>
                  <a:srgbClr val="231F20"/>
                </a:solidFill>
                <a:latin typeface="NimbusRomNo9L"/>
              </a:rPr>
              <a:t>We need to convince ourselves that the above three steps finally create the least-cost tree.</a:t>
            </a:r>
            <a:endParaRPr lang="en-US" dirty="0"/>
          </a:p>
        </p:txBody>
      </p:sp>
    </p:spTree>
    <p:extLst>
      <p:ext uri="{BB962C8B-B14F-4D97-AF65-F5344CB8AC3E}">
        <p14:creationId xmlns:p14="http://schemas.microsoft.com/office/powerpoint/2010/main" val="15751136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943C3-99C8-06A9-F084-56019AC7AE13}"/>
              </a:ext>
            </a:extLst>
          </p:cNvPr>
          <p:cNvSpPr>
            <a:spLocks noGrp="1"/>
          </p:cNvSpPr>
          <p:nvPr>
            <p:ph type="title"/>
          </p:nvPr>
        </p:nvSpPr>
        <p:spPr/>
        <p:txBody>
          <a:bodyPr/>
          <a:lstStyle/>
          <a:p>
            <a:r>
              <a:rPr lang="en-US" dirty="0"/>
              <a:t>20.3 UNICAST ROUTING PROTOCOLS</a:t>
            </a:r>
          </a:p>
        </p:txBody>
      </p:sp>
      <p:sp>
        <p:nvSpPr>
          <p:cNvPr id="3" name="Content Placeholder 2">
            <a:extLst>
              <a:ext uri="{FF2B5EF4-FFF2-40B4-BE49-F238E27FC236}">
                <a16:creationId xmlns:a16="http://schemas.microsoft.com/office/drawing/2014/main" id="{C12DE425-D6DB-AF89-4836-B0271C0FA398}"/>
              </a:ext>
            </a:extLst>
          </p:cNvPr>
          <p:cNvSpPr>
            <a:spLocks noGrp="1"/>
          </p:cNvSpPr>
          <p:nvPr>
            <p:ph idx="1"/>
          </p:nvPr>
        </p:nvSpPr>
        <p:spPr/>
        <p:txBody>
          <a:bodyPr/>
          <a:lstStyle/>
          <a:p>
            <a:r>
              <a:rPr lang="en-US" dirty="0"/>
              <a:t>Previously we discussed unicast routing algorithms; </a:t>
            </a:r>
          </a:p>
          <a:p>
            <a:r>
              <a:rPr lang="en-US" dirty="0"/>
              <a:t>Now, we discuss unicast routing protocols used in the Internet. </a:t>
            </a:r>
          </a:p>
          <a:p>
            <a:r>
              <a:rPr lang="en-US" dirty="0"/>
              <a:t>Although three protocols we discuss here are based on the corresponding algorithms we discussed before, a protocol is more than an algorithm. </a:t>
            </a:r>
          </a:p>
          <a:p>
            <a:r>
              <a:rPr lang="en-US" dirty="0"/>
              <a:t>A protocol needs to define its domain of operation, the messages exchanged, communication between routers, and interaction with protocols in other domains. </a:t>
            </a:r>
          </a:p>
          <a:p>
            <a:r>
              <a:rPr lang="en-US" dirty="0"/>
              <a:t>After an introduction, we discuss three common protocols used in the Internet: </a:t>
            </a:r>
          </a:p>
          <a:p>
            <a:pPr lvl="1"/>
            <a:r>
              <a:rPr lang="en-US" dirty="0"/>
              <a:t>Routing Information Protocol (RIP), based on the </a:t>
            </a:r>
            <a:r>
              <a:rPr lang="en-US" b="1" dirty="0"/>
              <a:t>distance-vector </a:t>
            </a:r>
            <a:r>
              <a:rPr lang="en-US" dirty="0"/>
              <a:t>algorithm, </a:t>
            </a:r>
          </a:p>
          <a:p>
            <a:pPr lvl="1"/>
            <a:r>
              <a:rPr lang="en-US" dirty="0"/>
              <a:t>Open Shortest Path First (OSPF), based on the </a:t>
            </a:r>
            <a:r>
              <a:rPr lang="en-US" b="1" dirty="0"/>
              <a:t>link-state </a:t>
            </a:r>
            <a:r>
              <a:rPr lang="en-US" dirty="0"/>
              <a:t>algorithm, and </a:t>
            </a:r>
          </a:p>
        </p:txBody>
      </p:sp>
    </p:spTree>
    <p:extLst>
      <p:ext uri="{BB962C8B-B14F-4D97-AF65-F5344CB8AC3E}">
        <p14:creationId xmlns:p14="http://schemas.microsoft.com/office/powerpoint/2010/main" val="13817214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6960B-CBDD-F0D0-A029-5CD7AFB626B1}"/>
              </a:ext>
            </a:extLst>
          </p:cNvPr>
          <p:cNvSpPr>
            <a:spLocks noGrp="1"/>
          </p:cNvSpPr>
          <p:nvPr>
            <p:ph type="title"/>
          </p:nvPr>
        </p:nvSpPr>
        <p:spPr/>
        <p:txBody>
          <a:bodyPr/>
          <a:lstStyle/>
          <a:p>
            <a:r>
              <a:rPr lang="en-US" sz="3600" b="1" dirty="0">
                <a:solidFill>
                  <a:srgbClr val="00ACEF"/>
                </a:solidFill>
                <a:latin typeface="NimbusRomNo9L"/>
              </a:rPr>
              <a:t>20.3.1 Internet Structure</a:t>
            </a:r>
            <a:endParaRPr lang="en-US" dirty="0"/>
          </a:p>
        </p:txBody>
      </p:sp>
      <p:sp>
        <p:nvSpPr>
          <p:cNvPr id="3" name="Content Placeholder 2">
            <a:extLst>
              <a:ext uri="{FF2B5EF4-FFF2-40B4-BE49-F238E27FC236}">
                <a16:creationId xmlns:a16="http://schemas.microsoft.com/office/drawing/2014/main" id="{8355BD3B-CD9C-DAA8-3A7D-705C15DDA795}"/>
              </a:ext>
            </a:extLst>
          </p:cNvPr>
          <p:cNvSpPr>
            <a:spLocks noGrp="1"/>
          </p:cNvSpPr>
          <p:nvPr>
            <p:ph idx="1"/>
          </p:nvPr>
        </p:nvSpPr>
        <p:spPr>
          <a:xfrm>
            <a:off x="561110" y="2275840"/>
            <a:ext cx="5391455" cy="4115998"/>
          </a:xfrm>
        </p:spPr>
        <p:txBody>
          <a:bodyPr>
            <a:normAutofit/>
          </a:bodyPr>
          <a:lstStyle/>
          <a:p>
            <a:r>
              <a:rPr lang="en-US" dirty="0"/>
              <a:t>First, we need to understand the structure of today’s Internet. </a:t>
            </a:r>
          </a:p>
          <a:p>
            <a:r>
              <a:rPr lang="en-US" dirty="0"/>
              <a:t>The Internet has changed from a tree-like structure, with a single backbone, to a multi-backbone structure run by different private corporations today. </a:t>
            </a:r>
          </a:p>
          <a:p>
            <a:r>
              <a:rPr lang="en-US" dirty="0"/>
              <a:t>Although it is difficult to give a general view of the Internet today, we can say that the Internet has a structure similar to what is shown in Figure 20.14.</a:t>
            </a:r>
          </a:p>
        </p:txBody>
      </p:sp>
      <p:pic>
        <p:nvPicPr>
          <p:cNvPr id="5" name="Picture 4">
            <a:extLst>
              <a:ext uri="{FF2B5EF4-FFF2-40B4-BE49-F238E27FC236}">
                <a16:creationId xmlns:a16="http://schemas.microsoft.com/office/drawing/2014/main" id="{29472C90-80D4-9D74-E83D-15E844575438}"/>
              </a:ext>
            </a:extLst>
          </p:cNvPr>
          <p:cNvPicPr>
            <a:picLocks noChangeAspect="1"/>
          </p:cNvPicPr>
          <p:nvPr/>
        </p:nvPicPr>
        <p:blipFill>
          <a:blip r:embed="rId2"/>
          <a:stretch>
            <a:fillRect/>
          </a:stretch>
        </p:blipFill>
        <p:spPr>
          <a:xfrm>
            <a:off x="5952565" y="2275839"/>
            <a:ext cx="6015317" cy="4200527"/>
          </a:xfrm>
          <a:prstGeom prst="rect">
            <a:avLst/>
          </a:prstGeom>
        </p:spPr>
      </p:pic>
    </p:spTree>
    <p:extLst>
      <p:ext uri="{BB962C8B-B14F-4D97-AF65-F5344CB8AC3E}">
        <p14:creationId xmlns:p14="http://schemas.microsoft.com/office/powerpoint/2010/main" val="8820067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2B7F5-6015-D3CB-9B76-5C13DF39B863}"/>
              </a:ext>
            </a:extLst>
          </p:cNvPr>
          <p:cNvSpPr>
            <a:spLocks noGrp="1"/>
          </p:cNvSpPr>
          <p:nvPr>
            <p:ph type="title"/>
          </p:nvPr>
        </p:nvSpPr>
        <p:spPr/>
        <p:txBody>
          <a:bodyPr/>
          <a:lstStyle/>
          <a:p>
            <a:r>
              <a:rPr lang="en-US" sz="3600" b="1" dirty="0">
                <a:solidFill>
                  <a:srgbClr val="00ACEF"/>
                </a:solidFill>
                <a:latin typeface="NimbusRomNo9L"/>
              </a:rPr>
              <a:t>20.3.2 Routing Information Protocol (RIP)</a:t>
            </a:r>
            <a:endParaRPr lang="en-US" dirty="0"/>
          </a:p>
        </p:txBody>
      </p:sp>
      <p:sp>
        <p:nvSpPr>
          <p:cNvPr id="3" name="Content Placeholder 2">
            <a:extLst>
              <a:ext uri="{FF2B5EF4-FFF2-40B4-BE49-F238E27FC236}">
                <a16:creationId xmlns:a16="http://schemas.microsoft.com/office/drawing/2014/main" id="{AE4C1486-BB44-3D6D-F8CF-03D984ED1D67}"/>
              </a:ext>
            </a:extLst>
          </p:cNvPr>
          <p:cNvSpPr>
            <a:spLocks noGrp="1"/>
          </p:cNvSpPr>
          <p:nvPr>
            <p:ph idx="1"/>
          </p:nvPr>
        </p:nvSpPr>
        <p:spPr>
          <a:xfrm>
            <a:off x="561110" y="2275840"/>
            <a:ext cx="11082593" cy="4429760"/>
          </a:xfrm>
        </p:spPr>
        <p:txBody>
          <a:bodyPr>
            <a:normAutofit/>
          </a:bodyPr>
          <a:lstStyle/>
          <a:p>
            <a:r>
              <a:rPr lang="en-US" sz="1800" dirty="0">
                <a:solidFill>
                  <a:srgbClr val="231F20"/>
                </a:solidFill>
                <a:latin typeface="NimbusRomNo9L"/>
              </a:rPr>
              <a:t>The </a:t>
            </a:r>
            <a:r>
              <a:rPr lang="en-US" sz="1800" b="1" dirty="0">
                <a:solidFill>
                  <a:srgbClr val="231F20"/>
                </a:solidFill>
                <a:latin typeface="NimbusRomNo9L"/>
              </a:rPr>
              <a:t>Routing Information Protocol (RIP) </a:t>
            </a:r>
            <a:r>
              <a:rPr lang="en-US" sz="1800" dirty="0">
                <a:solidFill>
                  <a:srgbClr val="231F20"/>
                </a:solidFill>
                <a:latin typeface="NimbusRomNo9L"/>
              </a:rPr>
              <a:t>is one of the most widely used intradomain</a:t>
            </a:r>
            <a:r>
              <a:rPr lang="en-US" sz="1800" b="1" dirty="0">
                <a:solidFill>
                  <a:srgbClr val="231F20"/>
                </a:solidFill>
                <a:latin typeface="NimbusRomNo9L"/>
              </a:rPr>
              <a:t> </a:t>
            </a:r>
            <a:r>
              <a:rPr lang="en-US" sz="1800" dirty="0">
                <a:solidFill>
                  <a:srgbClr val="231F20"/>
                </a:solidFill>
                <a:latin typeface="NimbusRomNo9L"/>
              </a:rPr>
              <a:t>routing protocols based on the distance-vector routing algorithm we described earlier.</a:t>
            </a:r>
          </a:p>
          <a:p>
            <a:r>
              <a:rPr lang="en-US" sz="1800" b="1" dirty="0">
                <a:solidFill>
                  <a:srgbClr val="231F20"/>
                </a:solidFill>
                <a:latin typeface="NimbusRomNo9L"/>
              </a:rPr>
              <a:t>Hop Count </a:t>
            </a:r>
          </a:p>
          <a:p>
            <a:pPr lvl="1"/>
            <a:r>
              <a:rPr lang="en-US" dirty="0">
                <a:solidFill>
                  <a:srgbClr val="231F20"/>
                </a:solidFill>
                <a:latin typeface="NimbusRomNo9L"/>
              </a:rPr>
              <a:t>A router in this protocol basically implements the distance-vector routing algorithm.</a:t>
            </a:r>
          </a:p>
          <a:p>
            <a:pPr lvl="1"/>
            <a:r>
              <a:rPr lang="en-US" dirty="0">
                <a:solidFill>
                  <a:srgbClr val="231F20"/>
                </a:solidFill>
                <a:latin typeface="NimbusRomNo9L"/>
              </a:rPr>
              <a:t>However, the algorithm has been modified as: </a:t>
            </a:r>
          </a:p>
          <a:p>
            <a:pPr lvl="2"/>
            <a:r>
              <a:rPr lang="en-US" b="1" dirty="0">
                <a:solidFill>
                  <a:srgbClr val="231F20"/>
                </a:solidFill>
                <a:latin typeface="NimbusRomNo9L"/>
              </a:rPr>
              <a:t>First</a:t>
            </a:r>
            <a:r>
              <a:rPr lang="en-US" dirty="0">
                <a:solidFill>
                  <a:srgbClr val="231F20"/>
                </a:solidFill>
                <a:latin typeface="NimbusRomNo9L"/>
              </a:rPr>
              <a:t>, since a router in an AS needs to know how to forward a packet to different networks (subnets) in an AS, RIP routers advertise the cost of reaching different networks instead of reaching other nodes in a theoretical graph.</a:t>
            </a:r>
          </a:p>
          <a:p>
            <a:pPr lvl="2"/>
            <a:r>
              <a:rPr lang="en-US" dirty="0">
                <a:solidFill>
                  <a:srgbClr val="231F20"/>
                </a:solidFill>
                <a:latin typeface="NimbusRomNo9L"/>
              </a:rPr>
              <a:t> In other words, the cost is defined between a router and the network in which the destination host is located. </a:t>
            </a:r>
          </a:p>
          <a:p>
            <a:pPr lvl="2"/>
            <a:r>
              <a:rPr lang="en-US" b="1" dirty="0">
                <a:solidFill>
                  <a:srgbClr val="231F20"/>
                </a:solidFill>
                <a:latin typeface="NimbusRomNo9L"/>
              </a:rPr>
              <a:t>Second</a:t>
            </a:r>
            <a:r>
              <a:rPr lang="en-US" dirty="0">
                <a:solidFill>
                  <a:srgbClr val="231F20"/>
                </a:solidFill>
                <a:latin typeface="NimbusRomNo9L"/>
              </a:rPr>
              <a:t>, to make the implementation of the cost simpler (independent from performance factors of the routers and links, such as delay, bandwidth, and so on), </a:t>
            </a:r>
            <a:r>
              <a:rPr lang="en-US" u="sng" dirty="0">
                <a:solidFill>
                  <a:srgbClr val="231F20"/>
                </a:solidFill>
                <a:latin typeface="NimbusRomNo9L"/>
              </a:rPr>
              <a:t>the cost is defined as the number of hops</a:t>
            </a:r>
            <a:r>
              <a:rPr lang="en-US" dirty="0">
                <a:solidFill>
                  <a:srgbClr val="231F20"/>
                </a:solidFill>
                <a:latin typeface="NimbusRomNo9L"/>
              </a:rPr>
              <a:t>, </a:t>
            </a:r>
          </a:p>
          <a:p>
            <a:pPr lvl="2"/>
            <a:r>
              <a:rPr lang="en-US" dirty="0">
                <a:solidFill>
                  <a:srgbClr val="231F20"/>
                </a:solidFill>
                <a:latin typeface="NimbusRomNo9L"/>
              </a:rPr>
              <a:t>Meaning the number of networks (subnets) a packet needs to travel through from the source router to the final destination host.</a:t>
            </a:r>
          </a:p>
          <a:p>
            <a:pPr lvl="1"/>
            <a:r>
              <a:rPr lang="en-US" dirty="0">
                <a:solidFill>
                  <a:srgbClr val="231F20"/>
                </a:solidFill>
                <a:latin typeface="NimbusRomNo9L"/>
              </a:rPr>
              <a:t>Note that the network in which the source host is connected is not counted in this calculation because the source host does not use a forwarding table; the packet is delivered to the default router.</a:t>
            </a:r>
          </a:p>
        </p:txBody>
      </p:sp>
    </p:spTree>
    <p:extLst>
      <p:ext uri="{BB962C8B-B14F-4D97-AF65-F5344CB8AC3E}">
        <p14:creationId xmlns:p14="http://schemas.microsoft.com/office/powerpoint/2010/main" val="25479476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385F4-53AF-1204-3212-A6F0209D7CCF}"/>
              </a:ext>
            </a:extLst>
          </p:cNvPr>
          <p:cNvSpPr>
            <a:spLocks noGrp="1"/>
          </p:cNvSpPr>
          <p:nvPr>
            <p:ph type="title"/>
          </p:nvPr>
        </p:nvSpPr>
        <p:spPr/>
        <p:txBody>
          <a:bodyPr/>
          <a:lstStyle/>
          <a:p>
            <a:r>
              <a:rPr lang="en-US" dirty="0"/>
              <a:t>Hop Count in RIP</a:t>
            </a:r>
          </a:p>
        </p:txBody>
      </p:sp>
      <p:sp>
        <p:nvSpPr>
          <p:cNvPr id="3" name="Content Placeholder 2">
            <a:extLst>
              <a:ext uri="{FF2B5EF4-FFF2-40B4-BE49-F238E27FC236}">
                <a16:creationId xmlns:a16="http://schemas.microsoft.com/office/drawing/2014/main" id="{556F18B9-1B58-7692-C631-1C9DD818DD95}"/>
              </a:ext>
            </a:extLst>
          </p:cNvPr>
          <p:cNvSpPr>
            <a:spLocks noGrp="1"/>
          </p:cNvSpPr>
          <p:nvPr>
            <p:ph idx="1"/>
          </p:nvPr>
        </p:nvSpPr>
        <p:spPr>
          <a:xfrm>
            <a:off x="561111" y="2275840"/>
            <a:ext cx="11155760" cy="4115998"/>
          </a:xfrm>
        </p:spPr>
        <p:txBody>
          <a:bodyPr/>
          <a:lstStyle/>
          <a:p>
            <a:r>
              <a:rPr lang="en-US" dirty="0"/>
              <a:t>Figure 20.15 shows the concept of hop count advertised by three routers from a source host to a destination host. </a:t>
            </a:r>
          </a:p>
          <a:p>
            <a:r>
              <a:rPr lang="en-US" dirty="0"/>
              <a:t>In RIP, the maximum cost of a path can be 15, which means 16 is considered as infinity (no connection). </a:t>
            </a:r>
          </a:p>
          <a:p>
            <a:r>
              <a:rPr lang="en-US" dirty="0"/>
              <a:t>For this reason, RIP can be used only in autonomous systems in which the diameter of the AS is not more than 15 hops.</a:t>
            </a:r>
          </a:p>
        </p:txBody>
      </p:sp>
      <p:pic>
        <p:nvPicPr>
          <p:cNvPr id="5" name="Picture 4">
            <a:extLst>
              <a:ext uri="{FF2B5EF4-FFF2-40B4-BE49-F238E27FC236}">
                <a16:creationId xmlns:a16="http://schemas.microsoft.com/office/drawing/2014/main" id="{2697ADD7-C8BC-F6C8-9294-904AE35A832E}"/>
              </a:ext>
            </a:extLst>
          </p:cNvPr>
          <p:cNvPicPr>
            <a:picLocks noChangeAspect="1"/>
          </p:cNvPicPr>
          <p:nvPr/>
        </p:nvPicPr>
        <p:blipFill>
          <a:blip r:embed="rId2"/>
          <a:stretch>
            <a:fillRect/>
          </a:stretch>
        </p:blipFill>
        <p:spPr>
          <a:xfrm>
            <a:off x="3801035" y="3983626"/>
            <a:ext cx="6898422" cy="2632613"/>
          </a:xfrm>
          <a:prstGeom prst="rect">
            <a:avLst/>
          </a:prstGeom>
        </p:spPr>
      </p:pic>
    </p:spTree>
    <p:extLst>
      <p:ext uri="{BB962C8B-B14F-4D97-AF65-F5344CB8AC3E}">
        <p14:creationId xmlns:p14="http://schemas.microsoft.com/office/powerpoint/2010/main" val="5287928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B938C-A157-650A-1FE9-070556D3A95C}"/>
              </a:ext>
            </a:extLst>
          </p:cNvPr>
          <p:cNvSpPr>
            <a:spLocks noGrp="1"/>
          </p:cNvSpPr>
          <p:nvPr>
            <p:ph type="title"/>
          </p:nvPr>
        </p:nvSpPr>
        <p:spPr/>
        <p:txBody>
          <a:bodyPr/>
          <a:lstStyle/>
          <a:p>
            <a:r>
              <a:rPr lang="en-US" dirty="0"/>
              <a:t>Forwarding Tables</a:t>
            </a:r>
          </a:p>
        </p:txBody>
      </p:sp>
      <p:sp>
        <p:nvSpPr>
          <p:cNvPr id="3" name="Content Placeholder 2">
            <a:extLst>
              <a:ext uri="{FF2B5EF4-FFF2-40B4-BE49-F238E27FC236}">
                <a16:creationId xmlns:a16="http://schemas.microsoft.com/office/drawing/2014/main" id="{060C46DE-4293-2A2D-8EBA-ED412A8606F3}"/>
              </a:ext>
            </a:extLst>
          </p:cNvPr>
          <p:cNvSpPr>
            <a:spLocks noGrp="1"/>
          </p:cNvSpPr>
          <p:nvPr>
            <p:ph idx="1"/>
          </p:nvPr>
        </p:nvSpPr>
        <p:spPr>
          <a:xfrm>
            <a:off x="561111" y="2275840"/>
            <a:ext cx="6829568" cy="4115998"/>
          </a:xfrm>
        </p:spPr>
        <p:txBody>
          <a:bodyPr/>
          <a:lstStyle/>
          <a:p>
            <a:r>
              <a:rPr lang="en-US" dirty="0"/>
              <a:t>The distance-vector algorithm is concerned with exchanging distance vectors between neighboring nodes, </a:t>
            </a:r>
          </a:p>
          <a:p>
            <a:r>
              <a:rPr lang="en-US" dirty="0"/>
              <a:t>the routers in an autonomous system (AS) need to keep forwarding tables to forward packets to their destination networks. </a:t>
            </a:r>
          </a:p>
          <a:p>
            <a:r>
              <a:rPr lang="en-US" dirty="0"/>
              <a:t>A forwarding table in RIP is a three-column table </a:t>
            </a:r>
          </a:p>
          <a:p>
            <a:pPr lvl="1"/>
            <a:r>
              <a:rPr lang="en-US" dirty="0"/>
              <a:t>the first column is the address of the destination network, </a:t>
            </a:r>
          </a:p>
          <a:p>
            <a:pPr lvl="1"/>
            <a:r>
              <a:rPr lang="en-US" dirty="0"/>
              <a:t>the second column is the address of the next router to which the packet should be forwarded, and </a:t>
            </a:r>
          </a:p>
          <a:p>
            <a:pPr lvl="1"/>
            <a:r>
              <a:rPr lang="en-US" dirty="0"/>
              <a:t>the third column is the cost (the number of hops) to reach the destination network.</a:t>
            </a:r>
          </a:p>
        </p:txBody>
      </p:sp>
      <p:pic>
        <p:nvPicPr>
          <p:cNvPr id="5" name="Picture 4">
            <a:extLst>
              <a:ext uri="{FF2B5EF4-FFF2-40B4-BE49-F238E27FC236}">
                <a16:creationId xmlns:a16="http://schemas.microsoft.com/office/drawing/2014/main" id="{25DEB023-431C-F59A-97B4-37DE8426E231}"/>
              </a:ext>
            </a:extLst>
          </p:cNvPr>
          <p:cNvPicPr>
            <a:picLocks noChangeAspect="1"/>
          </p:cNvPicPr>
          <p:nvPr/>
        </p:nvPicPr>
        <p:blipFill>
          <a:blip r:embed="rId2"/>
          <a:stretch>
            <a:fillRect/>
          </a:stretch>
        </p:blipFill>
        <p:spPr>
          <a:xfrm>
            <a:off x="7546743" y="2563463"/>
            <a:ext cx="4084146" cy="3223437"/>
          </a:xfrm>
          <a:prstGeom prst="rect">
            <a:avLst/>
          </a:prstGeom>
        </p:spPr>
      </p:pic>
    </p:spTree>
    <p:extLst>
      <p:ext uri="{BB962C8B-B14F-4D97-AF65-F5344CB8AC3E}">
        <p14:creationId xmlns:p14="http://schemas.microsoft.com/office/powerpoint/2010/main" val="36187086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39F74-D398-E9FF-A426-D0E2690221E5}"/>
              </a:ext>
            </a:extLst>
          </p:cNvPr>
          <p:cNvSpPr>
            <a:spLocks noGrp="1"/>
          </p:cNvSpPr>
          <p:nvPr>
            <p:ph type="title"/>
          </p:nvPr>
        </p:nvSpPr>
        <p:spPr/>
        <p:txBody>
          <a:bodyPr/>
          <a:lstStyle/>
          <a:p>
            <a:r>
              <a:rPr lang="en-US" dirty="0"/>
              <a:t>Forwarding Tables</a:t>
            </a:r>
          </a:p>
        </p:txBody>
      </p:sp>
      <p:sp>
        <p:nvSpPr>
          <p:cNvPr id="3" name="Content Placeholder 2">
            <a:extLst>
              <a:ext uri="{FF2B5EF4-FFF2-40B4-BE49-F238E27FC236}">
                <a16:creationId xmlns:a16="http://schemas.microsoft.com/office/drawing/2014/main" id="{F52E5C83-6283-EAC0-DE84-49CE1AC0F63B}"/>
              </a:ext>
            </a:extLst>
          </p:cNvPr>
          <p:cNvSpPr>
            <a:spLocks noGrp="1"/>
          </p:cNvSpPr>
          <p:nvPr>
            <p:ph idx="1"/>
          </p:nvPr>
        </p:nvSpPr>
        <p:spPr/>
        <p:txBody>
          <a:bodyPr>
            <a:normAutofit/>
          </a:bodyPr>
          <a:lstStyle/>
          <a:p>
            <a:r>
              <a:rPr lang="en-US" sz="1800" dirty="0">
                <a:solidFill>
                  <a:srgbClr val="231F20"/>
                </a:solidFill>
                <a:latin typeface="NimbusRomNo9L"/>
              </a:rPr>
              <a:t>Figure 20.16 shows the three forwarding tables for the routers in Figure 20.15.</a:t>
            </a:r>
          </a:p>
          <a:p>
            <a:pPr marL="0" indent="0">
              <a:buNone/>
            </a:pPr>
            <a:r>
              <a:rPr lang="en-US" sz="1800" dirty="0">
                <a:solidFill>
                  <a:srgbClr val="231F20"/>
                </a:solidFill>
                <a:latin typeface="NimbusRomNo9L"/>
              </a:rPr>
              <a:t>Note that the </a:t>
            </a:r>
            <a:r>
              <a:rPr lang="en-US" sz="1800" b="1" dirty="0">
                <a:solidFill>
                  <a:srgbClr val="231F20"/>
                </a:solidFill>
                <a:latin typeface="NimbusRomNo9L"/>
              </a:rPr>
              <a:t>first and the third columns </a:t>
            </a:r>
            <a:r>
              <a:rPr lang="en-US" sz="1800" dirty="0">
                <a:solidFill>
                  <a:srgbClr val="231F20"/>
                </a:solidFill>
                <a:latin typeface="NimbusRomNo9L"/>
              </a:rPr>
              <a:t>together convey the </a:t>
            </a:r>
            <a:r>
              <a:rPr lang="en-US" sz="1800" u="sng" dirty="0">
                <a:solidFill>
                  <a:srgbClr val="231F20"/>
                </a:solidFill>
                <a:latin typeface="NimbusRomNo9L"/>
              </a:rPr>
              <a:t>same information </a:t>
            </a:r>
            <a:r>
              <a:rPr lang="en-US" sz="1800" dirty="0">
                <a:solidFill>
                  <a:srgbClr val="231F20"/>
                </a:solidFill>
                <a:latin typeface="NimbusRomNo9L"/>
              </a:rPr>
              <a:t>as does a distance vector, But the cost shows the number of hops to the destination networks.</a:t>
            </a:r>
            <a:endParaRPr lang="en-US" dirty="0"/>
          </a:p>
        </p:txBody>
      </p:sp>
      <p:pic>
        <p:nvPicPr>
          <p:cNvPr id="5" name="Picture 4">
            <a:extLst>
              <a:ext uri="{FF2B5EF4-FFF2-40B4-BE49-F238E27FC236}">
                <a16:creationId xmlns:a16="http://schemas.microsoft.com/office/drawing/2014/main" id="{8D912A8C-AEDC-62AA-E629-C35E0703CEB2}"/>
              </a:ext>
            </a:extLst>
          </p:cNvPr>
          <p:cNvPicPr>
            <a:picLocks noChangeAspect="1"/>
          </p:cNvPicPr>
          <p:nvPr/>
        </p:nvPicPr>
        <p:blipFill>
          <a:blip r:embed="rId2"/>
          <a:stretch>
            <a:fillRect/>
          </a:stretch>
        </p:blipFill>
        <p:spPr>
          <a:xfrm>
            <a:off x="1465520" y="3429000"/>
            <a:ext cx="9076665" cy="3161396"/>
          </a:xfrm>
          <a:prstGeom prst="rect">
            <a:avLst/>
          </a:prstGeom>
        </p:spPr>
      </p:pic>
    </p:spTree>
    <p:extLst>
      <p:ext uri="{BB962C8B-B14F-4D97-AF65-F5344CB8AC3E}">
        <p14:creationId xmlns:p14="http://schemas.microsoft.com/office/powerpoint/2010/main" val="8208039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F691F-725B-CF81-0948-0DDC79DBD81D}"/>
              </a:ext>
            </a:extLst>
          </p:cNvPr>
          <p:cNvSpPr>
            <a:spLocks noGrp="1"/>
          </p:cNvSpPr>
          <p:nvPr>
            <p:ph type="title"/>
          </p:nvPr>
        </p:nvSpPr>
        <p:spPr/>
        <p:txBody>
          <a:bodyPr/>
          <a:lstStyle/>
          <a:p>
            <a:r>
              <a:rPr lang="en-US" dirty="0"/>
              <a:t>Forwarding Tables</a:t>
            </a:r>
          </a:p>
        </p:txBody>
      </p:sp>
      <p:sp>
        <p:nvSpPr>
          <p:cNvPr id="3" name="Content Placeholder 2">
            <a:extLst>
              <a:ext uri="{FF2B5EF4-FFF2-40B4-BE49-F238E27FC236}">
                <a16:creationId xmlns:a16="http://schemas.microsoft.com/office/drawing/2014/main" id="{EF9C7842-ED86-A776-7D3C-ED7E3A17D29A}"/>
              </a:ext>
            </a:extLst>
          </p:cNvPr>
          <p:cNvSpPr>
            <a:spLocks noGrp="1"/>
          </p:cNvSpPr>
          <p:nvPr>
            <p:ph idx="1"/>
          </p:nvPr>
        </p:nvSpPr>
        <p:spPr/>
        <p:txBody>
          <a:bodyPr>
            <a:normAutofit fontScale="92500"/>
          </a:bodyPr>
          <a:lstStyle/>
          <a:p>
            <a:r>
              <a:rPr lang="en-US" dirty="0"/>
              <a:t>Although a forwarding table in RIP defines only the next router in the second column, </a:t>
            </a:r>
          </a:p>
          <a:p>
            <a:r>
              <a:rPr lang="en-US" dirty="0"/>
              <a:t>it gives the information about the whole least-cost tree based on the second property of these trees. </a:t>
            </a:r>
          </a:p>
          <a:p>
            <a:r>
              <a:rPr lang="en-US" dirty="0"/>
              <a:t>For example, </a:t>
            </a:r>
          </a:p>
          <a:p>
            <a:pPr lvl="1"/>
            <a:r>
              <a:rPr lang="en-US" dirty="0"/>
              <a:t>R1 defines that the next router for the path to N4 is R2; </a:t>
            </a:r>
          </a:p>
          <a:p>
            <a:pPr lvl="1"/>
            <a:r>
              <a:rPr lang="en-US" dirty="0"/>
              <a:t>R2 defines that the next router to N4 is R3; </a:t>
            </a:r>
          </a:p>
          <a:p>
            <a:pPr lvl="1"/>
            <a:r>
              <a:rPr lang="en-US" dirty="0"/>
              <a:t>R3 defines that there is no next router for this path. </a:t>
            </a:r>
          </a:p>
          <a:p>
            <a:pPr lvl="1"/>
            <a:r>
              <a:rPr lang="en-US" dirty="0"/>
              <a:t>The tree is then R1 → R2 → R3 → N4. </a:t>
            </a:r>
          </a:p>
          <a:p>
            <a:r>
              <a:rPr lang="en-US" dirty="0"/>
              <a:t>A question often asked about the forwarding table is </a:t>
            </a:r>
          </a:p>
          <a:p>
            <a:r>
              <a:rPr lang="en-US" sz="2400" dirty="0"/>
              <a:t>?</a:t>
            </a:r>
            <a:r>
              <a:rPr lang="en-US" dirty="0"/>
              <a:t>what the use of the third column is. </a:t>
            </a:r>
          </a:p>
          <a:p>
            <a:r>
              <a:rPr lang="en-US" dirty="0"/>
              <a:t>The third column is </a:t>
            </a:r>
            <a:r>
              <a:rPr lang="en-US" b="1" dirty="0"/>
              <a:t>not needed for forwarding </a:t>
            </a:r>
            <a:r>
              <a:rPr lang="en-US" dirty="0"/>
              <a:t>the packet, but it is needed for updating the forwarding table when there is a change in the route, as we will see shortly.</a:t>
            </a:r>
          </a:p>
        </p:txBody>
      </p:sp>
    </p:spTree>
    <p:extLst>
      <p:ext uri="{BB962C8B-B14F-4D97-AF65-F5344CB8AC3E}">
        <p14:creationId xmlns:p14="http://schemas.microsoft.com/office/powerpoint/2010/main" val="8714063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8A5AA-B35F-5843-A71F-1AAF5FD2B30A}"/>
              </a:ext>
            </a:extLst>
          </p:cNvPr>
          <p:cNvSpPr>
            <a:spLocks noGrp="1"/>
          </p:cNvSpPr>
          <p:nvPr>
            <p:ph type="title"/>
          </p:nvPr>
        </p:nvSpPr>
        <p:spPr/>
        <p:txBody>
          <a:bodyPr/>
          <a:lstStyle/>
          <a:p>
            <a:r>
              <a:rPr lang="en-US" sz="3600" b="1" i="1" dirty="0">
                <a:solidFill>
                  <a:srgbClr val="00ACEF"/>
                </a:solidFill>
                <a:latin typeface="NimbusRomNo9L"/>
              </a:rPr>
              <a:t>RIP Implementation</a:t>
            </a:r>
            <a:endParaRPr lang="en-US" dirty="0"/>
          </a:p>
        </p:txBody>
      </p:sp>
      <p:sp>
        <p:nvSpPr>
          <p:cNvPr id="3" name="Content Placeholder 2">
            <a:extLst>
              <a:ext uri="{FF2B5EF4-FFF2-40B4-BE49-F238E27FC236}">
                <a16:creationId xmlns:a16="http://schemas.microsoft.com/office/drawing/2014/main" id="{1B11B56F-0DF5-A4F8-9318-4D4F813FEAF0}"/>
              </a:ext>
            </a:extLst>
          </p:cNvPr>
          <p:cNvSpPr>
            <a:spLocks noGrp="1"/>
          </p:cNvSpPr>
          <p:nvPr>
            <p:ph idx="1"/>
          </p:nvPr>
        </p:nvSpPr>
        <p:spPr/>
        <p:txBody>
          <a:bodyPr>
            <a:normAutofit/>
          </a:bodyPr>
          <a:lstStyle/>
          <a:p>
            <a:r>
              <a:rPr lang="en-US" sz="1800" dirty="0">
                <a:solidFill>
                  <a:srgbClr val="231F20"/>
                </a:solidFill>
                <a:latin typeface="NimbusRomNo9L"/>
              </a:rPr>
              <a:t>RIP is implemented as a process that uses the service of UDP on the well-known port number 520. </a:t>
            </a:r>
          </a:p>
          <a:p>
            <a:r>
              <a:rPr lang="en-US" sz="1800" i="1" dirty="0">
                <a:solidFill>
                  <a:srgbClr val="231F20"/>
                </a:solidFill>
                <a:latin typeface="NimbusRomNo9L"/>
              </a:rPr>
              <a:t>This means </a:t>
            </a:r>
            <a:r>
              <a:rPr lang="en-US" sz="1800" dirty="0">
                <a:solidFill>
                  <a:srgbClr val="231F20"/>
                </a:solidFill>
                <a:latin typeface="NimbusRomNo9L"/>
              </a:rPr>
              <a:t>that, although RIP is a routing protocol to help </a:t>
            </a:r>
            <a:r>
              <a:rPr lang="en-US" sz="1800" b="1" dirty="0">
                <a:solidFill>
                  <a:srgbClr val="231F20"/>
                </a:solidFill>
                <a:latin typeface="NimbusRomNo9L"/>
              </a:rPr>
              <a:t>IP route </a:t>
            </a:r>
            <a:r>
              <a:rPr lang="en-US" sz="1800" dirty="0">
                <a:solidFill>
                  <a:srgbClr val="231F20"/>
                </a:solidFill>
                <a:latin typeface="NimbusRomNo9L"/>
              </a:rPr>
              <a:t>its datagrams through the AS, </a:t>
            </a:r>
          </a:p>
          <a:p>
            <a:pPr lvl="1"/>
            <a:r>
              <a:rPr lang="en-US" dirty="0">
                <a:solidFill>
                  <a:srgbClr val="231F20"/>
                </a:solidFill>
                <a:latin typeface="NimbusRomNo9L"/>
              </a:rPr>
              <a:t>the RIP messages are encapsulated inside UDP user datagrams, </a:t>
            </a:r>
          </a:p>
          <a:p>
            <a:pPr lvl="1"/>
            <a:r>
              <a:rPr lang="en-US" dirty="0">
                <a:solidFill>
                  <a:srgbClr val="231F20"/>
                </a:solidFill>
                <a:latin typeface="NimbusRomNo9L"/>
              </a:rPr>
              <a:t>which in turn are encapsulated inside IP datagrams. </a:t>
            </a:r>
          </a:p>
          <a:p>
            <a:r>
              <a:rPr lang="en-US" sz="1800" dirty="0">
                <a:solidFill>
                  <a:srgbClr val="231F20"/>
                </a:solidFill>
                <a:latin typeface="NimbusRomNo9L"/>
              </a:rPr>
              <a:t>In other words, RIP runs at the application layer, but creates forwarding tables for IP at the network later.</a:t>
            </a:r>
          </a:p>
          <a:p>
            <a:r>
              <a:rPr lang="en-US" sz="1800" dirty="0">
                <a:solidFill>
                  <a:srgbClr val="231F20"/>
                </a:solidFill>
                <a:latin typeface="NimbusRomNo9L"/>
              </a:rPr>
              <a:t>RIP has gone through two versions: RIP-1 and RIP-2. </a:t>
            </a:r>
          </a:p>
          <a:p>
            <a:r>
              <a:rPr lang="en-US" sz="1800" dirty="0">
                <a:solidFill>
                  <a:srgbClr val="231F20"/>
                </a:solidFill>
                <a:latin typeface="NimbusRomNo9L"/>
              </a:rPr>
              <a:t>The version 2 is backward compatible with the first.</a:t>
            </a:r>
          </a:p>
          <a:p>
            <a:r>
              <a:rPr lang="en-US" sz="1800" dirty="0">
                <a:solidFill>
                  <a:srgbClr val="231F20"/>
                </a:solidFill>
                <a:latin typeface="NimbusRomNo9L"/>
              </a:rPr>
              <a:t>We discuss only RIP-2 in this section.</a:t>
            </a:r>
            <a:endParaRPr lang="en-US" dirty="0"/>
          </a:p>
        </p:txBody>
      </p:sp>
    </p:spTree>
    <p:extLst>
      <p:ext uri="{BB962C8B-B14F-4D97-AF65-F5344CB8AC3E}">
        <p14:creationId xmlns:p14="http://schemas.microsoft.com/office/powerpoint/2010/main" val="23345490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F17E6-ED93-A38F-A903-F6E5D066FDFF}"/>
              </a:ext>
            </a:extLst>
          </p:cNvPr>
          <p:cNvSpPr>
            <a:spLocks noGrp="1"/>
          </p:cNvSpPr>
          <p:nvPr>
            <p:ph type="title"/>
          </p:nvPr>
        </p:nvSpPr>
        <p:spPr/>
        <p:txBody>
          <a:bodyPr/>
          <a:lstStyle/>
          <a:p>
            <a:r>
              <a:rPr lang="en-US" sz="3600" b="1" i="1" dirty="0">
                <a:solidFill>
                  <a:schemeClr val="accent3">
                    <a:lumMod val="40000"/>
                    <a:lumOff val="60000"/>
                  </a:schemeClr>
                </a:solidFill>
                <a:latin typeface="NimbusRomNo9L"/>
              </a:rPr>
              <a:t>RIP Messages</a:t>
            </a:r>
            <a:endParaRPr lang="en-US" dirty="0">
              <a:solidFill>
                <a:schemeClr val="accent3">
                  <a:lumMod val="40000"/>
                  <a:lumOff val="60000"/>
                </a:schemeClr>
              </a:solidFill>
            </a:endParaRPr>
          </a:p>
        </p:txBody>
      </p:sp>
      <p:sp>
        <p:nvSpPr>
          <p:cNvPr id="3" name="Content Placeholder 2">
            <a:extLst>
              <a:ext uri="{FF2B5EF4-FFF2-40B4-BE49-F238E27FC236}">
                <a16:creationId xmlns:a16="http://schemas.microsoft.com/office/drawing/2014/main" id="{EF0F26E2-61ED-783C-21CF-B6033500BBDA}"/>
              </a:ext>
            </a:extLst>
          </p:cNvPr>
          <p:cNvSpPr>
            <a:spLocks noGrp="1"/>
          </p:cNvSpPr>
          <p:nvPr>
            <p:ph idx="1"/>
          </p:nvPr>
        </p:nvSpPr>
        <p:spPr>
          <a:xfrm>
            <a:off x="561110" y="2114475"/>
            <a:ext cx="11082593" cy="4115998"/>
          </a:xfrm>
        </p:spPr>
        <p:txBody>
          <a:bodyPr/>
          <a:lstStyle/>
          <a:p>
            <a:r>
              <a:rPr lang="en-US" sz="1800" dirty="0">
                <a:solidFill>
                  <a:srgbClr val="231F20"/>
                </a:solidFill>
                <a:latin typeface="NimbusRomNo9L"/>
              </a:rPr>
              <a:t>Two RIP processes, a client and a server, </a:t>
            </a:r>
          </a:p>
          <a:p>
            <a:pPr lvl="1"/>
            <a:r>
              <a:rPr lang="en-US" dirty="0">
                <a:solidFill>
                  <a:srgbClr val="231F20"/>
                </a:solidFill>
                <a:latin typeface="NimbusRomNo9L"/>
              </a:rPr>
              <a:t>like any other processes, need to exchange </a:t>
            </a:r>
            <a:r>
              <a:rPr lang="en-US" sz="1800" dirty="0">
                <a:solidFill>
                  <a:srgbClr val="231F20"/>
                </a:solidFill>
                <a:latin typeface="NimbusRomNo9L"/>
              </a:rPr>
              <a:t>messages. </a:t>
            </a:r>
          </a:p>
          <a:p>
            <a:r>
              <a:rPr lang="en-US" sz="2000" dirty="0">
                <a:solidFill>
                  <a:srgbClr val="231F20"/>
                </a:solidFill>
                <a:latin typeface="NimbusRomNo9L"/>
              </a:rPr>
              <a:t>RIP-2 defines the format of the message, as shown in Figure 20.17. </a:t>
            </a:r>
          </a:p>
          <a:p>
            <a:r>
              <a:rPr lang="en-US" sz="2000" dirty="0">
                <a:solidFill>
                  <a:srgbClr val="231F20"/>
                </a:solidFill>
                <a:latin typeface="NimbusRomNo9L"/>
              </a:rPr>
              <a:t>Part of </a:t>
            </a:r>
            <a:r>
              <a:rPr lang="en-US" sz="1800" dirty="0">
                <a:solidFill>
                  <a:srgbClr val="231F20"/>
                </a:solidFill>
                <a:latin typeface="NimbusRomNo9L"/>
              </a:rPr>
              <a:t>the message, which we call </a:t>
            </a:r>
            <a:r>
              <a:rPr lang="en-US" sz="1800" b="1" i="1" dirty="0">
                <a:solidFill>
                  <a:srgbClr val="231F20"/>
                </a:solidFill>
                <a:latin typeface="NimbusRomNo9L"/>
              </a:rPr>
              <a:t>entry</a:t>
            </a:r>
            <a:r>
              <a:rPr lang="en-US" sz="1800" i="1" dirty="0">
                <a:solidFill>
                  <a:srgbClr val="231F20"/>
                </a:solidFill>
                <a:latin typeface="NimbusRomNo9L"/>
              </a:rPr>
              <a:t>, can be repeated as needed in a message. </a:t>
            </a:r>
          </a:p>
          <a:p>
            <a:r>
              <a:rPr lang="en-US" sz="1800" i="1" dirty="0">
                <a:solidFill>
                  <a:srgbClr val="231F20"/>
                </a:solidFill>
                <a:latin typeface="NimbusRomNo9L"/>
              </a:rPr>
              <a:t>Each </a:t>
            </a:r>
            <a:r>
              <a:rPr lang="en-US" sz="1800" b="1" i="1" dirty="0">
                <a:solidFill>
                  <a:srgbClr val="231F20"/>
                </a:solidFill>
                <a:latin typeface="NimbusRomNo9L"/>
              </a:rPr>
              <a:t>entry</a:t>
            </a:r>
            <a:r>
              <a:rPr lang="en-US" sz="1800" i="1" dirty="0">
                <a:solidFill>
                  <a:srgbClr val="231F20"/>
                </a:solidFill>
                <a:latin typeface="NimbusRomNo9L"/>
              </a:rPr>
              <a:t> </a:t>
            </a:r>
            <a:r>
              <a:rPr lang="en-US" sz="1800" dirty="0">
                <a:solidFill>
                  <a:srgbClr val="231F20"/>
                </a:solidFill>
                <a:latin typeface="NimbusRomNo9L"/>
              </a:rPr>
              <a:t>carries the information related to </a:t>
            </a:r>
            <a:r>
              <a:rPr lang="en-US" sz="1800" u="sng" dirty="0">
                <a:solidFill>
                  <a:srgbClr val="231F20"/>
                </a:solidFill>
                <a:latin typeface="NimbusRomNo9L"/>
              </a:rPr>
              <a:t>one line </a:t>
            </a:r>
            <a:r>
              <a:rPr lang="en-US" sz="1800" dirty="0">
                <a:solidFill>
                  <a:srgbClr val="231F20"/>
                </a:solidFill>
                <a:latin typeface="NimbusRomNo9L"/>
              </a:rPr>
              <a:t>in the forwarding table of the router that sends the message. </a:t>
            </a:r>
            <a:endParaRPr lang="en-US" dirty="0"/>
          </a:p>
        </p:txBody>
      </p:sp>
      <p:pic>
        <p:nvPicPr>
          <p:cNvPr id="5" name="Picture 4">
            <a:extLst>
              <a:ext uri="{FF2B5EF4-FFF2-40B4-BE49-F238E27FC236}">
                <a16:creationId xmlns:a16="http://schemas.microsoft.com/office/drawing/2014/main" id="{C19EB59B-F839-1DE7-87AB-0B3A70286B5F}"/>
              </a:ext>
            </a:extLst>
          </p:cNvPr>
          <p:cNvPicPr>
            <a:picLocks noChangeAspect="1"/>
          </p:cNvPicPr>
          <p:nvPr/>
        </p:nvPicPr>
        <p:blipFill>
          <a:blip r:embed="rId2"/>
          <a:stretch>
            <a:fillRect/>
          </a:stretch>
        </p:blipFill>
        <p:spPr>
          <a:xfrm>
            <a:off x="2623653" y="4109578"/>
            <a:ext cx="6944694" cy="2581635"/>
          </a:xfrm>
          <a:prstGeom prst="rect">
            <a:avLst/>
          </a:prstGeom>
        </p:spPr>
      </p:pic>
    </p:spTree>
    <p:extLst>
      <p:ext uri="{BB962C8B-B14F-4D97-AF65-F5344CB8AC3E}">
        <p14:creationId xmlns:p14="http://schemas.microsoft.com/office/powerpoint/2010/main" val="38846348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A6748-5A30-623C-5553-A0D57048A9D0}"/>
              </a:ext>
            </a:extLst>
          </p:cNvPr>
          <p:cNvSpPr>
            <a:spLocks noGrp="1"/>
          </p:cNvSpPr>
          <p:nvPr>
            <p:ph type="title"/>
          </p:nvPr>
        </p:nvSpPr>
        <p:spPr/>
        <p:txBody>
          <a:bodyPr/>
          <a:lstStyle/>
          <a:p>
            <a:r>
              <a:rPr lang="en-US" sz="3600" b="1" i="1" dirty="0">
                <a:solidFill>
                  <a:schemeClr val="accent3">
                    <a:lumMod val="40000"/>
                    <a:lumOff val="60000"/>
                  </a:schemeClr>
                </a:solidFill>
                <a:latin typeface="NimbusRomNo9L"/>
              </a:rPr>
              <a:t>RIP Messages</a:t>
            </a:r>
            <a:endParaRPr lang="en-US" dirty="0"/>
          </a:p>
        </p:txBody>
      </p:sp>
      <p:sp>
        <p:nvSpPr>
          <p:cNvPr id="3" name="Content Placeholder 2">
            <a:extLst>
              <a:ext uri="{FF2B5EF4-FFF2-40B4-BE49-F238E27FC236}">
                <a16:creationId xmlns:a16="http://schemas.microsoft.com/office/drawing/2014/main" id="{CB8FA8E0-42BD-0FCF-7628-AEB73DFD96C2}"/>
              </a:ext>
            </a:extLst>
          </p:cNvPr>
          <p:cNvSpPr>
            <a:spLocks noGrp="1"/>
          </p:cNvSpPr>
          <p:nvPr>
            <p:ph idx="1"/>
          </p:nvPr>
        </p:nvSpPr>
        <p:spPr/>
        <p:txBody>
          <a:bodyPr/>
          <a:lstStyle/>
          <a:p>
            <a:r>
              <a:rPr lang="en-US" sz="1800" dirty="0">
                <a:solidFill>
                  <a:srgbClr val="231F20"/>
                </a:solidFill>
                <a:latin typeface="NimbusRomNo9L"/>
              </a:rPr>
              <a:t>RIP has two types of messages: request and response. </a:t>
            </a:r>
          </a:p>
          <a:p>
            <a:r>
              <a:rPr lang="en-US" sz="1800" dirty="0">
                <a:solidFill>
                  <a:srgbClr val="231F20"/>
                </a:solidFill>
                <a:latin typeface="NimbusRomNo9L"/>
              </a:rPr>
              <a:t>A </a:t>
            </a:r>
            <a:r>
              <a:rPr lang="en-US" sz="1800" b="1" dirty="0">
                <a:solidFill>
                  <a:srgbClr val="231F20"/>
                </a:solidFill>
                <a:latin typeface="NimbusRomNo9L"/>
              </a:rPr>
              <a:t>request message </a:t>
            </a:r>
            <a:r>
              <a:rPr lang="en-US" sz="1800" dirty="0">
                <a:solidFill>
                  <a:srgbClr val="231F20"/>
                </a:solidFill>
                <a:latin typeface="NimbusRomNo9L"/>
              </a:rPr>
              <a:t>is sent by a router that has just come up or by a router that has some time-out entries. </a:t>
            </a:r>
          </a:p>
          <a:p>
            <a:pPr lvl="1"/>
            <a:r>
              <a:rPr lang="en-US" dirty="0">
                <a:solidFill>
                  <a:srgbClr val="231F20"/>
                </a:solidFill>
                <a:latin typeface="NimbusRomNo9L"/>
              </a:rPr>
              <a:t>A request message can ask about specific entries or all entries. </a:t>
            </a:r>
          </a:p>
          <a:p>
            <a:r>
              <a:rPr lang="en-US" dirty="0">
                <a:solidFill>
                  <a:srgbClr val="231F20"/>
                </a:solidFill>
                <a:latin typeface="NimbusRomNo9L"/>
              </a:rPr>
              <a:t>A </a:t>
            </a:r>
            <a:r>
              <a:rPr lang="en-US" b="1" dirty="0">
                <a:solidFill>
                  <a:srgbClr val="231F20"/>
                </a:solidFill>
                <a:latin typeface="NimbusRomNo9L"/>
              </a:rPr>
              <a:t>response (or update) </a:t>
            </a:r>
            <a:r>
              <a:rPr lang="en-US" sz="1800" b="1" dirty="0">
                <a:solidFill>
                  <a:srgbClr val="231F20"/>
                </a:solidFill>
                <a:latin typeface="NimbusRomNo9L"/>
              </a:rPr>
              <a:t>message </a:t>
            </a:r>
            <a:r>
              <a:rPr lang="en-US" sz="1800" dirty="0">
                <a:solidFill>
                  <a:srgbClr val="231F20"/>
                </a:solidFill>
                <a:latin typeface="NimbusRomNo9L"/>
              </a:rPr>
              <a:t>can be either solicited or unsolicited. </a:t>
            </a:r>
          </a:p>
          <a:p>
            <a:pPr lvl="1"/>
            <a:r>
              <a:rPr lang="en-US" dirty="0">
                <a:solidFill>
                  <a:srgbClr val="231F20"/>
                </a:solidFill>
                <a:latin typeface="NimbusRomNo9L"/>
              </a:rPr>
              <a:t>A solicited response message is sent </a:t>
            </a:r>
            <a:r>
              <a:rPr lang="en-US" sz="1800" dirty="0">
                <a:solidFill>
                  <a:srgbClr val="231F20"/>
                </a:solidFill>
                <a:latin typeface="NimbusRomNo9L"/>
              </a:rPr>
              <a:t>only in answer to a request message. </a:t>
            </a:r>
          </a:p>
          <a:p>
            <a:pPr lvl="1"/>
            <a:r>
              <a:rPr lang="en-US" sz="1800" dirty="0">
                <a:solidFill>
                  <a:srgbClr val="231F20"/>
                </a:solidFill>
                <a:latin typeface="NimbusRomNo9L"/>
              </a:rPr>
              <a:t>It contains information about the destination specified in the corresponding request message. </a:t>
            </a:r>
          </a:p>
          <a:p>
            <a:pPr lvl="1"/>
            <a:r>
              <a:rPr lang="en-US" sz="1800" dirty="0">
                <a:solidFill>
                  <a:srgbClr val="231F20"/>
                </a:solidFill>
                <a:latin typeface="NimbusRomNo9L"/>
              </a:rPr>
              <a:t>An unsolicited response message, on the other hand, is sent periodically, every 30 seconds or when there is a change in the forwarding table.</a:t>
            </a:r>
            <a:endParaRPr lang="en-US" dirty="0"/>
          </a:p>
        </p:txBody>
      </p:sp>
    </p:spTree>
    <p:extLst>
      <p:ext uri="{BB962C8B-B14F-4D97-AF65-F5344CB8AC3E}">
        <p14:creationId xmlns:p14="http://schemas.microsoft.com/office/powerpoint/2010/main" val="27832628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DDBA3-3A1A-D2D0-E8AA-3CA1CBAB63DD}"/>
              </a:ext>
            </a:extLst>
          </p:cNvPr>
          <p:cNvSpPr>
            <a:spLocks noGrp="1"/>
          </p:cNvSpPr>
          <p:nvPr>
            <p:ph type="title"/>
          </p:nvPr>
        </p:nvSpPr>
        <p:spPr/>
        <p:txBody>
          <a:bodyPr/>
          <a:lstStyle/>
          <a:p>
            <a:r>
              <a:rPr lang="en-US" sz="2800" b="1" i="1" dirty="0">
                <a:solidFill>
                  <a:schemeClr val="accent3">
                    <a:lumMod val="40000"/>
                    <a:lumOff val="60000"/>
                  </a:schemeClr>
                </a:solidFill>
                <a:latin typeface="NimbusRomNo9L"/>
              </a:rPr>
              <a:t>RIP Algorithm</a:t>
            </a:r>
            <a:endParaRPr lang="en-US" dirty="0">
              <a:solidFill>
                <a:schemeClr val="accent3">
                  <a:lumMod val="40000"/>
                  <a:lumOff val="60000"/>
                </a:schemeClr>
              </a:solidFill>
            </a:endParaRPr>
          </a:p>
        </p:txBody>
      </p:sp>
      <p:sp>
        <p:nvSpPr>
          <p:cNvPr id="3" name="Content Placeholder 2">
            <a:extLst>
              <a:ext uri="{FF2B5EF4-FFF2-40B4-BE49-F238E27FC236}">
                <a16:creationId xmlns:a16="http://schemas.microsoft.com/office/drawing/2014/main" id="{0E8FA857-1DBC-CF6C-C35F-6450B7811A81}"/>
              </a:ext>
            </a:extLst>
          </p:cNvPr>
          <p:cNvSpPr>
            <a:spLocks noGrp="1"/>
          </p:cNvSpPr>
          <p:nvPr>
            <p:ph idx="1"/>
          </p:nvPr>
        </p:nvSpPr>
        <p:spPr>
          <a:xfrm>
            <a:off x="561110" y="2275839"/>
            <a:ext cx="11082593" cy="4438725"/>
          </a:xfrm>
        </p:spPr>
        <p:txBody>
          <a:bodyPr>
            <a:normAutofit lnSpcReduction="10000"/>
          </a:bodyPr>
          <a:lstStyle/>
          <a:p>
            <a:r>
              <a:rPr lang="en-US" dirty="0"/>
              <a:t>RIP implements the same algorithm as the distance-vector routing algorithm </a:t>
            </a:r>
          </a:p>
          <a:p>
            <a:r>
              <a:rPr lang="en-US" dirty="0"/>
              <a:t>However, some changes need to be made to the algorithm to enable a router to update its forwarding table:</a:t>
            </a:r>
          </a:p>
          <a:p>
            <a:pPr lvl="1"/>
            <a:r>
              <a:rPr lang="en-US" dirty="0"/>
              <a:t>1. If the received route does not exist in the old forwarding table, it should be added to the route. </a:t>
            </a:r>
          </a:p>
          <a:p>
            <a:pPr lvl="1"/>
            <a:r>
              <a:rPr lang="en-US" dirty="0"/>
              <a:t>2. If the cost of the received route is lower than the cost of the old one, the received route should be selected as the new one. </a:t>
            </a:r>
          </a:p>
          <a:p>
            <a:pPr lvl="1"/>
            <a:r>
              <a:rPr lang="en-US" dirty="0"/>
              <a:t>3. If the cost of the received route is higher than the cost of the old one, but the value of the next router is the same in both routes, the received route should be selected as the new one. This is the case where the route was actually advertised by the same router in the past, but now the situation has been changed. </a:t>
            </a:r>
          </a:p>
          <a:p>
            <a:r>
              <a:rPr lang="en-US" dirty="0"/>
              <a:t>For example, </a:t>
            </a:r>
          </a:p>
          <a:p>
            <a:pPr lvl="1"/>
            <a:r>
              <a:rPr lang="en-US" dirty="0"/>
              <a:t>suppose a neighbor has previously advertised a route to a destination with cost 3, but now there is no path between this neighbor and that destination. The neighbor advertises this destination with cost value infinity (16 in RIP). The receiving router must not ignore this value even though its old route has a lower cost to the same destination.</a:t>
            </a:r>
          </a:p>
        </p:txBody>
      </p:sp>
    </p:spTree>
    <p:extLst>
      <p:ext uri="{BB962C8B-B14F-4D97-AF65-F5344CB8AC3E}">
        <p14:creationId xmlns:p14="http://schemas.microsoft.com/office/powerpoint/2010/main" val="7714439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AEF41-44BC-2952-00E2-A0C71300EA19}"/>
              </a:ext>
            </a:extLst>
          </p:cNvPr>
          <p:cNvSpPr>
            <a:spLocks noGrp="1"/>
          </p:cNvSpPr>
          <p:nvPr>
            <p:ph type="title"/>
          </p:nvPr>
        </p:nvSpPr>
        <p:spPr/>
        <p:txBody>
          <a:bodyPr/>
          <a:lstStyle/>
          <a:p>
            <a:r>
              <a:rPr lang="en-US" dirty="0"/>
              <a:t>Timers in RIP</a:t>
            </a:r>
          </a:p>
        </p:txBody>
      </p:sp>
      <p:sp>
        <p:nvSpPr>
          <p:cNvPr id="3" name="Content Placeholder 2">
            <a:extLst>
              <a:ext uri="{FF2B5EF4-FFF2-40B4-BE49-F238E27FC236}">
                <a16:creationId xmlns:a16="http://schemas.microsoft.com/office/drawing/2014/main" id="{E093AB66-C3BE-9259-EABF-34EA700FDD3B}"/>
              </a:ext>
            </a:extLst>
          </p:cNvPr>
          <p:cNvSpPr>
            <a:spLocks noGrp="1"/>
          </p:cNvSpPr>
          <p:nvPr>
            <p:ph idx="1"/>
          </p:nvPr>
        </p:nvSpPr>
        <p:spPr>
          <a:xfrm>
            <a:off x="561110" y="2275839"/>
            <a:ext cx="11082593" cy="4420795"/>
          </a:xfrm>
        </p:spPr>
        <p:txBody>
          <a:bodyPr>
            <a:normAutofit fontScale="85000" lnSpcReduction="20000"/>
          </a:bodyPr>
          <a:lstStyle/>
          <a:p>
            <a:r>
              <a:rPr lang="en-US" dirty="0"/>
              <a:t>RIP uses three timers to support its operation. </a:t>
            </a:r>
          </a:p>
          <a:p>
            <a:r>
              <a:rPr lang="en-US" b="1" dirty="0"/>
              <a:t>The periodic </a:t>
            </a:r>
            <a:r>
              <a:rPr lang="en-US" dirty="0"/>
              <a:t>timer controls the advertising of regular update messages. </a:t>
            </a:r>
          </a:p>
          <a:p>
            <a:r>
              <a:rPr lang="en-US" dirty="0"/>
              <a:t>Each router has one </a:t>
            </a:r>
            <a:r>
              <a:rPr lang="en-US" b="1" dirty="0"/>
              <a:t>periodic timer </a:t>
            </a:r>
            <a:r>
              <a:rPr lang="en-US" dirty="0"/>
              <a:t>that is randomly set to a number between 25 and 35 seconds </a:t>
            </a:r>
          </a:p>
          <a:p>
            <a:pPr lvl="1"/>
            <a:r>
              <a:rPr lang="en-US" dirty="0"/>
              <a:t>(to prevent all routers sending their messages at the same time and creating excess traffic). </a:t>
            </a:r>
          </a:p>
          <a:p>
            <a:pPr lvl="1"/>
            <a:r>
              <a:rPr lang="en-US" dirty="0"/>
              <a:t>The timer counts down; when zero is reached, </a:t>
            </a:r>
          </a:p>
          <a:p>
            <a:pPr lvl="1"/>
            <a:r>
              <a:rPr lang="en-US" dirty="0"/>
              <a:t>the update message is sent, and the timer is randomly set once again. </a:t>
            </a:r>
          </a:p>
          <a:p>
            <a:r>
              <a:rPr lang="en-US" dirty="0"/>
              <a:t>The </a:t>
            </a:r>
            <a:r>
              <a:rPr lang="en-US" b="1" dirty="0"/>
              <a:t>expiration timer </a:t>
            </a:r>
            <a:r>
              <a:rPr lang="en-US" dirty="0"/>
              <a:t>governs the validity of a route. </a:t>
            </a:r>
          </a:p>
          <a:p>
            <a:pPr lvl="1"/>
            <a:r>
              <a:rPr lang="en-US" dirty="0"/>
              <a:t>When a router receives update information for a route, the expiration timer is set to 180 seconds for that particular route. </a:t>
            </a:r>
          </a:p>
          <a:p>
            <a:pPr lvl="1"/>
            <a:r>
              <a:rPr lang="en-US" dirty="0"/>
              <a:t>Every time a new update for the route is received, </a:t>
            </a:r>
          </a:p>
          <a:p>
            <a:pPr lvl="1"/>
            <a:r>
              <a:rPr lang="en-US" dirty="0"/>
              <a:t>the timer is reset. </a:t>
            </a:r>
          </a:p>
          <a:p>
            <a:pPr lvl="1"/>
            <a:r>
              <a:rPr lang="en-US" dirty="0"/>
              <a:t>If there is a problem on an internet and no update is received within the allotted 180 seconds, </a:t>
            </a:r>
          </a:p>
          <a:p>
            <a:pPr lvl="1"/>
            <a:r>
              <a:rPr lang="en-US" dirty="0"/>
              <a:t>the route is considered expired and the hop count of the route is set to 16, which means the destination is unreachable. </a:t>
            </a:r>
          </a:p>
          <a:p>
            <a:pPr lvl="1"/>
            <a:r>
              <a:rPr lang="en-US" dirty="0"/>
              <a:t>Every route has its own expiration timer. </a:t>
            </a:r>
          </a:p>
        </p:txBody>
      </p:sp>
    </p:spTree>
    <p:extLst>
      <p:ext uri="{BB962C8B-B14F-4D97-AF65-F5344CB8AC3E}">
        <p14:creationId xmlns:p14="http://schemas.microsoft.com/office/powerpoint/2010/main" val="12691928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210E1-7F94-E4CD-AF4F-59982F8B328E}"/>
              </a:ext>
            </a:extLst>
          </p:cNvPr>
          <p:cNvSpPr>
            <a:spLocks noGrp="1"/>
          </p:cNvSpPr>
          <p:nvPr>
            <p:ph type="title"/>
          </p:nvPr>
        </p:nvSpPr>
        <p:spPr/>
        <p:txBody>
          <a:bodyPr/>
          <a:lstStyle/>
          <a:p>
            <a:r>
              <a:rPr lang="en-US" dirty="0"/>
              <a:t>Timers in RIP</a:t>
            </a:r>
          </a:p>
        </p:txBody>
      </p:sp>
      <p:sp>
        <p:nvSpPr>
          <p:cNvPr id="3" name="Content Placeholder 2">
            <a:extLst>
              <a:ext uri="{FF2B5EF4-FFF2-40B4-BE49-F238E27FC236}">
                <a16:creationId xmlns:a16="http://schemas.microsoft.com/office/drawing/2014/main" id="{B6D9DB8F-1C1A-247E-D723-2AB1324732B6}"/>
              </a:ext>
            </a:extLst>
          </p:cNvPr>
          <p:cNvSpPr>
            <a:spLocks noGrp="1"/>
          </p:cNvSpPr>
          <p:nvPr>
            <p:ph idx="1"/>
          </p:nvPr>
        </p:nvSpPr>
        <p:spPr/>
        <p:txBody>
          <a:bodyPr/>
          <a:lstStyle/>
          <a:p>
            <a:r>
              <a:rPr lang="en-US" dirty="0"/>
              <a:t>The </a:t>
            </a:r>
            <a:r>
              <a:rPr lang="en-US" b="1" dirty="0"/>
              <a:t>garbage collection timer </a:t>
            </a:r>
            <a:r>
              <a:rPr lang="en-US" dirty="0"/>
              <a:t>is used to </a:t>
            </a:r>
            <a:r>
              <a:rPr lang="en-US" u="sng" dirty="0"/>
              <a:t>purge</a:t>
            </a:r>
            <a:r>
              <a:rPr lang="en-US" dirty="0"/>
              <a:t> a route from the forwarding table. </a:t>
            </a:r>
          </a:p>
          <a:p>
            <a:pPr lvl="1"/>
            <a:r>
              <a:rPr lang="en-US" dirty="0"/>
              <a:t>When the information about a route becomes invalid, the router does not immediately purge that route from its table. </a:t>
            </a:r>
          </a:p>
          <a:p>
            <a:pPr lvl="1"/>
            <a:r>
              <a:rPr lang="en-US" dirty="0"/>
              <a:t>Instead, it continues to advertise the route with a metric value of 16. </a:t>
            </a:r>
          </a:p>
          <a:p>
            <a:pPr lvl="1"/>
            <a:r>
              <a:rPr lang="en-US" dirty="0"/>
              <a:t>At the same time, a garbage collection timer is set to 120 seconds for that route. </a:t>
            </a:r>
          </a:p>
          <a:p>
            <a:pPr lvl="1"/>
            <a:r>
              <a:rPr lang="en-US" dirty="0"/>
              <a:t>When the count reaches zero, the route is purged from the table. </a:t>
            </a:r>
          </a:p>
          <a:p>
            <a:pPr lvl="1"/>
            <a:r>
              <a:rPr lang="en-US" dirty="0"/>
              <a:t>This timer allows neighbors to become aware of the invalidity of a route prior to purging.</a:t>
            </a:r>
          </a:p>
          <a:p>
            <a:endParaRPr lang="en-US" dirty="0"/>
          </a:p>
        </p:txBody>
      </p:sp>
    </p:spTree>
    <p:extLst>
      <p:ext uri="{BB962C8B-B14F-4D97-AF65-F5344CB8AC3E}">
        <p14:creationId xmlns:p14="http://schemas.microsoft.com/office/powerpoint/2010/main" val="41736233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EE3F8-4E34-1388-CD40-6BA9184D4DC7}"/>
              </a:ext>
            </a:extLst>
          </p:cNvPr>
          <p:cNvSpPr>
            <a:spLocks noGrp="1"/>
          </p:cNvSpPr>
          <p:nvPr>
            <p:ph type="title"/>
          </p:nvPr>
        </p:nvSpPr>
        <p:spPr/>
        <p:txBody>
          <a:bodyPr/>
          <a:lstStyle/>
          <a:p>
            <a:r>
              <a:rPr lang="en-US" sz="3600" b="1" dirty="0">
                <a:solidFill>
                  <a:srgbClr val="00ACEF"/>
                </a:solidFill>
                <a:latin typeface="NimbusRomNo9L"/>
              </a:rPr>
              <a:t>Example 20.1</a:t>
            </a:r>
            <a:endParaRPr lang="en-US" dirty="0"/>
          </a:p>
        </p:txBody>
      </p:sp>
      <p:sp>
        <p:nvSpPr>
          <p:cNvPr id="3" name="Content Placeholder 2">
            <a:extLst>
              <a:ext uri="{FF2B5EF4-FFF2-40B4-BE49-F238E27FC236}">
                <a16:creationId xmlns:a16="http://schemas.microsoft.com/office/drawing/2014/main" id="{BB83D12D-C6DA-132D-CC9E-3B18F0281A60}"/>
              </a:ext>
            </a:extLst>
          </p:cNvPr>
          <p:cNvSpPr>
            <a:spLocks noGrp="1"/>
          </p:cNvSpPr>
          <p:nvPr>
            <p:ph idx="1"/>
          </p:nvPr>
        </p:nvSpPr>
        <p:spPr/>
        <p:txBody>
          <a:bodyPr/>
          <a:lstStyle/>
          <a:p>
            <a:r>
              <a:rPr lang="en-US" sz="1800" dirty="0">
                <a:solidFill>
                  <a:srgbClr val="231F20"/>
                </a:solidFill>
                <a:latin typeface="NimbusRomNo9L"/>
              </a:rPr>
              <a:t>Figure 20.18 shows a more realistic example of the operation of RIP in an autonomous system.</a:t>
            </a:r>
          </a:p>
          <a:p>
            <a:endParaRPr lang="en-US" dirty="0"/>
          </a:p>
        </p:txBody>
      </p:sp>
      <p:pic>
        <p:nvPicPr>
          <p:cNvPr id="5" name="Picture 4">
            <a:extLst>
              <a:ext uri="{FF2B5EF4-FFF2-40B4-BE49-F238E27FC236}">
                <a16:creationId xmlns:a16="http://schemas.microsoft.com/office/drawing/2014/main" id="{15D0258C-7E46-B53D-2512-C644CA83269D}"/>
              </a:ext>
            </a:extLst>
          </p:cNvPr>
          <p:cNvPicPr>
            <a:picLocks noChangeAspect="1"/>
          </p:cNvPicPr>
          <p:nvPr/>
        </p:nvPicPr>
        <p:blipFill>
          <a:blip r:embed="rId2"/>
          <a:stretch>
            <a:fillRect/>
          </a:stretch>
        </p:blipFill>
        <p:spPr>
          <a:xfrm>
            <a:off x="2082457" y="2682239"/>
            <a:ext cx="7528903" cy="2034147"/>
          </a:xfrm>
          <a:prstGeom prst="rect">
            <a:avLst/>
          </a:prstGeom>
        </p:spPr>
      </p:pic>
      <p:pic>
        <p:nvPicPr>
          <p:cNvPr id="7" name="Picture 6">
            <a:extLst>
              <a:ext uri="{FF2B5EF4-FFF2-40B4-BE49-F238E27FC236}">
                <a16:creationId xmlns:a16="http://schemas.microsoft.com/office/drawing/2014/main" id="{EB636298-9623-C5C5-0F93-B7A3FA4D700C}"/>
              </a:ext>
            </a:extLst>
          </p:cNvPr>
          <p:cNvPicPr>
            <a:picLocks noChangeAspect="1"/>
          </p:cNvPicPr>
          <p:nvPr/>
        </p:nvPicPr>
        <p:blipFill>
          <a:blip r:embed="rId3"/>
          <a:stretch>
            <a:fillRect/>
          </a:stretch>
        </p:blipFill>
        <p:spPr>
          <a:xfrm>
            <a:off x="751074" y="4772953"/>
            <a:ext cx="10974332" cy="1562318"/>
          </a:xfrm>
          <a:prstGeom prst="rect">
            <a:avLst/>
          </a:prstGeom>
        </p:spPr>
      </p:pic>
    </p:spTree>
    <p:extLst>
      <p:ext uri="{BB962C8B-B14F-4D97-AF65-F5344CB8AC3E}">
        <p14:creationId xmlns:p14="http://schemas.microsoft.com/office/powerpoint/2010/main" val="34520509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187E2-0A72-1E7C-C883-94632D2C57B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EF87BD5-BA96-CA6A-C185-189C92CD3F69}"/>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117C836A-1B59-25F6-659E-29D4EF871183}"/>
              </a:ext>
            </a:extLst>
          </p:cNvPr>
          <p:cNvPicPr>
            <a:picLocks noChangeAspect="1"/>
          </p:cNvPicPr>
          <p:nvPr/>
        </p:nvPicPr>
        <p:blipFill>
          <a:blip r:embed="rId2"/>
          <a:stretch>
            <a:fillRect/>
          </a:stretch>
        </p:blipFill>
        <p:spPr>
          <a:xfrm>
            <a:off x="1330753" y="492999"/>
            <a:ext cx="8761412" cy="4335928"/>
          </a:xfrm>
          <a:prstGeom prst="rect">
            <a:avLst/>
          </a:prstGeom>
        </p:spPr>
      </p:pic>
      <p:pic>
        <p:nvPicPr>
          <p:cNvPr id="7" name="Picture 6">
            <a:extLst>
              <a:ext uri="{FF2B5EF4-FFF2-40B4-BE49-F238E27FC236}">
                <a16:creationId xmlns:a16="http://schemas.microsoft.com/office/drawing/2014/main" id="{3A346B52-2E51-75A2-BD42-F81CB08DF479}"/>
              </a:ext>
            </a:extLst>
          </p:cNvPr>
          <p:cNvPicPr>
            <a:picLocks noChangeAspect="1"/>
          </p:cNvPicPr>
          <p:nvPr/>
        </p:nvPicPr>
        <p:blipFill>
          <a:blip r:embed="rId3"/>
          <a:stretch>
            <a:fillRect/>
          </a:stretch>
        </p:blipFill>
        <p:spPr>
          <a:xfrm>
            <a:off x="1342958" y="4769158"/>
            <a:ext cx="9243969" cy="2002860"/>
          </a:xfrm>
          <a:prstGeom prst="rect">
            <a:avLst/>
          </a:prstGeom>
        </p:spPr>
      </p:pic>
    </p:spTree>
    <p:extLst>
      <p:ext uri="{BB962C8B-B14F-4D97-AF65-F5344CB8AC3E}">
        <p14:creationId xmlns:p14="http://schemas.microsoft.com/office/powerpoint/2010/main" val="37792590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FF85D-83FA-550A-6332-C6D38E645007}"/>
              </a:ext>
            </a:extLst>
          </p:cNvPr>
          <p:cNvSpPr>
            <a:spLocks noGrp="1"/>
          </p:cNvSpPr>
          <p:nvPr>
            <p:ph type="title"/>
          </p:nvPr>
        </p:nvSpPr>
        <p:spPr/>
        <p:txBody>
          <a:bodyPr/>
          <a:lstStyle/>
          <a:p>
            <a:endParaRPr lang="en-US"/>
          </a:p>
        </p:txBody>
      </p:sp>
      <p:pic>
        <p:nvPicPr>
          <p:cNvPr id="9" name="Content Placeholder 8">
            <a:extLst>
              <a:ext uri="{FF2B5EF4-FFF2-40B4-BE49-F238E27FC236}">
                <a16:creationId xmlns:a16="http://schemas.microsoft.com/office/drawing/2014/main" id="{DE15DBE2-6594-EB22-A7D3-87383C572DE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11520" y="118492"/>
            <a:ext cx="5323840" cy="6663640"/>
          </a:xfrm>
        </p:spPr>
      </p:pic>
      <p:pic>
        <p:nvPicPr>
          <p:cNvPr id="23" name="Picture 22">
            <a:extLst>
              <a:ext uri="{FF2B5EF4-FFF2-40B4-BE49-F238E27FC236}">
                <a16:creationId xmlns:a16="http://schemas.microsoft.com/office/drawing/2014/main" id="{11AED620-3F10-B57E-E37E-C8DEE5D11BD7}"/>
              </a:ext>
            </a:extLst>
          </p:cNvPr>
          <p:cNvPicPr>
            <a:picLocks noChangeAspect="1"/>
          </p:cNvPicPr>
          <p:nvPr/>
        </p:nvPicPr>
        <p:blipFill>
          <a:blip r:embed="rId3"/>
          <a:stretch>
            <a:fillRect/>
          </a:stretch>
        </p:blipFill>
        <p:spPr>
          <a:xfrm>
            <a:off x="630555" y="59500"/>
            <a:ext cx="4805104" cy="6760820"/>
          </a:xfrm>
          <a:prstGeom prst="rect">
            <a:avLst/>
          </a:prstGeom>
        </p:spPr>
      </p:pic>
    </p:spTree>
    <p:extLst>
      <p:ext uri="{BB962C8B-B14F-4D97-AF65-F5344CB8AC3E}">
        <p14:creationId xmlns:p14="http://schemas.microsoft.com/office/powerpoint/2010/main" val="17057434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0E5B0-07B7-18C3-8100-2CF9CD09E536}"/>
              </a:ext>
            </a:extLst>
          </p:cNvPr>
          <p:cNvSpPr>
            <a:spLocks noGrp="1"/>
          </p:cNvSpPr>
          <p:nvPr>
            <p:ph type="title"/>
          </p:nvPr>
        </p:nvSpPr>
        <p:spPr/>
        <p:txBody>
          <a:bodyPr/>
          <a:lstStyle/>
          <a:p>
            <a:r>
              <a:rPr lang="en-US" dirty="0"/>
              <a:t>v</a:t>
            </a:r>
          </a:p>
        </p:txBody>
      </p:sp>
      <p:pic>
        <p:nvPicPr>
          <p:cNvPr id="5" name="Content Placeholder 4">
            <a:extLst>
              <a:ext uri="{FF2B5EF4-FFF2-40B4-BE49-F238E27FC236}">
                <a16:creationId xmlns:a16="http://schemas.microsoft.com/office/drawing/2014/main" id="{CAE403E6-DBEF-FC06-29BB-00431ED9C1A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73520" y="540664"/>
            <a:ext cx="4673600" cy="6218338"/>
          </a:xfrm>
        </p:spPr>
      </p:pic>
      <p:pic>
        <p:nvPicPr>
          <p:cNvPr id="6" name="Content Placeholder 4">
            <a:extLst>
              <a:ext uri="{FF2B5EF4-FFF2-40B4-BE49-F238E27FC236}">
                <a16:creationId xmlns:a16="http://schemas.microsoft.com/office/drawing/2014/main" id="{6D54980D-E838-33D1-5456-34576F2AA2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4881" y="519844"/>
            <a:ext cx="5344159" cy="6226395"/>
          </a:xfrm>
          <a:prstGeom prst="rect">
            <a:avLst/>
          </a:prstGeom>
        </p:spPr>
      </p:pic>
    </p:spTree>
    <p:extLst>
      <p:ext uri="{BB962C8B-B14F-4D97-AF65-F5344CB8AC3E}">
        <p14:creationId xmlns:p14="http://schemas.microsoft.com/office/powerpoint/2010/main" val="40072612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254</TotalTime>
  <Words>5002</Words>
  <Application>Microsoft Office PowerPoint</Application>
  <PresentationFormat>Widescreen</PresentationFormat>
  <Paragraphs>301</Paragraphs>
  <Slides>52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Arial</vt:lpstr>
      <vt:lpstr>Century Gothic</vt:lpstr>
      <vt:lpstr>NimbusRomNo9L</vt:lpstr>
      <vt:lpstr>StandardSymL</vt:lpstr>
      <vt:lpstr>Wingdings 3</vt:lpstr>
      <vt:lpstr>Ion Boardroom</vt:lpstr>
      <vt:lpstr>Unicast Routing</vt:lpstr>
      <vt:lpstr>20.1 INTRODUCTION</vt:lpstr>
      <vt:lpstr>20.1.1 General Idea</vt:lpstr>
      <vt:lpstr>An Internet as a Graph </vt:lpstr>
      <vt:lpstr>PowerPoint Presentation</vt:lpstr>
      <vt:lpstr>Least-Cost Routing</vt:lpstr>
      <vt:lpstr>Least-Cost Trees</vt:lpstr>
      <vt:lpstr>Least Cost Trees</vt:lpstr>
      <vt:lpstr>20.2 ROUTING ALGORITHMS</vt:lpstr>
      <vt:lpstr>20.2.1 Distance-Vector Routing</vt:lpstr>
      <vt:lpstr>Bellman-Ford Equation</vt:lpstr>
      <vt:lpstr>Distance Vectors</vt:lpstr>
      <vt:lpstr>PowerPoint Presentation</vt:lpstr>
      <vt:lpstr>Distance Vectors Conti……</vt:lpstr>
      <vt:lpstr>Creating 1st Distance Vector with its Neighbors</vt:lpstr>
      <vt:lpstr>Distance Vector Conti……</vt:lpstr>
      <vt:lpstr>Distance Vector Conti……</vt:lpstr>
      <vt:lpstr>Distance Vector Conti……</vt:lpstr>
      <vt:lpstr>Distance Vector Conti……</vt:lpstr>
      <vt:lpstr>Distance Vector Conti……</vt:lpstr>
      <vt:lpstr>Route Propagation Problems in DV Routers</vt:lpstr>
      <vt:lpstr>PowerPoint Presentation</vt:lpstr>
      <vt:lpstr>Two-Node Loop </vt:lpstr>
      <vt:lpstr>Two-Node Loop </vt:lpstr>
      <vt:lpstr>Two-Node Loop </vt:lpstr>
      <vt:lpstr>Solution to Two Node Problem</vt:lpstr>
      <vt:lpstr>Poison Reverse</vt:lpstr>
      <vt:lpstr>20.2.2 Link-State Routing</vt:lpstr>
      <vt:lpstr>Link-State Database (LSDB)</vt:lpstr>
      <vt:lpstr>Link-State Database (LSDB)</vt:lpstr>
      <vt:lpstr>Link-State Database (LSDB)</vt:lpstr>
      <vt:lpstr>PowerPoint Presentation</vt:lpstr>
      <vt:lpstr>PowerPoint Presentation</vt:lpstr>
      <vt:lpstr>Comparing DV with LS</vt:lpstr>
      <vt:lpstr>Formation of Least-Cost Trees</vt:lpstr>
      <vt:lpstr>20.3 UNICAST ROUTING PROTOCOLS</vt:lpstr>
      <vt:lpstr>20.3.1 Internet Structure</vt:lpstr>
      <vt:lpstr>20.3.2 Routing Information Protocol (RIP)</vt:lpstr>
      <vt:lpstr>Hop Count in RIP</vt:lpstr>
      <vt:lpstr>Forwarding Tables</vt:lpstr>
      <vt:lpstr>Forwarding Tables</vt:lpstr>
      <vt:lpstr>Forwarding Tables</vt:lpstr>
      <vt:lpstr>RIP Implementation</vt:lpstr>
      <vt:lpstr>RIP Messages</vt:lpstr>
      <vt:lpstr>RIP Messages</vt:lpstr>
      <vt:lpstr>RIP Algorithm</vt:lpstr>
      <vt:lpstr>Timers in RIP</vt:lpstr>
      <vt:lpstr>Timers in RIP</vt:lpstr>
      <vt:lpstr>Example 20.1</vt:lpstr>
      <vt:lpstr>PowerPoint Presentation</vt:lpstr>
      <vt:lpstr>PowerPoint Presentation</vt:lpstr>
      <vt:lpstr>v</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Hasan Shah</dc:creator>
  <cp:lastModifiedBy>Hasan Shah</cp:lastModifiedBy>
  <cp:revision>38</cp:revision>
  <dcterms:created xsi:type="dcterms:W3CDTF">2024-12-15T14:31:16Z</dcterms:created>
  <dcterms:modified xsi:type="dcterms:W3CDTF">2024-12-15T18:48:14Z</dcterms:modified>
</cp:coreProperties>
</file>