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28" r:id="rId1"/>
  </p:sldMasterIdLst>
  <p:notesMasterIdLst>
    <p:notesMasterId r:id="rId24"/>
  </p:notesMasterIdLst>
  <p:sldIdLst>
    <p:sldId id="369" r:id="rId2"/>
    <p:sldId id="365" r:id="rId3"/>
    <p:sldId id="366" r:id="rId4"/>
    <p:sldId id="444" r:id="rId5"/>
    <p:sldId id="281" r:id="rId6"/>
    <p:sldId id="370" r:id="rId7"/>
    <p:sldId id="371" r:id="rId8"/>
    <p:sldId id="438" r:id="rId9"/>
    <p:sldId id="439" r:id="rId10"/>
    <p:sldId id="440" r:id="rId11"/>
    <p:sldId id="441" r:id="rId12"/>
    <p:sldId id="443" r:id="rId13"/>
    <p:sldId id="375" r:id="rId14"/>
    <p:sldId id="377" r:id="rId15"/>
    <p:sldId id="378" r:id="rId16"/>
    <p:sldId id="379" r:id="rId17"/>
    <p:sldId id="380" r:id="rId18"/>
    <p:sldId id="381" r:id="rId19"/>
    <p:sldId id="382" r:id="rId20"/>
    <p:sldId id="383" r:id="rId21"/>
    <p:sldId id="447" r:id="rId22"/>
    <p:sldId id="445"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CC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79533" autoAdjust="0"/>
  </p:normalViewPr>
  <p:slideViewPr>
    <p:cSldViewPr>
      <p:cViewPr varScale="1">
        <p:scale>
          <a:sx n="52" d="100"/>
          <a:sy n="52" d="100"/>
        </p:scale>
        <p:origin x="17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E4092B-064B-4271-AAD3-873891B35511}" type="datetimeFigureOut">
              <a:rPr lang="en-US" smtClean="0"/>
              <a:t>2/21/2024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37B249-FFDE-4331-99D9-575410D40CE8}" type="slidenum">
              <a:rPr lang="en-US" smtClean="0"/>
              <a:t>‹#›</a:t>
            </a:fld>
            <a:endParaRPr lang="en-US"/>
          </a:p>
        </p:txBody>
      </p:sp>
    </p:spTree>
    <p:extLst>
      <p:ext uri="{BB962C8B-B14F-4D97-AF65-F5344CB8AC3E}">
        <p14:creationId xmlns:p14="http://schemas.microsoft.com/office/powerpoint/2010/main" val="31505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1</a:t>
            </a:fld>
            <a:endParaRPr lang="en-US"/>
          </a:p>
        </p:txBody>
      </p:sp>
    </p:spTree>
    <p:extLst>
      <p:ext uri="{BB962C8B-B14F-4D97-AF65-F5344CB8AC3E}">
        <p14:creationId xmlns:p14="http://schemas.microsoft.com/office/powerpoint/2010/main" val="187842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a:t>
            </a:r>
            <a:r>
              <a:rPr lang="en-US" baseline="0" dirty="0"/>
              <a:t> Crisis:1960</a:t>
            </a:r>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8</a:t>
            </a:fld>
            <a:endParaRPr lang="en-US"/>
          </a:p>
        </p:txBody>
      </p:sp>
    </p:spTree>
    <p:extLst>
      <p:ext uri="{BB962C8B-B14F-4D97-AF65-F5344CB8AC3E}">
        <p14:creationId xmlns:p14="http://schemas.microsoft.com/office/powerpoint/2010/main" val="80463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Construction is also sometimes known as “coding” or “programming.” “Coding” isn’t</a:t>
            </a:r>
          </a:p>
          <a:p>
            <a:r>
              <a:rPr lang="en-US" sz="1200" b="0" i="0" u="none" strike="noStrike" kern="1200" baseline="0" dirty="0">
                <a:solidFill>
                  <a:schemeClr val="tx1"/>
                </a:solidFill>
                <a:latin typeface="+mn-lt"/>
                <a:ea typeface="+mn-ea"/>
                <a:cs typeface="+mn-cs"/>
              </a:rPr>
              <a:t>really the best word because it implies the mechanical translation of a preexisting</a:t>
            </a:r>
          </a:p>
          <a:p>
            <a:r>
              <a:rPr lang="en-US" sz="1200" b="0" i="0" u="none" strike="noStrike" kern="1200" baseline="0" dirty="0">
                <a:solidFill>
                  <a:schemeClr val="tx1"/>
                </a:solidFill>
                <a:latin typeface="+mn-lt"/>
                <a:ea typeface="+mn-ea"/>
                <a:cs typeface="+mn-cs"/>
              </a:rPr>
              <a:t>design into a computer language; construction is not at all mechanical and involves</a:t>
            </a:r>
          </a:p>
          <a:p>
            <a:r>
              <a:rPr lang="en-US" sz="1200" b="0" i="0" u="none" strike="noStrike" kern="1200" baseline="0" dirty="0">
                <a:solidFill>
                  <a:schemeClr val="tx1"/>
                </a:solidFill>
                <a:latin typeface="+mn-lt"/>
                <a:ea typeface="+mn-ea"/>
                <a:cs typeface="+mn-cs"/>
              </a:rPr>
              <a:t>substantial creativity and judgment. Throughout the book, I use “programming” interchangeably</a:t>
            </a:r>
          </a:p>
          <a:p>
            <a:r>
              <a:rPr lang="en-US" sz="1200" b="0" i="0" u="none" strike="noStrike" kern="1200" baseline="0" dirty="0">
                <a:solidFill>
                  <a:schemeClr val="tx1"/>
                </a:solidFill>
                <a:latin typeface="+mn-lt"/>
                <a:ea typeface="+mn-ea"/>
                <a:cs typeface="+mn-cs"/>
              </a:rPr>
              <a:t>with “construction.”</a:t>
            </a:r>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10</a:t>
            </a:fld>
            <a:endParaRPr lang="en-US"/>
          </a:p>
        </p:txBody>
      </p:sp>
    </p:spTree>
    <p:extLst>
      <p:ext uri="{BB962C8B-B14F-4D97-AF65-F5344CB8AC3E}">
        <p14:creationId xmlns:p14="http://schemas.microsoft.com/office/powerpoint/2010/main" val="1758320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11</a:t>
            </a:fld>
            <a:endParaRPr lang="en-US"/>
          </a:p>
        </p:txBody>
      </p:sp>
    </p:spTree>
    <p:extLst>
      <p:ext uri="{BB962C8B-B14F-4D97-AF65-F5344CB8AC3E}">
        <p14:creationId xmlns:p14="http://schemas.microsoft.com/office/powerpoint/2010/main" val="2981682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r>
              <a:rPr lang="en-US" sz="1200" b="0" i="0" u="none" strike="noStrike" kern="1200" baseline="0" dirty="0">
                <a:solidFill>
                  <a:schemeClr val="tx1"/>
                </a:solidFill>
                <a:latin typeface="+mn-lt"/>
                <a:ea typeface="+mn-ea"/>
                <a:cs typeface="+mn-cs"/>
              </a:rPr>
              <a:t> construction typically takes 30 to 80 percent of the total time spent on a</a:t>
            </a:r>
          </a:p>
          <a:p>
            <a:r>
              <a:rPr lang="en-US" sz="1200" b="0" i="0" u="none" strike="noStrike" kern="1200" baseline="0" dirty="0">
                <a:solidFill>
                  <a:schemeClr val="tx1"/>
                </a:solidFill>
                <a:latin typeface="+mn-lt"/>
                <a:ea typeface="+mn-ea"/>
                <a:cs typeface="+mn-cs"/>
              </a:rPr>
              <a:t>project. Anything that takes up that much project time is bound to affect the success</a:t>
            </a:r>
          </a:p>
          <a:p>
            <a:r>
              <a:rPr lang="en-US" sz="1200" b="0" i="0" u="none" strike="noStrike" kern="1200" baseline="0" dirty="0">
                <a:solidFill>
                  <a:schemeClr val="tx1"/>
                </a:solidFill>
                <a:latin typeface="+mn-lt"/>
                <a:ea typeface="+mn-ea"/>
                <a:cs typeface="+mn-cs"/>
              </a:rPr>
              <a:t>of the project.</a:t>
            </a:r>
          </a:p>
          <a:p>
            <a:r>
              <a:rPr lang="en-US" dirty="0"/>
              <a:t>2.</a:t>
            </a:r>
            <a:r>
              <a:rPr lang="en-US" sz="1200" b="0" i="0" u="none" strike="noStrike" kern="1200" baseline="0" dirty="0">
                <a:solidFill>
                  <a:schemeClr val="tx1"/>
                </a:solidFill>
                <a:latin typeface="+mn-lt"/>
                <a:ea typeface="+mn-ea"/>
                <a:cs typeface="+mn-cs"/>
              </a:rPr>
              <a:t> Requirements and architecture are done before construction so that you can do construction effectively.</a:t>
            </a:r>
          </a:p>
          <a:p>
            <a:r>
              <a:rPr lang="en-US" sz="1200" b="0" i="0" u="none" strike="noStrike" kern="1200" baseline="0" dirty="0">
                <a:solidFill>
                  <a:schemeClr val="tx1"/>
                </a:solidFill>
                <a:latin typeface="+mn-lt"/>
                <a:ea typeface="+mn-ea"/>
                <a:cs typeface="+mn-cs"/>
              </a:rPr>
              <a:t>System testing (in the strict sense of independent testing) is done after construction</a:t>
            </a:r>
          </a:p>
          <a:p>
            <a:r>
              <a:rPr lang="en-US" sz="1200" b="0" i="0" u="none" strike="noStrike" kern="1200" baseline="0" dirty="0">
                <a:solidFill>
                  <a:schemeClr val="tx1"/>
                </a:solidFill>
                <a:latin typeface="+mn-lt"/>
                <a:ea typeface="+mn-ea"/>
                <a:cs typeface="+mn-cs"/>
              </a:rPr>
              <a:t>to verify that construction has been done correctly.</a:t>
            </a:r>
          </a:p>
          <a:p>
            <a:r>
              <a:rPr lang="en-US" sz="1200" b="0" i="0" u="none" strike="noStrike" kern="1200" baseline="0" dirty="0">
                <a:solidFill>
                  <a:schemeClr val="tx1"/>
                </a:solidFill>
                <a:latin typeface="+mn-lt"/>
                <a:ea typeface="+mn-ea"/>
                <a:cs typeface="+mn-cs"/>
              </a:rPr>
              <a:t>3.</a:t>
            </a:r>
            <a:r>
              <a:rPr lang="en-US" sz="1200" b="1" i="1"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With a focus on construction, the individual programmer’s productivity can improve</a:t>
            </a:r>
          </a:p>
          <a:p>
            <a:r>
              <a:rPr lang="en-US" sz="1200" b="0" i="1" u="none" strike="noStrike" kern="1200" baseline="0" dirty="0">
                <a:solidFill>
                  <a:schemeClr val="tx1"/>
                </a:solidFill>
                <a:latin typeface="+mn-lt"/>
                <a:ea typeface="+mn-ea"/>
                <a:cs typeface="+mn-cs"/>
              </a:rPr>
              <a:t>Enormously.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Sackman</a:t>
            </a:r>
            <a:r>
              <a:rPr lang="en-US" sz="1200" b="0" i="0" u="none" strike="noStrike" kern="1200" baseline="0" dirty="0">
                <a:solidFill>
                  <a:schemeClr val="tx1"/>
                </a:solidFill>
                <a:latin typeface="+mn-lt"/>
                <a:ea typeface="+mn-ea"/>
                <a:cs typeface="+mn-cs"/>
              </a:rPr>
              <a:t>, Erikson, and Grant</a:t>
            </a:r>
            <a:endParaRPr lang="en-US" b="0" dirty="0"/>
          </a:p>
        </p:txBody>
      </p:sp>
      <p:sp>
        <p:nvSpPr>
          <p:cNvPr id="4" name="Slide Number Placeholder 3"/>
          <p:cNvSpPr>
            <a:spLocks noGrp="1"/>
          </p:cNvSpPr>
          <p:nvPr>
            <p:ph type="sldNum" sz="quarter" idx="10"/>
          </p:nvPr>
        </p:nvSpPr>
        <p:spPr/>
        <p:txBody>
          <a:bodyPr/>
          <a:lstStyle/>
          <a:p>
            <a:fld id="{1337B249-FFDE-4331-99D9-575410D40CE8}" type="slidenum">
              <a:rPr lang="en-US" smtClean="0"/>
              <a:t>12</a:t>
            </a:fld>
            <a:endParaRPr lang="en-US"/>
          </a:p>
        </p:txBody>
      </p:sp>
    </p:spTree>
    <p:extLst>
      <p:ext uri="{BB962C8B-B14F-4D97-AF65-F5344CB8AC3E}">
        <p14:creationId xmlns:p14="http://schemas.microsoft.com/office/powerpoint/2010/main" val="250573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13</a:t>
            </a:fld>
            <a:endParaRPr lang="en-US"/>
          </a:p>
        </p:txBody>
      </p:sp>
    </p:spTree>
    <p:extLst>
      <p:ext uri="{BB962C8B-B14F-4D97-AF65-F5344CB8AC3E}">
        <p14:creationId xmlns:p14="http://schemas.microsoft.com/office/powerpoint/2010/main" val="3685242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Code reviews are </a:t>
            </a:r>
            <a:r>
              <a:rPr lang="en-US" sz="1200" b="1" i="0" kern="1200" dirty="0">
                <a:solidFill>
                  <a:schemeClr val="tx1"/>
                </a:solidFill>
                <a:effectLst/>
                <a:latin typeface="+mn-lt"/>
                <a:ea typeface="+mn-ea"/>
                <a:cs typeface="+mn-cs"/>
              </a:rPr>
              <a:t>methodical assessments of code designed to identify bugs, increase code quality, and help developers learn the source code</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18</a:t>
            </a:fld>
            <a:endParaRPr lang="en-US"/>
          </a:p>
        </p:txBody>
      </p:sp>
    </p:spTree>
    <p:extLst>
      <p:ext uri="{BB962C8B-B14F-4D97-AF65-F5344CB8AC3E}">
        <p14:creationId xmlns:p14="http://schemas.microsoft.com/office/powerpoint/2010/main" val="1438572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 is commonly used in embedded systems, 3D and visual design programs, game development and building operating systems or web browsers and portals. Python is a scripting language that is better being used in machine learning contexts, data analysis and backend web development</a:t>
            </a:r>
          </a:p>
          <a:p>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20</a:t>
            </a:fld>
            <a:endParaRPr lang="en-US"/>
          </a:p>
        </p:txBody>
      </p:sp>
    </p:spTree>
    <p:extLst>
      <p:ext uri="{BB962C8B-B14F-4D97-AF65-F5344CB8AC3E}">
        <p14:creationId xmlns:p14="http://schemas.microsoft.com/office/powerpoint/2010/main" val="383711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a:solidFill>
                  <a:schemeClr val="tx1"/>
                </a:solidFill>
                <a:latin typeface="+mn-lt"/>
                <a:ea typeface="+mn-ea"/>
                <a:cs typeface="+mn-cs"/>
              </a:rPr>
              <a:t>Chapter 4-Key </a:t>
            </a:r>
            <a:r>
              <a:rPr lang="en-US" sz="1200" b="1" i="0" u="none" strike="noStrike" kern="1200" baseline="0" dirty="0">
                <a:solidFill>
                  <a:schemeClr val="tx1"/>
                </a:solidFill>
                <a:latin typeface="+mn-lt"/>
                <a:ea typeface="+mn-ea"/>
                <a:cs typeface="+mn-cs"/>
              </a:rPr>
              <a:t>Construction Decisions . .</a:t>
            </a:r>
            <a:endParaRPr lang="en-US" dirty="0"/>
          </a:p>
        </p:txBody>
      </p:sp>
      <p:sp>
        <p:nvSpPr>
          <p:cNvPr id="4" name="Slide Number Placeholder 3"/>
          <p:cNvSpPr>
            <a:spLocks noGrp="1"/>
          </p:cNvSpPr>
          <p:nvPr>
            <p:ph type="sldNum" sz="quarter" idx="10"/>
          </p:nvPr>
        </p:nvSpPr>
        <p:spPr/>
        <p:txBody>
          <a:bodyPr/>
          <a:lstStyle/>
          <a:p>
            <a:fld id="{1337B249-FFDE-4331-99D9-575410D40CE8}" type="slidenum">
              <a:rPr lang="en-US" smtClean="0"/>
              <a:t>21</a:t>
            </a:fld>
            <a:endParaRPr lang="en-US"/>
          </a:p>
        </p:txBody>
      </p:sp>
    </p:spTree>
    <p:extLst>
      <p:ext uri="{BB962C8B-B14F-4D97-AF65-F5344CB8AC3E}">
        <p14:creationId xmlns:p14="http://schemas.microsoft.com/office/powerpoint/2010/main" val="2525627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D34E853-EC29-478A-B0A8-3B1216A1BC39}" type="slidenum">
              <a:rPr lang="en-US" smtClean="0"/>
              <a:pPr/>
              <a:t>‹#›</a:t>
            </a:fld>
            <a:endParaRPr lang="en-US"/>
          </a:p>
        </p:txBody>
      </p:sp>
    </p:spTree>
    <p:extLst>
      <p:ext uri="{BB962C8B-B14F-4D97-AF65-F5344CB8AC3E}">
        <p14:creationId xmlns:p14="http://schemas.microsoft.com/office/powerpoint/2010/main" val="538474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36B3-CFDB-47A9-8EE7-2AEB291FC032}" type="slidenum">
              <a:rPr lang="en-US" smtClean="0"/>
              <a:pPr/>
              <a:t>‹#›</a:t>
            </a:fld>
            <a:endParaRPr lang="en-US"/>
          </a:p>
        </p:txBody>
      </p:sp>
    </p:spTree>
    <p:extLst>
      <p:ext uri="{BB962C8B-B14F-4D97-AF65-F5344CB8AC3E}">
        <p14:creationId xmlns:p14="http://schemas.microsoft.com/office/powerpoint/2010/main" val="2632027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E909824-EC22-4BA4-9B1D-55B923D66FF6}" type="slidenum">
              <a:rPr lang="en-US" smtClean="0"/>
              <a:pPr/>
              <a:t>‹#›</a:t>
            </a:fld>
            <a:endParaRPr lang="en-US"/>
          </a:p>
        </p:txBody>
      </p:sp>
    </p:spTree>
    <p:extLst>
      <p:ext uri="{BB962C8B-B14F-4D97-AF65-F5344CB8AC3E}">
        <p14:creationId xmlns:p14="http://schemas.microsoft.com/office/powerpoint/2010/main" val="4064862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52C67-73E9-43B8-9A0F-C923AC934AA6}" type="slidenum">
              <a:rPr lang="en-US" smtClean="0"/>
              <a:pPr/>
              <a:t>‹#›</a:t>
            </a:fld>
            <a:endParaRPr lang="en-US"/>
          </a:p>
        </p:txBody>
      </p:sp>
    </p:spTree>
    <p:extLst>
      <p:ext uri="{BB962C8B-B14F-4D97-AF65-F5344CB8AC3E}">
        <p14:creationId xmlns:p14="http://schemas.microsoft.com/office/powerpoint/2010/main" val="201188103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9AE9CE-2BE5-4BDD-9A1D-B6829CE42DCF}" type="slidenum">
              <a:rPr lang="en-US" smtClean="0"/>
              <a:pPr/>
              <a:t>‹#›</a:t>
            </a:fld>
            <a:endParaRPr lang="en-US"/>
          </a:p>
        </p:txBody>
      </p:sp>
    </p:spTree>
    <p:extLst>
      <p:ext uri="{BB962C8B-B14F-4D97-AF65-F5344CB8AC3E}">
        <p14:creationId xmlns:p14="http://schemas.microsoft.com/office/powerpoint/2010/main" val="182946176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8037C0-DFD6-411D-AA8C-01A9E3021391}" type="slidenum">
              <a:rPr lang="en-US" smtClean="0"/>
              <a:pPr/>
              <a:t>‹#›</a:t>
            </a:fld>
            <a:endParaRPr lang="en-US"/>
          </a:p>
        </p:txBody>
      </p:sp>
    </p:spTree>
    <p:extLst>
      <p:ext uri="{BB962C8B-B14F-4D97-AF65-F5344CB8AC3E}">
        <p14:creationId xmlns:p14="http://schemas.microsoft.com/office/powerpoint/2010/main" val="149626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A2A712-5884-43B6-8E5D-EC8EE8571DD1}" type="slidenum">
              <a:rPr lang="en-US" smtClean="0"/>
              <a:pPr/>
              <a:t>‹#›</a:t>
            </a:fld>
            <a:endParaRPr lang="en-US"/>
          </a:p>
        </p:txBody>
      </p:sp>
    </p:spTree>
    <p:extLst>
      <p:ext uri="{BB962C8B-B14F-4D97-AF65-F5344CB8AC3E}">
        <p14:creationId xmlns:p14="http://schemas.microsoft.com/office/powerpoint/2010/main" val="3282223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427F585-6F4C-4FA2-81B6-940661BABF70}" type="slidenum">
              <a:rPr lang="en-US" smtClean="0"/>
              <a:pPr/>
              <a:t>‹#›</a:t>
            </a:fld>
            <a:endParaRPr lang="en-US"/>
          </a:p>
        </p:txBody>
      </p:sp>
    </p:spTree>
    <p:extLst>
      <p:ext uri="{BB962C8B-B14F-4D97-AF65-F5344CB8AC3E}">
        <p14:creationId xmlns:p14="http://schemas.microsoft.com/office/powerpoint/2010/main" val="168668801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29E78-1F3F-4000-B02D-3C9776966D26}" type="slidenum">
              <a:rPr lang="en-US" smtClean="0"/>
              <a:pPr/>
              <a:t>‹#›</a:t>
            </a:fld>
            <a:endParaRPr lang="en-US"/>
          </a:p>
        </p:txBody>
      </p:sp>
    </p:spTree>
    <p:extLst>
      <p:ext uri="{BB962C8B-B14F-4D97-AF65-F5344CB8AC3E}">
        <p14:creationId xmlns:p14="http://schemas.microsoft.com/office/powerpoint/2010/main" val="2545577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99A0D8-08A5-4468-A5F5-0E3BAD78FB35}" type="slidenum">
              <a:rPr lang="en-US" smtClean="0"/>
              <a:pPr/>
              <a:t>‹#›</a:t>
            </a:fld>
            <a:endParaRPr lang="en-US"/>
          </a:p>
        </p:txBody>
      </p:sp>
    </p:spTree>
    <p:extLst>
      <p:ext uri="{BB962C8B-B14F-4D97-AF65-F5344CB8AC3E}">
        <p14:creationId xmlns:p14="http://schemas.microsoft.com/office/powerpoint/2010/main" val="403031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695D958-4D3C-4DE9-82F4-717ED988C4E9}" type="slidenum">
              <a:rPr lang="en-US" smtClean="0"/>
              <a:pPr/>
              <a:t>‹#›</a:t>
            </a:fld>
            <a:endParaRPr lang="en-US"/>
          </a:p>
        </p:txBody>
      </p:sp>
    </p:spTree>
    <p:extLst>
      <p:ext uri="{BB962C8B-B14F-4D97-AF65-F5344CB8AC3E}">
        <p14:creationId xmlns:p14="http://schemas.microsoft.com/office/powerpoint/2010/main" val="982247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6B4206D-868C-4990-97B7-47C6456724A8}" type="slidenum">
              <a:rPr lang="en-US" smtClean="0"/>
              <a:pPr/>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41428406"/>
      </p:ext>
    </p:extLst>
  </p:cSld>
  <p:clrMap bg1="lt1" tx1="dk1" bg2="lt2" tx2="dk2" accent1="accent1" accent2="accent2" accent3="accent3" accent4="accent4" accent5="accent5" accent6="accent6" hlink="hlink" folHlink="folHlink"/>
  <p:sldLayoutIdLst>
    <p:sldLayoutId id="2147484329" r:id="rId1"/>
    <p:sldLayoutId id="2147484330" r:id="rId2"/>
    <p:sldLayoutId id="2147484331" r:id="rId3"/>
    <p:sldLayoutId id="2147484332" r:id="rId4"/>
    <p:sldLayoutId id="2147484333" r:id="rId5"/>
    <p:sldLayoutId id="2147484334" r:id="rId6"/>
    <p:sldLayoutId id="2147484335" r:id="rId7"/>
    <p:sldLayoutId id="2147484336" r:id="rId8"/>
    <p:sldLayoutId id="2147484337" r:id="rId9"/>
    <p:sldLayoutId id="2147484338" r:id="rId10"/>
    <p:sldLayoutId id="214748433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057400"/>
            <a:ext cx="7696200" cy="2819400"/>
          </a:xfrm>
        </p:spPr>
        <p:txBody>
          <a:bodyPr>
            <a:noAutofit/>
          </a:bodyPr>
          <a:lstStyle/>
          <a:p>
            <a:r>
              <a:rPr lang="en-US" sz="5400" b="1" dirty="0">
                <a:solidFill>
                  <a:schemeClr val="tx1">
                    <a:lumMod val="65000"/>
                    <a:lumOff val="35000"/>
                  </a:schemeClr>
                </a:solidFill>
              </a:rPr>
              <a:t>Software Construction and Development</a:t>
            </a:r>
          </a:p>
        </p:txBody>
      </p:sp>
      <p:pic>
        <p:nvPicPr>
          <p:cNvPr id="5" name="Picture 4"/>
          <p:cNvPicPr>
            <a:picLocks noChangeAspect="1"/>
          </p:cNvPicPr>
          <p:nvPr/>
        </p:nvPicPr>
        <p:blipFill>
          <a:blip r:embed="rId3"/>
          <a:stretch>
            <a:fillRect/>
          </a:stretch>
        </p:blipFill>
        <p:spPr>
          <a:xfrm>
            <a:off x="100012" y="4876800"/>
            <a:ext cx="8715375" cy="17555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229600" cy="1143000"/>
          </a:xfrm>
        </p:spPr>
        <p:txBody>
          <a:bodyPr vert="horz" lIns="91440" tIns="45720" rIns="91440" bIns="45720" rtlCol="0" anchor="t">
            <a:noAutofit/>
          </a:bodyPr>
          <a:lstStyle/>
          <a:p>
            <a:pPr algn="ctr"/>
            <a:r>
              <a:rPr lang="en-US" sz="4800" dirty="0"/>
              <a:t>Today’s Agenda</a:t>
            </a:r>
          </a:p>
        </p:txBody>
      </p:sp>
      <p:sp>
        <p:nvSpPr>
          <p:cNvPr id="3" name="Content Placeholder 2"/>
          <p:cNvSpPr>
            <a:spLocks noGrp="1"/>
          </p:cNvSpPr>
          <p:nvPr>
            <p:ph idx="1"/>
          </p:nvPr>
        </p:nvSpPr>
        <p:spPr>
          <a:xfrm>
            <a:off x="838200" y="1752600"/>
            <a:ext cx="7010400" cy="4721352"/>
          </a:xfrm>
        </p:spPr>
        <p:txBody>
          <a:bodyPr>
            <a:normAutofit/>
          </a:bodyPr>
          <a:lstStyle/>
          <a:p>
            <a:pPr>
              <a:lnSpc>
                <a:spcPct val="200000"/>
              </a:lnSpc>
            </a:pPr>
            <a:r>
              <a:rPr lang="en-US" sz="3600" dirty="0"/>
              <a:t>Introduction to the Course</a:t>
            </a:r>
          </a:p>
          <a:p>
            <a:pPr>
              <a:lnSpc>
                <a:spcPct val="200000"/>
              </a:lnSpc>
            </a:pPr>
            <a:r>
              <a:rPr lang="en-US" sz="3600" dirty="0"/>
              <a:t>Objectives of the course</a:t>
            </a:r>
          </a:p>
          <a:p>
            <a:pPr>
              <a:lnSpc>
                <a:spcPct val="200000"/>
              </a:lnSpc>
            </a:pPr>
            <a:r>
              <a:rPr lang="en-US" sz="3600" dirty="0"/>
              <a:t>Basic Concepts</a:t>
            </a:r>
          </a:p>
          <a:p>
            <a:pPr>
              <a:lnSpc>
                <a:spcPct val="200000"/>
              </a:lnSpc>
            </a:pP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t">
            <a:noAutofit/>
          </a:bodyPr>
          <a:lstStyle/>
          <a:p>
            <a:pPr algn="ctr"/>
            <a:r>
              <a:rPr lang="en-US" sz="4800" dirty="0"/>
              <a:t>Course Introduction</a:t>
            </a:r>
          </a:p>
        </p:txBody>
      </p:sp>
      <p:sp>
        <p:nvSpPr>
          <p:cNvPr id="3" name="Content Placeholder 2"/>
          <p:cNvSpPr>
            <a:spLocks noGrp="1"/>
          </p:cNvSpPr>
          <p:nvPr>
            <p:ph idx="1"/>
          </p:nvPr>
        </p:nvSpPr>
        <p:spPr>
          <a:xfrm>
            <a:off x="609600" y="3276600"/>
            <a:ext cx="8382000" cy="3044952"/>
          </a:xfrm>
        </p:spPr>
        <p:txBody>
          <a:bodyPr>
            <a:normAutofit fontScale="92500" lnSpcReduction="20000"/>
          </a:bodyPr>
          <a:lstStyle/>
          <a:p>
            <a:pPr>
              <a:lnSpc>
                <a:spcPct val="200000"/>
              </a:lnSpc>
            </a:pPr>
            <a:r>
              <a:rPr lang="en-US" sz="3200" b="1" dirty="0">
                <a:solidFill>
                  <a:srgbClr val="002060"/>
                </a:solidFill>
                <a:latin typeface="Times New Roman" panose="02020603050405020304" pitchFamily="18" charset="0"/>
                <a:cs typeface="Times New Roman" panose="02020603050405020304" pitchFamily="18" charset="0"/>
              </a:rPr>
              <a:t>Course Title:</a:t>
            </a:r>
            <a:r>
              <a:rPr lang="en-US" sz="3200" dirty="0">
                <a:solidFill>
                  <a:srgbClr val="002060"/>
                </a:solidFill>
                <a:latin typeface="Times New Roman" panose="02020603050405020304" pitchFamily="18" charset="0"/>
                <a:cs typeface="Times New Roman" panose="02020603050405020304" pitchFamily="18" charset="0"/>
              </a:rPr>
              <a:t> </a:t>
            </a:r>
            <a:r>
              <a:rPr lang="en-US" sz="3200" dirty="0">
                <a:solidFill>
                  <a:schemeClr val="tx1">
                    <a:lumMod val="75000"/>
                    <a:lumOff val="25000"/>
                  </a:schemeClr>
                </a:solidFill>
                <a:latin typeface="Times New Roman" panose="02020603050405020304" pitchFamily="18" charset="0"/>
                <a:cs typeface="Times New Roman" panose="02020603050405020304" pitchFamily="18" charset="0"/>
              </a:rPr>
              <a:t>Software Construction &amp; Dev</a:t>
            </a:r>
          </a:p>
          <a:p>
            <a:pPr>
              <a:lnSpc>
                <a:spcPct val="200000"/>
              </a:lnSpc>
            </a:pPr>
            <a:r>
              <a:rPr lang="en-US" sz="3200" b="1" dirty="0">
                <a:solidFill>
                  <a:srgbClr val="002060"/>
                </a:solidFill>
                <a:latin typeface="Times New Roman" panose="02020603050405020304" pitchFamily="18" charset="0"/>
                <a:cs typeface="Times New Roman" panose="02020603050405020304" pitchFamily="18" charset="0"/>
              </a:rPr>
              <a:t>Total Credits:</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a:solidFill>
                  <a:schemeClr val="accent2">
                    <a:lumMod val="50000"/>
                  </a:schemeClr>
                </a:solidFill>
                <a:latin typeface="Times New Roman" panose="02020603050405020304" pitchFamily="18" charset="0"/>
                <a:cs typeface="Times New Roman" panose="02020603050405020304" pitchFamily="18" charset="0"/>
              </a:rPr>
              <a:t>2+1</a:t>
            </a:r>
            <a:r>
              <a:rPr lang="en-US" sz="3200" b="1" dirty="0">
                <a:solidFill>
                  <a:srgbClr val="C00000"/>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Credits </a:t>
            </a:r>
          </a:p>
          <a:p>
            <a:pPr>
              <a:lnSpc>
                <a:spcPct val="200000"/>
              </a:lnSpc>
            </a:pPr>
            <a:r>
              <a:rPr lang="en-US" sz="3200" b="1" dirty="0">
                <a:solidFill>
                  <a:srgbClr val="002060"/>
                </a:solidFill>
                <a:latin typeface="Times New Roman" panose="02020603050405020304" pitchFamily="18" charset="0"/>
                <a:cs typeface="Times New Roman" panose="02020603050405020304" pitchFamily="18" charset="0"/>
              </a:rPr>
              <a:t>Pre-requisite: </a:t>
            </a:r>
            <a:r>
              <a:rPr lang="en-US" sz="3200" dirty="0">
                <a:latin typeface="Times New Roman" panose="02020603050405020304" pitchFamily="18" charset="0"/>
                <a:cs typeface="Times New Roman" panose="02020603050405020304" pitchFamily="18" charset="0"/>
              </a:rPr>
              <a:t>Software Design &amp; Architecture</a:t>
            </a:r>
          </a:p>
          <a:p>
            <a:pPr lvl="1">
              <a:lnSpc>
                <a:spcPct val="200000"/>
              </a:lnSpc>
              <a:buNone/>
            </a:pPr>
            <a:endParaRPr lang="en-US" sz="3200" dirty="0"/>
          </a:p>
          <a:p>
            <a:pPr>
              <a:lnSpc>
                <a:spcPct val="200000"/>
              </a:lnSpc>
              <a:buNone/>
            </a:pPr>
            <a:endParaRPr lang="en-US" sz="3200" dirty="0"/>
          </a:p>
        </p:txBody>
      </p:sp>
    </p:spTree>
    <p:extLst>
      <p:ext uri="{BB962C8B-B14F-4D97-AF65-F5344CB8AC3E}">
        <p14:creationId xmlns:p14="http://schemas.microsoft.com/office/powerpoint/2010/main" val="150433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Classroom Code</a:t>
            </a:r>
          </a:p>
        </p:txBody>
      </p:sp>
      <p:sp>
        <p:nvSpPr>
          <p:cNvPr id="3" name="Content Placeholder 2"/>
          <p:cNvSpPr>
            <a:spLocks noGrp="1"/>
          </p:cNvSpPr>
          <p:nvPr>
            <p:ph idx="1"/>
          </p:nvPr>
        </p:nvSpPr>
        <p:spPr>
          <a:xfrm>
            <a:off x="762000" y="2057400"/>
            <a:ext cx="7200900" cy="3581400"/>
          </a:xfrm>
        </p:spPr>
        <p:txBody>
          <a:bodyPr/>
          <a:lstStyle/>
          <a:p>
            <a:pPr marL="0" indent="0" algn="ctr">
              <a:buNone/>
            </a:pPr>
            <a:r>
              <a:rPr lang="en-US" sz="4000" b="0" i="0">
                <a:solidFill>
                  <a:srgbClr val="137333"/>
                </a:solidFill>
                <a:effectLst/>
                <a:latin typeface="Google Sans Display"/>
              </a:rPr>
              <a:t>dng2ek4</a:t>
            </a:r>
            <a:endParaRPr lang="en-US" sz="4000" dirty="0"/>
          </a:p>
        </p:txBody>
      </p:sp>
    </p:spTree>
    <p:extLst>
      <p:ext uri="{BB962C8B-B14F-4D97-AF65-F5344CB8AC3E}">
        <p14:creationId xmlns:p14="http://schemas.microsoft.com/office/powerpoint/2010/main" val="2974345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2133600"/>
            <a:ext cx="7467600" cy="4267200"/>
          </a:xfrm>
        </p:spPr>
        <p:txBody>
          <a:bodyPr>
            <a:noAutofit/>
          </a:bodyPr>
          <a:lstStyle/>
          <a:p>
            <a:r>
              <a:rPr lang="en-US" sz="2800" b="1" dirty="0">
                <a:solidFill>
                  <a:srgbClr val="002060"/>
                </a:solidFill>
              </a:rPr>
              <a:t>CLO 1:</a:t>
            </a:r>
            <a:r>
              <a:rPr lang="en-US" sz="2800" dirty="0"/>
              <a:t>Understand the role of design and its major activities within the OO software development process. </a:t>
            </a:r>
            <a:r>
              <a:rPr lang="en-US" dirty="0"/>
              <a:t>	</a:t>
            </a:r>
          </a:p>
          <a:p>
            <a:r>
              <a:rPr lang="en-US" sz="2800" b="1" dirty="0">
                <a:solidFill>
                  <a:srgbClr val="002060"/>
                </a:solidFill>
              </a:rPr>
              <a:t>CLO 2:</a:t>
            </a:r>
            <a:r>
              <a:rPr lang="en-US" sz="2800" dirty="0"/>
              <a:t>Develop Object-oriented design models and refine them to reflect implementation details 	</a:t>
            </a:r>
          </a:p>
          <a:p>
            <a:r>
              <a:rPr lang="en-US" sz="2800" b="1" dirty="0">
                <a:solidFill>
                  <a:srgbClr val="002060"/>
                </a:solidFill>
              </a:rPr>
              <a:t>CLO 3:</a:t>
            </a:r>
            <a:r>
              <a:rPr lang="en-US" sz="2800" dirty="0"/>
              <a:t>Understand bad and good code practices </a:t>
            </a:r>
            <a:r>
              <a:rPr lang="en-US" dirty="0"/>
              <a:t>	</a:t>
            </a:r>
          </a:p>
          <a:p>
            <a:endParaRPr lang="en-US" sz="2800" dirty="0"/>
          </a:p>
        </p:txBody>
      </p:sp>
      <p:sp>
        <p:nvSpPr>
          <p:cNvPr id="6" name="Title 1">
            <a:extLst>
              <a:ext uri="{FF2B5EF4-FFF2-40B4-BE49-F238E27FC236}">
                <a16:creationId xmlns:a16="http://schemas.microsoft.com/office/drawing/2014/main" id="{5D640CFB-D6C1-4470-AEB8-93DB54D7F345}"/>
              </a:ext>
            </a:extLst>
          </p:cNvPr>
          <p:cNvSpPr txBox="1">
            <a:spLocks/>
          </p:cNvSpPr>
          <p:nvPr/>
        </p:nvSpPr>
        <p:spPr>
          <a:xfrm>
            <a:off x="914400" y="457200"/>
            <a:ext cx="7467600" cy="1143000"/>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sz="4400" dirty="0">
                <a:solidFill>
                  <a:schemeClr val="bg1"/>
                </a:solidFill>
              </a:rPr>
              <a:t>Course Learning Outcomes</a:t>
            </a:r>
          </a:p>
        </p:txBody>
      </p:sp>
    </p:spTree>
    <p:extLst>
      <p:ext uri="{BB962C8B-B14F-4D97-AF65-F5344CB8AC3E}">
        <p14:creationId xmlns:p14="http://schemas.microsoft.com/office/powerpoint/2010/main" val="222454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956" y="762000"/>
            <a:ext cx="7989752" cy="1083329"/>
          </a:xfrm>
        </p:spPr>
        <p:txBody>
          <a:bodyPr>
            <a:normAutofit/>
          </a:bodyPr>
          <a:lstStyle/>
          <a:p>
            <a:r>
              <a:rPr lang="en-US" sz="4400" dirty="0"/>
              <a:t>Recommended BOOKS</a:t>
            </a:r>
          </a:p>
        </p:txBody>
      </p:sp>
      <p:sp>
        <p:nvSpPr>
          <p:cNvPr id="3" name="Content Placeholder 2"/>
          <p:cNvSpPr>
            <a:spLocks noGrp="1"/>
          </p:cNvSpPr>
          <p:nvPr>
            <p:ph idx="1"/>
          </p:nvPr>
        </p:nvSpPr>
        <p:spPr>
          <a:xfrm>
            <a:off x="457200" y="1676400"/>
            <a:ext cx="7989752" cy="3630795"/>
          </a:xfrm>
        </p:spPr>
        <p:txBody>
          <a:bodyPr>
            <a:normAutofit/>
          </a:bodyPr>
          <a:lstStyle/>
          <a:p>
            <a:pPr lvl="0"/>
            <a:r>
              <a:rPr lang="en-US" sz="2800" dirty="0"/>
              <a:t>Code Complete 2</a:t>
            </a:r>
            <a:r>
              <a:rPr lang="en-US" sz="2800" baseline="30000" dirty="0"/>
              <a:t>nd</a:t>
            </a:r>
            <a:r>
              <a:rPr lang="en-US" sz="2800" dirty="0"/>
              <a:t> edition: A practical handbook of software construction, published by Microsoft Press, 2004</a:t>
            </a:r>
          </a:p>
          <a:p>
            <a:pPr lvl="0"/>
            <a:r>
              <a:rPr lang="en-US" sz="2800" dirty="0"/>
              <a:t>Clean Code by Robert C Martin</a:t>
            </a:r>
          </a:p>
          <a:p>
            <a:pPr lvl="0"/>
            <a:r>
              <a:rPr lang="en-US" sz="2800" dirty="0"/>
              <a:t>Software Engineering by Ian </a:t>
            </a:r>
            <a:r>
              <a:rPr lang="en-US" sz="2800" dirty="0" err="1"/>
              <a:t>Sommerville</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Grading scheme</a:t>
            </a:r>
          </a:p>
        </p:txBody>
      </p:sp>
      <p:sp>
        <p:nvSpPr>
          <p:cNvPr id="3" name="Content Placeholder 2"/>
          <p:cNvSpPr>
            <a:spLocks noGrp="1"/>
          </p:cNvSpPr>
          <p:nvPr>
            <p:ph idx="1"/>
          </p:nvPr>
        </p:nvSpPr>
        <p:spPr/>
        <p:txBody>
          <a:bodyPr/>
          <a:lstStyle/>
          <a:p>
            <a:r>
              <a:rPr lang="en-US" sz="3200" dirty="0"/>
              <a:t>Quizess-10%</a:t>
            </a:r>
          </a:p>
          <a:p>
            <a:r>
              <a:rPr lang="en-US" sz="3200" dirty="0"/>
              <a:t>Assignments -10%</a:t>
            </a:r>
          </a:p>
          <a:p>
            <a:r>
              <a:rPr lang="en-US" sz="3200" dirty="0"/>
              <a:t>Presentation-5%</a:t>
            </a:r>
          </a:p>
          <a:p>
            <a:r>
              <a:rPr lang="en-US" sz="3200" dirty="0"/>
              <a:t>Mids-25%</a:t>
            </a:r>
          </a:p>
          <a:p>
            <a:r>
              <a:rPr lang="en-US" sz="3200" dirty="0"/>
              <a:t>Finals-50%</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760615"/>
          </a:xfrm>
        </p:spPr>
        <p:txBody>
          <a:bodyPr>
            <a:normAutofit/>
          </a:bodyPr>
          <a:lstStyle/>
          <a:p>
            <a:r>
              <a:rPr lang="en-US"/>
              <a:t> Software Development </a:t>
            </a:r>
            <a:endParaRPr lang="en-US" dirty="0"/>
          </a:p>
        </p:txBody>
      </p:sp>
      <p:sp>
        <p:nvSpPr>
          <p:cNvPr id="3" name="Content Placeholder 2"/>
          <p:cNvSpPr>
            <a:spLocks noGrp="1"/>
          </p:cNvSpPr>
          <p:nvPr>
            <p:ph idx="1"/>
          </p:nvPr>
        </p:nvSpPr>
        <p:spPr>
          <a:xfrm>
            <a:off x="685800" y="1950098"/>
            <a:ext cx="7886700" cy="4876800"/>
          </a:xfrm>
        </p:spPr>
        <p:txBody>
          <a:bodyPr>
            <a:noAutofit/>
          </a:bodyPr>
          <a:lstStyle/>
          <a:p>
            <a:pPr marL="0" indent="0">
              <a:buNone/>
            </a:pPr>
            <a:r>
              <a:rPr lang="en-US" dirty="0"/>
              <a:t>Developing computer software can be a complicated process, and in the last 25 years, researchers have identified numerous distinct activities that go into software development. They</a:t>
            </a:r>
            <a:r>
              <a:rPr lang="en-US" sz="1800" dirty="0"/>
              <a:t> include</a:t>
            </a:r>
          </a:p>
          <a:p>
            <a:pPr marL="0" indent="0">
              <a:buNone/>
            </a:pPr>
            <a:r>
              <a:rPr lang="en-US" sz="1800" dirty="0"/>
              <a:t>■ Problem definition</a:t>
            </a:r>
          </a:p>
          <a:p>
            <a:pPr marL="0" indent="0">
              <a:buNone/>
            </a:pPr>
            <a:r>
              <a:rPr lang="en-US" sz="1800" dirty="0"/>
              <a:t>■ Requirements development</a:t>
            </a:r>
          </a:p>
          <a:p>
            <a:pPr marL="0" indent="0">
              <a:buNone/>
            </a:pPr>
            <a:r>
              <a:rPr lang="en-US" sz="1800" dirty="0"/>
              <a:t>■ Construction planning</a:t>
            </a:r>
          </a:p>
          <a:p>
            <a:pPr marL="0" indent="0">
              <a:buNone/>
            </a:pPr>
            <a:r>
              <a:rPr lang="en-US" sz="1800" dirty="0"/>
              <a:t>■ Software architecture, or high-level design</a:t>
            </a:r>
          </a:p>
          <a:p>
            <a:pPr marL="0" indent="0">
              <a:buNone/>
            </a:pPr>
            <a:r>
              <a:rPr lang="en-US" sz="1800" dirty="0"/>
              <a:t>■ Detailed design</a:t>
            </a:r>
          </a:p>
          <a:p>
            <a:pPr marL="0" indent="0">
              <a:buNone/>
            </a:pPr>
            <a:r>
              <a:rPr lang="en-US" sz="1800" dirty="0"/>
              <a:t>■ Coding and debugging</a:t>
            </a:r>
          </a:p>
          <a:p>
            <a:pPr marL="0" indent="0">
              <a:buNone/>
            </a:pPr>
            <a:r>
              <a:rPr lang="en-US" sz="1800" dirty="0"/>
              <a:t>■ Unit testing</a:t>
            </a:r>
          </a:p>
          <a:p>
            <a:pPr marL="0" indent="0">
              <a:buNone/>
            </a:pPr>
            <a:r>
              <a:rPr lang="en-US" sz="1800" dirty="0"/>
              <a:t>■ Integration</a:t>
            </a:r>
          </a:p>
          <a:p>
            <a:pPr marL="0" indent="0">
              <a:buNone/>
            </a:pPr>
            <a:r>
              <a:rPr lang="en-US" sz="1800" dirty="0"/>
              <a:t>■ System testing</a:t>
            </a:r>
          </a:p>
          <a:p>
            <a:pPr marL="0" indent="0">
              <a:buNone/>
            </a:pPr>
            <a:r>
              <a:rPr lang="en-US" sz="1800" dirty="0"/>
              <a:t>■ </a:t>
            </a:r>
            <a:r>
              <a:rPr lang="en-US" dirty="0"/>
              <a:t>M</a:t>
            </a:r>
            <a:r>
              <a:rPr lang="en-US" sz="1800" dirty="0"/>
              <a:t>aintenance</a:t>
            </a:r>
          </a:p>
        </p:txBody>
      </p:sp>
      <p:pic>
        <p:nvPicPr>
          <p:cNvPr id="7" name="Picture 6"/>
          <p:cNvPicPr>
            <a:picLocks noChangeAspect="1"/>
          </p:cNvPicPr>
          <p:nvPr/>
        </p:nvPicPr>
        <p:blipFill>
          <a:blip r:embed="rId3"/>
          <a:stretch>
            <a:fillRect/>
          </a:stretch>
        </p:blipFill>
        <p:spPr>
          <a:xfrm>
            <a:off x="5334000" y="2438400"/>
            <a:ext cx="3700096" cy="2895600"/>
          </a:xfrm>
          <a:prstGeom prst="rect">
            <a:avLst/>
          </a:prstGeom>
        </p:spPr>
      </p:pic>
    </p:spTree>
    <p:extLst>
      <p:ext uri="{BB962C8B-B14F-4D97-AF65-F5344CB8AC3E}">
        <p14:creationId xmlns:p14="http://schemas.microsoft.com/office/powerpoint/2010/main" val="2121424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CONSTRUCTION ACTIVITIES</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432096" y="1905000"/>
            <a:ext cx="8287944" cy="4953000"/>
          </a:xfrm>
          <a:prstGeom prst="rect">
            <a:avLst/>
          </a:prstGeom>
        </p:spPr>
      </p:pic>
    </p:spTree>
    <p:extLst>
      <p:ext uri="{BB962C8B-B14F-4D97-AF65-F5344CB8AC3E}">
        <p14:creationId xmlns:p14="http://schemas.microsoft.com/office/powerpoint/2010/main" val="126014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Software </a:t>
            </a:r>
            <a:r>
              <a:rPr lang="en-US" sz="4000" dirty="0" err="1"/>
              <a:t>cOnstruction</a:t>
            </a:r>
            <a:endParaRPr lang="en-US" sz="4000" dirty="0"/>
          </a:p>
        </p:txBody>
      </p:sp>
      <p:sp>
        <p:nvSpPr>
          <p:cNvPr id="3" name="Content Placeholder 2"/>
          <p:cNvSpPr>
            <a:spLocks noGrp="1"/>
          </p:cNvSpPr>
          <p:nvPr>
            <p:ph idx="1"/>
          </p:nvPr>
        </p:nvSpPr>
        <p:spPr>
          <a:xfrm>
            <a:off x="581192" y="2228003"/>
            <a:ext cx="7989752" cy="2115397"/>
          </a:xfrm>
        </p:spPr>
        <p:txBody>
          <a:bodyPr>
            <a:normAutofit/>
          </a:bodyPr>
          <a:lstStyle/>
          <a:p>
            <a:r>
              <a:rPr lang="en-US" sz="2400" b="1" dirty="0"/>
              <a:t>As the figure indicates</a:t>
            </a:r>
            <a:r>
              <a:rPr lang="en-US" sz="2400" b="1" i="1" dirty="0"/>
              <a:t>, </a:t>
            </a:r>
            <a:r>
              <a:rPr lang="en-US" sz="2400" b="1" i="1" dirty="0">
                <a:solidFill>
                  <a:srgbClr val="990000"/>
                </a:solidFill>
              </a:rPr>
              <a:t>construction is mostly coding and debugging</a:t>
            </a:r>
            <a:r>
              <a:rPr lang="en-US" sz="2400" b="1" i="1" dirty="0"/>
              <a:t> </a:t>
            </a:r>
            <a:r>
              <a:rPr lang="en-US" sz="2400" b="1" dirty="0"/>
              <a:t>but also involves detailed design, construction planning, unit testing, integration, integration testing, and other activities</a:t>
            </a:r>
            <a:r>
              <a:rPr lang="en-US" sz="2400" b="1" i="1" dirty="0"/>
              <a:t>.</a:t>
            </a:r>
          </a:p>
        </p:txBody>
      </p:sp>
    </p:spTree>
    <p:extLst>
      <p:ext uri="{BB962C8B-B14F-4D97-AF65-F5344CB8AC3E}">
        <p14:creationId xmlns:p14="http://schemas.microsoft.com/office/powerpoint/2010/main" val="129498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construction</a:t>
            </a:r>
          </a:p>
        </p:txBody>
      </p:sp>
      <p:sp>
        <p:nvSpPr>
          <p:cNvPr id="3" name="Content Placeholder 2"/>
          <p:cNvSpPr>
            <a:spLocks noGrp="1"/>
          </p:cNvSpPr>
          <p:nvPr>
            <p:ph idx="1"/>
          </p:nvPr>
        </p:nvSpPr>
        <p:spPr>
          <a:xfrm>
            <a:off x="304800" y="2133600"/>
            <a:ext cx="8267700" cy="4572000"/>
          </a:xfrm>
        </p:spPr>
        <p:txBody>
          <a:bodyPr>
            <a:normAutofit fontScale="92500"/>
          </a:bodyPr>
          <a:lstStyle/>
          <a:p>
            <a:pPr marL="0" indent="0">
              <a:buNone/>
            </a:pPr>
            <a:r>
              <a:rPr lang="en-US" b="1" dirty="0"/>
              <a:t>Here</a:t>
            </a:r>
            <a:r>
              <a:rPr lang="en-US" dirty="0"/>
              <a:t> are some of the specific tasks involved in construction:</a:t>
            </a:r>
          </a:p>
          <a:p>
            <a:pPr marL="0" indent="0">
              <a:buNone/>
            </a:pPr>
            <a:r>
              <a:rPr lang="en-US" dirty="0"/>
              <a:t>Verifying that the groundwork has been laid so that construction can proceed successfully</a:t>
            </a:r>
          </a:p>
          <a:p>
            <a:pPr marL="0" indent="0">
              <a:buNone/>
            </a:pPr>
            <a:r>
              <a:rPr lang="en-US" dirty="0"/>
              <a:t>■ Determining how your code will be tested</a:t>
            </a:r>
          </a:p>
          <a:p>
            <a:pPr marL="0" indent="0">
              <a:buNone/>
            </a:pPr>
            <a:r>
              <a:rPr lang="en-US" dirty="0"/>
              <a:t>■ Designing and writing classes and routines</a:t>
            </a:r>
          </a:p>
          <a:p>
            <a:pPr marL="0" indent="0">
              <a:buNone/>
            </a:pPr>
            <a:r>
              <a:rPr lang="en-US" dirty="0"/>
              <a:t>■ Creating and naming variables and named constants</a:t>
            </a:r>
          </a:p>
          <a:p>
            <a:pPr marL="0" indent="0">
              <a:buNone/>
            </a:pPr>
            <a:r>
              <a:rPr lang="en-US" dirty="0"/>
              <a:t>■ Selecting control structures and organizing blocks of statements</a:t>
            </a:r>
          </a:p>
          <a:p>
            <a:pPr marL="0" indent="0">
              <a:buNone/>
            </a:pPr>
            <a:r>
              <a:rPr lang="en-US" dirty="0"/>
              <a:t>■ Unit testing, integration testing, and debugging your own code</a:t>
            </a:r>
          </a:p>
          <a:p>
            <a:pPr marL="0" indent="0">
              <a:buNone/>
            </a:pPr>
            <a:r>
              <a:rPr lang="en-US" dirty="0"/>
              <a:t>■ Reviewing other team members’ low-level designs and code and having them review yours</a:t>
            </a:r>
          </a:p>
          <a:p>
            <a:pPr marL="0" indent="0">
              <a:buNone/>
            </a:pPr>
            <a:r>
              <a:rPr lang="en-US" dirty="0"/>
              <a:t>■ Polishing code by carefully formatting and commenting it</a:t>
            </a:r>
          </a:p>
          <a:p>
            <a:pPr marL="0" indent="0">
              <a:buNone/>
            </a:pPr>
            <a:r>
              <a:rPr lang="en-US" dirty="0"/>
              <a:t>■ Integrating software components that were created separately</a:t>
            </a:r>
          </a:p>
          <a:p>
            <a:pPr marL="0" indent="0">
              <a:buNone/>
            </a:pPr>
            <a:r>
              <a:rPr lang="en-US" dirty="0"/>
              <a:t>■ Tuning code to make it faster and use fewer resources</a:t>
            </a:r>
          </a:p>
        </p:txBody>
      </p:sp>
    </p:spTree>
    <p:extLst>
      <p:ext uri="{BB962C8B-B14F-4D97-AF65-F5344CB8AC3E}">
        <p14:creationId xmlns:p14="http://schemas.microsoft.com/office/powerpoint/2010/main" val="333131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Software Construction is IMPORTANT</a:t>
            </a:r>
          </a:p>
        </p:txBody>
      </p:sp>
      <p:sp>
        <p:nvSpPr>
          <p:cNvPr id="3" name="Content Placeholder 2"/>
          <p:cNvSpPr>
            <a:spLocks noGrp="1"/>
          </p:cNvSpPr>
          <p:nvPr>
            <p:ph idx="1"/>
          </p:nvPr>
        </p:nvSpPr>
        <p:spPr>
          <a:xfrm>
            <a:off x="755129" y="2286000"/>
            <a:ext cx="7633742" cy="3593591"/>
          </a:xfrm>
        </p:spPr>
        <p:txBody>
          <a:bodyPr>
            <a:normAutofit/>
          </a:bodyPr>
          <a:lstStyle/>
          <a:p>
            <a:r>
              <a:rPr lang="en-US" sz="2000" dirty="0"/>
              <a:t>Construction is a large part of software development</a:t>
            </a:r>
          </a:p>
          <a:p>
            <a:r>
              <a:rPr lang="en-US" sz="2000" dirty="0"/>
              <a:t>Construction is the central activity in software development</a:t>
            </a:r>
          </a:p>
          <a:p>
            <a:r>
              <a:rPr lang="en-US" sz="2000" dirty="0"/>
              <a:t>With a focus on construction, the individual programmer’s productivity can improve enormously</a:t>
            </a:r>
          </a:p>
          <a:p>
            <a:r>
              <a:rPr lang="en-US" sz="2000" dirty="0"/>
              <a:t>Construction’s product, the source code, is often the only accurate description of the software</a:t>
            </a:r>
          </a:p>
          <a:p>
            <a:r>
              <a:rPr lang="en-US" sz="2000" dirty="0"/>
              <a:t>Construction is the only activity that’s guaranteed to be done</a:t>
            </a:r>
          </a:p>
        </p:txBody>
      </p:sp>
    </p:spTree>
    <p:extLst>
      <p:ext uri="{BB962C8B-B14F-4D97-AF65-F5344CB8AC3E}">
        <p14:creationId xmlns:p14="http://schemas.microsoft.com/office/powerpoint/2010/main" val="156472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85000" lnSpcReduction="20000"/>
          </a:bodyPr>
          <a:lstStyle/>
          <a:p>
            <a:pPr algn="just"/>
            <a:r>
              <a:rPr lang="en-US" sz="2800" dirty="0"/>
              <a:t>The term software construction refers to the detailed creation of working software through a combination of coding, verification, unit testing, integration testing, and debugging.</a:t>
            </a:r>
          </a:p>
          <a:p>
            <a:pPr algn="just"/>
            <a:r>
              <a:rPr lang="en-US" sz="2800" dirty="0"/>
              <a:t>Quality (or lack thereof) is very evident in the construction products</a:t>
            </a:r>
          </a:p>
          <a:p>
            <a:pPr algn="just"/>
            <a:r>
              <a:rPr lang="en-US" sz="2800" dirty="0"/>
              <a:t>Construction highly related to Computer Science due to</a:t>
            </a:r>
          </a:p>
          <a:p>
            <a:pPr lvl="1" algn="just"/>
            <a:r>
              <a:rPr lang="en-US" sz="2800" dirty="0"/>
              <a:t>Use of algorithms</a:t>
            </a:r>
          </a:p>
          <a:p>
            <a:pPr lvl="1" algn="just"/>
            <a:r>
              <a:rPr lang="en-US" sz="2800" dirty="0"/>
              <a:t>Detailed coding practices</a:t>
            </a:r>
          </a:p>
          <a:p>
            <a:endParaRPr lang="en-US" dirty="0"/>
          </a:p>
        </p:txBody>
      </p:sp>
    </p:spTree>
    <p:extLst>
      <p:ext uri="{BB962C8B-B14F-4D97-AF65-F5344CB8AC3E}">
        <p14:creationId xmlns:p14="http://schemas.microsoft.com/office/powerpoint/2010/main" val="2743281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Construction Fundamentals</a:t>
            </a:r>
          </a:p>
        </p:txBody>
      </p:sp>
      <p:sp>
        <p:nvSpPr>
          <p:cNvPr id="3" name="Content Placeholder 2"/>
          <p:cNvSpPr>
            <a:spLocks noGrp="1"/>
          </p:cNvSpPr>
          <p:nvPr>
            <p:ph idx="1"/>
          </p:nvPr>
        </p:nvSpPr>
        <p:spPr/>
        <p:txBody>
          <a:bodyPr/>
          <a:lstStyle/>
          <a:p>
            <a:r>
              <a:rPr lang="en-US" sz="3200" dirty="0"/>
              <a:t>Minimizing complexity</a:t>
            </a:r>
          </a:p>
          <a:p>
            <a:r>
              <a:rPr lang="en-US" sz="3200" dirty="0"/>
              <a:t>Anticipating change </a:t>
            </a:r>
          </a:p>
          <a:p>
            <a:r>
              <a:rPr lang="en-US" sz="3200" dirty="0"/>
              <a:t>Constructing for verification </a:t>
            </a:r>
          </a:p>
          <a:p>
            <a:r>
              <a:rPr lang="en-US" sz="3200" dirty="0"/>
              <a:t>Reuse</a:t>
            </a:r>
          </a:p>
          <a:p>
            <a:r>
              <a:rPr lang="en-US" sz="3200" dirty="0"/>
              <a:t>Standards in software construction</a:t>
            </a:r>
          </a:p>
          <a:p>
            <a:endParaRPr lang="en-US" dirty="0"/>
          </a:p>
        </p:txBody>
      </p:sp>
    </p:spTree>
    <p:extLst>
      <p:ext uri="{BB962C8B-B14F-4D97-AF65-F5344CB8AC3E}">
        <p14:creationId xmlns:p14="http://schemas.microsoft.com/office/powerpoint/2010/main" val="283118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Minimizing Complexity</a:t>
            </a:r>
          </a:p>
        </p:txBody>
      </p:sp>
      <p:sp>
        <p:nvSpPr>
          <p:cNvPr id="3" name="Content Placeholder 2"/>
          <p:cNvSpPr>
            <a:spLocks noGrp="1"/>
          </p:cNvSpPr>
          <p:nvPr>
            <p:ph idx="1"/>
          </p:nvPr>
        </p:nvSpPr>
        <p:spPr/>
        <p:txBody>
          <a:bodyPr>
            <a:normAutofit/>
          </a:bodyPr>
          <a:lstStyle/>
          <a:p>
            <a:r>
              <a:rPr lang="en-US" sz="2800" dirty="0"/>
              <a:t>Humans are severely limited in our ability to hold complex information in our working memories</a:t>
            </a:r>
          </a:p>
          <a:p>
            <a:r>
              <a:rPr lang="en-US" sz="2800" dirty="0"/>
              <a:t>As a result, minimizing complexity is one the of strongest drivers in software construction</a:t>
            </a:r>
          </a:p>
          <a:p>
            <a:r>
              <a:rPr lang="en-US" sz="2800" dirty="0"/>
              <a:t>Need to reduce complexity throughout the lifecycle</a:t>
            </a:r>
          </a:p>
          <a:p>
            <a:r>
              <a:rPr lang="en-US" sz="2800" dirty="0"/>
              <a:t>As functionality increases, so does complexity</a:t>
            </a:r>
          </a:p>
          <a:p>
            <a:endParaRPr lang="en-US" dirty="0"/>
          </a:p>
        </p:txBody>
      </p:sp>
    </p:spTree>
    <p:extLst>
      <p:ext uri="{BB962C8B-B14F-4D97-AF65-F5344CB8AC3E}">
        <p14:creationId xmlns:p14="http://schemas.microsoft.com/office/powerpoint/2010/main" val="3505140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Complexity</a:t>
            </a:r>
          </a:p>
        </p:txBody>
      </p:sp>
      <p:sp>
        <p:nvSpPr>
          <p:cNvPr id="3" name="Content Placeholder 2"/>
          <p:cNvSpPr>
            <a:spLocks noGrp="1"/>
          </p:cNvSpPr>
          <p:nvPr>
            <p:ph idx="1"/>
          </p:nvPr>
        </p:nvSpPr>
        <p:spPr/>
        <p:txBody>
          <a:bodyPr>
            <a:normAutofit/>
          </a:bodyPr>
          <a:lstStyle/>
          <a:p>
            <a:r>
              <a:rPr lang="en-US" sz="2400" dirty="0"/>
              <a:t>Accomplished through use of standards</a:t>
            </a:r>
          </a:p>
          <a:p>
            <a:r>
              <a:rPr lang="en-US" sz="2400" dirty="0"/>
              <a:t>Examples:</a:t>
            </a:r>
          </a:p>
          <a:p>
            <a:pPr lvl="1"/>
            <a:r>
              <a:rPr lang="en-US" sz="2400" dirty="0"/>
              <a:t>UML for modeling all aspects of complex systems</a:t>
            </a:r>
          </a:p>
          <a:p>
            <a:pPr lvl="1"/>
            <a:r>
              <a:rPr lang="en-US" sz="2400" dirty="0"/>
              <a:t>High-order programming languages such as C++ and Java</a:t>
            </a:r>
          </a:p>
          <a:p>
            <a:pPr lvl="1"/>
            <a:r>
              <a:rPr lang="en-US" sz="2400" dirty="0"/>
              <a:t>Source code formatting rules to aid readability</a:t>
            </a:r>
          </a:p>
          <a:p>
            <a:pPr marL="118872" indent="0">
              <a:buNone/>
            </a:pPr>
            <a:endParaRPr lang="en-US" dirty="0"/>
          </a:p>
        </p:txBody>
      </p:sp>
    </p:spTree>
    <p:extLst>
      <p:ext uri="{BB962C8B-B14F-4D97-AF65-F5344CB8AC3E}">
        <p14:creationId xmlns:p14="http://schemas.microsoft.com/office/powerpoint/2010/main" val="4278546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Anticipating Change</a:t>
            </a:r>
          </a:p>
        </p:txBody>
      </p:sp>
      <p:sp>
        <p:nvSpPr>
          <p:cNvPr id="3" name="Content Placeholder 2"/>
          <p:cNvSpPr>
            <a:spLocks noGrp="1"/>
          </p:cNvSpPr>
          <p:nvPr>
            <p:ph idx="1"/>
          </p:nvPr>
        </p:nvSpPr>
        <p:spPr/>
        <p:txBody>
          <a:bodyPr>
            <a:normAutofit/>
          </a:bodyPr>
          <a:lstStyle/>
          <a:p>
            <a:r>
              <a:rPr lang="en-US" sz="2400" dirty="0"/>
              <a:t>Software changes over time</a:t>
            </a:r>
          </a:p>
          <a:p>
            <a:r>
              <a:rPr lang="en-US" sz="2400" dirty="0"/>
              <a:t>Anticipation of change affect how software is constructed</a:t>
            </a:r>
          </a:p>
          <a:p>
            <a:r>
              <a:rPr lang="en-US" sz="2400" dirty="0"/>
              <a:t>This can effect</a:t>
            </a:r>
          </a:p>
          <a:p>
            <a:pPr lvl="1"/>
            <a:r>
              <a:rPr lang="en-US" sz="2400" dirty="0"/>
              <a:t>Handling of errors</a:t>
            </a:r>
          </a:p>
          <a:p>
            <a:pPr lvl="1"/>
            <a:r>
              <a:rPr lang="en-US" sz="2400" dirty="0"/>
              <a:t>Source code organization</a:t>
            </a:r>
          </a:p>
          <a:p>
            <a:pPr lvl="1"/>
            <a:r>
              <a:rPr lang="en-US" sz="2400" dirty="0"/>
              <a:t>Code documentation</a:t>
            </a:r>
          </a:p>
          <a:p>
            <a:pPr lvl="1"/>
            <a:r>
              <a:rPr lang="en-US" sz="2400" dirty="0"/>
              <a:t>Coding standards</a:t>
            </a:r>
          </a:p>
          <a:p>
            <a:endParaRPr lang="en-US" dirty="0"/>
          </a:p>
        </p:txBody>
      </p:sp>
    </p:spTree>
    <p:extLst>
      <p:ext uri="{BB962C8B-B14F-4D97-AF65-F5344CB8AC3E}">
        <p14:creationId xmlns:p14="http://schemas.microsoft.com/office/powerpoint/2010/main" val="3099720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Constructing for verification </a:t>
            </a:r>
          </a:p>
        </p:txBody>
      </p:sp>
      <p:sp>
        <p:nvSpPr>
          <p:cNvPr id="3" name="Content Placeholder 2"/>
          <p:cNvSpPr>
            <a:spLocks noGrp="1"/>
          </p:cNvSpPr>
          <p:nvPr>
            <p:ph idx="1"/>
          </p:nvPr>
        </p:nvSpPr>
        <p:spPr/>
        <p:txBody>
          <a:bodyPr>
            <a:normAutofit fontScale="92500" lnSpcReduction="10000"/>
          </a:bodyPr>
          <a:lstStyle/>
          <a:p>
            <a:r>
              <a:rPr lang="en-US" sz="2400" dirty="0"/>
              <a:t>Construct software that allows bugs to be easily found and fixed</a:t>
            </a:r>
          </a:p>
          <a:p>
            <a:r>
              <a:rPr lang="en-US" sz="2400" dirty="0"/>
              <a:t>Examples:</a:t>
            </a:r>
          </a:p>
          <a:p>
            <a:pPr lvl="1"/>
            <a:r>
              <a:rPr lang="en-US" sz="2400" dirty="0"/>
              <a:t>Enforce coding standards </a:t>
            </a:r>
          </a:p>
          <a:p>
            <a:pPr lvl="2"/>
            <a:r>
              <a:rPr lang="en-US" sz="2400" dirty="0"/>
              <a:t>Helps support code reviews</a:t>
            </a:r>
          </a:p>
          <a:p>
            <a:pPr lvl="1"/>
            <a:r>
              <a:rPr lang="en-US" sz="2400" dirty="0"/>
              <a:t>Unit testing</a:t>
            </a:r>
          </a:p>
          <a:p>
            <a:pPr lvl="1"/>
            <a:r>
              <a:rPr lang="en-US" sz="2400" dirty="0"/>
              <a:t>Organizing code to support automated testing</a:t>
            </a:r>
          </a:p>
          <a:p>
            <a:pPr lvl="1"/>
            <a:r>
              <a:rPr lang="en-US" sz="2400" dirty="0"/>
              <a:t>Restricted use of complex or hard-to-understand language structures</a:t>
            </a:r>
          </a:p>
          <a:p>
            <a:endParaRPr lang="en-US" dirty="0"/>
          </a:p>
        </p:txBody>
      </p:sp>
    </p:spTree>
    <p:extLst>
      <p:ext uri="{BB962C8B-B14F-4D97-AF65-F5344CB8AC3E}">
        <p14:creationId xmlns:p14="http://schemas.microsoft.com/office/powerpoint/2010/main" val="3366992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a:t>
            </a:r>
          </a:p>
        </p:txBody>
      </p:sp>
      <p:sp>
        <p:nvSpPr>
          <p:cNvPr id="3" name="Content Placeholder 2"/>
          <p:cNvSpPr>
            <a:spLocks noGrp="1"/>
          </p:cNvSpPr>
          <p:nvPr>
            <p:ph idx="1"/>
          </p:nvPr>
        </p:nvSpPr>
        <p:spPr>
          <a:xfrm>
            <a:off x="938758" y="1447800"/>
            <a:ext cx="7633742" cy="4431793"/>
          </a:xfrm>
        </p:spPr>
        <p:txBody>
          <a:bodyPr>
            <a:normAutofit/>
          </a:bodyPr>
          <a:lstStyle/>
          <a:p>
            <a:r>
              <a:rPr lang="en-US" sz="2400" dirty="0"/>
              <a:t>Reuse refers to using existing assets in solving different problems. </a:t>
            </a:r>
          </a:p>
          <a:p>
            <a:r>
              <a:rPr lang="en-US" sz="2400" dirty="0"/>
              <a:t>In software construction, typical assets that are reused include libraries, modules, components, source code.. </a:t>
            </a:r>
          </a:p>
          <a:p>
            <a:r>
              <a:rPr lang="en-US" sz="2400" dirty="0"/>
              <a:t>Reuse is best practiced systematically, according to a well-defined, repeatable process. </a:t>
            </a:r>
          </a:p>
          <a:p>
            <a:r>
              <a:rPr lang="en-US" sz="2400" dirty="0"/>
              <a:t>Systematic reuse can enable significant software productivity, quality, and cost improvements.</a:t>
            </a:r>
          </a:p>
        </p:txBody>
      </p:sp>
    </p:spTree>
    <p:extLst>
      <p:ext uri="{BB962C8B-B14F-4D97-AF65-F5344CB8AC3E}">
        <p14:creationId xmlns:p14="http://schemas.microsoft.com/office/powerpoint/2010/main" val="1783564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Standards in Construction</a:t>
            </a:r>
          </a:p>
        </p:txBody>
      </p:sp>
      <p:sp>
        <p:nvSpPr>
          <p:cNvPr id="3" name="Content Placeholder 2"/>
          <p:cNvSpPr>
            <a:spLocks noGrp="1"/>
          </p:cNvSpPr>
          <p:nvPr>
            <p:ph idx="1"/>
          </p:nvPr>
        </p:nvSpPr>
        <p:spPr>
          <a:xfrm>
            <a:off x="581192" y="2057400"/>
            <a:ext cx="7989752" cy="4572000"/>
          </a:xfrm>
        </p:spPr>
        <p:txBody>
          <a:bodyPr>
            <a:normAutofit fontScale="92500"/>
          </a:bodyPr>
          <a:lstStyle/>
          <a:p>
            <a:pPr marL="118872" indent="0">
              <a:buNone/>
            </a:pPr>
            <a:r>
              <a:rPr lang="en-US" sz="2600" dirty="0"/>
              <a:t>Standards which directly affect construction issues include:</a:t>
            </a:r>
          </a:p>
          <a:p>
            <a:r>
              <a:rPr lang="en-US" sz="2600" dirty="0"/>
              <a:t>Programming languages</a:t>
            </a:r>
          </a:p>
          <a:p>
            <a:pPr lvl="1"/>
            <a:r>
              <a:rPr lang="en-US" sz="2600" dirty="0"/>
              <a:t>E.g. standards for languages like Java and C++</a:t>
            </a:r>
          </a:p>
          <a:p>
            <a:r>
              <a:rPr lang="en-US" sz="2600" dirty="0"/>
              <a:t>Communication methods </a:t>
            </a:r>
          </a:p>
          <a:p>
            <a:pPr lvl="1"/>
            <a:r>
              <a:rPr lang="en-US" sz="2600" dirty="0"/>
              <a:t>E.g. standards for document formats and contents</a:t>
            </a:r>
          </a:p>
          <a:p>
            <a:r>
              <a:rPr lang="en-US" sz="2600" dirty="0"/>
              <a:t>Platforms</a:t>
            </a:r>
          </a:p>
          <a:p>
            <a:r>
              <a:rPr lang="en-US" sz="2600" dirty="0"/>
              <a:t>Tools</a:t>
            </a:r>
          </a:p>
          <a:p>
            <a:pPr lvl="1"/>
            <a:r>
              <a:rPr lang="en-US" sz="2600" dirty="0"/>
              <a:t>E.g. diagrammatic standards for notations like the Unified Modeling Language</a:t>
            </a:r>
          </a:p>
          <a:p>
            <a:endParaRPr lang="en-US" dirty="0"/>
          </a:p>
        </p:txBody>
      </p:sp>
    </p:spTree>
    <p:extLst>
      <p:ext uri="{BB962C8B-B14F-4D97-AF65-F5344CB8AC3E}">
        <p14:creationId xmlns:p14="http://schemas.microsoft.com/office/powerpoint/2010/main" val="374200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Construction decisions</a:t>
            </a:r>
          </a:p>
        </p:txBody>
      </p:sp>
      <p:sp>
        <p:nvSpPr>
          <p:cNvPr id="3" name="Content Placeholder 2"/>
          <p:cNvSpPr>
            <a:spLocks noGrp="1"/>
          </p:cNvSpPr>
          <p:nvPr>
            <p:ph idx="1"/>
          </p:nvPr>
        </p:nvSpPr>
        <p:spPr>
          <a:xfrm>
            <a:off x="232668" y="2133600"/>
            <a:ext cx="8686800" cy="41148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Every programming language has strengths and weaknesses. Be aware of the specific strengths and weaknesses of the language you’re using.</a:t>
            </a:r>
          </a:p>
          <a:p>
            <a:pPr marL="0" indent="0">
              <a:buNone/>
            </a:pPr>
            <a:r>
              <a:rPr lang="en-US" sz="2000" dirty="0">
                <a:latin typeface="Times New Roman" panose="02020603050405020304" pitchFamily="18" charset="0"/>
                <a:cs typeface="Times New Roman" panose="02020603050405020304" pitchFamily="18" charset="0"/>
              </a:rPr>
              <a:t> Establish programming conventions before you begin programming. It’s nearly impossible to change code to match them later.</a:t>
            </a:r>
          </a:p>
          <a:p>
            <a:pPr marL="0" indent="0">
              <a:buNone/>
            </a:pPr>
            <a:r>
              <a:rPr lang="en-US" sz="2000" dirty="0">
                <a:latin typeface="Times New Roman" panose="02020603050405020304" pitchFamily="18" charset="0"/>
                <a:cs typeface="Times New Roman" panose="02020603050405020304" pitchFamily="18" charset="0"/>
              </a:rPr>
              <a:t>More construction practices exist than you can use on any single project. Consciously choose the practices that are best suited to your project.</a:t>
            </a:r>
          </a:p>
          <a:p>
            <a:pPr marL="0" indent="0">
              <a:buNone/>
            </a:pPr>
            <a:r>
              <a:rPr lang="en-US" sz="2000" dirty="0">
                <a:latin typeface="Times New Roman" panose="02020603050405020304" pitchFamily="18" charset="0"/>
                <a:cs typeface="Times New Roman" panose="02020603050405020304" pitchFamily="18" charset="0"/>
              </a:rPr>
              <a:t> Ask yourself whether the programming practices you’re using are a response to the Your position on the technology wave determines what approaches will be effective— or even possible. Identify where you are on the technology wave, and adjust your plans and expectations accordingly.</a:t>
            </a:r>
          </a:p>
        </p:txBody>
      </p:sp>
    </p:spTree>
    <p:extLst>
      <p:ext uri="{BB962C8B-B14F-4D97-AF65-F5344CB8AC3E}">
        <p14:creationId xmlns:p14="http://schemas.microsoft.com/office/powerpoint/2010/main" val="3100450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home TASK</a:t>
            </a:r>
          </a:p>
        </p:txBody>
      </p:sp>
      <p:sp>
        <p:nvSpPr>
          <p:cNvPr id="3" name="Content Placeholder 2"/>
          <p:cNvSpPr>
            <a:spLocks noGrp="1"/>
          </p:cNvSpPr>
          <p:nvPr>
            <p:ph idx="1"/>
          </p:nvPr>
        </p:nvSpPr>
        <p:spPr/>
        <p:txBody>
          <a:bodyPr>
            <a:normAutofit/>
          </a:bodyPr>
          <a:lstStyle/>
          <a:p>
            <a:r>
              <a:rPr lang="en-US" sz="3600" dirty="0">
                <a:latin typeface="Times New Roman" panose="02020603050405020304" pitchFamily="18" charset="0"/>
                <a:cs typeface="Times New Roman" panose="02020603050405020304" pitchFamily="18" charset="0"/>
              </a:rPr>
              <a:t>Exploring any recent research article related to the software construction and summarize in your own words.</a:t>
            </a:r>
          </a:p>
        </p:txBody>
      </p:sp>
    </p:spTree>
    <p:extLst>
      <p:ext uri="{BB962C8B-B14F-4D97-AF65-F5344CB8AC3E}">
        <p14:creationId xmlns:p14="http://schemas.microsoft.com/office/powerpoint/2010/main" val="32767191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TM03457464[[fn=Dividend]]</Template>
  <TotalTime>3483</TotalTime>
  <Words>1126</Words>
  <Application>Microsoft Office PowerPoint</Application>
  <PresentationFormat>On-screen Show (4:3)</PresentationFormat>
  <Paragraphs>144</Paragraphs>
  <Slides>22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vt:lpstr>
      <vt:lpstr>Gill Sans MT</vt:lpstr>
      <vt:lpstr>Google Sans Display</vt:lpstr>
      <vt:lpstr>Times New Roman</vt:lpstr>
      <vt:lpstr>Wingdings 2</vt:lpstr>
      <vt:lpstr>Dividend</vt:lpstr>
      <vt:lpstr>Software Construction and Development</vt:lpstr>
      <vt:lpstr>Today’s Agenda</vt:lpstr>
      <vt:lpstr>Course Introduction</vt:lpstr>
      <vt:lpstr>Classroom Code</vt:lpstr>
      <vt:lpstr>PowerPoint Presentation</vt:lpstr>
      <vt:lpstr>Recommended BOOKS</vt:lpstr>
      <vt:lpstr>Grading scheme</vt:lpstr>
      <vt:lpstr> Software Development </vt:lpstr>
      <vt:lpstr>SOFTWARE CONSTRUCTION ACTIVITIES</vt:lpstr>
      <vt:lpstr>Software cOnstruction</vt:lpstr>
      <vt:lpstr>Software construction</vt:lpstr>
      <vt:lpstr>Why Software Construction is IMPORTANT</vt:lpstr>
      <vt:lpstr>Introduction</vt:lpstr>
      <vt:lpstr>Software Construction Fundamentals</vt:lpstr>
      <vt:lpstr>Minimizing Complexity</vt:lpstr>
      <vt:lpstr>Minimizing Complexity</vt:lpstr>
      <vt:lpstr>Anticipating Change</vt:lpstr>
      <vt:lpstr>Constructing for verification </vt:lpstr>
      <vt:lpstr>Reuse</vt:lpstr>
      <vt:lpstr>Standards in Construction</vt:lpstr>
      <vt:lpstr>Key Construction decisions</vt:lpstr>
      <vt:lpstr>home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Waqar Ahmad</dc:creator>
  <cp:lastModifiedBy>Junaid Ali Gillani</cp:lastModifiedBy>
  <cp:revision>85</cp:revision>
  <dcterms:created xsi:type="dcterms:W3CDTF">2019-01-28T11:12:24Z</dcterms:created>
  <dcterms:modified xsi:type="dcterms:W3CDTF">2024-02-21T11:39:21Z</dcterms:modified>
</cp:coreProperties>
</file>