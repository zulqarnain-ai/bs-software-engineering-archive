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1" d="100"/>
          <a:sy n="61" d="100"/>
        </p:scale>
        <p:origin x="88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E28431-200F-492F-A085-57E9AD906057}" type="datetimeFigureOut">
              <a:rPr lang="en-PK" smtClean="0"/>
              <a:t>10/11/2024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3758E4-72CE-4148-B2A7-E3BE40CF730C}" type="slidenum">
              <a:rPr lang="en-PK" smtClean="0"/>
              <a:t>‹#›</a:t>
            </a:fld>
            <a:endParaRPr lang="en-PK"/>
          </a:p>
        </p:txBody>
      </p:sp>
    </p:spTree>
    <p:extLst>
      <p:ext uri="{BB962C8B-B14F-4D97-AF65-F5344CB8AC3E}">
        <p14:creationId xmlns:p14="http://schemas.microsoft.com/office/powerpoint/2010/main" val="3474999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00DBA45-6E07-46A9-A432-D09C5670CF02}" type="datetimeFigureOut">
              <a:rPr lang="en-PK" smtClean="0"/>
              <a:t>10/11/2024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571058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0DBA45-6E07-46A9-A432-D09C5670CF02}" type="datetimeFigureOut">
              <a:rPr lang="en-PK" smtClean="0"/>
              <a:t>10/11/2024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81963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0DBA45-6E07-46A9-A432-D09C5670CF02}" type="datetimeFigureOut">
              <a:rPr lang="en-PK" smtClean="0"/>
              <a:t>10/11/2024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1790298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800DBA45-6E07-46A9-A432-D09C5670CF02}" type="datetimeFigureOut">
              <a:rPr lang="en-PK" smtClean="0"/>
              <a:t>10/11/2024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004466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800DBA45-6E07-46A9-A432-D09C5670CF02}" type="datetimeFigureOut">
              <a:rPr lang="en-PK" smtClean="0"/>
              <a:t>10/11/2024</a:t>
            </a:fld>
            <a:endParaRPr lang="en-PK"/>
          </a:p>
        </p:txBody>
      </p:sp>
      <p:sp>
        <p:nvSpPr>
          <p:cNvPr id="11" name="Footer Placeholder 10"/>
          <p:cNvSpPr>
            <a:spLocks noGrp="1"/>
          </p:cNvSpPr>
          <p:nvPr>
            <p:ph type="ftr" sz="quarter" idx="11"/>
          </p:nvPr>
        </p:nvSpPr>
        <p:spPr/>
        <p:txBody>
          <a:bodyPr/>
          <a:lstStyle/>
          <a:p>
            <a:endParaRPr lang="en-PK"/>
          </a:p>
        </p:txBody>
      </p:sp>
      <p:sp>
        <p:nvSpPr>
          <p:cNvPr id="12" name="Slide Number Placeholder 11"/>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590121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800DBA45-6E07-46A9-A432-D09C5670CF02}" type="datetimeFigureOut">
              <a:rPr lang="en-PK" smtClean="0"/>
              <a:t>10/11/2024</a:t>
            </a:fld>
            <a:endParaRPr lang="en-PK"/>
          </a:p>
        </p:txBody>
      </p:sp>
      <p:sp>
        <p:nvSpPr>
          <p:cNvPr id="7" name="Footer Placeholder 6"/>
          <p:cNvSpPr>
            <a:spLocks noGrp="1"/>
          </p:cNvSpPr>
          <p:nvPr>
            <p:ph type="ftr" sz="quarter" idx="11"/>
          </p:nvPr>
        </p:nvSpPr>
        <p:spPr/>
        <p:txBody>
          <a:bodyPr/>
          <a:lstStyle/>
          <a:p>
            <a:endParaRPr lang="en-PK"/>
          </a:p>
        </p:txBody>
      </p:sp>
      <p:sp>
        <p:nvSpPr>
          <p:cNvPr id="8" name="Slide Number Placeholder 7"/>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01256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800DBA45-6E07-46A9-A432-D09C5670CF02}" type="datetimeFigureOut">
              <a:rPr lang="en-PK" smtClean="0"/>
              <a:t>10/11/2024</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055370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00DBA45-6E07-46A9-A432-D09C5670CF02}" type="datetimeFigureOut">
              <a:rPr lang="en-PK" smtClean="0"/>
              <a:t>10/11/2024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384964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00DBA45-6E07-46A9-A432-D09C5670CF02}" type="datetimeFigureOut">
              <a:rPr lang="en-PK" smtClean="0"/>
              <a:t>10/11/2024</a:t>
            </a:fld>
            <a:endParaRPr lang="en-PK"/>
          </a:p>
        </p:txBody>
      </p:sp>
      <p:sp>
        <p:nvSpPr>
          <p:cNvPr id="9" name="Footer Placeholder 8"/>
          <p:cNvSpPr>
            <a:spLocks noGrp="1"/>
          </p:cNvSpPr>
          <p:nvPr>
            <p:ph type="ftr" sz="quarter" idx="11"/>
          </p:nvPr>
        </p:nvSpPr>
        <p:spPr>
          <a:xfrm>
            <a:off x="3499101" y="6356350"/>
            <a:ext cx="5911517" cy="365125"/>
          </a:xfrm>
        </p:spPr>
        <p:txBody>
          <a:bodyPr/>
          <a:lstStyle/>
          <a:p>
            <a:endParaRPr lang="en-PK"/>
          </a:p>
        </p:txBody>
      </p:sp>
      <p:sp>
        <p:nvSpPr>
          <p:cNvPr id="10" name="Slide Number Placeholder 9"/>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728527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0DBA45-6E07-46A9-A432-D09C5670CF02}" type="datetimeFigureOut">
              <a:rPr lang="en-PK" smtClean="0"/>
              <a:t>10/11/2024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209551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0DBA45-6E07-46A9-A432-D09C5670CF02}" type="datetimeFigureOut">
              <a:rPr lang="en-PK" smtClean="0"/>
              <a:t>10/11/2024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616EB149-C597-4161-BB3B-8AD85D703A70}" type="slidenum">
              <a:rPr lang="en-PK" smtClean="0"/>
              <a:t>‹#›</a:t>
            </a:fld>
            <a:endParaRPr lang="en-PK"/>
          </a:p>
        </p:txBody>
      </p:sp>
    </p:spTree>
    <p:extLst>
      <p:ext uri="{BB962C8B-B14F-4D97-AF65-F5344CB8AC3E}">
        <p14:creationId xmlns:p14="http://schemas.microsoft.com/office/powerpoint/2010/main" val="567015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800DBA45-6E07-46A9-A432-D09C5670CF02}" type="datetimeFigureOut">
              <a:rPr lang="en-PK" smtClean="0"/>
              <a:t>10/11/2024</a:t>
            </a:fld>
            <a:endParaRPr lang="en-PK"/>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PK"/>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616EB149-C597-4161-BB3B-8AD85D703A70}" type="slidenum">
              <a:rPr lang="en-PK" smtClean="0"/>
              <a:t>‹#›</a:t>
            </a:fld>
            <a:endParaRPr lang="en-PK"/>
          </a:p>
        </p:txBody>
      </p:sp>
    </p:spTree>
    <p:extLst>
      <p:ext uri="{BB962C8B-B14F-4D97-AF65-F5344CB8AC3E}">
        <p14:creationId xmlns:p14="http://schemas.microsoft.com/office/powerpoint/2010/main" val="35216506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gif"/><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17C78-FC12-82DF-9472-9B33E5E67C89}"/>
              </a:ext>
            </a:extLst>
          </p:cNvPr>
          <p:cNvSpPr>
            <a:spLocks noGrp="1"/>
          </p:cNvSpPr>
          <p:nvPr>
            <p:ph type="ctrTitle"/>
          </p:nvPr>
        </p:nvSpPr>
        <p:spPr/>
        <p:txBody>
          <a:bodyPr/>
          <a:lstStyle/>
          <a:p>
            <a:r>
              <a:rPr lang="en-US" dirty="0"/>
              <a:t>PACT FRAMEWORK </a:t>
            </a:r>
            <a:endParaRPr lang="en-PK" dirty="0"/>
          </a:p>
        </p:txBody>
      </p:sp>
      <p:sp>
        <p:nvSpPr>
          <p:cNvPr id="3" name="Subtitle 2">
            <a:extLst>
              <a:ext uri="{FF2B5EF4-FFF2-40B4-BE49-F238E27FC236}">
                <a16:creationId xmlns:a16="http://schemas.microsoft.com/office/drawing/2014/main" id="{A0805B44-0228-C8D5-85AE-98EA73338D46}"/>
              </a:ext>
            </a:extLst>
          </p:cNvPr>
          <p:cNvSpPr>
            <a:spLocks noGrp="1"/>
          </p:cNvSpPr>
          <p:nvPr>
            <p:ph type="subTitle" idx="1"/>
          </p:nvPr>
        </p:nvSpPr>
        <p:spPr/>
        <p:txBody>
          <a:bodyPr/>
          <a:lstStyle/>
          <a:p>
            <a:r>
              <a:rPr lang="en-US" dirty="0"/>
              <a:t>Ms. Iqra Shahzad</a:t>
            </a:r>
          </a:p>
          <a:p>
            <a:r>
              <a:rPr lang="en-US" dirty="0"/>
              <a:t>Department of Software Engineering, NUML, Islamabad.</a:t>
            </a:r>
          </a:p>
          <a:p>
            <a:endParaRPr lang="en-PK" dirty="0"/>
          </a:p>
        </p:txBody>
      </p:sp>
      <p:pic>
        <p:nvPicPr>
          <p:cNvPr id="1026" name="Picture 2" descr="User Interface Design ...">
            <a:extLst>
              <a:ext uri="{FF2B5EF4-FFF2-40B4-BE49-F238E27FC236}">
                <a16:creationId xmlns:a16="http://schemas.microsoft.com/office/drawing/2014/main" id="{1D0D8CDA-5FAA-D539-BF16-68514A268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0" y="2515778"/>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4555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251DD-C8C8-B3D0-5F02-7BD845519AE1}"/>
              </a:ext>
            </a:extLst>
          </p:cNvPr>
          <p:cNvSpPr>
            <a:spLocks noGrp="1"/>
          </p:cNvSpPr>
          <p:nvPr>
            <p:ph type="title"/>
          </p:nvPr>
        </p:nvSpPr>
        <p:spPr/>
        <p:txBody>
          <a:bodyPr/>
          <a:lstStyle/>
          <a:p>
            <a:r>
              <a:rPr lang="en-US" dirty="0"/>
              <a:t>Introduction </a:t>
            </a:r>
            <a:endParaRPr lang="en-PK" dirty="0"/>
          </a:p>
        </p:txBody>
      </p:sp>
      <p:pic>
        <p:nvPicPr>
          <p:cNvPr id="5" name="Content Placeholder 4">
            <a:extLst>
              <a:ext uri="{FF2B5EF4-FFF2-40B4-BE49-F238E27FC236}">
                <a16:creationId xmlns:a16="http://schemas.microsoft.com/office/drawing/2014/main" id="{6BED94A9-F39F-4B7A-8837-64E895FE7DE2}"/>
              </a:ext>
            </a:extLst>
          </p:cNvPr>
          <p:cNvPicPr>
            <a:picLocks noGrp="1" noChangeAspect="1"/>
          </p:cNvPicPr>
          <p:nvPr>
            <p:ph idx="1"/>
          </p:nvPr>
        </p:nvPicPr>
        <p:blipFill>
          <a:blip r:embed="rId2"/>
          <a:stretch>
            <a:fillRect/>
          </a:stretch>
        </p:blipFill>
        <p:spPr>
          <a:xfrm>
            <a:off x="8212801" y="561966"/>
            <a:ext cx="3372742" cy="3727229"/>
          </a:xfrm>
        </p:spPr>
      </p:pic>
      <p:sp>
        <p:nvSpPr>
          <p:cNvPr id="8" name="TextBox 7">
            <a:extLst>
              <a:ext uri="{FF2B5EF4-FFF2-40B4-BE49-F238E27FC236}">
                <a16:creationId xmlns:a16="http://schemas.microsoft.com/office/drawing/2014/main" id="{7A37010F-620A-2CBD-FC54-B10DA2C0893E}"/>
              </a:ext>
            </a:extLst>
          </p:cNvPr>
          <p:cNvSpPr txBox="1"/>
          <p:nvPr/>
        </p:nvSpPr>
        <p:spPr>
          <a:xfrm>
            <a:off x="3492631" y="1363512"/>
            <a:ext cx="4720170" cy="2585323"/>
          </a:xfrm>
          <a:prstGeom prst="rect">
            <a:avLst/>
          </a:prstGeom>
          <a:noFill/>
        </p:spPr>
        <p:txBody>
          <a:bodyPr wrap="square">
            <a:spAutoFit/>
          </a:bodyPr>
          <a:lstStyle/>
          <a:p>
            <a:r>
              <a:rPr lang="en-US" b="0" i="0" dirty="0">
                <a:solidFill>
                  <a:srgbClr val="242424"/>
                </a:solidFill>
                <a:effectLst/>
                <a:latin typeface="source-serif-pro"/>
              </a:rPr>
              <a:t>In the fast-paced world of user interface (UI) design, it is crucial to understand the interplay between people, activities, context, and technologies. </a:t>
            </a:r>
          </a:p>
          <a:p>
            <a:endParaRPr lang="en-US" dirty="0">
              <a:solidFill>
                <a:srgbClr val="242424"/>
              </a:solidFill>
              <a:latin typeface="source-serif-pro"/>
            </a:endParaRPr>
          </a:p>
          <a:p>
            <a:endParaRPr lang="en-US" b="0" i="0" dirty="0">
              <a:solidFill>
                <a:srgbClr val="242424"/>
              </a:solidFill>
              <a:effectLst/>
              <a:latin typeface="source-serif-pro"/>
            </a:endParaRPr>
          </a:p>
          <a:p>
            <a:pPr algn="just"/>
            <a:r>
              <a:rPr lang="en-US" b="0" i="0" dirty="0">
                <a:solidFill>
                  <a:srgbClr val="242424"/>
                </a:solidFill>
                <a:effectLst/>
                <a:latin typeface="source-serif-pro"/>
              </a:rPr>
              <a:t>These elements form the basis of the PACT framework, a powerful tool for analyzing and optimizing UI design.</a:t>
            </a:r>
            <a:endParaRPr lang="en-PK" dirty="0"/>
          </a:p>
        </p:txBody>
      </p:sp>
    </p:spTree>
    <p:extLst>
      <p:ext uri="{BB962C8B-B14F-4D97-AF65-F5344CB8AC3E}">
        <p14:creationId xmlns:p14="http://schemas.microsoft.com/office/powerpoint/2010/main" val="3949148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A2F23-DAA8-3B28-C827-E7426C5EF069}"/>
              </a:ext>
            </a:extLst>
          </p:cNvPr>
          <p:cNvSpPr>
            <a:spLocks noGrp="1"/>
          </p:cNvSpPr>
          <p:nvPr>
            <p:ph type="title"/>
          </p:nvPr>
        </p:nvSpPr>
        <p:spPr/>
        <p:txBody>
          <a:bodyPr/>
          <a:lstStyle/>
          <a:p>
            <a:r>
              <a:rPr lang="en-US" dirty="0"/>
              <a:t>Importance </a:t>
            </a:r>
            <a:endParaRPr lang="en-PK" dirty="0"/>
          </a:p>
        </p:txBody>
      </p:sp>
      <p:sp>
        <p:nvSpPr>
          <p:cNvPr id="3" name="Content Placeholder 2">
            <a:extLst>
              <a:ext uri="{FF2B5EF4-FFF2-40B4-BE49-F238E27FC236}">
                <a16:creationId xmlns:a16="http://schemas.microsoft.com/office/drawing/2014/main" id="{38FA386D-2CC7-7071-92EE-90E79E60B3C7}"/>
              </a:ext>
            </a:extLst>
          </p:cNvPr>
          <p:cNvSpPr>
            <a:spLocks noGrp="1"/>
          </p:cNvSpPr>
          <p:nvPr>
            <p:ph idx="1"/>
          </p:nvPr>
        </p:nvSpPr>
        <p:spPr/>
        <p:txBody>
          <a:bodyPr/>
          <a:lstStyle/>
          <a:p>
            <a:r>
              <a:rPr lang="en-US" b="0" i="0" dirty="0">
                <a:solidFill>
                  <a:srgbClr val="242424"/>
                </a:solidFill>
                <a:effectLst/>
                <a:latin typeface="source-serif-pro"/>
              </a:rPr>
              <a:t>PACT framework and its relationships can significantly enhance your ability to create intuitive and user-friendly interfaces.</a:t>
            </a:r>
          </a:p>
          <a:p>
            <a:endParaRPr lang="en-US" dirty="0">
              <a:solidFill>
                <a:srgbClr val="242424"/>
              </a:solidFill>
              <a:latin typeface="source-serif-pro"/>
            </a:endParaRPr>
          </a:p>
          <a:p>
            <a:pPr algn="l"/>
            <a:r>
              <a:rPr lang="en-US" b="0" i="0" dirty="0">
                <a:solidFill>
                  <a:srgbClr val="242424"/>
                </a:solidFill>
                <a:effectLst/>
                <a:latin typeface="source-serif-pro"/>
              </a:rPr>
              <a:t>The PACT framework serves as a fundamental guide for UI designers in comprehending the users’ needs, </a:t>
            </a:r>
            <a:r>
              <a:rPr lang="en-US" b="0" i="0" dirty="0" err="1">
                <a:solidFill>
                  <a:srgbClr val="242424"/>
                </a:solidFill>
                <a:effectLst/>
                <a:latin typeface="source-serif-pro"/>
              </a:rPr>
              <a:t>behaviours</a:t>
            </a:r>
            <a:r>
              <a:rPr lang="en-US" b="0" i="0" dirty="0">
                <a:solidFill>
                  <a:srgbClr val="242424"/>
                </a:solidFill>
                <a:effectLst/>
                <a:latin typeface="source-serif-pro"/>
              </a:rPr>
              <a:t>, and environment.</a:t>
            </a:r>
          </a:p>
          <a:p>
            <a:pPr algn="l"/>
            <a:r>
              <a:rPr lang="en-US" b="0" i="0" dirty="0">
                <a:solidFill>
                  <a:srgbClr val="242424"/>
                </a:solidFill>
                <a:effectLst/>
                <a:latin typeface="source-serif-pro"/>
              </a:rPr>
              <a:t>By focusing on the four main components of PACT — People, Activities, Context, and Technologies — designers can create interfaces that cater specifically to the target audience, ultimately resulting in enhanced user experiences.</a:t>
            </a:r>
          </a:p>
          <a:p>
            <a:endParaRPr lang="en-PK" dirty="0"/>
          </a:p>
        </p:txBody>
      </p:sp>
    </p:spTree>
    <p:extLst>
      <p:ext uri="{BB962C8B-B14F-4D97-AF65-F5344CB8AC3E}">
        <p14:creationId xmlns:p14="http://schemas.microsoft.com/office/powerpoint/2010/main" val="4528819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AE18B-B466-D848-4709-734C9296247A}"/>
              </a:ext>
            </a:extLst>
          </p:cNvPr>
          <p:cNvSpPr>
            <a:spLocks noGrp="1"/>
          </p:cNvSpPr>
          <p:nvPr>
            <p:ph type="title"/>
          </p:nvPr>
        </p:nvSpPr>
        <p:spPr/>
        <p:txBody>
          <a:bodyPr/>
          <a:lstStyle/>
          <a:p>
            <a:r>
              <a:rPr lang="en-US" dirty="0"/>
              <a:t>People </a:t>
            </a:r>
            <a:endParaRPr lang="en-PK" dirty="0"/>
          </a:p>
        </p:txBody>
      </p:sp>
      <p:sp>
        <p:nvSpPr>
          <p:cNvPr id="3" name="Content Placeholder 2">
            <a:extLst>
              <a:ext uri="{FF2B5EF4-FFF2-40B4-BE49-F238E27FC236}">
                <a16:creationId xmlns:a16="http://schemas.microsoft.com/office/drawing/2014/main" id="{B30E5274-11B5-A2F1-F2CB-698F2C0D3F28}"/>
              </a:ext>
            </a:extLst>
          </p:cNvPr>
          <p:cNvSpPr>
            <a:spLocks noGrp="1"/>
          </p:cNvSpPr>
          <p:nvPr>
            <p:ph idx="1"/>
          </p:nvPr>
        </p:nvSpPr>
        <p:spPr/>
        <p:txBody>
          <a:bodyPr/>
          <a:lstStyle/>
          <a:p>
            <a:r>
              <a:rPr lang="en-US" b="0" i="0" dirty="0">
                <a:solidFill>
                  <a:srgbClr val="242424"/>
                </a:solidFill>
                <a:effectLst/>
                <a:latin typeface="source-serif-pro"/>
              </a:rPr>
              <a:t>Understanding the users is at the core of effective UI design.</a:t>
            </a:r>
          </a:p>
          <a:p>
            <a:r>
              <a:rPr lang="en-US" b="0" i="0" dirty="0">
                <a:solidFill>
                  <a:srgbClr val="242424"/>
                </a:solidFill>
                <a:effectLst/>
                <a:latin typeface="source-serif-pro"/>
              </a:rPr>
              <a:t>Recognizing their demographics, goals, motivations, and preferences enables designers to tailor interfaces to their specific needs.</a:t>
            </a:r>
          </a:p>
          <a:p>
            <a:r>
              <a:rPr lang="en-US" b="1" u="sng" dirty="0">
                <a:solidFill>
                  <a:srgbClr val="FF0000"/>
                </a:solidFill>
              </a:rPr>
              <a:t>Physical differences</a:t>
            </a:r>
          </a:p>
          <a:p>
            <a:pPr lvl="1"/>
            <a:r>
              <a:rPr lang="en-US" dirty="0"/>
              <a:t> Height and weight </a:t>
            </a:r>
          </a:p>
          <a:p>
            <a:pPr lvl="1"/>
            <a:r>
              <a:rPr lang="en-US" dirty="0"/>
              <a:t> Variability in the five senses </a:t>
            </a:r>
          </a:p>
          <a:p>
            <a:pPr lvl="1"/>
            <a:r>
              <a:rPr lang="en-US" dirty="0"/>
              <a:t> Ergonomics </a:t>
            </a:r>
          </a:p>
          <a:p>
            <a:pPr marL="502920" lvl="1" indent="0">
              <a:buNone/>
            </a:pPr>
            <a:r>
              <a:rPr lang="en-US" b="1" i="0" dirty="0">
                <a:solidFill>
                  <a:srgbClr val="FF0000"/>
                </a:solidFill>
                <a:effectLst/>
                <a:latin typeface="Arial" panose="020B0604020202020204" pitchFamily="34" charset="0"/>
              </a:rPr>
              <a:t>Ergonomics</a:t>
            </a:r>
            <a:r>
              <a:rPr lang="en-US" b="0" i="0" dirty="0">
                <a:solidFill>
                  <a:srgbClr val="FF0000"/>
                </a:solidFill>
                <a:effectLst/>
                <a:latin typeface="Arial" panose="020B0604020202020204" pitchFamily="34" charset="0"/>
              </a:rPr>
              <a:t> is the process of designing or arranging workplaces, products and systems so that they fit the people who use them.</a:t>
            </a:r>
            <a:endParaRPr lang="en-US" dirty="0">
              <a:solidFill>
                <a:srgbClr val="FF0000"/>
              </a:solidFill>
            </a:endParaRPr>
          </a:p>
          <a:p>
            <a:pPr lvl="1"/>
            <a:r>
              <a:rPr lang="en-US" dirty="0"/>
              <a:t> </a:t>
            </a:r>
            <a:r>
              <a:rPr lang="en-US" dirty="0" err="1"/>
              <a:t>Fitts’</a:t>
            </a:r>
            <a:r>
              <a:rPr lang="en-US" dirty="0"/>
              <a:t> law</a:t>
            </a:r>
          </a:p>
          <a:p>
            <a:pPr marL="502920" lvl="1" indent="0">
              <a:buNone/>
            </a:pPr>
            <a:r>
              <a:rPr lang="en-US" b="0" i="0" dirty="0">
                <a:solidFill>
                  <a:srgbClr val="FF0000"/>
                </a:solidFill>
                <a:effectLst/>
                <a:latin typeface="Arial" panose="020B0604020202020204" pitchFamily="34" charset="0"/>
              </a:rPr>
              <a:t>Fitts's law is a predictive model of human movement primarily used in human–computer interaction and ergonomics. </a:t>
            </a:r>
            <a:r>
              <a:rPr lang="en-US" b="1" i="0" dirty="0" err="1">
                <a:solidFill>
                  <a:srgbClr val="FF0000"/>
                </a:solidFill>
                <a:effectLst/>
                <a:latin typeface="Arial" panose="020B0604020202020204" pitchFamily="34" charset="0"/>
              </a:rPr>
              <a:t>Fitts'</a:t>
            </a:r>
            <a:r>
              <a:rPr lang="en-US" b="1" i="0" dirty="0">
                <a:solidFill>
                  <a:srgbClr val="FF0000"/>
                </a:solidFill>
                <a:effectLst/>
                <a:latin typeface="Arial" panose="020B0604020202020204" pitchFamily="34" charset="0"/>
              </a:rPr>
              <a:t> law</a:t>
            </a:r>
            <a:r>
              <a:rPr lang="en-US" b="0" i="0" dirty="0">
                <a:solidFill>
                  <a:srgbClr val="FF0000"/>
                </a:solidFill>
                <a:effectLst/>
                <a:latin typeface="Arial" panose="020B0604020202020204" pitchFamily="34" charset="0"/>
              </a:rPr>
              <a:t> refers to the amount of time required for a person to move to target object or area.</a:t>
            </a:r>
            <a:endParaRPr lang="en-PK" dirty="0">
              <a:solidFill>
                <a:srgbClr val="FF0000"/>
              </a:solidFill>
            </a:endParaRPr>
          </a:p>
        </p:txBody>
      </p:sp>
    </p:spTree>
    <p:extLst>
      <p:ext uri="{BB962C8B-B14F-4D97-AF65-F5344CB8AC3E}">
        <p14:creationId xmlns:p14="http://schemas.microsoft.com/office/powerpoint/2010/main" val="255628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AD292-3D2E-74C5-666B-1BBA1109BB0D}"/>
              </a:ext>
            </a:extLst>
          </p:cNvPr>
          <p:cNvSpPr>
            <a:spLocks noGrp="1"/>
          </p:cNvSpPr>
          <p:nvPr>
            <p:ph type="title"/>
          </p:nvPr>
        </p:nvSpPr>
        <p:spPr/>
        <p:txBody>
          <a:bodyPr/>
          <a:lstStyle/>
          <a:p>
            <a:r>
              <a:rPr lang="en-US" dirty="0"/>
              <a:t>Ergonomics </a:t>
            </a:r>
            <a:endParaRPr lang="en-PK" dirty="0"/>
          </a:p>
        </p:txBody>
      </p:sp>
      <p:sp>
        <p:nvSpPr>
          <p:cNvPr id="3" name="Content Placeholder 2">
            <a:extLst>
              <a:ext uri="{FF2B5EF4-FFF2-40B4-BE49-F238E27FC236}">
                <a16:creationId xmlns:a16="http://schemas.microsoft.com/office/drawing/2014/main" id="{2BD74533-919A-1E03-109D-CD3AC20A5149}"/>
              </a:ext>
            </a:extLst>
          </p:cNvPr>
          <p:cNvSpPr>
            <a:spLocks noGrp="1"/>
          </p:cNvSpPr>
          <p:nvPr>
            <p:ph idx="1"/>
          </p:nvPr>
        </p:nvSpPr>
        <p:spPr>
          <a:xfrm>
            <a:off x="3511049" y="336207"/>
            <a:ext cx="7315200" cy="5120640"/>
          </a:xfrm>
        </p:spPr>
        <p:txBody>
          <a:bodyPr/>
          <a:lstStyle/>
          <a:p>
            <a:r>
              <a:rPr lang="en-US" b="1" i="0" dirty="0">
                <a:solidFill>
                  <a:srgbClr val="FF0000"/>
                </a:solidFill>
                <a:effectLst/>
                <a:latin typeface="Arial" panose="020B0604020202020204" pitchFamily="34" charset="0"/>
              </a:rPr>
              <a:t>Ergonomics</a:t>
            </a:r>
            <a:r>
              <a:rPr lang="en-US" b="0" i="0" dirty="0">
                <a:solidFill>
                  <a:srgbClr val="FF0000"/>
                </a:solidFill>
                <a:effectLst/>
                <a:latin typeface="Arial" panose="020B0604020202020204" pitchFamily="34" charset="0"/>
              </a:rPr>
              <a:t> is the process of designing or arranging workplaces, products and systems so that they fit the people who use them.</a:t>
            </a:r>
            <a:endParaRPr lang="en-US" dirty="0">
              <a:solidFill>
                <a:srgbClr val="FF0000"/>
              </a:solidFill>
            </a:endParaRPr>
          </a:p>
          <a:p>
            <a:endParaRPr lang="en-PK" dirty="0"/>
          </a:p>
        </p:txBody>
      </p:sp>
      <p:pic>
        <p:nvPicPr>
          <p:cNvPr id="2050" name="Picture 2" descr="Wireless Ergonomic Keyboard &amp; Mouse ...">
            <a:extLst>
              <a:ext uri="{FF2B5EF4-FFF2-40B4-BE49-F238E27FC236}">
                <a16:creationId xmlns:a16="http://schemas.microsoft.com/office/drawing/2014/main" id="{84B1057B-3656-43A7-FF1B-F73852EEF7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0099" y="3424428"/>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rgonomic Mice and Keyboards Fit for Healthy Computing">
            <a:extLst>
              <a:ext uri="{FF2B5EF4-FFF2-40B4-BE49-F238E27FC236}">
                <a16:creationId xmlns:a16="http://schemas.microsoft.com/office/drawing/2014/main" id="{C472FDBC-17BB-446D-1A5E-89E972A578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7141" y="3701624"/>
            <a:ext cx="2618852" cy="174272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Inputs Of Interest: X-Bows Ergo-Mechanical Keyboard | Hackaday">
            <a:extLst>
              <a:ext uri="{FF2B5EF4-FFF2-40B4-BE49-F238E27FC236}">
                <a16:creationId xmlns:a16="http://schemas.microsoft.com/office/drawing/2014/main" id="{BBB57087-AD0C-3BB2-5799-70F105D66D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3822" y="0"/>
            <a:ext cx="3513319"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Rockstick 2 Vertical Ergonomic Mouse">
            <a:extLst>
              <a:ext uri="{FF2B5EF4-FFF2-40B4-BE49-F238E27FC236}">
                <a16:creationId xmlns:a16="http://schemas.microsoft.com/office/drawing/2014/main" id="{561BDB3C-730B-8493-9416-19B666179A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6719" y="57771"/>
            <a:ext cx="3711380" cy="208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08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4"/>
                                        </p:tgtEl>
                                        <p:attrNameLst>
                                          <p:attrName>style.visibility</p:attrName>
                                        </p:attrNameLst>
                                      </p:cBhvr>
                                      <p:to>
                                        <p:strVal val="visible"/>
                                      </p:to>
                                    </p:set>
                                    <p:anim calcmode="lin" valueType="num">
                                      <p:cBhvr additive="base">
                                        <p:cTn id="7" dur="500" fill="hold"/>
                                        <p:tgtEl>
                                          <p:spTgt spid="2054"/>
                                        </p:tgtEl>
                                        <p:attrNameLst>
                                          <p:attrName>ppt_x</p:attrName>
                                        </p:attrNameLst>
                                      </p:cBhvr>
                                      <p:tavLst>
                                        <p:tav tm="0">
                                          <p:val>
                                            <p:strVal val="#ppt_x"/>
                                          </p:val>
                                        </p:tav>
                                        <p:tav tm="100000">
                                          <p:val>
                                            <p:strVal val="#ppt_x"/>
                                          </p:val>
                                        </p:tav>
                                      </p:tavLst>
                                    </p:anim>
                                    <p:anim calcmode="lin" valueType="num">
                                      <p:cBhvr additive="base">
                                        <p:cTn id="8" dur="500" fill="hold"/>
                                        <p:tgtEl>
                                          <p:spTgt spid="20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056"/>
                                        </p:tgtEl>
                                        <p:attrNameLst>
                                          <p:attrName>style.visibility</p:attrName>
                                        </p:attrNameLst>
                                      </p:cBhvr>
                                      <p:to>
                                        <p:strVal val="visible"/>
                                      </p:to>
                                    </p:set>
                                    <p:animEffect transition="in" filter="fade">
                                      <p:cBhvr>
                                        <p:cTn id="13"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2AF38-6211-A8E7-6452-FC0B7DFC4B33}"/>
              </a:ext>
            </a:extLst>
          </p:cNvPr>
          <p:cNvSpPr>
            <a:spLocks noGrp="1"/>
          </p:cNvSpPr>
          <p:nvPr>
            <p:ph type="title"/>
          </p:nvPr>
        </p:nvSpPr>
        <p:spPr/>
        <p:txBody>
          <a:bodyPr/>
          <a:lstStyle/>
          <a:p>
            <a:r>
              <a:rPr lang="en-US" dirty="0"/>
              <a:t>Fits law</a:t>
            </a:r>
            <a:endParaRPr lang="en-PK" dirty="0"/>
          </a:p>
        </p:txBody>
      </p:sp>
      <p:sp>
        <p:nvSpPr>
          <p:cNvPr id="3" name="Content Placeholder 2">
            <a:extLst>
              <a:ext uri="{FF2B5EF4-FFF2-40B4-BE49-F238E27FC236}">
                <a16:creationId xmlns:a16="http://schemas.microsoft.com/office/drawing/2014/main" id="{461BECF7-92FC-8260-7EFF-01CF795E16B4}"/>
              </a:ext>
            </a:extLst>
          </p:cNvPr>
          <p:cNvSpPr>
            <a:spLocks noGrp="1"/>
          </p:cNvSpPr>
          <p:nvPr>
            <p:ph idx="1"/>
          </p:nvPr>
        </p:nvSpPr>
        <p:spPr/>
        <p:txBody>
          <a:bodyPr/>
          <a:lstStyle/>
          <a:p>
            <a:pPr algn="just"/>
            <a:r>
              <a:rPr lang="en-US" b="0" i="0" dirty="0" err="1">
                <a:solidFill>
                  <a:schemeClr val="tx1"/>
                </a:solidFill>
                <a:effectLst/>
                <a:latin typeface="Javanese Text" panose="02000000000000000000" pitchFamily="2" charset="0"/>
              </a:rPr>
              <a:t>Fitts’</a:t>
            </a:r>
            <a:r>
              <a:rPr lang="en-US" b="0" i="0" dirty="0">
                <a:solidFill>
                  <a:schemeClr val="tx1"/>
                </a:solidFill>
                <a:effectLst/>
                <a:latin typeface="Javanese Text" panose="02000000000000000000" pitchFamily="2" charset="0"/>
              </a:rPr>
              <a:t> law states that the amount of time required for a person to move a pointer (e.g., mouse cursor) to a target area is a function of the distance to the target divided by the size of the target. Thus, the longer the distance and the smaller the target’s size, the longer it takes.</a:t>
            </a:r>
          </a:p>
          <a:p>
            <a:pPr algn="just"/>
            <a:r>
              <a:rPr lang="en-US" b="0" i="0" u="sng" dirty="0">
                <a:solidFill>
                  <a:srgbClr val="000000"/>
                </a:solidFill>
                <a:effectLst>
                  <a:outerShdw blurRad="38100" dist="38100" dir="2700000" algn="tl">
                    <a:srgbClr val="000000">
                      <a:alpha val="43137"/>
                    </a:srgbClr>
                  </a:outerShdw>
                </a:effectLst>
                <a:latin typeface="Source Serif Pro Variable"/>
              </a:rPr>
              <a:t>The movement time to a target depends on the size of the target and the distance to the target.</a:t>
            </a:r>
            <a:endParaRPr lang="en-US" b="0" i="0" u="sng" dirty="0">
              <a:solidFill>
                <a:schemeClr val="tx1"/>
              </a:solidFill>
              <a:effectLst>
                <a:outerShdw blurRad="38100" dist="38100" dir="2700000" algn="tl">
                  <a:srgbClr val="000000">
                    <a:alpha val="43137"/>
                  </a:srgbClr>
                </a:outerShdw>
              </a:effectLst>
              <a:latin typeface="Javanese Text" panose="02000000000000000000" pitchFamily="2" charset="0"/>
            </a:endParaRPr>
          </a:p>
          <a:p>
            <a:pPr algn="just"/>
            <a:r>
              <a:rPr lang="en-US" b="0" i="0" dirty="0">
                <a:solidFill>
                  <a:schemeClr val="tx1"/>
                </a:solidFill>
                <a:effectLst/>
                <a:latin typeface="Google Sans"/>
              </a:rPr>
              <a:t>The mathematical formula behind </a:t>
            </a:r>
            <a:r>
              <a:rPr lang="en-US" b="0" i="0" dirty="0" err="1">
                <a:solidFill>
                  <a:schemeClr val="tx1"/>
                </a:solidFill>
                <a:effectLst/>
                <a:latin typeface="Google Sans"/>
              </a:rPr>
              <a:t>Fitts'</a:t>
            </a:r>
            <a:r>
              <a:rPr lang="en-US" b="0" i="0" dirty="0">
                <a:solidFill>
                  <a:schemeClr val="tx1"/>
                </a:solidFill>
                <a:effectLst/>
                <a:latin typeface="Google Sans"/>
              </a:rPr>
              <a:t> law is </a:t>
            </a:r>
          </a:p>
        </p:txBody>
      </p:sp>
      <p:pic>
        <p:nvPicPr>
          <p:cNvPr id="4098" name="Picture 2" descr="Movement time T is equal to a plus b multiplied by log of the ratio of two D and w">
            <a:extLst>
              <a:ext uri="{FF2B5EF4-FFF2-40B4-BE49-F238E27FC236}">
                <a16:creationId xmlns:a16="http://schemas.microsoft.com/office/drawing/2014/main" id="{6D8C2E1E-891A-F4B6-7F4B-0066485B9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2969" y="4800820"/>
            <a:ext cx="4887798" cy="1806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706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A9BAD-5C53-F658-6B4E-F1D0962A7D1F}"/>
              </a:ext>
            </a:extLst>
          </p:cNvPr>
          <p:cNvSpPr>
            <a:spLocks noGrp="1"/>
          </p:cNvSpPr>
          <p:nvPr>
            <p:ph type="title"/>
          </p:nvPr>
        </p:nvSpPr>
        <p:spPr/>
        <p:txBody>
          <a:bodyPr/>
          <a:lstStyle/>
          <a:p>
            <a:endParaRPr lang="en-PK"/>
          </a:p>
        </p:txBody>
      </p:sp>
      <p:pic>
        <p:nvPicPr>
          <p:cNvPr id="8" name="td-fitts-law-animation-click">
            <a:hlinkClick r:id="" action="ppaction://media"/>
            <a:extLst>
              <a:ext uri="{FF2B5EF4-FFF2-40B4-BE49-F238E27FC236}">
                <a16:creationId xmlns:a16="http://schemas.microsoft.com/office/drawing/2014/main" id="{C75DF554-34C4-A03B-C562-6D5AE22EB36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868738" y="1377348"/>
            <a:ext cx="7315200" cy="4114800"/>
          </a:xfrm>
        </p:spPr>
      </p:pic>
    </p:spTree>
    <p:extLst>
      <p:ext uri="{BB962C8B-B14F-4D97-AF65-F5344CB8AC3E}">
        <p14:creationId xmlns:p14="http://schemas.microsoft.com/office/powerpoint/2010/main" val="1681290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704"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1D160-BB87-B93F-0B77-324A7EEF0FA7}"/>
              </a:ext>
            </a:extLst>
          </p:cNvPr>
          <p:cNvSpPr>
            <a:spLocks noGrp="1"/>
          </p:cNvSpPr>
          <p:nvPr>
            <p:ph type="title"/>
          </p:nvPr>
        </p:nvSpPr>
        <p:spPr/>
        <p:txBody>
          <a:bodyPr/>
          <a:lstStyle/>
          <a:p>
            <a:endParaRPr lang="en-PK"/>
          </a:p>
        </p:txBody>
      </p:sp>
      <p:pic>
        <p:nvPicPr>
          <p:cNvPr id="4" name="2">
            <a:hlinkClick r:id="" action="ppaction://media"/>
            <a:extLst>
              <a:ext uri="{FF2B5EF4-FFF2-40B4-BE49-F238E27FC236}">
                <a16:creationId xmlns:a16="http://schemas.microsoft.com/office/drawing/2014/main" id="{ED8935C0-5B57-810E-C356-EE3D328764D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868738" y="1366838"/>
            <a:ext cx="7315200" cy="4114800"/>
          </a:xfrm>
        </p:spPr>
      </p:pic>
      <p:pic>
        <p:nvPicPr>
          <p:cNvPr id="5122" name="Picture 2" descr="Fitts Law applied in UX - Mobivery">
            <a:extLst>
              <a:ext uri="{FF2B5EF4-FFF2-40B4-BE49-F238E27FC236}">
                <a16:creationId xmlns:a16="http://schemas.microsoft.com/office/drawing/2014/main" id="{9810FB24-C703-13EF-AC44-DECE45216C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8989" y="2064470"/>
            <a:ext cx="3115341" cy="2328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3283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70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CE0D-125A-BA4D-464F-8576542C669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33EB5A7-3BC3-5BA7-807B-7A46A97699FF}"/>
              </a:ext>
            </a:extLst>
          </p:cNvPr>
          <p:cNvSpPr>
            <a:spLocks noGrp="1"/>
          </p:cNvSpPr>
          <p:nvPr>
            <p:ph idx="1"/>
          </p:nvPr>
        </p:nvSpPr>
        <p:spPr/>
        <p:txBody>
          <a:bodyPr/>
          <a:lstStyle/>
          <a:p>
            <a:r>
              <a:rPr lang="en-US" u="sng" dirty="0">
                <a:effectLst>
                  <a:outerShdw blurRad="38100" dist="38100" dir="2700000" algn="tl">
                    <a:srgbClr val="000000">
                      <a:alpha val="43137"/>
                    </a:srgbClr>
                  </a:outerShdw>
                </a:effectLst>
              </a:rPr>
              <a:t>Psychological differences </a:t>
            </a:r>
            <a:endParaRPr lang="en-US" u="sng" dirty="0">
              <a:solidFill>
                <a:schemeClr val="tx1"/>
              </a:solidFill>
              <a:effectLst>
                <a:outerShdw blurRad="38100" dist="38100" dir="2700000" algn="tl">
                  <a:srgbClr val="000000">
                    <a:alpha val="43137"/>
                  </a:srgbClr>
                </a:outerShdw>
              </a:effectLst>
            </a:endParaRPr>
          </a:p>
          <a:p>
            <a:r>
              <a:rPr lang="en-US" dirty="0"/>
              <a:t>Variety of ways e.g. spatial ability</a:t>
            </a:r>
          </a:p>
          <a:p>
            <a:r>
              <a:rPr lang="en-US" dirty="0"/>
              <a:t> Language and cultural differences (✓or ×)</a:t>
            </a:r>
          </a:p>
          <a:p>
            <a:r>
              <a:rPr lang="en-US" dirty="0"/>
              <a:t> Individual differences </a:t>
            </a:r>
          </a:p>
          <a:p>
            <a:r>
              <a:rPr lang="en-US" dirty="0"/>
              <a:t> Mental models</a:t>
            </a:r>
            <a:endParaRPr lang="en-PK" b="1" dirty="0"/>
          </a:p>
        </p:txBody>
      </p:sp>
    </p:spTree>
    <p:extLst>
      <p:ext uri="{BB962C8B-B14F-4D97-AF65-F5344CB8AC3E}">
        <p14:creationId xmlns:p14="http://schemas.microsoft.com/office/powerpoint/2010/main" val="1893790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B0E2B-883B-1ED8-9EC5-3D979AA8424E}"/>
              </a:ext>
            </a:extLst>
          </p:cNvPr>
          <p:cNvSpPr>
            <a:spLocks noGrp="1"/>
          </p:cNvSpPr>
          <p:nvPr>
            <p:ph type="title"/>
          </p:nvPr>
        </p:nvSpPr>
        <p:spPr/>
        <p:txBody>
          <a:bodyPr/>
          <a:lstStyle/>
          <a:p>
            <a:r>
              <a:rPr lang="en-US" dirty="0"/>
              <a:t>Mental model</a:t>
            </a:r>
            <a:endParaRPr lang="en-PK" dirty="0"/>
          </a:p>
        </p:txBody>
      </p:sp>
      <p:sp>
        <p:nvSpPr>
          <p:cNvPr id="3" name="Content Placeholder 2">
            <a:extLst>
              <a:ext uri="{FF2B5EF4-FFF2-40B4-BE49-F238E27FC236}">
                <a16:creationId xmlns:a16="http://schemas.microsoft.com/office/drawing/2014/main" id="{BAD45C10-0416-9CA6-EBC2-F229912F2E84}"/>
              </a:ext>
            </a:extLst>
          </p:cNvPr>
          <p:cNvSpPr>
            <a:spLocks noGrp="1"/>
          </p:cNvSpPr>
          <p:nvPr>
            <p:ph idx="1"/>
          </p:nvPr>
        </p:nvSpPr>
        <p:spPr/>
        <p:txBody>
          <a:bodyPr/>
          <a:lstStyle/>
          <a:p>
            <a:pPr marL="0" indent="0">
              <a:buNone/>
            </a:pPr>
            <a:r>
              <a:rPr lang="en-US" sz="2800" dirty="0">
                <a:solidFill>
                  <a:schemeClr val="tx1"/>
                </a:solidFill>
                <a:effectLst>
                  <a:outerShdw blurRad="38100" dist="38100" dir="2700000" algn="tl">
                    <a:srgbClr val="000000">
                      <a:alpha val="43137"/>
                    </a:srgbClr>
                  </a:outerShdw>
                </a:effectLst>
              </a:rPr>
              <a:t>People develop mental models through </a:t>
            </a:r>
          </a:p>
          <a:p>
            <a:r>
              <a:rPr lang="en-US" dirty="0"/>
              <a:t> interacting with systems </a:t>
            </a:r>
          </a:p>
          <a:p>
            <a:r>
              <a:rPr lang="en-US" dirty="0"/>
              <a:t> observing the relationship between their actions and the behaviors of the system </a:t>
            </a:r>
          </a:p>
          <a:p>
            <a:r>
              <a:rPr lang="en-US" dirty="0"/>
              <a:t> reading any manuals or other forms of explanation that come with a system.</a:t>
            </a:r>
          </a:p>
          <a:p>
            <a:r>
              <a:rPr lang="en-US" dirty="0"/>
              <a:t> So, it is important that designers provide sufficient information in the interface (and any accompanying documentation) for people to form an accurate mental mode</a:t>
            </a:r>
            <a:endParaRPr lang="en-PK" dirty="0"/>
          </a:p>
        </p:txBody>
      </p:sp>
    </p:spTree>
    <p:extLst>
      <p:ext uri="{BB962C8B-B14F-4D97-AF65-F5344CB8AC3E}">
        <p14:creationId xmlns:p14="http://schemas.microsoft.com/office/powerpoint/2010/main" val="241735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C050A-410D-A452-1A8B-30E1CC50CDEA}"/>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4D468066-A1E6-3354-BF79-A14549B4FA78}"/>
              </a:ext>
            </a:extLst>
          </p:cNvPr>
          <p:cNvSpPr>
            <a:spLocks noGrp="1"/>
          </p:cNvSpPr>
          <p:nvPr>
            <p:ph idx="1"/>
          </p:nvPr>
        </p:nvSpPr>
        <p:spPr/>
        <p:txBody>
          <a:bodyPr/>
          <a:lstStyle/>
          <a:p>
            <a:r>
              <a:rPr lang="en-US" dirty="0"/>
              <a:t>Designers have their own conception </a:t>
            </a:r>
          </a:p>
          <a:p>
            <a:r>
              <a:rPr lang="en-US" dirty="0"/>
              <a:t> It may differ from the actual system</a:t>
            </a:r>
          </a:p>
          <a:p>
            <a:r>
              <a:rPr lang="en-US" dirty="0"/>
              <a:t> System size and number of designers</a:t>
            </a:r>
          </a:p>
          <a:p>
            <a:r>
              <a:rPr lang="en-US" dirty="0"/>
              <a:t> System reveals the designer’s conception</a:t>
            </a:r>
          </a:p>
          <a:p>
            <a:r>
              <a:rPr lang="en-US" dirty="0"/>
              <a:t> Users have their own conception </a:t>
            </a:r>
          </a:p>
          <a:p>
            <a:r>
              <a:rPr lang="en-US" dirty="0"/>
              <a:t> interact with the system image</a:t>
            </a:r>
          </a:p>
          <a:p>
            <a:r>
              <a:rPr lang="en-US" dirty="0"/>
              <a:t> A clear, logical and consistent conceptual design is needed for Easy to communicate to users.</a:t>
            </a:r>
            <a:endParaRPr lang="en-PK" dirty="0"/>
          </a:p>
        </p:txBody>
      </p:sp>
    </p:spTree>
    <p:extLst>
      <p:ext uri="{BB962C8B-B14F-4D97-AF65-F5344CB8AC3E}">
        <p14:creationId xmlns:p14="http://schemas.microsoft.com/office/powerpoint/2010/main" val="1856979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81792-F2CF-5D10-DCBA-8298A65452A8}"/>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C15316A-3824-1E57-8E47-181E0E04165D}"/>
              </a:ext>
            </a:extLst>
          </p:cNvPr>
          <p:cNvSpPr>
            <a:spLocks noGrp="1"/>
          </p:cNvSpPr>
          <p:nvPr>
            <p:ph idx="1"/>
          </p:nvPr>
        </p:nvSpPr>
        <p:spPr/>
        <p:txBody>
          <a:bodyPr/>
          <a:lstStyle/>
          <a:p>
            <a:pPr marL="0" indent="0">
              <a:buNone/>
            </a:pPr>
            <a:r>
              <a:rPr lang="en-US" sz="2800" dirty="0">
                <a:solidFill>
                  <a:schemeClr val="tx1"/>
                </a:solidFill>
                <a:effectLst>
                  <a:outerShdw blurRad="38100" dist="38100" dir="2700000" algn="tl">
                    <a:srgbClr val="000000">
                      <a:alpha val="43137"/>
                    </a:srgbClr>
                  </a:outerShdw>
                </a:effectLst>
              </a:rPr>
              <a:t>Social Differences </a:t>
            </a:r>
          </a:p>
          <a:p>
            <a:r>
              <a:rPr lang="en-US" dirty="0"/>
              <a:t> Different reasons/goals/motivations of system usage \</a:t>
            </a:r>
          </a:p>
          <a:p>
            <a:r>
              <a:rPr lang="en-US" dirty="0"/>
              <a:t>Time dependent </a:t>
            </a:r>
          </a:p>
          <a:p>
            <a:r>
              <a:rPr lang="en-US" dirty="0"/>
              <a:t>Novice and expert users</a:t>
            </a:r>
          </a:p>
          <a:p>
            <a:pPr marL="0" indent="0">
              <a:buNone/>
            </a:pPr>
            <a:r>
              <a:rPr lang="en-US" sz="2800" dirty="0">
                <a:solidFill>
                  <a:schemeClr val="tx1"/>
                </a:solidFill>
                <a:effectLst>
                  <a:outerShdw blurRad="38100" dist="38100" dir="2700000" algn="tl">
                    <a:srgbClr val="000000">
                      <a:alpha val="43137"/>
                    </a:srgbClr>
                  </a:outerShdw>
                </a:effectLst>
              </a:rPr>
              <a:t>Attitudinal Differences </a:t>
            </a:r>
          </a:p>
          <a:p>
            <a:pPr marL="0" indent="0">
              <a:buNone/>
            </a:pPr>
            <a:r>
              <a:rPr lang="en-US" dirty="0"/>
              <a:t>Self-pride, personal goal, global issues</a:t>
            </a:r>
            <a:endParaRPr lang="en-PK" dirty="0"/>
          </a:p>
        </p:txBody>
      </p:sp>
    </p:spTree>
    <p:extLst>
      <p:ext uri="{BB962C8B-B14F-4D97-AF65-F5344CB8AC3E}">
        <p14:creationId xmlns:p14="http://schemas.microsoft.com/office/powerpoint/2010/main" val="1909638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B9D0F-BBF6-E4F9-8679-5B903232C6D2}"/>
              </a:ext>
            </a:extLst>
          </p:cNvPr>
          <p:cNvSpPr>
            <a:spLocks noGrp="1"/>
          </p:cNvSpPr>
          <p:nvPr>
            <p:ph type="title"/>
          </p:nvPr>
        </p:nvSpPr>
        <p:spPr/>
        <p:txBody>
          <a:bodyPr/>
          <a:lstStyle/>
          <a:p>
            <a:r>
              <a:rPr lang="en-US" b="1" i="0" dirty="0">
                <a:solidFill>
                  <a:srgbClr val="242424"/>
                </a:solidFill>
                <a:effectLst/>
                <a:latin typeface="source-serif-pro"/>
              </a:rPr>
              <a:t>Activities</a:t>
            </a:r>
            <a:endParaRPr lang="en-PK" dirty="0"/>
          </a:p>
        </p:txBody>
      </p:sp>
      <p:sp>
        <p:nvSpPr>
          <p:cNvPr id="3" name="Content Placeholder 2">
            <a:extLst>
              <a:ext uri="{FF2B5EF4-FFF2-40B4-BE49-F238E27FC236}">
                <a16:creationId xmlns:a16="http://schemas.microsoft.com/office/drawing/2014/main" id="{3820DB7C-5DCA-3FA6-C9DE-19DF05E88331}"/>
              </a:ext>
            </a:extLst>
          </p:cNvPr>
          <p:cNvSpPr>
            <a:spLocks noGrp="1"/>
          </p:cNvSpPr>
          <p:nvPr>
            <p:ph idx="1"/>
          </p:nvPr>
        </p:nvSpPr>
        <p:spPr/>
        <p:txBody>
          <a:bodyPr/>
          <a:lstStyle/>
          <a:p>
            <a:r>
              <a:rPr lang="en-US" dirty="0">
                <a:solidFill>
                  <a:srgbClr val="242424"/>
                </a:solidFill>
                <a:latin typeface="source-serif-pro"/>
              </a:rPr>
              <a:t>I</a:t>
            </a:r>
            <a:r>
              <a:rPr lang="en-US" b="0" i="0" dirty="0">
                <a:solidFill>
                  <a:srgbClr val="242424"/>
                </a:solidFill>
                <a:effectLst/>
                <a:latin typeface="source-serif-pro"/>
              </a:rPr>
              <a:t>n order to design interfaces that facilitate desired user interactions, designers must analyze the activities performed by users within the system. </a:t>
            </a:r>
          </a:p>
          <a:p>
            <a:r>
              <a:rPr lang="en-US" b="0" i="0" dirty="0">
                <a:solidFill>
                  <a:srgbClr val="242424"/>
                </a:solidFill>
                <a:effectLst/>
                <a:latin typeface="source-serif-pro"/>
              </a:rPr>
              <a:t>By identifying the tasks, workflows, and processes users engage in, designers can streamline the interface, making it efficient and seamless. </a:t>
            </a:r>
          </a:p>
          <a:p>
            <a:r>
              <a:rPr lang="en-US" b="0" i="0" dirty="0">
                <a:solidFill>
                  <a:srgbClr val="242424"/>
                </a:solidFill>
                <a:effectLst/>
                <a:latin typeface="source-serif-pro"/>
              </a:rPr>
              <a:t>This analysis helps in identifying potential bottlenecks and areas for improvement, ultimately enhancing user productivity and satisfaction.</a:t>
            </a:r>
            <a:endParaRPr lang="en-PK" dirty="0"/>
          </a:p>
        </p:txBody>
      </p:sp>
    </p:spTree>
    <p:extLst>
      <p:ext uri="{BB962C8B-B14F-4D97-AF65-F5344CB8AC3E}">
        <p14:creationId xmlns:p14="http://schemas.microsoft.com/office/powerpoint/2010/main" val="1253282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D2D18-3D19-3B7B-D155-674F25D48A6D}"/>
              </a:ext>
            </a:extLst>
          </p:cNvPr>
          <p:cNvSpPr>
            <a:spLocks noGrp="1"/>
          </p:cNvSpPr>
          <p:nvPr>
            <p:ph type="title"/>
          </p:nvPr>
        </p:nvSpPr>
        <p:spPr/>
        <p:txBody>
          <a:bodyPr/>
          <a:lstStyle/>
          <a:p>
            <a:r>
              <a:rPr lang="en-US" dirty="0"/>
              <a:t>Activities</a:t>
            </a:r>
            <a:endParaRPr lang="en-PK" dirty="0"/>
          </a:p>
        </p:txBody>
      </p:sp>
      <p:sp>
        <p:nvSpPr>
          <p:cNvPr id="3" name="Content Placeholder 2">
            <a:extLst>
              <a:ext uri="{FF2B5EF4-FFF2-40B4-BE49-F238E27FC236}">
                <a16:creationId xmlns:a16="http://schemas.microsoft.com/office/drawing/2014/main" id="{DA42E88F-D405-6CF2-5708-CEAE3BC02BAC}"/>
              </a:ext>
            </a:extLst>
          </p:cNvPr>
          <p:cNvSpPr>
            <a:spLocks noGrp="1"/>
          </p:cNvSpPr>
          <p:nvPr>
            <p:ph idx="1"/>
          </p:nvPr>
        </p:nvSpPr>
        <p:spPr/>
        <p:txBody>
          <a:bodyPr/>
          <a:lstStyle/>
          <a:p>
            <a:r>
              <a:rPr lang="en-US" dirty="0"/>
              <a:t>Simple to very complex tasks</a:t>
            </a:r>
          </a:p>
          <a:p>
            <a:pPr lvl="1"/>
            <a:r>
              <a:rPr lang="en-US" dirty="0"/>
              <a:t> Main purpose of the task</a:t>
            </a:r>
          </a:p>
          <a:p>
            <a:pPr lvl="1"/>
            <a:r>
              <a:rPr lang="en-US" dirty="0"/>
              <a:t>Temporal aspects</a:t>
            </a:r>
          </a:p>
          <a:p>
            <a:pPr lvl="1"/>
            <a:r>
              <a:rPr lang="en-US" dirty="0"/>
              <a:t> Frequency of the task</a:t>
            </a:r>
          </a:p>
          <a:p>
            <a:r>
              <a:rPr lang="en-US" dirty="0"/>
              <a:t>Easy to do VS easy to learn</a:t>
            </a:r>
          </a:p>
          <a:p>
            <a:pPr lvl="1"/>
            <a:r>
              <a:rPr lang="en-US" dirty="0"/>
              <a:t>Time pressure</a:t>
            </a:r>
          </a:p>
          <a:p>
            <a:pPr lvl="1"/>
            <a:r>
              <a:rPr lang="en-US" dirty="0"/>
              <a:t>Interruption during the task</a:t>
            </a:r>
          </a:p>
          <a:p>
            <a:pPr lvl="1"/>
            <a:r>
              <a:rPr lang="en-US" dirty="0"/>
              <a:t>Response time</a:t>
            </a:r>
          </a:p>
          <a:p>
            <a:r>
              <a:rPr lang="en-US" dirty="0"/>
              <a:t>100 milliseconds for hand–eye coordination activities</a:t>
            </a:r>
          </a:p>
          <a:p>
            <a:r>
              <a:rPr lang="en-US" dirty="0"/>
              <a:t> 01 second for a cause–effect relationship</a:t>
            </a:r>
          </a:p>
          <a:p>
            <a:r>
              <a:rPr lang="en-US" dirty="0"/>
              <a:t> Anything more than 5 seconds causes frustration</a:t>
            </a:r>
            <a:endParaRPr lang="en-PK" dirty="0"/>
          </a:p>
        </p:txBody>
      </p:sp>
    </p:spTree>
    <p:extLst>
      <p:ext uri="{BB962C8B-B14F-4D97-AF65-F5344CB8AC3E}">
        <p14:creationId xmlns:p14="http://schemas.microsoft.com/office/powerpoint/2010/main" val="67082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F4E92-EB86-46A4-CD9E-678711274B4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BBEB9A8-BC83-452D-C8EE-988173B8D234}"/>
              </a:ext>
            </a:extLst>
          </p:cNvPr>
          <p:cNvSpPr>
            <a:spLocks noGrp="1"/>
          </p:cNvSpPr>
          <p:nvPr>
            <p:ph idx="1"/>
          </p:nvPr>
        </p:nvSpPr>
        <p:spPr/>
        <p:txBody>
          <a:bodyPr/>
          <a:lstStyle/>
          <a:p>
            <a:r>
              <a:rPr lang="en-US" dirty="0"/>
              <a:t>Cooperation</a:t>
            </a:r>
          </a:p>
          <a:p>
            <a:pPr lvl="1"/>
            <a:r>
              <a:rPr lang="en-US" dirty="0"/>
              <a:t> Individual VS group task</a:t>
            </a:r>
          </a:p>
          <a:p>
            <a:pPr lvl="1"/>
            <a:r>
              <a:rPr lang="en-US" dirty="0"/>
              <a:t> Awareness, communication, and coordination</a:t>
            </a:r>
          </a:p>
          <a:p>
            <a:r>
              <a:rPr lang="en-US" dirty="0"/>
              <a:t>Complexity</a:t>
            </a:r>
          </a:p>
          <a:p>
            <a:pPr lvl="1"/>
            <a:r>
              <a:rPr lang="en-US" dirty="0"/>
              <a:t>Well-defined VS vague task</a:t>
            </a:r>
          </a:p>
          <a:p>
            <a:r>
              <a:rPr lang="en-US" dirty="0"/>
              <a:t> Safety-critical</a:t>
            </a:r>
          </a:p>
          <a:p>
            <a:pPr lvl="1"/>
            <a:r>
              <a:rPr lang="en-US" dirty="0"/>
              <a:t>Serious consequences</a:t>
            </a:r>
          </a:p>
          <a:p>
            <a:pPr lvl="1"/>
            <a:r>
              <a:rPr lang="en-US" dirty="0"/>
              <a:t>Error handling</a:t>
            </a:r>
          </a:p>
          <a:p>
            <a:r>
              <a:rPr lang="en-US" dirty="0"/>
              <a:t>Nature of content</a:t>
            </a:r>
          </a:p>
          <a:p>
            <a:pPr lvl="1"/>
            <a:r>
              <a:rPr lang="en-US" dirty="0"/>
              <a:t>Text VS video data</a:t>
            </a:r>
          </a:p>
          <a:p>
            <a:pPr lvl="1"/>
            <a:r>
              <a:rPr lang="en-US" dirty="0"/>
              <a:t>Media</a:t>
            </a:r>
            <a:endParaRPr lang="en-PK" dirty="0"/>
          </a:p>
        </p:txBody>
      </p:sp>
    </p:spTree>
    <p:extLst>
      <p:ext uri="{BB962C8B-B14F-4D97-AF65-F5344CB8AC3E}">
        <p14:creationId xmlns:p14="http://schemas.microsoft.com/office/powerpoint/2010/main" val="655602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F18E-D036-3C7D-EEE0-5457AA21143C}"/>
              </a:ext>
            </a:extLst>
          </p:cNvPr>
          <p:cNvSpPr>
            <a:spLocks noGrp="1"/>
          </p:cNvSpPr>
          <p:nvPr>
            <p:ph type="title"/>
          </p:nvPr>
        </p:nvSpPr>
        <p:spPr/>
        <p:txBody>
          <a:bodyPr/>
          <a:lstStyle/>
          <a:p>
            <a:r>
              <a:rPr lang="en-US" dirty="0"/>
              <a:t>Context </a:t>
            </a:r>
            <a:endParaRPr lang="en-PK" dirty="0"/>
          </a:p>
        </p:txBody>
      </p:sp>
      <p:sp>
        <p:nvSpPr>
          <p:cNvPr id="3" name="Content Placeholder 2">
            <a:extLst>
              <a:ext uri="{FF2B5EF4-FFF2-40B4-BE49-F238E27FC236}">
                <a16:creationId xmlns:a16="http://schemas.microsoft.com/office/drawing/2014/main" id="{554B1967-3174-A912-9D3F-EB89D24DE408}"/>
              </a:ext>
            </a:extLst>
          </p:cNvPr>
          <p:cNvSpPr>
            <a:spLocks noGrp="1"/>
          </p:cNvSpPr>
          <p:nvPr>
            <p:ph idx="1"/>
          </p:nvPr>
        </p:nvSpPr>
        <p:spPr/>
        <p:txBody>
          <a:bodyPr/>
          <a:lstStyle/>
          <a:p>
            <a:r>
              <a:rPr lang="en-US" b="0" i="0" dirty="0">
                <a:solidFill>
                  <a:srgbClr val="242424"/>
                </a:solidFill>
                <a:effectLst/>
                <a:latin typeface="source-serif-pro"/>
              </a:rPr>
              <a:t>The context in which users interact with an interface plays a crucial role in shaping their experiences. </a:t>
            </a:r>
          </a:p>
          <a:p>
            <a:r>
              <a:rPr lang="en-US" b="0" i="0" dirty="0">
                <a:solidFill>
                  <a:srgbClr val="242424"/>
                </a:solidFill>
                <a:effectLst/>
                <a:latin typeface="source-serif-pro"/>
              </a:rPr>
              <a:t>Factors such as the user’s environment, time constraints, device capabilities, and cultural considerations heavily influence interface design decisions. </a:t>
            </a:r>
          </a:p>
          <a:p>
            <a:r>
              <a:rPr lang="en-US" b="0" i="0" dirty="0">
                <a:solidFill>
                  <a:srgbClr val="242424"/>
                </a:solidFill>
                <a:effectLst/>
                <a:latin typeface="source-serif-pro"/>
              </a:rPr>
              <a:t>By comprehending the contextual factors, designers can create interfaces that are adaptable, responsive, and contextually relevant, leading to a more engaging user experience.</a:t>
            </a:r>
            <a:endParaRPr lang="en-PK" dirty="0"/>
          </a:p>
        </p:txBody>
      </p:sp>
    </p:spTree>
    <p:extLst>
      <p:ext uri="{BB962C8B-B14F-4D97-AF65-F5344CB8AC3E}">
        <p14:creationId xmlns:p14="http://schemas.microsoft.com/office/powerpoint/2010/main" val="52696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AD087-8F62-C3F3-667C-485FC56887D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AA5369B-D2B2-9099-CA33-4E5FCC42FB4C}"/>
              </a:ext>
            </a:extLst>
          </p:cNvPr>
          <p:cNvSpPr>
            <a:spLocks noGrp="1"/>
          </p:cNvSpPr>
          <p:nvPr>
            <p:ph idx="1"/>
          </p:nvPr>
        </p:nvSpPr>
        <p:spPr/>
        <p:txBody>
          <a:bodyPr/>
          <a:lstStyle/>
          <a:p>
            <a:r>
              <a:rPr lang="en-US" dirty="0"/>
              <a:t>Activities always have some context  Surrounding VS multiple activities </a:t>
            </a:r>
          </a:p>
          <a:p>
            <a:r>
              <a:rPr lang="en-US" dirty="0"/>
              <a:t>Physical environment </a:t>
            </a:r>
          </a:p>
          <a:p>
            <a:pPr lvl="1"/>
            <a:r>
              <a:rPr lang="en-US" dirty="0"/>
              <a:t> Light, noise </a:t>
            </a:r>
            <a:r>
              <a:rPr lang="en-US" dirty="0" err="1"/>
              <a:t>etc</a:t>
            </a:r>
            <a:r>
              <a:rPr lang="en-US" dirty="0"/>
              <a:t> </a:t>
            </a:r>
          </a:p>
          <a:p>
            <a:r>
              <a:rPr lang="en-US" dirty="0"/>
              <a:t>Social context </a:t>
            </a:r>
          </a:p>
          <a:p>
            <a:pPr lvl="1"/>
            <a:r>
              <a:rPr lang="en-US" dirty="0"/>
              <a:t> Social norms </a:t>
            </a:r>
          </a:p>
          <a:p>
            <a:pPr marL="0" indent="0">
              <a:buNone/>
            </a:pPr>
            <a:r>
              <a:rPr lang="en-US" dirty="0"/>
              <a:t> Organizational context </a:t>
            </a:r>
          </a:p>
          <a:p>
            <a:pPr lvl="1"/>
            <a:r>
              <a:rPr lang="en-US" dirty="0"/>
              <a:t> Power/authority</a:t>
            </a:r>
            <a:endParaRPr lang="en-PK" dirty="0"/>
          </a:p>
        </p:txBody>
      </p:sp>
    </p:spTree>
    <p:extLst>
      <p:ext uri="{BB962C8B-B14F-4D97-AF65-F5344CB8AC3E}">
        <p14:creationId xmlns:p14="http://schemas.microsoft.com/office/powerpoint/2010/main" val="3714963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A1678-C162-7CD6-2C91-BFDF6F55CA13}"/>
              </a:ext>
            </a:extLst>
          </p:cNvPr>
          <p:cNvSpPr>
            <a:spLocks noGrp="1"/>
          </p:cNvSpPr>
          <p:nvPr>
            <p:ph type="title"/>
          </p:nvPr>
        </p:nvSpPr>
        <p:spPr/>
        <p:txBody>
          <a:bodyPr/>
          <a:lstStyle/>
          <a:p>
            <a:r>
              <a:rPr lang="en-US" dirty="0"/>
              <a:t>Technologies </a:t>
            </a:r>
            <a:endParaRPr lang="en-PK" dirty="0"/>
          </a:p>
        </p:txBody>
      </p:sp>
      <p:sp>
        <p:nvSpPr>
          <p:cNvPr id="3" name="Content Placeholder 2">
            <a:extLst>
              <a:ext uri="{FF2B5EF4-FFF2-40B4-BE49-F238E27FC236}">
                <a16:creationId xmlns:a16="http://schemas.microsoft.com/office/drawing/2014/main" id="{78257287-13F5-40E5-DCF0-A4888F5E3818}"/>
              </a:ext>
            </a:extLst>
          </p:cNvPr>
          <p:cNvSpPr>
            <a:spLocks noGrp="1"/>
          </p:cNvSpPr>
          <p:nvPr>
            <p:ph idx="1"/>
          </p:nvPr>
        </p:nvSpPr>
        <p:spPr/>
        <p:txBody>
          <a:bodyPr/>
          <a:lstStyle/>
          <a:p>
            <a:r>
              <a:rPr lang="en-US" b="0" i="0" dirty="0">
                <a:solidFill>
                  <a:srgbClr val="242424"/>
                </a:solidFill>
                <a:effectLst/>
                <a:latin typeface="source-serif-pro"/>
              </a:rPr>
              <a:t>Technologies form the backbone of any UI design. Evaluating and leveraging appropriate technologies ensures that the interface is compatible, reliable, and efficient. Keeping up with the latest advancements in UI design tools and technologies allows designers to leverage their full potential, resulting in interfaces that are aesthetically pleasing, responsive, and technologically robust.</a:t>
            </a:r>
            <a:endParaRPr lang="en-PK" dirty="0"/>
          </a:p>
        </p:txBody>
      </p:sp>
    </p:spTree>
    <p:extLst>
      <p:ext uri="{BB962C8B-B14F-4D97-AF65-F5344CB8AC3E}">
        <p14:creationId xmlns:p14="http://schemas.microsoft.com/office/powerpoint/2010/main" val="384492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750AB-9AA1-7486-5DC5-ACF2537E352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83EBD82-848B-45B6-A605-065D827C1F15}"/>
              </a:ext>
            </a:extLst>
          </p:cNvPr>
          <p:cNvSpPr>
            <a:spLocks noGrp="1"/>
          </p:cNvSpPr>
          <p:nvPr>
            <p:ph idx="1"/>
          </p:nvPr>
        </p:nvSpPr>
        <p:spPr/>
        <p:txBody>
          <a:bodyPr/>
          <a:lstStyle/>
          <a:p>
            <a:r>
              <a:rPr lang="en-US" dirty="0"/>
              <a:t> Hardware and software </a:t>
            </a:r>
          </a:p>
          <a:p>
            <a:r>
              <a:rPr lang="en-US" dirty="0"/>
              <a:t> Large variety of devices </a:t>
            </a:r>
          </a:p>
          <a:p>
            <a:r>
              <a:rPr lang="en-US" dirty="0"/>
              <a:t> Processing cycle </a:t>
            </a:r>
          </a:p>
          <a:p>
            <a:r>
              <a:rPr lang="en-US" dirty="0"/>
              <a:t> Input  Buttons – direct method </a:t>
            </a:r>
          </a:p>
          <a:p>
            <a:r>
              <a:rPr lang="en-US" dirty="0"/>
              <a:t>Mobile phones? </a:t>
            </a:r>
          </a:p>
          <a:p>
            <a:r>
              <a:rPr lang="en-US" dirty="0"/>
              <a:t> ‘QWERTY’ keyboard – 1868 </a:t>
            </a:r>
          </a:p>
          <a:p>
            <a:r>
              <a:rPr lang="en-US" dirty="0"/>
              <a:t>Single touch VS multi touch </a:t>
            </a:r>
          </a:p>
          <a:p>
            <a:r>
              <a:rPr lang="en-US" dirty="0"/>
              <a:t>Remote pointing </a:t>
            </a:r>
          </a:p>
          <a:p>
            <a:r>
              <a:rPr lang="en-US" dirty="0"/>
              <a:t> Different sensors</a:t>
            </a:r>
            <a:endParaRPr lang="en-PK" dirty="0"/>
          </a:p>
        </p:txBody>
      </p:sp>
    </p:spTree>
    <p:extLst>
      <p:ext uri="{BB962C8B-B14F-4D97-AF65-F5344CB8AC3E}">
        <p14:creationId xmlns:p14="http://schemas.microsoft.com/office/powerpoint/2010/main" val="4044465402"/>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TM03457475[[fn=Frame]]</Template>
  <TotalTime>313</TotalTime>
  <Words>909</Words>
  <Application>Microsoft Office PowerPoint</Application>
  <PresentationFormat>Widescreen</PresentationFormat>
  <Paragraphs>102</Paragraphs>
  <Slides>19</Slides>
  <Notes>0</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Corbel</vt:lpstr>
      <vt:lpstr>Google Sans</vt:lpstr>
      <vt:lpstr>Javanese Text</vt:lpstr>
      <vt:lpstr>Source Serif Pro Variable</vt:lpstr>
      <vt:lpstr>source-serif-pro</vt:lpstr>
      <vt:lpstr>Wingdings 2</vt:lpstr>
      <vt:lpstr>Frame</vt:lpstr>
      <vt:lpstr>PACT FRAMEWORK </vt:lpstr>
      <vt:lpstr>Introduction </vt:lpstr>
      <vt:lpstr>Importance </vt:lpstr>
      <vt:lpstr>People </vt:lpstr>
      <vt:lpstr>Ergonomics </vt:lpstr>
      <vt:lpstr>Fits law</vt:lpstr>
      <vt:lpstr>PowerPoint Presentation</vt:lpstr>
      <vt:lpstr>PowerPoint Presentation</vt:lpstr>
      <vt:lpstr>PowerPoint Presentation</vt:lpstr>
      <vt:lpstr>Mental model</vt:lpstr>
      <vt:lpstr>PowerPoint Presentation</vt:lpstr>
      <vt:lpstr>PowerPoint Presentation</vt:lpstr>
      <vt:lpstr>Activities</vt:lpstr>
      <vt:lpstr>Activities</vt:lpstr>
      <vt:lpstr>PowerPoint Presentation</vt:lpstr>
      <vt:lpstr>Context </vt:lpstr>
      <vt:lpstr>PowerPoint Presentation</vt:lpstr>
      <vt:lpstr>Technologies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PACT FRAMEWORK </dc:title>
  <dc:creator>Iqra Shahzad</dc:creator>
  <cp:lastModifiedBy>zulqarnain hassan</cp:lastModifiedBy>
  <cp:revision>25</cp:revision>
  <dcterms:created xsi:type="dcterms:W3CDTF">2024-09-13T04:33:54Z</dcterms:created>
  <dcterms:modified xsi:type="dcterms:W3CDTF">2024-10-11T09:37:19Z</dcterms:modified>
</cp:coreProperties>
</file>