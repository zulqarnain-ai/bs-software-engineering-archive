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56" r:id="rId2"/>
    <p:sldId id="257" r:id="rId3"/>
    <p:sldId id="259" r:id="rId4"/>
    <p:sldId id="262" r:id="rId5"/>
    <p:sldId id="258" r:id="rId6"/>
    <p:sldId id="260" r:id="rId7"/>
    <p:sldId id="261" r:id="rId8"/>
    <p:sldId id="264" r:id="rId9"/>
    <p:sldId id="263" r:id="rId10"/>
    <p:sldId id="266" r:id="rId11"/>
    <p:sldId id="267" r:id="rId12"/>
    <p:sldId id="265" r:id="rId13"/>
    <p:sldId id="269" r:id="rId14"/>
    <p:sldId id="268" r:id="rId15"/>
    <p:sldId id="270" r:id="rId16"/>
    <p:sldId id="272" r:id="rId17"/>
    <p:sldId id="271" r:id="rId18"/>
    <p:sldId id="273" r:id="rId19"/>
    <p:sldId id="335" r:id="rId20"/>
    <p:sldId id="336" r:id="rId21"/>
    <p:sldId id="337" r:id="rId22"/>
    <p:sldId id="338" r:id="rId23"/>
    <p:sldId id="339" r:id="rId24"/>
    <p:sldId id="340"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2579" autoAdjust="0"/>
  </p:normalViewPr>
  <p:slideViewPr>
    <p:cSldViewPr snapToGrid="0">
      <p:cViewPr>
        <p:scale>
          <a:sx n="53" d="100"/>
          <a:sy n="53" d="100"/>
        </p:scale>
        <p:origin x="1838"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47D406-A78A-4092-B690-0D123CC8CD65}" type="datetimeFigureOut">
              <a:rPr lang="en-PK" smtClean="0"/>
              <a:t>13/09/2024</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FC40C6-5967-46D2-A4D9-1DD93A1F746A}" type="slidenum">
              <a:rPr lang="en-PK" smtClean="0"/>
              <a:t>‹#›</a:t>
            </a:fld>
            <a:endParaRPr lang="en-PK"/>
          </a:p>
        </p:txBody>
      </p:sp>
    </p:spTree>
    <p:extLst>
      <p:ext uri="{BB962C8B-B14F-4D97-AF65-F5344CB8AC3E}">
        <p14:creationId xmlns:p14="http://schemas.microsoft.com/office/powerpoint/2010/main" val="21151452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BFBFBF"/>
                </a:solidFill>
                <a:effectLst/>
                <a:latin typeface="Google Sans"/>
              </a:rPr>
              <a:t>Google Nest is a line of smart home products including smart speakers, smart displays, streaming devices, thermostats, smoke detectors, routers and security systems including smart doorbells, cameras and smart locks</a:t>
            </a:r>
            <a:endParaRPr lang="en-PK" dirty="0"/>
          </a:p>
        </p:txBody>
      </p:sp>
      <p:sp>
        <p:nvSpPr>
          <p:cNvPr id="4" name="Slide Number Placeholder 3"/>
          <p:cNvSpPr>
            <a:spLocks noGrp="1"/>
          </p:cNvSpPr>
          <p:nvPr>
            <p:ph type="sldNum" sz="quarter" idx="5"/>
          </p:nvPr>
        </p:nvSpPr>
        <p:spPr/>
        <p:txBody>
          <a:bodyPr/>
          <a:lstStyle/>
          <a:p>
            <a:fld id="{82FC40C6-5967-46D2-A4D9-1DD93A1F746A}" type="slidenum">
              <a:rPr lang="en-PK" smtClean="0"/>
              <a:t>5</a:t>
            </a:fld>
            <a:endParaRPr lang="en-PK"/>
          </a:p>
        </p:txBody>
      </p:sp>
    </p:spTree>
    <p:extLst>
      <p:ext uri="{BB962C8B-B14F-4D97-AF65-F5344CB8AC3E}">
        <p14:creationId xmlns:p14="http://schemas.microsoft.com/office/powerpoint/2010/main" val="24073116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NEST – Ac controller</a:t>
            </a:r>
          </a:p>
          <a:p>
            <a:r>
              <a:rPr lang="en-US" dirty="0"/>
              <a:t> interaction with ease.</a:t>
            </a:r>
            <a:endParaRPr lang="en-PK" dirty="0"/>
          </a:p>
        </p:txBody>
      </p:sp>
      <p:sp>
        <p:nvSpPr>
          <p:cNvPr id="4" name="Slide Number Placeholder 3"/>
          <p:cNvSpPr>
            <a:spLocks noGrp="1"/>
          </p:cNvSpPr>
          <p:nvPr>
            <p:ph type="sldNum" sz="quarter" idx="5"/>
          </p:nvPr>
        </p:nvSpPr>
        <p:spPr/>
        <p:txBody>
          <a:bodyPr/>
          <a:lstStyle/>
          <a:p>
            <a:fld id="{82FC40C6-5967-46D2-A4D9-1DD93A1F746A}" type="slidenum">
              <a:rPr lang="en-PK" smtClean="0"/>
              <a:t>6</a:t>
            </a:fld>
            <a:endParaRPr lang="en-PK"/>
          </a:p>
        </p:txBody>
      </p:sp>
    </p:spTree>
    <p:extLst>
      <p:ext uri="{BB962C8B-B14F-4D97-AF65-F5344CB8AC3E}">
        <p14:creationId xmlns:p14="http://schemas.microsoft.com/office/powerpoint/2010/main" val="14618488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Eye tracking</a:t>
            </a:r>
            <a:endParaRPr lang="en-PK" dirty="0"/>
          </a:p>
        </p:txBody>
      </p:sp>
      <p:sp>
        <p:nvSpPr>
          <p:cNvPr id="4" name="Slide Number Placeholder 3"/>
          <p:cNvSpPr>
            <a:spLocks noGrp="1"/>
          </p:cNvSpPr>
          <p:nvPr>
            <p:ph type="sldNum" sz="quarter" idx="5"/>
          </p:nvPr>
        </p:nvSpPr>
        <p:spPr/>
        <p:txBody>
          <a:bodyPr/>
          <a:lstStyle/>
          <a:p>
            <a:fld id="{82FC40C6-5967-46D2-A4D9-1DD93A1F746A}" type="slidenum">
              <a:rPr lang="en-PK" smtClean="0"/>
              <a:t>7</a:t>
            </a:fld>
            <a:endParaRPr lang="en-PK"/>
          </a:p>
        </p:txBody>
      </p:sp>
    </p:spTree>
    <p:extLst>
      <p:ext uri="{BB962C8B-B14F-4D97-AF65-F5344CB8AC3E}">
        <p14:creationId xmlns:p14="http://schemas.microsoft.com/office/powerpoint/2010/main" val="34904909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interface we can have three types of </a:t>
            </a:r>
            <a:r>
              <a:rPr lang="en-US" dirty="0" err="1"/>
              <a:t>interations</a:t>
            </a:r>
            <a:endParaRPr lang="en-PK" dirty="0"/>
          </a:p>
        </p:txBody>
      </p:sp>
      <p:sp>
        <p:nvSpPr>
          <p:cNvPr id="4" name="Slide Number Placeholder 3"/>
          <p:cNvSpPr>
            <a:spLocks noGrp="1"/>
          </p:cNvSpPr>
          <p:nvPr>
            <p:ph type="sldNum" sz="quarter" idx="5"/>
          </p:nvPr>
        </p:nvSpPr>
        <p:spPr/>
        <p:txBody>
          <a:bodyPr/>
          <a:lstStyle/>
          <a:p>
            <a:fld id="{82FC40C6-5967-46D2-A4D9-1DD93A1F746A}" type="slidenum">
              <a:rPr lang="en-PK" smtClean="0"/>
              <a:t>14</a:t>
            </a:fld>
            <a:endParaRPr lang="en-PK"/>
          </a:p>
        </p:txBody>
      </p:sp>
    </p:spTree>
    <p:extLst>
      <p:ext uri="{BB962C8B-B14F-4D97-AF65-F5344CB8AC3E}">
        <p14:creationId xmlns:p14="http://schemas.microsoft.com/office/powerpoint/2010/main" val="1563780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82FC40C6-5967-46D2-A4D9-1DD93A1F746A}" type="slidenum">
              <a:rPr lang="en-PK" smtClean="0"/>
              <a:t>18</a:t>
            </a:fld>
            <a:endParaRPr lang="en-PK"/>
          </a:p>
        </p:txBody>
      </p:sp>
    </p:spTree>
    <p:extLst>
      <p:ext uri="{BB962C8B-B14F-4D97-AF65-F5344CB8AC3E}">
        <p14:creationId xmlns:p14="http://schemas.microsoft.com/office/powerpoint/2010/main" val="18744068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13343"/>
                </a:solidFill>
                <a:effectLst/>
                <a:latin typeface="Lexend Deca"/>
              </a:rPr>
              <a:t>Spotify succeeded by empathizing with their users’ struggle to pay for music from disparate sources and created a solution we could all embrace. Thanks to Spotify, users can get all their music in one place for one monthly fee. I’m willing to pay more for that kind of tailored, customized, helpful service.</a:t>
            </a:r>
            <a:endParaRPr lang="en-PK" dirty="0"/>
          </a:p>
        </p:txBody>
      </p:sp>
      <p:sp>
        <p:nvSpPr>
          <p:cNvPr id="4" name="Slide Number Placeholder 3"/>
          <p:cNvSpPr>
            <a:spLocks noGrp="1"/>
          </p:cNvSpPr>
          <p:nvPr>
            <p:ph type="sldNum" sz="quarter" idx="5"/>
          </p:nvPr>
        </p:nvSpPr>
        <p:spPr/>
        <p:txBody>
          <a:bodyPr/>
          <a:lstStyle/>
          <a:p>
            <a:fld id="{82FC40C6-5967-46D2-A4D9-1DD93A1F746A}" type="slidenum">
              <a:rPr lang="en-PK" smtClean="0"/>
              <a:t>24</a:t>
            </a:fld>
            <a:endParaRPr lang="en-PK"/>
          </a:p>
        </p:txBody>
      </p:sp>
    </p:spTree>
    <p:extLst>
      <p:ext uri="{BB962C8B-B14F-4D97-AF65-F5344CB8AC3E}">
        <p14:creationId xmlns:p14="http://schemas.microsoft.com/office/powerpoint/2010/main" val="39415846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B92E2A6-2CEA-4798-8290-6F03C968C85D}" type="datetimeFigureOut">
              <a:rPr lang="en-PK" smtClean="0"/>
              <a:t>13/09/2024</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B5CCDC6F-C2E8-4520-8308-0E48692BFB05}" type="slidenum">
              <a:rPr lang="en-PK" smtClean="0"/>
              <a:t>‹#›</a:t>
            </a:fld>
            <a:endParaRPr lang="en-PK"/>
          </a:p>
        </p:txBody>
      </p:sp>
    </p:spTree>
    <p:extLst>
      <p:ext uri="{BB962C8B-B14F-4D97-AF65-F5344CB8AC3E}">
        <p14:creationId xmlns:p14="http://schemas.microsoft.com/office/powerpoint/2010/main" val="42561941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92E2A6-2CEA-4798-8290-6F03C968C85D}" type="datetimeFigureOut">
              <a:rPr lang="en-PK" smtClean="0"/>
              <a:t>13/09/2024</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B5CCDC6F-C2E8-4520-8308-0E48692BFB05}" type="slidenum">
              <a:rPr lang="en-PK" smtClean="0"/>
              <a:t>‹#›</a:t>
            </a:fld>
            <a:endParaRPr lang="en-PK"/>
          </a:p>
        </p:txBody>
      </p:sp>
    </p:spTree>
    <p:extLst>
      <p:ext uri="{BB962C8B-B14F-4D97-AF65-F5344CB8AC3E}">
        <p14:creationId xmlns:p14="http://schemas.microsoft.com/office/powerpoint/2010/main" val="2414578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92E2A6-2CEA-4798-8290-6F03C968C85D}" type="datetimeFigureOut">
              <a:rPr lang="en-PK" smtClean="0"/>
              <a:t>13/09/2024</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B5CCDC6F-C2E8-4520-8308-0E48692BFB05}" type="slidenum">
              <a:rPr lang="en-PK" smtClean="0"/>
              <a:t>‹#›</a:t>
            </a:fld>
            <a:endParaRPr lang="en-PK"/>
          </a:p>
        </p:txBody>
      </p:sp>
    </p:spTree>
    <p:extLst>
      <p:ext uri="{BB962C8B-B14F-4D97-AF65-F5344CB8AC3E}">
        <p14:creationId xmlns:p14="http://schemas.microsoft.com/office/powerpoint/2010/main" val="40072822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7B92E2A6-2CEA-4798-8290-6F03C968C85D}" type="datetimeFigureOut">
              <a:rPr lang="en-PK" smtClean="0"/>
              <a:t>13/09/2024</a:t>
            </a:fld>
            <a:endParaRPr lang="en-PK"/>
          </a:p>
        </p:txBody>
      </p:sp>
      <p:sp>
        <p:nvSpPr>
          <p:cNvPr id="9" name="Footer Placeholder 8"/>
          <p:cNvSpPr>
            <a:spLocks noGrp="1"/>
          </p:cNvSpPr>
          <p:nvPr>
            <p:ph type="ftr" sz="quarter" idx="11"/>
          </p:nvPr>
        </p:nvSpPr>
        <p:spPr/>
        <p:txBody>
          <a:bodyPr/>
          <a:lstStyle/>
          <a:p>
            <a:endParaRPr lang="en-PK"/>
          </a:p>
        </p:txBody>
      </p:sp>
      <p:sp>
        <p:nvSpPr>
          <p:cNvPr id="10" name="Slide Number Placeholder 9"/>
          <p:cNvSpPr>
            <a:spLocks noGrp="1"/>
          </p:cNvSpPr>
          <p:nvPr>
            <p:ph type="sldNum" sz="quarter" idx="12"/>
          </p:nvPr>
        </p:nvSpPr>
        <p:spPr/>
        <p:txBody>
          <a:bodyPr/>
          <a:lstStyle/>
          <a:p>
            <a:fld id="{B5CCDC6F-C2E8-4520-8308-0E48692BFB05}" type="slidenum">
              <a:rPr lang="en-PK" smtClean="0"/>
              <a:t>‹#›</a:t>
            </a:fld>
            <a:endParaRPr lang="en-PK"/>
          </a:p>
        </p:txBody>
      </p:sp>
    </p:spTree>
    <p:extLst>
      <p:ext uri="{BB962C8B-B14F-4D97-AF65-F5344CB8AC3E}">
        <p14:creationId xmlns:p14="http://schemas.microsoft.com/office/powerpoint/2010/main" val="2087117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7B92E2A6-2CEA-4798-8290-6F03C968C85D}" type="datetimeFigureOut">
              <a:rPr lang="en-PK" smtClean="0"/>
              <a:t>13/09/2024</a:t>
            </a:fld>
            <a:endParaRPr lang="en-PK"/>
          </a:p>
        </p:txBody>
      </p:sp>
      <p:sp>
        <p:nvSpPr>
          <p:cNvPr id="11" name="Footer Placeholder 10"/>
          <p:cNvSpPr>
            <a:spLocks noGrp="1"/>
          </p:cNvSpPr>
          <p:nvPr>
            <p:ph type="ftr" sz="quarter" idx="11"/>
          </p:nvPr>
        </p:nvSpPr>
        <p:spPr/>
        <p:txBody>
          <a:bodyPr/>
          <a:lstStyle/>
          <a:p>
            <a:endParaRPr lang="en-PK"/>
          </a:p>
        </p:txBody>
      </p:sp>
      <p:sp>
        <p:nvSpPr>
          <p:cNvPr id="12" name="Slide Number Placeholder 11"/>
          <p:cNvSpPr>
            <a:spLocks noGrp="1"/>
          </p:cNvSpPr>
          <p:nvPr>
            <p:ph type="sldNum" sz="quarter" idx="12"/>
          </p:nvPr>
        </p:nvSpPr>
        <p:spPr/>
        <p:txBody>
          <a:bodyPr/>
          <a:lstStyle/>
          <a:p>
            <a:fld id="{B5CCDC6F-C2E8-4520-8308-0E48692BFB05}" type="slidenum">
              <a:rPr lang="en-PK" smtClean="0"/>
              <a:t>‹#›</a:t>
            </a:fld>
            <a:endParaRPr lang="en-PK"/>
          </a:p>
        </p:txBody>
      </p:sp>
    </p:spTree>
    <p:extLst>
      <p:ext uri="{BB962C8B-B14F-4D97-AF65-F5344CB8AC3E}">
        <p14:creationId xmlns:p14="http://schemas.microsoft.com/office/powerpoint/2010/main" val="2330549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7B92E2A6-2CEA-4798-8290-6F03C968C85D}" type="datetimeFigureOut">
              <a:rPr lang="en-PK" smtClean="0"/>
              <a:t>13/09/2024</a:t>
            </a:fld>
            <a:endParaRPr lang="en-PK"/>
          </a:p>
        </p:txBody>
      </p:sp>
      <p:sp>
        <p:nvSpPr>
          <p:cNvPr id="7" name="Footer Placeholder 6"/>
          <p:cNvSpPr>
            <a:spLocks noGrp="1"/>
          </p:cNvSpPr>
          <p:nvPr>
            <p:ph type="ftr" sz="quarter" idx="11"/>
          </p:nvPr>
        </p:nvSpPr>
        <p:spPr/>
        <p:txBody>
          <a:bodyPr/>
          <a:lstStyle/>
          <a:p>
            <a:endParaRPr lang="en-PK"/>
          </a:p>
        </p:txBody>
      </p:sp>
      <p:sp>
        <p:nvSpPr>
          <p:cNvPr id="8" name="Slide Number Placeholder 7"/>
          <p:cNvSpPr>
            <a:spLocks noGrp="1"/>
          </p:cNvSpPr>
          <p:nvPr>
            <p:ph type="sldNum" sz="quarter" idx="12"/>
          </p:nvPr>
        </p:nvSpPr>
        <p:spPr/>
        <p:txBody>
          <a:bodyPr/>
          <a:lstStyle/>
          <a:p>
            <a:fld id="{B5CCDC6F-C2E8-4520-8308-0E48692BFB05}" type="slidenum">
              <a:rPr lang="en-PK" smtClean="0"/>
              <a:t>‹#›</a:t>
            </a:fld>
            <a:endParaRPr lang="en-PK"/>
          </a:p>
        </p:txBody>
      </p:sp>
    </p:spTree>
    <p:extLst>
      <p:ext uri="{BB962C8B-B14F-4D97-AF65-F5344CB8AC3E}">
        <p14:creationId xmlns:p14="http://schemas.microsoft.com/office/powerpoint/2010/main" val="6549861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7B92E2A6-2CEA-4798-8290-6F03C968C85D}" type="datetimeFigureOut">
              <a:rPr lang="en-PK" smtClean="0"/>
              <a:t>13/09/2024</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B5CCDC6F-C2E8-4520-8308-0E48692BFB05}" type="slidenum">
              <a:rPr lang="en-PK" smtClean="0"/>
              <a:t>‹#›</a:t>
            </a:fld>
            <a:endParaRPr lang="en-PK"/>
          </a:p>
        </p:txBody>
      </p:sp>
    </p:spTree>
    <p:extLst>
      <p:ext uri="{BB962C8B-B14F-4D97-AF65-F5344CB8AC3E}">
        <p14:creationId xmlns:p14="http://schemas.microsoft.com/office/powerpoint/2010/main" val="10009059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7B92E2A6-2CEA-4798-8290-6F03C968C85D}" type="datetimeFigureOut">
              <a:rPr lang="en-PK" smtClean="0"/>
              <a:t>13/09/2024</a:t>
            </a:fld>
            <a:endParaRPr lang="en-PK"/>
          </a:p>
        </p:txBody>
      </p:sp>
      <p:sp>
        <p:nvSpPr>
          <p:cNvPr id="9" name="Footer Placeholder 8"/>
          <p:cNvSpPr>
            <a:spLocks noGrp="1"/>
          </p:cNvSpPr>
          <p:nvPr>
            <p:ph type="ftr" sz="quarter" idx="11"/>
          </p:nvPr>
        </p:nvSpPr>
        <p:spPr/>
        <p:txBody>
          <a:bodyPr/>
          <a:lstStyle/>
          <a:p>
            <a:endParaRPr lang="en-PK"/>
          </a:p>
        </p:txBody>
      </p:sp>
      <p:sp>
        <p:nvSpPr>
          <p:cNvPr id="10" name="Slide Number Placeholder 9"/>
          <p:cNvSpPr>
            <a:spLocks noGrp="1"/>
          </p:cNvSpPr>
          <p:nvPr>
            <p:ph type="sldNum" sz="quarter" idx="12"/>
          </p:nvPr>
        </p:nvSpPr>
        <p:spPr/>
        <p:txBody>
          <a:bodyPr/>
          <a:lstStyle/>
          <a:p>
            <a:fld id="{B5CCDC6F-C2E8-4520-8308-0E48692BFB05}" type="slidenum">
              <a:rPr lang="en-PK" smtClean="0"/>
              <a:t>‹#›</a:t>
            </a:fld>
            <a:endParaRPr lang="en-PK"/>
          </a:p>
        </p:txBody>
      </p:sp>
    </p:spTree>
    <p:extLst>
      <p:ext uri="{BB962C8B-B14F-4D97-AF65-F5344CB8AC3E}">
        <p14:creationId xmlns:p14="http://schemas.microsoft.com/office/powerpoint/2010/main" val="26663837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7B92E2A6-2CEA-4798-8290-6F03C968C85D}" type="datetimeFigureOut">
              <a:rPr lang="en-PK" smtClean="0"/>
              <a:t>13/09/2024</a:t>
            </a:fld>
            <a:endParaRPr lang="en-PK"/>
          </a:p>
        </p:txBody>
      </p:sp>
      <p:sp>
        <p:nvSpPr>
          <p:cNvPr id="9" name="Footer Placeholder 8"/>
          <p:cNvSpPr>
            <a:spLocks noGrp="1"/>
          </p:cNvSpPr>
          <p:nvPr>
            <p:ph type="ftr" sz="quarter" idx="11"/>
          </p:nvPr>
        </p:nvSpPr>
        <p:spPr>
          <a:xfrm>
            <a:off x="3499101" y="6356350"/>
            <a:ext cx="5911517" cy="365125"/>
          </a:xfrm>
        </p:spPr>
        <p:txBody>
          <a:bodyPr/>
          <a:lstStyle/>
          <a:p>
            <a:endParaRPr lang="en-PK"/>
          </a:p>
        </p:txBody>
      </p:sp>
      <p:sp>
        <p:nvSpPr>
          <p:cNvPr id="10" name="Slide Number Placeholder 9"/>
          <p:cNvSpPr>
            <a:spLocks noGrp="1"/>
          </p:cNvSpPr>
          <p:nvPr>
            <p:ph type="sldNum" sz="quarter" idx="12"/>
          </p:nvPr>
        </p:nvSpPr>
        <p:spPr/>
        <p:txBody>
          <a:bodyPr/>
          <a:lstStyle/>
          <a:p>
            <a:fld id="{B5CCDC6F-C2E8-4520-8308-0E48692BFB05}" type="slidenum">
              <a:rPr lang="en-PK" smtClean="0"/>
              <a:t>‹#›</a:t>
            </a:fld>
            <a:endParaRPr lang="en-PK"/>
          </a:p>
        </p:txBody>
      </p:sp>
    </p:spTree>
    <p:extLst>
      <p:ext uri="{BB962C8B-B14F-4D97-AF65-F5344CB8AC3E}">
        <p14:creationId xmlns:p14="http://schemas.microsoft.com/office/powerpoint/2010/main" val="16544413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B92E2A6-2CEA-4798-8290-6F03C968C85D}" type="datetimeFigureOut">
              <a:rPr lang="en-PK" smtClean="0"/>
              <a:t>13/09/2024</a:t>
            </a:fld>
            <a:endParaRPr lang="en-PK"/>
          </a:p>
        </p:txBody>
      </p:sp>
      <p:sp>
        <p:nvSpPr>
          <p:cNvPr id="8" name="Footer Placeholder 7"/>
          <p:cNvSpPr>
            <a:spLocks noGrp="1"/>
          </p:cNvSpPr>
          <p:nvPr>
            <p:ph type="ftr" sz="quarter" idx="11"/>
          </p:nvPr>
        </p:nvSpPr>
        <p:spPr/>
        <p:txBody>
          <a:bodyPr/>
          <a:lstStyle/>
          <a:p>
            <a:endParaRPr lang="en-PK"/>
          </a:p>
        </p:txBody>
      </p:sp>
      <p:sp>
        <p:nvSpPr>
          <p:cNvPr id="9" name="Slide Number Placeholder 8"/>
          <p:cNvSpPr>
            <a:spLocks noGrp="1"/>
          </p:cNvSpPr>
          <p:nvPr>
            <p:ph type="sldNum" sz="quarter" idx="12"/>
          </p:nvPr>
        </p:nvSpPr>
        <p:spPr/>
        <p:txBody>
          <a:bodyPr/>
          <a:lstStyle/>
          <a:p>
            <a:fld id="{B5CCDC6F-C2E8-4520-8308-0E48692BFB05}" type="slidenum">
              <a:rPr lang="en-PK" smtClean="0"/>
              <a:t>‹#›</a:t>
            </a:fld>
            <a:endParaRPr lang="en-PK"/>
          </a:p>
        </p:txBody>
      </p:sp>
    </p:spTree>
    <p:extLst>
      <p:ext uri="{BB962C8B-B14F-4D97-AF65-F5344CB8AC3E}">
        <p14:creationId xmlns:p14="http://schemas.microsoft.com/office/powerpoint/2010/main" val="10864882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B92E2A6-2CEA-4798-8290-6F03C968C85D}" type="datetimeFigureOut">
              <a:rPr lang="en-PK" smtClean="0"/>
              <a:t>13/09/2024</a:t>
            </a:fld>
            <a:endParaRPr lang="en-PK"/>
          </a:p>
        </p:txBody>
      </p:sp>
      <p:sp>
        <p:nvSpPr>
          <p:cNvPr id="8" name="Footer Placeholder 7"/>
          <p:cNvSpPr>
            <a:spLocks noGrp="1"/>
          </p:cNvSpPr>
          <p:nvPr>
            <p:ph type="ftr" sz="quarter" idx="11"/>
          </p:nvPr>
        </p:nvSpPr>
        <p:spPr/>
        <p:txBody>
          <a:bodyPr/>
          <a:lstStyle/>
          <a:p>
            <a:endParaRPr lang="en-PK"/>
          </a:p>
        </p:txBody>
      </p:sp>
      <p:sp>
        <p:nvSpPr>
          <p:cNvPr id="9" name="Slide Number Placeholder 8"/>
          <p:cNvSpPr>
            <a:spLocks noGrp="1"/>
          </p:cNvSpPr>
          <p:nvPr>
            <p:ph type="sldNum" sz="quarter" idx="12"/>
          </p:nvPr>
        </p:nvSpPr>
        <p:spPr/>
        <p:txBody>
          <a:bodyPr/>
          <a:lstStyle/>
          <a:p>
            <a:fld id="{B5CCDC6F-C2E8-4520-8308-0E48692BFB05}" type="slidenum">
              <a:rPr lang="en-PK" smtClean="0"/>
              <a:t>‹#›</a:t>
            </a:fld>
            <a:endParaRPr lang="en-PK"/>
          </a:p>
        </p:txBody>
      </p:sp>
    </p:spTree>
    <p:extLst>
      <p:ext uri="{BB962C8B-B14F-4D97-AF65-F5344CB8AC3E}">
        <p14:creationId xmlns:p14="http://schemas.microsoft.com/office/powerpoint/2010/main" val="13167080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77762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7B92E2A6-2CEA-4798-8290-6F03C968C85D}" type="datetimeFigureOut">
              <a:rPr lang="en-PK" smtClean="0"/>
              <a:t>13/09/2024</a:t>
            </a:fld>
            <a:endParaRPr lang="en-PK"/>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PK"/>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B5CCDC6F-C2E8-4520-8308-0E48692BFB05}" type="slidenum">
              <a:rPr lang="en-PK" smtClean="0"/>
              <a:t>‹#›</a:t>
            </a:fld>
            <a:endParaRPr lang="en-PK"/>
          </a:p>
        </p:txBody>
      </p:sp>
    </p:spTree>
    <p:extLst>
      <p:ext uri="{BB962C8B-B14F-4D97-AF65-F5344CB8AC3E}">
        <p14:creationId xmlns:p14="http://schemas.microsoft.com/office/powerpoint/2010/main" val="21426056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BE1B5-51A5-E6AB-D4C7-B6F9C57AE5BB}"/>
              </a:ext>
            </a:extLst>
          </p:cNvPr>
          <p:cNvSpPr>
            <a:spLocks noGrp="1"/>
          </p:cNvSpPr>
          <p:nvPr>
            <p:ph type="ctrTitle"/>
          </p:nvPr>
        </p:nvSpPr>
        <p:spPr/>
        <p:txBody>
          <a:bodyPr/>
          <a:lstStyle/>
          <a:p>
            <a:r>
              <a:rPr lang="en-US" dirty="0"/>
              <a:t>Introduction to user experience(UX)</a:t>
            </a:r>
            <a:endParaRPr lang="en-PK" dirty="0"/>
          </a:p>
        </p:txBody>
      </p:sp>
      <p:sp>
        <p:nvSpPr>
          <p:cNvPr id="3" name="Subtitle 2">
            <a:extLst>
              <a:ext uri="{FF2B5EF4-FFF2-40B4-BE49-F238E27FC236}">
                <a16:creationId xmlns:a16="http://schemas.microsoft.com/office/drawing/2014/main" id="{3F43794C-279D-F6E7-F815-7B2A805A58A8}"/>
              </a:ext>
            </a:extLst>
          </p:cNvPr>
          <p:cNvSpPr>
            <a:spLocks noGrp="1"/>
          </p:cNvSpPr>
          <p:nvPr>
            <p:ph type="subTitle" idx="1"/>
          </p:nvPr>
        </p:nvSpPr>
        <p:spPr/>
        <p:txBody>
          <a:bodyPr>
            <a:normAutofit fontScale="70000" lnSpcReduction="20000"/>
          </a:bodyPr>
          <a:lstStyle/>
          <a:p>
            <a:endParaRPr lang="en-US" dirty="0"/>
          </a:p>
          <a:p>
            <a:r>
              <a:rPr lang="en-US" dirty="0"/>
              <a:t>Ms. Iqra Shahzad</a:t>
            </a:r>
          </a:p>
          <a:p>
            <a:r>
              <a:rPr lang="en-US" dirty="0"/>
              <a:t>Department of Software Engineering, NUML, Islamabad.</a:t>
            </a:r>
          </a:p>
        </p:txBody>
      </p:sp>
    </p:spTree>
    <p:extLst>
      <p:ext uri="{BB962C8B-B14F-4D97-AF65-F5344CB8AC3E}">
        <p14:creationId xmlns:p14="http://schemas.microsoft.com/office/powerpoint/2010/main" val="12097643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7E05E-4A69-C7A9-C957-529061AFE787}"/>
              </a:ext>
            </a:extLst>
          </p:cNvPr>
          <p:cNvSpPr>
            <a:spLocks noGrp="1"/>
          </p:cNvSpPr>
          <p:nvPr>
            <p:ph type="title"/>
          </p:nvPr>
        </p:nvSpPr>
        <p:spPr/>
        <p:txBody>
          <a:bodyPr/>
          <a:lstStyle/>
          <a:p>
            <a:r>
              <a:rPr lang="en-US" b="1" i="0" dirty="0">
                <a:solidFill>
                  <a:srgbClr val="414237"/>
                </a:solidFill>
                <a:effectLst/>
                <a:latin typeface="Nunito" panose="020F0502020204030204" pitchFamily="2" charset="0"/>
              </a:rPr>
              <a:t>What is User Experience?</a:t>
            </a:r>
            <a:br>
              <a:rPr lang="en-US" b="1" i="0" dirty="0">
                <a:solidFill>
                  <a:srgbClr val="414237"/>
                </a:solidFill>
                <a:effectLst/>
                <a:latin typeface="Nunito" panose="020F0502020204030204" pitchFamily="2" charset="0"/>
              </a:rPr>
            </a:br>
            <a:endParaRPr lang="en-PK" dirty="0"/>
          </a:p>
        </p:txBody>
      </p:sp>
      <p:sp>
        <p:nvSpPr>
          <p:cNvPr id="3" name="Content Placeholder 2">
            <a:extLst>
              <a:ext uri="{FF2B5EF4-FFF2-40B4-BE49-F238E27FC236}">
                <a16:creationId xmlns:a16="http://schemas.microsoft.com/office/drawing/2014/main" id="{7BFC8E5B-A299-7D75-BBAC-C752408DE4FF}"/>
              </a:ext>
            </a:extLst>
          </p:cNvPr>
          <p:cNvSpPr>
            <a:spLocks noGrp="1"/>
          </p:cNvSpPr>
          <p:nvPr>
            <p:ph idx="1"/>
          </p:nvPr>
        </p:nvSpPr>
        <p:spPr>
          <a:xfrm>
            <a:off x="3869268" y="864108"/>
            <a:ext cx="7658703" cy="3103885"/>
          </a:xfrm>
        </p:spPr>
        <p:txBody>
          <a:bodyPr>
            <a:normAutofit/>
          </a:bodyPr>
          <a:lstStyle/>
          <a:p>
            <a:pPr algn="l"/>
            <a:r>
              <a:rPr lang="en-US" b="0" i="0" dirty="0">
                <a:solidFill>
                  <a:srgbClr val="414237"/>
                </a:solidFill>
                <a:effectLst/>
                <a:latin typeface="Nunito" panose="020F0502020204030204" pitchFamily="2" charset="0"/>
              </a:rPr>
              <a:t>User Experience, often abbreviated as UX, refers to the </a:t>
            </a:r>
            <a:r>
              <a:rPr lang="en-US" b="1" i="0" dirty="0">
                <a:solidFill>
                  <a:srgbClr val="414237"/>
                </a:solidFill>
                <a:effectLst/>
                <a:latin typeface="Nunito" panose="020F0502020204030204" pitchFamily="2" charset="0"/>
              </a:rPr>
              <a:t>overall experience a user</a:t>
            </a:r>
            <a:r>
              <a:rPr lang="en-US" b="0" i="0" dirty="0">
                <a:solidFill>
                  <a:srgbClr val="414237"/>
                </a:solidFill>
                <a:effectLst/>
                <a:latin typeface="Nunito" panose="020F0502020204030204" pitchFamily="2" charset="0"/>
              </a:rPr>
              <a:t> has while interacting with a product, system, or service. This includes not just the </a:t>
            </a:r>
            <a:r>
              <a:rPr lang="en-US" b="1" i="0" dirty="0">
                <a:solidFill>
                  <a:srgbClr val="414237"/>
                </a:solidFill>
                <a:effectLst/>
                <a:latin typeface="Nunito" panose="020F0502020204030204" pitchFamily="2" charset="0"/>
              </a:rPr>
              <a:t>usability and functionality of the product</a:t>
            </a:r>
            <a:r>
              <a:rPr lang="en-US" b="0" i="0" dirty="0">
                <a:solidFill>
                  <a:srgbClr val="414237"/>
                </a:solidFill>
                <a:effectLst/>
                <a:latin typeface="Nunito" panose="020F0502020204030204" pitchFamily="2" charset="0"/>
              </a:rPr>
              <a:t>, but also the </a:t>
            </a:r>
            <a:r>
              <a:rPr lang="en-US" b="1" i="0" dirty="0">
                <a:solidFill>
                  <a:srgbClr val="414237"/>
                </a:solidFill>
                <a:effectLst/>
                <a:latin typeface="Nunito" panose="020F0502020204030204" pitchFamily="2" charset="0"/>
              </a:rPr>
              <a:t>emotions and perceptions</a:t>
            </a:r>
            <a:r>
              <a:rPr lang="en-US" b="0" i="0" dirty="0">
                <a:solidFill>
                  <a:srgbClr val="414237"/>
                </a:solidFill>
                <a:effectLst/>
                <a:latin typeface="Nunito" panose="020F0502020204030204" pitchFamily="2" charset="0"/>
              </a:rPr>
              <a:t> that the user feels during and after their interaction.</a:t>
            </a:r>
          </a:p>
          <a:p>
            <a:endParaRPr lang="en-PK" dirty="0"/>
          </a:p>
        </p:txBody>
      </p:sp>
      <p:pic>
        <p:nvPicPr>
          <p:cNvPr id="1026" name="Picture 2" descr="user-experience">
            <a:extLst>
              <a:ext uri="{FF2B5EF4-FFF2-40B4-BE49-F238E27FC236}">
                <a16:creationId xmlns:a16="http://schemas.microsoft.com/office/drawing/2014/main" id="{D0E9ADA9-698B-E06B-C0EB-E834B9D095B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7787" b="25333"/>
          <a:stretch/>
        </p:blipFill>
        <p:spPr bwMode="auto">
          <a:xfrm>
            <a:off x="6631796" y="3005811"/>
            <a:ext cx="4719610" cy="31038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3270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06421-7C50-A46F-4057-50691E712D13}"/>
              </a:ext>
            </a:extLst>
          </p:cNvPr>
          <p:cNvSpPr>
            <a:spLocks noGrp="1"/>
          </p:cNvSpPr>
          <p:nvPr>
            <p:ph type="title"/>
          </p:nvPr>
        </p:nvSpPr>
        <p:spPr>
          <a:xfrm>
            <a:off x="252918" y="1123837"/>
            <a:ext cx="3112581" cy="4601183"/>
          </a:xfrm>
        </p:spPr>
        <p:txBody>
          <a:bodyPr/>
          <a:lstStyle/>
          <a:p>
            <a:pPr marL="571500" indent="-571500">
              <a:buFont typeface="Arial" panose="020B0604020202020204" pitchFamily="34" charset="0"/>
              <a:buChar char="•"/>
            </a:pPr>
            <a:r>
              <a:rPr lang="en-US" b="1" i="0" dirty="0">
                <a:solidFill>
                  <a:srgbClr val="414237"/>
                </a:solidFill>
                <a:effectLst/>
                <a:latin typeface="Nunito" pitchFamily="2" charset="0"/>
              </a:rPr>
              <a:t>How to improve the user experience?</a:t>
            </a:r>
            <a:br>
              <a:rPr lang="en-US" b="1" i="0" dirty="0">
                <a:solidFill>
                  <a:srgbClr val="414237"/>
                </a:solidFill>
                <a:effectLst/>
                <a:latin typeface="Nunito" pitchFamily="2" charset="0"/>
              </a:rPr>
            </a:br>
            <a:endParaRPr lang="en-PK" dirty="0"/>
          </a:p>
        </p:txBody>
      </p:sp>
      <p:sp>
        <p:nvSpPr>
          <p:cNvPr id="3" name="Content Placeholder 2">
            <a:extLst>
              <a:ext uri="{FF2B5EF4-FFF2-40B4-BE49-F238E27FC236}">
                <a16:creationId xmlns:a16="http://schemas.microsoft.com/office/drawing/2014/main" id="{8574DBA4-1750-522F-0053-89384DDCB21E}"/>
              </a:ext>
            </a:extLst>
          </p:cNvPr>
          <p:cNvSpPr>
            <a:spLocks noGrp="1"/>
          </p:cNvSpPr>
          <p:nvPr>
            <p:ph idx="1"/>
          </p:nvPr>
        </p:nvSpPr>
        <p:spPr/>
        <p:txBody>
          <a:bodyPr/>
          <a:lstStyle/>
          <a:p>
            <a:r>
              <a:rPr lang="en-US" b="1" i="0" dirty="0">
                <a:solidFill>
                  <a:srgbClr val="414237"/>
                </a:solidFill>
                <a:effectLst/>
                <a:latin typeface="Nunito" pitchFamily="2" charset="0"/>
              </a:rPr>
              <a:t>Understand your users:</a:t>
            </a:r>
          </a:p>
          <a:p>
            <a:r>
              <a:rPr lang="en-US" b="1" dirty="0">
                <a:solidFill>
                  <a:srgbClr val="414237"/>
                </a:solidFill>
                <a:latin typeface="Nunito" pitchFamily="2" charset="0"/>
              </a:rPr>
              <a:t>Ensure user centered design </a:t>
            </a:r>
          </a:p>
          <a:p>
            <a:r>
              <a:rPr lang="en-US" b="1" dirty="0">
                <a:solidFill>
                  <a:srgbClr val="414237"/>
                </a:solidFill>
                <a:latin typeface="Nunito" pitchFamily="2" charset="0"/>
              </a:rPr>
              <a:t>Test usability</a:t>
            </a:r>
          </a:p>
          <a:p>
            <a:r>
              <a:rPr lang="en-US" b="1" i="0" dirty="0">
                <a:solidFill>
                  <a:srgbClr val="414237"/>
                </a:solidFill>
                <a:effectLst/>
                <a:latin typeface="Nunito" pitchFamily="2" charset="0"/>
              </a:rPr>
              <a:t>Aim for accessibility</a:t>
            </a:r>
          </a:p>
          <a:p>
            <a:r>
              <a:rPr lang="en-US" b="1" dirty="0">
                <a:solidFill>
                  <a:srgbClr val="414237"/>
                </a:solidFill>
                <a:latin typeface="Nunito" pitchFamily="2" charset="0"/>
              </a:rPr>
              <a:t>Collect user feedbacks.</a:t>
            </a:r>
            <a:endParaRPr lang="en-PK" dirty="0"/>
          </a:p>
        </p:txBody>
      </p:sp>
    </p:spTree>
    <p:extLst>
      <p:ext uri="{BB962C8B-B14F-4D97-AF65-F5344CB8AC3E}">
        <p14:creationId xmlns:p14="http://schemas.microsoft.com/office/powerpoint/2010/main" val="2198943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97EF8-322E-110B-9749-86CCDA6692D3}"/>
              </a:ext>
            </a:extLst>
          </p:cNvPr>
          <p:cNvSpPr>
            <a:spLocks noGrp="1"/>
          </p:cNvSpPr>
          <p:nvPr>
            <p:ph type="title"/>
          </p:nvPr>
        </p:nvSpPr>
        <p:spPr/>
        <p:txBody>
          <a:bodyPr/>
          <a:lstStyle/>
          <a:p>
            <a:r>
              <a:rPr lang="en-US" dirty="0"/>
              <a:t>Interactive systems </a:t>
            </a:r>
            <a:endParaRPr lang="en-PK" dirty="0"/>
          </a:p>
        </p:txBody>
      </p:sp>
      <p:sp>
        <p:nvSpPr>
          <p:cNvPr id="3" name="Content Placeholder 2">
            <a:extLst>
              <a:ext uri="{FF2B5EF4-FFF2-40B4-BE49-F238E27FC236}">
                <a16:creationId xmlns:a16="http://schemas.microsoft.com/office/drawing/2014/main" id="{B75565B2-287E-4A56-B59E-BFACA189CF79}"/>
              </a:ext>
            </a:extLst>
          </p:cNvPr>
          <p:cNvSpPr>
            <a:spLocks noGrp="1"/>
          </p:cNvSpPr>
          <p:nvPr>
            <p:ph idx="1"/>
          </p:nvPr>
        </p:nvSpPr>
        <p:spPr/>
        <p:txBody>
          <a:bodyPr/>
          <a:lstStyle/>
          <a:p>
            <a:r>
              <a:rPr lang="en-US" b="0" i="0" dirty="0">
                <a:solidFill>
                  <a:schemeClr val="tx1"/>
                </a:solidFill>
                <a:effectLst/>
                <a:latin typeface="Google Sans"/>
              </a:rPr>
              <a:t>Interactive systems are computers that accept human input. Humans provide commands or data to computers by typing or by gestures.</a:t>
            </a:r>
          </a:p>
          <a:p>
            <a:r>
              <a:rPr lang="en-US" dirty="0">
                <a:solidFill>
                  <a:schemeClr val="tx1"/>
                </a:solidFill>
                <a:latin typeface="Google Sans"/>
              </a:rPr>
              <a:t>Web app services</a:t>
            </a:r>
          </a:p>
          <a:p>
            <a:r>
              <a:rPr lang="en-US" dirty="0">
                <a:solidFill>
                  <a:schemeClr val="tx1"/>
                </a:solidFill>
                <a:latin typeface="Google Sans"/>
              </a:rPr>
              <a:t>Mobile phone apps</a:t>
            </a:r>
          </a:p>
          <a:p>
            <a:r>
              <a:rPr lang="en-US" dirty="0">
                <a:solidFill>
                  <a:schemeClr val="tx1"/>
                </a:solidFill>
                <a:latin typeface="Google Sans"/>
              </a:rPr>
              <a:t>Wearable devices</a:t>
            </a:r>
          </a:p>
          <a:p>
            <a:r>
              <a:rPr lang="en-US" dirty="0">
                <a:solidFill>
                  <a:schemeClr val="tx1"/>
                </a:solidFill>
                <a:latin typeface="Google Sans"/>
              </a:rPr>
              <a:t>IOT devices</a:t>
            </a:r>
          </a:p>
          <a:p>
            <a:r>
              <a:rPr lang="en-US" dirty="0">
                <a:solidFill>
                  <a:schemeClr val="tx1"/>
                </a:solidFill>
                <a:latin typeface="Google Sans"/>
              </a:rPr>
              <a:t>Augmented and virtual reality</a:t>
            </a:r>
            <a:endParaRPr lang="en-PK" dirty="0">
              <a:solidFill>
                <a:schemeClr val="tx1"/>
              </a:solidFill>
            </a:endParaRPr>
          </a:p>
        </p:txBody>
      </p:sp>
    </p:spTree>
    <p:extLst>
      <p:ext uri="{BB962C8B-B14F-4D97-AF65-F5344CB8AC3E}">
        <p14:creationId xmlns:p14="http://schemas.microsoft.com/office/powerpoint/2010/main" val="36742085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7A646-F1B3-9AFC-3DAB-07883736B035}"/>
              </a:ext>
            </a:extLst>
          </p:cNvPr>
          <p:cNvSpPr>
            <a:spLocks noGrp="1"/>
          </p:cNvSpPr>
          <p:nvPr>
            <p:ph type="title"/>
          </p:nvPr>
        </p:nvSpPr>
        <p:spPr/>
        <p:txBody>
          <a:bodyPr/>
          <a:lstStyle/>
          <a:p>
            <a:r>
              <a:rPr lang="en-US" dirty="0"/>
              <a:t>Variety of UX </a:t>
            </a:r>
            <a:endParaRPr lang="en-PK" dirty="0"/>
          </a:p>
        </p:txBody>
      </p:sp>
      <p:sp>
        <p:nvSpPr>
          <p:cNvPr id="3" name="Content Placeholder 2">
            <a:extLst>
              <a:ext uri="{FF2B5EF4-FFF2-40B4-BE49-F238E27FC236}">
                <a16:creationId xmlns:a16="http://schemas.microsoft.com/office/drawing/2014/main" id="{00FE0032-98DA-BA6F-725A-12BD145C4267}"/>
              </a:ext>
            </a:extLst>
          </p:cNvPr>
          <p:cNvSpPr>
            <a:spLocks noGrp="1"/>
          </p:cNvSpPr>
          <p:nvPr>
            <p:ph idx="1"/>
          </p:nvPr>
        </p:nvSpPr>
        <p:spPr/>
        <p:txBody>
          <a:bodyPr>
            <a:normAutofit lnSpcReduction="10000"/>
          </a:bodyPr>
          <a:lstStyle/>
          <a:p>
            <a:r>
              <a:rPr lang="en-US" sz="3600" dirty="0">
                <a:effectLst>
                  <a:outerShdw blurRad="38100" dist="38100" dir="2700000" algn="tl">
                    <a:srgbClr val="000000">
                      <a:alpha val="43137"/>
                    </a:srgbClr>
                  </a:outerShdw>
                </a:effectLst>
              </a:rPr>
              <a:t>Number of interactive services and products </a:t>
            </a:r>
          </a:p>
          <a:p>
            <a:r>
              <a:rPr lang="en-US" sz="3600" dirty="0">
                <a:effectLst>
                  <a:outerShdw blurRad="38100" dist="38100" dir="2700000" algn="tl">
                    <a:srgbClr val="000000">
                      <a:alpha val="43137"/>
                    </a:srgbClr>
                  </a:outerShdw>
                </a:effectLst>
              </a:rPr>
              <a:t>iPhone</a:t>
            </a:r>
          </a:p>
          <a:p>
            <a:r>
              <a:rPr lang="en-US" sz="3600" dirty="0">
                <a:effectLst>
                  <a:outerShdw blurRad="38100" dist="38100" dir="2700000" algn="tl">
                    <a:srgbClr val="000000">
                      <a:alpha val="43137"/>
                    </a:srgbClr>
                  </a:outerShdw>
                </a:effectLst>
              </a:rPr>
              <a:t>Nest home control </a:t>
            </a:r>
          </a:p>
          <a:p>
            <a:r>
              <a:rPr lang="en-US" sz="3600" dirty="0">
                <a:effectLst>
                  <a:outerShdw blurRad="38100" dist="38100" dir="2700000" algn="tl">
                    <a:srgbClr val="000000">
                      <a:alpha val="43137"/>
                    </a:srgbClr>
                  </a:outerShdw>
                </a:effectLst>
              </a:rPr>
              <a:t>Burberry </a:t>
            </a:r>
          </a:p>
          <a:p>
            <a:r>
              <a:rPr lang="en-US" sz="3600" dirty="0" err="1">
                <a:effectLst>
                  <a:outerShdw blurRad="38100" dist="38100" dir="2700000" algn="tl">
                    <a:srgbClr val="000000">
                      <a:alpha val="43137"/>
                    </a:srgbClr>
                  </a:outerShdw>
                </a:effectLst>
              </a:rPr>
              <a:t>iRobo</a:t>
            </a:r>
            <a:r>
              <a:rPr lang="en-US" sz="3600" dirty="0">
                <a:effectLst>
                  <a:outerShdw blurRad="38100" dist="38100" dir="2700000" algn="tl">
                    <a:srgbClr val="000000">
                      <a:alpha val="43137"/>
                    </a:srgbClr>
                  </a:outerShdw>
                </a:effectLst>
              </a:rPr>
              <a:t>-Q </a:t>
            </a:r>
          </a:p>
          <a:p>
            <a:r>
              <a:rPr lang="en-US" sz="3600" dirty="0">
                <a:effectLst>
                  <a:outerShdw blurRad="38100" dist="38100" dir="2700000" algn="tl">
                    <a:srgbClr val="000000">
                      <a:alpha val="43137"/>
                    </a:srgbClr>
                  </a:outerShdw>
                </a:effectLst>
              </a:rPr>
              <a:t>Facebook </a:t>
            </a:r>
          </a:p>
          <a:p>
            <a:r>
              <a:rPr lang="en-US" sz="3600" dirty="0">
                <a:effectLst>
                  <a:outerShdw blurRad="38100" dist="38100" dir="2700000" algn="tl">
                    <a:srgbClr val="000000">
                      <a:alpha val="43137"/>
                    </a:srgbClr>
                  </a:outerShdw>
                </a:effectLst>
              </a:rPr>
              <a:t>Device ecology</a:t>
            </a:r>
          </a:p>
          <a:p>
            <a:r>
              <a:rPr lang="en-US" sz="3600" dirty="0">
                <a:effectLst>
                  <a:outerShdw blurRad="38100" dist="38100" dir="2700000" algn="tl">
                    <a:srgbClr val="000000">
                      <a:alpha val="43137"/>
                    </a:srgbClr>
                  </a:outerShdw>
                </a:effectLst>
              </a:rPr>
              <a:t>Interesting and challenging domain</a:t>
            </a:r>
            <a:endParaRPr lang="en-PK" sz="36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857822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BD38B-452D-7851-D3AA-FDCA417AC314}"/>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534A76D9-1E01-A61D-33BA-6DA418D32D88}"/>
              </a:ext>
            </a:extLst>
          </p:cNvPr>
          <p:cNvSpPr>
            <a:spLocks noGrp="1"/>
          </p:cNvSpPr>
          <p:nvPr>
            <p:ph idx="1"/>
          </p:nvPr>
        </p:nvSpPr>
        <p:spPr/>
        <p:txBody>
          <a:bodyPr/>
          <a:lstStyle/>
          <a:p>
            <a:endParaRPr lang="en-PK"/>
          </a:p>
        </p:txBody>
      </p:sp>
      <p:pic>
        <p:nvPicPr>
          <p:cNvPr id="2050" name="Picture 2" descr="Ambi Climate Gives Any Air Conditioner Nest-Like Powers | TechCrunch">
            <a:extLst>
              <a:ext uri="{FF2B5EF4-FFF2-40B4-BE49-F238E27FC236}">
                <a16:creationId xmlns:a16="http://schemas.microsoft.com/office/drawing/2014/main" id="{5585586D-81F9-BB03-1E99-2E50BBC3E1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9268" y="1123837"/>
            <a:ext cx="6667500" cy="3752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6937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07012-22FC-C0DD-976F-21D9EDF5D060}"/>
              </a:ext>
            </a:extLst>
          </p:cNvPr>
          <p:cNvSpPr>
            <a:spLocks noGrp="1"/>
          </p:cNvSpPr>
          <p:nvPr>
            <p:ph type="title"/>
          </p:nvPr>
        </p:nvSpPr>
        <p:spPr/>
        <p:txBody>
          <a:bodyPr/>
          <a:lstStyle/>
          <a:p>
            <a:endParaRPr lang="en-PK"/>
          </a:p>
        </p:txBody>
      </p:sp>
      <p:pic>
        <p:nvPicPr>
          <p:cNvPr id="3074" name="Picture 2" descr="Doctors Look to Eye-Tracking to Improve Care - WSJ">
            <a:extLst>
              <a:ext uri="{FF2B5EF4-FFF2-40B4-BE49-F238E27FC236}">
                <a16:creationId xmlns:a16="http://schemas.microsoft.com/office/drawing/2014/main" id="{B981B404-5593-34D3-BE1E-D97CCD5EAE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9268" y="873252"/>
            <a:ext cx="4769853" cy="31750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Get to Know the Science Behind Eye Tracking Technology - Eyegaze">
            <a:extLst>
              <a:ext uri="{FF2B5EF4-FFF2-40B4-BE49-F238E27FC236}">
                <a16:creationId xmlns:a16="http://schemas.microsoft.com/office/drawing/2014/main" id="{290747C7-88D8-7FC2-AF29-E56F231A6E55}"/>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7011442" y="3870069"/>
            <a:ext cx="4593091" cy="28706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683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118AF-5803-CAC5-C9B8-4499266D7269}"/>
              </a:ext>
            </a:extLst>
          </p:cNvPr>
          <p:cNvSpPr>
            <a:spLocks noGrp="1"/>
          </p:cNvSpPr>
          <p:nvPr>
            <p:ph type="title"/>
          </p:nvPr>
        </p:nvSpPr>
        <p:spPr/>
        <p:txBody>
          <a:bodyPr/>
          <a:lstStyle/>
          <a:p>
            <a:r>
              <a:rPr lang="en-US" b="0" i="0" dirty="0">
                <a:solidFill>
                  <a:srgbClr val="E8E8E8"/>
                </a:solidFill>
                <a:effectLst/>
                <a:latin typeface="Google Sans"/>
              </a:rPr>
              <a:t>Difference between UI and UX. </a:t>
            </a:r>
            <a:endParaRPr lang="en-PK" dirty="0"/>
          </a:p>
        </p:txBody>
      </p:sp>
      <p:sp>
        <p:nvSpPr>
          <p:cNvPr id="3" name="Content Placeholder 2">
            <a:extLst>
              <a:ext uri="{FF2B5EF4-FFF2-40B4-BE49-F238E27FC236}">
                <a16:creationId xmlns:a16="http://schemas.microsoft.com/office/drawing/2014/main" id="{235E9C90-C647-D704-D232-19AF703CCAF2}"/>
              </a:ext>
            </a:extLst>
          </p:cNvPr>
          <p:cNvSpPr>
            <a:spLocks noGrp="1"/>
          </p:cNvSpPr>
          <p:nvPr>
            <p:ph idx="1"/>
          </p:nvPr>
        </p:nvSpPr>
        <p:spPr/>
        <p:txBody>
          <a:bodyPr>
            <a:normAutofit/>
          </a:bodyPr>
          <a:lstStyle/>
          <a:p>
            <a:r>
              <a:rPr lang="en-US" sz="3200" b="0" i="0" dirty="0">
                <a:solidFill>
                  <a:schemeClr val="tx1"/>
                </a:solidFill>
                <a:effectLst/>
                <a:latin typeface="Google Sans"/>
              </a:rPr>
              <a:t>UI to the screens, buttons, toggles, icons, and other visual elements that you interact with when using a website, app, or other electronic device. </a:t>
            </a:r>
          </a:p>
          <a:p>
            <a:r>
              <a:rPr lang="en-US" sz="3200" b="0" i="0" dirty="0">
                <a:solidFill>
                  <a:schemeClr val="tx1"/>
                </a:solidFill>
                <a:effectLst/>
                <a:latin typeface="Google Sans"/>
              </a:rPr>
              <a:t>UX refers to the entire interaction you have with a product, including how you feel about the interaction.</a:t>
            </a:r>
            <a:endParaRPr lang="en-PK" sz="3200" dirty="0">
              <a:solidFill>
                <a:schemeClr val="tx1"/>
              </a:solidFill>
            </a:endParaRPr>
          </a:p>
        </p:txBody>
      </p:sp>
    </p:spTree>
    <p:extLst>
      <p:ext uri="{BB962C8B-B14F-4D97-AF65-F5344CB8AC3E}">
        <p14:creationId xmlns:p14="http://schemas.microsoft.com/office/powerpoint/2010/main" val="15377468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D5622-BF1D-FA64-BC44-0FAFA63E1826}"/>
              </a:ext>
            </a:extLst>
          </p:cNvPr>
          <p:cNvSpPr>
            <a:spLocks noGrp="1"/>
          </p:cNvSpPr>
          <p:nvPr>
            <p:ph type="title"/>
          </p:nvPr>
        </p:nvSpPr>
        <p:spPr/>
        <p:txBody>
          <a:bodyPr/>
          <a:lstStyle/>
          <a:p>
            <a:r>
              <a:rPr lang="en-US" dirty="0"/>
              <a:t>Concerns of UX designer</a:t>
            </a:r>
            <a:endParaRPr lang="en-PK" dirty="0"/>
          </a:p>
        </p:txBody>
      </p:sp>
      <p:sp>
        <p:nvSpPr>
          <p:cNvPr id="3" name="Content Placeholder 2">
            <a:extLst>
              <a:ext uri="{FF2B5EF4-FFF2-40B4-BE49-F238E27FC236}">
                <a16:creationId xmlns:a16="http://schemas.microsoft.com/office/drawing/2014/main" id="{3681DAC8-8580-4E2E-CEF0-42FD0C1A777A}"/>
              </a:ext>
            </a:extLst>
          </p:cNvPr>
          <p:cNvSpPr>
            <a:spLocks noGrp="1"/>
          </p:cNvSpPr>
          <p:nvPr>
            <p:ph idx="1"/>
          </p:nvPr>
        </p:nvSpPr>
        <p:spPr/>
        <p:txBody>
          <a:bodyPr>
            <a:normAutofit lnSpcReduction="10000"/>
          </a:bodyPr>
          <a:lstStyle/>
          <a:p>
            <a:r>
              <a:rPr lang="en-US" sz="3200" dirty="0">
                <a:solidFill>
                  <a:schemeClr val="tx1"/>
                </a:solidFill>
              </a:rPr>
              <a:t>Design</a:t>
            </a:r>
          </a:p>
          <a:p>
            <a:pPr marL="0" indent="0">
              <a:buNone/>
            </a:pPr>
            <a:r>
              <a:rPr lang="en-US" sz="3200" dirty="0"/>
              <a:t> ❑What is design and how should you do it </a:t>
            </a:r>
          </a:p>
          <a:p>
            <a:r>
              <a:rPr lang="en-US" sz="3200" dirty="0">
                <a:solidFill>
                  <a:schemeClr val="tx1"/>
                </a:solidFill>
              </a:rPr>
              <a:t>Technologies </a:t>
            </a:r>
          </a:p>
          <a:p>
            <a:pPr marL="0" indent="0">
              <a:buNone/>
            </a:pPr>
            <a:r>
              <a:rPr lang="en-US" sz="3200" dirty="0"/>
              <a:t>   ❑Interactive systems, products, devices, components </a:t>
            </a:r>
          </a:p>
          <a:p>
            <a:r>
              <a:rPr lang="en-US" sz="3200" dirty="0">
                <a:solidFill>
                  <a:schemeClr val="tx1"/>
                </a:solidFill>
              </a:rPr>
              <a:t>People</a:t>
            </a:r>
          </a:p>
          <a:p>
            <a:pPr marL="0" indent="0">
              <a:buNone/>
            </a:pPr>
            <a:r>
              <a:rPr lang="en-US" sz="3200" dirty="0"/>
              <a:t> ❑Who will use the systems </a:t>
            </a:r>
          </a:p>
          <a:p>
            <a:r>
              <a:rPr lang="en-US" sz="3200" dirty="0">
                <a:solidFill>
                  <a:schemeClr val="tx1"/>
                </a:solidFill>
              </a:rPr>
              <a:t>Activities and contexts</a:t>
            </a:r>
          </a:p>
          <a:p>
            <a:pPr marL="0" indent="0">
              <a:buNone/>
            </a:pPr>
            <a:r>
              <a:rPr lang="en-US" sz="3200" dirty="0"/>
              <a:t> ❑Users’ goals and environment</a:t>
            </a:r>
            <a:endParaRPr lang="en-PK" sz="3200" dirty="0"/>
          </a:p>
        </p:txBody>
      </p:sp>
    </p:spTree>
    <p:extLst>
      <p:ext uri="{BB962C8B-B14F-4D97-AF65-F5344CB8AC3E}">
        <p14:creationId xmlns:p14="http://schemas.microsoft.com/office/powerpoint/2010/main" val="33270022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55A1F-90A6-F57F-A69B-048B35804C1F}"/>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228E0BBB-51BE-97EE-F0FE-CCC342B86A85}"/>
              </a:ext>
            </a:extLst>
          </p:cNvPr>
          <p:cNvSpPr>
            <a:spLocks noGrp="1"/>
          </p:cNvSpPr>
          <p:nvPr>
            <p:ph idx="1"/>
          </p:nvPr>
        </p:nvSpPr>
        <p:spPr/>
        <p:txBody>
          <a:bodyPr/>
          <a:lstStyle/>
          <a:p>
            <a:endParaRPr lang="en-PK"/>
          </a:p>
        </p:txBody>
      </p:sp>
      <p:pic>
        <p:nvPicPr>
          <p:cNvPr id="4098" name="Picture 2" descr="How to Design UI for Cross Platform Devices | by Michelle Mendoza ...">
            <a:extLst>
              <a:ext uri="{FF2B5EF4-FFF2-40B4-BE49-F238E27FC236}">
                <a16:creationId xmlns:a16="http://schemas.microsoft.com/office/drawing/2014/main" id="{762C48DE-1C35-778B-58A8-F18F536E65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6000" y="-4572"/>
            <a:ext cx="73152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77286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E410D-2D0B-2092-E62F-4016CB0C47C0}"/>
              </a:ext>
            </a:extLst>
          </p:cNvPr>
          <p:cNvSpPr>
            <a:spLocks noGrp="1"/>
          </p:cNvSpPr>
          <p:nvPr>
            <p:ph type="title"/>
          </p:nvPr>
        </p:nvSpPr>
        <p:spPr/>
        <p:txBody>
          <a:bodyPr/>
          <a:lstStyle/>
          <a:p>
            <a:endParaRPr lang="en-PK"/>
          </a:p>
        </p:txBody>
      </p:sp>
      <p:pic>
        <p:nvPicPr>
          <p:cNvPr id="5122" name="Picture 2" descr="Great 🩺 Doctor Appointment App UI Design by Excellent Webworld on ...">
            <a:extLst>
              <a:ext uri="{FF2B5EF4-FFF2-40B4-BE49-F238E27FC236}">
                <a16:creationId xmlns:a16="http://schemas.microsoft.com/office/drawing/2014/main" id="{5079A13D-471A-DFA1-65E1-2B64A05C4B0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112155" y="863600"/>
            <a:ext cx="6828366" cy="5121275"/>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roup 4">
            <a:extLst>
              <a:ext uri="{FF2B5EF4-FFF2-40B4-BE49-F238E27FC236}">
                <a16:creationId xmlns:a16="http://schemas.microsoft.com/office/drawing/2014/main" id="{493319C9-3696-D4D0-5ADC-31FFA209966A}"/>
              </a:ext>
            </a:extLst>
          </p:cNvPr>
          <p:cNvGrpSpPr/>
          <p:nvPr/>
        </p:nvGrpSpPr>
        <p:grpSpPr>
          <a:xfrm>
            <a:off x="1857375" y="247650"/>
            <a:ext cx="8477250" cy="6362700"/>
            <a:chOff x="1857375" y="247650"/>
            <a:chExt cx="8477250" cy="6362700"/>
          </a:xfrm>
        </p:grpSpPr>
        <p:pic>
          <p:nvPicPr>
            <p:cNvPr id="5124" name="Picture 4" descr="The Importance of UI/UX Design in Healthcare Apps | Interexy">
              <a:extLst>
                <a:ext uri="{FF2B5EF4-FFF2-40B4-BE49-F238E27FC236}">
                  <a16:creationId xmlns:a16="http://schemas.microsoft.com/office/drawing/2014/main" id="{AECBF406-E27E-3C46-8E97-39076FF213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7375" y="247650"/>
              <a:ext cx="8477250" cy="63627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Rounded Corners 3">
              <a:extLst>
                <a:ext uri="{FF2B5EF4-FFF2-40B4-BE49-F238E27FC236}">
                  <a16:creationId xmlns:a16="http://schemas.microsoft.com/office/drawing/2014/main" id="{DE8C686F-5421-C125-3E46-5E130650198B}"/>
                </a:ext>
              </a:extLst>
            </p:cNvPr>
            <p:cNvSpPr/>
            <p:nvPr/>
          </p:nvSpPr>
          <p:spPr>
            <a:xfrm>
              <a:off x="2481943" y="4673600"/>
              <a:ext cx="1436914" cy="24674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grpSp>
    </p:spTree>
    <p:extLst>
      <p:ext uri="{BB962C8B-B14F-4D97-AF65-F5344CB8AC3E}">
        <p14:creationId xmlns:p14="http://schemas.microsoft.com/office/powerpoint/2010/main" val="1796724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8FD1896-51A9-697E-411F-A6D259D83248}"/>
              </a:ext>
            </a:extLst>
          </p:cNvPr>
          <p:cNvPicPr>
            <a:picLocks noChangeAspect="1"/>
          </p:cNvPicPr>
          <p:nvPr/>
        </p:nvPicPr>
        <p:blipFill>
          <a:blip r:embed="rId2"/>
          <a:stretch>
            <a:fillRect/>
          </a:stretch>
        </p:blipFill>
        <p:spPr>
          <a:xfrm>
            <a:off x="1744603" y="430270"/>
            <a:ext cx="8702794" cy="5997460"/>
          </a:xfrm>
          <a:prstGeom prst="rect">
            <a:avLst/>
          </a:prstGeom>
        </p:spPr>
      </p:pic>
    </p:spTree>
    <p:extLst>
      <p:ext uri="{BB962C8B-B14F-4D97-AF65-F5344CB8AC3E}">
        <p14:creationId xmlns:p14="http://schemas.microsoft.com/office/powerpoint/2010/main" val="33553324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46EF3DB-D8F1-B34A-E286-E4FD29EBB02E}"/>
              </a:ext>
            </a:extLst>
          </p:cNvPr>
          <p:cNvSpPr>
            <a:spLocks noGrp="1"/>
          </p:cNvSpPr>
          <p:nvPr>
            <p:ph type="title"/>
          </p:nvPr>
        </p:nvSpPr>
        <p:spPr/>
        <p:txBody>
          <a:bodyPr>
            <a:normAutofit/>
          </a:bodyPr>
          <a:lstStyle/>
          <a:p>
            <a:pPr algn="ctr"/>
            <a:r>
              <a:rPr lang="en-US" b="0" i="0" dirty="0">
                <a:solidFill>
                  <a:srgbClr val="1C1C1C"/>
                </a:solidFill>
                <a:effectLst/>
                <a:latin typeface="Open Sans" panose="020B0606030504020204" pitchFamily="34" charset="0"/>
              </a:rPr>
              <a:t>User interface </a:t>
            </a:r>
            <a:br>
              <a:rPr lang="en-US" b="0" i="0" dirty="0">
                <a:solidFill>
                  <a:srgbClr val="1C1C1C"/>
                </a:solidFill>
                <a:effectLst/>
                <a:latin typeface="Open Sans" panose="020B0606030504020204" pitchFamily="34" charset="0"/>
              </a:rPr>
            </a:br>
            <a:endParaRPr lang="en-PK" dirty="0"/>
          </a:p>
        </p:txBody>
      </p:sp>
      <p:sp>
        <p:nvSpPr>
          <p:cNvPr id="5" name="Subtitle 4">
            <a:extLst>
              <a:ext uri="{FF2B5EF4-FFF2-40B4-BE49-F238E27FC236}">
                <a16:creationId xmlns:a16="http://schemas.microsoft.com/office/drawing/2014/main" id="{FF484B7F-9612-BC07-8AA1-B17761975153}"/>
              </a:ext>
            </a:extLst>
          </p:cNvPr>
          <p:cNvSpPr>
            <a:spLocks noGrp="1"/>
          </p:cNvSpPr>
          <p:nvPr>
            <p:ph idx="1"/>
          </p:nvPr>
        </p:nvSpPr>
        <p:spPr/>
        <p:txBody>
          <a:bodyPr/>
          <a:lstStyle/>
          <a:p>
            <a:r>
              <a:rPr lang="en-US" dirty="0">
                <a:solidFill>
                  <a:srgbClr val="1C1C1C"/>
                </a:solidFill>
                <a:latin typeface="Open Sans" panose="020B0606030504020204" pitchFamily="34" charset="0"/>
              </a:rPr>
              <a:t>T</a:t>
            </a:r>
            <a:r>
              <a:rPr lang="en-US" b="0" i="0" dirty="0">
                <a:solidFill>
                  <a:srgbClr val="1C1C1C"/>
                </a:solidFill>
                <a:effectLst/>
                <a:latin typeface="Open Sans" panose="020B0606030504020204" pitchFamily="34" charset="0"/>
              </a:rPr>
              <a:t>he interaction between man and machine</a:t>
            </a:r>
            <a:br>
              <a:rPr lang="en-US" b="0" i="0" dirty="0">
                <a:solidFill>
                  <a:srgbClr val="1C1C1C"/>
                </a:solidFill>
                <a:effectLst/>
                <a:latin typeface="Open Sans" panose="020B0606030504020204" pitchFamily="34" charset="0"/>
              </a:rPr>
            </a:br>
            <a:endParaRPr lang="en-US" b="0" i="0" dirty="0">
              <a:solidFill>
                <a:srgbClr val="1C1C1C"/>
              </a:solidFill>
              <a:effectLst/>
              <a:latin typeface="Open Sans" panose="020B0606030504020204" pitchFamily="34" charset="0"/>
            </a:endParaRPr>
          </a:p>
          <a:p>
            <a:r>
              <a:rPr lang="en-US" b="0" i="0" dirty="0">
                <a:solidFill>
                  <a:srgbClr val="1C1C1C"/>
                </a:solidFill>
                <a:effectLst/>
                <a:latin typeface="Open Sans" panose="020B0606030504020204" pitchFamily="34" charset="0"/>
              </a:rPr>
              <a:t>Machines are part of our lives. They facilitate our work and our interaction. </a:t>
            </a:r>
          </a:p>
          <a:p>
            <a:endParaRPr lang="en-PK" dirty="0"/>
          </a:p>
        </p:txBody>
      </p:sp>
      <p:pic>
        <p:nvPicPr>
          <p:cNvPr id="6146" name="Picture 2" descr="User interface - the interaction between man and machine">
            <a:extLst>
              <a:ext uri="{FF2B5EF4-FFF2-40B4-BE49-F238E27FC236}">
                <a16:creationId xmlns:a16="http://schemas.microsoft.com/office/drawing/2014/main" id="{23BC232F-0B70-7E47-E61B-E6DBEDA7D2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6868" y="3806372"/>
            <a:ext cx="4000500" cy="266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01761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FCA93D-4BAB-804F-6694-0B1F70D8B953}"/>
              </a:ext>
            </a:extLst>
          </p:cNvPr>
          <p:cNvPicPr>
            <a:picLocks noChangeAspect="1"/>
          </p:cNvPicPr>
          <p:nvPr/>
        </p:nvPicPr>
        <p:blipFill>
          <a:blip r:embed="rId3"/>
          <a:stretch>
            <a:fillRect/>
          </a:stretch>
        </p:blipFill>
        <p:spPr>
          <a:xfrm>
            <a:off x="3621828" y="1143000"/>
            <a:ext cx="8314140" cy="3955123"/>
          </a:xfrm>
          <a:prstGeom prst="rect">
            <a:avLst/>
          </a:prstGeom>
        </p:spPr>
      </p:pic>
      <p:sp>
        <p:nvSpPr>
          <p:cNvPr id="4" name="Title 3">
            <a:extLst>
              <a:ext uri="{FF2B5EF4-FFF2-40B4-BE49-F238E27FC236}">
                <a16:creationId xmlns:a16="http://schemas.microsoft.com/office/drawing/2014/main" id="{E5E16489-8892-A35B-8D37-AC1421732494}"/>
              </a:ext>
            </a:extLst>
          </p:cNvPr>
          <p:cNvSpPr>
            <a:spLocks noGrp="1"/>
          </p:cNvSpPr>
          <p:nvPr>
            <p:ph type="title"/>
          </p:nvPr>
        </p:nvSpPr>
        <p:spPr/>
        <p:txBody>
          <a:bodyPr/>
          <a:lstStyle/>
          <a:p>
            <a:endParaRPr lang="en-PK"/>
          </a:p>
        </p:txBody>
      </p:sp>
      <p:sp>
        <p:nvSpPr>
          <p:cNvPr id="6" name="Text Placeholder 5">
            <a:extLst>
              <a:ext uri="{FF2B5EF4-FFF2-40B4-BE49-F238E27FC236}">
                <a16:creationId xmlns:a16="http://schemas.microsoft.com/office/drawing/2014/main" id="{A3EB881C-D0F3-07BD-8C0B-703A517112DB}"/>
              </a:ext>
            </a:extLst>
          </p:cNvPr>
          <p:cNvSpPr>
            <a:spLocks noGrp="1"/>
          </p:cNvSpPr>
          <p:nvPr>
            <p:ph type="body" sz="half" idx="2"/>
          </p:nvPr>
        </p:nvSpPr>
        <p:spPr/>
        <p:txBody>
          <a:bodyPr/>
          <a:lstStyle/>
          <a:p>
            <a:endParaRPr lang="en-PK"/>
          </a:p>
        </p:txBody>
      </p:sp>
    </p:spTree>
    <p:extLst>
      <p:ext uri="{BB962C8B-B14F-4D97-AF65-F5344CB8AC3E}">
        <p14:creationId xmlns:p14="http://schemas.microsoft.com/office/powerpoint/2010/main" val="16443287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AC359-FE48-C8DA-020E-50A3FD604A45}"/>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EC430EB0-BE4B-DFE7-BB26-B222D14F8146}"/>
              </a:ext>
            </a:extLst>
          </p:cNvPr>
          <p:cNvSpPr>
            <a:spLocks noGrp="1"/>
          </p:cNvSpPr>
          <p:nvPr>
            <p:ph idx="1"/>
          </p:nvPr>
        </p:nvSpPr>
        <p:spPr/>
        <p:txBody>
          <a:bodyPr>
            <a:normAutofit fontScale="92500" lnSpcReduction="20000"/>
          </a:bodyPr>
          <a:lstStyle/>
          <a:p>
            <a:r>
              <a:rPr lang="en-US" b="0" i="0" dirty="0">
                <a:solidFill>
                  <a:srgbClr val="1C1C1C"/>
                </a:solidFill>
                <a:effectLst/>
                <a:latin typeface="Open Sans" panose="020B0606030504020204" pitchFamily="34" charset="0"/>
              </a:rPr>
              <a:t>The way user interfaces work – sometimes also called man-machine interface (MMS) or human machine interface (HMI) – varies depending on the machine or system, the product or the software. </a:t>
            </a:r>
          </a:p>
          <a:p>
            <a:endParaRPr lang="en-US" dirty="0">
              <a:solidFill>
                <a:srgbClr val="1C1C1C"/>
              </a:solidFill>
              <a:latin typeface="Open Sans" panose="020B0606030504020204" pitchFamily="34" charset="0"/>
            </a:endParaRPr>
          </a:p>
          <a:p>
            <a:endParaRPr lang="en-US" dirty="0">
              <a:solidFill>
                <a:srgbClr val="1C1C1C"/>
              </a:solidFill>
              <a:latin typeface="Open Sans" panose="020B0606030504020204" pitchFamily="34" charset="0"/>
            </a:endParaRPr>
          </a:p>
          <a:p>
            <a:pPr algn="l" fontAlgn="base"/>
            <a:r>
              <a:rPr lang="en-US" b="1" i="0" u="sng" dirty="0">
                <a:solidFill>
                  <a:srgbClr val="1C1C1C"/>
                </a:solidFill>
                <a:effectLst/>
                <a:latin typeface="Open Sans" panose="020B0606030504020204" pitchFamily="34" charset="0"/>
              </a:rPr>
              <a:t>various examples of user interfaces:</a:t>
            </a:r>
          </a:p>
          <a:p>
            <a:pPr algn="l" fontAlgn="base">
              <a:buFont typeface="Arial" panose="020B0604020202020204" pitchFamily="34" charset="0"/>
              <a:buChar char="•"/>
            </a:pPr>
            <a:r>
              <a:rPr lang="en-US" b="0" i="0" dirty="0">
                <a:solidFill>
                  <a:srgbClr val="1C1C1C"/>
                </a:solidFill>
                <a:effectLst/>
                <a:latin typeface="Open Sans" panose="020B0606030504020204" pitchFamily="34" charset="0"/>
              </a:rPr>
              <a:t>We unlock our smartphone by fingerprint, facial recognition or numerical code.</a:t>
            </a:r>
          </a:p>
          <a:p>
            <a:pPr algn="l" fontAlgn="base">
              <a:buFont typeface="Arial" panose="020B0604020202020204" pitchFamily="34" charset="0"/>
              <a:buChar char="•"/>
            </a:pPr>
            <a:r>
              <a:rPr lang="en-US" b="0" i="0" dirty="0">
                <a:solidFill>
                  <a:srgbClr val="1C1C1C"/>
                </a:solidFill>
                <a:effectLst/>
                <a:latin typeface="Open Sans" panose="020B0606030504020204" pitchFamily="34" charset="0"/>
              </a:rPr>
              <a:t>We use a remote control to change TV stations on the television,</a:t>
            </a:r>
          </a:p>
          <a:p>
            <a:pPr algn="l" fontAlgn="base">
              <a:buFont typeface="Arial" panose="020B0604020202020204" pitchFamily="34" charset="0"/>
              <a:buChar char="•"/>
            </a:pPr>
            <a:r>
              <a:rPr lang="en-US" b="0" i="0" dirty="0">
                <a:solidFill>
                  <a:srgbClr val="1C1C1C"/>
                </a:solidFill>
                <a:effectLst/>
                <a:latin typeface="Open Sans" panose="020B0606030504020204" pitchFamily="34" charset="0"/>
              </a:rPr>
              <a:t>we activate functions in software </a:t>
            </a:r>
            <a:r>
              <a:rPr lang="en-US" b="0" i="0" dirty="0" err="1">
                <a:solidFill>
                  <a:srgbClr val="1C1C1C"/>
                </a:solidFill>
                <a:effectLst/>
                <a:latin typeface="Open Sans" panose="020B0606030504020204" pitchFamily="34" charset="0"/>
              </a:rPr>
              <a:t>programmes</a:t>
            </a:r>
            <a:r>
              <a:rPr lang="en-US" b="0" i="0" dirty="0">
                <a:solidFill>
                  <a:srgbClr val="1C1C1C"/>
                </a:solidFill>
                <a:effectLst/>
                <a:latin typeface="Open Sans" panose="020B0606030504020204" pitchFamily="34" charset="0"/>
              </a:rPr>
              <a:t> via individual menu items,</a:t>
            </a:r>
          </a:p>
          <a:p>
            <a:pPr algn="l" fontAlgn="base">
              <a:buFont typeface="Arial" panose="020B0604020202020204" pitchFamily="34" charset="0"/>
              <a:buChar char="•"/>
            </a:pPr>
            <a:r>
              <a:rPr lang="en-US" b="0" i="0" dirty="0">
                <a:solidFill>
                  <a:srgbClr val="1C1C1C"/>
                </a:solidFill>
                <a:effectLst/>
                <a:latin typeface="Open Sans" panose="020B0606030504020204" pitchFamily="34" charset="0"/>
              </a:rPr>
              <a:t>we use the control panel to set the duration of a dishwasher cycle</a:t>
            </a:r>
          </a:p>
          <a:p>
            <a:pPr algn="l" fontAlgn="base">
              <a:buFont typeface="Arial" panose="020B0604020202020204" pitchFamily="34" charset="0"/>
              <a:buChar char="•"/>
            </a:pPr>
            <a:r>
              <a:rPr lang="en-US" b="0" i="0" dirty="0">
                <a:solidFill>
                  <a:srgbClr val="1C1C1C"/>
                </a:solidFill>
                <a:effectLst/>
                <a:latin typeface="Open Sans" panose="020B0606030504020204" pitchFamily="34" charset="0"/>
              </a:rPr>
              <a:t>and we communicate our wishes to virtual voice assistants by voice.</a:t>
            </a:r>
          </a:p>
          <a:p>
            <a:endParaRPr lang="en-PK" dirty="0"/>
          </a:p>
        </p:txBody>
      </p:sp>
      <p:sp>
        <p:nvSpPr>
          <p:cNvPr id="4" name="Text Placeholder 3">
            <a:extLst>
              <a:ext uri="{FF2B5EF4-FFF2-40B4-BE49-F238E27FC236}">
                <a16:creationId xmlns:a16="http://schemas.microsoft.com/office/drawing/2014/main" id="{019C782D-4B73-975D-6A4C-AF16AAE5CA7A}"/>
              </a:ext>
            </a:extLst>
          </p:cNvPr>
          <p:cNvSpPr>
            <a:spLocks noGrp="1"/>
          </p:cNvSpPr>
          <p:nvPr>
            <p:ph type="body" sz="half" idx="2"/>
          </p:nvPr>
        </p:nvSpPr>
        <p:spPr/>
        <p:txBody>
          <a:bodyPr/>
          <a:lstStyle/>
          <a:p>
            <a:endParaRPr lang="en-PK"/>
          </a:p>
        </p:txBody>
      </p:sp>
    </p:spTree>
    <p:extLst>
      <p:ext uri="{BB962C8B-B14F-4D97-AF65-F5344CB8AC3E}">
        <p14:creationId xmlns:p14="http://schemas.microsoft.com/office/powerpoint/2010/main" val="16416497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FA8A2-A438-D3D2-7A0E-CC425A46F90A}"/>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A749A356-CE69-AC03-8331-B4E894544146}"/>
              </a:ext>
            </a:extLst>
          </p:cNvPr>
          <p:cNvSpPr>
            <a:spLocks noGrp="1"/>
          </p:cNvSpPr>
          <p:nvPr>
            <p:ph idx="1"/>
          </p:nvPr>
        </p:nvSpPr>
        <p:spPr/>
        <p:txBody>
          <a:bodyPr/>
          <a:lstStyle/>
          <a:p>
            <a:endParaRPr lang="en-PK"/>
          </a:p>
        </p:txBody>
      </p:sp>
      <p:sp>
        <p:nvSpPr>
          <p:cNvPr id="4" name="Text Placeholder 3">
            <a:extLst>
              <a:ext uri="{FF2B5EF4-FFF2-40B4-BE49-F238E27FC236}">
                <a16:creationId xmlns:a16="http://schemas.microsoft.com/office/drawing/2014/main" id="{25D8717F-1F84-6025-53A3-716582EC5C79}"/>
              </a:ext>
            </a:extLst>
          </p:cNvPr>
          <p:cNvSpPr>
            <a:spLocks noGrp="1"/>
          </p:cNvSpPr>
          <p:nvPr>
            <p:ph type="body" sz="half" idx="2"/>
          </p:nvPr>
        </p:nvSpPr>
        <p:spPr/>
        <p:txBody>
          <a:bodyPr/>
          <a:lstStyle/>
          <a:p>
            <a:endParaRPr lang="en-PK"/>
          </a:p>
        </p:txBody>
      </p:sp>
      <p:pic>
        <p:nvPicPr>
          <p:cNvPr id="5" name="Picture 4">
            <a:extLst>
              <a:ext uri="{FF2B5EF4-FFF2-40B4-BE49-F238E27FC236}">
                <a16:creationId xmlns:a16="http://schemas.microsoft.com/office/drawing/2014/main" id="{A27C4B82-92AC-4BC2-43A9-B8C96971CCA1}"/>
              </a:ext>
            </a:extLst>
          </p:cNvPr>
          <p:cNvPicPr>
            <a:picLocks noChangeAspect="1"/>
          </p:cNvPicPr>
          <p:nvPr/>
        </p:nvPicPr>
        <p:blipFill rotWithShape="1">
          <a:blip r:embed="rId2"/>
          <a:srcRect b="29861"/>
          <a:stretch/>
        </p:blipFill>
        <p:spPr>
          <a:xfrm>
            <a:off x="1008888" y="768306"/>
            <a:ext cx="11064240" cy="5321388"/>
          </a:xfrm>
          <a:prstGeom prst="rect">
            <a:avLst/>
          </a:prstGeom>
        </p:spPr>
      </p:pic>
    </p:spTree>
    <p:extLst>
      <p:ext uri="{BB962C8B-B14F-4D97-AF65-F5344CB8AC3E}">
        <p14:creationId xmlns:p14="http://schemas.microsoft.com/office/powerpoint/2010/main" val="10852157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075D3-52AE-2792-3C19-5E98F1DD4127}"/>
              </a:ext>
            </a:extLst>
          </p:cNvPr>
          <p:cNvSpPr>
            <a:spLocks noGrp="1"/>
          </p:cNvSpPr>
          <p:nvPr>
            <p:ph type="title"/>
          </p:nvPr>
        </p:nvSpPr>
        <p:spPr/>
        <p:txBody>
          <a:bodyPr/>
          <a:lstStyle/>
          <a:p>
            <a:r>
              <a:rPr lang="en-US" dirty="0"/>
              <a:t>Being Human-Centered </a:t>
            </a:r>
            <a:br>
              <a:rPr lang="en-US" dirty="0"/>
            </a:br>
            <a:endParaRPr lang="en-PK" dirty="0"/>
          </a:p>
        </p:txBody>
      </p:sp>
      <p:sp>
        <p:nvSpPr>
          <p:cNvPr id="3" name="Content Placeholder 2">
            <a:extLst>
              <a:ext uri="{FF2B5EF4-FFF2-40B4-BE49-F238E27FC236}">
                <a16:creationId xmlns:a16="http://schemas.microsoft.com/office/drawing/2014/main" id="{F4B3824C-52E0-91BB-657A-6FEB88B36A08}"/>
              </a:ext>
            </a:extLst>
          </p:cNvPr>
          <p:cNvSpPr>
            <a:spLocks noGrp="1"/>
          </p:cNvSpPr>
          <p:nvPr>
            <p:ph idx="1"/>
          </p:nvPr>
        </p:nvSpPr>
        <p:spPr/>
        <p:txBody>
          <a:bodyPr/>
          <a:lstStyle/>
          <a:p>
            <a:r>
              <a:rPr lang="en-US" sz="2800" dirty="0">
                <a:solidFill>
                  <a:schemeClr val="tx1"/>
                </a:solidFill>
              </a:rPr>
              <a:t>Thinking about what people want to do rather than what the technology can do(a human centered approach) </a:t>
            </a:r>
          </a:p>
          <a:p>
            <a:endParaRPr lang="en-US" dirty="0"/>
          </a:p>
          <a:p>
            <a:r>
              <a:rPr lang="en-US" sz="2800" dirty="0"/>
              <a:t>Designing new ways to connect people with people</a:t>
            </a:r>
          </a:p>
          <a:p>
            <a:r>
              <a:rPr lang="en-US" sz="2800" dirty="0"/>
              <a:t>Involving people in the design process </a:t>
            </a:r>
          </a:p>
          <a:p>
            <a:r>
              <a:rPr lang="en-US" sz="2800" dirty="0"/>
              <a:t>Designing for diversity</a:t>
            </a:r>
            <a:endParaRPr lang="en-PK" sz="2800" dirty="0"/>
          </a:p>
        </p:txBody>
      </p:sp>
      <p:sp>
        <p:nvSpPr>
          <p:cNvPr id="4" name="Text Placeholder 3">
            <a:extLst>
              <a:ext uri="{FF2B5EF4-FFF2-40B4-BE49-F238E27FC236}">
                <a16:creationId xmlns:a16="http://schemas.microsoft.com/office/drawing/2014/main" id="{531838FD-25F5-341B-3CE7-5F41F79CE71F}"/>
              </a:ext>
            </a:extLst>
          </p:cNvPr>
          <p:cNvSpPr>
            <a:spLocks noGrp="1"/>
          </p:cNvSpPr>
          <p:nvPr>
            <p:ph type="body" sz="half" idx="2"/>
          </p:nvPr>
        </p:nvSpPr>
        <p:spPr/>
        <p:txBody>
          <a:bodyPr/>
          <a:lstStyle/>
          <a:p>
            <a:endParaRPr lang="en-PK"/>
          </a:p>
        </p:txBody>
      </p:sp>
    </p:spTree>
    <p:extLst>
      <p:ext uri="{BB962C8B-B14F-4D97-AF65-F5344CB8AC3E}">
        <p14:creationId xmlns:p14="http://schemas.microsoft.com/office/powerpoint/2010/main" val="17979816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8937F-F091-3BCD-398D-FA94B736671D}"/>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2AA520C4-6B05-35AA-FE5D-74ED7E4FDFEB}"/>
              </a:ext>
            </a:extLst>
          </p:cNvPr>
          <p:cNvSpPr>
            <a:spLocks noGrp="1"/>
          </p:cNvSpPr>
          <p:nvPr>
            <p:ph idx="1"/>
          </p:nvPr>
        </p:nvSpPr>
        <p:spPr/>
        <p:txBody>
          <a:bodyPr/>
          <a:lstStyle/>
          <a:p>
            <a:endParaRPr lang="en-PK"/>
          </a:p>
        </p:txBody>
      </p:sp>
      <p:sp>
        <p:nvSpPr>
          <p:cNvPr id="4" name="Text Placeholder 3">
            <a:extLst>
              <a:ext uri="{FF2B5EF4-FFF2-40B4-BE49-F238E27FC236}">
                <a16:creationId xmlns:a16="http://schemas.microsoft.com/office/drawing/2014/main" id="{ECEDC89D-61F3-21EE-94C8-880CEF18E681}"/>
              </a:ext>
            </a:extLst>
          </p:cNvPr>
          <p:cNvSpPr>
            <a:spLocks noGrp="1"/>
          </p:cNvSpPr>
          <p:nvPr>
            <p:ph type="body" sz="half" idx="2"/>
          </p:nvPr>
        </p:nvSpPr>
        <p:spPr/>
        <p:txBody>
          <a:bodyPr/>
          <a:lstStyle/>
          <a:p>
            <a:endParaRPr lang="en-PK"/>
          </a:p>
        </p:txBody>
      </p:sp>
      <p:pic>
        <p:nvPicPr>
          <p:cNvPr id="5" name="Picture 4">
            <a:extLst>
              <a:ext uri="{FF2B5EF4-FFF2-40B4-BE49-F238E27FC236}">
                <a16:creationId xmlns:a16="http://schemas.microsoft.com/office/drawing/2014/main" id="{78632EA3-CC09-043B-5524-E9AF110556E2}"/>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17041965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4637679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1890" y="540328"/>
            <a:ext cx="10557164" cy="5938405"/>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8017" y="955963"/>
            <a:ext cx="9331037" cy="5522770"/>
          </a:xfrm>
          <a:prstGeom prst="rect">
            <a:avLst/>
          </a:prstGeom>
        </p:spPr>
      </p:pic>
    </p:spTree>
    <p:extLst>
      <p:ext uri="{BB962C8B-B14F-4D97-AF65-F5344CB8AC3E}">
        <p14:creationId xmlns:p14="http://schemas.microsoft.com/office/powerpoint/2010/main" val="3718477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l="10016" t="12784" r="8366" b="4829"/>
          <a:stretch/>
        </p:blipFill>
        <p:spPr>
          <a:xfrm>
            <a:off x="332508" y="498763"/>
            <a:ext cx="10619509" cy="6026727"/>
          </a:xfrm>
          <a:prstGeom prst="rect">
            <a:avLst/>
          </a:prstGeom>
        </p:spPr>
      </p:pic>
      <p:pic>
        <p:nvPicPr>
          <p:cNvPr id="4" name="Picture 3"/>
          <p:cNvPicPr>
            <a:picLocks noChangeAspect="1"/>
          </p:cNvPicPr>
          <p:nvPr/>
        </p:nvPicPr>
        <p:blipFill rotWithShape="1">
          <a:blip r:embed="rId3"/>
          <a:srcRect l="8739" t="12500" r="8045" b="5398"/>
          <a:stretch/>
        </p:blipFill>
        <p:spPr>
          <a:xfrm>
            <a:off x="727363" y="685800"/>
            <a:ext cx="10827327" cy="6005945"/>
          </a:xfrm>
          <a:prstGeom prst="rect">
            <a:avLst/>
          </a:prstGeom>
        </p:spPr>
      </p:pic>
    </p:spTree>
    <p:extLst>
      <p:ext uri="{BB962C8B-B14F-4D97-AF65-F5344CB8AC3E}">
        <p14:creationId xmlns:p14="http://schemas.microsoft.com/office/powerpoint/2010/main" val="3227181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a:extLst>
              <a:ext uri="{FF2B5EF4-FFF2-40B4-BE49-F238E27FC236}">
                <a16:creationId xmlns:a16="http://schemas.microsoft.com/office/drawing/2014/main" id="{E7C52A4C-D33C-7311-2F72-026FD95254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4686" y="0"/>
            <a:ext cx="9434286" cy="70757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71498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40C1796-63B7-C191-045E-22B455238C50}"/>
              </a:ext>
            </a:extLst>
          </p:cNvPr>
          <p:cNvSpPr txBox="1"/>
          <p:nvPr/>
        </p:nvSpPr>
        <p:spPr>
          <a:xfrm>
            <a:off x="235857" y="1825562"/>
            <a:ext cx="2318657" cy="2862322"/>
          </a:xfrm>
          <a:prstGeom prst="rect">
            <a:avLst/>
          </a:prstGeom>
          <a:noFill/>
        </p:spPr>
        <p:txBody>
          <a:bodyPr wrap="square">
            <a:spAutoFit/>
          </a:bodyPr>
          <a:lstStyle/>
          <a:p>
            <a:r>
              <a:rPr lang="en-US" sz="3600" dirty="0">
                <a:solidFill>
                  <a:schemeClr val="bg1"/>
                </a:solidFill>
              </a:rPr>
              <a:t>Why being Human-Centered </a:t>
            </a:r>
          </a:p>
          <a:p>
            <a:r>
              <a:rPr lang="en-US" sz="3600" dirty="0">
                <a:solidFill>
                  <a:schemeClr val="bg1"/>
                </a:solidFill>
              </a:rPr>
              <a:t>is Important</a:t>
            </a:r>
            <a:endParaRPr lang="en-PK" sz="3600" dirty="0">
              <a:solidFill>
                <a:schemeClr val="bg1"/>
              </a:solidFill>
            </a:endParaRPr>
          </a:p>
        </p:txBody>
      </p:sp>
      <p:sp>
        <p:nvSpPr>
          <p:cNvPr id="7" name="TextBox 6">
            <a:extLst>
              <a:ext uri="{FF2B5EF4-FFF2-40B4-BE49-F238E27FC236}">
                <a16:creationId xmlns:a16="http://schemas.microsoft.com/office/drawing/2014/main" id="{9BA81B23-5493-91C6-555A-1EB171E96CF5}"/>
              </a:ext>
            </a:extLst>
          </p:cNvPr>
          <p:cNvSpPr txBox="1"/>
          <p:nvPr/>
        </p:nvSpPr>
        <p:spPr>
          <a:xfrm>
            <a:off x="3617686" y="1395549"/>
            <a:ext cx="6103256" cy="4524315"/>
          </a:xfrm>
          <a:prstGeom prst="rect">
            <a:avLst/>
          </a:prstGeom>
          <a:noFill/>
        </p:spPr>
        <p:txBody>
          <a:bodyPr wrap="square">
            <a:spAutoFit/>
          </a:bodyPr>
          <a:lstStyle/>
          <a:p>
            <a:r>
              <a:rPr lang="en-US" sz="3200" dirty="0"/>
              <a:t>❑Return on investment</a:t>
            </a:r>
          </a:p>
          <a:p>
            <a:r>
              <a:rPr lang="en-US" sz="3200" dirty="0"/>
              <a:t>       ❑225% sales increase by turning ‘browsers’ into ‘buyers’ ❑Safety </a:t>
            </a:r>
          </a:p>
          <a:p>
            <a:r>
              <a:rPr lang="en-US" sz="3200" dirty="0"/>
              <a:t>        ❑Plane and train disasters </a:t>
            </a:r>
          </a:p>
          <a:p>
            <a:r>
              <a:rPr lang="en-US" sz="3200" dirty="0"/>
              <a:t>❑Ethics </a:t>
            </a:r>
          </a:p>
          <a:p>
            <a:r>
              <a:rPr lang="en-US" sz="3200" dirty="0"/>
              <a:t>        ❑Quality of people’s lives</a:t>
            </a:r>
          </a:p>
          <a:p>
            <a:r>
              <a:rPr lang="en-US" sz="3200" dirty="0"/>
              <a:t> ❑Sustainability</a:t>
            </a:r>
          </a:p>
          <a:p>
            <a:r>
              <a:rPr lang="en-US" sz="3200" dirty="0"/>
              <a:t>       ❑Environment friendly design </a:t>
            </a:r>
            <a:endParaRPr lang="en-PK" sz="3200" dirty="0"/>
          </a:p>
        </p:txBody>
      </p:sp>
    </p:spTree>
    <p:extLst>
      <p:ext uri="{BB962C8B-B14F-4D97-AF65-F5344CB8AC3E}">
        <p14:creationId xmlns:p14="http://schemas.microsoft.com/office/powerpoint/2010/main" val="24900308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Human-centered Design Examples Spotify">
            <a:extLst>
              <a:ext uri="{FF2B5EF4-FFF2-40B4-BE49-F238E27FC236}">
                <a16:creationId xmlns:a16="http://schemas.microsoft.com/office/drawing/2014/main" id="{3F61F286-8B01-DC9A-CBB7-36E87402F6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0163" y="1728788"/>
            <a:ext cx="1971675" cy="3400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9057739"/>
      </p:ext>
    </p:extLst>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TM03457475[[fn=Frame]]</Template>
  <TotalTime>98</TotalTime>
  <Words>606</Words>
  <Application>Microsoft Office PowerPoint</Application>
  <PresentationFormat>Widescreen</PresentationFormat>
  <Paragraphs>79</Paragraphs>
  <Slides>24</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Arial</vt:lpstr>
      <vt:lpstr>Calibri</vt:lpstr>
      <vt:lpstr>Corbel</vt:lpstr>
      <vt:lpstr>Google Sans</vt:lpstr>
      <vt:lpstr>Lexend Deca</vt:lpstr>
      <vt:lpstr>Nunito</vt:lpstr>
      <vt:lpstr>Open Sans</vt:lpstr>
      <vt:lpstr>Wingdings 2</vt:lpstr>
      <vt:lpstr>Frame</vt:lpstr>
      <vt:lpstr>Introduction to user experience(UX)</vt:lpstr>
      <vt:lpstr>What is User Experience? </vt:lpstr>
      <vt:lpstr>How to improve the user experience? </vt:lpstr>
      <vt:lpstr>Interactive systems </vt:lpstr>
      <vt:lpstr>Variety of UX </vt:lpstr>
      <vt:lpstr>PowerPoint Presentation</vt:lpstr>
      <vt:lpstr>PowerPoint Presentation</vt:lpstr>
      <vt:lpstr>Difference between UI and UX. </vt:lpstr>
      <vt:lpstr>Concerns of UX designer</vt:lpstr>
      <vt:lpstr>PowerPoint Presentation</vt:lpstr>
      <vt:lpstr>PowerPoint Presentation</vt:lpstr>
      <vt:lpstr>PowerPoint Presentation</vt:lpstr>
      <vt:lpstr>User interface  </vt:lpstr>
      <vt:lpstr>PowerPoint Presentation</vt:lpstr>
      <vt:lpstr>PowerPoint Presentation</vt:lpstr>
      <vt:lpstr>PowerPoint Presentation</vt:lpstr>
      <vt:lpstr>Being Human-Centered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Iqra Shahzad</dc:creator>
  <cp:lastModifiedBy>Iqra Shahzad</cp:lastModifiedBy>
  <cp:revision>4</cp:revision>
  <dcterms:created xsi:type="dcterms:W3CDTF">2024-09-13T07:00:01Z</dcterms:created>
  <dcterms:modified xsi:type="dcterms:W3CDTF">2024-09-13T08:38:09Z</dcterms:modified>
</cp:coreProperties>
</file>