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311" r:id="rId2"/>
    <p:sldId id="320" r:id="rId3"/>
    <p:sldId id="257" r:id="rId4"/>
    <p:sldId id="324" r:id="rId5"/>
    <p:sldId id="258" r:id="rId6"/>
    <p:sldId id="259" r:id="rId7"/>
    <p:sldId id="325" r:id="rId8"/>
    <p:sldId id="260" r:id="rId9"/>
    <p:sldId id="310" r:id="rId10"/>
    <p:sldId id="261" r:id="rId11"/>
    <p:sldId id="262" r:id="rId12"/>
    <p:sldId id="263" r:id="rId13"/>
    <p:sldId id="326" r:id="rId14"/>
    <p:sldId id="264" r:id="rId15"/>
    <p:sldId id="265" r:id="rId16"/>
    <p:sldId id="327" r:id="rId17"/>
    <p:sldId id="328" r:id="rId18"/>
    <p:sldId id="329" r:id="rId19"/>
    <p:sldId id="330" r:id="rId20"/>
    <p:sldId id="332" r:id="rId21"/>
    <p:sldId id="266" r:id="rId22"/>
    <p:sldId id="323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65" autoAdjust="0"/>
  </p:normalViewPr>
  <p:slideViewPr>
    <p:cSldViewPr>
      <p:cViewPr varScale="1">
        <p:scale>
          <a:sx n="55" d="100"/>
          <a:sy n="55" d="100"/>
        </p:scale>
        <p:origin x="18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CA8B4C0-C043-4402-BC00-4B03EB044882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3515F86-142F-4BED-AB88-1FD1AA5BE4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an object/data structure that contains </a:t>
            </a:r>
            <a:r>
              <a:rPr lang="en-US" altLang="en-US" b="1" dirty="0" smtClean="0"/>
              <a:t>elements of similar data type. </a:t>
            </a:r>
          </a:p>
          <a:p>
            <a:r>
              <a:rPr lang="en-US" altLang="en-US" b="1" dirty="0" smtClean="0"/>
              <a:t>Contiguous: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 or together in sequence.</a:t>
            </a:r>
            <a:endParaRPr lang="en-US" altLang="en-US" b="1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6C200D1-A3D4-486E-A78F-1A1E3113CFBF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EF1D102-3479-4026-9F2E-AFDFFC982FD7}" type="slidenum">
              <a:rPr lang="en-US" altLang="en-US" smtClean="0"/>
              <a:pPr/>
              <a:t>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C09501-DE4F-4CAA-BFAD-9521DB90C848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935AB1D-C49F-4974-9521-C23E734D9DEE}" type="slidenum">
              <a:rPr lang="en-US" altLang="en-US" smtClean="0"/>
              <a:pPr/>
              <a:t>13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B418036-FA2F-4D17-A461-2578CC6FAF20}" type="slidenum">
              <a:rPr lang="en-US" altLang="en-US" smtClean="0"/>
              <a:pPr/>
              <a:t>15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515F86-142F-4BED-AB88-1FD1AA5BE44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31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String name=arr.getClass().getName();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89F4066-F088-49B5-A9E9-0CB553991AC6}" type="slidenum">
              <a:rPr lang="en-US" altLang="en-US" smtClean="0"/>
              <a:pPr/>
              <a:t>17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515F86-142F-4BED-AB88-1FD1AA5BE44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61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94095A-9A24-4571-921A-8E628CDBD349}" type="slidenum">
              <a:rPr lang="en-US" altLang="en-US" smtClean="0"/>
              <a:pPr/>
              <a:t>19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u="none" dirty="0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AD3C4FA-272F-4A74-899D-0354D9EE96BA}" type="slidenum">
              <a:rPr lang="en-US" altLang="en-US" smtClean="0"/>
              <a:pPr/>
              <a:t>20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85FD268-CED8-4302-A953-38CF68111B73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E552C623-F2C6-42F1-8596-0797F8B0E5C6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30B58B7-0C7C-4F62-92D4-D627F1798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0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30B03-4037-4A76-9543-65AEC420E755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5C773-B45A-4FB5-867A-5054DFB6D5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7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93AF11E-AC12-4E2E-A204-22850361DF08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8E78A-DBE9-4355-8217-6CF3A2C6C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80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4A3ED22-787E-4D3F-8C97-D23321D5AD11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1F93A-C320-47AA-AD6A-9CD584FC4A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94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5E485BF-3741-49F5-A60F-24E595D836A0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95CAA-BAB8-4A65-AB46-4B4E22966E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77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28780B0-1420-47E1-A878-0A5BF8067584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57E03-CA85-4AB5-8BC9-FEB98B6E50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75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FC04D-6736-437D-A307-71E10BC0CB62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EE4F4-2379-4015-97D2-C7B606AB35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8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E7DB97E-7597-47CA-B86F-A58CE800D463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37D78-5DD1-45C2-816A-ECC3008099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76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B104089A-00EB-4357-BB8E-59B689062DCB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62901-6EF0-4AB1-B6B6-F7602AB58A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96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5A5A6-145C-498E-B927-7DB0991CD3FB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11D52-5F5E-4BB7-BE44-FF52F25C9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2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0F391-4A5F-43F2-9F1B-754DF8C3CBBD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F165F-68BB-4B1C-9139-0F305D1484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8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15A2E46-F832-4710-8D94-1E1ADF33BF34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Lucida Sans Unicode" panose="020B0602030504020204" pitchFamily="34" charset="0"/>
              </a:defRPr>
            </a:lvl1pPr>
          </a:lstStyle>
          <a:p>
            <a:pPr>
              <a:defRPr/>
            </a:pPr>
            <a:fld id="{633E402F-FF57-41A2-A1C2-C461CC8552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39" r:id="rId2"/>
    <p:sldLayoutId id="2147484044" r:id="rId3"/>
    <p:sldLayoutId id="2147484045" r:id="rId4"/>
    <p:sldLayoutId id="2147484046" r:id="rId5"/>
    <p:sldLayoutId id="2147484047" r:id="rId6"/>
    <p:sldLayoutId id="2147484040" r:id="rId7"/>
    <p:sldLayoutId id="2147484048" r:id="rId8"/>
    <p:sldLayoutId id="2147484049" r:id="rId9"/>
    <p:sldLayoutId id="2147484041" r:id="rId10"/>
    <p:sldLayoutId id="214748404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0" y="1828800"/>
            <a:ext cx="8839200" cy="18303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Object Oriented</a:t>
            </a:r>
            <a:br>
              <a:rPr lang="en-US" dirty="0" smtClean="0"/>
            </a:br>
            <a:r>
              <a:rPr lang="en-US" dirty="0" smtClean="0"/>
              <a:t> Programming</a:t>
            </a:r>
            <a:endParaRPr lang="en-US" dirty="0"/>
          </a:p>
        </p:txBody>
      </p:sp>
      <p:sp>
        <p:nvSpPr>
          <p:cNvPr id="10243" name="Subtitle 4"/>
          <p:cNvSpPr>
            <a:spLocks noGrp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7696200" cy="45259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Array</a:t>
            </a:r>
          </a:p>
          <a:p>
            <a:pPr lvl="1" eaLnBrk="1" hangingPunct="1"/>
            <a:r>
              <a:rPr lang="en-US" altLang="en-US" dirty="0" smtClean="0"/>
              <a:t>Single &amp; Multi-dimensional 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Topics To Be Covered Today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 array is a group of liked-typed variables referred to by a common name, with individual variables accessed by their index.</a:t>
            </a:r>
          </a:p>
          <a:p>
            <a:pPr eaLnBrk="1" hangingPunct="1"/>
            <a:r>
              <a:rPr lang="en-US" altLang="en-US" dirty="0" smtClean="0"/>
              <a:t>Normally, array is a collection of similar type of elements that have contiguous memory location.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First element of the array is stored at 0 index.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Arrays</a:t>
            </a:r>
            <a:endParaRPr lang="en-US" dirty="0"/>
          </a:p>
        </p:txBody>
      </p:sp>
      <p:pic>
        <p:nvPicPr>
          <p:cNvPr id="1229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744913"/>
            <a:ext cx="7010400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There are two types of array.</a:t>
            </a:r>
          </a:p>
          <a:p>
            <a:pPr lvl="1"/>
            <a:r>
              <a:rPr lang="en-US" altLang="en-US" smtClean="0"/>
              <a:t>Single Dimensional Array</a:t>
            </a:r>
          </a:p>
          <a:p>
            <a:pPr lvl="1"/>
            <a:r>
              <a:rPr lang="en-US" altLang="en-US" smtClean="0"/>
              <a:t>Multidimensional Array</a:t>
            </a:r>
          </a:p>
          <a:p>
            <a:endParaRPr lang="en-US" altLang="en-US" smtClean="0"/>
          </a:p>
          <a:p>
            <a:r>
              <a:rPr lang="en-US" altLang="en-US" smtClean="0"/>
              <a:t>Arrays are:</a:t>
            </a:r>
          </a:p>
          <a:p>
            <a:pPr lvl="2" eaLnBrk="1" hangingPunct="1">
              <a:buFont typeface="Verdana" panose="020B0604030504040204" pitchFamily="34" charset="0"/>
              <a:buNone/>
            </a:pPr>
            <a:r>
              <a:rPr lang="en-US" altLang="en-US" sz="2300" smtClean="0"/>
              <a:t>1) Declared </a:t>
            </a:r>
          </a:p>
          <a:p>
            <a:pPr lvl="2" eaLnBrk="1" hangingPunct="1">
              <a:buFont typeface="Verdana" panose="020B0604030504040204" pitchFamily="34" charset="0"/>
              <a:buNone/>
            </a:pPr>
            <a:r>
              <a:rPr lang="en-US" altLang="en-US" sz="2300" smtClean="0"/>
              <a:t>2) Created (instantiated)</a:t>
            </a:r>
          </a:p>
          <a:p>
            <a:pPr lvl="2" eaLnBrk="1" hangingPunct="1">
              <a:buFont typeface="Verdana" panose="020B0604030504040204" pitchFamily="34" charset="0"/>
              <a:buNone/>
            </a:pPr>
            <a:r>
              <a:rPr lang="en-US" altLang="en-US" sz="2300" smtClean="0"/>
              <a:t>3) Initialized </a:t>
            </a:r>
          </a:p>
          <a:p>
            <a:pPr lvl="2" eaLnBrk="1" hangingPunct="1">
              <a:buFont typeface="Verdana" panose="020B0604030504040204" pitchFamily="34" charset="0"/>
              <a:buNone/>
            </a:pPr>
            <a:r>
              <a:rPr lang="en-US" altLang="en-US" sz="2300" smtClean="0"/>
              <a:t>4) Used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Types of Arrays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Array declaration involves:</a:t>
            </a:r>
          </a:p>
          <a:p>
            <a:pPr lvl="2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1) declaring an array identifier</a:t>
            </a:r>
          </a:p>
          <a:p>
            <a:pPr lvl="2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2) declaring the number of dimensions</a:t>
            </a:r>
          </a:p>
          <a:p>
            <a:pPr lvl="2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3) declaring the data type of the array elements</a:t>
            </a:r>
          </a:p>
          <a:p>
            <a:pPr eaLnBrk="1" hangingPunct="1"/>
            <a:r>
              <a:rPr lang="en-US" altLang="en-US" smtClean="0"/>
              <a:t>Three styles of array declaration:</a:t>
            </a:r>
          </a:p>
          <a:p>
            <a:pPr lvl="1"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</a:t>
            </a:r>
            <a:r>
              <a:rPr lang="en-US" altLang="en-US" b="1" smtClean="0"/>
              <a:t>type array-variable[ ]; </a:t>
            </a:r>
          </a:p>
          <a:p>
            <a:pPr lvl="1"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or</a:t>
            </a:r>
          </a:p>
          <a:p>
            <a:pPr lvl="1"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</a:t>
            </a:r>
            <a:r>
              <a:rPr lang="en-US" altLang="en-US" b="1" smtClean="0"/>
              <a:t>type  [ ]array-variable;</a:t>
            </a:r>
          </a:p>
          <a:p>
            <a:pPr lvl="1"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or</a:t>
            </a:r>
          </a:p>
          <a:p>
            <a:pPr lvl="1"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</a:t>
            </a:r>
            <a:r>
              <a:rPr lang="en-US" altLang="en-US" b="1" smtClean="0"/>
              <a:t>type[ ]  array-variable;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Array Declaration</a:t>
            </a:r>
            <a:endParaRPr lang="en-US" dirty="0"/>
          </a:p>
        </p:txBody>
      </p:sp>
      <p:sp>
        <p:nvSpPr>
          <p:cNvPr id="15364" name="TextBox 1"/>
          <p:cNvSpPr txBox="1">
            <a:spLocks noChangeArrowheads="1"/>
          </p:cNvSpPr>
          <p:nvPr/>
        </p:nvSpPr>
        <p:spPr bwMode="auto">
          <a:xfrm>
            <a:off x="5105400" y="3736975"/>
            <a:ext cx="2895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e.g.  </a:t>
            </a:r>
            <a:r>
              <a:rPr lang="en-US" altLang="en-US" sz="1800" b="1" dirty="0" err="1"/>
              <a:t>int</a:t>
            </a:r>
            <a:r>
              <a:rPr lang="en-US" altLang="en-US" sz="1800" b="1" dirty="0"/>
              <a:t> </a:t>
            </a:r>
            <a:r>
              <a:rPr lang="en-US" altLang="en-US" sz="1800" b="1" dirty="0" err="1"/>
              <a:t>abc</a:t>
            </a:r>
            <a:r>
              <a:rPr lang="en-US" altLang="en-US" sz="1800" b="1" dirty="0" smtClean="0"/>
              <a:t>[ ];</a:t>
            </a:r>
            <a:endParaRPr lang="en-US" altLang="en-US" sz="18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 smtClean="0"/>
              <a:t>Datatype =&gt;    </a:t>
            </a:r>
            <a:r>
              <a:rPr lang="en-US" altLang="en-US" sz="1800" b="1" dirty="0" err="1" smtClean="0"/>
              <a:t>int</a:t>
            </a:r>
            <a:endParaRPr lang="en-US" altLang="en-US" sz="1800" b="1" dirty="0" smtClean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smtClean="0"/>
              <a:t>Identifier </a:t>
            </a:r>
            <a:r>
              <a:rPr lang="en-US" altLang="en-US" sz="1800" b="1" dirty="0"/>
              <a:t>=&gt;    </a:t>
            </a:r>
            <a:r>
              <a:rPr lang="en-US" altLang="en-US" sz="1800" b="1" dirty="0" err="1"/>
              <a:t>abc</a:t>
            </a:r>
            <a:endParaRPr lang="en-US" altLang="en-US" sz="18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/>
              <a:t>Dimention</a:t>
            </a:r>
            <a:r>
              <a:rPr lang="en-US" altLang="en-US" sz="1800" b="1" dirty="0"/>
              <a:t>=&gt;  single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After declaration, no array actually exists.</a:t>
            </a:r>
          </a:p>
          <a:p>
            <a:pPr eaLnBrk="1" hangingPunct="1"/>
            <a:r>
              <a:rPr lang="en-US" altLang="en-US" smtClean="0"/>
              <a:t>In order to create an array, we use the </a:t>
            </a:r>
            <a:r>
              <a:rPr lang="en-US" altLang="en-US" b="1" smtClean="0"/>
              <a:t>new</a:t>
            </a:r>
            <a:r>
              <a:rPr lang="en-US" altLang="en-US" smtClean="0"/>
              <a:t> operator: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</a:t>
            </a:r>
            <a:r>
              <a:rPr lang="en-US" altLang="en-US" b="1" smtClean="0"/>
              <a:t>type array-variable[ ];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b="1" smtClean="0"/>
              <a:t>      array-variable = new type[size];</a:t>
            </a:r>
          </a:p>
          <a:p>
            <a:pPr eaLnBrk="1" hangingPunct="1"/>
            <a:r>
              <a:rPr lang="en-US" altLang="en-US" smtClean="0"/>
              <a:t>This creates a new array to hold </a:t>
            </a:r>
            <a:r>
              <a:rPr lang="en-US" altLang="en-US" b="1" smtClean="0"/>
              <a:t>size elements </a:t>
            </a:r>
            <a:r>
              <a:rPr lang="en-US" altLang="en-US" smtClean="0"/>
              <a:t>of type </a:t>
            </a:r>
            <a:r>
              <a:rPr lang="en-US" altLang="en-US" b="1" smtClean="0"/>
              <a:t>type</a:t>
            </a:r>
            <a:r>
              <a:rPr lang="en-US" altLang="en-US" smtClean="0"/>
              <a:t>, whose reference will be kept in the variable array-variable.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Array Creation</a:t>
            </a:r>
            <a:endParaRPr lang="en-US" dirty="0"/>
          </a:p>
        </p:txBody>
      </p:sp>
      <p:pic>
        <p:nvPicPr>
          <p:cNvPr id="16388" name="Picture 2" descr="G:\java data types\arrays_v1_202x220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648200"/>
            <a:ext cx="192405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Array Creation</a:t>
            </a:r>
          </a:p>
        </p:txBody>
      </p:sp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85900"/>
            <a:ext cx="68580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Later we can refer to the elements of this array through their indexes: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</a:t>
            </a:r>
            <a:r>
              <a:rPr lang="en-US" altLang="en-US" b="1" smtClean="0"/>
              <a:t>array-variable[index]</a:t>
            </a:r>
          </a:p>
          <a:p>
            <a:pPr eaLnBrk="1" hangingPunct="1"/>
            <a:r>
              <a:rPr lang="en-US" altLang="en-US" smtClean="0"/>
              <a:t>The array index always starts with zero!</a:t>
            </a:r>
          </a:p>
          <a:p>
            <a:pPr eaLnBrk="1" hangingPunct="1"/>
            <a:r>
              <a:rPr lang="en-US" altLang="en-US" smtClean="0"/>
              <a:t>The Java run-time system makes sure that all array indexes are in the correct range, otherwise raises a run-time error.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Array Indexing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34462"/>
            <a:ext cx="5861538" cy="662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Example: Array Use</a:t>
            </a:r>
            <a:endParaRPr lang="en-US" dirty="0"/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Arrays can be initialized when they are declared: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</a:t>
            </a:r>
            <a:r>
              <a:rPr lang="en-US" altLang="en-US" b="1" smtClean="0"/>
              <a:t>int monthDays[ ] = {31,28,31,30,31,30,31,31,30,31,30,31};</a:t>
            </a:r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b="1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Comments: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1) there is no need to use the new operator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2) the array is created large enough to hold all specified elements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Array Initialization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Example: Array Initialization</a:t>
            </a:r>
            <a:endParaRPr lang="en-US" dirty="0"/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732472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Passing </a:t>
            </a:r>
            <a:r>
              <a:rPr lang="en-US" dirty="0"/>
              <a:t>Array to method in java</a:t>
            </a:r>
          </a:p>
        </p:txBody>
      </p:sp>
      <p:pic>
        <p:nvPicPr>
          <p:cNvPr id="2560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17638"/>
            <a:ext cx="52578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Multidimensional arrays are arrays of arrays: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dirty="0" smtClean="0"/>
              <a:t>1) declaration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b="1" dirty="0" smtClean="0"/>
              <a:t>    </a:t>
            </a:r>
            <a:r>
              <a:rPr lang="en-US" altLang="en-US" b="1" dirty="0" err="1" smtClean="0"/>
              <a:t>int</a:t>
            </a:r>
            <a:r>
              <a:rPr lang="en-US" altLang="en-US" b="1" dirty="0" smtClean="0"/>
              <a:t> array[ ][ ];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dirty="0" smtClean="0"/>
              <a:t>2) creation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b="1" dirty="0" smtClean="0"/>
              <a:t>    </a:t>
            </a:r>
            <a:r>
              <a:rPr lang="en-US" altLang="en-US" b="1" dirty="0" err="1" smtClean="0"/>
              <a:t>int</a:t>
            </a:r>
            <a:r>
              <a:rPr lang="en-US" altLang="en-US" b="1" dirty="0" smtClean="0"/>
              <a:t> array[ ][ ] = new </a:t>
            </a:r>
            <a:r>
              <a:rPr lang="en-US" altLang="en-US" b="1" dirty="0" err="1" smtClean="0"/>
              <a:t>int</a:t>
            </a:r>
            <a:r>
              <a:rPr lang="en-US" altLang="en-US" b="1" dirty="0" smtClean="0"/>
              <a:t>[2][3];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dirty="0" smtClean="0"/>
              <a:t>3) initialization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b="1" dirty="0" smtClean="0"/>
              <a:t>    </a:t>
            </a:r>
            <a:r>
              <a:rPr lang="en-US" altLang="en-US" b="1" dirty="0" err="1" smtClean="0"/>
              <a:t>int</a:t>
            </a:r>
            <a:r>
              <a:rPr lang="en-US" altLang="en-US" b="1" dirty="0" smtClean="0"/>
              <a:t> array[ ][ ] = { {1, 2, 3}, {4, 5, 6} };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Multi-dimensional Array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Example: Multi-dimensional Array</a:t>
            </a:r>
            <a:endParaRPr lang="en-US" dirty="0"/>
          </a:p>
        </p:txBody>
      </p:sp>
      <p:pic>
        <p:nvPicPr>
          <p:cNvPr id="2867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417638"/>
            <a:ext cx="6124575" cy="528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 java, array is an object.</a:t>
            </a:r>
          </a:p>
          <a:p>
            <a:r>
              <a:rPr lang="en-US" altLang="en-US" smtClean="0"/>
              <a:t>For array object, a proxy class is created whose </a:t>
            </a:r>
            <a:r>
              <a:rPr lang="en-US" altLang="en-US" smtClean="0">
                <a:solidFill>
                  <a:srgbClr val="FF0000"/>
                </a:solidFill>
              </a:rPr>
              <a:t>name can be obtained by getClass().getName() </a:t>
            </a:r>
            <a:r>
              <a:rPr lang="en-US" altLang="en-US" smtClean="0"/>
              <a:t>method on the object.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class name of java array?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17638"/>
            <a:ext cx="6248400" cy="49069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525962"/>
          </a:xfrm>
        </p:spPr>
        <p:txBody>
          <a:bodyPr/>
          <a:lstStyle/>
          <a:p>
            <a:pPr>
              <a:defRPr/>
            </a:pPr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array </a:t>
            </a:r>
            <a:r>
              <a:rPr lang="en-US" dirty="0" smtClean="0"/>
              <a:t>can be copied to </a:t>
            </a:r>
            <a:r>
              <a:rPr lang="en-US" dirty="0"/>
              <a:t>another by the </a:t>
            </a:r>
            <a:r>
              <a:rPr lang="en-US" dirty="0" err="1" smtClean="0"/>
              <a:t>arraycopy</a:t>
            </a:r>
            <a:r>
              <a:rPr lang="en-US" dirty="0" smtClean="0"/>
              <a:t>() </a:t>
            </a:r>
            <a:r>
              <a:rPr lang="en-US" dirty="0"/>
              <a:t>method of System </a:t>
            </a:r>
            <a:r>
              <a:rPr lang="en-US" dirty="0" smtClean="0"/>
              <a:t>class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Syntax of </a:t>
            </a:r>
            <a:r>
              <a:rPr lang="en-US" dirty="0" err="1"/>
              <a:t>arraycopy</a:t>
            </a:r>
            <a:r>
              <a:rPr lang="en-US" dirty="0"/>
              <a:t> method</a:t>
            </a:r>
          </a:p>
          <a:p>
            <a:pPr>
              <a:defRPr/>
            </a:pP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 err="1" smtClean="0"/>
              <a:t>arraycopy</a:t>
            </a:r>
            <a:r>
              <a:rPr lang="en-US" sz="2400" dirty="0" smtClean="0"/>
              <a:t>(Object</a:t>
            </a:r>
            <a:r>
              <a:rPr lang="en-US" sz="2400" dirty="0"/>
              <a:t> </a:t>
            </a:r>
            <a:r>
              <a:rPr lang="en-US" sz="2400" dirty="0" err="1"/>
              <a:t>src</a:t>
            </a:r>
            <a:r>
              <a:rPr lang="en-US" sz="2400" dirty="0"/>
              <a:t>, </a:t>
            </a:r>
            <a:r>
              <a:rPr lang="en-US" sz="2400" b="1" dirty="0" err="1"/>
              <a:t>int</a:t>
            </a:r>
            <a:r>
              <a:rPr lang="en-US" sz="2400" dirty="0"/>
              <a:t> </a:t>
            </a:r>
            <a:r>
              <a:rPr lang="en-US" sz="2400" dirty="0" err="1" smtClean="0"/>
              <a:t>srcPos,Object</a:t>
            </a:r>
            <a:r>
              <a:rPr lang="en-US" sz="2400" dirty="0"/>
              <a:t> </a:t>
            </a:r>
            <a:r>
              <a:rPr lang="en-US" sz="2400" dirty="0" err="1"/>
              <a:t>dest</a:t>
            </a:r>
            <a:r>
              <a:rPr lang="en-US" sz="2400" dirty="0"/>
              <a:t>, </a:t>
            </a:r>
            <a:r>
              <a:rPr lang="en-US" sz="2400" b="1" dirty="0" err="1"/>
              <a:t>int</a:t>
            </a:r>
            <a:r>
              <a:rPr lang="en-US" sz="2400" dirty="0"/>
              <a:t> </a:t>
            </a:r>
            <a:r>
              <a:rPr lang="en-US" sz="2400" dirty="0" err="1"/>
              <a:t>destPos</a:t>
            </a:r>
            <a:r>
              <a:rPr lang="en-US" sz="2400" dirty="0"/>
              <a:t>, </a:t>
            </a:r>
            <a:r>
              <a:rPr lang="en-US" sz="2400" b="1" dirty="0" err="1"/>
              <a:t>int</a:t>
            </a:r>
            <a:r>
              <a:rPr lang="en-US" sz="2400" dirty="0"/>
              <a:t> </a:t>
            </a:r>
            <a:r>
              <a:rPr lang="en-US" sz="2400" dirty="0" smtClean="0"/>
              <a:t>length)</a:t>
            </a:r>
            <a:endParaRPr lang="en-US" sz="24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Copying a java array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584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4625"/>
            <a:ext cx="716280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52800" y="5204936"/>
            <a:ext cx="533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You can use for loop to print </a:t>
            </a:r>
            <a:r>
              <a:rPr lang="en-US" b="1" dirty="0" err="1" smtClean="0"/>
              <a:t>dest</a:t>
            </a:r>
            <a:r>
              <a:rPr lang="en-US" b="1" dirty="0" smtClean="0"/>
              <a:t> array:</a:t>
            </a:r>
          </a:p>
          <a:p>
            <a:endParaRPr lang="en-US" b="1" dirty="0" smtClean="0"/>
          </a:p>
          <a:p>
            <a:r>
              <a:rPr lang="en-US" b="1" dirty="0" smtClean="0"/>
              <a:t>for(</a:t>
            </a: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/>
              <a:t>i</a:t>
            </a:r>
            <a:r>
              <a:rPr lang="en-US" b="1" dirty="0"/>
              <a:t>=0;i&lt;</a:t>
            </a:r>
            <a:r>
              <a:rPr lang="en-US" b="1" dirty="0" err="1"/>
              <a:t>copyTo.length;i</a:t>
            </a:r>
            <a:r>
              <a:rPr lang="en-US" b="1" dirty="0"/>
              <a:t>++)</a:t>
            </a:r>
          </a:p>
          <a:p>
            <a:r>
              <a:rPr lang="en-US" dirty="0"/>
              <a:t>           </a:t>
            </a:r>
            <a:r>
              <a:rPr lang="en-US" dirty="0" err="1" smtClean="0"/>
              <a:t>System.</a:t>
            </a:r>
            <a:r>
              <a:rPr lang="en-US" b="1" i="1" dirty="0" err="1" smtClean="0"/>
              <a:t>out.println</a:t>
            </a:r>
            <a:r>
              <a:rPr lang="en-US" b="1" i="1" dirty="0" smtClean="0"/>
              <a:t>(</a:t>
            </a:r>
            <a:r>
              <a:rPr lang="en-US" b="1" i="1" dirty="0" err="1" smtClean="0"/>
              <a:t>copyTo</a:t>
            </a:r>
            <a:r>
              <a:rPr lang="en-US" b="1" i="1" dirty="0" smtClean="0"/>
              <a:t>[</a:t>
            </a:r>
            <a:r>
              <a:rPr lang="en-US" b="1" i="1" dirty="0" err="1" smtClean="0"/>
              <a:t>i</a:t>
            </a:r>
            <a:r>
              <a:rPr lang="en-US" b="1" i="1" dirty="0"/>
              <a:t>]);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Pros and Cons of Arrays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481138"/>
            <a:ext cx="4038600" cy="4525962"/>
          </a:xfrm>
        </p:spPr>
        <p:txBody>
          <a:bodyPr/>
          <a:lstStyle/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b="1" dirty="0" smtClean="0">
                <a:solidFill>
                  <a:srgbClr val="92D050"/>
                </a:solidFill>
              </a:rPr>
              <a:t>Advantages</a:t>
            </a:r>
          </a:p>
          <a:p>
            <a:pPr>
              <a:defRPr/>
            </a:pPr>
            <a:r>
              <a:rPr lang="en-US" b="1" dirty="0" smtClean="0"/>
              <a:t>Code Optimization</a:t>
            </a:r>
          </a:p>
          <a:p>
            <a:pPr lvl="1">
              <a:defRPr/>
            </a:pPr>
            <a:r>
              <a:rPr lang="en-US" sz="2700" dirty="0" smtClean="0"/>
              <a:t>It </a:t>
            </a:r>
            <a:r>
              <a:rPr lang="en-US" sz="2700" dirty="0"/>
              <a:t>makes the code optimized, we can retrieve or sort the data easily.</a:t>
            </a:r>
          </a:p>
          <a:p>
            <a:pPr>
              <a:defRPr/>
            </a:pPr>
            <a:r>
              <a:rPr lang="en-US" b="1" dirty="0"/>
              <a:t>Random </a:t>
            </a:r>
            <a:r>
              <a:rPr lang="en-US" b="1" dirty="0" smtClean="0"/>
              <a:t>access</a:t>
            </a:r>
            <a:r>
              <a:rPr lang="en-US" dirty="0"/>
              <a:t> 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We </a:t>
            </a:r>
            <a:r>
              <a:rPr lang="en-US" dirty="0"/>
              <a:t>can get any data located at any index position.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648200" y="1481138"/>
            <a:ext cx="4038600" cy="4525962"/>
          </a:xfrm>
          <a:prstGeom prst="rect">
            <a:avLst/>
          </a:prstGeom>
        </p:spPr>
        <p:txBody>
          <a:bodyPr/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b="1" smtClean="0">
                <a:solidFill>
                  <a:srgbClr val="FF0000"/>
                </a:solidFill>
              </a:rPr>
              <a:t>Disadvantages</a:t>
            </a:r>
          </a:p>
          <a:p>
            <a:pPr>
              <a:defRPr/>
            </a:pPr>
            <a:r>
              <a:rPr lang="en-US" b="1" smtClean="0"/>
              <a:t>Size Limit</a:t>
            </a:r>
            <a:r>
              <a:rPr lang="en-US" smtClean="0"/>
              <a:t> </a:t>
            </a:r>
          </a:p>
          <a:p>
            <a:pPr lvl="1">
              <a:defRPr/>
            </a:pPr>
            <a:r>
              <a:rPr lang="en-US" smtClean="0"/>
              <a:t>We can store only fixed size of elements in the array. It doesn't grow its size at runtime.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Class Participation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993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2133600"/>
            <a:ext cx="4991100" cy="24384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ChangeArrowheads="1"/>
          </p:cNvSpPr>
          <p:nvPr/>
        </p:nvSpPr>
        <p:spPr bwMode="auto">
          <a:xfrm>
            <a:off x="381000" y="914400"/>
            <a:ext cx="7315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  <a:t/>
            </a:r>
            <a:b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</a:br>
            <a:endParaRPr lang="en-US" altLang="en-US" sz="1800">
              <a:solidFill>
                <a:schemeClr val="tx2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119811" name="Title 1"/>
          <p:cNvSpPr txBox="1">
            <a:spLocks/>
          </p:cNvSpPr>
          <p:nvPr/>
        </p:nvSpPr>
        <p:spPr bwMode="auto">
          <a:xfrm>
            <a:off x="685800" y="2438400"/>
            <a:ext cx="73914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latin typeface="Calibri" panose="020F0502020204030204" pitchFamily="34" charset="0"/>
              </a:rPr>
              <a:t>Questions?</a:t>
            </a:r>
          </a:p>
        </p:txBody>
      </p:sp>
      <p:sp>
        <p:nvSpPr>
          <p:cNvPr id="119812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9926638" y="8534400"/>
            <a:ext cx="312737" cy="257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42D5723A-A4E0-4EFC-87A7-F14B07EA2E9F}" type="slidenum">
              <a:rPr lang="en-US" altLang="en-US" sz="1400" smtClean="0">
                <a:solidFill>
                  <a:schemeClr val="bg1"/>
                </a:solidFill>
                <a:latin typeface="Lucida Sans Unicode" panose="020B0602030504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 smtClean="0">
              <a:solidFill>
                <a:schemeClr val="bg1"/>
              </a:solidFill>
              <a:latin typeface="Lucida Sans Unicode" panose="020B0602030504020204" pitchFamily="34" charset="0"/>
              <a:ea typeface="ヒラギノ角ゴ ProN W3"/>
              <a:cs typeface="ヒラギノ角ゴ ProN W3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6930</TotalTime>
  <Words>546</Words>
  <Application>Microsoft Office PowerPoint</Application>
  <PresentationFormat>On-screen Show (4:3)</PresentationFormat>
  <Paragraphs>112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Lucida Sans Unicode</vt:lpstr>
      <vt:lpstr>Verdana</vt:lpstr>
      <vt:lpstr>Wingdings 2</vt:lpstr>
      <vt:lpstr>Wingdings 3</vt:lpstr>
      <vt:lpstr>ヒラギノ角ゴ ProN W3</vt:lpstr>
      <vt:lpstr>Concourse</vt:lpstr>
      <vt:lpstr>Object Oriented  Programming</vt:lpstr>
      <vt:lpstr>Topics To Be Covered Today</vt:lpstr>
      <vt:lpstr>Arrays</vt:lpstr>
      <vt:lpstr>Types of Arrays</vt:lpstr>
      <vt:lpstr>Array Declaration</vt:lpstr>
      <vt:lpstr>Array Creation</vt:lpstr>
      <vt:lpstr>Array Creation</vt:lpstr>
      <vt:lpstr>Array Indexing </vt:lpstr>
      <vt:lpstr>PowerPoint Presentation</vt:lpstr>
      <vt:lpstr>Example: Array Use</vt:lpstr>
      <vt:lpstr>Array Initialization</vt:lpstr>
      <vt:lpstr>Example: Array Initialization</vt:lpstr>
      <vt:lpstr>Passing Array to method in java</vt:lpstr>
      <vt:lpstr>Multi-dimensional Array</vt:lpstr>
      <vt:lpstr>Example: Multi-dimensional Array</vt:lpstr>
      <vt:lpstr>class name of java array?</vt:lpstr>
      <vt:lpstr>Example</vt:lpstr>
      <vt:lpstr>Copying a java array</vt:lpstr>
      <vt:lpstr>Example</vt:lpstr>
      <vt:lpstr>Pros and Cons of Arrays</vt:lpstr>
      <vt:lpstr>Class Participation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WinDows7</dc:creator>
  <cp:lastModifiedBy>Admin</cp:lastModifiedBy>
  <cp:revision>94</cp:revision>
  <dcterms:created xsi:type="dcterms:W3CDTF">2010-09-29T03:31:11Z</dcterms:created>
  <dcterms:modified xsi:type="dcterms:W3CDTF">2022-09-30T13:52:21Z</dcterms:modified>
</cp:coreProperties>
</file>