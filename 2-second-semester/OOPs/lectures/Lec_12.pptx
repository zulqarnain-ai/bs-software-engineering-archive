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319" r:id="rId2"/>
    <p:sldId id="350" r:id="rId3"/>
    <p:sldId id="392" r:id="rId4"/>
    <p:sldId id="393" r:id="rId5"/>
    <p:sldId id="394" r:id="rId6"/>
    <p:sldId id="395" r:id="rId7"/>
    <p:sldId id="396" r:id="rId8"/>
    <p:sldId id="397" r:id="rId9"/>
    <p:sldId id="398" r:id="rId10"/>
    <p:sldId id="399" r:id="rId11"/>
    <p:sldId id="325" r:id="rId12"/>
    <p:sldId id="357" r:id="rId13"/>
    <p:sldId id="327" r:id="rId14"/>
    <p:sldId id="328" r:id="rId15"/>
    <p:sldId id="329" r:id="rId16"/>
    <p:sldId id="330" r:id="rId17"/>
    <p:sldId id="359" r:id="rId18"/>
    <p:sldId id="360" r:id="rId19"/>
    <p:sldId id="361" r:id="rId20"/>
    <p:sldId id="362" r:id="rId21"/>
    <p:sldId id="336" r:id="rId22"/>
    <p:sldId id="337" r:id="rId23"/>
    <p:sldId id="340" r:id="rId24"/>
    <p:sldId id="363" r:id="rId25"/>
    <p:sldId id="364" r:id="rId26"/>
    <p:sldId id="365" r:id="rId27"/>
    <p:sldId id="366" r:id="rId28"/>
    <p:sldId id="367" r:id="rId29"/>
    <p:sldId id="368" r:id="rId30"/>
    <p:sldId id="369" r:id="rId31"/>
    <p:sldId id="381" r:id="rId32"/>
    <p:sldId id="382" r:id="rId33"/>
    <p:sldId id="383" r:id="rId34"/>
    <p:sldId id="384" r:id="rId35"/>
    <p:sldId id="385" r:id="rId36"/>
    <p:sldId id="386" r:id="rId37"/>
    <p:sldId id="387" r:id="rId38"/>
    <p:sldId id="388" r:id="rId39"/>
    <p:sldId id="389" r:id="rId40"/>
    <p:sldId id="390" r:id="rId41"/>
    <p:sldId id="400" r:id="rId42"/>
    <p:sldId id="401" r:id="rId43"/>
    <p:sldId id="402" r:id="rId4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7" autoAdjust="0"/>
    <p:restoredTop sz="85326" autoAdjust="0"/>
  </p:normalViewPr>
  <p:slideViewPr>
    <p:cSldViewPr>
      <p:cViewPr varScale="1">
        <p:scale>
          <a:sx n="56" d="100"/>
          <a:sy n="56" d="100"/>
        </p:scale>
        <p:origin x="14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F92B3DA9-93F4-4B73-B155-9E00F9585D83}" type="datetimeFigureOut">
              <a:rPr lang="en-US"/>
              <a:pPr>
                <a:defRPr/>
              </a:pPr>
              <a:t>10/5/2024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04457B4-9A1E-4E9C-91AD-B7B22C7FAD9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80918D2-E97C-43D5-A937-2DC8BB77CD6E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E4990BB-A00D-45F6-A1B8-466A506E0F81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24B7DD6-3E33-48E0-8CD6-7D0CF8A0D660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73DDDF1-1944-40BE-A8CD-C068DFE2BFA7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4E56D61-34E4-41FE-81E8-C311BC570A7A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60B87E3-4072-48F9-AFFC-4708EF0482ED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44FA29D-6985-4994-94D2-B1A37242A96F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B9293B3-3294-4846-B00C-3D43D152C533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A04AAE0-A727-4F5C-9004-FAF5552F5C40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0AD25D5-322E-4243-8B32-B602B7998F73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public void setBounds(int x, int y, int width, int height)</a:t>
            </a: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23B7E71-1B33-45AD-9902-1ABB6660336C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C89D503-5033-49B2-B18E-41A0E04F8AE0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255D655-FA33-467E-B401-B06D45604E96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4457B4-9A1E-4E9C-91AD-B7B22C7FAD9A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71658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4457B4-9A1E-4E9C-91AD-B7B22C7FAD9A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85120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4457B4-9A1E-4E9C-91AD-B7B22C7FAD9A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35004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4457B4-9A1E-4E9C-91AD-B7B22C7FAD9A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94038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4457B4-9A1E-4E9C-91AD-B7B22C7FAD9A}" type="slidenum">
              <a:rPr lang="en-US" altLang="en-US" smtClean="0"/>
              <a:pPr>
                <a:defRPr/>
              </a:pPr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74509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4457B4-9A1E-4E9C-91AD-B7B22C7FAD9A}" type="slidenum">
              <a:rPr lang="en-US" altLang="en-US" smtClean="0"/>
              <a:pPr>
                <a:defRPr/>
              </a:pPr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8816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CD8751AC-E722-452F-B0E8-700DD73920E6}" type="datetimeFigureOut">
              <a:rPr lang="en-US"/>
              <a:pPr>
                <a:defRPr/>
              </a:pPr>
              <a:t>10/5/2024</a:t>
            </a:fld>
            <a:endParaRPr lang="en-US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212E908-6B87-4421-85A5-34FD6A1BF1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0036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F3D3F6-A9D1-45A8-9F8B-D82FD6114D12}" type="datetimeFigureOut">
              <a:rPr lang="en-US"/>
              <a:pPr>
                <a:defRPr/>
              </a:pPr>
              <a:t>10/5/2024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F887A5-9C89-4974-B1E6-534A24CF953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9393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D6CA620-F00A-4ECE-B1D1-89D8DB3040BC}" type="datetimeFigureOut">
              <a:rPr lang="en-US"/>
              <a:pPr>
                <a:defRPr/>
              </a:pPr>
              <a:t>10/5/2024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F92DFE-79CA-4412-A141-71A79BB97B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59822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1F9BE65-7CF7-4EFB-ACAF-416E4E6AAAF6}" type="datetimeFigureOut">
              <a:rPr lang="en-US"/>
              <a:pPr>
                <a:defRPr/>
              </a:pPr>
              <a:t>10/5/2024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F82A09-D161-45AF-8902-B8AB889292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5647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C112643-EF2A-443A-9ACD-B6084A57ECA8}" type="datetimeFigureOut">
              <a:rPr lang="en-US"/>
              <a:pPr>
                <a:defRPr/>
              </a:pPr>
              <a:t>10/5/2024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2FB578-5211-434C-986E-22B84C21334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8085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09BD56C7-B3D6-4E7E-9FC6-DEA0D8F8C467}" type="datetimeFigureOut">
              <a:rPr lang="en-US"/>
              <a:pPr>
                <a:defRPr/>
              </a:pPr>
              <a:t>10/5/2024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89ED10-D0D0-449E-BEAA-E6F835A35FD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12038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356FE3-9907-48F2-A830-937177159CF0}" type="datetimeFigureOut">
              <a:rPr lang="en-US"/>
              <a:pPr>
                <a:defRPr/>
              </a:pPr>
              <a:t>10/5/2024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4985B9-3F4C-400A-AF5C-9C1D2C1437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3178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615164D4-0EAE-489A-AF15-A8D5F1EB528F}" type="datetimeFigureOut">
              <a:rPr lang="en-US"/>
              <a:pPr>
                <a:defRPr/>
              </a:pPr>
              <a:t>10/5/2024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8EA8D7-8E55-4CA5-BFE1-C265860756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84943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Freeform 15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6C151EC7-4ACC-480B-AE2C-12807DED31C9}" type="datetimeFigureOut">
              <a:rPr lang="en-US"/>
              <a:pPr>
                <a:defRPr/>
              </a:pPr>
              <a:t>10/5/2024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257F3-647E-4151-94E5-7674032062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0398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6B0FD9-FE16-447A-A8F9-D0DDA6D5BE2E}" type="datetimeFigureOut">
              <a:rPr lang="en-US"/>
              <a:pPr>
                <a:defRPr/>
              </a:pPr>
              <a:t>10/5/2024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B86A68-10C7-4257-8C5E-6025ED49A62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1277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82E5B-CE95-4586-965B-5345D84EA1E0}" type="datetimeFigureOut">
              <a:rPr lang="en-US"/>
              <a:pPr>
                <a:defRPr/>
              </a:pPr>
              <a:t>10/5/2024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689595-5576-443A-B424-DD5F8D59AE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47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27" name="Freeform 11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BAA39FA0-6D65-407E-AE47-C7CEA54ED789}" type="datetimeFigureOut">
              <a:rPr lang="en-US"/>
              <a:pPr>
                <a:defRPr/>
              </a:pPr>
              <a:t>10/5/2024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Lucida Sans Unicode" panose="020B0602030504020204" pitchFamily="34" charset="0"/>
              </a:defRPr>
            </a:lvl1pPr>
          </a:lstStyle>
          <a:p>
            <a:pPr>
              <a:defRPr/>
            </a:pPr>
            <a:fld id="{709F8EE4-038E-46A2-B5E7-F855E330C0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5" r:id="rId1"/>
    <p:sldLayoutId id="2147484021" r:id="rId2"/>
    <p:sldLayoutId id="2147484026" r:id="rId3"/>
    <p:sldLayoutId id="2147484027" r:id="rId4"/>
    <p:sldLayoutId id="2147484028" r:id="rId5"/>
    <p:sldLayoutId id="2147484029" r:id="rId6"/>
    <p:sldLayoutId id="2147484022" r:id="rId7"/>
    <p:sldLayoutId id="2147484030" r:id="rId8"/>
    <p:sldLayoutId id="2147484031" r:id="rId9"/>
    <p:sldLayoutId id="2147484023" r:id="rId10"/>
    <p:sldLayoutId id="214748402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Times New Roman" pitchFamily="18" charset="0"/>
          <a:ea typeface="+mj-ea"/>
          <a:cs typeface="Times New Roman" pitchFamily="18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Times New Roman" pitchFamily="18" charset="0"/>
          <a:cs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Times New Roman" pitchFamily="18" charset="0"/>
          <a:cs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Times New Roman" pitchFamily="18" charset="0"/>
          <a:cs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Times New Roman" pitchFamily="18" charset="0"/>
          <a:cs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Times New Roman" pitchFamily="18" charset="0"/>
          <a:cs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Times New Roman" pitchFamily="18" charset="0"/>
          <a:cs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Times New Roman" pitchFamily="18" charset="0"/>
          <a:cs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Times New Roman" pitchFamily="18" charset="0"/>
          <a:cs typeface="Times New Roman" pitchFamily="18" charset="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 idx="4294967295"/>
          </p:nvPr>
        </p:nvSpPr>
        <p:spPr>
          <a:xfrm>
            <a:off x="0" y="2284412"/>
            <a:ext cx="8915400" cy="1830388"/>
          </a:xfrm>
        </p:spPr>
        <p:txBody>
          <a:bodyPr anchor="b"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4800" dirty="0"/>
              <a:t>Object Oriented </a:t>
            </a:r>
            <a:br>
              <a:rPr lang="en-US" sz="4800" dirty="0"/>
            </a:br>
            <a:r>
              <a:rPr lang="en-US" sz="4800" dirty="0"/>
              <a:t>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Abstract Window Toolkit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en-US" dirty="0"/>
              <a:t>AWT)</a:t>
            </a:r>
          </a:p>
          <a:p>
            <a:pPr>
              <a:defRPr/>
            </a:pPr>
            <a:r>
              <a:rPr lang="en-US" altLang="en-US" dirty="0"/>
              <a:t>Event Handling</a:t>
            </a:r>
          </a:p>
          <a:p>
            <a:pPr>
              <a:defRPr/>
            </a:pPr>
            <a:r>
              <a:rPr lang="en-US" altLang="en-US" dirty="0"/>
              <a:t>Adapter Classes</a:t>
            </a:r>
          </a:p>
          <a:p>
            <a:pPr>
              <a:defRPr/>
            </a:pPr>
            <a:endParaRPr lang="en-US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Topic to be covered today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an API to develop GUI or window-based applications in java</a:t>
            </a:r>
          </a:p>
          <a:p>
            <a:r>
              <a:rPr lang="en-US" altLang="en-US"/>
              <a:t>AWT components are platform-dependent</a:t>
            </a:r>
          </a:p>
          <a:p>
            <a:pPr lvl="1"/>
            <a:r>
              <a:rPr lang="en-US" altLang="en-US"/>
              <a:t>components are displayed according to the view of operating system. </a:t>
            </a:r>
          </a:p>
          <a:p>
            <a:r>
              <a:rPr lang="en-US" altLang="en-US"/>
              <a:t>AWT is </a:t>
            </a:r>
            <a:r>
              <a:rPr lang="en-US" altLang="en-US">
                <a:solidFill>
                  <a:srgbClr val="FF0000"/>
                </a:solidFill>
              </a:rPr>
              <a:t>heavyweight </a:t>
            </a:r>
          </a:p>
          <a:p>
            <a:pPr lvl="1"/>
            <a:r>
              <a:rPr lang="en-US" altLang="en-US"/>
              <a:t>its components are using the resources of OS.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 Abstract Window Toolkit (AWT)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AWT Hierarchy</a:t>
            </a:r>
          </a:p>
        </p:txBody>
      </p:sp>
      <p:pic>
        <p:nvPicPr>
          <p:cNvPr id="14340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417638"/>
            <a:ext cx="5029200" cy="528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1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89462"/>
          </a:xfrm>
        </p:spPr>
        <p:txBody>
          <a:bodyPr/>
          <a:lstStyle/>
          <a:p>
            <a:r>
              <a:rPr lang="en-US" altLang="en-US"/>
              <a:t>Component</a:t>
            </a:r>
          </a:p>
          <a:p>
            <a:pPr lvl="1"/>
            <a:r>
              <a:rPr lang="en-US" altLang="en-US"/>
              <a:t>an abstract super class for GUI controls and it represents an object with graphical representation.</a:t>
            </a:r>
          </a:p>
          <a:p>
            <a:r>
              <a:rPr lang="en-US" altLang="en-US"/>
              <a:t>Container</a:t>
            </a:r>
          </a:p>
          <a:p>
            <a:pPr lvl="1"/>
            <a:r>
              <a:rPr lang="en-US" altLang="en-US"/>
              <a:t>The Container is a component in AWT that can contain another components like buttons, textfields, labels etc. </a:t>
            </a:r>
          </a:p>
          <a:p>
            <a:pPr lvl="1"/>
            <a:r>
              <a:rPr lang="en-US" altLang="en-US"/>
              <a:t>The classes that extends Container class are known as container such as Frame, Dialog and Panel.</a:t>
            </a:r>
          </a:p>
          <a:p>
            <a:r>
              <a:rPr lang="en-US" altLang="en-US"/>
              <a:t>Window</a:t>
            </a:r>
          </a:p>
          <a:p>
            <a:pPr lvl="1"/>
            <a:r>
              <a:rPr lang="en-US" altLang="en-US"/>
              <a:t>The window is the container that have no borders and menu bars. 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Contd..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787900"/>
          </a:xfrm>
        </p:spPr>
        <p:txBody>
          <a:bodyPr/>
          <a:lstStyle/>
          <a:p>
            <a:r>
              <a:rPr lang="en-US" altLang="en-US"/>
              <a:t>Panel</a:t>
            </a:r>
          </a:p>
          <a:p>
            <a:pPr lvl="1"/>
            <a:r>
              <a:rPr lang="en-US" altLang="en-US"/>
              <a:t>The Panel is the container that doesn't contain menu bars. </a:t>
            </a:r>
          </a:p>
          <a:p>
            <a:pPr lvl="1"/>
            <a:r>
              <a:rPr lang="en-US" altLang="en-US"/>
              <a:t>It can have other components like button, textfield etc.</a:t>
            </a:r>
          </a:p>
          <a:p>
            <a:r>
              <a:rPr lang="en-US" altLang="en-US"/>
              <a:t>Frame</a:t>
            </a:r>
          </a:p>
          <a:p>
            <a:pPr lvl="1"/>
            <a:r>
              <a:rPr lang="en-US" altLang="en-US"/>
              <a:t>The Frame is the container that contain title bar and can have menu bars. </a:t>
            </a:r>
          </a:p>
          <a:p>
            <a:pPr lvl="1"/>
            <a:r>
              <a:rPr lang="en-US" altLang="en-US"/>
              <a:t>It can have other components like button, textfield etc.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>
              <a:defRPr/>
            </a:pPr>
            <a:r>
              <a:rPr lang="en-US" dirty="0"/>
              <a:t>Contd..</a:t>
            </a:r>
          </a:p>
        </p:txBody>
      </p:sp>
      <p:pic>
        <p:nvPicPr>
          <p:cNvPr id="17412" name="Picture 2" descr="Image result for panel vs frame jav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6550" y="4343400"/>
            <a:ext cx="4829175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6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" y="4217988"/>
            <a:ext cx="3286125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Dialog </a:t>
            </a:r>
          </a:p>
          <a:p>
            <a:pPr lvl="1"/>
            <a:r>
              <a:rPr lang="en-US" altLang="en-US"/>
              <a:t>represents a top level window with a border and a title used to take some form of input from the user</a:t>
            </a:r>
          </a:p>
          <a:p>
            <a:pPr lvl="1"/>
            <a:r>
              <a:rPr lang="en-US" altLang="en-US"/>
              <a:t>Unlike Frame, it doesn't have maximize and minimize buttons.</a:t>
            </a:r>
          </a:p>
          <a:p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Contd..</a:t>
            </a:r>
          </a:p>
        </p:txBody>
      </p:sp>
      <p:pic>
        <p:nvPicPr>
          <p:cNvPr id="18436" name="Picture 4" descr="Image result for dialog in jav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744913"/>
            <a:ext cx="4419600" cy="212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There are two ways to create a frame in AWT.</a:t>
            </a:r>
          </a:p>
          <a:p>
            <a:pPr lvl="1"/>
            <a:r>
              <a:rPr lang="en-US" altLang="en-US"/>
              <a:t>By extending Frame class (inheritance)</a:t>
            </a:r>
          </a:p>
          <a:p>
            <a:pPr lvl="1"/>
            <a:r>
              <a:rPr lang="en-US" altLang="en-US"/>
              <a:t>By creating the object of Frame class (association)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Ways to create a frame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public void add(Component c)</a:t>
            </a:r>
          </a:p>
          <a:p>
            <a:pPr lvl="1"/>
            <a:r>
              <a:rPr lang="en-US" altLang="en-US"/>
              <a:t>inserts a component on this component.</a:t>
            </a:r>
          </a:p>
          <a:p>
            <a:r>
              <a:rPr lang="en-US" altLang="en-US"/>
              <a:t>public void setSize(int width,int height)</a:t>
            </a:r>
          </a:p>
          <a:p>
            <a:pPr lvl="1"/>
            <a:r>
              <a:rPr lang="en-US" altLang="en-US"/>
              <a:t>sets the size (width and height) of the component.</a:t>
            </a:r>
          </a:p>
          <a:p>
            <a:r>
              <a:rPr lang="en-US" altLang="en-US"/>
              <a:t>public void setLayout(LayoutManager m)</a:t>
            </a:r>
          </a:p>
          <a:p>
            <a:pPr lvl="1"/>
            <a:r>
              <a:rPr lang="en-US" altLang="en-US"/>
              <a:t>defines the layout manager for the component.</a:t>
            </a:r>
          </a:p>
          <a:p>
            <a:r>
              <a:rPr lang="en-US" altLang="en-US"/>
              <a:t>public void setVisible(boolean status)</a:t>
            </a:r>
          </a:p>
          <a:p>
            <a:pPr lvl="1"/>
            <a:r>
              <a:rPr lang="en-US" altLang="en-US"/>
              <a:t>changes the visibility of the component, by default false.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Useful Methods of Component class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3886200" cy="4525962"/>
          </a:xfrm>
        </p:spPr>
        <p:txBody>
          <a:bodyPr/>
          <a:lstStyle/>
          <a:p>
            <a:r>
              <a:rPr lang="en-US" altLang="en-US"/>
              <a:t>Label</a:t>
            </a:r>
          </a:p>
          <a:p>
            <a:r>
              <a:rPr lang="en-US" altLang="en-US"/>
              <a:t>Button</a:t>
            </a:r>
          </a:p>
          <a:p>
            <a:r>
              <a:rPr lang="en-US" altLang="en-US"/>
              <a:t>TextField</a:t>
            </a:r>
          </a:p>
          <a:p>
            <a:r>
              <a:rPr lang="en-US" altLang="en-US"/>
              <a:t>TextArea</a:t>
            </a:r>
          </a:p>
          <a:p>
            <a:r>
              <a:rPr lang="en-US" altLang="en-US"/>
              <a:t>Checkbox</a:t>
            </a:r>
          </a:p>
          <a:p>
            <a:r>
              <a:rPr lang="en-US" altLang="en-US"/>
              <a:t>CheckboxGroup</a:t>
            </a:r>
          </a:p>
          <a:p>
            <a:r>
              <a:rPr lang="en-US" altLang="en-US"/>
              <a:t>Choice</a:t>
            </a:r>
          </a:p>
          <a:p>
            <a:r>
              <a:rPr lang="en-US" altLang="en-US"/>
              <a:t>List</a:t>
            </a:r>
          </a:p>
          <a:p>
            <a:r>
              <a:rPr lang="en-US" altLang="en-US"/>
              <a:t>Canvas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Common AWT UI Elements</a:t>
            </a:r>
          </a:p>
        </p:txBody>
      </p:sp>
      <p:sp>
        <p:nvSpPr>
          <p:cNvPr id="22532" name="Content Placeholder 1"/>
          <p:cNvSpPr txBox="1">
            <a:spLocks/>
          </p:cNvSpPr>
          <p:nvPr/>
        </p:nvSpPr>
        <p:spPr bwMode="auto">
          <a:xfrm>
            <a:off x="4800600" y="1417638"/>
            <a:ext cx="38862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620713" indent="-22860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858838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1430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3716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1828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286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2743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2004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/>
              <a:t>Scrollbar</a:t>
            </a:r>
          </a:p>
          <a:p>
            <a:r>
              <a:rPr lang="en-US" altLang="en-US"/>
              <a:t>MenuItem &amp; menu</a:t>
            </a:r>
          </a:p>
          <a:p>
            <a:r>
              <a:rPr lang="en-US" altLang="en-US"/>
              <a:t>Dialog</a:t>
            </a:r>
          </a:p>
          <a:p>
            <a:r>
              <a:rPr lang="en-US" altLang="en-US"/>
              <a:t>File Dialog</a:t>
            </a:r>
          </a:p>
          <a:p>
            <a:r>
              <a:rPr lang="en-US" altLang="en-US"/>
              <a:t>And so on….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sz="2800">
                <a:solidFill>
                  <a:srgbClr val="FF3300"/>
                </a:solidFill>
              </a:rPr>
              <a:t>An event</a:t>
            </a:r>
            <a:r>
              <a:rPr lang="en-GB" altLang="en-US" sz="2800"/>
              <a:t> is an action initiated by the user interacting with the program.</a:t>
            </a:r>
          </a:p>
          <a:p>
            <a:pPr lvl="1"/>
            <a:r>
              <a:rPr lang="en-US" altLang="en-US"/>
              <a:t>Changing the state of an object is known as an event</a:t>
            </a:r>
            <a:endParaRPr lang="en-GB" altLang="en-US"/>
          </a:p>
          <a:p>
            <a:pPr algn="just"/>
            <a:r>
              <a:rPr lang="en-GB" altLang="en-US" sz="2400"/>
              <a:t>Examples</a:t>
            </a:r>
          </a:p>
          <a:p>
            <a:pPr lvl="1" algn="just"/>
            <a:r>
              <a:rPr lang="en-GB" altLang="en-US" sz="2000"/>
              <a:t>Keyboard events - pressing a key, holding a key, releasing a key</a:t>
            </a:r>
          </a:p>
          <a:p>
            <a:pPr lvl="1" algn="just"/>
            <a:r>
              <a:rPr lang="en-GB" altLang="en-US" sz="2000"/>
              <a:t>Mouse events - moving the mouse, clicking the mouse</a:t>
            </a:r>
          </a:p>
          <a:p>
            <a:pPr lvl="1" algn="just"/>
            <a:r>
              <a:rPr lang="en-GB" altLang="en-US" sz="2000"/>
              <a:t>GUI events - clicking on a button, resizing a window, closing a window, opening a window</a:t>
            </a:r>
          </a:p>
          <a:p>
            <a:r>
              <a:rPr lang="en-US" altLang="en-US" sz="2400"/>
              <a:t>An </a:t>
            </a:r>
            <a:r>
              <a:rPr lang="en-US" altLang="en-US" sz="2400" i="1"/>
              <a:t>event</a:t>
            </a:r>
            <a:r>
              <a:rPr lang="en-US" altLang="en-US" sz="2400"/>
              <a:t> in Java is an object of a particular event class, that represents some user actions to which the GUI might respond</a:t>
            </a:r>
          </a:p>
          <a:p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Events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1"/>
          <p:cNvSpPr>
            <a:spLocks noGrp="1"/>
          </p:cNvSpPr>
          <p:nvPr>
            <p:ph idx="1"/>
          </p:nvPr>
        </p:nvSpPr>
        <p:spPr>
          <a:xfrm>
            <a:off x="228600" y="1219200"/>
            <a:ext cx="8458200" cy="4602163"/>
          </a:xfrm>
        </p:spPr>
        <p:txBody>
          <a:bodyPr/>
          <a:lstStyle/>
          <a:p>
            <a:r>
              <a:rPr lang="en-GB" altLang="en-US" sz="2400"/>
              <a:t>Low level events represent direct communication from the user</a:t>
            </a:r>
          </a:p>
          <a:p>
            <a:pPr lvl="1"/>
            <a:r>
              <a:rPr lang="en-US" altLang="en-US" sz="2000"/>
              <a:t>key press or a key release, a mouse click, drag, move, or release, and so on</a:t>
            </a:r>
          </a:p>
          <a:p>
            <a:r>
              <a:rPr lang="en-US" altLang="en-US" sz="2000"/>
              <a:t>java.awt.event.</a:t>
            </a:r>
            <a:r>
              <a:rPr lang="en-US" altLang="en-US" sz="2000" b="1"/>
              <a:t>ComponentEvent</a:t>
            </a:r>
          </a:p>
          <a:p>
            <a:pPr lvl="1"/>
            <a:r>
              <a:rPr lang="en-US" altLang="en-US" sz="1800"/>
              <a:t>component resized, moved, hidden etc</a:t>
            </a:r>
          </a:p>
          <a:p>
            <a:r>
              <a:rPr lang="en-US" altLang="en-US" sz="2000"/>
              <a:t>java.awt.event.</a:t>
            </a:r>
            <a:r>
              <a:rPr lang="en-US" altLang="en-US" sz="2000" b="1"/>
              <a:t>FocusEvent</a:t>
            </a:r>
            <a:r>
              <a:rPr lang="en-US" altLang="en-US" sz="2400"/>
              <a:t> </a:t>
            </a:r>
          </a:p>
          <a:p>
            <a:pPr lvl="1"/>
            <a:r>
              <a:rPr lang="en-US" altLang="en-US" sz="1800"/>
              <a:t>component got focus, lost focus</a:t>
            </a:r>
          </a:p>
          <a:p>
            <a:r>
              <a:rPr lang="en-US" altLang="en-US" sz="2000"/>
              <a:t>java.awt.event.</a:t>
            </a:r>
            <a:r>
              <a:rPr lang="en-US" altLang="en-US" sz="2000" b="1"/>
              <a:t>KeyEvent</a:t>
            </a:r>
          </a:p>
          <a:p>
            <a:pPr lvl="1"/>
            <a:r>
              <a:rPr lang="en-US" altLang="en-US" sz="1800"/>
              <a:t>key press, key release, etc</a:t>
            </a:r>
          </a:p>
          <a:p>
            <a:r>
              <a:rPr lang="en-US" altLang="en-US" sz="2000"/>
              <a:t>java.awt.event.</a:t>
            </a:r>
            <a:r>
              <a:rPr lang="en-US" altLang="en-US" sz="2000" b="1"/>
              <a:t>MouseEvent</a:t>
            </a:r>
          </a:p>
          <a:p>
            <a:pPr lvl="1"/>
            <a:r>
              <a:rPr lang="en-US" altLang="en-US" sz="1800"/>
              <a:t>mouse down, mouse move, mouse drag, mouse up, mouse cursor enters or exits a component </a:t>
            </a:r>
          </a:p>
          <a:p>
            <a:r>
              <a:rPr lang="en-US" altLang="en-US" sz="2000"/>
              <a:t>java.awt.event.</a:t>
            </a:r>
            <a:r>
              <a:rPr lang="en-US" altLang="en-US" sz="2000" b="1"/>
              <a:t>ContainerEvent</a:t>
            </a:r>
          </a:p>
          <a:p>
            <a:pPr lvl="1"/>
            <a:r>
              <a:rPr lang="en-US" altLang="en-US" sz="1800"/>
              <a:t>a component added to or removed from the container</a:t>
            </a:r>
          </a:p>
          <a:p>
            <a:r>
              <a:rPr lang="en-US" altLang="en-US" sz="2000"/>
              <a:t>java.awt.event.</a:t>
            </a:r>
            <a:r>
              <a:rPr lang="en-US" altLang="en-US" sz="2000" b="1"/>
              <a:t>WindowEvent</a:t>
            </a:r>
          </a:p>
          <a:p>
            <a:pPr lvl="1"/>
            <a:r>
              <a:rPr lang="en-US" altLang="en-US" sz="1800"/>
              <a:t>the window activated, deactivated, opened, closed, iconified, or deiconified</a:t>
            </a:r>
          </a:p>
          <a:p>
            <a:endParaRPr lang="en-US" altLang="en-US" sz="2400"/>
          </a:p>
          <a:p>
            <a:endParaRPr lang="en-US" altLang="en-US" sz="2400"/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Low Level Events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7620000" cy="4525962"/>
          </a:xfrm>
        </p:spPr>
        <p:txBody>
          <a:bodyPr/>
          <a:lstStyle/>
          <a:p>
            <a:r>
              <a:rPr lang="en-US" altLang="en-US" sz="2400"/>
              <a:t>High level events usually involve one or more low level events</a:t>
            </a:r>
            <a:endParaRPr lang="en-GB" altLang="en-US" sz="2400"/>
          </a:p>
          <a:p>
            <a:r>
              <a:rPr lang="en-US" altLang="en-US" sz="2400"/>
              <a:t>java.awt.event.</a:t>
            </a:r>
            <a:r>
              <a:rPr lang="en-US" altLang="en-US" sz="2400" b="1"/>
              <a:t>ActionEvent</a:t>
            </a:r>
          </a:p>
          <a:p>
            <a:pPr lvl="1"/>
            <a:r>
              <a:rPr lang="en-GB" altLang="en-US" sz="2000"/>
              <a:t>do a command</a:t>
            </a:r>
            <a:endParaRPr lang="en-US" altLang="en-US" sz="2000" b="1"/>
          </a:p>
          <a:p>
            <a:r>
              <a:rPr lang="en-US" altLang="en-US" sz="2400"/>
              <a:t>java.awt.event.</a:t>
            </a:r>
            <a:r>
              <a:rPr lang="en-US" altLang="en-US" sz="2400" b="1"/>
              <a:t>AdjustmentEvent</a:t>
            </a:r>
          </a:p>
          <a:p>
            <a:pPr lvl="1"/>
            <a:r>
              <a:rPr lang="en-US" altLang="en-US" sz="2000"/>
              <a:t>a </a:t>
            </a:r>
            <a:r>
              <a:rPr lang="en-GB" altLang="en-US" sz="2000"/>
              <a:t>value was adjusted</a:t>
            </a:r>
          </a:p>
          <a:p>
            <a:pPr lvl="1"/>
            <a:r>
              <a:rPr lang="en-US" altLang="en-US" sz="2000"/>
              <a:t>Such as scrollbar motions</a:t>
            </a:r>
            <a:endParaRPr lang="en-US" altLang="en-US" sz="2000" b="1"/>
          </a:p>
          <a:p>
            <a:r>
              <a:rPr lang="en-US" altLang="en-US" sz="2400"/>
              <a:t>java.awt.event.</a:t>
            </a:r>
            <a:r>
              <a:rPr lang="en-US" altLang="en-US" sz="2400" b="1"/>
              <a:t>ItemEvent</a:t>
            </a:r>
          </a:p>
          <a:p>
            <a:pPr lvl="1"/>
            <a:r>
              <a:rPr lang="en-GB" altLang="en-US" sz="2000"/>
              <a:t>item state has changed</a:t>
            </a:r>
          </a:p>
          <a:p>
            <a:pPr lvl="2"/>
            <a:r>
              <a:rPr lang="en-US" altLang="en-US" sz="1800"/>
              <a:t>occurs when the user selects a checkbox, choice, or list item</a:t>
            </a:r>
            <a:endParaRPr lang="en-US" altLang="en-US" sz="1800" b="1"/>
          </a:p>
          <a:p>
            <a:r>
              <a:rPr lang="en-US" altLang="en-US" sz="2400"/>
              <a:t>java.awt.event.</a:t>
            </a:r>
            <a:r>
              <a:rPr lang="en-US" altLang="en-US" sz="2400" b="1"/>
              <a:t>TextEvent</a:t>
            </a:r>
          </a:p>
          <a:p>
            <a:pPr lvl="1"/>
            <a:r>
              <a:rPr lang="en-US" altLang="en-US" sz="2000"/>
              <a:t>the value of the text object changed</a:t>
            </a:r>
          </a:p>
          <a:p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High Level Events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ontent Placeholder 1"/>
          <p:cNvSpPr>
            <a:spLocks noGrp="1"/>
          </p:cNvSpPr>
          <p:nvPr>
            <p:ph idx="1"/>
          </p:nvPr>
        </p:nvSpPr>
        <p:spPr>
          <a:xfrm>
            <a:off x="533400" y="1676400"/>
            <a:ext cx="8229600" cy="4525963"/>
          </a:xfrm>
        </p:spPr>
        <p:txBody>
          <a:bodyPr/>
          <a:lstStyle/>
          <a:p>
            <a:r>
              <a:rPr lang="en-GB" altLang="en-US" sz="2800"/>
              <a:t>When the user clicks the mouse on a button, then releases it, the button gets two or three separate, low level mouse events</a:t>
            </a:r>
          </a:p>
          <a:p>
            <a:pPr lvl="1"/>
            <a:r>
              <a:rPr lang="en-GB" altLang="en-US" sz="2400"/>
              <a:t>one for mouse down </a:t>
            </a:r>
          </a:p>
          <a:p>
            <a:pPr lvl="1"/>
            <a:r>
              <a:rPr lang="en-GB" altLang="en-US" sz="2400"/>
              <a:t>one for mouse up</a:t>
            </a:r>
          </a:p>
          <a:p>
            <a:pPr lvl="1"/>
            <a:r>
              <a:rPr lang="en-GB" altLang="en-US" sz="2400"/>
              <a:t>possibly one for mouse drag (if the user moves the mouse while the button is pressed) </a:t>
            </a:r>
          </a:p>
          <a:p>
            <a:r>
              <a:rPr lang="en-GB" altLang="en-US" sz="2800"/>
              <a:t>However, the button then fires one high level event only - </a:t>
            </a:r>
            <a:r>
              <a:rPr lang="en-GB" altLang="en-US" sz="2800" b="1">
                <a:latin typeface="Courier New" panose="02070309020205020404" pitchFamily="49" charset="0"/>
              </a:rPr>
              <a:t>ActionEvent</a:t>
            </a:r>
            <a:endParaRPr lang="en-US" altLang="en-US" sz="2800"/>
          </a:p>
          <a:p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sz="4400" dirty="0"/>
              <a:t>How Do the Low and High Level Events Work in Java?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7924800" cy="4525962"/>
          </a:xfrm>
        </p:spPr>
        <p:txBody>
          <a:bodyPr/>
          <a:lstStyle/>
          <a:p>
            <a:r>
              <a:rPr lang="en-US" altLang="en-US"/>
              <a:t>Events are organized into hierarchy of event classes</a:t>
            </a:r>
          </a:p>
          <a:p>
            <a:r>
              <a:rPr lang="en-US" altLang="en-US"/>
              <a:t>Event classes contain data relevant to a particular event type</a:t>
            </a:r>
          </a:p>
          <a:p>
            <a:endParaRPr lang="en-US" altLang="en-US"/>
          </a:p>
          <a:p>
            <a:r>
              <a:rPr lang="en-US" altLang="en-US" i="1"/>
              <a:t>An event is an object of one of the event classes</a:t>
            </a:r>
          </a:p>
          <a:p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Event Hierarchy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Event Hierarchy in Java</a:t>
            </a:r>
          </a:p>
        </p:txBody>
      </p:sp>
      <p:grpSp>
        <p:nvGrpSpPr>
          <p:cNvPr id="2" name="Group 73"/>
          <p:cNvGrpSpPr>
            <a:grpSpLocks/>
          </p:cNvGrpSpPr>
          <p:nvPr/>
        </p:nvGrpSpPr>
        <p:grpSpPr bwMode="auto">
          <a:xfrm>
            <a:off x="0" y="1700213"/>
            <a:ext cx="9144000" cy="4897437"/>
            <a:chOff x="0" y="1071"/>
            <a:chExt cx="5760" cy="3085"/>
          </a:xfrm>
        </p:grpSpPr>
        <p:grpSp>
          <p:nvGrpSpPr>
            <p:cNvPr id="33796" name="Group 72"/>
            <p:cNvGrpSpPr>
              <a:grpSpLocks/>
            </p:cNvGrpSpPr>
            <p:nvPr/>
          </p:nvGrpSpPr>
          <p:grpSpPr bwMode="auto">
            <a:xfrm>
              <a:off x="0" y="1480"/>
              <a:ext cx="5760" cy="2676"/>
              <a:chOff x="0" y="1480"/>
              <a:chExt cx="5760" cy="2676"/>
            </a:xfrm>
          </p:grpSpPr>
          <p:grpSp>
            <p:nvGrpSpPr>
              <p:cNvPr id="33801" name="Group 6"/>
              <p:cNvGrpSpPr>
                <a:grpSpLocks/>
              </p:cNvGrpSpPr>
              <p:nvPr/>
            </p:nvGrpSpPr>
            <p:grpSpPr bwMode="auto">
              <a:xfrm>
                <a:off x="1882" y="1480"/>
                <a:ext cx="2268" cy="318"/>
                <a:chOff x="2154" y="1661"/>
                <a:chExt cx="1679" cy="318"/>
              </a:xfrm>
            </p:grpSpPr>
            <p:sp>
              <p:nvSpPr>
                <p:cNvPr id="33850" name="Rectangle 4"/>
                <p:cNvSpPr>
                  <a:spLocks noChangeArrowheads="1"/>
                </p:cNvSpPr>
                <p:nvPr/>
              </p:nvSpPr>
              <p:spPr bwMode="auto">
                <a:xfrm>
                  <a:off x="2154" y="1661"/>
                  <a:ext cx="1679" cy="318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ts val="400"/>
                    </a:spcBef>
                    <a:buClr>
                      <a:schemeClr val="accent1"/>
                    </a:buClr>
                    <a:buSzPct val="68000"/>
                    <a:buFont typeface="Wingdings 3" panose="05040102010807070707" pitchFamily="18" charset="2"/>
                    <a:buChar char="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ts val="325"/>
                    </a:spcBef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ts val="350"/>
                    </a:spcBef>
                    <a:buClr>
                      <a:schemeClr val="accent2"/>
                    </a:buClr>
                    <a:buSzPct val="100000"/>
                    <a:buFont typeface="Wingdings 2" panose="05020102010507070707" pitchFamily="18" charset="2"/>
                    <a:buChar char=""/>
                    <a:defRPr sz="21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1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851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2200" y="1706"/>
                  <a:ext cx="1633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400"/>
                    </a:spcBef>
                    <a:buClr>
                      <a:schemeClr val="accent1"/>
                    </a:buClr>
                    <a:buSzPct val="68000"/>
                    <a:buFont typeface="Wingdings 3" panose="05040102010807070707" pitchFamily="18" charset="2"/>
                    <a:buChar char="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ts val="325"/>
                    </a:spcBef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ts val="350"/>
                    </a:spcBef>
                    <a:buClr>
                      <a:schemeClr val="accent2"/>
                    </a:buClr>
                    <a:buSzPct val="100000"/>
                    <a:buFont typeface="Wingdings 2" panose="05020102010507070707" pitchFamily="18" charset="2"/>
                    <a:buChar char=""/>
                    <a:defRPr sz="21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1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GB" altLang="en-US" sz="1600">
                      <a:solidFill>
                        <a:schemeClr val="bg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rPr>
                    <a:t>java.util.EventObject</a:t>
                  </a:r>
                </a:p>
              </p:txBody>
            </p:sp>
          </p:grpSp>
          <p:grpSp>
            <p:nvGrpSpPr>
              <p:cNvPr id="33802" name="Group 11"/>
              <p:cNvGrpSpPr>
                <a:grpSpLocks/>
              </p:cNvGrpSpPr>
              <p:nvPr/>
            </p:nvGrpSpPr>
            <p:grpSpPr bwMode="auto">
              <a:xfrm>
                <a:off x="2208" y="1899"/>
                <a:ext cx="1679" cy="318"/>
                <a:chOff x="2154" y="1661"/>
                <a:chExt cx="1679" cy="318"/>
              </a:xfrm>
            </p:grpSpPr>
            <p:sp>
              <p:nvSpPr>
                <p:cNvPr id="33848" name="Rectangle 12"/>
                <p:cNvSpPr>
                  <a:spLocks noChangeArrowheads="1"/>
                </p:cNvSpPr>
                <p:nvPr/>
              </p:nvSpPr>
              <p:spPr bwMode="auto">
                <a:xfrm>
                  <a:off x="2154" y="1661"/>
                  <a:ext cx="1679" cy="318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ts val="400"/>
                    </a:spcBef>
                    <a:buClr>
                      <a:schemeClr val="accent1"/>
                    </a:buClr>
                    <a:buSzPct val="68000"/>
                    <a:buFont typeface="Wingdings 3" panose="05040102010807070707" pitchFamily="18" charset="2"/>
                    <a:buChar char="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ts val="325"/>
                    </a:spcBef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ts val="350"/>
                    </a:spcBef>
                    <a:buClr>
                      <a:schemeClr val="accent2"/>
                    </a:buClr>
                    <a:buSzPct val="100000"/>
                    <a:buFont typeface="Wingdings 2" panose="05020102010507070707" pitchFamily="18" charset="2"/>
                    <a:buChar char=""/>
                    <a:defRPr sz="21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1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849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2200" y="1706"/>
                  <a:ext cx="1633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400"/>
                    </a:spcBef>
                    <a:buClr>
                      <a:schemeClr val="accent1"/>
                    </a:buClr>
                    <a:buSzPct val="68000"/>
                    <a:buFont typeface="Wingdings 3" panose="05040102010807070707" pitchFamily="18" charset="2"/>
                    <a:buChar char="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ts val="325"/>
                    </a:spcBef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ts val="350"/>
                    </a:spcBef>
                    <a:buClr>
                      <a:schemeClr val="accent2"/>
                    </a:buClr>
                    <a:buSzPct val="100000"/>
                    <a:buFont typeface="Wingdings 2" panose="05020102010507070707" pitchFamily="18" charset="2"/>
                    <a:buChar char=""/>
                    <a:defRPr sz="21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1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GB" altLang="en-US" sz="1600">
                      <a:solidFill>
                        <a:schemeClr val="bg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rPr>
                    <a:t>java.awt.AWTEvent</a:t>
                  </a:r>
                </a:p>
              </p:txBody>
            </p:sp>
          </p:grpSp>
          <p:grpSp>
            <p:nvGrpSpPr>
              <p:cNvPr id="33803" name="Group 14"/>
              <p:cNvGrpSpPr>
                <a:grpSpLocks/>
              </p:cNvGrpSpPr>
              <p:nvPr/>
            </p:nvGrpSpPr>
            <p:grpSpPr bwMode="auto">
              <a:xfrm>
                <a:off x="1066" y="2659"/>
                <a:ext cx="1385" cy="318"/>
                <a:chOff x="2154" y="1661"/>
                <a:chExt cx="1679" cy="318"/>
              </a:xfrm>
            </p:grpSpPr>
            <p:sp>
              <p:nvSpPr>
                <p:cNvPr id="33846" name="Rectangle 15"/>
                <p:cNvSpPr>
                  <a:spLocks noChangeArrowheads="1"/>
                </p:cNvSpPr>
                <p:nvPr/>
              </p:nvSpPr>
              <p:spPr bwMode="auto">
                <a:xfrm>
                  <a:off x="2154" y="1661"/>
                  <a:ext cx="1679" cy="318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ts val="400"/>
                    </a:spcBef>
                    <a:buClr>
                      <a:schemeClr val="accent1"/>
                    </a:buClr>
                    <a:buSzPct val="68000"/>
                    <a:buFont typeface="Wingdings 3" panose="05040102010807070707" pitchFamily="18" charset="2"/>
                    <a:buChar char="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ts val="325"/>
                    </a:spcBef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ts val="350"/>
                    </a:spcBef>
                    <a:buClr>
                      <a:schemeClr val="accent2"/>
                    </a:buClr>
                    <a:buSzPct val="100000"/>
                    <a:buFont typeface="Wingdings 2" panose="05020102010507070707" pitchFamily="18" charset="2"/>
                    <a:buChar char=""/>
                    <a:defRPr sz="21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1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847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2200" y="1706"/>
                  <a:ext cx="1633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400"/>
                    </a:spcBef>
                    <a:buClr>
                      <a:schemeClr val="accent1"/>
                    </a:buClr>
                    <a:buSzPct val="68000"/>
                    <a:buFont typeface="Wingdings 3" panose="05040102010807070707" pitchFamily="18" charset="2"/>
                    <a:buChar char="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ts val="325"/>
                    </a:spcBef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ts val="350"/>
                    </a:spcBef>
                    <a:buClr>
                      <a:schemeClr val="accent2"/>
                    </a:buClr>
                    <a:buSzPct val="100000"/>
                    <a:buFont typeface="Wingdings 2" panose="05020102010507070707" pitchFamily="18" charset="2"/>
                    <a:buChar char=""/>
                    <a:defRPr sz="21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1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GB" altLang="en-US" sz="1600">
                      <a:solidFill>
                        <a:schemeClr val="bg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rPr>
                    <a:t>AdjustmentEvent</a:t>
                  </a:r>
                </a:p>
              </p:txBody>
            </p:sp>
          </p:grpSp>
          <p:grpSp>
            <p:nvGrpSpPr>
              <p:cNvPr id="33804" name="Group 17"/>
              <p:cNvGrpSpPr>
                <a:grpSpLocks/>
              </p:cNvGrpSpPr>
              <p:nvPr/>
            </p:nvGrpSpPr>
            <p:grpSpPr bwMode="auto">
              <a:xfrm>
                <a:off x="2517" y="2659"/>
                <a:ext cx="1361" cy="318"/>
                <a:chOff x="2154" y="1661"/>
                <a:chExt cx="1679" cy="318"/>
              </a:xfrm>
            </p:grpSpPr>
            <p:sp>
              <p:nvSpPr>
                <p:cNvPr id="33844" name="Rectangle 18"/>
                <p:cNvSpPr>
                  <a:spLocks noChangeArrowheads="1"/>
                </p:cNvSpPr>
                <p:nvPr/>
              </p:nvSpPr>
              <p:spPr bwMode="auto">
                <a:xfrm>
                  <a:off x="2154" y="1661"/>
                  <a:ext cx="1679" cy="318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ts val="400"/>
                    </a:spcBef>
                    <a:buClr>
                      <a:schemeClr val="accent1"/>
                    </a:buClr>
                    <a:buSzPct val="68000"/>
                    <a:buFont typeface="Wingdings 3" panose="05040102010807070707" pitchFamily="18" charset="2"/>
                    <a:buChar char="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ts val="325"/>
                    </a:spcBef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ts val="350"/>
                    </a:spcBef>
                    <a:buClr>
                      <a:schemeClr val="accent2"/>
                    </a:buClr>
                    <a:buSzPct val="100000"/>
                    <a:buFont typeface="Wingdings 2" panose="05020102010507070707" pitchFamily="18" charset="2"/>
                    <a:buChar char=""/>
                    <a:defRPr sz="21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1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845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2201" y="1706"/>
                  <a:ext cx="163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400"/>
                    </a:spcBef>
                    <a:buClr>
                      <a:schemeClr val="accent1"/>
                    </a:buClr>
                    <a:buSzPct val="68000"/>
                    <a:buFont typeface="Wingdings 3" panose="05040102010807070707" pitchFamily="18" charset="2"/>
                    <a:buChar char="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ts val="325"/>
                    </a:spcBef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ts val="350"/>
                    </a:spcBef>
                    <a:buClr>
                      <a:schemeClr val="accent2"/>
                    </a:buClr>
                    <a:buSzPct val="100000"/>
                    <a:buFont typeface="Wingdings 2" panose="05020102010507070707" pitchFamily="18" charset="2"/>
                    <a:buChar char=""/>
                    <a:defRPr sz="21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1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GB" altLang="en-US" sz="1600">
                      <a:solidFill>
                        <a:schemeClr val="bg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rPr>
                    <a:t>ComponentEvent</a:t>
                  </a:r>
                </a:p>
              </p:txBody>
            </p:sp>
          </p:grpSp>
          <p:grpSp>
            <p:nvGrpSpPr>
              <p:cNvPr id="33805" name="Group 20"/>
              <p:cNvGrpSpPr>
                <a:grpSpLocks/>
              </p:cNvGrpSpPr>
              <p:nvPr/>
            </p:nvGrpSpPr>
            <p:grpSpPr bwMode="auto">
              <a:xfrm>
                <a:off x="0" y="2659"/>
                <a:ext cx="1008" cy="318"/>
                <a:chOff x="2154" y="1661"/>
                <a:chExt cx="1679" cy="318"/>
              </a:xfrm>
            </p:grpSpPr>
            <p:sp>
              <p:nvSpPr>
                <p:cNvPr id="33842" name="Rectangle 21"/>
                <p:cNvSpPr>
                  <a:spLocks noChangeArrowheads="1"/>
                </p:cNvSpPr>
                <p:nvPr/>
              </p:nvSpPr>
              <p:spPr bwMode="auto">
                <a:xfrm>
                  <a:off x="2154" y="1661"/>
                  <a:ext cx="1679" cy="318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ts val="400"/>
                    </a:spcBef>
                    <a:buClr>
                      <a:schemeClr val="accent1"/>
                    </a:buClr>
                    <a:buSzPct val="68000"/>
                    <a:buFont typeface="Wingdings 3" panose="05040102010807070707" pitchFamily="18" charset="2"/>
                    <a:buChar char="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ts val="325"/>
                    </a:spcBef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ts val="350"/>
                    </a:spcBef>
                    <a:buClr>
                      <a:schemeClr val="accent2"/>
                    </a:buClr>
                    <a:buSzPct val="100000"/>
                    <a:buFont typeface="Wingdings 2" panose="05020102010507070707" pitchFamily="18" charset="2"/>
                    <a:buChar char=""/>
                    <a:defRPr sz="21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1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843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2201" y="1706"/>
                  <a:ext cx="163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400"/>
                    </a:spcBef>
                    <a:buClr>
                      <a:schemeClr val="accent1"/>
                    </a:buClr>
                    <a:buSzPct val="68000"/>
                    <a:buFont typeface="Wingdings 3" panose="05040102010807070707" pitchFamily="18" charset="2"/>
                    <a:buChar char="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ts val="325"/>
                    </a:spcBef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ts val="350"/>
                    </a:spcBef>
                    <a:buClr>
                      <a:schemeClr val="accent2"/>
                    </a:buClr>
                    <a:buSzPct val="100000"/>
                    <a:buFont typeface="Wingdings 2" panose="05020102010507070707" pitchFamily="18" charset="2"/>
                    <a:buChar char=""/>
                    <a:defRPr sz="21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1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GB" altLang="en-US" sz="1600">
                      <a:solidFill>
                        <a:schemeClr val="bg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rPr>
                    <a:t>ActionEvent</a:t>
                  </a:r>
                </a:p>
              </p:txBody>
            </p:sp>
          </p:grpSp>
          <p:grpSp>
            <p:nvGrpSpPr>
              <p:cNvPr id="33806" name="Group 23"/>
              <p:cNvGrpSpPr>
                <a:grpSpLocks/>
              </p:cNvGrpSpPr>
              <p:nvPr/>
            </p:nvGrpSpPr>
            <p:grpSpPr bwMode="auto">
              <a:xfrm>
                <a:off x="4830" y="2659"/>
                <a:ext cx="930" cy="318"/>
                <a:chOff x="2154" y="1661"/>
                <a:chExt cx="1679" cy="318"/>
              </a:xfrm>
            </p:grpSpPr>
            <p:sp>
              <p:nvSpPr>
                <p:cNvPr id="33840" name="Rectangle 24"/>
                <p:cNvSpPr>
                  <a:spLocks noChangeArrowheads="1"/>
                </p:cNvSpPr>
                <p:nvPr/>
              </p:nvSpPr>
              <p:spPr bwMode="auto">
                <a:xfrm>
                  <a:off x="2154" y="1661"/>
                  <a:ext cx="1679" cy="318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ts val="400"/>
                    </a:spcBef>
                    <a:buClr>
                      <a:schemeClr val="accent1"/>
                    </a:buClr>
                    <a:buSzPct val="68000"/>
                    <a:buFont typeface="Wingdings 3" panose="05040102010807070707" pitchFamily="18" charset="2"/>
                    <a:buChar char="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ts val="325"/>
                    </a:spcBef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ts val="350"/>
                    </a:spcBef>
                    <a:buClr>
                      <a:schemeClr val="accent2"/>
                    </a:buClr>
                    <a:buSzPct val="100000"/>
                    <a:buFont typeface="Wingdings 2" panose="05020102010507070707" pitchFamily="18" charset="2"/>
                    <a:buChar char=""/>
                    <a:defRPr sz="21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1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841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199" y="1706"/>
                  <a:ext cx="163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400"/>
                    </a:spcBef>
                    <a:buClr>
                      <a:schemeClr val="accent1"/>
                    </a:buClr>
                    <a:buSzPct val="68000"/>
                    <a:buFont typeface="Wingdings 3" panose="05040102010807070707" pitchFamily="18" charset="2"/>
                    <a:buChar char="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ts val="325"/>
                    </a:spcBef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ts val="350"/>
                    </a:spcBef>
                    <a:buClr>
                      <a:schemeClr val="accent2"/>
                    </a:buClr>
                    <a:buSzPct val="100000"/>
                    <a:buFont typeface="Wingdings 2" panose="05020102010507070707" pitchFamily="18" charset="2"/>
                    <a:buChar char=""/>
                    <a:defRPr sz="21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1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GB" altLang="en-US" sz="1600">
                      <a:solidFill>
                        <a:schemeClr val="bg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rPr>
                    <a:t>TextEvent</a:t>
                  </a:r>
                </a:p>
              </p:txBody>
            </p:sp>
          </p:grpSp>
          <p:grpSp>
            <p:nvGrpSpPr>
              <p:cNvPr id="33807" name="Group 26"/>
              <p:cNvGrpSpPr>
                <a:grpSpLocks/>
              </p:cNvGrpSpPr>
              <p:nvPr/>
            </p:nvGrpSpPr>
            <p:grpSpPr bwMode="auto">
              <a:xfrm>
                <a:off x="3923" y="2659"/>
                <a:ext cx="861" cy="318"/>
                <a:chOff x="2154" y="1661"/>
                <a:chExt cx="1679" cy="318"/>
              </a:xfrm>
            </p:grpSpPr>
            <p:sp>
              <p:nvSpPr>
                <p:cNvPr id="33838" name="Rectangle 27"/>
                <p:cNvSpPr>
                  <a:spLocks noChangeArrowheads="1"/>
                </p:cNvSpPr>
                <p:nvPr/>
              </p:nvSpPr>
              <p:spPr bwMode="auto">
                <a:xfrm>
                  <a:off x="2154" y="1661"/>
                  <a:ext cx="1679" cy="318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ts val="400"/>
                    </a:spcBef>
                    <a:buClr>
                      <a:schemeClr val="accent1"/>
                    </a:buClr>
                    <a:buSzPct val="68000"/>
                    <a:buFont typeface="Wingdings 3" panose="05040102010807070707" pitchFamily="18" charset="2"/>
                    <a:buChar char="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ts val="325"/>
                    </a:spcBef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ts val="350"/>
                    </a:spcBef>
                    <a:buClr>
                      <a:schemeClr val="accent2"/>
                    </a:buClr>
                    <a:buSzPct val="100000"/>
                    <a:buFont typeface="Wingdings 2" panose="05020102010507070707" pitchFamily="18" charset="2"/>
                    <a:buChar char=""/>
                    <a:defRPr sz="21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1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839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2201" y="1706"/>
                  <a:ext cx="1632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400"/>
                    </a:spcBef>
                    <a:buClr>
                      <a:schemeClr val="accent1"/>
                    </a:buClr>
                    <a:buSzPct val="68000"/>
                    <a:buFont typeface="Wingdings 3" panose="05040102010807070707" pitchFamily="18" charset="2"/>
                    <a:buChar char="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ts val="325"/>
                    </a:spcBef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ts val="350"/>
                    </a:spcBef>
                    <a:buClr>
                      <a:schemeClr val="accent2"/>
                    </a:buClr>
                    <a:buSzPct val="100000"/>
                    <a:buFont typeface="Wingdings 2" panose="05020102010507070707" pitchFamily="18" charset="2"/>
                    <a:buChar char=""/>
                    <a:defRPr sz="21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1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GB" altLang="en-US" sz="1600">
                      <a:solidFill>
                        <a:schemeClr val="bg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rPr>
                    <a:t>ItemEvent</a:t>
                  </a:r>
                </a:p>
              </p:txBody>
            </p:sp>
          </p:grpSp>
          <p:grpSp>
            <p:nvGrpSpPr>
              <p:cNvPr id="33808" name="Group 29"/>
              <p:cNvGrpSpPr>
                <a:grpSpLocks/>
              </p:cNvGrpSpPr>
              <p:nvPr/>
            </p:nvGrpSpPr>
            <p:grpSpPr bwMode="auto">
              <a:xfrm>
                <a:off x="4332" y="3286"/>
                <a:ext cx="1236" cy="318"/>
                <a:chOff x="1876" y="1653"/>
                <a:chExt cx="1694" cy="318"/>
              </a:xfrm>
            </p:grpSpPr>
            <p:sp>
              <p:nvSpPr>
                <p:cNvPr id="33836" name="Rectangle 30"/>
                <p:cNvSpPr>
                  <a:spLocks noChangeArrowheads="1"/>
                </p:cNvSpPr>
                <p:nvPr/>
              </p:nvSpPr>
              <p:spPr bwMode="auto">
                <a:xfrm>
                  <a:off x="1876" y="1653"/>
                  <a:ext cx="1679" cy="318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ts val="400"/>
                    </a:spcBef>
                    <a:buClr>
                      <a:schemeClr val="accent1"/>
                    </a:buClr>
                    <a:buSzPct val="68000"/>
                    <a:buFont typeface="Wingdings 3" panose="05040102010807070707" pitchFamily="18" charset="2"/>
                    <a:buChar char="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ts val="325"/>
                    </a:spcBef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ts val="350"/>
                    </a:spcBef>
                    <a:buClr>
                      <a:schemeClr val="accent2"/>
                    </a:buClr>
                    <a:buSzPct val="100000"/>
                    <a:buFont typeface="Wingdings 2" panose="05020102010507070707" pitchFamily="18" charset="2"/>
                    <a:buChar char=""/>
                    <a:defRPr sz="21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1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837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1936" y="1706"/>
                  <a:ext cx="163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400"/>
                    </a:spcBef>
                    <a:buClr>
                      <a:schemeClr val="accent1"/>
                    </a:buClr>
                    <a:buSzPct val="68000"/>
                    <a:buFont typeface="Wingdings 3" panose="05040102010807070707" pitchFamily="18" charset="2"/>
                    <a:buChar char="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ts val="325"/>
                    </a:spcBef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ts val="350"/>
                    </a:spcBef>
                    <a:buClr>
                      <a:schemeClr val="accent2"/>
                    </a:buClr>
                    <a:buSzPct val="100000"/>
                    <a:buFont typeface="Wingdings 2" panose="05020102010507070707" pitchFamily="18" charset="2"/>
                    <a:buChar char=""/>
                    <a:defRPr sz="21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1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GB" altLang="en-US" sz="1600">
                      <a:solidFill>
                        <a:schemeClr val="bg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rPr>
                    <a:t>WindowEvent</a:t>
                  </a:r>
                </a:p>
              </p:txBody>
            </p:sp>
          </p:grpSp>
          <p:grpSp>
            <p:nvGrpSpPr>
              <p:cNvPr id="33809" name="Group 32"/>
              <p:cNvGrpSpPr>
                <a:grpSpLocks/>
              </p:cNvGrpSpPr>
              <p:nvPr/>
            </p:nvGrpSpPr>
            <p:grpSpPr bwMode="auto">
              <a:xfrm>
                <a:off x="3096" y="3294"/>
                <a:ext cx="1032" cy="318"/>
                <a:chOff x="3359" y="1661"/>
                <a:chExt cx="1736" cy="318"/>
              </a:xfrm>
            </p:grpSpPr>
            <p:sp>
              <p:nvSpPr>
                <p:cNvPr id="33834" name="Rectangle 33"/>
                <p:cNvSpPr>
                  <a:spLocks noChangeArrowheads="1"/>
                </p:cNvSpPr>
                <p:nvPr/>
              </p:nvSpPr>
              <p:spPr bwMode="auto">
                <a:xfrm>
                  <a:off x="3416" y="1661"/>
                  <a:ext cx="1679" cy="318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ts val="400"/>
                    </a:spcBef>
                    <a:buClr>
                      <a:schemeClr val="accent1"/>
                    </a:buClr>
                    <a:buSzPct val="68000"/>
                    <a:buFont typeface="Wingdings 3" panose="05040102010807070707" pitchFamily="18" charset="2"/>
                    <a:buChar char="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ts val="325"/>
                    </a:spcBef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ts val="350"/>
                    </a:spcBef>
                    <a:buClr>
                      <a:schemeClr val="accent2"/>
                    </a:buClr>
                    <a:buSzPct val="100000"/>
                    <a:buFont typeface="Wingdings 2" panose="05020102010507070707" pitchFamily="18" charset="2"/>
                    <a:buChar char=""/>
                    <a:defRPr sz="21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1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835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3359" y="1706"/>
                  <a:ext cx="163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400"/>
                    </a:spcBef>
                    <a:buClr>
                      <a:schemeClr val="accent1"/>
                    </a:buClr>
                    <a:buSzPct val="68000"/>
                    <a:buFont typeface="Wingdings 3" panose="05040102010807070707" pitchFamily="18" charset="2"/>
                    <a:buChar char="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ts val="325"/>
                    </a:spcBef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ts val="350"/>
                    </a:spcBef>
                    <a:buClr>
                      <a:schemeClr val="accent2"/>
                    </a:buClr>
                    <a:buSzPct val="100000"/>
                    <a:buFont typeface="Wingdings 2" panose="05020102010507070707" pitchFamily="18" charset="2"/>
                    <a:buChar char=""/>
                    <a:defRPr sz="21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1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GB" altLang="en-US" sz="1600">
                      <a:solidFill>
                        <a:schemeClr val="bg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rPr>
                    <a:t>InputEvent</a:t>
                  </a:r>
                </a:p>
              </p:txBody>
            </p:sp>
          </p:grpSp>
          <p:grpSp>
            <p:nvGrpSpPr>
              <p:cNvPr id="33810" name="Group 35"/>
              <p:cNvGrpSpPr>
                <a:grpSpLocks/>
              </p:cNvGrpSpPr>
              <p:nvPr/>
            </p:nvGrpSpPr>
            <p:grpSpPr bwMode="auto">
              <a:xfrm>
                <a:off x="1843" y="3294"/>
                <a:ext cx="1010" cy="318"/>
                <a:chOff x="3077" y="1661"/>
                <a:chExt cx="1697" cy="318"/>
              </a:xfrm>
            </p:grpSpPr>
            <p:sp>
              <p:nvSpPr>
                <p:cNvPr id="33832" name="Rectangle 36"/>
                <p:cNvSpPr>
                  <a:spLocks noChangeArrowheads="1"/>
                </p:cNvSpPr>
                <p:nvPr/>
              </p:nvSpPr>
              <p:spPr bwMode="auto">
                <a:xfrm>
                  <a:off x="3095" y="1661"/>
                  <a:ext cx="1679" cy="318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ts val="400"/>
                    </a:spcBef>
                    <a:buClr>
                      <a:schemeClr val="accent1"/>
                    </a:buClr>
                    <a:buSzPct val="68000"/>
                    <a:buFont typeface="Wingdings 3" panose="05040102010807070707" pitchFamily="18" charset="2"/>
                    <a:buChar char="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ts val="325"/>
                    </a:spcBef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ts val="350"/>
                    </a:spcBef>
                    <a:buClr>
                      <a:schemeClr val="accent2"/>
                    </a:buClr>
                    <a:buSzPct val="100000"/>
                    <a:buFont typeface="Wingdings 2" panose="05020102010507070707" pitchFamily="18" charset="2"/>
                    <a:buChar char=""/>
                    <a:defRPr sz="21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1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833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3077" y="1706"/>
                  <a:ext cx="1634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400"/>
                    </a:spcBef>
                    <a:buClr>
                      <a:schemeClr val="accent1"/>
                    </a:buClr>
                    <a:buSzPct val="68000"/>
                    <a:buFont typeface="Wingdings 3" panose="05040102010807070707" pitchFamily="18" charset="2"/>
                    <a:buChar char="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ts val="325"/>
                    </a:spcBef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ts val="350"/>
                    </a:spcBef>
                    <a:buClr>
                      <a:schemeClr val="accent2"/>
                    </a:buClr>
                    <a:buSzPct val="100000"/>
                    <a:buFont typeface="Wingdings 2" panose="05020102010507070707" pitchFamily="18" charset="2"/>
                    <a:buChar char=""/>
                    <a:defRPr sz="21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1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GB" altLang="en-US" sz="1600">
                      <a:solidFill>
                        <a:schemeClr val="bg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rPr>
                    <a:t>FocusEvent</a:t>
                  </a:r>
                </a:p>
              </p:txBody>
            </p:sp>
          </p:grpSp>
          <p:grpSp>
            <p:nvGrpSpPr>
              <p:cNvPr id="33811" name="Group 38"/>
              <p:cNvGrpSpPr>
                <a:grpSpLocks/>
              </p:cNvGrpSpPr>
              <p:nvPr/>
            </p:nvGrpSpPr>
            <p:grpSpPr bwMode="auto">
              <a:xfrm>
                <a:off x="288" y="3294"/>
                <a:ext cx="1247" cy="318"/>
                <a:chOff x="2541" y="1661"/>
                <a:chExt cx="1679" cy="318"/>
              </a:xfrm>
            </p:grpSpPr>
            <p:sp>
              <p:nvSpPr>
                <p:cNvPr id="33830" name="Rectangle 39"/>
                <p:cNvSpPr>
                  <a:spLocks noChangeArrowheads="1"/>
                </p:cNvSpPr>
                <p:nvPr/>
              </p:nvSpPr>
              <p:spPr bwMode="auto">
                <a:xfrm>
                  <a:off x="2541" y="1661"/>
                  <a:ext cx="1679" cy="318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ts val="400"/>
                    </a:spcBef>
                    <a:buClr>
                      <a:schemeClr val="accent1"/>
                    </a:buClr>
                    <a:buSzPct val="68000"/>
                    <a:buFont typeface="Wingdings 3" panose="05040102010807070707" pitchFamily="18" charset="2"/>
                    <a:buChar char="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ts val="325"/>
                    </a:spcBef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ts val="350"/>
                    </a:spcBef>
                    <a:buClr>
                      <a:schemeClr val="accent2"/>
                    </a:buClr>
                    <a:buSzPct val="100000"/>
                    <a:buFont typeface="Wingdings 2" panose="05020102010507070707" pitchFamily="18" charset="2"/>
                    <a:buChar char=""/>
                    <a:defRPr sz="21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1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831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2544" y="1706"/>
                  <a:ext cx="1633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400"/>
                    </a:spcBef>
                    <a:buClr>
                      <a:schemeClr val="accent1"/>
                    </a:buClr>
                    <a:buSzPct val="68000"/>
                    <a:buFont typeface="Wingdings 3" panose="05040102010807070707" pitchFamily="18" charset="2"/>
                    <a:buChar char="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ts val="325"/>
                    </a:spcBef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ts val="350"/>
                    </a:spcBef>
                    <a:buClr>
                      <a:schemeClr val="accent2"/>
                    </a:buClr>
                    <a:buSzPct val="100000"/>
                    <a:buFont typeface="Wingdings 2" panose="05020102010507070707" pitchFamily="18" charset="2"/>
                    <a:buChar char=""/>
                    <a:defRPr sz="21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1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GB" altLang="en-US" sz="1600">
                      <a:solidFill>
                        <a:schemeClr val="bg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rPr>
                    <a:t>ContainerEvent</a:t>
                  </a:r>
                </a:p>
              </p:txBody>
            </p:sp>
          </p:grpSp>
          <p:grpSp>
            <p:nvGrpSpPr>
              <p:cNvPr id="33812" name="Group 41"/>
              <p:cNvGrpSpPr>
                <a:grpSpLocks/>
              </p:cNvGrpSpPr>
              <p:nvPr/>
            </p:nvGrpSpPr>
            <p:grpSpPr bwMode="auto">
              <a:xfrm>
                <a:off x="3693" y="3838"/>
                <a:ext cx="1134" cy="318"/>
                <a:chOff x="3338" y="1661"/>
                <a:chExt cx="1679" cy="318"/>
              </a:xfrm>
            </p:grpSpPr>
            <p:sp>
              <p:nvSpPr>
                <p:cNvPr id="33828" name="Rectangle 42"/>
                <p:cNvSpPr>
                  <a:spLocks noChangeArrowheads="1"/>
                </p:cNvSpPr>
                <p:nvPr/>
              </p:nvSpPr>
              <p:spPr bwMode="auto">
                <a:xfrm>
                  <a:off x="3338" y="1661"/>
                  <a:ext cx="1679" cy="318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ts val="400"/>
                    </a:spcBef>
                    <a:buClr>
                      <a:schemeClr val="accent1"/>
                    </a:buClr>
                    <a:buSzPct val="68000"/>
                    <a:buFont typeface="Wingdings 3" panose="05040102010807070707" pitchFamily="18" charset="2"/>
                    <a:buChar char="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ts val="325"/>
                    </a:spcBef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ts val="350"/>
                    </a:spcBef>
                    <a:buClr>
                      <a:schemeClr val="accent2"/>
                    </a:buClr>
                    <a:buSzPct val="100000"/>
                    <a:buFont typeface="Wingdings 2" panose="05020102010507070707" pitchFamily="18" charset="2"/>
                    <a:buChar char=""/>
                    <a:defRPr sz="21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1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829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3384" y="1706"/>
                  <a:ext cx="1633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400"/>
                    </a:spcBef>
                    <a:buClr>
                      <a:schemeClr val="accent1"/>
                    </a:buClr>
                    <a:buSzPct val="68000"/>
                    <a:buFont typeface="Wingdings 3" panose="05040102010807070707" pitchFamily="18" charset="2"/>
                    <a:buChar char="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ts val="325"/>
                    </a:spcBef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ts val="350"/>
                    </a:spcBef>
                    <a:buClr>
                      <a:schemeClr val="accent2"/>
                    </a:buClr>
                    <a:buSzPct val="100000"/>
                    <a:buFont typeface="Wingdings 2" panose="05020102010507070707" pitchFamily="18" charset="2"/>
                    <a:buChar char=""/>
                    <a:defRPr sz="21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1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GB" altLang="en-US" sz="1600">
                      <a:solidFill>
                        <a:schemeClr val="bg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rPr>
                    <a:t>MouseEvent</a:t>
                  </a:r>
                </a:p>
              </p:txBody>
            </p:sp>
          </p:grpSp>
          <p:grpSp>
            <p:nvGrpSpPr>
              <p:cNvPr id="33813" name="Group 44"/>
              <p:cNvGrpSpPr>
                <a:grpSpLocks/>
              </p:cNvGrpSpPr>
              <p:nvPr/>
            </p:nvGrpSpPr>
            <p:grpSpPr bwMode="auto">
              <a:xfrm>
                <a:off x="2496" y="3838"/>
                <a:ext cx="907" cy="318"/>
                <a:chOff x="3625" y="1661"/>
                <a:chExt cx="1679" cy="318"/>
              </a:xfrm>
            </p:grpSpPr>
            <p:sp>
              <p:nvSpPr>
                <p:cNvPr id="33826" name="Rectangle 45"/>
                <p:cNvSpPr>
                  <a:spLocks noChangeArrowheads="1"/>
                </p:cNvSpPr>
                <p:nvPr/>
              </p:nvSpPr>
              <p:spPr bwMode="auto">
                <a:xfrm>
                  <a:off x="3625" y="1661"/>
                  <a:ext cx="1679" cy="318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ts val="400"/>
                    </a:spcBef>
                    <a:buClr>
                      <a:schemeClr val="accent1"/>
                    </a:buClr>
                    <a:buSzPct val="68000"/>
                    <a:buFont typeface="Wingdings 3" panose="05040102010807070707" pitchFamily="18" charset="2"/>
                    <a:buChar char="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ts val="325"/>
                    </a:spcBef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ts val="350"/>
                    </a:spcBef>
                    <a:buClr>
                      <a:schemeClr val="accent2"/>
                    </a:buClr>
                    <a:buSzPct val="100000"/>
                    <a:buFont typeface="Wingdings 2" panose="05020102010507070707" pitchFamily="18" charset="2"/>
                    <a:buChar char=""/>
                    <a:defRPr sz="21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1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827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3671" y="1706"/>
                  <a:ext cx="1633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400"/>
                    </a:spcBef>
                    <a:buClr>
                      <a:schemeClr val="accent1"/>
                    </a:buClr>
                    <a:buSzPct val="68000"/>
                    <a:buFont typeface="Wingdings 3" panose="05040102010807070707" pitchFamily="18" charset="2"/>
                    <a:buChar char=""/>
                    <a:defRPr sz="27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1pPr>
                  <a:lvl2pPr marL="742950" indent="-285750">
                    <a:spcBef>
                      <a:spcPts val="325"/>
                    </a:spcBef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ts val="350"/>
                    </a:spcBef>
                    <a:buClr>
                      <a:schemeClr val="accent2"/>
                    </a:buClr>
                    <a:buSzPct val="100000"/>
                    <a:buFont typeface="Wingdings 2" panose="05020102010507070707" pitchFamily="18" charset="2"/>
                    <a:buChar char=""/>
                    <a:defRPr sz="21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19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GB" altLang="en-US" sz="1600">
                      <a:solidFill>
                        <a:schemeClr val="bg1"/>
                      </a:solidFill>
                      <a:latin typeface="Courier New" panose="02070309020205020404" pitchFamily="49" charset="0"/>
                      <a:cs typeface="Arial" panose="020B0604020202020204" pitchFamily="34" charset="0"/>
                    </a:rPr>
                    <a:t>KeyEvent</a:t>
                  </a:r>
                </a:p>
              </p:txBody>
            </p:sp>
          </p:grpSp>
          <p:sp>
            <p:nvSpPr>
              <p:cNvPr id="33814" name="Line 50"/>
              <p:cNvSpPr>
                <a:spLocks noChangeShapeType="1"/>
              </p:cNvSpPr>
              <p:nvPr/>
            </p:nvSpPr>
            <p:spPr bwMode="auto">
              <a:xfrm flipH="1">
                <a:off x="567" y="2205"/>
                <a:ext cx="2449" cy="45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15" name="Line 51"/>
              <p:cNvSpPr>
                <a:spLocks noChangeShapeType="1"/>
              </p:cNvSpPr>
              <p:nvPr/>
            </p:nvSpPr>
            <p:spPr bwMode="auto">
              <a:xfrm flipH="1">
                <a:off x="1882" y="2205"/>
                <a:ext cx="1043" cy="45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16" name="Line 52"/>
              <p:cNvSpPr>
                <a:spLocks noChangeShapeType="1"/>
              </p:cNvSpPr>
              <p:nvPr/>
            </p:nvSpPr>
            <p:spPr bwMode="auto">
              <a:xfrm>
                <a:off x="2925" y="2205"/>
                <a:ext cx="273" cy="45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17" name="Line 53"/>
              <p:cNvSpPr>
                <a:spLocks noChangeShapeType="1"/>
              </p:cNvSpPr>
              <p:nvPr/>
            </p:nvSpPr>
            <p:spPr bwMode="auto">
              <a:xfrm>
                <a:off x="2925" y="2205"/>
                <a:ext cx="1452" cy="45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18" name="Line 54"/>
              <p:cNvSpPr>
                <a:spLocks noChangeShapeType="1"/>
              </p:cNvSpPr>
              <p:nvPr/>
            </p:nvSpPr>
            <p:spPr bwMode="auto">
              <a:xfrm>
                <a:off x="2925" y="2205"/>
                <a:ext cx="2404" cy="45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19" name="Line 56"/>
              <p:cNvSpPr>
                <a:spLocks noChangeShapeType="1"/>
              </p:cNvSpPr>
              <p:nvPr/>
            </p:nvSpPr>
            <p:spPr bwMode="auto">
              <a:xfrm>
                <a:off x="3016" y="1797"/>
                <a:ext cx="0" cy="9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20" name="Line 57"/>
              <p:cNvSpPr>
                <a:spLocks noChangeShapeType="1"/>
              </p:cNvSpPr>
              <p:nvPr/>
            </p:nvSpPr>
            <p:spPr bwMode="auto">
              <a:xfrm flipH="1">
                <a:off x="1104" y="2977"/>
                <a:ext cx="2094" cy="31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21" name="Line 58"/>
              <p:cNvSpPr>
                <a:spLocks noChangeShapeType="1"/>
              </p:cNvSpPr>
              <p:nvPr/>
            </p:nvSpPr>
            <p:spPr bwMode="auto">
              <a:xfrm flipH="1">
                <a:off x="2451" y="2977"/>
                <a:ext cx="747" cy="31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22" name="Line 59"/>
              <p:cNvSpPr>
                <a:spLocks noChangeShapeType="1"/>
              </p:cNvSpPr>
              <p:nvPr/>
            </p:nvSpPr>
            <p:spPr bwMode="auto">
              <a:xfrm>
                <a:off x="3198" y="2977"/>
                <a:ext cx="306" cy="30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23" name="Line 61"/>
              <p:cNvSpPr>
                <a:spLocks noChangeShapeType="1"/>
              </p:cNvSpPr>
              <p:nvPr/>
            </p:nvSpPr>
            <p:spPr bwMode="auto">
              <a:xfrm>
                <a:off x="3195" y="2997"/>
                <a:ext cx="1589" cy="29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24" name="Line 62"/>
              <p:cNvSpPr>
                <a:spLocks noChangeShapeType="1"/>
              </p:cNvSpPr>
              <p:nvPr/>
            </p:nvSpPr>
            <p:spPr bwMode="auto">
              <a:xfrm flipH="1">
                <a:off x="2995" y="3612"/>
                <a:ext cx="635" cy="22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25" name="Line 63"/>
              <p:cNvSpPr>
                <a:spLocks noChangeShapeType="1"/>
              </p:cNvSpPr>
              <p:nvPr/>
            </p:nvSpPr>
            <p:spPr bwMode="auto">
              <a:xfrm>
                <a:off x="3607" y="3612"/>
                <a:ext cx="544" cy="22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797" name="Group 66"/>
            <p:cNvGrpSpPr>
              <a:grpSpLocks/>
            </p:cNvGrpSpPr>
            <p:nvPr/>
          </p:nvGrpSpPr>
          <p:grpSpPr bwMode="auto">
            <a:xfrm>
              <a:off x="1882" y="1071"/>
              <a:ext cx="2268" cy="318"/>
              <a:chOff x="2154" y="1661"/>
              <a:chExt cx="1679" cy="318"/>
            </a:xfrm>
          </p:grpSpPr>
          <p:sp>
            <p:nvSpPr>
              <p:cNvPr id="33799" name="Rectangle 67"/>
              <p:cNvSpPr>
                <a:spLocks noChangeArrowheads="1"/>
              </p:cNvSpPr>
              <p:nvPr/>
            </p:nvSpPr>
            <p:spPr bwMode="auto">
              <a:xfrm>
                <a:off x="2154" y="1661"/>
                <a:ext cx="1679" cy="318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ts val="400"/>
                  </a:spcBef>
                  <a:buClr>
                    <a:schemeClr val="accent1"/>
                  </a:buClr>
                  <a:buSzPct val="68000"/>
                  <a:buFont typeface="Wingdings 3" panose="05040102010807070707" pitchFamily="18" charset="2"/>
                  <a:buChar char="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ts val="325"/>
                  </a:spcBef>
                  <a:buClr>
                    <a:schemeClr val="accent1"/>
                  </a:buClr>
                  <a:buFont typeface="Verdana" panose="020B0604030504040204" pitchFamily="34" charset="0"/>
                  <a:buChar char="◦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 panose="05020102010507070707" pitchFamily="18" charset="2"/>
                  <a:buChar char=""/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19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800" name="Text Box 68"/>
              <p:cNvSpPr txBox="1">
                <a:spLocks noChangeArrowheads="1"/>
              </p:cNvSpPr>
              <p:nvPr/>
            </p:nvSpPr>
            <p:spPr bwMode="auto">
              <a:xfrm>
                <a:off x="2200" y="1706"/>
                <a:ext cx="1633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400"/>
                  </a:spcBef>
                  <a:buClr>
                    <a:schemeClr val="accent1"/>
                  </a:buClr>
                  <a:buSzPct val="68000"/>
                  <a:buFont typeface="Wingdings 3" panose="05040102010807070707" pitchFamily="18" charset="2"/>
                  <a:buChar char="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ts val="325"/>
                  </a:spcBef>
                  <a:buClr>
                    <a:schemeClr val="accent1"/>
                  </a:buClr>
                  <a:buFont typeface="Verdana" panose="020B0604030504040204" pitchFamily="34" charset="0"/>
                  <a:buChar char="◦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 panose="05020102010507070707" pitchFamily="18" charset="2"/>
                  <a:buChar char=""/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19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1600">
                    <a:solidFill>
                      <a:schemeClr val="bg1"/>
                    </a:solidFill>
                    <a:latin typeface="Courier New" panose="02070309020205020404" pitchFamily="49" charset="0"/>
                    <a:cs typeface="Arial" panose="020B0604020202020204" pitchFamily="34" charset="0"/>
                  </a:rPr>
                  <a:t>java.lang.Object</a:t>
                </a:r>
              </a:p>
            </p:txBody>
          </p:sp>
        </p:grpSp>
        <p:sp>
          <p:nvSpPr>
            <p:cNvPr id="33798" name="Line 70"/>
            <p:cNvSpPr>
              <a:spLocks noChangeShapeType="1"/>
            </p:cNvSpPr>
            <p:nvPr/>
          </p:nvSpPr>
          <p:spPr bwMode="auto">
            <a:xfrm>
              <a:off x="3016" y="1389"/>
              <a:ext cx="0" cy="9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The mechanism that controls the event and decides what should happen if an event occurs</a:t>
            </a:r>
          </a:p>
          <a:p>
            <a:r>
              <a:rPr lang="en-US" altLang="en-US"/>
              <a:t>The mechanism executes the code, known as event handler, when an event occurs</a:t>
            </a:r>
          </a:p>
          <a:p>
            <a:endParaRPr lang="en-US" altLang="en-US"/>
          </a:p>
          <a:p>
            <a:r>
              <a:rPr lang="en-US" altLang="en-US"/>
              <a:t>Java Uses the </a:t>
            </a:r>
            <a:r>
              <a:rPr lang="en-US" altLang="en-US" i="1">
                <a:solidFill>
                  <a:srgbClr val="FF0000"/>
                </a:solidFill>
              </a:rPr>
              <a:t>Delegation Event Model </a:t>
            </a:r>
            <a:r>
              <a:rPr lang="en-US" altLang="en-US"/>
              <a:t>to handle the events. </a:t>
            </a:r>
          </a:p>
          <a:p>
            <a:pPr lvl="1"/>
            <a:r>
              <a:rPr lang="en-US" altLang="en-US"/>
              <a:t>This model defines the standard mechanism to generate and handle the events</a:t>
            </a:r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Event Handling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The Delegation Event Model has the following key participants:</a:t>
            </a:r>
          </a:p>
          <a:p>
            <a:r>
              <a:rPr lang="en-US" altLang="en-US" b="1"/>
              <a:t>Events Source</a:t>
            </a:r>
            <a:r>
              <a:rPr lang="en-US" altLang="en-US"/>
              <a:t> </a:t>
            </a:r>
          </a:p>
          <a:p>
            <a:pPr lvl="1"/>
            <a:r>
              <a:rPr lang="en-US" altLang="en-US"/>
              <a:t>an object that generates an event</a:t>
            </a:r>
          </a:p>
          <a:p>
            <a:pPr lvl="1"/>
            <a:r>
              <a:rPr lang="en-US" altLang="en-US"/>
              <a:t>responsible for providing information of the occurred event to it's handler. </a:t>
            </a:r>
          </a:p>
          <a:p>
            <a:r>
              <a:rPr lang="en-US" altLang="en-US" b="1"/>
              <a:t>Listener</a:t>
            </a:r>
          </a:p>
          <a:p>
            <a:pPr lvl="1"/>
            <a:r>
              <a:rPr lang="en-US" altLang="en-US"/>
              <a:t>an object that listens to the event</a:t>
            </a:r>
          </a:p>
          <a:p>
            <a:pPr lvl="1"/>
            <a:r>
              <a:rPr lang="en-US" altLang="en-US" sz="2400"/>
              <a:t>A listener gets notified when an event occurs</a:t>
            </a:r>
            <a:r>
              <a:rPr lang="en-US" altLang="en-US"/>
              <a:t>. Once the event is received by listener, it process the event an then returns.</a:t>
            </a:r>
          </a:p>
          <a:p>
            <a:pPr lvl="1"/>
            <a:r>
              <a:rPr lang="en-US" altLang="en-US"/>
              <a:t>also known as event handler</a:t>
            </a:r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Delegation Event Model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In this model, </a:t>
            </a:r>
            <a:r>
              <a:rPr lang="en-US" altLang="en-US" b="1" i="1"/>
              <a:t>Listener needs to be registered with the source object</a:t>
            </a:r>
            <a:r>
              <a:rPr lang="en-US" altLang="en-US"/>
              <a:t> so that the listener can receive the event notification. </a:t>
            </a:r>
          </a:p>
          <a:p>
            <a:endParaRPr lang="en-US" altLang="en-US"/>
          </a:p>
          <a:p>
            <a:r>
              <a:rPr lang="en-US" altLang="en-US"/>
              <a:t>This is an efficient way of handling the event because the event notifications are sent only to those listener that want to receive them.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Contd..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The User clicks the button and the event is generated.</a:t>
            </a:r>
          </a:p>
          <a:p>
            <a:r>
              <a:rPr lang="en-US" altLang="en-US"/>
              <a:t>Now the object of concerned event class is created automatically and information about the source and the event get populated with in same object.</a:t>
            </a:r>
          </a:p>
          <a:p>
            <a:r>
              <a:rPr lang="en-US" altLang="en-US"/>
              <a:t>Event object is forwarded to the method of registered listener class.</a:t>
            </a:r>
          </a:p>
          <a:p>
            <a:r>
              <a:rPr lang="en-US" altLang="en-US"/>
              <a:t>The method is now get executed and returns.</a:t>
            </a:r>
          </a:p>
          <a:p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Steps involved in event handling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Event Handling Components</a:t>
            </a:r>
          </a:p>
        </p:txBody>
      </p:sp>
      <p:pic>
        <p:nvPicPr>
          <p:cNvPr id="4608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28800"/>
            <a:ext cx="73914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Example</a:t>
            </a:r>
          </a:p>
        </p:txBody>
      </p:sp>
      <p:pic>
        <p:nvPicPr>
          <p:cNvPr id="4710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752600"/>
            <a:ext cx="75438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Events and Listeners</a:t>
            </a:r>
          </a:p>
        </p:txBody>
      </p:sp>
      <p:sp>
        <p:nvSpPr>
          <p:cNvPr id="48131" name="Rectangle 3"/>
          <p:cNvSpPr txBox="1">
            <a:spLocks noChangeArrowheads="1"/>
          </p:cNvSpPr>
          <p:nvPr/>
        </p:nvSpPr>
        <p:spPr bwMode="auto">
          <a:xfrm>
            <a:off x="152400" y="1600200"/>
            <a:ext cx="33813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r>
              <a:rPr lang="en-US" altLang="en-US" sz="2400"/>
              <a:t>Each event is represented by an object that gives information about the event and identifies the event source. </a:t>
            </a:r>
          </a:p>
          <a:p>
            <a:r>
              <a:rPr lang="en-US" altLang="en-US" sz="2400"/>
              <a:t>Each event source can have multiple listeners registered on it. A single listener can register with multiple event sources. </a:t>
            </a:r>
          </a:p>
        </p:txBody>
      </p:sp>
      <p:grpSp>
        <p:nvGrpSpPr>
          <p:cNvPr id="48132" name="Group 4"/>
          <p:cNvGrpSpPr>
            <a:grpSpLocks/>
          </p:cNvGrpSpPr>
          <p:nvPr/>
        </p:nvGrpSpPr>
        <p:grpSpPr bwMode="auto">
          <a:xfrm>
            <a:off x="3392488" y="2032000"/>
            <a:ext cx="5364162" cy="3167063"/>
            <a:chOff x="3779838" y="2420938"/>
            <a:chExt cx="5364162" cy="3167062"/>
          </a:xfrm>
        </p:grpSpPr>
        <p:grpSp>
          <p:nvGrpSpPr>
            <p:cNvPr id="48133" name="Group 4"/>
            <p:cNvGrpSpPr>
              <a:grpSpLocks/>
            </p:cNvGrpSpPr>
            <p:nvPr/>
          </p:nvGrpSpPr>
          <p:grpSpPr bwMode="auto">
            <a:xfrm>
              <a:off x="3779838" y="4005263"/>
              <a:ext cx="2305050" cy="719137"/>
              <a:chOff x="793" y="3657"/>
              <a:chExt cx="1452" cy="453"/>
            </a:xfrm>
          </p:grpSpPr>
          <p:sp>
            <p:nvSpPr>
              <p:cNvPr id="48146" name="Oval 5"/>
              <p:cNvSpPr>
                <a:spLocks noChangeArrowheads="1"/>
              </p:cNvSpPr>
              <p:nvPr/>
            </p:nvSpPr>
            <p:spPr bwMode="auto">
              <a:xfrm>
                <a:off x="793" y="3657"/>
                <a:ext cx="1452" cy="453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ts val="400"/>
                  </a:spcBef>
                  <a:buClr>
                    <a:schemeClr val="accent1"/>
                  </a:buClr>
                  <a:buSzPct val="68000"/>
                  <a:buFont typeface="Wingdings 3" panose="05040102010807070707" pitchFamily="18" charset="2"/>
                  <a:buChar char="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ts val="325"/>
                  </a:spcBef>
                  <a:buClr>
                    <a:schemeClr val="accent1"/>
                  </a:buClr>
                  <a:buFont typeface="Verdana" panose="020B0604030504040204" pitchFamily="34" charset="0"/>
                  <a:buChar char="◦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 panose="05020102010507070707" pitchFamily="18" charset="2"/>
                  <a:buChar char=""/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19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147" name="Text Box 6"/>
              <p:cNvSpPr txBox="1">
                <a:spLocks noChangeArrowheads="1"/>
              </p:cNvSpPr>
              <p:nvPr/>
            </p:nvSpPr>
            <p:spPr bwMode="auto">
              <a:xfrm>
                <a:off x="793" y="3702"/>
                <a:ext cx="140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400"/>
                  </a:spcBef>
                  <a:buClr>
                    <a:schemeClr val="accent1"/>
                  </a:buClr>
                  <a:buSzPct val="68000"/>
                  <a:buFont typeface="Wingdings 3" panose="05040102010807070707" pitchFamily="18" charset="2"/>
                  <a:buChar char="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ts val="325"/>
                  </a:spcBef>
                  <a:buClr>
                    <a:schemeClr val="accent1"/>
                  </a:buClr>
                  <a:buFont typeface="Verdana" panose="020B0604030504040204" pitchFamily="34" charset="0"/>
                  <a:buChar char="◦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 panose="05020102010507070707" pitchFamily="18" charset="2"/>
                  <a:buChar char=""/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19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event source</a:t>
                </a:r>
                <a:endParaRPr lang="en-US" altLang="en-US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8134" name="Group 7"/>
            <p:cNvGrpSpPr>
              <a:grpSpLocks/>
            </p:cNvGrpSpPr>
            <p:nvPr/>
          </p:nvGrpSpPr>
          <p:grpSpPr bwMode="auto">
            <a:xfrm>
              <a:off x="6767513" y="2420938"/>
              <a:ext cx="2376487" cy="503237"/>
              <a:chOff x="3379" y="3612"/>
              <a:chExt cx="1497" cy="317"/>
            </a:xfrm>
          </p:grpSpPr>
          <p:sp>
            <p:nvSpPr>
              <p:cNvPr id="48144" name="Rectangle 8"/>
              <p:cNvSpPr>
                <a:spLocks noChangeArrowheads="1"/>
              </p:cNvSpPr>
              <p:nvPr/>
            </p:nvSpPr>
            <p:spPr bwMode="auto">
              <a:xfrm>
                <a:off x="3379" y="3612"/>
                <a:ext cx="1497" cy="317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ts val="400"/>
                  </a:spcBef>
                  <a:buClr>
                    <a:schemeClr val="accent1"/>
                  </a:buClr>
                  <a:buSzPct val="68000"/>
                  <a:buFont typeface="Wingdings 3" panose="05040102010807070707" pitchFamily="18" charset="2"/>
                  <a:buChar char="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ts val="325"/>
                  </a:spcBef>
                  <a:buClr>
                    <a:schemeClr val="accent1"/>
                  </a:buClr>
                  <a:buFont typeface="Verdana" panose="020B0604030504040204" pitchFamily="34" charset="0"/>
                  <a:buChar char="◦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 panose="05020102010507070707" pitchFamily="18" charset="2"/>
                  <a:buChar char=""/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19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145" name="Text Box 9"/>
              <p:cNvSpPr txBox="1">
                <a:spLocks noChangeArrowheads="1"/>
              </p:cNvSpPr>
              <p:nvPr/>
            </p:nvSpPr>
            <p:spPr bwMode="auto">
              <a:xfrm>
                <a:off x="3470" y="3612"/>
                <a:ext cx="140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400"/>
                  </a:spcBef>
                  <a:buClr>
                    <a:schemeClr val="accent1"/>
                  </a:buClr>
                  <a:buSzPct val="68000"/>
                  <a:buFont typeface="Wingdings 3" panose="05040102010807070707" pitchFamily="18" charset="2"/>
                  <a:buChar char="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ts val="325"/>
                  </a:spcBef>
                  <a:buClr>
                    <a:schemeClr val="accent1"/>
                  </a:buClr>
                  <a:buFont typeface="Verdana" panose="020B0604030504040204" pitchFamily="34" charset="0"/>
                  <a:buChar char="◦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 panose="05020102010507070707" pitchFamily="18" charset="2"/>
                  <a:buChar char=""/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19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event listener 1</a:t>
                </a:r>
                <a:endParaRPr lang="en-US" altLang="en-US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8135" name="Group 10"/>
            <p:cNvGrpSpPr>
              <a:grpSpLocks/>
            </p:cNvGrpSpPr>
            <p:nvPr/>
          </p:nvGrpSpPr>
          <p:grpSpPr bwMode="auto">
            <a:xfrm>
              <a:off x="6767513" y="3860800"/>
              <a:ext cx="2376487" cy="503238"/>
              <a:chOff x="3379" y="3612"/>
              <a:chExt cx="1497" cy="317"/>
            </a:xfrm>
          </p:grpSpPr>
          <p:sp>
            <p:nvSpPr>
              <p:cNvPr id="48142" name="Rectangle 11"/>
              <p:cNvSpPr>
                <a:spLocks noChangeArrowheads="1"/>
              </p:cNvSpPr>
              <p:nvPr/>
            </p:nvSpPr>
            <p:spPr bwMode="auto">
              <a:xfrm>
                <a:off x="3379" y="3612"/>
                <a:ext cx="1497" cy="317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ts val="400"/>
                  </a:spcBef>
                  <a:buClr>
                    <a:schemeClr val="accent1"/>
                  </a:buClr>
                  <a:buSzPct val="68000"/>
                  <a:buFont typeface="Wingdings 3" panose="05040102010807070707" pitchFamily="18" charset="2"/>
                  <a:buChar char="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ts val="325"/>
                  </a:spcBef>
                  <a:buClr>
                    <a:schemeClr val="accent1"/>
                  </a:buClr>
                  <a:buFont typeface="Verdana" panose="020B0604030504040204" pitchFamily="34" charset="0"/>
                  <a:buChar char="◦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 panose="05020102010507070707" pitchFamily="18" charset="2"/>
                  <a:buChar char=""/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19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143" name="Text Box 12"/>
              <p:cNvSpPr txBox="1">
                <a:spLocks noChangeArrowheads="1"/>
              </p:cNvSpPr>
              <p:nvPr/>
            </p:nvSpPr>
            <p:spPr bwMode="auto">
              <a:xfrm>
                <a:off x="3470" y="3612"/>
                <a:ext cx="140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400"/>
                  </a:spcBef>
                  <a:buClr>
                    <a:schemeClr val="accent1"/>
                  </a:buClr>
                  <a:buSzPct val="68000"/>
                  <a:buFont typeface="Wingdings 3" panose="05040102010807070707" pitchFamily="18" charset="2"/>
                  <a:buChar char="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ts val="325"/>
                  </a:spcBef>
                  <a:buClr>
                    <a:schemeClr val="accent1"/>
                  </a:buClr>
                  <a:buFont typeface="Verdana" panose="020B0604030504040204" pitchFamily="34" charset="0"/>
                  <a:buChar char="◦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 panose="05020102010507070707" pitchFamily="18" charset="2"/>
                  <a:buChar char=""/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19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event listener 2</a:t>
                </a:r>
                <a:endParaRPr lang="en-US" altLang="en-US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8136" name="Group 13"/>
            <p:cNvGrpSpPr>
              <a:grpSpLocks/>
            </p:cNvGrpSpPr>
            <p:nvPr/>
          </p:nvGrpSpPr>
          <p:grpSpPr bwMode="auto">
            <a:xfrm>
              <a:off x="6767513" y="5084763"/>
              <a:ext cx="2376487" cy="503237"/>
              <a:chOff x="3379" y="3612"/>
              <a:chExt cx="1497" cy="317"/>
            </a:xfrm>
          </p:grpSpPr>
          <p:sp>
            <p:nvSpPr>
              <p:cNvPr id="48140" name="Rectangle 14"/>
              <p:cNvSpPr>
                <a:spLocks noChangeArrowheads="1"/>
              </p:cNvSpPr>
              <p:nvPr/>
            </p:nvSpPr>
            <p:spPr bwMode="auto">
              <a:xfrm>
                <a:off x="3379" y="3612"/>
                <a:ext cx="1497" cy="317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ts val="400"/>
                  </a:spcBef>
                  <a:buClr>
                    <a:schemeClr val="accent1"/>
                  </a:buClr>
                  <a:buSzPct val="68000"/>
                  <a:buFont typeface="Wingdings 3" panose="05040102010807070707" pitchFamily="18" charset="2"/>
                  <a:buChar char="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ts val="325"/>
                  </a:spcBef>
                  <a:buClr>
                    <a:schemeClr val="accent1"/>
                  </a:buClr>
                  <a:buFont typeface="Verdana" panose="020B0604030504040204" pitchFamily="34" charset="0"/>
                  <a:buChar char="◦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 panose="05020102010507070707" pitchFamily="18" charset="2"/>
                  <a:buChar char=""/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19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141" name="Text Box 15"/>
              <p:cNvSpPr txBox="1">
                <a:spLocks noChangeArrowheads="1"/>
              </p:cNvSpPr>
              <p:nvPr/>
            </p:nvSpPr>
            <p:spPr bwMode="auto">
              <a:xfrm>
                <a:off x="3470" y="3612"/>
                <a:ext cx="140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400"/>
                  </a:spcBef>
                  <a:buClr>
                    <a:schemeClr val="accent1"/>
                  </a:buClr>
                  <a:buSzPct val="68000"/>
                  <a:buFont typeface="Wingdings 3" panose="05040102010807070707" pitchFamily="18" charset="2"/>
                  <a:buChar char=""/>
                  <a:defRPr sz="27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 marL="742950" indent="-285750">
                  <a:spcBef>
                    <a:spcPts val="325"/>
                  </a:spcBef>
                  <a:buClr>
                    <a:schemeClr val="accent1"/>
                  </a:buClr>
                  <a:buFont typeface="Verdana" panose="020B0604030504040204" pitchFamily="34" charset="0"/>
                  <a:buChar char="◦"/>
                  <a:defRPr sz="23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 panose="05020102010507070707" pitchFamily="18" charset="2"/>
                  <a:buChar char=""/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19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GB" altLang="en-US" sz="1800">
                    <a:latin typeface="Arial" panose="020B0604020202020204" pitchFamily="34" charset="0"/>
                    <a:cs typeface="Arial" panose="020B0604020202020204" pitchFamily="34" charset="0"/>
                  </a:rPr>
                  <a:t>event listener 3</a:t>
                </a:r>
                <a:endParaRPr lang="en-US" altLang="en-US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8137" name="Line 17"/>
            <p:cNvSpPr>
              <a:spLocks noChangeShapeType="1"/>
            </p:cNvSpPr>
            <p:nvPr/>
          </p:nvSpPr>
          <p:spPr bwMode="auto">
            <a:xfrm flipV="1">
              <a:off x="5580063" y="2924175"/>
              <a:ext cx="1368425" cy="10810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38" name="Line 18"/>
            <p:cNvSpPr>
              <a:spLocks noChangeShapeType="1"/>
            </p:cNvSpPr>
            <p:nvPr/>
          </p:nvSpPr>
          <p:spPr bwMode="auto">
            <a:xfrm flipV="1">
              <a:off x="6151563" y="4222750"/>
              <a:ext cx="576262" cy="730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139" name="Line 19"/>
            <p:cNvSpPr>
              <a:spLocks noChangeShapeType="1"/>
            </p:cNvSpPr>
            <p:nvPr/>
          </p:nvSpPr>
          <p:spPr bwMode="auto">
            <a:xfrm>
              <a:off x="5724525" y="4724400"/>
              <a:ext cx="1008063" cy="649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Event Classes</a:t>
            </a:r>
          </a:p>
          <a:p>
            <a:pPr lvl="1"/>
            <a:r>
              <a:rPr lang="en-US" altLang="en-US" sz="2400"/>
              <a:t>represent the events</a:t>
            </a:r>
          </a:p>
          <a:p>
            <a:pPr lvl="1"/>
            <a:r>
              <a:rPr lang="en-US" altLang="en-US"/>
              <a:t>all event state objects are derived from “EventObject” class (root class for events)</a:t>
            </a:r>
          </a:p>
          <a:p>
            <a:r>
              <a:rPr lang="en-US" altLang="en-US"/>
              <a:t>Event Listeners </a:t>
            </a:r>
          </a:p>
          <a:p>
            <a:pPr lvl="1"/>
            <a:r>
              <a:rPr lang="en-US" altLang="en-US"/>
              <a:t>represent the interfaces responsible to handle events</a:t>
            </a:r>
          </a:p>
          <a:p>
            <a:pPr lvl="1"/>
            <a:r>
              <a:rPr lang="en-US" altLang="en-US"/>
              <a:t>Every method of an event listener interface has a single argument as an object which is subclass of EventObject class</a:t>
            </a:r>
          </a:p>
          <a:p>
            <a:pPr lvl="1"/>
            <a:r>
              <a:rPr lang="en-US" altLang="en-US"/>
              <a:t>For example:</a:t>
            </a:r>
          </a:p>
          <a:p>
            <a:pPr lvl="2"/>
            <a:r>
              <a:rPr lang="en-US" altLang="en-US"/>
              <a:t>MouseEvent listener’s methods will accept instance of MouseEvent, where MouseEvent derives from EventObject.</a:t>
            </a:r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Event Classes and Event Listeners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19100" y="25831"/>
            <a:ext cx="8229600" cy="487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Important Event Classes and Interface</a:t>
            </a:r>
          </a:p>
        </p:txBody>
      </p:sp>
      <p:pic>
        <p:nvPicPr>
          <p:cNvPr id="5120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12763"/>
            <a:ext cx="8229600" cy="634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5" name="TextBox 4"/>
          <p:cNvSpPr txBox="1">
            <a:spLocks noChangeArrowheads="1"/>
          </p:cNvSpPr>
          <p:nvPr/>
        </p:nvSpPr>
        <p:spPr bwMode="auto">
          <a:xfrm>
            <a:off x="6400800" y="1828800"/>
            <a:ext cx="2057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>
                <a:latin typeface="Aparajita" pitchFamily="34" charset="0"/>
                <a:cs typeface="Aparajita" pitchFamily="34" charset="0"/>
              </a:rPr>
              <a:t>MouseMotionListener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Implement appropriate interface in the class.</a:t>
            </a:r>
          </a:p>
          <a:p>
            <a:r>
              <a:rPr lang="en-US" altLang="en-US"/>
              <a:t>Register the component with the listener.</a:t>
            </a:r>
          </a:p>
          <a:p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Steps to handle events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We can put the event handling code into one of the following places:</a:t>
            </a:r>
          </a:p>
          <a:p>
            <a:pPr lvl="1"/>
            <a:r>
              <a:rPr lang="en-US" altLang="en-US"/>
              <a:t>Within class</a:t>
            </a:r>
          </a:p>
          <a:p>
            <a:pPr lvl="1"/>
            <a:r>
              <a:rPr lang="en-US" altLang="en-US"/>
              <a:t>Other class</a:t>
            </a:r>
          </a:p>
          <a:p>
            <a:pPr lvl="1"/>
            <a:r>
              <a:rPr lang="en-US" altLang="en-US"/>
              <a:t>Anonymous class</a:t>
            </a:r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 Event Handling Code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Content Placeholder 1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016500"/>
          </a:xfrm>
        </p:spPr>
        <p:txBody>
          <a:bodyPr/>
          <a:lstStyle/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1. Within class</a:t>
            </a:r>
          </a:p>
        </p:txBody>
      </p:sp>
      <p:pic>
        <p:nvPicPr>
          <p:cNvPr id="5632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036638"/>
            <a:ext cx="6629400" cy="582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7620"/>
            <a:ext cx="3124200" cy="2374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>
              <a:defRPr/>
            </a:pPr>
            <a:r>
              <a:rPr lang="en-US" dirty="0"/>
              <a:t>2.Outer class</a:t>
            </a:r>
          </a:p>
        </p:txBody>
      </p:sp>
      <p:pic>
        <p:nvPicPr>
          <p:cNvPr id="5939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43000"/>
            <a:ext cx="5029200" cy="486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7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163" y="4495800"/>
            <a:ext cx="4343400" cy="216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940300"/>
          </a:xfrm>
        </p:spPr>
        <p:txBody>
          <a:bodyPr/>
          <a:lstStyle/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pPr>
              <a:defRPr/>
            </a:pPr>
            <a:r>
              <a:rPr lang="en-US" dirty="0"/>
              <a:t>3.Anonymous class</a:t>
            </a:r>
          </a:p>
        </p:txBody>
      </p:sp>
      <p:pic>
        <p:nvPicPr>
          <p:cNvPr id="60420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122363"/>
            <a:ext cx="6553200" cy="567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How many components event handling has?</a:t>
            </a:r>
          </a:p>
          <a:p>
            <a:endParaRPr lang="en-US" altLang="en-US"/>
          </a:p>
          <a:p>
            <a:r>
              <a:rPr lang="en-US" altLang="en-US"/>
              <a:t>Event handling has three main components,</a:t>
            </a:r>
          </a:p>
          <a:p>
            <a:pPr lvl="1"/>
            <a:r>
              <a:rPr lang="en-US" altLang="en-US" b="1"/>
              <a:t>Events :</a:t>
            </a:r>
            <a:r>
              <a:rPr lang="en-US" altLang="en-US"/>
              <a:t> An event is a change in state of an object.</a:t>
            </a:r>
          </a:p>
          <a:p>
            <a:pPr lvl="1"/>
            <a:r>
              <a:rPr lang="en-US" altLang="en-US" b="1"/>
              <a:t>Events Source :</a:t>
            </a:r>
            <a:r>
              <a:rPr lang="en-US" altLang="en-US"/>
              <a:t> Event source is an object that generates an event.</a:t>
            </a:r>
          </a:p>
          <a:p>
            <a:pPr lvl="1"/>
            <a:r>
              <a:rPr lang="en-US" altLang="en-US" b="1"/>
              <a:t>Listeners :</a:t>
            </a:r>
            <a:r>
              <a:rPr lang="en-US" altLang="en-US"/>
              <a:t> A listener is an object that listens to the event. A listener gets notified when an event occurs.</a:t>
            </a:r>
          </a:p>
          <a:p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Question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How Events are handled ?</a:t>
            </a:r>
          </a:p>
          <a:p>
            <a:endParaRPr lang="en-US" altLang="en-US"/>
          </a:p>
          <a:p>
            <a:r>
              <a:rPr lang="en-US" altLang="en-US"/>
              <a:t>A source generates an Event and send it to one or more listeners registered with the source. Once event is received by the listener, they process the event and then return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Question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The Java MouseListener is notified whenever you change the state of mouse. </a:t>
            </a:r>
          </a:p>
          <a:p>
            <a:r>
              <a:rPr lang="en-US" altLang="en-US"/>
              <a:t>It is notified against MouseEvent. </a:t>
            </a:r>
          </a:p>
          <a:p>
            <a:r>
              <a:rPr lang="en-US" altLang="en-US"/>
              <a:t>The MouseListener interface is found in java.awt.event package. </a:t>
            </a:r>
          </a:p>
          <a:p>
            <a:r>
              <a:rPr lang="en-US" altLang="en-US"/>
              <a:t>It has five methods.</a:t>
            </a:r>
          </a:p>
          <a:p>
            <a:pPr lvl="1"/>
            <a:r>
              <a:rPr lang="en-US" altLang="en-US" b="1"/>
              <a:t>public</a:t>
            </a:r>
            <a:r>
              <a:rPr lang="en-US" altLang="en-US"/>
              <a:t> </a:t>
            </a:r>
            <a:r>
              <a:rPr lang="en-US" altLang="en-US" b="1"/>
              <a:t>abstract</a:t>
            </a:r>
            <a:r>
              <a:rPr lang="en-US" altLang="en-US"/>
              <a:t> </a:t>
            </a:r>
            <a:r>
              <a:rPr lang="en-US" altLang="en-US" b="1"/>
              <a:t>void</a:t>
            </a:r>
            <a:r>
              <a:rPr lang="en-US" altLang="en-US"/>
              <a:t> mouseClicked(MouseEvent e);  </a:t>
            </a:r>
          </a:p>
          <a:p>
            <a:pPr lvl="1"/>
            <a:r>
              <a:rPr lang="en-US" altLang="en-US" b="1"/>
              <a:t>public</a:t>
            </a:r>
            <a:r>
              <a:rPr lang="en-US" altLang="en-US"/>
              <a:t> </a:t>
            </a:r>
            <a:r>
              <a:rPr lang="en-US" altLang="en-US" b="1"/>
              <a:t>abstract</a:t>
            </a:r>
            <a:r>
              <a:rPr lang="en-US" altLang="en-US"/>
              <a:t> </a:t>
            </a:r>
            <a:r>
              <a:rPr lang="en-US" altLang="en-US" b="1"/>
              <a:t>void</a:t>
            </a:r>
            <a:r>
              <a:rPr lang="en-US" altLang="en-US"/>
              <a:t> mouseEntered(MouseEvent e);  </a:t>
            </a:r>
          </a:p>
          <a:p>
            <a:pPr lvl="1"/>
            <a:r>
              <a:rPr lang="en-US" altLang="en-US" b="1"/>
              <a:t>public</a:t>
            </a:r>
            <a:r>
              <a:rPr lang="en-US" altLang="en-US"/>
              <a:t> </a:t>
            </a:r>
            <a:r>
              <a:rPr lang="en-US" altLang="en-US" b="1"/>
              <a:t>abstract</a:t>
            </a:r>
            <a:r>
              <a:rPr lang="en-US" altLang="en-US"/>
              <a:t> </a:t>
            </a:r>
            <a:r>
              <a:rPr lang="en-US" altLang="en-US" b="1"/>
              <a:t>void</a:t>
            </a:r>
            <a:r>
              <a:rPr lang="en-US" altLang="en-US"/>
              <a:t> mouseExited(MouseEvent e);  </a:t>
            </a:r>
          </a:p>
          <a:p>
            <a:pPr lvl="1"/>
            <a:r>
              <a:rPr lang="en-US" altLang="en-US" b="1"/>
              <a:t>public</a:t>
            </a:r>
            <a:r>
              <a:rPr lang="en-US" altLang="en-US"/>
              <a:t> </a:t>
            </a:r>
            <a:r>
              <a:rPr lang="en-US" altLang="en-US" b="1"/>
              <a:t>abstract</a:t>
            </a:r>
            <a:r>
              <a:rPr lang="en-US" altLang="en-US"/>
              <a:t> </a:t>
            </a:r>
            <a:r>
              <a:rPr lang="en-US" altLang="en-US" b="1"/>
              <a:t>void</a:t>
            </a:r>
            <a:r>
              <a:rPr lang="en-US" altLang="en-US"/>
              <a:t> mousePressed(MouseEvent e);  </a:t>
            </a:r>
          </a:p>
          <a:p>
            <a:pPr lvl="1"/>
            <a:r>
              <a:rPr lang="en-US" altLang="en-US" b="1"/>
              <a:t>public</a:t>
            </a:r>
            <a:r>
              <a:rPr lang="en-US" altLang="en-US"/>
              <a:t> </a:t>
            </a:r>
            <a:r>
              <a:rPr lang="en-US" altLang="en-US" b="1"/>
              <a:t>abstract</a:t>
            </a:r>
            <a:r>
              <a:rPr lang="en-US" altLang="en-US"/>
              <a:t> </a:t>
            </a:r>
            <a:r>
              <a:rPr lang="en-US" altLang="en-US" b="1"/>
              <a:t>void</a:t>
            </a:r>
            <a:r>
              <a:rPr lang="en-US" altLang="en-US"/>
              <a:t> mouseReleased(MouseEvent e);</a:t>
            </a:r>
          </a:p>
          <a:p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MouseListener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Interface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Example</a:t>
            </a:r>
          </a:p>
        </p:txBody>
      </p:sp>
      <p:pic>
        <p:nvPicPr>
          <p:cNvPr id="6656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" y="1419225"/>
            <a:ext cx="5610225" cy="421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175" y="2514600"/>
            <a:ext cx="3905250" cy="349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The Java KeyListener is notified whenever you change the state of key. </a:t>
            </a:r>
          </a:p>
          <a:p>
            <a:r>
              <a:rPr lang="en-US" altLang="en-US"/>
              <a:t>It is notified against KeyEvent. </a:t>
            </a:r>
          </a:p>
          <a:p>
            <a:r>
              <a:rPr lang="en-US" altLang="en-US"/>
              <a:t>The KeyListener interface is found in java.awt.event package. </a:t>
            </a:r>
          </a:p>
          <a:p>
            <a:r>
              <a:rPr lang="en-US" altLang="en-US"/>
              <a:t>It has three methods.</a:t>
            </a:r>
          </a:p>
          <a:p>
            <a:pPr lvl="1"/>
            <a:r>
              <a:rPr lang="en-US" altLang="en-US" b="1"/>
              <a:t>public</a:t>
            </a:r>
            <a:r>
              <a:rPr lang="en-US" altLang="en-US"/>
              <a:t> </a:t>
            </a:r>
            <a:r>
              <a:rPr lang="en-US" altLang="en-US" b="1"/>
              <a:t>abstract</a:t>
            </a:r>
            <a:r>
              <a:rPr lang="en-US" altLang="en-US"/>
              <a:t> </a:t>
            </a:r>
            <a:r>
              <a:rPr lang="en-US" altLang="en-US" b="1"/>
              <a:t>void</a:t>
            </a:r>
            <a:r>
              <a:rPr lang="en-US" altLang="en-US"/>
              <a:t> keyPressed(KeyEvent e);  </a:t>
            </a:r>
          </a:p>
          <a:p>
            <a:pPr lvl="1"/>
            <a:r>
              <a:rPr lang="en-US" altLang="en-US" b="1"/>
              <a:t>public</a:t>
            </a:r>
            <a:r>
              <a:rPr lang="en-US" altLang="en-US"/>
              <a:t> </a:t>
            </a:r>
            <a:r>
              <a:rPr lang="en-US" altLang="en-US" b="1"/>
              <a:t>abstract</a:t>
            </a:r>
            <a:r>
              <a:rPr lang="en-US" altLang="en-US"/>
              <a:t> </a:t>
            </a:r>
            <a:r>
              <a:rPr lang="en-US" altLang="en-US" b="1"/>
              <a:t>void</a:t>
            </a:r>
            <a:r>
              <a:rPr lang="en-US" altLang="en-US"/>
              <a:t> keyReleased(KeyEvent e);  </a:t>
            </a:r>
          </a:p>
          <a:p>
            <a:pPr lvl="1"/>
            <a:r>
              <a:rPr lang="en-US" altLang="en-US" b="1"/>
              <a:t>public</a:t>
            </a:r>
            <a:r>
              <a:rPr lang="en-US" altLang="en-US"/>
              <a:t> </a:t>
            </a:r>
            <a:r>
              <a:rPr lang="en-US" altLang="en-US" b="1"/>
              <a:t>abstract</a:t>
            </a:r>
            <a:r>
              <a:rPr lang="en-US" altLang="en-US"/>
              <a:t> </a:t>
            </a:r>
            <a:r>
              <a:rPr lang="en-US" altLang="en-US" b="1"/>
              <a:t>void</a:t>
            </a:r>
            <a:r>
              <a:rPr lang="en-US" altLang="en-US"/>
              <a:t> keyTyped(KeyEvent e);</a:t>
            </a:r>
          </a:p>
          <a:p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KeyListener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Interface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Content Placeholder 1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016500"/>
          </a:xfrm>
        </p:spPr>
        <p:txBody>
          <a:bodyPr/>
          <a:lstStyle/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Example</a:t>
            </a:r>
          </a:p>
        </p:txBody>
      </p:sp>
      <p:pic>
        <p:nvPicPr>
          <p:cNvPr id="68612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1295400"/>
            <a:ext cx="5091112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3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1275" y="1974850"/>
            <a:ext cx="3748088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4613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Example2: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Count Words &amp; Characters</a:t>
            </a:r>
          </a:p>
        </p:txBody>
      </p:sp>
      <p:pic>
        <p:nvPicPr>
          <p:cNvPr id="6963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90600"/>
            <a:ext cx="67818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  <a:p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Output</a:t>
            </a:r>
          </a:p>
        </p:txBody>
      </p:sp>
      <p:pic>
        <p:nvPicPr>
          <p:cNvPr id="7066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417638"/>
            <a:ext cx="5486400" cy="458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Java adapter classes </a:t>
            </a:r>
            <a:r>
              <a:rPr lang="en-US" altLang="en-US" i="1"/>
              <a:t>provide the default implementation of listener interfaces</a:t>
            </a:r>
            <a:r>
              <a:rPr lang="en-US" altLang="en-US"/>
              <a:t>. </a:t>
            </a:r>
          </a:p>
          <a:p>
            <a:r>
              <a:rPr lang="en-US" altLang="en-US"/>
              <a:t>If you inherit the adapter class, you will not be forced to provide the implementation of all the methods of listener interfaces. So it </a:t>
            </a:r>
            <a:r>
              <a:rPr lang="en-US" altLang="en-US" i="1"/>
              <a:t>saves code</a:t>
            </a:r>
            <a:r>
              <a:rPr lang="en-US" altLang="en-US"/>
              <a:t>.</a:t>
            </a:r>
          </a:p>
          <a:p>
            <a:r>
              <a:rPr lang="en-US" altLang="en-US"/>
              <a:t>The adapter classes are found in following packages:</a:t>
            </a:r>
          </a:p>
          <a:p>
            <a:pPr lvl="1"/>
            <a:r>
              <a:rPr lang="en-US" altLang="en-US" b="1"/>
              <a:t>java.awt.event</a:t>
            </a:r>
            <a:endParaRPr lang="en-US" altLang="en-US"/>
          </a:p>
          <a:p>
            <a:pPr lvl="1"/>
            <a:r>
              <a:rPr lang="en-US" altLang="en-US" b="1"/>
              <a:t>java.awt.dnd</a:t>
            </a:r>
            <a:r>
              <a:rPr lang="en-US" altLang="en-US"/>
              <a:t>  </a:t>
            </a:r>
          </a:p>
          <a:p>
            <a:pPr lvl="1"/>
            <a:r>
              <a:rPr lang="en-US" altLang="en-US" b="1"/>
              <a:t>javax.swing.event</a:t>
            </a:r>
            <a:endParaRPr lang="en-US" alt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Adapter Classes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Content Placeholder 1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254500"/>
          </a:xfrm>
        </p:spPr>
        <p:txBody>
          <a:bodyPr/>
          <a:lstStyle/>
          <a:p>
            <a:pPr>
              <a:defRPr/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java.awt.event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Adapter classes</a:t>
            </a: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Adapter classes with their corresponding listener</a:t>
            </a:r>
          </a:p>
        </p:txBody>
      </p:sp>
      <p:pic>
        <p:nvPicPr>
          <p:cNvPr id="72708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332038"/>
            <a:ext cx="2727325" cy="451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09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8925" y="2316163"/>
            <a:ext cx="2682875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Contd..</a:t>
            </a:r>
          </a:p>
        </p:txBody>
      </p:sp>
      <p:sp>
        <p:nvSpPr>
          <p:cNvPr id="73731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java.awt.dnd Adapter classes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javax.swing.event Adapter classes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73732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363" y="2144713"/>
            <a:ext cx="25146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3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963" y="2144713"/>
            <a:ext cx="2408237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4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363" y="4406900"/>
            <a:ext cx="2636837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5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4406900"/>
            <a:ext cx="2286000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295400"/>
            <a:ext cx="6096000" cy="5424488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Example (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Count Words &amp; Characters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Content Placeholder 1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05000" y="1417638"/>
            <a:ext cx="5334000" cy="48768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Output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13786</TotalTime>
  <Words>1625</Words>
  <Application>Microsoft Office PowerPoint</Application>
  <PresentationFormat>On-screen Show (4:3)</PresentationFormat>
  <Paragraphs>281</Paragraphs>
  <Slides>43</Slides>
  <Notes>19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Aparajita</vt:lpstr>
      <vt:lpstr>Arial</vt:lpstr>
      <vt:lpstr>Calibri</vt:lpstr>
      <vt:lpstr>Courier New</vt:lpstr>
      <vt:lpstr>Lucida Sans Unicode</vt:lpstr>
      <vt:lpstr>Times New Roman</vt:lpstr>
      <vt:lpstr>Verdana</vt:lpstr>
      <vt:lpstr>Wingdings 2</vt:lpstr>
      <vt:lpstr>Wingdings 3</vt:lpstr>
      <vt:lpstr>Concourse</vt:lpstr>
      <vt:lpstr>Object Oriented  Programming</vt:lpstr>
      <vt:lpstr>Topic to be covered today </vt:lpstr>
      <vt:lpstr>Java Abstract Window Toolkit (AWT)</vt:lpstr>
      <vt:lpstr>AWT Hierarchy</vt:lpstr>
      <vt:lpstr>Contd..</vt:lpstr>
      <vt:lpstr>Contd..</vt:lpstr>
      <vt:lpstr>Contd..</vt:lpstr>
      <vt:lpstr>Ways to create a frame</vt:lpstr>
      <vt:lpstr>Useful Methods of Component class</vt:lpstr>
      <vt:lpstr>Common AWT UI Elements</vt:lpstr>
      <vt:lpstr>Events</vt:lpstr>
      <vt:lpstr>Low Level Events</vt:lpstr>
      <vt:lpstr>High Level Events</vt:lpstr>
      <vt:lpstr>How Do the Low and High Level Events Work in Java?</vt:lpstr>
      <vt:lpstr>Event Hierarchy</vt:lpstr>
      <vt:lpstr>Event Hierarchy in Java</vt:lpstr>
      <vt:lpstr>Event Handling</vt:lpstr>
      <vt:lpstr>Delegation Event Model</vt:lpstr>
      <vt:lpstr>Contd..</vt:lpstr>
      <vt:lpstr>Steps involved in event handling</vt:lpstr>
      <vt:lpstr>Event Handling Components</vt:lpstr>
      <vt:lpstr>Example</vt:lpstr>
      <vt:lpstr>Events and Listeners</vt:lpstr>
      <vt:lpstr>Event Classes and Event Listeners</vt:lpstr>
      <vt:lpstr>Important Event Classes and Interface</vt:lpstr>
      <vt:lpstr>Steps to handle events</vt:lpstr>
      <vt:lpstr>Java Event Handling Code</vt:lpstr>
      <vt:lpstr>1. Within class</vt:lpstr>
      <vt:lpstr>2.Outer class</vt:lpstr>
      <vt:lpstr>3.Anonymous class</vt:lpstr>
      <vt:lpstr>Question</vt:lpstr>
      <vt:lpstr>Question</vt:lpstr>
      <vt:lpstr>Java MouseListener Interface</vt:lpstr>
      <vt:lpstr>Example</vt:lpstr>
      <vt:lpstr>Java KeyListener Interface</vt:lpstr>
      <vt:lpstr>Example</vt:lpstr>
      <vt:lpstr>Example2: Count Words &amp; Characters</vt:lpstr>
      <vt:lpstr>Output</vt:lpstr>
      <vt:lpstr>Adapter Classes</vt:lpstr>
      <vt:lpstr>The Adapter classes with their corresponding listener</vt:lpstr>
      <vt:lpstr>Contd..</vt:lpstr>
      <vt:lpstr>Example (Count Words &amp; Characters)</vt:lpstr>
      <vt:lpstr>Output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WinDows7</dc:creator>
  <cp:lastModifiedBy>zulqarnain hassan</cp:lastModifiedBy>
  <cp:revision>90</cp:revision>
  <dcterms:created xsi:type="dcterms:W3CDTF">2010-12-26T04:57:58Z</dcterms:created>
  <dcterms:modified xsi:type="dcterms:W3CDTF">2024-10-05T17:38:21Z</dcterms:modified>
</cp:coreProperties>
</file>