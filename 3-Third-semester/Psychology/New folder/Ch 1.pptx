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7.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23.jpg" ContentType="image/jpeg"/>
  <Override PartName="/ppt/notesSlides/notesSlide5.xml" ContentType="application/vnd.openxmlformats-officedocument.presentationml.notesSlide+xml"/>
  <Override PartName="/ppt/media/image24.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8" r:id="rId3"/>
    <p:sldId id="259" r:id="rId4"/>
    <p:sldId id="260" r:id="rId5"/>
    <p:sldId id="261" r:id="rId6"/>
    <p:sldId id="262" r:id="rId7"/>
    <p:sldId id="292" r:id="rId8"/>
    <p:sldId id="278" r:id="rId9"/>
    <p:sldId id="263" r:id="rId10"/>
    <p:sldId id="279" r:id="rId11"/>
    <p:sldId id="280" r:id="rId12"/>
    <p:sldId id="281" r:id="rId13"/>
    <p:sldId id="282" r:id="rId14"/>
    <p:sldId id="264" r:id="rId15"/>
    <p:sldId id="283" r:id="rId16"/>
    <p:sldId id="284" r:id="rId17"/>
    <p:sldId id="285" r:id="rId18"/>
    <p:sldId id="286" r:id="rId19"/>
    <p:sldId id="265" r:id="rId20"/>
    <p:sldId id="287" r:id="rId21"/>
    <p:sldId id="288" r:id="rId22"/>
    <p:sldId id="289" r:id="rId23"/>
    <p:sldId id="290" r:id="rId24"/>
    <p:sldId id="266" r:id="rId25"/>
    <p:sldId id="267" r:id="rId26"/>
    <p:sldId id="268" r:id="rId27"/>
    <p:sldId id="269" r:id="rId28"/>
    <p:sldId id="270" r:id="rId29"/>
    <p:sldId id="271" r:id="rId30"/>
    <p:sldId id="293" r:id="rId31"/>
    <p:sldId id="272" r:id="rId32"/>
    <p:sldId id="273" r:id="rId33"/>
    <p:sldId id="294" r:id="rId34"/>
    <p:sldId id="274" r:id="rId35"/>
    <p:sldId id="295" r:id="rId36"/>
    <p:sldId id="275" r:id="rId37"/>
    <p:sldId id="276" r:id="rId38"/>
    <p:sldId id="277" r:id="rId39"/>
    <p:sldId id="296" r:id="rId4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100" autoAdjust="0"/>
  </p:normalViewPr>
  <p:slideViewPr>
    <p:cSldViewPr>
      <p:cViewPr varScale="1">
        <p:scale>
          <a:sx n="38" d="100"/>
          <a:sy n="38" d="100"/>
        </p:scale>
        <p:origin x="30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639F48AC-6E38-4456-8090-AAB1F39BA02E}" type="datetimeFigureOut">
              <a:rPr lang="en-US" smtClean="0"/>
              <a:t>2/19/2023</a:t>
            </a:fld>
            <a:endParaRPr lang="en-US" dirty="0"/>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9AD6EF95-6829-42AA-8EAF-BB3C46E72B18}" type="slidenum">
              <a:rPr lang="en-US" smtClean="0"/>
              <a:t>‹#›</a:t>
            </a:fld>
            <a:endParaRPr lang="en-US" dirty="0"/>
          </a:p>
        </p:txBody>
      </p:sp>
    </p:spTree>
    <p:extLst>
      <p:ext uri="{BB962C8B-B14F-4D97-AF65-F5344CB8AC3E}">
        <p14:creationId xmlns:p14="http://schemas.microsoft.com/office/powerpoint/2010/main" val="3069071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psychology - specializes in the evaluation, diagnosis, and  treatment of mental and behavioral disorders</a:t>
            </a:r>
          </a:p>
          <a:p>
            <a:endParaRPr lang="en-US" dirty="0"/>
          </a:p>
          <a:p>
            <a:r>
              <a:rPr lang="en-US" dirty="0"/>
              <a:t>Counseling psychology - overlaps with clinical, but works with less severe problems</a:t>
            </a:r>
          </a:p>
          <a:p>
            <a:endParaRPr lang="en-US" dirty="0"/>
          </a:p>
          <a:p>
            <a:r>
              <a:rPr lang="en-US" dirty="0"/>
              <a:t>Educational and school psychologists - study the process of education; focus on the intellectual, social, and emotional development of children in the school environment</a:t>
            </a:r>
          </a:p>
          <a:p>
            <a:endParaRPr lang="en-US" dirty="0"/>
          </a:p>
          <a:p>
            <a:r>
              <a:rPr lang="en-US" dirty="0"/>
              <a:t>Neuropsychology - unites the areas of biopsychology and clinical</a:t>
            </a:r>
          </a:p>
          <a:p>
            <a:r>
              <a:rPr lang="en-US" dirty="0"/>
              <a:t>psychology, focusing on the relationship between biological factors and</a:t>
            </a:r>
          </a:p>
          <a:p>
            <a:r>
              <a:rPr lang="en-US" dirty="0"/>
              <a:t>psychological disorders.</a:t>
            </a:r>
          </a:p>
        </p:txBody>
      </p:sp>
      <p:sp>
        <p:nvSpPr>
          <p:cNvPr id="4" name="Slide Number Placeholder 3"/>
          <p:cNvSpPr>
            <a:spLocks noGrp="1"/>
          </p:cNvSpPr>
          <p:nvPr>
            <p:ph type="sldNum" sz="quarter" idx="5"/>
          </p:nvPr>
        </p:nvSpPr>
        <p:spPr/>
        <p:txBody>
          <a:bodyPr/>
          <a:lstStyle/>
          <a:p>
            <a:fld id="{9AD6EF95-6829-42AA-8EAF-BB3C46E72B18}" type="slidenum">
              <a:rPr lang="en-US" smtClean="0"/>
              <a:t>9</a:t>
            </a:fld>
            <a:endParaRPr lang="en-US" dirty="0"/>
          </a:p>
        </p:txBody>
      </p:sp>
    </p:spTree>
    <p:extLst>
      <p:ext uri="{BB962C8B-B14F-4D97-AF65-F5344CB8AC3E}">
        <p14:creationId xmlns:p14="http://schemas.microsoft.com/office/powerpoint/2010/main" val="2970054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Forensic psychology focuses on legal issues, such as determining the</a:t>
            </a:r>
          </a:p>
          <a:p>
            <a:r>
              <a:rPr lang="en-US" dirty="0"/>
              <a:t>accuracy of witness memories.</a:t>
            </a:r>
          </a:p>
          <a:p>
            <a:endParaRPr lang="en-US" dirty="0"/>
          </a:p>
          <a:p>
            <a:r>
              <a:rPr lang="en-US" dirty="0"/>
              <a:t>Sport psychology applies psychology to athletic activity and exercise.</a:t>
            </a:r>
          </a:p>
          <a:p>
            <a:endParaRPr lang="en-US" dirty="0"/>
          </a:p>
          <a:p>
            <a:r>
              <a:rPr lang="en-US" dirty="0"/>
              <a:t>Industrial/organizational psychology is concerned with the psychology of</a:t>
            </a:r>
          </a:p>
          <a:p>
            <a:r>
              <a:rPr lang="en-US" dirty="0"/>
              <a:t>the workplace.</a:t>
            </a:r>
          </a:p>
        </p:txBody>
      </p:sp>
      <p:sp>
        <p:nvSpPr>
          <p:cNvPr id="4" name="Slide Number Placeholder 3"/>
          <p:cNvSpPr>
            <a:spLocks noGrp="1"/>
          </p:cNvSpPr>
          <p:nvPr>
            <p:ph type="sldNum" sz="quarter" idx="5"/>
          </p:nvPr>
        </p:nvSpPr>
        <p:spPr/>
        <p:txBody>
          <a:bodyPr/>
          <a:lstStyle/>
          <a:p>
            <a:fld id="{9AD6EF95-6829-42AA-8EAF-BB3C46E72B18}" type="slidenum">
              <a:rPr lang="en-US" smtClean="0"/>
              <a:t>14</a:t>
            </a:fld>
            <a:endParaRPr lang="en-US" dirty="0"/>
          </a:p>
        </p:txBody>
      </p:sp>
    </p:spTree>
    <p:extLst>
      <p:ext uri="{BB962C8B-B14F-4D97-AF65-F5344CB8AC3E}">
        <p14:creationId xmlns:p14="http://schemas.microsoft.com/office/powerpoint/2010/main" val="2968775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psychology is the study of how people’s thoughts, feelings, and</a:t>
            </a:r>
          </a:p>
          <a:p>
            <a:r>
              <a:rPr lang="en-US" dirty="0"/>
              <a:t>actions are affected by others.</a:t>
            </a:r>
          </a:p>
          <a:p>
            <a:endParaRPr lang="en-US" dirty="0"/>
          </a:p>
          <a:p>
            <a:r>
              <a:rPr lang="en-US" dirty="0"/>
              <a:t>Environmental psychology considers the relationship between people and</a:t>
            </a:r>
          </a:p>
          <a:p>
            <a:r>
              <a:rPr lang="en-US" dirty="0"/>
              <a:t>their physical environment.</a:t>
            </a:r>
          </a:p>
          <a:p>
            <a:endParaRPr lang="en-US" dirty="0"/>
          </a:p>
          <a:p>
            <a:r>
              <a:rPr lang="en-US" dirty="0"/>
              <a:t>Experimental psychology studies the processes of sensing, perceiving,</a:t>
            </a:r>
          </a:p>
          <a:p>
            <a:r>
              <a:rPr lang="en-US" dirty="0"/>
              <a:t>learning, and thinking about the world.</a:t>
            </a:r>
          </a:p>
          <a:p>
            <a:endParaRPr lang="en-US" dirty="0"/>
          </a:p>
          <a:p>
            <a:r>
              <a:rPr lang="en-US" dirty="0"/>
              <a:t>Health psychology explores the relationship between psychological</a:t>
            </a:r>
          </a:p>
          <a:p>
            <a:r>
              <a:rPr lang="en-US" dirty="0"/>
              <a:t>factors and physical ailments or disease.</a:t>
            </a:r>
          </a:p>
        </p:txBody>
      </p:sp>
      <p:sp>
        <p:nvSpPr>
          <p:cNvPr id="4" name="Slide Number Placeholder 3"/>
          <p:cNvSpPr>
            <a:spLocks noGrp="1"/>
          </p:cNvSpPr>
          <p:nvPr>
            <p:ph type="sldNum" sz="quarter" idx="5"/>
          </p:nvPr>
        </p:nvSpPr>
        <p:spPr/>
        <p:txBody>
          <a:bodyPr/>
          <a:lstStyle/>
          <a:p>
            <a:fld id="{9AD6EF95-6829-42AA-8EAF-BB3C46E72B18}" type="slidenum">
              <a:rPr lang="en-US" smtClean="0"/>
              <a:t>19</a:t>
            </a:fld>
            <a:endParaRPr lang="en-US" dirty="0"/>
          </a:p>
        </p:txBody>
      </p:sp>
    </p:spTree>
    <p:extLst>
      <p:ext uri="{BB962C8B-B14F-4D97-AF65-F5344CB8AC3E}">
        <p14:creationId xmlns:p14="http://schemas.microsoft.com/office/powerpoint/2010/main" val="2824695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Focused on uncovering the fundamental mental components of perception, consciousness, thinking, emotions, and other mental states and activities.</a:t>
            </a:r>
          </a:p>
          <a:p>
            <a:endParaRPr lang="en-US" dirty="0"/>
          </a:p>
        </p:txBody>
      </p:sp>
      <p:sp>
        <p:nvSpPr>
          <p:cNvPr id="4" name="Slide Number Placeholder 3"/>
          <p:cNvSpPr>
            <a:spLocks noGrp="1"/>
          </p:cNvSpPr>
          <p:nvPr>
            <p:ph type="sldNum" sz="quarter" idx="5"/>
          </p:nvPr>
        </p:nvSpPr>
        <p:spPr/>
        <p:txBody>
          <a:bodyPr/>
          <a:lstStyle/>
          <a:p>
            <a:fld id="{9AD6EF95-6829-42AA-8EAF-BB3C46E72B18}" type="slidenum">
              <a:rPr lang="en-US" smtClean="0"/>
              <a:t>26</a:t>
            </a:fld>
            <a:endParaRPr lang="en-US" dirty="0"/>
          </a:p>
        </p:txBody>
      </p:sp>
    </p:spTree>
    <p:extLst>
      <p:ext uri="{BB962C8B-B14F-4D97-AF65-F5344CB8AC3E}">
        <p14:creationId xmlns:p14="http://schemas.microsoft.com/office/powerpoint/2010/main" val="3704171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view dreams and slips of the tongue</a:t>
            </a:r>
          </a:p>
          <a:p>
            <a:r>
              <a:rPr lang="en-US" dirty="0"/>
              <a:t>as indications of what a person is truly feeling within a seething cauldron of unconscious</a:t>
            </a:r>
          </a:p>
          <a:p>
            <a:r>
              <a:rPr lang="en-US" dirty="0"/>
              <a:t>psychic activity.</a:t>
            </a:r>
          </a:p>
          <a:p>
            <a:r>
              <a:rPr lang="en-US" dirty="0"/>
              <a:t>The origins of the psychodynamic view are linked to one person: Sigmund</a:t>
            </a:r>
          </a:p>
          <a:p>
            <a:r>
              <a:rPr lang="en-US" dirty="0"/>
              <a:t>Freud.</a:t>
            </a:r>
          </a:p>
        </p:txBody>
      </p:sp>
      <p:sp>
        <p:nvSpPr>
          <p:cNvPr id="4" name="Slide Number Placeholder 3"/>
          <p:cNvSpPr>
            <a:spLocks noGrp="1"/>
          </p:cNvSpPr>
          <p:nvPr>
            <p:ph type="sldNum" sz="quarter" idx="5"/>
          </p:nvPr>
        </p:nvSpPr>
        <p:spPr/>
        <p:txBody>
          <a:bodyPr/>
          <a:lstStyle/>
          <a:p>
            <a:fld id="{9AD6EF95-6829-42AA-8EAF-BB3C46E72B18}" type="slidenum">
              <a:rPr lang="en-US" smtClean="0"/>
              <a:t>29</a:t>
            </a:fld>
            <a:endParaRPr lang="en-US" dirty="0"/>
          </a:p>
        </p:txBody>
      </p:sp>
    </p:spTree>
    <p:extLst>
      <p:ext uri="{BB962C8B-B14F-4D97-AF65-F5344CB8AC3E}">
        <p14:creationId xmlns:p14="http://schemas.microsoft.com/office/powerpoint/2010/main" val="540439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Humanistic psychologists maintain that each of us has the</a:t>
            </a:r>
          </a:p>
          <a:p>
            <a:r>
              <a:rPr lang="en-US" dirty="0"/>
              <a:t>capacity to seek and reach fulfillment</a:t>
            </a:r>
          </a:p>
        </p:txBody>
      </p:sp>
      <p:sp>
        <p:nvSpPr>
          <p:cNvPr id="4" name="Slide Number Placeholder 3"/>
          <p:cNvSpPr>
            <a:spLocks noGrp="1"/>
          </p:cNvSpPr>
          <p:nvPr>
            <p:ph type="sldNum" sz="quarter" idx="5"/>
          </p:nvPr>
        </p:nvSpPr>
        <p:spPr/>
        <p:txBody>
          <a:bodyPr/>
          <a:lstStyle/>
          <a:p>
            <a:fld id="{9AD6EF95-6829-42AA-8EAF-BB3C46E72B18}" type="slidenum">
              <a:rPr lang="en-US" smtClean="0"/>
              <a:t>31</a:t>
            </a:fld>
            <a:endParaRPr lang="en-US" dirty="0"/>
          </a:p>
        </p:txBody>
      </p:sp>
    </p:spTree>
    <p:extLst>
      <p:ext uri="{BB962C8B-B14F-4D97-AF65-F5344CB8AC3E}">
        <p14:creationId xmlns:p14="http://schemas.microsoft.com/office/powerpoint/2010/main" val="480090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D6EF95-6829-42AA-8EAF-BB3C46E72B18}" type="slidenum">
              <a:rPr lang="en-US" smtClean="0"/>
              <a:t>39</a:t>
            </a:fld>
            <a:endParaRPr lang="en-US" dirty="0"/>
          </a:p>
        </p:txBody>
      </p:sp>
    </p:spTree>
    <p:extLst>
      <p:ext uri="{BB962C8B-B14F-4D97-AF65-F5344CB8AC3E}">
        <p14:creationId xmlns:p14="http://schemas.microsoft.com/office/powerpoint/2010/main" val="4033298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462905" y="2714817"/>
            <a:ext cx="5362188" cy="1371600"/>
          </a:xfrm>
          <a:prstGeom prst="rect">
            <a:avLst/>
          </a:prstGeom>
        </p:spPr>
        <p:txBody>
          <a:bodyPr wrap="square" lIns="0" tIns="0" rIns="0" bIns="0">
            <a:spAutoFit/>
          </a:bodyPr>
          <a:lstStyle>
            <a:lvl1pPr>
              <a:defRPr sz="6350" b="1" i="0">
                <a:solidFill>
                  <a:schemeClr val="tx1"/>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3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2/19/2023</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5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3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2/19/2023</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50" b="1" i="0">
                <a:solidFill>
                  <a:schemeClr val="tx1"/>
                </a:solidFill>
                <a:latin typeface="Calibri"/>
                <a:cs typeface="Calibri"/>
              </a:defRPr>
            </a:lvl1pPr>
          </a:lstStyle>
          <a:p>
            <a:endParaRPr/>
          </a:p>
        </p:txBody>
      </p:sp>
      <p:sp>
        <p:nvSpPr>
          <p:cNvPr id="3" name="Holder 3"/>
          <p:cNvSpPr>
            <a:spLocks noGrp="1"/>
          </p:cNvSpPr>
          <p:nvPr>
            <p:ph sz="half" idx="2"/>
          </p:nvPr>
        </p:nvSpPr>
        <p:spPr>
          <a:xfrm>
            <a:off x="1290362" y="3642874"/>
            <a:ext cx="5081905" cy="5214620"/>
          </a:xfrm>
          <a:prstGeom prst="rect">
            <a:avLst/>
          </a:prstGeom>
        </p:spPr>
        <p:txBody>
          <a:bodyPr wrap="square" lIns="0" tIns="0" rIns="0" bIns="0">
            <a:spAutoFit/>
          </a:bodyPr>
          <a:lstStyle>
            <a:lvl1pPr>
              <a:defRPr sz="4500" b="1" i="0">
                <a:solidFill>
                  <a:srgbClr val="F9BF40"/>
                </a:solidFill>
                <a:latin typeface="Calibri"/>
                <a:cs typeface="Calibri"/>
              </a:defRPr>
            </a:lvl1pPr>
          </a:lstStyle>
          <a:p>
            <a:endParaRPr/>
          </a:p>
        </p:txBody>
      </p:sp>
      <p:sp>
        <p:nvSpPr>
          <p:cNvPr id="4" name="Holder 4"/>
          <p:cNvSpPr>
            <a:spLocks noGrp="1"/>
          </p:cNvSpPr>
          <p:nvPr>
            <p:ph sz="half" idx="3"/>
          </p:nvPr>
        </p:nvSpPr>
        <p:spPr>
          <a:xfrm>
            <a:off x="9809412" y="3642874"/>
            <a:ext cx="5487669" cy="5258434"/>
          </a:xfrm>
          <a:prstGeom prst="rect">
            <a:avLst/>
          </a:prstGeom>
        </p:spPr>
        <p:txBody>
          <a:bodyPr wrap="square" lIns="0" tIns="0" rIns="0" bIns="0">
            <a:spAutoFit/>
          </a:bodyPr>
          <a:lstStyle>
            <a:lvl1pPr>
              <a:defRPr sz="4500" b="1" i="0">
                <a:solidFill>
                  <a:srgbClr val="F9BF40"/>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2/19/2023</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29915" y="1030890"/>
            <a:ext cx="1103715" cy="1291179"/>
          </a:xfrm>
          <a:prstGeom prst="rect">
            <a:avLst/>
          </a:prstGeom>
        </p:spPr>
      </p:pic>
      <p:pic>
        <p:nvPicPr>
          <p:cNvPr id="17" name="bg object 17"/>
          <p:cNvPicPr/>
          <p:nvPr/>
        </p:nvPicPr>
        <p:blipFill>
          <a:blip r:embed="rId3" cstate="print"/>
          <a:stretch>
            <a:fillRect/>
          </a:stretch>
        </p:blipFill>
        <p:spPr>
          <a:xfrm>
            <a:off x="1029915" y="7969157"/>
            <a:ext cx="1103715" cy="1291179"/>
          </a:xfrm>
          <a:prstGeom prst="rect">
            <a:avLst/>
          </a:prstGeom>
        </p:spPr>
      </p:pic>
      <p:pic>
        <p:nvPicPr>
          <p:cNvPr id="18" name="bg object 18"/>
          <p:cNvPicPr/>
          <p:nvPr/>
        </p:nvPicPr>
        <p:blipFill>
          <a:blip r:embed="rId4" cstate="print"/>
          <a:stretch>
            <a:fillRect/>
          </a:stretch>
        </p:blipFill>
        <p:spPr>
          <a:xfrm>
            <a:off x="16158147" y="7969157"/>
            <a:ext cx="1099813" cy="1291179"/>
          </a:xfrm>
          <a:prstGeom prst="rect">
            <a:avLst/>
          </a:prstGeom>
        </p:spPr>
      </p:pic>
      <p:pic>
        <p:nvPicPr>
          <p:cNvPr id="19" name="bg object 19"/>
          <p:cNvPicPr/>
          <p:nvPr/>
        </p:nvPicPr>
        <p:blipFill>
          <a:blip r:embed="rId5" cstate="print"/>
          <a:stretch>
            <a:fillRect/>
          </a:stretch>
        </p:blipFill>
        <p:spPr>
          <a:xfrm>
            <a:off x="16158147" y="1030890"/>
            <a:ext cx="1099813" cy="1291179"/>
          </a:xfrm>
          <a:prstGeom prst="rect">
            <a:avLst/>
          </a:prstGeom>
        </p:spPr>
      </p:pic>
      <p:sp>
        <p:nvSpPr>
          <p:cNvPr id="2" name="Holder 2"/>
          <p:cNvSpPr>
            <a:spLocks noGrp="1"/>
          </p:cNvSpPr>
          <p:nvPr>
            <p:ph type="title"/>
          </p:nvPr>
        </p:nvSpPr>
        <p:spPr/>
        <p:txBody>
          <a:bodyPr lIns="0" tIns="0" rIns="0" bIns="0"/>
          <a:lstStyle>
            <a:lvl1pPr>
              <a:defRPr sz="635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2/19/2023</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2/19/2023</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16000" y="2258351"/>
            <a:ext cx="6829425" cy="998854"/>
          </a:xfrm>
          <a:prstGeom prst="rect">
            <a:avLst/>
          </a:prstGeom>
        </p:spPr>
        <p:txBody>
          <a:bodyPr wrap="square" lIns="0" tIns="0" rIns="0" bIns="0">
            <a:spAutoFit/>
          </a:bodyPr>
          <a:lstStyle>
            <a:lvl1pPr>
              <a:defRPr sz="6350" b="1" i="0">
                <a:solidFill>
                  <a:schemeClr val="tx1"/>
                </a:solidFill>
                <a:latin typeface="Calibri"/>
                <a:cs typeface="Calibri"/>
              </a:defRPr>
            </a:lvl1pPr>
          </a:lstStyle>
          <a:p>
            <a:endParaRPr/>
          </a:p>
        </p:txBody>
      </p:sp>
      <p:sp>
        <p:nvSpPr>
          <p:cNvPr id="3" name="Holder 3"/>
          <p:cNvSpPr>
            <a:spLocks noGrp="1"/>
          </p:cNvSpPr>
          <p:nvPr>
            <p:ph type="body" idx="1"/>
          </p:nvPr>
        </p:nvSpPr>
        <p:spPr>
          <a:xfrm>
            <a:off x="1016000" y="2509998"/>
            <a:ext cx="9551670" cy="2359025"/>
          </a:xfrm>
          <a:prstGeom prst="rect">
            <a:avLst/>
          </a:prstGeom>
        </p:spPr>
        <p:txBody>
          <a:bodyPr wrap="square" lIns="0" tIns="0" rIns="0" bIns="0">
            <a:spAutoFit/>
          </a:bodyPr>
          <a:lstStyle>
            <a:lvl1pPr>
              <a:defRPr sz="23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2/19/2023</a:t>
            </a:fld>
            <a:endParaRPr lang="en-US" dirty="0"/>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5420" y="2244766"/>
            <a:ext cx="13257530" cy="3829050"/>
          </a:xfrm>
          <a:prstGeom prst="rect">
            <a:avLst/>
          </a:prstGeom>
        </p:spPr>
        <p:txBody>
          <a:bodyPr vert="horz" wrap="square" lIns="0" tIns="12700" rIns="0" bIns="0" rtlCol="0">
            <a:spAutoFit/>
          </a:bodyPr>
          <a:lstStyle/>
          <a:p>
            <a:pPr marL="375920">
              <a:lnSpc>
                <a:spcPct val="100000"/>
              </a:lnSpc>
              <a:spcBef>
                <a:spcPts val="100"/>
              </a:spcBef>
            </a:pPr>
            <a:r>
              <a:rPr sz="10350" spc="-450" dirty="0">
                <a:solidFill>
                  <a:srgbClr val="F9BF40"/>
                </a:solidFill>
                <a:latin typeface="Tahoma"/>
                <a:cs typeface="Tahoma"/>
              </a:rPr>
              <a:t>INTRODUCTION</a:t>
            </a:r>
            <a:r>
              <a:rPr sz="10350" spc="-1000" dirty="0">
                <a:solidFill>
                  <a:srgbClr val="F9BF40"/>
                </a:solidFill>
                <a:latin typeface="Tahoma"/>
                <a:cs typeface="Tahoma"/>
              </a:rPr>
              <a:t> </a:t>
            </a:r>
            <a:r>
              <a:rPr sz="10350" spc="-25" dirty="0">
                <a:solidFill>
                  <a:srgbClr val="F9BF40"/>
                </a:solidFill>
                <a:latin typeface="Tahoma"/>
                <a:cs typeface="Tahoma"/>
              </a:rPr>
              <a:t>TO</a:t>
            </a:r>
            <a:endParaRPr sz="10350" dirty="0">
              <a:latin typeface="Tahoma"/>
              <a:cs typeface="Tahoma"/>
            </a:endParaRPr>
          </a:p>
          <a:p>
            <a:pPr marL="12700">
              <a:lnSpc>
                <a:spcPct val="100000"/>
              </a:lnSpc>
              <a:spcBef>
                <a:spcPts val="790"/>
              </a:spcBef>
            </a:pPr>
            <a:r>
              <a:rPr sz="13950" spc="2535" dirty="0"/>
              <a:t>PSYCHOLOGY</a:t>
            </a:r>
            <a:endParaRPr sz="13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
            <a:ext cx="18288000" cy="10287000"/>
            <a:chOff x="0" y="1"/>
            <a:chExt cx="18288000" cy="10287000"/>
          </a:xfrm>
        </p:grpSpPr>
        <p:sp>
          <p:nvSpPr>
            <p:cNvPr id="3" name="object 3"/>
            <p:cNvSpPr/>
            <p:nvPr/>
          </p:nvSpPr>
          <p:spPr>
            <a:xfrm>
              <a:off x="0" y="1"/>
              <a:ext cx="9144000" cy="10287000"/>
            </a:xfrm>
            <a:custGeom>
              <a:avLst/>
              <a:gdLst/>
              <a:ahLst/>
              <a:cxnLst/>
              <a:rect l="l" t="t" r="r" b="b"/>
              <a:pathLst>
                <a:path w="9144000" h="10287000">
                  <a:moveTo>
                    <a:pt x="0" y="0"/>
                  </a:moveTo>
                  <a:lnTo>
                    <a:pt x="9143999" y="0"/>
                  </a:lnTo>
                  <a:lnTo>
                    <a:pt x="9143999" y="10286997"/>
                  </a:lnTo>
                  <a:lnTo>
                    <a:pt x="0" y="10286997"/>
                  </a:lnTo>
                  <a:lnTo>
                    <a:pt x="0" y="0"/>
                  </a:lnTo>
                  <a:close/>
                </a:path>
              </a:pathLst>
            </a:custGeom>
            <a:solidFill>
              <a:srgbClr val="FFD372">
                <a:alpha val="17649"/>
              </a:srgbClr>
            </a:solidFill>
          </p:spPr>
          <p:txBody>
            <a:bodyPr wrap="square" lIns="0" tIns="0" rIns="0" bIns="0" rtlCol="0"/>
            <a:lstStyle/>
            <a:p>
              <a:endParaRPr dirty="0"/>
            </a:p>
          </p:txBody>
        </p:sp>
        <p:sp>
          <p:nvSpPr>
            <p:cNvPr id="4" name="object 4"/>
            <p:cNvSpPr/>
            <p:nvPr/>
          </p:nvSpPr>
          <p:spPr>
            <a:xfrm>
              <a:off x="9144000" y="1"/>
              <a:ext cx="9144000" cy="10287000"/>
            </a:xfrm>
            <a:custGeom>
              <a:avLst/>
              <a:gdLst/>
              <a:ahLst/>
              <a:cxnLst/>
              <a:rect l="l" t="t" r="r" b="b"/>
              <a:pathLst>
                <a:path w="9144000" h="10287000">
                  <a:moveTo>
                    <a:pt x="0" y="0"/>
                  </a:moveTo>
                  <a:lnTo>
                    <a:pt x="9143999" y="0"/>
                  </a:lnTo>
                  <a:lnTo>
                    <a:pt x="9143999" y="10286997"/>
                  </a:lnTo>
                  <a:lnTo>
                    <a:pt x="0" y="10286997"/>
                  </a:lnTo>
                  <a:lnTo>
                    <a:pt x="0" y="0"/>
                  </a:lnTo>
                  <a:close/>
                </a:path>
              </a:pathLst>
            </a:custGeom>
            <a:solidFill>
              <a:srgbClr val="DDDDDD">
                <a:alpha val="17649"/>
              </a:srgbClr>
            </a:solidFill>
          </p:spPr>
          <p:txBody>
            <a:bodyPr wrap="square" lIns="0" tIns="0" rIns="0" bIns="0" rtlCol="0"/>
            <a:lstStyle/>
            <a:p>
              <a:endParaRPr dirty="0"/>
            </a:p>
          </p:txBody>
        </p:sp>
      </p:grpSp>
      <p:sp>
        <p:nvSpPr>
          <p:cNvPr id="5" name="object 5"/>
          <p:cNvSpPr txBox="1"/>
          <p:nvPr/>
        </p:nvSpPr>
        <p:spPr>
          <a:xfrm>
            <a:off x="4523140" y="4451022"/>
            <a:ext cx="9502775" cy="2183130"/>
          </a:xfrm>
          <a:prstGeom prst="rect">
            <a:avLst/>
          </a:prstGeom>
        </p:spPr>
        <p:txBody>
          <a:bodyPr vert="horz" wrap="square" lIns="0" tIns="161290" rIns="0" bIns="0" rtlCol="0">
            <a:spAutoFit/>
          </a:bodyPr>
          <a:lstStyle/>
          <a:p>
            <a:pPr marL="1047750" marR="5080" indent="-1035685">
              <a:lnSpc>
                <a:spcPts val="7950"/>
              </a:lnSpc>
              <a:spcBef>
                <a:spcPts val="1270"/>
              </a:spcBef>
            </a:pPr>
            <a:r>
              <a:rPr sz="7500" b="1" spc="985" dirty="0">
                <a:latin typeface="Calibri"/>
                <a:cs typeface="Calibri"/>
              </a:rPr>
              <a:t>INTRODUCTION</a:t>
            </a:r>
            <a:r>
              <a:rPr sz="7500" b="1" spc="375" dirty="0">
                <a:latin typeface="Calibri"/>
                <a:cs typeface="Calibri"/>
              </a:rPr>
              <a:t> </a:t>
            </a:r>
            <a:r>
              <a:rPr sz="7500" b="1" spc="1100" dirty="0">
                <a:latin typeface="Calibri"/>
                <a:cs typeface="Calibri"/>
              </a:rPr>
              <a:t>TO </a:t>
            </a:r>
            <a:r>
              <a:rPr sz="7500" b="1" spc="1380" dirty="0">
                <a:latin typeface="Calibri"/>
                <a:cs typeface="Calibri"/>
              </a:rPr>
              <a:t>PSYCHOLOGY</a:t>
            </a:r>
            <a:endParaRPr sz="7500" dirty="0">
              <a:latin typeface="Calibri"/>
              <a:cs typeface="Calibri"/>
            </a:endParaRPr>
          </a:p>
        </p:txBody>
      </p:sp>
      <p:sp>
        <p:nvSpPr>
          <p:cNvPr id="6" name="object 6"/>
          <p:cNvSpPr txBox="1">
            <a:spLocks noGrp="1"/>
          </p:cNvSpPr>
          <p:nvPr>
            <p:ph type="ctrTitle"/>
          </p:nvPr>
        </p:nvSpPr>
        <p:spPr>
          <a:prstGeom prst="rect">
            <a:avLst/>
          </a:prstGeom>
        </p:spPr>
        <p:txBody>
          <a:bodyPr vert="horz" wrap="square" lIns="0" tIns="16510" rIns="0" bIns="0" rtlCol="0">
            <a:spAutoFit/>
          </a:bodyPr>
          <a:lstStyle/>
          <a:p>
            <a:pPr marL="12700">
              <a:lnSpc>
                <a:spcPct val="100000"/>
              </a:lnSpc>
              <a:spcBef>
                <a:spcPts val="130"/>
              </a:spcBef>
            </a:pPr>
            <a:r>
              <a:rPr sz="8800" b="0" spc="1105" dirty="0">
                <a:solidFill>
                  <a:srgbClr val="F9BF40"/>
                </a:solidFill>
                <a:latin typeface="Calibri"/>
                <a:cs typeface="Calibri"/>
              </a:rPr>
              <a:t>Chapter</a:t>
            </a:r>
            <a:r>
              <a:rPr sz="8800" b="0" spc="400" dirty="0">
                <a:solidFill>
                  <a:srgbClr val="F9BF40"/>
                </a:solidFill>
                <a:latin typeface="Calibri"/>
                <a:cs typeface="Calibri"/>
              </a:rPr>
              <a:t> </a:t>
            </a:r>
            <a:r>
              <a:rPr sz="8800" b="0" spc="-1255" dirty="0">
                <a:solidFill>
                  <a:srgbClr val="F9BF40"/>
                </a:solidFill>
                <a:latin typeface="Calibri"/>
                <a:cs typeface="Calibri"/>
              </a:rPr>
              <a:t>1</a:t>
            </a:r>
            <a:endParaRPr sz="8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708077" y="0"/>
            <a:ext cx="9352280" cy="10287000"/>
          </a:xfrm>
          <a:custGeom>
            <a:avLst/>
            <a:gdLst/>
            <a:ahLst/>
            <a:cxnLst/>
            <a:rect l="l" t="t" r="r" b="b"/>
            <a:pathLst>
              <a:path w="9352280" h="10287000">
                <a:moveTo>
                  <a:pt x="0" y="0"/>
                </a:moveTo>
                <a:lnTo>
                  <a:pt x="9351817" y="0"/>
                </a:lnTo>
                <a:lnTo>
                  <a:pt x="9351817" y="10286998"/>
                </a:lnTo>
                <a:lnTo>
                  <a:pt x="0" y="10286998"/>
                </a:lnTo>
                <a:lnTo>
                  <a:pt x="0" y="0"/>
                </a:lnTo>
                <a:close/>
              </a:path>
            </a:pathLst>
          </a:custGeom>
          <a:solidFill>
            <a:srgbClr val="DDDDDD">
              <a:alpha val="17649"/>
            </a:srgbClr>
          </a:solidFill>
        </p:spPr>
        <p:txBody>
          <a:bodyPr wrap="square" lIns="0" tIns="0" rIns="0" bIns="0" rtlCol="0"/>
          <a:lstStyle/>
          <a:p>
            <a:endParaRPr dirty="0"/>
          </a:p>
        </p:txBody>
      </p:sp>
      <p:sp>
        <p:nvSpPr>
          <p:cNvPr id="3" name="object 3"/>
          <p:cNvSpPr/>
          <p:nvPr/>
        </p:nvSpPr>
        <p:spPr>
          <a:xfrm>
            <a:off x="1028700" y="8021770"/>
            <a:ext cx="1563370" cy="417830"/>
          </a:xfrm>
          <a:custGeom>
            <a:avLst/>
            <a:gdLst/>
            <a:ahLst/>
            <a:cxnLst/>
            <a:rect l="l" t="t" r="r" b="b"/>
            <a:pathLst>
              <a:path w="1563370" h="417829">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sp>
        <p:nvSpPr>
          <p:cNvPr id="4" name="object 4"/>
          <p:cNvSpPr txBox="1"/>
          <p:nvPr/>
        </p:nvSpPr>
        <p:spPr>
          <a:xfrm>
            <a:off x="1016000" y="2961656"/>
            <a:ext cx="6194425" cy="1196975"/>
          </a:xfrm>
          <a:prstGeom prst="rect">
            <a:avLst/>
          </a:prstGeom>
        </p:spPr>
        <p:txBody>
          <a:bodyPr vert="horz" wrap="square" lIns="0" tIns="17145" rIns="0" bIns="0" rtlCol="0">
            <a:spAutoFit/>
          </a:bodyPr>
          <a:lstStyle/>
          <a:p>
            <a:pPr marL="12700">
              <a:lnSpc>
                <a:spcPct val="100000"/>
              </a:lnSpc>
              <a:spcBef>
                <a:spcPts val="135"/>
              </a:spcBef>
            </a:pPr>
            <a:r>
              <a:rPr sz="7650" b="1" spc="1400" dirty="0">
                <a:latin typeface="Calibri"/>
                <a:cs typeface="Calibri"/>
              </a:rPr>
              <a:t>KEY</a:t>
            </a:r>
            <a:r>
              <a:rPr sz="7650" b="1" spc="370" dirty="0">
                <a:latin typeface="Calibri"/>
                <a:cs typeface="Calibri"/>
              </a:rPr>
              <a:t> </a:t>
            </a:r>
            <a:r>
              <a:rPr sz="7650" b="1" spc="1055" dirty="0">
                <a:latin typeface="Calibri"/>
                <a:cs typeface="Calibri"/>
              </a:rPr>
              <a:t>POINTS</a:t>
            </a:r>
            <a:endParaRPr sz="7650" dirty="0">
              <a:latin typeface="Calibri"/>
              <a:cs typeface="Calibri"/>
            </a:endParaRPr>
          </a:p>
        </p:txBody>
      </p:sp>
      <p:sp>
        <p:nvSpPr>
          <p:cNvPr id="5" name="object 5"/>
          <p:cNvSpPr txBox="1">
            <a:spLocks noGrp="1"/>
          </p:cNvSpPr>
          <p:nvPr>
            <p:ph type="title"/>
          </p:nvPr>
        </p:nvSpPr>
        <p:spPr>
          <a:xfrm>
            <a:off x="1016000" y="970232"/>
            <a:ext cx="4077335" cy="883919"/>
          </a:xfrm>
          <a:prstGeom prst="rect">
            <a:avLst/>
          </a:prstGeom>
        </p:spPr>
        <p:txBody>
          <a:bodyPr vert="horz" wrap="square" lIns="0" tIns="16510" rIns="0" bIns="0" rtlCol="0">
            <a:spAutoFit/>
          </a:bodyPr>
          <a:lstStyle/>
          <a:p>
            <a:pPr marL="12700">
              <a:lnSpc>
                <a:spcPct val="100000"/>
              </a:lnSpc>
              <a:spcBef>
                <a:spcPts val="130"/>
              </a:spcBef>
            </a:pPr>
            <a:r>
              <a:rPr sz="5600" dirty="0">
                <a:solidFill>
                  <a:srgbClr val="F9BF40"/>
                </a:solidFill>
                <a:latin typeface="Arial"/>
                <a:cs typeface="Arial"/>
              </a:rPr>
              <a:t>CHAPTER</a:t>
            </a:r>
            <a:r>
              <a:rPr sz="5600" spc="-25" dirty="0">
                <a:solidFill>
                  <a:srgbClr val="F9BF40"/>
                </a:solidFill>
                <a:latin typeface="Arial"/>
                <a:cs typeface="Arial"/>
              </a:rPr>
              <a:t> </a:t>
            </a:r>
            <a:r>
              <a:rPr sz="5600" spc="-50" dirty="0">
                <a:solidFill>
                  <a:srgbClr val="F9BF40"/>
                </a:solidFill>
                <a:latin typeface="Arial"/>
                <a:cs typeface="Arial"/>
              </a:rPr>
              <a:t>1</a:t>
            </a:r>
            <a:endParaRPr sz="5600" dirty="0">
              <a:latin typeface="Arial"/>
              <a:cs typeface="Arial"/>
            </a:endParaRPr>
          </a:p>
        </p:txBody>
      </p:sp>
      <p:sp>
        <p:nvSpPr>
          <p:cNvPr id="6" name="object 6"/>
          <p:cNvSpPr txBox="1"/>
          <p:nvPr/>
        </p:nvSpPr>
        <p:spPr>
          <a:xfrm>
            <a:off x="10510185" y="1886727"/>
            <a:ext cx="4387215" cy="509270"/>
          </a:xfrm>
          <a:prstGeom prst="rect">
            <a:avLst/>
          </a:prstGeom>
        </p:spPr>
        <p:txBody>
          <a:bodyPr vert="horz" wrap="square" lIns="0" tIns="15240" rIns="0" bIns="0" rtlCol="0">
            <a:spAutoFit/>
          </a:bodyPr>
          <a:lstStyle/>
          <a:p>
            <a:pPr marL="12700">
              <a:lnSpc>
                <a:spcPct val="100000"/>
              </a:lnSpc>
              <a:spcBef>
                <a:spcPts val="120"/>
              </a:spcBef>
            </a:pPr>
            <a:r>
              <a:rPr sz="3150" spc="65" dirty="0">
                <a:solidFill>
                  <a:srgbClr val="494949"/>
                </a:solidFill>
                <a:latin typeface="Arial Black"/>
                <a:cs typeface="Arial Black"/>
              </a:rPr>
              <a:t>What</a:t>
            </a:r>
            <a:r>
              <a:rPr sz="3150" spc="-300" dirty="0">
                <a:solidFill>
                  <a:srgbClr val="494949"/>
                </a:solidFill>
                <a:latin typeface="Arial Black"/>
                <a:cs typeface="Arial Black"/>
              </a:rPr>
              <a:t> </a:t>
            </a:r>
            <a:r>
              <a:rPr sz="3150" spc="-155" dirty="0">
                <a:solidFill>
                  <a:srgbClr val="494949"/>
                </a:solidFill>
                <a:latin typeface="Arial Black"/>
                <a:cs typeface="Arial Black"/>
              </a:rPr>
              <a:t>is</a:t>
            </a:r>
            <a:r>
              <a:rPr sz="3150" spc="-300" dirty="0">
                <a:solidFill>
                  <a:srgbClr val="494949"/>
                </a:solidFill>
                <a:latin typeface="Arial Black"/>
                <a:cs typeface="Arial Black"/>
              </a:rPr>
              <a:t> </a:t>
            </a:r>
            <a:r>
              <a:rPr sz="3150" spc="-35" dirty="0">
                <a:solidFill>
                  <a:srgbClr val="494949"/>
                </a:solidFill>
                <a:latin typeface="Arial Black"/>
                <a:cs typeface="Arial Black"/>
              </a:rPr>
              <a:t>Psychology?</a:t>
            </a:r>
            <a:endParaRPr sz="3150" dirty="0">
              <a:latin typeface="Arial Black"/>
              <a:cs typeface="Arial Black"/>
            </a:endParaRPr>
          </a:p>
        </p:txBody>
      </p:sp>
      <p:sp>
        <p:nvSpPr>
          <p:cNvPr id="7" name="object 7"/>
          <p:cNvSpPr txBox="1"/>
          <p:nvPr/>
        </p:nvSpPr>
        <p:spPr>
          <a:xfrm>
            <a:off x="10510185" y="3950530"/>
            <a:ext cx="5113020" cy="1825625"/>
          </a:xfrm>
          <a:prstGeom prst="rect">
            <a:avLst/>
          </a:prstGeom>
        </p:spPr>
        <p:txBody>
          <a:bodyPr vert="horz" wrap="square" lIns="0" tIns="12065" rIns="0" bIns="0" rtlCol="0">
            <a:spAutoFit/>
          </a:bodyPr>
          <a:lstStyle/>
          <a:p>
            <a:pPr marL="12700" marR="5080">
              <a:lnSpc>
                <a:spcPct val="125000"/>
              </a:lnSpc>
              <a:spcBef>
                <a:spcPts val="95"/>
              </a:spcBef>
            </a:pPr>
            <a:r>
              <a:rPr sz="3150" spc="65" dirty="0">
                <a:solidFill>
                  <a:srgbClr val="494949"/>
                </a:solidFill>
                <a:latin typeface="Arial Black"/>
                <a:cs typeface="Arial Black"/>
              </a:rPr>
              <a:t>What</a:t>
            </a:r>
            <a:r>
              <a:rPr sz="3150" spc="-295" dirty="0">
                <a:solidFill>
                  <a:srgbClr val="494949"/>
                </a:solidFill>
                <a:latin typeface="Arial Black"/>
                <a:cs typeface="Arial Black"/>
              </a:rPr>
              <a:t> </a:t>
            </a:r>
            <a:r>
              <a:rPr sz="3150" spc="-50" dirty="0">
                <a:solidFill>
                  <a:srgbClr val="494949"/>
                </a:solidFill>
                <a:latin typeface="Arial Black"/>
                <a:cs typeface="Arial Black"/>
              </a:rPr>
              <a:t>are</a:t>
            </a:r>
            <a:r>
              <a:rPr sz="3150" spc="-290" dirty="0">
                <a:solidFill>
                  <a:srgbClr val="494949"/>
                </a:solidFill>
                <a:latin typeface="Arial Black"/>
                <a:cs typeface="Arial Black"/>
              </a:rPr>
              <a:t> </a:t>
            </a:r>
            <a:r>
              <a:rPr sz="3150" spc="-10" dirty="0">
                <a:solidFill>
                  <a:srgbClr val="494949"/>
                </a:solidFill>
                <a:latin typeface="Arial Black"/>
                <a:cs typeface="Arial Black"/>
              </a:rPr>
              <a:t>the</a:t>
            </a:r>
            <a:r>
              <a:rPr sz="3150" spc="-290" dirty="0">
                <a:solidFill>
                  <a:srgbClr val="494949"/>
                </a:solidFill>
                <a:latin typeface="Arial Black"/>
                <a:cs typeface="Arial Black"/>
              </a:rPr>
              <a:t> </a:t>
            </a:r>
            <a:r>
              <a:rPr sz="3150" spc="-10" dirty="0">
                <a:solidFill>
                  <a:srgbClr val="494949"/>
                </a:solidFill>
                <a:latin typeface="Arial Black"/>
                <a:cs typeface="Arial Black"/>
              </a:rPr>
              <a:t>primary </a:t>
            </a:r>
            <a:r>
              <a:rPr sz="3150" spc="-45" dirty="0">
                <a:solidFill>
                  <a:srgbClr val="494949"/>
                </a:solidFill>
                <a:latin typeface="Arial Black"/>
                <a:cs typeface="Arial Black"/>
              </a:rPr>
              <a:t>perspectives</a:t>
            </a:r>
            <a:r>
              <a:rPr sz="3150" spc="-245" dirty="0">
                <a:solidFill>
                  <a:srgbClr val="494949"/>
                </a:solidFill>
                <a:latin typeface="Arial Black"/>
                <a:cs typeface="Arial Black"/>
              </a:rPr>
              <a:t> </a:t>
            </a:r>
            <a:r>
              <a:rPr sz="3150" dirty="0">
                <a:solidFill>
                  <a:srgbClr val="494949"/>
                </a:solidFill>
                <a:latin typeface="Arial Black"/>
                <a:cs typeface="Arial Black"/>
              </a:rPr>
              <a:t>that</a:t>
            </a:r>
            <a:r>
              <a:rPr sz="3150" spc="-245" dirty="0">
                <a:solidFill>
                  <a:srgbClr val="494949"/>
                </a:solidFill>
                <a:latin typeface="Arial Black"/>
                <a:cs typeface="Arial Black"/>
              </a:rPr>
              <a:t> </a:t>
            </a:r>
            <a:r>
              <a:rPr sz="3150" spc="-10" dirty="0">
                <a:solidFill>
                  <a:srgbClr val="494949"/>
                </a:solidFill>
                <a:latin typeface="Arial Black"/>
                <a:cs typeface="Arial Black"/>
              </a:rPr>
              <a:t>guide </a:t>
            </a:r>
            <a:r>
              <a:rPr sz="3150" dirty="0">
                <a:solidFill>
                  <a:srgbClr val="494949"/>
                </a:solidFill>
                <a:latin typeface="Arial Black"/>
                <a:cs typeface="Arial Black"/>
              </a:rPr>
              <a:t>modern</a:t>
            </a:r>
            <a:r>
              <a:rPr sz="3150" spc="-175" dirty="0">
                <a:solidFill>
                  <a:srgbClr val="494949"/>
                </a:solidFill>
                <a:latin typeface="Arial Black"/>
                <a:cs typeface="Arial Black"/>
              </a:rPr>
              <a:t> </a:t>
            </a:r>
            <a:r>
              <a:rPr sz="3150" spc="-10" dirty="0">
                <a:solidFill>
                  <a:srgbClr val="494949"/>
                </a:solidFill>
                <a:latin typeface="Arial Black"/>
                <a:cs typeface="Arial Black"/>
              </a:rPr>
              <a:t>Psychology?</a:t>
            </a:r>
            <a:endParaRPr sz="3150" dirty="0">
              <a:latin typeface="Arial Black"/>
              <a:cs typeface="Arial Black"/>
            </a:endParaRPr>
          </a:p>
        </p:txBody>
      </p:sp>
      <p:sp>
        <p:nvSpPr>
          <p:cNvPr id="8" name="object 8"/>
          <p:cNvSpPr txBox="1"/>
          <p:nvPr/>
        </p:nvSpPr>
        <p:spPr>
          <a:xfrm>
            <a:off x="10510185" y="7064488"/>
            <a:ext cx="5626100" cy="1825625"/>
          </a:xfrm>
          <a:prstGeom prst="rect">
            <a:avLst/>
          </a:prstGeom>
        </p:spPr>
        <p:txBody>
          <a:bodyPr vert="horz" wrap="square" lIns="0" tIns="12065" rIns="0" bIns="0" rtlCol="0">
            <a:spAutoFit/>
          </a:bodyPr>
          <a:lstStyle/>
          <a:p>
            <a:pPr marL="12700" marR="5080">
              <a:lnSpc>
                <a:spcPct val="125000"/>
              </a:lnSpc>
              <a:spcBef>
                <a:spcPts val="95"/>
              </a:spcBef>
            </a:pPr>
            <a:r>
              <a:rPr sz="3150" spc="65" dirty="0">
                <a:solidFill>
                  <a:srgbClr val="494949"/>
                </a:solidFill>
                <a:latin typeface="Arial Black"/>
                <a:cs typeface="Arial Black"/>
              </a:rPr>
              <a:t>What</a:t>
            </a:r>
            <a:r>
              <a:rPr sz="3150" spc="-295" dirty="0">
                <a:solidFill>
                  <a:srgbClr val="494949"/>
                </a:solidFill>
                <a:latin typeface="Arial Black"/>
                <a:cs typeface="Arial Black"/>
              </a:rPr>
              <a:t> </a:t>
            </a:r>
            <a:r>
              <a:rPr sz="3150" spc="-50" dirty="0">
                <a:solidFill>
                  <a:srgbClr val="494949"/>
                </a:solidFill>
                <a:latin typeface="Arial Black"/>
                <a:cs typeface="Arial Black"/>
              </a:rPr>
              <a:t>are</a:t>
            </a:r>
            <a:r>
              <a:rPr sz="3150" spc="-290" dirty="0">
                <a:solidFill>
                  <a:srgbClr val="494949"/>
                </a:solidFill>
                <a:latin typeface="Arial Black"/>
                <a:cs typeface="Arial Black"/>
              </a:rPr>
              <a:t> </a:t>
            </a:r>
            <a:r>
              <a:rPr sz="3150" spc="-10" dirty="0">
                <a:solidFill>
                  <a:srgbClr val="494949"/>
                </a:solidFill>
                <a:latin typeface="Arial Black"/>
                <a:cs typeface="Arial Black"/>
              </a:rPr>
              <a:t>the</a:t>
            </a:r>
            <a:r>
              <a:rPr sz="3150" spc="-290" dirty="0">
                <a:solidFill>
                  <a:srgbClr val="494949"/>
                </a:solidFill>
                <a:latin typeface="Arial Black"/>
                <a:cs typeface="Arial Black"/>
              </a:rPr>
              <a:t> </a:t>
            </a:r>
            <a:r>
              <a:rPr sz="3150" spc="-10" dirty="0">
                <a:solidFill>
                  <a:srgbClr val="494949"/>
                </a:solidFill>
                <a:latin typeface="Arial Black"/>
                <a:cs typeface="Arial Black"/>
              </a:rPr>
              <a:t>career </a:t>
            </a:r>
            <a:r>
              <a:rPr sz="3150" spc="-80" dirty="0">
                <a:solidFill>
                  <a:srgbClr val="494949"/>
                </a:solidFill>
                <a:latin typeface="Arial Black"/>
                <a:cs typeface="Arial Black"/>
              </a:rPr>
              <a:t>specialties</a:t>
            </a:r>
            <a:r>
              <a:rPr sz="3150" spc="-275" dirty="0">
                <a:solidFill>
                  <a:srgbClr val="494949"/>
                </a:solidFill>
                <a:latin typeface="Arial Black"/>
                <a:cs typeface="Arial Black"/>
              </a:rPr>
              <a:t> </a:t>
            </a:r>
            <a:r>
              <a:rPr sz="3150" spc="-10" dirty="0">
                <a:solidFill>
                  <a:srgbClr val="494949"/>
                </a:solidFill>
                <a:latin typeface="Arial Black"/>
                <a:cs typeface="Arial Black"/>
              </a:rPr>
              <a:t>and</a:t>
            </a:r>
            <a:r>
              <a:rPr sz="3150" spc="-270" dirty="0">
                <a:solidFill>
                  <a:srgbClr val="494949"/>
                </a:solidFill>
                <a:latin typeface="Arial Black"/>
                <a:cs typeface="Arial Black"/>
              </a:rPr>
              <a:t> </a:t>
            </a:r>
            <a:r>
              <a:rPr sz="3150" spc="-25" dirty="0">
                <a:solidFill>
                  <a:srgbClr val="494949"/>
                </a:solidFill>
                <a:latin typeface="Arial Black"/>
                <a:cs typeface="Arial Black"/>
              </a:rPr>
              <a:t>major</a:t>
            </a:r>
            <a:r>
              <a:rPr sz="3150" spc="-270" dirty="0">
                <a:solidFill>
                  <a:srgbClr val="494949"/>
                </a:solidFill>
                <a:latin typeface="Arial Black"/>
                <a:cs typeface="Arial Black"/>
              </a:rPr>
              <a:t> </a:t>
            </a:r>
            <a:r>
              <a:rPr sz="3150" spc="50" dirty="0">
                <a:solidFill>
                  <a:srgbClr val="494949"/>
                </a:solidFill>
                <a:latin typeface="Arial Black"/>
                <a:cs typeface="Arial Black"/>
              </a:rPr>
              <a:t>sub- </a:t>
            </a:r>
            <a:r>
              <a:rPr sz="3150" spc="-10" dirty="0">
                <a:solidFill>
                  <a:srgbClr val="494949"/>
                </a:solidFill>
                <a:latin typeface="Arial Black"/>
                <a:cs typeface="Arial Black"/>
              </a:rPr>
              <a:t>fields?</a:t>
            </a:r>
            <a:endParaRPr sz="3150" dirty="0">
              <a:latin typeface="Arial Black"/>
              <a:cs typeface="Arial Black"/>
            </a:endParaRPr>
          </a:p>
        </p:txBody>
      </p:sp>
      <p:sp>
        <p:nvSpPr>
          <p:cNvPr id="9" name="object 9"/>
          <p:cNvSpPr/>
          <p:nvPr/>
        </p:nvSpPr>
        <p:spPr>
          <a:xfrm>
            <a:off x="10493450" y="1307300"/>
            <a:ext cx="1563370" cy="417830"/>
          </a:xfrm>
          <a:custGeom>
            <a:avLst/>
            <a:gdLst/>
            <a:ahLst/>
            <a:cxnLst/>
            <a:rect l="l" t="t" r="r" b="b"/>
            <a:pathLst>
              <a:path w="1563370" h="417830">
                <a:moveTo>
                  <a:pt x="1562947" y="417759"/>
                </a:moveTo>
                <a:lnTo>
                  <a:pt x="0" y="417759"/>
                </a:lnTo>
                <a:lnTo>
                  <a:pt x="0" y="0"/>
                </a:lnTo>
                <a:lnTo>
                  <a:pt x="1562947" y="0"/>
                </a:lnTo>
                <a:lnTo>
                  <a:pt x="1562947" y="417759"/>
                </a:lnTo>
                <a:close/>
              </a:path>
            </a:pathLst>
          </a:custGeom>
          <a:solidFill>
            <a:srgbClr val="F9BF40"/>
          </a:solidFill>
        </p:spPr>
        <p:txBody>
          <a:bodyPr wrap="square" lIns="0" tIns="0" rIns="0" bIns="0" rtlCol="0"/>
          <a:lstStyle/>
          <a:p>
            <a:endParaRPr dirty="0"/>
          </a:p>
        </p:txBody>
      </p:sp>
      <p:sp>
        <p:nvSpPr>
          <p:cNvPr id="10" name="object 10"/>
          <p:cNvSpPr/>
          <p:nvPr/>
        </p:nvSpPr>
        <p:spPr>
          <a:xfrm>
            <a:off x="10493450" y="3455655"/>
            <a:ext cx="1563370" cy="417830"/>
          </a:xfrm>
          <a:custGeom>
            <a:avLst/>
            <a:gdLst/>
            <a:ahLst/>
            <a:cxnLst/>
            <a:rect l="l" t="t" r="r" b="b"/>
            <a:pathLst>
              <a:path w="1563370" h="417829">
                <a:moveTo>
                  <a:pt x="1562947" y="417759"/>
                </a:moveTo>
                <a:lnTo>
                  <a:pt x="0" y="417759"/>
                </a:lnTo>
                <a:lnTo>
                  <a:pt x="0" y="0"/>
                </a:lnTo>
                <a:lnTo>
                  <a:pt x="1562947" y="0"/>
                </a:lnTo>
                <a:lnTo>
                  <a:pt x="1562947" y="417759"/>
                </a:lnTo>
                <a:close/>
              </a:path>
            </a:pathLst>
          </a:custGeom>
          <a:solidFill>
            <a:srgbClr val="F9BF40"/>
          </a:solidFill>
        </p:spPr>
        <p:txBody>
          <a:bodyPr wrap="square" lIns="0" tIns="0" rIns="0" bIns="0" rtlCol="0"/>
          <a:lstStyle/>
          <a:p>
            <a:endParaRPr dirty="0"/>
          </a:p>
        </p:txBody>
      </p:sp>
      <p:sp>
        <p:nvSpPr>
          <p:cNvPr id="11" name="object 11"/>
          <p:cNvSpPr/>
          <p:nvPr/>
        </p:nvSpPr>
        <p:spPr>
          <a:xfrm>
            <a:off x="10493450" y="6601876"/>
            <a:ext cx="1563370" cy="417830"/>
          </a:xfrm>
          <a:custGeom>
            <a:avLst/>
            <a:gdLst/>
            <a:ahLst/>
            <a:cxnLst/>
            <a:rect l="l" t="t" r="r" b="b"/>
            <a:pathLst>
              <a:path w="1563370" h="417829">
                <a:moveTo>
                  <a:pt x="1562947" y="417759"/>
                </a:moveTo>
                <a:lnTo>
                  <a:pt x="0" y="417759"/>
                </a:lnTo>
                <a:lnTo>
                  <a:pt x="0" y="0"/>
                </a:lnTo>
                <a:lnTo>
                  <a:pt x="1562947" y="0"/>
                </a:lnTo>
                <a:lnTo>
                  <a:pt x="1562947" y="417759"/>
                </a:lnTo>
                <a:close/>
              </a:path>
            </a:pathLst>
          </a:custGeom>
          <a:solidFill>
            <a:srgbClr val="F9BF40"/>
          </a:solidFill>
        </p:spPr>
        <p:txBody>
          <a:bodyPr wrap="square" lIns="0" tIns="0" rIns="0" bIns="0" rtlCol="0"/>
          <a:lstStyle/>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7F7F7"/>
          </a:solidFill>
        </p:spPr>
        <p:txBody>
          <a:bodyPr wrap="square" lIns="0" tIns="0" rIns="0" bIns="0" rtlCol="0"/>
          <a:lstStyle/>
          <a:p>
            <a:endParaRPr dirty="0"/>
          </a:p>
        </p:txBody>
      </p:sp>
      <p:sp>
        <p:nvSpPr>
          <p:cNvPr id="3" name="object 3"/>
          <p:cNvSpPr/>
          <p:nvPr/>
        </p:nvSpPr>
        <p:spPr>
          <a:xfrm>
            <a:off x="3883511" y="3260826"/>
            <a:ext cx="4806315" cy="5676265"/>
          </a:xfrm>
          <a:custGeom>
            <a:avLst/>
            <a:gdLst/>
            <a:ahLst/>
            <a:cxnLst/>
            <a:rect l="l" t="t" r="r" b="b"/>
            <a:pathLst>
              <a:path w="4806315" h="5676265">
                <a:moveTo>
                  <a:pt x="0" y="0"/>
                </a:moveTo>
                <a:lnTo>
                  <a:pt x="4806137" y="0"/>
                </a:lnTo>
                <a:lnTo>
                  <a:pt x="4806137" y="5675662"/>
                </a:lnTo>
                <a:lnTo>
                  <a:pt x="0" y="5675662"/>
                </a:lnTo>
                <a:lnTo>
                  <a:pt x="0" y="0"/>
                </a:lnTo>
                <a:close/>
              </a:path>
            </a:pathLst>
          </a:custGeom>
          <a:solidFill>
            <a:srgbClr val="EFECE7"/>
          </a:solidFill>
        </p:spPr>
        <p:txBody>
          <a:bodyPr wrap="square" lIns="0" tIns="0" rIns="0" bIns="0" rtlCol="0"/>
          <a:lstStyle/>
          <a:p>
            <a:endParaRPr dirty="0"/>
          </a:p>
        </p:txBody>
      </p:sp>
      <p:sp>
        <p:nvSpPr>
          <p:cNvPr id="4" name="object 4"/>
          <p:cNvSpPr/>
          <p:nvPr/>
        </p:nvSpPr>
        <p:spPr>
          <a:xfrm>
            <a:off x="9593133" y="3260826"/>
            <a:ext cx="4806315" cy="5676265"/>
          </a:xfrm>
          <a:custGeom>
            <a:avLst/>
            <a:gdLst/>
            <a:ahLst/>
            <a:cxnLst/>
            <a:rect l="l" t="t" r="r" b="b"/>
            <a:pathLst>
              <a:path w="4806315" h="5676265">
                <a:moveTo>
                  <a:pt x="0" y="0"/>
                </a:moveTo>
                <a:lnTo>
                  <a:pt x="4806136" y="0"/>
                </a:lnTo>
                <a:lnTo>
                  <a:pt x="4806136" y="5675662"/>
                </a:lnTo>
                <a:lnTo>
                  <a:pt x="0" y="5675662"/>
                </a:lnTo>
                <a:lnTo>
                  <a:pt x="0" y="0"/>
                </a:lnTo>
                <a:close/>
              </a:path>
            </a:pathLst>
          </a:custGeom>
          <a:solidFill>
            <a:srgbClr val="EFECE7"/>
          </a:solidFill>
        </p:spPr>
        <p:txBody>
          <a:bodyPr wrap="square" lIns="0" tIns="0" rIns="0" bIns="0" rtlCol="0"/>
          <a:lstStyle/>
          <a:p>
            <a:endParaRPr dirty="0"/>
          </a:p>
        </p:txBody>
      </p:sp>
      <p:pic>
        <p:nvPicPr>
          <p:cNvPr id="5" name="object 5"/>
          <p:cNvPicPr/>
          <p:nvPr/>
        </p:nvPicPr>
        <p:blipFill>
          <a:blip r:embed="rId2" cstate="print"/>
          <a:stretch>
            <a:fillRect/>
          </a:stretch>
        </p:blipFill>
        <p:spPr>
          <a:xfrm>
            <a:off x="4167649" y="3531411"/>
            <a:ext cx="4238624" cy="4038599"/>
          </a:xfrm>
          <a:prstGeom prst="rect">
            <a:avLst/>
          </a:prstGeom>
        </p:spPr>
      </p:pic>
      <p:pic>
        <p:nvPicPr>
          <p:cNvPr id="6" name="object 6"/>
          <p:cNvPicPr/>
          <p:nvPr/>
        </p:nvPicPr>
        <p:blipFill>
          <a:blip r:embed="rId3" cstate="print"/>
          <a:stretch>
            <a:fillRect/>
          </a:stretch>
        </p:blipFill>
        <p:spPr>
          <a:xfrm>
            <a:off x="9877271" y="3531411"/>
            <a:ext cx="4238624" cy="4038599"/>
          </a:xfrm>
          <a:prstGeom prst="rect">
            <a:avLst/>
          </a:prstGeom>
        </p:spPr>
      </p:pic>
      <p:sp>
        <p:nvSpPr>
          <p:cNvPr id="7" name="object 7"/>
          <p:cNvSpPr txBox="1"/>
          <p:nvPr/>
        </p:nvSpPr>
        <p:spPr>
          <a:xfrm>
            <a:off x="4167649" y="7750881"/>
            <a:ext cx="4243705" cy="890905"/>
          </a:xfrm>
          <a:prstGeom prst="rect">
            <a:avLst/>
          </a:prstGeom>
          <a:solidFill>
            <a:srgbClr val="E3AB2E"/>
          </a:solidFill>
        </p:spPr>
        <p:txBody>
          <a:bodyPr vert="horz" wrap="square" lIns="0" tIns="244475" rIns="0" bIns="0" rtlCol="0">
            <a:spAutoFit/>
          </a:bodyPr>
          <a:lstStyle/>
          <a:p>
            <a:pPr algn="ctr">
              <a:lnSpc>
                <a:spcPct val="100000"/>
              </a:lnSpc>
              <a:spcBef>
                <a:spcPts val="1925"/>
              </a:spcBef>
            </a:pPr>
            <a:r>
              <a:rPr sz="2200" spc="240" dirty="0">
                <a:solidFill>
                  <a:srgbClr val="EFECE7"/>
                </a:solidFill>
                <a:latin typeface="Calibri"/>
                <a:cs typeface="Calibri"/>
              </a:rPr>
              <a:t>Behaviour</a:t>
            </a:r>
            <a:endParaRPr sz="2200" dirty="0">
              <a:latin typeface="Calibri"/>
              <a:cs typeface="Calibri"/>
            </a:endParaRPr>
          </a:p>
        </p:txBody>
      </p:sp>
      <p:sp>
        <p:nvSpPr>
          <p:cNvPr id="8" name="object 8"/>
          <p:cNvSpPr txBox="1"/>
          <p:nvPr/>
        </p:nvSpPr>
        <p:spPr>
          <a:xfrm>
            <a:off x="9877271" y="7750881"/>
            <a:ext cx="4243705" cy="890905"/>
          </a:xfrm>
          <a:prstGeom prst="rect">
            <a:avLst/>
          </a:prstGeom>
          <a:solidFill>
            <a:srgbClr val="E3AB2E"/>
          </a:solidFill>
        </p:spPr>
        <p:txBody>
          <a:bodyPr vert="horz" wrap="square" lIns="0" tIns="244475" rIns="0" bIns="0" rtlCol="0">
            <a:spAutoFit/>
          </a:bodyPr>
          <a:lstStyle/>
          <a:p>
            <a:pPr marL="882015">
              <a:lnSpc>
                <a:spcPct val="100000"/>
              </a:lnSpc>
              <a:spcBef>
                <a:spcPts val="1925"/>
              </a:spcBef>
            </a:pPr>
            <a:r>
              <a:rPr sz="2200" spc="215" dirty="0">
                <a:solidFill>
                  <a:srgbClr val="EFECE7"/>
                </a:solidFill>
                <a:latin typeface="Calibri"/>
                <a:cs typeface="Calibri"/>
              </a:rPr>
              <a:t>Mental</a:t>
            </a:r>
            <a:r>
              <a:rPr sz="2200" spc="95" dirty="0">
                <a:solidFill>
                  <a:srgbClr val="EFECE7"/>
                </a:solidFill>
                <a:latin typeface="Calibri"/>
                <a:cs typeface="Calibri"/>
              </a:rPr>
              <a:t> </a:t>
            </a:r>
            <a:r>
              <a:rPr sz="2200" spc="245" dirty="0">
                <a:solidFill>
                  <a:srgbClr val="EFECE7"/>
                </a:solidFill>
                <a:latin typeface="Calibri"/>
                <a:cs typeface="Calibri"/>
              </a:rPr>
              <a:t>Processes</a:t>
            </a:r>
            <a:endParaRPr sz="2200" dirty="0">
              <a:latin typeface="Calibri"/>
              <a:cs typeface="Calibri"/>
            </a:endParaRPr>
          </a:p>
        </p:txBody>
      </p:sp>
      <p:sp>
        <p:nvSpPr>
          <p:cNvPr id="9" name="object 9"/>
          <p:cNvSpPr txBox="1">
            <a:spLocks noGrp="1"/>
          </p:cNvSpPr>
          <p:nvPr>
            <p:ph type="title"/>
          </p:nvPr>
        </p:nvSpPr>
        <p:spPr>
          <a:xfrm>
            <a:off x="3040508" y="546718"/>
            <a:ext cx="12207240" cy="1991995"/>
          </a:xfrm>
          <a:prstGeom prst="rect">
            <a:avLst/>
          </a:prstGeom>
        </p:spPr>
        <p:txBody>
          <a:bodyPr vert="horz" wrap="square" lIns="0" tIns="369570" rIns="0" bIns="0" rtlCol="0">
            <a:spAutoFit/>
          </a:bodyPr>
          <a:lstStyle/>
          <a:p>
            <a:pPr marL="12700">
              <a:lnSpc>
                <a:spcPct val="100000"/>
              </a:lnSpc>
              <a:spcBef>
                <a:spcPts val="2910"/>
              </a:spcBef>
            </a:pPr>
            <a:r>
              <a:rPr sz="6200" spc="665" dirty="0">
                <a:solidFill>
                  <a:srgbClr val="F9BF40"/>
                </a:solidFill>
              </a:rPr>
              <a:t>DEFINITION</a:t>
            </a:r>
            <a:r>
              <a:rPr sz="6200" spc="305" dirty="0">
                <a:solidFill>
                  <a:srgbClr val="F9BF40"/>
                </a:solidFill>
              </a:rPr>
              <a:t> </a:t>
            </a:r>
            <a:r>
              <a:rPr sz="6200" spc="965" dirty="0">
                <a:solidFill>
                  <a:srgbClr val="F9BF40"/>
                </a:solidFill>
              </a:rPr>
              <a:t>OF</a:t>
            </a:r>
            <a:r>
              <a:rPr sz="6200" spc="305" dirty="0">
                <a:solidFill>
                  <a:srgbClr val="F9BF40"/>
                </a:solidFill>
              </a:rPr>
              <a:t> </a:t>
            </a:r>
            <a:r>
              <a:rPr sz="6200" spc="1140" dirty="0">
                <a:solidFill>
                  <a:srgbClr val="F9BF40"/>
                </a:solidFill>
              </a:rPr>
              <a:t>PSYCHOLOGY</a:t>
            </a:r>
            <a:endParaRPr sz="6200" dirty="0"/>
          </a:p>
          <a:p>
            <a:pPr marL="243840">
              <a:lnSpc>
                <a:spcPct val="100000"/>
              </a:lnSpc>
              <a:spcBef>
                <a:spcPts val="1445"/>
              </a:spcBef>
            </a:pPr>
            <a:r>
              <a:rPr sz="3150" b="0" spc="-95" dirty="0">
                <a:solidFill>
                  <a:srgbClr val="494949"/>
                </a:solidFill>
                <a:latin typeface="Arial Black"/>
                <a:cs typeface="Arial Black"/>
              </a:rPr>
              <a:t>The</a:t>
            </a:r>
            <a:r>
              <a:rPr sz="3150" b="0" spc="-270" dirty="0">
                <a:solidFill>
                  <a:srgbClr val="494949"/>
                </a:solidFill>
                <a:latin typeface="Arial Black"/>
                <a:cs typeface="Arial Black"/>
              </a:rPr>
              <a:t> </a:t>
            </a:r>
            <a:r>
              <a:rPr sz="3150" b="0" spc="-50" dirty="0">
                <a:solidFill>
                  <a:srgbClr val="494949"/>
                </a:solidFill>
                <a:latin typeface="Arial Black"/>
                <a:cs typeface="Arial Black"/>
              </a:rPr>
              <a:t>scientific</a:t>
            </a:r>
            <a:r>
              <a:rPr sz="3150" b="0" spc="-270" dirty="0">
                <a:solidFill>
                  <a:srgbClr val="494949"/>
                </a:solidFill>
                <a:latin typeface="Arial Black"/>
                <a:cs typeface="Arial Black"/>
              </a:rPr>
              <a:t> </a:t>
            </a:r>
            <a:r>
              <a:rPr sz="3150" b="0" spc="-10" dirty="0">
                <a:solidFill>
                  <a:srgbClr val="494949"/>
                </a:solidFill>
                <a:latin typeface="Arial Black"/>
                <a:cs typeface="Arial Black"/>
              </a:rPr>
              <a:t>study</a:t>
            </a:r>
            <a:r>
              <a:rPr sz="3150" b="0" spc="-270" dirty="0">
                <a:solidFill>
                  <a:srgbClr val="494949"/>
                </a:solidFill>
                <a:latin typeface="Arial Black"/>
                <a:cs typeface="Arial Black"/>
              </a:rPr>
              <a:t> </a:t>
            </a:r>
            <a:r>
              <a:rPr sz="3150" b="0" spc="95" dirty="0">
                <a:solidFill>
                  <a:srgbClr val="494949"/>
                </a:solidFill>
                <a:latin typeface="Arial Black"/>
                <a:cs typeface="Arial Black"/>
              </a:rPr>
              <a:t>of</a:t>
            </a:r>
            <a:r>
              <a:rPr sz="3150" b="0" spc="-270" dirty="0">
                <a:solidFill>
                  <a:srgbClr val="494949"/>
                </a:solidFill>
                <a:latin typeface="Arial Black"/>
                <a:cs typeface="Arial Black"/>
              </a:rPr>
              <a:t> </a:t>
            </a:r>
            <a:r>
              <a:rPr sz="3150" b="0" spc="-25" dirty="0">
                <a:solidFill>
                  <a:srgbClr val="494949"/>
                </a:solidFill>
                <a:latin typeface="Arial Black"/>
                <a:cs typeface="Arial Black"/>
              </a:rPr>
              <a:t>behavior</a:t>
            </a:r>
            <a:r>
              <a:rPr sz="3150" b="0" spc="-270" dirty="0">
                <a:solidFill>
                  <a:srgbClr val="494949"/>
                </a:solidFill>
                <a:latin typeface="Arial Black"/>
                <a:cs typeface="Arial Black"/>
              </a:rPr>
              <a:t> </a:t>
            </a:r>
            <a:r>
              <a:rPr sz="3150" b="0" spc="-10" dirty="0">
                <a:solidFill>
                  <a:srgbClr val="494949"/>
                </a:solidFill>
                <a:latin typeface="Arial Black"/>
                <a:cs typeface="Arial Black"/>
              </a:rPr>
              <a:t>and</a:t>
            </a:r>
            <a:r>
              <a:rPr sz="3150" b="0" spc="-270" dirty="0">
                <a:solidFill>
                  <a:srgbClr val="494949"/>
                </a:solidFill>
                <a:latin typeface="Arial Black"/>
                <a:cs typeface="Arial Black"/>
              </a:rPr>
              <a:t> </a:t>
            </a:r>
            <a:r>
              <a:rPr sz="3150" b="0" spc="-35" dirty="0">
                <a:solidFill>
                  <a:srgbClr val="494949"/>
                </a:solidFill>
                <a:latin typeface="Arial Black"/>
                <a:cs typeface="Arial Black"/>
              </a:rPr>
              <a:t>mental</a:t>
            </a:r>
            <a:r>
              <a:rPr sz="3150" b="0" spc="-270" dirty="0">
                <a:solidFill>
                  <a:srgbClr val="494949"/>
                </a:solidFill>
                <a:latin typeface="Arial Black"/>
                <a:cs typeface="Arial Black"/>
              </a:rPr>
              <a:t> </a:t>
            </a:r>
            <a:r>
              <a:rPr sz="3150" b="0" spc="-10" dirty="0">
                <a:solidFill>
                  <a:srgbClr val="494949"/>
                </a:solidFill>
                <a:latin typeface="Arial Black"/>
                <a:cs typeface="Arial Black"/>
              </a:rPr>
              <a:t>processes</a:t>
            </a:r>
            <a:endParaRPr sz="3150" dirty="0">
              <a:latin typeface="Arial Black"/>
              <a:cs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23473" y="9267825"/>
            <a:ext cx="13697585" cy="0"/>
          </a:xfrm>
          <a:custGeom>
            <a:avLst/>
            <a:gdLst/>
            <a:ahLst/>
            <a:cxnLst/>
            <a:rect l="l" t="t" r="r" b="b"/>
            <a:pathLst>
              <a:path w="13697585">
                <a:moveTo>
                  <a:pt x="0" y="0"/>
                </a:moveTo>
                <a:lnTo>
                  <a:pt x="13697084" y="0"/>
                </a:lnTo>
              </a:path>
            </a:pathLst>
          </a:custGeom>
          <a:ln w="19049">
            <a:solidFill>
              <a:srgbClr val="F9BF40"/>
            </a:solidFill>
          </a:ln>
        </p:spPr>
        <p:txBody>
          <a:bodyPr wrap="square" lIns="0" tIns="0" rIns="0" bIns="0" rtlCol="0"/>
          <a:lstStyle/>
          <a:p>
            <a:endParaRPr dirty="0"/>
          </a:p>
        </p:txBody>
      </p:sp>
      <p:sp>
        <p:nvSpPr>
          <p:cNvPr id="3" name="object 3"/>
          <p:cNvSpPr txBox="1">
            <a:spLocks noGrp="1"/>
          </p:cNvSpPr>
          <p:nvPr>
            <p:ph type="title"/>
          </p:nvPr>
        </p:nvSpPr>
        <p:spPr>
          <a:xfrm>
            <a:off x="1310773" y="1114299"/>
            <a:ext cx="5009515" cy="894080"/>
          </a:xfrm>
          <a:prstGeom prst="rect">
            <a:avLst/>
          </a:prstGeom>
        </p:spPr>
        <p:txBody>
          <a:bodyPr vert="horz" wrap="square" lIns="0" tIns="12700" rIns="0" bIns="0" rtlCol="0">
            <a:spAutoFit/>
          </a:bodyPr>
          <a:lstStyle/>
          <a:p>
            <a:pPr marL="12700">
              <a:lnSpc>
                <a:spcPct val="100000"/>
              </a:lnSpc>
              <a:spcBef>
                <a:spcPts val="100"/>
              </a:spcBef>
            </a:pPr>
            <a:r>
              <a:rPr sz="5700" spc="-25" dirty="0">
                <a:latin typeface="Tahoma"/>
                <a:cs typeface="Tahoma"/>
              </a:rPr>
              <a:t>PSYCHOLOGY</a:t>
            </a:r>
            <a:endParaRPr sz="5700" dirty="0">
              <a:latin typeface="Tahoma"/>
              <a:cs typeface="Tahoma"/>
            </a:endParaRPr>
          </a:p>
        </p:txBody>
      </p:sp>
      <p:sp>
        <p:nvSpPr>
          <p:cNvPr id="4" name="object 4"/>
          <p:cNvSpPr txBox="1"/>
          <p:nvPr/>
        </p:nvSpPr>
        <p:spPr>
          <a:xfrm>
            <a:off x="2006445" y="3206750"/>
            <a:ext cx="13895705" cy="4118610"/>
          </a:xfrm>
          <a:prstGeom prst="rect">
            <a:avLst/>
          </a:prstGeom>
        </p:spPr>
        <p:txBody>
          <a:bodyPr vert="horz" wrap="square" lIns="0" tIns="12700" rIns="0" bIns="0" rtlCol="0">
            <a:spAutoFit/>
          </a:bodyPr>
          <a:lstStyle/>
          <a:p>
            <a:pPr marL="12700">
              <a:lnSpc>
                <a:spcPct val="100000"/>
              </a:lnSpc>
              <a:spcBef>
                <a:spcPts val="100"/>
              </a:spcBef>
            </a:pPr>
            <a:r>
              <a:rPr sz="6000" b="1" spc="735" dirty="0">
                <a:solidFill>
                  <a:srgbClr val="F9BF40"/>
                </a:solidFill>
                <a:latin typeface="Calibri"/>
                <a:cs typeface="Calibri"/>
              </a:rPr>
              <a:t>DESCRIBE</a:t>
            </a:r>
            <a:endParaRPr sz="6000" dirty="0">
              <a:latin typeface="Calibri"/>
              <a:cs typeface="Calibri"/>
            </a:endParaRPr>
          </a:p>
          <a:p>
            <a:pPr marR="15240" algn="ctr">
              <a:lnSpc>
                <a:spcPct val="100000"/>
              </a:lnSpc>
              <a:spcBef>
                <a:spcPts val="5500"/>
              </a:spcBef>
            </a:pPr>
            <a:r>
              <a:rPr sz="6000" b="1" spc="710" dirty="0">
                <a:solidFill>
                  <a:srgbClr val="F9BF40"/>
                </a:solidFill>
                <a:latin typeface="Calibri"/>
                <a:cs typeface="Calibri"/>
              </a:rPr>
              <a:t>PREDICT</a:t>
            </a:r>
            <a:endParaRPr sz="6000" dirty="0">
              <a:latin typeface="Calibri"/>
              <a:cs typeface="Calibri"/>
            </a:endParaRPr>
          </a:p>
          <a:p>
            <a:pPr marR="5080" algn="r">
              <a:lnSpc>
                <a:spcPct val="100000"/>
              </a:lnSpc>
              <a:spcBef>
                <a:spcPts val="5130"/>
              </a:spcBef>
            </a:pPr>
            <a:r>
              <a:rPr sz="6000" b="1" spc="830" dirty="0">
                <a:solidFill>
                  <a:srgbClr val="F9BF40"/>
                </a:solidFill>
                <a:latin typeface="Calibri"/>
                <a:cs typeface="Calibri"/>
              </a:rPr>
              <a:t>EXPLAIN</a:t>
            </a:r>
            <a:endParaRPr sz="60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0" y="0"/>
              <a:ext cx="9144000" cy="10287000"/>
            </a:xfrm>
            <a:custGeom>
              <a:avLst/>
              <a:gdLst/>
              <a:ahLst/>
              <a:cxnLst/>
              <a:rect l="l" t="t" r="r" b="b"/>
              <a:pathLst>
                <a:path w="9144000" h="10287000">
                  <a:moveTo>
                    <a:pt x="9143999" y="10286999"/>
                  </a:moveTo>
                  <a:lnTo>
                    <a:pt x="0" y="10286999"/>
                  </a:lnTo>
                  <a:lnTo>
                    <a:pt x="0" y="0"/>
                  </a:lnTo>
                  <a:lnTo>
                    <a:pt x="9143999" y="0"/>
                  </a:lnTo>
                  <a:lnTo>
                    <a:pt x="9143999" y="10286999"/>
                  </a:lnTo>
                  <a:close/>
                </a:path>
              </a:pathLst>
            </a:custGeom>
            <a:solidFill>
              <a:srgbClr val="FFD372">
                <a:alpha val="17649"/>
              </a:srgbClr>
            </a:solidFill>
          </p:spPr>
          <p:txBody>
            <a:bodyPr wrap="square" lIns="0" tIns="0" rIns="0" bIns="0" rtlCol="0"/>
            <a:lstStyle/>
            <a:p>
              <a:endParaRPr dirty="0"/>
            </a:p>
          </p:txBody>
        </p:sp>
        <p:sp>
          <p:nvSpPr>
            <p:cNvPr id="4" name="object 4"/>
            <p:cNvSpPr/>
            <p:nvPr/>
          </p:nvSpPr>
          <p:spPr>
            <a:xfrm>
              <a:off x="9144000" y="0"/>
              <a:ext cx="9144000" cy="10287000"/>
            </a:xfrm>
            <a:custGeom>
              <a:avLst/>
              <a:gdLst/>
              <a:ahLst/>
              <a:cxnLst/>
              <a:rect l="l" t="t" r="r" b="b"/>
              <a:pathLst>
                <a:path w="9144000" h="10287000">
                  <a:moveTo>
                    <a:pt x="9143999" y="10286999"/>
                  </a:moveTo>
                  <a:lnTo>
                    <a:pt x="0" y="10286999"/>
                  </a:lnTo>
                  <a:lnTo>
                    <a:pt x="0" y="0"/>
                  </a:lnTo>
                  <a:lnTo>
                    <a:pt x="9143999" y="0"/>
                  </a:lnTo>
                  <a:lnTo>
                    <a:pt x="9143999" y="10286999"/>
                  </a:lnTo>
                  <a:close/>
                </a:path>
              </a:pathLst>
            </a:custGeom>
            <a:solidFill>
              <a:srgbClr val="DDDDDD">
                <a:alpha val="17649"/>
              </a:srgbClr>
            </a:solidFill>
          </p:spPr>
          <p:txBody>
            <a:bodyPr wrap="square" lIns="0" tIns="0" rIns="0" bIns="0" rtlCol="0"/>
            <a:lstStyle/>
            <a:p>
              <a:endParaRPr dirty="0"/>
            </a:p>
          </p:txBody>
        </p:sp>
      </p:grpSp>
      <p:sp>
        <p:nvSpPr>
          <p:cNvPr id="5" name="object 5"/>
          <p:cNvSpPr txBox="1">
            <a:spLocks noGrp="1"/>
          </p:cNvSpPr>
          <p:nvPr>
            <p:ph type="title"/>
          </p:nvPr>
        </p:nvSpPr>
        <p:spPr>
          <a:xfrm>
            <a:off x="7131651" y="911144"/>
            <a:ext cx="3812540" cy="960119"/>
          </a:xfrm>
          <a:prstGeom prst="rect">
            <a:avLst/>
          </a:prstGeom>
        </p:spPr>
        <p:txBody>
          <a:bodyPr vert="horz" wrap="square" lIns="0" tIns="16510" rIns="0" bIns="0" rtlCol="0">
            <a:spAutoFit/>
          </a:bodyPr>
          <a:lstStyle/>
          <a:p>
            <a:pPr marL="12700">
              <a:lnSpc>
                <a:spcPct val="100000"/>
              </a:lnSpc>
              <a:spcBef>
                <a:spcPts val="130"/>
              </a:spcBef>
            </a:pPr>
            <a:r>
              <a:rPr sz="6100" spc="825" dirty="0"/>
              <a:t>ACTIVITY</a:t>
            </a:r>
            <a:endParaRPr sz="6100" dirty="0"/>
          </a:p>
        </p:txBody>
      </p:sp>
      <p:sp>
        <p:nvSpPr>
          <p:cNvPr id="6" name="object 6"/>
          <p:cNvSpPr txBox="1"/>
          <p:nvPr/>
        </p:nvSpPr>
        <p:spPr>
          <a:xfrm>
            <a:off x="1647501" y="3399936"/>
            <a:ext cx="5848985" cy="4359275"/>
          </a:xfrm>
          <a:prstGeom prst="rect">
            <a:avLst/>
          </a:prstGeom>
        </p:spPr>
        <p:txBody>
          <a:bodyPr vert="horz" wrap="square" lIns="0" tIns="12065" rIns="0" bIns="0" rtlCol="0">
            <a:spAutoFit/>
          </a:bodyPr>
          <a:lstStyle/>
          <a:p>
            <a:pPr marL="12065" marR="5080" algn="ctr">
              <a:lnSpc>
                <a:spcPct val="125000"/>
              </a:lnSpc>
              <a:spcBef>
                <a:spcPts val="95"/>
              </a:spcBef>
            </a:pPr>
            <a:r>
              <a:rPr sz="4550" spc="-140" dirty="0">
                <a:solidFill>
                  <a:srgbClr val="494949"/>
                </a:solidFill>
                <a:latin typeface="Arial Black"/>
                <a:cs typeface="Arial Black"/>
              </a:rPr>
              <a:t>Geniuses</a:t>
            </a:r>
            <a:r>
              <a:rPr sz="4550" spc="-400" dirty="0">
                <a:solidFill>
                  <a:srgbClr val="494949"/>
                </a:solidFill>
                <a:latin typeface="Arial Black"/>
                <a:cs typeface="Arial Black"/>
              </a:rPr>
              <a:t> </a:t>
            </a:r>
            <a:r>
              <a:rPr sz="4550" spc="-30" dirty="0">
                <a:solidFill>
                  <a:srgbClr val="494949"/>
                </a:solidFill>
                <a:latin typeface="Arial Black"/>
                <a:cs typeface="Arial Black"/>
              </a:rPr>
              <a:t>generally </a:t>
            </a:r>
            <a:r>
              <a:rPr sz="4550" spc="-80" dirty="0">
                <a:solidFill>
                  <a:srgbClr val="494949"/>
                </a:solidFill>
                <a:latin typeface="Arial Black"/>
                <a:cs typeface="Arial Black"/>
              </a:rPr>
              <a:t>have</a:t>
            </a:r>
            <a:r>
              <a:rPr sz="4550" spc="-420" dirty="0">
                <a:solidFill>
                  <a:srgbClr val="494949"/>
                </a:solidFill>
                <a:latin typeface="Arial Black"/>
                <a:cs typeface="Arial Black"/>
              </a:rPr>
              <a:t> </a:t>
            </a:r>
            <a:r>
              <a:rPr sz="4550" spc="50" dirty="0">
                <a:solidFill>
                  <a:srgbClr val="494949"/>
                </a:solidFill>
                <a:latin typeface="Arial Black"/>
                <a:cs typeface="Arial Black"/>
              </a:rPr>
              <a:t>poor</a:t>
            </a:r>
            <a:r>
              <a:rPr sz="4550" spc="-420" dirty="0">
                <a:solidFill>
                  <a:srgbClr val="494949"/>
                </a:solidFill>
                <a:latin typeface="Arial Black"/>
                <a:cs typeface="Arial Black"/>
              </a:rPr>
              <a:t> </a:t>
            </a:r>
            <a:r>
              <a:rPr sz="4550" spc="-10" dirty="0">
                <a:solidFill>
                  <a:srgbClr val="494949"/>
                </a:solidFill>
                <a:latin typeface="Arial Black"/>
                <a:cs typeface="Arial Black"/>
              </a:rPr>
              <a:t>social adjustment.</a:t>
            </a:r>
            <a:endParaRPr sz="4550" dirty="0">
              <a:latin typeface="Arial Black"/>
              <a:cs typeface="Arial Black"/>
            </a:endParaRPr>
          </a:p>
          <a:p>
            <a:pPr algn="ctr">
              <a:lnSpc>
                <a:spcPct val="100000"/>
              </a:lnSpc>
              <a:spcBef>
                <a:spcPts val="1365"/>
              </a:spcBef>
            </a:pPr>
            <a:r>
              <a:rPr sz="4550" spc="-85" dirty="0">
                <a:solidFill>
                  <a:srgbClr val="494949"/>
                </a:solidFill>
                <a:latin typeface="Arial Black"/>
                <a:cs typeface="Arial Black"/>
              </a:rPr>
              <a:t>True</a:t>
            </a:r>
            <a:r>
              <a:rPr sz="4550" spc="-400" dirty="0">
                <a:solidFill>
                  <a:srgbClr val="494949"/>
                </a:solidFill>
                <a:latin typeface="Arial Black"/>
                <a:cs typeface="Arial Black"/>
              </a:rPr>
              <a:t> </a:t>
            </a:r>
            <a:r>
              <a:rPr sz="4550" dirty="0">
                <a:solidFill>
                  <a:srgbClr val="494949"/>
                </a:solidFill>
                <a:latin typeface="Arial Black"/>
                <a:cs typeface="Arial Black"/>
              </a:rPr>
              <a:t>or</a:t>
            </a:r>
            <a:r>
              <a:rPr sz="4550" spc="-395" dirty="0">
                <a:solidFill>
                  <a:srgbClr val="494949"/>
                </a:solidFill>
                <a:latin typeface="Arial Black"/>
                <a:cs typeface="Arial Black"/>
              </a:rPr>
              <a:t> </a:t>
            </a:r>
            <a:r>
              <a:rPr sz="4550" spc="-10" dirty="0">
                <a:solidFill>
                  <a:srgbClr val="494949"/>
                </a:solidFill>
                <a:latin typeface="Arial Black"/>
                <a:cs typeface="Arial Black"/>
              </a:rPr>
              <a:t>false?</a:t>
            </a:r>
            <a:endParaRPr sz="4550" dirty="0">
              <a:latin typeface="Arial Black"/>
              <a:cs typeface="Arial Black"/>
            </a:endParaRPr>
          </a:p>
          <a:p>
            <a:pPr algn="ctr">
              <a:lnSpc>
                <a:spcPct val="100000"/>
              </a:lnSpc>
              <a:spcBef>
                <a:spcPts val="1365"/>
              </a:spcBef>
            </a:pPr>
            <a:r>
              <a:rPr sz="4550" spc="-90" dirty="0">
                <a:solidFill>
                  <a:srgbClr val="494949"/>
                </a:solidFill>
                <a:latin typeface="Arial Black"/>
                <a:cs typeface="Arial Black"/>
              </a:rPr>
              <a:t>__________</a:t>
            </a:r>
            <a:endParaRPr sz="4550" dirty="0">
              <a:latin typeface="Arial Black"/>
              <a:cs typeface="Arial Black"/>
            </a:endParaRPr>
          </a:p>
        </p:txBody>
      </p:sp>
      <p:sp>
        <p:nvSpPr>
          <p:cNvPr id="7" name="object 7"/>
          <p:cNvSpPr txBox="1"/>
          <p:nvPr/>
        </p:nvSpPr>
        <p:spPr>
          <a:xfrm>
            <a:off x="11094239" y="2533162"/>
            <a:ext cx="5840730" cy="6092825"/>
          </a:xfrm>
          <a:prstGeom prst="rect">
            <a:avLst/>
          </a:prstGeom>
        </p:spPr>
        <p:txBody>
          <a:bodyPr vert="horz" wrap="square" lIns="0" tIns="12065" rIns="0" bIns="0" rtlCol="0">
            <a:spAutoFit/>
          </a:bodyPr>
          <a:lstStyle/>
          <a:p>
            <a:pPr marL="12065" marR="5080" algn="ctr">
              <a:lnSpc>
                <a:spcPct val="125000"/>
              </a:lnSpc>
              <a:spcBef>
                <a:spcPts val="95"/>
              </a:spcBef>
            </a:pPr>
            <a:r>
              <a:rPr sz="4550" spc="-75" dirty="0">
                <a:solidFill>
                  <a:srgbClr val="494949"/>
                </a:solidFill>
                <a:latin typeface="Arial Black"/>
                <a:cs typeface="Arial Black"/>
              </a:rPr>
              <a:t>Most</a:t>
            </a:r>
            <a:r>
              <a:rPr sz="4550" spc="-420" dirty="0">
                <a:solidFill>
                  <a:srgbClr val="494949"/>
                </a:solidFill>
                <a:latin typeface="Arial Black"/>
                <a:cs typeface="Arial Black"/>
              </a:rPr>
              <a:t> </a:t>
            </a:r>
            <a:r>
              <a:rPr sz="4550" spc="-10" dirty="0">
                <a:solidFill>
                  <a:srgbClr val="494949"/>
                </a:solidFill>
                <a:latin typeface="Arial Black"/>
                <a:cs typeface="Arial Black"/>
              </a:rPr>
              <a:t>people</a:t>
            </a:r>
            <a:r>
              <a:rPr sz="4550" spc="-415" dirty="0">
                <a:solidFill>
                  <a:srgbClr val="494949"/>
                </a:solidFill>
                <a:latin typeface="Arial Black"/>
                <a:cs typeface="Arial Black"/>
              </a:rPr>
              <a:t> </a:t>
            </a:r>
            <a:r>
              <a:rPr sz="4550" spc="-10" dirty="0">
                <a:solidFill>
                  <a:srgbClr val="494949"/>
                </a:solidFill>
                <a:latin typeface="Arial Black"/>
                <a:cs typeface="Arial Black"/>
              </a:rPr>
              <a:t>would </a:t>
            </a:r>
            <a:r>
              <a:rPr sz="4550" spc="-40" dirty="0">
                <a:solidFill>
                  <a:srgbClr val="494949"/>
                </a:solidFill>
                <a:latin typeface="Arial Black"/>
                <a:cs typeface="Arial Black"/>
              </a:rPr>
              <a:t>refuse</a:t>
            </a:r>
            <a:r>
              <a:rPr sz="4550" spc="-380" dirty="0">
                <a:solidFill>
                  <a:srgbClr val="494949"/>
                </a:solidFill>
                <a:latin typeface="Arial Black"/>
                <a:cs typeface="Arial Black"/>
              </a:rPr>
              <a:t> </a:t>
            </a:r>
            <a:r>
              <a:rPr sz="4550" dirty="0">
                <a:solidFill>
                  <a:srgbClr val="494949"/>
                </a:solidFill>
                <a:latin typeface="Arial Black"/>
                <a:cs typeface="Arial Black"/>
              </a:rPr>
              <a:t>to</a:t>
            </a:r>
            <a:r>
              <a:rPr sz="4550" spc="-375" dirty="0">
                <a:solidFill>
                  <a:srgbClr val="494949"/>
                </a:solidFill>
                <a:latin typeface="Arial Black"/>
                <a:cs typeface="Arial Black"/>
              </a:rPr>
              <a:t> </a:t>
            </a:r>
            <a:r>
              <a:rPr sz="4550" spc="-20" dirty="0">
                <a:solidFill>
                  <a:srgbClr val="494949"/>
                </a:solidFill>
                <a:latin typeface="Arial Black"/>
                <a:cs typeface="Arial Black"/>
              </a:rPr>
              <a:t>give </a:t>
            </a:r>
            <a:r>
              <a:rPr sz="4550" spc="-10" dirty="0">
                <a:solidFill>
                  <a:srgbClr val="494949"/>
                </a:solidFill>
                <a:latin typeface="Arial Black"/>
                <a:cs typeface="Arial Black"/>
              </a:rPr>
              <a:t>painful</a:t>
            </a:r>
            <a:r>
              <a:rPr sz="4550" spc="-445" dirty="0">
                <a:solidFill>
                  <a:srgbClr val="494949"/>
                </a:solidFill>
                <a:latin typeface="Arial Black"/>
                <a:cs typeface="Arial Black"/>
              </a:rPr>
              <a:t> </a:t>
            </a:r>
            <a:r>
              <a:rPr sz="4550" spc="-10" dirty="0">
                <a:solidFill>
                  <a:srgbClr val="494949"/>
                </a:solidFill>
                <a:latin typeface="Arial Black"/>
                <a:cs typeface="Arial Black"/>
              </a:rPr>
              <a:t>electric </a:t>
            </a:r>
            <a:r>
              <a:rPr sz="4550" spc="-160" dirty="0">
                <a:solidFill>
                  <a:srgbClr val="494949"/>
                </a:solidFill>
                <a:latin typeface="Arial Black"/>
                <a:cs typeface="Arial Black"/>
              </a:rPr>
              <a:t>shocks</a:t>
            </a:r>
            <a:r>
              <a:rPr sz="4550" spc="-375" dirty="0">
                <a:solidFill>
                  <a:srgbClr val="494949"/>
                </a:solidFill>
                <a:latin typeface="Arial Black"/>
                <a:cs typeface="Arial Black"/>
              </a:rPr>
              <a:t> </a:t>
            </a:r>
            <a:r>
              <a:rPr sz="4550" dirty="0">
                <a:solidFill>
                  <a:srgbClr val="494949"/>
                </a:solidFill>
                <a:latin typeface="Arial Black"/>
                <a:cs typeface="Arial Black"/>
              </a:rPr>
              <a:t>to</a:t>
            </a:r>
            <a:r>
              <a:rPr sz="4550" spc="-370" dirty="0">
                <a:solidFill>
                  <a:srgbClr val="494949"/>
                </a:solidFill>
                <a:latin typeface="Arial Black"/>
                <a:cs typeface="Arial Black"/>
              </a:rPr>
              <a:t> </a:t>
            </a:r>
            <a:r>
              <a:rPr sz="4550" spc="-10" dirty="0">
                <a:solidFill>
                  <a:srgbClr val="494949"/>
                </a:solidFill>
                <a:latin typeface="Arial Black"/>
                <a:cs typeface="Arial Black"/>
              </a:rPr>
              <a:t>other people.</a:t>
            </a:r>
            <a:endParaRPr sz="4550" dirty="0">
              <a:latin typeface="Arial Black"/>
              <a:cs typeface="Arial Black"/>
            </a:endParaRPr>
          </a:p>
          <a:p>
            <a:pPr algn="ctr">
              <a:lnSpc>
                <a:spcPct val="100000"/>
              </a:lnSpc>
              <a:spcBef>
                <a:spcPts val="1365"/>
              </a:spcBef>
            </a:pPr>
            <a:r>
              <a:rPr sz="4550" spc="-85" dirty="0">
                <a:solidFill>
                  <a:srgbClr val="494949"/>
                </a:solidFill>
                <a:latin typeface="Arial Black"/>
                <a:cs typeface="Arial Black"/>
              </a:rPr>
              <a:t>True</a:t>
            </a:r>
            <a:r>
              <a:rPr sz="4550" spc="-400" dirty="0">
                <a:solidFill>
                  <a:srgbClr val="494949"/>
                </a:solidFill>
                <a:latin typeface="Arial Black"/>
                <a:cs typeface="Arial Black"/>
              </a:rPr>
              <a:t> </a:t>
            </a:r>
            <a:r>
              <a:rPr sz="4550" dirty="0">
                <a:solidFill>
                  <a:srgbClr val="494949"/>
                </a:solidFill>
                <a:latin typeface="Arial Black"/>
                <a:cs typeface="Arial Black"/>
              </a:rPr>
              <a:t>or</a:t>
            </a:r>
            <a:r>
              <a:rPr sz="4550" spc="-395" dirty="0">
                <a:solidFill>
                  <a:srgbClr val="494949"/>
                </a:solidFill>
                <a:latin typeface="Arial Black"/>
                <a:cs typeface="Arial Black"/>
              </a:rPr>
              <a:t> </a:t>
            </a:r>
            <a:r>
              <a:rPr sz="4550" spc="-10" dirty="0">
                <a:solidFill>
                  <a:srgbClr val="494949"/>
                </a:solidFill>
                <a:latin typeface="Arial Black"/>
                <a:cs typeface="Arial Black"/>
              </a:rPr>
              <a:t>false?</a:t>
            </a:r>
            <a:endParaRPr sz="4550" dirty="0">
              <a:latin typeface="Arial Black"/>
              <a:cs typeface="Arial Black"/>
            </a:endParaRPr>
          </a:p>
          <a:p>
            <a:pPr algn="ctr">
              <a:lnSpc>
                <a:spcPct val="100000"/>
              </a:lnSpc>
              <a:spcBef>
                <a:spcPts val="1365"/>
              </a:spcBef>
            </a:pPr>
            <a:r>
              <a:rPr sz="4550" spc="-90" dirty="0">
                <a:solidFill>
                  <a:srgbClr val="494949"/>
                </a:solidFill>
                <a:latin typeface="Arial Black"/>
                <a:cs typeface="Arial Black"/>
              </a:rPr>
              <a:t>__________</a:t>
            </a:r>
            <a:endParaRPr sz="4550" dirty="0">
              <a:latin typeface="Arial Black"/>
              <a:cs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6490CB17-E20A-09DD-38E4-CBA9DE8E81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00" y="564147"/>
            <a:ext cx="9753600" cy="9454147"/>
          </a:xfrm>
          <a:prstGeom prst="rect">
            <a:avLst/>
          </a:prstGeom>
        </p:spPr>
      </p:pic>
    </p:spTree>
    <p:extLst>
      <p:ext uri="{BB962C8B-B14F-4D97-AF65-F5344CB8AC3E}">
        <p14:creationId xmlns:p14="http://schemas.microsoft.com/office/powerpoint/2010/main" val="2207692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5057B-B230-E3A3-FAF6-92C214365DEC}"/>
              </a:ext>
            </a:extLst>
          </p:cNvPr>
          <p:cNvSpPr>
            <a:spLocks noGrp="1"/>
          </p:cNvSpPr>
          <p:nvPr>
            <p:ph type="title"/>
          </p:nvPr>
        </p:nvSpPr>
        <p:spPr>
          <a:xfrm>
            <a:off x="990600" y="1181100"/>
            <a:ext cx="6829425" cy="998854"/>
          </a:xfrm>
        </p:spPr>
        <p:txBody>
          <a:bodyPr/>
          <a:lstStyle/>
          <a:p>
            <a:r>
              <a:rPr lang="en-US" dirty="0"/>
              <a:t>Fields of Psychology</a:t>
            </a:r>
          </a:p>
        </p:txBody>
      </p:sp>
      <p:sp>
        <p:nvSpPr>
          <p:cNvPr id="3" name="Content Placeholder 2">
            <a:extLst>
              <a:ext uri="{FF2B5EF4-FFF2-40B4-BE49-F238E27FC236}">
                <a16:creationId xmlns:a16="http://schemas.microsoft.com/office/drawing/2014/main" id="{8562B3C9-2A45-302B-4333-1E475733291D}"/>
              </a:ext>
            </a:extLst>
          </p:cNvPr>
          <p:cNvSpPr>
            <a:spLocks noGrp="1"/>
          </p:cNvSpPr>
          <p:nvPr>
            <p:ph sz="half" idx="2"/>
          </p:nvPr>
        </p:nvSpPr>
        <p:spPr>
          <a:xfrm>
            <a:off x="1219200" y="3277489"/>
            <a:ext cx="14940238" cy="5539978"/>
          </a:xfrm>
        </p:spPr>
        <p:txBody>
          <a:bodyPr/>
          <a:lstStyle/>
          <a:p>
            <a:pPr marL="914400" indent="-914400" algn="l">
              <a:buFont typeface="Arial" panose="020B0604020202020204" pitchFamily="34" charset="0"/>
              <a:buChar char="•"/>
            </a:pPr>
            <a:r>
              <a:rPr lang="en-GB" b="1" i="0" u="none" strike="noStrike" dirty="0">
                <a:solidFill>
                  <a:srgbClr val="656565"/>
                </a:solidFill>
                <a:effectLst/>
                <a:latin typeface="times" panose="02020603050405020304" pitchFamily="18" charset="0"/>
              </a:rPr>
              <a:t>Psychology</a:t>
            </a:r>
            <a:r>
              <a:rPr lang="en-GB" b="0" i="0" u="none" strike="noStrike" dirty="0">
                <a:solidFill>
                  <a:srgbClr val="656565"/>
                </a:solidFill>
                <a:effectLst/>
                <a:latin typeface="times" panose="02020603050405020304" pitchFamily="18" charset="0"/>
              </a:rPr>
              <a:t> is a </a:t>
            </a:r>
            <a:r>
              <a:rPr lang="en-GB" b="0" i="0" dirty="0">
                <a:solidFill>
                  <a:srgbClr val="000000"/>
                </a:solidFill>
                <a:effectLst/>
                <a:latin typeface="Georgia" panose="02040502050405020303" pitchFamily="18" charset="0"/>
              </a:rPr>
              <a:t>multifaceted discipline </a:t>
            </a:r>
          </a:p>
          <a:p>
            <a:pPr marL="914400" indent="-914400" algn="l">
              <a:buFont typeface="Arial" panose="020B0604020202020204" pitchFamily="34" charset="0"/>
              <a:buChar char="•"/>
            </a:pPr>
            <a:r>
              <a:rPr lang="en-GB" b="0" i="0" u="none" strike="noStrike" dirty="0">
                <a:solidFill>
                  <a:srgbClr val="656565"/>
                </a:solidFill>
                <a:effectLst/>
                <a:latin typeface="times" panose="02020603050405020304" pitchFamily="18" charset="0"/>
              </a:rPr>
              <a:t>It includes many different approaches to the </a:t>
            </a:r>
            <a:r>
              <a:rPr lang="en-GB" b="1" i="0" u="none" strike="noStrike" dirty="0">
                <a:solidFill>
                  <a:srgbClr val="656565"/>
                </a:solidFill>
                <a:effectLst/>
                <a:latin typeface="times" panose="02020603050405020304" pitchFamily="18" charset="0"/>
              </a:rPr>
              <a:t>study of mental processes and behaviour.</a:t>
            </a:r>
            <a:r>
              <a:rPr lang="en-GB" b="0" i="0" u="none" strike="noStrike" dirty="0">
                <a:solidFill>
                  <a:srgbClr val="656565"/>
                </a:solidFill>
                <a:effectLst/>
                <a:latin typeface="times" panose="02020603050405020304" pitchFamily="18" charset="0"/>
              </a:rPr>
              <a:t> </a:t>
            </a:r>
          </a:p>
          <a:p>
            <a:pPr marL="914400" indent="-914400" algn="l">
              <a:buFont typeface="Arial" panose="020B0604020202020204" pitchFamily="34" charset="0"/>
              <a:buChar char="•"/>
            </a:pPr>
            <a:r>
              <a:rPr lang="en-GB" b="0" i="0" u="none" strike="noStrike" dirty="0">
                <a:solidFill>
                  <a:srgbClr val="656565"/>
                </a:solidFill>
                <a:effectLst/>
                <a:latin typeface="times" panose="02020603050405020304" pitchFamily="18" charset="0"/>
              </a:rPr>
              <a:t>According to American Psychological Association (APA)There are </a:t>
            </a:r>
            <a:r>
              <a:rPr lang="en-GB" b="1" dirty="0">
                <a:solidFill>
                  <a:srgbClr val="656565"/>
                </a:solidFill>
                <a:latin typeface="times" panose="02020603050405020304" pitchFamily="18" charset="0"/>
              </a:rPr>
              <a:t>following</a:t>
            </a:r>
            <a:r>
              <a:rPr lang="en-GB" b="1" i="0" u="none" strike="noStrike" dirty="0">
                <a:solidFill>
                  <a:srgbClr val="656565"/>
                </a:solidFill>
                <a:effectLst/>
                <a:latin typeface="times" panose="02020603050405020304" pitchFamily="18" charset="0"/>
              </a:rPr>
              <a:t> main branches of psychology and their definition.</a:t>
            </a:r>
            <a:br>
              <a:rPr lang="en-GB" b="0" i="0" u="none" strike="noStrike" dirty="0">
                <a:solidFill>
                  <a:srgbClr val="656565"/>
                </a:solidFill>
                <a:effectLst/>
                <a:latin typeface="times" panose="02020603050405020304" pitchFamily="18" charset="0"/>
              </a:rPr>
            </a:br>
            <a:endParaRPr lang="en-GB" b="0" i="0" u="none" strike="noStrike" dirty="0">
              <a:solidFill>
                <a:srgbClr val="656565"/>
              </a:solidFill>
              <a:effectLst/>
              <a:latin typeface="Roboto" panose="02000000000000000000" pitchFamily="2" charset="0"/>
            </a:endParaRPr>
          </a:p>
          <a:p>
            <a:endParaRPr lang="en-US" dirty="0"/>
          </a:p>
        </p:txBody>
      </p:sp>
    </p:spTree>
    <p:extLst>
      <p:ext uri="{BB962C8B-B14F-4D97-AF65-F5344CB8AC3E}">
        <p14:creationId xmlns:p14="http://schemas.microsoft.com/office/powerpoint/2010/main" val="51610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7148523"/>
            <a:ext cx="4848860" cy="1736089"/>
          </a:xfrm>
          <a:prstGeom prst="rect">
            <a:avLst/>
          </a:prstGeom>
        </p:spPr>
        <p:txBody>
          <a:bodyPr vert="horz" wrap="square" lIns="0" tIns="162560" rIns="0" bIns="0" rtlCol="0">
            <a:spAutoFit/>
          </a:bodyPr>
          <a:lstStyle/>
          <a:p>
            <a:pPr marL="12700" marR="5080">
              <a:lnSpc>
                <a:spcPts val="6150"/>
              </a:lnSpc>
              <a:spcBef>
                <a:spcPts val="1280"/>
              </a:spcBef>
            </a:pPr>
            <a:r>
              <a:rPr sz="6100" b="1" spc="755" dirty="0">
                <a:solidFill>
                  <a:srgbClr val="F9BF40"/>
                </a:solidFill>
                <a:latin typeface="Calibri"/>
                <a:cs typeface="Calibri"/>
              </a:rPr>
              <a:t>Sub-</a:t>
            </a:r>
            <a:r>
              <a:rPr sz="6100" b="1" spc="375" dirty="0">
                <a:solidFill>
                  <a:srgbClr val="F9BF40"/>
                </a:solidFill>
                <a:latin typeface="Calibri"/>
                <a:cs typeface="Calibri"/>
              </a:rPr>
              <a:t>fields</a:t>
            </a:r>
            <a:r>
              <a:rPr sz="6100" b="1" spc="10" dirty="0">
                <a:solidFill>
                  <a:srgbClr val="F9BF40"/>
                </a:solidFill>
                <a:latin typeface="Calibri"/>
                <a:cs typeface="Calibri"/>
              </a:rPr>
              <a:t> </a:t>
            </a:r>
            <a:r>
              <a:rPr sz="6100" b="1" spc="430" dirty="0">
                <a:solidFill>
                  <a:srgbClr val="F9BF40"/>
                </a:solidFill>
                <a:latin typeface="Calibri"/>
                <a:cs typeface="Calibri"/>
              </a:rPr>
              <a:t>of </a:t>
            </a:r>
            <a:r>
              <a:rPr sz="6100" b="1" spc="600" dirty="0">
                <a:solidFill>
                  <a:srgbClr val="F9BF40"/>
                </a:solidFill>
                <a:latin typeface="Calibri"/>
                <a:cs typeface="Calibri"/>
              </a:rPr>
              <a:t>Psychology</a:t>
            </a:r>
            <a:endParaRPr sz="6100" dirty="0">
              <a:latin typeface="Calibri"/>
              <a:cs typeface="Calibri"/>
            </a:endParaRPr>
          </a:p>
        </p:txBody>
      </p:sp>
      <p:grpSp>
        <p:nvGrpSpPr>
          <p:cNvPr id="3" name="object 3"/>
          <p:cNvGrpSpPr/>
          <p:nvPr/>
        </p:nvGrpSpPr>
        <p:grpSpPr>
          <a:xfrm>
            <a:off x="0" y="1"/>
            <a:ext cx="18282285" cy="5577840"/>
            <a:chOff x="0" y="1"/>
            <a:chExt cx="18282285" cy="5577840"/>
          </a:xfrm>
        </p:grpSpPr>
        <p:sp>
          <p:nvSpPr>
            <p:cNvPr id="4" name="object 4"/>
            <p:cNvSpPr/>
            <p:nvPr/>
          </p:nvSpPr>
          <p:spPr>
            <a:xfrm>
              <a:off x="0" y="1"/>
              <a:ext cx="18282285" cy="4152265"/>
            </a:xfrm>
            <a:custGeom>
              <a:avLst/>
              <a:gdLst/>
              <a:ahLst/>
              <a:cxnLst/>
              <a:rect l="l" t="t" r="r" b="b"/>
              <a:pathLst>
                <a:path w="18282285" h="4152265">
                  <a:moveTo>
                    <a:pt x="18281958" y="4152064"/>
                  </a:moveTo>
                  <a:lnTo>
                    <a:pt x="0" y="4152064"/>
                  </a:lnTo>
                  <a:lnTo>
                    <a:pt x="0" y="0"/>
                  </a:lnTo>
                  <a:lnTo>
                    <a:pt x="18281958" y="0"/>
                  </a:lnTo>
                  <a:lnTo>
                    <a:pt x="18281958" y="4152064"/>
                  </a:lnTo>
                  <a:close/>
                </a:path>
              </a:pathLst>
            </a:custGeom>
            <a:solidFill>
              <a:srgbClr val="E3AB2E"/>
            </a:solidFill>
          </p:spPr>
          <p:txBody>
            <a:bodyPr wrap="square" lIns="0" tIns="0" rIns="0" bIns="0" rtlCol="0"/>
            <a:lstStyle/>
            <a:p>
              <a:endParaRPr dirty="0"/>
            </a:p>
          </p:txBody>
        </p:sp>
        <p:pic>
          <p:nvPicPr>
            <p:cNvPr id="5" name="object 5"/>
            <p:cNvPicPr/>
            <p:nvPr/>
          </p:nvPicPr>
          <p:blipFill>
            <a:blip r:embed="rId3" cstate="print"/>
            <a:stretch>
              <a:fillRect/>
            </a:stretch>
          </p:blipFill>
          <p:spPr>
            <a:xfrm>
              <a:off x="1028700" y="1033964"/>
              <a:ext cx="3809999" cy="4543424"/>
            </a:xfrm>
            <a:prstGeom prst="rect">
              <a:avLst/>
            </a:prstGeom>
          </p:spPr>
        </p:pic>
        <p:pic>
          <p:nvPicPr>
            <p:cNvPr id="6" name="object 6"/>
            <p:cNvPicPr/>
            <p:nvPr/>
          </p:nvPicPr>
          <p:blipFill>
            <a:blip r:embed="rId4" cstate="print"/>
            <a:stretch>
              <a:fillRect/>
            </a:stretch>
          </p:blipFill>
          <p:spPr>
            <a:xfrm>
              <a:off x="5168696" y="1033964"/>
              <a:ext cx="3809999" cy="4543424"/>
            </a:xfrm>
            <a:prstGeom prst="rect">
              <a:avLst/>
            </a:prstGeom>
          </p:spPr>
        </p:pic>
        <p:pic>
          <p:nvPicPr>
            <p:cNvPr id="7" name="object 7"/>
            <p:cNvPicPr/>
            <p:nvPr/>
          </p:nvPicPr>
          <p:blipFill>
            <a:blip r:embed="rId5" cstate="print"/>
            <a:stretch>
              <a:fillRect/>
            </a:stretch>
          </p:blipFill>
          <p:spPr>
            <a:xfrm>
              <a:off x="9308692" y="1033964"/>
              <a:ext cx="3810000" cy="4543424"/>
            </a:xfrm>
            <a:prstGeom prst="rect">
              <a:avLst/>
            </a:prstGeom>
          </p:spPr>
        </p:pic>
        <p:pic>
          <p:nvPicPr>
            <p:cNvPr id="8" name="object 8"/>
            <p:cNvPicPr/>
            <p:nvPr/>
          </p:nvPicPr>
          <p:blipFill>
            <a:blip r:embed="rId6" cstate="print"/>
            <a:stretch>
              <a:fillRect/>
            </a:stretch>
          </p:blipFill>
          <p:spPr>
            <a:xfrm>
              <a:off x="13451320" y="1033964"/>
              <a:ext cx="3809999" cy="4543424"/>
            </a:xfrm>
            <a:prstGeom prst="rect">
              <a:avLst/>
            </a:prstGeom>
          </p:spPr>
        </p:pic>
      </p:grpSp>
      <p:sp>
        <p:nvSpPr>
          <p:cNvPr id="9" name="object 9"/>
          <p:cNvSpPr txBox="1"/>
          <p:nvPr/>
        </p:nvSpPr>
        <p:spPr>
          <a:xfrm>
            <a:off x="1028700" y="5581651"/>
            <a:ext cx="3798570" cy="890905"/>
          </a:xfrm>
          <a:prstGeom prst="rect">
            <a:avLst/>
          </a:prstGeom>
          <a:solidFill>
            <a:srgbClr val="E3AB2E"/>
          </a:solidFill>
        </p:spPr>
        <p:txBody>
          <a:bodyPr vert="horz" wrap="square" lIns="0" tIns="231140" rIns="0" bIns="0" rtlCol="0">
            <a:spAutoFit/>
          </a:bodyPr>
          <a:lstStyle/>
          <a:p>
            <a:pPr marR="73025" algn="ctr">
              <a:lnSpc>
                <a:spcPct val="100000"/>
              </a:lnSpc>
              <a:spcBef>
                <a:spcPts val="1820"/>
              </a:spcBef>
            </a:pPr>
            <a:r>
              <a:rPr sz="2500" spc="35" dirty="0">
                <a:solidFill>
                  <a:srgbClr val="FFFFFF"/>
                </a:solidFill>
                <a:latin typeface="Trebuchet MS"/>
                <a:cs typeface="Trebuchet MS"/>
              </a:rPr>
              <a:t>Clinical</a:t>
            </a:r>
            <a:endParaRPr sz="2500" dirty="0">
              <a:latin typeface="Trebuchet MS"/>
              <a:cs typeface="Trebuchet MS"/>
            </a:endParaRPr>
          </a:p>
        </p:txBody>
      </p:sp>
      <p:sp>
        <p:nvSpPr>
          <p:cNvPr id="10" name="object 10"/>
          <p:cNvSpPr txBox="1"/>
          <p:nvPr/>
        </p:nvSpPr>
        <p:spPr>
          <a:xfrm>
            <a:off x="9311323" y="5581651"/>
            <a:ext cx="3798570" cy="890905"/>
          </a:xfrm>
          <a:prstGeom prst="rect">
            <a:avLst/>
          </a:prstGeom>
          <a:solidFill>
            <a:srgbClr val="E3AB2E"/>
          </a:solidFill>
        </p:spPr>
        <p:txBody>
          <a:bodyPr vert="horz" wrap="square" lIns="0" tIns="231140" rIns="0" bIns="0" rtlCol="0">
            <a:spAutoFit/>
          </a:bodyPr>
          <a:lstStyle/>
          <a:p>
            <a:pPr marL="1013460">
              <a:lnSpc>
                <a:spcPct val="100000"/>
              </a:lnSpc>
              <a:spcBef>
                <a:spcPts val="1820"/>
              </a:spcBef>
            </a:pPr>
            <a:r>
              <a:rPr sz="2500" spc="60" dirty="0">
                <a:solidFill>
                  <a:srgbClr val="FFFFFF"/>
                </a:solidFill>
                <a:latin typeface="Trebuchet MS"/>
                <a:cs typeface="Trebuchet MS"/>
              </a:rPr>
              <a:t>Educational</a:t>
            </a:r>
            <a:endParaRPr sz="2500" dirty="0">
              <a:latin typeface="Trebuchet MS"/>
              <a:cs typeface="Trebuchet MS"/>
            </a:endParaRPr>
          </a:p>
        </p:txBody>
      </p:sp>
      <p:sp>
        <p:nvSpPr>
          <p:cNvPr id="11" name="object 11"/>
          <p:cNvSpPr txBox="1"/>
          <p:nvPr/>
        </p:nvSpPr>
        <p:spPr>
          <a:xfrm>
            <a:off x="5168696" y="5581651"/>
            <a:ext cx="3798570" cy="890905"/>
          </a:xfrm>
          <a:prstGeom prst="rect">
            <a:avLst/>
          </a:prstGeom>
          <a:solidFill>
            <a:srgbClr val="E3AB2E"/>
          </a:solidFill>
        </p:spPr>
        <p:txBody>
          <a:bodyPr vert="horz" wrap="square" lIns="0" tIns="231140" rIns="0" bIns="0" rtlCol="0">
            <a:spAutoFit/>
          </a:bodyPr>
          <a:lstStyle/>
          <a:p>
            <a:pPr marL="1016000">
              <a:lnSpc>
                <a:spcPct val="100000"/>
              </a:lnSpc>
              <a:spcBef>
                <a:spcPts val="1820"/>
              </a:spcBef>
            </a:pPr>
            <a:r>
              <a:rPr sz="2500" spc="90" dirty="0">
                <a:solidFill>
                  <a:srgbClr val="FFFFFF"/>
                </a:solidFill>
                <a:latin typeface="Trebuchet MS"/>
                <a:cs typeface="Trebuchet MS"/>
              </a:rPr>
              <a:t>Counselling</a:t>
            </a:r>
            <a:endParaRPr sz="2500" dirty="0">
              <a:latin typeface="Trebuchet MS"/>
              <a:cs typeface="Trebuchet MS"/>
            </a:endParaRPr>
          </a:p>
        </p:txBody>
      </p:sp>
      <p:sp>
        <p:nvSpPr>
          <p:cNvPr id="12" name="object 12"/>
          <p:cNvSpPr txBox="1"/>
          <p:nvPr/>
        </p:nvSpPr>
        <p:spPr>
          <a:xfrm>
            <a:off x="13451320" y="5581651"/>
            <a:ext cx="3798570" cy="890905"/>
          </a:xfrm>
          <a:prstGeom prst="rect">
            <a:avLst/>
          </a:prstGeom>
          <a:solidFill>
            <a:srgbClr val="E3AB2E"/>
          </a:solidFill>
        </p:spPr>
        <p:txBody>
          <a:bodyPr vert="horz" wrap="square" lIns="0" tIns="231140" rIns="0" bIns="0" rtlCol="0">
            <a:spAutoFit/>
          </a:bodyPr>
          <a:lstStyle/>
          <a:p>
            <a:pPr marL="9525" algn="ctr">
              <a:lnSpc>
                <a:spcPct val="100000"/>
              </a:lnSpc>
              <a:spcBef>
                <a:spcPts val="1820"/>
              </a:spcBef>
            </a:pPr>
            <a:r>
              <a:rPr sz="2500" spc="80" dirty="0">
                <a:solidFill>
                  <a:srgbClr val="FFFFFF"/>
                </a:solidFill>
                <a:latin typeface="Trebuchet MS"/>
                <a:cs typeface="Trebuchet MS"/>
              </a:rPr>
              <a:t>Neuro</a:t>
            </a:r>
            <a:endParaRPr sz="2500" dirty="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1954381"/>
          </a:xfrm>
        </p:spPr>
        <p:txBody>
          <a:bodyPr/>
          <a:lstStyle/>
          <a:p>
            <a:r>
              <a:rPr lang="en-US" dirty="0"/>
              <a:t>Clinical Psychology </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2857500"/>
            <a:ext cx="12801600" cy="5278368"/>
          </a:xfrm>
        </p:spPr>
        <p:txBody>
          <a:bodyPr/>
          <a:lstStyle/>
          <a:p>
            <a:r>
              <a:rPr lang="en-GB" sz="3200" dirty="0"/>
              <a:t>Clinical psychology </a:t>
            </a:r>
          </a:p>
          <a:p>
            <a:pPr marL="457200" indent="-457200">
              <a:buFont typeface="Wingdings" panose="05000000000000000000" pitchFamily="2" charset="2"/>
              <a:buChar char="Ø"/>
            </a:pPr>
            <a:r>
              <a:rPr lang="en-GB" sz="3200" b="1" dirty="0"/>
              <a:t>predict </a:t>
            </a:r>
            <a:r>
              <a:rPr lang="en-GB" sz="3200" dirty="0"/>
              <a:t>and </a:t>
            </a:r>
            <a:r>
              <a:rPr lang="en-GB" sz="3200" b="1" dirty="0"/>
              <a:t>relieve</a:t>
            </a:r>
            <a:r>
              <a:rPr lang="en-GB" sz="3200" dirty="0"/>
              <a:t> problems with adjustment, disability, and discomfort. </a:t>
            </a:r>
          </a:p>
          <a:p>
            <a:pPr marL="457200" indent="-457200">
              <a:buFont typeface="Wingdings" panose="05000000000000000000" pitchFamily="2" charset="2"/>
              <a:buChar char="Ø"/>
            </a:pPr>
            <a:r>
              <a:rPr lang="en-GB" sz="3200" dirty="0"/>
              <a:t>promotes </a:t>
            </a:r>
            <a:r>
              <a:rPr lang="en-GB" sz="3200" b="1" u="sng" dirty="0"/>
              <a:t>adaption</a:t>
            </a:r>
            <a:r>
              <a:rPr lang="en-GB" sz="3200" u="sng" dirty="0"/>
              <a:t>, </a:t>
            </a:r>
            <a:r>
              <a:rPr lang="en-GB" sz="3200" b="1" u="sng" dirty="0"/>
              <a:t>adjustment</a:t>
            </a:r>
            <a:r>
              <a:rPr lang="en-GB" sz="3200" u="sng" dirty="0"/>
              <a:t>, and </a:t>
            </a:r>
            <a:r>
              <a:rPr lang="en-GB" sz="3200" b="1" u="sng" dirty="0"/>
              <a:t>personal development</a:t>
            </a:r>
            <a:r>
              <a:rPr lang="en-GB" sz="3200" u="sng" dirty="0"/>
              <a:t>.</a:t>
            </a:r>
          </a:p>
          <a:p>
            <a:pPr marL="457200" indent="-457200">
              <a:buFont typeface="Wingdings" panose="05000000000000000000" pitchFamily="2" charset="2"/>
              <a:buChar char="Ø"/>
            </a:pPr>
            <a:r>
              <a:rPr lang="en-GB" sz="3200" dirty="0"/>
              <a:t>help us to understand, prevent, and alleviate psychologically caused </a:t>
            </a:r>
            <a:r>
              <a:rPr lang="en-GB" sz="3200" b="1" dirty="0"/>
              <a:t>distress </a:t>
            </a:r>
            <a:r>
              <a:rPr lang="en-GB" sz="3200" dirty="0"/>
              <a:t>or</a:t>
            </a:r>
            <a:r>
              <a:rPr lang="en-GB" sz="3200" b="1" dirty="0"/>
              <a:t> dysfunction</a:t>
            </a:r>
            <a:r>
              <a:rPr lang="en-GB" sz="3200" dirty="0"/>
              <a:t>, and promote an individual's well-being and personal development.</a:t>
            </a:r>
          </a:p>
          <a:p>
            <a:endParaRPr lang="en-GB" sz="3200" dirty="0"/>
          </a:p>
          <a:p>
            <a:r>
              <a:rPr lang="en-GB" sz="3200" dirty="0"/>
              <a:t>Psychological assessment and psychotherapy are central to the practice of clinical psychology, but clinical psychologists are often also involved in research, training, forensic testimony, and other areas.</a:t>
            </a:r>
          </a:p>
          <a:p>
            <a:endParaRPr lang="en-US" dirty="0"/>
          </a:p>
        </p:txBody>
      </p:sp>
    </p:spTree>
    <p:extLst>
      <p:ext uri="{BB962C8B-B14F-4D97-AF65-F5344CB8AC3E}">
        <p14:creationId xmlns:p14="http://schemas.microsoft.com/office/powerpoint/2010/main" val="2569898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Counselling Psychology </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2857500"/>
            <a:ext cx="12801600" cy="3323987"/>
          </a:xfrm>
        </p:spPr>
        <p:txBody>
          <a:bodyPr/>
          <a:lstStyle/>
          <a:p>
            <a:r>
              <a:rPr lang="en-US" sz="3600" b="0" i="0" dirty="0">
                <a:solidFill>
                  <a:srgbClr val="000000"/>
                </a:solidFill>
                <a:effectLst/>
                <a:latin typeface="+mn-lt"/>
              </a:rPr>
              <a:t>Counselling Psychology:</a:t>
            </a:r>
          </a:p>
          <a:p>
            <a:pPr marL="571500" indent="-571500">
              <a:buFont typeface="Wingdings" panose="05000000000000000000" pitchFamily="2" charset="2"/>
              <a:buChar char="Ø"/>
            </a:pPr>
            <a:r>
              <a:rPr lang="en-US" sz="3600" b="0" i="0" dirty="0">
                <a:solidFill>
                  <a:srgbClr val="000000"/>
                </a:solidFill>
                <a:effectLst/>
                <a:latin typeface="+mn-lt"/>
              </a:rPr>
              <a:t>uses a broad range of culturally-informed and culturally-sensitive practices </a:t>
            </a:r>
          </a:p>
          <a:p>
            <a:pPr marL="571500" indent="-571500">
              <a:buFont typeface="Wingdings" panose="05000000000000000000" pitchFamily="2" charset="2"/>
              <a:buChar char="Ø"/>
            </a:pPr>
            <a:r>
              <a:rPr lang="en-US" sz="3600" b="0" i="0" dirty="0">
                <a:solidFill>
                  <a:srgbClr val="000000"/>
                </a:solidFill>
                <a:effectLst/>
                <a:latin typeface="+mn-lt"/>
              </a:rPr>
              <a:t>to help people improve their well-being</a:t>
            </a:r>
            <a:r>
              <a:rPr lang="en-US" sz="3600" i="0" dirty="0">
                <a:solidFill>
                  <a:srgbClr val="000000"/>
                </a:solidFill>
                <a:effectLst/>
                <a:latin typeface="+mn-lt"/>
              </a:rPr>
              <a:t>, </a:t>
            </a:r>
            <a:r>
              <a:rPr lang="en-US" sz="3600" b="1" i="0" u="sng" dirty="0">
                <a:solidFill>
                  <a:srgbClr val="000000"/>
                </a:solidFill>
                <a:effectLst/>
                <a:latin typeface="+mn-lt"/>
              </a:rPr>
              <a:t>prevent </a:t>
            </a:r>
            <a:r>
              <a:rPr lang="en-US" sz="3600" b="0" i="0" dirty="0">
                <a:solidFill>
                  <a:srgbClr val="000000"/>
                </a:solidFill>
                <a:effectLst/>
                <a:latin typeface="+mn-lt"/>
              </a:rPr>
              <a:t>and alleviate distress and maladjustment, resolve crises, </a:t>
            </a:r>
          </a:p>
          <a:p>
            <a:pPr marL="571500" indent="-571500">
              <a:buFont typeface="Wingdings" panose="05000000000000000000" pitchFamily="2" charset="2"/>
              <a:buChar char="Ø"/>
            </a:pPr>
            <a:r>
              <a:rPr lang="en-US" sz="3600" b="0" i="0" dirty="0">
                <a:solidFill>
                  <a:srgbClr val="000000"/>
                </a:solidFill>
                <a:effectLst/>
                <a:latin typeface="+mn-lt"/>
              </a:rPr>
              <a:t>and increase their ability to function better in their lives.</a:t>
            </a:r>
            <a:endParaRPr lang="en-US" sz="3600" dirty="0">
              <a:latin typeface="+mn-lt"/>
            </a:endParaRPr>
          </a:p>
        </p:txBody>
      </p:sp>
    </p:spTree>
    <p:extLst>
      <p:ext uri="{BB962C8B-B14F-4D97-AF65-F5344CB8AC3E}">
        <p14:creationId xmlns:p14="http://schemas.microsoft.com/office/powerpoint/2010/main" val="2241100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Educational Psychology </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2857500"/>
            <a:ext cx="12801600" cy="3323987"/>
          </a:xfrm>
        </p:spPr>
        <p:txBody>
          <a:bodyPr/>
          <a:lstStyle/>
          <a:p>
            <a:r>
              <a:rPr lang="en-US" sz="3600" dirty="0">
                <a:solidFill>
                  <a:srgbClr val="000000"/>
                </a:solidFill>
                <a:latin typeface="+mn-lt"/>
              </a:rPr>
              <a:t>Educational</a:t>
            </a:r>
            <a:r>
              <a:rPr lang="en-US" sz="3600" b="0" i="0" dirty="0">
                <a:solidFill>
                  <a:srgbClr val="000000"/>
                </a:solidFill>
                <a:effectLst/>
                <a:latin typeface="+mn-lt"/>
              </a:rPr>
              <a:t> Psychology:</a:t>
            </a:r>
          </a:p>
          <a:p>
            <a:pPr marL="571500" indent="-571500">
              <a:buFont typeface="Wingdings" panose="05000000000000000000" pitchFamily="2" charset="2"/>
              <a:buChar char="Ø"/>
            </a:pPr>
            <a:r>
              <a:rPr lang="en-US" sz="3600" b="0" i="0" dirty="0">
                <a:solidFill>
                  <a:srgbClr val="000000"/>
                </a:solidFill>
                <a:effectLst/>
                <a:latin typeface="+mn-lt"/>
              </a:rPr>
              <a:t>provides a collegial environment for psychologists with interest in research, teaching or practice in educational settings at all levels </a:t>
            </a:r>
          </a:p>
          <a:p>
            <a:pPr marL="571500" indent="-571500">
              <a:buFont typeface="Wingdings" panose="05000000000000000000" pitchFamily="2" charset="2"/>
              <a:buChar char="Ø"/>
            </a:pPr>
            <a:r>
              <a:rPr lang="en-US" sz="3600" b="0" i="0" dirty="0">
                <a:solidFill>
                  <a:srgbClr val="000000"/>
                </a:solidFill>
                <a:effectLst/>
                <a:latin typeface="+mn-lt"/>
              </a:rPr>
              <a:t>to present and publish papers about their work. </a:t>
            </a:r>
          </a:p>
          <a:p>
            <a:pPr marL="571500" indent="-571500">
              <a:buFont typeface="Wingdings" panose="05000000000000000000" pitchFamily="2" charset="2"/>
              <a:buChar char="Ø"/>
            </a:pPr>
            <a:r>
              <a:rPr lang="en-US" sz="3600" b="0" i="0" dirty="0">
                <a:solidFill>
                  <a:srgbClr val="000000"/>
                </a:solidFill>
                <a:effectLst/>
                <a:latin typeface="+mn-lt"/>
              </a:rPr>
              <a:t>concerned with theory, methodology and applications to a broad spectrum of teaching, training and learning issues</a:t>
            </a:r>
            <a:r>
              <a:rPr lang="en-US" sz="2800" b="0" i="0" dirty="0">
                <a:solidFill>
                  <a:srgbClr val="000000"/>
                </a:solidFill>
                <a:effectLst/>
                <a:latin typeface="ProximaNova"/>
              </a:rPr>
              <a:t>. </a:t>
            </a:r>
            <a:endParaRPr lang="en-US" sz="3600" dirty="0">
              <a:latin typeface="+mn-lt"/>
            </a:endParaRPr>
          </a:p>
        </p:txBody>
      </p:sp>
    </p:spTree>
    <p:extLst>
      <p:ext uri="{BB962C8B-B14F-4D97-AF65-F5344CB8AC3E}">
        <p14:creationId xmlns:p14="http://schemas.microsoft.com/office/powerpoint/2010/main" val="178480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1954381"/>
          </a:xfrm>
        </p:spPr>
        <p:txBody>
          <a:bodyPr/>
          <a:lstStyle/>
          <a:p>
            <a:r>
              <a:rPr lang="en-US" dirty="0"/>
              <a:t>Neuro Psychology or Behavioral Neuroscience</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2769989"/>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Behavioral neuroscience examines the biological basis of behavior in humans and animals. </a:t>
            </a:r>
          </a:p>
          <a:p>
            <a:pPr marL="571500" indent="-571500">
              <a:buFont typeface="Wingdings" panose="05000000000000000000" pitchFamily="2" charset="2"/>
              <a:buChar char="Ø"/>
            </a:pPr>
            <a:r>
              <a:rPr lang="en-US" sz="3600" b="0" i="0" dirty="0">
                <a:solidFill>
                  <a:srgbClr val="000000"/>
                </a:solidFill>
                <a:effectLst/>
                <a:latin typeface="+mn-lt"/>
              </a:rPr>
              <a:t>This discipline typically examines the brain’s neurotransmissions and the psychological events associated with biological activity.</a:t>
            </a:r>
          </a:p>
          <a:p>
            <a:pPr marL="571500" indent="-571500">
              <a:buFont typeface="Wingdings" panose="05000000000000000000" pitchFamily="2" charset="2"/>
              <a:buChar char="Ø"/>
            </a:pPr>
            <a:endParaRPr lang="en-US" sz="3600" dirty="0">
              <a:latin typeface="+mn-lt"/>
            </a:endParaRPr>
          </a:p>
        </p:txBody>
      </p:sp>
    </p:spTree>
    <p:extLst>
      <p:ext uri="{BB962C8B-B14F-4D97-AF65-F5344CB8AC3E}">
        <p14:creationId xmlns:p14="http://schemas.microsoft.com/office/powerpoint/2010/main" val="1105977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7148521"/>
            <a:ext cx="4848860" cy="1736089"/>
          </a:xfrm>
          <a:prstGeom prst="rect">
            <a:avLst/>
          </a:prstGeom>
        </p:spPr>
        <p:txBody>
          <a:bodyPr vert="horz" wrap="square" lIns="0" tIns="162560" rIns="0" bIns="0" rtlCol="0">
            <a:spAutoFit/>
          </a:bodyPr>
          <a:lstStyle/>
          <a:p>
            <a:pPr marL="12700" marR="5080">
              <a:lnSpc>
                <a:spcPts val="6150"/>
              </a:lnSpc>
              <a:spcBef>
                <a:spcPts val="1280"/>
              </a:spcBef>
            </a:pPr>
            <a:r>
              <a:rPr sz="6100" b="1" spc="755" dirty="0">
                <a:solidFill>
                  <a:srgbClr val="F9BF40"/>
                </a:solidFill>
                <a:latin typeface="Calibri"/>
                <a:cs typeface="Calibri"/>
              </a:rPr>
              <a:t>Sub-</a:t>
            </a:r>
            <a:r>
              <a:rPr sz="6100" b="1" spc="375" dirty="0">
                <a:solidFill>
                  <a:srgbClr val="F9BF40"/>
                </a:solidFill>
                <a:latin typeface="Calibri"/>
                <a:cs typeface="Calibri"/>
              </a:rPr>
              <a:t>fields</a:t>
            </a:r>
            <a:r>
              <a:rPr sz="6100" b="1" spc="10" dirty="0">
                <a:solidFill>
                  <a:srgbClr val="F9BF40"/>
                </a:solidFill>
                <a:latin typeface="Calibri"/>
                <a:cs typeface="Calibri"/>
              </a:rPr>
              <a:t> </a:t>
            </a:r>
            <a:r>
              <a:rPr sz="6100" b="1" spc="430" dirty="0">
                <a:solidFill>
                  <a:srgbClr val="F9BF40"/>
                </a:solidFill>
                <a:latin typeface="Calibri"/>
                <a:cs typeface="Calibri"/>
              </a:rPr>
              <a:t>of </a:t>
            </a:r>
            <a:r>
              <a:rPr sz="6100" b="1" spc="600" dirty="0">
                <a:solidFill>
                  <a:srgbClr val="F9BF40"/>
                </a:solidFill>
                <a:latin typeface="Calibri"/>
                <a:cs typeface="Calibri"/>
              </a:rPr>
              <a:t>Psychology</a:t>
            </a:r>
            <a:endParaRPr sz="6100" dirty="0">
              <a:latin typeface="Calibri"/>
              <a:cs typeface="Calibri"/>
            </a:endParaRPr>
          </a:p>
        </p:txBody>
      </p:sp>
      <p:grpSp>
        <p:nvGrpSpPr>
          <p:cNvPr id="3" name="object 3"/>
          <p:cNvGrpSpPr/>
          <p:nvPr/>
        </p:nvGrpSpPr>
        <p:grpSpPr>
          <a:xfrm>
            <a:off x="0" y="0"/>
            <a:ext cx="18282285" cy="5577840"/>
            <a:chOff x="0" y="0"/>
            <a:chExt cx="18282285" cy="5577840"/>
          </a:xfrm>
        </p:grpSpPr>
        <p:sp>
          <p:nvSpPr>
            <p:cNvPr id="4" name="object 4"/>
            <p:cNvSpPr/>
            <p:nvPr/>
          </p:nvSpPr>
          <p:spPr>
            <a:xfrm>
              <a:off x="0" y="0"/>
              <a:ext cx="18282285" cy="4152265"/>
            </a:xfrm>
            <a:custGeom>
              <a:avLst/>
              <a:gdLst/>
              <a:ahLst/>
              <a:cxnLst/>
              <a:rect l="l" t="t" r="r" b="b"/>
              <a:pathLst>
                <a:path w="18282285" h="4152265">
                  <a:moveTo>
                    <a:pt x="18281958" y="4152064"/>
                  </a:moveTo>
                  <a:lnTo>
                    <a:pt x="0" y="4152064"/>
                  </a:lnTo>
                  <a:lnTo>
                    <a:pt x="0" y="0"/>
                  </a:lnTo>
                  <a:lnTo>
                    <a:pt x="18281958" y="0"/>
                  </a:lnTo>
                  <a:lnTo>
                    <a:pt x="18281958" y="4152064"/>
                  </a:lnTo>
                  <a:close/>
                </a:path>
              </a:pathLst>
            </a:custGeom>
            <a:solidFill>
              <a:srgbClr val="E3AB2E"/>
            </a:solidFill>
          </p:spPr>
          <p:txBody>
            <a:bodyPr wrap="square" lIns="0" tIns="0" rIns="0" bIns="0" rtlCol="0"/>
            <a:lstStyle/>
            <a:p>
              <a:endParaRPr dirty="0"/>
            </a:p>
          </p:txBody>
        </p:sp>
        <p:pic>
          <p:nvPicPr>
            <p:cNvPr id="5" name="object 5"/>
            <p:cNvPicPr/>
            <p:nvPr/>
          </p:nvPicPr>
          <p:blipFill>
            <a:blip r:embed="rId3" cstate="print"/>
            <a:stretch>
              <a:fillRect/>
            </a:stretch>
          </p:blipFill>
          <p:spPr>
            <a:xfrm>
              <a:off x="1028700" y="1033962"/>
              <a:ext cx="3809999" cy="4543424"/>
            </a:xfrm>
            <a:prstGeom prst="rect">
              <a:avLst/>
            </a:prstGeom>
          </p:spPr>
        </p:pic>
        <p:pic>
          <p:nvPicPr>
            <p:cNvPr id="6" name="object 6"/>
            <p:cNvPicPr/>
            <p:nvPr/>
          </p:nvPicPr>
          <p:blipFill>
            <a:blip r:embed="rId4" cstate="print"/>
            <a:stretch>
              <a:fillRect/>
            </a:stretch>
          </p:blipFill>
          <p:spPr>
            <a:xfrm>
              <a:off x="5168696" y="1033962"/>
              <a:ext cx="3810000" cy="4543424"/>
            </a:xfrm>
            <a:prstGeom prst="rect">
              <a:avLst/>
            </a:prstGeom>
          </p:spPr>
        </p:pic>
        <p:pic>
          <p:nvPicPr>
            <p:cNvPr id="7" name="object 7"/>
            <p:cNvPicPr/>
            <p:nvPr/>
          </p:nvPicPr>
          <p:blipFill>
            <a:blip r:embed="rId5" cstate="print"/>
            <a:stretch>
              <a:fillRect/>
            </a:stretch>
          </p:blipFill>
          <p:spPr>
            <a:xfrm>
              <a:off x="9308692" y="1033962"/>
              <a:ext cx="3810000" cy="4543424"/>
            </a:xfrm>
            <a:prstGeom prst="rect">
              <a:avLst/>
            </a:prstGeom>
          </p:spPr>
        </p:pic>
        <p:pic>
          <p:nvPicPr>
            <p:cNvPr id="8" name="object 8"/>
            <p:cNvPicPr/>
            <p:nvPr/>
          </p:nvPicPr>
          <p:blipFill>
            <a:blip r:embed="rId6" cstate="print"/>
            <a:stretch>
              <a:fillRect/>
            </a:stretch>
          </p:blipFill>
          <p:spPr>
            <a:xfrm>
              <a:off x="13451320" y="1033962"/>
              <a:ext cx="3809999" cy="4543424"/>
            </a:xfrm>
            <a:prstGeom prst="rect">
              <a:avLst/>
            </a:prstGeom>
          </p:spPr>
        </p:pic>
      </p:grpSp>
      <p:sp>
        <p:nvSpPr>
          <p:cNvPr id="9" name="object 9"/>
          <p:cNvSpPr txBox="1"/>
          <p:nvPr/>
        </p:nvSpPr>
        <p:spPr>
          <a:xfrm>
            <a:off x="1028700" y="5581650"/>
            <a:ext cx="3798570" cy="890905"/>
          </a:xfrm>
          <a:prstGeom prst="rect">
            <a:avLst/>
          </a:prstGeom>
          <a:solidFill>
            <a:srgbClr val="E3AB2E"/>
          </a:solidFill>
        </p:spPr>
        <p:txBody>
          <a:bodyPr vert="horz" wrap="square" lIns="0" tIns="231140" rIns="0" bIns="0" rtlCol="0">
            <a:spAutoFit/>
          </a:bodyPr>
          <a:lstStyle/>
          <a:p>
            <a:pPr marL="1254125">
              <a:lnSpc>
                <a:spcPct val="100000"/>
              </a:lnSpc>
              <a:spcBef>
                <a:spcPts val="1820"/>
              </a:spcBef>
            </a:pPr>
            <a:r>
              <a:rPr sz="2500" spc="95" dirty="0">
                <a:solidFill>
                  <a:srgbClr val="FFFFFF"/>
                </a:solidFill>
                <a:latin typeface="Trebuchet MS"/>
                <a:cs typeface="Trebuchet MS"/>
              </a:rPr>
              <a:t>Forensic</a:t>
            </a:r>
            <a:endParaRPr sz="2500" dirty="0">
              <a:latin typeface="Trebuchet MS"/>
              <a:cs typeface="Trebuchet MS"/>
            </a:endParaRPr>
          </a:p>
        </p:txBody>
      </p:sp>
      <p:sp>
        <p:nvSpPr>
          <p:cNvPr id="10" name="object 10"/>
          <p:cNvSpPr txBox="1"/>
          <p:nvPr/>
        </p:nvSpPr>
        <p:spPr>
          <a:xfrm>
            <a:off x="9311323" y="5581650"/>
            <a:ext cx="3798570" cy="890905"/>
          </a:xfrm>
          <a:prstGeom prst="rect">
            <a:avLst/>
          </a:prstGeom>
          <a:solidFill>
            <a:srgbClr val="E3AB2E"/>
          </a:solidFill>
        </p:spPr>
        <p:txBody>
          <a:bodyPr vert="horz" wrap="square" lIns="0" tIns="231140" rIns="0" bIns="0" rtlCol="0">
            <a:spAutoFit/>
          </a:bodyPr>
          <a:lstStyle/>
          <a:p>
            <a:pPr marL="9525" algn="ctr">
              <a:lnSpc>
                <a:spcPct val="100000"/>
              </a:lnSpc>
              <a:spcBef>
                <a:spcPts val="1820"/>
              </a:spcBef>
            </a:pPr>
            <a:r>
              <a:rPr sz="2500" spc="120" dirty="0">
                <a:solidFill>
                  <a:srgbClr val="FFFFFF"/>
                </a:solidFill>
                <a:latin typeface="Trebuchet MS"/>
                <a:cs typeface="Trebuchet MS"/>
              </a:rPr>
              <a:t>Sports</a:t>
            </a:r>
            <a:endParaRPr sz="2500" dirty="0">
              <a:latin typeface="Trebuchet MS"/>
              <a:cs typeface="Trebuchet MS"/>
            </a:endParaRPr>
          </a:p>
        </p:txBody>
      </p:sp>
      <p:sp>
        <p:nvSpPr>
          <p:cNvPr id="11" name="object 11"/>
          <p:cNvSpPr txBox="1"/>
          <p:nvPr/>
        </p:nvSpPr>
        <p:spPr>
          <a:xfrm>
            <a:off x="5168696" y="5581650"/>
            <a:ext cx="3798570" cy="890905"/>
          </a:xfrm>
          <a:prstGeom prst="rect">
            <a:avLst/>
          </a:prstGeom>
          <a:solidFill>
            <a:srgbClr val="E3AB2E"/>
          </a:solidFill>
        </p:spPr>
        <p:txBody>
          <a:bodyPr vert="horz" wrap="square" lIns="0" tIns="231140" rIns="0" bIns="0" rtlCol="0">
            <a:spAutoFit/>
          </a:bodyPr>
          <a:lstStyle/>
          <a:p>
            <a:pPr marL="9525" algn="ctr">
              <a:lnSpc>
                <a:spcPct val="100000"/>
              </a:lnSpc>
              <a:spcBef>
                <a:spcPts val="1820"/>
              </a:spcBef>
            </a:pPr>
            <a:r>
              <a:rPr sz="2500" spc="125" dirty="0">
                <a:solidFill>
                  <a:srgbClr val="FFFFFF"/>
                </a:solidFill>
                <a:latin typeface="Trebuchet MS"/>
                <a:cs typeface="Trebuchet MS"/>
              </a:rPr>
              <a:t>School</a:t>
            </a:r>
            <a:endParaRPr sz="2500" dirty="0">
              <a:latin typeface="Trebuchet MS"/>
              <a:cs typeface="Trebuchet MS"/>
            </a:endParaRPr>
          </a:p>
        </p:txBody>
      </p:sp>
      <p:sp>
        <p:nvSpPr>
          <p:cNvPr id="12" name="object 12"/>
          <p:cNvSpPr txBox="1"/>
          <p:nvPr/>
        </p:nvSpPr>
        <p:spPr>
          <a:xfrm>
            <a:off x="13451320" y="5581650"/>
            <a:ext cx="3798570" cy="890905"/>
          </a:xfrm>
          <a:prstGeom prst="rect">
            <a:avLst/>
          </a:prstGeom>
          <a:solidFill>
            <a:srgbClr val="E3AB2E"/>
          </a:solidFill>
        </p:spPr>
        <p:txBody>
          <a:bodyPr vert="horz" wrap="square" lIns="0" tIns="231140" rIns="0" bIns="0" rtlCol="0">
            <a:spAutoFit/>
          </a:bodyPr>
          <a:lstStyle/>
          <a:p>
            <a:pPr marL="34290">
              <a:lnSpc>
                <a:spcPct val="100000"/>
              </a:lnSpc>
              <a:spcBef>
                <a:spcPts val="1820"/>
              </a:spcBef>
            </a:pPr>
            <a:r>
              <a:rPr sz="2500" spc="50" dirty="0">
                <a:solidFill>
                  <a:srgbClr val="FFFFFF"/>
                </a:solidFill>
                <a:latin typeface="Trebuchet MS"/>
                <a:cs typeface="Trebuchet MS"/>
              </a:rPr>
              <a:t>Industrial-</a:t>
            </a:r>
            <a:r>
              <a:rPr sz="2500" spc="55" dirty="0">
                <a:solidFill>
                  <a:srgbClr val="FFFFFF"/>
                </a:solidFill>
                <a:latin typeface="Trebuchet MS"/>
                <a:cs typeface="Trebuchet MS"/>
              </a:rPr>
              <a:t>Organizational</a:t>
            </a:r>
            <a:endParaRPr sz="2500" dirty="0">
              <a:latin typeface="Trebuchet MS"/>
              <a:cs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School Psychology </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4985980"/>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concerned with children, youth, families, and the schooling process. </a:t>
            </a:r>
          </a:p>
          <a:p>
            <a:pPr marL="571500" indent="-571500">
              <a:buFont typeface="Wingdings" panose="05000000000000000000" pitchFamily="2" charset="2"/>
              <a:buChar char="Ø"/>
            </a:pPr>
            <a:r>
              <a:rPr lang="en-US" sz="3600" dirty="0">
                <a:solidFill>
                  <a:srgbClr val="000000"/>
                </a:solidFill>
                <a:latin typeface="+mn-lt"/>
              </a:rPr>
              <a:t>s</a:t>
            </a:r>
            <a:r>
              <a:rPr lang="en-US" sz="3600" b="0" i="0" dirty="0">
                <a:solidFill>
                  <a:srgbClr val="000000"/>
                </a:solidFill>
                <a:effectLst/>
                <a:latin typeface="+mn-lt"/>
              </a:rPr>
              <a:t>chool psychologists are prepared to intervene at the individual and system levels, and develop, implement and evaluate programs </a:t>
            </a:r>
          </a:p>
          <a:p>
            <a:pPr marL="571500" indent="-571500">
              <a:buFont typeface="Wingdings" panose="05000000000000000000" pitchFamily="2" charset="2"/>
              <a:buChar char="Ø"/>
            </a:pPr>
            <a:r>
              <a:rPr lang="en-US" sz="3600" b="0" i="0" dirty="0">
                <a:solidFill>
                  <a:srgbClr val="000000"/>
                </a:solidFill>
                <a:effectLst/>
                <a:latin typeface="+mn-lt"/>
              </a:rPr>
              <a:t>to promote positive learning environments for children and youth from diverse backgrounds, </a:t>
            </a:r>
          </a:p>
          <a:p>
            <a:pPr marL="571500" indent="-571500">
              <a:buFont typeface="Wingdings" panose="05000000000000000000" pitchFamily="2" charset="2"/>
              <a:buChar char="Ø"/>
            </a:pPr>
            <a:r>
              <a:rPr lang="en-US" sz="3600" b="0" i="0" dirty="0">
                <a:solidFill>
                  <a:srgbClr val="000000"/>
                </a:solidFill>
                <a:effectLst/>
                <a:latin typeface="+mn-lt"/>
              </a:rPr>
              <a:t>and to ensure equal access to effective educational and psychological services that promote health development.</a:t>
            </a:r>
            <a:endParaRPr lang="en-US" sz="3600" dirty="0">
              <a:latin typeface="+mn-lt"/>
            </a:endParaRPr>
          </a:p>
        </p:txBody>
      </p:sp>
    </p:spTree>
    <p:extLst>
      <p:ext uri="{BB962C8B-B14F-4D97-AF65-F5344CB8AC3E}">
        <p14:creationId xmlns:p14="http://schemas.microsoft.com/office/powerpoint/2010/main" val="1401148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Forensic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2769989"/>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Forensic psychology focuses on legal issues, such as determining the accuracy of witness memories.</a:t>
            </a:r>
          </a:p>
          <a:p>
            <a:pPr marL="571500" indent="-571500">
              <a:buFont typeface="Wingdings" panose="05000000000000000000" pitchFamily="2" charset="2"/>
              <a:buChar char="Ø"/>
            </a:pPr>
            <a:r>
              <a:rPr lang="en-US" sz="3600" dirty="0">
                <a:solidFill>
                  <a:srgbClr val="000000"/>
                </a:solidFill>
                <a:latin typeface="+mn-lt"/>
              </a:rPr>
              <a:t>Deals with </a:t>
            </a:r>
            <a:r>
              <a:rPr lang="en-US" sz="3600" b="0" i="0" dirty="0">
                <a:solidFill>
                  <a:srgbClr val="000000"/>
                </a:solidFill>
                <a:effectLst/>
                <a:latin typeface="+mn-lt"/>
              </a:rPr>
              <a:t>clinical spectrum within a legal context that may result in civil and criminal legal questions that courts must ultimately decide</a:t>
            </a:r>
            <a:endParaRPr lang="en-US" sz="3600" dirty="0">
              <a:latin typeface="+mn-lt"/>
            </a:endParaRPr>
          </a:p>
        </p:txBody>
      </p:sp>
    </p:spTree>
    <p:extLst>
      <p:ext uri="{BB962C8B-B14F-4D97-AF65-F5344CB8AC3E}">
        <p14:creationId xmlns:p14="http://schemas.microsoft.com/office/powerpoint/2010/main" val="2717441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Sports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3877985"/>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study of how psychological factors influence sports, athletic performance, exercise, and physical activity.</a:t>
            </a:r>
          </a:p>
          <a:p>
            <a:pPr marL="571500" indent="-571500">
              <a:buFont typeface="Wingdings" panose="05000000000000000000" pitchFamily="2" charset="2"/>
              <a:buChar char="Ø"/>
            </a:pPr>
            <a:r>
              <a:rPr lang="en-US" sz="3600" dirty="0">
                <a:latin typeface="+mn-lt"/>
              </a:rPr>
              <a:t>help athletes utilize psychology to improve their athletic performance and mental wellness. </a:t>
            </a:r>
          </a:p>
          <a:p>
            <a:pPr marL="571500" indent="-571500">
              <a:buFont typeface="Wingdings" panose="05000000000000000000" pitchFamily="2" charset="2"/>
              <a:buChar char="Ø"/>
            </a:pPr>
            <a:r>
              <a:rPr lang="en-US" sz="3600" dirty="0">
                <a:latin typeface="+mn-lt"/>
              </a:rPr>
              <a:t>also helps non-athletes and everyday exercisers learn how to enjoy sports and stick to an exercise program. </a:t>
            </a:r>
          </a:p>
          <a:p>
            <a:pPr marL="571500" indent="-571500">
              <a:buFont typeface="Wingdings" panose="05000000000000000000" pitchFamily="2" charset="2"/>
              <a:buChar char="Ø"/>
            </a:pPr>
            <a:endParaRPr lang="en-US" sz="3600" dirty="0">
              <a:latin typeface="+mn-lt"/>
            </a:endParaRPr>
          </a:p>
        </p:txBody>
      </p:sp>
    </p:spTree>
    <p:extLst>
      <p:ext uri="{BB962C8B-B14F-4D97-AF65-F5344CB8AC3E}">
        <p14:creationId xmlns:p14="http://schemas.microsoft.com/office/powerpoint/2010/main" val="1804325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Industrial Organizational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5539978"/>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study of human behavior in organizations and the workplace.</a:t>
            </a:r>
          </a:p>
          <a:p>
            <a:pPr marL="571500" indent="-571500">
              <a:buFont typeface="Wingdings" panose="05000000000000000000" pitchFamily="2" charset="2"/>
              <a:buChar char="Ø"/>
            </a:pPr>
            <a:r>
              <a:rPr lang="en-US" sz="3600" b="0" i="0" dirty="0">
                <a:solidFill>
                  <a:srgbClr val="000000"/>
                </a:solidFill>
                <a:effectLst/>
                <a:latin typeface="+mn-lt"/>
              </a:rPr>
              <a:t>focuses on principles of individual, group and organizational behavior and applying this knowledge to the solution of problems at work.</a:t>
            </a:r>
          </a:p>
          <a:p>
            <a:pPr marL="571500" indent="-571500">
              <a:buFont typeface="Wingdings" panose="05000000000000000000" pitchFamily="2" charset="2"/>
              <a:buChar char="Ø"/>
            </a:pPr>
            <a:r>
              <a:rPr lang="en-US" sz="3600" b="0" i="0" dirty="0">
                <a:solidFill>
                  <a:srgbClr val="000000"/>
                </a:solidFill>
                <a:effectLst/>
                <a:latin typeface="+mn-lt"/>
              </a:rPr>
              <a:t>addresses issues of recruitment, selection and placement, training and development, performance measurement, workplace motivation and reward systems, quality of work life, structure of work and human factors, organizational development and consumer behavior.</a:t>
            </a:r>
          </a:p>
          <a:p>
            <a:pPr marL="571500" indent="-571500">
              <a:buFont typeface="Wingdings" panose="05000000000000000000" pitchFamily="2" charset="2"/>
              <a:buChar char="Ø"/>
            </a:pPr>
            <a:endParaRPr lang="en-US" sz="3600" dirty="0">
              <a:latin typeface="+mn-lt"/>
            </a:endParaRPr>
          </a:p>
        </p:txBody>
      </p:sp>
    </p:spTree>
    <p:extLst>
      <p:ext uri="{BB962C8B-B14F-4D97-AF65-F5344CB8AC3E}">
        <p14:creationId xmlns:p14="http://schemas.microsoft.com/office/powerpoint/2010/main" val="4204726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7148521"/>
            <a:ext cx="4848860" cy="1736089"/>
          </a:xfrm>
          <a:prstGeom prst="rect">
            <a:avLst/>
          </a:prstGeom>
        </p:spPr>
        <p:txBody>
          <a:bodyPr vert="horz" wrap="square" lIns="0" tIns="162560" rIns="0" bIns="0" rtlCol="0">
            <a:spAutoFit/>
          </a:bodyPr>
          <a:lstStyle/>
          <a:p>
            <a:pPr marL="12700" marR="5080">
              <a:lnSpc>
                <a:spcPts val="6150"/>
              </a:lnSpc>
              <a:spcBef>
                <a:spcPts val="1280"/>
              </a:spcBef>
            </a:pPr>
            <a:r>
              <a:rPr sz="6100" b="1" spc="755" dirty="0">
                <a:solidFill>
                  <a:srgbClr val="F9BF40"/>
                </a:solidFill>
                <a:latin typeface="Calibri"/>
                <a:cs typeface="Calibri"/>
              </a:rPr>
              <a:t>Sub-</a:t>
            </a:r>
            <a:r>
              <a:rPr sz="6100" b="1" spc="375" dirty="0">
                <a:solidFill>
                  <a:srgbClr val="F9BF40"/>
                </a:solidFill>
                <a:latin typeface="Calibri"/>
                <a:cs typeface="Calibri"/>
              </a:rPr>
              <a:t>fields</a:t>
            </a:r>
            <a:r>
              <a:rPr sz="6100" b="1" spc="10" dirty="0">
                <a:solidFill>
                  <a:srgbClr val="F9BF40"/>
                </a:solidFill>
                <a:latin typeface="Calibri"/>
                <a:cs typeface="Calibri"/>
              </a:rPr>
              <a:t> </a:t>
            </a:r>
            <a:r>
              <a:rPr sz="6100" b="1" spc="430" dirty="0">
                <a:solidFill>
                  <a:srgbClr val="F9BF40"/>
                </a:solidFill>
                <a:latin typeface="Calibri"/>
                <a:cs typeface="Calibri"/>
              </a:rPr>
              <a:t>of </a:t>
            </a:r>
            <a:r>
              <a:rPr sz="6100" b="1" spc="600" dirty="0">
                <a:solidFill>
                  <a:srgbClr val="F9BF40"/>
                </a:solidFill>
                <a:latin typeface="Calibri"/>
                <a:cs typeface="Calibri"/>
              </a:rPr>
              <a:t>Psychology</a:t>
            </a:r>
            <a:endParaRPr sz="6100" dirty="0">
              <a:latin typeface="Calibri"/>
              <a:cs typeface="Calibri"/>
            </a:endParaRPr>
          </a:p>
        </p:txBody>
      </p:sp>
      <p:grpSp>
        <p:nvGrpSpPr>
          <p:cNvPr id="3" name="object 3"/>
          <p:cNvGrpSpPr/>
          <p:nvPr/>
        </p:nvGrpSpPr>
        <p:grpSpPr>
          <a:xfrm>
            <a:off x="0" y="3"/>
            <a:ext cx="18282285" cy="5577840"/>
            <a:chOff x="0" y="3"/>
            <a:chExt cx="18282285" cy="5577840"/>
          </a:xfrm>
        </p:grpSpPr>
        <p:sp>
          <p:nvSpPr>
            <p:cNvPr id="4" name="object 4"/>
            <p:cNvSpPr/>
            <p:nvPr/>
          </p:nvSpPr>
          <p:spPr>
            <a:xfrm>
              <a:off x="0" y="3"/>
              <a:ext cx="18282285" cy="4152265"/>
            </a:xfrm>
            <a:custGeom>
              <a:avLst/>
              <a:gdLst/>
              <a:ahLst/>
              <a:cxnLst/>
              <a:rect l="l" t="t" r="r" b="b"/>
              <a:pathLst>
                <a:path w="18282285" h="4152265">
                  <a:moveTo>
                    <a:pt x="18281958" y="4152064"/>
                  </a:moveTo>
                  <a:lnTo>
                    <a:pt x="0" y="4152064"/>
                  </a:lnTo>
                  <a:lnTo>
                    <a:pt x="0" y="0"/>
                  </a:lnTo>
                  <a:lnTo>
                    <a:pt x="18281958" y="0"/>
                  </a:lnTo>
                  <a:lnTo>
                    <a:pt x="18281958" y="4152064"/>
                  </a:lnTo>
                  <a:close/>
                </a:path>
              </a:pathLst>
            </a:custGeom>
            <a:solidFill>
              <a:srgbClr val="E3AB2E"/>
            </a:solidFill>
          </p:spPr>
          <p:txBody>
            <a:bodyPr wrap="square" lIns="0" tIns="0" rIns="0" bIns="0" rtlCol="0"/>
            <a:lstStyle/>
            <a:p>
              <a:endParaRPr dirty="0"/>
            </a:p>
          </p:txBody>
        </p:sp>
        <p:pic>
          <p:nvPicPr>
            <p:cNvPr id="5" name="object 5"/>
            <p:cNvPicPr/>
            <p:nvPr/>
          </p:nvPicPr>
          <p:blipFill>
            <a:blip r:embed="rId3" cstate="print"/>
            <a:stretch>
              <a:fillRect/>
            </a:stretch>
          </p:blipFill>
          <p:spPr>
            <a:xfrm>
              <a:off x="1028700" y="1033962"/>
              <a:ext cx="3809999" cy="4543424"/>
            </a:xfrm>
            <a:prstGeom prst="rect">
              <a:avLst/>
            </a:prstGeom>
          </p:spPr>
        </p:pic>
        <p:pic>
          <p:nvPicPr>
            <p:cNvPr id="6" name="object 6"/>
            <p:cNvPicPr/>
            <p:nvPr/>
          </p:nvPicPr>
          <p:blipFill>
            <a:blip r:embed="rId4" cstate="print"/>
            <a:stretch>
              <a:fillRect/>
            </a:stretch>
          </p:blipFill>
          <p:spPr>
            <a:xfrm>
              <a:off x="5168696" y="1033962"/>
              <a:ext cx="3810000" cy="4543424"/>
            </a:xfrm>
            <a:prstGeom prst="rect">
              <a:avLst/>
            </a:prstGeom>
          </p:spPr>
        </p:pic>
        <p:pic>
          <p:nvPicPr>
            <p:cNvPr id="7" name="object 7"/>
            <p:cNvPicPr/>
            <p:nvPr/>
          </p:nvPicPr>
          <p:blipFill>
            <a:blip r:embed="rId5" cstate="print"/>
            <a:stretch>
              <a:fillRect/>
            </a:stretch>
          </p:blipFill>
          <p:spPr>
            <a:xfrm>
              <a:off x="9308692" y="1033962"/>
              <a:ext cx="3810000" cy="4543424"/>
            </a:xfrm>
            <a:prstGeom prst="rect">
              <a:avLst/>
            </a:prstGeom>
          </p:spPr>
        </p:pic>
        <p:pic>
          <p:nvPicPr>
            <p:cNvPr id="8" name="object 8"/>
            <p:cNvPicPr/>
            <p:nvPr/>
          </p:nvPicPr>
          <p:blipFill>
            <a:blip r:embed="rId6" cstate="print"/>
            <a:stretch>
              <a:fillRect/>
            </a:stretch>
          </p:blipFill>
          <p:spPr>
            <a:xfrm>
              <a:off x="13451320" y="1033962"/>
              <a:ext cx="3809999" cy="4543424"/>
            </a:xfrm>
            <a:prstGeom prst="rect">
              <a:avLst/>
            </a:prstGeom>
          </p:spPr>
        </p:pic>
      </p:grpSp>
      <p:sp>
        <p:nvSpPr>
          <p:cNvPr id="9" name="object 9"/>
          <p:cNvSpPr txBox="1"/>
          <p:nvPr/>
        </p:nvSpPr>
        <p:spPr>
          <a:xfrm>
            <a:off x="1028700" y="5581653"/>
            <a:ext cx="3798570" cy="890905"/>
          </a:xfrm>
          <a:prstGeom prst="rect">
            <a:avLst/>
          </a:prstGeom>
          <a:solidFill>
            <a:srgbClr val="E3AB2E"/>
          </a:solidFill>
        </p:spPr>
        <p:txBody>
          <a:bodyPr vert="horz" wrap="square" lIns="0" tIns="231140" rIns="0" bIns="0" rtlCol="0">
            <a:spAutoFit/>
          </a:bodyPr>
          <a:lstStyle/>
          <a:p>
            <a:pPr marL="9525" algn="ctr">
              <a:lnSpc>
                <a:spcPct val="100000"/>
              </a:lnSpc>
              <a:spcBef>
                <a:spcPts val="1820"/>
              </a:spcBef>
            </a:pPr>
            <a:r>
              <a:rPr sz="2500" spc="100" dirty="0">
                <a:solidFill>
                  <a:srgbClr val="FFFFFF"/>
                </a:solidFill>
                <a:latin typeface="Trebuchet MS"/>
                <a:cs typeface="Trebuchet MS"/>
              </a:rPr>
              <a:t>Social</a:t>
            </a:r>
            <a:endParaRPr sz="2500" dirty="0">
              <a:latin typeface="Trebuchet MS"/>
              <a:cs typeface="Trebuchet MS"/>
            </a:endParaRPr>
          </a:p>
        </p:txBody>
      </p:sp>
      <p:sp>
        <p:nvSpPr>
          <p:cNvPr id="10" name="object 10"/>
          <p:cNvSpPr txBox="1"/>
          <p:nvPr/>
        </p:nvSpPr>
        <p:spPr>
          <a:xfrm>
            <a:off x="9311323" y="5581653"/>
            <a:ext cx="3798570" cy="890905"/>
          </a:xfrm>
          <a:prstGeom prst="rect">
            <a:avLst/>
          </a:prstGeom>
          <a:solidFill>
            <a:srgbClr val="E3AB2E"/>
          </a:solidFill>
        </p:spPr>
        <p:txBody>
          <a:bodyPr vert="horz" wrap="square" lIns="0" tIns="231140" rIns="0" bIns="0" rtlCol="0">
            <a:spAutoFit/>
          </a:bodyPr>
          <a:lstStyle/>
          <a:p>
            <a:pPr marL="915669">
              <a:lnSpc>
                <a:spcPct val="100000"/>
              </a:lnSpc>
              <a:spcBef>
                <a:spcPts val="1820"/>
              </a:spcBef>
            </a:pPr>
            <a:r>
              <a:rPr sz="2500" spc="35" dirty="0">
                <a:solidFill>
                  <a:srgbClr val="FFFFFF"/>
                </a:solidFill>
                <a:latin typeface="Trebuchet MS"/>
                <a:cs typeface="Trebuchet MS"/>
              </a:rPr>
              <a:t>Experimental</a:t>
            </a:r>
            <a:endParaRPr sz="2500" dirty="0">
              <a:latin typeface="Trebuchet MS"/>
              <a:cs typeface="Trebuchet MS"/>
            </a:endParaRPr>
          </a:p>
        </p:txBody>
      </p:sp>
      <p:sp>
        <p:nvSpPr>
          <p:cNvPr id="11" name="object 11"/>
          <p:cNvSpPr txBox="1"/>
          <p:nvPr/>
        </p:nvSpPr>
        <p:spPr>
          <a:xfrm>
            <a:off x="5168696" y="5581653"/>
            <a:ext cx="3798570" cy="890905"/>
          </a:xfrm>
          <a:prstGeom prst="rect">
            <a:avLst/>
          </a:prstGeom>
          <a:solidFill>
            <a:srgbClr val="E3AB2E"/>
          </a:solidFill>
        </p:spPr>
        <p:txBody>
          <a:bodyPr vert="horz" wrap="square" lIns="0" tIns="231140" rIns="0" bIns="0" rtlCol="0">
            <a:spAutoFit/>
          </a:bodyPr>
          <a:lstStyle/>
          <a:p>
            <a:pPr marL="818515">
              <a:lnSpc>
                <a:spcPct val="100000"/>
              </a:lnSpc>
              <a:spcBef>
                <a:spcPts val="1820"/>
              </a:spcBef>
            </a:pPr>
            <a:r>
              <a:rPr sz="2500" spc="50" dirty="0">
                <a:solidFill>
                  <a:srgbClr val="FFFFFF"/>
                </a:solidFill>
                <a:latin typeface="Trebuchet MS"/>
                <a:cs typeface="Trebuchet MS"/>
              </a:rPr>
              <a:t>Environmental</a:t>
            </a:r>
            <a:endParaRPr sz="2500" dirty="0">
              <a:latin typeface="Trebuchet MS"/>
              <a:cs typeface="Trebuchet MS"/>
            </a:endParaRPr>
          </a:p>
        </p:txBody>
      </p:sp>
      <p:sp>
        <p:nvSpPr>
          <p:cNvPr id="12" name="object 12"/>
          <p:cNvSpPr txBox="1"/>
          <p:nvPr/>
        </p:nvSpPr>
        <p:spPr>
          <a:xfrm>
            <a:off x="13451320" y="5581653"/>
            <a:ext cx="3798570" cy="890905"/>
          </a:xfrm>
          <a:prstGeom prst="rect">
            <a:avLst/>
          </a:prstGeom>
          <a:solidFill>
            <a:srgbClr val="E3AB2E"/>
          </a:solidFill>
        </p:spPr>
        <p:txBody>
          <a:bodyPr vert="horz" wrap="square" lIns="0" tIns="231140" rIns="0" bIns="0" rtlCol="0">
            <a:spAutoFit/>
          </a:bodyPr>
          <a:lstStyle/>
          <a:p>
            <a:pPr marL="10795" algn="ctr">
              <a:lnSpc>
                <a:spcPct val="100000"/>
              </a:lnSpc>
              <a:spcBef>
                <a:spcPts val="1820"/>
              </a:spcBef>
            </a:pPr>
            <a:r>
              <a:rPr sz="2500" spc="-10" dirty="0">
                <a:solidFill>
                  <a:srgbClr val="FFFFFF"/>
                </a:solidFill>
                <a:latin typeface="Trebuchet MS"/>
                <a:cs typeface="Trebuchet MS"/>
              </a:rPr>
              <a:t>Health</a:t>
            </a:r>
            <a:endParaRPr sz="2500" dirty="0">
              <a:latin typeface="Trebuchet MS"/>
              <a:cs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Social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3323987"/>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to understand and explain how the thoughts, feelings, and behavior of individuals are influenced by the actual, imagined, or implied the presence of other human beings.</a:t>
            </a:r>
          </a:p>
          <a:p>
            <a:pPr marL="571500" indent="-571500">
              <a:buFont typeface="Wingdings" panose="05000000000000000000" pitchFamily="2" charset="2"/>
              <a:buChar char="Ø"/>
            </a:pPr>
            <a:r>
              <a:rPr lang="en-US" sz="3600" b="0" i="0" dirty="0">
                <a:solidFill>
                  <a:srgbClr val="000000"/>
                </a:solidFill>
                <a:effectLst/>
                <a:latin typeface="+mn-lt"/>
              </a:rPr>
              <a:t>understanding how each person's individual behavior is influenced by the social environment in which that behavior takes place.</a:t>
            </a:r>
            <a:endParaRPr lang="en-US" sz="3600" dirty="0">
              <a:latin typeface="+mn-lt"/>
            </a:endParaRPr>
          </a:p>
        </p:txBody>
      </p:sp>
    </p:spTree>
    <p:extLst>
      <p:ext uri="{BB962C8B-B14F-4D97-AF65-F5344CB8AC3E}">
        <p14:creationId xmlns:p14="http://schemas.microsoft.com/office/powerpoint/2010/main" val="3404151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Environmental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3877985"/>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examines the relationship between human beings and our surroundings. </a:t>
            </a:r>
          </a:p>
          <a:p>
            <a:pPr marL="571500" indent="-571500">
              <a:buFont typeface="Wingdings" panose="05000000000000000000" pitchFamily="2" charset="2"/>
              <a:buChar char="Ø"/>
            </a:pPr>
            <a:r>
              <a:rPr lang="en-US" sz="3600" b="0" i="0" dirty="0">
                <a:solidFill>
                  <a:srgbClr val="000000"/>
                </a:solidFill>
                <a:effectLst/>
                <a:latin typeface="+mn-lt"/>
              </a:rPr>
              <a:t>It considers how we as people shape our natural world and built environments – and how those environments shape us in turn.</a:t>
            </a:r>
          </a:p>
          <a:p>
            <a:pPr marL="571500" indent="-571500">
              <a:buFont typeface="Wingdings" panose="05000000000000000000" pitchFamily="2" charset="2"/>
              <a:buChar char="Ø"/>
            </a:pPr>
            <a:r>
              <a:rPr lang="en-US" sz="3600" b="0" i="0" dirty="0">
                <a:solidFill>
                  <a:srgbClr val="000000"/>
                </a:solidFill>
                <a:effectLst/>
                <a:latin typeface="+mn-lt"/>
              </a:rPr>
              <a:t>studies the relationships between living organisms and their environments, environmental psychology also considers how we as people affect the world.</a:t>
            </a:r>
            <a:endParaRPr lang="en-US" sz="3600" dirty="0">
              <a:latin typeface="+mn-lt"/>
            </a:endParaRPr>
          </a:p>
        </p:txBody>
      </p:sp>
    </p:spTree>
    <p:extLst>
      <p:ext uri="{BB962C8B-B14F-4D97-AF65-F5344CB8AC3E}">
        <p14:creationId xmlns:p14="http://schemas.microsoft.com/office/powerpoint/2010/main" val="1504604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Experimental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4431983"/>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interested in exploring theoretical questions, often by creating a hypothesis and then setting out to prove or disprove it through experimentation. </a:t>
            </a:r>
          </a:p>
          <a:p>
            <a:pPr marL="571500" indent="-571500">
              <a:buFont typeface="Wingdings" panose="05000000000000000000" pitchFamily="2" charset="2"/>
              <a:buChar char="Ø"/>
            </a:pPr>
            <a:r>
              <a:rPr lang="en-US" sz="3600" b="0" i="0" dirty="0">
                <a:solidFill>
                  <a:srgbClr val="000000"/>
                </a:solidFill>
                <a:effectLst/>
                <a:latin typeface="+mn-lt"/>
              </a:rPr>
              <a:t>study a wide range of behavioral topics among humans and animals, including sensation, perception, attention, memory, cognition and emotion.</a:t>
            </a:r>
          </a:p>
          <a:p>
            <a:pPr marL="571500" indent="-571500">
              <a:buFont typeface="Wingdings" panose="05000000000000000000" pitchFamily="2" charset="2"/>
              <a:buChar char="Ø"/>
            </a:pPr>
            <a:r>
              <a:rPr lang="en-US" sz="3600" b="0" i="0" dirty="0">
                <a:solidFill>
                  <a:srgbClr val="000000"/>
                </a:solidFill>
                <a:effectLst/>
                <a:latin typeface="+mn-lt"/>
              </a:rPr>
              <a:t>use scientific methods to collect data and perform research.</a:t>
            </a:r>
          </a:p>
          <a:p>
            <a:pPr marL="571500" indent="-571500">
              <a:buFont typeface="Wingdings" panose="05000000000000000000" pitchFamily="2" charset="2"/>
              <a:buChar char="Ø"/>
            </a:pPr>
            <a:endParaRPr lang="en-US" sz="3600" dirty="0">
              <a:latin typeface="+mn-lt"/>
            </a:endParaRPr>
          </a:p>
        </p:txBody>
      </p:sp>
    </p:spTree>
    <p:extLst>
      <p:ext uri="{BB962C8B-B14F-4D97-AF65-F5344CB8AC3E}">
        <p14:creationId xmlns:p14="http://schemas.microsoft.com/office/powerpoint/2010/main" val="2423005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8C0A4-3E4C-3815-BBAB-56FF3DD8F5FB}"/>
              </a:ext>
            </a:extLst>
          </p:cNvPr>
          <p:cNvSpPr>
            <a:spLocks noGrp="1"/>
          </p:cNvSpPr>
          <p:nvPr>
            <p:ph type="ctrTitle"/>
          </p:nvPr>
        </p:nvSpPr>
        <p:spPr>
          <a:xfrm>
            <a:off x="2438400" y="1181100"/>
            <a:ext cx="13944600" cy="977191"/>
          </a:xfrm>
        </p:spPr>
        <p:txBody>
          <a:bodyPr/>
          <a:lstStyle/>
          <a:p>
            <a:r>
              <a:rPr lang="en-US" dirty="0"/>
              <a:t>Health Psychology</a:t>
            </a:r>
          </a:p>
        </p:txBody>
      </p:sp>
      <p:sp>
        <p:nvSpPr>
          <p:cNvPr id="3" name="Subtitle 2">
            <a:extLst>
              <a:ext uri="{FF2B5EF4-FFF2-40B4-BE49-F238E27FC236}">
                <a16:creationId xmlns:a16="http://schemas.microsoft.com/office/drawing/2014/main" id="{2891041B-EF9D-A0C3-D7AC-0A99801FF147}"/>
              </a:ext>
            </a:extLst>
          </p:cNvPr>
          <p:cNvSpPr>
            <a:spLocks noGrp="1"/>
          </p:cNvSpPr>
          <p:nvPr>
            <p:ph type="subTitle" idx="4"/>
          </p:nvPr>
        </p:nvSpPr>
        <p:spPr>
          <a:xfrm>
            <a:off x="2438400" y="3619500"/>
            <a:ext cx="12801600" cy="3323987"/>
          </a:xfrm>
        </p:spPr>
        <p:txBody>
          <a:bodyPr/>
          <a:lstStyle/>
          <a:p>
            <a:pPr marL="571500" indent="-571500">
              <a:buFont typeface="Wingdings" panose="05000000000000000000" pitchFamily="2" charset="2"/>
              <a:buChar char="Ø"/>
            </a:pPr>
            <a:r>
              <a:rPr lang="en-US" sz="3600" b="0" i="0" dirty="0">
                <a:solidFill>
                  <a:srgbClr val="000000"/>
                </a:solidFill>
                <a:effectLst/>
                <a:latin typeface="+mn-lt"/>
              </a:rPr>
              <a:t>focuses on how biology, psychology, behavior, and social factors influence health and illness.</a:t>
            </a:r>
          </a:p>
          <a:p>
            <a:pPr marL="571500" indent="-571500">
              <a:buFont typeface="Wingdings" panose="05000000000000000000" pitchFamily="2" charset="2"/>
              <a:buChar char="Ø"/>
            </a:pPr>
            <a:r>
              <a:rPr lang="en-US" sz="3600" b="0" i="0" dirty="0">
                <a:solidFill>
                  <a:srgbClr val="000000"/>
                </a:solidFill>
                <a:effectLst/>
                <a:latin typeface="+mn-lt"/>
              </a:rPr>
              <a:t>focused on promoting health as well as the prevention and treatment of disease and illness.</a:t>
            </a:r>
          </a:p>
          <a:p>
            <a:pPr marL="571500" indent="-571500">
              <a:buFont typeface="Wingdings" panose="05000000000000000000" pitchFamily="2" charset="2"/>
              <a:buChar char="Ø"/>
            </a:pPr>
            <a:r>
              <a:rPr lang="en-US" sz="3600" dirty="0">
                <a:latin typeface="+mn-lt"/>
              </a:rPr>
              <a:t>also focus on understanding how people react to, cope with, and recover from illness.</a:t>
            </a:r>
          </a:p>
        </p:txBody>
      </p:sp>
    </p:spTree>
    <p:extLst>
      <p:ext uri="{BB962C8B-B14F-4D97-AF65-F5344CB8AC3E}">
        <p14:creationId xmlns:p14="http://schemas.microsoft.com/office/powerpoint/2010/main" val="666228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sp>
          <p:nvSpPr>
            <p:cNvPr id="3" name="object 3"/>
            <p:cNvSpPr/>
            <p:nvPr/>
          </p:nvSpPr>
          <p:spPr>
            <a:xfrm>
              <a:off x="11967191" y="0"/>
              <a:ext cx="6321425" cy="10287000"/>
            </a:xfrm>
            <a:custGeom>
              <a:avLst/>
              <a:gdLst/>
              <a:ahLst/>
              <a:cxnLst/>
              <a:rect l="l" t="t" r="r" b="b"/>
              <a:pathLst>
                <a:path w="6321425" h="10287000">
                  <a:moveTo>
                    <a:pt x="0" y="0"/>
                  </a:moveTo>
                  <a:lnTo>
                    <a:pt x="6320807" y="0"/>
                  </a:lnTo>
                  <a:lnTo>
                    <a:pt x="6320807" y="10286998"/>
                  </a:lnTo>
                  <a:lnTo>
                    <a:pt x="0" y="10286998"/>
                  </a:lnTo>
                  <a:lnTo>
                    <a:pt x="0" y="0"/>
                  </a:lnTo>
                  <a:close/>
                </a:path>
              </a:pathLst>
            </a:custGeom>
            <a:solidFill>
              <a:srgbClr val="DDDDDD">
                <a:alpha val="17649"/>
              </a:srgbClr>
            </a:solidFill>
          </p:spPr>
          <p:txBody>
            <a:bodyPr wrap="square" lIns="0" tIns="0" rIns="0" bIns="0" rtlCol="0"/>
            <a:lstStyle/>
            <a:p>
              <a:endParaRPr dirty="0"/>
            </a:p>
          </p:txBody>
        </p:sp>
        <p:sp>
          <p:nvSpPr>
            <p:cNvPr id="4" name="object 4"/>
            <p:cNvSpPr/>
            <p:nvPr/>
          </p:nvSpPr>
          <p:spPr>
            <a:xfrm>
              <a:off x="0" y="0"/>
              <a:ext cx="11946255" cy="10287000"/>
            </a:xfrm>
            <a:custGeom>
              <a:avLst/>
              <a:gdLst/>
              <a:ahLst/>
              <a:cxnLst/>
              <a:rect l="l" t="t" r="r" b="b"/>
              <a:pathLst>
                <a:path w="11946255" h="10287000">
                  <a:moveTo>
                    <a:pt x="0" y="0"/>
                  </a:moveTo>
                  <a:lnTo>
                    <a:pt x="11945752" y="0"/>
                  </a:lnTo>
                  <a:lnTo>
                    <a:pt x="11945752" y="10286998"/>
                  </a:lnTo>
                  <a:lnTo>
                    <a:pt x="0" y="10286998"/>
                  </a:lnTo>
                  <a:lnTo>
                    <a:pt x="0" y="0"/>
                  </a:lnTo>
                  <a:close/>
                </a:path>
              </a:pathLst>
            </a:custGeom>
            <a:solidFill>
              <a:srgbClr val="FFD372">
                <a:alpha val="17649"/>
              </a:srgbClr>
            </a:solidFill>
          </p:spPr>
          <p:txBody>
            <a:bodyPr wrap="square" lIns="0" tIns="0" rIns="0" bIns="0" rtlCol="0"/>
            <a:lstStyle/>
            <a:p>
              <a:endParaRPr dirty="0"/>
            </a:p>
          </p:txBody>
        </p:sp>
      </p:grpSp>
      <p:sp>
        <p:nvSpPr>
          <p:cNvPr id="5" name="object 5"/>
          <p:cNvSpPr txBox="1"/>
          <p:nvPr/>
        </p:nvSpPr>
        <p:spPr>
          <a:xfrm>
            <a:off x="8470541" y="1915249"/>
            <a:ext cx="3024505" cy="2254250"/>
          </a:xfrm>
          <a:prstGeom prst="rect">
            <a:avLst/>
          </a:prstGeom>
        </p:spPr>
        <p:txBody>
          <a:bodyPr vert="horz" wrap="square" lIns="0" tIns="220980" rIns="0" bIns="0" rtlCol="0">
            <a:spAutoFit/>
          </a:bodyPr>
          <a:lstStyle/>
          <a:p>
            <a:pPr marL="12700" marR="5080">
              <a:lnSpc>
                <a:spcPts val="7950"/>
              </a:lnSpc>
              <a:spcBef>
                <a:spcPts val="1740"/>
              </a:spcBef>
            </a:pPr>
            <a:r>
              <a:rPr sz="6000" spc="-150" dirty="0">
                <a:solidFill>
                  <a:srgbClr val="F9BF40"/>
                </a:solidFill>
                <a:latin typeface="Calibri"/>
                <a:cs typeface="Calibri"/>
              </a:rPr>
              <a:t>MEDICAL/ HEALTH</a:t>
            </a:r>
            <a:endParaRPr sz="6000" spc="-150" dirty="0">
              <a:latin typeface="Calibri"/>
              <a:cs typeface="Calibri"/>
            </a:endParaRPr>
          </a:p>
        </p:txBody>
      </p:sp>
      <p:sp>
        <p:nvSpPr>
          <p:cNvPr id="6" name="object 6"/>
          <p:cNvSpPr txBox="1"/>
          <p:nvPr/>
        </p:nvSpPr>
        <p:spPr>
          <a:xfrm>
            <a:off x="8470541" y="4939220"/>
            <a:ext cx="2892425" cy="2241960"/>
          </a:xfrm>
          <a:prstGeom prst="rect">
            <a:avLst/>
          </a:prstGeom>
        </p:spPr>
        <p:txBody>
          <a:bodyPr vert="horz" wrap="square" lIns="0" tIns="220980" rIns="0" bIns="0" rtlCol="0">
            <a:spAutoFit/>
          </a:bodyPr>
          <a:lstStyle/>
          <a:p>
            <a:pPr marL="12700" marR="5080">
              <a:lnSpc>
                <a:spcPts val="7950"/>
              </a:lnSpc>
              <a:spcBef>
                <a:spcPts val="1740"/>
              </a:spcBef>
            </a:pPr>
            <a:r>
              <a:rPr sz="6000" spc="-150" dirty="0">
                <a:solidFill>
                  <a:srgbClr val="F9BF40"/>
                </a:solidFill>
                <a:latin typeface="Calibri"/>
                <a:cs typeface="Calibri"/>
              </a:rPr>
              <a:t>BUSINESS FIELDS</a:t>
            </a:r>
            <a:endParaRPr sz="6000" spc="-150" dirty="0">
              <a:latin typeface="Calibri"/>
              <a:cs typeface="Calibri"/>
            </a:endParaRPr>
          </a:p>
        </p:txBody>
      </p:sp>
      <p:sp>
        <p:nvSpPr>
          <p:cNvPr id="7" name="object 7"/>
          <p:cNvSpPr txBox="1">
            <a:spLocks noGrp="1"/>
          </p:cNvSpPr>
          <p:nvPr>
            <p:ph type="title"/>
          </p:nvPr>
        </p:nvSpPr>
        <p:spPr>
          <a:xfrm>
            <a:off x="12769219" y="1847615"/>
            <a:ext cx="3115310" cy="2221634"/>
          </a:xfrm>
          <a:prstGeom prst="rect">
            <a:avLst/>
          </a:prstGeom>
        </p:spPr>
        <p:txBody>
          <a:bodyPr vert="horz" wrap="square" lIns="0" tIns="220980" rIns="0" bIns="0" rtlCol="0">
            <a:spAutoFit/>
          </a:bodyPr>
          <a:lstStyle/>
          <a:p>
            <a:pPr marL="12700" marR="5080">
              <a:lnSpc>
                <a:spcPts val="7950"/>
              </a:lnSpc>
              <a:spcBef>
                <a:spcPts val="1740"/>
              </a:spcBef>
            </a:pPr>
            <a:r>
              <a:rPr sz="5400" b="0" spc="-150" dirty="0">
                <a:solidFill>
                  <a:srgbClr val="F9BF40"/>
                </a:solidFill>
                <a:latin typeface="Calibri"/>
                <a:cs typeface="Calibri"/>
              </a:rPr>
              <a:t>ACADEMIC FIELDS</a:t>
            </a:r>
            <a:endParaRPr sz="5400" spc="-150" dirty="0">
              <a:latin typeface="Calibri"/>
              <a:cs typeface="Calibri"/>
            </a:endParaRPr>
          </a:p>
        </p:txBody>
      </p:sp>
      <p:sp>
        <p:nvSpPr>
          <p:cNvPr id="8" name="object 8"/>
          <p:cNvSpPr txBox="1"/>
          <p:nvPr/>
        </p:nvSpPr>
        <p:spPr>
          <a:xfrm>
            <a:off x="12769219" y="4939220"/>
            <a:ext cx="2116455" cy="2201308"/>
          </a:xfrm>
          <a:prstGeom prst="rect">
            <a:avLst/>
          </a:prstGeom>
        </p:spPr>
        <p:txBody>
          <a:bodyPr vert="horz" wrap="square" lIns="0" tIns="220980" rIns="0" bIns="0" rtlCol="0">
            <a:spAutoFit/>
          </a:bodyPr>
          <a:lstStyle/>
          <a:p>
            <a:pPr marL="12700" marR="5080">
              <a:lnSpc>
                <a:spcPts val="7950"/>
              </a:lnSpc>
              <a:spcBef>
                <a:spcPts val="1740"/>
              </a:spcBef>
            </a:pPr>
            <a:r>
              <a:rPr sz="5400" spc="-150" dirty="0">
                <a:solidFill>
                  <a:srgbClr val="F9BF40"/>
                </a:solidFill>
                <a:latin typeface="Calibri"/>
                <a:cs typeface="Calibri"/>
              </a:rPr>
              <a:t>SOCIAL FIELDS</a:t>
            </a:r>
            <a:endParaRPr sz="5400" spc="-150" dirty="0">
              <a:latin typeface="Calibri"/>
              <a:cs typeface="Calibri"/>
            </a:endParaRPr>
          </a:p>
        </p:txBody>
      </p:sp>
      <p:grpSp>
        <p:nvGrpSpPr>
          <p:cNvPr id="9" name="object 9"/>
          <p:cNvGrpSpPr/>
          <p:nvPr/>
        </p:nvGrpSpPr>
        <p:grpSpPr>
          <a:xfrm>
            <a:off x="1028700" y="1028700"/>
            <a:ext cx="17256125" cy="5419725"/>
            <a:chOff x="1028700" y="1028700"/>
            <a:chExt cx="17256125" cy="5419725"/>
          </a:xfrm>
        </p:grpSpPr>
        <p:sp>
          <p:nvSpPr>
            <p:cNvPr id="10" name="object 10"/>
            <p:cNvSpPr/>
            <p:nvPr/>
          </p:nvSpPr>
          <p:spPr>
            <a:xfrm>
              <a:off x="8483241" y="4321836"/>
              <a:ext cx="9801860" cy="0"/>
            </a:xfrm>
            <a:custGeom>
              <a:avLst/>
              <a:gdLst/>
              <a:ahLst/>
              <a:cxnLst/>
              <a:rect l="l" t="t" r="r" b="b"/>
              <a:pathLst>
                <a:path w="9801860">
                  <a:moveTo>
                    <a:pt x="0" y="0"/>
                  </a:moveTo>
                  <a:lnTo>
                    <a:pt x="9801335" y="0"/>
                  </a:lnTo>
                </a:path>
              </a:pathLst>
            </a:custGeom>
            <a:ln w="19049">
              <a:solidFill>
                <a:srgbClr val="F9BF40"/>
              </a:solidFill>
            </a:ln>
          </p:spPr>
          <p:txBody>
            <a:bodyPr wrap="square" lIns="0" tIns="0" rIns="0" bIns="0" rtlCol="0"/>
            <a:lstStyle/>
            <a:p>
              <a:endParaRPr dirty="0"/>
            </a:p>
          </p:txBody>
        </p:sp>
        <p:pic>
          <p:nvPicPr>
            <p:cNvPr id="11" name="object 11"/>
            <p:cNvPicPr/>
            <p:nvPr/>
          </p:nvPicPr>
          <p:blipFill>
            <a:blip r:embed="rId2" cstate="print"/>
            <a:stretch>
              <a:fillRect/>
            </a:stretch>
          </p:blipFill>
          <p:spPr>
            <a:xfrm>
              <a:off x="1028700" y="1028700"/>
              <a:ext cx="5934074" cy="5419724"/>
            </a:xfrm>
            <a:prstGeom prst="rect">
              <a:avLst/>
            </a:prstGeom>
          </p:spPr>
        </p:pic>
      </p:grpSp>
      <p:sp>
        <p:nvSpPr>
          <p:cNvPr id="12" name="object 12"/>
          <p:cNvSpPr txBox="1"/>
          <p:nvPr/>
        </p:nvSpPr>
        <p:spPr>
          <a:xfrm>
            <a:off x="1013101" y="7427314"/>
            <a:ext cx="10349865" cy="2432717"/>
          </a:xfrm>
          <a:prstGeom prst="rect">
            <a:avLst/>
          </a:prstGeom>
        </p:spPr>
        <p:txBody>
          <a:bodyPr vert="horz" wrap="square" lIns="0" tIns="16510" rIns="0" bIns="0" rtlCol="0">
            <a:spAutoFit/>
          </a:bodyPr>
          <a:lstStyle/>
          <a:p>
            <a:pPr marL="12700">
              <a:lnSpc>
                <a:spcPct val="100000"/>
              </a:lnSpc>
              <a:spcBef>
                <a:spcPts val="130"/>
              </a:spcBef>
            </a:pPr>
            <a:r>
              <a:rPr sz="7850" spc="-150" dirty="0">
                <a:solidFill>
                  <a:srgbClr val="F9BF40"/>
                </a:solidFill>
                <a:latin typeface="Calibri"/>
                <a:cs typeface="Calibri"/>
              </a:rPr>
              <a:t>WHERE DO PSYCHOLOGISTS WORK?</a:t>
            </a:r>
            <a:endParaRPr sz="7850" spc="-150"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30266"/>
            <a:ext cx="18287365" cy="10057130"/>
            <a:chOff x="0" y="230266"/>
            <a:chExt cx="18287365" cy="10057130"/>
          </a:xfrm>
        </p:grpSpPr>
        <p:sp>
          <p:nvSpPr>
            <p:cNvPr id="3" name="object 3"/>
            <p:cNvSpPr/>
            <p:nvPr/>
          </p:nvSpPr>
          <p:spPr>
            <a:xfrm>
              <a:off x="0" y="230275"/>
              <a:ext cx="18287365" cy="10057130"/>
            </a:xfrm>
            <a:custGeom>
              <a:avLst/>
              <a:gdLst/>
              <a:ahLst/>
              <a:cxnLst/>
              <a:rect l="l" t="t" r="r" b="b"/>
              <a:pathLst>
                <a:path w="18287365" h="10057130">
                  <a:moveTo>
                    <a:pt x="18286921" y="48742"/>
                  </a:moveTo>
                  <a:lnTo>
                    <a:pt x="18238204" y="48742"/>
                  </a:lnTo>
                  <a:lnTo>
                    <a:pt x="18238204" y="10056736"/>
                  </a:lnTo>
                  <a:lnTo>
                    <a:pt x="18286921" y="10056736"/>
                  </a:lnTo>
                  <a:lnTo>
                    <a:pt x="18286921" y="48742"/>
                  </a:lnTo>
                  <a:close/>
                </a:path>
                <a:path w="18287365" h="10057130">
                  <a:moveTo>
                    <a:pt x="18286921" y="0"/>
                  </a:moveTo>
                  <a:lnTo>
                    <a:pt x="0" y="0"/>
                  </a:lnTo>
                  <a:lnTo>
                    <a:pt x="0" y="48260"/>
                  </a:lnTo>
                  <a:lnTo>
                    <a:pt x="0" y="10057130"/>
                  </a:lnTo>
                  <a:lnTo>
                    <a:pt x="48742" y="10057130"/>
                  </a:lnTo>
                  <a:lnTo>
                    <a:pt x="48742" y="48260"/>
                  </a:lnTo>
                  <a:lnTo>
                    <a:pt x="18286921" y="48260"/>
                  </a:lnTo>
                  <a:lnTo>
                    <a:pt x="18286921" y="0"/>
                  </a:lnTo>
                  <a:close/>
                </a:path>
              </a:pathLst>
            </a:custGeom>
            <a:solidFill>
              <a:srgbClr val="F9BF40"/>
            </a:solidFill>
          </p:spPr>
          <p:txBody>
            <a:bodyPr wrap="square" lIns="0" tIns="0" rIns="0" bIns="0" rtlCol="0"/>
            <a:lstStyle/>
            <a:p>
              <a:endParaRPr dirty="0"/>
            </a:p>
          </p:txBody>
        </p:sp>
        <p:sp>
          <p:nvSpPr>
            <p:cNvPr id="4" name="object 4"/>
            <p:cNvSpPr/>
            <p:nvPr/>
          </p:nvSpPr>
          <p:spPr>
            <a:xfrm>
              <a:off x="1323473" y="9267825"/>
              <a:ext cx="13697585" cy="0"/>
            </a:xfrm>
            <a:custGeom>
              <a:avLst/>
              <a:gdLst/>
              <a:ahLst/>
              <a:cxnLst/>
              <a:rect l="l" t="t" r="r" b="b"/>
              <a:pathLst>
                <a:path w="13697585">
                  <a:moveTo>
                    <a:pt x="0" y="0"/>
                  </a:moveTo>
                  <a:lnTo>
                    <a:pt x="13697084" y="0"/>
                  </a:lnTo>
                </a:path>
              </a:pathLst>
            </a:custGeom>
            <a:ln w="19049">
              <a:solidFill>
                <a:srgbClr val="F9BF40"/>
              </a:solidFill>
            </a:ln>
          </p:spPr>
          <p:txBody>
            <a:bodyPr wrap="square" lIns="0" tIns="0" rIns="0" bIns="0" rtlCol="0"/>
            <a:lstStyle/>
            <a:p>
              <a:endParaRPr dirty="0"/>
            </a:p>
          </p:txBody>
        </p:sp>
      </p:grpSp>
      <p:sp>
        <p:nvSpPr>
          <p:cNvPr id="5" name="object 5"/>
          <p:cNvSpPr txBox="1">
            <a:spLocks noGrp="1"/>
          </p:cNvSpPr>
          <p:nvPr>
            <p:ph type="title"/>
          </p:nvPr>
        </p:nvSpPr>
        <p:spPr>
          <a:xfrm>
            <a:off x="1310773" y="1114300"/>
            <a:ext cx="11483340" cy="894080"/>
          </a:xfrm>
          <a:prstGeom prst="rect">
            <a:avLst/>
          </a:prstGeom>
        </p:spPr>
        <p:txBody>
          <a:bodyPr vert="horz" wrap="square" lIns="0" tIns="12700" rIns="0" bIns="0" rtlCol="0">
            <a:spAutoFit/>
          </a:bodyPr>
          <a:lstStyle/>
          <a:p>
            <a:pPr marL="12700">
              <a:lnSpc>
                <a:spcPct val="100000"/>
              </a:lnSpc>
              <a:spcBef>
                <a:spcPts val="100"/>
              </a:spcBef>
            </a:pPr>
            <a:r>
              <a:rPr sz="5700" spc="-125" dirty="0">
                <a:latin typeface="Arial"/>
                <a:cs typeface="Arial"/>
              </a:rPr>
              <a:t>PSYCHOLOGICAL</a:t>
            </a:r>
            <a:r>
              <a:rPr sz="5700" spc="-275" dirty="0">
                <a:latin typeface="Arial"/>
                <a:cs typeface="Arial"/>
              </a:rPr>
              <a:t> </a:t>
            </a:r>
            <a:r>
              <a:rPr sz="5700" spc="-280" dirty="0">
                <a:latin typeface="Arial"/>
                <a:cs typeface="Arial"/>
              </a:rPr>
              <a:t>PERSPECTIVES</a:t>
            </a:r>
            <a:endParaRPr sz="5700" dirty="0">
              <a:latin typeface="Arial"/>
              <a:cs typeface="Arial"/>
            </a:endParaRPr>
          </a:p>
        </p:txBody>
      </p:sp>
      <p:sp>
        <p:nvSpPr>
          <p:cNvPr id="6" name="object 6"/>
          <p:cNvSpPr txBox="1">
            <a:spLocks noGrp="1"/>
          </p:cNvSpPr>
          <p:nvPr>
            <p:ph sz="half" idx="3"/>
          </p:nvPr>
        </p:nvSpPr>
        <p:spPr>
          <a:prstGeom prst="rect">
            <a:avLst/>
          </a:prstGeom>
        </p:spPr>
        <p:txBody>
          <a:bodyPr vert="horz" wrap="square" lIns="0" tIns="12700" rIns="0" bIns="0" rtlCol="0">
            <a:spAutoFit/>
          </a:bodyPr>
          <a:lstStyle/>
          <a:p>
            <a:pPr marL="12700">
              <a:lnSpc>
                <a:spcPct val="100000"/>
              </a:lnSpc>
              <a:spcBef>
                <a:spcPts val="100"/>
              </a:spcBef>
            </a:pPr>
            <a:r>
              <a:rPr spc="710" dirty="0"/>
              <a:t>PSYCHODYNAMIC</a:t>
            </a:r>
          </a:p>
          <a:p>
            <a:pPr marL="12700">
              <a:lnSpc>
                <a:spcPct val="100000"/>
              </a:lnSpc>
              <a:spcBef>
                <a:spcPts val="3479"/>
              </a:spcBef>
            </a:pPr>
            <a:r>
              <a:rPr spc="605" dirty="0"/>
              <a:t>COGNITIVE</a:t>
            </a:r>
          </a:p>
          <a:p>
            <a:pPr marL="12700" marR="349250">
              <a:lnSpc>
                <a:spcPct val="162500"/>
              </a:lnSpc>
              <a:spcBef>
                <a:spcPts val="600"/>
              </a:spcBef>
            </a:pPr>
            <a:r>
              <a:rPr spc="625" dirty="0"/>
              <a:t>GESTALT </a:t>
            </a:r>
            <a:r>
              <a:rPr spc="630" dirty="0"/>
              <a:t>NEUROSCIENCE </a:t>
            </a:r>
            <a:r>
              <a:rPr spc="665" dirty="0"/>
              <a:t>SOCIOCULTURAL</a:t>
            </a:r>
          </a:p>
        </p:txBody>
      </p:sp>
      <p:sp>
        <p:nvSpPr>
          <p:cNvPr id="7" name="object 7"/>
          <p:cNvSpPr txBox="1">
            <a:spLocks noGrp="1"/>
          </p:cNvSpPr>
          <p:nvPr>
            <p:ph sz="half" idx="2"/>
          </p:nvPr>
        </p:nvSpPr>
        <p:spPr>
          <a:prstGeom prst="rect">
            <a:avLst/>
          </a:prstGeom>
        </p:spPr>
        <p:txBody>
          <a:bodyPr vert="horz" wrap="square" lIns="0" tIns="12700" rIns="0" bIns="0" rtlCol="0">
            <a:spAutoFit/>
          </a:bodyPr>
          <a:lstStyle/>
          <a:p>
            <a:pPr marL="33020">
              <a:lnSpc>
                <a:spcPct val="100000"/>
              </a:lnSpc>
              <a:spcBef>
                <a:spcPts val="100"/>
              </a:spcBef>
            </a:pPr>
            <a:r>
              <a:rPr spc="580" dirty="0"/>
              <a:t>STRUCTURALISM</a:t>
            </a:r>
          </a:p>
          <a:p>
            <a:pPr marL="33020" marR="48260" indent="-20955">
              <a:lnSpc>
                <a:spcPct val="168100"/>
              </a:lnSpc>
              <a:spcBef>
                <a:spcPts val="100"/>
              </a:spcBef>
            </a:pPr>
            <a:r>
              <a:rPr spc="575" dirty="0"/>
              <a:t>FUNCTIONALISM </a:t>
            </a:r>
            <a:r>
              <a:rPr spc="550" dirty="0"/>
              <a:t>BEHAVIORISM</a:t>
            </a:r>
          </a:p>
          <a:p>
            <a:pPr marL="12700" marR="264795" indent="20320">
              <a:lnSpc>
                <a:spcPct val="149200"/>
              </a:lnSpc>
              <a:spcBef>
                <a:spcPts val="1095"/>
              </a:spcBef>
            </a:pPr>
            <a:r>
              <a:rPr spc="535" dirty="0"/>
              <a:t>HUMANISTIC </a:t>
            </a:r>
            <a:r>
              <a:rPr spc="640" dirty="0"/>
              <a:t>EVOLUTIONARY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39228" y="1"/>
            <a:ext cx="5734050" cy="10287000"/>
          </a:xfrm>
          <a:custGeom>
            <a:avLst/>
            <a:gdLst/>
            <a:ahLst/>
            <a:cxnLst/>
            <a:rect l="l" t="t" r="r" b="b"/>
            <a:pathLst>
              <a:path w="5734050" h="10287000">
                <a:moveTo>
                  <a:pt x="5733960" y="10286997"/>
                </a:moveTo>
                <a:lnTo>
                  <a:pt x="0" y="10286997"/>
                </a:lnTo>
                <a:lnTo>
                  <a:pt x="0" y="0"/>
                </a:lnTo>
                <a:lnTo>
                  <a:pt x="5733960" y="0"/>
                </a:lnTo>
                <a:lnTo>
                  <a:pt x="5733960" y="10286997"/>
                </a:lnTo>
                <a:close/>
              </a:path>
            </a:pathLst>
          </a:custGeom>
          <a:solidFill>
            <a:srgbClr val="FFD372"/>
          </a:solidFill>
        </p:spPr>
        <p:txBody>
          <a:bodyPr wrap="square" lIns="0" tIns="0" rIns="0" bIns="0" rtlCol="0"/>
          <a:lstStyle/>
          <a:p>
            <a:endParaRPr dirty="0"/>
          </a:p>
        </p:txBody>
      </p:sp>
      <p:pic>
        <p:nvPicPr>
          <p:cNvPr id="3" name="object 3"/>
          <p:cNvPicPr/>
          <p:nvPr/>
        </p:nvPicPr>
        <p:blipFill>
          <a:blip r:embed="rId3" cstate="print"/>
          <a:stretch>
            <a:fillRect/>
          </a:stretch>
        </p:blipFill>
        <p:spPr>
          <a:xfrm>
            <a:off x="8042091" y="1028701"/>
            <a:ext cx="10245908" cy="7543799"/>
          </a:xfrm>
          <a:prstGeom prst="rect">
            <a:avLst/>
          </a:prstGeom>
        </p:spPr>
      </p:pic>
      <p:sp>
        <p:nvSpPr>
          <p:cNvPr id="4" name="object 4"/>
          <p:cNvSpPr/>
          <p:nvPr/>
        </p:nvSpPr>
        <p:spPr>
          <a:xfrm>
            <a:off x="1028700" y="1028701"/>
            <a:ext cx="1563370" cy="417830"/>
          </a:xfrm>
          <a:custGeom>
            <a:avLst/>
            <a:gdLst/>
            <a:ahLst/>
            <a:cxnLst/>
            <a:rect l="l" t="t" r="r" b="b"/>
            <a:pathLst>
              <a:path w="1563370" h="417830">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sp>
        <p:nvSpPr>
          <p:cNvPr id="5" name="object 5"/>
          <p:cNvSpPr txBox="1">
            <a:spLocks noGrp="1"/>
          </p:cNvSpPr>
          <p:nvPr>
            <p:ph type="title"/>
          </p:nvPr>
        </p:nvSpPr>
        <p:spPr>
          <a:xfrm>
            <a:off x="1001279" y="1306779"/>
            <a:ext cx="6564370" cy="2394886"/>
          </a:xfrm>
          <a:prstGeom prst="rect">
            <a:avLst/>
          </a:prstGeom>
        </p:spPr>
        <p:txBody>
          <a:bodyPr vert="horz" wrap="square" lIns="0" tIns="17145" rIns="0" bIns="0" rtlCol="0">
            <a:spAutoFit/>
          </a:bodyPr>
          <a:lstStyle/>
          <a:p>
            <a:pPr marL="12700">
              <a:lnSpc>
                <a:spcPct val="100000"/>
              </a:lnSpc>
              <a:spcBef>
                <a:spcPts val="135"/>
              </a:spcBef>
            </a:pPr>
            <a:r>
              <a:rPr sz="5150" spc="685" dirty="0">
                <a:solidFill>
                  <a:srgbClr val="F9BF40"/>
                </a:solidFill>
              </a:rPr>
              <a:t>STRUCTURALISM</a:t>
            </a:r>
            <a:r>
              <a:rPr lang="en-US" sz="5150" spc="685" dirty="0">
                <a:solidFill>
                  <a:srgbClr val="F9BF40"/>
                </a:solidFill>
              </a:rPr>
              <a:t>: Building blocks of mind</a:t>
            </a:r>
            <a:endParaRPr sz="5150" dirty="0"/>
          </a:p>
        </p:txBody>
      </p:sp>
      <p:sp>
        <p:nvSpPr>
          <p:cNvPr id="9" name="object 9"/>
          <p:cNvSpPr txBox="1"/>
          <p:nvPr/>
        </p:nvSpPr>
        <p:spPr>
          <a:xfrm>
            <a:off x="885449" y="3701665"/>
            <a:ext cx="6680200" cy="6221127"/>
          </a:xfrm>
          <a:prstGeom prst="rect">
            <a:avLst/>
          </a:prstGeom>
        </p:spPr>
        <p:txBody>
          <a:bodyPr vert="horz" wrap="square" lIns="0" tIns="12700" rIns="0" bIns="0" rtlCol="0">
            <a:spAutoFit/>
          </a:bodyPr>
          <a:lstStyle/>
          <a:p>
            <a:pPr marL="12700">
              <a:lnSpc>
                <a:spcPct val="100000"/>
              </a:lnSpc>
              <a:spcBef>
                <a:spcPts val="100"/>
              </a:spcBef>
            </a:pPr>
            <a:r>
              <a:rPr sz="2400" spc="280" dirty="0">
                <a:latin typeface="Calibri"/>
                <a:cs typeface="Calibri"/>
              </a:rPr>
              <a:t>Wilhelm</a:t>
            </a:r>
            <a:r>
              <a:rPr sz="2400" spc="105" dirty="0">
                <a:latin typeface="Calibri"/>
                <a:cs typeface="Calibri"/>
              </a:rPr>
              <a:t> </a:t>
            </a:r>
            <a:r>
              <a:rPr sz="2400" spc="325" dirty="0">
                <a:latin typeface="Calibri"/>
                <a:cs typeface="Calibri"/>
              </a:rPr>
              <a:t>Wundt</a:t>
            </a:r>
            <a:endParaRPr sz="2400" dirty="0">
              <a:latin typeface="Calibri"/>
              <a:cs typeface="Calibri"/>
            </a:endParaRPr>
          </a:p>
          <a:p>
            <a:pPr>
              <a:lnSpc>
                <a:spcPct val="100000"/>
              </a:lnSpc>
              <a:spcBef>
                <a:spcPts val="40"/>
              </a:spcBef>
            </a:pPr>
            <a:endParaRPr sz="3100" dirty="0">
              <a:latin typeface="Calibri"/>
              <a:cs typeface="Calibri"/>
            </a:endParaRPr>
          </a:p>
          <a:p>
            <a:pPr marL="530225" marR="5080" algn="just">
              <a:lnSpc>
                <a:spcPct val="132800"/>
              </a:lnSpc>
            </a:pPr>
            <a:r>
              <a:rPr lang="en-US" sz="2400" b="1" i="1" dirty="0"/>
              <a:t>Structuralism is the study of the most basic elements, primarily sensations and perceptions, that make up our conscious mental experiences.</a:t>
            </a:r>
            <a:endParaRPr lang="en-US" sz="2400" spc="207" dirty="0">
              <a:cs typeface="Calibri"/>
            </a:endParaRPr>
          </a:p>
          <a:p>
            <a:pPr marL="530225" marR="5080">
              <a:lnSpc>
                <a:spcPct val="132800"/>
              </a:lnSpc>
            </a:pPr>
            <a:endParaRPr sz="2400" dirty="0">
              <a:latin typeface="Calibri"/>
              <a:cs typeface="Calibri"/>
            </a:endParaRPr>
          </a:p>
          <a:p>
            <a:pPr marL="353501" marR="3387" algn="just">
              <a:lnSpc>
                <a:spcPct val="132800"/>
              </a:lnSpc>
            </a:pPr>
            <a:r>
              <a:rPr sz="2400" spc="285" dirty="0">
                <a:latin typeface="Calibri"/>
                <a:cs typeface="Calibri"/>
              </a:rPr>
              <a:t>Study</a:t>
            </a:r>
            <a:r>
              <a:rPr sz="2400" spc="95" dirty="0">
                <a:latin typeface="Calibri"/>
                <a:cs typeface="Calibri"/>
              </a:rPr>
              <a:t> </a:t>
            </a:r>
            <a:r>
              <a:rPr sz="2400" spc="150" dirty="0">
                <a:latin typeface="Calibri"/>
                <a:cs typeface="Calibri"/>
              </a:rPr>
              <a:t>of</a:t>
            </a:r>
            <a:r>
              <a:rPr sz="2400" spc="95" dirty="0">
                <a:latin typeface="Calibri"/>
                <a:cs typeface="Calibri"/>
              </a:rPr>
              <a:t> </a:t>
            </a:r>
            <a:r>
              <a:rPr sz="2400" spc="260" dirty="0">
                <a:latin typeface="Calibri"/>
                <a:cs typeface="Calibri"/>
              </a:rPr>
              <a:t>conscious</a:t>
            </a:r>
            <a:r>
              <a:rPr sz="2400" spc="95" dirty="0">
                <a:latin typeface="Calibri"/>
                <a:cs typeface="Calibri"/>
              </a:rPr>
              <a:t> </a:t>
            </a:r>
            <a:r>
              <a:rPr sz="2400" spc="200" dirty="0">
                <a:latin typeface="Calibri"/>
                <a:cs typeface="Calibri"/>
              </a:rPr>
              <a:t>experience. </a:t>
            </a:r>
            <a:r>
              <a:rPr lang="en-US" sz="2400" b="1" i="1" dirty="0"/>
              <a:t>Introspection was a method of exploring conscious mental processes by asking subjects to look inward and report their sensations and perceptions.</a:t>
            </a:r>
          </a:p>
          <a:p>
            <a:pPr marL="530225" marR="427355">
              <a:lnSpc>
                <a:spcPct val="132800"/>
              </a:lnSpc>
            </a:pPr>
            <a:endParaRPr sz="2400" dirty="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638172" y="0"/>
            <a:ext cx="9625330" cy="10287000"/>
            <a:chOff x="8638172" y="0"/>
            <a:chExt cx="9625330" cy="10287000"/>
          </a:xfrm>
        </p:grpSpPr>
        <p:sp>
          <p:nvSpPr>
            <p:cNvPr id="3" name="object 3"/>
            <p:cNvSpPr/>
            <p:nvPr/>
          </p:nvSpPr>
          <p:spPr>
            <a:xfrm>
              <a:off x="8638172" y="0"/>
              <a:ext cx="9625330" cy="10287000"/>
            </a:xfrm>
            <a:custGeom>
              <a:avLst/>
              <a:gdLst/>
              <a:ahLst/>
              <a:cxnLst/>
              <a:rect l="l" t="t" r="r" b="b"/>
              <a:pathLst>
                <a:path w="9625330" h="10287000">
                  <a:moveTo>
                    <a:pt x="0" y="0"/>
                  </a:moveTo>
                  <a:lnTo>
                    <a:pt x="9624862" y="0"/>
                  </a:lnTo>
                  <a:lnTo>
                    <a:pt x="9624862" y="10286998"/>
                  </a:lnTo>
                  <a:lnTo>
                    <a:pt x="0" y="10286998"/>
                  </a:lnTo>
                  <a:lnTo>
                    <a:pt x="0" y="0"/>
                  </a:lnTo>
                  <a:close/>
                </a:path>
              </a:pathLst>
            </a:custGeom>
            <a:solidFill>
              <a:srgbClr val="DDDDDD">
                <a:alpha val="17649"/>
              </a:srgbClr>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9853862" y="1043428"/>
              <a:ext cx="7400924" cy="8210548"/>
            </a:xfrm>
            <a:prstGeom prst="rect">
              <a:avLst/>
            </a:prstGeom>
          </p:spPr>
        </p:pic>
      </p:grpSp>
      <p:grpSp>
        <p:nvGrpSpPr>
          <p:cNvPr id="5" name="object 5"/>
          <p:cNvGrpSpPr/>
          <p:nvPr/>
        </p:nvGrpSpPr>
        <p:grpSpPr>
          <a:xfrm>
            <a:off x="0" y="0"/>
            <a:ext cx="7713980" cy="10287000"/>
            <a:chOff x="0" y="0"/>
            <a:chExt cx="7713980" cy="10287000"/>
          </a:xfrm>
        </p:grpSpPr>
        <p:sp>
          <p:nvSpPr>
            <p:cNvPr id="6" name="object 6"/>
            <p:cNvSpPr/>
            <p:nvPr/>
          </p:nvSpPr>
          <p:spPr>
            <a:xfrm>
              <a:off x="0" y="0"/>
              <a:ext cx="7713980" cy="10287000"/>
            </a:xfrm>
            <a:custGeom>
              <a:avLst/>
              <a:gdLst/>
              <a:ahLst/>
              <a:cxnLst/>
              <a:rect l="l" t="t" r="r" b="b"/>
              <a:pathLst>
                <a:path w="7713980" h="10287000">
                  <a:moveTo>
                    <a:pt x="0" y="0"/>
                  </a:moveTo>
                  <a:lnTo>
                    <a:pt x="7713542" y="0"/>
                  </a:lnTo>
                  <a:lnTo>
                    <a:pt x="7713542" y="10286998"/>
                  </a:lnTo>
                  <a:lnTo>
                    <a:pt x="0" y="10286998"/>
                  </a:lnTo>
                  <a:lnTo>
                    <a:pt x="0" y="0"/>
                  </a:lnTo>
                  <a:close/>
                </a:path>
              </a:pathLst>
            </a:custGeom>
            <a:solidFill>
              <a:srgbClr val="FFD372">
                <a:alpha val="17649"/>
              </a:srgbClr>
            </a:solidFill>
          </p:spPr>
          <p:txBody>
            <a:bodyPr wrap="square" lIns="0" tIns="0" rIns="0" bIns="0" rtlCol="0"/>
            <a:lstStyle/>
            <a:p>
              <a:endParaRPr dirty="0"/>
            </a:p>
          </p:txBody>
        </p:sp>
        <p:sp>
          <p:nvSpPr>
            <p:cNvPr id="7" name="object 7"/>
            <p:cNvSpPr/>
            <p:nvPr/>
          </p:nvSpPr>
          <p:spPr>
            <a:xfrm>
              <a:off x="1028699" y="1043428"/>
              <a:ext cx="1563370" cy="417830"/>
            </a:xfrm>
            <a:custGeom>
              <a:avLst/>
              <a:gdLst/>
              <a:ahLst/>
              <a:cxnLst/>
              <a:rect l="l" t="t" r="r" b="b"/>
              <a:pathLst>
                <a:path w="1563370" h="417830">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grpSp>
      <p:sp>
        <p:nvSpPr>
          <p:cNvPr id="8" name="object 8"/>
          <p:cNvSpPr txBox="1">
            <a:spLocks noGrp="1"/>
          </p:cNvSpPr>
          <p:nvPr>
            <p:ph type="title"/>
          </p:nvPr>
        </p:nvSpPr>
        <p:spPr>
          <a:xfrm>
            <a:off x="1016000" y="2240394"/>
            <a:ext cx="5143500" cy="725805"/>
          </a:xfrm>
          <a:prstGeom prst="rect">
            <a:avLst/>
          </a:prstGeom>
        </p:spPr>
        <p:txBody>
          <a:bodyPr vert="horz" wrap="square" lIns="0" tIns="12065" rIns="0" bIns="0" rtlCol="0">
            <a:spAutoFit/>
          </a:bodyPr>
          <a:lstStyle/>
          <a:p>
            <a:pPr marL="12700">
              <a:lnSpc>
                <a:spcPct val="100000"/>
              </a:lnSpc>
              <a:spcBef>
                <a:spcPts val="95"/>
              </a:spcBef>
            </a:pPr>
            <a:r>
              <a:rPr sz="4600" spc="585" dirty="0"/>
              <a:t>FUNCTIONALISM</a:t>
            </a:r>
            <a:endParaRPr sz="4600" dirty="0"/>
          </a:p>
        </p:txBody>
      </p:sp>
      <p:sp>
        <p:nvSpPr>
          <p:cNvPr id="12" name="object 12"/>
          <p:cNvSpPr txBox="1"/>
          <p:nvPr/>
        </p:nvSpPr>
        <p:spPr>
          <a:xfrm>
            <a:off x="1061085" y="3162300"/>
            <a:ext cx="5591810" cy="7773667"/>
          </a:xfrm>
          <a:prstGeom prst="rect">
            <a:avLst/>
          </a:prstGeom>
        </p:spPr>
        <p:txBody>
          <a:bodyPr vert="horz" wrap="square" lIns="0" tIns="13970" rIns="0" bIns="0" rtlCol="0">
            <a:spAutoFit/>
          </a:bodyPr>
          <a:lstStyle/>
          <a:p>
            <a:pPr marL="12700">
              <a:lnSpc>
                <a:spcPct val="100000"/>
              </a:lnSpc>
              <a:spcBef>
                <a:spcPts val="110"/>
              </a:spcBef>
            </a:pPr>
            <a:r>
              <a:rPr sz="2800" spc="240" dirty="0">
                <a:latin typeface="Calibri"/>
                <a:cs typeface="Calibri"/>
              </a:rPr>
              <a:t>William</a:t>
            </a:r>
            <a:r>
              <a:rPr sz="2800" spc="100" dirty="0">
                <a:latin typeface="Calibri"/>
                <a:cs typeface="Calibri"/>
              </a:rPr>
              <a:t> </a:t>
            </a:r>
            <a:r>
              <a:rPr sz="2800" spc="335" dirty="0">
                <a:latin typeface="Calibri"/>
                <a:cs typeface="Calibri"/>
              </a:rPr>
              <a:t>James</a:t>
            </a:r>
            <a:endParaRPr sz="2800" dirty="0">
              <a:latin typeface="Calibri"/>
              <a:cs typeface="Calibri"/>
            </a:endParaRPr>
          </a:p>
          <a:p>
            <a:pPr>
              <a:lnSpc>
                <a:spcPct val="100000"/>
              </a:lnSpc>
              <a:spcBef>
                <a:spcPts val="10"/>
              </a:spcBef>
            </a:pPr>
            <a:endParaRPr sz="3600" dirty="0">
              <a:latin typeface="Calibri"/>
              <a:cs typeface="Calibri"/>
            </a:endParaRPr>
          </a:p>
          <a:p>
            <a:pPr marL="511809" marR="5080" algn="just">
              <a:lnSpc>
                <a:spcPct val="133200"/>
              </a:lnSpc>
              <a:spcBef>
                <a:spcPts val="5"/>
              </a:spcBef>
            </a:pPr>
            <a:r>
              <a:rPr lang="en-US" altLang="en-US" sz="2800" dirty="0"/>
              <a:t>They studied </a:t>
            </a:r>
            <a:r>
              <a:rPr lang="en-US" altLang="en-US" sz="2800" u="sng" dirty="0"/>
              <a:t>how</a:t>
            </a:r>
            <a:r>
              <a:rPr lang="en-US" altLang="en-US" sz="2800" dirty="0"/>
              <a:t> and </a:t>
            </a:r>
            <a:r>
              <a:rPr lang="en-US" altLang="en-US" sz="2800" u="sng" dirty="0"/>
              <a:t>why</a:t>
            </a:r>
            <a:r>
              <a:rPr lang="en-US" altLang="en-US" sz="2800" dirty="0"/>
              <a:t> the mind functions.</a:t>
            </a:r>
            <a:endParaRPr lang="en-US" sz="2800" spc="207" dirty="0">
              <a:cs typeface="Calibri"/>
            </a:endParaRPr>
          </a:p>
          <a:p>
            <a:pPr marL="511809" marR="5080" algn="just">
              <a:lnSpc>
                <a:spcPct val="133200"/>
              </a:lnSpc>
              <a:spcBef>
                <a:spcPts val="5"/>
              </a:spcBef>
            </a:pPr>
            <a:endParaRPr lang="en-US" sz="2800" spc="310" dirty="0">
              <a:latin typeface="Calibri"/>
              <a:cs typeface="Calibri"/>
            </a:endParaRPr>
          </a:p>
          <a:p>
            <a:pPr marL="854709" marR="5080" indent="-342900" algn="just">
              <a:lnSpc>
                <a:spcPct val="133200"/>
              </a:lnSpc>
              <a:spcBef>
                <a:spcPts val="5"/>
              </a:spcBef>
              <a:buFont typeface="Arial" panose="020B0604020202020204" pitchFamily="34" charset="0"/>
              <a:buChar char="•"/>
            </a:pPr>
            <a:r>
              <a:rPr sz="2800" spc="310" dirty="0">
                <a:latin typeface="Calibri"/>
                <a:cs typeface="Calibri"/>
              </a:rPr>
              <a:t>Examined</a:t>
            </a:r>
            <a:r>
              <a:rPr sz="2800" spc="105" dirty="0">
                <a:latin typeface="Calibri"/>
                <a:cs typeface="Calibri"/>
              </a:rPr>
              <a:t> </a:t>
            </a:r>
            <a:r>
              <a:rPr sz="2800" spc="315" dirty="0">
                <a:latin typeface="Calibri"/>
                <a:cs typeface="Calibri"/>
              </a:rPr>
              <a:t>how</a:t>
            </a:r>
            <a:r>
              <a:rPr sz="2800" spc="105" dirty="0">
                <a:latin typeface="Calibri"/>
                <a:cs typeface="Calibri"/>
              </a:rPr>
              <a:t> </a:t>
            </a:r>
            <a:r>
              <a:rPr sz="2800" spc="245" dirty="0">
                <a:latin typeface="Calibri"/>
                <a:cs typeface="Calibri"/>
              </a:rPr>
              <a:t>people</a:t>
            </a:r>
            <a:r>
              <a:rPr sz="2800" spc="105" dirty="0">
                <a:latin typeface="Calibri"/>
                <a:cs typeface="Calibri"/>
              </a:rPr>
              <a:t> </a:t>
            </a:r>
            <a:r>
              <a:rPr sz="2800" spc="170" dirty="0">
                <a:latin typeface="Calibri"/>
                <a:cs typeface="Calibri"/>
              </a:rPr>
              <a:t>satisfy</a:t>
            </a:r>
            <a:r>
              <a:rPr sz="2800" spc="110" dirty="0">
                <a:latin typeface="Calibri"/>
                <a:cs typeface="Calibri"/>
              </a:rPr>
              <a:t> </a:t>
            </a:r>
            <a:r>
              <a:rPr sz="2800" spc="170" dirty="0">
                <a:latin typeface="Calibri"/>
                <a:cs typeface="Calibri"/>
              </a:rPr>
              <a:t>their </a:t>
            </a:r>
            <a:r>
              <a:rPr sz="2800" spc="280" dirty="0">
                <a:latin typeface="Calibri"/>
                <a:cs typeface="Calibri"/>
              </a:rPr>
              <a:t>needs</a:t>
            </a:r>
            <a:r>
              <a:rPr sz="2800" spc="95" dirty="0">
                <a:latin typeface="Calibri"/>
                <a:cs typeface="Calibri"/>
              </a:rPr>
              <a:t> </a:t>
            </a:r>
            <a:r>
              <a:rPr sz="2800" spc="285" dirty="0">
                <a:latin typeface="Calibri"/>
                <a:cs typeface="Calibri"/>
              </a:rPr>
              <a:t>through</a:t>
            </a:r>
            <a:r>
              <a:rPr sz="2800" spc="100" dirty="0">
                <a:latin typeface="Calibri"/>
                <a:cs typeface="Calibri"/>
              </a:rPr>
              <a:t> </a:t>
            </a:r>
            <a:r>
              <a:rPr sz="2800" spc="190" dirty="0">
                <a:latin typeface="Calibri"/>
                <a:cs typeface="Calibri"/>
              </a:rPr>
              <a:t>their</a:t>
            </a:r>
            <a:r>
              <a:rPr sz="2800" spc="95" dirty="0">
                <a:latin typeface="Calibri"/>
                <a:cs typeface="Calibri"/>
              </a:rPr>
              <a:t> </a:t>
            </a:r>
            <a:r>
              <a:rPr sz="2800" spc="180" dirty="0">
                <a:latin typeface="Calibri"/>
                <a:cs typeface="Calibri"/>
              </a:rPr>
              <a:t>behavior.</a:t>
            </a:r>
            <a:endParaRPr sz="2800" dirty="0">
              <a:latin typeface="Calibri"/>
              <a:cs typeface="Calibri"/>
            </a:endParaRPr>
          </a:p>
          <a:p>
            <a:pPr marL="854709" marR="361315" indent="-342900" algn="just">
              <a:lnSpc>
                <a:spcPts val="3679"/>
              </a:lnSpc>
              <a:spcBef>
                <a:spcPts val="85"/>
              </a:spcBef>
              <a:buFont typeface="Arial" panose="020B0604020202020204" pitchFamily="34" charset="0"/>
              <a:buChar char="•"/>
            </a:pPr>
            <a:r>
              <a:rPr sz="2800" spc="345" dirty="0">
                <a:latin typeface="Calibri"/>
                <a:cs typeface="Calibri"/>
              </a:rPr>
              <a:t>How</a:t>
            </a:r>
            <a:r>
              <a:rPr sz="2800" spc="85" dirty="0">
                <a:latin typeface="Calibri"/>
                <a:cs typeface="Calibri"/>
              </a:rPr>
              <a:t> </a:t>
            </a:r>
            <a:r>
              <a:rPr sz="2800" spc="250" dirty="0">
                <a:latin typeface="Calibri"/>
                <a:cs typeface="Calibri"/>
              </a:rPr>
              <a:t>the</a:t>
            </a:r>
            <a:r>
              <a:rPr sz="2800" spc="90" dirty="0">
                <a:latin typeface="Calibri"/>
                <a:cs typeface="Calibri"/>
              </a:rPr>
              <a:t> </a:t>
            </a:r>
            <a:r>
              <a:rPr sz="2800" spc="190" dirty="0">
                <a:latin typeface="Calibri"/>
                <a:cs typeface="Calibri"/>
              </a:rPr>
              <a:t>flow</a:t>
            </a:r>
            <a:r>
              <a:rPr sz="2800" spc="90" dirty="0">
                <a:latin typeface="Calibri"/>
                <a:cs typeface="Calibri"/>
              </a:rPr>
              <a:t> </a:t>
            </a:r>
            <a:r>
              <a:rPr sz="2800" spc="150" dirty="0">
                <a:latin typeface="Calibri"/>
                <a:cs typeface="Calibri"/>
              </a:rPr>
              <a:t>of</a:t>
            </a:r>
            <a:r>
              <a:rPr sz="2800" spc="85" dirty="0">
                <a:latin typeface="Calibri"/>
                <a:cs typeface="Calibri"/>
              </a:rPr>
              <a:t> </a:t>
            </a:r>
            <a:r>
              <a:rPr sz="2800" spc="285" dirty="0">
                <a:latin typeface="Calibri"/>
                <a:cs typeface="Calibri"/>
              </a:rPr>
              <a:t>thoughts</a:t>
            </a:r>
            <a:r>
              <a:rPr sz="2800" spc="90" dirty="0">
                <a:latin typeface="Calibri"/>
                <a:cs typeface="Calibri"/>
              </a:rPr>
              <a:t> </a:t>
            </a:r>
            <a:r>
              <a:rPr sz="2800" spc="215" dirty="0">
                <a:latin typeface="Calibri"/>
                <a:cs typeface="Calibri"/>
              </a:rPr>
              <a:t>in</a:t>
            </a:r>
            <a:r>
              <a:rPr sz="2800" spc="90" dirty="0">
                <a:latin typeface="Calibri"/>
                <a:cs typeface="Calibri"/>
              </a:rPr>
              <a:t> </a:t>
            </a:r>
            <a:r>
              <a:rPr sz="2800" spc="200" dirty="0">
                <a:latin typeface="Calibri"/>
                <a:cs typeface="Calibri"/>
              </a:rPr>
              <a:t>our </a:t>
            </a:r>
            <a:r>
              <a:rPr sz="2800" spc="250" dirty="0">
                <a:latin typeface="Calibri"/>
                <a:cs typeface="Calibri"/>
              </a:rPr>
              <a:t>conscious</a:t>
            </a:r>
            <a:r>
              <a:rPr sz="2800" spc="114" dirty="0">
                <a:latin typeface="Calibri"/>
                <a:cs typeface="Calibri"/>
              </a:rPr>
              <a:t> </a:t>
            </a:r>
            <a:r>
              <a:rPr sz="2800" spc="300" dirty="0">
                <a:latin typeface="Calibri"/>
                <a:cs typeface="Calibri"/>
              </a:rPr>
              <a:t>minds—</a:t>
            </a:r>
            <a:r>
              <a:rPr sz="2800" spc="250" dirty="0">
                <a:latin typeface="Calibri"/>
                <a:cs typeface="Calibri"/>
              </a:rPr>
              <a:t>permits</a:t>
            </a:r>
            <a:r>
              <a:rPr sz="2800" spc="114" dirty="0">
                <a:latin typeface="Calibri"/>
                <a:cs typeface="Calibri"/>
              </a:rPr>
              <a:t> </a:t>
            </a:r>
            <a:r>
              <a:rPr sz="2800" spc="275" dirty="0">
                <a:latin typeface="Calibri"/>
                <a:cs typeface="Calibri"/>
              </a:rPr>
              <a:t>us</a:t>
            </a:r>
            <a:r>
              <a:rPr sz="2800" spc="120" dirty="0">
                <a:latin typeface="Calibri"/>
                <a:cs typeface="Calibri"/>
              </a:rPr>
              <a:t> </a:t>
            </a:r>
            <a:r>
              <a:rPr sz="2800" spc="165" dirty="0">
                <a:latin typeface="Calibri"/>
                <a:cs typeface="Calibri"/>
              </a:rPr>
              <a:t>to </a:t>
            </a:r>
            <a:r>
              <a:rPr sz="2800" spc="265" dirty="0">
                <a:latin typeface="Calibri"/>
                <a:cs typeface="Calibri"/>
              </a:rPr>
              <a:t>adapt</a:t>
            </a:r>
            <a:r>
              <a:rPr sz="2800" spc="95" dirty="0">
                <a:latin typeface="Calibri"/>
                <a:cs typeface="Calibri"/>
              </a:rPr>
              <a:t> </a:t>
            </a:r>
            <a:r>
              <a:rPr sz="2800" spc="190" dirty="0">
                <a:latin typeface="Calibri"/>
                <a:cs typeface="Calibri"/>
              </a:rPr>
              <a:t>to</a:t>
            </a:r>
            <a:r>
              <a:rPr sz="2800" spc="95" dirty="0">
                <a:latin typeface="Calibri"/>
                <a:cs typeface="Calibri"/>
              </a:rPr>
              <a:t> </a:t>
            </a:r>
            <a:r>
              <a:rPr sz="2800" spc="225" dirty="0">
                <a:latin typeface="Calibri"/>
                <a:cs typeface="Calibri"/>
              </a:rPr>
              <a:t>our</a:t>
            </a:r>
            <a:r>
              <a:rPr sz="2800" spc="100" dirty="0">
                <a:latin typeface="Calibri"/>
                <a:cs typeface="Calibri"/>
              </a:rPr>
              <a:t> </a:t>
            </a:r>
            <a:r>
              <a:rPr sz="2800" spc="225" dirty="0">
                <a:latin typeface="Calibri"/>
                <a:cs typeface="Calibri"/>
              </a:rPr>
              <a:t>environment.</a:t>
            </a:r>
            <a:endParaRPr lang="en-US" sz="2800" spc="225" dirty="0">
              <a:latin typeface="Calibri"/>
              <a:cs typeface="Calibri"/>
            </a:endParaRPr>
          </a:p>
          <a:p>
            <a:pPr marL="511809" marR="361315" algn="just">
              <a:lnSpc>
                <a:spcPts val="3679"/>
              </a:lnSpc>
              <a:spcBef>
                <a:spcPts val="85"/>
              </a:spcBef>
            </a:pPr>
            <a:endParaRPr lang="en-US" sz="2800" spc="225" dirty="0">
              <a:latin typeface="Calibri"/>
              <a:cs typeface="Calibri"/>
            </a:endParaRPr>
          </a:p>
          <a:p>
            <a:pPr marL="511809" marR="361315" algn="just">
              <a:lnSpc>
                <a:spcPts val="3679"/>
              </a:lnSpc>
              <a:spcBef>
                <a:spcPts val="85"/>
              </a:spcBef>
            </a:pPr>
            <a:endParaRPr sz="2800" dirty="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028700" y="1028703"/>
            <a:ext cx="5365115" cy="8229600"/>
          </a:xfrm>
          <a:custGeom>
            <a:avLst/>
            <a:gdLst/>
            <a:ahLst/>
            <a:cxnLst/>
            <a:rect l="l" t="t" r="r" b="b"/>
            <a:pathLst>
              <a:path w="5365115" h="8229600">
                <a:moveTo>
                  <a:pt x="0" y="0"/>
                </a:moveTo>
                <a:lnTo>
                  <a:pt x="5364847" y="0"/>
                </a:lnTo>
                <a:lnTo>
                  <a:pt x="5364847" y="8229600"/>
                </a:lnTo>
                <a:lnTo>
                  <a:pt x="0" y="8229600"/>
                </a:lnTo>
                <a:lnTo>
                  <a:pt x="0" y="0"/>
                </a:lnTo>
                <a:close/>
              </a:path>
            </a:pathLst>
          </a:custGeom>
          <a:solidFill>
            <a:srgbClr val="494949"/>
          </a:solidFill>
        </p:spPr>
        <p:txBody>
          <a:bodyPr wrap="square" lIns="0" tIns="0" rIns="0" bIns="0" rtlCol="0"/>
          <a:lstStyle/>
          <a:p>
            <a:endParaRPr dirty="0"/>
          </a:p>
        </p:txBody>
      </p:sp>
      <p:sp>
        <p:nvSpPr>
          <p:cNvPr id="4" name="object 4"/>
          <p:cNvSpPr txBox="1">
            <a:spLocks noGrp="1"/>
          </p:cNvSpPr>
          <p:nvPr>
            <p:ph type="title"/>
          </p:nvPr>
        </p:nvSpPr>
        <p:spPr>
          <a:xfrm>
            <a:off x="1425371" y="1720266"/>
            <a:ext cx="3999865" cy="624840"/>
          </a:xfrm>
          <a:prstGeom prst="rect">
            <a:avLst/>
          </a:prstGeom>
        </p:spPr>
        <p:txBody>
          <a:bodyPr vert="horz" wrap="square" lIns="0" tIns="16510" rIns="0" bIns="0" rtlCol="0">
            <a:spAutoFit/>
          </a:bodyPr>
          <a:lstStyle/>
          <a:p>
            <a:pPr marL="12700">
              <a:lnSpc>
                <a:spcPct val="100000"/>
              </a:lnSpc>
              <a:spcBef>
                <a:spcPts val="130"/>
              </a:spcBef>
            </a:pPr>
            <a:r>
              <a:rPr sz="3900" spc="690" dirty="0">
                <a:solidFill>
                  <a:srgbClr val="FFFFFF"/>
                </a:solidFill>
              </a:rPr>
              <a:t>BEHAVIORISM</a:t>
            </a:r>
            <a:endParaRPr sz="3900" dirty="0"/>
          </a:p>
        </p:txBody>
      </p:sp>
      <p:sp>
        <p:nvSpPr>
          <p:cNvPr id="5" name="object 5"/>
          <p:cNvSpPr txBox="1"/>
          <p:nvPr/>
        </p:nvSpPr>
        <p:spPr>
          <a:xfrm>
            <a:off x="1425371" y="2649038"/>
            <a:ext cx="4268470" cy="4799904"/>
          </a:xfrm>
          <a:prstGeom prst="rect">
            <a:avLst/>
          </a:prstGeom>
        </p:spPr>
        <p:txBody>
          <a:bodyPr vert="horz" wrap="square" lIns="0" tIns="15875" rIns="0" bIns="0" rtlCol="0">
            <a:spAutoFit/>
          </a:bodyPr>
          <a:lstStyle/>
          <a:p>
            <a:pPr marL="12700">
              <a:lnSpc>
                <a:spcPct val="100000"/>
              </a:lnSpc>
              <a:spcBef>
                <a:spcPts val="125"/>
              </a:spcBef>
            </a:pPr>
            <a:r>
              <a:rPr sz="2700" spc="400" dirty="0">
                <a:solidFill>
                  <a:srgbClr val="EFECE7"/>
                </a:solidFill>
                <a:latin typeface="Calibri"/>
                <a:cs typeface="Calibri"/>
              </a:rPr>
              <a:t>John</a:t>
            </a:r>
            <a:r>
              <a:rPr sz="2700" spc="105" dirty="0">
                <a:solidFill>
                  <a:srgbClr val="EFECE7"/>
                </a:solidFill>
                <a:latin typeface="Calibri"/>
                <a:cs typeface="Calibri"/>
              </a:rPr>
              <a:t> </a:t>
            </a:r>
            <a:r>
              <a:rPr sz="2700" spc="225" dirty="0">
                <a:solidFill>
                  <a:srgbClr val="EFECE7"/>
                </a:solidFill>
                <a:latin typeface="Calibri"/>
                <a:cs typeface="Calibri"/>
              </a:rPr>
              <a:t>B.</a:t>
            </a:r>
            <a:r>
              <a:rPr sz="2700" spc="105" dirty="0">
                <a:solidFill>
                  <a:srgbClr val="EFECE7"/>
                </a:solidFill>
                <a:latin typeface="Calibri"/>
                <a:cs typeface="Calibri"/>
              </a:rPr>
              <a:t> </a:t>
            </a:r>
            <a:r>
              <a:rPr sz="2700" spc="330" dirty="0">
                <a:solidFill>
                  <a:srgbClr val="EFECE7"/>
                </a:solidFill>
                <a:latin typeface="Calibri"/>
                <a:cs typeface="Calibri"/>
              </a:rPr>
              <a:t>Watson</a:t>
            </a:r>
            <a:endParaRPr sz="2700" dirty="0">
              <a:latin typeface="Calibri"/>
              <a:cs typeface="Calibri"/>
            </a:endParaRPr>
          </a:p>
          <a:p>
            <a:pPr>
              <a:lnSpc>
                <a:spcPct val="100000"/>
              </a:lnSpc>
              <a:spcBef>
                <a:spcPts val="15"/>
              </a:spcBef>
            </a:pPr>
            <a:endParaRPr sz="3100" dirty="0">
              <a:latin typeface="Calibri"/>
              <a:cs typeface="Calibri"/>
            </a:endParaRPr>
          </a:p>
          <a:p>
            <a:pPr marL="12700" marR="5080">
              <a:lnSpc>
                <a:spcPct val="117300"/>
              </a:lnSpc>
            </a:pPr>
            <a:r>
              <a:rPr sz="2700" spc="360" dirty="0">
                <a:solidFill>
                  <a:srgbClr val="EFECE7"/>
                </a:solidFill>
                <a:latin typeface="Calibri"/>
                <a:cs typeface="Calibri"/>
              </a:rPr>
              <a:t>suggests</a:t>
            </a:r>
            <a:r>
              <a:rPr sz="2700" spc="110" dirty="0">
                <a:solidFill>
                  <a:srgbClr val="EFECE7"/>
                </a:solidFill>
                <a:latin typeface="Calibri"/>
                <a:cs typeface="Calibri"/>
              </a:rPr>
              <a:t> </a:t>
            </a:r>
            <a:r>
              <a:rPr sz="2700" spc="275" dirty="0">
                <a:solidFill>
                  <a:srgbClr val="EFECE7"/>
                </a:solidFill>
                <a:latin typeface="Calibri"/>
                <a:cs typeface="Calibri"/>
              </a:rPr>
              <a:t>that</a:t>
            </a:r>
            <a:r>
              <a:rPr sz="2700" spc="114" dirty="0">
                <a:solidFill>
                  <a:srgbClr val="EFECE7"/>
                </a:solidFill>
                <a:latin typeface="Calibri"/>
                <a:cs typeface="Calibri"/>
              </a:rPr>
              <a:t> </a:t>
            </a:r>
            <a:r>
              <a:rPr sz="2700" spc="300" dirty="0">
                <a:solidFill>
                  <a:srgbClr val="EFECE7"/>
                </a:solidFill>
                <a:latin typeface="Calibri"/>
                <a:cs typeface="Calibri"/>
              </a:rPr>
              <a:t>the</a:t>
            </a:r>
            <a:r>
              <a:rPr sz="2700" spc="110" dirty="0">
                <a:solidFill>
                  <a:srgbClr val="EFECE7"/>
                </a:solidFill>
                <a:latin typeface="Calibri"/>
                <a:cs typeface="Calibri"/>
              </a:rPr>
              <a:t> </a:t>
            </a:r>
            <a:r>
              <a:rPr sz="2700" spc="270" dirty="0">
                <a:solidFill>
                  <a:srgbClr val="EFECE7"/>
                </a:solidFill>
                <a:latin typeface="Calibri"/>
                <a:cs typeface="Calibri"/>
              </a:rPr>
              <a:t>focus </a:t>
            </a:r>
            <a:r>
              <a:rPr sz="2700" spc="315" dirty="0">
                <a:solidFill>
                  <a:srgbClr val="EFECE7"/>
                </a:solidFill>
                <a:latin typeface="Calibri"/>
                <a:cs typeface="Calibri"/>
              </a:rPr>
              <a:t>should</a:t>
            </a:r>
            <a:r>
              <a:rPr sz="2700" spc="100" dirty="0">
                <a:solidFill>
                  <a:srgbClr val="EFECE7"/>
                </a:solidFill>
                <a:latin typeface="Calibri"/>
                <a:cs typeface="Calibri"/>
              </a:rPr>
              <a:t> </a:t>
            </a:r>
            <a:r>
              <a:rPr sz="2700" spc="355" dirty="0">
                <a:solidFill>
                  <a:srgbClr val="EFECE7"/>
                </a:solidFill>
                <a:latin typeface="Calibri"/>
                <a:cs typeface="Calibri"/>
              </a:rPr>
              <a:t>be</a:t>
            </a:r>
            <a:r>
              <a:rPr sz="2700" spc="105" dirty="0">
                <a:solidFill>
                  <a:srgbClr val="EFECE7"/>
                </a:solidFill>
                <a:latin typeface="Calibri"/>
                <a:cs typeface="Calibri"/>
              </a:rPr>
              <a:t> </a:t>
            </a:r>
            <a:r>
              <a:rPr sz="2700" spc="345" dirty="0">
                <a:solidFill>
                  <a:srgbClr val="EFECE7"/>
                </a:solidFill>
                <a:latin typeface="Calibri"/>
                <a:cs typeface="Calibri"/>
              </a:rPr>
              <a:t>on</a:t>
            </a:r>
            <a:r>
              <a:rPr sz="2700" spc="105" dirty="0">
                <a:solidFill>
                  <a:srgbClr val="EFECE7"/>
                </a:solidFill>
                <a:latin typeface="Calibri"/>
                <a:cs typeface="Calibri"/>
              </a:rPr>
              <a:t> </a:t>
            </a:r>
            <a:r>
              <a:rPr sz="2700" spc="265" dirty="0">
                <a:solidFill>
                  <a:srgbClr val="EFECE7"/>
                </a:solidFill>
                <a:latin typeface="Calibri"/>
                <a:cs typeface="Calibri"/>
              </a:rPr>
              <a:t>observable </a:t>
            </a:r>
            <a:r>
              <a:rPr sz="2700" spc="275" dirty="0">
                <a:solidFill>
                  <a:srgbClr val="EFECE7"/>
                </a:solidFill>
                <a:latin typeface="Calibri"/>
                <a:cs typeface="Calibri"/>
              </a:rPr>
              <a:t>behavior</a:t>
            </a:r>
            <a:r>
              <a:rPr sz="2700" spc="110" dirty="0">
                <a:solidFill>
                  <a:srgbClr val="EFECE7"/>
                </a:solidFill>
                <a:latin typeface="Calibri"/>
                <a:cs typeface="Calibri"/>
              </a:rPr>
              <a:t> </a:t>
            </a:r>
            <a:r>
              <a:rPr sz="2700" spc="275" dirty="0">
                <a:solidFill>
                  <a:srgbClr val="EFECE7"/>
                </a:solidFill>
                <a:latin typeface="Calibri"/>
                <a:cs typeface="Calibri"/>
              </a:rPr>
              <a:t>that</a:t>
            </a:r>
            <a:r>
              <a:rPr sz="2700" spc="110" dirty="0">
                <a:solidFill>
                  <a:srgbClr val="EFECE7"/>
                </a:solidFill>
                <a:latin typeface="Calibri"/>
                <a:cs typeface="Calibri"/>
              </a:rPr>
              <a:t> </a:t>
            </a:r>
            <a:r>
              <a:rPr sz="2700" spc="370" dirty="0">
                <a:solidFill>
                  <a:srgbClr val="EFECE7"/>
                </a:solidFill>
                <a:latin typeface="Calibri"/>
                <a:cs typeface="Calibri"/>
              </a:rPr>
              <a:t>can</a:t>
            </a:r>
            <a:r>
              <a:rPr sz="2700" spc="110" dirty="0">
                <a:solidFill>
                  <a:srgbClr val="EFECE7"/>
                </a:solidFill>
                <a:latin typeface="Calibri"/>
                <a:cs typeface="Calibri"/>
              </a:rPr>
              <a:t> </a:t>
            </a:r>
            <a:r>
              <a:rPr sz="2700" spc="330" dirty="0">
                <a:solidFill>
                  <a:srgbClr val="EFECE7"/>
                </a:solidFill>
                <a:latin typeface="Calibri"/>
                <a:cs typeface="Calibri"/>
              </a:rPr>
              <a:t>be </a:t>
            </a:r>
            <a:r>
              <a:rPr sz="2700" spc="345" dirty="0">
                <a:solidFill>
                  <a:srgbClr val="EFECE7"/>
                </a:solidFill>
                <a:latin typeface="Calibri"/>
                <a:cs typeface="Calibri"/>
              </a:rPr>
              <a:t>measured</a:t>
            </a:r>
            <a:endParaRPr sz="2700" dirty="0">
              <a:latin typeface="Calibri"/>
              <a:cs typeface="Calibri"/>
            </a:endParaRPr>
          </a:p>
          <a:p>
            <a:pPr marL="12700">
              <a:lnSpc>
                <a:spcPct val="100000"/>
              </a:lnSpc>
              <a:spcBef>
                <a:spcPts val="560"/>
              </a:spcBef>
            </a:pPr>
            <a:r>
              <a:rPr sz="2700" spc="200" dirty="0">
                <a:solidFill>
                  <a:srgbClr val="EFECE7"/>
                </a:solidFill>
                <a:latin typeface="Calibri"/>
                <a:cs typeface="Calibri"/>
              </a:rPr>
              <a:t>objectively.</a:t>
            </a:r>
            <a:endParaRPr lang="en-US" sz="2700" spc="200" dirty="0">
              <a:solidFill>
                <a:srgbClr val="EFECE7"/>
              </a:solidFill>
              <a:latin typeface="Calibri"/>
              <a:cs typeface="Calibri"/>
            </a:endParaRPr>
          </a:p>
          <a:p>
            <a:pPr marL="12700">
              <a:lnSpc>
                <a:spcPct val="100000"/>
              </a:lnSpc>
              <a:spcBef>
                <a:spcPts val="560"/>
              </a:spcBef>
            </a:pPr>
            <a:endParaRPr lang="en-US" sz="2700" dirty="0">
              <a:latin typeface="Calibri"/>
              <a:cs typeface="Calibri"/>
            </a:endParaRPr>
          </a:p>
          <a:p>
            <a:pPr>
              <a:lnSpc>
                <a:spcPct val="100000"/>
              </a:lnSpc>
              <a:spcBef>
                <a:spcPts val="30"/>
              </a:spcBef>
            </a:pPr>
            <a:endParaRPr sz="3550" dirty="0">
              <a:latin typeface="Calibri"/>
              <a:cs typeface="Calibri"/>
            </a:endParaRPr>
          </a:p>
          <a:p>
            <a:pPr marL="12700">
              <a:lnSpc>
                <a:spcPct val="100000"/>
              </a:lnSpc>
            </a:pPr>
            <a:r>
              <a:rPr sz="2700" spc="260" dirty="0">
                <a:solidFill>
                  <a:srgbClr val="EFECE7"/>
                </a:solidFill>
                <a:latin typeface="Calibri"/>
                <a:cs typeface="Calibri"/>
              </a:rPr>
              <a:t>Skinner,</a:t>
            </a:r>
            <a:r>
              <a:rPr sz="2700" spc="130" dirty="0">
                <a:solidFill>
                  <a:srgbClr val="EFECE7"/>
                </a:solidFill>
                <a:latin typeface="Calibri"/>
                <a:cs typeface="Calibri"/>
              </a:rPr>
              <a:t> </a:t>
            </a:r>
            <a:r>
              <a:rPr sz="2700" spc="275" dirty="0">
                <a:solidFill>
                  <a:srgbClr val="EFECE7"/>
                </a:solidFill>
                <a:latin typeface="Calibri"/>
                <a:cs typeface="Calibri"/>
              </a:rPr>
              <a:t>Pavlov</a:t>
            </a:r>
            <a:endParaRPr sz="2700" dirty="0">
              <a:latin typeface="Calibri"/>
              <a:cs typeface="Calibri"/>
            </a:endParaRPr>
          </a:p>
        </p:txBody>
      </p:sp>
      <p:pic>
        <p:nvPicPr>
          <p:cNvPr id="7" name="Picture 6" descr="Diagram&#10;&#10;Description automatically generated with low confidence">
            <a:extLst>
              <a:ext uri="{FF2B5EF4-FFF2-40B4-BE49-F238E27FC236}">
                <a16:creationId xmlns:a16="http://schemas.microsoft.com/office/drawing/2014/main" id="{D14EF7A1-457B-FFA5-528A-23AC5A3BD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903293"/>
            <a:ext cx="7162800" cy="8457919"/>
          </a:xfrm>
          <a:prstGeom prst="rect">
            <a:avLst/>
          </a:prstGeom>
        </p:spPr>
      </p:pic>
      <p:sp>
        <p:nvSpPr>
          <p:cNvPr id="2" name="TextBox 1">
            <a:extLst>
              <a:ext uri="{FF2B5EF4-FFF2-40B4-BE49-F238E27FC236}">
                <a16:creationId xmlns:a16="http://schemas.microsoft.com/office/drawing/2014/main" id="{765EF07D-B200-CD83-C03C-85783639EB96}"/>
              </a:ext>
            </a:extLst>
          </p:cNvPr>
          <p:cNvSpPr txBox="1"/>
          <p:nvPr/>
        </p:nvSpPr>
        <p:spPr>
          <a:xfrm>
            <a:off x="6705600" y="1257300"/>
            <a:ext cx="3276600" cy="8002191"/>
          </a:xfrm>
          <a:prstGeom prst="rect">
            <a:avLst/>
          </a:prstGeom>
          <a:noFill/>
        </p:spPr>
        <p:txBody>
          <a:bodyPr wrap="square" rtlCol="0">
            <a:spAutoFit/>
          </a:bodyPr>
          <a:lstStyle/>
          <a:p>
            <a:pPr marL="12700">
              <a:lnSpc>
                <a:spcPct val="100000"/>
              </a:lnSpc>
              <a:spcBef>
                <a:spcPts val="560"/>
              </a:spcBef>
            </a:pPr>
            <a:endParaRPr lang="en-US" sz="3600" spc="200" dirty="0">
              <a:solidFill>
                <a:srgbClr val="EFECE7"/>
              </a:solidFill>
              <a:latin typeface="Calibri"/>
              <a:cs typeface="Calibri"/>
            </a:endParaRPr>
          </a:p>
          <a:p>
            <a:pPr marL="12700">
              <a:lnSpc>
                <a:spcPct val="100000"/>
              </a:lnSpc>
              <a:spcBef>
                <a:spcPts val="560"/>
              </a:spcBef>
            </a:pPr>
            <a:r>
              <a:rPr lang="en-US" sz="3600" dirty="0">
                <a:latin typeface="Calibri"/>
                <a:cs typeface="Calibri"/>
              </a:rPr>
              <a:t>The behavioral approach emphasized the </a:t>
            </a:r>
            <a:r>
              <a:rPr lang="en-US" sz="3600" u="sng" dirty="0">
                <a:latin typeface="Calibri"/>
                <a:cs typeface="Calibri"/>
              </a:rPr>
              <a:t>objective</a:t>
            </a:r>
            <a:r>
              <a:rPr lang="en-US" sz="3600" dirty="0">
                <a:latin typeface="Calibri"/>
                <a:cs typeface="Calibri"/>
              </a:rPr>
              <a:t>, </a:t>
            </a:r>
            <a:r>
              <a:rPr lang="en-US" sz="3600" u="sng" dirty="0">
                <a:latin typeface="Calibri"/>
                <a:cs typeface="Calibri"/>
              </a:rPr>
              <a:t>scientific</a:t>
            </a:r>
            <a:r>
              <a:rPr lang="en-US" sz="3600" dirty="0">
                <a:latin typeface="Calibri"/>
                <a:cs typeface="Calibri"/>
              </a:rPr>
              <a:t> analysis of observable behaviors.</a:t>
            </a:r>
          </a:p>
          <a:p>
            <a:pPr marL="12700">
              <a:lnSpc>
                <a:spcPct val="100000"/>
              </a:lnSpc>
              <a:spcBef>
                <a:spcPts val="560"/>
              </a:spcBef>
            </a:pPr>
            <a:r>
              <a:rPr lang="en-US" sz="3600" dirty="0">
                <a:latin typeface="Calibri"/>
                <a:cs typeface="Calibri"/>
              </a:rPr>
              <a:t>We can </a:t>
            </a:r>
            <a:r>
              <a:rPr lang="en-US" sz="3600" u="sng" dirty="0">
                <a:latin typeface="Calibri"/>
                <a:cs typeface="Calibri"/>
              </a:rPr>
              <a:t>describe</a:t>
            </a:r>
            <a:r>
              <a:rPr lang="en-US" sz="3600" dirty="0">
                <a:latin typeface="Calibri"/>
                <a:cs typeface="Calibri"/>
              </a:rPr>
              <a:t>, </a:t>
            </a:r>
            <a:r>
              <a:rPr lang="en-US" sz="3600" u="sng" dirty="0">
                <a:latin typeface="Calibri"/>
                <a:cs typeface="Calibri"/>
              </a:rPr>
              <a:t>predict</a:t>
            </a:r>
            <a:r>
              <a:rPr lang="en-US" sz="3600" dirty="0">
                <a:latin typeface="Calibri"/>
                <a:cs typeface="Calibri"/>
              </a:rPr>
              <a:t>, and </a:t>
            </a:r>
            <a:r>
              <a:rPr lang="en-US" sz="3600" u="sng" dirty="0">
                <a:latin typeface="Calibri"/>
                <a:cs typeface="Calibri"/>
              </a:rPr>
              <a:t>control</a:t>
            </a:r>
            <a:r>
              <a:rPr lang="en-US" sz="3600" dirty="0">
                <a:latin typeface="Calibri"/>
                <a:cs typeface="Calibri"/>
              </a:rPr>
              <a:t> that behavior.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881434" y="1028700"/>
            <a:ext cx="240029" cy="240029"/>
          </a:xfrm>
          <a:custGeom>
            <a:avLst/>
            <a:gdLst/>
            <a:ahLst/>
            <a:cxnLst/>
            <a:rect l="l" t="t" r="r" b="b"/>
            <a:pathLst>
              <a:path w="240029" h="240030">
                <a:moveTo>
                  <a:pt x="239919" y="239919"/>
                </a:moveTo>
                <a:lnTo>
                  <a:pt x="0" y="239919"/>
                </a:lnTo>
                <a:lnTo>
                  <a:pt x="0" y="0"/>
                </a:lnTo>
                <a:lnTo>
                  <a:pt x="239919" y="0"/>
                </a:lnTo>
                <a:lnTo>
                  <a:pt x="239919" y="239919"/>
                </a:lnTo>
                <a:close/>
              </a:path>
            </a:pathLst>
          </a:custGeom>
          <a:solidFill>
            <a:srgbClr val="F9BF40"/>
          </a:solidFill>
        </p:spPr>
        <p:txBody>
          <a:bodyPr wrap="square" lIns="0" tIns="0" rIns="0" bIns="0" rtlCol="0"/>
          <a:lstStyle/>
          <a:p>
            <a:endParaRPr dirty="0"/>
          </a:p>
        </p:txBody>
      </p:sp>
      <p:sp>
        <p:nvSpPr>
          <p:cNvPr id="3" name="object 3"/>
          <p:cNvSpPr/>
          <p:nvPr/>
        </p:nvSpPr>
        <p:spPr>
          <a:xfrm>
            <a:off x="10362037" y="1028700"/>
            <a:ext cx="240029" cy="240029"/>
          </a:xfrm>
          <a:custGeom>
            <a:avLst/>
            <a:gdLst/>
            <a:ahLst/>
            <a:cxnLst/>
            <a:rect l="l" t="t" r="r" b="b"/>
            <a:pathLst>
              <a:path w="240029" h="240030">
                <a:moveTo>
                  <a:pt x="239919" y="239919"/>
                </a:moveTo>
                <a:lnTo>
                  <a:pt x="0" y="239919"/>
                </a:lnTo>
                <a:lnTo>
                  <a:pt x="0" y="0"/>
                </a:lnTo>
                <a:lnTo>
                  <a:pt x="239919" y="0"/>
                </a:lnTo>
                <a:lnTo>
                  <a:pt x="239919" y="239919"/>
                </a:lnTo>
                <a:close/>
              </a:path>
            </a:pathLst>
          </a:custGeom>
          <a:solidFill>
            <a:srgbClr val="F9BF40"/>
          </a:solidFill>
        </p:spPr>
        <p:txBody>
          <a:bodyPr wrap="square" lIns="0" tIns="0" rIns="0" bIns="0" rtlCol="0"/>
          <a:lstStyle/>
          <a:p>
            <a:endParaRPr dirty="0"/>
          </a:p>
        </p:txBody>
      </p:sp>
      <p:sp>
        <p:nvSpPr>
          <p:cNvPr id="4" name="object 4"/>
          <p:cNvSpPr/>
          <p:nvPr/>
        </p:nvSpPr>
        <p:spPr>
          <a:xfrm>
            <a:off x="10836917" y="1028700"/>
            <a:ext cx="240029" cy="240029"/>
          </a:xfrm>
          <a:custGeom>
            <a:avLst/>
            <a:gdLst/>
            <a:ahLst/>
            <a:cxnLst/>
            <a:rect l="l" t="t" r="r" b="b"/>
            <a:pathLst>
              <a:path w="240029" h="240030">
                <a:moveTo>
                  <a:pt x="239919" y="239919"/>
                </a:moveTo>
                <a:lnTo>
                  <a:pt x="0" y="239919"/>
                </a:lnTo>
                <a:lnTo>
                  <a:pt x="0" y="0"/>
                </a:lnTo>
                <a:lnTo>
                  <a:pt x="239919" y="0"/>
                </a:lnTo>
                <a:lnTo>
                  <a:pt x="239919" y="239919"/>
                </a:lnTo>
                <a:close/>
              </a:path>
            </a:pathLst>
          </a:custGeom>
          <a:solidFill>
            <a:srgbClr val="F9BF40"/>
          </a:solidFill>
        </p:spPr>
        <p:txBody>
          <a:bodyPr wrap="square" lIns="0" tIns="0" rIns="0" bIns="0" rtlCol="0"/>
          <a:lstStyle/>
          <a:p>
            <a:endParaRPr dirty="0"/>
          </a:p>
        </p:txBody>
      </p:sp>
      <p:sp>
        <p:nvSpPr>
          <p:cNvPr id="6" name="object 6"/>
          <p:cNvSpPr txBox="1">
            <a:spLocks noGrp="1"/>
          </p:cNvSpPr>
          <p:nvPr>
            <p:ph type="title"/>
          </p:nvPr>
        </p:nvSpPr>
        <p:spPr>
          <a:xfrm>
            <a:off x="1016000" y="1605322"/>
            <a:ext cx="6694805" cy="862965"/>
          </a:xfrm>
          <a:prstGeom prst="rect">
            <a:avLst/>
          </a:prstGeom>
        </p:spPr>
        <p:txBody>
          <a:bodyPr vert="horz" wrap="square" lIns="0" tIns="12065" rIns="0" bIns="0" rtlCol="0">
            <a:spAutoFit/>
          </a:bodyPr>
          <a:lstStyle/>
          <a:p>
            <a:pPr marL="12700">
              <a:lnSpc>
                <a:spcPct val="100000"/>
              </a:lnSpc>
              <a:spcBef>
                <a:spcPts val="95"/>
              </a:spcBef>
            </a:pPr>
            <a:r>
              <a:rPr sz="5500" spc="865" dirty="0"/>
              <a:t>PSYCHODYNAMIC</a:t>
            </a:r>
            <a:endParaRPr sz="5500" dirty="0"/>
          </a:p>
        </p:txBody>
      </p:sp>
      <p:sp>
        <p:nvSpPr>
          <p:cNvPr id="10" name="object 10"/>
          <p:cNvSpPr txBox="1">
            <a:spLocks noGrp="1"/>
          </p:cNvSpPr>
          <p:nvPr>
            <p:ph type="body" idx="1"/>
          </p:nvPr>
        </p:nvSpPr>
        <p:spPr>
          <a:xfrm>
            <a:off x="838200" y="2468287"/>
            <a:ext cx="8001000" cy="7150419"/>
          </a:xfrm>
          <a:prstGeom prst="rect">
            <a:avLst/>
          </a:prstGeom>
        </p:spPr>
        <p:txBody>
          <a:bodyPr vert="horz" wrap="square" lIns="0" tIns="12065" rIns="0" bIns="0" rtlCol="0">
            <a:spAutoFit/>
          </a:bodyPr>
          <a:lstStyle/>
          <a:p>
            <a:pPr marL="854709" marR="5080" indent="-342900">
              <a:lnSpc>
                <a:spcPct val="133200"/>
              </a:lnSpc>
              <a:spcBef>
                <a:spcPts val="95"/>
              </a:spcBef>
              <a:buFont typeface="Arial" panose="020B0604020202020204" pitchFamily="34" charset="0"/>
              <a:buChar char="•"/>
            </a:pPr>
            <a:r>
              <a:rPr sz="3200" spc="295" dirty="0"/>
              <a:t>Emphasizes</a:t>
            </a:r>
            <a:r>
              <a:rPr sz="3200" spc="95" dirty="0"/>
              <a:t> </a:t>
            </a:r>
            <a:r>
              <a:rPr sz="3200" spc="270" dirty="0"/>
              <a:t>unconscious</a:t>
            </a:r>
            <a:r>
              <a:rPr sz="3200" spc="100" dirty="0"/>
              <a:t> </a:t>
            </a:r>
            <a:r>
              <a:rPr sz="3200" spc="240" dirty="0"/>
              <a:t>processes</a:t>
            </a:r>
            <a:r>
              <a:rPr sz="3200" spc="95" dirty="0"/>
              <a:t> </a:t>
            </a:r>
            <a:r>
              <a:rPr sz="3200" spc="310" dirty="0"/>
              <a:t>and</a:t>
            </a:r>
            <a:r>
              <a:rPr sz="3200" spc="100" dirty="0"/>
              <a:t> </a:t>
            </a:r>
            <a:r>
              <a:rPr sz="3200" spc="180" dirty="0"/>
              <a:t>early</a:t>
            </a:r>
            <a:r>
              <a:rPr sz="3200" spc="95" dirty="0"/>
              <a:t> </a:t>
            </a:r>
            <a:r>
              <a:rPr sz="3200" spc="120" dirty="0"/>
              <a:t>lif</a:t>
            </a:r>
            <a:r>
              <a:rPr lang="en-US" sz="3200" spc="120" dirty="0"/>
              <a:t>e or childhood </a:t>
            </a:r>
            <a:r>
              <a:rPr sz="3200" spc="100" dirty="0"/>
              <a:t> </a:t>
            </a:r>
            <a:r>
              <a:rPr sz="3200" spc="229" dirty="0"/>
              <a:t>experiences </a:t>
            </a:r>
            <a:r>
              <a:rPr sz="3200" spc="250" dirty="0"/>
              <a:t>motivated</a:t>
            </a:r>
            <a:r>
              <a:rPr sz="3200" spc="95" dirty="0"/>
              <a:t> </a:t>
            </a:r>
            <a:r>
              <a:rPr sz="3200" spc="275" dirty="0"/>
              <a:t>by</a:t>
            </a:r>
            <a:r>
              <a:rPr sz="3200" spc="95" dirty="0"/>
              <a:t> </a:t>
            </a:r>
            <a:r>
              <a:rPr sz="3200" spc="225" dirty="0"/>
              <a:t>inner</a:t>
            </a:r>
            <a:r>
              <a:rPr sz="3200" spc="100" dirty="0"/>
              <a:t> </a:t>
            </a:r>
            <a:r>
              <a:rPr sz="3200" spc="200" dirty="0"/>
              <a:t>forces</a:t>
            </a:r>
            <a:r>
              <a:rPr sz="3200" spc="95" dirty="0"/>
              <a:t> </a:t>
            </a:r>
            <a:r>
              <a:rPr sz="3200" spc="310" dirty="0"/>
              <a:t>and</a:t>
            </a:r>
            <a:r>
              <a:rPr sz="3200" spc="95" dirty="0"/>
              <a:t> </a:t>
            </a:r>
            <a:r>
              <a:rPr sz="3200" spc="190" dirty="0"/>
              <a:t>conflicts</a:t>
            </a:r>
            <a:r>
              <a:rPr lang="en-US" sz="3200" spc="190" dirty="0"/>
              <a:t> </a:t>
            </a:r>
            <a:r>
              <a:rPr sz="3200" spc="260" dirty="0"/>
              <a:t>about</a:t>
            </a:r>
            <a:r>
              <a:rPr sz="3200" spc="95" dirty="0"/>
              <a:t> </a:t>
            </a:r>
            <a:r>
              <a:rPr sz="3200" spc="290" dirty="0"/>
              <a:t>which</a:t>
            </a:r>
            <a:r>
              <a:rPr sz="3200" spc="95" dirty="0"/>
              <a:t> </a:t>
            </a:r>
            <a:r>
              <a:rPr sz="3200" spc="310" dirty="0"/>
              <a:t>we</a:t>
            </a:r>
            <a:r>
              <a:rPr sz="3200" spc="100" dirty="0"/>
              <a:t> </a:t>
            </a:r>
            <a:r>
              <a:rPr sz="3200" spc="260" dirty="0"/>
              <a:t>have</a:t>
            </a:r>
            <a:r>
              <a:rPr sz="3200" spc="95" dirty="0"/>
              <a:t> </a:t>
            </a:r>
            <a:r>
              <a:rPr sz="3200" spc="135" dirty="0"/>
              <a:t>little</a:t>
            </a:r>
            <a:r>
              <a:rPr sz="3200" spc="95" dirty="0"/>
              <a:t> </a:t>
            </a:r>
            <a:r>
              <a:rPr sz="3200" spc="250" dirty="0"/>
              <a:t>awareness</a:t>
            </a:r>
            <a:r>
              <a:rPr sz="3200" spc="100" dirty="0"/>
              <a:t> </a:t>
            </a:r>
            <a:r>
              <a:rPr sz="3200" spc="170" dirty="0"/>
              <a:t>or</a:t>
            </a:r>
            <a:r>
              <a:rPr sz="3200" spc="95" dirty="0"/>
              <a:t> </a:t>
            </a:r>
            <a:r>
              <a:rPr sz="3200" spc="160" dirty="0"/>
              <a:t>control.</a:t>
            </a:r>
            <a:endParaRPr lang="en-US" sz="3200" spc="160" dirty="0"/>
          </a:p>
          <a:p>
            <a:pPr marL="854709" marR="5080" indent="-342900">
              <a:lnSpc>
                <a:spcPct val="133200"/>
              </a:lnSpc>
              <a:spcBef>
                <a:spcPts val="95"/>
              </a:spcBef>
              <a:buFont typeface="Arial" panose="020B0604020202020204" pitchFamily="34" charset="0"/>
              <a:buChar char="•"/>
            </a:pPr>
            <a:r>
              <a:rPr lang="en-US" sz="3200" spc="160" dirty="0"/>
              <a:t>Free association and dream interpretation were developed technique to explore the unconscious processes</a:t>
            </a:r>
            <a:endParaRPr sz="3200" spc="160" dirty="0"/>
          </a:p>
          <a:p>
            <a:pPr>
              <a:lnSpc>
                <a:spcPct val="100000"/>
              </a:lnSpc>
              <a:spcBef>
                <a:spcPts val="10"/>
              </a:spcBef>
            </a:pPr>
            <a:endParaRPr sz="4800" dirty="0"/>
          </a:p>
          <a:p>
            <a:pPr marL="12700">
              <a:lnSpc>
                <a:spcPct val="100000"/>
              </a:lnSpc>
            </a:pPr>
            <a:r>
              <a:rPr sz="3200" spc="365" dirty="0"/>
              <a:t>Sigmund</a:t>
            </a:r>
            <a:r>
              <a:rPr sz="3200" spc="90" dirty="0"/>
              <a:t> </a:t>
            </a:r>
            <a:r>
              <a:rPr sz="3200" spc="275" dirty="0"/>
              <a:t>Freud</a:t>
            </a:r>
          </a:p>
        </p:txBody>
      </p:sp>
      <p:pic>
        <p:nvPicPr>
          <p:cNvPr id="12" name="Picture 11" descr="Map&#10;&#10;Description automatically generated">
            <a:extLst>
              <a:ext uri="{FF2B5EF4-FFF2-40B4-BE49-F238E27FC236}">
                <a16:creationId xmlns:a16="http://schemas.microsoft.com/office/drawing/2014/main" id="{7F77C8B3-8426-00C9-8612-5A4DB0BB4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1434" y="1605322"/>
            <a:ext cx="6388790" cy="772415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5CEF-9AA9-6C99-7B31-152B1B13E9E1}"/>
              </a:ext>
            </a:extLst>
          </p:cNvPr>
          <p:cNvSpPr>
            <a:spLocks noGrp="1"/>
          </p:cNvSpPr>
          <p:nvPr>
            <p:ph type="ctrTitle"/>
          </p:nvPr>
        </p:nvSpPr>
        <p:spPr>
          <a:xfrm>
            <a:off x="2286000" y="2714817"/>
            <a:ext cx="13792200" cy="2931572"/>
          </a:xfrm>
        </p:spPr>
        <p:txBody>
          <a:bodyPr/>
          <a:lstStyle/>
          <a:p>
            <a:pPr algn="ctr"/>
            <a:r>
              <a:rPr lang="en-US" altLang="en-US" dirty="0">
                <a:cs typeface="Times New Roman" panose="02020603050405020304" pitchFamily="18" charset="0"/>
              </a:rPr>
              <a:t>Think on your own…                                           Do childhood experiences affect adult life?</a:t>
            </a:r>
            <a:endParaRPr lang="en-US" dirty="0"/>
          </a:p>
        </p:txBody>
      </p:sp>
    </p:spTree>
    <p:extLst>
      <p:ext uri="{BB962C8B-B14F-4D97-AF65-F5344CB8AC3E}">
        <p14:creationId xmlns:p14="http://schemas.microsoft.com/office/powerpoint/2010/main" val="2996904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39228" y="0"/>
            <a:ext cx="5734050" cy="10287000"/>
          </a:xfrm>
          <a:custGeom>
            <a:avLst/>
            <a:gdLst/>
            <a:ahLst/>
            <a:cxnLst/>
            <a:rect l="l" t="t" r="r" b="b"/>
            <a:pathLst>
              <a:path w="5734050" h="10287000">
                <a:moveTo>
                  <a:pt x="0" y="0"/>
                </a:moveTo>
                <a:lnTo>
                  <a:pt x="5733960" y="0"/>
                </a:lnTo>
                <a:lnTo>
                  <a:pt x="5733960" y="10286999"/>
                </a:lnTo>
                <a:lnTo>
                  <a:pt x="0" y="10286999"/>
                </a:lnTo>
                <a:lnTo>
                  <a:pt x="0" y="0"/>
                </a:lnTo>
                <a:close/>
              </a:path>
            </a:pathLst>
          </a:custGeom>
          <a:solidFill>
            <a:srgbClr val="FFD372"/>
          </a:solidFill>
        </p:spPr>
        <p:txBody>
          <a:bodyPr wrap="square" lIns="0" tIns="0" rIns="0" bIns="0" rtlCol="0"/>
          <a:lstStyle/>
          <a:p>
            <a:endParaRPr dirty="0"/>
          </a:p>
        </p:txBody>
      </p:sp>
      <p:pic>
        <p:nvPicPr>
          <p:cNvPr id="3" name="object 3"/>
          <p:cNvPicPr/>
          <p:nvPr/>
        </p:nvPicPr>
        <p:blipFill>
          <a:blip r:embed="rId3" cstate="print"/>
          <a:stretch>
            <a:fillRect/>
          </a:stretch>
        </p:blipFill>
        <p:spPr>
          <a:xfrm>
            <a:off x="8042091" y="1028700"/>
            <a:ext cx="10245908" cy="7543799"/>
          </a:xfrm>
          <a:prstGeom prst="rect">
            <a:avLst/>
          </a:prstGeom>
        </p:spPr>
      </p:pic>
      <p:sp>
        <p:nvSpPr>
          <p:cNvPr id="4" name="object 4"/>
          <p:cNvSpPr/>
          <p:nvPr/>
        </p:nvSpPr>
        <p:spPr>
          <a:xfrm>
            <a:off x="1028700" y="1028700"/>
            <a:ext cx="1563370" cy="417830"/>
          </a:xfrm>
          <a:custGeom>
            <a:avLst/>
            <a:gdLst/>
            <a:ahLst/>
            <a:cxnLst/>
            <a:rect l="l" t="t" r="r" b="b"/>
            <a:pathLst>
              <a:path w="1563370" h="417830">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sp>
        <p:nvSpPr>
          <p:cNvPr id="5" name="object 5"/>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z="6750" spc="830" dirty="0">
                <a:solidFill>
                  <a:srgbClr val="F9BF40"/>
                </a:solidFill>
              </a:rPr>
              <a:t>HUMANISTIC</a:t>
            </a:r>
            <a:endParaRPr sz="6750" dirty="0"/>
          </a:p>
        </p:txBody>
      </p:sp>
      <p:sp>
        <p:nvSpPr>
          <p:cNvPr id="6" name="object 6"/>
          <p:cNvSpPr txBox="1"/>
          <p:nvPr/>
        </p:nvSpPr>
        <p:spPr>
          <a:xfrm>
            <a:off x="1016000" y="3363831"/>
            <a:ext cx="6829425" cy="6493573"/>
          </a:xfrm>
          <a:prstGeom prst="rect">
            <a:avLst/>
          </a:prstGeom>
        </p:spPr>
        <p:txBody>
          <a:bodyPr vert="horz" wrap="square" lIns="0" tIns="12700" rIns="0" bIns="0" rtlCol="0">
            <a:spAutoFit/>
          </a:bodyPr>
          <a:lstStyle/>
          <a:p>
            <a:pPr marL="12700" marR="5080">
              <a:lnSpc>
                <a:spcPct val="132800"/>
              </a:lnSpc>
              <a:spcBef>
                <a:spcPts val="100"/>
              </a:spcBef>
            </a:pPr>
            <a:r>
              <a:rPr sz="2800" spc="320" dirty="0">
                <a:latin typeface="Calibri"/>
                <a:cs typeface="Calibri"/>
              </a:rPr>
              <a:t>Suggests</a:t>
            </a:r>
            <a:r>
              <a:rPr sz="2800" spc="95" dirty="0">
                <a:latin typeface="Calibri"/>
                <a:cs typeface="Calibri"/>
              </a:rPr>
              <a:t> </a:t>
            </a:r>
            <a:r>
              <a:rPr sz="2800" spc="235" dirty="0">
                <a:latin typeface="Calibri"/>
                <a:cs typeface="Calibri"/>
              </a:rPr>
              <a:t>that</a:t>
            </a:r>
            <a:r>
              <a:rPr sz="2800" spc="95" dirty="0">
                <a:latin typeface="Calibri"/>
                <a:cs typeface="Calibri"/>
              </a:rPr>
              <a:t> </a:t>
            </a:r>
            <a:r>
              <a:rPr sz="2800" spc="145" dirty="0">
                <a:latin typeface="Calibri"/>
                <a:cs typeface="Calibri"/>
              </a:rPr>
              <a:t>all</a:t>
            </a:r>
            <a:r>
              <a:rPr sz="2800" spc="95" dirty="0">
                <a:latin typeface="Calibri"/>
                <a:cs typeface="Calibri"/>
              </a:rPr>
              <a:t> </a:t>
            </a:r>
            <a:r>
              <a:rPr sz="2800" spc="215" dirty="0">
                <a:latin typeface="Calibri"/>
                <a:cs typeface="Calibri"/>
              </a:rPr>
              <a:t>individuals </a:t>
            </a:r>
            <a:r>
              <a:rPr sz="2800" spc="204" dirty="0">
                <a:latin typeface="Calibri"/>
                <a:cs typeface="Calibri"/>
              </a:rPr>
              <a:t>naturally</a:t>
            </a:r>
            <a:r>
              <a:rPr sz="2800" spc="100" dirty="0">
                <a:latin typeface="Calibri"/>
                <a:cs typeface="Calibri"/>
              </a:rPr>
              <a:t> </a:t>
            </a:r>
            <a:r>
              <a:rPr sz="2800" spc="175" dirty="0">
                <a:latin typeface="Calibri"/>
                <a:cs typeface="Calibri"/>
              </a:rPr>
              <a:t>strive</a:t>
            </a:r>
            <a:r>
              <a:rPr sz="2800" spc="100" dirty="0">
                <a:latin typeface="Calibri"/>
                <a:cs typeface="Calibri"/>
              </a:rPr>
              <a:t> </a:t>
            </a:r>
            <a:r>
              <a:rPr sz="2800" spc="195" dirty="0">
                <a:latin typeface="Calibri"/>
                <a:cs typeface="Calibri"/>
              </a:rPr>
              <a:t>to</a:t>
            </a:r>
            <a:r>
              <a:rPr sz="2800" spc="100" dirty="0">
                <a:latin typeface="Calibri"/>
                <a:cs typeface="Calibri"/>
              </a:rPr>
              <a:t> </a:t>
            </a:r>
            <a:r>
              <a:rPr sz="2800" spc="220" dirty="0">
                <a:latin typeface="Calibri"/>
                <a:cs typeface="Calibri"/>
              </a:rPr>
              <a:t>grow,</a:t>
            </a:r>
            <a:r>
              <a:rPr sz="2800" spc="100" dirty="0">
                <a:latin typeface="Calibri"/>
                <a:cs typeface="Calibri"/>
              </a:rPr>
              <a:t> </a:t>
            </a:r>
            <a:r>
              <a:rPr sz="2800" spc="204" dirty="0">
                <a:latin typeface="Calibri"/>
                <a:cs typeface="Calibri"/>
              </a:rPr>
              <a:t>develop,</a:t>
            </a:r>
            <a:r>
              <a:rPr sz="2800" spc="100" dirty="0">
                <a:latin typeface="Calibri"/>
                <a:cs typeface="Calibri"/>
              </a:rPr>
              <a:t> </a:t>
            </a:r>
            <a:r>
              <a:rPr sz="2800" spc="295" dirty="0">
                <a:latin typeface="Calibri"/>
                <a:cs typeface="Calibri"/>
              </a:rPr>
              <a:t>and </a:t>
            </a:r>
            <a:r>
              <a:rPr sz="2800" spc="305" dirty="0">
                <a:latin typeface="Calibri"/>
                <a:cs typeface="Calibri"/>
              </a:rPr>
              <a:t>be</a:t>
            </a:r>
            <a:r>
              <a:rPr sz="2800" spc="95" dirty="0">
                <a:latin typeface="Calibri"/>
                <a:cs typeface="Calibri"/>
              </a:rPr>
              <a:t> </a:t>
            </a:r>
            <a:r>
              <a:rPr sz="2800" spc="220" dirty="0">
                <a:latin typeface="Calibri"/>
                <a:cs typeface="Calibri"/>
              </a:rPr>
              <a:t>in</a:t>
            </a:r>
            <a:r>
              <a:rPr sz="2800" spc="100" dirty="0">
                <a:latin typeface="Calibri"/>
                <a:cs typeface="Calibri"/>
              </a:rPr>
              <a:t> </a:t>
            </a:r>
            <a:r>
              <a:rPr sz="2800" spc="210" dirty="0">
                <a:latin typeface="Calibri"/>
                <a:cs typeface="Calibri"/>
              </a:rPr>
              <a:t>control</a:t>
            </a:r>
            <a:r>
              <a:rPr sz="2800" spc="95" dirty="0">
                <a:latin typeface="Calibri"/>
                <a:cs typeface="Calibri"/>
              </a:rPr>
              <a:t> </a:t>
            </a:r>
            <a:r>
              <a:rPr sz="2800" spc="150" dirty="0">
                <a:latin typeface="Calibri"/>
                <a:cs typeface="Calibri"/>
              </a:rPr>
              <a:t>of</a:t>
            </a:r>
            <a:r>
              <a:rPr sz="2800" spc="100" dirty="0">
                <a:latin typeface="Calibri"/>
                <a:cs typeface="Calibri"/>
              </a:rPr>
              <a:t> </a:t>
            </a:r>
            <a:r>
              <a:rPr sz="2800" spc="190" dirty="0">
                <a:latin typeface="Calibri"/>
                <a:cs typeface="Calibri"/>
              </a:rPr>
              <a:t>their</a:t>
            </a:r>
            <a:r>
              <a:rPr sz="2800" spc="100" dirty="0">
                <a:latin typeface="Calibri"/>
                <a:cs typeface="Calibri"/>
              </a:rPr>
              <a:t> </a:t>
            </a:r>
            <a:r>
              <a:rPr sz="2800" spc="170" dirty="0">
                <a:latin typeface="Calibri"/>
                <a:cs typeface="Calibri"/>
              </a:rPr>
              <a:t>lives</a:t>
            </a:r>
            <a:r>
              <a:rPr sz="2800" spc="95" dirty="0">
                <a:latin typeface="Calibri"/>
                <a:cs typeface="Calibri"/>
              </a:rPr>
              <a:t> </a:t>
            </a:r>
            <a:r>
              <a:rPr sz="2800" spc="295" dirty="0">
                <a:latin typeface="Calibri"/>
                <a:cs typeface="Calibri"/>
              </a:rPr>
              <a:t>and </a:t>
            </a:r>
            <a:r>
              <a:rPr sz="2800" spc="185" dirty="0">
                <a:latin typeface="Calibri"/>
                <a:cs typeface="Calibri"/>
              </a:rPr>
              <a:t>behavior.</a:t>
            </a:r>
            <a:endParaRPr lang="en-US" sz="2800" spc="185" dirty="0">
              <a:latin typeface="Calibri"/>
              <a:cs typeface="Calibri"/>
            </a:endParaRPr>
          </a:p>
          <a:p>
            <a:pPr marL="12700" marR="5080">
              <a:lnSpc>
                <a:spcPct val="132800"/>
              </a:lnSpc>
              <a:spcBef>
                <a:spcPts val="100"/>
              </a:spcBef>
            </a:pPr>
            <a:endParaRPr sz="2800" dirty="0">
              <a:latin typeface="Calibri"/>
              <a:cs typeface="Calibri"/>
            </a:endParaRPr>
          </a:p>
          <a:p>
            <a:pPr marL="457200" indent="-457200">
              <a:lnSpc>
                <a:spcPct val="100000"/>
              </a:lnSpc>
              <a:spcBef>
                <a:spcPts val="40"/>
              </a:spcBef>
              <a:buFont typeface="Arial" panose="020B0604020202020204" pitchFamily="34" charset="0"/>
              <a:buChar char="•"/>
            </a:pPr>
            <a:r>
              <a:rPr lang="en-US" sz="2800" dirty="0">
                <a:latin typeface="Calibri"/>
                <a:cs typeface="Calibri"/>
              </a:rPr>
              <a:t>The fundamental belief of humanistic psychology was that people are innately good.</a:t>
            </a:r>
          </a:p>
          <a:p>
            <a:pPr marL="457200" indent="-457200">
              <a:lnSpc>
                <a:spcPct val="100000"/>
              </a:lnSpc>
              <a:spcBef>
                <a:spcPts val="40"/>
              </a:spcBef>
              <a:buFont typeface="Arial" panose="020B0604020202020204" pitchFamily="34" charset="0"/>
              <a:buChar char="•"/>
            </a:pPr>
            <a:r>
              <a:rPr lang="en-US" sz="2800" dirty="0">
                <a:latin typeface="Calibri"/>
                <a:cs typeface="Calibri"/>
              </a:rPr>
              <a:t>We are not rats in a cage!  We are not id-driven animals! We are humans with free will.</a:t>
            </a:r>
          </a:p>
          <a:p>
            <a:pPr>
              <a:lnSpc>
                <a:spcPct val="100000"/>
              </a:lnSpc>
              <a:spcBef>
                <a:spcPts val="40"/>
              </a:spcBef>
            </a:pPr>
            <a:endParaRPr sz="3200" dirty="0">
              <a:latin typeface="Calibri"/>
              <a:cs typeface="Calibri"/>
            </a:endParaRPr>
          </a:p>
          <a:p>
            <a:pPr marL="12700" marR="2944495">
              <a:lnSpc>
                <a:spcPct val="132800"/>
              </a:lnSpc>
            </a:pPr>
            <a:r>
              <a:rPr sz="2800" spc="225" dirty="0">
                <a:latin typeface="Calibri"/>
                <a:cs typeface="Calibri"/>
              </a:rPr>
              <a:t>Carl</a:t>
            </a:r>
            <a:r>
              <a:rPr sz="2800" spc="85" dirty="0">
                <a:latin typeface="Calibri"/>
                <a:cs typeface="Calibri"/>
              </a:rPr>
              <a:t> </a:t>
            </a:r>
            <a:r>
              <a:rPr sz="2800" spc="280" dirty="0">
                <a:latin typeface="Calibri"/>
                <a:cs typeface="Calibri"/>
              </a:rPr>
              <a:t>Rogers </a:t>
            </a:r>
            <a:r>
              <a:rPr sz="2800" spc="325" dirty="0">
                <a:latin typeface="Calibri"/>
                <a:cs typeface="Calibri"/>
              </a:rPr>
              <a:t>Abraham</a:t>
            </a:r>
            <a:r>
              <a:rPr sz="2800" spc="85" dirty="0">
                <a:latin typeface="Calibri"/>
                <a:cs typeface="Calibri"/>
              </a:rPr>
              <a:t> </a:t>
            </a:r>
            <a:r>
              <a:rPr sz="2800" spc="220" dirty="0">
                <a:latin typeface="Calibri"/>
                <a:cs typeface="Calibri"/>
              </a:rPr>
              <a:t>Maslow</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39228" y="1"/>
            <a:ext cx="5734050" cy="10287000"/>
          </a:xfrm>
          <a:custGeom>
            <a:avLst/>
            <a:gdLst/>
            <a:ahLst/>
            <a:cxnLst/>
            <a:rect l="l" t="t" r="r" b="b"/>
            <a:pathLst>
              <a:path w="5734050" h="10287000">
                <a:moveTo>
                  <a:pt x="5733960" y="10286997"/>
                </a:moveTo>
                <a:lnTo>
                  <a:pt x="0" y="10286997"/>
                </a:lnTo>
                <a:lnTo>
                  <a:pt x="0" y="0"/>
                </a:lnTo>
                <a:lnTo>
                  <a:pt x="5733960" y="0"/>
                </a:lnTo>
                <a:lnTo>
                  <a:pt x="5733960" y="10286997"/>
                </a:lnTo>
                <a:close/>
              </a:path>
            </a:pathLst>
          </a:custGeom>
          <a:solidFill>
            <a:srgbClr val="FFD372"/>
          </a:solidFill>
        </p:spPr>
        <p:txBody>
          <a:bodyPr wrap="square" lIns="0" tIns="0" rIns="0" bIns="0" rtlCol="0"/>
          <a:lstStyle/>
          <a:p>
            <a:endParaRPr dirty="0"/>
          </a:p>
        </p:txBody>
      </p:sp>
      <p:pic>
        <p:nvPicPr>
          <p:cNvPr id="3" name="object 3"/>
          <p:cNvPicPr/>
          <p:nvPr/>
        </p:nvPicPr>
        <p:blipFill>
          <a:blip r:embed="rId2" cstate="print"/>
          <a:stretch>
            <a:fillRect/>
          </a:stretch>
        </p:blipFill>
        <p:spPr>
          <a:xfrm>
            <a:off x="8042091" y="1028701"/>
            <a:ext cx="10245908" cy="7543799"/>
          </a:xfrm>
          <a:prstGeom prst="rect">
            <a:avLst/>
          </a:prstGeom>
        </p:spPr>
      </p:pic>
      <p:sp>
        <p:nvSpPr>
          <p:cNvPr id="4" name="object 4"/>
          <p:cNvSpPr/>
          <p:nvPr/>
        </p:nvSpPr>
        <p:spPr>
          <a:xfrm>
            <a:off x="1028700" y="1028701"/>
            <a:ext cx="1563370" cy="417830"/>
          </a:xfrm>
          <a:custGeom>
            <a:avLst/>
            <a:gdLst/>
            <a:ahLst/>
            <a:cxnLst/>
            <a:rect l="l" t="t" r="r" b="b"/>
            <a:pathLst>
              <a:path w="1563370" h="417830">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sp>
        <p:nvSpPr>
          <p:cNvPr id="5" name="object 5"/>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z="6750" spc="930" dirty="0">
                <a:solidFill>
                  <a:srgbClr val="F9BF40"/>
                </a:solidFill>
              </a:rPr>
              <a:t>COGNITIVE</a:t>
            </a:r>
            <a:endParaRPr sz="6750" dirty="0"/>
          </a:p>
        </p:txBody>
      </p:sp>
      <p:sp>
        <p:nvSpPr>
          <p:cNvPr id="6" name="object 6"/>
          <p:cNvSpPr txBox="1"/>
          <p:nvPr/>
        </p:nvSpPr>
        <p:spPr>
          <a:xfrm>
            <a:off x="1016000" y="4020167"/>
            <a:ext cx="5059680" cy="3396892"/>
          </a:xfrm>
          <a:prstGeom prst="rect">
            <a:avLst/>
          </a:prstGeom>
        </p:spPr>
        <p:txBody>
          <a:bodyPr vert="horz" wrap="square" lIns="0" tIns="12700" rIns="0" bIns="0" rtlCol="0">
            <a:spAutoFit/>
          </a:bodyPr>
          <a:lstStyle/>
          <a:p>
            <a:pPr marL="12700" marR="5080">
              <a:lnSpc>
                <a:spcPct val="132800"/>
              </a:lnSpc>
              <a:spcBef>
                <a:spcPts val="100"/>
              </a:spcBef>
            </a:pPr>
            <a:r>
              <a:rPr sz="2400" spc="285" dirty="0">
                <a:latin typeface="Calibri"/>
                <a:cs typeface="Calibri"/>
              </a:rPr>
              <a:t>Focuses</a:t>
            </a:r>
            <a:r>
              <a:rPr sz="2400" spc="95" dirty="0">
                <a:latin typeface="Calibri"/>
                <a:cs typeface="Calibri"/>
              </a:rPr>
              <a:t> </a:t>
            </a:r>
            <a:r>
              <a:rPr sz="2400" spc="285" dirty="0">
                <a:latin typeface="Calibri"/>
                <a:cs typeface="Calibri"/>
              </a:rPr>
              <a:t>on</a:t>
            </a:r>
            <a:r>
              <a:rPr sz="2400" spc="100" dirty="0">
                <a:latin typeface="Calibri"/>
                <a:cs typeface="Calibri"/>
              </a:rPr>
              <a:t> </a:t>
            </a:r>
            <a:r>
              <a:rPr sz="2400" spc="315" dirty="0">
                <a:latin typeface="Calibri"/>
                <a:cs typeface="Calibri"/>
              </a:rPr>
              <a:t>how</a:t>
            </a:r>
            <a:r>
              <a:rPr sz="2400" spc="100" dirty="0">
                <a:latin typeface="Calibri"/>
                <a:cs typeface="Calibri"/>
              </a:rPr>
              <a:t> </a:t>
            </a:r>
            <a:r>
              <a:rPr sz="2400" spc="250" dirty="0">
                <a:latin typeface="Calibri"/>
                <a:cs typeface="Calibri"/>
              </a:rPr>
              <a:t>people</a:t>
            </a:r>
            <a:r>
              <a:rPr sz="2400" spc="100" dirty="0">
                <a:latin typeface="Calibri"/>
                <a:cs typeface="Calibri"/>
              </a:rPr>
              <a:t> </a:t>
            </a:r>
            <a:r>
              <a:rPr sz="2400" spc="185" dirty="0">
                <a:latin typeface="Calibri"/>
                <a:cs typeface="Calibri"/>
              </a:rPr>
              <a:t>think, </a:t>
            </a:r>
            <a:r>
              <a:rPr sz="2400" spc="240" dirty="0">
                <a:latin typeface="Calibri"/>
                <a:cs typeface="Calibri"/>
              </a:rPr>
              <a:t>understand,</a:t>
            </a:r>
            <a:r>
              <a:rPr sz="2400" spc="105" dirty="0">
                <a:latin typeface="Calibri"/>
                <a:cs typeface="Calibri"/>
              </a:rPr>
              <a:t> </a:t>
            </a:r>
            <a:r>
              <a:rPr sz="2400" spc="320" dirty="0">
                <a:latin typeface="Calibri"/>
                <a:cs typeface="Calibri"/>
              </a:rPr>
              <a:t>and</a:t>
            </a:r>
            <a:r>
              <a:rPr sz="2400" spc="105" dirty="0">
                <a:latin typeface="Calibri"/>
                <a:cs typeface="Calibri"/>
              </a:rPr>
              <a:t> </a:t>
            </a:r>
            <a:r>
              <a:rPr sz="2400" spc="320" dirty="0">
                <a:latin typeface="Calibri"/>
                <a:cs typeface="Calibri"/>
              </a:rPr>
              <a:t>know</a:t>
            </a:r>
            <a:r>
              <a:rPr sz="2400" spc="105" dirty="0">
                <a:latin typeface="Calibri"/>
                <a:cs typeface="Calibri"/>
              </a:rPr>
              <a:t> </a:t>
            </a:r>
            <a:r>
              <a:rPr sz="2400" spc="270" dirty="0">
                <a:latin typeface="Calibri"/>
                <a:cs typeface="Calibri"/>
              </a:rPr>
              <a:t>about</a:t>
            </a:r>
            <a:r>
              <a:rPr sz="2400" spc="105" dirty="0">
                <a:latin typeface="Calibri"/>
                <a:cs typeface="Calibri"/>
              </a:rPr>
              <a:t> </a:t>
            </a:r>
            <a:r>
              <a:rPr sz="2400" spc="225" dirty="0">
                <a:latin typeface="Calibri"/>
                <a:cs typeface="Calibri"/>
              </a:rPr>
              <a:t>the </a:t>
            </a:r>
            <a:r>
              <a:rPr sz="2400" spc="165" dirty="0">
                <a:latin typeface="Calibri"/>
                <a:cs typeface="Calibri"/>
              </a:rPr>
              <a:t>world.</a:t>
            </a:r>
            <a:endParaRPr sz="2400" dirty="0">
              <a:latin typeface="Calibri"/>
              <a:cs typeface="Calibri"/>
            </a:endParaRPr>
          </a:p>
          <a:p>
            <a:pPr>
              <a:lnSpc>
                <a:spcPct val="100000"/>
              </a:lnSpc>
              <a:spcBef>
                <a:spcPts val="5"/>
              </a:spcBef>
            </a:pPr>
            <a:endParaRPr sz="3900" dirty="0">
              <a:latin typeface="Calibri"/>
              <a:cs typeface="Calibri"/>
            </a:endParaRPr>
          </a:p>
          <a:p>
            <a:pPr marL="12700">
              <a:lnSpc>
                <a:spcPct val="100000"/>
              </a:lnSpc>
              <a:spcBef>
                <a:spcPts val="5"/>
              </a:spcBef>
            </a:pPr>
            <a:r>
              <a:rPr sz="2400" spc="305" dirty="0">
                <a:latin typeface="Calibri"/>
                <a:cs typeface="Calibri"/>
              </a:rPr>
              <a:t>compare</a:t>
            </a:r>
            <a:r>
              <a:rPr sz="2400" spc="100" dirty="0">
                <a:latin typeface="Calibri"/>
                <a:cs typeface="Calibri"/>
              </a:rPr>
              <a:t> </a:t>
            </a:r>
            <a:r>
              <a:rPr sz="2400" spc="370" dirty="0">
                <a:latin typeface="Calibri"/>
                <a:cs typeface="Calibri"/>
              </a:rPr>
              <a:t>human</a:t>
            </a:r>
            <a:endParaRPr sz="2400" dirty="0">
              <a:latin typeface="Calibri"/>
              <a:cs typeface="Calibri"/>
            </a:endParaRPr>
          </a:p>
          <a:p>
            <a:pPr marL="12700" marR="628015">
              <a:lnSpc>
                <a:spcPct val="132800"/>
              </a:lnSpc>
            </a:pPr>
            <a:r>
              <a:rPr sz="2400" spc="275" dirty="0">
                <a:latin typeface="Calibri"/>
                <a:cs typeface="Calibri"/>
              </a:rPr>
              <a:t>thinking</a:t>
            </a:r>
            <a:r>
              <a:rPr sz="2400" spc="100" dirty="0">
                <a:latin typeface="Calibri"/>
                <a:cs typeface="Calibri"/>
              </a:rPr>
              <a:t> </a:t>
            </a:r>
            <a:r>
              <a:rPr sz="2400" spc="195" dirty="0">
                <a:latin typeface="Calibri"/>
                <a:cs typeface="Calibri"/>
              </a:rPr>
              <a:t>to</a:t>
            </a:r>
            <a:r>
              <a:rPr sz="2400" spc="105" dirty="0">
                <a:latin typeface="Calibri"/>
                <a:cs typeface="Calibri"/>
              </a:rPr>
              <a:t> </a:t>
            </a:r>
            <a:r>
              <a:rPr sz="2400" spc="250" dirty="0">
                <a:latin typeface="Calibri"/>
                <a:cs typeface="Calibri"/>
              </a:rPr>
              <a:t>the</a:t>
            </a:r>
            <a:r>
              <a:rPr sz="2400" spc="100" dirty="0">
                <a:latin typeface="Calibri"/>
                <a:cs typeface="Calibri"/>
              </a:rPr>
              <a:t> </a:t>
            </a:r>
            <a:r>
              <a:rPr sz="2400" spc="275" dirty="0">
                <a:latin typeface="Calibri"/>
                <a:cs typeface="Calibri"/>
              </a:rPr>
              <a:t>workings</a:t>
            </a:r>
            <a:r>
              <a:rPr sz="2400" spc="105" dirty="0">
                <a:latin typeface="Calibri"/>
                <a:cs typeface="Calibri"/>
              </a:rPr>
              <a:t> </a:t>
            </a:r>
            <a:r>
              <a:rPr sz="2400" spc="150" dirty="0">
                <a:latin typeface="Calibri"/>
                <a:cs typeface="Calibri"/>
              </a:rPr>
              <a:t>of</a:t>
            </a:r>
            <a:r>
              <a:rPr sz="2400" spc="105" dirty="0">
                <a:latin typeface="Calibri"/>
                <a:cs typeface="Calibri"/>
              </a:rPr>
              <a:t> </a:t>
            </a:r>
            <a:r>
              <a:rPr sz="2400" spc="210" dirty="0">
                <a:latin typeface="Calibri"/>
                <a:cs typeface="Calibri"/>
              </a:rPr>
              <a:t>a </a:t>
            </a:r>
            <a:r>
              <a:rPr sz="2400" spc="245" dirty="0">
                <a:latin typeface="Calibri"/>
                <a:cs typeface="Calibri"/>
              </a:rPr>
              <a:t>computer,</a:t>
            </a:r>
            <a:endParaRPr sz="2400" dirty="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BF28EE9-F56A-0674-5CEB-98FB5AEF9E63}"/>
              </a:ext>
            </a:extLst>
          </p:cNvPr>
          <p:cNvSpPr>
            <a:spLocks noGrp="1"/>
          </p:cNvSpPr>
          <p:nvPr>
            <p:ph type="title"/>
          </p:nvPr>
        </p:nvSpPr>
        <p:spPr/>
        <p:txBody>
          <a:bodyPr/>
          <a:lstStyle/>
          <a:p>
            <a:r>
              <a:rPr lang="en-US" dirty="0"/>
              <a:t>Cont.</a:t>
            </a:r>
          </a:p>
        </p:txBody>
      </p:sp>
      <p:sp>
        <p:nvSpPr>
          <p:cNvPr id="7" name="Text Placeholder 6">
            <a:extLst>
              <a:ext uri="{FF2B5EF4-FFF2-40B4-BE49-F238E27FC236}">
                <a16:creationId xmlns:a16="http://schemas.microsoft.com/office/drawing/2014/main" id="{DD828AED-0552-9C3D-C512-601C5D954BE8}"/>
              </a:ext>
            </a:extLst>
          </p:cNvPr>
          <p:cNvSpPr>
            <a:spLocks noGrp="1"/>
          </p:cNvSpPr>
          <p:nvPr>
            <p:ph type="body" idx="1"/>
          </p:nvPr>
        </p:nvSpPr>
        <p:spPr>
          <a:xfrm>
            <a:off x="1016000" y="4381500"/>
            <a:ext cx="13690600" cy="4924425"/>
          </a:xfrm>
        </p:spPr>
        <p:txBody>
          <a:bodyPr/>
          <a:lstStyle/>
          <a:p>
            <a:pPr marL="571500" indent="-571500">
              <a:buFont typeface="Arial" panose="020B0604020202020204" pitchFamily="34" charset="0"/>
              <a:buChar char="•"/>
            </a:pPr>
            <a:r>
              <a:rPr lang="en-US" sz="4000" dirty="0"/>
              <a:t>Cognitive psychology believes that behaviors are performed because of ideas and thoughts.</a:t>
            </a:r>
          </a:p>
          <a:p>
            <a:pPr marL="571500" indent="-571500">
              <a:buFont typeface="Arial" panose="020B0604020202020204" pitchFamily="34" charset="0"/>
              <a:buChar char="•"/>
            </a:pPr>
            <a:r>
              <a:rPr lang="en-US" sz="4000" dirty="0"/>
              <a:t>The cognitive perspective focuses on such processes as perception, memory, and thinking.</a:t>
            </a:r>
          </a:p>
          <a:p>
            <a:pPr marL="571500" indent="-571500" algn="just">
              <a:buFont typeface="Arial" panose="020B0604020202020204" pitchFamily="34" charset="0"/>
              <a:buChar char="•"/>
            </a:pPr>
            <a:r>
              <a:rPr lang="en-US" altLang="en-US" sz="4000" dirty="0"/>
              <a:t>How people perceive, remember, think, speak, and solve problems.</a:t>
            </a:r>
            <a:endParaRPr lang="en-US" altLang="en-US" sz="4000" dirty="0">
              <a:cs typeface="Calibri"/>
            </a:endParaRPr>
          </a:p>
          <a:p>
            <a:endParaRPr lang="en-US" sz="4000" dirty="0"/>
          </a:p>
          <a:p>
            <a:endParaRPr lang="en-US" sz="4000" dirty="0"/>
          </a:p>
        </p:txBody>
      </p:sp>
    </p:spTree>
    <p:extLst>
      <p:ext uri="{BB962C8B-B14F-4D97-AF65-F5344CB8AC3E}">
        <p14:creationId xmlns:p14="http://schemas.microsoft.com/office/powerpoint/2010/main" val="3419327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6730" cy="10287000"/>
            <a:chOff x="0" y="0"/>
            <a:chExt cx="18286730" cy="10287000"/>
          </a:xfrm>
        </p:grpSpPr>
        <p:sp>
          <p:nvSpPr>
            <p:cNvPr id="3" name="object 3"/>
            <p:cNvSpPr/>
            <p:nvPr/>
          </p:nvSpPr>
          <p:spPr>
            <a:xfrm>
              <a:off x="8638172" y="0"/>
              <a:ext cx="9625330" cy="10287000"/>
            </a:xfrm>
            <a:custGeom>
              <a:avLst/>
              <a:gdLst/>
              <a:ahLst/>
              <a:cxnLst/>
              <a:rect l="l" t="t" r="r" b="b"/>
              <a:pathLst>
                <a:path w="9625330" h="10287000">
                  <a:moveTo>
                    <a:pt x="0" y="0"/>
                  </a:moveTo>
                  <a:lnTo>
                    <a:pt x="9624862" y="0"/>
                  </a:lnTo>
                  <a:lnTo>
                    <a:pt x="9624862" y="10286998"/>
                  </a:lnTo>
                  <a:lnTo>
                    <a:pt x="0" y="10286998"/>
                  </a:lnTo>
                  <a:lnTo>
                    <a:pt x="0" y="0"/>
                  </a:lnTo>
                  <a:close/>
                </a:path>
              </a:pathLst>
            </a:custGeom>
            <a:solidFill>
              <a:srgbClr val="DDDDDD">
                <a:alpha val="17649"/>
              </a:srgbClr>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7742205" y="2242235"/>
              <a:ext cx="10544174" cy="5457824"/>
            </a:xfrm>
            <a:prstGeom prst="rect">
              <a:avLst/>
            </a:prstGeom>
          </p:spPr>
        </p:pic>
        <p:sp>
          <p:nvSpPr>
            <p:cNvPr id="5" name="object 5"/>
            <p:cNvSpPr/>
            <p:nvPr/>
          </p:nvSpPr>
          <p:spPr>
            <a:xfrm>
              <a:off x="0" y="0"/>
              <a:ext cx="7713980" cy="10287000"/>
            </a:xfrm>
            <a:custGeom>
              <a:avLst/>
              <a:gdLst/>
              <a:ahLst/>
              <a:cxnLst/>
              <a:rect l="l" t="t" r="r" b="b"/>
              <a:pathLst>
                <a:path w="7713980" h="10287000">
                  <a:moveTo>
                    <a:pt x="0" y="0"/>
                  </a:moveTo>
                  <a:lnTo>
                    <a:pt x="7713542" y="0"/>
                  </a:lnTo>
                  <a:lnTo>
                    <a:pt x="7713542" y="10286998"/>
                  </a:lnTo>
                  <a:lnTo>
                    <a:pt x="0" y="10286998"/>
                  </a:lnTo>
                  <a:lnTo>
                    <a:pt x="0" y="0"/>
                  </a:lnTo>
                  <a:close/>
                </a:path>
              </a:pathLst>
            </a:custGeom>
            <a:solidFill>
              <a:srgbClr val="FFD372">
                <a:alpha val="17649"/>
              </a:srgbClr>
            </a:solidFill>
          </p:spPr>
          <p:txBody>
            <a:bodyPr wrap="square" lIns="0" tIns="0" rIns="0" bIns="0" rtlCol="0"/>
            <a:lstStyle/>
            <a:p>
              <a:endParaRPr dirty="0"/>
            </a:p>
          </p:txBody>
        </p:sp>
        <p:sp>
          <p:nvSpPr>
            <p:cNvPr id="6" name="object 6"/>
            <p:cNvSpPr/>
            <p:nvPr/>
          </p:nvSpPr>
          <p:spPr>
            <a:xfrm>
              <a:off x="1028699" y="1043428"/>
              <a:ext cx="1563370" cy="417830"/>
            </a:xfrm>
            <a:custGeom>
              <a:avLst/>
              <a:gdLst/>
              <a:ahLst/>
              <a:cxnLst/>
              <a:rect l="l" t="t" r="r" b="b"/>
              <a:pathLst>
                <a:path w="1563370" h="417830">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pic>
          <p:nvPicPr>
            <p:cNvPr id="7" name="object 7"/>
            <p:cNvPicPr/>
            <p:nvPr/>
          </p:nvPicPr>
          <p:blipFill>
            <a:blip r:embed="rId3" cstate="print"/>
            <a:stretch>
              <a:fillRect/>
            </a:stretch>
          </p:blipFill>
          <p:spPr>
            <a:xfrm>
              <a:off x="1266824" y="4810443"/>
              <a:ext cx="95250" cy="95249"/>
            </a:xfrm>
            <a:prstGeom prst="rect">
              <a:avLst/>
            </a:prstGeom>
          </p:spPr>
        </p:pic>
        <p:pic>
          <p:nvPicPr>
            <p:cNvPr id="8" name="object 8"/>
            <p:cNvPicPr/>
            <p:nvPr/>
          </p:nvPicPr>
          <p:blipFill>
            <a:blip r:embed="rId3" cstate="print"/>
            <a:stretch>
              <a:fillRect/>
            </a:stretch>
          </p:blipFill>
          <p:spPr>
            <a:xfrm>
              <a:off x="1266824" y="5743893"/>
              <a:ext cx="95250" cy="95249"/>
            </a:xfrm>
            <a:prstGeom prst="rect">
              <a:avLst/>
            </a:prstGeom>
          </p:spPr>
        </p:pic>
      </p:grpSp>
      <p:sp>
        <p:nvSpPr>
          <p:cNvPr id="9" name="object 9"/>
          <p:cNvSpPr txBox="1"/>
          <p:nvPr/>
        </p:nvSpPr>
        <p:spPr>
          <a:xfrm>
            <a:off x="1515467" y="4532643"/>
            <a:ext cx="5364480" cy="2359025"/>
          </a:xfrm>
          <a:prstGeom prst="rect">
            <a:avLst/>
          </a:prstGeom>
        </p:spPr>
        <p:txBody>
          <a:bodyPr vert="horz" wrap="square" lIns="0" tIns="12065" rIns="0" bIns="0" rtlCol="0">
            <a:spAutoFit/>
          </a:bodyPr>
          <a:lstStyle/>
          <a:p>
            <a:pPr marL="12700" marR="859790">
              <a:lnSpc>
                <a:spcPct val="133200"/>
              </a:lnSpc>
              <a:spcBef>
                <a:spcPts val="95"/>
              </a:spcBef>
            </a:pPr>
            <a:r>
              <a:rPr sz="2300" spc="295" dirty="0">
                <a:latin typeface="Calibri"/>
                <a:cs typeface="Calibri"/>
              </a:rPr>
              <a:t>Emphasizes</a:t>
            </a:r>
            <a:r>
              <a:rPr sz="2300" spc="110" dirty="0">
                <a:latin typeface="Calibri"/>
                <a:cs typeface="Calibri"/>
              </a:rPr>
              <a:t> </a:t>
            </a:r>
            <a:r>
              <a:rPr sz="2300" spc="315" dirty="0">
                <a:latin typeface="Calibri"/>
                <a:cs typeface="Calibri"/>
              </a:rPr>
              <a:t>how</a:t>
            </a:r>
            <a:r>
              <a:rPr sz="2300" spc="110" dirty="0">
                <a:latin typeface="Calibri"/>
                <a:cs typeface="Calibri"/>
              </a:rPr>
              <a:t> </a:t>
            </a:r>
            <a:r>
              <a:rPr sz="2300" spc="240" dirty="0">
                <a:latin typeface="Calibri"/>
                <a:cs typeface="Calibri"/>
              </a:rPr>
              <a:t>perception</a:t>
            </a:r>
            <a:r>
              <a:rPr sz="2300" spc="114" dirty="0">
                <a:latin typeface="Calibri"/>
                <a:cs typeface="Calibri"/>
              </a:rPr>
              <a:t> </a:t>
            </a:r>
            <a:r>
              <a:rPr sz="2300" spc="125" dirty="0">
                <a:latin typeface="Calibri"/>
                <a:cs typeface="Calibri"/>
              </a:rPr>
              <a:t>is </a:t>
            </a:r>
            <a:r>
              <a:rPr sz="2300" spc="215" dirty="0">
                <a:latin typeface="Calibri"/>
                <a:cs typeface="Calibri"/>
              </a:rPr>
              <a:t>organized.</a:t>
            </a:r>
            <a:endParaRPr sz="2300" dirty="0">
              <a:latin typeface="Calibri"/>
              <a:cs typeface="Calibri"/>
            </a:endParaRPr>
          </a:p>
          <a:p>
            <a:pPr marL="12700" marR="5080">
              <a:lnSpc>
                <a:spcPts val="3679"/>
              </a:lnSpc>
              <a:spcBef>
                <a:spcPts val="85"/>
              </a:spcBef>
            </a:pPr>
            <a:r>
              <a:rPr sz="2300" spc="204" dirty="0">
                <a:latin typeface="Calibri"/>
                <a:cs typeface="Calibri"/>
              </a:rPr>
              <a:t>Gestalt</a:t>
            </a:r>
            <a:r>
              <a:rPr sz="2300" spc="100" dirty="0">
                <a:latin typeface="Calibri"/>
                <a:cs typeface="Calibri"/>
              </a:rPr>
              <a:t> </a:t>
            </a:r>
            <a:r>
              <a:rPr sz="2300" spc="240" dirty="0">
                <a:latin typeface="Calibri"/>
                <a:cs typeface="Calibri"/>
              </a:rPr>
              <a:t>psychologists</a:t>
            </a:r>
            <a:r>
              <a:rPr sz="2300" spc="100" dirty="0">
                <a:latin typeface="Calibri"/>
                <a:cs typeface="Calibri"/>
              </a:rPr>
              <a:t> </a:t>
            </a:r>
            <a:r>
              <a:rPr sz="2300" spc="250" dirty="0">
                <a:latin typeface="Calibri"/>
                <a:cs typeface="Calibri"/>
              </a:rPr>
              <a:t>study</a:t>
            </a:r>
            <a:r>
              <a:rPr sz="2300" spc="105" dirty="0">
                <a:latin typeface="Calibri"/>
                <a:cs typeface="Calibri"/>
              </a:rPr>
              <a:t> </a:t>
            </a:r>
            <a:r>
              <a:rPr sz="2300" spc="290" dirty="0">
                <a:latin typeface="Calibri"/>
                <a:cs typeface="Calibri"/>
              </a:rPr>
              <a:t>how </a:t>
            </a:r>
            <a:r>
              <a:rPr sz="2300" spc="245" dirty="0">
                <a:latin typeface="Calibri"/>
                <a:cs typeface="Calibri"/>
              </a:rPr>
              <a:t>people</a:t>
            </a:r>
            <a:r>
              <a:rPr sz="2300" spc="105" dirty="0">
                <a:latin typeface="Calibri"/>
                <a:cs typeface="Calibri"/>
              </a:rPr>
              <a:t> </a:t>
            </a:r>
            <a:r>
              <a:rPr sz="2300" spc="235" dirty="0">
                <a:latin typeface="Calibri"/>
                <a:cs typeface="Calibri"/>
              </a:rPr>
              <a:t>consider</a:t>
            </a:r>
            <a:r>
              <a:rPr sz="2300" spc="110" dirty="0">
                <a:latin typeface="Calibri"/>
                <a:cs typeface="Calibri"/>
              </a:rPr>
              <a:t> </a:t>
            </a:r>
            <a:r>
              <a:rPr sz="2300" spc="215" dirty="0">
                <a:latin typeface="Calibri"/>
                <a:cs typeface="Calibri"/>
              </a:rPr>
              <a:t>individual</a:t>
            </a:r>
            <a:r>
              <a:rPr sz="2300" spc="105" dirty="0">
                <a:latin typeface="Calibri"/>
                <a:cs typeface="Calibri"/>
              </a:rPr>
              <a:t> </a:t>
            </a:r>
            <a:r>
              <a:rPr sz="2300" spc="254" dirty="0">
                <a:latin typeface="Calibri"/>
                <a:cs typeface="Calibri"/>
              </a:rPr>
              <a:t>elements </a:t>
            </a:r>
            <a:r>
              <a:rPr sz="2300" spc="245" dirty="0">
                <a:latin typeface="Calibri"/>
                <a:cs typeface="Calibri"/>
              </a:rPr>
              <a:t>together</a:t>
            </a:r>
            <a:r>
              <a:rPr sz="2300" spc="100" dirty="0">
                <a:latin typeface="Calibri"/>
                <a:cs typeface="Calibri"/>
              </a:rPr>
              <a:t> </a:t>
            </a:r>
            <a:r>
              <a:rPr sz="2300" spc="235" dirty="0">
                <a:latin typeface="Calibri"/>
                <a:cs typeface="Calibri"/>
              </a:rPr>
              <a:t>as</a:t>
            </a:r>
            <a:r>
              <a:rPr sz="2300" spc="100" dirty="0">
                <a:latin typeface="Calibri"/>
                <a:cs typeface="Calibri"/>
              </a:rPr>
              <a:t> </a:t>
            </a:r>
            <a:r>
              <a:rPr sz="2300" spc="225" dirty="0">
                <a:latin typeface="Calibri"/>
                <a:cs typeface="Calibri"/>
              </a:rPr>
              <a:t>units</a:t>
            </a:r>
            <a:r>
              <a:rPr sz="2300" spc="100" dirty="0">
                <a:latin typeface="Calibri"/>
                <a:cs typeface="Calibri"/>
              </a:rPr>
              <a:t> </a:t>
            </a:r>
            <a:r>
              <a:rPr sz="2300" spc="170" dirty="0">
                <a:latin typeface="Calibri"/>
                <a:cs typeface="Calibri"/>
              </a:rPr>
              <a:t>or</a:t>
            </a:r>
            <a:r>
              <a:rPr sz="2300" spc="100" dirty="0">
                <a:latin typeface="Calibri"/>
                <a:cs typeface="Calibri"/>
              </a:rPr>
              <a:t> </a:t>
            </a:r>
            <a:r>
              <a:rPr sz="2300" spc="190" dirty="0">
                <a:latin typeface="Calibri"/>
                <a:cs typeface="Calibri"/>
              </a:rPr>
              <a:t>wholes.</a:t>
            </a:r>
            <a:endParaRPr sz="2300" dirty="0">
              <a:latin typeface="Calibri"/>
              <a:cs typeface="Calibri"/>
            </a:endParaRPr>
          </a:p>
        </p:txBody>
      </p:sp>
      <p:sp>
        <p:nvSpPr>
          <p:cNvPr id="10" name="object 10"/>
          <p:cNvSpPr txBox="1">
            <a:spLocks noGrp="1"/>
          </p:cNvSpPr>
          <p:nvPr>
            <p:ph type="title"/>
          </p:nvPr>
        </p:nvSpPr>
        <p:spPr>
          <a:xfrm>
            <a:off x="1016000" y="1796530"/>
            <a:ext cx="3305810" cy="2294890"/>
          </a:xfrm>
          <a:prstGeom prst="rect">
            <a:avLst/>
          </a:prstGeom>
        </p:spPr>
        <p:txBody>
          <a:bodyPr vert="horz" wrap="square" lIns="0" tIns="443230" rIns="0" bIns="0" rtlCol="0">
            <a:spAutoFit/>
          </a:bodyPr>
          <a:lstStyle/>
          <a:p>
            <a:pPr marL="12700">
              <a:lnSpc>
                <a:spcPct val="100000"/>
              </a:lnSpc>
              <a:spcBef>
                <a:spcPts val="3490"/>
              </a:spcBef>
            </a:pPr>
            <a:r>
              <a:rPr sz="5500" spc="760" dirty="0"/>
              <a:t>GESTALT</a:t>
            </a:r>
            <a:endParaRPr sz="5500" dirty="0"/>
          </a:p>
          <a:p>
            <a:pPr marL="12700" marR="5080">
              <a:lnSpc>
                <a:spcPct val="133200"/>
              </a:lnSpc>
              <a:spcBef>
                <a:spcPts val="525"/>
              </a:spcBef>
            </a:pPr>
            <a:r>
              <a:rPr sz="2300" b="0" spc="335" dirty="0">
                <a:latin typeface="Calibri"/>
                <a:cs typeface="Calibri"/>
              </a:rPr>
              <a:t>Hermann</a:t>
            </a:r>
            <a:r>
              <a:rPr sz="2300" b="0" spc="85" dirty="0">
                <a:latin typeface="Calibri"/>
                <a:cs typeface="Calibri"/>
              </a:rPr>
              <a:t> </a:t>
            </a:r>
            <a:r>
              <a:rPr sz="2300" b="0" spc="305" dirty="0">
                <a:latin typeface="Calibri"/>
                <a:cs typeface="Calibri"/>
              </a:rPr>
              <a:t>Ebbinghaus </a:t>
            </a:r>
            <a:r>
              <a:rPr sz="2300" b="0" spc="310" dirty="0">
                <a:latin typeface="Calibri"/>
                <a:cs typeface="Calibri"/>
              </a:rPr>
              <a:t>and</a:t>
            </a:r>
            <a:r>
              <a:rPr sz="2300" b="0" spc="90" dirty="0">
                <a:latin typeface="Calibri"/>
                <a:cs typeface="Calibri"/>
              </a:rPr>
              <a:t> </a:t>
            </a:r>
            <a:r>
              <a:rPr sz="2300" b="0" spc="235" dirty="0">
                <a:latin typeface="Calibri"/>
                <a:cs typeface="Calibri"/>
              </a:rPr>
              <a:t>Max</a:t>
            </a:r>
            <a:r>
              <a:rPr sz="2300" b="0" spc="95" dirty="0">
                <a:latin typeface="Calibri"/>
                <a:cs typeface="Calibri"/>
              </a:rPr>
              <a:t> </a:t>
            </a:r>
            <a:r>
              <a:rPr sz="2300" b="0" spc="254" dirty="0">
                <a:latin typeface="Calibri"/>
                <a:cs typeface="Calibri"/>
              </a:rPr>
              <a:t>Wertheimer</a:t>
            </a:r>
            <a:endParaRPr sz="2300" dirty="0">
              <a:latin typeface="Calibri"/>
              <a:cs typeface="Calibri"/>
            </a:endParaRPr>
          </a:p>
        </p:txBody>
      </p:sp>
      <p:sp>
        <p:nvSpPr>
          <p:cNvPr id="11" name="TextBox 10">
            <a:extLst>
              <a:ext uri="{FF2B5EF4-FFF2-40B4-BE49-F238E27FC236}">
                <a16:creationId xmlns:a16="http://schemas.microsoft.com/office/drawing/2014/main" id="{F694A9D5-8D15-0A56-EA5A-6161BA5DEFF2}"/>
              </a:ext>
            </a:extLst>
          </p:cNvPr>
          <p:cNvSpPr txBox="1"/>
          <p:nvPr/>
        </p:nvSpPr>
        <p:spPr>
          <a:xfrm>
            <a:off x="1266824" y="7700059"/>
            <a:ext cx="6447156" cy="1685783"/>
          </a:xfrm>
          <a:prstGeom prst="rect">
            <a:avLst/>
          </a:prstGeom>
          <a:noFill/>
        </p:spPr>
        <p:txBody>
          <a:bodyPr wrap="square" rtlCol="0">
            <a:spAutoFit/>
          </a:bodyPr>
          <a:lstStyle/>
          <a:p>
            <a:pPr marL="342900" marR="573222" indent="-342900" algn="just">
              <a:lnSpc>
                <a:spcPct val="133200"/>
              </a:lnSpc>
              <a:spcBef>
                <a:spcPts val="63"/>
              </a:spcBef>
            </a:pPr>
            <a:r>
              <a:rPr lang="en-US" sz="2000" dirty="0"/>
              <a:t>The Gestalt approach emphasized that perception is more than the sum of its parts and studied how sensations are assembled into meaningful perceptual experiences.</a:t>
            </a:r>
            <a:endParaRPr lang="en-US" sz="2000" dirty="0">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64234" y="-380505"/>
            <a:ext cx="2741457" cy="2065483"/>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7461" y="633219"/>
            <a:ext cx="968052" cy="96805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5065223" y="982710"/>
            <a:ext cx="1031208" cy="103120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4034964" y="0"/>
            <a:ext cx="4253036" cy="2221255"/>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64516" y="9173251"/>
            <a:ext cx="2241769" cy="111374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Gestalt Psychology: What You Should Know">
            <a:extLst>
              <a:ext uri="{FF2B5EF4-FFF2-40B4-BE49-F238E27FC236}">
                <a16:creationId xmlns:a16="http://schemas.microsoft.com/office/drawing/2014/main" id="{C5CA82A5-220E-4444-86E6-42A6D8251433}"/>
              </a:ext>
            </a:extLst>
          </p:cNvPr>
          <p:cNvPicPr>
            <a:picLocks noGrp="1"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76551" y="965200"/>
            <a:ext cx="12534897" cy="835659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406120" y="9679714"/>
            <a:ext cx="1222354" cy="607286"/>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0528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28700" y="1028703"/>
            <a:ext cx="240029" cy="240029"/>
          </a:xfrm>
          <a:custGeom>
            <a:avLst/>
            <a:gdLst/>
            <a:ahLst/>
            <a:cxnLst/>
            <a:rect l="l" t="t" r="r" b="b"/>
            <a:pathLst>
              <a:path w="240030" h="240030">
                <a:moveTo>
                  <a:pt x="239919" y="239919"/>
                </a:moveTo>
                <a:lnTo>
                  <a:pt x="0" y="239919"/>
                </a:lnTo>
                <a:lnTo>
                  <a:pt x="0" y="0"/>
                </a:lnTo>
                <a:lnTo>
                  <a:pt x="239919" y="0"/>
                </a:lnTo>
                <a:lnTo>
                  <a:pt x="239919" y="239919"/>
                </a:lnTo>
                <a:close/>
              </a:path>
            </a:pathLst>
          </a:custGeom>
          <a:solidFill>
            <a:srgbClr val="F9BF40"/>
          </a:solidFill>
        </p:spPr>
        <p:txBody>
          <a:bodyPr wrap="square" lIns="0" tIns="0" rIns="0" bIns="0" rtlCol="0"/>
          <a:lstStyle/>
          <a:p>
            <a:endParaRPr dirty="0"/>
          </a:p>
        </p:txBody>
      </p:sp>
      <p:sp>
        <p:nvSpPr>
          <p:cNvPr id="3" name="object 3"/>
          <p:cNvSpPr/>
          <p:nvPr/>
        </p:nvSpPr>
        <p:spPr>
          <a:xfrm>
            <a:off x="1509301" y="1028703"/>
            <a:ext cx="240029" cy="240029"/>
          </a:xfrm>
          <a:custGeom>
            <a:avLst/>
            <a:gdLst/>
            <a:ahLst/>
            <a:cxnLst/>
            <a:rect l="l" t="t" r="r" b="b"/>
            <a:pathLst>
              <a:path w="240030" h="240030">
                <a:moveTo>
                  <a:pt x="239919" y="239919"/>
                </a:moveTo>
                <a:lnTo>
                  <a:pt x="0" y="239919"/>
                </a:lnTo>
                <a:lnTo>
                  <a:pt x="0" y="0"/>
                </a:lnTo>
                <a:lnTo>
                  <a:pt x="239919" y="0"/>
                </a:lnTo>
                <a:lnTo>
                  <a:pt x="239919" y="239919"/>
                </a:lnTo>
                <a:close/>
              </a:path>
            </a:pathLst>
          </a:custGeom>
          <a:solidFill>
            <a:srgbClr val="F9BF40"/>
          </a:solidFill>
        </p:spPr>
        <p:txBody>
          <a:bodyPr wrap="square" lIns="0" tIns="0" rIns="0" bIns="0" rtlCol="0"/>
          <a:lstStyle/>
          <a:p>
            <a:endParaRPr dirty="0"/>
          </a:p>
        </p:txBody>
      </p:sp>
      <p:sp>
        <p:nvSpPr>
          <p:cNvPr id="4" name="object 4"/>
          <p:cNvSpPr/>
          <p:nvPr/>
        </p:nvSpPr>
        <p:spPr>
          <a:xfrm>
            <a:off x="1984181" y="1028703"/>
            <a:ext cx="240029" cy="240029"/>
          </a:xfrm>
          <a:custGeom>
            <a:avLst/>
            <a:gdLst/>
            <a:ahLst/>
            <a:cxnLst/>
            <a:rect l="l" t="t" r="r" b="b"/>
            <a:pathLst>
              <a:path w="240030" h="240030">
                <a:moveTo>
                  <a:pt x="239919" y="239919"/>
                </a:moveTo>
                <a:lnTo>
                  <a:pt x="0" y="239919"/>
                </a:lnTo>
                <a:lnTo>
                  <a:pt x="0" y="0"/>
                </a:lnTo>
                <a:lnTo>
                  <a:pt x="239919" y="0"/>
                </a:lnTo>
                <a:lnTo>
                  <a:pt x="239919" y="239919"/>
                </a:lnTo>
                <a:close/>
              </a:path>
            </a:pathLst>
          </a:custGeom>
          <a:solidFill>
            <a:srgbClr val="F9BF40"/>
          </a:solidFill>
        </p:spPr>
        <p:txBody>
          <a:bodyPr wrap="square" lIns="0" tIns="0" rIns="0" bIns="0" rtlCol="0"/>
          <a:lstStyle/>
          <a:p>
            <a:endParaRPr dirty="0"/>
          </a:p>
        </p:txBody>
      </p:sp>
      <p:sp>
        <p:nvSpPr>
          <p:cNvPr id="5" name="object 5"/>
          <p:cNvSpPr txBox="1">
            <a:spLocks noGrp="1"/>
          </p:cNvSpPr>
          <p:nvPr>
            <p:ph type="title"/>
          </p:nvPr>
        </p:nvSpPr>
        <p:spPr>
          <a:xfrm>
            <a:off x="1016000" y="1467246"/>
            <a:ext cx="5758180" cy="862965"/>
          </a:xfrm>
          <a:prstGeom prst="rect">
            <a:avLst/>
          </a:prstGeom>
        </p:spPr>
        <p:txBody>
          <a:bodyPr vert="horz" wrap="square" lIns="0" tIns="12065" rIns="0" bIns="0" rtlCol="0">
            <a:spAutoFit/>
          </a:bodyPr>
          <a:lstStyle/>
          <a:p>
            <a:pPr marL="12700">
              <a:lnSpc>
                <a:spcPct val="100000"/>
              </a:lnSpc>
              <a:spcBef>
                <a:spcPts val="95"/>
              </a:spcBef>
            </a:pPr>
            <a:r>
              <a:rPr sz="5500" spc="770" dirty="0"/>
              <a:t>NEUROSCIENCE</a:t>
            </a:r>
            <a:endParaRPr sz="5500" dirty="0"/>
          </a:p>
        </p:txBody>
      </p:sp>
      <p:pic>
        <p:nvPicPr>
          <p:cNvPr id="6" name="object 6"/>
          <p:cNvPicPr/>
          <p:nvPr/>
        </p:nvPicPr>
        <p:blipFill>
          <a:blip r:embed="rId2" cstate="print"/>
          <a:stretch>
            <a:fillRect/>
          </a:stretch>
        </p:blipFill>
        <p:spPr>
          <a:xfrm>
            <a:off x="1028700" y="5278856"/>
            <a:ext cx="16230597" cy="5008143"/>
          </a:xfrm>
          <a:prstGeom prst="rect">
            <a:avLst/>
          </a:prstGeom>
        </p:spPr>
      </p:pic>
      <p:pic>
        <p:nvPicPr>
          <p:cNvPr id="7" name="object 7"/>
          <p:cNvPicPr/>
          <p:nvPr/>
        </p:nvPicPr>
        <p:blipFill>
          <a:blip r:embed="rId3" cstate="print"/>
          <a:stretch>
            <a:fillRect/>
          </a:stretch>
        </p:blipFill>
        <p:spPr>
          <a:xfrm>
            <a:off x="1266824" y="2727772"/>
            <a:ext cx="95250" cy="95249"/>
          </a:xfrm>
          <a:prstGeom prst="rect">
            <a:avLst/>
          </a:prstGeom>
        </p:spPr>
      </p:pic>
      <p:sp>
        <p:nvSpPr>
          <p:cNvPr id="8" name="object 8"/>
          <p:cNvSpPr txBox="1"/>
          <p:nvPr/>
        </p:nvSpPr>
        <p:spPr>
          <a:xfrm>
            <a:off x="1515467" y="2449972"/>
            <a:ext cx="8046720" cy="1892300"/>
          </a:xfrm>
          <a:prstGeom prst="rect">
            <a:avLst/>
          </a:prstGeom>
        </p:spPr>
        <p:txBody>
          <a:bodyPr vert="horz" wrap="square" lIns="0" tIns="12065" rIns="0" bIns="0" rtlCol="0">
            <a:spAutoFit/>
          </a:bodyPr>
          <a:lstStyle/>
          <a:p>
            <a:pPr marL="12700" marR="5080">
              <a:lnSpc>
                <a:spcPct val="133200"/>
              </a:lnSpc>
              <a:spcBef>
                <a:spcPts val="95"/>
              </a:spcBef>
            </a:pPr>
            <a:r>
              <a:rPr sz="2300" spc="345" dirty="0">
                <a:latin typeface="Calibri"/>
                <a:cs typeface="Calibri"/>
              </a:rPr>
              <a:t>How</a:t>
            </a:r>
            <a:r>
              <a:rPr sz="2300" spc="90" dirty="0">
                <a:latin typeface="Calibri"/>
                <a:cs typeface="Calibri"/>
              </a:rPr>
              <a:t> </a:t>
            </a:r>
            <a:r>
              <a:rPr sz="2300" spc="215" dirty="0">
                <a:latin typeface="Calibri"/>
                <a:cs typeface="Calibri"/>
              </a:rPr>
              <a:t>individual</a:t>
            </a:r>
            <a:r>
              <a:rPr sz="2300" spc="95" dirty="0">
                <a:latin typeface="Calibri"/>
                <a:cs typeface="Calibri"/>
              </a:rPr>
              <a:t> </a:t>
            </a:r>
            <a:r>
              <a:rPr sz="2300" spc="229" dirty="0">
                <a:latin typeface="Calibri"/>
                <a:cs typeface="Calibri"/>
              </a:rPr>
              <a:t>nerve</a:t>
            </a:r>
            <a:r>
              <a:rPr sz="2300" spc="95" dirty="0">
                <a:latin typeface="Calibri"/>
                <a:cs typeface="Calibri"/>
              </a:rPr>
              <a:t> </a:t>
            </a:r>
            <a:r>
              <a:rPr sz="2300" spc="190" dirty="0">
                <a:latin typeface="Calibri"/>
                <a:cs typeface="Calibri"/>
              </a:rPr>
              <a:t>cells</a:t>
            </a:r>
            <a:r>
              <a:rPr sz="2300" spc="95" dirty="0">
                <a:latin typeface="Calibri"/>
                <a:cs typeface="Calibri"/>
              </a:rPr>
              <a:t> </a:t>
            </a:r>
            <a:r>
              <a:rPr sz="2300" spc="204" dirty="0">
                <a:latin typeface="Calibri"/>
                <a:cs typeface="Calibri"/>
              </a:rPr>
              <a:t>are</a:t>
            </a:r>
            <a:r>
              <a:rPr sz="2300" spc="90" dirty="0">
                <a:latin typeface="Calibri"/>
                <a:cs typeface="Calibri"/>
              </a:rPr>
              <a:t> </a:t>
            </a:r>
            <a:r>
              <a:rPr sz="2300" spc="220" dirty="0">
                <a:latin typeface="Calibri"/>
                <a:cs typeface="Calibri"/>
              </a:rPr>
              <a:t>joined</a:t>
            </a:r>
            <a:r>
              <a:rPr sz="2300" spc="95" dirty="0">
                <a:latin typeface="Calibri"/>
                <a:cs typeface="Calibri"/>
              </a:rPr>
              <a:t> </a:t>
            </a:r>
            <a:r>
              <a:rPr sz="2300" spc="200" dirty="0">
                <a:latin typeface="Calibri"/>
                <a:cs typeface="Calibri"/>
              </a:rPr>
              <a:t>together, </a:t>
            </a:r>
            <a:r>
              <a:rPr sz="2300" spc="229" dirty="0">
                <a:latin typeface="Calibri"/>
                <a:cs typeface="Calibri"/>
              </a:rPr>
              <a:t>Inheritance</a:t>
            </a:r>
            <a:r>
              <a:rPr sz="2300" spc="105" dirty="0">
                <a:latin typeface="Calibri"/>
                <a:cs typeface="Calibri"/>
              </a:rPr>
              <a:t> </a:t>
            </a:r>
            <a:r>
              <a:rPr sz="2300" spc="150" dirty="0">
                <a:latin typeface="Calibri"/>
                <a:cs typeface="Calibri"/>
              </a:rPr>
              <a:t>of</a:t>
            </a:r>
            <a:r>
              <a:rPr sz="2300" spc="105" dirty="0">
                <a:latin typeface="Calibri"/>
                <a:cs typeface="Calibri"/>
              </a:rPr>
              <a:t> </a:t>
            </a:r>
            <a:r>
              <a:rPr sz="2300" spc="215" dirty="0">
                <a:latin typeface="Calibri"/>
                <a:cs typeface="Calibri"/>
              </a:rPr>
              <a:t>certain</a:t>
            </a:r>
            <a:r>
              <a:rPr sz="2300" spc="105" dirty="0">
                <a:latin typeface="Calibri"/>
                <a:cs typeface="Calibri"/>
              </a:rPr>
              <a:t> </a:t>
            </a:r>
            <a:r>
              <a:rPr sz="2300" spc="210" dirty="0">
                <a:latin typeface="Calibri"/>
                <a:cs typeface="Calibri"/>
              </a:rPr>
              <a:t>characteristics</a:t>
            </a:r>
            <a:r>
              <a:rPr sz="2300" spc="105" dirty="0">
                <a:latin typeface="Calibri"/>
                <a:cs typeface="Calibri"/>
              </a:rPr>
              <a:t> </a:t>
            </a:r>
            <a:r>
              <a:rPr sz="2300" spc="250" dirty="0">
                <a:latin typeface="Calibri"/>
                <a:cs typeface="Calibri"/>
              </a:rPr>
              <a:t>from</a:t>
            </a:r>
            <a:r>
              <a:rPr sz="2300" spc="100" dirty="0">
                <a:latin typeface="Calibri"/>
                <a:cs typeface="Calibri"/>
              </a:rPr>
              <a:t> </a:t>
            </a:r>
            <a:r>
              <a:rPr sz="2300" spc="240" dirty="0">
                <a:latin typeface="Calibri"/>
                <a:cs typeface="Calibri"/>
              </a:rPr>
              <a:t>parents</a:t>
            </a:r>
            <a:r>
              <a:rPr sz="2300" spc="105" dirty="0">
                <a:latin typeface="Calibri"/>
                <a:cs typeface="Calibri"/>
              </a:rPr>
              <a:t> </a:t>
            </a:r>
            <a:r>
              <a:rPr sz="2300" spc="285" dirty="0">
                <a:latin typeface="Calibri"/>
                <a:cs typeface="Calibri"/>
              </a:rPr>
              <a:t>and </a:t>
            </a:r>
            <a:r>
              <a:rPr sz="2300" spc="215" dirty="0">
                <a:latin typeface="Calibri"/>
                <a:cs typeface="Calibri"/>
              </a:rPr>
              <a:t>other</a:t>
            </a:r>
            <a:r>
              <a:rPr sz="2300" spc="100" dirty="0">
                <a:latin typeface="Calibri"/>
                <a:cs typeface="Calibri"/>
              </a:rPr>
              <a:t> </a:t>
            </a:r>
            <a:r>
              <a:rPr sz="2300" spc="229" dirty="0">
                <a:latin typeface="Calibri"/>
                <a:cs typeface="Calibri"/>
              </a:rPr>
              <a:t>ancestors</a:t>
            </a:r>
            <a:r>
              <a:rPr sz="2300" spc="105" dirty="0">
                <a:latin typeface="Calibri"/>
                <a:cs typeface="Calibri"/>
              </a:rPr>
              <a:t> </a:t>
            </a:r>
            <a:r>
              <a:rPr sz="2300" spc="229" dirty="0">
                <a:latin typeface="Calibri"/>
                <a:cs typeface="Calibri"/>
              </a:rPr>
              <a:t>influence</a:t>
            </a:r>
            <a:r>
              <a:rPr sz="2300" spc="105" dirty="0">
                <a:latin typeface="Calibri"/>
                <a:cs typeface="Calibri"/>
              </a:rPr>
              <a:t> </a:t>
            </a:r>
            <a:r>
              <a:rPr sz="2300" spc="180" dirty="0">
                <a:latin typeface="Calibri"/>
                <a:cs typeface="Calibri"/>
              </a:rPr>
              <a:t>behavior,</a:t>
            </a:r>
            <a:endParaRPr sz="2300" dirty="0">
              <a:latin typeface="Calibri"/>
              <a:cs typeface="Calibri"/>
            </a:endParaRPr>
          </a:p>
          <a:p>
            <a:pPr marL="12700">
              <a:lnSpc>
                <a:spcPct val="100000"/>
              </a:lnSpc>
              <a:spcBef>
                <a:spcPts val="915"/>
              </a:spcBef>
            </a:pPr>
            <a:r>
              <a:rPr sz="2300" spc="280" dirty="0">
                <a:latin typeface="Calibri"/>
                <a:cs typeface="Calibri"/>
              </a:rPr>
              <a:t>Functioning</a:t>
            </a:r>
            <a:r>
              <a:rPr sz="2300" spc="105" dirty="0">
                <a:latin typeface="Calibri"/>
                <a:cs typeface="Calibri"/>
              </a:rPr>
              <a:t> </a:t>
            </a:r>
            <a:r>
              <a:rPr sz="2300" spc="150" dirty="0">
                <a:latin typeface="Calibri"/>
                <a:cs typeface="Calibri"/>
              </a:rPr>
              <a:t>of</a:t>
            </a:r>
            <a:r>
              <a:rPr sz="2300" spc="110" dirty="0">
                <a:latin typeface="Calibri"/>
                <a:cs typeface="Calibri"/>
              </a:rPr>
              <a:t> </a:t>
            </a:r>
            <a:r>
              <a:rPr sz="2300" spc="240" dirty="0">
                <a:latin typeface="Calibri"/>
                <a:cs typeface="Calibri"/>
              </a:rPr>
              <a:t>nervous</a:t>
            </a:r>
            <a:r>
              <a:rPr sz="2300" spc="105" dirty="0">
                <a:latin typeface="Calibri"/>
                <a:cs typeface="Calibri"/>
              </a:rPr>
              <a:t> </a:t>
            </a:r>
            <a:r>
              <a:rPr sz="2300" spc="265" dirty="0">
                <a:latin typeface="Calibri"/>
                <a:cs typeface="Calibri"/>
              </a:rPr>
              <a:t>system</a:t>
            </a:r>
            <a:endParaRPr sz="2300" dirty="0">
              <a:latin typeface="Calibri"/>
              <a:cs typeface="Calibri"/>
            </a:endParaRPr>
          </a:p>
        </p:txBody>
      </p:sp>
      <p:pic>
        <p:nvPicPr>
          <p:cNvPr id="9" name="object 9"/>
          <p:cNvPicPr/>
          <p:nvPr/>
        </p:nvPicPr>
        <p:blipFill>
          <a:blip r:embed="rId3" cstate="print"/>
          <a:stretch>
            <a:fillRect/>
          </a:stretch>
        </p:blipFill>
        <p:spPr>
          <a:xfrm>
            <a:off x="1266824" y="3194497"/>
            <a:ext cx="95250" cy="95249"/>
          </a:xfrm>
          <a:prstGeom prst="rect">
            <a:avLst/>
          </a:prstGeom>
        </p:spPr>
      </p:pic>
      <p:pic>
        <p:nvPicPr>
          <p:cNvPr id="10" name="object 10"/>
          <p:cNvPicPr/>
          <p:nvPr/>
        </p:nvPicPr>
        <p:blipFill>
          <a:blip r:embed="rId3" cstate="print"/>
          <a:stretch>
            <a:fillRect/>
          </a:stretch>
        </p:blipFill>
        <p:spPr>
          <a:xfrm>
            <a:off x="1266824" y="4127947"/>
            <a:ext cx="95250" cy="95249"/>
          </a:xfrm>
          <a:prstGeom prst="rect">
            <a:avLst/>
          </a:prstGeom>
        </p:spPr>
      </p:pic>
      <p:sp>
        <p:nvSpPr>
          <p:cNvPr id="11" name="TextBox 10">
            <a:extLst>
              <a:ext uri="{FF2B5EF4-FFF2-40B4-BE49-F238E27FC236}">
                <a16:creationId xmlns:a16="http://schemas.microsoft.com/office/drawing/2014/main" id="{C1496F63-1E77-439C-092A-AB38391FCBF1}"/>
              </a:ext>
            </a:extLst>
          </p:cNvPr>
          <p:cNvSpPr txBox="1"/>
          <p:nvPr/>
        </p:nvSpPr>
        <p:spPr>
          <a:xfrm>
            <a:off x="9982200" y="1467246"/>
            <a:ext cx="6324600" cy="1384995"/>
          </a:xfrm>
          <a:prstGeom prst="rect">
            <a:avLst/>
          </a:prstGeom>
          <a:noFill/>
        </p:spPr>
        <p:txBody>
          <a:bodyPr wrap="square" rtlCol="0">
            <a:spAutoFit/>
          </a:bodyPr>
          <a:lstStyle/>
          <a:p>
            <a:pPr algn="just"/>
            <a:r>
              <a:rPr lang="en-US" sz="2800" dirty="0"/>
              <a:t>Views behavior from the perspective of biological functioning.</a:t>
            </a:r>
            <a:endParaRPr lang="en-US" sz="2800" spc="230" dirty="0">
              <a:cs typeface="Calibri"/>
            </a:endParaRPr>
          </a:p>
          <a:p>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39228" y="0"/>
            <a:ext cx="5734050" cy="10287000"/>
          </a:xfrm>
          <a:custGeom>
            <a:avLst/>
            <a:gdLst/>
            <a:ahLst/>
            <a:cxnLst/>
            <a:rect l="l" t="t" r="r" b="b"/>
            <a:pathLst>
              <a:path w="5734050" h="10287000">
                <a:moveTo>
                  <a:pt x="0" y="0"/>
                </a:moveTo>
                <a:lnTo>
                  <a:pt x="5733960" y="0"/>
                </a:lnTo>
                <a:lnTo>
                  <a:pt x="5733960" y="10286998"/>
                </a:lnTo>
                <a:lnTo>
                  <a:pt x="0" y="10286998"/>
                </a:lnTo>
                <a:lnTo>
                  <a:pt x="0" y="0"/>
                </a:lnTo>
                <a:close/>
              </a:path>
            </a:pathLst>
          </a:custGeom>
          <a:solidFill>
            <a:srgbClr val="FFD372"/>
          </a:solidFill>
        </p:spPr>
        <p:txBody>
          <a:bodyPr wrap="square" lIns="0" tIns="0" rIns="0" bIns="0" rtlCol="0"/>
          <a:lstStyle/>
          <a:p>
            <a:endParaRPr dirty="0"/>
          </a:p>
        </p:txBody>
      </p:sp>
      <p:pic>
        <p:nvPicPr>
          <p:cNvPr id="3" name="object 3"/>
          <p:cNvPicPr/>
          <p:nvPr/>
        </p:nvPicPr>
        <p:blipFill>
          <a:blip r:embed="rId2" cstate="print"/>
          <a:stretch>
            <a:fillRect/>
          </a:stretch>
        </p:blipFill>
        <p:spPr>
          <a:xfrm>
            <a:off x="9191625" y="1876602"/>
            <a:ext cx="6934199" cy="6200774"/>
          </a:xfrm>
          <a:prstGeom prst="rect">
            <a:avLst/>
          </a:prstGeom>
        </p:spPr>
      </p:pic>
      <p:sp>
        <p:nvSpPr>
          <p:cNvPr id="4" name="object 4"/>
          <p:cNvSpPr/>
          <p:nvPr/>
        </p:nvSpPr>
        <p:spPr>
          <a:xfrm>
            <a:off x="1028700" y="8287242"/>
            <a:ext cx="1563370" cy="417830"/>
          </a:xfrm>
          <a:custGeom>
            <a:avLst/>
            <a:gdLst/>
            <a:ahLst/>
            <a:cxnLst/>
            <a:rect l="l" t="t" r="r" b="b"/>
            <a:pathLst>
              <a:path w="1563370" h="417829">
                <a:moveTo>
                  <a:pt x="0" y="417759"/>
                </a:moveTo>
                <a:lnTo>
                  <a:pt x="0" y="0"/>
                </a:lnTo>
                <a:lnTo>
                  <a:pt x="1562948" y="0"/>
                </a:lnTo>
                <a:lnTo>
                  <a:pt x="1562948" y="417759"/>
                </a:lnTo>
                <a:lnTo>
                  <a:pt x="0" y="417759"/>
                </a:lnTo>
                <a:close/>
              </a:path>
            </a:pathLst>
          </a:custGeom>
          <a:solidFill>
            <a:srgbClr val="F9BF40"/>
          </a:solidFill>
        </p:spPr>
        <p:txBody>
          <a:bodyPr wrap="square" lIns="0" tIns="0" rIns="0" bIns="0" rtlCol="0"/>
          <a:lstStyle/>
          <a:p>
            <a:endParaRPr dirty="0"/>
          </a:p>
        </p:txBody>
      </p:sp>
      <p:sp>
        <p:nvSpPr>
          <p:cNvPr id="5" name="object 5"/>
          <p:cNvSpPr txBox="1">
            <a:spLocks noGrp="1"/>
          </p:cNvSpPr>
          <p:nvPr>
            <p:ph type="title"/>
          </p:nvPr>
        </p:nvSpPr>
        <p:spPr>
          <a:xfrm>
            <a:off x="788411" y="1082501"/>
            <a:ext cx="6829425" cy="998854"/>
          </a:xfrm>
          <a:prstGeom prst="rect">
            <a:avLst/>
          </a:prstGeom>
        </p:spPr>
        <p:txBody>
          <a:bodyPr vert="horz" wrap="square" lIns="0" tIns="16510" rIns="0" bIns="0" rtlCol="0">
            <a:spAutoFit/>
          </a:bodyPr>
          <a:lstStyle/>
          <a:p>
            <a:pPr marL="12700">
              <a:lnSpc>
                <a:spcPct val="100000"/>
              </a:lnSpc>
              <a:spcBef>
                <a:spcPts val="130"/>
              </a:spcBef>
            </a:pPr>
            <a:r>
              <a:rPr spc="935" dirty="0"/>
              <a:t>EVOLUTIONARY</a:t>
            </a:r>
          </a:p>
        </p:txBody>
      </p:sp>
      <p:sp>
        <p:nvSpPr>
          <p:cNvPr id="6" name="object 6"/>
          <p:cNvSpPr txBox="1"/>
          <p:nvPr/>
        </p:nvSpPr>
        <p:spPr>
          <a:xfrm>
            <a:off x="788411" y="2247900"/>
            <a:ext cx="6045200" cy="2454275"/>
          </a:xfrm>
          <a:prstGeom prst="rect">
            <a:avLst/>
          </a:prstGeom>
        </p:spPr>
        <p:txBody>
          <a:bodyPr vert="horz" wrap="square" lIns="0" tIns="12700" rIns="0" bIns="0" rtlCol="0">
            <a:spAutoFit/>
          </a:bodyPr>
          <a:lstStyle/>
          <a:p>
            <a:pPr marL="12700" marR="5080">
              <a:lnSpc>
                <a:spcPct val="132800"/>
              </a:lnSpc>
              <a:spcBef>
                <a:spcPts val="100"/>
              </a:spcBef>
            </a:pPr>
            <a:r>
              <a:rPr sz="2400" spc="225" dirty="0">
                <a:latin typeface="Calibri"/>
                <a:cs typeface="Calibri"/>
              </a:rPr>
              <a:t>Evolutionary</a:t>
            </a:r>
            <a:r>
              <a:rPr sz="2400" spc="95" dirty="0">
                <a:latin typeface="Calibri"/>
                <a:cs typeface="Calibri"/>
              </a:rPr>
              <a:t> </a:t>
            </a:r>
            <a:r>
              <a:rPr sz="2400" spc="270" dirty="0">
                <a:latin typeface="Calibri"/>
                <a:cs typeface="Calibri"/>
              </a:rPr>
              <a:t>psychology</a:t>
            </a:r>
            <a:r>
              <a:rPr sz="2400" spc="100" dirty="0">
                <a:latin typeface="Calibri"/>
                <a:cs typeface="Calibri"/>
              </a:rPr>
              <a:t> </a:t>
            </a:r>
            <a:r>
              <a:rPr sz="2400" spc="240" dirty="0">
                <a:latin typeface="Calibri"/>
                <a:cs typeface="Calibri"/>
              </a:rPr>
              <a:t>considers</a:t>
            </a:r>
            <a:r>
              <a:rPr sz="2400" spc="100" dirty="0">
                <a:latin typeface="Calibri"/>
                <a:cs typeface="Calibri"/>
              </a:rPr>
              <a:t> </a:t>
            </a:r>
            <a:r>
              <a:rPr sz="2400" spc="290" dirty="0">
                <a:latin typeface="Calibri"/>
                <a:cs typeface="Calibri"/>
              </a:rPr>
              <a:t>how </a:t>
            </a:r>
            <a:r>
              <a:rPr sz="2400" spc="229" dirty="0">
                <a:latin typeface="Calibri"/>
                <a:cs typeface="Calibri"/>
              </a:rPr>
              <a:t>behavior</a:t>
            </a:r>
            <a:r>
              <a:rPr sz="2400" spc="95" dirty="0">
                <a:latin typeface="Calibri"/>
                <a:cs typeface="Calibri"/>
              </a:rPr>
              <a:t> </a:t>
            </a:r>
            <a:r>
              <a:rPr sz="2400" spc="160" dirty="0">
                <a:latin typeface="Calibri"/>
                <a:cs typeface="Calibri"/>
              </a:rPr>
              <a:t>is</a:t>
            </a:r>
            <a:r>
              <a:rPr sz="2400" spc="100" dirty="0">
                <a:latin typeface="Calibri"/>
                <a:cs typeface="Calibri"/>
              </a:rPr>
              <a:t> </a:t>
            </a:r>
            <a:r>
              <a:rPr sz="2400" spc="245" dirty="0">
                <a:latin typeface="Calibri"/>
                <a:cs typeface="Calibri"/>
              </a:rPr>
              <a:t>influenced</a:t>
            </a:r>
            <a:r>
              <a:rPr sz="2400" spc="100" dirty="0">
                <a:latin typeface="Calibri"/>
                <a:cs typeface="Calibri"/>
              </a:rPr>
              <a:t> </a:t>
            </a:r>
            <a:r>
              <a:rPr sz="2400" spc="280" dirty="0">
                <a:latin typeface="Calibri"/>
                <a:cs typeface="Calibri"/>
              </a:rPr>
              <a:t>by</a:t>
            </a:r>
            <a:r>
              <a:rPr sz="2400" spc="100" dirty="0">
                <a:latin typeface="Calibri"/>
                <a:cs typeface="Calibri"/>
              </a:rPr>
              <a:t> </a:t>
            </a:r>
            <a:r>
              <a:rPr sz="2400" spc="229" dirty="0">
                <a:latin typeface="Calibri"/>
                <a:cs typeface="Calibri"/>
              </a:rPr>
              <a:t>our</a:t>
            </a:r>
            <a:r>
              <a:rPr sz="2400" spc="100" dirty="0">
                <a:latin typeface="Calibri"/>
                <a:cs typeface="Calibri"/>
              </a:rPr>
              <a:t> </a:t>
            </a:r>
            <a:r>
              <a:rPr sz="2400" spc="265" dirty="0">
                <a:latin typeface="Calibri"/>
                <a:cs typeface="Calibri"/>
              </a:rPr>
              <a:t>genetic </a:t>
            </a:r>
            <a:r>
              <a:rPr sz="2400" spc="235" dirty="0">
                <a:latin typeface="Calibri"/>
                <a:cs typeface="Calibri"/>
              </a:rPr>
              <a:t>inheritance</a:t>
            </a:r>
            <a:r>
              <a:rPr sz="2400" spc="90" dirty="0">
                <a:latin typeface="Calibri"/>
                <a:cs typeface="Calibri"/>
              </a:rPr>
              <a:t> </a:t>
            </a:r>
            <a:r>
              <a:rPr sz="2400" spc="254" dirty="0">
                <a:latin typeface="Calibri"/>
                <a:cs typeface="Calibri"/>
              </a:rPr>
              <a:t>from</a:t>
            </a:r>
            <a:r>
              <a:rPr sz="2400" spc="95" dirty="0">
                <a:latin typeface="Calibri"/>
                <a:cs typeface="Calibri"/>
              </a:rPr>
              <a:t> </a:t>
            </a:r>
            <a:r>
              <a:rPr sz="2400" spc="229" dirty="0">
                <a:latin typeface="Calibri"/>
                <a:cs typeface="Calibri"/>
              </a:rPr>
              <a:t>our</a:t>
            </a:r>
            <a:r>
              <a:rPr sz="2400" spc="95" dirty="0">
                <a:latin typeface="Calibri"/>
                <a:cs typeface="Calibri"/>
              </a:rPr>
              <a:t> </a:t>
            </a:r>
            <a:r>
              <a:rPr sz="2400" spc="190" dirty="0">
                <a:latin typeface="Calibri"/>
                <a:cs typeface="Calibri"/>
              </a:rPr>
              <a:t>ancestors.</a:t>
            </a:r>
            <a:endParaRPr sz="2400" dirty="0">
              <a:latin typeface="Calibri"/>
              <a:cs typeface="Calibri"/>
            </a:endParaRPr>
          </a:p>
          <a:p>
            <a:pPr>
              <a:lnSpc>
                <a:spcPct val="100000"/>
              </a:lnSpc>
              <a:spcBef>
                <a:spcPts val="5"/>
              </a:spcBef>
            </a:pPr>
            <a:endParaRPr sz="3900" dirty="0">
              <a:latin typeface="Calibri"/>
              <a:cs typeface="Calibri"/>
            </a:endParaRPr>
          </a:p>
          <a:p>
            <a:pPr marL="12700">
              <a:lnSpc>
                <a:spcPct val="100000"/>
              </a:lnSpc>
              <a:spcBef>
                <a:spcPts val="5"/>
              </a:spcBef>
            </a:pPr>
            <a:r>
              <a:rPr sz="2400" spc="245" dirty="0">
                <a:latin typeface="Calibri"/>
                <a:cs typeface="Calibri"/>
              </a:rPr>
              <a:t>Charles</a:t>
            </a:r>
            <a:r>
              <a:rPr sz="2400" spc="95" dirty="0">
                <a:latin typeface="Calibri"/>
                <a:cs typeface="Calibri"/>
              </a:rPr>
              <a:t> </a:t>
            </a:r>
            <a:r>
              <a:rPr sz="2400" spc="270" dirty="0">
                <a:latin typeface="Calibri"/>
                <a:cs typeface="Calibri"/>
              </a:rPr>
              <a:t>Darwin</a:t>
            </a:r>
            <a:endParaRPr sz="2400" dirty="0">
              <a:latin typeface="Calibri"/>
              <a:cs typeface="Calibri"/>
            </a:endParaRPr>
          </a:p>
        </p:txBody>
      </p:sp>
      <p:sp>
        <p:nvSpPr>
          <p:cNvPr id="7" name="TextBox 6">
            <a:extLst>
              <a:ext uri="{FF2B5EF4-FFF2-40B4-BE49-F238E27FC236}">
                <a16:creationId xmlns:a16="http://schemas.microsoft.com/office/drawing/2014/main" id="{A8F1002A-DC0F-AE51-2BF0-EFA87BE9E4D4}"/>
              </a:ext>
            </a:extLst>
          </p:cNvPr>
          <p:cNvSpPr txBox="1"/>
          <p:nvPr/>
        </p:nvSpPr>
        <p:spPr>
          <a:xfrm>
            <a:off x="771478" y="5143500"/>
            <a:ext cx="7077122" cy="2677656"/>
          </a:xfrm>
          <a:prstGeom prst="rect">
            <a:avLst/>
          </a:prstGeom>
          <a:noFill/>
        </p:spPr>
        <p:txBody>
          <a:bodyPr wrap="square" rtlCol="0">
            <a:spAutoFit/>
          </a:bodyPr>
          <a:lstStyle/>
          <a:p>
            <a:r>
              <a:rPr lang="en-US" sz="2800" dirty="0">
                <a:latin typeface="+mj-lt"/>
              </a:rPr>
              <a:t>They argue that our genetic inheritance determines not only physical traits such as skin and eye color but certain personality traits and social behaviors as well. For example, evolutionary psychologists suggest that behavior such as shyness, jealousy</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39228" y="0"/>
            <a:ext cx="5734050" cy="10287000"/>
          </a:xfrm>
          <a:custGeom>
            <a:avLst/>
            <a:gdLst/>
            <a:ahLst/>
            <a:cxnLst/>
            <a:rect l="l" t="t" r="r" b="b"/>
            <a:pathLst>
              <a:path w="5734050" h="10287000">
                <a:moveTo>
                  <a:pt x="0" y="0"/>
                </a:moveTo>
                <a:lnTo>
                  <a:pt x="5733960" y="0"/>
                </a:lnTo>
                <a:lnTo>
                  <a:pt x="5733960" y="10286999"/>
                </a:lnTo>
                <a:lnTo>
                  <a:pt x="0" y="10286999"/>
                </a:lnTo>
                <a:lnTo>
                  <a:pt x="0" y="0"/>
                </a:lnTo>
                <a:close/>
              </a:path>
            </a:pathLst>
          </a:custGeom>
          <a:solidFill>
            <a:srgbClr val="FFD372"/>
          </a:solidFill>
        </p:spPr>
        <p:txBody>
          <a:bodyPr wrap="square" lIns="0" tIns="0" rIns="0" bIns="0" rtlCol="0"/>
          <a:lstStyle/>
          <a:p>
            <a:endParaRPr dirty="0"/>
          </a:p>
        </p:txBody>
      </p:sp>
      <p:pic>
        <p:nvPicPr>
          <p:cNvPr id="3" name="object 3"/>
          <p:cNvPicPr/>
          <p:nvPr/>
        </p:nvPicPr>
        <p:blipFill>
          <a:blip r:embed="rId2" cstate="print"/>
          <a:stretch>
            <a:fillRect/>
          </a:stretch>
        </p:blipFill>
        <p:spPr>
          <a:xfrm>
            <a:off x="8042091" y="1028700"/>
            <a:ext cx="10245908" cy="7543799"/>
          </a:xfrm>
          <a:prstGeom prst="rect">
            <a:avLst/>
          </a:prstGeom>
        </p:spPr>
      </p:pic>
      <p:sp>
        <p:nvSpPr>
          <p:cNvPr id="4" name="object 4"/>
          <p:cNvSpPr txBox="1"/>
          <p:nvPr/>
        </p:nvSpPr>
        <p:spPr>
          <a:xfrm>
            <a:off x="1016000" y="2256081"/>
            <a:ext cx="6034405" cy="831215"/>
          </a:xfrm>
          <a:prstGeom prst="rect">
            <a:avLst/>
          </a:prstGeom>
        </p:spPr>
        <p:txBody>
          <a:bodyPr vert="horz" wrap="square" lIns="0" tIns="17145" rIns="0" bIns="0" rtlCol="0">
            <a:spAutoFit/>
          </a:bodyPr>
          <a:lstStyle/>
          <a:p>
            <a:pPr marL="12700">
              <a:lnSpc>
                <a:spcPct val="100000"/>
              </a:lnSpc>
              <a:spcBef>
                <a:spcPts val="135"/>
              </a:spcBef>
            </a:pPr>
            <a:r>
              <a:rPr sz="5250" b="1" spc="800" dirty="0">
                <a:solidFill>
                  <a:srgbClr val="F9BF40"/>
                </a:solidFill>
                <a:latin typeface="Calibri"/>
                <a:cs typeface="Calibri"/>
              </a:rPr>
              <a:t>SOCIOCULTURAL</a:t>
            </a:r>
            <a:endParaRPr sz="5250" dirty="0">
              <a:latin typeface="Calibri"/>
              <a:cs typeface="Calibri"/>
            </a:endParaRPr>
          </a:p>
        </p:txBody>
      </p:sp>
      <p:sp>
        <p:nvSpPr>
          <p:cNvPr id="5" name="object 5"/>
          <p:cNvSpPr txBox="1"/>
          <p:nvPr/>
        </p:nvSpPr>
        <p:spPr>
          <a:xfrm>
            <a:off x="1016000" y="4020167"/>
            <a:ext cx="5253355" cy="996950"/>
          </a:xfrm>
          <a:prstGeom prst="rect">
            <a:avLst/>
          </a:prstGeom>
        </p:spPr>
        <p:txBody>
          <a:bodyPr vert="horz" wrap="square" lIns="0" tIns="12700" rIns="0" bIns="0" rtlCol="0">
            <a:spAutoFit/>
          </a:bodyPr>
          <a:lstStyle/>
          <a:p>
            <a:pPr marL="12700" marR="5080">
              <a:lnSpc>
                <a:spcPct val="132800"/>
              </a:lnSpc>
              <a:spcBef>
                <a:spcPts val="100"/>
              </a:spcBef>
            </a:pPr>
            <a:r>
              <a:rPr sz="2400" spc="285" dirty="0">
                <a:latin typeface="Calibri"/>
                <a:cs typeface="Calibri"/>
              </a:rPr>
              <a:t>Focuses</a:t>
            </a:r>
            <a:r>
              <a:rPr sz="2400" spc="105" dirty="0">
                <a:latin typeface="Calibri"/>
                <a:cs typeface="Calibri"/>
              </a:rPr>
              <a:t> </a:t>
            </a:r>
            <a:r>
              <a:rPr sz="2400" spc="285" dirty="0">
                <a:latin typeface="Calibri"/>
                <a:cs typeface="Calibri"/>
              </a:rPr>
              <a:t>on</a:t>
            </a:r>
            <a:r>
              <a:rPr sz="2400" spc="105" dirty="0">
                <a:latin typeface="Calibri"/>
                <a:cs typeface="Calibri"/>
              </a:rPr>
              <a:t> </a:t>
            </a:r>
            <a:r>
              <a:rPr sz="2400" spc="200" dirty="0">
                <a:latin typeface="Calibri"/>
                <a:cs typeface="Calibri"/>
              </a:rPr>
              <a:t>social</a:t>
            </a:r>
            <a:r>
              <a:rPr sz="2400" spc="105" dirty="0">
                <a:latin typeface="Calibri"/>
                <a:cs typeface="Calibri"/>
              </a:rPr>
              <a:t> </a:t>
            </a:r>
            <a:r>
              <a:rPr sz="2400" spc="215" dirty="0">
                <a:latin typeface="Calibri"/>
                <a:cs typeface="Calibri"/>
              </a:rPr>
              <a:t>interactions</a:t>
            </a:r>
            <a:r>
              <a:rPr sz="2400" spc="105" dirty="0">
                <a:latin typeface="Calibri"/>
                <a:cs typeface="Calibri"/>
              </a:rPr>
              <a:t> </a:t>
            </a:r>
            <a:r>
              <a:rPr sz="2400" spc="295" dirty="0">
                <a:latin typeface="Calibri"/>
                <a:cs typeface="Calibri"/>
              </a:rPr>
              <a:t>and </a:t>
            </a:r>
            <a:r>
              <a:rPr sz="2400" spc="215" dirty="0">
                <a:latin typeface="Calibri"/>
                <a:cs typeface="Calibri"/>
              </a:rPr>
              <a:t>cultural</a:t>
            </a:r>
            <a:r>
              <a:rPr sz="2400" spc="114" dirty="0">
                <a:latin typeface="Calibri"/>
                <a:cs typeface="Calibri"/>
              </a:rPr>
              <a:t> </a:t>
            </a:r>
            <a:r>
              <a:rPr sz="2400" spc="254" dirty="0">
                <a:latin typeface="Calibri"/>
                <a:cs typeface="Calibri"/>
              </a:rPr>
              <a:t>determinants</a:t>
            </a:r>
            <a:endParaRPr sz="2400" dirty="0">
              <a:latin typeface="Calibri"/>
              <a:cs typeface="Calibri"/>
            </a:endParaRPr>
          </a:p>
        </p:txBody>
      </p:sp>
      <p:sp>
        <p:nvSpPr>
          <p:cNvPr id="6" name="object 6"/>
          <p:cNvSpPr/>
          <p:nvPr/>
        </p:nvSpPr>
        <p:spPr>
          <a:xfrm>
            <a:off x="1028700" y="1028700"/>
            <a:ext cx="1563370" cy="417830"/>
          </a:xfrm>
          <a:custGeom>
            <a:avLst/>
            <a:gdLst/>
            <a:ahLst/>
            <a:cxnLst/>
            <a:rect l="l" t="t" r="r" b="b"/>
            <a:pathLst>
              <a:path w="1563370" h="417830">
                <a:moveTo>
                  <a:pt x="1562948" y="417759"/>
                </a:moveTo>
                <a:lnTo>
                  <a:pt x="0" y="417759"/>
                </a:lnTo>
                <a:lnTo>
                  <a:pt x="0" y="0"/>
                </a:lnTo>
                <a:lnTo>
                  <a:pt x="1562948" y="0"/>
                </a:lnTo>
                <a:lnTo>
                  <a:pt x="1562948" y="417759"/>
                </a:lnTo>
                <a:close/>
              </a:path>
            </a:pathLst>
          </a:custGeom>
          <a:solidFill>
            <a:srgbClr val="F9BF40"/>
          </a:solidFill>
        </p:spPr>
        <p:txBody>
          <a:bodyPr wrap="square" lIns="0" tIns="0" rIns="0" bIns="0" rtlCol="0"/>
          <a:lstStyle/>
          <a:p>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64234" y="-380505"/>
            <a:ext cx="2741457" cy="2065483"/>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7461" y="633219"/>
            <a:ext cx="968052" cy="96805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5065223" y="982710"/>
            <a:ext cx="1031208" cy="103120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4034964" y="0"/>
            <a:ext cx="4253036" cy="2221255"/>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64516" y="9173251"/>
            <a:ext cx="2241769" cy="111374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vector graphics&#10;&#10;Description automatically generated">
            <a:extLst>
              <a:ext uri="{FF2B5EF4-FFF2-40B4-BE49-F238E27FC236}">
                <a16:creationId xmlns:a16="http://schemas.microsoft.com/office/drawing/2014/main" id="{C4EC4471-5E23-A2E1-64DD-0F572134BF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0953" y="965200"/>
            <a:ext cx="14346093" cy="8356598"/>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406120" y="9679714"/>
            <a:ext cx="1222354" cy="607286"/>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1477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98</TotalTime>
  <Words>1579</Words>
  <Application>Microsoft Office PowerPoint</Application>
  <PresentationFormat>Custom</PresentationFormat>
  <Paragraphs>210</Paragraphs>
  <Slides>39</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Arial</vt:lpstr>
      <vt:lpstr>Arial Black</vt:lpstr>
      <vt:lpstr>Calibri</vt:lpstr>
      <vt:lpstr>Georgia</vt:lpstr>
      <vt:lpstr>ProximaNova</vt:lpstr>
      <vt:lpstr>Roboto</vt:lpstr>
      <vt:lpstr>Tahoma</vt:lpstr>
      <vt:lpstr>times</vt:lpstr>
      <vt:lpstr>Trebuchet MS</vt:lpstr>
      <vt:lpstr>Wingdings</vt:lpstr>
      <vt:lpstr>Office Theme</vt:lpstr>
      <vt:lpstr>INTRODUCTION TO PSYCHOLOGY</vt:lpstr>
      <vt:lpstr>Chapter 1</vt:lpstr>
      <vt:lpstr>CHAPTER 1</vt:lpstr>
      <vt:lpstr>DEFINITION OF PSYCHOLOGY The scientific study of behavior and mental processes</vt:lpstr>
      <vt:lpstr>PSYCHOLOGY</vt:lpstr>
      <vt:lpstr>ACTIVITY</vt:lpstr>
      <vt:lpstr>PowerPoint Presentation</vt:lpstr>
      <vt:lpstr>Fields of Psychology</vt:lpstr>
      <vt:lpstr>PowerPoint Presentation</vt:lpstr>
      <vt:lpstr>Clinical Psychology </vt:lpstr>
      <vt:lpstr>Counselling Psychology </vt:lpstr>
      <vt:lpstr>Educational Psychology </vt:lpstr>
      <vt:lpstr>Neuro Psychology or Behavioral Neuroscience</vt:lpstr>
      <vt:lpstr>PowerPoint Presentation</vt:lpstr>
      <vt:lpstr>School Psychology </vt:lpstr>
      <vt:lpstr>Forensic Psychology</vt:lpstr>
      <vt:lpstr>Sports Psychology</vt:lpstr>
      <vt:lpstr>Industrial Organizational Psychology</vt:lpstr>
      <vt:lpstr>PowerPoint Presentation</vt:lpstr>
      <vt:lpstr>Social Psychology</vt:lpstr>
      <vt:lpstr>Environmental Psychology</vt:lpstr>
      <vt:lpstr>Experimental Psychology</vt:lpstr>
      <vt:lpstr>Health Psychology</vt:lpstr>
      <vt:lpstr>ACADEMIC FIELDS</vt:lpstr>
      <vt:lpstr>PSYCHOLOGICAL PERSPECTIVES</vt:lpstr>
      <vt:lpstr>STRUCTURALISM: Building blocks of mind</vt:lpstr>
      <vt:lpstr>FUNCTIONALISM</vt:lpstr>
      <vt:lpstr>BEHAVIORISM</vt:lpstr>
      <vt:lpstr>PSYCHODYNAMIC</vt:lpstr>
      <vt:lpstr>Think on your own…                                           Do childhood experiences affect adult life?</vt:lpstr>
      <vt:lpstr>HUMANISTIC</vt:lpstr>
      <vt:lpstr>COGNITIVE</vt:lpstr>
      <vt:lpstr>Cont.</vt:lpstr>
      <vt:lpstr>GESTALT Hermann Ebbinghaus and Max Wertheimer</vt:lpstr>
      <vt:lpstr>PowerPoint Presentation</vt:lpstr>
      <vt:lpstr>NEUROSCIENCE</vt:lpstr>
      <vt:lpstr>EVOLUTIONARY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1</dc:title>
  <dc:creator>Summayyah Shafique</dc:creator>
  <cp:keywords>DAFaX3mC1BM,BAEjnMNgu-M</cp:keywords>
  <cp:lastModifiedBy>SUMMAYYAH SHAFIQUE</cp:lastModifiedBy>
  <cp:revision>4</cp:revision>
  <dcterms:created xsi:type="dcterms:W3CDTF">2023-02-15T03:39:36Z</dcterms:created>
  <dcterms:modified xsi:type="dcterms:W3CDTF">2023-02-19T05:19:39Z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2023-02-15T00:00:00Z</vt:filetime>
  </property>
  <property fmtid="{D5CDD505-2E9C-101B-9397-08002B2CF9AE}" pid="3" name="Creator">
    <vt:lpwstr>Canva</vt:lpwstr>
  </property>
  <property fmtid="{D5CDD505-2E9C-101B-9397-08002B2CF9AE}" pid="4" name="Producer">
    <vt:lpwstr>Canva</vt:lpwstr>
  </property>
  <property fmtid="{D5CDD505-2E9C-101B-9397-08002B2CF9AE}" pid="5" name="LastSaved">
    <vt:filetime>2023-02-15T00:00:00Z</vt:filetime>
  </property>
</Properties>
</file>