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28"/>
  </p:notesMasterIdLst>
  <p:sldIdLst>
    <p:sldId id="256" r:id="rId2"/>
    <p:sldId id="258" r:id="rId3"/>
    <p:sldId id="261" r:id="rId4"/>
    <p:sldId id="263" r:id="rId5"/>
    <p:sldId id="264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7" r:id="rId17"/>
    <p:sldId id="278" r:id="rId18"/>
    <p:sldId id="279" r:id="rId19"/>
    <p:sldId id="280" r:id="rId20"/>
    <p:sldId id="281" r:id="rId21"/>
    <p:sldId id="289" r:id="rId22"/>
    <p:sldId id="283" r:id="rId23"/>
    <p:sldId id="290" r:id="rId24"/>
    <p:sldId id="284" r:id="rId25"/>
    <p:sldId id="285" r:id="rId26"/>
    <p:sldId id="286" r:id="rId27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 autoAdjust="0"/>
    <p:restoredTop sz="94660"/>
  </p:normalViewPr>
  <p:slideViewPr>
    <p:cSldViewPr>
      <p:cViewPr varScale="1">
        <p:scale>
          <a:sx n="73" d="100"/>
          <a:sy n="73" d="100"/>
        </p:scale>
        <p:origin x="190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4A7F8-87D1-4D36-9B06-972EFD0A664D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893E6-7644-432E-8B50-AB62D11FA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725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A legacy system is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outdated computing software and/or hardware that is still in use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. The system still meets the needs it was originally designed for, but doesn't allow for growth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893E6-7644-432E-8B50-AB62D11FAFF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448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893E6-7644-432E-8B50-AB62D11FAFF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321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00A86274-AECA-4602-B404-A878824E6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16501"/>
            <a:ext cx="10058400" cy="1939399"/>
          </a:xfr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b"/>
          <a:lstStyle>
            <a:lvl1pPr algn="ctr">
              <a:defRPr sz="495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093DEEF-51A1-4F3F-93A2-FDC4789A8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404" y="5370309"/>
            <a:ext cx="4278412" cy="521911"/>
          </a:xfrm>
        </p:spPr>
        <p:txBody>
          <a:bodyPr>
            <a:normAutofit/>
          </a:bodyPr>
          <a:lstStyle>
            <a:lvl1pPr marL="0" indent="0" algn="ctr">
              <a:buNone/>
              <a:defRPr sz="2310" b="1">
                <a:solidFill>
                  <a:srgbClr val="001050"/>
                </a:solidFill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A33559CF-3A39-464E-8153-CFB2A112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1515" y="7203864"/>
            <a:ext cx="2263140" cy="413808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3FABC3BD-2AAA-4531-895B-3DD70DF7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03745" y="7203864"/>
            <a:ext cx="2263140" cy="413808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070B560-5622-461A-9086-C81B8DFD0314}"/>
              </a:ext>
            </a:extLst>
          </p:cNvPr>
          <p:cNvSpPr txBox="1">
            <a:spLocks/>
          </p:cNvSpPr>
          <p:nvPr/>
        </p:nvSpPr>
        <p:spPr>
          <a:xfrm>
            <a:off x="-10777" y="676211"/>
            <a:ext cx="3829930" cy="1411415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4455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57C00DF-2495-4CA0-B9A7-6ED45A39B1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769" y="784642"/>
            <a:ext cx="3631801" cy="1184366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396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E984078-D535-4E16-A9EF-E132281C5B64}"/>
              </a:ext>
            </a:extLst>
          </p:cNvPr>
          <p:cNvSpPr txBox="1">
            <a:spLocks/>
          </p:cNvSpPr>
          <p:nvPr/>
        </p:nvSpPr>
        <p:spPr>
          <a:xfrm>
            <a:off x="6236210" y="686080"/>
            <a:ext cx="3829930" cy="1411415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4455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EC0F849A-A128-466B-9879-BD67134DE4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3685" y="784642"/>
            <a:ext cx="3685685" cy="119917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396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1946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C6514-E628-458B-AA9A-60A33D091D2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>
            <a:lvl1pPr>
              <a:defRPr b="1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EEA8-1D0F-4EDA-AC1C-3D8EC8821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q"/>
              <a:defRPr b="1">
                <a:solidFill>
                  <a:srgbClr val="001050"/>
                </a:solidFill>
              </a:defRPr>
            </a:lvl1pPr>
            <a:lvl2pPr>
              <a:buFont typeface="Wingdings" panose="05000000000000000000" pitchFamily="2" charset="2"/>
              <a:buChar char="§"/>
              <a:defRPr b="0"/>
            </a:lvl2pPr>
            <a:lvl3pPr>
              <a:buFont typeface="Courier New" panose="02070309020205020404" pitchFamily="49" charset="0"/>
              <a:buChar char="o"/>
              <a:defRPr b="0">
                <a:latin typeface="+mj-lt"/>
              </a:defRPr>
            </a:lvl3pPr>
            <a:lvl4pPr>
              <a:buFont typeface="Arial" panose="020B0604020202020204" pitchFamily="34" charset="0"/>
              <a:buChar char="•"/>
              <a:defRPr b="0">
                <a:latin typeface="+mj-lt"/>
              </a:defRPr>
            </a:lvl4pPr>
            <a:lvl5pPr>
              <a:buFont typeface="Arial" panose="020B0604020202020204" pitchFamily="34" charset="0"/>
              <a:buChar char="•"/>
              <a:defRPr b="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3E359-53AB-4630-9445-BD1EC211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AB4D4-DD5B-499F-AF34-6F714EED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30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F4C5-DA85-42F4-9809-54A7416F1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76" y="1937704"/>
            <a:ext cx="8675370" cy="3233102"/>
          </a:xfrm>
          <a:solidFill>
            <a:srgbClr val="002060"/>
          </a:solidFill>
        </p:spPr>
        <p:txBody>
          <a:bodyPr anchor="b"/>
          <a:lstStyle>
            <a:lvl1pPr>
              <a:defRPr sz="495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3C6D7-FA11-4EC0-B04D-17711775B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276" y="5201392"/>
            <a:ext cx="8675370" cy="1700212"/>
          </a:xfrm>
        </p:spPr>
        <p:txBody>
          <a:bodyPr>
            <a:normAutofit/>
          </a:bodyPr>
          <a:lstStyle>
            <a:lvl1pPr marL="0" indent="0">
              <a:buNone/>
              <a:defRPr sz="2640" b="0">
                <a:solidFill>
                  <a:srgbClr val="001050"/>
                </a:solidFill>
                <a:latin typeface="+mj-lt"/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790E4-1765-4F51-B6C8-CF3473463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3C99A-182B-47B9-803E-FD4A2E2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1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80E0-5E40-408E-BDD1-D6554F92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399004"/>
            <a:ext cx="8675370" cy="1502305"/>
          </a:xfrm>
          <a:solidFill>
            <a:srgbClr val="002060"/>
          </a:solidFill>
        </p:spPr>
        <p:txBody>
          <a:bodyPr>
            <a:normAutofit/>
          </a:bodyPr>
          <a:lstStyle>
            <a:lvl1pPr>
              <a:defRPr sz="396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A4002-4A0D-4A91-A1FF-EEA9F9CE6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6D3D0-22D7-4FE1-9BC2-28DE2F5EC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E05DC-021E-4421-ACCD-6ED98EF2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1E2AC-9805-48FF-BA68-31E79A97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170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6EF0-EABB-4D40-99F9-02DEBD1E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96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629DF0-9338-429B-894B-6BA89B81F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F8401-E628-423C-AAB0-CEFA4399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35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698250-7BF9-4699-8DAA-10CA39A6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DEACF-DE1A-4413-8881-A9F8E73A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81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26DA1-7ABB-4B30-BC38-25B428BDC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6C9A3-0ABC-4112-86CC-F1C647B8F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414F0-AD23-468C-BFE0-6A14B6401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87060-9AB1-4B3A-A1EF-C8A00129B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128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96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Wingdings" panose="05000000000000000000" pitchFamily="2" charset="2"/>
        <a:buChar char="q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Wingdings" panose="05000000000000000000" pitchFamily="2" charset="2"/>
        <a:buChar char="§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Courier New" panose="02070309020205020404" pitchFamily="49" charset="0"/>
        <a:buChar char="o"/>
        <a:defRPr sz="1650" kern="1200">
          <a:solidFill>
            <a:schemeClr val="tx1"/>
          </a:solidFill>
          <a:latin typeface="+mj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j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j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2748934" y="3689213"/>
            <a:ext cx="4864735" cy="12309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 defTabSz="754380">
              <a:spcBef>
                <a:spcPts val="100"/>
              </a:spcBef>
            </a:pPr>
            <a:r>
              <a:rPr sz="3960" b="1" dirty="0">
                <a:solidFill>
                  <a:schemeClr val="accent1">
                    <a:lumMod val="75000"/>
                  </a:schemeClr>
                </a:solidFill>
                <a:ea typeface="+mj-ea"/>
                <a:cs typeface="+mj-cs"/>
              </a:rPr>
              <a:t>SOFTWARE</a:t>
            </a:r>
            <a:r>
              <a:rPr sz="3960" b="1" dirty="0">
                <a:solidFill>
                  <a:schemeClr val="bg1">
                    <a:lumMod val="95000"/>
                  </a:schemeClr>
                </a:solidFill>
                <a:ea typeface="+mj-ea"/>
                <a:cs typeface="+mj-cs"/>
              </a:rPr>
              <a:t>  </a:t>
            </a:r>
            <a:r>
              <a:rPr sz="3960" b="1" dirty="0">
                <a:solidFill>
                  <a:schemeClr val="accent1">
                    <a:lumMod val="75000"/>
                  </a:schemeClr>
                </a:solidFill>
                <a:ea typeface="+mj-ea"/>
                <a:cs typeface="+mj-cs"/>
              </a:rPr>
              <a:t>REENGINEERING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68962" y="5022600"/>
            <a:ext cx="1168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8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80462" y="1078747"/>
            <a:ext cx="3877945" cy="6222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Lecture Summary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115" y="2134616"/>
            <a:ext cx="7551420" cy="57131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Lehman’s </a:t>
            </a:r>
            <a:r>
              <a:rPr sz="2800" spc="-15" dirty="0">
                <a:solidFill>
                  <a:srgbClr val="3F3F3F"/>
                </a:solidFill>
                <a:latin typeface="Gothic Uralic"/>
                <a:cs typeface="Gothic Uralic"/>
              </a:rPr>
              <a:t>Laws </a:t>
            </a:r>
            <a:r>
              <a:rPr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of</a:t>
            </a:r>
            <a:r>
              <a:rPr sz="2800" spc="110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2800" dirty="0">
                <a:solidFill>
                  <a:srgbClr val="3F3F3F"/>
                </a:solidFill>
                <a:latin typeface="Gothic Uralic"/>
                <a:cs typeface="Gothic Uralic"/>
              </a:rPr>
              <a:t>Evolution</a:t>
            </a:r>
            <a:endParaRPr sz="2800" dirty="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0" y="505700"/>
            <a:ext cx="7162800" cy="6222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Why</a:t>
            </a:r>
            <a:r>
              <a:rPr spc="-55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pc="-5" dirty="0">
                <a:solidFill>
                  <a:schemeClr val="accent1">
                    <a:lumMod val="50000"/>
                  </a:schemeClr>
                </a:solidFill>
              </a:rPr>
              <a:t>non-greenfield  engineering?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7063" y="1253750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DFFFF"/>
                </a:solidFill>
                <a:latin typeface="Arial"/>
                <a:cs typeface="Arial"/>
              </a:rPr>
              <a:t>6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400" y="1828801"/>
            <a:ext cx="9296400" cy="518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7063" y="1253750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DFFFF"/>
                </a:solidFill>
                <a:latin typeface="Arial"/>
                <a:cs typeface="Arial"/>
              </a:rPr>
              <a:t>8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35934"/>
            <a:ext cx="10058400" cy="71840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7063" y="1253750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DFFFF"/>
                </a:solidFill>
                <a:latin typeface="Arial"/>
                <a:cs typeface="Arial"/>
              </a:rPr>
              <a:t>9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09600"/>
            <a:ext cx="10058400" cy="6248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3662" y="1253750"/>
            <a:ext cx="2895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55" dirty="0">
                <a:solidFill>
                  <a:srgbClr val="FDFFFF"/>
                </a:solidFill>
                <a:latin typeface="Arial"/>
                <a:cs typeface="Arial"/>
              </a:rPr>
              <a:t>1</a:t>
            </a:r>
            <a:r>
              <a:rPr sz="2000" dirty="0">
                <a:solidFill>
                  <a:srgbClr val="FDFFFF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914400"/>
            <a:ext cx="9906000" cy="5486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5394" y="1253750"/>
            <a:ext cx="309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solidFill>
                  <a:srgbClr val="FDFFFF"/>
                </a:solidFill>
                <a:latin typeface="Arial"/>
                <a:cs typeface="Arial"/>
              </a:rPr>
              <a:t>1</a:t>
            </a:r>
            <a:r>
              <a:rPr sz="2000" dirty="0">
                <a:solidFill>
                  <a:srgbClr val="FDFFFF"/>
                </a:solidFill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0500" y="685800"/>
            <a:ext cx="9677400" cy="5715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5394" y="1253750"/>
            <a:ext cx="309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solidFill>
                  <a:srgbClr val="FDFFFF"/>
                </a:solidFill>
                <a:latin typeface="Arial"/>
                <a:cs typeface="Arial"/>
              </a:rPr>
              <a:t>1</a:t>
            </a:r>
            <a:r>
              <a:rPr sz="2000" dirty="0">
                <a:solidFill>
                  <a:srgbClr val="FDFFFF"/>
                </a:solidFill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404" y="609600"/>
            <a:ext cx="9893595" cy="556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2676" y="790523"/>
            <a:ext cx="67221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Legacy </a:t>
            </a:r>
            <a:r>
              <a:rPr spc="-5" dirty="0"/>
              <a:t>Systems:</a:t>
            </a:r>
            <a:r>
              <a:rPr spc="-55" dirty="0"/>
              <a:t> </a:t>
            </a:r>
            <a:r>
              <a:rPr spc="-5" dirty="0"/>
              <a:t>Introduction..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199" y="1742949"/>
            <a:ext cx="8663988" cy="3234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680720" indent="-342900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2800" b="1" i="1" spc="-5" dirty="0">
                <a:latin typeface="TeXGyreAdventor"/>
                <a:cs typeface="TeXGyreAdventor"/>
              </a:rPr>
              <a:t>Legacy systems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: </a:t>
            </a:r>
            <a:r>
              <a:rPr sz="2800" dirty="0">
                <a:solidFill>
                  <a:srgbClr val="3F3F3F"/>
                </a:solidFill>
                <a:latin typeface="Gothic Uralic"/>
                <a:cs typeface="Gothic Uralic"/>
              </a:rPr>
              <a:t>old </a:t>
            </a:r>
            <a:r>
              <a:rPr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computer-based systems </a:t>
            </a:r>
            <a:r>
              <a:rPr sz="2800" dirty="0">
                <a:solidFill>
                  <a:srgbClr val="3F3F3F"/>
                </a:solidFill>
                <a:latin typeface="Gothic Uralic"/>
                <a:cs typeface="Gothic Uralic"/>
              </a:rPr>
              <a:t>still </a:t>
            </a:r>
            <a:r>
              <a:rPr sz="2800" spc="15" dirty="0">
                <a:solidFill>
                  <a:srgbClr val="3F3F3F"/>
                </a:solidFill>
                <a:latin typeface="Gothic Uralic"/>
                <a:cs typeface="Gothic Uralic"/>
              </a:rPr>
              <a:t>in 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use by  organizations</a:t>
            </a:r>
            <a:endParaRPr sz="2800" dirty="0">
              <a:latin typeface="Gothic Uralic"/>
              <a:cs typeface="Gothic Uralic"/>
            </a:endParaRPr>
          </a:p>
          <a:p>
            <a:pPr marL="756285" lvl="1" indent="-287655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Many </a:t>
            </a:r>
            <a:r>
              <a:rPr sz="2400" spc="-10" dirty="0">
                <a:solidFill>
                  <a:srgbClr val="3F3F3F"/>
                </a:solidFill>
                <a:latin typeface="Gothic Uralic"/>
                <a:cs typeface="Gothic Uralic"/>
              </a:rPr>
              <a:t>of </a:t>
            </a:r>
            <a:r>
              <a:rPr sz="2400" spc="-15" dirty="0">
                <a:solidFill>
                  <a:srgbClr val="3F3F3F"/>
                </a:solidFill>
                <a:latin typeface="Gothic Uralic"/>
                <a:cs typeface="Gothic Uralic"/>
              </a:rPr>
              <a:t>them </a:t>
            </a:r>
            <a:r>
              <a:rPr sz="2400" dirty="0">
                <a:solidFill>
                  <a:srgbClr val="3F3F3F"/>
                </a:solidFill>
                <a:latin typeface="Gothic Uralic"/>
                <a:cs typeface="Gothic Uralic"/>
              </a:rPr>
              <a:t>still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business</a:t>
            </a:r>
            <a:r>
              <a:rPr sz="2400" spc="65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Gothic Uralic"/>
                <a:cs typeface="Gothic Uralic"/>
              </a:rPr>
              <a:t>critical</a:t>
            </a:r>
            <a:endParaRPr sz="2400" dirty="0">
              <a:latin typeface="Gothic Uralic"/>
              <a:cs typeface="Gothic Uralic"/>
            </a:endParaRPr>
          </a:p>
          <a:p>
            <a:pPr marL="756285" lvl="1" indent="-287655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Incorporate many changes made </a:t>
            </a:r>
            <a:r>
              <a:rPr sz="2400" spc="5" dirty="0">
                <a:solidFill>
                  <a:srgbClr val="3F3F3F"/>
                </a:solidFill>
                <a:latin typeface="Gothic Uralic"/>
                <a:cs typeface="Gothic Uralic"/>
              </a:rPr>
              <a:t>over </a:t>
            </a:r>
            <a:r>
              <a:rPr sz="2400" spc="-10" dirty="0">
                <a:solidFill>
                  <a:srgbClr val="3F3F3F"/>
                </a:solidFill>
                <a:latin typeface="Gothic Uralic"/>
                <a:cs typeface="Gothic Uralic"/>
              </a:rPr>
              <a:t>the</a:t>
            </a:r>
            <a:r>
              <a:rPr sz="2400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years</a:t>
            </a:r>
            <a:endParaRPr sz="2400" dirty="0">
              <a:latin typeface="Gothic Uralic"/>
              <a:cs typeface="Gothic Uralic"/>
            </a:endParaRPr>
          </a:p>
          <a:p>
            <a:pPr marL="756285" lvl="1" indent="-287655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Many people </a:t>
            </a:r>
            <a:r>
              <a:rPr sz="2400" dirty="0">
                <a:solidFill>
                  <a:srgbClr val="3F3F3F"/>
                </a:solidFill>
                <a:latin typeface="Gothic Uralic"/>
                <a:cs typeface="Gothic Uralic"/>
              </a:rPr>
              <a:t>have </a:t>
            </a:r>
            <a:r>
              <a:rPr sz="2400" spc="-10" dirty="0">
                <a:solidFill>
                  <a:srgbClr val="3F3F3F"/>
                </a:solidFill>
                <a:latin typeface="Gothic Uralic"/>
                <a:cs typeface="Gothic Uralic"/>
              </a:rPr>
              <a:t>been </a:t>
            </a:r>
            <a:r>
              <a:rPr sz="2400" dirty="0">
                <a:solidFill>
                  <a:srgbClr val="3F3F3F"/>
                </a:solidFill>
                <a:latin typeface="Gothic Uralic"/>
                <a:cs typeface="Gothic Uralic"/>
              </a:rPr>
              <a:t>involved </a:t>
            </a:r>
            <a:r>
              <a:rPr sz="2400" spc="5" dirty="0">
                <a:solidFill>
                  <a:srgbClr val="3F3F3F"/>
                </a:solidFill>
                <a:latin typeface="Gothic Uralic"/>
                <a:cs typeface="Gothic Uralic"/>
              </a:rPr>
              <a:t>in </a:t>
            </a:r>
            <a:r>
              <a:rPr sz="2400" spc="-10" dirty="0">
                <a:solidFill>
                  <a:srgbClr val="3F3F3F"/>
                </a:solidFill>
                <a:latin typeface="Gothic Uralic"/>
                <a:cs typeface="Gothic Uralic"/>
              </a:rPr>
              <a:t>these</a:t>
            </a:r>
            <a:r>
              <a:rPr sz="2400" spc="-65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changes</a:t>
            </a:r>
            <a:endParaRPr sz="2400" dirty="0">
              <a:latin typeface="Gothic Uralic"/>
              <a:cs typeface="Gothic Uralic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Replacing legacy systems </a:t>
            </a:r>
            <a:r>
              <a:rPr sz="2400" spc="-20" dirty="0">
                <a:solidFill>
                  <a:srgbClr val="3F3F3F"/>
                </a:solidFill>
                <a:latin typeface="Gothic Uralic"/>
                <a:cs typeface="Gothic Uralic"/>
              </a:rPr>
              <a:t>with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new systems is </a:t>
            </a:r>
            <a:r>
              <a:rPr sz="2400" dirty="0">
                <a:solidFill>
                  <a:srgbClr val="3F3F3F"/>
                </a:solidFill>
                <a:latin typeface="Gothic Uralic"/>
                <a:cs typeface="Gothic Uralic"/>
              </a:rPr>
              <a:t>risky,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yet </a:t>
            </a:r>
            <a:r>
              <a:rPr sz="2400" spc="-10" dirty="0">
                <a:solidFill>
                  <a:srgbClr val="3F3F3F"/>
                </a:solidFill>
                <a:latin typeface="Gothic Uralic"/>
                <a:cs typeface="Gothic Uralic"/>
              </a:rPr>
              <a:t>keeping them 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means </a:t>
            </a:r>
            <a:r>
              <a:rPr sz="2400" spc="-10" dirty="0">
                <a:solidFill>
                  <a:srgbClr val="3F3F3F"/>
                </a:solidFill>
                <a:latin typeface="Gothic Uralic"/>
                <a:cs typeface="Gothic Uralic"/>
              </a:rPr>
              <a:t>new changes become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more and more</a:t>
            </a:r>
            <a:r>
              <a:rPr sz="2400" spc="85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expensive</a:t>
            </a:r>
            <a:endParaRPr sz="2400" dirty="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0200" y="1499616"/>
            <a:ext cx="7620000" cy="50800"/>
          </a:xfrm>
          <a:custGeom>
            <a:avLst/>
            <a:gdLst/>
            <a:ahLst/>
            <a:cxnLst/>
            <a:rect l="l" t="t" r="r" b="b"/>
            <a:pathLst>
              <a:path w="7620000" h="50800">
                <a:moveTo>
                  <a:pt x="7620000" y="50292"/>
                </a:moveTo>
                <a:lnTo>
                  <a:pt x="0" y="50292"/>
                </a:lnTo>
                <a:lnTo>
                  <a:pt x="0" y="0"/>
                </a:lnTo>
                <a:lnTo>
                  <a:pt x="7620000" y="0"/>
                </a:lnTo>
                <a:lnTo>
                  <a:pt x="7620000" y="502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2676" y="790523"/>
            <a:ext cx="67221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Legacy </a:t>
            </a:r>
            <a:r>
              <a:rPr spc="-5" dirty="0"/>
              <a:t>Systems:</a:t>
            </a:r>
            <a:r>
              <a:rPr spc="-55" dirty="0"/>
              <a:t> </a:t>
            </a:r>
            <a:r>
              <a:rPr spc="-5" dirty="0"/>
              <a:t>.Introduction.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8200" y="1636705"/>
            <a:ext cx="8432175" cy="504176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35"/>
              </a:spcBef>
              <a:buClr>
                <a:srgbClr val="A52F0F"/>
              </a:buClr>
              <a:buFont typeface="Georgia"/>
              <a:buChar char=""/>
              <a:tabLst>
                <a:tab pos="354965" algn="l"/>
                <a:tab pos="355600" algn="l"/>
              </a:tabLst>
            </a:pPr>
            <a:r>
              <a:rPr sz="3200" b="1" dirty="0">
                <a:solidFill>
                  <a:srgbClr val="3F3F3F"/>
                </a:solidFill>
                <a:latin typeface="Gothic Uralic"/>
                <a:cs typeface="Gothic Uralic"/>
              </a:rPr>
              <a:t>Risks </a:t>
            </a:r>
            <a:r>
              <a:rPr sz="3200" b="1" spc="-10" dirty="0">
                <a:solidFill>
                  <a:srgbClr val="3F3F3F"/>
                </a:solidFill>
                <a:latin typeface="Gothic Uralic"/>
                <a:cs typeface="Gothic Uralic"/>
              </a:rPr>
              <a:t>of </a:t>
            </a:r>
            <a:r>
              <a:rPr sz="3200" b="1" spc="-5" dirty="0">
                <a:solidFill>
                  <a:srgbClr val="3F3F3F"/>
                </a:solidFill>
                <a:latin typeface="Gothic Uralic"/>
                <a:cs typeface="Gothic Uralic"/>
              </a:rPr>
              <a:t>replacing </a:t>
            </a:r>
            <a:r>
              <a:rPr sz="3200" b="1" dirty="0">
                <a:solidFill>
                  <a:srgbClr val="3F3F3F"/>
                </a:solidFill>
                <a:latin typeface="Gothic Uralic"/>
                <a:cs typeface="Gothic Uralic"/>
              </a:rPr>
              <a:t>a </a:t>
            </a:r>
            <a:r>
              <a:rPr sz="3200" b="1" spc="-5" dirty="0">
                <a:solidFill>
                  <a:srgbClr val="3F3F3F"/>
                </a:solidFill>
                <a:latin typeface="Gothic Uralic"/>
                <a:cs typeface="Gothic Uralic"/>
              </a:rPr>
              <a:t>legacy</a:t>
            </a:r>
            <a:r>
              <a:rPr sz="3200" b="1" spc="-40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3200" b="1" spc="-5" dirty="0">
                <a:solidFill>
                  <a:srgbClr val="3F3F3F"/>
                </a:solidFill>
                <a:latin typeface="Gothic Uralic"/>
                <a:cs typeface="Gothic Uralic"/>
              </a:rPr>
              <a:t>system:</a:t>
            </a:r>
            <a:endParaRPr sz="3200" b="1" dirty="0">
              <a:latin typeface="Gothic Uralic"/>
              <a:cs typeface="Gothic Uralic"/>
            </a:endParaRPr>
          </a:p>
          <a:p>
            <a:pPr marL="756285" marR="386715" lvl="1" indent="-28702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2800" spc="-5" dirty="0">
                <a:solidFill>
                  <a:srgbClr val="FF0000"/>
                </a:solidFill>
                <a:latin typeface="Gothic Uralic"/>
                <a:cs typeface="Gothic Uralic"/>
              </a:rPr>
              <a:t>Specification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 is difficult because existing </a:t>
            </a:r>
            <a:r>
              <a:rPr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documentation 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is </a:t>
            </a:r>
            <a:r>
              <a:rPr sz="2800" dirty="0">
                <a:solidFill>
                  <a:srgbClr val="3F3F3F"/>
                </a:solidFill>
                <a:latin typeface="Gothic Uralic"/>
                <a:cs typeface="Gothic Uralic"/>
              </a:rPr>
              <a:t>typically  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incomplete</a:t>
            </a:r>
            <a:endParaRPr sz="2800" dirty="0">
              <a:latin typeface="Gothic Uralic"/>
              <a:cs typeface="Gothic Uralic"/>
            </a:endParaRPr>
          </a:p>
          <a:p>
            <a:pPr marL="756285" marR="124460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2800" spc="-5" dirty="0">
                <a:solidFill>
                  <a:srgbClr val="FF0000"/>
                </a:solidFill>
                <a:latin typeface="Gothic Uralic"/>
                <a:cs typeface="Gothic Uralic"/>
              </a:rPr>
              <a:t>Changing business </a:t>
            </a:r>
            <a:r>
              <a:rPr sz="2800" spc="-10" dirty="0">
                <a:solidFill>
                  <a:srgbClr val="FF0000"/>
                </a:solidFill>
                <a:latin typeface="Gothic Uralic"/>
                <a:cs typeface="Gothic Uralic"/>
              </a:rPr>
              <a:t>processes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 may </a:t>
            </a:r>
            <a:r>
              <a:rPr lang="en-US" sz="2800" spc="-5" dirty="0">
                <a:solidFill>
                  <a:srgbClr val="3F3F3F"/>
                </a:solidFill>
                <a:latin typeface="Gothic Uralic"/>
                <a:cs typeface="Gothic Uralic"/>
              </a:rPr>
              <a:t>require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  high</a:t>
            </a:r>
            <a:r>
              <a:rPr sz="2800" spc="10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costs</a:t>
            </a:r>
            <a:r>
              <a:rPr lang="en-US"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. </a:t>
            </a:r>
            <a:endParaRPr sz="2800" dirty="0">
              <a:latin typeface="Gothic Uralic"/>
              <a:cs typeface="Gothic Uralic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2800" spc="-10" dirty="0">
                <a:solidFill>
                  <a:srgbClr val="FF0000"/>
                </a:solidFill>
                <a:latin typeface="Gothic Uralic"/>
                <a:cs typeface="Gothic Uralic"/>
              </a:rPr>
              <a:t>Undocumented</a:t>
            </a:r>
            <a:r>
              <a:rPr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, 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yet </a:t>
            </a:r>
            <a:r>
              <a:rPr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important 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business </a:t>
            </a:r>
            <a:r>
              <a:rPr sz="2800" dirty="0">
                <a:solidFill>
                  <a:srgbClr val="3F3F3F"/>
                </a:solidFill>
                <a:latin typeface="Gothic Uralic"/>
                <a:cs typeface="Gothic Uralic"/>
              </a:rPr>
              <a:t>rules may </a:t>
            </a:r>
            <a:r>
              <a:rPr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be embedded 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in </a:t>
            </a:r>
            <a:r>
              <a:rPr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the  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system; a new system may break </a:t>
            </a:r>
            <a:r>
              <a:rPr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these</a:t>
            </a:r>
            <a:r>
              <a:rPr sz="2800" spc="10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2800" dirty="0">
                <a:solidFill>
                  <a:srgbClr val="3F3F3F"/>
                </a:solidFill>
                <a:latin typeface="Gothic Uralic"/>
                <a:cs typeface="Gothic Uralic"/>
              </a:rPr>
              <a:t>rules</a:t>
            </a:r>
            <a:endParaRPr sz="2800" dirty="0">
              <a:latin typeface="Gothic Uralic"/>
              <a:cs typeface="Gothic Uralic"/>
            </a:endParaRPr>
          </a:p>
          <a:p>
            <a:pPr marL="756285" marR="23495" lvl="1" indent="-287020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2800" spc="-15" dirty="0">
                <a:solidFill>
                  <a:srgbClr val="3F3F3F"/>
                </a:solidFill>
                <a:latin typeface="Gothic Uralic"/>
                <a:cs typeface="Gothic Uralic"/>
              </a:rPr>
              <a:t>The 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new system may </a:t>
            </a:r>
            <a:r>
              <a:rPr sz="2800" dirty="0">
                <a:solidFill>
                  <a:srgbClr val="3F3F3F"/>
                </a:solidFill>
                <a:latin typeface="Gothic Uralic"/>
                <a:cs typeface="Gothic Uralic"/>
              </a:rPr>
              <a:t>be 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delivered late, may cost more </a:t>
            </a:r>
            <a:r>
              <a:rPr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than expected,  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and may not function</a:t>
            </a:r>
            <a:r>
              <a:rPr sz="2800" spc="10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properly</a:t>
            </a:r>
            <a:endParaRPr sz="2800" dirty="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0200" y="1499616"/>
            <a:ext cx="7620000" cy="50800"/>
          </a:xfrm>
          <a:custGeom>
            <a:avLst/>
            <a:gdLst/>
            <a:ahLst/>
            <a:cxnLst/>
            <a:rect l="l" t="t" r="r" b="b"/>
            <a:pathLst>
              <a:path w="7620000" h="50800">
                <a:moveTo>
                  <a:pt x="7620000" y="50292"/>
                </a:moveTo>
                <a:lnTo>
                  <a:pt x="0" y="50292"/>
                </a:lnTo>
                <a:lnTo>
                  <a:pt x="0" y="0"/>
                </a:lnTo>
                <a:lnTo>
                  <a:pt x="7620000" y="0"/>
                </a:lnTo>
                <a:lnTo>
                  <a:pt x="7620000" y="502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2676" y="790523"/>
            <a:ext cx="67233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Legacy </a:t>
            </a:r>
            <a:r>
              <a:rPr spc="-5" dirty="0"/>
              <a:t>Systems:</a:t>
            </a:r>
            <a:r>
              <a:rPr spc="-50" dirty="0"/>
              <a:t> </a:t>
            </a:r>
            <a:r>
              <a:rPr spc="-5" dirty="0"/>
              <a:t>..Introduction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1" y="1703284"/>
            <a:ext cx="8648002" cy="43422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991869" indent="-342900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"/>
              <a:tabLst>
                <a:tab pos="355600" algn="l"/>
              </a:tabLst>
            </a:pPr>
            <a:r>
              <a:rPr sz="2800" b="1" spc="-5" dirty="0">
                <a:solidFill>
                  <a:srgbClr val="3F3F3F"/>
                </a:solidFill>
                <a:latin typeface="Gothic Uralic"/>
                <a:cs typeface="Gothic Uralic"/>
              </a:rPr>
              <a:t>Factors that </a:t>
            </a:r>
            <a:r>
              <a:rPr sz="2800" b="1" dirty="0">
                <a:solidFill>
                  <a:srgbClr val="3F3F3F"/>
                </a:solidFill>
                <a:latin typeface="Gothic Uralic"/>
                <a:cs typeface="Gothic Uralic"/>
              </a:rPr>
              <a:t>make changes </a:t>
            </a:r>
            <a:r>
              <a:rPr sz="2800" b="1" spc="10" dirty="0">
                <a:solidFill>
                  <a:srgbClr val="3F3F3F"/>
                </a:solidFill>
                <a:latin typeface="Gothic Uralic"/>
                <a:cs typeface="Gothic Uralic"/>
              </a:rPr>
              <a:t>to </a:t>
            </a:r>
            <a:r>
              <a:rPr sz="2800" b="1" spc="-5" dirty="0">
                <a:solidFill>
                  <a:srgbClr val="3F3F3F"/>
                </a:solidFill>
                <a:latin typeface="Gothic Uralic"/>
                <a:cs typeface="Gothic Uralic"/>
              </a:rPr>
              <a:t>legacy</a:t>
            </a:r>
            <a:r>
              <a:rPr sz="2800" b="1" spc="-100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2800" b="1" spc="-5" dirty="0">
                <a:solidFill>
                  <a:srgbClr val="3F3F3F"/>
                </a:solidFill>
                <a:latin typeface="Gothic Uralic"/>
                <a:cs typeface="Gothic Uralic"/>
              </a:rPr>
              <a:t>systems  </a:t>
            </a:r>
            <a:r>
              <a:rPr sz="2800" b="1" dirty="0">
                <a:solidFill>
                  <a:srgbClr val="3F3F3F"/>
                </a:solidFill>
                <a:latin typeface="Gothic Uralic"/>
                <a:cs typeface="Gothic Uralic"/>
              </a:rPr>
              <a:t>expensive:</a:t>
            </a:r>
            <a:r>
              <a:rPr lang="en-US" sz="2800" b="1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</a:p>
          <a:p>
            <a:pPr marL="354965" marR="991869" indent="-342900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"/>
              <a:tabLst>
                <a:tab pos="355600" algn="l"/>
              </a:tabLst>
            </a:pPr>
            <a:r>
              <a:rPr sz="2400" spc="-10" dirty="0">
                <a:solidFill>
                  <a:srgbClr val="3F3F3F"/>
                </a:solidFill>
                <a:latin typeface="Gothic Uralic"/>
                <a:cs typeface="Gothic Uralic"/>
              </a:rPr>
              <a:t>In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large systems, different parts </a:t>
            </a:r>
            <a:r>
              <a:rPr sz="2400" dirty="0">
                <a:solidFill>
                  <a:srgbClr val="3F3F3F"/>
                </a:solidFill>
                <a:latin typeface="Gothic Uralic"/>
                <a:cs typeface="Gothic Uralic"/>
              </a:rPr>
              <a:t>were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implemented </a:t>
            </a:r>
            <a:r>
              <a:rPr sz="2400" spc="5" dirty="0">
                <a:solidFill>
                  <a:srgbClr val="3F3F3F"/>
                </a:solidFill>
                <a:latin typeface="Gothic Uralic"/>
                <a:cs typeface="Gothic Uralic"/>
              </a:rPr>
              <a:t>by 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different teams, </a:t>
            </a:r>
            <a:r>
              <a:rPr sz="2400" dirty="0">
                <a:solidFill>
                  <a:srgbClr val="3F3F3F"/>
                </a:solidFill>
                <a:latin typeface="Gothic Uralic"/>
                <a:cs typeface="Gothic Uralic"/>
              </a:rPr>
              <a:t>without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consistent </a:t>
            </a:r>
            <a:r>
              <a:rPr sz="2400" spc="-10" dirty="0">
                <a:solidFill>
                  <a:srgbClr val="3F3F3F"/>
                </a:solidFill>
                <a:latin typeface="Gothic Uralic"/>
                <a:cs typeface="Gothic Uralic"/>
              </a:rPr>
              <a:t>programming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 style</a:t>
            </a:r>
            <a:endParaRPr sz="2400" dirty="0">
              <a:latin typeface="Gothic Uralic"/>
              <a:cs typeface="Gothic Uralic"/>
            </a:endParaRPr>
          </a:p>
          <a:p>
            <a:pPr marL="756285" marR="199390" lvl="1" indent="-28702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2400" spc="-10" dirty="0">
                <a:solidFill>
                  <a:srgbClr val="3F3F3F"/>
                </a:solidFill>
                <a:latin typeface="Gothic Uralic"/>
                <a:cs typeface="Gothic Uralic"/>
              </a:rPr>
              <a:t>It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is difficult </a:t>
            </a:r>
            <a:r>
              <a:rPr sz="2400" spc="5" dirty="0">
                <a:solidFill>
                  <a:srgbClr val="3F3F3F"/>
                </a:solidFill>
                <a:latin typeface="Gothic Uralic"/>
                <a:cs typeface="Gothic Uralic"/>
              </a:rPr>
              <a:t>to </a:t>
            </a:r>
            <a:r>
              <a:rPr sz="2400" dirty="0">
                <a:solidFill>
                  <a:srgbClr val="3F3F3F"/>
                </a:solidFill>
                <a:latin typeface="Gothic Uralic"/>
                <a:cs typeface="Gothic Uralic"/>
              </a:rPr>
              <a:t>find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personnel who knows </a:t>
            </a:r>
            <a:r>
              <a:rPr sz="2400" dirty="0">
                <a:solidFill>
                  <a:srgbClr val="3F3F3F"/>
                </a:solidFill>
                <a:latin typeface="Gothic Uralic"/>
                <a:cs typeface="Gothic Uralic"/>
              </a:rPr>
              <a:t>the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obsolete  programming languages </a:t>
            </a:r>
            <a:r>
              <a:rPr sz="2400" spc="-10" dirty="0">
                <a:solidFill>
                  <a:srgbClr val="3F3F3F"/>
                </a:solidFill>
                <a:latin typeface="Gothic Uralic"/>
                <a:cs typeface="Gothic Uralic"/>
              </a:rPr>
              <a:t>used </a:t>
            </a:r>
            <a:r>
              <a:rPr sz="2400" spc="5" dirty="0">
                <a:solidFill>
                  <a:srgbClr val="3F3F3F"/>
                </a:solidFill>
                <a:latin typeface="Gothic Uralic"/>
                <a:cs typeface="Gothic Uralic"/>
              </a:rPr>
              <a:t>in </a:t>
            </a:r>
            <a:r>
              <a:rPr sz="2400" spc="-10" dirty="0">
                <a:solidFill>
                  <a:srgbClr val="3F3F3F"/>
                </a:solidFill>
                <a:latin typeface="Gothic Uralic"/>
                <a:cs typeface="Gothic Uralic"/>
              </a:rPr>
              <a:t>old</a:t>
            </a:r>
            <a:r>
              <a:rPr sz="2400" spc="-25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systems</a:t>
            </a:r>
            <a:endParaRPr sz="2400" dirty="0">
              <a:latin typeface="Gothic Uralic"/>
              <a:cs typeface="Gothic Uralic"/>
            </a:endParaRPr>
          </a:p>
          <a:p>
            <a:pPr marL="756285" marR="254000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2400" spc="-10" dirty="0">
                <a:solidFill>
                  <a:srgbClr val="3F3F3F"/>
                </a:solidFill>
                <a:latin typeface="Gothic Uralic"/>
                <a:cs typeface="Gothic Uralic"/>
              </a:rPr>
              <a:t>In </a:t>
            </a:r>
            <a:r>
              <a:rPr sz="2400" dirty="0">
                <a:solidFill>
                  <a:srgbClr val="3F3F3F"/>
                </a:solidFill>
                <a:latin typeface="Gothic Uralic"/>
                <a:cs typeface="Gothic Uralic"/>
              </a:rPr>
              <a:t>ma</a:t>
            </a:r>
            <a:r>
              <a:rPr lang="en-US" sz="2400" dirty="0">
                <a:solidFill>
                  <a:srgbClr val="3F3F3F"/>
                </a:solidFill>
                <a:latin typeface="Gothic Uralic"/>
                <a:cs typeface="Gothic Uralic"/>
              </a:rPr>
              <a:t>n</a:t>
            </a:r>
            <a:r>
              <a:rPr sz="2400" dirty="0">
                <a:solidFill>
                  <a:srgbClr val="3F3F3F"/>
                </a:solidFill>
                <a:latin typeface="Gothic Uralic"/>
                <a:cs typeface="Gothic Uralic"/>
              </a:rPr>
              <a:t>y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cases </a:t>
            </a:r>
            <a:r>
              <a:rPr sz="2400" dirty="0">
                <a:solidFill>
                  <a:srgbClr val="3F3F3F"/>
                </a:solidFill>
                <a:latin typeface="Gothic Uralic"/>
                <a:cs typeface="Gothic Uralic"/>
              </a:rPr>
              <a:t>the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only documentation </a:t>
            </a:r>
            <a:r>
              <a:rPr sz="2400" spc="5" dirty="0">
                <a:solidFill>
                  <a:srgbClr val="3F3F3F"/>
                </a:solidFill>
                <a:latin typeface="Gothic Uralic"/>
                <a:cs typeface="Gothic Uralic"/>
              </a:rPr>
              <a:t>is </a:t>
            </a:r>
            <a:r>
              <a:rPr sz="2400" dirty="0">
                <a:solidFill>
                  <a:srgbClr val="3F3F3F"/>
                </a:solidFill>
                <a:latin typeface="Gothic Uralic"/>
                <a:cs typeface="Gothic Uralic"/>
              </a:rPr>
              <a:t>provided </a:t>
            </a:r>
            <a:r>
              <a:rPr sz="2400" spc="5" dirty="0">
                <a:solidFill>
                  <a:srgbClr val="3F3F3F"/>
                </a:solidFill>
                <a:latin typeface="Gothic Uralic"/>
                <a:cs typeface="Gothic Uralic"/>
              </a:rPr>
              <a:t>by  </a:t>
            </a:r>
            <a:r>
              <a:rPr sz="2400" dirty="0">
                <a:solidFill>
                  <a:srgbClr val="3F3F3F"/>
                </a:solidFill>
                <a:latin typeface="Gothic Uralic"/>
                <a:cs typeface="Gothic Uralic"/>
              </a:rPr>
              <a:t>the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source </a:t>
            </a:r>
            <a:r>
              <a:rPr sz="2400" spc="-10" dirty="0">
                <a:solidFill>
                  <a:srgbClr val="3F3F3F"/>
                </a:solidFill>
                <a:latin typeface="Gothic Uralic"/>
                <a:cs typeface="Gothic Uralic"/>
              </a:rPr>
              <a:t>code; </a:t>
            </a:r>
            <a:r>
              <a:rPr sz="2400" dirty="0">
                <a:solidFill>
                  <a:srgbClr val="3F3F3F"/>
                </a:solidFill>
                <a:latin typeface="Gothic Uralic"/>
                <a:cs typeface="Gothic Uralic"/>
              </a:rPr>
              <a:t>even this may </a:t>
            </a:r>
            <a:r>
              <a:rPr sz="2400" spc="-10" dirty="0">
                <a:solidFill>
                  <a:srgbClr val="3F3F3F"/>
                </a:solidFill>
                <a:latin typeface="Gothic Uralic"/>
                <a:cs typeface="Gothic Uralic"/>
              </a:rPr>
              <a:t>be</a:t>
            </a:r>
            <a:r>
              <a:rPr sz="2400" spc="-45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3F3F3F"/>
                </a:solidFill>
                <a:latin typeface="Gothic Uralic"/>
                <a:cs typeface="Gothic Uralic"/>
              </a:rPr>
              <a:t>missing</a:t>
            </a:r>
            <a:endParaRPr sz="2400" dirty="0">
              <a:latin typeface="Gothic Uralic"/>
              <a:cs typeface="Gothic Uralic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Data used </a:t>
            </a:r>
            <a:r>
              <a:rPr sz="2400" spc="5" dirty="0">
                <a:solidFill>
                  <a:srgbClr val="3F3F3F"/>
                </a:solidFill>
                <a:latin typeface="Gothic Uralic"/>
                <a:cs typeface="Gothic Uralic"/>
              </a:rPr>
              <a:t>by </a:t>
            </a:r>
            <a:r>
              <a:rPr sz="2400" dirty="0">
                <a:solidFill>
                  <a:srgbClr val="3F3F3F"/>
                </a:solidFill>
                <a:latin typeface="Gothic Uralic"/>
                <a:cs typeface="Gothic Uralic"/>
              </a:rPr>
              <a:t>the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system </a:t>
            </a:r>
            <a:r>
              <a:rPr sz="2400" spc="5" dirty="0">
                <a:solidFill>
                  <a:srgbClr val="3F3F3F"/>
                </a:solidFill>
                <a:latin typeface="Gothic Uralic"/>
                <a:cs typeface="Gothic Uralic"/>
              </a:rPr>
              <a:t>is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difficult to understand </a:t>
            </a:r>
            <a:r>
              <a:rPr sz="2400" spc="-10" dirty="0">
                <a:solidFill>
                  <a:srgbClr val="3F3F3F"/>
                </a:solidFill>
                <a:latin typeface="Gothic Uralic"/>
                <a:cs typeface="Gothic Uralic"/>
              </a:rPr>
              <a:t>and 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manipulate; </a:t>
            </a:r>
            <a:r>
              <a:rPr sz="2400" spc="5" dirty="0">
                <a:solidFill>
                  <a:srgbClr val="3F3F3F"/>
                </a:solidFill>
                <a:latin typeface="Gothic Uralic"/>
                <a:cs typeface="Gothic Uralic"/>
              </a:rPr>
              <a:t>it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can also </a:t>
            </a:r>
            <a:r>
              <a:rPr sz="2400" dirty="0">
                <a:solidFill>
                  <a:srgbClr val="3F3F3F"/>
                </a:solidFill>
                <a:latin typeface="Gothic Uralic"/>
                <a:cs typeface="Gothic Uralic"/>
              </a:rPr>
              <a:t>be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obsolete and/or</a:t>
            </a:r>
            <a:r>
              <a:rPr sz="2400" spc="-40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Gothic Uralic"/>
                <a:cs typeface="Gothic Uralic"/>
              </a:rPr>
              <a:t>redundant</a:t>
            </a:r>
            <a:endParaRPr sz="2400" dirty="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0200" y="1499616"/>
            <a:ext cx="7620000" cy="50800"/>
          </a:xfrm>
          <a:custGeom>
            <a:avLst/>
            <a:gdLst/>
            <a:ahLst/>
            <a:cxnLst/>
            <a:rect l="l" t="t" r="r" b="b"/>
            <a:pathLst>
              <a:path w="7620000" h="50800">
                <a:moveTo>
                  <a:pt x="7620000" y="50292"/>
                </a:moveTo>
                <a:lnTo>
                  <a:pt x="0" y="50292"/>
                </a:lnTo>
                <a:lnTo>
                  <a:pt x="0" y="0"/>
                </a:lnTo>
                <a:lnTo>
                  <a:pt x="7620000" y="0"/>
                </a:lnTo>
                <a:lnTo>
                  <a:pt x="7620000" y="502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5394" y="1253750"/>
            <a:ext cx="309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solidFill>
                  <a:srgbClr val="FDFFFF"/>
                </a:solidFill>
                <a:latin typeface="Arial"/>
                <a:cs typeface="Arial"/>
              </a:rPr>
              <a:t>1</a:t>
            </a:r>
            <a:r>
              <a:rPr sz="2000" dirty="0">
                <a:solidFill>
                  <a:srgbClr val="FDFFFF"/>
                </a:solidFill>
                <a:latin typeface="Arial"/>
                <a:cs typeface="Arial"/>
              </a:rPr>
              <a:t>7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354DC-4DBD-43DD-8E96-64D4D0271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085279"/>
            <a:ext cx="8921044" cy="2211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7CEB90-8A6F-4359-9677-0CB238617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297195"/>
            <a:ext cx="9302044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5394" y="1253750"/>
            <a:ext cx="309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solidFill>
                  <a:srgbClr val="FDFFFF"/>
                </a:solidFill>
                <a:latin typeface="Arial"/>
                <a:cs typeface="Arial"/>
              </a:rPr>
              <a:t>1</a:t>
            </a:r>
            <a:r>
              <a:rPr sz="2000" dirty="0">
                <a:solidFill>
                  <a:srgbClr val="FDFFFF"/>
                </a:solidFill>
                <a:latin typeface="Arial"/>
                <a:cs typeface="Arial"/>
              </a:rPr>
              <a:t>8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6C43D6-55C4-4161-A6AF-0D9ACD177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32" y="347773"/>
            <a:ext cx="9001578" cy="36695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3F38D7-3B0E-40F2-BBFA-4DB26A8D6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32" y="4038601"/>
            <a:ext cx="7840868" cy="90927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5394" y="1253750"/>
            <a:ext cx="309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solidFill>
                  <a:srgbClr val="FDFFFF"/>
                </a:solidFill>
                <a:latin typeface="Arial"/>
                <a:cs typeface="Arial"/>
              </a:rPr>
              <a:t>1</a:t>
            </a:r>
            <a:r>
              <a:rPr sz="2000" dirty="0">
                <a:solidFill>
                  <a:srgbClr val="FDFFFF"/>
                </a:solidFill>
                <a:latin typeface="Arial"/>
                <a:cs typeface="Arial"/>
              </a:rPr>
              <a:t>9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1135"/>
            <a:ext cx="9753600" cy="5715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5394" y="1253750"/>
            <a:ext cx="309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solidFill>
                  <a:srgbClr val="FDFFFF"/>
                </a:solidFill>
                <a:latin typeface="Arial"/>
                <a:cs typeface="Arial"/>
              </a:rPr>
              <a:t>2</a:t>
            </a:r>
            <a:r>
              <a:rPr sz="2000" dirty="0">
                <a:solidFill>
                  <a:srgbClr val="FDFFFF"/>
                </a:solidFill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3400" y="533400"/>
            <a:ext cx="9296400" cy="579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5394" y="1253750"/>
            <a:ext cx="309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solidFill>
                  <a:srgbClr val="FDFFFF"/>
                </a:solidFill>
                <a:latin typeface="Arial"/>
                <a:cs typeface="Arial"/>
              </a:rPr>
              <a:t>2</a:t>
            </a:r>
            <a:r>
              <a:rPr sz="2000" dirty="0">
                <a:solidFill>
                  <a:srgbClr val="FDFFFF"/>
                </a:solidFill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838200"/>
            <a:ext cx="9753600" cy="533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5394" y="1253750"/>
            <a:ext cx="309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solidFill>
                  <a:srgbClr val="FDFFFF"/>
                </a:solidFill>
                <a:latin typeface="Arial"/>
                <a:cs typeface="Arial"/>
              </a:rPr>
              <a:t>2</a:t>
            </a:r>
            <a:r>
              <a:rPr sz="2000" dirty="0">
                <a:solidFill>
                  <a:srgbClr val="FDFFFF"/>
                </a:solidFill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85800"/>
            <a:ext cx="9677400" cy="5257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5394" y="1253750"/>
            <a:ext cx="309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solidFill>
                  <a:srgbClr val="FDFFFF"/>
                </a:solidFill>
                <a:latin typeface="Arial"/>
                <a:cs typeface="Arial"/>
              </a:rPr>
              <a:t>2</a:t>
            </a:r>
            <a:r>
              <a:rPr sz="2000" dirty="0">
                <a:solidFill>
                  <a:srgbClr val="FDFFFF"/>
                </a:solidFill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990600"/>
            <a:ext cx="9677399" cy="5528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5394" y="1253750"/>
            <a:ext cx="309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solidFill>
                  <a:srgbClr val="FDFFFF"/>
                </a:solidFill>
                <a:latin typeface="Arial"/>
                <a:cs typeface="Arial"/>
              </a:rPr>
              <a:t>2</a:t>
            </a:r>
            <a:r>
              <a:rPr sz="2000" dirty="0">
                <a:solidFill>
                  <a:srgbClr val="FDFFFF"/>
                </a:solidFill>
                <a:latin typeface="Arial"/>
                <a:cs typeface="Arial"/>
              </a:rPr>
              <a:t>5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609600"/>
            <a:ext cx="9677400" cy="5909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5400" y="594868"/>
            <a:ext cx="661733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+mn-lt"/>
              </a:rPr>
              <a:t>Legacy </a:t>
            </a:r>
            <a:r>
              <a:rPr sz="4000" b="1" spc="-5" dirty="0">
                <a:latin typeface="+mn-lt"/>
              </a:rPr>
              <a:t>system</a:t>
            </a:r>
            <a:r>
              <a:rPr sz="4000" b="1" spc="-60" dirty="0">
                <a:latin typeface="+mn-lt"/>
              </a:rPr>
              <a:t> </a:t>
            </a:r>
            <a:r>
              <a:rPr sz="4000" b="1" spc="-5" dirty="0">
                <a:latin typeface="+mn-lt"/>
              </a:rPr>
              <a:t>assessment…..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600" y="1826694"/>
            <a:ext cx="8991599" cy="4219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973455" indent="-342900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"/>
              <a:tabLst>
                <a:tab pos="355600" algn="l"/>
              </a:tabLst>
            </a:pPr>
            <a:r>
              <a:rPr sz="3200" b="1" dirty="0">
                <a:solidFill>
                  <a:srgbClr val="3F3F3F"/>
                </a:solidFill>
                <a:latin typeface="Gothic Uralic"/>
                <a:cs typeface="Gothic Uralic"/>
              </a:rPr>
              <a:t>Strategic </a:t>
            </a:r>
            <a:r>
              <a:rPr sz="3200" b="1" spc="-5" dirty="0">
                <a:solidFill>
                  <a:srgbClr val="3F3F3F"/>
                </a:solidFill>
                <a:latin typeface="Gothic Uralic"/>
                <a:cs typeface="Gothic Uralic"/>
              </a:rPr>
              <a:t>approaches </a:t>
            </a:r>
            <a:r>
              <a:rPr sz="3200" b="1" spc="-10" dirty="0">
                <a:solidFill>
                  <a:srgbClr val="3F3F3F"/>
                </a:solidFill>
                <a:latin typeface="Gothic Uralic"/>
                <a:cs typeface="Gothic Uralic"/>
              </a:rPr>
              <a:t>for </a:t>
            </a:r>
            <a:r>
              <a:rPr sz="3200" b="1" dirty="0">
                <a:solidFill>
                  <a:srgbClr val="3F3F3F"/>
                </a:solidFill>
                <a:latin typeface="Gothic Uralic"/>
                <a:cs typeface="Gothic Uralic"/>
              </a:rPr>
              <a:t>dealing with</a:t>
            </a:r>
            <a:r>
              <a:rPr sz="3200" b="1" spc="-100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3200" b="1" dirty="0">
                <a:solidFill>
                  <a:srgbClr val="3F3F3F"/>
                </a:solidFill>
                <a:latin typeface="Gothic Uralic"/>
                <a:cs typeface="Gothic Uralic"/>
              </a:rPr>
              <a:t>legacy  systems:</a:t>
            </a:r>
            <a:endParaRPr sz="3200" b="1" dirty="0">
              <a:latin typeface="Gothic Uralic"/>
              <a:cs typeface="Gothic Uralic"/>
            </a:endParaRPr>
          </a:p>
          <a:p>
            <a:pPr marL="756285" lvl="1" indent="-28702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3200" dirty="0">
                <a:solidFill>
                  <a:srgbClr val="3F3F3F"/>
                </a:solidFill>
                <a:latin typeface="Gothic Uralic"/>
                <a:cs typeface="Gothic Uralic"/>
              </a:rPr>
              <a:t>Scrap </a:t>
            </a:r>
            <a:r>
              <a:rPr sz="3200" spc="5" dirty="0">
                <a:solidFill>
                  <a:srgbClr val="3F3F3F"/>
                </a:solidFill>
                <a:latin typeface="Gothic Uralic"/>
                <a:cs typeface="Gothic Uralic"/>
              </a:rPr>
              <a:t>the </a:t>
            </a:r>
            <a:r>
              <a:rPr sz="3200" dirty="0">
                <a:solidFill>
                  <a:srgbClr val="3F3F3F"/>
                </a:solidFill>
                <a:latin typeface="Gothic Uralic"/>
                <a:cs typeface="Gothic Uralic"/>
              </a:rPr>
              <a:t>system</a:t>
            </a:r>
            <a:r>
              <a:rPr sz="3200" spc="-95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3200" dirty="0">
                <a:solidFill>
                  <a:srgbClr val="3F3F3F"/>
                </a:solidFill>
                <a:latin typeface="Gothic Uralic"/>
                <a:cs typeface="Gothic Uralic"/>
              </a:rPr>
              <a:t>completely</a:t>
            </a:r>
            <a:endParaRPr sz="3200" dirty="0">
              <a:latin typeface="Gothic Uralic"/>
              <a:cs typeface="Gothic Uralic"/>
            </a:endParaRPr>
          </a:p>
          <a:p>
            <a:pPr marL="1155700" marR="288925" indent="-228600">
              <a:lnSpc>
                <a:spcPct val="100000"/>
              </a:lnSpc>
              <a:spcBef>
                <a:spcPts val="1005"/>
              </a:spcBef>
            </a:pPr>
            <a:r>
              <a:rPr sz="2800" spc="-15" dirty="0">
                <a:solidFill>
                  <a:srgbClr val="A52F0F"/>
                </a:solidFill>
                <a:latin typeface="Georgia"/>
                <a:cs typeface="Georgia"/>
              </a:rPr>
              <a:t></a:t>
            </a:r>
            <a:r>
              <a:rPr sz="2800" spc="-15" dirty="0">
                <a:solidFill>
                  <a:srgbClr val="3F3F3F"/>
                </a:solidFill>
                <a:latin typeface="Gothic Uralic"/>
                <a:cs typeface="Gothic Uralic"/>
              </a:rPr>
              <a:t>When 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business practices have </a:t>
            </a:r>
            <a:r>
              <a:rPr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changed 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and no longer  depend </a:t>
            </a:r>
            <a:r>
              <a:rPr sz="2800" dirty="0">
                <a:solidFill>
                  <a:srgbClr val="3F3F3F"/>
                </a:solidFill>
                <a:latin typeface="Gothic Uralic"/>
                <a:cs typeface="Gothic Uralic"/>
              </a:rPr>
              <a:t>significantly on </a:t>
            </a:r>
            <a:r>
              <a:rPr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the system</a:t>
            </a:r>
            <a:endParaRPr sz="2800" dirty="0">
              <a:latin typeface="Gothic Uralic"/>
              <a:cs typeface="Gothic Uralic"/>
            </a:endParaRPr>
          </a:p>
          <a:p>
            <a:pPr marL="756285" lvl="1" indent="-28702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3200" dirty="0">
                <a:solidFill>
                  <a:srgbClr val="3F3F3F"/>
                </a:solidFill>
                <a:latin typeface="Gothic Uralic"/>
                <a:cs typeface="Gothic Uralic"/>
              </a:rPr>
              <a:t>Continue </a:t>
            </a:r>
            <a:r>
              <a:rPr sz="3200" spc="10" dirty="0">
                <a:solidFill>
                  <a:srgbClr val="3F3F3F"/>
                </a:solidFill>
                <a:latin typeface="Gothic Uralic"/>
                <a:cs typeface="Gothic Uralic"/>
              </a:rPr>
              <a:t>to </a:t>
            </a:r>
            <a:r>
              <a:rPr sz="3200" dirty="0">
                <a:solidFill>
                  <a:srgbClr val="3F3F3F"/>
                </a:solidFill>
                <a:latin typeface="Gothic Uralic"/>
                <a:cs typeface="Gothic Uralic"/>
              </a:rPr>
              <a:t>maintain </a:t>
            </a:r>
            <a:r>
              <a:rPr sz="3200" spc="5" dirty="0">
                <a:solidFill>
                  <a:srgbClr val="3F3F3F"/>
                </a:solidFill>
                <a:latin typeface="Gothic Uralic"/>
                <a:cs typeface="Gothic Uralic"/>
              </a:rPr>
              <a:t>the</a:t>
            </a:r>
            <a:r>
              <a:rPr sz="3200" spc="-145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3200" dirty="0">
                <a:solidFill>
                  <a:srgbClr val="3F3F3F"/>
                </a:solidFill>
                <a:latin typeface="Gothic Uralic"/>
                <a:cs typeface="Gothic Uralic"/>
              </a:rPr>
              <a:t>system</a:t>
            </a:r>
            <a:endParaRPr sz="3200" dirty="0">
              <a:latin typeface="Gothic Uralic"/>
              <a:cs typeface="Gothic Uralic"/>
            </a:endParaRPr>
          </a:p>
          <a:p>
            <a:pPr marL="1155700" marR="91440" indent="-228600">
              <a:lnSpc>
                <a:spcPct val="100000"/>
              </a:lnSpc>
              <a:spcBef>
                <a:spcPts val="1000"/>
              </a:spcBef>
            </a:pPr>
            <a:r>
              <a:rPr sz="2800" spc="-5" dirty="0">
                <a:solidFill>
                  <a:srgbClr val="A52F0F"/>
                </a:solidFill>
                <a:latin typeface="Georgia"/>
                <a:cs typeface="Georgia"/>
              </a:rPr>
              <a:t>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The </a:t>
            </a:r>
            <a:r>
              <a:rPr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system </a:t>
            </a:r>
            <a:r>
              <a:rPr sz="2800" spc="-15" dirty="0">
                <a:solidFill>
                  <a:srgbClr val="3F3F3F"/>
                </a:solidFill>
                <a:latin typeface="Gothic Uralic"/>
                <a:cs typeface="Gothic Uralic"/>
              </a:rPr>
              <a:t>works </a:t>
            </a:r>
            <a:r>
              <a:rPr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well, </a:t>
            </a:r>
            <a:r>
              <a:rPr sz="2800" spc="5" dirty="0">
                <a:solidFill>
                  <a:srgbClr val="3F3F3F"/>
                </a:solidFill>
                <a:latin typeface="Gothic Uralic"/>
                <a:cs typeface="Gothic Uralic"/>
              </a:rPr>
              <a:t>is </a:t>
            </a:r>
            <a:r>
              <a:rPr sz="2800" dirty="0">
                <a:solidFill>
                  <a:srgbClr val="3F3F3F"/>
                </a:solidFill>
                <a:latin typeface="Gothic Uralic"/>
                <a:cs typeface="Gothic Uralic"/>
              </a:rPr>
              <a:t>fairly </a:t>
            </a:r>
            <a:r>
              <a:rPr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stable, 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and users </a:t>
            </a:r>
            <a:r>
              <a:rPr sz="2800" dirty="0">
                <a:solidFill>
                  <a:srgbClr val="3F3F3F"/>
                </a:solidFill>
                <a:latin typeface="Gothic Uralic"/>
                <a:cs typeface="Gothic Uralic"/>
              </a:rPr>
              <a:t>do 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not request  many</a:t>
            </a:r>
            <a:r>
              <a:rPr sz="2800" spc="-15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changes</a:t>
            </a:r>
            <a:endParaRPr sz="2800" dirty="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0200" y="1728216"/>
            <a:ext cx="7620000" cy="50800"/>
          </a:xfrm>
          <a:custGeom>
            <a:avLst/>
            <a:gdLst/>
            <a:ahLst/>
            <a:cxnLst/>
            <a:rect l="l" t="t" r="r" b="b"/>
            <a:pathLst>
              <a:path w="7620000" h="50800">
                <a:moveTo>
                  <a:pt x="7620000" y="50292"/>
                </a:moveTo>
                <a:lnTo>
                  <a:pt x="0" y="50292"/>
                </a:lnTo>
                <a:lnTo>
                  <a:pt x="0" y="0"/>
                </a:lnTo>
                <a:lnTo>
                  <a:pt x="7620000" y="0"/>
                </a:lnTo>
                <a:lnTo>
                  <a:pt x="7620000" y="502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0459" y="551741"/>
            <a:ext cx="661733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+mn-lt"/>
              </a:rPr>
              <a:t>Legacy </a:t>
            </a:r>
            <a:r>
              <a:rPr sz="4000" b="1" spc="-5" dirty="0">
                <a:latin typeface="+mn-lt"/>
              </a:rPr>
              <a:t>system</a:t>
            </a:r>
            <a:r>
              <a:rPr sz="4000" b="1" spc="-60" dirty="0">
                <a:latin typeface="+mn-lt"/>
              </a:rPr>
              <a:t> </a:t>
            </a:r>
            <a:r>
              <a:rPr sz="4000" b="1" spc="-5" dirty="0">
                <a:latin typeface="+mn-lt"/>
              </a:rPr>
              <a:t>assessment…..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95400" y="1811962"/>
            <a:ext cx="8053705" cy="48346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973455" indent="-342900">
              <a:lnSpc>
                <a:spcPct val="100000"/>
              </a:lnSpc>
              <a:spcBef>
                <a:spcPts val="100"/>
              </a:spcBef>
              <a:buClr>
                <a:srgbClr val="A52F0F"/>
              </a:buClr>
              <a:buFont typeface="Georgia"/>
              <a:buChar char=""/>
              <a:tabLst>
                <a:tab pos="355600" algn="l"/>
              </a:tabLst>
            </a:pPr>
            <a:r>
              <a:rPr sz="3600" b="1" dirty="0">
                <a:solidFill>
                  <a:srgbClr val="3F3F3F"/>
                </a:solidFill>
                <a:latin typeface="Gothic Uralic"/>
                <a:cs typeface="Gothic Uralic"/>
              </a:rPr>
              <a:t>Strategic </a:t>
            </a:r>
            <a:r>
              <a:rPr sz="3600" b="1" spc="-5" dirty="0">
                <a:solidFill>
                  <a:srgbClr val="3F3F3F"/>
                </a:solidFill>
                <a:latin typeface="Gothic Uralic"/>
                <a:cs typeface="Gothic Uralic"/>
              </a:rPr>
              <a:t>approaches </a:t>
            </a:r>
            <a:r>
              <a:rPr sz="3600" b="1" spc="-10" dirty="0">
                <a:solidFill>
                  <a:srgbClr val="3F3F3F"/>
                </a:solidFill>
                <a:latin typeface="Gothic Uralic"/>
                <a:cs typeface="Gothic Uralic"/>
              </a:rPr>
              <a:t>for </a:t>
            </a:r>
            <a:r>
              <a:rPr sz="3600" b="1" dirty="0">
                <a:solidFill>
                  <a:srgbClr val="3F3F3F"/>
                </a:solidFill>
                <a:latin typeface="Gothic Uralic"/>
                <a:cs typeface="Gothic Uralic"/>
              </a:rPr>
              <a:t>dealing with</a:t>
            </a:r>
            <a:r>
              <a:rPr sz="3600" b="1" spc="-100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3600" b="1" dirty="0">
                <a:solidFill>
                  <a:srgbClr val="3F3F3F"/>
                </a:solidFill>
                <a:latin typeface="Gothic Uralic"/>
                <a:cs typeface="Gothic Uralic"/>
              </a:rPr>
              <a:t>legacy  systems:</a:t>
            </a:r>
            <a:endParaRPr sz="3600" b="1" dirty="0">
              <a:latin typeface="Gothic Uralic"/>
              <a:cs typeface="Gothic Uralic"/>
            </a:endParaRPr>
          </a:p>
          <a:p>
            <a:pPr marL="756285" lvl="1" indent="-287020">
              <a:lnSpc>
                <a:spcPct val="100000"/>
              </a:lnSpc>
              <a:spcBef>
                <a:spcPts val="1000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3200" spc="-5" dirty="0">
                <a:solidFill>
                  <a:srgbClr val="3F3F3F"/>
                </a:solidFill>
                <a:latin typeface="Gothic Uralic"/>
                <a:cs typeface="Gothic Uralic"/>
              </a:rPr>
              <a:t>Transform </a:t>
            </a:r>
            <a:r>
              <a:rPr sz="3200" spc="5" dirty="0">
                <a:solidFill>
                  <a:srgbClr val="3F3F3F"/>
                </a:solidFill>
                <a:latin typeface="Gothic Uralic"/>
                <a:cs typeface="Gothic Uralic"/>
              </a:rPr>
              <a:t>the </a:t>
            </a:r>
            <a:r>
              <a:rPr sz="3200" dirty="0">
                <a:solidFill>
                  <a:srgbClr val="3F3F3F"/>
                </a:solidFill>
                <a:latin typeface="Gothic Uralic"/>
                <a:cs typeface="Gothic Uralic"/>
              </a:rPr>
              <a:t>system to improve</a:t>
            </a:r>
            <a:r>
              <a:rPr sz="3200" spc="-135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Gothic Uralic"/>
                <a:cs typeface="Gothic Uralic"/>
              </a:rPr>
              <a:t>maintainability</a:t>
            </a:r>
            <a:endParaRPr sz="3200" dirty="0">
              <a:latin typeface="Gothic Uralic"/>
              <a:cs typeface="Gothic Uralic"/>
            </a:endParaRPr>
          </a:p>
          <a:p>
            <a:pPr marL="1155700" marR="5080" indent="-228600">
              <a:lnSpc>
                <a:spcPct val="100000"/>
              </a:lnSpc>
              <a:spcBef>
                <a:spcPts val="1005"/>
              </a:spcBef>
            </a:pPr>
            <a:r>
              <a:rPr sz="2800" spc="-15" dirty="0">
                <a:solidFill>
                  <a:srgbClr val="A52F0F"/>
                </a:solidFill>
                <a:latin typeface="Georgia"/>
                <a:cs typeface="Georgia"/>
              </a:rPr>
              <a:t></a:t>
            </a:r>
            <a:r>
              <a:rPr sz="2800" spc="-15" dirty="0">
                <a:solidFill>
                  <a:srgbClr val="3F3F3F"/>
                </a:solidFill>
                <a:latin typeface="Gothic Uralic"/>
                <a:cs typeface="Gothic Uralic"/>
              </a:rPr>
              <a:t>When </a:t>
            </a:r>
            <a:r>
              <a:rPr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system 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quality </a:t>
            </a:r>
            <a:r>
              <a:rPr sz="2800" spc="-20" dirty="0">
                <a:solidFill>
                  <a:srgbClr val="3F3F3F"/>
                </a:solidFill>
                <a:latin typeface="Gothic Uralic"/>
                <a:cs typeface="Gothic Uralic"/>
              </a:rPr>
              <a:t>was </a:t>
            </a:r>
            <a:r>
              <a:rPr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affected 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negatively by changes, </a:t>
            </a:r>
            <a:r>
              <a:rPr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yet  changes are </a:t>
            </a:r>
            <a:r>
              <a:rPr sz="2800" dirty="0">
                <a:solidFill>
                  <a:srgbClr val="3F3F3F"/>
                </a:solidFill>
                <a:latin typeface="Gothic Uralic"/>
                <a:cs typeface="Gothic Uralic"/>
              </a:rPr>
              <a:t>still</a:t>
            </a:r>
            <a:r>
              <a:rPr sz="2800" spc="30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required</a:t>
            </a:r>
            <a:endParaRPr sz="2800" dirty="0">
              <a:latin typeface="Gothic Uralic"/>
              <a:cs typeface="Gothic Uralic"/>
            </a:endParaRPr>
          </a:p>
          <a:p>
            <a:pPr marL="756285" lvl="1" indent="-287020">
              <a:lnSpc>
                <a:spcPct val="100000"/>
              </a:lnSpc>
              <a:spcBef>
                <a:spcPts val="990"/>
              </a:spcBef>
              <a:buClr>
                <a:srgbClr val="A52F0F"/>
              </a:buClr>
              <a:buFont typeface="Georgia"/>
              <a:buChar char=""/>
              <a:tabLst>
                <a:tab pos="756920" algn="l"/>
              </a:tabLst>
            </a:pPr>
            <a:r>
              <a:rPr sz="3200" dirty="0">
                <a:solidFill>
                  <a:srgbClr val="3F3F3F"/>
                </a:solidFill>
                <a:latin typeface="Gothic Uralic"/>
                <a:cs typeface="Gothic Uralic"/>
              </a:rPr>
              <a:t>Replace </a:t>
            </a:r>
            <a:r>
              <a:rPr sz="3200" spc="5" dirty="0">
                <a:solidFill>
                  <a:srgbClr val="3F3F3F"/>
                </a:solidFill>
                <a:latin typeface="Gothic Uralic"/>
                <a:cs typeface="Gothic Uralic"/>
              </a:rPr>
              <a:t>the </a:t>
            </a:r>
            <a:r>
              <a:rPr sz="3200" dirty="0">
                <a:solidFill>
                  <a:srgbClr val="3F3F3F"/>
                </a:solidFill>
                <a:latin typeface="Gothic Uralic"/>
                <a:cs typeface="Gothic Uralic"/>
              </a:rPr>
              <a:t>system with a new</a:t>
            </a:r>
            <a:r>
              <a:rPr sz="3200" spc="-160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Gothic Uralic"/>
                <a:cs typeface="Gothic Uralic"/>
              </a:rPr>
              <a:t>one</a:t>
            </a:r>
            <a:endParaRPr sz="3200" dirty="0">
              <a:latin typeface="Gothic Uralic"/>
              <a:cs typeface="Gothic Uralic"/>
            </a:endParaRPr>
          </a:p>
          <a:p>
            <a:pPr marL="927100">
              <a:lnSpc>
                <a:spcPct val="100000"/>
              </a:lnSpc>
              <a:spcBef>
                <a:spcPts val="1005"/>
              </a:spcBef>
            </a:pPr>
            <a:r>
              <a:rPr sz="2800" spc="-15" dirty="0">
                <a:solidFill>
                  <a:srgbClr val="A52F0F"/>
                </a:solidFill>
                <a:latin typeface="Georgia"/>
                <a:cs typeface="Georgia"/>
              </a:rPr>
              <a:t></a:t>
            </a:r>
            <a:r>
              <a:rPr sz="2800" spc="-15" dirty="0">
                <a:solidFill>
                  <a:srgbClr val="3F3F3F"/>
                </a:solidFill>
                <a:latin typeface="Gothic Uralic"/>
                <a:cs typeface="Gothic Uralic"/>
              </a:rPr>
              <a:t>When 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outmoded </a:t>
            </a:r>
            <a:r>
              <a:rPr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hardware 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prevents </a:t>
            </a:r>
            <a:r>
              <a:rPr sz="2800" spc="-10" dirty="0">
                <a:solidFill>
                  <a:srgbClr val="3F3F3F"/>
                </a:solidFill>
                <a:latin typeface="Gothic Uralic"/>
                <a:cs typeface="Gothic Uralic"/>
              </a:rPr>
              <a:t>further </a:t>
            </a:r>
            <a:r>
              <a:rPr sz="2800" spc="-5" dirty="0">
                <a:solidFill>
                  <a:srgbClr val="3F3F3F"/>
                </a:solidFill>
                <a:latin typeface="Gothic Uralic"/>
                <a:cs typeface="Gothic Uralic"/>
              </a:rPr>
              <a:t>operation</a:t>
            </a:r>
            <a:r>
              <a:rPr lang="en-US" sz="2800" spc="-5" dirty="0">
                <a:solidFill>
                  <a:srgbClr val="3F3F3F"/>
                </a:solidFill>
                <a:latin typeface="Gothic Uralic"/>
                <a:cs typeface="Gothic Uralic"/>
              </a:rPr>
              <a:t>s</a:t>
            </a:r>
            <a:endParaRPr sz="2800" dirty="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0200" y="1728216"/>
            <a:ext cx="7620000" cy="50800"/>
          </a:xfrm>
          <a:custGeom>
            <a:avLst/>
            <a:gdLst/>
            <a:ahLst/>
            <a:cxnLst/>
            <a:rect l="l" t="t" r="r" b="b"/>
            <a:pathLst>
              <a:path w="7620000" h="50800">
                <a:moveTo>
                  <a:pt x="7620000" y="50292"/>
                </a:moveTo>
                <a:lnTo>
                  <a:pt x="0" y="50292"/>
                </a:lnTo>
                <a:lnTo>
                  <a:pt x="0" y="0"/>
                </a:lnTo>
                <a:lnTo>
                  <a:pt x="7620000" y="0"/>
                </a:lnTo>
                <a:lnTo>
                  <a:pt x="7620000" y="502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4502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5400" y="575375"/>
            <a:ext cx="6618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+mn-lt"/>
              </a:rPr>
              <a:t>Legacy system</a:t>
            </a:r>
            <a:r>
              <a:rPr b="1" spc="-20" dirty="0">
                <a:latin typeface="+mn-lt"/>
              </a:rPr>
              <a:t> </a:t>
            </a:r>
            <a:r>
              <a:rPr b="1" spc="-5" dirty="0">
                <a:latin typeface="+mn-lt"/>
              </a:rPr>
              <a:t>assessment…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idx="1"/>
          </p:nvPr>
        </p:nvSpPr>
        <p:spPr>
          <a:xfrm>
            <a:off x="906430" y="2427426"/>
            <a:ext cx="8542370" cy="3669594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469265" algn="l"/>
              </a:tabLst>
            </a:pPr>
            <a:r>
              <a:rPr sz="2800" b="1" spc="-5" dirty="0">
                <a:solidFill>
                  <a:srgbClr val="A52F0F"/>
                </a:solidFill>
                <a:latin typeface="+mn-lt"/>
              </a:rPr>
              <a:t>(1)	</a:t>
            </a:r>
            <a:r>
              <a:rPr sz="2800" b="1" spc="-5" dirty="0">
                <a:latin typeface="+mn-lt"/>
              </a:rPr>
              <a:t>Business </a:t>
            </a:r>
            <a:r>
              <a:rPr sz="2800" b="1" dirty="0">
                <a:latin typeface="+mn-lt"/>
              </a:rPr>
              <a:t>value</a:t>
            </a:r>
            <a:r>
              <a:rPr sz="2800" b="1" spc="-10" dirty="0">
                <a:latin typeface="+mn-lt"/>
              </a:rPr>
              <a:t> </a:t>
            </a:r>
            <a:r>
              <a:rPr sz="2800" b="1" spc="-5" dirty="0">
                <a:latin typeface="+mn-lt"/>
              </a:rPr>
              <a:t>assessment</a:t>
            </a:r>
          </a:p>
          <a:p>
            <a:pPr marL="469900" indent="-457834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469265" algn="l"/>
                <a:tab pos="470534" algn="l"/>
              </a:tabLst>
            </a:pPr>
            <a:r>
              <a:rPr sz="2800" b="1" spc="-10" dirty="0">
                <a:latin typeface="+mn-lt"/>
              </a:rPr>
              <a:t>Viewpoints:</a:t>
            </a:r>
          </a:p>
          <a:p>
            <a:pPr marL="850900" lvl="1" indent="-381000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850265" algn="l"/>
                <a:tab pos="850900" algn="l"/>
              </a:tabLst>
            </a:pPr>
            <a:r>
              <a:rPr sz="2800" b="1" spc="-5" dirty="0">
                <a:solidFill>
                  <a:srgbClr val="3F3F3F"/>
                </a:solidFill>
                <a:cs typeface="Gothic Uralic"/>
              </a:rPr>
              <a:t>End-users: </a:t>
            </a:r>
            <a:r>
              <a:rPr sz="2800" spc="5" dirty="0">
                <a:solidFill>
                  <a:srgbClr val="3F3F3F"/>
                </a:solidFill>
                <a:cs typeface="Gothic Uralic"/>
              </a:rPr>
              <a:t>look </a:t>
            </a:r>
            <a:r>
              <a:rPr sz="2800" spc="-5" dirty="0">
                <a:solidFill>
                  <a:srgbClr val="3F3F3F"/>
                </a:solidFill>
                <a:cs typeface="Gothic Uralic"/>
              </a:rPr>
              <a:t>at system’s functionality </a:t>
            </a:r>
            <a:r>
              <a:rPr sz="2800" dirty="0">
                <a:solidFill>
                  <a:srgbClr val="3F3F3F"/>
                </a:solidFill>
                <a:cs typeface="Gothic Uralic"/>
              </a:rPr>
              <a:t>and</a:t>
            </a:r>
            <a:r>
              <a:rPr sz="2800" spc="-100" dirty="0">
                <a:solidFill>
                  <a:srgbClr val="3F3F3F"/>
                </a:solidFill>
                <a:cs typeface="Gothic Uralic"/>
              </a:rPr>
              <a:t> </a:t>
            </a:r>
            <a:r>
              <a:rPr sz="2800" spc="-5" dirty="0">
                <a:solidFill>
                  <a:srgbClr val="3F3F3F"/>
                </a:solidFill>
                <a:cs typeface="Gothic Uralic"/>
              </a:rPr>
              <a:t>performance</a:t>
            </a:r>
            <a:endParaRPr sz="2800" dirty="0">
              <a:cs typeface="Gothic Uralic"/>
            </a:endParaRPr>
          </a:p>
          <a:p>
            <a:pPr marL="850900" lvl="1" indent="-3810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850265" algn="l"/>
                <a:tab pos="850900" algn="l"/>
              </a:tabLst>
            </a:pPr>
            <a:r>
              <a:rPr sz="2800" b="1" spc="-5" dirty="0">
                <a:solidFill>
                  <a:srgbClr val="3F3F3F"/>
                </a:solidFill>
                <a:cs typeface="Gothic Uralic"/>
              </a:rPr>
              <a:t>Customers: </a:t>
            </a:r>
            <a:r>
              <a:rPr sz="2800" dirty="0">
                <a:solidFill>
                  <a:srgbClr val="3F3F3F"/>
                </a:solidFill>
                <a:cs typeface="Gothic Uralic"/>
              </a:rPr>
              <a:t>look </a:t>
            </a:r>
            <a:r>
              <a:rPr sz="2800" spc="-5" dirty="0">
                <a:solidFill>
                  <a:srgbClr val="3F3F3F"/>
                </a:solidFill>
                <a:cs typeface="Gothic Uralic"/>
              </a:rPr>
              <a:t>at the </a:t>
            </a:r>
            <a:r>
              <a:rPr sz="2800" dirty="0">
                <a:solidFill>
                  <a:srgbClr val="3F3F3F"/>
                </a:solidFill>
                <a:cs typeface="Gothic Uralic"/>
              </a:rPr>
              <a:t>quality </a:t>
            </a:r>
            <a:r>
              <a:rPr sz="2800" spc="-5" dirty="0">
                <a:solidFill>
                  <a:srgbClr val="3F3F3F"/>
                </a:solidFill>
                <a:cs typeface="Gothic Uralic"/>
              </a:rPr>
              <a:t>of </a:t>
            </a:r>
            <a:r>
              <a:rPr sz="2800" dirty="0">
                <a:solidFill>
                  <a:srgbClr val="3F3F3F"/>
                </a:solidFill>
                <a:cs typeface="Gothic Uralic"/>
              </a:rPr>
              <a:t>services</a:t>
            </a:r>
            <a:r>
              <a:rPr sz="2800" spc="-130" dirty="0">
                <a:solidFill>
                  <a:srgbClr val="3F3F3F"/>
                </a:solidFill>
                <a:cs typeface="Gothic Uralic"/>
              </a:rPr>
              <a:t> </a:t>
            </a:r>
            <a:r>
              <a:rPr sz="2800" dirty="0">
                <a:solidFill>
                  <a:srgbClr val="3F3F3F"/>
                </a:solidFill>
                <a:cs typeface="Gothic Uralic"/>
              </a:rPr>
              <a:t>provided</a:t>
            </a:r>
            <a:endParaRPr sz="2800" dirty="0">
              <a:cs typeface="Gothic Uralic"/>
            </a:endParaRPr>
          </a:p>
          <a:p>
            <a:pPr marL="850265" marR="245745" lvl="1" indent="-381000">
              <a:lnSpc>
                <a:spcPct val="100000"/>
              </a:lnSpc>
              <a:spcBef>
                <a:spcPts val="1010"/>
              </a:spcBef>
              <a:buClr>
                <a:srgbClr val="A52F0F"/>
              </a:buClr>
              <a:buFont typeface="Georgia"/>
              <a:buChar char=""/>
              <a:tabLst>
                <a:tab pos="850265" algn="l"/>
                <a:tab pos="850900" algn="l"/>
              </a:tabLst>
            </a:pPr>
            <a:r>
              <a:rPr sz="2800" b="1" dirty="0">
                <a:solidFill>
                  <a:srgbClr val="3F3F3F"/>
                </a:solidFill>
                <a:cs typeface="Gothic Uralic"/>
              </a:rPr>
              <a:t>Business </a:t>
            </a:r>
            <a:r>
              <a:rPr sz="2800" b="1" spc="-5" dirty="0">
                <a:solidFill>
                  <a:srgbClr val="3F3F3F"/>
                </a:solidFill>
                <a:cs typeface="Gothic Uralic"/>
              </a:rPr>
              <a:t>managers: </a:t>
            </a:r>
            <a:r>
              <a:rPr sz="2800" spc="-5" dirty="0">
                <a:solidFill>
                  <a:srgbClr val="3F3F3F"/>
                </a:solidFill>
                <a:cs typeface="Gothic Uralic"/>
              </a:rPr>
              <a:t>assess the </a:t>
            </a:r>
            <a:r>
              <a:rPr sz="2800" dirty="0">
                <a:solidFill>
                  <a:srgbClr val="3F3F3F"/>
                </a:solidFill>
                <a:cs typeface="Gothic Uralic"/>
              </a:rPr>
              <a:t>usefulness of </a:t>
            </a:r>
            <a:r>
              <a:rPr sz="2800" spc="-5" dirty="0">
                <a:solidFill>
                  <a:srgbClr val="3F3F3F"/>
                </a:solidFill>
                <a:cs typeface="Gothic Uralic"/>
              </a:rPr>
              <a:t>the system </a:t>
            </a:r>
            <a:r>
              <a:rPr sz="2800" spc="5" dirty="0">
                <a:solidFill>
                  <a:srgbClr val="3F3F3F"/>
                </a:solidFill>
                <a:cs typeface="Gothic Uralic"/>
              </a:rPr>
              <a:t>in </a:t>
            </a:r>
            <a:r>
              <a:rPr sz="2800" spc="-5" dirty="0">
                <a:solidFill>
                  <a:srgbClr val="3F3F3F"/>
                </a:solidFill>
                <a:cs typeface="Gothic Uralic"/>
              </a:rPr>
              <a:t>terms of </a:t>
            </a:r>
            <a:r>
              <a:rPr sz="2800" dirty="0">
                <a:solidFill>
                  <a:srgbClr val="3F3F3F"/>
                </a:solidFill>
                <a:cs typeface="Gothic Uralic"/>
              </a:rPr>
              <a:t>business  support</a:t>
            </a:r>
            <a:endParaRPr sz="2800" dirty="0">
              <a:cs typeface="Gothic Ural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6430" y="1728216"/>
            <a:ext cx="801109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</a:tabLst>
            </a:pPr>
            <a:r>
              <a:rPr sz="3200" b="1" spc="-265" dirty="0">
                <a:solidFill>
                  <a:srgbClr val="A52F0F"/>
                </a:solidFill>
                <a:latin typeface="Georgia"/>
                <a:cs typeface="Georgia"/>
              </a:rPr>
              <a:t>	</a:t>
            </a:r>
            <a:r>
              <a:rPr sz="3200" b="1" dirty="0">
                <a:solidFill>
                  <a:srgbClr val="3F3F3F"/>
                </a:solidFill>
                <a:latin typeface="Gothic Uralic"/>
                <a:cs typeface="Gothic Uralic"/>
              </a:rPr>
              <a:t>Assessment </a:t>
            </a:r>
            <a:r>
              <a:rPr sz="3200" b="1" spc="-10" dirty="0">
                <a:solidFill>
                  <a:srgbClr val="3F3F3F"/>
                </a:solidFill>
                <a:latin typeface="Gothic Uralic"/>
                <a:cs typeface="Gothic Uralic"/>
              </a:rPr>
              <a:t>of </a:t>
            </a:r>
            <a:r>
              <a:rPr sz="3200" b="1" dirty="0">
                <a:solidFill>
                  <a:srgbClr val="3F3F3F"/>
                </a:solidFill>
                <a:latin typeface="Gothic Uralic"/>
                <a:cs typeface="Gothic Uralic"/>
              </a:rPr>
              <a:t>legacy systems</a:t>
            </a:r>
            <a:r>
              <a:rPr sz="3200" b="1" spc="-105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3200" b="1" dirty="0">
                <a:solidFill>
                  <a:srgbClr val="3F3F3F"/>
                </a:solidFill>
                <a:latin typeface="Gothic Uralic"/>
                <a:cs typeface="Gothic Uralic"/>
              </a:rPr>
              <a:t>includes:</a:t>
            </a:r>
            <a:endParaRPr sz="3200" b="1" dirty="0">
              <a:latin typeface="Gothic Uralic"/>
              <a:cs typeface="Gothic Ural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0200" y="1728216"/>
            <a:ext cx="7620000" cy="50800"/>
          </a:xfrm>
          <a:custGeom>
            <a:avLst/>
            <a:gdLst/>
            <a:ahLst/>
            <a:cxnLst/>
            <a:rect l="l" t="t" r="r" b="b"/>
            <a:pathLst>
              <a:path w="7620000" h="50800">
                <a:moveTo>
                  <a:pt x="7620000" y="50292"/>
                </a:moveTo>
                <a:lnTo>
                  <a:pt x="0" y="50292"/>
                </a:lnTo>
                <a:lnTo>
                  <a:pt x="0" y="0"/>
                </a:lnTo>
                <a:lnTo>
                  <a:pt x="7620000" y="0"/>
                </a:lnTo>
                <a:lnTo>
                  <a:pt x="7620000" y="502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687945"/>
            <a:ext cx="6618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+mn-lt"/>
              </a:rPr>
              <a:t>Legacy system</a:t>
            </a:r>
            <a:r>
              <a:rPr b="1" spc="-20" dirty="0">
                <a:latin typeface="+mn-lt"/>
              </a:rPr>
              <a:t> </a:t>
            </a:r>
            <a:r>
              <a:rPr b="1" spc="-5" dirty="0">
                <a:latin typeface="+mn-lt"/>
              </a:rPr>
              <a:t>assessmen</a:t>
            </a:r>
            <a:r>
              <a:rPr lang="en-US" b="1" spc="-5" dirty="0">
                <a:latin typeface="+mn-lt"/>
              </a:rPr>
              <a:t>t</a:t>
            </a:r>
            <a:endParaRPr b="1" spc="-5" dirty="0">
              <a:latin typeface="+mn-l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idx="1"/>
          </p:nvPr>
        </p:nvSpPr>
        <p:spPr>
          <a:xfrm>
            <a:off x="906430" y="2427426"/>
            <a:ext cx="8542370" cy="3110467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469265" algn="l"/>
              </a:tabLst>
            </a:pPr>
            <a:r>
              <a:rPr sz="2800" b="1" spc="-5" dirty="0">
                <a:solidFill>
                  <a:srgbClr val="A52F0F"/>
                </a:solidFill>
                <a:latin typeface="+mn-lt"/>
              </a:rPr>
              <a:t>(1)	</a:t>
            </a:r>
            <a:r>
              <a:rPr sz="2800" b="1" spc="-5" dirty="0">
                <a:latin typeface="+mn-lt"/>
              </a:rPr>
              <a:t>Business </a:t>
            </a:r>
            <a:r>
              <a:rPr sz="2800" b="1" dirty="0">
                <a:latin typeface="+mn-lt"/>
              </a:rPr>
              <a:t>value</a:t>
            </a:r>
            <a:r>
              <a:rPr sz="2800" b="1" spc="-10" dirty="0">
                <a:latin typeface="+mn-lt"/>
              </a:rPr>
              <a:t> </a:t>
            </a:r>
            <a:r>
              <a:rPr sz="2800" b="1" spc="-5" dirty="0">
                <a:latin typeface="+mn-lt"/>
              </a:rPr>
              <a:t>assessment</a:t>
            </a:r>
          </a:p>
          <a:p>
            <a:pPr marL="469900" indent="-457834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469265" algn="l"/>
                <a:tab pos="470534" algn="l"/>
              </a:tabLst>
            </a:pPr>
            <a:r>
              <a:rPr sz="2800" b="1" spc="-10" dirty="0">
                <a:latin typeface="+mn-lt"/>
              </a:rPr>
              <a:t>Viewpoints:</a:t>
            </a:r>
          </a:p>
          <a:p>
            <a:pPr marL="850265" marR="5080" lvl="1" indent="-3810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850265" algn="l"/>
                <a:tab pos="850900" algn="l"/>
              </a:tabLst>
            </a:pPr>
            <a:r>
              <a:rPr sz="2800" b="1" spc="5" dirty="0">
                <a:solidFill>
                  <a:srgbClr val="3F3F3F"/>
                </a:solidFill>
                <a:cs typeface="Gothic Uralic"/>
              </a:rPr>
              <a:t>IT </a:t>
            </a:r>
            <a:r>
              <a:rPr sz="2800" b="1" dirty="0">
                <a:solidFill>
                  <a:srgbClr val="3F3F3F"/>
                </a:solidFill>
                <a:cs typeface="Gothic Uralic"/>
              </a:rPr>
              <a:t>managers: </a:t>
            </a:r>
            <a:r>
              <a:rPr sz="2800" dirty="0">
                <a:solidFill>
                  <a:srgbClr val="3F3F3F"/>
                </a:solidFill>
                <a:cs typeface="Gothic Uralic"/>
              </a:rPr>
              <a:t>are concerned </a:t>
            </a:r>
            <a:r>
              <a:rPr sz="2800" spc="-5" dirty="0">
                <a:solidFill>
                  <a:srgbClr val="3F3F3F"/>
                </a:solidFill>
                <a:cs typeface="Gothic Uralic"/>
              </a:rPr>
              <a:t>with the availability </a:t>
            </a:r>
            <a:r>
              <a:rPr sz="2800" dirty="0">
                <a:solidFill>
                  <a:srgbClr val="3F3F3F"/>
                </a:solidFill>
                <a:cs typeface="Gothic Uralic"/>
              </a:rPr>
              <a:t>of </a:t>
            </a:r>
            <a:r>
              <a:rPr sz="2800" spc="-5" dirty="0">
                <a:solidFill>
                  <a:srgbClr val="3F3F3F"/>
                </a:solidFill>
                <a:cs typeface="Gothic Uralic"/>
              </a:rPr>
              <a:t>technical support </a:t>
            </a:r>
            <a:r>
              <a:rPr sz="2800" dirty="0">
                <a:solidFill>
                  <a:srgbClr val="3F3F3F"/>
                </a:solidFill>
                <a:cs typeface="Gothic Uralic"/>
              </a:rPr>
              <a:t>for </a:t>
            </a:r>
            <a:r>
              <a:rPr sz="2800" spc="-5" dirty="0">
                <a:solidFill>
                  <a:srgbClr val="3F3F3F"/>
                </a:solidFill>
                <a:cs typeface="Gothic Uralic"/>
              </a:rPr>
              <a:t>the  system</a:t>
            </a:r>
            <a:endParaRPr sz="2800" dirty="0">
              <a:cs typeface="Gothic Uralic"/>
            </a:endParaRPr>
          </a:p>
          <a:p>
            <a:pPr marL="850900" lvl="1" indent="-381000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850265" algn="l"/>
                <a:tab pos="850900" algn="l"/>
              </a:tabLst>
            </a:pPr>
            <a:r>
              <a:rPr sz="2800" b="1" dirty="0">
                <a:solidFill>
                  <a:srgbClr val="3F3F3F"/>
                </a:solidFill>
                <a:cs typeface="Gothic Uralic"/>
              </a:rPr>
              <a:t>Senior managers: </a:t>
            </a:r>
            <a:r>
              <a:rPr sz="2800" spc="-5" dirty="0">
                <a:solidFill>
                  <a:srgbClr val="3F3F3F"/>
                </a:solidFill>
                <a:cs typeface="Gothic Uralic"/>
              </a:rPr>
              <a:t>interested </a:t>
            </a:r>
            <a:r>
              <a:rPr sz="2800" spc="5" dirty="0">
                <a:solidFill>
                  <a:srgbClr val="3F3F3F"/>
                </a:solidFill>
                <a:cs typeface="Gothic Uralic"/>
              </a:rPr>
              <a:t>in </a:t>
            </a:r>
            <a:r>
              <a:rPr sz="2800" dirty="0">
                <a:solidFill>
                  <a:srgbClr val="3F3F3F"/>
                </a:solidFill>
                <a:cs typeface="Gothic Uralic"/>
              </a:rPr>
              <a:t>system’s </a:t>
            </a:r>
            <a:r>
              <a:rPr sz="2800" spc="-5" dirty="0">
                <a:solidFill>
                  <a:srgbClr val="3F3F3F"/>
                </a:solidFill>
                <a:cs typeface="Gothic Uralic"/>
              </a:rPr>
              <a:t>contribution </a:t>
            </a:r>
            <a:r>
              <a:rPr sz="2800" spc="-10" dirty="0">
                <a:solidFill>
                  <a:srgbClr val="3F3F3F"/>
                </a:solidFill>
                <a:cs typeface="Gothic Uralic"/>
              </a:rPr>
              <a:t>to </a:t>
            </a:r>
            <a:r>
              <a:rPr sz="2800" spc="-5" dirty="0">
                <a:solidFill>
                  <a:srgbClr val="3F3F3F"/>
                </a:solidFill>
                <a:cs typeface="Gothic Uralic"/>
              </a:rPr>
              <a:t>the </a:t>
            </a:r>
            <a:r>
              <a:rPr sz="2800" dirty="0">
                <a:solidFill>
                  <a:srgbClr val="3F3F3F"/>
                </a:solidFill>
                <a:cs typeface="Gothic Uralic"/>
              </a:rPr>
              <a:t>business</a:t>
            </a:r>
            <a:r>
              <a:rPr sz="2800" spc="-150" dirty="0">
                <a:solidFill>
                  <a:srgbClr val="3F3F3F"/>
                </a:solidFill>
                <a:cs typeface="Gothic Uralic"/>
              </a:rPr>
              <a:t> </a:t>
            </a:r>
            <a:r>
              <a:rPr sz="2800" spc="-5" dirty="0">
                <a:solidFill>
                  <a:srgbClr val="3F3F3F"/>
                </a:solidFill>
                <a:cs typeface="Gothic Uralic"/>
              </a:rPr>
              <a:t>goals</a:t>
            </a:r>
            <a:endParaRPr sz="2800" dirty="0">
              <a:cs typeface="Gothic Ural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6430" y="1728216"/>
            <a:ext cx="801109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</a:tabLst>
            </a:pPr>
            <a:r>
              <a:rPr sz="3200" spc="-265" dirty="0">
                <a:solidFill>
                  <a:srgbClr val="A52F0F"/>
                </a:solidFill>
                <a:latin typeface="Georgia"/>
                <a:cs typeface="Georgia"/>
              </a:rPr>
              <a:t>	</a:t>
            </a:r>
            <a:r>
              <a:rPr sz="3200" b="1" dirty="0">
                <a:solidFill>
                  <a:srgbClr val="3F3F3F"/>
                </a:solidFill>
                <a:latin typeface="Gothic Uralic"/>
                <a:cs typeface="Gothic Uralic"/>
              </a:rPr>
              <a:t>Assessment </a:t>
            </a:r>
            <a:r>
              <a:rPr sz="3200" b="1" spc="-10" dirty="0">
                <a:solidFill>
                  <a:srgbClr val="3F3F3F"/>
                </a:solidFill>
                <a:latin typeface="Gothic Uralic"/>
                <a:cs typeface="Gothic Uralic"/>
              </a:rPr>
              <a:t>of </a:t>
            </a:r>
            <a:r>
              <a:rPr sz="3200" b="1" dirty="0">
                <a:solidFill>
                  <a:srgbClr val="3F3F3F"/>
                </a:solidFill>
                <a:latin typeface="Gothic Uralic"/>
                <a:cs typeface="Gothic Uralic"/>
              </a:rPr>
              <a:t>legacy systems</a:t>
            </a:r>
            <a:r>
              <a:rPr sz="3200" b="1" spc="-105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3200" b="1" dirty="0">
                <a:solidFill>
                  <a:srgbClr val="3F3F3F"/>
                </a:solidFill>
                <a:latin typeface="Gothic Uralic"/>
                <a:cs typeface="Gothic Uralic"/>
              </a:rPr>
              <a:t>includes:</a:t>
            </a:r>
            <a:endParaRPr sz="3200" b="1" dirty="0">
              <a:latin typeface="Gothic Uralic"/>
              <a:cs typeface="Gothic Ural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0200" y="1728216"/>
            <a:ext cx="7620000" cy="50800"/>
          </a:xfrm>
          <a:custGeom>
            <a:avLst/>
            <a:gdLst/>
            <a:ahLst/>
            <a:cxnLst/>
            <a:rect l="l" t="t" r="r" b="b"/>
            <a:pathLst>
              <a:path w="7620000" h="50800">
                <a:moveTo>
                  <a:pt x="7620000" y="50292"/>
                </a:moveTo>
                <a:lnTo>
                  <a:pt x="0" y="50292"/>
                </a:lnTo>
                <a:lnTo>
                  <a:pt x="0" y="0"/>
                </a:lnTo>
                <a:lnTo>
                  <a:pt x="7620000" y="0"/>
                </a:lnTo>
                <a:lnTo>
                  <a:pt x="7620000" y="502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44988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2676" y="708147"/>
            <a:ext cx="66173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Legacy </a:t>
            </a:r>
            <a:r>
              <a:rPr b="1" spc="-5" dirty="0"/>
              <a:t>system</a:t>
            </a:r>
            <a:r>
              <a:rPr b="1" spc="-65" dirty="0"/>
              <a:t> </a:t>
            </a:r>
            <a:r>
              <a:rPr b="1" spc="-5" dirty="0"/>
              <a:t>assessment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5800" y="1704809"/>
            <a:ext cx="9067800" cy="38266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indent="-359410">
              <a:lnSpc>
                <a:spcPct val="100000"/>
              </a:lnSpc>
              <a:spcBef>
                <a:spcPts val="100"/>
              </a:spcBef>
              <a:buAutoNum type="arabicParenBoth" startAt="2"/>
              <a:tabLst>
                <a:tab pos="372110" algn="l"/>
              </a:tabLst>
            </a:pPr>
            <a:r>
              <a:rPr sz="2400" b="1" spc="-10" dirty="0">
                <a:solidFill>
                  <a:srgbClr val="3F3F3F"/>
                </a:solidFill>
                <a:cs typeface="Gothic Uralic"/>
              </a:rPr>
              <a:t>System </a:t>
            </a:r>
            <a:r>
              <a:rPr sz="2400" b="1" spc="-5" dirty="0">
                <a:solidFill>
                  <a:srgbClr val="3F3F3F"/>
                </a:solidFill>
                <a:cs typeface="Gothic Uralic"/>
              </a:rPr>
              <a:t>quality </a:t>
            </a:r>
            <a:r>
              <a:rPr sz="2400" b="1" spc="-10" dirty="0">
                <a:solidFill>
                  <a:srgbClr val="3F3F3F"/>
                </a:solidFill>
                <a:cs typeface="Gothic Uralic"/>
              </a:rPr>
              <a:t>assessment. </a:t>
            </a:r>
            <a:r>
              <a:rPr sz="2400" b="1" spc="-5" dirty="0">
                <a:solidFill>
                  <a:srgbClr val="3F3F3F"/>
                </a:solidFill>
                <a:cs typeface="Gothic Uralic"/>
              </a:rPr>
              <a:t>Look at </a:t>
            </a:r>
            <a:r>
              <a:rPr sz="2400" b="1" dirty="0">
                <a:solidFill>
                  <a:srgbClr val="3F3F3F"/>
                </a:solidFill>
                <a:cs typeface="Gothic Uralic"/>
              </a:rPr>
              <a:t>all </a:t>
            </a:r>
            <a:r>
              <a:rPr sz="2400" b="1" spc="-10" dirty="0">
                <a:solidFill>
                  <a:srgbClr val="3F3F3F"/>
                </a:solidFill>
                <a:cs typeface="Gothic Uralic"/>
              </a:rPr>
              <a:t>components </a:t>
            </a:r>
            <a:r>
              <a:rPr sz="2400" b="1" dirty="0">
                <a:solidFill>
                  <a:srgbClr val="3F3F3F"/>
                </a:solidFill>
                <a:cs typeface="Gothic Uralic"/>
              </a:rPr>
              <a:t>of</a:t>
            </a:r>
            <a:r>
              <a:rPr sz="2400" b="1" spc="160" dirty="0">
                <a:solidFill>
                  <a:srgbClr val="3F3F3F"/>
                </a:solidFill>
                <a:cs typeface="Gothic Uralic"/>
              </a:rPr>
              <a:t> </a:t>
            </a:r>
            <a:r>
              <a:rPr sz="2400" b="1" spc="-10" dirty="0">
                <a:solidFill>
                  <a:srgbClr val="3F3F3F"/>
                </a:solidFill>
                <a:cs typeface="Gothic Uralic"/>
              </a:rPr>
              <a:t>the</a:t>
            </a:r>
            <a:endParaRPr sz="2400" b="1" dirty="0">
              <a:cs typeface="Gothic Uralic"/>
            </a:endParaRPr>
          </a:p>
          <a:p>
            <a:pPr marL="545465">
              <a:lnSpc>
                <a:spcPct val="100000"/>
              </a:lnSpc>
              <a:spcBef>
                <a:spcPts val="1365"/>
              </a:spcBef>
            </a:pPr>
            <a:r>
              <a:rPr sz="2400" b="1" spc="-5" dirty="0">
                <a:solidFill>
                  <a:srgbClr val="3F3F3F"/>
                </a:solidFill>
                <a:cs typeface="Gothic Uralic"/>
              </a:rPr>
              <a:t>system.</a:t>
            </a:r>
            <a:r>
              <a:rPr sz="2400" b="1" spc="20" dirty="0">
                <a:solidFill>
                  <a:srgbClr val="3F3F3F"/>
                </a:solidFill>
                <a:cs typeface="Gothic Uralic"/>
              </a:rPr>
              <a:t> </a:t>
            </a:r>
            <a:r>
              <a:rPr sz="2400" b="1" spc="-5" dirty="0">
                <a:solidFill>
                  <a:srgbClr val="3F3F3F"/>
                </a:solidFill>
                <a:cs typeface="Gothic Uralic"/>
              </a:rPr>
              <a:t>Hence:</a:t>
            </a:r>
            <a:endParaRPr sz="2400" b="1" dirty="0">
              <a:cs typeface="Gothic Uralic"/>
            </a:endParaRPr>
          </a:p>
          <a:p>
            <a:pPr marL="926465" marR="5080" lvl="1" indent="-457834">
              <a:lnSpc>
                <a:spcPct val="100000"/>
              </a:lnSpc>
              <a:spcBef>
                <a:spcPts val="1320"/>
              </a:spcBef>
              <a:buClr>
                <a:srgbClr val="A52F0F"/>
              </a:buClr>
              <a:buFont typeface="Georgia"/>
              <a:buChar char=""/>
              <a:tabLst>
                <a:tab pos="926465" algn="l"/>
                <a:tab pos="927100" algn="l"/>
              </a:tabLst>
            </a:pPr>
            <a:r>
              <a:rPr sz="2400" b="1" spc="-5" dirty="0">
                <a:cs typeface="Gothic Uralic"/>
              </a:rPr>
              <a:t>Environment assessment</a:t>
            </a:r>
            <a:r>
              <a:rPr sz="2400" spc="-5" dirty="0">
                <a:solidFill>
                  <a:srgbClr val="3F3F3F"/>
                </a:solidFill>
                <a:cs typeface="Gothic Uralic"/>
              </a:rPr>
              <a:t>. Support </a:t>
            </a:r>
            <a:r>
              <a:rPr sz="2400" spc="-10" dirty="0">
                <a:solidFill>
                  <a:srgbClr val="3F3F3F"/>
                </a:solidFill>
                <a:cs typeface="Gothic Uralic"/>
              </a:rPr>
              <a:t>software </a:t>
            </a:r>
            <a:r>
              <a:rPr sz="2400" spc="-5" dirty="0">
                <a:solidFill>
                  <a:srgbClr val="3F3F3F"/>
                </a:solidFill>
                <a:cs typeface="Gothic Uralic"/>
              </a:rPr>
              <a:t>&amp; </a:t>
            </a:r>
            <a:r>
              <a:rPr sz="2400" spc="-10" dirty="0">
                <a:solidFill>
                  <a:srgbClr val="3F3F3F"/>
                </a:solidFill>
                <a:cs typeface="Gothic Uralic"/>
              </a:rPr>
              <a:t>hardware </a:t>
            </a:r>
            <a:r>
              <a:rPr sz="2400" spc="-5" dirty="0">
                <a:solidFill>
                  <a:srgbClr val="3F3F3F"/>
                </a:solidFill>
                <a:cs typeface="Gothic Uralic"/>
              </a:rPr>
              <a:t>platform  </a:t>
            </a:r>
            <a:r>
              <a:rPr sz="2400" spc="-10" dirty="0">
                <a:solidFill>
                  <a:srgbClr val="3F3F3F"/>
                </a:solidFill>
                <a:cs typeface="Gothic Uralic"/>
              </a:rPr>
              <a:t>(maintenance costs, </a:t>
            </a:r>
            <a:r>
              <a:rPr sz="2400" spc="-5" dirty="0">
                <a:solidFill>
                  <a:srgbClr val="3F3F3F"/>
                </a:solidFill>
                <a:cs typeface="Gothic Uralic"/>
              </a:rPr>
              <a:t>faults, </a:t>
            </a:r>
            <a:r>
              <a:rPr sz="2400" spc="-10" dirty="0">
                <a:solidFill>
                  <a:srgbClr val="3F3F3F"/>
                </a:solidFill>
                <a:cs typeface="Gothic Uralic"/>
              </a:rPr>
              <a:t>etc. </a:t>
            </a:r>
            <a:r>
              <a:rPr sz="2400" spc="-5" dirty="0">
                <a:solidFill>
                  <a:srgbClr val="3F3F3F"/>
                </a:solidFill>
                <a:cs typeface="Gothic Uralic"/>
              </a:rPr>
              <a:t>)</a:t>
            </a:r>
            <a:endParaRPr sz="2400" dirty="0">
              <a:cs typeface="Gothic Uralic"/>
            </a:endParaRPr>
          </a:p>
          <a:p>
            <a:pPr marL="926465" marR="98425" lvl="1" indent="-457834">
              <a:lnSpc>
                <a:spcPct val="100000"/>
              </a:lnSpc>
              <a:spcBef>
                <a:spcPts val="995"/>
              </a:spcBef>
              <a:buClr>
                <a:srgbClr val="A52F0F"/>
              </a:buClr>
              <a:buFont typeface="Georgia"/>
              <a:buChar char=""/>
              <a:tabLst>
                <a:tab pos="926465" algn="l"/>
                <a:tab pos="927100" algn="l"/>
              </a:tabLst>
            </a:pPr>
            <a:r>
              <a:rPr sz="2400" b="1" spc="-5" dirty="0">
                <a:cs typeface="Gothic Uralic"/>
              </a:rPr>
              <a:t>Application </a:t>
            </a:r>
            <a:r>
              <a:rPr sz="2400" b="1" spc="-10" dirty="0">
                <a:cs typeface="Gothic Uralic"/>
              </a:rPr>
              <a:t>software </a:t>
            </a:r>
            <a:r>
              <a:rPr sz="2400" b="1" spc="-5" dirty="0">
                <a:cs typeface="Gothic Uralic"/>
              </a:rPr>
              <a:t>assessment</a:t>
            </a:r>
            <a:r>
              <a:rPr sz="2400" spc="-5" dirty="0">
                <a:solidFill>
                  <a:srgbClr val="3F3F3F"/>
                </a:solidFill>
                <a:cs typeface="Gothic Uralic"/>
              </a:rPr>
              <a:t>. </a:t>
            </a:r>
            <a:endParaRPr sz="2400" dirty="0">
              <a:cs typeface="Gothic Uralic"/>
            </a:endParaRPr>
          </a:p>
          <a:p>
            <a:pPr marL="1307465" lvl="2" indent="-381635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1307465" algn="l"/>
                <a:tab pos="1308100" algn="l"/>
              </a:tabLst>
            </a:pPr>
            <a:r>
              <a:rPr sz="2400" dirty="0">
                <a:solidFill>
                  <a:srgbClr val="3F3F3F"/>
                </a:solidFill>
                <a:cs typeface="Gothic Uralic"/>
              </a:rPr>
              <a:t>Number of </a:t>
            </a:r>
            <a:r>
              <a:rPr sz="2400" spc="-5" dirty="0">
                <a:solidFill>
                  <a:srgbClr val="3F3F3F"/>
                </a:solidFill>
                <a:cs typeface="Gothic Uralic"/>
              </a:rPr>
              <a:t>system </a:t>
            </a:r>
            <a:r>
              <a:rPr sz="2400" dirty="0">
                <a:solidFill>
                  <a:srgbClr val="3F3F3F"/>
                </a:solidFill>
                <a:cs typeface="Gothic Uralic"/>
              </a:rPr>
              <a:t>change</a:t>
            </a:r>
            <a:r>
              <a:rPr sz="2400" spc="-90" dirty="0">
                <a:solidFill>
                  <a:srgbClr val="3F3F3F"/>
                </a:solidFill>
                <a:cs typeface="Gothic Uralic"/>
              </a:rPr>
              <a:t> </a:t>
            </a:r>
            <a:r>
              <a:rPr sz="2400" spc="-5" dirty="0">
                <a:solidFill>
                  <a:srgbClr val="3F3F3F"/>
                </a:solidFill>
                <a:cs typeface="Gothic Uralic"/>
              </a:rPr>
              <a:t>requests</a:t>
            </a:r>
            <a:endParaRPr sz="2400" dirty="0">
              <a:cs typeface="Gothic Uralic"/>
            </a:endParaRPr>
          </a:p>
          <a:p>
            <a:pPr marL="1307465" lvl="2" indent="-381635">
              <a:lnSpc>
                <a:spcPct val="100000"/>
              </a:lnSpc>
              <a:spcBef>
                <a:spcPts val="994"/>
              </a:spcBef>
              <a:buClr>
                <a:srgbClr val="A52F0F"/>
              </a:buClr>
              <a:buFont typeface="Georgia"/>
              <a:buChar char=""/>
              <a:tabLst>
                <a:tab pos="1307465" algn="l"/>
                <a:tab pos="1308100" algn="l"/>
              </a:tabLst>
            </a:pPr>
            <a:r>
              <a:rPr sz="2400" dirty="0">
                <a:solidFill>
                  <a:srgbClr val="3F3F3F"/>
                </a:solidFill>
                <a:cs typeface="Gothic Uralic"/>
              </a:rPr>
              <a:t>Number of different </a:t>
            </a:r>
            <a:r>
              <a:rPr sz="2400" spc="-5" dirty="0">
                <a:solidFill>
                  <a:srgbClr val="3F3F3F"/>
                </a:solidFill>
                <a:cs typeface="Gothic Uralic"/>
              </a:rPr>
              <a:t>user</a:t>
            </a:r>
            <a:r>
              <a:rPr sz="2400" spc="-70" dirty="0">
                <a:solidFill>
                  <a:srgbClr val="3F3F3F"/>
                </a:solidFill>
                <a:cs typeface="Gothic Uralic"/>
              </a:rPr>
              <a:t> </a:t>
            </a:r>
            <a:r>
              <a:rPr sz="2400" dirty="0">
                <a:solidFill>
                  <a:srgbClr val="3F3F3F"/>
                </a:solidFill>
                <a:cs typeface="Gothic Uralic"/>
              </a:rPr>
              <a:t>interfaces</a:t>
            </a:r>
            <a:endParaRPr sz="2400" dirty="0">
              <a:cs typeface="Gothic Uralic"/>
            </a:endParaRPr>
          </a:p>
          <a:p>
            <a:pPr marL="1307465" lvl="2" indent="-381635">
              <a:lnSpc>
                <a:spcPct val="100000"/>
              </a:lnSpc>
              <a:spcBef>
                <a:spcPts val="1005"/>
              </a:spcBef>
              <a:buClr>
                <a:srgbClr val="A52F0F"/>
              </a:buClr>
              <a:buFont typeface="Georgia"/>
              <a:buChar char=""/>
              <a:tabLst>
                <a:tab pos="1307465" algn="l"/>
                <a:tab pos="1308100" algn="l"/>
              </a:tabLst>
            </a:pPr>
            <a:r>
              <a:rPr sz="2400" dirty="0">
                <a:solidFill>
                  <a:srgbClr val="3F3F3F"/>
                </a:solidFill>
                <a:cs typeface="Gothic Uralic"/>
              </a:rPr>
              <a:t>Volume of </a:t>
            </a:r>
            <a:r>
              <a:rPr sz="2400" spc="-5" dirty="0">
                <a:solidFill>
                  <a:srgbClr val="3F3F3F"/>
                </a:solidFill>
                <a:cs typeface="Gothic Uralic"/>
              </a:rPr>
              <a:t>data used </a:t>
            </a:r>
            <a:r>
              <a:rPr sz="2400" spc="5" dirty="0">
                <a:solidFill>
                  <a:srgbClr val="3F3F3F"/>
                </a:solidFill>
                <a:cs typeface="Gothic Uralic"/>
              </a:rPr>
              <a:t>by </a:t>
            </a:r>
            <a:r>
              <a:rPr sz="2400" spc="-5" dirty="0">
                <a:solidFill>
                  <a:srgbClr val="3F3F3F"/>
                </a:solidFill>
                <a:cs typeface="Gothic Uralic"/>
              </a:rPr>
              <a:t>the</a:t>
            </a:r>
            <a:r>
              <a:rPr sz="2400" spc="-60" dirty="0">
                <a:solidFill>
                  <a:srgbClr val="3F3F3F"/>
                </a:solidFill>
                <a:cs typeface="Gothic Uralic"/>
              </a:rPr>
              <a:t> </a:t>
            </a:r>
            <a:r>
              <a:rPr sz="2400" spc="-5" dirty="0">
                <a:solidFill>
                  <a:srgbClr val="3F3F3F"/>
                </a:solidFill>
                <a:cs typeface="Gothic Uralic"/>
              </a:rPr>
              <a:t>system</a:t>
            </a:r>
            <a:endParaRPr sz="2400" dirty="0"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0200" y="1499616"/>
            <a:ext cx="7620000" cy="50800"/>
          </a:xfrm>
          <a:custGeom>
            <a:avLst/>
            <a:gdLst/>
            <a:ahLst/>
            <a:cxnLst/>
            <a:rect l="l" t="t" r="r" b="b"/>
            <a:pathLst>
              <a:path w="7620000" h="50800">
                <a:moveTo>
                  <a:pt x="7620000" y="50292"/>
                </a:moveTo>
                <a:lnTo>
                  <a:pt x="0" y="50292"/>
                </a:lnTo>
                <a:lnTo>
                  <a:pt x="0" y="0"/>
                </a:lnTo>
                <a:lnTo>
                  <a:pt x="7620000" y="0"/>
                </a:lnTo>
                <a:lnTo>
                  <a:pt x="7620000" y="502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9025" y="708147"/>
            <a:ext cx="66173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….Legacy system</a:t>
            </a:r>
            <a:r>
              <a:rPr spc="-35" dirty="0"/>
              <a:t> </a:t>
            </a:r>
            <a:r>
              <a:rPr spc="-5" dirty="0"/>
              <a:t>assessment.</a:t>
            </a:r>
          </a:p>
        </p:txBody>
      </p:sp>
      <p:sp>
        <p:nvSpPr>
          <p:cNvPr id="3" name="object 3"/>
          <p:cNvSpPr/>
          <p:nvPr/>
        </p:nvSpPr>
        <p:spPr>
          <a:xfrm>
            <a:off x="1600200" y="1423416"/>
            <a:ext cx="7620000" cy="50800"/>
          </a:xfrm>
          <a:custGeom>
            <a:avLst/>
            <a:gdLst/>
            <a:ahLst/>
            <a:cxnLst/>
            <a:rect l="l" t="t" r="r" b="b"/>
            <a:pathLst>
              <a:path w="7620000" h="50800">
                <a:moveTo>
                  <a:pt x="7620000" y="50292"/>
                </a:moveTo>
                <a:lnTo>
                  <a:pt x="0" y="50292"/>
                </a:lnTo>
                <a:lnTo>
                  <a:pt x="0" y="0"/>
                </a:lnTo>
                <a:lnTo>
                  <a:pt x="7620000" y="0"/>
                </a:lnTo>
                <a:lnTo>
                  <a:pt x="7620000" y="502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72294" y="2006990"/>
            <a:ext cx="7315200" cy="5125720"/>
          </a:xfrm>
          <a:custGeom>
            <a:avLst/>
            <a:gdLst/>
            <a:ahLst/>
            <a:cxnLst/>
            <a:rect l="l" t="t" r="r" b="b"/>
            <a:pathLst>
              <a:path w="7315200" h="5125720">
                <a:moveTo>
                  <a:pt x="7315200" y="5125212"/>
                </a:moveTo>
                <a:lnTo>
                  <a:pt x="0" y="5125212"/>
                </a:lnTo>
                <a:lnTo>
                  <a:pt x="0" y="0"/>
                </a:lnTo>
                <a:lnTo>
                  <a:pt x="7315200" y="0"/>
                </a:lnTo>
                <a:lnTo>
                  <a:pt x="7315200" y="5125212"/>
                </a:lnTo>
                <a:close/>
              </a:path>
            </a:pathLst>
          </a:custGeom>
          <a:solidFill>
            <a:srgbClr val="FB93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02705" y="1550884"/>
            <a:ext cx="6532880" cy="737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15" dirty="0">
                <a:solidFill>
                  <a:srgbClr val="A52F0F"/>
                </a:solidFill>
                <a:latin typeface="Georgia"/>
                <a:cs typeface="Georgia"/>
              </a:rPr>
              <a:t> </a:t>
            </a:r>
            <a:r>
              <a:rPr sz="2000" dirty="0">
                <a:solidFill>
                  <a:srgbClr val="3F3F3F"/>
                </a:solidFill>
                <a:latin typeface="Gothic Uralic"/>
                <a:cs typeface="Gothic Uralic"/>
              </a:rPr>
              <a:t>Factors </a:t>
            </a:r>
            <a:r>
              <a:rPr sz="2000" spc="-15" dirty="0">
                <a:solidFill>
                  <a:srgbClr val="3F3F3F"/>
                </a:solidFill>
                <a:latin typeface="Gothic Uralic"/>
                <a:cs typeface="Gothic Uralic"/>
              </a:rPr>
              <a:t>in </a:t>
            </a:r>
            <a:r>
              <a:rPr sz="2000" dirty="0">
                <a:solidFill>
                  <a:srgbClr val="3F3F3F"/>
                </a:solidFill>
                <a:latin typeface="Gothic Uralic"/>
                <a:cs typeface="Gothic Uralic"/>
              </a:rPr>
              <a:t>environment </a:t>
            </a:r>
            <a:r>
              <a:rPr sz="2000" spc="-5" dirty="0">
                <a:solidFill>
                  <a:srgbClr val="3F3F3F"/>
                </a:solidFill>
                <a:latin typeface="Gothic Uralic"/>
                <a:cs typeface="Gothic Uralic"/>
              </a:rPr>
              <a:t>assessment </a:t>
            </a:r>
            <a:endParaRPr sz="2000" dirty="0">
              <a:latin typeface="Gothic Uralic"/>
              <a:cs typeface="Gothic Uralic"/>
            </a:endParaRPr>
          </a:p>
          <a:p>
            <a:pPr marL="228600">
              <a:lnSpc>
                <a:spcPct val="100000"/>
              </a:lnSpc>
              <a:spcBef>
                <a:spcPts val="1400"/>
              </a:spcBef>
              <a:tabLst>
                <a:tab pos="1645285" algn="l"/>
              </a:tabLst>
            </a:pPr>
            <a:r>
              <a:rPr sz="1500" b="1" spc="-15" dirty="0">
                <a:latin typeface="Times New Roman"/>
                <a:cs typeface="Times New Roman"/>
              </a:rPr>
              <a:t>Factor	</a:t>
            </a:r>
            <a:r>
              <a:rPr sz="1500" b="1" spc="-10" dirty="0">
                <a:latin typeface="Times New Roman"/>
                <a:cs typeface="Times New Roman"/>
              </a:rPr>
              <a:t>Questions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37258" y="2057399"/>
            <a:ext cx="7021830" cy="4445"/>
          </a:xfrm>
          <a:custGeom>
            <a:avLst/>
            <a:gdLst/>
            <a:ahLst/>
            <a:cxnLst/>
            <a:rect l="l" t="t" r="r" b="b"/>
            <a:pathLst>
              <a:path w="7021830" h="4444">
                <a:moveTo>
                  <a:pt x="7021449" y="0"/>
                </a:moveTo>
                <a:lnTo>
                  <a:pt x="1421511" y="0"/>
                </a:lnTo>
                <a:lnTo>
                  <a:pt x="1417612" y="0"/>
                </a:lnTo>
                <a:lnTo>
                  <a:pt x="0" y="0"/>
                </a:lnTo>
                <a:lnTo>
                  <a:pt x="0" y="4000"/>
                </a:lnTo>
                <a:lnTo>
                  <a:pt x="1417612" y="4000"/>
                </a:lnTo>
                <a:lnTo>
                  <a:pt x="1421511" y="4000"/>
                </a:lnTo>
                <a:lnTo>
                  <a:pt x="7021449" y="4000"/>
                </a:lnTo>
                <a:lnTo>
                  <a:pt x="70214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19148" y="2256599"/>
            <a:ext cx="664210" cy="47561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225"/>
              </a:spcBef>
            </a:pPr>
            <a:r>
              <a:rPr sz="1500" spc="-10" dirty="0">
                <a:latin typeface="Times New Roman"/>
                <a:cs typeface="Times New Roman"/>
              </a:rPr>
              <a:t>S</a:t>
            </a:r>
            <a:r>
              <a:rPr sz="1500" spc="-45" dirty="0">
                <a:latin typeface="Times New Roman"/>
                <a:cs typeface="Times New Roman"/>
              </a:rPr>
              <a:t>u</a:t>
            </a:r>
            <a:r>
              <a:rPr sz="1500" spc="-15" dirty="0">
                <a:latin typeface="Times New Roman"/>
                <a:cs typeface="Times New Roman"/>
              </a:rPr>
              <a:t>p</a:t>
            </a:r>
            <a:r>
              <a:rPr sz="1500" spc="-45" dirty="0">
                <a:latin typeface="Times New Roman"/>
                <a:cs typeface="Times New Roman"/>
              </a:rPr>
              <a:t>p</a:t>
            </a:r>
            <a:r>
              <a:rPr sz="1500" spc="-30" dirty="0">
                <a:latin typeface="Times New Roman"/>
                <a:cs typeface="Times New Roman"/>
              </a:rPr>
              <a:t>l</a:t>
            </a:r>
            <a:r>
              <a:rPr sz="1500" spc="45" dirty="0">
                <a:latin typeface="Times New Roman"/>
                <a:cs typeface="Times New Roman"/>
              </a:rPr>
              <a:t>i</a:t>
            </a:r>
            <a:r>
              <a:rPr sz="1500" dirty="0">
                <a:latin typeface="Times New Roman"/>
                <a:cs typeface="Times New Roman"/>
              </a:rPr>
              <a:t>er  </a:t>
            </a:r>
            <a:r>
              <a:rPr sz="1500" spc="-10" dirty="0">
                <a:latin typeface="Times New Roman"/>
                <a:cs typeface="Times New Roman"/>
              </a:rPr>
              <a:t>stability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36467" y="2256599"/>
            <a:ext cx="5386705" cy="6946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225"/>
              </a:spcBef>
            </a:pPr>
            <a:r>
              <a:rPr sz="1500" dirty="0">
                <a:latin typeface="Times New Roman"/>
                <a:cs typeface="Times New Roman"/>
              </a:rPr>
              <a:t>Is </a:t>
            </a:r>
            <a:r>
              <a:rPr sz="1500" spc="-20" dirty="0">
                <a:latin typeface="Times New Roman"/>
                <a:cs typeface="Times New Roman"/>
              </a:rPr>
              <a:t>the </a:t>
            </a:r>
            <a:r>
              <a:rPr sz="1500" spc="-10" dirty="0">
                <a:latin typeface="Times New Roman"/>
                <a:cs typeface="Times New Roman"/>
              </a:rPr>
              <a:t>supplier is still </a:t>
            </a:r>
            <a:r>
              <a:rPr sz="1500" spc="-15" dirty="0">
                <a:latin typeface="Times New Roman"/>
                <a:cs typeface="Times New Roman"/>
              </a:rPr>
              <a:t>in </a:t>
            </a:r>
            <a:r>
              <a:rPr sz="1500" spc="-10" dirty="0">
                <a:latin typeface="Times New Roman"/>
                <a:cs typeface="Times New Roman"/>
              </a:rPr>
              <a:t>existence? </a:t>
            </a:r>
            <a:r>
              <a:rPr sz="1500" dirty="0">
                <a:latin typeface="Times New Roman"/>
                <a:cs typeface="Times New Roman"/>
              </a:rPr>
              <a:t>Is </a:t>
            </a:r>
            <a:r>
              <a:rPr sz="1500" spc="-10" dirty="0">
                <a:latin typeface="Times New Roman"/>
                <a:cs typeface="Times New Roman"/>
              </a:rPr>
              <a:t>the </a:t>
            </a:r>
            <a:r>
              <a:rPr sz="1500" spc="-15" dirty="0">
                <a:latin typeface="Times New Roman"/>
                <a:cs typeface="Times New Roman"/>
              </a:rPr>
              <a:t>supplier </a:t>
            </a:r>
            <a:r>
              <a:rPr sz="1500" spc="-20" dirty="0">
                <a:latin typeface="Times New Roman"/>
                <a:cs typeface="Times New Roman"/>
              </a:rPr>
              <a:t>financially </a:t>
            </a:r>
            <a:r>
              <a:rPr sz="1500" spc="-15" dirty="0">
                <a:latin typeface="Times New Roman"/>
                <a:cs typeface="Times New Roman"/>
              </a:rPr>
              <a:t>stable </a:t>
            </a:r>
            <a:r>
              <a:rPr sz="1500" spc="5" dirty="0">
                <a:latin typeface="Times New Roman"/>
                <a:cs typeface="Times New Roman"/>
              </a:rPr>
              <a:t>and  </a:t>
            </a:r>
            <a:r>
              <a:rPr sz="1500" spc="-15" dirty="0">
                <a:latin typeface="Times New Roman"/>
                <a:cs typeface="Times New Roman"/>
              </a:rPr>
              <a:t>likely </a:t>
            </a:r>
            <a:r>
              <a:rPr sz="1500" spc="5" dirty="0">
                <a:latin typeface="Times New Roman"/>
                <a:cs typeface="Times New Roman"/>
              </a:rPr>
              <a:t>to </a:t>
            </a:r>
            <a:r>
              <a:rPr sz="1500" spc="-10" dirty="0">
                <a:latin typeface="Times New Roman"/>
                <a:cs typeface="Times New Roman"/>
              </a:rPr>
              <a:t>continue </a:t>
            </a:r>
            <a:r>
              <a:rPr sz="1500" spc="-15" dirty="0">
                <a:latin typeface="Times New Roman"/>
                <a:cs typeface="Times New Roman"/>
              </a:rPr>
              <a:t>in </a:t>
            </a:r>
            <a:r>
              <a:rPr sz="1500" spc="-10" dirty="0">
                <a:latin typeface="Times New Roman"/>
                <a:cs typeface="Times New Roman"/>
              </a:rPr>
              <a:t>existence? </a:t>
            </a:r>
            <a:r>
              <a:rPr sz="1500" dirty="0">
                <a:latin typeface="Times New Roman"/>
                <a:cs typeface="Times New Roman"/>
              </a:rPr>
              <a:t>If </a:t>
            </a:r>
            <a:r>
              <a:rPr sz="1500" spc="-10" dirty="0">
                <a:latin typeface="Times New Roman"/>
                <a:cs typeface="Times New Roman"/>
              </a:rPr>
              <a:t>the </a:t>
            </a:r>
            <a:r>
              <a:rPr sz="1500" spc="-15" dirty="0">
                <a:latin typeface="Times New Roman"/>
                <a:cs typeface="Times New Roman"/>
              </a:rPr>
              <a:t>supplier </a:t>
            </a:r>
            <a:r>
              <a:rPr sz="1500" spc="-10" dirty="0">
                <a:latin typeface="Times New Roman"/>
                <a:cs typeface="Times New Roman"/>
              </a:rPr>
              <a:t>is </a:t>
            </a:r>
            <a:r>
              <a:rPr sz="1500" spc="-20" dirty="0">
                <a:latin typeface="Times New Roman"/>
                <a:cs typeface="Times New Roman"/>
              </a:rPr>
              <a:t>no </a:t>
            </a:r>
            <a:r>
              <a:rPr sz="1500" spc="-10" dirty="0">
                <a:latin typeface="Times New Roman"/>
                <a:cs typeface="Times New Roman"/>
              </a:rPr>
              <a:t>longer </a:t>
            </a:r>
            <a:r>
              <a:rPr sz="1500" spc="-20" dirty="0">
                <a:latin typeface="Times New Roman"/>
                <a:cs typeface="Times New Roman"/>
              </a:rPr>
              <a:t>in </a:t>
            </a:r>
            <a:r>
              <a:rPr sz="1500" spc="-5" dirty="0">
                <a:latin typeface="Times New Roman"/>
                <a:cs typeface="Times New Roman"/>
              </a:rPr>
              <a:t>business,  are </a:t>
            </a:r>
            <a:r>
              <a:rPr sz="1500" spc="-20" dirty="0">
                <a:latin typeface="Times New Roman"/>
                <a:cs typeface="Times New Roman"/>
              </a:rPr>
              <a:t>the </a:t>
            </a:r>
            <a:r>
              <a:rPr sz="1500" spc="-10" dirty="0">
                <a:latin typeface="Times New Roman"/>
                <a:cs typeface="Times New Roman"/>
              </a:rPr>
              <a:t>systems maintained </a:t>
            </a:r>
            <a:r>
              <a:rPr sz="1500" spc="-20" dirty="0">
                <a:latin typeface="Times New Roman"/>
                <a:cs typeface="Times New Roman"/>
              </a:rPr>
              <a:t>by </a:t>
            </a:r>
            <a:r>
              <a:rPr sz="1500" spc="-5" dirty="0">
                <a:latin typeface="Times New Roman"/>
                <a:cs typeface="Times New Roman"/>
              </a:rPr>
              <a:t>someone</a:t>
            </a:r>
            <a:r>
              <a:rPr sz="1500" spc="-160" dirty="0">
                <a:latin typeface="Times New Roman"/>
                <a:cs typeface="Times New Roman"/>
              </a:rPr>
              <a:t> </a:t>
            </a:r>
            <a:r>
              <a:rPr sz="1500" spc="5" dirty="0">
                <a:latin typeface="Times New Roman"/>
                <a:cs typeface="Times New Roman"/>
              </a:rPr>
              <a:t>else?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37258" y="2280957"/>
            <a:ext cx="7021830" cy="4445"/>
          </a:xfrm>
          <a:custGeom>
            <a:avLst/>
            <a:gdLst/>
            <a:ahLst/>
            <a:cxnLst/>
            <a:rect l="l" t="t" r="r" b="b"/>
            <a:pathLst>
              <a:path w="7021830" h="4444">
                <a:moveTo>
                  <a:pt x="7021449" y="0"/>
                </a:moveTo>
                <a:lnTo>
                  <a:pt x="1421511" y="0"/>
                </a:lnTo>
                <a:lnTo>
                  <a:pt x="1417612" y="0"/>
                </a:lnTo>
                <a:lnTo>
                  <a:pt x="0" y="0"/>
                </a:lnTo>
                <a:lnTo>
                  <a:pt x="0" y="4000"/>
                </a:lnTo>
                <a:lnTo>
                  <a:pt x="1417612" y="4000"/>
                </a:lnTo>
                <a:lnTo>
                  <a:pt x="1421511" y="4000"/>
                </a:lnTo>
                <a:lnTo>
                  <a:pt x="7021449" y="4000"/>
                </a:lnTo>
                <a:lnTo>
                  <a:pt x="70214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19148" y="2922587"/>
            <a:ext cx="88963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-10" dirty="0">
                <a:latin typeface="Times New Roman"/>
                <a:cs typeface="Times New Roman"/>
              </a:rPr>
              <a:t>Failure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rate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36467" y="2922587"/>
            <a:ext cx="4954270" cy="47561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225"/>
              </a:spcBef>
            </a:pPr>
            <a:r>
              <a:rPr sz="1500" spc="-15" dirty="0">
                <a:latin typeface="Times New Roman"/>
                <a:cs typeface="Times New Roman"/>
              </a:rPr>
              <a:t>Does </a:t>
            </a:r>
            <a:r>
              <a:rPr sz="1500" spc="-20" dirty="0">
                <a:latin typeface="Times New Roman"/>
                <a:cs typeface="Times New Roman"/>
              </a:rPr>
              <a:t>the </a:t>
            </a:r>
            <a:r>
              <a:rPr sz="1500" dirty="0">
                <a:latin typeface="Times New Roman"/>
                <a:cs typeface="Times New Roman"/>
              </a:rPr>
              <a:t>hardware </a:t>
            </a:r>
            <a:r>
              <a:rPr sz="1500" spc="-20" dirty="0">
                <a:latin typeface="Times New Roman"/>
                <a:cs typeface="Times New Roman"/>
              </a:rPr>
              <a:t>have </a:t>
            </a:r>
            <a:r>
              <a:rPr sz="1500" spc="5" dirty="0">
                <a:latin typeface="Times New Roman"/>
                <a:cs typeface="Times New Roman"/>
              </a:rPr>
              <a:t>a </a:t>
            </a:r>
            <a:r>
              <a:rPr sz="1500" spc="-20" dirty="0">
                <a:latin typeface="Times New Roman"/>
                <a:cs typeface="Times New Roman"/>
              </a:rPr>
              <a:t>high </a:t>
            </a:r>
            <a:r>
              <a:rPr sz="1500" spc="-5" dirty="0">
                <a:latin typeface="Times New Roman"/>
                <a:cs typeface="Times New Roman"/>
              </a:rPr>
              <a:t>rate </a:t>
            </a:r>
            <a:r>
              <a:rPr sz="1500" spc="5" dirty="0">
                <a:latin typeface="Times New Roman"/>
                <a:cs typeface="Times New Roman"/>
              </a:rPr>
              <a:t>of </a:t>
            </a:r>
            <a:r>
              <a:rPr sz="1500" spc="-15" dirty="0">
                <a:latin typeface="Times New Roman"/>
                <a:cs typeface="Times New Roman"/>
              </a:rPr>
              <a:t>reported </a:t>
            </a:r>
            <a:r>
              <a:rPr sz="1500" spc="-10" dirty="0">
                <a:latin typeface="Times New Roman"/>
                <a:cs typeface="Times New Roman"/>
              </a:rPr>
              <a:t>failures? </a:t>
            </a:r>
            <a:r>
              <a:rPr sz="1500" spc="-15" dirty="0">
                <a:latin typeface="Times New Roman"/>
                <a:cs typeface="Times New Roman"/>
              </a:rPr>
              <a:t>Does </a:t>
            </a:r>
            <a:r>
              <a:rPr sz="1500" spc="-25" dirty="0">
                <a:latin typeface="Times New Roman"/>
                <a:cs typeface="Times New Roman"/>
              </a:rPr>
              <a:t>the  </a:t>
            </a:r>
            <a:r>
              <a:rPr sz="1500" spc="-10" dirty="0">
                <a:latin typeface="Times New Roman"/>
                <a:cs typeface="Times New Roman"/>
              </a:rPr>
              <a:t>support software </a:t>
            </a:r>
            <a:r>
              <a:rPr sz="1500" spc="-5" dirty="0">
                <a:latin typeface="Times New Roman"/>
                <a:cs typeface="Times New Roman"/>
              </a:rPr>
              <a:t>crash </a:t>
            </a:r>
            <a:r>
              <a:rPr sz="1500" spc="-20" dirty="0">
                <a:latin typeface="Times New Roman"/>
                <a:cs typeface="Times New Roman"/>
              </a:rPr>
              <a:t>and </a:t>
            </a:r>
            <a:r>
              <a:rPr sz="1500" spc="-15" dirty="0">
                <a:latin typeface="Times New Roman"/>
                <a:cs typeface="Times New Roman"/>
              </a:rPr>
              <a:t>force </a:t>
            </a:r>
            <a:r>
              <a:rPr sz="1500" spc="-10" dirty="0">
                <a:latin typeface="Times New Roman"/>
                <a:cs typeface="Times New Roman"/>
              </a:rPr>
              <a:t>system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5" dirty="0">
                <a:latin typeface="Times New Roman"/>
                <a:cs typeface="Times New Roman"/>
              </a:rPr>
              <a:t>restarts?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37258" y="2947517"/>
            <a:ext cx="7021830" cy="4445"/>
          </a:xfrm>
          <a:custGeom>
            <a:avLst/>
            <a:gdLst/>
            <a:ahLst/>
            <a:cxnLst/>
            <a:rect l="l" t="t" r="r" b="b"/>
            <a:pathLst>
              <a:path w="7021830" h="4444">
                <a:moveTo>
                  <a:pt x="7021449" y="0"/>
                </a:moveTo>
                <a:lnTo>
                  <a:pt x="1421511" y="0"/>
                </a:lnTo>
                <a:lnTo>
                  <a:pt x="1417612" y="0"/>
                </a:lnTo>
                <a:lnTo>
                  <a:pt x="0" y="0"/>
                </a:lnTo>
                <a:lnTo>
                  <a:pt x="0" y="4000"/>
                </a:lnTo>
                <a:lnTo>
                  <a:pt x="1417612" y="4000"/>
                </a:lnTo>
                <a:lnTo>
                  <a:pt x="1421511" y="4000"/>
                </a:lnTo>
                <a:lnTo>
                  <a:pt x="7021449" y="4000"/>
                </a:lnTo>
                <a:lnTo>
                  <a:pt x="70214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819148" y="3369119"/>
            <a:ext cx="33845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-10" dirty="0">
                <a:latin typeface="Times New Roman"/>
                <a:cs typeface="Times New Roman"/>
              </a:rPr>
              <a:t>A</a:t>
            </a:r>
            <a:r>
              <a:rPr sz="1500" spc="-45" dirty="0">
                <a:latin typeface="Times New Roman"/>
                <a:cs typeface="Times New Roman"/>
              </a:rPr>
              <a:t>g</a:t>
            </a:r>
            <a:r>
              <a:rPr sz="1500" spc="5" dirty="0">
                <a:latin typeface="Times New Roman"/>
                <a:cs typeface="Times New Roman"/>
              </a:rPr>
              <a:t>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36467" y="3369119"/>
            <a:ext cx="5354955" cy="918844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ct val="96700"/>
              </a:lnSpc>
              <a:spcBef>
                <a:spcPts val="170"/>
              </a:spcBef>
            </a:pPr>
            <a:r>
              <a:rPr sz="1500" spc="-15" dirty="0">
                <a:latin typeface="Times New Roman"/>
                <a:cs typeface="Times New Roman"/>
              </a:rPr>
              <a:t>How </a:t>
            </a:r>
            <a:r>
              <a:rPr sz="1500" spc="5" dirty="0">
                <a:latin typeface="Times New Roman"/>
                <a:cs typeface="Times New Roman"/>
              </a:rPr>
              <a:t>old </a:t>
            </a:r>
            <a:r>
              <a:rPr sz="1500" spc="10" dirty="0">
                <a:latin typeface="Times New Roman"/>
                <a:cs typeface="Times New Roman"/>
              </a:rPr>
              <a:t>is </a:t>
            </a:r>
            <a:r>
              <a:rPr sz="1500" spc="-25" dirty="0">
                <a:latin typeface="Times New Roman"/>
                <a:cs typeface="Times New Roman"/>
              </a:rPr>
              <a:t>the </a:t>
            </a:r>
            <a:r>
              <a:rPr sz="1500" dirty="0">
                <a:latin typeface="Times New Roman"/>
                <a:cs typeface="Times New Roman"/>
              </a:rPr>
              <a:t>hardware </a:t>
            </a:r>
            <a:r>
              <a:rPr sz="1500" spc="-10" dirty="0">
                <a:latin typeface="Times New Roman"/>
                <a:cs typeface="Times New Roman"/>
              </a:rPr>
              <a:t>and </a:t>
            </a:r>
            <a:r>
              <a:rPr sz="1500" spc="-15" dirty="0">
                <a:latin typeface="Times New Roman"/>
                <a:cs typeface="Times New Roman"/>
              </a:rPr>
              <a:t>software? The </a:t>
            </a:r>
            <a:r>
              <a:rPr sz="1500" dirty="0">
                <a:latin typeface="Times New Roman"/>
                <a:cs typeface="Times New Roman"/>
              </a:rPr>
              <a:t>older </a:t>
            </a:r>
            <a:r>
              <a:rPr sz="1500" spc="-10" dirty="0">
                <a:latin typeface="Times New Roman"/>
                <a:cs typeface="Times New Roman"/>
              </a:rPr>
              <a:t>the </a:t>
            </a:r>
            <a:r>
              <a:rPr sz="1500" spc="-15" dirty="0">
                <a:latin typeface="Times New Roman"/>
                <a:cs typeface="Times New Roman"/>
              </a:rPr>
              <a:t>hardware </a:t>
            </a:r>
            <a:r>
              <a:rPr sz="1500" spc="-10" dirty="0">
                <a:latin typeface="Times New Roman"/>
                <a:cs typeface="Times New Roman"/>
              </a:rPr>
              <a:t>and  support </a:t>
            </a:r>
            <a:r>
              <a:rPr sz="1500" spc="-15" dirty="0">
                <a:latin typeface="Times New Roman"/>
                <a:cs typeface="Times New Roman"/>
              </a:rPr>
              <a:t>software, </a:t>
            </a:r>
            <a:r>
              <a:rPr sz="1500" spc="-10" dirty="0">
                <a:latin typeface="Times New Roman"/>
                <a:cs typeface="Times New Roman"/>
              </a:rPr>
              <a:t>the </a:t>
            </a:r>
            <a:r>
              <a:rPr sz="1500" dirty="0">
                <a:latin typeface="Times New Roman"/>
                <a:cs typeface="Times New Roman"/>
              </a:rPr>
              <a:t>more </a:t>
            </a:r>
            <a:r>
              <a:rPr sz="1500" spc="-20" dirty="0">
                <a:latin typeface="Times New Roman"/>
                <a:cs typeface="Times New Roman"/>
              </a:rPr>
              <a:t>obsolete </a:t>
            </a:r>
            <a:r>
              <a:rPr sz="1500" spc="5" dirty="0">
                <a:latin typeface="Times New Roman"/>
                <a:cs typeface="Times New Roman"/>
              </a:rPr>
              <a:t>it </a:t>
            </a:r>
            <a:r>
              <a:rPr sz="1500" spc="-15" dirty="0">
                <a:latin typeface="Times New Roman"/>
                <a:cs typeface="Times New Roman"/>
              </a:rPr>
              <a:t>will </a:t>
            </a:r>
            <a:r>
              <a:rPr sz="1500" spc="-25" dirty="0">
                <a:latin typeface="Times New Roman"/>
                <a:cs typeface="Times New Roman"/>
              </a:rPr>
              <a:t>be. </a:t>
            </a:r>
            <a:r>
              <a:rPr sz="1500" dirty="0">
                <a:latin typeface="Times New Roman"/>
                <a:cs typeface="Times New Roman"/>
              </a:rPr>
              <a:t>It </a:t>
            </a:r>
            <a:r>
              <a:rPr sz="1500" spc="-10" dirty="0">
                <a:latin typeface="Times New Roman"/>
                <a:cs typeface="Times New Roman"/>
              </a:rPr>
              <a:t>may </a:t>
            </a:r>
            <a:r>
              <a:rPr sz="1500" spc="-5" dirty="0">
                <a:latin typeface="Times New Roman"/>
                <a:cs typeface="Times New Roman"/>
              </a:rPr>
              <a:t>still </a:t>
            </a:r>
            <a:r>
              <a:rPr sz="1500" spc="-15" dirty="0">
                <a:latin typeface="Times New Roman"/>
                <a:cs typeface="Times New Roman"/>
              </a:rPr>
              <a:t>function  </a:t>
            </a:r>
            <a:r>
              <a:rPr sz="1500" spc="-10" dirty="0">
                <a:latin typeface="Times New Roman"/>
                <a:cs typeface="Times New Roman"/>
              </a:rPr>
              <a:t>correctly </a:t>
            </a:r>
            <a:r>
              <a:rPr sz="1500" spc="-20" dirty="0">
                <a:latin typeface="Times New Roman"/>
                <a:cs typeface="Times New Roman"/>
              </a:rPr>
              <a:t>but </a:t>
            </a:r>
            <a:r>
              <a:rPr sz="1500" spc="10" dirty="0">
                <a:latin typeface="Times New Roman"/>
                <a:cs typeface="Times New Roman"/>
              </a:rPr>
              <a:t>there </a:t>
            </a:r>
            <a:r>
              <a:rPr sz="1500" spc="-20" dirty="0">
                <a:latin typeface="Times New Roman"/>
                <a:cs typeface="Times New Roman"/>
              </a:rPr>
              <a:t>could </a:t>
            </a:r>
            <a:r>
              <a:rPr sz="1500" spc="40" dirty="0">
                <a:latin typeface="Times New Roman"/>
                <a:cs typeface="Times New Roman"/>
              </a:rPr>
              <a:t>be</a:t>
            </a:r>
            <a:r>
              <a:rPr sz="1500" spc="-265" dirty="0">
                <a:latin typeface="Times New Roman"/>
                <a:cs typeface="Times New Roman"/>
              </a:rPr>
              <a:t> </a:t>
            </a:r>
            <a:r>
              <a:rPr sz="1500" spc="-15" dirty="0">
                <a:latin typeface="Times New Roman"/>
                <a:cs typeface="Times New Roman"/>
              </a:rPr>
              <a:t>significant </a:t>
            </a:r>
            <a:r>
              <a:rPr sz="1500" spc="-10" dirty="0">
                <a:latin typeface="Times New Roman"/>
                <a:cs typeface="Times New Roman"/>
              </a:rPr>
              <a:t>economic and </a:t>
            </a:r>
            <a:r>
              <a:rPr sz="1500" spc="-5" dirty="0">
                <a:latin typeface="Times New Roman"/>
                <a:cs typeface="Times New Roman"/>
              </a:rPr>
              <a:t>business </a:t>
            </a:r>
            <a:r>
              <a:rPr sz="1500" spc="-10" dirty="0">
                <a:latin typeface="Times New Roman"/>
                <a:cs typeface="Times New Roman"/>
              </a:rPr>
              <a:t>benefits  </a:t>
            </a:r>
            <a:r>
              <a:rPr sz="1500" spc="-20" dirty="0">
                <a:latin typeface="Times New Roman"/>
                <a:cs typeface="Times New Roman"/>
              </a:rPr>
              <a:t>to moving </a:t>
            </a:r>
            <a:r>
              <a:rPr sz="1500" spc="-5" dirty="0">
                <a:latin typeface="Times New Roman"/>
                <a:cs typeface="Times New Roman"/>
              </a:rPr>
              <a:t>to more modern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systems.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737258" y="3394620"/>
            <a:ext cx="7021830" cy="4445"/>
          </a:xfrm>
          <a:custGeom>
            <a:avLst/>
            <a:gdLst/>
            <a:ahLst/>
            <a:cxnLst/>
            <a:rect l="l" t="t" r="r" b="b"/>
            <a:pathLst>
              <a:path w="7021830" h="4445">
                <a:moveTo>
                  <a:pt x="7021449" y="0"/>
                </a:moveTo>
                <a:lnTo>
                  <a:pt x="1421511" y="0"/>
                </a:lnTo>
                <a:lnTo>
                  <a:pt x="1417612" y="0"/>
                </a:lnTo>
                <a:lnTo>
                  <a:pt x="0" y="0"/>
                </a:lnTo>
                <a:lnTo>
                  <a:pt x="0" y="4000"/>
                </a:lnTo>
                <a:lnTo>
                  <a:pt x="1417612" y="4000"/>
                </a:lnTo>
                <a:lnTo>
                  <a:pt x="1421511" y="4000"/>
                </a:lnTo>
                <a:lnTo>
                  <a:pt x="7021449" y="4000"/>
                </a:lnTo>
                <a:lnTo>
                  <a:pt x="70214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19148" y="4259135"/>
            <a:ext cx="98488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-15" dirty="0">
                <a:latin typeface="Times New Roman"/>
                <a:cs typeface="Times New Roman"/>
              </a:rPr>
              <a:t>Performance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36467" y="4259135"/>
            <a:ext cx="5304790" cy="47561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225"/>
              </a:spcBef>
            </a:pPr>
            <a:r>
              <a:rPr sz="1500" dirty="0">
                <a:latin typeface="Times New Roman"/>
                <a:cs typeface="Times New Roman"/>
              </a:rPr>
              <a:t>Is </a:t>
            </a:r>
            <a:r>
              <a:rPr sz="1500" spc="-20" dirty="0">
                <a:latin typeface="Times New Roman"/>
                <a:cs typeface="Times New Roman"/>
              </a:rPr>
              <a:t>the </a:t>
            </a:r>
            <a:r>
              <a:rPr sz="1500" spc="-5" dirty="0">
                <a:latin typeface="Times New Roman"/>
                <a:cs typeface="Times New Roman"/>
              </a:rPr>
              <a:t>performance </a:t>
            </a:r>
            <a:r>
              <a:rPr sz="1500" spc="5" dirty="0">
                <a:latin typeface="Times New Roman"/>
                <a:cs typeface="Times New Roman"/>
              </a:rPr>
              <a:t>of </a:t>
            </a:r>
            <a:r>
              <a:rPr sz="1500" spc="-20" dirty="0">
                <a:latin typeface="Times New Roman"/>
                <a:cs typeface="Times New Roman"/>
              </a:rPr>
              <a:t>the </a:t>
            </a:r>
            <a:r>
              <a:rPr sz="1500" spc="-10" dirty="0">
                <a:latin typeface="Times New Roman"/>
                <a:cs typeface="Times New Roman"/>
              </a:rPr>
              <a:t>system </a:t>
            </a:r>
            <a:r>
              <a:rPr sz="1500" spc="-15" dirty="0">
                <a:latin typeface="Times New Roman"/>
                <a:cs typeface="Times New Roman"/>
              </a:rPr>
              <a:t>adequate? </a:t>
            </a:r>
            <a:r>
              <a:rPr sz="1500" spc="-20" dirty="0">
                <a:latin typeface="Times New Roman"/>
                <a:cs typeface="Times New Roman"/>
              </a:rPr>
              <a:t>Do </a:t>
            </a:r>
            <a:r>
              <a:rPr sz="1500" spc="-10" dirty="0">
                <a:latin typeface="Times New Roman"/>
                <a:cs typeface="Times New Roman"/>
              </a:rPr>
              <a:t>performance problems  </a:t>
            </a:r>
            <a:r>
              <a:rPr sz="1500" spc="-15" dirty="0">
                <a:latin typeface="Times New Roman"/>
                <a:cs typeface="Times New Roman"/>
              </a:rPr>
              <a:t>have </a:t>
            </a:r>
            <a:r>
              <a:rPr sz="1500" spc="5" dirty="0">
                <a:latin typeface="Times New Roman"/>
                <a:cs typeface="Times New Roman"/>
              </a:rPr>
              <a:t>a </a:t>
            </a:r>
            <a:r>
              <a:rPr sz="1500" spc="-15" dirty="0">
                <a:latin typeface="Times New Roman"/>
                <a:cs typeface="Times New Roman"/>
              </a:rPr>
              <a:t>significant effect </a:t>
            </a:r>
            <a:r>
              <a:rPr sz="1500" spc="-20" dirty="0">
                <a:latin typeface="Times New Roman"/>
                <a:cs typeface="Times New Roman"/>
              </a:rPr>
              <a:t>on </a:t>
            </a:r>
            <a:r>
              <a:rPr sz="1500" dirty="0">
                <a:latin typeface="Times New Roman"/>
                <a:cs typeface="Times New Roman"/>
              </a:rPr>
              <a:t>system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users?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37258" y="4284725"/>
            <a:ext cx="7021830" cy="4445"/>
          </a:xfrm>
          <a:custGeom>
            <a:avLst/>
            <a:gdLst/>
            <a:ahLst/>
            <a:cxnLst/>
            <a:rect l="l" t="t" r="r" b="b"/>
            <a:pathLst>
              <a:path w="7021830" h="4445">
                <a:moveTo>
                  <a:pt x="7021449" y="0"/>
                </a:moveTo>
                <a:lnTo>
                  <a:pt x="1421511" y="0"/>
                </a:lnTo>
                <a:lnTo>
                  <a:pt x="1417612" y="0"/>
                </a:lnTo>
                <a:lnTo>
                  <a:pt x="0" y="0"/>
                </a:lnTo>
                <a:lnTo>
                  <a:pt x="0" y="4000"/>
                </a:lnTo>
                <a:lnTo>
                  <a:pt x="1417612" y="4000"/>
                </a:lnTo>
                <a:lnTo>
                  <a:pt x="1421511" y="4000"/>
                </a:lnTo>
                <a:lnTo>
                  <a:pt x="7021449" y="4000"/>
                </a:lnTo>
                <a:lnTo>
                  <a:pt x="70214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819148" y="4707191"/>
            <a:ext cx="1009015" cy="47561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225"/>
              </a:spcBef>
            </a:pPr>
            <a:r>
              <a:rPr sz="1500" spc="-10" dirty="0">
                <a:latin typeface="Times New Roman"/>
                <a:cs typeface="Times New Roman"/>
              </a:rPr>
              <a:t>Support  </a:t>
            </a:r>
            <a:r>
              <a:rPr sz="1500" spc="-15" dirty="0">
                <a:latin typeface="Times New Roman"/>
                <a:cs typeface="Times New Roman"/>
              </a:rPr>
              <a:t>r</a:t>
            </a:r>
            <a:r>
              <a:rPr sz="1500" spc="-20" dirty="0">
                <a:latin typeface="Times New Roman"/>
                <a:cs typeface="Times New Roman"/>
              </a:rPr>
              <a:t>e</a:t>
            </a:r>
            <a:r>
              <a:rPr sz="1500" spc="-45" dirty="0">
                <a:latin typeface="Times New Roman"/>
                <a:cs typeface="Times New Roman"/>
              </a:rPr>
              <a:t>q</a:t>
            </a:r>
            <a:r>
              <a:rPr sz="1500" spc="10" dirty="0">
                <a:latin typeface="Times New Roman"/>
                <a:cs typeface="Times New Roman"/>
              </a:rPr>
              <a:t>u</a:t>
            </a:r>
            <a:r>
              <a:rPr sz="1500" dirty="0">
                <a:latin typeface="Times New Roman"/>
                <a:cs typeface="Times New Roman"/>
              </a:rPr>
              <a:t>ir</a:t>
            </a:r>
            <a:r>
              <a:rPr sz="1500" spc="-20" dirty="0">
                <a:latin typeface="Times New Roman"/>
                <a:cs typeface="Times New Roman"/>
              </a:rPr>
              <a:t>e</a:t>
            </a:r>
            <a:r>
              <a:rPr sz="1500" spc="-35" dirty="0">
                <a:latin typeface="Times New Roman"/>
                <a:cs typeface="Times New Roman"/>
              </a:rPr>
              <a:t>m</a:t>
            </a:r>
            <a:r>
              <a:rPr sz="1500" spc="15" dirty="0">
                <a:latin typeface="Times New Roman"/>
                <a:cs typeface="Times New Roman"/>
              </a:rPr>
              <a:t>e</a:t>
            </a:r>
            <a:r>
              <a:rPr sz="1500" spc="-45" dirty="0">
                <a:latin typeface="Times New Roman"/>
                <a:cs typeface="Times New Roman"/>
              </a:rPr>
              <a:t>n</a:t>
            </a:r>
            <a:r>
              <a:rPr sz="1500" spc="5" dirty="0">
                <a:latin typeface="Times New Roman"/>
                <a:cs typeface="Times New Roman"/>
              </a:rPr>
              <a:t>t</a:t>
            </a:r>
            <a:r>
              <a:rPr sz="1500" dirty="0">
                <a:latin typeface="Times New Roman"/>
                <a:cs typeface="Times New Roman"/>
              </a:rPr>
              <a:t>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36467" y="4707191"/>
            <a:ext cx="5389245" cy="6946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225"/>
              </a:spcBef>
            </a:pPr>
            <a:r>
              <a:rPr sz="1500" spc="-10" dirty="0">
                <a:latin typeface="Times New Roman"/>
                <a:cs typeface="Times New Roman"/>
              </a:rPr>
              <a:t>What </a:t>
            </a:r>
            <a:r>
              <a:rPr sz="1500" spc="-5" dirty="0">
                <a:latin typeface="Times New Roman"/>
                <a:cs typeface="Times New Roman"/>
              </a:rPr>
              <a:t>local </a:t>
            </a:r>
            <a:r>
              <a:rPr sz="1500" spc="-10" dirty="0">
                <a:latin typeface="Times New Roman"/>
                <a:cs typeface="Times New Roman"/>
              </a:rPr>
              <a:t>support </a:t>
            </a:r>
            <a:r>
              <a:rPr sz="1500" spc="5" dirty="0">
                <a:latin typeface="Times New Roman"/>
                <a:cs typeface="Times New Roman"/>
              </a:rPr>
              <a:t>is </a:t>
            </a:r>
            <a:r>
              <a:rPr sz="1500" spc="-10" dirty="0">
                <a:latin typeface="Times New Roman"/>
                <a:cs typeface="Times New Roman"/>
              </a:rPr>
              <a:t>required </a:t>
            </a:r>
            <a:r>
              <a:rPr sz="1500" spc="-20" dirty="0">
                <a:latin typeface="Times New Roman"/>
                <a:cs typeface="Times New Roman"/>
              </a:rPr>
              <a:t>by </a:t>
            </a:r>
            <a:r>
              <a:rPr sz="1500" spc="20" dirty="0">
                <a:latin typeface="Times New Roman"/>
                <a:cs typeface="Times New Roman"/>
              </a:rPr>
              <a:t>the </a:t>
            </a:r>
            <a:r>
              <a:rPr sz="1500" spc="-10" dirty="0">
                <a:latin typeface="Times New Roman"/>
                <a:cs typeface="Times New Roman"/>
              </a:rPr>
              <a:t>hardware and </a:t>
            </a:r>
            <a:r>
              <a:rPr sz="1500" spc="-5" dirty="0">
                <a:latin typeface="Times New Roman"/>
                <a:cs typeface="Times New Roman"/>
              </a:rPr>
              <a:t>software? </a:t>
            </a:r>
            <a:r>
              <a:rPr sz="1500" dirty="0">
                <a:latin typeface="Times New Roman"/>
                <a:cs typeface="Times New Roman"/>
              </a:rPr>
              <a:t>If </a:t>
            </a:r>
            <a:r>
              <a:rPr sz="1500" spc="-15" dirty="0">
                <a:latin typeface="Times New Roman"/>
                <a:cs typeface="Times New Roman"/>
              </a:rPr>
              <a:t>there  </a:t>
            </a:r>
            <a:r>
              <a:rPr sz="1500" spc="-5" dirty="0">
                <a:latin typeface="Times New Roman"/>
                <a:cs typeface="Times New Roman"/>
              </a:rPr>
              <a:t>are </a:t>
            </a:r>
            <a:r>
              <a:rPr sz="1500" spc="-20" dirty="0">
                <a:latin typeface="Times New Roman"/>
                <a:cs typeface="Times New Roman"/>
              </a:rPr>
              <a:t>high </a:t>
            </a:r>
            <a:r>
              <a:rPr sz="1500" dirty="0">
                <a:latin typeface="Times New Roman"/>
                <a:cs typeface="Times New Roman"/>
              </a:rPr>
              <a:t>costs </a:t>
            </a:r>
            <a:r>
              <a:rPr sz="1500" spc="-15" dirty="0">
                <a:latin typeface="Times New Roman"/>
                <a:cs typeface="Times New Roman"/>
              </a:rPr>
              <a:t>associated </a:t>
            </a:r>
            <a:r>
              <a:rPr sz="1500" spc="-5" dirty="0">
                <a:latin typeface="Times New Roman"/>
                <a:cs typeface="Times New Roman"/>
              </a:rPr>
              <a:t>with this </a:t>
            </a:r>
            <a:r>
              <a:rPr sz="1500" spc="-15" dirty="0">
                <a:latin typeface="Times New Roman"/>
                <a:cs typeface="Times New Roman"/>
              </a:rPr>
              <a:t>support, </a:t>
            </a:r>
            <a:r>
              <a:rPr sz="1500" spc="20" dirty="0">
                <a:latin typeface="Times New Roman"/>
                <a:cs typeface="Times New Roman"/>
              </a:rPr>
              <a:t>it </a:t>
            </a:r>
            <a:r>
              <a:rPr sz="1500" spc="-20" dirty="0">
                <a:latin typeface="Times New Roman"/>
                <a:cs typeface="Times New Roman"/>
              </a:rPr>
              <a:t>may be </a:t>
            </a:r>
            <a:r>
              <a:rPr sz="1500" spc="-15" dirty="0">
                <a:latin typeface="Times New Roman"/>
                <a:cs typeface="Times New Roman"/>
              </a:rPr>
              <a:t>worth considering  </a:t>
            </a:r>
            <a:r>
              <a:rPr sz="1500" spc="-10" dirty="0">
                <a:latin typeface="Times New Roman"/>
                <a:cs typeface="Times New Roman"/>
              </a:rPr>
              <a:t>system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5" dirty="0">
                <a:latin typeface="Times New Roman"/>
                <a:cs typeface="Times New Roman"/>
              </a:rPr>
              <a:t>replacement.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737258" y="4731740"/>
            <a:ext cx="7021830" cy="4445"/>
          </a:xfrm>
          <a:custGeom>
            <a:avLst/>
            <a:gdLst/>
            <a:ahLst/>
            <a:cxnLst/>
            <a:rect l="l" t="t" r="r" b="b"/>
            <a:pathLst>
              <a:path w="7021830" h="4445">
                <a:moveTo>
                  <a:pt x="7021449" y="0"/>
                </a:moveTo>
                <a:lnTo>
                  <a:pt x="1421511" y="0"/>
                </a:lnTo>
                <a:lnTo>
                  <a:pt x="1417612" y="0"/>
                </a:lnTo>
                <a:lnTo>
                  <a:pt x="0" y="0"/>
                </a:lnTo>
                <a:lnTo>
                  <a:pt x="0" y="4000"/>
                </a:lnTo>
                <a:lnTo>
                  <a:pt x="1417612" y="4000"/>
                </a:lnTo>
                <a:lnTo>
                  <a:pt x="1421511" y="4000"/>
                </a:lnTo>
                <a:lnTo>
                  <a:pt x="7021449" y="4000"/>
                </a:lnTo>
                <a:lnTo>
                  <a:pt x="70214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819148" y="5373179"/>
            <a:ext cx="999490" cy="47561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225"/>
              </a:spcBef>
            </a:pPr>
            <a:r>
              <a:rPr sz="1500" spc="-20" dirty="0">
                <a:latin typeface="Times New Roman"/>
                <a:cs typeface="Times New Roman"/>
              </a:rPr>
              <a:t>Ma</a:t>
            </a:r>
            <a:r>
              <a:rPr sz="1500" spc="-60" dirty="0">
                <a:latin typeface="Times New Roman"/>
                <a:cs typeface="Times New Roman"/>
              </a:rPr>
              <a:t>i</a:t>
            </a:r>
            <a:r>
              <a:rPr sz="1500" spc="20" dirty="0">
                <a:latin typeface="Times New Roman"/>
                <a:cs typeface="Times New Roman"/>
              </a:rPr>
              <a:t>n</a:t>
            </a:r>
            <a:r>
              <a:rPr sz="1500" spc="10" dirty="0">
                <a:latin typeface="Times New Roman"/>
                <a:cs typeface="Times New Roman"/>
              </a:rPr>
              <a:t>t</a:t>
            </a:r>
            <a:r>
              <a:rPr sz="1500" spc="-20" dirty="0">
                <a:latin typeface="Times New Roman"/>
                <a:cs typeface="Times New Roman"/>
              </a:rPr>
              <a:t>e</a:t>
            </a:r>
            <a:r>
              <a:rPr sz="1500" spc="-45" dirty="0">
                <a:latin typeface="Times New Roman"/>
                <a:cs typeface="Times New Roman"/>
              </a:rPr>
              <a:t>n</a:t>
            </a:r>
            <a:r>
              <a:rPr sz="1500" spc="-20" dirty="0">
                <a:latin typeface="Times New Roman"/>
                <a:cs typeface="Times New Roman"/>
              </a:rPr>
              <a:t>a</a:t>
            </a:r>
            <a:r>
              <a:rPr sz="1500" spc="10" dirty="0">
                <a:latin typeface="Times New Roman"/>
                <a:cs typeface="Times New Roman"/>
              </a:rPr>
              <a:t>n</a:t>
            </a:r>
            <a:r>
              <a:rPr sz="1500" spc="15" dirty="0">
                <a:latin typeface="Times New Roman"/>
                <a:cs typeface="Times New Roman"/>
              </a:rPr>
              <a:t>c</a:t>
            </a:r>
            <a:r>
              <a:rPr sz="1500" dirty="0">
                <a:latin typeface="Times New Roman"/>
                <a:cs typeface="Times New Roman"/>
              </a:rPr>
              <a:t>e  </a:t>
            </a:r>
            <a:r>
              <a:rPr sz="1500" spc="-15" dirty="0">
                <a:latin typeface="Times New Roman"/>
                <a:cs typeface="Times New Roman"/>
              </a:rPr>
              <a:t>costs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36467" y="5373179"/>
            <a:ext cx="5058410" cy="918844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 algn="just">
              <a:lnSpc>
                <a:spcPct val="96700"/>
              </a:lnSpc>
              <a:spcBef>
                <a:spcPts val="170"/>
              </a:spcBef>
            </a:pPr>
            <a:r>
              <a:rPr sz="1500" spc="-10" dirty="0">
                <a:latin typeface="Times New Roman"/>
                <a:cs typeface="Times New Roman"/>
              </a:rPr>
              <a:t>What </a:t>
            </a:r>
            <a:r>
              <a:rPr sz="1500" spc="5" dirty="0">
                <a:latin typeface="Times New Roman"/>
                <a:cs typeface="Times New Roman"/>
              </a:rPr>
              <a:t>are </a:t>
            </a:r>
            <a:r>
              <a:rPr sz="1500" spc="-20" dirty="0">
                <a:latin typeface="Times New Roman"/>
                <a:cs typeface="Times New Roman"/>
              </a:rPr>
              <a:t>the </a:t>
            </a:r>
            <a:r>
              <a:rPr sz="1500" spc="10" dirty="0">
                <a:latin typeface="Times New Roman"/>
                <a:cs typeface="Times New Roman"/>
              </a:rPr>
              <a:t>costs </a:t>
            </a:r>
            <a:r>
              <a:rPr sz="1500" spc="-10" dirty="0">
                <a:latin typeface="Times New Roman"/>
                <a:cs typeface="Times New Roman"/>
              </a:rPr>
              <a:t>of hardware </a:t>
            </a:r>
            <a:r>
              <a:rPr sz="1500" spc="-15" dirty="0">
                <a:latin typeface="Times New Roman"/>
                <a:cs typeface="Times New Roman"/>
              </a:rPr>
              <a:t>maintenance and </a:t>
            </a:r>
            <a:r>
              <a:rPr sz="1500" spc="-5" dirty="0">
                <a:latin typeface="Times New Roman"/>
                <a:cs typeface="Times New Roman"/>
              </a:rPr>
              <a:t>support </a:t>
            </a:r>
            <a:r>
              <a:rPr sz="1500" spc="-10" dirty="0">
                <a:latin typeface="Times New Roman"/>
                <a:cs typeface="Times New Roman"/>
              </a:rPr>
              <a:t>software  licences? </a:t>
            </a:r>
            <a:r>
              <a:rPr sz="1500" spc="-15" dirty="0">
                <a:latin typeface="Times New Roman"/>
                <a:cs typeface="Times New Roman"/>
              </a:rPr>
              <a:t>Older </a:t>
            </a:r>
            <a:r>
              <a:rPr sz="1500" spc="-10" dirty="0">
                <a:latin typeface="Times New Roman"/>
                <a:cs typeface="Times New Roman"/>
              </a:rPr>
              <a:t>hardware </a:t>
            </a:r>
            <a:r>
              <a:rPr sz="1500" spc="-20" dirty="0">
                <a:latin typeface="Times New Roman"/>
                <a:cs typeface="Times New Roman"/>
              </a:rPr>
              <a:t>may </a:t>
            </a:r>
            <a:r>
              <a:rPr sz="1500" spc="-10" dirty="0">
                <a:latin typeface="Times New Roman"/>
                <a:cs typeface="Times New Roman"/>
              </a:rPr>
              <a:t>have </a:t>
            </a:r>
            <a:r>
              <a:rPr sz="1500" spc="-5" dirty="0">
                <a:latin typeface="Times New Roman"/>
                <a:cs typeface="Times New Roman"/>
              </a:rPr>
              <a:t>higher </a:t>
            </a:r>
            <a:r>
              <a:rPr sz="1500" spc="-15" dirty="0">
                <a:latin typeface="Times New Roman"/>
                <a:cs typeface="Times New Roman"/>
              </a:rPr>
              <a:t>maintenance </a:t>
            </a:r>
            <a:r>
              <a:rPr sz="1500" spc="-5" dirty="0">
                <a:latin typeface="Times New Roman"/>
                <a:cs typeface="Times New Roman"/>
              </a:rPr>
              <a:t>costs than  </a:t>
            </a:r>
            <a:r>
              <a:rPr sz="1500" spc="-10" dirty="0">
                <a:latin typeface="Times New Roman"/>
                <a:cs typeface="Times New Roman"/>
              </a:rPr>
              <a:t>modern systems. Support software </a:t>
            </a:r>
            <a:r>
              <a:rPr sz="1500" spc="5" dirty="0">
                <a:latin typeface="Times New Roman"/>
                <a:cs typeface="Times New Roman"/>
              </a:rPr>
              <a:t>may </a:t>
            </a:r>
            <a:r>
              <a:rPr sz="1500" spc="-25" dirty="0">
                <a:latin typeface="Times New Roman"/>
                <a:cs typeface="Times New Roman"/>
              </a:rPr>
              <a:t>have </a:t>
            </a:r>
            <a:r>
              <a:rPr sz="1500" spc="15" dirty="0">
                <a:latin typeface="Times New Roman"/>
                <a:cs typeface="Times New Roman"/>
              </a:rPr>
              <a:t>high </a:t>
            </a:r>
            <a:r>
              <a:rPr sz="1500" spc="-20" dirty="0">
                <a:latin typeface="Times New Roman"/>
                <a:cs typeface="Times New Roman"/>
              </a:rPr>
              <a:t>annual</a:t>
            </a:r>
            <a:r>
              <a:rPr sz="1500" spc="-19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licensing  </a:t>
            </a:r>
            <a:r>
              <a:rPr sz="1500" spc="-10" dirty="0">
                <a:latin typeface="Times New Roman"/>
                <a:cs typeface="Times New Roman"/>
              </a:rPr>
              <a:t>costs.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737258" y="5398388"/>
            <a:ext cx="7021830" cy="4445"/>
          </a:xfrm>
          <a:custGeom>
            <a:avLst/>
            <a:gdLst/>
            <a:ahLst/>
            <a:cxnLst/>
            <a:rect l="l" t="t" r="r" b="b"/>
            <a:pathLst>
              <a:path w="7021830" h="4445">
                <a:moveTo>
                  <a:pt x="7021449" y="0"/>
                </a:moveTo>
                <a:lnTo>
                  <a:pt x="1421511" y="0"/>
                </a:lnTo>
                <a:lnTo>
                  <a:pt x="1417612" y="0"/>
                </a:lnTo>
                <a:lnTo>
                  <a:pt x="0" y="0"/>
                </a:lnTo>
                <a:lnTo>
                  <a:pt x="0" y="4000"/>
                </a:lnTo>
                <a:lnTo>
                  <a:pt x="1417612" y="4000"/>
                </a:lnTo>
                <a:lnTo>
                  <a:pt x="1421511" y="4000"/>
                </a:lnTo>
                <a:lnTo>
                  <a:pt x="7021449" y="4000"/>
                </a:lnTo>
                <a:lnTo>
                  <a:pt x="70214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819148" y="6263195"/>
            <a:ext cx="119824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spc="-10" dirty="0">
                <a:latin typeface="Times New Roman"/>
                <a:cs typeface="Times New Roman"/>
              </a:rPr>
              <a:t>Interoperability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35666" y="6263195"/>
            <a:ext cx="5404485" cy="464871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3335" marR="5080" indent="-1270">
              <a:lnSpc>
                <a:spcPts val="1730"/>
              </a:lnSpc>
              <a:spcBef>
                <a:spcPts val="225"/>
              </a:spcBef>
            </a:pPr>
            <a:r>
              <a:rPr sz="1500" spc="-5" dirty="0">
                <a:latin typeface="Times New Roman"/>
                <a:cs typeface="Times New Roman"/>
              </a:rPr>
              <a:t>Are </a:t>
            </a:r>
            <a:r>
              <a:rPr sz="1500" dirty="0">
                <a:latin typeface="Times New Roman"/>
                <a:cs typeface="Times New Roman"/>
              </a:rPr>
              <a:t>there </a:t>
            </a:r>
            <a:r>
              <a:rPr sz="1500" spc="-10" dirty="0">
                <a:latin typeface="Times New Roman"/>
                <a:cs typeface="Times New Roman"/>
              </a:rPr>
              <a:t>problems </a:t>
            </a:r>
            <a:r>
              <a:rPr sz="1500" spc="-15" dirty="0">
                <a:latin typeface="Times New Roman"/>
                <a:cs typeface="Times New Roman"/>
              </a:rPr>
              <a:t>interfacing </a:t>
            </a:r>
            <a:r>
              <a:rPr sz="1500" spc="-10" dirty="0">
                <a:latin typeface="Times New Roman"/>
                <a:cs typeface="Times New Roman"/>
              </a:rPr>
              <a:t>the system </a:t>
            </a:r>
            <a:r>
              <a:rPr sz="1500" spc="5" dirty="0">
                <a:latin typeface="Times New Roman"/>
                <a:cs typeface="Times New Roman"/>
              </a:rPr>
              <a:t>to </a:t>
            </a:r>
            <a:r>
              <a:rPr sz="1500" spc="-10" dirty="0">
                <a:latin typeface="Times New Roman"/>
                <a:cs typeface="Times New Roman"/>
              </a:rPr>
              <a:t>other </a:t>
            </a:r>
            <a:r>
              <a:rPr sz="1500" spc="-15" dirty="0">
                <a:latin typeface="Times New Roman"/>
                <a:cs typeface="Times New Roman"/>
              </a:rPr>
              <a:t>systems? Can  </a:t>
            </a:r>
            <a:r>
              <a:rPr sz="1500" spc="-10" dirty="0">
                <a:latin typeface="Times New Roman"/>
                <a:cs typeface="Times New Roman"/>
              </a:rPr>
              <a:t>compilers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5" dirty="0">
                <a:latin typeface="Times New Roman"/>
                <a:cs typeface="Times New Roman"/>
              </a:rPr>
              <a:t>etc.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30" dirty="0">
                <a:latin typeface="Times New Roman"/>
                <a:cs typeface="Times New Roman"/>
              </a:rPr>
              <a:t>be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used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with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current </a:t>
            </a:r>
            <a:r>
              <a:rPr sz="1500" spc="-10" dirty="0">
                <a:latin typeface="Times New Roman"/>
                <a:cs typeface="Times New Roman"/>
              </a:rPr>
              <a:t>versions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of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the </a:t>
            </a:r>
            <a:r>
              <a:rPr sz="1500" spc="-5" dirty="0">
                <a:latin typeface="Times New Roman"/>
                <a:cs typeface="Times New Roman"/>
              </a:rPr>
              <a:t>operating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system?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737258" y="6288506"/>
            <a:ext cx="7021830" cy="670560"/>
          </a:xfrm>
          <a:custGeom>
            <a:avLst/>
            <a:gdLst/>
            <a:ahLst/>
            <a:cxnLst/>
            <a:rect l="l" t="t" r="r" b="b"/>
            <a:pathLst>
              <a:path w="7021830" h="670559">
                <a:moveTo>
                  <a:pt x="7021449" y="666559"/>
                </a:moveTo>
                <a:lnTo>
                  <a:pt x="1421511" y="666559"/>
                </a:lnTo>
                <a:lnTo>
                  <a:pt x="1417612" y="666559"/>
                </a:lnTo>
                <a:lnTo>
                  <a:pt x="0" y="666559"/>
                </a:lnTo>
                <a:lnTo>
                  <a:pt x="0" y="670560"/>
                </a:lnTo>
                <a:lnTo>
                  <a:pt x="1417612" y="670560"/>
                </a:lnTo>
                <a:lnTo>
                  <a:pt x="1421511" y="670560"/>
                </a:lnTo>
                <a:lnTo>
                  <a:pt x="7021449" y="670560"/>
                </a:lnTo>
                <a:lnTo>
                  <a:pt x="7021449" y="666559"/>
                </a:lnTo>
                <a:close/>
              </a:path>
              <a:path w="7021830" h="670559">
                <a:moveTo>
                  <a:pt x="7021449" y="0"/>
                </a:moveTo>
                <a:lnTo>
                  <a:pt x="1421511" y="0"/>
                </a:lnTo>
                <a:lnTo>
                  <a:pt x="1417612" y="0"/>
                </a:lnTo>
                <a:lnTo>
                  <a:pt x="0" y="0"/>
                </a:lnTo>
                <a:lnTo>
                  <a:pt x="0" y="4000"/>
                </a:lnTo>
                <a:lnTo>
                  <a:pt x="1417612" y="4000"/>
                </a:lnTo>
                <a:lnTo>
                  <a:pt x="1421511" y="4000"/>
                </a:lnTo>
                <a:lnTo>
                  <a:pt x="7021449" y="4000"/>
                </a:lnTo>
                <a:lnTo>
                  <a:pt x="70214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9025" y="479547"/>
            <a:ext cx="66179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…..Legacy system</a:t>
            </a:r>
            <a:r>
              <a:rPr spc="-20" dirty="0"/>
              <a:t> </a:t>
            </a:r>
            <a:r>
              <a:rPr spc="-5" dirty="0"/>
              <a:t>assessment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2705" y="1398527"/>
            <a:ext cx="7520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15" dirty="0">
                <a:solidFill>
                  <a:srgbClr val="A52F0F"/>
                </a:solidFill>
                <a:latin typeface="Georgia"/>
                <a:cs typeface="Georgia"/>
              </a:rPr>
              <a:t> </a:t>
            </a:r>
            <a:r>
              <a:rPr sz="2000" dirty="0">
                <a:solidFill>
                  <a:srgbClr val="3F3F3F"/>
                </a:solidFill>
                <a:latin typeface="Gothic Uralic"/>
                <a:cs typeface="Gothic Uralic"/>
              </a:rPr>
              <a:t>Factors </a:t>
            </a:r>
            <a:r>
              <a:rPr sz="2000" spc="-15" dirty="0">
                <a:solidFill>
                  <a:srgbClr val="3F3F3F"/>
                </a:solidFill>
                <a:latin typeface="Gothic Uralic"/>
                <a:cs typeface="Gothic Uralic"/>
              </a:rPr>
              <a:t>in </a:t>
            </a:r>
            <a:r>
              <a:rPr sz="2000" dirty="0">
                <a:solidFill>
                  <a:srgbClr val="3F3F3F"/>
                </a:solidFill>
                <a:latin typeface="Gothic Uralic"/>
                <a:cs typeface="Gothic Uralic"/>
              </a:rPr>
              <a:t>application software </a:t>
            </a:r>
            <a:r>
              <a:rPr sz="2000" spc="-5" dirty="0">
                <a:solidFill>
                  <a:srgbClr val="3F3F3F"/>
                </a:solidFill>
                <a:latin typeface="Gothic Uralic"/>
                <a:cs typeface="Gothic Uralic"/>
              </a:rPr>
              <a:t>assessment [Fig. </a:t>
            </a:r>
            <a:r>
              <a:rPr sz="2000" dirty="0">
                <a:solidFill>
                  <a:srgbClr val="3F3F3F"/>
                </a:solidFill>
                <a:latin typeface="Gothic Uralic"/>
                <a:cs typeface="Gothic Uralic"/>
              </a:rPr>
              <a:t>21.15</a:t>
            </a:r>
            <a:r>
              <a:rPr sz="2000" spc="-265" dirty="0">
                <a:solidFill>
                  <a:srgbClr val="3F3F3F"/>
                </a:solidFill>
                <a:latin typeface="Gothic Uralic"/>
                <a:cs typeface="Gothic Uralic"/>
              </a:rPr>
              <a:t> </a:t>
            </a:r>
            <a:r>
              <a:rPr sz="2000" dirty="0">
                <a:solidFill>
                  <a:srgbClr val="3F3F3F"/>
                </a:solidFill>
                <a:latin typeface="Gothic Uralic"/>
                <a:cs typeface="Gothic Uralic"/>
              </a:rPr>
              <a:t>SE-8]</a:t>
            </a:r>
            <a:endParaRPr sz="2000">
              <a:latin typeface="Gothic Uralic"/>
              <a:cs typeface="Gothic Ural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00200" y="1271016"/>
            <a:ext cx="7620000" cy="50800"/>
          </a:xfrm>
          <a:custGeom>
            <a:avLst/>
            <a:gdLst/>
            <a:ahLst/>
            <a:cxnLst/>
            <a:rect l="l" t="t" r="r" b="b"/>
            <a:pathLst>
              <a:path w="7620000" h="50800">
                <a:moveTo>
                  <a:pt x="7620000" y="50292"/>
                </a:moveTo>
                <a:lnTo>
                  <a:pt x="0" y="50292"/>
                </a:lnTo>
                <a:lnTo>
                  <a:pt x="0" y="0"/>
                </a:lnTo>
                <a:lnTo>
                  <a:pt x="7620000" y="0"/>
                </a:lnTo>
                <a:lnTo>
                  <a:pt x="7620000" y="502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28800" y="1905000"/>
            <a:ext cx="7086600" cy="5105400"/>
          </a:xfrm>
          <a:custGeom>
            <a:avLst/>
            <a:gdLst/>
            <a:ahLst/>
            <a:cxnLst/>
            <a:rect l="l" t="t" r="r" b="b"/>
            <a:pathLst>
              <a:path w="7086600" h="5105400">
                <a:moveTo>
                  <a:pt x="7086600" y="5105400"/>
                </a:moveTo>
                <a:lnTo>
                  <a:pt x="0" y="5105400"/>
                </a:lnTo>
                <a:lnTo>
                  <a:pt x="0" y="0"/>
                </a:lnTo>
                <a:lnTo>
                  <a:pt x="7086600" y="0"/>
                </a:lnTo>
                <a:lnTo>
                  <a:pt x="7086600" y="5105400"/>
                </a:lnTo>
                <a:close/>
              </a:path>
            </a:pathLst>
          </a:custGeom>
          <a:solidFill>
            <a:srgbClr val="FB93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51607" y="2243313"/>
            <a:ext cx="512445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b="1" spc="-15" dirty="0">
                <a:latin typeface="Times New Roman"/>
                <a:cs typeface="Times New Roman"/>
              </a:rPr>
              <a:t>F</a:t>
            </a:r>
            <a:r>
              <a:rPr sz="1450" b="1" spc="-165" dirty="0">
                <a:latin typeface="Times New Roman"/>
                <a:cs typeface="Times New Roman"/>
              </a:rPr>
              <a:t>a</a:t>
            </a:r>
            <a:r>
              <a:rPr sz="1450" b="1" dirty="0">
                <a:latin typeface="Times New Roman"/>
                <a:cs typeface="Times New Roman"/>
              </a:rPr>
              <a:t>c</a:t>
            </a:r>
            <a:r>
              <a:rPr sz="1450" b="1" spc="-95" dirty="0">
                <a:latin typeface="Times New Roman"/>
                <a:cs typeface="Times New Roman"/>
              </a:rPr>
              <a:t>t</a:t>
            </a:r>
            <a:r>
              <a:rPr sz="1450" b="1" spc="-25" dirty="0">
                <a:latin typeface="Times New Roman"/>
                <a:cs typeface="Times New Roman"/>
              </a:rPr>
              <a:t>o</a:t>
            </a:r>
            <a:r>
              <a:rPr sz="1450" b="1" dirty="0">
                <a:latin typeface="Times New Roman"/>
                <a:cs typeface="Times New Roman"/>
              </a:rPr>
              <a:t>r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18624" y="2243313"/>
            <a:ext cx="746125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b="1" spc="-55" dirty="0">
                <a:latin typeface="Times New Roman"/>
                <a:cs typeface="Times New Roman"/>
              </a:rPr>
              <a:t>Questions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80576" y="2271521"/>
            <a:ext cx="6392545" cy="3810"/>
          </a:xfrm>
          <a:custGeom>
            <a:avLst/>
            <a:gdLst/>
            <a:ahLst/>
            <a:cxnLst/>
            <a:rect l="l" t="t" r="r" b="b"/>
            <a:pathLst>
              <a:path w="6392545" h="3810">
                <a:moveTo>
                  <a:pt x="6392519" y="0"/>
                </a:moveTo>
                <a:lnTo>
                  <a:pt x="1471523" y="0"/>
                </a:lnTo>
                <a:lnTo>
                  <a:pt x="1467993" y="0"/>
                </a:lnTo>
                <a:lnTo>
                  <a:pt x="0" y="0"/>
                </a:lnTo>
                <a:lnTo>
                  <a:pt x="0" y="3810"/>
                </a:lnTo>
                <a:lnTo>
                  <a:pt x="1467993" y="3810"/>
                </a:lnTo>
                <a:lnTo>
                  <a:pt x="1471523" y="3810"/>
                </a:lnTo>
                <a:lnTo>
                  <a:pt x="6392519" y="3810"/>
                </a:lnTo>
                <a:lnTo>
                  <a:pt x="63925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51607" y="2459721"/>
            <a:ext cx="123190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105" dirty="0">
                <a:latin typeface="Times New Roman"/>
                <a:cs typeface="Times New Roman"/>
              </a:rPr>
              <a:t>U</a:t>
            </a:r>
            <a:r>
              <a:rPr sz="1450" spc="-10" dirty="0">
                <a:latin typeface="Times New Roman"/>
                <a:cs typeface="Times New Roman"/>
              </a:rPr>
              <a:t>nd</a:t>
            </a:r>
            <a:r>
              <a:rPr sz="1450" spc="-185" dirty="0">
                <a:latin typeface="Times New Roman"/>
                <a:cs typeface="Times New Roman"/>
              </a:rPr>
              <a:t>e</a:t>
            </a:r>
            <a:r>
              <a:rPr sz="1450" dirty="0">
                <a:latin typeface="Times New Roman"/>
                <a:cs typeface="Times New Roman"/>
              </a:rPr>
              <a:t>r</a:t>
            </a:r>
            <a:r>
              <a:rPr sz="1450" spc="-110" dirty="0">
                <a:latin typeface="Times New Roman"/>
                <a:cs typeface="Times New Roman"/>
              </a:rPr>
              <a:t>s</a:t>
            </a:r>
            <a:r>
              <a:rPr sz="1450" spc="-30" dirty="0">
                <a:latin typeface="Times New Roman"/>
                <a:cs typeface="Times New Roman"/>
              </a:rPr>
              <a:t>t</a:t>
            </a:r>
            <a:r>
              <a:rPr sz="1450" dirty="0">
                <a:latin typeface="Times New Roman"/>
                <a:cs typeface="Times New Roman"/>
              </a:rPr>
              <a:t>a</a:t>
            </a:r>
            <a:r>
              <a:rPr sz="1450" spc="-55" dirty="0">
                <a:latin typeface="Times New Roman"/>
                <a:cs typeface="Times New Roman"/>
              </a:rPr>
              <a:t>n</a:t>
            </a:r>
            <a:r>
              <a:rPr sz="1450" spc="-185" dirty="0">
                <a:latin typeface="Times New Roman"/>
                <a:cs typeface="Times New Roman"/>
              </a:rPr>
              <a:t>d</a:t>
            </a:r>
            <a:r>
              <a:rPr sz="1450" spc="-50" dirty="0">
                <a:latin typeface="Times New Roman"/>
                <a:cs typeface="Times New Roman"/>
              </a:rPr>
              <a:t>a</a:t>
            </a:r>
            <a:r>
              <a:rPr sz="1450" spc="-25" dirty="0">
                <a:latin typeface="Times New Roman"/>
                <a:cs typeface="Times New Roman"/>
              </a:rPr>
              <a:t>b</a:t>
            </a:r>
            <a:r>
              <a:rPr sz="1450" spc="-15" dirty="0">
                <a:latin typeface="Times New Roman"/>
                <a:cs typeface="Times New Roman"/>
              </a:rPr>
              <a:t>i</a:t>
            </a:r>
            <a:r>
              <a:rPr sz="1450" spc="-135" dirty="0">
                <a:latin typeface="Times New Roman"/>
                <a:cs typeface="Times New Roman"/>
              </a:rPr>
              <a:t>l</a:t>
            </a:r>
            <a:r>
              <a:rPr sz="1450" spc="-25" dirty="0">
                <a:latin typeface="Times New Roman"/>
                <a:cs typeface="Times New Roman"/>
              </a:rPr>
              <a:t>i</a:t>
            </a:r>
            <a:r>
              <a:rPr sz="1450" spc="-30" dirty="0">
                <a:latin typeface="Times New Roman"/>
                <a:cs typeface="Times New Roman"/>
              </a:rPr>
              <a:t>t</a:t>
            </a:r>
            <a:r>
              <a:rPr sz="1450" spc="5" dirty="0">
                <a:latin typeface="Times New Roman"/>
                <a:cs typeface="Times New Roman"/>
              </a:rPr>
              <a:t>y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04920" y="2459721"/>
            <a:ext cx="4772025" cy="45474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ct val="96600"/>
              </a:lnSpc>
              <a:spcBef>
                <a:spcPts val="170"/>
              </a:spcBef>
            </a:pPr>
            <a:r>
              <a:rPr sz="1450" spc="-40" dirty="0">
                <a:latin typeface="Times New Roman"/>
                <a:cs typeface="Times New Roman"/>
              </a:rPr>
              <a:t>How </a:t>
            </a:r>
            <a:r>
              <a:rPr sz="1450" spc="-65" dirty="0">
                <a:latin typeface="Times New Roman"/>
                <a:cs typeface="Times New Roman"/>
              </a:rPr>
              <a:t>difficult </a:t>
            </a:r>
            <a:r>
              <a:rPr sz="1450" spc="-40" dirty="0">
                <a:latin typeface="Times New Roman"/>
                <a:cs typeface="Times New Roman"/>
              </a:rPr>
              <a:t>is </a:t>
            </a:r>
            <a:r>
              <a:rPr sz="1450" spc="-25" dirty="0">
                <a:latin typeface="Times New Roman"/>
                <a:cs typeface="Times New Roman"/>
              </a:rPr>
              <a:t>it </a:t>
            </a:r>
            <a:r>
              <a:rPr sz="1450" spc="-15" dirty="0">
                <a:latin typeface="Times New Roman"/>
                <a:cs typeface="Times New Roman"/>
              </a:rPr>
              <a:t>to </a:t>
            </a:r>
            <a:r>
              <a:rPr sz="1450" spc="-60" dirty="0">
                <a:latin typeface="Times New Roman"/>
                <a:cs typeface="Times New Roman"/>
              </a:rPr>
              <a:t>understand </a:t>
            </a:r>
            <a:r>
              <a:rPr sz="1450" spc="-30" dirty="0">
                <a:latin typeface="Times New Roman"/>
                <a:cs typeface="Times New Roman"/>
              </a:rPr>
              <a:t>thesource </a:t>
            </a:r>
            <a:r>
              <a:rPr sz="1450" spc="-20" dirty="0">
                <a:latin typeface="Times New Roman"/>
                <a:cs typeface="Times New Roman"/>
              </a:rPr>
              <a:t>code </a:t>
            </a:r>
            <a:r>
              <a:rPr sz="1450" spc="-120" dirty="0">
                <a:latin typeface="Times New Roman"/>
                <a:cs typeface="Times New Roman"/>
              </a:rPr>
              <a:t>of </a:t>
            </a:r>
            <a:r>
              <a:rPr sz="1450" spc="-45" dirty="0">
                <a:latin typeface="Times New Roman"/>
                <a:cs typeface="Times New Roman"/>
              </a:rPr>
              <a:t>the </a:t>
            </a:r>
            <a:r>
              <a:rPr sz="1450" spc="-60" dirty="0">
                <a:latin typeface="Times New Roman"/>
                <a:cs typeface="Times New Roman"/>
              </a:rPr>
              <a:t>current</a:t>
            </a:r>
            <a:r>
              <a:rPr sz="1450" spc="-250" dirty="0">
                <a:latin typeface="Times New Roman"/>
                <a:cs typeface="Times New Roman"/>
              </a:rPr>
              <a:t> </a:t>
            </a:r>
            <a:r>
              <a:rPr sz="1450" spc="-50" dirty="0">
                <a:latin typeface="Times New Roman"/>
                <a:cs typeface="Times New Roman"/>
              </a:rPr>
              <a:t>system? </a:t>
            </a:r>
            <a:r>
              <a:rPr sz="1450" spc="-20" dirty="0">
                <a:latin typeface="Times New Roman"/>
                <a:cs typeface="Times New Roman"/>
              </a:rPr>
              <a:t>Do </a:t>
            </a:r>
            <a:r>
              <a:rPr sz="1450" spc="-70" dirty="0">
                <a:latin typeface="Times New Roman"/>
                <a:cs typeface="Times New Roman"/>
              </a:rPr>
              <a:t>variables  </a:t>
            </a:r>
            <a:r>
              <a:rPr sz="1450" spc="-55" dirty="0">
                <a:latin typeface="Times New Roman"/>
                <a:cs typeface="Times New Roman"/>
              </a:rPr>
              <a:t>have </a:t>
            </a:r>
            <a:r>
              <a:rPr sz="1450" spc="-60" dirty="0">
                <a:latin typeface="Times New Roman"/>
                <a:cs typeface="Times New Roman"/>
              </a:rPr>
              <a:t>meaningful </a:t>
            </a:r>
            <a:r>
              <a:rPr sz="1450" spc="-80" dirty="0">
                <a:latin typeface="Times New Roman"/>
                <a:cs typeface="Times New Roman"/>
              </a:rPr>
              <a:t>names </a:t>
            </a:r>
            <a:r>
              <a:rPr sz="1450" spc="-50" dirty="0">
                <a:latin typeface="Times New Roman"/>
                <a:cs typeface="Times New Roman"/>
              </a:rPr>
              <a:t>that reflect </a:t>
            </a:r>
            <a:r>
              <a:rPr sz="1450" spc="-45" dirty="0">
                <a:latin typeface="Times New Roman"/>
                <a:cs typeface="Times New Roman"/>
              </a:rPr>
              <a:t>their</a:t>
            </a:r>
            <a:r>
              <a:rPr sz="1450" spc="-100" dirty="0">
                <a:latin typeface="Times New Roman"/>
                <a:cs typeface="Times New Roman"/>
              </a:rPr>
              <a:t> </a:t>
            </a:r>
            <a:r>
              <a:rPr sz="1450" spc="-65" dirty="0">
                <a:latin typeface="Times New Roman"/>
                <a:cs typeface="Times New Roman"/>
              </a:rPr>
              <a:t>function?</a:t>
            </a:r>
            <a:endParaRPr sz="145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80576" y="2487459"/>
            <a:ext cx="6392545" cy="3810"/>
          </a:xfrm>
          <a:custGeom>
            <a:avLst/>
            <a:gdLst/>
            <a:ahLst/>
            <a:cxnLst/>
            <a:rect l="l" t="t" r="r" b="b"/>
            <a:pathLst>
              <a:path w="6392545" h="3810">
                <a:moveTo>
                  <a:pt x="6392519" y="0"/>
                </a:moveTo>
                <a:lnTo>
                  <a:pt x="6392519" y="0"/>
                </a:lnTo>
                <a:lnTo>
                  <a:pt x="0" y="0"/>
                </a:lnTo>
                <a:lnTo>
                  <a:pt x="0" y="3810"/>
                </a:lnTo>
                <a:lnTo>
                  <a:pt x="6392519" y="3810"/>
                </a:lnTo>
                <a:lnTo>
                  <a:pt x="63925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451607" y="3102849"/>
            <a:ext cx="107315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60" dirty="0">
                <a:latin typeface="Times New Roman"/>
                <a:cs typeface="Times New Roman"/>
              </a:rPr>
              <a:t>Documentation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80576" y="3131349"/>
            <a:ext cx="6392545" cy="4445"/>
          </a:xfrm>
          <a:custGeom>
            <a:avLst/>
            <a:gdLst/>
            <a:ahLst/>
            <a:cxnLst/>
            <a:rect l="l" t="t" r="r" b="b"/>
            <a:pathLst>
              <a:path w="6392545" h="4444">
                <a:moveTo>
                  <a:pt x="6392519" y="0"/>
                </a:moveTo>
                <a:lnTo>
                  <a:pt x="1360462" y="0"/>
                </a:lnTo>
                <a:lnTo>
                  <a:pt x="1356931" y="0"/>
                </a:lnTo>
                <a:lnTo>
                  <a:pt x="0" y="0"/>
                </a:lnTo>
                <a:lnTo>
                  <a:pt x="0" y="3898"/>
                </a:lnTo>
                <a:lnTo>
                  <a:pt x="1356931" y="3898"/>
                </a:lnTo>
                <a:lnTo>
                  <a:pt x="1360462" y="3898"/>
                </a:lnTo>
                <a:lnTo>
                  <a:pt x="6392519" y="3898"/>
                </a:lnTo>
                <a:lnTo>
                  <a:pt x="63925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451607" y="3534141"/>
            <a:ext cx="347345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105" dirty="0">
                <a:latin typeface="Times New Roman"/>
                <a:cs typeface="Times New Roman"/>
              </a:rPr>
              <a:t>D</a:t>
            </a:r>
            <a:r>
              <a:rPr sz="1450" dirty="0">
                <a:latin typeface="Times New Roman"/>
                <a:cs typeface="Times New Roman"/>
              </a:rPr>
              <a:t>a</a:t>
            </a:r>
            <a:r>
              <a:rPr sz="1450" spc="-120" dirty="0">
                <a:latin typeface="Times New Roman"/>
                <a:cs typeface="Times New Roman"/>
              </a:rPr>
              <a:t>t</a:t>
            </a:r>
            <a:r>
              <a:rPr sz="1450" dirty="0">
                <a:latin typeface="Times New Roman"/>
                <a:cs typeface="Times New Roman"/>
              </a:rPr>
              <a:t>a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04708" y="3102849"/>
            <a:ext cx="4662170" cy="6794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415925" indent="-635">
              <a:lnSpc>
                <a:spcPts val="1700"/>
              </a:lnSpc>
              <a:spcBef>
                <a:spcPts val="200"/>
              </a:spcBef>
            </a:pPr>
            <a:r>
              <a:rPr sz="1450" spc="-65" dirty="0">
                <a:latin typeface="Times New Roman"/>
                <a:cs typeface="Times New Roman"/>
              </a:rPr>
              <a:t>What </a:t>
            </a:r>
            <a:r>
              <a:rPr sz="1450" spc="-40" dirty="0">
                <a:latin typeface="Times New Roman"/>
                <a:cs typeface="Times New Roman"/>
              </a:rPr>
              <a:t>system </a:t>
            </a:r>
            <a:r>
              <a:rPr sz="1450" spc="-70" dirty="0">
                <a:latin typeface="Times New Roman"/>
                <a:cs typeface="Times New Roman"/>
              </a:rPr>
              <a:t>documentation </a:t>
            </a:r>
            <a:r>
              <a:rPr sz="1450" spc="-85" dirty="0">
                <a:latin typeface="Times New Roman"/>
                <a:cs typeface="Times New Roman"/>
              </a:rPr>
              <a:t>is </a:t>
            </a:r>
            <a:r>
              <a:rPr sz="1450" spc="-55" dirty="0">
                <a:latin typeface="Times New Roman"/>
                <a:cs typeface="Times New Roman"/>
              </a:rPr>
              <a:t>available? </a:t>
            </a:r>
            <a:r>
              <a:rPr sz="1450" dirty="0">
                <a:latin typeface="Times New Roman"/>
                <a:cs typeface="Times New Roman"/>
              </a:rPr>
              <a:t>Is </a:t>
            </a:r>
            <a:r>
              <a:rPr sz="1450" spc="-15" dirty="0">
                <a:latin typeface="Times New Roman"/>
                <a:cs typeface="Times New Roman"/>
              </a:rPr>
              <a:t>the</a:t>
            </a:r>
            <a:r>
              <a:rPr sz="1450" spc="-229" dirty="0">
                <a:latin typeface="Times New Roman"/>
                <a:cs typeface="Times New Roman"/>
              </a:rPr>
              <a:t> </a:t>
            </a:r>
            <a:r>
              <a:rPr sz="1450" spc="-65" dirty="0">
                <a:latin typeface="Times New Roman"/>
                <a:cs typeface="Times New Roman"/>
              </a:rPr>
              <a:t>documentation  </a:t>
            </a:r>
            <a:r>
              <a:rPr sz="1450" spc="-55" dirty="0">
                <a:latin typeface="Times New Roman"/>
                <a:cs typeface="Times New Roman"/>
              </a:rPr>
              <a:t>complete, consistent </a:t>
            </a:r>
            <a:r>
              <a:rPr sz="1450" spc="-15" dirty="0">
                <a:latin typeface="Times New Roman"/>
                <a:cs typeface="Times New Roman"/>
              </a:rPr>
              <a:t>and</a:t>
            </a:r>
            <a:r>
              <a:rPr sz="1450" spc="-85" dirty="0">
                <a:latin typeface="Times New Roman"/>
                <a:cs typeface="Times New Roman"/>
              </a:rPr>
              <a:t> </a:t>
            </a:r>
            <a:r>
              <a:rPr sz="1450" spc="-75" dirty="0">
                <a:latin typeface="Times New Roman"/>
                <a:cs typeface="Times New Roman"/>
              </a:rPr>
              <a:t>up-to-date?</a:t>
            </a:r>
            <a:endParaRPr sz="1450" dirty="0">
              <a:latin typeface="Times New Roman"/>
              <a:cs typeface="Times New Roman"/>
            </a:endParaRPr>
          </a:p>
          <a:p>
            <a:pPr marL="53975">
              <a:lnSpc>
                <a:spcPts val="1645"/>
              </a:lnSpc>
            </a:pPr>
            <a:r>
              <a:rPr sz="1450" dirty="0">
                <a:latin typeface="Times New Roman"/>
                <a:cs typeface="Times New Roman"/>
              </a:rPr>
              <a:t>Is</a:t>
            </a:r>
            <a:r>
              <a:rPr sz="1450" spc="-140" dirty="0">
                <a:latin typeface="Times New Roman"/>
                <a:cs typeface="Times New Roman"/>
              </a:rPr>
              <a:t> </a:t>
            </a:r>
            <a:r>
              <a:rPr sz="1450" spc="-40" dirty="0">
                <a:latin typeface="Times New Roman"/>
                <a:cs typeface="Times New Roman"/>
              </a:rPr>
              <a:t>there</a:t>
            </a:r>
            <a:r>
              <a:rPr sz="1450" spc="-1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an</a:t>
            </a:r>
            <a:r>
              <a:rPr sz="1450" spc="-70" dirty="0">
                <a:latin typeface="Times New Roman"/>
                <a:cs typeface="Times New Roman"/>
              </a:rPr>
              <a:t> </a:t>
            </a:r>
            <a:r>
              <a:rPr sz="1450" spc="-65" dirty="0">
                <a:latin typeface="Times New Roman"/>
                <a:cs typeface="Times New Roman"/>
              </a:rPr>
              <a:t>clear</a:t>
            </a:r>
            <a:r>
              <a:rPr sz="1450" spc="-70" dirty="0">
                <a:latin typeface="Times New Roman"/>
                <a:cs typeface="Times New Roman"/>
              </a:rPr>
              <a:t> </a:t>
            </a:r>
            <a:r>
              <a:rPr sz="1450" spc="-55" dirty="0">
                <a:latin typeface="Times New Roman"/>
                <a:cs typeface="Times New Roman"/>
              </a:rPr>
              <a:t>data</a:t>
            </a:r>
            <a:r>
              <a:rPr sz="1450" spc="-70" dirty="0">
                <a:latin typeface="Times New Roman"/>
                <a:cs typeface="Times New Roman"/>
              </a:rPr>
              <a:t> model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spc="-60" dirty="0">
                <a:latin typeface="Times New Roman"/>
                <a:cs typeface="Times New Roman"/>
              </a:rPr>
              <a:t>for</a:t>
            </a:r>
            <a:r>
              <a:rPr sz="1450" spc="-90" dirty="0">
                <a:latin typeface="Times New Roman"/>
                <a:cs typeface="Times New Roman"/>
              </a:rPr>
              <a:t> </a:t>
            </a:r>
            <a:r>
              <a:rPr sz="1450" spc="-15" dirty="0">
                <a:latin typeface="Times New Roman"/>
                <a:cs typeface="Times New Roman"/>
              </a:rPr>
              <a:t>the</a:t>
            </a:r>
            <a:r>
              <a:rPr sz="1450" spc="-180" dirty="0">
                <a:latin typeface="Times New Roman"/>
                <a:cs typeface="Times New Roman"/>
              </a:rPr>
              <a:t> </a:t>
            </a:r>
            <a:r>
              <a:rPr sz="1450" spc="-55" dirty="0">
                <a:latin typeface="Times New Roman"/>
                <a:cs typeface="Times New Roman"/>
              </a:rPr>
              <a:t>system?</a:t>
            </a:r>
            <a:r>
              <a:rPr sz="1450" spc="-30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Times New Roman"/>
                <a:cs typeface="Times New Roman"/>
              </a:rPr>
              <a:t>Towhat</a:t>
            </a:r>
            <a:r>
              <a:rPr sz="1450" spc="-65" dirty="0">
                <a:latin typeface="Times New Roman"/>
                <a:cs typeface="Times New Roman"/>
              </a:rPr>
              <a:t> </a:t>
            </a:r>
            <a:r>
              <a:rPr sz="1450" spc="-45" dirty="0">
                <a:latin typeface="Times New Roman"/>
                <a:cs typeface="Times New Roman"/>
              </a:rPr>
              <a:t>extent</a:t>
            </a:r>
            <a:r>
              <a:rPr sz="1450" spc="-50" dirty="0">
                <a:latin typeface="Times New Roman"/>
                <a:cs typeface="Times New Roman"/>
              </a:rPr>
              <a:t> </a:t>
            </a:r>
            <a:r>
              <a:rPr sz="1450" spc="-65" dirty="0">
                <a:latin typeface="Times New Roman"/>
                <a:cs typeface="Times New Roman"/>
              </a:rPr>
              <a:t>is</a:t>
            </a:r>
            <a:r>
              <a:rPr sz="1450" spc="-90" dirty="0">
                <a:latin typeface="Times New Roman"/>
                <a:cs typeface="Times New Roman"/>
              </a:rPr>
              <a:t> </a:t>
            </a:r>
            <a:r>
              <a:rPr sz="1450" spc="-40" dirty="0">
                <a:latin typeface="Times New Roman"/>
                <a:cs typeface="Times New Roman"/>
              </a:rPr>
              <a:t>data</a:t>
            </a:r>
            <a:endParaRPr sz="145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04920" y="3750549"/>
            <a:ext cx="4675505" cy="46037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1670"/>
              </a:lnSpc>
              <a:spcBef>
                <a:spcPts val="225"/>
              </a:spcBef>
            </a:pPr>
            <a:r>
              <a:rPr sz="1450" spc="-50" dirty="0">
                <a:latin typeface="Times New Roman"/>
                <a:cs typeface="Times New Roman"/>
              </a:rPr>
              <a:t>duplicated</a:t>
            </a:r>
            <a:r>
              <a:rPr sz="1450" spc="-60" dirty="0">
                <a:latin typeface="Times New Roman"/>
                <a:cs typeface="Times New Roman"/>
              </a:rPr>
              <a:t> </a:t>
            </a:r>
            <a:r>
              <a:rPr sz="1450" spc="-5" dirty="0">
                <a:latin typeface="Times New Roman"/>
                <a:cs typeface="Times New Roman"/>
              </a:rPr>
              <a:t>in</a:t>
            </a:r>
            <a:r>
              <a:rPr sz="1450" spc="-70" dirty="0">
                <a:latin typeface="Times New Roman"/>
                <a:cs typeface="Times New Roman"/>
              </a:rPr>
              <a:t> </a:t>
            </a:r>
            <a:r>
              <a:rPr sz="1450" spc="-60" dirty="0">
                <a:latin typeface="Times New Roman"/>
                <a:cs typeface="Times New Roman"/>
              </a:rPr>
              <a:t>different</a:t>
            </a:r>
            <a:r>
              <a:rPr sz="1450" spc="-190" dirty="0">
                <a:latin typeface="Times New Roman"/>
                <a:cs typeface="Times New Roman"/>
              </a:rPr>
              <a:t> </a:t>
            </a:r>
            <a:r>
              <a:rPr sz="1450" spc="-40" dirty="0">
                <a:latin typeface="Times New Roman"/>
                <a:cs typeface="Times New Roman"/>
              </a:rPr>
              <a:t>files?</a:t>
            </a:r>
            <a:r>
              <a:rPr sz="1450" spc="-1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Is</a:t>
            </a:r>
            <a:r>
              <a:rPr sz="1450" spc="-135" dirty="0">
                <a:latin typeface="Times New Roman"/>
                <a:cs typeface="Times New Roman"/>
              </a:rPr>
              <a:t> </a:t>
            </a:r>
            <a:r>
              <a:rPr sz="1450" spc="-40" dirty="0">
                <a:latin typeface="Times New Roman"/>
                <a:cs typeface="Times New Roman"/>
              </a:rPr>
              <a:t>the</a:t>
            </a:r>
            <a:r>
              <a:rPr sz="1450" spc="-85" dirty="0">
                <a:latin typeface="Times New Roman"/>
                <a:cs typeface="Times New Roman"/>
              </a:rPr>
              <a:t> </a:t>
            </a:r>
            <a:r>
              <a:rPr sz="1450" spc="-50" dirty="0">
                <a:latin typeface="Times New Roman"/>
                <a:cs typeface="Times New Roman"/>
              </a:rPr>
              <a:t>data</a:t>
            </a:r>
            <a:r>
              <a:rPr sz="1450" spc="-75" dirty="0">
                <a:latin typeface="Times New Roman"/>
                <a:cs typeface="Times New Roman"/>
              </a:rPr>
              <a:t> </a:t>
            </a:r>
            <a:r>
              <a:rPr sz="1450" spc="-50" dirty="0">
                <a:latin typeface="Times New Roman"/>
                <a:cs typeface="Times New Roman"/>
              </a:rPr>
              <a:t>used</a:t>
            </a:r>
            <a:r>
              <a:rPr sz="1450" spc="-4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by</a:t>
            </a:r>
            <a:r>
              <a:rPr sz="1450" spc="-55" dirty="0">
                <a:latin typeface="Times New Roman"/>
                <a:cs typeface="Times New Roman"/>
              </a:rPr>
              <a:t> </a:t>
            </a:r>
            <a:r>
              <a:rPr sz="1450" spc="-35" dirty="0">
                <a:latin typeface="Times New Roman"/>
                <a:cs typeface="Times New Roman"/>
              </a:rPr>
              <a:t>thesystem</a:t>
            </a:r>
            <a:r>
              <a:rPr sz="1450" spc="-130" dirty="0">
                <a:latin typeface="Times New Roman"/>
                <a:cs typeface="Times New Roman"/>
              </a:rPr>
              <a:t> </a:t>
            </a:r>
            <a:r>
              <a:rPr sz="1450" spc="-55" dirty="0">
                <a:latin typeface="Times New Roman"/>
                <a:cs typeface="Times New Roman"/>
              </a:rPr>
              <a:t>up-to-date  </a:t>
            </a:r>
            <a:r>
              <a:rPr sz="1450" spc="-15" dirty="0">
                <a:latin typeface="Times New Roman"/>
                <a:cs typeface="Times New Roman"/>
              </a:rPr>
              <a:t>and</a:t>
            </a:r>
            <a:r>
              <a:rPr sz="1450" spc="-220" dirty="0">
                <a:latin typeface="Times New Roman"/>
                <a:cs typeface="Times New Roman"/>
              </a:rPr>
              <a:t> </a:t>
            </a:r>
            <a:r>
              <a:rPr sz="1450" spc="-55" dirty="0">
                <a:latin typeface="Times New Roman"/>
                <a:cs typeface="Times New Roman"/>
              </a:rPr>
              <a:t>consistent?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80576" y="3563213"/>
            <a:ext cx="6392545" cy="4445"/>
          </a:xfrm>
          <a:custGeom>
            <a:avLst/>
            <a:gdLst/>
            <a:ahLst/>
            <a:cxnLst/>
            <a:rect l="l" t="t" r="r" b="b"/>
            <a:pathLst>
              <a:path w="6392545" h="4445">
                <a:moveTo>
                  <a:pt x="6392519" y="0"/>
                </a:moveTo>
                <a:lnTo>
                  <a:pt x="1360462" y="0"/>
                </a:lnTo>
                <a:lnTo>
                  <a:pt x="1356931" y="0"/>
                </a:lnTo>
                <a:lnTo>
                  <a:pt x="0" y="0"/>
                </a:lnTo>
                <a:lnTo>
                  <a:pt x="0" y="3898"/>
                </a:lnTo>
                <a:lnTo>
                  <a:pt x="1356931" y="3898"/>
                </a:lnTo>
                <a:lnTo>
                  <a:pt x="1360462" y="3898"/>
                </a:lnTo>
                <a:lnTo>
                  <a:pt x="6392519" y="3898"/>
                </a:lnTo>
                <a:lnTo>
                  <a:pt x="63925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451607" y="4178793"/>
            <a:ext cx="89916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55" dirty="0">
                <a:latin typeface="Times New Roman"/>
                <a:cs typeface="Times New Roman"/>
              </a:rPr>
              <a:t>Performance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04920" y="4178793"/>
            <a:ext cx="4324985" cy="46482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1700"/>
              </a:lnSpc>
              <a:spcBef>
                <a:spcPts val="200"/>
              </a:spcBef>
            </a:pPr>
            <a:r>
              <a:rPr sz="1450" dirty="0">
                <a:latin typeface="Times New Roman"/>
                <a:cs typeface="Times New Roman"/>
              </a:rPr>
              <a:t>Is</a:t>
            </a:r>
            <a:r>
              <a:rPr sz="1450" spc="-140" dirty="0">
                <a:latin typeface="Times New Roman"/>
                <a:cs typeface="Times New Roman"/>
              </a:rPr>
              <a:t> </a:t>
            </a:r>
            <a:r>
              <a:rPr sz="1450" spc="-15" dirty="0">
                <a:latin typeface="Times New Roman"/>
                <a:cs typeface="Times New Roman"/>
              </a:rPr>
              <a:t>the</a:t>
            </a:r>
            <a:r>
              <a:rPr sz="1450" spc="-50" dirty="0">
                <a:latin typeface="Times New Roman"/>
                <a:cs typeface="Times New Roman"/>
              </a:rPr>
              <a:t> </a:t>
            </a:r>
            <a:r>
              <a:rPr sz="1450" spc="-75" dirty="0">
                <a:latin typeface="Times New Roman"/>
                <a:cs typeface="Times New Roman"/>
              </a:rPr>
              <a:t>performance</a:t>
            </a:r>
            <a:r>
              <a:rPr sz="1450" spc="-45" dirty="0">
                <a:latin typeface="Times New Roman"/>
                <a:cs typeface="Times New Roman"/>
              </a:rPr>
              <a:t> </a:t>
            </a:r>
            <a:r>
              <a:rPr sz="1450" spc="-65" dirty="0">
                <a:latin typeface="Times New Roman"/>
                <a:cs typeface="Times New Roman"/>
              </a:rPr>
              <a:t>of</a:t>
            </a:r>
            <a:r>
              <a:rPr sz="1450" spc="-95" dirty="0">
                <a:latin typeface="Times New Roman"/>
                <a:cs typeface="Times New Roman"/>
              </a:rPr>
              <a:t> </a:t>
            </a:r>
            <a:r>
              <a:rPr sz="1450" spc="-15" dirty="0">
                <a:latin typeface="Times New Roman"/>
                <a:cs typeface="Times New Roman"/>
              </a:rPr>
              <a:t>the</a:t>
            </a:r>
            <a:r>
              <a:rPr sz="1450" spc="-190" dirty="0">
                <a:latin typeface="Times New Roman"/>
                <a:cs typeface="Times New Roman"/>
              </a:rPr>
              <a:t> </a:t>
            </a:r>
            <a:r>
              <a:rPr sz="1450" spc="-45" dirty="0">
                <a:latin typeface="Times New Roman"/>
                <a:cs typeface="Times New Roman"/>
              </a:rPr>
              <a:t>application</a:t>
            </a:r>
            <a:r>
              <a:rPr sz="1450" spc="-40" dirty="0">
                <a:latin typeface="Times New Roman"/>
                <a:cs typeface="Times New Roman"/>
              </a:rPr>
              <a:t> </a:t>
            </a:r>
            <a:r>
              <a:rPr sz="1450" spc="-70" dirty="0">
                <a:latin typeface="Times New Roman"/>
                <a:cs typeface="Times New Roman"/>
              </a:rPr>
              <a:t>adequate?</a:t>
            </a:r>
            <a:r>
              <a:rPr sz="1450" spc="-90" dirty="0">
                <a:latin typeface="Times New Roman"/>
                <a:cs typeface="Times New Roman"/>
              </a:rPr>
              <a:t> </a:t>
            </a:r>
            <a:r>
              <a:rPr sz="1450" spc="-20" dirty="0">
                <a:latin typeface="Times New Roman"/>
                <a:cs typeface="Times New Roman"/>
              </a:rPr>
              <a:t>Do</a:t>
            </a:r>
            <a:r>
              <a:rPr sz="1450" spc="-45" dirty="0">
                <a:latin typeface="Times New Roman"/>
                <a:cs typeface="Times New Roman"/>
              </a:rPr>
              <a:t> </a:t>
            </a:r>
            <a:r>
              <a:rPr sz="1450" spc="-75" dirty="0">
                <a:latin typeface="Times New Roman"/>
                <a:cs typeface="Times New Roman"/>
              </a:rPr>
              <a:t>performance  </a:t>
            </a:r>
            <a:r>
              <a:rPr sz="1450" spc="-60" dirty="0">
                <a:latin typeface="Times New Roman"/>
                <a:cs typeface="Times New Roman"/>
              </a:rPr>
              <a:t>problems </a:t>
            </a:r>
            <a:r>
              <a:rPr sz="1450" spc="5" dirty="0">
                <a:latin typeface="Times New Roman"/>
                <a:cs typeface="Times New Roman"/>
              </a:rPr>
              <a:t>havea </a:t>
            </a:r>
            <a:r>
              <a:rPr sz="1450" spc="-45" dirty="0">
                <a:latin typeface="Times New Roman"/>
                <a:cs typeface="Times New Roman"/>
              </a:rPr>
              <a:t>significant </a:t>
            </a:r>
            <a:r>
              <a:rPr sz="1450" spc="-60" dirty="0">
                <a:latin typeface="Times New Roman"/>
                <a:cs typeface="Times New Roman"/>
              </a:rPr>
              <a:t>effect </a:t>
            </a:r>
            <a:r>
              <a:rPr sz="1450" spc="-25" dirty="0">
                <a:latin typeface="Times New Roman"/>
                <a:cs typeface="Times New Roman"/>
              </a:rPr>
              <a:t>onsystem</a:t>
            </a:r>
            <a:r>
              <a:rPr sz="1450" spc="-295" dirty="0">
                <a:latin typeface="Times New Roman"/>
                <a:cs typeface="Times New Roman"/>
              </a:rPr>
              <a:t> </a:t>
            </a:r>
            <a:r>
              <a:rPr sz="1450" spc="-50" dirty="0">
                <a:latin typeface="Times New Roman"/>
                <a:cs typeface="Times New Roman"/>
              </a:rPr>
              <a:t>users?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380576" y="4207192"/>
            <a:ext cx="6392545" cy="3810"/>
          </a:xfrm>
          <a:custGeom>
            <a:avLst/>
            <a:gdLst/>
            <a:ahLst/>
            <a:cxnLst/>
            <a:rect l="l" t="t" r="r" b="b"/>
            <a:pathLst>
              <a:path w="6392545" h="3810">
                <a:moveTo>
                  <a:pt x="6392519" y="0"/>
                </a:moveTo>
                <a:lnTo>
                  <a:pt x="1360462" y="0"/>
                </a:lnTo>
                <a:lnTo>
                  <a:pt x="1356931" y="0"/>
                </a:lnTo>
                <a:lnTo>
                  <a:pt x="0" y="0"/>
                </a:lnTo>
                <a:lnTo>
                  <a:pt x="0" y="3810"/>
                </a:lnTo>
                <a:lnTo>
                  <a:pt x="1356931" y="3810"/>
                </a:lnTo>
                <a:lnTo>
                  <a:pt x="1360462" y="3810"/>
                </a:lnTo>
                <a:lnTo>
                  <a:pt x="6392519" y="3810"/>
                </a:lnTo>
                <a:lnTo>
                  <a:pt x="63925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451607" y="4610085"/>
            <a:ext cx="961390" cy="46482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1700"/>
              </a:lnSpc>
              <a:spcBef>
                <a:spcPts val="200"/>
              </a:spcBef>
            </a:pPr>
            <a:r>
              <a:rPr sz="1450" spc="-5" dirty="0">
                <a:latin typeface="Times New Roman"/>
                <a:cs typeface="Times New Roman"/>
              </a:rPr>
              <a:t>P</a:t>
            </a:r>
            <a:r>
              <a:rPr sz="1450" spc="-110" dirty="0">
                <a:latin typeface="Times New Roman"/>
                <a:cs typeface="Times New Roman"/>
              </a:rPr>
              <a:t>r</a:t>
            </a:r>
            <a:r>
              <a:rPr sz="1450" spc="5" dirty="0">
                <a:latin typeface="Times New Roman"/>
                <a:cs typeface="Times New Roman"/>
              </a:rPr>
              <a:t>o</a:t>
            </a:r>
            <a:r>
              <a:rPr sz="1450" spc="-160" dirty="0">
                <a:latin typeface="Times New Roman"/>
                <a:cs typeface="Times New Roman"/>
              </a:rPr>
              <a:t>g</a:t>
            </a:r>
            <a:r>
              <a:rPr sz="1450" spc="-55" dirty="0">
                <a:latin typeface="Times New Roman"/>
                <a:cs typeface="Times New Roman"/>
              </a:rPr>
              <a:t>r</a:t>
            </a:r>
            <a:r>
              <a:rPr sz="1450" dirty="0">
                <a:latin typeface="Times New Roman"/>
                <a:cs typeface="Times New Roman"/>
              </a:rPr>
              <a:t>a</a:t>
            </a:r>
            <a:r>
              <a:rPr sz="1450" spc="-195" dirty="0">
                <a:latin typeface="Times New Roman"/>
                <a:cs typeface="Times New Roman"/>
              </a:rPr>
              <a:t>m</a:t>
            </a:r>
            <a:r>
              <a:rPr sz="1450" spc="-90" dirty="0">
                <a:latin typeface="Times New Roman"/>
                <a:cs typeface="Times New Roman"/>
              </a:rPr>
              <a:t>m</a:t>
            </a:r>
            <a:r>
              <a:rPr sz="1450" spc="-30" dirty="0">
                <a:latin typeface="Times New Roman"/>
                <a:cs typeface="Times New Roman"/>
              </a:rPr>
              <a:t>i</a:t>
            </a:r>
            <a:r>
              <a:rPr sz="1450" spc="-10" dirty="0">
                <a:latin typeface="Times New Roman"/>
                <a:cs typeface="Times New Roman"/>
              </a:rPr>
              <a:t>n</a:t>
            </a:r>
            <a:r>
              <a:rPr sz="1450" dirty="0">
                <a:latin typeface="Times New Roman"/>
                <a:cs typeface="Times New Roman"/>
              </a:rPr>
              <a:t>g  </a:t>
            </a:r>
            <a:r>
              <a:rPr sz="1450" spc="-25" dirty="0">
                <a:latin typeface="Times New Roman"/>
                <a:cs typeface="Times New Roman"/>
              </a:rPr>
              <a:t>language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04920" y="4610085"/>
            <a:ext cx="4767580" cy="67627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>
              <a:lnSpc>
                <a:spcPct val="96900"/>
              </a:lnSpc>
              <a:spcBef>
                <a:spcPts val="165"/>
              </a:spcBef>
            </a:pPr>
            <a:r>
              <a:rPr sz="1450" spc="-45" dirty="0">
                <a:latin typeface="Times New Roman"/>
                <a:cs typeface="Times New Roman"/>
              </a:rPr>
              <a:t>Are </a:t>
            </a:r>
            <a:r>
              <a:rPr sz="1450" spc="-70" dirty="0">
                <a:latin typeface="Times New Roman"/>
                <a:cs typeface="Times New Roman"/>
              </a:rPr>
              <a:t>modern </a:t>
            </a:r>
            <a:r>
              <a:rPr sz="1450" spc="-60" dirty="0">
                <a:latin typeface="Times New Roman"/>
                <a:cs typeface="Times New Roman"/>
              </a:rPr>
              <a:t>compilers </a:t>
            </a:r>
            <a:r>
              <a:rPr sz="1450" spc="-55" dirty="0">
                <a:latin typeface="Times New Roman"/>
                <a:cs typeface="Times New Roman"/>
              </a:rPr>
              <a:t>available </a:t>
            </a:r>
            <a:r>
              <a:rPr sz="1450" spc="-40" dirty="0">
                <a:latin typeface="Times New Roman"/>
                <a:cs typeface="Times New Roman"/>
              </a:rPr>
              <a:t>for the</a:t>
            </a:r>
            <a:r>
              <a:rPr sz="1450" spc="-270" dirty="0">
                <a:latin typeface="Times New Roman"/>
                <a:cs typeface="Times New Roman"/>
              </a:rPr>
              <a:t> </a:t>
            </a:r>
            <a:r>
              <a:rPr sz="1450" spc="-60" dirty="0">
                <a:latin typeface="Times New Roman"/>
                <a:cs typeface="Times New Roman"/>
              </a:rPr>
              <a:t>programming </a:t>
            </a:r>
            <a:r>
              <a:rPr sz="1450" spc="-45" dirty="0">
                <a:latin typeface="Times New Roman"/>
                <a:cs typeface="Times New Roman"/>
              </a:rPr>
              <a:t>language </a:t>
            </a:r>
            <a:r>
              <a:rPr sz="1450" spc="-114" dirty="0">
                <a:latin typeface="Times New Roman"/>
                <a:cs typeface="Times New Roman"/>
              </a:rPr>
              <a:t>used </a:t>
            </a:r>
            <a:r>
              <a:rPr sz="1450" spc="-15" dirty="0">
                <a:latin typeface="Times New Roman"/>
                <a:cs typeface="Times New Roman"/>
              </a:rPr>
              <a:t>to  </a:t>
            </a:r>
            <a:r>
              <a:rPr sz="1450" spc="-45" dirty="0">
                <a:latin typeface="Times New Roman"/>
                <a:cs typeface="Times New Roman"/>
              </a:rPr>
              <a:t>develop </a:t>
            </a:r>
            <a:r>
              <a:rPr sz="1450" spc="-85" dirty="0">
                <a:latin typeface="Times New Roman"/>
                <a:cs typeface="Times New Roman"/>
              </a:rPr>
              <a:t>the </a:t>
            </a:r>
            <a:r>
              <a:rPr sz="1450" spc="-50" dirty="0">
                <a:latin typeface="Times New Roman"/>
                <a:cs typeface="Times New Roman"/>
              </a:rPr>
              <a:t>system? </a:t>
            </a:r>
            <a:r>
              <a:rPr sz="1450" dirty="0">
                <a:latin typeface="Times New Roman"/>
                <a:cs typeface="Times New Roman"/>
              </a:rPr>
              <a:t>Is </a:t>
            </a:r>
            <a:r>
              <a:rPr sz="1450" spc="-45" dirty="0">
                <a:latin typeface="Times New Roman"/>
                <a:cs typeface="Times New Roman"/>
              </a:rPr>
              <a:t>the </a:t>
            </a:r>
            <a:r>
              <a:rPr sz="1450" spc="-65" dirty="0">
                <a:latin typeface="Times New Roman"/>
                <a:cs typeface="Times New Roman"/>
              </a:rPr>
              <a:t>programming language </a:t>
            </a:r>
            <a:r>
              <a:rPr sz="1450" spc="-35" dirty="0">
                <a:latin typeface="Times New Roman"/>
                <a:cs typeface="Times New Roman"/>
              </a:rPr>
              <a:t>still </a:t>
            </a:r>
            <a:r>
              <a:rPr sz="1450" spc="-40" dirty="0">
                <a:latin typeface="Times New Roman"/>
                <a:cs typeface="Times New Roman"/>
              </a:rPr>
              <a:t>used for </a:t>
            </a:r>
            <a:r>
              <a:rPr sz="1450" spc="-45" dirty="0">
                <a:latin typeface="Times New Roman"/>
                <a:cs typeface="Times New Roman"/>
              </a:rPr>
              <a:t>new  </a:t>
            </a:r>
            <a:r>
              <a:rPr sz="1450" spc="-40" dirty="0">
                <a:latin typeface="Times New Roman"/>
                <a:cs typeface="Times New Roman"/>
              </a:rPr>
              <a:t>system</a:t>
            </a:r>
            <a:r>
              <a:rPr sz="1450" spc="-90" dirty="0">
                <a:latin typeface="Times New Roman"/>
                <a:cs typeface="Times New Roman"/>
              </a:rPr>
              <a:t> </a:t>
            </a:r>
            <a:r>
              <a:rPr sz="1450" spc="-75" dirty="0">
                <a:latin typeface="Times New Roman"/>
                <a:cs typeface="Times New Roman"/>
              </a:rPr>
              <a:t>development?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80576" y="4639055"/>
            <a:ext cx="6392545" cy="3810"/>
          </a:xfrm>
          <a:custGeom>
            <a:avLst/>
            <a:gdLst/>
            <a:ahLst/>
            <a:cxnLst/>
            <a:rect l="l" t="t" r="r" b="b"/>
            <a:pathLst>
              <a:path w="6392545" h="3810">
                <a:moveTo>
                  <a:pt x="6392519" y="0"/>
                </a:moveTo>
                <a:lnTo>
                  <a:pt x="1360462" y="0"/>
                </a:lnTo>
                <a:lnTo>
                  <a:pt x="1356931" y="0"/>
                </a:lnTo>
                <a:lnTo>
                  <a:pt x="0" y="0"/>
                </a:lnTo>
                <a:lnTo>
                  <a:pt x="0" y="3810"/>
                </a:lnTo>
                <a:lnTo>
                  <a:pt x="1356931" y="3810"/>
                </a:lnTo>
                <a:lnTo>
                  <a:pt x="1360462" y="3810"/>
                </a:lnTo>
                <a:lnTo>
                  <a:pt x="6392519" y="3810"/>
                </a:lnTo>
                <a:lnTo>
                  <a:pt x="63925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451607" y="5254737"/>
            <a:ext cx="982344" cy="46482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1700"/>
              </a:lnSpc>
              <a:spcBef>
                <a:spcPts val="200"/>
              </a:spcBef>
            </a:pPr>
            <a:r>
              <a:rPr sz="1450" spc="-20" dirty="0">
                <a:latin typeface="Times New Roman"/>
                <a:cs typeface="Times New Roman"/>
              </a:rPr>
              <a:t>C</a:t>
            </a:r>
            <a:r>
              <a:rPr sz="1450" spc="-10" dirty="0">
                <a:latin typeface="Times New Roman"/>
                <a:cs typeface="Times New Roman"/>
              </a:rPr>
              <a:t>o</a:t>
            </a:r>
            <a:r>
              <a:rPr sz="1450" spc="-210" dirty="0">
                <a:latin typeface="Times New Roman"/>
                <a:cs typeface="Times New Roman"/>
              </a:rPr>
              <a:t>n</a:t>
            </a:r>
            <a:r>
              <a:rPr sz="1450" spc="-55" dirty="0">
                <a:latin typeface="Times New Roman"/>
                <a:cs typeface="Times New Roman"/>
              </a:rPr>
              <a:t>f</a:t>
            </a:r>
            <a:r>
              <a:rPr sz="1450" spc="-30" dirty="0">
                <a:latin typeface="Times New Roman"/>
                <a:cs typeface="Times New Roman"/>
              </a:rPr>
              <a:t>i</a:t>
            </a:r>
            <a:r>
              <a:rPr sz="1450" spc="-10" dirty="0">
                <a:latin typeface="Times New Roman"/>
                <a:cs typeface="Times New Roman"/>
              </a:rPr>
              <a:t>g</a:t>
            </a:r>
            <a:r>
              <a:rPr sz="1450" spc="-155" dirty="0">
                <a:latin typeface="Times New Roman"/>
                <a:cs typeface="Times New Roman"/>
              </a:rPr>
              <a:t>u</a:t>
            </a:r>
            <a:r>
              <a:rPr sz="1450" dirty="0">
                <a:latin typeface="Times New Roman"/>
                <a:cs typeface="Times New Roman"/>
              </a:rPr>
              <a:t>r</a:t>
            </a:r>
            <a:r>
              <a:rPr sz="1450" spc="-95" dirty="0">
                <a:latin typeface="Times New Roman"/>
                <a:cs typeface="Times New Roman"/>
              </a:rPr>
              <a:t>a</a:t>
            </a:r>
            <a:r>
              <a:rPr sz="1450" spc="-30" dirty="0">
                <a:latin typeface="Times New Roman"/>
                <a:cs typeface="Times New Roman"/>
              </a:rPr>
              <a:t>t</a:t>
            </a:r>
            <a:r>
              <a:rPr sz="1450" spc="-15" dirty="0">
                <a:latin typeface="Times New Roman"/>
                <a:cs typeface="Times New Roman"/>
              </a:rPr>
              <a:t>i</a:t>
            </a:r>
            <a:r>
              <a:rPr sz="1450" spc="-25" dirty="0">
                <a:latin typeface="Times New Roman"/>
                <a:cs typeface="Times New Roman"/>
              </a:rPr>
              <a:t>o</a:t>
            </a:r>
            <a:r>
              <a:rPr sz="1450" dirty="0">
                <a:latin typeface="Times New Roman"/>
                <a:cs typeface="Times New Roman"/>
              </a:rPr>
              <a:t>n  </a:t>
            </a:r>
            <a:r>
              <a:rPr sz="1450" spc="-60" dirty="0">
                <a:latin typeface="Times New Roman"/>
                <a:cs typeface="Times New Roman"/>
              </a:rPr>
              <a:t>management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04920" y="5254737"/>
            <a:ext cx="4723765" cy="67627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 algn="just">
              <a:lnSpc>
                <a:spcPct val="96900"/>
              </a:lnSpc>
              <a:spcBef>
                <a:spcPts val="165"/>
              </a:spcBef>
            </a:pPr>
            <a:r>
              <a:rPr sz="1450" spc="-45" dirty="0">
                <a:latin typeface="Times New Roman"/>
                <a:cs typeface="Times New Roman"/>
              </a:rPr>
              <a:t>Are </a:t>
            </a:r>
            <a:r>
              <a:rPr sz="1450" spc="-55" dirty="0">
                <a:latin typeface="Times New Roman"/>
                <a:cs typeface="Times New Roman"/>
              </a:rPr>
              <a:t>all </a:t>
            </a:r>
            <a:r>
              <a:rPr sz="1450" spc="-60" dirty="0">
                <a:latin typeface="Times New Roman"/>
                <a:cs typeface="Times New Roman"/>
              </a:rPr>
              <a:t>versions </a:t>
            </a:r>
            <a:r>
              <a:rPr sz="1450" spc="-35" dirty="0">
                <a:latin typeface="Times New Roman"/>
                <a:cs typeface="Times New Roman"/>
              </a:rPr>
              <a:t>of </a:t>
            </a:r>
            <a:r>
              <a:rPr sz="1450" spc="-30" dirty="0">
                <a:latin typeface="Times New Roman"/>
                <a:cs typeface="Times New Roman"/>
              </a:rPr>
              <a:t>all </a:t>
            </a:r>
            <a:r>
              <a:rPr sz="1450" spc="-50" dirty="0">
                <a:latin typeface="Times New Roman"/>
                <a:cs typeface="Times New Roman"/>
              </a:rPr>
              <a:t>parts </a:t>
            </a:r>
            <a:r>
              <a:rPr sz="1450" spc="-65" dirty="0">
                <a:latin typeface="Times New Roman"/>
                <a:cs typeface="Times New Roman"/>
              </a:rPr>
              <a:t>of </a:t>
            </a:r>
            <a:r>
              <a:rPr sz="1450" spc="-40" dirty="0">
                <a:latin typeface="Times New Roman"/>
                <a:cs typeface="Times New Roman"/>
              </a:rPr>
              <a:t>the </a:t>
            </a:r>
            <a:r>
              <a:rPr sz="1450" spc="-55" dirty="0">
                <a:latin typeface="Times New Roman"/>
                <a:cs typeface="Times New Roman"/>
              </a:rPr>
              <a:t>system managed </a:t>
            </a:r>
            <a:r>
              <a:rPr sz="1450" spc="-25" dirty="0">
                <a:latin typeface="Times New Roman"/>
                <a:cs typeface="Times New Roman"/>
              </a:rPr>
              <a:t>bya </a:t>
            </a:r>
            <a:r>
              <a:rPr sz="1450" spc="-50" dirty="0">
                <a:latin typeface="Times New Roman"/>
                <a:cs typeface="Times New Roman"/>
              </a:rPr>
              <a:t>configuration  </a:t>
            </a:r>
            <a:r>
              <a:rPr sz="1450" spc="-60" dirty="0">
                <a:latin typeface="Times New Roman"/>
                <a:cs typeface="Times New Roman"/>
              </a:rPr>
              <a:t>management</a:t>
            </a:r>
            <a:r>
              <a:rPr sz="1450" spc="-190" dirty="0">
                <a:latin typeface="Times New Roman"/>
                <a:cs typeface="Times New Roman"/>
              </a:rPr>
              <a:t> </a:t>
            </a:r>
            <a:r>
              <a:rPr sz="1450" spc="-55" dirty="0">
                <a:latin typeface="Times New Roman"/>
                <a:cs typeface="Times New Roman"/>
              </a:rPr>
              <a:t>system?</a:t>
            </a:r>
            <a:r>
              <a:rPr sz="1450" spc="-11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Is</a:t>
            </a:r>
            <a:r>
              <a:rPr sz="1450" spc="-135" dirty="0">
                <a:latin typeface="Times New Roman"/>
                <a:cs typeface="Times New Roman"/>
              </a:rPr>
              <a:t> </a:t>
            </a:r>
            <a:r>
              <a:rPr sz="1450" spc="-50" dirty="0">
                <a:latin typeface="Times New Roman"/>
                <a:cs typeface="Times New Roman"/>
              </a:rPr>
              <a:t>there</a:t>
            </a:r>
            <a:r>
              <a:rPr sz="1450" spc="-110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Times New Roman"/>
                <a:cs typeface="Times New Roman"/>
              </a:rPr>
              <a:t>an</a:t>
            </a:r>
            <a:r>
              <a:rPr sz="1450" spc="-40" dirty="0">
                <a:latin typeface="Times New Roman"/>
                <a:cs typeface="Times New Roman"/>
              </a:rPr>
              <a:t> </a:t>
            </a:r>
            <a:r>
              <a:rPr sz="1450" spc="-60" dirty="0">
                <a:latin typeface="Times New Roman"/>
                <a:cs typeface="Times New Roman"/>
              </a:rPr>
              <a:t>explicit </a:t>
            </a:r>
            <a:r>
              <a:rPr sz="1450" spc="-45" dirty="0">
                <a:latin typeface="Times New Roman"/>
                <a:cs typeface="Times New Roman"/>
              </a:rPr>
              <a:t>description</a:t>
            </a:r>
            <a:r>
              <a:rPr sz="1450" spc="-55" dirty="0">
                <a:latin typeface="Times New Roman"/>
                <a:cs typeface="Times New Roman"/>
              </a:rPr>
              <a:t> </a:t>
            </a:r>
            <a:r>
              <a:rPr sz="1450" spc="-110" dirty="0">
                <a:latin typeface="Times New Roman"/>
                <a:cs typeface="Times New Roman"/>
              </a:rPr>
              <a:t>of</a:t>
            </a:r>
            <a:r>
              <a:rPr sz="1450" spc="-85" dirty="0">
                <a:latin typeface="Times New Roman"/>
                <a:cs typeface="Times New Roman"/>
              </a:rPr>
              <a:t> </a:t>
            </a:r>
            <a:r>
              <a:rPr sz="1450" spc="-45" dirty="0">
                <a:latin typeface="Times New Roman"/>
                <a:cs typeface="Times New Roman"/>
              </a:rPr>
              <a:t>the</a:t>
            </a:r>
            <a:r>
              <a:rPr sz="1450" spc="-70" dirty="0">
                <a:latin typeface="Times New Roman"/>
                <a:cs typeface="Times New Roman"/>
              </a:rPr>
              <a:t> </a:t>
            </a:r>
            <a:r>
              <a:rPr sz="1450" spc="-55" dirty="0">
                <a:latin typeface="Times New Roman"/>
                <a:cs typeface="Times New Roman"/>
              </a:rPr>
              <a:t>versions</a:t>
            </a:r>
            <a:r>
              <a:rPr sz="1450" spc="-70" dirty="0">
                <a:latin typeface="Times New Roman"/>
                <a:cs typeface="Times New Roman"/>
              </a:rPr>
              <a:t> </a:t>
            </a:r>
            <a:r>
              <a:rPr sz="1450" spc="-45" dirty="0">
                <a:latin typeface="Times New Roman"/>
                <a:cs typeface="Times New Roman"/>
              </a:rPr>
              <a:t>of  </a:t>
            </a:r>
            <a:r>
              <a:rPr sz="1450" spc="-65" dirty="0">
                <a:latin typeface="Times New Roman"/>
                <a:cs typeface="Times New Roman"/>
              </a:rPr>
              <a:t>components</a:t>
            </a:r>
            <a:r>
              <a:rPr sz="1450" spc="-100" dirty="0">
                <a:latin typeface="Times New Roman"/>
                <a:cs typeface="Times New Roman"/>
              </a:rPr>
              <a:t> </a:t>
            </a:r>
            <a:r>
              <a:rPr sz="1450" spc="-40" dirty="0">
                <a:latin typeface="Times New Roman"/>
                <a:cs typeface="Times New Roman"/>
              </a:rPr>
              <a:t>that</a:t>
            </a:r>
            <a:r>
              <a:rPr sz="1450" spc="-70" dirty="0">
                <a:latin typeface="Times New Roman"/>
                <a:cs typeface="Times New Roman"/>
              </a:rPr>
              <a:t> </a:t>
            </a:r>
            <a:r>
              <a:rPr sz="1450" spc="-30" dirty="0">
                <a:latin typeface="Times New Roman"/>
                <a:cs typeface="Times New Roman"/>
              </a:rPr>
              <a:t>are</a:t>
            </a:r>
            <a:r>
              <a:rPr sz="1450" spc="-145" dirty="0">
                <a:latin typeface="Times New Roman"/>
                <a:cs typeface="Times New Roman"/>
              </a:rPr>
              <a:t> </a:t>
            </a:r>
            <a:r>
              <a:rPr sz="1450" spc="-50" dirty="0">
                <a:latin typeface="Times New Roman"/>
                <a:cs typeface="Times New Roman"/>
              </a:rPr>
              <a:t>used</a:t>
            </a:r>
            <a:r>
              <a:rPr sz="1450" spc="-45" dirty="0">
                <a:latin typeface="Times New Roman"/>
                <a:cs typeface="Times New Roman"/>
              </a:rPr>
              <a:t> </a:t>
            </a:r>
            <a:r>
              <a:rPr sz="1450" spc="-15" dirty="0">
                <a:latin typeface="Times New Roman"/>
                <a:cs typeface="Times New Roman"/>
              </a:rPr>
              <a:t>in</a:t>
            </a:r>
            <a:r>
              <a:rPr sz="1450" spc="-75" dirty="0">
                <a:latin typeface="Times New Roman"/>
                <a:cs typeface="Times New Roman"/>
              </a:rPr>
              <a:t> </a:t>
            </a:r>
            <a:r>
              <a:rPr sz="1450" spc="-25" dirty="0">
                <a:latin typeface="Times New Roman"/>
                <a:cs typeface="Times New Roman"/>
              </a:rPr>
              <a:t>thecurrent</a:t>
            </a:r>
            <a:r>
              <a:rPr sz="1450" spc="-190" dirty="0">
                <a:latin typeface="Times New Roman"/>
                <a:cs typeface="Times New Roman"/>
              </a:rPr>
              <a:t> </a:t>
            </a:r>
            <a:r>
              <a:rPr sz="1450" spc="-55" dirty="0">
                <a:latin typeface="Times New Roman"/>
                <a:cs typeface="Times New Roman"/>
              </a:rPr>
              <a:t>system?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380576" y="5282945"/>
            <a:ext cx="6392545" cy="4445"/>
          </a:xfrm>
          <a:custGeom>
            <a:avLst/>
            <a:gdLst/>
            <a:ahLst/>
            <a:cxnLst/>
            <a:rect l="l" t="t" r="r" b="b"/>
            <a:pathLst>
              <a:path w="6392545" h="4445">
                <a:moveTo>
                  <a:pt x="6392519" y="0"/>
                </a:moveTo>
                <a:lnTo>
                  <a:pt x="1360462" y="0"/>
                </a:lnTo>
                <a:lnTo>
                  <a:pt x="1356931" y="0"/>
                </a:lnTo>
                <a:lnTo>
                  <a:pt x="0" y="0"/>
                </a:lnTo>
                <a:lnTo>
                  <a:pt x="0" y="3911"/>
                </a:lnTo>
                <a:lnTo>
                  <a:pt x="1356931" y="3911"/>
                </a:lnTo>
                <a:lnTo>
                  <a:pt x="1360462" y="3911"/>
                </a:lnTo>
                <a:lnTo>
                  <a:pt x="6392519" y="3911"/>
                </a:lnTo>
                <a:lnTo>
                  <a:pt x="63925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451607" y="5897865"/>
            <a:ext cx="638175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55" dirty="0">
                <a:latin typeface="Times New Roman"/>
                <a:cs typeface="Times New Roman"/>
              </a:rPr>
              <a:t>Test</a:t>
            </a:r>
            <a:r>
              <a:rPr sz="1450" spc="-125" dirty="0">
                <a:latin typeface="Times New Roman"/>
                <a:cs typeface="Times New Roman"/>
              </a:rPr>
              <a:t> </a:t>
            </a:r>
            <a:r>
              <a:rPr sz="1450" spc="-50" dirty="0">
                <a:latin typeface="Times New Roman"/>
                <a:cs typeface="Times New Roman"/>
              </a:rPr>
              <a:t>data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805289" y="5897865"/>
            <a:ext cx="474726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60" dirty="0">
                <a:latin typeface="Times New Roman"/>
                <a:cs typeface="Times New Roman"/>
              </a:rPr>
              <a:t>Does</a:t>
            </a:r>
            <a:r>
              <a:rPr sz="1450" spc="-80" dirty="0">
                <a:latin typeface="Times New Roman"/>
                <a:cs typeface="Times New Roman"/>
              </a:rPr>
              <a:t> </a:t>
            </a:r>
            <a:r>
              <a:rPr sz="1450" spc="-45" dirty="0">
                <a:latin typeface="Times New Roman"/>
                <a:cs typeface="Times New Roman"/>
              </a:rPr>
              <a:t>test</a:t>
            </a:r>
            <a:r>
              <a:rPr sz="1450" spc="-65" dirty="0">
                <a:latin typeface="Times New Roman"/>
                <a:cs typeface="Times New Roman"/>
              </a:rPr>
              <a:t> </a:t>
            </a:r>
            <a:r>
              <a:rPr sz="1450" spc="-40" dirty="0">
                <a:latin typeface="Times New Roman"/>
                <a:cs typeface="Times New Roman"/>
              </a:rPr>
              <a:t>data</a:t>
            </a:r>
            <a:r>
              <a:rPr sz="1450" spc="-135" dirty="0">
                <a:latin typeface="Times New Roman"/>
                <a:cs typeface="Times New Roman"/>
              </a:rPr>
              <a:t> </a:t>
            </a:r>
            <a:r>
              <a:rPr sz="1450" spc="-40" dirty="0">
                <a:latin typeface="Times New Roman"/>
                <a:cs typeface="Times New Roman"/>
              </a:rPr>
              <a:t>for</a:t>
            </a:r>
            <a:r>
              <a:rPr sz="1450" spc="-85" dirty="0">
                <a:latin typeface="Times New Roman"/>
                <a:cs typeface="Times New Roman"/>
              </a:rPr>
              <a:t> </a:t>
            </a:r>
            <a:r>
              <a:rPr sz="1450" spc="-15" dirty="0">
                <a:latin typeface="Times New Roman"/>
                <a:cs typeface="Times New Roman"/>
              </a:rPr>
              <a:t>the</a:t>
            </a:r>
            <a:r>
              <a:rPr sz="1450" spc="-165" dirty="0">
                <a:latin typeface="Times New Roman"/>
                <a:cs typeface="Times New Roman"/>
              </a:rPr>
              <a:t> </a:t>
            </a:r>
            <a:r>
              <a:rPr sz="1450" spc="-40" dirty="0">
                <a:latin typeface="Times New Roman"/>
                <a:cs typeface="Times New Roman"/>
              </a:rPr>
              <a:t>system</a:t>
            </a:r>
            <a:r>
              <a:rPr sz="1450" spc="-220" dirty="0">
                <a:latin typeface="Times New Roman"/>
                <a:cs typeface="Times New Roman"/>
              </a:rPr>
              <a:t> </a:t>
            </a:r>
            <a:r>
              <a:rPr sz="1450" spc="-40" dirty="0">
                <a:latin typeface="Times New Roman"/>
                <a:cs typeface="Times New Roman"/>
              </a:rPr>
              <a:t>exist?</a:t>
            </a:r>
            <a:r>
              <a:rPr sz="1450" spc="-13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Is</a:t>
            </a:r>
            <a:r>
              <a:rPr sz="1450" spc="-135" dirty="0">
                <a:latin typeface="Times New Roman"/>
                <a:cs typeface="Times New Roman"/>
              </a:rPr>
              <a:t> </a:t>
            </a:r>
            <a:r>
              <a:rPr sz="1450" spc="-40" dirty="0">
                <a:latin typeface="Times New Roman"/>
                <a:cs typeface="Times New Roman"/>
              </a:rPr>
              <a:t>there</a:t>
            </a:r>
            <a:r>
              <a:rPr sz="1450" spc="-125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</a:t>
            </a:r>
            <a:r>
              <a:rPr sz="1450" spc="-114" dirty="0">
                <a:latin typeface="Times New Roman"/>
                <a:cs typeface="Times New Roman"/>
              </a:rPr>
              <a:t> </a:t>
            </a:r>
            <a:r>
              <a:rPr sz="1450" spc="-50" dirty="0">
                <a:latin typeface="Times New Roman"/>
                <a:cs typeface="Times New Roman"/>
              </a:rPr>
              <a:t>record</a:t>
            </a:r>
            <a:r>
              <a:rPr sz="1450" spc="-40" dirty="0">
                <a:latin typeface="Times New Roman"/>
                <a:cs typeface="Times New Roman"/>
              </a:rPr>
              <a:t> </a:t>
            </a:r>
            <a:r>
              <a:rPr sz="1450" spc="-70" dirty="0">
                <a:latin typeface="Times New Roman"/>
                <a:cs typeface="Times New Roman"/>
              </a:rPr>
              <a:t>of</a:t>
            </a:r>
            <a:r>
              <a:rPr sz="1450" spc="-10" dirty="0">
                <a:latin typeface="Times New Roman"/>
                <a:cs typeface="Times New Roman"/>
              </a:rPr>
              <a:t> </a:t>
            </a:r>
            <a:r>
              <a:rPr sz="1450" spc="-50" dirty="0">
                <a:latin typeface="Times New Roman"/>
                <a:cs typeface="Times New Roman"/>
              </a:rPr>
              <a:t>regression</a:t>
            </a:r>
            <a:r>
              <a:rPr sz="1450" spc="-70" dirty="0">
                <a:latin typeface="Times New Roman"/>
                <a:cs typeface="Times New Roman"/>
              </a:rPr>
              <a:t> tests</a:t>
            </a:r>
            <a:endParaRPr sz="1450" dirty="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04920" y="6114273"/>
            <a:ext cx="4189095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40" dirty="0">
                <a:latin typeface="Times New Roman"/>
                <a:cs typeface="Times New Roman"/>
              </a:rPr>
              <a:t>carried </a:t>
            </a:r>
            <a:r>
              <a:rPr sz="1450" spc="-95" dirty="0">
                <a:latin typeface="Times New Roman"/>
                <a:cs typeface="Times New Roman"/>
              </a:rPr>
              <a:t>out </a:t>
            </a:r>
            <a:r>
              <a:rPr sz="1450" spc="-60" dirty="0">
                <a:latin typeface="Times New Roman"/>
                <a:cs typeface="Times New Roman"/>
              </a:rPr>
              <a:t>when </a:t>
            </a:r>
            <a:r>
              <a:rPr sz="1450" spc="-35" dirty="0">
                <a:latin typeface="Times New Roman"/>
                <a:cs typeface="Times New Roman"/>
              </a:rPr>
              <a:t>newfeatures </a:t>
            </a:r>
            <a:r>
              <a:rPr sz="1450" spc="-50" dirty="0">
                <a:latin typeface="Times New Roman"/>
                <a:cs typeface="Times New Roman"/>
              </a:rPr>
              <a:t>have </a:t>
            </a:r>
            <a:r>
              <a:rPr sz="1450" spc="-75" dirty="0">
                <a:latin typeface="Times New Roman"/>
                <a:cs typeface="Times New Roman"/>
              </a:rPr>
              <a:t>been </a:t>
            </a:r>
            <a:r>
              <a:rPr sz="1450" spc="-15" dirty="0">
                <a:latin typeface="Times New Roman"/>
                <a:cs typeface="Times New Roman"/>
              </a:rPr>
              <a:t>addedto</a:t>
            </a:r>
            <a:r>
              <a:rPr sz="1450" spc="5" dirty="0">
                <a:latin typeface="Times New Roman"/>
                <a:cs typeface="Times New Roman"/>
              </a:rPr>
              <a:t> </a:t>
            </a:r>
            <a:r>
              <a:rPr sz="1450" spc="-35" dirty="0">
                <a:latin typeface="Times New Roman"/>
                <a:cs typeface="Times New Roman"/>
              </a:rPr>
              <a:t>thesystem?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380576" y="5926937"/>
            <a:ext cx="6392545" cy="3810"/>
          </a:xfrm>
          <a:custGeom>
            <a:avLst/>
            <a:gdLst/>
            <a:ahLst/>
            <a:cxnLst/>
            <a:rect l="l" t="t" r="r" b="b"/>
            <a:pathLst>
              <a:path w="6392545" h="3810">
                <a:moveTo>
                  <a:pt x="6392519" y="0"/>
                </a:moveTo>
                <a:lnTo>
                  <a:pt x="1360462" y="0"/>
                </a:lnTo>
                <a:lnTo>
                  <a:pt x="1356931" y="0"/>
                </a:lnTo>
                <a:lnTo>
                  <a:pt x="0" y="0"/>
                </a:lnTo>
                <a:lnTo>
                  <a:pt x="0" y="3810"/>
                </a:lnTo>
                <a:lnTo>
                  <a:pt x="1356931" y="3810"/>
                </a:lnTo>
                <a:lnTo>
                  <a:pt x="1360462" y="3810"/>
                </a:lnTo>
                <a:lnTo>
                  <a:pt x="6392519" y="3810"/>
                </a:lnTo>
                <a:lnTo>
                  <a:pt x="63925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451607" y="6330681"/>
            <a:ext cx="1082675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-35" dirty="0">
                <a:latin typeface="Times New Roman"/>
                <a:cs typeface="Times New Roman"/>
              </a:rPr>
              <a:t>Personnelskills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04920" y="6330681"/>
            <a:ext cx="4814570" cy="67627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>
              <a:lnSpc>
                <a:spcPct val="96900"/>
              </a:lnSpc>
              <a:spcBef>
                <a:spcPts val="165"/>
              </a:spcBef>
            </a:pPr>
            <a:r>
              <a:rPr sz="1450" spc="-50" dirty="0">
                <a:latin typeface="Times New Roman"/>
                <a:cs typeface="Times New Roman"/>
              </a:rPr>
              <a:t>Are </a:t>
            </a:r>
            <a:r>
              <a:rPr sz="1450" spc="-55" dirty="0">
                <a:latin typeface="Times New Roman"/>
                <a:cs typeface="Times New Roman"/>
              </a:rPr>
              <a:t>there </a:t>
            </a:r>
            <a:r>
              <a:rPr sz="1450" spc="-60" dirty="0">
                <a:latin typeface="Times New Roman"/>
                <a:cs typeface="Times New Roman"/>
              </a:rPr>
              <a:t>people available </a:t>
            </a:r>
            <a:r>
              <a:rPr sz="1450" spc="-40" dirty="0">
                <a:latin typeface="Times New Roman"/>
                <a:cs typeface="Times New Roman"/>
              </a:rPr>
              <a:t>who </a:t>
            </a:r>
            <a:r>
              <a:rPr sz="1450" spc="-20" dirty="0">
                <a:latin typeface="Times New Roman"/>
                <a:cs typeface="Times New Roman"/>
              </a:rPr>
              <a:t>havethe </a:t>
            </a:r>
            <a:r>
              <a:rPr sz="1450" spc="-40" dirty="0">
                <a:latin typeface="Times New Roman"/>
                <a:cs typeface="Times New Roman"/>
              </a:rPr>
              <a:t>skills </a:t>
            </a:r>
            <a:r>
              <a:rPr sz="1450" spc="-10" dirty="0">
                <a:latin typeface="Times New Roman"/>
                <a:cs typeface="Times New Roman"/>
              </a:rPr>
              <a:t>to </a:t>
            </a:r>
            <a:r>
              <a:rPr sz="1450" spc="-60" dirty="0">
                <a:latin typeface="Times New Roman"/>
                <a:cs typeface="Times New Roman"/>
              </a:rPr>
              <a:t>maintain </a:t>
            </a:r>
            <a:r>
              <a:rPr sz="1450" spc="-20" dirty="0">
                <a:latin typeface="Times New Roman"/>
                <a:cs typeface="Times New Roman"/>
              </a:rPr>
              <a:t>the  </a:t>
            </a:r>
            <a:r>
              <a:rPr sz="1450" spc="-55" dirty="0">
                <a:latin typeface="Times New Roman"/>
                <a:cs typeface="Times New Roman"/>
              </a:rPr>
              <a:t>application?</a:t>
            </a:r>
            <a:r>
              <a:rPr sz="1450" spc="-85" dirty="0">
                <a:latin typeface="Times New Roman"/>
                <a:cs typeface="Times New Roman"/>
              </a:rPr>
              <a:t> </a:t>
            </a:r>
            <a:r>
              <a:rPr sz="1450" spc="-35" dirty="0">
                <a:latin typeface="Times New Roman"/>
                <a:cs typeface="Times New Roman"/>
              </a:rPr>
              <a:t>Are</a:t>
            </a:r>
            <a:r>
              <a:rPr sz="1450" spc="-125" dirty="0">
                <a:latin typeface="Times New Roman"/>
                <a:cs typeface="Times New Roman"/>
              </a:rPr>
              <a:t> </a:t>
            </a:r>
            <a:r>
              <a:rPr sz="1450" spc="-50" dirty="0">
                <a:latin typeface="Times New Roman"/>
                <a:cs typeface="Times New Roman"/>
              </a:rPr>
              <a:t>there</a:t>
            </a:r>
            <a:r>
              <a:rPr sz="1450" spc="-40" dirty="0">
                <a:latin typeface="Times New Roman"/>
                <a:cs typeface="Times New Roman"/>
              </a:rPr>
              <a:t> </a:t>
            </a:r>
            <a:r>
              <a:rPr sz="1450" spc="-60" dirty="0">
                <a:latin typeface="Times New Roman"/>
                <a:cs typeface="Times New Roman"/>
              </a:rPr>
              <a:t>only</a:t>
            </a:r>
            <a:r>
              <a:rPr sz="1450" spc="-40" dirty="0">
                <a:latin typeface="Times New Roman"/>
                <a:cs typeface="Times New Roman"/>
              </a:rPr>
              <a:t> </a:t>
            </a:r>
            <a:r>
              <a:rPr sz="1450" dirty="0">
                <a:latin typeface="Times New Roman"/>
                <a:cs typeface="Times New Roman"/>
              </a:rPr>
              <a:t>a</a:t>
            </a:r>
            <a:r>
              <a:rPr sz="1450" spc="-55" dirty="0">
                <a:latin typeface="Times New Roman"/>
                <a:cs typeface="Times New Roman"/>
              </a:rPr>
              <a:t> </a:t>
            </a:r>
            <a:r>
              <a:rPr sz="1450" spc="-60" dirty="0">
                <a:latin typeface="Times New Roman"/>
                <a:cs typeface="Times New Roman"/>
              </a:rPr>
              <a:t>limited</a:t>
            </a:r>
            <a:r>
              <a:rPr sz="1450" spc="-55" dirty="0">
                <a:latin typeface="Times New Roman"/>
                <a:cs typeface="Times New Roman"/>
              </a:rPr>
              <a:t> </a:t>
            </a:r>
            <a:r>
              <a:rPr sz="1450" spc="-75" dirty="0">
                <a:latin typeface="Times New Roman"/>
                <a:cs typeface="Times New Roman"/>
              </a:rPr>
              <a:t>number</a:t>
            </a:r>
            <a:r>
              <a:rPr sz="1450" spc="-125" dirty="0">
                <a:latin typeface="Times New Roman"/>
                <a:cs typeface="Times New Roman"/>
              </a:rPr>
              <a:t> </a:t>
            </a:r>
            <a:r>
              <a:rPr sz="1450" spc="-35" dirty="0">
                <a:latin typeface="Times New Roman"/>
                <a:cs typeface="Times New Roman"/>
              </a:rPr>
              <a:t>of</a:t>
            </a:r>
            <a:r>
              <a:rPr sz="1450" spc="-85" dirty="0">
                <a:latin typeface="Times New Roman"/>
                <a:cs typeface="Times New Roman"/>
              </a:rPr>
              <a:t> </a:t>
            </a:r>
            <a:r>
              <a:rPr sz="1450" spc="-60" dirty="0">
                <a:latin typeface="Times New Roman"/>
                <a:cs typeface="Times New Roman"/>
              </a:rPr>
              <a:t>people</a:t>
            </a:r>
            <a:r>
              <a:rPr sz="1450" spc="-70" dirty="0">
                <a:latin typeface="Times New Roman"/>
                <a:cs typeface="Times New Roman"/>
              </a:rPr>
              <a:t> </a:t>
            </a:r>
            <a:r>
              <a:rPr sz="1450" spc="-20" dirty="0">
                <a:latin typeface="Times New Roman"/>
                <a:cs typeface="Times New Roman"/>
              </a:rPr>
              <a:t>who</a:t>
            </a:r>
            <a:r>
              <a:rPr sz="1450" spc="-50" dirty="0">
                <a:latin typeface="Times New Roman"/>
                <a:cs typeface="Times New Roman"/>
              </a:rPr>
              <a:t> </a:t>
            </a:r>
            <a:r>
              <a:rPr sz="1450" spc="-65" dirty="0">
                <a:latin typeface="Times New Roman"/>
                <a:cs typeface="Times New Roman"/>
              </a:rPr>
              <a:t>understand  </a:t>
            </a:r>
            <a:r>
              <a:rPr sz="1450" spc="-45" dirty="0">
                <a:latin typeface="Times New Roman"/>
                <a:cs typeface="Times New Roman"/>
              </a:rPr>
              <a:t>the</a:t>
            </a:r>
            <a:r>
              <a:rPr sz="1450" spc="-80" dirty="0">
                <a:latin typeface="Times New Roman"/>
                <a:cs typeface="Times New Roman"/>
              </a:rPr>
              <a:t> </a:t>
            </a:r>
            <a:r>
              <a:rPr sz="1450" spc="-50" dirty="0">
                <a:latin typeface="Times New Roman"/>
                <a:cs typeface="Times New Roman"/>
              </a:rPr>
              <a:t>system?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380576" y="6358801"/>
            <a:ext cx="6392545" cy="648335"/>
          </a:xfrm>
          <a:custGeom>
            <a:avLst/>
            <a:gdLst/>
            <a:ahLst/>
            <a:cxnLst/>
            <a:rect l="l" t="t" r="r" b="b"/>
            <a:pathLst>
              <a:path w="6392545" h="648334">
                <a:moveTo>
                  <a:pt x="6392519" y="643890"/>
                </a:moveTo>
                <a:lnTo>
                  <a:pt x="1360462" y="643890"/>
                </a:lnTo>
                <a:lnTo>
                  <a:pt x="1356931" y="643890"/>
                </a:lnTo>
                <a:lnTo>
                  <a:pt x="0" y="643890"/>
                </a:lnTo>
                <a:lnTo>
                  <a:pt x="0" y="647788"/>
                </a:lnTo>
                <a:lnTo>
                  <a:pt x="1356931" y="647788"/>
                </a:lnTo>
                <a:lnTo>
                  <a:pt x="1360462" y="647788"/>
                </a:lnTo>
                <a:lnTo>
                  <a:pt x="6392519" y="647788"/>
                </a:lnTo>
                <a:lnTo>
                  <a:pt x="6392519" y="643890"/>
                </a:lnTo>
                <a:close/>
              </a:path>
              <a:path w="6392545" h="648334">
                <a:moveTo>
                  <a:pt x="6392519" y="0"/>
                </a:moveTo>
                <a:lnTo>
                  <a:pt x="1360462" y="0"/>
                </a:lnTo>
                <a:lnTo>
                  <a:pt x="1356931" y="0"/>
                </a:lnTo>
                <a:lnTo>
                  <a:pt x="0" y="0"/>
                </a:lnTo>
                <a:lnTo>
                  <a:pt x="0" y="3810"/>
                </a:lnTo>
                <a:lnTo>
                  <a:pt x="1356931" y="3810"/>
                </a:lnTo>
                <a:lnTo>
                  <a:pt x="1360462" y="3810"/>
                </a:lnTo>
                <a:lnTo>
                  <a:pt x="6392519" y="3810"/>
                </a:lnTo>
                <a:lnTo>
                  <a:pt x="63925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741</TotalTime>
  <Words>978</Words>
  <Application>Microsoft Office PowerPoint</Application>
  <PresentationFormat>Custom</PresentationFormat>
  <Paragraphs>112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Arial</vt:lpstr>
      <vt:lpstr>Calibri</vt:lpstr>
      <vt:lpstr>Calibri Light</vt:lpstr>
      <vt:lpstr>Courier New</vt:lpstr>
      <vt:lpstr>Georgia</vt:lpstr>
      <vt:lpstr>Google Sans</vt:lpstr>
      <vt:lpstr>Gothic Uralic</vt:lpstr>
      <vt:lpstr>TeXGyreAdventor</vt:lpstr>
      <vt:lpstr>Times New Roman</vt:lpstr>
      <vt:lpstr>Wingdings</vt:lpstr>
      <vt:lpstr>Office Theme</vt:lpstr>
      <vt:lpstr>PowerPoint Presentation</vt:lpstr>
      <vt:lpstr>Lecture Summary</vt:lpstr>
      <vt:lpstr>Why non-greenfield  engineering?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Legacy Systems: Introduction..</vt:lpstr>
      <vt:lpstr>Legacy Systems: .Introduction.</vt:lpstr>
      <vt:lpstr>Legacy Systems: ..Introduction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Legacy system assessment…..</vt:lpstr>
      <vt:lpstr>Legacy system assessment…..</vt:lpstr>
      <vt:lpstr>Legacy system assessment…</vt:lpstr>
      <vt:lpstr>Legacy system assessment</vt:lpstr>
      <vt:lpstr>Legacy system assessment</vt:lpstr>
      <vt:lpstr>….Legacy system assessment.</vt:lpstr>
      <vt:lpstr>…..Legacy system assessment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Lec 2 - SRE [Compatibility Mode]</dc:title>
  <dc:creator>Shumaila Iqbal</dc:creator>
  <cp:lastModifiedBy>Muhammad Usman Shahid/SE</cp:lastModifiedBy>
  <cp:revision>74</cp:revision>
  <dcterms:created xsi:type="dcterms:W3CDTF">2022-03-15T05:21:45Z</dcterms:created>
  <dcterms:modified xsi:type="dcterms:W3CDTF">2024-10-01T04:39:28Z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2021-11-10T00:00:00Z</vt:filetime>
  </property>
  <property fmtid="{D5CDD505-2E9C-101B-9397-08002B2CF9AE}" pid="3" name="LastSaved">
    <vt:filetime>2022-03-15T00:00:00Z</vt:filetime>
  </property>
</Properties>
</file>