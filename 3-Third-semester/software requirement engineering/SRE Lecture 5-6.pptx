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6" r:id="rId1"/>
  </p:sldMasterIdLst>
  <p:notesMasterIdLst>
    <p:notesMasterId r:id="rId39"/>
  </p:notesMasterIdLst>
  <p:handoutMasterIdLst>
    <p:handoutMasterId r:id="rId40"/>
  </p:handoutMasterIdLst>
  <p:sldIdLst>
    <p:sldId id="265" r:id="rId2"/>
    <p:sldId id="315" r:id="rId3"/>
    <p:sldId id="314" r:id="rId4"/>
    <p:sldId id="317" r:id="rId5"/>
    <p:sldId id="318" r:id="rId6"/>
    <p:sldId id="319" r:id="rId7"/>
    <p:sldId id="320"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76" r:id="rId24"/>
    <p:sldId id="336" r:id="rId25"/>
    <p:sldId id="337" r:id="rId26"/>
    <p:sldId id="338" r:id="rId27"/>
    <p:sldId id="339" r:id="rId28"/>
    <p:sldId id="340" r:id="rId29"/>
    <p:sldId id="341" r:id="rId30"/>
    <p:sldId id="377" r:id="rId31"/>
    <p:sldId id="378" r:id="rId32"/>
    <p:sldId id="379" r:id="rId33"/>
    <p:sldId id="380" r:id="rId34"/>
    <p:sldId id="381" r:id="rId35"/>
    <p:sldId id="382" r:id="rId36"/>
    <p:sldId id="383" r:id="rId37"/>
    <p:sldId id="301" r:id="rId38"/>
  </p:sldIdLst>
  <p:sldSz cx="9144000" cy="6858000" type="screen4x3"/>
  <p:notesSz cx="10234613" cy="71024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8000"/>
    <a:srgbClr val="CC0000"/>
    <a:srgbClr val="A1D8FD"/>
    <a:srgbClr val="66FF33"/>
    <a:srgbClr val="FFFF00"/>
    <a:srgbClr val="FF33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576"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5" name="Rectangle 3"/>
          <p:cNvSpPr>
            <a:spLocks noGrp="1" noChangeArrowheads="1"/>
          </p:cNvSpPr>
          <p:nvPr>
            <p:ph type="dt" sz="quarter" idx="1"/>
          </p:nvPr>
        </p:nvSpPr>
        <p:spPr bwMode="auto">
          <a:xfrm>
            <a:off x="5797583"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8" charset="0"/>
              </a:defRPr>
            </a:lvl1pPr>
          </a:lstStyle>
          <a:p>
            <a:endParaRPr lang="en-US" dirty="0"/>
          </a:p>
        </p:txBody>
      </p:sp>
      <p:sp>
        <p:nvSpPr>
          <p:cNvPr id="74756" name="Rectangle 4"/>
          <p:cNvSpPr>
            <a:spLocks noGrp="1" noChangeArrowheads="1"/>
          </p:cNvSpPr>
          <p:nvPr>
            <p:ph type="ftr" sz="quarter" idx="2"/>
          </p:nvPr>
        </p:nvSpPr>
        <p:spPr bwMode="auto">
          <a:xfrm>
            <a:off x="0"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7" name="Rectangle 5"/>
          <p:cNvSpPr>
            <a:spLocks noGrp="1" noChangeArrowheads="1"/>
          </p:cNvSpPr>
          <p:nvPr>
            <p:ph type="sldNum" sz="quarter" idx="3"/>
          </p:nvPr>
        </p:nvSpPr>
        <p:spPr bwMode="auto">
          <a:xfrm>
            <a:off x="5797583"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8" charset="0"/>
              </a:defRPr>
            </a:lvl1pPr>
          </a:lstStyle>
          <a:p>
            <a:fld id="{98277AA0-422D-49C5-AD31-D6F6794DCACC}" type="slidenum">
              <a:rPr lang="en-US"/>
              <a:pPr/>
              <a:t>‹#›</a:t>
            </a:fld>
            <a:endParaRPr lang="en-US" dirty="0"/>
          </a:p>
        </p:txBody>
      </p:sp>
    </p:spTree>
    <p:extLst>
      <p:ext uri="{BB962C8B-B14F-4D97-AF65-F5344CB8AC3E}">
        <p14:creationId xmlns:p14="http://schemas.microsoft.com/office/powerpoint/2010/main" val="39514165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3" name="Rectangle 3"/>
          <p:cNvSpPr>
            <a:spLocks noGrp="1" noChangeArrowheads="1"/>
          </p:cNvSpPr>
          <p:nvPr>
            <p:ph type="dt" idx="1"/>
          </p:nvPr>
        </p:nvSpPr>
        <p:spPr bwMode="auto">
          <a:xfrm>
            <a:off x="5797583"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endParaRPr lang="en-US" dirty="0"/>
          </a:p>
        </p:txBody>
      </p:sp>
      <p:sp>
        <p:nvSpPr>
          <p:cNvPr id="128004" name="Rectangle 4"/>
          <p:cNvSpPr>
            <a:spLocks noGrp="1" noRot="1" noChangeAspect="1" noChangeArrowheads="1" noTextEdit="1"/>
          </p:cNvSpPr>
          <p:nvPr>
            <p:ph type="sldImg" idx="2"/>
          </p:nvPr>
        </p:nvSpPr>
        <p:spPr bwMode="auto">
          <a:xfrm>
            <a:off x="3341688" y="533400"/>
            <a:ext cx="3552825" cy="2663825"/>
          </a:xfrm>
          <a:prstGeom prst="rect">
            <a:avLst/>
          </a:prstGeom>
          <a:noFill/>
          <a:ln w="9525">
            <a:solidFill>
              <a:srgbClr val="000000"/>
            </a:solidFill>
            <a:miter lim="800000"/>
            <a:headEnd/>
            <a:tailEnd/>
          </a:ln>
          <a:effectLst/>
        </p:spPr>
      </p:sp>
      <p:sp>
        <p:nvSpPr>
          <p:cNvPr id="128005" name="Rectangle 5"/>
          <p:cNvSpPr>
            <a:spLocks noGrp="1" noChangeArrowheads="1"/>
          </p:cNvSpPr>
          <p:nvPr>
            <p:ph type="body" sz="quarter" idx="3"/>
          </p:nvPr>
        </p:nvSpPr>
        <p:spPr bwMode="auto">
          <a:xfrm>
            <a:off x="1023801" y="3373985"/>
            <a:ext cx="8187014" cy="3195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8006" name="Rectangle 6"/>
          <p:cNvSpPr>
            <a:spLocks noGrp="1" noChangeArrowheads="1"/>
          </p:cNvSpPr>
          <p:nvPr>
            <p:ph type="ftr" sz="quarter" idx="4"/>
          </p:nvPr>
        </p:nvSpPr>
        <p:spPr bwMode="auto">
          <a:xfrm>
            <a:off x="0"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7" name="Rectangle 7"/>
          <p:cNvSpPr>
            <a:spLocks noGrp="1" noChangeArrowheads="1"/>
          </p:cNvSpPr>
          <p:nvPr>
            <p:ph type="sldNum" sz="quarter" idx="5"/>
          </p:nvPr>
        </p:nvSpPr>
        <p:spPr bwMode="auto">
          <a:xfrm>
            <a:off x="5797583"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defRPr>
            </a:lvl1pPr>
          </a:lstStyle>
          <a:p>
            <a:fld id="{B375FC27-C9DA-4FC8-8D8B-B445BA50C65D}" type="slidenum">
              <a:rPr lang="en-US"/>
              <a:pPr/>
              <a:t>‹#›</a:t>
            </a:fld>
            <a:endParaRPr lang="en-US" dirty="0"/>
          </a:p>
        </p:txBody>
      </p:sp>
    </p:spTree>
    <p:extLst>
      <p:ext uri="{BB962C8B-B14F-4D97-AF65-F5344CB8AC3E}">
        <p14:creationId xmlns:p14="http://schemas.microsoft.com/office/powerpoint/2010/main" val="5728562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9B4E39-4D00-4267-BF7B-3EB06F42B2D0}" type="slidenum">
              <a:rPr lang="en-US"/>
              <a:pPr/>
              <a:t>19</a:t>
            </a:fld>
            <a:endParaRPr lang="en-US"/>
          </a:p>
        </p:txBody>
      </p:sp>
      <p:sp>
        <p:nvSpPr>
          <p:cNvPr id="204802" name="Rectangle 2"/>
          <p:cNvSpPr>
            <a:spLocks noGrp="1" noRot="1" noChangeAspect="1" noChangeArrowheads="1" noTextEdit="1"/>
          </p:cNvSpPr>
          <p:nvPr>
            <p:ph type="sldImg"/>
          </p:nvPr>
        </p:nvSpPr>
        <p:spPr>
          <a:xfrm>
            <a:off x="3292475" y="523875"/>
            <a:ext cx="3576638" cy="2682875"/>
          </a:xfrm>
          <a:ln/>
        </p:spPr>
      </p:sp>
      <p:sp>
        <p:nvSpPr>
          <p:cNvPr id="204803" name="Rectangle 3"/>
          <p:cNvSpPr>
            <a:spLocks noGrp="1" noChangeArrowheads="1"/>
          </p:cNvSpPr>
          <p:nvPr>
            <p:ph type="body" idx="1"/>
          </p:nvPr>
        </p:nvSpPr>
        <p:spPr>
          <a:xfrm>
            <a:off x="1339297" y="3382131"/>
            <a:ext cx="7482727" cy="3207153"/>
          </a:xfrm>
        </p:spPr>
        <p:txBody>
          <a:bodyPr/>
          <a:lstStyle/>
          <a:p>
            <a:r>
              <a:rPr lang="en-US"/>
              <a:t>Examples of context-free questions?</a:t>
            </a:r>
          </a:p>
        </p:txBody>
      </p:sp>
    </p:spTree>
    <p:extLst>
      <p:ext uri="{BB962C8B-B14F-4D97-AF65-F5344CB8AC3E}">
        <p14:creationId xmlns:p14="http://schemas.microsoft.com/office/powerpoint/2010/main" val="3244014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645CD8-3FCE-478E-A759-ACAF7BBAA330}" type="slidenum">
              <a:rPr lang="en-US"/>
              <a:pPr/>
              <a:t>21</a:t>
            </a:fld>
            <a:endParaRPr lang="en-US"/>
          </a:p>
        </p:txBody>
      </p:sp>
      <p:sp>
        <p:nvSpPr>
          <p:cNvPr id="207874" name="Rectangle 2"/>
          <p:cNvSpPr>
            <a:spLocks noGrp="1" noRot="1" noChangeAspect="1" noChangeArrowheads="1" noTextEdit="1"/>
          </p:cNvSpPr>
          <p:nvPr>
            <p:ph type="sldImg"/>
          </p:nvPr>
        </p:nvSpPr>
        <p:spPr>
          <a:xfrm>
            <a:off x="3292475" y="523875"/>
            <a:ext cx="3576638" cy="2682875"/>
          </a:xfrm>
          <a:ln/>
        </p:spPr>
      </p:sp>
      <p:sp>
        <p:nvSpPr>
          <p:cNvPr id="207875" name="Rectangle 3"/>
          <p:cNvSpPr>
            <a:spLocks noGrp="1" noChangeArrowheads="1"/>
          </p:cNvSpPr>
          <p:nvPr>
            <p:ph type="body" idx="1"/>
          </p:nvPr>
        </p:nvSpPr>
        <p:spPr>
          <a:xfrm>
            <a:off x="1339297" y="3382131"/>
            <a:ext cx="7482727" cy="3207153"/>
          </a:xfrm>
        </p:spPr>
        <p:txBody>
          <a:bodyPr/>
          <a:lstStyle/>
          <a:p>
            <a:r>
              <a:rPr lang="en-US" b="1"/>
              <a:t>Establish Customer or User Profile</a:t>
            </a:r>
          </a:p>
          <a:p>
            <a:r>
              <a:rPr lang="en-US"/>
              <a:t>Name:</a:t>
            </a:r>
          </a:p>
          <a:p>
            <a:r>
              <a:rPr lang="en-US"/>
              <a:t>Company:</a:t>
            </a:r>
          </a:p>
          <a:p>
            <a:r>
              <a:rPr lang="en-US"/>
              <a:t>Industry:</a:t>
            </a:r>
          </a:p>
          <a:p>
            <a:r>
              <a:rPr lang="en-US"/>
              <a:t>Job Title:</a:t>
            </a:r>
          </a:p>
          <a:p>
            <a:r>
              <a:rPr lang="en-US"/>
              <a:t>What are your key responsibilities?</a:t>
            </a:r>
          </a:p>
          <a:p>
            <a:r>
              <a:rPr lang="en-US"/>
              <a:t>What outputs do you produce?</a:t>
            </a:r>
          </a:p>
          <a:p>
            <a:r>
              <a:rPr lang="en-US"/>
              <a:t>For Whom?</a:t>
            </a:r>
          </a:p>
          <a:p>
            <a:r>
              <a:rPr lang="en-US"/>
              <a:t>How is success measured?</a:t>
            </a:r>
          </a:p>
          <a:p>
            <a:r>
              <a:rPr lang="en-US"/>
              <a:t>Which problems interfere with your success?</a:t>
            </a:r>
          </a:p>
          <a:p>
            <a:r>
              <a:rPr lang="en-US"/>
              <a:t>What, if any, trends make your job easier or more difficult?</a:t>
            </a:r>
          </a:p>
          <a:p>
            <a:r>
              <a:rPr lang="en-US" b="1"/>
              <a:t>Assessing the Problem</a:t>
            </a:r>
          </a:p>
          <a:p>
            <a:r>
              <a:rPr lang="en-US"/>
              <a:t>For which problems do you lack good solutions?</a:t>
            </a:r>
          </a:p>
          <a:p>
            <a:r>
              <a:rPr lang="en-US"/>
              <a:t>What are they? (Hint: Keep asking, “Anything else?”)</a:t>
            </a:r>
          </a:p>
          <a:p>
            <a:r>
              <a:rPr lang="en-US"/>
              <a:t>For each problem ask:</a:t>
            </a:r>
          </a:p>
          <a:p>
            <a:pPr lvl="1">
              <a:buFontTx/>
              <a:buChar char="•"/>
            </a:pPr>
            <a:r>
              <a:rPr lang="en-US"/>
              <a:t>Why does the problem exist?</a:t>
            </a:r>
          </a:p>
          <a:p>
            <a:pPr lvl="1">
              <a:buFontTx/>
              <a:buChar char="•"/>
            </a:pPr>
            <a:r>
              <a:rPr lang="en-US"/>
              <a:t>How do you solve it know?</a:t>
            </a:r>
          </a:p>
          <a:p>
            <a:pPr lvl="1">
              <a:buFontTx/>
              <a:buChar char="•"/>
            </a:pPr>
            <a:r>
              <a:rPr lang="en-US"/>
              <a:t>How would you like to solve it?</a:t>
            </a:r>
          </a:p>
          <a:p>
            <a:r>
              <a:rPr lang="en-US" b="1"/>
              <a:t>Understanding the User Environment</a:t>
            </a:r>
          </a:p>
          <a:p>
            <a:r>
              <a:rPr lang="en-US"/>
              <a:t>Who are the users?</a:t>
            </a:r>
          </a:p>
          <a:p>
            <a:r>
              <a:rPr lang="en-US"/>
              <a:t>What is their educational background?</a:t>
            </a:r>
          </a:p>
          <a:p>
            <a:r>
              <a:rPr lang="en-US"/>
              <a:t>What is their computer background?</a:t>
            </a:r>
          </a:p>
          <a:p>
            <a:r>
              <a:rPr lang="en-US"/>
              <a:t>Are users experienced with this type of application?</a:t>
            </a:r>
          </a:p>
          <a:p>
            <a:r>
              <a:rPr lang="en-US"/>
              <a:t>Which platforms are in use?</a:t>
            </a:r>
          </a:p>
          <a:p>
            <a:r>
              <a:rPr lang="en-US"/>
              <a:t>What are your plans for future platforms?</a:t>
            </a:r>
          </a:p>
          <a:p>
            <a:r>
              <a:rPr lang="en-US"/>
              <a:t>What are your expectations for usability for this type of product?</a:t>
            </a:r>
          </a:p>
          <a:p>
            <a:r>
              <a:rPr lang="en-US"/>
              <a:t>What are your expectations for training time?</a:t>
            </a:r>
          </a:p>
          <a:p>
            <a:r>
              <a:rPr lang="en-US"/>
              <a:t>What kinds of user help do you need?</a:t>
            </a:r>
          </a:p>
          <a:p>
            <a:r>
              <a:rPr lang="en-US" b="1"/>
              <a:t>Recap the Understanding</a:t>
            </a:r>
          </a:p>
          <a:p>
            <a:r>
              <a:rPr lang="en-US"/>
              <a:t>You have told me:</a:t>
            </a:r>
          </a:p>
          <a:p>
            <a:r>
              <a:rPr lang="en-US"/>
              <a:t>(List customer described problems in your own words.)</a:t>
            </a:r>
          </a:p>
          <a:p>
            <a:pPr lvl="1">
              <a:buFontTx/>
              <a:buChar char="•"/>
            </a:pPr>
            <a:r>
              <a:rPr lang="en-US"/>
              <a:t> </a:t>
            </a:r>
          </a:p>
          <a:p>
            <a:pPr lvl="1">
              <a:buFontTx/>
              <a:buChar char="•"/>
            </a:pPr>
            <a:r>
              <a:rPr lang="en-US"/>
              <a:t> </a:t>
            </a:r>
          </a:p>
          <a:p>
            <a:pPr lvl="1">
              <a:buFontTx/>
              <a:buChar char="•"/>
            </a:pPr>
            <a:r>
              <a:rPr lang="en-US"/>
              <a:t> </a:t>
            </a:r>
          </a:p>
          <a:p>
            <a:r>
              <a:rPr lang="en-US" b="1"/>
              <a:t>Analyst’s Inputs on Customer’s Problems</a:t>
            </a:r>
          </a:p>
          <a:p>
            <a:r>
              <a:rPr lang="en-US"/>
              <a:t>(Validate or Invalidate assumptions)</a:t>
            </a:r>
          </a:p>
          <a:p>
            <a:r>
              <a:rPr lang="en-US"/>
              <a:t>For each problem ask,</a:t>
            </a:r>
          </a:p>
          <a:p>
            <a:pPr lvl="1">
              <a:buFontTx/>
              <a:buChar char="•"/>
            </a:pPr>
            <a:r>
              <a:rPr lang="en-US"/>
              <a:t>Is this a real problem?</a:t>
            </a:r>
          </a:p>
          <a:p>
            <a:pPr lvl="1">
              <a:buFontTx/>
              <a:buChar char="•"/>
            </a:pPr>
            <a:r>
              <a:rPr lang="en-US"/>
              <a:t>What are the reasons for the problem?</a:t>
            </a:r>
          </a:p>
          <a:p>
            <a:pPr lvl="1">
              <a:buFontTx/>
              <a:buChar char="•"/>
            </a:pPr>
            <a:r>
              <a:rPr lang="en-US"/>
              <a:t>How do you currently solve the problem?</a:t>
            </a:r>
          </a:p>
          <a:p>
            <a:pPr lvl="1">
              <a:buFontTx/>
              <a:buChar char="•"/>
            </a:pPr>
            <a:r>
              <a:rPr lang="en-US"/>
              <a:t>How would you like to solve the problem?</a:t>
            </a:r>
          </a:p>
          <a:p>
            <a:pPr lvl="1">
              <a:buFontTx/>
              <a:buChar char="•"/>
            </a:pPr>
            <a:r>
              <a:rPr lang="en-US"/>
              <a:t>How would you rank solving these problems in comparison to others you’ve mentioned?</a:t>
            </a:r>
          </a:p>
          <a:p>
            <a:r>
              <a:rPr lang="en-US" b="1"/>
              <a:t>Assessing Your Solution (if applicable)</a:t>
            </a:r>
          </a:p>
          <a:p>
            <a:r>
              <a:rPr lang="en-US"/>
              <a:t>What if you could</a:t>
            </a:r>
          </a:p>
          <a:p>
            <a:pPr lvl="1">
              <a:buFontTx/>
              <a:buChar char="•"/>
            </a:pPr>
            <a:r>
              <a:rPr lang="en-US"/>
              <a:t> </a:t>
            </a:r>
          </a:p>
          <a:p>
            <a:pPr lvl="1">
              <a:buFontTx/>
              <a:buChar char="•"/>
            </a:pPr>
            <a:r>
              <a:rPr lang="en-US"/>
              <a:t> </a:t>
            </a:r>
          </a:p>
          <a:p>
            <a:r>
              <a:rPr lang="en-US"/>
              <a:t>How would you rank the importance of these?</a:t>
            </a:r>
          </a:p>
          <a:p>
            <a:endParaRPr lang="en-US" b="1"/>
          </a:p>
        </p:txBody>
      </p:sp>
    </p:spTree>
    <p:extLst>
      <p:ext uri="{BB962C8B-B14F-4D97-AF65-F5344CB8AC3E}">
        <p14:creationId xmlns:p14="http://schemas.microsoft.com/office/powerpoint/2010/main" val="1719052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F67A5F-16AB-47EB-9952-404C96B514F7}" type="slidenum">
              <a:rPr lang="en-US"/>
              <a:pPr/>
              <a:t>29</a:t>
            </a:fld>
            <a:endParaRPr lang="en-US"/>
          </a:p>
        </p:txBody>
      </p:sp>
      <p:sp>
        <p:nvSpPr>
          <p:cNvPr id="202754" name="Rectangle 2"/>
          <p:cNvSpPr>
            <a:spLocks noGrp="1" noRot="1" noChangeAspect="1" noChangeArrowheads="1" noTextEdit="1"/>
          </p:cNvSpPr>
          <p:nvPr>
            <p:ph type="sldImg"/>
          </p:nvPr>
        </p:nvSpPr>
        <p:spPr>
          <a:xfrm>
            <a:off x="3292475" y="523875"/>
            <a:ext cx="3576638" cy="2682875"/>
          </a:xfrm>
          <a:ln/>
        </p:spPr>
      </p:sp>
      <p:sp>
        <p:nvSpPr>
          <p:cNvPr id="202755" name="Rectangle 3"/>
          <p:cNvSpPr>
            <a:spLocks noGrp="1" noChangeArrowheads="1"/>
          </p:cNvSpPr>
          <p:nvPr>
            <p:ph type="body" idx="1"/>
          </p:nvPr>
        </p:nvSpPr>
        <p:spPr>
          <a:xfrm>
            <a:off x="1339297" y="3382131"/>
            <a:ext cx="7482727" cy="3207153"/>
          </a:xfrm>
        </p:spPr>
        <p:txBody>
          <a:bodyPr/>
          <a:lstStyle/>
          <a:p>
            <a:r>
              <a:rPr lang="en-US"/>
              <a:t>What does this have to do with engineering?  Everything.  So far, the only creatures we have found to use as engineers are people.  Same goes for marketing, testing, strategic planning, etc.</a:t>
            </a:r>
          </a:p>
          <a:p>
            <a:endParaRPr lang="en-US"/>
          </a:p>
          <a:p>
            <a:r>
              <a:rPr lang="en-US"/>
              <a:t>The engineer’s tendency to shy away from actions needed to encourage, cajole, and motivate humans to be productive leads to unproductive meetings.</a:t>
            </a:r>
          </a:p>
        </p:txBody>
      </p:sp>
    </p:spTree>
    <p:extLst>
      <p:ext uri="{BB962C8B-B14F-4D97-AF65-F5344CB8AC3E}">
        <p14:creationId xmlns:p14="http://schemas.microsoft.com/office/powerpoint/2010/main" val="657102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rgbClr val="C00000"/>
                </a:solidFill>
                <a:effectLst>
                  <a:outerShdw blurRad="31750" dist="25400" dir="5400000" algn="tl" rotWithShape="0">
                    <a:srgbClr val="000000">
                      <a:alpha val="25000"/>
                    </a:srgbClr>
                  </a:outerShdw>
                </a:effectLst>
              </a:defRPr>
            </a:lvl1pPr>
            <a:extLst/>
          </a:lstStyle>
          <a:p>
            <a:r>
              <a:rPr kumimoji="0" lang="en-US" dirty="0" smtClean="0"/>
              <a:t>Click to edit Master title style</a:t>
            </a:r>
            <a:endParaRPr kumimoji="0"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D6F981B-5368-48B0-8DC1-5E439685D15B}" type="slidenum">
              <a:rPr lang="en-US" smtClean="0"/>
              <a:pPr/>
              <a:t>‹#›</a:t>
            </a:fld>
            <a:endParaRPr lang="en-US" dirty="0"/>
          </a:p>
        </p:txBody>
      </p:sp>
      <p:pic>
        <p:nvPicPr>
          <p:cNvPr id="13" name="Picture 12" descr="dse_logo_clr.jpg"/>
          <p:cNvPicPr>
            <a:picLocks noChangeAspect="1"/>
          </p:cNvPicPr>
          <p:nvPr userDrawn="1"/>
        </p:nvPicPr>
        <p:blipFill>
          <a:blip r:embed="rId3" cstate="print"/>
          <a:stretch>
            <a:fillRect/>
          </a:stretch>
        </p:blipFill>
        <p:spPr>
          <a:xfrm>
            <a:off x="7622841" y="54864"/>
            <a:ext cx="1451056" cy="169773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D8E39768-55DC-42DF-B2CB-4D4CE6063993}" type="slidenum">
              <a:rPr lang="en-US" smtClean="0"/>
              <a:pPr/>
              <a:t>‹#›</a:t>
            </a:fld>
            <a:endParaRPr lang="en-US"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solidFill>
                  <a:srgbClr val="008000"/>
                </a:solidFill>
                <a:effectLst>
                  <a:outerShdw blurRad="31750" dist="25400" dir="5400000" algn="tl" rotWithShape="0">
                    <a:srgbClr val="000000">
                      <a:alpha val="25000"/>
                    </a:srgbClr>
                  </a:outerShdw>
                </a:effectLst>
              </a:defRPr>
            </a:lvl1pPr>
            <a:extLst/>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8483D255-0C04-4D39-A4CD-FCC0B5073F6E}"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rgbClr val="008000"/>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rgbClr val="008000"/>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13D9D79A-F946-4617-93EE-BA949AD47439}"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61081621-0B77-4E7D-8BD7-0767F3E05AB6}"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1"/>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EFB2B2A6-2657-4C65-993A-37AD5A8BFA13}"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D39BEC99-8755-42E6-A142-15F8A97C0276}"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BAFB4B43-2647-4DB3-812C-88FAA9FABE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4570D00-7FB1-483A-9555-997AB2D170E1}"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A9C22A75-4EAE-42DD-A329-D351D2353A1F}"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210CC31-C690-42E2-91AE-B48223F38F8E}"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4CA22F1-4A8B-4633-A241-853BEA80DC70}" type="slidenum">
              <a:rPr lang="en-US" smtClean="0"/>
              <a:pPr/>
              <a:t>‹#›</a:t>
            </a:fld>
            <a:endParaRPr lang="en-US" dirty="0"/>
          </a:p>
        </p:txBody>
      </p:sp>
      <p:pic>
        <p:nvPicPr>
          <p:cNvPr id="11" name="Picture 10" descr="dse_logo_clr.jpg"/>
          <p:cNvPicPr>
            <a:picLocks noChangeAspect="1"/>
          </p:cNvPicPr>
          <p:nvPr userDrawn="1"/>
        </p:nvPicPr>
        <p:blipFill>
          <a:blip r:embed="rId14" cstate="print"/>
          <a:stretch>
            <a:fillRect/>
          </a:stretch>
        </p:blipFill>
        <p:spPr>
          <a:xfrm>
            <a:off x="8548937" y="6172200"/>
            <a:ext cx="515815" cy="603503"/>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rtl="0" eaLnBrk="1" latinLnBrk="0" hangingPunct="1">
        <a:spcBef>
          <a:spcPct val="0"/>
        </a:spcBef>
        <a:buNone/>
        <a:defRPr kumimoji="0" sz="4100" b="1" kern="1200" baseline="0">
          <a:solidFill>
            <a:schemeClr val="bg2">
              <a:lumMod val="50000"/>
            </a:schemeClr>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6" name="Rectangle 10"/>
          <p:cNvSpPr>
            <a:spLocks noGrp="1" noChangeArrowheads="1"/>
          </p:cNvSpPr>
          <p:nvPr>
            <p:ph type="ctrTitle"/>
          </p:nvPr>
        </p:nvSpPr>
        <p:spPr/>
        <p:txBody>
          <a:bodyPr/>
          <a:lstStyle/>
          <a:p>
            <a:r>
              <a:rPr lang="en-US" dirty="0" smtClean="0"/>
              <a:t>Requirements Engineering</a:t>
            </a:r>
            <a:endParaRPr lang="en-US" dirty="0"/>
          </a:p>
        </p:txBody>
      </p:sp>
      <p:sp>
        <p:nvSpPr>
          <p:cNvPr id="2" name="Subtitle 1"/>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dirty="0"/>
              <a:t>Words of Wisdom</a:t>
            </a:r>
          </a:p>
        </p:txBody>
      </p:sp>
      <p:sp>
        <p:nvSpPr>
          <p:cNvPr id="128003" name="Rectangle 3"/>
          <p:cNvSpPr>
            <a:spLocks noGrp="1" noChangeArrowheads="1"/>
          </p:cNvSpPr>
          <p:nvPr>
            <p:ph type="body" idx="1"/>
          </p:nvPr>
        </p:nvSpPr>
        <p:spPr/>
        <p:txBody>
          <a:bodyPr>
            <a:normAutofit lnSpcReduction="10000"/>
          </a:bodyPr>
          <a:lstStyle/>
          <a:p>
            <a:r>
              <a:rPr lang="en-US" sz="3600" dirty="0" smtClean="0"/>
              <a:t>As adults, our choices are unlimited.  Even in the worst of circumstances, we could make several choices.  Remember to be free is to be free to choose.  Make a wise choice.</a:t>
            </a:r>
            <a:endParaRPr lang="en-US" sz="3600" dirty="0"/>
          </a:p>
          <a:p>
            <a:r>
              <a:rPr lang="en-US" sz="2800" i="1" dirty="0" smtClean="0"/>
              <a:t>Say “ Ye shall not be questioned as to our sins nor shall we be questioned as to what ye do” </a:t>
            </a:r>
            <a:r>
              <a:rPr lang="en-US" sz="2800" dirty="0" smtClean="0"/>
              <a:t>Al-Qur’an (34:25</a:t>
            </a:r>
            <a:r>
              <a:rPr lang="en-US" sz="28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dirty="0" smtClean="0"/>
              <a:t>Software Development Process Models</a:t>
            </a:r>
          </a:p>
          <a:p>
            <a:pPr lvl="1"/>
            <a:r>
              <a:rPr lang="en-GB" dirty="0" smtClean="0"/>
              <a:t>From Requirements Engineering perspective</a:t>
            </a:r>
          </a:p>
          <a:p>
            <a:endParaRPr lang="en-GB" dirty="0" smtClean="0"/>
          </a:p>
          <a:p>
            <a:r>
              <a:rPr lang="en-GB" dirty="0" smtClean="0"/>
              <a:t>Generic Requirements Engineering activities</a:t>
            </a:r>
          </a:p>
          <a:p>
            <a:endParaRPr lang="en-GB" dirty="0" smtClean="0"/>
          </a:p>
          <a:p>
            <a:r>
              <a:rPr lang="en-GB" dirty="0" smtClean="0"/>
              <a:t>Requirements Engineering Process Models</a:t>
            </a:r>
          </a:p>
          <a:p>
            <a:endParaRPr lang="en-GB" dirty="0" smtClean="0"/>
          </a:p>
          <a:p>
            <a:r>
              <a:rPr lang="en-GB" dirty="0" smtClean="0"/>
              <a:t>RE Process Maturity and Improvement</a:t>
            </a:r>
          </a:p>
        </p:txBody>
      </p:sp>
      <p:sp>
        <p:nvSpPr>
          <p:cNvPr id="3" name="Title 2"/>
          <p:cNvSpPr>
            <a:spLocks noGrp="1"/>
          </p:cNvSpPr>
          <p:nvPr>
            <p:ph type="title"/>
          </p:nvPr>
        </p:nvSpPr>
        <p:spPr/>
        <p:txBody>
          <a:bodyPr/>
          <a:lstStyle/>
          <a:p>
            <a:r>
              <a:rPr lang="en-GB" dirty="0" smtClean="0"/>
              <a:t>In the last lecture we covered</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t>Requirements Elicitation</a:t>
            </a:r>
          </a:p>
        </p:txBody>
      </p:sp>
      <p:sp>
        <p:nvSpPr>
          <p:cNvPr id="100355" name="Rectangle 3"/>
          <p:cNvSpPr>
            <a:spLocks noGrp="1" noChangeArrowheads="1"/>
          </p:cNvSpPr>
          <p:nvPr>
            <p:ph type="body" idx="1"/>
          </p:nvPr>
        </p:nvSpPr>
        <p:spPr>
          <a:xfrm>
            <a:off x="457200" y="1371600"/>
            <a:ext cx="8229600" cy="5105400"/>
          </a:xfrm>
        </p:spPr>
        <p:txBody>
          <a:bodyPr/>
          <a:lstStyle/>
          <a:p>
            <a:pPr>
              <a:lnSpc>
                <a:spcPct val="80000"/>
              </a:lnSpc>
            </a:pPr>
            <a:r>
              <a:rPr lang="en-US" sz="2400" dirty="0"/>
              <a:t>‘Elicitation’ is not universally accepted</a:t>
            </a:r>
          </a:p>
          <a:p>
            <a:pPr lvl="1">
              <a:lnSpc>
                <a:spcPct val="80000"/>
              </a:lnSpc>
            </a:pPr>
            <a:r>
              <a:rPr lang="en-US" sz="2000" dirty="0"/>
              <a:t>Identifying</a:t>
            </a:r>
          </a:p>
          <a:p>
            <a:pPr lvl="1">
              <a:lnSpc>
                <a:spcPct val="80000"/>
              </a:lnSpc>
            </a:pPr>
            <a:r>
              <a:rPr lang="en-US" sz="2000" dirty="0"/>
              <a:t>Gathering</a:t>
            </a:r>
          </a:p>
          <a:p>
            <a:pPr lvl="1">
              <a:lnSpc>
                <a:spcPct val="80000"/>
              </a:lnSpc>
            </a:pPr>
            <a:r>
              <a:rPr lang="en-US" sz="2000" dirty="0"/>
              <a:t>Determining</a:t>
            </a:r>
          </a:p>
          <a:p>
            <a:pPr lvl="1">
              <a:lnSpc>
                <a:spcPct val="80000"/>
              </a:lnSpc>
            </a:pPr>
            <a:r>
              <a:rPr lang="en-US" sz="2000" dirty="0"/>
              <a:t>Formulating</a:t>
            </a:r>
          </a:p>
          <a:p>
            <a:pPr lvl="1">
              <a:lnSpc>
                <a:spcPct val="80000"/>
              </a:lnSpc>
            </a:pPr>
            <a:r>
              <a:rPr lang="en-US" sz="2000" dirty="0"/>
              <a:t>Extracting</a:t>
            </a:r>
          </a:p>
          <a:p>
            <a:pPr lvl="1">
              <a:lnSpc>
                <a:spcPct val="80000"/>
              </a:lnSpc>
            </a:pPr>
            <a:r>
              <a:rPr lang="en-US" sz="2000" dirty="0"/>
              <a:t>Exposing</a:t>
            </a:r>
          </a:p>
          <a:p>
            <a:pPr>
              <a:lnSpc>
                <a:spcPct val="80000"/>
              </a:lnSpc>
            </a:pPr>
            <a:r>
              <a:rPr lang="en-US" sz="2400" dirty="0"/>
              <a:t>The term “elicitation” is preferred to “capture”, to avoid the suggestion that requirements are out there to be collected simply by asking the right questions. (</a:t>
            </a:r>
            <a:r>
              <a:rPr lang="en-US" sz="2400" dirty="0" err="1"/>
              <a:t>Goguen</a:t>
            </a:r>
            <a:r>
              <a:rPr lang="en-US" sz="2400" dirty="0"/>
              <a:t> &amp; </a:t>
            </a:r>
            <a:r>
              <a:rPr lang="en-US" sz="2400" dirty="0" err="1"/>
              <a:t>Jirotka</a:t>
            </a:r>
            <a:r>
              <a:rPr lang="en-US" sz="2400" dirty="0"/>
              <a:t> 1994)</a:t>
            </a:r>
          </a:p>
          <a:p>
            <a:pPr>
              <a:lnSpc>
                <a:spcPct val="80000"/>
              </a:lnSpc>
            </a:pPr>
            <a:r>
              <a:rPr lang="en-US" sz="2400" dirty="0"/>
              <a:t>Elicitation refers to gathering the requirements of the system from different stakeholders. Boundaries, identification of stakeholders, goals and tasks performed are discovered in this phase (</a:t>
            </a:r>
            <a:r>
              <a:rPr lang="en-US" sz="2400" dirty="0" err="1"/>
              <a:t>Nuseibeh</a:t>
            </a:r>
            <a:r>
              <a:rPr lang="en-US" sz="2400" dirty="0"/>
              <a:t> and Easterbrook, 2000).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0355">
                                            <p:txEl>
                                              <p:pRg st="0" end="0"/>
                                            </p:txEl>
                                          </p:spTgt>
                                        </p:tgtEl>
                                        <p:attrNameLst>
                                          <p:attrName>style.visibility</p:attrName>
                                        </p:attrNameLst>
                                      </p:cBhvr>
                                      <p:to>
                                        <p:strVal val="visible"/>
                                      </p:to>
                                    </p:set>
                                    <p:anim calcmode="lin" valueType="num">
                                      <p:cBhvr additive="base">
                                        <p:cTn id="7" dur="500" fill="hold"/>
                                        <p:tgtEl>
                                          <p:spTgt spid="1003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035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0355">
                                            <p:txEl>
                                              <p:pRg st="1" end="1"/>
                                            </p:txEl>
                                          </p:spTgt>
                                        </p:tgtEl>
                                        <p:attrNameLst>
                                          <p:attrName>style.visibility</p:attrName>
                                        </p:attrNameLst>
                                      </p:cBhvr>
                                      <p:to>
                                        <p:strVal val="visible"/>
                                      </p:to>
                                    </p:set>
                                    <p:anim calcmode="lin" valueType="num">
                                      <p:cBhvr additive="base">
                                        <p:cTn id="13" dur="500" fill="hold"/>
                                        <p:tgtEl>
                                          <p:spTgt spid="10035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0355">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00355">
                                            <p:txEl>
                                              <p:pRg st="2" end="2"/>
                                            </p:txEl>
                                          </p:spTgt>
                                        </p:tgtEl>
                                        <p:attrNameLst>
                                          <p:attrName>style.visibility</p:attrName>
                                        </p:attrNameLst>
                                      </p:cBhvr>
                                      <p:to>
                                        <p:strVal val="visible"/>
                                      </p:to>
                                    </p:set>
                                    <p:anim calcmode="lin" valueType="num">
                                      <p:cBhvr additive="base">
                                        <p:cTn id="19" dur="500" fill="hold"/>
                                        <p:tgtEl>
                                          <p:spTgt spid="10035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035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00355">
                                            <p:txEl>
                                              <p:pRg st="3" end="3"/>
                                            </p:txEl>
                                          </p:spTgt>
                                        </p:tgtEl>
                                        <p:attrNameLst>
                                          <p:attrName>style.visibility</p:attrName>
                                        </p:attrNameLst>
                                      </p:cBhvr>
                                      <p:to>
                                        <p:strVal val="visible"/>
                                      </p:to>
                                    </p:set>
                                    <p:anim calcmode="lin" valueType="num">
                                      <p:cBhvr additive="base">
                                        <p:cTn id="25" dur="500" fill="hold"/>
                                        <p:tgtEl>
                                          <p:spTgt spid="10035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0355">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00355">
                                            <p:txEl>
                                              <p:pRg st="4" end="4"/>
                                            </p:txEl>
                                          </p:spTgt>
                                        </p:tgtEl>
                                        <p:attrNameLst>
                                          <p:attrName>style.visibility</p:attrName>
                                        </p:attrNameLst>
                                      </p:cBhvr>
                                      <p:to>
                                        <p:strVal val="visible"/>
                                      </p:to>
                                    </p:set>
                                    <p:anim calcmode="lin" valueType="num">
                                      <p:cBhvr additive="base">
                                        <p:cTn id="31" dur="500" fill="hold"/>
                                        <p:tgtEl>
                                          <p:spTgt spid="10035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0035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arbrake.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00355">
                                            <p:txEl>
                                              <p:pRg st="5" end="5"/>
                                            </p:txEl>
                                          </p:spTgt>
                                        </p:tgtEl>
                                        <p:attrNameLst>
                                          <p:attrName>style.visibility</p:attrName>
                                        </p:attrNameLst>
                                      </p:cBhvr>
                                      <p:to>
                                        <p:strVal val="visible"/>
                                      </p:to>
                                    </p:set>
                                    <p:anim calcmode="lin" valueType="num">
                                      <p:cBhvr additive="base">
                                        <p:cTn id="37" dur="500" fill="hold"/>
                                        <p:tgtEl>
                                          <p:spTgt spid="100355">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00355">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00355">
                                            <p:txEl>
                                              <p:pRg st="6" end="6"/>
                                            </p:txEl>
                                          </p:spTgt>
                                        </p:tgtEl>
                                        <p:attrNameLst>
                                          <p:attrName>style.visibility</p:attrName>
                                        </p:attrNameLst>
                                      </p:cBhvr>
                                      <p:to>
                                        <p:strVal val="visible"/>
                                      </p:to>
                                    </p:set>
                                    <p:anim calcmode="lin" valueType="num">
                                      <p:cBhvr additive="base">
                                        <p:cTn id="43" dur="500" fill="hold"/>
                                        <p:tgtEl>
                                          <p:spTgt spid="100355">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00355">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arbrake.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00355">
                                            <p:txEl>
                                              <p:pRg st="7" end="7"/>
                                            </p:txEl>
                                          </p:spTgt>
                                        </p:tgtEl>
                                        <p:attrNameLst>
                                          <p:attrName>style.visibility</p:attrName>
                                        </p:attrNameLst>
                                      </p:cBhvr>
                                      <p:to>
                                        <p:strVal val="visible"/>
                                      </p:to>
                                    </p:set>
                                    <p:anim calcmode="lin" valueType="num">
                                      <p:cBhvr additive="base">
                                        <p:cTn id="49" dur="500" fill="hold"/>
                                        <p:tgtEl>
                                          <p:spTgt spid="100355">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00355">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rbrake.wav"/>
                                        </p:tgtEl>
                                      </p:cMediaNode>
                                    </p:audio>
                                  </p:sub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00355">
                                            <p:txEl>
                                              <p:pRg st="8" end="8"/>
                                            </p:txEl>
                                          </p:spTgt>
                                        </p:tgtEl>
                                        <p:attrNameLst>
                                          <p:attrName>style.visibility</p:attrName>
                                        </p:attrNameLst>
                                      </p:cBhvr>
                                      <p:to>
                                        <p:strVal val="visible"/>
                                      </p:to>
                                    </p:set>
                                    <p:anim calcmode="lin" valueType="num">
                                      <p:cBhvr additive="base">
                                        <p:cTn id="55" dur="500" fill="hold"/>
                                        <p:tgtEl>
                                          <p:spTgt spid="100355">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00355">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5"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dirty="0"/>
              <a:t>Why do elicitation?</a:t>
            </a:r>
          </a:p>
        </p:txBody>
      </p:sp>
      <p:sp>
        <p:nvSpPr>
          <p:cNvPr id="142339" name="Rectangle 3"/>
          <p:cNvSpPr>
            <a:spLocks noGrp="1" noChangeArrowheads="1"/>
          </p:cNvSpPr>
          <p:nvPr>
            <p:ph type="body" idx="1"/>
          </p:nvPr>
        </p:nvSpPr>
        <p:spPr/>
        <p:txBody>
          <a:bodyPr/>
          <a:lstStyle/>
          <a:p>
            <a:r>
              <a:rPr lang="en-US"/>
              <a:t>Not doing elicitation means “I do not want to know [or care] what my customer wants?”</a:t>
            </a:r>
          </a:p>
          <a:p>
            <a:r>
              <a:rPr lang="en-US"/>
              <a:t>Resulting in to a system which will not solve real world problem of the customer.</a:t>
            </a:r>
          </a:p>
          <a:p>
            <a:r>
              <a:rPr lang="en-US"/>
              <a:t>The system will not be used and thus fail.</a:t>
            </a:r>
          </a:p>
          <a:p>
            <a:r>
              <a:rPr lang="en-US"/>
              <a:t>Return on investment?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slide(fromBottom)">
                                      <p:cBhvr>
                                        <p:cTn id="7" dur="500"/>
                                        <p:tgtEl>
                                          <p:spTgt spid="142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2339">
                                            <p:txEl>
                                              <p:pRg st="1" end="1"/>
                                            </p:txEl>
                                          </p:spTgt>
                                        </p:tgtEl>
                                        <p:attrNameLst>
                                          <p:attrName>style.visibility</p:attrName>
                                        </p:attrNameLst>
                                      </p:cBhvr>
                                      <p:to>
                                        <p:strVal val="visible"/>
                                      </p:to>
                                    </p:set>
                                    <p:animEffect transition="in" filter="slide(fromBottom)">
                                      <p:cBhvr>
                                        <p:cTn id="12" dur="500"/>
                                        <p:tgtEl>
                                          <p:spTgt spid="142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2339">
                                            <p:txEl>
                                              <p:pRg st="2" end="2"/>
                                            </p:txEl>
                                          </p:spTgt>
                                        </p:tgtEl>
                                        <p:attrNameLst>
                                          <p:attrName>style.visibility</p:attrName>
                                        </p:attrNameLst>
                                      </p:cBhvr>
                                      <p:to>
                                        <p:strVal val="visible"/>
                                      </p:to>
                                    </p:set>
                                    <p:animEffect transition="in" filter="slide(fromBottom)">
                                      <p:cBhvr>
                                        <p:cTn id="17" dur="500"/>
                                        <p:tgtEl>
                                          <p:spTgt spid="142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2339">
                                            <p:txEl>
                                              <p:pRg st="3" end="3"/>
                                            </p:txEl>
                                          </p:spTgt>
                                        </p:tgtEl>
                                        <p:attrNameLst>
                                          <p:attrName>style.visibility</p:attrName>
                                        </p:attrNameLst>
                                      </p:cBhvr>
                                      <p:to>
                                        <p:strVal val="visible"/>
                                      </p:to>
                                    </p:set>
                                    <p:animEffect transition="in" filter="slide(fromBottom)">
                                      <p:cBhvr>
                                        <p:cTn id="22" dur="500"/>
                                        <p:tgtEl>
                                          <p:spTgt spid="142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normAutofit fontScale="90000"/>
          </a:bodyPr>
          <a:lstStyle/>
          <a:p>
            <a:r>
              <a:rPr lang="en-US" sz="4000"/>
              <a:t>How to do requirements </a:t>
            </a:r>
            <a:r>
              <a:rPr lang="en-US" sz="3600"/>
              <a:t>elicitation</a:t>
            </a:r>
            <a:r>
              <a:rPr lang="en-US" sz="4000"/>
              <a:t>?</a:t>
            </a:r>
          </a:p>
        </p:txBody>
      </p:sp>
      <p:sp>
        <p:nvSpPr>
          <p:cNvPr id="143363" name="Rectangle 3"/>
          <p:cNvSpPr>
            <a:spLocks noGrp="1" noChangeArrowheads="1"/>
          </p:cNvSpPr>
          <p:nvPr>
            <p:ph type="body" idx="1"/>
          </p:nvPr>
        </p:nvSpPr>
        <p:spPr/>
        <p:txBody>
          <a:bodyPr/>
          <a:lstStyle/>
          <a:p>
            <a:pPr>
              <a:lnSpc>
                <a:spcPct val="90000"/>
              </a:lnSpc>
            </a:pPr>
            <a:r>
              <a:rPr lang="en-US"/>
              <a:t>Elicitation is the process of </a:t>
            </a:r>
          </a:p>
          <a:p>
            <a:pPr lvl="1">
              <a:lnSpc>
                <a:spcPct val="90000"/>
              </a:lnSpc>
            </a:pPr>
            <a:r>
              <a:rPr lang="en-US"/>
              <a:t>identifying needs and bridging the disparities among the involved communities for the purpose of defining and distilling requirements to meet the constraints of these communities</a:t>
            </a:r>
          </a:p>
          <a:p>
            <a:pPr>
              <a:lnSpc>
                <a:spcPct val="90000"/>
              </a:lnSpc>
            </a:pPr>
            <a:r>
              <a:rPr lang="en-US"/>
              <a:t>Requirements elicitation itself can be broken down into the activities</a:t>
            </a:r>
          </a:p>
          <a:p>
            <a:pPr lvl="1">
              <a:lnSpc>
                <a:spcPct val="90000"/>
              </a:lnSpc>
            </a:pPr>
            <a:r>
              <a:rPr lang="en-US"/>
              <a:t>fact-finding</a:t>
            </a:r>
          </a:p>
          <a:p>
            <a:pPr lvl="1">
              <a:lnSpc>
                <a:spcPct val="90000"/>
              </a:lnSpc>
            </a:pPr>
            <a:r>
              <a:rPr lang="en-US"/>
              <a:t>Information gathering, and</a:t>
            </a:r>
          </a:p>
          <a:p>
            <a:pPr lvl="1">
              <a:lnSpc>
                <a:spcPct val="90000"/>
              </a:lnSpc>
            </a:pPr>
            <a:r>
              <a:rPr lang="en-US"/>
              <a:t>Integration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3363">
                                            <p:txEl>
                                              <p:pRg st="1" end="1"/>
                                            </p:txEl>
                                          </p:spTgt>
                                        </p:tgtEl>
                                        <p:attrNameLst>
                                          <p:attrName>style.visibility</p:attrName>
                                        </p:attrNameLst>
                                      </p:cBhvr>
                                      <p:to>
                                        <p:strVal val="visible"/>
                                      </p:to>
                                    </p:set>
                                    <p:anim calcmode="lin" valueType="num">
                                      <p:cBhvr additive="base">
                                        <p:cTn id="11"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3363">
                                            <p:txEl>
                                              <p:pRg st="2" end="2"/>
                                            </p:txEl>
                                          </p:spTgt>
                                        </p:tgtEl>
                                        <p:attrNameLst>
                                          <p:attrName>style.visibility</p:attrName>
                                        </p:attrNameLst>
                                      </p:cBhvr>
                                      <p:to>
                                        <p:strVal val="visible"/>
                                      </p:to>
                                    </p:set>
                                    <p:anim calcmode="lin" valueType="num">
                                      <p:cBhvr additive="base">
                                        <p:cTn id="17" dur="500" fill="hold"/>
                                        <p:tgtEl>
                                          <p:spTgt spid="14336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336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3363">
                                            <p:txEl>
                                              <p:pRg st="3" end="3"/>
                                            </p:txEl>
                                          </p:spTgt>
                                        </p:tgtEl>
                                        <p:attrNameLst>
                                          <p:attrName>style.visibility</p:attrName>
                                        </p:attrNameLst>
                                      </p:cBhvr>
                                      <p:to>
                                        <p:strVal val="visible"/>
                                      </p:to>
                                    </p:set>
                                    <p:anim calcmode="lin" valueType="num">
                                      <p:cBhvr additive="base">
                                        <p:cTn id="21" dur="500" fill="hold"/>
                                        <p:tgtEl>
                                          <p:spTgt spid="14336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336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43363">
                                            <p:txEl>
                                              <p:pRg st="4" end="4"/>
                                            </p:txEl>
                                          </p:spTgt>
                                        </p:tgtEl>
                                        <p:attrNameLst>
                                          <p:attrName>style.visibility</p:attrName>
                                        </p:attrNameLst>
                                      </p:cBhvr>
                                      <p:to>
                                        <p:strVal val="visible"/>
                                      </p:to>
                                    </p:set>
                                    <p:anim calcmode="lin" valueType="num">
                                      <p:cBhvr additive="base">
                                        <p:cTn id="25" dur="500" fill="hold"/>
                                        <p:tgtEl>
                                          <p:spTgt spid="14336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336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43363">
                                            <p:txEl>
                                              <p:pRg st="5" end="5"/>
                                            </p:txEl>
                                          </p:spTgt>
                                        </p:tgtEl>
                                        <p:attrNameLst>
                                          <p:attrName>style.visibility</p:attrName>
                                        </p:attrNameLst>
                                      </p:cBhvr>
                                      <p:to>
                                        <p:strVal val="visible"/>
                                      </p:to>
                                    </p:set>
                                    <p:anim calcmode="lin" valueType="num">
                                      <p:cBhvr additive="base">
                                        <p:cTn id="29" dur="500" fill="hold"/>
                                        <p:tgtEl>
                                          <p:spTgt spid="14336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33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457200" y="-30707"/>
            <a:ext cx="8229600" cy="1143000"/>
          </a:xfrm>
        </p:spPr>
        <p:txBody>
          <a:bodyPr/>
          <a:lstStyle/>
          <a:p>
            <a:r>
              <a:rPr lang="en-US" sz="4000" dirty="0"/>
              <a:t>Requirements Elicitation Process</a:t>
            </a:r>
          </a:p>
        </p:txBody>
      </p:sp>
      <p:sp>
        <p:nvSpPr>
          <p:cNvPr id="103427" name="Rectangle 3"/>
          <p:cNvSpPr>
            <a:spLocks noGrp="1" noChangeArrowheads="1"/>
          </p:cNvSpPr>
          <p:nvPr>
            <p:ph type="body" idx="1"/>
          </p:nvPr>
        </p:nvSpPr>
        <p:spPr>
          <a:xfrm>
            <a:off x="457200" y="914400"/>
            <a:ext cx="8229600" cy="5715000"/>
          </a:xfrm>
        </p:spPr>
        <p:txBody>
          <a:bodyPr>
            <a:normAutofit/>
          </a:bodyPr>
          <a:lstStyle/>
          <a:p>
            <a:pPr>
              <a:lnSpc>
                <a:spcPct val="80000"/>
              </a:lnSpc>
            </a:pPr>
            <a:r>
              <a:rPr lang="en-US" sz="2000" dirty="0" err="1">
                <a:latin typeface="Bahnschrift" panose="020B0502040204020203" pitchFamily="34" charset="0"/>
              </a:rPr>
              <a:t>Rzepka</a:t>
            </a:r>
            <a:r>
              <a:rPr lang="en-US" sz="2000" dirty="0">
                <a:latin typeface="Bahnschrift" panose="020B0502040204020203" pitchFamily="34" charset="0"/>
              </a:rPr>
              <a:t> decomposes the elicitation process</a:t>
            </a:r>
          </a:p>
          <a:p>
            <a:pPr lvl="1">
              <a:lnSpc>
                <a:spcPct val="80000"/>
              </a:lnSpc>
            </a:pPr>
            <a:r>
              <a:rPr lang="en-US" sz="2000" b="1" dirty="0">
                <a:latin typeface="Bahnschrift" panose="020B0502040204020203" pitchFamily="34" charset="0"/>
              </a:rPr>
              <a:t>Identify</a:t>
            </a:r>
            <a:r>
              <a:rPr lang="en-US" sz="2000" dirty="0">
                <a:latin typeface="Bahnschrift" panose="020B0502040204020203" pitchFamily="34" charset="0"/>
              </a:rPr>
              <a:t> the relevant parties which are sources of requirements.</a:t>
            </a:r>
          </a:p>
          <a:p>
            <a:pPr lvl="2">
              <a:lnSpc>
                <a:spcPct val="80000"/>
              </a:lnSpc>
            </a:pPr>
            <a:r>
              <a:rPr lang="en-US" sz="2000" dirty="0">
                <a:latin typeface="Bahnschrift" panose="020B0502040204020203" pitchFamily="34" charset="0"/>
              </a:rPr>
              <a:t>The party might be an end user, an interfacing system, or environmental factors.</a:t>
            </a:r>
          </a:p>
          <a:p>
            <a:pPr lvl="1">
              <a:lnSpc>
                <a:spcPct val="80000"/>
              </a:lnSpc>
            </a:pPr>
            <a:r>
              <a:rPr lang="en-US" sz="2000" b="1" dirty="0">
                <a:latin typeface="Bahnschrift" panose="020B0502040204020203" pitchFamily="34" charset="0"/>
              </a:rPr>
              <a:t>Gather</a:t>
            </a:r>
            <a:r>
              <a:rPr lang="en-US" sz="2000" dirty="0">
                <a:latin typeface="Bahnschrift" panose="020B0502040204020203" pitchFamily="34" charset="0"/>
              </a:rPr>
              <a:t> the “wish list” for each relevant party.</a:t>
            </a:r>
          </a:p>
          <a:p>
            <a:pPr lvl="2">
              <a:lnSpc>
                <a:spcPct val="80000"/>
              </a:lnSpc>
            </a:pPr>
            <a:r>
              <a:rPr lang="en-US" sz="2000" dirty="0">
                <a:latin typeface="Bahnschrift" panose="020B0502040204020203" pitchFamily="34" charset="0"/>
              </a:rPr>
              <a:t>This wish list is likely to originally contain ambiguities, inconsistencies, infeasible requirements, and un-testable requirements, as well as probably being incomplete.</a:t>
            </a:r>
          </a:p>
          <a:p>
            <a:pPr lvl="1">
              <a:lnSpc>
                <a:spcPct val="80000"/>
              </a:lnSpc>
            </a:pPr>
            <a:r>
              <a:rPr lang="en-US" sz="2000" b="1" dirty="0">
                <a:latin typeface="Bahnschrift" panose="020B0502040204020203" pitchFamily="34" charset="0"/>
              </a:rPr>
              <a:t>Document and refine</a:t>
            </a:r>
            <a:r>
              <a:rPr lang="en-US" sz="2000" dirty="0">
                <a:latin typeface="Bahnschrift" panose="020B0502040204020203" pitchFamily="34" charset="0"/>
              </a:rPr>
              <a:t> the “wish list” for each relevant party.</a:t>
            </a:r>
          </a:p>
          <a:p>
            <a:pPr lvl="2">
              <a:lnSpc>
                <a:spcPct val="80000"/>
              </a:lnSpc>
            </a:pPr>
            <a:r>
              <a:rPr lang="en-US" sz="2000" dirty="0">
                <a:latin typeface="Bahnschrift" panose="020B0502040204020203" pitchFamily="34" charset="0"/>
              </a:rPr>
              <a:t>The wish list includes all important activities and data, and during this stage it is repeatedly analyzed until it is self-consistent. The list is typically high level, specific to the relevant problem domain, and stated in user-specific terms.</a:t>
            </a:r>
          </a:p>
          <a:p>
            <a:pPr lvl="1">
              <a:lnSpc>
                <a:spcPct val="80000"/>
              </a:lnSpc>
            </a:pPr>
            <a:r>
              <a:rPr lang="en-US" sz="2000" b="1" dirty="0">
                <a:latin typeface="Bahnschrift" panose="020B0502040204020203" pitchFamily="34" charset="0"/>
              </a:rPr>
              <a:t>Integrate</a:t>
            </a:r>
            <a:r>
              <a:rPr lang="en-US" sz="2000" dirty="0">
                <a:latin typeface="Bahnschrift" panose="020B0502040204020203" pitchFamily="34" charset="0"/>
              </a:rPr>
              <a:t> the wish lists across the various relevant parties (viewpoints)</a:t>
            </a:r>
          </a:p>
          <a:p>
            <a:pPr lvl="2">
              <a:lnSpc>
                <a:spcPct val="80000"/>
              </a:lnSpc>
            </a:pPr>
            <a:r>
              <a:rPr lang="en-US" sz="2000" dirty="0">
                <a:latin typeface="Bahnschrift" panose="020B0502040204020203" pitchFamily="34" charset="0"/>
              </a:rPr>
              <a:t>thereby resolving the conflicts between the viewpoints. Consistency checking is an important part of this process. The wish lists, or goals, are also checked for feasibility.</a:t>
            </a:r>
          </a:p>
          <a:p>
            <a:pPr lvl="1">
              <a:lnSpc>
                <a:spcPct val="80000"/>
              </a:lnSpc>
            </a:pPr>
            <a:r>
              <a:rPr lang="en-US" sz="2000" b="1" dirty="0">
                <a:latin typeface="Bahnschrift" panose="020B0502040204020203" pitchFamily="34" charset="0"/>
              </a:rPr>
              <a:t>Determine</a:t>
            </a:r>
            <a:r>
              <a:rPr lang="en-US" sz="2000" dirty="0">
                <a:latin typeface="Bahnschrift" panose="020B0502040204020203" pitchFamily="34" charset="0"/>
              </a:rPr>
              <a:t> the nonfunctional requirements, such as performance and reliability issues, and state these in the requirements document.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sz="4000" dirty="0">
                <a:solidFill>
                  <a:srgbClr val="0070C0"/>
                </a:solidFill>
              </a:rPr>
              <a:t>Requirements Elicitation Process</a:t>
            </a:r>
          </a:p>
        </p:txBody>
      </p:sp>
      <p:sp>
        <p:nvSpPr>
          <p:cNvPr id="104452" name="AutoShape 4"/>
          <p:cNvSpPr>
            <a:spLocks noChangeArrowheads="1"/>
          </p:cNvSpPr>
          <p:nvPr/>
        </p:nvSpPr>
        <p:spPr bwMode="auto">
          <a:xfrm>
            <a:off x="2001838" y="2862263"/>
            <a:ext cx="1801812" cy="523875"/>
          </a:xfrm>
          <a:prstGeom prst="flowChartProcess">
            <a:avLst/>
          </a:prstGeom>
          <a:solidFill>
            <a:srgbClr val="00FFFF"/>
          </a:solidFill>
          <a:ln w="19050">
            <a:solidFill>
              <a:schemeClr val="tx1"/>
            </a:solidFill>
            <a:miter lim="800000"/>
            <a:headEnd/>
            <a:tailEnd/>
          </a:ln>
          <a:effectLst/>
        </p:spPr>
        <p:txBody>
          <a:bodyPr wrap="none" anchor="ctr"/>
          <a:lstStyle/>
          <a:p>
            <a:pPr algn="ctr"/>
            <a:r>
              <a:rPr lang="en-US" dirty="0" err="1">
                <a:solidFill>
                  <a:schemeClr val="bg1"/>
                </a:solidFill>
                <a:latin typeface="Times New Roman" pitchFamily="18" charset="0"/>
              </a:rPr>
              <a:t>Reqs</a:t>
            </a:r>
            <a:r>
              <a:rPr lang="en-US" dirty="0">
                <a:solidFill>
                  <a:schemeClr val="bg1"/>
                </a:solidFill>
                <a:latin typeface="Times New Roman" pitchFamily="18" charset="0"/>
              </a:rPr>
              <a:t> gathering &amp;</a:t>
            </a:r>
          </a:p>
          <a:p>
            <a:pPr algn="ctr"/>
            <a:r>
              <a:rPr lang="en-US" dirty="0">
                <a:solidFill>
                  <a:schemeClr val="bg1"/>
                </a:solidFill>
                <a:latin typeface="Times New Roman" pitchFamily="18" charset="0"/>
              </a:rPr>
              <a:t>classification</a:t>
            </a:r>
          </a:p>
        </p:txBody>
      </p:sp>
      <p:sp>
        <p:nvSpPr>
          <p:cNvPr id="104453" name="AutoShape 5"/>
          <p:cNvSpPr>
            <a:spLocks noChangeArrowheads="1"/>
          </p:cNvSpPr>
          <p:nvPr/>
        </p:nvSpPr>
        <p:spPr bwMode="auto">
          <a:xfrm>
            <a:off x="457200" y="2209800"/>
            <a:ext cx="1801813" cy="522288"/>
          </a:xfrm>
          <a:prstGeom prst="flowChartProcess">
            <a:avLst/>
          </a:prstGeom>
          <a:solidFill>
            <a:schemeClr val="accent2">
              <a:lumMod val="20000"/>
              <a:lumOff val="80000"/>
            </a:schemeClr>
          </a:solidFill>
          <a:ln w="19050">
            <a:solidFill>
              <a:schemeClr val="tx1"/>
            </a:solidFill>
            <a:miter lim="800000"/>
            <a:headEnd/>
            <a:tailEnd/>
          </a:ln>
          <a:effectLst/>
        </p:spPr>
        <p:txBody>
          <a:bodyPr wrap="none" anchor="ctr"/>
          <a:lstStyle/>
          <a:p>
            <a:pPr algn="ctr"/>
            <a:r>
              <a:rPr lang="en-US" dirty="0">
                <a:solidFill>
                  <a:schemeClr val="bg1"/>
                </a:solidFill>
                <a:latin typeface="Times New Roman" pitchFamily="18" charset="0"/>
              </a:rPr>
              <a:t>Fact Finding</a:t>
            </a:r>
          </a:p>
        </p:txBody>
      </p:sp>
      <p:cxnSp>
        <p:nvCxnSpPr>
          <p:cNvPr id="104454" name="AutoShape 6"/>
          <p:cNvCxnSpPr>
            <a:cxnSpLocks noChangeShapeType="1"/>
            <a:stCxn id="104453" idx="3"/>
            <a:endCxn id="104452" idx="0"/>
          </p:cNvCxnSpPr>
          <p:nvPr/>
        </p:nvCxnSpPr>
        <p:spPr bwMode="auto">
          <a:xfrm>
            <a:off x="2270125" y="2471738"/>
            <a:ext cx="633413" cy="382587"/>
          </a:xfrm>
          <a:prstGeom prst="bentConnector2">
            <a:avLst/>
          </a:prstGeom>
          <a:noFill/>
          <a:ln w="19050">
            <a:solidFill>
              <a:schemeClr val="bg1"/>
            </a:solidFill>
            <a:miter lim="800000"/>
            <a:headEnd/>
            <a:tailEnd type="triangle" w="med" len="med"/>
          </a:ln>
          <a:effectLst/>
        </p:spPr>
      </p:cxnSp>
      <p:sp>
        <p:nvSpPr>
          <p:cNvPr id="104455" name="AutoShape 7"/>
          <p:cNvSpPr>
            <a:spLocks noChangeArrowheads="1"/>
          </p:cNvSpPr>
          <p:nvPr/>
        </p:nvSpPr>
        <p:spPr bwMode="auto">
          <a:xfrm>
            <a:off x="5176838" y="4168775"/>
            <a:ext cx="1803400" cy="522288"/>
          </a:xfrm>
          <a:prstGeom prst="flowChartProcess">
            <a:avLst/>
          </a:prstGeom>
          <a:solidFill>
            <a:srgbClr val="FFFF66"/>
          </a:solidFill>
          <a:ln w="19050">
            <a:solidFill>
              <a:schemeClr val="tx1"/>
            </a:solidFill>
            <a:miter lim="800000"/>
            <a:headEnd/>
            <a:tailEnd/>
          </a:ln>
          <a:effectLst/>
        </p:spPr>
        <p:txBody>
          <a:bodyPr wrap="none" anchor="ctr"/>
          <a:lstStyle/>
          <a:p>
            <a:pPr algn="ctr"/>
            <a:r>
              <a:rPr lang="en-US" dirty="0">
                <a:solidFill>
                  <a:schemeClr val="bg1"/>
                </a:solidFill>
                <a:latin typeface="Times New Roman" pitchFamily="18" charset="0"/>
              </a:rPr>
              <a:t>Prioritization</a:t>
            </a:r>
          </a:p>
        </p:txBody>
      </p:sp>
      <p:sp>
        <p:nvSpPr>
          <p:cNvPr id="104456" name="AutoShape 8"/>
          <p:cNvSpPr>
            <a:spLocks noChangeArrowheads="1"/>
          </p:cNvSpPr>
          <p:nvPr/>
        </p:nvSpPr>
        <p:spPr bwMode="auto">
          <a:xfrm>
            <a:off x="3632200" y="3516313"/>
            <a:ext cx="1803400" cy="522287"/>
          </a:xfrm>
          <a:prstGeom prst="flowChartProcess">
            <a:avLst/>
          </a:prstGeom>
          <a:solidFill>
            <a:srgbClr val="00FF00"/>
          </a:solidFill>
          <a:ln w="19050">
            <a:solidFill>
              <a:schemeClr val="tx1"/>
            </a:solidFill>
            <a:miter lim="800000"/>
            <a:headEnd/>
            <a:tailEnd/>
          </a:ln>
          <a:effectLst/>
        </p:spPr>
        <p:txBody>
          <a:bodyPr wrap="none" anchor="ctr"/>
          <a:lstStyle/>
          <a:p>
            <a:pPr algn="ctr"/>
            <a:r>
              <a:rPr lang="en-US" dirty="0">
                <a:solidFill>
                  <a:schemeClr val="bg1"/>
                </a:solidFill>
                <a:latin typeface="Times New Roman" pitchFamily="18" charset="0"/>
              </a:rPr>
              <a:t>Evaluation &amp;</a:t>
            </a:r>
          </a:p>
          <a:p>
            <a:pPr algn="ctr"/>
            <a:r>
              <a:rPr lang="en-US" dirty="0">
                <a:solidFill>
                  <a:schemeClr val="bg1"/>
                </a:solidFill>
                <a:latin typeface="Times New Roman" pitchFamily="18" charset="0"/>
              </a:rPr>
              <a:t>Rationalization</a:t>
            </a:r>
          </a:p>
        </p:txBody>
      </p:sp>
      <p:cxnSp>
        <p:nvCxnSpPr>
          <p:cNvPr id="104457" name="AutoShape 9"/>
          <p:cNvCxnSpPr>
            <a:cxnSpLocks noChangeShapeType="1"/>
            <a:stCxn id="104456" idx="3"/>
            <a:endCxn id="104455" idx="0"/>
          </p:cNvCxnSpPr>
          <p:nvPr/>
        </p:nvCxnSpPr>
        <p:spPr bwMode="auto">
          <a:xfrm>
            <a:off x="5445125" y="3776663"/>
            <a:ext cx="633413" cy="384175"/>
          </a:xfrm>
          <a:prstGeom prst="bentConnector2">
            <a:avLst/>
          </a:prstGeom>
          <a:noFill/>
          <a:ln w="19050">
            <a:solidFill>
              <a:schemeClr val="bg1"/>
            </a:solidFill>
            <a:miter lim="800000"/>
            <a:headEnd/>
            <a:tailEnd type="triangle" w="med" len="med"/>
          </a:ln>
          <a:effectLst/>
        </p:spPr>
      </p:cxnSp>
      <p:sp>
        <p:nvSpPr>
          <p:cNvPr id="104458" name="AutoShape 10"/>
          <p:cNvSpPr>
            <a:spLocks noChangeArrowheads="1"/>
          </p:cNvSpPr>
          <p:nvPr/>
        </p:nvSpPr>
        <p:spPr bwMode="auto">
          <a:xfrm>
            <a:off x="6808788" y="4887913"/>
            <a:ext cx="1801812" cy="522287"/>
          </a:xfrm>
          <a:prstGeom prst="flowChartProcess">
            <a:avLst/>
          </a:prstGeom>
          <a:solidFill>
            <a:srgbClr val="FF9900"/>
          </a:solidFill>
          <a:ln w="19050">
            <a:solidFill>
              <a:schemeClr val="tx1"/>
            </a:solidFill>
            <a:miter lim="800000"/>
            <a:headEnd/>
            <a:tailEnd/>
          </a:ln>
          <a:effectLst/>
        </p:spPr>
        <p:txBody>
          <a:bodyPr wrap="none" anchor="ctr"/>
          <a:lstStyle/>
          <a:p>
            <a:pPr algn="ctr"/>
            <a:r>
              <a:rPr lang="en-US" dirty="0">
                <a:solidFill>
                  <a:schemeClr val="bg1"/>
                </a:solidFill>
                <a:latin typeface="Times New Roman" pitchFamily="18" charset="0"/>
              </a:rPr>
              <a:t>Integration &amp;</a:t>
            </a:r>
            <a:br>
              <a:rPr lang="en-US" dirty="0">
                <a:solidFill>
                  <a:schemeClr val="bg1"/>
                </a:solidFill>
                <a:latin typeface="Times New Roman" pitchFamily="18" charset="0"/>
              </a:rPr>
            </a:br>
            <a:r>
              <a:rPr lang="en-US" dirty="0">
                <a:solidFill>
                  <a:schemeClr val="bg1"/>
                </a:solidFill>
                <a:latin typeface="Times New Roman" pitchFamily="18" charset="0"/>
              </a:rPr>
              <a:t>Validation</a:t>
            </a:r>
          </a:p>
        </p:txBody>
      </p:sp>
      <p:cxnSp>
        <p:nvCxnSpPr>
          <p:cNvPr id="104459" name="AutoShape 11"/>
          <p:cNvCxnSpPr>
            <a:cxnSpLocks noChangeShapeType="1"/>
            <a:stCxn id="104452" idx="3"/>
            <a:endCxn id="104456" idx="0"/>
          </p:cNvCxnSpPr>
          <p:nvPr/>
        </p:nvCxnSpPr>
        <p:spPr bwMode="auto">
          <a:xfrm>
            <a:off x="3814763" y="3124200"/>
            <a:ext cx="719137" cy="384175"/>
          </a:xfrm>
          <a:prstGeom prst="bentConnector2">
            <a:avLst/>
          </a:prstGeom>
          <a:noFill/>
          <a:ln w="19050">
            <a:solidFill>
              <a:schemeClr val="bg1"/>
            </a:solidFill>
            <a:miter lim="800000"/>
            <a:headEnd/>
            <a:tailEnd type="triangle" w="med" len="med"/>
          </a:ln>
          <a:effectLst/>
        </p:spPr>
      </p:cxnSp>
      <p:cxnSp>
        <p:nvCxnSpPr>
          <p:cNvPr id="104460" name="AutoShape 12"/>
          <p:cNvCxnSpPr>
            <a:cxnSpLocks noChangeShapeType="1"/>
            <a:stCxn id="104455" idx="3"/>
            <a:endCxn id="104458" idx="0"/>
          </p:cNvCxnSpPr>
          <p:nvPr/>
        </p:nvCxnSpPr>
        <p:spPr bwMode="auto">
          <a:xfrm>
            <a:off x="6991350" y="4430713"/>
            <a:ext cx="717550" cy="449262"/>
          </a:xfrm>
          <a:prstGeom prst="bentConnector2">
            <a:avLst/>
          </a:prstGeom>
          <a:noFill/>
          <a:ln w="19050">
            <a:solidFill>
              <a:schemeClr val="bg1"/>
            </a:solidFill>
            <a:miter lim="800000"/>
            <a:headEnd/>
            <a:tailEnd type="triangle" w="med" len="med"/>
          </a:ln>
          <a:effectLst/>
        </p:spPr>
      </p:cxnSp>
      <p:cxnSp>
        <p:nvCxnSpPr>
          <p:cNvPr id="104461" name="AutoShape 13"/>
          <p:cNvCxnSpPr>
            <a:cxnSpLocks noChangeShapeType="1"/>
            <a:stCxn id="104458" idx="1"/>
            <a:endCxn id="104455" idx="2"/>
          </p:cNvCxnSpPr>
          <p:nvPr/>
        </p:nvCxnSpPr>
        <p:spPr bwMode="auto">
          <a:xfrm rot="10800000">
            <a:off x="6078538" y="4700588"/>
            <a:ext cx="719137" cy="447675"/>
          </a:xfrm>
          <a:prstGeom prst="bentConnector2">
            <a:avLst/>
          </a:prstGeom>
          <a:noFill/>
          <a:ln w="9525">
            <a:solidFill>
              <a:schemeClr val="bg1"/>
            </a:solidFill>
            <a:miter lim="800000"/>
            <a:headEnd/>
            <a:tailEnd type="triangle" w="med" len="med"/>
          </a:ln>
          <a:effectLst/>
        </p:spPr>
      </p:cxnSp>
      <p:cxnSp>
        <p:nvCxnSpPr>
          <p:cNvPr id="104462" name="AutoShape 14"/>
          <p:cNvCxnSpPr>
            <a:cxnSpLocks noChangeShapeType="1"/>
            <a:stCxn id="104455" idx="1"/>
            <a:endCxn id="104452" idx="2"/>
          </p:cNvCxnSpPr>
          <p:nvPr/>
        </p:nvCxnSpPr>
        <p:spPr bwMode="auto">
          <a:xfrm rot="10800000">
            <a:off x="2903538" y="3394075"/>
            <a:ext cx="2263775" cy="1036638"/>
          </a:xfrm>
          <a:prstGeom prst="bentConnector2">
            <a:avLst/>
          </a:prstGeom>
          <a:noFill/>
          <a:ln w="9525">
            <a:solidFill>
              <a:schemeClr val="tx1"/>
            </a:solidFill>
            <a:miter lim="800000"/>
            <a:headEnd/>
            <a:tailEnd type="triangle" w="med" len="med"/>
          </a:ln>
          <a:effectLst/>
        </p:spPr>
      </p:cxnSp>
      <p:cxnSp>
        <p:nvCxnSpPr>
          <p:cNvPr id="104463" name="AutoShape 15"/>
          <p:cNvCxnSpPr>
            <a:cxnSpLocks noChangeShapeType="1"/>
            <a:stCxn id="104456" idx="1"/>
            <a:endCxn id="104453" idx="2"/>
          </p:cNvCxnSpPr>
          <p:nvPr/>
        </p:nvCxnSpPr>
        <p:spPr bwMode="auto">
          <a:xfrm rot="10800000">
            <a:off x="1358900" y="2740025"/>
            <a:ext cx="2263775" cy="1036638"/>
          </a:xfrm>
          <a:prstGeom prst="bentConnector2">
            <a:avLst/>
          </a:prstGeom>
          <a:noFill/>
          <a:ln w="9525">
            <a:solidFill>
              <a:schemeClr val="bg1"/>
            </a:solidFill>
            <a:miter lim="800000"/>
            <a:headEnd/>
            <a:tailEnd type="triangle" w="med" len="med"/>
          </a:ln>
          <a:effectLst/>
        </p:spPr>
      </p:cxnSp>
      <p:cxnSp>
        <p:nvCxnSpPr>
          <p:cNvPr id="104464" name="AutoShape 16"/>
          <p:cNvCxnSpPr>
            <a:cxnSpLocks noChangeShapeType="1"/>
            <a:stCxn id="104458" idx="1"/>
            <a:endCxn id="104453" idx="2"/>
          </p:cNvCxnSpPr>
          <p:nvPr/>
        </p:nvCxnSpPr>
        <p:spPr bwMode="auto">
          <a:xfrm rot="10800000">
            <a:off x="1358900" y="2740025"/>
            <a:ext cx="5438775" cy="2408238"/>
          </a:xfrm>
          <a:prstGeom prst="bentConnector2">
            <a:avLst/>
          </a:prstGeom>
          <a:noFill/>
          <a:ln w="9525">
            <a:solidFill>
              <a:schemeClr val="bg1"/>
            </a:solidFill>
            <a:miter lim="800000"/>
            <a:headEnd/>
            <a:tailEnd type="triangle" w="med" len="med"/>
          </a:ln>
          <a:effectLst/>
        </p:spPr>
      </p:cxnSp>
      <p:cxnSp>
        <p:nvCxnSpPr>
          <p:cNvPr id="104465" name="AutoShape 17"/>
          <p:cNvCxnSpPr>
            <a:cxnSpLocks noChangeShapeType="1"/>
            <a:stCxn id="104455" idx="1"/>
            <a:endCxn id="104453" idx="2"/>
          </p:cNvCxnSpPr>
          <p:nvPr/>
        </p:nvCxnSpPr>
        <p:spPr bwMode="auto">
          <a:xfrm rot="10800000">
            <a:off x="1358900" y="2740025"/>
            <a:ext cx="3808413" cy="1690688"/>
          </a:xfrm>
          <a:prstGeom prst="bentConnector2">
            <a:avLst/>
          </a:prstGeom>
          <a:noFill/>
          <a:ln w="9525">
            <a:solidFill>
              <a:schemeClr val="bg1"/>
            </a:solidFill>
            <a:miter lim="800000"/>
            <a:headEnd/>
            <a:tailEnd type="triangle" w="med" len="med"/>
          </a:ln>
          <a:effectLst/>
        </p:spPr>
      </p:cxnSp>
      <p:cxnSp>
        <p:nvCxnSpPr>
          <p:cNvPr id="104466" name="AutoShape 18"/>
          <p:cNvCxnSpPr>
            <a:cxnSpLocks noChangeShapeType="1"/>
            <a:stCxn id="104458" idx="1"/>
            <a:endCxn id="104456" idx="2"/>
          </p:cNvCxnSpPr>
          <p:nvPr/>
        </p:nvCxnSpPr>
        <p:spPr bwMode="auto">
          <a:xfrm rot="10800000">
            <a:off x="4533900" y="4046538"/>
            <a:ext cx="2263775" cy="1101725"/>
          </a:xfrm>
          <a:prstGeom prst="bentConnector2">
            <a:avLst/>
          </a:prstGeom>
          <a:noFill/>
          <a:ln w="9525">
            <a:solidFill>
              <a:schemeClr val="bg1"/>
            </a:solidFill>
            <a:miter lim="800000"/>
            <a:headEnd/>
            <a:tailEnd type="triangle" w="med" len="med"/>
          </a:ln>
          <a:effectLst/>
        </p:spPr>
      </p:cxnSp>
      <p:cxnSp>
        <p:nvCxnSpPr>
          <p:cNvPr id="104467" name="AutoShape 19"/>
          <p:cNvCxnSpPr>
            <a:cxnSpLocks noChangeShapeType="1"/>
            <a:stCxn id="104458" idx="1"/>
            <a:endCxn id="104452" idx="2"/>
          </p:cNvCxnSpPr>
          <p:nvPr/>
        </p:nvCxnSpPr>
        <p:spPr bwMode="auto">
          <a:xfrm rot="10800000">
            <a:off x="2903538" y="3394075"/>
            <a:ext cx="3894137" cy="1754188"/>
          </a:xfrm>
          <a:prstGeom prst="bentConnector2">
            <a:avLst/>
          </a:prstGeom>
          <a:noFill/>
          <a:ln w="9525">
            <a:solidFill>
              <a:schemeClr val="bg1"/>
            </a:solidFill>
            <a:miter lim="800000"/>
            <a:headEnd/>
            <a:tailEnd type="triangle" w="med" len="med"/>
          </a:ln>
          <a:effectLst/>
        </p:spPr>
      </p:cxnSp>
      <p:cxnSp>
        <p:nvCxnSpPr>
          <p:cNvPr id="104469" name="AutoShape 21"/>
          <p:cNvCxnSpPr>
            <a:cxnSpLocks noChangeShapeType="1"/>
            <a:stCxn id="104453" idx="2"/>
            <a:endCxn id="104452" idx="1"/>
          </p:cNvCxnSpPr>
          <p:nvPr/>
        </p:nvCxnSpPr>
        <p:spPr bwMode="auto">
          <a:xfrm rot="16200000" flipH="1">
            <a:off x="1484313" y="2616200"/>
            <a:ext cx="382587" cy="633413"/>
          </a:xfrm>
          <a:prstGeom prst="bentConnector2">
            <a:avLst/>
          </a:prstGeom>
          <a:noFill/>
          <a:ln w="12700">
            <a:solidFill>
              <a:schemeClr val="bg1"/>
            </a:solidFill>
            <a:miter lim="800000"/>
            <a:headEnd/>
            <a:tailEnd/>
          </a:ln>
          <a:effectLst/>
        </p:spPr>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noFill/>
          <a:ln/>
        </p:spPr>
        <p:txBody>
          <a:bodyPr lIns="90841" tIns="44623" rIns="90841" bIns="44623" anchor="b"/>
          <a:lstStyle/>
          <a:p>
            <a:r>
              <a:rPr lang="en-US" sz="3200" dirty="0">
                <a:solidFill>
                  <a:srgbClr val="0070C0"/>
                </a:solidFill>
              </a:rPr>
              <a:t>Components of requirements elicitation</a:t>
            </a:r>
          </a:p>
        </p:txBody>
      </p:sp>
      <p:graphicFrame>
        <p:nvGraphicFramePr>
          <p:cNvPr id="130051" name="Object 3"/>
          <p:cNvGraphicFramePr>
            <a:graphicFrameLocks/>
          </p:cNvGraphicFramePr>
          <p:nvPr/>
        </p:nvGraphicFramePr>
        <p:xfrm>
          <a:off x="2362200" y="1219200"/>
          <a:ext cx="4081463" cy="4886325"/>
        </p:xfrm>
        <a:graphic>
          <a:graphicData uri="http://schemas.openxmlformats.org/presentationml/2006/ole">
            <mc:AlternateContent xmlns:mc="http://schemas.openxmlformats.org/markup-compatibility/2006">
              <mc:Choice xmlns:v="urn:schemas-microsoft-com:vml" Requires="v">
                <p:oleObj spid="_x0000_s1029"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19200"/>
                        <a:ext cx="4081463" cy="488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6" name="Rectangle 4"/>
          <p:cNvSpPr>
            <a:spLocks noGrp="1" noChangeArrowheads="1"/>
          </p:cNvSpPr>
          <p:nvPr>
            <p:ph type="title"/>
          </p:nvPr>
        </p:nvSpPr>
        <p:spPr/>
        <p:txBody>
          <a:bodyPr/>
          <a:lstStyle/>
          <a:p>
            <a:r>
              <a:rPr lang="en-US"/>
              <a:t>Elicitation activities</a:t>
            </a:r>
          </a:p>
        </p:txBody>
      </p:sp>
      <p:sp>
        <p:nvSpPr>
          <p:cNvPr id="131077" name="Rectangle 5"/>
          <p:cNvSpPr>
            <a:spLocks noGrp="1" noChangeArrowheads="1"/>
          </p:cNvSpPr>
          <p:nvPr>
            <p:ph type="body" idx="1"/>
          </p:nvPr>
        </p:nvSpPr>
        <p:spPr/>
        <p:txBody>
          <a:bodyPr/>
          <a:lstStyle/>
          <a:p>
            <a:pPr>
              <a:lnSpc>
                <a:spcPct val="90000"/>
              </a:lnSpc>
            </a:pPr>
            <a:r>
              <a:rPr lang="en-US" sz="2400"/>
              <a:t>Application domain understanding  </a:t>
            </a:r>
          </a:p>
          <a:p>
            <a:pPr lvl="1">
              <a:lnSpc>
                <a:spcPct val="90000"/>
              </a:lnSpc>
            </a:pPr>
            <a:r>
              <a:rPr lang="en-US" sz="2000"/>
              <a:t>Application domain knowledge is knowledge of the general area where the system is applied. </a:t>
            </a:r>
          </a:p>
          <a:p>
            <a:pPr>
              <a:lnSpc>
                <a:spcPct val="90000"/>
              </a:lnSpc>
            </a:pPr>
            <a:r>
              <a:rPr lang="en-US" sz="2400"/>
              <a:t>Problem understanding </a:t>
            </a:r>
          </a:p>
          <a:p>
            <a:pPr lvl="1">
              <a:lnSpc>
                <a:spcPct val="90000"/>
              </a:lnSpc>
            </a:pPr>
            <a:r>
              <a:rPr lang="en-US" sz="2000"/>
              <a:t>The details of the specific customer problem where the system will be applied must be understood. </a:t>
            </a:r>
          </a:p>
          <a:p>
            <a:pPr>
              <a:lnSpc>
                <a:spcPct val="90000"/>
              </a:lnSpc>
            </a:pPr>
            <a:r>
              <a:rPr lang="en-US" sz="2400"/>
              <a:t>Business understanding  </a:t>
            </a:r>
          </a:p>
          <a:p>
            <a:pPr lvl="1">
              <a:lnSpc>
                <a:spcPct val="90000"/>
              </a:lnSpc>
            </a:pPr>
            <a:r>
              <a:rPr lang="en-US" sz="2000"/>
              <a:t>You must understand how systems interact and contribute to overall business goals.</a:t>
            </a:r>
          </a:p>
          <a:p>
            <a:pPr>
              <a:lnSpc>
                <a:spcPct val="90000"/>
              </a:lnSpc>
            </a:pPr>
            <a:r>
              <a:rPr lang="en-US" sz="2400"/>
              <a:t>Understanding the needs and constraints of system stakeholders </a:t>
            </a:r>
          </a:p>
          <a:p>
            <a:pPr lvl="1">
              <a:lnSpc>
                <a:spcPct val="90000"/>
              </a:lnSpc>
            </a:pPr>
            <a:r>
              <a:rPr lang="en-US" sz="2000"/>
              <a:t>You must understand, in detail, the specific needs of people who require system support in their work.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1077">
                                            <p:txEl>
                                              <p:pRg st="0" end="0"/>
                                            </p:txEl>
                                          </p:spTgt>
                                        </p:tgtEl>
                                        <p:attrNameLst>
                                          <p:attrName>style.visibility</p:attrName>
                                        </p:attrNameLst>
                                      </p:cBhvr>
                                      <p:to>
                                        <p:strVal val="visible"/>
                                      </p:to>
                                    </p:set>
                                    <p:anim calcmode="lin" valueType="num">
                                      <p:cBhvr additive="base">
                                        <p:cTn id="7" dur="500" fill="hold"/>
                                        <p:tgtEl>
                                          <p:spTgt spid="13107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107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1077">
                                            <p:txEl>
                                              <p:pRg st="1" end="1"/>
                                            </p:txEl>
                                          </p:spTgt>
                                        </p:tgtEl>
                                        <p:attrNameLst>
                                          <p:attrName>style.visibility</p:attrName>
                                        </p:attrNameLst>
                                      </p:cBhvr>
                                      <p:to>
                                        <p:strVal val="visible"/>
                                      </p:to>
                                    </p:set>
                                    <p:anim calcmode="lin" valueType="num">
                                      <p:cBhvr additive="base">
                                        <p:cTn id="11" dur="500" fill="hold"/>
                                        <p:tgtEl>
                                          <p:spTgt spid="13107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107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1077">
                                            <p:txEl>
                                              <p:pRg st="2" end="2"/>
                                            </p:txEl>
                                          </p:spTgt>
                                        </p:tgtEl>
                                        <p:attrNameLst>
                                          <p:attrName>style.visibility</p:attrName>
                                        </p:attrNameLst>
                                      </p:cBhvr>
                                      <p:to>
                                        <p:strVal val="visible"/>
                                      </p:to>
                                    </p:set>
                                    <p:anim calcmode="lin" valueType="num">
                                      <p:cBhvr additive="base">
                                        <p:cTn id="17" dur="500" fill="hold"/>
                                        <p:tgtEl>
                                          <p:spTgt spid="13107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107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1077">
                                            <p:txEl>
                                              <p:pRg st="3" end="3"/>
                                            </p:txEl>
                                          </p:spTgt>
                                        </p:tgtEl>
                                        <p:attrNameLst>
                                          <p:attrName>style.visibility</p:attrName>
                                        </p:attrNameLst>
                                      </p:cBhvr>
                                      <p:to>
                                        <p:strVal val="visible"/>
                                      </p:to>
                                    </p:set>
                                    <p:anim calcmode="lin" valueType="num">
                                      <p:cBhvr additive="base">
                                        <p:cTn id="21" dur="500" fill="hold"/>
                                        <p:tgtEl>
                                          <p:spTgt spid="13107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107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1077">
                                            <p:txEl>
                                              <p:pRg st="4" end="4"/>
                                            </p:txEl>
                                          </p:spTgt>
                                        </p:tgtEl>
                                        <p:attrNameLst>
                                          <p:attrName>style.visibility</p:attrName>
                                        </p:attrNameLst>
                                      </p:cBhvr>
                                      <p:to>
                                        <p:strVal val="visible"/>
                                      </p:to>
                                    </p:set>
                                    <p:anim calcmode="lin" valueType="num">
                                      <p:cBhvr additive="base">
                                        <p:cTn id="27" dur="500" fill="hold"/>
                                        <p:tgtEl>
                                          <p:spTgt spid="13107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107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1077">
                                            <p:txEl>
                                              <p:pRg st="5" end="5"/>
                                            </p:txEl>
                                          </p:spTgt>
                                        </p:tgtEl>
                                        <p:attrNameLst>
                                          <p:attrName>style.visibility</p:attrName>
                                        </p:attrNameLst>
                                      </p:cBhvr>
                                      <p:to>
                                        <p:strVal val="visible"/>
                                      </p:to>
                                    </p:set>
                                    <p:anim calcmode="lin" valueType="num">
                                      <p:cBhvr additive="base">
                                        <p:cTn id="31" dur="500" fill="hold"/>
                                        <p:tgtEl>
                                          <p:spTgt spid="13107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107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1077">
                                            <p:txEl>
                                              <p:pRg st="6" end="6"/>
                                            </p:txEl>
                                          </p:spTgt>
                                        </p:tgtEl>
                                        <p:attrNameLst>
                                          <p:attrName>style.visibility</p:attrName>
                                        </p:attrNameLst>
                                      </p:cBhvr>
                                      <p:to>
                                        <p:strVal val="visible"/>
                                      </p:to>
                                    </p:set>
                                    <p:anim calcmode="lin" valueType="num">
                                      <p:cBhvr additive="base">
                                        <p:cTn id="37" dur="500" fill="hold"/>
                                        <p:tgtEl>
                                          <p:spTgt spid="13107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107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1077">
                                            <p:txEl>
                                              <p:pRg st="7" end="7"/>
                                            </p:txEl>
                                          </p:spTgt>
                                        </p:tgtEl>
                                        <p:attrNameLst>
                                          <p:attrName>style.visibility</p:attrName>
                                        </p:attrNameLst>
                                      </p:cBhvr>
                                      <p:to>
                                        <p:strVal val="visible"/>
                                      </p:to>
                                    </p:set>
                                    <p:anim calcmode="lin" valueType="num">
                                      <p:cBhvr additive="base">
                                        <p:cTn id="41" dur="500" fill="hold"/>
                                        <p:tgtEl>
                                          <p:spTgt spid="131077">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107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noFill/>
          <a:ln/>
        </p:spPr>
        <p:txBody>
          <a:bodyPr lIns="90841" tIns="44623" rIns="90841" bIns="44623" anchor="b">
            <a:normAutofit fontScale="90000"/>
          </a:bodyPr>
          <a:lstStyle/>
          <a:p>
            <a:r>
              <a:rPr lang="en-US" sz="4000"/>
              <a:t>The requirements </a:t>
            </a:r>
            <a:r>
              <a:rPr lang="en-US" sz="3600"/>
              <a:t>elicitation process</a:t>
            </a:r>
          </a:p>
        </p:txBody>
      </p:sp>
      <p:graphicFrame>
        <p:nvGraphicFramePr>
          <p:cNvPr id="132099" name="Object 3"/>
          <p:cNvGraphicFramePr>
            <a:graphicFrameLocks/>
          </p:cNvGraphicFramePr>
          <p:nvPr/>
        </p:nvGraphicFramePr>
        <p:xfrm>
          <a:off x="228600" y="1885950"/>
          <a:ext cx="8623300" cy="3684588"/>
        </p:xfrm>
        <a:graphic>
          <a:graphicData uri="http://schemas.openxmlformats.org/presentationml/2006/ole">
            <mc:AlternateContent xmlns:mc="http://schemas.openxmlformats.org/markup-compatibility/2006">
              <mc:Choice xmlns:v="urn:schemas-microsoft-com:vml" Requires="v">
                <p:oleObj spid="_x0000_s2053" name="Document" r:id="rId3" imgW="0" imgH="0" progId="Word.Document.8">
                  <p:embed/>
                </p:oleObj>
              </mc:Choice>
              <mc:Fallback>
                <p:oleObj name="Document" r:id="rId3" imgW="0" imgH="0" progId="Word.Document.8">
                  <p:embed/>
                  <p:pic>
                    <p:nvPicPr>
                      <p:cNvPr id="0"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885950"/>
                        <a:ext cx="8623300" cy="36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noFill/>
          <a:ln/>
        </p:spPr>
        <p:txBody>
          <a:bodyPr lIns="90841" tIns="44623" rIns="90841" bIns="44623" anchor="b"/>
          <a:lstStyle/>
          <a:p>
            <a:r>
              <a:rPr lang="en-US"/>
              <a:t>Elicitation stages</a:t>
            </a:r>
          </a:p>
        </p:txBody>
      </p:sp>
      <p:sp>
        <p:nvSpPr>
          <p:cNvPr id="133123" name="Rectangle 3"/>
          <p:cNvSpPr>
            <a:spLocks noGrp="1" noChangeArrowheads="1"/>
          </p:cNvSpPr>
          <p:nvPr>
            <p:ph type="body" idx="1"/>
          </p:nvPr>
        </p:nvSpPr>
        <p:spPr>
          <a:noFill/>
          <a:ln/>
        </p:spPr>
        <p:txBody>
          <a:bodyPr lIns="90841" tIns="44623" rIns="90841" bIns="44623"/>
          <a:lstStyle/>
          <a:p>
            <a:pPr>
              <a:lnSpc>
                <a:spcPct val="80000"/>
              </a:lnSpc>
            </a:pPr>
            <a:r>
              <a:rPr lang="en-US" sz="2000"/>
              <a:t>Objective setting </a:t>
            </a:r>
          </a:p>
          <a:p>
            <a:pPr lvl="1">
              <a:lnSpc>
                <a:spcPct val="80000"/>
              </a:lnSpc>
            </a:pPr>
            <a:r>
              <a:rPr lang="en-US" sz="1800"/>
              <a:t>The organizational objectives should be established including general goals of the business, an outline description of the problem to be solved, why the system is necessary and the constraints on the system. </a:t>
            </a:r>
          </a:p>
          <a:p>
            <a:pPr>
              <a:lnSpc>
                <a:spcPct val="80000"/>
              </a:lnSpc>
            </a:pPr>
            <a:r>
              <a:rPr lang="en-US" sz="2000"/>
              <a:t>Background knowledge acquisition  </a:t>
            </a:r>
          </a:p>
          <a:p>
            <a:pPr lvl="1">
              <a:lnSpc>
                <a:spcPct val="80000"/>
              </a:lnSpc>
            </a:pPr>
            <a:r>
              <a:rPr lang="en-US" sz="1800"/>
              <a:t>Background information about the system includes information about the organization where the system is to be installed, the application domain of the system and information about existing systems</a:t>
            </a:r>
          </a:p>
          <a:p>
            <a:pPr>
              <a:lnSpc>
                <a:spcPct val="80000"/>
              </a:lnSpc>
            </a:pPr>
            <a:r>
              <a:rPr lang="en-US" sz="2000"/>
              <a:t>Knowledge organization  </a:t>
            </a:r>
          </a:p>
          <a:p>
            <a:pPr lvl="1">
              <a:lnSpc>
                <a:spcPct val="80000"/>
              </a:lnSpc>
            </a:pPr>
            <a:r>
              <a:rPr lang="en-US" sz="1800"/>
              <a:t>The large amount of knowledge which has been collected in the previous stage must be organized and collated. </a:t>
            </a:r>
          </a:p>
          <a:p>
            <a:pPr>
              <a:lnSpc>
                <a:spcPct val="80000"/>
              </a:lnSpc>
            </a:pPr>
            <a:r>
              <a:rPr lang="en-US" sz="2000"/>
              <a:t>Stakeholder requirements collection </a:t>
            </a:r>
          </a:p>
          <a:p>
            <a:pPr lvl="1">
              <a:lnSpc>
                <a:spcPct val="80000"/>
              </a:lnSpc>
            </a:pPr>
            <a:r>
              <a:rPr lang="en-US" sz="1800"/>
              <a:t>System stakeholders are consulted to discover their requirements.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 calcmode="lin" valueType="num">
                                      <p:cBhvr additive="base">
                                        <p:cTn id="7" dur="500" fill="hold"/>
                                        <p:tgtEl>
                                          <p:spTgt spid="133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3123">
                                            <p:txEl>
                                              <p:pRg st="1" end="1"/>
                                            </p:txEl>
                                          </p:spTgt>
                                        </p:tgtEl>
                                        <p:attrNameLst>
                                          <p:attrName>style.visibility</p:attrName>
                                        </p:attrNameLst>
                                      </p:cBhvr>
                                      <p:to>
                                        <p:strVal val="visible"/>
                                      </p:to>
                                    </p:set>
                                    <p:anim calcmode="lin" valueType="num">
                                      <p:cBhvr additive="base">
                                        <p:cTn id="11" dur="500" fill="hold"/>
                                        <p:tgtEl>
                                          <p:spTgt spid="1331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3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3123">
                                            <p:txEl>
                                              <p:pRg st="2" end="2"/>
                                            </p:txEl>
                                          </p:spTgt>
                                        </p:tgtEl>
                                        <p:attrNameLst>
                                          <p:attrName>style.visibility</p:attrName>
                                        </p:attrNameLst>
                                      </p:cBhvr>
                                      <p:to>
                                        <p:strVal val="visible"/>
                                      </p:to>
                                    </p:set>
                                    <p:anim calcmode="lin" valueType="num">
                                      <p:cBhvr additive="base">
                                        <p:cTn id="17" dur="500" fill="hold"/>
                                        <p:tgtEl>
                                          <p:spTgt spid="13312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312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3123">
                                            <p:txEl>
                                              <p:pRg st="3" end="3"/>
                                            </p:txEl>
                                          </p:spTgt>
                                        </p:tgtEl>
                                        <p:attrNameLst>
                                          <p:attrName>style.visibility</p:attrName>
                                        </p:attrNameLst>
                                      </p:cBhvr>
                                      <p:to>
                                        <p:strVal val="visible"/>
                                      </p:to>
                                    </p:set>
                                    <p:anim calcmode="lin" valueType="num">
                                      <p:cBhvr additive="base">
                                        <p:cTn id="21" dur="500" fill="hold"/>
                                        <p:tgtEl>
                                          <p:spTgt spid="13312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31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3123">
                                            <p:txEl>
                                              <p:pRg st="4" end="4"/>
                                            </p:txEl>
                                          </p:spTgt>
                                        </p:tgtEl>
                                        <p:attrNameLst>
                                          <p:attrName>style.visibility</p:attrName>
                                        </p:attrNameLst>
                                      </p:cBhvr>
                                      <p:to>
                                        <p:strVal val="visible"/>
                                      </p:to>
                                    </p:set>
                                    <p:anim calcmode="lin" valueType="num">
                                      <p:cBhvr additive="base">
                                        <p:cTn id="27" dur="500" fill="hold"/>
                                        <p:tgtEl>
                                          <p:spTgt spid="13312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312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3123">
                                            <p:txEl>
                                              <p:pRg st="5" end="5"/>
                                            </p:txEl>
                                          </p:spTgt>
                                        </p:tgtEl>
                                        <p:attrNameLst>
                                          <p:attrName>style.visibility</p:attrName>
                                        </p:attrNameLst>
                                      </p:cBhvr>
                                      <p:to>
                                        <p:strVal val="visible"/>
                                      </p:to>
                                    </p:set>
                                    <p:anim calcmode="lin" valueType="num">
                                      <p:cBhvr additive="base">
                                        <p:cTn id="31" dur="500" fill="hold"/>
                                        <p:tgtEl>
                                          <p:spTgt spid="13312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3123">
                                            <p:txEl>
                                              <p:pRg st="6" end="6"/>
                                            </p:txEl>
                                          </p:spTgt>
                                        </p:tgtEl>
                                        <p:attrNameLst>
                                          <p:attrName>style.visibility</p:attrName>
                                        </p:attrNameLst>
                                      </p:cBhvr>
                                      <p:to>
                                        <p:strVal val="visible"/>
                                      </p:to>
                                    </p:set>
                                    <p:anim calcmode="lin" valueType="num">
                                      <p:cBhvr additive="base">
                                        <p:cTn id="37" dur="500" fill="hold"/>
                                        <p:tgtEl>
                                          <p:spTgt spid="13312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2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33123">
                                            <p:txEl>
                                              <p:pRg st="7" end="7"/>
                                            </p:txEl>
                                          </p:spTgt>
                                        </p:tgtEl>
                                        <p:attrNameLst>
                                          <p:attrName>style.visibility</p:attrName>
                                        </p:attrNameLst>
                                      </p:cBhvr>
                                      <p:to>
                                        <p:strVal val="visible"/>
                                      </p:to>
                                    </p:set>
                                    <p:anim calcmode="lin" valueType="num">
                                      <p:cBhvr additive="base">
                                        <p:cTn id="41" dur="500" fill="hold"/>
                                        <p:tgtEl>
                                          <p:spTgt spid="13312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3312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6" name="Rectangle 4"/>
          <p:cNvSpPr>
            <a:spLocks noGrp="1" noChangeArrowheads="1"/>
          </p:cNvSpPr>
          <p:nvPr>
            <p:ph type="title"/>
          </p:nvPr>
        </p:nvSpPr>
        <p:spPr/>
        <p:txBody>
          <a:bodyPr/>
          <a:lstStyle/>
          <a:p>
            <a:r>
              <a:rPr lang="en-US"/>
              <a:t>Focus of Elicitation</a:t>
            </a:r>
          </a:p>
        </p:txBody>
      </p:sp>
      <p:sp>
        <p:nvSpPr>
          <p:cNvPr id="105477" name="Rectangle 5"/>
          <p:cNvSpPr>
            <a:spLocks noGrp="1" noChangeArrowheads="1"/>
          </p:cNvSpPr>
          <p:nvPr>
            <p:ph type="body" idx="1"/>
          </p:nvPr>
        </p:nvSpPr>
        <p:spPr/>
        <p:txBody>
          <a:bodyPr/>
          <a:lstStyle/>
          <a:p>
            <a:pPr>
              <a:lnSpc>
                <a:spcPct val="80000"/>
              </a:lnSpc>
            </a:pPr>
            <a:r>
              <a:rPr lang="en-US" sz="2000"/>
              <a:t>Collect “enough” information to:</a:t>
            </a:r>
          </a:p>
          <a:p>
            <a:pPr>
              <a:lnSpc>
                <a:spcPct val="80000"/>
              </a:lnSpc>
            </a:pPr>
            <a:r>
              <a:rPr lang="en-US" sz="2000"/>
              <a:t>identify problem Boundaries</a:t>
            </a:r>
          </a:p>
          <a:p>
            <a:pPr lvl="1">
              <a:lnSpc>
                <a:spcPct val="80000"/>
              </a:lnSpc>
            </a:pPr>
            <a:r>
              <a:rPr lang="en-US" sz="1800"/>
              <a:t>Which problem needs to be solved?</a:t>
            </a:r>
          </a:p>
          <a:p>
            <a:pPr>
              <a:lnSpc>
                <a:spcPct val="80000"/>
              </a:lnSpc>
            </a:pPr>
            <a:r>
              <a:rPr lang="en-US" sz="2000"/>
              <a:t>understand the Context/Problem Domain</a:t>
            </a:r>
          </a:p>
          <a:p>
            <a:pPr lvl="1">
              <a:lnSpc>
                <a:spcPct val="80000"/>
              </a:lnSpc>
            </a:pPr>
            <a:r>
              <a:rPr lang="en-US" sz="1800"/>
              <a:t>Where is the problem?</a:t>
            </a:r>
          </a:p>
          <a:p>
            <a:pPr>
              <a:lnSpc>
                <a:spcPct val="80000"/>
              </a:lnSpc>
            </a:pPr>
            <a:r>
              <a:rPr lang="en-US" sz="2000"/>
              <a:t>identify Stakeholders</a:t>
            </a:r>
          </a:p>
          <a:p>
            <a:pPr lvl="1">
              <a:lnSpc>
                <a:spcPct val="80000"/>
              </a:lnSpc>
            </a:pPr>
            <a:r>
              <a:rPr lang="en-US" sz="1800"/>
              <a:t>Whose problem is it?</a:t>
            </a:r>
          </a:p>
          <a:p>
            <a:pPr>
              <a:lnSpc>
                <a:spcPct val="80000"/>
              </a:lnSpc>
            </a:pPr>
            <a:r>
              <a:rPr lang="en-US" sz="2000"/>
              <a:t>identify the stakeholders’ Goals </a:t>
            </a:r>
          </a:p>
          <a:p>
            <a:pPr lvl="1">
              <a:lnSpc>
                <a:spcPct val="80000"/>
              </a:lnSpc>
            </a:pPr>
            <a:r>
              <a:rPr lang="en-US" sz="1800"/>
              <a:t>Why does it need solving?</a:t>
            </a:r>
          </a:p>
          <a:p>
            <a:pPr>
              <a:lnSpc>
                <a:spcPct val="80000"/>
              </a:lnSpc>
            </a:pPr>
            <a:r>
              <a:rPr lang="en-US" sz="2000"/>
              <a:t>collect some Scenarios</a:t>
            </a:r>
          </a:p>
          <a:p>
            <a:pPr lvl="1">
              <a:lnSpc>
                <a:spcPct val="80000"/>
              </a:lnSpc>
            </a:pPr>
            <a:r>
              <a:rPr lang="en-US" sz="1800"/>
              <a:t>How might a software system help? </a:t>
            </a:r>
          </a:p>
          <a:p>
            <a:pPr>
              <a:lnSpc>
                <a:spcPct val="80000"/>
              </a:lnSpc>
            </a:pPr>
            <a:r>
              <a:rPr lang="en-US" sz="2000"/>
              <a:t>identify Development Constraints</a:t>
            </a:r>
          </a:p>
          <a:p>
            <a:pPr lvl="1">
              <a:lnSpc>
                <a:spcPct val="80000"/>
              </a:lnSpc>
            </a:pPr>
            <a:r>
              <a:rPr lang="en-US" sz="1800"/>
              <a:t>When does it need solving?</a:t>
            </a:r>
          </a:p>
          <a:p>
            <a:pPr>
              <a:lnSpc>
                <a:spcPct val="80000"/>
              </a:lnSpc>
            </a:pPr>
            <a:r>
              <a:rPr lang="en-US" sz="2000"/>
              <a:t>identify Feasibility and Risk</a:t>
            </a:r>
          </a:p>
          <a:p>
            <a:pPr lvl="1">
              <a:lnSpc>
                <a:spcPct val="80000"/>
              </a:lnSpc>
            </a:pPr>
            <a:r>
              <a:rPr lang="en-US" sz="1800"/>
              <a:t>What might prevent us solving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5477">
                                            <p:txEl>
                                              <p:pRg st="0" end="0"/>
                                            </p:txEl>
                                          </p:spTgt>
                                        </p:tgtEl>
                                        <p:attrNameLst>
                                          <p:attrName>style.visibility</p:attrName>
                                        </p:attrNameLst>
                                      </p:cBhvr>
                                      <p:to>
                                        <p:strVal val="visible"/>
                                      </p:to>
                                    </p:set>
                                    <p:anim calcmode="lin" valueType="num">
                                      <p:cBhvr additive="base">
                                        <p:cTn id="7" dur="500" fill="hold"/>
                                        <p:tgtEl>
                                          <p:spTgt spid="10547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547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5477">
                                            <p:txEl>
                                              <p:pRg st="1" end="1"/>
                                            </p:txEl>
                                          </p:spTgt>
                                        </p:tgtEl>
                                        <p:attrNameLst>
                                          <p:attrName>style.visibility</p:attrName>
                                        </p:attrNameLst>
                                      </p:cBhvr>
                                      <p:to>
                                        <p:strVal val="visible"/>
                                      </p:to>
                                    </p:set>
                                    <p:anim calcmode="lin" valueType="num">
                                      <p:cBhvr additive="base">
                                        <p:cTn id="13" dur="500" fill="hold"/>
                                        <p:tgtEl>
                                          <p:spTgt spid="10547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547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5477">
                                            <p:txEl>
                                              <p:pRg st="2" end="2"/>
                                            </p:txEl>
                                          </p:spTgt>
                                        </p:tgtEl>
                                        <p:attrNameLst>
                                          <p:attrName>style.visibility</p:attrName>
                                        </p:attrNameLst>
                                      </p:cBhvr>
                                      <p:to>
                                        <p:strVal val="visible"/>
                                      </p:to>
                                    </p:set>
                                    <p:anim calcmode="lin" valueType="num">
                                      <p:cBhvr additive="base">
                                        <p:cTn id="19" dur="500" fill="hold"/>
                                        <p:tgtEl>
                                          <p:spTgt spid="10547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547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5477">
                                            <p:txEl>
                                              <p:pRg st="3" end="3"/>
                                            </p:txEl>
                                          </p:spTgt>
                                        </p:tgtEl>
                                        <p:attrNameLst>
                                          <p:attrName>style.visibility</p:attrName>
                                        </p:attrNameLst>
                                      </p:cBhvr>
                                      <p:to>
                                        <p:strVal val="visible"/>
                                      </p:to>
                                    </p:set>
                                    <p:anim calcmode="lin" valueType="num">
                                      <p:cBhvr additive="base">
                                        <p:cTn id="25" dur="500" fill="hold"/>
                                        <p:tgtEl>
                                          <p:spTgt spid="10547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547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5477">
                                            <p:txEl>
                                              <p:pRg st="4" end="4"/>
                                            </p:txEl>
                                          </p:spTgt>
                                        </p:tgtEl>
                                        <p:attrNameLst>
                                          <p:attrName>style.visibility</p:attrName>
                                        </p:attrNameLst>
                                      </p:cBhvr>
                                      <p:to>
                                        <p:strVal val="visible"/>
                                      </p:to>
                                    </p:set>
                                    <p:anim calcmode="lin" valueType="num">
                                      <p:cBhvr additive="base">
                                        <p:cTn id="31" dur="500" fill="hold"/>
                                        <p:tgtEl>
                                          <p:spTgt spid="10547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547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5477">
                                            <p:txEl>
                                              <p:pRg st="5" end="5"/>
                                            </p:txEl>
                                          </p:spTgt>
                                        </p:tgtEl>
                                        <p:attrNameLst>
                                          <p:attrName>style.visibility</p:attrName>
                                        </p:attrNameLst>
                                      </p:cBhvr>
                                      <p:to>
                                        <p:strVal val="visible"/>
                                      </p:to>
                                    </p:set>
                                    <p:anim calcmode="lin" valueType="num">
                                      <p:cBhvr additive="base">
                                        <p:cTn id="37" dur="500" fill="hold"/>
                                        <p:tgtEl>
                                          <p:spTgt spid="10547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547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05477">
                                            <p:txEl>
                                              <p:pRg st="6" end="6"/>
                                            </p:txEl>
                                          </p:spTgt>
                                        </p:tgtEl>
                                        <p:attrNameLst>
                                          <p:attrName>style.visibility</p:attrName>
                                        </p:attrNameLst>
                                      </p:cBhvr>
                                      <p:to>
                                        <p:strVal val="visible"/>
                                      </p:to>
                                    </p:set>
                                    <p:anim calcmode="lin" valueType="num">
                                      <p:cBhvr additive="base">
                                        <p:cTn id="43" dur="500" fill="hold"/>
                                        <p:tgtEl>
                                          <p:spTgt spid="10547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0547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05477">
                                            <p:txEl>
                                              <p:pRg st="7" end="7"/>
                                            </p:txEl>
                                          </p:spTgt>
                                        </p:tgtEl>
                                        <p:attrNameLst>
                                          <p:attrName>style.visibility</p:attrName>
                                        </p:attrNameLst>
                                      </p:cBhvr>
                                      <p:to>
                                        <p:strVal val="visible"/>
                                      </p:to>
                                    </p:set>
                                    <p:anim calcmode="lin" valueType="num">
                                      <p:cBhvr additive="base">
                                        <p:cTn id="49" dur="500" fill="hold"/>
                                        <p:tgtEl>
                                          <p:spTgt spid="10547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0547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05477">
                                            <p:txEl>
                                              <p:pRg st="8" end="8"/>
                                            </p:txEl>
                                          </p:spTgt>
                                        </p:tgtEl>
                                        <p:attrNameLst>
                                          <p:attrName>style.visibility</p:attrName>
                                        </p:attrNameLst>
                                      </p:cBhvr>
                                      <p:to>
                                        <p:strVal val="visible"/>
                                      </p:to>
                                    </p:set>
                                    <p:anim calcmode="lin" valueType="num">
                                      <p:cBhvr additive="base">
                                        <p:cTn id="55" dur="500" fill="hold"/>
                                        <p:tgtEl>
                                          <p:spTgt spid="10547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0547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05477">
                                            <p:txEl>
                                              <p:pRg st="9" end="9"/>
                                            </p:txEl>
                                          </p:spTgt>
                                        </p:tgtEl>
                                        <p:attrNameLst>
                                          <p:attrName>style.visibility</p:attrName>
                                        </p:attrNameLst>
                                      </p:cBhvr>
                                      <p:to>
                                        <p:strVal val="visible"/>
                                      </p:to>
                                    </p:set>
                                    <p:anim calcmode="lin" valueType="num">
                                      <p:cBhvr additive="base">
                                        <p:cTn id="61" dur="500" fill="hold"/>
                                        <p:tgtEl>
                                          <p:spTgt spid="105477">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05477">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05477">
                                            <p:txEl>
                                              <p:pRg st="10" end="10"/>
                                            </p:txEl>
                                          </p:spTgt>
                                        </p:tgtEl>
                                        <p:attrNameLst>
                                          <p:attrName>style.visibility</p:attrName>
                                        </p:attrNameLst>
                                      </p:cBhvr>
                                      <p:to>
                                        <p:strVal val="visible"/>
                                      </p:to>
                                    </p:set>
                                    <p:anim calcmode="lin" valueType="num">
                                      <p:cBhvr additive="base">
                                        <p:cTn id="67" dur="500" fill="hold"/>
                                        <p:tgtEl>
                                          <p:spTgt spid="105477">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105477">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05477">
                                            <p:txEl>
                                              <p:pRg st="11" end="11"/>
                                            </p:txEl>
                                          </p:spTgt>
                                        </p:tgtEl>
                                        <p:attrNameLst>
                                          <p:attrName>style.visibility</p:attrName>
                                        </p:attrNameLst>
                                      </p:cBhvr>
                                      <p:to>
                                        <p:strVal val="visible"/>
                                      </p:to>
                                    </p:set>
                                    <p:anim calcmode="lin" valueType="num">
                                      <p:cBhvr additive="base">
                                        <p:cTn id="73" dur="500" fill="hold"/>
                                        <p:tgtEl>
                                          <p:spTgt spid="105477">
                                            <p:txEl>
                                              <p:pRg st="11" end="1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105477">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05477">
                                            <p:txEl>
                                              <p:pRg st="12" end="12"/>
                                            </p:txEl>
                                          </p:spTgt>
                                        </p:tgtEl>
                                        <p:attrNameLst>
                                          <p:attrName>style.visibility</p:attrName>
                                        </p:attrNameLst>
                                      </p:cBhvr>
                                      <p:to>
                                        <p:strVal val="visible"/>
                                      </p:to>
                                    </p:set>
                                    <p:anim calcmode="lin" valueType="num">
                                      <p:cBhvr additive="base">
                                        <p:cTn id="79" dur="500" fill="hold"/>
                                        <p:tgtEl>
                                          <p:spTgt spid="105477">
                                            <p:txEl>
                                              <p:pRg st="12" end="12"/>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105477">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05477">
                                            <p:txEl>
                                              <p:pRg st="13" end="13"/>
                                            </p:txEl>
                                          </p:spTgt>
                                        </p:tgtEl>
                                        <p:attrNameLst>
                                          <p:attrName>style.visibility</p:attrName>
                                        </p:attrNameLst>
                                      </p:cBhvr>
                                      <p:to>
                                        <p:strVal val="visible"/>
                                      </p:to>
                                    </p:set>
                                    <p:anim calcmode="lin" valueType="num">
                                      <p:cBhvr additive="base">
                                        <p:cTn id="85" dur="500" fill="hold"/>
                                        <p:tgtEl>
                                          <p:spTgt spid="105477">
                                            <p:txEl>
                                              <p:pRg st="13" end="13"/>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105477">
                                            <p:txEl>
                                              <p:pRg st="13" end="13"/>
                                            </p:tx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05477">
                                            <p:txEl>
                                              <p:pRg st="14" end="14"/>
                                            </p:txEl>
                                          </p:spTgt>
                                        </p:tgtEl>
                                        <p:attrNameLst>
                                          <p:attrName>style.visibility</p:attrName>
                                        </p:attrNameLst>
                                      </p:cBhvr>
                                      <p:to>
                                        <p:strVal val="visible"/>
                                      </p:to>
                                    </p:set>
                                    <p:anim calcmode="lin" valueType="num">
                                      <p:cBhvr additive="base">
                                        <p:cTn id="91" dur="500" fill="hold"/>
                                        <p:tgtEl>
                                          <p:spTgt spid="105477">
                                            <p:txEl>
                                              <p:pRg st="14" end="14"/>
                                            </p:txEl>
                                          </p:spTgt>
                                        </p:tgtEl>
                                        <p:attrNameLst>
                                          <p:attrName>ppt_x</p:attrName>
                                        </p:attrNameLst>
                                      </p:cBhvr>
                                      <p:tavLst>
                                        <p:tav tm="0">
                                          <p:val>
                                            <p:strVal val="0-#ppt_w/2"/>
                                          </p:val>
                                        </p:tav>
                                        <p:tav tm="100000">
                                          <p:val>
                                            <p:strVal val="#ppt_x"/>
                                          </p:val>
                                        </p:tav>
                                      </p:tavLst>
                                    </p:anim>
                                    <p:anim calcmode="lin" valueType="num">
                                      <p:cBhvr additive="base">
                                        <p:cTn id="92" dur="500" fill="hold"/>
                                        <p:tgtEl>
                                          <p:spTgt spid="105477">
                                            <p:txEl>
                                              <p:pRg st="14" end="1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7"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2" name="Rectangle 4"/>
          <p:cNvSpPr>
            <a:spLocks noGrp="1" noChangeArrowheads="1"/>
          </p:cNvSpPr>
          <p:nvPr>
            <p:ph type="title"/>
          </p:nvPr>
        </p:nvSpPr>
        <p:spPr/>
        <p:txBody>
          <a:bodyPr/>
          <a:lstStyle/>
          <a:p>
            <a:r>
              <a:rPr lang="en-US" sz="3200" dirty="0"/>
              <a:t>Outcomes of</a:t>
            </a:r>
            <a:br>
              <a:rPr lang="en-US" sz="3200" dirty="0"/>
            </a:br>
            <a:r>
              <a:rPr lang="en-US" sz="3200" dirty="0"/>
              <a:t> Requirement Elicitation</a:t>
            </a:r>
          </a:p>
        </p:txBody>
      </p:sp>
      <p:sp>
        <p:nvSpPr>
          <p:cNvPr id="109573" name="Rectangle 5"/>
          <p:cNvSpPr>
            <a:spLocks noGrp="1" noChangeArrowheads="1"/>
          </p:cNvSpPr>
          <p:nvPr>
            <p:ph type="body" idx="1"/>
          </p:nvPr>
        </p:nvSpPr>
        <p:spPr/>
        <p:txBody>
          <a:bodyPr/>
          <a:lstStyle/>
          <a:p>
            <a:pPr>
              <a:lnSpc>
                <a:spcPct val="80000"/>
              </a:lnSpc>
            </a:pPr>
            <a:r>
              <a:rPr lang="en-US" sz="2400"/>
              <a:t>Tangible</a:t>
            </a:r>
          </a:p>
          <a:p>
            <a:pPr>
              <a:lnSpc>
                <a:spcPct val="80000"/>
              </a:lnSpc>
            </a:pPr>
            <a:r>
              <a:rPr lang="en-US" sz="2400"/>
              <a:t>Intangible</a:t>
            </a:r>
          </a:p>
          <a:p>
            <a:pPr lvl="1">
              <a:lnSpc>
                <a:spcPct val="80000"/>
              </a:lnSpc>
            </a:pPr>
            <a:r>
              <a:rPr lang="en-US" sz="2000"/>
              <a:t>Users or buyers</a:t>
            </a:r>
          </a:p>
          <a:p>
            <a:pPr lvl="2">
              <a:lnSpc>
                <a:spcPct val="80000"/>
              </a:lnSpc>
            </a:pPr>
            <a:r>
              <a:rPr lang="en-US" sz="1800"/>
              <a:t>A full understanding of requirements and separation of ‘want’ and ‘need’</a:t>
            </a:r>
          </a:p>
          <a:p>
            <a:pPr lvl="2">
              <a:lnSpc>
                <a:spcPct val="80000"/>
              </a:lnSpc>
            </a:pPr>
            <a:r>
              <a:rPr lang="en-US" sz="1800"/>
              <a:t>A good understanding of the decisions they have made in developing the requirements</a:t>
            </a:r>
          </a:p>
          <a:p>
            <a:pPr lvl="2">
              <a:lnSpc>
                <a:spcPct val="80000"/>
              </a:lnSpc>
            </a:pPr>
            <a:r>
              <a:rPr lang="en-US" sz="1800"/>
              <a:t>A sense of ownership</a:t>
            </a:r>
          </a:p>
          <a:p>
            <a:pPr lvl="2">
              <a:lnSpc>
                <a:spcPct val="80000"/>
              </a:lnSpc>
            </a:pPr>
            <a:r>
              <a:rPr lang="en-US" sz="1800"/>
              <a:t>Feel informed and educated</a:t>
            </a:r>
          </a:p>
          <a:p>
            <a:pPr lvl="2">
              <a:lnSpc>
                <a:spcPct val="80000"/>
              </a:lnSpc>
            </a:pPr>
            <a:r>
              <a:rPr lang="en-US" sz="1800"/>
              <a:t>Committed to the success of the project</a:t>
            </a:r>
          </a:p>
          <a:p>
            <a:pPr lvl="1">
              <a:lnSpc>
                <a:spcPct val="80000"/>
              </a:lnSpc>
            </a:pPr>
            <a:r>
              <a:rPr lang="en-US" sz="1800"/>
              <a:t>Software Engineer or Developer</a:t>
            </a:r>
          </a:p>
          <a:p>
            <a:pPr lvl="2">
              <a:lnSpc>
                <a:spcPct val="80000"/>
              </a:lnSpc>
            </a:pPr>
            <a:r>
              <a:rPr lang="en-US" sz="1600"/>
              <a:t>Solving the right problem</a:t>
            </a:r>
          </a:p>
          <a:p>
            <a:pPr lvl="2">
              <a:lnSpc>
                <a:spcPct val="80000"/>
              </a:lnSpc>
            </a:pPr>
            <a:r>
              <a:rPr lang="en-US" sz="1600"/>
              <a:t>Confidence that Solution is feasible</a:t>
            </a:r>
          </a:p>
          <a:p>
            <a:pPr lvl="2">
              <a:lnSpc>
                <a:spcPct val="80000"/>
              </a:lnSpc>
            </a:pPr>
            <a:r>
              <a:rPr lang="en-US" sz="1600"/>
              <a:t>They have trust and confidence of the customers</a:t>
            </a:r>
          </a:p>
          <a:p>
            <a:pPr lvl="2">
              <a:lnSpc>
                <a:spcPct val="80000"/>
              </a:lnSpc>
            </a:pPr>
            <a:r>
              <a:rPr lang="en-US" sz="1600"/>
              <a:t>Customer co-operation</a:t>
            </a:r>
          </a:p>
          <a:p>
            <a:pPr lvl="2">
              <a:lnSpc>
                <a:spcPct val="80000"/>
              </a:lnSpc>
            </a:pPr>
            <a:r>
              <a:rPr lang="en-US" sz="1600"/>
              <a:t>Knowledge of the domain of the system</a:t>
            </a:r>
            <a:endParaRPr 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09573">
                                            <p:txEl>
                                              <p:pRg st="0" end="0"/>
                                            </p:txEl>
                                          </p:spTgt>
                                        </p:tgtEl>
                                        <p:attrNameLst>
                                          <p:attrName>style.visibility</p:attrName>
                                        </p:attrNameLst>
                                      </p:cBhvr>
                                      <p:to>
                                        <p:strVal val="visible"/>
                                      </p:to>
                                    </p:set>
                                    <p:anim calcmode="lin" valueType="num">
                                      <p:cBhvr additive="base">
                                        <p:cTn id="7" dur="500" fill="hold"/>
                                        <p:tgtEl>
                                          <p:spTgt spid="10957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957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09573">
                                            <p:txEl>
                                              <p:pRg st="1" end="1"/>
                                            </p:txEl>
                                          </p:spTgt>
                                        </p:tgtEl>
                                        <p:attrNameLst>
                                          <p:attrName>style.visibility</p:attrName>
                                        </p:attrNameLst>
                                      </p:cBhvr>
                                      <p:to>
                                        <p:strVal val="visible"/>
                                      </p:to>
                                    </p:set>
                                    <p:anim calcmode="lin" valueType="num">
                                      <p:cBhvr additive="base">
                                        <p:cTn id="13" dur="500" fill="hold"/>
                                        <p:tgtEl>
                                          <p:spTgt spid="10957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957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arbrake.wav"/>
                                        </p:tgtEl>
                                      </p:cMediaNode>
                                    </p:audio>
                                  </p:subTnLst>
                                </p:cTn>
                              </p:par>
                              <p:par>
                                <p:cTn id="15" presetID="2" presetClass="entr" presetSubtype="2" fill="hold" grpId="0" nodeType="withEffect">
                                  <p:stCondLst>
                                    <p:cond delay="0"/>
                                  </p:stCondLst>
                                  <p:childTnLst>
                                    <p:set>
                                      <p:cBhvr>
                                        <p:cTn id="16" dur="1" fill="hold">
                                          <p:stCondLst>
                                            <p:cond delay="0"/>
                                          </p:stCondLst>
                                        </p:cTn>
                                        <p:tgtEl>
                                          <p:spTgt spid="109573">
                                            <p:txEl>
                                              <p:pRg st="2" end="2"/>
                                            </p:txEl>
                                          </p:spTgt>
                                        </p:tgtEl>
                                        <p:attrNameLst>
                                          <p:attrName>style.visibility</p:attrName>
                                        </p:attrNameLst>
                                      </p:cBhvr>
                                      <p:to>
                                        <p:strVal val="visible"/>
                                      </p:to>
                                    </p:set>
                                    <p:anim calcmode="lin" valueType="num">
                                      <p:cBhvr additive="base">
                                        <p:cTn id="17" dur="500" fill="hold"/>
                                        <p:tgtEl>
                                          <p:spTgt spid="10957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0957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carbrake.wav"/>
                                        </p:tgtEl>
                                      </p:cMediaNode>
                                    </p:audio>
                                  </p:subTnLst>
                                </p:cTn>
                              </p:par>
                              <p:par>
                                <p:cTn id="19" presetID="2" presetClass="entr" presetSubtype="2" fill="hold" grpId="0" nodeType="withEffect">
                                  <p:stCondLst>
                                    <p:cond delay="0"/>
                                  </p:stCondLst>
                                  <p:childTnLst>
                                    <p:set>
                                      <p:cBhvr>
                                        <p:cTn id="20" dur="1" fill="hold">
                                          <p:stCondLst>
                                            <p:cond delay="0"/>
                                          </p:stCondLst>
                                        </p:cTn>
                                        <p:tgtEl>
                                          <p:spTgt spid="109573">
                                            <p:txEl>
                                              <p:pRg st="3" end="3"/>
                                            </p:txEl>
                                          </p:spTgt>
                                        </p:tgtEl>
                                        <p:attrNameLst>
                                          <p:attrName>style.visibility</p:attrName>
                                        </p:attrNameLst>
                                      </p:cBhvr>
                                      <p:to>
                                        <p:strVal val="visible"/>
                                      </p:to>
                                    </p:set>
                                    <p:anim calcmode="lin" valueType="num">
                                      <p:cBhvr additive="base">
                                        <p:cTn id="21" dur="500" fill="hold"/>
                                        <p:tgtEl>
                                          <p:spTgt spid="10957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0957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9"/>
                                            </p:cond>
                                          </p:stCondLst>
                                          <p:endCondLst>
                                            <p:cond evt="onStopAudio" delay="0">
                                              <p:tgtEl>
                                                <p:sldTgt/>
                                              </p:tgtEl>
                                            </p:cond>
                                          </p:endCondLst>
                                        </p:cTn>
                                        <p:tgtEl>
                                          <p:sndTgt r:embed="rId2" name="carbrake.wav"/>
                                        </p:tgtEl>
                                      </p:cMediaNode>
                                    </p:audio>
                                  </p:subTnLst>
                                </p:cTn>
                              </p:par>
                              <p:par>
                                <p:cTn id="23" presetID="2" presetClass="entr" presetSubtype="2" fill="hold" grpId="0" nodeType="withEffect">
                                  <p:stCondLst>
                                    <p:cond delay="0"/>
                                  </p:stCondLst>
                                  <p:childTnLst>
                                    <p:set>
                                      <p:cBhvr>
                                        <p:cTn id="24" dur="1" fill="hold">
                                          <p:stCondLst>
                                            <p:cond delay="0"/>
                                          </p:stCondLst>
                                        </p:cTn>
                                        <p:tgtEl>
                                          <p:spTgt spid="109573">
                                            <p:txEl>
                                              <p:pRg st="4" end="4"/>
                                            </p:txEl>
                                          </p:spTgt>
                                        </p:tgtEl>
                                        <p:attrNameLst>
                                          <p:attrName>style.visibility</p:attrName>
                                        </p:attrNameLst>
                                      </p:cBhvr>
                                      <p:to>
                                        <p:strVal val="visible"/>
                                      </p:to>
                                    </p:set>
                                    <p:anim calcmode="lin" valueType="num">
                                      <p:cBhvr additive="base">
                                        <p:cTn id="25" dur="500" fill="hold"/>
                                        <p:tgtEl>
                                          <p:spTgt spid="10957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9573">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arbrake.wav"/>
                                        </p:tgtEl>
                                      </p:cMediaNode>
                                    </p:audio>
                                  </p:subTnLst>
                                </p:cTn>
                              </p:par>
                              <p:par>
                                <p:cTn id="27" presetID="2" presetClass="entr" presetSubtype="2" fill="hold" grpId="0" nodeType="withEffect">
                                  <p:stCondLst>
                                    <p:cond delay="0"/>
                                  </p:stCondLst>
                                  <p:childTnLst>
                                    <p:set>
                                      <p:cBhvr>
                                        <p:cTn id="28" dur="1" fill="hold">
                                          <p:stCondLst>
                                            <p:cond delay="0"/>
                                          </p:stCondLst>
                                        </p:cTn>
                                        <p:tgtEl>
                                          <p:spTgt spid="109573">
                                            <p:txEl>
                                              <p:pRg st="5" end="5"/>
                                            </p:txEl>
                                          </p:spTgt>
                                        </p:tgtEl>
                                        <p:attrNameLst>
                                          <p:attrName>style.visibility</p:attrName>
                                        </p:attrNameLst>
                                      </p:cBhvr>
                                      <p:to>
                                        <p:strVal val="visible"/>
                                      </p:to>
                                    </p:set>
                                    <p:anim calcmode="lin" valueType="num">
                                      <p:cBhvr additive="base">
                                        <p:cTn id="29" dur="500" fill="hold"/>
                                        <p:tgtEl>
                                          <p:spTgt spid="10957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109573">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2" name="carbrake.wav"/>
                                        </p:tgtEl>
                                      </p:cMediaNode>
                                    </p:audio>
                                  </p:subTnLst>
                                </p:cTn>
                              </p:par>
                              <p:par>
                                <p:cTn id="31" presetID="2" presetClass="entr" presetSubtype="2" fill="hold" grpId="0" nodeType="withEffect">
                                  <p:stCondLst>
                                    <p:cond delay="0"/>
                                  </p:stCondLst>
                                  <p:childTnLst>
                                    <p:set>
                                      <p:cBhvr>
                                        <p:cTn id="32" dur="1" fill="hold">
                                          <p:stCondLst>
                                            <p:cond delay="0"/>
                                          </p:stCondLst>
                                        </p:cTn>
                                        <p:tgtEl>
                                          <p:spTgt spid="109573">
                                            <p:txEl>
                                              <p:pRg st="6" end="6"/>
                                            </p:txEl>
                                          </p:spTgt>
                                        </p:tgtEl>
                                        <p:attrNameLst>
                                          <p:attrName>style.visibility</p:attrName>
                                        </p:attrNameLst>
                                      </p:cBhvr>
                                      <p:to>
                                        <p:strVal val="visible"/>
                                      </p:to>
                                    </p:set>
                                    <p:anim calcmode="lin" valueType="num">
                                      <p:cBhvr additive="base">
                                        <p:cTn id="33" dur="500" fill="hold"/>
                                        <p:tgtEl>
                                          <p:spTgt spid="10957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09573">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carbrake.wav"/>
                                        </p:tgtEl>
                                      </p:cMediaNode>
                                    </p:audio>
                                  </p:subTnLst>
                                </p:cTn>
                              </p:par>
                              <p:par>
                                <p:cTn id="35" presetID="2" presetClass="entr" presetSubtype="2" fill="hold" grpId="0" nodeType="withEffect">
                                  <p:stCondLst>
                                    <p:cond delay="0"/>
                                  </p:stCondLst>
                                  <p:childTnLst>
                                    <p:set>
                                      <p:cBhvr>
                                        <p:cTn id="36" dur="1" fill="hold">
                                          <p:stCondLst>
                                            <p:cond delay="0"/>
                                          </p:stCondLst>
                                        </p:cTn>
                                        <p:tgtEl>
                                          <p:spTgt spid="109573">
                                            <p:txEl>
                                              <p:pRg st="7" end="7"/>
                                            </p:txEl>
                                          </p:spTgt>
                                        </p:tgtEl>
                                        <p:attrNameLst>
                                          <p:attrName>style.visibility</p:attrName>
                                        </p:attrNameLst>
                                      </p:cBhvr>
                                      <p:to>
                                        <p:strVal val="visible"/>
                                      </p:to>
                                    </p:set>
                                    <p:anim calcmode="lin" valueType="num">
                                      <p:cBhvr additive="base">
                                        <p:cTn id="37" dur="500" fill="hold"/>
                                        <p:tgtEl>
                                          <p:spTgt spid="109573">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09573">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par>
                                <p:cTn id="39" presetID="2" presetClass="entr" presetSubtype="2" fill="hold" grpId="0" nodeType="withEffect">
                                  <p:stCondLst>
                                    <p:cond delay="0"/>
                                  </p:stCondLst>
                                  <p:childTnLst>
                                    <p:set>
                                      <p:cBhvr>
                                        <p:cTn id="40" dur="1" fill="hold">
                                          <p:stCondLst>
                                            <p:cond delay="0"/>
                                          </p:stCondLst>
                                        </p:cTn>
                                        <p:tgtEl>
                                          <p:spTgt spid="109573">
                                            <p:txEl>
                                              <p:pRg st="8" end="8"/>
                                            </p:txEl>
                                          </p:spTgt>
                                        </p:tgtEl>
                                        <p:attrNameLst>
                                          <p:attrName>style.visibility</p:attrName>
                                        </p:attrNameLst>
                                      </p:cBhvr>
                                      <p:to>
                                        <p:strVal val="visible"/>
                                      </p:to>
                                    </p:set>
                                    <p:anim calcmode="lin" valueType="num">
                                      <p:cBhvr additive="base">
                                        <p:cTn id="41" dur="500" fill="hold"/>
                                        <p:tgtEl>
                                          <p:spTgt spid="109573">
                                            <p:txEl>
                                              <p:pRg st="8" end="8"/>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09573">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rbrake.wav"/>
                                        </p:tgtEl>
                                      </p:cMediaNode>
                                    </p:audio>
                                  </p:subTnLst>
                                </p:cTn>
                              </p:par>
                              <p:par>
                                <p:cTn id="43" presetID="2" presetClass="entr" presetSubtype="2" fill="hold" grpId="0" nodeType="withEffect">
                                  <p:stCondLst>
                                    <p:cond delay="0"/>
                                  </p:stCondLst>
                                  <p:childTnLst>
                                    <p:set>
                                      <p:cBhvr>
                                        <p:cTn id="44" dur="1" fill="hold">
                                          <p:stCondLst>
                                            <p:cond delay="0"/>
                                          </p:stCondLst>
                                        </p:cTn>
                                        <p:tgtEl>
                                          <p:spTgt spid="109573">
                                            <p:txEl>
                                              <p:pRg st="9" end="9"/>
                                            </p:txEl>
                                          </p:spTgt>
                                        </p:tgtEl>
                                        <p:attrNameLst>
                                          <p:attrName>style.visibility</p:attrName>
                                        </p:attrNameLst>
                                      </p:cBhvr>
                                      <p:to>
                                        <p:strVal val="visible"/>
                                      </p:to>
                                    </p:set>
                                    <p:anim calcmode="lin" valueType="num">
                                      <p:cBhvr additive="base">
                                        <p:cTn id="45" dur="500" fill="hold"/>
                                        <p:tgtEl>
                                          <p:spTgt spid="109573">
                                            <p:txEl>
                                              <p:pRg st="9" end="9"/>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09573">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carbrake.wav"/>
                                        </p:tgtEl>
                                      </p:cMediaNode>
                                    </p:audio>
                                  </p:subTnLst>
                                </p:cTn>
                              </p:par>
                              <p:par>
                                <p:cTn id="47" presetID="2" presetClass="entr" presetSubtype="2" fill="hold" grpId="0" nodeType="withEffect">
                                  <p:stCondLst>
                                    <p:cond delay="0"/>
                                  </p:stCondLst>
                                  <p:childTnLst>
                                    <p:set>
                                      <p:cBhvr>
                                        <p:cTn id="48" dur="1" fill="hold">
                                          <p:stCondLst>
                                            <p:cond delay="0"/>
                                          </p:stCondLst>
                                        </p:cTn>
                                        <p:tgtEl>
                                          <p:spTgt spid="109573">
                                            <p:txEl>
                                              <p:pRg st="10" end="10"/>
                                            </p:txEl>
                                          </p:spTgt>
                                        </p:tgtEl>
                                        <p:attrNameLst>
                                          <p:attrName>style.visibility</p:attrName>
                                        </p:attrNameLst>
                                      </p:cBhvr>
                                      <p:to>
                                        <p:strVal val="visible"/>
                                      </p:to>
                                    </p:set>
                                    <p:anim calcmode="lin" valueType="num">
                                      <p:cBhvr additive="base">
                                        <p:cTn id="49" dur="500" fill="hold"/>
                                        <p:tgtEl>
                                          <p:spTgt spid="109573">
                                            <p:txEl>
                                              <p:pRg st="10" end="1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09573">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carbrake.wav"/>
                                        </p:tgtEl>
                                      </p:cMediaNode>
                                    </p:audio>
                                  </p:subTnLst>
                                </p:cTn>
                              </p:par>
                              <p:par>
                                <p:cTn id="51" presetID="2" presetClass="entr" presetSubtype="2" fill="hold" grpId="0" nodeType="withEffect">
                                  <p:stCondLst>
                                    <p:cond delay="0"/>
                                  </p:stCondLst>
                                  <p:childTnLst>
                                    <p:set>
                                      <p:cBhvr>
                                        <p:cTn id="52" dur="1" fill="hold">
                                          <p:stCondLst>
                                            <p:cond delay="0"/>
                                          </p:stCondLst>
                                        </p:cTn>
                                        <p:tgtEl>
                                          <p:spTgt spid="109573">
                                            <p:txEl>
                                              <p:pRg st="11" end="11"/>
                                            </p:txEl>
                                          </p:spTgt>
                                        </p:tgtEl>
                                        <p:attrNameLst>
                                          <p:attrName>style.visibility</p:attrName>
                                        </p:attrNameLst>
                                      </p:cBhvr>
                                      <p:to>
                                        <p:strVal val="visible"/>
                                      </p:to>
                                    </p:set>
                                    <p:anim calcmode="lin" valueType="num">
                                      <p:cBhvr additive="base">
                                        <p:cTn id="53" dur="500" fill="hold"/>
                                        <p:tgtEl>
                                          <p:spTgt spid="109573">
                                            <p:txEl>
                                              <p:pRg st="11" end="11"/>
                                            </p:tx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109573">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1"/>
                                            </p:cond>
                                          </p:stCondLst>
                                          <p:endCondLst>
                                            <p:cond evt="onStopAudio" delay="0">
                                              <p:tgtEl>
                                                <p:sldTgt/>
                                              </p:tgtEl>
                                            </p:cond>
                                          </p:endCondLst>
                                        </p:cTn>
                                        <p:tgtEl>
                                          <p:sndTgt r:embed="rId2" name="carbrake.wav"/>
                                        </p:tgtEl>
                                      </p:cMediaNode>
                                    </p:audio>
                                  </p:subTnLst>
                                </p:cTn>
                              </p:par>
                              <p:par>
                                <p:cTn id="55" presetID="2" presetClass="entr" presetSubtype="2" fill="hold" grpId="0" nodeType="withEffect">
                                  <p:stCondLst>
                                    <p:cond delay="0"/>
                                  </p:stCondLst>
                                  <p:childTnLst>
                                    <p:set>
                                      <p:cBhvr>
                                        <p:cTn id="56" dur="1" fill="hold">
                                          <p:stCondLst>
                                            <p:cond delay="0"/>
                                          </p:stCondLst>
                                        </p:cTn>
                                        <p:tgtEl>
                                          <p:spTgt spid="109573">
                                            <p:txEl>
                                              <p:pRg st="12" end="12"/>
                                            </p:txEl>
                                          </p:spTgt>
                                        </p:tgtEl>
                                        <p:attrNameLst>
                                          <p:attrName>style.visibility</p:attrName>
                                        </p:attrNameLst>
                                      </p:cBhvr>
                                      <p:to>
                                        <p:strVal val="visible"/>
                                      </p:to>
                                    </p:set>
                                    <p:anim calcmode="lin" valueType="num">
                                      <p:cBhvr additive="base">
                                        <p:cTn id="57" dur="500" fill="hold"/>
                                        <p:tgtEl>
                                          <p:spTgt spid="109573">
                                            <p:txEl>
                                              <p:pRg st="12" end="12"/>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109573">
                                            <p:txEl>
                                              <p:pRg st="12" end="1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2" name="carbrake.wav"/>
                                        </p:tgtEl>
                                      </p:cMediaNode>
                                    </p:audio>
                                  </p:subTnLst>
                                </p:cTn>
                              </p:par>
                              <p:par>
                                <p:cTn id="59" presetID="2" presetClass="entr" presetSubtype="2" fill="hold" grpId="0" nodeType="withEffect">
                                  <p:stCondLst>
                                    <p:cond delay="0"/>
                                  </p:stCondLst>
                                  <p:childTnLst>
                                    <p:set>
                                      <p:cBhvr>
                                        <p:cTn id="60" dur="1" fill="hold">
                                          <p:stCondLst>
                                            <p:cond delay="0"/>
                                          </p:stCondLst>
                                        </p:cTn>
                                        <p:tgtEl>
                                          <p:spTgt spid="109573">
                                            <p:txEl>
                                              <p:pRg st="13" end="13"/>
                                            </p:txEl>
                                          </p:spTgt>
                                        </p:tgtEl>
                                        <p:attrNameLst>
                                          <p:attrName>style.visibility</p:attrName>
                                        </p:attrNameLst>
                                      </p:cBhvr>
                                      <p:to>
                                        <p:strVal val="visible"/>
                                      </p:to>
                                    </p:set>
                                    <p:anim calcmode="lin" valueType="num">
                                      <p:cBhvr additive="base">
                                        <p:cTn id="61" dur="500" fill="hold"/>
                                        <p:tgtEl>
                                          <p:spTgt spid="109573">
                                            <p:txEl>
                                              <p:pRg st="13" end="13"/>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109573">
                                            <p:txEl>
                                              <p:pRg st="13"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9"/>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4" name="Rectangle 4"/>
          <p:cNvSpPr>
            <a:spLocks noGrp="1" noChangeArrowheads="1"/>
          </p:cNvSpPr>
          <p:nvPr>
            <p:ph type="title"/>
          </p:nvPr>
        </p:nvSpPr>
        <p:spPr/>
        <p:txBody>
          <a:bodyPr/>
          <a:lstStyle/>
          <a:p>
            <a:r>
              <a:rPr lang="en-US"/>
              <a:t>Elicitation Techniques</a:t>
            </a:r>
          </a:p>
        </p:txBody>
      </p:sp>
      <p:sp>
        <p:nvSpPr>
          <p:cNvPr id="4" name="Text Placeholder 3"/>
          <p:cNvSpPr>
            <a:spLocks noGrp="1"/>
          </p:cNvSpPr>
          <p:nvPr>
            <p:ph type="body" idx="1"/>
          </p:nvPr>
        </p:nvSpPr>
        <p:spPr/>
        <p:txBody>
          <a:bodyPr/>
          <a:lstStyle/>
          <a:p>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2040" name="Rectangle 8"/>
          <p:cNvSpPr>
            <a:spLocks noGrp="1" noChangeArrowheads="1"/>
          </p:cNvSpPr>
          <p:nvPr>
            <p:ph type="title"/>
          </p:nvPr>
        </p:nvSpPr>
        <p:spPr/>
        <p:txBody>
          <a:bodyPr>
            <a:normAutofit fontScale="90000"/>
          </a:bodyPr>
          <a:lstStyle/>
          <a:p>
            <a:r>
              <a:rPr lang="en-US" sz="3600"/>
              <a:t>Requirements Elicitation Techniques</a:t>
            </a:r>
          </a:p>
        </p:txBody>
      </p:sp>
      <p:sp>
        <p:nvSpPr>
          <p:cNvPr id="172041" name="Rectangle 9"/>
          <p:cNvSpPr>
            <a:spLocks noGrp="1" noChangeArrowheads="1"/>
          </p:cNvSpPr>
          <p:nvPr>
            <p:ph type="body" sz="half" idx="1"/>
          </p:nvPr>
        </p:nvSpPr>
        <p:spPr/>
        <p:txBody>
          <a:bodyPr/>
          <a:lstStyle/>
          <a:p>
            <a:pPr>
              <a:lnSpc>
                <a:spcPct val="90000"/>
              </a:lnSpc>
            </a:pPr>
            <a:r>
              <a:rPr lang="en-US" sz="2000"/>
              <a:t>Traditional techniques</a:t>
            </a:r>
          </a:p>
          <a:p>
            <a:pPr lvl="1">
              <a:lnSpc>
                <a:spcPct val="90000"/>
              </a:lnSpc>
            </a:pPr>
            <a:r>
              <a:rPr lang="en-US" sz="1800"/>
              <a:t>Reading existing documents</a:t>
            </a:r>
          </a:p>
          <a:p>
            <a:pPr lvl="1">
              <a:lnSpc>
                <a:spcPct val="90000"/>
              </a:lnSpc>
            </a:pPr>
            <a:r>
              <a:rPr lang="en-US" sz="1800"/>
              <a:t>Analyzing hard data</a:t>
            </a:r>
          </a:p>
          <a:p>
            <a:pPr lvl="1">
              <a:lnSpc>
                <a:spcPct val="90000"/>
              </a:lnSpc>
            </a:pPr>
            <a:r>
              <a:rPr lang="en-US" sz="1800"/>
              <a:t>Interviews</a:t>
            </a:r>
          </a:p>
          <a:p>
            <a:pPr lvl="1">
              <a:lnSpc>
                <a:spcPct val="90000"/>
              </a:lnSpc>
            </a:pPr>
            <a:r>
              <a:rPr lang="en-US" sz="1800"/>
              <a:t>Surveys / Questionnaires</a:t>
            </a:r>
          </a:p>
          <a:p>
            <a:pPr lvl="1">
              <a:lnSpc>
                <a:spcPct val="90000"/>
              </a:lnSpc>
            </a:pPr>
            <a:r>
              <a:rPr lang="en-US" sz="1800"/>
              <a:t>Meetings</a:t>
            </a:r>
          </a:p>
          <a:p>
            <a:pPr>
              <a:lnSpc>
                <a:spcPct val="90000"/>
              </a:lnSpc>
            </a:pPr>
            <a:r>
              <a:rPr lang="en-US" sz="2000"/>
              <a:t>Collaborative techniques</a:t>
            </a:r>
          </a:p>
          <a:p>
            <a:pPr lvl="1">
              <a:lnSpc>
                <a:spcPct val="90000"/>
              </a:lnSpc>
            </a:pPr>
            <a:r>
              <a:rPr lang="en-US" sz="1800"/>
              <a:t>Focus Groups</a:t>
            </a:r>
          </a:p>
          <a:p>
            <a:pPr lvl="1">
              <a:lnSpc>
                <a:spcPct val="90000"/>
              </a:lnSpc>
            </a:pPr>
            <a:r>
              <a:rPr lang="en-US" sz="1800"/>
              <a:t>Storyboarding</a:t>
            </a:r>
          </a:p>
          <a:p>
            <a:pPr lvl="1">
              <a:lnSpc>
                <a:spcPct val="90000"/>
              </a:lnSpc>
            </a:pPr>
            <a:r>
              <a:rPr lang="en-US" sz="1800"/>
              <a:t>Prototyping</a:t>
            </a:r>
          </a:p>
          <a:p>
            <a:pPr>
              <a:lnSpc>
                <a:spcPct val="90000"/>
              </a:lnSpc>
            </a:pPr>
            <a:r>
              <a:rPr lang="en-US" sz="2000"/>
              <a:t>Model-based techniques</a:t>
            </a:r>
          </a:p>
          <a:p>
            <a:pPr lvl="1">
              <a:lnSpc>
                <a:spcPct val="90000"/>
              </a:lnSpc>
            </a:pPr>
            <a:r>
              <a:rPr lang="en-US" sz="1800"/>
              <a:t>Goal-based</a:t>
            </a:r>
          </a:p>
          <a:p>
            <a:pPr lvl="1">
              <a:lnSpc>
                <a:spcPct val="90000"/>
              </a:lnSpc>
            </a:pPr>
            <a:r>
              <a:rPr lang="en-US" sz="1800"/>
              <a:t>Scenario-Based</a:t>
            </a:r>
          </a:p>
          <a:p>
            <a:pPr lvl="1">
              <a:lnSpc>
                <a:spcPct val="90000"/>
              </a:lnSpc>
            </a:pPr>
            <a:r>
              <a:rPr lang="en-US" sz="1800"/>
              <a:t>Use Cases</a:t>
            </a:r>
          </a:p>
          <a:p>
            <a:pPr>
              <a:lnSpc>
                <a:spcPct val="90000"/>
              </a:lnSpc>
            </a:pPr>
            <a:endParaRPr lang="en-US" sz="2000"/>
          </a:p>
        </p:txBody>
      </p:sp>
      <p:sp>
        <p:nvSpPr>
          <p:cNvPr id="172042" name="Rectangle 10"/>
          <p:cNvSpPr>
            <a:spLocks noGrp="1" noChangeArrowheads="1"/>
          </p:cNvSpPr>
          <p:nvPr>
            <p:ph type="body" sz="half" idx="2"/>
          </p:nvPr>
        </p:nvSpPr>
        <p:spPr/>
        <p:txBody>
          <a:bodyPr/>
          <a:lstStyle/>
          <a:p>
            <a:pPr>
              <a:lnSpc>
                <a:spcPct val="90000"/>
              </a:lnSpc>
            </a:pPr>
            <a:r>
              <a:rPr lang="en-US" sz="2000"/>
              <a:t>Contextual (social) approaches</a:t>
            </a:r>
          </a:p>
          <a:p>
            <a:pPr lvl="1">
              <a:lnSpc>
                <a:spcPct val="90000"/>
              </a:lnSpc>
            </a:pPr>
            <a:r>
              <a:rPr lang="en-US" sz="1800"/>
              <a:t>Ethnographic techniques</a:t>
            </a:r>
          </a:p>
          <a:p>
            <a:pPr lvl="1">
              <a:lnSpc>
                <a:spcPct val="90000"/>
              </a:lnSpc>
            </a:pPr>
            <a:r>
              <a:rPr lang="en-US" sz="1800"/>
              <a:t>Discourse Analysis</a:t>
            </a:r>
          </a:p>
          <a:p>
            <a:pPr lvl="1">
              <a:lnSpc>
                <a:spcPct val="90000"/>
              </a:lnSpc>
            </a:pPr>
            <a:r>
              <a:rPr lang="en-US" sz="1800"/>
              <a:t>Socio-technical Methods</a:t>
            </a:r>
          </a:p>
          <a:p>
            <a:pPr>
              <a:lnSpc>
                <a:spcPct val="90000"/>
              </a:lnSpc>
            </a:pPr>
            <a:r>
              <a:rPr lang="en-US" sz="2000"/>
              <a:t>Cognitive techniques</a:t>
            </a:r>
          </a:p>
          <a:p>
            <a:pPr lvl="1">
              <a:lnSpc>
                <a:spcPct val="90000"/>
              </a:lnSpc>
            </a:pPr>
            <a:r>
              <a:rPr lang="en-US" sz="1800"/>
              <a:t>Task analysis</a:t>
            </a:r>
          </a:p>
          <a:p>
            <a:pPr lvl="1">
              <a:lnSpc>
                <a:spcPct val="90000"/>
              </a:lnSpc>
            </a:pPr>
            <a:r>
              <a:rPr lang="en-US" sz="1800"/>
              <a:t>Knowledge Acquisition Techniques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2041">
                                            <p:txEl>
                                              <p:pRg st="0" end="0"/>
                                            </p:txEl>
                                          </p:spTgt>
                                        </p:tgtEl>
                                        <p:attrNameLst>
                                          <p:attrName>style.visibility</p:attrName>
                                        </p:attrNameLst>
                                      </p:cBhvr>
                                      <p:to>
                                        <p:strVal val="visible"/>
                                      </p:to>
                                    </p:set>
                                    <p:anim calcmode="lin" valueType="num">
                                      <p:cBhvr additive="base">
                                        <p:cTn id="7" dur="500" fill="hold"/>
                                        <p:tgtEl>
                                          <p:spTgt spid="17204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204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arbrake.wav"/>
                                        </p:tgtEl>
                                      </p:cMediaNode>
                                    </p:audio>
                                  </p:subTnLst>
                                </p:cTn>
                              </p:par>
                              <p:par>
                                <p:cTn id="9" presetID="2" presetClass="entr" presetSubtype="2" fill="hold" grpId="0" nodeType="withEffect">
                                  <p:stCondLst>
                                    <p:cond delay="0"/>
                                  </p:stCondLst>
                                  <p:childTnLst>
                                    <p:set>
                                      <p:cBhvr>
                                        <p:cTn id="10" dur="1" fill="hold">
                                          <p:stCondLst>
                                            <p:cond delay="0"/>
                                          </p:stCondLst>
                                        </p:cTn>
                                        <p:tgtEl>
                                          <p:spTgt spid="172041">
                                            <p:txEl>
                                              <p:pRg st="1" end="1"/>
                                            </p:txEl>
                                          </p:spTgt>
                                        </p:tgtEl>
                                        <p:attrNameLst>
                                          <p:attrName>style.visibility</p:attrName>
                                        </p:attrNameLst>
                                      </p:cBhvr>
                                      <p:to>
                                        <p:strVal val="visible"/>
                                      </p:to>
                                    </p:set>
                                    <p:anim calcmode="lin" valueType="num">
                                      <p:cBhvr additive="base">
                                        <p:cTn id="11" dur="500" fill="hold"/>
                                        <p:tgtEl>
                                          <p:spTgt spid="17204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17204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carbrake.wav"/>
                                        </p:tgtEl>
                                      </p:cMediaNode>
                                    </p:audio>
                                  </p:subTnLst>
                                </p:cTn>
                              </p:par>
                              <p:par>
                                <p:cTn id="13" presetID="2" presetClass="entr" presetSubtype="2" fill="hold" grpId="0" nodeType="withEffect">
                                  <p:stCondLst>
                                    <p:cond delay="0"/>
                                  </p:stCondLst>
                                  <p:childTnLst>
                                    <p:set>
                                      <p:cBhvr>
                                        <p:cTn id="14" dur="1" fill="hold">
                                          <p:stCondLst>
                                            <p:cond delay="0"/>
                                          </p:stCondLst>
                                        </p:cTn>
                                        <p:tgtEl>
                                          <p:spTgt spid="172041">
                                            <p:txEl>
                                              <p:pRg st="2" end="2"/>
                                            </p:txEl>
                                          </p:spTgt>
                                        </p:tgtEl>
                                        <p:attrNameLst>
                                          <p:attrName>style.visibility</p:attrName>
                                        </p:attrNameLst>
                                      </p:cBhvr>
                                      <p:to>
                                        <p:strVal val="visible"/>
                                      </p:to>
                                    </p:set>
                                    <p:anim calcmode="lin" valueType="num">
                                      <p:cBhvr additive="base">
                                        <p:cTn id="15" dur="500" fill="hold"/>
                                        <p:tgtEl>
                                          <p:spTgt spid="17204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17204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carbrake.wav"/>
                                        </p:tgtEl>
                                      </p:cMediaNode>
                                    </p:audio>
                                  </p:subTnLst>
                                </p:cTn>
                              </p:par>
                              <p:par>
                                <p:cTn id="17" presetID="2" presetClass="entr" presetSubtype="2" fill="hold" grpId="0" nodeType="withEffect">
                                  <p:stCondLst>
                                    <p:cond delay="0"/>
                                  </p:stCondLst>
                                  <p:childTnLst>
                                    <p:set>
                                      <p:cBhvr>
                                        <p:cTn id="18" dur="1" fill="hold">
                                          <p:stCondLst>
                                            <p:cond delay="0"/>
                                          </p:stCondLst>
                                        </p:cTn>
                                        <p:tgtEl>
                                          <p:spTgt spid="172041">
                                            <p:txEl>
                                              <p:pRg st="3" end="3"/>
                                            </p:txEl>
                                          </p:spTgt>
                                        </p:tgtEl>
                                        <p:attrNameLst>
                                          <p:attrName>style.visibility</p:attrName>
                                        </p:attrNameLst>
                                      </p:cBhvr>
                                      <p:to>
                                        <p:strVal val="visible"/>
                                      </p:to>
                                    </p:set>
                                    <p:anim calcmode="lin" valueType="num">
                                      <p:cBhvr additive="base">
                                        <p:cTn id="19" dur="500" fill="hold"/>
                                        <p:tgtEl>
                                          <p:spTgt spid="17204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7204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arbrake.wav"/>
                                        </p:tgtEl>
                                      </p:cMediaNode>
                                    </p:audio>
                                  </p:subTnLst>
                                </p:cTn>
                              </p:par>
                              <p:par>
                                <p:cTn id="21" presetID="2" presetClass="entr" presetSubtype="2" fill="hold" grpId="0" nodeType="withEffect">
                                  <p:stCondLst>
                                    <p:cond delay="0"/>
                                  </p:stCondLst>
                                  <p:childTnLst>
                                    <p:set>
                                      <p:cBhvr>
                                        <p:cTn id="22" dur="1" fill="hold">
                                          <p:stCondLst>
                                            <p:cond delay="0"/>
                                          </p:stCondLst>
                                        </p:cTn>
                                        <p:tgtEl>
                                          <p:spTgt spid="172041">
                                            <p:txEl>
                                              <p:pRg st="4" end="4"/>
                                            </p:txEl>
                                          </p:spTgt>
                                        </p:tgtEl>
                                        <p:attrNameLst>
                                          <p:attrName>style.visibility</p:attrName>
                                        </p:attrNameLst>
                                      </p:cBhvr>
                                      <p:to>
                                        <p:strVal val="visible"/>
                                      </p:to>
                                    </p:set>
                                    <p:anim calcmode="lin" valueType="num">
                                      <p:cBhvr additive="base">
                                        <p:cTn id="23" dur="500" fill="hold"/>
                                        <p:tgtEl>
                                          <p:spTgt spid="172041">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7204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carbrake.wav"/>
                                        </p:tgtEl>
                                      </p:cMediaNode>
                                    </p:audio>
                                  </p:subTnLst>
                                </p:cTn>
                              </p:par>
                              <p:par>
                                <p:cTn id="25" presetID="2" presetClass="entr" presetSubtype="2" fill="hold" grpId="0" nodeType="withEffect">
                                  <p:stCondLst>
                                    <p:cond delay="0"/>
                                  </p:stCondLst>
                                  <p:childTnLst>
                                    <p:set>
                                      <p:cBhvr>
                                        <p:cTn id="26" dur="1" fill="hold">
                                          <p:stCondLst>
                                            <p:cond delay="0"/>
                                          </p:stCondLst>
                                        </p:cTn>
                                        <p:tgtEl>
                                          <p:spTgt spid="172041">
                                            <p:txEl>
                                              <p:pRg st="5" end="5"/>
                                            </p:txEl>
                                          </p:spTgt>
                                        </p:tgtEl>
                                        <p:attrNameLst>
                                          <p:attrName>style.visibility</p:attrName>
                                        </p:attrNameLst>
                                      </p:cBhvr>
                                      <p:to>
                                        <p:strVal val="visible"/>
                                      </p:to>
                                    </p:set>
                                    <p:anim calcmode="lin" valueType="num">
                                      <p:cBhvr additive="base">
                                        <p:cTn id="27" dur="500" fill="hold"/>
                                        <p:tgtEl>
                                          <p:spTgt spid="172041">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7204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carbrake.wav"/>
                                        </p:tgtEl>
                                      </p:cMediaNode>
                                    </p:audio>
                                  </p:sub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72041">
                                            <p:txEl>
                                              <p:pRg st="6" end="6"/>
                                            </p:txEl>
                                          </p:spTgt>
                                        </p:tgtEl>
                                        <p:attrNameLst>
                                          <p:attrName>style.visibility</p:attrName>
                                        </p:attrNameLst>
                                      </p:cBhvr>
                                      <p:to>
                                        <p:strVal val="visible"/>
                                      </p:to>
                                    </p:set>
                                    <p:anim calcmode="lin" valueType="num">
                                      <p:cBhvr additive="base">
                                        <p:cTn id="33" dur="500" fill="hold"/>
                                        <p:tgtEl>
                                          <p:spTgt spid="17204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7204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1"/>
                                            </p:cond>
                                          </p:stCondLst>
                                          <p:endCondLst>
                                            <p:cond evt="onStopAudio" delay="0">
                                              <p:tgtEl>
                                                <p:sldTgt/>
                                              </p:tgtEl>
                                            </p:cond>
                                          </p:endCondLst>
                                        </p:cTn>
                                        <p:tgtEl>
                                          <p:sndTgt r:embed="rId2" name="carbrake.wav"/>
                                        </p:tgtEl>
                                      </p:cMediaNode>
                                    </p:audio>
                                  </p:subTnLst>
                                </p:cTn>
                              </p:par>
                              <p:par>
                                <p:cTn id="35" presetID="2" presetClass="entr" presetSubtype="2" fill="hold" grpId="0" nodeType="withEffect">
                                  <p:stCondLst>
                                    <p:cond delay="0"/>
                                  </p:stCondLst>
                                  <p:childTnLst>
                                    <p:set>
                                      <p:cBhvr>
                                        <p:cTn id="36" dur="1" fill="hold">
                                          <p:stCondLst>
                                            <p:cond delay="0"/>
                                          </p:stCondLst>
                                        </p:cTn>
                                        <p:tgtEl>
                                          <p:spTgt spid="172041">
                                            <p:txEl>
                                              <p:pRg st="7" end="7"/>
                                            </p:txEl>
                                          </p:spTgt>
                                        </p:tgtEl>
                                        <p:attrNameLst>
                                          <p:attrName>style.visibility</p:attrName>
                                        </p:attrNameLst>
                                      </p:cBhvr>
                                      <p:to>
                                        <p:strVal val="visible"/>
                                      </p:to>
                                    </p:set>
                                    <p:anim calcmode="lin" valueType="num">
                                      <p:cBhvr additive="base">
                                        <p:cTn id="37" dur="500" fill="hold"/>
                                        <p:tgtEl>
                                          <p:spTgt spid="172041">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72041">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arbrake.wav"/>
                                        </p:tgtEl>
                                      </p:cMediaNode>
                                    </p:audio>
                                  </p:subTnLst>
                                </p:cTn>
                              </p:par>
                              <p:par>
                                <p:cTn id="39" presetID="2" presetClass="entr" presetSubtype="2" fill="hold" grpId="0" nodeType="withEffect">
                                  <p:stCondLst>
                                    <p:cond delay="0"/>
                                  </p:stCondLst>
                                  <p:childTnLst>
                                    <p:set>
                                      <p:cBhvr>
                                        <p:cTn id="40" dur="1" fill="hold">
                                          <p:stCondLst>
                                            <p:cond delay="0"/>
                                          </p:stCondLst>
                                        </p:cTn>
                                        <p:tgtEl>
                                          <p:spTgt spid="172041">
                                            <p:txEl>
                                              <p:pRg st="8" end="8"/>
                                            </p:txEl>
                                          </p:spTgt>
                                        </p:tgtEl>
                                        <p:attrNameLst>
                                          <p:attrName>style.visibility</p:attrName>
                                        </p:attrNameLst>
                                      </p:cBhvr>
                                      <p:to>
                                        <p:strVal val="visible"/>
                                      </p:to>
                                    </p:set>
                                    <p:anim calcmode="lin" valueType="num">
                                      <p:cBhvr additive="base">
                                        <p:cTn id="41" dur="500" fill="hold"/>
                                        <p:tgtEl>
                                          <p:spTgt spid="172041">
                                            <p:txEl>
                                              <p:pRg st="8" end="8"/>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72041">
                                            <p:txEl>
                                              <p:pRg st="8"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9"/>
                                            </p:cond>
                                          </p:stCondLst>
                                          <p:endCondLst>
                                            <p:cond evt="onStopAudio" delay="0">
                                              <p:tgtEl>
                                                <p:sldTgt/>
                                              </p:tgtEl>
                                            </p:cond>
                                          </p:endCondLst>
                                        </p:cTn>
                                        <p:tgtEl>
                                          <p:sndTgt r:embed="rId2" name="carbrake.wav"/>
                                        </p:tgtEl>
                                      </p:cMediaNode>
                                    </p:audio>
                                  </p:subTnLst>
                                </p:cTn>
                              </p:par>
                              <p:par>
                                <p:cTn id="43" presetID="2" presetClass="entr" presetSubtype="2" fill="hold" grpId="0" nodeType="withEffect">
                                  <p:stCondLst>
                                    <p:cond delay="0"/>
                                  </p:stCondLst>
                                  <p:childTnLst>
                                    <p:set>
                                      <p:cBhvr>
                                        <p:cTn id="44" dur="1" fill="hold">
                                          <p:stCondLst>
                                            <p:cond delay="0"/>
                                          </p:stCondLst>
                                        </p:cTn>
                                        <p:tgtEl>
                                          <p:spTgt spid="172041">
                                            <p:txEl>
                                              <p:pRg st="9" end="9"/>
                                            </p:txEl>
                                          </p:spTgt>
                                        </p:tgtEl>
                                        <p:attrNameLst>
                                          <p:attrName>style.visibility</p:attrName>
                                        </p:attrNameLst>
                                      </p:cBhvr>
                                      <p:to>
                                        <p:strVal val="visible"/>
                                      </p:to>
                                    </p:set>
                                    <p:anim calcmode="lin" valueType="num">
                                      <p:cBhvr additive="base">
                                        <p:cTn id="45" dur="500" fill="hold"/>
                                        <p:tgtEl>
                                          <p:spTgt spid="172041">
                                            <p:txEl>
                                              <p:pRg st="9" end="9"/>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172041">
                                            <p:txEl>
                                              <p:pRg st="9"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carbrake.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172041">
                                            <p:txEl>
                                              <p:pRg st="10" end="10"/>
                                            </p:txEl>
                                          </p:spTgt>
                                        </p:tgtEl>
                                        <p:attrNameLst>
                                          <p:attrName>style.visibility</p:attrName>
                                        </p:attrNameLst>
                                      </p:cBhvr>
                                      <p:to>
                                        <p:strVal val="visible"/>
                                      </p:to>
                                    </p:set>
                                    <p:anim calcmode="lin" valueType="num">
                                      <p:cBhvr additive="base">
                                        <p:cTn id="51" dur="500" fill="hold"/>
                                        <p:tgtEl>
                                          <p:spTgt spid="172041">
                                            <p:txEl>
                                              <p:pRg st="10" end="1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172041">
                                            <p:txEl>
                                              <p:pRg st="1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carbrake.wav"/>
                                        </p:tgtEl>
                                      </p:cMediaNode>
                                    </p:audio>
                                  </p:subTnLst>
                                </p:cTn>
                              </p:par>
                              <p:par>
                                <p:cTn id="53" presetID="2" presetClass="entr" presetSubtype="2" fill="hold" grpId="0" nodeType="withEffect">
                                  <p:stCondLst>
                                    <p:cond delay="0"/>
                                  </p:stCondLst>
                                  <p:childTnLst>
                                    <p:set>
                                      <p:cBhvr>
                                        <p:cTn id="54" dur="1" fill="hold">
                                          <p:stCondLst>
                                            <p:cond delay="0"/>
                                          </p:stCondLst>
                                        </p:cTn>
                                        <p:tgtEl>
                                          <p:spTgt spid="172041">
                                            <p:txEl>
                                              <p:pRg st="11" end="11"/>
                                            </p:txEl>
                                          </p:spTgt>
                                        </p:tgtEl>
                                        <p:attrNameLst>
                                          <p:attrName>style.visibility</p:attrName>
                                        </p:attrNameLst>
                                      </p:cBhvr>
                                      <p:to>
                                        <p:strVal val="visible"/>
                                      </p:to>
                                    </p:set>
                                    <p:anim calcmode="lin" valueType="num">
                                      <p:cBhvr additive="base">
                                        <p:cTn id="55" dur="500" fill="hold"/>
                                        <p:tgtEl>
                                          <p:spTgt spid="172041">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72041">
                                            <p:txEl>
                                              <p:pRg st="11" end="1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3"/>
                                            </p:cond>
                                          </p:stCondLst>
                                          <p:endCondLst>
                                            <p:cond evt="onStopAudio" delay="0">
                                              <p:tgtEl>
                                                <p:sldTgt/>
                                              </p:tgtEl>
                                            </p:cond>
                                          </p:endCondLst>
                                        </p:cTn>
                                        <p:tgtEl>
                                          <p:sndTgt r:embed="rId2" name="carbrake.wav"/>
                                        </p:tgtEl>
                                      </p:cMediaNode>
                                    </p:audio>
                                  </p:subTnLst>
                                </p:cTn>
                              </p:par>
                              <p:par>
                                <p:cTn id="57" presetID="2" presetClass="entr" presetSubtype="2" fill="hold" grpId="0" nodeType="withEffect">
                                  <p:stCondLst>
                                    <p:cond delay="0"/>
                                  </p:stCondLst>
                                  <p:childTnLst>
                                    <p:set>
                                      <p:cBhvr>
                                        <p:cTn id="58" dur="1" fill="hold">
                                          <p:stCondLst>
                                            <p:cond delay="0"/>
                                          </p:stCondLst>
                                        </p:cTn>
                                        <p:tgtEl>
                                          <p:spTgt spid="172041">
                                            <p:txEl>
                                              <p:pRg st="12" end="12"/>
                                            </p:txEl>
                                          </p:spTgt>
                                        </p:tgtEl>
                                        <p:attrNameLst>
                                          <p:attrName>style.visibility</p:attrName>
                                        </p:attrNameLst>
                                      </p:cBhvr>
                                      <p:to>
                                        <p:strVal val="visible"/>
                                      </p:to>
                                    </p:set>
                                    <p:anim calcmode="lin" valueType="num">
                                      <p:cBhvr additive="base">
                                        <p:cTn id="59" dur="500" fill="hold"/>
                                        <p:tgtEl>
                                          <p:spTgt spid="172041">
                                            <p:txEl>
                                              <p:pRg st="12" end="12"/>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172041">
                                            <p:txEl>
                                              <p:pRg st="12" end="1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7"/>
                                            </p:cond>
                                          </p:stCondLst>
                                          <p:endCondLst>
                                            <p:cond evt="onStopAudio" delay="0">
                                              <p:tgtEl>
                                                <p:sldTgt/>
                                              </p:tgtEl>
                                            </p:cond>
                                          </p:endCondLst>
                                        </p:cTn>
                                        <p:tgtEl>
                                          <p:sndTgt r:embed="rId2" name="carbrake.wav"/>
                                        </p:tgtEl>
                                      </p:cMediaNode>
                                    </p:audio>
                                  </p:subTnLst>
                                </p:cTn>
                              </p:par>
                              <p:par>
                                <p:cTn id="61" presetID="2" presetClass="entr" presetSubtype="2" fill="hold" grpId="0" nodeType="withEffect">
                                  <p:stCondLst>
                                    <p:cond delay="0"/>
                                  </p:stCondLst>
                                  <p:childTnLst>
                                    <p:set>
                                      <p:cBhvr>
                                        <p:cTn id="62" dur="1" fill="hold">
                                          <p:stCondLst>
                                            <p:cond delay="0"/>
                                          </p:stCondLst>
                                        </p:cTn>
                                        <p:tgtEl>
                                          <p:spTgt spid="172041">
                                            <p:txEl>
                                              <p:pRg st="13" end="13"/>
                                            </p:txEl>
                                          </p:spTgt>
                                        </p:tgtEl>
                                        <p:attrNameLst>
                                          <p:attrName>style.visibility</p:attrName>
                                        </p:attrNameLst>
                                      </p:cBhvr>
                                      <p:to>
                                        <p:strVal val="visible"/>
                                      </p:to>
                                    </p:set>
                                    <p:anim calcmode="lin" valueType="num">
                                      <p:cBhvr additive="base">
                                        <p:cTn id="63" dur="500" fill="hold"/>
                                        <p:tgtEl>
                                          <p:spTgt spid="172041">
                                            <p:txEl>
                                              <p:pRg st="13" end="13"/>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172041">
                                            <p:txEl>
                                              <p:pRg st="13"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carbrake.wav"/>
                                        </p:tgtEl>
                                      </p:cMediaNode>
                                    </p:audio>
                                  </p:subTnLst>
                                </p:cTn>
                              </p:par>
                            </p:childTnLst>
                          </p:cTn>
                        </p:par>
                      </p:childTnLst>
                    </p:cTn>
                  </p:par>
                  <p:par>
                    <p:cTn id="65" fill="hold">
                      <p:stCondLst>
                        <p:cond delay="indefinite"/>
                      </p:stCondLst>
                      <p:childTnLst>
                        <p:par>
                          <p:cTn id="66" fill="hold">
                            <p:stCondLst>
                              <p:cond delay="0"/>
                            </p:stCondLst>
                            <p:childTnLst>
                              <p:par>
                                <p:cTn id="67" presetID="2" presetClass="entr" presetSubtype="8" fill="hold" grpId="0" nodeType="clickEffect">
                                  <p:stCondLst>
                                    <p:cond delay="0"/>
                                  </p:stCondLst>
                                  <p:childTnLst>
                                    <p:set>
                                      <p:cBhvr>
                                        <p:cTn id="68" dur="1" fill="hold">
                                          <p:stCondLst>
                                            <p:cond delay="0"/>
                                          </p:stCondLst>
                                        </p:cTn>
                                        <p:tgtEl>
                                          <p:spTgt spid="172042">
                                            <p:txEl>
                                              <p:pRg st="0" end="0"/>
                                            </p:txEl>
                                          </p:spTgt>
                                        </p:tgtEl>
                                        <p:attrNameLst>
                                          <p:attrName>style.visibility</p:attrName>
                                        </p:attrNameLst>
                                      </p:cBhvr>
                                      <p:to>
                                        <p:strVal val="visible"/>
                                      </p:to>
                                    </p:set>
                                    <p:anim calcmode="lin" valueType="num">
                                      <p:cBhvr additive="base">
                                        <p:cTn id="69" dur="500" fill="hold"/>
                                        <p:tgtEl>
                                          <p:spTgt spid="172042">
                                            <p:txEl>
                                              <p:pRg st="0" end="0"/>
                                            </p:tx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172042">
                                            <p:txEl>
                                              <p:pRg st="0" end="0"/>
                                            </p:txEl>
                                          </p:spTgt>
                                        </p:tgtEl>
                                        <p:attrNameLst>
                                          <p:attrName>ppt_y</p:attrName>
                                        </p:attrNameLst>
                                      </p:cBhvr>
                                      <p:tavLst>
                                        <p:tav tm="0">
                                          <p:val>
                                            <p:strVal val="#ppt_y"/>
                                          </p:val>
                                        </p:tav>
                                        <p:tav tm="100000">
                                          <p:val>
                                            <p:strVal val="#ppt_y"/>
                                          </p:val>
                                        </p:tav>
                                      </p:tavLst>
                                    </p:anim>
                                  </p:childTnLst>
                                </p:cTn>
                              </p:par>
                              <p:par>
                                <p:cTn id="71" presetID="2" presetClass="entr" presetSubtype="8" fill="hold" grpId="0" nodeType="withEffect">
                                  <p:stCondLst>
                                    <p:cond delay="0"/>
                                  </p:stCondLst>
                                  <p:childTnLst>
                                    <p:set>
                                      <p:cBhvr>
                                        <p:cTn id="72" dur="1" fill="hold">
                                          <p:stCondLst>
                                            <p:cond delay="0"/>
                                          </p:stCondLst>
                                        </p:cTn>
                                        <p:tgtEl>
                                          <p:spTgt spid="172042">
                                            <p:txEl>
                                              <p:pRg st="1" end="1"/>
                                            </p:txEl>
                                          </p:spTgt>
                                        </p:tgtEl>
                                        <p:attrNameLst>
                                          <p:attrName>style.visibility</p:attrName>
                                        </p:attrNameLst>
                                      </p:cBhvr>
                                      <p:to>
                                        <p:strVal val="visible"/>
                                      </p:to>
                                    </p:set>
                                    <p:anim calcmode="lin" valueType="num">
                                      <p:cBhvr additive="base">
                                        <p:cTn id="73" dur="500" fill="hold"/>
                                        <p:tgtEl>
                                          <p:spTgt spid="172042">
                                            <p:txEl>
                                              <p:pRg st="1" end="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172042">
                                            <p:txEl>
                                              <p:pRg st="1" end="1"/>
                                            </p:txEl>
                                          </p:spTgt>
                                        </p:tgtEl>
                                        <p:attrNameLst>
                                          <p:attrName>ppt_y</p:attrName>
                                        </p:attrNameLst>
                                      </p:cBhvr>
                                      <p:tavLst>
                                        <p:tav tm="0">
                                          <p:val>
                                            <p:strVal val="#ppt_y"/>
                                          </p:val>
                                        </p:tav>
                                        <p:tav tm="100000">
                                          <p:val>
                                            <p:strVal val="#ppt_y"/>
                                          </p:val>
                                        </p:tav>
                                      </p:tavLst>
                                    </p:anim>
                                  </p:childTnLst>
                                </p:cTn>
                              </p:par>
                              <p:par>
                                <p:cTn id="75" presetID="2" presetClass="entr" presetSubtype="8" fill="hold" grpId="0" nodeType="withEffect">
                                  <p:stCondLst>
                                    <p:cond delay="0"/>
                                  </p:stCondLst>
                                  <p:childTnLst>
                                    <p:set>
                                      <p:cBhvr>
                                        <p:cTn id="76" dur="1" fill="hold">
                                          <p:stCondLst>
                                            <p:cond delay="0"/>
                                          </p:stCondLst>
                                        </p:cTn>
                                        <p:tgtEl>
                                          <p:spTgt spid="172042">
                                            <p:txEl>
                                              <p:pRg st="2" end="2"/>
                                            </p:txEl>
                                          </p:spTgt>
                                        </p:tgtEl>
                                        <p:attrNameLst>
                                          <p:attrName>style.visibility</p:attrName>
                                        </p:attrNameLst>
                                      </p:cBhvr>
                                      <p:to>
                                        <p:strVal val="visible"/>
                                      </p:to>
                                    </p:set>
                                    <p:anim calcmode="lin" valueType="num">
                                      <p:cBhvr additive="base">
                                        <p:cTn id="77" dur="500" fill="hold"/>
                                        <p:tgtEl>
                                          <p:spTgt spid="172042">
                                            <p:txEl>
                                              <p:pRg st="2" end="2"/>
                                            </p:txEl>
                                          </p:spTgt>
                                        </p:tgtEl>
                                        <p:attrNameLst>
                                          <p:attrName>ppt_x</p:attrName>
                                        </p:attrNameLst>
                                      </p:cBhvr>
                                      <p:tavLst>
                                        <p:tav tm="0">
                                          <p:val>
                                            <p:strVal val="0-#ppt_w/2"/>
                                          </p:val>
                                        </p:tav>
                                        <p:tav tm="100000">
                                          <p:val>
                                            <p:strVal val="#ppt_x"/>
                                          </p:val>
                                        </p:tav>
                                      </p:tavLst>
                                    </p:anim>
                                    <p:anim calcmode="lin" valueType="num">
                                      <p:cBhvr additive="base">
                                        <p:cTn id="78" dur="500" fill="hold"/>
                                        <p:tgtEl>
                                          <p:spTgt spid="172042">
                                            <p:txEl>
                                              <p:pRg st="2" end="2"/>
                                            </p:txEl>
                                          </p:spTgt>
                                        </p:tgtEl>
                                        <p:attrNameLst>
                                          <p:attrName>ppt_y</p:attrName>
                                        </p:attrNameLst>
                                      </p:cBhvr>
                                      <p:tavLst>
                                        <p:tav tm="0">
                                          <p:val>
                                            <p:strVal val="#ppt_y"/>
                                          </p:val>
                                        </p:tav>
                                        <p:tav tm="100000">
                                          <p:val>
                                            <p:strVal val="#ppt_y"/>
                                          </p:val>
                                        </p:tav>
                                      </p:tavLst>
                                    </p:anim>
                                  </p:childTnLst>
                                </p:cTn>
                              </p:par>
                              <p:par>
                                <p:cTn id="79" presetID="2" presetClass="entr" presetSubtype="8" fill="hold" grpId="0" nodeType="withEffect">
                                  <p:stCondLst>
                                    <p:cond delay="0"/>
                                  </p:stCondLst>
                                  <p:childTnLst>
                                    <p:set>
                                      <p:cBhvr>
                                        <p:cTn id="80" dur="1" fill="hold">
                                          <p:stCondLst>
                                            <p:cond delay="0"/>
                                          </p:stCondLst>
                                        </p:cTn>
                                        <p:tgtEl>
                                          <p:spTgt spid="172042">
                                            <p:txEl>
                                              <p:pRg st="3" end="3"/>
                                            </p:txEl>
                                          </p:spTgt>
                                        </p:tgtEl>
                                        <p:attrNameLst>
                                          <p:attrName>style.visibility</p:attrName>
                                        </p:attrNameLst>
                                      </p:cBhvr>
                                      <p:to>
                                        <p:strVal val="visible"/>
                                      </p:to>
                                    </p:set>
                                    <p:anim calcmode="lin" valueType="num">
                                      <p:cBhvr additive="base">
                                        <p:cTn id="81" dur="500" fill="hold"/>
                                        <p:tgtEl>
                                          <p:spTgt spid="172042">
                                            <p:txEl>
                                              <p:pRg st="3" end="3"/>
                                            </p:txEl>
                                          </p:spTgt>
                                        </p:tgtEl>
                                        <p:attrNameLst>
                                          <p:attrName>ppt_x</p:attrName>
                                        </p:attrNameLst>
                                      </p:cBhvr>
                                      <p:tavLst>
                                        <p:tav tm="0">
                                          <p:val>
                                            <p:strVal val="0-#ppt_w/2"/>
                                          </p:val>
                                        </p:tav>
                                        <p:tav tm="100000">
                                          <p:val>
                                            <p:strVal val="#ppt_x"/>
                                          </p:val>
                                        </p:tav>
                                      </p:tavLst>
                                    </p:anim>
                                    <p:anim calcmode="lin" valueType="num">
                                      <p:cBhvr additive="base">
                                        <p:cTn id="82" dur="500" fill="hold"/>
                                        <p:tgtEl>
                                          <p:spTgt spid="17204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172042">
                                            <p:txEl>
                                              <p:pRg st="4" end="4"/>
                                            </p:txEl>
                                          </p:spTgt>
                                        </p:tgtEl>
                                        <p:attrNameLst>
                                          <p:attrName>style.visibility</p:attrName>
                                        </p:attrNameLst>
                                      </p:cBhvr>
                                      <p:to>
                                        <p:strVal val="visible"/>
                                      </p:to>
                                    </p:set>
                                    <p:anim calcmode="lin" valueType="num">
                                      <p:cBhvr additive="base">
                                        <p:cTn id="87" dur="500" fill="hold"/>
                                        <p:tgtEl>
                                          <p:spTgt spid="172042">
                                            <p:txEl>
                                              <p:pRg st="4" end="4"/>
                                            </p:txEl>
                                          </p:spTgt>
                                        </p:tgtEl>
                                        <p:attrNameLst>
                                          <p:attrName>ppt_x</p:attrName>
                                        </p:attrNameLst>
                                      </p:cBhvr>
                                      <p:tavLst>
                                        <p:tav tm="0">
                                          <p:val>
                                            <p:strVal val="0-#ppt_w/2"/>
                                          </p:val>
                                        </p:tav>
                                        <p:tav tm="100000">
                                          <p:val>
                                            <p:strVal val="#ppt_x"/>
                                          </p:val>
                                        </p:tav>
                                      </p:tavLst>
                                    </p:anim>
                                    <p:anim calcmode="lin" valueType="num">
                                      <p:cBhvr additive="base">
                                        <p:cTn id="88" dur="500" fill="hold"/>
                                        <p:tgtEl>
                                          <p:spTgt spid="172042">
                                            <p:txEl>
                                              <p:pRg st="4" end="4"/>
                                            </p:txEl>
                                          </p:spTgt>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172042">
                                            <p:txEl>
                                              <p:pRg st="5" end="5"/>
                                            </p:txEl>
                                          </p:spTgt>
                                        </p:tgtEl>
                                        <p:attrNameLst>
                                          <p:attrName>style.visibility</p:attrName>
                                        </p:attrNameLst>
                                      </p:cBhvr>
                                      <p:to>
                                        <p:strVal val="visible"/>
                                      </p:to>
                                    </p:set>
                                    <p:anim calcmode="lin" valueType="num">
                                      <p:cBhvr additive="base">
                                        <p:cTn id="91" dur="500" fill="hold"/>
                                        <p:tgtEl>
                                          <p:spTgt spid="172042">
                                            <p:txEl>
                                              <p:pRg st="5" end="5"/>
                                            </p:txEl>
                                          </p:spTgt>
                                        </p:tgtEl>
                                        <p:attrNameLst>
                                          <p:attrName>ppt_x</p:attrName>
                                        </p:attrNameLst>
                                      </p:cBhvr>
                                      <p:tavLst>
                                        <p:tav tm="0">
                                          <p:val>
                                            <p:strVal val="0-#ppt_w/2"/>
                                          </p:val>
                                        </p:tav>
                                        <p:tav tm="100000">
                                          <p:val>
                                            <p:strVal val="#ppt_x"/>
                                          </p:val>
                                        </p:tav>
                                      </p:tavLst>
                                    </p:anim>
                                    <p:anim calcmode="lin" valueType="num">
                                      <p:cBhvr additive="base">
                                        <p:cTn id="92" dur="500" fill="hold"/>
                                        <p:tgtEl>
                                          <p:spTgt spid="172042">
                                            <p:txEl>
                                              <p:pRg st="5" end="5"/>
                                            </p:txEl>
                                          </p:spTgt>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0"/>
                                  </p:stCondLst>
                                  <p:childTnLst>
                                    <p:set>
                                      <p:cBhvr>
                                        <p:cTn id="94" dur="1" fill="hold">
                                          <p:stCondLst>
                                            <p:cond delay="0"/>
                                          </p:stCondLst>
                                        </p:cTn>
                                        <p:tgtEl>
                                          <p:spTgt spid="172042">
                                            <p:txEl>
                                              <p:pRg st="6" end="6"/>
                                            </p:txEl>
                                          </p:spTgt>
                                        </p:tgtEl>
                                        <p:attrNameLst>
                                          <p:attrName>style.visibility</p:attrName>
                                        </p:attrNameLst>
                                      </p:cBhvr>
                                      <p:to>
                                        <p:strVal val="visible"/>
                                      </p:to>
                                    </p:set>
                                    <p:anim calcmode="lin" valueType="num">
                                      <p:cBhvr additive="base">
                                        <p:cTn id="95" dur="500" fill="hold"/>
                                        <p:tgtEl>
                                          <p:spTgt spid="172042">
                                            <p:txEl>
                                              <p:pRg st="6" end="6"/>
                                            </p:txEl>
                                          </p:spTgt>
                                        </p:tgtEl>
                                        <p:attrNameLst>
                                          <p:attrName>ppt_x</p:attrName>
                                        </p:attrNameLst>
                                      </p:cBhvr>
                                      <p:tavLst>
                                        <p:tav tm="0">
                                          <p:val>
                                            <p:strVal val="0-#ppt_w/2"/>
                                          </p:val>
                                        </p:tav>
                                        <p:tav tm="100000">
                                          <p:val>
                                            <p:strVal val="#ppt_x"/>
                                          </p:val>
                                        </p:tav>
                                      </p:tavLst>
                                    </p:anim>
                                    <p:anim calcmode="lin" valueType="num">
                                      <p:cBhvr additive="base">
                                        <p:cTn id="96" dur="500" fill="hold"/>
                                        <p:tgtEl>
                                          <p:spTgt spid="172042">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41" grpId="0" build="p" autoUpdateAnimBg="0"/>
      <p:bldP spid="172042"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0" name="Rectangle 4"/>
          <p:cNvSpPr>
            <a:spLocks noGrp="1" noChangeArrowheads="1"/>
          </p:cNvSpPr>
          <p:nvPr>
            <p:ph type="title"/>
          </p:nvPr>
        </p:nvSpPr>
        <p:spPr/>
        <p:txBody>
          <a:bodyPr/>
          <a:lstStyle/>
          <a:p>
            <a:r>
              <a:rPr lang="en-US"/>
              <a:t>Existing Documents</a:t>
            </a:r>
          </a:p>
        </p:txBody>
      </p:sp>
      <p:sp>
        <p:nvSpPr>
          <p:cNvPr id="173061" name="Rectangle 5"/>
          <p:cNvSpPr>
            <a:spLocks noGrp="1" noChangeArrowheads="1"/>
          </p:cNvSpPr>
          <p:nvPr>
            <p:ph type="body" idx="1"/>
          </p:nvPr>
        </p:nvSpPr>
        <p:spPr/>
        <p:txBody>
          <a:bodyPr>
            <a:normAutofit lnSpcReduction="10000"/>
          </a:bodyPr>
          <a:lstStyle/>
          <a:p>
            <a:pPr>
              <a:lnSpc>
                <a:spcPct val="90000"/>
              </a:lnSpc>
            </a:pPr>
            <a:r>
              <a:rPr lang="en-US" sz="2400"/>
              <a:t>Background Reading</a:t>
            </a:r>
          </a:p>
          <a:p>
            <a:pPr lvl="1">
              <a:lnSpc>
                <a:spcPct val="90000"/>
              </a:lnSpc>
            </a:pPr>
            <a:r>
              <a:rPr lang="en-US" sz="2000"/>
              <a:t>company reports, organization charts, policy manuals, job descriptions, reports, documentation of existing systems, etc.</a:t>
            </a:r>
          </a:p>
          <a:p>
            <a:pPr lvl="1">
              <a:lnSpc>
                <a:spcPct val="90000"/>
              </a:lnSpc>
            </a:pPr>
            <a:r>
              <a:rPr lang="en-US" sz="2000"/>
              <a:t>understanding of the organization before meeting the people</a:t>
            </a:r>
          </a:p>
          <a:p>
            <a:pPr lvl="1">
              <a:lnSpc>
                <a:spcPct val="90000"/>
              </a:lnSpc>
            </a:pPr>
            <a:r>
              <a:rPr lang="en-US" sz="2000"/>
              <a:t>being aware of the business objectives of the organization</a:t>
            </a:r>
          </a:p>
          <a:p>
            <a:pPr>
              <a:lnSpc>
                <a:spcPct val="90000"/>
              </a:lnSpc>
            </a:pPr>
            <a:r>
              <a:rPr lang="en-US" sz="2400"/>
              <a:t>Existing Solution Systems</a:t>
            </a:r>
          </a:p>
          <a:p>
            <a:pPr lvl="1">
              <a:lnSpc>
                <a:spcPct val="90000"/>
              </a:lnSpc>
            </a:pPr>
            <a:r>
              <a:rPr lang="en-US" sz="2000"/>
              <a:t>Documentation</a:t>
            </a:r>
          </a:p>
          <a:p>
            <a:pPr lvl="2">
              <a:lnSpc>
                <a:spcPct val="90000"/>
              </a:lnSpc>
            </a:pPr>
            <a:r>
              <a:rPr lang="en-US" sz="1800"/>
              <a:t>User manuals</a:t>
            </a:r>
          </a:p>
          <a:p>
            <a:pPr lvl="2">
              <a:lnSpc>
                <a:spcPct val="90000"/>
              </a:lnSpc>
            </a:pPr>
            <a:r>
              <a:rPr lang="en-US" sz="1800"/>
              <a:t>requirements specification document</a:t>
            </a:r>
          </a:p>
          <a:p>
            <a:pPr lvl="1">
              <a:lnSpc>
                <a:spcPct val="90000"/>
              </a:lnSpc>
            </a:pPr>
            <a:r>
              <a:rPr lang="en-US" sz="2000"/>
              <a:t>May be seen as reengineering method for documents transferring user documentation into basic elements of information for requirements</a:t>
            </a:r>
          </a:p>
          <a:p>
            <a:pPr lvl="1">
              <a:lnSpc>
                <a:spcPct val="90000"/>
              </a:lnSpc>
            </a:pPr>
            <a:r>
              <a:rPr lang="en-US" sz="2000"/>
              <a:t>Focus is on Commonality and Variability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3061">
                                            <p:txEl>
                                              <p:pRg st="0" end="0"/>
                                            </p:txEl>
                                          </p:spTgt>
                                        </p:tgtEl>
                                        <p:attrNameLst>
                                          <p:attrName>style.visibility</p:attrName>
                                        </p:attrNameLst>
                                      </p:cBhvr>
                                      <p:to>
                                        <p:strVal val="visible"/>
                                      </p:to>
                                    </p:set>
                                    <p:anim calcmode="lin" valueType="num">
                                      <p:cBhvr additive="base">
                                        <p:cTn id="7" dur="500" fill="hold"/>
                                        <p:tgtEl>
                                          <p:spTgt spid="17306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306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3061">
                                            <p:txEl>
                                              <p:pRg st="1" end="1"/>
                                            </p:txEl>
                                          </p:spTgt>
                                        </p:tgtEl>
                                        <p:attrNameLst>
                                          <p:attrName>style.visibility</p:attrName>
                                        </p:attrNameLst>
                                      </p:cBhvr>
                                      <p:to>
                                        <p:strVal val="visible"/>
                                      </p:to>
                                    </p:set>
                                    <p:anim calcmode="lin" valueType="num">
                                      <p:cBhvr additive="base">
                                        <p:cTn id="11" dur="500" fill="hold"/>
                                        <p:tgtEl>
                                          <p:spTgt spid="17306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306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3061">
                                            <p:txEl>
                                              <p:pRg st="2" end="2"/>
                                            </p:txEl>
                                          </p:spTgt>
                                        </p:tgtEl>
                                        <p:attrNameLst>
                                          <p:attrName>style.visibility</p:attrName>
                                        </p:attrNameLst>
                                      </p:cBhvr>
                                      <p:to>
                                        <p:strVal val="visible"/>
                                      </p:to>
                                    </p:set>
                                    <p:anim calcmode="lin" valueType="num">
                                      <p:cBhvr additive="base">
                                        <p:cTn id="15" dur="500" fill="hold"/>
                                        <p:tgtEl>
                                          <p:spTgt spid="17306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306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3061">
                                            <p:txEl>
                                              <p:pRg st="3" end="3"/>
                                            </p:txEl>
                                          </p:spTgt>
                                        </p:tgtEl>
                                        <p:attrNameLst>
                                          <p:attrName>style.visibility</p:attrName>
                                        </p:attrNameLst>
                                      </p:cBhvr>
                                      <p:to>
                                        <p:strVal val="visible"/>
                                      </p:to>
                                    </p:set>
                                    <p:anim calcmode="lin" valueType="num">
                                      <p:cBhvr additive="base">
                                        <p:cTn id="19" dur="500" fill="hold"/>
                                        <p:tgtEl>
                                          <p:spTgt spid="17306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306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3061">
                                            <p:txEl>
                                              <p:pRg st="4" end="4"/>
                                            </p:txEl>
                                          </p:spTgt>
                                        </p:tgtEl>
                                        <p:attrNameLst>
                                          <p:attrName>style.visibility</p:attrName>
                                        </p:attrNameLst>
                                      </p:cBhvr>
                                      <p:to>
                                        <p:strVal val="visible"/>
                                      </p:to>
                                    </p:set>
                                    <p:anim calcmode="lin" valueType="num">
                                      <p:cBhvr additive="base">
                                        <p:cTn id="25" dur="500" fill="hold"/>
                                        <p:tgtEl>
                                          <p:spTgt spid="17306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306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73061">
                                            <p:txEl>
                                              <p:pRg st="5" end="5"/>
                                            </p:txEl>
                                          </p:spTgt>
                                        </p:tgtEl>
                                        <p:attrNameLst>
                                          <p:attrName>style.visibility</p:attrName>
                                        </p:attrNameLst>
                                      </p:cBhvr>
                                      <p:to>
                                        <p:strVal val="visible"/>
                                      </p:to>
                                    </p:set>
                                    <p:anim calcmode="lin" valueType="num">
                                      <p:cBhvr additive="base">
                                        <p:cTn id="29" dur="500" fill="hold"/>
                                        <p:tgtEl>
                                          <p:spTgt spid="17306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7306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73061">
                                            <p:txEl>
                                              <p:pRg st="6" end="6"/>
                                            </p:txEl>
                                          </p:spTgt>
                                        </p:tgtEl>
                                        <p:attrNameLst>
                                          <p:attrName>style.visibility</p:attrName>
                                        </p:attrNameLst>
                                      </p:cBhvr>
                                      <p:to>
                                        <p:strVal val="visible"/>
                                      </p:to>
                                    </p:set>
                                    <p:anim calcmode="lin" valueType="num">
                                      <p:cBhvr additive="base">
                                        <p:cTn id="33" dur="500" fill="hold"/>
                                        <p:tgtEl>
                                          <p:spTgt spid="17306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7306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73061">
                                            <p:txEl>
                                              <p:pRg st="7" end="7"/>
                                            </p:txEl>
                                          </p:spTgt>
                                        </p:tgtEl>
                                        <p:attrNameLst>
                                          <p:attrName>style.visibility</p:attrName>
                                        </p:attrNameLst>
                                      </p:cBhvr>
                                      <p:to>
                                        <p:strVal val="visible"/>
                                      </p:to>
                                    </p:set>
                                    <p:anim calcmode="lin" valueType="num">
                                      <p:cBhvr additive="base">
                                        <p:cTn id="37" dur="500" fill="hold"/>
                                        <p:tgtEl>
                                          <p:spTgt spid="17306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306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73061">
                                            <p:txEl>
                                              <p:pRg st="8" end="8"/>
                                            </p:txEl>
                                          </p:spTgt>
                                        </p:tgtEl>
                                        <p:attrNameLst>
                                          <p:attrName>style.visibility</p:attrName>
                                        </p:attrNameLst>
                                      </p:cBhvr>
                                      <p:to>
                                        <p:strVal val="visible"/>
                                      </p:to>
                                    </p:set>
                                    <p:anim calcmode="lin" valueType="num">
                                      <p:cBhvr additive="base">
                                        <p:cTn id="41" dur="500" fill="hold"/>
                                        <p:tgtEl>
                                          <p:spTgt spid="17306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73061">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73061">
                                            <p:txEl>
                                              <p:pRg st="9" end="9"/>
                                            </p:txEl>
                                          </p:spTgt>
                                        </p:tgtEl>
                                        <p:attrNameLst>
                                          <p:attrName>style.visibility</p:attrName>
                                        </p:attrNameLst>
                                      </p:cBhvr>
                                      <p:to>
                                        <p:strVal val="visible"/>
                                      </p:to>
                                    </p:set>
                                    <p:anim calcmode="lin" valueType="num">
                                      <p:cBhvr additive="base">
                                        <p:cTn id="45" dur="500" fill="hold"/>
                                        <p:tgtEl>
                                          <p:spTgt spid="173061">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7306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a:t>Hard Data Collection</a:t>
            </a:r>
          </a:p>
        </p:txBody>
      </p:sp>
      <p:sp>
        <p:nvSpPr>
          <p:cNvPr id="174083" name="Rectangle 3"/>
          <p:cNvSpPr>
            <a:spLocks noGrp="1" noChangeArrowheads="1"/>
          </p:cNvSpPr>
          <p:nvPr>
            <p:ph type="body" idx="1"/>
          </p:nvPr>
        </p:nvSpPr>
        <p:spPr/>
        <p:txBody>
          <a:bodyPr/>
          <a:lstStyle/>
          <a:p>
            <a:pPr>
              <a:lnSpc>
                <a:spcPct val="80000"/>
              </a:lnSpc>
            </a:pPr>
            <a:r>
              <a:rPr lang="en-US" sz="2400"/>
              <a:t>Identify Collections of Hard Data</a:t>
            </a:r>
          </a:p>
          <a:p>
            <a:pPr lvl="1">
              <a:lnSpc>
                <a:spcPct val="80000"/>
              </a:lnSpc>
            </a:pPr>
            <a:r>
              <a:rPr lang="en-US" sz="1900"/>
              <a:t>Facts and figures, financial information,…</a:t>
            </a:r>
          </a:p>
          <a:p>
            <a:pPr lvl="1">
              <a:lnSpc>
                <a:spcPct val="80000"/>
              </a:lnSpc>
            </a:pPr>
            <a:r>
              <a:rPr lang="en-US" sz="1900"/>
              <a:t>Reports used for decision making,…</a:t>
            </a:r>
          </a:p>
          <a:p>
            <a:pPr lvl="1">
              <a:lnSpc>
                <a:spcPct val="80000"/>
              </a:lnSpc>
            </a:pPr>
            <a:r>
              <a:rPr lang="en-US" sz="1900"/>
              <a:t>Survey results, marketing data,…</a:t>
            </a:r>
          </a:p>
          <a:p>
            <a:pPr>
              <a:lnSpc>
                <a:spcPct val="80000"/>
              </a:lnSpc>
            </a:pPr>
            <a:r>
              <a:rPr lang="en-US" sz="2400"/>
              <a:t>Sampling</a:t>
            </a:r>
          </a:p>
          <a:p>
            <a:pPr lvl="1">
              <a:lnSpc>
                <a:spcPct val="80000"/>
              </a:lnSpc>
            </a:pPr>
            <a:r>
              <a:rPr lang="en-US" sz="1900"/>
              <a:t>Sampling used to select representative set from a population</a:t>
            </a:r>
          </a:p>
          <a:p>
            <a:pPr lvl="1">
              <a:lnSpc>
                <a:spcPct val="80000"/>
              </a:lnSpc>
            </a:pPr>
            <a:r>
              <a:rPr lang="en-US" sz="1900"/>
              <a:t>Sample Size is important</a:t>
            </a:r>
          </a:p>
          <a:p>
            <a:pPr lvl="1">
              <a:lnSpc>
                <a:spcPct val="80000"/>
              </a:lnSpc>
            </a:pPr>
            <a:r>
              <a:rPr lang="en-US" sz="1900"/>
              <a:t>balance between cost of data collection/analysis and required significance</a:t>
            </a:r>
          </a:p>
          <a:p>
            <a:pPr>
              <a:lnSpc>
                <a:spcPct val="80000"/>
              </a:lnSpc>
            </a:pPr>
            <a:r>
              <a:rPr lang="en-US" sz="2100"/>
              <a:t>Process:</a:t>
            </a:r>
          </a:p>
          <a:p>
            <a:pPr lvl="1">
              <a:lnSpc>
                <a:spcPct val="80000"/>
              </a:lnSpc>
            </a:pPr>
            <a:r>
              <a:rPr lang="en-US" sz="1900"/>
              <a:t>Decide what data should be collected - e.g. banking transactions</a:t>
            </a:r>
          </a:p>
          <a:p>
            <a:pPr lvl="1">
              <a:lnSpc>
                <a:spcPct val="80000"/>
              </a:lnSpc>
            </a:pPr>
            <a:r>
              <a:rPr lang="en-US" sz="1900"/>
              <a:t>Determine the population to be sampled - e.g. all transactions at 5 local branches over one week</a:t>
            </a:r>
          </a:p>
          <a:p>
            <a:pPr lvl="1">
              <a:lnSpc>
                <a:spcPct val="80000"/>
              </a:lnSpc>
            </a:pPr>
            <a:r>
              <a:rPr lang="en-US" sz="1900"/>
              <a:t>Choose type of sample - e.g. simple random sampling</a:t>
            </a:r>
          </a:p>
          <a:p>
            <a:pPr lvl="1">
              <a:lnSpc>
                <a:spcPct val="80000"/>
              </a:lnSpc>
            </a:pPr>
            <a:r>
              <a:rPr lang="en-US" sz="1900"/>
              <a:t>Choose sample size - e.g. every 10th transaction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083">
                                            <p:txEl>
                                              <p:pRg st="0" end="0"/>
                                            </p:txEl>
                                          </p:spTgt>
                                        </p:tgtEl>
                                        <p:attrNameLst>
                                          <p:attrName>style.visibility</p:attrName>
                                        </p:attrNameLst>
                                      </p:cBhvr>
                                      <p:to>
                                        <p:strVal val="visible"/>
                                      </p:to>
                                    </p:set>
                                    <p:anim calcmode="lin" valueType="num">
                                      <p:cBhvr additive="base">
                                        <p:cTn id="7" dur="500" fill="hold"/>
                                        <p:tgtEl>
                                          <p:spTgt spid="1740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083">
                                            <p:txEl>
                                              <p:pRg st="1" end="1"/>
                                            </p:txEl>
                                          </p:spTgt>
                                        </p:tgtEl>
                                        <p:attrNameLst>
                                          <p:attrName>style.visibility</p:attrName>
                                        </p:attrNameLst>
                                      </p:cBhvr>
                                      <p:to>
                                        <p:strVal val="visible"/>
                                      </p:to>
                                    </p:set>
                                    <p:anim calcmode="lin" valueType="num">
                                      <p:cBhvr additive="base">
                                        <p:cTn id="13" dur="500" fill="hold"/>
                                        <p:tgtEl>
                                          <p:spTgt spid="1740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0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4083">
                                            <p:txEl>
                                              <p:pRg st="2" end="2"/>
                                            </p:txEl>
                                          </p:spTgt>
                                        </p:tgtEl>
                                        <p:attrNameLst>
                                          <p:attrName>style.visibility</p:attrName>
                                        </p:attrNameLst>
                                      </p:cBhvr>
                                      <p:to>
                                        <p:strVal val="visible"/>
                                      </p:to>
                                    </p:set>
                                    <p:anim calcmode="lin" valueType="num">
                                      <p:cBhvr additive="base">
                                        <p:cTn id="19" dur="500" fill="hold"/>
                                        <p:tgtEl>
                                          <p:spTgt spid="1740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0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4083">
                                            <p:txEl>
                                              <p:pRg st="3" end="3"/>
                                            </p:txEl>
                                          </p:spTgt>
                                        </p:tgtEl>
                                        <p:attrNameLst>
                                          <p:attrName>style.visibility</p:attrName>
                                        </p:attrNameLst>
                                      </p:cBhvr>
                                      <p:to>
                                        <p:strVal val="visible"/>
                                      </p:to>
                                    </p:set>
                                    <p:anim calcmode="lin" valueType="num">
                                      <p:cBhvr additive="base">
                                        <p:cTn id="25" dur="500" fill="hold"/>
                                        <p:tgtEl>
                                          <p:spTgt spid="1740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0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4083">
                                            <p:txEl>
                                              <p:pRg st="4" end="4"/>
                                            </p:txEl>
                                          </p:spTgt>
                                        </p:tgtEl>
                                        <p:attrNameLst>
                                          <p:attrName>style.visibility</p:attrName>
                                        </p:attrNameLst>
                                      </p:cBhvr>
                                      <p:to>
                                        <p:strVal val="visible"/>
                                      </p:to>
                                    </p:set>
                                    <p:anim calcmode="lin" valueType="num">
                                      <p:cBhvr additive="base">
                                        <p:cTn id="31" dur="500" fill="hold"/>
                                        <p:tgtEl>
                                          <p:spTgt spid="1740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0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4083">
                                            <p:txEl>
                                              <p:pRg st="5" end="5"/>
                                            </p:txEl>
                                          </p:spTgt>
                                        </p:tgtEl>
                                        <p:attrNameLst>
                                          <p:attrName>style.visibility</p:attrName>
                                        </p:attrNameLst>
                                      </p:cBhvr>
                                      <p:to>
                                        <p:strVal val="visible"/>
                                      </p:to>
                                    </p:set>
                                    <p:anim calcmode="lin" valueType="num">
                                      <p:cBhvr additive="base">
                                        <p:cTn id="37" dur="500" fill="hold"/>
                                        <p:tgtEl>
                                          <p:spTgt spid="17408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0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74083">
                                            <p:txEl>
                                              <p:pRg st="6" end="6"/>
                                            </p:txEl>
                                          </p:spTgt>
                                        </p:tgtEl>
                                        <p:attrNameLst>
                                          <p:attrName>style.visibility</p:attrName>
                                        </p:attrNameLst>
                                      </p:cBhvr>
                                      <p:to>
                                        <p:strVal val="visible"/>
                                      </p:to>
                                    </p:set>
                                    <p:anim calcmode="lin" valueType="num">
                                      <p:cBhvr additive="base">
                                        <p:cTn id="43" dur="500" fill="hold"/>
                                        <p:tgtEl>
                                          <p:spTgt spid="17408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408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74083">
                                            <p:txEl>
                                              <p:pRg st="7" end="7"/>
                                            </p:txEl>
                                          </p:spTgt>
                                        </p:tgtEl>
                                        <p:attrNameLst>
                                          <p:attrName>style.visibility</p:attrName>
                                        </p:attrNameLst>
                                      </p:cBhvr>
                                      <p:to>
                                        <p:strVal val="visible"/>
                                      </p:to>
                                    </p:set>
                                    <p:anim calcmode="lin" valueType="num">
                                      <p:cBhvr additive="base">
                                        <p:cTn id="49" dur="500" fill="hold"/>
                                        <p:tgtEl>
                                          <p:spTgt spid="17408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7408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74083">
                                            <p:txEl>
                                              <p:pRg st="8" end="8"/>
                                            </p:txEl>
                                          </p:spTgt>
                                        </p:tgtEl>
                                        <p:attrNameLst>
                                          <p:attrName>style.visibility</p:attrName>
                                        </p:attrNameLst>
                                      </p:cBhvr>
                                      <p:to>
                                        <p:strVal val="visible"/>
                                      </p:to>
                                    </p:set>
                                    <p:anim calcmode="lin" valueType="num">
                                      <p:cBhvr additive="base">
                                        <p:cTn id="55" dur="500" fill="hold"/>
                                        <p:tgtEl>
                                          <p:spTgt spid="17408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7408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4083">
                                            <p:txEl>
                                              <p:pRg st="9" end="9"/>
                                            </p:txEl>
                                          </p:spTgt>
                                        </p:tgtEl>
                                        <p:attrNameLst>
                                          <p:attrName>style.visibility</p:attrName>
                                        </p:attrNameLst>
                                      </p:cBhvr>
                                      <p:to>
                                        <p:strVal val="visible"/>
                                      </p:to>
                                    </p:set>
                                    <p:anim calcmode="lin" valueType="num">
                                      <p:cBhvr additive="base">
                                        <p:cTn id="61" dur="500" fill="hold"/>
                                        <p:tgtEl>
                                          <p:spTgt spid="17408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7408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74083">
                                            <p:txEl>
                                              <p:pRg st="10" end="10"/>
                                            </p:txEl>
                                          </p:spTgt>
                                        </p:tgtEl>
                                        <p:attrNameLst>
                                          <p:attrName>style.visibility</p:attrName>
                                        </p:attrNameLst>
                                      </p:cBhvr>
                                      <p:to>
                                        <p:strVal val="visible"/>
                                      </p:to>
                                    </p:set>
                                    <p:anim calcmode="lin" valueType="num">
                                      <p:cBhvr additive="base">
                                        <p:cTn id="67" dur="500" fill="hold"/>
                                        <p:tgtEl>
                                          <p:spTgt spid="17408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7408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74083">
                                            <p:txEl>
                                              <p:pRg st="11" end="11"/>
                                            </p:txEl>
                                          </p:spTgt>
                                        </p:tgtEl>
                                        <p:attrNameLst>
                                          <p:attrName>style.visibility</p:attrName>
                                        </p:attrNameLst>
                                      </p:cBhvr>
                                      <p:to>
                                        <p:strVal val="visible"/>
                                      </p:to>
                                    </p:set>
                                    <p:anim calcmode="lin" valueType="num">
                                      <p:cBhvr additive="base">
                                        <p:cTn id="73" dur="500" fill="hold"/>
                                        <p:tgtEl>
                                          <p:spTgt spid="17408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7408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174083">
                                            <p:txEl>
                                              <p:pRg st="12" end="12"/>
                                            </p:txEl>
                                          </p:spTgt>
                                        </p:tgtEl>
                                        <p:attrNameLst>
                                          <p:attrName>style.visibility</p:attrName>
                                        </p:attrNameLst>
                                      </p:cBhvr>
                                      <p:to>
                                        <p:strVal val="visible"/>
                                      </p:to>
                                    </p:set>
                                    <p:anim calcmode="lin" valueType="num">
                                      <p:cBhvr additive="base">
                                        <p:cTn id="79" dur="500" fill="hold"/>
                                        <p:tgtEl>
                                          <p:spTgt spid="17408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7408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build="p" bldLvl="2"/>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80" name="Rectangle 4"/>
          <p:cNvSpPr>
            <a:spLocks noGrp="1" noChangeArrowheads="1"/>
          </p:cNvSpPr>
          <p:nvPr>
            <p:ph type="title"/>
          </p:nvPr>
        </p:nvSpPr>
        <p:spPr/>
        <p:txBody>
          <a:bodyPr/>
          <a:lstStyle/>
          <a:p>
            <a:r>
              <a:rPr lang="en-US"/>
              <a:t>Interviewing</a:t>
            </a:r>
          </a:p>
        </p:txBody>
      </p:sp>
      <p:sp>
        <p:nvSpPr>
          <p:cNvPr id="203781" name="Rectangle 5"/>
          <p:cNvSpPr>
            <a:spLocks noGrp="1" noChangeArrowheads="1"/>
          </p:cNvSpPr>
          <p:nvPr>
            <p:ph type="body" idx="1"/>
          </p:nvPr>
        </p:nvSpPr>
        <p:spPr/>
        <p:txBody>
          <a:bodyPr/>
          <a:lstStyle/>
          <a:p>
            <a:pPr>
              <a:lnSpc>
                <a:spcPct val="90000"/>
              </a:lnSpc>
            </a:pPr>
            <a:r>
              <a:rPr lang="en-US" sz="2800"/>
              <a:t>Simple direct technique</a:t>
            </a:r>
          </a:p>
          <a:p>
            <a:pPr>
              <a:lnSpc>
                <a:spcPct val="90000"/>
              </a:lnSpc>
            </a:pPr>
            <a:r>
              <a:rPr lang="en-US" sz="2800"/>
              <a:t>Context-free questions can help achieve bias-free interviews</a:t>
            </a:r>
          </a:p>
          <a:p>
            <a:pPr>
              <a:lnSpc>
                <a:spcPct val="90000"/>
              </a:lnSpc>
            </a:pPr>
            <a:r>
              <a:rPr lang="en-US" sz="2800"/>
              <a:t>Then, it may be appropriate to search for undiscovered requirements by exploring solutions.</a:t>
            </a:r>
          </a:p>
          <a:p>
            <a:pPr>
              <a:lnSpc>
                <a:spcPct val="90000"/>
              </a:lnSpc>
            </a:pPr>
            <a:r>
              <a:rPr lang="en-US" sz="2800"/>
              <a:t>Convergence on some common needs will initiate a “requirements repository” for use during the project.</a:t>
            </a:r>
          </a:p>
          <a:p>
            <a:pPr>
              <a:lnSpc>
                <a:spcPct val="90000"/>
              </a:lnSpc>
            </a:pPr>
            <a:r>
              <a:rPr lang="en-US" sz="2800"/>
              <a:t>A questionnaire is no substitute for an interview.</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3781">
                                            <p:txEl>
                                              <p:pRg st="0" end="0"/>
                                            </p:txEl>
                                          </p:spTgt>
                                        </p:tgtEl>
                                        <p:attrNameLst>
                                          <p:attrName>style.visibility</p:attrName>
                                        </p:attrNameLst>
                                      </p:cBhvr>
                                      <p:to>
                                        <p:strVal val="visible"/>
                                      </p:to>
                                    </p:set>
                                    <p:animEffect transition="in" filter="slide(fromBottom)">
                                      <p:cBhvr>
                                        <p:cTn id="7" dur="500"/>
                                        <p:tgtEl>
                                          <p:spTgt spid="2037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03781">
                                            <p:txEl>
                                              <p:pRg st="1" end="1"/>
                                            </p:txEl>
                                          </p:spTgt>
                                        </p:tgtEl>
                                        <p:attrNameLst>
                                          <p:attrName>style.visibility</p:attrName>
                                        </p:attrNameLst>
                                      </p:cBhvr>
                                      <p:to>
                                        <p:strVal val="visible"/>
                                      </p:to>
                                    </p:set>
                                    <p:animEffect transition="in" filter="slide(fromBottom)">
                                      <p:cBhvr>
                                        <p:cTn id="12" dur="500"/>
                                        <p:tgtEl>
                                          <p:spTgt spid="20378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03781">
                                            <p:txEl>
                                              <p:pRg st="2" end="2"/>
                                            </p:txEl>
                                          </p:spTgt>
                                        </p:tgtEl>
                                        <p:attrNameLst>
                                          <p:attrName>style.visibility</p:attrName>
                                        </p:attrNameLst>
                                      </p:cBhvr>
                                      <p:to>
                                        <p:strVal val="visible"/>
                                      </p:to>
                                    </p:set>
                                    <p:animEffect transition="in" filter="slide(fromBottom)">
                                      <p:cBhvr>
                                        <p:cTn id="17" dur="500"/>
                                        <p:tgtEl>
                                          <p:spTgt spid="20378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203781">
                                            <p:txEl>
                                              <p:pRg st="3" end="3"/>
                                            </p:txEl>
                                          </p:spTgt>
                                        </p:tgtEl>
                                        <p:attrNameLst>
                                          <p:attrName>style.visibility</p:attrName>
                                        </p:attrNameLst>
                                      </p:cBhvr>
                                      <p:to>
                                        <p:strVal val="visible"/>
                                      </p:to>
                                    </p:set>
                                    <p:animEffect transition="in" filter="slide(fromBottom)">
                                      <p:cBhvr>
                                        <p:cTn id="22" dur="500"/>
                                        <p:tgtEl>
                                          <p:spTgt spid="20378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03781">
                                            <p:txEl>
                                              <p:pRg st="4" end="4"/>
                                            </p:txEl>
                                          </p:spTgt>
                                        </p:tgtEl>
                                        <p:attrNameLst>
                                          <p:attrName>style.visibility</p:attrName>
                                        </p:attrNameLst>
                                      </p:cBhvr>
                                      <p:to>
                                        <p:strVal val="visible"/>
                                      </p:to>
                                    </p:set>
                                    <p:animEffect transition="in" filter="slide(fromBottom)">
                                      <p:cBhvr>
                                        <p:cTn id="27" dur="500"/>
                                        <p:tgtEl>
                                          <p:spTgt spid="20378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8" name="Rectangle 4"/>
          <p:cNvSpPr>
            <a:spLocks noGrp="1" noChangeArrowheads="1"/>
          </p:cNvSpPr>
          <p:nvPr>
            <p:ph type="title"/>
          </p:nvPr>
        </p:nvSpPr>
        <p:spPr/>
        <p:txBody>
          <a:bodyPr/>
          <a:lstStyle/>
          <a:p>
            <a:r>
              <a:rPr lang="en-US" sz="4000"/>
              <a:t>Interview: Context free question</a:t>
            </a:r>
          </a:p>
        </p:txBody>
      </p:sp>
      <p:sp>
        <p:nvSpPr>
          <p:cNvPr id="205829" name="Rectangle 5"/>
          <p:cNvSpPr>
            <a:spLocks noGrp="1" noChangeArrowheads="1"/>
          </p:cNvSpPr>
          <p:nvPr>
            <p:ph type="body" idx="1"/>
          </p:nvPr>
        </p:nvSpPr>
        <p:spPr/>
        <p:txBody>
          <a:bodyPr>
            <a:normAutofit lnSpcReduction="10000"/>
          </a:bodyPr>
          <a:lstStyle/>
          <a:p>
            <a:pPr>
              <a:lnSpc>
                <a:spcPct val="80000"/>
              </a:lnSpc>
            </a:pPr>
            <a:r>
              <a:rPr lang="en-US" sz="2800"/>
              <a:t>Goal is to prevent prejudicing the user’s response to the questions.</a:t>
            </a:r>
          </a:p>
          <a:p>
            <a:pPr>
              <a:lnSpc>
                <a:spcPct val="80000"/>
              </a:lnSpc>
            </a:pPr>
            <a:r>
              <a:rPr lang="en-US" sz="2800"/>
              <a:t>Examples:</a:t>
            </a:r>
          </a:p>
          <a:p>
            <a:pPr lvl="1">
              <a:lnSpc>
                <a:spcPct val="80000"/>
              </a:lnSpc>
            </a:pPr>
            <a:r>
              <a:rPr lang="en-US" sz="2400"/>
              <a:t>Who is the user?</a:t>
            </a:r>
          </a:p>
          <a:p>
            <a:pPr lvl="1">
              <a:lnSpc>
                <a:spcPct val="80000"/>
              </a:lnSpc>
            </a:pPr>
            <a:r>
              <a:rPr lang="en-US" sz="2400"/>
              <a:t>Who is the customer?</a:t>
            </a:r>
          </a:p>
          <a:p>
            <a:pPr lvl="1">
              <a:lnSpc>
                <a:spcPct val="80000"/>
              </a:lnSpc>
            </a:pPr>
            <a:r>
              <a:rPr lang="en-US" sz="2400"/>
              <a:t>Are their needs different?</a:t>
            </a:r>
          </a:p>
          <a:p>
            <a:pPr lvl="1">
              <a:lnSpc>
                <a:spcPct val="80000"/>
              </a:lnSpc>
            </a:pPr>
            <a:r>
              <a:rPr lang="en-US" sz="2400"/>
              <a:t>Where else can a solution to this problem be found?</a:t>
            </a:r>
          </a:p>
          <a:p>
            <a:pPr>
              <a:lnSpc>
                <a:spcPct val="80000"/>
              </a:lnSpc>
            </a:pPr>
            <a:r>
              <a:rPr lang="en-US" sz="2800"/>
              <a:t>Context-free questions also parallel the questions salespeople are taught to ask as part of a technique called “solutions selling.”</a:t>
            </a:r>
          </a:p>
          <a:p>
            <a:pPr>
              <a:lnSpc>
                <a:spcPct val="80000"/>
              </a:lnSpc>
            </a:pPr>
            <a:r>
              <a:rPr lang="en-US" sz="2800"/>
              <a:t>After context-free questions are asked, suggested solutions can be explored.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5829">
                                            <p:txEl>
                                              <p:pRg st="0" end="0"/>
                                            </p:txEl>
                                          </p:spTgt>
                                        </p:tgtEl>
                                        <p:attrNameLst>
                                          <p:attrName>style.visibility</p:attrName>
                                        </p:attrNameLst>
                                      </p:cBhvr>
                                      <p:to>
                                        <p:strVal val="visible"/>
                                      </p:to>
                                    </p:set>
                                    <p:animEffect transition="in" filter="slide(fromBottom)">
                                      <p:cBhvr>
                                        <p:cTn id="7" dur="500"/>
                                        <p:tgtEl>
                                          <p:spTgt spid="2058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05829">
                                            <p:txEl>
                                              <p:pRg st="1" end="1"/>
                                            </p:txEl>
                                          </p:spTgt>
                                        </p:tgtEl>
                                        <p:attrNameLst>
                                          <p:attrName>style.visibility</p:attrName>
                                        </p:attrNameLst>
                                      </p:cBhvr>
                                      <p:to>
                                        <p:strVal val="visible"/>
                                      </p:to>
                                    </p:set>
                                    <p:animEffect transition="in" filter="slide(fromBottom)">
                                      <p:cBhvr>
                                        <p:cTn id="12" dur="500"/>
                                        <p:tgtEl>
                                          <p:spTgt spid="205829">
                                            <p:txEl>
                                              <p:pRg st="1" end="1"/>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205829">
                                            <p:txEl>
                                              <p:pRg st="2" end="2"/>
                                            </p:txEl>
                                          </p:spTgt>
                                        </p:tgtEl>
                                        <p:attrNameLst>
                                          <p:attrName>style.visibility</p:attrName>
                                        </p:attrNameLst>
                                      </p:cBhvr>
                                      <p:to>
                                        <p:strVal val="visible"/>
                                      </p:to>
                                    </p:set>
                                    <p:animEffect transition="in" filter="slide(fromBottom)">
                                      <p:cBhvr>
                                        <p:cTn id="15" dur="500"/>
                                        <p:tgtEl>
                                          <p:spTgt spid="205829">
                                            <p:txEl>
                                              <p:pRg st="2" end="2"/>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05829">
                                            <p:txEl>
                                              <p:pRg st="3" end="3"/>
                                            </p:txEl>
                                          </p:spTgt>
                                        </p:tgtEl>
                                        <p:attrNameLst>
                                          <p:attrName>style.visibility</p:attrName>
                                        </p:attrNameLst>
                                      </p:cBhvr>
                                      <p:to>
                                        <p:strVal val="visible"/>
                                      </p:to>
                                    </p:set>
                                    <p:animEffect transition="in" filter="slide(fromBottom)">
                                      <p:cBhvr>
                                        <p:cTn id="18" dur="500"/>
                                        <p:tgtEl>
                                          <p:spTgt spid="205829">
                                            <p:txEl>
                                              <p:pRg st="3" end="3"/>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05829">
                                            <p:txEl>
                                              <p:pRg st="4" end="4"/>
                                            </p:txEl>
                                          </p:spTgt>
                                        </p:tgtEl>
                                        <p:attrNameLst>
                                          <p:attrName>style.visibility</p:attrName>
                                        </p:attrNameLst>
                                      </p:cBhvr>
                                      <p:to>
                                        <p:strVal val="visible"/>
                                      </p:to>
                                    </p:set>
                                    <p:animEffect transition="in" filter="slide(fromBottom)">
                                      <p:cBhvr>
                                        <p:cTn id="21" dur="500"/>
                                        <p:tgtEl>
                                          <p:spTgt spid="205829">
                                            <p:txEl>
                                              <p:pRg st="4" end="4"/>
                                            </p:txEl>
                                          </p:spTgt>
                                        </p:tgtEl>
                                      </p:cBhvr>
                                    </p:animEffect>
                                  </p:childTnLst>
                                </p:cTn>
                              </p:par>
                              <p:par>
                                <p:cTn id="22" presetID="12" presetClass="entr" presetSubtype="4" fill="hold" grpId="0" nodeType="withEffect">
                                  <p:stCondLst>
                                    <p:cond delay="0"/>
                                  </p:stCondLst>
                                  <p:childTnLst>
                                    <p:set>
                                      <p:cBhvr>
                                        <p:cTn id="23" dur="1" fill="hold">
                                          <p:stCondLst>
                                            <p:cond delay="0"/>
                                          </p:stCondLst>
                                        </p:cTn>
                                        <p:tgtEl>
                                          <p:spTgt spid="205829">
                                            <p:txEl>
                                              <p:pRg st="5" end="5"/>
                                            </p:txEl>
                                          </p:spTgt>
                                        </p:tgtEl>
                                        <p:attrNameLst>
                                          <p:attrName>style.visibility</p:attrName>
                                        </p:attrNameLst>
                                      </p:cBhvr>
                                      <p:to>
                                        <p:strVal val="visible"/>
                                      </p:to>
                                    </p:set>
                                    <p:animEffect transition="in" filter="slide(fromBottom)">
                                      <p:cBhvr>
                                        <p:cTn id="24" dur="500"/>
                                        <p:tgtEl>
                                          <p:spTgt spid="20582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205829">
                                            <p:txEl>
                                              <p:pRg st="6" end="6"/>
                                            </p:txEl>
                                          </p:spTgt>
                                        </p:tgtEl>
                                        <p:attrNameLst>
                                          <p:attrName>style.visibility</p:attrName>
                                        </p:attrNameLst>
                                      </p:cBhvr>
                                      <p:to>
                                        <p:strVal val="visible"/>
                                      </p:to>
                                    </p:set>
                                    <p:animEffect transition="in" filter="slide(fromBottom)">
                                      <p:cBhvr>
                                        <p:cTn id="29" dur="500"/>
                                        <p:tgtEl>
                                          <p:spTgt spid="205829">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205829">
                                            <p:txEl>
                                              <p:pRg st="7" end="7"/>
                                            </p:txEl>
                                          </p:spTgt>
                                        </p:tgtEl>
                                        <p:attrNameLst>
                                          <p:attrName>style.visibility</p:attrName>
                                        </p:attrNameLst>
                                      </p:cBhvr>
                                      <p:to>
                                        <p:strVal val="visible"/>
                                      </p:to>
                                    </p:set>
                                    <p:animEffect transition="in" filter="slide(fromBottom)">
                                      <p:cBhvr>
                                        <p:cTn id="34" dur="500"/>
                                        <p:tgtEl>
                                          <p:spTgt spid="20582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en-US"/>
              <a:t>Interview: Show time</a:t>
            </a:r>
          </a:p>
        </p:txBody>
      </p:sp>
      <p:sp>
        <p:nvSpPr>
          <p:cNvPr id="206851" name="Rectangle 3"/>
          <p:cNvSpPr>
            <a:spLocks noGrp="1" noChangeArrowheads="1"/>
          </p:cNvSpPr>
          <p:nvPr>
            <p:ph type="body" idx="1"/>
          </p:nvPr>
        </p:nvSpPr>
        <p:spPr>
          <a:xfrm>
            <a:off x="457200" y="1371600"/>
            <a:ext cx="8229600" cy="3038475"/>
          </a:xfrm>
        </p:spPr>
        <p:txBody>
          <a:bodyPr/>
          <a:lstStyle/>
          <a:p>
            <a:pPr>
              <a:lnSpc>
                <a:spcPct val="90000"/>
              </a:lnSpc>
            </a:pPr>
            <a:r>
              <a:rPr lang="en-US" sz="2800"/>
              <a:t>Establish Customer or User Profile</a:t>
            </a:r>
          </a:p>
          <a:p>
            <a:pPr>
              <a:lnSpc>
                <a:spcPct val="90000"/>
              </a:lnSpc>
            </a:pPr>
            <a:r>
              <a:rPr lang="en-US" sz="2800"/>
              <a:t>Assessing the Problem</a:t>
            </a:r>
          </a:p>
          <a:p>
            <a:pPr>
              <a:lnSpc>
                <a:spcPct val="90000"/>
              </a:lnSpc>
            </a:pPr>
            <a:r>
              <a:rPr lang="en-US" sz="2800"/>
              <a:t>Understanding the User Environment</a:t>
            </a:r>
          </a:p>
          <a:p>
            <a:pPr>
              <a:lnSpc>
                <a:spcPct val="90000"/>
              </a:lnSpc>
            </a:pPr>
            <a:r>
              <a:rPr lang="en-US" sz="2800"/>
              <a:t>Recap the Understanding</a:t>
            </a:r>
          </a:p>
          <a:p>
            <a:pPr>
              <a:lnSpc>
                <a:spcPct val="90000"/>
              </a:lnSpc>
            </a:pPr>
            <a:r>
              <a:rPr lang="en-US" sz="2800"/>
              <a:t>Analyst’s Inputs on Customer’s Problems</a:t>
            </a:r>
          </a:p>
          <a:p>
            <a:pPr>
              <a:lnSpc>
                <a:spcPct val="90000"/>
              </a:lnSpc>
            </a:pPr>
            <a:r>
              <a:rPr lang="en-US" sz="2800"/>
              <a:t>Assessing Your Solution (if applicable)</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9" name="Rectangle 5"/>
          <p:cNvSpPr>
            <a:spLocks noGrp="1" noChangeArrowheads="1"/>
          </p:cNvSpPr>
          <p:nvPr>
            <p:ph type="body" idx="1"/>
          </p:nvPr>
        </p:nvSpPr>
        <p:spPr/>
        <p:txBody>
          <a:bodyPr/>
          <a:lstStyle/>
          <a:p>
            <a:r>
              <a:rPr lang="en-US" dirty="0" smtClean="0"/>
              <a:t>Types:</a:t>
            </a:r>
          </a:p>
          <a:p>
            <a:pPr lvl="1"/>
            <a:r>
              <a:rPr lang="en-US" dirty="0" smtClean="0"/>
              <a:t>Focus Groups</a:t>
            </a:r>
          </a:p>
          <a:p>
            <a:pPr lvl="2"/>
            <a:r>
              <a:rPr lang="en-US" dirty="0" smtClean="0"/>
              <a:t>Brain Storming</a:t>
            </a:r>
          </a:p>
          <a:p>
            <a:pPr lvl="2"/>
            <a:r>
              <a:rPr lang="en-US" dirty="0" smtClean="0"/>
              <a:t>JAD</a:t>
            </a:r>
          </a:p>
          <a:p>
            <a:pPr lvl="2"/>
            <a:r>
              <a:rPr lang="en-US" dirty="0" smtClean="0"/>
              <a:t>Requirements Workshop</a:t>
            </a:r>
          </a:p>
          <a:p>
            <a:pPr lvl="1"/>
            <a:r>
              <a:rPr lang="en-US" dirty="0" smtClean="0"/>
              <a:t>Prototype</a:t>
            </a:r>
          </a:p>
          <a:p>
            <a:pPr lvl="1"/>
            <a:r>
              <a:rPr lang="en-US" dirty="0" smtClean="0"/>
              <a:t>CSCW</a:t>
            </a:r>
            <a:endParaRPr lang="en-US" dirty="0"/>
          </a:p>
        </p:txBody>
      </p:sp>
      <p:sp>
        <p:nvSpPr>
          <p:cNvPr id="175108" name="Rectangle 4"/>
          <p:cNvSpPr>
            <a:spLocks noGrp="1" noChangeArrowheads="1"/>
          </p:cNvSpPr>
          <p:nvPr>
            <p:ph type="title"/>
          </p:nvPr>
        </p:nvSpPr>
        <p:spPr/>
        <p:txBody>
          <a:bodyPr>
            <a:normAutofit fontScale="90000"/>
          </a:bodyPr>
          <a:lstStyle/>
          <a:p>
            <a:r>
              <a:rPr lang="en-US" smtClean="0"/>
              <a:t>Collaborative Elicitation Techniques</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5109">
                                            <p:txEl>
                                              <p:pRg st="0" end="0"/>
                                            </p:txEl>
                                          </p:spTgt>
                                        </p:tgtEl>
                                        <p:attrNameLst>
                                          <p:attrName>style.visibility</p:attrName>
                                        </p:attrNameLst>
                                      </p:cBhvr>
                                      <p:to>
                                        <p:strVal val="visible"/>
                                      </p:to>
                                    </p:set>
                                    <p:anim calcmode="lin" valueType="num">
                                      <p:cBhvr additive="base">
                                        <p:cTn id="7" dur="500" fill="hold"/>
                                        <p:tgtEl>
                                          <p:spTgt spid="1751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510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5109">
                                            <p:txEl>
                                              <p:pRg st="1" end="1"/>
                                            </p:txEl>
                                          </p:spTgt>
                                        </p:tgtEl>
                                        <p:attrNameLst>
                                          <p:attrName>style.visibility</p:attrName>
                                        </p:attrNameLst>
                                      </p:cBhvr>
                                      <p:to>
                                        <p:strVal val="visible"/>
                                      </p:to>
                                    </p:set>
                                    <p:anim calcmode="lin" valueType="num">
                                      <p:cBhvr additive="base">
                                        <p:cTn id="11" dur="500" fill="hold"/>
                                        <p:tgtEl>
                                          <p:spTgt spid="17510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510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5109">
                                            <p:txEl>
                                              <p:pRg st="2" end="2"/>
                                            </p:txEl>
                                          </p:spTgt>
                                        </p:tgtEl>
                                        <p:attrNameLst>
                                          <p:attrName>style.visibility</p:attrName>
                                        </p:attrNameLst>
                                      </p:cBhvr>
                                      <p:to>
                                        <p:strVal val="visible"/>
                                      </p:to>
                                    </p:set>
                                    <p:anim calcmode="lin" valueType="num">
                                      <p:cBhvr additive="base">
                                        <p:cTn id="15" dur="500" fill="hold"/>
                                        <p:tgtEl>
                                          <p:spTgt spid="17510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510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75109">
                                            <p:txEl>
                                              <p:pRg st="3" end="3"/>
                                            </p:txEl>
                                          </p:spTgt>
                                        </p:tgtEl>
                                        <p:attrNameLst>
                                          <p:attrName>style.visibility</p:attrName>
                                        </p:attrNameLst>
                                      </p:cBhvr>
                                      <p:to>
                                        <p:strVal val="visible"/>
                                      </p:to>
                                    </p:set>
                                    <p:anim calcmode="lin" valueType="num">
                                      <p:cBhvr additive="base">
                                        <p:cTn id="19" dur="500" fill="hold"/>
                                        <p:tgtEl>
                                          <p:spTgt spid="17510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510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5109">
                                            <p:txEl>
                                              <p:pRg st="4" end="4"/>
                                            </p:txEl>
                                          </p:spTgt>
                                        </p:tgtEl>
                                        <p:attrNameLst>
                                          <p:attrName>style.visibility</p:attrName>
                                        </p:attrNameLst>
                                      </p:cBhvr>
                                      <p:to>
                                        <p:strVal val="visible"/>
                                      </p:to>
                                    </p:set>
                                    <p:anim calcmode="lin" valueType="num">
                                      <p:cBhvr additive="base">
                                        <p:cTn id="23" dur="500" fill="hold"/>
                                        <p:tgtEl>
                                          <p:spTgt spid="17510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510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5109">
                                            <p:txEl>
                                              <p:pRg st="5" end="5"/>
                                            </p:txEl>
                                          </p:spTgt>
                                        </p:tgtEl>
                                        <p:attrNameLst>
                                          <p:attrName>style.visibility</p:attrName>
                                        </p:attrNameLst>
                                      </p:cBhvr>
                                      <p:to>
                                        <p:strVal val="visible"/>
                                      </p:to>
                                    </p:set>
                                    <p:anim calcmode="lin" valueType="num">
                                      <p:cBhvr additive="base">
                                        <p:cTn id="27" dur="500" fill="hold"/>
                                        <p:tgtEl>
                                          <p:spTgt spid="17510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510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75109">
                                            <p:txEl>
                                              <p:pRg st="6" end="6"/>
                                            </p:txEl>
                                          </p:spTgt>
                                        </p:tgtEl>
                                        <p:attrNameLst>
                                          <p:attrName>style.visibility</p:attrName>
                                        </p:attrNameLst>
                                      </p:cBhvr>
                                      <p:to>
                                        <p:strVal val="visible"/>
                                      </p:to>
                                    </p:set>
                                    <p:anim calcmode="lin" valueType="num">
                                      <p:cBhvr additive="base">
                                        <p:cTn id="31" dur="500" fill="hold"/>
                                        <p:tgtEl>
                                          <p:spTgt spid="175109">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510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smtClean="0"/>
              <a:t>Form groups of people using some focus (e.g., management levels)</a:t>
            </a:r>
          </a:p>
          <a:p>
            <a:r>
              <a:rPr lang="en-US" dirty="0" smtClean="0"/>
              <a:t>Advantages</a:t>
            </a:r>
          </a:p>
          <a:p>
            <a:pPr lvl="1"/>
            <a:r>
              <a:rPr lang="en-US" dirty="0" smtClean="0"/>
              <a:t>More natural interaction between people than formal interview</a:t>
            </a:r>
          </a:p>
          <a:p>
            <a:pPr lvl="1"/>
            <a:r>
              <a:rPr lang="en-US" dirty="0" smtClean="0"/>
              <a:t>Can gauge reaction to stimulus materials (e.g. mock-ups, storyboards, etc)</a:t>
            </a:r>
          </a:p>
          <a:p>
            <a:r>
              <a:rPr lang="en-US" dirty="0" smtClean="0"/>
              <a:t>Disadvantages</a:t>
            </a:r>
          </a:p>
          <a:p>
            <a:pPr lvl="1"/>
            <a:r>
              <a:rPr lang="en-US" dirty="0" smtClean="0"/>
              <a:t>May create unnatural groups (uncomfortable for participants)</a:t>
            </a:r>
          </a:p>
          <a:p>
            <a:pPr lvl="1"/>
            <a:r>
              <a:rPr lang="en-US" dirty="0" smtClean="0"/>
              <a:t>Danger of Groupthink</a:t>
            </a:r>
          </a:p>
          <a:p>
            <a:pPr lvl="1"/>
            <a:r>
              <a:rPr lang="en-US" dirty="0" smtClean="0"/>
              <a:t>May only provide superficial responses to technical questions</a:t>
            </a:r>
          </a:p>
          <a:p>
            <a:pPr lvl="1"/>
            <a:r>
              <a:rPr lang="en-US" dirty="0" smtClean="0"/>
              <a:t>Requires a highly trained facilitator</a:t>
            </a:r>
          </a:p>
          <a:p>
            <a:r>
              <a:rPr lang="en-US" dirty="0" smtClean="0"/>
              <a:t>Watch for</a:t>
            </a:r>
          </a:p>
          <a:p>
            <a:pPr lvl="1"/>
            <a:r>
              <a:rPr lang="en-US" dirty="0" smtClean="0"/>
              <a:t>sample bias</a:t>
            </a:r>
          </a:p>
          <a:p>
            <a:pPr lvl="1"/>
            <a:r>
              <a:rPr lang="en-US" dirty="0" smtClean="0"/>
              <a:t>dominance and submission</a:t>
            </a:r>
          </a:p>
          <a:p>
            <a:endParaRPr lang="en-GB" dirty="0"/>
          </a:p>
        </p:txBody>
      </p:sp>
      <p:sp>
        <p:nvSpPr>
          <p:cNvPr id="3" name="Title 2"/>
          <p:cNvSpPr>
            <a:spLocks noGrp="1"/>
          </p:cNvSpPr>
          <p:nvPr>
            <p:ph type="title"/>
          </p:nvPr>
        </p:nvSpPr>
        <p:spPr/>
        <p:txBody>
          <a:bodyPr/>
          <a:lstStyle/>
          <a:p>
            <a:r>
              <a:rPr lang="en-US" smtClean="0"/>
              <a:t>Focus Group</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t>Requirements Workshop</a:t>
            </a:r>
          </a:p>
        </p:txBody>
      </p:sp>
      <p:sp>
        <p:nvSpPr>
          <p:cNvPr id="196611" name="Rectangle 3"/>
          <p:cNvSpPr>
            <a:spLocks noGrp="1" noChangeArrowheads="1"/>
          </p:cNvSpPr>
          <p:nvPr>
            <p:ph type="body" idx="1"/>
          </p:nvPr>
        </p:nvSpPr>
        <p:spPr/>
        <p:txBody>
          <a:bodyPr/>
          <a:lstStyle/>
          <a:p>
            <a:r>
              <a:rPr lang="en-US" sz="2800"/>
              <a:t>The requirements workshop is perhaps the most powerful technique for eliciting requirements.</a:t>
            </a:r>
          </a:p>
          <a:p>
            <a:r>
              <a:rPr lang="en-US" sz="2800"/>
              <a:t>It gathers all </a:t>
            </a:r>
            <a:r>
              <a:rPr lang="en-US" sz="2800" i="1" u="sng">
                <a:effectLst>
                  <a:outerShdw blurRad="38100" dist="38100" dir="2700000" algn="tl">
                    <a:srgbClr val="C0C0C0"/>
                  </a:outerShdw>
                </a:effectLst>
              </a:rPr>
              <a:t>key</a:t>
            </a:r>
            <a:r>
              <a:rPr lang="en-US" sz="2800"/>
              <a:t> stakeholders together for a short but intensely focused period.</a:t>
            </a:r>
          </a:p>
          <a:p>
            <a:r>
              <a:rPr lang="en-US" sz="2800"/>
              <a:t>The use of an outside facilitator experienced in requirements management can ensure the success of the workshop.</a:t>
            </a:r>
          </a:p>
          <a:p>
            <a:r>
              <a:rPr lang="en-US" sz="2800"/>
              <a:t>Brainstorming is the most important part of the workshop.</a:t>
            </a:r>
            <a:endParaRPr lang="en-US" sz="2800" i="1" u="sng">
              <a:effectLst>
                <a:outerShdw blurRad="38100" dist="38100" dir="2700000" algn="tl">
                  <a:srgbClr val="C0C0C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96611">
                                            <p:txEl>
                                              <p:pRg st="0" end="0"/>
                                            </p:txEl>
                                          </p:spTgt>
                                        </p:tgtEl>
                                        <p:attrNameLst>
                                          <p:attrName>style.visibility</p:attrName>
                                        </p:attrNameLst>
                                      </p:cBhvr>
                                      <p:to>
                                        <p:strVal val="visible"/>
                                      </p:to>
                                    </p:set>
                                    <p:animEffect transition="in" filter="slide(fromBottom)">
                                      <p:cBhvr>
                                        <p:cTn id="7" dur="500"/>
                                        <p:tgtEl>
                                          <p:spTgt spid="1966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96611">
                                            <p:txEl>
                                              <p:pRg st="1" end="1"/>
                                            </p:txEl>
                                          </p:spTgt>
                                        </p:tgtEl>
                                        <p:attrNameLst>
                                          <p:attrName>style.visibility</p:attrName>
                                        </p:attrNameLst>
                                      </p:cBhvr>
                                      <p:to>
                                        <p:strVal val="visible"/>
                                      </p:to>
                                    </p:set>
                                    <p:animEffect transition="in" filter="slide(fromBottom)">
                                      <p:cBhvr>
                                        <p:cTn id="12" dur="500"/>
                                        <p:tgtEl>
                                          <p:spTgt spid="1966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96611">
                                            <p:txEl>
                                              <p:pRg st="2" end="2"/>
                                            </p:txEl>
                                          </p:spTgt>
                                        </p:tgtEl>
                                        <p:attrNameLst>
                                          <p:attrName>style.visibility</p:attrName>
                                        </p:attrNameLst>
                                      </p:cBhvr>
                                      <p:to>
                                        <p:strVal val="visible"/>
                                      </p:to>
                                    </p:set>
                                    <p:animEffect transition="in" filter="slide(fromBottom)">
                                      <p:cBhvr>
                                        <p:cTn id="17" dur="500"/>
                                        <p:tgtEl>
                                          <p:spTgt spid="1966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6611">
                                            <p:txEl>
                                              <p:pRg st="3" end="3"/>
                                            </p:txEl>
                                          </p:spTgt>
                                        </p:tgtEl>
                                        <p:attrNameLst>
                                          <p:attrName>style.visibility</p:attrName>
                                        </p:attrNameLst>
                                      </p:cBhvr>
                                      <p:to>
                                        <p:strVal val="visible"/>
                                      </p:to>
                                    </p:set>
                                    <p:animEffect transition="in" filter="slide(fromBottom)">
                                      <p:cBhvr>
                                        <p:cTn id="22" dur="500"/>
                                        <p:tgtEl>
                                          <p:spTgt spid="1966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r>
              <a:rPr lang="en-US"/>
              <a:t>Preparing for the workshop</a:t>
            </a:r>
          </a:p>
        </p:txBody>
      </p:sp>
      <p:sp>
        <p:nvSpPr>
          <p:cNvPr id="197635" name="Rectangle 3"/>
          <p:cNvSpPr>
            <a:spLocks noGrp="1" noChangeArrowheads="1"/>
          </p:cNvSpPr>
          <p:nvPr>
            <p:ph type="body" idx="1"/>
          </p:nvPr>
        </p:nvSpPr>
        <p:spPr/>
        <p:txBody>
          <a:bodyPr>
            <a:normAutofit lnSpcReduction="10000"/>
          </a:bodyPr>
          <a:lstStyle/>
          <a:p>
            <a:r>
              <a:rPr lang="en-US" sz="2800"/>
              <a:t>Selling the workshop concept to stakeholders</a:t>
            </a:r>
          </a:p>
          <a:p>
            <a:r>
              <a:rPr lang="en-US" sz="2800"/>
              <a:t>Ensuring the Participation of the Right Stakeholders</a:t>
            </a:r>
          </a:p>
          <a:p>
            <a:r>
              <a:rPr lang="en-US" sz="2800"/>
              <a:t>Logistics</a:t>
            </a:r>
          </a:p>
          <a:p>
            <a:pPr lvl="1"/>
            <a:r>
              <a:rPr lang="en-US" sz="2400"/>
              <a:t>Try and prevent Murphy’s law</a:t>
            </a:r>
          </a:p>
          <a:p>
            <a:pPr lvl="1"/>
            <a:r>
              <a:rPr lang="en-US" sz="2400"/>
              <a:t>Includes travel, lighting, and even afternoon sugar filled snacks.</a:t>
            </a:r>
          </a:p>
          <a:p>
            <a:r>
              <a:rPr lang="en-US" sz="2800"/>
              <a:t>Warm-up materials</a:t>
            </a:r>
          </a:p>
          <a:p>
            <a:pPr lvl="1"/>
            <a:r>
              <a:rPr lang="en-US" sz="2400"/>
              <a:t>Project-specific information</a:t>
            </a:r>
          </a:p>
          <a:p>
            <a:pPr lvl="1"/>
            <a:r>
              <a:rPr lang="en-US" sz="2400"/>
              <a:t>Out-of-box thinking preparation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97635">
                                            <p:txEl>
                                              <p:pRg st="0" end="0"/>
                                            </p:txEl>
                                          </p:spTgt>
                                        </p:tgtEl>
                                        <p:attrNameLst>
                                          <p:attrName>style.visibility</p:attrName>
                                        </p:attrNameLst>
                                      </p:cBhvr>
                                      <p:to>
                                        <p:strVal val="visible"/>
                                      </p:to>
                                    </p:set>
                                    <p:animEffect transition="in" filter="slide(fromBottom)">
                                      <p:cBhvr>
                                        <p:cTn id="7" dur="500"/>
                                        <p:tgtEl>
                                          <p:spTgt spid="1976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97635">
                                            <p:txEl>
                                              <p:pRg st="1" end="1"/>
                                            </p:txEl>
                                          </p:spTgt>
                                        </p:tgtEl>
                                        <p:attrNameLst>
                                          <p:attrName>style.visibility</p:attrName>
                                        </p:attrNameLst>
                                      </p:cBhvr>
                                      <p:to>
                                        <p:strVal val="visible"/>
                                      </p:to>
                                    </p:set>
                                    <p:animEffect transition="in" filter="slide(fromBottom)">
                                      <p:cBhvr>
                                        <p:cTn id="12" dur="500"/>
                                        <p:tgtEl>
                                          <p:spTgt spid="1976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97635">
                                            <p:txEl>
                                              <p:pRg st="2" end="2"/>
                                            </p:txEl>
                                          </p:spTgt>
                                        </p:tgtEl>
                                        <p:attrNameLst>
                                          <p:attrName>style.visibility</p:attrName>
                                        </p:attrNameLst>
                                      </p:cBhvr>
                                      <p:to>
                                        <p:strVal val="visible"/>
                                      </p:to>
                                    </p:set>
                                    <p:animEffect transition="in" filter="slide(fromBottom)">
                                      <p:cBhvr>
                                        <p:cTn id="17" dur="500"/>
                                        <p:tgtEl>
                                          <p:spTgt spid="197635">
                                            <p:txEl>
                                              <p:pRg st="2" end="2"/>
                                            </p:txEl>
                                          </p:spTgt>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197635">
                                            <p:txEl>
                                              <p:pRg st="3" end="3"/>
                                            </p:txEl>
                                          </p:spTgt>
                                        </p:tgtEl>
                                        <p:attrNameLst>
                                          <p:attrName>style.visibility</p:attrName>
                                        </p:attrNameLst>
                                      </p:cBhvr>
                                      <p:to>
                                        <p:strVal val="visible"/>
                                      </p:to>
                                    </p:set>
                                    <p:animEffect transition="in" filter="slide(fromBottom)">
                                      <p:cBhvr>
                                        <p:cTn id="20" dur="500"/>
                                        <p:tgtEl>
                                          <p:spTgt spid="197635">
                                            <p:txEl>
                                              <p:pRg st="3" end="3"/>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97635">
                                            <p:txEl>
                                              <p:pRg st="4" end="4"/>
                                            </p:txEl>
                                          </p:spTgt>
                                        </p:tgtEl>
                                        <p:attrNameLst>
                                          <p:attrName>style.visibility</p:attrName>
                                        </p:attrNameLst>
                                      </p:cBhvr>
                                      <p:to>
                                        <p:strVal val="visible"/>
                                      </p:to>
                                    </p:set>
                                    <p:animEffect transition="in" filter="slide(fromBottom)">
                                      <p:cBhvr>
                                        <p:cTn id="23" dur="500"/>
                                        <p:tgtEl>
                                          <p:spTgt spid="19763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97635">
                                            <p:txEl>
                                              <p:pRg st="5" end="5"/>
                                            </p:txEl>
                                          </p:spTgt>
                                        </p:tgtEl>
                                        <p:attrNameLst>
                                          <p:attrName>style.visibility</p:attrName>
                                        </p:attrNameLst>
                                      </p:cBhvr>
                                      <p:to>
                                        <p:strVal val="visible"/>
                                      </p:to>
                                    </p:set>
                                    <p:animEffect transition="in" filter="slide(fromBottom)">
                                      <p:cBhvr>
                                        <p:cTn id="28" dur="500"/>
                                        <p:tgtEl>
                                          <p:spTgt spid="197635">
                                            <p:txEl>
                                              <p:pRg st="5" end="5"/>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97635">
                                            <p:txEl>
                                              <p:pRg st="6" end="6"/>
                                            </p:txEl>
                                          </p:spTgt>
                                        </p:tgtEl>
                                        <p:attrNameLst>
                                          <p:attrName>style.visibility</p:attrName>
                                        </p:attrNameLst>
                                      </p:cBhvr>
                                      <p:to>
                                        <p:strVal val="visible"/>
                                      </p:to>
                                    </p:set>
                                    <p:animEffect transition="in" filter="slide(fromBottom)">
                                      <p:cBhvr>
                                        <p:cTn id="31" dur="500"/>
                                        <p:tgtEl>
                                          <p:spTgt spid="197635">
                                            <p:txEl>
                                              <p:pRg st="6" end="6"/>
                                            </p:txEl>
                                          </p:spTgt>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197635">
                                            <p:txEl>
                                              <p:pRg st="7" end="7"/>
                                            </p:txEl>
                                          </p:spTgt>
                                        </p:tgtEl>
                                        <p:attrNameLst>
                                          <p:attrName>style.visibility</p:attrName>
                                        </p:attrNameLst>
                                      </p:cBhvr>
                                      <p:to>
                                        <p:strVal val="visible"/>
                                      </p:to>
                                    </p:set>
                                    <p:animEffect transition="in" filter="slide(fromBottom)">
                                      <p:cBhvr>
                                        <p:cTn id="34" dur="500"/>
                                        <p:tgtEl>
                                          <p:spTgt spid="19763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en-US"/>
              <a:t>Role of the Facilitator</a:t>
            </a:r>
          </a:p>
        </p:txBody>
      </p:sp>
      <p:sp>
        <p:nvSpPr>
          <p:cNvPr id="198659" name="Rectangle 3"/>
          <p:cNvSpPr>
            <a:spLocks noGrp="1" noChangeArrowheads="1"/>
          </p:cNvSpPr>
          <p:nvPr>
            <p:ph type="body" idx="1"/>
          </p:nvPr>
        </p:nvSpPr>
        <p:spPr/>
        <p:txBody>
          <a:bodyPr/>
          <a:lstStyle/>
          <a:p>
            <a:pPr>
              <a:lnSpc>
                <a:spcPct val="90000"/>
              </a:lnSpc>
            </a:pPr>
            <a:r>
              <a:rPr lang="en-US" sz="2400"/>
              <a:t>Establish professional and objective tone to the meeting.</a:t>
            </a:r>
          </a:p>
          <a:p>
            <a:pPr>
              <a:lnSpc>
                <a:spcPct val="90000"/>
              </a:lnSpc>
            </a:pPr>
            <a:r>
              <a:rPr lang="en-US" sz="2400"/>
              <a:t>Start and stop the meeting on time.</a:t>
            </a:r>
          </a:p>
          <a:p>
            <a:pPr>
              <a:lnSpc>
                <a:spcPct val="90000"/>
              </a:lnSpc>
            </a:pPr>
            <a:r>
              <a:rPr lang="en-US" sz="2400"/>
              <a:t>Establish and enforce the “rules” for the meeting.</a:t>
            </a:r>
          </a:p>
          <a:p>
            <a:pPr>
              <a:lnSpc>
                <a:spcPct val="90000"/>
              </a:lnSpc>
            </a:pPr>
            <a:r>
              <a:rPr lang="en-US" sz="2400"/>
              <a:t>Introduce the goals and agenda for the meeting.</a:t>
            </a:r>
          </a:p>
          <a:p>
            <a:pPr>
              <a:lnSpc>
                <a:spcPct val="90000"/>
              </a:lnSpc>
            </a:pPr>
            <a:r>
              <a:rPr lang="en-US" sz="2400"/>
              <a:t>Manage the meeting and keep the team “on track.”</a:t>
            </a:r>
          </a:p>
          <a:p>
            <a:pPr>
              <a:lnSpc>
                <a:spcPct val="90000"/>
              </a:lnSpc>
            </a:pPr>
            <a:r>
              <a:rPr lang="en-US" sz="2400"/>
              <a:t>Facilitate a process of decision and consensus making, but avoid participating in the content.</a:t>
            </a:r>
          </a:p>
          <a:p>
            <a:pPr>
              <a:lnSpc>
                <a:spcPct val="90000"/>
              </a:lnSpc>
            </a:pPr>
            <a:r>
              <a:rPr lang="en-US" sz="2400"/>
              <a:t>Make certain that all stakeholders participate and have their input heard.</a:t>
            </a:r>
          </a:p>
          <a:p>
            <a:pPr>
              <a:lnSpc>
                <a:spcPct val="90000"/>
              </a:lnSpc>
            </a:pPr>
            <a:r>
              <a:rPr lang="en-US" sz="2400"/>
              <a:t>Control disruptive or unproductive behavior.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Effect transition="in" filter="slide(fromBottom)">
                                      <p:cBhvr>
                                        <p:cTn id="7" dur="500"/>
                                        <p:tgtEl>
                                          <p:spTgt spid="1986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98659">
                                            <p:txEl>
                                              <p:pRg st="1" end="1"/>
                                            </p:txEl>
                                          </p:spTgt>
                                        </p:tgtEl>
                                        <p:attrNameLst>
                                          <p:attrName>style.visibility</p:attrName>
                                        </p:attrNameLst>
                                      </p:cBhvr>
                                      <p:to>
                                        <p:strVal val="visible"/>
                                      </p:to>
                                    </p:set>
                                    <p:animEffect transition="in" filter="slide(fromBottom)">
                                      <p:cBhvr>
                                        <p:cTn id="12" dur="500"/>
                                        <p:tgtEl>
                                          <p:spTgt spid="1986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98659">
                                            <p:txEl>
                                              <p:pRg st="2" end="2"/>
                                            </p:txEl>
                                          </p:spTgt>
                                        </p:tgtEl>
                                        <p:attrNameLst>
                                          <p:attrName>style.visibility</p:attrName>
                                        </p:attrNameLst>
                                      </p:cBhvr>
                                      <p:to>
                                        <p:strVal val="visible"/>
                                      </p:to>
                                    </p:set>
                                    <p:animEffect transition="in" filter="slide(fromBottom)">
                                      <p:cBhvr>
                                        <p:cTn id="17" dur="500"/>
                                        <p:tgtEl>
                                          <p:spTgt spid="1986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98659">
                                            <p:txEl>
                                              <p:pRg st="3" end="3"/>
                                            </p:txEl>
                                          </p:spTgt>
                                        </p:tgtEl>
                                        <p:attrNameLst>
                                          <p:attrName>style.visibility</p:attrName>
                                        </p:attrNameLst>
                                      </p:cBhvr>
                                      <p:to>
                                        <p:strVal val="visible"/>
                                      </p:to>
                                    </p:set>
                                    <p:animEffect transition="in" filter="slide(fromBottom)">
                                      <p:cBhvr>
                                        <p:cTn id="22" dur="500"/>
                                        <p:tgtEl>
                                          <p:spTgt spid="1986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98659">
                                            <p:txEl>
                                              <p:pRg st="4" end="4"/>
                                            </p:txEl>
                                          </p:spTgt>
                                        </p:tgtEl>
                                        <p:attrNameLst>
                                          <p:attrName>style.visibility</p:attrName>
                                        </p:attrNameLst>
                                      </p:cBhvr>
                                      <p:to>
                                        <p:strVal val="visible"/>
                                      </p:to>
                                    </p:set>
                                    <p:animEffect transition="in" filter="slide(fromBottom)">
                                      <p:cBhvr>
                                        <p:cTn id="27" dur="500"/>
                                        <p:tgtEl>
                                          <p:spTgt spid="1986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98659">
                                            <p:txEl>
                                              <p:pRg st="5" end="5"/>
                                            </p:txEl>
                                          </p:spTgt>
                                        </p:tgtEl>
                                        <p:attrNameLst>
                                          <p:attrName>style.visibility</p:attrName>
                                        </p:attrNameLst>
                                      </p:cBhvr>
                                      <p:to>
                                        <p:strVal val="visible"/>
                                      </p:to>
                                    </p:set>
                                    <p:animEffect transition="in" filter="slide(fromBottom)">
                                      <p:cBhvr>
                                        <p:cTn id="32" dur="500"/>
                                        <p:tgtEl>
                                          <p:spTgt spid="19865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98659">
                                            <p:txEl>
                                              <p:pRg st="6" end="6"/>
                                            </p:txEl>
                                          </p:spTgt>
                                        </p:tgtEl>
                                        <p:attrNameLst>
                                          <p:attrName>style.visibility</p:attrName>
                                        </p:attrNameLst>
                                      </p:cBhvr>
                                      <p:to>
                                        <p:strVal val="visible"/>
                                      </p:to>
                                    </p:set>
                                    <p:animEffect transition="in" filter="slide(fromBottom)">
                                      <p:cBhvr>
                                        <p:cTn id="37" dur="500"/>
                                        <p:tgtEl>
                                          <p:spTgt spid="19865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98659">
                                            <p:txEl>
                                              <p:pRg st="7" end="7"/>
                                            </p:txEl>
                                          </p:spTgt>
                                        </p:tgtEl>
                                        <p:attrNameLst>
                                          <p:attrName>style.visibility</p:attrName>
                                        </p:attrNameLst>
                                      </p:cBhvr>
                                      <p:to>
                                        <p:strVal val="visible"/>
                                      </p:to>
                                    </p:set>
                                    <p:animEffect transition="in" filter="slide(fromBottom)">
                                      <p:cBhvr>
                                        <p:cTn id="42" dur="500"/>
                                        <p:tgtEl>
                                          <p:spTgt spid="1986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a:t>Workshop Agenda</a:t>
            </a:r>
          </a:p>
        </p:txBody>
      </p:sp>
      <p:sp>
        <p:nvSpPr>
          <p:cNvPr id="199683" name="Rectangle 3"/>
          <p:cNvSpPr>
            <a:spLocks noGrp="1" noChangeArrowheads="1"/>
          </p:cNvSpPr>
          <p:nvPr>
            <p:ph type="body" idx="1"/>
          </p:nvPr>
        </p:nvSpPr>
        <p:spPr>
          <a:xfrm>
            <a:off x="457200" y="1371600"/>
            <a:ext cx="8229600" cy="3038475"/>
          </a:xfrm>
        </p:spPr>
        <p:txBody>
          <a:bodyPr/>
          <a:lstStyle/>
          <a:p>
            <a:pPr>
              <a:lnSpc>
                <a:spcPct val="90000"/>
              </a:lnSpc>
            </a:pPr>
            <a:r>
              <a:rPr lang="en-US" sz="2400"/>
              <a:t>Set an agenda before the workshop and publish it along with the other pre-workshop documentation.</a:t>
            </a:r>
          </a:p>
          <a:p>
            <a:pPr>
              <a:lnSpc>
                <a:spcPct val="90000"/>
              </a:lnSpc>
            </a:pPr>
            <a:r>
              <a:rPr lang="en-US" sz="2400"/>
              <a:t>Balance is the key, try to stay on the agenda, but do not strictly obey it, especially if good discussion is going on.</a:t>
            </a:r>
          </a:p>
          <a:p>
            <a:pPr>
              <a:lnSpc>
                <a:spcPct val="90000"/>
              </a:lnSpc>
            </a:pPr>
            <a:r>
              <a:rPr lang="en-US" sz="2400"/>
              <a:t>Order lunch in, and have a</a:t>
            </a:r>
            <a:r>
              <a:rPr lang="en-US" sz="2400" i="1"/>
              <a:t> light</a:t>
            </a:r>
            <a:r>
              <a:rPr lang="en-US" sz="2400"/>
              <a:t> working lunch.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99683">
                                            <p:txEl>
                                              <p:pRg st="0" end="0"/>
                                            </p:txEl>
                                          </p:spTgt>
                                        </p:tgtEl>
                                        <p:attrNameLst>
                                          <p:attrName>style.visibility</p:attrName>
                                        </p:attrNameLst>
                                      </p:cBhvr>
                                      <p:to>
                                        <p:strVal val="visible"/>
                                      </p:to>
                                    </p:set>
                                    <p:animEffect transition="in" filter="slide(fromBottom)">
                                      <p:cBhvr>
                                        <p:cTn id="7" dur="500"/>
                                        <p:tgtEl>
                                          <p:spTgt spid="199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99683">
                                            <p:txEl>
                                              <p:pRg st="1" end="1"/>
                                            </p:txEl>
                                          </p:spTgt>
                                        </p:tgtEl>
                                        <p:attrNameLst>
                                          <p:attrName>style.visibility</p:attrName>
                                        </p:attrNameLst>
                                      </p:cBhvr>
                                      <p:to>
                                        <p:strVal val="visible"/>
                                      </p:to>
                                    </p:set>
                                    <p:animEffect transition="in" filter="slide(fromBottom)">
                                      <p:cBhvr>
                                        <p:cTn id="12" dur="500"/>
                                        <p:tgtEl>
                                          <p:spTgt spid="1996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99683">
                                            <p:txEl>
                                              <p:pRg st="2" end="2"/>
                                            </p:txEl>
                                          </p:spTgt>
                                        </p:tgtEl>
                                        <p:attrNameLst>
                                          <p:attrName>style.visibility</p:attrName>
                                        </p:attrNameLst>
                                      </p:cBhvr>
                                      <p:to>
                                        <p:strVal val="visible"/>
                                      </p:to>
                                    </p:set>
                                    <p:animEffect transition="in" filter="slide(fromBottom)">
                                      <p:cBhvr>
                                        <p:cTn id="17" dur="500"/>
                                        <p:tgtEl>
                                          <p:spTgt spid="1996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en-US"/>
              <a:t>Running the Workshop</a:t>
            </a:r>
          </a:p>
        </p:txBody>
      </p:sp>
      <p:sp>
        <p:nvSpPr>
          <p:cNvPr id="200707" name="Rectangle 3"/>
          <p:cNvSpPr>
            <a:spLocks noGrp="1" noChangeArrowheads="1"/>
          </p:cNvSpPr>
          <p:nvPr>
            <p:ph type="body" idx="1"/>
          </p:nvPr>
        </p:nvSpPr>
        <p:spPr/>
        <p:txBody>
          <a:bodyPr>
            <a:normAutofit lnSpcReduction="10000"/>
          </a:bodyPr>
          <a:lstStyle/>
          <a:p>
            <a:pPr>
              <a:lnSpc>
                <a:spcPct val="90000"/>
              </a:lnSpc>
            </a:pPr>
            <a:r>
              <a:rPr lang="en-US" sz="2800"/>
              <a:t>Allow for human behavior, and have fun with it.</a:t>
            </a:r>
          </a:p>
          <a:p>
            <a:pPr lvl="1">
              <a:lnSpc>
                <a:spcPct val="90000"/>
              </a:lnSpc>
            </a:pPr>
            <a:r>
              <a:rPr lang="en-US" sz="2400"/>
              <a:t>Do not “attack” other members.</a:t>
            </a:r>
          </a:p>
          <a:p>
            <a:pPr lvl="1">
              <a:lnSpc>
                <a:spcPct val="90000"/>
              </a:lnSpc>
            </a:pPr>
            <a:r>
              <a:rPr lang="en-US" sz="2400"/>
              <a:t>Do not get on a soap box.</a:t>
            </a:r>
          </a:p>
          <a:p>
            <a:pPr lvl="1">
              <a:lnSpc>
                <a:spcPct val="90000"/>
              </a:lnSpc>
            </a:pPr>
            <a:r>
              <a:rPr lang="en-US" sz="2400"/>
              <a:t>Do not come back late from a break.</a:t>
            </a:r>
          </a:p>
          <a:p>
            <a:pPr>
              <a:lnSpc>
                <a:spcPct val="90000"/>
              </a:lnSpc>
            </a:pPr>
            <a:r>
              <a:rPr lang="en-US" sz="2800"/>
              <a:t>Workshop tickets</a:t>
            </a:r>
          </a:p>
          <a:p>
            <a:pPr lvl="1">
              <a:lnSpc>
                <a:spcPct val="90000"/>
              </a:lnSpc>
            </a:pPr>
            <a:r>
              <a:rPr lang="en-US" sz="2400"/>
              <a:t>Give every stakeholder 3 workshop tickets</a:t>
            </a:r>
          </a:p>
          <a:p>
            <a:pPr lvl="2">
              <a:lnSpc>
                <a:spcPct val="90000"/>
              </a:lnSpc>
            </a:pPr>
            <a:r>
              <a:rPr lang="en-US" sz="2000"/>
              <a:t>1 for being late</a:t>
            </a:r>
          </a:p>
          <a:p>
            <a:pPr lvl="2">
              <a:lnSpc>
                <a:spcPct val="90000"/>
              </a:lnSpc>
            </a:pPr>
            <a:r>
              <a:rPr lang="en-US" sz="2000"/>
              <a:t>1 for “cheap shot”</a:t>
            </a:r>
          </a:p>
          <a:p>
            <a:pPr lvl="2">
              <a:lnSpc>
                <a:spcPct val="90000"/>
              </a:lnSpc>
            </a:pPr>
            <a:r>
              <a:rPr lang="en-US" sz="2000"/>
              <a:t>1 for “soap box”</a:t>
            </a:r>
          </a:p>
          <a:p>
            <a:pPr lvl="1">
              <a:lnSpc>
                <a:spcPct val="90000"/>
              </a:lnSpc>
            </a:pPr>
            <a:r>
              <a:rPr lang="en-US" sz="2400"/>
              <a:t>Facilitator takes tickets when appropriate.  If you do not have a ticket create a fund to add to, like $1 to pot for after workshop activities.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animEffect transition="in" filter="slide(fromBottom)">
                                      <p:cBhvr>
                                        <p:cTn id="7" dur="500"/>
                                        <p:tgtEl>
                                          <p:spTgt spid="200707">
                                            <p:txEl>
                                              <p:pRg st="0" end="0"/>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200707">
                                            <p:txEl>
                                              <p:pRg st="1" end="1"/>
                                            </p:txEl>
                                          </p:spTgt>
                                        </p:tgtEl>
                                        <p:attrNameLst>
                                          <p:attrName>style.visibility</p:attrName>
                                        </p:attrNameLst>
                                      </p:cBhvr>
                                      <p:to>
                                        <p:strVal val="visible"/>
                                      </p:to>
                                    </p:set>
                                    <p:animEffect transition="in" filter="slide(fromBottom)">
                                      <p:cBhvr>
                                        <p:cTn id="10" dur="500"/>
                                        <p:tgtEl>
                                          <p:spTgt spid="200707">
                                            <p:txEl>
                                              <p:pRg st="1" end="1"/>
                                            </p:txEl>
                                          </p:spTgt>
                                        </p:tgtEl>
                                      </p:cBhvr>
                                    </p:animEffect>
                                  </p:childTnLst>
                                </p:cTn>
                              </p:par>
                              <p:par>
                                <p:cTn id="11" presetID="12" presetClass="entr" presetSubtype="4" fill="hold" grpId="0" nodeType="withEffect">
                                  <p:stCondLst>
                                    <p:cond delay="0"/>
                                  </p:stCondLst>
                                  <p:childTnLst>
                                    <p:set>
                                      <p:cBhvr>
                                        <p:cTn id="12" dur="1" fill="hold">
                                          <p:stCondLst>
                                            <p:cond delay="0"/>
                                          </p:stCondLst>
                                        </p:cTn>
                                        <p:tgtEl>
                                          <p:spTgt spid="200707">
                                            <p:txEl>
                                              <p:pRg st="2" end="2"/>
                                            </p:txEl>
                                          </p:spTgt>
                                        </p:tgtEl>
                                        <p:attrNameLst>
                                          <p:attrName>style.visibility</p:attrName>
                                        </p:attrNameLst>
                                      </p:cBhvr>
                                      <p:to>
                                        <p:strVal val="visible"/>
                                      </p:to>
                                    </p:set>
                                    <p:animEffect transition="in" filter="slide(fromBottom)">
                                      <p:cBhvr>
                                        <p:cTn id="13" dur="500"/>
                                        <p:tgtEl>
                                          <p:spTgt spid="200707">
                                            <p:txEl>
                                              <p:pRg st="2" end="2"/>
                                            </p:txEl>
                                          </p:spTgt>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200707">
                                            <p:txEl>
                                              <p:pRg st="3" end="3"/>
                                            </p:txEl>
                                          </p:spTgt>
                                        </p:tgtEl>
                                        <p:attrNameLst>
                                          <p:attrName>style.visibility</p:attrName>
                                        </p:attrNameLst>
                                      </p:cBhvr>
                                      <p:to>
                                        <p:strVal val="visible"/>
                                      </p:to>
                                    </p:set>
                                    <p:animEffect transition="in" filter="slide(fromBottom)">
                                      <p:cBhvr>
                                        <p:cTn id="16" dur="500"/>
                                        <p:tgtEl>
                                          <p:spTgt spid="20070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200707">
                                            <p:txEl>
                                              <p:pRg st="4" end="4"/>
                                            </p:txEl>
                                          </p:spTgt>
                                        </p:tgtEl>
                                        <p:attrNameLst>
                                          <p:attrName>style.visibility</p:attrName>
                                        </p:attrNameLst>
                                      </p:cBhvr>
                                      <p:to>
                                        <p:strVal val="visible"/>
                                      </p:to>
                                    </p:set>
                                    <p:animEffect transition="in" filter="slide(fromBottom)">
                                      <p:cBhvr>
                                        <p:cTn id="21" dur="500"/>
                                        <p:tgtEl>
                                          <p:spTgt spid="200707">
                                            <p:txEl>
                                              <p:pRg st="4" end="4"/>
                                            </p:txEl>
                                          </p:spTgt>
                                        </p:tgtEl>
                                      </p:cBhvr>
                                    </p:animEffect>
                                  </p:childTnLst>
                                </p:cTn>
                              </p:par>
                              <p:par>
                                <p:cTn id="22" presetID="12" presetClass="entr" presetSubtype="4" fill="hold" grpId="0" nodeType="withEffect">
                                  <p:stCondLst>
                                    <p:cond delay="0"/>
                                  </p:stCondLst>
                                  <p:childTnLst>
                                    <p:set>
                                      <p:cBhvr>
                                        <p:cTn id="23" dur="1" fill="hold">
                                          <p:stCondLst>
                                            <p:cond delay="0"/>
                                          </p:stCondLst>
                                        </p:cTn>
                                        <p:tgtEl>
                                          <p:spTgt spid="200707">
                                            <p:txEl>
                                              <p:pRg st="5" end="5"/>
                                            </p:txEl>
                                          </p:spTgt>
                                        </p:tgtEl>
                                        <p:attrNameLst>
                                          <p:attrName>style.visibility</p:attrName>
                                        </p:attrNameLst>
                                      </p:cBhvr>
                                      <p:to>
                                        <p:strVal val="visible"/>
                                      </p:to>
                                    </p:set>
                                    <p:animEffect transition="in" filter="slide(fromBottom)">
                                      <p:cBhvr>
                                        <p:cTn id="24" dur="500"/>
                                        <p:tgtEl>
                                          <p:spTgt spid="200707">
                                            <p:txEl>
                                              <p:pRg st="5" end="5"/>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200707">
                                            <p:txEl>
                                              <p:pRg st="6" end="6"/>
                                            </p:txEl>
                                          </p:spTgt>
                                        </p:tgtEl>
                                        <p:attrNameLst>
                                          <p:attrName>style.visibility</p:attrName>
                                        </p:attrNameLst>
                                      </p:cBhvr>
                                      <p:to>
                                        <p:strVal val="visible"/>
                                      </p:to>
                                    </p:set>
                                    <p:animEffect transition="in" filter="slide(fromBottom)">
                                      <p:cBhvr>
                                        <p:cTn id="27" dur="500"/>
                                        <p:tgtEl>
                                          <p:spTgt spid="200707">
                                            <p:txEl>
                                              <p:pRg st="6" end="6"/>
                                            </p:txEl>
                                          </p:spTgt>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200707">
                                            <p:txEl>
                                              <p:pRg st="7" end="7"/>
                                            </p:txEl>
                                          </p:spTgt>
                                        </p:tgtEl>
                                        <p:attrNameLst>
                                          <p:attrName>style.visibility</p:attrName>
                                        </p:attrNameLst>
                                      </p:cBhvr>
                                      <p:to>
                                        <p:strVal val="visible"/>
                                      </p:to>
                                    </p:set>
                                    <p:animEffect transition="in" filter="slide(fromBottom)">
                                      <p:cBhvr>
                                        <p:cTn id="30" dur="500"/>
                                        <p:tgtEl>
                                          <p:spTgt spid="200707">
                                            <p:txEl>
                                              <p:pRg st="7" end="7"/>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200707">
                                            <p:txEl>
                                              <p:pRg st="8" end="8"/>
                                            </p:txEl>
                                          </p:spTgt>
                                        </p:tgtEl>
                                        <p:attrNameLst>
                                          <p:attrName>style.visibility</p:attrName>
                                        </p:attrNameLst>
                                      </p:cBhvr>
                                      <p:to>
                                        <p:strVal val="visible"/>
                                      </p:to>
                                    </p:set>
                                    <p:animEffect transition="in" filter="slide(fromBottom)">
                                      <p:cBhvr>
                                        <p:cTn id="33" dur="500"/>
                                        <p:tgtEl>
                                          <p:spTgt spid="200707">
                                            <p:txEl>
                                              <p:pRg st="8" end="8"/>
                                            </p:txEl>
                                          </p:spTgt>
                                        </p:tgtEl>
                                      </p:cBhvr>
                                    </p:animEffect>
                                  </p:childTnLst>
                                </p:cTn>
                              </p:par>
                              <p:par>
                                <p:cTn id="34" presetID="12" presetClass="entr" presetSubtype="4" fill="hold" grpId="0" nodeType="withEffect">
                                  <p:stCondLst>
                                    <p:cond delay="0"/>
                                  </p:stCondLst>
                                  <p:childTnLst>
                                    <p:set>
                                      <p:cBhvr>
                                        <p:cTn id="35" dur="1" fill="hold">
                                          <p:stCondLst>
                                            <p:cond delay="0"/>
                                          </p:stCondLst>
                                        </p:cTn>
                                        <p:tgtEl>
                                          <p:spTgt spid="200707">
                                            <p:txEl>
                                              <p:pRg st="9" end="9"/>
                                            </p:txEl>
                                          </p:spTgt>
                                        </p:tgtEl>
                                        <p:attrNameLst>
                                          <p:attrName>style.visibility</p:attrName>
                                        </p:attrNameLst>
                                      </p:cBhvr>
                                      <p:to>
                                        <p:strVal val="visible"/>
                                      </p:to>
                                    </p:set>
                                    <p:animEffect transition="in" filter="slide(fromBottom)">
                                      <p:cBhvr>
                                        <p:cTn id="36" dur="500"/>
                                        <p:tgtEl>
                                          <p:spTgt spid="20070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normAutofit fontScale="90000"/>
          </a:bodyPr>
          <a:lstStyle/>
          <a:p>
            <a:r>
              <a:rPr lang="en-US" sz="4000"/>
              <a:t>Workshop Problems and Solutions</a:t>
            </a:r>
          </a:p>
        </p:txBody>
      </p:sp>
      <p:sp>
        <p:nvSpPr>
          <p:cNvPr id="201731" name="Rectangle 3"/>
          <p:cNvSpPr>
            <a:spLocks noGrp="1" noChangeArrowheads="1"/>
          </p:cNvSpPr>
          <p:nvPr>
            <p:ph type="body" sz="half" idx="1"/>
          </p:nvPr>
        </p:nvSpPr>
        <p:spPr/>
        <p:txBody>
          <a:bodyPr/>
          <a:lstStyle/>
          <a:p>
            <a:pPr>
              <a:lnSpc>
                <a:spcPct val="90000"/>
              </a:lnSpc>
            </a:pPr>
            <a:r>
              <a:rPr lang="en-US" sz="2000"/>
              <a:t>Time Management</a:t>
            </a:r>
          </a:p>
          <a:p>
            <a:pPr lvl="1">
              <a:lnSpc>
                <a:spcPct val="90000"/>
              </a:lnSpc>
            </a:pPr>
            <a:r>
              <a:rPr lang="en-US" sz="1800"/>
              <a:t>It’s difficult to get going after breaks and lunch.</a:t>
            </a:r>
          </a:p>
          <a:p>
            <a:pPr lvl="1">
              <a:lnSpc>
                <a:spcPct val="90000"/>
              </a:lnSpc>
            </a:pPr>
            <a:r>
              <a:rPr lang="en-US" sz="1800"/>
              <a:t>Key shareholders may be late returning</a:t>
            </a:r>
          </a:p>
          <a:p>
            <a:pPr>
              <a:lnSpc>
                <a:spcPct val="90000"/>
              </a:lnSpc>
            </a:pPr>
            <a:r>
              <a:rPr lang="en-US" sz="2000"/>
              <a:t>Grandstanding, domineering positions</a:t>
            </a:r>
          </a:p>
          <a:p>
            <a:pPr>
              <a:lnSpc>
                <a:spcPct val="90000"/>
              </a:lnSpc>
            </a:pPr>
            <a:r>
              <a:rPr lang="en-US" sz="2000"/>
              <a:t>Lack of input from stakeholders</a:t>
            </a:r>
          </a:p>
          <a:p>
            <a:pPr>
              <a:lnSpc>
                <a:spcPct val="90000"/>
              </a:lnSpc>
            </a:pPr>
            <a:endParaRPr lang="en-US" sz="2000"/>
          </a:p>
          <a:p>
            <a:pPr>
              <a:lnSpc>
                <a:spcPct val="90000"/>
              </a:lnSpc>
            </a:pPr>
            <a:endParaRPr lang="en-US" sz="2000"/>
          </a:p>
          <a:p>
            <a:pPr>
              <a:lnSpc>
                <a:spcPct val="90000"/>
              </a:lnSpc>
            </a:pPr>
            <a:r>
              <a:rPr lang="en-US" sz="2000"/>
              <a:t>Negative comments, petty behaviors, and turf wars</a:t>
            </a:r>
          </a:p>
          <a:p>
            <a:pPr>
              <a:lnSpc>
                <a:spcPct val="90000"/>
              </a:lnSpc>
            </a:pPr>
            <a:r>
              <a:rPr lang="en-US" sz="2000"/>
              <a:t>Flagging energy after lunch</a:t>
            </a:r>
          </a:p>
        </p:txBody>
      </p:sp>
      <p:sp>
        <p:nvSpPr>
          <p:cNvPr id="201732" name="Rectangle 4"/>
          <p:cNvSpPr>
            <a:spLocks noGrp="1" noChangeArrowheads="1"/>
          </p:cNvSpPr>
          <p:nvPr>
            <p:ph type="body" sz="half" idx="2"/>
          </p:nvPr>
        </p:nvSpPr>
        <p:spPr/>
        <p:txBody>
          <a:bodyPr>
            <a:normAutofit fontScale="92500" lnSpcReduction="10000"/>
          </a:bodyPr>
          <a:lstStyle/>
          <a:p>
            <a:pPr>
              <a:lnSpc>
                <a:spcPct val="90000"/>
              </a:lnSpc>
            </a:pPr>
            <a:r>
              <a:rPr lang="en-US" sz="2000"/>
              <a:t>Facilitator keeps a timer for all breaks and fines anyone that is late, everyone gets one free pass.</a:t>
            </a:r>
          </a:p>
          <a:p>
            <a:pPr>
              <a:lnSpc>
                <a:spcPct val="90000"/>
              </a:lnSpc>
            </a:pPr>
            <a:endParaRPr lang="en-US" sz="2000"/>
          </a:p>
          <a:p>
            <a:pPr>
              <a:lnSpc>
                <a:spcPct val="90000"/>
              </a:lnSpc>
            </a:pPr>
            <a:r>
              <a:rPr lang="en-US" sz="2000"/>
              <a:t>Everyone gets one 5 minute position statement.  </a:t>
            </a:r>
          </a:p>
          <a:p>
            <a:pPr>
              <a:lnSpc>
                <a:spcPct val="90000"/>
              </a:lnSpc>
            </a:pPr>
            <a:r>
              <a:rPr lang="en-US" sz="2000"/>
              <a:t>Facilitator encourages everyone to use 5-minute position and great idea ticket.</a:t>
            </a:r>
          </a:p>
          <a:p>
            <a:pPr>
              <a:lnSpc>
                <a:spcPct val="90000"/>
              </a:lnSpc>
            </a:pPr>
            <a:endParaRPr lang="en-US" sz="2000"/>
          </a:p>
          <a:p>
            <a:pPr>
              <a:lnSpc>
                <a:spcPct val="90000"/>
              </a:lnSpc>
            </a:pPr>
            <a:r>
              <a:rPr lang="en-US" sz="2000"/>
              <a:t>Use “Cheap Shot Tickets”, all others go into the fine pot.</a:t>
            </a:r>
          </a:p>
          <a:p>
            <a:pPr>
              <a:lnSpc>
                <a:spcPct val="90000"/>
              </a:lnSpc>
            </a:pPr>
            <a:r>
              <a:rPr lang="en-US" sz="2000"/>
              <a:t>Lite lunches, afternoon breaks, rearrange seating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animEffect transition="in" filter="checkerboard(across)">
                                      <p:cBhvr>
                                        <p:cTn id="7" dur="500"/>
                                        <p:tgtEl>
                                          <p:spTgt spid="201731">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01731">
                                            <p:txEl>
                                              <p:pRg st="1" end="1"/>
                                            </p:txEl>
                                          </p:spTgt>
                                        </p:tgtEl>
                                        <p:attrNameLst>
                                          <p:attrName>style.visibility</p:attrName>
                                        </p:attrNameLst>
                                      </p:cBhvr>
                                      <p:to>
                                        <p:strVal val="visible"/>
                                      </p:to>
                                    </p:set>
                                    <p:animEffect transition="in" filter="checkerboard(across)">
                                      <p:cBhvr>
                                        <p:cTn id="10" dur="500"/>
                                        <p:tgtEl>
                                          <p:spTgt spid="201731">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01731">
                                            <p:txEl>
                                              <p:pRg st="2" end="2"/>
                                            </p:txEl>
                                          </p:spTgt>
                                        </p:tgtEl>
                                        <p:attrNameLst>
                                          <p:attrName>style.visibility</p:attrName>
                                        </p:attrNameLst>
                                      </p:cBhvr>
                                      <p:to>
                                        <p:strVal val="visible"/>
                                      </p:to>
                                    </p:set>
                                    <p:animEffect transition="in" filter="checkerboard(across)">
                                      <p:cBhvr>
                                        <p:cTn id="13" dur="500"/>
                                        <p:tgtEl>
                                          <p:spTgt spid="20173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201731">
                                            <p:txEl>
                                              <p:pRg st="3" end="3"/>
                                            </p:txEl>
                                          </p:spTgt>
                                        </p:tgtEl>
                                        <p:attrNameLst>
                                          <p:attrName>style.visibility</p:attrName>
                                        </p:attrNameLst>
                                      </p:cBhvr>
                                      <p:to>
                                        <p:strVal val="visible"/>
                                      </p:to>
                                    </p:set>
                                    <p:animEffect transition="in" filter="checkerboard(across)">
                                      <p:cBhvr>
                                        <p:cTn id="18" dur="500"/>
                                        <p:tgtEl>
                                          <p:spTgt spid="201731">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01731">
                                            <p:txEl>
                                              <p:pRg st="4" end="4"/>
                                            </p:txEl>
                                          </p:spTgt>
                                        </p:tgtEl>
                                        <p:attrNameLst>
                                          <p:attrName>style.visibility</p:attrName>
                                        </p:attrNameLst>
                                      </p:cBhvr>
                                      <p:to>
                                        <p:strVal val="visible"/>
                                      </p:to>
                                    </p:set>
                                    <p:animEffect transition="in" filter="checkerboard(across)">
                                      <p:cBhvr>
                                        <p:cTn id="23" dur="500"/>
                                        <p:tgtEl>
                                          <p:spTgt spid="20173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201731">
                                            <p:txEl>
                                              <p:pRg st="7" end="7"/>
                                            </p:txEl>
                                          </p:spTgt>
                                        </p:tgtEl>
                                        <p:attrNameLst>
                                          <p:attrName>style.visibility</p:attrName>
                                        </p:attrNameLst>
                                      </p:cBhvr>
                                      <p:to>
                                        <p:strVal val="visible"/>
                                      </p:to>
                                    </p:set>
                                    <p:animEffect transition="in" filter="checkerboard(across)">
                                      <p:cBhvr>
                                        <p:cTn id="28" dur="500"/>
                                        <p:tgtEl>
                                          <p:spTgt spid="201731">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201731">
                                            <p:txEl>
                                              <p:pRg st="8" end="8"/>
                                            </p:txEl>
                                          </p:spTgt>
                                        </p:tgtEl>
                                        <p:attrNameLst>
                                          <p:attrName>style.visibility</p:attrName>
                                        </p:attrNameLst>
                                      </p:cBhvr>
                                      <p:to>
                                        <p:strVal val="visible"/>
                                      </p:to>
                                    </p:set>
                                    <p:animEffect transition="in" filter="checkerboard(across)">
                                      <p:cBhvr>
                                        <p:cTn id="33" dur="500"/>
                                        <p:tgtEl>
                                          <p:spTgt spid="201731">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01732">
                                            <p:txEl>
                                              <p:pRg st="0" end="0"/>
                                            </p:txEl>
                                          </p:spTgt>
                                        </p:tgtEl>
                                        <p:attrNameLst>
                                          <p:attrName>style.visibility</p:attrName>
                                        </p:attrNameLst>
                                      </p:cBhvr>
                                      <p:to>
                                        <p:strVal val="visible"/>
                                      </p:to>
                                    </p:set>
                                    <p:animEffect transition="in" filter="blinds(horizontal)">
                                      <p:cBhvr>
                                        <p:cTn id="38" dur="500"/>
                                        <p:tgtEl>
                                          <p:spTgt spid="201732">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01732">
                                            <p:txEl>
                                              <p:pRg st="2" end="2"/>
                                            </p:txEl>
                                          </p:spTgt>
                                        </p:tgtEl>
                                        <p:attrNameLst>
                                          <p:attrName>style.visibility</p:attrName>
                                        </p:attrNameLst>
                                      </p:cBhvr>
                                      <p:to>
                                        <p:strVal val="visible"/>
                                      </p:to>
                                    </p:set>
                                    <p:animEffect transition="in" filter="blinds(horizontal)">
                                      <p:cBhvr>
                                        <p:cTn id="43" dur="500"/>
                                        <p:tgtEl>
                                          <p:spTgt spid="201732">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01732">
                                            <p:txEl>
                                              <p:pRg st="3" end="3"/>
                                            </p:txEl>
                                          </p:spTgt>
                                        </p:tgtEl>
                                        <p:attrNameLst>
                                          <p:attrName>style.visibility</p:attrName>
                                        </p:attrNameLst>
                                      </p:cBhvr>
                                      <p:to>
                                        <p:strVal val="visible"/>
                                      </p:to>
                                    </p:set>
                                    <p:animEffect transition="in" filter="blinds(horizontal)">
                                      <p:cBhvr>
                                        <p:cTn id="48" dur="500"/>
                                        <p:tgtEl>
                                          <p:spTgt spid="201732">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01732">
                                            <p:txEl>
                                              <p:pRg st="5" end="5"/>
                                            </p:txEl>
                                          </p:spTgt>
                                        </p:tgtEl>
                                        <p:attrNameLst>
                                          <p:attrName>style.visibility</p:attrName>
                                        </p:attrNameLst>
                                      </p:cBhvr>
                                      <p:to>
                                        <p:strVal val="visible"/>
                                      </p:to>
                                    </p:set>
                                    <p:animEffect transition="in" filter="blinds(horizontal)">
                                      <p:cBhvr>
                                        <p:cTn id="53" dur="500"/>
                                        <p:tgtEl>
                                          <p:spTgt spid="201732">
                                            <p:txEl>
                                              <p:pRg st="5" end="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01732">
                                            <p:txEl>
                                              <p:pRg st="6" end="6"/>
                                            </p:txEl>
                                          </p:spTgt>
                                        </p:tgtEl>
                                        <p:attrNameLst>
                                          <p:attrName>style.visibility</p:attrName>
                                        </p:attrNameLst>
                                      </p:cBhvr>
                                      <p:to>
                                        <p:strVal val="visible"/>
                                      </p:to>
                                    </p:set>
                                    <p:animEffect transition="in" filter="blinds(horizontal)">
                                      <p:cBhvr>
                                        <p:cTn id="58" dur="500"/>
                                        <p:tgtEl>
                                          <p:spTgt spid="20173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uild="p"/>
      <p:bldP spid="20173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1" name="Rectangle 3"/>
          <p:cNvSpPr>
            <a:spLocks noGrp="1" noChangeArrowheads="1"/>
          </p:cNvSpPr>
          <p:nvPr>
            <p:ph type="body" idx="1"/>
          </p:nvPr>
        </p:nvSpPr>
        <p:spPr/>
        <p:txBody>
          <a:bodyPr/>
          <a:lstStyle/>
          <a:p>
            <a:r>
              <a:rPr lang="pl-PL" dirty="0" smtClean="0"/>
              <a:t>A Storyboard is a logical and conceptual description of system functionality for a specific scenario, including the interaction required between the system users and the system. </a:t>
            </a:r>
            <a:endParaRPr lang="en-GB" dirty="0" smtClean="0"/>
          </a:p>
          <a:p>
            <a:r>
              <a:rPr lang="en-US" dirty="0" smtClean="0"/>
              <a:t>A Storyboard is a sequence of images which demonstrate the relationship between individual screens and actions within a system</a:t>
            </a:r>
          </a:p>
          <a:p>
            <a:r>
              <a:rPr lang="pl-PL" dirty="0" smtClean="0"/>
              <a:t>A Storyboard "tells a specific story". </a:t>
            </a:r>
            <a:endParaRPr lang="en-US" dirty="0"/>
          </a:p>
        </p:txBody>
      </p:sp>
      <p:sp>
        <p:nvSpPr>
          <p:cNvPr id="247810" name="Rectangle 2"/>
          <p:cNvSpPr>
            <a:spLocks noGrp="1" noChangeArrowheads="1"/>
          </p:cNvSpPr>
          <p:nvPr>
            <p:ph type="title"/>
          </p:nvPr>
        </p:nvSpPr>
        <p:spPr/>
        <p:txBody>
          <a:bodyPr/>
          <a:lstStyle/>
          <a:p>
            <a:r>
              <a:rPr lang="pl-PL" smtClean="0"/>
              <a:t>Storyboard</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3" name="Rectangle 3"/>
          <p:cNvSpPr>
            <a:spLocks noGrp="1" noChangeArrowheads="1"/>
          </p:cNvSpPr>
          <p:nvPr>
            <p:ph type="body" idx="1"/>
          </p:nvPr>
        </p:nvSpPr>
        <p:spPr/>
        <p:txBody>
          <a:bodyPr>
            <a:normAutofit fontScale="92500"/>
          </a:bodyPr>
          <a:lstStyle/>
          <a:p>
            <a:r>
              <a:rPr lang="en-US" dirty="0" smtClean="0"/>
              <a:t>Scripted walkthrough of system activities and/or screen mockups</a:t>
            </a:r>
          </a:p>
          <a:p>
            <a:r>
              <a:rPr lang="en-US" dirty="0" smtClean="0"/>
              <a:t>Storyboards identify the players, explain what happens to them, and describes how it happens.</a:t>
            </a:r>
          </a:p>
          <a:p>
            <a:r>
              <a:rPr lang="en-US" dirty="0" smtClean="0"/>
              <a:t>Typically expressed in the form of activity diagrams</a:t>
            </a:r>
          </a:p>
          <a:p>
            <a:pPr lvl="1"/>
            <a:r>
              <a:rPr lang="en-US" dirty="0" smtClean="0"/>
              <a:t>to show workflow or performed actions</a:t>
            </a:r>
          </a:p>
          <a:p>
            <a:pPr lvl="1"/>
            <a:r>
              <a:rPr lang="en-US" dirty="0" smtClean="0"/>
              <a:t>may be partitioned to show control flow between different classes</a:t>
            </a:r>
          </a:p>
          <a:p>
            <a:r>
              <a:rPr lang="en-US" dirty="0" smtClean="0"/>
              <a:t>Usually tied to use cases</a:t>
            </a:r>
          </a:p>
          <a:p>
            <a:pPr lvl="1"/>
            <a:r>
              <a:rPr lang="en-US" dirty="0" smtClean="0"/>
              <a:t>activity partitions correspond to actors</a:t>
            </a:r>
            <a:endParaRPr lang="en-US" dirty="0"/>
          </a:p>
        </p:txBody>
      </p:sp>
      <p:sp>
        <p:nvSpPr>
          <p:cNvPr id="250882" name="Rectangle 2"/>
          <p:cNvSpPr>
            <a:spLocks noGrp="1" noChangeArrowheads="1"/>
          </p:cNvSpPr>
          <p:nvPr>
            <p:ph type="title"/>
          </p:nvPr>
        </p:nvSpPr>
        <p:spPr/>
        <p:txBody>
          <a:bodyPr/>
          <a:lstStyle/>
          <a:p>
            <a:r>
              <a:rPr lang="en-US" smtClean="0"/>
              <a:t>Storyboarding</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body" idx="1"/>
          </p:nvPr>
        </p:nvSpPr>
        <p:spPr/>
        <p:txBody>
          <a:bodyPr>
            <a:normAutofit fontScale="92500" lnSpcReduction="20000"/>
          </a:bodyPr>
          <a:lstStyle/>
          <a:p>
            <a:r>
              <a:rPr lang="en-GB" smtClean="0"/>
              <a:t>Passive storyboards</a:t>
            </a:r>
          </a:p>
          <a:p>
            <a:pPr lvl="1"/>
            <a:r>
              <a:rPr lang="en-GB" smtClean="0"/>
              <a:t>Tell a story to the user.</a:t>
            </a:r>
          </a:p>
          <a:p>
            <a:pPr lvl="1"/>
            <a:r>
              <a:rPr lang="en-GB" smtClean="0"/>
              <a:t>Consist of sketches, pictures, screen shots, PowerPoint presentations, or sample application outputs. </a:t>
            </a:r>
          </a:p>
          <a:p>
            <a:pPr lvl="1"/>
            <a:r>
              <a:rPr lang="en-GB" smtClean="0"/>
              <a:t>Walks the user through the storyboard, with a "When you do this, this happens" explanation.</a:t>
            </a:r>
          </a:p>
          <a:p>
            <a:r>
              <a:rPr lang="en-GB" smtClean="0"/>
              <a:t>Active storyboards </a:t>
            </a:r>
          </a:p>
          <a:p>
            <a:pPr lvl="1"/>
            <a:r>
              <a:rPr lang="en-GB" smtClean="0"/>
              <a:t>Try to make the user see "a movie that hasn't actually been produced yet.“</a:t>
            </a:r>
          </a:p>
          <a:p>
            <a:pPr lvl="1"/>
            <a:r>
              <a:rPr lang="en-GB" smtClean="0"/>
              <a:t>Provide an automated description of the way the system behaves in a typical usage or operational scenario.</a:t>
            </a:r>
          </a:p>
          <a:p>
            <a:r>
              <a:rPr lang="en-GB" smtClean="0"/>
              <a:t>Interactive storyboards </a:t>
            </a:r>
          </a:p>
          <a:p>
            <a:pPr lvl="1"/>
            <a:r>
              <a:rPr lang="en-GB" smtClean="0"/>
              <a:t>Let the user experience the system in as realistic a manner as practical. </a:t>
            </a:r>
          </a:p>
          <a:p>
            <a:pPr lvl="1"/>
            <a:r>
              <a:rPr lang="en-GB" smtClean="0"/>
              <a:t>Require participation by the user. </a:t>
            </a:r>
            <a:endParaRPr lang="en-GB"/>
          </a:p>
        </p:txBody>
      </p:sp>
      <p:sp>
        <p:nvSpPr>
          <p:cNvPr id="240642" name="Rectangle 2"/>
          <p:cNvSpPr>
            <a:spLocks noGrp="1" noChangeArrowheads="1"/>
          </p:cNvSpPr>
          <p:nvPr>
            <p:ph type="title"/>
          </p:nvPr>
        </p:nvSpPr>
        <p:spPr/>
        <p:txBody>
          <a:bodyPr/>
          <a:lstStyle/>
          <a:p>
            <a:r>
              <a:rPr lang="en-GB" smtClean="0"/>
              <a:t>Types of Storyboards</a:t>
            </a:r>
            <a:endParaRPr lang="en-GB"/>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1668" name="Object 4"/>
          <p:cNvGraphicFramePr>
            <a:graphicFrameLocks noGrp="1" noChangeAspect="1"/>
          </p:cNvGraphicFramePr>
          <p:nvPr>
            <p:ph idx="1"/>
          </p:nvPr>
        </p:nvGraphicFramePr>
        <p:xfrm>
          <a:off x="1219200" y="1677324"/>
          <a:ext cx="6797232" cy="4190075"/>
        </p:xfrm>
        <a:graphic>
          <a:graphicData uri="http://schemas.openxmlformats.org/presentationml/2006/ole">
            <mc:AlternateContent xmlns:mc="http://schemas.openxmlformats.org/markup-compatibility/2006">
              <mc:Choice xmlns:v="urn:schemas-microsoft-com:vml" Requires="v">
                <p:oleObj spid="_x0000_s3077" name="Bitmap Image" r:id="rId3" imgW="4866667" imgH="3000000" progId="PBrush">
                  <p:embed/>
                </p:oleObj>
              </mc:Choice>
              <mc:Fallback>
                <p:oleObj name="Bitmap Image" r:id="rId3" imgW="4866667" imgH="3000000"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677324"/>
                        <a:ext cx="6797232" cy="419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1669" name="Rectangle 5"/>
          <p:cNvSpPr>
            <a:spLocks noGrp="1" noChangeArrowheads="1"/>
          </p:cNvSpPr>
          <p:nvPr>
            <p:ph type="title"/>
          </p:nvPr>
        </p:nvSpPr>
        <p:spPr/>
        <p:txBody>
          <a:bodyPr/>
          <a:lstStyle/>
          <a:p>
            <a:r>
              <a:rPr lang="en-GB" smtClean="0"/>
              <a:t>Storyboarding Continuum</a:t>
            </a:r>
            <a:endParaRPr lang="en-GB"/>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type="body" idx="1"/>
          </p:nvPr>
        </p:nvSpPr>
        <p:spPr/>
        <p:txBody>
          <a:bodyPr>
            <a:normAutofit lnSpcReduction="10000"/>
          </a:bodyPr>
          <a:lstStyle/>
          <a:p>
            <a:r>
              <a:rPr lang="en-GB" smtClean="0"/>
              <a:t>In software, storyboards are used most often to work through the details of the human-to-machine interface. </a:t>
            </a:r>
          </a:p>
          <a:p>
            <a:r>
              <a:rPr lang="en-GB" smtClean="0"/>
              <a:t>In this area, generally one of high volatility, each user is likely to have a different opinion of how the interface should work. </a:t>
            </a:r>
          </a:p>
          <a:p>
            <a:r>
              <a:rPr lang="en-GB" smtClean="0"/>
              <a:t>Storyboards for user-based systems deal with the three essential elements of any activity:</a:t>
            </a:r>
          </a:p>
          <a:p>
            <a:pPr lvl="1"/>
            <a:r>
              <a:rPr lang="en-GB" smtClean="0"/>
              <a:t>Who the players are</a:t>
            </a:r>
          </a:p>
          <a:p>
            <a:pPr lvl="1"/>
            <a:r>
              <a:rPr lang="en-GB" smtClean="0"/>
              <a:t>What happens to them</a:t>
            </a:r>
          </a:p>
          <a:p>
            <a:pPr lvl="1"/>
            <a:r>
              <a:rPr lang="en-GB" smtClean="0"/>
              <a:t>How it happens</a:t>
            </a:r>
            <a:endParaRPr lang="en-GB"/>
          </a:p>
        </p:txBody>
      </p:sp>
      <p:sp>
        <p:nvSpPr>
          <p:cNvPr id="243714" name="Rectangle 2"/>
          <p:cNvSpPr>
            <a:spLocks noGrp="1" noChangeArrowheads="1"/>
          </p:cNvSpPr>
          <p:nvPr>
            <p:ph type="title"/>
          </p:nvPr>
        </p:nvSpPr>
        <p:spPr/>
        <p:txBody>
          <a:bodyPr/>
          <a:lstStyle/>
          <a:p>
            <a:r>
              <a:rPr lang="en-US" smtClean="0"/>
              <a:t>What S</a:t>
            </a:r>
            <a:r>
              <a:rPr lang="en-GB" smtClean="0"/>
              <a:t>toryboards Do</a:t>
            </a:r>
            <a:endParaRPr lang="en-GB"/>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1907" name="Picture 3"/>
          <p:cNvPicPr>
            <a:picLocks noGrp="1" noChangeAspect="1" noChangeArrowheads="1"/>
          </p:cNvPicPr>
          <p:nvPr>
            <p:ph type="body" idx="1"/>
          </p:nvPr>
        </p:nvPicPr>
        <p:blipFill>
          <a:blip r:embed="rId2"/>
          <a:srcRect/>
          <a:stretch>
            <a:fillRect/>
          </a:stretch>
        </p:blipFill>
        <p:spPr>
          <a:xfrm>
            <a:off x="990600" y="990600"/>
            <a:ext cx="7934292" cy="5043804"/>
          </a:xfrm>
        </p:spPr>
      </p:pic>
      <p:sp>
        <p:nvSpPr>
          <p:cNvPr id="251906" name="Rectangle 2"/>
          <p:cNvSpPr>
            <a:spLocks noGrp="1" noChangeArrowheads="1"/>
          </p:cNvSpPr>
          <p:nvPr>
            <p:ph type="title"/>
          </p:nvPr>
        </p:nvSpPr>
        <p:spPr/>
        <p:txBody>
          <a:bodyPr/>
          <a:lstStyle/>
          <a:p>
            <a:r>
              <a:rPr lang="en-US" smtClean="0"/>
              <a:t>A Sample Storyboard</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979" name="Picture 3"/>
          <p:cNvPicPr>
            <a:picLocks noGrp="1" noChangeAspect="1" noChangeArrowheads="1"/>
          </p:cNvPicPr>
          <p:nvPr>
            <p:ph type="body" idx="1"/>
          </p:nvPr>
        </p:nvPicPr>
        <p:blipFill>
          <a:blip r:embed="rId2"/>
          <a:srcRect/>
          <a:stretch>
            <a:fillRect/>
          </a:stretch>
        </p:blipFill>
        <p:spPr>
          <a:xfrm>
            <a:off x="457200" y="1143000"/>
            <a:ext cx="8686800" cy="4703045"/>
          </a:xfrm>
        </p:spPr>
      </p:pic>
      <p:sp>
        <p:nvSpPr>
          <p:cNvPr id="254978" name="Rectangle 2"/>
          <p:cNvSpPr>
            <a:spLocks noGrp="1" noChangeArrowheads="1"/>
          </p:cNvSpPr>
          <p:nvPr>
            <p:ph type="title"/>
          </p:nvPr>
        </p:nvSpPr>
        <p:spPr/>
        <p:txBody>
          <a:bodyPr/>
          <a:lstStyle/>
          <a:p>
            <a:r>
              <a:rPr lang="en-US" smtClean="0"/>
              <a:t>Animating a Storyboard</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ctrTitle"/>
          </p:nvPr>
        </p:nvSpPr>
        <p:spPr/>
        <p:txBody>
          <a:bodyPr>
            <a:normAutofit/>
          </a:bodyPr>
          <a:lstStyle/>
          <a:p>
            <a:pPr algn="ctr"/>
            <a:r>
              <a:rPr lang="en-US" sz="9600" dirty="0"/>
              <a:t>Q</a:t>
            </a:r>
            <a:r>
              <a:rPr lang="en-US" sz="8000" dirty="0"/>
              <a:t>&amp;</a:t>
            </a:r>
            <a:r>
              <a:rPr lang="en-US" sz="9600" dirty="0"/>
              <a:t>A</a:t>
            </a:r>
          </a:p>
        </p:txBody>
      </p:sp>
      <p:sp>
        <p:nvSpPr>
          <p:cNvPr id="553987" name="Rectangle 3"/>
          <p:cNvSpPr>
            <a:spLocks noGrp="1" noChangeArrowheads="1"/>
          </p:cNvSpPr>
          <p:nvPr>
            <p:ph type="subTitle" idx="1"/>
          </p:nvPr>
        </p:nvSpPr>
        <p:spPr/>
        <p:txBody>
          <a:bodyPr/>
          <a:lstStyle/>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1340</TotalTime>
  <Words>2416</Words>
  <Application>Microsoft Office PowerPoint</Application>
  <PresentationFormat>On-screen Show (4:3)</PresentationFormat>
  <Paragraphs>339</Paragraphs>
  <Slides>37</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37</vt:i4>
      </vt:variant>
    </vt:vector>
  </HeadingPairs>
  <TitlesOfParts>
    <vt:vector size="47" baseType="lpstr">
      <vt:lpstr>Arial</vt:lpstr>
      <vt:lpstr>Bahnschrift</vt:lpstr>
      <vt:lpstr>Lucida Sans Unicode</vt:lpstr>
      <vt:lpstr>Times New Roman</vt:lpstr>
      <vt:lpstr>Verdana</vt:lpstr>
      <vt:lpstr>Wingdings 2</vt:lpstr>
      <vt:lpstr>Wingdings 3</vt:lpstr>
      <vt:lpstr>Concourse</vt:lpstr>
      <vt:lpstr>Document</vt:lpstr>
      <vt:lpstr>Bitmap Image</vt:lpstr>
      <vt:lpstr>Requirements Engineering</vt:lpstr>
      <vt:lpstr>Words of Wisdom</vt:lpstr>
      <vt:lpstr>In the last lecture we covered</vt:lpstr>
      <vt:lpstr>Requirements Elicitation</vt:lpstr>
      <vt:lpstr>Why do elicitation?</vt:lpstr>
      <vt:lpstr>How to do requirements elicitation?</vt:lpstr>
      <vt:lpstr>Requirements Elicitation Process</vt:lpstr>
      <vt:lpstr>Requirements Elicitation Process</vt:lpstr>
      <vt:lpstr>Components of requirements elicitation</vt:lpstr>
      <vt:lpstr>Elicitation activities</vt:lpstr>
      <vt:lpstr>The requirements elicitation process</vt:lpstr>
      <vt:lpstr>Elicitation stages</vt:lpstr>
      <vt:lpstr>Focus of Elicitation</vt:lpstr>
      <vt:lpstr>Outcomes of  Requirement Elicitation</vt:lpstr>
      <vt:lpstr>Elicitation Techniques</vt:lpstr>
      <vt:lpstr>Requirements Elicitation Techniques</vt:lpstr>
      <vt:lpstr>Existing Documents</vt:lpstr>
      <vt:lpstr>Hard Data Collection</vt:lpstr>
      <vt:lpstr>Interviewing</vt:lpstr>
      <vt:lpstr>Interview: Context free question</vt:lpstr>
      <vt:lpstr>Interview: Show time</vt:lpstr>
      <vt:lpstr>Collaborative Elicitation Techniques</vt:lpstr>
      <vt:lpstr>Focus Group</vt:lpstr>
      <vt:lpstr>Requirements Workshop</vt:lpstr>
      <vt:lpstr>Preparing for the workshop</vt:lpstr>
      <vt:lpstr>Role of the Facilitator</vt:lpstr>
      <vt:lpstr>Workshop Agenda</vt:lpstr>
      <vt:lpstr>Running the Workshop</vt:lpstr>
      <vt:lpstr>Workshop Problems and Solutions</vt:lpstr>
      <vt:lpstr>Storyboard</vt:lpstr>
      <vt:lpstr>Storyboarding</vt:lpstr>
      <vt:lpstr>Types of Storyboards</vt:lpstr>
      <vt:lpstr>Storyboarding Continuum</vt:lpstr>
      <vt:lpstr>What Storyboards Do</vt:lpstr>
      <vt:lpstr>A Sample Storyboard</vt:lpstr>
      <vt:lpstr>Animating a Storyboard</vt:lpstr>
      <vt:lpstr>Q&amp;A</vt:lpstr>
    </vt:vector>
  </TitlesOfParts>
  <Company>Private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Ammad</dc:creator>
  <cp:lastModifiedBy>Microsoft account</cp:lastModifiedBy>
  <cp:revision>283</cp:revision>
  <dcterms:created xsi:type="dcterms:W3CDTF">2001-01-05T12:38:16Z</dcterms:created>
  <dcterms:modified xsi:type="dcterms:W3CDTF">2023-04-12T17:30:56Z</dcterms:modified>
</cp:coreProperties>
</file>