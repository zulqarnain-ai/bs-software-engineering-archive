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72" r:id="rId14"/>
    <p:sldId id="271" r:id="rId15"/>
    <p:sldId id="274" r:id="rId16"/>
    <p:sldId id="279" r:id="rId17"/>
    <p:sldId id="276" r:id="rId18"/>
    <p:sldId id="277" r:id="rId19"/>
    <p:sldId id="278"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12/23/2024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12/23/2024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12/23/2024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12/23/2024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12/23/2024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12/23/2024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12/23/2024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12/23/2024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12/23/2024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12/23/2024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12/23/2024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verywellmind.com/what-is-crisis-counseling-2795060" TargetMode="External"/><Relationship Id="rId2" Type="http://schemas.openxmlformats.org/officeDocument/2006/relationships/hyperlink" Target="https://www.verywellmind.com/what-is-a-crisis-279506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verywellmind.com/making-a-safety-plan-to-escape-abusive-relationship-5069959" TargetMode="External"/><Relationship Id="rId2" Type="http://schemas.openxmlformats.org/officeDocument/2006/relationships/hyperlink" Target="https://www.verywellmind.com/suicide-safety-plan-1067524"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D0A42-36AB-4528-80E4-42BBA365AD69}"/>
              </a:ext>
            </a:extLst>
          </p:cNvPr>
          <p:cNvSpPr>
            <a:spLocks noGrp="1"/>
          </p:cNvSpPr>
          <p:nvPr>
            <p:ph type="ctrTitle"/>
          </p:nvPr>
        </p:nvSpPr>
        <p:spPr/>
        <p:txBody>
          <a:bodyPr/>
          <a:lstStyle/>
          <a:p>
            <a:pPr algn="ctr"/>
            <a:r>
              <a:rPr lang="en-US" sz="8000" dirty="0"/>
              <a:t>Crisis Intervention And Task Centered Practice</a:t>
            </a:r>
          </a:p>
        </p:txBody>
      </p:sp>
      <p:sp>
        <p:nvSpPr>
          <p:cNvPr id="3" name="Subtitle 2">
            <a:extLst>
              <a:ext uri="{FF2B5EF4-FFF2-40B4-BE49-F238E27FC236}">
                <a16:creationId xmlns:a16="http://schemas.microsoft.com/office/drawing/2014/main" id="{84D1F5FB-6FFD-4A9F-B3C2-65C66D5E6B51}"/>
              </a:ext>
            </a:extLst>
          </p:cNvPr>
          <p:cNvSpPr>
            <a:spLocks noGrp="1"/>
          </p:cNvSpPr>
          <p:nvPr>
            <p:ph type="subTitle" idx="1"/>
          </p:nvPr>
        </p:nvSpPr>
        <p:spPr/>
        <p:txBody>
          <a:bodyPr/>
          <a:lstStyle/>
          <a:p>
            <a:pPr algn="r"/>
            <a:r>
              <a:rPr lang="en-US" dirty="0"/>
              <a:t>Course Instructor: Qubsha Munir</a:t>
            </a:r>
          </a:p>
        </p:txBody>
      </p:sp>
    </p:spTree>
    <p:extLst>
      <p:ext uri="{BB962C8B-B14F-4D97-AF65-F5344CB8AC3E}">
        <p14:creationId xmlns:p14="http://schemas.microsoft.com/office/powerpoint/2010/main" val="3594944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C11D-D445-491D-955C-8E164509EC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C5590C-16C4-4C02-ABC7-1D51AE6478F6}"/>
              </a:ext>
            </a:extLst>
          </p:cNvPr>
          <p:cNvSpPr>
            <a:spLocks noGrp="1"/>
          </p:cNvSpPr>
          <p:nvPr>
            <p:ph idx="1"/>
          </p:nvPr>
        </p:nvSpPr>
        <p:spPr/>
        <p:txBody>
          <a:bodyPr/>
          <a:lstStyle/>
          <a:p>
            <a:r>
              <a:rPr lang="en-US" b="0" i="0" dirty="0">
                <a:solidFill>
                  <a:srgbClr val="212121"/>
                </a:solidFill>
                <a:effectLst/>
                <a:latin typeface="Merriweather"/>
              </a:rPr>
              <a:t>Crisis intervention is a short-term (usually single session) technique used to address an immediate mental health emergency, stabilize the individual in </a:t>
            </a:r>
            <a:r>
              <a:rPr lang="en-US" b="0" i="0" u="sng" dirty="0">
                <a:solidFill>
                  <a:srgbClr val="1A55AD"/>
                </a:solidFill>
                <a:effectLst/>
                <a:latin typeface="Merriweather"/>
                <a:hlinkClick r:id="rId2"/>
              </a:rPr>
              <a:t>crisis</a:t>
            </a:r>
            <a:r>
              <a:rPr lang="en-US" b="0" i="0" dirty="0">
                <a:solidFill>
                  <a:srgbClr val="212121"/>
                </a:solidFill>
                <a:effectLst/>
                <a:latin typeface="Merriweather"/>
              </a:rPr>
              <a:t>, and create and implement a safe, appropriate plan for next steps and future treatment.</a:t>
            </a:r>
          </a:p>
          <a:p>
            <a:r>
              <a:rPr lang="en-US" b="0" i="0" dirty="0">
                <a:solidFill>
                  <a:srgbClr val="212121"/>
                </a:solidFill>
                <a:effectLst/>
                <a:latin typeface="Merriweather"/>
              </a:rPr>
              <a:t>When a person experiences a </a:t>
            </a:r>
            <a:r>
              <a:rPr lang="en-US" b="0" i="0" u="sng" dirty="0">
                <a:solidFill>
                  <a:srgbClr val="1A55AD"/>
                </a:solidFill>
                <a:effectLst/>
                <a:latin typeface="Merriweather"/>
                <a:hlinkClick r:id="rId3"/>
              </a:rPr>
              <a:t>highly-stressful or traumatic event</a:t>
            </a:r>
            <a:r>
              <a:rPr lang="en-US" b="0" i="0" dirty="0">
                <a:solidFill>
                  <a:srgbClr val="212121"/>
                </a:solidFill>
                <a:effectLst/>
                <a:latin typeface="Merriweather"/>
              </a:rPr>
              <a:t>, they can go into crisis afterward because they cannot process what happened independently.</a:t>
            </a:r>
            <a:endParaRPr lang="en-US" dirty="0">
              <a:solidFill>
                <a:srgbClr val="212121"/>
              </a:solidFill>
              <a:latin typeface="Merriweather"/>
            </a:endParaRPr>
          </a:p>
          <a:p>
            <a:r>
              <a:rPr lang="en-US" b="0" i="0" dirty="0">
                <a:solidFill>
                  <a:srgbClr val="212121"/>
                </a:solidFill>
                <a:effectLst/>
                <a:latin typeface="Merriweather"/>
              </a:rPr>
              <a:t>Crisis intervention can help determine what they need to do to ensure their immediate safety, de-escalate their feelings, and make a plan for appropriate resources and ongoing treatment.</a:t>
            </a:r>
          </a:p>
          <a:p>
            <a:r>
              <a:rPr lang="en-US" b="0" i="0" dirty="0">
                <a:solidFill>
                  <a:srgbClr val="212121"/>
                </a:solidFill>
                <a:effectLst/>
                <a:latin typeface="Merriweather"/>
              </a:rPr>
              <a:t>Crisis intervention can help them return to the present moment, process the trigger, and manage their symptoms until they can connect with their treatment team.</a:t>
            </a:r>
            <a:endParaRPr lang="en-US" dirty="0">
              <a:solidFill>
                <a:srgbClr val="212121"/>
              </a:solidFill>
              <a:latin typeface="Merriweather"/>
            </a:endParaRPr>
          </a:p>
          <a:p>
            <a:r>
              <a:rPr lang="en-US" b="0" i="0" dirty="0">
                <a:solidFill>
                  <a:srgbClr val="212121"/>
                </a:solidFill>
                <a:effectLst/>
                <a:latin typeface="Merriweather"/>
              </a:rPr>
              <a:t>Effective crisis intervention involves connecting to the person in crisis and talking them through specific steps to ensure their immediate safety as well as make appropriate plans for future care.</a:t>
            </a:r>
            <a:endParaRPr lang="en-US" dirty="0"/>
          </a:p>
        </p:txBody>
      </p:sp>
    </p:spTree>
    <p:extLst>
      <p:ext uri="{BB962C8B-B14F-4D97-AF65-F5344CB8AC3E}">
        <p14:creationId xmlns:p14="http://schemas.microsoft.com/office/powerpoint/2010/main" val="1482374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A05BB-4E7B-442B-BA1B-9DA1FEE46B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EED9E4-DE19-4E0F-B280-F7C6875FCCB6}"/>
              </a:ext>
            </a:extLst>
          </p:cNvPr>
          <p:cNvSpPr>
            <a:spLocks noGrp="1"/>
          </p:cNvSpPr>
          <p:nvPr>
            <p:ph idx="1"/>
          </p:nvPr>
        </p:nvSpPr>
        <p:spPr/>
        <p:txBody>
          <a:bodyPr/>
          <a:lstStyle/>
          <a:p>
            <a:r>
              <a:rPr lang="en-US" b="1" i="0" dirty="0">
                <a:solidFill>
                  <a:srgbClr val="212121"/>
                </a:solidFill>
                <a:effectLst/>
                <a:latin typeface="Merriweather"/>
              </a:rPr>
              <a:t>Define The Problem</a:t>
            </a:r>
          </a:p>
          <a:p>
            <a:r>
              <a:rPr lang="en-US" b="1" i="0" dirty="0">
                <a:solidFill>
                  <a:srgbClr val="212121"/>
                </a:solidFill>
                <a:effectLst/>
                <a:latin typeface="Merriweather"/>
              </a:rPr>
              <a:t>Ensure Client Safety</a:t>
            </a:r>
            <a:endParaRPr lang="en-US" b="1" dirty="0">
              <a:solidFill>
                <a:srgbClr val="212121"/>
              </a:solidFill>
              <a:latin typeface="Merriweather"/>
            </a:endParaRPr>
          </a:p>
          <a:p>
            <a:r>
              <a:rPr lang="en-US" b="1" i="0" dirty="0">
                <a:solidFill>
                  <a:srgbClr val="212121"/>
                </a:solidFill>
                <a:effectLst/>
                <a:latin typeface="Merriweather"/>
              </a:rPr>
              <a:t>Provide Support</a:t>
            </a:r>
          </a:p>
          <a:p>
            <a:r>
              <a:rPr lang="en-US" b="1" i="0" dirty="0">
                <a:solidFill>
                  <a:srgbClr val="212121"/>
                </a:solidFill>
                <a:effectLst/>
                <a:latin typeface="Merriweather"/>
              </a:rPr>
              <a:t>Examine Alternatives</a:t>
            </a:r>
            <a:endParaRPr lang="en-US" b="1" dirty="0">
              <a:solidFill>
                <a:srgbClr val="212121"/>
              </a:solidFill>
              <a:latin typeface="Merriweather"/>
            </a:endParaRPr>
          </a:p>
          <a:p>
            <a:r>
              <a:rPr lang="en-US" b="1" i="0" dirty="0">
                <a:solidFill>
                  <a:srgbClr val="212121"/>
                </a:solidFill>
                <a:effectLst/>
                <a:latin typeface="Merriweather"/>
              </a:rPr>
              <a:t>Make Plans</a:t>
            </a:r>
          </a:p>
          <a:p>
            <a:r>
              <a:rPr lang="en-US" b="1" i="0" dirty="0">
                <a:solidFill>
                  <a:srgbClr val="212121"/>
                </a:solidFill>
                <a:effectLst/>
                <a:latin typeface="Merriweather"/>
              </a:rPr>
              <a:t>Obtain Commitment</a:t>
            </a:r>
            <a:endParaRPr lang="en-US" dirty="0"/>
          </a:p>
        </p:txBody>
      </p:sp>
    </p:spTree>
    <p:extLst>
      <p:ext uri="{BB962C8B-B14F-4D97-AF65-F5344CB8AC3E}">
        <p14:creationId xmlns:p14="http://schemas.microsoft.com/office/powerpoint/2010/main" val="3461524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D0BD2-BF14-4AC7-BC07-DB61E88A51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E71E59-8ED4-47F5-8350-2E4997EC7208}"/>
              </a:ext>
            </a:extLst>
          </p:cNvPr>
          <p:cNvSpPr>
            <a:spLocks noGrp="1"/>
          </p:cNvSpPr>
          <p:nvPr>
            <p:ph idx="1"/>
          </p:nvPr>
        </p:nvSpPr>
        <p:spPr/>
        <p:txBody>
          <a:bodyPr/>
          <a:lstStyle/>
          <a:p>
            <a:pPr algn="l" fontAlgn="base">
              <a:buFont typeface="+mj-lt"/>
              <a:buAutoNum type="arabicPeriod"/>
            </a:pPr>
            <a:r>
              <a:rPr lang="en-US" b="1" i="0" dirty="0">
                <a:solidFill>
                  <a:srgbClr val="212121"/>
                </a:solidFill>
                <a:effectLst/>
                <a:latin typeface="Merriweather"/>
              </a:rPr>
              <a:t>Define The Problem.</a:t>
            </a:r>
            <a:r>
              <a:rPr lang="en-US" b="0" i="0" dirty="0">
                <a:solidFill>
                  <a:srgbClr val="212121"/>
                </a:solidFill>
                <a:effectLst/>
                <a:latin typeface="Merriweather"/>
              </a:rPr>
              <a:t> In this stage, the responder establishes a connection with the person in crisis and helps them articulate their crisis as well as what caused it, using active listening and empathy.</a:t>
            </a:r>
          </a:p>
          <a:p>
            <a:pPr algn="l" fontAlgn="base">
              <a:buFont typeface="+mj-lt"/>
              <a:buAutoNum type="arabicPeriod"/>
            </a:pPr>
            <a:r>
              <a:rPr lang="en-US" b="1" i="0" dirty="0">
                <a:solidFill>
                  <a:srgbClr val="212121"/>
                </a:solidFill>
                <a:effectLst/>
                <a:latin typeface="Merriweather"/>
              </a:rPr>
              <a:t>Ensure Client Safety</a:t>
            </a:r>
            <a:r>
              <a:rPr lang="en-US" b="0" i="0" dirty="0">
                <a:solidFill>
                  <a:srgbClr val="212121"/>
                </a:solidFill>
                <a:effectLst/>
                <a:latin typeface="Merriweather"/>
              </a:rPr>
              <a:t>. This includes making sure that the client is in a safe place and is not at risk for immediate harm, both </a:t>
            </a:r>
            <a:r>
              <a:rPr lang="en-US" b="0" i="0" u="sng" dirty="0">
                <a:solidFill>
                  <a:srgbClr val="1A55AD"/>
                </a:solidFill>
                <a:effectLst/>
                <a:latin typeface="Merriweather"/>
                <a:hlinkClick r:id="rId2"/>
              </a:rPr>
              <a:t>self-inflicted</a:t>
            </a:r>
            <a:r>
              <a:rPr lang="en-US" b="0" i="0" dirty="0">
                <a:solidFill>
                  <a:srgbClr val="212121"/>
                </a:solidFill>
                <a:effectLst/>
                <a:latin typeface="Merriweather"/>
              </a:rPr>
              <a:t> and </a:t>
            </a:r>
            <a:r>
              <a:rPr lang="en-US" b="0" i="0" u="sng" dirty="0">
                <a:solidFill>
                  <a:srgbClr val="1A55AD"/>
                </a:solidFill>
                <a:effectLst/>
                <a:latin typeface="Merriweather"/>
                <a:hlinkClick r:id="rId3"/>
              </a:rPr>
              <a:t>abuse</a:t>
            </a:r>
            <a:r>
              <a:rPr lang="en-US" b="0" i="0" dirty="0">
                <a:solidFill>
                  <a:srgbClr val="212121"/>
                </a:solidFill>
                <a:effectLst/>
                <a:latin typeface="Merriweather"/>
              </a:rPr>
              <a:t> by another person.</a:t>
            </a:r>
          </a:p>
          <a:p>
            <a:pPr algn="l" fontAlgn="base">
              <a:buFont typeface="+mj-lt"/>
              <a:buAutoNum type="arabicPeriod"/>
            </a:pPr>
            <a:r>
              <a:rPr lang="en-US" b="1" i="0" dirty="0">
                <a:solidFill>
                  <a:srgbClr val="212121"/>
                </a:solidFill>
                <a:effectLst/>
                <a:latin typeface="Merriweather"/>
              </a:rPr>
              <a:t>Provide Support. </a:t>
            </a:r>
            <a:r>
              <a:rPr lang="en-US" b="0" i="0" dirty="0">
                <a:solidFill>
                  <a:srgbClr val="212121"/>
                </a:solidFill>
                <a:effectLst/>
                <a:latin typeface="Merriweather"/>
              </a:rPr>
              <a:t>Once the client is physically safe and the responder understands the nature of the problem, the responder helps determine appropriate options for both immediate and long-term support.</a:t>
            </a:r>
          </a:p>
          <a:p>
            <a:endParaRPr lang="en-US" dirty="0"/>
          </a:p>
        </p:txBody>
      </p:sp>
    </p:spTree>
    <p:extLst>
      <p:ext uri="{BB962C8B-B14F-4D97-AF65-F5344CB8AC3E}">
        <p14:creationId xmlns:p14="http://schemas.microsoft.com/office/powerpoint/2010/main" val="1096478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7E065-B4D1-4718-8118-DCBF692CCB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3DD32B-F27E-4D8E-A400-E4176355E8E6}"/>
              </a:ext>
            </a:extLst>
          </p:cNvPr>
          <p:cNvSpPr>
            <a:spLocks noGrp="1"/>
          </p:cNvSpPr>
          <p:nvPr>
            <p:ph idx="1"/>
          </p:nvPr>
        </p:nvSpPr>
        <p:spPr/>
        <p:txBody>
          <a:bodyPr/>
          <a:lstStyle/>
          <a:p>
            <a:r>
              <a:rPr lang="en-US" dirty="0"/>
              <a:t>Examine Alternatives. The responder encourages the client to explore options for people who care for and want to help them, coping skills they can use in the moment, and appropriate re-frames or new ways of looking at the problem.</a:t>
            </a:r>
          </a:p>
          <a:p>
            <a:r>
              <a:rPr lang="en-US" dirty="0"/>
              <a:t>Make Plans. In this stage, the client and responder develop specific plans for how to implement the chosen alternatives, focusing on realistic and manageable steps that the client can take.</a:t>
            </a:r>
          </a:p>
          <a:p>
            <a:r>
              <a:rPr lang="en-US" dirty="0"/>
              <a:t>Obtain Commitment. Finally, the responder helps the client commit to these steps. This includes putting the plan in writing so that the client knows what they need to do and can remember what helped them during the crisis.</a:t>
            </a:r>
          </a:p>
        </p:txBody>
      </p:sp>
    </p:spTree>
    <p:extLst>
      <p:ext uri="{BB962C8B-B14F-4D97-AF65-F5344CB8AC3E}">
        <p14:creationId xmlns:p14="http://schemas.microsoft.com/office/powerpoint/2010/main" val="1568666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19D808-BDC5-45EB-A7B5-80A43D6F239F}"/>
              </a:ext>
            </a:extLst>
          </p:cNvPr>
          <p:cNvSpPr>
            <a:spLocks noGrp="1"/>
          </p:cNvSpPr>
          <p:nvPr>
            <p:ph type="title"/>
          </p:nvPr>
        </p:nvSpPr>
        <p:spPr/>
        <p:txBody>
          <a:bodyPr>
            <a:noAutofit/>
          </a:bodyPr>
          <a:lstStyle/>
          <a:p>
            <a:pPr algn="just"/>
            <a:r>
              <a:rPr lang="en-US" sz="4000" b="0" i="0" cap="none" dirty="0">
                <a:solidFill>
                  <a:srgbClr val="212121"/>
                </a:solidFill>
                <a:effectLst/>
                <a:latin typeface="Times New Roman" panose="02020603050405020304" pitchFamily="18" charset="0"/>
                <a:cs typeface="Times New Roman" panose="02020603050405020304" pitchFamily="18" charset="0"/>
              </a:rPr>
              <a:t>These steps help the client work through the emergency both in the moment and by taking steps to get further support in place in the future. Getting ongoing support in place can prevent future crises.</a:t>
            </a:r>
            <a:endParaRPr lang="en-US" sz="4000" cap="none"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A4336D6-8BCE-4E34-9D8E-A8B2091F0E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90739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FF6706-7743-42DF-B4DA-E08C67829AB2}"/>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4E80B786-C654-4B3F-8A04-B3696479C18B}"/>
              </a:ext>
            </a:extLst>
          </p:cNvPr>
          <p:cNvSpPr>
            <a:spLocks noGrp="1"/>
          </p:cNvSpPr>
          <p:nvPr>
            <p:ph idx="1"/>
          </p:nvPr>
        </p:nvSpPr>
        <p:spPr/>
        <p:txBody>
          <a:bodyPr/>
          <a:lstStyle/>
          <a:p>
            <a:r>
              <a:rPr lang="en-US" b="0" i="0" dirty="0">
                <a:solidFill>
                  <a:srgbClr val="001D35"/>
                </a:solidFill>
                <a:effectLst/>
                <a:latin typeface="Google Sans"/>
              </a:rPr>
              <a:t>The task-centered (TC) model is </a:t>
            </a:r>
            <a:r>
              <a:rPr lang="en-US" dirty="0"/>
              <a:t>a short-term, problem-solving approach to social work that helps clients solve their problems through tasks.</a:t>
            </a:r>
          </a:p>
          <a:p>
            <a:r>
              <a:rPr lang="en-US" b="0" i="0" dirty="0">
                <a:solidFill>
                  <a:srgbClr val="1F1F1F"/>
                </a:solidFill>
                <a:effectLst/>
                <a:latin typeface="Google Sans"/>
              </a:rPr>
              <a:t>TC helps clients to solve their problems as they define them. Changes in problems are secured by developing and implementing tasks.</a:t>
            </a:r>
          </a:p>
          <a:p>
            <a:r>
              <a:rPr lang="en-US" b="0" i="0" dirty="0">
                <a:solidFill>
                  <a:srgbClr val="474747"/>
                </a:solidFill>
                <a:effectLst/>
                <a:latin typeface="Google Sans"/>
              </a:rPr>
              <a:t>Family Conflict: A family experiencing communication difficulties might focus on tasks such as </a:t>
            </a:r>
            <a:r>
              <a:rPr lang="en-US" b="0" i="0" dirty="0">
                <a:solidFill>
                  <a:srgbClr val="040C28"/>
                </a:solidFill>
                <a:effectLst/>
                <a:latin typeface="Google Sans"/>
              </a:rPr>
              <a:t>practicing active listening or setting aside time each week for a family meeting</a:t>
            </a:r>
            <a:r>
              <a:rPr lang="en-US" b="0" i="0" dirty="0">
                <a:solidFill>
                  <a:srgbClr val="474747"/>
                </a:solidFill>
                <a:effectLst/>
                <a:latin typeface="Google Sans"/>
              </a:rPr>
              <a:t>.</a:t>
            </a:r>
            <a:endParaRPr lang="en-US" dirty="0"/>
          </a:p>
        </p:txBody>
      </p:sp>
    </p:spTree>
    <p:extLst>
      <p:ext uri="{BB962C8B-B14F-4D97-AF65-F5344CB8AC3E}">
        <p14:creationId xmlns:p14="http://schemas.microsoft.com/office/powerpoint/2010/main" val="1971904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B36CF-3DFB-4D25-9E0E-918835467A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4A1755-057A-45E9-B6AD-FF0AAB313883}"/>
              </a:ext>
            </a:extLst>
          </p:cNvPr>
          <p:cNvSpPr>
            <a:spLocks noGrp="1"/>
          </p:cNvSpPr>
          <p:nvPr>
            <p:ph idx="1"/>
          </p:nvPr>
        </p:nvSpPr>
        <p:spPr/>
        <p:txBody>
          <a:bodyPr/>
          <a:lstStyle/>
          <a:p>
            <a:r>
              <a:rPr lang="en-US" b="1" i="0" dirty="0">
                <a:solidFill>
                  <a:srgbClr val="4A4A4A"/>
                </a:solidFill>
                <a:effectLst/>
                <a:latin typeface="Roboto Slab"/>
              </a:rPr>
              <a:t>Engagement and Problem Identification</a:t>
            </a:r>
          </a:p>
          <a:p>
            <a:r>
              <a:rPr lang="en-US" b="1" i="0" dirty="0">
                <a:solidFill>
                  <a:srgbClr val="4A4A4A"/>
                </a:solidFill>
                <a:effectLst/>
                <a:latin typeface="Roboto Slab"/>
              </a:rPr>
              <a:t>Assessment and Goal-Setting</a:t>
            </a:r>
            <a:endParaRPr lang="en-US" b="1" dirty="0">
              <a:solidFill>
                <a:srgbClr val="4A4A4A"/>
              </a:solidFill>
              <a:latin typeface="Roboto Slab"/>
            </a:endParaRPr>
          </a:p>
          <a:p>
            <a:r>
              <a:rPr lang="en-US" b="1" i="0" dirty="0">
                <a:solidFill>
                  <a:srgbClr val="4A4A4A"/>
                </a:solidFill>
                <a:effectLst/>
                <a:latin typeface="Roboto Slab"/>
              </a:rPr>
              <a:t>Task Planning and Implementation:</a:t>
            </a:r>
          </a:p>
          <a:p>
            <a:r>
              <a:rPr lang="en-US" b="1" i="0" dirty="0">
                <a:solidFill>
                  <a:srgbClr val="4A4A4A"/>
                </a:solidFill>
                <a:effectLst/>
                <a:latin typeface="Roboto Slab"/>
              </a:rPr>
              <a:t>Monitoring Progress and Feedback</a:t>
            </a:r>
            <a:endParaRPr lang="en-US" b="1" dirty="0">
              <a:solidFill>
                <a:srgbClr val="4A4A4A"/>
              </a:solidFill>
              <a:latin typeface="Roboto Slab"/>
            </a:endParaRPr>
          </a:p>
          <a:p>
            <a:r>
              <a:rPr lang="en-US" b="1" i="0" dirty="0">
                <a:solidFill>
                  <a:srgbClr val="4A4A4A"/>
                </a:solidFill>
                <a:effectLst/>
                <a:latin typeface="Roboto Slab"/>
              </a:rPr>
              <a:t>Adjusting Tasks if Necessary</a:t>
            </a:r>
          </a:p>
          <a:p>
            <a:r>
              <a:rPr lang="en-US" b="1" i="0" dirty="0">
                <a:solidFill>
                  <a:srgbClr val="4A4A4A"/>
                </a:solidFill>
                <a:effectLst/>
                <a:latin typeface="Roboto Slab"/>
              </a:rPr>
              <a:t>Termination and Review</a:t>
            </a:r>
            <a:endParaRPr lang="en-US" dirty="0"/>
          </a:p>
        </p:txBody>
      </p:sp>
    </p:spTree>
    <p:extLst>
      <p:ext uri="{BB962C8B-B14F-4D97-AF65-F5344CB8AC3E}">
        <p14:creationId xmlns:p14="http://schemas.microsoft.com/office/powerpoint/2010/main" val="53828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5254-E402-4EC5-AD30-6BD8A5BE13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276458-C4AC-4A88-AC05-D5941EC8B904}"/>
              </a:ext>
            </a:extLst>
          </p:cNvPr>
          <p:cNvSpPr>
            <a:spLocks noGrp="1"/>
          </p:cNvSpPr>
          <p:nvPr>
            <p:ph idx="1"/>
          </p:nvPr>
        </p:nvSpPr>
        <p:spPr/>
        <p:txBody>
          <a:bodyPr>
            <a:normAutofit/>
          </a:bodyPr>
          <a:lstStyle/>
          <a:p>
            <a:r>
              <a:rPr lang="en-US" dirty="0"/>
              <a:t>Engagement and Problem Identification:</a:t>
            </a:r>
          </a:p>
          <a:p>
            <a:pPr marL="0" indent="0">
              <a:buNone/>
            </a:pPr>
            <a:r>
              <a:rPr lang="en-US" dirty="0"/>
              <a:t>During the initial sessions, the client and social worker engage in a detailed discussion to define the specific problems the client wishes to address. This phase involves active listening, trust-building, and clarity in understanding what the client sees as their primary challenges. The social worker also helps the client break these problems down into manageable components that can be addressed over the course of the intervention.</a:t>
            </a:r>
          </a:p>
          <a:p>
            <a:r>
              <a:rPr lang="en-US" dirty="0"/>
              <a:t>Assessment and Goal-Setting:</a:t>
            </a:r>
          </a:p>
          <a:p>
            <a:pPr marL="0" indent="0">
              <a:buNone/>
            </a:pPr>
            <a:r>
              <a:rPr lang="en-US" dirty="0"/>
              <a:t>After identifying the problem, the social worker works with the client to set realistic, concrete, and achievable goals. These goals are highly specific and should have clear indicators of success. For example, if the problem is unemployment, a goal might be to complete a job application or attend an interview preparation workshop.</a:t>
            </a:r>
          </a:p>
        </p:txBody>
      </p:sp>
    </p:spTree>
    <p:extLst>
      <p:ext uri="{BB962C8B-B14F-4D97-AF65-F5344CB8AC3E}">
        <p14:creationId xmlns:p14="http://schemas.microsoft.com/office/powerpoint/2010/main" val="3779779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BA53-2A20-45EE-8274-12E4A35720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B1C7A3-5B0D-4480-82C2-40CE2F1A7826}"/>
              </a:ext>
            </a:extLst>
          </p:cNvPr>
          <p:cNvSpPr>
            <a:spLocks noGrp="1"/>
          </p:cNvSpPr>
          <p:nvPr>
            <p:ph idx="1"/>
          </p:nvPr>
        </p:nvSpPr>
        <p:spPr/>
        <p:txBody>
          <a:bodyPr>
            <a:normAutofit lnSpcReduction="10000"/>
          </a:bodyPr>
          <a:lstStyle/>
          <a:p>
            <a:r>
              <a:rPr lang="en-US" dirty="0"/>
              <a:t>Task Planning and Implementation:</a:t>
            </a:r>
          </a:p>
          <a:p>
            <a:pPr marL="0" indent="0">
              <a:buNone/>
            </a:pPr>
            <a:r>
              <a:rPr lang="en-US" dirty="0"/>
              <a:t>Once the goals are established, tasks are developed. These tasks are small, actionable steps the client will take to achieve their larger goals. The tasks are designed to be completed between sessions, and they might involve practicing new skills, completing specific activities, or gathering information. Importantly, these tasks are realistic and tailored to the client’s current abilities and circumstances.</a:t>
            </a:r>
          </a:p>
          <a:p>
            <a:r>
              <a:rPr lang="en-US" dirty="0"/>
              <a:t>Monitoring Progress and Feedback:</a:t>
            </a:r>
          </a:p>
          <a:p>
            <a:pPr marL="0" indent="0">
              <a:buNone/>
            </a:pPr>
            <a:r>
              <a:rPr lang="en-US" dirty="0"/>
              <a:t>In follow-up sessions, the social worker and client review the tasks that were set and discuss the outcomes. Did the client complete the task? If not, what obstacles were encountered, and how can these be overcome? This step is crucial for maintaining momentum and ensuring that tasks are being completed in a way that is meaningful for the client. It also allows for the redefinition of tasks if certain steps prove too difficult or if the client's situation changes.</a:t>
            </a:r>
          </a:p>
        </p:txBody>
      </p:sp>
    </p:spTree>
    <p:extLst>
      <p:ext uri="{BB962C8B-B14F-4D97-AF65-F5344CB8AC3E}">
        <p14:creationId xmlns:p14="http://schemas.microsoft.com/office/powerpoint/2010/main" val="2698330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8AF0E-D455-4224-AEF9-EE290FE778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96E3B2-6977-4021-B54F-9756C156FC8F}"/>
              </a:ext>
            </a:extLst>
          </p:cNvPr>
          <p:cNvSpPr>
            <a:spLocks noGrp="1"/>
          </p:cNvSpPr>
          <p:nvPr>
            <p:ph idx="1"/>
          </p:nvPr>
        </p:nvSpPr>
        <p:spPr/>
        <p:txBody>
          <a:bodyPr>
            <a:normAutofit fontScale="92500" lnSpcReduction="10000"/>
          </a:bodyPr>
          <a:lstStyle/>
          <a:p>
            <a:r>
              <a:rPr lang="en-US" dirty="0"/>
              <a:t>Adjusting Tasks if Necessary:</a:t>
            </a:r>
          </a:p>
          <a:p>
            <a:pPr marL="0" indent="0">
              <a:buNone/>
            </a:pPr>
            <a:r>
              <a:rPr lang="en-US" dirty="0"/>
              <a:t>The process is flexible, and if a particular task isn't working or a client is facing unexpected challenges, the social worker will work with the client to modify the task or approach. This ongoing adjustment ensures that the intervention stays relevant and effective for the client’s current situation.</a:t>
            </a:r>
          </a:p>
          <a:p>
            <a:endParaRPr lang="en-US" dirty="0"/>
          </a:p>
          <a:p>
            <a:r>
              <a:rPr lang="en-US" dirty="0"/>
              <a:t>Termination and Review:</a:t>
            </a:r>
          </a:p>
          <a:p>
            <a:pPr marL="0" indent="0">
              <a:buNone/>
            </a:pPr>
            <a:r>
              <a:rPr lang="en-US" dirty="0"/>
              <a:t>The task-centered intervention concludes either when the predetermined time frame has been reached or when the client has successfully completed the tasks and achieved their goals. At this point, the social worker and client review the progress made and evaluate whether additional support is needed. The termination process also includes planning for future challenges and ensuring that the client has developed the skills and confidence needed to continue addressing problems independently.</a:t>
            </a:r>
          </a:p>
        </p:txBody>
      </p:sp>
    </p:spTree>
    <p:extLst>
      <p:ext uri="{BB962C8B-B14F-4D97-AF65-F5344CB8AC3E}">
        <p14:creationId xmlns:p14="http://schemas.microsoft.com/office/powerpoint/2010/main" val="4141879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05B68-C518-4AA0-BC72-6EA51A27BF1D}"/>
              </a:ext>
            </a:extLst>
          </p:cNvPr>
          <p:cNvSpPr>
            <a:spLocks noGrp="1"/>
          </p:cNvSpPr>
          <p:nvPr>
            <p:ph type="ctrTitle"/>
          </p:nvPr>
        </p:nvSpPr>
        <p:spPr/>
        <p:txBody>
          <a:bodyPr/>
          <a:lstStyle/>
          <a:p>
            <a:r>
              <a:rPr lang="en-US" dirty="0"/>
              <a:t>Difference </a:t>
            </a:r>
          </a:p>
        </p:txBody>
      </p:sp>
      <p:sp>
        <p:nvSpPr>
          <p:cNvPr id="5" name="Subtitle 4">
            <a:extLst>
              <a:ext uri="{FF2B5EF4-FFF2-40B4-BE49-F238E27FC236}">
                <a16:creationId xmlns:a16="http://schemas.microsoft.com/office/drawing/2014/main" id="{4682D44E-CD8F-4956-8AFB-79F9BD301D0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45653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EA3BFE08-FB69-4884-95CD-77E972389724}"/>
              </a:ext>
            </a:extLst>
          </p:cNvPr>
          <p:cNvGraphicFramePr>
            <a:graphicFrameLocks noGrp="1"/>
          </p:cNvGraphicFramePr>
          <p:nvPr>
            <p:ph idx="1"/>
            <p:extLst>
              <p:ext uri="{D42A27DB-BD31-4B8C-83A1-F6EECF244321}">
                <p14:modId xmlns:p14="http://schemas.microsoft.com/office/powerpoint/2010/main" val="1468259218"/>
              </p:ext>
            </p:extLst>
          </p:nvPr>
        </p:nvGraphicFramePr>
        <p:xfrm>
          <a:off x="1219200" y="887505"/>
          <a:ext cx="10094259" cy="5369860"/>
        </p:xfrm>
        <a:graphic>
          <a:graphicData uri="http://schemas.openxmlformats.org/drawingml/2006/table">
            <a:tbl>
              <a:tblPr firstRow="1" firstCol="1" bandRow="1"/>
              <a:tblGrid>
                <a:gridCol w="791976">
                  <a:extLst>
                    <a:ext uri="{9D8B030D-6E8A-4147-A177-3AD203B41FA5}">
                      <a16:colId xmlns:a16="http://schemas.microsoft.com/office/drawing/2014/main" val="3985410521"/>
                    </a:ext>
                  </a:extLst>
                </a:gridCol>
                <a:gridCol w="4608867">
                  <a:extLst>
                    <a:ext uri="{9D8B030D-6E8A-4147-A177-3AD203B41FA5}">
                      <a16:colId xmlns:a16="http://schemas.microsoft.com/office/drawing/2014/main" val="226319621"/>
                    </a:ext>
                  </a:extLst>
                </a:gridCol>
                <a:gridCol w="4693416">
                  <a:extLst>
                    <a:ext uri="{9D8B030D-6E8A-4147-A177-3AD203B41FA5}">
                      <a16:colId xmlns:a16="http://schemas.microsoft.com/office/drawing/2014/main" val="504976726"/>
                    </a:ext>
                  </a:extLst>
                </a:gridCol>
              </a:tblGrid>
              <a:tr h="543457">
                <a:tc>
                  <a:txBody>
                    <a:bodyPr/>
                    <a:lstStyle/>
                    <a:p>
                      <a:pPr marL="0" marR="0">
                        <a:lnSpc>
                          <a:spcPct val="150000"/>
                        </a:lnSpc>
                        <a:spcBef>
                          <a:spcPts val="0"/>
                        </a:spcBef>
                        <a:spcAft>
                          <a:spcPts val="0"/>
                        </a:spcAft>
                      </a:pPr>
                      <a:r>
                        <a:rPr lang="en-US" sz="1400" b="1">
                          <a:effectLst/>
                          <a:latin typeface="Times New Roman" panose="02020603050405020304" pitchFamily="18" charset="0"/>
                          <a:ea typeface="Calibri" panose="020F0502020204030204" pitchFamily="34" charset="0"/>
                          <a:cs typeface="Times New Roman" panose="02020603050405020304" pitchFamily="18" charset="0"/>
                        </a:rPr>
                        <a:t>S.no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Crisis Intervention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Task Centered Practice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3457002"/>
                  </a:ext>
                </a:extLst>
              </a:tr>
              <a:tr h="465942">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Stabilize and reduce immediate distress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Solve specific, identified problems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4482019"/>
                  </a:ext>
                </a:extLst>
              </a:tr>
              <a:tr h="987545">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Immediate emotional and psychological support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Step-by-step problem-solving and task completion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8145554"/>
                  </a:ext>
                </a:extLst>
              </a:tr>
              <a:tr h="465942">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Short-term (hours to days)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Short-term (usually weeks to months)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720023"/>
                  </a:ext>
                </a:extLst>
              </a:tr>
              <a:tr h="465942">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Non-directive, client-centered, reactive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Directive, goal-oriented, structured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1446978"/>
                  </a:ext>
                </a:extLst>
              </a:tr>
              <a:tr h="987545">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Psychological first aid, trauma-informed care, ecological models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Behavioral, cognitive-behavioral, solution-focused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8736008"/>
                  </a:ext>
                </a:extLst>
              </a:tr>
              <a:tr h="465942">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Passive (providing support and stability)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Active (setting and working on tasks)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9937252"/>
                  </a:ext>
                </a:extLst>
              </a:tr>
              <a:tr h="987545">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Acute crisis (e.g., trauma, suicide risk)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Ongoing problems (e.g., family issues, employment, daily functioning)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4954459"/>
                  </a:ext>
                </a:extLst>
              </a:tr>
            </a:tbl>
          </a:graphicData>
        </a:graphic>
      </p:graphicFrame>
    </p:spTree>
    <p:extLst>
      <p:ext uri="{BB962C8B-B14F-4D97-AF65-F5344CB8AC3E}">
        <p14:creationId xmlns:p14="http://schemas.microsoft.com/office/powerpoint/2010/main" val="3983073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5E3CC44-5418-45C5-A9BA-C9FD37DC2EA7}"/>
              </a:ext>
            </a:extLst>
          </p:cNvPr>
          <p:cNvSpPr>
            <a:spLocks noGrp="1"/>
          </p:cNvSpPr>
          <p:nvPr>
            <p:ph sz="half" idx="1"/>
          </p:nvPr>
        </p:nvSpPr>
        <p:spPr>
          <a:xfrm>
            <a:off x="1069848" y="1013012"/>
            <a:ext cx="4754880" cy="5159188"/>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Crisis Intervention (CI) is </a:t>
            </a:r>
            <a:r>
              <a:rPr lang="en-US" sz="2400" b="1" i="1" dirty="0">
                <a:latin typeface="Times New Roman" panose="02020603050405020304" pitchFamily="18" charset="0"/>
                <a:cs typeface="Times New Roman" panose="02020603050405020304" pitchFamily="18" charset="0"/>
              </a:rPr>
              <a:t>immediate, short-term</a:t>
            </a:r>
            <a:r>
              <a:rPr lang="en-US" sz="2400" dirty="0">
                <a:latin typeface="Times New Roman" panose="02020603050405020304" pitchFamily="18" charset="0"/>
                <a:cs typeface="Times New Roman" panose="02020603050405020304" pitchFamily="18" charset="0"/>
              </a:rPr>
              <a:t>, and reactive. Its primary goal is to </a:t>
            </a:r>
            <a:r>
              <a:rPr lang="en-US" sz="2400" b="1" i="1" dirty="0">
                <a:latin typeface="Times New Roman" panose="02020603050405020304" pitchFamily="18" charset="0"/>
                <a:cs typeface="Times New Roman" panose="02020603050405020304" pitchFamily="18" charset="0"/>
              </a:rPr>
              <a:t>stabilize the individual during a time of acute crisis </a:t>
            </a:r>
            <a:r>
              <a:rPr lang="en-US" sz="2400" dirty="0">
                <a:latin typeface="Times New Roman" panose="02020603050405020304" pitchFamily="18" charset="0"/>
                <a:cs typeface="Times New Roman" panose="02020603050405020304" pitchFamily="18" charset="0"/>
              </a:rPr>
              <a:t>(e.g., trauma, suicidal ideation, or severe emotional distress). </a:t>
            </a:r>
          </a:p>
          <a:p>
            <a:pPr algn="just"/>
            <a:r>
              <a:rPr lang="en-US" sz="2400" dirty="0">
                <a:latin typeface="Times New Roman" panose="02020603050405020304" pitchFamily="18" charset="0"/>
                <a:cs typeface="Times New Roman" panose="02020603050405020304" pitchFamily="18" charset="0"/>
              </a:rPr>
              <a:t>CI focuses on reducing distress, ensuring safety, and restoring emotional equilibrium in the short term. </a:t>
            </a:r>
          </a:p>
          <a:p>
            <a:pPr algn="just"/>
            <a:r>
              <a:rPr lang="en-US" sz="2000" b="1" dirty="0"/>
              <a:t>CI</a:t>
            </a:r>
            <a:r>
              <a:rPr lang="en-US" sz="2000" dirty="0"/>
              <a:t> is focused on </a:t>
            </a:r>
            <a:r>
              <a:rPr lang="en-US" sz="2000" b="1" dirty="0"/>
              <a:t>emergency stabilization</a:t>
            </a:r>
            <a:r>
              <a:rPr lang="en-US" sz="2000" dirty="0"/>
              <a:t> in the short term.</a:t>
            </a:r>
            <a:endParaRPr lang="en-US" sz="24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8CDA0DA-1895-49EA-A71E-4810CFA38DC3}"/>
              </a:ext>
            </a:extLst>
          </p:cNvPr>
          <p:cNvSpPr>
            <a:spLocks noGrp="1"/>
          </p:cNvSpPr>
          <p:nvPr>
            <p:ph sz="half" idx="2"/>
          </p:nvPr>
        </p:nvSpPr>
        <p:spPr>
          <a:xfrm>
            <a:off x="6364224" y="1013012"/>
            <a:ext cx="4754880" cy="5159188"/>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Task-Centered Practice (TCP) is structured, </a:t>
            </a:r>
            <a:r>
              <a:rPr lang="en-US" sz="2400" b="1" i="1" dirty="0">
                <a:latin typeface="Times New Roman" panose="02020603050405020304" pitchFamily="18" charset="0"/>
                <a:cs typeface="Times New Roman" panose="02020603050405020304" pitchFamily="18" charset="0"/>
              </a:rPr>
              <a:t>goal-oriented,</a:t>
            </a:r>
            <a:r>
              <a:rPr lang="en-US" sz="2400" dirty="0">
                <a:latin typeface="Times New Roman" panose="02020603050405020304" pitchFamily="18" charset="0"/>
                <a:cs typeface="Times New Roman" panose="02020603050405020304" pitchFamily="18" charset="0"/>
              </a:rPr>
              <a:t> and proactive. </a:t>
            </a:r>
          </a:p>
          <a:p>
            <a:pPr algn="just"/>
            <a:r>
              <a:rPr lang="en-US" sz="2400" dirty="0">
                <a:latin typeface="Times New Roman" panose="02020603050405020304" pitchFamily="18" charset="0"/>
                <a:cs typeface="Times New Roman" panose="02020603050405020304" pitchFamily="18" charset="0"/>
              </a:rPr>
              <a:t>It is used to help clients with ongoing issues by setting specific, manageable tasks that address concrete problems (e.g., family conflict, housing issues, or employment problems). </a:t>
            </a:r>
          </a:p>
          <a:p>
            <a:pPr algn="just"/>
            <a:r>
              <a:rPr lang="en-US" sz="2400" dirty="0">
                <a:latin typeface="Times New Roman" panose="02020603050405020304" pitchFamily="18" charset="0"/>
                <a:cs typeface="Times New Roman" panose="02020603050405020304" pitchFamily="18" charset="0"/>
              </a:rPr>
              <a:t>The goal of TCP is to resolve specific issues through systematic problem-solving over a series of sessions.</a:t>
            </a:r>
          </a:p>
          <a:p>
            <a:pPr algn="just"/>
            <a:r>
              <a:rPr lang="en-US" sz="2000" b="1" dirty="0"/>
              <a:t>TCP</a:t>
            </a:r>
            <a:r>
              <a:rPr lang="en-US" sz="2000" dirty="0"/>
              <a:t> is focused on </a:t>
            </a:r>
            <a:r>
              <a:rPr lang="en-US" sz="2000" b="1" dirty="0"/>
              <a:t>systematic problem-solving</a:t>
            </a:r>
            <a:r>
              <a:rPr lang="en-US" sz="2000" dirty="0"/>
              <a:t> over a series of sessions to address ongoing issues.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3775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90F2BB-8C93-4ABD-8A27-B6F119660301}"/>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AE0B2E80-0A42-409E-878B-EF54429FA95E}"/>
              </a:ext>
            </a:extLst>
          </p:cNvPr>
          <p:cNvSpPr>
            <a:spLocks noGrp="1"/>
          </p:cNvSpPr>
          <p:nvPr>
            <p:ph idx="1"/>
          </p:nvPr>
        </p:nvSpPr>
        <p:spPr/>
        <p:txBody>
          <a:bodyPr/>
          <a:lstStyle/>
          <a:p>
            <a:r>
              <a:rPr lang="en-US" b="0" i="0" dirty="0">
                <a:solidFill>
                  <a:srgbClr val="474747"/>
                </a:solidFill>
                <a:effectLst/>
                <a:latin typeface="Google Sans"/>
              </a:rPr>
              <a:t>Crisis intervention techniques should focus on helping the person in crisis cope. Some common techniques include </a:t>
            </a:r>
            <a:r>
              <a:rPr lang="en-US" b="0" i="0" dirty="0">
                <a:solidFill>
                  <a:srgbClr val="040C28"/>
                </a:solidFill>
                <a:effectLst/>
                <a:latin typeface="Google Sans"/>
              </a:rPr>
              <a:t>deep breathing exercises, meditation, active, empathetic listening, problem-solving help, and connecting with social supports such as family, therapists, and support groups</a:t>
            </a:r>
            <a:r>
              <a:rPr lang="en-US" b="0" i="0" dirty="0">
                <a:solidFill>
                  <a:srgbClr val="474747"/>
                </a:solidFill>
                <a:effectLst/>
                <a:latin typeface="Google Sans"/>
              </a:rPr>
              <a:t>.</a:t>
            </a:r>
            <a:endParaRPr lang="en-US" dirty="0"/>
          </a:p>
        </p:txBody>
      </p:sp>
    </p:spTree>
    <p:extLst>
      <p:ext uri="{BB962C8B-B14F-4D97-AF65-F5344CB8AC3E}">
        <p14:creationId xmlns:p14="http://schemas.microsoft.com/office/powerpoint/2010/main" val="3865137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ED68C-B7CD-4AA9-B0C6-539756D288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E06A5D-F714-429A-97C2-25CF86967F66}"/>
              </a:ext>
            </a:extLst>
          </p:cNvPr>
          <p:cNvSpPr>
            <a:spLocks noGrp="1"/>
          </p:cNvSpPr>
          <p:nvPr>
            <p:ph idx="1"/>
          </p:nvPr>
        </p:nvSpPr>
        <p:spPr/>
        <p:txBody>
          <a:bodyPr/>
          <a:lstStyle/>
          <a:p>
            <a:r>
              <a:rPr lang="en-US" dirty="0"/>
              <a:t>Task centered </a:t>
            </a:r>
          </a:p>
        </p:txBody>
      </p:sp>
    </p:spTree>
    <p:extLst>
      <p:ext uri="{BB962C8B-B14F-4D97-AF65-F5344CB8AC3E}">
        <p14:creationId xmlns:p14="http://schemas.microsoft.com/office/powerpoint/2010/main" val="1966802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03E04-1C0E-4EDB-BAB7-BE7BCE96E8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039D1E-3BDB-414B-8D4A-0CDE4347ED9E}"/>
              </a:ext>
            </a:extLst>
          </p:cNvPr>
          <p:cNvSpPr>
            <a:spLocks noGrp="1"/>
          </p:cNvSpPr>
          <p:nvPr>
            <p:ph idx="1"/>
          </p:nvPr>
        </p:nvSpPr>
        <p:spPr/>
        <p:txBody>
          <a:bodyPr/>
          <a:lstStyle/>
          <a:p>
            <a:r>
              <a:rPr lang="en-US" b="1" i="0" dirty="0">
                <a:solidFill>
                  <a:srgbClr val="4A4A4A"/>
                </a:solidFill>
                <a:effectLst/>
                <a:latin typeface="Roboto Slab"/>
              </a:rPr>
              <a:t>Employment:</a:t>
            </a:r>
            <a:br>
              <a:rPr lang="en-US" b="0" i="0" dirty="0">
                <a:solidFill>
                  <a:srgbClr val="4A4A4A"/>
                </a:solidFill>
                <a:effectLst/>
                <a:latin typeface="Roboto Slab"/>
              </a:rPr>
            </a:br>
            <a:r>
              <a:rPr lang="en-US" b="0" i="0" dirty="0">
                <a:solidFill>
                  <a:srgbClr val="4A4A4A"/>
                </a:solidFill>
                <a:effectLst/>
                <a:latin typeface="Roboto Slab"/>
              </a:rPr>
              <a:t>A client struggling with unemployment might work on tasks such as developing a resume, applying for a set number of jobs, or attending a job skills workshop. These tasks are designed to break down the larger goal of securing employment into smaller, manageable steps that can be accomplished over time.</a:t>
            </a:r>
          </a:p>
          <a:p>
            <a:endParaRPr lang="en-US" dirty="0"/>
          </a:p>
        </p:txBody>
      </p:sp>
    </p:spTree>
    <p:extLst>
      <p:ext uri="{BB962C8B-B14F-4D97-AF65-F5344CB8AC3E}">
        <p14:creationId xmlns:p14="http://schemas.microsoft.com/office/powerpoint/2010/main" val="2144101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FCD8D-ECA8-488A-BBA8-1B6B508FB5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CD89B5-62A3-49CF-8FCA-983AA59ADA46}"/>
              </a:ext>
            </a:extLst>
          </p:cNvPr>
          <p:cNvSpPr>
            <a:spLocks noGrp="1"/>
          </p:cNvSpPr>
          <p:nvPr>
            <p:ph idx="1"/>
          </p:nvPr>
        </p:nvSpPr>
        <p:spPr/>
        <p:txBody>
          <a:bodyPr/>
          <a:lstStyle/>
          <a:p>
            <a:r>
              <a:rPr lang="en-US" b="1" i="0" dirty="0">
                <a:solidFill>
                  <a:srgbClr val="4A4A4A"/>
                </a:solidFill>
                <a:effectLst/>
                <a:latin typeface="Roboto Slab"/>
              </a:rPr>
              <a:t>Family Conflict:</a:t>
            </a:r>
            <a:br>
              <a:rPr lang="en-US" b="0" i="0" dirty="0">
                <a:solidFill>
                  <a:srgbClr val="4A4A4A"/>
                </a:solidFill>
                <a:effectLst/>
                <a:latin typeface="Roboto Slab"/>
              </a:rPr>
            </a:br>
            <a:r>
              <a:rPr lang="en-US" b="0" i="0" dirty="0">
                <a:solidFill>
                  <a:srgbClr val="4A4A4A"/>
                </a:solidFill>
                <a:effectLst/>
                <a:latin typeface="Roboto Slab"/>
              </a:rPr>
              <a:t>A family experiencing communication difficulties might focus on tasks such as practicing active listening or setting aside time each week for a family meeting. These tasks would be aimed at improving family dynamics in a measurable, observable way.</a:t>
            </a:r>
          </a:p>
          <a:p>
            <a:endParaRPr lang="en-US" dirty="0"/>
          </a:p>
        </p:txBody>
      </p:sp>
    </p:spTree>
    <p:extLst>
      <p:ext uri="{BB962C8B-B14F-4D97-AF65-F5344CB8AC3E}">
        <p14:creationId xmlns:p14="http://schemas.microsoft.com/office/powerpoint/2010/main" val="3634799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1A623-BAB2-416F-B4EA-2402BDE47D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15E93C-3216-4C93-B612-9070EFD17CCF}"/>
              </a:ext>
            </a:extLst>
          </p:cNvPr>
          <p:cNvSpPr>
            <a:spLocks noGrp="1"/>
          </p:cNvSpPr>
          <p:nvPr>
            <p:ph idx="1"/>
          </p:nvPr>
        </p:nvSpPr>
        <p:spPr/>
        <p:txBody>
          <a:bodyPr/>
          <a:lstStyle/>
          <a:p>
            <a:r>
              <a:rPr lang="en-US" b="1" i="0" dirty="0">
                <a:solidFill>
                  <a:srgbClr val="4A4A4A"/>
                </a:solidFill>
                <a:effectLst/>
                <a:latin typeface="Roboto Slab"/>
              </a:rPr>
              <a:t>Mental Health:</a:t>
            </a:r>
            <a:br>
              <a:rPr lang="en-US" b="0" i="0" dirty="0">
                <a:solidFill>
                  <a:srgbClr val="4A4A4A"/>
                </a:solidFill>
                <a:effectLst/>
                <a:latin typeface="Roboto Slab"/>
              </a:rPr>
            </a:br>
            <a:r>
              <a:rPr lang="en-US" b="0" i="0" dirty="0">
                <a:solidFill>
                  <a:srgbClr val="4A4A4A"/>
                </a:solidFill>
                <a:effectLst/>
                <a:latin typeface="Roboto Slab"/>
              </a:rPr>
              <a:t>A client dealing with anxiety might focus on tasks like practicing relaxation techniques or keeping a thought journal to track anxiety-provoking situations. These tasks help the client take an active role in managing their symptoms and developing coping strategies.</a:t>
            </a:r>
          </a:p>
          <a:p>
            <a:endParaRPr lang="en-US" dirty="0"/>
          </a:p>
        </p:txBody>
      </p:sp>
    </p:spTree>
    <p:extLst>
      <p:ext uri="{BB962C8B-B14F-4D97-AF65-F5344CB8AC3E}">
        <p14:creationId xmlns:p14="http://schemas.microsoft.com/office/powerpoint/2010/main" val="3987357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715BB4-D780-430A-8743-952B9690E9F2}"/>
              </a:ext>
            </a:extLst>
          </p:cNvPr>
          <p:cNvSpPr>
            <a:spLocks noGrp="1"/>
          </p:cNvSpPr>
          <p:nvPr>
            <p:ph type="ctrTitle"/>
          </p:nvPr>
        </p:nvSpPr>
        <p:spPr/>
        <p:txBody>
          <a:bodyPr/>
          <a:lstStyle/>
          <a:p>
            <a:r>
              <a:rPr lang="en-US" dirty="0"/>
              <a:t>Thankyou</a:t>
            </a:r>
          </a:p>
        </p:txBody>
      </p:sp>
      <p:sp>
        <p:nvSpPr>
          <p:cNvPr id="6" name="Subtitle 5">
            <a:extLst>
              <a:ext uri="{FF2B5EF4-FFF2-40B4-BE49-F238E27FC236}">
                <a16:creationId xmlns:a16="http://schemas.microsoft.com/office/drawing/2014/main" id="{199164F2-77F1-4B85-9722-6BC569C51CD0}"/>
              </a:ext>
            </a:extLst>
          </p:cNvPr>
          <p:cNvSpPr>
            <a:spLocks noGrp="1"/>
          </p:cNvSpPr>
          <p:nvPr>
            <p:ph type="subTitle" idx="1"/>
          </p:nvPr>
        </p:nvSpPr>
        <p:spPr/>
        <p:txBody>
          <a:bodyPr/>
          <a:lstStyle/>
          <a:p>
            <a:r>
              <a:rPr lang="en-US" dirty="0"/>
              <a:t>Any Questions????</a:t>
            </a:r>
          </a:p>
        </p:txBody>
      </p:sp>
    </p:spTree>
    <p:extLst>
      <p:ext uri="{BB962C8B-B14F-4D97-AF65-F5344CB8AC3E}">
        <p14:creationId xmlns:p14="http://schemas.microsoft.com/office/powerpoint/2010/main" val="4478630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79</TotalTime>
  <Words>1447</Words>
  <Application>Microsoft Office PowerPoint</Application>
  <PresentationFormat>Widescreen</PresentationFormat>
  <Paragraphs>81</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Calibri</vt:lpstr>
      <vt:lpstr>Google Sans</vt:lpstr>
      <vt:lpstr>Merriweather</vt:lpstr>
      <vt:lpstr>Roboto Slab</vt:lpstr>
      <vt:lpstr>Rockwell</vt:lpstr>
      <vt:lpstr>Rockwell Condensed</vt:lpstr>
      <vt:lpstr>Times New Roman</vt:lpstr>
      <vt:lpstr>Wingdings</vt:lpstr>
      <vt:lpstr>Wood Type</vt:lpstr>
      <vt:lpstr>Crisis Intervention And Task Centered Practice</vt:lpstr>
      <vt:lpstr>PowerPoint Presentation</vt:lpstr>
      <vt:lpstr>PowerPoint Presentation</vt:lpstr>
      <vt:lpstr>PowerPoint Presentation</vt:lpstr>
      <vt:lpstr>PowerPoint Presentation</vt:lpstr>
      <vt:lpstr>These steps help the client work through the emergency both in the moment and by taking steps to get further support in place in the future. Getting ongoing support in place can prevent future crises.</vt:lpstr>
      <vt:lpstr>PowerPoint Presentation</vt:lpstr>
      <vt:lpstr>PowerPoint Presentation</vt:lpstr>
      <vt:lpstr>PowerPoint Presentation</vt:lpstr>
      <vt:lpstr>PowerPoint Presentation</vt:lpstr>
      <vt:lpstr>PowerPoint Presentation</vt:lpstr>
      <vt:lpstr>Difference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Intervention And Task Centered Practice</dc:title>
  <dc:creator>DELL</dc:creator>
  <cp:lastModifiedBy>DELL</cp:lastModifiedBy>
  <cp:revision>6</cp:revision>
  <dcterms:created xsi:type="dcterms:W3CDTF">2024-12-18T04:47:14Z</dcterms:created>
  <dcterms:modified xsi:type="dcterms:W3CDTF">2024-12-23T06:13:41Z</dcterms:modified>
</cp:coreProperties>
</file>