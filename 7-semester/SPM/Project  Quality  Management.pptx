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handoutMasterIdLst>
    <p:handoutMasterId r:id="rId22"/>
  </p:handoutMasterIdLst>
  <p:sldIdLst>
    <p:sldId id="308" r:id="rId2"/>
    <p:sldId id="598" r:id="rId3"/>
    <p:sldId id="599" r:id="rId4"/>
    <p:sldId id="600" r:id="rId5"/>
    <p:sldId id="601" r:id="rId6"/>
    <p:sldId id="602" r:id="rId7"/>
    <p:sldId id="603" r:id="rId8"/>
    <p:sldId id="604" r:id="rId9"/>
    <p:sldId id="605" r:id="rId10"/>
    <p:sldId id="606" r:id="rId11"/>
    <p:sldId id="607" r:id="rId12"/>
    <p:sldId id="608" r:id="rId13"/>
    <p:sldId id="615" r:id="rId14"/>
    <p:sldId id="609" r:id="rId15"/>
    <p:sldId id="610" r:id="rId16"/>
    <p:sldId id="611" r:id="rId17"/>
    <p:sldId id="612" r:id="rId18"/>
    <p:sldId id="613" r:id="rId19"/>
    <p:sldId id="614" r:id="rId2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5/28/2025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5/28/2025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5/28/2025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5/28/2025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5/28/2025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5/28/2025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5/28/2025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5/28/2025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5/28/2025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5/28/2025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5/28/2025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r>
              <a:rPr lang="en-US" dirty="0"/>
              <a:t>Dr. Sumaira Nazir</a:t>
            </a:r>
          </a:p>
          <a:p>
            <a:pPr marL="511175" indent="-279400" algn="r"/>
            <a:r>
              <a:rPr lang="en-US"/>
              <a:t>Department </a:t>
            </a:r>
            <a:r>
              <a:rPr lang="en-US" dirty="0"/>
              <a:t>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Quality Management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lstStyle/>
          <a:p>
            <a:r>
              <a:rPr lang="en-US" altLang="en-US" sz="4400" dirty="0"/>
              <a:t>Project Quality Management</a:t>
            </a:r>
            <a:endParaRPr lang="en-MY" dirty="0"/>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pPr algn="just"/>
            <a:r>
              <a:rPr lang="en-US" sz="2400" dirty="0"/>
              <a:t>Project quality management is a difficult knowledge area to define. The International Standardization Organization for  (ISO) defines quality as “the totality of characteristics of an entity that bear on its ability to satisfy stated or implied needs” (ISO8042:1994) or “the degree to which a set of inherent characteristics fulfils requirements”</a:t>
            </a:r>
            <a:endParaRPr lang="en-MY" sz="4000" dirty="0"/>
          </a:p>
        </p:txBody>
      </p:sp>
    </p:spTree>
    <p:extLst>
      <p:ext uri="{BB962C8B-B14F-4D97-AF65-F5344CB8AC3E}">
        <p14:creationId xmlns:p14="http://schemas.microsoft.com/office/powerpoint/2010/main" val="84445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lstStyle/>
          <a:p>
            <a:r>
              <a:rPr lang="en-US" altLang="en-US" sz="4400" dirty="0"/>
              <a:t>Project Quality Management</a:t>
            </a:r>
            <a:endParaRPr lang="en-MY" dirty="0"/>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pPr algn="just"/>
            <a:r>
              <a:rPr lang="en-MY" sz="2800" dirty="0"/>
              <a:t>Conformance to requirements</a:t>
            </a:r>
          </a:p>
          <a:p>
            <a:pPr algn="just"/>
            <a:r>
              <a:rPr lang="en-MY" sz="2800" dirty="0"/>
              <a:t>Fitness for use</a:t>
            </a:r>
          </a:p>
          <a:p>
            <a:pPr algn="just"/>
            <a:r>
              <a:rPr lang="en-US" sz="2800" dirty="0"/>
              <a:t>purpose of project quality management is to ensure that the project will satisfy the needs for which it was undertaken</a:t>
            </a:r>
            <a:endParaRPr lang="en-MY" sz="2800" dirty="0"/>
          </a:p>
        </p:txBody>
      </p:sp>
    </p:spTree>
    <p:extLst>
      <p:ext uri="{BB962C8B-B14F-4D97-AF65-F5344CB8AC3E}">
        <p14:creationId xmlns:p14="http://schemas.microsoft.com/office/powerpoint/2010/main" val="133325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82F-270E-45C7-A74E-228F3C0D8DD5}"/>
              </a:ext>
            </a:extLst>
          </p:cNvPr>
          <p:cNvSpPr>
            <a:spLocks noGrp="1"/>
          </p:cNvSpPr>
          <p:nvPr>
            <p:ph type="title"/>
          </p:nvPr>
        </p:nvSpPr>
        <p:spPr/>
        <p:txBody>
          <a:bodyPr/>
          <a:lstStyle/>
          <a:p>
            <a:r>
              <a:rPr lang="en-US" altLang="en-US" sz="4000" dirty="0"/>
              <a:t>Project Quality Management</a:t>
            </a:r>
            <a:endParaRPr lang="en-MY" dirty="0"/>
          </a:p>
        </p:txBody>
      </p:sp>
      <p:sp>
        <p:nvSpPr>
          <p:cNvPr id="3" name="Content Placeholder 2">
            <a:extLst>
              <a:ext uri="{FF2B5EF4-FFF2-40B4-BE49-F238E27FC236}">
                <a16:creationId xmlns:a16="http://schemas.microsoft.com/office/drawing/2014/main" id="{D4C99AAF-A83C-43A9-A40B-92AEFA62529E}"/>
              </a:ext>
            </a:extLst>
          </p:cNvPr>
          <p:cNvSpPr>
            <a:spLocks noGrp="1"/>
          </p:cNvSpPr>
          <p:nvPr>
            <p:ph idx="1"/>
          </p:nvPr>
        </p:nvSpPr>
        <p:spPr/>
        <p:txBody>
          <a:bodyPr/>
          <a:lstStyle/>
          <a:p>
            <a:r>
              <a:rPr lang="en-US" dirty="0"/>
              <a:t>Project quality management involves three main processes</a:t>
            </a:r>
          </a:p>
        </p:txBody>
      </p:sp>
    </p:spTree>
    <p:extLst>
      <p:ext uri="{BB962C8B-B14F-4D97-AF65-F5344CB8AC3E}">
        <p14:creationId xmlns:p14="http://schemas.microsoft.com/office/powerpoint/2010/main" val="3666081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82F-270E-45C7-A74E-228F3C0D8DD5}"/>
              </a:ext>
            </a:extLst>
          </p:cNvPr>
          <p:cNvSpPr>
            <a:spLocks noGrp="1"/>
          </p:cNvSpPr>
          <p:nvPr>
            <p:ph type="title"/>
          </p:nvPr>
        </p:nvSpPr>
        <p:spPr/>
        <p:txBody>
          <a:bodyPr>
            <a:normAutofit fontScale="90000"/>
          </a:bodyPr>
          <a:lstStyle/>
          <a:p>
            <a:r>
              <a:rPr lang="en-US" altLang="en-US" sz="4000" dirty="0"/>
              <a:t>Project Quality Management Processes</a:t>
            </a:r>
            <a:endParaRPr lang="en-MY" dirty="0"/>
          </a:p>
        </p:txBody>
      </p:sp>
      <p:sp>
        <p:nvSpPr>
          <p:cNvPr id="3" name="Content Placeholder 2">
            <a:extLst>
              <a:ext uri="{FF2B5EF4-FFF2-40B4-BE49-F238E27FC236}">
                <a16:creationId xmlns:a16="http://schemas.microsoft.com/office/drawing/2014/main" id="{D4C99AAF-A83C-43A9-A40B-92AEFA62529E}"/>
              </a:ext>
            </a:extLst>
          </p:cNvPr>
          <p:cNvSpPr>
            <a:spLocks noGrp="1"/>
          </p:cNvSpPr>
          <p:nvPr>
            <p:ph idx="1"/>
          </p:nvPr>
        </p:nvSpPr>
        <p:spPr/>
        <p:txBody>
          <a:bodyPr/>
          <a:lstStyle/>
          <a:p>
            <a:r>
              <a:rPr lang="en-MY" dirty="0"/>
              <a:t>Planning quality management</a:t>
            </a:r>
          </a:p>
          <a:p>
            <a:r>
              <a:rPr lang="en-MY" dirty="0"/>
              <a:t>Managing quality</a:t>
            </a:r>
          </a:p>
          <a:p>
            <a:r>
              <a:rPr lang="en-MY" dirty="0"/>
              <a:t>Controlling quality</a:t>
            </a:r>
            <a:endParaRPr lang="en-US" dirty="0"/>
          </a:p>
        </p:txBody>
      </p:sp>
    </p:spTree>
    <p:extLst>
      <p:ext uri="{BB962C8B-B14F-4D97-AF65-F5344CB8AC3E}">
        <p14:creationId xmlns:p14="http://schemas.microsoft.com/office/powerpoint/2010/main" val="1811147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82F-270E-45C7-A74E-228F3C0D8DD5}"/>
              </a:ext>
            </a:extLst>
          </p:cNvPr>
          <p:cNvSpPr>
            <a:spLocks noGrp="1"/>
          </p:cNvSpPr>
          <p:nvPr>
            <p:ph type="title"/>
          </p:nvPr>
        </p:nvSpPr>
        <p:spPr/>
        <p:txBody>
          <a:bodyPr>
            <a:normAutofit fontScale="90000"/>
          </a:bodyPr>
          <a:lstStyle/>
          <a:p>
            <a:r>
              <a:rPr lang="en-US" altLang="en-US" sz="4000" dirty="0"/>
              <a:t>Project Quality Management Processes</a:t>
            </a:r>
            <a:endParaRPr lang="en-MY" dirty="0"/>
          </a:p>
        </p:txBody>
      </p:sp>
      <p:sp>
        <p:nvSpPr>
          <p:cNvPr id="3" name="Content Placeholder 2">
            <a:extLst>
              <a:ext uri="{FF2B5EF4-FFF2-40B4-BE49-F238E27FC236}">
                <a16:creationId xmlns:a16="http://schemas.microsoft.com/office/drawing/2014/main" id="{D4C99AAF-A83C-43A9-A40B-92AEFA62529E}"/>
              </a:ext>
            </a:extLst>
          </p:cNvPr>
          <p:cNvSpPr>
            <a:spLocks noGrp="1"/>
          </p:cNvSpPr>
          <p:nvPr>
            <p:ph idx="1"/>
          </p:nvPr>
        </p:nvSpPr>
        <p:spPr/>
        <p:txBody>
          <a:bodyPr/>
          <a:lstStyle/>
          <a:p>
            <a:r>
              <a:rPr lang="en-MY" dirty="0"/>
              <a:t>Planning quality management</a:t>
            </a:r>
          </a:p>
          <a:p>
            <a:pPr lvl="1" algn="just"/>
            <a:r>
              <a:rPr lang="en-US" dirty="0"/>
              <a:t>identifying which quality requirements and standards are relevant to the project and how to satisfy them</a:t>
            </a:r>
            <a:endParaRPr lang="en-MY" dirty="0"/>
          </a:p>
        </p:txBody>
      </p:sp>
    </p:spTree>
    <p:extLst>
      <p:ext uri="{BB962C8B-B14F-4D97-AF65-F5344CB8AC3E}">
        <p14:creationId xmlns:p14="http://schemas.microsoft.com/office/powerpoint/2010/main" val="1241206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82F-270E-45C7-A74E-228F3C0D8DD5}"/>
              </a:ext>
            </a:extLst>
          </p:cNvPr>
          <p:cNvSpPr>
            <a:spLocks noGrp="1"/>
          </p:cNvSpPr>
          <p:nvPr>
            <p:ph type="title"/>
          </p:nvPr>
        </p:nvSpPr>
        <p:spPr/>
        <p:txBody>
          <a:bodyPr>
            <a:normAutofit fontScale="90000"/>
          </a:bodyPr>
          <a:lstStyle/>
          <a:p>
            <a:r>
              <a:rPr lang="en-US" altLang="en-US" sz="4000" dirty="0"/>
              <a:t>Project Quality Management Processes</a:t>
            </a:r>
            <a:endParaRPr lang="en-MY" dirty="0"/>
          </a:p>
        </p:txBody>
      </p:sp>
      <p:sp>
        <p:nvSpPr>
          <p:cNvPr id="3" name="Content Placeholder 2">
            <a:extLst>
              <a:ext uri="{FF2B5EF4-FFF2-40B4-BE49-F238E27FC236}">
                <a16:creationId xmlns:a16="http://schemas.microsoft.com/office/drawing/2014/main" id="{D4C99AAF-A83C-43A9-A40B-92AEFA62529E}"/>
              </a:ext>
            </a:extLst>
          </p:cNvPr>
          <p:cNvSpPr>
            <a:spLocks noGrp="1"/>
          </p:cNvSpPr>
          <p:nvPr>
            <p:ph idx="1"/>
          </p:nvPr>
        </p:nvSpPr>
        <p:spPr/>
        <p:txBody>
          <a:bodyPr/>
          <a:lstStyle/>
          <a:p>
            <a:r>
              <a:rPr lang="en-MY" dirty="0"/>
              <a:t>Managing quality</a:t>
            </a:r>
          </a:p>
          <a:p>
            <a:pPr lvl="1" algn="just"/>
            <a:r>
              <a:rPr lang="en-US" dirty="0"/>
              <a:t>involves translating the quality management plan into executable quality activities. These activities must adhere to the organization's quality policies. The main outputs of this process are quality reports, test and evaluation documents</a:t>
            </a:r>
            <a:endParaRPr lang="en-MY" dirty="0"/>
          </a:p>
        </p:txBody>
      </p:sp>
    </p:spTree>
    <p:extLst>
      <p:ext uri="{BB962C8B-B14F-4D97-AF65-F5344CB8AC3E}">
        <p14:creationId xmlns:p14="http://schemas.microsoft.com/office/powerpoint/2010/main" val="228831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82F-270E-45C7-A74E-228F3C0D8DD5}"/>
              </a:ext>
            </a:extLst>
          </p:cNvPr>
          <p:cNvSpPr>
            <a:spLocks noGrp="1"/>
          </p:cNvSpPr>
          <p:nvPr>
            <p:ph type="title"/>
          </p:nvPr>
        </p:nvSpPr>
        <p:spPr/>
        <p:txBody>
          <a:bodyPr>
            <a:normAutofit fontScale="90000"/>
          </a:bodyPr>
          <a:lstStyle/>
          <a:p>
            <a:r>
              <a:rPr lang="en-US" altLang="en-US" sz="4000" dirty="0"/>
              <a:t>Project Quality Management Processes</a:t>
            </a:r>
            <a:endParaRPr lang="en-MY" dirty="0"/>
          </a:p>
        </p:txBody>
      </p:sp>
      <p:sp>
        <p:nvSpPr>
          <p:cNvPr id="3" name="Content Placeholder 2">
            <a:extLst>
              <a:ext uri="{FF2B5EF4-FFF2-40B4-BE49-F238E27FC236}">
                <a16:creationId xmlns:a16="http://schemas.microsoft.com/office/drawing/2014/main" id="{D4C99AAF-A83C-43A9-A40B-92AEFA62529E}"/>
              </a:ext>
            </a:extLst>
          </p:cNvPr>
          <p:cNvSpPr>
            <a:spLocks noGrp="1"/>
          </p:cNvSpPr>
          <p:nvPr>
            <p:ph idx="1"/>
          </p:nvPr>
        </p:nvSpPr>
        <p:spPr/>
        <p:txBody>
          <a:bodyPr/>
          <a:lstStyle/>
          <a:p>
            <a:r>
              <a:rPr lang="en-MY" dirty="0"/>
              <a:t>Controlling quality</a:t>
            </a:r>
          </a:p>
          <a:p>
            <a:pPr lvl="1" algn="just"/>
            <a:r>
              <a:rPr lang="en-US" dirty="0"/>
              <a:t>involves monitoring specific project results to ensure that they are complete, correct, and meet customer expectations. This process is often associated with the technical tools and techniques of quality management, such as Pareto charts, quality control charts, and statistical sampling.</a:t>
            </a:r>
          </a:p>
        </p:txBody>
      </p:sp>
    </p:spTree>
    <p:extLst>
      <p:ext uri="{BB962C8B-B14F-4D97-AF65-F5344CB8AC3E}">
        <p14:creationId xmlns:p14="http://schemas.microsoft.com/office/powerpoint/2010/main" val="341631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3B303-F149-DFEA-D5BE-37E80D263F37}"/>
              </a:ext>
            </a:extLst>
          </p:cNvPr>
          <p:cNvSpPr>
            <a:spLocks noGrp="1"/>
          </p:cNvSpPr>
          <p:nvPr>
            <p:ph type="title"/>
          </p:nvPr>
        </p:nvSpPr>
        <p:spPr/>
        <p:txBody>
          <a:bodyPr>
            <a:normAutofit fontScale="90000"/>
          </a:bodyPr>
          <a:lstStyle/>
          <a:p>
            <a:r>
              <a:rPr lang="en-US" dirty="0"/>
              <a:t>Tools And Techniques For Quality Control</a:t>
            </a:r>
            <a:endParaRPr lang="en-MY" dirty="0"/>
          </a:p>
        </p:txBody>
      </p:sp>
      <p:sp>
        <p:nvSpPr>
          <p:cNvPr id="3" name="Content Placeholder 2">
            <a:extLst>
              <a:ext uri="{FF2B5EF4-FFF2-40B4-BE49-F238E27FC236}">
                <a16:creationId xmlns:a16="http://schemas.microsoft.com/office/drawing/2014/main" id="{FF7BE3DE-6B38-71D7-D035-63ADCFA54F78}"/>
              </a:ext>
            </a:extLst>
          </p:cNvPr>
          <p:cNvSpPr>
            <a:spLocks noGrp="1"/>
          </p:cNvSpPr>
          <p:nvPr>
            <p:ph idx="1"/>
          </p:nvPr>
        </p:nvSpPr>
        <p:spPr/>
        <p:txBody>
          <a:bodyPr/>
          <a:lstStyle/>
          <a:p>
            <a:pPr algn="just"/>
            <a:r>
              <a:rPr lang="en-US" dirty="0"/>
              <a:t>Cause-and-effect diagrams trace complaints about quality problems back to the responsible production operations. In other words, they help you find the root cause of a problem. They are also known as fishbone or Ishikawa diagrams,</a:t>
            </a:r>
            <a:endParaRPr lang="en-MY" dirty="0"/>
          </a:p>
        </p:txBody>
      </p:sp>
    </p:spTree>
    <p:extLst>
      <p:ext uri="{BB962C8B-B14F-4D97-AF65-F5344CB8AC3E}">
        <p14:creationId xmlns:p14="http://schemas.microsoft.com/office/powerpoint/2010/main" val="1451465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CAB8-0EC0-8507-2A65-AF3B44691774}"/>
              </a:ext>
            </a:extLst>
          </p:cNvPr>
          <p:cNvSpPr>
            <a:spLocks noGrp="1"/>
          </p:cNvSpPr>
          <p:nvPr>
            <p:ph type="title"/>
          </p:nvPr>
        </p:nvSpPr>
        <p:spPr/>
        <p:txBody>
          <a:bodyPr/>
          <a:lstStyle/>
          <a:p>
            <a:r>
              <a:rPr lang="en-US" dirty="0"/>
              <a:t>Cause-and-effect diagram</a:t>
            </a:r>
            <a:endParaRPr lang="en-MY" dirty="0"/>
          </a:p>
        </p:txBody>
      </p:sp>
      <p:pic>
        <p:nvPicPr>
          <p:cNvPr id="5" name="Content Placeholder 4">
            <a:extLst>
              <a:ext uri="{FF2B5EF4-FFF2-40B4-BE49-F238E27FC236}">
                <a16:creationId xmlns:a16="http://schemas.microsoft.com/office/drawing/2014/main" id="{0CF3B9C1-3519-40FD-332D-B32E50E52BF5}"/>
              </a:ext>
            </a:extLst>
          </p:cNvPr>
          <p:cNvPicPr>
            <a:picLocks noGrp="1" noChangeAspect="1"/>
          </p:cNvPicPr>
          <p:nvPr>
            <p:ph idx="1"/>
          </p:nvPr>
        </p:nvPicPr>
        <p:blipFill>
          <a:blip r:embed="rId2"/>
          <a:srcRect l="23585" t="33302" r="29366" b="14641"/>
          <a:stretch/>
        </p:blipFill>
        <p:spPr>
          <a:xfrm>
            <a:off x="1512367" y="1417638"/>
            <a:ext cx="7344816" cy="4796615"/>
          </a:xfrm>
        </p:spPr>
      </p:pic>
    </p:spTree>
    <p:extLst>
      <p:ext uri="{BB962C8B-B14F-4D97-AF65-F5344CB8AC3E}">
        <p14:creationId xmlns:p14="http://schemas.microsoft.com/office/powerpoint/2010/main" val="2995693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EBA83-908B-137A-28CD-2BD0F71208F7}"/>
              </a:ext>
            </a:extLst>
          </p:cNvPr>
          <p:cNvSpPr>
            <a:spLocks noGrp="1"/>
          </p:cNvSpPr>
          <p:nvPr>
            <p:ph type="title"/>
          </p:nvPr>
        </p:nvSpPr>
        <p:spPr/>
        <p:txBody>
          <a:bodyPr/>
          <a:lstStyle/>
          <a:p>
            <a:r>
              <a:rPr lang="en-US" dirty="0"/>
              <a:t>Sample </a:t>
            </a:r>
            <a:r>
              <a:rPr lang="en-US" dirty="0" err="1"/>
              <a:t>Checksheet</a:t>
            </a:r>
            <a:endParaRPr lang="en-MY" dirty="0"/>
          </a:p>
        </p:txBody>
      </p:sp>
      <p:pic>
        <p:nvPicPr>
          <p:cNvPr id="5" name="Content Placeholder 4">
            <a:extLst>
              <a:ext uri="{FF2B5EF4-FFF2-40B4-BE49-F238E27FC236}">
                <a16:creationId xmlns:a16="http://schemas.microsoft.com/office/drawing/2014/main" id="{EC07ADFA-8EE0-993D-5DB6-CAB78DE651A4}"/>
              </a:ext>
            </a:extLst>
          </p:cNvPr>
          <p:cNvPicPr>
            <a:picLocks noGrp="1" noChangeAspect="1"/>
          </p:cNvPicPr>
          <p:nvPr>
            <p:ph idx="1"/>
          </p:nvPr>
        </p:nvPicPr>
        <p:blipFill>
          <a:blip r:embed="rId2"/>
          <a:srcRect l="22625" t="48600" r="28405" b="24304"/>
          <a:stretch/>
        </p:blipFill>
        <p:spPr>
          <a:xfrm>
            <a:off x="1063162" y="2636912"/>
            <a:ext cx="8083553" cy="2515924"/>
          </a:xfrm>
        </p:spPr>
      </p:pic>
    </p:spTree>
    <p:extLst>
      <p:ext uri="{BB962C8B-B14F-4D97-AF65-F5344CB8AC3E}">
        <p14:creationId xmlns:p14="http://schemas.microsoft.com/office/powerpoint/2010/main" val="2107227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FE8C0-7E23-6E9C-1087-7CFF4B607C59}"/>
              </a:ext>
            </a:extLst>
          </p:cNvPr>
          <p:cNvSpPr>
            <a:spLocks noGrp="1"/>
          </p:cNvSpPr>
          <p:nvPr>
            <p:ph type="title"/>
          </p:nvPr>
        </p:nvSpPr>
        <p:spPr/>
        <p:txBody>
          <a:bodyPr/>
          <a:lstStyle/>
          <a:p>
            <a:r>
              <a:rPr lang="en-US" dirty="0"/>
              <a:t>Sample </a:t>
            </a:r>
            <a:r>
              <a:rPr lang="en-US" dirty="0" err="1"/>
              <a:t>Checksheet</a:t>
            </a:r>
            <a:endParaRPr lang="en-MY" dirty="0"/>
          </a:p>
        </p:txBody>
      </p:sp>
      <p:sp>
        <p:nvSpPr>
          <p:cNvPr id="3" name="Content Placeholder 2">
            <a:extLst>
              <a:ext uri="{FF2B5EF4-FFF2-40B4-BE49-F238E27FC236}">
                <a16:creationId xmlns:a16="http://schemas.microsoft.com/office/drawing/2014/main" id="{AB2DE8CA-9BBB-2243-5BEE-9DF9CEEE5531}"/>
              </a:ext>
            </a:extLst>
          </p:cNvPr>
          <p:cNvSpPr>
            <a:spLocks noGrp="1"/>
          </p:cNvSpPr>
          <p:nvPr>
            <p:ph idx="1"/>
          </p:nvPr>
        </p:nvSpPr>
        <p:spPr/>
        <p:txBody>
          <a:bodyPr/>
          <a:lstStyle/>
          <a:p>
            <a:pPr algn="just"/>
            <a:r>
              <a:rPr lang="en-US" sz="2800" dirty="0"/>
              <a:t>A </a:t>
            </a:r>
            <a:r>
              <a:rPr lang="en-US" sz="2800" dirty="0" err="1"/>
              <a:t>checksheet</a:t>
            </a:r>
            <a:r>
              <a:rPr lang="en-US" sz="2800" dirty="0"/>
              <a:t> is used to collect and analyze data. </a:t>
            </a:r>
          </a:p>
          <a:p>
            <a:pPr algn="just"/>
            <a:r>
              <a:rPr lang="en-US" sz="2800" dirty="0"/>
              <a:t>It is sometimes called a tally sheet or checklist, depending on its format. </a:t>
            </a:r>
          </a:p>
          <a:p>
            <a:pPr algn="just"/>
            <a:r>
              <a:rPr lang="en-US" sz="2800" dirty="0"/>
              <a:t>In example, most complaints arrive via text message, and there are more complaints on Monday and Tuesday than on other days of the week. </a:t>
            </a:r>
          </a:p>
          <a:p>
            <a:pPr algn="just"/>
            <a:r>
              <a:rPr lang="en-US" sz="2800" dirty="0"/>
              <a:t>This information might be useful in improving the process for handling complaints</a:t>
            </a:r>
            <a:endParaRPr lang="en-MY" sz="2800" dirty="0"/>
          </a:p>
        </p:txBody>
      </p:sp>
    </p:spTree>
    <p:extLst>
      <p:ext uri="{BB962C8B-B14F-4D97-AF65-F5344CB8AC3E}">
        <p14:creationId xmlns:p14="http://schemas.microsoft.com/office/powerpoint/2010/main" val="861650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8A52-08F0-1CFD-BCE9-7BE4F11163FB}"/>
              </a:ext>
            </a:extLst>
          </p:cNvPr>
          <p:cNvSpPr>
            <a:spLocks noGrp="1"/>
          </p:cNvSpPr>
          <p:nvPr>
            <p:ph type="title"/>
          </p:nvPr>
        </p:nvSpPr>
        <p:spPr/>
        <p:txBody>
          <a:bodyPr/>
          <a:lstStyle/>
          <a:p>
            <a:r>
              <a:rPr lang="en-MY" dirty="0"/>
              <a:t>Testing</a:t>
            </a:r>
          </a:p>
        </p:txBody>
      </p:sp>
      <p:sp>
        <p:nvSpPr>
          <p:cNvPr id="3" name="Content Placeholder 2">
            <a:extLst>
              <a:ext uri="{FF2B5EF4-FFF2-40B4-BE49-F238E27FC236}">
                <a16:creationId xmlns:a16="http://schemas.microsoft.com/office/drawing/2014/main" id="{3AE99F65-CF84-8F3E-975F-8EA03057B69B}"/>
              </a:ext>
            </a:extLst>
          </p:cNvPr>
          <p:cNvSpPr>
            <a:spLocks noGrp="1"/>
          </p:cNvSpPr>
          <p:nvPr>
            <p:ph idx="1"/>
          </p:nvPr>
        </p:nvSpPr>
        <p:spPr/>
        <p:txBody>
          <a:bodyPr/>
          <a:lstStyle/>
          <a:p>
            <a:r>
              <a:rPr lang="en-US" dirty="0"/>
              <a:t>Testing </a:t>
            </a:r>
          </a:p>
          <a:p>
            <a:pPr lvl="1" algn="just"/>
            <a:r>
              <a:rPr lang="en-US" dirty="0"/>
              <a:t>done during almost every phase of the systems development life cycle, not just before the organization ships or hands over a product to the customer</a:t>
            </a:r>
          </a:p>
          <a:p>
            <a:pPr lvl="1" algn="just"/>
            <a:r>
              <a:rPr lang="en-US" dirty="0"/>
              <a:t>Unit</a:t>
            </a:r>
          </a:p>
          <a:p>
            <a:pPr lvl="1" algn="just"/>
            <a:r>
              <a:rPr lang="en-US" dirty="0"/>
              <a:t>System</a:t>
            </a:r>
          </a:p>
          <a:p>
            <a:pPr lvl="1" algn="just"/>
            <a:r>
              <a:rPr lang="en-US" dirty="0"/>
              <a:t>Integration</a:t>
            </a:r>
          </a:p>
          <a:p>
            <a:pPr lvl="1" algn="just"/>
            <a:r>
              <a:rPr lang="en-US" dirty="0"/>
              <a:t>Acceptance</a:t>
            </a:r>
            <a:endParaRPr lang="en-MY" dirty="0"/>
          </a:p>
        </p:txBody>
      </p:sp>
    </p:spTree>
    <p:extLst>
      <p:ext uri="{BB962C8B-B14F-4D97-AF65-F5344CB8AC3E}">
        <p14:creationId xmlns:p14="http://schemas.microsoft.com/office/powerpoint/2010/main" val="379333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D5F9-E31A-05D6-4822-F048E0CB95D8}"/>
              </a:ext>
            </a:extLst>
          </p:cNvPr>
          <p:cNvSpPr>
            <a:spLocks noGrp="1"/>
          </p:cNvSpPr>
          <p:nvPr>
            <p:ph type="title"/>
          </p:nvPr>
        </p:nvSpPr>
        <p:spPr/>
        <p:txBody>
          <a:bodyPr>
            <a:normAutofit fontScale="90000"/>
          </a:bodyPr>
          <a:lstStyle/>
          <a:p>
            <a:r>
              <a:rPr lang="en-US" dirty="0"/>
              <a:t>Cost of Quality</a:t>
            </a:r>
            <a:br>
              <a:rPr lang="en-US" dirty="0"/>
            </a:br>
            <a:r>
              <a:rPr lang="en-US" dirty="0"/>
              <a:t>five major cost categories related to quality </a:t>
            </a:r>
            <a:endParaRPr lang="en-MY" dirty="0"/>
          </a:p>
        </p:txBody>
      </p:sp>
      <p:sp>
        <p:nvSpPr>
          <p:cNvPr id="3" name="Content Placeholder 2">
            <a:extLst>
              <a:ext uri="{FF2B5EF4-FFF2-40B4-BE49-F238E27FC236}">
                <a16:creationId xmlns:a16="http://schemas.microsoft.com/office/drawing/2014/main" id="{EC5D0284-255D-49AD-02DB-1B01ECB18873}"/>
              </a:ext>
            </a:extLst>
          </p:cNvPr>
          <p:cNvSpPr>
            <a:spLocks noGrp="1"/>
          </p:cNvSpPr>
          <p:nvPr>
            <p:ph idx="1"/>
          </p:nvPr>
        </p:nvSpPr>
        <p:spPr>
          <a:xfrm>
            <a:off x="1435100" y="2204864"/>
            <a:ext cx="7499350" cy="4800600"/>
          </a:xfrm>
        </p:spPr>
        <p:txBody>
          <a:bodyPr/>
          <a:lstStyle/>
          <a:p>
            <a:r>
              <a:rPr lang="en-US" dirty="0"/>
              <a:t>Prevention cost: The cost of planning and executing a project so that it is error-free or within an acceptable error range. Preventive actions such as training, detailed studies related to quality, and quality surveys of suppliers and subcontractors fall under this category</a:t>
            </a:r>
            <a:endParaRPr lang="en-MY" dirty="0"/>
          </a:p>
        </p:txBody>
      </p:sp>
    </p:spTree>
    <p:extLst>
      <p:ext uri="{BB962C8B-B14F-4D97-AF65-F5344CB8AC3E}">
        <p14:creationId xmlns:p14="http://schemas.microsoft.com/office/powerpoint/2010/main" val="2092864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129F-186A-C623-0F5D-FC33003E8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E8D72-5B48-0E0A-C8C9-A7B2066C3611}"/>
              </a:ext>
            </a:extLst>
          </p:cNvPr>
          <p:cNvSpPr>
            <a:spLocks noGrp="1"/>
          </p:cNvSpPr>
          <p:nvPr>
            <p:ph type="title"/>
          </p:nvPr>
        </p:nvSpPr>
        <p:spPr/>
        <p:txBody>
          <a:bodyPr>
            <a:normAutofit fontScale="90000"/>
          </a:bodyPr>
          <a:lstStyle/>
          <a:p>
            <a:r>
              <a:rPr lang="en-US" dirty="0"/>
              <a:t>Cost of Quality</a:t>
            </a:r>
            <a:br>
              <a:rPr lang="en-US" dirty="0"/>
            </a:br>
            <a:r>
              <a:rPr lang="en-US" dirty="0"/>
              <a:t>five major cost categories related to quality</a:t>
            </a:r>
            <a:endParaRPr lang="en-MY" dirty="0"/>
          </a:p>
        </p:txBody>
      </p:sp>
      <p:sp>
        <p:nvSpPr>
          <p:cNvPr id="3" name="Content Placeholder 2">
            <a:extLst>
              <a:ext uri="{FF2B5EF4-FFF2-40B4-BE49-F238E27FC236}">
                <a16:creationId xmlns:a16="http://schemas.microsoft.com/office/drawing/2014/main" id="{E4D5937F-A02E-6B6C-4910-88B972928015}"/>
              </a:ext>
            </a:extLst>
          </p:cNvPr>
          <p:cNvSpPr>
            <a:spLocks noGrp="1"/>
          </p:cNvSpPr>
          <p:nvPr>
            <p:ph idx="1"/>
          </p:nvPr>
        </p:nvSpPr>
        <p:spPr/>
        <p:txBody>
          <a:bodyPr/>
          <a:lstStyle/>
          <a:p>
            <a:r>
              <a:rPr lang="en-US" dirty="0"/>
              <a:t>Cost of Quality</a:t>
            </a:r>
          </a:p>
          <a:p>
            <a:pPr algn="just"/>
            <a:r>
              <a:rPr lang="en-US" dirty="0"/>
              <a:t>Appraisal cost: The cost of evaluating processes and their outputs to ensure that a project is error-free or within an acceptable error range. Activities such as inspection and testing of products, maintenance of inspection and test equipment, and processing and reporting inspection data all contribute to appraisal costs of quality.</a:t>
            </a:r>
            <a:endParaRPr lang="en-MY" dirty="0"/>
          </a:p>
        </p:txBody>
      </p:sp>
    </p:spTree>
    <p:extLst>
      <p:ext uri="{BB962C8B-B14F-4D97-AF65-F5344CB8AC3E}">
        <p14:creationId xmlns:p14="http://schemas.microsoft.com/office/powerpoint/2010/main" val="22404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8192-17E5-CD54-E7D7-690F9378313D}"/>
              </a:ext>
            </a:extLst>
          </p:cNvPr>
          <p:cNvSpPr>
            <a:spLocks noGrp="1"/>
          </p:cNvSpPr>
          <p:nvPr>
            <p:ph type="title"/>
          </p:nvPr>
        </p:nvSpPr>
        <p:spPr/>
        <p:txBody>
          <a:bodyPr>
            <a:normAutofit fontScale="90000"/>
          </a:bodyPr>
          <a:lstStyle/>
          <a:p>
            <a:r>
              <a:rPr lang="en-US" dirty="0"/>
              <a:t>Cost of Quality</a:t>
            </a:r>
            <a:br>
              <a:rPr lang="en-US" dirty="0"/>
            </a:br>
            <a:r>
              <a:rPr lang="en-US" dirty="0"/>
              <a:t>five major cost categories related to quality</a:t>
            </a:r>
            <a:endParaRPr lang="en-MY" dirty="0"/>
          </a:p>
        </p:txBody>
      </p:sp>
      <p:sp>
        <p:nvSpPr>
          <p:cNvPr id="3" name="Content Placeholder 2">
            <a:extLst>
              <a:ext uri="{FF2B5EF4-FFF2-40B4-BE49-F238E27FC236}">
                <a16:creationId xmlns:a16="http://schemas.microsoft.com/office/drawing/2014/main" id="{FC3012A9-823A-0C35-B304-D9328232B86D}"/>
              </a:ext>
            </a:extLst>
          </p:cNvPr>
          <p:cNvSpPr>
            <a:spLocks noGrp="1"/>
          </p:cNvSpPr>
          <p:nvPr>
            <p:ph idx="1"/>
          </p:nvPr>
        </p:nvSpPr>
        <p:spPr>
          <a:xfrm>
            <a:off x="1435100" y="1838528"/>
            <a:ext cx="7499350" cy="4800600"/>
          </a:xfrm>
        </p:spPr>
        <p:txBody>
          <a:bodyPr/>
          <a:lstStyle/>
          <a:p>
            <a:pPr algn="just"/>
            <a:r>
              <a:rPr lang="en-US" dirty="0"/>
              <a:t>Internal failure cost: A cost incurred to correct an identified defect before the customer receives the product. Items such as scrap and rework, charges related to late payment of bills, inventory costs that are a direct result of defects, costs of engineering changes related to correcting a design error, premature failure of products, and correcting documentation all contribute to internal failure cost.</a:t>
            </a:r>
            <a:endParaRPr lang="en-MY" dirty="0"/>
          </a:p>
        </p:txBody>
      </p:sp>
    </p:spTree>
    <p:extLst>
      <p:ext uri="{BB962C8B-B14F-4D97-AF65-F5344CB8AC3E}">
        <p14:creationId xmlns:p14="http://schemas.microsoft.com/office/powerpoint/2010/main" val="1169485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761E5-4C26-1E1D-F868-E04074C3E3F4}"/>
              </a:ext>
            </a:extLst>
          </p:cNvPr>
          <p:cNvSpPr>
            <a:spLocks noGrp="1"/>
          </p:cNvSpPr>
          <p:nvPr>
            <p:ph type="title"/>
          </p:nvPr>
        </p:nvSpPr>
        <p:spPr/>
        <p:txBody>
          <a:bodyPr>
            <a:normAutofit fontScale="90000"/>
          </a:bodyPr>
          <a:lstStyle/>
          <a:p>
            <a:r>
              <a:rPr lang="en-US" dirty="0"/>
              <a:t>Cost of Quality</a:t>
            </a:r>
            <a:br>
              <a:rPr lang="en-US" dirty="0"/>
            </a:br>
            <a:r>
              <a:rPr lang="en-US" dirty="0"/>
              <a:t>five major cost categories related to quality</a:t>
            </a:r>
            <a:endParaRPr lang="en-MY" dirty="0"/>
          </a:p>
        </p:txBody>
      </p:sp>
      <p:sp>
        <p:nvSpPr>
          <p:cNvPr id="3" name="Content Placeholder 2">
            <a:extLst>
              <a:ext uri="{FF2B5EF4-FFF2-40B4-BE49-F238E27FC236}">
                <a16:creationId xmlns:a16="http://schemas.microsoft.com/office/drawing/2014/main" id="{F8BEE6A4-2AA5-EEAD-D2CC-66CF94B44193}"/>
              </a:ext>
            </a:extLst>
          </p:cNvPr>
          <p:cNvSpPr>
            <a:spLocks noGrp="1"/>
          </p:cNvSpPr>
          <p:nvPr>
            <p:ph idx="1"/>
          </p:nvPr>
        </p:nvSpPr>
        <p:spPr>
          <a:xfrm>
            <a:off x="1427971" y="2035344"/>
            <a:ext cx="7499350" cy="4800600"/>
          </a:xfrm>
        </p:spPr>
        <p:txBody>
          <a:bodyPr/>
          <a:lstStyle/>
          <a:p>
            <a:pPr algn="just"/>
            <a:r>
              <a:rPr lang="en-US" dirty="0"/>
              <a:t>External failure cost: A cost that relates to all errors not detected and corrected before delivery to the customer. Items such as warranty cost, field service personnel training cost, product liability suits, complaint handling, and future business losses are examples of external failure costs.</a:t>
            </a:r>
            <a:endParaRPr lang="en-MY" dirty="0"/>
          </a:p>
        </p:txBody>
      </p:sp>
    </p:spTree>
    <p:extLst>
      <p:ext uri="{BB962C8B-B14F-4D97-AF65-F5344CB8AC3E}">
        <p14:creationId xmlns:p14="http://schemas.microsoft.com/office/powerpoint/2010/main" val="1599091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B7761-0503-6226-9F41-21FD0561CC2E}"/>
              </a:ext>
            </a:extLst>
          </p:cNvPr>
          <p:cNvSpPr>
            <a:spLocks noGrp="1"/>
          </p:cNvSpPr>
          <p:nvPr>
            <p:ph type="title"/>
          </p:nvPr>
        </p:nvSpPr>
        <p:spPr/>
        <p:txBody>
          <a:bodyPr>
            <a:normAutofit fontScale="90000"/>
          </a:bodyPr>
          <a:lstStyle/>
          <a:p>
            <a:r>
              <a:rPr lang="en-US" dirty="0"/>
              <a:t>Cost of Quality</a:t>
            </a:r>
            <a:br>
              <a:rPr lang="en-US" dirty="0"/>
            </a:br>
            <a:r>
              <a:rPr lang="en-US" dirty="0"/>
              <a:t>five major cost categories related to quality</a:t>
            </a:r>
            <a:endParaRPr lang="en-MY" dirty="0"/>
          </a:p>
        </p:txBody>
      </p:sp>
      <p:sp>
        <p:nvSpPr>
          <p:cNvPr id="3" name="Content Placeholder 2">
            <a:extLst>
              <a:ext uri="{FF2B5EF4-FFF2-40B4-BE49-F238E27FC236}">
                <a16:creationId xmlns:a16="http://schemas.microsoft.com/office/drawing/2014/main" id="{6984362B-9CAF-73FA-5EFE-E38CE3D4430C}"/>
              </a:ext>
            </a:extLst>
          </p:cNvPr>
          <p:cNvSpPr>
            <a:spLocks noGrp="1"/>
          </p:cNvSpPr>
          <p:nvPr>
            <p:ph idx="1"/>
          </p:nvPr>
        </p:nvSpPr>
        <p:spPr>
          <a:xfrm>
            <a:off x="1259632" y="2015889"/>
            <a:ext cx="7499350" cy="4800600"/>
          </a:xfrm>
        </p:spPr>
        <p:txBody>
          <a:bodyPr/>
          <a:lstStyle/>
          <a:p>
            <a:pPr algn="just"/>
            <a:r>
              <a:rPr lang="en-US" dirty="0"/>
              <a:t>Measurement and test equipment costs: The capital cost of equipment used to perform prevention and appraisal activities.</a:t>
            </a:r>
            <a:endParaRPr lang="en-MY" dirty="0"/>
          </a:p>
        </p:txBody>
      </p:sp>
    </p:spTree>
    <p:extLst>
      <p:ext uri="{BB962C8B-B14F-4D97-AF65-F5344CB8AC3E}">
        <p14:creationId xmlns:p14="http://schemas.microsoft.com/office/powerpoint/2010/main" val="26764837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2497</TotalTime>
  <Words>699</Words>
  <Application>Microsoft Office PowerPoint</Application>
  <PresentationFormat>On-screen Show (4:3)</PresentationFormat>
  <Paragraphs>57</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Gill Sans MT</vt:lpstr>
      <vt:lpstr>Goudy Stout</vt:lpstr>
      <vt:lpstr>Times</vt:lpstr>
      <vt:lpstr>Times New Roman</vt:lpstr>
      <vt:lpstr>Verdana</vt:lpstr>
      <vt:lpstr>Wingdings 2</vt:lpstr>
      <vt:lpstr>Solstice</vt:lpstr>
      <vt:lpstr>PowerPoint Presentation</vt:lpstr>
      <vt:lpstr>Project Quality Management</vt:lpstr>
      <vt:lpstr>Project Quality Management</vt:lpstr>
      <vt:lpstr>Project Quality Management</vt:lpstr>
      <vt:lpstr>Project Quality Management</vt:lpstr>
      <vt:lpstr>Project Quality Management Processes</vt:lpstr>
      <vt:lpstr>Project Quality Management Processes</vt:lpstr>
      <vt:lpstr>Project Quality Management Processes</vt:lpstr>
      <vt:lpstr>Project Quality Management Processes</vt:lpstr>
      <vt:lpstr>Tools And Techniques For Quality Control</vt:lpstr>
      <vt:lpstr>Cause-and-effect diagram</vt:lpstr>
      <vt:lpstr>Sample Checksheet</vt:lpstr>
      <vt:lpstr>Sample Checksheet</vt:lpstr>
      <vt:lpstr>Testing</vt:lpstr>
      <vt:lpstr>Cost of Quality five major cost categories related to quality </vt:lpstr>
      <vt:lpstr>Cost of Quality five major cost categories related to quality</vt:lpstr>
      <vt:lpstr>Cost of Quality five major cost categories related to quality</vt:lpstr>
      <vt:lpstr>Cost of Quality five major cost categories related to quality</vt:lpstr>
      <vt:lpstr>Cost of Quality five major cost categories related to quality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224</cp:revision>
  <cp:lastPrinted>2014-09-07T17:36:35Z</cp:lastPrinted>
  <dcterms:created xsi:type="dcterms:W3CDTF">2006-12-08T11:09:38Z</dcterms:created>
  <dcterms:modified xsi:type="dcterms:W3CDTF">2025-05-28T10:40:30Z</dcterms:modified>
</cp:coreProperties>
</file>