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92" r:id="rId5"/>
    <p:sldId id="260" r:id="rId6"/>
    <p:sldId id="261" r:id="rId7"/>
    <p:sldId id="262" r:id="rId8"/>
    <p:sldId id="305" r:id="rId9"/>
    <p:sldId id="287" r:id="rId10"/>
    <p:sldId id="288" r:id="rId11"/>
    <p:sldId id="290" r:id="rId12"/>
    <p:sldId id="291" r:id="rId13"/>
    <p:sldId id="293" r:id="rId14"/>
    <p:sldId id="263" r:id="rId15"/>
    <p:sldId id="264" r:id="rId16"/>
    <p:sldId id="306" r:id="rId17"/>
    <p:sldId id="265" r:id="rId18"/>
    <p:sldId id="266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5" autoAdjust="0"/>
    <p:restoredTop sz="94660"/>
  </p:normalViewPr>
  <p:slideViewPr>
    <p:cSldViewPr>
      <p:cViewPr varScale="1">
        <p:scale>
          <a:sx n="106" d="100"/>
          <a:sy n="106" d="100"/>
        </p:scale>
        <p:origin x="51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B260D-8F1E-4C53-B14B-3F0F42D5F938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01B3E-31C1-42AF-9EF6-3D5D13384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6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27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9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2B70E-41B7-49F8-A232-AE562DCC463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6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2319350"/>
            <a:ext cx="8486140" cy="1542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ldwebsite.com/" TargetMode="External"/><Relationship Id="rId2" Type="http://schemas.openxmlformats.org/officeDocument/2006/relationships/hyperlink" Target="http://www.newwebsite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467995" marR="460375" indent="183515">
              <a:lnSpc>
                <a:spcPts val="3829"/>
              </a:lnSpc>
              <a:spcBef>
                <a:spcPts val="3045"/>
              </a:spcBef>
            </a:pPr>
            <a:r>
              <a:rPr spc="-175" dirty="0">
                <a:solidFill>
                  <a:srgbClr val="FFFFFF"/>
                </a:solidFill>
                <a:latin typeface="Tahoma"/>
                <a:cs typeface="Tahoma"/>
              </a:rPr>
              <a:t>Javascript </a:t>
            </a:r>
            <a:r>
              <a:rPr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35" dirty="0">
                <a:solidFill>
                  <a:srgbClr val="FFFFFF"/>
                </a:solidFill>
                <a:latin typeface="Tahoma"/>
                <a:cs typeface="Tahoma"/>
              </a:rPr>
              <a:t>HTML</a:t>
            </a:r>
            <a:r>
              <a:rPr spc="-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FFFFFF"/>
                </a:solidFill>
                <a:latin typeface="Tahoma"/>
                <a:cs typeface="Tahoma"/>
              </a:rPr>
              <a:t>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31743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spc="-80" dirty="0"/>
              <a:t>HTML</a:t>
            </a:r>
            <a:r>
              <a:rPr spc="-95" dirty="0"/>
              <a:t> </a:t>
            </a:r>
            <a:r>
              <a:rPr spc="-180" dirty="0"/>
              <a:t>DOM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826375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8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object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model,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gets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power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needs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dynamic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HTML: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Tahoma"/>
              <a:cs typeface="Tahoma"/>
            </a:endParaRPr>
          </a:p>
          <a:p>
            <a:pPr marL="12700" marR="2111375">
              <a:lnSpc>
                <a:spcPct val="114599"/>
              </a:lnSpc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page 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attributes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styles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endParaRPr sz="1800">
              <a:latin typeface="Tahoma"/>
              <a:cs typeface="Tahoma"/>
            </a:endParaRPr>
          </a:p>
          <a:p>
            <a:pPr marL="12700" marR="1642745">
              <a:lnSpc>
                <a:spcPct val="114599"/>
              </a:lnSpc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remove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existing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attributes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attributes 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react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existing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events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page 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create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events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65525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spc="-80" dirty="0"/>
              <a:t>HTML</a:t>
            </a:r>
            <a:r>
              <a:rPr spc="-55" dirty="0"/>
              <a:t> </a:t>
            </a:r>
            <a:r>
              <a:rPr spc="-180" dirty="0"/>
              <a:t>DOM</a:t>
            </a:r>
            <a:r>
              <a:rPr spc="-55" dirty="0"/>
              <a:t> </a:t>
            </a:r>
            <a:r>
              <a:rPr spc="15" dirty="0"/>
              <a:t>Document</a:t>
            </a:r>
            <a:r>
              <a:rPr spc="-55" dirty="0"/>
              <a:t> </a:t>
            </a:r>
            <a:r>
              <a:rPr spc="-1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864"/>
            <a:ext cx="8162925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5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5" dirty="0">
                <a:solidFill>
                  <a:srgbClr val="5E686C"/>
                </a:solidFill>
                <a:latin typeface="Tahoma"/>
                <a:cs typeface="Tahoma"/>
              </a:rPr>
              <a:t>object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5" dirty="0">
                <a:solidFill>
                  <a:srgbClr val="5E686C"/>
                </a:solidFill>
                <a:latin typeface="Tahoma"/>
                <a:cs typeface="Tahoma"/>
              </a:rPr>
              <a:t>represents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25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55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13999"/>
              </a:lnSpc>
            </a:pPr>
            <a:r>
              <a:rPr sz="1700" spc="-45" dirty="0">
                <a:solidFill>
                  <a:srgbClr val="5E686C"/>
                </a:solidFill>
                <a:latin typeface="Tahoma"/>
                <a:cs typeface="Tahoma"/>
              </a:rPr>
              <a:t>If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5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5E686C"/>
                </a:solidFill>
                <a:latin typeface="Tahoma"/>
                <a:cs typeface="Tahoma"/>
              </a:rPr>
              <a:t>any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5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7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05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55" dirty="0">
                <a:solidFill>
                  <a:srgbClr val="5E686C"/>
                </a:solidFill>
                <a:latin typeface="Tahoma"/>
                <a:cs typeface="Tahoma"/>
              </a:rPr>
              <a:t>page,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5E686C"/>
                </a:solidFill>
                <a:latin typeface="Tahoma"/>
                <a:cs typeface="Tahoma"/>
              </a:rPr>
              <a:t>always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30" dirty="0">
                <a:solidFill>
                  <a:srgbClr val="5E686C"/>
                </a:solidFill>
                <a:latin typeface="Tahoma"/>
                <a:cs typeface="Tahoma"/>
              </a:rPr>
              <a:t>start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5E686C"/>
                </a:solidFill>
                <a:latin typeface="Tahoma"/>
                <a:cs typeface="Tahoma"/>
              </a:rPr>
              <a:t>accessing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5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700" spc="-5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5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17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15" dirty="0">
                <a:solidFill>
                  <a:srgbClr val="5E686C"/>
                </a:solidFill>
                <a:latin typeface="Tahoma"/>
                <a:cs typeface="Tahoma"/>
              </a:rPr>
              <a:t>object.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solidFill>
                  <a:srgbClr val="5E686C"/>
                </a:solidFill>
                <a:latin typeface="Tahoma"/>
                <a:cs typeface="Tahoma"/>
              </a:rPr>
              <a:t>Then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5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40" dirty="0">
                <a:solidFill>
                  <a:srgbClr val="5E686C"/>
                </a:solidFill>
                <a:latin typeface="Tahoma"/>
                <a:cs typeface="Tahoma"/>
              </a:rPr>
              <a:t>lot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5E686C"/>
                </a:solidFill>
                <a:latin typeface="Tahoma"/>
                <a:cs typeface="Tahoma"/>
              </a:rPr>
              <a:t>things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15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70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5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17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700" spc="-20" dirty="0">
                <a:solidFill>
                  <a:srgbClr val="5E686C"/>
                </a:solidFill>
                <a:latin typeface="Tahoma"/>
                <a:cs typeface="Tahoma"/>
              </a:rPr>
              <a:t>object:</a:t>
            </a:r>
            <a:endParaRPr sz="17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7737" y="3072987"/>
          <a:ext cx="7239000" cy="195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Action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8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Finding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Elements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document.querySelector</a:t>
                      </a:r>
                      <a:r>
                        <a:rPr sz="1200" spc="-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sz="1200" i="1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CSS</a:t>
                      </a:r>
                      <a:r>
                        <a:rPr sz="1200" i="1" spc="-130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i="1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selecto</a:t>
                      </a:r>
                      <a:r>
                        <a:rPr sz="1200" i="1" spc="-5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);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Adding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Deleting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Elements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document.createElement(</a:t>
                      </a:r>
                      <a:r>
                        <a:rPr sz="1200" i="1" spc="-25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element</a:t>
                      </a:r>
                      <a:r>
                        <a:rPr sz="1200" spc="-2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);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Changing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Elements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1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element.innerHTML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8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200" spc="-1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i="1" spc="-55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new</a:t>
                      </a:r>
                      <a:r>
                        <a:rPr sz="1200" i="1" spc="-130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i="1" spc="-75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html</a:t>
                      </a:r>
                      <a:r>
                        <a:rPr sz="1200" i="1" spc="-130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i="1" spc="-75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content;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Adding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Events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Handlers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element.addEventListener('event',</a:t>
                      </a:r>
                      <a:r>
                        <a:rPr sz="1200" spc="-145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i="1" dirty="0">
                          <a:solidFill>
                            <a:srgbClr val="5E686C"/>
                          </a:solidFill>
                          <a:latin typeface="Trebuchet MS"/>
                          <a:cs typeface="Trebuchet MS"/>
                        </a:rPr>
                        <a:t>handler</a:t>
                      </a:r>
                      <a:r>
                        <a:rPr sz="1200" dirty="0">
                          <a:solidFill>
                            <a:srgbClr val="5E686C"/>
                          </a:solidFill>
                          <a:latin typeface="Tahoma"/>
                          <a:cs typeface="Tahoma"/>
                        </a:rPr>
                        <a:t>);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2319350"/>
            <a:ext cx="8486140" cy="369332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FINDING HTML ELEMENTS</a:t>
            </a:r>
          </a:p>
        </p:txBody>
      </p:sp>
    </p:spTree>
    <p:extLst>
      <p:ext uri="{BB962C8B-B14F-4D97-AF65-F5344CB8AC3E}">
        <p14:creationId xmlns:p14="http://schemas.microsoft.com/office/powerpoint/2010/main" val="138765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418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Finding</a:t>
            </a:r>
            <a:r>
              <a:rPr spc="-90" dirty="0"/>
              <a:t> </a:t>
            </a:r>
            <a:r>
              <a:rPr spc="-80" dirty="0"/>
              <a:t>HTML</a:t>
            </a:r>
            <a:r>
              <a:rPr spc="-90" dirty="0"/>
              <a:t>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7753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If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find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matches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selector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5E686C"/>
                </a:solidFill>
                <a:latin typeface="Tahoma"/>
                <a:cs typeface="Tahoma"/>
              </a:rPr>
              <a:t>(id,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class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names,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types,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attributes,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attributes,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etc),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querySelector()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method.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704413"/>
            <a:ext cx="3545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document.querySelector("p.main");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0865">
              <a:lnSpc>
                <a:spcPct val="114599"/>
              </a:lnSpc>
              <a:spcBef>
                <a:spcPts val="100"/>
              </a:spcBef>
            </a:pPr>
            <a:r>
              <a:rPr spc="60" dirty="0"/>
              <a:t>For</a:t>
            </a:r>
            <a:r>
              <a:rPr spc="-215" dirty="0"/>
              <a:t> </a:t>
            </a:r>
            <a:r>
              <a:rPr spc="-5" dirty="0"/>
              <a:t>example</a:t>
            </a:r>
            <a:r>
              <a:rPr spc="-215" dirty="0"/>
              <a:t> </a:t>
            </a:r>
            <a:r>
              <a:rPr spc="20" dirty="0"/>
              <a:t>this</a:t>
            </a:r>
            <a:r>
              <a:rPr spc="-215" dirty="0"/>
              <a:t> </a:t>
            </a:r>
            <a:r>
              <a:rPr spc="5" dirty="0"/>
              <a:t>javascript</a:t>
            </a:r>
            <a:r>
              <a:rPr spc="-210" dirty="0"/>
              <a:t> </a:t>
            </a:r>
            <a:r>
              <a:rPr spc="10" dirty="0"/>
              <a:t>statement</a:t>
            </a:r>
            <a:r>
              <a:rPr spc="-215" dirty="0"/>
              <a:t> </a:t>
            </a:r>
            <a:r>
              <a:rPr spc="45" dirty="0"/>
              <a:t>will</a:t>
            </a:r>
            <a:r>
              <a:rPr spc="-215" dirty="0"/>
              <a:t> </a:t>
            </a:r>
            <a:r>
              <a:rPr spc="35" dirty="0"/>
              <a:t>return</a:t>
            </a:r>
            <a:r>
              <a:rPr spc="-210" dirty="0"/>
              <a:t> </a:t>
            </a:r>
            <a:r>
              <a:rPr spc="20" dirty="0"/>
              <a:t>the</a:t>
            </a:r>
            <a:r>
              <a:rPr spc="-210" dirty="0"/>
              <a:t> </a:t>
            </a:r>
            <a:r>
              <a:rPr b="1" spc="-75" dirty="0">
                <a:latin typeface="Tahoma"/>
                <a:cs typeface="Tahoma"/>
              </a:rPr>
              <a:t>first</a:t>
            </a:r>
            <a:r>
              <a:rPr b="1" spc="-180" dirty="0">
                <a:latin typeface="Tahoma"/>
                <a:cs typeface="Tahoma"/>
              </a:rPr>
              <a:t> </a:t>
            </a:r>
            <a:r>
              <a:rPr b="1" spc="-125" dirty="0">
                <a:latin typeface="Tahoma"/>
                <a:cs typeface="Tahoma"/>
              </a:rPr>
              <a:t>paragraph</a:t>
            </a:r>
            <a:r>
              <a:rPr b="1" spc="-175" dirty="0">
                <a:latin typeface="Tahoma"/>
                <a:cs typeface="Tahoma"/>
              </a:rPr>
              <a:t> </a:t>
            </a:r>
            <a:r>
              <a:rPr b="1" spc="-114" dirty="0">
                <a:latin typeface="Tahoma"/>
                <a:cs typeface="Tahoma"/>
              </a:rPr>
              <a:t>element</a:t>
            </a:r>
            <a:r>
              <a:rPr b="1" spc="-180" dirty="0">
                <a:latin typeface="Tahoma"/>
                <a:cs typeface="Tahoma"/>
              </a:rPr>
              <a:t> </a:t>
            </a:r>
            <a:r>
              <a:rPr b="1" spc="-80" dirty="0">
                <a:latin typeface="Tahoma"/>
                <a:cs typeface="Tahoma"/>
              </a:rPr>
              <a:t>of </a:t>
            </a:r>
            <a:r>
              <a:rPr b="1" spc="-515" dirty="0">
                <a:latin typeface="Tahoma"/>
                <a:cs typeface="Tahoma"/>
              </a:rPr>
              <a:t> </a:t>
            </a:r>
            <a:r>
              <a:rPr b="1" spc="-114" dirty="0">
                <a:latin typeface="Tahoma"/>
                <a:cs typeface="Tahoma"/>
              </a:rPr>
              <a:t>class</a:t>
            </a:r>
            <a:r>
              <a:rPr b="1" spc="-185" dirty="0">
                <a:latin typeface="Tahoma"/>
                <a:cs typeface="Tahoma"/>
              </a:rPr>
              <a:t> </a:t>
            </a:r>
            <a:r>
              <a:rPr b="1" spc="-145" dirty="0">
                <a:latin typeface="Tahoma"/>
                <a:cs typeface="Tahoma"/>
              </a:rPr>
              <a:t>main</a:t>
            </a:r>
            <a:r>
              <a:rPr spc="-145" dirty="0"/>
              <a:t>:</a:t>
            </a:r>
          </a:p>
          <a:p>
            <a:pPr marL="4175125">
              <a:lnSpc>
                <a:spcPts val="1430"/>
              </a:lnSpc>
              <a:spcBef>
                <a:spcPts val="1275"/>
              </a:spcBef>
            </a:pP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&lt;body&gt;</a:t>
            </a:r>
            <a:endParaRPr sz="1200">
              <a:latin typeface="Courier New"/>
              <a:cs typeface="Courier New"/>
            </a:endParaRPr>
          </a:p>
          <a:p>
            <a:pPr marL="4449445">
              <a:lnSpc>
                <a:spcPts val="1425"/>
              </a:lnSpc>
            </a:pP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&lt;p&gt;my</a:t>
            </a:r>
            <a:r>
              <a:rPr sz="1200" spc="-4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first</a:t>
            </a:r>
            <a:r>
              <a:rPr sz="1200" spc="-4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  <a:p>
            <a:pPr marL="4450080">
              <a:lnSpc>
                <a:spcPts val="1425"/>
              </a:lnSpc>
            </a:pP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&lt;p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class="main"&gt;my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first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main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  <a:p>
            <a:pPr marL="4449445">
              <a:lnSpc>
                <a:spcPts val="1435"/>
              </a:lnSpc>
            </a:pP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&lt;p</a:t>
            </a:r>
            <a:r>
              <a:rPr sz="12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class="main"&gt;my</a:t>
            </a:r>
            <a:r>
              <a:rPr sz="12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second</a:t>
            </a:r>
            <a:r>
              <a:rPr sz="1200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main</a:t>
            </a:r>
            <a:r>
              <a:rPr sz="12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7750" y="3834203"/>
            <a:ext cx="414083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ts val="1435"/>
              </a:lnSpc>
              <a:spcBef>
                <a:spcPts val="100"/>
              </a:spcBef>
            </a:pPr>
            <a:r>
              <a:rPr sz="1200" spc="-5" dirty="0">
                <a:latin typeface="Courier New"/>
                <a:cs typeface="Courier New"/>
              </a:rPr>
              <a:t>&lt;a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  <a:hlinkClick r:id="rId2"/>
              </a:rPr>
              <a:t>href="http://www.google.com"&gt;google&lt;/a&gt;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5" dirty="0">
                <a:latin typeface="Courier New"/>
                <a:cs typeface="Courier New"/>
              </a:rPr>
              <a:t>&lt;/body&gt;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418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Finding</a:t>
            </a:r>
            <a:r>
              <a:rPr spc="-90" dirty="0"/>
              <a:t> </a:t>
            </a:r>
            <a:r>
              <a:rPr spc="-80" dirty="0"/>
              <a:t>HTML</a:t>
            </a:r>
            <a:r>
              <a:rPr spc="-90" dirty="0"/>
              <a:t>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4450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If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find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match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5E686C"/>
                </a:solidFill>
                <a:latin typeface="Tahoma"/>
                <a:cs typeface="Tahoma"/>
              </a:rPr>
              <a:t>(id,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class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names,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types,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attributes,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attributes,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etc),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querySelectorAll()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method.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704413"/>
            <a:ext cx="38658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document.querySelectorAll("p.main");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2759">
              <a:lnSpc>
                <a:spcPct val="114599"/>
              </a:lnSpc>
              <a:spcBef>
                <a:spcPts val="100"/>
              </a:spcBef>
            </a:pPr>
            <a:r>
              <a:rPr spc="60" dirty="0"/>
              <a:t>For</a:t>
            </a:r>
            <a:r>
              <a:rPr spc="-215" dirty="0"/>
              <a:t> </a:t>
            </a:r>
            <a:r>
              <a:rPr spc="-5" dirty="0"/>
              <a:t>example</a:t>
            </a:r>
            <a:r>
              <a:rPr spc="-210" dirty="0"/>
              <a:t> </a:t>
            </a:r>
            <a:r>
              <a:rPr spc="20" dirty="0"/>
              <a:t>this</a:t>
            </a:r>
            <a:r>
              <a:rPr spc="-210" dirty="0"/>
              <a:t> </a:t>
            </a:r>
            <a:r>
              <a:rPr spc="5" dirty="0"/>
              <a:t>javascript</a:t>
            </a:r>
            <a:r>
              <a:rPr spc="-210" dirty="0"/>
              <a:t> </a:t>
            </a:r>
            <a:r>
              <a:rPr spc="10" dirty="0"/>
              <a:t>statement</a:t>
            </a:r>
            <a:r>
              <a:rPr spc="-215" dirty="0"/>
              <a:t> </a:t>
            </a:r>
            <a:r>
              <a:rPr spc="45" dirty="0"/>
              <a:t>will</a:t>
            </a:r>
            <a:r>
              <a:rPr spc="-210" dirty="0"/>
              <a:t> </a:t>
            </a:r>
            <a:r>
              <a:rPr spc="35" dirty="0"/>
              <a:t>return</a:t>
            </a:r>
            <a:r>
              <a:rPr spc="-204" dirty="0"/>
              <a:t> </a:t>
            </a:r>
            <a:r>
              <a:rPr b="1" spc="-90" dirty="0">
                <a:latin typeface="Tahoma"/>
                <a:cs typeface="Tahoma"/>
              </a:rPr>
              <a:t>all</a:t>
            </a:r>
            <a:r>
              <a:rPr b="1" spc="-175" dirty="0">
                <a:latin typeface="Tahoma"/>
                <a:cs typeface="Tahoma"/>
              </a:rPr>
              <a:t> </a:t>
            </a:r>
            <a:r>
              <a:rPr b="1" spc="-125" dirty="0">
                <a:latin typeface="Tahoma"/>
                <a:cs typeface="Tahoma"/>
              </a:rPr>
              <a:t>paragraph</a:t>
            </a:r>
            <a:r>
              <a:rPr b="1" spc="-180" dirty="0">
                <a:latin typeface="Tahoma"/>
                <a:cs typeface="Tahoma"/>
              </a:rPr>
              <a:t> </a:t>
            </a:r>
            <a:r>
              <a:rPr b="1" spc="-120" dirty="0">
                <a:latin typeface="Tahoma"/>
                <a:cs typeface="Tahoma"/>
              </a:rPr>
              <a:t>elements</a:t>
            </a:r>
            <a:r>
              <a:rPr b="1" spc="-175" dirty="0">
                <a:latin typeface="Tahoma"/>
                <a:cs typeface="Tahoma"/>
              </a:rPr>
              <a:t> </a:t>
            </a:r>
            <a:r>
              <a:rPr b="1" spc="-75" dirty="0">
                <a:latin typeface="Tahoma"/>
                <a:cs typeface="Tahoma"/>
              </a:rPr>
              <a:t>of</a:t>
            </a:r>
            <a:r>
              <a:rPr b="1" spc="-175" dirty="0">
                <a:latin typeface="Tahoma"/>
                <a:cs typeface="Tahoma"/>
              </a:rPr>
              <a:t> </a:t>
            </a:r>
            <a:r>
              <a:rPr b="1" spc="-114" dirty="0">
                <a:latin typeface="Tahoma"/>
                <a:cs typeface="Tahoma"/>
              </a:rPr>
              <a:t>class </a:t>
            </a:r>
            <a:r>
              <a:rPr b="1" spc="-515" dirty="0">
                <a:latin typeface="Tahoma"/>
                <a:cs typeface="Tahoma"/>
              </a:rPr>
              <a:t> </a:t>
            </a:r>
            <a:r>
              <a:rPr b="1" spc="-145" dirty="0">
                <a:latin typeface="Tahoma"/>
                <a:cs typeface="Tahoma"/>
              </a:rPr>
              <a:t>main</a:t>
            </a:r>
            <a:r>
              <a:rPr spc="-145" dirty="0"/>
              <a:t>:</a:t>
            </a:r>
          </a:p>
          <a:p>
            <a:pPr marL="4175125">
              <a:lnSpc>
                <a:spcPts val="1430"/>
              </a:lnSpc>
              <a:spcBef>
                <a:spcPts val="1275"/>
              </a:spcBef>
            </a:pP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&lt;body&gt;</a:t>
            </a:r>
            <a:endParaRPr sz="1200">
              <a:latin typeface="Courier New"/>
              <a:cs typeface="Courier New"/>
            </a:endParaRPr>
          </a:p>
          <a:p>
            <a:pPr marL="4449445">
              <a:lnSpc>
                <a:spcPts val="1425"/>
              </a:lnSpc>
            </a:pP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&lt;p&gt;my</a:t>
            </a:r>
            <a:r>
              <a:rPr sz="1200" spc="-4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first</a:t>
            </a:r>
            <a:r>
              <a:rPr sz="1200" spc="-4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0000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  <a:p>
            <a:pPr marL="4450080">
              <a:lnSpc>
                <a:spcPts val="1425"/>
              </a:lnSpc>
            </a:pP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&lt;p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class="main"&gt;my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first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main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  <a:p>
            <a:pPr marL="4450080">
              <a:lnSpc>
                <a:spcPts val="1435"/>
              </a:lnSpc>
            </a:pP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&lt;p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class="main"&gt;my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second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main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7750" y="3834203"/>
            <a:ext cx="414083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ts val="1435"/>
              </a:lnSpc>
              <a:spcBef>
                <a:spcPts val="100"/>
              </a:spcBef>
            </a:pPr>
            <a:r>
              <a:rPr sz="1200" spc="-5" dirty="0">
                <a:latin typeface="Courier New"/>
                <a:cs typeface="Courier New"/>
              </a:rPr>
              <a:t>&lt;a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  <a:hlinkClick r:id="rId2"/>
              </a:rPr>
              <a:t>href="http://www.google.com"&gt;google&lt;/a&gt;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5" dirty="0">
                <a:latin typeface="Courier New"/>
                <a:cs typeface="Courier New"/>
              </a:rPr>
              <a:t>&lt;/body&gt;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418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Finding</a:t>
            </a:r>
            <a:r>
              <a:rPr spc="-90" dirty="0"/>
              <a:t> </a:t>
            </a:r>
            <a:r>
              <a:rPr spc="-80" dirty="0"/>
              <a:t>HTML</a:t>
            </a:r>
            <a:r>
              <a:rPr spc="-90" dirty="0"/>
              <a:t>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92353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querySelectorAll()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return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match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query.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61413"/>
            <a:ext cx="5252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pars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document.querySelectorAll("p.main");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8575" y="3322704"/>
            <a:ext cx="258508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5" dirty="0">
                <a:latin typeface="Courier New"/>
                <a:cs typeface="Courier New"/>
              </a:rPr>
              <a:t>&lt;body&gt;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ts val="1435"/>
              </a:lnSpc>
            </a:pPr>
            <a:r>
              <a:rPr sz="1200" spc="-5" dirty="0">
                <a:latin typeface="Courier New"/>
                <a:cs typeface="Courier New"/>
              </a:rPr>
              <a:t>&lt;p&gt;my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first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2939" y="3684654"/>
            <a:ext cx="3956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&lt;p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class="main"&gt;my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first</a:t>
            </a:r>
            <a:r>
              <a:rPr sz="1200" spc="-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main</a:t>
            </a:r>
            <a:r>
              <a:rPr sz="1200" spc="-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2895" y="3865629"/>
            <a:ext cx="4048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E69137"/>
                </a:solidFill>
                <a:latin typeface="Courier New"/>
                <a:cs typeface="Courier New"/>
              </a:rPr>
              <a:t>&lt;p</a:t>
            </a:r>
            <a:r>
              <a:rPr sz="1200" spc="-25" dirty="0">
                <a:solidFill>
                  <a:srgbClr val="E69137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E69137"/>
                </a:solidFill>
                <a:latin typeface="Courier New"/>
                <a:cs typeface="Courier New"/>
              </a:rPr>
              <a:t>class="main"&gt;my</a:t>
            </a:r>
            <a:r>
              <a:rPr sz="1200" spc="-25" dirty="0">
                <a:solidFill>
                  <a:srgbClr val="E69137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E69137"/>
                </a:solidFill>
                <a:latin typeface="Courier New"/>
                <a:cs typeface="Courier New"/>
              </a:rPr>
              <a:t>second</a:t>
            </a:r>
            <a:r>
              <a:rPr sz="1200" spc="-20" dirty="0">
                <a:solidFill>
                  <a:srgbClr val="E69137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E69137"/>
                </a:solidFill>
                <a:latin typeface="Courier New"/>
                <a:cs typeface="Courier New"/>
              </a:rPr>
              <a:t>main</a:t>
            </a:r>
            <a:r>
              <a:rPr sz="1200" spc="-25" dirty="0">
                <a:solidFill>
                  <a:srgbClr val="E69137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E69137"/>
                </a:solidFill>
                <a:latin typeface="Courier New"/>
                <a:cs typeface="Courier New"/>
              </a:rPr>
              <a:t>paragraph&lt;/p&gt;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8575" y="4046604"/>
            <a:ext cx="414083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ts val="1435"/>
              </a:lnSpc>
              <a:spcBef>
                <a:spcPts val="100"/>
              </a:spcBef>
            </a:pPr>
            <a:r>
              <a:rPr sz="1200" spc="-5" dirty="0">
                <a:latin typeface="Courier New"/>
                <a:cs typeface="Courier New"/>
              </a:rPr>
              <a:t>&lt;a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  <a:hlinkClick r:id="rId2"/>
              </a:rPr>
              <a:t>href="http://www.google.com"&gt;google&lt;/a&gt;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0"/>
              </a:lnSpc>
            </a:pPr>
            <a:r>
              <a:rPr sz="1200" spc="-5" dirty="0">
                <a:latin typeface="Courier New"/>
                <a:cs typeface="Courier New"/>
              </a:rPr>
              <a:t>&lt;/body&gt;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93550" y="3510256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45E61"/>
                </a:solidFill>
                <a:latin typeface="Arial MT"/>
                <a:cs typeface="Arial MT"/>
              </a:rPr>
              <a:t>pars[0]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900" y="3787731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E69137"/>
                </a:solidFill>
                <a:latin typeface="Arial MT"/>
                <a:cs typeface="Arial MT"/>
              </a:rPr>
              <a:t>pars[1]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04309" y="3667362"/>
            <a:ext cx="621030" cy="116839"/>
            <a:chOff x="6304309" y="3667362"/>
            <a:chExt cx="621030" cy="116839"/>
          </a:xfrm>
        </p:grpSpPr>
        <p:sp>
          <p:nvSpPr>
            <p:cNvPr id="12" name="object 12"/>
            <p:cNvSpPr/>
            <p:nvPr/>
          </p:nvSpPr>
          <p:spPr>
            <a:xfrm>
              <a:off x="6351746" y="3672125"/>
              <a:ext cx="568960" cy="92075"/>
            </a:xfrm>
            <a:custGeom>
              <a:avLst/>
              <a:gdLst/>
              <a:ahLst/>
              <a:cxnLst/>
              <a:rect l="l" t="t" r="r" b="b"/>
              <a:pathLst>
                <a:path w="568959" h="92075">
                  <a:moveTo>
                    <a:pt x="568778" y="0"/>
                  </a:moveTo>
                  <a:lnTo>
                    <a:pt x="0" y="91702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09072" y="374829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178" y="31064"/>
                  </a:moveTo>
                  <a:lnTo>
                    <a:pt x="0" y="22412"/>
                  </a:lnTo>
                  <a:lnTo>
                    <a:pt x="40169" y="0"/>
                  </a:lnTo>
                  <a:lnTo>
                    <a:pt x="45178" y="31064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09072" y="374829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0169" y="0"/>
                  </a:moveTo>
                  <a:lnTo>
                    <a:pt x="0" y="22412"/>
                  </a:lnTo>
                  <a:lnTo>
                    <a:pt x="45178" y="31064"/>
                  </a:lnTo>
                  <a:lnTo>
                    <a:pt x="40169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412687" y="3974297"/>
            <a:ext cx="857250" cy="41275"/>
            <a:chOff x="1412687" y="3974297"/>
            <a:chExt cx="857250" cy="41275"/>
          </a:xfrm>
        </p:grpSpPr>
        <p:sp>
          <p:nvSpPr>
            <p:cNvPr id="16" name="object 16"/>
            <p:cNvSpPr/>
            <p:nvPr/>
          </p:nvSpPr>
          <p:spPr>
            <a:xfrm>
              <a:off x="1417450" y="3988349"/>
              <a:ext cx="804545" cy="6985"/>
            </a:xfrm>
            <a:custGeom>
              <a:avLst/>
              <a:gdLst/>
              <a:ahLst/>
              <a:cxnLst/>
              <a:rect l="l" t="t" r="r" b="b"/>
              <a:pathLst>
                <a:path w="804544" h="6985">
                  <a:moveTo>
                    <a:pt x="0" y="0"/>
                  </a:moveTo>
                  <a:lnTo>
                    <a:pt x="804451" y="6442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21775" y="397905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51" y="0"/>
                  </a:lnTo>
                  <a:lnTo>
                    <a:pt x="43349" y="1607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21775" y="397905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49" y="16078"/>
                  </a:lnTo>
                  <a:lnTo>
                    <a:pt x="251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/>
              <a:t>ACESSING AND FINDING ELEMENTS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23950"/>
            <a:ext cx="8486140" cy="830997"/>
          </a:xfrm>
        </p:spPr>
        <p:txBody>
          <a:bodyPr/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 GET ELEMENT BY ID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GET ELEMENT BY CLASS NAME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GET ELEMENT BY TAG NAME</a:t>
            </a:r>
          </a:p>
        </p:txBody>
      </p:sp>
    </p:spTree>
    <p:extLst>
      <p:ext uri="{BB962C8B-B14F-4D97-AF65-F5344CB8AC3E}">
        <p14:creationId xmlns:p14="http://schemas.microsoft.com/office/powerpoint/2010/main" val="351724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Accessing and finding  elements: 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CC76F15A-3445-4ED0-A4DF-DE4BBF06AE1A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109230" y="895350"/>
            <a:ext cx="61150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err="1"/>
              <a:t>document.getElementById</a:t>
            </a:r>
            <a:r>
              <a:rPr lang="en-US" sz="2800" dirty="0"/>
              <a:t> returns the DOM object for an element with a given id</a:t>
            </a:r>
          </a:p>
          <a:p>
            <a:pPr algn="just"/>
            <a:r>
              <a:rPr lang="en-US" sz="2800" dirty="0"/>
              <a:t>can change the text inside most elements by setting the </a:t>
            </a:r>
            <a:r>
              <a:rPr lang="en-US" sz="2800" dirty="0" err="1"/>
              <a:t>innerHTML</a:t>
            </a:r>
            <a:r>
              <a:rPr lang="en-US" sz="2800" dirty="0"/>
              <a:t> property</a:t>
            </a:r>
          </a:p>
        </p:txBody>
      </p:sp>
    </p:spTree>
    <p:extLst>
      <p:ext uri="{BB962C8B-B14F-4D97-AF65-F5344CB8AC3E}">
        <p14:creationId xmlns:p14="http://schemas.microsoft.com/office/powerpoint/2010/main" val="183328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Basharat Mahmood, Department of Computer Science, CIIT, Islamabad, Pakistan.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D1BB0B1-F5A1-4ED6-814D-7F67699B793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67687" y="338505"/>
            <a:ext cx="8008629" cy="4702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272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Basharat Mahmood, Department of Computer Science, CIIT, Islamabad, Pakistan.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D1BB0B1-F5A1-4ED6-814D-7F67699B793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" y="698047"/>
            <a:ext cx="8704385" cy="434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2B9937F-6D8C-4400-BE93-D5C0A554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424203"/>
          </a:xfrm>
        </p:spPr>
        <p:txBody>
          <a:bodyPr>
            <a:normAutofit fontScale="90000"/>
          </a:bodyPr>
          <a:lstStyle/>
          <a:p>
            <a:r>
              <a:rPr lang="en-US" dirty="0"/>
              <a:t>HTML GET ELEMENTS BY TAG NAME</a:t>
            </a:r>
          </a:p>
        </p:txBody>
      </p:sp>
    </p:spTree>
    <p:extLst>
      <p:ext uri="{BB962C8B-B14F-4D97-AF65-F5344CB8AC3E}">
        <p14:creationId xmlns:p14="http://schemas.microsoft.com/office/powerpoint/2010/main" val="220523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GET ELEMENTS BY CLASS NAME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Basharat Mahmood, Department of Computer Science, CIIT, Islamabad, Pakistan.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D1BB0B1-F5A1-4ED6-814D-7F67699B793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244" y="983456"/>
            <a:ext cx="8419514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9419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2319350"/>
            <a:ext cx="8486140" cy="369332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CHANGING HTML ELEMENTS</a:t>
            </a:r>
          </a:p>
        </p:txBody>
      </p:sp>
    </p:spTree>
    <p:extLst>
      <p:ext uri="{BB962C8B-B14F-4D97-AF65-F5344CB8AC3E}">
        <p14:creationId xmlns:p14="http://schemas.microsoft.com/office/powerpoint/2010/main" val="117786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999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Changing</a:t>
            </a:r>
            <a:r>
              <a:rPr spc="-85" dirty="0"/>
              <a:t> </a:t>
            </a:r>
            <a:r>
              <a:rPr spc="-80" dirty="0"/>
              <a:t>HTML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09205" cy="175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85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allows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elements.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easiest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way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modify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-65" dirty="0">
                <a:solidFill>
                  <a:srgbClr val="5E686C"/>
                </a:solidFill>
                <a:latin typeface="Tahoma"/>
                <a:cs typeface="Tahoma"/>
              </a:rPr>
              <a:t>innerHTML</a:t>
            </a:r>
            <a:r>
              <a:rPr sz="1800" b="1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property.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element,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syntax: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4531" y="3838525"/>
            <a:ext cx="748665" cy="274320"/>
          </a:xfrm>
          <a:custGeom>
            <a:avLst/>
            <a:gdLst/>
            <a:ahLst/>
            <a:cxnLst/>
            <a:rect l="l" t="t" r="r" b="b"/>
            <a:pathLst>
              <a:path w="748664" h="274320">
                <a:moveTo>
                  <a:pt x="748098" y="274320"/>
                </a:moveTo>
                <a:lnTo>
                  <a:pt x="0" y="274320"/>
                </a:lnTo>
                <a:lnTo>
                  <a:pt x="0" y="0"/>
                </a:lnTo>
                <a:lnTo>
                  <a:pt x="748098" y="0"/>
                </a:lnTo>
                <a:lnTo>
                  <a:pt x="748098" y="274320"/>
                </a:lnTo>
                <a:close/>
              </a:path>
            </a:pathLst>
          </a:custGeom>
          <a:solidFill>
            <a:srgbClr val="93C4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61832" y="3816680"/>
            <a:ext cx="215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20" dirty="0">
                <a:solidFill>
                  <a:srgbClr val="5E686C"/>
                </a:solidFill>
                <a:latin typeface="Trebuchet MS"/>
                <a:cs typeface="Trebuchet MS"/>
              </a:rPr>
              <a:t>element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.innerHTML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70" dirty="0">
                <a:solidFill>
                  <a:srgbClr val="5E686C"/>
                </a:solidFill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2076" y="3838525"/>
            <a:ext cx="1017905" cy="274320"/>
          </a:xfrm>
          <a:prstGeom prst="rect">
            <a:avLst/>
          </a:prstGeom>
          <a:solidFill>
            <a:srgbClr val="F6B26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i="1" spc="-80" dirty="0">
                <a:solidFill>
                  <a:srgbClr val="5E686C"/>
                </a:solidFill>
                <a:latin typeface="Trebuchet MS"/>
                <a:cs typeface="Trebuchet MS"/>
              </a:rPr>
              <a:t>new</a:t>
            </a:r>
            <a:r>
              <a:rPr sz="1800" i="1" spc="-195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1800" i="1" spc="25" dirty="0">
                <a:solidFill>
                  <a:srgbClr val="5E686C"/>
                </a:solidFill>
                <a:latin typeface="Trebuchet MS"/>
                <a:cs typeface="Trebuchet MS"/>
              </a:rPr>
              <a:t>HTML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23996" y="3743445"/>
            <a:ext cx="476250" cy="166370"/>
            <a:chOff x="2523996" y="3743445"/>
            <a:chExt cx="476250" cy="166370"/>
          </a:xfrm>
        </p:grpSpPr>
        <p:sp>
          <p:nvSpPr>
            <p:cNvPr id="8" name="object 8"/>
            <p:cNvSpPr/>
            <p:nvPr/>
          </p:nvSpPr>
          <p:spPr>
            <a:xfrm>
              <a:off x="2569763" y="3763132"/>
              <a:ext cx="425450" cy="142240"/>
            </a:xfrm>
            <a:custGeom>
              <a:avLst/>
              <a:gdLst/>
              <a:ahLst/>
              <a:cxnLst/>
              <a:rect l="l" t="t" r="r" b="b"/>
              <a:pathLst>
                <a:path w="425450" h="142239">
                  <a:moveTo>
                    <a:pt x="425186" y="14181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28759" y="3748208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5">
                  <a:moveTo>
                    <a:pt x="36026" y="29848"/>
                  </a:moveTo>
                  <a:lnTo>
                    <a:pt x="0" y="1247"/>
                  </a:lnTo>
                  <a:lnTo>
                    <a:pt x="45982" y="0"/>
                  </a:lnTo>
                  <a:lnTo>
                    <a:pt x="36026" y="29848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28759" y="3748208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5" h="29845">
                  <a:moveTo>
                    <a:pt x="45982" y="0"/>
                  </a:moveTo>
                  <a:lnTo>
                    <a:pt x="0" y="1247"/>
                  </a:lnTo>
                  <a:lnTo>
                    <a:pt x="36026" y="29848"/>
                  </a:lnTo>
                  <a:lnTo>
                    <a:pt x="45982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186187" y="3835851"/>
            <a:ext cx="393065" cy="164465"/>
            <a:chOff x="6186187" y="3835851"/>
            <a:chExt cx="393065" cy="164465"/>
          </a:xfrm>
        </p:grpSpPr>
        <p:sp>
          <p:nvSpPr>
            <p:cNvPr id="12" name="object 12"/>
            <p:cNvSpPr/>
            <p:nvPr/>
          </p:nvSpPr>
          <p:spPr>
            <a:xfrm>
              <a:off x="6190950" y="3856797"/>
              <a:ext cx="343535" cy="139065"/>
            </a:xfrm>
            <a:custGeom>
              <a:avLst/>
              <a:gdLst/>
              <a:ahLst/>
              <a:cxnLst/>
              <a:rect l="l" t="t" r="r" b="b"/>
              <a:pathLst>
                <a:path w="343534" h="139064">
                  <a:moveTo>
                    <a:pt x="0" y="138501"/>
                  </a:moveTo>
                  <a:lnTo>
                    <a:pt x="343006" y="0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28066" y="3840613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11780" y="30772"/>
                  </a:moveTo>
                  <a:lnTo>
                    <a:pt x="0" y="1595"/>
                  </a:lnTo>
                  <a:lnTo>
                    <a:pt x="45971" y="0"/>
                  </a:lnTo>
                  <a:lnTo>
                    <a:pt x="11780" y="30772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28066" y="3840613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11780" y="30772"/>
                  </a:moveTo>
                  <a:lnTo>
                    <a:pt x="45971" y="0"/>
                  </a:lnTo>
                  <a:lnTo>
                    <a:pt x="0" y="1595"/>
                  </a:lnTo>
                  <a:lnTo>
                    <a:pt x="11780" y="30772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99000" y="3553962"/>
            <a:ext cx="192532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1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new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html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code  </a:t>
            </a:r>
            <a:r>
              <a:rPr sz="1400" spc="35" dirty="0">
                <a:latin typeface="Tahoma"/>
                <a:cs typeface="Tahoma"/>
              </a:rPr>
              <a:t>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text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you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put  inside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450" y="3553962"/>
            <a:ext cx="188976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change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html  inside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it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999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Changing</a:t>
            </a:r>
            <a:r>
              <a:rPr spc="-85" dirty="0"/>
              <a:t> </a:t>
            </a:r>
            <a:r>
              <a:rPr spc="-80" dirty="0"/>
              <a:t>HTML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138034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example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inside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h1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element:</a:t>
            </a:r>
            <a:endParaRPr sz="1800">
              <a:latin typeface="Tahoma"/>
              <a:cs typeface="Tahoma"/>
            </a:endParaRPr>
          </a:p>
          <a:p>
            <a:pPr marL="12700" marR="2636520">
              <a:lnSpc>
                <a:spcPct val="116100"/>
              </a:lnSpc>
              <a:spcBef>
                <a:spcPts val="163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let header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document.querySelector("h1"); </a:t>
            </a:r>
            <a:r>
              <a:rPr sz="1400" spc="-8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header.innerHTML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"My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new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heading";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600" y="3553962"/>
            <a:ext cx="2176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&lt;h1&gt;My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new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heading&lt;/h1&gt;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450" y="3553962"/>
            <a:ext cx="2092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&lt;h1&gt;My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heading&lt;/h1&gt;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79062" y="3504137"/>
            <a:ext cx="1864995" cy="398780"/>
            <a:chOff x="3379062" y="3504137"/>
            <a:chExt cx="1864995" cy="398780"/>
          </a:xfrm>
        </p:grpSpPr>
        <p:sp>
          <p:nvSpPr>
            <p:cNvPr id="7" name="object 7"/>
            <p:cNvSpPr/>
            <p:nvPr/>
          </p:nvSpPr>
          <p:spPr>
            <a:xfrm>
              <a:off x="3383824" y="3508900"/>
              <a:ext cx="1855470" cy="389255"/>
            </a:xfrm>
            <a:custGeom>
              <a:avLst/>
              <a:gdLst/>
              <a:ahLst/>
              <a:cxnLst/>
              <a:rect l="l" t="t" r="r" b="b"/>
              <a:pathLst>
                <a:path w="1855470" h="389254">
                  <a:moveTo>
                    <a:pt x="1660649" y="389099"/>
                  </a:moveTo>
                  <a:lnTo>
                    <a:pt x="1660649" y="291824"/>
                  </a:lnTo>
                  <a:lnTo>
                    <a:pt x="0" y="291824"/>
                  </a:lnTo>
                  <a:lnTo>
                    <a:pt x="0" y="97274"/>
                  </a:lnTo>
                  <a:lnTo>
                    <a:pt x="1660649" y="97274"/>
                  </a:lnTo>
                  <a:lnTo>
                    <a:pt x="1660649" y="0"/>
                  </a:lnTo>
                  <a:lnTo>
                    <a:pt x="1855199" y="194549"/>
                  </a:lnTo>
                  <a:lnTo>
                    <a:pt x="1660649" y="3890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83824" y="3508900"/>
              <a:ext cx="1855470" cy="389255"/>
            </a:xfrm>
            <a:custGeom>
              <a:avLst/>
              <a:gdLst/>
              <a:ahLst/>
              <a:cxnLst/>
              <a:rect l="l" t="t" r="r" b="b"/>
              <a:pathLst>
                <a:path w="1855470" h="389254">
                  <a:moveTo>
                    <a:pt x="0" y="97274"/>
                  </a:moveTo>
                  <a:lnTo>
                    <a:pt x="1660649" y="97274"/>
                  </a:lnTo>
                  <a:lnTo>
                    <a:pt x="1660649" y="0"/>
                  </a:lnTo>
                  <a:lnTo>
                    <a:pt x="1855199" y="194549"/>
                  </a:lnTo>
                  <a:lnTo>
                    <a:pt x="1660649" y="389099"/>
                  </a:lnTo>
                  <a:lnTo>
                    <a:pt x="1660649" y="291824"/>
                  </a:lnTo>
                  <a:lnTo>
                    <a:pt x="0" y="291824"/>
                  </a:lnTo>
                  <a:lnTo>
                    <a:pt x="0" y="9727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457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CHANGING HTML CONTENT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D1BB0B1-F5A1-4ED6-814D-7F67699B793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8177" y="457202"/>
            <a:ext cx="8377311" cy="4137422"/>
          </a:xfrm>
        </p:spPr>
        <p:txBody>
          <a:bodyPr>
            <a:normAutofit/>
          </a:bodyPr>
          <a:lstStyle/>
          <a:p>
            <a:pPr lvl="1" algn="just">
              <a:buNone/>
            </a:pPr>
            <a:r>
              <a:rPr lang="en-US" sz="1400" dirty="0"/>
              <a:t>FOR EXAMPLE </a:t>
            </a:r>
          </a:p>
          <a:p>
            <a:pPr lvl="1" algn="just">
              <a:buNone/>
            </a:pPr>
            <a:endParaRPr lang="en-US" sz="1400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i="1" dirty="0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" y="666750"/>
            <a:ext cx="5537200" cy="2247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29253"/>
          <a:stretch/>
        </p:blipFill>
        <p:spPr bwMode="auto">
          <a:xfrm>
            <a:off x="3276600" y="2190750"/>
            <a:ext cx="5647832" cy="2800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41209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999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Changing</a:t>
            </a:r>
            <a:r>
              <a:rPr spc="-85" dirty="0"/>
              <a:t> </a:t>
            </a:r>
            <a:r>
              <a:rPr spc="-80" dirty="0"/>
              <a:t>HTML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18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attribute.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46840" y="2381200"/>
            <a:ext cx="748665" cy="274320"/>
          </a:xfrm>
          <a:custGeom>
            <a:avLst/>
            <a:gdLst/>
            <a:ahLst/>
            <a:cxnLst/>
            <a:rect l="l" t="t" r="r" b="b"/>
            <a:pathLst>
              <a:path w="748664" h="274319">
                <a:moveTo>
                  <a:pt x="748098" y="274319"/>
                </a:moveTo>
                <a:lnTo>
                  <a:pt x="0" y="274319"/>
                </a:lnTo>
                <a:lnTo>
                  <a:pt x="0" y="0"/>
                </a:lnTo>
                <a:lnTo>
                  <a:pt x="748098" y="0"/>
                </a:lnTo>
                <a:lnTo>
                  <a:pt x="748098" y="274319"/>
                </a:lnTo>
                <a:close/>
              </a:path>
            </a:pathLst>
          </a:custGeom>
          <a:solidFill>
            <a:srgbClr val="93C4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43402" y="2381200"/>
            <a:ext cx="897255" cy="274320"/>
          </a:xfrm>
          <a:custGeom>
            <a:avLst/>
            <a:gdLst/>
            <a:ahLst/>
            <a:cxnLst/>
            <a:rect l="l" t="t" r="r" b="b"/>
            <a:pathLst>
              <a:path w="897254" h="274319">
                <a:moveTo>
                  <a:pt x="897032" y="274319"/>
                </a:moveTo>
                <a:lnTo>
                  <a:pt x="0" y="274319"/>
                </a:lnTo>
                <a:lnTo>
                  <a:pt x="0" y="0"/>
                </a:lnTo>
                <a:lnTo>
                  <a:pt x="897032" y="0"/>
                </a:lnTo>
                <a:lnTo>
                  <a:pt x="897032" y="274319"/>
                </a:lnTo>
                <a:close/>
              </a:path>
            </a:pathLst>
          </a:custGeom>
          <a:solidFill>
            <a:srgbClr val="6C9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34140" y="2359355"/>
            <a:ext cx="189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20" dirty="0">
                <a:solidFill>
                  <a:srgbClr val="5E686C"/>
                </a:solidFill>
                <a:latin typeface="Trebuchet MS"/>
                <a:cs typeface="Trebuchet MS"/>
              </a:rPr>
              <a:t>element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.attribute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70" dirty="0">
                <a:solidFill>
                  <a:srgbClr val="5E686C"/>
                </a:solidFill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61264" y="2381200"/>
            <a:ext cx="935990" cy="274320"/>
          </a:xfrm>
          <a:prstGeom prst="rect">
            <a:avLst/>
          </a:prstGeom>
          <a:solidFill>
            <a:srgbClr val="F6B26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i="1" spc="-80" dirty="0">
                <a:solidFill>
                  <a:srgbClr val="5E686C"/>
                </a:solidFill>
                <a:latin typeface="Trebuchet MS"/>
                <a:cs typeface="Trebuchet MS"/>
              </a:rPr>
              <a:t>new</a:t>
            </a:r>
            <a:r>
              <a:rPr sz="1800" i="1" spc="-195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1800" i="1" spc="-85" dirty="0">
                <a:solidFill>
                  <a:srgbClr val="5E686C"/>
                </a:solidFill>
                <a:latin typeface="Trebuchet MS"/>
                <a:cs typeface="Trebuchet MS"/>
              </a:rPr>
              <a:t>value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59169" y="2531387"/>
            <a:ext cx="579755" cy="94615"/>
            <a:chOff x="2559169" y="2531387"/>
            <a:chExt cx="579755" cy="94615"/>
          </a:xfrm>
        </p:grpSpPr>
        <p:sp>
          <p:nvSpPr>
            <p:cNvPr id="9" name="object 9"/>
            <p:cNvSpPr/>
            <p:nvPr/>
          </p:nvSpPr>
          <p:spPr>
            <a:xfrm>
              <a:off x="2606790" y="2536150"/>
              <a:ext cx="527685" cy="69215"/>
            </a:xfrm>
            <a:custGeom>
              <a:avLst/>
              <a:gdLst/>
              <a:ahLst/>
              <a:cxnLst/>
              <a:rect l="l" t="t" r="r" b="b"/>
              <a:pathLst>
                <a:path w="527685" h="69214">
                  <a:moveTo>
                    <a:pt x="527134" y="0"/>
                  </a:moveTo>
                  <a:lnTo>
                    <a:pt x="0" y="69074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3931" y="258962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903" y="31198"/>
                  </a:moveTo>
                  <a:lnTo>
                    <a:pt x="0" y="21215"/>
                  </a:lnTo>
                  <a:lnTo>
                    <a:pt x="40814" y="0"/>
                  </a:lnTo>
                  <a:lnTo>
                    <a:pt x="44903" y="31198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3931" y="258962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814" y="0"/>
                  </a:moveTo>
                  <a:lnTo>
                    <a:pt x="0" y="21215"/>
                  </a:lnTo>
                  <a:lnTo>
                    <a:pt x="44903" y="31198"/>
                  </a:lnTo>
                  <a:lnTo>
                    <a:pt x="40814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026362" y="2531387"/>
            <a:ext cx="469265" cy="172720"/>
            <a:chOff x="6026362" y="2531387"/>
            <a:chExt cx="469265" cy="172720"/>
          </a:xfrm>
        </p:grpSpPr>
        <p:sp>
          <p:nvSpPr>
            <p:cNvPr id="13" name="object 13"/>
            <p:cNvSpPr/>
            <p:nvPr/>
          </p:nvSpPr>
          <p:spPr>
            <a:xfrm>
              <a:off x="6031124" y="2536150"/>
              <a:ext cx="419100" cy="147955"/>
            </a:xfrm>
            <a:custGeom>
              <a:avLst/>
              <a:gdLst/>
              <a:ahLst/>
              <a:cxnLst/>
              <a:rect l="l" t="t" r="r" b="b"/>
              <a:pathLst>
                <a:path w="419100" h="147955">
                  <a:moveTo>
                    <a:pt x="0" y="0"/>
                  </a:moveTo>
                  <a:lnTo>
                    <a:pt x="418609" y="147775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4497" y="2669090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670"/>
                  </a:moveTo>
                  <a:lnTo>
                    <a:pt x="10474" y="0"/>
                  </a:lnTo>
                  <a:lnTo>
                    <a:pt x="45997" y="29224"/>
                  </a:lnTo>
                  <a:lnTo>
                    <a:pt x="0" y="29670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4497" y="2669090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0" y="29670"/>
                  </a:moveTo>
                  <a:lnTo>
                    <a:pt x="45997" y="29224"/>
                  </a:lnTo>
                  <a:lnTo>
                    <a:pt x="10474" y="0"/>
                  </a:lnTo>
                  <a:lnTo>
                    <a:pt x="0" y="2967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29524" y="2685438"/>
            <a:ext cx="190182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1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new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assign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  specified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attribute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of  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given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3350" y="2421388"/>
            <a:ext cx="179514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change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an  </a:t>
            </a:r>
            <a:r>
              <a:rPr sz="1400" spc="25" dirty="0">
                <a:latin typeface="Tahoma"/>
                <a:cs typeface="Tahoma"/>
              </a:rPr>
              <a:t>attribute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94419" y="2725937"/>
            <a:ext cx="157480" cy="372110"/>
            <a:chOff x="4294419" y="2725937"/>
            <a:chExt cx="157480" cy="372110"/>
          </a:xfrm>
        </p:grpSpPr>
        <p:sp>
          <p:nvSpPr>
            <p:cNvPr id="19" name="object 19"/>
            <p:cNvSpPr/>
            <p:nvPr/>
          </p:nvSpPr>
          <p:spPr>
            <a:xfrm>
              <a:off x="4315499" y="2730699"/>
              <a:ext cx="131445" cy="322580"/>
            </a:xfrm>
            <a:custGeom>
              <a:avLst/>
              <a:gdLst/>
              <a:ahLst/>
              <a:cxnLst/>
              <a:rect l="l" t="t" r="r" b="b"/>
              <a:pathLst>
                <a:path w="131445" h="322580">
                  <a:moveTo>
                    <a:pt x="131425" y="0"/>
                  </a:moveTo>
                  <a:lnTo>
                    <a:pt x="0" y="322378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9181" y="3047139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0" y="45966"/>
                  </a:moveTo>
                  <a:lnTo>
                    <a:pt x="1748" y="0"/>
                  </a:lnTo>
                  <a:lnTo>
                    <a:pt x="30886" y="11878"/>
                  </a:lnTo>
                  <a:lnTo>
                    <a:pt x="0" y="45966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99181" y="3047139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5">
                  <a:moveTo>
                    <a:pt x="1748" y="0"/>
                  </a:moveTo>
                  <a:lnTo>
                    <a:pt x="0" y="45966"/>
                  </a:lnTo>
                  <a:lnTo>
                    <a:pt x="30886" y="11878"/>
                  </a:lnTo>
                  <a:lnTo>
                    <a:pt x="1748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34800" y="3122713"/>
            <a:ext cx="1856739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attribute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change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9993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Changing</a:t>
            </a:r>
            <a:r>
              <a:rPr spc="-85" dirty="0"/>
              <a:t> </a:t>
            </a:r>
            <a:r>
              <a:rPr spc="-80" dirty="0"/>
              <a:t>HTML </a:t>
            </a:r>
            <a:r>
              <a:rPr spc="2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67370" cy="1357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6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example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href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&lt;a&gt;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id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myLink:</a:t>
            </a:r>
            <a:endParaRPr sz="1800">
              <a:latin typeface="Tahoma"/>
              <a:cs typeface="Tahoma"/>
            </a:endParaRPr>
          </a:p>
          <a:p>
            <a:pPr marL="12700" marR="3133090">
              <a:lnSpc>
                <a:spcPct val="116100"/>
              </a:lnSpc>
              <a:spcBef>
                <a:spcPts val="163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let myLink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document.querySelector("#myLink"); </a:t>
            </a:r>
            <a:r>
              <a:rPr sz="1400" spc="-8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myLink.href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  <a:hlinkClick r:id="rId2"/>
              </a:rPr>
              <a:t>"http://www.newwebsite.com";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4074" y="4310388"/>
            <a:ext cx="6087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0" dirty="0">
                <a:latin typeface="Tahoma"/>
                <a:cs typeface="Tahoma"/>
              </a:rPr>
              <a:t>&lt;a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href="</a:t>
            </a:r>
            <a:r>
              <a:rPr sz="1400" u="heavy" spc="-1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3"/>
              </a:rPr>
              <a:t>http://www.newwebsite.com</a:t>
            </a:r>
            <a:r>
              <a:rPr sz="1400" spc="-10" dirty="0">
                <a:latin typeface="Tahoma"/>
                <a:cs typeface="Tahoma"/>
              </a:rPr>
              <a:t>"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id="myLink"&gt;A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link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my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website&lt;/a&gt;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3375" y="3088438"/>
            <a:ext cx="60026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0" dirty="0">
                <a:latin typeface="Tahoma"/>
                <a:cs typeface="Tahoma"/>
              </a:rPr>
              <a:t>&lt;a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href="</a:t>
            </a:r>
            <a:r>
              <a:rPr sz="1400" u="heavy" spc="-1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3"/>
              </a:rPr>
              <a:t>http://www.oldwebsite.com</a:t>
            </a:r>
            <a:r>
              <a:rPr sz="1400" spc="-10" dirty="0">
                <a:latin typeface="Tahoma"/>
                <a:cs typeface="Tahoma"/>
              </a:rPr>
              <a:t>"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id="myLink"&gt;A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link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my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website&lt;/a&gt;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12112" y="3517587"/>
            <a:ext cx="398780" cy="662940"/>
            <a:chOff x="4112112" y="3517587"/>
            <a:chExt cx="398780" cy="662940"/>
          </a:xfrm>
        </p:grpSpPr>
        <p:sp>
          <p:nvSpPr>
            <p:cNvPr id="7" name="object 7"/>
            <p:cNvSpPr/>
            <p:nvPr/>
          </p:nvSpPr>
          <p:spPr>
            <a:xfrm>
              <a:off x="4116875" y="3522350"/>
              <a:ext cx="389255" cy="653415"/>
            </a:xfrm>
            <a:custGeom>
              <a:avLst/>
              <a:gdLst/>
              <a:ahLst/>
              <a:cxnLst/>
              <a:rect l="l" t="t" r="r" b="b"/>
              <a:pathLst>
                <a:path w="389254" h="653414">
                  <a:moveTo>
                    <a:pt x="194549" y="653099"/>
                  </a:moveTo>
                  <a:lnTo>
                    <a:pt x="0" y="458549"/>
                  </a:lnTo>
                  <a:lnTo>
                    <a:pt x="97274" y="458549"/>
                  </a:lnTo>
                  <a:lnTo>
                    <a:pt x="97274" y="0"/>
                  </a:lnTo>
                  <a:lnTo>
                    <a:pt x="291824" y="0"/>
                  </a:lnTo>
                  <a:lnTo>
                    <a:pt x="291824" y="458549"/>
                  </a:lnTo>
                  <a:lnTo>
                    <a:pt x="389099" y="458549"/>
                  </a:lnTo>
                  <a:lnTo>
                    <a:pt x="194549" y="6530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6875" y="3522350"/>
              <a:ext cx="389255" cy="653415"/>
            </a:xfrm>
            <a:custGeom>
              <a:avLst/>
              <a:gdLst/>
              <a:ahLst/>
              <a:cxnLst/>
              <a:rect l="l" t="t" r="r" b="b"/>
              <a:pathLst>
                <a:path w="389254" h="653414">
                  <a:moveTo>
                    <a:pt x="291824" y="0"/>
                  </a:moveTo>
                  <a:lnTo>
                    <a:pt x="291824" y="458549"/>
                  </a:lnTo>
                  <a:lnTo>
                    <a:pt x="389099" y="458549"/>
                  </a:lnTo>
                  <a:lnTo>
                    <a:pt x="194549" y="653099"/>
                  </a:lnTo>
                  <a:lnTo>
                    <a:pt x="0" y="458549"/>
                  </a:lnTo>
                  <a:lnTo>
                    <a:pt x="97274" y="458549"/>
                  </a:lnTo>
                  <a:lnTo>
                    <a:pt x="97274" y="0"/>
                  </a:lnTo>
                  <a:lnTo>
                    <a:pt x="291824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/>
              <a:t>Changing CSS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4725" y="2319350"/>
            <a:ext cx="8486140" cy="1384995"/>
          </a:xfrm>
        </p:spPr>
        <p:txBody>
          <a:bodyPr/>
          <a:lstStyle/>
          <a:p>
            <a:r>
              <a:rPr lang="en-US" dirty="0"/>
              <a:t>To change the style of an HTML element, use this syntax: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 err="1"/>
              <a:t>document.getElementById</a:t>
            </a:r>
            <a:r>
              <a:rPr lang="en-US" dirty="0"/>
              <a:t>(</a:t>
            </a:r>
            <a:r>
              <a:rPr lang="en-US" i="1" dirty="0"/>
              <a:t>id</a:t>
            </a:r>
            <a:r>
              <a:rPr lang="en-US" dirty="0"/>
              <a:t>).</a:t>
            </a:r>
            <a:r>
              <a:rPr lang="en-US" dirty="0" err="1"/>
              <a:t>style.</a:t>
            </a:r>
            <a:r>
              <a:rPr lang="en-US" i="1" dirty="0" err="1"/>
              <a:t>property</a:t>
            </a:r>
            <a:r>
              <a:rPr lang="en-US" i="1" dirty="0"/>
              <a:t> </a:t>
            </a:r>
            <a:r>
              <a:rPr lang="en-US" dirty="0"/>
              <a:t>=</a:t>
            </a:r>
            <a:r>
              <a:rPr lang="en-US" i="1" dirty="0"/>
              <a:t> new style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02C2B6E-1692-48E0-A41A-56E09C2695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98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Changing element style: </a:t>
            </a:r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element.style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CC76F15A-3445-4ED0-A4DF-DE4BBF06AE1A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1543050"/>
          <a:ext cx="6115050" cy="3223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5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r>
                        <a:rPr lang="en-US" sz="1800" b="1" dirty="0"/>
                        <a:t>Attribute</a:t>
                      </a:r>
                      <a:endParaRPr lang="en-US" sz="1800" b="1" i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Property</a:t>
                      </a:r>
                      <a:r>
                        <a:rPr lang="en-US" sz="1800" b="1" baseline="0" dirty="0"/>
                        <a:t> or style object</a:t>
                      </a:r>
                      <a:endParaRPr lang="en-US" sz="1800" b="1" i="1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800" dirty="0"/>
                        <a:t>color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color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800"/>
                        <a:t>padding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padding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800" dirty="0"/>
                        <a:t>background-color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backgroundColor</a:t>
                      </a:r>
                      <a:endParaRPr 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800" dirty="0"/>
                        <a:t>border-top-width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borderTopWidth</a:t>
                      </a:r>
                      <a:endParaRPr 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800" dirty="0"/>
                        <a:t>Font size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fontSize</a:t>
                      </a:r>
                      <a:endParaRPr 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800" dirty="0"/>
                        <a:t>Font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famiy</a:t>
                      </a:r>
                      <a:endParaRPr 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fontFamily</a:t>
                      </a:r>
                      <a:endParaRPr 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803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1600" dirty="0"/>
              <a:t>&lt;html&gt;</a:t>
            </a:r>
          </a:p>
          <a:p>
            <a:r>
              <a:rPr lang="en-US" sz="1600" dirty="0"/>
              <a:t>&lt;body&gt;</a:t>
            </a:r>
          </a:p>
          <a:p>
            <a:r>
              <a:rPr lang="en-US" sz="1600" dirty="0"/>
              <a:t>&lt;h1 id="demo"&gt;The Document Object&lt;/h1&gt;</a:t>
            </a:r>
          </a:p>
          <a:p>
            <a:r>
              <a:rPr lang="en-US" sz="1600" dirty="0"/>
              <a:t>&lt;h2&gt;The </a:t>
            </a:r>
            <a:r>
              <a:rPr lang="en-US" sz="1600" dirty="0" err="1"/>
              <a:t>getElementById</a:t>
            </a:r>
            <a:r>
              <a:rPr lang="en-US" sz="1600" dirty="0"/>
              <a:t>() Method&lt;/h2&gt;</a:t>
            </a:r>
          </a:p>
          <a:p>
            <a:r>
              <a:rPr lang="en-US" sz="1600" dirty="0"/>
              <a:t>&lt;script&gt;</a:t>
            </a:r>
          </a:p>
          <a:p>
            <a:r>
              <a:rPr lang="en-US" sz="1600" dirty="0" err="1"/>
              <a:t>const</a:t>
            </a:r>
            <a:r>
              <a:rPr lang="en-US" sz="1600" dirty="0"/>
              <a:t> </a:t>
            </a:r>
            <a:r>
              <a:rPr lang="en-US" sz="1600" dirty="0" err="1"/>
              <a:t>myElement</a:t>
            </a:r>
            <a:r>
              <a:rPr lang="en-US" sz="1600" dirty="0"/>
              <a:t> = </a:t>
            </a:r>
            <a:r>
              <a:rPr lang="en-US" sz="1600" dirty="0" err="1"/>
              <a:t>document.getElementById</a:t>
            </a:r>
            <a:r>
              <a:rPr lang="en-US" sz="1600" dirty="0"/>
              <a:t>("demo");</a:t>
            </a:r>
          </a:p>
          <a:p>
            <a:r>
              <a:rPr lang="en-US" sz="1600" dirty="0" err="1"/>
              <a:t>myElement.style.color</a:t>
            </a:r>
            <a:r>
              <a:rPr lang="en-US" sz="1600" dirty="0"/>
              <a:t> = "red";</a:t>
            </a:r>
          </a:p>
          <a:p>
            <a:r>
              <a:rPr lang="en-US" sz="1600" dirty="0"/>
              <a:t>&lt;/script&gt;</a:t>
            </a:r>
          </a:p>
          <a:p>
            <a:r>
              <a:rPr lang="en-US" sz="1600" dirty="0"/>
              <a:t>&lt;/body&gt;</a:t>
            </a:r>
          </a:p>
          <a:p>
            <a:r>
              <a:rPr lang="en-US" sz="1600" dirty="0"/>
              <a:t>&lt;/html&gt;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43121" y="2172030"/>
            <a:ext cx="2815031" cy="12074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02C2B6E-1692-48E0-A41A-56E09C26956F}" type="slidenum">
              <a:rPr lang="en-US">
                <a:solidFill>
                  <a:prstClr val="black">
                    <a:lumMod val="90000"/>
                    <a:lumOff val="10000"/>
                  </a:prstClr>
                </a:solidFill>
                <a:latin typeface="Tw Cen MT Condensed" panose="020B0606020104020203"/>
              </a:rPr>
              <a:pPr>
                <a:defRPr/>
              </a:pPr>
              <a:t>21</a:t>
            </a:fld>
            <a:endParaRPr lang="en-US">
              <a:solidFill>
                <a:prstClr val="black">
                  <a:lumMod val="90000"/>
                  <a:lumOff val="10000"/>
                </a:prstClr>
              </a:solidFill>
              <a:latin typeface="Tw Cen MT Condensed" panose="020B0606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1772063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/>
              <a:t>Change styles on button click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&lt;!DOCTYPE html&gt;</a:t>
            </a:r>
            <a:br>
              <a:rPr lang="en-US" dirty="0"/>
            </a:br>
            <a:r>
              <a:rPr lang="en-US" dirty="0"/>
              <a:t>&lt;html&gt;</a:t>
            </a:r>
            <a:br>
              <a:rPr lang="en-US" dirty="0"/>
            </a:br>
            <a:r>
              <a:rPr lang="en-US" dirty="0"/>
              <a:t>&lt;body&gt;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&lt;h1 id="id1"&gt;My Heading 1&lt;/h1&gt;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&lt;button type="button"</a:t>
            </a:r>
            <a:br>
              <a:rPr lang="en-US" dirty="0"/>
            </a:br>
            <a:r>
              <a:rPr lang="en-US" dirty="0" err="1"/>
              <a:t>onclick</a:t>
            </a:r>
            <a:r>
              <a:rPr lang="en-US" dirty="0"/>
              <a:t>="</a:t>
            </a:r>
            <a:r>
              <a:rPr lang="en-US" dirty="0" err="1"/>
              <a:t>document.getElementById</a:t>
            </a:r>
            <a:r>
              <a:rPr lang="en-US" dirty="0"/>
              <a:t>('id1').</a:t>
            </a:r>
            <a:r>
              <a:rPr lang="en-US" dirty="0" err="1"/>
              <a:t>style.color</a:t>
            </a:r>
            <a:r>
              <a:rPr lang="en-US" dirty="0"/>
              <a:t> = 'red'"&gt;</a:t>
            </a:r>
            <a:br>
              <a:rPr lang="en-US" dirty="0"/>
            </a:br>
            <a:r>
              <a:rPr lang="en-US" dirty="0"/>
              <a:t>Click Me!&lt;/button&gt;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&lt;/body&gt;</a:t>
            </a:r>
            <a:br>
              <a:rPr lang="en-US" dirty="0"/>
            </a:br>
            <a:r>
              <a:rPr lang="en-US" dirty="0"/>
              <a:t>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02C2B6E-1692-48E0-A41A-56E09C26956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03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5976" y="171456"/>
            <a:ext cx="4929188" cy="571499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/>
              <a:t>2. Changing HTML Styles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8019" y="962621"/>
            <a:ext cx="3856277" cy="396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Half Frame 4"/>
          <p:cNvSpPr/>
          <p:nvPr/>
        </p:nvSpPr>
        <p:spPr>
          <a:xfrm>
            <a:off x="1143000" y="0"/>
            <a:ext cx="6858000" cy="5143500"/>
          </a:xfrm>
          <a:prstGeom prst="halfFrame">
            <a:avLst>
              <a:gd name="adj1" fmla="val 3434"/>
              <a:gd name="adj2" fmla="val 2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24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3484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Javascript</a:t>
            </a:r>
            <a:r>
              <a:rPr spc="-55" dirty="0"/>
              <a:t> </a:t>
            </a:r>
            <a:r>
              <a:rPr spc="-180" dirty="0"/>
              <a:t>DOM</a:t>
            </a:r>
            <a:r>
              <a:rPr spc="-55" dirty="0"/>
              <a:t> </a:t>
            </a:r>
            <a:r>
              <a:rPr spc="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51165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react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85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events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achieve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listener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fires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causes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any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5E686C"/>
                </a:solidFill>
                <a:latin typeface="Tahoma"/>
                <a:cs typeface="Tahoma"/>
              </a:rPr>
              <a:t>e.g.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6839" y="3095574"/>
            <a:ext cx="748665" cy="274320"/>
          </a:xfrm>
          <a:custGeom>
            <a:avLst/>
            <a:gdLst/>
            <a:ahLst/>
            <a:cxnLst/>
            <a:rect l="l" t="t" r="r" b="b"/>
            <a:pathLst>
              <a:path w="748664" h="274320">
                <a:moveTo>
                  <a:pt x="748098" y="274319"/>
                </a:moveTo>
                <a:lnTo>
                  <a:pt x="0" y="274319"/>
                </a:lnTo>
                <a:lnTo>
                  <a:pt x="0" y="0"/>
                </a:lnTo>
                <a:lnTo>
                  <a:pt x="748098" y="0"/>
                </a:lnTo>
                <a:lnTo>
                  <a:pt x="748098" y="274319"/>
                </a:lnTo>
                <a:close/>
              </a:path>
            </a:pathLst>
          </a:custGeom>
          <a:solidFill>
            <a:srgbClr val="93C4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4788" y="3095574"/>
            <a:ext cx="518159" cy="274320"/>
          </a:xfrm>
          <a:custGeom>
            <a:avLst/>
            <a:gdLst/>
            <a:ahLst/>
            <a:cxnLst/>
            <a:rect l="l" t="t" r="r" b="b"/>
            <a:pathLst>
              <a:path w="518160" h="274320">
                <a:moveTo>
                  <a:pt x="518125" y="274319"/>
                </a:moveTo>
                <a:lnTo>
                  <a:pt x="0" y="274319"/>
                </a:lnTo>
                <a:lnTo>
                  <a:pt x="0" y="0"/>
                </a:lnTo>
                <a:lnTo>
                  <a:pt x="518125" y="0"/>
                </a:lnTo>
                <a:lnTo>
                  <a:pt x="518125" y="274319"/>
                </a:lnTo>
                <a:close/>
              </a:path>
            </a:pathLst>
          </a:custGeom>
          <a:solidFill>
            <a:srgbClr val="F6B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25498" y="3095574"/>
            <a:ext cx="1273175" cy="274320"/>
          </a:xfrm>
          <a:custGeom>
            <a:avLst/>
            <a:gdLst/>
            <a:ahLst/>
            <a:cxnLst/>
            <a:rect l="l" t="t" r="r" b="b"/>
            <a:pathLst>
              <a:path w="1273175" h="274320">
                <a:moveTo>
                  <a:pt x="1273081" y="274319"/>
                </a:moveTo>
                <a:lnTo>
                  <a:pt x="0" y="274319"/>
                </a:lnTo>
                <a:lnTo>
                  <a:pt x="0" y="0"/>
                </a:lnTo>
                <a:lnTo>
                  <a:pt x="1273081" y="0"/>
                </a:lnTo>
                <a:lnTo>
                  <a:pt x="1273081" y="274319"/>
                </a:lnTo>
                <a:close/>
              </a:path>
            </a:pathLst>
          </a:custGeom>
          <a:solidFill>
            <a:srgbClr val="76A5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64139" y="3073730"/>
            <a:ext cx="4615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5E686C"/>
                </a:solidFill>
                <a:latin typeface="Trebuchet MS"/>
                <a:cs typeface="Trebuchet MS"/>
              </a:rPr>
              <a:t>element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.addEventListener(</a:t>
            </a:r>
            <a:r>
              <a:rPr sz="1800" i="1" spc="-50" dirty="0">
                <a:solidFill>
                  <a:srgbClr val="5E686C"/>
                </a:solidFill>
                <a:latin typeface="Trebuchet MS"/>
                <a:cs typeface="Trebuchet MS"/>
              </a:rPr>
              <a:t>event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i="1" spc="-85" dirty="0">
                <a:solidFill>
                  <a:srgbClr val="5E686C"/>
                </a:solidFill>
                <a:latin typeface="Trebuchet MS"/>
                <a:cs typeface="Trebuchet MS"/>
              </a:rPr>
              <a:t>eventHandler</a:t>
            </a:r>
            <a:r>
              <a:rPr sz="1800" spc="-85" dirty="0">
                <a:solidFill>
                  <a:srgbClr val="5E686C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59932" y="3376987"/>
            <a:ext cx="479425" cy="513715"/>
            <a:chOff x="1859932" y="3376987"/>
            <a:chExt cx="479425" cy="513715"/>
          </a:xfrm>
        </p:grpSpPr>
        <p:sp>
          <p:nvSpPr>
            <p:cNvPr id="9" name="object 9"/>
            <p:cNvSpPr/>
            <p:nvPr/>
          </p:nvSpPr>
          <p:spPr>
            <a:xfrm>
              <a:off x="1894171" y="3381750"/>
              <a:ext cx="440690" cy="472440"/>
            </a:xfrm>
            <a:custGeom>
              <a:avLst/>
              <a:gdLst/>
              <a:ahLst/>
              <a:cxnLst/>
              <a:rect l="l" t="t" r="r" b="b"/>
              <a:pathLst>
                <a:path w="440689" h="472439">
                  <a:moveTo>
                    <a:pt x="440428" y="0"/>
                  </a:moveTo>
                  <a:lnTo>
                    <a:pt x="0" y="472399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64695" y="3843420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0" y="42344"/>
                  </a:moveTo>
                  <a:lnTo>
                    <a:pt x="17969" y="0"/>
                  </a:lnTo>
                  <a:lnTo>
                    <a:pt x="40983" y="21456"/>
                  </a:lnTo>
                  <a:lnTo>
                    <a:pt x="0" y="42344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64695" y="3843420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17969" y="0"/>
                  </a:moveTo>
                  <a:lnTo>
                    <a:pt x="0" y="42344"/>
                  </a:lnTo>
                  <a:lnTo>
                    <a:pt x="40983" y="21456"/>
                  </a:lnTo>
                  <a:lnTo>
                    <a:pt x="17969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1550" y="4019463"/>
            <a:ext cx="179514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capture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  </a:t>
            </a:r>
            <a:r>
              <a:rPr sz="1400" spc="5" dirty="0">
                <a:latin typeface="Tahoma"/>
                <a:cs typeface="Tahoma"/>
              </a:rPr>
              <a:t>events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39037" y="3376987"/>
            <a:ext cx="439420" cy="589280"/>
            <a:chOff x="6339037" y="3376987"/>
            <a:chExt cx="439420" cy="589280"/>
          </a:xfrm>
        </p:grpSpPr>
        <p:sp>
          <p:nvSpPr>
            <p:cNvPr id="14" name="object 14"/>
            <p:cNvSpPr/>
            <p:nvPr/>
          </p:nvSpPr>
          <p:spPr>
            <a:xfrm>
              <a:off x="6343799" y="3381750"/>
              <a:ext cx="403860" cy="544830"/>
            </a:xfrm>
            <a:custGeom>
              <a:avLst/>
              <a:gdLst/>
              <a:ahLst/>
              <a:cxnLst/>
              <a:rect l="l" t="t" r="r" b="b"/>
              <a:pathLst>
                <a:path w="403859" h="544829">
                  <a:moveTo>
                    <a:pt x="0" y="0"/>
                  </a:moveTo>
                  <a:lnTo>
                    <a:pt x="403675" y="544781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34834" y="3917165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374" y="44096"/>
                  </a:moveTo>
                  <a:lnTo>
                    <a:pt x="0" y="18733"/>
                  </a:lnTo>
                  <a:lnTo>
                    <a:pt x="25281" y="0"/>
                  </a:lnTo>
                  <a:lnTo>
                    <a:pt x="38374" y="44096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34834" y="3917165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733"/>
                  </a:moveTo>
                  <a:lnTo>
                    <a:pt x="38374" y="44096"/>
                  </a:lnTo>
                  <a:lnTo>
                    <a:pt x="25281" y="0"/>
                  </a:lnTo>
                  <a:lnTo>
                    <a:pt x="0" y="18733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46375" y="4038362"/>
            <a:ext cx="192278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  </a:t>
            </a:r>
            <a:r>
              <a:rPr sz="1400" spc="15" dirty="0">
                <a:latin typeface="Tahoma"/>
                <a:cs typeface="Tahoma"/>
              </a:rPr>
              <a:t>function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you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call  </a:t>
            </a:r>
            <a:r>
              <a:rPr sz="1400" spc="5" dirty="0">
                <a:latin typeface="Tahoma"/>
                <a:cs typeface="Tahoma"/>
              </a:rPr>
              <a:t>when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event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fired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71067" y="3365237"/>
            <a:ext cx="295275" cy="539115"/>
            <a:chOff x="4671067" y="3365237"/>
            <a:chExt cx="295275" cy="539115"/>
          </a:xfrm>
        </p:grpSpPr>
        <p:sp>
          <p:nvSpPr>
            <p:cNvPr id="19" name="object 19"/>
            <p:cNvSpPr/>
            <p:nvPr/>
          </p:nvSpPr>
          <p:spPr>
            <a:xfrm>
              <a:off x="4696331" y="3370000"/>
              <a:ext cx="264795" cy="491490"/>
            </a:xfrm>
            <a:custGeom>
              <a:avLst/>
              <a:gdLst/>
              <a:ahLst/>
              <a:cxnLst/>
              <a:rect l="l" t="t" r="r" b="b"/>
              <a:pathLst>
                <a:path w="264795" h="491489">
                  <a:moveTo>
                    <a:pt x="264793" y="0"/>
                  </a:moveTo>
                  <a:lnTo>
                    <a:pt x="0" y="491487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75829" y="3854025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0" y="45515"/>
                  </a:moveTo>
                  <a:lnTo>
                    <a:pt x="6650" y="0"/>
                  </a:lnTo>
                  <a:lnTo>
                    <a:pt x="34352" y="14923"/>
                  </a:lnTo>
                  <a:lnTo>
                    <a:pt x="0" y="45515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75829" y="3854025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6650" y="0"/>
                  </a:moveTo>
                  <a:lnTo>
                    <a:pt x="0" y="45515"/>
                  </a:lnTo>
                  <a:lnTo>
                    <a:pt x="34352" y="14923"/>
                  </a:lnTo>
                  <a:lnTo>
                    <a:pt x="6650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12500" y="3977713"/>
            <a:ext cx="164718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event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capture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e.g.  </a:t>
            </a:r>
            <a:r>
              <a:rPr sz="1400" spc="25" dirty="0">
                <a:latin typeface="Tahoma"/>
                <a:cs typeface="Tahoma"/>
              </a:rPr>
              <a:t>'click'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'mouseover'</a:t>
            </a:r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58169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3484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Javascript</a:t>
            </a:r>
            <a:r>
              <a:rPr spc="-55" dirty="0"/>
              <a:t> </a:t>
            </a:r>
            <a:r>
              <a:rPr spc="-180" dirty="0"/>
              <a:t>DOM</a:t>
            </a:r>
            <a:r>
              <a:rPr spc="-55" dirty="0"/>
              <a:t> </a:t>
            </a:r>
            <a:r>
              <a:rPr spc="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73874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many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eventHandlers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same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different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events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same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element: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61413"/>
            <a:ext cx="525272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document.querySelector("button");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Courier New"/>
              <a:cs typeface="Courier New"/>
            </a:endParaRPr>
          </a:p>
          <a:p>
            <a:pPr marL="12700" marR="432434" algn="just">
              <a:lnSpc>
                <a:spcPct val="11610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element.addEventListener('click', function1); </a:t>
            </a:r>
            <a:r>
              <a:rPr sz="1400" spc="-8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element.addEventListener('click', function2); </a:t>
            </a:r>
            <a:r>
              <a:rPr sz="1400" spc="-8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element.addEventListener('keyup',</a:t>
            </a:r>
            <a:r>
              <a:rPr sz="1400" spc="-8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function3);</a:t>
            </a:r>
            <a:endParaRPr sz="1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301206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3484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Javascript</a:t>
            </a:r>
            <a:r>
              <a:rPr spc="-55" dirty="0"/>
              <a:t> </a:t>
            </a:r>
            <a:r>
              <a:rPr spc="-180" dirty="0"/>
              <a:t>DOM</a:t>
            </a:r>
            <a:r>
              <a:rPr spc="-55" dirty="0"/>
              <a:t> </a:t>
            </a:r>
            <a:r>
              <a:rPr spc="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6909434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remove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handlers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attached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addEventListener()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method: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0813" y="2581225"/>
            <a:ext cx="748665" cy="274320"/>
          </a:xfrm>
          <a:custGeom>
            <a:avLst/>
            <a:gdLst/>
            <a:ahLst/>
            <a:cxnLst/>
            <a:rect l="l" t="t" r="r" b="b"/>
            <a:pathLst>
              <a:path w="748664" h="274319">
                <a:moveTo>
                  <a:pt x="748098" y="274319"/>
                </a:moveTo>
                <a:lnTo>
                  <a:pt x="0" y="274319"/>
                </a:lnTo>
                <a:lnTo>
                  <a:pt x="0" y="0"/>
                </a:lnTo>
                <a:lnTo>
                  <a:pt x="748098" y="0"/>
                </a:lnTo>
                <a:lnTo>
                  <a:pt x="748098" y="274319"/>
                </a:lnTo>
                <a:close/>
              </a:path>
            </a:pathLst>
          </a:custGeom>
          <a:solidFill>
            <a:srgbClr val="93C4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10814" y="2581225"/>
            <a:ext cx="518159" cy="274320"/>
          </a:xfrm>
          <a:custGeom>
            <a:avLst/>
            <a:gdLst/>
            <a:ahLst/>
            <a:cxnLst/>
            <a:rect l="l" t="t" r="r" b="b"/>
            <a:pathLst>
              <a:path w="518160" h="274319">
                <a:moveTo>
                  <a:pt x="518125" y="274319"/>
                </a:moveTo>
                <a:lnTo>
                  <a:pt x="0" y="274319"/>
                </a:lnTo>
                <a:lnTo>
                  <a:pt x="0" y="0"/>
                </a:lnTo>
                <a:lnTo>
                  <a:pt x="518125" y="0"/>
                </a:lnTo>
                <a:lnTo>
                  <a:pt x="518125" y="274319"/>
                </a:lnTo>
                <a:close/>
              </a:path>
            </a:pathLst>
          </a:custGeom>
          <a:solidFill>
            <a:srgbClr val="F6B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1523" y="2581225"/>
            <a:ext cx="1273175" cy="274320"/>
          </a:xfrm>
          <a:custGeom>
            <a:avLst/>
            <a:gdLst/>
            <a:ahLst/>
            <a:cxnLst/>
            <a:rect l="l" t="t" r="r" b="b"/>
            <a:pathLst>
              <a:path w="1273175" h="274319">
                <a:moveTo>
                  <a:pt x="1273082" y="274319"/>
                </a:moveTo>
                <a:lnTo>
                  <a:pt x="0" y="274319"/>
                </a:lnTo>
                <a:lnTo>
                  <a:pt x="0" y="0"/>
                </a:lnTo>
                <a:lnTo>
                  <a:pt x="1273082" y="0"/>
                </a:lnTo>
                <a:lnTo>
                  <a:pt x="1273082" y="274319"/>
                </a:lnTo>
                <a:close/>
              </a:path>
            </a:pathLst>
          </a:custGeom>
          <a:solidFill>
            <a:srgbClr val="76A5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68113" y="2559380"/>
            <a:ext cx="5008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5" dirty="0">
                <a:solidFill>
                  <a:srgbClr val="5E686C"/>
                </a:solidFill>
                <a:latin typeface="Trebuchet MS"/>
                <a:cs typeface="Trebuchet MS"/>
              </a:rPr>
              <a:t>element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.removeEventListener(</a:t>
            </a:r>
            <a:r>
              <a:rPr sz="1800" i="1" spc="-45" dirty="0">
                <a:solidFill>
                  <a:srgbClr val="5E686C"/>
                </a:solidFill>
                <a:latin typeface="Trebuchet MS"/>
                <a:cs typeface="Trebuchet MS"/>
              </a:rPr>
              <a:t>event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,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i="1" spc="-85" dirty="0">
                <a:solidFill>
                  <a:srgbClr val="5E686C"/>
                </a:solidFill>
                <a:latin typeface="Trebuchet MS"/>
                <a:cs typeface="Trebuchet MS"/>
              </a:rPr>
              <a:t>eventHandler</a:t>
            </a:r>
            <a:r>
              <a:rPr sz="1800" spc="-85" dirty="0">
                <a:solidFill>
                  <a:srgbClr val="5E686C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59932" y="2919787"/>
            <a:ext cx="479425" cy="513715"/>
            <a:chOff x="1859932" y="2919787"/>
            <a:chExt cx="479425" cy="513715"/>
          </a:xfrm>
        </p:grpSpPr>
        <p:sp>
          <p:nvSpPr>
            <p:cNvPr id="9" name="object 9"/>
            <p:cNvSpPr/>
            <p:nvPr/>
          </p:nvSpPr>
          <p:spPr>
            <a:xfrm>
              <a:off x="1894171" y="2924549"/>
              <a:ext cx="440690" cy="472440"/>
            </a:xfrm>
            <a:custGeom>
              <a:avLst/>
              <a:gdLst/>
              <a:ahLst/>
              <a:cxnLst/>
              <a:rect l="l" t="t" r="r" b="b"/>
              <a:pathLst>
                <a:path w="440689" h="472439">
                  <a:moveTo>
                    <a:pt x="440428" y="0"/>
                  </a:moveTo>
                  <a:lnTo>
                    <a:pt x="0" y="472399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64695" y="3386220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0" y="42344"/>
                  </a:moveTo>
                  <a:lnTo>
                    <a:pt x="17969" y="0"/>
                  </a:lnTo>
                  <a:lnTo>
                    <a:pt x="40983" y="21456"/>
                  </a:lnTo>
                  <a:lnTo>
                    <a:pt x="0" y="42344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64695" y="3386220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5">
                  <a:moveTo>
                    <a:pt x="17969" y="0"/>
                  </a:moveTo>
                  <a:lnTo>
                    <a:pt x="0" y="42344"/>
                  </a:lnTo>
                  <a:lnTo>
                    <a:pt x="40983" y="21456"/>
                  </a:lnTo>
                  <a:lnTo>
                    <a:pt x="17969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1550" y="3562263"/>
            <a:ext cx="179514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remove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  </a:t>
            </a:r>
            <a:r>
              <a:rPr sz="1400" spc="15" dirty="0">
                <a:latin typeface="Tahoma"/>
                <a:cs typeface="Tahoma"/>
              </a:rPr>
              <a:t>eventListener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from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39037" y="2919787"/>
            <a:ext cx="439420" cy="589280"/>
            <a:chOff x="6339037" y="2919787"/>
            <a:chExt cx="439420" cy="589280"/>
          </a:xfrm>
        </p:grpSpPr>
        <p:sp>
          <p:nvSpPr>
            <p:cNvPr id="14" name="object 14"/>
            <p:cNvSpPr/>
            <p:nvPr/>
          </p:nvSpPr>
          <p:spPr>
            <a:xfrm>
              <a:off x="6343799" y="2924549"/>
              <a:ext cx="403860" cy="544830"/>
            </a:xfrm>
            <a:custGeom>
              <a:avLst/>
              <a:gdLst/>
              <a:ahLst/>
              <a:cxnLst/>
              <a:rect l="l" t="t" r="r" b="b"/>
              <a:pathLst>
                <a:path w="403859" h="544829">
                  <a:moveTo>
                    <a:pt x="0" y="0"/>
                  </a:moveTo>
                  <a:lnTo>
                    <a:pt x="403675" y="544781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34834" y="3459965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38374" y="44096"/>
                  </a:moveTo>
                  <a:lnTo>
                    <a:pt x="0" y="18733"/>
                  </a:lnTo>
                  <a:lnTo>
                    <a:pt x="25281" y="0"/>
                  </a:lnTo>
                  <a:lnTo>
                    <a:pt x="38374" y="44096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34834" y="3459965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0" y="18733"/>
                  </a:moveTo>
                  <a:lnTo>
                    <a:pt x="38374" y="44096"/>
                  </a:lnTo>
                  <a:lnTo>
                    <a:pt x="25281" y="0"/>
                  </a:lnTo>
                  <a:lnTo>
                    <a:pt x="0" y="18733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46375" y="3581162"/>
            <a:ext cx="1860550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of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  </a:t>
            </a:r>
            <a:r>
              <a:rPr sz="1400" spc="15" dirty="0">
                <a:latin typeface="Tahoma"/>
                <a:cs typeface="Tahoma"/>
              </a:rPr>
              <a:t>function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you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have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used  </a:t>
            </a:r>
            <a:r>
              <a:rPr sz="1400" spc="-25" dirty="0">
                <a:latin typeface="Tahoma"/>
                <a:cs typeface="Tahoma"/>
              </a:rPr>
              <a:t>as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eventHandler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 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eventListener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you 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remove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71067" y="2908037"/>
            <a:ext cx="295275" cy="539115"/>
            <a:chOff x="4671067" y="2908037"/>
            <a:chExt cx="295275" cy="539115"/>
          </a:xfrm>
        </p:grpSpPr>
        <p:sp>
          <p:nvSpPr>
            <p:cNvPr id="19" name="object 19"/>
            <p:cNvSpPr/>
            <p:nvPr/>
          </p:nvSpPr>
          <p:spPr>
            <a:xfrm>
              <a:off x="4696331" y="2912799"/>
              <a:ext cx="264795" cy="491490"/>
            </a:xfrm>
            <a:custGeom>
              <a:avLst/>
              <a:gdLst/>
              <a:ahLst/>
              <a:cxnLst/>
              <a:rect l="l" t="t" r="r" b="b"/>
              <a:pathLst>
                <a:path w="264795" h="491489">
                  <a:moveTo>
                    <a:pt x="264793" y="0"/>
                  </a:moveTo>
                  <a:lnTo>
                    <a:pt x="0" y="491487"/>
                  </a:lnTo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75829" y="3396825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0" y="45515"/>
                  </a:moveTo>
                  <a:lnTo>
                    <a:pt x="6650" y="0"/>
                  </a:lnTo>
                  <a:lnTo>
                    <a:pt x="34352" y="14923"/>
                  </a:lnTo>
                  <a:lnTo>
                    <a:pt x="0" y="45515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75829" y="3396825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6650" y="0"/>
                  </a:moveTo>
                  <a:lnTo>
                    <a:pt x="0" y="45515"/>
                  </a:lnTo>
                  <a:lnTo>
                    <a:pt x="34352" y="14923"/>
                  </a:lnTo>
                  <a:lnTo>
                    <a:pt x="6650" y="0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12500" y="3520513"/>
            <a:ext cx="186055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event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name  </a:t>
            </a:r>
            <a:r>
              <a:rPr sz="1400" spc="10" dirty="0">
                <a:latin typeface="Tahoma"/>
                <a:cs typeface="Tahoma"/>
              </a:rPr>
              <a:t>you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want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5" dirty="0">
                <a:latin typeface="Tahoma"/>
                <a:cs typeface="Tahoma"/>
              </a:rPr>
              <a:t>to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remove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  </a:t>
            </a:r>
            <a:r>
              <a:rPr sz="1400" spc="15" dirty="0">
                <a:latin typeface="Tahoma"/>
                <a:cs typeface="Tahoma"/>
              </a:rPr>
              <a:t>eventListener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30" dirty="0">
                <a:latin typeface="Tahoma"/>
                <a:cs typeface="Tahoma"/>
              </a:rPr>
              <a:t>for</a:t>
            </a:r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23914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3484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Javascript</a:t>
            </a:r>
            <a:r>
              <a:rPr spc="-55" dirty="0"/>
              <a:t> </a:t>
            </a:r>
            <a:r>
              <a:rPr spc="-180" dirty="0"/>
              <a:t>DOM</a:t>
            </a:r>
            <a:r>
              <a:rPr spc="-55" dirty="0"/>
              <a:t> </a:t>
            </a:r>
            <a:r>
              <a:rPr spc="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732738"/>
            <a:ext cx="5465445" cy="197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const</a:t>
            </a:r>
            <a:r>
              <a:rPr sz="1400" spc="-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document.querySelector("button");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Courier New"/>
              <a:cs typeface="Courier New"/>
            </a:endParaRPr>
          </a:p>
          <a:p>
            <a:pPr marL="12700" marR="645160" algn="just">
              <a:lnSpc>
                <a:spcPct val="11610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element.addEventListener('click', function1); </a:t>
            </a:r>
            <a:r>
              <a:rPr sz="1400" spc="-8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element.addEventListener('click', function2); </a:t>
            </a:r>
            <a:r>
              <a:rPr sz="1400" spc="-8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element.addEventListener('keyup',</a:t>
            </a:r>
            <a:r>
              <a:rPr sz="1400" spc="-8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function3);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Courier New"/>
              <a:cs typeface="Courier New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solidFill>
                  <a:srgbClr val="6AA84F"/>
                </a:solidFill>
                <a:latin typeface="Courier New"/>
                <a:cs typeface="Courier New"/>
              </a:rPr>
              <a:t>//This removes the second eventListener for 'click' </a:t>
            </a:r>
            <a:r>
              <a:rPr sz="1400" spc="-830" dirty="0">
                <a:solidFill>
                  <a:srgbClr val="6AA84F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element.removeEventListener('click',</a:t>
            </a:r>
            <a:r>
              <a:rPr sz="1400" spc="-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function2);</a:t>
            </a:r>
            <a:endParaRPr sz="1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85909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</TotalTime>
  <Words>1380</Words>
  <Application>Microsoft Office PowerPoint</Application>
  <PresentationFormat>On-screen Show (16:9)</PresentationFormat>
  <Paragraphs>167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 MT</vt:lpstr>
      <vt:lpstr>Calibri</vt:lpstr>
      <vt:lpstr>Courier New</vt:lpstr>
      <vt:lpstr>Palatino Linotype</vt:lpstr>
      <vt:lpstr>Tahoma</vt:lpstr>
      <vt:lpstr>Times New Roman</vt:lpstr>
      <vt:lpstr>Trebuchet MS</vt:lpstr>
      <vt:lpstr>Tw Cen MT Condensed</vt:lpstr>
      <vt:lpstr>Wingdings</vt:lpstr>
      <vt:lpstr>Office Theme</vt:lpstr>
      <vt:lpstr> Javascript  HTML DOM</vt:lpstr>
      <vt:lpstr>The HTML DOM</vt:lpstr>
      <vt:lpstr>The HTML DOM Document Object</vt:lpstr>
      <vt:lpstr>PowerPoint Presentation</vt:lpstr>
      <vt:lpstr>Finding HTML Elements</vt:lpstr>
      <vt:lpstr>Finding HTML Elements</vt:lpstr>
      <vt:lpstr>Finding HTML Elements</vt:lpstr>
      <vt:lpstr>ACESSING AND FINDING ELEMENTS</vt:lpstr>
      <vt:lpstr>Accessing and finding  elements: (document.getElementById)</vt:lpstr>
      <vt:lpstr>PowerPoint Presentation</vt:lpstr>
      <vt:lpstr>HTML GET ELEMENTS BY TAG NAME</vt:lpstr>
      <vt:lpstr>HTML GET ELEMENTS BY CLASS NAME</vt:lpstr>
      <vt:lpstr>PowerPoint Presentation</vt:lpstr>
      <vt:lpstr>Changing HTML Elements</vt:lpstr>
      <vt:lpstr>Changing HTML Elements</vt:lpstr>
      <vt:lpstr>CHANGING HTML CONTENT</vt:lpstr>
      <vt:lpstr>Changing HTML Elements</vt:lpstr>
      <vt:lpstr>Changing HTML Elements</vt:lpstr>
      <vt:lpstr>Changing CSS styles</vt:lpstr>
      <vt:lpstr>Changing element style: element.style</vt:lpstr>
      <vt:lpstr>Example 2</vt:lpstr>
      <vt:lpstr>Change styles on button click</vt:lpstr>
      <vt:lpstr>2. Changing HTML Styles</vt:lpstr>
      <vt:lpstr>Javascript DOM Events</vt:lpstr>
      <vt:lpstr>Javascript DOM Events</vt:lpstr>
      <vt:lpstr>Javascript DOM Events</vt:lpstr>
      <vt:lpstr>Javascript DOM Events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 HTML DOM</dc:title>
  <dc:creator>Saadia Sh</dc:creator>
  <cp:lastModifiedBy>Oqab Rehman</cp:lastModifiedBy>
  <cp:revision>7</cp:revision>
  <dcterms:created xsi:type="dcterms:W3CDTF">2024-11-25T10:27:38Z</dcterms:created>
  <dcterms:modified xsi:type="dcterms:W3CDTF">2024-12-27T09:48:56Z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