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2"/>
  </p:notesMasterIdLst>
  <p:sldIdLst>
    <p:sldId id="321" r:id="rId2"/>
    <p:sldId id="327" r:id="rId3"/>
    <p:sldId id="328" r:id="rId4"/>
    <p:sldId id="329" r:id="rId5"/>
    <p:sldId id="330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2" r:id="rId16"/>
    <p:sldId id="343" r:id="rId17"/>
    <p:sldId id="351" r:id="rId18"/>
    <p:sldId id="352" r:id="rId19"/>
    <p:sldId id="354" r:id="rId20"/>
    <p:sldId id="356" r:id="rId21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C6BC4A-5644-4288-87C5-08201051030E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A448BC8B-826B-4176-9C7F-78421EF29076}">
      <dgm:prSet/>
      <dgm:spPr/>
      <dgm:t>
        <a:bodyPr/>
        <a:lstStyle/>
        <a:p>
          <a:pPr rtl="0"/>
          <a:r>
            <a:rPr lang="en-US" b="1" dirty="0"/>
            <a:t>Integrating HTML with PHP</a:t>
          </a:r>
          <a:endParaRPr lang="en-US" dirty="0"/>
        </a:p>
      </dgm:t>
    </dgm:pt>
    <dgm:pt modelId="{71769206-30C7-4E8B-A58D-4878E805745F}" type="parTrans" cxnId="{EF02E4B1-D784-4935-AE58-8AD330DDA964}">
      <dgm:prSet/>
      <dgm:spPr/>
      <dgm:t>
        <a:bodyPr/>
        <a:lstStyle/>
        <a:p>
          <a:endParaRPr lang="en-US"/>
        </a:p>
      </dgm:t>
    </dgm:pt>
    <dgm:pt modelId="{8F7C5914-470D-4AE9-8103-240FC66B296D}" type="sibTrans" cxnId="{EF02E4B1-D784-4935-AE58-8AD330DDA964}">
      <dgm:prSet/>
      <dgm:spPr/>
      <dgm:t>
        <a:bodyPr/>
        <a:lstStyle/>
        <a:p>
          <a:endParaRPr lang="en-US"/>
        </a:p>
      </dgm:t>
    </dgm:pt>
    <dgm:pt modelId="{09253D31-B943-47B4-A5D5-3EDB8C23E7C7}" type="pres">
      <dgm:prSet presAssocID="{8DC6BC4A-5644-4288-87C5-08201051030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9BE21E-7554-4D31-9853-5F4C0ADFAE35}" type="pres">
      <dgm:prSet presAssocID="{A448BC8B-826B-4176-9C7F-78421EF2907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9425AE9-857E-4ED2-91EB-079857A7C97D}" type="presOf" srcId="{8DC6BC4A-5644-4288-87C5-08201051030E}" destId="{09253D31-B943-47B4-A5D5-3EDB8C23E7C7}" srcOrd="0" destOrd="0" presId="urn:microsoft.com/office/officeart/2005/8/layout/vList2"/>
    <dgm:cxn modelId="{EF02E4B1-D784-4935-AE58-8AD330DDA964}" srcId="{8DC6BC4A-5644-4288-87C5-08201051030E}" destId="{A448BC8B-826B-4176-9C7F-78421EF29076}" srcOrd="0" destOrd="0" parTransId="{71769206-30C7-4E8B-A58D-4878E805745F}" sibTransId="{8F7C5914-470D-4AE9-8103-240FC66B296D}"/>
    <dgm:cxn modelId="{408FDB94-95D2-4B7E-80B8-5E9DDA91F970}" type="presOf" srcId="{A448BC8B-826B-4176-9C7F-78421EF29076}" destId="{449BE21E-7554-4D31-9853-5F4C0ADFAE35}" srcOrd="0" destOrd="0" presId="urn:microsoft.com/office/officeart/2005/8/layout/vList2"/>
    <dgm:cxn modelId="{DD94F14A-6F62-4E73-83A9-7A4FEB70645E}" type="presParOf" srcId="{09253D31-B943-47B4-A5D5-3EDB8C23E7C7}" destId="{449BE21E-7554-4D31-9853-5F4C0ADFAE3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0AF751-8585-416C-8EA8-03C415108D34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66706D16-D695-4B7D-8D6B-1C981A1ECAE0}">
      <dgm:prSet/>
      <dgm:spPr/>
      <dgm:t>
        <a:bodyPr/>
        <a:lstStyle/>
        <a:p>
          <a:pPr rtl="0"/>
          <a:r>
            <a:rPr lang="en-US" b="1" dirty="0"/>
            <a:t>Operators in PHP…</a:t>
          </a:r>
        </a:p>
      </dgm:t>
    </dgm:pt>
    <dgm:pt modelId="{E31F8559-8DE4-4256-B9B2-981ACBFAB5C8}" type="parTrans" cxnId="{D7CE7741-7DE0-4364-BD5A-12067134E8A4}">
      <dgm:prSet/>
      <dgm:spPr/>
      <dgm:t>
        <a:bodyPr/>
        <a:lstStyle/>
        <a:p>
          <a:endParaRPr lang="en-US"/>
        </a:p>
      </dgm:t>
    </dgm:pt>
    <dgm:pt modelId="{2597752F-EABA-40FD-9A7D-9ED3DC5FFC29}" type="sibTrans" cxnId="{D7CE7741-7DE0-4364-BD5A-12067134E8A4}">
      <dgm:prSet/>
      <dgm:spPr/>
      <dgm:t>
        <a:bodyPr/>
        <a:lstStyle/>
        <a:p>
          <a:endParaRPr lang="en-US"/>
        </a:p>
      </dgm:t>
    </dgm:pt>
    <dgm:pt modelId="{B58434A4-EDE2-4D69-848A-C673CAEC7600}" type="pres">
      <dgm:prSet presAssocID="{6C0AF751-8585-416C-8EA8-03C415108D3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564CE18-86A2-414B-91E1-2FB55637E009}" type="pres">
      <dgm:prSet presAssocID="{66706D16-D695-4B7D-8D6B-1C981A1ECAE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B8816C-3E94-4D13-BCA8-8473CBFF5E31}" type="presOf" srcId="{66706D16-D695-4B7D-8D6B-1C981A1ECAE0}" destId="{1564CE18-86A2-414B-91E1-2FB55637E009}" srcOrd="0" destOrd="0" presId="urn:microsoft.com/office/officeart/2005/8/layout/vList2"/>
    <dgm:cxn modelId="{D7CE7741-7DE0-4364-BD5A-12067134E8A4}" srcId="{6C0AF751-8585-416C-8EA8-03C415108D34}" destId="{66706D16-D695-4B7D-8D6B-1C981A1ECAE0}" srcOrd="0" destOrd="0" parTransId="{E31F8559-8DE4-4256-B9B2-981ACBFAB5C8}" sibTransId="{2597752F-EABA-40FD-9A7D-9ED3DC5FFC29}"/>
    <dgm:cxn modelId="{C0ADFEBC-6B2D-49F3-98D7-BE342D37F883}" type="presOf" srcId="{6C0AF751-8585-416C-8EA8-03C415108D34}" destId="{B58434A4-EDE2-4D69-848A-C673CAEC7600}" srcOrd="0" destOrd="0" presId="urn:microsoft.com/office/officeart/2005/8/layout/vList2"/>
    <dgm:cxn modelId="{C759855C-BB74-42F2-9343-92B2894202A7}" type="presParOf" srcId="{B58434A4-EDE2-4D69-848A-C673CAEC7600}" destId="{1564CE18-86A2-414B-91E1-2FB55637E0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BE21E-7554-4D31-9853-5F4C0ADFAE35}">
      <dsp:nvSpPr>
        <dsp:cNvPr id="0" name=""/>
        <dsp:cNvSpPr/>
      </dsp:nvSpPr>
      <dsp:spPr>
        <a:xfrm>
          <a:off x="0" y="8887"/>
          <a:ext cx="8228736" cy="83947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Integrating HTML with PHP</a:t>
          </a:r>
          <a:endParaRPr lang="en-US" sz="3500" kern="1200" dirty="0"/>
        </a:p>
      </dsp:txBody>
      <dsp:txXfrm>
        <a:off x="40980" y="49867"/>
        <a:ext cx="8146776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4CE18-86A2-414B-91E1-2FB55637E009}">
      <dsp:nvSpPr>
        <dsp:cNvPr id="0" name=""/>
        <dsp:cNvSpPr/>
      </dsp:nvSpPr>
      <dsp:spPr>
        <a:xfrm>
          <a:off x="0" y="8887"/>
          <a:ext cx="8228736" cy="83947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Operators in PHP…</a:t>
          </a:r>
        </a:p>
      </dsp:txBody>
      <dsp:txXfrm>
        <a:off x="40980" y="49867"/>
        <a:ext cx="8146776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66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695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1048696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7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1048698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58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104858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104858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605" name="Holder 3"/>
          <p:cNvSpPr>
            <a:spLocks noGrp="1"/>
          </p:cNvSpPr>
          <p:nvPr>
            <p:ph sz="half" idx="2"/>
          </p:nvPr>
        </p:nvSpPr>
        <p:spPr>
          <a:xfrm>
            <a:off x="618399" y="1507775"/>
            <a:ext cx="3599179" cy="284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606" name="Holder 4"/>
          <p:cNvSpPr>
            <a:spLocks noGrp="1"/>
          </p:cNvSpPr>
          <p:nvPr>
            <p:ph sz="half" idx="3"/>
          </p:nvPr>
        </p:nvSpPr>
        <p:spPr>
          <a:xfrm>
            <a:off x="4771499" y="1364875"/>
            <a:ext cx="4164125" cy="365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607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8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1048609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700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701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1048702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31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1048632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7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582866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578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12150" cy="381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1048579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0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1048581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8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1944752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/>
          </a:p>
          <a:p>
            <a:pPr marL="1170940" marR="190500" indent="-975360">
              <a:lnSpc>
                <a:spcPts val="3829"/>
              </a:lnSpc>
            </a:pPr>
            <a:r>
              <a:rPr spc="-21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FFFFFF"/>
                </a:solidFill>
                <a:latin typeface="Tahoma"/>
                <a:cs typeface="Tahoma"/>
              </a:rPr>
              <a:t>to PHP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55" dirty="0"/>
              <a:t> </a:t>
            </a:r>
            <a:r>
              <a:rPr spc="114" dirty="0"/>
              <a:t>Basics</a:t>
            </a:r>
          </a:p>
        </p:txBody>
      </p:sp>
      <p:sp>
        <p:nvSpPr>
          <p:cNvPr id="1048603" name="object 3"/>
          <p:cNvSpPr txBox="1"/>
          <p:nvPr/>
        </p:nvSpPr>
        <p:spPr>
          <a:xfrm>
            <a:off x="384725" y="1176350"/>
            <a:ext cx="8222615" cy="1743041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enclosed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special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start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end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processing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instructions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45E61"/>
                </a:solidFill>
                <a:latin typeface="Courier New"/>
                <a:cs typeface="Courier New"/>
              </a:rPr>
              <a:t>&lt;?php</a:t>
            </a:r>
            <a:r>
              <a:rPr sz="1400" b="1" spc="-45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solidFill>
                  <a:srgbClr val="F45E61"/>
                </a:solidFill>
                <a:latin typeface="Courier New"/>
                <a:cs typeface="Courier New"/>
              </a:rPr>
              <a:t>?&gt;</a:t>
            </a:r>
            <a:r>
              <a:rPr sz="1400" b="1" spc="-4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allow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jump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into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5E686C"/>
                </a:solidFill>
                <a:latin typeface="Tahoma"/>
                <a:cs typeface="Tahoma"/>
              </a:rPr>
              <a:t>"PHP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mode."</a:t>
            </a:r>
            <a:endParaRPr sz="1800">
              <a:latin typeface="Tahoma"/>
              <a:cs typeface="Tahoma"/>
            </a:endParaRPr>
          </a:p>
          <a:p>
            <a:pPr marL="12700" marR="393700" algn="just">
              <a:lnSpc>
                <a:spcPct val="114599"/>
              </a:lnSpc>
              <a:spcBef>
                <a:spcPts val="1575"/>
              </a:spcBef>
            </a:pPr>
            <a:r>
              <a:rPr sz="1800" spc="85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10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executed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server,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generating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which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then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client.</a:t>
            </a:r>
            <a:r>
              <a:rPr sz="1800" spc="-10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client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would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receive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results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running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script,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would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not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know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what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underlying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was.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PHP:</a:t>
            </a:r>
            <a:r>
              <a:rPr spc="-15" dirty="0"/>
              <a:t> </a:t>
            </a:r>
            <a:r>
              <a:rPr spc="130" dirty="0"/>
              <a:t>Hello</a:t>
            </a:r>
            <a:r>
              <a:rPr spc="-15" dirty="0"/>
              <a:t> </a:t>
            </a:r>
            <a:r>
              <a:rPr spc="60" dirty="0"/>
              <a:t>World</a:t>
            </a:r>
          </a:p>
        </p:txBody>
      </p:sp>
      <p:sp>
        <p:nvSpPr>
          <p:cNvPr id="1048611" name="object 3"/>
          <p:cNvSpPr txBox="1"/>
          <p:nvPr/>
        </p:nvSpPr>
        <p:spPr>
          <a:xfrm>
            <a:off x="618399" y="1507775"/>
            <a:ext cx="3599179" cy="259689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090">
              <a:lnSpc>
                <a:spcPts val="1664"/>
              </a:lnSpc>
              <a:spcBef>
                <a:spcPts val="62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html&gt;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&lt;head&gt;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&lt;title&gt;PHP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Hello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World!&lt;/title&gt;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&lt;/head&gt;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298450" marR="1158240">
              <a:lnSpc>
                <a:spcPts val="1650"/>
              </a:lnSpc>
              <a:spcBef>
                <a:spcPts val="65"/>
              </a:spcBef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echo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"Hello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World!";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print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"&lt;br&gt;";</a:t>
            </a:r>
            <a:endParaRPr sz="1400">
              <a:latin typeface="Courier New"/>
              <a:cs typeface="Courier New"/>
            </a:endParaRPr>
          </a:p>
          <a:p>
            <a:pPr marL="298450">
              <a:lnSpc>
                <a:spcPts val="1585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echo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"Welcome!";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85090">
              <a:lnSpc>
                <a:spcPts val="1664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48612" name="object 4"/>
          <p:cNvSpPr txBox="1"/>
          <p:nvPr/>
        </p:nvSpPr>
        <p:spPr>
          <a:xfrm>
            <a:off x="733124" y="1240163"/>
            <a:ext cx="2028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index.php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48613" name="object 5"/>
          <p:cNvSpPr txBox="1"/>
          <p:nvPr/>
        </p:nvSpPr>
        <p:spPr>
          <a:xfrm>
            <a:off x="4981475" y="1507775"/>
            <a:ext cx="3599179" cy="34286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85725" marR="2261870">
              <a:lnSpc>
                <a:spcPct val="100699"/>
              </a:lnSpc>
              <a:spcBef>
                <a:spcPts val="585"/>
              </a:spcBef>
            </a:pPr>
            <a:r>
              <a:rPr sz="1800" dirty="0">
                <a:latin typeface="Arial MT"/>
                <a:cs typeface="Arial MT"/>
              </a:rPr>
              <a:t>Hello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World! Welcome!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48614" name="object 6"/>
          <p:cNvSpPr txBox="1"/>
          <p:nvPr/>
        </p:nvSpPr>
        <p:spPr>
          <a:xfrm>
            <a:off x="5096199" y="1240163"/>
            <a:ext cx="25920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What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shows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up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10" dirty="0">
                <a:latin typeface="Arial"/>
                <a:cs typeface="Arial"/>
              </a:rPr>
              <a:t> browser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48615" name="object 7"/>
          <p:cNvSpPr txBox="1"/>
          <p:nvPr/>
        </p:nvSpPr>
        <p:spPr>
          <a:xfrm>
            <a:off x="4981475" y="2910875"/>
            <a:ext cx="3599179" cy="196824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&lt;head&gt;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&lt;title&gt;PHP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Hello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World!&lt;/title&gt;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&lt;/head&gt;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Hello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World!&lt;br&gt;Welcome!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48616" name="object 8"/>
          <p:cNvSpPr txBox="1"/>
          <p:nvPr/>
        </p:nvSpPr>
        <p:spPr>
          <a:xfrm>
            <a:off x="5096199" y="2643263"/>
            <a:ext cx="3205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Client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sees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this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source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Diagram 2"/>
          <p:cNvGraphicFramePr>
            <a:graphicFrameLocks/>
          </p:cNvGraphicFramePr>
          <p:nvPr/>
        </p:nvGraphicFramePr>
        <p:xfrm>
          <a:off x="457632" y="205978"/>
          <a:ext cx="8228736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17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7680" y="4685532"/>
            <a:ext cx="289728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endParaRPr lang="en-US" dirty="0" smtClean="0">
              <a:latin typeface="Times New Roman" pitchFamily="16" charset="0"/>
            </a:endParaRPr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78297E96-6536-48B1-AB07-251F094C485A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4</a:t>
            </a:fld>
            <a:endParaRPr lang="en-US">
              <a:latin typeface="Times New Roman" pitchFamily="16" charset="0"/>
            </a:endParaRPr>
          </a:p>
        </p:txBody>
      </p:sp>
      <p:sp>
        <p:nvSpPr>
          <p:cNvPr id="1048619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1"/>
            <a:r>
              <a:rPr lang="en-US" sz="2500" b="1" dirty="0">
                <a:solidFill>
                  <a:srgbClr val="FF0000"/>
                </a:solidFill>
              </a:rPr>
              <a:t>echo</a:t>
            </a:r>
            <a:r>
              <a:rPr lang="en-US" sz="2500" b="1" dirty="0"/>
              <a:t> statement outputs</a:t>
            </a:r>
            <a:r>
              <a:rPr lang="en-US" sz="2500" b="1" dirty="0">
                <a:solidFill>
                  <a:srgbClr val="FF0000"/>
                </a:solidFill>
              </a:rPr>
              <a:t> whatever </a:t>
            </a:r>
            <a:r>
              <a:rPr lang="en-US" sz="2500" b="1" dirty="0"/>
              <a:t>it’s told to the browser</a:t>
            </a:r>
          </a:p>
          <a:p>
            <a:pPr hangingPunct="1"/>
            <a:r>
              <a:rPr lang="en-US" sz="2500" b="1" dirty="0"/>
              <a:t>It can output not only </a:t>
            </a:r>
            <a:r>
              <a:rPr lang="en-US" sz="2500" b="1" dirty="0">
                <a:solidFill>
                  <a:srgbClr val="FF0000"/>
                </a:solidFill>
              </a:rPr>
              <a:t>plain text </a:t>
            </a:r>
            <a:r>
              <a:rPr lang="en-US" sz="2500" b="1" dirty="0"/>
              <a:t>but also </a:t>
            </a:r>
            <a:r>
              <a:rPr lang="en-US" sz="2500" b="1" dirty="0">
                <a:solidFill>
                  <a:srgbClr val="FF0000"/>
                </a:solidFill>
              </a:rPr>
              <a:t>HTML tags </a:t>
            </a:r>
          </a:p>
          <a:p>
            <a:pPr lvl="1" hangingPunct="1"/>
            <a:r>
              <a:rPr lang="en-US" sz="2100" b="1" dirty="0">
                <a:solidFill>
                  <a:srgbClr val="FF0000"/>
                </a:solidFill>
              </a:rPr>
              <a:t>echo “&lt;h1&gt; Welcome to the PHP&lt;/h1&gt;”;</a:t>
            </a:r>
          </a:p>
        </p:txBody>
      </p:sp>
      <p:pic>
        <p:nvPicPr>
          <p:cNvPr id="2097153" name="Content Placeholder 9" descr="Macromedia Dreamweaver 8 - [C:\wamp\www\lecture 24\home.php (XHTML)]"/>
          <p:cNvPicPr>
            <a:picLocks noChangeAspect="1" noChangeArrowheads="1"/>
          </p:cNvPicPr>
          <p:nvPr/>
        </p:nvPicPr>
        <p:blipFill>
          <a:blip r:embed="rId7"/>
          <a:srcRect t="24684" r="18520" b="29240"/>
          <a:stretch>
            <a:fillRect/>
          </a:stretch>
        </p:blipFill>
        <p:spPr bwMode="auto">
          <a:xfrm>
            <a:off x="990720" y="2686242"/>
            <a:ext cx="6704640" cy="228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55" dirty="0"/>
              <a:t> </a:t>
            </a:r>
            <a:r>
              <a:rPr spc="60" dirty="0"/>
              <a:t>Variables</a:t>
            </a:r>
          </a:p>
        </p:txBody>
      </p:sp>
      <p:sp>
        <p:nvSpPr>
          <p:cNvPr id="1048621" name="object 3"/>
          <p:cNvSpPr txBox="1"/>
          <p:nvPr/>
        </p:nvSpPr>
        <p:spPr>
          <a:xfrm>
            <a:off x="384725" y="1216355"/>
            <a:ext cx="7394575" cy="2597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place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store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endParaRPr sz="1800">
              <a:latin typeface="Tahoma"/>
              <a:cs typeface="Tahoma"/>
            </a:endParaRPr>
          </a:p>
          <a:p>
            <a:pPr marL="12700" marR="806450">
              <a:lnSpc>
                <a:spcPct val="187500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variable,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(it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null).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hold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different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types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information,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words,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numbers,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collections</a:t>
            </a: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data.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over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time.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55" dirty="0"/>
              <a:t> </a:t>
            </a:r>
            <a:r>
              <a:rPr spc="60" dirty="0"/>
              <a:t>Variables</a:t>
            </a:r>
          </a:p>
        </p:txBody>
      </p:sp>
      <p:sp>
        <p:nvSpPr>
          <p:cNvPr id="1048625" name="object 3"/>
          <p:cNvSpPr txBox="1"/>
          <p:nvPr/>
        </p:nvSpPr>
        <p:spPr>
          <a:xfrm>
            <a:off x="384725" y="1100150"/>
            <a:ext cx="8248650" cy="3565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9235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dollar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sign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name.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create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you.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$age;</a:t>
            </a:r>
            <a:endParaRPr sz="1400">
              <a:latin typeface="Courier New"/>
              <a:cs typeface="Courier New"/>
            </a:endParaRPr>
          </a:p>
          <a:p>
            <a:pPr marL="12700" marR="269875">
              <a:lnSpc>
                <a:spcPct val="114599"/>
              </a:lnSpc>
              <a:spcBef>
                <a:spcPts val="1515"/>
              </a:spcBef>
            </a:pP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good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give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starting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value.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initializing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$age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5;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14599"/>
              </a:lnSpc>
              <a:spcBef>
                <a:spcPts val="151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code.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dollar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sign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name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endParaRPr sz="1800">
              <a:latin typeface="Tahoma"/>
              <a:cs typeface="Tahoma"/>
            </a:endParaRPr>
          </a:p>
          <a:p>
            <a:pPr marL="12700" marR="7160895">
              <a:lnSpc>
                <a:spcPct val="116100"/>
              </a:lnSpc>
              <a:spcBef>
                <a:spcPts val="164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$age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5;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$age;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35" dirty="0"/>
              <a:t> </a:t>
            </a:r>
            <a:r>
              <a:rPr spc="55" dirty="0"/>
              <a:t>Variable</a:t>
            </a:r>
            <a:r>
              <a:rPr spc="-35" dirty="0"/>
              <a:t> </a:t>
            </a:r>
            <a:r>
              <a:rPr spc="55" dirty="0"/>
              <a:t>Values:</a:t>
            </a:r>
            <a:r>
              <a:rPr spc="-35" dirty="0"/>
              <a:t> </a:t>
            </a:r>
            <a:r>
              <a:rPr spc="114" dirty="0"/>
              <a:t>Numbers</a:t>
            </a:r>
          </a:p>
        </p:txBody>
      </p:sp>
      <p:sp>
        <p:nvSpPr>
          <p:cNvPr id="1048627" name="object 3"/>
          <p:cNvSpPr txBox="1"/>
          <p:nvPr/>
        </p:nvSpPr>
        <p:spPr>
          <a:xfrm>
            <a:off x="384725" y="1216355"/>
            <a:ext cx="6111875" cy="2428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Variables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numbers,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either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integers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floats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(decimals).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$numberOfCoffees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4;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$coffeePrice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2.3;</a:t>
            </a:r>
            <a:endParaRPr sz="1400">
              <a:latin typeface="Courier New"/>
              <a:cs typeface="Courier New"/>
            </a:endParaRPr>
          </a:p>
          <a:p>
            <a:pPr marL="12700" marR="280035">
              <a:lnSpc>
                <a:spcPts val="4050"/>
              </a:lnSpc>
              <a:spcBef>
                <a:spcPts val="390"/>
              </a:spcBef>
            </a:pP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automatically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convert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integers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floats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if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needed.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numbers,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math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them!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$totalPrice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$numberOfCoffees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*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$coffeePrice;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457920" y="206303"/>
            <a:ext cx="8228160" cy="365078"/>
          </a:xfrm>
        </p:spPr>
        <p:txBody>
          <a:bodyPr>
            <a:normAutofit fontScale="90000"/>
          </a:bodyPr>
          <a:lstStyle/>
          <a:p>
            <a:pPr hangingPunct="1"/>
            <a:r>
              <a:rPr lang="en-US" dirty="0"/>
              <a:t>variables</a:t>
            </a:r>
          </a:p>
        </p:txBody>
      </p:sp>
      <p:sp>
        <p:nvSpPr>
          <p:cNvPr id="1048629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DAD272BB-4877-4A4A-B72D-F359F79D03A2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8</a:t>
            </a:fld>
            <a:endParaRPr lang="en-US">
              <a:latin typeface="Times New Roman" pitchFamily="16" charset="0"/>
            </a:endParaRPr>
          </a:p>
        </p:txBody>
      </p:sp>
      <p:pic>
        <p:nvPicPr>
          <p:cNvPr id="20971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81600" y="800365"/>
            <a:ext cx="7228800" cy="393161"/>
          </a:xfrm>
        </p:spPr>
      </p:pic>
      <p:pic>
        <p:nvPicPr>
          <p:cNvPr id="2097155" name="Picture 3"/>
          <p:cNvPicPr>
            <a:picLocks noChangeAspect="1" noChangeArrowheads="1"/>
          </p:cNvPicPr>
          <p:nvPr/>
        </p:nvPicPr>
        <p:blipFill>
          <a:blip r:embed="rId3"/>
          <a:srcRect b="23199"/>
          <a:stretch>
            <a:fillRect/>
          </a:stretch>
        </p:blipFill>
        <p:spPr bwMode="auto">
          <a:xfrm>
            <a:off x="381601" y="1257253"/>
            <a:ext cx="3885120" cy="68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601" y="2000370"/>
            <a:ext cx="7162560" cy="133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7" name="Content Placeholder 6" descr="Macromedia Dreamweaver 8 - [C:\wamp\www\lecture 24\getset.php (XHTML)]"/>
          <p:cNvPicPr>
            <a:picLocks noChangeAspect="1" noChangeArrowheads="1"/>
          </p:cNvPicPr>
          <p:nvPr/>
        </p:nvPicPr>
        <p:blipFill>
          <a:blip r:embed="rId5"/>
          <a:srcRect l="7407" t="19560" r="40741" b="32281"/>
          <a:stretch>
            <a:fillRect/>
          </a:stretch>
        </p:blipFill>
        <p:spPr bwMode="auto">
          <a:xfrm>
            <a:off x="407001" y="3562350"/>
            <a:ext cx="662832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6480" y="235465"/>
            <a:ext cx="8229600" cy="492443"/>
          </a:xfrm>
        </p:spPr>
        <p:txBody>
          <a:bodyPr/>
          <a:lstStyle/>
          <a:p>
            <a:pPr>
              <a:tabLst>
                <a:tab pos="586287" algn="l"/>
                <a:tab pos="1172573" algn="l"/>
                <a:tab pos="1758860" algn="l"/>
                <a:tab pos="2345146" algn="l"/>
                <a:tab pos="2931433" algn="l"/>
                <a:tab pos="3517720" algn="l"/>
                <a:tab pos="4104006" algn="l"/>
                <a:tab pos="4690293" algn="l"/>
                <a:tab pos="5276579" algn="l"/>
                <a:tab pos="5862866" algn="l"/>
                <a:tab pos="6449153" algn="l"/>
                <a:tab pos="7035439" algn="l"/>
              </a:tabLst>
            </a:pPr>
            <a:r>
              <a:rPr lang="en-GB" altLang="el-GR" smtClean="0">
                <a:latin typeface="Arial" charset="0"/>
                <a:cs typeface="Arial Unicode MS" charset="0"/>
                <a:sym typeface="Arial" charset="0"/>
              </a:rPr>
              <a:t>PHP Operators</a:t>
            </a:r>
            <a:endParaRPr lang="en-US" altLang="en-US" smtClean="0"/>
          </a:p>
        </p:txBody>
      </p:sp>
      <p:pic>
        <p:nvPicPr>
          <p:cNvPr id="20971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080" y="964542"/>
            <a:ext cx="8301600" cy="3591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6480" y="235465"/>
            <a:ext cx="8229600" cy="492443"/>
          </a:xfrm>
        </p:spPr>
        <p:txBody>
          <a:bodyPr/>
          <a:lstStyle/>
          <a:p>
            <a:pPr>
              <a:tabLst>
                <a:tab pos="586287" algn="l"/>
                <a:tab pos="1172573" algn="l"/>
                <a:tab pos="1758860" algn="l"/>
                <a:tab pos="2345146" algn="l"/>
                <a:tab pos="2931433" algn="l"/>
                <a:tab pos="3517720" algn="l"/>
                <a:tab pos="4104006" algn="l"/>
                <a:tab pos="4690293" algn="l"/>
                <a:tab pos="5276579" algn="l"/>
                <a:tab pos="5862866" algn="l"/>
                <a:tab pos="6449153" algn="l"/>
                <a:tab pos="7035439" algn="l"/>
              </a:tabLst>
            </a:pPr>
            <a:r>
              <a:rPr lang="en-GB" altLang="el-GR" smtClean="0">
                <a:latin typeface="Arial" charset="0"/>
                <a:cs typeface="Arial Unicode MS" charset="0"/>
                <a:sym typeface="Arial" charset="0"/>
              </a:rPr>
              <a:t>PHP Operators</a:t>
            </a:r>
            <a:endParaRPr lang="en-US" altLang="en-US" smtClean="0"/>
          </a:p>
        </p:txBody>
      </p:sp>
      <p:pic>
        <p:nvPicPr>
          <p:cNvPr id="209715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841" y="1515399"/>
            <a:ext cx="8356320" cy="2353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6480" y="235465"/>
            <a:ext cx="8229600" cy="492443"/>
          </a:xfrm>
        </p:spPr>
        <p:txBody>
          <a:bodyPr/>
          <a:lstStyle/>
          <a:p>
            <a:pPr>
              <a:tabLst>
                <a:tab pos="586287" algn="l"/>
                <a:tab pos="1172573" algn="l"/>
                <a:tab pos="1758860" algn="l"/>
                <a:tab pos="2345146" algn="l"/>
                <a:tab pos="2931433" algn="l"/>
                <a:tab pos="3517720" algn="l"/>
                <a:tab pos="4104006" algn="l"/>
                <a:tab pos="4690293" algn="l"/>
                <a:tab pos="5276579" algn="l"/>
                <a:tab pos="5862866" algn="l"/>
                <a:tab pos="6449153" algn="l"/>
                <a:tab pos="7035439" algn="l"/>
              </a:tabLst>
            </a:pPr>
            <a:r>
              <a:rPr lang="en-GB" altLang="el-GR" smtClean="0">
                <a:latin typeface="Arial" charset="0"/>
                <a:cs typeface="Arial Unicode MS" charset="0"/>
                <a:sym typeface="Arial" charset="0"/>
              </a:rPr>
              <a:t>PHP Operators</a:t>
            </a:r>
            <a:endParaRPr lang="en-US" altLang="en-US" smtClean="0"/>
          </a:p>
        </p:txBody>
      </p:sp>
      <p:pic>
        <p:nvPicPr>
          <p:cNvPr id="209716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040" y="1525120"/>
            <a:ext cx="8445600" cy="230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6480" y="235465"/>
            <a:ext cx="8229600" cy="492443"/>
          </a:xfrm>
        </p:spPr>
        <p:txBody>
          <a:bodyPr/>
          <a:lstStyle/>
          <a:p>
            <a:pPr>
              <a:tabLst>
                <a:tab pos="586287" algn="l"/>
                <a:tab pos="1172573" algn="l"/>
                <a:tab pos="1758860" algn="l"/>
                <a:tab pos="2345146" algn="l"/>
                <a:tab pos="2931433" algn="l"/>
                <a:tab pos="3517720" algn="l"/>
                <a:tab pos="4104006" algn="l"/>
                <a:tab pos="4690293" algn="l"/>
                <a:tab pos="5276579" algn="l"/>
                <a:tab pos="5862866" algn="l"/>
                <a:tab pos="6449153" algn="l"/>
                <a:tab pos="7035439" algn="l"/>
              </a:tabLst>
            </a:pPr>
            <a:r>
              <a:rPr lang="en-GB" altLang="el-GR" smtClean="0">
                <a:latin typeface="Arial" charset="0"/>
                <a:cs typeface="Arial Unicode MS" charset="0"/>
                <a:sym typeface="Arial" charset="0"/>
              </a:rPr>
              <a:t>PHP Operators</a:t>
            </a:r>
            <a:endParaRPr lang="en-US" altLang="en-US" smtClean="0"/>
          </a:p>
        </p:txBody>
      </p:sp>
      <p:pic>
        <p:nvPicPr>
          <p:cNvPr id="209716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121" y="1147081"/>
            <a:ext cx="8470080" cy="3061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CFE1F587-22A5-4E62-8119-AD0B06100D26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13</a:t>
            </a:fld>
            <a:endParaRPr lang="en-US">
              <a:latin typeface="Times New Roman" pitchFamily="16" charset="0"/>
            </a:endParaRPr>
          </a:p>
        </p:txBody>
      </p:sp>
      <p:pic>
        <p:nvPicPr>
          <p:cNvPr id="209716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81601" y="228984"/>
            <a:ext cx="7542720" cy="1828632"/>
          </a:xfrm>
        </p:spPr>
      </p:pic>
      <p:pic>
        <p:nvPicPr>
          <p:cNvPr id="2097163" name="Picture 4"/>
          <p:cNvPicPr>
            <a:picLocks noChangeAspect="1" noChangeArrowheads="1"/>
          </p:cNvPicPr>
          <p:nvPr/>
        </p:nvPicPr>
        <p:blipFill>
          <a:blip r:embed="rId3">
            <a:lum bright="40000" contrast="20000"/>
          </a:blip>
          <a:srcRect b="32652"/>
          <a:stretch>
            <a:fillRect/>
          </a:stretch>
        </p:blipFill>
        <p:spPr bwMode="auto">
          <a:xfrm>
            <a:off x="457920" y="2057617"/>
            <a:ext cx="7848000" cy="1885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Diagram 5"/>
          <p:cNvGraphicFramePr>
            <a:graphicFrameLocks/>
          </p:cNvGraphicFramePr>
          <p:nvPr/>
        </p:nvGraphicFramePr>
        <p:xfrm>
          <a:off x="457632" y="205978"/>
          <a:ext cx="8228736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3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7680" y="4685532"/>
            <a:ext cx="289728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endParaRPr lang="en-US" dirty="0" smtClean="0">
              <a:latin typeface="Times New Roman" pitchFamily="16" charset="0"/>
            </a:endParaRPr>
          </a:p>
        </p:txBody>
      </p:sp>
      <p:sp>
        <p:nvSpPr>
          <p:cNvPr id="1048639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FDBEF709-6B5A-4DFD-98CE-6FAF70983463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14</a:t>
            </a:fld>
            <a:endParaRPr lang="en-US">
              <a:latin typeface="Times New Roman" pitchFamily="16" charset="0"/>
            </a:endParaRPr>
          </a:p>
        </p:txBody>
      </p:sp>
      <p:pic>
        <p:nvPicPr>
          <p:cNvPr id="2097164" name="Content Placeholder 6" descr="Macromedia Dreamweaver 8 - [C:\wamp\www\lecture 25\equality op.php (XHTML)]"/>
          <p:cNvPicPr>
            <a:picLocks noGrp="1" noChangeAspect="1" noChangeArrowheads="1"/>
          </p:cNvPicPr>
          <p:nvPr>
            <p:ph idx="1"/>
          </p:nvPr>
        </p:nvPicPr>
        <p:blipFill>
          <a:blip r:embed="rId7"/>
          <a:srcRect t="18102" r="24074" b="27596"/>
          <a:stretch>
            <a:fillRect/>
          </a:stretch>
        </p:blipFill>
        <p:spPr>
          <a:xfrm>
            <a:off x="381600" y="1486236"/>
            <a:ext cx="6248160" cy="1885878"/>
          </a:xfrm>
        </p:spPr>
      </p:pic>
      <p:cxnSp>
        <p:nvCxnSpPr>
          <p:cNvPr id="3145728" name="Straight Arrow Connector 8"/>
          <p:cNvCxnSpPr>
            <a:cxnSpLocks/>
          </p:cNvCxnSpPr>
          <p:nvPr/>
        </p:nvCxnSpPr>
        <p:spPr>
          <a:xfrm flipH="1">
            <a:off x="1752480" y="1828632"/>
            <a:ext cx="5342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0" name="TextBox 9"/>
          <p:cNvSpPr txBox="1">
            <a:spLocks noChangeArrowheads="1"/>
          </p:cNvSpPr>
          <p:nvPr/>
        </p:nvSpPr>
        <p:spPr bwMode="auto">
          <a:xfrm>
            <a:off x="2306880" y="1653654"/>
            <a:ext cx="1676160" cy="340688"/>
          </a:xfrm>
          <a:prstGeom prst="rect">
            <a:avLst/>
          </a:prstGeom>
          <a:noFill/>
          <a:ln>
            <a:noFill/>
          </a:ln>
        </p:spPr>
        <p:txBody>
          <a:bodyPr lIns="74057" tIns="37029" rIns="74057" bIns="37029">
            <a:spAutoFit/>
          </a:bodyPr>
          <a:lstStyle/>
          <a:p>
            <a:pPr eaLnBrk="1" hangingPunct="1">
              <a:lnSpc>
                <a:spcPct val="96000"/>
              </a:lnSpc>
              <a:buClr>
                <a:srgbClr val="000000"/>
              </a:buClr>
            </a:pPr>
            <a:r>
              <a:rPr lang="en-US" b="1"/>
              <a:t>Integer value</a:t>
            </a:r>
          </a:p>
        </p:txBody>
      </p:sp>
      <p:cxnSp>
        <p:nvCxnSpPr>
          <p:cNvPr id="3145729" name="Straight Arrow Connector 11"/>
          <p:cNvCxnSpPr>
            <a:cxnSpLocks/>
          </p:cNvCxnSpPr>
          <p:nvPr/>
        </p:nvCxnSpPr>
        <p:spPr>
          <a:xfrm flipH="1">
            <a:off x="2018880" y="2000370"/>
            <a:ext cx="196416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1" name="TextBox 12"/>
          <p:cNvSpPr txBox="1">
            <a:spLocks noChangeArrowheads="1"/>
          </p:cNvSpPr>
          <p:nvPr/>
        </p:nvSpPr>
        <p:spPr bwMode="auto">
          <a:xfrm>
            <a:off x="3983040" y="1828632"/>
            <a:ext cx="1579680" cy="340688"/>
          </a:xfrm>
          <a:prstGeom prst="rect">
            <a:avLst/>
          </a:prstGeom>
          <a:noFill/>
          <a:ln>
            <a:noFill/>
          </a:ln>
        </p:spPr>
        <p:txBody>
          <a:bodyPr lIns="74057" tIns="37029" rIns="74057" bIns="37029">
            <a:spAutoFit/>
          </a:bodyPr>
          <a:lstStyle/>
          <a:p>
            <a:pPr eaLnBrk="1" hangingPunct="1">
              <a:lnSpc>
                <a:spcPct val="96000"/>
              </a:lnSpc>
              <a:buClr>
                <a:srgbClr val="000000"/>
              </a:buClr>
            </a:pPr>
            <a:r>
              <a:rPr lang="en-US" b="1"/>
              <a:t>String value</a:t>
            </a:r>
          </a:p>
        </p:txBody>
      </p:sp>
      <p:sp>
        <p:nvSpPr>
          <p:cNvPr id="1048642" name="Right Brace 13"/>
          <p:cNvSpPr/>
          <p:nvPr/>
        </p:nvSpPr>
        <p:spPr>
          <a:xfrm>
            <a:off x="2895840" y="2106222"/>
            <a:ext cx="1676160" cy="69451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4057" tIns="37029" rIns="74057" bIns="37029" anchor="ctr"/>
          <a:lstStyle/>
          <a:p>
            <a:pPr algn="ctr" eaLnBrk="1" hangingPunct="1">
              <a:lnSpc>
                <a:spcPct val="96000"/>
              </a:lnSpc>
              <a:buClr>
                <a:srgbClr val="000000"/>
              </a:buClr>
            </a:pPr>
            <a:endParaRPr lang="en-US">
              <a:sym typeface="Arial" panose="020B0604020202020204" pitchFamily="34" charset="0"/>
            </a:endParaRPr>
          </a:p>
        </p:txBody>
      </p:sp>
      <p:sp>
        <p:nvSpPr>
          <p:cNvPr id="1048643" name="TextBox 14"/>
          <p:cNvSpPr txBox="1">
            <a:spLocks noChangeArrowheads="1"/>
          </p:cNvSpPr>
          <p:nvPr/>
        </p:nvSpPr>
        <p:spPr bwMode="auto">
          <a:xfrm>
            <a:off x="4772161" y="2285520"/>
            <a:ext cx="1628640" cy="606593"/>
          </a:xfrm>
          <a:prstGeom prst="rect">
            <a:avLst/>
          </a:prstGeom>
          <a:noFill/>
          <a:ln>
            <a:noFill/>
          </a:ln>
        </p:spPr>
        <p:txBody>
          <a:bodyPr lIns="74057" tIns="37029" rIns="74057" bIns="37029">
            <a:spAutoFit/>
          </a:bodyPr>
          <a:lstStyle/>
          <a:p>
            <a:pPr eaLnBrk="1" hangingPunct="1">
              <a:lnSpc>
                <a:spcPct val="96000"/>
              </a:lnSpc>
              <a:buClr>
                <a:srgbClr val="000000"/>
              </a:buClr>
            </a:pPr>
            <a:r>
              <a:rPr lang="en-US" b="1"/>
              <a:t>Compares only values</a:t>
            </a:r>
          </a:p>
        </p:txBody>
      </p:sp>
      <p:sp>
        <p:nvSpPr>
          <p:cNvPr id="1048644" name="Right Brace 15"/>
          <p:cNvSpPr/>
          <p:nvPr/>
        </p:nvSpPr>
        <p:spPr>
          <a:xfrm>
            <a:off x="2743200" y="2857981"/>
            <a:ext cx="1905120" cy="45688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4057" tIns="37029" rIns="74057" bIns="37029" anchor="ctr"/>
          <a:lstStyle/>
          <a:p>
            <a:pPr algn="ctr" eaLnBrk="1" hangingPunct="1">
              <a:lnSpc>
                <a:spcPct val="96000"/>
              </a:lnSpc>
              <a:buClr>
                <a:srgbClr val="000000"/>
              </a:buClr>
            </a:pPr>
            <a:endParaRPr lang="en-US">
              <a:sym typeface="Arial" panose="020B0604020202020204" pitchFamily="34" charset="0"/>
            </a:endParaRPr>
          </a:p>
        </p:txBody>
      </p:sp>
      <p:sp>
        <p:nvSpPr>
          <p:cNvPr id="1048645" name="TextBox 16"/>
          <p:cNvSpPr txBox="1">
            <a:spLocks noChangeArrowheads="1"/>
          </p:cNvSpPr>
          <p:nvPr/>
        </p:nvSpPr>
        <p:spPr bwMode="auto">
          <a:xfrm>
            <a:off x="4772161" y="2971392"/>
            <a:ext cx="2619360" cy="340688"/>
          </a:xfrm>
          <a:prstGeom prst="rect">
            <a:avLst/>
          </a:prstGeom>
          <a:noFill/>
          <a:ln>
            <a:noFill/>
          </a:ln>
        </p:spPr>
        <p:txBody>
          <a:bodyPr lIns="74057" tIns="37029" rIns="74057" bIns="37029">
            <a:spAutoFit/>
          </a:bodyPr>
          <a:lstStyle/>
          <a:p>
            <a:pPr eaLnBrk="1" hangingPunct="1">
              <a:lnSpc>
                <a:spcPct val="96000"/>
              </a:lnSpc>
              <a:buClr>
                <a:srgbClr val="000000"/>
              </a:buClr>
            </a:pPr>
            <a:r>
              <a:rPr lang="en-US" b="1"/>
              <a:t>Strict comparison</a:t>
            </a:r>
          </a:p>
        </p:txBody>
      </p:sp>
      <p:pic>
        <p:nvPicPr>
          <p:cNvPr id="2097165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7920" y="3429360"/>
            <a:ext cx="7009920" cy="15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0" grpId="0"/>
      <p:bldP spid="1048641" grpId="0"/>
      <p:bldP spid="1048642" grpId="0" animBg="1"/>
      <p:bldP spid="1048643" grpId="0"/>
      <p:bldP spid="1048644" grpId="0" animBg="1"/>
      <p:bldP spid="10486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45" dirty="0"/>
              <a:t> </a:t>
            </a:r>
            <a:r>
              <a:rPr spc="110" dirty="0"/>
              <a:t>String</a:t>
            </a:r>
            <a:r>
              <a:rPr spc="-45" dirty="0"/>
              <a:t> </a:t>
            </a:r>
            <a:r>
              <a:rPr spc="95" dirty="0"/>
              <a:t>Operators</a:t>
            </a:r>
          </a:p>
        </p:txBody>
      </p:sp>
      <p:sp>
        <p:nvSpPr>
          <p:cNvPr id="1048650" name="object 3"/>
          <p:cNvSpPr txBox="1"/>
          <p:nvPr/>
        </p:nvSpPr>
        <p:spPr>
          <a:xfrm>
            <a:off x="384725" y="1216355"/>
            <a:ext cx="7062470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strings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together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period,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concatenation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operator.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$firstName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'Fluffy';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$fullName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$firstName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McDougle';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$fullName;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//Outputs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'Fluffy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McDougle'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48651" name="object 4"/>
          <p:cNvSpPr txBox="1"/>
          <p:nvPr/>
        </p:nvSpPr>
        <p:spPr>
          <a:xfrm>
            <a:off x="384725" y="3188030"/>
            <a:ext cx="5339715" cy="1199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29" dirty="0">
                <a:solidFill>
                  <a:srgbClr val="F45E61"/>
                </a:solidFill>
                <a:latin typeface="Tahoma"/>
                <a:cs typeface="Tahoma"/>
              </a:rPr>
              <a:t>.=</a:t>
            </a:r>
            <a:r>
              <a:rPr sz="1800" spc="-18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things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end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string.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$name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'Fluffy';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$name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McDougle';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$name;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//Outputs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'Fluffy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McDougle'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5828665" cy="492443"/>
          </a:xfrm>
        </p:spPr>
        <p:txBody>
          <a:bodyPr/>
          <a:lstStyle/>
          <a:p>
            <a:pPr hangingPunct="1"/>
            <a:r>
              <a:rPr lang="en-US" smtClean="0"/>
              <a:t>Php string functions</a:t>
            </a:r>
          </a:p>
        </p:txBody>
      </p:sp>
      <p:sp>
        <p:nvSpPr>
          <p:cNvPr id="1048653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3479323C-BF2C-43E0-AA44-F8CF4EF7C19C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16</a:t>
            </a:fld>
            <a:endParaRPr lang="en-US">
              <a:latin typeface="Times New Roman" pitchFamily="16" charset="0"/>
            </a:endParaRPr>
          </a:p>
        </p:txBody>
      </p:sp>
      <p:pic>
        <p:nvPicPr>
          <p:cNvPr id="20971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81600" y="1486236"/>
            <a:ext cx="8248320" cy="342828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45" dirty="0"/>
              <a:t> </a:t>
            </a:r>
            <a:r>
              <a:rPr spc="114" dirty="0"/>
              <a:t>Conditional</a:t>
            </a:r>
            <a:r>
              <a:rPr spc="-40" dirty="0"/>
              <a:t> </a:t>
            </a:r>
            <a:r>
              <a:rPr spc="125" dirty="0"/>
              <a:t>Statements</a:t>
            </a:r>
          </a:p>
        </p:txBody>
      </p:sp>
      <p:sp>
        <p:nvSpPr>
          <p:cNvPr id="1048676" name="object 3"/>
          <p:cNvSpPr txBox="1">
            <a:spLocks noGrp="1"/>
          </p:cNvSpPr>
          <p:nvPr>
            <p:ph type="body" idx="1"/>
          </p:nvPr>
        </p:nvSpPr>
        <p:spPr>
          <a:xfrm>
            <a:off x="384725" y="1176350"/>
            <a:ext cx="8312150" cy="1624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pc="50" dirty="0"/>
              <a:t>Very</a:t>
            </a:r>
            <a:r>
              <a:rPr spc="-140" dirty="0"/>
              <a:t> </a:t>
            </a:r>
            <a:r>
              <a:rPr dirty="0"/>
              <a:t>often</a:t>
            </a:r>
            <a:r>
              <a:rPr spc="-140" dirty="0"/>
              <a:t> </a:t>
            </a:r>
            <a:r>
              <a:rPr dirty="0"/>
              <a:t>when</a:t>
            </a:r>
            <a:r>
              <a:rPr spc="-140" dirty="0"/>
              <a:t> </a:t>
            </a:r>
            <a:r>
              <a:rPr dirty="0"/>
              <a:t>you</a:t>
            </a:r>
            <a:r>
              <a:rPr spc="-140" dirty="0"/>
              <a:t> </a:t>
            </a:r>
            <a:r>
              <a:rPr dirty="0"/>
              <a:t>write</a:t>
            </a:r>
            <a:r>
              <a:rPr spc="-140" dirty="0"/>
              <a:t> </a:t>
            </a:r>
            <a:r>
              <a:rPr spc="-35" dirty="0"/>
              <a:t>code,</a:t>
            </a:r>
            <a:r>
              <a:rPr spc="-140" dirty="0"/>
              <a:t> </a:t>
            </a:r>
            <a:r>
              <a:rPr dirty="0"/>
              <a:t>you</a:t>
            </a:r>
            <a:r>
              <a:rPr spc="-140" dirty="0"/>
              <a:t> </a:t>
            </a:r>
            <a:r>
              <a:rPr dirty="0"/>
              <a:t>want</a:t>
            </a:r>
            <a:r>
              <a:rPr spc="-140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dirty="0"/>
              <a:t>perform</a:t>
            </a:r>
            <a:r>
              <a:rPr spc="-140" dirty="0"/>
              <a:t> </a:t>
            </a:r>
            <a:r>
              <a:rPr dirty="0"/>
              <a:t>different</a:t>
            </a:r>
            <a:r>
              <a:rPr spc="-135" dirty="0"/>
              <a:t> </a:t>
            </a:r>
            <a:r>
              <a:rPr dirty="0"/>
              <a:t>actions</a:t>
            </a:r>
            <a:r>
              <a:rPr spc="-140" dirty="0"/>
              <a:t> </a:t>
            </a:r>
            <a:r>
              <a:rPr dirty="0"/>
              <a:t>for</a:t>
            </a:r>
            <a:r>
              <a:rPr spc="-140" dirty="0"/>
              <a:t> </a:t>
            </a:r>
            <a:r>
              <a:rPr spc="-10" dirty="0"/>
              <a:t>different decisions.</a:t>
            </a:r>
          </a:p>
          <a:p>
            <a:pPr marL="12700" marR="2478405">
              <a:lnSpc>
                <a:spcPct val="187500"/>
              </a:lnSpc>
            </a:pPr>
            <a:r>
              <a:rPr dirty="0"/>
              <a:t>You</a:t>
            </a:r>
            <a:r>
              <a:rPr spc="-155" dirty="0"/>
              <a:t> </a:t>
            </a:r>
            <a:r>
              <a:rPr spc="-10" dirty="0"/>
              <a:t>can</a:t>
            </a:r>
            <a:r>
              <a:rPr spc="-150" dirty="0"/>
              <a:t> </a:t>
            </a:r>
            <a:r>
              <a:rPr spc="-10" dirty="0"/>
              <a:t>use</a:t>
            </a:r>
            <a:r>
              <a:rPr spc="-150" dirty="0"/>
              <a:t> </a:t>
            </a:r>
            <a:r>
              <a:rPr dirty="0"/>
              <a:t>conditional</a:t>
            </a:r>
            <a:r>
              <a:rPr spc="-155" dirty="0"/>
              <a:t> </a:t>
            </a:r>
            <a:r>
              <a:rPr dirty="0"/>
              <a:t>statements</a:t>
            </a:r>
            <a:r>
              <a:rPr spc="-150" dirty="0"/>
              <a:t> </a:t>
            </a:r>
            <a:r>
              <a:rPr dirty="0"/>
              <a:t>in</a:t>
            </a:r>
            <a:r>
              <a:rPr spc="-150" dirty="0"/>
              <a:t> </a:t>
            </a:r>
            <a:r>
              <a:rPr dirty="0"/>
              <a:t>your</a:t>
            </a:r>
            <a:r>
              <a:rPr spc="-155" dirty="0"/>
              <a:t> </a:t>
            </a:r>
            <a:r>
              <a:rPr dirty="0"/>
              <a:t>code</a:t>
            </a:r>
            <a:r>
              <a:rPr spc="-150" dirty="0"/>
              <a:t> </a:t>
            </a:r>
            <a:r>
              <a:rPr dirty="0"/>
              <a:t>to</a:t>
            </a:r>
            <a:r>
              <a:rPr spc="-150" dirty="0"/>
              <a:t> </a:t>
            </a:r>
            <a:r>
              <a:rPr dirty="0"/>
              <a:t>do</a:t>
            </a:r>
            <a:r>
              <a:rPr spc="-155" dirty="0"/>
              <a:t> </a:t>
            </a:r>
            <a:r>
              <a:rPr spc="-10" dirty="0"/>
              <a:t>this. </a:t>
            </a:r>
            <a:r>
              <a:rPr spc="-75" dirty="0"/>
              <a:t>In</a:t>
            </a:r>
            <a:r>
              <a:rPr spc="-165" dirty="0"/>
              <a:t> </a:t>
            </a:r>
            <a:r>
              <a:rPr spc="114" dirty="0"/>
              <a:t>PHP</a:t>
            </a:r>
            <a:r>
              <a:rPr spc="-160" dirty="0"/>
              <a:t> </a:t>
            </a:r>
            <a:r>
              <a:rPr dirty="0"/>
              <a:t>we</a:t>
            </a:r>
            <a:r>
              <a:rPr spc="-160" dirty="0"/>
              <a:t> </a:t>
            </a:r>
            <a:r>
              <a:rPr spc="-10" dirty="0"/>
              <a:t>have</a:t>
            </a:r>
            <a:r>
              <a:rPr spc="-165" dirty="0"/>
              <a:t> </a:t>
            </a:r>
            <a:r>
              <a:rPr dirty="0"/>
              <a:t>the</a:t>
            </a:r>
            <a:r>
              <a:rPr spc="-160" dirty="0"/>
              <a:t> </a:t>
            </a:r>
            <a:r>
              <a:rPr dirty="0"/>
              <a:t>following</a:t>
            </a:r>
            <a:r>
              <a:rPr spc="-160" dirty="0"/>
              <a:t> </a:t>
            </a:r>
            <a:r>
              <a:rPr dirty="0"/>
              <a:t>conditional</a:t>
            </a:r>
            <a:r>
              <a:rPr spc="-160" dirty="0"/>
              <a:t> </a:t>
            </a:r>
            <a:r>
              <a:rPr spc="-10" dirty="0"/>
              <a:t>statements...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45" dirty="0"/>
              <a:t> </a:t>
            </a:r>
            <a:r>
              <a:rPr spc="114" dirty="0"/>
              <a:t>Conditional</a:t>
            </a:r>
            <a:r>
              <a:rPr spc="-40" dirty="0"/>
              <a:t> </a:t>
            </a:r>
            <a:r>
              <a:rPr spc="125" dirty="0"/>
              <a:t>Statements</a:t>
            </a:r>
          </a:p>
        </p:txBody>
      </p:sp>
      <p:sp>
        <p:nvSpPr>
          <p:cNvPr id="1048678" name="object 3"/>
          <p:cNvSpPr txBox="1"/>
          <p:nvPr/>
        </p:nvSpPr>
        <p:spPr>
          <a:xfrm>
            <a:off x="384725" y="1176350"/>
            <a:ext cx="8328659" cy="623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b="1" spc="-125" dirty="0">
                <a:solidFill>
                  <a:srgbClr val="F45E61"/>
                </a:solidFill>
                <a:latin typeface="Tahoma"/>
                <a:cs typeface="Tahoma"/>
              </a:rPr>
              <a:t>if...elseif....else</a:t>
            </a:r>
            <a:r>
              <a:rPr sz="1800" b="1" spc="-10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statement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-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statement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several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blocks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code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executed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48679" name="object 4"/>
          <p:cNvSpPr txBox="1"/>
          <p:nvPr/>
        </p:nvSpPr>
        <p:spPr>
          <a:xfrm>
            <a:off x="562349" y="1965899"/>
            <a:ext cx="5086350" cy="259689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$d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=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date("D");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if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($d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==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 "Fri")</a:t>
            </a:r>
            <a:endParaRPr sz="1400">
              <a:latin typeface="Courier New"/>
              <a:cs typeface="Courier New"/>
            </a:endParaRPr>
          </a:p>
          <a:p>
            <a:pPr marL="299085" marR="1548130" indent="243840">
              <a:lnSpc>
                <a:spcPts val="1650"/>
              </a:lnSpc>
              <a:spcBef>
                <a:spcPts val="65"/>
              </a:spcBef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echo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"Have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a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nice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weekend!";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elseif($d</a:t>
            </a:r>
            <a:r>
              <a:rPr sz="1400" spc="-3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==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"Sun")</a:t>
            </a:r>
            <a:endParaRPr sz="1400">
              <a:latin typeface="Courier New"/>
              <a:cs typeface="Courier New"/>
            </a:endParaRPr>
          </a:p>
          <a:p>
            <a:pPr marL="299085" marR="1654810" indent="243840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echo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"Have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a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nice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Sunday!"; 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542925">
              <a:lnSpc>
                <a:spcPts val="1585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echo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"Have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a</a:t>
            </a:r>
            <a:r>
              <a:rPr sz="14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nice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day!";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PHP</a:t>
            </a:r>
            <a:r>
              <a:rPr spc="-45" dirty="0"/>
              <a:t> </a:t>
            </a:r>
            <a:r>
              <a:rPr spc="120" dirty="0"/>
              <a:t>Function</a:t>
            </a:r>
            <a:r>
              <a:rPr spc="-45" dirty="0"/>
              <a:t> </a:t>
            </a:r>
            <a:r>
              <a:rPr spc="100" dirty="0"/>
              <a:t>Parameters</a:t>
            </a:r>
          </a:p>
        </p:txBody>
      </p:sp>
      <p:sp>
        <p:nvSpPr>
          <p:cNvPr id="1048684" name="object 3"/>
          <p:cNvSpPr txBox="1"/>
          <p:nvPr/>
        </p:nvSpPr>
        <p:spPr>
          <a:xfrm>
            <a:off x="384725" y="1176350"/>
            <a:ext cx="3934460" cy="17409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00"/>
              </a:spcBef>
            </a:pP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more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functionality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function,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parameters.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parameter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variable.</a:t>
            </a:r>
            <a:endParaRPr sz="1800">
              <a:latin typeface="Tahoma"/>
              <a:cs typeface="Tahoma"/>
            </a:endParaRPr>
          </a:p>
          <a:p>
            <a:pPr marL="12700" marR="99060" algn="just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Parameters</a:t>
            </a: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name,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inside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parentheses.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48685" name="object 4"/>
          <p:cNvSpPr txBox="1"/>
          <p:nvPr/>
        </p:nvSpPr>
        <p:spPr>
          <a:xfrm>
            <a:off x="4874800" y="1532975"/>
            <a:ext cx="4060825" cy="342785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callMeByMyName($name)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0" dirty="0">
                <a:solidFill>
                  <a:srgbClr val="F45E61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19125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echo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'Hey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'</a:t>
            </a:r>
            <a:r>
              <a:rPr sz="14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 $name;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</a:pPr>
            <a:r>
              <a:rPr sz="1400" spc="-50" dirty="0">
                <a:solidFill>
                  <a:srgbClr val="F45E61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Courier New"/>
              <a:cs typeface="Courier New"/>
            </a:endParaRPr>
          </a:p>
          <a:p>
            <a:pPr marL="299085">
              <a:lnSpc>
                <a:spcPct val="100000"/>
              </a:lnSpc>
            </a:pP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callMeByMyName('Peter');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Courier New"/>
              <a:cs typeface="Courier New"/>
            </a:endParaRPr>
          </a:p>
          <a:p>
            <a:pPr marL="299085" marR="979805">
              <a:lnSpc>
                <a:spcPts val="1650"/>
              </a:lnSpc>
            </a:pP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$someName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=</a:t>
            </a: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'Donald'; callMeByMyName($someName);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585"/>
              </a:lnSpc>
            </a:pPr>
            <a:r>
              <a:rPr sz="1400" spc="-25" dirty="0">
                <a:solidFill>
                  <a:srgbClr val="F45E61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48686" name="object 5"/>
          <p:cNvSpPr txBox="1"/>
          <p:nvPr/>
        </p:nvSpPr>
        <p:spPr>
          <a:xfrm>
            <a:off x="1069262" y="3402100"/>
            <a:ext cx="2668905" cy="29781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85725" marR="1646555">
              <a:lnSpc>
                <a:spcPts val="1650"/>
              </a:lnSpc>
              <a:spcBef>
                <a:spcPts val="695"/>
              </a:spcBef>
            </a:pPr>
            <a:r>
              <a:rPr sz="1400" spc="-10" dirty="0">
                <a:latin typeface="Arial MT"/>
                <a:cs typeface="Arial MT"/>
              </a:rPr>
              <a:t>Output:</a:t>
            </a:r>
            <a:r>
              <a:rPr sz="1400" spc="5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Peter </a:t>
            </a:r>
            <a:r>
              <a:rPr sz="1400" dirty="0">
                <a:latin typeface="Arial MT"/>
                <a:cs typeface="Arial MT"/>
              </a:rPr>
              <a:t>Hey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Donald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5828665" cy="492443"/>
          </a:xfrm>
        </p:spPr>
        <p:txBody>
          <a:bodyPr/>
          <a:lstStyle/>
          <a:p>
            <a:pPr hangingPunct="1"/>
            <a:r>
              <a:rPr lang="en-US" smtClean="0"/>
              <a:t>Include vs require in php</a:t>
            </a:r>
          </a:p>
        </p:txBody>
      </p:sp>
      <p:sp>
        <p:nvSpPr>
          <p:cNvPr id="1048692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7680" y="4685532"/>
            <a:ext cx="289728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endParaRPr lang="en-US" dirty="0" smtClean="0">
              <a:latin typeface="Times New Roman" pitchFamily="16" charset="0"/>
            </a:endParaRPr>
          </a:p>
        </p:txBody>
      </p:sp>
      <p:sp>
        <p:nvSpPr>
          <p:cNvPr id="1048693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AE7178A6-6478-4FA6-A690-AF491ECC3617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20</a:t>
            </a:fld>
            <a:endParaRPr lang="en-US">
              <a:latin typeface="Times New Roman" pitchFamily="16" charset="0"/>
            </a:endParaRPr>
          </a:p>
        </p:txBody>
      </p:sp>
      <p:pic>
        <p:nvPicPr>
          <p:cNvPr id="209716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" y="1028268"/>
            <a:ext cx="8915040" cy="41152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Office PowerPoint</Application>
  <PresentationFormat>On-screen Show (16:9)</PresentationFormat>
  <Paragraphs>118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  Introduction to PHP</vt:lpstr>
      <vt:lpstr>PHP Basics</vt:lpstr>
      <vt:lpstr>PHP: Hello World</vt:lpstr>
      <vt:lpstr>PowerPoint Presentation</vt:lpstr>
      <vt:lpstr>PHP Variables</vt:lpstr>
      <vt:lpstr>PHP Variables</vt:lpstr>
      <vt:lpstr>PHP Variable Values: Numbers</vt:lpstr>
      <vt:lpstr>variables</vt:lpstr>
      <vt:lpstr>PHP Operators</vt:lpstr>
      <vt:lpstr>PHP Operators</vt:lpstr>
      <vt:lpstr>PHP Operators</vt:lpstr>
      <vt:lpstr>PHP Operators</vt:lpstr>
      <vt:lpstr>PowerPoint Presentation</vt:lpstr>
      <vt:lpstr>PowerPoint Presentation</vt:lpstr>
      <vt:lpstr>PHP String Operators</vt:lpstr>
      <vt:lpstr>Php string functions</vt:lpstr>
      <vt:lpstr>PHP Conditional Statements</vt:lpstr>
      <vt:lpstr>PHP Conditional Statements</vt:lpstr>
      <vt:lpstr>PHP Function Parameters</vt:lpstr>
      <vt:lpstr>Include vs require in php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PHP</dc:title>
  <dc:creator>Saadia Sh</dc:creator>
  <cp:lastModifiedBy>Sadi Shabbit</cp:lastModifiedBy>
  <cp:revision>1</cp:revision>
  <dcterms:created xsi:type="dcterms:W3CDTF">2024-05-04T21:59:33Z</dcterms:created>
  <dcterms:modified xsi:type="dcterms:W3CDTF">2024-12-21T15:40:57Z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332677b424424ba19660afa41b645157</vt:lpwstr>
  </property>
</Properties>
</file>