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2" r:id="rId3"/>
    <p:sldId id="257" r:id="rId4"/>
    <p:sldId id="258" r:id="rId5"/>
    <p:sldId id="259" r:id="rId6"/>
    <p:sldId id="260" r:id="rId7"/>
    <p:sldId id="261" r:id="rId8"/>
    <p:sldId id="263" r:id="rId9"/>
    <p:sldId id="268"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Khan" initials="AK" lastIdx="1" clrIdx="0">
    <p:extLst>
      <p:ext uri="{19B8F6BF-5375-455C-9EA6-DF929625EA0E}">
        <p15:presenceInfo xmlns:p15="http://schemas.microsoft.com/office/powerpoint/2012/main" userId="Ahmed K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84C06D-55E3-4E71-8234-A43DD83F559D}" type="datetimeFigureOut">
              <a:rPr lang="en-US" smtClean="0"/>
              <a:t>9/30/2020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D389B8-8410-458C-960B-3017F8565928}" type="slidenum">
              <a:rPr lang="en-US" smtClean="0"/>
              <a:t>‹#›</a:t>
            </a:fld>
            <a:endParaRPr lang="en-US"/>
          </a:p>
        </p:txBody>
      </p:sp>
    </p:spTree>
    <p:extLst>
      <p:ext uri="{BB962C8B-B14F-4D97-AF65-F5344CB8AC3E}">
        <p14:creationId xmlns:p14="http://schemas.microsoft.com/office/powerpoint/2010/main" val="2696393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D389B8-8410-458C-960B-3017F8565928}" type="slidenum">
              <a:rPr lang="en-US" smtClean="0"/>
              <a:t>5</a:t>
            </a:fld>
            <a:endParaRPr lang="en-US"/>
          </a:p>
        </p:txBody>
      </p:sp>
    </p:spTree>
    <p:extLst>
      <p:ext uri="{BB962C8B-B14F-4D97-AF65-F5344CB8AC3E}">
        <p14:creationId xmlns:p14="http://schemas.microsoft.com/office/powerpoint/2010/main" val="348295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A83E-B396-4278-8E28-B5D01D1E9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C2A7C0-1CEB-4312-9DA1-7625A8E18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2A140F-A096-4E51-B588-F15F5CAB8124}"/>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03E33B81-DF4D-4F68-9192-42E26F6BE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C92AB-AC1E-45F3-9514-983DB57502DF}"/>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3762929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D51A-198F-4039-B5B5-DA14AF295C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F4CE35-C7F5-4226-9425-676F167F73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87526-8D93-4489-9FB4-400C6D7E2FB1}"/>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FA910189-8FA9-4BEC-BC22-54A45B25EC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65B40-0427-43AB-95B4-709098002E25}"/>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2582529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0AA1A-33EB-4A09-9973-C2A38CC27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9A99F8-E1A8-4258-B507-1FB5318272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D8887F-0CFA-484A-849F-B48983A632D4}"/>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8CA91A69-6E0C-498E-A6B0-A0313DE9D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4F17B-4A66-4921-88DB-14027C385E38}"/>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2825336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B8728-801F-44E7-8C14-0A289E5B1B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929509-5829-4A7D-94A3-14F4F913D4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31A30F-C872-4541-9559-D7938990E5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0D10DB-C20F-4512-AE48-6D3011DB5D51}"/>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6" name="Footer Placeholder 5">
            <a:extLst>
              <a:ext uri="{FF2B5EF4-FFF2-40B4-BE49-F238E27FC236}">
                <a16:creationId xmlns:a16="http://schemas.microsoft.com/office/drawing/2014/main" id="{44904D01-CE0B-46A2-878C-DD47DCBBF4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67C28-697A-46FF-B843-FBCD965B683F}"/>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2613837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B68C-A93F-43B2-97B6-5BCD60419D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0FD941-9300-41F0-94D9-2952F5145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636F6-744F-49A1-B0FE-BDDDAA734F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11BD27-24D4-4C99-B7BE-2172B9702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82FBB2-1577-4D7B-9348-F590C17A75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A0F1B3-4DEC-4C64-B2AB-D9B1E7DA066F}"/>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8" name="Footer Placeholder 7">
            <a:extLst>
              <a:ext uri="{FF2B5EF4-FFF2-40B4-BE49-F238E27FC236}">
                <a16:creationId xmlns:a16="http://schemas.microsoft.com/office/drawing/2014/main" id="{064C9427-EDC3-412A-8E02-BD93B2A526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D10E8B-EBD1-43D7-BCF0-9BDD406DE54A}"/>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787179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D7E80-F25C-4B40-A0CE-70CF235654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84CE98-8E28-40F1-B6DB-87007CB724A2}"/>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4" name="Footer Placeholder 3">
            <a:extLst>
              <a:ext uri="{FF2B5EF4-FFF2-40B4-BE49-F238E27FC236}">
                <a16:creationId xmlns:a16="http://schemas.microsoft.com/office/drawing/2014/main" id="{46A87B25-6B73-4036-BD30-28ACDDD41F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15CBC0-7476-4C40-B74E-C3CC73CA13FF}"/>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1157604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D318C-5BD1-4F59-99E1-E2B40335C843}"/>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3" name="Footer Placeholder 2">
            <a:extLst>
              <a:ext uri="{FF2B5EF4-FFF2-40B4-BE49-F238E27FC236}">
                <a16:creationId xmlns:a16="http://schemas.microsoft.com/office/drawing/2014/main" id="{B51F4091-F1CE-4301-ABD7-183AE62B8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ABCF3B-690A-4236-87E3-41E31A21E070}"/>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136068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07D3-7E27-446B-9AD3-35AE32C160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EE7BEF-4FAC-4BA6-BE6F-26A8928794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7D1DC3-7ED6-4DFD-828C-6CC35BA72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3EC1AD-F629-4805-A2B5-99D2CFFA3758}"/>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6" name="Footer Placeholder 5">
            <a:extLst>
              <a:ext uri="{FF2B5EF4-FFF2-40B4-BE49-F238E27FC236}">
                <a16:creationId xmlns:a16="http://schemas.microsoft.com/office/drawing/2014/main" id="{B57EED43-9306-41A4-A3E1-19C8F8B5E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EBB26E-9749-4D10-8315-4A51ADDC7800}"/>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421629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6B26-4EDB-4841-8CA2-0116D4A47D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FCA2FA-332B-48D8-8384-9C998F1981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29C218-AD68-477C-9922-7F4E27C4C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22B8E-5DA3-472E-B5EB-6B1F9E70E25D}"/>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6" name="Footer Placeholder 5">
            <a:extLst>
              <a:ext uri="{FF2B5EF4-FFF2-40B4-BE49-F238E27FC236}">
                <a16:creationId xmlns:a16="http://schemas.microsoft.com/office/drawing/2014/main" id="{EA771190-F0F0-4A14-A5B2-9D4B1F42EC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EA458D-67D4-4060-AE18-E4469E3B758F}"/>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1758899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BA271-DB44-4173-818B-DE2F46C2D8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A32BF4-B4DC-484B-92F0-3F2964C92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D97C05-7574-44F8-85FE-A50FCCB69604}"/>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8B44554B-8248-4D25-856E-74834B03B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82CE5F-551B-4CEC-B84B-2F1EA536EE68}"/>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214509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007061-AC01-4D2E-BB2C-FCA4B1E6E2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3ED037-4932-410F-BCC5-4B4CF36EA7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6133DB-BEF9-41A1-BC36-9388DD72D666}"/>
              </a:ext>
            </a:extLst>
          </p:cNvPr>
          <p:cNvSpPr>
            <a:spLocks noGrp="1"/>
          </p:cNvSpPr>
          <p:nvPr>
            <p:ph type="dt" sz="half" idx="10"/>
          </p:nvPr>
        </p:nvSpPr>
        <p:spPr/>
        <p:txBody>
          <a:body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89E5D04A-92D1-4EF0-8EF3-8B40852C9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5129E-EC36-419D-AD63-C16646A482AF}"/>
              </a:ext>
            </a:extLst>
          </p:cNvPr>
          <p:cNvSpPr>
            <a:spLocks noGrp="1"/>
          </p:cNvSpPr>
          <p:nvPr>
            <p:ph type="sldNum" sz="quarter" idx="12"/>
          </p:nvPr>
        </p:nvSpPr>
        <p:spPr/>
        <p:txBody>
          <a:bodyPr/>
          <a:lstStyle/>
          <a:p>
            <a:fld id="{BF6A418D-5C84-48BC-ACF6-27F061FA5D1C}" type="slidenum">
              <a:rPr lang="en-US" smtClean="0"/>
              <a:t>‹#›</a:t>
            </a:fld>
            <a:endParaRPr lang="en-US"/>
          </a:p>
        </p:txBody>
      </p:sp>
    </p:spTree>
    <p:extLst>
      <p:ext uri="{BB962C8B-B14F-4D97-AF65-F5344CB8AC3E}">
        <p14:creationId xmlns:p14="http://schemas.microsoft.com/office/powerpoint/2010/main" val="189738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rgbClr val="92D050"/>
          </a:fgClr>
          <a:bgClr>
            <a:srgbClr val="92D050"/>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D28732-725F-4425-9A07-8460CA9F3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C2C8F3-152C-4805-B79B-B72CF22669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D05938-04CD-4159-9D3E-18DFAAC5A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DCB19-F4F2-4A41-84E7-2A6BFCD510E7}" type="datetimeFigureOut">
              <a:rPr lang="en-US" smtClean="0"/>
              <a:t>9/30/2020</a:t>
            </a:fld>
            <a:endParaRPr lang="en-US"/>
          </a:p>
        </p:txBody>
      </p:sp>
      <p:sp>
        <p:nvSpPr>
          <p:cNvPr id="5" name="Footer Placeholder 4">
            <a:extLst>
              <a:ext uri="{FF2B5EF4-FFF2-40B4-BE49-F238E27FC236}">
                <a16:creationId xmlns:a16="http://schemas.microsoft.com/office/drawing/2014/main" id="{4434EACD-F16A-412B-800D-9B808C2F4E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0E721E-C82C-422F-9258-E9187BABAE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A418D-5C84-48BC-ACF6-27F061FA5D1C}" type="slidenum">
              <a:rPr lang="en-US" smtClean="0"/>
              <a:t>‹#›</a:t>
            </a:fld>
            <a:endParaRPr lang="en-US"/>
          </a:p>
        </p:txBody>
      </p:sp>
    </p:spTree>
    <p:extLst>
      <p:ext uri="{BB962C8B-B14F-4D97-AF65-F5344CB8AC3E}">
        <p14:creationId xmlns:p14="http://schemas.microsoft.com/office/powerpoint/2010/main" val="770268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4780-D681-4BF5-9909-F8DF30654915}"/>
              </a:ext>
            </a:extLst>
          </p:cNvPr>
          <p:cNvSpPr>
            <a:spLocks noGrp="1"/>
          </p:cNvSpPr>
          <p:nvPr>
            <p:ph type="ctrTitle"/>
          </p:nvPr>
        </p:nvSpPr>
        <p:spPr/>
        <p:txBody>
          <a:bodyPr>
            <a:normAutofit/>
          </a:bodyPr>
          <a:lstStyle/>
          <a:p>
            <a:r>
              <a:rPr lang="en-US" sz="4000" dirty="0">
                <a:latin typeface="Times New Roman" panose="02020603050405020304" pitchFamily="18" charset="0"/>
                <a:cs typeface="Times New Roman" panose="02020603050405020304" pitchFamily="18" charset="0"/>
              </a:rPr>
              <a:t>The 1962 &amp;1973 Constitutions of Pakistan </a:t>
            </a:r>
          </a:p>
        </p:txBody>
      </p:sp>
      <p:sp>
        <p:nvSpPr>
          <p:cNvPr id="3" name="Subtitle 2">
            <a:extLst>
              <a:ext uri="{FF2B5EF4-FFF2-40B4-BE49-F238E27FC236}">
                <a16:creationId xmlns:a16="http://schemas.microsoft.com/office/drawing/2014/main" id="{4BD882F0-CE12-4F18-8950-435EF32D55A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11771033"/>
      </p:ext>
    </p:extLst>
  </p:cSld>
  <p:clrMapOvr>
    <a:masterClrMapping/>
  </p:clrMapOvr>
  <mc:AlternateContent xmlns:mc="http://schemas.openxmlformats.org/markup-compatibility/2006" xmlns:p14="http://schemas.microsoft.com/office/powerpoint/2010/main">
    <mc:Choice Requires="p14">
      <p:transition spd="slow" p14:dur="2000" advTm="53761"/>
    </mc:Choice>
    <mc:Fallback xmlns="">
      <p:transition spd="slow" advTm="537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049A-2F19-49CE-BD75-3CE0AB8E023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The 1962 Constitution of Pakistan </a:t>
            </a:r>
          </a:p>
        </p:txBody>
      </p:sp>
      <p:sp>
        <p:nvSpPr>
          <p:cNvPr id="3" name="Content Placeholder 2">
            <a:extLst>
              <a:ext uri="{FF2B5EF4-FFF2-40B4-BE49-F238E27FC236}">
                <a16:creationId xmlns:a16="http://schemas.microsoft.com/office/drawing/2014/main" id="{2A34F01B-CCFF-4D92-A11F-408DB7ED876E}"/>
              </a:ext>
            </a:extLst>
          </p:cNvPr>
          <p:cNvSpPr>
            <a:spLocks noGrp="1"/>
          </p:cNvSpPr>
          <p:nvPr>
            <p:ph idx="1"/>
          </p:nvPr>
        </p:nvSpPr>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On 17</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February 1960, General M. Ayub Khan appointed a constitutional Commission under Justice Shahab-</a:t>
            </a:r>
            <a:r>
              <a:rPr lang="en-US" sz="2400" dirty="0" err="1">
                <a:latin typeface="Times New Roman" panose="02020603050405020304" pitchFamily="18" charset="0"/>
                <a:cs typeface="Times New Roman" panose="02020603050405020304" pitchFamily="18" charset="0"/>
              </a:rPr>
              <a:t>ud</a:t>
            </a:r>
            <a:r>
              <a:rPr lang="en-US" sz="2400" dirty="0">
                <a:latin typeface="Times New Roman" panose="02020603050405020304" pitchFamily="18" charset="0"/>
                <a:cs typeface="Times New Roman" panose="02020603050405020304" pitchFamily="18" charset="0"/>
              </a:rPr>
              <a:t>-din as chairman.</a:t>
            </a:r>
          </a:p>
          <a:p>
            <a:pPr algn="just">
              <a:lnSpc>
                <a:spcPct val="150000"/>
              </a:lnSpc>
            </a:pPr>
            <a:r>
              <a:rPr lang="en-US" sz="2400" dirty="0">
                <a:latin typeface="Times New Roman" panose="02020603050405020304" pitchFamily="18" charset="0"/>
                <a:cs typeface="Times New Roman" panose="02020603050405020304" pitchFamily="18" charset="0"/>
              </a:rPr>
              <a:t>The commission submitted a thorough report on 6</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May 1961 to President Ayub.</a:t>
            </a:r>
          </a:p>
          <a:p>
            <a:pPr algn="just">
              <a:lnSpc>
                <a:spcPct val="150000"/>
              </a:lnSpc>
            </a:pPr>
            <a:r>
              <a:rPr lang="en-US" sz="2400" dirty="0">
                <a:latin typeface="Times New Roman" panose="02020603050405020304" pitchFamily="18" charset="0"/>
                <a:cs typeface="Times New Roman" panose="02020603050405020304" pitchFamily="18" charset="0"/>
              </a:rPr>
              <a:t>After Governors conference in 1962 in Rawalpindi, on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March 1962 General M. Ayub Khan announced his one-man constitution.</a:t>
            </a:r>
          </a:p>
          <a:p>
            <a:pPr algn="just">
              <a:lnSpc>
                <a:spcPct val="150000"/>
              </a:lnSpc>
            </a:pPr>
            <a:r>
              <a:rPr lang="en-US" sz="2400" dirty="0">
                <a:latin typeface="Times New Roman" panose="02020603050405020304" pitchFamily="18" charset="0"/>
                <a:cs typeface="Times New Roman" panose="02020603050405020304" pitchFamily="18" charset="0"/>
              </a:rPr>
              <a:t>The 1962 constitution contained 250 articles, divided in twelve parts and three schedules.</a:t>
            </a:r>
          </a:p>
        </p:txBody>
      </p:sp>
    </p:spTree>
    <p:extLst>
      <p:ext uri="{BB962C8B-B14F-4D97-AF65-F5344CB8AC3E}">
        <p14:creationId xmlns:p14="http://schemas.microsoft.com/office/powerpoint/2010/main" val="2801754501"/>
      </p:ext>
    </p:extLst>
  </p:cSld>
  <p:clrMapOvr>
    <a:masterClrMapping/>
  </p:clrMapOvr>
  <mc:AlternateContent xmlns:mc="http://schemas.openxmlformats.org/markup-compatibility/2006" xmlns:p14="http://schemas.microsoft.com/office/powerpoint/2010/main">
    <mc:Choice Requires="p14">
      <p:transition spd="slow" p14:dur="2000" advTm="113900"/>
    </mc:Choice>
    <mc:Fallback xmlns="">
      <p:transition spd="slow" advTm="1139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1C42-44A4-4A12-8F41-66D1DC9BAA3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The 1962 Constitution of Pakistan</a:t>
            </a:r>
          </a:p>
        </p:txBody>
      </p:sp>
      <p:sp>
        <p:nvSpPr>
          <p:cNvPr id="3" name="Content Placeholder 2">
            <a:extLst>
              <a:ext uri="{FF2B5EF4-FFF2-40B4-BE49-F238E27FC236}">
                <a16:creationId xmlns:a16="http://schemas.microsoft.com/office/drawing/2014/main" id="{17BB54A1-3096-4ECF-AB1B-32F943C6C1DC}"/>
              </a:ext>
            </a:extLst>
          </p:cNvPr>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Islamic Provision of 1962 Constitution:</a:t>
            </a:r>
          </a:p>
          <a:p>
            <a:pPr marL="457200" indent="-457200" algn="just">
              <a:lnSpc>
                <a:spcPct val="100000"/>
              </a:lnSpc>
              <a:buFont typeface="+mj-lt"/>
              <a:buAutoNum type="arabicParenR"/>
            </a:pPr>
            <a:r>
              <a:rPr lang="en-US" sz="2400" dirty="0">
                <a:latin typeface="Times New Roman" panose="02020603050405020304" pitchFamily="18" charset="0"/>
                <a:cs typeface="Times New Roman" panose="02020603050405020304" pitchFamily="18" charset="0"/>
              </a:rPr>
              <a:t>Initially the country was called the Republic of Pakistan, but by its 1st amendment on 25th December 1963,the word Islamic was added </a:t>
            </a:r>
          </a:p>
          <a:p>
            <a:pPr marL="457200" indent="-457200" algn="just">
              <a:lnSpc>
                <a:spcPct val="100000"/>
              </a:lnSpc>
              <a:buFont typeface="+mj-lt"/>
              <a:buAutoNum type="arabicParenR"/>
            </a:pPr>
            <a:r>
              <a:rPr lang="en-US" sz="2400" dirty="0">
                <a:latin typeface="Times New Roman" panose="02020603050405020304" pitchFamily="18" charset="0"/>
                <a:cs typeface="Times New Roman" panose="02020603050405020304" pitchFamily="18" charset="0"/>
              </a:rPr>
              <a:t>The objective resolution was again retained ask preamble Only the word Islam was substituted with ‘Quran and Sunnah’</a:t>
            </a:r>
          </a:p>
          <a:p>
            <a:pPr marL="457200" indent="-457200" algn="just">
              <a:lnSpc>
                <a:spcPct val="100000"/>
              </a:lnSpc>
              <a:buFont typeface="+mj-lt"/>
              <a:buAutoNum type="arabicParenR"/>
            </a:pPr>
            <a:r>
              <a:rPr lang="en-US" sz="2400" dirty="0">
                <a:latin typeface="Times New Roman" panose="02020603050405020304" pitchFamily="18" charset="0"/>
                <a:cs typeface="Times New Roman" panose="02020603050405020304" pitchFamily="18" charset="0"/>
              </a:rPr>
              <a:t>The government would provide necessary education of Quran and Islamiat to Muslim Students.</a:t>
            </a:r>
          </a:p>
          <a:p>
            <a:pPr marL="457200" indent="-457200" algn="just">
              <a:lnSpc>
                <a:spcPct val="100000"/>
              </a:lnSpc>
              <a:buFont typeface="+mj-lt"/>
              <a:buAutoNum type="arabicParenR"/>
            </a:pPr>
            <a:r>
              <a:rPr lang="en-US" sz="2400" dirty="0">
                <a:latin typeface="Times New Roman" panose="02020603050405020304" pitchFamily="18" charset="0"/>
                <a:cs typeface="Times New Roman" panose="02020603050405020304" pitchFamily="18" charset="0"/>
              </a:rPr>
              <a:t>An Islamic Advisory Council would be set up.</a:t>
            </a:r>
          </a:p>
          <a:p>
            <a:pPr marL="457200" indent="-457200" algn="just">
              <a:lnSpc>
                <a:spcPct val="100000"/>
              </a:lnSpc>
              <a:buFont typeface="+mj-lt"/>
              <a:buAutoNum type="arabicParenR"/>
            </a:pPr>
            <a:r>
              <a:rPr lang="en-US" sz="2400" dirty="0">
                <a:latin typeface="Times New Roman" panose="02020603050405020304" pitchFamily="18" charset="0"/>
                <a:cs typeface="Times New Roman" panose="02020603050405020304" pitchFamily="18" charset="0"/>
              </a:rPr>
              <a:t>For framing Islamic Laws, an Islamic Research Institute was set up and its head office in Islamabad and two provincial office in Lahore and Dhaka.</a:t>
            </a:r>
          </a:p>
        </p:txBody>
      </p:sp>
    </p:spTree>
    <p:extLst>
      <p:ext uri="{BB962C8B-B14F-4D97-AF65-F5344CB8AC3E}">
        <p14:creationId xmlns:p14="http://schemas.microsoft.com/office/powerpoint/2010/main" val="3162096139"/>
      </p:ext>
    </p:extLst>
  </p:cSld>
  <p:clrMapOvr>
    <a:masterClrMapping/>
  </p:clrMapOvr>
  <mc:AlternateContent xmlns:mc="http://schemas.openxmlformats.org/markup-compatibility/2006" xmlns:p14="http://schemas.microsoft.com/office/powerpoint/2010/main">
    <mc:Choice Requires="p14">
      <p:transition spd="slow" p14:dur="2000" advTm="222171"/>
    </mc:Choice>
    <mc:Fallback xmlns="">
      <p:transition spd="slow" advTm="22217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D3AA-AB85-4551-B4D2-5DF9A391E697}"/>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Main highlights of 1962 Constitution of Pakistan</a:t>
            </a:r>
          </a:p>
        </p:txBody>
      </p:sp>
      <p:sp>
        <p:nvSpPr>
          <p:cNvPr id="3" name="Content Placeholder 2">
            <a:extLst>
              <a:ext uri="{FF2B5EF4-FFF2-40B4-BE49-F238E27FC236}">
                <a16:creationId xmlns:a16="http://schemas.microsoft.com/office/drawing/2014/main" id="{B748719D-5DF3-463D-A2E5-DADB40C17697}"/>
              </a:ext>
            </a:extLst>
          </p:cNvPr>
          <p:cNvSpPr>
            <a:spLocks noGrp="1"/>
          </p:cNvSpPr>
          <p:nvPr>
            <p:ph idx="1"/>
          </p:nvPr>
        </p:nvSpPr>
        <p:spPr/>
        <p:txBody>
          <a:bodyPr>
            <a:normAutofit fontScale="92500" lnSpcReduction="10000"/>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1962 Constitution was a Presidential form of government supported by Basic democracies system.</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Basic democracies system consisted of eighty thousand elected members forty thousand east and forty thousand west Pakistan, which was responsible for the provincial, national assemblies election and as the electoral college for the Presidential election.</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Post of Prime Minister was removed.</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National Assembly was responsible for making laws.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Judiciary was meant to interpret the laws. </a:t>
            </a:r>
          </a:p>
        </p:txBody>
      </p:sp>
    </p:spTree>
    <p:extLst>
      <p:ext uri="{BB962C8B-B14F-4D97-AF65-F5344CB8AC3E}">
        <p14:creationId xmlns:p14="http://schemas.microsoft.com/office/powerpoint/2010/main" val="1469964546"/>
      </p:ext>
    </p:extLst>
  </p:cSld>
  <p:clrMapOvr>
    <a:masterClrMapping/>
  </p:clrMapOvr>
  <mc:AlternateContent xmlns:mc="http://schemas.openxmlformats.org/markup-compatibility/2006" xmlns:p14="http://schemas.microsoft.com/office/powerpoint/2010/main">
    <mc:Choice Requires="p14">
      <p:transition spd="slow" p14:dur="2000" advTm="54685"/>
    </mc:Choice>
    <mc:Fallback xmlns="">
      <p:transition spd="slow" advTm="546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EC9C-EC7F-4015-8E7F-C83435065042}"/>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Basic Democracies order Model</a:t>
            </a:r>
          </a:p>
        </p:txBody>
      </p:sp>
      <p:sp>
        <p:nvSpPr>
          <p:cNvPr id="3" name="Content Placeholder 2">
            <a:extLst>
              <a:ext uri="{FF2B5EF4-FFF2-40B4-BE49-F238E27FC236}">
                <a16:creationId xmlns:a16="http://schemas.microsoft.com/office/drawing/2014/main" id="{A41BADB6-0E9B-40F5-98DA-4163DA55AD0C}"/>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                                                        Two Provincial </a:t>
            </a:r>
          </a:p>
          <a:p>
            <a:pPr marL="0" indent="0">
              <a:buNone/>
            </a:pPr>
            <a:r>
              <a:rPr lang="en-US" sz="2400" dirty="0">
                <a:latin typeface="Times New Roman" panose="02020603050405020304" pitchFamily="18" charset="0"/>
                <a:cs typeface="Times New Roman" panose="02020603050405020304" pitchFamily="18" charset="0"/>
              </a:rPr>
              <a:t>                                            Development &amp; Advisory Council</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Division Council </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District Council</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Tehsil/Thana Council</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Union Council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379CD46B-A663-41EB-A22A-196038289FE7}"/>
              </a:ext>
            </a:extLst>
          </p:cNvPr>
          <p:cNvCxnSpPr>
            <a:cxnSpLocks/>
            <a:stCxn id="3" idx="0"/>
          </p:cNvCxnSpPr>
          <p:nvPr/>
        </p:nvCxnSpPr>
        <p:spPr>
          <a:xfrm flipH="1">
            <a:off x="3836710" y="1825625"/>
            <a:ext cx="2259290" cy="4351337"/>
          </a:xfrm>
          <a:prstGeom prst="line">
            <a:avLst/>
          </a:prstGeom>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8B1F1B53-18B7-49BB-8182-949A01AF06A8}"/>
              </a:ext>
            </a:extLst>
          </p:cNvPr>
          <p:cNvCxnSpPr>
            <a:cxnSpLocks/>
          </p:cNvCxnSpPr>
          <p:nvPr/>
        </p:nvCxnSpPr>
        <p:spPr>
          <a:xfrm>
            <a:off x="3836710" y="6176963"/>
            <a:ext cx="4854803" cy="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C22B2449-B1C3-4595-A452-34A9B5C94F51}"/>
              </a:ext>
            </a:extLst>
          </p:cNvPr>
          <p:cNvCxnSpPr>
            <a:stCxn id="3" idx="0"/>
          </p:cNvCxnSpPr>
          <p:nvPr/>
        </p:nvCxnSpPr>
        <p:spPr>
          <a:xfrm>
            <a:off x="6096000" y="1825625"/>
            <a:ext cx="2595513" cy="4351338"/>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B2489EF0-B22B-447C-83EC-1D5CF5312809}"/>
              </a:ext>
            </a:extLst>
          </p:cNvPr>
          <p:cNvCxnSpPr/>
          <p:nvPr/>
        </p:nvCxnSpPr>
        <p:spPr>
          <a:xfrm>
            <a:off x="5637229" y="2677212"/>
            <a:ext cx="980387" cy="0"/>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E7EE895A-7D49-4D99-9EA4-C04966947C64}"/>
              </a:ext>
            </a:extLst>
          </p:cNvPr>
          <p:cNvCxnSpPr>
            <a:cxnSpLocks/>
          </p:cNvCxnSpPr>
          <p:nvPr/>
        </p:nvCxnSpPr>
        <p:spPr>
          <a:xfrm>
            <a:off x="5184742" y="3582186"/>
            <a:ext cx="1989056" cy="0"/>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73E557C3-EDAB-4F60-AF35-9745D0B2D1FF}"/>
              </a:ext>
            </a:extLst>
          </p:cNvPr>
          <p:cNvCxnSpPr>
            <a:cxnSpLocks/>
          </p:cNvCxnSpPr>
          <p:nvPr/>
        </p:nvCxnSpPr>
        <p:spPr>
          <a:xfrm>
            <a:off x="4656841" y="4562573"/>
            <a:ext cx="3091992" cy="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8AEC5D30-6538-4C00-8D3B-E8819D7E9F7D}"/>
              </a:ext>
            </a:extLst>
          </p:cNvPr>
          <p:cNvCxnSpPr>
            <a:cxnSpLocks/>
          </p:cNvCxnSpPr>
          <p:nvPr/>
        </p:nvCxnSpPr>
        <p:spPr>
          <a:xfrm>
            <a:off x="4157221" y="5505254"/>
            <a:ext cx="4100659" cy="3770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34665096"/>
      </p:ext>
    </p:extLst>
  </p:cSld>
  <p:clrMapOvr>
    <a:masterClrMapping/>
  </p:clrMapOvr>
  <mc:AlternateContent xmlns:mc="http://schemas.openxmlformats.org/markup-compatibility/2006" xmlns:p14="http://schemas.microsoft.com/office/powerpoint/2010/main">
    <mc:Choice Requires="p14">
      <p:transition spd="slow" p14:dur="2000" advTm="346051"/>
    </mc:Choice>
    <mc:Fallback xmlns="">
      <p:transition spd="slow" advTm="3460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182FE-12DB-4B9F-86A7-01624133EEAC}"/>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Salient features of 1962 Constitution </a:t>
            </a:r>
          </a:p>
        </p:txBody>
      </p:sp>
      <p:sp>
        <p:nvSpPr>
          <p:cNvPr id="3" name="Content Placeholder 2">
            <a:extLst>
              <a:ext uri="{FF2B5EF4-FFF2-40B4-BE49-F238E27FC236}">
                <a16:creationId xmlns:a16="http://schemas.microsoft.com/office/drawing/2014/main" id="{88D7306D-5E5C-4EDC-8ADB-935F4BB364B1}"/>
              </a:ext>
            </a:extLst>
          </p:cNvPr>
          <p:cNvSpPr>
            <a:spLocks noGrp="1"/>
          </p:cNvSpPr>
          <p:nvPr>
            <p:ph idx="1"/>
          </p:nvPr>
        </p:nvSpPr>
        <p:spPr/>
        <p:txBody>
          <a:bodyPr>
            <a:normAutofit lnSpcReduction="10000"/>
          </a:bodyPr>
          <a:lstStyle/>
          <a:p>
            <a:pPr marL="457200" indent="-457200"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President: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age of the president would not be less than 35 years.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President would be Muslim adult male.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President would be elected by the electoral college (Basic Democrats and National Assembly).</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President could be removed by National Assembly through impeachment.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term of President office would be five years.</a:t>
            </a:r>
          </a:p>
        </p:txBody>
      </p:sp>
    </p:spTree>
    <p:extLst>
      <p:ext uri="{BB962C8B-B14F-4D97-AF65-F5344CB8AC3E}">
        <p14:creationId xmlns:p14="http://schemas.microsoft.com/office/powerpoint/2010/main" val="158361136"/>
      </p:ext>
    </p:extLst>
  </p:cSld>
  <p:clrMapOvr>
    <a:masterClrMapping/>
  </p:clrMapOvr>
  <mc:AlternateContent xmlns:mc="http://schemas.openxmlformats.org/markup-compatibility/2006" xmlns:p14="http://schemas.microsoft.com/office/powerpoint/2010/main">
    <mc:Choice Requires="p14">
      <p:transition spd="slow" p14:dur="2000" advTm="82355"/>
    </mc:Choice>
    <mc:Fallback xmlns="">
      <p:transition spd="slow" advTm="8235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2A56-A8B3-4503-AF67-109AF6E37E08}"/>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Salient features of 1962 Constitution </a:t>
            </a:r>
          </a:p>
        </p:txBody>
      </p:sp>
      <p:sp>
        <p:nvSpPr>
          <p:cNvPr id="3" name="Content Placeholder 2">
            <a:extLst>
              <a:ext uri="{FF2B5EF4-FFF2-40B4-BE49-F238E27FC236}">
                <a16:creationId xmlns:a16="http://schemas.microsoft.com/office/drawing/2014/main" id="{03070C02-B757-471D-897F-89E32B1BC38A}"/>
              </a:ext>
            </a:extLst>
          </p:cNvPr>
          <p:cNvSpPr>
            <a:spLocks noGrp="1"/>
          </p:cNvSpPr>
          <p:nvPr>
            <p:ph idx="1"/>
          </p:nvPr>
        </p:nvSpPr>
        <p:spPr/>
        <p:txBody>
          <a:bodyPr>
            <a:normAutofit fontScale="92500" lnSpcReduction="10000"/>
          </a:bodyPr>
          <a:lstStyle/>
          <a:p>
            <a:pPr marL="0" indent="0">
              <a:buNone/>
            </a:pPr>
            <a:r>
              <a:rPr lang="en-US" sz="2400" b="1" dirty="0">
                <a:latin typeface="Times New Roman" panose="02020603050405020304" pitchFamily="18" charset="0"/>
                <a:cs typeface="Times New Roman" panose="02020603050405020304" pitchFamily="18" charset="0"/>
              </a:rPr>
              <a:t>2- National Assembly: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Unicameral System(One House) and the term of National Assembly would be four years.</a:t>
            </a:r>
          </a:p>
          <a:p>
            <a:r>
              <a:rPr lang="en-US" sz="2400" dirty="0">
                <a:latin typeface="Times New Roman" panose="02020603050405020304" pitchFamily="18" charset="0"/>
                <a:cs typeface="Times New Roman" panose="02020603050405020304" pitchFamily="18" charset="0"/>
              </a:rPr>
              <a:t>There were 156 members in total. Out of these 150 were general seats and 6 were reserved for women. </a:t>
            </a:r>
          </a:p>
          <a:p>
            <a:r>
              <a:rPr lang="en-US" sz="2400" dirty="0">
                <a:latin typeface="Times New Roman" panose="02020603050405020304" pitchFamily="18" charset="0"/>
                <a:cs typeface="Times New Roman" panose="02020603050405020304" pitchFamily="18" charset="0"/>
              </a:rPr>
              <a:t>The seats were equally divided between the wings (East and West Pakistan)</a:t>
            </a:r>
          </a:p>
          <a:p>
            <a:r>
              <a:rPr lang="en-US" sz="2400" dirty="0">
                <a:latin typeface="Times New Roman" panose="02020603050405020304" pitchFamily="18" charset="0"/>
                <a:cs typeface="Times New Roman" panose="02020603050405020304" pitchFamily="18" charset="0"/>
              </a:rPr>
              <a:t>National Assembly had the power to impeach the President.</a:t>
            </a:r>
          </a:p>
          <a:p>
            <a:pPr marL="0" indent="0">
              <a:buNone/>
            </a:pPr>
            <a:r>
              <a:rPr lang="en-US" sz="2400" b="1" dirty="0">
                <a:latin typeface="Times New Roman" panose="02020603050405020304" pitchFamily="18" charset="0"/>
                <a:cs typeface="Times New Roman" panose="02020603050405020304" pitchFamily="18" charset="0"/>
              </a:rPr>
              <a:t>3- Governors:</a:t>
            </a:r>
          </a:p>
          <a:p>
            <a:r>
              <a:rPr lang="en-US" sz="2400" dirty="0">
                <a:latin typeface="Times New Roman" panose="02020603050405020304" pitchFamily="18" charset="0"/>
                <a:cs typeface="Times New Roman" panose="02020603050405020304" pitchFamily="18" charset="0"/>
              </a:rPr>
              <a:t>Governors were appointed by the President.</a:t>
            </a:r>
          </a:p>
          <a:p>
            <a:r>
              <a:rPr lang="en-US" sz="2400" dirty="0">
                <a:latin typeface="Times New Roman" panose="02020603050405020304" pitchFamily="18" charset="0"/>
                <a:cs typeface="Times New Roman" panose="02020603050405020304" pitchFamily="18" charset="0"/>
              </a:rPr>
              <a:t>Executive head of the Provinces.</a:t>
            </a:r>
          </a:p>
          <a:p>
            <a:r>
              <a:rPr lang="en-US" sz="2400" dirty="0">
                <a:latin typeface="Times New Roman" panose="02020603050405020304" pitchFamily="18" charset="0"/>
                <a:cs typeface="Times New Roman" panose="02020603050405020304" pitchFamily="18" charset="0"/>
              </a:rPr>
              <a:t>Governors controls the provincial assemblies like the President controls National Assembly.</a:t>
            </a:r>
          </a:p>
        </p:txBody>
      </p:sp>
    </p:spTree>
    <p:extLst>
      <p:ext uri="{BB962C8B-B14F-4D97-AF65-F5344CB8AC3E}">
        <p14:creationId xmlns:p14="http://schemas.microsoft.com/office/powerpoint/2010/main" val="4275313355"/>
      </p:ext>
    </p:extLst>
  </p:cSld>
  <p:clrMapOvr>
    <a:masterClrMapping/>
  </p:clrMapOvr>
  <mc:AlternateContent xmlns:mc="http://schemas.openxmlformats.org/markup-compatibility/2006" xmlns:p14="http://schemas.microsoft.com/office/powerpoint/2010/main">
    <mc:Choice Requires="p14">
      <p:transition spd="slow" p14:dur="2000" advTm="118177"/>
    </mc:Choice>
    <mc:Fallback xmlns="">
      <p:transition spd="slow" advTm="11817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F8A7-4DE6-44F0-99CC-CED9912BB12E}"/>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The 1973 Constitution of Pakistan </a:t>
            </a:r>
          </a:p>
        </p:txBody>
      </p:sp>
      <p:sp>
        <p:nvSpPr>
          <p:cNvPr id="3" name="Content Placeholder 2">
            <a:extLst>
              <a:ext uri="{FF2B5EF4-FFF2-40B4-BE49-F238E27FC236}">
                <a16:creationId xmlns:a16="http://schemas.microsoft.com/office/drawing/2014/main" id="{2A7F0A02-6D6B-49D6-8BBE-05A474C54FB4}"/>
              </a:ext>
            </a:extLst>
          </p:cNvPr>
          <p:cNvSpPr>
            <a:spLocks noGrp="1"/>
          </p:cNvSpPr>
          <p:nvPr>
            <p:ph idx="1"/>
          </p:nvPr>
        </p:nvSpPr>
        <p:spPr/>
        <p:txBody>
          <a:bodyPr>
            <a:normAutofit fontScale="850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On 17</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April 1972, National Assembly appointed a committee of 25 members under Law minister Mahmood Ali Kasuri for drafting new constitution.</a:t>
            </a:r>
          </a:p>
          <a:p>
            <a:pPr algn="just">
              <a:lnSpc>
                <a:spcPct val="150000"/>
              </a:lnSpc>
            </a:pPr>
            <a:r>
              <a:rPr lang="en-US" sz="2400" dirty="0">
                <a:latin typeface="Times New Roman" panose="02020603050405020304" pitchFamily="18" charset="0"/>
                <a:cs typeface="Times New Roman" panose="02020603050405020304" pitchFamily="18" charset="0"/>
              </a:rPr>
              <a:t>On 21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April 1972, Martial law was lifted.</a:t>
            </a:r>
          </a:p>
          <a:p>
            <a:pPr algn="just">
              <a:lnSpc>
                <a:spcPct val="150000"/>
              </a:lnSpc>
            </a:pPr>
            <a:r>
              <a:rPr lang="en-US" sz="2400" dirty="0">
                <a:latin typeface="Times New Roman" panose="02020603050405020304" pitchFamily="18" charset="0"/>
                <a:cs typeface="Times New Roman" panose="02020603050405020304" pitchFamily="18" charset="0"/>
              </a:rPr>
              <a:t>Later M. Ali Kasuri was replaced by Abdul Hafeez Pirzada and he presented the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draft of constitution on 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February 1973.</a:t>
            </a:r>
          </a:p>
          <a:p>
            <a:pPr algn="just">
              <a:lnSpc>
                <a:spcPct val="150000"/>
              </a:lnSpc>
            </a:pPr>
            <a:r>
              <a:rPr lang="en-US" sz="2400" dirty="0">
                <a:latin typeface="Times New Roman" panose="02020603050405020304" pitchFamily="18" charset="0"/>
                <a:cs typeface="Times New Roman" panose="02020603050405020304" pitchFamily="18" charset="0"/>
              </a:rPr>
              <a:t>On 16</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March 1973 United democratic Front (UDF) sent their demands to Z. A. Bhutto and on 9</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April Bhutto and UDF had meeting on demands and changes in draft. </a:t>
            </a:r>
          </a:p>
          <a:p>
            <a:pPr algn="just">
              <a:lnSpc>
                <a:spcPct val="150000"/>
              </a:lnSpc>
            </a:pPr>
            <a:r>
              <a:rPr lang="en-US" sz="2400" dirty="0">
                <a:latin typeface="Times New Roman" panose="02020603050405020304" pitchFamily="18" charset="0"/>
                <a:cs typeface="Times New Roman" panose="02020603050405020304" pitchFamily="18" charset="0"/>
              </a:rPr>
              <a:t>On 10</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April 1973, National Assembly Unanimously passed the 1973 constitutional bill.</a:t>
            </a:r>
          </a:p>
          <a:p>
            <a:pPr algn="just">
              <a:lnSpc>
                <a:spcPct val="150000"/>
              </a:lnSpc>
            </a:pPr>
            <a:r>
              <a:rPr lang="en-US" sz="2400" dirty="0">
                <a:latin typeface="Times New Roman" panose="02020603050405020304" pitchFamily="18" charset="0"/>
                <a:cs typeface="Times New Roman" panose="02020603050405020304" pitchFamily="18" charset="0"/>
              </a:rPr>
              <a:t>The 1973 Constitution consists of 280 articles, 12 parts and 6 schedules. </a:t>
            </a:r>
          </a:p>
        </p:txBody>
      </p:sp>
    </p:spTree>
    <p:extLst>
      <p:ext uri="{BB962C8B-B14F-4D97-AF65-F5344CB8AC3E}">
        <p14:creationId xmlns:p14="http://schemas.microsoft.com/office/powerpoint/2010/main" val="2726297176"/>
      </p:ext>
    </p:extLst>
  </p:cSld>
  <p:clrMapOvr>
    <a:masterClrMapping/>
  </p:clrMapOvr>
  <mc:AlternateContent xmlns:mc="http://schemas.openxmlformats.org/markup-compatibility/2006" xmlns:p14="http://schemas.microsoft.com/office/powerpoint/2010/main">
    <mc:Choice Requires="p14">
      <p:transition spd="slow" p14:dur="2000" advTm="221817"/>
    </mc:Choice>
    <mc:Fallback xmlns="">
      <p:transition spd="slow" advTm="22181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1E794-F49E-41A7-AB41-1B118862EC92}"/>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Islamic Provision of 1973 Constitution</a:t>
            </a:r>
          </a:p>
        </p:txBody>
      </p:sp>
      <p:sp>
        <p:nvSpPr>
          <p:cNvPr id="3" name="Content Placeholder 2">
            <a:extLst>
              <a:ext uri="{FF2B5EF4-FFF2-40B4-BE49-F238E27FC236}">
                <a16:creationId xmlns:a16="http://schemas.microsoft.com/office/drawing/2014/main" id="{8BA7F260-4CB3-40D8-B8A0-B5D9276BD042}"/>
              </a:ext>
            </a:extLst>
          </p:cNvPr>
          <p:cNvSpPr>
            <a:spLocks noGrp="1"/>
          </p:cNvSpPr>
          <p:nvPr>
            <p:ph idx="1"/>
          </p:nvPr>
        </p:nvSpPr>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Islam was declared as the State religion.</a:t>
            </a:r>
          </a:p>
          <a:p>
            <a:pPr algn="just">
              <a:lnSpc>
                <a:spcPct val="100000"/>
              </a:lnSpc>
            </a:pPr>
            <a:r>
              <a:rPr lang="en-US" sz="2400" dirty="0">
                <a:latin typeface="Times New Roman" panose="02020603050405020304" pitchFamily="18" charset="0"/>
                <a:cs typeface="Times New Roman" panose="02020603050405020304" pitchFamily="18" charset="0"/>
              </a:rPr>
              <a:t>Objectives resolution was adopted as preamble.</a:t>
            </a:r>
          </a:p>
          <a:p>
            <a:pPr algn="just">
              <a:lnSpc>
                <a:spcPct val="100000"/>
              </a:lnSpc>
            </a:pPr>
            <a:r>
              <a:rPr lang="en-US" sz="2400" dirty="0">
                <a:latin typeface="Times New Roman" panose="02020603050405020304" pitchFamily="18" charset="0"/>
                <a:cs typeface="Times New Roman" panose="02020603050405020304" pitchFamily="18" charset="0"/>
              </a:rPr>
              <a:t>Every law passed should be in accordance with Quran and Sunnah.</a:t>
            </a:r>
          </a:p>
          <a:p>
            <a:pPr algn="just">
              <a:lnSpc>
                <a:spcPct val="100000"/>
              </a:lnSpc>
            </a:pPr>
            <a:r>
              <a:rPr lang="en-US" sz="2400" dirty="0">
                <a:latin typeface="Times New Roman" panose="02020603050405020304" pitchFamily="18" charset="0"/>
                <a:cs typeface="Times New Roman" panose="02020603050405020304" pitchFamily="18" charset="0"/>
              </a:rPr>
              <a:t>The government of Pakistan would take the responsibility of printing the Holy Quran under article 31.</a:t>
            </a:r>
          </a:p>
          <a:p>
            <a:pPr algn="just">
              <a:lnSpc>
                <a:spcPct val="100000"/>
              </a:lnSpc>
            </a:pPr>
            <a:r>
              <a:rPr lang="en-US" sz="2400" dirty="0">
                <a:latin typeface="Times New Roman" panose="02020603050405020304" pitchFamily="18" charset="0"/>
                <a:cs typeface="Times New Roman" panose="02020603050405020304" pitchFamily="18" charset="0"/>
              </a:rPr>
              <a:t>The government would provide for the promotion of Arabic language.</a:t>
            </a:r>
          </a:p>
          <a:p>
            <a:pPr algn="just">
              <a:lnSpc>
                <a:spcPct val="100000"/>
              </a:lnSpc>
            </a:pPr>
            <a:r>
              <a:rPr lang="en-US" sz="2400" dirty="0">
                <a:latin typeface="Times New Roman" panose="02020603050405020304" pitchFamily="18" charset="0"/>
                <a:cs typeface="Times New Roman" panose="02020603050405020304" pitchFamily="18" charset="0"/>
              </a:rPr>
              <a:t>A Council of Islamic Ideology (CII) would be formed.</a:t>
            </a:r>
          </a:p>
          <a:p>
            <a:pPr algn="just">
              <a:lnSpc>
                <a:spcPct val="100000"/>
              </a:lnSpc>
            </a:pPr>
            <a:r>
              <a:rPr lang="en-US" sz="2400" dirty="0">
                <a:latin typeface="Times New Roman" panose="02020603050405020304" pitchFamily="18" charset="0"/>
                <a:cs typeface="Times New Roman" panose="02020603050405020304" pitchFamily="18" charset="0"/>
              </a:rPr>
              <a:t>The 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amendment to 1973 constitution declared all Ahmadis and Quaidianis as non Muslim.</a:t>
            </a:r>
          </a:p>
        </p:txBody>
      </p:sp>
    </p:spTree>
    <p:extLst>
      <p:ext uri="{BB962C8B-B14F-4D97-AF65-F5344CB8AC3E}">
        <p14:creationId xmlns:p14="http://schemas.microsoft.com/office/powerpoint/2010/main" val="4027000232"/>
      </p:ext>
    </p:extLst>
  </p:cSld>
  <p:clrMapOvr>
    <a:masterClrMapping/>
  </p:clrMapOvr>
  <mc:AlternateContent xmlns:mc="http://schemas.openxmlformats.org/markup-compatibility/2006" xmlns:p14="http://schemas.microsoft.com/office/powerpoint/2010/main">
    <mc:Choice Requires="p14">
      <p:transition spd="slow" p14:dur="2000" advTm="111686"/>
    </mc:Choice>
    <mc:Fallback xmlns="">
      <p:transition spd="slow" advTm="11168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75F6-34D7-43EE-B43B-1D041ABA92A8}"/>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Salient Features of 1973 Constitution of Pakistan</a:t>
            </a:r>
          </a:p>
        </p:txBody>
      </p:sp>
      <p:sp>
        <p:nvSpPr>
          <p:cNvPr id="3" name="Content Placeholder 2">
            <a:extLst>
              <a:ext uri="{FF2B5EF4-FFF2-40B4-BE49-F238E27FC236}">
                <a16:creationId xmlns:a16="http://schemas.microsoft.com/office/drawing/2014/main" id="{6591D0A7-0DDE-4491-9FC4-C34A3AEB9422}"/>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1- President: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President would be adult male Muslim not less than 45 years.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He would be elected by a Joint session of the parliament for five years.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President could be elected for more than two terms and President is the ceremonial Head of the State.</a:t>
            </a:r>
          </a:p>
          <a:p>
            <a:pPr marL="0" indent="0">
              <a:buNone/>
            </a:pPr>
            <a:r>
              <a:rPr lang="en-US" sz="2400" b="1" dirty="0">
                <a:latin typeface="Times New Roman" panose="02020603050405020304" pitchFamily="18" charset="0"/>
                <a:cs typeface="Times New Roman" panose="02020603050405020304" pitchFamily="18" charset="0"/>
              </a:rPr>
              <a:t>2- Prime Minister: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PM is the executive and central head of the government.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PM is elected by National assembly from the majority party after 30 days of general elections.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Prime Minister after his/her election form cabinet of Ministers.</a:t>
            </a:r>
          </a:p>
        </p:txBody>
      </p:sp>
    </p:spTree>
    <p:extLst>
      <p:ext uri="{BB962C8B-B14F-4D97-AF65-F5344CB8AC3E}">
        <p14:creationId xmlns:p14="http://schemas.microsoft.com/office/powerpoint/2010/main" val="1306990467"/>
      </p:ext>
    </p:extLst>
  </p:cSld>
  <p:clrMapOvr>
    <a:masterClrMapping/>
  </p:clrMapOvr>
  <mc:AlternateContent xmlns:mc="http://schemas.openxmlformats.org/markup-compatibility/2006" xmlns:p14="http://schemas.microsoft.com/office/powerpoint/2010/main">
    <mc:Choice Requires="p14">
      <p:transition spd="slow" p14:dur="2000" advTm="90968"/>
    </mc:Choice>
    <mc:Fallback xmlns="">
      <p:transition spd="slow" advTm="9096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72BC-07C9-4604-8296-57FA17358B87}"/>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Salient Features of 1973 Constitution of Pakistan</a:t>
            </a:r>
          </a:p>
        </p:txBody>
      </p:sp>
      <p:sp>
        <p:nvSpPr>
          <p:cNvPr id="3" name="Content Placeholder 2">
            <a:extLst>
              <a:ext uri="{FF2B5EF4-FFF2-40B4-BE49-F238E27FC236}">
                <a16:creationId xmlns:a16="http://schemas.microsoft.com/office/drawing/2014/main" id="{244499FD-6543-4980-A592-EB749CA22291}"/>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 Parliament:</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Parliament according to 1973 constitution is Bicameral (Two Houses: National Assembly and Senate)</a:t>
            </a:r>
          </a:p>
          <a:p>
            <a:pPr marL="514350" indent="-514350">
              <a:buFont typeface="+mj-lt"/>
              <a:buAutoNum type="romanLcPeriod"/>
            </a:pPr>
            <a:r>
              <a:rPr lang="en-US" sz="2000" b="1" dirty="0">
                <a:latin typeface="Times New Roman" panose="02020603050405020304" pitchFamily="18" charset="0"/>
                <a:cs typeface="Times New Roman" panose="02020603050405020304" pitchFamily="18" charset="0"/>
              </a:rPr>
              <a:t>National Assembly:</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Term of  National Assembly would be five years.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According to the original draft of 1973 constitution the total number of seats for National Assembly were </a:t>
            </a:r>
            <a:r>
              <a:rPr lang="en-US" sz="2000" b="1" dirty="0">
                <a:latin typeface="Times New Roman" panose="02020603050405020304" pitchFamily="18" charset="0"/>
                <a:cs typeface="Times New Roman" panose="02020603050405020304" pitchFamily="18" charset="0"/>
              </a:rPr>
              <a:t>207</a:t>
            </a:r>
            <a:r>
              <a:rPr lang="en-US" sz="2000" dirty="0">
                <a:latin typeface="Times New Roman" panose="02020603050405020304" pitchFamily="18" charset="0"/>
                <a:cs typeface="Times New Roman" panose="02020603050405020304" pitchFamily="18" charset="0"/>
              </a:rPr>
              <a:t> (General) + </a:t>
            </a:r>
            <a:r>
              <a:rPr lang="en-US" sz="2000" b="1"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(Women) = </a:t>
            </a:r>
            <a:r>
              <a:rPr lang="en-US" sz="2000" b="1" dirty="0">
                <a:latin typeface="Times New Roman" panose="02020603050405020304" pitchFamily="18" charset="0"/>
                <a:cs typeface="Times New Roman" panose="02020603050405020304" pitchFamily="18" charset="0"/>
              </a:rPr>
              <a:t>217</a:t>
            </a:r>
            <a:r>
              <a:rPr lang="en-US"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According to General Election order of 2002 the number of seats of  National Assembly were increased to </a:t>
            </a:r>
            <a:r>
              <a:rPr lang="en-US" sz="2000" b="1" dirty="0">
                <a:latin typeface="Times New Roman" panose="02020603050405020304" pitchFamily="18" charset="0"/>
                <a:cs typeface="Times New Roman" panose="02020603050405020304" pitchFamily="18" charset="0"/>
              </a:rPr>
              <a:t>342</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272</a:t>
            </a:r>
            <a:r>
              <a:rPr lang="en-US" sz="2000" dirty="0">
                <a:latin typeface="Times New Roman" panose="02020603050405020304" pitchFamily="18" charset="0"/>
                <a:cs typeface="Times New Roman" panose="02020603050405020304" pitchFamily="18" charset="0"/>
              </a:rPr>
              <a:t> seats were General, </a:t>
            </a:r>
            <a:r>
              <a:rPr lang="en-US" sz="2000" b="1" dirty="0">
                <a:latin typeface="Times New Roman" panose="02020603050405020304" pitchFamily="18" charset="0"/>
                <a:cs typeface="Times New Roman" panose="02020603050405020304" pitchFamily="18" charset="0"/>
              </a:rPr>
              <a:t>60</a:t>
            </a:r>
            <a:r>
              <a:rPr lang="en-US" sz="2000" dirty="0">
                <a:latin typeface="Times New Roman" panose="02020603050405020304" pitchFamily="18" charset="0"/>
                <a:cs typeface="Times New Roman" panose="02020603050405020304" pitchFamily="18" charset="0"/>
              </a:rPr>
              <a:t> seats were reserved for women and </a:t>
            </a:r>
            <a:r>
              <a:rPr lang="en-US" sz="2000" b="1"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seats for minorities).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Provinces wise distribution of NA seats (Punjab-</a:t>
            </a:r>
            <a:r>
              <a:rPr lang="en-US" sz="2000" b="1" dirty="0">
                <a:latin typeface="Times New Roman" panose="02020603050405020304" pitchFamily="18" charset="0"/>
                <a:cs typeface="Times New Roman" panose="02020603050405020304" pitchFamily="18" charset="0"/>
              </a:rPr>
              <a:t>183</a:t>
            </a:r>
            <a:r>
              <a:rPr lang="en-US" sz="2000" dirty="0">
                <a:latin typeface="Times New Roman" panose="02020603050405020304" pitchFamily="18" charset="0"/>
                <a:cs typeface="Times New Roman" panose="02020603050405020304" pitchFamily="18" charset="0"/>
              </a:rPr>
              <a:t>, Sindh-</a:t>
            </a:r>
            <a:r>
              <a:rPr lang="en-US" sz="2000" b="1" dirty="0">
                <a:latin typeface="Times New Roman" panose="02020603050405020304" pitchFamily="18" charset="0"/>
                <a:cs typeface="Times New Roman" panose="02020603050405020304" pitchFamily="18" charset="0"/>
              </a:rPr>
              <a:t>75</a:t>
            </a:r>
            <a:r>
              <a:rPr lang="en-US" sz="2000" dirty="0">
                <a:latin typeface="Times New Roman" panose="02020603050405020304" pitchFamily="18" charset="0"/>
                <a:cs typeface="Times New Roman" panose="02020603050405020304" pitchFamily="18" charset="0"/>
              </a:rPr>
              <a:t>, KP-</a:t>
            </a:r>
            <a:r>
              <a:rPr lang="en-US" sz="2000" b="1" dirty="0">
                <a:latin typeface="Times New Roman" panose="02020603050405020304" pitchFamily="18" charset="0"/>
                <a:cs typeface="Times New Roman" panose="02020603050405020304" pitchFamily="18" charset="0"/>
              </a:rPr>
              <a:t>43</a:t>
            </a:r>
            <a:r>
              <a:rPr lang="en-US" sz="2000" dirty="0">
                <a:latin typeface="Times New Roman" panose="02020603050405020304" pitchFamily="18" charset="0"/>
                <a:cs typeface="Times New Roman" panose="02020603050405020304" pitchFamily="18" charset="0"/>
              </a:rPr>
              <a:t>+Ex-FATA -</a:t>
            </a:r>
            <a:r>
              <a:rPr lang="en-US" sz="2000" b="1" dirty="0">
                <a:latin typeface="Times New Roman" panose="02020603050405020304" pitchFamily="18" charset="0"/>
                <a:cs typeface="Times New Roman" panose="02020603050405020304" pitchFamily="18" charset="0"/>
              </a:rPr>
              <a:t>12</a:t>
            </a:r>
            <a:r>
              <a:rPr lang="en-US" sz="2000" dirty="0">
                <a:latin typeface="Times New Roman" panose="02020603050405020304" pitchFamily="18" charset="0"/>
                <a:cs typeface="Times New Roman" panose="02020603050405020304" pitchFamily="18" charset="0"/>
              </a:rPr>
              <a:t>, Balochistan-</a:t>
            </a:r>
            <a:r>
              <a:rPr lang="en-US" sz="2000" b="1" dirty="0">
                <a:latin typeface="Times New Roman" panose="02020603050405020304" pitchFamily="18" charset="0"/>
                <a:cs typeface="Times New Roman" panose="02020603050405020304" pitchFamily="18" charset="0"/>
              </a:rPr>
              <a:t>17</a:t>
            </a:r>
            <a:r>
              <a:rPr lang="en-US" sz="2000" dirty="0">
                <a:latin typeface="Times New Roman" panose="02020603050405020304" pitchFamily="18" charset="0"/>
                <a:cs typeface="Times New Roman" panose="02020603050405020304" pitchFamily="18" charset="0"/>
              </a:rPr>
              <a:t>, Federal Capital-</a:t>
            </a:r>
            <a:r>
              <a:rPr lang="en-US" sz="2000" b="1"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21224849"/>
      </p:ext>
    </p:extLst>
  </p:cSld>
  <p:clrMapOvr>
    <a:masterClrMapping/>
  </p:clrMapOvr>
  <mc:AlternateContent xmlns:mc="http://schemas.openxmlformats.org/markup-compatibility/2006" xmlns:p14="http://schemas.microsoft.com/office/powerpoint/2010/main">
    <mc:Choice Requires="p14">
      <p:transition spd="slow" p14:dur="2000" advTm="118208"/>
    </mc:Choice>
    <mc:Fallback xmlns="">
      <p:transition spd="slow" advTm="11820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8A729-E854-47F3-8983-2F57BCA7E2F2}"/>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Salient Features of 1973 Constitution of Pakistan</a:t>
            </a:r>
          </a:p>
        </p:txBody>
      </p:sp>
      <p:sp>
        <p:nvSpPr>
          <p:cNvPr id="3" name="Content Placeholder 2">
            <a:extLst>
              <a:ext uri="{FF2B5EF4-FFF2-40B4-BE49-F238E27FC236}">
                <a16:creationId xmlns:a16="http://schemas.microsoft.com/office/drawing/2014/main" id="{F880A761-8366-4546-BCBF-4BE27AECE10D}"/>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2-Senate (Upper House):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Senate is called as permanent body with 104 seats.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One half of the members elected by Provincial Assemblies would retire after three years.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Every Province is having </a:t>
            </a:r>
            <a:r>
              <a:rPr lang="en-US" sz="2000" b="1" dirty="0">
                <a:latin typeface="Times New Roman" panose="02020603050405020304" pitchFamily="18" charset="0"/>
                <a:cs typeface="Times New Roman" panose="02020603050405020304" pitchFamily="18" charset="0"/>
              </a:rPr>
              <a:t>23</a:t>
            </a:r>
            <a:r>
              <a:rPr lang="en-US" sz="2000" dirty="0">
                <a:latin typeface="Times New Roman" panose="02020603050405020304" pitchFamily="18" charset="0"/>
                <a:cs typeface="Times New Roman" panose="02020603050405020304" pitchFamily="18" charset="0"/>
              </a:rPr>
              <a:t> seats, Ex-FATA-</a:t>
            </a:r>
            <a:r>
              <a:rPr lang="en-US" sz="2000" b="1" dirty="0">
                <a:latin typeface="Times New Roman" panose="02020603050405020304" pitchFamily="18" charset="0"/>
                <a:cs typeface="Times New Roman" panose="02020603050405020304" pitchFamily="18" charset="0"/>
              </a:rPr>
              <a:t>8 </a:t>
            </a:r>
            <a:r>
              <a:rPr lang="en-US" sz="2000" dirty="0">
                <a:latin typeface="Times New Roman" panose="02020603050405020304" pitchFamily="18" charset="0"/>
                <a:cs typeface="Times New Roman" panose="02020603050405020304" pitchFamily="18" charset="0"/>
              </a:rPr>
              <a:t>seats and Federal capital areas </a:t>
            </a:r>
            <a:r>
              <a:rPr lang="en-US" sz="2000" b="1"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seats.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members of erstwhile FATA and Federal Capital areas were elected by National Assembly.</a:t>
            </a:r>
          </a:p>
          <a:p>
            <a:pPr marL="0" indent="0">
              <a:buNone/>
            </a:pPr>
            <a:r>
              <a:rPr lang="en-US" sz="2000" b="1" dirty="0">
                <a:latin typeface="Times New Roman" panose="02020603050405020304" pitchFamily="18" charset="0"/>
                <a:cs typeface="Times New Roman" panose="02020603050405020304" pitchFamily="18" charset="0"/>
              </a:rPr>
              <a:t>5- </a:t>
            </a:r>
            <a:r>
              <a:rPr lang="en-US" sz="2400" b="1" dirty="0">
                <a:latin typeface="Times New Roman" panose="02020603050405020304" pitchFamily="18" charset="0"/>
                <a:cs typeface="Times New Roman" panose="02020603050405020304" pitchFamily="18" charset="0"/>
              </a:rPr>
              <a:t>Provincial Assemblies</a:t>
            </a:r>
            <a:r>
              <a:rPr lang="en-US"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term for Provincial Assemblies would 5 years.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number of provincial assemblies seats are as follow: (Punjab- 372 seats, Sindh- 168 seats, KP-124+erstwhile FATA and Balochistan-65 seats).</a:t>
            </a:r>
          </a:p>
        </p:txBody>
      </p:sp>
    </p:spTree>
    <p:extLst>
      <p:ext uri="{BB962C8B-B14F-4D97-AF65-F5344CB8AC3E}">
        <p14:creationId xmlns:p14="http://schemas.microsoft.com/office/powerpoint/2010/main" val="1162979271"/>
      </p:ext>
    </p:extLst>
  </p:cSld>
  <p:clrMapOvr>
    <a:masterClrMapping/>
  </p:clrMapOvr>
  <mc:AlternateContent xmlns:mc="http://schemas.openxmlformats.org/markup-compatibility/2006" xmlns:p14="http://schemas.microsoft.com/office/powerpoint/2010/main">
    <mc:Choice Requires="p14">
      <p:transition spd="slow" p14:dur="2000" advTm="98310"/>
    </mc:Choice>
    <mc:Fallback xmlns="">
      <p:transition spd="slow" advTm="9831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4B91-10AF-4907-8713-543EDD8CD338}"/>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Salient Features of 1973 Constitution of Pakistan</a:t>
            </a:r>
          </a:p>
        </p:txBody>
      </p:sp>
      <p:sp>
        <p:nvSpPr>
          <p:cNvPr id="3" name="Content Placeholder 2">
            <a:extLst>
              <a:ext uri="{FF2B5EF4-FFF2-40B4-BE49-F238E27FC236}">
                <a16:creationId xmlns:a16="http://schemas.microsoft.com/office/drawing/2014/main" id="{FA2C28F1-F95B-4344-98D3-9CA832B6C348}"/>
              </a:ext>
            </a:extLst>
          </p:cNvPr>
          <p:cNvSpPr>
            <a:spLocks noGrp="1"/>
          </p:cNvSpPr>
          <p:nvPr>
            <p:ph idx="1"/>
          </p:nvPr>
        </p:nvSpPr>
        <p:spPr/>
        <p:txBody>
          <a:bodyPr>
            <a:normAutofit fontScale="92500"/>
          </a:bodyPr>
          <a:lstStyle/>
          <a:p>
            <a:pPr marL="0" indent="0">
              <a:buNone/>
            </a:pPr>
            <a:r>
              <a:rPr lang="en-US" sz="2400" b="1" dirty="0">
                <a:latin typeface="Times New Roman" panose="02020603050405020304" pitchFamily="18" charset="0"/>
                <a:cs typeface="Times New Roman" panose="02020603050405020304" pitchFamily="18" charset="0"/>
              </a:rPr>
              <a:t>6- Judiciary: </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Supreme Court is headed by Chief Justice and its function is to interpret the law and advise the parliament and government on legal matters.</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Each Province is having a High Court Head by Chief Justice </a:t>
            </a:r>
          </a:p>
          <a:p>
            <a:pPr marL="0" indent="0">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Supreme Court Of Pakistan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High Court           High Court           High Court                High Court             High Court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Session Court     Kacheri/Lower Court</a:t>
            </a:r>
          </a:p>
        </p:txBody>
      </p:sp>
      <p:cxnSp>
        <p:nvCxnSpPr>
          <p:cNvPr id="5" name="Straight Connector 4">
            <a:extLst>
              <a:ext uri="{FF2B5EF4-FFF2-40B4-BE49-F238E27FC236}">
                <a16:creationId xmlns:a16="http://schemas.microsoft.com/office/drawing/2014/main" id="{52646557-ADC5-48E3-9D51-F9255E073E3D}"/>
              </a:ext>
            </a:extLst>
          </p:cNvPr>
          <p:cNvCxnSpPr>
            <a:cxnSpLocks/>
          </p:cNvCxnSpPr>
          <p:nvPr/>
        </p:nvCxnSpPr>
        <p:spPr>
          <a:xfrm>
            <a:off x="1748672" y="4251490"/>
            <a:ext cx="7626284" cy="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830B2A2B-BD9D-4E0E-BB05-07D6101567B4}"/>
              </a:ext>
            </a:extLst>
          </p:cNvPr>
          <p:cNvCxnSpPr/>
          <p:nvPr/>
        </p:nvCxnSpPr>
        <p:spPr>
          <a:xfrm>
            <a:off x="1748672" y="4251490"/>
            <a:ext cx="0" cy="688156"/>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6C821235-F332-4A6F-9688-D178E70E1397}"/>
              </a:ext>
            </a:extLst>
          </p:cNvPr>
          <p:cNvCxnSpPr>
            <a:cxnSpLocks/>
          </p:cNvCxnSpPr>
          <p:nvPr/>
        </p:nvCxnSpPr>
        <p:spPr>
          <a:xfrm>
            <a:off x="9374956" y="4251490"/>
            <a:ext cx="0" cy="777709"/>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0D40D236-A7F3-4517-838D-31F08CA0A323}"/>
              </a:ext>
            </a:extLst>
          </p:cNvPr>
          <p:cNvCxnSpPr>
            <a:cxnSpLocks/>
          </p:cNvCxnSpPr>
          <p:nvPr/>
        </p:nvCxnSpPr>
        <p:spPr>
          <a:xfrm>
            <a:off x="5580667" y="3803716"/>
            <a:ext cx="0" cy="1159497"/>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3DE77FB2-B237-443E-975E-A2E60212D929}"/>
              </a:ext>
            </a:extLst>
          </p:cNvPr>
          <p:cNvCxnSpPr>
            <a:cxnSpLocks/>
          </p:cNvCxnSpPr>
          <p:nvPr/>
        </p:nvCxnSpPr>
        <p:spPr>
          <a:xfrm>
            <a:off x="3695307" y="4251490"/>
            <a:ext cx="0" cy="697582"/>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28C8AE38-0ADE-4BF9-834C-4863B839E4FB}"/>
              </a:ext>
            </a:extLst>
          </p:cNvPr>
          <p:cNvCxnSpPr>
            <a:cxnSpLocks/>
          </p:cNvCxnSpPr>
          <p:nvPr/>
        </p:nvCxnSpPr>
        <p:spPr>
          <a:xfrm>
            <a:off x="7616858" y="4265631"/>
            <a:ext cx="0" cy="697582"/>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FFF8D497-1991-42D0-96DC-06555910A0C0}"/>
              </a:ext>
            </a:extLst>
          </p:cNvPr>
          <p:cNvCxnSpPr>
            <a:cxnSpLocks/>
          </p:cNvCxnSpPr>
          <p:nvPr/>
        </p:nvCxnSpPr>
        <p:spPr>
          <a:xfrm flipV="1">
            <a:off x="8262592" y="5574204"/>
            <a:ext cx="2403836" cy="18852"/>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0FBD06CF-5CB9-43B4-BE59-3855D3194013}"/>
              </a:ext>
            </a:extLst>
          </p:cNvPr>
          <p:cNvCxnSpPr>
            <a:cxnSpLocks/>
          </p:cNvCxnSpPr>
          <p:nvPr/>
        </p:nvCxnSpPr>
        <p:spPr>
          <a:xfrm>
            <a:off x="8262592" y="5583630"/>
            <a:ext cx="0" cy="260989"/>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E1C0BEF7-1910-4C47-832D-82AA1032D261}"/>
              </a:ext>
            </a:extLst>
          </p:cNvPr>
          <p:cNvCxnSpPr>
            <a:cxnSpLocks/>
          </p:cNvCxnSpPr>
          <p:nvPr/>
        </p:nvCxnSpPr>
        <p:spPr>
          <a:xfrm>
            <a:off x="10666428" y="5574204"/>
            <a:ext cx="0" cy="270415"/>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A533C3A0-90E4-45E6-A5EC-425801A32E06}"/>
              </a:ext>
            </a:extLst>
          </p:cNvPr>
          <p:cNvCxnSpPr/>
          <p:nvPr/>
        </p:nvCxnSpPr>
        <p:spPr>
          <a:xfrm>
            <a:off x="9304256" y="5335571"/>
            <a:ext cx="0" cy="257485"/>
          </a:xfrm>
          <a:prstGeom prst="line">
            <a:avLst/>
          </a:prstGeom>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F21CF5F1-004A-46A6-B22B-D934AD9A57A3}"/>
              </a:ext>
            </a:extLst>
          </p:cNvPr>
          <p:cNvCxnSpPr/>
          <p:nvPr/>
        </p:nvCxnSpPr>
        <p:spPr>
          <a:xfrm>
            <a:off x="4119513" y="3789575"/>
            <a:ext cx="327110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45709386"/>
      </p:ext>
    </p:extLst>
  </p:cSld>
  <p:clrMapOvr>
    <a:masterClrMapping/>
  </p:clrMapOvr>
  <mc:AlternateContent xmlns:mc="http://schemas.openxmlformats.org/markup-compatibility/2006" xmlns:p14="http://schemas.microsoft.com/office/powerpoint/2010/main">
    <mc:Choice Requires="p14">
      <p:transition spd="slow" p14:dur="2000" advTm="215688"/>
    </mc:Choice>
    <mc:Fallback xmlns="">
      <p:transition spd="slow" advTm="21568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1495</TotalTime>
  <Words>1084</Words>
  <Application>Microsoft Office PowerPoint</Application>
  <PresentationFormat>Widescreen</PresentationFormat>
  <Paragraphs>100</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The 1962 &amp;1973 Constitutions of Pakistan </vt:lpstr>
      <vt:lpstr>The 1962 Constitution of Pakistan </vt:lpstr>
      <vt:lpstr>The 1962 Constitution of Pakistan</vt:lpstr>
      <vt:lpstr>Main highlights of 1962 Constitution of Pakistan</vt:lpstr>
      <vt:lpstr>Basic Democracies order Model</vt:lpstr>
      <vt:lpstr>Salient features of 1962 Constitution </vt:lpstr>
      <vt:lpstr>Salient features of 1962 Constitution </vt:lpstr>
      <vt:lpstr>The 1973 Constitution of Pakistan </vt:lpstr>
      <vt:lpstr>Islamic Provision of 1973 Constitution</vt:lpstr>
      <vt:lpstr>Salient Features of 1973 Constitution of Pakistan</vt:lpstr>
      <vt:lpstr>Salient Features of 1973 Constitution of Pakistan</vt:lpstr>
      <vt:lpstr>Salient Features of 1973 Constitution of Pakistan</vt:lpstr>
      <vt:lpstr>Salient Features of 1973 Constitution of Pakistan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1962 Constitution of Pakistan </dc:title>
  <dc:creator>Ahmed Khan</dc:creator>
  <cp:lastModifiedBy>Ahmed Khan</cp:lastModifiedBy>
  <cp:revision>163</cp:revision>
  <dcterms:created xsi:type="dcterms:W3CDTF">2020-05-17T11:30:23Z</dcterms:created>
  <dcterms:modified xsi:type="dcterms:W3CDTF">2020-09-30T04:35:41Z</dcterms:modified>
</cp:coreProperties>
</file>