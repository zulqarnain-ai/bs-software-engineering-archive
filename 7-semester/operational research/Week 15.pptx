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0"/>
  </p:notesMasterIdLst>
  <p:sldIdLst>
    <p:sldId id="368" r:id="rId3"/>
    <p:sldId id="463" r:id="rId4"/>
    <p:sldId id="556" r:id="rId5"/>
    <p:sldId id="508" r:id="rId6"/>
    <p:sldId id="540" r:id="rId7"/>
    <p:sldId id="541" r:id="rId8"/>
    <p:sldId id="542" r:id="rId9"/>
    <p:sldId id="543" r:id="rId10"/>
    <p:sldId id="555" r:id="rId11"/>
    <p:sldId id="544" r:id="rId12"/>
    <p:sldId id="545" r:id="rId13"/>
    <p:sldId id="546" r:id="rId14"/>
    <p:sldId id="547" r:id="rId15"/>
    <p:sldId id="548" r:id="rId16"/>
    <p:sldId id="549" r:id="rId17"/>
    <p:sldId id="578" r:id="rId18"/>
    <p:sldId id="410"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91" autoAdjust="0"/>
  </p:normalViewPr>
  <p:slideViewPr>
    <p:cSldViewPr snapToGrid="0" showGuides="1">
      <p:cViewPr>
        <p:scale>
          <a:sx n="71" d="100"/>
          <a:sy n="71" d="100"/>
        </p:scale>
        <p:origin x="-116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9194E4-79C8-41B0-9AF4-53058728BAB5}" type="datetimeFigureOut">
              <a:rPr lang="en-US" smtClean="0"/>
              <a:t>12/2/2025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BFD4BB-E70E-4D5C-83E2-D95045F6F69E}" type="slidenum">
              <a:rPr lang="en-US" smtClean="0"/>
              <a:t>‹#›</a:t>
            </a:fld>
            <a:endParaRPr lang="en-US"/>
          </a:p>
        </p:txBody>
      </p:sp>
    </p:spTree>
    <p:extLst>
      <p:ext uri="{BB962C8B-B14F-4D97-AF65-F5344CB8AC3E}">
        <p14:creationId xmlns:p14="http://schemas.microsoft.com/office/powerpoint/2010/main" val="1366200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9D63FB-4DD9-4903-83FE-F80270576417}" type="datetime1">
              <a:rPr lang="en-US" smtClean="0"/>
              <a:t>12/2/2025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7DFA81-FF35-40E2-AA6F-C4E4697E2C73}" type="datetime1">
              <a:rPr lang="en-US" smtClean="0"/>
              <a:t>12/2/2025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708B4E-9E6D-47DB-A8C9-443A66B04FA1}" type="datetime1">
              <a:rPr lang="en-US" smtClean="0"/>
              <a:t>12/2/2025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AD187-3CAF-4EEB-B511-D277A7E40C82}" type="datetime1">
              <a:rPr lang="en-US" smtClean="0"/>
              <a:t>12/2/2025</a:t>
            </a:fld>
            <a:endParaRPr lang="en-US"/>
          </a:p>
        </p:txBody>
      </p:sp>
      <p:sp>
        <p:nvSpPr>
          <p:cNvPr id="6" name="Footer Placeholder 5"/>
          <p:cNvSpPr>
            <a:spLocks noGrp="1"/>
          </p:cNvSpPr>
          <p:nvPr>
            <p:ph type="ftr" sz="quarter" idx="11"/>
          </p:nvPr>
        </p:nvSpPr>
        <p:spPr/>
        <p:txBody>
          <a:bodyPr/>
          <a:lstStyle/>
          <a:p>
            <a:r>
              <a:rPr lang="en-US"/>
              <a:t>CSC102 Discrete Structures</a:t>
            </a:r>
          </a:p>
        </p:txBody>
      </p:sp>
      <p:sp>
        <p:nvSpPr>
          <p:cNvPr id="7" name="Slide Number Placeholder 6"/>
          <p:cNvSpPr>
            <a:spLocks noGrp="1"/>
          </p:cNvSpPr>
          <p:nvPr>
            <p:ph type="sldNum" sz="quarter" idx="12"/>
          </p:nvPr>
        </p:nvSpPr>
        <p:spPr/>
        <p:txBody>
          <a:bodyPr/>
          <a:lstStyle/>
          <a:p>
            <a:fld id="{8ACE3F9D-533B-438E-AA49-48601E6C708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DFEB82-3297-42CA-9AC7-D3ECF198E013}" type="datetime1">
              <a:rPr lang="en-US" smtClean="0"/>
              <a:t>12/2/2025</a:t>
            </a:fld>
            <a:endParaRPr lang="en-US"/>
          </a:p>
        </p:txBody>
      </p:sp>
      <p:sp>
        <p:nvSpPr>
          <p:cNvPr id="8" name="Footer Placeholder 7"/>
          <p:cNvSpPr>
            <a:spLocks noGrp="1"/>
          </p:cNvSpPr>
          <p:nvPr>
            <p:ph type="ftr" sz="quarter" idx="11"/>
          </p:nvPr>
        </p:nvSpPr>
        <p:spPr/>
        <p:txBody>
          <a:bodyPr/>
          <a:lstStyle/>
          <a:p>
            <a:r>
              <a:rPr lang="en-US"/>
              <a:t>CSC102 Discrete Structures</a:t>
            </a:r>
          </a:p>
        </p:txBody>
      </p:sp>
      <p:sp>
        <p:nvSpPr>
          <p:cNvPr id="9" name="Slide Number Placeholder 8"/>
          <p:cNvSpPr>
            <a:spLocks noGrp="1"/>
          </p:cNvSpPr>
          <p:nvPr>
            <p:ph type="sldNum" sz="quarter" idx="12"/>
          </p:nvPr>
        </p:nvSpPr>
        <p:spPr/>
        <p:txBody>
          <a:bodyPr/>
          <a:lstStyle/>
          <a:p>
            <a:fld id="{8ACE3F9D-533B-438E-AA49-48601E6C708E}"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348733-E273-4EF3-8143-57B6AA49A592}" type="datetime1">
              <a:rPr lang="en-US" smtClean="0"/>
              <a:t>12/2/2025</a:t>
            </a:fld>
            <a:endParaRPr lang="en-US"/>
          </a:p>
        </p:txBody>
      </p:sp>
      <p:sp>
        <p:nvSpPr>
          <p:cNvPr id="4" name="Footer Placeholder 3"/>
          <p:cNvSpPr>
            <a:spLocks noGrp="1"/>
          </p:cNvSpPr>
          <p:nvPr>
            <p:ph type="ftr" sz="quarter" idx="11"/>
          </p:nvPr>
        </p:nvSpPr>
        <p:spPr/>
        <p:txBody>
          <a:bodyPr/>
          <a:lstStyle/>
          <a:p>
            <a:r>
              <a:rPr lang="en-US"/>
              <a:t>CSC102 Discrete Structures</a:t>
            </a:r>
          </a:p>
        </p:txBody>
      </p:sp>
      <p:sp>
        <p:nvSpPr>
          <p:cNvPr id="5" name="Slide Number Placeholder 4"/>
          <p:cNvSpPr>
            <a:spLocks noGrp="1"/>
          </p:cNvSpPr>
          <p:nvPr>
            <p:ph type="sldNum" sz="quarter" idx="12"/>
          </p:nvPr>
        </p:nvSpPr>
        <p:spPr/>
        <p:txBody>
          <a:bodyPr/>
          <a:lstStyle/>
          <a:p>
            <a:fld id="{8ACE3F9D-533B-438E-AA49-48601E6C708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616BD8-1159-4CEE-BF69-08E8DE6F04D4}" type="datetime1">
              <a:rPr lang="en-US" smtClean="0"/>
              <a:t>12/2/2025</a:t>
            </a:fld>
            <a:endParaRPr lang="en-US"/>
          </a:p>
        </p:txBody>
      </p:sp>
      <p:sp>
        <p:nvSpPr>
          <p:cNvPr id="3" name="Footer Placeholder 2"/>
          <p:cNvSpPr>
            <a:spLocks noGrp="1"/>
          </p:cNvSpPr>
          <p:nvPr>
            <p:ph type="ftr" sz="quarter" idx="11"/>
          </p:nvPr>
        </p:nvSpPr>
        <p:spPr/>
        <p:txBody>
          <a:bodyPr/>
          <a:lstStyle/>
          <a:p>
            <a:r>
              <a:rPr lang="en-US"/>
              <a:t>CSC102 Discrete Structures</a:t>
            </a:r>
          </a:p>
        </p:txBody>
      </p:sp>
      <p:sp>
        <p:nvSpPr>
          <p:cNvPr id="4" name="Slide Number Placeholder 3"/>
          <p:cNvSpPr>
            <a:spLocks noGrp="1"/>
          </p:cNvSpPr>
          <p:nvPr>
            <p:ph type="sldNum" sz="quarter" idx="12"/>
          </p:nvPr>
        </p:nvSpPr>
        <p:spPr/>
        <p:txBody>
          <a:bodyPr/>
          <a:lstStyle/>
          <a:p>
            <a:fld id="{8ACE3F9D-533B-438E-AA49-48601E6C708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55B0FE-4AC0-4D7B-83B1-A18CD9CB8AEE}" type="datetime1">
              <a:rPr lang="en-US" smtClean="0"/>
              <a:t>12/2/2025</a:t>
            </a:fld>
            <a:endParaRPr lang="en-US"/>
          </a:p>
        </p:txBody>
      </p:sp>
      <p:sp>
        <p:nvSpPr>
          <p:cNvPr id="6" name="Footer Placeholder 5"/>
          <p:cNvSpPr>
            <a:spLocks noGrp="1"/>
          </p:cNvSpPr>
          <p:nvPr>
            <p:ph type="ftr" sz="quarter" idx="11"/>
          </p:nvPr>
        </p:nvSpPr>
        <p:spPr/>
        <p:txBody>
          <a:bodyPr/>
          <a:lstStyle/>
          <a:p>
            <a:r>
              <a:rPr lang="en-US"/>
              <a:t>CSC102 Discrete Structures</a:t>
            </a:r>
          </a:p>
        </p:txBody>
      </p:sp>
      <p:sp>
        <p:nvSpPr>
          <p:cNvPr id="7" name="Slide Number Placeholder 6"/>
          <p:cNvSpPr>
            <a:spLocks noGrp="1"/>
          </p:cNvSpPr>
          <p:nvPr>
            <p:ph type="sldNum" sz="quarter" idx="12"/>
          </p:nvPr>
        </p:nvSpPr>
        <p:spPr/>
        <p:txBody>
          <a:bodyPr/>
          <a:lstStyle/>
          <a:p>
            <a:fld id="{8ACE3F9D-533B-438E-AA49-48601E6C708E}"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52F497-D16F-472A-8AB2-6923D245D09D}" type="datetime1">
              <a:rPr lang="en-US" smtClean="0"/>
              <a:t>12/2/2025</a:t>
            </a:fld>
            <a:endParaRPr lang="en-US"/>
          </a:p>
        </p:txBody>
      </p:sp>
      <p:sp>
        <p:nvSpPr>
          <p:cNvPr id="6" name="Footer Placeholder 5"/>
          <p:cNvSpPr>
            <a:spLocks noGrp="1"/>
          </p:cNvSpPr>
          <p:nvPr>
            <p:ph type="ftr" sz="quarter" idx="11"/>
          </p:nvPr>
        </p:nvSpPr>
        <p:spPr/>
        <p:txBody>
          <a:bodyPr/>
          <a:lstStyle/>
          <a:p>
            <a:r>
              <a:rPr lang="en-US"/>
              <a:t>CSC102 Discrete Structures</a:t>
            </a:r>
          </a:p>
        </p:txBody>
      </p:sp>
      <p:sp>
        <p:nvSpPr>
          <p:cNvPr id="7" name="Slide Number Placeholder 6"/>
          <p:cNvSpPr>
            <a:spLocks noGrp="1"/>
          </p:cNvSpPr>
          <p:nvPr>
            <p:ph type="sldNum" sz="quarter" idx="12"/>
          </p:nvPr>
        </p:nvSpPr>
        <p:spPr/>
        <p:txBody>
          <a:bodyPr/>
          <a:lstStyle/>
          <a:p>
            <a:fld id="{8ACE3F9D-533B-438E-AA49-48601E6C708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0E3EED-3DA2-4ED4-9C83-CEA1A9E43AAB}" type="datetime1">
              <a:rPr lang="en-US" smtClean="0"/>
              <a:t>12/2/2025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7ADCE-E054-4FA0-B715-AC4537BA8B51}" type="datetime1">
              <a:rPr lang="en-US" smtClean="0"/>
              <a:t>12/2/2025</a:t>
            </a:fld>
            <a:endParaRPr lang="en-US"/>
          </a:p>
        </p:txBody>
      </p:sp>
      <p:sp>
        <p:nvSpPr>
          <p:cNvPr id="5" name="Footer Placeholder 4"/>
          <p:cNvSpPr>
            <a:spLocks noGrp="1"/>
          </p:cNvSpPr>
          <p:nvPr>
            <p:ph type="ftr" sz="quarter" idx="11"/>
          </p:nvPr>
        </p:nvSpPr>
        <p:spPr/>
        <p:txBody>
          <a:bodyPr/>
          <a:lstStyle/>
          <a:p>
            <a:r>
              <a:rPr lang="en-US"/>
              <a:t>CSC102 Discrete Structures</a:t>
            </a:r>
          </a:p>
        </p:txBody>
      </p:sp>
      <p:sp>
        <p:nvSpPr>
          <p:cNvPr id="6" name="Slide Number Placeholder 5"/>
          <p:cNvSpPr>
            <a:spLocks noGrp="1"/>
          </p:cNvSpPr>
          <p:nvPr>
            <p:ph type="sldNum" sz="quarter" idx="12"/>
          </p:nvPr>
        </p:nvSpPr>
        <p:spPr/>
        <p:txBody>
          <a:bodyPr/>
          <a:lstStyle/>
          <a:p>
            <a:fld id="{8ACE3F9D-533B-438E-AA49-48601E6C708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3B539F5C-786E-4BDB-B868-73CB6082799F}" type="datetimeFigureOut">
              <a:rPr lang="en-US" smtClean="0"/>
              <a:t>12/2/2025</a:t>
            </a:fld>
            <a:endParaRPr lang="en-US"/>
          </a:p>
        </p:txBody>
      </p:sp>
      <p:sp>
        <p:nvSpPr>
          <p:cNvPr id="5" name="Footer Placeholder 4"/>
          <p:cNvSpPr>
            <a:spLocks noGrp="1"/>
          </p:cNvSpPr>
          <p:nvPr>
            <p:ph type="ftr" sz="quarter" idx="11"/>
          </p:nvPr>
        </p:nvSpPr>
        <p:spPr>
          <a:xfrm>
            <a:off x="1900237" y="5410202"/>
            <a:ext cx="3843665" cy="365125"/>
          </a:xfrm>
        </p:spPr>
        <p:txBody>
          <a:bodyPr/>
          <a:lstStyle/>
          <a:p>
            <a:endParaRPr lang="en-US"/>
          </a:p>
        </p:txBody>
      </p:sp>
      <p:sp>
        <p:nvSpPr>
          <p:cNvPr id="6" name="Slide Number Placeholder 5"/>
          <p:cNvSpPr>
            <a:spLocks noGrp="1"/>
          </p:cNvSpPr>
          <p:nvPr>
            <p:ph type="sldNum" sz="quarter" idx="12"/>
          </p:nvPr>
        </p:nvSpPr>
        <p:spPr>
          <a:xfrm>
            <a:off x="7915603" y="5410200"/>
            <a:ext cx="578317" cy="365125"/>
          </a:xfrm>
        </p:spPr>
        <p:txBody>
          <a:bodyPr/>
          <a:lstStyle/>
          <a:p>
            <a:fld id="{5B454187-9C8A-4D01-8196-68D867131FBF}"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US"/>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3B539F5C-786E-4BDB-B868-73CB6082799F}" type="datetimeFigureOut">
              <a:rPr lang="en-US" smtClean="0"/>
              <a:t>12/2/2025</a:t>
            </a:fld>
            <a:endParaRPr lang="en-US"/>
          </a:p>
        </p:txBody>
      </p:sp>
      <p:sp>
        <p:nvSpPr>
          <p:cNvPr id="50" name="Footer Placeholder 4"/>
          <p:cNvSpPr>
            <a:spLocks noGrp="1"/>
          </p:cNvSpPr>
          <p:nvPr>
            <p:ph type="ftr" sz="quarter" idx="11"/>
          </p:nvPr>
        </p:nvSpPr>
        <p:spPr>
          <a:xfrm>
            <a:off x="856059" y="5883276"/>
            <a:ext cx="4679482" cy="365125"/>
          </a:xfrm>
        </p:spPr>
        <p:txBody>
          <a:bodyPr/>
          <a:lstStyle/>
          <a:p>
            <a:endParaRPr lang="en-US"/>
          </a:p>
        </p:txBody>
      </p:sp>
      <p:sp>
        <p:nvSpPr>
          <p:cNvPr id="51" name="Slide Number Placeholder 5"/>
          <p:cNvSpPr>
            <a:spLocks noGrp="1"/>
          </p:cNvSpPr>
          <p:nvPr>
            <p:ph type="sldNum" sz="quarter" idx="12"/>
          </p:nvPr>
        </p:nvSpPr>
        <p:spPr>
          <a:xfrm>
            <a:off x="7707241" y="5883275"/>
            <a:ext cx="578317" cy="365125"/>
          </a:xfrm>
        </p:spPr>
        <p:txBody>
          <a:bodyPr/>
          <a:lstStyle/>
          <a:p>
            <a:fld id="{5B454187-9C8A-4D01-8196-68D867131FBF}"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539F5C-786E-4BDB-B868-73CB6082799F}"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539F5C-786E-4BDB-B868-73CB6082799F}"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539F5C-786E-4BDB-B868-73CB6082799F}"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539F5C-786E-4BDB-B868-73CB6082799F}"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539F5C-786E-4BDB-B868-73CB6082799F}"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t>‹#›</a:t>
            </a:fld>
            <a:endParaRPr lang="en-US"/>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539F5C-786E-4BDB-B868-73CB6082799F}"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B539F5C-786E-4BDB-B868-73CB6082799F}"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B539F5C-786E-4BDB-B868-73CB6082799F}" type="datetimeFigureOut">
              <a:rPr lang="en-US" smtClean="0"/>
              <a:t>12/2/2025</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39F5C-786E-4BDB-B868-73CB6082799F}"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539F5C-786E-4BDB-B868-73CB6082799F}"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54187-9C8A-4D01-8196-68D867131F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3.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E9BFFB69-46B3-4750-912C-E29F4B8DA29C}" type="datetime1">
              <a:rPr lang="en-US" smtClean="0"/>
              <a:t>12/2/2025</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CSC102 Discrete Structures</a:t>
            </a:r>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8ACE3F9D-533B-438E-AA49-48601E6C708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anose="020B0604020202020204"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anose="020B0604020202020204"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anose="020B0604020202020204"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anose="020B0604020202020204"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anose="020B0604020202020204"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anose="020B0604020202020204"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anose="020B0604020202020204"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8" name="Group 7"/>
          <p:cNvGrpSpPr/>
          <p:nvPr/>
        </p:nvGrpSpPr>
        <p:grpSpPr>
          <a:xfrm>
            <a:off x="-14288" y="0"/>
            <a:ext cx="9041774" cy="6858001"/>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grpSp>
      </p:grpSp>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9BFFB69-46B3-4750-912C-E29F4B8DA29C}" type="datetime1">
              <a:rPr lang="en-US" smtClean="0"/>
              <a:t>12/2/2025</a:t>
            </a:fld>
            <a:endParaRPr lang="en-US"/>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CSC102 Discrete Structures</a:t>
            </a:r>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ACE3F9D-533B-438E-AA49-48601E6C708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effectLst>
            <a:outerShdw blurRad="114300" dist="38100" dir="2700000" algn="tl">
              <a:srgbClr val="000000">
                <a:alpha val="26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27000" dist="38100" dir="2700000" algn="tl">
              <a:srgbClr val="000000">
                <a:alpha val="33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27000" dist="38100" dir="2700000" algn="tl">
              <a:srgbClr val="000000">
                <a:alpha val="33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27000" dist="38100" dir="2700000" algn="tl">
              <a:srgbClr val="000000">
                <a:alpha val="33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a:xfrm>
            <a:off x="1192237" y="4391464"/>
            <a:ext cx="6400800" cy="2206283"/>
          </a:xfrm>
        </p:spPr>
        <p:txBody>
          <a:bodyPr>
            <a:normAutofit/>
          </a:bodyPr>
          <a:lstStyle/>
          <a:p>
            <a:pPr algn="ctr"/>
            <a:r>
              <a:rPr lang="en-US" sz="3900" b="1" dirty="0"/>
              <a:t>Operations Research</a:t>
            </a:r>
          </a:p>
          <a:p>
            <a:pPr algn="ctr"/>
            <a:r>
              <a:rPr lang="en-US" sz="2800" b="1" dirty="0">
                <a:solidFill>
                  <a:srgbClr val="000000">
                    <a:lumMod val="75000"/>
                    <a:lumOff val="25000"/>
                  </a:srgbClr>
                </a:solidFill>
              </a:rPr>
              <a:t>(Software </a:t>
            </a:r>
            <a:r>
              <a:rPr lang="en-US" sz="2800" b="1">
                <a:solidFill>
                  <a:srgbClr val="000000">
                    <a:lumMod val="75000"/>
                    <a:lumOff val="25000"/>
                  </a:srgbClr>
                </a:solidFill>
              </a:rPr>
              <a:t>Engineering</a:t>
            </a:r>
            <a:r>
              <a:rPr lang="en-US" sz="2800" b="1" smtClean="0">
                <a:solidFill>
                  <a:srgbClr val="000000">
                    <a:lumMod val="75000"/>
                    <a:lumOff val="25000"/>
                  </a:srgbClr>
                </a:solidFill>
              </a:rPr>
              <a:t>)</a:t>
            </a:r>
            <a:endParaRPr lang="en-US" sz="32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1600"/>
            <a:ext cx="9144000" cy="2661764"/>
          </a:xfrm>
          <a:prstGeom prst="rect">
            <a:avLst/>
          </a:prstGeom>
        </p:spPr>
      </p:pic>
      <p:sp>
        <p:nvSpPr>
          <p:cNvPr id="5" name="Rectangle 4"/>
          <p:cNvSpPr/>
          <p:nvPr/>
        </p:nvSpPr>
        <p:spPr>
          <a:xfrm>
            <a:off x="3613276" y="637061"/>
            <a:ext cx="1917449" cy="523220"/>
          </a:xfrm>
          <a:prstGeom prst="rect">
            <a:avLst/>
          </a:prstGeom>
        </p:spPr>
        <p:txBody>
          <a:bodyPr wrap="none">
            <a:spAutoFit/>
          </a:bodyPr>
          <a:lstStyle/>
          <a:p>
            <a:pPr algn="ctr"/>
            <a:r>
              <a:rPr lang="en-US" sz="2800" b="1" u="sng" dirty="0">
                <a:solidFill>
                  <a:srgbClr val="FF0000"/>
                </a:solidFill>
                <a:latin typeface="Arial" panose="020B0604020202020204" pitchFamily="34" charset="0"/>
                <a:cs typeface="Arial" panose="020B0604020202020204" pitchFamily="34" charset="0"/>
              </a:rPr>
              <a:t>Week </a:t>
            </a:r>
            <a:r>
              <a:rPr lang="en-US" sz="2800" b="1" u="sng">
                <a:solidFill>
                  <a:srgbClr val="FF0000"/>
                </a:solidFill>
                <a:latin typeface="Arial" panose="020B0604020202020204" pitchFamily="34" charset="0"/>
                <a:cs typeface="Arial" panose="020B0604020202020204" pitchFamily="34" charset="0"/>
              </a:rPr>
              <a:t># </a:t>
            </a:r>
            <a:r>
              <a:rPr lang="en-US" sz="2800" b="1" u="sng" smtClean="0">
                <a:solidFill>
                  <a:srgbClr val="FF0000"/>
                </a:solidFill>
                <a:latin typeface="Arial" panose="020B0604020202020204" pitchFamily="34" charset="0"/>
                <a:cs typeface="Arial" panose="020B0604020202020204" pitchFamily="34" charset="0"/>
              </a:rPr>
              <a:t>15</a:t>
            </a:r>
            <a:endParaRPr lang="en-GB" sz="2800" u="sng"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Network minimization</a:t>
            </a:r>
          </a:p>
        </p:txBody>
      </p:sp>
      <p:sp>
        <p:nvSpPr>
          <p:cNvPr id="4" name="Content Placeholder 5"/>
          <p:cNvSpPr>
            <a:spLocks noGrp="1"/>
          </p:cNvSpPr>
          <p:nvPr>
            <p:ph idx="1"/>
          </p:nvPr>
        </p:nvSpPr>
        <p:spPr>
          <a:xfrm>
            <a:off x="856060" y="1855591"/>
            <a:ext cx="7964384" cy="4608513"/>
          </a:xfrm>
        </p:spPr>
        <p:txBody>
          <a:bodyPr>
            <a:noAutofit/>
          </a:bodyPr>
          <a:lstStyle/>
          <a:p>
            <a:pPr algn="just"/>
            <a:r>
              <a:rPr lang="en-US" sz="2800" dirty="0">
                <a:effectLst/>
                <a:latin typeface="Arial" panose="020B0604020202020204" pitchFamily="34" charset="0"/>
                <a:cs typeface="Arial" panose="020B0604020202020204" pitchFamily="34" charset="0"/>
              </a:rPr>
              <a:t>Network minimization deals with the determination of the branches that can join all the vertex/Nodes of a network, such that lengths of the chosen branches are minimized. This minimum Network is called a minimal spanning tree</a:t>
            </a:r>
            <a:r>
              <a:rPr lang="en-US" sz="2800" dirty="0">
                <a:effectLst/>
                <a:latin typeface="TimesNewRoman"/>
              </a:rPr>
              <a:t>.</a:t>
            </a:r>
            <a:endParaRPr lang="en-US" sz="2800" dirty="0">
              <a:effectLst/>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Procedure</a:t>
            </a:r>
            <a:endParaRPr lang="en-GB" dirty="0">
              <a:solidFill>
                <a:srgbClr val="FF0000"/>
              </a:solidFill>
            </a:endParaRPr>
          </a:p>
        </p:txBody>
      </p:sp>
      <p:sp>
        <p:nvSpPr>
          <p:cNvPr id="3" name="Content Placeholder 2"/>
          <p:cNvSpPr>
            <a:spLocks noGrp="1"/>
          </p:cNvSpPr>
          <p:nvPr>
            <p:ph idx="1"/>
          </p:nvPr>
        </p:nvSpPr>
        <p:spPr/>
        <p:txBody>
          <a:bodyPr/>
          <a:lstStyle/>
          <a:p>
            <a:r>
              <a:rPr lang="en-US" dirty="0" smtClean="0"/>
              <a:t>Start from the node with minimum edge weight.</a:t>
            </a:r>
          </a:p>
          <a:p>
            <a:r>
              <a:rPr lang="en-US" dirty="0" smtClean="0"/>
              <a:t>Exactly one path between two nodes. Cycle or loop not acceptable.</a:t>
            </a:r>
          </a:p>
          <a:p>
            <a:r>
              <a:rPr lang="en-US" dirty="0" smtClean="0"/>
              <a:t>All vertices must be connected.</a:t>
            </a:r>
          </a:p>
          <a:p>
            <a:r>
              <a:rPr lang="en-US" dirty="0" smtClean="0"/>
              <a:t>n vertices, (n-1) edges.</a:t>
            </a:r>
          </a:p>
          <a:p>
            <a:r>
              <a:rPr lang="en-US" dirty="0" smtClean="0"/>
              <a:t>Connect smallest to highest values.</a:t>
            </a:r>
          </a:p>
          <a:p>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Minimal spanning </a:t>
            </a:r>
            <a:r>
              <a:rPr lang="en-US" sz="4000" dirty="0" smtClean="0">
                <a:solidFill>
                  <a:srgbClr val="C00000"/>
                </a:solidFill>
                <a:latin typeface="Arial" panose="020B0604020202020204" pitchFamily="34" charset="0"/>
                <a:cs typeface="Arial" panose="020B0604020202020204" pitchFamily="34" charset="0"/>
              </a:rPr>
              <a:t>tree</a:t>
            </a:r>
            <a:br>
              <a:rPr lang="en-US" sz="4000" dirty="0" smtClean="0">
                <a:solidFill>
                  <a:srgbClr val="C00000"/>
                </a:solidFill>
                <a:latin typeface="Arial" panose="020B0604020202020204" pitchFamily="34" charset="0"/>
                <a:cs typeface="Arial" panose="020B0604020202020204" pitchFamily="34" charset="0"/>
              </a:rPr>
            </a:br>
            <a:r>
              <a:rPr lang="en-GB" sz="3100" dirty="0">
                <a:solidFill>
                  <a:srgbClr val="FF0000"/>
                </a:solidFill>
                <a:effectLst/>
              </a:rPr>
              <a:t>Prim's </a:t>
            </a:r>
            <a:r>
              <a:rPr lang="en-GB" sz="3100" dirty="0" smtClean="0">
                <a:solidFill>
                  <a:srgbClr val="FF0000"/>
                </a:solidFill>
                <a:effectLst/>
              </a:rPr>
              <a:t>algorithm (Greedy Algorithm)</a:t>
            </a:r>
            <a:endParaRPr lang="en-US" sz="3100" dirty="0">
              <a:solidFill>
                <a:srgbClr val="FF0000"/>
              </a:solidFill>
              <a:latin typeface="Arial" panose="020B0604020202020204" pitchFamily="34" charset="0"/>
              <a:cs typeface="Arial" panose="020B0604020202020204" pitchFamily="34" charset="0"/>
            </a:endParaRPr>
          </a:p>
        </p:txBody>
      </p:sp>
      <p:sp>
        <p:nvSpPr>
          <p:cNvPr id="6" name="Content Placeholder 5"/>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856059" y="2097088"/>
            <a:ext cx="7429499" cy="3853546"/>
          </a:xfrm>
          <a:prstGeom prst="rect">
            <a:avLst/>
          </a:prstGeom>
        </p:spPr>
      </p:pic>
      <p:sp>
        <p:nvSpPr>
          <p:cNvPr id="4" name="Rectangle 3"/>
          <p:cNvSpPr/>
          <p:nvPr/>
        </p:nvSpPr>
        <p:spPr>
          <a:xfrm>
            <a:off x="2504047" y="4121835"/>
            <a:ext cx="196949" cy="3235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6</a:t>
            </a:r>
          </a:p>
        </p:txBody>
      </p:sp>
      <p:sp>
        <p:nvSpPr>
          <p:cNvPr id="7" name="Rectangle 6"/>
          <p:cNvSpPr/>
          <p:nvPr/>
        </p:nvSpPr>
        <p:spPr>
          <a:xfrm>
            <a:off x="3319976" y="4445391"/>
            <a:ext cx="196948" cy="1969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5</a:t>
            </a:r>
          </a:p>
        </p:txBody>
      </p:sp>
      <p:sp>
        <p:nvSpPr>
          <p:cNvPr id="5" name="Oval 4"/>
          <p:cNvSpPr/>
          <p:nvPr/>
        </p:nvSpPr>
        <p:spPr>
          <a:xfrm>
            <a:off x="2222695" y="3474721"/>
            <a:ext cx="393894" cy="323556"/>
          </a:xfrm>
          <a:prstGeom prst="ellipse">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Minimal spanning tree</a:t>
            </a:r>
          </a:p>
        </p:txBody>
      </p:sp>
      <p:sp>
        <p:nvSpPr>
          <p:cNvPr id="6" name="Content Placeholder 5"/>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1446745" y="1729535"/>
            <a:ext cx="6248125" cy="460851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Minimal spanning tree</a:t>
            </a:r>
          </a:p>
        </p:txBody>
      </p:sp>
      <p:sp>
        <p:nvSpPr>
          <p:cNvPr id="6" name="Content Placeholder 5"/>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2508646" y="2097088"/>
            <a:ext cx="4124325" cy="1025940"/>
          </a:xfrm>
          <a:prstGeom prst="rect">
            <a:avLst/>
          </a:prstGeom>
        </p:spPr>
      </p:pic>
      <p:pic>
        <p:nvPicPr>
          <p:cNvPr id="4" name="Picture 3"/>
          <p:cNvPicPr>
            <a:picLocks noChangeAspect="1"/>
          </p:cNvPicPr>
          <p:nvPr/>
        </p:nvPicPr>
        <p:blipFill>
          <a:blip r:embed="rId3"/>
          <a:stretch>
            <a:fillRect/>
          </a:stretch>
        </p:blipFill>
        <p:spPr>
          <a:xfrm>
            <a:off x="2508646" y="3123027"/>
            <a:ext cx="4162425" cy="1025939"/>
          </a:xfrm>
          <a:prstGeom prst="rect">
            <a:avLst/>
          </a:prstGeom>
        </p:spPr>
      </p:pic>
      <p:pic>
        <p:nvPicPr>
          <p:cNvPr id="7" name="Picture 6"/>
          <p:cNvPicPr>
            <a:picLocks noChangeAspect="1"/>
          </p:cNvPicPr>
          <p:nvPr/>
        </p:nvPicPr>
        <p:blipFill>
          <a:blip r:embed="rId4"/>
          <a:stretch>
            <a:fillRect/>
          </a:stretch>
        </p:blipFill>
        <p:spPr>
          <a:xfrm>
            <a:off x="1933959" y="4148966"/>
            <a:ext cx="5311798" cy="24193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Minimal spanning tree</a:t>
            </a:r>
          </a:p>
        </p:txBody>
      </p:sp>
      <p:sp>
        <p:nvSpPr>
          <p:cNvPr id="6" name="Content Placeholder 5"/>
          <p:cNvSpPr>
            <a:spLocks noGrp="1"/>
          </p:cNvSpPr>
          <p:nvPr>
            <p:ph idx="1"/>
          </p:nvPr>
        </p:nvSpPr>
        <p:spPr>
          <a:xfrm>
            <a:off x="856060" y="2249486"/>
            <a:ext cx="7429499" cy="4608513"/>
          </a:xfrm>
        </p:spPr>
        <p:txBody>
          <a:bodyPr>
            <a:normAutofit/>
          </a:bodyPr>
          <a:lstStyle/>
          <a:p>
            <a:pPr marL="0" indent="0">
              <a:buNone/>
            </a:pPr>
            <a:r>
              <a:rPr lang="en-US" dirty="0">
                <a:effectLst/>
                <a:latin typeface="Arial" panose="020B0604020202020204" pitchFamily="34" charset="0"/>
                <a:cs typeface="Arial" panose="020B0604020202020204" pitchFamily="34" charset="0"/>
              </a:rPr>
              <a:t>Minimum distance= 1+3+2+3+5 = 14</a:t>
            </a: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Minimal spanning tree</a:t>
            </a:r>
          </a:p>
        </p:txBody>
      </p:sp>
      <p:sp>
        <p:nvSpPr>
          <p:cNvPr id="6" name="Content Placeholder 5"/>
          <p:cNvSpPr>
            <a:spLocks noGrp="1"/>
          </p:cNvSpPr>
          <p:nvPr>
            <p:ph idx="1"/>
          </p:nvPr>
        </p:nvSpPr>
        <p:spPr>
          <a:xfrm>
            <a:off x="856060" y="2249486"/>
            <a:ext cx="7429499" cy="4608513"/>
          </a:xfrm>
        </p:spPr>
        <p:txBody>
          <a:bodyPr>
            <a:normAutofit/>
          </a:bodyPr>
          <a:lstStyle/>
          <a:p>
            <a:pPr marL="0" indent="0" algn="just">
              <a:buNone/>
            </a:pPr>
            <a:r>
              <a:rPr lang="en-US" dirty="0">
                <a:effectLst/>
                <a:latin typeface="Arial" panose="020B0604020202020204" pitchFamily="34" charset="0"/>
                <a:cs typeface="Arial" panose="020B0604020202020204" pitchFamily="34" charset="0"/>
              </a:rPr>
              <a:t>Midwest TV cable company is in process of providing cable service to five new housing development areas. The given figure depicts possible tv linkages among five areas. The cable miles are shown on each arc. Determine the most economical cable network.  </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Minimal spanning tree</a:t>
            </a:r>
          </a:p>
        </p:txBody>
      </p:sp>
      <p:sp>
        <p:nvSpPr>
          <p:cNvPr id="6" name="Content Placeholder 5"/>
          <p:cNvSpPr>
            <a:spLocks noGrp="1"/>
          </p:cNvSpPr>
          <p:nvPr>
            <p:ph idx="1"/>
          </p:nvPr>
        </p:nvSpPr>
        <p:spPr>
          <a:xfrm>
            <a:off x="856060" y="2249486"/>
            <a:ext cx="7429499" cy="4608513"/>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1491174" y="2097088"/>
            <a:ext cx="5725551" cy="41423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Minimal spanning tree</a:t>
            </a:r>
          </a:p>
        </p:txBody>
      </p:sp>
      <mc:AlternateContent xmlns:mc="http://schemas.openxmlformats.org/markup-compatibility/2006" xmlns:a14="http://schemas.microsoft.com/office/drawing/2010/main">
        <mc:Choice Requires="a14">
          <p:sp>
            <p:nvSpPr>
              <p:cNvPr id="5" name="Content Placeholder 5"/>
              <p:cNvSpPr txBox="1"/>
              <p:nvPr/>
            </p:nvSpPr>
            <p:spPr>
              <a:xfrm>
                <a:off x="856059" y="2025405"/>
                <a:ext cx="7429499" cy="460851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27000" dist="38100" dir="2700000" algn="tl">
                        <a:srgbClr val="000000">
                          <a:alpha val="33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27000" dist="38100" dir="2700000" algn="tl">
                        <a:srgbClr val="000000">
                          <a:alpha val="33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27000" dist="38100" dir="2700000" algn="tl">
                        <a:srgbClr val="000000">
                          <a:alpha val="33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just">
                  <a:buFont typeface="Arial" panose="020B0604020202020204" pitchFamily="34" charset="0"/>
                  <a:buNone/>
                </a:pPr>
                <a:r>
                  <a:rPr lang="en-US" sz="2600" b="1" dirty="0">
                    <a:solidFill>
                      <a:prstClr val="black"/>
                    </a:solidFill>
                    <a:effectLst/>
                    <a:latin typeface="Arial" panose="020B0604020202020204" pitchFamily="34" charset="0"/>
                    <a:cs typeface="Arial" panose="020B0604020202020204" pitchFamily="34" charset="0"/>
                  </a:rPr>
                  <a:t>Iteration 1: I1</a:t>
                </a:r>
              </a:p>
              <a:p>
                <a:pPr marL="0" indent="0" algn="just">
                  <a:buNone/>
                </a:pPr>
                <a:r>
                  <a:rPr lang="en-US" dirty="0">
                    <a:effectLst/>
                    <a:latin typeface="Arial" panose="020B0604020202020204" pitchFamily="34" charset="0"/>
                    <a:cs typeface="Arial" panose="020B0604020202020204" pitchFamily="34" charset="0"/>
                  </a:rPr>
                  <a:t>Start with node 1, </a:t>
                </a:r>
                <a14:m>
                  <m:oMath xmlns:m="http://schemas.openxmlformats.org/officeDocument/2006/math">
                    <m:sSub>
                      <m:sSubPr>
                        <m:ctrlPr>
                          <a:rPr lang="en-US" i="1" smtClean="0">
                            <a:effectLst/>
                            <a:latin typeface="Cambria Math" panose="02040503050406030204"/>
                            <a:cs typeface="Arial" panose="020B0604020202020204" pitchFamily="34" charset="0"/>
                          </a:rPr>
                        </m:ctrlPr>
                      </m:sSubPr>
                      <m:e>
                        <m:r>
                          <a:rPr lang="en-US" b="0" i="1" smtClean="0">
                            <a:effectLst/>
                            <a:latin typeface="Cambria Math" panose="02040503050406030204" pitchFamily="18" charset="0"/>
                            <a:cs typeface="Arial" panose="020B0604020202020204" pitchFamily="34" charset="0"/>
                          </a:rPr>
                          <m:t>𝑐</m:t>
                        </m:r>
                      </m:e>
                      <m:sub>
                        <m:r>
                          <a:rPr lang="en-US" b="0" i="1" smtClean="0">
                            <a:effectLst/>
                            <a:latin typeface="Cambria Math" panose="02040503050406030204" pitchFamily="18" charset="0"/>
                            <a:cs typeface="Arial" panose="020B0604020202020204" pitchFamily="34" charset="0"/>
                          </a:rPr>
                          <m:t>1</m:t>
                        </m:r>
                      </m:sub>
                    </m:sSub>
                    <m:r>
                      <a:rPr lang="en-US" b="0" i="1" smtClean="0">
                        <a:effectLst/>
                        <a:latin typeface="Cambria Math" panose="02040503050406030204" pitchFamily="18" charset="0"/>
                        <a:cs typeface="Arial" panose="020B0604020202020204" pitchFamily="34" charset="0"/>
                      </a:rPr>
                      <m:t>=</m:t>
                    </m:r>
                    <m:d>
                      <m:dPr>
                        <m:begChr m:val="{"/>
                        <m:endChr m:val="}"/>
                        <m:ctrlPr>
                          <a:rPr lang="en-US" b="0" i="1" smtClean="0">
                            <a:effectLst/>
                            <a:latin typeface="Cambria Math" panose="02040503050406030204"/>
                            <a:cs typeface="Arial" panose="020B0604020202020204" pitchFamily="34" charset="0"/>
                          </a:rPr>
                        </m:ctrlPr>
                      </m:dPr>
                      <m:e>
                        <m:r>
                          <a:rPr lang="en-US" b="0" i="1" smtClean="0">
                            <a:effectLst/>
                            <a:latin typeface="Cambria Math" panose="02040503050406030204" pitchFamily="18" charset="0"/>
                            <a:cs typeface="Arial" panose="020B0604020202020204" pitchFamily="34" charset="0"/>
                          </a:rPr>
                          <m:t>1</m:t>
                        </m:r>
                      </m:e>
                    </m:d>
                  </m:oMath>
                </a14:m>
                <a:r>
                  <a:rPr lang="en-US" dirty="0">
                    <a:effectLst/>
                    <a:latin typeface="Arial" panose="020B0604020202020204" pitchFamily="34" charset="0"/>
                    <a:cs typeface="Arial" panose="020B0604020202020204" pitchFamily="34" charset="0"/>
                  </a:rPr>
                  <a:t>,</a:t>
                </a:r>
                <a14:m>
                  <m:oMath xmlns:m="http://schemas.openxmlformats.org/officeDocument/2006/math">
                    <m:sSub>
                      <m:sSubPr>
                        <m:ctrlPr>
                          <a:rPr lang="en-US" i="1">
                            <a:effectLst/>
                            <a:latin typeface="Cambria Math" panose="02040503050406030204"/>
                            <a:cs typeface="Arial" panose="020B0604020202020204" pitchFamily="34" charset="0"/>
                          </a:rPr>
                        </m:ctrlPr>
                      </m:sSubPr>
                      <m:e>
                        <m:r>
                          <a:rPr lang="en-US" b="0" i="1" smtClean="0">
                            <a:effectLst/>
                            <a:latin typeface="Cambria Math" panose="02040503050406030204" pitchFamily="18" charset="0"/>
                            <a:cs typeface="Arial" panose="020B0604020202020204" pitchFamily="34" charset="0"/>
                          </a:rPr>
                          <m:t> </m:t>
                        </m:r>
                        <m:r>
                          <a:rPr lang="en-US" i="1">
                            <a:effectLst/>
                            <a:latin typeface="Cambria Math" panose="02040503050406030204" pitchFamily="18" charset="0"/>
                            <a:cs typeface="Arial" panose="020B0604020202020204" pitchFamily="34" charset="0"/>
                          </a:rPr>
                          <m:t>𝑐</m:t>
                        </m:r>
                      </m:e>
                      <m:sub>
                        <m:r>
                          <a:rPr lang="en-US" i="1">
                            <a:effectLst/>
                            <a:latin typeface="Cambria Math" panose="02040503050406030204" pitchFamily="18" charset="0"/>
                            <a:cs typeface="Arial" panose="020B0604020202020204" pitchFamily="34" charset="0"/>
                          </a:rPr>
                          <m:t>1</m:t>
                        </m:r>
                      </m:sub>
                    </m:sSub>
                    <m:r>
                      <a:rPr lang="en-US" i="1">
                        <a:effectLst/>
                        <a:latin typeface="Cambria Math" panose="02040503050406030204" pitchFamily="18" charset="0"/>
                        <a:cs typeface="Arial" panose="020B0604020202020204" pitchFamily="34" charset="0"/>
                      </a:rPr>
                      <m:t>=</m:t>
                    </m:r>
                    <m:d>
                      <m:dPr>
                        <m:begChr m:val="{"/>
                        <m:endChr m:val="}"/>
                        <m:ctrlPr>
                          <a:rPr lang="en-US" i="1">
                            <a:effectLst/>
                            <a:latin typeface="Cambria Math" panose="02040503050406030204"/>
                            <a:cs typeface="Arial" panose="020B0604020202020204" pitchFamily="34" charset="0"/>
                          </a:rPr>
                        </m:ctrlPr>
                      </m:dPr>
                      <m:e>
                        <m:r>
                          <a:rPr lang="en-US" b="0" i="1" smtClean="0">
                            <a:effectLst/>
                            <a:latin typeface="Cambria Math" panose="02040503050406030204" pitchFamily="18" charset="0"/>
                            <a:cs typeface="Arial" panose="020B0604020202020204" pitchFamily="34" charset="0"/>
                          </a:rPr>
                          <m:t>2, 3, 4, 5, 6</m:t>
                        </m:r>
                      </m:e>
                    </m:d>
                  </m:oMath>
                </a14:m>
                <a:endParaRPr lang="en-US" dirty="0">
                  <a:effectLst/>
                  <a:latin typeface="Arial" panose="020B0604020202020204" pitchFamily="34" charset="0"/>
                  <a:cs typeface="Arial" panose="020B0604020202020204" pitchFamily="34" charset="0"/>
                </a:endParaRPr>
              </a:p>
              <a:p>
                <a:pPr marL="0" indent="0" algn="just">
                  <a:buNone/>
                </a:pPr>
                <a:r>
                  <a:rPr lang="en-US" sz="2600" b="1" dirty="0">
                    <a:solidFill>
                      <a:prstClr val="black"/>
                    </a:solidFill>
                    <a:effectLst/>
                    <a:latin typeface="Arial" panose="020B0604020202020204" pitchFamily="34" charset="0"/>
                    <a:cs typeface="Arial" panose="020B0604020202020204" pitchFamily="34" charset="0"/>
                  </a:rPr>
                  <a:t>Iteration 1: I2</a:t>
                </a:r>
              </a:p>
              <a:p>
                <a:pPr marL="0" indent="0" algn="just">
                  <a:buNone/>
                </a:pPr>
                <a:r>
                  <a:rPr lang="en-US" dirty="0">
                    <a:effectLst/>
                    <a:latin typeface="Arial" panose="020B0604020202020204" pitchFamily="34" charset="0"/>
                    <a:cs typeface="Arial" panose="020B0604020202020204" pitchFamily="34" charset="0"/>
                  </a:rPr>
                  <a:t>Node 1 can be connected to node 2, 3, 4, 5, but we have connected node 1 with 2 because it has a minimum distance, </a:t>
                </a:r>
                <a14:m>
                  <m:oMath xmlns:m="http://schemas.openxmlformats.org/officeDocument/2006/math">
                    <m:sSub>
                      <m:sSubPr>
                        <m:ctrlPr>
                          <a:rPr lang="en-US" i="1">
                            <a:effectLst/>
                            <a:latin typeface="Cambria Math" panose="02040503050406030204"/>
                            <a:cs typeface="Arial" panose="020B0604020202020204" pitchFamily="34" charset="0"/>
                          </a:rPr>
                        </m:ctrlPr>
                      </m:sSubPr>
                      <m:e>
                        <m:r>
                          <a:rPr lang="en-US" i="1">
                            <a:effectLst/>
                            <a:latin typeface="Cambria Math" panose="02040503050406030204" pitchFamily="18" charset="0"/>
                            <a:cs typeface="Arial" panose="020B0604020202020204" pitchFamily="34" charset="0"/>
                          </a:rPr>
                          <m:t>𝑐</m:t>
                        </m:r>
                      </m:e>
                      <m:sub>
                        <m:r>
                          <a:rPr lang="en-US" b="0" i="1" smtClean="0">
                            <a:effectLst/>
                            <a:latin typeface="Cambria Math" panose="02040503050406030204" pitchFamily="18" charset="0"/>
                            <a:cs typeface="Arial" panose="020B0604020202020204" pitchFamily="34" charset="0"/>
                          </a:rPr>
                          <m:t>2</m:t>
                        </m:r>
                      </m:sub>
                    </m:sSub>
                    <m:r>
                      <a:rPr lang="en-US" i="1">
                        <a:effectLst/>
                        <a:latin typeface="Cambria Math" panose="02040503050406030204" pitchFamily="18" charset="0"/>
                        <a:cs typeface="Arial" panose="020B0604020202020204" pitchFamily="34" charset="0"/>
                      </a:rPr>
                      <m:t>=</m:t>
                    </m:r>
                    <m:d>
                      <m:dPr>
                        <m:begChr m:val="{"/>
                        <m:endChr m:val="}"/>
                        <m:ctrlPr>
                          <a:rPr lang="en-US" i="1">
                            <a:effectLst/>
                            <a:latin typeface="Cambria Math" panose="02040503050406030204"/>
                            <a:cs typeface="Arial" panose="020B0604020202020204" pitchFamily="34" charset="0"/>
                          </a:rPr>
                        </m:ctrlPr>
                      </m:dPr>
                      <m:e>
                        <m:r>
                          <a:rPr lang="en-US" i="1">
                            <a:effectLst/>
                            <a:latin typeface="Cambria Math" panose="02040503050406030204" pitchFamily="18" charset="0"/>
                            <a:cs typeface="Arial" panose="020B0604020202020204" pitchFamily="34" charset="0"/>
                          </a:rPr>
                          <m:t>1</m:t>
                        </m:r>
                        <m:r>
                          <a:rPr lang="en-US" b="0" i="1" smtClean="0">
                            <a:effectLst/>
                            <a:latin typeface="Cambria Math" panose="02040503050406030204" pitchFamily="18" charset="0"/>
                            <a:cs typeface="Arial" panose="020B0604020202020204" pitchFamily="34" charset="0"/>
                          </a:rPr>
                          <m:t>, 2</m:t>
                        </m:r>
                      </m:e>
                    </m:d>
                  </m:oMath>
                </a14:m>
                <a:r>
                  <a:rPr lang="en-US" dirty="0">
                    <a:effectLst/>
                    <a:latin typeface="Arial" panose="020B0604020202020204" pitchFamily="34" charset="0"/>
                    <a:cs typeface="Arial" panose="020B0604020202020204" pitchFamily="34" charset="0"/>
                  </a:rPr>
                  <a:t>,</a:t>
                </a:r>
                <a14:m>
                  <m:oMath xmlns:m="http://schemas.openxmlformats.org/officeDocument/2006/math">
                    <m:sSub>
                      <m:sSubPr>
                        <m:ctrlPr>
                          <a:rPr lang="en-US" i="1">
                            <a:effectLst/>
                            <a:latin typeface="Cambria Math" panose="02040503050406030204"/>
                            <a:cs typeface="Arial" panose="020B0604020202020204" pitchFamily="34" charset="0"/>
                          </a:rPr>
                        </m:ctrlPr>
                      </m:sSubPr>
                      <m:e>
                        <m:r>
                          <a:rPr lang="en-US" i="1">
                            <a:effectLst/>
                            <a:latin typeface="Cambria Math" panose="02040503050406030204" pitchFamily="18" charset="0"/>
                            <a:cs typeface="Arial" panose="020B0604020202020204" pitchFamily="34" charset="0"/>
                          </a:rPr>
                          <m:t> </m:t>
                        </m:r>
                        <m:r>
                          <a:rPr lang="en-US" i="1">
                            <a:effectLst/>
                            <a:latin typeface="Cambria Math" panose="02040503050406030204" pitchFamily="18" charset="0"/>
                            <a:cs typeface="Arial" panose="020B0604020202020204" pitchFamily="34" charset="0"/>
                          </a:rPr>
                          <m:t>𝑐</m:t>
                        </m:r>
                      </m:e>
                      <m:sub>
                        <m:r>
                          <a:rPr lang="en-US" b="0" i="1" smtClean="0">
                            <a:effectLst/>
                            <a:latin typeface="Cambria Math" panose="02040503050406030204" pitchFamily="18" charset="0"/>
                            <a:cs typeface="Arial" panose="020B0604020202020204" pitchFamily="34" charset="0"/>
                          </a:rPr>
                          <m:t>2</m:t>
                        </m:r>
                      </m:sub>
                    </m:sSub>
                    <m:r>
                      <a:rPr lang="en-US" i="1">
                        <a:effectLst/>
                        <a:latin typeface="Cambria Math" panose="02040503050406030204" pitchFamily="18" charset="0"/>
                        <a:cs typeface="Arial" panose="020B0604020202020204" pitchFamily="34" charset="0"/>
                      </a:rPr>
                      <m:t>=</m:t>
                    </m:r>
                    <m:d>
                      <m:dPr>
                        <m:begChr m:val="{"/>
                        <m:endChr m:val="}"/>
                        <m:ctrlPr>
                          <a:rPr lang="en-US" i="1">
                            <a:effectLst/>
                            <a:latin typeface="Cambria Math" panose="02040503050406030204"/>
                            <a:cs typeface="Arial" panose="020B0604020202020204" pitchFamily="34" charset="0"/>
                          </a:rPr>
                        </m:ctrlPr>
                      </m:dPr>
                      <m:e>
                        <m:r>
                          <a:rPr lang="en-US" i="1">
                            <a:effectLst/>
                            <a:latin typeface="Cambria Math" panose="02040503050406030204" pitchFamily="18" charset="0"/>
                            <a:cs typeface="Arial" panose="020B0604020202020204" pitchFamily="34" charset="0"/>
                          </a:rPr>
                          <m:t>3, 4, 5, 6</m:t>
                        </m:r>
                      </m:e>
                    </m:d>
                  </m:oMath>
                </a14:m>
                <a:endParaRPr lang="en-US" dirty="0">
                  <a:effectLst/>
                  <a:latin typeface="Arial" panose="020B0604020202020204" pitchFamily="34" charset="0"/>
                  <a:cs typeface="Arial" panose="020B0604020202020204" pitchFamily="34" charset="0"/>
                </a:endParaRPr>
              </a:p>
              <a:p>
                <a:pPr marL="0" indent="0" algn="just">
                  <a:buNone/>
                </a:pPr>
                <a:r>
                  <a:rPr lang="en-US" sz="2600" b="1" dirty="0">
                    <a:solidFill>
                      <a:prstClr val="black"/>
                    </a:solidFill>
                    <a:effectLst/>
                    <a:latin typeface="Arial" panose="020B0604020202020204" pitchFamily="34" charset="0"/>
                    <a:cs typeface="Arial" panose="020B0604020202020204" pitchFamily="34" charset="0"/>
                  </a:rPr>
                  <a:t>Iteration 1: I3</a:t>
                </a:r>
              </a:p>
              <a:p>
                <a:pPr marL="0" indent="0" algn="just">
                  <a:buNone/>
                </a:pPr>
                <a:r>
                  <a:rPr lang="en-US" dirty="0">
                    <a:effectLst/>
                    <a:latin typeface="Arial" panose="020B0604020202020204" pitchFamily="34" charset="0"/>
                    <a:cs typeface="Arial" panose="020B0604020202020204" pitchFamily="34" charset="0"/>
                  </a:rPr>
                  <a:t>Node 1 or 2 can be connected to node 3, 4, 5, 6 but we have connected node 2 with 5 because it has a minimum distance, </a:t>
                </a:r>
                <a14:m>
                  <m:oMath xmlns:m="http://schemas.openxmlformats.org/officeDocument/2006/math">
                    <m:sSub>
                      <m:sSubPr>
                        <m:ctrlPr>
                          <a:rPr lang="en-US" i="1">
                            <a:effectLst/>
                            <a:latin typeface="Cambria Math" panose="02040503050406030204"/>
                            <a:cs typeface="Arial" panose="020B0604020202020204" pitchFamily="34" charset="0"/>
                          </a:rPr>
                        </m:ctrlPr>
                      </m:sSubPr>
                      <m:e>
                        <m:r>
                          <a:rPr lang="en-US" i="1">
                            <a:effectLst/>
                            <a:latin typeface="Cambria Math" panose="02040503050406030204" pitchFamily="18" charset="0"/>
                            <a:cs typeface="Arial" panose="020B0604020202020204" pitchFamily="34" charset="0"/>
                          </a:rPr>
                          <m:t>𝑐</m:t>
                        </m:r>
                      </m:e>
                      <m:sub>
                        <m:r>
                          <a:rPr lang="en-US" b="0" i="1" smtClean="0">
                            <a:effectLst/>
                            <a:latin typeface="Cambria Math" panose="02040503050406030204" pitchFamily="18" charset="0"/>
                            <a:cs typeface="Arial" panose="020B0604020202020204" pitchFamily="34" charset="0"/>
                          </a:rPr>
                          <m:t>3</m:t>
                        </m:r>
                      </m:sub>
                    </m:sSub>
                    <m:r>
                      <a:rPr lang="en-US" i="1">
                        <a:effectLst/>
                        <a:latin typeface="Cambria Math" panose="02040503050406030204" pitchFamily="18" charset="0"/>
                        <a:cs typeface="Arial" panose="020B0604020202020204" pitchFamily="34" charset="0"/>
                      </a:rPr>
                      <m:t>=</m:t>
                    </m:r>
                    <m:d>
                      <m:dPr>
                        <m:begChr m:val="{"/>
                        <m:endChr m:val="}"/>
                        <m:ctrlPr>
                          <a:rPr lang="en-US" i="1">
                            <a:effectLst/>
                            <a:latin typeface="Cambria Math" panose="02040503050406030204"/>
                            <a:cs typeface="Arial" panose="020B0604020202020204" pitchFamily="34" charset="0"/>
                          </a:rPr>
                        </m:ctrlPr>
                      </m:dPr>
                      <m:e>
                        <m:r>
                          <a:rPr lang="en-US" i="1">
                            <a:effectLst/>
                            <a:latin typeface="Cambria Math" panose="02040503050406030204" pitchFamily="18" charset="0"/>
                            <a:cs typeface="Arial" panose="020B0604020202020204" pitchFamily="34" charset="0"/>
                          </a:rPr>
                          <m:t>1, 2</m:t>
                        </m:r>
                        <m:r>
                          <a:rPr lang="en-US" b="0" i="1" smtClean="0">
                            <a:effectLst/>
                            <a:latin typeface="Cambria Math" panose="02040503050406030204" pitchFamily="18" charset="0"/>
                            <a:cs typeface="Arial" panose="020B0604020202020204" pitchFamily="34" charset="0"/>
                          </a:rPr>
                          <m:t>, 5</m:t>
                        </m:r>
                      </m:e>
                    </m:d>
                  </m:oMath>
                </a14:m>
                <a:r>
                  <a:rPr lang="en-US" dirty="0">
                    <a:effectLst/>
                    <a:latin typeface="Arial" panose="020B0604020202020204" pitchFamily="34" charset="0"/>
                    <a:cs typeface="Arial" panose="020B0604020202020204" pitchFamily="34" charset="0"/>
                  </a:rPr>
                  <a:t>,</a:t>
                </a:r>
                <a14:m>
                  <m:oMath xmlns:m="http://schemas.openxmlformats.org/officeDocument/2006/math">
                    <m:sSub>
                      <m:sSubPr>
                        <m:ctrlPr>
                          <a:rPr lang="en-US" i="1">
                            <a:effectLst/>
                            <a:latin typeface="Cambria Math" panose="02040503050406030204"/>
                            <a:cs typeface="Arial" panose="020B0604020202020204" pitchFamily="34" charset="0"/>
                          </a:rPr>
                        </m:ctrlPr>
                      </m:sSubPr>
                      <m:e>
                        <m:r>
                          <a:rPr lang="en-US" i="1">
                            <a:effectLst/>
                            <a:latin typeface="Cambria Math" panose="02040503050406030204" pitchFamily="18" charset="0"/>
                            <a:cs typeface="Arial" panose="020B0604020202020204" pitchFamily="34" charset="0"/>
                          </a:rPr>
                          <m:t> </m:t>
                        </m:r>
                        <m:r>
                          <a:rPr lang="en-US" i="1">
                            <a:effectLst/>
                            <a:latin typeface="Cambria Math" panose="02040503050406030204" pitchFamily="18" charset="0"/>
                            <a:cs typeface="Arial" panose="020B0604020202020204" pitchFamily="34" charset="0"/>
                          </a:rPr>
                          <m:t>𝑐</m:t>
                        </m:r>
                      </m:e>
                      <m:sub>
                        <m:r>
                          <a:rPr lang="en-US" b="0" i="1" smtClean="0">
                            <a:effectLst/>
                            <a:latin typeface="Cambria Math" panose="02040503050406030204" pitchFamily="18" charset="0"/>
                            <a:cs typeface="Arial" panose="020B0604020202020204" pitchFamily="34" charset="0"/>
                          </a:rPr>
                          <m:t>3</m:t>
                        </m:r>
                      </m:sub>
                    </m:sSub>
                    <m:r>
                      <a:rPr lang="en-US" i="1">
                        <a:effectLst/>
                        <a:latin typeface="Cambria Math" panose="02040503050406030204" pitchFamily="18" charset="0"/>
                        <a:cs typeface="Arial" panose="020B0604020202020204" pitchFamily="34" charset="0"/>
                      </a:rPr>
                      <m:t>=</m:t>
                    </m:r>
                    <m:d>
                      <m:dPr>
                        <m:begChr m:val="{"/>
                        <m:endChr m:val="}"/>
                        <m:ctrlPr>
                          <a:rPr lang="en-US" i="1">
                            <a:effectLst/>
                            <a:latin typeface="Cambria Math" panose="02040503050406030204"/>
                            <a:cs typeface="Arial" panose="020B0604020202020204" pitchFamily="34" charset="0"/>
                          </a:rPr>
                        </m:ctrlPr>
                      </m:dPr>
                      <m:e>
                        <m:r>
                          <a:rPr lang="en-US" i="1">
                            <a:effectLst/>
                            <a:latin typeface="Cambria Math" panose="02040503050406030204" pitchFamily="18" charset="0"/>
                            <a:cs typeface="Arial" panose="020B0604020202020204" pitchFamily="34" charset="0"/>
                          </a:rPr>
                          <m:t>3, 4, 6</m:t>
                        </m:r>
                      </m:e>
                    </m:d>
                  </m:oMath>
                </a14:m>
                <a:endParaRPr lang="en-US" dirty="0">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mc:Choice>
        <mc:Fallback xmlns="">
          <p:sp>
            <p:nvSpPr>
              <p:cNvPr id="5" name="Content Placeholder 5"/>
              <p:cNvSpPr txBox="1">
                <a:spLocks noRot="1" noChangeAspect="1" noMove="1" noResize="1" noEditPoints="1" noAdjustHandles="1" noChangeArrowheads="1" noChangeShapeType="1" noTextEdit="1"/>
              </p:cNvSpPr>
              <p:nvPr/>
            </p:nvSpPr>
            <p:spPr>
              <a:xfrm>
                <a:off x="856059" y="2025405"/>
                <a:ext cx="7429499" cy="4608513"/>
              </a:xfrm>
              <a:prstGeom prst="rect">
                <a:avLst/>
              </a:prstGeom>
              <a:blipFill rotWithShape="1">
                <a:blip r:embed="rId2"/>
                <a:stretch>
                  <a:fillRect l="-1" t="-8" r="1" b="-29113"/>
                </a:stretch>
              </a:blipFill>
            </p:spPr>
            <p:txBody>
              <a:bodyPr/>
              <a:lstStyle/>
              <a:p>
                <a:r>
                  <a:rPr lang="en-US" altLang="en-US">
                    <a:noFill/>
                  </a:rPr>
                  <a:t> </a:t>
                </a:r>
              </a:p>
            </p:txBody>
          </p:sp>
        </mc:Fallback>
      </mc:AlternateContent>
      <p:cxnSp>
        <p:nvCxnSpPr>
          <p:cNvPr id="12" name="Straight Connector 11"/>
          <p:cNvCxnSpPr/>
          <p:nvPr/>
        </p:nvCxnSpPr>
        <p:spPr>
          <a:xfrm>
            <a:off x="4276578" y="2630658"/>
            <a:ext cx="295422"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3460652" y="4431324"/>
            <a:ext cx="295422"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3756074" y="6175718"/>
            <a:ext cx="295422"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Minimal spanning tree</a:t>
            </a:r>
          </a:p>
        </p:txBody>
      </p:sp>
      <mc:AlternateContent xmlns:mc="http://schemas.openxmlformats.org/markup-compatibility/2006" xmlns:a14="http://schemas.microsoft.com/office/drawing/2010/main">
        <mc:Choice Requires="a14">
          <p:sp>
            <p:nvSpPr>
              <p:cNvPr id="5" name="Content Placeholder 5"/>
              <p:cNvSpPr txBox="1"/>
              <p:nvPr/>
            </p:nvSpPr>
            <p:spPr>
              <a:xfrm>
                <a:off x="856059" y="2025405"/>
                <a:ext cx="7429499" cy="460851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27000" dist="38100" dir="2700000" algn="tl">
                        <a:srgbClr val="000000">
                          <a:alpha val="33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27000" dist="38100" dir="2700000" algn="tl">
                        <a:srgbClr val="000000">
                          <a:alpha val="33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27000" dist="38100" dir="2700000" algn="tl">
                        <a:srgbClr val="000000">
                          <a:alpha val="33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just">
                  <a:buNone/>
                </a:pPr>
                <a:r>
                  <a:rPr lang="en-US" b="1" dirty="0">
                    <a:solidFill>
                      <a:prstClr val="black"/>
                    </a:solidFill>
                    <a:effectLst/>
                    <a:latin typeface="Arial" panose="020B0604020202020204" pitchFamily="34" charset="0"/>
                    <a:cs typeface="Arial" panose="020B0604020202020204" pitchFamily="34" charset="0"/>
                  </a:rPr>
                  <a:t>Iteration 1: I4</a:t>
                </a:r>
              </a:p>
              <a:p>
                <a:pPr marL="0" indent="0" algn="just">
                  <a:buNone/>
                </a:pPr>
                <a:r>
                  <a:rPr lang="en-US" dirty="0">
                    <a:effectLst/>
                    <a:latin typeface="Arial" panose="020B0604020202020204" pitchFamily="34" charset="0"/>
                    <a:cs typeface="Arial" panose="020B0604020202020204" pitchFamily="34" charset="0"/>
                  </a:rPr>
                  <a:t>Node 1 or 2 or 5 can be connected to node 3, 4, 6 but we have connected node 2 with 4 because it has a minimum distance, </a:t>
                </a:r>
                <a14:m>
                  <m:oMath xmlns:m="http://schemas.openxmlformats.org/officeDocument/2006/math">
                    <m:sSub>
                      <m:sSubPr>
                        <m:ctrlPr>
                          <a:rPr lang="en-US" i="1">
                            <a:effectLst/>
                            <a:latin typeface="Cambria Math" panose="02040503050406030204"/>
                            <a:cs typeface="Arial" panose="020B0604020202020204" pitchFamily="34" charset="0"/>
                          </a:rPr>
                        </m:ctrlPr>
                      </m:sSubPr>
                      <m:e>
                        <m:r>
                          <a:rPr lang="en-US" i="1">
                            <a:effectLst/>
                            <a:latin typeface="Cambria Math" panose="02040503050406030204" pitchFamily="18" charset="0"/>
                            <a:cs typeface="Arial" panose="020B0604020202020204" pitchFamily="34" charset="0"/>
                          </a:rPr>
                          <m:t>𝑐</m:t>
                        </m:r>
                      </m:e>
                      <m:sub>
                        <m:r>
                          <a:rPr lang="en-US" b="0" i="1" smtClean="0">
                            <a:effectLst/>
                            <a:latin typeface="Cambria Math" panose="02040503050406030204" pitchFamily="18" charset="0"/>
                            <a:cs typeface="Arial" panose="020B0604020202020204" pitchFamily="34" charset="0"/>
                          </a:rPr>
                          <m:t>4</m:t>
                        </m:r>
                      </m:sub>
                    </m:sSub>
                    <m:r>
                      <a:rPr lang="en-US" i="1">
                        <a:effectLst/>
                        <a:latin typeface="Cambria Math" panose="02040503050406030204" pitchFamily="18" charset="0"/>
                        <a:cs typeface="Arial" panose="020B0604020202020204" pitchFamily="34" charset="0"/>
                      </a:rPr>
                      <m:t>=</m:t>
                    </m:r>
                    <m:d>
                      <m:dPr>
                        <m:begChr m:val="{"/>
                        <m:endChr m:val="}"/>
                        <m:ctrlPr>
                          <a:rPr lang="en-US" i="1">
                            <a:effectLst/>
                            <a:latin typeface="Cambria Math" panose="02040503050406030204"/>
                            <a:cs typeface="Arial" panose="020B0604020202020204" pitchFamily="34" charset="0"/>
                          </a:rPr>
                        </m:ctrlPr>
                      </m:dPr>
                      <m:e>
                        <m:r>
                          <a:rPr lang="en-US" i="1">
                            <a:effectLst/>
                            <a:latin typeface="Cambria Math" panose="02040503050406030204" pitchFamily="18" charset="0"/>
                            <a:cs typeface="Arial" panose="020B0604020202020204" pitchFamily="34" charset="0"/>
                          </a:rPr>
                          <m:t>1, 2</m:t>
                        </m:r>
                        <m:r>
                          <a:rPr lang="en-US" b="0" i="1" smtClean="0">
                            <a:effectLst/>
                            <a:latin typeface="Cambria Math" panose="02040503050406030204" pitchFamily="18" charset="0"/>
                            <a:cs typeface="Arial" panose="020B0604020202020204" pitchFamily="34" charset="0"/>
                          </a:rPr>
                          <m:t>, 5, 4</m:t>
                        </m:r>
                      </m:e>
                    </m:d>
                  </m:oMath>
                </a14:m>
                <a:r>
                  <a:rPr lang="en-US" dirty="0">
                    <a:effectLst/>
                    <a:latin typeface="Arial" panose="020B0604020202020204" pitchFamily="34" charset="0"/>
                    <a:cs typeface="Arial" panose="020B0604020202020204" pitchFamily="34" charset="0"/>
                  </a:rPr>
                  <a:t>,</a:t>
                </a:r>
                <a14:m>
                  <m:oMath xmlns:m="http://schemas.openxmlformats.org/officeDocument/2006/math">
                    <m:sSub>
                      <m:sSubPr>
                        <m:ctrlPr>
                          <a:rPr lang="en-US" i="1">
                            <a:effectLst/>
                            <a:latin typeface="Cambria Math" panose="02040503050406030204"/>
                            <a:cs typeface="Arial" panose="020B0604020202020204" pitchFamily="34" charset="0"/>
                          </a:rPr>
                        </m:ctrlPr>
                      </m:sSubPr>
                      <m:e>
                        <m:r>
                          <a:rPr lang="en-US" i="1">
                            <a:effectLst/>
                            <a:latin typeface="Cambria Math" panose="02040503050406030204" pitchFamily="18" charset="0"/>
                            <a:cs typeface="Arial" panose="020B0604020202020204" pitchFamily="34" charset="0"/>
                          </a:rPr>
                          <m:t> </m:t>
                        </m:r>
                        <m:r>
                          <a:rPr lang="en-US" i="1">
                            <a:effectLst/>
                            <a:latin typeface="Cambria Math" panose="02040503050406030204" pitchFamily="18" charset="0"/>
                            <a:cs typeface="Arial" panose="020B0604020202020204" pitchFamily="34" charset="0"/>
                          </a:rPr>
                          <m:t>𝑐</m:t>
                        </m:r>
                      </m:e>
                      <m:sub>
                        <m:r>
                          <a:rPr lang="en-US" b="0" i="1" smtClean="0">
                            <a:effectLst/>
                            <a:latin typeface="Cambria Math" panose="02040503050406030204" pitchFamily="18" charset="0"/>
                            <a:cs typeface="Arial" panose="020B0604020202020204" pitchFamily="34" charset="0"/>
                          </a:rPr>
                          <m:t>4</m:t>
                        </m:r>
                      </m:sub>
                    </m:sSub>
                    <m:r>
                      <a:rPr lang="en-US" i="1">
                        <a:effectLst/>
                        <a:latin typeface="Cambria Math" panose="02040503050406030204" pitchFamily="18" charset="0"/>
                        <a:cs typeface="Arial" panose="020B0604020202020204" pitchFamily="34" charset="0"/>
                      </a:rPr>
                      <m:t>=</m:t>
                    </m:r>
                    <m:d>
                      <m:dPr>
                        <m:begChr m:val="{"/>
                        <m:endChr m:val="}"/>
                        <m:ctrlPr>
                          <a:rPr lang="en-US" i="1">
                            <a:effectLst/>
                            <a:latin typeface="Cambria Math" panose="02040503050406030204"/>
                            <a:cs typeface="Arial" panose="020B0604020202020204" pitchFamily="34" charset="0"/>
                          </a:rPr>
                        </m:ctrlPr>
                      </m:dPr>
                      <m:e>
                        <m:r>
                          <a:rPr lang="en-US" i="1">
                            <a:effectLst/>
                            <a:latin typeface="Cambria Math" panose="02040503050406030204" pitchFamily="18" charset="0"/>
                            <a:cs typeface="Arial" panose="020B0604020202020204" pitchFamily="34" charset="0"/>
                          </a:rPr>
                          <m:t>3, 6</m:t>
                        </m:r>
                      </m:e>
                    </m:d>
                  </m:oMath>
                </a14:m>
                <a:endParaRPr lang="en-US" dirty="0">
                  <a:effectLst/>
                  <a:latin typeface="Arial" panose="020B0604020202020204" pitchFamily="34" charset="0"/>
                  <a:cs typeface="Arial" panose="020B0604020202020204" pitchFamily="34" charset="0"/>
                </a:endParaRPr>
              </a:p>
              <a:p>
                <a:pPr marL="0" indent="0" algn="just">
                  <a:buNone/>
                </a:pPr>
                <a:r>
                  <a:rPr lang="en-US" b="1" dirty="0">
                    <a:solidFill>
                      <a:prstClr val="black"/>
                    </a:solidFill>
                    <a:effectLst/>
                    <a:latin typeface="Arial" panose="020B0604020202020204" pitchFamily="34" charset="0"/>
                    <a:cs typeface="Arial" panose="020B0604020202020204" pitchFamily="34" charset="0"/>
                  </a:rPr>
                  <a:t>Iteration 1: I5</a:t>
                </a:r>
              </a:p>
              <a:p>
                <a:pPr marL="0" indent="0" algn="just">
                  <a:buNone/>
                </a:pPr>
                <a:r>
                  <a:rPr lang="en-US" dirty="0">
                    <a:effectLst/>
                    <a:latin typeface="Arial" panose="020B0604020202020204" pitchFamily="34" charset="0"/>
                    <a:cs typeface="Arial" panose="020B0604020202020204" pitchFamily="34" charset="0"/>
                  </a:rPr>
                  <a:t>Node 1 or 2 or 5 or 4 can be connected to node 3, 6 but we have connected node 4 with 6 because it has a minimum distance, </a:t>
                </a:r>
                <a14:m>
                  <m:oMath xmlns:m="http://schemas.openxmlformats.org/officeDocument/2006/math">
                    <m:sSub>
                      <m:sSubPr>
                        <m:ctrlPr>
                          <a:rPr lang="en-US" i="1">
                            <a:effectLst/>
                            <a:latin typeface="Cambria Math" panose="02040503050406030204"/>
                            <a:cs typeface="Arial" panose="020B0604020202020204" pitchFamily="34" charset="0"/>
                          </a:rPr>
                        </m:ctrlPr>
                      </m:sSubPr>
                      <m:e>
                        <m:r>
                          <a:rPr lang="en-US" i="1">
                            <a:effectLst/>
                            <a:latin typeface="Cambria Math" panose="02040503050406030204" pitchFamily="18" charset="0"/>
                            <a:cs typeface="Arial" panose="020B0604020202020204" pitchFamily="34" charset="0"/>
                          </a:rPr>
                          <m:t>𝑐</m:t>
                        </m:r>
                      </m:e>
                      <m:sub>
                        <m:r>
                          <a:rPr lang="en-US" b="0" i="1" smtClean="0">
                            <a:effectLst/>
                            <a:latin typeface="Cambria Math" panose="02040503050406030204" pitchFamily="18" charset="0"/>
                            <a:cs typeface="Arial" panose="020B0604020202020204" pitchFamily="34" charset="0"/>
                          </a:rPr>
                          <m:t>5</m:t>
                        </m:r>
                      </m:sub>
                    </m:sSub>
                    <m:r>
                      <a:rPr lang="en-US" i="1">
                        <a:effectLst/>
                        <a:latin typeface="Cambria Math" panose="02040503050406030204" pitchFamily="18" charset="0"/>
                        <a:cs typeface="Arial" panose="020B0604020202020204" pitchFamily="34" charset="0"/>
                      </a:rPr>
                      <m:t>=</m:t>
                    </m:r>
                    <m:d>
                      <m:dPr>
                        <m:begChr m:val="{"/>
                        <m:endChr m:val="}"/>
                        <m:ctrlPr>
                          <a:rPr lang="en-US" i="1">
                            <a:effectLst/>
                            <a:latin typeface="Cambria Math" panose="02040503050406030204"/>
                            <a:cs typeface="Arial" panose="020B0604020202020204" pitchFamily="34" charset="0"/>
                          </a:rPr>
                        </m:ctrlPr>
                      </m:dPr>
                      <m:e>
                        <m:r>
                          <a:rPr lang="en-US" i="1">
                            <a:effectLst/>
                            <a:latin typeface="Cambria Math" panose="02040503050406030204" pitchFamily="18" charset="0"/>
                            <a:cs typeface="Arial" panose="020B0604020202020204" pitchFamily="34" charset="0"/>
                          </a:rPr>
                          <m:t>1, 2, 5, 4</m:t>
                        </m:r>
                        <m:r>
                          <a:rPr lang="en-US" b="0" i="1" smtClean="0">
                            <a:effectLst/>
                            <a:latin typeface="Cambria Math" panose="02040503050406030204" pitchFamily="18" charset="0"/>
                            <a:cs typeface="Arial" panose="020B0604020202020204" pitchFamily="34" charset="0"/>
                          </a:rPr>
                          <m:t>, 6</m:t>
                        </m:r>
                      </m:e>
                    </m:d>
                  </m:oMath>
                </a14:m>
                <a:r>
                  <a:rPr lang="en-US" dirty="0">
                    <a:effectLst/>
                    <a:latin typeface="Arial" panose="020B0604020202020204" pitchFamily="34" charset="0"/>
                    <a:cs typeface="Arial" panose="020B0604020202020204" pitchFamily="34" charset="0"/>
                  </a:rPr>
                  <a:t>,</a:t>
                </a:r>
                <a14:m>
                  <m:oMath xmlns:m="http://schemas.openxmlformats.org/officeDocument/2006/math">
                    <m:sSub>
                      <m:sSubPr>
                        <m:ctrlPr>
                          <a:rPr lang="en-US" i="1">
                            <a:effectLst/>
                            <a:latin typeface="Cambria Math" panose="02040503050406030204"/>
                            <a:cs typeface="Arial" panose="020B0604020202020204" pitchFamily="34" charset="0"/>
                          </a:rPr>
                        </m:ctrlPr>
                      </m:sSubPr>
                      <m:e>
                        <m:r>
                          <a:rPr lang="en-US" i="1">
                            <a:effectLst/>
                            <a:latin typeface="Cambria Math" panose="02040503050406030204" pitchFamily="18" charset="0"/>
                            <a:cs typeface="Arial" panose="020B0604020202020204" pitchFamily="34" charset="0"/>
                          </a:rPr>
                          <m:t> </m:t>
                        </m:r>
                        <m:r>
                          <a:rPr lang="en-US" i="1">
                            <a:effectLst/>
                            <a:latin typeface="Cambria Math" panose="02040503050406030204" pitchFamily="18" charset="0"/>
                            <a:cs typeface="Arial" panose="020B0604020202020204" pitchFamily="34" charset="0"/>
                          </a:rPr>
                          <m:t>𝑐</m:t>
                        </m:r>
                      </m:e>
                      <m:sub>
                        <m:r>
                          <a:rPr lang="en-US" b="0" i="1" smtClean="0">
                            <a:effectLst/>
                            <a:latin typeface="Cambria Math" panose="02040503050406030204" pitchFamily="18" charset="0"/>
                            <a:cs typeface="Arial" panose="020B0604020202020204" pitchFamily="34" charset="0"/>
                          </a:rPr>
                          <m:t>5</m:t>
                        </m:r>
                      </m:sub>
                    </m:sSub>
                    <m:r>
                      <a:rPr lang="en-US" i="1">
                        <a:effectLst/>
                        <a:latin typeface="Cambria Math" panose="02040503050406030204" pitchFamily="18" charset="0"/>
                        <a:cs typeface="Arial" panose="020B0604020202020204" pitchFamily="34" charset="0"/>
                      </a:rPr>
                      <m:t>=</m:t>
                    </m:r>
                    <m:d>
                      <m:dPr>
                        <m:begChr m:val="{"/>
                        <m:endChr m:val="}"/>
                        <m:ctrlPr>
                          <a:rPr lang="en-US" i="1">
                            <a:effectLst/>
                            <a:latin typeface="Cambria Math" panose="02040503050406030204"/>
                            <a:cs typeface="Arial" panose="020B0604020202020204" pitchFamily="34" charset="0"/>
                          </a:rPr>
                        </m:ctrlPr>
                      </m:dPr>
                      <m:e>
                        <m:r>
                          <a:rPr lang="en-US" i="1">
                            <a:effectLst/>
                            <a:latin typeface="Cambria Math" panose="02040503050406030204" pitchFamily="18" charset="0"/>
                            <a:cs typeface="Arial" panose="020B0604020202020204" pitchFamily="34" charset="0"/>
                          </a:rPr>
                          <m:t>3</m:t>
                        </m:r>
                      </m:e>
                    </m:d>
                  </m:oMath>
                </a14:m>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mc:Choice>
        <mc:Fallback xmlns="">
          <p:sp>
            <p:nvSpPr>
              <p:cNvPr id="5" name="Content Placeholder 5"/>
              <p:cNvSpPr txBox="1">
                <a:spLocks noRot="1" noChangeAspect="1" noMove="1" noResize="1" noEditPoints="1" noAdjustHandles="1" noChangeArrowheads="1" noChangeShapeType="1" noTextEdit="1"/>
              </p:cNvSpPr>
              <p:nvPr/>
            </p:nvSpPr>
            <p:spPr>
              <a:xfrm>
                <a:off x="856059" y="2025405"/>
                <a:ext cx="7429499" cy="4608513"/>
              </a:xfrm>
              <a:prstGeom prst="rect">
                <a:avLst/>
              </a:prstGeom>
              <a:blipFill rotWithShape="1">
                <a:blip r:embed="rId2"/>
                <a:stretch>
                  <a:fillRect l="-1" t="-8" r="1" b="-9974"/>
                </a:stretch>
              </a:blipFill>
            </p:spPr>
            <p:txBody>
              <a:bodyPr/>
              <a:lstStyle/>
              <a:p>
                <a:r>
                  <a:rPr lang="en-US" altLang="en-US">
                    <a:noFill/>
                  </a:rPr>
                  <a:t> </a:t>
                </a:r>
              </a:p>
            </p:txBody>
          </p:sp>
        </mc:Fallback>
      </mc:AlternateContent>
      <p:cxnSp>
        <p:nvCxnSpPr>
          <p:cNvPr id="12" name="Straight Connector 11"/>
          <p:cNvCxnSpPr/>
          <p:nvPr/>
        </p:nvCxnSpPr>
        <p:spPr>
          <a:xfrm>
            <a:off x="5584874" y="3615397"/>
            <a:ext cx="295422"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6119446" y="5613010"/>
            <a:ext cx="295422"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Minimal spanning tree</a:t>
            </a:r>
          </a:p>
        </p:txBody>
      </p:sp>
      <mc:AlternateContent xmlns:mc="http://schemas.openxmlformats.org/markup-compatibility/2006" xmlns:a14="http://schemas.microsoft.com/office/drawing/2010/main">
        <mc:Choice Requires="a14">
          <p:sp>
            <p:nvSpPr>
              <p:cNvPr id="5" name="Content Placeholder 5"/>
              <p:cNvSpPr txBox="1"/>
              <p:nvPr/>
            </p:nvSpPr>
            <p:spPr>
              <a:xfrm>
                <a:off x="856059" y="2025405"/>
                <a:ext cx="7429499" cy="460851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27000" dist="38100" dir="2700000" algn="tl">
                        <a:srgbClr val="000000">
                          <a:alpha val="33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27000" dist="38100" dir="2700000" algn="tl">
                        <a:srgbClr val="000000">
                          <a:alpha val="33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27000" dist="38100" dir="2700000" algn="tl">
                        <a:srgbClr val="000000">
                          <a:alpha val="33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just">
                  <a:buNone/>
                </a:pPr>
                <a:r>
                  <a:rPr lang="en-US" b="1" dirty="0">
                    <a:solidFill>
                      <a:prstClr val="black"/>
                    </a:solidFill>
                    <a:effectLst/>
                    <a:latin typeface="Arial" panose="020B0604020202020204" pitchFamily="34" charset="0"/>
                    <a:cs typeface="Arial" panose="020B0604020202020204" pitchFamily="34" charset="0"/>
                  </a:rPr>
                  <a:t>Iteration 1: I6</a:t>
                </a:r>
              </a:p>
              <a:p>
                <a:pPr marL="0" indent="0" algn="just">
                  <a:buNone/>
                </a:pPr>
                <a:r>
                  <a:rPr lang="en-US" dirty="0">
                    <a:effectLst/>
                    <a:latin typeface="Arial" panose="020B0604020202020204" pitchFamily="34" charset="0"/>
                    <a:cs typeface="Arial" panose="020B0604020202020204" pitchFamily="34" charset="0"/>
                  </a:rPr>
                  <a:t>Node 1 or 2 or 5 or 4 or 6 can be connected to node 3 but we have connected node 4 with </a:t>
                </a:r>
                <a:r>
                  <a:rPr lang="en-US" dirty="0" smtClean="0">
                    <a:effectLst/>
                    <a:latin typeface="Arial" panose="020B0604020202020204" pitchFamily="34" charset="0"/>
                    <a:cs typeface="Arial" panose="020B0604020202020204" pitchFamily="34" charset="0"/>
                  </a:rPr>
                  <a:t>3 </a:t>
                </a:r>
                <a:r>
                  <a:rPr lang="en-US" dirty="0">
                    <a:effectLst/>
                    <a:latin typeface="Arial" panose="020B0604020202020204" pitchFamily="34" charset="0"/>
                    <a:cs typeface="Arial" panose="020B0604020202020204" pitchFamily="34" charset="0"/>
                  </a:rPr>
                  <a:t>because it has a minimum distance, </a:t>
                </a:r>
                <a14:m>
                  <m:oMath xmlns:m="http://schemas.openxmlformats.org/officeDocument/2006/math">
                    <m:sSub>
                      <m:sSubPr>
                        <m:ctrlPr>
                          <a:rPr lang="en-US" i="1">
                            <a:effectLst/>
                            <a:latin typeface="Cambria Math" panose="02040503050406030204"/>
                            <a:cs typeface="Arial" panose="020B0604020202020204" pitchFamily="34" charset="0"/>
                          </a:rPr>
                        </m:ctrlPr>
                      </m:sSubPr>
                      <m:e>
                        <m:r>
                          <a:rPr lang="en-US" i="1">
                            <a:effectLst/>
                            <a:latin typeface="Cambria Math" panose="02040503050406030204" pitchFamily="18" charset="0"/>
                            <a:cs typeface="Arial" panose="020B0604020202020204" pitchFamily="34" charset="0"/>
                          </a:rPr>
                          <m:t>𝑐</m:t>
                        </m:r>
                      </m:e>
                      <m:sub>
                        <m:r>
                          <a:rPr lang="en-US" b="0" i="1" smtClean="0">
                            <a:effectLst/>
                            <a:latin typeface="Cambria Math" panose="02040503050406030204" pitchFamily="18" charset="0"/>
                            <a:cs typeface="Arial" panose="020B0604020202020204" pitchFamily="34" charset="0"/>
                          </a:rPr>
                          <m:t>6</m:t>
                        </m:r>
                      </m:sub>
                    </m:sSub>
                    <m:r>
                      <a:rPr lang="en-US" i="1">
                        <a:effectLst/>
                        <a:latin typeface="Cambria Math" panose="02040503050406030204" pitchFamily="18" charset="0"/>
                        <a:cs typeface="Arial" panose="020B0604020202020204" pitchFamily="34" charset="0"/>
                      </a:rPr>
                      <m:t>=</m:t>
                    </m:r>
                    <m:d>
                      <m:dPr>
                        <m:begChr m:val="{"/>
                        <m:endChr m:val="}"/>
                        <m:ctrlPr>
                          <a:rPr lang="en-US" i="1">
                            <a:effectLst/>
                            <a:latin typeface="Cambria Math" panose="02040503050406030204"/>
                            <a:cs typeface="Arial" panose="020B0604020202020204" pitchFamily="34" charset="0"/>
                          </a:rPr>
                        </m:ctrlPr>
                      </m:dPr>
                      <m:e>
                        <m:r>
                          <a:rPr lang="en-US" i="1">
                            <a:effectLst/>
                            <a:latin typeface="Cambria Math" panose="02040503050406030204" pitchFamily="18" charset="0"/>
                            <a:cs typeface="Arial" panose="020B0604020202020204" pitchFamily="34" charset="0"/>
                          </a:rPr>
                          <m:t>1, 2, 5, 4, 6</m:t>
                        </m:r>
                        <m:r>
                          <a:rPr lang="en-US" b="0" i="1" smtClean="0">
                            <a:effectLst/>
                            <a:latin typeface="Cambria Math" panose="02040503050406030204" pitchFamily="18" charset="0"/>
                            <a:cs typeface="Arial" panose="020B0604020202020204" pitchFamily="34" charset="0"/>
                          </a:rPr>
                          <m:t>, 3</m:t>
                        </m:r>
                      </m:e>
                    </m:d>
                  </m:oMath>
                </a14:m>
                <a:r>
                  <a:rPr lang="en-US" dirty="0">
                    <a:effectLst/>
                    <a:latin typeface="Arial" panose="020B0604020202020204" pitchFamily="34" charset="0"/>
                    <a:cs typeface="Arial" panose="020B0604020202020204" pitchFamily="34" charset="0"/>
                  </a:rPr>
                  <a:t>,</a:t>
                </a:r>
                <a14:m>
                  <m:oMath xmlns:m="http://schemas.openxmlformats.org/officeDocument/2006/math">
                    <m:sSub>
                      <m:sSubPr>
                        <m:ctrlPr>
                          <a:rPr lang="en-US" i="1">
                            <a:effectLst/>
                            <a:latin typeface="Cambria Math" panose="02040503050406030204"/>
                            <a:cs typeface="Arial" panose="020B0604020202020204" pitchFamily="34" charset="0"/>
                          </a:rPr>
                        </m:ctrlPr>
                      </m:sSubPr>
                      <m:e>
                        <m:r>
                          <a:rPr lang="en-US" i="1">
                            <a:effectLst/>
                            <a:latin typeface="Cambria Math" panose="02040503050406030204" pitchFamily="18" charset="0"/>
                            <a:cs typeface="Arial" panose="020B0604020202020204" pitchFamily="34" charset="0"/>
                          </a:rPr>
                          <m:t> </m:t>
                        </m:r>
                        <m:r>
                          <a:rPr lang="en-US" i="1">
                            <a:effectLst/>
                            <a:latin typeface="Cambria Math" panose="02040503050406030204" pitchFamily="18" charset="0"/>
                            <a:cs typeface="Arial" panose="020B0604020202020204" pitchFamily="34" charset="0"/>
                          </a:rPr>
                          <m:t>𝑐</m:t>
                        </m:r>
                      </m:e>
                      <m:sub>
                        <m:r>
                          <a:rPr lang="en-US" b="0" i="1" smtClean="0">
                            <a:effectLst/>
                            <a:latin typeface="Cambria Math" panose="02040503050406030204" pitchFamily="18" charset="0"/>
                            <a:cs typeface="Arial" panose="020B0604020202020204" pitchFamily="34" charset="0"/>
                          </a:rPr>
                          <m:t>6</m:t>
                        </m:r>
                      </m:sub>
                    </m:sSub>
                    <m:r>
                      <a:rPr lang="en-US" i="1">
                        <a:effectLst/>
                        <a:latin typeface="Cambria Math" panose="02040503050406030204" pitchFamily="18" charset="0"/>
                        <a:cs typeface="Arial" panose="020B0604020202020204" pitchFamily="34" charset="0"/>
                      </a:rPr>
                      <m:t>=</m:t>
                    </m:r>
                    <m:r>
                      <a:rPr lang="en-US" i="1" smtClean="0">
                        <a:effectLst/>
                        <a:latin typeface="Cambria Math" panose="02040503050406030204" pitchFamily="18" charset="0"/>
                        <a:ea typeface="Cambria Math" panose="02040503050406030204" pitchFamily="18" charset="0"/>
                        <a:cs typeface="Arial" panose="020B0604020202020204" pitchFamily="34" charset="0"/>
                      </a:rPr>
                      <m:t>∅</m:t>
                    </m:r>
                  </m:oMath>
                </a14:m>
                <a:endParaRPr lang="en-US" dirty="0">
                  <a:effectLst/>
                  <a:latin typeface="Arial" panose="020B0604020202020204" pitchFamily="34" charset="0"/>
                  <a:cs typeface="Arial" panose="020B0604020202020204" pitchFamily="34" charset="0"/>
                </a:endParaRPr>
              </a:p>
              <a:p>
                <a:pPr marL="0" indent="0" algn="just">
                  <a:buNone/>
                </a:pPr>
                <a:endParaRPr lang="en-US" dirty="0">
                  <a:latin typeface="Arial" panose="020B0604020202020204" pitchFamily="34" charset="0"/>
                  <a:cs typeface="Arial" panose="020B0604020202020204" pitchFamily="34" charset="0"/>
                </a:endParaRPr>
              </a:p>
              <a:p>
                <a:r>
                  <a:rPr lang="en-US" dirty="0">
                    <a:effectLst/>
                    <a:latin typeface="Arial" panose="020B0604020202020204" pitchFamily="34" charset="0"/>
                    <a:cs typeface="Arial" panose="020B0604020202020204" pitchFamily="34" charset="0"/>
                  </a:rPr>
                  <a:t>Minimum distance= 1+3+4+5+3 = 16</a:t>
                </a:r>
              </a:p>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mc:Choice>
        <mc:Fallback xmlns="">
          <p:sp>
            <p:nvSpPr>
              <p:cNvPr id="5" name="Content Placeholder 5"/>
              <p:cNvSpPr txBox="1">
                <a:spLocks noRot="1" noChangeAspect="1" noMove="1" noResize="1" noEditPoints="1" noAdjustHandles="1" noChangeArrowheads="1" noChangeShapeType="1" noTextEdit="1"/>
              </p:cNvSpPr>
              <p:nvPr/>
            </p:nvSpPr>
            <p:spPr>
              <a:xfrm>
                <a:off x="856059" y="2025405"/>
                <a:ext cx="7429499" cy="4608513"/>
              </a:xfrm>
              <a:prstGeom prst="rect">
                <a:avLst/>
              </a:prstGeom>
              <a:blipFill rotWithShape="1">
                <a:blip r:embed="rId2"/>
                <a:stretch>
                  <a:fillRect l="-1" t="-8" r="1" b="2"/>
                </a:stretch>
              </a:blipFill>
            </p:spPr>
            <p:txBody>
              <a:bodyPr/>
              <a:lstStyle/>
              <a:p>
                <a:r>
                  <a:rPr lang="en-US" altLang="en-US">
                    <a:noFill/>
                  </a:rPr>
                  <a:t> </a:t>
                </a:r>
              </a:p>
            </p:txBody>
          </p:sp>
        </mc:Fallback>
      </mc:AlternateContent>
      <p:cxnSp>
        <p:nvCxnSpPr>
          <p:cNvPr id="12" name="Straight Connector 11"/>
          <p:cNvCxnSpPr/>
          <p:nvPr/>
        </p:nvCxnSpPr>
        <p:spPr>
          <a:xfrm>
            <a:off x="6991643" y="3601330"/>
            <a:ext cx="295422"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Minimal spanning tree</a:t>
            </a:r>
          </a:p>
        </p:txBody>
      </p:sp>
      <p:sp>
        <p:nvSpPr>
          <p:cNvPr id="5" name="Content Placeholder 5"/>
          <p:cNvSpPr txBox="1"/>
          <p:nvPr/>
        </p:nvSpPr>
        <p:spPr>
          <a:xfrm>
            <a:off x="856059" y="2025405"/>
            <a:ext cx="7429499" cy="460851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27000" dist="38100" dir="2700000" algn="tl">
                    <a:srgbClr val="000000">
                      <a:alpha val="33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27000" dist="38100" dir="2700000" algn="tl">
                    <a:srgbClr val="000000">
                      <a:alpha val="33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27000" dist="38100" dir="2700000" algn="tl">
                    <a:srgbClr val="000000">
                      <a:alpha val="33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856058" y="2025404"/>
            <a:ext cx="7429499" cy="42140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Minimal spanning tree</a:t>
            </a:r>
          </a:p>
        </p:txBody>
      </p:sp>
      <p:sp>
        <p:nvSpPr>
          <p:cNvPr id="5" name="Content Placeholder 5"/>
          <p:cNvSpPr txBox="1"/>
          <p:nvPr/>
        </p:nvSpPr>
        <p:spPr>
          <a:xfrm>
            <a:off x="856059" y="2025405"/>
            <a:ext cx="7429499" cy="460851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27000" dist="38100" dir="2700000" algn="tl">
                    <a:srgbClr val="000000">
                      <a:alpha val="33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27000" dist="38100" dir="2700000" algn="tl">
                    <a:srgbClr val="000000">
                      <a:alpha val="33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27000" dist="38100" dir="2700000" algn="tl">
                    <a:srgbClr val="000000">
                      <a:alpha val="33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856058" y="2097088"/>
            <a:ext cx="7429499" cy="43459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C00000"/>
                </a:solidFill>
                <a:latin typeface="Arial" panose="020B0604020202020204" pitchFamily="34" charset="0"/>
                <a:cs typeface="Arial" panose="020B0604020202020204" pitchFamily="34" charset="0"/>
              </a:rPr>
              <a:t>Minimal spanning tree</a:t>
            </a:r>
          </a:p>
        </p:txBody>
      </p:sp>
      <p:sp>
        <p:nvSpPr>
          <p:cNvPr id="5" name="Content Placeholder 5"/>
          <p:cNvSpPr txBox="1"/>
          <p:nvPr/>
        </p:nvSpPr>
        <p:spPr>
          <a:xfrm>
            <a:off x="856059" y="2025405"/>
            <a:ext cx="7429499" cy="460851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27000" dist="38100" dir="2700000" algn="tl">
                    <a:srgbClr val="000000">
                      <a:alpha val="33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27000" dist="38100" dir="2700000" algn="tl">
                    <a:srgbClr val="000000">
                      <a:alpha val="33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27000" dist="38100" dir="2700000" algn="tl">
                    <a:srgbClr val="000000">
                      <a:alpha val="33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27000" dist="38100" dir="2700000" algn="tl">
                    <a:srgbClr val="000000">
                      <a:alpha val="33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856058" y="2097088"/>
            <a:ext cx="7429499" cy="438811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9165" y="878541"/>
            <a:ext cx="7429499" cy="2384612"/>
          </a:xfrm>
        </p:spPr>
        <p:txBody>
          <a:bodyPr>
            <a:normAutofit fontScale="92500" lnSpcReduction="20000"/>
          </a:bodyPr>
          <a:lstStyle/>
          <a:p>
            <a:pPr marL="0" indent="0">
              <a:buNone/>
            </a:pPr>
            <a:r>
              <a:rPr lang="en-GB" sz="2000" dirty="0">
                <a:effectLst/>
                <a:latin typeface="Times New Roman" pitchFamily="18" charset="0"/>
                <a:cs typeface="Times New Roman" pitchFamily="18" charset="0"/>
              </a:rPr>
              <a:t>A company wants to connect 6 office branches (A, B, C, D, E, and F) using underground cables. The cost (in thousands of dollars) to connect each pair of offices is shown below. </a:t>
            </a:r>
            <a:r>
              <a:rPr lang="en-GB" sz="2000" dirty="0" smtClean="0">
                <a:effectLst/>
                <a:latin typeface="Times New Roman" pitchFamily="18" charset="0"/>
                <a:cs typeface="Times New Roman" pitchFamily="18" charset="0"/>
              </a:rPr>
              <a:t>However not all offices are directly connected due to infrastructure limitations. Due </a:t>
            </a:r>
            <a:r>
              <a:rPr lang="en-GB" sz="2000" dirty="0">
                <a:effectLst/>
                <a:latin typeface="Times New Roman" pitchFamily="18" charset="0"/>
                <a:cs typeface="Times New Roman" pitchFamily="18" charset="0"/>
              </a:rPr>
              <a:t>to cost constraints, they want to use the least amount of cable possible to connect all branches without creating any loops</a:t>
            </a:r>
            <a:r>
              <a:rPr lang="en-GB" sz="2000" dirty="0" smtClean="0">
                <a:effectLst/>
                <a:latin typeface="Times New Roman" pitchFamily="18" charset="0"/>
                <a:cs typeface="Times New Roman" pitchFamily="18" charset="0"/>
              </a:rPr>
              <a:t>.</a:t>
            </a:r>
          </a:p>
          <a:p>
            <a:pPr marL="0" indent="0">
              <a:buNone/>
            </a:pPr>
            <a:r>
              <a:rPr lang="en-US" sz="2000" dirty="0" err="1" smtClean="0">
                <a:effectLst/>
                <a:latin typeface="Times New Roman" pitchFamily="18" charset="0"/>
                <a:cs typeface="Times New Roman" pitchFamily="18" charset="0"/>
              </a:rPr>
              <a:t>Ans</a:t>
            </a:r>
            <a:r>
              <a:rPr lang="en-US" sz="2000" dirty="0" smtClean="0">
                <a:effectLst/>
                <a:latin typeface="Times New Roman" pitchFamily="18" charset="0"/>
                <a:cs typeface="Times New Roman" pitchFamily="18" charset="0"/>
              </a:rPr>
              <a:t>: 19 thousand dollars</a:t>
            </a:r>
            <a:endParaRPr lang="en-GB" sz="2000" dirty="0" smtClean="0">
              <a:effectLst/>
              <a:latin typeface="Times New Roman" pitchFamily="18" charset="0"/>
              <a:cs typeface="Times New Roman" pitchFamily="18" charset="0"/>
            </a:endParaRPr>
          </a:p>
          <a:p>
            <a:pPr marL="0" indent="0">
              <a:buNone/>
            </a:pP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387990249"/>
              </p:ext>
            </p:extLst>
          </p:nvPr>
        </p:nvGraphicFramePr>
        <p:xfrm>
          <a:off x="1255059" y="3530599"/>
          <a:ext cx="6096000" cy="2225040"/>
        </p:xfrm>
        <a:graphic>
          <a:graphicData uri="http://schemas.openxmlformats.org/drawingml/2006/table">
            <a:tbl>
              <a:tblPr firstRow="1" bandRow="1">
                <a:tableStyleId>{5940675A-B579-460E-94D1-54222C63F5DA}</a:tableStyleId>
              </a:tblPr>
              <a:tblGrid>
                <a:gridCol w="1524000"/>
                <a:gridCol w="1524000"/>
                <a:gridCol w="1524000"/>
                <a:gridCol w="1524000"/>
              </a:tblGrid>
              <a:tr h="370840">
                <a:tc>
                  <a:txBody>
                    <a:bodyPr/>
                    <a:lstStyle/>
                    <a:p>
                      <a:pPr algn="ctr"/>
                      <a:r>
                        <a:rPr lang="en-US" b="1" dirty="0" smtClean="0"/>
                        <a:t>Connection</a:t>
                      </a:r>
                      <a:endParaRPr lang="en-GB" b="1" dirty="0"/>
                    </a:p>
                  </a:txBody>
                  <a:tcPr/>
                </a:tc>
                <a:tc>
                  <a:txBody>
                    <a:bodyPr/>
                    <a:lstStyle/>
                    <a:p>
                      <a:pPr algn="ctr"/>
                      <a:r>
                        <a:rPr lang="en-US" b="1" dirty="0" smtClean="0"/>
                        <a:t>Cost</a:t>
                      </a:r>
                      <a:endParaRPr lang="en-GB" b="1" dirty="0"/>
                    </a:p>
                  </a:txBody>
                  <a:tcPr/>
                </a:tc>
                <a:tc>
                  <a:txBody>
                    <a:bodyPr/>
                    <a:lstStyle/>
                    <a:p>
                      <a:pPr algn="ctr"/>
                      <a:r>
                        <a:rPr lang="en-US" b="1" dirty="0" smtClean="0"/>
                        <a:t>Connection</a:t>
                      </a:r>
                      <a:endParaRPr lang="en-GB" b="1" dirty="0"/>
                    </a:p>
                  </a:txBody>
                  <a:tcPr/>
                </a:tc>
                <a:tc>
                  <a:txBody>
                    <a:bodyPr/>
                    <a:lstStyle/>
                    <a:p>
                      <a:pPr algn="ctr"/>
                      <a:r>
                        <a:rPr lang="en-US" b="1" dirty="0" smtClean="0"/>
                        <a:t>Cost</a:t>
                      </a:r>
                      <a:endParaRPr lang="en-GB" b="1" dirty="0"/>
                    </a:p>
                  </a:txBody>
                  <a:tcPr/>
                </a:tc>
              </a:tr>
              <a:tr h="370840">
                <a:tc>
                  <a:txBody>
                    <a:bodyPr/>
                    <a:lstStyle/>
                    <a:p>
                      <a:pPr algn="ctr"/>
                      <a:r>
                        <a:rPr lang="en-US" dirty="0" smtClean="0"/>
                        <a:t>A-B</a:t>
                      </a:r>
                      <a:endParaRPr lang="en-GB" dirty="0"/>
                    </a:p>
                  </a:txBody>
                  <a:tcPr/>
                </a:tc>
                <a:tc>
                  <a:txBody>
                    <a:bodyPr/>
                    <a:lstStyle/>
                    <a:p>
                      <a:pPr algn="ctr"/>
                      <a:r>
                        <a:rPr lang="en-US" dirty="0" smtClean="0"/>
                        <a:t>4</a:t>
                      </a:r>
                      <a:endParaRPr lang="en-GB" dirty="0"/>
                    </a:p>
                  </a:txBody>
                  <a:tcPr/>
                </a:tc>
                <a:tc>
                  <a:txBody>
                    <a:bodyPr/>
                    <a:lstStyle/>
                    <a:p>
                      <a:pPr algn="ctr"/>
                      <a:r>
                        <a:rPr lang="en-US" dirty="0" smtClean="0"/>
                        <a:t>C-F</a:t>
                      </a:r>
                      <a:endParaRPr lang="en-GB" dirty="0"/>
                    </a:p>
                  </a:txBody>
                  <a:tcPr/>
                </a:tc>
                <a:tc>
                  <a:txBody>
                    <a:bodyPr/>
                    <a:lstStyle/>
                    <a:p>
                      <a:pPr algn="ctr"/>
                      <a:r>
                        <a:rPr lang="en-US" dirty="0" smtClean="0"/>
                        <a:t>5</a:t>
                      </a:r>
                      <a:endParaRPr lang="en-GB" dirty="0"/>
                    </a:p>
                  </a:txBody>
                  <a:tcPr/>
                </a:tc>
              </a:tr>
              <a:tr h="370840">
                <a:tc>
                  <a:txBody>
                    <a:bodyPr/>
                    <a:lstStyle/>
                    <a:p>
                      <a:pPr algn="ctr"/>
                      <a:r>
                        <a:rPr lang="en-US" dirty="0" smtClean="0"/>
                        <a:t>A-C</a:t>
                      </a:r>
                      <a:endParaRPr lang="en-GB" dirty="0"/>
                    </a:p>
                  </a:txBody>
                  <a:tcPr/>
                </a:tc>
                <a:tc>
                  <a:txBody>
                    <a:bodyPr/>
                    <a:lstStyle/>
                    <a:p>
                      <a:pPr algn="ctr"/>
                      <a:r>
                        <a:rPr lang="en-US" dirty="0" smtClean="0"/>
                        <a:t>3</a:t>
                      </a:r>
                      <a:endParaRPr lang="en-GB" dirty="0"/>
                    </a:p>
                  </a:txBody>
                  <a:tcPr/>
                </a:tc>
                <a:tc>
                  <a:txBody>
                    <a:bodyPr/>
                    <a:lstStyle/>
                    <a:p>
                      <a:pPr algn="ctr"/>
                      <a:r>
                        <a:rPr lang="en-US" dirty="0" smtClean="0"/>
                        <a:t>D-E</a:t>
                      </a:r>
                      <a:endParaRPr lang="en-GB" dirty="0"/>
                    </a:p>
                  </a:txBody>
                  <a:tcPr/>
                </a:tc>
                <a:tc>
                  <a:txBody>
                    <a:bodyPr/>
                    <a:lstStyle/>
                    <a:p>
                      <a:pPr algn="ctr"/>
                      <a:r>
                        <a:rPr lang="en-US" dirty="0" smtClean="0"/>
                        <a:t>6</a:t>
                      </a:r>
                      <a:endParaRPr lang="en-GB" dirty="0"/>
                    </a:p>
                  </a:txBody>
                  <a:tcPr/>
                </a:tc>
              </a:tr>
              <a:tr h="370840">
                <a:tc>
                  <a:txBody>
                    <a:bodyPr/>
                    <a:lstStyle/>
                    <a:p>
                      <a:pPr algn="ctr"/>
                      <a:r>
                        <a:rPr lang="en-US" dirty="0" smtClean="0"/>
                        <a:t>B-C</a:t>
                      </a:r>
                      <a:endParaRPr lang="en-GB" dirty="0"/>
                    </a:p>
                  </a:txBody>
                  <a:tcPr/>
                </a:tc>
                <a:tc>
                  <a:txBody>
                    <a:bodyPr/>
                    <a:lstStyle/>
                    <a:p>
                      <a:pPr algn="ctr"/>
                      <a:r>
                        <a:rPr lang="en-US" dirty="0" smtClean="0"/>
                        <a:t>2</a:t>
                      </a:r>
                      <a:endParaRPr lang="en-GB" dirty="0"/>
                    </a:p>
                  </a:txBody>
                  <a:tcPr/>
                </a:tc>
                <a:tc>
                  <a:txBody>
                    <a:bodyPr/>
                    <a:lstStyle/>
                    <a:p>
                      <a:pPr algn="ctr"/>
                      <a:r>
                        <a:rPr lang="en-US" dirty="0" smtClean="0"/>
                        <a:t>D-F</a:t>
                      </a:r>
                      <a:endParaRPr lang="en-GB" dirty="0"/>
                    </a:p>
                  </a:txBody>
                  <a:tcPr/>
                </a:tc>
                <a:tc>
                  <a:txBody>
                    <a:bodyPr/>
                    <a:lstStyle/>
                    <a:p>
                      <a:pPr algn="ctr"/>
                      <a:r>
                        <a:rPr lang="en-US" dirty="0" smtClean="0"/>
                        <a:t>8</a:t>
                      </a:r>
                      <a:endParaRPr lang="en-GB" dirty="0"/>
                    </a:p>
                  </a:txBody>
                  <a:tcPr/>
                </a:tc>
              </a:tr>
              <a:tr h="370840">
                <a:tc>
                  <a:txBody>
                    <a:bodyPr/>
                    <a:lstStyle/>
                    <a:p>
                      <a:pPr algn="ctr"/>
                      <a:r>
                        <a:rPr lang="en-US" dirty="0" smtClean="0"/>
                        <a:t>B-D</a:t>
                      </a:r>
                      <a:endParaRPr lang="en-GB" dirty="0"/>
                    </a:p>
                  </a:txBody>
                  <a:tcPr/>
                </a:tc>
                <a:tc>
                  <a:txBody>
                    <a:bodyPr/>
                    <a:lstStyle/>
                    <a:p>
                      <a:pPr algn="ctr"/>
                      <a:r>
                        <a:rPr lang="en-US" dirty="0" smtClean="0"/>
                        <a:t>7</a:t>
                      </a:r>
                      <a:endParaRPr lang="en-GB" dirty="0"/>
                    </a:p>
                  </a:txBody>
                  <a:tcPr/>
                </a:tc>
                <a:tc>
                  <a:txBody>
                    <a:bodyPr/>
                    <a:lstStyle/>
                    <a:p>
                      <a:pPr algn="ctr"/>
                      <a:r>
                        <a:rPr lang="en-US" dirty="0" smtClean="0"/>
                        <a:t>E-F</a:t>
                      </a:r>
                      <a:endParaRPr lang="en-GB" dirty="0"/>
                    </a:p>
                  </a:txBody>
                  <a:tcPr/>
                </a:tc>
                <a:tc>
                  <a:txBody>
                    <a:bodyPr/>
                    <a:lstStyle/>
                    <a:p>
                      <a:pPr algn="ctr"/>
                      <a:r>
                        <a:rPr lang="en-US" dirty="0" smtClean="0"/>
                        <a:t>3</a:t>
                      </a:r>
                      <a:endParaRPr lang="en-GB" dirty="0"/>
                    </a:p>
                  </a:txBody>
                  <a:tcPr/>
                </a:tc>
              </a:tr>
              <a:tr h="370840">
                <a:tc>
                  <a:txBody>
                    <a:bodyPr/>
                    <a:lstStyle/>
                    <a:p>
                      <a:pPr algn="ctr"/>
                      <a:r>
                        <a:rPr lang="en-US" dirty="0" smtClean="0"/>
                        <a:t>C-D</a:t>
                      </a:r>
                      <a:endParaRPr lang="en-GB" dirty="0"/>
                    </a:p>
                  </a:txBody>
                  <a:tcPr/>
                </a:tc>
                <a:tc>
                  <a:txBody>
                    <a:bodyPr/>
                    <a:lstStyle/>
                    <a:p>
                      <a:pPr algn="ctr"/>
                      <a:r>
                        <a:rPr lang="en-US" dirty="0" smtClean="0"/>
                        <a:t>6</a:t>
                      </a:r>
                      <a:endParaRPr lang="en-GB" dirty="0"/>
                    </a:p>
                  </a:txBody>
                  <a:tcPr/>
                </a:tc>
                <a:tc>
                  <a:txBody>
                    <a:bodyPr/>
                    <a:lstStyle/>
                    <a:p>
                      <a:pPr algn="ctr"/>
                      <a:endParaRPr lang="en-GB"/>
                    </a:p>
                  </a:txBody>
                  <a:tcPr/>
                </a:tc>
                <a:tc>
                  <a:txBody>
                    <a:bodyPr/>
                    <a:lstStyle/>
                    <a:p>
                      <a:pPr algn="ctr"/>
                      <a:endParaRPr lang="en-GB" dirty="0"/>
                    </a:p>
                  </a:txBody>
                  <a:tcPr/>
                </a:tc>
              </a:tr>
            </a:tbl>
          </a:graphicData>
        </a:graphic>
      </p:graphicFrame>
      <p:sp>
        <p:nvSpPr>
          <p:cNvPr id="5" name="Title 1"/>
          <p:cNvSpPr>
            <a:spLocks noGrp="1"/>
          </p:cNvSpPr>
          <p:nvPr>
            <p:ph type="title"/>
          </p:nvPr>
        </p:nvSpPr>
        <p:spPr>
          <a:xfrm>
            <a:off x="811236" y="134424"/>
            <a:ext cx="7429499" cy="699294"/>
          </a:xfrm>
        </p:spPr>
        <p:txBody>
          <a:bodyPr>
            <a:normAutofit/>
          </a:bodyPr>
          <a:lstStyle/>
          <a:p>
            <a:r>
              <a:rPr lang="en-US" sz="4000" dirty="0">
                <a:solidFill>
                  <a:srgbClr val="C00000"/>
                </a:solidFill>
                <a:latin typeface="Arial" panose="020B0604020202020204" pitchFamily="34" charset="0"/>
                <a:cs typeface="Arial" panose="020B0604020202020204" pitchFamily="34" charset="0"/>
              </a:rPr>
              <a:t>Minimal spanning tree</a:t>
            </a:r>
          </a:p>
        </p:txBody>
      </p:sp>
    </p:spTree>
    <p:extLst>
      <p:ext uri="{BB962C8B-B14F-4D97-AF65-F5344CB8AC3E}">
        <p14:creationId xmlns:p14="http://schemas.microsoft.com/office/powerpoint/2010/main" val="626151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2689715"/>
            <a:ext cx="7429499" cy="1478570"/>
          </a:xfrm>
        </p:spPr>
        <p:txBody>
          <a:bodyPr>
            <a:normAutofit fontScale="90000"/>
          </a:bodyPr>
          <a:lstStyle/>
          <a:p>
            <a:pPr lvl="0" algn="ctr">
              <a:lnSpc>
                <a:spcPct val="100000"/>
              </a:lnSpc>
              <a:spcBef>
                <a:spcPts val="0"/>
              </a:spcBef>
            </a:pPr>
            <a:r>
              <a:rPr lang="en-GB" sz="5400" b="1" cap="none" dirty="0">
                <a:solidFill>
                  <a:prstClr val="black"/>
                </a:solidFill>
                <a:latin typeface="Arial" panose="020B0604020202020204" pitchFamily="34" charset="0"/>
                <a:ea typeface="+mn-ea"/>
                <a:cs typeface="Arial" panose="020B0604020202020204" pitchFamily="34" charset="0"/>
              </a:rPr>
              <a:t>Thank you!</a:t>
            </a:r>
            <a:r>
              <a:rPr lang="en-GB" sz="4800" b="1" cap="none" dirty="0">
                <a:solidFill>
                  <a:prstClr val="black"/>
                </a:solidFill>
                <a:latin typeface="Arial" panose="020B0604020202020204" pitchFamily="34" charset="0"/>
                <a:ea typeface="+mn-ea"/>
                <a:cs typeface="Arial" panose="020B0604020202020204" pitchFamily="34" charset="0"/>
              </a:rPr>
              <a:t/>
            </a:r>
            <a:br>
              <a:rPr lang="en-GB" sz="4800" b="1" cap="none" dirty="0">
                <a:solidFill>
                  <a:prstClr val="black"/>
                </a:solidFill>
                <a:latin typeface="Arial" panose="020B0604020202020204" pitchFamily="34" charset="0"/>
                <a:ea typeface="+mn-ea"/>
                <a:cs typeface="Arial" panose="020B0604020202020204" pitchFamily="34" charset="0"/>
              </a:rPr>
            </a:br>
            <a:endParaRPr lang="en-US" sz="400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Clarity">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ircuit">
  <a:themeElements>
    <a:clrScheme name="Circuit">
      <a:dk1>
        <a:sysClr val="windowText" lastClr="000000"/>
      </a:dk1>
      <a:lt1>
        <a:sysClr val="window" lastClr="FFFFFF"/>
      </a:lt1>
      <a:dk2>
        <a:srgbClr val="2B5F27"/>
      </a:dk2>
      <a:lt2>
        <a:srgbClr val="D8FC68"/>
      </a:lt2>
      <a:accent1>
        <a:srgbClr val="DDC855"/>
      </a:accent1>
      <a:accent2>
        <a:srgbClr val="FCA03D"/>
      </a:accent2>
      <a:accent3>
        <a:srgbClr val="E36439"/>
      </a:accent3>
      <a:accent4>
        <a:srgbClr val="C2935B"/>
      </a:accent4>
      <a:accent5>
        <a:srgbClr val="88C25C"/>
      </a:accent5>
      <a:accent6>
        <a:srgbClr val="BFCC86"/>
      </a:accent6>
      <a:hlink>
        <a:srgbClr val="FFCE23"/>
      </a:hlink>
      <a:folHlink>
        <a:srgbClr val="FDEB86"/>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fillRect/>
          </a:stretch>
        </a:blip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TotalTime>
  <Words>611</Words>
  <Application>Microsoft Office PowerPoint</Application>
  <PresentationFormat>On-screen Show (4:3)</PresentationFormat>
  <Paragraphs>77</Paragraphs>
  <Slides>17</Slides>
  <Notes>0</Notes>
  <HiddenSlides>0</HiddenSlides>
  <MMClips>0</MMClips>
  <ScaleCrop>false</ScaleCrop>
  <HeadingPairs>
    <vt:vector size="4" baseType="variant">
      <vt:variant>
        <vt:lpstr>Theme</vt:lpstr>
      </vt:variant>
      <vt:variant>
        <vt:i4>2</vt:i4>
      </vt:variant>
      <vt:variant>
        <vt:lpstr>Slide Titles</vt:lpstr>
      </vt:variant>
      <vt:variant>
        <vt:i4>17</vt:i4>
      </vt:variant>
    </vt:vector>
  </HeadingPairs>
  <TitlesOfParts>
    <vt:vector size="19" baseType="lpstr">
      <vt:lpstr>Clarity</vt:lpstr>
      <vt:lpstr>Circuit</vt:lpstr>
      <vt:lpstr>PowerPoint Presentation</vt:lpstr>
      <vt:lpstr>Network minimization</vt:lpstr>
      <vt:lpstr>Procedure</vt:lpstr>
      <vt:lpstr>Minimal spanning tree Prim's algorithm (Greedy Algorithm)</vt:lpstr>
      <vt:lpstr>Minimal spanning tree</vt:lpstr>
      <vt:lpstr>Minimal spanning tree</vt:lpstr>
      <vt:lpstr>Minimal spanning tree</vt:lpstr>
      <vt:lpstr>Minimal spanning tree</vt:lpstr>
      <vt:lpstr>Minimal spanning tree</vt:lpstr>
      <vt:lpstr>Minimal spanning tree</vt:lpstr>
      <vt:lpstr>Minimal spanning tree</vt:lpstr>
      <vt:lpstr>Minimal spanning tree</vt:lpstr>
      <vt:lpstr>Minimal spanning tree</vt:lpstr>
      <vt:lpstr>Minimal spanning tree</vt:lpstr>
      <vt:lpstr>Minimal spanning tree</vt:lpstr>
      <vt:lpstr>Minimal spanning tree</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Bakhtawar</dc:creator>
  <cp:lastModifiedBy>4G Traders</cp:lastModifiedBy>
  <cp:revision>326</cp:revision>
  <dcterms:created xsi:type="dcterms:W3CDTF">2022-09-10T13:48:00Z</dcterms:created>
  <dcterms:modified xsi:type="dcterms:W3CDTF">2025-12-02T06:16:09Z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1372882E98A84039A1AB294CD9F0C081_12</vt:lpwstr>
  </property>
  <property fmtid="{D5CDD505-2E9C-101B-9397-08002B2CF9AE}" pid="3" name="KSOProductBuildVer">
    <vt:lpwstr>1033-12.2.0.19805</vt:lpwstr>
  </property>
</Properties>
</file>