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256" r:id="rId2"/>
    <p:sldId id="310" r:id="rId3"/>
    <p:sldId id="312" r:id="rId4"/>
    <p:sldId id="321" r:id="rId5"/>
    <p:sldId id="311" r:id="rId6"/>
    <p:sldId id="275" r:id="rId7"/>
    <p:sldId id="282" r:id="rId8"/>
    <p:sldId id="318" r:id="rId9"/>
    <p:sldId id="319" r:id="rId10"/>
    <p:sldId id="320" r:id="rId11"/>
    <p:sldId id="284" r:id="rId12"/>
    <p:sldId id="286" r:id="rId13"/>
    <p:sldId id="288" r:id="rId14"/>
    <p:sldId id="257" r:id="rId15"/>
    <p:sldId id="258" r:id="rId16"/>
    <p:sldId id="259" r:id="rId17"/>
    <p:sldId id="261" r:id="rId18"/>
    <p:sldId id="289" r:id="rId19"/>
    <p:sldId id="290" r:id="rId20"/>
    <p:sldId id="291" r:id="rId21"/>
    <p:sldId id="324" r:id="rId22"/>
    <p:sldId id="322" r:id="rId23"/>
    <p:sldId id="323" r:id="rId24"/>
    <p:sldId id="327" r:id="rId25"/>
    <p:sldId id="325" r:id="rId26"/>
    <p:sldId id="316" r:id="rId27"/>
    <p:sldId id="317" r:id="rId28"/>
    <p:sldId id="270" r:id="rId29"/>
    <p:sldId id="304" r:id="rId30"/>
    <p:sldId id="272" r:id="rId31"/>
    <p:sldId id="273" r:id="rId32"/>
    <p:sldId id="303" r:id="rId33"/>
    <p:sldId id="293" r:id="rId34"/>
    <p:sldId id="292" r:id="rId35"/>
    <p:sldId id="302" r:id="rId36"/>
    <p:sldId id="306" r:id="rId3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796" autoAdjust="0"/>
  </p:normalViewPr>
  <p:slideViewPr>
    <p:cSldViewPr>
      <p:cViewPr varScale="1">
        <p:scale>
          <a:sx n="61" d="100"/>
          <a:sy n="61" d="100"/>
        </p:scale>
        <p:origin x="1656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20B6FEE-A229-4318-A4DE-31093D77117F}" type="datetimeFigureOut">
              <a:rPr lang="en-US"/>
              <a:pPr>
                <a:defRPr/>
              </a:pPr>
              <a:t>10/9/2021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321A89E5-D417-4FFE-AE2D-45F4D9F9B9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Object_(computer_science)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Method_(computer_science)" TargetMode="External"/><Relationship Id="rId5" Type="http://schemas.openxmlformats.org/officeDocument/2006/relationships/hyperlink" Target="https://en.wikipedia.org/wiki/Field_(computer_science)" TargetMode="External"/><Relationship Id="rId4" Type="http://schemas.openxmlformats.org/officeDocument/2006/relationships/hyperlink" Target="https://en.wikipedia.org/wiki/Data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ebopedia.com/TERM/R/run.html" TargetMode="External"/><Relationship Id="rId3" Type="http://schemas.openxmlformats.org/officeDocument/2006/relationships/hyperlink" Target="http://www.webopedia.com/TERM/I/instruction.html" TargetMode="External"/><Relationship Id="rId7" Type="http://schemas.openxmlformats.org/officeDocument/2006/relationships/hyperlink" Target="https://www.webopedia.com/TERM/P/program.html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webopedia.com/TERM/C/CPU.html" TargetMode="External"/><Relationship Id="rId5" Type="http://schemas.openxmlformats.org/officeDocument/2006/relationships/hyperlink" Target="http://www.webopedia.com/TERM/N/name.html" TargetMode="External"/><Relationship Id="rId4" Type="http://schemas.openxmlformats.org/officeDocument/2006/relationships/hyperlink" Target="https://www.webopedia.com/TERM/V/variable.html" TargetMode="Externa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mtClean="0"/>
              <a:t>based on the concept of "</a:t>
            </a:r>
            <a:r>
              <a:rPr lang="en-US" altLang="en-US" smtClean="0">
                <a:hlinkClick r:id="rId3" tooltip="Object (computer science)"/>
              </a:rPr>
              <a:t>objects</a:t>
            </a:r>
            <a:r>
              <a:rPr lang="en-US" altLang="en-US" smtClean="0"/>
              <a:t>", which may contain </a:t>
            </a:r>
            <a:r>
              <a:rPr lang="en-US" altLang="en-US" smtClean="0">
                <a:hlinkClick r:id="rId4" tooltip="Data"/>
              </a:rPr>
              <a:t>data</a:t>
            </a:r>
            <a:r>
              <a:rPr lang="en-US" altLang="en-US" smtClean="0"/>
              <a:t>, in the form of </a:t>
            </a:r>
            <a:r>
              <a:rPr lang="en-US" altLang="en-US" smtClean="0">
                <a:hlinkClick r:id="rId5" tooltip="Field (computer science)"/>
              </a:rPr>
              <a:t>fields</a:t>
            </a:r>
            <a:r>
              <a:rPr lang="en-US" altLang="en-US" smtClean="0"/>
              <a:t>, often known as </a:t>
            </a:r>
            <a:r>
              <a:rPr lang="en-US" altLang="en-US" i="1" smtClean="0"/>
              <a:t>attributes;</a:t>
            </a:r>
            <a:r>
              <a:rPr lang="en-US" altLang="en-US" smtClean="0"/>
              <a:t> and code, in the form of procedures, often known as </a:t>
            </a:r>
            <a:r>
              <a:rPr lang="en-US" altLang="en-US" i="1" smtClean="0">
                <a:hlinkClick r:id="rId6" tooltip="Method (computer science)"/>
              </a:rPr>
              <a:t>methods</a:t>
            </a:r>
            <a:r>
              <a:rPr lang="en-US" altLang="en-US" i="1" smtClean="0"/>
              <a:t>.</a:t>
            </a:r>
            <a:r>
              <a:rPr lang="en-US" altLang="en-US" smtClean="0"/>
              <a:t> A feature of objects is that an object's procedures can access and often modify the data fields of the object with which they are associated. </a:t>
            </a:r>
          </a:p>
          <a:p>
            <a:endParaRPr lang="en-US" altLang="en-US" smtClean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A3CABC3-D811-4662-8A94-D40C8489C6BC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4E14AE1-3EAE-4667-8A78-A459420CBFD6}" type="slidenum">
              <a:rPr lang="en-US" altLang="en-US" smtClean="0">
                <a:latin typeface="Calibri" panose="020F0502020204030204" pitchFamily="34" charset="0"/>
              </a:rPr>
              <a:pPr/>
              <a:t>4</a:t>
            </a:fld>
            <a:endParaRPr lang="en-US" altLang="en-US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CCA2DF8-B960-41B1-A684-0738ECFB65FE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 smtClean="0"/>
              <a:t>Historically, a program has been viewed as a logical procedure that takes input data, processes it, and produces output data.</a:t>
            </a: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D35639E-0184-46CF-8F92-6DC2A7671F55}" type="slidenum">
              <a:rPr lang="en-US" altLang="en-US" smtClean="0">
                <a:latin typeface="Calibri" panose="020F0502020204030204" pitchFamily="34" charset="0"/>
              </a:rPr>
              <a:pPr/>
              <a:t>6</a:t>
            </a:fld>
            <a:endParaRPr lang="en-US" altLang="en-US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98F66E2-12B6-406A-80D4-26D29B312E2A}" type="slidenum">
              <a:rPr lang="en-US" altLang="zh-TW" smtClean="0"/>
              <a:pPr>
                <a:spcBef>
                  <a:spcPct val="0"/>
                </a:spcBef>
              </a:pPr>
              <a:t>7</a:t>
            </a:fld>
            <a:endParaRPr lang="en-US" altLang="zh-TW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b="1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mtClean="0"/>
              <a:t>Uses assembler, </a:t>
            </a:r>
          </a:p>
          <a:p>
            <a:r>
              <a:rPr lang="en-US" altLang="en-US" smtClean="0"/>
              <a:t>An assembly language contains the same </a:t>
            </a:r>
            <a:r>
              <a:rPr lang="en-US" altLang="en-US" smtClean="0">
                <a:hlinkClick r:id="rId3"/>
              </a:rPr>
              <a:t>instructions</a:t>
            </a:r>
            <a:r>
              <a:rPr lang="en-US" altLang="en-US" smtClean="0"/>
              <a:t> as a machine language, but the instructions and </a:t>
            </a:r>
            <a:r>
              <a:rPr lang="en-US" altLang="en-US" smtClean="0">
                <a:hlinkClick r:id="rId4"/>
              </a:rPr>
              <a:t>variables</a:t>
            </a:r>
            <a:r>
              <a:rPr lang="en-US" altLang="en-US" smtClean="0"/>
              <a:t> have </a:t>
            </a:r>
            <a:r>
              <a:rPr lang="en-US" altLang="en-US" smtClean="0">
                <a:hlinkClick r:id="rId5"/>
              </a:rPr>
              <a:t>names</a:t>
            </a:r>
            <a:r>
              <a:rPr lang="en-US" altLang="en-US" smtClean="0"/>
              <a:t> instead of being just numbers., </a:t>
            </a:r>
          </a:p>
          <a:p>
            <a:r>
              <a:rPr lang="en-US" altLang="en-US" smtClean="0"/>
              <a:t>Each type of </a:t>
            </a:r>
            <a:r>
              <a:rPr lang="en-US" altLang="en-US" smtClean="0">
                <a:hlinkClick r:id="rId6"/>
              </a:rPr>
              <a:t>CPU</a:t>
            </a:r>
            <a:r>
              <a:rPr lang="en-US" altLang="en-US" smtClean="0"/>
              <a:t> has its own machine language and assembly language, so an assembly language </a:t>
            </a:r>
            <a:r>
              <a:rPr lang="en-US" altLang="en-US" smtClean="0">
                <a:hlinkClick r:id="rId7"/>
              </a:rPr>
              <a:t>program</a:t>
            </a:r>
            <a:r>
              <a:rPr lang="en-US" altLang="en-US" smtClean="0"/>
              <a:t> written for one type of CPU won't </a:t>
            </a:r>
            <a:r>
              <a:rPr lang="en-US" altLang="en-US" smtClean="0">
                <a:hlinkClick r:id="rId8"/>
              </a:rPr>
              <a:t>run</a:t>
            </a:r>
            <a:r>
              <a:rPr lang="en-US" altLang="en-US" smtClean="0"/>
              <a:t> on another.</a:t>
            </a: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768EA04-EC3F-487C-9193-6E994BC7EA43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9</a:t>
            </a:fld>
            <a:endParaRPr lang="en-US" alt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b="1" dirty="0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EDE0286-825D-41AB-A789-5F5E96156C48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10</a:t>
            </a:fld>
            <a:endParaRPr lang="en-US" alt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b="1" smtClean="0"/>
              <a:t>PopularitY of Programming Language Index</a:t>
            </a:r>
          </a:p>
          <a:p>
            <a:endParaRPr lang="en-US" altLang="en-US" smtClean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7AB347-3AD2-4A41-AEDC-8230E430C390}" type="slidenum">
              <a:rPr lang="en-US" altLang="en-US" smtClean="0">
                <a:latin typeface="Calibri" panose="020F0502020204030204" pitchFamily="34" charset="0"/>
              </a:rPr>
              <a:pPr/>
              <a:t>13</a:t>
            </a:fld>
            <a:endParaRPr lang="en-US" altLang="en-US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mtClean="0"/>
              <a:t> Java language is </a:t>
            </a:r>
            <a:r>
              <a:rPr lang="en-US" altLang="en-US" b="1" smtClean="0"/>
              <a:t>simple because: </a:t>
            </a:r>
            <a:r>
              <a:rPr lang="en-US" altLang="en-US" smtClean="0"/>
              <a:t>     </a:t>
            </a:r>
          </a:p>
          <a:p>
            <a:r>
              <a:rPr lang="en-US" altLang="en-US" smtClean="0"/>
              <a:t>syntax is based on C++ (so easier for programmers to learn it after C++). </a:t>
            </a: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C3B2371-87CB-43D9-8C15-43AA97965A08}" type="slidenum">
              <a:rPr lang="en-US" altLang="en-US" smtClean="0">
                <a:latin typeface="Calibri" panose="020F0502020204030204" pitchFamily="34" charset="0"/>
              </a:rPr>
              <a:pPr/>
              <a:t>21</a:t>
            </a:fld>
            <a:endParaRPr lang="en-US" altLang="en-US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6690341-A0C1-4F67-89F8-0B9467423BC6}" type="slidenum">
              <a:rPr lang="en-US" altLang="en-US" smtClean="0">
                <a:latin typeface="Calibri" panose="020F0502020204030204" pitchFamily="34" charset="0"/>
              </a:rPr>
              <a:pPr/>
              <a:t>23</a:t>
            </a:fld>
            <a:endParaRPr lang="en-US" altLang="en-US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b="1" dirty="0" smtClean="0">
              <a:solidFill>
                <a:srgbClr val="FF0000"/>
              </a:solidFill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6948200-DA77-4C35-88EA-155615B7648D}" type="slidenum">
              <a:rPr lang="en-US" altLang="en-US" smtClean="0">
                <a:latin typeface="Calibri" panose="020F0502020204030204" pitchFamily="34" charset="0"/>
              </a:rPr>
              <a:pPr/>
              <a:t>25</a:t>
            </a:fld>
            <a:endParaRPr lang="en-US" altLang="en-US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2C1B129-110F-44C4-9600-E031864BA299}" type="slidenum">
              <a:rPr lang="en-US" altLang="en-US" smtClean="0">
                <a:latin typeface="Calibri" panose="020F0502020204030204" pitchFamily="34" charset="0"/>
              </a:rPr>
              <a:pPr/>
              <a:t>26</a:t>
            </a:fld>
            <a:endParaRPr lang="en-US" altLang="en-US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Arial" pitchFamily="34" charset="0"/>
                <a:cs typeface="Arial" pitchFamily="34" charset="0"/>
              </a:defRPr>
            </a:lvl1pPr>
            <a:extLst/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534741B6-E02F-4256-9B21-3FDD1BD185E6}" type="datetimeFigureOut">
              <a:rPr lang="en-US"/>
              <a:pPr>
                <a:defRPr/>
              </a:pPr>
              <a:t>10/9/2021</a:t>
            </a:fld>
            <a:endParaRPr lang="en-US"/>
          </a:p>
        </p:txBody>
      </p:sp>
      <p:sp>
        <p:nvSpPr>
          <p:cNvPr id="1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32316C9-C645-45C3-A96B-9781CDB885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662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  <a:extLst/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extLst/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51544-7EA5-46DE-8471-654D2FB610D9}" type="datetimeFigureOut">
              <a:rPr lang="en-US"/>
              <a:pPr>
                <a:defRPr/>
              </a:pPr>
              <a:t>10/9/2021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C52184-0159-4D62-89DD-7E426F65EA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990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7F8D35C-572A-46CB-9AFF-B1051E6A883E}" type="datetimeFigureOut">
              <a:rPr lang="en-US"/>
              <a:pPr>
                <a:defRPr/>
              </a:pPr>
              <a:t>10/9/2021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B4679E-18DA-40C4-906A-717DF077AB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1992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3944233C-8D39-4674-B703-FBFA8C2B1B85}" type="datetimeFigureOut">
              <a:rPr lang="en-US"/>
              <a:pPr>
                <a:defRPr/>
              </a:pPr>
              <a:t>10/9/2021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FBB088-815B-4F37-AC81-DCC68DA41A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819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6E0BB902-3A64-4E42-931B-D3EF60A62763}" type="datetimeFigureOut">
              <a:rPr lang="en-US"/>
              <a:pPr>
                <a:defRPr/>
              </a:pPr>
              <a:t>10/9/2021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572CE2-5FE2-40DF-9CE8-FE75081FDA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193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66CF9583-8B1E-410A-827E-CE10CB3CC61E}" type="datetimeFigureOut">
              <a:rPr lang="en-US"/>
              <a:pPr>
                <a:defRPr/>
              </a:pPr>
              <a:t>10/9/2021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5DC772-7C6E-4AC9-A0E6-3C77477F0F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330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694A4C-CABE-45CD-BB61-2D74084BC385}" type="datetimeFigureOut">
              <a:rPr lang="en-US"/>
              <a:pPr>
                <a:defRPr/>
              </a:pPr>
              <a:t>10/9/2021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95C6DB-5433-4738-A34D-DC00117797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033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716815D0-1607-4BB5-98B9-CFCB8D42A485}" type="datetimeFigureOut">
              <a:rPr lang="en-US"/>
              <a:pPr>
                <a:defRPr/>
              </a:pPr>
              <a:t>10/9/2021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224485-5C81-45C6-87C9-A8394281A9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459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Freeform 15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18FD3743-4DE5-4C24-BF5A-917A0FFF6A2B}" type="datetimeFigureOut">
              <a:rPr lang="en-US"/>
              <a:pPr>
                <a:defRPr/>
              </a:pPr>
              <a:t>10/9/2021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B82639-999B-4593-ACC4-B8A7121D01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6811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20B0A-A31B-41C1-A336-BEF71D805A94}" type="datetimeFigureOut">
              <a:rPr lang="en-US"/>
              <a:pPr>
                <a:defRPr/>
              </a:pPr>
              <a:t>10/9/2021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1EBF-FD6E-4E83-83EF-DBDE7F300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327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A76501-A898-48AA-BD3A-E9FD4D155871}" type="datetimeFigureOut">
              <a:rPr lang="en-US"/>
              <a:pPr>
                <a:defRPr/>
              </a:pPr>
              <a:t>10/9/2021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0AF81-8D3A-4A8A-9D81-3A49F6ED0D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503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27" name="Freeform 11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09E0FB57-D11D-4C10-830B-F672EB5AF7F4}" type="datetimeFigureOut">
              <a:rPr lang="en-US"/>
              <a:pPr>
                <a:defRPr/>
              </a:pPr>
              <a:t>10/9/2021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Lucida Sans Unicode" panose="020B0602030504020204" pitchFamily="34" charset="0"/>
              </a:defRPr>
            </a:lvl1pPr>
          </a:lstStyle>
          <a:p>
            <a:pPr>
              <a:defRPr/>
            </a:pPr>
            <a:fld id="{9EBB1CEB-2D01-4C27-AF24-CE303A21FF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75" r:id="rId2"/>
    <p:sldLayoutId id="2147484080" r:id="rId3"/>
    <p:sldLayoutId id="2147484081" r:id="rId4"/>
    <p:sldLayoutId id="2147484082" r:id="rId5"/>
    <p:sldLayoutId id="2147484083" r:id="rId6"/>
    <p:sldLayoutId id="2147484076" r:id="rId7"/>
    <p:sldLayoutId id="2147484084" r:id="rId8"/>
    <p:sldLayoutId id="2147484085" r:id="rId9"/>
    <p:sldLayoutId id="2147484077" r:id="rId10"/>
    <p:sldLayoutId id="2147484078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9pPr>
      <a:extLst/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img.timeinc.net/time/2007/eating/makes_eat/makes_eat_time.jp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isticstimes.com/tech/top-computer-languages.php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0" y="838200"/>
            <a:ext cx="8534400" cy="2971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Object Oriented </a:t>
            </a:r>
            <a:br>
              <a:rPr lang="en-US" dirty="0" smtClean="0"/>
            </a:br>
            <a:r>
              <a:rPr lang="en-US" dirty="0" smtClean="0"/>
              <a:t>Programming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Text Books</a:t>
            </a:r>
            <a:endParaRPr lang="en-US" dirty="0"/>
          </a:p>
        </p:txBody>
      </p:sp>
      <p:pic>
        <p:nvPicPr>
          <p:cNvPr id="12291" name="Picture 2" descr="http://t2.gstatic.com/images?q=tbn:gZy-Gmyb332NYM:http://img135.imageshack.us/img135/2002/java.jpg&amp;t=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04800"/>
            <a:ext cx="2428875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 descr="http://www.ccjpint.org/upimages/1264759109576headfirstjav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733800"/>
            <a:ext cx="2386013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10" name="Picture 6" descr="http://www.garbett.org/images/2010/04/books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2514600"/>
            <a:ext cx="5543550" cy="4191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294" name="TextBox 5"/>
          <p:cNvSpPr txBox="1">
            <a:spLocks noChangeArrowheads="1"/>
          </p:cNvSpPr>
          <p:nvPr/>
        </p:nvSpPr>
        <p:spPr bwMode="auto">
          <a:xfrm>
            <a:off x="533400" y="1524000"/>
            <a:ext cx="48768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/>
              <a:t> The Complete Reference Java 2 by Herbert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   Schildt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Quiz                    10%</a:t>
            </a:r>
          </a:p>
          <a:p>
            <a:r>
              <a:rPr lang="en-US" altLang="en-US" smtClean="0"/>
              <a:t>Assignment         10%</a:t>
            </a:r>
          </a:p>
          <a:p>
            <a:r>
              <a:rPr lang="en-US" altLang="en-US" smtClean="0"/>
              <a:t>Mid Exam            30%</a:t>
            </a:r>
          </a:p>
          <a:p>
            <a:r>
              <a:rPr lang="en-US" altLang="en-US" smtClean="0"/>
              <a:t>Final Exam          50%</a:t>
            </a:r>
          </a:p>
          <a:p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Grading Criteria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dirty="0" smtClean="0">
                <a:latin typeface="Arial" charset="0"/>
                <a:cs typeface="Arial" charset="0"/>
              </a:rPr>
              <a:t>CLASSROOM ETIQUETTE: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Arrive at class </a:t>
            </a:r>
            <a:r>
              <a:rPr lang="en-US" altLang="en-US" smtClean="0">
                <a:solidFill>
                  <a:srgbClr val="FF0000"/>
                </a:solidFill>
              </a:rPr>
              <a:t>on time </a:t>
            </a:r>
          </a:p>
          <a:p>
            <a:r>
              <a:rPr lang="en-US" altLang="en-US" smtClean="0"/>
              <a:t>Do be prepared for class</a:t>
            </a:r>
            <a:endParaRPr lang="en-US" altLang="en-US" smtClean="0">
              <a:solidFill>
                <a:srgbClr val="FF0000"/>
              </a:solidFill>
            </a:endParaRPr>
          </a:p>
          <a:p>
            <a:r>
              <a:rPr lang="en-US" altLang="en-US" smtClean="0"/>
              <a:t>Most classes will begin on time and end on time. If you need to know </a:t>
            </a:r>
            <a:r>
              <a:rPr lang="en-US" altLang="en-US" smtClean="0">
                <a:solidFill>
                  <a:srgbClr val="FF0000"/>
                </a:solidFill>
              </a:rPr>
              <a:t>about schedule or assignment </a:t>
            </a:r>
            <a:r>
              <a:rPr lang="en-US" altLang="en-US" smtClean="0"/>
              <a:t>changes, kindly ask about them from the class representative. If you have a real </a:t>
            </a:r>
            <a:r>
              <a:rPr lang="en-US" altLang="en-US" smtClean="0">
                <a:solidFill>
                  <a:srgbClr val="FF0000"/>
                </a:solidFill>
              </a:rPr>
              <a:t>need to leave the class early</a:t>
            </a:r>
            <a:r>
              <a:rPr lang="en-US" altLang="en-US" smtClean="0"/>
              <a:t>, just leave quietly.</a:t>
            </a:r>
          </a:p>
          <a:p>
            <a:r>
              <a:rPr lang="en-US" altLang="en-US" smtClean="0"/>
              <a:t>Do put cell phones away and on vibrate…Texting should not be going on in class</a:t>
            </a:r>
          </a:p>
          <a:p>
            <a:r>
              <a:rPr lang="en-US" altLang="en-US" smtClean="0"/>
              <a:t>Do stay AWAKE and be attentive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</p:txBody>
      </p:sp>
      <p:pic>
        <p:nvPicPr>
          <p:cNvPr id="14340" name="Picture 2" descr="See full size image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838200"/>
            <a:ext cx="17145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What is a Program?</a:t>
            </a:r>
          </a:p>
          <a:p>
            <a:r>
              <a:rPr lang="en-US" altLang="en-US" smtClean="0"/>
              <a:t>Evolution of Programming Languages</a:t>
            </a:r>
          </a:p>
          <a:p>
            <a:r>
              <a:rPr lang="en-US" altLang="en-US" smtClean="0"/>
              <a:t>Why Java </a:t>
            </a:r>
          </a:p>
          <a:p>
            <a:r>
              <a:rPr lang="en-US" altLang="en-US" smtClean="0"/>
              <a:t>Java History</a:t>
            </a:r>
          </a:p>
          <a:p>
            <a:r>
              <a:rPr lang="en-US" altLang="en-US" smtClean="0"/>
              <a:t>Versions of Java</a:t>
            </a:r>
          </a:p>
          <a:p>
            <a:r>
              <a:rPr lang="en-US" altLang="en-US" smtClean="0"/>
              <a:t>Features of Java</a:t>
            </a:r>
          </a:p>
          <a:p>
            <a:r>
              <a:rPr lang="en-US" altLang="en-US" smtClean="0"/>
              <a:t>Java Procedure</a:t>
            </a:r>
          </a:p>
          <a:p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Topics To be Covered Today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ontent Placeholder 1"/>
          <p:cNvSpPr>
            <a:spLocks noGrp="1"/>
          </p:cNvSpPr>
          <p:nvPr>
            <p:ph idx="1"/>
          </p:nvPr>
        </p:nvSpPr>
        <p:spPr>
          <a:xfrm>
            <a:off x="304800" y="1447800"/>
            <a:ext cx="80010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 </a:t>
            </a:r>
            <a:r>
              <a:rPr lang="en-US" sz="2400" dirty="0" smtClean="0">
                <a:solidFill>
                  <a:srgbClr val="FF0000"/>
                </a:solidFill>
              </a:rPr>
              <a:t>computer program </a:t>
            </a:r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(also a software program, or just a program) is a sequence of instructions written to perform a specified task for a computer. 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2400" i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eaLnBrk="1" hangingPunct="1">
              <a:defRPr/>
            </a:pPr>
            <a:endParaRPr lang="en-US" dirty="0" smtClean="0">
              <a:latin typeface="Arial" charset="0"/>
              <a:cs typeface="Arial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What is a Program?</a:t>
            </a:r>
            <a:endParaRPr lang="en-US" dirty="0"/>
          </a:p>
        </p:txBody>
      </p:sp>
      <p:pic>
        <p:nvPicPr>
          <p:cNvPr id="18436" name="Picture 5" descr="http://cs.unc.edu/~mcmillan/comp136/Lecture2/java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438400"/>
            <a:ext cx="5867400" cy="415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>
                <a:ea typeface="新細明體" pitchFamily="18" charset="-120"/>
              </a:rPr>
              <a:t>The Evolution of Programming Languages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ea typeface="PMingLiU" pitchFamily="18" charset="-120"/>
              </a:rPr>
              <a:t>Machine language: 1940’s</a:t>
            </a:r>
          </a:p>
          <a:p>
            <a:pPr eaLnBrk="1" hangingPunct="1"/>
            <a:r>
              <a:rPr lang="en-US" altLang="zh-TW" smtClean="0">
                <a:ea typeface="PMingLiU" pitchFamily="18" charset="-120"/>
              </a:rPr>
              <a:t>Assembly language: early 1950’s</a:t>
            </a:r>
          </a:p>
          <a:p>
            <a:pPr eaLnBrk="1" hangingPunct="1"/>
            <a:r>
              <a:rPr lang="en-US" altLang="zh-TW" smtClean="0">
                <a:ea typeface="PMingLiU" pitchFamily="18" charset="-120"/>
              </a:rPr>
              <a:t>Higher-level languages: late 1950’s</a:t>
            </a:r>
          </a:p>
          <a:p>
            <a:pPr lvl="1" eaLnBrk="1" hangingPunct="1"/>
            <a:r>
              <a:rPr lang="en-US" altLang="zh-TW" smtClean="0">
                <a:ea typeface="PMingLiU" pitchFamily="18" charset="-120"/>
              </a:rPr>
              <a:t>Fortran: scientific computation</a:t>
            </a:r>
          </a:p>
          <a:p>
            <a:pPr lvl="1" eaLnBrk="1" hangingPunct="1"/>
            <a:r>
              <a:rPr lang="en-US" altLang="zh-TW" smtClean="0">
                <a:ea typeface="PMingLiU" pitchFamily="18" charset="-120"/>
              </a:rPr>
              <a:t>Cobol: business data processing</a:t>
            </a:r>
          </a:p>
          <a:p>
            <a:pPr lvl="1" eaLnBrk="1" hangingPunct="1"/>
            <a:r>
              <a:rPr lang="en-US" altLang="zh-TW" smtClean="0">
                <a:ea typeface="PMingLiU" pitchFamily="18" charset="-120"/>
              </a:rPr>
              <a:t>Lisp: symbolic computation</a:t>
            </a:r>
          </a:p>
          <a:p>
            <a:pPr eaLnBrk="1" hangingPunct="1"/>
            <a:r>
              <a:rPr lang="en-US" altLang="zh-TW" smtClean="0">
                <a:ea typeface="PMingLiU" pitchFamily="18" charset="-120"/>
              </a:rPr>
              <a:t>Today: thousands of programming languages</a:t>
            </a:r>
          </a:p>
          <a:p>
            <a:pPr eaLnBrk="1" hangingPunct="1"/>
            <a:r>
              <a:rPr lang="en-US" altLang="zh-TW" smtClean="0">
                <a:ea typeface="PMingLiU" pitchFamily="18" charset="-120"/>
                <a:hlinkClick r:id="rId3"/>
              </a:rPr>
              <a:t>https://statisticstimes.com/tech/top-computer-languages.php</a:t>
            </a:r>
            <a:r>
              <a:rPr lang="en-US" altLang="zh-TW" smtClean="0">
                <a:ea typeface="PMingLiU" pitchFamily="18" charset="-120"/>
              </a:rPr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096000"/>
            <a:ext cx="9144000" cy="762000"/>
          </a:xfrm>
        </p:spPr>
        <p:txBody>
          <a:bodyPr/>
          <a:lstStyle/>
          <a:p>
            <a:pPr algn="l">
              <a:defRPr/>
            </a:pPr>
            <a:r>
              <a:rPr lang="en-US" sz="1800" dirty="0" smtClean="0"/>
              <a:t>http://www.howtogeek.com/94917/the-evolution-of-computer-programming-languages-infographic</a:t>
            </a:r>
            <a:r>
              <a:rPr lang="en-US" dirty="0" smtClean="0"/>
              <a:t>/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161645"/>
                </a:solidFill>
              </a:rPr>
              <a:t>Machine Languages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mtClean="0"/>
              <a:t>Comprised of 1s and 0s</a:t>
            </a:r>
          </a:p>
          <a:p>
            <a:pPr>
              <a:lnSpc>
                <a:spcPct val="110000"/>
              </a:lnSpc>
            </a:pPr>
            <a:r>
              <a:rPr lang="en-US" altLang="en-US" smtClean="0"/>
              <a:t>The </a:t>
            </a:r>
            <a:r>
              <a:rPr lang="ja-JP" altLang="en-US" b="1" i="1" smtClean="0"/>
              <a:t>“</a:t>
            </a:r>
            <a:r>
              <a:rPr lang="en-US" altLang="en-US" b="1" i="1" smtClean="0">
                <a:solidFill>
                  <a:srgbClr val="FF0000"/>
                </a:solidFill>
              </a:rPr>
              <a:t>native</a:t>
            </a:r>
            <a:r>
              <a:rPr lang="ja-JP" altLang="en-US" b="1" i="1" smtClean="0">
                <a:solidFill>
                  <a:srgbClr val="FF0000"/>
                </a:solidFill>
              </a:rPr>
              <a:t>”</a:t>
            </a:r>
            <a:r>
              <a:rPr lang="en-US" altLang="en-US" b="1" i="1" smtClean="0">
                <a:solidFill>
                  <a:srgbClr val="FF0000"/>
                </a:solidFill>
              </a:rPr>
              <a:t> language </a:t>
            </a:r>
            <a:r>
              <a:rPr lang="en-US" altLang="en-US" smtClean="0"/>
              <a:t>of a computer</a:t>
            </a:r>
          </a:p>
          <a:p>
            <a:pPr>
              <a:lnSpc>
                <a:spcPct val="110000"/>
              </a:lnSpc>
            </a:pPr>
            <a:r>
              <a:rPr lang="en-US" altLang="en-US" smtClean="0">
                <a:solidFill>
                  <a:srgbClr val="FF0000"/>
                </a:solidFill>
              </a:rPr>
              <a:t>Difficult to program </a:t>
            </a:r>
            <a:r>
              <a:rPr lang="en-US" altLang="en-US" smtClean="0"/>
              <a:t>– one misplaced 1 or 0 will cause the program to fail.</a:t>
            </a:r>
          </a:p>
          <a:p>
            <a:pPr>
              <a:lnSpc>
                <a:spcPct val="110000"/>
              </a:lnSpc>
            </a:pPr>
            <a:r>
              <a:rPr lang="en-US" altLang="en-US" smtClean="0"/>
              <a:t>Example of code:</a:t>
            </a:r>
            <a:br>
              <a:rPr lang="en-US" altLang="en-US" smtClean="0"/>
            </a:br>
            <a:r>
              <a:rPr lang="en-US" altLang="en-US" sz="2800" b="1" smtClean="0">
                <a:solidFill>
                  <a:schemeClr val="hlink"/>
                </a:solidFill>
                <a:latin typeface="Courier New" panose="02070309020205020404" pitchFamily="49" charset="0"/>
              </a:rPr>
              <a:t>1110100010101     111010101110         </a:t>
            </a:r>
            <a:br>
              <a:rPr lang="en-US" altLang="en-US" sz="2800" b="1" smtClean="0">
                <a:solidFill>
                  <a:schemeClr val="hlink"/>
                </a:solidFill>
                <a:latin typeface="Courier New" panose="02070309020205020404" pitchFamily="49" charset="0"/>
              </a:rPr>
            </a:br>
            <a:r>
              <a:rPr lang="en-US" altLang="en-US" sz="2800" b="1" smtClean="0">
                <a:solidFill>
                  <a:schemeClr val="hlink"/>
                </a:solidFill>
                <a:latin typeface="Courier New" panose="02070309020205020404" pitchFamily="49" charset="0"/>
              </a:rPr>
              <a:t>10111010110100    10100011110111</a:t>
            </a:r>
          </a:p>
          <a:p>
            <a:pPr>
              <a:lnSpc>
                <a:spcPct val="110000"/>
              </a:lnSpc>
            </a:pPr>
            <a:endParaRPr lang="en-US" altLang="en-US" smtClean="0"/>
          </a:p>
        </p:txBody>
      </p:sp>
    </p:spTree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161645"/>
                </a:solidFill>
              </a:rPr>
              <a:t>Assembly Languages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r>
              <a:rPr lang="en-US" altLang="en-US" sz="2800" smtClean="0"/>
              <a:t>Assembly languages are a step towards easier programming. </a:t>
            </a:r>
          </a:p>
          <a:p>
            <a:r>
              <a:rPr lang="en-US" altLang="en-US" sz="2800" smtClean="0"/>
              <a:t>Assembly languages are comprised of a </a:t>
            </a:r>
            <a:r>
              <a:rPr lang="en-US" altLang="en-US" sz="2800" b="1" i="1" smtClean="0"/>
              <a:t>set of elemental commands</a:t>
            </a:r>
            <a:r>
              <a:rPr lang="en-US" altLang="en-US" sz="2800" smtClean="0"/>
              <a:t> which are tied to a specific processor.</a:t>
            </a:r>
          </a:p>
          <a:p>
            <a:r>
              <a:rPr lang="en-US" altLang="en-US" sz="2800" smtClean="0"/>
              <a:t>Assembly language code needs to be translated to machine language before the computer processes it.</a:t>
            </a:r>
          </a:p>
          <a:p>
            <a:r>
              <a:rPr lang="en-US" altLang="en-US" sz="2800" smtClean="0"/>
              <a:t>Example:</a:t>
            </a:r>
            <a:br>
              <a:rPr lang="en-US" altLang="en-US" sz="2800" smtClean="0"/>
            </a:br>
            <a:r>
              <a:rPr lang="en-US" altLang="en-US" sz="2800" b="1" smtClean="0">
                <a:solidFill>
                  <a:schemeClr val="hlink"/>
                </a:solidFill>
                <a:latin typeface="Courier New" panose="02070309020205020404" pitchFamily="49" charset="0"/>
              </a:rPr>
              <a:t>ADD  1001010, 1011010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solidFill>
                  <a:srgbClr val="161645"/>
                </a:solidFill>
              </a:rPr>
              <a:t>High-Level Languages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8229600" cy="4525962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en-US" sz="2800" dirty="0"/>
              <a:t>High-level languages represent a giant leap towards easier programming.</a:t>
            </a:r>
          </a:p>
          <a:p>
            <a:pPr>
              <a:lnSpc>
                <a:spcPct val="120000"/>
              </a:lnSpc>
              <a:defRPr/>
            </a:pPr>
            <a:r>
              <a:rPr lang="en-US" sz="2800" dirty="0"/>
              <a:t>The syntax of HL languages is similar to English. </a:t>
            </a:r>
            <a:endParaRPr lang="en-US" sz="2800" dirty="0" smtClean="0"/>
          </a:p>
          <a:p>
            <a:pPr marL="1295400" lvl="2" indent="-304800" algn="just" eaLnBrk="1" hangingPunct="1">
              <a:lnSpc>
                <a:spcPct val="120000"/>
              </a:lnSpc>
              <a:defRPr/>
            </a:pPr>
            <a:r>
              <a:rPr lang="en-US" sz="1800" dirty="0">
                <a:latin typeface="Times New Roman" charset="0"/>
              </a:rPr>
              <a:t>Example:</a:t>
            </a:r>
          </a:p>
          <a:p>
            <a:pPr marL="1752600" lvl="3" indent="-342900" algn="just" eaLnBrk="1" hangingPunct="1">
              <a:lnSpc>
                <a:spcPct val="120000"/>
              </a:lnSpc>
              <a:buFontTx/>
              <a:buNone/>
              <a:defRPr/>
            </a:pPr>
            <a:r>
              <a:rPr lang="en-US" sz="1800" b="1" dirty="0" err="1" smtClean="0">
                <a:solidFill>
                  <a:schemeClr val="accent1">
                    <a:lumMod val="50000"/>
                  </a:schemeClr>
                </a:solidFill>
                <a:latin typeface="Courier New" charset="0"/>
              </a:rPr>
              <a:t>Student_name</a:t>
            </a:r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  <a:latin typeface="Courier New" charset="0"/>
              </a:rPr>
              <a:t> 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Courier New" charset="0"/>
              </a:rPr>
              <a:t>= </a:t>
            </a:r>
            <a:r>
              <a:rPr lang="en-US" sz="1800" b="1" dirty="0" err="1" smtClean="0">
                <a:solidFill>
                  <a:schemeClr val="accent1">
                    <a:lumMod val="50000"/>
                  </a:schemeClr>
                </a:solidFill>
                <a:latin typeface="Courier New" charset="0"/>
              </a:rPr>
              <a:t>first_name</a:t>
            </a:r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  <a:latin typeface="Courier New" charset="0"/>
              </a:rPr>
              <a:t> 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Courier New" charset="0"/>
              </a:rPr>
              <a:t>+ </a:t>
            </a:r>
            <a:r>
              <a:rPr lang="en-US" sz="1800" b="1" dirty="0" err="1" smtClean="0">
                <a:solidFill>
                  <a:schemeClr val="accent1">
                    <a:lumMod val="50000"/>
                  </a:schemeClr>
                </a:solidFill>
                <a:latin typeface="Courier New" charset="0"/>
              </a:rPr>
              <a:t>last_name</a:t>
            </a:r>
            <a:endParaRPr lang="en-US" sz="1800" b="1" dirty="0">
              <a:solidFill>
                <a:schemeClr val="accent1">
                  <a:lumMod val="50000"/>
                </a:schemeClr>
              </a:solidFill>
              <a:latin typeface="Courier New" charset="0"/>
            </a:endParaRPr>
          </a:p>
          <a:p>
            <a:pPr marL="1295400" lvl="2" indent="-304800" algn="just" eaLnBrk="1" hangingPunct="1">
              <a:lnSpc>
                <a:spcPct val="120000"/>
              </a:lnSpc>
              <a:defRPr/>
            </a:pPr>
            <a:r>
              <a:rPr lang="en-US" sz="1800" dirty="0">
                <a:latin typeface="Times New Roman" charset="0"/>
              </a:rPr>
              <a:t>Interpreter – Executes high level language programs without compilation</a:t>
            </a:r>
            <a:r>
              <a:rPr lang="en-US" sz="1800" dirty="0" smtClean="0">
                <a:latin typeface="Times New Roman" charset="0"/>
              </a:rPr>
              <a:t>.</a:t>
            </a:r>
            <a:endParaRPr lang="en-US" sz="2000" dirty="0"/>
          </a:p>
          <a:p>
            <a:pPr>
              <a:lnSpc>
                <a:spcPct val="120000"/>
              </a:lnSpc>
              <a:defRPr/>
            </a:pPr>
            <a:r>
              <a:rPr lang="en-US" sz="2800" dirty="0"/>
              <a:t>Historically, we divide HL languages into two groups:</a:t>
            </a:r>
          </a:p>
          <a:p>
            <a:pPr lvl="1">
              <a:lnSpc>
                <a:spcPct val="120000"/>
              </a:lnSpc>
              <a:defRPr/>
            </a:pPr>
            <a:r>
              <a:rPr lang="en-US" i="1" dirty="0">
                <a:solidFill>
                  <a:srgbClr val="800000"/>
                </a:solidFill>
              </a:rPr>
              <a:t>Procedural languages</a:t>
            </a:r>
          </a:p>
          <a:p>
            <a:pPr lvl="1">
              <a:lnSpc>
                <a:spcPct val="120000"/>
              </a:lnSpc>
              <a:defRPr/>
            </a:pPr>
            <a:r>
              <a:rPr lang="en-US" i="1" dirty="0">
                <a:solidFill>
                  <a:srgbClr val="800000"/>
                </a:solidFill>
              </a:rPr>
              <a:t>Object-Oriented languages (OOP)</a:t>
            </a:r>
          </a:p>
        </p:txBody>
      </p:sp>
    </p:spTree>
  </p:cSld>
  <p:clrMapOvr>
    <a:masterClrMapping/>
  </p:clrMapOvr>
  <p:transition spd="slow">
    <p:push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What is Programming?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When we say “programming” we are actually referring to the science of transforming our intentions in a high-level programming language. </a:t>
            </a:r>
          </a:p>
        </p:txBody>
      </p:sp>
      <p:pic>
        <p:nvPicPr>
          <p:cNvPr id="25604" name="Picture 5" descr="http://farm1.static.flickr.com/191/513498632_e57b7e496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2895600"/>
            <a:ext cx="4762500" cy="35433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5605" name="Picture 7" descr="http://www.saadkamal.com/wp-content/uploads/2008/11/programming-for-children-300x20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9800" y="3752850"/>
            <a:ext cx="2857500" cy="196215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5606" name="Picture 9" descr="http://globalnerdy.com/wordpress/wp-content/uploads/2007/11/pair_programming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2895600"/>
            <a:ext cx="3429000" cy="349567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What are we doing in this course?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altLang="en-US" sz="2800" smtClean="0"/>
          </a:p>
          <a:p>
            <a:pPr eaLnBrk="1" hangingPunct="1">
              <a:lnSpc>
                <a:spcPct val="80000"/>
              </a:lnSpc>
            </a:pPr>
            <a:endParaRPr lang="en-US" altLang="en-US" sz="2800" smtClean="0"/>
          </a:p>
          <a:p>
            <a:pPr eaLnBrk="1" hangingPunct="1">
              <a:lnSpc>
                <a:spcPct val="80000"/>
              </a:lnSpc>
            </a:pPr>
            <a:r>
              <a:rPr lang="en-US" altLang="en-US" sz="2800" smtClean="0"/>
              <a:t>Learn programming in a high-level programming language.</a:t>
            </a:r>
          </a:p>
          <a:p>
            <a:pPr eaLnBrk="1" hangingPunct="1">
              <a:lnSpc>
                <a:spcPct val="80000"/>
              </a:lnSpc>
            </a:pPr>
            <a:endParaRPr lang="en-US" altLang="en-US" sz="2800" smtClean="0"/>
          </a:p>
          <a:p>
            <a:pPr eaLnBrk="1" hangingPunct="1">
              <a:lnSpc>
                <a:spcPct val="80000"/>
              </a:lnSpc>
            </a:pPr>
            <a:r>
              <a:rPr lang="en-US" altLang="en-US" sz="2800" smtClean="0"/>
              <a:t>We will study Object-Oriented Programming using ‘</a:t>
            </a:r>
            <a:r>
              <a:rPr lang="en-US" altLang="en-US" sz="2800" b="1" smtClean="0">
                <a:solidFill>
                  <a:srgbClr val="FF0000"/>
                </a:solidFill>
              </a:rPr>
              <a:t>Java</a:t>
            </a:r>
            <a:r>
              <a:rPr lang="en-US" altLang="en-US" sz="2800" smtClean="0"/>
              <a:t>’, a popular high-level object-oriented programming language.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Why Java?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It’s the current “hot” language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Java mean </a:t>
            </a:r>
            <a:r>
              <a:rPr lang="en-US" altLang="en-US" b="1" smtClean="0">
                <a:solidFill>
                  <a:srgbClr val="FF0000"/>
                </a:solidFill>
              </a:rPr>
              <a:t>Cup of coffee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It’s almost entirely object-oriented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It has a vast library of predefined objects and operations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It’s more platform independent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this makes it great for Web programming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It’s more secure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It isn’t C++</a:t>
            </a:r>
          </a:p>
        </p:txBody>
      </p:sp>
      <p:pic>
        <p:nvPicPr>
          <p:cNvPr id="28676" name="Picture 4" descr="C:\Users\FAHAD KHAN\Desktop\java pics\imagesCA4YMVHD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24600" y="914400"/>
            <a:ext cx="2619375" cy="17430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8678" name="Picture 7" descr="C:\Users\FAHAD KHAN\Desktop\java slides\Java_wand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29400" y="3810000"/>
            <a:ext cx="2286000" cy="24860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350" y="4495800"/>
            <a:ext cx="42386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smtClean="0"/>
              <a:t>Java</a:t>
            </a:r>
          </a:p>
          <a:p>
            <a:pPr lvl="1"/>
            <a:r>
              <a:rPr lang="en-US" altLang="en-US" sz="2400" smtClean="0"/>
              <a:t>was created in 1991</a:t>
            </a:r>
          </a:p>
          <a:p>
            <a:pPr lvl="1"/>
            <a:r>
              <a:rPr lang="en-US" altLang="en-US" sz="2400" smtClean="0"/>
              <a:t>by James Gosling et al. of Sun Microsystems.</a:t>
            </a:r>
          </a:p>
          <a:p>
            <a:pPr lvl="1"/>
            <a:r>
              <a:rPr lang="en-US" altLang="en-US" sz="2400" smtClean="0"/>
              <a:t>Initially called </a:t>
            </a:r>
            <a:r>
              <a:rPr lang="en-US" altLang="en-US" sz="2400" b="1" smtClean="0">
                <a:solidFill>
                  <a:srgbClr val="FF0000"/>
                </a:solidFill>
              </a:rPr>
              <a:t>Oak</a:t>
            </a:r>
            <a:r>
              <a:rPr lang="en-US" altLang="en-US" sz="2400" smtClean="0"/>
              <a:t>, in honor of the tree outside Gosling's window, its name was changed to </a:t>
            </a:r>
            <a:r>
              <a:rPr lang="en-US" altLang="en-US" sz="2400" b="1" smtClean="0">
                <a:solidFill>
                  <a:srgbClr val="FF0000"/>
                </a:solidFill>
              </a:rPr>
              <a:t>Java</a:t>
            </a:r>
            <a:r>
              <a:rPr lang="en-US" altLang="en-US" sz="2400" smtClean="0"/>
              <a:t> because there was already a language called </a:t>
            </a:r>
            <a:r>
              <a:rPr lang="en-US" altLang="en-US" sz="2400" b="1" smtClean="0">
                <a:solidFill>
                  <a:srgbClr val="FF0000"/>
                </a:solidFill>
              </a:rPr>
              <a:t>Oak</a:t>
            </a:r>
            <a:r>
              <a:rPr lang="en-US" altLang="en-US" sz="2400" smtClean="0"/>
              <a:t>.</a:t>
            </a:r>
            <a:br>
              <a:rPr lang="en-US" altLang="en-US" sz="2400" smtClean="0"/>
            </a:br>
            <a:endParaRPr lang="en-US" altLang="en-US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Java History</a:t>
            </a:r>
            <a:endParaRPr lang="en-US" dirty="0"/>
          </a:p>
        </p:txBody>
      </p:sp>
      <p:pic>
        <p:nvPicPr>
          <p:cNvPr id="29700" name="Picture 4" descr="C:\Users\FAHAD KHAN\Desktop\java pics\java_startin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3810000"/>
            <a:ext cx="2028825" cy="1905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9701" name="Picture 5" descr="C:\Users\FAHAD KHAN\Desktop\java slides\1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0" y="3962400"/>
            <a:ext cx="3124200" cy="1600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600" dirty="0" smtClean="0"/>
              <a:t>The term </a:t>
            </a:r>
            <a:r>
              <a:rPr lang="en-US" sz="2600" i="1" dirty="0" smtClean="0">
                <a:solidFill>
                  <a:srgbClr val="FF0000"/>
                </a:solidFill>
              </a:rPr>
              <a:t>Java</a:t>
            </a:r>
            <a:r>
              <a:rPr lang="en-US" sz="2600" dirty="0" smtClean="0"/>
              <a:t> actual refers to more than just a particular language like C or Pascal. Java encompasses several parts, including : </a:t>
            </a:r>
          </a:p>
          <a:p>
            <a:pPr marL="621348" lvl="1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200" b="1" dirty="0" smtClean="0"/>
              <a:t>A high level language</a:t>
            </a:r>
            <a:r>
              <a:rPr lang="en-US" sz="2200" dirty="0" smtClean="0"/>
              <a:t> � the Java language is a high level one that at a glance looks very similar to C and C++ but offers many unique features of its own. </a:t>
            </a:r>
            <a:br>
              <a:rPr lang="en-US" sz="2200" dirty="0" smtClean="0"/>
            </a:br>
            <a:endParaRPr lang="en-US" sz="2200" dirty="0" smtClean="0"/>
          </a:p>
          <a:p>
            <a:pPr marL="621348" lvl="1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200" b="1" dirty="0" smtClean="0"/>
              <a:t>Java </a:t>
            </a:r>
            <a:r>
              <a:rPr lang="en-US" sz="2200" b="1" dirty="0" err="1" smtClean="0"/>
              <a:t>bytecode</a:t>
            </a:r>
            <a:r>
              <a:rPr lang="en-US" sz="2200" dirty="0" smtClean="0"/>
              <a:t> - a compiler, such as </a:t>
            </a:r>
            <a:r>
              <a:rPr lang="en-US" sz="2200" dirty="0" smtClean="0">
                <a:solidFill>
                  <a:srgbClr val="FF0000"/>
                </a:solidFill>
              </a:rPr>
              <a:t>Sun's </a:t>
            </a:r>
            <a:r>
              <a:rPr lang="en-US" sz="2200" dirty="0" err="1" smtClean="0">
                <a:solidFill>
                  <a:srgbClr val="FF0000"/>
                </a:solidFill>
              </a:rPr>
              <a:t>javac</a:t>
            </a:r>
            <a:r>
              <a:rPr lang="en-US" sz="2200" dirty="0" smtClean="0"/>
              <a:t>, transforms the Java language source code to </a:t>
            </a:r>
            <a:r>
              <a:rPr lang="en-US" sz="2200" dirty="0" err="1" smtClean="0"/>
              <a:t>bytecode</a:t>
            </a:r>
            <a:r>
              <a:rPr lang="en-US" sz="2200" dirty="0" smtClean="0"/>
              <a:t> that runs in the JVM.</a:t>
            </a:r>
            <a:br>
              <a:rPr lang="en-US" sz="2200" dirty="0" smtClean="0"/>
            </a:br>
            <a:endParaRPr lang="en-US" sz="2200" dirty="0" smtClean="0"/>
          </a:p>
          <a:p>
            <a:pPr marL="621348" lvl="1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200" b="1" dirty="0" smtClean="0"/>
              <a:t>Java Virtual Machine (JVM)</a:t>
            </a:r>
            <a:r>
              <a:rPr lang="en-US" sz="2200" dirty="0" smtClean="0"/>
              <a:t> a program, such as </a:t>
            </a:r>
            <a:r>
              <a:rPr lang="en-US" sz="2200" dirty="0" smtClean="0">
                <a:solidFill>
                  <a:srgbClr val="FF0000"/>
                </a:solidFill>
              </a:rPr>
              <a:t>Sun's java</a:t>
            </a:r>
            <a:r>
              <a:rPr lang="en-US" sz="2200" dirty="0" smtClean="0"/>
              <a:t>, that runs on a given platform and takes the </a:t>
            </a:r>
            <a:r>
              <a:rPr lang="en-US" sz="2200" dirty="0" err="1" smtClean="0"/>
              <a:t>bytecode</a:t>
            </a:r>
            <a:r>
              <a:rPr lang="en-US" sz="2200" dirty="0" smtClean="0"/>
              <a:t> programs as input and interprets them just as if it were a physical processor executing machine code.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Java History contd. . . . 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001000" cy="4525962"/>
          </a:xfrm>
        </p:spPr>
        <p:txBody>
          <a:bodyPr/>
          <a:lstStyle/>
          <a:p>
            <a:pPr eaLnBrk="1" hangingPunct="1"/>
            <a:r>
              <a:rPr lang="en-US" altLang="en-US" sz="2400" smtClean="0"/>
              <a:t>Sun provides a set of programming tools such as </a:t>
            </a:r>
            <a:r>
              <a:rPr lang="en-US" altLang="en-US" sz="2400" smtClean="0">
                <a:solidFill>
                  <a:srgbClr val="FF0000"/>
                </a:solidFill>
              </a:rPr>
              <a:t>javac</a:t>
            </a:r>
            <a:r>
              <a:rPr lang="en-US" altLang="en-US" sz="2400" smtClean="0"/>
              <a:t>, </a:t>
            </a:r>
            <a:r>
              <a:rPr lang="en-US" altLang="en-US" sz="2400" smtClean="0">
                <a:solidFill>
                  <a:srgbClr val="FF0000"/>
                </a:solidFill>
              </a:rPr>
              <a:t>java </a:t>
            </a:r>
            <a:r>
              <a:rPr lang="en-US" altLang="en-US" sz="2400" smtClean="0"/>
              <a:t>and others in a bundle that it calls a Java</a:t>
            </a:r>
            <a:r>
              <a:rPr lang="en-US" altLang="en-US" sz="2400" i="1" smtClean="0"/>
              <a:t> </a:t>
            </a:r>
            <a:r>
              <a:rPr lang="en-US" altLang="en-US" sz="2400" i="1" smtClean="0">
                <a:solidFill>
                  <a:srgbClr val="FF0000"/>
                </a:solidFill>
              </a:rPr>
              <a:t>Software Development Kit</a:t>
            </a:r>
            <a:r>
              <a:rPr lang="en-US" altLang="en-US" sz="2400" smtClean="0">
                <a:solidFill>
                  <a:srgbClr val="FF0000"/>
                </a:solidFill>
              </a:rPr>
              <a:t> </a:t>
            </a:r>
            <a:r>
              <a:rPr lang="en-US" altLang="en-US" sz="2400" smtClean="0"/>
              <a:t>for each version of the language and for different platforms such as Windows, Linux, etc.. </a:t>
            </a:r>
          </a:p>
          <a:p>
            <a:pPr eaLnBrk="1" hangingPunct="1"/>
            <a:r>
              <a:rPr lang="en-US" altLang="en-US" sz="2400" smtClean="0"/>
              <a:t>Sun also provides a runtime bundle with just the JVM when the programming tools are not needed. 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Java History contd. . . . 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 smtClean="0"/>
              <a:t>Since its introduction, Sun has released a new version of the Java language every two years or so. 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 smtClean="0"/>
              <a:t>These new versions brought enhancements, new capabilities and fixes to bugs. 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 smtClean="0"/>
              <a:t>Until recently, the versions were numbered 1.x, where x reached up till 4. (Intermediate revisions were labeled with a third number - 1.x.y - as in 1.4.2.) 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 smtClean="0"/>
              <a:t>The next version, however, is called Java 5.0 rather than Java 1.5. 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Versions of Java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Content Placeholder 1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254500"/>
          </a:xfrm>
        </p:spPr>
        <p:txBody>
          <a:bodyPr/>
          <a:lstStyle/>
          <a:p>
            <a:r>
              <a:rPr lang="en-US" altLang="en-US" smtClean="0"/>
              <a:t>JDK 1.0 (January 23, 1996)</a:t>
            </a:r>
          </a:p>
          <a:p>
            <a:r>
              <a:rPr lang="en-US" altLang="en-US" smtClean="0"/>
              <a:t>JDK 1.1 (February 19, 1997)</a:t>
            </a:r>
          </a:p>
          <a:p>
            <a:r>
              <a:rPr lang="en-US" altLang="en-US" smtClean="0"/>
              <a:t>J2SE 1.2 (December 8, 1998)</a:t>
            </a:r>
          </a:p>
          <a:p>
            <a:r>
              <a:rPr lang="en-US" altLang="en-US" smtClean="0"/>
              <a:t>J2SE 1.3 (May 8, 2000)</a:t>
            </a:r>
          </a:p>
          <a:p>
            <a:r>
              <a:rPr lang="en-US" altLang="en-US" smtClean="0"/>
              <a:t>J2SE 1.4 (February 6, 2002)</a:t>
            </a:r>
          </a:p>
          <a:p>
            <a:r>
              <a:rPr lang="en-US" altLang="en-US" smtClean="0"/>
              <a:t>J2SE 5.0 (September 30, 2004)</a:t>
            </a:r>
          </a:p>
          <a:p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Versions of Java</a:t>
            </a:r>
            <a:endParaRPr lang="en-US" dirty="0"/>
          </a:p>
        </p:txBody>
      </p:sp>
      <p:pic>
        <p:nvPicPr>
          <p:cNvPr id="35844" name="Picture 7" descr="http://www.wellho.net/pix/java_tomcat_version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905000"/>
            <a:ext cx="3028950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Content Placeholder 1"/>
          <p:cNvSpPr>
            <a:spLocks noGrp="1"/>
          </p:cNvSpPr>
          <p:nvPr>
            <p:ph idx="1"/>
          </p:nvPr>
        </p:nvSpPr>
        <p:spPr>
          <a:xfrm>
            <a:off x="685800" y="1371600"/>
            <a:ext cx="8001000" cy="4525963"/>
          </a:xfrm>
        </p:spPr>
        <p:txBody>
          <a:bodyPr/>
          <a:lstStyle/>
          <a:p>
            <a:r>
              <a:rPr lang="en-US" altLang="en-US" sz="2300" b="1" smtClean="0"/>
              <a:t>Java SE 6 (December 11, 2006) </a:t>
            </a:r>
          </a:p>
          <a:p>
            <a:pPr lvl="1"/>
            <a:r>
              <a:rPr lang="en-US" altLang="en-US" smtClean="0"/>
              <a:t>Java SE 6 Update 10(Released October 15, 2008 )</a:t>
            </a:r>
          </a:p>
          <a:p>
            <a:pPr lvl="1"/>
            <a:r>
              <a:rPr lang="en-US" altLang="en-US" smtClean="0"/>
              <a:t>Java SE 6 Update 11(Released December 3, 2008)</a:t>
            </a:r>
          </a:p>
          <a:p>
            <a:pPr lvl="1"/>
            <a:r>
              <a:rPr lang="en-US" altLang="en-US" smtClean="0"/>
              <a:t>Java SE 6 Update 12</a:t>
            </a:r>
          </a:p>
          <a:p>
            <a:pPr lvl="1"/>
            <a:r>
              <a:rPr lang="en-US" altLang="en-US" smtClean="0"/>
              <a:t>Java SE 6 Update 14(Released May 28, 2009)</a:t>
            </a:r>
          </a:p>
          <a:p>
            <a:pPr lvl="1"/>
            <a:r>
              <a:rPr lang="en-US" altLang="en-US" smtClean="0"/>
              <a:t>Java SE 6 Update 16(Released August 11, 2009)</a:t>
            </a:r>
          </a:p>
          <a:p>
            <a:pPr lvl="1"/>
            <a:r>
              <a:rPr lang="en-US" altLang="en-US" smtClean="0"/>
              <a:t>Java SE 6 Update 17(Released November 4, 2009)</a:t>
            </a:r>
          </a:p>
          <a:p>
            <a:pPr lvl="1"/>
            <a:r>
              <a:rPr lang="en-US" altLang="en-US" smtClean="0"/>
              <a:t>Java SE 6 Update 18(Released January 13, 2010)</a:t>
            </a:r>
          </a:p>
          <a:p>
            <a:pPr lvl="1"/>
            <a:r>
              <a:rPr lang="en-US" altLang="en-US" smtClean="0"/>
              <a:t>Java SE 6 Update 19(Released March 30, 2010)</a:t>
            </a:r>
          </a:p>
          <a:p>
            <a:pPr lvl="1"/>
            <a:r>
              <a:rPr lang="en-US" altLang="en-US" smtClean="0"/>
              <a:t>Java SE 6 Update 20(Released April 15, 2010)</a:t>
            </a:r>
          </a:p>
          <a:p>
            <a:pPr lvl="1"/>
            <a:r>
              <a:rPr lang="en-US" altLang="en-US" smtClean="0"/>
              <a:t>Java SE 6 Update 21(Released July 7, 2010)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Versions of Java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Content Placeholder 1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/>
          <a:lstStyle/>
          <a:p>
            <a:pPr>
              <a:defRPr/>
            </a:pPr>
            <a:r>
              <a:rPr lang="en-US" sz="2800" b="1" dirty="0" smtClean="0"/>
              <a:t>Java SE 7.0</a:t>
            </a:r>
          </a:p>
          <a:p>
            <a:pPr lvl="1">
              <a:defRPr/>
            </a:pPr>
            <a:r>
              <a:rPr lang="en-US" sz="2400" dirty="0" smtClean="0"/>
              <a:t>Java 7 is a major update to Java (July 2011)</a:t>
            </a:r>
          </a:p>
          <a:p>
            <a:pPr>
              <a:defRPr/>
            </a:pPr>
            <a:r>
              <a:rPr lang="en-US" sz="2800" b="1" dirty="0" smtClean="0"/>
              <a:t>Java SE 8.0</a:t>
            </a:r>
          </a:p>
          <a:p>
            <a:pPr lvl="1">
              <a:defRPr/>
            </a:pPr>
            <a:r>
              <a:rPr lang="en-US" sz="2400" dirty="0" smtClean="0"/>
              <a:t>Java 8 is a major update to Java 7 (March 2014)</a:t>
            </a:r>
          </a:p>
          <a:p>
            <a:pPr>
              <a:defRPr/>
            </a:pPr>
            <a:r>
              <a:rPr lang="en-US" sz="2800" b="1" dirty="0"/>
              <a:t>Java SE </a:t>
            </a:r>
            <a:r>
              <a:rPr lang="en-US" sz="2800" b="1" dirty="0" smtClean="0"/>
              <a:t>9.0</a:t>
            </a:r>
            <a:endParaRPr lang="en-US" sz="2800" b="1" dirty="0"/>
          </a:p>
          <a:p>
            <a:pPr lvl="1">
              <a:defRPr/>
            </a:pPr>
            <a:r>
              <a:rPr lang="en-US" sz="2400" dirty="0"/>
              <a:t>Java </a:t>
            </a:r>
            <a:r>
              <a:rPr lang="en-US" sz="2400" dirty="0" smtClean="0"/>
              <a:t>9 </a:t>
            </a:r>
            <a:r>
              <a:rPr lang="en-US" sz="2400" dirty="0"/>
              <a:t>is a major update to </a:t>
            </a:r>
            <a:r>
              <a:rPr lang="en-US" sz="2400" dirty="0" smtClean="0"/>
              <a:t>Java 8 (</a:t>
            </a:r>
            <a:r>
              <a:rPr lang="en-US" sz="2400" dirty="0"/>
              <a:t>September </a:t>
            </a:r>
            <a:r>
              <a:rPr lang="en-US" sz="2400" dirty="0" smtClean="0"/>
              <a:t>2017)</a:t>
            </a:r>
            <a:endParaRPr lang="en-US" sz="2400" dirty="0"/>
          </a:p>
          <a:p>
            <a:pPr marL="392113" lvl="1" indent="0">
              <a:buFont typeface="Verdana" panose="020B0604030504040204" pitchFamily="34" charset="0"/>
              <a:buNone/>
              <a:defRPr/>
            </a:pPr>
            <a:r>
              <a:rPr lang="en-US" sz="2400" dirty="0" smtClean="0"/>
              <a:t>…….</a:t>
            </a:r>
          </a:p>
          <a:p>
            <a:pPr marL="392113" lvl="1" indent="0">
              <a:buFont typeface="Verdana" panose="020B0604030504040204" pitchFamily="34" charset="0"/>
              <a:buNone/>
              <a:defRPr/>
            </a:pPr>
            <a:r>
              <a:rPr lang="en-US" sz="2400" dirty="0" smtClean="0"/>
              <a:t>……..</a:t>
            </a:r>
            <a:endParaRPr lang="en-US" sz="2400" dirty="0" smtClean="0"/>
          </a:p>
          <a:p>
            <a:pPr lvl="1">
              <a:defRPr/>
            </a:pPr>
            <a:endParaRPr lang="en-US" sz="2400" dirty="0" smtClean="0"/>
          </a:p>
          <a:p>
            <a:pPr>
              <a:defRPr/>
            </a:pPr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Versions of Java</a:t>
            </a:r>
            <a:endParaRPr lang="en-US" dirty="0"/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3429000" y="6411913"/>
            <a:ext cx="6019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https://en.wikipedia.org/wiki/Java_version_history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smtClean="0"/>
              <a:t>Simple</a:t>
            </a:r>
          </a:p>
          <a:p>
            <a:pPr lvl="1"/>
            <a:r>
              <a:rPr lang="en-US" altLang="en-US" sz="2400" smtClean="0"/>
              <a:t>syntax is based on C++</a:t>
            </a:r>
          </a:p>
          <a:p>
            <a:pPr lvl="1"/>
            <a:r>
              <a:rPr lang="en-US" altLang="en-US" sz="2400" smtClean="0"/>
              <a:t>removed many confusing and/or rarely-used features e.g., explicit pointers, operator overloading etc.</a:t>
            </a:r>
          </a:p>
          <a:p>
            <a:pPr lvl="1"/>
            <a:r>
              <a:rPr lang="en-US" altLang="en-US" sz="2400" smtClean="0"/>
              <a:t>No need to remove unreferenced objects because there is </a:t>
            </a:r>
            <a:r>
              <a:rPr lang="en-US" altLang="en-US" sz="2400" smtClean="0">
                <a:solidFill>
                  <a:srgbClr val="FF0000"/>
                </a:solidFill>
              </a:rPr>
              <a:t>Automatic Garbage Collection in java</a:t>
            </a:r>
            <a:endParaRPr lang="en-US" altLang="en-US" smtClean="0">
              <a:solidFill>
                <a:srgbClr val="FF0000"/>
              </a:solidFill>
            </a:endParaRPr>
          </a:p>
          <a:p>
            <a:r>
              <a:rPr lang="en-US" altLang="en-US" b="1" smtClean="0"/>
              <a:t>object-oriented</a:t>
            </a:r>
          </a:p>
          <a:p>
            <a:pPr lvl="1"/>
            <a:r>
              <a:rPr lang="en-US" altLang="en-US" smtClean="0"/>
              <a:t>Code of the java Language is Written into the classes and Objects So this feature of java is most Popular because it also </a:t>
            </a:r>
            <a:r>
              <a:rPr lang="en-US" altLang="en-US" smtClean="0">
                <a:solidFill>
                  <a:srgbClr val="FF0000"/>
                </a:solidFill>
              </a:rPr>
              <a:t>Supports Code Reusability, Maintainability</a:t>
            </a:r>
            <a:r>
              <a:rPr lang="en-US" altLang="en-US" smtClean="0"/>
              <a:t> etc.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Features of Java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b="1" smtClean="0"/>
          </a:p>
          <a:p>
            <a:r>
              <a:rPr lang="en-US" altLang="en-US" b="1" smtClean="0"/>
              <a:t>Java is platform Independent </a:t>
            </a:r>
          </a:p>
          <a:p>
            <a:pPr lvl="1"/>
            <a:r>
              <a:rPr lang="en-US" altLang="en-US" smtClean="0"/>
              <a:t>With </a:t>
            </a:r>
            <a:r>
              <a:rPr lang="en-US" altLang="en-US" b="1" smtClean="0"/>
              <a:t>Java</a:t>
            </a:r>
            <a:r>
              <a:rPr lang="en-US" altLang="en-US" smtClean="0"/>
              <a:t>, you can compile source code on Windows and the compiled code (bytecode to be precise) can be executed (interpreted) on any </a:t>
            </a:r>
            <a:r>
              <a:rPr lang="en-US" altLang="en-US" b="1" smtClean="0"/>
              <a:t>platform</a:t>
            </a:r>
            <a:r>
              <a:rPr lang="en-US" altLang="en-US" smtClean="0"/>
              <a:t> running a JVM. So yes you need a JVM but the JVM can run any compiled code, the compiled code is </a:t>
            </a:r>
            <a:r>
              <a:rPr lang="en-US" altLang="en-US" b="1" smtClean="0"/>
              <a:t>platform independent</a:t>
            </a:r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Features of Java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smtClean="0"/>
              <a:t>C</a:t>
            </a:r>
            <a:r>
              <a:rPr lang="en-US" altLang="en-US" smtClean="0"/>
              <a:t>/C++ is </a:t>
            </a:r>
            <a:r>
              <a:rPr lang="en-US" altLang="en-US" b="1" smtClean="0"/>
              <a:t>not platform independent</a:t>
            </a:r>
            <a:r>
              <a:rPr lang="en-US" altLang="en-US" smtClean="0"/>
              <a:t>, because when we compile </a:t>
            </a:r>
            <a:r>
              <a:rPr lang="en-US" altLang="en-US" b="1" smtClean="0"/>
              <a:t>C</a:t>
            </a:r>
            <a:r>
              <a:rPr lang="en-US" altLang="en-US" smtClean="0"/>
              <a:t>/C++ source code, it will generate binary code which can be understood by current OS only. When we move this source code to other </a:t>
            </a:r>
            <a:r>
              <a:rPr lang="en-US" altLang="en-US" b="1" smtClean="0"/>
              <a:t>platform</a:t>
            </a:r>
            <a:r>
              <a:rPr lang="en-US" altLang="en-US" smtClean="0"/>
              <a:t> and then compile </a:t>
            </a:r>
            <a:r>
              <a:rPr lang="en-US" altLang="en-US" b="1" smtClean="0"/>
              <a:t>C</a:t>
            </a:r>
            <a:r>
              <a:rPr lang="en-US" altLang="en-US" smtClean="0"/>
              <a:t>/C++ binary code, the binary code generated cannot be understood by this new </a:t>
            </a:r>
            <a:r>
              <a:rPr lang="en-US" altLang="en-US" b="1" smtClean="0"/>
              <a:t>platform</a:t>
            </a:r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Java vs C++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Portable</a:t>
            </a:r>
          </a:p>
          <a:p>
            <a:pPr lvl="1">
              <a:defRPr/>
            </a:pPr>
            <a:r>
              <a:rPr lang="en-US" sz="2400" dirty="0"/>
              <a:t>We may carry the java </a:t>
            </a:r>
            <a:r>
              <a:rPr lang="en-US" sz="2400" dirty="0" err="1"/>
              <a:t>bytecode</a:t>
            </a:r>
            <a:r>
              <a:rPr lang="en-US" sz="2400" dirty="0"/>
              <a:t> to any </a:t>
            </a:r>
            <a:r>
              <a:rPr lang="en-US" sz="2400" dirty="0" smtClean="0"/>
              <a:t>platform</a:t>
            </a:r>
          </a:p>
          <a:p>
            <a:pPr>
              <a:defRPr/>
            </a:pPr>
            <a:r>
              <a:rPr lang="en-US" dirty="0" smtClean="0"/>
              <a:t>Secure</a:t>
            </a:r>
            <a:endParaRPr lang="en-US" dirty="0"/>
          </a:p>
          <a:p>
            <a:pPr lvl="1">
              <a:defRPr/>
            </a:pPr>
            <a:r>
              <a:rPr lang="en-US" sz="2400" dirty="0"/>
              <a:t>Java Programs run inside virtual machine sandbox</a:t>
            </a:r>
          </a:p>
          <a:p>
            <a:pPr marL="109537" indent="0">
              <a:buFont typeface="Wingdings 3" panose="05040102010807070707" pitchFamily="18" charset="2"/>
              <a:buNone/>
              <a:defRPr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Features of Java</a:t>
            </a:r>
          </a:p>
        </p:txBody>
      </p:sp>
      <p:pic>
        <p:nvPicPr>
          <p:cNvPr id="4403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3" y="3657600"/>
            <a:ext cx="7038975" cy="301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b="1" smtClean="0"/>
          </a:p>
          <a:p>
            <a:r>
              <a:rPr lang="en-US" altLang="en-US" b="1" smtClean="0"/>
              <a:t>Java is Multi-Threaded</a:t>
            </a:r>
            <a:r>
              <a:rPr lang="en-US" altLang="en-US" smtClean="0"/>
              <a:t>. ... A single </a:t>
            </a:r>
            <a:r>
              <a:rPr lang="en-US" altLang="en-US" b="1" smtClean="0"/>
              <a:t>Java</a:t>
            </a:r>
            <a:r>
              <a:rPr lang="en-US" altLang="en-US" smtClean="0"/>
              <a:t> program can have many different threads executing independently and continuously. Three </a:t>
            </a:r>
            <a:r>
              <a:rPr lang="en-US" altLang="en-US" b="1" smtClean="0"/>
              <a:t>Java</a:t>
            </a:r>
            <a:r>
              <a:rPr lang="en-US" altLang="en-US" smtClean="0"/>
              <a:t> applets on the same page can run together with each getting equal time from the CPU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Features of Java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b="1" smtClean="0"/>
          </a:p>
          <a:p>
            <a:r>
              <a:rPr lang="en-US" altLang="en-US" b="1" smtClean="0"/>
              <a:t>interpreted and high-performance </a:t>
            </a:r>
            <a:r>
              <a:rPr lang="en-US" altLang="en-US" smtClean="0"/>
              <a:t>– Java programs are compiled into an intermediate representation – bytecode:</a:t>
            </a:r>
          </a:p>
          <a:p>
            <a:pPr lvl="1"/>
            <a:r>
              <a:rPr lang="en-US" altLang="en-US" smtClean="0"/>
              <a:t>can be later interpreted by any JVM</a:t>
            </a:r>
          </a:p>
          <a:p>
            <a:pPr lvl="1"/>
            <a:r>
              <a:rPr lang="en-US" altLang="en-US" smtClean="0"/>
              <a:t>can be also translated into the native machine code for  </a:t>
            </a:r>
          </a:p>
          <a:p>
            <a:pPr lvl="1">
              <a:buFont typeface="Verdana" panose="020B0604030504040204" pitchFamily="34" charset="0"/>
              <a:buNone/>
            </a:pPr>
            <a:r>
              <a:rPr lang="en-US" altLang="en-US" smtClean="0"/>
              <a:t>    efficiency.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Features of Java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b="1" smtClean="0"/>
          </a:p>
          <a:p>
            <a:pPr eaLnBrk="1" hangingPunct="1"/>
            <a:r>
              <a:rPr lang="en-US" altLang="en-US" b="1" smtClean="0"/>
              <a:t>dynamic</a:t>
            </a:r>
            <a:r>
              <a:rPr lang="en-US" altLang="en-US" smtClean="0"/>
              <a:t> – The linking of data and methods to where they are located, is done at run-time. </a:t>
            </a:r>
          </a:p>
          <a:p>
            <a:pPr lvl="1" eaLnBrk="1" hangingPunct="1"/>
            <a:r>
              <a:rPr lang="en-US" altLang="en-US" smtClean="0"/>
              <a:t>New classes can be loaded while a program is running. Linking is done </a:t>
            </a:r>
            <a:r>
              <a:rPr lang="en-US" altLang="en-US" i="1" smtClean="0">
                <a:solidFill>
                  <a:srgbClr val="FF0000"/>
                </a:solidFill>
              </a:rPr>
              <a:t>on the fly</a:t>
            </a:r>
            <a:r>
              <a:rPr lang="en-US" altLang="en-US" smtClean="0"/>
              <a:t>. </a:t>
            </a:r>
          </a:p>
          <a:p>
            <a:pPr lvl="1" eaLnBrk="1" hangingPunct="1"/>
            <a:r>
              <a:rPr lang="en-US" altLang="en-US" smtClean="0"/>
              <a:t>Even if libraries are recompiled, there is no need to recompile code that uses classes in those libraries. </a:t>
            </a:r>
            <a:br>
              <a:rPr lang="en-US" altLang="en-US" smtClean="0"/>
            </a:br>
            <a:r>
              <a:rPr lang="en-US" altLang="en-US" smtClean="0">
                <a:solidFill>
                  <a:srgbClr val="FF0000"/>
                </a:solidFill>
              </a:rPr>
              <a:t>This differs from C++, which uses static binding. </a:t>
            </a:r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Features of Java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essential steps to create and run Java programs go as follows:</a:t>
            </a:r>
          </a:p>
          <a:p>
            <a:pPr lvl="1" eaLnBrk="1" hangingPunct="1"/>
            <a:r>
              <a:rPr lang="en-US" altLang="en-US" smtClean="0"/>
              <a:t>Create a Java source code file </a:t>
            </a:r>
          </a:p>
          <a:p>
            <a:pPr lvl="1" eaLnBrk="1" hangingPunct="1"/>
            <a:r>
              <a:rPr lang="en-US" altLang="en-US" smtClean="0"/>
              <a:t>Compile the source code </a:t>
            </a:r>
          </a:p>
          <a:p>
            <a:pPr lvl="1" eaLnBrk="1" hangingPunct="1"/>
            <a:r>
              <a:rPr lang="en-US" altLang="en-US" smtClean="0"/>
              <a:t>Run the compiled code in a Java Virtual Machine. 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Java Procedure</a:t>
            </a:r>
            <a:endParaRPr lang="en-US" dirty="0"/>
          </a:p>
        </p:txBody>
      </p:sp>
      <p:pic>
        <p:nvPicPr>
          <p:cNvPr id="47108" name="Picture 5" descr="http://www.comproj.com/images/elearnin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81400" y="3505200"/>
            <a:ext cx="4762500" cy="31718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>Steps for creating and running a Java program</a:t>
            </a:r>
            <a:endParaRPr lang="en-US" dirty="0"/>
          </a:p>
        </p:txBody>
      </p:sp>
      <p:pic>
        <p:nvPicPr>
          <p:cNvPr id="51203" name="Picture 2" descr="C:\Users\FAHAD KHAN\Desktop\java pics\java-program-execut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47800"/>
            <a:ext cx="44958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371600"/>
            <a:ext cx="42672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You create the code with a text editor (for example notepad) and save it to a file with the "</a:t>
            </a:r>
            <a:r>
              <a:rPr lang="en-US" altLang="en-US" smtClean="0">
                <a:solidFill>
                  <a:srgbClr val="C00000"/>
                </a:solidFill>
              </a:rPr>
              <a:t>.java</a:t>
            </a:r>
            <a:r>
              <a:rPr lang="en-US" altLang="en-US" smtClean="0"/>
              <a:t>" suffix. </a:t>
            </a:r>
          </a:p>
          <a:p>
            <a:pPr eaLnBrk="1" hangingPunct="1"/>
            <a:r>
              <a:rPr lang="en-US" altLang="en-US" smtClean="0"/>
              <a:t>All Java source code files must end with this </a:t>
            </a:r>
            <a:r>
              <a:rPr lang="en-US" altLang="en-US" smtClean="0">
                <a:solidFill>
                  <a:srgbClr val="C00000"/>
                </a:solidFill>
              </a:rPr>
              <a:t>type</a:t>
            </a:r>
            <a:r>
              <a:rPr lang="en-US" altLang="en-US" smtClean="0"/>
              <a:t> name. </a:t>
            </a:r>
          </a:p>
          <a:p>
            <a:pPr eaLnBrk="1" hangingPunct="1"/>
            <a:r>
              <a:rPr lang="en-US" altLang="en-US" smtClean="0"/>
              <a:t>The </a:t>
            </a:r>
            <a:r>
              <a:rPr lang="en-US" altLang="en-US" smtClean="0">
                <a:solidFill>
                  <a:srgbClr val="C00000"/>
                </a:solidFill>
              </a:rPr>
              <a:t>first part of the name </a:t>
            </a:r>
            <a:r>
              <a:rPr lang="en-US" altLang="en-US" smtClean="0"/>
              <a:t>must match the </a:t>
            </a:r>
            <a:r>
              <a:rPr lang="en-US" altLang="en-US" smtClean="0">
                <a:solidFill>
                  <a:srgbClr val="C00000"/>
                </a:solidFill>
              </a:rPr>
              <a:t>class name</a:t>
            </a:r>
            <a:r>
              <a:rPr lang="en-US" altLang="en-US" smtClean="0"/>
              <a:t> in the source code. </a:t>
            </a:r>
          </a:p>
          <a:p>
            <a:pPr eaLnBrk="1" hangingPunct="1"/>
            <a:r>
              <a:rPr lang="en-US" altLang="en-US" smtClean="0"/>
              <a:t>In the figure the class name is Test so you must therefore save it to the file name Test.java.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Java Procedure Detail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229600" cy="3700462"/>
          </a:xfrm>
        </p:spPr>
        <p:txBody>
          <a:bodyPr>
            <a:normAutofit lnSpcReduction="10000"/>
          </a:bodyPr>
          <a:lstStyle/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 smtClean="0"/>
              <a:t>With the </a:t>
            </a:r>
            <a:r>
              <a:rPr lang="en-US" dirty="0" err="1" smtClean="0">
                <a:solidFill>
                  <a:srgbClr val="C00000"/>
                </a:solidFill>
              </a:rPr>
              <a:t>javac</a:t>
            </a:r>
            <a:r>
              <a:rPr lang="en-US" dirty="0" smtClean="0"/>
              <a:t> program, you compile this file as follows: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 panose="020B0604030504040204" pitchFamily="34" charset="0"/>
              <a:buNone/>
              <a:defRPr/>
            </a:pPr>
            <a:r>
              <a:rPr lang="en-US" dirty="0" smtClean="0"/>
              <a:t>    C:&gt; </a:t>
            </a:r>
            <a:r>
              <a:rPr lang="en-US" dirty="0" err="1" smtClean="0"/>
              <a:t>javac</a:t>
            </a:r>
            <a:r>
              <a:rPr lang="en-US" dirty="0" smtClean="0"/>
              <a:t> Test.java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 smtClean="0"/>
              <a:t>This creates a </a:t>
            </a:r>
            <a:r>
              <a:rPr lang="en-US" i="1" dirty="0" err="1" smtClean="0">
                <a:solidFill>
                  <a:srgbClr val="C00000"/>
                </a:solidFill>
              </a:rPr>
              <a:t>bytecode</a:t>
            </a:r>
            <a:r>
              <a:rPr lang="en-US" dirty="0" smtClean="0"/>
              <a:t> file (or files if the code file included more than one class) that ends with the "</a:t>
            </a:r>
            <a:r>
              <a:rPr lang="en-US" dirty="0" smtClean="0">
                <a:solidFill>
                  <a:srgbClr val="C00000"/>
                </a:solidFill>
              </a:rPr>
              <a:t>.class</a:t>
            </a:r>
            <a:r>
              <a:rPr lang="en-US" dirty="0" smtClean="0"/>
              <a:t>" type appended.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dirty="0" smtClean="0"/>
              <a:t>Here the output is </a:t>
            </a:r>
            <a:r>
              <a:rPr lang="en-US" dirty="0" err="1" smtClean="0">
                <a:solidFill>
                  <a:srgbClr val="C00000"/>
                </a:solidFill>
              </a:rPr>
              <a:t>Test.class</a:t>
            </a:r>
            <a:r>
              <a:rPr lang="en-US" dirty="0" smtClean="0"/>
              <a:t>.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dirty="0" smtClean="0"/>
              <a:t>The </a:t>
            </a:r>
            <a:r>
              <a:rPr lang="en-US" dirty="0" err="1" smtClean="0"/>
              <a:t>bytecode</a:t>
            </a:r>
            <a:r>
              <a:rPr lang="en-US" dirty="0" smtClean="0"/>
              <a:t> consists of the instructions for the </a:t>
            </a:r>
            <a:r>
              <a:rPr lang="en-US" i="1" dirty="0" smtClean="0"/>
              <a:t>Java Virtual Machine</a:t>
            </a:r>
            <a:r>
              <a:rPr lang="en-US" dirty="0" smtClean="0"/>
              <a:t> (JVM or just VM). 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Java Procedure Detail</a:t>
            </a:r>
            <a:endParaRPr lang="en-US" dirty="0"/>
          </a:p>
        </p:txBody>
      </p:sp>
      <p:pic>
        <p:nvPicPr>
          <p:cNvPr id="51204" name="Picture 4" descr="C:\Users\FAHAD KHAN\Desktop\java pics\2391_Directi-green-computer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4572000"/>
            <a:ext cx="3048000" cy="2133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 smtClean="0"/>
              <a:t>The JVM is an interpreter program that emulates a processor that executes the </a:t>
            </a:r>
            <a:r>
              <a:rPr lang="en-US" dirty="0" err="1" smtClean="0"/>
              <a:t>bytecode</a:t>
            </a:r>
            <a:r>
              <a:rPr lang="en-US" dirty="0" smtClean="0"/>
              <a:t> instructions just as if it were a hardware processor executing native machine code instructions.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dirty="0" smtClean="0"/>
              <a:t>The Java </a:t>
            </a:r>
            <a:r>
              <a:rPr lang="en-US" dirty="0" err="1" smtClean="0"/>
              <a:t>bytecode</a:t>
            </a:r>
            <a:r>
              <a:rPr lang="en-US" dirty="0" smtClean="0"/>
              <a:t> can then run on any platform in which the JVM is available and the program should perform the same. 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dirty="0" smtClean="0"/>
              <a:t>This </a:t>
            </a:r>
            <a:r>
              <a:rPr lang="en-US" i="1" dirty="0" smtClean="0">
                <a:solidFill>
                  <a:srgbClr val="FF0000"/>
                </a:solidFill>
              </a:rPr>
              <a:t>Write Once, Run Anywhere </a:t>
            </a:r>
            <a:r>
              <a:rPr lang="en-US" b="1" i="1" dirty="0" smtClean="0">
                <a:solidFill>
                  <a:srgbClr val="FF0000"/>
                </a:solidFill>
              </a:rPr>
              <a:t>(WORA)</a:t>
            </a:r>
            <a:r>
              <a:rPr lang="en-US" dirty="0" smtClean="0"/>
              <a:t> approach is a key goal of the Java language. 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Java Procedure Detail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>Another Example with </a:t>
            </a:r>
            <a:r>
              <a:rPr lang="en-US" dirty="0" err="1" smtClean="0"/>
              <a:t>Bytecode</a:t>
            </a:r>
            <a:r>
              <a:rPr lang="en-US" dirty="0" smtClean="0"/>
              <a:t> Representation</a:t>
            </a:r>
            <a:endParaRPr lang="en-US" dirty="0"/>
          </a:p>
        </p:txBody>
      </p:sp>
      <p:pic>
        <p:nvPicPr>
          <p:cNvPr id="5529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828800"/>
            <a:ext cx="34480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0" name="TextBox 4"/>
          <p:cNvSpPr txBox="1">
            <a:spLocks noChangeArrowheads="1"/>
          </p:cNvSpPr>
          <p:nvPr/>
        </p:nvSpPr>
        <p:spPr bwMode="auto">
          <a:xfrm>
            <a:off x="1447800" y="1524000"/>
            <a:ext cx="1155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Test.java</a:t>
            </a:r>
          </a:p>
        </p:txBody>
      </p:sp>
      <p:grpSp>
        <p:nvGrpSpPr>
          <p:cNvPr id="55301" name="Group 14"/>
          <p:cNvGrpSpPr>
            <a:grpSpLocks/>
          </p:cNvGrpSpPr>
          <p:nvPr/>
        </p:nvGrpSpPr>
        <p:grpSpPr bwMode="auto">
          <a:xfrm>
            <a:off x="3886200" y="1981200"/>
            <a:ext cx="1066800" cy="609600"/>
            <a:chOff x="4419600" y="2438400"/>
            <a:chExt cx="534988" cy="762000"/>
          </a:xfrm>
        </p:grpSpPr>
        <p:cxnSp>
          <p:nvCxnSpPr>
            <p:cNvPr id="7" name="Straight Arrow Connector 6"/>
            <p:cNvCxnSpPr/>
            <p:nvPr/>
          </p:nvCxnSpPr>
          <p:spPr>
            <a:xfrm rot="5400000">
              <a:off x="4572792" y="2818603"/>
              <a:ext cx="762000" cy="15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4419600" y="2438400"/>
              <a:ext cx="533396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302" name="TextBox 12"/>
          <p:cNvSpPr txBox="1">
            <a:spLocks noChangeArrowheads="1"/>
          </p:cNvSpPr>
          <p:nvPr/>
        </p:nvSpPr>
        <p:spPr bwMode="auto">
          <a:xfrm>
            <a:off x="5181600" y="1981200"/>
            <a:ext cx="19954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Compile it with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&gt; javac Test.java</a:t>
            </a:r>
          </a:p>
        </p:txBody>
      </p:sp>
      <p:pic>
        <p:nvPicPr>
          <p:cNvPr id="553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048000"/>
            <a:ext cx="61722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4" name="TextBox 15"/>
          <p:cNvSpPr txBox="1">
            <a:spLocks noChangeArrowheads="1"/>
          </p:cNvSpPr>
          <p:nvPr/>
        </p:nvSpPr>
        <p:spPr bwMode="auto">
          <a:xfrm>
            <a:off x="990600" y="4733925"/>
            <a:ext cx="1981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C00000"/>
                </a:solidFill>
              </a:rPr>
              <a:t>Bytecode Representation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2362200" y="4953000"/>
            <a:ext cx="457200" cy="1588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2971800" y="3276600"/>
            <a:ext cx="18288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07" name="TextBox 20"/>
          <p:cNvSpPr txBox="1">
            <a:spLocks noChangeArrowheads="1"/>
          </p:cNvSpPr>
          <p:nvPr/>
        </p:nvSpPr>
        <p:spPr bwMode="auto">
          <a:xfrm>
            <a:off x="6573838" y="2819400"/>
            <a:ext cx="24939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C00000"/>
                </a:solidFill>
              </a:rPr>
              <a:t>Command used for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C00000"/>
                </a:solidFill>
              </a:rPr>
              <a:t>reading bytecode file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4876800" y="3124200"/>
            <a:ext cx="1524000" cy="1588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Content Placeholder 1"/>
          <p:cNvSpPr>
            <a:spLocks noGrp="1"/>
          </p:cNvSpPr>
          <p:nvPr>
            <p:ph idx="1"/>
          </p:nvPr>
        </p:nvSpPr>
        <p:spPr>
          <a:xfrm>
            <a:off x="304800" y="1481138"/>
            <a:ext cx="8382000" cy="4525962"/>
          </a:xfrm>
        </p:spPr>
        <p:txBody>
          <a:bodyPr/>
          <a:lstStyle/>
          <a:p>
            <a:pPr lvl="1" eaLnBrk="1" hangingPunct="1"/>
            <a:r>
              <a:rPr lang="en-US" altLang="en-US" sz="2000" b="1" smtClean="0"/>
              <a:t>Integrated Development Environment</a:t>
            </a:r>
            <a:r>
              <a:rPr lang="en-US" altLang="en-US" sz="2000" smtClean="0"/>
              <a:t> (IDE) - </a:t>
            </a:r>
            <a:r>
              <a:rPr lang="en-US" altLang="en-US" sz="2000" smtClean="0">
                <a:solidFill>
                  <a:srgbClr val="C00000"/>
                </a:solidFill>
              </a:rPr>
              <a:t>graphical user interface </a:t>
            </a:r>
            <a:r>
              <a:rPr lang="en-US" altLang="en-US" sz="2000" smtClean="0"/>
              <a:t>programming environments (often called </a:t>
            </a:r>
            <a:r>
              <a:rPr lang="en-US" altLang="en-US" sz="2000" i="1" smtClean="0"/>
              <a:t>GUI Builders</a:t>
            </a:r>
            <a:r>
              <a:rPr lang="en-US" altLang="en-US" sz="2000" smtClean="0"/>
              <a:t>) are elaborate, programs that allow you to interactively build graphical interfaces, </a:t>
            </a:r>
            <a:r>
              <a:rPr lang="en-US" altLang="en-US" sz="2000" smtClean="0">
                <a:solidFill>
                  <a:srgbClr val="C00000"/>
                </a:solidFill>
              </a:rPr>
              <a:t>edit </a:t>
            </a:r>
            <a:r>
              <a:rPr lang="en-US" altLang="en-US" sz="2000" smtClean="0"/>
              <a:t>the code, </a:t>
            </a:r>
            <a:r>
              <a:rPr lang="en-US" altLang="en-US" sz="2000" smtClean="0">
                <a:solidFill>
                  <a:srgbClr val="C00000"/>
                </a:solidFill>
              </a:rPr>
              <a:t>execute</a:t>
            </a:r>
            <a:r>
              <a:rPr lang="en-US" altLang="en-US" sz="2000" smtClean="0"/>
              <a:t> and </a:t>
            </a:r>
            <a:r>
              <a:rPr lang="en-US" altLang="en-US" sz="2000" smtClean="0">
                <a:solidFill>
                  <a:srgbClr val="C00000"/>
                </a:solidFill>
              </a:rPr>
              <a:t>run</a:t>
            </a:r>
            <a:r>
              <a:rPr lang="en-US" altLang="en-US" sz="2000" smtClean="0"/>
              <a:t> the applets and applications all within the IDE system. Example Java IDEs include: </a:t>
            </a:r>
          </a:p>
          <a:p>
            <a:pPr lvl="2" eaLnBrk="1" hangingPunct="1"/>
            <a:r>
              <a:rPr lang="en-US" altLang="en-US" sz="2000" b="1" smtClean="0">
                <a:solidFill>
                  <a:srgbClr val="FF0000"/>
                </a:solidFill>
              </a:rPr>
              <a:t>NetBeans</a:t>
            </a:r>
          </a:p>
          <a:p>
            <a:pPr lvl="2" eaLnBrk="1" hangingPunct="1"/>
            <a:r>
              <a:rPr lang="en-US" altLang="en-US" sz="2000" smtClean="0"/>
              <a:t>Borland JBuilder</a:t>
            </a:r>
          </a:p>
          <a:p>
            <a:pPr lvl="2" eaLnBrk="1" hangingPunct="1"/>
            <a:r>
              <a:rPr lang="en-US" altLang="en-US" sz="2000" b="1" smtClean="0">
                <a:solidFill>
                  <a:srgbClr val="FF0000"/>
                </a:solidFill>
              </a:rPr>
              <a:t>Eclipse</a:t>
            </a:r>
          </a:p>
          <a:p>
            <a:pPr lvl="2" eaLnBrk="1" hangingPunct="1"/>
            <a:r>
              <a:rPr lang="en-US" altLang="en-US" sz="2000" smtClean="0"/>
              <a:t>Dr Java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Tools</a:t>
            </a:r>
            <a:endParaRPr lang="en-US" dirty="0"/>
          </a:p>
        </p:txBody>
      </p:sp>
      <p:pic>
        <p:nvPicPr>
          <p:cNvPr id="55300" name="Picture 5" descr="http://cdn.dreamcss.com/wp-content/uploads/xcod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33800" y="3200400"/>
            <a:ext cx="5238750" cy="3019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Programming Tools</a:t>
            </a:r>
            <a:endParaRPr lang="en-US" dirty="0"/>
          </a:p>
        </p:txBody>
      </p:sp>
      <p:pic>
        <p:nvPicPr>
          <p:cNvPr id="77826" name="Picture 2" descr="http://www.techtickle.com/wp-content/uploads/2010/08/Eclipse_ID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447800"/>
            <a:ext cx="4305300" cy="280035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7830" name="Picture 6" descr="http://www.drjavacoffeecompany.com/images/drjava_0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52600" y="4495800"/>
            <a:ext cx="1914525" cy="1381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7832" name="Picture 8" descr="http://www.tulima.se/images/borland-jbuilder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0400" y="2057400"/>
            <a:ext cx="1019175" cy="952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7834" name="Picture 10" descr="http://blogs.sun.com/sunclub/resource/launch_netbeans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95800" y="3276600"/>
            <a:ext cx="4495800" cy="28479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ChangeArrowheads="1"/>
          </p:cNvSpPr>
          <p:nvPr/>
        </p:nvSpPr>
        <p:spPr bwMode="auto">
          <a:xfrm>
            <a:off x="381000" y="914400"/>
            <a:ext cx="73152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Lucida Sans Unicode" panose="020B0602030504020204" pitchFamily="34" charset="0"/>
              </a:rPr>
              <a:t/>
            </a:r>
            <a:br>
              <a:rPr lang="en-US" altLang="en-US" sz="1800">
                <a:solidFill>
                  <a:schemeClr val="tx2"/>
                </a:solidFill>
                <a:latin typeface="Lucida Sans Unicode" panose="020B0602030504020204" pitchFamily="34" charset="0"/>
              </a:rPr>
            </a:br>
            <a:endParaRPr lang="en-US" altLang="en-US" sz="1800">
              <a:solidFill>
                <a:schemeClr val="tx2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58371" name="Title 1"/>
          <p:cNvSpPr txBox="1">
            <a:spLocks/>
          </p:cNvSpPr>
          <p:nvPr/>
        </p:nvSpPr>
        <p:spPr bwMode="auto">
          <a:xfrm>
            <a:off x="685800" y="2438400"/>
            <a:ext cx="7391400" cy="94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>
                <a:latin typeface="Calibri" panose="020F0502020204030204" pitchFamily="34" charset="0"/>
              </a:rPr>
              <a:t>Questions?</a:t>
            </a:r>
          </a:p>
        </p:txBody>
      </p:sp>
      <p:sp>
        <p:nvSpPr>
          <p:cNvPr id="58372" name="Slide Number Placeholder 2"/>
          <p:cNvSpPr>
            <a:spLocks noGrp="1"/>
          </p:cNvSpPr>
          <p:nvPr>
            <p:ph type="sldNum" sz="quarter" idx="12"/>
          </p:nvPr>
        </p:nvSpPr>
        <p:spPr bwMode="auto">
          <a:xfrm>
            <a:off x="9926638" y="8534400"/>
            <a:ext cx="312737" cy="2571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80085509-AD6D-4A80-8499-45D625FBFC44}" type="slidenum">
              <a:rPr lang="en-US" altLang="en-US" sz="1400" smtClean="0">
                <a:solidFill>
                  <a:schemeClr val="bg1"/>
                </a:solidFill>
                <a:latin typeface="Lucida Sans Unicode" panose="020B0602030504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400" smtClean="0">
              <a:solidFill>
                <a:schemeClr val="bg1"/>
              </a:solidFill>
              <a:latin typeface="Lucida Sans Unicode" panose="020B0602030504020204" pitchFamily="34" charset="0"/>
              <a:ea typeface="ヒラギノ角ゴ ProN W3"/>
              <a:cs typeface="ヒラギノ角ゴ ProN W3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4433</TotalTime>
  <Words>1559</Words>
  <Application>Microsoft Office PowerPoint</Application>
  <PresentationFormat>On-screen Show (4:3)</PresentationFormat>
  <Paragraphs>209</Paragraphs>
  <Slides>36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9" baseType="lpstr">
      <vt:lpstr>MS PGothic</vt:lpstr>
      <vt:lpstr>Arial</vt:lpstr>
      <vt:lpstr>Calibri</vt:lpstr>
      <vt:lpstr>Courier New</vt:lpstr>
      <vt:lpstr>Lucida Sans Unicode</vt:lpstr>
      <vt:lpstr>PMingLiU</vt:lpstr>
      <vt:lpstr>PMingLiU</vt:lpstr>
      <vt:lpstr>Times New Roman</vt:lpstr>
      <vt:lpstr>Verdana</vt:lpstr>
      <vt:lpstr>Wingdings 2</vt:lpstr>
      <vt:lpstr>Wingdings 3</vt:lpstr>
      <vt:lpstr>ヒラギノ角ゴ ProN W3</vt:lpstr>
      <vt:lpstr>Concourse</vt:lpstr>
      <vt:lpstr>Object Oriented  Programming</vt:lpstr>
      <vt:lpstr>Text Books</vt:lpstr>
      <vt:lpstr>Grading Criteria</vt:lpstr>
      <vt:lpstr> CLASSROOM ETIQUETTE: </vt:lpstr>
      <vt:lpstr>Topics To be Covered Today</vt:lpstr>
      <vt:lpstr>What is a Program?</vt:lpstr>
      <vt:lpstr>The Evolution of Programming Languages</vt:lpstr>
      <vt:lpstr>Machine Languages</vt:lpstr>
      <vt:lpstr>Assembly Languages</vt:lpstr>
      <vt:lpstr>High-Level Languages</vt:lpstr>
      <vt:lpstr>What is Programming?</vt:lpstr>
      <vt:lpstr>What are we doing in this course?</vt:lpstr>
      <vt:lpstr>Why Java?</vt:lpstr>
      <vt:lpstr>Java History</vt:lpstr>
      <vt:lpstr>Java History contd. . . . .</vt:lpstr>
      <vt:lpstr>Java History contd. . . . .</vt:lpstr>
      <vt:lpstr>Versions of Java</vt:lpstr>
      <vt:lpstr>Versions of Java</vt:lpstr>
      <vt:lpstr>Versions of Java</vt:lpstr>
      <vt:lpstr>Versions of Java</vt:lpstr>
      <vt:lpstr>Features of Java</vt:lpstr>
      <vt:lpstr>Features of Java</vt:lpstr>
      <vt:lpstr>Java vs C++</vt:lpstr>
      <vt:lpstr>Features of Java</vt:lpstr>
      <vt:lpstr>Features of Java</vt:lpstr>
      <vt:lpstr>Features of Java</vt:lpstr>
      <vt:lpstr>Features of Java</vt:lpstr>
      <vt:lpstr>Java Procedure</vt:lpstr>
      <vt:lpstr>Steps for creating and running a Java program</vt:lpstr>
      <vt:lpstr>Java Procedure Detail</vt:lpstr>
      <vt:lpstr>Java Procedure Detail</vt:lpstr>
      <vt:lpstr>Java Procedure Detail</vt:lpstr>
      <vt:lpstr>Another Example with Bytecode Representation</vt:lpstr>
      <vt:lpstr>Programming Tools</vt:lpstr>
      <vt:lpstr>Programming Tools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WinDows7</dc:creator>
  <cp:lastModifiedBy>Admin</cp:lastModifiedBy>
  <cp:revision>79</cp:revision>
  <dcterms:created xsi:type="dcterms:W3CDTF">2010-09-13T06:36:45Z</dcterms:created>
  <dcterms:modified xsi:type="dcterms:W3CDTF">2021-10-09T13:38:03Z</dcterms:modified>
</cp:coreProperties>
</file>