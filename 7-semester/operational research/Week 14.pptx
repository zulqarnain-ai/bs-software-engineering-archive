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92" r:id="rId2"/>
  </p:sldMasterIdLst>
  <p:notesMasterIdLst>
    <p:notesMasterId r:id="rId14"/>
  </p:notesMasterIdLst>
  <p:sldIdLst>
    <p:sldId id="368" r:id="rId3"/>
    <p:sldId id="512" r:id="rId4"/>
    <p:sldId id="513" r:id="rId5"/>
    <p:sldId id="514" r:id="rId6"/>
    <p:sldId id="535" r:id="rId7"/>
    <p:sldId id="531" r:id="rId8"/>
    <p:sldId id="536" r:id="rId9"/>
    <p:sldId id="532" r:id="rId10"/>
    <p:sldId id="533" r:id="rId11"/>
    <p:sldId id="534" r:id="rId12"/>
    <p:sldId id="53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91" autoAdjust="0"/>
  </p:normalViewPr>
  <p:slideViewPr>
    <p:cSldViewPr snapToGrid="0">
      <p:cViewPr>
        <p:scale>
          <a:sx n="71" d="100"/>
          <a:sy n="71" d="100"/>
        </p:scale>
        <p:origin x="-1160" y="1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9194E4-79C8-41B0-9AF4-53058728BAB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FD4BB-E70E-4D5C-83E2-D95045F6F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67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63FB-4DD9-4903-83FE-F80270576417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980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FA81-FF35-40E2-AA6F-C4E4697E2C73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0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8B4E-9E6D-47DB-A8C9-443A66B04FA1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942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D187-3CAF-4EEB-B511-D277A7E40C82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662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EB82-3297-42CA-9AC7-D3ECF198E013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286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48733-E273-4EF3-8143-57B6AA49A592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93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16BD8-1159-4CEE-BF69-08E8DE6F04D4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5B0FE-4AC0-4D7B-83B1-A18CD9CB8AEE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61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2F497-D16F-472A-8AB2-6923D245D09D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74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E3EED-3DA2-4ED4-9C83-CEA1A9E43AAB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7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ADCE-E054-4FA0-B715-AC4537BA8B51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04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299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97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37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74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84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2502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40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41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19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5879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556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9191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604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268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332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780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39F5C-786E-4BDB-B868-73CB6082799F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4187-9C8A-4D01-8196-68D867131F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389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E9BFFB69-46B3-4750-912C-E29F4B8DA29C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44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FFB69-46B3-4750-912C-E29F4B8DA29C}" type="datetime1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0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14300" dist="38100" dir="2700000" algn="tl">
              <a:srgbClr val="000000">
                <a:alpha val="26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27000" dist="38100" dir="2700000" algn="tl">
              <a:srgbClr val="000000">
                <a:alpha val="33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7C545C-EAC2-4814-AE8B-2D0C943C30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9211BDA-D7DF-4130-A3B3-EE0167636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237" y="4391464"/>
            <a:ext cx="6400800" cy="2206283"/>
          </a:xfrm>
        </p:spPr>
        <p:txBody>
          <a:bodyPr>
            <a:normAutofit/>
          </a:bodyPr>
          <a:lstStyle/>
          <a:p>
            <a:pPr algn="ctr"/>
            <a:r>
              <a:rPr lang="en-US" sz="3900" b="1" dirty="0"/>
              <a:t>Operations Research</a:t>
            </a:r>
          </a:p>
          <a:p>
            <a:pPr algn="ctr"/>
            <a:r>
              <a:rPr lang="en-US" sz="2800" b="1" dirty="0">
                <a:solidFill>
                  <a:srgbClr val="000000">
                    <a:lumMod val="75000"/>
                    <a:lumOff val="25000"/>
                  </a:srgbClr>
                </a:solidFill>
              </a:rPr>
              <a:t>(Software Engineering</a:t>
            </a:r>
            <a:r>
              <a:rPr lang="en-US" sz="2800" b="1" dirty="0" smtClean="0">
                <a:solidFill>
                  <a:srgbClr val="000000">
                    <a:lumMod val="75000"/>
                    <a:lumOff val="25000"/>
                  </a:srgbClr>
                </a:solidFill>
              </a:rPr>
              <a:t>)</a:t>
            </a: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67F458A-708A-4E75-9D30-9C4DBEA48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9144000" cy="26617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A972A36-04A5-41D7-9B19-15A743E4476F}"/>
              </a:ext>
            </a:extLst>
          </p:cNvPr>
          <p:cNvSpPr/>
          <p:nvPr/>
        </p:nvSpPr>
        <p:spPr>
          <a:xfrm>
            <a:off x="3613275" y="637061"/>
            <a:ext cx="19174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</a:t>
            </a:r>
            <a:r>
              <a:rPr lang="en-US" sz="2800" b="1" u="sng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sz="2800" b="1" u="sng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endParaRPr lang="en-GB" sz="2800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315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590" y="-439317"/>
            <a:ext cx="7429499" cy="147857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Branch and Bound method</a:t>
            </a:r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264022" y="661147"/>
            <a:ext cx="6696635" cy="5266763"/>
            <a:chOff x="1308847" y="1577789"/>
            <a:chExt cx="6696635" cy="5266763"/>
          </a:xfrm>
        </p:grpSpPr>
        <p:sp>
          <p:nvSpPr>
            <p:cNvPr id="4" name="Rectangle 3"/>
            <p:cNvSpPr/>
            <p:nvPr/>
          </p:nvSpPr>
          <p:spPr>
            <a:xfrm>
              <a:off x="1730189" y="1577789"/>
              <a:ext cx="3056964" cy="609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LPP</a:t>
              </a:r>
              <a:endParaRPr lang="en-GB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308847" y="2187389"/>
              <a:ext cx="1317812" cy="851647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Infeasible or Unbounded</a:t>
              </a:r>
              <a:endParaRPr lang="en-GB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626659" y="2187389"/>
              <a:ext cx="1264024" cy="85164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Integer Solution</a:t>
              </a:r>
              <a:endParaRPr lang="en-GB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890683" y="2187390"/>
              <a:ext cx="1546410" cy="851646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Non-Integer Solution</a:t>
              </a:r>
              <a:endParaRPr lang="en-GB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401670" y="3048000"/>
              <a:ext cx="2070847" cy="851647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Non-Integer Solution</a:t>
              </a:r>
              <a:endParaRPr lang="en-GB" dirty="0"/>
            </a:p>
            <a:p>
              <a:pPr algn="ctr"/>
              <a:r>
                <a:rPr lang="en-US" dirty="0" smtClean="0"/>
                <a:t>A, </a:t>
              </a:r>
              <a:r>
                <a:rPr lang="en-US" dirty="0">
                  <a:solidFill>
                    <a:srgbClr val="FF0000"/>
                  </a:solidFill>
                </a:rPr>
                <a:t>Max </a:t>
              </a:r>
              <a:r>
                <a:rPr lang="en-US" dirty="0" err="1" smtClean="0">
                  <a:solidFill>
                    <a:srgbClr val="FF0000"/>
                  </a:solidFill>
                </a:rPr>
                <a:t>Zu</a:t>
              </a:r>
              <a:r>
                <a:rPr lang="en-US" dirty="0" smtClean="0">
                  <a:solidFill>
                    <a:srgbClr val="FF0000"/>
                  </a:solidFill>
                </a:rPr>
                <a:t>, Min ZL</a:t>
              </a:r>
              <a:endParaRPr lang="en-GB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598895" y="3899647"/>
              <a:ext cx="1757082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 </a:t>
              </a:r>
              <a:r>
                <a:rPr lang="en-US" dirty="0" smtClean="0"/>
                <a:t>Highest fractional value</a:t>
              </a:r>
              <a:endParaRPr lang="en-GB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67835" y="4814047"/>
              <a:ext cx="1604682" cy="555812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Two Sub Problems B,C</a:t>
              </a:r>
              <a:endParaRPr lang="en-GB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34771" y="5903258"/>
              <a:ext cx="1447799" cy="6723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ZL&lt;Sol &lt;</a:t>
              </a:r>
              <a:r>
                <a:rPr lang="en-US" dirty="0" err="1" smtClean="0"/>
                <a:t>Zu</a:t>
              </a:r>
              <a:endParaRPr lang="en-GB" dirty="0"/>
            </a:p>
          </p:txBody>
        </p:sp>
        <p:cxnSp>
          <p:nvCxnSpPr>
            <p:cNvPr id="21" name="Elbow Connector 20"/>
            <p:cNvCxnSpPr>
              <a:stCxn id="8" idx="1"/>
              <a:endCxn id="12" idx="1"/>
            </p:cNvCxnSpPr>
            <p:nvPr/>
          </p:nvCxnSpPr>
          <p:spPr>
            <a:xfrm rot="10800000" flipV="1">
              <a:off x="2534772" y="3473823"/>
              <a:ext cx="1866899" cy="2765611"/>
            </a:xfrm>
            <a:prstGeom prst="bentConnector3">
              <a:avLst>
                <a:gd name="adj1" fmla="val 112245"/>
              </a:avLst>
            </a:prstGeom>
            <a:ln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>
              <a:off x="6472516" y="4141694"/>
              <a:ext cx="1138517" cy="6723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B-ZL, </a:t>
              </a:r>
              <a:r>
                <a:rPr lang="en-US" dirty="0" err="1" smtClean="0"/>
                <a:t>Zu</a:t>
              </a:r>
              <a:r>
                <a:rPr lang="en-US" dirty="0" smtClean="0"/>
                <a:t> </a:t>
              </a:r>
              <a:endParaRPr lang="en-GB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472517" y="5172635"/>
              <a:ext cx="1138517" cy="67235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C-ZL , </a:t>
              </a:r>
              <a:r>
                <a:rPr lang="en-US" dirty="0" err="1" smtClean="0"/>
                <a:t>Zu</a:t>
              </a:r>
              <a:endParaRPr lang="en-GB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239434" y="5939117"/>
              <a:ext cx="1766048" cy="90543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  <a:r>
                <a:rPr lang="en-US" dirty="0" smtClean="0"/>
                <a:t>ol &lt;ZL, max or Sol&gt;</a:t>
              </a:r>
              <a:r>
                <a:rPr lang="en-US" dirty="0" err="1" smtClean="0"/>
                <a:t>Zu</a:t>
              </a:r>
              <a:r>
                <a:rPr lang="en-US" dirty="0" smtClean="0"/>
                <a:t>, min</a:t>
              </a:r>
            </a:p>
            <a:p>
              <a:pPr algn="ctr"/>
              <a:r>
                <a:rPr lang="en-US" dirty="0" smtClean="0"/>
                <a:t>terminate</a:t>
              </a:r>
              <a:endParaRPr lang="en-GB" dirty="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100917" y="5369858"/>
              <a:ext cx="1138517" cy="1474694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Integer </a:t>
              </a:r>
              <a:r>
                <a:rPr lang="en-US" dirty="0" err="1">
                  <a:solidFill>
                    <a:srgbClr val="FF0000"/>
                  </a:solidFill>
                </a:rPr>
                <a:t>soln</a:t>
              </a:r>
              <a:r>
                <a:rPr lang="en-US" dirty="0">
                  <a:solidFill>
                    <a:srgbClr val="FF0000"/>
                  </a:solidFill>
                </a:rPr>
                <a:t>=</a:t>
              </a:r>
              <a:r>
                <a:rPr lang="en-US" dirty="0" err="1">
                  <a:solidFill>
                    <a:srgbClr val="FF0000"/>
                  </a:solidFill>
                </a:rPr>
                <a:t>Zu</a:t>
              </a:r>
              <a:r>
                <a:rPr lang="en-US" dirty="0">
                  <a:solidFill>
                    <a:srgbClr val="FF0000"/>
                  </a:solidFill>
                </a:rPr>
                <a:t>,</a:t>
              </a:r>
              <a:r>
                <a:rPr lang="en-US" dirty="0"/>
                <a:t> </a:t>
              </a:r>
              <a:r>
                <a:rPr lang="en-US" dirty="0" smtClean="0"/>
                <a:t>optimal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840071" y="4835569"/>
              <a:ext cx="4780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FF0000"/>
                  </a:solidFill>
                </a:rPr>
                <a:t>OR</a:t>
              </a:r>
              <a:endParaRPr lang="en-GB" dirty="0">
                <a:solidFill>
                  <a:srgbClr val="FF0000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962400" y="5365375"/>
              <a:ext cx="1138517" cy="1474694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Highest or Lowest </a:t>
              </a:r>
              <a:r>
                <a:rPr lang="en-US" dirty="0">
                  <a:solidFill>
                    <a:srgbClr val="FF0000"/>
                  </a:solidFill>
                </a:rPr>
                <a:t>Integer </a:t>
              </a:r>
              <a:r>
                <a:rPr lang="en-US" dirty="0" err="1">
                  <a:solidFill>
                    <a:srgbClr val="FF0000"/>
                  </a:solidFill>
                </a:rPr>
                <a:t>soln</a:t>
              </a:r>
              <a:r>
                <a:rPr lang="en-US" dirty="0"/>
                <a:t>-optimal</a:t>
              </a:r>
              <a:endParaRPr lang="en-GB" dirty="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969692" y="6087034"/>
            <a:ext cx="769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The procedure of branching and bounding continues until no further sub-problem</a:t>
            </a:r>
          </a:p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remains to be examined.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922480" y="5403749"/>
            <a:ext cx="103097" cy="285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7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954" y="833063"/>
            <a:ext cx="7429499" cy="5899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Solve the following all integer programming problem using the branch and bound method.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Maximize</a:t>
            </a:r>
            <a:r>
              <a:rPr lang="en-GB" dirty="0"/>
              <a:t> </a:t>
            </a:r>
            <a:r>
              <a:rPr lang="en-GB" i="1" dirty="0"/>
              <a:t>Z </a:t>
            </a:r>
            <a:r>
              <a:rPr lang="en-GB" dirty="0"/>
              <a:t>= 2</a:t>
            </a:r>
            <a:r>
              <a:rPr lang="en-GB" i="1" dirty="0"/>
              <a:t>x</a:t>
            </a:r>
            <a:r>
              <a:rPr lang="en-GB" dirty="0"/>
              <a:t>1 + 3</a:t>
            </a:r>
            <a:r>
              <a:rPr lang="en-GB" i="1" dirty="0"/>
              <a:t>x</a:t>
            </a:r>
            <a:r>
              <a:rPr lang="en-GB" dirty="0"/>
              <a:t>2</a:t>
            </a:r>
          </a:p>
          <a:p>
            <a:pPr marL="0" indent="0">
              <a:buNone/>
            </a:pPr>
            <a:r>
              <a:rPr lang="en-GB" dirty="0"/>
              <a:t>subject to the constraints</a:t>
            </a:r>
          </a:p>
          <a:p>
            <a:pPr marL="514350" indent="-514350">
              <a:buAutoNum type="romanLcParenBoth"/>
            </a:pPr>
            <a:r>
              <a:rPr lang="nn-NO" dirty="0" smtClean="0"/>
              <a:t>6</a:t>
            </a:r>
            <a:r>
              <a:rPr lang="nn-NO" i="1" dirty="0" smtClean="0"/>
              <a:t>x</a:t>
            </a:r>
            <a:r>
              <a:rPr lang="nn-NO" dirty="0" smtClean="0"/>
              <a:t>1 </a:t>
            </a:r>
            <a:r>
              <a:rPr lang="nn-NO" dirty="0"/>
              <a:t>+ 5</a:t>
            </a:r>
            <a:r>
              <a:rPr lang="nn-NO" i="1" dirty="0"/>
              <a:t>x</a:t>
            </a:r>
            <a:r>
              <a:rPr lang="nn-NO" dirty="0"/>
              <a:t>2 ≤ 25, </a:t>
            </a:r>
            <a:endParaRPr lang="nn-NO" dirty="0" smtClean="0"/>
          </a:p>
          <a:p>
            <a:pPr marL="0" indent="0">
              <a:buNone/>
            </a:pPr>
            <a:r>
              <a:rPr lang="nn-NO" dirty="0" smtClean="0"/>
              <a:t>(</a:t>
            </a:r>
            <a:r>
              <a:rPr lang="nn-NO" dirty="0"/>
              <a:t>ii) </a:t>
            </a:r>
            <a:r>
              <a:rPr lang="nn-NO" i="1" dirty="0"/>
              <a:t>x</a:t>
            </a:r>
            <a:r>
              <a:rPr lang="nn-NO" dirty="0"/>
              <a:t>1 + 3</a:t>
            </a:r>
            <a:r>
              <a:rPr lang="nn-NO" i="1" dirty="0"/>
              <a:t>x</a:t>
            </a:r>
            <a:r>
              <a:rPr lang="nn-NO" dirty="0"/>
              <a:t>2 ≤ </a:t>
            </a:r>
            <a:r>
              <a:rPr lang="nn-NO" dirty="0" smtClean="0"/>
              <a:t>10</a:t>
            </a:r>
          </a:p>
          <a:p>
            <a:pPr marL="0" indent="0">
              <a:buNone/>
            </a:pPr>
            <a:r>
              <a:rPr lang="en-GB" dirty="0" smtClean="0"/>
              <a:t>and </a:t>
            </a:r>
            <a:r>
              <a:rPr lang="en-GB" i="1" dirty="0"/>
              <a:t>x</a:t>
            </a:r>
            <a:r>
              <a:rPr lang="en-GB" dirty="0"/>
              <a:t>1, </a:t>
            </a:r>
            <a:r>
              <a:rPr lang="en-GB" i="1" dirty="0"/>
              <a:t>x</a:t>
            </a:r>
            <a:r>
              <a:rPr lang="en-GB" dirty="0"/>
              <a:t>2 ≥ 0 and integers.</a:t>
            </a:r>
            <a:endParaRPr lang="en-GB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141" y="3658118"/>
            <a:ext cx="4607859" cy="31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900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995082"/>
            <a:ext cx="7920387" cy="58629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Relaxing the integer conditions, the optimal non-integer solution to the given integer LP</a:t>
            </a:r>
          </a:p>
          <a:p>
            <a:pPr marL="0" indent="0">
              <a:buNone/>
            </a:pPr>
            <a:r>
              <a:rPr lang="en-GB" sz="2000" dirty="0"/>
              <a:t>problem obtained by graphical method </a:t>
            </a:r>
            <a:r>
              <a:rPr lang="en-GB" sz="2000" i="1" dirty="0" smtClean="0">
                <a:solidFill>
                  <a:srgbClr val="FF0000"/>
                </a:solidFill>
              </a:rPr>
              <a:t>x</a:t>
            </a:r>
            <a:r>
              <a:rPr lang="en-GB" sz="2000" dirty="0" smtClean="0">
                <a:solidFill>
                  <a:srgbClr val="FF0000"/>
                </a:solidFill>
              </a:rPr>
              <a:t>1 </a:t>
            </a:r>
            <a:r>
              <a:rPr lang="en-GB" sz="2000" dirty="0">
                <a:solidFill>
                  <a:srgbClr val="FF0000"/>
                </a:solidFill>
              </a:rPr>
              <a:t>= 1.92, </a:t>
            </a:r>
            <a:r>
              <a:rPr lang="en-GB" sz="2000" i="1" dirty="0">
                <a:solidFill>
                  <a:srgbClr val="FF0000"/>
                </a:solidFill>
              </a:rPr>
              <a:t>x</a:t>
            </a:r>
            <a:r>
              <a:rPr lang="en-GB" sz="2000" dirty="0">
                <a:solidFill>
                  <a:srgbClr val="FF0000"/>
                </a:solidFill>
              </a:rPr>
              <a:t>2 = 2.69 </a:t>
            </a:r>
            <a:r>
              <a:rPr lang="en-GB" sz="2000" dirty="0"/>
              <a:t>and max </a:t>
            </a:r>
            <a:r>
              <a:rPr lang="en-GB" sz="2000" i="1" dirty="0"/>
              <a:t>Z</a:t>
            </a:r>
            <a:r>
              <a:rPr lang="en-GB" sz="2000" dirty="0"/>
              <a:t>1 = 11.91.</a:t>
            </a:r>
          </a:p>
          <a:p>
            <a:pPr marL="0" indent="0">
              <a:buNone/>
            </a:pPr>
            <a:r>
              <a:rPr lang="en-GB" sz="2000" dirty="0"/>
              <a:t>The value of </a:t>
            </a:r>
            <a:r>
              <a:rPr lang="en-GB" sz="2000" i="1" dirty="0"/>
              <a:t>Z</a:t>
            </a:r>
            <a:r>
              <a:rPr lang="en-GB" sz="2000" dirty="0"/>
              <a:t>1 represents </a:t>
            </a:r>
            <a:r>
              <a:rPr lang="en-GB" sz="2000" i="1" dirty="0">
                <a:solidFill>
                  <a:srgbClr val="FF0000"/>
                </a:solidFill>
              </a:rPr>
              <a:t>initial upper bound </a:t>
            </a:r>
            <a:r>
              <a:rPr lang="en-GB" sz="2000" dirty="0"/>
              <a:t>as: </a:t>
            </a:r>
            <a:r>
              <a:rPr lang="en-GB" sz="2000" i="1" dirty="0" err="1" smtClean="0">
                <a:solidFill>
                  <a:srgbClr val="FF0000"/>
                </a:solidFill>
              </a:rPr>
              <a:t>Zu</a:t>
            </a:r>
            <a:r>
              <a:rPr lang="en-GB" sz="2000" i="1" dirty="0" smtClean="0">
                <a:solidFill>
                  <a:srgbClr val="FF0000"/>
                </a:solidFill>
              </a:rPr>
              <a:t> </a:t>
            </a:r>
            <a:r>
              <a:rPr lang="en-GB" sz="2000" dirty="0">
                <a:solidFill>
                  <a:srgbClr val="FF0000"/>
                </a:solidFill>
              </a:rPr>
              <a:t>= 11.91</a:t>
            </a:r>
            <a:r>
              <a:rPr lang="en-GB" sz="2000" dirty="0"/>
              <a:t>. Since value of variable </a:t>
            </a:r>
            <a:r>
              <a:rPr lang="en-GB" sz="2000" i="1" dirty="0"/>
              <a:t>x</a:t>
            </a:r>
            <a:r>
              <a:rPr lang="en-GB" sz="2000" dirty="0"/>
              <a:t>2 is </a:t>
            </a:r>
            <a:r>
              <a:rPr lang="en-GB" sz="2000" dirty="0" smtClean="0"/>
              <a:t>non-integer, therefore </a:t>
            </a:r>
            <a:r>
              <a:rPr lang="en-GB" sz="2000" dirty="0"/>
              <a:t>selecting it to decompose (branching) the given problem into two sub-problems by adding </a:t>
            </a:r>
            <a:r>
              <a:rPr lang="en-GB" sz="2000" dirty="0" smtClean="0"/>
              <a:t>two new </a:t>
            </a:r>
            <a:r>
              <a:rPr lang="en-GB" sz="2000" dirty="0"/>
              <a:t>constraints </a:t>
            </a:r>
            <a:r>
              <a:rPr lang="en-GB" sz="2000" i="1" dirty="0"/>
              <a:t>x</a:t>
            </a:r>
            <a:r>
              <a:rPr lang="en-GB" sz="2000" dirty="0"/>
              <a:t>2 ≤ 2 and </a:t>
            </a:r>
            <a:r>
              <a:rPr lang="en-GB" sz="2000" i="1" dirty="0"/>
              <a:t>x</a:t>
            </a:r>
            <a:r>
              <a:rPr lang="en-GB" sz="2000" dirty="0"/>
              <a:t>2 ≥ 3 to the constraints of original LP problem as follows</a:t>
            </a:r>
            <a:r>
              <a:rPr lang="en-GB" sz="2000" dirty="0" smtClean="0"/>
              <a:t>:</a:t>
            </a:r>
            <a:endParaRPr lang="en-GB" sz="20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990918"/>
              </p:ext>
            </p:extLst>
          </p:nvPr>
        </p:nvGraphicFramePr>
        <p:xfrm>
          <a:off x="1819836" y="4445001"/>
          <a:ext cx="6096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pl-PL" i="1" dirty="0" smtClean="0">
                          <a:solidFill>
                            <a:schemeClr val="tx1"/>
                          </a:solidFill>
                        </a:rPr>
                        <a:t>LP Sub-problem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 B </a:t>
                      </a:r>
                    </a:p>
                    <a:p>
                      <a:r>
                        <a:rPr lang="pl-PL" dirty="0" smtClean="0"/>
                        <a:t>Max </a:t>
                      </a:r>
                      <a:r>
                        <a:rPr lang="pl-PL" i="1" dirty="0" smtClean="0"/>
                        <a:t>Z </a:t>
                      </a:r>
                      <a:r>
                        <a:rPr lang="pl-PL" dirty="0" smtClean="0"/>
                        <a:t>= 2</a:t>
                      </a:r>
                      <a:r>
                        <a:rPr lang="pl-PL" i="1" dirty="0" smtClean="0"/>
                        <a:t>x</a:t>
                      </a:r>
                      <a:r>
                        <a:rPr lang="pl-PL" dirty="0" smtClean="0"/>
                        <a:t>1 + 3</a:t>
                      </a:r>
                      <a:r>
                        <a:rPr lang="pl-PL" i="1" dirty="0" smtClean="0"/>
                        <a:t>x</a:t>
                      </a:r>
                      <a:r>
                        <a:rPr lang="pl-PL" dirty="0" smtClean="0"/>
                        <a:t>2 </a:t>
                      </a:r>
                      <a:endParaRPr lang="en-US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(i) 6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1 + 5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2 ≤ 25, </a:t>
                      </a:r>
                    </a:p>
                    <a:p>
                      <a:r>
                        <a:rPr lang="en-GB" dirty="0" smtClean="0"/>
                        <a:t>(ii) 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1 + 3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2 ≤ 10, </a:t>
                      </a:r>
                    </a:p>
                    <a:p>
                      <a:r>
                        <a:rPr lang="en-GB" dirty="0" smtClean="0"/>
                        <a:t>(iii) </a:t>
                      </a:r>
                      <a:r>
                        <a:rPr lang="en-GB" i="1" dirty="0" smtClean="0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GB" dirty="0" smtClean="0">
                          <a:solidFill>
                            <a:srgbClr val="FF0000"/>
                          </a:solidFill>
                        </a:rPr>
                        <a:t>2 ≤ 2</a:t>
                      </a:r>
                      <a:r>
                        <a:rPr lang="en-GB" dirty="0" smtClean="0"/>
                        <a:t>, </a:t>
                      </a:r>
                    </a:p>
                    <a:p>
                      <a:r>
                        <a:rPr lang="en-GB" dirty="0" smtClean="0"/>
                        <a:t>and 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1, 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2 ≥ 0 integers.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l-PL" i="1" dirty="0" smtClean="0">
                          <a:solidFill>
                            <a:schemeClr val="tx1"/>
                          </a:solidFill>
                        </a:rPr>
                        <a:t>LP Sub-problem C</a:t>
                      </a:r>
                    </a:p>
                    <a:p>
                      <a:pPr marL="0" indent="0">
                        <a:buNone/>
                      </a:pPr>
                      <a:r>
                        <a:rPr lang="pl-PL" dirty="0" smtClean="0"/>
                        <a:t>Max </a:t>
                      </a:r>
                      <a:r>
                        <a:rPr lang="pl-PL" i="1" dirty="0" smtClean="0"/>
                        <a:t>Z </a:t>
                      </a:r>
                      <a:r>
                        <a:rPr lang="pl-PL" dirty="0" smtClean="0"/>
                        <a:t>= 2</a:t>
                      </a:r>
                      <a:r>
                        <a:rPr lang="pl-PL" i="1" dirty="0" smtClean="0"/>
                        <a:t>x</a:t>
                      </a:r>
                      <a:r>
                        <a:rPr lang="pl-PL" dirty="0" smtClean="0"/>
                        <a:t>1 + 3</a:t>
                      </a:r>
                      <a:r>
                        <a:rPr lang="pl-PL" i="1" dirty="0" smtClean="0"/>
                        <a:t>x</a:t>
                      </a:r>
                      <a:r>
                        <a:rPr lang="pl-PL" dirty="0" smtClean="0"/>
                        <a:t>2</a:t>
                      </a:r>
                    </a:p>
                    <a:p>
                      <a:pPr marL="0" indent="0">
                        <a:buNone/>
                      </a:pPr>
                      <a:r>
                        <a:rPr lang="en-GB" dirty="0" smtClean="0"/>
                        <a:t>(i) 6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1 + 5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2 ≤ 25, (ii) 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1 + 3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2 ≤ 10</a:t>
                      </a:r>
                    </a:p>
                    <a:p>
                      <a:pPr marL="0" indent="0">
                        <a:buNone/>
                      </a:pPr>
                      <a:r>
                        <a:rPr lang="en-GB" dirty="0" smtClean="0"/>
                        <a:t>(iii) </a:t>
                      </a:r>
                      <a:r>
                        <a:rPr lang="en-GB" i="1" dirty="0" smtClean="0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GB" dirty="0" smtClean="0">
                          <a:solidFill>
                            <a:srgbClr val="FF0000"/>
                          </a:solidFill>
                        </a:rPr>
                        <a:t>2 ≥ 3</a:t>
                      </a:r>
                      <a:r>
                        <a:rPr lang="en-GB" dirty="0" smtClean="0"/>
                        <a:t>,</a:t>
                      </a:r>
                    </a:p>
                    <a:p>
                      <a:pPr marL="0" indent="0">
                        <a:buNone/>
                      </a:pPr>
                      <a:r>
                        <a:rPr lang="en-GB" dirty="0" smtClean="0"/>
                        <a:t>and 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1, 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2 ≥ 0 and integers.</a:t>
                      </a:r>
                    </a:p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0424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307484"/>
              </p:ext>
            </p:extLst>
          </p:nvPr>
        </p:nvGraphicFramePr>
        <p:xfrm>
          <a:off x="1622612" y="626037"/>
          <a:ext cx="6096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pl-PL" i="1" dirty="0" smtClean="0">
                          <a:solidFill>
                            <a:schemeClr val="tx1"/>
                          </a:solidFill>
                        </a:rPr>
                        <a:t>LP Sub-problem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</a:rPr>
                        <a:t> B </a:t>
                      </a:r>
                    </a:p>
                    <a:p>
                      <a:r>
                        <a:rPr lang="pl-PL" dirty="0" smtClean="0"/>
                        <a:t>Max </a:t>
                      </a:r>
                      <a:r>
                        <a:rPr lang="pl-PL" i="1" dirty="0" smtClean="0"/>
                        <a:t>Z </a:t>
                      </a:r>
                      <a:r>
                        <a:rPr lang="pl-PL" dirty="0" smtClean="0"/>
                        <a:t>= 2</a:t>
                      </a:r>
                      <a:r>
                        <a:rPr lang="pl-PL" i="1" dirty="0" smtClean="0"/>
                        <a:t>x</a:t>
                      </a:r>
                      <a:r>
                        <a:rPr lang="pl-PL" dirty="0" smtClean="0"/>
                        <a:t>1 + 3</a:t>
                      </a:r>
                      <a:r>
                        <a:rPr lang="pl-PL" i="1" dirty="0" smtClean="0"/>
                        <a:t>x</a:t>
                      </a:r>
                      <a:r>
                        <a:rPr lang="pl-PL" dirty="0" smtClean="0"/>
                        <a:t>2 </a:t>
                      </a:r>
                      <a:endParaRPr lang="en-US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(i) 6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1 + 5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2 ≤ 25, </a:t>
                      </a:r>
                    </a:p>
                    <a:p>
                      <a:r>
                        <a:rPr lang="en-GB" dirty="0" smtClean="0"/>
                        <a:t>(ii) 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1 + 3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2 ≤ 10, </a:t>
                      </a:r>
                    </a:p>
                    <a:p>
                      <a:r>
                        <a:rPr lang="en-GB" dirty="0" smtClean="0"/>
                        <a:t>(iii) </a:t>
                      </a:r>
                      <a:r>
                        <a:rPr lang="en-GB" i="1" dirty="0" smtClean="0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GB" dirty="0" smtClean="0">
                          <a:solidFill>
                            <a:srgbClr val="FF0000"/>
                          </a:solidFill>
                        </a:rPr>
                        <a:t>2 ≤ 2</a:t>
                      </a:r>
                      <a:r>
                        <a:rPr lang="en-GB" dirty="0" smtClean="0"/>
                        <a:t>, </a:t>
                      </a:r>
                    </a:p>
                    <a:p>
                      <a:r>
                        <a:rPr lang="en-GB" dirty="0" smtClean="0"/>
                        <a:t>and 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1, 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2 ≥ 0 integers.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l-PL" i="1" dirty="0" smtClean="0">
                          <a:solidFill>
                            <a:schemeClr val="tx1"/>
                          </a:solidFill>
                        </a:rPr>
                        <a:t>LP Sub-problem C</a:t>
                      </a:r>
                    </a:p>
                    <a:p>
                      <a:pPr marL="0" indent="0">
                        <a:buNone/>
                      </a:pPr>
                      <a:r>
                        <a:rPr lang="pl-PL" dirty="0" smtClean="0"/>
                        <a:t>Max </a:t>
                      </a:r>
                      <a:r>
                        <a:rPr lang="pl-PL" i="1" dirty="0" smtClean="0"/>
                        <a:t>Z </a:t>
                      </a:r>
                      <a:r>
                        <a:rPr lang="pl-PL" dirty="0" smtClean="0"/>
                        <a:t>= 2</a:t>
                      </a:r>
                      <a:r>
                        <a:rPr lang="pl-PL" i="1" dirty="0" smtClean="0"/>
                        <a:t>x</a:t>
                      </a:r>
                      <a:r>
                        <a:rPr lang="pl-PL" dirty="0" smtClean="0"/>
                        <a:t>1 + 3</a:t>
                      </a:r>
                      <a:r>
                        <a:rPr lang="pl-PL" i="1" dirty="0" smtClean="0"/>
                        <a:t>x</a:t>
                      </a:r>
                      <a:r>
                        <a:rPr lang="pl-PL" dirty="0" smtClean="0"/>
                        <a:t>2</a:t>
                      </a:r>
                    </a:p>
                    <a:p>
                      <a:pPr marL="0" indent="0">
                        <a:buNone/>
                      </a:pPr>
                      <a:r>
                        <a:rPr lang="en-GB" dirty="0" smtClean="0"/>
                        <a:t>(i) 6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1 + 5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2 ≤ 25, (ii) 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1 + 3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2 ≤ 10</a:t>
                      </a:r>
                    </a:p>
                    <a:p>
                      <a:pPr marL="0" indent="0">
                        <a:buNone/>
                      </a:pPr>
                      <a:r>
                        <a:rPr lang="en-GB" dirty="0" smtClean="0"/>
                        <a:t>(iii) </a:t>
                      </a:r>
                      <a:r>
                        <a:rPr lang="en-GB" i="1" dirty="0" smtClean="0">
                          <a:solidFill>
                            <a:srgbClr val="FF0000"/>
                          </a:solidFill>
                        </a:rPr>
                        <a:t>x</a:t>
                      </a:r>
                      <a:r>
                        <a:rPr lang="en-GB" dirty="0" smtClean="0">
                          <a:solidFill>
                            <a:srgbClr val="FF0000"/>
                          </a:solidFill>
                        </a:rPr>
                        <a:t>2 ≥ 3</a:t>
                      </a:r>
                      <a:r>
                        <a:rPr lang="en-GB" dirty="0" smtClean="0"/>
                        <a:t>,</a:t>
                      </a:r>
                    </a:p>
                    <a:p>
                      <a:pPr marL="0" indent="0">
                        <a:buNone/>
                      </a:pPr>
                      <a:r>
                        <a:rPr lang="en-GB" dirty="0" smtClean="0"/>
                        <a:t>and 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1, </a:t>
                      </a:r>
                      <a:r>
                        <a:rPr lang="en-GB" i="1" dirty="0" smtClean="0"/>
                        <a:t>x</a:t>
                      </a:r>
                      <a:r>
                        <a:rPr lang="en-GB" dirty="0" smtClean="0"/>
                        <a:t>2 ≥ 0 and integers.</a:t>
                      </a:r>
                    </a:p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835" y="2725271"/>
            <a:ext cx="5952565" cy="310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45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5659466"/>
              </p:ext>
            </p:extLst>
          </p:nvPr>
        </p:nvGraphicFramePr>
        <p:xfrm>
          <a:off x="936345" y="788241"/>
          <a:ext cx="570650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6502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Sub-problem </a:t>
                      </a:r>
                      <a:r>
                        <a:rPr lang="en-GB" sz="1800" b="0" i="1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GB" sz="1800" b="0" i="1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 = 2.5, </a:t>
                      </a:r>
                      <a:r>
                        <a:rPr lang="en-GB" sz="1800" b="0" i="1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 = 2 and Max </a:t>
                      </a:r>
                      <a:r>
                        <a:rPr lang="en-GB" sz="1800" b="0" i="1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Z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 = 11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Sub-problem </a:t>
                      </a:r>
                      <a:r>
                        <a:rPr lang="en-GB" sz="1800" b="0" i="1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GB" sz="1800" b="0" i="1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 = 1, </a:t>
                      </a:r>
                      <a:r>
                        <a:rPr lang="en-GB" sz="1800" b="0" i="1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= 3 and Max </a:t>
                      </a:r>
                      <a:r>
                        <a:rPr lang="en-GB" sz="1800" b="0" i="1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= 11</a:t>
                      </a:r>
                    </a:p>
                    <a:p>
                      <a:r>
                        <a:rPr lang="en-GB" sz="1800" b="0" i="1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ZL 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= 11( Best integer solution value rounded off)</a:t>
                      </a:r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69576" y="2551837"/>
            <a:ext cx="812202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i="1" dirty="0"/>
              <a:t>LP Sub-problem </a:t>
            </a:r>
            <a:r>
              <a:rPr lang="en-GB" i="1" dirty="0" smtClean="0"/>
              <a:t>D                                                       </a:t>
            </a:r>
            <a:r>
              <a:rPr lang="en-GB" i="1" dirty="0"/>
              <a:t>LP Sub-problem E</a:t>
            </a:r>
          </a:p>
          <a:p>
            <a:r>
              <a:rPr lang="pl-PL" dirty="0"/>
              <a:t>Max </a:t>
            </a:r>
            <a:r>
              <a:rPr lang="pl-PL" i="1" dirty="0"/>
              <a:t>Z </a:t>
            </a:r>
            <a:r>
              <a:rPr lang="pl-PL" dirty="0"/>
              <a:t>= 2</a:t>
            </a:r>
            <a:r>
              <a:rPr lang="pl-PL" i="1" dirty="0"/>
              <a:t>x</a:t>
            </a:r>
            <a:r>
              <a:rPr lang="pl-PL" dirty="0"/>
              <a:t>1 + </a:t>
            </a:r>
            <a:r>
              <a:rPr lang="pl-PL" dirty="0" smtClean="0"/>
              <a:t>3</a:t>
            </a:r>
            <a:r>
              <a:rPr lang="pl-PL" i="1" dirty="0" smtClean="0"/>
              <a:t>x</a:t>
            </a:r>
            <a:r>
              <a:rPr lang="pl-PL" dirty="0" smtClean="0"/>
              <a:t>2</a:t>
            </a:r>
            <a:r>
              <a:rPr lang="en-US" dirty="0" smtClean="0"/>
              <a:t>                                                 </a:t>
            </a:r>
            <a:r>
              <a:rPr lang="pl-PL" dirty="0" smtClean="0"/>
              <a:t> </a:t>
            </a:r>
            <a:r>
              <a:rPr lang="pl-PL" dirty="0"/>
              <a:t>Max </a:t>
            </a:r>
            <a:r>
              <a:rPr lang="pl-PL" i="1" dirty="0"/>
              <a:t>Z </a:t>
            </a:r>
            <a:r>
              <a:rPr lang="pl-PL" dirty="0"/>
              <a:t>= 2</a:t>
            </a:r>
            <a:r>
              <a:rPr lang="pl-PL" i="1" dirty="0"/>
              <a:t>x</a:t>
            </a:r>
            <a:r>
              <a:rPr lang="pl-PL" dirty="0"/>
              <a:t>1 + 3</a:t>
            </a:r>
            <a:r>
              <a:rPr lang="pl-PL" i="1" dirty="0"/>
              <a:t>x</a:t>
            </a:r>
            <a:r>
              <a:rPr lang="pl-PL" dirty="0"/>
              <a:t>2</a:t>
            </a:r>
          </a:p>
          <a:p>
            <a:r>
              <a:rPr lang="en-GB" dirty="0"/>
              <a:t>subject </a:t>
            </a:r>
            <a:r>
              <a:rPr lang="en-GB" dirty="0" smtClean="0"/>
              <a:t>to </a:t>
            </a:r>
            <a:r>
              <a:rPr lang="en-GB" dirty="0"/>
              <a:t>(i) 6</a:t>
            </a:r>
            <a:r>
              <a:rPr lang="en-GB" i="1" dirty="0"/>
              <a:t>x</a:t>
            </a:r>
            <a:r>
              <a:rPr lang="en-GB" dirty="0"/>
              <a:t>1 + 5</a:t>
            </a:r>
            <a:r>
              <a:rPr lang="en-GB" i="1" dirty="0"/>
              <a:t>x</a:t>
            </a:r>
            <a:r>
              <a:rPr lang="en-GB" dirty="0"/>
              <a:t>2 ≤ 25, </a:t>
            </a:r>
            <a:r>
              <a:rPr lang="en-GB" dirty="0" smtClean="0"/>
              <a:t>                                   subject </a:t>
            </a:r>
            <a:r>
              <a:rPr lang="en-GB" dirty="0"/>
              <a:t>to (i) 6</a:t>
            </a:r>
            <a:r>
              <a:rPr lang="en-GB" i="1" dirty="0"/>
              <a:t>x</a:t>
            </a:r>
            <a:r>
              <a:rPr lang="en-GB" dirty="0"/>
              <a:t>1 + 5</a:t>
            </a:r>
            <a:r>
              <a:rPr lang="en-GB" i="1" dirty="0"/>
              <a:t>z</a:t>
            </a:r>
            <a:r>
              <a:rPr lang="en-GB" dirty="0"/>
              <a:t>2 ≤ 25, (ii) </a:t>
            </a:r>
            <a:r>
              <a:rPr lang="en-GB" i="1" dirty="0"/>
              <a:t>x</a:t>
            </a:r>
            <a:r>
              <a:rPr lang="en-GB" dirty="0"/>
              <a:t>1 + 3</a:t>
            </a:r>
            <a:r>
              <a:rPr lang="en-GB" i="1" dirty="0"/>
              <a:t>x</a:t>
            </a:r>
            <a:r>
              <a:rPr lang="en-GB" dirty="0"/>
              <a:t>2 ≤ 10</a:t>
            </a:r>
            <a:r>
              <a:rPr lang="en-GB" dirty="0" smtClean="0"/>
              <a:t>,                                                                  </a:t>
            </a:r>
            <a:r>
              <a:rPr lang="en-GB" dirty="0"/>
              <a:t>(ii) </a:t>
            </a:r>
            <a:r>
              <a:rPr lang="en-GB" i="1" dirty="0"/>
              <a:t>x</a:t>
            </a:r>
            <a:r>
              <a:rPr lang="en-GB" dirty="0"/>
              <a:t>1 + 3</a:t>
            </a:r>
            <a:r>
              <a:rPr lang="en-GB" i="1" dirty="0"/>
              <a:t>x</a:t>
            </a:r>
            <a:r>
              <a:rPr lang="en-GB" dirty="0"/>
              <a:t>2 ≤ 10 </a:t>
            </a:r>
          </a:p>
          <a:p>
            <a:r>
              <a:rPr lang="en-GB" dirty="0"/>
              <a:t>(iii) </a:t>
            </a:r>
            <a:r>
              <a:rPr lang="en-GB" i="1" dirty="0"/>
              <a:t>x</a:t>
            </a:r>
            <a:r>
              <a:rPr lang="en-GB" dirty="0"/>
              <a:t>2 ≤ 2, </a:t>
            </a:r>
            <a:r>
              <a:rPr lang="en-GB" dirty="0" smtClean="0"/>
              <a:t>                                                                            (</a:t>
            </a:r>
            <a:r>
              <a:rPr lang="en-GB" dirty="0"/>
              <a:t>iii) </a:t>
            </a:r>
            <a:r>
              <a:rPr lang="en-GB" i="1" dirty="0"/>
              <a:t>x</a:t>
            </a:r>
            <a:r>
              <a:rPr lang="en-GB" dirty="0"/>
              <a:t>2 ≤ 2</a:t>
            </a:r>
            <a:r>
              <a:rPr lang="en-GB" dirty="0" smtClean="0"/>
              <a:t>,</a:t>
            </a:r>
          </a:p>
          <a:p>
            <a:r>
              <a:rPr lang="en-GB" dirty="0" smtClean="0"/>
              <a:t> </a:t>
            </a:r>
            <a:r>
              <a:rPr lang="en-GB" dirty="0"/>
              <a:t>(iv) </a:t>
            </a:r>
            <a:r>
              <a:rPr lang="en-GB" i="1" dirty="0"/>
              <a:t>x</a:t>
            </a:r>
            <a:r>
              <a:rPr lang="en-GB" dirty="0"/>
              <a:t>1 ≤ </a:t>
            </a:r>
            <a:r>
              <a:rPr lang="en-GB" dirty="0" smtClean="0"/>
              <a:t>2                                                                              </a:t>
            </a:r>
            <a:r>
              <a:rPr lang="en-GB" dirty="0"/>
              <a:t>(iv) </a:t>
            </a:r>
            <a:r>
              <a:rPr lang="en-GB" i="1" dirty="0"/>
              <a:t>x</a:t>
            </a:r>
            <a:r>
              <a:rPr lang="en-GB" dirty="0"/>
              <a:t>1 </a:t>
            </a:r>
            <a:r>
              <a:rPr lang="en-GB" dirty="0" smtClean="0"/>
              <a:t>≥ 3</a:t>
            </a:r>
            <a:endParaRPr lang="en-GB" dirty="0"/>
          </a:p>
          <a:p>
            <a:r>
              <a:rPr lang="en-GB" dirty="0" smtClean="0"/>
              <a:t>                                 </a:t>
            </a:r>
            <a:r>
              <a:rPr lang="en-GB" i="1" dirty="0"/>
              <a:t>x</a:t>
            </a:r>
            <a:r>
              <a:rPr lang="en-GB" dirty="0"/>
              <a:t>1, </a:t>
            </a:r>
            <a:r>
              <a:rPr lang="en-GB" i="1" dirty="0"/>
              <a:t>x</a:t>
            </a:r>
            <a:r>
              <a:rPr lang="en-GB" dirty="0"/>
              <a:t>2 ≥ 0 and integers.</a:t>
            </a:r>
            <a:r>
              <a:rPr lang="en-GB" dirty="0" smtClean="0"/>
              <a:t>                          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800" y="4583162"/>
            <a:ext cx="3886400" cy="21337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67140" y="5465351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5298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95717" y="1896541"/>
            <a:ext cx="54863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Sub-problem </a:t>
            </a:r>
            <a:r>
              <a:rPr lang="en-GB" i="1" dirty="0"/>
              <a:t>D </a:t>
            </a:r>
            <a:r>
              <a:rPr lang="en-GB" dirty="0"/>
              <a:t>: </a:t>
            </a:r>
            <a:r>
              <a:rPr lang="en-GB" i="1" dirty="0"/>
              <a:t>x</a:t>
            </a:r>
            <a:r>
              <a:rPr lang="en-GB" dirty="0"/>
              <a:t>1 = 2, </a:t>
            </a:r>
            <a:r>
              <a:rPr lang="en-GB" i="1" dirty="0"/>
              <a:t>x</a:t>
            </a:r>
            <a:r>
              <a:rPr lang="en-GB" dirty="0"/>
              <a:t>2 = 2 and </a:t>
            </a:r>
            <a:r>
              <a:rPr lang="en-GB" dirty="0">
                <a:solidFill>
                  <a:srgbClr val="FF0000"/>
                </a:solidFill>
              </a:rPr>
              <a:t>max </a:t>
            </a:r>
            <a:r>
              <a:rPr lang="en-GB" i="1" dirty="0">
                <a:solidFill>
                  <a:srgbClr val="FF0000"/>
                </a:solidFill>
              </a:rPr>
              <a:t>Z</a:t>
            </a:r>
            <a:r>
              <a:rPr lang="en-GB" dirty="0">
                <a:solidFill>
                  <a:srgbClr val="FF0000"/>
                </a:solidFill>
              </a:rPr>
              <a:t>4 = 10</a:t>
            </a:r>
          </a:p>
          <a:p>
            <a:r>
              <a:rPr lang="en-GB" dirty="0"/>
              <a:t>Sub-problem </a:t>
            </a:r>
            <a:r>
              <a:rPr lang="en-GB" i="1" dirty="0"/>
              <a:t>E </a:t>
            </a:r>
            <a:r>
              <a:rPr lang="en-GB" dirty="0"/>
              <a:t>: </a:t>
            </a:r>
            <a:r>
              <a:rPr lang="en-GB" i="1" dirty="0"/>
              <a:t>x</a:t>
            </a:r>
            <a:r>
              <a:rPr lang="en-GB" dirty="0"/>
              <a:t>1 = 3, </a:t>
            </a:r>
            <a:r>
              <a:rPr lang="en-GB" i="1" dirty="0"/>
              <a:t>x</a:t>
            </a:r>
            <a:r>
              <a:rPr lang="en-GB" dirty="0"/>
              <a:t>2 = 1.4 and </a:t>
            </a:r>
            <a:r>
              <a:rPr lang="en-GB" dirty="0">
                <a:solidFill>
                  <a:srgbClr val="FF0000"/>
                </a:solidFill>
              </a:rPr>
              <a:t>max </a:t>
            </a:r>
            <a:r>
              <a:rPr lang="en-GB" i="1" dirty="0">
                <a:solidFill>
                  <a:srgbClr val="FF0000"/>
                </a:solidFill>
              </a:rPr>
              <a:t>Z</a:t>
            </a:r>
            <a:r>
              <a:rPr lang="en-GB" dirty="0">
                <a:solidFill>
                  <a:srgbClr val="FF0000"/>
                </a:solidFill>
              </a:rPr>
              <a:t>5 = </a:t>
            </a:r>
            <a:r>
              <a:rPr lang="en-GB" dirty="0" smtClean="0">
                <a:solidFill>
                  <a:srgbClr val="FF0000"/>
                </a:solidFill>
              </a:rPr>
              <a:t>10.2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Values are less than ZL=11 so the process is terminated.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71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06" y="1470212"/>
            <a:ext cx="8077199" cy="4643717"/>
          </a:xfrm>
        </p:spPr>
      </p:pic>
    </p:spTree>
    <p:extLst>
      <p:ext uri="{BB962C8B-B14F-4D97-AF65-F5344CB8AC3E}">
        <p14:creationId xmlns:p14="http://schemas.microsoft.com/office/powerpoint/2010/main" val="1301831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Example 2-Maximization Problem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894" y="1703294"/>
            <a:ext cx="7584141" cy="4276165"/>
          </a:xfrm>
        </p:spPr>
      </p:pic>
    </p:spTree>
    <p:extLst>
      <p:ext uri="{BB962C8B-B14F-4D97-AF65-F5344CB8AC3E}">
        <p14:creationId xmlns:p14="http://schemas.microsoft.com/office/powerpoint/2010/main" val="2090969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Example 3-minimization problem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24" y="1712258"/>
            <a:ext cx="7673788" cy="4885765"/>
          </a:xfrm>
        </p:spPr>
      </p:pic>
    </p:spTree>
    <p:extLst>
      <p:ext uri="{BB962C8B-B14F-4D97-AF65-F5344CB8AC3E}">
        <p14:creationId xmlns:p14="http://schemas.microsoft.com/office/powerpoint/2010/main" val="112293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2689715"/>
            <a:ext cx="7429499" cy="1478570"/>
          </a:xfrm>
        </p:spPr>
        <p:txBody>
          <a:bodyPr>
            <a:normAutofit fontScale="90000"/>
          </a:bodyPr>
          <a:lstStyle/>
          <a:p>
            <a:pPr lvl="0" algn="ctr">
              <a:lnSpc>
                <a:spcPct val="100000"/>
              </a:lnSpc>
              <a:spcBef>
                <a:spcPts val="0"/>
              </a:spcBef>
            </a:pPr>
            <a:r>
              <a:rPr lang="en-GB" sz="54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Thank you!</a:t>
            </a:r>
            <a:r>
              <a:rPr lang="en-GB" sz="48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/>
            </a:r>
            <a:br>
              <a:rPr lang="en-GB" sz="4800" b="1" cap="none" dirty="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280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larity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ircuit" id="{0AC2F7E7-15F5-431C-B2A2-456FE929F56C}" vid="{97ECCC31-8429-4523-BE8D-8F09B7A4D46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3681</TotalTime>
  <Words>573</Words>
  <Application>Microsoft Office PowerPoint</Application>
  <PresentationFormat>On-screen Show (4:3)</PresentationFormat>
  <Paragraphs>69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Clarity</vt:lpstr>
      <vt:lpstr>Circuit</vt:lpstr>
      <vt:lpstr>PowerPoint Presentation</vt:lpstr>
      <vt:lpstr>Branch and Bound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2-Maximization Problem</vt:lpstr>
      <vt:lpstr>Example 3-minimization problem</vt:lpstr>
      <vt:lpstr>Thank you!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Bakhtawar</dc:creator>
  <cp:lastModifiedBy>4G Traders</cp:lastModifiedBy>
  <cp:revision>392</cp:revision>
  <dcterms:created xsi:type="dcterms:W3CDTF">2022-09-10T13:48:09Z</dcterms:created>
  <dcterms:modified xsi:type="dcterms:W3CDTF">2025-12-02T06:15:53Z</dcterms:modified>
</cp:coreProperties>
</file>