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315" r:id="rId2"/>
    <p:sldId id="317" r:id="rId3"/>
    <p:sldId id="300" r:id="rId4"/>
    <p:sldId id="318" r:id="rId5"/>
    <p:sldId id="312" r:id="rId6"/>
    <p:sldId id="319" r:id="rId7"/>
    <p:sldId id="313" r:id="rId8"/>
    <p:sldId id="320" r:id="rId9"/>
    <p:sldId id="314" r:id="rId10"/>
    <p:sldId id="321" r:id="rId11"/>
    <p:sldId id="316" r:id="rId12"/>
    <p:sldId id="298" r:id="rId13"/>
    <p:sldId id="304" r:id="rId14"/>
    <p:sldId id="306" r:id="rId15"/>
    <p:sldId id="307" r:id="rId16"/>
    <p:sldId id="308" r:id="rId17"/>
    <p:sldId id="309" r:id="rId18"/>
    <p:sldId id="310" r:id="rId19"/>
    <p:sldId id="311" r:id="rId20"/>
    <p:sldId id="30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69444" autoAdjust="0"/>
  </p:normalViewPr>
  <p:slideViewPr>
    <p:cSldViewPr>
      <p:cViewPr varScale="1">
        <p:scale>
          <a:sx n="45" d="100"/>
          <a:sy n="45" d="100"/>
        </p:scale>
        <p:origin x="22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D3291-283E-9F47-BD2D-E9FB2184F06D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88E28-F68D-A049-B172-4E7D7FABD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16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0CE1-5923-45E5-9AE4-DE4337022A8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59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Test bed=</a:t>
            </a:r>
            <a:r>
              <a:rPr lang="en-US" dirty="0"/>
              <a:t>It is a platform or we can say it as- method which is used to test a particular module. It is the combination of hardware and software environment on which the tests will be executed.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0CE1-5923-45E5-9AE4-DE4337022A8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14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88E28-F68D-A049-B172-4E7D7FABD8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50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88E28-F68D-A049-B172-4E7D7FABD8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80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Deferred=</a:t>
            </a:r>
            <a:r>
              <a:rPr lang="en-US" dirty="0"/>
              <a:t>put off (an action or event) to a later time.</a:t>
            </a:r>
          </a:p>
          <a:p>
            <a:r>
              <a:rPr lang="en-US" b="1" dirty="0"/>
              <a:t>Archive= </a:t>
            </a:r>
            <a:r>
              <a:rPr lang="en-US" dirty="0"/>
              <a:t>a collection of historical documents or records providing information about a place, institution, or group of people.</a:t>
            </a:r>
          </a:p>
          <a:p>
            <a:endParaRPr lang="en-US" dirty="0"/>
          </a:p>
          <a:p>
            <a:r>
              <a:rPr lang="en-US" b="1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0CE1-5923-45E5-9AE4-DE4337022A8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3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 if testing objectives were achieved and ensure all test cases are executed.</a:t>
            </a:r>
          </a:p>
          <a:p>
            <a:r>
              <a:rPr lang="en-US" dirty="0"/>
              <a:t>Archive test artifacts for future reference.</a:t>
            </a:r>
          </a:p>
          <a:p>
            <a:r>
              <a:rPr lang="en-US" dirty="0">
                <a:latin typeface="Calibri"/>
                <a:cs typeface="Calibri"/>
              </a:rPr>
              <a:t>Once the test meets the exit criteria, the activities such as capturing the key outputs, lessons learned, results, logs, documents related to the project are archived and used as a reference for future projects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0CE1-5923-45E5-9AE4-DE4337022A8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48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7D68-83E7-4B82-970A-B8B0DBE2D28A}" type="datetimeFigureOut">
              <a:rPr lang="en-US" smtClean="0"/>
              <a:t>12/29/2024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C7240-8DC2-441B-9FF5-DCBE3AAE6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65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7D68-83E7-4B82-970A-B8B0DBE2D28A}" type="datetimeFigureOut">
              <a:rPr lang="en-US" smtClean="0"/>
              <a:t>12/29/2024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C7240-8DC2-441B-9FF5-DCBE3AAE6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74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7D68-83E7-4B82-970A-B8B0DBE2D28A}" type="datetimeFigureOut">
              <a:rPr lang="en-US" smtClean="0"/>
              <a:t>12/29/2024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C7240-8DC2-441B-9FF5-DCBE3AAE6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22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7D68-83E7-4B82-970A-B8B0DBE2D28A}" type="datetimeFigureOut">
              <a:rPr lang="en-US" smtClean="0"/>
              <a:t>12/29/2024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C7240-8DC2-441B-9FF5-DCBE3AAE6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66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7D68-83E7-4B82-970A-B8B0DBE2D28A}" type="datetimeFigureOut">
              <a:rPr lang="en-US" smtClean="0"/>
              <a:t>12/29/2024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C7240-8DC2-441B-9FF5-DCBE3AAE6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49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7D68-83E7-4B82-970A-B8B0DBE2D28A}" type="datetimeFigureOut">
              <a:rPr lang="en-US" smtClean="0"/>
              <a:t>12/29/2024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C7240-8DC2-441B-9FF5-DCBE3AAE6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00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7D68-83E7-4B82-970A-B8B0DBE2D28A}" type="datetimeFigureOut">
              <a:rPr lang="en-US" smtClean="0"/>
              <a:t>12/29/2024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C7240-8DC2-441B-9FF5-DCBE3AAE6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54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7D68-83E7-4B82-970A-B8B0DBE2D28A}" type="datetimeFigureOut">
              <a:rPr lang="en-US" smtClean="0"/>
              <a:t>12/29/2024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C7240-8DC2-441B-9FF5-DCBE3AAE6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217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7D68-83E7-4B82-970A-B8B0DBE2D28A}" type="datetimeFigureOut">
              <a:rPr lang="en-US" smtClean="0"/>
              <a:t>12/29/2024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C7240-8DC2-441B-9FF5-DCBE3AAE6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32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7D68-83E7-4B82-970A-B8B0DBE2D28A}" type="datetimeFigureOut">
              <a:rPr lang="en-US" smtClean="0"/>
              <a:t>12/29/2024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C7240-8DC2-441B-9FF5-DCBE3AAE6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051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7D68-83E7-4B82-970A-B8B0DBE2D28A}" type="datetimeFigureOut">
              <a:rPr lang="en-US" smtClean="0"/>
              <a:t>12/29/2024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C7240-8DC2-441B-9FF5-DCBE3AAE6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65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A7D68-83E7-4B82-970A-B8B0DBE2D28A}" type="datetimeFigureOut">
              <a:rPr lang="en-US" smtClean="0"/>
              <a:t>12/29/2024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C7240-8DC2-441B-9FF5-DCBE3AAE6F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236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fatima.gillani@numl.edu.pk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hasnain.bukhari@numl.edu.pk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 Driven Development (TDD)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A style of software development, not just a matter of testing your code.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Idea is to write tests cases first.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Tests drive the development of the application code.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Test and code are written in elementary increments. </a:t>
            </a:r>
          </a:p>
          <a:p>
            <a:pPr>
              <a:lnSpc>
                <a:spcPct val="20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59056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 Driven Development (TDD)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 The tests will ensure that future changes don’t cause problems.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Generally falls under Agile.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Enforces testing as part of the development process.</a:t>
            </a:r>
          </a:p>
        </p:txBody>
      </p:sp>
    </p:spTree>
    <p:extLst>
      <p:ext uri="{BB962C8B-B14F-4D97-AF65-F5344CB8AC3E}">
        <p14:creationId xmlns:p14="http://schemas.microsoft.com/office/powerpoint/2010/main" val="146159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Does TDD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Arial" charset="0"/>
              <a:buChar char="•"/>
            </a:pPr>
            <a:r>
              <a:rPr lang="en-US" altLang="x-none" sz="2700" dirty="0"/>
              <a:t>Have a requirement. </a:t>
            </a:r>
          </a:p>
          <a:p>
            <a:pPr>
              <a:lnSpc>
                <a:spcPct val="200000"/>
              </a:lnSpc>
              <a:buFont typeface="Arial" charset="0"/>
              <a:buChar char="•"/>
            </a:pPr>
            <a:r>
              <a:rPr lang="en-US" altLang="x-none" sz="2700" dirty="0"/>
              <a:t>Think about what could be a reasonable test to verify compliance with the requirement.</a:t>
            </a:r>
          </a:p>
          <a:p>
            <a:pPr>
              <a:lnSpc>
                <a:spcPct val="200000"/>
              </a:lnSpc>
              <a:buFont typeface="Arial" charset="0"/>
              <a:buChar char="•"/>
            </a:pPr>
            <a:r>
              <a:rPr lang="en-US" altLang="x-none" sz="2700" dirty="0"/>
              <a:t>Write the test </a:t>
            </a:r>
            <a:r>
              <a:rPr lang="en-US" altLang="x-none" sz="2700" b="1" u="sng" dirty="0"/>
              <a:t>before writing the code.</a:t>
            </a:r>
            <a:r>
              <a:rPr lang="en-US" altLang="x-none" sz="2700" dirty="0"/>
              <a:t> Of course, the test will fail, and that’s ok.</a:t>
            </a:r>
          </a:p>
        </p:txBody>
      </p:sp>
    </p:spTree>
    <p:extLst>
      <p:ext uri="{BB962C8B-B14F-4D97-AF65-F5344CB8AC3E}">
        <p14:creationId xmlns:p14="http://schemas.microsoft.com/office/powerpoint/2010/main" val="118322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Does TDD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Arial" charset="0"/>
              <a:buChar char="•"/>
            </a:pPr>
            <a:r>
              <a:rPr lang="en-US" altLang="x-none" sz="2700" dirty="0"/>
              <a:t>Keep things simple.</a:t>
            </a:r>
          </a:p>
          <a:p>
            <a:pPr>
              <a:lnSpc>
                <a:spcPct val="200000"/>
              </a:lnSpc>
              <a:buFont typeface="Arial" charset="0"/>
              <a:buChar char="•"/>
            </a:pPr>
            <a:r>
              <a:rPr lang="en-US" altLang="x-none" sz="2700" dirty="0"/>
              <a:t>Then, write </a:t>
            </a:r>
            <a:r>
              <a:rPr lang="en-US" altLang="x-none" sz="2700" b="1" u="sng" dirty="0"/>
              <a:t>only</a:t>
            </a:r>
            <a:r>
              <a:rPr lang="en-US" altLang="x-none" sz="2700" dirty="0"/>
              <a:t> the minimally necessary code to make the test pass.</a:t>
            </a:r>
          </a:p>
          <a:p>
            <a:pPr>
              <a:lnSpc>
                <a:spcPct val="200000"/>
              </a:lnSpc>
              <a:buFont typeface="Arial" charset="0"/>
              <a:buChar char="•"/>
            </a:pPr>
            <a:r>
              <a:rPr lang="en-US" altLang="x-none" sz="2700" dirty="0"/>
              <a:t>This is a process of discovery; as you identify possible improvements, refactor your code.</a:t>
            </a:r>
          </a:p>
        </p:txBody>
      </p:sp>
    </p:spTree>
    <p:extLst>
      <p:ext uri="{BB962C8B-B14F-4D97-AF65-F5344CB8AC3E}">
        <p14:creationId xmlns:p14="http://schemas.microsoft.com/office/powerpoint/2010/main" val="117072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543800" cy="100964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b="1" dirty="0">
                <a:latin typeface="Calibri"/>
                <a:cs typeface="Calibri"/>
              </a:rPr>
              <a:t>Testing Cycle</a:t>
            </a:r>
            <a:endParaRPr lang="en-GB" sz="4000" b="1" dirty="0">
              <a:latin typeface="Calibri"/>
              <a:cs typeface="Calibri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371600"/>
            <a:ext cx="7696200" cy="5029200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2800" dirty="0">
                <a:latin typeface="Calibri"/>
                <a:cs typeface="Calibri"/>
              </a:rPr>
              <a:t>Although variations exist in testing life cycle, there is a typical cycle for testing. </a:t>
            </a:r>
          </a:p>
          <a:p>
            <a:pPr eaLnBrk="1" hangingPunct="1">
              <a:lnSpc>
                <a:spcPct val="250000"/>
              </a:lnSpc>
            </a:pPr>
            <a:r>
              <a:rPr lang="en-US" sz="2800" dirty="0">
                <a:latin typeface="Calibri"/>
                <a:cs typeface="Calibri"/>
              </a:rPr>
              <a:t>Testing should begin in the requirements phase of the software development life cycle. </a:t>
            </a:r>
          </a:p>
        </p:txBody>
      </p:sp>
    </p:spTree>
    <p:extLst>
      <p:ext uri="{BB962C8B-B14F-4D97-AF65-F5344CB8AC3E}">
        <p14:creationId xmlns:p14="http://schemas.microsoft.com/office/powerpoint/2010/main" val="1588084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543800" cy="100964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b="1" dirty="0">
                <a:latin typeface="Calibri"/>
                <a:cs typeface="Calibri"/>
              </a:rPr>
              <a:t>Testing Cycle</a:t>
            </a:r>
            <a:endParaRPr lang="en-GB" sz="4000" b="1" dirty="0">
              <a:latin typeface="Calibri"/>
              <a:cs typeface="Calibri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371600"/>
            <a:ext cx="7696200" cy="5029200"/>
          </a:xfrm>
        </p:spPr>
        <p:txBody>
          <a:bodyPr>
            <a:normAutofit/>
          </a:bodyPr>
          <a:lstStyle/>
          <a:p>
            <a:pPr marL="457200" indent="-457200" eaLnBrk="1" hangingPunct="1">
              <a:lnSpc>
                <a:spcPct val="250000"/>
              </a:lnSpc>
              <a:buFont typeface="+mj-lt"/>
              <a:buAutoNum type="arabicPeriod"/>
            </a:pPr>
            <a:r>
              <a:rPr lang="en-US" sz="2800" b="1" dirty="0">
                <a:latin typeface="Calibri"/>
                <a:cs typeface="Calibri"/>
              </a:rPr>
              <a:t>Test Planning</a:t>
            </a:r>
            <a:endParaRPr lang="en-US" sz="2800" dirty="0">
              <a:latin typeface="Calibri"/>
              <a:cs typeface="Calibri"/>
            </a:endParaRPr>
          </a:p>
          <a:p>
            <a:pPr lvl="1" eaLnBrk="1" hangingPunct="1">
              <a:lnSpc>
                <a:spcPct val="250000"/>
              </a:lnSpc>
            </a:pPr>
            <a:r>
              <a:rPr lang="en-US" dirty="0">
                <a:latin typeface="Calibri"/>
                <a:cs typeface="Calibri"/>
              </a:rPr>
              <a:t>Test strategy, test plan, test bed creation.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Define the scope, objectives, resources, schedule, and risks associated with testing.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Identify the types of tests to be performed, tools to be used, and the testing environment.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Document the criteria for test success and exit. </a:t>
            </a:r>
          </a:p>
        </p:txBody>
      </p:sp>
    </p:spTree>
    <p:extLst>
      <p:ext uri="{BB962C8B-B14F-4D97-AF65-F5344CB8AC3E}">
        <p14:creationId xmlns:p14="http://schemas.microsoft.com/office/powerpoint/2010/main" val="97431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33358"/>
            <a:ext cx="7543800" cy="1009642"/>
          </a:xfrm>
        </p:spPr>
        <p:txBody>
          <a:bodyPr/>
          <a:lstStyle/>
          <a:p>
            <a:pPr eaLnBrk="1" hangingPunct="1"/>
            <a:r>
              <a:rPr lang="en-US" sz="4200" b="1" dirty="0">
                <a:latin typeface="Calibri"/>
                <a:cs typeface="Calibri"/>
              </a:rPr>
              <a:t>Testing Cycle</a:t>
            </a:r>
            <a:endParaRPr lang="en-GB" sz="4200" b="1" dirty="0">
              <a:latin typeface="Calibri"/>
              <a:cs typeface="Calibri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143000"/>
            <a:ext cx="8077200" cy="5105400"/>
          </a:xfrm>
        </p:spPr>
        <p:txBody>
          <a:bodyPr>
            <a:noAutofit/>
          </a:bodyPr>
          <a:lstStyle/>
          <a:p>
            <a:pPr marL="457200" indent="-457200" algn="just" eaLnBrk="1" hangingPunct="1">
              <a:lnSpc>
                <a:spcPct val="200000"/>
              </a:lnSpc>
              <a:buFont typeface="+mj-lt"/>
              <a:buAutoNum type="arabicPeriod" startAt="2"/>
            </a:pPr>
            <a:r>
              <a:rPr lang="en-US" sz="2000" b="1" dirty="0">
                <a:latin typeface="Calibri"/>
                <a:cs typeface="Calibri"/>
              </a:rPr>
              <a:t>Test Development</a:t>
            </a:r>
            <a:r>
              <a:rPr lang="en-US" sz="2000" dirty="0">
                <a:latin typeface="Calibri"/>
                <a:cs typeface="Calibri"/>
              </a:rPr>
              <a:t>: </a:t>
            </a:r>
          </a:p>
          <a:p>
            <a:pPr lvl="1" algn="just" eaLnBrk="1" hangingPunct="1">
              <a:lnSpc>
                <a:spcPct val="200000"/>
              </a:lnSpc>
            </a:pPr>
            <a:r>
              <a:rPr lang="en-US" sz="2000" dirty="0">
                <a:latin typeface="Calibri"/>
                <a:cs typeface="Calibri"/>
              </a:rPr>
              <a:t>Test procedures, test scenarios, test cases, test datasets, test scripts to use in testing software. </a:t>
            </a:r>
          </a:p>
          <a:p>
            <a:pPr marL="457200" indent="-457200" algn="just" eaLnBrk="1" hangingPunct="1">
              <a:lnSpc>
                <a:spcPct val="200000"/>
              </a:lnSpc>
              <a:buFont typeface="+mj-lt"/>
              <a:buAutoNum type="arabicPeriod" startAt="2"/>
            </a:pPr>
            <a:r>
              <a:rPr lang="en-US" sz="2000" b="1" dirty="0">
                <a:latin typeface="Calibri"/>
                <a:cs typeface="Calibri"/>
              </a:rPr>
              <a:t>Test Execution</a:t>
            </a:r>
            <a:r>
              <a:rPr lang="en-US" sz="2000" dirty="0">
                <a:latin typeface="Calibri"/>
                <a:cs typeface="Calibri"/>
              </a:rPr>
              <a:t>: </a:t>
            </a:r>
          </a:p>
          <a:p>
            <a:pPr lvl="1" algn="just" eaLnBrk="1" hangingPunct="1">
              <a:lnSpc>
                <a:spcPct val="200000"/>
              </a:lnSpc>
            </a:pPr>
            <a:r>
              <a:rPr lang="en-US" sz="2000" dirty="0">
                <a:latin typeface="Calibri"/>
                <a:cs typeface="Calibri"/>
              </a:rPr>
              <a:t>Testers execute the software based on the plans and test documents. </a:t>
            </a:r>
          </a:p>
          <a:p>
            <a:r>
              <a:rPr lang="en-US" sz="2000" dirty="0"/>
              <a:t>Execute the test cases manually or with automated tools.</a:t>
            </a:r>
          </a:p>
          <a:p>
            <a:r>
              <a:rPr lang="en-US" sz="2000" dirty="0"/>
              <a:t>Record the outcomes of each test case.</a:t>
            </a:r>
            <a:endParaRPr lang="en-US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5231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33358"/>
            <a:ext cx="7543800" cy="1009642"/>
          </a:xfrm>
        </p:spPr>
        <p:txBody>
          <a:bodyPr/>
          <a:lstStyle/>
          <a:p>
            <a:pPr eaLnBrk="1" hangingPunct="1"/>
            <a:r>
              <a:rPr lang="en-US" sz="4200" b="1" dirty="0">
                <a:latin typeface="Calibri"/>
                <a:cs typeface="Calibri"/>
              </a:rPr>
              <a:t>Testing Cycle</a:t>
            </a:r>
            <a:endParaRPr lang="en-GB" sz="4200" b="1" dirty="0">
              <a:latin typeface="Calibri"/>
              <a:cs typeface="Calibri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8077200" cy="5105400"/>
          </a:xfrm>
        </p:spPr>
        <p:txBody>
          <a:bodyPr>
            <a:normAutofit/>
          </a:bodyPr>
          <a:lstStyle/>
          <a:p>
            <a:pPr marL="457200" indent="-457200" algn="just" eaLnBrk="1" hangingPunct="1">
              <a:lnSpc>
                <a:spcPct val="130000"/>
              </a:lnSpc>
              <a:buFont typeface="+mj-lt"/>
              <a:buAutoNum type="arabicPeriod" startAt="4"/>
            </a:pPr>
            <a:r>
              <a:rPr lang="en-US" b="1" dirty="0">
                <a:latin typeface="Calibri"/>
                <a:cs typeface="Calibri"/>
              </a:rPr>
              <a:t>Test Reporting</a:t>
            </a:r>
            <a:r>
              <a:rPr lang="en-US" dirty="0">
                <a:latin typeface="Calibri"/>
                <a:cs typeface="Calibri"/>
              </a:rPr>
              <a:t>: </a:t>
            </a:r>
          </a:p>
          <a:p>
            <a:pPr lvl="1" algn="just" eaLnBrk="1" hangingPunct="1">
              <a:lnSpc>
                <a:spcPct val="200000"/>
              </a:lnSpc>
            </a:pPr>
            <a:r>
              <a:rPr lang="en-US" dirty="0">
                <a:latin typeface="Calibri"/>
                <a:cs typeface="Calibri"/>
              </a:rPr>
              <a:t>Once testing is completed, testers generate metrics and make final reports on their test effort and whether or not the software tested is ready for release. </a:t>
            </a:r>
          </a:p>
        </p:txBody>
      </p:sp>
    </p:spTree>
    <p:extLst>
      <p:ext uri="{BB962C8B-B14F-4D97-AF65-F5344CB8AC3E}">
        <p14:creationId xmlns:p14="http://schemas.microsoft.com/office/powerpoint/2010/main" val="423957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33552" y="457200"/>
            <a:ext cx="7543800" cy="1009642"/>
          </a:xfrm>
        </p:spPr>
        <p:txBody>
          <a:bodyPr/>
          <a:lstStyle/>
          <a:p>
            <a:pPr eaLnBrk="1" hangingPunct="1"/>
            <a:r>
              <a:rPr lang="en-US" sz="4200" b="1" dirty="0">
                <a:latin typeface="Calibri"/>
                <a:cs typeface="Calibri"/>
              </a:rPr>
              <a:t>Testing Cycle</a:t>
            </a:r>
            <a:endParaRPr lang="en-GB" sz="4200" b="1" dirty="0">
              <a:latin typeface="Calibri"/>
              <a:cs typeface="Calibri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eaLnBrk="1" hangingPunct="1">
              <a:lnSpc>
                <a:spcPct val="120000"/>
              </a:lnSpc>
              <a:buFont typeface="+mj-lt"/>
              <a:buAutoNum type="arabicPeriod" startAt="5"/>
            </a:pPr>
            <a:r>
              <a:rPr lang="en-US" sz="2800" b="1" dirty="0">
                <a:latin typeface="Calibri"/>
                <a:cs typeface="Calibri"/>
              </a:rPr>
              <a:t>Test Result Analysis</a:t>
            </a:r>
            <a:r>
              <a:rPr lang="en-US" sz="2800" dirty="0">
                <a:latin typeface="Calibri"/>
                <a:cs typeface="Calibri"/>
              </a:rPr>
              <a:t>: Or </a:t>
            </a:r>
            <a:r>
              <a:rPr lang="en-US" sz="2800" b="1" dirty="0">
                <a:latin typeface="Calibri"/>
                <a:cs typeface="Calibri"/>
              </a:rPr>
              <a:t>Defect Analysis</a:t>
            </a:r>
            <a:r>
              <a:rPr lang="en-US" sz="2800" dirty="0">
                <a:latin typeface="Calibri"/>
                <a:cs typeface="Calibri"/>
              </a:rPr>
              <a:t>, </a:t>
            </a:r>
          </a:p>
          <a:p>
            <a:r>
              <a:rPr lang="en-US" dirty="0"/>
              <a:t>Investigate the root causes of defects found during testing.</a:t>
            </a:r>
          </a:p>
          <a:p>
            <a:r>
              <a:rPr lang="en-US" dirty="0"/>
              <a:t>Collaborate with the development team to address these issues.</a:t>
            </a:r>
          </a:p>
          <a:p>
            <a:r>
              <a:rPr lang="en-US" dirty="0"/>
              <a:t>Re-run tests as needed to confirm defect resolution</a:t>
            </a:r>
            <a:r>
              <a:rPr lang="en-US" b="1" dirty="0"/>
              <a:t>.</a:t>
            </a:r>
          </a:p>
          <a:p>
            <a:pPr lvl="1" eaLnBrk="1" hangingPunct="1">
              <a:lnSpc>
                <a:spcPct val="150000"/>
              </a:lnSpc>
            </a:pPr>
            <a:endParaRPr lang="en-US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638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33552" y="457200"/>
            <a:ext cx="7543800" cy="1009642"/>
          </a:xfrm>
        </p:spPr>
        <p:txBody>
          <a:bodyPr/>
          <a:lstStyle/>
          <a:p>
            <a:pPr eaLnBrk="1" hangingPunct="1"/>
            <a:r>
              <a:rPr lang="en-US" sz="4200" b="1" dirty="0">
                <a:latin typeface="Calibri"/>
                <a:cs typeface="Calibri"/>
              </a:rPr>
              <a:t>Testing Cycle</a:t>
            </a:r>
            <a:endParaRPr lang="en-GB" sz="4200" b="1" dirty="0">
              <a:latin typeface="Calibri"/>
              <a:cs typeface="Calibri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eaLnBrk="1" hangingPunct="1">
              <a:lnSpc>
                <a:spcPct val="120000"/>
              </a:lnSpc>
              <a:buFont typeface="+mj-lt"/>
              <a:buAutoNum type="arabicPeriod" startAt="6"/>
            </a:pPr>
            <a:r>
              <a:rPr lang="en-US" sz="2800" b="1" dirty="0">
                <a:latin typeface="Calibri"/>
                <a:cs typeface="Calibri"/>
              </a:rPr>
              <a:t>Test Closure</a:t>
            </a:r>
            <a:endParaRPr lang="en-US" sz="2800" dirty="0">
              <a:latin typeface="Calibri"/>
              <a:cs typeface="Calibri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Evaluate if testing objectives were achieved and ensure all test cases are executed.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Archive test artifacts for future reference. </a:t>
            </a:r>
          </a:p>
          <a:p>
            <a:pPr marL="457200" lvl="1" indent="0" eaLnBrk="1" hangingPunct="1">
              <a:lnSpc>
                <a:spcPct val="150000"/>
              </a:lnSpc>
              <a:buNone/>
            </a:pPr>
            <a:endParaRPr lang="en-US" dirty="0">
              <a:latin typeface="Calibri"/>
              <a:cs typeface="Calibri"/>
            </a:endParaRPr>
          </a:p>
          <a:p>
            <a:pPr lvl="1" eaLnBrk="1" hangingPunct="1">
              <a:lnSpc>
                <a:spcPct val="150000"/>
              </a:lnSpc>
            </a:pPr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6924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Test 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en-US" sz="3000" dirty="0"/>
              <a:t>Read and understand functional non functional requirements carefully.</a:t>
            </a:r>
          </a:p>
          <a:p>
            <a:pPr>
              <a:lnSpc>
                <a:spcPct val="200000"/>
              </a:lnSpc>
            </a:pPr>
            <a:r>
              <a:rPr lang="en-US" sz="3000" dirty="0"/>
              <a:t>Generate test data from requirement's.</a:t>
            </a:r>
          </a:p>
          <a:p>
            <a:pPr lvl="1">
              <a:lnSpc>
                <a:spcPct val="200000"/>
              </a:lnSpc>
            </a:pPr>
            <a:r>
              <a:rPr lang="en-US" sz="2200" dirty="0"/>
              <a:t>Choose best suitable technique for test data generation (e.g. BVA, ECP etc.)</a:t>
            </a:r>
          </a:p>
          <a:p>
            <a:pPr>
              <a:lnSpc>
                <a:spcPct val="200000"/>
              </a:lnSpc>
            </a:pPr>
            <a:r>
              <a:rPr lang="en-US" sz="3000" dirty="0"/>
              <a:t>Generate test cases.</a:t>
            </a:r>
          </a:p>
        </p:txBody>
      </p:sp>
    </p:spTree>
    <p:extLst>
      <p:ext uri="{BB962C8B-B14F-4D97-AF65-F5344CB8AC3E}">
        <p14:creationId xmlns:p14="http://schemas.microsoft.com/office/powerpoint/2010/main" val="961736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Mock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45000"/>
              <a:buFont typeface="Wingdings" charset="2"/>
              <a:buChar char=""/>
            </a:pPr>
            <a:r>
              <a:rPr lang="en-US" altLang="en-US" dirty="0">
                <a:ea typeface="DejaVu Sans" charset="0"/>
                <a:cs typeface="DejaVu Sans" charset="0"/>
              </a:rPr>
              <a:t>To handle complex external queries (e.g. web services), random data, etc. in testing</a:t>
            </a:r>
          </a:p>
          <a:p>
            <a:pPr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SzPct val="45000"/>
              <a:buFont typeface="Wingdings" charset="2"/>
              <a:buChar char=""/>
            </a:pPr>
            <a:r>
              <a:rPr lang="en-US" altLang="en-US" dirty="0">
                <a:ea typeface="DejaVu Sans" charset="0"/>
                <a:cs typeface="DejaVu Sans" charset="0"/>
              </a:rPr>
              <a:t>Implements an interface that provides some functionality</a:t>
            </a:r>
          </a:p>
          <a:p>
            <a:pPr lvl="1">
              <a:spcBef>
                <a:spcPts val="7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Symbol" charset="2"/>
              <a:buChar char=""/>
            </a:pPr>
            <a:r>
              <a:rPr lang="en-US" altLang="en-US" dirty="0">
                <a:ea typeface="DejaVu Sans" charset="0"/>
                <a:cs typeface="DejaVu Sans" charset="0"/>
              </a:rPr>
              <a:t>Can be complex on their own – e.g. checking order of calls to some object, etc.</a:t>
            </a:r>
          </a:p>
          <a:p>
            <a:pPr lvl="1">
              <a:spcBef>
                <a:spcPts val="7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Symbol" charset="2"/>
              <a:buChar char=""/>
            </a:pPr>
            <a:r>
              <a:rPr lang="en-US" altLang="en-US" dirty="0">
                <a:ea typeface="DejaVu Sans" charset="0"/>
                <a:cs typeface="DejaVu Sans" charset="0"/>
              </a:rPr>
              <a:t>Can control the effect of the interface</a:t>
            </a:r>
          </a:p>
          <a:p>
            <a:pPr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None/>
            </a:pPr>
            <a:endParaRPr lang="en-US" altLang="en-US" sz="2800" dirty="0">
              <a:ea typeface="DejaVu Sans" charset="0"/>
              <a:cs typeface="DejaVu Sans" charset="0"/>
            </a:endParaRPr>
          </a:p>
          <a:p>
            <a:pPr>
              <a:buClr>
                <a:schemeClr val="tx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792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TDD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functional requirement states that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FR 1.1: </a:t>
            </a:r>
            <a:r>
              <a:rPr lang="en-US" dirty="0"/>
              <a:t>User shall be able to login using email id &amp; password.</a:t>
            </a:r>
          </a:p>
          <a:p>
            <a:pPr>
              <a:lnSpc>
                <a:spcPct val="150000"/>
              </a:lnSpc>
            </a:pPr>
            <a:r>
              <a:rPr lang="en-US" dirty="0"/>
              <a:t>So in TDD before we start coding, we go for test case design.</a:t>
            </a:r>
          </a:p>
          <a:p>
            <a:pPr>
              <a:lnSpc>
                <a:spcPct val="150000"/>
              </a:lnSpc>
            </a:pPr>
            <a:r>
              <a:rPr lang="en-US" dirty="0"/>
              <a:t>For test case design we need test data.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710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Data</a:t>
            </a:r>
          </a:p>
          <a:p>
            <a:endParaRPr lang="en-US" dirty="0"/>
          </a:p>
          <a:p>
            <a:pPr lvl="1"/>
            <a:r>
              <a:rPr lang="en-US" dirty="0"/>
              <a:t>Valid Class: </a:t>
            </a:r>
          </a:p>
          <a:p>
            <a:pPr lvl="2"/>
            <a:r>
              <a:rPr lang="en-US" dirty="0"/>
              <a:t>Email: </a:t>
            </a:r>
            <a:r>
              <a:rPr lang="en-US" dirty="0">
                <a:hlinkClick r:id="rId2"/>
              </a:rPr>
              <a:t>fatima.gillani@numl.edu.pk</a:t>
            </a:r>
            <a:endParaRPr lang="en-US" dirty="0"/>
          </a:p>
          <a:p>
            <a:pPr lvl="2"/>
            <a:r>
              <a:rPr lang="en-US" dirty="0"/>
              <a:t>Password: 1234567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In Valid Class: </a:t>
            </a:r>
          </a:p>
          <a:p>
            <a:pPr lvl="2"/>
            <a:r>
              <a:rPr lang="en-US" dirty="0"/>
              <a:t>Email: </a:t>
            </a:r>
            <a:r>
              <a:rPr lang="en-US" dirty="0" err="1">
                <a:hlinkClick r:id="rId2"/>
              </a:rPr>
              <a:t>fatima.gillani</a:t>
            </a:r>
            <a:endParaRPr lang="en-US" dirty="0"/>
          </a:p>
          <a:p>
            <a:pPr lvl="2"/>
            <a:r>
              <a:rPr lang="en-US" dirty="0"/>
              <a:t>Password: 000000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668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 Case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test data we design its test case.</a:t>
            </a:r>
          </a:p>
          <a:p>
            <a:r>
              <a:rPr lang="en-US" dirty="0"/>
              <a:t>A good test case must have the following things.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/>
              <a:t>Test case ID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/>
              <a:t>Input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/>
              <a:t>Partition tested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/>
              <a:t>Expected Output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/>
              <a:t>Actual Output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/>
              <a:t>Pass fail</a:t>
            </a:r>
          </a:p>
        </p:txBody>
      </p:sp>
    </p:spTree>
    <p:extLst>
      <p:ext uri="{BB962C8B-B14F-4D97-AF65-F5344CB8AC3E}">
        <p14:creationId xmlns:p14="http://schemas.microsoft.com/office/powerpoint/2010/main" val="1322653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1760877"/>
              </p:ext>
            </p:extLst>
          </p:nvPr>
        </p:nvGraphicFramePr>
        <p:xfrm>
          <a:off x="457200" y="1600200"/>
          <a:ext cx="8153400" cy="3886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171">
                <a:tc gridSpan="3">
                  <a:txBody>
                    <a:bodyPr/>
                    <a:lstStyle/>
                    <a:p>
                      <a:pPr lvl="1" algn="ctr"/>
                      <a:r>
                        <a:rPr lang="en-US" dirty="0"/>
                        <a:t>Test case Login (Valid)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 Case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Email:</a:t>
                      </a:r>
                      <a:r>
                        <a:rPr lang="en-US" sz="1600" dirty="0" err="1"/>
                        <a:t>fatima.gillani@numl.edu.pk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Password: 1234567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Partition tested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</a:t>
                      </a:r>
                      <a:r>
                        <a:rPr lang="en-US" baseline="0" dirty="0"/>
                        <a:t> Class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Valid</a:t>
                      </a:r>
                      <a:r>
                        <a:rPr lang="en-US" baseline="0" dirty="0"/>
                        <a:t> Class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Expected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Login Successful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Login Successful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Actual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--------------------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--------------------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 fail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--------------------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--------------------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03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630562"/>
              </p:ext>
            </p:extLst>
          </p:nvPr>
        </p:nvGraphicFramePr>
        <p:xfrm>
          <a:off x="457200" y="1600200"/>
          <a:ext cx="8153400" cy="3971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171">
                <a:tc gridSpan="3">
                  <a:txBody>
                    <a:bodyPr/>
                    <a:lstStyle/>
                    <a:p>
                      <a:pPr lvl="1" algn="ctr"/>
                      <a:r>
                        <a:rPr lang="en-US" dirty="0"/>
                        <a:t>Test case Login (In Valid)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 Case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Email: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fatima.gillani</a:t>
                      </a:r>
                      <a:r>
                        <a:rPr lang="en-US" sz="1600" u="sng" dirty="0">
                          <a:solidFill>
                            <a:schemeClr val="tx1"/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@numl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.edu.pk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Password: 000000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Partition tested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Valid</a:t>
                      </a:r>
                      <a:r>
                        <a:rPr lang="en-US" baseline="0" dirty="0"/>
                        <a:t> Class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 Valid</a:t>
                      </a:r>
                      <a:r>
                        <a:rPr lang="en-US" baseline="0" dirty="0"/>
                        <a:t> Class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Expected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Invalid Username or Password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Invalid Username or Password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Actual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--------------------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--------------------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 fail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--------------------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--------------------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438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you noticed we did</a:t>
            </a:r>
            <a:r>
              <a:rPr lang="fr-FR" dirty="0"/>
              <a:t>n’</a:t>
            </a:r>
            <a:r>
              <a:rPr lang="en-US" dirty="0"/>
              <a:t>t fill the actual output and pass/fail.</a:t>
            </a:r>
          </a:p>
          <a:p>
            <a:r>
              <a:rPr lang="en-US" dirty="0"/>
              <a:t>In TDD after designing a test case we develop the system in minimal way to pass this test case.</a:t>
            </a:r>
          </a:p>
          <a:p>
            <a:r>
              <a:rPr lang="en-US" dirty="0"/>
              <a:t>i.e. after test case is designed its code will </a:t>
            </a:r>
            <a:r>
              <a:rPr lang="en-US" dirty="0" err="1"/>
              <a:t>ve</a:t>
            </a:r>
            <a:r>
              <a:rPr lang="en-US" dirty="0"/>
              <a:t> written.</a:t>
            </a:r>
          </a:p>
        </p:txBody>
      </p:sp>
    </p:spTree>
    <p:extLst>
      <p:ext uri="{BB962C8B-B14F-4D97-AF65-F5344CB8AC3E}">
        <p14:creationId xmlns:p14="http://schemas.microsoft.com/office/powerpoint/2010/main" val="737028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US" dirty="0"/>
              <a:t>Once its code is written we will then execute the system. E.g.</a:t>
            </a:r>
          </a:p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4102799"/>
              </p:ext>
            </p:extLst>
          </p:nvPr>
        </p:nvGraphicFramePr>
        <p:xfrm>
          <a:off x="446690" y="2560638"/>
          <a:ext cx="8153400" cy="3886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171">
                <a:tc gridSpan="3">
                  <a:txBody>
                    <a:bodyPr/>
                    <a:lstStyle/>
                    <a:p>
                      <a:pPr lvl="1" algn="ctr"/>
                      <a:r>
                        <a:rPr lang="en-US" dirty="0"/>
                        <a:t>Test case Login (Valid)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Test Case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Email:fatima.gillani@numl.edu.pk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Password: 1234567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Partition tested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</a:t>
                      </a:r>
                      <a:r>
                        <a:rPr lang="en-US" baseline="0" dirty="0"/>
                        <a:t> Class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Valid</a:t>
                      </a:r>
                      <a:r>
                        <a:rPr lang="en-US" baseline="0" dirty="0"/>
                        <a:t> Class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Expected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Login Successful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Actual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Login Successful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Pass/Fail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404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TDD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710" y="1066800"/>
            <a:ext cx="8229600" cy="5257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  <a:buNone/>
            </a:pPr>
            <a:endParaRPr lang="en-US" altLang="x-none" dirty="0"/>
          </a:p>
          <a:p>
            <a:pPr>
              <a:lnSpc>
                <a:spcPct val="170000"/>
              </a:lnSpc>
            </a:pPr>
            <a:r>
              <a:rPr lang="en-US" altLang="x-none" dirty="0"/>
              <a:t>Reduces the number of bug.</a:t>
            </a:r>
          </a:p>
          <a:p>
            <a:pPr>
              <a:lnSpc>
                <a:spcPct val="170000"/>
              </a:lnSpc>
            </a:pPr>
            <a:r>
              <a:rPr lang="en-US" altLang="x-none" dirty="0"/>
              <a:t>Increases development speed, because less time is spent chasing bugs.</a:t>
            </a:r>
          </a:p>
          <a:p>
            <a:pPr>
              <a:lnSpc>
                <a:spcPct val="170000"/>
              </a:lnSpc>
            </a:pPr>
            <a:r>
              <a:rPr lang="en-US" altLang="x-none" dirty="0"/>
              <a:t>Improves code quality because of the </a:t>
            </a:r>
            <a:r>
              <a:rPr lang="en-US" altLang="x-none"/>
              <a:t>increased modularity.</a:t>
            </a:r>
            <a:endParaRPr lang="en-US" altLang="x-none" dirty="0"/>
          </a:p>
          <a:p>
            <a:pPr>
              <a:lnSpc>
                <a:spcPct val="170000"/>
              </a:lnSpc>
            </a:pPr>
            <a:r>
              <a:rPr lang="en-US" altLang="x-none" dirty="0"/>
              <a:t>Decreases maintenance costs because the code is easier to follow.</a:t>
            </a:r>
          </a:p>
          <a:p>
            <a:pPr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943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1323</TotalTime>
  <Words>1015</Words>
  <Application>Microsoft Office PowerPoint</Application>
  <PresentationFormat>On-screen Show (4:3)</PresentationFormat>
  <Paragraphs>164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Symbol</vt:lpstr>
      <vt:lpstr>Wingdings</vt:lpstr>
      <vt:lpstr>Office Theme</vt:lpstr>
      <vt:lpstr>Test Driven Development (TDD)</vt:lpstr>
      <vt:lpstr>Test Driven Development (TDD)</vt:lpstr>
      <vt:lpstr>How Does TDD Work</vt:lpstr>
      <vt:lpstr>How Does TDD Work</vt:lpstr>
      <vt:lpstr>Testing Cycle</vt:lpstr>
      <vt:lpstr>Testing Cycle</vt:lpstr>
      <vt:lpstr>Testing Cycle</vt:lpstr>
      <vt:lpstr>Testing Cycle</vt:lpstr>
      <vt:lpstr>Testing Cycle</vt:lpstr>
      <vt:lpstr>Testing Cycle</vt:lpstr>
      <vt:lpstr>Test Development Phases</vt:lpstr>
      <vt:lpstr>Mock Objects</vt:lpstr>
      <vt:lpstr>TDD Example</vt:lpstr>
      <vt:lpstr>Example</vt:lpstr>
      <vt:lpstr>Test Case Design</vt:lpstr>
      <vt:lpstr>Example</vt:lpstr>
      <vt:lpstr>Example</vt:lpstr>
      <vt:lpstr>Example</vt:lpstr>
      <vt:lpstr>Example</vt:lpstr>
      <vt:lpstr>Benefits of TDD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Architecture UML: Use case diagram-Part2</dc:title>
  <dc:creator>UZAIR IQBAL</dc:creator>
  <cp:lastModifiedBy>zulqarnain hassan</cp:lastModifiedBy>
  <cp:revision>190</cp:revision>
  <dcterms:created xsi:type="dcterms:W3CDTF">2020-03-27T04:40:44Z</dcterms:created>
  <dcterms:modified xsi:type="dcterms:W3CDTF">2024-12-29T08:15:34Z</dcterms:modified>
</cp:coreProperties>
</file>