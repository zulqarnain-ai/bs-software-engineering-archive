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1"/>
  </p:notesMasterIdLst>
  <p:handoutMasterIdLst>
    <p:handoutMasterId r:id="rId12"/>
  </p:handoutMasterIdLst>
  <p:sldIdLst>
    <p:sldId id="308" r:id="rId2"/>
    <p:sldId id="598" r:id="rId3"/>
    <p:sldId id="599" r:id="rId4"/>
    <p:sldId id="600" r:id="rId5"/>
    <p:sldId id="601" r:id="rId6"/>
    <p:sldId id="602" r:id="rId7"/>
    <p:sldId id="603" r:id="rId8"/>
    <p:sldId id="604" r:id="rId9"/>
    <p:sldId id="605" r:id="rId10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04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32" autoAdjust="0"/>
  </p:normalViewPr>
  <p:slideViewPr>
    <p:cSldViewPr>
      <p:cViewPr varScale="1">
        <p:scale>
          <a:sx n="75" d="100"/>
          <a:sy n="75" d="100"/>
        </p:scale>
        <p:origin x="1428" y="3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44B210D1-BB10-4D3F-84EE-23EFEA341F4D}" type="datetimeFigureOut">
              <a:rPr lang="en-US" smtClean="0"/>
              <a:t>5/28/2025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735464-44F0-47AE-8A8C-CFA2DB979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856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8C4478-F009-4084-AF5B-5BBC1C5391ED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AE8BB69-AF1B-45E0-A550-DEEAC09AE99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8512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2"/>
          <p:cNvSpPr>
            <a:spLocks noGrp="1" noChangeArrowheads="1"/>
          </p:cNvSpPr>
          <p:nvPr>
            <p:ph type="hdr" sz="quarter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>
                <a:latin typeface="Arial" charset="0"/>
                <a:cs typeface="Arial" charset="0"/>
              </a:rPr>
              <a:t>Header1</a:t>
            </a:r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2F0B80D-AA9C-4B07-9B7A-DEF1E9678A05}" type="slidenum">
              <a:rPr lang="ko-KR" altLang="en-US">
                <a:latin typeface="Arial" charset="0"/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 altLang="ko-KR" dirty="0">
              <a:latin typeface="Arial" charset="0"/>
              <a:cs typeface="Arial" charset="0"/>
            </a:endParaRPr>
          </a:p>
        </p:txBody>
      </p:sp>
      <p:sp>
        <p:nvSpPr>
          <p:cNvPr id="614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6762" cy="3432175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2813" y="4343400"/>
            <a:ext cx="5032375" cy="4114800"/>
          </a:xfrm>
          <a:noFill/>
        </p:spPr>
        <p:txBody>
          <a:bodyPr wrap="square" lIns="95059" tIns="47530" rIns="95059" bIns="47530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US" baseline="0" dirty="0">
                <a:cs typeface="Arial" charset="0"/>
              </a:rPr>
              <a:t> </a:t>
            </a:r>
            <a:endParaRPr lang="en-US" dirty="0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551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BA362-69E2-4DDC-BADC-7B11D5BE817A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8EB19-C617-4428-9A2B-3B89409218E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2282825" y="0"/>
            <a:ext cx="68580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9"/>
          <p:cNvSpPr/>
          <p:nvPr/>
        </p:nvSpPr>
        <p:spPr bwMode="invGray">
          <a:xfrm>
            <a:off x="2286000" y="0"/>
            <a:ext cx="76200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Oval 8"/>
          <p:cNvSpPr/>
          <p:nvPr/>
        </p:nvSpPr>
        <p:spPr>
          <a:xfrm>
            <a:off x="2408238" y="2746375"/>
            <a:ext cx="63500" cy="63500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3722BA4-39B3-45A1-A7AC-1F3918C8D142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03B330-A60E-4F9A-B368-AA9E0D2C0C6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928D8-2A07-4C9A-AC2B-B87C68A18E32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6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FB0840-58FB-42AE-B722-DA08D68A1B7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/>
          <a:lstStyle>
            <a:lvl1pPr algn="ctr">
              <a:defRPr sz="4500" b="1" cap="none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7E289E5-BF1E-4F65-9039-EDEE690F93CE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6944B55-65F2-47D6-AA9A-06DBBEBDF1A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5752A6-4FF7-4D96-86DC-D5737A5BCD80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4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87F683-B714-4840-9F7B-D54158E195F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/>
          <p:nvPr/>
        </p:nvSpPr>
        <p:spPr>
          <a:xfrm>
            <a:off x="1014413" y="0"/>
            <a:ext cx="8129587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Rectangle 5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076632DF-7466-44F8-B14F-7E352A8B1400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B62068E-3DF5-4F07-A479-6ECFC5B4334B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FF663F3-C0EA-42A8-9D3C-15DAC77F7ABD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1A95174-CFA5-499D-88D0-D09D2FB1806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tIns="274320">
            <a:normAutofit/>
          </a:bodyPr>
          <a:lstStyle/>
          <a:p>
            <a:pPr indent="-283464" fontAlgn="auto">
              <a:lnSpc>
                <a:spcPts val="3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defRPr/>
            </a:pPr>
            <a:endParaRPr lang="en-US" sz="3200">
              <a:latin typeface="+mn-lt"/>
            </a:endParaRPr>
          </a:p>
        </p:txBody>
      </p:sp>
      <p:sp>
        <p:nvSpPr>
          <p:cNvPr id="6" name="Flowchart: Process 8"/>
          <p:cNvSpPr/>
          <p:nvPr/>
        </p:nvSpPr>
        <p:spPr>
          <a:xfrm rot="19468671">
            <a:off x="396875" y="954088"/>
            <a:ext cx="685800" cy="204787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Flowchart: Process 9"/>
          <p:cNvSpPr/>
          <p:nvPr/>
        </p:nvSpPr>
        <p:spPr>
          <a:xfrm rot="2103354" flipH="1">
            <a:off x="5003800" y="936625"/>
            <a:ext cx="649288" cy="204788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tIns="274320">
            <a:normAutofit/>
          </a:bodyPr>
          <a:lstStyle>
            <a:lvl1pPr indent="0">
              <a:buNone/>
              <a:defRPr sz="3200"/>
            </a:lvl1pPr>
            <a:extLst/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32F19D3-364E-4BE1-AB1D-9389337F1716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D314A49B-29C5-41E1-9157-AF7F5FD4ACA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59DBE8-5B23-4758-B47C-E9E341EE3328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8FE86-17E6-4DB8-A3B4-0AF1C45D9DD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4BA9B-DFDF-4564-91A2-6DF83062B79A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5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20A575-958F-452E-A13F-7BD0F68F6B4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D23C4-0CBE-41AD-9915-09C3EB7D8FC5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3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D7BE41-6580-421D-AAB4-199544DFCC6F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0111073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75" y="-815975"/>
            <a:ext cx="1638300" cy="163830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68275" y="20638"/>
            <a:ext cx="1703388" cy="1703387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12825" y="0"/>
            <a:ext cx="813117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100" y="274638"/>
            <a:ext cx="749935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8"/>
          <p:cNvSpPr>
            <a:spLocks noGrp="1"/>
          </p:cNvSpPr>
          <p:nvPr>
            <p:ph type="body" idx="1"/>
          </p:nvPr>
        </p:nvSpPr>
        <p:spPr bwMode="auto">
          <a:xfrm>
            <a:off x="1435100" y="1447800"/>
            <a:ext cx="749935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4674603B-BE21-4B82-834E-441265CC936A}" type="datetimeFigureOut">
              <a:rPr lang="en-US"/>
              <a:pPr>
                <a:defRPr/>
              </a:pPr>
              <a:t>5/28/2025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  <a:latin typeface="+mn-lt"/>
              </a:defRPr>
            </a:lvl1pPr>
            <a:extLst/>
          </a:lstStyle>
          <a:p>
            <a:pPr>
              <a:defRPr/>
            </a:pPr>
            <a:fld id="{25D2816C-7373-4FF3-9DF2-CB9F7B7A5FB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413" y="0"/>
            <a:ext cx="73025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8" r:id="rId2"/>
    <p:sldLayoutId id="2147483703" r:id="rId3"/>
    <p:sldLayoutId id="2147483709" r:id="rId4"/>
    <p:sldLayoutId id="2147483704" r:id="rId5"/>
    <p:sldLayoutId id="2147483710" r:id="rId6"/>
    <p:sldLayoutId id="2147483711" r:id="rId7"/>
    <p:sldLayoutId id="2147483712" r:id="rId8"/>
    <p:sldLayoutId id="2147483705" r:id="rId9"/>
    <p:sldLayoutId id="2147483706" r:id="rId10"/>
    <p:sldLayoutId id="2147483707" r:id="rId11"/>
    <p:sldLayoutId id="2147483713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300" kern="1200">
          <a:solidFill>
            <a:srgbClr val="572314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300">
          <a:solidFill>
            <a:srgbClr val="572314"/>
          </a:solidFill>
          <a:latin typeface="Gill Sans MT" pitchFamily="34" charset="0"/>
        </a:defRPr>
      </a:lvl9pPr>
      <a:extLst/>
    </p:titleStyle>
    <p:bodyStyle>
      <a:lvl1pPr marL="365125" indent="-282575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36538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5825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173038" algn="l" rtl="0" eaLnBrk="0" fontAlgn="base" hangingPunct="0">
        <a:spcBef>
          <a:spcPct val="20000"/>
        </a:spcBef>
        <a:spcAft>
          <a:spcPct val="0"/>
        </a:spcAft>
        <a:buClr>
          <a:srgbClr val="C32D2E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988" indent="-182563" algn="l" rtl="0" eaLnBrk="0" fontAlgn="base" hangingPunct="0">
        <a:spcBef>
          <a:spcPct val="20000"/>
        </a:spcBef>
        <a:spcAft>
          <a:spcPct val="0"/>
        </a:spcAft>
        <a:buClr>
          <a:srgbClr val="84AA33"/>
        </a:buClr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8"/>
          <p:cNvSpPr>
            <a:spLocks noChangeArrowheads="1"/>
          </p:cNvSpPr>
          <p:nvPr/>
        </p:nvSpPr>
        <p:spPr bwMode="auto">
          <a:xfrm>
            <a:off x="107504" y="236124"/>
            <a:ext cx="8893006" cy="1536692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>
              <a:spcBef>
                <a:spcPct val="20000"/>
              </a:spcBef>
              <a:buClr>
                <a:schemeClr val="bg1"/>
              </a:buClr>
              <a:buFontTx/>
              <a:buChar char="•"/>
            </a:pPr>
            <a:endParaRPr lang="en-US" sz="2800" dirty="0">
              <a:latin typeface="Goudy Stout" pitchFamily="18" charset="0"/>
            </a:endParaRPr>
          </a:p>
        </p:txBody>
      </p:sp>
      <p:sp>
        <p:nvSpPr>
          <p:cNvPr id="34820" name="Text Box 5"/>
          <p:cNvSpPr txBox="1">
            <a:spLocks noChangeArrowheads="1"/>
          </p:cNvSpPr>
          <p:nvPr/>
        </p:nvSpPr>
        <p:spPr bwMode="auto">
          <a:xfrm>
            <a:off x="-108520" y="4301081"/>
            <a:ext cx="8568988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marL="511175" indent="-279400" algn="ctr"/>
            <a:endParaRPr lang="en-US" sz="1200" dirty="0">
              <a:cs typeface="Times New Roman" pitchFamily="18" charset="0"/>
            </a:endParaRPr>
          </a:p>
          <a:p>
            <a:pPr marL="511175" indent="-279400" algn="r"/>
            <a:r>
              <a:rPr lang="en-US" dirty="0"/>
              <a:t>Dr. Sumaira Nazir</a:t>
            </a:r>
          </a:p>
          <a:p>
            <a:pPr marL="511175" indent="-279400" algn="r"/>
            <a:r>
              <a:rPr lang="en-US"/>
              <a:t>Department </a:t>
            </a:r>
            <a:r>
              <a:rPr lang="en-US" dirty="0"/>
              <a:t>of Software Engineering</a:t>
            </a:r>
          </a:p>
          <a:p>
            <a:pPr marL="511175" indent="-279400" algn="r"/>
            <a:r>
              <a:rPr lang="en-US" dirty="0"/>
              <a:t>National University of Modern Languages, Islamabad</a:t>
            </a:r>
          </a:p>
          <a:p>
            <a:pPr marL="511175" indent="-279400"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70068C-DD74-4ED8-9B03-A9F8221E847B}"/>
              </a:ext>
            </a:extLst>
          </p:cNvPr>
          <p:cNvSpPr txBox="1"/>
          <p:nvPr/>
        </p:nvSpPr>
        <p:spPr>
          <a:xfrm>
            <a:off x="269513" y="742860"/>
            <a:ext cx="85689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2800" b="1" dirty="0">
                <a:latin typeface="Times" panose="02020603060405020304" pitchFamily="18" charset="0"/>
              </a:rPr>
              <a:t>Software Project Management</a:t>
            </a:r>
          </a:p>
        </p:txBody>
      </p:sp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41FF3906-606C-41C2-9417-0401F7474A8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Project Resource Management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D7CB1CAE-CA83-4073-9CDF-738A51AB8A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293369385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0EBD-AB2C-4C90-AA4E-0131EB89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0CC6-EE5B-40E3-94AF-A3C982A7D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Project resource management includes the processes required to make the most effective use of the human and physical resources (facilities, equipment, materials, supplies, etc.) involved with a project. Human resource management includes all project stakeholders: sponsors, customers, project team members, support staff, suppliers supporting the project, and so on. Physical resources include facilities, equipment, materials, and supplies.</a:t>
            </a:r>
            <a:endParaRPr lang="en-MY" sz="2800" dirty="0"/>
          </a:p>
        </p:txBody>
      </p:sp>
    </p:spTree>
    <p:extLst>
      <p:ext uri="{BB962C8B-B14F-4D97-AF65-F5344CB8AC3E}">
        <p14:creationId xmlns:p14="http://schemas.microsoft.com/office/powerpoint/2010/main" val="844455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30EBD-AB2C-4C90-AA4E-0131EB891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C0CC6-EE5B-40E3-94AF-A3C982A7D6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5100" y="1395582"/>
            <a:ext cx="7499350" cy="4800600"/>
          </a:xfrm>
        </p:spPr>
        <p:txBody>
          <a:bodyPr/>
          <a:lstStyle/>
          <a:p>
            <a:pPr algn="just"/>
            <a:r>
              <a:rPr lang="en-US" u="sng" dirty="0">
                <a:solidFill>
                  <a:srgbClr val="FF0000"/>
                </a:solidFill>
              </a:rPr>
              <a:t>Planning resource management </a:t>
            </a:r>
            <a:r>
              <a:rPr lang="en-US" dirty="0"/>
              <a:t>involves deciding how to estimate, acquire, manage, and use project resources. </a:t>
            </a:r>
          </a:p>
          <a:p>
            <a:pPr algn="just"/>
            <a:r>
              <a:rPr lang="en-US" dirty="0"/>
              <a:t>Inputs </a:t>
            </a:r>
          </a:p>
          <a:p>
            <a:pPr lvl="1" algn="just"/>
            <a:r>
              <a:rPr lang="en-MY" sz="2400" dirty="0"/>
              <a:t>Project charter , Project management plan,  Project documents,  </a:t>
            </a:r>
            <a:endParaRPr lang="en-US" sz="2400" dirty="0"/>
          </a:p>
          <a:p>
            <a:pPr algn="just"/>
            <a:r>
              <a:rPr lang="en-US" dirty="0"/>
              <a:t>Outputs  </a:t>
            </a:r>
          </a:p>
          <a:p>
            <a:pPr lvl="1" algn="just"/>
            <a:r>
              <a:rPr lang="en-US" dirty="0"/>
              <a:t>a resource management plan</a:t>
            </a:r>
          </a:p>
          <a:p>
            <a:pPr lvl="1" algn="just"/>
            <a:r>
              <a:rPr lang="en-US" dirty="0"/>
              <a:t>team charter</a:t>
            </a:r>
          </a:p>
          <a:p>
            <a:pPr lvl="1" algn="just"/>
            <a:r>
              <a:rPr lang="en-US" dirty="0"/>
              <a:t>project documents updates.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1333251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423596-6C5E-0723-B787-D123178E2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3E990-2C3D-A0B6-CF07-694C43CFB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1F329-6129-69F0-7AAC-DA2E80B5D3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Estimating activity resources </a:t>
            </a:r>
            <a:r>
              <a:rPr lang="en-US" sz="2800" dirty="0"/>
              <a:t>involves estimating human and physical resources needed to complete project work. </a:t>
            </a:r>
          </a:p>
          <a:p>
            <a:pPr algn="just"/>
            <a:r>
              <a:rPr lang="en-US" sz="2800" dirty="0"/>
              <a:t>Inputs</a:t>
            </a:r>
            <a:r>
              <a:rPr lang="en-US" sz="2400" dirty="0"/>
              <a:t> </a:t>
            </a:r>
            <a:endParaRPr lang="en-MY" sz="2400" dirty="0"/>
          </a:p>
          <a:p>
            <a:pPr lvl="1" algn="just"/>
            <a:r>
              <a:rPr lang="en-MY" dirty="0"/>
              <a:t>Project management plan,  Project documents</a:t>
            </a:r>
            <a:endParaRPr lang="en-US" dirty="0"/>
          </a:p>
          <a:p>
            <a:pPr algn="just"/>
            <a:r>
              <a:rPr lang="en-US" sz="2800" dirty="0"/>
              <a:t>Outputs </a:t>
            </a:r>
          </a:p>
          <a:p>
            <a:pPr lvl="1" algn="just"/>
            <a:r>
              <a:rPr lang="en-US" sz="2400" dirty="0"/>
              <a:t>resource requirements, basis of estimates, a resource breakdown structure, and project documents updates.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1826856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E8F2-ADF1-2ACD-08CA-010F28E5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2A9B-60C4-FCF3-7EF5-ABA393E45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A5C8-90D7-398E-5279-3326A968FC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Acquiring resource</a:t>
            </a:r>
            <a:r>
              <a:rPr lang="en-US" sz="2800" dirty="0"/>
              <a:t>s includes obtaining team members, facilities, equipment, materials, supplies, and other resources as needed. </a:t>
            </a:r>
          </a:p>
          <a:p>
            <a:pPr algn="just"/>
            <a:r>
              <a:rPr lang="en-US" sz="2800" dirty="0"/>
              <a:t>Inputs</a:t>
            </a:r>
          </a:p>
          <a:p>
            <a:pPr lvl="1" algn="just"/>
            <a:r>
              <a:rPr lang="en-MY" sz="2400" dirty="0"/>
              <a:t>Project management plan,  Project documents,  </a:t>
            </a:r>
            <a:endParaRPr lang="en-US" sz="2400" dirty="0"/>
          </a:p>
          <a:p>
            <a:pPr algn="just"/>
            <a:r>
              <a:rPr lang="en-US" sz="2800" dirty="0"/>
              <a:t>Outputs </a:t>
            </a:r>
          </a:p>
          <a:p>
            <a:pPr lvl="1" algn="just"/>
            <a:r>
              <a:rPr lang="en-US" sz="2400" dirty="0"/>
              <a:t>physical and project team assignments, resource calendars, change requests, and updates to several documents. 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3777497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C4FD3-3586-7A5E-FA5E-575CEC952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890B5-D1F6-676E-0B0E-5EEDABBBE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61EC-3742-210B-AB60-284DA2667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u="sng" dirty="0">
                <a:solidFill>
                  <a:srgbClr val="FF0000"/>
                </a:solidFill>
              </a:rPr>
              <a:t>Developing the project team</a:t>
            </a:r>
            <a:r>
              <a:rPr lang="en-US" dirty="0"/>
              <a:t> involves building individual and group skills to enhance project performance. Team-building skills are often a challenge for many project managers. </a:t>
            </a:r>
          </a:p>
          <a:p>
            <a:pPr algn="just"/>
            <a:r>
              <a:rPr lang="en-US" dirty="0"/>
              <a:t>The main outputs of this process are </a:t>
            </a:r>
          </a:p>
          <a:p>
            <a:pPr lvl="1" algn="just"/>
            <a:r>
              <a:rPr lang="en-US" dirty="0"/>
              <a:t>team performance assessments, change requests, and updates to several documents.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434423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9E284-9E1C-E4EE-8B5E-71F9A66DD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25EB5-915C-EC50-2A12-0A484BA3F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4BFDD-7B43-BAC1-2DFD-6529EBB39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Managing the project team</a:t>
            </a:r>
            <a:r>
              <a:rPr lang="en-US" sz="2800" dirty="0"/>
              <a:t> involves tracking team member performance, motivating team members, providing timely feedback, resolving issues and conflicts, and coordinating changes to help enhance project performance.</a:t>
            </a:r>
          </a:p>
          <a:p>
            <a:pPr algn="just"/>
            <a:r>
              <a:rPr lang="en-US" sz="2800" dirty="0"/>
              <a:t>Outputs </a:t>
            </a:r>
          </a:p>
          <a:p>
            <a:pPr lvl="1" algn="just"/>
            <a:r>
              <a:rPr lang="en-US" sz="2400" dirty="0"/>
              <a:t>change requests, project management plan updates, project documents updates, and organizational process assets updates.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543073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F352B-F03F-B3F5-8E90-342F575F6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27B23-4CBB-E09F-E75B-8BC4C5982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Project Resource Management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32A63-3D69-7322-4E41-8E22FB9D8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u="sng" dirty="0">
                <a:solidFill>
                  <a:srgbClr val="FF0000"/>
                </a:solidFill>
              </a:rPr>
              <a:t>Controlling resources ensures </a:t>
            </a:r>
            <a:r>
              <a:rPr lang="en-US" sz="2800" dirty="0"/>
              <a:t>that a project’s physical resources are available as planned, monitoring the planned versus actual resource utilization, and taking corrective action when needed. </a:t>
            </a:r>
          </a:p>
          <a:p>
            <a:pPr algn="just"/>
            <a:r>
              <a:rPr lang="en-US" sz="2800" dirty="0"/>
              <a:t>Outputs  </a:t>
            </a:r>
          </a:p>
          <a:p>
            <a:pPr lvl="1" algn="just"/>
            <a:r>
              <a:rPr lang="en-US" sz="2400" dirty="0"/>
              <a:t>work performance information, change requests, and updates to the project management plan and project documents.</a:t>
            </a:r>
            <a:endParaRPr lang="en-MY" sz="2400" dirty="0"/>
          </a:p>
        </p:txBody>
      </p:sp>
    </p:spTree>
    <p:extLst>
      <p:ext uri="{BB962C8B-B14F-4D97-AF65-F5344CB8AC3E}">
        <p14:creationId xmlns:p14="http://schemas.microsoft.com/office/powerpoint/2010/main" val="84638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2523</TotalTime>
  <Words>392</Words>
  <Application>Microsoft Office PowerPoint</Application>
  <PresentationFormat>On-screen Show (4:3)</PresentationFormat>
  <Paragraphs>43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Arial</vt:lpstr>
      <vt:lpstr>Calibri</vt:lpstr>
      <vt:lpstr>Gill Sans MT</vt:lpstr>
      <vt:lpstr>Goudy Stout</vt:lpstr>
      <vt:lpstr>Times</vt:lpstr>
      <vt:lpstr>Times New Roman</vt:lpstr>
      <vt:lpstr>Verdana</vt:lpstr>
      <vt:lpstr>Wingdings 2</vt:lpstr>
      <vt:lpstr>Solstice</vt:lpstr>
      <vt:lpstr>PowerPoint Presentation</vt:lpstr>
      <vt:lpstr>Project Resource Management</vt:lpstr>
      <vt:lpstr>Project Resource Management</vt:lpstr>
      <vt:lpstr>Project Resource Management</vt:lpstr>
      <vt:lpstr>Project Resource Management</vt:lpstr>
      <vt:lpstr>Project Resource Management</vt:lpstr>
      <vt:lpstr>Project Resource Management</vt:lpstr>
      <vt:lpstr>Project Resource Management</vt:lpstr>
      <vt:lpstr>Project Resource Management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MN</dc:creator>
  <cp:lastModifiedBy>Sumaira Nazir</cp:lastModifiedBy>
  <cp:revision>225</cp:revision>
  <cp:lastPrinted>2014-09-07T17:36:35Z</cp:lastPrinted>
  <dcterms:created xsi:type="dcterms:W3CDTF">2006-12-08T11:09:38Z</dcterms:created>
  <dcterms:modified xsi:type="dcterms:W3CDTF">2025-05-28T10:39:01Z</dcterms:modified>
</cp:coreProperties>
</file>