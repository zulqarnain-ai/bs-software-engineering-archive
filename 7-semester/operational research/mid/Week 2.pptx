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92" r:id="rId2"/>
  </p:sldMasterIdLst>
  <p:notesMasterIdLst>
    <p:notesMasterId r:id="rId33"/>
  </p:notesMasterIdLst>
  <p:sldIdLst>
    <p:sldId id="368" r:id="rId3"/>
    <p:sldId id="446" r:id="rId4"/>
    <p:sldId id="433" r:id="rId5"/>
    <p:sldId id="434" r:id="rId6"/>
    <p:sldId id="435" r:id="rId7"/>
    <p:sldId id="436" r:id="rId8"/>
    <p:sldId id="437" r:id="rId9"/>
    <p:sldId id="438" r:id="rId10"/>
    <p:sldId id="439" r:id="rId11"/>
    <p:sldId id="440" r:id="rId12"/>
    <p:sldId id="441" r:id="rId13"/>
    <p:sldId id="442" r:id="rId14"/>
    <p:sldId id="444" r:id="rId15"/>
    <p:sldId id="443" r:id="rId16"/>
    <p:sldId id="455" r:id="rId17"/>
    <p:sldId id="445" r:id="rId18"/>
    <p:sldId id="429" r:id="rId19"/>
    <p:sldId id="447" r:id="rId20"/>
    <p:sldId id="448" r:id="rId21"/>
    <p:sldId id="458" r:id="rId22"/>
    <p:sldId id="459" r:id="rId23"/>
    <p:sldId id="430" r:id="rId24"/>
    <p:sldId id="449" r:id="rId25"/>
    <p:sldId id="450" r:id="rId26"/>
    <p:sldId id="452" r:id="rId27"/>
    <p:sldId id="453" r:id="rId28"/>
    <p:sldId id="454" r:id="rId29"/>
    <p:sldId id="456" r:id="rId30"/>
    <p:sldId id="457" r:id="rId31"/>
    <p:sldId id="41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>
      <p:cViewPr>
        <p:scale>
          <a:sx n="71" d="100"/>
          <a:sy n="71" d="100"/>
        </p:scale>
        <p:origin x="-1160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194E4-79C8-41B0-9AF4-53058728BAB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FD4BB-E70E-4D5C-83E2-D95045F6F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6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63FB-4DD9-4903-83FE-F80270576417}" type="datetime1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98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FA81-FF35-40E2-AA6F-C4E4697E2C73}" type="datetime1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0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8B4E-9E6D-47DB-A8C9-443A66B04FA1}" type="datetime1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942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D187-3CAF-4EEB-B511-D277A7E40C82}" type="datetime1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62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EB82-3297-42CA-9AC7-D3ECF198E013}" type="datetime1">
              <a:rPr lang="en-US" smtClean="0"/>
              <a:pPr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286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8733-E273-4EF3-8143-57B6AA49A592}" type="datetime1">
              <a:rPr lang="en-US" smtClean="0"/>
              <a:pPr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9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16BD8-1159-4CEE-BF69-08E8DE6F04D4}" type="datetime1">
              <a:rPr lang="en-US" smtClean="0"/>
              <a:pPr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B0FE-4AC0-4D7B-83B1-A18CD9CB8AEE}" type="datetime1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61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F497-D16F-472A-8AB2-6923D245D09D}" type="datetime1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7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3EED-3DA2-4ED4-9C83-CEA1A9E43AAB}" type="datetime1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7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ADCE-E054-4FA0-B715-AC4537BA8B51}" type="datetime1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04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29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97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37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74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84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502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40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41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19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879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556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9191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604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268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332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780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89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4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022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14300" dist="38100" dir="2700000" algn="tl">
              <a:srgbClr val="000000">
                <a:alpha val="2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7C545C-EAC2-4814-AE8B-2D0C943C30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9211BDA-D7DF-4130-A3B3-EE0167636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237" y="4391464"/>
            <a:ext cx="6400800" cy="2206283"/>
          </a:xfrm>
        </p:spPr>
        <p:txBody>
          <a:bodyPr>
            <a:normAutofit/>
          </a:bodyPr>
          <a:lstStyle/>
          <a:p>
            <a:pPr algn="ctr"/>
            <a:r>
              <a:rPr lang="en-US" sz="3900" b="1" dirty="0"/>
              <a:t>Operations Research</a:t>
            </a:r>
          </a:p>
          <a:p>
            <a:pPr algn="ctr"/>
            <a:r>
              <a:rPr lang="en-US" sz="2800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(Software </a:t>
            </a:r>
            <a:r>
              <a:rPr lang="en-US" sz="2800" b="1">
                <a:solidFill>
                  <a:srgbClr val="000000">
                    <a:lumMod val="75000"/>
                    <a:lumOff val="25000"/>
                  </a:srgbClr>
                </a:solidFill>
              </a:rPr>
              <a:t>Engineering</a:t>
            </a:r>
            <a:r>
              <a:rPr lang="en-US" sz="2800" b="1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67F458A-708A-4E75-9D30-9C4DBEA48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26617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CA972A36-04A5-41D7-9B19-15A743E4476F}"/>
              </a:ext>
            </a:extLst>
          </p:cNvPr>
          <p:cNvSpPr/>
          <p:nvPr/>
        </p:nvSpPr>
        <p:spPr>
          <a:xfrm>
            <a:off x="3713463" y="637061"/>
            <a:ext cx="17170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</a:t>
            </a:r>
            <a:r>
              <a:rPr lang="en-US" sz="2800" b="1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2</a:t>
            </a:r>
            <a:endParaRPr lang="en-GB" sz="2800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31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Method of linear programming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1980545"/>
            <a:ext cx="7429499" cy="4608513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company manufactures two products A and B. Both products are processed on two machines M1 and M2.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Profit per unit of A is Rs=100 and for B is Rs=80. Find out the monthly production of A and B to maximize profit.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="" xmlns:a16="http://schemas.microsoft.com/office/drawing/2014/main" id="{CE57C078-7687-4EEF-9BE0-8719F7C02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903107"/>
              </p:ext>
            </p:extLst>
          </p:nvPr>
        </p:nvGraphicFramePr>
        <p:xfrm>
          <a:off x="1558668" y="3491432"/>
          <a:ext cx="6096000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32000">
                  <a:extLst>
                    <a:ext uri="{9D8B030D-6E8A-4147-A177-3AD203B41FA5}">
                      <a16:colId xmlns="" xmlns:a16="http://schemas.microsoft.com/office/drawing/2014/main" val="2286705530"/>
                    </a:ext>
                  </a:extLst>
                </a:gridCol>
                <a:gridCol w="2032000">
                  <a:extLst>
                    <a:ext uri="{9D8B030D-6E8A-4147-A177-3AD203B41FA5}">
                      <a16:colId xmlns="" xmlns:a16="http://schemas.microsoft.com/office/drawing/2014/main" val="3105427535"/>
                    </a:ext>
                  </a:extLst>
                </a:gridCol>
                <a:gridCol w="2032000">
                  <a:extLst>
                    <a:ext uri="{9D8B030D-6E8A-4147-A177-3AD203B41FA5}">
                      <a16:colId xmlns="" xmlns:a16="http://schemas.microsoft.com/office/drawing/2014/main" val="32005466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02406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/Unit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/Unit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448079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/Unit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/Unit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07459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7200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/Unit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/Unit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46128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49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Method of linear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="" xmlns:a16="http://schemas.microsoft.com/office/drawing/2014/main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/>
              <a:lstStyle/>
              <a:p>
                <a:pPr marL="0" lvl="0" indent="0" algn="ctr">
                  <a:buNone/>
                </a:pP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Max Z=100x1+80x2</a:t>
                </a: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6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+4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≤7200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+4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40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00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≥0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2297" t="-1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68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method of linear programming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Constraint No. 1:   </a:t>
            </a: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6 X1 + 4 X2 ≤ 7200 </a:t>
            </a:r>
          </a:p>
          <a:p>
            <a:pPr marL="0" indent="0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Converting into equality: </a:t>
            </a:r>
          </a:p>
          <a:p>
            <a:pPr marL="0" indent="0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6X1 + 4X2 = 7200 </a:t>
            </a:r>
          </a:p>
          <a:p>
            <a:pPr marL="0" indent="0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X1 is the intercept on X axis and X2 is the intercept on Y axis. </a:t>
            </a:r>
          </a:p>
          <a:p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find X1, let X2 = 0 </a:t>
            </a:r>
          </a:p>
          <a:p>
            <a:pPr marL="0" indent="0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6X1 = 7200 </a:t>
            </a:r>
          </a:p>
        </p:txBody>
      </p:sp>
    </p:spTree>
    <p:extLst>
      <p:ext uri="{BB962C8B-B14F-4D97-AF65-F5344CB8AC3E}">
        <p14:creationId xmlns:p14="http://schemas.microsoft.com/office/powerpoint/2010/main" val="2919416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method of linear programming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X1= 1200; X2 = 0 (1200, 0) </a:t>
            </a:r>
          </a:p>
          <a:p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find X2, let X1 = 0 </a:t>
            </a:r>
          </a:p>
          <a:p>
            <a:pPr marL="0" indent="0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4X2 = 7200</a:t>
            </a:r>
          </a:p>
          <a:p>
            <a:pPr marL="0" indent="0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X2 = 1800; X1 = 0 (0, 1800) </a:t>
            </a:r>
          </a:p>
          <a:p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Hence the two points which make the constraint line are: </a:t>
            </a:r>
          </a:p>
          <a:p>
            <a:pPr marL="0" indent="0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(1200, 0) and (0, 1800) </a:t>
            </a:r>
          </a:p>
        </p:txBody>
      </p:sp>
    </p:spTree>
    <p:extLst>
      <p:ext uri="{BB962C8B-B14F-4D97-AF65-F5344CB8AC3E}">
        <p14:creationId xmlns:p14="http://schemas.microsoft.com/office/powerpoint/2010/main" val="142879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method of linear programming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59" y="2097088"/>
            <a:ext cx="7429499" cy="4608513"/>
          </a:xfrm>
        </p:spPr>
        <p:txBody>
          <a:bodyPr>
            <a:normAutofit/>
          </a:bodyPr>
          <a:lstStyle/>
          <a:p>
            <a:r>
              <a:rPr lang="en-US" sz="28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Constraint No. 2:   </a:t>
            </a: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2X1 + 4X2 ≤ 4000 </a:t>
            </a:r>
          </a:p>
          <a:p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find X1, let X2 = 0 </a:t>
            </a:r>
          </a:p>
          <a:p>
            <a:pPr marL="0" indent="0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2X1 = 4000  </a:t>
            </a:r>
          </a:p>
          <a:p>
            <a:pPr marL="0" indent="0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X1= 2000; X2 = 0 (2000, 0) </a:t>
            </a:r>
          </a:p>
          <a:p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find X2, let X1 = 0 </a:t>
            </a:r>
          </a:p>
          <a:p>
            <a:pPr marL="0" indent="0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4X2 =4000 </a:t>
            </a:r>
          </a:p>
          <a:p>
            <a:pPr marL="0" indent="0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X2= 1000; X1 = 0 (0, 1000)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399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method of linear programming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59" y="2097088"/>
            <a:ext cx="7429499" cy="4608513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Each constraint will be represented by a single straight line on the graph. There are two constraints, hence there will be two straight lines. </a:t>
            </a:r>
          </a:p>
          <a:p>
            <a:pPr algn="just"/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co-ordinates of points are: </a:t>
            </a:r>
          </a:p>
          <a:p>
            <a:pPr marL="0" indent="0" algn="just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Constraint No. 1: (1200, 0) and (0, 1800) </a:t>
            </a:r>
          </a:p>
          <a:p>
            <a:pPr marL="0" indent="0" algn="just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Constraint No. 2: (2000, 0) and (0, 1000)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23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method of linear programming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59" y="2097088"/>
            <a:ext cx="7429499" cy="4608513"/>
          </a:xfrm>
        </p:spPr>
        <p:txBody>
          <a:bodyPr>
            <a:normAutofit/>
          </a:bodyPr>
          <a:lstStyle/>
          <a:p>
            <a:r>
              <a:rPr lang="en-US" sz="28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Constraint No. 1: </a:t>
            </a:r>
            <a:endParaRPr lang="en-US" sz="2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line joining the two points (1200, 0) and (0, 1800) represents the constraint </a:t>
            </a:r>
          </a:p>
          <a:p>
            <a:pPr marL="0" indent="0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6 X1 + 4 X2 ≤ 7200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12CC06D-50B6-4EE5-9BB6-94DDE8918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700" y="3734971"/>
            <a:ext cx="4431010" cy="297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99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method of linear programming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59" y="2097088"/>
            <a:ext cx="7429499" cy="4608513"/>
          </a:xfrm>
        </p:spPr>
        <p:txBody>
          <a:bodyPr>
            <a:normAutofit/>
          </a:bodyPr>
          <a:lstStyle/>
          <a:p>
            <a:r>
              <a:rPr lang="en-US" sz="28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Constraint No. 2: </a:t>
            </a:r>
            <a:endParaRPr lang="en-US" sz="2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line joining the two points (2000, 0) and (0, 1000) represents the constraint </a:t>
            </a:r>
          </a:p>
          <a:p>
            <a:pPr marL="0" indent="0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 X1 + 4 X2 ≤ 4000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FB45440-C5B2-4EF1-AACC-2C9AA2958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680" y="3725714"/>
            <a:ext cx="4393004" cy="297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64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method of linear programming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="" xmlns:a16="http://schemas.microsoft.com/office/drawing/2014/main" id="{73305C83-3DBC-4825-B7AE-10197D6EB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060" y="2310606"/>
            <a:ext cx="7429499" cy="454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645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method of linear programming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349760CA-3DDC-4FEB-9442-6CF30312E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4474870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Both the constraints are 'less than or equal to' (≤) type. Hence, the feasible region should be inside both constraint lines.</a:t>
            </a:r>
          </a:p>
          <a:p>
            <a:pPr marL="0" indent="0" algn="just">
              <a:buNone/>
            </a:pP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Hence, the feasible region is the OABC. 'O' is the origin whose coordinates are (0, 0). O, A, B and C are called vertices of the feasible region. </a:t>
            </a:r>
          </a:p>
        </p:txBody>
      </p:sp>
    </p:spTree>
    <p:extLst>
      <p:ext uri="{BB962C8B-B14F-4D97-AF65-F5344CB8AC3E}">
        <p14:creationId xmlns:p14="http://schemas.microsoft.com/office/powerpoint/2010/main" val="284375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method of linear programming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="" xmlns:a16="http://schemas.microsoft.com/office/drawing/2014/main" id="{1A5B4B9F-AB9B-4F01-912F-5187E84C22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060" y="2097087"/>
            <a:ext cx="7429499" cy="476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253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method of linear programming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42C736D9-7A0B-4FB8-8DB2-13424C09B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 lnSpcReduction="10000"/>
          </a:bodyPr>
          <a:lstStyle/>
          <a:p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have two equations and two unknowns, X1 and X2. Solving simultaneously. 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6 X1 + 4 X2 ≤ 7200 (1) 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 X1 + 4 X2 ≤ 4000 (2) 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4 X1 = 3200 Subtracting (2) from (1) 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X1 = 800 </a:t>
            </a:r>
          </a:p>
          <a:p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Substituting value of X1 in equation (1), we get 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4 X2 = 2400 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X2= 600 </a:t>
            </a:r>
          </a:p>
        </p:txBody>
      </p:sp>
    </p:spTree>
    <p:extLst>
      <p:ext uri="{BB962C8B-B14F-4D97-AF65-F5344CB8AC3E}">
        <p14:creationId xmlns:p14="http://schemas.microsoft.com/office/powerpoint/2010/main" val="2520980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70282"/>
            <a:ext cx="7429499" cy="14785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method of linear programming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42C736D9-7A0B-4FB8-8DB2-13424C09B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1478522"/>
            <a:ext cx="7429499" cy="3541714"/>
          </a:xfrm>
        </p:spPr>
        <p:txBody>
          <a:bodyPr>
            <a:normAutofit/>
          </a:bodyPr>
          <a:lstStyle/>
          <a:p>
            <a:r>
              <a:rPr lang="en-US" sz="28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Finding the optimal Solution </a:t>
            </a:r>
            <a:endParaRPr lang="en-US" sz="2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optimal solution always lies at one of the vertices or corners of the feasible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region.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D37021C-7F13-44EB-8A27-4492D0D84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59" y="3750128"/>
            <a:ext cx="7962900" cy="17081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983A07D0-A4FD-4360-8462-58CAD4640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59" y="5162429"/>
            <a:ext cx="7972425" cy="130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9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method of linear programming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="" xmlns:a16="http://schemas.microsoft.com/office/drawing/2014/main" id="{AE87F762-5553-44E9-ACA7-3461303B99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060" y="2097088"/>
            <a:ext cx="7429499" cy="476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03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5707" y="89601"/>
            <a:ext cx="7429499" cy="14785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42C736D9-7A0B-4FB8-8DB2-13424C09B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813" y="1290263"/>
            <a:ext cx="7429499" cy="460851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and B are two products to be manufactured. Maximum availability </a:t>
            </a:r>
            <a:r>
              <a:rPr lang="en-US" sz="28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8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material is </a:t>
            </a:r>
            <a:r>
              <a:rPr lang="en-US" sz="28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60kg and 96 </a:t>
            </a:r>
            <a:r>
              <a:rPr lang="en-US" sz="28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Man-Hours respectively</a:t>
            </a:r>
            <a:r>
              <a:rPr lang="en-US" sz="28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Each unit of A needs 2 Kg of material and 3 Man-Hours, Whereas each unit of B need 4 Kg of material and 3 Man-Hours. Unit profits of </a:t>
            </a:r>
            <a:r>
              <a:rPr lang="en-US" sz="28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is </a:t>
            </a: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40 dollars and for B</a:t>
            </a:r>
            <a:r>
              <a:rPr lang="en-US" sz="28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 35 dollars respectively. Find the Optimal Solution by using Graphical Method.</a:t>
            </a:r>
          </a:p>
        </p:txBody>
      </p:sp>
    </p:spTree>
    <p:extLst>
      <p:ext uri="{BB962C8B-B14F-4D97-AF65-F5344CB8AC3E}">
        <p14:creationId xmlns:p14="http://schemas.microsoft.com/office/powerpoint/2010/main" val="86261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/>
          <a:lstStyle/>
          <a:p>
            <a:pPr marL="0" lvl="0" indent="0" algn="just">
              <a:buNone/>
            </a:pPr>
            <a:endParaRPr lang="en-US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just">
              <a:buNone/>
            </a:pPr>
            <a:endParaRPr lang="en-US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defTabSz="457200">
              <a:lnSpc>
                <a:spcPct val="100000"/>
              </a:lnSpc>
              <a:spcBef>
                <a:spcPts val="0"/>
              </a:spcBef>
              <a:buSzTx/>
              <a:buNone/>
            </a:pPr>
            <a:r>
              <a:rPr lang="en-US" dirty="0">
                <a:solidFill>
                  <a:prstClr val="white"/>
                </a:solidFill>
              </a:rPr>
              <a:t>X1 =No of Product A to be manufactured</a:t>
            </a:r>
            <a:endParaRPr lang="en-US" sz="1800" dirty="0">
              <a:solidFill>
                <a:prstClr val="white"/>
              </a:solidFill>
            </a:endParaRPr>
          </a:p>
          <a:p>
            <a:pPr marL="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B5689B61-FC4F-4EE9-9844-FB745647D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20795"/>
              </p:ext>
            </p:extLst>
          </p:nvPr>
        </p:nvGraphicFramePr>
        <p:xfrm>
          <a:off x="829994" y="2107574"/>
          <a:ext cx="7455566" cy="242143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83441">
                  <a:extLst>
                    <a:ext uri="{9D8B030D-6E8A-4147-A177-3AD203B41FA5}">
                      <a16:colId xmlns="" xmlns:a16="http://schemas.microsoft.com/office/drawing/2014/main" val="2286705530"/>
                    </a:ext>
                  </a:extLst>
                </a:gridCol>
                <a:gridCol w="1857375">
                  <a:extLst>
                    <a:ext uri="{9D8B030D-6E8A-4147-A177-3AD203B41FA5}">
                      <a16:colId xmlns="" xmlns:a16="http://schemas.microsoft.com/office/drawing/2014/main" val="3105427535"/>
                    </a:ext>
                  </a:extLst>
                </a:gridCol>
                <a:gridCol w="1857375">
                  <a:extLst>
                    <a:ext uri="{9D8B030D-6E8A-4147-A177-3AD203B41FA5}">
                      <a16:colId xmlns="" xmlns:a16="http://schemas.microsoft.com/office/drawing/2014/main" val="3200546684"/>
                    </a:ext>
                  </a:extLst>
                </a:gridCol>
                <a:gridCol w="1857375">
                  <a:extLst>
                    <a:ext uri="{9D8B030D-6E8A-4147-A177-3AD203B41FA5}">
                      <a16:colId xmlns="" xmlns:a16="http://schemas.microsoft.com/office/drawing/2014/main" val="3357899017"/>
                    </a:ext>
                  </a:extLst>
                </a:gridCol>
              </a:tblGrid>
              <a:tr h="60535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Man-Hours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Profit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02406442"/>
                  </a:ext>
                </a:extLst>
              </a:tr>
              <a:tr h="60535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448079993"/>
                  </a:ext>
                </a:extLst>
              </a:tr>
              <a:tr h="60535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07459695"/>
                  </a:ext>
                </a:extLst>
              </a:tr>
              <a:tr h="605359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Availability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60Kg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94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="" xmlns:a16="http://schemas.microsoft.com/office/drawing/2014/main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3989" y="1810217"/>
                <a:ext cx="7429499" cy="4608513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 algn="ctr">
                  <a:buNone/>
                </a:pPr>
                <a:r>
                  <a:rPr lang="en-US" sz="2800" dirty="0" smtClean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Max Z=40x1+35x2</a:t>
                </a: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Constraints:</a:t>
                </a:r>
              </a:p>
              <a:p>
                <a:pPr marL="0" lvl="0" indent="0" algn="just">
                  <a:buNone/>
                </a:pPr>
                <a:r>
                  <a:rPr lang="en-US" sz="2800" dirty="0" smtClean="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X1=No of Product A to be produced</a:t>
                </a:r>
              </a:p>
              <a:p>
                <a:pPr marL="0" indent="0" algn="just">
                  <a:buNone/>
                </a:pPr>
                <a:r>
                  <a:rPr lang="en-US" sz="2800" dirty="0" smtClean="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X2= </a:t>
                </a:r>
                <a:r>
                  <a:rPr lang="en-US" sz="2800" dirty="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 of Product </a:t>
                </a:r>
                <a:r>
                  <a:rPr lang="en-US" sz="2800" dirty="0" smtClean="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 </a:t>
                </a:r>
                <a:r>
                  <a:rPr lang="en-US" sz="2800" dirty="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 be produced</a:t>
                </a: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effectLst/>
                          <a:latin typeface="Cambria Math"/>
                          <a:cs typeface="Arial" panose="020B060402020202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6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effectLst/>
                          <a:latin typeface="Cambria Math"/>
                          <a:cs typeface="Arial" panose="020B0604020202020204" pitchFamily="34" charset="0"/>
                        </a:rPr>
                        <m:t>3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96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≥0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3989" y="1810217"/>
                <a:ext cx="7429499" cy="4608513"/>
              </a:xfrm>
              <a:blipFill rotWithShape="1">
                <a:blip r:embed="rId2"/>
                <a:stretch>
                  <a:fillRect l="-2051" t="-1190" b="-224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4427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="" xmlns:a16="http://schemas.microsoft.com/office/drawing/2014/main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097088"/>
                <a:ext cx="7429499" cy="4608513"/>
              </a:xfrm>
            </p:spPr>
            <p:txBody>
              <a:bodyPr/>
              <a:lstStyle/>
              <a:p>
                <a:pPr marL="0" lvl="0" indent="0" algn="ctr">
                  <a:buNone/>
                </a:pPr>
                <a:r>
                  <a:rPr lang="en-US" sz="28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Max Z=3x1+5x2</a:t>
                </a:r>
              </a:p>
              <a:p>
                <a:pPr marL="0" lvl="0" indent="0" algn="just">
                  <a:buNone/>
                </a:pPr>
                <a:r>
                  <a:rPr lang="en-US" sz="28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</a:t>
                </a:r>
                <a:r>
                  <a:rPr lang="en-US" sz="2800" dirty="0" smtClean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endParaRPr lang="en-US" sz="28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≤2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00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15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00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6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00</m:t>
                      </m:r>
                    </m:oMath>
                  </m:oMathPara>
                </a14:m>
                <a:endParaRPr lang="en-US" sz="2800" dirty="0" smtClean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endParaRPr lang="en-US" sz="28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≥0</m:t>
                      </m:r>
                    </m:oMath>
                  </m:oMathPara>
                </a14:m>
                <a:endParaRPr lang="en-US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097088"/>
                <a:ext cx="7429499" cy="4608513"/>
              </a:xfrm>
              <a:blipFill rotWithShape="1">
                <a:blip r:embed="rId2"/>
                <a:stretch>
                  <a:fillRect l="-1887" t="-529" b="-14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24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29" y="331695"/>
            <a:ext cx="7844118" cy="6051176"/>
          </a:xfrm>
        </p:spPr>
      </p:pic>
    </p:spTree>
    <p:extLst>
      <p:ext uri="{BB962C8B-B14F-4D97-AF65-F5344CB8AC3E}">
        <p14:creationId xmlns:p14="http://schemas.microsoft.com/office/powerpoint/2010/main" val="2620104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30" y="1013012"/>
            <a:ext cx="7575176" cy="5441575"/>
          </a:xfrm>
        </p:spPr>
      </p:pic>
    </p:spTree>
    <p:extLst>
      <p:ext uri="{BB962C8B-B14F-4D97-AF65-F5344CB8AC3E}">
        <p14:creationId xmlns:p14="http://schemas.microsoft.com/office/powerpoint/2010/main" val="3300520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EA4B395F-9E36-41F4-AAC9-831FFAF356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925" y="1938827"/>
            <a:ext cx="7429499" cy="463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938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0AFEE94E-5020-457D-B679-E176D30BB7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060" y="1997746"/>
            <a:ext cx="7429499" cy="486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8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2FB47D8F-F2B5-4C86-AF54-88E712E49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059" y="1781382"/>
            <a:ext cx="7429499" cy="2762483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="" xmlns:a16="http://schemas.microsoft.com/office/drawing/2014/main" id="{9434367E-F00A-47EE-86E7-F59CC2EE6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57" y="4206240"/>
            <a:ext cx="7429499" cy="253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098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1FE1333D-7BC7-4579-80AB-869854895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849" y="2097088"/>
            <a:ext cx="7605710" cy="476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52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16721950-5DEC-45E5-9911-3D2B53B429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060" y="2097088"/>
            <a:ext cx="7429498" cy="476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321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172B4690-36DF-456F-AB98-4B85355A33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059" y="2097088"/>
            <a:ext cx="7429499" cy="476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9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319"/>
            <a:ext cx="9144000" cy="557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67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2" y="582705"/>
            <a:ext cx="8991600" cy="557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264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2689715"/>
            <a:ext cx="7429499" cy="1478570"/>
          </a:xfrm>
        </p:spPr>
        <p:txBody>
          <a:bodyPr>
            <a:normAutofit fontScale="90000"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</a:pPr>
            <a:r>
              <a:rPr lang="en-GB" sz="54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Thank you!</a:t>
            </a:r>
            <a: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/>
            </a:r>
            <a:b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7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larity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ircui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Circuit" id="{0AC2F7E7-15F5-431C-B2A2-456FE929F56C}" vid="{97ECCC31-8429-4523-BE8D-8F09B7A4D46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2641</TotalTime>
  <Words>864</Words>
  <Application>Microsoft Office PowerPoint</Application>
  <PresentationFormat>On-screen Show (4:3)</PresentationFormat>
  <Paragraphs>129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Clarity</vt:lpstr>
      <vt:lpstr>Circuit</vt:lpstr>
      <vt:lpstr>PowerPoint Presentation</vt:lpstr>
      <vt:lpstr>Graphical Method of linear programming</vt:lpstr>
      <vt:lpstr>Graphical Method of linear programming</vt:lpstr>
      <vt:lpstr>Graphical method of linear programming</vt:lpstr>
      <vt:lpstr>Graphical method of linear programming</vt:lpstr>
      <vt:lpstr>Graphical method of linear programming</vt:lpstr>
      <vt:lpstr>Graphical method of linear programming</vt:lpstr>
      <vt:lpstr>Graphical method of linear programming</vt:lpstr>
      <vt:lpstr>Graphical method of linear programming</vt:lpstr>
      <vt:lpstr>Graphical method of linear programming</vt:lpstr>
      <vt:lpstr>Graphical method of linear programming</vt:lpstr>
      <vt:lpstr>Graphical method of linear programming</vt:lpstr>
      <vt:lpstr>Graphical method of linear programming</vt:lpstr>
      <vt:lpstr>Graphical method of linear programming</vt:lpstr>
      <vt:lpstr>Graphical method of linear programming</vt:lpstr>
      <vt:lpstr>Task1</vt:lpstr>
      <vt:lpstr>Task1</vt:lpstr>
      <vt:lpstr>Task 1</vt:lpstr>
      <vt:lpstr>Task 2</vt:lpstr>
      <vt:lpstr>PowerPoint Presentation</vt:lpstr>
      <vt:lpstr>PowerPoint Presentation</vt:lpstr>
      <vt:lpstr>Example</vt:lpstr>
      <vt:lpstr>Example</vt:lpstr>
      <vt:lpstr>Example</vt:lpstr>
      <vt:lpstr>Example</vt:lpstr>
      <vt:lpstr>Example</vt:lpstr>
      <vt:lpstr>Example</vt:lpstr>
      <vt:lpstr>PowerPoint Presentation</vt:lpstr>
      <vt:lpstr>PowerPoint Presentation</vt:lpstr>
      <vt:lpstr>Thank you!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Bakhtawar</dc:creator>
  <cp:lastModifiedBy>4G Traders</cp:lastModifiedBy>
  <cp:revision>221</cp:revision>
  <dcterms:created xsi:type="dcterms:W3CDTF">2022-09-10T13:48:09Z</dcterms:created>
  <dcterms:modified xsi:type="dcterms:W3CDTF">2025-09-14T09:23:04Z</dcterms:modified>
</cp:coreProperties>
</file>