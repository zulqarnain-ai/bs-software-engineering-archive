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26F5-B452-45E8-9BAA-99AD180F91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C7D4C0-675F-4419-8549-21608262E6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FBC332-C4C5-441E-AF9E-58DEE1F86780}"/>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5" name="Footer Placeholder 4">
            <a:extLst>
              <a:ext uri="{FF2B5EF4-FFF2-40B4-BE49-F238E27FC236}">
                <a16:creationId xmlns:a16="http://schemas.microsoft.com/office/drawing/2014/main" id="{D8FAB024-3DAC-430C-9019-DC20748350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0A2196-3916-47F0-84F5-9A90DF18D560}"/>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2468512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0E0EF-8134-4F3E-9BF8-C4CAFD1C43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AB55D-8848-48BC-9108-76A1D3111C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4FF9E9-982B-4B9D-8479-8F7725566DCA}"/>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5" name="Footer Placeholder 4">
            <a:extLst>
              <a:ext uri="{FF2B5EF4-FFF2-40B4-BE49-F238E27FC236}">
                <a16:creationId xmlns:a16="http://schemas.microsoft.com/office/drawing/2014/main" id="{82A20F16-876B-4E77-8495-D0365DC6F8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84687-4D25-431D-A4BF-958ACA9FF39A}"/>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3326958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B1E7-EC10-40F1-AD3A-68CDA1DA27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8873CA-AF95-46C8-B991-86AD3D9AE6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3AD327-71E5-463C-9A11-1C9F767DB645}"/>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5" name="Footer Placeholder 4">
            <a:extLst>
              <a:ext uri="{FF2B5EF4-FFF2-40B4-BE49-F238E27FC236}">
                <a16:creationId xmlns:a16="http://schemas.microsoft.com/office/drawing/2014/main" id="{5E2941AC-591D-4F08-B89C-B6CD415AC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35DAC5-4968-4DE8-B229-E4E614D8CB6F}"/>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2940085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F63D3-3532-4CC5-A8AC-BAF451BB42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1B86FC-A3E4-47F9-89DE-CAA42A0DF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75AE56-85D7-48AB-B144-C3B20745A6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19283D-8C3D-44AB-97FC-56A34CA3E667}"/>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6" name="Footer Placeholder 5">
            <a:extLst>
              <a:ext uri="{FF2B5EF4-FFF2-40B4-BE49-F238E27FC236}">
                <a16:creationId xmlns:a16="http://schemas.microsoft.com/office/drawing/2014/main" id="{9F06FCB7-11F4-4540-8E30-CE65209616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C129BD-62A4-4476-BC93-C4E053E67F64}"/>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297596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F4BAF-452A-4BB2-863A-32C68FB410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97DF75-3DC5-439A-92E7-45340D8400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E78B97-F4CA-4499-A12B-797F064E4E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99C173-ED91-4C9D-81A6-79312B442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AAFC07-604D-4BF7-8F08-CF35C5F8B6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2CD7C9-441A-4C88-A05C-89CCFB3111B5}"/>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8" name="Footer Placeholder 7">
            <a:extLst>
              <a:ext uri="{FF2B5EF4-FFF2-40B4-BE49-F238E27FC236}">
                <a16:creationId xmlns:a16="http://schemas.microsoft.com/office/drawing/2014/main" id="{A6FC0745-BCD1-4746-AD06-ED1ADA8F70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A9D055-1BA1-4F07-BD3B-6C992B2994B1}"/>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3792920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4D66E-FF14-42FE-9767-D46563268A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D518C2-DD3B-47B9-8AFA-DCB1943DCB16}"/>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4" name="Footer Placeholder 3">
            <a:extLst>
              <a:ext uri="{FF2B5EF4-FFF2-40B4-BE49-F238E27FC236}">
                <a16:creationId xmlns:a16="http://schemas.microsoft.com/office/drawing/2014/main" id="{19E04625-B3C6-4A7F-9B95-C803CD254C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2063C0-EEAD-45EB-94E9-4FB2BDADCB23}"/>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224151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D45C18-759B-47FC-906F-ADD1020A1C93}"/>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3" name="Footer Placeholder 2">
            <a:extLst>
              <a:ext uri="{FF2B5EF4-FFF2-40B4-BE49-F238E27FC236}">
                <a16:creationId xmlns:a16="http://schemas.microsoft.com/office/drawing/2014/main" id="{08D9FBC9-1AAF-4AD0-B8BC-8F0E8F02C2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B26093-ABF9-4947-AFD3-3ABA68427EE7}"/>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3258799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D63FC-8FDF-4DA6-875B-478C92D2A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16B855-299B-4100-9EA4-9076F2A874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059EF2-086A-48FC-B390-42693E7144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1BB762-F71C-4CBB-B23B-9572A737E5D9}"/>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6" name="Footer Placeholder 5">
            <a:extLst>
              <a:ext uri="{FF2B5EF4-FFF2-40B4-BE49-F238E27FC236}">
                <a16:creationId xmlns:a16="http://schemas.microsoft.com/office/drawing/2014/main" id="{77890E1D-847E-445C-B98B-534A6BD4BB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68F9C6-5358-4669-A04C-D81033EABED4}"/>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72087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F1A2C-340B-4D74-94DD-7D190206D7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E11C28-58EA-45CC-A9AF-80DE77DDB6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DF9775-29A9-44B3-9656-C9D639E04A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61E42-8FF8-4532-8081-5D5343022CF5}"/>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6" name="Footer Placeholder 5">
            <a:extLst>
              <a:ext uri="{FF2B5EF4-FFF2-40B4-BE49-F238E27FC236}">
                <a16:creationId xmlns:a16="http://schemas.microsoft.com/office/drawing/2014/main" id="{D8AD2492-10B0-458C-848D-B7AA386862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F2334C-5416-4D25-B585-2645F6FD0D29}"/>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1182509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ECE5E-99B4-41D2-B611-60D4265524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134D68-DF2B-4790-85BA-8516C6EA31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AB5E2A-0CFC-4130-BB07-2FC9D37BCDB6}"/>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5" name="Footer Placeholder 4">
            <a:extLst>
              <a:ext uri="{FF2B5EF4-FFF2-40B4-BE49-F238E27FC236}">
                <a16:creationId xmlns:a16="http://schemas.microsoft.com/office/drawing/2014/main" id="{1DFCBB36-456F-4B7F-AC70-B54C79468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F6BBB6-A3A6-4054-99DF-12E392C18FDA}"/>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392611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1FD23D-22AE-4877-8072-AC5A52FAD0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5C27F3-111C-46C4-B1AD-5CAED49678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C0AC0F-8FED-4B12-AA49-FE0AAA1CF54A}"/>
              </a:ext>
            </a:extLst>
          </p:cNvPr>
          <p:cNvSpPr>
            <a:spLocks noGrp="1"/>
          </p:cNvSpPr>
          <p:nvPr>
            <p:ph type="dt" sz="half" idx="10"/>
          </p:nvPr>
        </p:nvSpPr>
        <p:spPr/>
        <p:txBody>
          <a:bodyPr/>
          <a:lstStyle/>
          <a:p>
            <a:fld id="{E1F14CF9-B418-4803-B5FB-97CD84D30BB9}" type="datetimeFigureOut">
              <a:rPr lang="en-US" smtClean="0"/>
              <a:t>9/30/2020</a:t>
            </a:fld>
            <a:endParaRPr lang="en-US"/>
          </a:p>
        </p:txBody>
      </p:sp>
      <p:sp>
        <p:nvSpPr>
          <p:cNvPr id="5" name="Footer Placeholder 4">
            <a:extLst>
              <a:ext uri="{FF2B5EF4-FFF2-40B4-BE49-F238E27FC236}">
                <a16:creationId xmlns:a16="http://schemas.microsoft.com/office/drawing/2014/main" id="{12FEAEC1-2424-4CFD-8DE3-F8836B585B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DADEE6-9AC8-4A28-A91D-4990DBB47D91}"/>
              </a:ext>
            </a:extLst>
          </p:cNvPr>
          <p:cNvSpPr>
            <a:spLocks noGrp="1"/>
          </p:cNvSpPr>
          <p:nvPr>
            <p:ph type="sldNum" sz="quarter" idx="12"/>
          </p:nvPr>
        </p:nvSpPr>
        <p:spPr/>
        <p:txBody>
          <a:bodyPr/>
          <a:lstStyle/>
          <a:p>
            <a:fld id="{CC4AF6C2-6B12-4E51-BEBD-6E4921EC976E}" type="slidenum">
              <a:rPr lang="en-US" smtClean="0"/>
              <a:t>‹#›</a:t>
            </a:fld>
            <a:endParaRPr lang="en-US"/>
          </a:p>
        </p:txBody>
      </p:sp>
    </p:spTree>
    <p:extLst>
      <p:ext uri="{BB962C8B-B14F-4D97-AF65-F5344CB8AC3E}">
        <p14:creationId xmlns:p14="http://schemas.microsoft.com/office/powerpoint/2010/main" val="184692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0">
          <a:fgClr>
            <a:srgbClr val="92D050"/>
          </a:fgClr>
          <a:bgClr>
            <a:srgbClr val="92D050"/>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B9FDAB-E793-4AFE-AB86-075CE2F62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0A6DCB-A7AF-4CEF-967F-28FD950E29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B6005D-3943-4BEA-B457-EBD21A646B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F14CF9-B418-4803-B5FB-97CD84D30BB9}" type="datetimeFigureOut">
              <a:rPr lang="en-US" smtClean="0"/>
              <a:t>9/30/2020</a:t>
            </a:fld>
            <a:endParaRPr lang="en-US"/>
          </a:p>
        </p:txBody>
      </p:sp>
      <p:sp>
        <p:nvSpPr>
          <p:cNvPr id="5" name="Footer Placeholder 4">
            <a:extLst>
              <a:ext uri="{FF2B5EF4-FFF2-40B4-BE49-F238E27FC236}">
                <a16:creationId xmlns:a16="http://schemas.microsoft.com/office/drawing/2014/main" id="{92B7D033-20B1-48E9-814E-90F4986C76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92BEC8-3284-47EE-A4AD-473342D768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4AF6C2-6B12-4E51-BEBD-6E4921EC976E}" type="slidenum">
              <a:rPr lang="en-US" smtClean="0"/>
              <a:t>‹#›</a:t>
            </a:fld>
            <a:endParaRPr lang="en-US"/>
          </a:p>
        </p:txBody>
      </p:sp>
    </p:spTree>
    <p:extLst>
      <p:ext uri="{BB962C8B-B14F-4D97-AF65-F5344CB8AC3E}">
        <p14:creationId xmlns:p14="http://schemas.microsoft.com/office/powerpoint/2010/main" val="3167674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40ECB-6AEB-4EE0-9FCE-5FF85B71C52C}"/>
              </a:ext>
            </a:extLst>
          </p:cNvPr>
          <p:cNvSpPr>
            <a:spLocks noGrp="1"/>
          </p:cNvSpPr>
          <p:nvPr>
            <p:ph type="ctrTitle"/>
          </p:nvPr>
        </p:nvSpPr>
        <p:spPr/>
        <p:txBody>
          <a:bodyPr>
            <a:normAutofit/>
          </a:bodyPr>
          <a:lstStyle/>
          <a:p>
            <a:r>
              <a:rPr lang="en-US" sz="5400" dirty="0">
                <a:latin typeface="Times New Roman" panose="02020603050405020304" pitchFamily="18" charset="0"/>
                <a:cs typeface="Times New Roman" panose="02020603050405020304" pitchFamily="18" charset="0"/>
              </a:rPr>
              <a:t>Economy of Pakistan</a:t>
            </a:r>
          </a:p>
        </p:txBody>
      </p:sp>
      <p:sp>
        <p:nvSpPr>
          <p:cNvPr id="3" name="Subtitle 2">
            <a:extLst>
              <a:ext uri="{FF2B5EF4-FFF2-40B4-BE49-F238E27FC236}">
                <a16:creationId xmlns:a16="http://schemas.microsoft.com/office/drawing/2014/main" id="{5E0B9C21-438B-419A-B182-77F9EF8599FE}"/>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618617237"/>
      </p:ext>
    </p:extLst>
  </p:cSld>
  <p:clrMapOvr>
    <a:masterClrMapping/>
  </p:clrMapOvr>
  <mc:AlternateContent xmlns:mc="http://schemas.openxmlformats.org/markup-compatibility/2006" xmlns:p14="http://schemas.microsoft.com/office/powerpoint/2010/main">
    <mc:Choice Requires="p14">
      <p:transition spd="slow" p14:dur="2000" advTm="393070"/>
    </mc:Choice>
    <mc:Fallback xmlns="">
      <p:transition spd="slow" advTm="39307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Statistics of Pakistan Economy FY2019</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fontScale="92500"/>
          </a:bodyPr>
          <a:lstStyle/>
          <a:p>
            <a:pPr algn="just"/>
            <a:r>
              <a:rPr lang="en-US" sz="2000" dirty="0">
                <a:latin typeface="Times New Roman" panose="02020603050405020304" pitchFamily="18" charset="0"/>
                <a:cs typeface="Times New Roman" panose="02020603050405020304" pitchFamily="18" charset="0"/>
              </a:rPr>
              <a:t>The provisional GDP growth rate for FY2019 was estimated at 3.29 percent on the basis of 0.85, 1.40</a:t>
            </a:r>
          </a:p>
          <a:p>
            <a:pPr algn="just"/>
            <a:r>
              <a:rPr lang="en-US" sz="2000" dirty="0">
                <a:latin typeface="Times New Roman" panose="02020603050405020304" pitchFamily="18" charset="0"/>
                <a:cs typeface="Times New Roman" panose="02020603050405020304" pitchFamily="18" charset="0"/>
              </a:rPr>
              <a:t>and 4.71 percent growth in agricultural, industrial and services sectors respectively.</a:t>
            </a:r>
          </a:p>
          <a:p>
            <a:pPr algn="just"/>
            <a:r>
              <a:rPr lang="en-US" sz="2000" dirty="0">
                <a:latin typeface="Times New Roman" panose="02020603050405020304" pitchFamily="18" charset="0"/>
                <a:cs typeface="Times New Roman" panose="02020603050405020304" pitchFamily="18" charset="0"/>
              </a:rPr>
              <a:t>Total public debt stood at Rs 28,607 billion at end of March 2019, recording an increase of Rs 3,655 billion during the first nine months of current fiscal year, and currently in FY2020 it is 40.94 trillion</a:t>
            </a:r>
          </a:p>
          <a:p>
            <a:pPr algn="just"/>
            <a:r>
              <a:rPr lang="en-US" sz="2000" dirty="0">
                <a:latin typeface="Times New Roman" panose="02020603050405020304" pitchFamily="18" charset="0"/>
                <a:cs typeface="Times New Roman" panose="02020603050405020304" pitchFamily="18" charset="0"/>
              </a:rPr>
              <a:t>The outgoing five-year plan has seen an average growth of 4.7 percent against the target of 5.4 percent.</a:t>
            </a:r>
          </a:p>
          <a:p>
            <a:pPr algn="just"/>
            <a:r>
              <a:rPr lang="en-US" sz="2000" dirty="0">
                <a:latin typeface="Times New Roman" panose="02020603050405020304" pitchFamily="18" charset="0"/>
                <a:cs typeface="Times New Roman" panose="02020603050405020304" pitchFamily="18" charset="0"/>
              </a:rPr>
              <a:t>The government secured $ 9.2 billion from friendly countries to build up buffers and to ensure timely repayment of previous loans.</a:t>
            </a:r>
          </a:p>
          <a:p>
            <a:pPr algn="just"/>
            <a:r>
              <a:rPr lang="en-US" sz="2000" dirty="0">
                <a:latin typeface="Times New Roman" panose="02020603050405020304" pitchFamily="18" charset="0"/>
                <a:cs typeface="Times New Roman" panose="02020603050405020304" pitchFamily="18" charset="0"/>
              </a:rPr>
              <a:t>The outgoing fiscal year 2018-19 witnessed a muted growth of 3.29 percent against the ambitious target of 6.2 percent. The target was based upon sectoral growth projections for agriculture, industry, and services at 3.8 percent, 7.6 percent and 6.5 percent respectively. </a:t>
            </a:r>
          </a:p>
          <a:p>
            <a:pPr algn="just"/>
            <a:r>
              <a:rPr lang="en-US" sz="2000" dirty="0">
                <a:latin typeface="Times New Roman" panose="02020603050405020304" pitchFamily="18" charset="0"/>
                <a:cs typeface="Times New Roman" panose="02020603050405020304" pitchFamily="18" charset="0"/>
              </a:rPr>
              <a:t>The actual sectoral growth turned out to be 0.85 percent for agriculture, 1.4 percent for industry and 4.7 percent for services.</a:t>
            </a:r>
          </a:p>
        </p:txBody>
      </p:sp>
    </p:spTree>
    <p:extLst>
      <p:ext uri="{BB962C8B-B14F-4D97-AF65-F5344CB8AC3E}">
        <p14:creationId xmlns:p14="http://schemas.microsoft.com/office/powerpoint/2010/main" val="833325111"/>
      </p:ext>
    </p:extLst>
  </p:cSld>
  <p:clrMapOvr>
    <a:masterClrMapping/>
  </p:clrMapOvr>
  <mc:AlternateContent xmlns:mc="http://schemas.openxmlformats.org/markup-compatibility/2006" xmlns:p14="http://schemas.microsoft.com/office/powerpoint/2010/main">
    <mc:Choice Requires="p14">
      <p:transition spd="slow" p14:dur="2000" advTm="464139"/>
    </mc:Choice>
    <mc:Fallback xmlns="">
      <p:transition spd="slow" advTm="46413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Statistics of Pakistan Economy FY2019</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Some of the major crops witnessed negative growth as production of cotton, rice and sugarcane declined by 17.5 percent, 3.3 percent and 19.4 percent respectively. The crops showing positive growth include wheat and maize which grew at the rate of 0.5 percent and 6.9 percent respectively. </a:t>
            </a:r>
          </a:p>
          <a:p>
            <a:pPr algn="just"/>
            <a:r>
              <a:rPr lang="en-US" sz="2000" dirty="0">
                <a:latin typeface="Times New Roman" panose="02020603050405020304" pitchFamily="18" charset="0"/>
                <a:cs typeface="Times New Roman" panose="02020603050405020304" pitchFamily="18" charset="0"/>
              </a:rPr>
              <a:t>Other crops have shown growth of 1.95 percent mainly due to increase in production of pulses and oil seeds. Cotton ginning declined by 12.74 percent due to a decline in production of cotton crop.</a:t>
            </a:r>
          </a:p>
          <a:p>
            <a:pPr algn="just"/>
            <a:r>
              <a:rPr lang="en-US" sz="2000" dirty="0">
                <a:latin typeface="Times New Roman" panose="02020603050405020304" pitchFamily="18" charset="0"/>
                <a:cs typeface="Times New Roman" panose="02020603050405020304" pitchFamily="18" charset="0"/>
              </a:rPr>
              <a:t>Livestock sector has shown a growth of 4.0 percent. The growth recorded for the forestry is 6.47 percent which was mainly due to increase in production of timber in Khyber Pakhtunkhwa ranging from 26.7 to 36.1 thousand cubic meters.</a:t>
            </a:r>
          </a:p>
          <a:p>
            <a:pPr algn="just"/>
            <a:r>
              <a:rPr lang="en-US" sz="2000" dirty="0">
                <a:latin typeface="Times New Roman" panose="02020603050405020304" pitchFamily="18" charset="0"/>
                <a:cs typeface="Times New Roman" panose="02020603050405020304" pitchFamily="18" charset="0"/>
              </a:rPr>
              <a:t>The growth in industrial sector has been estimated at 1.40 percent. The mining and quarrying sector has witnessed a negative growth of 1.96 percent mainly due to reduction in production of natural gas (-1.98 percent) and coal (-25.4 percent). </a:t>
            </a:r>
          </a:p>
          <a:p>
            <a:pPr algn="just"/>
            <a:r>
              <a:rPr lang="en-US" sz="2000" dirty="0">
                <a:latin typeface="Times New Roman" panose="02020603050405020304" pitchFamily="18" charset="0"/>
                <a:cs typeface="Times New Roman" panose="02020603050405020304" pitchFamily="18" charset="0"/>
              </a:rPr>
              <a:t>The large-scale manufacturing sector as per QIM data (from July 2017 to February 2018) shows a decline of 2.06 percent.</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9625542"/>
      </p:ext>
    </p:extLst>
  </p:cSld>
  <p:clrMapOvr>
    <a:masterClrMapping/>
  </p:clrMapOvr>
  <mc:AlternateContent xmlns:mc="http://schemas.openxmlformats.org/markup-compatibility/2006" xmlns:p14="http://schemas.microsoft.com/office/powerpoint/2010/main">
    <mc:Choice Requires="p14">
      <p:transition spd="slow" p14:dur="2000" advTm="425542"/>
    </mc:Choice>
    <mc:Fallback xmlns="">
      <p:transition spd="slow" advTm="42554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Statistics of Pakistan Economy FY2019</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fontScale="85000" lnSpcReduction="20000"/>
          </a:bodyPr>
          <a:lstStyle/>
          <a:p>
            <a:pPr algn="just"/>
            <a:r>
              <a:rPr lang="en-US" sz="2000" dirty="0">
                <a:latin typeface="Times New Roman" panose="02020603050405020304" pitchFamily="18" charset="0"/>
                <a:cs typeface="Times New Roman" panose="02020603050405020304" pitchFamily="18" charset="0"/>
              </a:rPr>
              <a:t>Major decline has been observed in Textile (-0.27 percent), Food, Beverage &amp; Tobacco (-1.55 percent), Coke &amp; Petroleum Products (-5.50 percent), Pharmaceuticals (-8.67 percent), Chemicals (-3.92 percent), Non-Metallic Mineral Products (-3.87 percent).</a:t>
            </a:r>
          </a:p>
          <a:p>
            <a:pPr algn="just"/>
            <a:r>
              <a:rPr lang="en-US" sz="2000" dirty="0">
                <a:latin typeface="Times New Roman" panose="02020603050405020304" pitchFamily="18" charset="0"/>
                <a:cs typeface="Times New Roman" panose="02020603050405020304" pitchFamily="18" charset="0"/>
              </a:rPr>
              <a:t>Automobiles (-6.11 percent) and Iron &amp; Steel products (-10.26). On the other hand, the substantial growth in LSM has been observed in Electronics (34.63 percent) Engineering Products (8.63 percent) and Wood Products (17.84 percent). Electricity and gas sub sector has grown by 40.54 percent, whereas the construction activity has declined by 7.57 percent.</a:t>
            </a:r>
          </a:p>
          <a:p>
            <a:pPr algn="just"/>
            <a:r>
              <a:rPr lang="en-US" sz="2000" dirty="0">
                <a:latin typeface="Times New Roman" panose="02020603050405020304" pitchFamily="18" charset="0"/>
                <a:cs typeface="Times New Roman" panose="02020603050405020304" pitchFamily="18" charset="0"/>
              </a:rPr>
              <a:t>The services sector has shown an overall growth of 4.71 percent. Wholesale and Retail Trade grew by 3.11 percent, while the Transport, Storage and Communication sector registered a growth of 3.34 percent mainly due to positive contribution by railways (38.93 percent), air transport (3.38 percent) and road transport (3.85 percent). </a:t>
            </a:r>
          </a:p>
          <a:p>
            <a:pPr algn="just"/>
            <a:r>
              <a:rPr lang="en-US" sz="2000" dirty="0">
                <a:latin typeface="Times New Roman" panose="02020603050405020304" pitchFamily="18" charset="0"/>
                <a:cs typeface="Times New Roman" panose="02020603050405020304" pitchFamily="18" charset="0"/>
              </a:rPr>
              <a:t>Finance and insurance sector showed an overall growth of 5.14 percent. While the central banking has declined by 12.5 percent, a positive growth has been observed in scheduled banks (5.3 percent), non-scheduled banks (24.6 percent) and insurance activities (12.8 percent). </a:t>
            </a:r>
          </a:p>
          <a:p>
            <a:pPr algn="just"/>
            <a:r>
              <a:rPr lang="en-US" sz="2000" dirty="0">
                <a:latin typeface="Times New Roman" panose="02020603050405020304" pitchFamily="18" charset="0"/>
                <a:cs typeface="Times New Roman" panose="02020603050405020304" pitchFamily="18" charset="0"/>
              </a:rPr>
              <a:t>The Housing Services has grown at 4.0 percent. The growth recorded in General Government Services is 7.99 percent which is mainly on account of increase in salaries of employees of federal, provincial and district governments. </a:t>
            </a:r>
          </a:p>
          <a:p>
            <a:pPr algn="just"/>
            <a:r>
              <a:rPr lang="en-US" sz="2000" dirty="0">
                <a:latin typeface="Times New Roman" panose="02020603050405020304" pitchFamily="18" charset="0"/>
                <a:cs typeface="Times New Roman" panose="02020603050405020304" pitchFamily="18" charset="0"/>
              </a:rPr>
              <a:t>Other private services, comprising of various distinct activities such as computer related activities, education, health &amp; social work, NGOs etc. recorded a growth of 7.05 percent.</a:t>
            </a:r>
          </a:p>
        </p:txBody>
      </p:sp>
    </p:spTree>
    <p:extLst>
      <p:ext uri="{BB962C8B-B14F-4D97-AF65-F5344CB8AC3E}">
        <p14:creationId xmlns:p14="http://schemas.microsoft.com/office/powerpoint/2010/main" val="2573490004"/>
      </p:ext>
    </p:extLst>
  </p:cSld>
  <p:clrMapOvr>
    <a:masterClrMapping/>
  </p:clrMapOvr>
  <mc:AlternateContent xmlns:mc="http://schemas.openxmlformats.org/markup-compatibility/2006" xmlns:p14="http://schemas.microsoft.com/office/powerpoint/2010/main">
    <mc:Choice Requires="p14">
      <p:transition spd="slow" p14:dur="2000" advTm="210478"/>
    </mc:Choice>
    <mc:Fallback xmlns="">
      <p:transition spd="slow" advTm="21047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Historical Profile of Pakistani Economy</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Economic History of Pakistan:</a:t>
            </a:r>
            <a:endParaRPr lang="en-US" sz="24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The Initial Era of Crises management: this correspond to the first democratic era of 1947-1958.</a:t>
            </a: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The era of determined planning: this characterizes the G. Mu. Ayub era.</a:t>
            </a: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The re-orientation of growth strategy: this covers the first PPP regime 1971-1977.</a:t>
            </a: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Distancing the economy from state capitalism: the G. M. Zia era of reaction to Bhutto’s policy.</a:t>
            </a: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Attempting the structural reform; the Musharraf, and Zardari regimes.</a:t>
            </a: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The current era of Mega developments and Glocalization.</a:t>
            </a:r>
          </a:p>
        </p:txBody>
      </p:sp>
    </p:spTree>
    <p:extLst>
      <p:ext uri="{BB962C8B-B14F-4D97-AF65-F5344CB8AC3E}">
        <p14:creationId xmlns:p14="http://schemas.microsoft.com/office/powerpoint/2010/main" val="1274089762"/>
      </p:ext>
    </p:extLst>
  </p:cSld>
  <p:clrMapOvr>
    <a:masterClrMapping/>
  </p:clrMapOvr>
  <mc:AlternateContent xmlns:mc="http://schemas.openxmlformats.org/markup-compatibility/2006" xmlns:p14="http://schemas.microsoft.com/office/powerpoint/2010/main">
    <mc:Choice Requires="p14">
      <p:transition spd="slow" p14:dur="2000" advTm="633739"/>
    </mc:Choice>
    <mc:Fallback xmlns="">
      <p:transition spd="slow" advTm="63373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Economic Planning in Pakistan </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1- The first Five year plan (1955-1960);</a:t>
            </a:r>
            <a:r>
              <a:rPr lang="en-US" sz="2000" dirty="0">
                <a:latin typeface="Times New Roman" panose="02020603050405020304" pitchFamily="18" charset="0"/>
                <a:cs typeface="Times New Roman" panose="02020603050405020304" pitchFamily="18" charset="0"/>
              </a:rPr>
              <a:t> The First five year plan set out following targets:</a:t>
            </a:r>
          </a:p>
          <a:p>
            <a:pPr algn="just"/>
            <a:r>
              <a:rPr lang="en-US" sz="2000" dirty="0">
                <a:latin typeface="Times New Roman" panose="02020603050405020304" pitchFamily="18" charset="0"/>
                <a:cs typeface="Times New Roman" panose="02020603050405020304" pitchFamily="18" charset="0"/>
              </a:rPr>
              <a:t>A 15% increase in GDP and 7% increase in per capita income.</a:t>
            </a:r>
          </a:p>
          <a:p>
            <a:pPr algn="just"/>
            <a:r>
              <a:rPr lang="en-US" sz="2000" dirty="0">
                <a:latin typeface="Times New Roman" panose="02020603050405020304" pitchFamily="18" charset="0"/>
                <a:cs typeface="Times New Roman" panose="02020603050405020304" pitchFamily="18" charset="0"/>
              </a:rPr>
              <a:t>To create employment opportunities for 20,000,000 people.</a:t>
            </a:r>
          </a:p>
          <a:p>
            <a:pPr algn="just"/>
            <a:r>
              <a:rPr lang="en-US" sz="2000" dirty="0">
                <a:latin typeface="Times New Roman" panose="02020603050405020304" pitchFamily="18" charset="0"/>
                <a:cs typeface="Times New Roman" panose="02020603050405020304" pitchFamily="18" charset="0"/>
              </a:rPr>
              <a:t>A 13% increase in food production, and ultimately autarchy and self sufficient in food. </a:t>
            </a:r>
          </a:p>
          <a:p>
            <a:pPr algn="just"/>
            <a:r>
              <a:rPr lang="en-US" sz="2000" dirty="0">
                <a:latin typeface="Times New Roman" panose="02020603050405020304" pitchFamily="18" charset="0"/>
                <a:cs typeface="Times New Roman" panose="02020603050405020304" pitchFamily="18" charset="0"/>
              </a:rPr>
              <a:t>To improve 6,000 villages by providing power, water, sanitation and communication.</a:t>
            </a:r>
          </a:p>
          <a:p>
            <a:pPr algn="just"/>
            <a:r>
              <a:rPr lang="en-US" sz="2000" dirty="0">
                <a:latin typeface="Times New Roman" panose="02020603050405020304" pitchFamily="18" charset="0"/>
                <a:cs typeface="Times New Roman" panose="02020603050405020304" pitchFamily="18" charset="0"/>
              </a:rPr>
              <a:t>To irrigate 3,000,000 acres of land.</a:t>
            </a:r>
          </a:p>
          <a:p>
            <a:pPr algn="just"/>
            <a:r>
              <a:rPr lang="en-US" sz="2000" dirty="0">
                <a:latin typeface="Times New Roman" panose="02020603050405020304" pitchFamily="18" charset="0"/>
                <a:cs typeface="Times New Roman" panose="02020603050405020304" pitchFamily="18" charset="0"/>
              </a:rPr>
              <a:t>To produce 580,000 kilowatts of electricity.</a:t>
            </a:r>
          </a:p>
          <a:p>
            <a:pPr algn="just"/>
            <a:r>
              <a:rPr lang="en-US" sz="2000" dirty="0">
                <a:latin typeface="Times New Roman" panose="02020603050405020304" pitchFamily="18" charset="0"/>
                <a:cs typeface="Times New Roman" panose="02020603050405020304" pitchFamily="18" charset="0"/>
              </a:rPr>
              <a:t>To establish 1,500 new post offices.</a:t>
            </a:r>
          </a:p>
          <a:p>
            <a:pPr algn="just"/>
            <a:r>
              <a:rPr lang="en-US" sz="2000" dirty="0">
                <a:latin typeface="Times New Roman" panose="02020603050405020304" pitchFamily="18" charset="0"/>
                <a:cs typeface="Times New Roman" panose="02020603050405020304" pitchFamily="18" charset="0"/>
              </a:rPr>
              <a:t>To add Rs 250,000 hospitals beds.</a:t>
            </a:r>
          </a:p>
          <a:p>
            <a:pPr algn="just"/>
            <a:r>
              <a:rPr lang="en-US" sz="2000" dirty="0">
                <a:latin typeface="Times New Roman" panose="02020603050405020304" pitchFamily="18" charset="0"/>
                <a:cs typeface="Times New Roman" panose="02020603050405020304" pitchFamily="18" charset="0"/>
              </a:rPr>
              <a:t>To earn 50 crores worth foreign exchange.</a:t>
            </a:r>
          </a:p>
          <a:p>
            <a:pPr algn="just"/>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946902"/>
      </p:ext>
    </p:extLst>
  </p:cSld>
  <p:clrMapOvr>
    <a:masterClrMapping/>
  </p:clrMapOvr>
  <mc:AlternateContent xmlns:mc="http://schemas.openxmlformats.org/markup-compatibility/2006" xmlns:p14="http://schemas.microsoft.com/office/powerpoint/2010/main">
    <mc:Choice Requires="p14">
      <p:transition spd="slow" p14:dur="2000" advTm="100689"/>
    </mc:Choice>
    <mc:Fallback xmlns="">
      <p:transition spd="slow" advTm="10068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Economic Planning in Pakistan </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a:bodyPr>
          <a:lstStyle/>
          <a:p>
            <a:pPr marL="0" indent="0" algn="just">
              <a:lnSpc>
                <a:spcPct val="100000"/>
              </a:lnSpc>
              <a:buNone/>
            </a:pPr>
            <a:r>
              <a:rPr lang="en-US" sz="24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2- The second five year plan (1960-1965)</a:t>
            </a:r>
            <a:r>
              <a:rPr lang="en-US" sz="24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this plan has it own goals</a:t>
            </a:r>
            <a:r>
              <a:rPr lang="en-US" sz="2000" b="1" dirty="0">
                <a:latin typeface="Times New Roman" panose="02020603050405020304" pitchFamily="18" charset="0"/>
                <a:cs typeface="Times New Roman" panose="02020603050405020304" pitchFamily="18" charset="0"/>
              </a:rPr>
              <a:t>:</a:t>
            </a:r>
          </a:p>
          <a:p>
            <a:pPr algn="just">
              <a:lnSpc>
                <a:spcPct val="100000"/>
              </a:lnSpc>
            </a:pPr>
            <a:r>
              <a:rPr lang="en-US" sz="2000" dirty="0">
                <a:latin typeface="Times New Roman" panose="02020603050405020304" pitchFamily="18" charset="0"/>
                <a:cs typeface="Times New Roman" panose="02020603050405020304" pitchFamily="18" charset="0"/>
              </a:rPr>
              <a:t>24% increase in GDP, 12% increase in per capita income, 6% increase in heavy industry and 30% increase in light industry.</a:t>
            </a:r>
          </a:p>
          <a:p>
            <a:pPr algn="just">
              <a:lnSpc>
                <a:spcPct val="100000"/>
              </a:lnSpc>
            </a:pPr>
            <a:r>
              <a:rPr lang="en-US" sz="2000" dirty="0">
                <a:latin typeface="Times New Roman" panose="02020603050405020304" pitchFamily="18" charset="0"/>
                <a:cs typeface="Times New Roman" panose="02020603050405020304" pitchFamily="18" charset="0"/>
              </a:rPr>
              <a:t>This plan give rise to private entrepreneurs to participate in profit making activities, alongside  Green Revolution was increasing irrigation, enlarge farming mechanism and supply fertilizers. </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3- The third Five year plan </a:t>
            </a:r>
            <a:r>
              <a:rPr lang="en-US" sz="2000" b="1">
                <a:latin typeface="Times New Roman" panose="02020603050405020304" pitchFamily="18" charset="0"/>
                <a:cs typeface="Times New Roman" panose="02020603050405020304" pitchFamily="18" charset="0"/>
              </a:rPr>
              <a:t>(1965-1970</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third plan was designed on the line of second five year plan: </a:t>
            </a:r>
          </a:p>
          <a:p>
            <a:pPr algn="just">
              <a:lnSpc>
                <a:spcPct val="100000"/>
              </a:lnSpc>
            </a:pPr>
            <a:r>
              <a:rPr lang="en-US" sz="2000" dirty="0">
                <a:latin typeface="Times New Roman" panose="02020603050405020304" pitchFamily="18" charset="0"/>
                <a:cs typeface="Times New Roman" panose="02020603050405020304" pitchFamily="18" charset="0"/>
              </a:rPr>
              <a:t>Foreign aid was important factor in development.</a:t>
            </a:r>
          </a:p>
          <a:p>
            <a:pPr algn="just">
              <a:lnSpc>
                <a:spcPct val="100000"/>
              </a:lnSpc>
            </a:pPr>
            <a:r>
              <a:rPr lang="en-US" sz="2000" dirty="0">
                <a:latin typeface="Times New Roman" panose="02020603050405020304" pitchFamily="18" charset="0"/>
                <a:cs typeface="Times New Roman" panose="02020603050405020304" pitchFamily="18" charset="0"/>
              </a:rPr>
              <a:t>37% GNP target, Agriculture target was at 5%, exports marked at 9.5%. </a:t>
            </a:r>
          </a:p>
          <a:p>
            <a:pPr algn="just">
              <a:lnSpc>
                <a:spcPct val="100000"/>
              </a:lnSpc>
            </a:pPr>
            <a:r>
              <a:rPr lang="en-US" sz="2000" dirty="0">
                <a:latin typeface="Times New Roman" panose="02020603050405020304" pitchFamily="18" charset="0"/>
                <a:cs typeface="Times New Roman" panose="02020603050405020304" pitchFamily="18" charset="0"/>
              </a:rPr>
              <a:t>The greatest shortfall in this era was poor performance in saving and capital development.</a:t>
            </a:r>
          </a:p>
        </p:txBody>
      </p:sp>
    </p:spTree>
    <p:extLst>
      <p:ext uri="{BB962C8B-B14F-4D97-AF65-F5344CB8AC3E}">
        <p14:creationId xmlns:p14="http://schemas.microsoft.com/office/powerpoint/2010/main" val="4157858836"/>
      </p:ext>
    </p:extLst>
  </p:cSld>
  <p:clrMapOvr>
    <a:masterClrMapping/>
  </p:clrMapOvr>
  <mc:AlternateContent xmlns:mc="http://schemas.openxmlformats.org/markup-compatibility/2006" xmlns:p14="http://schemas.microsoft.com/office/powerpoint/2010/main">
    <mc:Choice Requires="p14">
      <p:transition spd="slow" p14:dur="2000" advTm="125775"/>
    </mc:Choice>
    <mc:Fallback xmlns="">
      <p:transition spd="slow" advTm="12577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Economic Planning in Pakistan </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4- The fourth five year plan (1970-1975):</a:t>
            </a:r>
          </a:p>
          <a:p>
            <a:pPr algn="just"/>
            <a:r>
              <a:rPr lang="en-US" sz="2000" dirty="0">
                <a:latin typeface="Times New Roman" panose="02020603050405020304" pitchFamily="18" charset="0"/>
                <a:cs typeface="Times New Roman" panose="02020603050405020304" pitchFamily="18" charset="0"/>
              </a:rPr>
              <a:t>This plan was abandoned due 1971 war and fall of Dhaka, Z.A. Bhutto introduced annual planning and are called as non-plan years. This period was also called as the period of Nationalization.</a:t>
            </a:r>
          </a:p>
          <a:p>
            <a:pPr marL="0" indent="0" algn="just">
              <a:buNone/>
            </a:pPr>
            <a:r>
              <a:rPr lang="en-US" sz="2000" b="1" dirty="0">
                <a:latin typeface="Times New Roman" panose="02020603050405020304" pitchFamily="18" charset="0"/>
                <a:cs typeface="Times New Roman" panose="02020603050405020304" pitchFamily="18" charset="0"/>
              </a:rPr>
              <a:t>5- The Fifth five year plan (1978-1983):</a:t>
            </a:r>
          </a:p>
          <a:p>
            <a:pPr algn="just"/>
            <a:r>
              <a:rPr lang="en-US" sz="2000" dirty="0">
                <a:latin typeface="Times New Roman" panose="02020603050405020304" pitchFamily="18" charset="0"/>
                <a:cs typeface="Times New Roman" panose="02020603050405020304" pitchFamily="18" charset="0"/>
              </a:rPr>
              <a:t>This plan laid the foundation of long term economic planning.</a:t>
            </a:r>
          </a:p>
          <a:p>
            <a:pPr algn="just"/>
            <a:r>
              <a:rPr lang="en-US" sz="2000" dirty="0">
                <a:latin typeface="Times New Roman" panose="02020603050405020304" pitchFamily="18" charset="0"/>
                <a:cs typeface="Times New Roman" panose="02020603050405020304" pitchFamily="18" charset="0"/>
              </a:rPr>
              <a:t>Small agro-based units were nationalized, but Zia-ul-Haq denationalized all industries nationalized by Bhutto. </a:t>
            </a:r>
          </a:p>
          <a:p>
            <a:pPr algn="just"/>
            <a:r>
              <a:rPr lang="en-US" sz="2000" dirty="0">
                <a:latin typeface="Times New Roman" panose="02020603050405020304" pitchFamily="18" charset="0"/>
                <a:cs typeface="Times New Roman" panose="02020603050405020304" pitchFamily="18" charset="0"/>
              </a:rPr>
              <a:t>During this era people moved from trade to industry. Zia provided incentive Cement and fertilizers factories which gave birth to a new class of development.</a:t>
            </a:r>
          </a:p>
          <a:p>
            <a:pPr algn="just"/>
            <a:r>
              <a:rPr lang="en-US" sz="2000" dirty="0">
                <a:latin typeface="Times New Roman" panose="02020603050405020304" pitchFamily="18" charset="0"/>
                <a:cs typeface="Times New Roman" panose="02020603050405020304" pitchFamily="18" charset="0"/>
              </a:rPr>
              <a:t>Half of public sector spending were given to the new Pakistan steel mill at port Qasim.  </a:t>
            </a:r>
          </a:p>
          <a:p>
            <a:pPr algn="just"/>
            <a:r>
              <a:rPr lang="en-US" sz="2000" dirty="0">
                <a:latin typeface="Times New Roman" panose="02020603050405020304" pitchFamily="18" charset="0"/>
                <a:cs typeface="Times New Roman" panose="02020603050405020304" pitchFamily="18" charset="0"/>
              </a:rPr>
              <a:t>This era gave rise to defense expenditure due to Afghan Jihad. </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577851"/>
      </p:ext>
    </p:extLst>
  </p:cSld>
  <p:clrMapOvr>
    <a:masterClrMapping/>
  </p:clrMapOvr>
  <mc:AlternateContent xmlns:mc="http://schemas.openxmlformats.org/markup-compatibility/2006" xmlns:p14="http://schemas.microsoft.com/office/powerpoint/2010/main">
    <mc:Choice Requires="p14">
      <p:transition spd="slow" p14:dur="2000" advTm="107207"/>
    </mc:Choice>
    <mc:Fallback xmlns="">
      <p:transition spd="slow" advTm="10720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Economic Planning in Pakistan </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fontScale="92500" lnSpcReduction="20000"/>
          </a:bodyPr>
          <a:lstStyle/>
          <a:p>
            <a:pPr marL="0" indent="0" algn="just">
              <a:lnSpc>
                <a:spcPct val="120000"/>
              </a:lnSpc>
              <a:buNone/>
            </a:pPr>
            <a:r>
              <a:rPr lang="en-US" sz="2000" b="1" dirty="0">
                <a:latin typeface="Times New Roman" panose="02020603050405020304" pitchFamily="18" charset="0"/>
                <a:cs typeface="Times New Roman" panose="02020603050405020304" pitchFamily="18" charset="0"/>
              </a:rPr>
              <a:t>6- The sixth five year plan (1983-88):</a:t>
            </a:r>
          </a:p>
          <a:p>
            <a:pPr algn="just">
              <a:lnSpc>
                <a:spcPct val="120000"/>
              </a:lnSpc>
            </a:pPr>
            <a:r>
              <a:rPr lang="en-US" sz="2000" dirty="0">
                <a:latin typeface="Times New Roman" panose="02020603050405020304" pitchFamily="18" charset="0"/>
                <a:cs typeface="Times New Roman" panose="02020603050405020304" pitchFamily="18" charset="0"/>
              </a:rPr>
              <a:t>The plan was basically a continuation of the previous plan.</a:t>
            </a:r>
          </a:p>
          <a:p>
            <a:pPr algn="just">
              <a:lnSpc>
                <a:spcPct val="120000"/>
              </a:lnSpc>
            </a:pPr>
            <a:r>
              <a:rPr lang="en-US" sz="2000" dirty="0">
                <a:latin typeface="Times New Roman" panose="02020603050405020304" pitchFamily="18" charset="0"/>
                <a:cs typeface="Times New Roman" panose="02020603050405020304" pitchFamily="18" charset="0"/>
              </a:rPr>
              <a:t>This  the economic growth and development of modern technology.</a:t>
            </a:r>
          </a:p>
          <a:p>
            <a:pPr algn="just">
              <a:lnSpc>
                <a:spcPct val="120000"/>
              </a:lnSpc>
            </a:pPr>
            <a:r>
              <a:rPr lang="en-US" sz="2000" dirty="0">
                <a:latin typeface="Times New Roman" panose="02020603050405020304" pitchFamily="18" charset="0"/>
                <a:cs typeface="Times New Roman" panose="02020603050405020304" pitchFamily="18" charset="0"/>
              </a:rPr>
              <a:t>A new investment on agro-based industries, textile and pharmaceuticals industry have seen a rise between 2-8% higher than the expected level. </a:t>
            </a:r>
          </a:p>
          <a:p>
            <a:pPr marL="0" indent="0" algn="just">
              <a:lnSpc>
                <a:spcPct val="120000"/>
              </a:lnSpc>
              <a:buNone/>
            </a:pPr>
            <a:r>
              <a:rPr lang="en-US" sz="2000" b="1" dirty="0">
                <a:latin typeface="Times New Roman" panose="02020603050405020304" pitchFamily="18" charset="0"/>
                <a:cs typeface="Times New Roman" panose="02020603050405020304" pitchFamily="18" charset="0"/>
              </a:rPr>
              <a:t>7- The seventh five year plan (1988-1993):</a:t>
            </a:r>
          </a:p>
          <a:p>
            <a:pPr algn="just">
              <a:lnSpc>
                <a:spcPct val="120000"/>
              </a:lnSpc>
            </a:pPr>
            <a:r>
              <a:rPr lang="en-US" sz="2000" dirty="0">
                <a:latin typeface="Times New Roman" panose="02020603050405020304" pitchFamily="18" charset="0"/>
                <a:cs typeface="Times New Roman" panose="02020603050405020304" pitchFamily="18" charset="0"/>
              </a:rPr>
              <a:t>This term is divided between Benazir Bhutto and Nawaz Sharif incentivization of free market, private entrepreneurship, privatization and deregulation for new economic framework. </a:t>
            </a:r>
          </a:p>
          <a:p>
            <a:pPr algn="just">
              <a:lnSpc>
                <a:spcPct val="120000"/>
              </a:lnSpc>
            </a:pPr>
            <a:r>
              <a:rPr lang="en-US" sz="2000" dirty="0">
                <a:latin typeface="Times New Roman" panose="02020603050405020304" pitchFamily="18" charset="0"/>
                <a:cs typeface="Times New Roman" panose="02020603050405020304" pitchFamily="18" charset="0"/>
              </a:rPr>
              <a:t>This era progress was slow because external factors such as Afghan war, USSR breakup and Gul war of 1991.</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 </a:t>
            </a: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611748"/>
      </p:ext>
    </p:extLst>
  </p:cSld>
  <p:clrMapOvr>
    <a:masterClrMapping/>
  </p:clrMapOvr>
  <mc:AlternateContent xmlns:mc="http://schemas.openxmlformats.org/markup-compatibility/2006" xmlns:p14="http://schemas.microsoft.com/office/powerpoint/2010/main">
    <mc:Choice Requires="p14">
      <p:transition spd="slow" p14:dur="2000" advTm="63567"/>
    </mc:Choice>
    <mc:Fallback xmlns="">
      <p:transition spd="slow" advTm="6356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7DE0-F0A8-4858-BB97-89770BED2E3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Economic Planning in Pakistan </a:t>
            </a:r>
          </a:p>
        </p:txBody>
      </p:sp>
      <p:sp>
        <p:nvSpPr>
          <p:cNvPr id="3" name="Content Placeholder 2">
            <a:extLst>
              <a:ext uri="{FF2B5EF4-FFF2-40B4-BE49-F238E27FC236}">
                <a16:creationId xmlns:a16="http://schemas.microsoft.com/office/drawing/2014/main" id="{573CFA72-E7C1-4C2C-851E-A605403F61B1}"/>
              </a:ext>
            </a:extLst>
          </p:cNvPr>
          <p:cNvSpPr>
            <a:spLocks noGrp="1"/>
          </p:cNvSpPr>
          <p:nvPr>
            <p:ph idx="1"/>
          </p:nvPr>
        </p:nvSpPr>
        <p:spPr/>
        <p:txBody>
          <a:bodyPr>
            <a:normAutofit fontScale="92500" lnSpcReduction="20000"/>
          </a:bodyPr>
          <a:lstStyle/>
          <a:p>
            <a:pPr marL="0" indent="0" algn="just">
              <a:buNone/>
            </a:pPr>
            <a:r>
              <a:rPr lang="en-US" sz="2000" b="1" dirty="0">
                <a:latin typeface="Times New Roman" panose="02020603050405020304" pitchFamily="18" charset="0"/>
                <a:cs typeface="Times New Roman" panose="02020603050405020304" pitchFamily="18" charset="0"/>
              </a:rPr>
              <a:t>8- The eight five year plan (1993-1998):</a:t>
            </a:r>
          </a:p>
          <a:p>
            <a:pPr algn="just"/>
            <a:r>
              <a:rPr lang="en-US" sz="2000" dirty="0">
                <a:latin typeface="Times New Roman" panose="02020603050405020304" pitchFamily="18" charset="0"/>
                <a:cs typeface="Times New Roman" panose="02020603050405020304" pitchFamily="18" charset="0"/>
              </a:rPr>
              <a:t>The 8</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year plan was approved on 31</a:t>
            </a:r>
            <a:r>
              <a:rPr lang="en-US" sz="2000" baseline="30000" dirty="0">
                <a:latin typeface="Times New Roman" panose="02020603050405020304" pitchFamily="18" charset="0"/>
                <a:cs typeface="Times New Roman" panose="02020603050405020304" pitchFamily="18" charset="0"/>
              </a:rPr>
              <a:t>st</a:t>
            </a:r>
            <a:r>
              <a:rPr lang="en-US" sz="2000" dirty="0">
                <a:latin typeface="Times New Roman" panose="02020603050405020304" pitchFamily="18" charset="0"/>
                <a:cs typeface="Times New Roman" panose="02020603050405020304" pitchFamily="18" charset="0"/>
              </a:rPr>
              <a:t> May 1994 by the National Economic Council.</a:t>
            </a:r>
          </a:p>
          <a:p>
            <a:pPr algn="just"/>
            <a:r>
              <a:rPr lang="en-US" sz="2000" dirty="0">
                <a:latin typeface="Times New Roman" panose="02020603050405020304" pitchFamily="18" charset="0"/>
                <a:cs typeface="Times New Roman" panose="02020603050405020304" pitchFamily="18" charset="0"/>
              </a:rPr>
              <a:t>A balance between private and public sector was set as priority.</a:t>
            </a:r>
          </a:p>
          <a:p>
            <a:pPr algn="just"/>
            <a:r>
              <a:rPr lang="en-US" sz="2000" dirty="0">
                <a:latin typeface="Times New Roman" panose="02020603050405020304" pitchFamily="18" charset="0"/>
                <a:cs typeface="Times New Roman" panose="02020603050405020304" pitchFamily="18" charset="0"/>
              </a:rPr>
              <a:t>This plan had three-prong strategies; privatization, promotion of a free market and the development of small- scale industries.</a:t>
            </a:r>
          </a:p>
          <a:p>
            <a:pPr marL="0" indent="0" algn="just">
              <a:buNone/>
            </a:pPr>
            <a:r>
              <a:rPr lang="en-US" sz="2000" b="1" dirty="0">
                <a:latin typeface="Times New Roman" panose="02020603050405020304" pitchFamily="18" charset="0"/>
                <a:cs typeface="Times New Roman" panose="02020603050405020304" pitchFamily="18" charset="0"/>
              </a:rPr>
              <a:t>9- The current era of Mega developments and Glocalization (2000-2019):</a:t>
            </a:r>
          </a:p>
          <a:p>
            <a:pPr algn="just"/>
            <a:r>
              <a:rPr lang="en-US" sz="2000" dirty="0">
                <a:latin typeface="Times New Roman" panose="02020603050405020304" pitchFamily="18" charset="0"/>
                <a:cs typeface="Times New Roman" panose="02020603050405020304" pitchFamily="18" charset="0"/>
              </a:rPr>
              <a:t>The first step of this plan was vision 2030 approved on 3</a:t>
            </a:r>
            <a:r>
              <a:rPr lang="en-US" sz="2000" baseline="30000" dirty="0">
                <a:latin typeface="Times New Roman" panose="02020603050405020304" pitchFamily="18" charset="0"/>
                <a:cs typeface="Times New Roman" panose="02020603050405020304" pitchFamily="18" charset="0"/>
              </a:rPr>
              <a:t>rd</a:t>
            </a:r>
            <a:r>
              <a:rPr lang="en-US" sz="2000" dirty="0">
                <a:latin typeface="Times New Roman" panose="02020603050405020304" pitchFamily="18" charset="0"/>
                <a:cs typeface="Times New Roman" panose="02020603050405020304" pitchFamily="18" charset="0"/>
              </a:rPr>
              <a:t> March 2005 and its key features were a 293 million allocation increase for water availability of 136.68 million acres feet to 150.35 million acres feet. </a:t>
            </a:r>
          </a:p>
          <a:p>
            <a:pPr algn="just"/>
            <a:r>
              <a:rPr lang="en-US" sz="2000" dirty="0">
                <a:latin typeface="Times New Roman" panose="02020603050405020304" pitchFamily="18" charset="0"/>
                <a:cs typeface="Times New Roman" panose="02020603050405020304" pitchFamily="18" charset="0"/>
              </a:rPr>
              <a:t>A developed industrialized Pakistan, with Long term and short term plans. The short term plan will harness the long term plans. Short term plan was for five years and next five year plan would dependent on the previous one.   Main points were Justice, education and Health. The last in this plan was the development of Kalabagh dam proposal.</a:t>
            </a:r>
          </a:p>
          <a:p>
            <a:pPr algn="just"/>
            <a:r>
              <a:rPr lang="en-US" sz="2000" dirty="0">
                <a:latin typeface="Times New Roman" panose="02020603050405020304" pitchFamily="18" charset="0"/>
                <a:cs typeface="Times New Roman" panose="02020603050405020304" pitchFamily="18" charset="0"/>
              </a:rPr>
              <a:t>After 2013, Pakistan signed different MOU’s with China on CPEC, which bring a hefty investment of 72$ billion, to develop Gawadar port, made Industrial zones and Communication sector (Motorways, railways and highways) for long term trade.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1051824"/>
      </p:ext>
    </p:extLst>
  </p:cSld>
  <p:clrMapOvr>
    <a:masterClrMapping/>
  </p:clrMapOvr>
  <mc:AlternateContent xmlns:mc="http://schemas.openxmlformats.org/markup-compatibility/2006" xmlns:p14="http://schemas.microsoft.com/office/powerpoint/2010/main">
    <mc:Choice Requires="p14">
      <p:transition spd="slow" p14:dur="2000" advTm="312147"/>
    </mc:Choice>
    <mc:Fallback xmlns="">
      <p:transition spd="slow" advTm="312147"/>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1510</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Economy of Pakistan</vt:lpstr>
      <vt:lpstr>Statistics of Pakistan Economy FY2019</vt:lpstr>
      <vt:lpstr>Statistics of Pakistan Economy FY2019</vt:lpstr>
      <vt:lpstr>Statistics of Pakistan Economy FY2019</vt:lpstr>
      <vt:lpstr>Historical Profile of Pakistani Economy</vt:lpstr>
      <vt:lpstr>Economic Planning in Pakistan </vt:lpstr>
      <vt:lpstr>Economic Planning in Pakistan </vt:lpstr>
      <vt:lpstr>Economic Planning in Pakistan </vt:lpstr>
      <vt:lpstr>Economic Planning in Pakistan </vt:lpstr>
      <vt:lpstr>Economic Planning in Pakistan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Economy of Pakistan</dc:title>
  <dc:creator>Ahmed Khan</dc:creator>
  <cp:lastModifiedBy>Ahmed Khan</cp:lastModifiedBy>
  <cp:revision>117</cp:revision>
  <dcterms:created xsi:type="dcterms:W3CDTF">2020-06-14T12:14:57Z</dcterms:created>
  <dcterms:modified xsi:type="dcterms:W3CDTF">2020-09-30T04:39:09Z</dcterms:modified>
</cp:coreProperties>
</file>