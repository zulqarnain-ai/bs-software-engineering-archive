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92" r:id="rId2"/>
  </p:sldMasterIdLst>
  <p:notesMasterIdLst>
    <p:notesMasterId r:id="rId10"/>
  </p:notesMasterIdLst>
  <p:sldIdLst>
    <p:sldId id="368" r:id="rId3"/>
    <p:sldId id="512" r:id="rId4"/>
    <p:sldId id="514" r:id="rId5"/>
    <p:sldId id="528" r:id="rId6"/>
    <p:sldId id="515" r:id="rId7"/>
    <p:sldId id="529" r:id="rId8"/>
    <p:sldId id="53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>
        <p:scale>
          <a:sx n="71" d="100"/>
          <a:sy n="71" d="100"/>
        </p:scale>
        <p:origin x="-1160" y="-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9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4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61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0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29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9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37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4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4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50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40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41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19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7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55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19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04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26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33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78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8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4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0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7C545C-EAC2-4814-AE8B-2D0C943C3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9211BDA-D7DF-4130-A3B3-EE016763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Engineering</a:t>
            </a:r>
            <a:r>
              <a:rPr lang="en-US" sz="2800" b="1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67F458A-708A-4E75-9D30-9C4DBEA4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A972A36-04A5-41D7-9B19-15A743E4476F}"/>
              </a:ext>
            </a:extLst>
          </p:cNvPr>
          <p:cNvSpPr/>
          <p:nvPr/>
        </p:nvSpPr>
        <p:spPr>
          <a:xfrm>
            <a:off x="3613275" y="637061"/>
            <a:ext cx="19174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# </a:t>
            </a:r>
            <a:r>
              <a:rPr lang="en-US" sz="2800" b="1" u="sng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1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22683"/>
            <a:ext cx="7429499" cy="147857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Duality in linear programming</a:t>
            </a:r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602" y="1810869"/>
            <a:ext cx="7429499" cy="471543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In linear programming, duality implies that each linear programming problem can be </a:t>
            </a:r>
            <a:r>
              <a:rPr lang="en-GB" dirty="0" smtClean="0"/>
              <a:t>analysed </a:t>
            </a:r>
            <a:r>
              <a:rPr lang="en-GB" dirty="0"/>
              <a:t>in </a:t>
            </a:r>
            <a:r>
              <a:rPr lang="en-GB" dirty="0" smtClean="0"/>
              <a:t>two different ways </a:t>
            </a:r>
            <a:r>
              <a:rPr lang="en-GB" dirty="0"/>
              <a:t>but would have equivalent solutions</a:t>
            </a:r>
            <a:r>
              <a:rPr lang="en-GB" dirty="0" smtClean="0"/>
              <a:t>.</a:t>
            </a:r>
          </a:p>
          <a:p>
            <a:r>
              <a:rPr lang="en-GB" dirty="0"/>
              <a:t>Any LP problem (either maximization and </a:t>
            </a:r>
            <a:r>
              <a:rPr lang="en-GB" dirty="0" smtClean="0"/>
              <a:t>minimization) can </a:t>
            </a:r>
            <a:r>
              <a:rPr lang="en-GB" dirty="0"/>
              <a:t>be stated in another equivalent form based on the same data</a:t>
            </a:r>
            <a:r>
              <a:rPr lang="en-GB" dirty="0" smtClean="0"/>
              <a:t>.</a:t>
            </a:r>
          </a:p>
          <a:p>
            <a:pPr algn="just"/>
            <a:r>
              <a:rPr lang="en-GB" dirty="0"/>
              <a:t>There is no need to solve both LP problems separately. Solving one LP problem is equivalent to </a:t>
            </a:r>
            <a:r>
              <a:rPr lang="en-GB" dirty="0" smtClean="0"/>
              <a:t>solving the </a:t>
            </a:r>
            <a:r>
              <a:rPr lang="en-GB" dirty="0"/>
              <a:t>other simultaneously. Thus, if the optimal solution to one is known, the optimal solution of the </a:t>
            </a:r>
            <a:r>
              <a:rPr lang="en-GB" dirty="0" smtClean="0"/>
              <a:t>other can </a:t>
            </a:r>
            <a:r>
              <a:rPr lang="en-GB" dirty="0"/>
              <a:t>also be </a:t>
            </a:r>
            <a:r>
              <a:rPr lang="en-GB" dirty="0" smtClean="0"/>
              <a:t>read.</a:t>
            </a:r>
          </a:p>
          <a:p>
            <a:pPr algn="just"/>
            <a:r>
              <a:rPr lang="en-GB" dirty="0"/>
              <a:t>Duality is used when computational efficiency is key, and solving the dual can be faster than the primal. It also helps with economic </a:t>
            </a:r>
            <a:r>
              <a:rPr lang="en-GB" dirty="0" smtClean="0"/>
              <a:t>interpretation</a:t>
            </a:r>
            <a:r>
              <a:rPr lang="en-GB" dirty="0"/>
              <a:t>.</a:t>
            </a: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17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65" y="2848281"/>
            <a:ext cx="5979459" cy="335477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416424" y="797860"/>
                <a:ext cx="511884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𝑴𝒂𝒙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𝑧</m:t>
                      </m:r>
                      <m:r>
                        <a:rPr lang="en-US" i="1" dirty="0" smtClean="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+…..+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+…..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+…..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≤</m:t>
                      </m:r>
                      <m:r>
                        <a:rPr lang="en-US" i="1" dirty="0" smtClean="0">
                          <a:latin typeface="Cambria Math"/>
                        </a:rPr>
                        <m:t>𝑏</m:t>
                      </m:r>
                      <m:r>
                        <a:rPr lang="en-US" i="1" dirty="0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𝑚</m:t>
                          </m:r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𝑚</m:t>
                          </m:r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+…..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𝑚</m:t>
                          </m:r>
                          <m:r>
                            <a:rPr lang="en-US" i="1" dirty="0" err="1"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 dirty="0" err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424" y="797860"/>
                <a:ext cx="5118847" cy="2031325"/>
              </a:xfrm>
              <a:prstGeom prst="rect">
                <a:avLst/>
              </a:prstGeom>
              <a:blipFill rotWithShape="1">
                <a:blip r:embed="rId3"/>
                <a:stretch>
                  <a:fillRect t="-1502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55059" y="58575"/>
            <a:ext cx="6896029" cy="837896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Primal Problem</a:t>
            </a:r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42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586753" y="2706109"/>
                <a:ext cx="562983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𝑴𝒊𝒏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𝑧</m:t>
                      </m:r>
                      <m:r>
                        <a:rPr lang="en-US" i="1" dirty="0" smtClean="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+…..+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+…..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𝑚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+…..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𝑚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+…..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𝑚𝑛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753" y="2706109"/>
                <a:ext cx="5629836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623" t="-1822" b="-27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74377" y="641280"/>
            <a:ext cx="6896029" cy="837896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Dual Problem</a:t>
            </a:r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4752" y="1721224"/>
            <a:ext cx="740382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For a primal LP problem with </a:t>
            </a:r>
            <a:r>
              <a:rPr lang="en-GB" sz="2000" i="1" dirty="0"/>
              <a:t>m </a:t>
            </a:r>
            <a:r>
              <a:rPr lang="en-GB" sz="2000" dirty="0"/>
              <a:t>constraints and </a:t>
            </a:r>
            <a:r>
              <a:rPr lang="en-GB" sz="2000" i="1" dirty="0"/>
              <a:t>n </a:t>
            </a:r>
            <a:r>
              <a:rPr lang="en-GB" sz="2000" dirty="0"/>
              <a:t>variables, </a:t>
            </a:r>
            <a:r>
              <a:rPr lang="en-GB" sz="2000" dirty="0" smtClean="0"/>
              <a:t>there exists</a:t>
            </a:r>
          </a:p>
          <a:p>
            <a:r>
              <a:rPr lang="en-GB" sz="2000" dirty="0" smtClean="0"/>
              <a:t> </a:t>
            </a:r>
            <a:r>
              <a:rPr lang="en-GB" sz="2000" dirty="0"/>
              <a:t>a dual LP problem with </a:t>
            </a:r>
            <a:r>
              <a:rPr lang="en-GB" sz="2000" i="1" dirty="0"/>
              <a:t>m </a:t>
            </a:r>
            <a:r>
              <a:rPr lang="en-GB" sz="2000" dirty="0"/>
              <a:t>variables and </a:t>
            </a:r>
            <a:r>
              <a:rPr lang="en-GB" sz="2000" i="1" dirty="0"/>
              <a:t>n </a:t>
            </a:r>
            <a:r>
              <a:rPr lang="en-GB" sz="2000" dirty="0"/>
              <a:t>constraints and vice-versa.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816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354" y="931674"/>
            <a:ext cx="7429499" cy="401684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Examples Chapter 5 (5.1---5.5)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550023" y="2035041"/>
                <a:ext cx="26223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max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</m:t>
                          </m:r>
                        </m:e>
                      </m:func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/>
                        </a:rPr>
                        <m:t>+3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≤10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≤2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−2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/>
                        </a:rPr>
                        <m:t>−3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0" smtClean="0">
                          <a:latin typeface="Cambria Math"/>
                        </a:rPr>
                        <m:t>≤6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023" y="2035041"/>
                <a:ext cx="2622385" cy="1200329"/>
              </a:xfrm>
              <a:prstGeom prst="rect">
                <a:avLst/>
              </a:prstGeom>
              <a:blipFill rotWithShape="1">
                <a:blip r:embed="rId2"/>
                <a:stretch>
                  <a:fillRect t="-2538" r="-92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55392" y="4397659"/>
                <a:ext cx="291701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m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</m:t>
                          </m:r>
                        </m:e>
                      </m:func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/>
                            </a:rPr>
                            <m:t>10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/>
                        </a:rPr>
                        <m:t>+6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−2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≥−1</m:t>
                      </m:r>
                    </m:oMath>
                  </m:oMathPara>
                </a14:m>
                <a:endParaRPr lang="en-US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/>
                        </a:rPr>
                        <m:t>−3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b="0" i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0" smtClean="0">
                          <a:latin typeface="Cambria Math"/>
                        </a:rPr>
                        <m:t>≥3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392" y="4397659"/>
                <a:ext cx="2917016" cy="1200329"/>
              </a:xfrm>
              <a:prstGeom prst="rect">
                <a:avLst/>
              </a:prstGeom>
              <a:blipFill rotWithShape="1">
                <a:blip r:embed="rId3"/>
                <a:stretch>
                  <a:fillRect t="-2538" r="-208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138518" y="1576009"/>
            <a:ext cx="330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Primal Problem in standard form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49408" y="3754433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Dual Problem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15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55392" y="1086562"/>
                <a:ext cx="3069238" cy="23421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𝒎𝒊𝒏</m:t>
                      </m:r>
                      <m:r>
                        <a:rPr lang="pl-PL" b="1" i="1" dirty="0" smtClean="0">
                          <a:latin typeface="Cambria Math"/>
                        </a:rPr>
                        <m:t>⁡</m:t>
                      </m:r>
                      <m:r>
                        <a:rPr lang="en-US" b="1" i="1" dirty="0" smtClean="0">
                          <a:latin typeface="Cambria Math"/>
                        </a:rPr>
                        <m:t>𝒛</m:t>
                      </m:r>
                      <m:r>
                        <a:rPr lang="pl-PL" b="1" i="1" dirty="0" smtClean="0">
                          <a:latin typeface="Cambria Math"/>
                        </a:rPr>
                        <m:t> </m:t>
                      </m:r>
                      <m:r>
                        <a:rPr lang="pl-PL" i="1" dirty="0" smtClean="0">
                          <a:latin typeface="Cambria Math"/>
                        </a:rPr>
                        <m:t>= 3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l-PL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l-PL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l-PL" i="1" dirty="0" smtClean="0">
                          <a:latin typeface="Cambria Math"/>
                        </a:rPr>
                        <m:t> – 2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l-PL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l-PL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l-PL" i="1" dirty="0" smtClean="0">
                          <a:latin typeface="Cambria Math"/>
                        </a:rPr>
                        <m:t> + 4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l-PL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l-PL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i="1" dirty="0" smtClean="0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nn-NO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nn-NO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nn-NO" i="1" dirty="0" smtClean="0">
                          <a:latin typeface="Cambria Math"/>
                        </a:rPr>
                        <m:t> </m:t>
                      </m:r>
                      <m:r>
                        <a:rPr lang="nn-NO" i="1" dirty="0">
                          <a:latin typeface="Cambria Math"/>
                        </a:rPr>
                        <m:t>+ 5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nn-NO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nn-NO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nn-NO" i="1" dirty="0">
                          <a:latin typeface="Cambria Math"/>
                        </a:rPr>
                        <m:t> + 4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nn-NO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nn-NO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nn-NO" i="1" dirty="0">
                          <a:latin typeface="Cambria Math"/>
                        </a:rPr>
                        <m:t> ≥ 7, </m:t>
                      </m:r>
                    </m:oMath>
                  </m:oMathPara>
                </a14:m>
                <a:endParaRPr lang="nn-NO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i="1" dirty="0" smtClean="0">
                          <a:latin typeface="Cambria Math"/>
                        </a:rPr>
                        <m:t> </m:t>
                      </m:r>
                      <m:r>
                        <a:rPr lang="nn-NO" i="1" dirty="0">
                          <a:latin typeface="Cambria Math"/>
                        </a:rPr>
                        <m:t>6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nn-NO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nn-NO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nn-NO" i="1" dirty="0">
                          <a:latin typeface="Cambria Math"/>
                        </a:rPr>
                        <m:t> +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nn-NO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nn-NO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nn-NO" i="1" dirty="0">
                          <a:latin typeface="Cambria Math"/>
                        </a:rPr>
                        <m:t> + 3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nn-NO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nn-NO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nn-NO" i="1" dirty="0">
                          <a:latin typeface="Cambria Math"/>
                        </a:rPr>
                        <m:t> ≥ 4, </m:t>
                      </m:r>
                    </m:oMath>
                  </m:oMathPara>
                </a14:m>
                <a:endParaRPr lang="nn-N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nn-NO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nn-NO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nn-NO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nn-NO" i="1" dirty="0">
                          <a:solidFill>
                            <a:srgbClr val="FF0000"/>
                          </a:solidFill>
                          <a:latin typeface="Cambria Math"/>
                        </a:rPr>
                        <m:t>– 2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nn-NO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nn-NO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nn-NO" i="1" dirty="0">
                          <a:solidFill>
                            <a:srgbClr val="FF0000"/>
                          </a:solidFill>
                          <a:latin typeface="Cambria Math"/>
                        </a:rPr>
                        <m:t> – 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nn-NO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nn-NO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nn-NO" i="1" dirty="0">
                          <a:solidFill>
                            <a:srgbClr val="FF0000"/>
                          </a:solidFill>
                          <a:latin typeface="Cambria Math"/>
                        </a:rPr>
                        <m:t> ≤ 10</m:t>
                      </m:r>
                    </m:oMath>
                  </m:oMathPara>
                </a14:m>
                <a:endParaRPr lang="nn-NO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GB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GB" i="1" dirty="0" smtClean="0">
                          <a:latin typeface="Cambria Math"/>
                        </a:rPr>
                        <m:t> </m:t>
                      </m:r>
                      <m:r>
                        <a:rPr lang="en-GB" i="1" dirty="0">
                          <a:latin typeface="Cambria Math"/>
                        </a:rPr>
                        <m:t>– 2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GB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/>
                        </a:rPr>
                        <m:t> + 5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GB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GB" i="1" dirty="0">
                          <a:latin typeface="Cambria Math"/>
                        </a:rPr>
                        <m:t> ≥ 3, </m:t>
                      </m:r>
                    </m:oMath>
                  </m:oMathPara>
                </a14:m>
                <a:endParaRPr lang="en-GB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 </m:t>
                      </m:r>
                      <m:r>
                        <a:rPr lang="en-GB" i="1" dirty="0">
                          <a:latin typeface="Cambria Math"/>
                        </a:rPr>
                        <m:t>4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GB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GB" i="1" dirty="0">
                          <a:latin typeface="Cambria Math"/>
                        </a:rPr>
                        <m:t> + 7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GB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/>
                        </a:rPr>
                        <m:t> – 2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GB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GB" i="1" dirty="0">
                          <a:latin typeface="Cambria Math"/>
                        </a:rPr>
                        <m:t> ≥ 2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GB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GB" i="1" dirty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en-GB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GB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en-GB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GB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GB" i="1" dirty="0">
                          <a:latin typeface="Cambria Math"/>
                        </a:rPr>
                        <m:t> ≥ 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392" y="1086562"/>
                <a:ext cx="3069238" cy="2342116"/>
              </a:xfrm>
              <a:prstGeom prst="rect">
                <a:avLst/>
              </a:prstGeom>
              <a:blipFill rotWithShape="1">
                <a:blip r:embed="rId2"/>
                <a:stretch>
                  <a:fillRect l="-1587" t="-1302" r="-397" b="-18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55392" y="265492"/>
            <a:ext cx="3257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Primal Problem </a:t>
            </a:r>
            <a:endParaRPr lang="en-GB" sz="36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3557210"/>
            <a:ext cx="6324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Write the dual problem after writing the problem in standard form.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004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280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97ECCC31-8429-4523-BE8D-8F09B7A4D4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3541</TotalTime>
  <Words>646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Clarity</vt:lpstr>
      <vt:lpstr>Circuit</vt:lpstr>
      <vt:lpstr>PowerPoint Presentation</vt:lpstr>
      <vt:lpstr>Duality in linear programming</vt:lpstr>
      <vt:lpstr>Primal Problem</vt:lpstr>
      <vt:lpstr>Dual Problem</vt:lpstr>
      <vt:lpstr>PowerPoint Presentation</vt:lpstr>
      <vt:lpstr>PowerPoint Presentation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Bakhtawar</dc:creator>
  <cp:lastModifiedBy>4G Traders</cp:lastModifiedBy>
  <cp:revision>346</cp:revision>
  <dcterms:created xsi:type="dcterms:W3CDTF">2022-09-10T13:48:09Z</dcterms:created>
  <dcterms:modified xsi:type="dcterms:W3CDTF">2025-12-02T06:22:23Z</dcterms:modified>
</cp:coreProperties>
</file>