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805326-4042-455D-A393-A82E6B1301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3"/>
            <p14:sldId id="270"/>
            <p14:sldId id="271"/>
            <p14:sldId id="272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Untitled Section" id="{829CC01C-7BD3-443B-9151-AC9D9E3C5647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D6256C-F475-4213-B2E2-E602286C6CC6}" type="doc">
      <dgm:prSet loTypeId="urn:diagrams.loki3.com/VaryingWidthList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4B51C63-37E4-46BC-AA1D-A68085567308}">
      <dgm:prSet/>
      <dgm:spPr/>
      <dgm:t>
        <a:bodyPr/>
        <a:lstStyle/>
        <a:p>
          <a:pPr rtl="0"/>
          <a:r>
            <a:rPr lang="en-US" dirty="0" smtClean="0"/>
            <a:t>The deeper the processing of information, the longer it stays in memory </a:t>
          </a:r>
          <a:endParaRPr lang="en-US" dirty="0"/>
        </a:p>
      </dgm:t>
    </dgm:pt>
    <dgm:pt modelId="{92F85325-F503-4BD5-98DC-661F8674EA8A}" type="parTrans" cxnId="{E679BEBA-EDF4-48BB-8454-14E27D4E6D0C}">
      <dgm:prSet/>
      <dgm:spPr/>
      <dgm:t>
        <a:bodyPr/>
        <a:lstStyle/>
        <a:p>
          <a:endParaRPr lang="en-US"/>
        </a:p>
      </dgm:t>
    </dgm:pt>
    <dgm:pt modelId="{D1A84A85-12FC-4185-BFCA-5CDEC481D1E5}" type="sibTrans" cxnId="{E679BEBA-EDF4-48BB-8454-14E27D4E6D0C}">
      <dgm:prSet/>
      <dgm:spPr/>
      <dgm:t>
        <a:bodyPr/>
        <a:lstStyle/>
        <a:p>
          <a:endParaRPr lang="en-US"/>
        </a:p>
      </dgm:t>
    </dgm:pt>
    <dgm:pt modelId="{D0B527EC-D451-4679-8C48-30A071D6F68C}">
      <dgm:prSet/>
      <dgm:spPr/>
      <dgm:t>
        <a:bodyPr/>
        <a:lstStyle/>
        <a:p>
          <a:pPr rtl="0"/>
          <a:r>
            <a:rPr lang="en-US" b="1" dirty="0" smtClean="0"/>
            <a:t>Shallow; </a:t>
          </a:r>
          <a:r>
            <a:rPr lang="en-US" dirty="0" smtClean="0"/>
            <a:t>only sensory information is payed attention </a:t>
          </a:r>
          <a:endParaRPr lang="en-US" dirty="0"/>
        </a:p>
      </dgm:t>
    </dgm:pt>
    <dgm:pt modelId="{86EB6294-3A2A-4878-9EFB-23F3F434E57D}" type="parTrans" cxnId="{C6F79A44-A548-42F7-AD03-7D1F38DC86DD}">
      <dgm:prSet/>
      <dgm:spPr/>
      <dgm:t>
        <a:bodyPr/>
        <a:lstStyle/>
        <a:p>
          <a:endParaRPr lang="en-US"/>
        </a:p>
      </dgm:t>
    </dgm:pt>
    <dgm:pt modelId="{253BE9B7-CBA0-431A-91E7-CCEC651E9D90}" type="sibTrans" cxnId="{C6F79A44-A548-42F7-AD03-7D1F38DC86DD}">
      <dgm:prSet/>
      <dgm:spPr/>
      <dgm:t>
        <a:bodyPr/>
        <a:lstStyle/>
        <a:p>
          <a:endParaRPr lang="en-US"/>
        </a:p>
      </dgm:t>
    </dgm:pt>
    <dgm:pt modelId="{1D2EC5C5-3DE6-43D9-BAB7-B230ED89E43A}">
      <dgm:prSet/>
      <dgm:spPr/>
      <dgm:t>
        <a:bodyPr/>
        <a:lstStyle/>
        <a:p>
          <a:pPr rtl="0"/>
          <a:r>
            <a:rPr lang="en-US" b="1" smtClean="0"/>
            <a:t>Deeper: </a:t>
          </a:r>
          <a:r>
            <a:rPr lang="en-US" smtClean="0"/>
            <a:t>information is analyzed in terms of its meaning. We may see it in a wider context and draw associations between the meaning of the information and broader networks of knowledge</a:t>
          </a:r>
          <a:endParaRPr lang="en-US"/>
        </a:p>
      </dgm:t>
    </dgm:pt>
    <dgm:pt modelId="{54E86FAD-BEE2-405D-9A34-870D162BE99E}" type="parTrans" cxnId="{E73BB9E4-1069-4E9A-B1AE-D2C6A8F86A7F}">
      <dgm:prSet/>
      <dgm:spPr/>
      <dgm:t>
        <a:bodyPr/>
        <a:lstStyle/>
        <a:p>
          <a:endParaRPr lang="en-US"/>
        </a:p>
      </dgm:t>
    </dgm:pt>
    <dgm:pt modelId="{D177BC2F-CF92-4F1D-AAE7-88173080464F}" type="sibTrans" cxnId="{E73BB9E4-1069-4E9A-B1AE-D2C6A8F86A7F}">
      <dgm:prSet/>
      <dgm:spPr/>
      <dgm:t>
        <a:bodyPr/>
        <a:lstStyle/>
        <a:p>
          <a:endParaRPr lang="en-US"/>
        </a:p>
      </dgm:t>
    </dgm:pt>
    <dgm:pt modelId="{B86DE494-D576-4FD9-9D21-5C77EC6CF44F}" type="pres">
      <dgm:prSet presAssocID="{F1D6256C-F475-4213-B2E2-E602286C6CC6}" presName="Name0" presStyleCnt="0">
        <dgm:presLayoutVars>
          <dgm:resizeHandles/>
        </dgm:presLayoutVars>
      </dgm:prSet>
      <dgm:spPr/>
      <dgm:t>
        <a:bodyPr/>
        <a:lstStyle/>
        <a:p>
          <a:endParaRPr lang="en-US"/>
        </a:p>
      </dgm:t>
    </dgm:pt>
    <dgm:pt modelId="{32D7BB2D-854E-4FA2-B064-B864BFFF701D}" type="pres">
      <dgm:prSet presAssocID="{24B51C63-37E4-46BC-AA1D-A68085567308}" presName="text" presStyleLbl="node1" presStyleIdx="0" presStyleCnt="3" custScaleX="2392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ABD019-E457-4AA6-99B4-0D5D31C0DBE4}" type="pres">
      <dgm:prSet presAssocID="{D1A84A85-12FC-4185-BFCA-5CDEC481D1E5}" presName="space" presStyleCnt="0"/>
      <dgm:spPr/>
    </dgm:pt>
    <dgm:pt modelId="{9C639BDA-3AD3-4656-96B7-E043CCFE05FB}" type="pres">
      <dgm:prSet presAssocID="{D0B527EC-D451-4679-8C48-30A071D6F68C}" presName="text" presStyleLbl="node1" presStyleIdx="1" presStyleCnt="3" custScaleX="3093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F3903C-DB3D-4C0D-880E-DB7E71A65C11}" type="pres">
      <dgm:prSet presAssocID="{253BE9B7-CBA0-431A-91E7-CCEC651E9D90}" presName="space" presStyleCnt="0"/>
      <dgm:spPr/>
    </dgm:pt>
    <dgm:pt modelId="{8CFD3988-5BF4-4931-8970-8EE00BA7F9D4}" type="pres">
      <dgm:prSet presAssocID="{1D2EC5C5-3DE6-43D9-BAB7-B230ED89E43A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3BB9E4-1069-4E9A-B1AE-D2C6A8F86A7F}" srcId="{F1D6256C-F475-4213-B2E2-E602286C6CC6}" destId="{1D2EC5C5-3DE6-43D9-BAB7-B230ED89E43A}" srcOrd="2" destOrd="0" parTransId="{54E86FAD-BEE2-405D-9A34-870D162BE99E}" sibTransId="{D177BC2F-CF92-4F1D-AAE7-88173080464F}"/>
    <dgm:cxn modelId="{C6F79A44-A548-42F7-AD03-7D1F38DC86DD}" srcId="{F1D6256C-F475-4213-B2E2-E602286C6CC6}" destId="{D0B527EC-D451-4679-8C48-30A071D6F68C}" srcOrd="1" destOrd="0" parTransId="{86EB6294-3A2A-4878-9EFB-23F3F434E57D}" sibTransId="{253BE9B7-CBA0-431A-91E7-CCEC651E9D90}"/>
    <dgm:cxn modelId="{B5770ADF-DA74-4A31-8399-138A1098019A}" type="presOf" srcId="{24B51C63-37E4-46BC-AA1D-A68085567308}" destId="{32D7BB2D-854E-4FA2-B064-B864BFFF701D}" srcOrd="0" destOrd="0" presId="urn:diagrams.loki3.com/VaryingWidthList"/>
    <dgm:cxn modelId="{A3FA95D0-0D0E-4756-898D-DAADECBD40D8}" type="presOf" srcId="{1D2EC5C5-3DE6-43D9-BAB7-B230ED89E43A}" destId="{8CFD3988-5BF4-4931-8970-8EE00BA7F9D4}" srcOrd="0" destOrd="0" presId="urn:diagrams.loki3.com/VaryingWidthList"/>
    <dgm:cxn modelId="{E401C1C0-4E44-4724-A3C0-92E0A6F59928}" type="presOf" srcId="{D0B527EC-D451-4679-8C48-30A071D6F68C}" destId="{9C639BDA-3AD3-4656-96B7-E043CCFE05FB}" srcOrd="0" destOrd="0" presId="urn:diagrams.loki3.com/VaryingWidthList"/>
    <dgm:cxn modelId="{E679BEBA-EDF4-48BB-8454-14E27D4E6D0C}" srcId="{F1D6256C-F475-4213-B2E2-E602286C6CC6}" destId="{24B51C63-37E4-46BC-AA1D-A68085567308}" srcOrd="0" destOrd="0" parTransId="{92F85325-F503-4BD5-98DC-661F8674EA8A}" sibTransId="{D1A84A85-12FC-4185-BFCA-5CDEC481D1E5}"/>
    <dgm:cxn modelId="{A54C6241-6C4C-40F9-B9ED-C2983084D5B2}" type="presOf" srcId="{F1D6256C-F475-4213-B2E2-E602286C6CC6}" destId="{B86DE494-D576-4FD9-9D21-5C77EC6CF44F}" srcOrd="0" destOrd="0" presId="urn:diagrams.loki3.com/VaryingWidthList"/>
    <dgm:cxn modelId="{3D2BC257-7F7D-4548-A828-C8EEE9CF72C6}" type="presParOf" srcId="{B86DE494-D576-4FD9-9D21-5C77EC6CF44F}" destId="{32D7BB2D-854E-4FA2-B064-B864BFFF701D}" srcOrd="0" destOrd="0" presId="urn:diagrams.loki3.com/VaryingWidthList"/>
    <dgm:cxn modelId="{FBB0A746-9A42-4019-8D95-7664DBA2BA6B}" type="presParOf" srcId="{B86DE494-D576-4FD9-9D21-5C77EC6CF44F}" destId="{95ABD019-E457-4AA6-99B4-0D5D31C0DBE4}" srcOrd="1" destOrd="0" presId="urn:diagrams.loki3.com/VaryingWidthList"/>
    <dgm:cxn modelId="{5F87BB46-59B1-48E5-B5B9-F9282B1359B5}" type="presParOf" srcId="{B86DE494-D576-4FD9-9D21-5C77EC6CF44F}" destId="{9C639BDA-3AD3-4656-96B7-E043CCFE05FB}" srcOrd="2" destOrd="0" presId="urn:diagrams.loki3.com/VaryingWidthList"/>
    <dgm:cxn modelId="{7F5DAB1B-8EC3-43D2-BA4F-102485C20C2E}" type="presParOf" srcId="{B86DE494-D576-4FD9-9D21-5C77EC6CF44F}" destId="{CFF3903C-DB3D-4C0D-880E-DB7E71A65C11}" srcOrd="3" destOrd="0" presId="urn:diagrams.loki3.com/VaryingWidthList"/>
    <dgm:cxn modelId="{847F5BBA-13FF-43FF-8685-F3F33D9A0C0F}" type="presParOf" srcId="{B86DE494-D576-4FD9-9D21-5C77EC6CF44F}" destId="{8CFD3988-5BF4-4931-8970-8EE00BA7F9D4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7BB2D-854E-4FA2-B064-B864BFFF701D}">
      <dsp:nvSpPr>
        <dsp:cNvPr id="0" name=""/>
        <dsp:cNvSpPr/>
      </dsp:nvSpPr>
      <dsp:spPr>
        <a:xfrm>
          <a:off x="96424" y="1514"/>
          <a:ext cx="7536879" cy="99966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deeper the processing of information, the longer it stays in memory </a:t>
          </a:r>
          <a:endParaRPr lang="en-US" sz="2200" kern="1200" dirty="0"/>
        </a:p>
      </dsp:txBody>
      <dsp:txXfrm>
        <a:off x="96424" y="1514"/>
        <a:ext cx="7536879" cy="999662"/>
      </dsp:txXfrm>
    </dsp:sp>
    <dsp:sp modelId="{9C639BDA-3AD3-4656-96B7-E043CCFE05FB}">
      <dsp:nvSpPr>
        <dsp:cNvPr id="0" name=""/>
        <dsp:cNvSpPr/>
      </dsp:nvSpPr>
      <dsp:spPr>
        <a:xfrm>
          <a:off x="105666" y="1051160"/>
          <a:ext cx="7518395" cy="99966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Shallow; </a:t>
          </a:r>
          <a:r>
            <a:rPr lang="en-US" sz="2200" kern="1200" dirty="0" smtClean="0"/>
            <a:t>only sensory information is payed attention </a:t>
          </a:r>
          <a:endParaRPr lang="en-US" sz="2200" kern="1200" dirty="0"/>
        </a:p>
      </dsp:txBody>
      <dsp:txXfrm>
        <a:off x="105666" y="1051160"/>
        <a:ext cx="7518395" cy="999662"/>
      </dsp:txXfrm>
    </dsp:sp>
    <dsp:sp modelId="{8CFD3988-5BF4-4931-8970-8EE00BA7F9D4}">
      <dsp:nvSpPr>
        <dsp:cNvPr id="0" name=""/>
        <dsp:cNvSpPr/>
      </dsp:nvSpPr>
      <dsp:spPr>
        <a:xfrm>
          <a:off x="84863" y="2100805"/>
          <a:ext cx="7560000" cy="99966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0000"/>
                <a:satMod val="107000"/>
                <a:lumMod val="10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2000"/>
                <a:satMod val="109000"/>
                <a:lumMod val="103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smtClean="0"/>
            <a:t>Deeper: </a:t>
          </a:r>
          <a:r>
            <a:rPr lang="en-US" sz="2200" kern="1200" smtClean="0"/>
            <a:t>information is analyzed in terms of its meaning. We may see it in a wider context and draw associations between the meaning of the information and broader networks of knowledge</a:t>
          </a:r>
          <a:endParaRPr lang="en-US" sz="2200" kern="1200"/>
        </a:p>
      </dsp:txBody>
      <dsp:txXfrm>
        <a:off x="84863" y="2100805"/>
        <a:ext cx="7560000" cy="999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39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7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350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35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45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67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6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9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38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A9EF971-DDDE-47D3-9415-CCF7B6833222}" type="datetimeFigureOut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327129E-15D7-46AD-8341-C236121136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33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1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memory?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Psychologists </a:t>
            </a:r>
            <a:r>
              <a:rPr lang="en-US" dirty="0"/>
              <a:t>consider memory to be </a:t>
            </a:r>
            <a:r>
              <a:rPr lang="en-US" dirty="0">
                <a:solidFill>
                  <a:srgbClr val="FF0000"/>
                </a:solidFill>
              </a:rPr>
              <a:t>the process by which we encode, </a:t>
            </a:r>
            <a:r>
              <a:rPr lang="en-US" dirty="0" smtClean="0">
                <a:solidFill>
                  <a:srgbClr val="FF0000"/>
                </a:solidFill>
              </a:rPr>
              <a:t>store, and </a:t>
            </a:r>
            <a:r>
              <a:rPr lang="en-US" dirty="0">
                <a:solidFill>
                  <a:srgbClr val="FF0000"/>
                </a:solidFill>
              </a:rPr>
              <a:t>retrieve </a:t>
            </a:r>
            <a:r>
              <a:rPr lang="en-US" dirty="0" smtClean="0">
                <a:solidFill>
                  <a:srgbClr val="FF0000"/>
                </a:solidFill>
              </a:rPr>
              <a:t>information. </a:t>
            </a:r>
          </a:p>
          <a:p>
            <a:r>
              <a:rPr lang="en-US" dirty="0" smtClean="0"/>
              <a:t>Each </a:t>
            </a:r>
            <a:r>
              <a:rPr lang="en-US" dirty="0"/>
              <a:t>of the three parts of this </a:t>
            </a:r>
            <a:r>
              <a:rPr lang="en-US" dirty="0" smtClean="0"/>
              <a:t>definition—encoding, storage</a:t>
            </a:r>
            <a:r>
              <a:rPr lang="en-US" dirty="0"/>
              <a:t>, and retrieval—represents a different process.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think of these processes </a:t>
            </a:r>
            <a:r>
              <a:rPr lang="en-US" dirty="0" smtClean="0"/>
              <a:t>as being </a:t>
            </a:r>
            <a:r>
              <a:rPr lang="en-US" dirty="0"/>
              <a:t>analogous to a computer’s keyboard (encoding), hard drive (storage), and </a:t>
            </a:r>
            <a:r>
              <a:rPr lang="en-US" dirty="0" smtClean="0"/>
              <a:t>software that </a:t>
            </a:r>
            <a:r>
              <a:rPr lang="en-US" dirty="0"/>
              <a:t>accesses the information for display on the screen (retrieval).</a:t>
            </a:r>
          </a:p>
        </p:txBody>
      </p:sp>
    </p:spTree>
    <p:extLst>
      <p:ext uri="{BB962C8B-B14F-4D97-AF65-F5344CB8AC3E}">
        <p14:creationId xmlns:p14="http://schemas.microsoft.com/office/powerpoint/2010/main" val="148973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105" y="2438400"/>
            <a:ext cx="8053790" cy="2855096"/>
          </a:xfrm>
        </p:spPr>
      </p:pic>
    </p:spTree>
    <p:extLst>
      <p:ext uri="{BB962C8B-B14F-4D97-AF65-F5344CB8AC3E}">
        <p14:creationId xmlns:p14="http://schemas.microsoft.com/office/powerpoint/2010/main" val="876850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three-system approach to memory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82" y="2863031"/>
            <a:ext cx="8441552" cy="2992823"/>
          </a:xfrm>
        </p:spPr>
      </p:pic>
    </p:spTree>
    <p:extLst>
      <p:ext uri="{BB962C8B-B14F-4D97-AF65-F5344CB8AC3E}">
        <p14:creationId xmlns:p14="http://schemas.microsoft.com/office/powerpoint/2010/main" val="400235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Sensory memory </a:t>
            </a:r>
            <a:r>
              <a:rPr lang="en-US" dirty="0"/>
              <a:t>refers to the initial, </a:t>
            </a:r>
            <a:r>
              <a:rPr lang="en-US" dirty="0" smtClean="0"/>
              <a:t>momentary storage </a:t>
            </a:r>
            <a:r>
              <a:rPr lang="en-US" dirty="0"/>
              <a:t>of information that lasts only an instant. Here an exact replica of the </a:t>
            </a:r>
            <a:r>
              <a:rPr lang="en-US" dirty="0" smtClean="0"/>
              <a:t>stimulus recorded </a:t>
            </a:r>
            <a:r>
              <a:rPr lang="en-US" dirty="0"/>
              <a:t>by a person’s sensory system is stored very </a:t>
            </a:r>
            <a:r>
              <a:rPr lang="en-US" dirty="0" smtClean="0"/>
              <a:t>briefly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 second stage, </a:t>
            </a:r>
            <a:r>
              <a:rPr lang="en-US" dirty="0" smtClean="0">
                <a:solidFill>
                  <a:srgbClr val="FF0000"/>
                </a:solidFill>
              </a:rPr>
              <a:t>short-term memory </a:t>
            </a:r>
            <a:r>
              <a:rPr lang="en-US" dirty="0"/>
              <a:t>holds information for 15 to 25 seconds and stores it according to </a:t>
            </a:r>
            <a:r>
              <a:rPr lang="en-US" dirty="0" smtClean="0"/>
              <a:t>its meaning </a:t>
            </a:r>
            <a:r>
              <a:rPr lang="en-US" dirty="0"/>
              <a:t>rather than as mere sensory stimulation.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third type of storage system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FF0000"/>
                </a:solidFill>
              </a:rPr>
              <a:t>long-term memory</a:t>
            </a:r>
            <a:r>
              <a:rPr lang="en-US" dirty="0" smtClean="0"/>
              <a:t>. </a:t>
            </a:r>
            <a:r>
              <a:rPr lang="en-US" dirty="0"/>
              <a:t>Information is stored in long-term memory on a relatively </a:t>
            </a:r>
            <a:r>
              <a:rPr lang="en-US" dirty="0" smtClean="0"/>
              <a:t>permanent basis</a:t>
            </a:r>
            <a:r>
              <a:rPr lang="en-US" dirty="0"/>
              <a:t>, although it may be </a:t>
            </a:r>
            <a:r>
              <a:rPr lang="en-US" dirty="0" smtClean="0"/>
              <a:t>difficult </a:t>
            </a:r>
            <a:r>
              <a:rPr lang="en-US" dirty="0"/>
              <a:t>to retrieve.</a:t>
            </a:r>
          </a:p>
        </p:txBody>
      </p:sp>
    </p:spTree>
    <p:extLst>
      <p:ext uri="{BB962C8B-B14F-4D97-AF65-F5344CB8AC3E}">
        <p14:creationId xmlns:p14="http://schemas.microsoft.com/office/powerpoint/2010/main" val="350055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Sensory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momentary </a:t>
            </a:r>
            <a:r>
              <a:rPr lang="en-US" dirty="0" smtClean="0"/>
              <a:t>flash </a:t>
            </a:r>
            <a:r>
              <a:rPr lang="en-US" dirty="0"/>
              <a:t>of lightning,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sound of a twig snapping,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the sting of </a:t>
            </a:r>
            <a:r>
              <a:rPr lang="en-US" dirty="0" smtClean="0"/>
              <a:t>a pin-prick </a:t>
            </a:r>
          </a:p>
          <a:p>
            <a:r>
              <a:rPr lang="en-US" dirty="0" smtClean="0"/>
              <a:t>These all </a:t>
            </a:r>
            <a:r>
              <a:rPr lang="en-US" dirty="0"/>
              <a:t>represent stimulation of exceedingly brief duration, but they may </a:t>
            </a:r>
            <a:r>
              <a:rPr lang="en-US" dirty="0" smtClean="0"/>
              <a:t>nonetheless provide </a:t>
            </a:r>
            <a:r>
              <a:rPr lang="en-US" dirty="0"/>
              <a:t>important information that can require a response. </a:t>
            </a:r>
            <a:endParaRPr lang="en-US" dirty="0" smtClean="0"/>
          </a:p>
          <a:p>
            <a:r>
              <a:rPr lang="en-US" dirty="0" smtClean="0"/>
              <a:t>Such </a:t>
            </a:r>
            <a:r>
              <a:rPr lang="en-US" dirty="0"/>
              <a:t>stimuli </a:t>
            </a:r>
            <a:r>
              <a:rPr lang="en-US" dirty="0" smtClean="0"/>
              <a:t>are initially—and </a:t>
            </a:r>
            <a:r>
              <a:rPr lang="en-US" dirty="0" smtClean="0">
                <a:solidFill>
                  <a:srgbClr val="FF0000"/>
                </a:solidFill>
              </a:rPr>
              <a:t>fleetingly</a:t>
            </a:r>
            <a:r>
              <a:rPr lang="en-US" dirty="0" smtClean="0"/>
              <a:t>—stored </a:t>
            </a:r>
            <a:r>
              <a:rPr lang="en-US" dirty="0"/>
              <a:t>in sensory memory, the </a:t>
            </a:r>
            <a:r>
              <a:rPr lang="en-US" dirty="0" smtClean="0"/>
              <a:t>first </a:t>
            </a:r>
            <a:r>
              <a:rPr lang="en-US" dirty="0"/>
              <a:t>repository of the </a:t>
            </a:r>
            <a:r>
              <a:rPr lang="en-US" dirty="0" smtClean="0"/>
              <a:t>information the </a:t>
            </a:r>
            <a:r>
              <a:rPr lang="en-US" dirty="0"/>
              <a:t>world presents to us.</a:t>
            </a:r>
          </a:p>
        </p:txBody>
      </p:sp>
    </p:spTree>
    <p:extLst>
      <p:ext uri="{BB962C8B-B14F-4D97-AF65-F5344CB8AC3E}">
        <p14:creationId xmlns:p14="http://schemas.microsoft.com/office/powerpoint/2010/main" val="104388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954" y="2711935"/>
            <a:ext cx="4215846" cy="3101983"/>
          </a:xfrm>
        </p:spPr>
        <p:txBody>
          <a:bodyPr/>
          <a:lstStyle/>
          <a:p>
            <a:r>
              <a:rPr lang="en-US" dirty="0"/>
              <a:t>Sensory memory can store information for only a very short time. </a:t>
            </a:r>
            <a:endParaRPr lang="en-US" dirty="0" smtClean="0"/>
          </a:p>
          <a:p>
            <a:r>
              <a:rPr lang="en-US" dirty="0" smtClean="0"/>
              <a:t>If information does </a:t>
            </a:r>
            <a:r>
              <a:rPr lang="en-US" dirty="0"/>
              <a:t>not pass into short-term memory, it is lost for good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Despite </a:t>
            </a:r>
            <a:r>
              <a:rPr lang="en-US" dirty="0"/>
              <a:t>the brief duration of sensory memory, its precision </a:t>
            </a:r>
            <a:r>
              <a:rPr lang="en-US" dirty="0" smtClean="0"/>
              <a:t>is high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Sensory </a:t>
            </a:r>
            <a:r>
              <a:rPr lang="en-US" dirty="0">
                <a:solidFill>
                  <a:srgbClr val="FF0000"/>
                </a:solidFill>
              </a:rPr>
              <a:t>memory can store an almost exact replica of each stimulus to </a:t>
            </a:r>
            <a:r>
              <a:rPr lang="en-US" dirty="0" smtClean="0">
                <a:solidFill>
                  <a:srgbClr val="FF0000"/>
                </a:solidFill>
              </a:rPr>
              <a:t>which it </a:t>
            </a:r>
            <a:r>
              <a:rPr lang="en-US" dirty="0">
                <a:solidFill>
                  <a:srgbClr val="FF0000"/>
                </a:solidFill>
              </a:rPr>
              <a:t>is exposed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871" y="2318326"/>
            <a:ext cx="3994608" cy="418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11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64" y="964691"/>
            <a:ext cx="7894358" cy="3357927"/>
          </a:xfrm>
        </p:spPr>
      </p:pic>
    </p:spTree>
    <p:extLst>
      <p:ext uri="{BB962C8B-B14F-4D97-AF65-F5344CB8AC3E}">
        <p14:creationId xmlns:p14="http://schemas.microsoft.com/office/powerpoint/2010/main" val="395596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possible, then, that the information had </a:t>
            </a:r>
            <a:r>
              <a:rPr lang="en-US" dirty="0" smtClean="0"/>
              <a:t>initially been </a:t>
            </a:r>
            <a:r>
              <a:rPr lang="en-US" dirty="0"/>
              <a:t>accurately stored in sensory memory. </a:t>
            </a:r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during the time it took to </a:t>
            </a:r>
            <a:r>
              <a:rPr lang="en-US" dirty="0" smtClean="0"/>
              <a:t>verbalize the first </a:t>
            </a:r>
            <a:r>
              <a:rPr lang="en-US" dirty="0"/>
              <a:t>four or </a:t>
            </a:r>
            <a:r>
              <a:rPr lang="en-US" dirty="0" smtClean="0"/>
              <a:t>five </a:t>
            </a:r>
            <a:r>
              <a:rPr lang="en-US" dirty="0"/>
              <a:t>letters, the memory of the other letters faded.</a:t>
            </a:r>
          </a:p>
        </p:txBody>
      </p:sp>
    </p:spTree>
    <p:extLst>
      <p:ext uri="{BB962C8B-B14F-4D97-AF65-F5344CB8AC3E}">
        <p14:creationId xmlns:p14="http://schemas.microsoft.com/office/powerpoint/2010/main" val="351956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Sensory </a:t>
            </a:r>
            <a:r>
              <a:rPr lang="en-US" dirty="0"/>
              <a:t>memory operates as a kind of snapshot that stores </a:t>
            </a:r>
            <a:r>
              <a:rPr lang="en-US" dirty="0" smtClean="0"/>
              <a:t>information— which </a:t>
            </a:r>
            <a:r>
              <a:rPr lang="en-US" dirty="0"/>
              <a:t>may be of a visual, auditory, or other sensory nature—for a brief moment </a:t>
            </a:r>
            <a:r>
              <a:rPr lang="en-US" dirty="0" smtClean="0"/>
              <a:t>in time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it is as if each snapshot, immediately after being taken, is destroyed </a:t>
            </a:r>
            <a:r>
              <a:rPr lang="en-US" dirty="0" smtClean="0"/>
              <a:t>and replaced </a:t>
            </a:r>
            <a:r>
              <a:rPr lang="en-US" dirty="0"/>
              <a:t>with a new one. </a:t>
            </a:r>
            <a:endParaRPr lang="en-US" dirty="0" smtClean="0"/>
          </a:p>
          <a:p>
            <a:r>
              <a:rPr lang="en-US" dirty="0" smtClean="0"/>
              <a:t>Unless </a:t>
            </a:r>
            <a:r>
              <a:rPr lang="en-US" dirty="0"/>
              <a:t>the information in the snapshot is transferred to </a:t>
            </a:r>
            <a:r>
              <a:rPr lang="en-US" dirty="0" smtClean="0"/>
              <a:t>some other </a:t>
            </a:r>
            <a:r>
              <a:rPr lang="en-US" dirty="0"/>
              <a:t>type of memory, it is lost.</a:t>
            </a:r>
          </a:p>
        </p:txBody>
      </p:sp>
    </p:spTree>
    <p:extLst>
      <p:ext uri="{BB962C8B-B14F-4D97-AF65-F5344CB8AC3E}">
        <p14:creationId xmlns:p14="http://schemas.microsoft.com/office/powerpoint/2010/main" val="34030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term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Short-term memory is the memory store in which </a:t>
            </a:r>
            <a:r>
              <a:rPr lang="en-US" dirty="0" smtClean="0"/>
              <a:t>information first </a:t>
            </a:r>
            <a:r>
              <a:rPr lang="en-US" dirty="0"/>
              <a:t>has meaning, although the maximum length of retention there is </a:t>
            </a:r>
            <a:r>
              <a:rPr lang="en-US" dirty="0" smtClean="0"/>
              <a:t>relatively short </a:t>
            </a:r>
            <a:r>
              <a:rPr lang="en-US" dirty="0"/>
              <a:t>(Hamilton &amp; Martin, 2007</a:t>
            </a:r>
            <a:r>
              <a:rPr lang="en-US" dirty="0" smtClean="0"/>
              <a:t>).</a:t>
            </a:r>
          </a:p>
          <a:p>
            <a:r>
              <a:rPr lang="en-US" dirty="0"/>
              <a:t>Because the information that is stored </a:t>
            </a:r>
            <a:r>
              <a:rPr lang="en-US" dirty="0" smtClean="0"/>
              <a:t>briefly </a:t>
            </a:r>
            <a:r>
              <a:rPr lang="en-US" dirty="0"/>
              <a:t>in sensory memory consists of </a:t>
            </a:r>
            <a:r>
              <a:rPr lang="en-US" dirty="0" smtClean="0"/>
              <a:t>representations of </a:t>
            </a:r>
            <a:r>
              <a:rPr lang="en-US" dirty="0"/>
              <a:t>raw sensory stimuli, it is not meaningful to us.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we are to make sense </a:t>
            </a:r>
            <a:r>
              <a:rPr lang="en-US" dirty="0" smtClean="0"/>
              <a:t>of it </a:t>
            </a:r>
            <a:r>
              <a:rPr lang="en-US" dirty="0"/>
              <a:t>and possibly retain it, the information must be transferred to the next stage </a:t>
            </a:r>
            <a:r>
              <a:rPr lang="en-US" dirty="0" smtClean="0"/>
              <a:t>of memory</a:t>
            </a:r>
            <a:r>
              <a:rPr lang="en-US" dirty="0"/>
              <a:t>: short-term memory.</a:t>
            </a:r>
          </a:p>
        </p:txBody>
      </p:sp>
    </p:spTree>
    <p:extLst>
      <p:ext uri="{BB962C8B-B14F-4D97-AF65-F5344CB8AC3E}">
        <p14:creationId xmlns:p14="http://schemas.microsoft.com/office/powerpoint/2010/main" val="120281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Unlike </a:t>
            </a:r>
            <a:r>
              <a:rPr lang="en-US" dirty="0"/>
              <a:t>sensory memory, which holds a relatively full </a:t>
            </a:r>
            <a:r>
              <a:rPr lang="en-US" dirty="0" smtClean="0"/>
              <a:t>and detailed—if </a:t>
            </a:r>
            <a:r>
              <a:rPr lang="en-US" dirty="0"/>
              <a:t>short-lived—representation of the world, short-term memory has </a:t>
            </a:r>
            <a:r>
              <a:rPr lang="en-US" dirty="0" smtClean="0"/>
              <a:t>incomplete representational </a:t>
            </a:r>
            <a:r>
              <a:rPr lang="en-US" dirty="0"/>
              <a:t>capabilities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 fact, the </a:t>
            </a:r>
            <a:r>
              <a:rPr lang="en-US" dirty="0" smtClean="0"/>
              <a:t>specific </a:t>
            </a:r>
            <a:r>
              <a:rPr lang="en-US" dirty="0"/>
              <a:t>amount of information that can be held in short-term </a:t>
            </a:r>
            <a:r>
              <a:rPr lang="en-US" dirty="0" smtClean="0"/>
              <a:t>memory has </a:t>
            </a:r>
            <a:r>
              <a:rPr lang="en-US" dirty="0"/>
              <a:t>been </a:t>
            </a:r>
            <a:r>
              <a:rPr lang="en-US" dirty="0" smtClean="0"/>
              <a:t>identified </a:t>
            </a:r>
            <a:r>
              <a:rPr lang="en-US" dirty="0"/>
              <a:t>as seven items, or “chunks,” of information, with variations up </a:t>
            </a:r>
            <a:r>
              <a:rPr lang="en-US" dirty="0" smtClean="0"/>
              <a:t>to plus </a:t>
            </a:r>
            <a:r>
              <a:rPr lang="en-US" dirty="0"/>
              <a:t>or minus two chunks.</a:t>
            </a:r>
          </a:p>
        </p:txBody>
      </p:sp>
    </p:spTree>
    <p:extLst>
      <p:ext uri="{BB962C8B-B14F-4D97-AF65-F5344CB8AC3E}">
        <p14:creationId xmlns:p14="http://schemas.microsoft.com/office/powerpoint/2010/main" val="22120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chunk is a grouping of information that can be </a:t>
            </a:r>
            <a:r>
              <a:rPr lang="en-US" dirty="0" smtClean="0"/>
              <a:t>stored in </a:t>
            </a:r>
            <a:r>
              <a:rPr lang="en-US" dirty="0"/>
              <a:t>short-term memory.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a chunk can be a group of seven individual </a:t>
            </a:r>
            <a:r>
              <a:rPr lang="en-US" dirty="0" smtClean="0"/>
              <a:t>letters or </a:t>
            </a:r>
            <a:r>
              <a:rPr lang="en-US" dirty="0"/>
              <a:t>numbers, permitting us to hold a seven-digit phone number (such as 226-4610) </a:t>
            </a:r>
            <a:r>
              <a:rPr lang="en-US" dirty="0" smtClean="0"/>
              <a:t>in short-term </a:t>
            </a:r>
            <a:r>
              <a:rPr lang="en-US" dirty="0"/>
              <a:t>memory.</a:t>
            </a:r>
          </a:p>
          <a:p>
            <a:r>
              <a:rPr lang="en-US" dirty="0"/>
              <a:t>But a chunk also may consist of larger categories, such as words or other </a:t>
            </a:r>
            <a:r>
              <a:rPr lang="en-US" dirty="0" smtClean="0"/>
              <a:t>meaningful units</a:t>
            </a:r>
            <a:r>
              <a:rPr lang="en-US" dirty="0"/>
              <a:t>. For example, consider the following list of 21 letters:</a:t>
            </a:r>
          </a:p>
          <a:p>
            <a:pPr algn="ctr">
              <a:lnSpc>
                <a:spcPct val="200000"/>
              </a:lnSpc>
            </a:pPr>
            <a:r>
              <a:rPr lang="en-US" spc="300" dirty="0"/>
              <a:t>P B S F O X C N </a:t>
            </a:r>
            <a:r>
              <a:rPr lang="en-US" spc="300" dirty="0" err="1"/>
              <a:t>N</a:t>
            </a:r>
            <a:r>
              <a:rPr lang="en-US" spc="300" dirty="0"/>
              <a:t> A B C </a:t>
            </a:r>
            <a:r>
              <a:rPr lang="en-US" spc="300" dirty="0" err="1"/>
              <a:t>C</a:t>
            </a:r>
            <a:r>
              <a:rPr lang="en-US" spc="300" dirty="0"/>
              <a:t> B S M T V N B </a:t>
            </a:r>
            <a:r>
              <a:rPr lang="en-US" spc="300" dirty="0" smtClean="0"/>
              <a:t>C</a:t>
            </a:r>
            <a:endParaRPr lang="en-US" spc="300" dirty="0"/>
          </a:p>
        </p:txBody>
      </p:sp>
    </p:spTree>
    <p:extLst>
      <p:ext uri="{BB962C8B-B14F-4D97-AF65-F5344CB8AC3E}">
        <p14:creationId xmlns:p14="http://schemas.microsoft.com/office/powerpoint/2010/main" val="315124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the list of individual letters exceeds seven items, it is </a:t>
            </a:r>
            <a:r>
              <a:rPr lang="en-US" dirty="0" smtClean="0"/>
              <a:t>difficult </a:t>
            </a:r>
            <a:r>
              <a:rPr lang="en-US" dirty="0"/>
              <a:t>to recall </a:t>
            </a:r>
            <a:r>
              <a:rPr lang="en-US" dirty="0" smtClean="0"/>
              <a:t>the letters </a:t>
            </a:r>
            <a:r>
              <a:rPr lang="en-US" dirty="0"/>
              <a:t>after one exposure. But suppose they were presented as follows:</a:t>
            </a:r>
          </a:p>
          <a:p>
            <a:pPr algn="ctr">
              <a:lnSpc>
                <a:spcPct val="250000"/>
              </a:lnSpc>
            </a:pPr>
            <a:r>
              <a:rPr lang="en-US" spc="600" dirty="0"/>
              <a:t>PBS FOX CNN ABC CBS MTV </a:t>
            </a:r>
            <a:r>
              <a:rPr lang="en-US" spc="600" dirty="0" smtClean="0"/>
              <a:t>NBC</a:t>
            </a:r>
          </a:p>
          <a:p>
            <a:pPr marL="0" indent="0" algn="ctr">
              <a:buNone/>
            </a:pPr>
            <a:endParaRPr lang="en-US" spc="600" dirty="0"/>
          </a:p>
          <a:p>
            <a:r>
              <a:rPr lang="en-US" dirty="0"/>
              <a:t>In this case, even though there are still 21 letters, you’d be able to store them </a:t>
            </a:r>
            <a:r>
              <a:rPr lang="en-US" dirty="0" smtClean="0"/>
              <a:t>in short-term </a:t>
            </a:r>
            <a:r>
              <a:rPr lang="en-US" dirty="0"/>
              <a:t>memory since they represent only seven chunks.</a:t>
            </a:r>
            <a:endParaRPr lang="en-US" spc="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4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When does the information go to long term memory?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4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rehearsal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transfer of material from short- to long-term memory </a:t>
            </a:r>
            <a:r>
              <a:rPr lang="en-US" dirty="0" smtClean="0">
                <a:solidFill>
                  <a:srgbClr val="FF0000"/>
                </a:solidFill>
              </a:rPr>
              <a:t>proceeds largely </a:t>
            </a:r>
            <a:r>
              <a:rPr lang="en-US" dirty="0">
                <a:solidFill>
                  <a:srgbClr val="FF0000"/>
                </a:solidFill>
              </a:rPr>
              <a:t>on the basis of rehearsal </a:t>
            </a:r>
            <a:r>
              <a:rPr lang="en-US" dirty="0"/>
              <a:t>, </a:t>
            </a:r>
            <a:r>
              <a:rPr lang="en-US" u="sng" dirty="0"/>
              <a:t>the repetition of </a:t>
            </a:r>
            <a:r>
              <a:rPr lang="en-US" u="sng" dirty="0" smtClean="0"/>
              <a:t>information </a:t>
            </a:r>
            <a:r>
              <a:rPr lang="en-US" dirty="0" smtClean="0"/>
              <a:t>that has entered short-term memory.</a:t>
            </a:r>
          </a:p>
          <a:p>
            <a:r>
              <a:rPr lang="en-US" dirty="0" smtClean="0"/>
              <a:t>Rehearsal accomplishes </a:t>
            </a:r>
            <a:r>
              <a:rPr lang="en-US" dirty="0"/>
              <a:t>two things.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First</a:t>
            </a:r>
            <a:r>
              <a:rPr lang="en-US" dirty="0"/>
              <a:t>, as long as the information </a:t>
            </a:r>
            <a:r>
              <a:rPr lang="en-US" dirty="0" smtClean="0"/>
              <a:t>is repeated</a:t>
            </a:r>
            <a:r>
              <a:rPr lang="en-US" dirty="0"/>
              <a:t>, it is maintained in short-term memory.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More important, however</a:t>
            </a:r>
            <a:r>
              <a:rPr lang="en-US" dirty="0"/>
              <a:t>, rehearsal allows us to transfer the </a:t>
            </a:r>
            <a:r>
              <a:rPr lang="en-US" dirty="0" smtClean="0"/>
              <a:t>information into </a:t>
            </a:r>
            <a:r>
              <a:rPr lang="en-US" dirty="0"/>
              <a:t>long-term memory</a:t>
            </a:r>
          </a:p>
        </p:txBody>
      </p:sp>
    </p:spTree>
    <p:extLst>
      <p:ext uri="{BB962C8B-B14F-4D97-AF65-F5344CB8AC3E}">
        <p14:creationId xmlns:p14="http://schemas.microsoft.com/office/powerpoint/2010/main" val="53881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does it go to LTM?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Whether the transfer is made from short- to </a:t>
            </a:r>
            <a:r>
              <a:rPr lang="en-US" dirty="0" smtClean="0"/>
              <a:t>long-term memory </a:t>
            </a:r>
            <a:r>
              <a:rPr lang="en-US" dirty="0"/>
              <a:t>seems to depend largely on the kind of </a:t>
            </a:r>
            <a:r>
              <a:rPr lang="en-US" dirty="0" smtClean="0"/>
              <a:t>rehearsal that </a:t>
            </a:r>
            <a:r>
              <a:rPr lang="en-US" dirty="0"/>
              <a:t>is carried out.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information is simply repeated over and over again—as </a:t>
            </a:r>
            <a:r>
              <a:rPr lang="en-US" dirty="0" smtClean="0"/>
              <a:t>we might </a:t>
            </a:r>
            <a:r>
              <a:rPr lang="en-US" dirty="0"/>
              <a:t>do with a telephone number someone tells us as we rush to store it in </a:t>
            </a:r>
            <a:r>
              <a:rPr lang="en-US" dirty="0" smtClean="0"/>
              <a:t>our phone—it </a:t>
            </a:r>
            <a:r>
              <a:rPr lang="en-US" dirty="0"/>
              <a:t>is kept current in short-term memory, but it will not necessarily be </a:t>
            </a:r>
            <a:r>
              <a:rPr lang="en-US" dirty="0" smtClean="0"/>
              <a:t>placed in </a:t>
            </a:r>
            <a:r>
              <a:rPr lang="en-US" dirty="0"/>
              <a:t>long-term memory. </a:t>
            </a:r>
            <a:endParaRPr lang="en-US" dirty="0" smtClean="0"/>
          </a:p>
          <a:p>
            <a:r>
              <a:rPr lang="en-US" dirty="0" smtClean="0"/>
              <a:t>Instead</a:t>
            </a:r>
            <a:r>
              <a:rPr lang="en-US" dirty="0"/>
              <a:t>, as soon as we stop punching in the phone </a:t>
            </a:r>
            <a:r>
              <a:rPr lang="en-US" dirty="0" smtClean="0"/>
              <a:t>numbers, the </a:t>
            </a:r>
            <a:r>
              <a:rPr lang="en-US" dirty="0"/>
              <a:t>number is likely to be replaced by other information and will be </a:t>
            </a:r>
            <a:r>
              <a:rPr lang="en-US" dirty="0" smtClean="0"/>
              <a:t>completely forgotten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649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Elaborative rehearsal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contrast, if the information in short-term memory is rehearsed using a </a:t>
            </a:r>
            <a:r>
              <a:rPr lang="en-US" dirty="0" smtClean="0"/>
              <a:t>process called </a:t>
            </a:r>
            <a:r>
              <a:rPr lang="en-US" dirty="0"/>
              <a:t>elaborative rehearsal, it is much more likely to be transferred into </a:t>
            </a:r>
            <a:r>
              <a:rPr lang="en-US" dirty="0" smtClean="0"/>
              <a:t>long-term memory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Elaborative </a:t>
            </a:r>
            <a:r>
              <a:rPr lang="en-US" dirty="0"/>
              <a:t>rehearsal occurs when the information is considered and </a:t>
            </a:r>
            <a:r>
              <a:rPr lang="en-US" dirty="0" smtClean="0"/>
              <a:t>organized in </a:t>
            </a:r>
            <a:r>
              <a:rPr lang="en-US" dirty="0"/>
              <a:t>some fashion.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organization might include expanding the </a:t>
            </a:r>
            <a:r>
              <a:rPr lang="en-US" dirty="0" smtClean="0"/>
              <a:t>information to </a:t>
            </a:r>
            <a:r>
              <a:rPr lang="en-US" dirty="0"/>
              <a:t>make it fi t into a logical framework, linking it to another memory, turning </a:t>
            </a:r>
            <a:r>
              <a:rPr lang="en-US" dirty="0" smtClean="0"/>
              <a:t>it into </a:t>
            </a:r>
            <a:r>
              <a:rPr lang="en-US" dirty="0"/>
              <a:t>an image, or transforming it in some other way.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For </a:t>
            </a:r>
            <a:r>
              <a:rPr lang="en-US" dirty="0">
                <a:solidFill>
                  <a:srgbClr val="FF0000"/>
                </a:solidFill>
              </a:rPr>
              <a:t>example</a:t>
            </a:r>
            <a:r>
              <a:rPr lang="en-US" dirty="0"/>
              <a:t>, a list of </a:t>
            </a:r>
            <a:r>
              <a:rPr lang="en-US" dirty="0" smtClean="0"/>
              <a:t>vegetables to </a:t>
            </a:r>
            <a:r>
              <a:rPr lang="en-US" dirty="0"/>
              <a:t>be purchased at a store could be woven together in memory as items </a:t>
            </a:r>
            <a:r>
              <a:rPr lang="en-US" dirty="0" smtClean="0"/>
              <a:t>being used </a:t>
            </a:r>
            <a:r>
              <a:rPr lang="en-US" dirty="0"/>
              <a:t>to prepare an elaborate salad, could be linked to the items bought on </a:t>
            </a:r>
            <a:r>
              <a:rPr lang="en-US" dirty="0" smtClean="0"/>
              <a:t>an earlier </a:t>
            </a:r>
            <a:r>
              <a:rPr lang="en-US" dirty="0"/>
              <a:t>shopping trip, or could be thought of in terms of the image of a farm </a:t>
            </a:r>
            <a:r>
              <a:rPr lang="en-US" dirty="0" smtClean="0"/>
              <a:t>with rows </a:t>
            </a:r>
            <a:r>
              <a:rPr lang="en-US" dirty="0"/>
              <a:t>of each item.</a:t>
            </a:r>
          </a:p>
        </p:txBody>
      </p:sp>
    </p:spTree>
    <p:extLst>
      <p:ext uri="{BB962C8B-B14F-4D97-AF65-F5344CB8AC3E}">
        <p14:creationId xmlns:p14="http://schemas.microsoft.com/office/powerpoint/2010/main" val="3504126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</a:t>
            </a:r>
            <a:r>
              <a:rPr lang="en-US" u="sng" dirty="0" smtClean="0"/>
              <a:t>system that </a:t>
            </a:r>
            <a:r>
              <a:rPr lang="en-US" u="sng" dirty="0"/>
              <a:t>holds information </a:t>
            </a:r>
            <a:r>
              <a:rPr lang="en-US" u="sng" dirty="0" smtClean="0"/>
              <a:t>temporarily while </a:t>
            </a:r>
            <a:r>
              <a:rPr lang="en-US" u="sng" dirty="0"/>
              <a:t>actively manipulating and </a:t>
            </a:r>
            <a:r>
              <a:rPr lang="en-US" u="sng" dirty="0" smtClean="0"/>
              <a:t>rehearsing that </a:t>
            </a:r>
            <a:r>
              <a:rPr lang="en-US" u="sng" dirty="0"/>
              <a:t>information</a:t>
            </a:r>
            <a:r>
              <a:rPr lang="en-US" u="sng" dirty="0" smtClean="0"/>
              <a:t>.</a:t>
            </a:r>
          </a:p>
          <a:p>
            <a:endParaRPr lang="en-US" u="sng" dirty="0"/>
          </a:p>
          <a:p>
            <a:r>
              <a:rPr lang="en-US" dirty="0" smtClean="0"/>
              <a:t>Example:</a:t>
            </a:r>
          </a:p>
          <a:p>
            <a:r>
              <a:rPr lang="en-US" dirty="0"/>
              <a:t>If you use the analogy of a computer, working memory is the </a:t>
            </a:r>
            <a:r>
              <a:rPr lang="en-US" dirty="0" smtClean="0"/>
              <a:t>processing that </a:t>
            </a:r>
            <a:r>
              <a:rPr lang="en-US" dirty="0"/>
              <a:t>occurs in an open window on your desktop, as compared with the </a:t>
            </a:r>
            <a:r>
              <a:rPr lang="en-US" dirty="0" smtClean="0"/>
              <a:t>long-term</a:t>
            </a:r>
            <a:r>
              <a:rPr lang="en-US" dirty="0"/>
              <a:t> </a:t>
            </a:r>
            <a:r>
              <a:rPr lang="en-US" dirty="0" smtClean="0"/>
              <a:t>storage </a:t>
            </a:r>
            <a:r>
              <a:rPr lang="en-US" dirty="0"/>
              <a:t>of information in the computer’s hard drive</a:t>
            </a:r>
          </a:p>
        </p:txBody>
      </p:sp>
    </p:spTree>
    <p:extLst>
      <p:ext uri="{BB962C8B-B14F-4D97-AF65-F5344CB8AC3E}">
        <p14:creationId xmlns:p14="http://schemas.microsoft.com/office/powerpoint/2010/main" val="2826944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memory permits us to keep information in an active state </a:t>
            </a:r>
            <a:r>
              <a:rPr lang="en-US" dirty="0" smtClean="0"/>
              <a:t>briefly </a:t>
            </a:r>
            <a:r>
              <a:rPr lang="en-US" dirty="0"/>
              <a:t>so </a:t>
            </a:r>
            <a:r>
              <a:rPr lang="en-US" dirty="0" smtClean="0"/>
              <a:t>that we </a:t>
            </a:r>
            <a:r>
              <a:rPr lang="en-US" dirty="0"/>
              <a:t>can do something with the information.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For </a:t>
            </a:r>
            <a:r>
              <a:rPr lang="en-US" dirty="0">
                <a:solidFill>
                  <a:srgbClr val="FF0000"/>
                </a:solidFill>
              </a:rPr>
              <a:t>instance</a:t>
            </a:r>
            <a:r>
              <a:rPr lang="en-US" dirty="0"/>
              <a:t>, we use working memory </a:t>
            </a:r>
            <a:r>
              <a:rPr lang="en-US" dirty="0" smtClean="0"/>
              <a:t>when we’re </a:t>
            </a:r>
            <a:r>
              <a:rPr lang="en-US" dirty="0"/>
              <a:t>doing a multistep arithmetic problem in our heads, storing the result of </a:t>
            </a:r>
            <a:r>
              <a:rPr lang="en-US" dirty="0" smtClean="0"/>
              <a:t>one calculation </a:t>
            </a:r>
            <a:r>
              <a:rPr lang="en-US" dirty="0"/>
              <a:t>while getting ready to move to the next stage. 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I make use of my </a:t>
            </a:r>
            <a:r>
              <a:rPr lang="en-US" dirty="0" smtClean="0"/>
              <a:t>working memory </a:t>
            </a:r>
            <a:r>
              <a:rPr lang="en-US" dirty="0"/>
              <a:t>when I </a:t>
            </a:r>
            <a:r>
              <a:rPr lang="en-US" dirty="0" smtClean="0"/>
              <a:t>figure </a:t>
            </a:r>
            <a:r>
              <a:rPr lang="en-US" dirty="0"/>
              <a:t>a 20% tip in a restaurant by </a:t>
            </a:r>
            <a:r>
              <a:rPr lang="en-US" dirty="0" smtClean="0"/>
              <a:t>first </a:t>
            </a:r>
            <a:r>
              <a:rPr lang="en-US" dirty="0"/>
              <a:t>calculating 10% of the total </a:t>
            </a:r>
            <a:r>
              <a:rPr lang="en-US" dirty="0" smtClean="0"/>
              <a:t>bill and </a:t>
            </a:r>
            <a:r>
              <a:rPr lang="en-US" dirty="0"/>
              <a:t>then doubling it.)</a:t>
            </a:r>
          </a:p>
        </p:txBody>
      </p:sp>
    </p:spTree>
    <p:extLst>
      <p:ext uri="{BB962C8B-B14F-4D97-AF65-F5344CB8AC3E}">
        <p14:creationId xmlns:p14="http://schemas.microsoft.com/office/powerpoint/2010/main" val="24250991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Although working memory aids in the recall of information, it uses a </a:t>
            </a:r>
            <a:r>
              <a:rPr lang="en-US" dirty="0" smtClean="0"/>
              <a:t>significant amount </a:t>
            </a:r>
            <a:r>
              <a:rPr lang="en-US" dirty="0"/>
              <a:t>of cognitive resources during its operation.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turn, this can make us less </a:t>
            </a:r>
            <a:r>
              <a:rPr lang="en-US" dirty="0" smtClean="0"/>
              <a:t>aware of </a:t>
            </a:r>
            <a:r>
              <a:rPr lang="en-US" dirty="0"/>
              <a:t>our surroundings—something that has implications for why it’s unsafe to use </a:t>
            </a:r>
            <a:r>
              <a:rPr lang="en-US" dirty="0" smtClean="0"/>
              <a:t>cell phones </a:t>
            </a:r>
            <a:r>
              <a:rPr lang="en-US" dirty="0"/>
              <a:t>while driving.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 phone conversation requires thinking, it will burden </a:t>
            </a:r>
            <a:r>
              <a:rPr lang="en-US" dirty="0" smtClean="0"/>
              <a:t>working memory </a:t>
            </a:r>
            <a:r>
              <a:rPr lang="en-US" dirty="0"/>
              <a:t>and leave drivers less aware of their surroundings, an obviously dangerous </a:t>
            </a:r>
            <a:r>
              <a:rPr lang="en-US" dirty="0" smtClean="0"/>
              <a:t>state of </a:t>
            </a:r>
            <a:r>
              <a:rPr lang="en-US" dirty="0"/>
              <a:t>affairs (</a:t>
            </a:r>
            <a:r>
              <a:rPr lang="en-US" dirty="0" err="1"/>
              <a:t>Sifrit</a:t>
            </a:r>
            <a:r>
              <a:rPr lang="en-US" dirty="0"/>
              <a:t>, 2006; </a:t>
            </a:r>
            <a:r>
              <a:rPr lang="en-US" dirty="0" err="1"/>
              <a:t>Strayer</a:t>
            </a:r>
            <a:r>
              <a:rPr lang="en-US" dirty="0"/>
              <a:t> &amp; </a:t>
            </a:r>
            <a:r>
              <a:rPr lang="en-US" dirty="0" err="1"/>
              <a:t>Drews</a:t>
            </a:r>
            <a:r>
              <a:rPr lang="en-US" dirty="0"/>
              <a:t>, 2007).</a:t>
            </a:r>
          </a:p>
        </p:txBody>
      </p:sp>
    </p:spTree>
    <p:extLst>
      <p:ext uri="{BB962C8B-B14F-4D97-AF65-F5344CB8AC3E}">
        <p14:creationId xmlns:p14="http://schemas.microsoft.com/office/powerpoint/2010/main" val="161332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Stress and working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Furthermore, stress can reduce the effectiveness of working memory by </a:t>
            </a:r>
            <a:r>
              <a:rPr lang="en-US" dirty="0" smtClean="0"/>
              <a:t>reducing its </a:t>
            </a:r>
            <a:r>
              <a:rPr lang="en-US" dirty="0"/>
              <a:t>capacity.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fact, one study found that students with the highest working </a:t>
            </a:r>
            <a:r>
              <a:rPr lang="en-US" dirty="0" smtClean="0"/>
              <a:t>memory capacity </a:t>
            </a:r>
            <a:r>
              <a:rPr lang="en-US" dirty="0"/>
              <a:t>and greatest math ability were the ones who were most vulnerable to </a:t>
            </a:r>
            <a:r>
              <a:rPr lang="en-US" dirty="0" smtClean="0"/>
              <a:t>pressure to </a:t>
            </a:r>
            <a:r>
              <a:rPr lang="en-US" dirty="0"/>
              <a:t>perform well. </a:t>
            </a:r>
            <a:endParaRPr lang="en-US" dirty="0" smtClean="0"/>
          </a:p>
          <a:p>
            <a:r>
              <a:rPr lang="en-US" dirty="0" smtClean="0"/>
              <a:t>Those </a:t>
            </a:r>
            <a:r>
              <a:rPr lang="en-US" dirty="0"/>
              <a:t>who should have performed best, then, were the ones </a:t>
            </a:r>
            <a:r>
              <a:rPr lang="en-US" dirty="0" smtClean="0"/>
              <a:t>most apt </a:t>
            </a:r>
            <a:r>
              <a:rPr lang="en-US" dirty="0"/>
              <a:t>to choke on the test because their working memory capacities were reduced </a:t>
            </a:r>
            <a:r>
              <a:rPr lang="en-US" dirty="0" smtClean="0"/>
              <a:t>by the </a:t>
            </a:r>
            <a:r>
              <a:rPr lang="en-US" dirty="0"/>
              <a:t>stress</a:t>
            </a:r>
          </a:p>
        </p:txBody>
      </p:sp>
    </p:spTree>
    <p:extLst>
      <p:ext uri="{BB962C8B-B14F-4D97-AF65-F5344CB8AC3E}">
        <p14:creationId xmlns:p14="http://schemas.microsoft.com/office/powerpoint/2010/main" val="3830711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 term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Material that makes its way from short-term memory to long-term memory enters </a:t>
            </a:r>
            <a:r>
              <a:rPr lang="en-US" dirty="0" smtClean="0"/>
              <a:t>a </a:t>
            </a:r>
            <a:r>
              <a:rPr lang="en-US" b="1" dirty="0" smtClean="0">
                <a:solidFill>
                  <a:srgbClr val="FF0000"/>
                </a:solidFill>
              </a:rPr>
              <a:t>storehouse </a:t>
            </a:r>
            <a:r>
              <a:rPr lang="en-US" b="1" dirty="0">
                <a:solidFill>
                  <a:srgbClr val="FF0000"/>
                </a:solidFill>
              </a:rPr>
              <a:t>of almost unlimited capacity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Like </a:t>
            </a:r>
            <a:r>
              <a:rPr lang="en-US" dirty="0"/>
              <a:t>a new </a:t>
            </a:r>
            <a:r>
              <a:rPr lang="en-US" dirty="0" smtClean="0"/>
              <a:t>file </a:t>
            </a:r>
            <a:r>
              <a:rPr lang="en-US" dirty="0"/>
              <a:t>we save on a hard drive, </a:t>
            </a:r>
            <a:r>
              <a:rPr lang="en-US" dirty="0" smtClean="0"/>
              <a:t>the information </a:t>
            </a:r>
            <a:r>
              <a:rPr lang="en-US" dirty="0"/>
              <a:t>in long-term memory is </a:t>
            </a:r>
            <a:r>
              <a:rPr lang="en-US" dirty="0" smtClean="0"/>
              <a:t>filed </a:t>
            </a:r>
            <a:r>
              <a:rPr lang="en-US" dirty="0"/>
              <a:t>and coded so that we can retrieve it </a:t>
            </a:r>
            <a:r>
              <a:rPr lang="en-US" dirty="0" smtClean="0"/>
              <a:t>when we </a:t>
            </a:r>
            <a:r>
              <a:rPr lang="en-US" dirty="0"/>
              <a:t>need it</a:t>
            </a:r>
            <a:r>
              <a:rPr lang="en-US" dirty="0" smtClean="0"/>
              <a:t>.</a:t>
            </a:r>
          </a:p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i="1" dirty="0">
                <a:solidFill>
                  <a:srgbClr val="FF0000"/>
                </a:solidFill>
              </a:rPr>
              <a:t>primacy effect </a:t>
            </a:r>
            <a:r>
              <a:rPr lang="en-US" dirty="0"/>
              <a:t>occurs, in which </a:t>
            </a:r>
            <a:r>
              <a:rPr lang="en-US" dirty="0" smtClean="0"/>
              <a:t>items presented </a:t>
            </a:r>
            <a:r>
              <a:rPr lang="en-US" dirty="0"/>
              <a:t>early in a list are remembered better.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is also a </a:t>
            </a:r>
            <a:r>
              <a:rPr lang="en-US" i="1" dirty="0" err="1">
                <a:solidFill>
                  <a:srgbClr val="FF0000"/>
                </a:solidFill>
              </a:rPr>
              <a:t>recency</a:t>
            </a:r>
            <a:r>
              <a:rPr lang="en-US" i="1" dirty="0">
                <a:solidFill>
                  <a:srgbClr val="FF0000"/>
                </a:solidFill>
              </a:rPr>
              <a:t> effect</a:t>
            </a:r>
            <a:r>
              <a:rPr lang="en-US" i="1" dirty="0"/>
              <a:t>, </a:t>
            </a:r>
            <a:r>
              <a:rPr lang="en-US" dirty="0"/>
              <a:t>in </a:t>
            </a:r>
            <a:r>
              <a:rPr lang="en-US" dirty="0" smtClean="0"/>
              <a:t>which items </a:t>
            </a:r>
            <a:r>
              <a:rPr lang="en-US" dirty="0"/>
              <a:t>presented late in a list are remembered best</a:t>
            </a:r>
          </a:p>
        </p:txBody>
      </p:sp>
    </p:spTree>
    <p:extLst>
      <p:ext uri="{BB962C8B-B14F-4D97-AF65-F5344CB8AC3E}">
        <p14:creationId xmlns:p14="http://schemas.microsoft.com/office/powerpoint/2010/main" val="632885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 term memory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major distinction within long-term memory is that between declarative </a:t>
            </a:r>
            <a:r>
              <a:rPr lang="en-US" dirty="0" smtClean="0"/>
              <a:t>memory and </a:t>
            </a:r>
            <a:r>
              <a:rPr lang="en-US" dirty="0"/>
              <a:t>procedural memory.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Declarative </a:t>
            </a:r>
            <a:r>
              <a:rPr lang="en-US" dirty="0">
                <a:solidFill>
                  <a:srgbClr val="FF0000"/>
                </a:solidFill>
              </a:rPr>
              <a:t>memory </a:t>
            </a:r>
            <a:r>
              <a:rPr lang="en-US" dirty="0"/>
              <a:t>is memory for </a:t>
            </a:r>
            <a:r>
              <a:rPr lang="en-US" dirty="0">
                <a:solidFill>
                  <a:srgbClr val="FF0000"/>
                </a:solidFill>
              </a:rPr>
              <a:t>factual </a:t>
            </a:r>
            <a:r>
              <a:rPr lang="en-US" dirty="0" smtClean="0">
                <a:solidFill>
                  <a:srgbClr val="FF0000"/>
                </a:solidFill>
              </a:rPr>
              <a:t>information</a:t>
            </a:r>
            <a:r>
              <a:rPr lang="en-US" dirty="0" smtClean="0"/>
              <a:t>: names</a:t>
            </a:r>
            <a:r>
              <a:rPr lang="en-US" dirty="0"/>
              <a:t>, faces, dates, and facts, such as “a bike has two wheels.”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contrast, </a:t>
            </a:r>
            <a:r>
              <a:rPr lang="en-US" dirty="0" smtClean="0">
                <a:solidFill>
                  <a:srgbClr val="FF0000"/>
                </a:solidFill>
              </a:rPr>
              <a:t>procedural memory </a:t>
            </a:r>
            <a:r>
              <a:rPr lang="en-US" dirty="0"/>
              <a:t>(or </a:t>
            </a:r>
            <a:r>
              <a:rPr lang="en-US" dirty="0" smtClean="0"/>
              <a:t>non-declarative </a:t>
            </a:r>
            <a:r>
              <a:rPr lang="en-US" dirty="0"/>
              <a:t>memory ) refers to memory for </a:t>
            </a:r>
            <a:r>
              <a:rPr lang="en-US" dirty="0">
                <a:solidFill>
                  <a:srgbClr val="FF0000"/>
                </a:solidFill>
              </a:rPr>
              <a:t>skills and habits</a:t>
            </a:r>
            <a:r>
              <a:rPr lang="en-US" dirty="0"/>
              <a:t>, such as </a:t>
            </a:r>
            <a:r>
              <a:rPr lang="en-US" dirty="0" smtClean="0"/>
              <a:t>how to </a:t>
            </a:r>
            <a:r>
              <a:rPr lang="en-US" dirty="0"/>
              <a:t>ride a bike or hit a baseball. 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Information </a:t>
            </a:r>
            <a:r>
              <a:rPr lang="en-US" dirty="0"/>
              <a:t>about things is stored in declarative </a:t>
            </a:r>
            <a:r>
              <a:rPr lang="en-US" dirty="0" smtClean="0"/>
              <a:t>memory;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information </a:t>
            </a:r>
            <a:r>
              <a:rPr lang="en-US" dirty="0"/>
              <a:t>about how to do things is stored in procedural memory</a:t>
            </a:r>
          </a:p>
        </p:txBody>
      </p:sp>
    </p:spTree>
    <p:extLst>
      <p:ext uri="{BB962C8B-B14F-4D97-AF65-F5344CB8AC3E}">
        <p14:creationId xmlns:p14="http://schemas.microsoft.com/office/powerpoint/2010/main" val="1640771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Declarative memory can be subdivided into </a:t>
            </a:r>
            <a:r>
              <a:rPr lang="en-US" dirty="0">
                <a:solidFill>
                  <a:srgbClr val="FF0000"/>
                </a:solidFill>
              </a:rPr>
              <a:t>semantic memory </a:t>
            </a:r>
            <a:r>
              <a:rPr lang="en-US" dirty="0"/>
              <a:t>and </a:t>
            </a:r>
            <a:r>
              <a:rPr lang="en-US" dirty="0" smtClean="0"/>
              <a:t>episodic memory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Semantic </a:t>
            </a:r>
            <a:r>
              <a:rPr lang="en-US" dirty="0">
                <a:solidFill>
                  <a:srgbClr val="FF0000"/>
                </a:solidFill>
              </a:rPr>
              <a:t>memory </a:t>
            </a:r>
            <a:r>
              <a:rPr lang="en-US" dirty="0"/>
              <a:t>is memory for general knowledge and facts about </a:t>
            </a:r>
            <a:r>
              <a:rPr lang="en-US" dirty="0" smtClean="0"/>
              <a:t>the world</a:t>
            </a:r>
            <a:r>
              <a:rPr lang="en-US" dirty="0"/>
              <a:t>, as well as memory for the rules of logic that are used to deduce other facts.</a:t>
            </a:r>
          </a:p>
          <a:p>
            <a:r>
              <a:rPr lang="en-US" dirty="0"/>
              <a:t>Because of semantic memory, we remember that the ZIP code for Beverly Hills </a:t>
            </a:r>
            <a:r>
              <a:rPr lang="en-US" dirty="0" smtClean="0"/>
              <a:t>is 90210</a:t>
            </a:r>
            <a:r>
              <a:rPr lang="en-US" dirty="0"/>
              <a:t>, that Mumbai is on the Arabian Sea, and that </a:t>
            </a:r>
            <a:r>
              <a:rPr lang="en-US" dirty="0" err="1"/>
              <a:t>memoree</a:t>
            </a:r>
            <a:r>
              <a:rPr lang="en-US" dirty="0"/>
              <a:t> is the incorrect </a:t>
            </a:r>
            <a:r>
              <a:rPr lang="en-US" dirty="0" smtClean="0"/>
              <a:t>spelling of </a:t>
            </a:r>
            <a:r>
              <a:rPr lang="en-US" dirty="0"/>
              <a:t>memory . </a:t>
            </a:r>
            <a:endParaRPr lang="en-US" dirty="0" smtClean="0"/>
          </a:p>
          <a:p>
            <a:r>
              <a:rPr lang="en-US" dirty="0" smtClean="0"/>
              <a:t>Thus</a:t>
            </a:r>
            <a:r>
              <a:rPr lang="en-US" dirty="0"/>
              <a:t>, semantic memory is somewhat like a mental almanac of facts</a:t>
            </a:r>
          </a:p>
        </p:txBody>
      </p:sp>
    </p:spTree>
    <p:extLst>
      <p:ext uri="{BB962C8B-B14F-4D97-AF65-F5344CB8AC3E}">
        <p14:creationId xmlns:p14="http://schemas.microsoft.com/office/powerpoint/2010/main" val="15201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72" y="267854"/>
            <a:ext cx="9612028" cy="6367695"/>
          </a:xfrm>
        </p:spPr>
      </p:pic>
    </p:spTree>
    <p:extLst>
      <p:ext uri="{BB962C8B-B14F-4D97-AF65-F5344CB8AC3E}">
        <p14:creationId xmlns:p14="http://schemas.microsoft.com/office/powerpoint/2010/main" val="3970299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contrast, </a:t>
            </a:r>
            <a:r>
              <a:rPr lang="en-US" dirty="0">
                <a:solidFill>
                  <a:srgbClr val="FF0000"/>
                </a:solidFill>
              </a:rPr>
              <a:t>episodic memory </a:t>
            </a:r>
            <a:r>
              <a:rPr lang="en-US" dirty="0"/>
              <a:t>is memory for events that occur in a </a:t>
            </a:r>
            <a:r>
              <a:rPr lang="en-US" dirty="0" smtClean="0"/>
              <a:t>particular time</a:t>
            </a:r>
            <a:r>
              <a:rPr lang="en-US" dirty="0"/>
              <a:t>, place, or context.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recall of learning to hit a baseball, </a:t>
            </a:r>
            <a:r>
              <a:rPr lang="en-US" dirty="0" smtClean="0"/>
              <a:t>or </a:t>
            </a:r>
            <a:r>
              <a:rPr lang="en-US" dirty="0"/>
              <a:t>arranging a surprise 21st birthday party for our brother is based on episodic memories.</a:t>
            </a:r>
          </a:p>
          <a:p>
            <a:r>
              <a:rPr lang="en-US" dirty="0"/>
              <a:t>Episodic memories relate to particular contexts. For example, remembering </a:t>
            </a:r>
            <a:r>
              <a:rPr lang="en-US" dirty="0" smtClean="0"/>
              <a:t>when and </a:t>
            </a:r>
            <a:r>
              <a:rPr lang="en-US" dirty="0"/>
              <a:t>how we learned that 2 </a:t>
            </a:r>
            <a:r>
              <a:rPr lang="en-US" dirty="0" smtClean="0"/>
              <a:t>x </a:t>
            </a:r>
            <a:r>
              <a:rPr lang="en-US" dirty="0"/>
              <a:t>2 =</a:t>
            </a:r>
            <a:r>
              <a:rPr lang="en-US" dirty="0" smtClean="0"/>
              <a:t> </a:t>
            </a:r>
            <a:r>
              <a:rPr lang="en-US" dirty="0"/>
              <a:t>4 would be an episodic memory; the fact </a:t>
            </a:r>
            <a:r>
              <a:rPr lang="en-US" dirty="0" smtClean="0"/>
              <a:t>itself (that </a:t>
            </a:r>
            <a:r>
              <a:rPr lang="en-US" dirty="0"/>
              <a:t>2 </a:t>
            </a:r>
            <a:r>
              <a:rPr lang="en-US" dirty="0" smtClean="0"/>
              <a:t>x </a:t>
            </a:r>
            <a:r>
              <a:rPr lang="en-US" dirty="0"/>
              <a:t>2 </a:t>
            </a:r>
            <a:r>
              <a:rPr lang="en-US" dirty="0" smtClean="0"/>
              <a:t>= </a:t>
            </a:r>
            <a:r>
              <a:rPr lang="en-US" dirty="0"/>
              <a:t>4) is a semantic memory. </a:t>
            </a:r>
          </a:p>
        </p:txBody>
      </p:sp>
    </p:spTree>
    <p:extLst>
      <p:ext uri="{BB962C8B-B14F-4D97-AF65-F5344CB8AC3E}">
        <p14:creationId xmlns:p14="http://schemas.microsoft.com/office/powerpoint/2010/main" val="4134486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Episodic memories can be surprisingly detailed. </a:t>
            </a:r>
            <a:endParaRPr lang="en-US" dirty="0" smtClean="0"/>
          </a:p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Consider</a:t>
            </a:r>
            <a:r>
              <a:rPr lang="en-US" sz="2800" b="1" dirty="0">
                <a:solidFill>
                  <a:srgbClr val="FF0000"/>
                </a:solidFill>
              </a:rPr>
              <a:t>, for instance, how </a:t>
            </a:r>
            <a:r>
              <a:rPr lang="en-US" sz="2800" b="1" dirty="0" smtClean="0">
                <a:solidFill>
                  <a:srgbClr val="FF0000"/>
                </a:solidFill>
              </a:rPr>
              <a:t>you’d respond </a:t>
            </a:r>
            <a:r>
              <a:rPr lang="en-US" sz="2800" b="1" dirty="0">
                <a:solidFill>
                  <a:srgbClr val="FF0000"/>
                </a:solidFill>
              </a:rPr>
              <a:t>if you were asked to identify what you were doing on a </a:t>
            </a:r>
            <a:r>
              <a:rPr lang="en-US" sz="2800" b="1" dirty="0" smtClean="0">
                <a:solidFill>
                  <a:srgbClr val="FF0000"/>
                </a:solidFill>
              </a:rPr>
              <a:t>specific </a:t>
            </a:r>
            <a:r>
              <a:rPr lang="en-US" sz="2800" b="1" dirty="0">
                <a:solidFill>
                  <a:srgbClr val="FF0000"/>
                </a:solidFill>
              </a:rPr>
              <a:t>day 2 </a:t>
            </a:r>
            <a:r>
              <a:rPr lang="en-US" sz="2800" b="1" dirty="0" smtClean="0">
                <a:solidFill>
                  <a:srgbClr val="FF0000"/>
                </a:solidFill>
              </a:rPr>
              <a:t>years ago</a:t>
            </a:r>
            <a:r>
              <a:rPr lang="en-US" sz="2800" b="1" dirty="0">
                <a:solidFill>
                  <a:srgbClr val="FF0000"/>
                </a:solidFill>
              </a:rPr>
              <a:t>. Impossible?</a:t>
            </a:r>
          </a:p>
        </p:txBody>
      </p:sp>
    </p:spTree>
    <p:extLst>
      <p:ext uri="{BB962C8B-B14F-4D97-AF65-F5344CB8AC3E}">
        <p14:creationId xmlns:p14="http://schemas.microsoft.com/office/powerpoint/2010/main" val="182251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Recalling long term memories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03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673" y="964691"/>
            <a:ext cx="10206182" cy="4974291"/>
          </a:xfrm>
        </p:spPr>
        <p:txBody>
          <a:bodyPr>
            <a:normAutofit/>
          </a:bodyPr>
          <a:lstStyle/>
          <a:p>
            <a:r>
              <a:rPr lang="en-US" cap="none" dirty="0" smtClean="0">
                <a:solidFill>
                  <a:srgbClr val="FF0000"/>
                </a:solidFill>
              </a:rPr>
              <a:t>Have you ever tried to remember someone’s name, convinced that you knew it but</a:t>
            </a:r>
            <a:br>
              <a:rPr lang="en-US" cap="none" dirty="0" smtClean="0">
                <a:solidFill>
                  <a:srgbClr val="FF0000"/>
                </a:solidFill>
              </a:rPr>
            </a:br>
            <a:r>
              <a:rPr lang="en-US" cap="none" dirty="0" smtClean="0">
                <a:solidFill>
                  <a:srgbClr val="FF0000"/>
                </a:solidFill>
              </a:rPr>
              <a:t>unable to recall it no matter how hard you tried? </a:t>
            </a:r>
            <a:br>
              <a:rPr lang="en-US" cap="none" dirty="0" smtClean="0">
                <a:solidFill>
                  <a:srgbClr val="FF0000"/>
                </a:solidFill>
              </a:rPr>
            </a:br>
            <a:r>
              <a:rPr lang="en-US" cap="none" dirty="0">
                <a:solidFill>
                  <a:srgbClr val="FF0000"/>
                </a:solidFill>
              </a:rPr>
              <a:t/>
            </a:r>
            <a:br>
              <a:rPr lang="en-US" cap="none" dirty="0">
                <a:solidFill>
                  <a:srgbClr val="FF0000"/>
                </a:solidFill>
              </a:rPr>
            </a:br>
            <a:r>
              <a:rPr lang="en-US" cap="none" dirty="0" smtClean="0"/>
              <a:t>This common occurrence—known as</a:t>
            </a:r>
            <a:br>
              <a:rPr lang="en-US" cap="none" dirty="0" smtClean="0"/>
            </a:br>
            <a:r>
              <a:rPr lang="en-US" cap="none" dirty="0" smtClean="0"/>
              <a:t>the </a:t>
            </a:r>
            <a:r>
              <a:rPr lang="en-US" cap="none" dirty="0" smtClean="0">
                <a:solidFill>
                  <a:srgbClr val="00B050"/>
                </a:solidFill>
              </a:rPr>
              <a:t>tip-of-the-tongue</a:t>
            </a:r>
            <a:r>
              <a:rPr lang="en-US" cap="none" dirty="0" smtClean="0"/>
              <a:t> phenomenon —exemplifies how difficult it can be to retrieve</a:t>
            </a:r>
            <a:br>
              <a:rPr lang="en-US" cap="none" dirty="0" smtClean="0"/>
            </a:br>
            <a:r>
              <a:rPr lang="en-US" cap="none" dirty="0" smtClean="0"/>
              <a:t>information stored in long-term memory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697184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Retrieval cues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If </a:t>
            </a:r>
            <a:r>
              <a:rPr lang="en-US" sz="2400" dirty="0"/>
              <a:t>you are like the average college student, your vocabulary includes </a:t>
            </a:r>
            <a:r>
              <a:rPr lang="en-US" sz="2400" dirty="0" smtClean="0"/>
              <a:t>some 50,000 </a:t>
            </a:r>
            <a:r>
              <a:rPr lang="en-US" sz="2400" dirty="0"/>
              <a:t>words, you know hundreds of mathematical “facts,” and you are able to </a:t>
            </a:r>
            <a:r>
              <a:rPr lang="en-US" sz="2400" dirty="0" smtClean="0"/>
              <a:t>conjure up </a:t>
            </a:r>
            <a:r>
              <a:rPr lang="en-US" sz="2400" dirty="0"/>
              <a:t>images—such as the way your childhood home looked—with no trouble at all. </a:t>
            </a:r>
            <a:r>
              <a:rPr lang="en-US" sz="2400" dirty="0" smtClean="0"/>
              <a:t>In fact</a:t>
            </a:r>
            <a:r>
              <a:rPr lang="en-US" sz="2400" dirty="0"/>
              <a:t>, simply cataloging all your memories would probably take years of work.</a:t>
            </a:r>
          </a:p>
        </p:txBody>
      </p:sp>
    </p:spTree>
    <p:extLst>
      <p:ext uri="{BB962C8B-B14F-4D97-AF65-F5344CB8AC3E}">
        <p14:creationId xmlns:p14="http://schemas.microsoft.com/office/powerpoint/2010/main" val="3032588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u="sng" dirty="0" smtClean="0"/>
              <a:t>Retrieval </a:t>
            </a:r>
            <a:r>
              <a:rPr lang="en-US" sz="2400" b="1" u="sng" dirty="0"/>
              <a:t>cue is a </a:t>
            </a:r>
            <a:r>
              <a:rPr lang="en-US" sz="2400" b="1" u="sng" dirty="0" smtClean="0"/>
              <a:t>stimulus that </a:t>
            </a:r>
            <a:r>
              <a:rPr lang="en-US" sz="2400" b="1" u="sng" dirty="0"/>
              <a:t>allows us to recall more easily information that is in </a:t>
            </a:r>
            <a:r>
              <a:rPr lang="en-US" sz="2400" b="1" u="sng" dirty="0" smtClean="0"/>
              <a:t>long-term memory</a:t>
            </a:r>
            <a:r>
              <a:rPr lang="en-US" sz="2400" b="1" u="sng" dirty="0"/>
              <a:t>. </a:t>
            </a:r>
            <a:endParaRPr lang="en-US" sz="2400" b="1" u="sng" dirty="0" smtClean="0"/>
          </a:p>
          <a:p>
            <a:r>
              <a:rPr lang="en-US" dirty="0" smtClean="0"/>
              <a:t>It </a:t>
            </a:r>
            <a:r>
              <a:rPr lang="en-US" dirty="0"/>
              <a:t>may be a word, an emotion, or a sound; whatever </a:t>
            </a:r>
            <a:r>
              <a:rPr lang="en-US" dirty="0" smtClean="0"/>
              <a:t>the specific </a:t>
            </a:r>
            <a:r>
              <a:rPr lang="en-US" dirty="0"/>
              <a:t>cue, a memory will suddenly come to mind when the </a:t>
            </a:r>
            <a:r>
              <a:rPr lang="en-US" dirty="0" smtClean="0"/>
              <a:t>retrieval cue </a:t>
            </a:r>
            <a:r>
              <a:rPr lang="en-US" dirty="0"/>
              <a:t>is present.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the smell of </a:t>
            </a:r>
            <a:r>
              <a:rPr lang="en-US" dirty="0" err="1" smtClean="0"/>
              <a:t>halwa</a:t>
            </a:r>
            <a:r>
              <a:rPr lang="en-US" dirty="0" smtClean="0"/>
              <a:t> </a:t>
            </a:r>
            <a:r>
              <a:rPr lang="en-US" dirty="0" err="1" smtClean="0"/>
              <a:t>poori</a:t>
            </a:r>
            <a:r>
              <a:rPr lang="en-US" dirty="0" smtClean="0"/>
              <a:t>, </a:t>
            </a:r>
            <a:r>
              <a:rPr lang="en-US" dirty="0" err="1" smtClean="0"/>
              <a:t>sewaiyan</a:t>
            </a:r>
            <a:r>
              <a:rPr lang="en-US" dirty="0" smtClean="0"/>
              <a:t>, </a:t>
            </a:r>
            <a:r>
              <a:rPr lang="en-US" dirty="0" err="1" smtClean="0"/>
              <a:t>bbq</a:t>
            </a:r>
            <a:r>
              <a:rPr lang="en-US" dirty="0" smtClean="0"/>
              <a:t> may evoke memories </a:t>
            </a:r>
            <a:r>
              <a:rPr lang="en-US" dirty="0"/>
              <a:t>of </a:t>
            </a:r>
            <a:r>
              <a:rPr lang="en-US" dirty="0" smtClean="0"/>
              <a:t>EID or </a:t>
            </a:r>
            <a:r>
              <a:rPr lang="en-US" dirty="0"/>
              <a:t>family gatherings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170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Retrieval cues guide people through the information stored </a:t>
            </a:r>
            <a:r>
              <a:rPr lang="en-US" sz="2800" dirty="0" smtClean="0"/>
              <a:t>in long-term </a:t>
            </a:r>
            <a:r>
              <a:rPr lang="en-US" sz="2800" dirty="0"/>
              <a:t>memory in much the same way that a </a:t>
            </a:r>
            <a:r>
              <a:rPr lang="en-US" sz="2800" u="sng" dirty="0"/>
              <a:t>search engine </a:t>
            </a:r>
            <a:r>
              <a:rPr lang="en-US" sz="2800" u="sng" dirty="0" smtClean="0"/>
              <a:t>such as </a:t>
            </a:r>
            <a:r>
              <a:rPr lang="en-US" sz="2800" u="sng" dirty="0"/>
              <a:t>Google </a:t>
            </a:r>
            <a:r>
              <a:rPr lang="en-US" sz="2800" dirty="0"/>
              <a:t>guides people through the Internet.</a:t>
            </a:r>
          </a:p>
        </p:txBody>
      </p:sp>
    </p:spTree>
    <p:extLst>
      <p:ext uri="{BB962C8B-B14F-4D97-AF65-F5344CB8AC3E}">
        <p14:creationId xmlns:p14="http://schemas.microsoft.com/office/powerpoint/2010/main" val="2010145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Recall and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They are </a:t>
            </a:r>
            <a:r>
              <a:rPr lang="en-US" dirty="0" smtClean="0"/>
              <a:t>particularly important </a:t>
            </a:r>
            <a:r>
              <a:rPr lang="en-US" dirty="0"/>
              <a:t>when we are making an effort to recall information, </a:t>
            </a:r>
            <a:r>
              <a:rPr lang="en-US" dirty="0" smtClean="0"/>
              <a:t>as opposed </a:t>
            </a:r>
            <a:r>
              <a:rPr lang="en-US" dirty="0"/>
              <a:t>to being asked to recognize material stored in memory. </a:t>
            </a:r>
            <a:endParaRPr lang="en-US" dirty="0" smtClean="0"/>
          </a:p>
          <a:p>
            <a:r>
              <a:rPr lang="en-US" u="sng" dirty="0" smtClean="0">
                <a:solidFill>
                  <a:srgbClr val="FF0000"/>
                </a:solidFill>
              </a:rPr>
              <a:t>In recall </a:t>
            </a:r>
            <a:r>
              <a:rPr lang="en-US" dirty="0"/>
              <a:t>, a </a:t>
            </a:r>
            <a:r>
              <a:rPr lang="en-US" dirty="0" smtClean="0"/>
              <a:t>specific </a:t>
            </a:r>
            <a:r>
              <a:rPr lang="en-US" dirty="0"/>
              <a:t>piece of information must be retrieved—such as </a:t>
            </a:r>
            <a:r>
              <a:rPr lang="en-US" dirty="0" smtClean="0"/>
              <a:t>that needed </a:t>
            </a:r>
            <a:r>
              <a:rPr lang="en-US" dirty="0"/>
              <a:t>to answer a </a:t>
            </a:r>
            <a:r>
              <a:rPr lang="en-US" dirty="0" smtClean="0"/>
              <a:t>fill-in-the-blank </a:t>
            </a:r>
            <a:r>
              <a:rPr lang="en-US" dirty="0"/>
              <a:t>question or to write an essay </a:t>
            </a:r>
            <a:r>
              <a:rPr lang="en-US" dirty="0" smtClean="0"/>
              <a:t>on a </a:t>
            </a:r>
            <a:r>
              <a:rPr lang="en-US" dirty="0"/>
              <a:t>test.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contrast, </a:t>
            </a:r>
            <a:r>
              <a:rPr lang="en-US" u="sng" dirty="0">
                <a:solidFill>
                  <a:srgbClr val="FF0000"/>
                </a:solidFill>
              </a:rPr>
              <a:t>recognition</a:t>
            </a:r>
            <a:r>
              <a:rPr lang="en-US" dirty="0"/>
              <a:t> occurs when people are </a:t>
            </a:r>
            <a:r>
              <a:rPr lang="en-US" dirty="0" smtClean="0"/>
              <a:t>presented with </a:t>
            </a:r>
            <a:r>
              <a:rPr lang="en-US" dirty="0"/>
              <a:t>a stimulus and asked whether they have been exposed to </a:t>
            </a:r>
            <a:r>
              <a:rPr lang="en-US" dirty="0" smtClean="0"/>
              <a:t>it previously </a:t>
            </a:r>
            <a:r>
              <a:rPr lang="en-US" dirty="0"/>
              <a:t>or are asked to identify it from a list of alternatives.</a:t>
            </a:r>
          </a:p>
        </p:txBody>
      </p:sp>
    </p:spTree>
    <p:extLst>
      <p:ext uri="{BB962C8B-B14F-4D97-AF65-F5344CB8AC3E}">
        <p14:creationId xmlns:p14="http://schemas.microsoft.com/office/powerpoint/2010/main" val="3707121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Level of processing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010192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4258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Implicit &amp; Explicit Memory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Explicit memory </a:t>
            </a:r>
            <a:r>
              <a:rPr lang="en-US" dirty="0"/>
              <a:t>refers to intentional or </a:t>
            </a:r>
            <a:r>
              <a:rPr lang="en-US" dirty="0" smtClean="0"/>
              <a:t>conscious recollection </a:t>
            </a:r>
            <a:r>
              <a:rPr lang="en-US" dirty="0"/>
              <a:t>of information.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we try to remember a name or date we </a:t>
            </a:r>
            <a:r>
              <a:rPr lang="en-US" dirty="0" smtClean="0"/>
              <a:t>have encountered </a:t>
            </a:r>
            <a:r>
              <a:rPr lang="en-US" dirty="0"/>
              <a:t>or learned about previously, we are searching our explicit memory.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Implicit </a:t>
            </a:r>
            <a:r>
              <a:rPr lang="en-US" b="1" dirty="0"/>
              <a:t>memory </a:t>
            </a:r>
            <a:r>
              <a:rPr lang="en-US" dirty="0"/>
              <a:t>refers to memories of which people are not </a:t>
            </a:r>
            <a:r>
              <a:rPr lang="en-US" dirty="0" smtClean="0"/>
              <a:t>consciously aware </a:t>
            </a:r>
            <a:r>
              <a:rPr lang="en-US" dirty="0"/>
              <a:t>but that can affect subsequent performance and behavior. </a:t>
            </a:r>
            <a:endParaRPr lang="en-US" dirty="0" smtClean="0"/>
          </a:p>
          <a:p>
            <a:r>
              <a:rPr lang="en-US" dirty="0" smtClean="0"/>
              <a:t>Skills </a:t>
            </a:r>
            <a:r>
              <a:rPr lang="en-US" dirty="0"/>
              <a:t>that operate </a:t>
            </a:r>
            <a:r>
              <a:rPr lang="en-US" dirty="0" smtClean="0"/>
              <a:t>automatically and </a:t>
            </a:r>
            <a:r>
              <a:rPr lang="en-US" dirty="0"/>
              <a:t>without thinking, such as jumping out of the path of an automobile </a:t>
            </a:r>
            <a:r>
              <a:rPr lang="en-US" dirty="0" smtClean="0"/>
              <a:t>coming toward </a:t>
            </a:r>
            <a:r>
              <a:rPr lang="en-US" dirty="0"/>
              <a:t>us as we walk down the side of a road, are stored in implicit memory. </a:t>
            </a:r>
            <a:endParaRPr lang="en-US" dirty="0" smtClean="0"/>
          </a:p>
          <a:p>
            <a:r>
              <a:rPr lang="en-US" dirty="0" smtClean="0"/>
              <a:t>Similarly, a </a:t>
            </a:r>
            <a:r>
              <a:rPr lang="en-US" dirty="0"/>
              <a:t>feeling of vague dislike for an acquaintance, without knowing why we have that </a:t>
            </a:r>
            <a:r>
              <a:rPr lang="en-US" dirty="0" smtClean="0"/>
              <a:t>feeling, may </a:t>
            </a:r>
            <a:r>
              <a:rPr lang="en-US" dirty="0"/>
              <a:t>be a </a:t>
            </a:r>
            <a:r>
              <a:rPr lang="en-US" dirty="0" smtClean="0"/>
              <a:t>reflection </a:t>
            </a:r>
            <a:r>
              <a:rPr lang="en-US" dirty="0"/>
              <a:t>of implicit memories.</a:t>
            </a:r>
          </a:p>
        </p:txBody>
      </p:sp>
    </p:spTree>
    <p:extLst>
      <p:ext uri="{BB962C8B-B14F-4D97-AF65-F5344CB8AC3E}">
        <p14:creationId xmlns:p14="http://schemas.microsoft.com/office/powerpoint/2010/main" val="930387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Flashbulb memories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Flashbulb </a:t>
            </a:r>
            <a:r>
              <a:rPr lang="en-US" b="1" dirty="0" smtClean="0"/>
              <a:t>memories </a:t>
            </a:r>
            <a:r>
              <a:rPr lang="en-US" dirty="0" smtClean="0"/>
              <a:t>are </a:t>
            </a:r>
            <a:r>
              <a:rPr lang="en-US" dirty="0"/>
              <a:t>memories related to a </a:t>
            </a:r>
            <a:r>
              <a:rPr lang="en-US" dirty="0" smtClean="0"/>
              <a:t>specific</a:t>
            </a:r>
            <a:r>
              <a:rPr lang="en-US" dirty="0"/>
              <a:t>, important, or surprising event that are recalled </a:t>
            </a:r>
            <a:r>
              <a:rPr lang="en-US" dirty="0" smtClean="0"/>
              <a:t>easily and </a:t>
            </a:r>
            <a:r>
              <a:rPr lang="en-US" dirty="0"/>
              <a:t>with vivid imagery.</a:t>
            </a:r>
          </a:p>
          <a:p>
            <a:r>
              <a:rPr lang="en-US" dirty="0"/>
              <a:t>Several types of </a:t>
            </a:r>
            <a:r>
              <a:rPr lang="en-US" dirty="0" smtClean="0"/>
              <a:t>flashbulb </a:t>
            </a:r>
            <a:r>
              <a:rPr lang="en-US" dirty="0"/>
              <a:t>memories are common among college students. </a:t>
            </a:r>
            <a:r>
              <a:rPr lang="en-US" dirty="0" smtClean="0"/>
              <a:t>For example</a:t>
            </a:r>
            <a:r>
              <a:rPr lang="en-US" dirty="0"/>
              <a:t>, involvement in a car accident, meeting one’s roommate for the </a:t>
            </a:r>
            <a:r>
              <a:rPr lang="en-US" dirty="0" smtClean="0"/>
              <a:t>first </a:t>
            </a:r>
            <a:r>
              <a:rPr lang="en-US" dirty="0"/>
              <a:t>time, </a:t>
            </a:r>
            <a:r>
              <a:rPr lang="en-US" dirty="0" smtClean="0"/>
              <a:t>and the </a:t>
            </a:r>
            <a:r>
              <a:rPr lang="en-US" dirty="0"/>
              <a:t>night of high school graduation are all typical </a:t>
            </a:r>
            <a:r>
              <a:rPr lang="en-US" dirty="0" smtClean="0"/>
              <a:t>flashbulb memories</a:t>
            </a:r>
          </a:p>
          <a:p>
            <a:endParaRPr lang="en-US" dirty="0"/>
          </a:p>
          <a:p>
            <a:r>
              <a:rPr lang="en-US" dirty="0" smtClean="0"/>
              <a:t>Memories that </a:t>
            </a:r>
            <a:r>
              <a:rPr lang="en-US" dirty="0"/>
              <a:t>are exceptional are more easily retrieved (although not necessarily accurately) </a:t>
            </a:r>
            <a:r>
              <a:rPr lang="en-US" dirty="0" smtClean="0"/>
              <a:t>than are </a:t>
            </a:r>
            <a:r>
              <a:rPr lang="en-US" dirty="0"/>
              <a:t>those relating to events that are commonplace.</a:t>
            </a:r>
          </a:p>
        </p:txBody>
      </p:sp>
    </p:spTree>
    <p:extLst>
      <p:ext uri="{BB962C8B-B14F-4D97-AF65-F5344CB8AC3E}">
        <p14:creationId xmlns:p14="http://schemas.microsoft.com/office/powerpoint/2010/main" val="20390218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Constructive Processes in</a:t>
            </a:r>
            <a:br>
              <a:rPr lang="en-US" dirty="0"/>
            </a:br>
            <a:r>
              <a:rPr lang="en-US" dirty="0"/>
              <a:t>Memory: Rebuilding the Past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Constructive </a:t>
            </a:r>
            <a:r>
              <a:rPr lang="en-US" b="1" dirty="0"/>
              <a:t>processes </a:t>
            </a:r>
            <a:r>
              <a:rPr lang="en-US" dirty="0" smtClean="0"/>
              <a:t>, processes </a:t>
            </a:r>
            <a:r>
              <a:rPr lang="en-US" dirty="0"/>
              <a:t>in which memories are </a:t>
            </a:r>
            <a:r>
              <a:rPr lang="en-US" dirty="0" smtClean="0"/>
              <a:t>influenced </a:t>
            </a:r>
            <a:r>
              <a:rPr lang="en-US" dirty="0"/>
              <a:t>by the meaning we give to events. </a:t>
            </a:r>
            <a:endParaRPr lang="en-US" dirty="0" smtClean="0"/>
          </a:p>
          <a:p>
            <a:r>
              <a:rPr lang="en-US" dirty="0" smtClean="0"/>
              <a:t>When we </a:t>
            </a:r>
            <a:r>
              <a:rPr lang="en-US" dirty="0"/>
              <a:t>retrieve information, then, the memory that is produced is affected not just by </a:t>
            </a:r>
            <a:r>
              <a:rPr lang="en-US" dirty="0" smtClean="0"/>
              <a:t>the direct </a:t>
            </a:r>
            <a:r>
              <a:rPr lang="en-US" dirty="0"/>
              <a:t>prior experience we have had with the stimulus, but also by our guesses </a:t>
            </a:r>
            <a:r>
              <a:rPr lang="en-US" dirty="0" smtClean="0"/>
              <a:t>and inferences </a:t>
            </a:r>
            <a:r>
              <a:rPr lang="en-US" dirty="0"/>
              <a:t>about its meaning.</a:t>
            </a:r>
          </a:p>
        </p:txBody>
      </p:sp>
    </p:spTree>
    <p:extLst>
      <p:ext uri="{BB962C8B-B14F-4D97-AF65-F5344CB8AC3E}">
        <p14:creationId xmlns:p14="http://schemas.microsoft.com/office/powerpoint/2010/main" val="3993558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Frederic Bartlett,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Schemas:</a:t>
            </a:r>
            <a:r>
              <a:rPr lang="en-US" dirty="0" smtClean="0"/>
              <a:t> </a:t>
            </a:r>
            <a:r>
              <a:rPr lang="en-US" dirty="0"/>
              <a:t>Organized bodies of </a:t>
            </a:r>
            <a:r>
              <a:rPr lang="en-US" dirty="0" smtClean="0"/>
              <a:t>information stored </a:t>
            </a:r>
            <a:r>
              <a:rPr lang="en-US" dirty="0"/>
              <a:t>in memory that bias </a:t>
            </a:r>
            <a:r>
              <a:rPr lang="en-US" dirty="0" smtClean="0"/>
              <a:t>the way </a:t>
            </a:r>
            <a:r>
              <a:rPr lang="en-US" dirty="0"/>
              <a:t>new information is </a:t>
            </a:r>
            <a:r>
              <a:rPr lang="en-US" dirty="0" smtClean="0"/>
              <a:t>interpreted, stored</a:t>
            </a:r>
            <a:r>
              <a:rPr lang="en-US" dirty="0"/>
              <a:t>, and recalled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Understanding of </a:t>
            </a:r>
            <a:r>
              <a:rPr lang="en-US" dirty="0"/>
              <a:t>the situation, </a:t>
            </a:r>
            <a:endParaRPr lang="en-US" dirty="0" smtClean="0"/>
          </a:p>
          <a:p>
            <a:r>
              <a:rPr lang="en-US" dirty="0"/>
              <a:t>E</a:t>
            </a:r>
            <a:r>
              <a:rPr lang="en-US" dirty="0" smtClean="0"/>
              <a:t>xpectations </a:t>
            </a:r>
            <a:r>
              <a:rPr lang="en-US" dirty="0"/>
              <a:t>about the situation, and </a:t>
            </a:r>
            <a:endParaRPr lang="en-US" dirty="0" smtClean="0"/>
          </a:p>
          <a:p>
            <a:r>
              <a:rPr lang="en-US" dirty="0" smtClean="0"/>
              <a:t>their </a:t>
            </a:r>
            <a:r>
              <a:rPr lang="en-US" dirty="0"/>
              <a:t>awareness of </a:t>
            </a:r>
            <a:r>
              <a:rPr lang="en-US" dirty="0" smtClean="0"/>
              <a:t>the motivations </a:t>
            </a:r>
            <a:r>
              <a:rPr lang="en-US" dirty="0"/>
              <a:t>underlying the behavior of others</a:t>
            </a:r>
            <a:r>
              <a:rPr lang="en-US" dirty="0" smtClean="0"/>
              <a:t>.</a:t>
            </a:r>
          </a:p>
          <a:p>
            <a:r>
              <a:rPr lang="en-US" dirty="0"/>
              <a:t>E</a:t>
            </a:r>
            <a:r>
              <a:rPr lang="en-US" dirty="0" smtClean="0"/>
              <a:t>motional </a:t>
            </a:r>
            <a:r>
              <a:rPr lang="en-US" dirty="0"/>
              <a:t>meaning of </a:t>
            </a:r>
            <a:r>
              <a:rPr lang="en-US" dirty="0" smtClean="0"/>
              <a:t>experiences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Can cause partially or completely false memories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351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Autobiographical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Autobiographical memory is our recollections of our own life experiences.</a:t>
            </a:r>
          </a:p>
          <a:p>
            <a:r>
              <a:rPr lang="en-US" dirty="0"/>
              <a:t>Autobiographical memories encompass the episodic memories we hold about </a:t>
            </a:r>
            <a:r>
              <a:rPr lang="en-US" dirty="0" smtClean="0"/>
              <a:t>ourselves</a:t>
            </a:r>
          </a:p>
          <a:p>
            <a:r>
              <a:rPr lang="en-US" dirty="0"/>
              <a:t>W</a:t>
            </a:r>
            <a:r>
              <a:rPr lang="en-US" dirty="0" smtClean="0"/>
              <a:t>e </a:t>
            </a:r>
            <a:r>
              <a:rPr lang="en-US" dirty="0"/>
              <a:t>tend to forget information about our past that is incompatible </a:t>
            </a:r>
            <a:r>
              <a:rPr lang="en-US" dirty="0" smtClean="0"/>
              <a:t>with the </a:t>
            </a:r>
            <a:r>
              <a:rPr lang="en-US" dirty="0"/>
              <a:t>way in which we currently see </a:t>
            </a:r>
            <a:r>
              <a:rPr lang="en-US" dirty="0" smtClean="0"/>
              <a:t>ourselves</a:t>
            </a:r>
          </a:p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What is the earliest memory that you can recall correctly?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617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forgetting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When memory fails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12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forget?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1136" y="2693462"/>
            <a:ext cx="7729728" cy="3101983"/>
          </a:xfrm>
        </p:spPr>
        <p:txBody>
          <a:bodyPr/>
          <a:lstStyle/>
          <a:p>
            <a:r>
              <a:rPr lang="en-US" sz="2800" dirty="0"/>
              <a:t>failure of </a:t>
            </a:r>
            <a:r>
              <a:rPr lang="en-US" sz="2800" i="1" dirty="0" smtClean="0"/>
              <a:t>encoding</a:t>
            </a:r>
          </a:p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Can you remember the exact details of coin of 5 rupee?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0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841" y="2382982"/>
            <a:ext cx="7397123" cy="3663779"/>
          </a:xfrm>
        </p:spPr>
      </p:pic>
    </p:spTree>
    <p:extLst>
      <p:ext uri="{BB962C8B-B14F-4D97-AF65-F5344CB8AC3E}">
        <p14:creationId xmlns:p14="http://schemas.microsoft.com/office/powerpoint/2010/main" val="338812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Decay is the loss of information in memory through nonuse. </a:t>
            </a:r>
            <a:r>
              <a:rPr lang="en-US" dirty="0" smtClean="0"/>
              <a:t>T</a:t>
            </a:r>
          </a:p>
          <a:p>
            <a:r>
              <a:rPr lang="en-US" dirty="0" smtClean="0"/>
              <a:t>his explanation for </a:t>
            </a:r>
            <a:r>
              <a:rPr lang="en-US" dirty="0"/>
              <a:t>forgetting assumes that memory traces, the physical changes that take place in </a:t>
            </a:r>
            <a:r>
              <a:rPr lang="en-US" dirty="0" smtClean="0"/>
              <a:t>the brain </a:t>
            </a:r>
            <a:r>
              <a:rPr lang="en-US" dirty="0"/>
              <a:t>when new material is learned, simply fade away or disintegrate over time</a:t>
            </a:r>
          </a:p>
        </p:txBody>
      </p:sp>
    </p:spTree>
    <p:extLst>
      <p:ext uri="{BB962C8B-B14F-4D97-AF65-F5344CB8AC3E}">
        <p14:creationId xmlns:p14="http://schemas.microsoft.com/office/powerpoint/2010/main" val="34580523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interference , </a:t>
            </a:r>
            <a:r>
              <a:rPr lang="en-US" dirty="0" smtClean="0"/>
              <a:t>information stored </a:t>
            </a:r>
            <a:r>
              <a:rPr lang="en-US" dirty="0"/>
              <a:t>in memory disrupts the recall of other information stored in memory. </a:t>
            </a:r>
            <a:endParaRPr lang="en-US" dirty="0" smtClean="0"/>
          </a:p>
          <a:p>
            <a:r>
              <a:rPr lang="en-US" dirty="0" smtClean="0"/>
              <a:t>For example</a:t>
            </a:r>
            <a:r>
              <a:rPr lang="en-US" dirty="0"/>
              <a:t>, if I’m trying to recall my college classmate Jake’s name and all I </a:t>
            </a:r>
            <a:r>
              <a:rPr lang="en-US" dirty="0" smtClean="0"/>
              <a:t>can remember </a:t>
            </a:r>
            <a:r>
              <a:rPr lang="en-US" dirty="0"/>
              <a:t>is the name of another classmate, James, interference may be at work</a:t>
            </a:r>
          </a:p>
        </p:txBody>
      </p:sp>
    </p:spTree>
    <p:extLst>
      <p:ext uri="{BB962C8B-B14F-4D97-AF65-F5344CB8AC3E}">
        <p14:creationId xmlns:p14="http://schemas.microsoft.com/office/powerpoint/2010/main" val="2148968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To distinguish between decay and interference, think of the two processes in </a:t>
            </a:r>
            <a:r>
              <a:rPr lang="en-US" dirty="0" smtClean="0"/>
              <a:t>terms of </a:t>
            </a:r>
            <a:r>
              <a:rPr lang="en-US" dirty="0"/>
              <a:t>a row of books on a library shelf. In decay, the old books are constantly </a:t>
            </a:r>
            <a:r>
              <a:rPr lang="en-US" dirty="0" smtClean="0"/>
              <a:t>crumbling and </a:t>
            </a:r>
            <a:r>
              <a:rPr lang="en-US" dirty="0"/>
              <a:t>rotting away, leaving room for new arrivals. Interference processes suggest </a:t>
            </a:r>
            <a:r>
              <a:rPr lang="en-US" dirty="0" smtClean="0"/>
              <a:t>that new </a:t>
            </a:r>
            <a:r>
              <a:rPr lang="en-US" dirty="0"/>
              <a:t>books knock the old ones off the shelf, where they become hard to </a:t>
            </a:r>
            <a:r>
              <a:rPr lang="en-US" dirty="0" smtClean="0"/>
              <a:t>find </a:t>
            </a:r>
            <a:r>
              <a:rPr lang="en-US" dirty="0"/>
              <a:t>or </a:t>
            </a:r>
            <a:r>
              <a:rPr lang="en-US" dirty="0" smtClean="0"/>
              <a:t>even totally </a:t>
            </a:r>
            <a:r>
              <a:rPr lang="en-US" dirty="0"/>
              <a:t>inaccessible.</a:t>
            </a:r>
          </a:p>
        </p:txBody>
      </p:sp>
    </p:spTree>
    <p:extLst>
      <p:ext uri="{BB962C8B-B14F-4D97-AF65-F5344CB8AC3E}">
        <p14:creationId xmlns:p14="http://schemas.microsoft.com/office/powerpoint/2010/main" val="4012100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cue-dependent </a:t>
            </a:r>
            <a:r>
              <a:rPr lang="en-US" dirty="0" smtClean="0"/>
              <a:t>forgetting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Cue-dependent </a:t>
            </a:r>
            <a:r>
              <a:rPr lang="en-US" dirty="0"/>
              <a:t>forgetting, </a:t>
            </a:r>
            <a:r>
              <a:rPr lang="en-US" dirty="0" smtClean="0"/>
              <a:t>forgetting that occurs </a:t>
            </a:r>
            <a:r>
              <a:rPr lang="en-US" dirty="0"/>
              <a:t>when there are </a:t>
            </a:r>
            <a:r>
              <a:rPr lang="en-US" dirty="0" smtClean="0"/>
              <a:t>insufficient </a:t>
            </a:r>
            <a:r>
              <a:rPr lang="en-US" dirty="0"/>
              <a:t>retrieval cues to rekindle information that is </a:t>
            </a:r>
            <a:r>
              <a:rPr lang="en-US" dirty="0" smtClean="0"/>
              <a:t>in memory. </a:t>
            </a:r>
          </a:p>
          <a:p>
            <a:r>
              <a:rPr lang="en-US" b="1" dirty="0" smtClean="0"/>
              <a:t>For </a:t>
            </a:r>
            <a:r>
              <a:rPr lang="en-US" b="1" dirty="0"/>
              <a:t>example</a:t>
            </a:r>
            <a:r>
              <a:rPr lang="en-US" dirty="0"/>
              <a:t>, you may not be able to </a:t>
            </a:r>
            <a:r>
              <a:rPr lang="en-US" dirty="0" smtClean="0"/>
              <a:t>remember where </a:t>
            </a:r>
            <a:r>
              <a:rPr lang="en-US" dirty="0"/>
              <a:t>you lost a set of keys until you mentally walk through your day, thinking </a:t>
            </a:r>
            <a:r>
              <a:rPr lang="en-US" dirty="0" smtClean="0"/>
              <a:t>of each </a:t>
            </a:r>
            <a:r>
              <a:rPr lang="en-US" dirty="0"/>
              <a:t>place you visited. When you think of the place where you lost the keys—say, </a:t>
            </a:r>
            <a:r>
              <a:rPr lang="en-US" dirty="0" smtClean="0"/>
              <a:t>the library—the </a:t>
            </a:r>
            <a:r>
              <a:rPr lang="en-US" dirty="0"/>
              <a:t>retrieval cue of the library may be </a:t>
            </a:r>
            <a:r>
              <a:rPr lang="en-US" dirty="0" smtClean="0"/>
              <a:t>sufficient </a:t>
            </a:r>
            <a:r>
              <a:rPr lang="en-US" dirty="0"/>
              <a:t>to help you recall that </a:t>
            </a:r>
            <a:r>
              <a:rPr lang="en-US" dirty="0" smtClean="0"/>
              <a:t>you left </a:t>
            </a:r>
            <a:r>
              <a:rPr lang="en-US" dirty="0"/>
              <a:t>them on the desk in the library. </a:t>
            </a:r>
            <a:endParaRPr lang="en-US" dirty="0" smtClean="0"/>
          </a:p>
          <a:p>
            <a:r>
              <a:rPr lang="en-US" dirty="0" smtClean="0"/>
              <a:t>Without </a:t>
            </a:r>
            <a:r>
              <a:rPr lang="en-US" dirty="0"/>
              <a:t>that retrieval cue, you may be </a:t>
            </a:r>
            <a:r>
              <a:rPr lang="en-US" dirty="0" smtClean="0"/>
              <a:t>unable to </a:t>
            </a:r>
            <a:r>
              <a:rPr lang="en-US" dirty="0"/>
              <a:t>recall the location of the keys.</a:t>
            </a:r>
          </a:p>
        </p:txBody>
      </p:sp>
    </p:spTree>
    <p:extLst>
      <p:ext uri="{BB962C8B-B14F-4D97-AF65-F5344CB8AC3E}">
        <p14:creationId xmlns:p14="http://schemas.microsoft.com/office/powerpoint/2010/main" val="5243954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proactive interference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proactive interference, </a:t>
            </a:r>
            <a:r>
              <a:rPr lang="en-US" u="sng" dirty="0"/>
              <a:t>information learned earlier disrupts the recall </a:t>
            </a:r>
            <a:r>
              <a:rPr lang="en-US" u="sng" dirty="0" smtClean="0"/>
              <a:t>of newer </a:t>
            </a:r>
            <a:r>
              <a:rPr lang="en-US" u="sng" dirty="0"/>
              <a:t>material. </a:t>
            </a:r>
            <a:endParaRPr lang="en-US" u="sng" dirty="0" smtClean="0"/>
          </a:p>
          <a:p>
            <a:r>
              <a:rPr lang="en-US" dirty="0" smtClean="0"/>
              <a:t>Suppose</a:t>
            </a:r>
            <a:r>
              <a:rPr lang="en-US" dirty="0"/>
              <a:t>, as a student of foreign languages, you </a:t>
            </a:r>
            <a:r>
              <a:rPr lang="en-US" dirty="0" smtClean="0"/>
              <a:t>first </a:t>
            </a:r>
            <a:r>
              <a:rPr lang="en-US" dirty="0"/>
              <a:t>learned </a:t>
            </a:r>
            <a:r>
              <a:rPr lang="en-US" dirty="0" smtClean="0"/>
              <a:t>French in </a:t>
            </a:r>
            <a:r>
              <a:rPr lang="en-US" dirty="0"/>
              <a:t>the 10th grade, and then in the 11th grade you took Spanish. When in the </a:t>
            </a:r>
            <a:r>
              <a:rPr lang="en-US" dirty="0" smtClean="0"/>
              <a:t>12</a:t>
            </a:r>
            <a:r>
              <a:rPr lang="en-US" baseline="30000" dirty="0" smtClean="0"/>
              <a:t>th</a:t>
            </a:r>
            <a:r>
              <a:rPr lang="en-US" dirty="0" smtClean="0"/>
              <a:t> grade </a:t>
            </a:r>
            <a:r>
              <a:rPr lang="en-US" dirty="0"/>
              <a:t>you take a college subject achievement test in Spanish, you may fi </a:t>
            </a:r>
            <a:r>
              <a:rPr lang="en-US" dirty="0" err="1"/>
              <a:t>nd</a:t>
            </a:r>
            <a:r>
              <a:rPr lang="en-US" dirty="0"/>
              <a:t> you </a:t>
            </a:r>
            <a:r>
              <a:rPr lang="en-US" dirty="0" smtClean="0"/>
              <a:t>have difficulty </a:t>
            </a:r>
            <a:r>
              <a:rPr lang="en-US" dirty="0"/>
              <a:t>recalling the Spanish translation of a word because all you can think of </a:t>
            </a:r>
            <a:r>
              <a:rPr lang="en-US" dirty="0" smtClean="0"/>
              <a:t>is its </a:t>
            </a:r>
            <a:r>
              <a:rPr lang="en-US" dirty="0"/>
              <a:t>French equivalent.</a:t>
            </a:r>
          </a:p>
        </p:txBody>
      </p:sp>
    </p:spTree>
    <p:extLst>
      <p:ext uri="{BB962C8B-B14F-4D97-AF65-F5344CB8AC3E}">
        <p14:creationId xmlns:p14="http://schemas.microsoft.com/office/powerpoint/2010/main" val="4135778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23" y="770729"/>
            <a:ext cx="10367356" cy="5029707"/>
          </a:xfrm>
        </p:spPr>
      </p:pic>
    </p:spTree>
    <p:extLst>
      <p:ext uri="{BB962C8B-B14F-4D97-AF65-F5344CB8AC3E}">
        <p14:creationId xmlns:p14="http://schemas.microsoft.com/office/powerpoint/2010/main" val="5674195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retroactive interference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contrast, retroactive interference occurs when material that was learned </a:t>
            </a:r>
            <a:r>
              <a:rPr lang="en-US" dirty="0" smtClean="0"/>
              <a:t>later disrupts </a:t>
            </a:r>
            <a:r>
              <a:rPr lang="en-US" dirty="0"/>
              <a:t>the retrieval of information that was learned earlier. </a:t>
            </a:r>
            <a:endParaRPr lang="en-US" dirty="0" smtClean="0"/>
          </a:p>
          <a:p>
            <a:r>
              <a:rPr lang="en-US" dirty="0" smtClean="0"/>
              <a:t>If</a:t>
            </a:r>
            <a:r>
              <a:rPr lang="en-US" dirty="0"/>
              <a:t>, for example, you </a:t>
            </a:r>
            <a:r>
              <a:rPr lang="en-US" dirty="0" smtClean="0"/>
              <a:t>have difficulty </a:t>
            </a:r>
            <a:r>
              <a:rPr lang="en-US" dirty="0"/>
              <a:t>on a French subject achievement test because of your more recent </a:t>
            </a:r>
            <a:r>
              <a:rPr lang="en-US" dirty="0" smtClean="0"/>
              <a:t>exposure to </a:t>
            </a:r>
            <a:r>
              <a:rPr lang="en-US" dirty="0"/>
              <a:t>Spanish, retroactive interference is the culprit (see Figure 3).</a:t>
            </a:r>
          </a:p>
        </p:txBody>
      </p:sp>
    </p:spTree>
    <p:extLst>
      <p:ext uri="{BB962C8B-B14F-4D97-AF65-F5344CB8AC3E}">
        <p14:creationId xmlns:p14="http://schemas.microsoft.com/office/powerpoint/2010/main" val="23850158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249382"/>
            <a:ext cx="7661010" cy="6508470"/>
          </a:xfrm>
        </p:spPr>
      </p:pic>
    </p:spTree>
    <p:extLst>
      <p:ext uri="{BB962C8B-B14F-4D97-AF65-F5344CB8AC3E}">
        <p14:creationId xmlns:p14="http://schemas.microsoft.com/office/powerpoint/2010/main" val="11125347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dysfunctions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Alzheimer’s disease </a:t>
            </a:r>
            <a:endParaRPr lang="en-US" b="1" dirty="0" smtClean="0"/>
          </a:p>
          <a:p>
            <a:r>
              <a:rPr lang="en-US" dirty="0" smtClean="0"/>
              <a:t>A progressive brain </a:t>
            </a:r>
            <a:r>
              <a:rPr lang="en-US" dirty="0"/>
              <a:t>disorder that leads to a </a:t>
            </a:r>
            <a:r>
              <a:rPr lang="en-US" dirty="0" smtClean="0"/>
              <a:t>gradual and </a:t>
            </a:r>
            <a:r>
              <a:rPr lang="en-US" dirty="0"/>
              <a:t>irreversible decline in </a:t>
            </a:r>
            <a:r>
              <a:rPr lang="en-US" dirty="0" smtClean="0"/>
              <a:t>cognitive abilities.</a:t>
            </a:r>
          </a:p>
          <a:p>
            <a:r>
              <a:rPr lang="en-US" b="1" dirty="0" smtClean="0"/>
              <a:t>Amnesia </a:t>
            </a:r>
          </a:p>
          <a:p>
            <a:r>
              <a:rPr lang="en-US" dirty="0" smtClean="0"/>
              <a:t>Memory </a:t>
            </a:r>
            <a:r>
              <a:rPr lang="en-US" dirty="0"/>
              <a:t>loss that </a:t>
            </a:r>
            <a:r>
              <a:rPr lang="en-US" dirty="0" smtClean="0"/>
              <a:t>occurs without </a:t>
            </a:r>
            <a:r>
              <a:rPr lang="en-US" dirty="0"/>
              <a:t>other mental </a:t>
            </a:r>
            <a:r>
              <a:rPr lang="en-US" dirty="0" smtClean="0"/>
              <a:t>difficulties. </a:t>
            </a:r>
          </a:p>
          <a:p>
            <a:r>
              <a:rPr lang="en-US" b="1" dirty="0" smtClean="0"/>
              <a:t>Retrograde </a:t>
            </a:r>
            <a:r>
              <a:rPr lang="en-US" b="1" dirty="0"/>
              <a:t>amnesia </a:t>
            </a:r>
            <a:endParaRPr lang="en-US" b="1" dirty="0" smtClean="0"/>
          </a:p>
          <a:p>
            <a:r>
              <a:rPr lang="en-US" dirty="0" smtClean="0"/>
              <a:t>Amnesia </a:t>
            </a:r>
            <a:r>
              <a:rPr lang="en-US" dirty="0"/>
              <a:t>in </a:t>
            </a:r>
            <a:r>
              <a:rPr lang="en-US" dirty="0" smtClean="0"/>
              <a:t>which memory </a:t>
            </a:r>
            <a:r>
              <a:rPr lang="en-US" dirty="0"/>
              <a:t>is lost for occurrences prior to </a:t>
            </a:r>
            <a:r>
              <a:rPr lang="en-US" dirty="0" smtClean="0"/>
              <a:t>a certain </a:t>
            </a:r>
            <a:r>
              <a:rPr lang="en-US" dirty="0"/>
              <a:t>event, but not for new events.</a:t>
            </a:r>
          </a:p>
        </p:txBody>
      </p:sp>
    </p:spTree>
    <p:extLst>
      <p:ext uri="{BB962C8B-B14F-4D97-AF65-F5344CB8AC3E}">
        <p14:creationId xmlns:p14="http://schemas.microsoft.com/office/powerpoint/2010/main" val="34068060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Anterograde </a:t>
            </a:r>
            <a:r>
              <a:rPr lang="en-US" b="1" dirty="0"/>
              <a:t>amnesia, </a:t>
            </a:r>
            <a:r>
              <a:rPr lang="en-US" dirty="0"/>
              <a:t>loss of memory occurs for </a:t>
            </a:r>
            <a:r>
              <a:rPr lang="en-US" dirty="0" smtClean="0"/>
              <a:t>events that </a:t>
            </a:r>
            <a:r>
              <a:rPr lang="en-US" dirty="0"/>
              <a:t>follow an injury. Information cannot be transferred from short-term to </a:t>
            </a:r>
            <a:r>
              <a:rPr lang="en-US" dirty="0" smtClean="0"/>
              <a:t>long-term memory</a:t>
            </a:r>
            <a:r>
              <a:rPr lang="en-US" dirty="0"/>
              <a:t>, resulting in the inability to remember anything other than what was in </a:t>
            </a:r>
            <a:r>
              <a:rPr lang="en-US" dirty="0" smtClean="0"/>
              <a:t>long-term storage </a:t>
            </a:r>
            <a:r>
              <a:rPr lang="en-US" dirty="0"/>
              <a:t>before the </a:t>
            </a:r>
            <a:r>
              <a:rPr lang="en-US" dirty="0" smtClean="0"/>
              <a:t>accident</a:t>
            </a:r>
          </a:p>
          <a:p>
            <a:r>
              <a:rPr lang="en-US" b="1" dirty="0" err="1"/>
              <a:t>Korsakoff’s</a:t>
            </a:r>
            <a:r>
              <a:rPr lang="en-US" b="1" dirty="0"/>
              <a:t> syndrome </a:t>
            </a:r>
            <a:endParaRPr lang="en-US" b="1" dirty="0" smtClean="0"/>
          </a:p>
          <a:p>
            <a:r>
              <a:rPr lang="en-US" dirty="0" smtClean="0"/>
              <a:t>A </a:t>
            </a:r>
            <a:r>
              <a:rPr lang="en-US" dirty="0"/>
              <a:t>disease </a:t>
            </a:r>
            <a:r>
              <a:rPr lang="en-US" dirty="0" smtClean="0"/>
              <a:t>that afflicts </a:t>
            </a:r>
            <a:r>
              <a:rPr lang="en-US" dirty="0"/>
              <a:t>long-term alcoholics, </a:t>
            </a:r>
            <a:r>
              <a:rPr lang="en-US" dirty="0" smtClean="0"/>
              <a:t>leaving some </a:t>
            </a:r>
            <a:r>
              <a:rPr lang="en-US" dirty="0"/>
              <a:t>abilities intact but </a:t>
            </a:r>
            <a:r>
              <a:rPr lang="en-US" dirty="0" smtClean="0"/>
              <a:t>including hallucinations </a:t>
            </a:r>
            <a:r>
              <a:rPr lang="en-US" dirty="0"/>
              <a:t>and a tendency to </a:t>
            </a:r>
            <a:r>
              <a:rPr lang="en-US" dirty="0" smtClean="0"/>
              <a:t>repeat the </a:t>
            </a:r>
            <a:r>
              <a:rPr lang="en-US" dirty="0"/>
              <a:t>same story.</a:t>
            </a:r>
          </a:p>
        </p:txBody>
      </p:sp>
    </p:spTree>
    <p:extLst>
      <p:ext uri="{BB962C8B-B14F-4D97-AF65-F5344CB8AC3E}">
        <p14:creationId xmlns:p14="http://schemas.microsoft.com/office/powerpoint/2010/main" val="27165984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improve memory?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keyword technique </a:t>
            </a:r>
          </a:p>
          <a:p>
            <a:r>
              <a:rPr lang="en-US" dirty="0" smtClean="0"/>
              <a:t>Rely on organization cues</a:t>
            </a:r>
          </a:p>
          <a:p>
            <a:r>
              <a:rPr lang="en-US" dirty="0" smtClean="0"/>
              <a:t>Take effective notes</a:t>
            </a:r>
          </a:p>
          <a:p>
            <a:r>
              <a:rPr lang="en-US" dirty="0" smtClean="0"/>
              <a:t>Practice and rehearse </a:t>
            </a:r>
          </a:p>
          <a:p>
            <a:r>
              <a:rPr lang="en-US" dirty="0" smtClean="0"/>
              <a:t>Talk to yourself </a:t>
            </a:r>
          </a:p>
          <a:p>
            <a:r>
              <a:rPr lang="en-US" dirty="0" smtClean="0"/>
              <a:t>Don’t believe in </a:t>
            </a:r>
            <a:r>
              <a:rPr lang="en-US" smtClean="0"/>
              <a:t>magic claims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56413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276</TotalTime>
  <Words>3112</Words>
  <Application>Microsoft Office PowerPoint</Application>
  <PresentationFormat>Widescreen</PresentationFormat>
  <Paragraphs>187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Gill Sans MT</vt:lpstr>
      <vt:lpstr>Parcel</vt:lpstr>
      <vt:lpstr>memory</vt:lpstr>
      <vt:lpstr>What is memory?</vt:lpstr>
      <vt:lpstr>Cont.</vt:lpstr>
      <vt:lpstr>three-system approach to memory</vt:lpstr>
      <vt:lpstr>Cont.</vt:lpstr>
      <vt:lpstr>Sensory memory</vt:lpstr>
      <vt:lpstr>Cont.</vt:lpstr>
      <vt:lpstr>PowerPoint Presentation</vt:lpstr>
      <vt:lpstr>Cont.</vt:lpstr>
      <vt:lpstr>Cont.</vt:lpstr>
      <vt:lpstr>Short term memory</vt:lpstr>
      <vt:lpstr>PowerPoint Presentation</vt:lpstr>
      <vt:lpstr>chunk</vt:lpstr>
      <vt:lpstr>Cont.</vt:lpstr>
      <vt:lpstr>When does the information go to long term memory?</vt:lpstr>
      <vt:lpstr>rehearsal</vt:lpstr>
      <vt:lpstr>When does it go to LTM?</vt:lpstr>
      <vt:lpstr>Elaborative rehearsal</vt:lpstr>
      <vt:lpstr>Working memory</vt:lpstr>
      <vt:lpstr>Cont.</vt:lpstr>
      <vt:lpstr>Cont.</vt:lpstr>
      <vt:lpstr>Stress and working memory</vt:lpstr>
      <vt:lpstr>Long term memory</vt:lpstr>
      <vt:lpstr>Long term memory modules</vt:lpstr>
      <vt:lpstr>Cont.</vt:lpstr>
      <vt:lpstr>PowerPoint Presentation</vt:lpstr>
      <vt:lpstr>PowerPoint Presentation</vt:lpstr>
      <vt:lpstr>Cont.</vt:lpstr>
      <vt:lpstr>Recalling long term memories</vt:lpstr>
      <vt:lpstr>Have you ever tried to remember someone’s name, convinced that you knew it but unable to recall it no matter how hard you tried?   This common occurrence—known as the tip-of-the-tongue phenomenon —exemplifies how difficult it can be to retrieve information stored in long-term memory</vt:lpstr>
      <vt:lpstr>Retrieval cues</vt:lpstr>
      <vt:lpstr>Cont.</vt:lpstr>
      <vt:lpstr>Cont.</vt:lpstr>
      <vt:lpstr>Recall and recognition</vt:lpstr>
      <vt:lpstr>Level of processing </vt:lpstr>
      <vt:lpstr>Implicit &amp; Explicit Memory</vt:lpstr>
      <vt:lpstr>Flashbulb memories</vt:lpstr>
      <vt:lpstr>Constructive Processes in Memory: Rebuilding the Past</vt:lpstr>
      <vt:lpstr>Cont.</vt:lpstr>
      <vt:lpstr>Autobiographical memory</vt:lpstr>
      <vt:lpstr>forgetting</vt:lpstr>
      <vt:lpstr>Why we forget?</vt:lpstr>
      <vt:lpstr>PowerPoint Presentation</vt:lpstr>
      <vt:lpstr>Decay</vt:lpstr>
      <vt:lpstr>interference</vt:lpstr>
      <vt:lpstr>Cont </vt:lpstr>
      <vt:lpstr>cue-dependent forgetting</vt:lpstr>
      <vt:lpstr>proactive interference</vt:lpstr>
      <vt:lpstr>PowerPoint Presentation</vt:lpstr>
      <vt:lpstr>retroactive interference</vt:lpstr>
      <vt:lpstr>PowerPoint Presentation</vt:lpstr>
      <vt:lpstr>Memory dysfunctions </vt:lpstr>
      <vt:lpstr>Cont </vt:lpstr>
      <vt:lpstr>How to improve memory?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</dc:title>
  <dc:creator>Summayyah Shafique</dc:creator>
  <cp:lastModifiedBy>Summayyah Shafique</cp:lastModifiedBy>
  <cp:revision>24</cp:revision>
  <dcterms:created xsi:type="dcterms:W3CDTF">2023-05-04T10:36:09Z</dcterms:created>
  <dcterms:modified xsi:type="dcterms:W3CDTF">2023-05-10T12:29:19Z</dcterms:modified>
</cp:coreProperties>
</file>