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98" r:id="rId3"/>
    <p:sldId id="299" r:id="rId4"/>
    <p:sldId id="301" r:id="rId5"/>
    <p:sldId id="295" r:id="rId6"/>
    <p:sldId id="258" r:id="rId7"/>
    <p:sldId id="296" r:id="rId8"/>
    <p:sldId id="300" r:id="rId9"/>
    <p:sldId id="297" r:id="rId10"/>
    <p:sldId id="264" r:id="rId11"/>
    <p:sldId id="30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88" autoAdjust="0"/>
    <p:restoredTop sz="79354" autoAdjust="0"/>
  </p:normalViewPr>
  <p:slideViewPr>
    <p:cSldViewPr>
      <p:cViewPr varScale="1">
        <p:scale>
          <a:sx n="52" d="100"/>
          <a:sy n="52" d="100"/>
        </p:scale>
        <p:origin x="189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DF3F65-F57D-4B7D-92AB-095BAE48967F}" type="datetimeFigureOut">
              <a:rPr lang="en-US" smtClean="0"/>
              <a:t>2/16/2024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D00B31-DE99-48CC-B838-583C2B9B5A62}" type="slidenum">
              <a:rPr lang="en-US" smtClean="0"/>
              <a:t>‹#›</a:t>
            </a:fld>
            <a:endParaRPr lang="en-US"/>
          </a:p>
        </p:txBody>
      </p:sp>
    </p:spTree>
    <p:extLst>
      <p:ext uri="{BB962C8B-B14F-4D97-AF65-F5344CB8AC3E}">
        <p14:creationId xmlns:p14="http://schemas.microsoft.com/office/powerpoint/2010/main" val="3128599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3806076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377490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2893937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D7BA63-7087-4758-9E8E-0149369A8706}"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193809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D7BA63-7087-4758-9E8E-0149369A8706}" type="datetimeFigureOut">
              <a:rPr lang="en-US" smtClean="0"/>
              <a:pPr/>
              <a:t>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1064736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D7BA63-7087-4758-9E8E-0149369A8706}" type="datetimeFigureOut">
              <a:rPr lang="en-US" smtClean="0"/>
              <a:pPr/>
              <a:t>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701412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F8D7BA63-7087-4758-9E8E-0149369A8706}" type="datetimeFigureOut">
              <a:rPr lang="en-US" smtClean="0"/>
              <a:pPr/>
              <a:t>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103911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D7BA63-7087-4758-9E8E-0149369A8706}"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2846996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D7BA63-7087-4758-9E8E-0149369A8706}"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3096555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D7BA63-7087-4758-9E8E-0149369A8706}"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106269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3408190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18953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4142130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8D7BA63-7087-4758-9E8E-0149369A8706}" type="datetimeFigureOut">
              <a:rPr lang="en-US" smtClean="0"/>
              <a:pPr/>
              <a:t>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4280107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8D7BA63-7087-4758-9E8E-0149369A8706}" type="datetimeFigureOut">
              <a:rPr lang="en-US" smtClean="0"/>
              <a:pPr/>
              <a:t>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851117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1191036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D7BA63-7087-4758-9E8E-0149369A8706}" type="datetimeFigureOut">
              <a:rPr lang="en-US" smtClean="0"/>
              <a:pPr/>
              <a:t>2/16/2024</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233807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F8D7BA63-7087-4758-9E8E-0149369A8706}" type="datetimeFigureOut">
              <a:rPr lang="en-US" smtClean="0"/>
              <a:pPr/>
              <a:t>2/16/2024</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D346C83F-3C8A-4A90-BA31-2CE1CBFBE665}" type="slidenum">
              <a:rPr lang="en-US" smtClean="0"/>
              <a:pPr/>
              <a:t>‹#›</a:t>
            </a:fld>
            <a:endParaRPr lang="en-US"/>
          </a:p>
        </p:txBody>
      </p:sp>
    </p:spTree>
    <p:extLst>
      <p:ext uri="{BB962C8B-B14F-4D97-AF65-F5344CB8AC3E}">
        <p14:creationId xmlns:p14="http://schemas.microsoft.com/office/powerpoint/2010/main" val="25418266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System Modeling </a:t>
            </a:r>
          </a:p>
        </p:txBody>
      </p:sp>
      <p:sp>
        <p:nvSpPr>
          <p:cNvPr id="3" name="Subtitle 2"/>
          <p:cNvSpPr>
            <a:spLocks noGrp="1"/>
          </p:cNvSpPr>
          <p:nvPr>
            <p:ph type="subTitle" idx="1"/>
          </p:nvPr>
        </p:nvSpPr>
        <p:spPr/>
        <p:txBody>
          <a:bodyPr/>
          <a:lstStyle/>
          <a:p>
            <a:r>
              <a:rPr lang="en-US" dirty="0"/>
              <a:t>Chapter 5-Software Engineering by Ian </a:t>
            </a:r>
            <a:r>
              <a:rPr lang="en-US" dirty="0" err="1"/>
              <a:t>Sommerville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p:txBody>
          <a:bodyPr/>
          <a:lstStyle/>
          <a:p>
            <a:r>
              <a:rPr lang="en-US" dirty="0"/>
              <a:t>Context models</a:t>
            </a:r>
          </a:p>
          <a:p>
            <a:r>
              <a:rPr lang="en-US" dirty="0"/>
              <a:t>Structural models</a:t>
            </a:r>
          </a:p>
          <a:p>
            <a:r>
              <a:rPr lang="en-US" dirty="0"/>
              <a:t>Behavioral models</a:t>
            </a:r>
          </a:p>
        </p:txBody>
      </p:sp>
    </p:spTree>
    <p:extLst>
      <p:ext uri="{BB962C8B-B14F-4D97-AF65-F5344CB8AC3E}">
        <p14:creationId xmlns:p14="http://schemas.microsoft.com/office/powerpoint/2010/main" val="163540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a:xfrm>
            <a:off x="457200" y="2209800"/>
            <a:ext cx="7974818" cy="3530600"/>
          </a:xfrm>
        </p:spPr>
        <p:txBody>
          <a:bodyPr>
            <a:normAutofit/>
          </a:bodyPr>
          <a:lstStyle/>
          <a:p>
            <a:r>
              <a:rPr lang="en-US" sz="2000" dirty="0">
                <a:latin typeface="Times New Roman" panose="02020603050405020304" pitchFamily="18" charset="0"/>
                <a:cs typeface="Times New Roman" panose="02020603050405020304" pitchFamily="18" charset="0"/>
              </a:rPr>
              <a:t>System modeling is the process of developing abstract models of a system, with each model presenting a different view or perspective of that system. </a:t>
            </a:r>
          </a:p>
          <a:p>
            <a:r>
              <a:rPr lang="en-US" sz="2000" dirty="0">
                <a:latin typeface="Times New Roman" panose="02020603050405020304" pitchFamily="18" charset="0"/>
                <a:cs typeface="Times New Roman" panose="02020603050405020304" pitchFamily="18" charset="0"/>
              </a:rPr>
              <a:t>System modeling has generally come to mean representing the system using some kind of graphical notation, which is now almost always based on notations in the Unified Modeling Language (UML)</a:t>
            </a:r>
          </a:p>
        </p:txBody>
      </p:sp>
    </p:spTree>
    <p:extLst>
      <p:ext uri="{BB962C8B-B14F-4D97-AF65-F5344CB8AC3E}">
        <p14:creationId xmlns:p14="http://schemas.microsoft.com/office/powerpoint/2010/main" val="602993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a:t>
            </a:r>
          </a:p>
        </p:txBody>
      </p:sp>
      <p:pic>
        <p:nvPicPr>
          <p:cNvPr id="4" name="Content Placeholder 3"/>
          <p:cNvPicPr>
            <a:picLocks noGrp="1" noChangeAspect="1"/>
          </p:cNvPicPr>
          <p:nvPr>
            <p:ph idx="1"/>
          </p:nvPr>
        </p:nvPicPr>
        <p:blipFill>
          <a:blip r:embed="rId2"/>
          <a:stretch>
            <a:fillRect/>
          </a:stretch>
        </p:blipFill>
        <p:spPr>
          <a:xfrm>
            <a:off x="1295400" y="2743200"/>
            <a:ext cx="6346825" cy="2621017"/>
          </a:xfrm>
          <a:prstGeom prst="rect">
            <a:avLst/>
          </a:prstGeom>
        </p:spPr>
      </p:pic>
    </p:spTree>
    <p:extLst>
      <p:ext uri="{BB962C8B-B14F-4D97-AF65-F5344CB8AC3E}">
        <p14:creationId xmlns:p14="http://schemas.microsoft.com/office/powerpoint/2010/main" val="2021566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vs Dynamic Modeling</a:t>
            </a:r>
          </a:p>
        </p:txBody>
      </p:sp>
      <p:sp>
        <p:nvSpPr>
          <p:cNvPr id="3" name="Content Placeholder 2"/>
          <p:cNvSpPr>
            <a:spLocks noGrp="1"/>
          </p:cNvSpPr>
          <p:nvPr>
            <p:ph idx="1"/>
          </p:nvPr>
        </p:nvSpPr>
        <p:spPr>
          <a:xfrm>
            <a:off x="864382" y="2489200"/>
            <a:ext cx="7822418" cy="3530600"/>
          </a:xfrm>
        </p:spPr>
        <p:txBody>
          <a:bodyPr>
            <a:normAutofit/>
          </a:bodyPr>
          <a:lstStyle/>
          <a:p>
            <a:pPr algn="just"/>
            <a:r>
              <a:rPr lang="en-US" sz="2400" dirty="0">
                <a:latin typeface="Times New Roman" panose="02020603050405020304" pitchFamily="18" charset="0"/>
                <a:cs typeface="Times New Roman" panose="02020603050405020304" pitchFamily="18" charset="0"/>
              </a:rPr>
              <a:t>A structural perspective, where you model the organization of a system or the structure of the data that is processed by the system.</a:t>
            </a:r>
          </a:p>
          <a:p>
            <a:pPr algn="just"/>
            <a:r>
              <a:rPr lang="en-US" sz="2400" dirty="0">
                <a:latin typeface="Times New Roman" panose="02020603050405020304" pitchFamily="18" charset="0"/>
                <a:cs typeface="Times New Roman" panose="02020603050405020304" pitchFamily="18" charset="0"/>
              </a:rPr>
              <a:t>A behavioral perspective, where you model the dynamic behavior of the system and how it responds to events.</a:t>
            </a:r>
          </a:p>
        </p:txBody>
      </p:sp>
    </p:spTree>
    <p:extLst>
      <p:ext uri="{BB962C8B-B14F-4D97-AF65-F5344CB8AC3E}">
        <p14:creationId xmlns:p14="http://schemas.microsoft.com/office/powerpoint/2010/main" val="759710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233487" y="914401"/>
            <a:ext cx="6677025" cy="5029994"/>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vs Dynamic Modeling</a:t>
            </a:r>
          </a:p>
        </p:txBody>
      </p:sp>
      <p:sp>
        <p:nvSpPr>
          <p:cNvPr id="3" name="Content Placeholder 2"/>
          <p:cNvSpPr>
            <a:spLocks noGrp="1"/>
          </p:cNvSpPr>
          <p:nvPr>
            <p:ph idx="1"/>
          </p:nvPr>
        </p:nvSpPr>
        <p:spPr>
          <a:xfrm>
            <a:off x="685800" y="2209800"/>
            <a:ext cx="7822418" cy="3530600"/>
          </a:xfrm>
        </p:spPr>
        <p:txBody>
          <a:bodyPr>
            <a:normAutofit fontScale="92500" lnSpcReduction="10000"/>
          </a:bodyPr>
          <a:lstStyle/>
          <a:p>
            <a:pPr marL="0" indent="0">
              <a:buNone/>
            </a:pPr>
            <a:r>
              <a:rPr lang="en-US" dirty="0"/>
              <a:t> </a:t>
            </a:r>
          </a:p>
          <a:p>
            <a:pPr marL="0" indent="0" algn="just">
              <a:buNone/>
            </a:pPr>
            <a:r>
              <a:rPr lang="en-US" sz="2400" dirty="0">
                <a:latin typeface="Times New Roman" panose="02020603050405020304" pitchFamily="18" charset="0"/>
                <a:cs typeface="Times New Roman" panose="02020603050405020304" pitchFamily="18" charset="0"/>
              </a:rPr>
              <a:t>UML diagrams represent these two aspects of a system:</a:t>
            </a:r>
          </a:p>
          <a:p>
            <a:pPr algn="just"/>
            <a:r>
              <a:rPr lang="en-US" sz="2400" b="1" dirty="0">
                <a:latin typeface="Times New Roman" panose="02020603050405020304" pitchFamily="18" charset="0"/>
                <a:cs typeface="Times New Roman" panose="02020603050405020304" pitchFamily="18" charset="0"/>
              </a:rPr>
              <a:t>Structural (or Static) view</a:t>
            </a:r>
            <a:r>
              <a:rPr lang="en-US" sz="2400" dirty="0">
                <a:latin typeface="Times New Roman" panose="02020603050405020304" pitchFamily="18" charset="0"/>
                <a:cs typeface="Times New Roman" panose="02020603050405020304" pitchFamily="18" charset="0"/>
              </a:rPr>
              <a:t>: emphasizes the static structure of the system using objects, attributes, operations and relationships. It includes class diagrams and composite structure diagrams.</a:t>
            </a:r>
          </a:p>
          <a:p>
            <a:pPr algn="just"/>
            <a:r>
              <a:rPr lang="en-US" sz="2400" b="1" dirty="0">
                <a:latin typeface="Times New Roman" panose="02020603050405020304" pitchFamily="18" charset="0"/>
                <a:cs typeface="Times New Roman" panose="02020603050405020304" pitchFamily="18" charset="0"/>
              </a:rPr>
              <a:t>Behavioral (or Dynamic) view</a:t>
            </a:r>
            <a:r>
              <a:rPr lang="en-US" sz="2400" dirty="0">
                <a:latin typeface="Times New Roman" panose="02020603050405020304" pitchFamily="18" charset="0"/>
                <a:cs typeface="Times New Roman" panose="02020603050405020304" pitchFamily="18" charset="0"/>
              </a:rPr>
              <a:t>: emphasizes the dynamic behavior of the system by showing collaborations among objects and changes to the internal states of objects. This view includes sequence diagrams, activity diagrams, and state machine diagrams.</a:t>
            </a:r>
          </a:p>
          <a:p>
            <a:endParaRPr lang="en-US" dirty="0"/>
          </a:p>
        </p:txBody>
      </p:sp>
    </p:spTree>
    <p:extLst>
      <p:ext uri="{BB962C8B-B14F-4D97-AF65-F5344CB8AC3E}">
        <p14:creationId xmlns:p14="http://schemas.microsoft.com/office/powerpoint/2010/main" val="361417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7439830" cy="709865"/>
          </a:xfrm>
        </p:spPr>
        <p:txBody>
          <a:bodyPr/>
          <a:lstStyle/>
          <a:p>
            <a:r>
              <a:rPr lang="en-US" dirty="0"/>
              <a:t>The Unified Modeling Language</a:t>
            </a:r>
          </a:p>
        </p:txBody>
      </p:sp>
      <p:sp>
        <p:nvSpPr>
          <p:cNvPr id="3" name="Content Placeholder 2"/>
          <p:cNvSpPr>
            <a:spLocks noGrp="1"/>
          </p:cNvSpPr>
          <p:nvPr>
            <p:ph idx="1"/>
          </p:nvPr>
        </p:nvSpPr>
        <p:spPr>
          <a:xfrm>
            <a:off x="864382" y="2489200"/>
            <a:ext cx="7593818" cy="3530600"/>
          </a:xfrm>
        </p:spPr>
        <p:txBody>
          <a:bodyPr>
            <a:noAutofit/>
          </a:bodyPr>
          <a:lstStyle/>
          <a:p>
            <a:r>
              <a:rPr lang="en-US" sz="2000" dirty="0">
                <a:latin typeface="Times New Roman" panose="02020603050405020304" pitchFamily="18" charset="0"/>
                <a:cs typeface="Times New Roman" panose="02020603050405020304" pitchFamily="18" charset="0"/>
              </a:rPr>
              <a:t>The Unified Modeling Language is a set of 13 different diagram types that may be used to model software systems. </a:t>
            </a:r>
          </a:p>
          <a:p>
            <a:r>
              <a:rPr lang="en-US" sz="2000" dirty="0">
                <a:latin typeface="Times New Roman" panose="02020603050405020304" pitchFamily="18" charset="0"/>
                <a:cs typeface="Times New Roman" panose="02020603050405020304" pitchFamily="18" charset="0"/>
              </a:rPr>
              <a:t>It emerged from work in the 1990s on object-oriented modeling where similar object-oriented notations were integrated to create the UML. </a:t>
            </a:r>
          </a:p>
          <a:p>
            <a:r>
              <a:rPr lang="en-US" sz="2000" dirty="0">
                <a:latin typeface="Times New Roman" panose="02020603050405020304" pitchFamily="18" charset="0"/>
                <a:cs typeface="Times New Roman" panose="02020603050405020304" pitchFamily="18" charset="0"/>
              </a:rPr>
              <a:t>A major revision (UML 2) was finalized in 2004. </a:t>
            </a:r>
          </a:p>
          <a:p>
            <a:r>
              <a:rPr lang="en-US" sz="2000" dirty="0">
                <a:latin typeface="Times New Roman" panose="02020603050405020304" pitchFamily="18" charset="0"/>
                <a:cs typeface="Times New Roman" panose="02020603050405020304" pitchFamily="18" charset="0"/>
              </a:rPr>
              <a:t>The UML is universally accepted as the standard approach for developing models of software systems. </a:t>
            </a:r>
          </a:p>
          <a:p>
            <a:r>
              <a:rPr lang="en-US" sz="2000" dirty="0">
                <a:latin typeface="Times New Roman" panose="02020603050405020304" pitchFamily="18" charset="0"/>
                <a:cs typeface="Times New Roman" panose="02020603050405020304" pitchFamily="18" charset="0"/>
              </a:rPr>
              <a:t>Variants have been proposed for more general system modeling.</a:t>
            </a:r>
          </a:p>
        </p:txBody>
      </p:sp>
    </p:spTree>
    <p:extLst>
      <p:ext uri="{BB962C8B-B14F-4D97-AF65-F5344CB8AC3E}">
        <p14:creationId xmlns:p14="http://schemas.microsoft.com/office/powerpoint/2010/main" val="2544509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Use-case Diagram</a:t>
            </a:r>
          </a:p>
        </p:txBody>
      </p:sp>
      <p:sp>
        <p:nvSpPr>
          <p:cNvPr id="3" name="Content Placeholder 2"/>
          <p:cNvSpPr>
            <a:spLocks noGrp="1"/>
          </p:cNvSpPr>
          <p:nvPr>
            <p:ph idx="1"/>
          </p:nvPr>
        </p:nvSpPr>
        <p:spPr/>
        <p:txBody>
          <a:bodyPr/>
          <a:lstStyle/>
          <a:p>
            <a:r>
              <a:rPr lang="en-US" dirty="0"/>
              <a:t>A use case diagram is a graphical depiction of a user's possible interactions with a system. </a:t>
            </a:r>
          </a:p>
          <a:p>
            <a:r>
              <a:rPr lang="en-US" dirty="0"/>
              <a:t>A use case diagram shows various use cases and different types of users the system has and will often be accompanied by other types of diagrams as well</a:t>
            </a:r>
          </a:p>
        </p:txBody>
      </p:sp>
      <p:pic>
        <p:nvPicPr>
          <p:cNvPr id="4" name="Picture 3"/>
          <p:cNvPicPr>
            <a:picLocks noChangeAspect="1"/>
          </p:cNvPicPr>
          <p:nvPr/>
        </p:nvPicPr>
        <p:blipFill>
          <a:blip r:embed="rId2"/>
          <a:stretch>
            <a:fillRect/>
          </a:stretch>
        </p:blipFill>
        <p:spPr>
          <a:xfrm>
            <a:off x="1913742" y="4572000"/>
            <a:ext cx="5314950" cy="1181100"/>
          </a:xfrm>
          <a:prstGeom prst="rect">
            <a:avLst/>
          </a:prstGeom>
        </p:spPr>
      </p:pic>
    </p:spTree>
    <p:extLst>
      <p:ext uri="{BB962C8B-B14F-4D97-AF65-F5344CB8AC3E}">
        <p14:creationId xmlns:p14="http://schemas.microsoft.com/office/powerpoint/2010/main" val="131060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cstate="print"/>
          <a:srcRect/>
          <a:stretch>
            <a:fillRect/>
          </a:stretch>
        </p:blipFill>
        <p:spPr bwMode="auto">
          <a:xfrm>
            <a:off x="1138238" y="842963"/>
            <a:ext cx="6867525" cy="51720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 y="533400"/>
            <a:ext cx="7886700" cy="5514975"/>
          </a:xfrm>
          <a:prstGeom prst="rect">
            <a:avLst/>
          </a:prstGeom>
        </p:spPr>
      </p:pic>
    </p:spTree>
    <p:extLst>
      <p:ext uri="{BB962C8B-B14F-4D97-AF65-F5344CB8AC3E}">
        <p14:creationId xmlns:p14="http://schemas.microsoft.com/office/powerpoint/2010/main" val="30979717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140</TotalTime>
  <Words>347</Words>
  <Application>Microsoft Office PowerPoint</Application>
  <PresentationFormat>On-screen Show (4:3)</PresentationFormat>
  <Paragraphs>27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Times New Roman</vt:lpstr>
      <vt:lpstr>Wingdings 3</vt:lpstr>
      <vt:lpstr>Ion Boardroom</vt:lpstr>
      <vt:lpstr>System Modeling </vt:lpstr>
      <vt:lpstr>Content</vt:lpstr>
      <vt:lpstr>System Modeling</vt:lpstr>
      <vt:lpstr>System Model</vt:lpstr>
      <vt:lpstr>Static vs Dynamic Modeling</vt:lpstr>
      <vt:lpstr>PowerPoint Presentation</vt:lpstr>
      <vt:lpstr>Static vs Dynamic Modeling</vt:lpstr>
      <vt:lpstr>The Unified Modeling Language</vt:lpstr>
      <vt:lpstr>Use-case Diagram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Static vs Dynamic Modeling</dc:title>
  <dc:creator>Fatima Junaid</dc:creator>
  <cp:lastModifiedBy>Junaid Ali Gillani</cp:lastModifiedBy>
  <cp:revision>16</cp:revision>
  <dcterms:created xsi:type="dcterms:W3CDTF">2021-10-03T11:32:14Z</dcterms:created>
  <dcterms:modified xsi:type="dcterms:W3CDTF">2024-02-16T06:03:03Z</dcterms:modified>
</cp:coreProperties>
</file>