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6" r:id="rId1"/>
  </p:sldMasterIdLst>
  <p:notesMasterIdLst>
    <p:notesMasterId r:id="rId30"/>
  </p:notesMasterIdLst>
  <p:handoutMasterIdLst>
    <p:handoutMasterId r:id="rId31"/>
  </p:handoutMasterIdLst>
  <p:sldIdLst>
    <p:sldId id="308" r:id="rId2"/>
    <p:sldId id="279" r:id="rId3"/>
    <p:sldId id="334" r:id="rId4"/>
    <p:sldId id="335" r:id="rId5"/>
    <p:sldId id="336" r:id="rId6"/>
    <p:sldId id="337" r:id="rId7"/>
    <p:sldId id="402" r:id="rId8"/>
    <p:sldId id="403" r:id="rId9"/>
    <p:sldId id="399" r:id="rId10"/>
    <p:sldId id="395" r:id="rId11"/>
    <p:sldId id="401" r:id="rId12"/>
    <p:sldId id="340" r:id="rId13"/>
    <p:sldId id="398" r:id="rId14"/>
    <p:sldId id="400" r:id="rId15"/>
    <p:sldId id="350" r:id="rId16"/>
    <p:sldId id="371" r:id="rId17"/>
    <p:sldId id="346" r:id="rId18"/>
    <p:sldId id="386" r:id="rId19"/>
    <p:sldId id="387" r:id="rId20"/>
    <p:sldId id="380" r:id="rId21"/>
    <p:sldId id="372" r:id="rId22"/>
    <p:sldId id="383" r:id="rId23"/>
    <p:sldId id="382" r:id="rId24"/>
    <p:sldId id="373" r:id="rId25"/>
    <p:sldId id="374" r:id="rId26"/>
    <p:sldId id="376" r:id="rId27"/>
    <p:sldId id="385" r:id="rId28"/>
    <p:sldId id="389"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Q1qldR5djSmb4RYlAbwUpA==" hashData="zHukvmhkHkD+j+tHhtQnzXejGAFG9Lp2gDPGVJlPzLJJSpgQxiHQ6rlEC38yMb4gAOuaW14aU3FVM/WAvwS/xQ=="/>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mee" initials="S" lastIdx="17" clrIdx="0"/>
  <p:cmAuthor id="1" name="Hp" initials="H"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A02020"/>
    <a:srgbClr val="B9DFC2"/>
    <a:srgbClr val="FFCCCC"/>
    <a:srgbClr val="006600"/>
    <a:srgbClr val="E1CDB7"/>
    <a:srgbClr val="6B618F"/>
    <a:srgbClr val="0000FF"/>
    <a:srgbClr val="FFCC66"/>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8171" autoAdjust="0"/>
  </p:normalViewPr>
  <p:slideViewPr>
    <p:cSldViewPr>
      <p:cViewPr varScale="1">
        <p:scale>
          <a:sx n="84" d="100"/>
          <a:sy n="84" d="100"/>
        </p:scale>
        <p:origin x="1212" y="42"/>
      </p:cViewPr>
      <p:guideLst>
        <p:guide orient="horz" pos="2160"/>
        <p:guide pos="2880"/>
      </p:guideLst>
    </p:cSldViewPr>
  </p:slideViewPr>
  <p:outlineViewPr>
    <p:cViewPr>
      <p:scale>
        <a:sx n="33" d="100"/>
        <a:sy n="33" d="100"/>
      </p:scale>
      <p:origin x="48" y="1137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324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AF7CF4B-9645-4A7B-8203-B3FA0788D36D}" type="datetime1">
              <a:rPr lang="en-US" smtClean="0"/>
              <a:t>12/20/2024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a:t>01/26/2015</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99982DD-099B-4C22-BD3A-1DD3C5B2FDB8}" type="slidenum">
              <a:rPr lang="en-US" smtClean="0"/>
              <a:t>‹#›</a:t>
            </a:fld>
            <a:endParaRPr lang="en-US" dirty="0"/>
          </a:p>
        </p:txBody>
      </p:sp>
    </p:spTree>
    <p:extLst>
      <p:ext uri="{BB962C8B-B14F-4D97-AF65-F5344CB8AC3E}">
        <p14:creationId xmlns:p14="http://schemas.microsoft.com/office/powerpoint/2010/main" val="2751195466"/>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18344" units="cm"/>
          <inkml:channel name="Y" type="integer" max="10544" units="cm"/>
          <inkml:channel name="F" type="integer" max="4096" units="dev"/>
          <inkml:channel name="T" type="integer" max="2.14748E9" units="dev"/>
        </inkml:traceFormat>
        <inkml:channelProperties>
          <inkml:channelProperty channel="X" name="resolution" value="623.94556" units="1/cm"/>
          <inkml:channelProperty channel="Y" name="resolution" value="635.18073" units="1/cm"/>
          <inkml:channelProperty channel="F" name="resolution" value="0" units="1/dev"/>
          <inkml:channelProperty channel="T" name="resolution" value="1" units="1/dev"/>
        </inkml:channelProperties>
      </inkml:inkSource>
      <inkml:timestamp xml:id="ts0" timeString="2020-12-29T13:08:56.612"/>
    </inkml:context>
    <inkml:brush xml:id="br0">
      <inkml:brushProperty name="width" value="0.05292" units="cm"/>
      <inkml:brushProperty name="height" value="0.05292" units="cm"/>
      <inkml:brushProperty name="color" value="#FF0000"/>
    </inkml:brush>
  </inkml:definitions>
  <inkml:trace contextRef="#ctx0" brushRef="#br0">3467 14828 124 0,'6'-4'0'0,"3"0"-33"0</inkml:trace>
</inkml:ink>
</file>

<file path=ppt/ink/ink2.xml><?xml version="1.0" encoding="utf-8"?>
<inkml:ink xmlns:inkml="http://www.w3.org/2003/InkML">
  <inkml:definitions>
    <inkml:context xml:id="ctx0">
      <inkml:inkSource xml:id="inkSrc0">
        <inkml:traceFormat>
          <inkml:channel name="X" type="integer" max="18344" units="cm"/>
          <inkml:channel name="Y" type="integer" max="10544" units="cm"/>
          <inkml:channel name="F" type="integer" max="4096" units="dev"/>
          <inkml:channel name="T" type="integer" max="2.14748E9" units="dev"/>
        </inkml:traceFormat>
        <inkml:channelProperties>
          <inkml:channelProperty channel="X" name="resolution" value="623.94556" units="1/cm"/>
          <inkml:channelProperty channel="Y" name="resolution" value="635.18073" units="1/cm"/>
          <inkml:channelProperty channel="F" name="resolution" value="0" units="1/dev"/>
          <inkml:channelProperty channel="T" name="resolution" value="1" units="1/dev"/>
        </inkml:channelProperties>
      </inkml:inkSource>
      <inkml:timestamp xml:id="ts0" timeString="2020-12-29T13:43:54.238"/>
    </inkml:context>
    <inkml:brush xml:id="br0">
      <inkml:brushProperty name="width" value="0.05292" units="cm"/>
      <inkml:brushProperty name="height" value="0.05292" units="cm"/>
      <inkml:brushProperty name="color" value="#FF0000"/>
    </inkml:brush>
  </inkml:definitions>
  <inkml:trace contextRef="#ctx0" brushRef="#br0">17589 6067 315 0,'19'-5'0'16,"16"-3"148"-16,2 3 0 15,7-4-77-15,-2 5 1 16,4 4-231-16,2-7 1 16,2 2 253-16,-2 1 1 15,2 0-28-15,6 3 0 16,3-3 57-16,0 0 0 16,3-1-67-16,14 1 0 15,11 4-53-15,-8-3 0 0,4 3-5 16,-3 3 1-16,3 6-68 15,-9-9 1-15,-6-3 133 16,4 1 0-16,-6-2-4 16,8 1 1-16,6-1-101 15,-3 2 0-15,-1-5 84 16,-2 2 0-16,-2-3-47 16,0 5 0-16,0 1-1 0,0-2 1 15,-2 1 47 1,4 1 1-16,0 2-106 0,5 0 1 15,4 0 117-15,4 2 0 16,2 1-55-16,-3 1 1 16,1-2 0-16,-4-4 0 15,0-2-7-15,0-1 1 16,2 1 0-16,-4 6 0 16,3 2-57-16,-1-1 0 15,0-3 55-15,0 0 1 16,-4 0 34-16,-1 0 0 15,-4 0-17-15,-4 0 1 16,-6 0-33-16,1 0 1 16,0-3 8-16,-1 3 0 15,-1 0-35-15,-11 0 1 16,-10 0-8-16,4 0 0 16,2 3 71-16,-2-3 0 0,1-3-19 15,-7 6 1-15,-3-3-13 16,-6 6 0-16,-5 1 6 15,-5 2 0-15,-5 0-75 16,-3-2 0-16,-7-5-179 16,-6-2 0-16,0 0-11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50D0D0A8-E1F9-4A2E-A64E-A2D06F83B0B5}" type="datetime1">
              <a:rPr lang="en-US" smtClean="0"/>
              <a:t>12/20/2024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r>
              <a:rPr lang="en-US" dirty="0"/>
              <a:t>01/26/2015</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A4C719D9-CCCC-479C-8E5B-B4668CC71D86}" type="slidenum">
              <a:rPr lang="en-US"/>
              <a:pPr>
                <a:defRPr/>
              </a:pPr>
              <a:t>‹#›</a:t>
            </a:fld>
            <a:endParaRPr lang="en-US" dirty="0"/>
          </a:p>
        </p:txBody>
      </p:sp>
    </p:spTree>
    <p:extLst>
      <p:ext uri="{BB962C8B-B14F-4D97-AF65-F5344CB8AC3E}">
        <p14:creationId xmlns:p14="http://schemas.microsoft.com/office/powerpoint/2010/main" val="375866821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9301369"/>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E28D29-1ECB-41DF-951B-2A23F95AD026}"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8E3F4F-51B2-42EE-AFA2-40C4572185CC}" type="slidenum">
              <a:rPr lang="en-US" dirty="0"/>
              <a:t>‹#›</a:t>
            </a:fld>
            <a:endParaRPr lang="en-US" dirty="0"/>
          </a:p>
        </p:txBody>
      </p:sp>
    </p:spTree>
    <p:extLst>
      <p:ext uri="{BB962C8B-B14F-4D97-AF65-F5344CB8AC3E}">
        <p14:creationId xmlns:p14="http://schemas.microsoft.com/office/powerpoint/2010/main" val="3846071377"/>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547616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12/20/2024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87734468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12/20/2024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40687659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12/20/2024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76853211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dirty="0"/>
              <a:pPr/>
              <a:t>12/20/2024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567211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96DFF08F-DC6B-4601-B491-B0F83F6DD2DA}" type="datetimeFigureOut">
              <a:rPr lang="en-US" dirty="0"/>
              <a:pPr/>
              <a:t>12/20/2024</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22848908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12/20/2024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2310137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4859321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8555618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12/20/2024</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4738047"/>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ransition spd="slow">
    <p:blinds dir="vert"/>
  </p:transition>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574B2F-B9DD-43E8-AC9B-C5D26F5B26C5}"/>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23602"/>
            <a:ext cx="9144000" cy="1592048"/>
          </a:xfrm>
          <a:prstGeom prst="rect">
            <a:avLst/>
          </a:prstGeom>
        </p:spPr>
      </p:pic>
      <p:sp>
        <p:nvSpPr>
          <p:cNvPr id="34817" name="Rectangle 8"/>
          <p:cNvSpPr>
            <a:spLocks noChangeArrowheads="1"/>
          </p:cNvSpPr>
          <p:nvPr/>
        </p:nvSpPr>
        <p:spPr bwMode="auto">
          <a:xfrm>
            <a:off x="0" y="2514600"/>
            <a:ext cx="9144000" cy="1828800"/>
          </a:xfrm>
          <a:prstGeom prst="rect">
            <a:avLst/>
          </a:prstGeom>
          <a:solidFill>
            <a:schemeClr val="bg1">
              <a:lumMod val="65000"/>
            </a:schemeClr>
          </a:solidFill>
          <a:ln w="9525" algn="ctr">
            <a:solidFill>
              <a:schemeClr val="tx1"/>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18" name="Line 3"/>
          <p:cNvSpPr>
            <a:spLocks noChangeShapeType="1"/>
          </p:cNvSpPr>
          <p:nvPr/>
        </p:nvSpPr>
        <p:spPr bwMode="auto">
          <a:xfrm flipV="1">
            <a:off x="-1" y="1568446"/>
            <a:ext cx="9144001" cy="31754"/>
          </a:xfrm>
          <a:prstGeom prst="line">
            <a:avLst/>
          </a:prstGeom>
          <a:noFill/>
          <a:ln w="76200">
            <a:solidFill>
              <a:srgbClr val="FF0000"/>
            </a:solidFill>
            <a:round/>
            <a:headEnd/>
            <a:tailEnd/>
          </a:ln>
        </p:spPr>
        <p:txBody>
          <a:bodyPr/>
          <a:lstStyle/>
          <a:p>
            <a:endParaRPr lang="en-US" dirty="0"/>
          </a:p>
        </p:txBody>
      </p:sp>
      <p:sp>
        <p:nvSpPr>
          <p:cNvPr id="34819" name="Text Box 4"/>
          <p:cNvSpPr txBox="1">
            <a:spLocks noChangeArrowheads="1"/>
          </p:cNvSpPr>
          <p:nvPr/>
        </p:nvSpPr>
        <p:spPr bwMode="auto">
          <a:xfrm>
            <a:off x="384512" y="281515"/>
            <a:ext cx="8839200" cy="1040285"/>
          </a:xfrm>
          <a:prstGeom prst="rect">
            <a:avLst/>
          </a:prstGeom>
          <a:noFill/>
          <a:ln w="9525">
            <a:noFill/>
            <a:miter lim="800000"/>
            <a:headEnd/>
            <a:tailEnd/>
          </a:ln>
        </p:spPr>
        <p:txBody>
          <a:bodyPr wrap="square">
            <a:spAutoFit/>
          </a:bodyPr>
          <a:lstStyle/>
          <a:p>
            <a:pPr algn="ctr" eaLnBrk="0" hangingPunct="0">
              <a:spcBef>
                <a:spcPct val="20000"/>
              </a:spcBef>
              <a:buClr>
                <a:srgbClr val="FF0000"/>
              </a:buClr>
              <a:buSzPct val="60000"/>
            </a:pPr>
            <a:r>
              <a:rPr lang="en-US" sz="2800" b="1" dirty="0">
                <a:solidFill>
                  <a:srgbClr val="A02020"/>
                </a:solidFill>
                <a:cs typeface="+mn-cs"/>
              </a:rPr>
              <a:t>Software Quality Engineering </a:t>
            </a:r>
            <a:endParaRPr lang="en-US" sz="2800" b="1" dirty="0">
              <a:solidFill>
                <a:srgbClr val="A02020"/>
              </a:solidFill>
            </a:endParaRPr>
          </a:p>
          <a:p>
            <a:pPr algn="ctr" eaLnBrk="0" hangingPunct="0">
              <a:spcBef>
                <a:spcPct val="20000"/>
              </a:spcBef>
              <a:buClr>
                <a:srgbClr val="FF0000"/>
              </a:buClr>
              <a:buSzPct val="60000"/>
            </a:pPr>
            <a:r>
              <a:rPr lang="en-US" sz="2800" b="1" dirty="0">
                <a:solidFill>
                  <a:srgbClr val="A02020"/>
                </a:solidFill>
                <a:cs typeface="+mn-cs"/>
              </a:rPr>
              <a:t>BSSE-VI</a:t>
            </a:r>
          </a:p>
        </p:txBody>
      </p:sp>
      <p:sp>
        <p:nvSpPr>
          <p:cNvPr id="34820" name="Text Box 5"/>
          <p:cNvSpPr txBox="1">
            <a:spLocks noChangeArrowheads="1"/>
          </p:cNvSpPr>
          <p:nvPr/>
        </p:nvSpPr>
        <p:spPr bwMode="auto">
          <a:xfrm>
            <a:off x="381000" y="2031695"/>
            <a:ext cx="8568988" cy="1828800"/>
          </a:xfrm>
          <a:prstGeom prst="rect">
            <a:avLst/>
          </a:prstGeom>
          <a:noFill/>
          <a:ln w="9525">
            <a:noFill/>
            <a:miter lim="800000"/>
            <a:headEnd/>
            <a:tailEnd/>
          </a:ln>
        </p:spPr>
        <p:txBody>
          <a:bodyPr wrap="none"/>
          <a:lstStyle/>
          <a:p>
            <a:pPr marL="511175" indent="-279400" algn="ctr"/>
            <a:endParaRPr lang="en-US" sz="1200" dirty="0">
              <a:cs typeface="Times New Roman" pitchFamily="18" charset="0"/>
            </a:endParaRPr>
          </a:p>
          <a:p>
            <a:pPr marL="511175" indent="-279400" algn="ctr"/>
            <a:endParaRPr lang="en-US" sz="2000" b="1" dirty="0">
              <a:cs typeface="Times New Roman" pitchFamily="18" charset="0"/>
            </a:endParaRPr>
          </a:p>
          <a:p>
            <a:pPr marL="511175" indent="-279400" algn="ctr"/>
            <a:endParaRPr lang="en-US" sz="800" dirty="0"/>
          </a:p>
          <a:p>
            <a:pPr marL="511175" indent="-279400" algn="ctr"/>
            <a:r>
              <a:rPr lang="en-US" b="1" dirty="0" err="1">
                <a:cs typeface="Times New Roman" pitchFamily="18" charset="0"/>
              </a:rPr>
              <a:t>Sumaira</a:t>
            </a:r>
            <a:r>
              <a:rPr lang="en-US" b="1" dirty="0">
                <a:cs typeface="Times New Roman" pitchFamily="18" charset="0"/>
              </a:rPr>
              <a:t> Nazir</a:t>
            </a:r>
            <a:endParaRPr lang="en-US" sz="1800" b="1" dirty="0">
              <a:cs typeface="Times New Roman" pitchFamily="18" charset="0"/>
            </a:endParaRPr>
          </a:p>
          <a:p>
            <a:pPr marL="511175" indent="-279400" algn="ctr"/>
            <a:r>
              <a:rPr lang="en-US" dirty="0"/>
              <a:t>Assistant Professor</a:t>
            </a:r>
          </a:p>
          <a:p>
            <a:pPr marL="511175" indent="-279400" algn="ctr"/>
            <a:endParaRPr lang="en-US" dirty="0"/>
          </a:p>
          <a:p>
            <a:pPr marL="511175" indent="-279400" algn="ctr"/>
            <a:r>
              <a:rPr lang="en-US" dirty="0"/>
              <a:t>Department of Software Engineering</a:t>
            </a:r>
          </a:p>
          <a:p>
            <a:pPr marL="511175" indent="-279400" algn="ctr"/>
            <a:r>
              <a:rPr lang="en-US" dirty="0"/>
              <a:t>National University of Modern Languages, Islamabad</a:t>
            </a:r>
          </a:p>
          <a:p>
            <a:pPr marL="511175" indent="-279400" algn="ctr"/>
            <a:endParaRPr lang="en-US" dirty="0"/>
          </a:p>
        </p:txBody>
      </p:sp>
      <p:sp>
        <p:nvSpPr>
          <p:cNvPr id="34823" name="Rectangle 34"/>
          <p:cNvSpPr>
            <a:spLocks noChangeArrowheads="1"/>
          </p:cNvSpPr>
          <p:nvPr/>
        </p:nvSpPr>
        <p:spPr bwMode="auto">
          <a:xfrm>
            <a:off x="533400" y="3486723"/>
            <a:ext cx="8229600" cy="3066477"/>
          </a:xfrm>
          <a:prstGeom prst="rect">
            <a:avLst/>
          </a:prstGeom>
          <a:noFill/>
          <a:ln w="9525">
            <a:noFill/>
            <a:miter lim="800000"/>
            <a:headEnd/>
            <a:tailEnd/>
          </a:ln>
        </p:spPr>
        <p:txBody>
          <a:bodyPr/>
          <a:lstStyle/>
          <a:p>
            <a:pPr eaLnBrk="0" hangingPunct="0">
              <a:spcBef>
                <a:spcPct val="20000"/>
              </a:spcBef>
              <a:buClr>
                <a:srgbClr val="FF0000"/>
              </a:buClr>
              <a:buSzPct val="60000"/>
            </a:pPr>
            <a:endParaRPr kumimoji="1" lang="en-US" dirty="0"/>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Topics</a:t>
            </a:r>
          </a:p>
        </p:txBody>
      </p:sp>
      <p:sp>
        <p:nvSpPr>
          <p:cNvPr id="3" name="Content Placeholder 2"/>
          <p:cNvSpPr>
            <a:spLocks noGrp="1"/>
          </p:cNvSpPr>
          <p:nvPr>
            <p:ph idx="1"/>
          </p:nvPr>
        </p:nvSpPr>
        <p:spPr>
          <a:xfrm>
            <a:off x="822959" y="1828800"/>
            <a:ext cx="7257415" cy="3048000"/>
          </a:xfrm>
        </p:spPr>
        <p:txBody>
          <a:bodyPr>
            <a:normAutofit/>
          </a:bodyPr>
          <a:lstStyle/>
          <a:p>
            <a:pPr>
              <a:lnSpc>
                <a:spcPct val="170000"/>
              </a:lnSpc>
              <a:buFont typeface="Arial" panose="020B0604020202020204" pitchFamily="34" charset="0"/>
              <a:buChar char="•"/>
            </a:pPr>
            <a:r>
              <a:rPr lang="en-US" sz="2400" dirty="0"/>
              <a:t>  Software Testing </a:t>
            </a:r>
          </a:p>
        </p:txBody>
      </p:sp>
      <p:sp>
        <p:nvSpPr>
          <p:cNvPr id="7" name="AutoShape 2" descr="Image result for quality requirement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518206367"/>
      </p:ext>
    </p:extLst>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Introduction</a:t>
            </a:r>
          </a:p>
        </p:txBody>
      </p:sp>
      <p:sp>
        <p:nvSpPr>
          <p:cNvPr id="3" name="Content Placeholder 2"/>
          <p:cNvSpPr>
            <a:spLocks noGrp="1"/>
          </p:cNvSpPr>
          <p:nvPr>
            <p:ph idx="1"/>
          </p:nvPr>
        </p:nvSpPr>
        <p:spPr/>
        <p:txBody>
          <a:bodyPr>
            <a:normAutofit/>
          </a:bodyPr>
          <a:lstStyle/>
          <a:p>
            <a:pPr algn="just">
              <a:spcBef>
                <a:spcPts val="600"/>
              </a:spcBef>
            </a:pPr>
            <a:r>
              <a:rPr lang="en-US" altLang="en-US" sz="2600" dirty="0"/>
              <a:t>In the past, testing (other than some unit testing) was undertaken as the last part of development after the entire application was developed and documented.</a:t>
            </a:r>
          </a:p>
          <a:p>
            <a:pPr algn="just">
              <a:spcBef>
                <a:spcPts val="600"/>
              </a:spcBef>
            </a:pPr>
            <a:r>
              <a:rPr lang="en-US" altLang="en-US" sz="2600" dirty="0"/>
              <a:t>Later, when problems were discovered too late, unit testing and integration testing became in vogue.</a:t>
            </a:r>
          </a:p>
          <a:p>
            <a:pPr algn="just">
              <a:spcBef>
                <a:spcPts val="600"/>
              </a:spcBef>
            </a:pPr>
            <a:r>
              <a:rPr lang="en-US" altLang="en-US" sz="2600" dirty="0"/>
              <a:t>Major emphases on increased testing has met resistance</a:t>
            </a:r>
          </a:p>
          <a:p>
            <a:pPr lvl="1" algn="just">
              <a:spcBef>
                <a:spcPts val="600"/>
              </a:spcBef>
            </a:pPr>
            <a:r>
              <a:rPr lang="en-US" altLang="en-US" sz="2400" dirty="0">
                <a:solidFill>
                  <a:srgbClr val="FF0000"/>
                </a:solidFill>
              </a:rPr>
              <a:t>We cannot test everything!!!</a:t>
            </a:r>
          </a:p>
          <a:p>
            <a:pPr algn="just">
              <a:spcBef>
                <a:spcPts val="500"/>
              </a:spcBef>
            </a:pPr>
            <a:r>
              <a:rPr lang="en-US" altLang="en-US" dirty="0"/>
              <a:t>We often ‘test’ documentation via standard SQA.  But this does not test the </a:t>
            </a:r>
            <a:r>
              <a:rPr lang="en-US" altLang="en-US" b="1" u="sng" dirty="0"/>
              <a:t>functionality</a:t>
            </a:r>
            <a:r>
              <a:rPr lang="en-US" altLang="en-US" dirty="0"/>
              <a:t> of the code.</a:t>
            </a:r>
          </a:p>
          <a:p>
            <a:pPr marL="300038" indent="-300038" algn="just">
              <a:spcBef>
                <a:spcPts val="600"/>
              </a:spcBef>
              <a:buFontTx/>
              <a:buChar char="•"/>
            </a:pPr>
            <a:endParaRPr lang="en-US" altLang="en-US" sz="2400" dirty="0"/>
          </a:p>
          <a:p>
            <a:pPr algn="just"/>
            <a:endParaRPr lang="en-GB" dirty="0"/>
          </a:p>
        </p:txBody>
      </p:sp>
    </p:spTree>
    <p:extLst>
      <p:ext uri="{BB962C8B-B14F-4D97-AF65-F5344CB8AC3E}">
        <p14:creationId xmlns:p14="http://schemas.microsoft.com/office/powerpoint/2010/main" val="3862483045"/>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Introduction…</a:t>
            </a:r>
          </a:p>
        </p:txBody>
      </p:sp>
      <p:sp>
        <p:nvSpPr>
          <p:cNvPr id="3" name="Content Placeholder 2"/>
          <p:cNvSpPr>
            <a:spLocks noGrp="1"/>
          </p:cNvSpPr>
          <p:nvPr>
            <p:ph idx="1"/>
          </p:nvPr>
        </p:nvSpPr>
        <p:spPr>
          <a:xfrm>
            <a:off x="833120" y="2019300"/>
            <a:ext cx="7543800" cy="2819400"/>
          </a:xfrm>
        </p:spPr>
        <p:txBody>
          <a:bodyPr>
            <a:normAutofit lnSpcReduction="10000"/>
          </a:bodyPr>
          <a:lstStyle/>
          <a:p>
            <a:pPr marL="342900" lvl="1" algn="just">
              <a:buClr>
                <a:schemeClr val="accent1"/>
              </a:buClr>
            </a:pPr>
            <a:r>
              <a:rPr lang="en-US" altLang="en-US" sz="2500" b="1" dirty="0"/>
              <a:t>Testing has become a huge business and major emphasis in software engineering</a:t>
            </a:r>
            <a:r>
              <a:rPr lang="en-US" altLang="en-US" sz="2100" dirty="0"/>
              <a:t>!</a:t>
            </a:r>
          </a:p>
          <a:p>
            <a:pPr algn="just"/>
            <a:endParaRPr lang="en-GB" sz="1200" dirty="0"/>
          </a:p>
          <a:p>
            <a:pPr algn="just"/>
            <a:r>
              <a:rPr lang="en-US" altLang="en-US" sz="2400" dirty="0"/>
              <a:t>Testing has been described as the process of executing a program with the intention of finding errors.</a:t>
            </a:r>
          </a:p>
          <a:p>
            <a:pPr algn="just"/>
            <a:endParaRPr lang="en-US" altLang="en-US" sz="1200" dirty="0"/>
          </a:p>
          <a:p>
            <a:pPr algn="just"/>
            <a:r>
              <a:rPr lang="en-US" altLang="en-US" sz="2400" dirty="0">
                <a:solidFill>
                  <a:srgbClr val="FF0000"/>
                </a:solidFill>
              </a:rPr>
              <a:t>Testing = process of searching for software errors</a:t>
            </a:r>
          </a:p>
          <a:p>
            <a:pPr marL="114300" indent="0" algn="just">
              <a:buNone/>
            </a:pPr>
            <a:endParaRPr lang="en-US" altLang="en-US" dirty="0"/>
          </a:p>
          <a:p>
            <a:pPr algn="just"/>
            <a:endParaRPr lang="en-GB" dirty="0"/>
          </a:p>
          <a:p>
            <a:pPr algn="just"/>
            <a:endParaRPr lang="en-GB" dirty="0"/>
          </a:p>
        </p:txBody>
      </p:sp>
    </p:spTree>
    <p:extLst>
      <p:ext uri="{BB962C8B-B14F-4D97-AF65-F5344CB8AC3E}">
        <p14:creationId xmlns:p14="http://schemas.microsoft.com/office/powerpoint/2010/main" val="3247997029"/>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sym typeface="Times New Roman" pitchFamily="18" charset="0"/>
              </a:rPr>
              <a:t>Software Testing - Definition</a:t>
            </a:r>
            <a:endParaRPr lang="en-GB" sz="3600" dirty="0"/>
          </a:p>
        </p:txBody>
      </p:sp>
      <p:sp>
        <p:nvSpPr>
          <p:cNvPr id="3" name="Content Placeholder 2"/>
          <p:cNvSpPr>
            <a:spLocks noGrp="1"/>
          </p:cNvSpPr>
          <p:nvPr>
            <p:ph idx="1"/>
          </p:nvPr>
        </p:nvSpPr>
        <p:spPr>
          <a:xfrm>
            <a:off x="853440" y="1905000"/>
            <a:ext cx="7543800" cy="4121834"/>
          </a:xfrm>
        </p:spPr>
        <p:txBody>
          <a:bodyPr>
            <a:normAutofit/>
          </a:bodyPr>
          <a:lstStyle/>
          <a:p>
            <a:pPr algn="just"/>
            <a:r>
              <a:rPr lang="en-US" altLang="en-US" sz="2400" dirty="0">
                <a:solidFill>
                  <a:srgbClr val="5F5F5F"/>
                </a:solidFill>
                <a:cs typeface="Times New Roman" pitchFamily="18" charset="0"/>
                <a:sym typeface="Times New Roman" pitchFamily="18" charset="0"/>
              </a:rPr>
              <a:t>Software testing is a </a:t>
            </a:r>
            <a:r>
              <a:rPr lang="en-US" altLang="en-US" sz="2400" b="1" dirty="0">
                <a:solidFill>
                  <a:srgbClr val="CC3300"/>
                </a:solidFill>
                <a:cs typeface="Times New Roman" pitchFamily="18" charset="0"/>
                <a:sym typeface="Times New Roman" pitchFamily="18" charset="0"/>
              </a:rPr>
              <a:t>formal</a:t>
            </a:r>
            <a:r>
              <a:rPr lang="en-US" altLang="en-US" sz="2400" dirty="0">
                <a:solidFill>
                  <a:srgbClr val="5F5F5F"/>
                </a:solidFill>
                <a:cs typeface="Times New Roman" pitchFamily="18" charset="0"/>
                <a:sym typeface="Times New Roman" pitchFamily="18" charset="0"/>
              </a:rPr>
              <a:t> process carried out by a </a:t>
            </a:r>
            <a:r>
              <a:rPr lang="en-US" altLang="en-US" sz="2400" b="1" dirty="0">
                <a:solidFill>
                  <a:srgbClr val="CC3300"/>
                </a:solidFill>
                <a:cs typeface="Times New Roman" pitchFamily="18" charset="0"/>
                <a:sym typeface="Times New Roman" pitchFamily="18" charset="0"/>
              </a:rPr>
              <a:t>specialized testing team</a:t>
            </a:r>
            <a:r>
              <a:rPr lang="en-US" altLang="en-US" sz="2400" dirty="0">
                <a:solidFill>
                  <a:srgbClr val="5F5F5F"/>
                </a:solidFill>
                <a:cs typeface="Times New Roman" pitchFamily="18" charset="0"/>
                <a:sym typeface="Times New Roman" pitchFamily="18" charset="0"/>
              </a:rPr>
              <a:t> in which a software unit, several integrated software units or an entire software package are examined by </a:t>
            </a:r>
            <a:r>
              <a:rPr lang="en-US" altLang="en-US" sz="2400" b="1" dirty="0">
                <a:solidFill>
                  <a:srgbClr val="CC3300"/>
                </a:solidFill>
                <a:cs typeface="Times New Roman" pitchFamily="18" charset="0"/>
                <a:sym typeface="Times New Roman" pitchFamily="18" charset="0"/>
              </a:rPr>
              <a:t>running the programs on a computer</a:t>
            </a:r>
            <a:r>
              <a:rPr lang="en-US" altLang="en-US" sz="2400" dirty="0">
                <a:solidFill>
                  <a:srgbClr val="5F5F5F"/>
                </a:solidFill>
                <a:cs typeface="Times New Roman" pitchFamily="18" charset="0"/>
                <a:sym typeface="Times New Roman" pitchFamily="18" charset="0"/>
              </a:rPr>
              <a:t>. All the associated tests are performed according to </a:t>
            </a:r>
            <a:r>
              <a:rPr lang="en-US" altLang="en-US" sz="2400" b="1" dirty="0">
                <a:solidFill>
                  <a:srgbClr val="CC3300"/>
                </a:solidFill>
                <a:cs typeface="Times New Roman" pitchFamily="18" charset="0"/>
                <a:sym typeface="Times New Roman" pitchFamily="18" charset="0"/>
              </a:rPr>
              <a:t>approved test procedures</a:t>
            </a:r>
            <a:r>
              <a:rPr lang="en-US" altLang="en-US" sz="2400" dirty="0">
                <a:solidFill>
                  <a:srgbClr val="5F5F5F"/>
                </a:solidFill>
                <a:cs typeface="Times New Roman" pitchFamily="18" charset="0"/>
                <a:sym typeface="Times New Roman" pitchFamily="18" charset="0"/>
              </a:rPr>
              <a:t> on </a:t>
            </a:r>
            <a:r>
              <a:rPr lang="en-US" altLang="en-US" sz="2400" b="1" dirty="0">
                <a:solidFill>
                  <a:srgbClr val="CC3300"/>
                </a:solidFill>
                <a:cs typeface="Times New Roman" pitchFamily="18" charset="0"/>
                <a:sym typeface="Times New Roman" pitchFamily="18" charset="0"/>
              </a:rPr>
              <a:t>approved test cases</a:t>
            </a:r>
            <a:r>
              <a:rPr lang="en-US" altLang="en-US" sz="2800" dirty="0">
                <a:solidFill>
                  <a:srgbClr val="5F5F5F"/>
                </a:solidFill>
                <a:cs typeface="Times New Roman" pitchFamily="18" charset="0"/>
                <a:sym typeface="Times New Roman" pitchFamily="18" charset="0"/>
              </a:rPr>
              <a:t>. </a:t>
            </a:r>
            <a:endParaRPr lang="en-US" altLang="en-US" dirty="0"/>
          </a:p>
          <a:p>
            <a:pPr marL="114300" indent="0" algn="just">
              <a:buNone/>
            </a:pPr>
            <a:endParaRPr lang="en-GB" dirty="0"/>
          </a:p>
        </p:txBody>
      </p:sp>
    </p:spTree>
    <p:extLst>
      <p:ext uri="{BB962C8B-B14F-4D97-AF65-F5344CB8AC3E}">
        <p14:creationId xmlns:p14="http://schemas.microsoft.com/office/powerpoint/2010/main" val="1511079111"/>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sym typeface="Arial" pitchFamily="34" charset="0"/>
              </a:rPr>
              <a:t>Software Testing  Objectives</a:t>
            </a:r>
            <a:endParaRPr lang="en-GB" sz="3600" dirty="0"/>
          </a:p>
        </p:txBody>
      </p:sp>
      <p:sp>
        <p:nvSpPr>
          <p:cNvPr id="3" name="Content Placeholder 2"/>
          <p:cNvSpPr>
            <a:spLocks noGrp="1"/>
          </p:cNvSpPr>
          <p:nvPr>
            <p:ph idx="1"/>
          </p:nvPr>
        </p:nvSpPr>
        <p:spPr/>
        <p:txBody>
          <a:bodyPr/>
          <a:lstStyle/>
          <a:p>
            <a:pPr>
              <a:lnSpc>
                <a:spcPct val="85000"/>
              </a:lnSpc>
            </a:pPr>
            <a:r>
              <a:rPr lang="en-US" altLang="en-US" sz="2400" i="1" u="sng" dirty="0">
                <a:cs typeface="Times New Roman" pitchFamily="18" charset="0"/>
                <a:sym typeface="Times New Roman" pitchFamily="18" charset="0"/>
              </a:rPr>
              <a:t>Direct objectives</a:t>
            </a:r>
          </a:p>
          <a:p>
            <a:pPr marL="868680" lvl="1" indent="-457200">
              <a:lnSpc>
                <a:spcPct val="85000"/>
              </a:lnSpc>
              <a:buSzPct val="100000"/>
              <a:buFont typeface="+mj-lt"/>
              <a:buAutoNum type="alphaLcParenR"/>
            </a:pPr>
            <a:r>
              <a:rPr lang="en-US" altLang="en-US" dirty="0">
                <a:cs typeface="Times New Roman" pitchFamily="18" charset="0"/>
                <a:sym typeface="Times New Roman" pitchFamily="18" charset="0"/>
              </a:rPr>
              <a:t>To identify and reveal </a:t>
            </a:r>
            <a:r>
              <a:rPr lang="en-US" altLang="en-US" dirty="0">
                <a:solidFill>
                  <a:srgbClr val="FF0000"/>
                </a:solidFill>
                <a:cs typeface="Times New Roman" pitchFamily="18" charset="0"/>
                <a:sym typeface="Times New Roman" pitchFamily="18" charset="0"/>
              </a:rPr>
              <a:t>as many errors as possible </a:t>
            </a:r>
            <a:r>
              <a:rPr lang="en-US" altLang="en-US" dirty="0">
                <a:cs typeface="Times New Roman" pitchFamily="18" charset="0"/>
                <a:sym typeface="Times New Roman" pitchFamily="18" charset="0"/>
              </a:rPr>
              <a:t>in the tested software.</a:t>
            </a:r>
          </a:p>
          <a:p>
            <a:pPr marL="868680" lvl="1" indent="-457200">
              <a:lnSpc>
                <a:spcPct val="85000"/>
              </a:lnSpc>
              <a:buSzPct val="100000"/>
              <a:buFont typeface="+mj-lt"/>
              <a:buAutoNum type="alphaLcParenR"/>
            </a:pPr>
            <a:r>
              <a:rPr lang="en-US" altLang="en-US" dirty="0">
                <a:cs typeface="Times New Roman" pitchFamily="18" charset="0"/>
                <a:sym typeface="Times New Roman" pitchFamily="18" charset="0"/>
              </a:rPr>
              <a:t>To bring the tested software, after correction of the identified errors and retesting, </a:t>
            </a:r>
            <a:r>
              <a:rPr lang="en-US" altLang="en-US" i="1" dirty="0">
                <a:solidFill>
                  <a:srgbClr val="FF0000"/>
                </a:solidFill>
                <a:cs typeface="Times New Roman" pitchFamily="18" charset="0"/>
                <a:sym typeface="Times New Roman" pitchFamily="18" charset="0"/>
              </a:rPr>
              <a:t>to an acceptable level of quality</a:t>
            </a:r>
            <a:r>
              <a:rPr lang="en-US" altLang="en-US" i="1" dirty="0">
                <a:cs typeface="Times New Roman" pitchFamily="18" charset="0"/>
                <a:sym typeface="Times New Roman" pitchFamily="18" charset="0"/>
              </a:rPr>
              <a:t>.</a:t>
            </a:r>
          </a:p>
          <a:p>
            <a:pPr marL="868680" lvl="1" indent="-457200">
              <a:lnSpc>
                <a:spcPct val="85000"/>
              </a:lnSpc>
              <a:buSzPct val="100000"/>
              <a:buFont typeface="+mj-lt"/>
              <a:buAutoNum type="alphaLcParenR"/>
            </a:pPr>
            <a:r>
              <a:rPr lang="en-US" altLang="en-US" dirty="0">
                <a:cs typeface="Times New Roman" pitchFamily="18" charset="0"/>
                <a:sym typeface="Times New Roman" pitchFamily="18" charset="0"/>
              </a:rPr>
              <a:t>To perform the required tests efficiently and effectively, within the </a:t>
            </a:r>
            <a:r>
              <a:rPr lang="en-US" altLang="en-US" dirty="0">
                <a:solidFill>
                  <a:srgbClr val="FF0000"/>
                </a:solidFill>
                <a:cs typeface="Times New Roman" pitchFamily="18" charset="0"/>
                <a:sym typeface="Times New Roman" pitchFamily="18" charset="0"/>
              </a:rPr>
              <a:t>budgetary </a:t>
            </a:r>
            <a:r>
              <a:rPr lang="en-US" altLang="en-US" dirty="0">
                <a:cs typeface="Times New Roman" pitchFamily="18" charset="0"/>
                <a:sym typeface="Times New Roman" pitchFamily="18" charset="0"/>
              </a:rPr>
              <a:t>and </a:t>
            </a:r>
            <a:r>
              <a:rPr lang="en-US" altLang="en-US" dirty="0">
                <a:solidFill>
                  <a:srgbClr val="FF0000"/>
                </a:solidFill>
                <a:cs typeface="Times New Roman" pitchFamily="18" charset="0"/>
                <a:sym typeface="Times New Roman" pitchFamily="18" charset="0"/>
              </a:rPr>
              <a:t>scheduling limits</a:t>
            </a:r>
            <a:r>
              <a:rPr lang="en-US" altLang="en-US" dirty="0">
                <a:cs typeface="Times New Roman" pitchFamily="18" charset="0"/>
                <a:sym typeface="Times New Roman" pitchFamily="18" charset="0"/>
              </a:rPr>
              <a:t>. </a:t>
            </a:r>
          </a:p>
          <a:p>
            <a:pPr marL="411480" lvl="1" indent="0">
              <a:lnSpc>
                <a:spcPct val="85000"/>
              </a:lnSpc>
              <a:buSzPct val="100000"/>
              <a:buNone/>
            </a:pPr>
            <a:endParaRPr lang="en-US" altLang="en-US" sz="1200" dirty="0">
              <a:cs typeface="Times New Roman" pitchFamily="18" charset="0"/>
              <a:sym typeface="Times New Roman" pitchFamily="18" charset="0"/>
            </a:endParaRPr>
          </a:p>
          <a:p>
            <a:pPr>
              <a:lnSpc>
                <a:spcPct val="85000"/>
              </a:lnSpc>
              <a:spcBef>
                <a:spcPts val="1600"/>
              </a:spcBef>
            </a:pPr>
            <a:r>
              <a:rPr lang="en-US" altLang="en-US" sz="2400" i="1" u="sng" dirty="0">
                <a:cs typeface="Times New Roman" pitchFamily="18" charset="0"/>
                <a:sym typeface="Times New Roman" pitchFamily="18" charset="0"/>
              </a:rPr>
              <a:t>Indirect objectives</a:t>
            </a:r>
          </a:p>
          <a:p>
            <a:pPr marL="868680" lvl="1" indent="-457200">
              <a:lnSpc>
                <a:spcPct val="85000"/>
              </a:lnSpc>
              <a:buFont typeface="+mj-lt"/>
              <a:buAutoNum type="alphaLcParenR"/>
            </a:pPr>
            <a:r>
              <a:rPr lang="en-US" altLang="en-US" dirty="0">
                <a:cs typeface="Times New Roman" pitchFamily="18" charset="0"/>
                <a:sym typeface="Times New Roman" pitchFamily="18" charset="0"/>
              </a:rPr>
              <a:t>To compile a </a:t>
            </a:r>
            <a:r>
              <a:rPr lang="en-US" altLang="en-US" dirty="0">
                <a:solidFill>
                  <a:srgbClr val="FF0000"/>
                </a:solidFill>
                <a:cs typeface="Times New Roman" pitchFamily="18" charset="0"/>
                <a:sym typeface="Times New Roman" pitchFamily="18" charset="0"/>
              </a:rPr>
              <a:t>record of software errors </a:t>
            </a:r>
            <a:r>
              <a:rPr lang="en-US" altLang="en-US" dirty="0">
                <a:cs typeface="Times New Roman" pitchFamily="18" charset="0"/>
                <a:sym typeface="Times New Roman" pitchFamily="18" charset="0"/>
              </a:rPr>
              <a:t>for use in error prevention (by corrective and preventive actions).  </a:t>
            </a:r>
            <a:endParaRPr lang="en-US" altLang="en-US" dirty="0"/>
          </a:p>
          <a:p>
            <a:endParaRPr lang="en-GB" dirty="0"/>
          </a:p>
        </p:txBody>
      </p:sp>
    </p:spTree>
    <p:extLst>
      <p:ext uri="{BB962C8B-B14F-4D97-AF65-F5344CB8AC3E}">
        <p14:creationId xmlns:p14="http://schemas.microsoft.com/office/powerpoint/2010/main" val="253384418"/>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testing</a:t>
            </a:r>
          </a:p>
        </p:txBody>
      </p:sp>
      <p:sp>
        <p:nvSpPr>
          <p:cNvPr id="3" name="Content Placeholder 2"/>
          <p:cNvSpPr>
            <a:spLocks noGrp="1"/>
          </p:cNvSpPr>
          <p:nvPr>
            <p:ph idx="1"/>
          </p:nvPr>
        </p:nvSpPr>
        <p:spPr/>
        <p:txBody>
          <a:bodyPr/>
          <a:lstStyle/>
          <a:p>
            <a:r>
              <a:rPr lang="en-US" dirty="0"/>
              <a:t>White box testing</a:t>
            </a:r>
          </a:p>
          <a:p>
            <a:r>
              <a:rPr lang="en-US" dirty="0"/>
              <a:t>Black box testing</a:t>
            </a:r>
          </a:p>
          <a:p>
            <a:r>
              <a:rPr lang="en-US" dirty="0"/>
              <a:t>Grey box testing</a:t>
            </a:r>
          </a:p>
          <a:p>
            <a:endParaRPr lang="en-US" dirty="0"/>
          </a:p>
        </p:txBody>
      </p:sp>
      <p:sp>
        <p:nvSpPr>
          <p:cNvPr id="4" name="Slide Number Placeholder 3"/>
          <p:cNvSpPr>
            <a:spLocks noGrp="1"/>
          </p:cNvSpPr>
          <p:nvPr>
            <p:ph type="sldNum" sz="quarter" idx="12"/>
          </p:nvPr>
        </p:nvSpPr>
        <p:spPr/>
        <p:txBody>
          <a:bodyPr/>
          <a:lstStyle/>
          <a:p>
            <a:fld id="{028E3F4F-51B2-42EE-AFA2-40C4572185CC}" type="slidenum">
              <a:rPr lang="en-US" smtClean="0"/>
              <a:t>7</a:t>
            </a:fld>
            <a:endParaRPr lang="en-US" dirty="0"/>
          </a:p>
        </p:txBody>
      </p:sp>
    </p:spTree>
    <p:extLst>
      <p:ext uri="{BB962C8B-B14F-4D97-AF65-F5344CB8AC3E}">
        <p14:creationId xmlns:p14="http://schemas.microsoft.com/office/powerpoint/2010/main" val="581077059"/>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Levels of testing</a:t>
            </a:r>
          </a:p>
        </p:txBody>
      </p:sp>
      <p:sp>
        <p:nvSpPr>
          <p:cNvPr id="3" name="Content Placeholder 2"/>
          <p:cNvSpPr>
            <a:spLocks noGrp="1"/>
          </p:cNvSpPr>
          <p:nvPr>
            <p:ph idx="1"/>
          </p:nvPr>
        </p:nvSpPr>
        <p:spPr/>
        <p:txBody>
          <a:bodyPr/>
          <a:lstStyle/>
          <a:p>
            <a:r>
              <a:rPr lang="en-US" dirty="0"/>
              <a:t>Unit testing</a:t>
            </a:r>
          </a:p>
          <a:p>
            <a:r>
              <a:rPr lang="en-US" dirty="0"/>
              <a:t>Integration testing</a:t>
            </a:r>
          </a:p>
          <a:p>
            <a:r>
              <a:rPr lang="en-US" dirty="0"/>
              <a:t>System testing</a:t>
            </a:r>
          </a:p>
          <a:p>
            <a:r>
              <a:rPr lang="en-US"/>
              <a:t>Acceptance testing</a:t>
            </a:r>
            <a:endParaRPr lang="en-US" dirty="0"/>
          </a:p>
        </p:txBody>
      </p:sp>
      <p:sp>
        <p:nvSpPr>
          <p:cNvPr id="4" name="Slide Number Placeholder 3"/>
          <p:cNvSpPr>
            <a:spLocks noGrp="1"/>
          </p:cNvSpPr>
          <p:nvPr>
            <p:ph type="sldNum" sz="quarter" idx="12"/>
          </p:nvPr>
        </p:nvSpPr>
        <p:spPr/>
        <p:txBody>
          <a:bodyPr/>
          <a:lstStyle/>
          <a:p>
            <a:fld id="{028E3F4F-51B2-42EE-AFA2-40C4572185CC}" type="slidenum">
              <a:rPr lang="en-US" smtClean="0"/>
              <a:t>8</a:t>
            </a:fld>
            <a:endParaRPr lang="en-US" dirty="0"/>
          </a:p>
        </p:txBody>
      </p:sp>
    </p:spTree>
    <p:extLst>
      <p:ext uri="{BB962C8B-B14F-4D97-AF65-F5344CB8AC3E}">
        <p14:creationId xmlns:p14="http://schemas.microsoft.com/office/powerpoint/2010/main" val="3974141148"/>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E7F40-EE15-4DB2-B7D7-F85504D04E72}"/>
              </a:ext>
            </a:extLst>
          </p:cNvPr>
          <p:cNvSpPr>
            <a:spLocks noGrp="1"/>
          </p:cNvSpPr>
          <p:nvPr>
            <p:ph type="title"/>
          </p:nvPr>
        </p:nvSpPr>
        <p:spPr/>
        <p:txBody>
          <a:bodyPr/>
          <a:lstStyle/>
          <a:p>
            <a:r>
              <a:rPr lang="en-MY" dirty="0"/>
              <a:t>Integration Testing</a:t>
            </a:r>
          </a:p>
        </p:txBody>
      </p:sp>
      <p:sp>
        <p:nvSpPr>
          <p:cNvPr id="3" name="Content Placeholder 2">
            <a:extLst>
              <a:ext uri="{FF2B5EF4-FFF2-40B4-BE49-F238E27FC236}">
                <a16:creationId xmlns:a16="http://schemas.microsoft.com/office/drawing/2014/main" id="{9A73C185-04FD-4BCF-AF37-991AA9135C3B}"/>
              </a:ext>
            </a:extLst>
          </p:cNvPr>
          <p:cNvSpPr>
            <a:spLocks noGrp="1"/>
          </p:cNvSpPr>
          <p:nvPr>
            <p:ph idx="1"/>
          </p:nvPr>
        </p:nvSpPr>
        <p:spPr/>
        <p:txBody>
          <a:bodyPr>
            <a:normAutofit lnSpcReduction="10000"/>
          </a:bodyPr>
          <a:lstStyle/>
          <a:p>
            <a:pPr algn="just">
              <a:buFont typeface="Arial" panose="020B0604020202020204" pitchFamily="34" charset="0"/>
              <a:buChar char="•"/>
            </a:pPr>
            <a:r>
              <a:rPr lang="en-US" sz="2800" b="1" dirty="0">
                <a:solidFill>
                  <a:srgbClr val="222222"/>
                </a:solidFill>
                <a:latin typeface="Source Sans Pro" panose="020B0503030403020204" pitchFamily="34" charset="0"/>
              </a:rPr>
              <a:t>It </a:t>
            </a:r>
            <a:r>
              <a:rPr lang="en-US" sz="2800" b="0" i="0" dirty="0">
                <a:solidFill>
                  <a:srgbClr val="222222"/>
                </a:solidFill>
                <a:effectLst/>
                <a:latin typeface="Source Sans Pro" panose="020B0503030403020204" pitchFamily="34" charset="0"/>
              </a:rPr>
              <a:t>is defined as a type of testing where software modules are integrated logically and tested as a group. </a:t>
            </a:r>
          </a:p>
          <a:p>
            <a:pPr algn="just">
              <a:buFont typeface="Arial" panose="020B0604020202020204" pitchFamily="34" charset="0"/>
              <a:buChar char="•"/>
            </a:pPr>
            <a:r>
              <a:rPr lang="en-US" sz="2800" b="0" i="0" dirty="0">
                <a:solidFill>
                  <a:srgbClr val="222222"/>
                </a:solidFill>
                <a:effectLst/>
                <a:latin typeface="Source Sans Pro" panose="020B0503030403020204" pitchFamily="34" charset="0"/>
              </a:rPr>
              <a:t>A typical software project consists of multiple software modules, coded by different programmers. </a:t>
            </a:r>
          </a:p>
          <a:p>
            <a:pPr algn="just">
              <a:buFont typeface="Arial" panose="020B0604020202020204" pitchFamily="34" charset="0"/>
              <a:buChar char="•"/>
            </a:pPr>
            <a:r>
              <a:rPr lang="en-US" sz="2800" b="0" i="0" dirty="0">
                <a:solidFill>
                  <a:srgbClr val="222222"/>
                </a:solidFill>
                <a:effectLst/>
                <a:latin typeface="Source Sans Pro" panose="020B0503030403020204" pitchFamily="34" charset="0"/>
              </a:rPr>
              <a:t>The purpose of this level of testing is to expose defects in the interaction between these software modules when they are integrated</a:t>
            </a:r>
            <a:endParaRPr lang="en-MY" sz="2800" dirty="0"/>
          </a:p>
        </p:txBody>
      </p:sp>
      <p:sp>
        <p:nvSpPr>
          <p:cNvPr id="4" name="Slide Number Placeholder 3">
            <a:extLst>
              <a:ext uri="{FF2B5EF4-FFF2-40B4-BE49-F238E27FC236}">
                <a16:creationId xmlns:a16="http://schemas.microsoft.com/office/drawing/2014/main" id="{79D50BC4-E190-4302-842F-1A352D76FE3A}"/>
              </a:ext>
            </a:extLst>
          </p:cNvPr>
          <p:cNvSpPr>
            <a:spLocks noGrp="1"/>
          </p:cNvSpPr>
          <p:nvPr>
            <p:ph type="sldNum" sz="quarter" idx="12"/>
          </p:nvPr>
        </p:nvSpPr>
        <p:spPr/>
        <p:txBody>
          <a:bodyPr/>
          <a:lstStyle/>
          <a:p>
            <a:fld id="{028E3F4F-51B2-42EE-AFA2-40C4572185CC}" type="slidenum">
              <a:rPr lang="en-US" smtClean="0"/>
              <a:t>9</a:t>
            </a:fld>
            <a:endParaRPr lang="en-US" dirty="0"/>
          </a:p>
        </p:txBody>
      </p:sp>
    </p:spTree>
    <p:extLst>
      <p:ext uri="{BB962C8B-B14F-4D97-AF65-F5344CB8AC3E}">
        <p14:creationId xmlns:p14="http://schemas.microsoft.com/office/powerpoint/2010/main" val="482631534"/>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B8BEC-FBD3-4310-8463-1798A70A3299}"/>
              </a:ext>
            </a:extLst>
          </p:cNvPr>
          <p:cNvSpPr>
            <a:spLocks noGrp="1"/>
          </p:cNvSpPr>
          <p:nvPr>
            <p:ph type="title"/>
          </p:nvPr>
        </p:nvSpPr>
        <p:spPr/>
        <p:txBody>
          <a:bodyPr/>
          <a:lstStyle/>
          <a:p>
            <a:r>
              <a:rPr lang="en-US" altLang="en-US" dirty="0">
                <a:sym typeface="Arial" pitchFamily="34" charset="0"/>
              </a:rPr>
              <a:t>Software Testing  Objectives</a:t>
            </a:r>
            <a:endParaRPr lang="en-US" dirty="0"/>
          </a:p>
        </p:txBody>
      </p:sp>
      <p:sp>
        <p:nvSpPr>
          <p:cNvPr id="3" name="Content Placeholder 2">
            <a:extLst>
              <a:ext uri="{FF2B5EF4-FFF2-40B4-BE49-F238E27FC236}">
                <a16:creationId xmlns:a16="http://schemas.microsoft.com/office/drawing/2014/main" id="{EDB62319-A1CE-4D60-AC72-48ACD825AE02}"/>
              </a:ext>
            </a:extLst>
          </p:cNvPr>
          <p:cNvSpPr>
            <a:spLocks noGrp="1"/>
          </p:cNvSpPr>
          <p:nvPr>
            <p:ph idx="1"/>
          </p:nvPr>
        </p:nvSpPr>
        <p:spPr/>
        <p:txBody>
          <a:bodyPr/>
          <a:lstStyle/>
          <a:p>
            <a:pPr>
              <a:spcBef>
                <a:spcPts val="800"/>
              </a:spcBef>
            </a:pPr>
            <a:r>
              <a:rPr lang="en-US" altLang="en-US" sz="2400" b="1" i="1" dirty="0"/>
              <a:t>Incremental testing strategies:</a:t>
            </a:r>
          </a:p>
          <a:p>
            <a:pPr lvl="1">
              <a:spcBef>
                <a:spcPts val="800"/>
              </a:spcBef>
            </a:pPr>
            <a:r>
              <a:rPr lang="en-US" altLang="en-US" sz="2200" dirty="0"/>
              <a:t>Test incrementally:  Unit testing;  Integration testing;  System testing</a:t>
            </a:r>
          </a:p>
          <a:p>
            <a:pPr lvl="2">
              <a:spcBef>
                <a:spcPts val="800"/>
              </a:spcBef>
            </a:pPr>
            <a:r>
              <a:rPr lang="en-US" altLang="en-US" dirty="0"/>
              <a:t>Bottom-up testing</a:t>
            </a:r>
          </a:p>
          <a:p>
            <a:pPr lvl="2">
              <a:spcBef>
                <a:spcPts val="800"/>
              </a:spcBef>
            </a:pPr>
            <a:r>
              <a:rPr lang="en-US" altLang="en-US" dirty="0"/>
              <a:t>Top-down testing</a:t>
            </a:r>
          </a:p>
          <a:p>
            <a:pPr>
              <a:spcBef>
                <a:spcPts val="800"/>
              </a:spcBef>
            </a:pPr>
            <a:r>
              <a:rPr lang="en-US" altLang="en-US" sz="2400" b="1" i="1" dirty="0"/>
              <a:t>Big bang testing </a:t>
            </a:r>
          </a:p>
          <a:p>
            <a:pPr lvl="2">
              <a:spcBef>
                <a:spcPts val="800"/>
              </a:spcBef>
            </a:pPr>
            <a:r>
              <a:rPr lang="en-US" altLang="en-US" sz="2000" dirty="0"/>
              <a:t>Test entire software at one time</a:t>
            </a:r>
            <a:endParaRPr lang="en-US" sz="2000" dirty="0"/>
          </a:p>
        </p:txBody>
      </p:sp>
    </p:spTree>
    <p:extLst>
      <p:ext uri="{BB962C8B-B14F-4D97-AF65-F5344CB8AC3E}">
        <p14:creationId xmlns:p14="http://schemas.microsoft.com/office/powerpoint/2010/main" val="2824663217"/>
      </p:ext>
    </p:extLst>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FC9B-FF08-4655-9AE3-29F889B3693E}"/>
              </a:ext>
            </a:extLst>
          </p:cNvPr>
          <p:cNvSpPr>
            <a:spLocks noGrp="1"/>
          </p:cNvSpPr>
          <p:nvPr>
            <p:ph type="title"/>
          </p:nvPr>
        </p:nvSpPr>
        <p:spPr/>
        <p:txBody>
          <a:bodyPr/>
          <a:lstStyle/>
          <a:p>
            <a:r>
              <a:rPr lang="en-US" b="1" i="0" dirty="0">
                <a:solidFill>
                  <a:srgbClr val="222222"/>
                </a:solidFill>
                <a:effectLst/>
                <a:latin typeface="Source Sans Pro" panose="020B0503030403020204" pitchFamily="34" charset="0"/>
              </a:rPr>
              <a:t>Bottom-up Integration Testing</a:t>
            </a:r>
            <a:r>
              <a:rPr lang="en-US" b="0" i="0" dirty="0">
                <a:solidFill>
                  <a:srgbClr val="222222"/>
                </a:solidFill>
                <a:effectLst/>
                <a:latin typeface="Source Sans Pro" panose="020B0503030403020204" pitchFamily="34" charset="0"/>
              </a:rPr>
              <a:t> </a:t>
            </a:r>
            <a:endParaRPr lang="en-MY" dirty="0"/>
          </a:p>
        </p:txBody>
      </p:sp>
      <p:sp>
        <p:nvSpPr>
          <p:cNvPr id="3" name="Content Placeholder 2">
            <a:extLst>
              <a:ext uri="{FF2B5EF4-FFF2-40B4-BE49-F238E27FC236}">
                <a16:creationId xmlns:a16="http://schemas.microsoft.com/office/drawing/2014/main" id="{78F16E46-E4F7-4064-BE2A-E4A82C96E66F}"/>
              </a:ext>
            </a:extLst>
          </p:cNvPr>
          <p:cNvSpPr>
            <a:spLocks noGrp="1"/>
          </p:cNvSpPr>
          <p:nvPr>
            <p:ph idx="1"/>
          </p:nvPr>
        </p:nvSpPr>
        <p:spPr/>
        <p:txBody>
          <a:bodyPr>
            <a:normAutofit/>
          </a:bodyPr>
          <a:lstStyle/>
          <a:p>
            <a:pPr algn="just">
              <a:buFont typeface="Arial" panose="020B0604020202020204" pitchFamily="34" charset="0"/>
              <a:buChar char="•"/>
            </a:pPr>
            <a:r>
              <a:rPr lang="en-US" sz="2800" b="0" i="0" dirty="0">
                <a:solidFill>
                  <a:srgbClr val="222222"/>
                </a:solidFill>
                <a:effectLst/>
                <a:latin typeface="Source Sans Pro" panose="020B0503030403020204" pitchFamily="34" charset="0"/>
              </a:rPr>
              <a:t>It is a strategy in which the lower level modules are tested first. </a:t>
            </a:r>
          </a:p>
          <a:p>
            <a:pPr algn="just">
              <a:buFont typeface="Arial" panose="020B0604020202020204" pitchFamily="34" charset="0"/>
              <a:buChar char="•"/>
            </a:pPr>
            <a:r>
              <a:rPr lang="en-US" sz="2800" b="0" i="0" dirty="0">
                <a:solidFill>
                  <a:srgbClr val="222222"/>
                </a:solidFill>
                <a:effectLst/>
                <a:latin typeface="Source Sans Pro" panose="020B0503030403020204" pitchFamily="34" charset="0"/>
              </a:rPr>
              <a:t>These tested modules are then further used to facilitate the testing of higher level modules. </a:t>
            </a:r>
          </a:p>
          <a:p>
            <a:pPr algn="just">
              <a:buFont typeface="Arial" panose="020B0604020202020204" pitchFamily="34" charset="0"/>
              <a:buChar char="•"/>
            </a:pPr>
            <a:r>
              <a:rPr lang="en-US" sz="2800" b="0" i="0" dirty="0">
                <a:solidFill>
                  <a:srgbClr val="222222"/>
                </a:solidFill>
                <a:effectLst/>
                <a:latin typeface="Source Sans Pro" panose="020B0503030403020204" pitchFamily="34" charset="0"/>
              </a:rPr>
              <a:t>The process continues until all modules at top level are tested.</a:t>
            </a:r>
            <a:endParaRPr lang="en-MY" sz="2800" dirty="0"/>
          </a:p>
        </p:txBody>
      </p:sp>
      <p:sp>
        <p:nvSpPr>
          <p:cNvPr id="4" name="Slide Number Placeholder 3">
            <a:extLst>
              <a:ext uri="{FF2B5EF4-FFF2-40B4-BE49-F238E27FC236}">
                <a16:creationId xmlns:a16="http://schemas.microsoft.com/office/drawing/2014/main" id="{63A8317C-FFFA-4CF7-A184-3DFF51F943C0}"/>
              </a:ext>
            </a:extLst>
          </p:cNvPr>
          <p:cNvSpPr>
            <a:spLocks noGrp="1"/>
          </p:cNvSpPr>
          <p:nvPr>
            <p:ph type="sldNum" sz="quarter" idx="12"/>
          </p:nvPr>
        </p:nvSpPr>
        <p:spPr/>
        <p:txBody>
          <a:bodyPr/>
          <a:lstStyle/>
          <a:p>
            <a:fld id="{028E3F4F-51B2-42EE-AFA2-40C4572185CC}" type="slidenum">
              <a:rPr lang="en-US" smtClean="0"/>
              <a:t>11</a:t>
            </a:fld>
            <a:endParaRPr lang="en-US" dirty="0"/>
          </a:p>
        </p:txBody>
      </p:sp>
    </p:spTree>
    <p:extLst>
      <p:ext uri="{BB962C8B-B14F-4D97-AF65-F5344CB8AC3E}">
        <p14:creationId xmlns:p14="http://schemas.microsoft.com/office/powerpoint/2010/main" val="2507728984"/>
      </p:ext>
    </p:extLst>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Bottom-up Testing</a:t>
            </a:r>
            <a:endParaRPr lang="en-GB" sz="3600" dirty="0"/>
          </a:p>
        </p:txBody>
      </p:sp>
      <p:grpSp>
        <p:nvGrpSpPr>
          <p:cNvPr id="3" name="Group 2">
            <a:extLst>
              <a:ext uri="{FF2B5EF4-FFF2-40B4-BE49-F238E27FC236}">
                <a16:creationId xmlns:a16="http://schemas.microsoft.com/office/drawing/2014/main" id="{DF78FC47-EBA9-48B9-920D-C3CC16E1E9EF}"/>
              </a:ext>
            </a:extLst>
          </p:cNvPr>
          <p:cNvGrpSpPr/>
          <p:nvPr/>
        </p:nvGrpSpPr>
        <p:grpSpPr>
          <a:xfrm>
            <a:off x="685800" y="1219200"/>
            <a:ext cx="7620000" cy="4191000"/>
            <a:chOff x="1524000" y="2133600"/>
            <a:chExt cx="6477000" cy="3902075"/>
          </a:xfrm>
        </p:grpSpPr>
        <p:sp>
          <p:nvSpPr>
            <p:cNvPr id="7" name="AutoShape 2"/>
            <p:cNvSpPr>
              <a:spLocks/>
            </p:cNvSpPr>
            <p:nvPr/>
          </p:nvSpPr>
          <p:spPr bwMode="auto">
            <a:xfrm>
              <a:off x="3429000" y="30480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M9</a:t>
              </a:r>
              <a:endParaRPr lang="en-US" altLang="en-US"/>
            </a:p>
          </p:txBody>
        </p:sp>
        <p:sp>
          <p:nvSpPr>
            <p:cNvPr id="8" name="AutoShape 3"/>
            <p:cNvSpPr>
              <a:spLocks/>
            </p:cNvSpPr>
            <p:nvPr/>
          </p:nvSpPr>
          <p:spPr bwMode="auto">
            <a:xfrm>
              <a:off x="1905000" y="41910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M8</a:t>
              </a:r>
              <a:endParaRPr lang="en-US" altLang="en-US"/>
            </a:p>
          </p:txBody>
        </p:sp>
        <p:sp>
          <p:nvSpPr>
            <p:cNvPr id="9" name="AutoShape 4"/>
            <p:cNvSpPr>
              <a:spLocks/>
            </p:cNvSpPr>
            <p:nvPr/>
          </p:nvSpPr>
          <p:spPr bwMode="auto">
            <a:xfrm>
              <a:off x="1524000" y="56388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M1</a:t>
              </a:r>
              <a:endParaRPr lang="en-US" altLang="en-US"/>
            </a:p>
          </p:txBody>
        </p:sp>
        <p:sp>
          <p:nvSpPr>
            <p:cNvPr id="10" name="AutoShape 5"/>
            <p:cNvSpPr>
              <a:spLocks/>
            </p:cNvSpPr>
            <p:nvPr/>
          </p:nvSpPr>
          <p:spPr bwMode="auto">
            <a:xfrm>
              <a:off x="2286000" y="56388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M2</a:t>
              </a:r>
              <a:endParaRPr lang="en-US" altLang="en-US"/>
            </a:p>
          </p:txBody>
        </p:sp>
        <p:sp>
          <p:nvSpPr>
            <p:cNvPr id="11" name="AutoShape 6"/>
            <p:cNvSpPr>
              <a:spLocks/>
            </p:cNvSpPr>
            <p:nvPr/>
          </p:nvSpPr>
          <p:spPr bwMode="auto">
            <a:xfrm>
              <a:off x="3429000" y="56388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M3</a:t>
              </a:r>
              <a:endParaRPr lang="en-US" altLang="en-US"/>
            </a:p>
          </p:txBody>
        </p:sp>
        <p:sp>
          <p:nvSpPr>
            <p:cNvPr id="12" name="AutoShape 7"/>
            <p:cNvSpPr>
              <a:spLocks/>
            </p:cNvSpPr>
            <p:nvPr/>
          </p:nvSpPr>
          <p:spPr bwMode="auto">
            <a:xfrm>
              <a:off x="4191000" y="56388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M4</a:t>
              </a:r>
              <a:endParaRPr lang="en-US" altLang="en-US"/>
            </a:p>
          </p:txBody>
        </p:sp>
        <p:sp>
          <p:nvSpPr>
            <p:cNvPr id="13" name="AutoShape 8"/>
            <p:cNvSpPr>
              <a:spLocks/>
            </p:cNvSpPr>
            <p:nvPr/>
          </p:nvSpPr>
          <p:spPr bwMode="auto">
            <a:xfrm>
              <a:off x="4953000" y="56388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M5</a:t>
              </a:r>
              <a:endParaRPr lang="en-US" altLang="en-US"/>
            </a:p>
          </p:txBody>
        </p:sp>
        <p:sp>
          <p:nvSpPr>
            <p:cNvPr id="14" name="AutoShape 9"/>
            <p:cNvSpPr>
              <a:spLocks/>
            </p:cNvSpPr>
            <p:nvPr/>
          </p:nvSpPr>
          <p:spPr bwMode="auto">
            <a:xfrm>
              <a:off x="6553200" y="56388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M6</a:t>
              </a:r>
              <a:endParaRPr lang="en-US" altLang="en-US"/>
            </a:p>
          </p:txBody>
        </p:sp>
        <p:sp>
          <p:nvSpPr>
            <p:cNvPr id="15" name="AutoShape 10"/>
            <p:cNvSpPr>
              <a:spLocks/>
            </p:cNvSpPr>
            <p:nvPr/>
          </p:nvSpPr>
          <p:spPr bwMode="auto">
            <a:xfrm>
              <a:off x="7315200" y="56388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M7</a:t>
              </a:r>
              <a:endParaRPr lang="en-US" altLang="en-US"/>
            </a:p>
          </p:txBody>
        </p:sp>
        <p:sp>
          <p:nvSpPr>
            <p:cNvPr id="16" name="AutoShape 11"/>
            <p:cNvSpPr>
              <a:spLocks/>
            </p:cNvSpPr>
            <p:nvPr/>
          </p:nvSpPr>
          <p:spPr bwMode="auto">
            <a:xfrm>
              <a:off x="6934200" y="31242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M10</a:t>
              </a:r>
              <a:endParaRPr lang="en-US" altLang="en-US"/>
            </a:p>
          </p:txBody>
        </p:sp>
        <p:sp>
          <p:nvSpPr>
            <p:cNvPr id="17" name="AutoShape 12"/>
            <p:cNvSpPr>
              <a:spLocks/>
            </p:cNvSpPr>
            <p:nvPr/>
          </p:nvSpPr>
          <p:spPr bwMode="auto">
            <a:xfrm>
              <a:off x="5029200" y="2133600"/>
              <a:ext cx="685800" cy="396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C0C0C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a:defRPr sz="1200">
                  <a:solidFill>
                    <a:srgbClr val="000000"/>
                  </a:solidFill>
                  <a:latin typeface="Helvetica" charset="0"/>
                  <a:ea typeface="Helvetica" charset="0"/>
                  <a:cs typeface="Helvetica" charset="0"/>
                  <a:sym typeface="Helvetica" charset="0"/>
                </a:defRPr>
              </a:lvl1pPr>
              <a:lvl2pPr>
                <a:defRPr sz="1200">
                  <a:solidFill>
                    <a:srgbClr val="000000"/>
                  </a:solidFill>
                  <a:latin typeface="Helvetica" charset="0"/>
                  <a:ea typeface="Helvetica" charset="0"/>
                  <a:cs typeface="Helvetica" charset="0"/>
                  <a:sym typeface="Helvetica" charset="0"/>
                </a:defRPr>
              </a:lvl2pPr>
              <a:lvl3pPr>
                <a:defRPr sz="1200">
                  <a:solidFill>
                    <a:srgbClr val="000000"/>
                  </a:solidFill>
                  <a:latin typeface="Helvetica" charset="0"/>
                  <a:ea typeface="Helvetica" charset="0"/>
                  <a:cs typeface="Helvetica" charset="0"/>
                  <a:sym typeface="Helvetica" charset="0"/>
                </a:defRPr>
              </a:lvl3pPr>
              <a:lvl4pPr>
                <a:defRPr sz="1200">
                  <a:solidFill>
                    <a:srgbClr val="000000"/>
                  </a:solidFill>
                  <a:latin typeface="Helvetica" charset="0"/>
                  <a:ea typeface="Helvetica" charset="0"/>
                  <a:cs typeface="Helvetica" charset="0"/>
                  <a:sym typeface="Helvetica" charset="0"/>
                </a:defRPr>
              </a:lvl4pPr>
              <a:lvl5pPr>
                <a:defRPr sz="1200">
                  <a:solidFill>
                    <a:srgbClr val="000000"/>
                  </a:solidFill>
                  <a:latin typeface="Helvetica" charset="0"/>
                  <a:ea typeface="Helvetica" charset="0"/>
                  <a:cs typeface="Helvetica" charset="0"/>
                  <a:sym typeface="Helvetica" charset="0"/>
                </a:defRPr>
              </a:lvl5pPr>
              <a:lvl6pPr marL="13716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6pPr>
              <a:lvl7pPr marL="18288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7pPr>
              <a:lvl8pPr marL="22860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8pPr>
              <a:lvl9pPr marL="2743200" fontAlgn="base" hangingPunct="0">
                <a:spcBef>
                  <a:spcPct val="0"/>
                </a:spcBef>
                <a:spcAft>
                  <a:spcPct val="0"/>
                </a:spcAft>
                <a:defRPr sz="1200">
                  <a:solidFill>
                    <a:srgbClr val="000000"/>
                  </a:solidFill>
                  <a:latin typeface="Helvetica" charset="0"/>
                  <a:ea typeface="Helvetica" charset="0"/>
                  <a:cs typeface="Helvetica" charset="0"/>
                  <a:sym typeface="Helvetica" charset="0"/>
                </a:defRPr>
              </a:lvl9pPr>
            </a:lstStyle>
            <a:p>
              <a:pPr algn="ctr" defTabSz="914400">
                <a:spcBef>
                  <a:spcPts val="1000"/>
                </a:spcBef>
              </a:pPr>
              <a:r>
                <a:rPr lang="en-US" altLang="en-US" sz="1800">
                  <a:latin typeface="Times New Roman" pitchFamily="18" charset="0"/>
                  <a:cs typeface="Times New Roman" pitchFamily="18" charset="0"/>
                  <a:sym typeface="Times New Roman" pitchFamily="18" charset="0"/>
                </a:rPr>
                <a:t>M11</a:t>
              </a:r>
              <a:endParaRPr lang="en-US" altLang="en-US"/>
            </a:p>
          </p:txBody>
        </p:sp>
        <p:sp>
          <p:nvSpPr>
            <p:cNvPr id="18" name="Line 13"/>
            <p:cNvSpPr>
              <a:spLocks noChangeShapeType="1"/>
            </p:cNvSpPr>
            <p:nvPr/>
          </p:nvSpPr>
          <p:spPr bwMode="auto">
            <a:xfrm flipV="1">
              <a:off x="7391400" y="3505200"/>
              <a:ext cx="0" cy="21336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19" name="Line 14"/>
            <p:cNvSpPr>
              <a:spLocks noChangeShapeType="1"/>
            </p:cNvSpPr>
            <p:nvPr/>
          </p:nvSpPr>
          <p:spPr bwMode="auto">
            <a:xfrm flipV="1">
              <a:off x="7162800" y="3505200"/>
              <a:ext cx="0" cy="21336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0" name="Line 15"/>
            <p:cNvSpPr>
              <a:spLocks noChangeShapeType="1"/>
            </p:cNvSpPr>
            <p:nvPr/>
          </p:nvSpPr>
          <p:spPr bwMode="auto">
            <a:xfrm flipV="1">
              <a:off x="2057400" y="4572000"/>
              <a:ext cx="0" cy="10668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1" name="Line 16"/>
            <p:cNvSpPr>
              <a:spLocks noChangeShapeType="1"/>
            </p:cNvSpPr>
            <p:nvPr/>
          </p:nvSpPr>
          <p:spPr bwMode="auto">
            <a:xfrm flipV="1">
              <a:off x="2438400" y="4572000"/>
              <a:ext cx="0" cy="10668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2" name="Line 17"/>
            <p:cNvSpPr>
              <a:spLocks noChangeShapeType="1"/>
            </p:cNvSpPr>
            <p:nvPr/>
          </p:nvSpPr>
          <p:spPr bwMode="auto">
            <a:xfrm flipV="1">
              <a:off x="3733800" y="3429000"/>
              <a:ext cx="0" cy="22098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3" name="Line 18"/>
            <p:cNvSpPr>
              <a:spLocks noChangeShapeType="1"/>
            </p:cNvSpPr>
            <p:nvPr/>
          </p:nvSpPr>
          <p:spPr bwMode="auto">
            <a:xfrm flipV="1">
              <a:off x="3505200" y="3429000"/>
              <a:ext cx="0" cy="4572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4" name="Line 19"/>
            <p:cNvSpPr>
              <a:spLocks noChangeShapeType="1"/>
            </p:cNvSpPr>
            <p:nvPr/>
          </p:nvSpPr>
          <p:spPr bwMode="auto">
            <a:xfrm flipV="1">
              <a:off x="3886200" y="3429000"/>
              <a:ext cx="0" cy="6858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5" name="Line 20"/>
            <p:cNvSpPr>
              <a:spLocks noChangeShapeType="1"/>
            </p:cNvSpPr>
            <p:nvPr/>
          </p:nvSpPr>
          <p:spPr bwMode="auto">
            <a:xfrm flipV="1">
              <a:off x="4038600" y="3429000"/>
              <a:ext cx="0" cy="4572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6" name="Line 21"/>
            <p:cNvSpPr>
              <a:spLocks noChangeShapeType="1"/>
            </p:cNvSpPr>
            <p:nvPr/>
          </p:nvSpPr>
          <p:spPr bwMode="auto">
            <a:xfrm flipV="1">
              <a:off x="2209800" y="3886200"/>
              <a:ext cx="0" cy="30480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7" name="Line 22"/>
            <p:cNvSpPr>
              <a:spLocks noChangeShapeType="1"/>
            </p:cNvSpPr>
            <p:nvPr/>
          </p:nvSpPr>
          <p:spPr bwMode="auto">
            <a:xfrm>
              <a:off x="2209800" y="3886200"/>
              <a:ext cx="1295400" cy="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8" name="Line 23"/>
            <p:cNvSpPr>
              <a:spLocks noChangeShapeType="1"/>
            </p:cNvSpPr>
            <p:nvPr/>
          </p:nvSpPr>
          <p:spPr bwMode="auto">
            <a:xfrm flipV="1">
              <a:off x="4495800" y="4114800"/>
              <a:ext cx="0" cy="152400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9" name="Line 24"/>
            <p:cNvSpPr>
              <a:spLocks noChangeShapeType="1"/>
            </p:cNvSpPr>
            <p:nvPr/>
          </p:nvSpPr>
          <p:spPr bwMode="auto">
            <a:xfrm flipV="1">
              <a:off x="5257800" y="3886200"/>
              <a:ext cx="0" cy="175260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0" name="Line 25"/>
            <p:cNvSpPr>
              <a:spLocks noChangeShapeType="1"/>
            </p:cNvSpPr>
            <p:nvPr/>
          </p:nvSpPr>
          <p:spPr bwMode="auto">
            <a:xfrm flipH="1">
              <a:off x="4038600" y="3886200"/>
              <a:ext cx="1219200" cy="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1" name="Line 26"/>
            <p:cNvSpPr>
              <a:spLocks noChangeShapeType="1"/>
            </p:cNvSpPr>
            <p:nvPr/>
          </p:nvSpPr>
          <p:spPr bwMode="auto">
            <a:xfrm flipH="1">
              <a:off x="3886200" y="4114800"/>
              <a:ext cx="609600" cy="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2" name="Line 27"/>
            <p:cNvSpPr>
              <a:spLocks noChangeShapeType="1"/>
            </p:cNvSpPr>
            <p:nvPr/>
          </p:nvSpPr>
          <p:spPr bwMode="auto">
            <a:xfrm flipV="1">
              <a:off x="5562600" y="2514600"/>
              <a:ext cx="0" cy="4572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3" name="Line 28"/>
            <p:cNvSpPr>
              <a:spLocks noChangeShapeType="1"/>
            </p:cNvSpPr>
            <p:nvPr/>
          </p:nvSpPr>
          <p:spPr bwMode="auto">
            <a:xfrm flipV="1">
              <a:off x="5181600" y="2514600"/>
              <a:ext cx="0" cy="304800"/>
            </a:xfrm>
            <a:prstGeom prst="line">
              <a:avLst/>
            </a:prstGeom>
            <a:noFill/>
            <a:ln w="9525" cap="flat" cmpd="sng">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4" name="Line 29"/>
            <p:cNvSpPr>
              <a:spLocks noChangeShapeType="1"/>
            </p:cNvSpPr>
            <p:nvPr/>
          </p:nvSpPr>
          <p:spPr bwMode="auto">
            <a:xfrm>
              <a:off x="5562600" y="2971800"/>
              <a:ext cx="1676400" cy="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5" name="Line 30"/>
            <p:cNvSpPr>
              <a:spLocks noChangeShapeType="1"/>
            </p:cNvSpPr>
            <p:nvPr/>
          </p:nvSpPr>
          <p:spPr bwMode="auto">
            <a:xfrm flipH="1">
              <a:off x="3733800" y="2819400"/>
              <a:ext cx="1447800" cy="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6" name="Line 31"/>
            <p:cNvSpPr>
              <a:spLocks noChangeShapeType="1"/>
            </p:cNvSpPr>
            <p:nvPr/>
          </p:nvSpPr>
          <p:spPr bwMode="auto">
            <a:xfrm>
              <a:off x="3733800" y="2819400"/>
              <a:ext cx="0" cy="22860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7" name="Line 32"/>
            <p:cNvSpPr>
              <a:spLocks noChangeShapeType="1"/>
            </p:cNvSpPr>
            <p:nvPr/>
          </p:nvSpPr>
          <p:spPr bwMode="auto">
            <a:xfrm>
              <a:off x="7239000" y="2971800"/>
              <a:ext cx="0" cy="152400"/>
            </a:xfrm>
            <a:prstGeom prst="line">
              <a:avLst/>
            </a:prstGeom>
            <a:noFill/>
            <a:ln w="9525" cap="flat" cmpd="sng">
              <a:solidFill>
                <a:srgbClr val="0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gr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D2D66B9-4941-4236-956A-AB3A7048789A}"/>
                  </a:ext>
                </a:extLst>
              </p14:cNvPr>
              <p14:cNvContentPartPr/>
              <p14:nvPr/>
            </p14:nvContentPartPr>
            <p14:xfrm>
              <a:off x="1248120" y="5335200"/>
              <a:ext cx="5760" cy="3240"/>
            </p14:xfrm>
          </p:contentPart>
        </mc:Choice>
        <mc:Fallback xmlns="">
          <p:pic>
            <p:nvPicPr>
              <p:cNvPr id="5" name="Ink 4">
                <a:extLst>
                  <a:ext uri="{FF2B5EF4-FFF2-40B4-BE49-F238E27FC236}">
                    <a16:creationId xmlns:a16="http://schemas.microsoft.com/office/drawing/2014/main" id="{AD2D66B9-4941-4236-956A-AB3A7048789A}"/>
                  </a:ext>
                </a:extLst>
              </p:cNvPr>
              <p:cNvPicPr/>
              <p:nvPr/>
            </p:nvPicPr>
            <p:blipFill>
              <a:blip r:embed="rId3"/>
              <a:stretch>
                <a:fillRect/>
              </a:stretch>
            </p:blipFill>
            <p:spPr>
              <a:xfrm>
                <a:off x="1238760" y="5325840"/>
                <a:ext cx="24480" cy="21960"/>
              </a:xfrm>
              <a:prstGeom prst="rect">
                <a:avLst/>
              </a:prstGeom>
            </p:spPr>
          </p:pic>
        </mc:Fallback>
      </mc:AlternateContent>
    </p:spTree>
    <p:extLst>
      <p:ext uri="{BB962C8B-B14F-4D97-AF65-F5344CB8AC3E}">
        <p14:creationId xmlns:p14="http://schemas.microsoft.com/office/powerpoint/2010/main" val="2499289600"/>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0721-9A19-4D55-9197-5E89F21FDB15}"/>
              </a:ext>
            </a:extLst>
          </p:cNvPr>
          <p:cNvSpPr>
            <a:spLocks noGrp="1"/>
          </p:cNvSpPr>
          <p:nvPr>
            <p:ph type="title"/>
          </p:nvPr>
        </p:nvSpPr>
        <p:spPr/>
        <p:txBody>
          <a:bodyPr/>
          <a:lstStyle/>
          <a:p>
            <a:r>
              <a:rPr lang="en-US" b="1" i="0" dirty="0">
                <a:solidFill>
                  <a:srgbClr val="222222"/>
                </a:solidFill>
                <a:effectLst/>
                <a:latin typeface="arial" panose="020B0604020202020204" pitchFamily="34" charset="0"/>
              </a:rPr>
              <a:t>Top</a:t>
            </a:r>
            <a:r>
              <a:rPr lang="en-US" b="0" i="0" dirty="0">
                <a:solidFill>
                  <a:srgbClr val="222222"/>
                </a:solidFill>
                <a:effectLst/>
                <a:latin typeface="arial" panose="020B0604020202020204" pitchFamily="34" charset="0"/>
              </a:rPr>
              <a:t>-</a:t>
            </a:r>
            <a:r>
              <a:rPr lang="en-US" b="1" i="0" dirty="0">
                <a:solidFill>
                  <a:srgbClr val="222222"/>
                </a:solidFill>
                <a:effectLst/>
                <a:latin typeface="arial" panose="020B0604020202020204" pitchFamily="34" charset="0"/>
              </a:rPr>
              <a:t>down testing</a:t>
            </a:r>
            <a:r>
              <a:rPr lang="en-US" b="0" i="0" dirty="0">
                <a:solidFill>
                  <a:srgbClr val="222222"/>
                </a:solidFill>
                <a:effectLst/>
                <a:latin typeface="arial" panose="020B0604020202020204" pitchFamily="34" charset="0"/>
              </a:rPr>
              <a:t> </a:t>
            </a:r>
            <a:endParaRPr lang="en-MY" dirty="0"/>
          </a:p>
        </p:txBody>
      </p:sp>
      <p:sp>
        <p:nvSpPr>
          <p:cNvPr id="3" name="Content Placeholder 2">
            <a:extLst>
              <a:ext uri="{FF2B5EF4-FFF2-40B4-BE49-F238E27FC236}">
                <a16:creationId xmlns:a16="http://schemas.microsoft.com/office/drawing/2014/main" id="{8D9E17BC-7D5F-43A9-AACC-2E2A692C39A5}"/>
              </a:ext>
            </a:extLst>
          </p:cNvPr>
          <p:cNvSpPr>
            <a:spLocks noGrp="1"/>
          </p:cNvSpPr>
          <p:nvPr>
            <p:ph idx="1"/>
          </p:nvPr>
        </p:nvSpPr>
        <p:spPr/>
        <p:txBody>
          <a:bodyPr>
            <a:normAutofit/>
          </a:bodyPr>
          <a:lstStyle/>
          <a:p>
            <a:pPr algn="just">
              <a:buFont typeface="Arial" panose="020B0604020202020204" pitchFamily="34" charset="0"/>
              <a:buChar char="•"/>
            </a:pPr>
            <a:r>
              <a:rPr lang="en-US" sz="2800" b="1" dirty="0">
                <a:solidFill>
                  <a:srgbClr val="222222"/>
                </a:solidFill>
                <a:latin typeface="arial" panose="020B0604020202020204" pitchFamily="34" charset="0"/>
              </a:rPr>
              <a:t>It </a:t>
            </a:r>
            <a:r>
              <a:rPr lang="en-US" sz="2800" b="0" i="0" dirty="0">
                <a:solidFill>
                  <a:srgbClr val="222222"/>
                </a:solidFill>
                <a:effectLst/>
                <a:latin typeface="arial" panose="020B0604020202020204" pitchFamily="34" charset="0"/>
              </a:rPr>
              <a:t>is an approach to integrated </a:t>
            </a:r>
            <a:r>
              <a:rPr lang="en-US" sz="2800" b="1" i="0" dirty="0">
                <a:solidFill>
                  <a:srgbClr val="222222"/>
                </a:solidFill>
                <a:effectLst/>
                <a:latin typeface="arial" panose="020B0604020202020204" pitchFamily="34" charset="0"/>
              </a:rPr>
              <a:t>testing</a:t>
            </a:r>
            <a:r>
              <a:rPr lang="en-US" sz="2800" b="0" i="0" dirty="0">
                <a:solidFill>
                  <a:srgbClr val="222222"/>
                </a:solidFill>
                <a:effectLst/>
                <a:latin typeface="arial" panose="020B0604020202020204" pitchFamily="34" charset="0"/>
              </a:rPr>
              <a:t> where the </a:t>
            </a:r>
            <a:r>
              <a:rPr lang="en-US" sz="2800" b="1" i="0" dirty="0">
                <a:solidFill>
                  <a:srgbClr val="222222"/>
                </a:solidFill>
                <a:effectLst/>
                <a:latin typeface="arial" panose="020B0604020202020204" pitchFamily="34" charset="0"/>
              </a:rPr>
              <a:t>top</a:t>
            </a:r>
            <a:r>
              <a:rPr lang="en-US" sz="2800" b="0" i="0" dirty="0">
                <a:solidFill>
                  <a:srgbClr val="222222"/>
                </a:solidFill>
                <a:effectLst/>
                <a:latin typeface="arial" panose="020B0604020202020204" pitchFamily="34" charset="0"/>
              </a:rPr>
              <a:t> integrated modules are </a:t>
            </a:r>
            <a:r>
              <a:rPr lang="en-US" sz="2800" b="1" i="0" dirty="0">
                <a:solidFill>
                  <a:srgbClr val="222222"/>
                </a:solidFill>
                <a:effectLst/>
                <a:latin typeface="arial" panose="020B0604020202020204" pitchFamily="34" charset="0"/>
              </a:rPr>
              <a:t>tested</a:t>
            </a:r>
            <a:r>
              <a:rPr lang="en-US" sz="2800" b="0" i="0" dirty="0">
                <a:solidFill>
                  <a:srgbClr val="222222"/>
                </a:solidFill>
                <a:effectLst/>
                <a:latin typeface="arial" panose="020B0604020202020204" pitchFamily="34" charset="0"/>
              </a:rPr>
              <a:t> and the branch of the module is </a:t>
            </a:r>
            <a:r>
              <a:rPr lang="en-US" sz="2800" b="1" i="0" dirty="0">
                <a:solidFill>
                  <a:srgbClr val="222222"/>
                </a:solidFill>
                <a:effectLst/>
                <a:latin typeface="arial" panose="020B0604020202020204" pitchFamily="34" charset="0"/>
              </a:rPr>
              <a:t>tested</a:t>
            </a:r>
            <a:r>
              <a:rPr lang="en-US" sz="2800" b="0" i="0" dirty="0">
                <a:solidFill>
                  <a:srgbClr val="222222"/>
                </a:solidFill>
                <a:effectLst/>
                <a:latin typeface="arial" panose="020B0604020202020204" pitchFamily="34" charset="0"/>
              </a:rPr>
              <a:t> step by step until the end of the related module.</a:t>
            </a:r>
            <a:endParaRPr lang="en-MY" sz="2800" dirty="0"/>
          </a:p>
        </p:txBody>
      </p:sp>
      <p:sp>
        <p:nvSpPr>
          <p:cNvPr id="4" name="Slide Number Placeholder 3">
            <a:extLst>
              <a:ext uri="{FF2B5EF4-FFF2-40B4-BE49-F238E27FC236}">
                <a16:creationId xmlns:a16="http://schemas.microsoft.com/office/drawing/2014/main" id="{FC68AFDA-ED4C-47B9-A60D-BC54EA2E3350}"/>
              </a:ext>
            </a:extLst>
          </p:cNvPr>
          <p:cNvSpPr>
            <a:spLocks noGrp="1"/>
          </p:cNvSpPr>
          <p:nvPr>
            <p:ph type="sldNum" sz="quarter" idx="12"/>
          </p:nvPr>
        </p:nvSpPr>
        <p:spPr/>
        <p:txBody>
          <a:bodyPr/>
          <a:lstStyle/>
          <a:p>
            <a:fld id="{028E3F4F-51B2-42EE-AFA2-40C4572185CC}" type="slidenum">
              <a:rPr lang="en-US" smtClean="0"/>
              <a:t>13</a:t>
            </a:fld>
            <a:endParaRPr lang="en-US" dirty="0"/>
          </a:p>
        </p:txBody>
      </p:sp>
    </p:spTree>
    <p:extLst>
      <p:ext uri="{BB962C8B-B14F-4D97-AF65-F5344CB8AC3E}">
        <p14:creationId xmlns:p14="http://schemas.microsoft.com/office/powerpoint/2010/main" val="3752515331"/>
      </p:ext>
    </p:extLst>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7D9B8-6224-4D71-B812-067C89F84250}"/>
              </a:ext>
            </a:extLst>
          </p:cNvPr>
          <p:cNvSpPr>
            <a:spLocks noGrp="1"/>
          </p:cNvSpPr>
          <p:nvPr>
            <p:ph type="title"/>
          </p:nvPr>
        </p:nvSpPr>
        <p:spPr/>
        <p:txBody>
          <a:bodyPr/>
          <a:lstStyle/>
          <a:p>
            <a:endParaRPr lang="en-MY"/>
          </a:p>
        </p:txBody>
      </p:sp>
      <p:pic>
        <p:nvPicPr>
          <p:cNvPr id="6" name="Content Placeholder 5">
            <a:extLst>
              <a:ext uri="{FF2B5EF4-FFF2-40B4-BE49-F238E27FC236}">
                <a16:creationId xmlns:a16="http://schemas.microsoft.com/office/drawing/2014/main" id="{19CCD69F-C72C-47FE-B3C1-6819380DA8C8}"/>
              </a:ext>
            </a:extLst>
          </p:cNvPr>
          <p:cNvPicPr>
            <a:picLocks noGrp="1" noChangeAspect="1"/>
          </p:cNvPicPr>
          <p:nvPr>
            <p:ph idx="1"/>
          </p:nvPr>
        </p:nvPicPr>
        <p:blipFill rotWithShape="1">
          <a:blip r:embed="rId2"/>
          <a:srcRect l="12397" t="9037" r="34327" b="41713"/>
          <a:stretch/>
        </p:blipFill>
        <p:spPr>
          <a:xfrm>
            <a:off x="777240" y="1600200"/>
            <a:ext cx="7033846" cy="3657600"/>
          </a:xfrm>
        </p:spPr>
      </p:pic>
      <p:sp>
        <p:nvSpPr>
          <p:cNvPr id="4" name="Slide Number Placeholder 3">
            <a:extLst>
              <a:ext uri="{FF2B5EF4-FFF2-40B4-BE49-F238E27FC236}">
                <a16:creationId xmlns:a16="http://schemas.microsoft.com/office/drawing/2014/main" id="{18771979-BFDA-4A67-BB75-21EBD0E55D14}"/>
              </a:ext>
            </a:extLst>
          </p:cNvPr>
          <p:cNvSpPr>
            <a:spLocks noGrp="1"/>
          </p:cNvSpPr>
          <p:nvPr>
            <p:ph type="sldNum" sz="quarter" idx="12"/>
          </p:nvPr>
        </p:nvSpPr>
        <p:spPr/>
        <p:txBody>
          <a:bodyPr/>
          <a:lstStyle/>
          <a:p>
            <a:fld id="{028E3F4F-51B2-42EE-AFA2-40C4572185CC}" type="slidenum">
              <a:rPr lang="en-US" smtClean="0"/>
              <a:t>14</a:t>
            </a:fld>
            <a:endParaRPr lang="en-US" dirty="0"/>
          </a:p>
        </p:txBody>
      </p:sp>
    </p:spTree>
    <p:extLst>
      <p:ext uri="{BB962C8B-B14F-4D97-AF65-F5344CB8AC3E}">
        <p14:creationId xmlns:p14="http://schemas.microsoft.com/office/powerpoint/2010/main" val="1430613592"/>
      </p:ext>
    </p:extLst>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320" y="12004"/>
            <a:ext cx="7543800" cy="1450757"/>
          </a:xfrm>
        </p:spPr>
        <p:txBody>
          <a:bodyPr/>
          <a:lstStyle/>
          <a:p>
            <a:r>
              <a:rPr lang="en-US" altLang="ko-KR" sz="3600" dirty="0"/>
              <a:t>Levels of Testing in V Model</a:t>
            </a:r>
            <a:endParaRPr lang="en-GB" sz="3600" dirty="0"/>
          </a:p>
        </p:txBody>
      </p:sp>
      <p:grpSp>
        <p:nvGrpSpPr>
          <p:cNvPr id="3" name="Group 2">
            <a:extLst>
              <a:ext uri="{FF2B5EF4-FFF2-40B4-BE49-F238E27FC236}">
                <a16:creationId xmlns:a16="http://schemas.microsoft.com/office/drawing/2014/main" id="{1FA31713-2134-4199-B44A-7FAF781345E2}"/>
              </a:ext>
            </a:extLst>
          </p:cNvPr>
          <p:cNvGrpSpPr/>
          <p:nvPr/>
        </p:nvGrpSpPr>
        <p:grpSpPr>
          <a:xfrm>
            <a:off x="685800" y="1390049"/>
            <a:ext cx="7772400" cy="5181600"/>
            <a:chOff x="381000" y="1600200"/>
            <a:chExt cx="7239000" cy="4751388"/>
          </a:xfrm>
        </p:grpSpPr>
        <p:sp>
          <p:nvSpPr>
            <p:cNvPr id="7" name="Line 15"/>
            <p:cNvSpPr>
              <a:spLocks noChangeShapeType="1"/>
            </p:cNvSpPr>
            <p:nvPr/>
          </p:nvSpPr>
          <p:spPr bwMode="auto">
            <a:xfrm flipH="1">
              <a:off x="4267200" y="1752600"/>
              <a:ext cx="2590800" cy="41910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GB"/>
            </a:p>
          </p:txBody>
        </p:sp>
        <p:sp>
          <p:nvSpPr>
            <p:cNvPr id="8" name="Line 14"/>
            <p:cNvSpPr>
              <a:spLocks noChangeShapeType="1"/>
            </p:cNvSpPr>
            <p:nvPr/>
          </p:nvSpPr>
          <p:spPr bwMode="auto">
            <a:xfrm>
              <a:off x="1676400" y="1752600"/>
              <a:ext cx="2590800" cy="41910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GB"/>
            </a:p>
          </p:txBody>
        </p:sp>
        <p:sp>
          <p:nvSpPr>
            <p:cNvPr id="9" name="Rectangle 16"/>
            <p:cNvSpPr>
              <a:spLocks noChangeArrowheads="1"/>
            </p:cNvSpPr>
            <p:nvPr/>
          </p:nvSpPr>
          <p:spPr bwMode="auto">
            <a:xfrm>
              <a:off x="1371600" y="1901825"/>
              <a:ext cx="1295400"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a:solidFill>
                    <a:schemeClr val="bg1"/>
                  </a:solidFill>
                  <a:latin typeface="Garamond" pitchFamily="18" charset="0"/>
                  <a:cs typeface="Arial" charset="0"/>
                </a:rPr>
                <a:t>system</a:t>
              </a:r>
            </a:p>
            <a:p>
              <a:pPr algn="ctr" eaLnBrk="1" hangingPunct="1"/>
              <a:r>
                <a:rPr lang="en-US" altLang="en-US" sz="1600">
                  <a:solidFill>
                    <a:schemeClr val="bg1"/>
                  </a:solidFill>
                  <a:latin typeface="Garamond" pitchFamily="18" charset="0"/>
                  <a:cs typeface="Arial" charset="0"/>
                </a:rPr>
                <a:t>requirements</a:t>
              </a:r>
            </a:p>
          </p:txBody>
        </p:sp>
        <p:sp>
          <p:nvSpPr>
            <p:cNvPr id="10" name="Rectangle 18"/>
            <p:cNvSpPr>
              <a:spLocks noChangeArrowheads="1"/>
            </p:cNvSpPr>
            <p:nvPr/>
          </p:nvSpPr>
          <p:spPr bwMode="auto">
            <a:xfrm>
              <a:off x="6019800" y="1879600"/>
              <a:ext cx="1295400"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a:solidFill>
                    <a:schemeClr val="bg1"/>
                  </a:solidFill>
                  <a:latin typeface="Garamond" pitchFamily="18" charset="0"/>
                  <a:cs typeface="Arial" charset="0"/>
                </a:rPr>
                <a:t>system</a:t>
              </a:r>
            </a:p>
            <a:p>
              <a:pPr algn="ctr" eaLnBrk="1" hangingPunct="1"/>
              <a:r>
                <a:rPr lang="en-US" altLang="en-US" sz="1600">
                  <a:solidFill>
                    <a:schemeClr val="bg1"/>
                  </a:solidFill>
                  <a:latin typeface="Garamond" pitchFamily="18" charset="0"/>
                  <a:cs typeface="Arial" charset="0"/>
                </a:rPr>
                <a:t>integration</a:t>
              </a:r>
            </a:p>
          </p:txBody>
        </p:sp>
        <p:sp>
          <p:nvSpPr>
            <p:cNvPr id="11" name="Rectangle 19"/>
            <p:cNvSpPr>
              <a:spLocks noChangeArrowheads="1"/>
            </p:cNvSpPr>
            <p:nvPr/>
          </p:nvSpPr>
          <p:spPr bwMode="auto">
            <a:xfrm>
              <a:off x="1752600" y="2727325"/>
              <a:ext cx="1295400"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a:solidFill>
                    <a:schemeClr val="bg1"/>
                  </a:solidFill>
                  <a:latin typeface="Garamond" pitchFamily="18" charset="0"/>
                  <a:cs typeface="Arial" charset="0"/>
                </a:rPr>
                <a:t>software</a:t>
              </a:r>
            </a:p>
            <a:p>
              <a:pPr algn="ctr" eaLnBrk="1" hangingPunct="1"/>
              <a:r>
                <a:rPr lang="en-US" altLang="en-US" sz="1600">
                  <a:solidFill>
                    <a:schemeClr val="bg1"/>
                  </a:solidFill>
                  <a:latin typeface="Garamond" pitchFamily="18" charset="0"/>
                  <a:cs typeface="Arial" charset="0"/>
                </a:rPr>
                <a:t>requirements</a:t>
              </a:r>
            </a:p>
          </p:txBody>
        </p:sp>
        <p:sp>
          <p:nvSpPr>
            <p:cNvPr id="12" name="Rectangle 20"/>
            <p:cNvSpPr>
              <a:spLocks noChangeArrowheads="1"/>
            </p:cNvSpPr>
            <p:nvPr/>
          </p:nvSpPr>
          <p:spPr bwMode="auto">
            <a:xfrm>
              <a:off x="2209800" y="3589338"/>
              <a:ext cx="1249363"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dirty="0">
                  <a:solidFill>
                    <a:schemeClr val="bg1"/>
                  </a:solidFill>
                  <a:latin typeface="Garamond" pitchFamily="18" charset="0"/>
                  <a:cs typeface="Arial" charset="0"/>
                </a:rPr>
                <a:t>preliminary</a:t>
              </a:r>
            </a:p>
            <a:p>
              <a:pPr algn="ctr" eaLnBrk="1" hangingPunct="1"/>
              <a:r>
                <a:rPr lang="en-US" altLang="en-US" sz="1600" dirty="0">
                  <a:solidFill>
                    <a:schemeClr val="bg1"/>
                  </a:solidFill>
                  <a:latin typeface="Garamond" pitchFamily="18" charset="0"/>
                  <a:cs typeface="Arial" charset="0"/>
                </a:rPr>
                <a:t>design</a:t>
              </a:r>
            </a:p>
          </p:txBody>
        </p:sp>
        <p:sp>
          <p:nvSpPr>
            <p:cNvPr id="13" name="Rectangle 21"/>
            <p:cNvSpPr>
              <a:spLocks noChangeArrowheads="1"/>
            </p:cNvSpPr>
            <p:nvPr/>
          </p:nvSpPr>
          <p:spPr bwMode="auto">
            <a:xfrm>
              <a:off x="2667000" y="4383088"/>
              <a:ext cx="1219200"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a:solidFill>
                    <a:schemeClr val="bg1"/>
                  </a:solidFill>
                  <a:latin typeface="Garamond" pitchFamily="18" charset="0"/>
                  <a:cs typeface="Arial" charset="0"/>
                </a:rPr>
                <a:t>detailed</a:t>
              </a:r>
            </a:p>
            <a:p>
              <a:pPr algn="ctr" eaLnBrk="1" hangingPunct="1"/>
              <a:r>
                <a:rPr lang="en-US" altLang="en-US" sz="1600">
                  <a:solidFill>
                    <a:schemeClr val="bg1"/>
                  </a:solidFill>
                  <a:latin typeface="Garamond" pitchFamily="18" charset="0"/>
                  <a:cs typeface="Arial" charset="0"/>
                </a:rPr>
                <a:t>design</a:t>
              </a:r>
            </a:p>
          </p:txBody>
        </p:sp>
        <p:sp>
          <p:nvSpPr>
            <p:cNvPr id="14" name="Rectangle 22"/>
            <p:cNvSpPr>
              <a:spLocks noChangeArrowheads="1"/>
            </p:cNvSpPr>
            <p:nvPr/>
          </p:nvSpPr>
          <p:spPr bwMode="auto">
            <a:xfrm>
              <a:off x="3124200" y="5208588"/>
              <a:ext cx="990600"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dirty="0">
                  <a:solidFill>
                    <a:schemeClr val="bg1"/>
                  </a:solidFill>
                  <a:latin typeface="Garamond" pitchFamily="18" charset="0"/>
                  <a:cs typeface="Arial" charset="0"/>
                </a:rPr>
                <a:t>code &amp;</a:t>
              </a:r>
            </a:p>
            <a:p>
              <a:pPr algn="ctr" eaLnBrk="1" hangingPunct="1"/>
              <a:r>
                <a:rPr lang="en-US" altLang="en-US" sz="1600" dirty="0">
                  <a:solidFill>
                    <a:schemeClr val="bg1"/>
                  </a:solidFill>
                  <a:latin typeface="Garamond" pitchFamily="18" charset="0"/>
                  <a:cs typeface="Arial" charset="0"/>
                </a:rPr>
                <a:t>debug</a:t>
              </a:r>
            </a:p>
          </p:txBody>
        </p:sp>
        <p:sp>
          <p:nvSpPr>
            <p:cNvPr id="15" name="Rectangle 23"/>
            <p:cNvSpPr>
              <a:spLocks noChangeArrowheads="1"/>
            </p:cNvSpPr>
            <p:nvPr/>
          </p:nvSpPr>
          <p:spPr bwMode="auto">
            <a:xfrm>
              <a:off x="5562600" y="2754313"/>
              <a:ext cx="1295400"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a:solidFill>
                    <a:schemeClr val="bg1"/>
                  </a:solidFill>
                  <a:latin typeface="Garamond" pitchFamily="18" charset="0"/>
                  <a:cs typeface="Arial" charset="0"/>
                </a:rPr>
                <a:t>acceptance</a:t>
              </a:r>
            </a:p>
            <a:p>
              <a:pPr algn="ctr" eaLnBrk="1" hangingPunct="1"/>
              <a:r>
                <a:rPr lang="en-US" altLang="en-US" sz="1600">
                  <a:solidFill>
                    <a:schemeClr val="bg1"/>
                  </a:solidFill>
                  <a:latin typeface="Garamond" pitchFamily="18" charset="0"/>
                  <a:cs typeface="Arial" charset="0"/>
                </a:rPr>
                <a:t>test</a:t>
              </a:r>
            </a:p>
          </p:txBody>
        </p:sp>
        <p:sp>
          <p:nvSpPr>
            <p:cNvPr id="16" name="Rectangle 24"/>
            <p:cNvSpPr>
              <a:spLocks noChangeArrowheads="1"/>
            </p:cNvSpPr>
            <p:nvPr/>
          </p:nvSpPr>
          <p:spPr bwMode="auto">
            <a:xfrm>
              <a:off x="5105400" y="3589338"/>
              <a:ext cx="1227138"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dirty="0">
                  <a:solidFill>
                    <a:schemeClr val="bg1"/>
                  </a:solidFill>
                  <a:latin typeface="Garamond" pitchFamily="18" charset="0"/>
                  <a:cs typeface="Arial" charset="0"/>
                </a:rPr>
                <a:t>software</a:t>
              </a:r>
            </a:p>
            <a:p>
              <a:pPr algn="ctr" eaLnBrk="1" hangingPunct="1"/>
              <a:r>
                <a:rPr lang="en-US" altLang="en-US" sz="1600" dirty="0">
                  <a:solidFill>
                    <a:schemeClr val="bg1"/>
                  </a:solidFill>
                  <a:latin typeface="Garamond" pitchFamily="18" charset="0"/>
                  <a:cs typeface="Arial" charset="0"/>
                </a:rPr>
                <a:t>integration</a:t>
              </a:r>
            </a:p>
          </p:txBody>
        </p:sp>
        <p:sp>
          <p:nvSpPr>
            <p:cNvPr id="17" name="Rectangle 25"/>
            <p:cNvSpPr>
              <a:spLocks noChangeArrowheads="1"/>
            </p:cNvSpPr>
            <p:nvPr/>
          </p:nvSpPr>
          <p:spPr bwMode="auto">
            <a:xfrm>
              <a:off x="4648200" y="4379913"/>
              <a:ext cx="1219200"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a:solidFill>
                    <a:schemeClr val="bg1"/>
                  </a:solidFill>
                  <a:latin typeface="Garamond" pitchFamily="18" charset="0"/>
                  <a:cs typeface="Arial" charset="0"/>
                </a:rPr>
                <a:t>component</a:t>
              </a:r>
            </a:p>
            <a:p>
              <a:pPr algn="ctr" eaLnBrk="1" hangingPunct="1"/>
              <a:r>
                <a:rPr lang="en-US" altLang="en-US" sz="1600">
                  <a:solidFill>
                    <a:schemeClr val="bg1"/>
                  </a:solidFill>
                  <a:latin typeface="Garamond" pitchFamily="18" charset="0"/>
                  <a:cs typeface="Arial" charset="0"/>
                </a:rPr>
                <a:t>test</a:t>
              </a:r>
            </a:p>
          </p:txBody>
        </p:sp>
        <p:sp>
          <p:nvSpPr>
            <p:cNvPr id="18" name="Rectangle 26"/>
            <p:cNvSpPr>
              <a:spLocks noChangeArrowheads="1"/>
            </p:cNvSpPr>
            <p:nvPr/>
          </p:nvSpPr>
          <p:spPr bwMode="auto">
            <a:xfrm>
              <a:off x="4343400" y="5208588"/>
              <a:ext cx="1066800" cy="488950"/>
            </a:xfrm>
            <a:prstGeom prst="rect">
              <a:avLst/>
            </a:prstGeom>
            <a:solidFill>
              <a:srgbClr val="FF6600">
                <a:alpha val="7097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a:solidFill>
                    <a:schemeClr val="bg1"/>
                  </a:solidFill>
                  <a:latin typeface="Garamond" pitchFamily="18" charset="0"/>
                  <a:cs typeface="Arial" charset="0"/>
                </a:rPr>
                <a:t>unit</a:t>
              </a:r>
            </a:p>
            <a:p>
              <a:pPr algn="ctr" eaLnBrk="1" hangingPunct="1"/>
              <a:r>
                <a:rPr lang="en-US" altLang="en-US" sz="1600">
                  <a:solidFill>
                    <a:schemeClr val="bg1"/>
                  </a:solidFill>
                  <a:latin typeface="Garamond" pitchFamily="18" charset="0"/>
                  <a:cs typeface="Arial" charset="0"/>
                </a:rPr>
                <a:t>test</a:t>
              </a:r>
            </a:p>
          </p:txBody>
        </p:sp>
        <p:sp>
          <p:nvSpPr>
            <p:cNvPr id="19" name="Line 27"/>
            <p:cNvSpPr>
              <a:spLocks noChangeShapeType="1"/>
            </p:cNvSpPr>
            <p:nvPr/>
          </p:nvSpPr>
          <p:spPr bwMode="auto">
            <a:xfrm>
              <a:off x="2667000" y="2133600"/>
              <a:ext cx="3352800" cy="0"/>
            </a:xfrm>
            <a:prstGeom prst="line">
              <a:avLst/>
            </a:prstGeom>
            <a:noFill/>
            <a:ln w="19050">
              <a:solidFill>
                <a:srgbClr val="FF66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20" name="Line 28"/>
            <p:cNvSpPr>
              <a:spLocks noChangeShapeType="1"/>
            </p:cNvSpPr>
            <p:nvPr/>
          </p:nvSpPr>
          <p:spPr bwMode="auto">
            <a:xfrm>
              <a:off x="3048000" y="3048000"/>
              <a:ext cx="2514600" cy="0"/>
            </a:xfrm>
            <a:prstGeom prst="line">
              <a:avLst/>
            </a:prstGeom>
            <a:noFill/>
            <a:ln w="19050">
              <a:solidFill>
                <a:srgbClr val="FF66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21" name="Line 29"/>
            <p:cNvSpPr>
              <a:spLocks noChangeShapeType="1"/>
            </p:cNvSpPr>
            <p:nvPr/>
          </p:nvSpPr>
          <p:spPr bwMode="auto">
            <a:xfrm>
              <a:off x="3505200" y="3810000"/>
              <a:ext cx="1524000" cy="0"/>
            </a:xfrm>
            <a:prstGeom prst="line">
              <a:avLst/>
            </a:prstGeom>
            <a:noFill/>
            <a:ln w="19050">
              <a:solidFill>
                <a:srgbClr val="FF66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22" name="Line 30"/>
            <p:cNvSpPr>
              <a:spLocks noChangeShapeType="1"/>
            </p:cNvSpPr>
            <p:nvPr/>
          </p:nvSpPr>
          <p:spPr bwMode="auto">
            <a:xfrm>
              <a:off x="3886200" y="4648200"/>
              <a:ext cx="762000" cy="0"/>
            </a:xfrm>
            <a:prstGeom prst="line">
              <a:avLst/>
            </a:prstGeom>
            <a:noFill/>
            <a:ln w="19050">
              <a:solidFill>
                <a:srgbClr val="FF66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23" name="Line 31"/>
            <p:cNvSpPr>
              <a:spLocks noChangeShapeType="1"/>
            </p:cNvSpPr>
            <p:nvPr/>
          </p:nvSpPr>
          <p:spPr bwMode="auto">
            <a:xfrm>
              <a:off x="609600" y="6019800"/>
              <a:ext cx="7010400" cy="0"/>
            </a:xfrm>
            <a:prstGeom prst="line">
              <a:avLst/>
            </a:prstGeom>
            <a:noFill/>
            <a:ln w="19050">
              <a:solidFill>
                <a:srgbClr val="00FF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24" name="Line 32"/>
            <p:cNvSpPr>
              <a:spLocks noChangeShapeType="1"/>
            </p:cNvSpPr>
            <p:nvPr/>
          </p:nvSpPr>
          <p:spPr bwMode="auto">
            <a:xfrm flipV="1">
              <a:off x="762000" y="1600200"/>
              <a:ext cx="0" cy="4572000"/>
            </a:xfrm>
            <a:prstGeom prst="line">
              <a:avLst/>
            </a:prstGeom>
            <a:noFill/>
            <a:ln w="19050">
              <a:solidFill>
                <a:srgbClr val="00FF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25" name="Text Box 34"/>
            <p:cNvSpPr txBox="1">
              <a:spLocks noChangeArrowheads="1"/>
            </p:cNvSpPr>
            <p:nvPr/>
          </p:nvSpPr>
          <p:spPr bwMode="auto">
            <a:xfrm rot="16200000">
              <a:off x="-389732" y="2523332"/>
              <a:ext cx="1878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a:solidFill>
                    <a:srgbClr val="008000"/>
                  </a:solidFill>
                  <a:latin typeface="Garamond" pitchFamily="18" charset="0"/>
                  <a:cs typeface="Arial" charset="0"/>
                </a:rPr>
                <a:t>Level of abstraction</a:t>
              </a:r>
            </a:p>
          </p:txBody>
        </p:sp>
        <p:sp>
          <p:nvSpPr>
            <p:cNvPr id="26" name="Text Box 36"/>
            <p:cNvSpPr txBox="1">
              <a:spLocks noChangeArrowheads="1"/>
            </p:cNvSpPr>
            <p:nvPr/>
          </p:nvSpPr>
          <p:spPr bwMode="auto">
            <a:xfrm rot="3695294">
              <a:off x="1237456" y="4553744"/>
              <a:ext cx="1824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a:solidFill>
                    <a:srgbClr val="0000FF"/>
                  </a:solidFill>
                  <a:latin typeface="Garamond" pitchFamily="18" charset="0"/>
                  <a:cs typeface="Arial" charset="0"/>
                </a:rPr>
                <a:t>analyze and design</a:t>
              </a:r>
            </a:p>
          </p:txBody>
        </p:sp>
        <p:sp>
          <p:nvSpPr>
            <p:cNvPr id="27" name="Text Box 37"/>
            <p:cNvSpPr txBox="1">
              <a:spLocks noChangeArrowheads="1"/>
            </p:cNvSpPr>
            <p:nvPr/>
          </p:nvSpPr>
          <p:spPr bwMode="auto">
            <a:xfrm rot="6499613">
              <a:off x="5998459" y="3957419"/>
              <a:ext cx="167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dirty="0">
                  <a:solidFill>
                    <a:srgbClr val="0000FF"/>
                  </a:solidFill>
                  <a:latin typeface="Garamond" pitchFamily="18" charset="0"/>
                  <a:cs typeface="Arial" charset="0"/>
                </a:rPr>
                <a:t>test and integrate</a:t>
              </a:r>
            </a:p>
          </p:txBody>
        </p:sp>
        <p:sp>
          <p:nvSpPr>
            <p:cNvPr id="28" name="Line 39"/>
            <p:cNvSpPr>
              <a:spLocks noChangeShapeType="1"/>
            </p:cNvSpPr>
            <p:nvPr/>
          </p:nvSpPr>
          <p:spPr bwMode="auto">
            <a:xfrm>
              <a:off x="4114800" y="5486400"/>
              <a:ext cx="228600" cy="0"/>
            </a:xfrm>
            <a:prstGeom prst="line">
              <a:avLst/>
            </a:prstGeom>
            <a:noFill/>
            <a:ln w="19050">
              <a:solidFill>
                <a:srgbClr val="FF66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29" name="Text Box 33"/>
            <p:cNvSpPr txBox="1">
              <a:spLocks noChangeArrowheads="1"/>
            </p:cNvSpPr>
            <p:nvPr/>
          </p:nvSpPr>
          <p:spPr bwMode="auto">
            <a:xfrm>
              <a:off x="6613525" y="6015038"/>
              <a:ext cx="647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eaLnBrk="1" hangingPunct="1"/>
              <a:r>
                <a:rPr lang="en-US" altLang="en-US" sz="1600" dirty="0">
                  <a:solidFill>
                    <a:srgbClr val="008000"/>
                  </a:solidFill>
                  <a:latin typeface="Garamond" pitchFamily="18" charset="0"/>
                  <a:cs typeface="Arial" charset="0"/>
                </a:rPr>
                <a:t>Time</a:t>
              </a:r>
            </a:p>
          </p:txBody>
        </p:sp>
      </p:grpSp>
    </p:spTree>
    <p:extLst>
      <p:ext uri="{BB962C8B-B14F-4D97-AF65-F5344CB8AC3E}">
        <p14:creationId xmlns:p14="http://schemas.microsoft.com/office/powerpoint/2010/main" val="1975450280"/>
      </p:ext>
    </p:extLst>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Test Plan</a:t>
            </a:r>
          </a:p>
        </p:txBody>
      </p:sp>
      <p:sp>
        <p:nvSpPr>
          <p:cNvPr id="3" name="Content Placeholder 2"/>
          <p:cNvSpPr>
            <a:spLocks noGrp="1"/>
          </p:cNvSpPr>
          <p:nvPr>
            <p:ph idx="1"/>
          </p:nvPr>
        </p:nvSpPr>
        <p:spPr/>
        <p:txBody>
          <a:bodyPr/>
          <a:lstStyle/>
          <a:p>
            <a:pPr algn="just">
              <a:lnSpc>
                <a:spcPct val="90000"/>
              </a:lnSpc>
            </a:pPr>
            <a:r>
              <a:rPr lang="en-US" altLang="en-US" sz="2400" dirty="0"/>
              <a:t>The goal of test planning is to establish the </a:t>
            </a:r>
            <a:r>
              <a:rPr lang="en-US" altLang="en-US" sz="2400" dirty="0">
                <a:solidFill>
                  <a:srgbClr val="FF0000"/>
                </a:solidFill>
              </a:rPr>
              <a:t>list of tasks to be </a:t>
            </a:r>
            <a:r>
              <a:rPr lang="en-US" altLang="en-US" sz="2400" dirty="0"/>
              <a:t>performed</a:t>
            </a:r>
          </a:p>
          <a:p>
            <a:pPr algn="just">
              <a:lnSpc>
                <a:spcPct val="90000"/>
              </a:lnSpc>
            </a:pPr>
            <a:r>
              <a:rPr lang="en-US" altLang="en-US" sz="2400" dirty="0"/>
              <a:t>Testing will identify all of the requirements that have not been met in the software. </a:t>
            </a:r>
          </a:p>
          <a:p>
            <a:pPr algn="just">
              <a:lnSpc>
                <a:spcPct val="90000"/>
              </a:lnSpc>
            </a:pPr>
            <a:r>
              <a:rPr lang="en-US" altLang="en-US" sz="2400" dirty="0"/>
              <a:t>The main work product is the </a:t>
            </a:r>
            <a:r>
              <a:rPr lang="en-US" altLang="en-US" sz="2400" i="1" dirty="0">
                <a:solidFill>
                  <a:srgbClr val="FF0000"/>
                </a:solidFill>
              </a:rPr>
              <a:t>test plan</a:t>
            </a:r>
            <a:r>
              <a:rPr lang="en-US" altLang="en-US" sz="2400" dirty="0"/>
              <a:t>.</a:t>
            </a:r>
          </a:p>
          <a:p>
            <a:pPr lvl="1" algn="just">
              <a:lnSpc>
                <a:spcPct val="90000"/>
              </a:lnSpc>
            </a:pPr>
            <a:r>
              <a:rPr lang="en-US" altLang="en-US" dirty="0"/>
              <a:t>The test plan documents the overall approach to the test. In many ways, the test plan serves as a summary of the test activities that will be performed. </a:t>
            </a:r>
          </a:p>
          <a:p>
            <a:pPr lvl="1" algn="just">
              <a:lnSpc>
                <a:spcPct val="90000"/>
              </a:lnSpc>
            </a:pPr>
            <a:r>
              <a:rPr lang="en-US" altLang="en-US" dirty="0"/>
              <a:t>It shows how the tests will be organized, and outlines all of the testers’ needs which must be met in order to properly carry out the test.</a:t>
            </a:r>
          </a:p>
          <a:p>
            <a:pPr lvl="1" algn="just">
              <a:lnSpc>
                <a:spcPct val="90000"/>
              </a:lnSpc>
            </a:pPr>
            <a:r>
              <a:rPr lang="en-US" altLang="en-US" dirty="0"/>
              <a:t>The test plan should be inspected by members of the engineering team and senior managers.</a:t>
            </a:r>
          </a:p>
          <a:p>
            <a:pPr algn="just"/>
            <a:endParaRPr lang="en-GB" dirty="0"/>
          </a:p>
        </p:txBody>
      </p:sp>
    </p:spTree>
    <p:extLst>
      <p:ext uri="{BB962C8B-B14F-4D97-AF65-F5344CB8AC3E}">
        <p14:creationId xmlns:p14="http://schemas.microsoft.com/office/powerpoint/2010/main" val="729886165"/>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Test Planning</a:t>
            </a:r>
            <a:endParaRPr lang="en-GB" sz="3600" dirty="0"/>
          </a:p>
        </p:txBody>
      </p:sp>
      <p:sp>
        <p:nvSpPr>
          <p:cNvPr id="7" name="Rectangle 3"/>
          <p:cNvSpPr txBox="1">
            <a:spLocks noChangeArrowheads="1"/>
          </p:cNvSpPr>
          <p:nvPr/>
        </p:nvSpPr>
        <p:spPr>
          <a:xfrm>
            <a:off x="411480" y="1905000"/>
            <a:ext cx="4611688" cy="3933825"/>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en-US" altLang="en-US" dirty="0"/>
              <a:t>A Test Plan:</a:t>
            </a:r>
          </a:p>
          <a:p>
            <a:pPr lvl="1"/>
            <a:r>
              <a:rPr lang="en-US" altLang="en-US" dirty="0"/>
              <a:t>covers all types and phases of testing.</a:t>
            </a:r>
          </a:p>
          <a:p>
            <a:pPr lvl="1"/>
            <a:r>
              <a:rPr lang="en-US" altLang="en-US" dirty="0"/>
              <a:t>guides the entire testing process who, why, when, what</a:t>
            </a:r>
          </a:p>
          <a:p>
            <a:pPr lvl="1"/>
            <a:r>
              <a:rPr lang="en-US" altLang="en-US" dirty="0"/>
              <a:t>developed as requirements, functional specification, and high-level design are developed.</a:t>
            </a:r>
          </a:p>
          <a:p>
            <a:pPr lvl="1"/>
            <a:r>
              <a:rPr lang="en-US" altLang="en-US" dirty="0"/>
              <a:t>should be done before implementation starts.</a:t>
            </a:r>
          </a:p>
        </p:txBody>
      </p:sp>
      <p:sp>
        <p:nvSpPr>
          <p:cNvPr id="8" name="Rectangle 4"/>
          <p:cNvSpPr>
            <a:spLocks noChangeArrowheads="1"/>
          </p:cNvSpPr>
          <p:nvPr/>
        </p:nvSpPr>
        <p:spPr bwMode="auto">
          <a:xfrm>
            <a:off x="5105718" y="1981200"/>
            <a:ext cx="3636962"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lstStyle>
            <a:lvl1pPr marL="285750" indent="-285750">
              <a:defRPr b="1">
                <a:solidFill>
                  <a:schemeClr val="tx1"/>
                </a:solidFill>
                <a:latin typeface="Times" pitchFamily="18" charset="0"/>
              </a:defRPr>
            </a:lvl1pPr>
            <a:lvl2pPr marL="685800" indent="-22860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nSpc>
                <a:spcPct val="90000"/>
              </a:lnSpc>
              <a:spcBef>
                <a:spcPct val="30000"/>
              </a:spcBef>
              <a:buClr>
                <a:schemeClr val="tx2"/>
              </a:buClr>
              <a:buSzPct val="75000"/>
              <a:buFont typeface="Symbol" pitchFamily="18" charset="2"/>
              <a:buChar char="¨"/>
            </a:pPr>
            <a:r>
              <a:rPr lang="en-US" altLang="en-US" sz="2400" b="0" dirty="0">
                <a:latin typeface="+mj-lt"/>
              </a:rPr>
              <a:t>A test plan includes:</a:t>
            </a:r>
          </a:p>
          <a:p>
            <a:pPr lvl="1">
              <a:lnSpc>
                <a:spcPct val="90000"/>
              </a:lnSpc>
              <a:spcBef>
                <a:spcPct val="30000"/>
              </a:spcBef>
              <a:buClr>
                <a:schemeClr val="tx1"/>
              </a:buClr>
              <a:buSzPct val="100000"/>
              <a:buFont typeface="Wingdings" pitchFamily="2" charset="2"/>
              <a:buChar char="w"/>
            </a:pPr>
            <a:r>
              <a:rPr lang="en-US" altLang="en-US" sz="2000" b="0" dirty="0">
                <a:latin typeface="+mj-lt"/>
              </a:rPr>
              <a:t>test objectives</a:t>
            </a:r>
          </a:p>
          <a:p>
            <a:pPr lvl="1">
              <a:lnSpc>
                <a:spcPct val="90000"/>
              </a:lnSpc>
              <a:spcBef>
                <a:spcPct val="30000"/>
              </a:spcBef>
              <a:buClr>
                <a:schemeClr val="tx1"/>
              </a:buClr>
              <a:buSzPct val="100000"/>
              <a:buFont typeface="Wingdings" pitchFamily="2" charset="2"/>
              <a:buChar char="w"/>
            </a:pPr>
            <a:r>
              <a:rPr lang="en-US" altLang="en-US" sz="2000" b="0" dirty="0">
                <a:latin typeface="+mj-lt"/>
              </a:rPr>
              <a:t>schedule and logistics</a:t>
            </a:r>
          </a:p>
          <a:p>
            <a:pPr lvl="1">
              <a:lnSpc>
                <a:spcPct val="90000"/>
              </a:lnSpc>
              <a:spcBef>
                <a:spcPct val="30000"/>
              </a:spcBef>
              <a:buClr>
                <a:schemeClr val="tx1"/>
              </a:buClr>
              <a:buSzPct val="100000"/>
              <a:buFont typeface="Wingdings" pitchFamily="2" charset="2"/>
              <a:buChar char="w"/>
            </a:pPr>
            <a:r>
              <a:rPr lang="en-US" altLang="en-US" sz="2000" b="0" dirty="0">
                <a:latin typeface="+mj-lt"/>
              </a:rPr>
              <a:t>test strategies</a:t>
            </a:r>
          </a:p>
          <a:p>
            <a:pPr lvl="1">
              <a:lnSpc>
                <a:spcPct val="90000"/>
              </a:lnSpc>
              <a:spcBef>
                <a:spcPct val="30000"/>
              </a:spcBef>
              <a:buClr>
                <a:schemeClr val="tx1"/>
              </a:buClr>
              <a:buSzPct val="100000"/>
              <a:buFont typeface="Wingdings" pitchFamily="2" charset="2"/>
              <a:buChar char="w"/>
            </a:pPr>
            <a:r>
              <a:rPr lang="en-US" altLang="en-US" sz="2000" b="0" dirty="0">
                <a:latin typeface="+mj-lt"/>
              </a:rPr>
              <a:t>test cases</a:t>
            </a:r>
          </a:p>
          <a:p>
            <a:pPr lvl="2">
              <a:lnSpc>
                <a:spcPct val="90000"/>
              </a:lnSpc>
              <a:spcBef>
                <a:spcPct val="30000"/>
              </a:spcBef>
              <a:buClr>
                <a:schemeClr val="tx2"/>
              </a:buClr>
              <a:buSzPct val="60000"/>
              <a:buFont typeface="Wingdings" pitchFamily="2" charset="2"/>
              <a:buChar char="t"/>
            </a:pPr>
            <a:r>
              <a:rPr lang="en-US" altLang="en-US" b="0" dirty="0">
                <a:latin typeface="+mj-lt"/>
              </a:rPr>
              <a:t>procedure</a:t>
            </a:r>
          </a:p>
          <a:p>
            <a:pPr lvl="2">
              <a:lnSpc>
                <a:spcPct val="90000"/>
              </a:lnSpc>
              <a:spcBef>
                <a:spcPct val="30000"/>
              </a:spcBef>
              <a:buClr>
                <a:schemeClr val="tx2"/>
              </a:buClr>
              <a:buSzPct val="60000"/>
              <a:buFont typeface="Wingdings" pitchFamily="2" charset="2"/>
              <a:buChar char="t"/>
            </a:pPr>
            <a:r>
              <a:rPr lang="en-US" altLang="en-US" b="0" dirty="0">
                <a:latin typeface="+mj-lt"/>
              </a:rPr>
              <a:t>data</a:t>
            </a:r>
          </a:p>
          <a:p>
            <a:pPr lvl="2">
              <a:lnSpc>
                <a:spcPct val="90000"/>
              </a:lnSpc>
              <a:spcBef>
                <a:spcPct val="30000"/>
              </a:spcBef>
              <a:buClr>
                <a:schemeClr val="tx2"/>
              </a:buClr>
              <a:buSzPct val="60000"/>
              <a:buFont typeface="Wingdings" pitchFamily="2" charset="2"/>
              <a:buChar char="t"/>
            </a:pPr>
            <a:r>
              <a:rPr lang="en-US" altLang="en-US" b="0" dirty="0">
                <a:latin typeface="+mj-lt"/>
              </a:rPr>
              <a:t>expected result</a:t>
            </a:r>
          </a:p>
          <a:p>
            <a:pPr lvl="1">
              <a:lnSpc>
                <a:spcPct val="90000"/>
              </a:lnSpc>
              <a:spcBef>
                <a:spcPct val="30000"/>
              </a:spcBef>
              <a:buClr>
                <a:schemeClr val="tx1"/>
              </a:buClr>
              <a:buSzPct val="100000"/>
              <a:buFont typeface="Wingdings" pitchFamily="2" charset="2"/>
              <a:buChar char="w"/>
            </a:pPr>
            <a:r>
              <a:rPr lang="en-US" altLang="en-US" sz="2000" b="0" dirty="0">
                <a:latin typeface="+mj-lt"/>
              </a:rPr>
              <a:t>procedures for handling problems</a:t>
            </a:r>
          </a:p>
        </p:txBody>
      </p:sp>
    </p:spTree>
    <p:extLst>
      <p:ext uri="{BB962C8B-B14F-4D97-AF65-F5344CB8AC3E}">
        <p14:creationId xmlns:p14="http://schemas.microsoft.com/office/powerpoint/2010/main" val="1865120782"/>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2400"/>
            <a:ext cx="7391400" cy="609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4520274"/>
      </p:ext>
    </p:extLst>
  </p:cSld>
  <p:clrMapOvr>
    <a:masterClrMapping/>
  </p:clrMapOvr>
  <p:transition spd="slow">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924" y="152400"/>
            <a:ext cx="6768152" cy="60208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37784325"/>
      </p:ext>
    </p:extLst>
  </p:cSld>
  <p:clrMapOvr>
    <a:masterClrMapping/>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GB" sz="3600" dirty="0"/>
              <a:t>Test Case</a:t>
            </a:r>
          </a:p>
        </p:txBody>
      </p:sp>
      <p:sp>
        <p:nvSpPr>
          <p:cNvPr id="3" name="Content Placeholder 2"/>
          <p:cNvSpPr>
            <a:spLocks noGrp="1"/>
          </p:cNvSpPr>
          <p:nvPr>
            <p:ph idx="1"/>
          </p:nvPr>
        </p:nvSpPr>
        <p:spPr>
          <a:xfrm>
            <a:off x="304800" y="1767841"/>
            <a:ext cx="8305800" cy="5668962"/>
          </a:xfrm>
        </p:spPr>
        <p:txBody>
          <a:bodyPr>
            <a:normAutofit/>
          </a:bodyPr>
          <a:lstStyle/>
          <a:p>
            <a:pPr marL="617220" indent="-457200" algn="just">
              <a:lnSpc>
                <a:spcPct val="90000"/>
              </a:lnSpc>
            </a:pPr>
            <a:r>
              <a:rPr lang="en-US" altLang="en-US" sz="1800" dirty="0"/>
              <a:t>What: a set of inputs, execution preconditions and expected outcomes developed for a particular objective, such as exercising a particular program path or verifying compliance with a specific requirement;</a:t>
            </a:r>
          </a:p>
          <a:p>
            <a:pPr marL="617220" indent="-457200">
              <a:lnSpc>
                <a:spcPct val="90000"/>
              </a:lnSpc>
            </a:pPr>
            <a:r>
              <a:rPr lang="en-US" altLang="en-US" sz="1800" dirty="0"/>
              <a:t>Who: QA;</a:t>
            </a:r>
          </a:p>
          <a:p>
            <a:pPr marL="617220" indent="-457200">
              <a:lnSpc>
                <a:spcPct val="90000"/>
              </a:lnSpc>
            </a:pPr>
            <a:r>
              <a:rPr lang="en-US" altLang="en-US" sz="1800" dirty="0"/>
              <a:t>When: (planning)/(design)/coding/testing stage(s);</a:t>
            </a:r>
          </a:p>
          <a:p>
            <a:pPr marL="617220" indent="-457200">
              <a:lnSpc>
                <a:spcPct val="90000"/>
              </a:lnSpc>
            </a:pPr>
            <a:r>
              <a:rPr lang="en-US" altLang="en-US" sz="1800" dirty="0"/>
              <a:t>Why:</a:t>
            </a:r>
          </a:p>
          <a:p>
            <a:pPr marL="929640" lvl="1" indent="-381000">
              <a:lnSpc>
                <a:spcPct val="90000"/>
              </a:lnSpc>
            </a:pPr>
            <a:r>
              <a:rPr lang="en-US" altLang="en-US" dirty="0">
                <a:cs typeface="Arial" charset="0"/>
              </a:rPr>
              <a:t>Plan test effort / resources / timelines;</a:t>
            </a:r>
            <a:endParaRPr lang="en-US" altLang="en-US" dirty="0"/>
          </a:p>
          <a:p>
            <a:pPr marL="929640" lvl="1" indent="-381000">
              <a:lnSpc>
                <a:spcPct val="90000"/>
              </a:lnSpc>
            </a:pPr>
            <a:r>
              <a:rPr lang="en-US" altLang="en-US" dirty="0">
                <a:cs typeface="Arial" charset="0"/>
              </a:rPr>
              <a:t>Plan / review test coverage;</a:t>
            </a:r>
            <a:endParaRPr lang="en-US" altLang="en-US" dirty="0"/>
          </a:p>
          <a:p>
            <a:pPr marL="929640" lvl="1" indent="-381000">
              <a:lnSpc>
                <a:spcPct val="90000"/>
              </a:lnSpc>
            </a:pPr>
            <a:r>
              <a:rPr lang="en-US" altLang="en-US" dirty="0">
                <a:cs typeface="Arial" charset="0"/>
              </a:rPr>
              <a:t>Track test execution progress;</a:t>
            </a:r>
            <a:endParaRPr lang="en-US" altLang="en-US" dirty="0"/>
          </a:p>
          <a:p>
            <a:pPr marL="929640" lvl="1" indent="-381000">
              <a:lnSpc>
                <a:spcPct val="90000"/>
              </a:lnSpc>
            </a:pPr>
            <a:r>
              <a:rPr lang="en-US" altLang="en-US" dirty="0">
                <a:cs typeface="Arial" charset="0"/>
              </a:rPr>
              <a:t>Track defects;</a:t>
            </a:r>
            <a:endParaRPr lang="en-US" altLang="en-US" dirty="0"/>
          </a:p>
          <a:p>
            <a:pPr marL="929640" lvl="1" indent="-381000">
              <a:lnSpc>
                <a:spcPct val="90000"/>
              </a:lnSpc>
            </a:pPr>
            <a:r>
              <a:rPr lang="en-US" altLang="en-US" dirty="0">
                <a:cs typeface="Arial" charset="0"/>
              </a:rPr>
              <a:t>Track software quality criteria / quality metrics;</a:t>
            </a:r>
          </a:p>
          <a:p>
            <a:pPr marL="929640" lvl="1" indent="-381000">
              <a:lnSpc>
                <a:spcPct val="90000"/>
              </a:lnSpc>
            </a:pPr>
            <a:r>
              <a:rPr lang="en-US" altLang="en-US" dirty="0">
                <a:cs typeface="Arial" charset="0"/>
              </a:rPr>
              <a:t>Unify Pass/Fail criteria across all testers;</a:t>
            </a:r>
            <a:endParaRPr lang="en-US" altLang="en-US" dirty="0"/>
          </a:p>
          <a:p>
            <a:pPr marL="929640" lvl="1" indent="-381000">
              <a:lnSpc>
                <a:spcPct val="90000"/>
              </a:lnSpc>
            </a:pPr>
            <a:r>
              <a:rPr lang="en-US" altLang="en-US" dirty="0">
                <a:cs typeface="Times New Roman" charset="0"/>
              </a:rPr>
              <a:t>Planned/systematic testing vs Ad-Hoc.</a:t>
            </a:r>
            <a:endParaRPr lang="en-US" altLang="en-US" dirty="0"/>
          </a:p>
          <a:p>
            <a:endParaRPr lang="en-GB" sz="1800" dirty="0"/>
          </a:p>
        </p:txBody>
      </p:sp>
    </p:spTree>
    <p:extLst>
      <p:ext uri="{BB962C8B-B14F-4D97-AF65-F5344CB8AC3E}">
        <p14:creationId xmlns:p14="http://schemas.microsoft.com/office/powerpoint/2010/main" val="2876795200"/>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Test Case…</a:t>
            </a:r>
          </a:p>
        </p:txBody>
      </p:sp>
      <p:sp>
        <p:nvSpPr>
          <p:cNvPr id="3" name="Content Placeholder 2"/>
          <p:cNvSpPr>
            <a:spLocks noGrp="1"/>
          </p:cNvSpPr>
          <p:nvPr>
            <p:ph idx="1"/>
          </p:nvPr>
        </p:nvSpPr>
        <p:spPr>
          <a:xfrm>
            <a:off x="822960" y="1737361"/>
            <a:ext cx="7543800" cy="4511039"/>
          </a:xfrm>
        </p:spPr>
        <p:txBody>
          <a:bodyPr>
            <a:noAutofit/>
          </a:bodyPr>
          <a:lstStyle/>
          <a:p>
            <a:pPr>
              <a:lnSpc>
                <a:spcPct val="120000"/>
              </a:lnSpc>
            </a:pPr>
            <a:r>
              <a:rPr lang="en-US" altLang="en-US" sz="1200" dirty="0"/>
              <a:t>A </a:t>
            </a:r>
            <a:r>
              <a:rPr lang="en-US" altLang="en-US" sz="1200" i="1" dirty="0"/>
              <a:t>test case </a:t>
            </a:r>
            <a:r>
              <a:rPr lang="en-US" altLang="en-US" sz="1200" dirty="0"/>
              <a:t>is a description of a </a:t>
            </a:r>
            <a:r>
              <a:rPr lang="en-US" altLang="en-US" sz="1200" dirty="0">
                <a:solidFill>
                  <a:srgbClr val="FF0000"/>
                </a:solidFill>
              </a:rPr>
              <a:t>specific interaction </a:t>
            </a:r>
            <a:r>
              <a:rPr lang="en-US" altLang="en-US" sz="1200" dirty="0"/>
              <a:t>that a tester will have in order to test a single behavior of the software. </a:t>
            </a:r>
          </a:p>
          <a:p>
            <a:pPr>
              <a:lnSpc>
                <a:spcPct val="120000"/>
              </a:lnSpc>
            </a:pPr>
            <a:r>
              <a:rPr lang="en-US" altLang="en-US" sz="1200" dirty="0"/>
              <a:t>Test cases are very similar to use cases, in that they are step-by-step narratives which define a specific interaction between the user and the software.</a:t>
            </a:r>
          </a:p>
          <a:p>
            <a:pPr>
              <a:lnSpc>
                <a:spcPct val="120000"/>
              </a:lnSpc>
            </a:pPr>
            <a:r>
              <a:rPr lang="en-US" altLang="en-US" sz="1200" dirty="0"/>
              <a:t>A typical test case is laid out in a </a:t>
            </a:r>
            <a:r>
              <a:rPr lang="en-US" altLang="en-US" sz="1200" dirty="0">
                <a:solidFill>
                  <a:srgbClr val="FF0000"/>
                </a:solidFill>
              </a:rPr>
              <a:t>table</a:t>
            </a:r>
            <a:r>
              <a:rPr lang="en-US" altLang="en-US" sz="1200" dirty="0"/>
              <a:t>, and includes:</a:t>
            </a:r>
          </a:p>
          <a:p>
            <a:pPr lvl="1">
              <a:lnSpc>
                <a:spcPct val="120000"/>
              </a:lnSpc>
            </a:pPr>
            <a:r>
              <a:rPr lang="en-US" altLang="en-US" sz="1200" dirty="0"/>
              <a:t>ID: unique identifier of a test case, i.e. a </a:t>
            </a:r>
            <a:r>
              <a:rPr lang="en-US" altLang="en-US" sz="1200" dirty="0">
                <a:solidFill>
                  <a:srgbClr val="FF0000"/>
                </a:solidFill>
              </a:rPr>
              <a:t>unique </a:t>
            </a:r>
            <a:r>
              <a:rPr lang="en-US" altLang="en-US" sz="1200" i="1" dirty="0">
                <a:solidFill>
                  <a:srgbClr val="FF0000"/>
                </a:solidFill>
              </a:rPr>
              <a:t>name </a:t>
            </a:r>
            <a:r>
              <a:rPr lang="en-US" altLang="en-US" sz="1200" dirty="0"/>
              <a:t>and </a:t>
            </a:r>
            <a:r>
              <a:rPr lang="en-US" altLang="en-US" sz="1200" i="1" dirty="0">
                <a:solidFill>
                  <a:srgbClr val="FF0000"/>
                </a:solidFill>
              </a:rPr>
              <a:t>number</a:t>
            </a:r>
            <a:r>
              <a:rPr lang="en-US" altLang="en-US" sz="1200" i="1" dirty="0"/>
              <a:t>.</a:t>
            </a:r>
          </a:p>
          <a:p>
            <a:pPr lvl="1">
              <a:lnSpc>
                <a:spcPct val="120000"/>
              </a:lnSpc>
            </a:pPr>
            <a:r>
              <a:rPr lang="en-US" altLang="en-US" sz="1200" dirty="0"/>
              <a:t>Features to be tested / steps / input values – what you need to do</a:t>
            </a:r>
          </a:p>
          <a:p>
            <a:pPr lvl="2">
              <a:lnSpc>
                <a:spcPct val="120000"/>
              </a:lnSpc>
            </a:pPr>
            <a:r>
              <a:rPr lang="en-US" altLang="en-US" sz="1200" dirty="0"/>
              <a:t>A </a:t>
            </a:r>
            <a:r>
              <a:rPr lang="en-US" altLang="en-US" sz="1200" i="1" dirty="0">
                <a:solidFill>
                  <a:srgbClr val="FF0000"/>
                </a:solidFill>
              </a:rPr>
              <a:t>requirement</a:t>
            </a:r>
            <a:r>
              <a:rPr lang="en-US" altLang="en-US" sz="1200" i="1" dirty="0"/>
              <a:t> </a:t>
            </a:r>
            <a:r>
              <a:rPr lang="en-US" altLang="en-US" sz="1200" dirty="0"/>
              <a:t>which this test case is exercising.</a:t>
            </a:r>
          </a:p>
          <a:p>
            <a:pPr lvl="1">
              <a:lnSpc>
                <a:spcPct val="120000"/>
              </a:lnSpc>
            </a:pPr>
            <a:r>
              <a:rPr lang="en-US" altLang="en-US" sz="1200" i="1" dirty="0"/>
              <a:t>Preconditions </a:t>
            </a:r>
            <a:r>
              <a:rPr lang="en-US" altLang="en-US" sz="1200" dirty="0"/>
              <a:t>which describe the </a:t>
            </a:r>
            <a:r>
              <a:rPr lang="en-US" altLang="en-US" sz="1200" dirty="0">
                <a:solidFill>
                  <a:srgbClr val="FF0000"/>
                </a:solidFill>
              </a:rPr>
              <a:t>state</a:t>
            </a:r>
            <a:r>
              <a:rPr lang="en-US" altLang="en-US" sz="1200" dirty="0"/>
              <a:t> of the software before the test case (which is often a previous test case that must always be run before the current test case)</a:t>
            </a:r>
          </a:p>
          <a:p>
            <a:pPr lvl="1">
              <a:lnSpc>
                <a:spcPct val="120000"/>
              </a:lnSpc>
            </a:pPr>
            <a:r>
              <a:rPr lang="en-US" altLang="en-US" sz="1200" i="1" dirty="0"/>
              <a:t>Steps </a:t>
            </a:r>
            <a:r>
              <a:rPr lang="en-US" altLang="en-US" sz="1200" dirty="0"/>
              <a:t>that describe the </a:t>
            </a:r>
            <a:r>
              <a:rPr lang="en-US" altLang="en-US" sz="1200" dirty="0">
                <a:solidFill>
                  <a:srgbClr val="FF0000"/>
                </a:solidFill>
              </a:rPr>
              <a:t>specific steps </a:t>
            </a:r>
            <a:r>
              <a:rPr lang="en-US" altLang="en-US" sz="1200" dirty="0"/>
              <a:t>which make up the interaction</a:t>
            </a:r>
          </a:p>
          <a:p>
            <a:pPr lvl="1">
              <a:lnSpc>
                <a:spcPct val="120000"/>
              </a:lnSpc>
            </a:pPr>
            <a:r>
              <a:rPr lang="en-US" altLang="en-US" sz="1200" i="1" dirty="0"/>
              <a:t>Expected Results / output values -what you are supposed to get from application</a:t>
            </a:r>
          </a:p>
          <a:p>
            <a:pPr lvl="2">
              <a:lnSpc>
                <a:spcPct val="120000"/>
              </a:lnSpc>
            </a:pPr>
            <a:r>
              <a:rPr lang="en-US" altLang="en-US" sz="1200" dirty="0"/>
              <a:t>which describe the expected state of the software after the test case is executed.</a:t>
            </a:r>
          </a:p>
          <a:p>
            <a:pPr>
              <a:lnSpc>
                <a:spcPct val="120000"/>
              </a:lnSpc>
            </a:pPr>
            <a:r>
              <a:rPr lang="en-US" altLang="en-US" sz="1200" dirty="0"/>
              <a:t>Test cases must be repeatable.</a:t>
            </a:r>
          </a:p>
          <a:p>
            <a:endParaRPr lang="en-GB" sz="1200" dirty="0"/>
          </a:p>
        </p:txBody>
      </p:sp>
    </p:spTree>
    <p:extLst>
      <p:ext uri="{BB962C8B-B14F-4D97-AF65-F5344CB8AC3E}">
        <p14:creationId xmlns:p14="http://schemas.microsoft.com/office/powerpoint/2010/main" val="3102118226"/>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Test Cases – Good Example</a:t>
            </a:r>
            <a:endParaRPr lang="en-GB" sz="3600"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973" y="838200"/>
            <a:ext cx="8267846" cy="4800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06480204"/>
      </p:ext>
    </p:extLst>
  </p:cSld>
  <p:clrMapOvr>
    <a:masterClrMapping/>
  </p:clrMapOvr>
  <p:transition spd="slow">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Test Suite</a:t>
            </a:r>
            <a:endParaRPr lang="en-GB" sz="3600" dirty="0"/>
          </a:p>
        </p:txBody>
      </p:sp>
      <p:sp>
        <p:nvSpPr>
          <p:cNvPr id="3" name="Content Placeholder 2"/>
          <p:cNvSpPr>
            <a:spLocks noGrp="1"/>
          </p:cNvSpPr>
          <p:nvPr>
            <p:ph idx="1"/>
          </p:nvPr>
        </p:nvSpPr>
        <p:spPr/>
        <p:txBody>
          <a:bodyPr>
            <a:normAutofit/>
          </a:bodyPr>
          <a:lstStyle/>
          <a:p>
            <a:pPr algn="just">
              <a:spcBef>
                <a:spcPct val="25000"/>
              </a:spcBef>
            </a:pPr>
            <a:r>
              <a:rPr lang="en-US" altLang="en-US" dirty="0"/>
              <a:t>A document specifying a sequence of actions for the execution of multiple test cases.</a:t>
            </a:r>
          </a:p>
          <a:p>
            <a:pPr algn="just">
              <a:spcBef>
                <a:spcPct val="25000"/>
              </a:spcBef>
            </a:pPr>
            <a:r>
              <a:rPr lang="en-US" altLang="en-US" dirty="0">
                <a:solidFill>
                  <a:srgbClr val="FF0000"/>
                </a:solidFill>
              </a:rPr>
              <a:t>Purpose</a:t>
            </a:r>
            <a:r>
              <a:rPr lang="en-US" altLang="en-US" dirty="0"/>
              <a:t>: to put the test cases into an executable order, although individual test cases may have an internal set of steps or procedures.</a:t>
            </a:r>
          </a:p>
          <a:p>
            <a:pPr algn="just">
              <a:spcBef>
                <a:spcPct val="25000"/>
              </a:spcBef>
            </a:pPr>
            <a:r>
              <a:rPr lang="en-US" altLang="en-US" dirty="0"/>
              <a:t>Is typically manual, if automated, typically referred to as test script (though manual procedures can also be a type of script).</a:t>
            </a:r>
          </a:p>
          <a:p>
            <a:pPr algn="just">
              <a:spcBef>
                <a:spcPct val="25000"/>
              </a:spcBef>
            </a:pPr>
            <a:r>
              <a:rPr lang="en-US" altLang="en-US" dirty="0"/>
              <a:t>Multiple Test Suites need to be organized into some sequence – this defines the order in which the test cases or scripts are to be run, what timing considerations are, who should run them etc.</a:t>
            </a:r>
          </a:p>
          <a:p>
            <a:pPr lvl="2" algn="just">
              <a:spcBef>
                <a:spcPct val="25000"/>
              </a:spcBef>
            </a:pPr>
            <a:endParaRPr lang="en-US" altLang="en-US" sz="2000" dirty="0">
              <a:latin typeface="Arial" charset="0"/>
            </a:endParaRPr>
          </a:p>
          <a:p>
            <a:pPr algn="just"/>
            <a:endParaRPr lang="en-GB" dirty="0"/>
          </a:p>
        </p:txBody>
      </p:sp>
    </p:spTree>
    <p:extLst>
      <p:ext uri="{BB962C8B-B14F-4D97-AF65-F5344CB8AC3E}">
        <p14:creationId xmlns:p14="http://schemas.microsoft.com/office/powerpoint/2010/main" val="3649354960"/>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Test Execution</a:t>
            </a:r>
            <a:endParaRPr lang="en-GB" sz="3600" dirty="0"/>
          </a:p>
        </p:txBody>
      </p:sp>
      <p:sp>
        <p:nvSpPr>
          <p:cNvPr id="3" name="Content Placeholder 2"/>
          <p:cNvSpPr>
            <a:spLocks noGrp="1"/>
          </p:cNvSpPr>
          <p:nvPr>
            <p:ph idx="1"/>
          </p:nvPr>
        </p:nvSpPr>
        <p:spPr>
          <a:xfrm>
            <a:off x="914400" y="1905000"/>
            <a:ext cx="7452360" cy="4038600"/>
          </a:xfrm>
        </p:spPr>
        <p:txBody>
          <a:bodyPr>
            <a:normAutofit fontScale="85000" lnSpcReduction="10000"/>
          </a:bodyPr>
          <a:lstStyle/>
          <a:p>
            <a:pPr algn="just">
              <a:lnSpc>
                <a:spcPct val="110000"/>
              </a:lnSpc>
            </a:pPr>
            <a:r>
              <a:rPr lang="en-US" altLang="en-US" sz="2400" dirty="0"/>
              <a:t>The software testers begin executing the test plan after the programmers deliver the </a:t>
            </a:r>
            <a:r>
              <a:rPr lang="en-US" altLang="en-US" sz="2400" i="1" dirty="0"/>
              <a:t>alpha build (partially complete)</a:t>
            </a:r>
            <a:r>
              <a:rPr lang="en-US" altLang="en-US" sz="2400" dirty="0"/>
              <a:t>, or a build that they feel is complete.</a:t>
            </a:r>
          </a:p>
          <a:p>
            <a:pPr lvl="1" algn="just">
              <a:lnSpc>
                <a:spcPct val="110000"/>
              </a:lnSpc>
            </a:pPr>
            <a:r>
              <a:rPr lang="en-US" altLang="en-US" sz="2400" dirty="0"/>
              <a:t>The alpha should be of high quality—the programmers should feel that it is ready for release, and as good as they can get it.</a:t>
            </a:r>
          </a:p>
          <a:p>
            <a:pPr algn="just">
              <a:lnSpc>
                <a:spcPct val="110000"/>
              </a:lnSpc>
            </a:pPr>
            <a:r>
              <a:rPr lang="en-US" altLang="en-US" sz="2400" dirty="0"/>
              <a:t>There are typically several </a:t>
            </a:r>
            <a:r>
              <a:rPr lang="en-US" altLang="en-US" sz="2400" dirty="0">
                <a:solidFill>
                  <a:srgbClr val="FF0000"/>
                </a:solidFill>
              </a:rPr>
              <a:t>iterations</a:t>
            </a:r>
            <a:r>
              <a:rPr lang="en-US" altLang="en-US" sz="2400" dirty="0"/>
              <a:t> of test execution. </a:t>
            </a:r>
          </a:p>
          <a:p>
            <a:pPr lvl="1" algn="just">
              <a:lnSpc>
                <a:spcPct val="110000"/>
              </a:lnSpc>
            </a:pPr>
            <a:r>
              <a:rPr lang="en-US" altLang="en-US" dirty="0"/>
              <a:t>The first iteration focuses on new functionality that has been added since the last round of testing.</a:t>
            </a:r>
          </a:p>
          <a:p>
            <a:pPr lvl="1" algn="just">
              <a:lnSpc>
                <a:spcPct val="110000"/>
              </a:lnSpc>
            </a:pPr>
            <a:r>
              <a:rPr lang="en-US" altLang="en-US" dirty="0"/>
              <a:t>A </a:t>
            </a:r>
            <a:r>
              <a:rPr lang="en-US" altLang="en-US" i="1" dirty="0"/>
              <a:t>regression test </a:t>
            </a:r>
            <a:r>
              <a:rPr lang="en-US" altLang="en-US" dirty="0"/>
              <a:t>is a test designed to make sure that a change to one area of the software has not caused any other part of the software which had previously passed its tests to stop working. </a:t>
            </a:r>
          </a:p>
          <a:p>
            <a:pPr lvl="1" algn="just">
              <a:lnSpc>
                <a:spcPct val="110000"/>
              </a:lnSpc>
            </a:pPr>
            <a:r>
              <a:rPr lang="en-US" altLang="en-US" dirty="0"/>
              <a:t>Regression testing usually involves executing all test cases which have previously been executed.</a:t>
            </a:r>
          </a:p>
          <a:p>
            <a:pPr algn="just"/>
            <a:endParaRPr lang="en-GB" dirty="0"/>
          </a:p>
        </p:txBody>
      </p:sp>
    </p:spTree>
    <p:extLst>
      <p:ext uri="{BB962C8B-B14F-4D97-AF65-F5344CB8AC3E}">
        <p14:creationId xmlns:p14="http://schemas.microsoft.com/office/powerpoint/2010/main" val="3784655590"/>
      </p:ext>
    </p:extLst>
  </p:cSld>
  <p:clrMapOvr>
    <a:masterClrMapping/>
  </p:clrMapOvr>
  <p:transition spd="slow">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Defect Tracking</a:t>
            </a:r>
            <a:endParaRPr lang="en-GB" sz="3600" dirty="0"/>
          </a:p>
        </p:txBody>
      </p:sp>
      <p:sp>
        <p:nvSpPr>
          <p:cNvPr id="3" name="Content Placeholder 2"/>
          <p:cNvSpPr>
            <a:spLocks noGrp="1"/>
          </p:cNvSpPr>
          <p:nvPr>
            <p:ph idx="1"/>
          </p:nvPr>
        </p:nvSpPr>
        <p:spPr>
          <a:xfrm>
            <a:off x="685800" y="1905000"/>
            <a:ext cx="7848600" cy="5124450"/>
          </a:xfrm>
        </p:spPr>
        <p:txBody>
          <a:bodyPr/>
          <a:lstStyle/>
          <a:p>
            <a:pPr algn="just"/>
            <a:r>
              <a:rPr lang="en-US" altLang="en-US" sz="2400" dirty="0"/>
              <a:t>The </a:t>
            </a:r>
            <a:r>
              <a:rPr lang="en-US" altLang="en-US" sz="2400" i="1" dirty="0">
                <a:solidFill>
                  <a:srgbClr val="FF0000"/>
                </a:solidFill>
              </a:rPr>
              <a:t>defect tracking system</a:t>
            </a:r>
            <a:r>
              <a:rPr lang="en-US" altLang="en-US" sz="2400" dirty="0">
                <a:solidFill>
                  <a:srgbClr val="FF0000"/>
                </a:solidFill>
              </a:rPr>
              <a:t> </a:t>
            </a:r>
            <a:r>
              <a:rPr lang="en-US" altLang="en-US" sz="2400" dirty="0"/>
              <a:t>is a program that testers use to record and track defects. It routes each defect between testers, developers, the project manager and others, following a workflow designed to ensure that the defect is verified and repaired. </a:t>
            </a:r>
          </a:p>
          <a:p>
            <a:pPr lvl="1" algn="just"/>
            <a:r>
              <a:rPr lang="en-US" altLang="en-US" sz="2200" dirty="0"/>
              <a:t>Every defect encountered in the test run is recorded and entered into a defect tracking system so that it can be prioritized.</a:t>
            </a:r>
          </a:p>
          <a:p>
            <a:pPr lvl="1" algn="just"/>
            <a:r>
              <a:rPr lang="en-US" altLang="en-US" sz="2200" dirty="0"/>
              <a:t>The defect workflow should track the interaction between the testers who find the defect and the programmers who fix it. It should ensure that every defect can be properly prioritized and reviewed by all of the stakeholders to determine whether or not it should be repaired. This process of review and prioritization referred to as </a:t>
            </a:r>
            <a:r>
              <a:rPr lang="en-US" altLang="en-US" sz="2200" i="1" dirty="0">
                <a:solidFill>
                  <a:srgbClr val="FF0000"/>
                </a:solidFill>
              </a:rPr>
              <a:t>triage.</a:t>
            </a:r>
            <a:endParaRPr lang="en-US" altLang="en-US" sz="2200" dirty="0">
              <a:solidFill>
                <a:srgbClr val="FF0000"/>
              </a:solidFill>
            </a:endParaRPr>
          </a:p>
          <a:p>
            <a:pPr algn="just"/>
            <a:endParaRPr lang="en-GB" dirty="0"/>
          </a:p>
        </p:txBody>
      </p:sp>
    </p:spTree>
    <p:extLst>
      <p:ext uri="{BB962C8B-B14F-4D97-AF65-F5344CB8AC3E}">
        <p14:creationId xmlns:p14="http://schemas.microsoft.com/office/powerpoint/2010/main" val="632633756"/>
      </p:ext>
    </p:extLst>
  </p:cSld>
  <p:clrMapOvr>
    <a:masterClrMapping/>
  </p:clrMapOvr>
  <p:transition spd="slow">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Postmortem Reports</a:t>
            </a:r>
            <a:endParaRPr lang="en-GB" sz="3600" dirty="0"/>
          </a:p>
        </p:txBody>
      </p:sp>
      <p:sp>
        <p:nvSpPr>
          <p:cNvPr id="3" name="Content Placeholder 2"/>
          <p:cNvSpPr>
            <a:spLocks noGrp="1"/>
          </p:cNvSpPr>
          <p:nvPr>
            <p:ph idx="1"/>
          </p:nvPr>
        </p:nvSpPr>
        <p:spPr/>
        <p:txBody>
          <a:bodyPr/>
          <a:lstStyle/>
          <a:p>
            <a:r>
              <a:rPr lang="en-US" altLang="en-US" dirty="0"/>
              <a:t>The </a:t>
            </a:r>
            <a:r>
              <a:rPr lang="en-US" altLang="en-US" i="1" dirty="0"/>
              <a:t>postmortem report</a:t>
            </a:r>
            <a:r>
              <a:rPr lang="en-US" altLang="en-US" dirty="0"/>
              <a:t> is an overall account of the team’s experience in building the software, and of the experience of the users and stakeholders in working with the team.</a:t>
            </a:r>
          </a:p>
          <a:p>
            <a:pPr lvl="1" algn="just"/>
            <a:r>
              <a:rPr lang="en-US" altLang="en-US" sz="2500" dirty="0"/>
              <a:t>The report should contain an honest assessment of how the team members, users, and stakeholders perceived the end product, and assessed the decisions made throughout the project. </a:t>
            </a:r>
          </a:p>
          <a:p>
            <a:pPr lvl="1"/>
            <a:r>
              <a:rPr lang="en-US" altLang="en-US" sz="2500" dirty="0"/>
              <a:t>The purpose of the post-mortem report is to highlight the </a:t>
            </a:r>
            <a:r>
              <a:rPr lang="en-US" altLang="en-US" sz="2500" dirty="0">
                <a:solidFill>
                  <a:srgbClr val="FF0000"/>
                </a:solidFill>
              </a:rPr>
              <a:t>team’s successes </a:t>
            </a:r>
            <a:r>
              <a:rPr lang="en-US" altLang="en-US" sz="2500" dirty="0"/>
              <a:t>and identify any </a:t>
            </a:r>
            <a:r>
              <a:rPr lang="en-US" altLang="en-US" sz="2500" dirty="0">
                <a:solidFill>
                  <a:srgbClr val="FF0000"/>
                </a:solidFill>
              </a:rPr>
              <a:t>problems</a:t>
            </a:r>
            <a:r>
              <a:rPr lang="en-US" altLang="en-US" sz="2500" dirty="0"/>
              <a:t> which should be fixed in future releases.</a:t>
            </a:r>
          </a:p>
          <a:p>
            <a:endParaRPr lang="en-GB" sz="3200"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58B465C-47AE-495B-AB13-A32349909BA6}"/>
                  </a:ext>
                </a:extLst>
              </p14:cNvPr>
              <p14:cNvContentPartPr/>
              <p14:nvPr/>
            </p14:nvContentPartPr>
            <p14:xfrm>
              <a:off x="6332040" y="2142360"/>
              <a:ext cx="1678680" cy="42120"/>
            </p14:xfrm>
          </p:contentPart>
        </mc:Choice>
        <mc:Fallback xmlns="">
          <p:pic>
            <p:nvPicPr>
              <p:cNvPr id="5" name="Ink 4">
                <a:extLst>
                  <a:ext uri="{FF2B5EF4-FFF2-40B4-BE49-F238E27FC236}">
                    <a16:creationId xmlns:a16="http://schemas.microsoft.com/office/drawing/2014/main" id="{458B465C-47AE-495B-AB13-A32349909BA6}"/>
                  </a:ext>
                </a:extLst>
              </p:cNvPr>
              <p:cNvPicPr/>
              <p:nvPr/>
            </p:nvPicPr>
            <p:blipFill>
              <a:blip r:embed="rId3"/>
              <a:stretch>
                <a:fillRect/>
              </a:stretch>
            </p:blipFill>
            <p:spPr>
              <a:xfrm>
                <a:off x="6322680" y="2133000"/>
                <a:ext cx="1697400" cy="60840"/>
              </a:xfrm>
              <a:prstGeom prst="rect">
                <a:avLst/>
              </a:prstGeom>
            </p:spPr>
          </p:pic>
        </mc:Fallback>
      </mc:AlternateContent>
    </p:spTree>
    <p:extLst>
      <p:ext uri="{BB962C8B-B14F-4D97-AF65-F5344CB8AC3E}">
        <p14:creationId xmlns:p14="http://schemas.microsoft.com/office/powerpoint/2010/main" val="563256543"/>
      </p:ext>
    </p:extLst>
  </p:cSld>
  <p:clrMapOvr>
    <a:masterClrMapping/>
  </p:clrMapOvr>
  <p:transition spd="slow">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The Testing Process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737361"/>
            <a:ext cx="2809875"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0423800"/>
      </p:ext>
    </p:extLst>
  </p:cSld>
  <p:clrMapOvr>
    <a:masterClrMapping/>
  </p:clrMapOvr>
  <p:transition spd="slow">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500509"/>
            <a:ext cx="6172200" cy="58569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7214760"/>
      </p:ext>
    </p:extLst>
  </p:cSld>
  <p:clrMapOvr>
    <a:masterClrMapping/>
  </p:clrMapOvr>
  <p:transition spd="slow">
    <p:blinds dir="vert"/>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134929</TotalTime>
  <Words>1480</Words>
  <Application>Microsoft Office PowerPoint</Application>
  <PresentationFormat>On-screen Show (4:3)</PresentationFormat>
  <Paragraphs>175</Paragraphs>
  <Slides>28</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Arial</vt:lpstr>
      <vt:lpstr>Arial</vt:lpstr>
      <vt:lpstr>Calibri</vt:lpstr>
      <vt:lpstr>Calibri Light</vt:lpstr>
      <vt:lpstr>Garamond</vt:lpstr>
      <vt:lpstr>Goudy Stout</vt:lpstr>
      <vt:lpstr>Source Sans Pro</vt:lpstr>
      <vt:lpstr>Symbol</vt:lpstr>
      <vt:lpstr>Times New Roman</vt:lpstr>
      <vt:lpstr>Wingdings</vt:lpstr>
      <vt:lpstr>Retrospect</vt:lpstr>
      <vt:lpstr>PowerPoint Presentation</vt:lpstr>
      <vt:lpstr>Topics</vt:lpstr>
      <vt:lpstr>Introduction</vt:lpstr>
      <vt:lpstr>Introduction…</vt:lpstr>
      <vt:lpstr>Software Testing - Definition</vt:lpstr>
      <vt:lpstr>Software Testing  Objectives</vt:lpstr>
      <vt:lpstr>Types of testing</vt:lpstr>
      <vt:lpstr>Levels of testing</vt:lpstr>
      <vt:lpstr>Integration Testing</vt:lpstr>
      <vt:lpstr>Software Testing  Objectives</vt:lpstr>
      <vt:lpstr>Bottom-up Integration Testing </vt:lpstr>
      <vt:lpstr>Bottom-up Testing</vt:lpstr>
      <vt:lpstr>Top-down testing </vt:lpstr>
      <vt:lpstr>PowerPoint Presentation</vt:lpstr>
      <vt:lpstr>Levels of Testing in V Model</vt:lpstr>
      <vt:lpstr>Test Plan</vt:lpstr>
      <vt:lpstr>Test Planning</vt:lpstr>
      <vt:lpstr>PowerPoint Presentation</vt:lpstr>
      <vt:lpstr>PowerPoint Presentation</vt:lpstr>
      <vt:lpstr>Test Case</vt:lpstr>
      <vt:lpstr>Test Case…</vt:lpstr>
      <vt:lpstr>Test Cases – Good Example</vt:lpstr>
      <vt:lpstr>Test Suite</vt:lpstr>
      <vt:lpstr>Test Execution</vt:lpstr>
      <vt:lpstr>Defect Tracking</vt:lpstr>
      <vt:lpstr>Postmortem Reports</vt:lpstr>
      <vt:lpstr>The Testing Process</vt:lpstr>
      <vt:lpstr>PowerPoint Presentation</vt:lpstr>
    </vt:vector>
  </TitlesOfParts>
  <Company>North Dakota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Center Networks</dc:title>
  <dc:creator>Assad</dc:creator>
  <cp:lastModifiedBy>Sumaira Nazir</cp:lastModifiedBy>
  <cp:revision>1987</cp:revision>
  <dcterms:created xsi:type="dcterms:W3CDTF">2012-03-05T21:22:22Z</dcterms:created>
  <dcterms:modified xsi:type="dcterms:W3CDTF">2024-12-20T13:08:44Z</dcterms:modified>
</cp:coreProperties>
</file>