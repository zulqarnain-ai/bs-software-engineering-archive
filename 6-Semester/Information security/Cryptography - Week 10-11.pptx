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1"/>
  </p:sldMasterIdLst>
  <p:notesMasterIdLst>
    <p:notesMasterId r:id="rId35"/>
  </p:notesMasterIdLst>
  <p:handoutMasterIdLst>
    <p:handoutMasterId r:id="rId36"/>
  </p:handoutMasterIdLst>
  <p:sldIdLst>
    <p:sldId id="299" r:id="rId2"/>
    <p:sldId id="418" r:id="rId3"/>
    <p:sldId id="349" r:id="rId4"/>
    <p:sldId id="334" r:id="rId5"/>
    <p:sldId id="356" r:id="rId6"/>
    <p:sldId id="412" r:id="rId7"/>
    <p:sldId id="419" r:id="rId8"/>
    <p:sldId id="394" r:id="rId9"/>
    <p:sldId id="395" r:id="rId10"/>
    <p:sldId id="420" r:id="rId11"/>
    <p:sldId id="357" r:id="rId12"/>
    <p:sldId id="358" r:id="rId13"/>
    <p:sldId id="360" r:id="rId14"/>
    <p:sldId id="361" r:id="rId15"/>
    <p:sldId id="365" r:id="rId16"/>
    <p:sldId id="416" r:id="rId17"/>
    <p:sldId id="369" r:id="rId18"/>
    <p:sldId id="368" r:id="rId19"/>
    <p:sldId id="371" r:id="rId20"/>
    <p:sldId id="370" r:id="rId21"/>
    <p:sldId id="375" r:id="rId22"/>
    <p:sldId id="422" r:id="rId23"/>
    <p:sldId id="397" r:id="rId24"/>
    <p:sldId id="398" r:id="rId25"/>
    <p:sldId id="399" r:id="rId26"/>
    <p:sldId id="425" r:id="rId27"/>
    <p:sldId id="400" r:id="rId28"/>
    <p:sldId id="406" r:id="rId29"/>
    <p:sldId id="402" r:id="rId30"/>
    <p:sldId id="423" r:id="rId31"/>
    <p:sldId id="413" r:id="rId32"/>
    <p:sldId id="414" r:id="rId33"/>
    <p:sldId id="411" r:id="rId34"/>
  </p:sldIdLst>
  <p:sldSz cx="9144000" cy="6858000" type="screen4x3"/>
  <p:notesSz cx="7315200" cy="96012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021"/>
    <a:srgbClr val="007601"/>
    <a:srgbClr val="1577F2"/>
    <a:srgbClr val="1360C2"/>
    <a:srgbClr val="28498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353" autoAdjust="0"/>
  </p:normalViewPr>
  <p:slideViewPr>
    <p:cSldViewPr>
      <p:cViewPr varScale="1">
        <p:scale>
          <a:sx n="44" d="100"/>
          <a:sy n="44" d="100"/>
        </p:scale>
        <p:origin x="192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20" d="100"/>
          <a:sy n="120" d="100"/>
        </p:scale>
        <p:origin x="-1088" y="24"/>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EE16662-45B9-6387-4C20-D6C145E428BA}"/>
              </a:ext>
            </a:extLst>
          </p:cNvPr>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defRPr sz="1300">
                <a:latin typeface="Calibri"/>
                <a:ea typeface="ＭＳ Ｐゴシック" charset="-128"/>
                <a:cs typeface="ＭＳ Ｐゴシック" charset="-128"/>
              </a:defRPr>
            </a:lvl1pPr>
          </a:lstStyle>
          <a:p>
            <a:pPr>
              <a:defRPr/>
            </a:pPr>
            <a:endParaRPr lang="en-US"/>
          </a:p>
        </p:txBody>
      </p:sp>
      <p:sp>
        <p:nvSpPr>
          <p:cNvPr id="62467" name="Rectangle 3">
            <a:extLst>
              <a:ext uri="{FF2B5EF4-FFF2-40B4-BE49-F238E27FC236}">
                <a16:creationId xmlns:a16="http://schemas.microsoft.com/office/drawing/2014/main" id="{48551097-0F05-0D69-526B-260467348CAD}"/>
              </a:ext>
            </a:extLst>
          </p:cNvPr>
          <p:cNvSpPr>
            <a:spLocks noGrp="1" noChangeArrowheads="1"/>
          </p:cNvSpPr>
          <p:nvPr>
            <p:ph type="dt" sz="quarter"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defRPr sz="1300">
                <a:latin typeface="Calibri" panose="020F0502020204030204" pitchFamily="34" charset="0"/>
              </a:defRPr>
            </a:lvl1pPr>
          </a:lstStyle>
          <a:p>
            <a:fld id="{AEFB85E8-EBE2-4099-9634-DA625EFFB898}" type="datetime1">
              <a:rPr lang="en-US" altLang="en-US"/>
              <a:pPr/>
              <a:t>6/21/2025</a:t>
            </a:fld>
            <a:endParaRPr lang="en-US" altLang="en-US"/>
          </a:p>
        </p:txBody>
      </p:sp>
      <p:sp>
        <p:nvSpPr>
          <p:cNvPr id="62468" name="Rectangle 4">
            <a:extLst>
              <a:ext uri="{FF2B5EF4-FFF2-40B4-BE49-F238E27FC236}">
                <a16:creationId xmlns:a16="http://schemas.microsoft.com/office/drawing/2014/main" id="{7D22BF5E-45F1-5F5E-80EB-3D7CB947E403}"/>
              </a:ext>
            </a:extLst>
          </p:cNvPr>
          <p:cNvSpPr>
            <a:spLocks noGrp="1" noChangeArrowheads="1"/>
          </p:cNvSpPr>
          <p:nvPr>
            <p:ph type="ftr" sz="quarter" idx="2"/>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defRPr sz="1300">
                <a:latin typeface="Calibri"/>
                <a:ea typeface="ＭＳ Ｐゴシック" charset="-128"/>
                <a:cs typeface="ＭＳ Ｐゴシック" charset="-128"/>
              </a:defRPr>
            </a:lvl1pPr>
          </a:lstStyle>
          <a:p>
            <a:pPr>
              <a:defRPr/>
            </a:pPr>
            <a:endParaRPr lang="en-US"/>
          </a:p>
        </p:txBody>
      </p:sp>
      <p:sp>
        <p:nvSpPr>
          <p:cNvPr id="62469" name="Rectangle 5">
            <a:extLst>
              <a:ext uri="{FF2B5EF4-FFF2-40B4-BE49-F238E27FC236}">
                <a16:creationId xmlns:a16="http://schemas.microsoft.com/office/drawing/2014/main" id="{A1DD85FC-EE17-5EE7-93F9-F771BAF774AE}"/>
              </a:ext>
            </a:extLst>
          </p:cNvPr>
          <p:cNvSpPr>
            <a:spLocks noGrp="1" noChangeArrowheads="1"/>
          </p:cNvSpPr>
          <p:nvPr>
            <p:ph type="sldNum" sz="quarter" idx="3"/>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defRPr sz="1300">
                <a:latin typeface="Calibri" panose="020F0502020204030204" pitchFamily="34" charset="0"/>
              </a:defRPr>
            </a:lvl1pPr>
          </a:lstStyle>
          <a:p>
            <a:fld id="{E9CEBA48-360A-4A02-B367-DCE9271D5FA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F28A7866-0901-F921-1C5F-A9EC5F575D94}"/>
              </a:ext>
            </a:extLst>
          </p:cNvPr>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atin typeface="Calibri"/>
                <a:ea typeface="+mn-ea"/>
                <a:cs typeface="+mn-cs"/>
              </a:defRPr>
            </a:lvl1pPr>
          </a:lstStyle>
          <a:p>
            <a:pPr>
              <a:defRPr/>
            </a:pPr>
            <a:endParaRPr lang="en-US"/>
          </a:p>
        </p:txBody>
      </p:sp>
      <p:sp>
        <p:nvSpPr>
          <p:cNvPr id="22531" name="Rectangle 1027">
            <a:extLst>
              <a:ext uri="{FF2B5EF4-FFF2-40B4-BE49-F238E27FC236}">
                <a16:creationId xmlns:a16="http://schemas.microsoft.com/office/drawing/2014/main" id="{7648FD06-94D0-BBB9-989E-3968C5016EB5}"/>
              </a:ext>
            </a:extLst>
          </p:cNvPr>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atin typeface="Calibri"/>
                <a:ea typeface="+mn-ea"/>
                <a:cs typeface="+mn-cs"/>
              </a:defRPr>
            </a:lvl1pPr>
          </a:lstStyle>
          <a:p>
            <a:pPr>
              <a:defRPr/>
            </a:pPr>
            <a:endParaRPr lang="en-US"/>
          </a:p>
        </p:txBody>
      </p:sp>
      <p:sp>
        <p:nvSpPr>
          <p:cNvPr id="14340" name="Rectangle 1028">
            <a:extLst>
              <a:ext uri="{FF2B5EF4-FFF2-40B4-BE49-F238E27FC236}">
                <a16:creationId xmlns:a16="http://schemas.microsoft.com/office/drawing/2014/main" id="{66F8B45B-8359-B97B-9822-7C41B531D294}"/>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1029">
            <a:extLst>
              <a:ext uri="{FF2B5EF4-FFF2-40B4-BE49-F238E27FC236}">
                <a16:creationId xmlns:a16="http://schemas.microsoft.com/office/drawing/2014/main" id="{0B2F5973-5386-D84C-97A0-98897787C74D}"/>
              </a:ext>
            </a:extLst>
          </p:cNvPr>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AU" noProof="0" dirty="0"/>
              <a:t>Click to edit Master text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p:txBody>
      </p:sp>
      <p:sp>
        <p:nvSpPr>
          <p:cNvPr id="22534" name="Rectangle 1030">
            <a:extLst>
              <a:ext uri="{FF2B5EF4-FFF2-40B4-BE49-F238E27FC236}">
                <a16:creationId xmlns:a16="http://schemas.microsoft.com/office/drawing/2014/main" id="{1852F5C7-6FDB-3270-5499-B0CAED9B92A6}"/>
              </a:ext>
            </a:extLst>
          </p:cNvPr>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atin typeface="Calibri"/>
                <a:ea typeface="+mn-ea"/>
                <a:cs typeface="+mn-cs"/>
              </a:defRPr>
            </a:lvl1pPr>
          </a:lstStyle>
          <a:p>
            <a:pPr>
              <a:defRPr/>
            </a:pPr>
            <a:endParaRPr lang="en-US"/>
          </a:p>
        </p:txBody>
      </p:sp>
      <p:sp>
        <p:nvSpPr>
          <p:cNvPr id="22535" name="Rectangle 1031">
            <a:extLst>
              <a:ext uri="{FF2B5EF4-FFF2-40B4-BE49-F238E27FC236}">
                <a16:creationId xmlns:a16="http://schemas.microsoft.com/office/drawing/2014/main" id="{1354A8D0-3FDD-92AB-E256-E59973746AD1}"/>
              </a:ext>
            </a:extLst>
          </p:cNvPr>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atin typeface="Calibri" panose="020F0502020204030204" pitchFamily="34" charset="0"/>
              </a:defRPr>
            </a:lvl1pPr>
          </a:lstStyle>
          <a:p>
            <a:fld id="{21E3ED49-CED5-4726-8FB4-C1BF2B99D933}"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a:ea typeface="MS PGothic" panose="020B0600070205080204"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Calibri"/>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Calibri"/>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Calibri"/>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031">
            <a:extLst>
              <a:ext uri="{FF2B5EF4-FFF2-40B4-BE49-F238E27FC236}">
                <a16:creationId xmlns:a16="http://schemas.microsoft.com/office/drawing/2014/main" id="{51922386-7FD4-2D82-21C5-B1DBAB47B4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73D877D1-9EEF-4F8E-972D-4DD983433DD8}" type="slidenum">
              <a:rPr lang="en-AU" altLang="en-US" sz="1300">
                <a:latin typeface="Calibri" panose="020F0502020204030204" pitchFamily="34" charset="0"/>
              </a:rPr>
              <a:pPr eaLnBrk="1" hangingPunct="1"/>
              <a:t>1</a:t>
            </a:fld>
            <a:endParaRPr lang="en-AU" altLang="en-US" sz="1300">
              <a:latin typeface="Calibri" panose="020F0502020204030204" pitchFamily="34" charset="0"/>
            </a:endParaRPr>
          </a:p>
        </p:txBody>
      </p:sp>
      <p:sp>
        <p:nvSpPr>
          <p:cNvPr id="16386" name="Rectangle 2">
            <a:extLst>
              <a:ext uri="{FF2B5EF4-FFF2-40B4-BE49-F238E27FC236}">
                <a16:creationId xmlns:a16="http://schemas.microsoft.com/office/drawing/2014/main" id="{2F65F271-91A6-6CC3-A420-9B94CD0D5742}"/>
              </a:ext>
            </a:extLst>
          </p:cNvPr>
          <p:cNvSpPr>
            <a:spLocks noGrp="1" noRot="1" noChangeAspect="1" noChangeArrowheads="1"/>
          </p:cNvSpPr>
          <p:nvPr>
            <p:ph type="sldImg"/>
          </p:nvPr>
        </p:nvSpPr>
        <p:spPr>
          <a:solidFill>
            <a:srgbClr val="FFFFFF"/>
          </a:solidFill>
          <a:ln/>
        </p:spPr>
      </p:sp>
      <p:sp>
        <p:nvSpPr>
          <p:cNvPr id="16387" name="Rectangle 3">
            <a:extLst>
              <a:ext uri="{FF2B5EF4-FFF2-40B4-BE49-F238E27FC236}">
                <a16:creationId xmlns:a16="http://schemas.microsoft.com/office/drawing/2014/main" id="{90F1F4F0-8E84-9F7B-4F6A-7948782A71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a:t>
            </a:fld>
            <a:endParaRPr lang="en-AU" altLang="en-US"/>
          </a:p>
        </p:txBody>
      </p:sp>
    </p:spTree>
    <p:extLst>
      <p:ext uri="{BB962C8B-B14F-4D97-AF65-F5344CB8AC3E}">
        <p14:creationId xmlns:p14="http://schemas.microsoft.com/office/powerpoint/2010/main" val="416941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3464C44D-3447-5A30-570C-47D5642DF90A}"/>
              </a:ext>
            </a:extLst>
          </p:cNvPr>
          <p:cNvSpPr>
            <a:spLocks noGrp="1" noRot="1" noChangeAspect="1"/>
          </p:cNvSpPr>
          <p:nvPr>
            <p:ph type="sldImg"/>
          </p:nvPr>
        </p:nvSpPr>
        <p:spPr>
          <a:ln/>
        </p:spPr>
      </p:sp>
      <p:sp>
        <p:nvSpPr>
          <p:cNvPr id="19458" name="Notes Placeholder 2">
            <a:extLst>
              <a:ext uri="{FF2B5EF4-FFF2-40B4-BE49-F238E27FC236}">
                <a16:creationId xmlns:a16="http://schemas.microsoft.com/office/drawing/2014/main" id="{0E9FFA72-E4C8-12CE-218A-5FFC70E2FA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dirty="0">
                <a:latin typeface="Calibri" panose="020F0502020204030204" pitchFamily="34" charset="0"/>
              </a:rPr>
              <a:t>A hash function H accepts a variable-length block of data M as input and produces a fixed-size hash value h = H(M). A "good" hash function has the property that the results of applying the function to a large set of inputs will produce outputs that are evenly distributed, and apparently random. In general terms, the principal object of a hash function is data integrity. A change to any bit or bits in M results, with high probability, in a change to the hash code. The kind of hash function needed for security applications is referred to as a cryptographic hash function. A cryptographic hash function is an algorithm for which it is computationally infeasible (because no attack is significantly more efficient than brute force) to find either (a) a data object that maps to a pre-specified hash result (the one-way property) or (b) two data objects that map to the same hash result (the collision-free property). Because of these characteristics, hash functions are often used to determine whether or not data has changed. </a:t>
            </a:r>
          </a:p>
          <a:p>
            <a:pPr>
              <a:lnSpc>
                <a:spcPct val="90000"/>
              </a:lnSpc>
            </a:pPr>
            <a:endParaRPr lang="en-US" altLang="en-US" dirty="0">
              <a:latin typeface="Calibri" panose="020F0502020204030204" pitchFamily="34" charset="0"/>
            </a:endParaRPr>
          </a:p>
          <a:p>
            <a:pPr>
              <a:lnSpc>
                <a:spcPct val="90000"/>
              </a:lnSpc>
            </a:pPr>
            <a:endParaRPr lang="en-US" altLang="en-US" dirty="0">
              <a:latin typeface="Calibri" panose="020F0502020204030204" pitchFamily="34" charset="0"/>
            </a:endParaRPr>
          </a:p>
          <a:p>
            <a:pPr>
              <a:lnSpc>
                <a:spcPct val="90000"/>
              </a:lnSpc>
            </a:pPr>
            <a:r>
              <a:rPr lang="en-US" altLang="en-US" dirty="0">
                <a:latin typeface="Calibri" panose="020F0502020204030204" pitchFamily="34" charset="0"/>
              </a:rPr>
              <a:t>Stallings Figure 11.1 depicts the general operation of a cryptographic hash function. Typically, the input is padded out to an integer multiple of some fixed length (e.g., 1024 bits) and the padding includes the value of the length of the original message in bits. The length field is a security measure to increase the difficulty for an attacker to produce an alternative message with the same hash value. </a:t>
            </a:r>
          </a:p>
          <a:p>
            <a:pPr>
              <a:lnSpc>
                <a:spcPct val="90000"/>
              </a:lnSpc>
            </a:pPr>
            <a:endParaRPr lang="en-US" altLang="en-US" dirty="0">
              <a:latin typeface="Calibri" panose="020F0502020204030204" pitchFamily="34" charset="0"/>
            </a:endParaRPr>
          </a:p>
        </p:txBody>
      </p:sp>
      <p:sp>
        <p:nvSpPr>
          <p:cNvPr id="19459" name="Slide Number Placeholder 3">
            <a:extLst>
              <a:ext uri="{FF2B5EF4-FFF2-40B4-BE49-F238E27FC236}">
                <a16:creationId xmlns:a16="http://schemas.microsoft.com/office/drawing/2014/main" id="{A4C57CB8-8186-0CDC-72A4-184671F4E9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99057969-61A1-4FE3-A787-9F842E2F0B0A}" type="slidenum">
              <a:rPr lang="en-AU" altLang="en-US" sz="1300">
                <a:latin typeface="Calibri" panose="020F0502020204030204" pitchFamily="34" charset="0"/>
              </a:rPr>
              <a:pPr eaLnBrk="1" hangingPunct="1"/>
              <a:t>3</a:t>
            </a:fld>
            <a:endParaRPr lang="en-AU" altLang="en-US" sz="130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4</a:t>
            </a:fld>
            <a:endParaRPr lang="en-AU" altLang="en-US"/>
          </a:p>
        </p:txBody>
      </p:sp>
    </p:spTree>
    <p:extLst>
      <p:ext uri="{BB962C8B-B14F-4D97-AF65-F5344CB8AC3E}">
        <p14:creationId xmlns:p14="http://schemas.microsoft.com/office/powerpoint/2010/main" val="916030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C83ED1D0-10CB-3DC1-070F-758B2E8BF683}"/>
              </a:ext>
            </a:extLst>
          </p:cNvPr>
          <p:cNvSpPr>
            <a:spLocks noGrp="1" noRot="1" noChangeAspect="1"/>
          </p:cNvSpPr>
          <p:nvPr>
            <p:ph type="sldImg"/>
          </p:nvPr>
        </p:nvSpPr>
        <p:spPr>
          <a:ln/>
        </p:spPr>
      </p:sp>
      <p:sp>
        <p:nvSpPr>
          <p:cNvPr id="28674" name="Notes Placeholder 2">
            <a:extLst>
              <a:ext uri="{FF2B5EF4-FFF2-40B4-BE49-F238E27FC236}">
                <a16:creationId xmlns:a16="http://schemas.microsoft.com/office/drawing/2014/main" id="{3DDC6E65-5716-EA85-EF06-211091C818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Hash functions are commonly used to create a one-way password file. Chapter 20 explains a scheme in which a hash of a password is stored by an operating system rather than the password itself. Thus, the actual password is not retrievable by a hacker who gains access to the password file. In simple terms, when a user enters a password, the hash of that password is compared to the stored hash value for verification. This approach to password protection is used by most operating systems.  </a:t>
            </a:r>
          </a:p>
          <a:p>
            <a:pPr eaLnBrk="1" hangingPunct="1"/>
            <a:r>
              <a:rPr lang="en-US" altLang="en-US">
                <a:latin typeface="Calibri" panose="020F0502020204030204" pitchFamily="34" charset="0"/>
              </a:rPr>
              <a:t>Hash functions can be used for intrusion detection and virus detection. Store H(F) for each file on a system and secure the hash values (e.g., on a CD-R that is kept secure). One can later determine if a file has been modified by recomputing H(F). An intruder would need to change F without changing H(F).  </a:t>
            </a:r>
          </a:p>
          <a:p>
            <a:pPr eaLnBrk="1" hangingPunct="1"/>
            <a:r>
              <a:rPr lang="en-US" altLang="en-US">
                <a:latin typeface="Calibri" panose="020F0502020204030204" pitchFamily="34" charset="0"/>
              </a:rPr>
              <a:t>A cryptographic hash function can be used to construct a pseudorandom function (PRF) or a pseudorandom number generator (PRNG). A common application for a hash-based PRF is for the generation of symmetric keys. We discuss this application in Chapter 12.</a:t>
            </a:r>
          </a:p>
          <a:p>
            <a:endParaRPr lang="en-US" altLang="en-US">
              <a:latin typeface="Calibri" panose="020F0502020204030204" pitchFamily="34" charset="0"/>
            </a:endParaRPr>
          </a:p>
          <a:p>
            <a:endParaRPr lang="en-US" altLang="en-US">
              <a:latin typeface="Calibri" panose="020F0502020204030204" pitchFamily="34" charset="0"/>
            </a:endParaRPr>
          </a:p>
        </p:txBody>
      </p:sp>
      <p:sp>
        <p:nvSpPr>
          <p:cNvPr id="28675" name="Slide Number Placeholder 3">
            <a:extLst>
              <a:ext uri="{FF2B5EF4-FFF2-40B4-BE49-F238E27FC236}">
                <a16:creationId xmlns:a16="http://schemas.microsoft.com/office/drawing/2014/main" id="{C31DB377-4AAE-A526-2564-0B8D0E3494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6465792C-9C33-41ED-98CB-206E98BF710B}" type="slidenum">
              <a:rPr lang="en-AU" altLang="en-US" sz="1300">
                <a:latin typeface="Calibri" panose="020F0502020204030204" pitchFamily="34" charset="0"/>
              </a:rPr>
              <a:pPr eaLnBrk="1" hangingPunct="1"/>
              <a:t>5</a:t>
            </a:fld>
            <a:endParaRPr lang="en-AU" altLang="en-US" sz="1300">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6</a:t>
            </a:fld>
            <a:endParaRPr lang="en-AU" altLang="en-US"/>
          </a:p>
        </p:txBody>
      </p:sp>
    </p:spTree>
    <p:extLst>
      <p:ext uri="{BB962C8B-B14F-4D97-AF65-F5344CB8AC3E}">
        <p14:creationId xmlns:p14="http://schemas.microsoft.com/office/powerpoint/2010/main" val="853226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7</a:t>
            </a:fld>
            <a:endParaRPr lang="en-AU" altLang="en-US"/>
          </a:p>
        </p:txBody>
      </p:sp>
    </p:spTree>
    <p:extLst>
      <p:ext uri="{BB962C8B-B14F-4D97-AF65-F5344CB8AC3E}">
        <p14:creationId xmlns:p14="http://schemas.microsoft.com/office/powerpoint/2010/main" val="2767677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1B384FD8-8545-87CA-31EC-E18BAEDEEA41}"/>
              </a:ext>
            </a:extLst>
          </p:cNvPr>
          <p:cNvSpPr>
            <a:spLocks noGrp="1" noRot="1" noChangeAspect="1"/>
          </p:cNvSpPr>
          <p:nvPr>
            <p:ph type="sldImg"/>
          </p:nvPr>
        </p:nvSpPr>
        <p:spPr>
          <a:ln/>
        </p:spPr>
      </p:sp>
      <p:sp>
        <p:nvSpPr>
          <p:cNvPr id="32770" name="Notes Placeholder 2">
            <a:extLst>
              <a:ext uri="{FF2B5EF4-FFF2-40B4-BE49-F238E27FC236}">
                <a16:creationId xmlns:a16="http://schemas.microsoft.com/office/drawing/2014/main" id="{AC373F6B-11D3-9B74-FEB9-B914C44561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dirty="0">
                <a:latin typeface="Calibri" panose="020F0502020204030204" pitchFamily="34" charset="0"/>
              </a:rPr>
              <a:t>Message authentication is a mechanism or service used to verify the integrity of a message, by assuring that the data received are exactly as sent.  Stallings Figure 11.2 illustrates a variety of ways in which a hash code can be used to provide message authentication, as follows:   </a:t>
            </a:r>
          </a:p>
          <a:p>
            <a:pPr eaLnBrk="1" hangingPunct="1">
              <a:lnSpc>
                <a:spcPct val="90000"/>
              </a:lnSpc>
              <a:buFontTx/>
              <a:buAutoNum type="alphaLcPeriod"/>
            </a:pPr>
            <a:r>
              <a:rPr lang="en-US" altLang="en-US" dirty="0">
                <a:latin typeface="Calibri" panose="020F0502020204030204" pitchFamily="34" charset="0"/>
              </a:rPr>
              <a:t>The message plus concatenated hash code is encrypted using symmetric encryption. Since only A and B share the secret key, the message must have come from A and has not been altered. The hash code provides the structure or redundancy required to achieve authentication.</a:t>
            </a:r>
          </a:p>
          <a:p>
            <a:pPr eaLnBrk="1" hangingPunct="1">
              <a:lnSpc>
                <a:spcPct val="90000"/>
              </a:lnSpc>
              <a:buFontTx/>
              <a:buAutoNum type="alphaLcPeriod"/>
            </a:pPr>
            <a:r>
              <a:rPr lang="en-US" altLang="en-US" dirty="0">
                <a:latin typeface="Calibri" panose="020F0502020204030204" pitchFamily="34" charset="0"/>
              </a:rPr>
              <a:t>Only the hash code is encrypted, using symmetric encryption. This reduces the processing burden for those applications not requiring confidentiality. </a:t>
            </a:r>
          </a:p>
        </p:txBody>
      </p:sp>
      <p:sp>
        <p:nvSpPr>
          <p:cNvPr id="32771" name="Slide Number Placeholder 3">
            <a:extLst>
              <a:ext uri="{FF2B5EF4-FFF2-40B4-BE49-F238E27FC236}">
                <a16:creationId xmlns:a16="http://schemas.microsoft.com/office/drawing/2014/main" id="{F04F1217-85B0-827B-91BF-9E7E07D8FA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60AC2828-7F7A-47B9-8412-A459A0EEC16C}" type="slidenum">
              <a:rPr lang="en-AU" altLang="en-US" sz="1300">
                <a:latin typeface="Calibri" panose="020F0502020204030204" pitchFamily="34" charset="0"/>
              </a:rPr>
              <a:pPr eaLnBrk="1" hangingPunct="1"/>
              <a:t>8</a:t>
            </a:fld>
            <a:endParaRPr lang="en-AU" altLang="en-US" sz="130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7BB74875-04E3-6D99-D430-0ACEB86DA78F}"/>
              </a:ext>
            </a:extLst>
          </p:cNvPr>
          <p:cNvSpPr>
            <a:spLocks noGrp="1" noRot="1" noChangeAspect="1"/>
          </p:cNvSpPr>
          <p:nvPr>
            <p:ph type="sldImg"/>
          </p:nvPr>
        </p:nvSpPr>
        <p:spPr>
          <a:ln/>
        </p:spPr>
      </p:sp>
      <p:sp>
        <p:nvSpPr>
          <p:cNvPr id="3" name="Notes Placeholder 2">
            <a:extLst>
              <a:ext uri="{FF2B5EF4-FFF2-40B4-BE49-F238E27FC236}">
                <a16:creationId xmlns:a16="http://schemas.microsoft.com/office/drawing/2014/main" id="{AA75EC5A-3E8C-0E5D-BB44-EE171D402A8E}"/>
              </a:ext>
            </a:extLst>
          </p:cNvPr>
          <p:cNvSpPr>
            <a:spLocks noGrp="1"/>
          </p:cNvSpPr>
          <p:nvPr>
            <p:ph type="body" idx="1"/>
          </p:nvPr>
        </p:nvSpPr>
        <p:spPr/>
        <p:txBody>
          <a:bodyPr>
            <a:normAutofit/>
          </a:bodyPr>
          <a:lstStyle/>
          <a:p>
            <a:pPr eaLnBrk="1" hangingPunct="1">
              <a:lnSpc>
                <a:spcPct val="90000"/>
              </a:lnSpc>
            </a:pPr>
            <a:r>
              <a:rPr lang="en-US" altLang="en-US" dirty="0">
                <a:latin typeface="Calibri" panose="020F0502020204030204" pitchFamily="34" charset="0"/>
              </a:rPr>
              <a:t>(c) Shows the use of a hash function but no encryption for message authentication. The technique assumes that the two communicating parties share a common secret value S. A computes the hash value over the concatenation of M and S and appends the resulting hash value to M. Because B possesses S, it can recompute the hash value to verify. Because the secret value itself is not sent, an opponent cannot modify an intercepted message and cannot generate a false message. </a:t>
            </a:r>
          </a:p>
          <a:p>
            <a:pPr eaLnBrk="1" hangingPunct="1">
              <a:lnSpc>
                <a:spcPct val="90000"/>
              </a:lnSpc>
            </a:pPr>
            <a:endParaRPr lang="en-US" altLang="en-US" dirty="0">
              <a:latin typeface="Calibri" panose="020F0502020204030204" pitchFamily="34" charset="0"/>
            </a:endParaRPr>
          </a:p>
          <a:p>
            <a:pPr eaLnBrk="1" hangingPunct="1">
              <a:lnSpc>
                <a:spcPct val="90000"/>
              </a:lnSpc>
            </a:pPr>
            <a:r>
              <a:rPr lang="en-US" altLang="en-US" dirty="0">
                <a:latin typeface="Calibri" panose="020F0502020204030204" pitchFamily="34" charset="0"/>
              </a:rPr>
              <a:t>(d)  Confidentiality can be added to the approach of (c) by encrypting the entire message plus the hash code. </a:t>
            </a:r>
          </a:p>
          <a:p>
            <a:pPr eaLnBrk="1" hangingPunct="1">
              <a:lnSpc>
                <a:spcPct val="90000"/>
              </a:lnSpc>
            </a:pPr>
            <a:r>
              <a:rPr lang="en-US" altLang="en-US" dirty="0">
                <a:latin typeface="Calibri" panose="020F0502020204030204" pitchFamily="34" charset="0"/>
              </a:rPr>
              <a:t>When confidentiality is not required, method (b) has an advantage over methods (a) and (d), which encrypts the entire message, in that less computation is required.</a:t>
            </a:r>
          </a:p>
        </p:txBody>
      </p:sp>
      <p:sp>
        <p:nvSpPr>
          <p:cNvPr id="34819" name="Slide Number Placeholder 3">
            <a:extLst>
              <a:ext uri="{FF2B5EF4-FFF2-40B4-BE49-F238E27FC236}">
                <a16:creationId xmlns:a16="http://schemas.microsoft.com/office/drawing/2014/main" id="{2B791F6E-E3B1-07BE-EBAC-4EFC4A9260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C7186CAB-A1FB-4EA4-92D2-4AAFD35E0977}" type="slidenum">
              <a:rPr lang="en-AU" altLang="en-US" sz="1300">
                <a:latin typeface="Calibri" panose="020F0502020204030204" pitchFamily="34" charset="0"/>
              </a:rPr>
              <a:pPr eaLnBrk="1" hangingPunct="1"/>
              <a:t>9</a:t>
            </a:fld>
            <a:endParaRPr lang="en-AU" altLang="en-US" sz="1300">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10</a:t>
            </a:fld>
            <a:endParaRPr lang="en-AU" altLang="en-US"/>
          </a:p>
        </p:txBody>
      </p:sp>
    </p:spTree>
    <p:extLst>
      <p:ext uri="{BB962C8B-B14F-4D97-AF65-F5344CB8AC3E}">
        <p14:creationId xmlns:p14="http://schemas.microsoft.com/office/powerpoint/2010/main" val="3820299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18EF0B66-CD5A-B9F9-553C-29B19A7370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ADF12C6F-5A9A-45A4-B5C7-83AD9BA77D9E}" type="slidenum">
              <a:rPr lang="en-US" altLang="en-US" sz="1300">
                <a:latin typeface="Calibri" panose="020F0502020204030204" pitchFamily="34" charset="0"/>
              </a:rPr>
              <a:pPr eaLnBrk="1" hangingPunct="1"/>
              <a:t>11</a:t>
            </a:fld>
            <a:endParaRPr lang="en-US" altLang="en-US" sz="1300">
              <a:latin typeface="Calibri" panose="020F0502020204030204" pitchFamily="34" charset="0"/>
            </a:endParaRPr>
          </a:p>
        </p:txBody>
      </p:sp>
      <p:sp>
        <p:nvSpPr>
          <p:cNvPr id="39938" name="Rectangle 2">
            <a:extLst>
              <a:ext uri="{FF2B5EF4-FFF2-40B4-BE49-F238E27FC236}">
                <a16:creationId xmlns:a16="http://schemas.microsoft.com/office/drawing/2014/main" id="{3F0AD673-EF76-CA83-B064-D032A008DEDA}"/>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E5FDCA31-7E1E-FE07-94BA-BB91E79D2A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rPr>
              <a:t>The first properties are requirements for the practical application of a hash function. The second property, preimage (for a hash value </a:t>
            </a:r>
            <a:r>
              <a:rPr lang="en-US" altLang="en-US" i="1">
                <a:latin typeface="Calibri" panose="020F0502020204030204" pitchFamily="34" charset="0"/>
              </a:rPr>
              <a:t>h = H(x), </a:t>
            </a:r>
            <a:r>
              <a:rPr lang="en-US" altLang="en-US">
                <a:latin typeface="Calibri" panose="020F0502020204030204" pitchFamily="34" charset="0"/>
              </a:rPr>
              <a:t>we say that x is the </a:t>
            </a:r>
            <a:r>
              <a:rPr lang="en-US" altLang="en-US" b="1">
                <a:latin typeface="Calibri" panose="020F0502020204030204" pitchFamily="34" charset="0"/>
              </a:rPr>
              <a:t>preimage </a:t>
            </a:r>
            <a:r>
              <a:rPr lang="en-US" altLang="en-US">
                <a:latin typeface="Calibri" panose="020F0502020204030204" pitchFamily="34" charset="0"/>
              </a:rPr>
              <a:t>of</a:t>
            </a:r>
            <a:r>
              <a:rPr lang="en-US" altLang="en-US" b="1">
                <a:latin typeface="Calibri" panose="020F0502020204030204" pitchFamily="34" charset="0"/>
              </a:rPr>
              <a:t> </a:t>
            </a:r>
            <a:r>
              <a:rPr lang="en-US" altLang="en-US" b="1" i="1">
                <a:latin typeface="Calibri" panose="020F0502020204030204" pitchFamily="34" charset="0"/>
              </a:rPr>
              <a:t>h</a:t>
            </a:r>
            <a:r>
              <a:rPr lang="en-US" altLang="en-US">
                <a:latin typeface="Calibri" panose="020F0502020204030204" pitchFamily="34" charset="0"/>
              </a:rPr>
              <a:t>) resistant, is the one-way property: it is easy to generate a code given a message, but virtually impossible to generate a message given a code. This property is important if the authentication technique involves the use of a secret value The fthird property, second preimage resistant, guarantees that it is impossible to find an alternative message with the same hash value as a given message. This prevents forgery when an encrypted hash code is used. If the fouth property, collision resistant, is also satisfied, then it is referred to as a strong hash function. A strong hash function protects against an attack in which one party generates a message for another party to sign. The final requirement, </a:t>
            </a:r>
            <a:r>
              <a:rPr lang="en-US" altLang="en-US" b="1">
                <a:latin typeface="Calibri" panose="020F0502020204030204" pitchFamily="34" charset="0"/>
              </a:rPr>
              <a:t>pseudorandomness</a:t>
            </a:r>
            <a:r>
              <a:rPr lang="en-US" altLang="en-US">
                <a:latin typeface="Calibri" panose="020F0502020204030204" pitchFamily="34" charset="0"/>
              </a:rPr>
              <a:t>, has not traditionally been listed as a requirement of cryptographic hash functions, but is more or less implied.</a:t>
            </a:r>
            <a:endParaRPr lang="en-AU" altLang="en-US">
              <a:latin typeface="Calibri" panose="020F0502020204030204" pitchFamily="34" charset="0"/>
            </a:endParaRPr>
          </a:p>
          <a:p>
            <a:endParaRPr lang="en-US" altLang="en-US">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12</a:t>
            </a:fld>
            <a:endParaRPr lang="en-AU" altLang="en-US"/>
          </a:p>
        </p:txBody>
      </p:sp>
    </p:spTree>
    <p:extLst>
      <p:ext uri="{BB962C8B-B14F-4D97-AF65-F5344CB8AC3E}">
        <p14:creationId xmlns:p14="http://schemas.microsoft.com/office/powerpoint/2010/main" val="4099187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AA7515F0-DCC0-737A-F5E9-B0ABEE3452BD}"/>
              </a:ext>
            </a:extLst>
          </p:cNvPr>
          <p:cNvSpPr>
            <a:spLocks noGrp="1" noRot="1" noChangeAspect="1"/>
          </p:cNvSpPr>
          <p:nvPr>
            <p:ph type="sldImg"/>
          </p:nvPr>
        </p:nvSpPr>
        <p:spPr>
          <a:ln/>
        </p:spPr>
      </p:sp>
      <p:sp>
        <p:nvSpPr>
          <p:cNvPr id="43010" name="Notes Placeholder 2">
            <a:extLst>
              <a:ext uri="{FF2B5EF4-FFF2-40B4-BE49-F238E27FC236}">
                <a16:creationId xmlns:a16="http://schemas.microsoft.com/office/drawing/2014/main" id="{54E78219-9C46-4B2E-50E2-1133C10B52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E8EAED"/>
                </a:solidFill>
                <a:effectLst/>
                <a:latin typeface="Google Sans"/>
              </a:rPr>
              <a:t>The Digest/Hash function </a:t>
            </a:r>
            <a:r>
              <a:rPr lang="en-US" b="0" i="0" dirty="0">
                <a:solidFill>
                  <a:srgbClr val="E2EEFF"/>
                </a:solidFill>
                <a:effectLst/>
                <a:latin typeface="Google Sans"/>
              </a:rPr>
              <a:t>produces a digital summary of information called a message digest</a:t>
            </a:r>
            <a:r>
              <a:rPr lang="en-US" b="0" i="0" dirty="0">
                <a:solidFill>
                  <a:srgbClr val="E8EAED"/>
                </a:solidFill>
                <a:effectLst/>
                <a:latin typeface="Google Sans"/>
              </a:rPr>
              <a:t>. Message digests provide a digital identifier for a digital document. </a:t>
            </a:r>
            <a:r>
              <a:rPr lang="en-US" b="0" i="0">
                <a:solidFill>
                  <a:srgbClr val="E8EAED"/>
                </a:solidFill>
                <a:effectLst/>
                <a:latin typeface="Google Sans"/>
              </a:rPr>
              <a:t>The message digest produced by the Digest/Hash function is Base64 encoded.</a:t>
            </a:r>
          </a:p>
          <a:p>
            <a:endParaRPr lang="en-US" altLang="en-US" dirty="0">
              <a:latin typeface="Calibri" panose="020F0502020204030204" pitchFamily="34" charset="0"/>
            </a:endParaRPr>
          </a:p>
          <a:p>
            <a:r>
              <a:rPr lang="en-US" altLang="en-US" dirty="0">
                <a:latin typeface="Calibri" panose="020F0502020204030204" pitchFamily="34" charset="0"/>
              </a:rPr>
              <a:t>Exploiting weak preimage resistance: If we are able to "work backwards" from a hash and create some text that produces the same hash, we can use this to beat hashed passwords. We won't ever know the actual input data that was used, but that doesn't </a:t>
            </a:r>
            <a:r>
              <a:rPr lang="en-US" altLang="en-US" dirty="0" err="1">
                <a:latin typeface="Calibri" panose="020F0502020204030204" pitchFamily="34" charset="0"/>
              </a:rPr>
              <a:t>matter.Looking</a:t>
            </a:r>
            <a:r>
              <a:rPr lang="en-US" altLang="en-US" dirty="0">
                <a:latin typeface="Calibri" panose="020F0502020204030204" pitchFamily="34" charset="0"/>
              </a:rPr>
              <a:t> at the flow for validating against hashed passwords, all that matters is that the hashes match, not the passwords, so if we can </a:t>
            </a:r>
            <a:r>
              <a:rPr lang="en-US" altLang="en-US" dirty="0" err="1">
                <a:latin typeface="Calibri" panose="020F0502020204030204" pitchFamily="34" charset="0"/>
              </a:rPr>
              <a:t>find</a:t>
            </a:r>
            <a:r>
              <a:rPr lang="en-US" altLang="en-US" i="1" dirty="0" err="1">
                <a:latin typeface="Calibri" panose="020F0502020204030204" pitchFamily="34" charset="0"/>
              </a:rPr>
              <a:t>any</a:t>
            </a:r>
            <a:r>
              <a:rPr lang="en-US" altLang="en-US" i="1" dirty="0">
                <a:latin typeface="Calibri" panose="020F0502020204030204" pitchFamily="34" charset="0"/>
              </a:rPr>
              <a:t> other text that produces the stored hash, we'll be granted access. "Collisions" mean "more than one password will be accepted".</a:t>
            </a:r>
            <a:endParaRPr lang="en-US" altLang="en-US" dirty="0">
              <a:latin typeface="Calibri" panose="020F0502020204030204" pitchFamily="34" charset="0"/>
            </a:endParaRPr>
          </a:p>
        </p:txBody>
      </p:sp>
      <p:sp>
        <p:nvSpPr>
          <p:cNvPr id="43011" name="Slide Number Placeholder 3">
            <a:extLst>
              <a:ext uri="{FF2B5EF4-FFF2-40B4-BE49-F238E27FC236}">
                <a16:creationId xmlns:a16="http://schemas.microsoft.com/office/drawing/2014/main" id="{4F5A6FA8-322F-C5CE-322C-759472DCC0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FDC963EE-F70C-4320-A705-A9BBC36FEBA0}" type="slidenum">
              <a:rPr lang="en-AU" altLang="en-US" sz="1300">
                <a:latin typeface="Calibri" panose="020F0502020204030204" pitchFamily="34" charset="0"/>
              </a:rPr>
              <a:pPr eaLnBrk="1" hangingPunct="1"/>
              <a:t>13</a:t>
            </a:fld>
            <a:endParaRPr lang="en-AU" altLang="en-US" sz="1300">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FFB93E1E-6567-584F-D073-429EA315C06E}"/>
              </a:ext>
            </a:extLst>
          </p:cNvPr>
          <p:cNvSpPr>
            <a:spLocks noGrp="1" noRot="1" noChangeAspect="1"/>
          </p:cNvSpPr>
          <p:nvPr>
            <p:ph type="sldImg"/>
          </p:nvPr>
        </p:nvSpPr>
        <p:spPr>
          <a:ln/>
        </p:spPr>
      </p:sp>
      <p:sp>
        <p:nvSpPr>
          <p:cNvPr id="45058" name="Notes Placeholder 2">
            <a:extLst>
              <a:ext uri="{FF2B5EF4-FFF2-40B4-BE49-F238E27FC236}">
                <a16:creationId xmlns:a16="http://schemas.microsoft.com/office/drawing/2014/main" id="{13A087E7-E35E-54FF-3C59-918685B6C7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rPr>
              <a:t>This seems like a somewhat easier case of the previous item: the goal is to produce a new input that generates the given hash, but this time we know the original text that created it. </a:t>
            </a:r>
            <a:r>
              <a:rPr lang="en-US" altLang="en-US" b="1">
                <a:latin typeface="Calibri" panose="020F0502020204030204" pitchFamily="34" charset="0"/>
              </a:rPr>
              <a:t>Exploiting second weak preimage resistance: As with preimage resistance, we want to fool somebody into authenticating </a:t>
            </a:r>
            <a:r>
              <a:rPr lang="en-US" altLang="en-US" b="1" i="1">
                <a:latin typeface="Calibri" panose="020F0502020204030204" pitchFamily="34" charset="0"/>
              </a:rPr>
              <a:t>our data as genuine, and we'd most likely use this when trying to introduce a corrupted software distribution.We saw that many other organizations publishes software and matching md5 checksums, and if we are able to maliciously modify the source code but nevertheless keep the same checksum, downloaders around the globe will accept  badware as genuine.</a:t>
            </a:r>
            <a:endParaRPr lang="en-US" altLang="en-US">
              <a:latin typeface="Calibri" panose="020F0502020204030204" pitchFamily="34" charset="0"/>
            </a:endParaRPr>
          </a:p>
        </p:txBody>
      </p:sp>
      <p:sp>
        <p:nvSpPr>
          <p:cNvPr id="45059" name="Slide Number Placeholder 3">
            <a:extLst>
              <a:ext uri="{FF2B5EF4-FFF2-40B4-BE49-F238E27FC236}">
                <a16:creationId xmlns:a16="http://schemas.microsoft.com/office/drawing/2014/main" id="{AD9E991E-CC3B-058F-DB4B-CB02E94C3E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8391D628-CB29-473A-A4D1-7BB34EDB5946}" type="slidenum">
              <a:rPr lang="en-AU" altLang="en-US" sz="1300">
                <a:latin typeface="Calibri" panose="020F0502020204030204" pitchFamily="34" charset="0"/>
              </a:rPr>
              <a:pPr eaLnBrk="1" hangingPunct="1"/>
              <a:t>14</a:t>
            </a:fld>
            <a:endParaRPr lang="en-AU" altLang="en-US" sz="1300">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15</a:t>
            </a:fld>
            <a:endParaRPr lang="en-AU" altLang="en-US"/>
          </a:p>
        </p:txBody>
      </p:sp>
    </p:spTree>
    <p:extLst>
      <p:ext uri="{BB962C8B-B14F-4D97-AF65-F5344CB8AC3E}">
        <p14:creationId xmlns:p14="http://schemas.microsoft.com/office/powerpoint/2010/main" val="2897310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16</a:t>
            </a:fld>
            <a:endParaRPr lang="en-AU" altLang="en-US"/>
          </a:p>
        </p:txBody>
      </p:sp>
    </p:spTree>
    <p:extLst>
      <p:ext uri="{BB962C8B-B14F-4D97-AF65-F5344CB8AC3E}">
        <p14:creationId xmlns:p14="http://schemas.microsoft.com/office/powerpoint/2010/main" val="3932315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17</a:t>
            </a:fld>
            <a:endParaRPr lang="en-AU" altLang="en-US"/>
          </a:p>
        </p:txBody>
      </p:sp>
    </p:spTree>
    <p:extLst>
      <p:ext uri="{BB962C8B-B14F-4D97-AF65-F5344CB8AC3E}">
        <p14:creationId xmlns:p14="http://schemas.microsoft.com/office/powerpoint/2010/main" val="1162750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0A011366-E249-D355-9A1E-4E4EE8B003DB}"/>
              </a:ext>
            </a:extLst>
          </p:cNvPr>
          <p:cNvSpPr>
            <a:spLocks noGrp="1" noRot="1" noChangeAspect="1"/>
          </p:cNvSpPr>
          <p:nvPr>
            <p:ph type="sldImg"/>
          </p:nvPr>
        </p:nvSpPr>
        <p:spPr>
          <a:ln/>
        </p:spPr>
      </p:sp>
      <p:sp>
        <p:nvSpPr>
          <p:cNvPr id="50178" name="Notes Placeholder 2">
            <a:extLst>
              <a:ext uri="{FF2B5EF4-FFF2-40B4-BE49-F238E27FC236}">
                <a16:creationId xmlns:a16="http://schemas.microsoft.com/office/drawing/2014/main" id="{981058A0-5B3B-0765-CED1-F77FAB514B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dirty="0" err="1">
                <a:latin typeface="Embedded-Garamond" charset="0"/>
              </a:rPr>
              <a:t>Damgard</a:t>
            </a:r>
            <a:r>
              <a:rPr lang="en-US" altLang="en-US" dirty="0">
                <a:latin typeface="Embedded-Garamond" charset="0"/>
              </a:rPr>
              <a:t> and Merkle greatly influenced cryptographic hash function design by defining a hash function in terms of what is called a </a:t>
            </a:r>
            <a:r>
              <a:rPr lang="en-US" altLang="en-US" i="1" dirty="0">
                <a:latin typeface="Embedded-Garamond-Italic" charset="0"/>
              </a:rPr>
              <a:t>compression functio</a:t>
            </a:r>
            <a:r>
              <a:rPr lang="en-US" altLang="en-US" dirty="0">
                <a:latin typeface="Embedded-Garamond" charset="0"/>
              </a:rPr>
              <a:t>n. </a:t>
            </a:r>
          </a:p>
          <a:p>
            <a:pPr>
              <a:lnSpc>
                <a:spcPct val="90000"/>
              </a:lnSpc>
            </a:pPr>
            <a:r>
              <a:rPr lang="en-US" altLang="en-US" dirty="0">
                <a:latin typeface="Embedded-Garamond" charset="0"/>
              </a:rPr>
              <a:t>A compression function takes a fixed-length input and returns a shorter, fixed-length output. </a:t>
            </a:r>
          </a:p>
          <a:p>
            <a:pPr>
              <a:lnSpc>
                <a:spcPct val="90000"/>
              </a:lnSpc>
            </a:pPr>
            <a:r>
              <a:rPr lang="en-US" altLang="en-US" dirty="0">
                <a:latin typeface="Embedded-Garamond" charset="0"/>
              </a:rPr>
              <a:t>Given a compression function, a hash function can be defined by repeated applications of the compression function until the entire message has been processed. </a:t>
            </a:r>
          </a:p>
          <a:p>
            <a:pPr>
              <a:lnSpc>
                <a:spcPct val="90000"/>
              </a:lnSpc>
            </a:pPr>
            <a:endParaRPr lang="en-US" altLang="en-US" dirty="0">
              <a:latin typeface="Embedded-Garamond" charset="0"/>
            </a:endParaRPr>
          </a:p>
          <a:p>
            <a:r>
              <a:rPr lang="en-US" altLang="en-US" dirty="0">
                <a:latin typeface="Calibri" panose="020F0502020204030204" pitchFamily="34" charset="0"/>
              </a:rPr>
              <a:t>Take a long message, break it into blocks</a:t>
            </a:r>
          </a:p>
          <a:p>
            <a:pPr lvl="1"/>
            <a:r>
              <a:rPr lang="en-US" altLang="en-US" dirty="0">
                <a:latin typeface="Calibri" panose="020F0502020204030204" pitchFamily="34" charset="0"/>
              </a:rPr>
              <a:t>M</a:t>
            </a:r>
            <a:r>
              <a:rPr lang="en-US" altLang="en-US" baseline="-25000" dirty="0">
                <a:latin typeface="Calibri" panose="020F0502020204030204" pitchFamily="34" charset="0"/>
              </a:rPr>
              <a:t>1</a:t>
            </a:r>
            <a:r>
              <a:rPr lang="en-US" altLang="en-US" dirty="0">
                <a:latin typeface="Calibri" panose="020F0502020204030204" pitchFamily="34" charset="0"/>
              </a:rPr>
              <a:t>, M</a:t>
            </a:r>
            <a:r>
              <a:rPr lang="en-US" altLang="en-US" baseline="-25000" dirty="0">
                <a:latin typeface="Calibri" panose="020F0502020204030204" pitchFamily="34" charset="0"/>
              </a:rPr>
              <a:t>2</a:t>
            </a:r>
            <a:r>
              <a:rPr lang="en-US" altLang="en-US" dirty="0">
                <a:latin typeface="Calibri" panose="020F0502020204030204" pitchFamily="34" charset="0"/>
              </a:rPr>
              <a:t>, M</a:t>
            </a:r>
            <a:r>
              <a:rPr lang="en-US" altLang="en-US" baseline="-25000" dirty="0">
                <a:latin typeface="Calibri" panose="020F0502020204030204" pitchFamily="34" charset="0"/>
              </a:rPr>
              <a:t>3</a:t>
            </a:r>
            <a:r>
              <a:rPr lang="en-US" altLang="en-US" dirty="0">
                <a:latin typeface="Calibri" panose="020F0502020204030204" pitchFamily="34" charset="0"/>
              </a:rPr>
              <a:t>…M</a:t>
            </a:r>
            <a:r>
              <a:rPr lang="en-US" altLang="en-US" baseline="-25000" dirty="0">
                <a:latin typeface="Calibri" panose="020F0502020204030204" pitchFamily="34" charset="0"/>
              </a:rPr>
              <a:t>k </a:t>
            </a:r>
            <a:r>
              <a:rPr lang="en-US" altLang="en-US" dirty="0">
                <a:latin typeface="Calibri" panose="020F0502020204030204" pitchFamily="34" charset="0"/>
              </a:rPr>
              <a:t>(pad out last block)</a:t>
            </a:r>
          </a:p>
          <a:p>
            <a:r>
              <a:rPr lang="en-US" altLang="en-US" dirty="0">
                <a:latin typeface="Calibri" panose="020F0502020204030204" pitchFamily="34" charset="0"/>
              </a:rPr>
              <a:t>Let </a:t>
            </a:r>
            <a:r>
              <a:rPr lang="en-US" altLang="en-US" i="1" dirty="0">
                <a:latin typeface="Calibri" panose="020F0502020204030204" pitchFamily="34" charset="0"/>
              </a:rPr>
              <a:t>f</a:t>
            </a:r>
            <a:r>
              <a:rPr lang="en-US" altLang="en-US" dirty="0">
                <a:latin typeface="Calibri" panose="020F0502020204030204" pitchFamily="34" charset="0"/>
              </a:rPr>
              <a:t> be a “compression function” that operates on a block and the current </a:t>
            </a:r>
            <a:r>
              <a:rPr lang="en-US" altLang="en-US" i="1" dirty="0">
                <a:latin typeface="Calibri" panose="020F0502020204030204" pitchFamily="34" charset="0"/>
              </a:rPr>
              <a:t>h</a:t>
            </a:r>
            <a:r>
              <a:rPr lang="en-US" altLang="en-US" dirty="0">
                <a:latin typeface="Calibri" panose="020F0502020204030204" pitchFamily="34" charset="0"/>
              </a:rPr>
              <a:t>-bit state and “mixes” the block into the state. </a:t>
            </a:r>
          </a:p>
          <a:p>
            <a:r>
              <a:rPr lang="en-US" altLang="en-US" dirty="0">
                <a:latin typeface="Calibri" panose="020F0502020204030204" pitchFamily="34" charset="0"/>
              </a:rPr>
              <a:t>Last output of compression function is the </a:t>
            </a:r>
            <a:r>
              <a:rPr lang="en-US" altLang="en-US" i="1" dirty="0">
                <a:latin typeface="Calibri" panose="020F0502020204030204" pitchFamily="34" charset="0"/>
              </a:rPr>
              <a:t>h</a:t>
            </a:r>
            <a:r>
              <a:rPr lang="en-US" altLang="en-US" dirty="0">
                <a:latin typeface="Calibri" panose="020F0502020204030204" pitchFamily="34" charset="0"/>
              </a:rPr>
              <a:t>-bit message digest.</a:t>
            </a:r>
          </a:p>
          <a:p>
            <a:pPr>
              <a:lnSpc>
                <a:spcPct val="90000"/>
              </a:lnSpc>
            </a:pPr>
            <a:endParaRPr lang="en-US" altLang="en-US" dirty="0">
              <a:latin typeface="Embedded-Garamond" charset="0"/>
            </a:endParaRPr>
          </a:p>
          <a:p>
            <a:endParaRPr lang="en-US" altLang="en-US" dirty="0">
              <a:latin typeface="Calibri" panose="020F0502020204030204" pitchFamily="34" charset="0"/>
            </a:endParaRPr>
          </a:p>
        </p:txBody>
      </p:sp>
      <p:sp>
        <p:nvSpPr>
          <p:cNvPr id="50179" name="Slide Number Placeholder 3">
            <a:extLst>
              <a:ext uri="{FF2B5EF4-FFF2-40B4-BE49-F238E27FC236}">
                <a16:creationId xmlns:a16="http://schemas.microsoft.com/office/drawing/2014/main" id="{23066275-775F-CD75-89D7-16BC30C807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81698FB2-D12A-4380-9DD1-358E38C1246E}" type="slidenum">
              <a:rPr lang="en-AU" altLang="en-US" sz="1300">
                <a:latin typeface="Calibri" panose="020F0502020204030204" pitchFamily="34" charset="0"/>
              </a:rPr>
              <a:pPr eaLnBrk="1" hangingPunct="1"/>
              <a:t>18</a:t>
            </a:fld>
            <a:endParaRPr lang="en-AU" altLang="en-US" sz="1300">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19</a:t>
            </a:fld>
            <a:endParaRPr lang="en-AU" altLang="en-US"/>
          </a:p>
        </p:txBody>
      </p:sp>
    </p:spTree>
    <p:extLst>
      <p:ext uri="{BB962C8B-B14F-4D97-AF65-F5344CB8AC3E}">
        <p14:creationId xmlns:p14="http://schemas.microsoft.com/office/powerpoint/2010/main" val="4248183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20</a:t>
            </a:fld>
            <a:endParaRPr lang="en-AU" altLang="en-US"/>
          </a:p>
        </p:txBody>
      </p:sp>
    </p:spTree>
    <p:extLst>
      <p:ext uri="{BB962C8B-B14F-4D97-AF65-F5344CB8AC3E}">
        <p14:creationId xmlns:p14="http://schemas.microsoft.com/office/powerpoint/2010/main" val="240049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21</a:t>
            </a:fld>
            <a:endParaRPr lang="en-AU" altLang="en-US"/>
          </a:p>
        </p:txBody>
      </p:sp>
    </p:spTree>
    <p:extLst>
      <p:ext uri="{BB962C8B-B14F-4D97-AF65-F5344CB8AC3E}">
        <p14:creationId xmlns:p14="http://schemas.microsoft.com/office/powerpoint/2010/main" val="1964473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22</a:t>
            </a:fld>
            <a:endParaRPr lang="en-AU" altLang="en-US"/>
          </a:p>
        </p:txBody>
      </p:sp>
    </p:spTree>
    <p:extLst>
      <p:ext uri="{BB962C8B-B14F-4D97-AF65-F5344CB8AC3E}">
        <p14:creationId xmlns:p14="http://schemas.microsoft.com/office/powerpoint/2010/main" val="3738568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031">
            <a:extLst>
              <a:ext uri="{FF2B5EF4-FFF2-40B4-BE49-F238E27FC236}">
                <a16:creationId xmlns:a16="http://schemas.microsoft.com/office/drawing/2014/main" id="{029E5751-89EC-1649-CF90-CB94197CC8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BF67EAE8-B61A-4152-924B-A4F34D7C28CF}" type="slidenum">
              <a:rPr lang="en-AU" altLang="en-US" sz="1300">
                <a:latin typeface="Calibri" panose="020F0502020204030204" pitchFamily="34" charset="0"/>
              </a:rPr>
              <a:pPr eaLnBrk="1" hangingPunct="1"/>
              <a:t>23</a:t>
            </a:fld>
            <a:endParaRPr lang="en-AU" altLang="en-US" sz="1300">
              <a:latin typeface="Calibri" panose="020F0502020204030204" pitchFamily="34" charset="0"/>
            </a:endParaRPr>
          </a:p>
        </p:txBody>
      </p:sp>
      <p:sp>
        <p:nvSpPr>
          <p:cNvPr id="65538" name="Rectangle 2">
            <a:extLst>
              <a:ext uri="{FF2B5EF4-FFF2-40B4-BE49-F238E27FC236}">
                <a16:creationId xmlns:a16="http://schemas.microsoft.com/office/drawing/2014/main" id="{C2E55869-E7CD-85D0-BB46-623D54650B3D}"/>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2C902985-8EC9-8E00-C807-B4FDA7C1CD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In recent years, the most widely used hash function has been the Secure Hash Algorithm (SHA). The Secure Hash Algorithm (SHA) was developed by the National Institute of Standards and Technology (NIST) and published as a federal information processing standard (FIPS 180) in 1993; a revised version was issued as FIPS 180-1 in 1995 and is generally referred to as SHA-1. The actual standards document is entitled Secure Hash Standard. SHA is based on the hash function MD4 and its design closely models MD4. SHA-1 produces a hash value of 160 bits. In 2005, a research team described an attack in which two separate messages could be found that deliver the same SHA-1 hash using 2^69 operations, far fewer than the 2^80 operations previously thought needed to find a collision with an SHA-1 hash [WANG05]. This result has hastened the transition to newer, longer versions of SHA.</a:t>
            </a:r>
            <a:endParaRPr lang="en-AU" altLang="en-US">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031">
            <a:extLst>
              <a:ext uri="{FF2B5EF4-FFF2-40B4-BE49-F238E27FC236}">
                <a16:creationId xmlns:a16="http://schemas.microsoft.com/office/drawing/2014/main" id="{51501C5E-0373-3804-006B-24F5217880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C111CE3D-74C2-4453-9061-A03D9879D449}" type="slidenum">
              <a:rPr lang="en-AU" altLang="en-US" sz="1300">
                <a:latin typeface="Calibri" panose="020F0502020204030204" pitchFamily="34" charset="0"/>
              </a:rPr>
              <a:pPr eaLnBrk="1" hangingPunct="1"/>
              <a:t>24</a:t>
            </a:fld>
            <a:endParaRPr lang="en-AU" altLang="en-US" sz="1300">
              <a:latin typeface="Calibri" panose="020F0502020204030204" pitchFamily="34" charset="0"/>
            </a:endParaRPr>
          </a:p>
        </p:txBody>
      </p:sp>
      <p:sp>
        <p:nvSpPr>
          <p:cNvPr id="67586" name="Rectangle 2">
            <a:extLst>
              <a:ext uri="{FF2B5EF4-FFF2-40B4-BE49-F238E27FC236}">
                <a16:creationId xmlns:a16="http://schemas.microsoft.com/office/drawing/2014/main" id="{C95FEF3A-E385-3DD3-1509-50032C4AE21F}"/>
              </a:ext>
            </a:extLst>
          </p:cNvPr>
          <p:cNvSpPr>
            <a:spLocks noGrp="1" noRot="1" noChangeAspect="1" noChangeArrowheads="1" noTextEdit="1"/>
          </p:cNvSpPr>
          <p:nvPr>
            <p:ph type="sldImg"/>
          </p:nvPr>
        </p:nvSpPr>
        <p:spPr>
          <a:solidFill>
            <a:srgbClr val="FFFFFF"/>
          </a:solidFill>
          <a:ln/>
        </p:spPr>
      </p:sp>
      <p:sp>
        <p:nvSpPr>
          <p:cNvPr id="67587" name="Rectangle 3">
            <a:extLst>
              <a:ext uri="{FF2B5EF4-FFF2-40B4-BE49-F238E27FC236}">
                <a16:creationId xmlns:a16="http://schemas.microsoft.com/office/drawing/2014/main" id="{CC1E25F1-F17D-9977-D62E-42D94A9035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In 2002, NIST produced a revised version of the standard, FIPS 180-2, that defined three new versions of SHA, with hash value lengths of 256, 384, and 512 bits, known as SHA-256, SHA-384, and SHA-512. Collectively,  these hash algorithms are known as SHA-2. These new versions have the same underlying structure and use the same types of modular arithmetic and logical binary operations as SHA-1, hence analyses should be similar. A revised document was issued as FIP PUB 180-3 in 2008, which added a 224-bit version. SHA-2 is also specified in RFC 4634, which essentially duplicates the material in FIPS 180-3, but adds a C code implementation. </a:t>
            </a:r>
          </a:p>
          <a:p>
            <a:pPr eaLnBrk="1" hangingPunct="1"/>
            <a:r>
              <a:rPr lang="en-US" altLang="en-US">
                <a:latin typeface="Calibri" panose="020F0502020204030204" pitchFamily="34" charset="0"/>
              </a:rPr>
              <a:t>In 2005, NIST announced the intention to phase out approval of SHA-1 and move to a reliance on the other SHA versions by 2010. </a:t>
            </a:r>
            <a:endParaRPr lang="en-AU" altLang="en-US">
              <a:latin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26857087-8A36-A9CC-853B-0F8929B35D47}"/>
              </a:ext>
            </a:extLst>
          </p:cNvPr>
          <p:cNvSpPr>
            <a:spLocks noGrp="1" noRot="1" noChangeAspect="1"/>
          </p:cNvSpPr>
          <p:nvPr>
            <p:ph type="sldImg"/>
          </p:nvPr>
        </p:nvSpPr>
        <p:spPr>
          <a:ln/>
        </p:spPr>
      </p:sp>
      <p:sp>
        <p:nvSpPr>
          <p:cNvPr id="69634" name="Notes Placeholder 2">
            <a:extLst>
              <a:ext uri="{FF2B5EF4-FFF2-40B4-BE49-F238E27FC236}">
                <a16:creationId xmlns:a16="http://schemas.microsoft.com/office/drawing/2014/main" id="{C4A17445-FA08-3A83-4098-316FB86409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rPr>
              <a:t>Stallings Table 11.3 provides a comparison of the various parameters for the SHA hash functions.</a:t>
            </a:r>
          </a:p>
        </p:txBody>
      </p:sp>
      <p:sp>
        <p:nvSpPr>
          <p:cNvPr id="69635" name="Slide Number Placeholder 3">
            <a:extLst>
              <a:ext uri="{FF2B5EF4-FFF2-40B4-BE49-F238E27FC236}">
                <a16:creationId xmlns:a16="http://schemas.microsoft.com/office/drawing/2014/main" id="{22AC28B8-27AC-D43B-E232-5E8A27B03F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80A39457-9A92-467E-A56E-6C5C775E7853}" type="slidenum">
              <a:rPr lang="en-AU" altLang="en-US" sz="1300">
                <a:latin typeface="Calibri" panose="020F0502020204030204" pitchFamily="34" charset="0"/>
              </a:rPr>
              <a:pPr eaLnBrk="1" hangingPunct="1"/>
              <a:t>25</a:t>
            </a:fld>
            <a:endParaRPr lang="en-AU" altLang="en-US" sz="1300">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26</a:t>
            </a:fld>
            <a:endParaRPr lang="en-AU" altLang="en-US"/>
          </a:p>
        </p:txBody>
      </p:sp>
    </p:spTree>
    <p:extLst>
      <p:ext uri="{BB962C8B-B14F-4D97-AF65-F5344CB8AC3E}">
        <p14:creationId xmlns:p14="http://schemas.microsoft.com/office/powerpoint/2010/main" val="1409702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1031">
            <a:extLst>
              <a:ext uri="{FF2B5EF4-FFF2-40B4-BE49-F238E27FC236}">
                <a16:creationId xmlns:a16="http://schemas.microsoft.com/office/drawing/2014/main" id="{44970882-3708-FA0F-3B7E-F7805EEFF4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2137048F-BBB7-474A-AA91-887454212EFF}" type="slidenum">
              <a:rPr lang="en-AU" altLang="en-US" sz="1300">
                <a:latin typeface="Calibri" panose="020F0502020204030204" pitchFamily="34" charset="0"/>
              </a:rPr>
              <a:pPr eaLnBrk="1" hangingPunct="1"/>
              <a:t>27</a:t>
            </a:fld>
            <a:endParaRPr lang="en-AU" altLang="en-US" sz="1300">
              <a:latin typeface="Calibri" panose="020F0502020204030204" pitchFamily="34" charset="0"/>
            </a:endParaRPr>
          </a:p>
        </p:txBody>
      </p:sp>
      <p:sp>
        <p:nvSpPr>
          <p:cNvPr id="72706" name="Rectangle 2">
            <a:extLst>
              <a:ext uri="{FF2B5EF4-FFF2-40B4-BE49-F238E27FC236}">
                <a16:creationId xmlns:a16="http://schemas.microsoft.com/office/drawing/2014/main" id="{E4C44215-3CFC-A3EB-4702-7B3BDB322A35}"/>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7FB66440-1C80-6FC6-AFC8-0A0D257A76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dirty="0">
                <a:latin typeface="Calibri" panose="020F0502020204030204" pitchFamily="34" charset="0"/>
              </a:rPr>
              <a:t>Now examine the structure of </a:t>
            </a:r>
            <a:r>
              <a:rPr lang="en-US" altLang="en-US" dirty="0">
                <a:latin typeface="Calibri" panose="020F0502020204030204" pitchFamily="34" charset="0"/>
              </a:rPr>
              <a:t>SHA-512, noting that the other versions are quite similar.</a:t>
            </a:r>
          </a:p>
          <a:p>
            <a:pPr eaLnBrk="1" hangingPunct="1"/>
            <a:r>
              <a:rPr lang="en-US" altLang="en-US" dirty="0">
                <a:latin typeface="Calibri" panose="020F0502020204030204" pitchFamily="34" charset="0"/>
              </a:rPr>
              <a:t>SHA-512 follows the structure depicted in Stallings Figure 11.8. The processing consists of the following steps: </a:t>
            </a:r>
          </a:p>
          <a:p>
            <a:pPr eaLnBrk="1" hangingPunct="1"/>
            <a:r>
              <a:rPr lang="en-US" altLang="en-US" dirty="0">
                <a:latin typeface="Calibri" panose="020F0502020204030204" pitchFamily="34" charset="0"/>
              </a:rPr>
              <a:t>• Step 1: Append padding bits, consists of a single 1-bit followed by the necessary number of 0-bits, so that its length is congruent to 896 modulo 1024</a:t>
            </a:r>
          </a:p>
          <a:p>
            <a:pPr eaLnBrk="1" hangingPunct="1"/>
            <a:r>
              <a:rPr lang="en-US" altLang="en-US" dirty="0">
                <a:latin typeface="Calibri" panose="020F0502020204030204" pitchFamily="34" charset="0"/>
              </a:rPr>
              <a:t>• Step 2: Append length as an (big-endian) unsigned 128-bit integer</a:t>
            </a:r>
          </a:p>
          <a:p>
            <a:pPr eaLnBrk="1" hangingPunct="1"/>
            <a:r>
              <a:rPr lang="en-US" altLang="en-US" dirty="0">
                <a:latin typeface="Calibri" panose="020F0502020204030204" pitchFamily="34" charset="0"/>
              </a:rPr>
              <a:t>• Step 3: Initialize hash buffer to a set of 64-bit integer constants (see text) </a:t>
            </a:r>
          </a:p>
          <a:p>
            <a:pPr eaLnBrk="1" hangingPunct="1"/>
            <a:r>
              <a:rPr lang="en-US" altLang="en-US" dirty="0">
                <a:latin typeface="Calibri" panose="020F0502020204030204" pitchFamily="34" charset="0"/>
              </a:rPr>
              <a:t>• Step 4: Process the message in 1024-bit (128-word) blocks, which forms the heart of the algorithm. Each round takes as input the 512-bit buffer value H</a:t>
            </a:r>
            <a:r>
              <a:rPr lang="en-US" altLang="en-US" baseline="-25000" dirty="0">
                <a:latin typeface="Calibri" panose="020F0502020204030204" pitchFamily="34" charset="0"/>
              </a:rPr>
              <a:t>i</a:t>
            </a:r>
            <a:r>
              <a:rPr lang="en-US" altLang="en-US" dirty="0">
                <a:latin typeface="Calibri" panose="020F0502020204030204" pitchFamily="34" charset="0"/>
              </a:rPr>
              <a:t>, and updates the contents of that buffer. </a:t>
            </a:r>
          </a:p>
          <a:p>
            <a:pPr eaLnBrk="1" hangingPunct="1"/>
            <a:r>
              <a:rPr lang="en-US" altLang="en-US" dirty="0">
                <a:latin typeface="Calibri" panose="020F0502020204030204" pitchFamily="34" charset="0"/>
              </a:rPr>
              <a:t>• Step 5: Output the final state value as the resulting hash</a:t>
            </a:r>
          </a:p>
          <a:p>
            <a:pPr eaLnBrk="1" hangingPunct="1"/>
            <a:r>
              <a:rPr lang="en-US" altLang="en-US" dirty="0">
                <a:latin typeface="Calibri" panose="020F0502020204030204" pitchFamily="34" charset="0"/>
              </a:rPr>
              <a:t>See text for more details.</a:t>
            </a:r>
            <a:endParaRPr lang="en-AU" altLang="en-US" dirty="0">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28</a:t>
            </a:fld>
            <a:endParaRPr lang="en-AU" altLang="en-US"/>
          </a:p>
        </p:txBody>
      </p:sp>
    </p:spTree>
    <p:extLst>
      <p:ext uri="{BB962C8B-B14F-4D97-AF65-F5344CB8AC3E}">
        <p14:creationId xmlns:p14="http://schemas.microsoft.com/office/powerpoint/2010/main" val="41984056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1031">
            <a:extLst>
              <a:ext uri="{FF2B5EF4-FFF2-40B4-BE49-F238E27FC236}">
                <a16:creationId xmlns:a16="http://schemas.microsoft.com/office/drawing/2014/main" id="{EFF9648D-42A9-3347-F0B7-D0A594C56F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3CC95DA2-D565-45B1-A8EF-2D45095B6CA6}" type="slidenum">
              <a:rPr lang="en-AU" altLang="en-US" sz="1300">
                <a:latin typeface="Calibri" panose="020F0502020204030204" pitchFamily="34" charset="0"/>
              </a:rPr>
              <a:pPr eaLnBrk="1" hangingPunct="1"/>
              <a:t>29</a:t>
            </a:fld>
            <a:endParaRPr lang="en-AU" altLang="en-US" sz="1300">
              <a:latin typeface="Calibri" panose="020F0502020204030204" pitchFamily="34" charset="0"/>
            </a:endParaRPr>
          </a:p>
        </p:txBody>
      </p:sp>
      <p:sp>
        <p:nvSpPr>
          <p:cNvPr id="75778" name="Rectangle 2">
            <a:extLst>
              <a:ext uri="{FF2B5EF4-FFF2-40B4-BE49-F238E27FC236}">
                <a16:creationId xmlns:a16="http://schemas.microsoft.com/office/drawing/2014/main" id="{64353C88-F458-920B-A378-8FF2976F0742}"/>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18065C1D-F6A4-3DEF-CECA-0DB72C9D9C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The structure of each of the 80 rounds is shown in Stallings Figure 11.10. Each 64-bit word is shuffled along one place, and in some cases manipulated using a series of simple logical functions (ANDs, NOTs, ORs, XORs, ROTates), in order to provide the avalanche &amp; completeness properties of the hash function. The elements are:</a:t>
            </a:r>
          </a:p>
          <a:p>
            <a:pPr eaLnBrk="1" hangingPunct="1"/>
            <a:r>
              <a:rPr lang="en-US" altLang="en-US">
                <a:latin typeface="Calibri" panose="020F0502020204030204" pitchFamily="34" charset="0"/>
              </a:rPr>
              <a:t>Ch(e,f,g) = (e AND f) XOR (NOT e AND g)</a:t>
            </a:r>
          </a:p>
          <a:p>
            <a:pPr eaLnBrk="1" hangingPunct="1"/>
            <a:r>
              <a:rPr lang="en-US" altLang="en-US">
                <a:latin typeface="Calibri" panose="020F0502020204030204" pitchFamily="34" charset="0"/>
              </a:rPr>
              <a:t>Maj(a,b,c) = (a AND b) XOR (a AND c) XOR (b AND c)</a:t>
            </a:r>
          </a:p>
          <a:p>
            <a:pPr eaLnBrk="1" hangingPunct="1"/>
            <a:r>
              <a:rPr lang="en-US" altLang="en-US">
                <a:latin typeface="Calibri" panose="020F0502020204030204" pitchFamily="34" charset="0"/>
              </a:rPr>
              <a:t>∑(a) = ROTR(a,28) XOR ROTR(a,34) XOR ROTR(a,39)</a:t>
            </a:r>
          </a:p>
          <a:p>
            <a:pPr eaLnBrk="1" hangingPunct="1"/>
            <a:r>
              <a:rPr lang="en-US" altLang="en-US">
                <a:latin typeface="Calibri" panose="020F0502020204030204" pitchFamily="34" charset="0"/>
              </a:rPr>
              <a:t>∑(e) = ROTR(e,14) XOR ROTR(e,18) XOR ROTR(e,41)</a:t>
            </a:r>
          </a:p>
          <a:p>
            <a:pPr eaLnBrk="1" hangingPunct="1"/>
            <a:r>
              <a:rPr lang="en-US" altLang="en-US">
                <a:latin typeface="Calibri" panose="020F0502020204030204" pitchFamily="34" charset="0"/>
              </a:rPr>
              <a:t>+ = addition modulo 2^64</a:t>
            </a:r>
          </a:p>
          <a:p>
            <a:pPr eaLnBrk="1" hangingPunct="1"/>
            <a:r>
              <a:rPr lang="en-US" altLang="en-US">
                <a:latin typeface="Calibri" panose="020F0502020204030204" pitchFamily="34" charset="0"/>
              </a:rPr>
              <a:t>Kt  = a 64-bit additive constant </a:t>
            </a:r>
          </a:p>
          <a:p>
            <a:pPr eaLnBrk="1" hangingPunct="1"/>
            <a:r>
              <a:rPr lang="en-US" altLang="en-US">
                <a:latin typeface="Calibri" panose="020F0502020204030204" pitchFamily="34" charset="0"/>
              </a:rPr>
              <a:t>Wt = a 64-bit word derived from the current 512-bit input block.</a:t>
            </a:r>
          </a:p>
          <a:p>
            <a:pPr eaLnBrk="1" hangingPunct="1"/>
            <a:endParaRPr lang="en-US" altLang="en-US">
              <a:latin typeface="Calibri" panose="020F0502020204030204" pitchFamily="34" charset="0"/>
            </a:endParaRPr>
          </a:p>
          <a:p>
            <a:pPr eaLnBrk="1" hangingPunct="1"/>
            <a:r>
              <a:rPr lang="en-US" altLang="en-US">
                <a:latin typeface="Calibri" panose="020F0502020204030204" pitchFamily="34" charset="0"/>
              </a:rPr>
              <a:t>Six of the eight words of the output of the round function involve simply permutation (</a:t>
            </a:r>
            <a:r>
              <a:rPr lang="en-US" altLang="en-US" i="1">
                <a:latin typeface="Calibri" panose="020F0502020204030204" pitchFamily="34" charset="0"/>
              </a:rPr>
              <a:t>b, c, d, f, g, h</a:t>
            </a:r>
            <a:r>
              <a:rPr lang="en-US" altLang="en-US">
                <a:latin typeface="Calibri" panose="020F0502020204030204" pitchFamily="34" charset="0"/>
              </a:rPr>
              <a:t>) by means of rotation. This is indicated by shading in Figure 11.10. Only two of the output words (</a:t>
            </a:r>
            <a:r>
              <a:rPr lang="en-US" altLang="en-US" i="1">
                <a:latin typeface="Calibri" panose="020F0502020204030204" pitchFamily="34" charset="0"/>
              </a:rPr>
              <a:t>a, e) </a:t>
            </a:r>
            <a:r>
              <a:rPr lang="en-US" altLang="en-US">
                <a:latin typeface="Calibri" panose="020F0502020204030204" pitchFamily="34" charset="0"/>
              </a:rPr>
              <a:t>are generated by substitution. Word e is a function of input variables </a:t>
            </a:r>
            <a:r>
              <a:rPr lang="en-US" altLang="en-US" i="1">
                <a:latin typeface="Calibri" panose="020F0502020204030204" pitchFamily="34" charset="0"/>
              </a:rPr>
              <a:t>d, e, f, g, h, </a:t>
            </a:r>
            <a:r>
              <a:rPr lang="en-US" altLang="en-US">
                <a:latin typeface="Calibri" panose="020F0502020204030204" pitchFamily="34" charset="0"/>
              </a:rPr>
              <a:t>as well as the round word W t and the constant Kt. Word a is a function of all of the input variables, as well as the round word W t and the constant Kt.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30</a:t>
            </a:fld>
            <a:endParaRPr lang="en-AU" altLang="en-US"/>
          </a:p>
        </p:txBody>
      </p:sp>
    </p:spTree>
    <p:extLst>
      <p:ext uri="{BB962C8B-B14F-4D97-AF65-F5344CB8AC3E}">
        <p14:creationId xmlns:p14="http://schemas.microsoft.com/office/powerpoint/2010/main" val="546340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a:extLst>
              <a:ext uri="{FF2B5EF4-FFF2-40B4-BE49-F238E27FC236}">
                <a16:creationId xmlns:a16="http://schemas.microsoft.com/office/drawing/2014/main" id="{B1A93B9C-0EEE-D9B9-CD48-9DEFF27D75F5}"/>
              </a:ext>
            </a:extLst>
          </p:cNvPr>
          <p:cNvSpPr>
            <a:spLocks noGrp="1" noRot="1" noChangeAspect="1"/>
          </p:cNvSpPr>
          <p:nvPr>
            <p:ph type="sldImg"/>
          </p:nvPr>
        </p:nvSpPr>
        <p:spPr>
          <a:ln/>
        </p:spPr>
      </p:sp>
      <p:sp>
        <p:nvSpPr>
          <p:cNvPr id="78850" name="Notes Placeholder 2">
            <a:extLst>
              <a:ext uri="{FF2B5EF4-FFF2-40B4-BE49-F238E27FC236}">
                <a16:creationId xmlns:a16="http://schemas.microsoft.com/office/drawing/2014/main" id="{BDFF1939-A605-B022-5908-807D9144C7A7}"/>
              </a:ext>
            </a:extLst>
          </p:cNvPr>
          <p:cNvSpPr>
            <a:spLocks noGrp="1"/>
          </p:cNvSpPr>
          <p:nvPr>
            <p:ph type="body" idx="1"/>
          </p:nvPr>
        </p:nvSpPr>
        <p:spPr>
          <a:xfrm>
            <a:off x="487680" y="4560570"/>
            <a:ext cx="6421120" cy="43205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As with encryption algorithms, cryptanalytic attacks on hash functions seek to exploit some property of the algorithm to perform some attack other than an exhaustive search. In recent years, have much effort, and some successes, in developing cryptanalytic attacks on hash functions. Must consider the overall structure of a typical secure hash function, referred to as an iterated hash function, as indicated in Stallings Figure 11.7. This was proposed by Merkle and is the structure of most hash functions in use today. The hash function takes an input message and partitions it into </a:t>
            </a:r>
            <a:r>
              <a:rPr lang="en-US" altLang="en-US" i="1">
                <a:latin typeface="Calibri" panose="020F0502020204030204" pitchFamily="34" charset="0"/>
              </a:rPr>
              <a:t>L </a:t>
            </a:r>
            <a:r>
              <a:rPr lang="en-US" altLang="en-US">
                <a:latin typeface="Calibri" panose="020F0502020204030204" pitchFamily="34" charset="0"/>
              </a:rPr>
              <a:t>fixed-sized blocks of </a:t>
            </a:r>
            <a:r>
              <a:rPr lang="en-US" altLang="en-US" i="1">
                <a:latin typeface="Calibri" panose="020F0502020204030204" pitchFamily="34" charset="0"/>
              </a:rPr>
              <a:t>b </a:t>
            </a:r>
            <a:r>
              <a:rPr lang="en-US" altLang="en-US">
                <a:latin typeface="Calibri" panose="020F0502020204030204" pitchFamily="34" charset="0"/>
              </a:rPr>
              <a:t>bits each. If necessary, the final block is padded to </a:t>
            </a:r>
            <a:r>
              <a:rPr lang="en-US" altLang="en-US" i="1">
                <a:latin typeface="Calibri" panose="020F0502020204030204" pitchFamily="34" charset="0"/>
              </a:rPr>
              <a:t>b </a:t>
            </a:r>
            <a:r>
              <a:rPr lang="en-US" altLang="en-US">
                <a:latin typeface="Calibri" panose="020F0502020204030204" pitchFamily="34" charset="0"/>
              </a:rPr>
              <a:t>bits. The final block also includes the value of the total length of the input to the hash function. The inclusion of the length makes the job of the opponent more difficult. The hash algorithm involves repeated use of a compression function, </a:t>
            </a:r>
            <a:r>
              <a:rPr lang="en-US" altLang="en-US" i="1">
                <a:latin typeface="Calibri" panose="020F0502020204030204" pitchFamily="34" charset="0"/>
              </a:rPr>
              <a:t>f</a:t>
            </a:r>
            <a:r>
              <a:rPr lang="en-US" altLang="en-US">
                <a:latin typeface="Calibri" panose="020F0502020204030204" pitchFamily="34" charset="0"/>
              </a:rPr>
              <a:t>, that takes two inputs (an </a:t>
            </a:r>
            <a:r>
              <a:rPr lang="en-US" altLang="en-US" i="1">
                <a:latin typeface="Calibri" panose="020F0502020204030204" pitchFamily="34" charset="0"/>
              </a:rPr>
              <a:t>n</a:t>
            </a:r>
            <a:r>
              <a:rPr lang="en-US" altLang="en-US">
                <a:latin typeface="Calibri" panose="020F0502020204030204" pitchFamily="34" charset="0"/>
              </a:rPr>
              <a:t>-bit input from the previous step, called the chaining variable, and a </a:t>
            </a:r>
            <a:r>
              <a:rPr lang="en-US" altLang="en-US" i="1">
                <a:latin typeface="Calibri" panose="020F0502020204030204" pitchFamily="34" charset="0"/>
              </a:rPr>
              <a:t>b</a:t>
            </a:r>
            <a:r>
              <a:rPr lang="en-US" altLang="en-US">
                <a:latin typeface="Calibri" panose="020F0502020204030204" pitchFamily="34" charset="0"/>
              </a:rPr>
              <a:t>-bit block) and produces an </a:t>
            </a:r>
            <a:r>
              <a:rPr lang="en-US" altLang="en-US" i="1">
                <a:latin typeface="Calibri" panose="020F0502020204030204" pitchFamily="34" charset="0"/>
              </a:rPr>
              <a:t>n</a:t>
            </a:r>
            <a:r>
              <a:rPr lang="en-US" altLang="en-US">
                <a:latin typeface="Calibri" panose="020F0502020204030204" pitchFamily="34" charset="0"/>
              </a:rPr>
              <a:t>-bit output. At the start of hashing, the chaining variable has an initial value that is specified as part of the algorithm. The final value of the chaining variable is the hash value. Often, </a:t>
            </a:r>
            <a:r>
              <a:rPr lang="en-US" altLang="en-US" i="1">
                <a:latin typeface="Calibri" panose="020F0502020204030204" pitchFamily="34" charset="0"/>
              </a:rPr>
              <a:t>b</a:t>
            </a:r>
            <a:r>
              <a:rPr lang="en-US" altLang="en-US">
                <a:latin typeface="Calibri" panose="020F0502020204030204" pitchFamily="34" charset="0"/>
              </a:rPr>
              <a:t> &gt; </a:t>
            </a:r>
            <a:r>
              <a:rPr lang="en-US" altLang="en-US" i="1">
                <a:latin typeface="Calibri" panose="020F0502020204030204" pitchFamily="34" charset="0"/>
              </a:rPr>
              <a:t>n</a:t>
            </a:r>
            <a:r>
              <a:rPr lang="en-US" altLang="en-US">
                <a:latin typeface="Calibri" panose="020F0502020204030204" pitchFamily="34" charset="0"/>
              </a:rPr>
              <a:t>; hence the term compression. The motivation for this iterative structure stems from the observation by Merkle and Damgard that if the compression function is collision resistant, then so is the resultant iterated hash function. Therefore, the structure can be used to produce a secure hash function to operate on a message of any length. Cryptanalysis of hash functions focuses on the internal structure of f and is based on attempts to find efficient techniques for producing collisions for a single execution of f. Once that is done, the attack must take into account the fixed value of IV. The attack on f depends on exploiting its internal structure. The attacks that have been mounted on hash functions are rather complex and beyond our scope here. </a:t>
            </a:r>
          </a:p>
        </p:txBody>
      </p:sp>
      <p:sp>
        <p:nvSpPr>
          <p:cNvPr id="78851" name="Slide Number Placeholder 3">
            <a:extLst>
              <a:ext uri="{FF2B5EF4-FFF2-40B4-BE49-F238E27FC236}">
                <a16:creationId xmlns:a16="http://schemas.microsoft.com/office/drawing/2014/main" id="{F526595E-F0AE-A37B-BD11-A39B10D6AD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186CD10D-9866-4A4A-9FAF-59A6D106F60D}" type="slidenum">
              <a:rPr lang="en-AU" altLang="en-US" sz="1300">
                <a:latin typeface="Calibri" panose="020F0502020204030204" pitchFamily="34" charset="0"/>
              </a:rPr>
              <a:pPr eaLnBrk="1" hangingPunct="1"/>
              <a:t>31</a:t>
            </a:fld>
            <a:endParaRPr lang="en-AU" altLang="en-US" sz="1300">
              <a:latin typeface="Calibri" panose="020F050202020403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a:extLst>
              <a:ext uri="{FF2B5EF4-FFF2-40B4-BE49-F238E27FC236}">
                <a16:creationId xmlns:a16="http://schemas.microsoft.com/office/drawing/2014/main" id="{BE282D65-F737-2F0C-77EB-67D7814C53B3}"/>
              </a:ext>
            </a:extLst>
          </p:cNvPr>
          <p:cNvSpPr>
            <a:spLocks noGrp="1" noRot="1" noChangeAspect="1"/>
          </p:cNvSpPr>
          <p:nvPr>
            <p:ph type="sldImg"/>
          </p:nvPr>
        </p:nvSpPr>
        <p:spPr>
          <a:ln/>
        </p:spPr>
      </p:sp>
      <p:sp>
        <p:nvSpPr>
          <p:cNvPr id="80898" name="Notes Placeholder 2">
            <a:extLst>
              <a:ext uri="{FF2B5EF4-FFF2-40B4-BE49-F238E27FC236}">
                <a16:creationId xmlns:a16="http://schemas.microsoft.com/office/drawing/2014/main" id="{54094B2F-3AC6-5986-650F-3A7D9D929C09}"/>
              </a:ext>
            </a:extLst>
          </p:cNvPr>
          <p:cNvSpPr>
            <a:spLocks noGrp="1"/>
          </p:cNvSpPr>
          <p:nvPr>
            <p:ph type="body" idx="1"/>
          </p:nvPr>
        </p:nvSpPr>
        <p:spPr>
          <a:xfrm>
            <a:off x="487680" y="4560570"/>
            <a:ext cx="6421120" cy="455890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Calibri" panose="020F0502020204030204" pitchFamily="34" charset="0"/>
              </a:rPr>
              <a:t>As with encryption algorithms, there are two categories of attacks on hash functions: brute-force attacks and cryptanalysis. A brute-force attack does not depend on the specific algorithm but depends only on bit length. In the case of a hash function, a brute-force attack depends only on the bit length of the hash value. A cryptanalysis, in contrast, is an attack based on weaknesses in a particular cryptographic algorithm. </a:t>
            </a:r>
          </a:p>
          <a:p>
            <a:pPr eaLnBrk="1" hangingPunct="1"/>
            <a:r>
              <a:rPr lang="en-US" altLang="en-US">
                <a:latin typeface="Calibri" panose="020F0502020204030204" pitchFamily="34" charset="0"/>
              </a:rPr>
              <a:t>For a preimage or second preimage attack, an adversary wishes to find a value </a:t>
            </a:r>
            <a:r>
              <a:rPr lang="en-US" altLang="en-US" i="1">
                <a:latin typeface="Calibri" panose="020F0502020204030204" pitchFamily="34" charset="0"/>
              </a:rPr>
              <a:t>y </a:t>
            </a:r>
            <a:r>
              <a:rPr lang="en-US" altLang="en-US">
                <a:latin typeface="Calibri" panose="020F0502020204030204" pitchFamily="34" charset="0"/>
              </a:rPr>
              <a:t>such that </a:t>
            </a:r>
            <a:r>
              <a:rPr lang="en-US" altLang="en-US" i="1">
                <a:latin typeface="Calibri" panose="020F0502020204030204" pitchFamily="34" charset="0"/>
              </a:rPr>
              <a:t>H(y) </a:t>
            </a:r>
            <a:r>
              <a:rPr lang="en-US" altLang="en-US">
                <a:latin typeface="Calibri" panose="020F0502020204030204" pitchFamily="34" charset="0"/>
              </a:rPr>
              <a:t>is equal to a given hash value h. The brute force method is to pick values of y at random and try each value until a collision occurs. For an </a:t>
            </a:r>
            <a:r>
              <a:rPr lang="en-US" altLang="en-US" i="1">
                <a:latin typeface="Calibri" panose="020F0502020204030204" pitchFamily="34" charset="0"/>
              </a:rPr>
              <a:t>m-bit </a:t>
            </a:r>
            <a:r>
              <a:rPr lang="en-US" altLang="en-US">
                <a:latin typeface="Calibri" panose="020F0502020204030204" pitchFamily="34" charset="0"/>
              </a:rPr>
              <a:t>hash value, the level of effort is proportional to 2</a:t>
            </a:r>
            <a:r>
              <a:rPr lang="en-US" altLang="en-US" baseline="30000">
                <a:latin typeface="Calibri" panose="020F0502020204030204" pitchFamily="34" charset="0"/>
              </a:rPr>
              <a:t>m</a:t>
            </a:r>
            <a:r>
              <a:rPr lang="en-US" altLang="en-US">
                <a:latin typeface="Calibri" panose="020F0502020204030204" pitchFamily="34" charset="0"/>
              </a:rPr>
              <a:t>. Specifically, the adversary would have to try, on average, 2</a:t>
            </a:r>
            <a:r>
              <a:rPr lang="en-US" altLang="en-US" baseline="30000">
                <a:latin typeface="Calibri" panose="020F0502020204030204" pitchFamily="34" charset="0"/>
              </a:rPr>
              <a:t>m–1 </a:t>
            </a:r>
            <a:r>
              <a:rPr lang="en-US" altLang="en-US">
                <a:latin typeface="Calibri" panose="020F0502020204030204" pitchFamily="34" charset="0"/>
              </a:rPr>
              <a:t>values of y to find one that generates a given hash value h</a:t>
            </a:r>
            <a:r>
              <a:rPr lang="en-US" altLang="en-US" i="1">
                <a:latin typeface="Calibri" panose="020F0502020204030204" pitchFamily="34" charset="0"/>
              </a:rPr>
              <a:t>. </a:t>
            </a:r>
          </a:p>
          <a:p>
            <a:pPr eaLnBrk="1" hangingPunct="1"/>
            <a:r>
              <a:rPr lang="en-US" altLang="en-US">
                <a:latin typeface="Calibri" panose="020F0502020204030204" pitchFamily="34" charset="0"/>
              </a:rPr>
              <a:t>For a collision resistant attack, an adversary wishes to find two messages or data blocks, x and </a:t>
            </a:r>
            <a:r>
              <a:rPr lang="en-US" altLang="en-US" i="1">
                <a:latin typeface="Calibri" panose="020F0502020204030204" pitchFamily="34" charset="0"/>
              </a:rPr>
              <a:t>y, </a:t>
            </a:r>
            <a:r>
              <a:rPr lang="en-US" altLang="en-US">
                <a:latin typeface="Calibri" panose="020F0502020204030204" pitchFamily="34" charset="0"/>
              </a:rPr>
              <a:t>that yield the same hash function: H(x) = H(y). This requires much less effort than a preimage or second preimage attack. The effort required is explained by a mathematical result referred to as the birthday paradox (next slide).</a:t>
            </a:r>
          </a:p>
          <a:p>
            <a:pPr eaLnBrk="1" hangingPunct="1"/>
            <a:r>
              <a:rPr lang="en-US" altLang="en-US">
                <a:latin typeface="Calibri" panose="020F0502020204030204" pitchFamily="34" charset="0"/>
              </a:rPr>
              <a:t>If collision resistance is required, then the value 2</a:t>
            </a:r>
            <a:r>
              <a:rPr lang="en-US" altLang="en-US" i="1" baseline="30000">
                <a:latin typeface="Calibri" panose="020F0502020204030204" pitchFamily="34" charset="0"/>
              </a:rPr>
              <a:t>m/2 </a:t>
            </a:r>
            <a:r>
              <a:rPr lang="en-US" altLang="en-US">
                <a:latin typeface="Calibri" panose="020F0502020204030204" pitchFamily="34" charset="0"/>
              </a:rPr>
              <a:t>determines the strength of the hash code against brute-force attacks. Van Oorschot and Wiener presented a design for a $10 million collision search machine for MD5, which has a 128-bit hash length, that could find a collision in 24 days. Thus a 128-bit code may be viewed as inadequate. The next step up, if a hash code is treated as a sequence of 32 bits, is a 160-bit hash length. With a hash length of 160 bits, the same search machine would require over four thousand years to find a collision. With today's technology, the time would be much shorter, so that 160 bits now appears suspect. </a:t>
            </a:r>
          </a:p>
        </p:txBody>
      </p:sp>
      <p:sp>
        <p:nvSpPr>
          <p:cNvPr id="80899" name="Slide Number Placeholder 3">
            <a:extLst>
              <a:ext uri="{FF2B5EF4-FFF2-40B4-BE49-F238E27FC236}">
                <a16:creationId xmlns:a16="http://schemas.microsoft.com/office/drawing/2014/main" id="{1C0731F6-43E3-5305-0A10-0119AFE1E1C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panose="020B0604020202020204" pitchFamily="34" charset="0"/>
                <a:ea typeface="MS PGothic" panose="020B0600070205080204" pitchFamily="34" charset="-128"/>
              </a:defRPr>
            </a:lvl1pPr>
            <a:lvl2pPr marL="785372" indent="-302066" eaLnBrk="0" hangingPunct="0">
              <a:defRPr sz="2500">
                <a:solidFill>
                  <a:schemeClr val="tx1"/>
                </a:solidFill>
                <a:latin typeface="Arial" panose="020B0604020202020204" pitchFamily="34" charset="0"/>
                <a:ea typeface="MS PGothic" panose="020B0600070205080204" pitchFamily="34" charset="-128"/>
              </a:defRPr>
            </a:lvl2pPr>
            <a:lvl3pPr marL="1208265" indent="-241653" eaLnBrk="0" hangingPunct="0">
              <a:defRPr sz="2500">
                <a:solidFill>
                  <a:schemeClr val="tx1"/>
                </a:solidFill>
                <a:latin typeface="Arial" panose="020B0604020202020204" pitchFamily="34" charset="0"/>
                <a:ea typeface="MS PGothic" panose="020B0600070205080204" pitchFamily="34" charset="-128"/>
              </a:defRPr>
            </a:lvl3pPr>
            <a:lvl4pPr marL="1691571" indent="-241653" eaLnBrk="0" hangingPunct="0">
              <a:defRPr sz="2500">
                <a:solidFill>
                  <a:schemeClr val="tx1"/>
                </a:solidFill>
                <a:latin typeface="Arial" panose="020B0604020202020204" pitchFamily="34" charset="0"/>
                <a:ea typeface="MS PGothic" panose="020B0600070205080204" pitchFamily="34" charset="-128"/>
              </a:defRPr>
            </a:lvl4pPr>
            <a:lvl5pPr marL="2174878" indent="-241653" eaLnBrk="0" hangingPunct="0">
              <a:defRPr sz="2500">
                <a:solidFill>
                  <a:schemeClr val="tx1"/>
                </a:solidFill>
                <a:latin typeface="Arial" panose="020B0604020202020204" pitchFamily="34" charset="0"/>
                <a:ea typeface="MS PGothic" panose="020B0600070205080204" pitchFamily="34" charset="-128"/>
              </a:defRPr>
            </a:lvl5pPr>
            <a:lvl6pPr marL="2658184"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6pPr>
            <a:lvl7pPr marL="3141490"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7pPr>
            <a:lvl8pPr marL="3624796"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8pPr>
            <a:lvl9pPr marL="4108102" indent="-241653" eaLnBrk="0" fontAlgn="base" hangingPunct="0">
              <a:spcBef>
                <a:spcPct val="0"/>
              </a:spcBef>
              <a:spcAft>
                <a:spcPct val="0"/>
              </a:spcAft>
              <a:defRPr sz="2500">
                <a:solidFill>
                  <a:schemeClr val="tx1"/>
                </a:solidFill>
                <a:latin typeface="Arial" panose="020B0604020202020204" pitchFamily="34" charset="0"/>
                <a:ea typeface="MS PGothic" panose="020B0600070205080204" pitchFamily="34" charset="-128"/>
              </a:defRPr>
            </a:lvl9pPr>
          </a:lstStyle>
          <a:p>
            <a:pPr eaLnBrk="1" hangingPunct="1"/>
            <a:fld id="{13D8E6C0-86EF-43F3-91BB-5DF80861BE3D}" type="slidenum">
              <a:rPr lang="en-AU" altLang="en-US" sz="1300">
                <a:latin typeface="Calibri" panose="020F0502020204030204" pitchFamily="34" charset="0"/>
              </a:rPr>
              <a:pPr eaLnBrk="1" hangingPunct="1"/>
              <a:t>32</a:t>
            </a:fld>
            <a:endParaRPr lang="en-AU" altLang="en-US" sz="1300">
              <a:latin typeface="Calibri" panose="020F050202020403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E3ED49-CED5-4726-8FB4-C1BF2B99D933}" type="slidenum">
              <a:rPr lang="en-AU" altLang="en-US" smtClean="0"/>
              <a:pPr/>
              <a:t>33</a:t>
            </a:fld>
            <a:endParaRPr lang="en-AU" altLang="en-US"/>
          </a:p>
        </p:txBody>
      </p:sp>
    </p:spTree>
    <p:extLst>
      <p:ext uri="{BB962C8B-B14F-4D97-AF65-F5344CB8AC3E}">
        <p14:creationId xmlns:p14="http://schemas.microsoft.com/office/powerpoint/2010/main" val="2942593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C23278-14A7-216C-2971-6092C314614E}"/>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3" name="Rectangle 2">
            <a:extLst>
              <a:ext uri="{FF2B5EF4-FFF2-40B4-BE49-F238E27FC236}">
                <a16:creationId xmlns:a16="http://schemas.microsoft.com/office/drawing/2014/main" id="{9228BBAF-7105-C6E2-837E-3115DD322E33}"/>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4" name="Rectangle 3">
            <a:extLst>
              <a:ext uri="{FF2B5EF4-FFF2-40B4-BE49-F238E27FC236}">
                <a16:creationId xmlns:a16="http://schemas.microsoft.com/office/drawing/2014/main" id="{8E5A613F-8644-93E8-A5A5-AD8EA95D3CD8}"/>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5" name="Rectangle 4">
            <a:extLst>
              <a:ext uri="{FF2B5EF4-FFF2-40B4-BE49-F238E27FC236}">
                <a16:creationId xmlns:a16="http://schemas.microsoft.com/office/drawing/2014/main" id="{DA99018D-4533-244C-D01F-3DE991A0DC76}"/>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EE49C0A5-E466-37C3-E4E4-3055B43FE1B0}"/>
              </a:ext>
            </a:extLst>
          </p:cNvPr>
          <p:cNvSpPr>
            <a:spLocks noGrp="1"/>
          </p:cNvSpPr>
          <p:nvPr>
            <p:ph type="dt" sz="half" idx="10"/>
          </p:nvPr>
        </p:nvSpPr>
        <p:spPr>
          <a:xfrm>
            <a:off x="6400800" y="6354763"/>
            <a:ext cx="2286000" cy="366712"/>
          </a:xfrm>
        </p:spPr>
        <p:txBody>
          <a:bodyPr/>
          <a:lstStyle>
            <a:lvl1pPr>
              <a:defRPr sz="1400"/>
            </a:lvl1pPr>
          </a:lstStyle>
          <a:p>
            <a:pPr>
              <a:defRPr/>
            </a:pPr>
            <a:fld id="{767B3065-AB67-4515-8217-E6BB72ACCDC7}" type="datetime1">
              <a:rPr lang="en-US" smtClean="0"/>
              <a:t>6/21/2025</a:t>
            </a:fld>
            <a:endParaRPr lang="en-US"/>
          </a:p>
        </p:txBody>
      </p:sp>
      <p:sp>
        <p:nvSpPr>
          <p:cNvPr id="7" name="Footer Placeholder 16">
            <a:extLst>
              <a:ext uri="{FF2B5EF4-FFF2-40B4-BE49-F238E27FC236}">
                <a16:creationId xmlns:a16="http://schemas.microsoft.com/office/drawing/2014/main" id="{5645A288-63B0-5BB1-5A1D-4168DEDFC8DA}"/>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0" name="Slide Number Placeholder 28">
            <a:extLst>
              <a:ext uri="{FF2B5EF4-FFF2-40B4-BE49-F238E27FC236}">
                <a16:creationId xmlns:a16="http://schemas.microsoft.com/office/drawing/2014/main" id="{7B0A01E4-426C-187E-B0C7-9358DFB32914}"/>
              </a:ext>
            </a:extLst>
          </p:cNvPr>
          <p:cNvSpPr>
            <a:spLocks noGrp="1"/>
          </p:cNvSpPr>
          <p:nvPr>
            <p:ph type="sldNum" sz="quarter" idx="12"/>
          </p:nvPr>
        </p:nvSpPr>
        <p:spPr>
          <a:xfrm>
            <a:off x="1216025" y="6354763"/>
            <a:ext cx="1219200" cy="366712"/>
          </a:xfrm>
        </p:spPr>
        <p:txBody>
          <a:bodyPr/>
          <a:lstStyle>
            <a:lvl1pPr>
              <a:defRPr/>
            </a:lvl1pPr>
          </a:lstStyle>
          <a:p>
            <a:fld id="{A4A2E32D-950F-4B6D-9BA1-D945835EC4A2}" type="slidenum">
              <a:rPr lang="en-US" altLang="en-US"/>
              <a:pPr/>
              <a:t>‹#›</a:t>
            </a:fld>
            <a:endParaRPr lang="en-US" altLang="en-US"/>
          </a:p>
        </p:txBody>
      </p:sp>
    </p:spTree>
    <p:extLst>
      <p:ext uri="{BB962C8B-B14F-4D97-AF65-F5344CB8AC3E}">
        <p14:creationId xmlns:p14="http://schemas.microsoft.com/office/powerpoint/2010/main" val="2365599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4C4804D1-79BC-69C3-4BDC-EF87502BF365}"/>
              </a:ext>
            </a:extLst>
          </p:cNvPr>
          <p:cNvSpPr>
            <a:spLocks noGrp="1"/>
          </p:cNvSpPr>
          <p:nvPr>
            <p:ph type="dt" sz="half" idx="10"/>
          </p:nvPr>
        </p:nvSpPr>
        <p:spPr/>
        <p:txBody>
          <a:bodyPr/>
          <a:lstStyle>
            <a:lvl1pPr>
              <a:defRPr/>
            </a:lvl1pPr>
          </a:lstStyle>
          <a:p>
            <a:pPr>
              <a:defRPr/>
            </a:pPr>
            <a:fld id="{C51E0003-95CA-441A-8CB1-519E242296F8}" type="datetime1">
              <a:rPr lang="en-US" smtClean="0"/>
              <a:t>6/21/2025</a:t>
            </a:fld>
            <a:endParaRPr lang="en-US"/>
          </a:p>
        </p:txBody>
      </p:sp>
      <p:sp>
        <p:nvSpPr>
          <p:cNvPr id="4" name="Footer Placeholder 2">
            <a:extLst>
              <a:ext uri="{FF2B5EF4-FFF2-40B4-BE49-F238E27FC236}">
                <a16:creationId xmlns:a16="http://schemas.microsoft.com/office/drawing/2014/main" id="{8153F66F-37B9-6684-52BA-A9D66C18041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DFFE22DE-7DB7-ECF5-B6E4-1274536DA11C}"/>
              </a:ext>
            </a:extLst>
          </p:cNvPr>
          <p:cNvSpPr>
            <a:spLocks noGrp="1"/>
          </p:cNvSpPr>
          <p:nvPr>
            <p:ph type="sldNum" sz="quarter" idx="12"/>
          </p:nvPr>
        </p:nvSpPr>
        <p:spPr/>
        <p:txBody>
          <a:bodyPr/>
          <a:lstStyle>
            <a:lvl1pPr>
              <a:defRPr/>
            </a:lvl1pPr>
          </a:lstStyle>
          <a:p>
            <a:fld id="{D089D36A-6CFF-48FB-8F4C-16484BCD2425}" type="slidenum">
              <a:rPr lang="en-US" altLang="en-US"/>
              <a:pPr/>
              <a:t>‹#›</a:t>
            </a:fld>
            <a:endParaRPr lang="en-US" altLang="en-US"/>
          </a:p>
        </p:txBody>
      </p:sp>
    </p:spTree>
    <p:extLst>
      <p:ext uri="{BB962C8B-B14F-4D97-AF65-F5344CB8AC3E}">
        <p14:creationId xmlns:p14="http://schemas.microsoft.com/office/powerpoint/2010/main" val="271448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675B0D-6E74-CF30-731B-8880ACCF902D}"/>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5" name="Rectangle 4">
            <a:extLst>
              <a:ext uri="{FF2B5EF4-FFF2-40B4-BE49-F238E27FC236}">
                <a16:creationId xmlns:a16="http://schemas.microsoft.com/office/drawing/2014/main" id="{71DA807D-26AA-76E8-2635-9A4704A57B89}"/>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84C83BC8-1033-9F45-6356-C166197F3522}"/>
              </a:ext>
            </a:extLst>
          </p:cNvPr>
          <p:cNvSpPr>
            <a:spLocks noGrp="1"/>
          </p:cNvSpPr>
          <p:nvPr>
            <p:ph type="dt" sz="half" idx="10"/>
          </p:nvPr>
        </p:nvSpPr>
        <p:spPr>
          <a:xfrm>
            <a:off x="6400800" y="6354763"/>
            <a:ext cx="2286000" cy="366712"/>
          </a:xfrm>
        </p:spPr>
        <p:txBody>
          <a:bodyPr/>
          <a:lstStyle>
            <a:lvl1pPr>
              <a:defRPr/>
            </a:lvl1pPr>
          </a:lstStyle>
          <a:p>
            <a:pPr>
              <a:defRPr/>
            </a:pPr>
            <a:fld id="{4BE4BFE8-F1CD-4381-83C1-7BDDED6292F1}" type="datetime1">
              <a:rPr lang="en-US" smtClean="0"/>
              <a:t>6/21/2025</a:t>
            </a:fld>
            <a:endParaRPr lang="en-US"/>
          </a:p>
        </p:txBody>
      </p:sp>
      <p:sp>
        <p:nvSpPr>
          <p:cNvPr id="7" name="Footer Placeholder 4">
            <a:extLst>
              <a:ext uri="{FF2B5EF4-FFF2-40B4-BE49-F238E27FC236}">
                <a16:creationId xmlns:a16="http://schemas.microsoft.com/office/drawing/2014/main" id="{DF6CFFF8-EC1D-CDC6-0265-BB5EB081AD10}"/>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0C6C157F-417D-38C9-FF77-BE4343737C55}"/>
              </a:ext>
            </a:extLst>
          </p:cNvPr>
          <p:cNvSpPr>
            <a:spLocks noGrp="1"/>
          </p:cNvSpPr>
          <p:nvPr>
            <p:ph type="sldNum" sz="quarter" idx="12"/>
          </p:nvPr>
        </p:nvSpPr>
        <p:spPr>
          <a:xfrm>
            <a:off x="1069975" y="6354763"/>
            <a:ext cx="1520825" cy="366712"/>
          </a:xfrm>
        </p:spPr>
        <p:txBody>
          <a:bodyPr/>
          <a:lstStyle>
            <a:lvl1pPr>
              <a:defRPr/>
            </a:lvl1pPr>
          </a:lstStyle>
          <a:p>
            <a:fld id="{15EF9E88-AE17-43A5-8DC6-F9E8796C6391}" type="slidenum">
              <a:rPr lang="en-US" altLang="en-US"/>
              <a:pPr/>
              <a:t>‹#›</a:t>
            </a:fld>
            <a:endParaRPr lang="en-US" altLang="en-US"/>
          </a:p>
        </p:txBody>
      </p:sp>
    </p:spTree>
    <p:extLst>
      <p:ext uri="{BB962C8B-B14F-4D97-AF65-F5344CB8AC3E}">
        <p14:creationId xmlns:p14="http://schemas.microsoft.com/office/powerpoint/2010/main" val="334304455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C7AB7164-27BE-ABD1-19BB-C13BEFC4FEFD}"/>
              </a:ext>
            </a:extLst>
          </p:cNvPr>
          <p:cNvSpPr>
            <a:spLocks noGrp="1"/>
          </p:cNvSpPr>
          <p:nvPr>
            <p:ph type="dt" sz="half" idx="10"/>
          </p:nvPr>
        </p:nvSpPr>
        <p:spPr/>
        <p:txBody>
          <a:bodyPr/>
          <a:lstStyle>
            <a:lvl1pPr>
              <a:defRPr/>
            </a:lvl1pPr>
          </a:lstStyle>
          <a:p>
            <a:pPr>
              <a:defRPr/>
            </a:pPr>
            <a:fld id="{23E26954-4BE5-4975-AE04-BFB5E0C4017E}" type="datetime1">
              <a:rPr lang="en-US" smtClean="0"/>
              <a:t>6/21/2025</a:t>
            </a:fld>
            <a:endParaRPr lang="en-US"/>
          </a:p>
        </p:txBody>
      </p:sp>
      <p:sp>
        <p:nvSpPr>
          <p:cNvPr id="4" name="Footer Placeholder 2">
            <a:extLst>
              <a:ext uri="{FF2B5EF4-FFF2-40B4-BE49-F238E27FC236}">
                <a16:creationId xmlns:a16="http://schemas.microsoft.com/office/drawing/2014/main" id="{8F571EB3-7066-9EA4-1386-766911A5317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16506F78-E0FB-3941-7670-7605778F4D30}"/>
              </a:ext>
            </a:extLst>
          </p:cNvPr>
          <p:cNvSpPr>
            <a:spLocks noGrp="1"/>
          </p:cNvSpPr>
          <p:nvPr>
            <p:ph type="sldNum" sz="quarter" idx="12"/>
          </p:nvPr>
        </p:nvSpPr>
        <p:spPr/>
        <p:txBody>
          <a:bodyPr/>
          <a:lstStyle>
            <a:lvl1pPr>
              <a:defRPr/>
            </a:lvl1pPr>
          </a:lstStyle>
          <a:p>
            <a:fld id="{085798FB-0A89-4BCB-90BD-A764AB8356EF}" type="slidenum">
              <a:rPr lang="en-US" altLang="en-US"/>
              <a:pPr/>
              <a:t>‹#›</a:t>
            </a:fld>
            <a:endParaRPr lang="en-US" altLang="en-US"/>
          </a:p>
        </p:txBody>
      </p:sp>
    </p:spTree>
    <p:extLst>
      <p:ext uri="{BB962C8B-B14F-4D97-AF65-F5344CB8AC3E}">
        <p14:creationId xmlns:p14="http://schemas.microsoft.com/office/powerpoint/2010/main" val="3546567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7E28B1F6-1FD4-C927-6EF8-F19AEE60B3EE}"/>
              </a:ext>
            </a:extLst>
          </p:cNvPr>
          <p:cNvSpPr>
            <a:spLocks noGrp="1"/>
          </p:cNvSpPr>
          <p:nvPr>
            <p:ph type="dt" sz="half" idx="10"/>
          </p:nvPr>
        </p:nvSpPr>
        <p:spPr/>
        <p:txBody>
          <a:bodyPr/>
          <a:lstStyle>
            <a:lvl1pPr>
              <a:defRPr/>
            </a:lvl1pPr>
          </a:lstStyle>
          <a:p>
            <a:pPr>
              <a:defRPr/>
            </a:pPr>
            <a:fld id="{48AF547C-EBB6-4558-B9A9-A21A83007994}" type="datetime1">
              <a:rPr lang="en-US" smtClean="0"/>
              <a:t>6/21/2025</a:t>
            </a:fld>
            <a:endParaRPr lang="en-US"/>
          </a:p>
        </p:txBody>
      </p:sp>
      <p:sp>
        <p:nvSpPr>
          <p:cNvPr id="6" name="Footer Placeholder 2">
            <a:extLst>
              <a:ext uri="{FF2B5EF4-FFF2-40B4-BE49-F238E27FC236}">
                <a16:creationId xmlns:a16="http://schemas.microsoft.com/office/drawing/2014/main" id="{9AD3908B-734A-9AEC-02EB-97030D76EDD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300EF6EE-84AD-D3A7-1291-1E56ADD96C86}"/>
              </a:ext>
            </a:extLst>
          </p:cNvPr>
          <p:cNvSpPr>
            <a:spLocks noGrp="1"/>
          </p:cNvSpPr>
          <p:nvPr>
            <p:ph type="sldNum" sz="quarter" idx="12"/>
          </p:nvPr>
        </p:nvSpPr>
        <p:spPr/>
        <p:txBody>
          <a:bodyPr/>
          <a:lstStyle>
            <a:lvl1pPr>
              <a:defRPr/>
            </a:lvl1pPr>
          </a:lstStyle>
          <a:p>
            <a:fld id="{25DB5652-D1F3-4A9C-8858-774A6B2789CD}" type="slidenum">
              <a:rPr lang="en-US" altLang="en-US"/>
              <a:pPr/>
              <a:t>‹#›</a:t>
            </a:fld>
            <a:endParaRPr lang="en-US" altLang="en-US"/>
          </a:p>
        </p:txBody>
      </p:sp>
    </p:spTree>
    <p:extLst>
      <p:ext uri="{BB962C8B-B14F-4D97-AF65-F5344CB8AC3E}">
        <p14:creationId xmlns:p14="http://schemas.microsoft.com/office/powerpoint/2010/main" val="1738177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759CC024-DB1D-9D53-6A2C-800D9C573BB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FA3E3F3C-CB50-CA49-6BCE-1C5FD78AEA00}"/>
              </a:ext>
            </a:extLst>
          </p:cNvPr>
          <p:cNvSpPr>
            <a:spLocks noGrp="1"/>
          </p:cNvSpPr>
          <p:nvPr>
            <p:ph type="dt" sz="half" idx="10"/>
          </p:nvPr>
        </p:nvSpPr>
        <p:spPr/>
        <p:txBody>
          <a:bodyPr/>
          <a:lstStyle>
            <a:lvl1pPr>
              <a:defRPr/>
            </a:lvl1pPr>
          </a:lstStyle>
          <a:p>
            <a:pPr>
              <a:defRPr/>
            </a:pPr>
            <a:fld id="{E350C556-12C1-4DE4-94E8-3B79EF3543CD}" type="datetime1">
              <a:rPr lang="en-US" smtClean="0"/>
              <a:t>6/21/2025</a:t>
            </a:fld>
            <a:endParaRPr lang="en-US"/>
          </a:p>
        </p:txBody>
      </p:sp>
      <p:sp>
        <p:nvSpPr>
          <p:cNvPr id="5" name="Footer Placeholder 3">
            <a:extLst>
              <a:ext uri="{FF2B5EF4-FFF2-40B4-BE49-F238E27FC236}">
                <a16:creationId xmlns:a16="http://schemas.microsoft.com/office/drawing/2014/main" id="{06FBCF28-92C9-C317-8E13-0D20C62CEEA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5296352E-E126-0E1D-4F1A-D40C23ECC596}"/>
              </a:ext>
            </a:extLst>
          </p:cNvPr>
          <p:cNvSpPr>
            <a:spLocks noGrp="1"/>
          </p:cNvSpPr>
          <p:nvPr>
            <p:ph type="sldNum" sz="quarter" idx="12"/>
          </p:nvPr>
        </p:nvSpPr>
        <p:spPr/>
        <p:txBody>
          <a:bodyPr/>
          <a:lstStyle>
            <a:lvl1pPr>
              <a:defRPr/>
            </a:lvl1pPr>
          </a:lstStyle>
          <a:p>
            <a:fld id="{8DF538AB-D223-46B4-BEAE-02C4834F839A}" type="slidenum">
              <a:rPr lang="en-US" altLang="en-US"/>
              <a:pPr/>
              <a:t>‹#›</a:t>
            </a:fld>
            <a:endParaRPr lang="en-US" altLang="en-US"/>
          </a:p>
        </p:txBody>
      </p:sp>
    </p:spTree>
    <p:extLst>
      <p:ext uri="{BB962C8B-B14F-4D97-AF65-F5344CB8AC3E}">
        <p14:creationId xmlns:p14="http://schemas.microsoft.com/office/powerpoint/2010/main" val="269696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a:extLst>
              <a:ext uri="{FF2B5EF4-FFF2-40B4-BE49-F238E27FC236}">
                <a16:creationId xmlns:a16="http://schemas.microsoft.com/office/drawing/2014/main" id="{57E631D8-4412-6956-E224-FF0B227286D1}"/>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 name="Isosceles Triangle 2">
            <a:extLst>
              <a:ext uri="{FF2B5EF4-FFF2-40B4-BE49-F238E27FC236}">
                <a16:creationId xmlns:a16="http://schemas.microsoft.com/office/drawing/2014/main" id="{2B6941DC-4C8E-C521-309E-F7E2C2712E07}"/>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4" name="Date Placeholder 1">
            <a:extLst>
              <a:ext uri="{FF2B5EF4-FFF2-40B4-BE49-F238E27FC236}">
                <a16:creationId xmlns:a16="http://schemas.microsoft.com/office/drawing/2014/main" id="{410901F3-90E6-9D4E-B8F3-B856998E81AC}"/>
              </a:ext>
            </a:extLst>
          </p:cNvPr>
          <p:cNvSpPr>
            <a:spLocks noGrp="1"/>
          </p:cNvSpPr>
          <p:nvPr>
            <p:ph type="dt" sz="half" idx="10"/>
          </p:nvPr>
        </p:nvSpPr>
        <p:spPr/>
        <p:txBody>
          <a:bodyPr/>
          <a:lstStyle>
            <a:lvl1pPr>
              <a:defRPr/>
            </a:lvl1pPr>
          </a:lstStyle>
          <a:p>
            <a:pPr>
              <a:defRPr/>
            </a:pPr>
            <a:fld id="{D488527D-DDF9-4551-B2B4-0575B5F88FB7}" type="datetime1">
              <a:rPr lang="en-US" smtClean="0"/>
              <a:t>6/21/2025</a:t>
            </a:fld>
            <a:endParaRPr lang="en-US"/>
          </a:p>
        </p:txBody>
      </p:sp>
      <p:sp>
        <p:nvSpPr>
          <p:cNvPr id="5" name="Footer Placeholder 2">
            <a:extLst>
              <a:ext uri="{FF2B5EF4-FFF2-40B4-BE49-F238E27FC236}">
                <a16:creationId xmlns:a16="http://schemas.microsoft.com/office/drawing/2014/main" id="{DD94237B-29B6-2F7D-4F0E-59B0B8F902F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424E4F4C-A818-02C2-B428-A075ECEAB79D}"/>
              </a:ext>
            </a:extLst>
          </p:cNvPr>
          <p:cNvSpPr>
            <a:spLocks noGrp="1"/>
          </p:cNvSpPr>
          <p:nvPr>
            <p:ph type="sldNum" sz="quarter" idx="12"/>
          </p:nvPr>
        </p:nvSpPr>
        <p:spPr/>
        <p:txBody>
          <a:bodyPr/>
          <a:lstStyle>
            <a:lvl1pPr>
              <a:defRPr/>
            </a:lvl1pPr>
          </a:lstStyle>
          <a:p>
            <a:fld id="{FDC2B4BC-9558-4A67-A69F-71986C184E34}" type="slidenum">
              <a:rPr lang="en-US" altLang="en-US"/>
              <a:pPr/>
              <a:t>‹#›</a:t>
            </a:fld>
            <a:endParaRPr lang="en-US" altLang="en-US"/>
          </a:p>
        </p:txBody>
      </p:sp>
    </p:spTree>
    <p:extLst>
      <p:ext uri="{BB962C8B-B14F-4D97-AF65-F5344CB8AC3E}">
        <p14:creationId xmlns:p14="http://schemas.microsoft.com/office/powerpoint/2010/main" val="1624158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10">
            <a:extLst>
              <a:ext uri="{FF2B5EF4-FFF2-40B4-BE49-F238E27FC236}">
                <a16:creationId xmlns:a16="http://schemas.microsoft.com/office/drawing/2014/main" id="{22890D8E-FBCB-9387-D8A3-B8BB4AD8DE3E}"/>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 name="Straight Connector 11">
            <a:extLst>
              <a:ext uri="{FF2B5EF4-FFF2-40B4-BE49-F238E27FC236}">
                <a16:creationId xmlns:a16="http://schemas.microsoft.com/office/drawing/2014/main" id="{B64896B2-754C-8308-7214-48337CA7FDC4}"/>
              </a:ext>
            </a:extLst>
          </p:cNvPr>
          <p:cNvSpPr>
            <a:spLocks noChangeShapeType="1"/>
          </p:cNvSpPr>
          <p:nvPr/>
        </p:nvSpPr>
        <p:spPr bwMode="auto">
          <a:xfrm rot="5400000">
            <a:off x="3160712" y="3324226"/>
            <a:ext cx="6035675"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 name="Isosceles Triangle 5">
            <a:extLst>
              <a:ext uri="{FF2B5EF4-FFF2-40B4-BE49-F238E27FC236}">
                <a16:creationId xmlns:a16="http://schemas.microsoft.com/office/drawing/2014/main" id="{F1F2A1BA-0A08-EF2D-4612-376A4D2A7A24}"/>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Calibri"/>
                <a:ea typeface="+mn-ea"/>
                <a:cs typeface="+mn-cs"/>
              </a:defRPr>
            </a:lvl1pPr>
          </a:lstStyle>
          <a:p>
            <a:r>
              <a:rPr lang="en-US" dirty="0"/>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76E3BFDD-0E89-4DF3-9EB3-0DE3C6F1E5CC}"/>
              </a:ext>
            </a:extLst>
          </p:cNvPr>
          <p:cNvSpPr>
            <a:spLocks noGrp="1"/>
          </p:cNvSpPr>
          <p:nvPr>
            <p:ph type="dt" sz="half" idx="10"/>
          </p:nvPr>
        </p:nvSpPr>
        <p:spPr/>
        <p:txBody>
          <a:bodyPr/>
          <a:lstStyle>
            <a:lvl1pPr>
              <a:defRPr/>
            </a:lvl1pPr>
          </a:lstStyle>
          <a:p>
            <a:pPr>
              <a:defRPr/>
            </a:pPr>
            <a:fld id="{67055DB8-7360-495D-B2C3-4851B191A83B}" type="datetime1">
              <a:rPr lang="en-US" smtClean="0"/>
              <a:t>6/21/2025</a:t>
            </a:fld>
            <a:endParaRPr lang="en-US"/>
          </a:p>
        </p:txBody>
      </p:sp>
      <p:sp>
        <p:nvSpPr>
          <p:cNvPr id="8" name="Footer Placeholder 5">
            <a:extLst>
              <a:ext uri="{FF2B5EF4-FFF2-40B4-BE49-F238E27FC236}">
                <a16:creationId xmlns:a16="http://schemas.microsoft.com/office/drawing/2014/main" id="{6E1C0CC4-9501-1C03-5BAC-4E9057113EF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98088F53-9E48-F3D6-4354-F3368AE6A11E}"/>
              </a:ext>
            </a:extLst>
          </p:cNvPr>
          <p:cNvSpPr>
            <a:spLocks noGrp="1"/>
          </p:cNvSpPr>
          <p:nvPr>
            <p:ph type="sldNum" sz="quarter" idx="12"/>
          </p:nvPr>
        </p:nvSpPr>
        <p:spPr/>
        <p:txBody>
          <a:bodyPr/>
          <a:lstStyle>
            <a:lvl1pPr>
              <a:defRPr/>
            </a:lvl1pPr>
          </a:lstStyle>
          <a:p>
            <a:fld id="{FA840168-F79A-4F79-9DE2-33C64FA35A67}" type="slidenum">
              <a:rPr lang="en-US" altLang="en-US"/>
              <a:pPr/>
              <a:t>‹#›</a:t>
            </a:fld>
            <a:endParaRPr lang="en-US" altLang="en-US"/>
          </a:p>
        </p:txBody>
      </p:sp>
    </p:spTree>
    <p:extLst>
      <p:ext uri="{BB962C8B-B14F-4D97-AF65-F5344CB8AC3E}">
        <p14:creationId xmlns:p14="http://schemas.microsoft.com/office/powerpoint/2010/main" val="1015015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10">
            <a:extLst>
              <a:ext uri="{FF2B5EF4-FFF2-40B4-BE49-F238E27FC236}">
                <a16:creationId xmlns:a16="http://schemas.microsoft.com/office/drawing/2014/main" id="{4745DC34-2F7C-BDC8-B4D9-0CBB689E7D19}"/>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 name="Isosceles Triangle 5">
            <a:extLst>
              <a:ext uri="{FF2B5EF4-FFF2-40B4-BE49-F238E27FC236}">
                <a16:creationId xmlns:a16="http://schemas.microsoft.com/office/drawing/2014/main" id="{3D30E845-E57E-7543-444F-E2D91D5AA5D7}"/>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7" name="Rectangle 6">
            <a:extLst>
              <a:ext uri="{FF2B5EF4-FFF2-40B4-BE49-F238E27FC236}">
                <a16:creationId xmlns:a16="http://schemas.microsoft.com/office/drawing/2014/main" id="{A7443BF5-343A-6DFF-1EE4-D6ACAFE5D417}"/>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12FCA0A5-EB92-39FA-D1A3-45FB8305CA37}"/>
              </a:ext>
            </a:extLst>
          </p:cNvPr>
          <p:cNvSpPr>
            <a:spLocks noGrp="1"/>
          </p:cNvSpPr>
          <p:nvPr>
            <p:ph type="dt" sz="half" idx="10"/>
          </p:nvPr>
        </p:nvSpPr>
        <p:spPr/>
        <p:txBody>
          <a:bodyPr/>
          <a:lstStyle>
            <a:lvl1pPr>
              <a:defRPr/>
            </a:lvl1pPr>
          </a:lstStyle>
          <a:p>
            <a:pPr>
              <a:defRPr/>
            </a:pPr>
            <a:fld id="{90DAAA3F-9BA9-4106-A1D6-805DFEDF2AF8}" type="datetime1">
              <a:rPr lang="en-US" smtClean="0"/>
              <a:t>6/21/2025</a:t>
            </a:fld>
            <a:endParaRPr lang="en-US"/>
          </a:p>
        </p:txBody>
      </p:sp>
      <p:sp>
        <p:nvSpPr>
          <p:cNvPr id="9" name="Footer Placeholder 5">
            <a:extLst>
              <a:ext uri="{FF2B5EF4-FFF2-40B4-BE49-F238E27FC236}">
                <a16:creationId xmlns:a16="http://schemas.microsoft.com/office/drawing/2014/main" id="{CFBE0419-EF27-B1A4-79F7-7718D77AF89F}"/>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8D0D9A8C-8295-C656-994C-622396ADB652}"/>
              </a:ext>
            </a:extLst>
          </p:cNvPr>
          <p:cNvSpPr>
            <a:spLocks noGrp="1"/>
          </p:cNvSpPr>
          <p:nvPr>
            <p:ph type="sldNum" sz="quarter" idx="12"/>
          </p:nvPr>
        </p:nvSpPr>
        <p:spPr/>
        <p:txBody>
          <a:bodyPr/>
          <a:lstStyle>
            <a:lvl1pPr>
              <a:defRPr/>
            </a:lvl1pPr>
          </a:lstStyle>
          <a:p>
            <a:fld id="{39DF7870-459D-4D21-BC60-5375097C2BC2}" type="slidenum">
              <a:rPr lang="en-US" altLang="en-US"/>
              <a:pPr/>
              <a:t>‹#›</a:t>
            </a:fld>
            <a:endParaRPr lang="en-US" altLang="en-US"/>
          </a:p>
        </p:txBody>
      </p:sp>
    </p:spTree>
    <p:extLst>
      <p:ext uri="{BB962C8B-B14F-4D97-AF65-F5344CB8AC3E}">
        <p14:creationId xmlns:p14="http://schemas.microsoft.com/office/powerpoint/2010/main" val="411439884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56AAA87-3707-F590-1C4D-C6E739071CC7}"/>
              </a:ext>
            </a:extLst>
          </p:cNvPr>
          <p:cNvSpPr>
            <a:spLocks noGrp="1"/>
          </p:cNvSpPr>
          <p:nvPr>
            <p:ph type="dt" sz="half" idx="10"/>
          </p:nvPr>
        </p:nvSpPr>
        <p:spPr/>
        <p:txBody>
          <a:bodyPr/>
          <a:lstStyle>
            <a:lvl1pPr>
              <a:defRPr/>
            </a:lvl1pPr>
          </a:lstStyle>
          <a:p>
            <a:pPr>
              <a:defRPr/>
            </a:pPr>
            <a:fld id="{4CDA1175-D535-41A2-B7A6-103A9AB3B830}" type="datetime1">
              <a:rPr lang="en-US" smtClean="0"/>
              <a:t>6/21/2025</a:t>
            </a:fld>
            <a:endParaRPr lang="en-US"/>
          </a:p>
        </p:txBody>
      </p:sp>
      <p:sp>
        <p:nvSpPr>
          <p:cNvPr id="5" name="Footer Placeholder 2">
            <a:extLst>
              <a:ext uri="{FF2B5EF4-FFF2-40B4-BE49-F238E27FC236}">
                <a16:creationId xmlns:a16="http://schemas.microsoft.com/office/drawing/2014/main" id="{5903A65F-EC41-7BE8-31EB-FB11241537F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F4F8B6D1-151B-E829-5FE5-47E82B060FA9}"/>
              </a:ext>
            </a:extLst>
          </p:cNvPr>
          <p:cNvSpPr>
            <a:spLocks noGrp="1"/>
          </p:cNvSpPr>
          <p:nvPr>
            <p:ph type="sldNum" sz="quarter" idx="12"/>
          </p:nvPr>
        </p:nvSpPr>
        <p:spPr/>
        <p:txBody>
          <a:bodyPr/>
          <a:lstStyle>
            <a:lvl1pPr>
              <a:defRPr/>
            </a:lvl1pPr>
          </a:lstStyle>
          <a:p>
            <a:fld id="{5E7166AB-882A-4344-85F9-9222773A7F17}" type="slidenum">
              <a:rPr lang="en-US" altLang="en-US"/>
              <a:pPr/>
              <a:t>‹#›</a:t>
            </a:fld>
            <a:endParaRPr lang="en-US" altLang="en-US"/>
          </a:p>
        </p:txBody>
      </p:sp>
    </p:spTree>
    <p:extLst>
      <p:ext uri="{BB962C8B-B14F-4D97-AF65-F5344CB8AC3E}">
        <p14:creationId xmlns:p14="http://schemas.microsoft.com/office/powerpoint/2010/main" val="3962156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a:extLst>
              <a:ext uri="{FF2B5EF4-FFF2-40B4-BE49-F238E27FC236}">
                <a16:creationId xmlns:a16="http://schemas.microsoft.com/office/drawing/2014/main" id="{F60804A6-C099-1C75-B283-A0E272AE8CBD}"/>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 name="Isosceles Triangle 4">
            <a:extLst>
              <a:ext uri="{FF2B5EF4-FFF2-40B4-BE49-F238E27FC236}">
                <a16:creationId xmlns:a16="http://schemas.microsoft.com/office/drawing/2014/main" id="{D26EB8C3-7AB3-824B-3A6E-127379696B4F}"/>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
        <p:nvSpPr>
          <p:cNvPr id="6" name="Straight Connector 12">
            <a:extLst>
              <a:ext uri="{FF2B5EF4-FFF2-40B4-BE49-F238E27FC236}">
                <a16:creationId xmlns:a16="http://schemas.microsoft.com/office/drawing/2014/main" id="{1B3BDE53-3A85-FE1D-8512-BDA449D50BDF}"/>
              </a:ext>
            </a:extLst>
          </p:cNvPr>
          <p:cNvSpPr>
            <a:spLocks noChangeShapeType="1"/>
          </p:cNvSpPr>
          <p:nvPr/>
        </p:nvSpPr>
        <p:spPr bwMode="auto">
          <a:xfrm rot="5400000">
            <a:off x="3630612" y="3201988"/>
            <a:ext cx="5851525"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8EE4D24-700A-169E-88E5-F429E10C6EA1}"/>
              </a:ext>
            </a:extLst>
          </p:cNvPr>
          <p:cNvSpPr>
            <a:spLocks noGrp="1"/>
          </p:cNvSpPr>
          <p:nvPr>
            <p:ph type="dt" sz="half" idx="10"/>
          </p:nvPr>
        </p:nvSpPr>
        <p:spPr/>
        <p:txBody>
          <a:bodyPr/>
          <a:lstStyle>
            <a:lvl1pPr>
              <a:defRPr/>
            </a:lvl1pPr>
          </a:lstStyle>
          <a:p>
            <a:pPr>
              <a:defRPr/>
            </a:pPr>
            <a:fld id="{AF7D0AD1-1CDA-40D9-A6E4-8D17770CB14F}" type="datetime1">
              <a:rPr lang="en-US" smtClean="0"/>
              <a:t>6/21/2025</a:t>
            </a:fld>
            <a:endParaRPr lang="en-US"/>
          </a:p>
        </p:txBody>
      </p:sp>
      <p:sp>
        <p:nvSpPr>
          <p:cNvPr id="8" name="Footer Placeholder 4">
            <a:extLst>
              <a:ext uri="{FF2B5EF4-FFF2-40B4-BE49-F238E27FC236}">
                <a16:creationId xmlns:a16="http://schemas.microsoft.com/office/drawing/2014/main" id="{AED0CD20-C64A-281D-2A11-02B55499431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C2ADC4D-BA06-3D1E-874F-5B112A9314A2}"/>
              </a:ext>
            </a:extLst>
          </p:cNvPr>
          <p:cNvSpPr>
            <a:spLocks noGrp="1"/>
          </p:cNvSpPr>
          <p:nvPr>
            <p:ph type="sldNum" sz="quarter" idx="12"/>
          </p:nvPr>
        </p:nvSpPr>
        <p:spPr/>
        <p:txBody>
          <a:bodyPr/>
          <a:lstStyle>
            <a:lvl1pPr>
              <a:defRPr/>
            </a:lvl1pPr>
          </a:lstStyle>
          <a:p>
            <a:fld id="{050570F5-B05A-4CD7-8CEB-CC4281E437B1}" type="slidenum">
              <a:rPr lang="en-US" altLang="en-US"/>
              <a:pPr/>
              <a:t>‹#›</a:t>
            </a:fld>
            <a:endParaRPr lang="en-US" altLang="en-US"/>
          </a:p>
        </p:txBody>
      </p:sp>
    </p:spTree>
    <p:extLst>
      <p:ext uri="{BB962C8B-B14F-4D97-AF65-F5344CB8AC3E}">
        <p14:creationId xmlns:p14="http://schemas.microsoft.com/office/powerpoint/2010/main" val="632040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1B36AC64-91AF-5990-71FF-518AE11DE277}"/>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167DFD9E-84C5-6593-FBC3-15F1252A0D41}"/>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AE815DEE-0CF1-1FB8-6C08-2EB6B4CA5486}"/>
              </a:ext>
            </a:extLst>
          </p:cNvPr>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latin typeface="Calibri"/>
                <a:ea typeface="ＭＳ Ｐゴシック" charset="-128"/>
                <a:cs typeface="ＭＳ Ｐゴシック" charset="-128"/>
              </a:defRPr>
            </a:lvl1pPr>
          </a:lstStyle>
          <a:p>
            <a:pPr>
              <a:defRPr/>
            </a:pPr>
            <a:fld id="{0FED3A30-961F-4569-BACA-EE6FA269D741}" type="datetime1">
              <a:rPr lang="en-US" smtClean="0"/>
              <a:t>6/21/2025</a:t>
            </a:fld>
            <a:endParaRPr lang="en-US"/>
          </a:p>
        </p:txBody>
      </p:sp>
      <p:sp>
        <p:nvSpPr>
          <p:cNvPr id="3" name="Footer Placeholder 2">
            <a:extLst>
              <a:ext uri="{FF2B5EF4-FFF2-40B4-BE49-F238E27FC236}">
                <a16:creationId xmlns:a16="http://schemas.microsoft.com/office/drawing/2014/main" id="{97D483F0-F644-E419-52F8-44436CD8F597}"/>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Calibri"/>
                <a:ea typeface="ＭＳ Ｐゴシック" charset="-128"/>
                <a:cs typeface="ＭＳ Ｐゴシック" charset="-128"/>
              </a:defRPr>
            </a:lvl1pPr>
          </a:lstStyle>
          <a:p>
            <a:pPr>
              <a:defRPr/>
            </a:pPr>
            <a:endParaRPr lang="en-US"/>
          </a:p>
        </p:txBody>
      </p:sp>
      <p:sp>
        <p:nvSpPr>
          <p:cNvPr id="23" name="Slide Number Placeholder 22">
            <a:extLst>
              <a:ext uri="{FF2B5EF4-FFF2-40B4-BE49-F238E27FC236}">
                <a16:creationId xmlns:a16="http://schemas.microsoft.com/office/drawing/2014/main" id="{1C742C2F-F457-D53C-352D-31612C3E6EBF}"/>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Calibri" panose="020F0502020204030204" pitchFamily="34" charset="0"/>
              </a:defRPr>
            </a:lvl1pPr>
          </a:lstStyle>
          <a:p>
            <a:fld id="{6E1BCE37-AC00-4F75-A5B6-8C20F24B6D52}" type="slidenum">
              <a:rPr lang="en-US" altLang="en-US"/>
              <a:pPr/>
              <a:t>‹#›</a:t>
            </a:fld>
            <a:endParaRPr lang="en-US" altLang="en-US"/>
          </a:p>
        </p:txBody>
      </p:sp>
      <p:sp>
        <p:nvSpPr>
          <p:cNvPr id="1031" name="Straight Connector 27">
            <a:extLst>
              <a:ext uri="{FF2B5EF4-FFF2-40B4-BE49-F238E27FC236}">
                <a16:creationId xmlns:a16="http://schemas.microsoft.com/office/drawing/2014/main" id="{C816AEB3-E348-8A4A-4A42-B5E37296C62D}"/>
              </a:ext>
            </a:extLst>
          </p:cNvPr>
          <p:cNvSpPr>
            <a:spLocks noChangeShapeType="1"/>
          </p:cNvSpPr>
          <p:nvPr/>
        </p:nvSpPr>
        <p:spPr bwMode="auto">
          <a:xfrm>
            <a:off x="457200" y="6353175"/>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32" name="Straight Connector 28">
            <a:extLst>
              <a:ext uri="{FF2B5EF4-FFF2-40B4-BE49-F238E27FC236}">
                <a16:creationId xmlns:a16="http://schemas.microsoft.com/office/drawing/2014/main" id="{B85CC54E-1D2F-06E9-7A24-AAFA20DC659C}"/>
              </a:ext>
            </a:extLst>
          </p:cNvPr>
          <p:cNvSpPr>
            <a:spLocks noChangeShapeType="1"/>
          </p:cNvSpPr>
          <p:nvPr/>
        </p:nvSpPr>
        <p:spPr bwMode="auto">
          <a:xfrm>
            <a:off x="457200" y="1143000"/>
            <a:ext cx="8229600" cy="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Isosceles Triangle 9">
            <a:extLst>
              <a:ext uri="{FF2B5EF4-FFF2-40B4-BE49-F238E27FC236}">
                <a16:creationId xmlns:a16="http://schemas.microsoft.com/office/drawing/2014/main" id="{8BA74602-FDF1-5DC4-D155-ED8DC8C270CA}"/>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latin typeface="Calibri"/>
            </a:endParaRPr>
          </a:p>
        </p:txBody>
      </p:sp>
    </p:spTree>
  </p:cSld>
  <p:clrMap bg1="lt1" tx1="dk1" bg2="lt2" tx2="dk2" accent1="accent1" accent2="accent2" accent3="accent3" accent4="accent4" accent5="accent5" accent6="accent6" hlink="hlink" folHlink="folHlink"/>
  <p:sldLayoutIdLst>
    <p:sldLayoutId id="2147483894" r:id="rId1"/>
    <p:sldLayoutId id="2147483890" r:id="rId2"/>
    <p:sldLayoutId id="2147483895" r:id="rId3"/>
    <p:sldLayoutId id="2147483891" r:id="rId4"/>
    <p:sldLayoutId id="2147483892" r:id="rId5"/>
    <p:sldLayoutId id="2147483896" r:id="rId6"/>
    <p:sldLayoutId id="2147483897" r:id="rId7"/>
    <p:sldLayoutId id="2147483898" r:id="rId8"/>
    <p:sldLayoutId id="2147483899" r:id="rId9"/>
    <p:sldLayoutId id="2147483893" r:id="rId10"/>
    <p:sldLayoutId id="2147483900" r:id="rId11"/>
  </p:sldLayoutIdLst>
  <p:hf sldNum="0" hdr="0" ftr="0" dt="0"/>
  <p:txStyles>
    <p:titleStyle>
      <a:lvl1pPr algn="l" rtl="0" eaLnBrk="0" fontAlgn="base" hangingPunct="0">
        <a:spcBef>
          <a:spcPct val="0"/>
        </a:spcBef>
        <a:spcAft>
          <a:spcPct val="0"/>
        </a:spcAft>
        <a:defRPr sz="3200" b="1" kern="1200">
          <a:solidFill>
            <a:schemeClr val="tx2"/>
          </a:solidFill>
          <a:latin typeface="Calibri"/>
          <a:ea typeface="MS PGothic" panose="020B0600070205080204" pitchFamily="34" charset="-128"/>
          <a:cs typeface="Calibri"/>
        </a:defRPr>
      </a:lvl1pPr>
      <a:lvl2pPr algn="l" rtl="0" eaLnBrk="0" fontAlgn="base" hangingPunct="0">
        <a:spcBef>
          <a:spcPct val="0"/>
        </a:spcBef>
        <a:spcAft>
          <a:spcPct val="0"/>
        </a:spcAft>
        <a:defRPr sz="3200" b="1">
          <a:solidFill>
            <a:schemeClr val="tx2"/>
          </a:solidFill>
          <a:latin typeface="Calibri" charset="0"/>
          <a:ea typeface="MS PGothic" panose="020B0600070205080204" pitchFamily="34" charset="-128"/>
          <a:cs typeface="ＭＳ Ｐゴシック" charset="-128"/>
        </a:defRPr>
      </a:lvl2pPr>
      <a:lvl3pPr algn="l" rtl="0" eaLnBrk="0" fontAlgn="base" hangingPunct="0">
        <a:spcBef>
          <a:spcPct val="0"/>
        </a:spcBef>
        <a:spcAft>
          <a:spcPct val="0"/>
        </a:spcAft>
        <a:defRPr sz="3200" b="1">
          <a:solidFill>
            <a:schemeClr val="tx2"/>
          </a:solidFill>
          <a:latin typeface="Calibri" charset="0"/>
          <a:ea typeface="MS PGothic" panose="020B0600070205080204" pitchFamily="34" charset="-128"/>
          <a:cs typeface="ＭＳ Ｐゴシック" charset="-128"/>
        </a:defRPr>
      </a:lvl3pPr>
      <a:lvl4pPr algn="l" rtl="0" eaLnBrk="0" fontAlgn="base" hangingPunct="0">
        <a:spcBef>
          <a:spcPct val="0"/>
        </a:spcBef>
        <a:spcAft>
          <a:spcPct val="0"/>
        </a:spcAft>
        <a:defRPr sz="3200" b="1">
          <a:solidFill>
            <a:schemeClr val="tx2"/>
          </a:solidFill>
          <a:latin typeface="Calibri" charset="0"/>
          <a:ea typeface="MS PGothic" panose="020B0600070205080204" pitchFamily="34" charset="-128"/>
          <a:cs typeface="ＭＳ Ｐゴシック" charset="-128"/>
        </a:defRPr>
      </a:lvl4pPr>
      <a:lvl5pPr algn="l" rtl="0" eaLnBrk="0" fontAlgn="base" hangingPunct="0">
        <a:spcBef>
          <a:spcPct val="0"/>
        </a:spcBef>
        <a:spcAft>
          <a:spcPct val="0"/>
        </a:spcAft>
        <a:defRPr sz="3200" b="1">
          <a:solidFill>
            <a:schemeClr val="tx2"/>
          </a:solidFill>
          <a:latin typeface="Calibri" charset="0"/>
          <a:ea typeface="MS PGothic" panose="020B0600070205080204" pitchFamily="34" charset="-128"/>
          <a:cs typeface="ＭＳ Ｐゴシック" charset="-128"/>
        </a:defRPr>
      </a:lvl5pPr>
      <a:lvl6pPr marL="4572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6pPr>
      <a:lvl7pPr marL="9144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7pPr>
      <a:lvl8pPr marL="13716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8pPr>
      <a:lvl9pPr marL="18288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Calibri"/>
          <a:ea typeface="MS PGothic" panose="020B0600070205080204" pitchFamily="34" charset="-128"/>
          <a:cs typeface="ＭＳ Ｐゴシック" charset="-128"/>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Calibri"/>
          <a:ea typeface="MS PGothic" panose="020B0600070205080204" pitchFamily="34" charset="-128"/>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Calibri"/>
          <a:ea typeface="MS PGothic" panose="020B0600070205080204" pitchFamily="34" charset="-128"/>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Calibri"/>
          <a:ea typeface="MS PGothic" panose="020B0600070205080204" pitchFamily="34" charset="-128"/>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Calibri"/>
          <a:ea typeface="MS PGothic" panose="020B0600070205080204" pitchFamily="34"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D5FA4718-2869-3BB0-4AD8-52673D40EAE4}"/>
              </a:ext>
            </a:extLst>
          </p:cNvPr>
          <p:cNvSpPr>
            <a:spLocks noGrp="1" noChangeArrowheads="1"/>
          </p:cNvSpPr>
          <p:nvPr>
            <p:ph type="ctrTitle"/>
          </p:nvPr>
        </p:nvSpPr>
        <p:spPr>
          <a:xfrm>
            <a:off x="304800" y="3810000"/>
            <a:ext cx="7848600" cy="860425"/>
          </a:xfrm>
        </p:spPr>
        <p:txBody>
          <a:bodyPr/>
          <a:lstStyle/>
          <a:p>
            <a:pPr eaLnBrk="1" hangingPunct="1"/>
            <a:r>
              <a:rPr lang="en-US" altLang="en-US">
                <a:latin typeface="Calibri" panose="020F0502020204030204" pitchFamily="34" charset="0"/>
              </a:rPr>
              <a:t>Cryptographic Hash Functions</a:t>
            </a:r>
            <a:endParaRPr lang="en-AU" altLang="en-US">
              <a:latin typeface="Calibri" panose="020F0502020204030204"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B59698B3-564F-1EFF-9D97-25CDB8F1C26E}"/>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17410" name="Content Placeholder 2">
            <a:extLst>
              <a:ext uri="{FF2B5EF4-FFF2-40B4-BE49-F238E27FC236}">
                <a16:creationId xmlns:a16="http://schemas.microsoft.com/office/drawing/2014/main" id="{1FA350F4-A1A9-695B-A589-0D698F1CD5DE}"/>
              </a:ext>
            </a:extLst>
          </p:cNvPr>
          <p:cNvSpPr>
            <a:spLocks noGrp="1"/>
          </p:cNvSpPr>
          <p:nvPr>
            <p:ph sz="quarter" idx="1"/>
          </p:nvPr>
        </p:nvSpPr>
        <p:spPr>
          <a:xfrm>
            <a:off x="457200" y="1219200"/>
            <a:ext cx="8229600" cy="4937125"/>
          </a:xfrm>
        </p:spPr>
        <p:txBody>
          <a:bodyPr/>
          <a:lstStyle/>
          <a:p>
            <a:r>
              <a:rPr lang="en-US" altLang="en-US" b="1" dirty="0">
                <a:latin typeface="Calibri" panose="020F0502020204030204" pitchFamily="34" charset="0"/>
              </a:rPr>
              <a:t>Overview of Cryptography Hash Function</a:t>
            </a:r>
          </a:p>
          <a:p>
            <a:r>
              <a:rPr lang="en-US" altLang="en-US" dirty="0">
                <a:latin typeface="Calibri" panose="020F0502020204030204" pitchFamily="34" charset="0"/>
              </a:rPr>
              <a:t>Usages</a:t>
            </a:r>
          </a:p>
          <a:p>
            <a:r>
              <a:rPr lang="en-US" altLang="en-US" dirty="0">
                <a:latin typeface="Calibri" panose="020F0502020204030204" pitchFamily="34" charset="0"/>
              </a:rPr>
              <a:t>Properties</a:t>
            </a:r>
          </a:p>
          <a:p>
            <a:r>
              <a:rPr lang="en-US" altLang="en-US" dirty="0">
                <a:latin typeface="Calibri" panose="020F0502020204030204" pitchFamily="34" charset="0"/>
              </a:rPr>
              <a:t>Hashing Function Structure</a:t>
            </a:r>
          </a:p>
          <a:p>
            <a:r>
              <a:rPr lang="en-US" altLang="en-US" dirty="0">
                <a:latin typeface="Calibri" panose="020F0502020204030204" pitchFamily="34" charset="0"/>
              </a:rPr>
              <a:t>Attack on Hash Function </a:t>
            </a:r>
          </a:p>
          <a:p>
            <a:endParaRPr lang="en-US" altLang="en-US" dirty="0">
              <a:latin typeface="Calibri" panose="020F050202020403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B607144-0BDE-99A6-429E-56AFC6AFF5BC}"/>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Hash Function</a:t>
            </a:r>
          </a:p>
        </p:txBody>
      </p:sp>
      <p:sp>
        <p:nvSpPr>
          <p:cNvPr id="18435" name="Rectangle 3">
            <a:extLst>
              <a:ext uri="{FF2B5EF4-FFF2-40B4-BE49-F238E27FC236}">
                <a16:creationId xmlns:a16="http://schemas.microsoft.com/office/drawing/2014/main" id="{38074029-B258-CBEB-FB44-E8C0A71183CC}"/>
              </a:ext>
            </a:extLst>
          </p:cNvPr>
          <p:cNvSpPr>
            <a:spLocks noGrp="1" noChangeArrowheads="1"/>
          </p:cNvSpPr>
          <p:nvPr>
            <p:ph type="body" idx="1"/>
          </p:nvPr>
        </p:nvSpPr>
        <p:spPr>
          <a:xfrm>
            <a:off x="4800600" y="1600200"/>
            <a:ext cx="4114800" cy="3048000"/>
          </a:xfrm>
        </p:spPr>
        <p:txBody>
          <a:bodyPr/>
          <a:lstStyle/>
          <a:p>
            <a:pPr eaLnBrk="1" hangingPunct="1">
              <a:lnSpc>
                <a:spcPct val="90000"/>
              </a:lnSpc>
            </a:pPr>
            <a:r>
              <a:rPr lang="en-US" altLang="en-US" sz="2400" dirty="0">
                <a:latin typeface="Calibri" panose="020F0502020204030204" pitchFamily="34" charset="0"/>
                <a:cs typeface="Calibri" panose="020F0502020204030204" pitchFamily="34" charset="0"/>
              </a:rPr>
              <a:t>The hash value represents concisely the longer message</a:t>
            </a:r>
          </a:p>
          <a:p>
            <a:pPr lvl="1" eaLnBrk="1" hangingPunct="1">
              <a:lnSpc>
                <a:spcPct val="90000"/>
              </a:lnSpc>
            </a:pPr>
            <a:r>
              <a:rPr lang="en-US" altLang="en-US" sz="2000" dirty="0">
                <a:latin typeface="Calibri" panose="020F0502020204030204" pitchFamily="34" charset="0"/>
                <a:cs typeface="Calibri" panose="020F0502020204030204" pitchFamily="34" charset="0"/>
              </a:rPr>
              <a:t>may called the </a:t>
            </a:r>
            <a:r>
              <a:rPr lang="en-US" altLang="en-US" sz="2000" i="1" dirty="0">
                <a:latin typeface="Calibri" panose="020F0502020204030204" pitchFamily="34" charset="0"/>
                <a:cs typeface="Calibri" panose="020F0502020204030204" pitchFamily="34" charset="0"/>
              </a:rPr>
              <a:t>message diges</a:t>
            </a:r>
            <a:r>
              <a:rPr lang="en-US" altLang="en-US" sz="2000" dirty="0">
                <a:latin typeface="Calibri" panose="020F0502020204030204" pitchFamily="34" charset="0"/>
                <a:cs typeface="Calibri" panose="020F0502020204030204" pitchFamily="34" charset="0"/>
              </a:rPr>
              <a:t>t</a:t>
            </a:r>
          </a:p>
          <a:p>
            <a:pPr eaLnBrk="1" hangingPunct="1">
              <a:lnSpc>
                <a:spcPct val="90000"/>
              </a:lnSpc>
            </a:pPr>
            <a:endParaRPr lang="en-US" altLang="en-US" sz="2400" dirty="0">
              <a:latin typeface="Calibri" panose="020F0502020204030204" pitchFamily="34" charset="0"/>
              <a:cs typeface="Calibri" panose="020F0502020204030204" pitchFamily="34" charset="0"/>
            </a:endParaRPr>
          </a:p>
          <a:p>
            <a:pPr eaLnBrk="1" hangingPunct="1">
              <a:lnSpc>
                <a:spcPct val="90000"/>
              </a:lnSpc>
            </a:pPr>
            <a:r>
              <a:rPr lang="en-US" altLang="en-US" sz="2400">
                <a:latin typeface="Calibri" panose="020F0502020204030204" pitchFamily="34" charset="0"/>
                <a:cs typeface="Calibri" panose="020F0502020204030204" pitchFamily="34" charset="0"/>
              </a:rPr>
              <a:t>A message digest is as a “digital fingerprint” of the original document</a:t>
            </a:r>
          </a:p>
        </p:txBody>
      </p:sp>
      <p:pic>
        <p:nvPicPr>
          <p:cNvPr id="18436" name="Picture 3">
            <a:extLst>
              <a:ext uri="{FF2B5EF4-FFF2-40B4-BE49-F238E27FC236}">
                <a16:creationId xmlns:a16="http://schemas.microsoft.com/office/drawing/2014/main" id="{90AC7D92-7B66-384A-B2B6-B501FD611E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1600"/>
            <a:ext cx="4114800" cy="49149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5">
            <a:extLst>
              <a:ext uri="{FF2B5EF4-FFF2-40B4-BE49-F238E27FC236}">
                <a16:creationId xmlns:a16="http://schemas.microsoft.com/office/drawing/2014/main" id="{9824D7F8-9E77-00E8-5907-C9D8BB0A542E}"/>
              </a:ext>
            </a:extLst>
          </p:cNvPr>
          <p:cNvSpPr>
            <a:spLocks noChangeArrowheads="1"/>
          </p:cNvSpPr>
          <p:nvPr/>
        </p:nvSpPr>
        <p:spPr bwMode="auto">
          <a:xfrm>
            <a:off x="3276600" y="5029200"/>
            <a:ext cx="4572000" cy="708025"/>
          </a:xfrm>
          <a:prstGeom prst="rect">
            <a:avLst/>
          </a:prstGeom>
          <a:solidFill>
            <a:srgbClr val="00760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AU" altLang="en-US" sz="2000">
                <a:solidFill>
                  <a:schemeClr val="bg1"/>
                </a:solidFill>
                <a:latin typeface="Calibri" panose="020F0502020204030204" pitchFamily="34" charset="0"/>
                <a:cs typeface="Calibri" panose="020F0502020204030204" pitchFamily="34" charset="0"/>
              </a:rPr>
              <a:t>condenses arbitrary message to fixed size</a:t>
            </a:r>
          </a:p>
          <a:p>
            <a:pPr lvl="1" algn="ctr" eaLnBrk="1" hangingPunct="1">
              <a:buFont typeface="Wingdings" panose="05000000000000000000" pitchFamily="2" charset="2"/>
              <a:buNone/>
            </a:pPr>
            <a:r>
              <a:rPr lang="en-US" altLang="en-US" sz="2000" i="1">
                <a:solidFill>
                  <a:schemeClr val="bg1"/>
                </a:solidFill>
                <a:latin typeface="Times New Roman" panose="02020603050405020304" pitchFamily="18" charset="0"/>
                <a:cs typeface="Times New Roman" panose="02020603050405020304" pitchFamily="18" charset="0"/>
              </a:rPr>
              <a:t>h</a:t>
            </a:r>
            <a:r>
              <a:rPr lang="en-US" altLang="en-US" sz="2000">
                <a:solidFill>
                  <a:schemeClr val="bg1"/>
                </a:solidFill>
                <a:latin typeface="Times New Roman" panose="02020603050405020304" pitchFamily="18" charset="0"/>
                <a:cs typeface="Times New Roman" panose="02020603050405020304" pitchFamily="18" charset="0"/>
              </a:rPr>
              <a:t>  =</a:t>
            </a:r>
            <a:r>
              <a:rPr lang="en-US" altLang="en-US" sz="2000" i="1">
                <a:solidFill>
                  <a:schemeClr val="bg1"/>
                </a:solidFill>
                <a:latin typeface="Times New Roman" panose="02020603050405020304" pitchFamily="18" charset="0"/>
                <a:cs typeface="Times New Roman" panose="02020603050405020304" pitchFamily="18" charset="0"/>
              </a:rPr>
              <a:t>  H</a:t>
            </a:r>
            <a:r>
              <a:rPr lang="en-US" altLang="en-US" sz="2000">
                <a:solidFill>
                  <a:schemeClr val="bg1"/>
                </a:solidFill>
                <a:latin typeface="Times New Roman" panose="02020603050405020304" pitchFamily="18" charset="0"/>
                <a:cs typeface="Times New Roman" panose="02020603050405020304" pitchFamily="18" charset="0"/>
              </a:rPr>
              <a:t>(</a:t>
            </a:r>
            <a:r>
              <a:rPr lang="en-US" altLang="en-US" sz="2000" i="1">
                <a:solidFill>
                  <a:schemeClr val="bg1"/>
                </a:solidFill>
                <a:latin typeface="Times New Roman" panose="02020603050405020304" pitchFamily="18" charset="0"/>
                <a:cs typeface="Times New Roman" panose="02020603050405020304" pitchFamily="18" charset="0"/>
              </a:rPr>
              <a:t>M</a:t>
            </a:r>
            <a:r>
              <a:rPr lang="en-US" altLang="en-US" sz="2000">
                <a:solidFill>
                  <a:schemeClr val="bg1"/>
                </a:solidFill>
                <a:latin typeface="Times New Roman" panose="02020603050405020304" pitchFamily="18" charset="0"/>
                <a:cs typeface="Times New Roman" panose="02020603050405020304" pitchFamily="18" charset="0"/>
              </a:rPr>
              <a:t>)</a:t>
            </a:r>
          </a:p>
        </p:txBody>
      </p:sp>
      <p:pic>
        <p:nvPicPr>
          <p:cNvPr id="18438" name="Picture 7">
            <a:extLst>
              <a:ext uri="{FF2B5EF4-FFF2-40B4-BE49-F238E27FC236}">
                <a16:creationId xmlns:a16="http://schemas.microsoft.com/office/drawing/2014/main" id="{A6CB4B33-E880-E0DE-885B-70AA32569868}"/>
              </a:ext>
            </a:extLst>
          </p:cNvPr>
          <p:cNvPicPr>
            <a:picLocks noChangeAspect="1"/>
          </p:cNvPicPr>
          <p:nvPr/>
        </p:nvPicPr>
        <p:blipFill>
          <a:blip r:embed="rId4">
            <a:lum bright="-28000" contrast="40000"/>
            <a:extLst>
              <a:ext uri="{28A0092B-C50C-407E-A947-70E740481C1C}">
                <a14:useLocalDpi xmlns:a14="http://schemas.microsoft.com/office/drawing/2010/main" val="0"/>
              </a:ext>
            </a:extLst>
          </a:blip>
          <a:srcRect/>
          <a:stretch>
            <a:fillRect/>
          </a:stretch>
        </p:blipFill>
        <p:spPr bwMode="auto">
          <a:xfrm>
            <a:off x="3851920" y="3567112"/>
            <a:ext cx="1123917" cy="1355725"/>
          </a:xfrm>
          <a:prstGeom prst="rect">
            <a:avLst/>
          </a:prstGeom>
          <a:noFill/>
          <a:ln>
            <a:noFill/>
          </a:ln>
          <a:extLst>
            <a:ext uri="{909E8E84-426E-40DD-AFC4-6F175D3DCCD1}">
              <a14:hiddenFill xmlns:a14="http://schemas.microsoft.com/office/drawing/2010/main">
                <a:solidFill>
                  <a:srgbClr val="FFFFFF">
                    <a:alpha val="14902"/>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3FED82E7-BBB6-D836-DDE7-9D3137754263}"/>
              </a:ext>
            </a:extLst>
          </p:cNvPr>
          <p:cNvSpPr/>
          <p:nvPr/>
        </p:nvSpPr>
        <p:spPr>
          <a:xfrm>
            <a:off x="533400" y="4191000"/>
            <a:ext cx="8305800" cy="20574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sp>
        <p:nvSpPr>
          <p:cNvPr id="39" name="Rectangle 38">
            <a:extLst>
              <a:ext uri="{FF2B5EF4-FFF2-40B4-BE49-F238E27FC236}">
                <a16:creationId xmlns:a16="http://schemas.microsoft.com/office/drawing/2014/main" id="{8B50A16B-126B-39A5-B93C-2430A0E9D58F}"/>
              </a:ext>
            </a:extLst>
          </p:cNvPr>
          <p:cNvSpPr/>
          <p:nvPr/>
        </p:nvSpPr>
        <p:spPr>
          <a:xfrm>
            <a:off x="533400" y="1219200"/>
            <a:ext cx="8305800" cy="28194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sp>
        <p:nvSpPr>
          <p:cNvPr id="22535" name="Title 1">
            <a:extLst>
              <a:ext uri="{FF2B5EF4-FFF2-40B4-BE49-F238E27FC236}">
                <a16:creationId xmlns:a16="http://schemas.microsoft.com/office/drawing/2014/main" id="{C1FC6800-8142-D8A1-C636-50326E801744}"/>
              </a:ext>
            </a:extLst>
          </p:cNvPr>
          <p:cNvSpPr>
            <a:spLocks noGrp="1"/>
          </p:cNvSpPr>
          <p:nvPr>
            <p:ph type="title"/>
          </p:nvPr>
        </p:nvSpPr>
        <p:spPr/>
        <p:txBody>
          <a:bodyPr/>
          <a:lstStyle/>
          <a:p>
            <a:pPr eaLnBrk="1" hangingPunct="1"/>
            <a:r>
              <a:rPr lang="en-US" altLang="en-US">
                <a:latin typeface="Calibri" panose="020F0502020204030204" pitchFamily="34" charset="0"/>
              </a:rPr>
              <a:t>Hashing V.S. Encryption</a:t>
            </a:r>
          </a:p>
        </p:txBody>
      </p:sp>
      <p:sp>
        <p:nvSpPr>
          <p:cNvPr id="22537" name="Content Placeholder 2">
            <a:extLst>
              <a:ext uri="{FF2B5EF4-FFF2-40B4-BE49-F238E27FC236}">
                <a16:creationId xmlns:a16="http://schemas.microsoft.com/office/drawing/2014/main" id="{793DC92F-6136-4797-DD14-89421F67139D}"/>
              </a:ext>
            </a:extLst>
          </p:cNvPr>
          <p:cNvSpPr>
            <a:spLocks noGrp="1"/>
          </p:cNvSpPr>
          <p:nvPr>
            <p:ph idx="1"/>
          </p:nvPr>
        </p:nvSpPr>
        <p:spPr>
          <a:xfrm>
            <a:off x="457200" y="5791200"/>
            <a:ext cx="8229600" cy="457200"/>
          </a:xfrm>
        </p:spPr>
        <p:txBody>
          <a:bodyPr/>
          <a:lstStyle/>
          <a:p>
            <a:pPr lvl="1" eaLnBrk="1" hangingPunct="1"/>
            <a:r>
              <a:rPr lang="en-US" altLang="en-US" sz="2000">
                <a:latin typeface="Calibri" panose="020F0502020204030204" pitchFamily="34" charset="0"/>
              </a:rPr>
              <a:t>Hashing is one-way.  There is no 'de-hashing’</a:t>
            </a:r>
          </a:p>
        </p:txBody>
      </p:sp>
      <p:grpSp>
        <p:nvGrpSpPr>
          <p:cNvPr id="2" name="Group 27">
            <a:extLst>
              <a:ext uri="{FF2B5EF4-FFF2-40B4-BE49-F238E27FC236}">
                <a16:creationId xmlns:a16="http://schemas.microsoft.com/office/drawing/2014/main" id="{A474A586-C3B0-2820-81F0-D39281C18363}"/>
              </a:ext>
            </a:extLst>
          </p:cNvPr>
          <p:cNvGrpSpPr>
            <a:grpSpLocks/>
          </p:cNvGrpSpPr>
          <p:nvPr/>
        </p:nvGrpSpPr>
        <p:grpSpPr bwMode="auto">
          <a:xfrm>
            <a:off x="838200" y="1295400"/>
            <a:ext cx="7772400" cy="990600"/>
            <a:chOff x="838200" y="1295400"/>
            <a:chExt cx="7772400" cy="990600"/>
          </a:xfrm>
        </p:grpSpPr>
        <p:cxnSp>
          <p:nvCxnSpPr>
            <p:cNvPr id="10" name="Straight Arrow Connector 9">
              <a:extLst>
                <a:ext uri="{FF2B5EF4-FFF2-40B4-BE49-F238E27FC236}">
                  <a16:creationId xmlns:a16="http://schemas.microsoft.com/office/drawing/2014/main" id="{89350120-0AD4-DD8E-E38E-E85421A36B72}"/>
                </a:ext>
              </a:extLst>
            </p:cNvPr>
            <p:cNvCxnSpPr>
              <a:cxnSpLocks noChangeShapeType="1"/>
            </p:cNvCxnSpPr>
            <p:nvPr/>
          </p:nvCxnSpPr>
          <p:spPr bwMode="auto">
            <a:xfrm>
              <a:off x="2819400" y="1828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87C6D102-A7CF-1EF8-E721-F831B5E96ED6}"/>
                </a:ext>
              </a:extLst>
            </p:cNvPr>
            <p:cNvCxnSpPr>
              <a:cxnSpLocks noChangeShapeType="1"/>
            </p:cNvCxnSpPr>
            <p:nvPr/>
          </p:nvCxnSpPr>
          <p:spPr bwMode="auto">
            <a:xfrm>
              <a:off x="5105400" y="17526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13" name="Rectangle 12">
              <a:extLst>
                <a:ext uri="{FF2B5EF4-FFF2-40B4-BE49-F238E27FC236}">
                  <a16:creationId xmlns:a16="http://schemas.microsoft.com/office/drawing/2014/main" id="{8E99EFB0-1D72-F5C0-684E-E821082D7AA3}"/>
                </a:ext>
              </a:extLst>
            </p:cNvPr>
            <p:cNvSpPr/>
            <p:nvPr/>
          </p:nvSpPr>
          <p:spPr>
            <a:xfrm>
              <a:off x="838200" y="1295400"/>
              <a:ext cx="21336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a:solidFill>
                    <a:srgbClr val="FFFFFF"/>
                  </a:solidFill>
                  <a:latin typeface="Calibri" charset="0"/>
                  <a:ea typeface="ＭＳ Ｐゴシック" charset="-128"/>
                  <a:cs typeface="ＭＳ Ｐゴシック" charset="-128"/>
                </a:rPr>
                <a:t>Hello, world.</a:t>
              </a:r>
            </a:p>
            <a:p>
              <a:pPr algn="ctr">
                <a:defRPr/>
              </a:pPr>
              <a:r>
                <a:rPr lang="en-US" sz="1600">
                  <a:solidFill>
                    <a:srgbClr val="FFFFFF"/>
                  </a:solidFill>
                  <a:latin typeface="Calibri" charset="0"/>
                  <a:ea typeface="ＭＳ Ｐゴシック" charset="-128"/>
                  <a:cs typeface="ＭＳ Ｐゴシック" charset="-128"/>
                </a:rPr>
                <a:t>A sample sentence to show encryption.</a:t>
              </a:r>
            </a:p>
          </p:txBody>
        </p:sp>
        <p:sp>
          <p:nvSpPr>
            <p:cNvPr id="16" name="Rectangle 15">
              <a:extLst>
                <a:ext uri="{FF2B5EF4-FFF2-40B4-BE49-F238E27FC236}">
                  <a16:creationId xmlns:a16="http://schemas.microsoft.com/office/drawing/2014/main" id="{11D31B1A-E03C-4486-E5A6-BFBA7EFAC3A1}"/>
                </a:ext>
              </a:extLst>
            </p:cNvPr>
            <p:cNvSpPr/>
            <p:nvPr/>
          </p:nvSpPr>
          <p:spPr>
            <a:xfrm>
              <a:off x="4114800" y="1371600"/>
              <a:ext cx="990600" cy="7620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E</a:t>
              </a:r>
            </a:p>
          </p:txBody>
        </p:sp>
        <p:sp>
          <p:nvSpPr>
            <p:cNvPr id="17" name="Rectangle 16">
              <a:extLst>
                <a:ext uri="{FF2B5EF4-FFF2-40B4-BE49-F238E27FC236}">
                  <a16:creationId xmlns:a16="http://schemas.microsoft.com/office/drawing/2014/main" id="{136D6439-2C82-5C46-8F2F-A13933EAF62B}"/>
                </a:ext>
              </a:extLst>
            </p:cNvPr>
            <p:cNvSpPr/>
            <p:nvPr/>
          </p:nvSpPr>
          <p:spPr>
            <a:xfrm>
              <a:off x="6248400" y="1295400"/>
              <a:ext cx="23622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NhbXBsZSBzZW50ZW5jZSB0byBzaG93IEVuY3J5cHRpb24KsZSBzZ</a:t>
              </a:r>
            </a:p>
          </p:txBody>
        </p:sp>
        <p:sp>
          <p:nvSpPr>
            <p:cNvPr id="30" name="Rectangle 29">
              <a:extLst>
                <a:ext uri="{FF2B5EF4-FFF2-40B4-BE49-F238E27FC236}">
                  <a16:creationId xmlns:a16="http://schemas.microsoft.com/office/drawing/2014/main" id="{F7337A53-503A-E14B-459A-A42B9E5BECDB}"/>
                </a:ext>
              </a:extLst>
            </p:cNvPr>
            <p:cNvSpPr/>
            <p:nvPr/>
          </p:nvSpPr>
          <p:spPr>
            <a:xfrm>
              <a:off x="3276600" y="1371600"/>
              <a:ext cx="381000" cy="3048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b"/>
            <a:lstStyle/>
            <a:p>
              <a:pPr algn="ctr">
                <a:defRPr/>
              </a:pPr>
              <a:r>
                <a:rPr lang="en-US" sz="1600" dirty="0" err="1">
                  <a:latin typeface="Calibri"/>
                </a:rPr>
                <a:t>k</a:t>
              </a:r>
              <a:endParaRPr lang="en-US" sz="1600" dirty="0">
                <a:latin typeface="Calibri"/>
              </a:endParaRPr>
            </a:p>
          </p:txBody>
        </p:sp>
        <p:cxnSp>
          <p:nvCxnSpPr>
            <p:cNvPr id="31" name="Straight Arrow Connector 30">
              <a:extLst>
                <a:ext uri="{FF2B5EF4-FFF2-40B4-BE49-F238E27FC236}">
                  <a16:creationId xmlns:a16="http://schemas.microsoft.com/office/drawing/2014/main" id="{E7F48F23-08DE-650B-F271-6F64FFCFB827}"/>
                </a:ext>
              </a:extLst>
            </p:cNvPr>
            <p:cNvCxnSpPr>
              <a:cxnSpLocks noChangeShapeType="1"/>
            </p:cNvCxnSpPr>
            <p:nvPr/>
          </p:nvCxnSpPr>
          <p:spPr bwMode="auto">
            <a:xfrm>
              <a:off x="3657600" y="1524000"/>
              <a:ext cx="457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grpSp>
      <p:grpSp>
        <p:nvGrpSpPr>
          <p:cNvPr id="3" name="Group 28">
            <a:extLst>
              <a:ext uri="{FF2B5EF4-FFF2-40B4-BE49-F238E27FC236}">
                <a16:creationId xmlns:a16="http://schemas.microsoft.com/office/drawing/2014/main" id="{C68F3E12-7979-B6E2-A1FC-BE4CBC5B2CC6}"/>
              </a:ext>
            </a:extLst>
          </p:cNvPr>
          <p:cNvGrpSpPr>
            <a:grpSpLocks/>
          </p:cNvGrpSpPr>
          <p:nvPr/>
        </p:nvGrpSpPr>
        <p:grpSpPr bwMode="auto">
          <a:xfrm>
            <a:off x="838200" y="2514600"/>
            <a:ext cx="7772400" cy="1066800"/>
            <a:chOff x="838200" y="2514600"/>
            <a:chExt cx="7772400" cy="1066800"/>
          </a:xfrm>
        </p:grpSpPr>
        <p:cxnSp>
          <p:nvCxnSpPr>
            <p:cNvPr id="19" name="Straight Arrow Connector 18">
              <a:extLst>
                <a:ext uri="{FF2B5EF4-FFF2-40B4-BE49-F238E27FC236}">
                  <a16:creationId xmlns:a16="http://schemas.microsoft.com/office/drawing/2014/main" id="{6C702A6A-6156-590C-1524-6B56F94EC8DC}"/>
                </a:ext>
              </a:extLst>
            </p:cNvPr>
            <p:cNvCxnSpPr>
              <a:cxnSpLocks noChangeShapeType="1"/>
            </p:cNvCxnSpPr>
            <p:nvPr/>
          </p:nvCxnSpPr>
          <p:spPr bwMode="auto">
            <a:xfrm rot="10800000">
              <a:off x="2971800" y="29718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20" name="Straight Arrow Connector 19">
              <a:extLst>
                <a:ext uri="{FF2B5EF4-FFF2-40B4-BE49-F238E27FC236}">
                  <a16:creationId xmlns:a16="http://schemas.microsoft.com/office/drawing/2014/main" id="{5C6FD498-9E7F-9B22-116B-5CFC83480AB3}"/>
                </a:ext>
              </a:extLst>
            </p:cNvPr>
            <p:cNvCxnSpPr>
              <a:cxnSpLocks noChangeShapeType="1"/>
            </p:cNvCxnSpPr>
            <p:nvPr/>
          </p:nvCxnSpPr>
          <p:spPr bwMode="auto">
            <a:xfrm rot="10800000">
              <a:off x="5105400" y="31242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E2205127-E6E0-474E-C111-4AA771211A7D}"/>
                </a:ext>
              </a:extLst>
            </p:cNvPr>
            <p:cNvSpPr/>
            <p:nvPr/>
          </p:nvSpPr>
          <p:spPr>
            <a:xfrm>
              <a:off x="838200" y="2514600"/>
              <a:ext cx="21336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solidFill>
                    <a:srgbClr val="FFFFFF"/>
                  </a:solidFill>
                  <a:latin typeface="Calibri" charset="0"/>
                  <a:ea typeface="ＭＳ Ｐゴシック" charset="-128"/>
                  <a:cs typeface="ＭＳ Ｐゴシック" charset="-128"/>
                </a:rPr>
                <a:t>Hello, world.</a:t>
              </a:r>
            </a:p>
            <a:p>
              <a:pPr algn="ctr">
                <a:defRPr/>
              </a:pPr>
              <a:r>
                <a:rPr lang="en-US" sz="1600" dirty="0">
                  <a:solidFill>
                    <a:srgbClr val="FFFFFF"/>
                  </a:solidFill>
                  <a:latin typeface="Calibri" charset="0"/>
                  <a:ea typeface="ＭＳ Ｐゴシック" charset="-128"/>
                  <a:cs typeface="ＭＳ Ｐゴシック" charset="-128"/>
                </a:rPr>
                <a:t>A sample sentence to show encryption.</a:t>
              </a:r>
            </a:p>
          </p:txBody>
        </p:sp>
        <p:sp>
          <p:nvSpPr>
            <p:cNvPr id="22" name="Rectangle 21">
              <a:extLst>
                <a:ext uri="{FF2B5EF4-FFF2-40B4-BE49-F238E27FC236}">
                  <a16:creationId xmlns:a16="http://schemas.microsoft.com/office/drawing/2014/main" id="{38B05F03-5104-54D8-277C-398230E1DADB}"/>
                </a:ext>
              </a:extLst>
            </p:cNvPr>
            <p:cNvSpPr/>
            <p:nvPr/>
          </p:nvSpPr>
          <p:spPr>
            <a:xfrm>
              <a:off x="4114800" y="2590800"/>
              <a:ext cx="990600" cy="7620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D</a:t>
              </a:r>
            </a:p>
          </p:txBody>
        </p:sp>
        <p:sp>
          <p:nvSpPr>
            <p:cNvPr id="23" name="Rectangle 22">
              <a:extLst>
                <a:ext uri="{FF2B5EF4-FFF2-40B4-BE49-F238E27FC236}">
                  <a16:creationId xmlns:a16="http://schemas.microsoft.com/office/drawing/2014/main" id="{176D85CB-F83F-17D6-E401-BB8AA4451EF5}"/>
                </a:ext>
              </a:extLst>
            </p:cNvPr>
            <p:cNvSpPr/>
            <p:nvPr/>
          </p:nvSpPr>
          <p:spPr>
            <a:xfrm>
              <a:off x="6248400" y="2590800"/>
              <a:ext cx="2362200" cy="9906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NhbXBsZSBzZW50ZW5jZSB0byBzaG93IEVuY3J5cHRpb24KsZSBzZ</a:t>
              </a:r>
            </a:p>
          </p:txBody>
        </p:sp>
        <p:sp>
          <p:nvSpPr>
            <p:cNvPr id="33" name="Rectangle 32">
              <a:extLst>
                <a:ext uri="{FF2B5EF4-FFF2-40B4-BE49-F238E27FC236}">
                  <a16:creationId xmlns:a16="http://schemas.microsoft.com/office/drawing/2014/main" id="{F1A1443D-E8D4-88DD-7BA7-34D6E3014186}"/>
                </a:ext>
              </a:extLst>
            </p:cNvPr>
            <p:cNvSpPr/>
            <p:nvPr/>
          </p:nvSpPr>
          <p:spPr>
            <a:xfrm>
              <a:off x="5486400" y="2590800"/>
              <a:ext cx="381000" cy="3048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b"/>
            <a:lstStyle/>
            <a:p>
              <a:pPr algn="ctr">
                <a:defRPr/>
              </a:pPr>
              <a:r>
                <a:rPr lang="en-US" sz="1600" dirty="0" err="1">
                  <a:latin typeface="Calibri"/>
                </a:rPr>
                <a:t>k</a:t>
              </a:r>
              <a:endParaRPr lang="en-US" sz="1600" dirty="0">
                <a:latin typeface="Calibri"/>
              </a:endParaRPr>
            </a:p>
          </p:txBody>
        </p:sp>
        <p:cxnSp>
          <p:nvCxnSpPr>
            <p:cNvPr id="34" name="Straight Arrow Connector 33">
              <a:extLst>
                <a:ext uri="{FF2B5EF4-FFF2-40B4-BE49-F238E27FC236}">
                  <a16:creationId xmlns:a16="http://schemas.microsoft.com/office/drawing/2014/main" id="{602A8BC7-7413-2B7F-108F-8B1BEFF6DE34}"/>
                </a:ext>
              </a:extLst>
            </p:cNvPr>
            <p:cNvCxnSpPr>
              <a:cxnSpLocks noChangeShapeType="1"/>
            </p:cNvCxnSpPr>
            <p:nvPr/>
          </p:nvCxnSpPr>
          <p:spPr bwMode="auto">
            <a:xfrm rot="10800000">
              <a:off x="5105400" y="2743200"/>
              <a:ext cx="381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grpSp>
      <p:sp>
        <p:nvSpPr>
          <p:cNvPr id="41" name="Content Placeholder 2">
            <a:extLst>
              <a:ext uri="{FF2B5EF4-FFF2-40B4-BE49-F238E27FC236}">
                <a16:creationId xmlns:a16="http://schemas.microsoft.com/office/drawing/2014/main" id="{BA5998E6-3378-A424-EB08-DDB8CF2BCD22}"/>
              </a:ext>
            </a:extLst>
          </p:cNvPr>
          <p:cNvSpPr txBox="1">
            <a:spLocks/>
          </p:cNvSpPr>
          <p:nvPr/>
        </p:nvSpPr>
        <p:spPr bwMode="auto">
          <a:xfrm>
            <a:off x="457200" y="3581400"/>
            <a:ext cx="8229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sz="2400">
                <a:solidFill>
                  <a:schemeClr val="tx1"/>
                </a:solidFill>
                <a:latin typeface="Arial" panose="020B0604020202020204" pitchFamily="34" charset="0"/>
                <a:ea typeface="MS PGothic" panose="020B0600070205080204" pitchFamily="34" charset="-128"/>
              </a:defRPr>
            </a:lvl1pPr>
            <a:lvl2pPr marL="547688" indent="-2730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lvl="1" eaLnBrk="1" hangingPunct="1">
              <a:spcBef>
                <a:spcPts val="500"/>
              </a:spcBef>
              <a:buClr>
                <a:schemeClr val="accent2"/>
              </a:buClr>
              <a:buSzPct val="76000"/>
              <a:buFont typeface="Wingdings 3" panose="05040102010807070707" pitchFamily="18" charset="2"/>
              <a:buChar char=""/>
            </a:pPr>
            <a:r>
              <a:rPr lang="en-US" altLang="en-US" sz="2000">
                <a:solidFill>
                  <a:schemeClr val="tx2"/>
                </a:solidFill>
                <a:latin typeface="Calibri" panose="020F0502020204030204" pitchFamily="34" charset="0"/>
              </a:rPr>
              <a:t>Encryption is two way, and requires a key to encrypt/decrypt</a:t>
            </a:r>
          </a:p>
          <a:p>
            <a:pPr eaLnBrk="1" hangingPunct="1">
              <a:spcBef>
                <a:spcPts val="600"/>
              </a:spcBef>
              <a:buClr>
                <a:schemeClr val="accent1"/>
              </a:buClr>
              <a:buSzPct val="76000"/>
              <a:buFont typeface="Wingdings 3" panose="05040102010807070707" pitchFamily="18" charset="2"/>
              <a:buChar char=""/>
            </a:pPr>
            <a:endParaRPr lang="en-US" altLang="en-US">
              <a:latin typeface="Calibri" panose="020F0502020204030204" pitchFamily="34" charset="0"/>
            </a:endParaRPr>
          </a:p>
        </p:txBody>
      </p:sp>
      <p:grpSp>
        <p:nvGrpSpPr>
          <p:cNvPr id="9" name="Group 31">
            <a:extLst>
              <a:ext uri="{FF2B5EF4-FFF2-40B4-BE49-F238E27FC236}">
                <a16:creationId xmlns:a16="http://schemas.microsoft.com/office/drawing/2014/main" id="{C708FC93-2D48-4339-5740-0C4317ED4135}"/>
              </a:ext>
            </a:extLst>
          </p:cNvPr>
          <p:cNvGrpSpPr>
            <a:grpSpLocks/>
          </p:cNvGrpSpPr>
          <p:nvPr/>
        </p:nvGrpSpPr>
        <p:grpSpPr bwMode="auto">
          <a:xfrm>
            <a:off x="838200" y="4343400"/>
            <a:ext cx="7620000" cy="1447800"/>
            <a:chOff x="838200" y="4343400"/>
            <a:chExt cx="7620000" cy="1447800"/>
          </a:xfrm>
        </p:grpSpPr>
        <p:sp>
          <p:nvSpPr>
            <p:cNvPr id="4" name="Trapezoid 3">
              <a:extLst>
                <a:ext uri="{FF2B5EF4-FFF2-40B4-BE49-F238E27FC236}">
                  <a16:creationId xmlns:a16="http://schemas.microsoft.com/office/drawing/2014/main" id="{86A72499-F871-4C28-3FBF-2B3467805355}"/>
                </a:ext>
              </a:extLst>
            </p:cNvPr>
            <p:cNvSpPr/>
            <p:nvPr/>
          </p:nvSpPr>
          <p:spPr>
            <a:xfrm rot="5400000">
              <a:off x="3962400" y="4495800"/>
              <a:ext cx="1219200" cy="9144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a:defRPr/>
              </a:pPr>
              <a:r>
                <a:rPr lang="en-US" dirty="0" err="1">
                  <a:latin typeface="Calibri"/>
                </a:rPr>
                <a:t>h</a:t>
              </a:r>
              <a:endParaRPr lang="en-US" dirty="0">
                <a:latin typeface="Calibri"/>
              </a:endParaRPr>
            </a:p>
          </p:txBody>
        </p:sp>
        <p:cxnSp>
          <p:nvCxnSpPr>
            <p:cNvPr id="5" name="Straight Arrow Connector 4">
              <a:extLst>
                <a:ext uri="{FF2B5EF4-FFF2-40B4-BE49-F238E27FC236}">
                  <a16:creationId xmlns:a16="http://schemas.microsoft.com/office/drawing/2014/main" id="{02BBC34B-C903-B8DB-6A26-59051414FBF2}"/>
                </a:ext>
              </a:extLst>
            </p:cNvPr>
            <p:cNvCxnSpPr>
              <a:cxnSpLocks noChangeShapeType="1"/>
            </p:cNvCxnSpPr>
            <p:nvPr/>
          </p:nvCxnSpPr>
          <p:spPr bwMode="auto">
            <a:xfrm>
              <a:off x="2819400" y="4876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6" name="Straight Arrow Connector 5">
              <a:extLst>
                <a:ext uri="{FF2B5EF4-FFF2-40B4-BE49-F238E27FC236}">
                  <a16:creationId xmlns:a16="http://schemas.microsoft.com/office/drawing/2014/main" id="{4E0A081F-7C6F-4C07-0D2A-C2AA0C728DCA}"/>
                </a:ext>
              </a:extLst>
            </p:cNvPr>
            <p:cNvCxnSpPr>
              <a:cxnSpLocks noChangeShapeType="1"/>
            </p:cNvCxnSpPr>
            <p:nvPr/>
          </p:nvCxnSpPr>
          <p:spPr bwMode="auto">
            <a:xfrm>
              <a:off x="5029200" y="48768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2D0DF099-C28E-302B-C14A-97649EF345C5}"/>
                </a:ext>
              </a:extLst>
            </p:cNvPr>
            <p:cNvSpPr/>
            <p:nvPr/>
          </p:nvSpPr>
          <p:spPr>
            <a:xfrm>
              <a:off x="6248400" y="4648200"/>
              <a:ext cx="220980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52f21cf7c7034a20</a:t>
              </a:r>
              <a:br>
                <a:rPr lang="en-US" sz="1600" dirty="0">
                  <a:latin typeface="Calibri"/>
                </a:rPr>
              </a:br>
              <a:r>
                <a:rPr lang="en-US" sz="1600" dirty="0">
                  <a:latin typeface="Calibri"/>
                </a:rPr>
                <a:t>17a21e17e061a863</a:t>
              </a:r>
            </a:p>
          </p:txBody>
        </p:sp>
        <p:sp>
          <p:nvSpPr>
            <p:cNvPr id="8" name="Rectangle 7">
              <a:extLst>
                <a:ext uri="{FF2B5EF4-FFF2-40B4-BE49-F238E27FC236}">
                  <a16:creationId xmlns:a16="http://schemas.microsoft.com/office/drawing/2014/main" id="{E734A684-9C2B-AD2C-C6FF-4D8C74195C23}"/>
                </a:ext>
              </a:extLst>
            </p:cNvPr>
            <p:cNvSpPr/>
            <p:nvPr/>
          </p:nvSpPr>
          <p:spPr>
            <a:xfrm>
              <a:off x="838200" y="4343400"/>
              <a:ext cx="2133600" cy="14478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dirty="0">
                  <a:latin typeface="Calibri"/>
                </a:rPr>
                <a:t>This is a clear text that can easily read without using the key.  The sentence is longer than the text above.</a:t>
              </a:r>
            </a:p>
          </p:txBody>
        </p:sp>
        <p:cxnSp>
          <p:nvCxnSpPr>
            <p:cNvPr id="26" name="Straight Arrow Connector 25">
              <a:extLst>
                <a:ext uri="{FF2B5EF4-FFF2-40B4-BE49-F238E27FC236}">
                  <a16:creationId xmlns:a16="http://schemas.microsoft.com/office/drawing/2014/main" id="{CAAC9ADD-42F6-4782-9B34-D58D64B89377}"/>
                </a:ext>
              </a:extLst>
            </p:cNvPr>
            <p:cNvCxnSpPr>
              <a:cxnSpLocks noChangeShapeType="1"/>
            </p:cNvCxnSpPr>
            <p:nvPr/>
          </p:nvCxnSpPr>
          <p:spPr bwMode="auto">
            <a:xfrm rot="10800000">
              <a:off x="5029200" y="51054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7" name="&quot;No&quot; Symbol 26">
              <a:extLst>
                <a:ext uri="{FF2B5EF4-FFF2-40B4-BE49-F238E27FC236}">
                  <a16:creationId xmlns:a16="http://schemas.microsoft.com/office/drawing/2014/main" id="{9BDACAA7-0286-FE57-682E-40D0F026B248}"/>
                </a:ext>
              </a:extLst>
            </p:cNvPr>
            <p:cNvSpPr/>
            <p:nvPr/>
          </p:nvSpPr>
          <p:spPr>
            <a:xfrm>
              <a:off x="5410200" y="4953000"/>
              <a:ext cx="381000" cy="381000"/>
            </a:xfrm>
            <a:prstGeom prst="noSmoking">
              <a:avLst>
                <a:gd name="adj" fmla="val 15418"/>
              </a:avLst>
            </a:prstGeom>
            <a:solidFill>
              <a:srgbClr val="80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chemeClr val="tx1"/>
                </a:solidFill>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2000"/>
                                        <p:tgtEl>
                                          <p:spTgt spid="4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2000"/>
                                        <p:tgtEl>
                                          <p:spTgt spid="40"/>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537">
                                            <p:txEl>
                                              <p:pRg st="0" end="0"/>
                                            </p:txEl>
                                          </p:spTgt>
                                        </p:tgtEl>
                                        <p:attrNameLst>
                                          <p:attrName>style.visibility</p:attrName>
                                        </p:attrNameLst>
                                      </p:cBhvr>
                                      <p:to>
                                        <p:strVal val="visible"/>
                                      </p:to>
                                    </p:set>
                                    <p:animEffect transition="in" filter="fade">
                                      <p:cBhvr>
                                        <p:cTn id="21" dur="2000"/>
                                        <p:tgtEl>
                                          <p:spTgt spid="225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7" grpId="0" build="p"/>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2DEC81B2-1FBB-0A95-B9FE-A3AF397C4937}"/>
              </a:ext>
            </a:extLst>
          </p:cNvPr>
          <p:cNvSpPr>
            <a:spLocks noGrp="1"/>
          </p:cNvSpPr>
          <p:nvPr>
            <p:ph type="title"/>
          </p:nvPr>
        </p:nvSpPr>
        <p:spPr/>
        <p:txBody>
          <a:bodyPr/>
          <a:lstStyle/>
          <a:p>
            <a:pPr eaLnBrk="1" hangingPunct="1"/>
            <a:r>
              <a:rPr lang="en-US" altLang="en-US">
                <a:latin typeface="Calibri" panose="020F0502020204030204" pitchFamily="34" charset="0"/>
              </a:rPr>
              <a:t>Integrity</a:t>
            </a:r>
          </a:p>
        </p:txBody>
      </p:sp>
      <p:sp>
        <p:nvSpPr>
          <p:cNvPr id="27650" name="Content Placeholder 2">
            <a:extLst>
              <a:ext uri="{FF2B5EF4-FFF2-40B4-BE49-F238E27FC236}">
                <a16:creationId xmlns:a16="http://schemas.microsoft.com/office/drawing/2014/main" id="{6346886A-915B-2773-E3FC-E4403C61FAAA}"/>
              </a:ext>
            </a:extLst>
          </p:cNvPr>
          <p:cNvSpPr>
            <a:spLocks noGrp="1"/>
          </p:cNvSpPr>
          <p:nvPr>
            <p:ph sz="quarter" idx="1"/>
          </p:nvPr>
        </p:nvSpPr>
        <p:spPr>
          <a:xfrm>
            <a:off x="533400" y="3733800"/>
            <a:ext cx="8229600" cy="2133600"/>
          </a:xfrm>
        </p:spPr>
        <p:txBody>
          <a:bodyPr/>
          <a:lstStyle/>
          <a:p>
            <a:pPr eaLnBrk="1" hangingPunct="1"/>
            <a:r>
              <a:rPr lang="en-US" altLang="en-US">
                <a:latin typeface="Calibri" panose="020F0502020204030204" pitchFamily="34" charset="0"/>
              </a:rPr>
              <a:t>to create a one-way password file</a:t>
            </a:r>
          </a:p>
          <a:p>
            <a:pPr lvl="1" eaLnBrk="1" hangingPunct="1"/>
            <a:r>
              <a:rPr lang="en-US" altLang="en-US">
                <a:latin typeface="Calibri" panose="020F0502020204030204" pitchFamily="34" charset="0"/>
              </a:rPr>
              <a:t>store hash of password not actual </a:t>
            </a:r>
            <a:r>
              <a:rPr lang="en-US" altLang="en-US" sz="2400">
                <a:latin typeface="Calibri" panose="020F0502020204030204" pitchFamily="34" charset="0"/>
              </a:rPr>
              <a:t>password</a:t>
            </a:r>
          </a:p>
          <a:p>
            <a:pPr eaLnBrk="1" hangingPunct="1"/>
            <a:r>
              <a:rPr lang="en-US" altLang="en-US">
                <a:latin typeface="Calibri" panose="020F0502020204030204" pitchFamily="34" charset="0"/>
              </a:rPr>
              <a:t>for intrusion detection and virus detection</a:t>
            </a:r>
          </a:p>
          <a:p>
            <a:pPr lvl="1" eaLnBrk="1" hangingPunct="1"/>
            <a:r>
              <a:rPr lang="en-US" altLang="en-US">
                <a:latin typeface="Calibri" panose="020F0502020204030204" pitchFamily="34" charset="0"/>
              </a:rPr>
              <a:t>keep &amp; check hash of files on system</a:t>
            </a:r>
          </a:p>
          <a:p>
            <a:pPr eaLnBrk="1" hangingPunct="1"/>
            <a:endParaRPr lang="en-US" altLang="en-US">
              <a:latin typeface="Calibri" panose="020F0502020204030204" pitchFamily="34" charset="0"/>
            </a:endParaRPr>
          </a:p>
        </p:txBody>
      </p:sp>
      <p:pic>
        <p:nvPicPr>
          <p:cNvPr id="27651" name="Picture 12">
            <a:extLst>
              <a:ext uri="{FF2B5EF4-FFF2-40B4-BE49-F238E27FC236}">
                <a16:creationId xmlns:a16="http://schemas.microsoft.com/office/drawing/2014/main" id="{93D3893B-15A6-CF4C-AB99-C62CE5BB76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219200"/>
            <a:ext cx="6324600"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21FA628B-B6CA-0D03-83D4-B7F384C59930}"/>
              </a:ext>
            </a:extLst>
          </p:cNvPr>
          <p:cNvSpPr>
            <a:spLocks noGrp="1"/>
          </p:cNvSpPr>
          <p:nvPr>
            <p:ph type="title"/>
          </p:nvPr>
        </p:nvSpPr>
        <p:spPr/>
        <p:txBody>
          <a:bodyPr/>
          <a:lstStyle/>
          <a:p>
            <a:r>
              <a:rPr lang="en-US" altLang="en-US">
                <a:latin typeface="Calibri" panose="020F0502020204030204" pitchFamily="34" charset="0"/>
              </a:rPr>
              <a:t>Password Verification</a:t>
            </a:r>
          </a:p>
        </p:txBody>
      </p:sp>
      <p:grpSp>
        <p:nvGrpSpPr>
          <p:cNvPr id="29698" name="Group 32">
            <a:extLst>
              <a:ext uri="{FF2B5EF4-FFF2-40B4-BE49-F238E27FC236}">
                <a16:creationId xmlns:a16="http://schemas.microsoft.com/office/drawing/2014/main" id="{8D454C6F-A46B-6737-95EE-952E0CBC8410}"/>
              </a:ext>
            </a:extLst>
          </p:cNvPr>
          <p:cNvGrpSpPr>
            <a:grpSpLocks/>
          </p:cNvGrpSpPr>
          <p:nvPr/>
        </p:nvGrpSpPr>
        <p:grpSpPr bwMode="auto">
          <a:xfrm>
            <a:off x="381000" y="1219200"/>
            <a:ext cx="2667000" cy="5029200"/>
            <a:chOff x="381000" y="1219200"/>
            <a:chExt cx="2667000" cy="5029200"/>
          </a:xfrm>
        </p:grpSpPr>
        <p:sp>
          <p:nvSpPr>
            <p:cNvPr id="92" name="Rectangle 91">
              <a:extLst>
                <a:ext uri="{FF2B5EF4-FFF2-40B4-BE49-F238E27FC236}">
                  <a16:creationId xmlns:a16="http://schemas.microsoft.com/office/drawing/2014/main" id="{FF827920-F91F-0012-5444-582513634B43}"/>
                </a:ext>
              </a:extLst>
            </p:cNvPr>
            <p:cNvSpPr/>
            <p:nvPr/>
          </p:nvSpPr>
          <p:spPr>
            <a:xfrm>
              <a:off x="381000" y="1219200"/>
              <a:ext cx="2667000" cy="50292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sp>
          <p:nvSpPr>
            <p:cNvPr id="8" name="Trapezoid 7">
              <a:extLst>
                <a:ext uri="{FF2B5EF4-FFF2-40B4-BE49-F238E27FC236}">
                  <a16:creationId xmlns:a16="http://schemas.microsoft.com/office/drawing/2014/main" id="{7EED95AE-097E-19DD-E0B5-0C591558F95D}"/>
                </a:ext>
              </a:extLst>
            </p:cNvPr>
            <p:cNvSpPr/>
            <p:nvPr/>
          </p:nvSpPr>
          <p:spPr>
            <a:xfrm rot="10800000">
              <a:off x="762000" y="2819400"/>
              <a:ext cx="1371600" cy="609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cxnSp>
          <p:nvCxnSpPr>
            <p:cNvPr id="9" name="Straight Arrow Connector 8">
              <a:extLst>
                <a:ext uri="{FF2B5EF4-FFF2-40B4-BE49-F238E27FC236}">
                  <a16:creationId xmlns:a16="http://schemas.microsoft.com/office/drawing/2014/main" id="{CECE16D4-139F-ACC5-EBC9-BB5FA82AD871}"/>
                </a:ext>
              </a:extLst>
            </p:cNvPr>
            <p:cNvCxnSpPr>
              <a:cxnSpLocks noChangeShapeType="1"/>
            </p:cNvCxnSpPr>
            <p:nvPr/>
          </p:nvCxnSpPr>
          <p:spPr bwMode="auto">
            <a:xfrm rot="5400000">
              <a:off x="1181101" y="2552700"/>
              <a:ext cx="533400" cy="3175"/>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92E31141-1D4B-8025-4AA1-3E66B496AF99}"/>
                </a:ext>
              </a:extLst>
            </p:cNvPr>
            <p:cNvCxnSpPr>
              <a:cxnSpLocks noChangeShapeType="1"/>
            </p:cNvCxnSpPr>
            <p:nvPr/>
          </p:nvCxnSpPr>
          <p:spPr bwMode="auto">
            <a:xfrm rot="5400000">
              <a:off x="1182687" y="3694113"/>
              <a:ext cx="531813"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D10BEB1B-431A-2E28-F305-D17A276D9926}"/>
                </a:ext>
              </a:extLst>
            </p:cNvPr>
            <p:cNvSpPr/>
            <p:nvPr/>
          </p:nvSpPr>
          <p:spPr>
            <a:xfrm>
              <a:off x="609600" y="1905000"/>
              <a:ext cx="1828800" cy="3810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Iam#4VKU</a:t>
              </a:r>
            </a:p>
          </p:txBody>
        </p:sp>
        <p:sp>
          <p:nvSpPr>
            <p:cNvPr id="29749" name="Rectangle 15">
              <a:extLst>
                <a:ext uri="{FF2B5EF4-FFF2-40B4-BE49-F238E27FC236}">
                  <a16:creationId xmlns:a16="http://schemas.microsoft.com/office/drawing/2014/main" id="{0A3536C5-73BA-5880-CDA2-E26DC799A720}"/>
                </a:ext>
              </a:extLst>
            </p:cNvPr>
            <p:cNvSpPr>
              <a:spLocks noChangeArrowheads="1"/>
            </p:cNvSpPr>
            <p:nvPr/>
          </p:nvSpPr>
          <p:spPr bwMode="auto">
            <a:xfrm>
              <a:off x="1066800" y="2895600"/>
              <a:ext cx="690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1800">
                  <a:solidFill>
                    <a:schemeClr val="bg1"/>
                  </a:solidFill>
                  <a:latin typeface="Calibri" panose="020F0502020204030204" pitchFamily="34" charset="0"/>
                </a:rPr>
                <a:t>h</a:t>
              </a:r>
            </a:p>
          </p:txBody>
        </p:sp>
        <p:sp>
          <p:nvSpPr>
            <p:cNvPr id="17" name="Rectangle 16">
              <a:extLst>
                <a:ext uri="{FF2B5EF4-FFF2-40B4-BE49-F238E27FC236}">
                  <a16:creationId xmlns:a16="http://schemas.microsoft.com/office/drawing/2014/main" id="{6BE82CA8-C84A-B091-C7D6-ED99D5E727DA}"/>
                </a:ext>
              </a:extLst>
            </p:cNvPr>
            <p:cNvSpPr/>
            <p:nvPr/>
          </p:nvSpPr>
          <p:spPr>
            <a:xfrm>
              <a:off x="533400" y="3962400"/>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661dce0da2bcb2d8</a:t>
              </a:r>
              <a:br>
                <a:rPr lang="en-US" dirty="0">
                  <a:latin typeface="Calibri"/>
                </a:rPr>
              </a:br>
              <a:r>
                <a:rPr lang="en-US" dirty="0">
                  <a:latin typeface="Calibri"/>
                </a:rPr>
                <a:t>2884e0162acf8194</a:t>
              </a:r>
            </a:p>
          </p:txBody>
        </p:sp>
        <p:sp>
          <p:nvSpPr>
            <p:cNvPr id="20" name="Can 19">
              <a:extLst>
                <a:ext uri="{FF2B5EF4-FFF2-40B4-BE49-F238E27FC236}">
                  <a16:creationId xmlns:a16="http://schemas.microsoft.com/office/drawing/2014/main" id="{2FB5EB5B-40EF-A2BB-69DD-22B0AE27F4D1}"/>
                </a:ext>
              </a:extLst>
            </p:cNvPr>
            <p:cNvSpPr/>
            <p:nvPr/>
          </p:nvSpPr>
          <p:spPr>
            <a:xfrm>
              <a:off x="838200" y="5105400"/>
              <a:ext cx="1295400" cy="990600"/>
            </a:xfrm>
            <a:prstGeom prst="can">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dirty="0">
                  <a:solidFill>
                    <a:schemeClr val="tx1">
                      <a:lumMod val="65000"/>
                      <a:lumOff val="35000"/>
                    </a:schemeClr>
                  </a:solidFill>
                  <a:latin typeface="Calibri"/>
                </a:rPr>
                <a:t>Password store</a:t>
              </a:r>
            </a:p>
          </p:txBody>
        </p:sp>
        <p:cxnSp>
          <p:nvCxnSpPr>
            <p:cNvPr id="21" name="Straight Arrow Connector 20">
              <a:extLst>
                <a:ext uri="{FF2B5EF4-FFF2-40B4-BE49-F238E27FC236}">
                  <a16:creationId xmlns:a16="http://schemas.microsoft.com/office/drawing/2014/main" id="{12E6DD21-ACBA-6AED-290A-19DFA8376DFD}"/>
                </a:ext>
              </a:extLst>
            </p:cNvPr>
            <p:cNvCxnSpPr>
              <a:cxnSpLocks noChangeShapeType="1"/>
            </p:cNvCxnSpPr>
            <p:nvPr/>
          </p:nvCxnSpPr>
          <p:spPr bwMode="auto">
            <a:xfrm rot="5400000">
              <a:off x="1179513" y="4838700"/>
              <a:ext cx="534988" cy="1587"/>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9757" name="Rectangle 97">
              <a:extLst>
                <a:ext uri="{FF2B5EF4-FFF2-40B4-BE49-F238E27FC236}">
                  <a16:creationId xmlns:a16="http://schemas.microsoft.com/office/drawing/2014/main" id="{5D137CE3-40AA-8BEC-601A-B56C2A807309}"/>
                </a:ext>
              </a:extLst>
            </p:cNvPr>
            <p:cNvSpPr>
              <a:spLocks noChangeArrowheads="1"/>
            </p:cNvSpPr>
            <p:nvPr/>
          </p:nvSpPr>
          <p:spPr bwMode="auto">
            <a:xfrm>
              <a:off x="381000" y="1295400"/>
              <a:ext cx="22193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600" b="1">
                  <a:solidFill>
                    <a:srgbClr val="595959"/>
                  </a:solidFill>
                  <a:latin typeface="Calibri" panose="020F0502020204030204" pitchFamily="34" charset="0"/>
                </a:rPr>
                <a:t>Store Hashing Password</a:t>
              </a:r>
              <a:endParaRPr lang="en-US" altLang="en-US" sz="1600" b="1">
                <a:latin typeface="Calibri" panose="020F0502020204030204" pitchFamily="34" charset="0"/>
              </a:endParaRPr>
            </a:p>
          </p:txBody>
        </p:sp>
      </p:grpSp>
      <p:grpSp>
        <p:nvGrpSpPr>
          <p:cNvPr id="3" name="Group 33">
            <a:extLst>
              <a:ext uri="{FF2B5EF4-FFF2-40B4-BE49-F238E27FC236}">
                <a16:creationId xmlns:a16="http://schemas.microsoft.com/office/drawing/2014/main" id="{4C526203-A4E9-23E1-50B0-B722C2D007C0}"/>
              </a:ext>
            </a:extLst>
          </p:cNvPr>
          <p:cNvGrpSpPr>
            <a:grpSpLocks/>
          </p:cNvGrpSpPr>
          <p:nvPr/>
        </p:nvGrpSpPr>
        <p:grpSpPr bwMode="auto">
          <a:xfrm>
            <a:off x="3200400" y="1219200"/>
            <a:ext cx="6096000" cy="5029200"/>
            <a:chOff x="3200400" y="1219200"/>
            <a:chExt cx="6096000" cy="5029200"/>
          </a:xfrm>
        </p:grpSpPr>
        <p:sp>
          <p:nvSpPr>
            <p:cNvPr id="93" name="Rectangle 92">
              <a:extLst>
                <a:ext uri="{FF2B5EF4-FFF2-40B4-BE49-F238E27FC236}">
                  <a16:creationId xmlns:a16="http://schemas.microsoft.com/office/drawing/2014/main" id="{E5DCFB02-CA50-7C92-569A-0D644ACBE37C}"/>
                </a:ext>
              </a:extLst>
            </p:cNvPr>
            <p:cNvSpPr/>
            <p:nvPr/>
          </p:nvSpPr>
          <p:spPr>
            <a:xfrm>
              <a:off x="3200400" y="1219200"/>
              <a:ext cx="5715000" cy="5029200"/>
            </a:xfrm>
            <a:prstGeom prst="rect">
              <a:avLst/>
            </a:prstGeom>
            <a:solidFill>
              <a:schemeClr val="bg1">
                <a:lumMod val="95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cxnSp>
          <p:nvCxnSpPr>
            <p:cNvPr id="51" name="Elbow Connector 50">
              <a:extLst>
                <a:ext uri="{FF2B5EF4-FFF2-40B4-BE49-F238E27FC236}">
                  <a16:creationId xmlns:a16="http://schemas.microsoft.com/office/drawing/2014/main" id="{EB7BAA2F-C555-6E07-EF1F-2B2B417E2F4B}"/>
                </a:ext>
              </a:extLst>
            </p:cNvPr>
            <p:cNvCxnSpPr>
              <a:cxnSpLocks noChangeShapeType="1"/>
            </p:cNvCxnSpPr>
            <p:nvPr/>
          </p:nvCxnSpPr>
          <p:spPr bwMode="auto">
            <a:xfrm rot="5400000">
              <a:off x="7010400" y="4267200"/>
              <a:ext cx="762000" cy="762000"/>
            </a:xfrm>
            <a:prstGeom prst="bentConnector3">
              <a:avLst>
                <a:gd name="adj1" fmla="val 100000"/>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49" name="Shape 48">
              <a:extLst>
                <a:ext uri="{FF2B5EF4-FFF2-40B4-BE49-F238E27FC236}">
                  <a16:creationId xmlns:a16="http://schemas.microsoft.com/office/drawing/2014/main" id="{978B03C7-DFDD-FC8B-D1A0-DAB604666021}"/>
                </a:ext>
              </a:extLst>
            </p:cNvPr>
            <p:cNvCxnSpPr>
              <a:cxnSpLocks noChangeShapeType="1"/>
            </p:cNvCxnSpPr>
            <p:nvPr/>
          </p:nvCxnSpPr>
          <p:spPr bwMode="auto">
            <a:xfrm>
              <a:off x="4191000" y="4267200"/>
              <a:ext cx="914400" cy="762000"/>
            </a:xfrm>
            <a:prstGeom prst="bentConnector3">
              <a:avLst>
                <a:gd name="adj1" fmla="val 2778"/>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3" name="Trapezoid 22">
              <a:extLst>
                <a:ext uri="{FF2B5EF4-FFF2-40B4-BE49-F238E27FC236}">
                  <a16:creationId xmlns:a16="http://schemas.microsoft.com/office/drawing/2014/main" id="{728D2FA0-D6C5-495C-5CD0-8091BA98FC6A}"/>
                </a:ext>
              </a:extLst>
            </p:cNvPr>
            <p:cNvSpPr/>
            <p:nvPr/>
          </p:nvSpPr>
          <p:spPr>
            <a:xfrm rot="10800000">
              <a:off x="3581400" y="2819400"/>
              <a:ext cx="1371600" cy="609599"/>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Calibri"/>
              </a:endParaRPr>
            </a:p>
          </p:txBody>
        </p:sp>
        <p:cxnSp>
          <p:nvCxnSpPr>
            <p:cNvPr id="24" name="Straight Arrow Connector 23">
              <a:extLst>
                <a:ext uri="{FF2B5EF4-FFF2-40B4-BE49-F238E27FC236}">
                  <a16:creationId xmlns:a16="http://schemas.microsoft.com/office/drawing/2014/main" id="{ED1C9DE0-2A36-E774-0509-9C33C7C96636}"/>
                </a:ext>
              </a:extLst>
            </p:cNvPr>
            <p:cNvCxnSpPr>
              <a:cxnSpLocks noChangeShapeType="1"/>
            </p:cNvCxnSpPr>
            <p:nvPr/>
          </p:nvCxnSpPr>
          <p:spPr bwMode="auto">
            <a:xfrm rot="5400000">
              <a:off x="3963194" y="2513806"/>
              <a:ext cx="6096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C1154BF4-2F59-27BC-7BCC-4CDEAF8F2CBA}"/>
                </a:ext>
              </a:extLst>
            </p:cNvPr>
            <p:cNvCxnSpPr>
              <a:cxnSpLocks noChangeShapeType="1"/>
            </p:cNvCxnSpPr>
            <p:nvPr/>
          </p:nvCxnSpPr>
          <p:spPr bwMode="auto">
            <a:xfrm rot="5400000">
              <a:off x="4002087" y="3694113"/>
              <a:ext cx="531813"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6" name="Rectangle 25">
              <a:extLst>
                <a:ext uri="{FF2B5EF4-FFF2-40B4-BE49-F238E27FC236}">
                  <a16:creationId xmlns:a16="http://schemas.microsoft.com/office/drawing/2014/main" id="{5D5920BA-7AC6-6298-6D0E-CC0702FB25C5}"/>
                </a:ext>
              </a:extLst>
            </p:cNvPr>
            <p:cNvSpPr/>
            <p:nvPr/>
          </p:nvSpPr>
          <p:spPr>
            <a:xfrm>
              <a:off x="3429000" y="1905000"/>
              <a:ext cx="1828800" cy="3810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Iam#4VKU</a:t>
              </a:r>
            </a:p>
          </p:txBody>
        </p:sp>
        <p:sp>
          <p:nvSpPr>
            <p:cNvPr id="29713" name="Rectangle 26">
              <a:extLst>
                <a:ext uri="{FF2B5EF4-FFF2-40B4-BE49-F238E27FC236}">
                  <a16:creationId xmlns:a16="http://schemas.microsoft.com/office/drawing/2014/main" id="{13863371-0558-D16D-1113-F70B0077E62D}"/>
                </a:ext>
              </a:extLst>
            </p:cNvPr>
            <p:cNvSpPr>
              <a:spLocks noChangeArrowheads="1"/>
            </p:cNvSpPr>
            <p:nvPr/>
          </p:nvSpPr>
          <p:spPr bwMode="auto">
            <a:xfrm>
              <a:off x="3886200" y="2895600"/>
              <a:ext cx="690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1800">
                  <a:solidFill>
                    <a:schemeClr val="bg1"/>
                  </a:solidFill>
                  <a:latin typeface="Calibri" panose="020F0502020204030204" pitchFamily="34" charset="0"/>
                </a:rPr>
                <a:t>h</a:t>
              </a:r>
            </a:p>
          </p:txBody>
        </p:sp>
        <p:sp>
          <p:nvSpPr>
            <p:cNvPr id="28" name="Rectangle 27">
              <a:extLst>
                <a:ext uri="{FF2B5EF4-FFF2-40B4-BE49-F238E27FC236}">
                  <a16:creationId xmlns:a16="http://schemas.microsoft.com/office/drawing/2014/main" id="{44E35E9D-F23B-A53D-E3AD-1EBC597FB480}"/>
                </a:ext>
              </a:extLst>
            </p:cNvPr>
            <p:cNvSpPr/>
            <p:nvPr/>
          </p:nvSpPr>
          <p:spPr>
            <a:xfrm>
              <a:off x="3352800" y="3962400"/>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661dce0da2bcb2d8</a:t>
              </a:r>
              <a:br>
                <a:rPr lang="en-US" dirty="0">
                  <a:latin typeface="Calibri"/>
                </a:rPr>
              </a:br>
              <a:r>
                <a:rPr lang="en-US" dirty="0">
                  <a:latin typeface="Calibri"/>
                </a:rPr>
                <a:t>2884e0162acf8194</a:t>
              </a:r>
            </a:p>
          </p:txBody>
        </p:sp>
        <p:sp>
          <p:nvSpPr>
            <p:cNvPr id="30" name="Rectangle 29">
              <a:extLst>
                <a:ext uri="{FF2B5EF4-FFF2-40B4-BE49-F238E27FC236}">
                  <a16:creationId xmlns:a16="http://schemas.microsoft.com/office/drawing/2014/main" id="{A009FB6E-6F4C-D7CF-4B00-2AB2B8C44442}"/>
                </a:ext>
              </a:extLst>
            </p:cNvPr>
            <p:cNvSpPr/>
            <p:nvPr/>
          </p:nvSpPr>
          <p:spPr>
            <a:xfrm>
              <a:off x="6705600" y="3961606"/>
              <a:ext cx="2057400" cy="609600"/>
            </a:xfrm>
            <a:prstGeom prst="rect">
              <a:avLst/>
            </a:prstGeom>
            <a:solidFill>
              <a:srgbClr val="1577F2"/>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661dce0da2bcb2d8</a:t>
              </a:r>
              <a:br>
                <a:rPr lang="en-US" dirty="0">
                  <a:latin typeface="Calibri"/>
                </a:rPr>
              </a:br>
              <a:r>
                <a:rPr lang="en-US" dirty="0">
                  <a:latin typeface="Calibri"/>
                </a:rPr>
                <a:t>2884e0162acf8194</a:t>
              </a:r>
            </a:p>
          </p:txBody>
        </p:sp>
        <p:cxnSp>
          <p:nvCxnSpPr>
            <p:cNvPr id="31" name="Straight Arrow Connector 30">
              <a:extLst>
                <a:ext uri="{FF2B5EF4-FFF2-40B4-BE49-F238E27FC236}">
                  <a16:creationId xmlns:a16="http://schemas.microsoft.com/office/drawing/2014/main" id="{6A6470F3-672B-A53E-9198-7D488D55CE1C}"/>
                </a:ext>
              </a:extLst>
            </p:cNvPr>
            <p:cNvCxnSpPr>
              <a:cxnSpLocks noChangeShapeType="1"/>
            </p:cNvCxnSpPr>
            <p:nvPr/>
          </p:nvCxnSpPr>
          <p:spPr bwMode="auto">
            <a:xfrm rot="5400000">
              <a:off x="6934201" y="3046412"/>
              <a:ext cx="1676400" cy="3175"/>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29" name="Can 28">
              <a:extLst>
                <a:ext uri="{FF2B5EF4-FFF2-40B4-BE49-F238E27FC236}">
                  <a16:creationId xmlns:a16="http://schemas.microsoft.com/office/drawing/2014/main" id="{0BC4846D-D3DB-8598-D86A-B90E19EEC276}"/>
                </a:ext>
              </a:extLst>
            </p:cNvPr>
            <p:cNvSpPr/>
            <p:nvPr/>
          </p:nvSpPr>
          <p:spPr>
            <a:xfrm>
              <a:off x="7086600" y="1905000"/>
              <a:ext cx="1295400" cy="990600"/>
            </a:xfrm>
            <a:prstGeom prst="can">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dirty="0">
                  <a:solidFill>
                    <a:schemeClr val="tx1">
                      <a:lumMod val="65000"/>
                      <a:lumOff val="35000"/>
                    </a:schemeClr>
                  </a:solidFill>
                  <a:latin typeface="Calibri"/>
                </a:rPr>
                <a:t>Password store</a:t>
              </a:r>
            </a:p>
          </p:txBody>
        </p:sp>
        <p:cxnSp>
          <p:nvCxnSpPr>
            <p:cNvPr id="64" name="Elbow Connector 63">
              <a:extLst>
                <a:ext uri="{FF2B5EF4-FFF2-40B4-BE49-F238E27FC236}">
                  <a16:creationId xmlns:a16="http://schemas.microsoft.com/office/drawing/2014/main" id="{D74DE6E1-3D2B-CF19-6B17-F9EA5A0EBEC9}"/>
                </a:ext>
              </a:extLst>
            </p:cNvPr>
            <p:cNvCxnSpPr>
              <a:cxnSpLocks noChangeShapeType="1"/>
            </p:cNvCxnSpPr>
            <p:nvPr/>
          </p:nvCxnSpPr>
          <p:spPr bwMode="auto">
            <a:xfrm rot="10800000" flipV="1">
              <a:off x="5029200" y="5410200"/>
              <a:ext cx="914400" cy="533400"/>
            </a:xfrm>
            <a:prstGeom prst="bentConnector3">
              <a:avLst>
                <a:gd name="adj1" fmla="val 1389"/>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79" name="Elbow Connector 78">
              <a:extLst>
                <a:ext uri="{FF2B5EF4-FFF2-40B4-BE49-F238E27FC236}">
                  <a16:creationId xmlns:a16="http://schemas.microsoft.com/office/drawing/2014/main" id="{2C2C79B3-2A05-7D65-52F8-A4588C54047A}"/>
                </a:ext>
              </a:extLst>
            </p:cNvPr>
            <p:cNvCxnSpPr>
              <a:cxnSpLocks noChangeShapeType="1"/>
            </p:cNvCxnSpPr>
            <p:nvPr/>
          </p:nvCxnSpPr>
          <p:spPr bwMode="auto">
            <a:xfrm>
              <a:off x="6248400" y="5334000"/>
              <a:ext cx="838200" cy="609600"/>
            </a:xfrm>
            <a:prstGeom prst="bentConnector3">
              <a:avLst>
                <a:gd name="adj1" fmla="val -3028"/>
              </a:avLst>
            </a:prstGeom>
            <a:noFill/>
            <a:ln w="50800">
              <a:solidFill>
                <a:schemeClr val="accent1"/>
              </a:solidFill>
              <a:miter lim="800000"/>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sp>
          <p:nvSpPr>
            <p:cNvPr id="47" name="Hexagon 46">
              <a:extLst>
                <a:ext uri="{FF2B5EF4-FFF2-40B4-BE49-F238E27FC236}">
                  <a16:creationId xmlns:a16="http://schemas.microsoft.com/office/drawing/2014/main" id="{F093C898-9CCC-F3F5-0E32-4B0057805F3D}"/>
                </a:ext>
              </a:extLst>
            </p:cNvPr>
            <p:cNvSpPr/>
            <p:nvPr/>
          </p:nvSpPr>
          <p:spPr>
            <a:xfrm>
              <a:off x="5105400" y="4800600"/>
              <a:ext cx="1905000" cy="609600"/>
            </a:xfrm>
            <a:prstGeom prst="hexagon">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1600" dirty="0">
                  <a:latin typeface="Calibri"/>
                </a:rPr>
                <a:t>Hash Matching Exactly?</a:t>
              </a:r>
            </a:p>
          </p:txBody>
        </p:sp>
        <p:sp>
          <p:nvSpPr>
            <p:cNvPr id="87" name="Rectangle 86">
              <a:extLst>
                <a:ext uri="{FF2B5EF4-FFF2-40B4-BE49-F238E27FC236}">
                  <a16:creationId xmlns:a16="http://schemas.microsoft.com/office/drawing/2014/main" id="{12F16DF3-5DF1-D4C0-CB54-256E999E16BC}"/>
                </a:ext>
              </a:extLst>
            </p:cNvPr>
            <p:cNvSpPr/>
            <p:nvPr/>
          </p:nvSpPr>
          <p:spPr>
            <a:xfrm>
              <a:off x="3886200" y="5791200"/>
              <a:ext cx="1143000" cy="381000"/>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Grant</a:t>
              </a:r>
            </a:p>
          </p:txBody>
        </p:sp>
        <p:sp>
          <p:nvSpPr>
            <p:cNvPr id="88" name="Rectangle 87">
              <a:extLst>
                <a:ext uri="{FF2B5EF4-FFF2-40B4-BE49-F238E27FC236}">
                  <a16:creationId xmlns:a16="http://schemas.microsoft.com/office/drawing/2014/main" id="{5E87BCB6-854E-3A3C-0AAE-B1E2AB4532CD}"/>
                </a:ext>
              </a:extLst>
            </p:cNvPr>
            <p:cNvSpPr/>
            <p:nvPr/>
          </p:nvSpPr>
          <p:spPr>
            <a:xfrm>
              <a:off x="7086600" y="5715000"/>
              <a:ext cx="1143000" cy="38100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Deny</a:t>
              </a:r>
            </a:p>
          </p:txBody>
        </p:sp>
        <p:sp>
          <p:nvSpPr>
            <p:cNvPr id="29735" name="Rectangle 88">
              <a:extLst>
                <a:ext uri="{FF2B5EF4-FFF2-40B4-BE49-F238E27FC236}">
                  <a16:creationId xmlns:a16="http://schemas.microsoft.com/office/drawing/2014/main" id="{FEF1A069-D03C-6307-80CE-A84210ECD684}"/>
                </a:ext>
              </a:extLst>
            </p:cNvPr>
            <p:cNvSpPr>
              <a:spLocks noChangeArrowheads="1"/>
            </p:cNvSpPr>
            <p:nvPr/>
          </p:nvSpPr>
          <p:spPr bwMode="auto">
            <a:xfrm>
              <a:off x="5334000" y="5486400"/>
              <a:ext cx="485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solidFill>
                    <a:srgbClr val="595959"/>
                  </a:solidFill>
                  <a:latin typeface="Calibri" panose="020F0502020204030204" pitchFamily="34" charset="0"/>
                </a:rPr>
                <a:t>Yes</a:t>
              </a:r>
              <a:endParaRPr lang="en-US" altLang="en-US" sz="1800">
                <a:latin typeface="Calibri" panose="020F0502020204030204" pitchFamily="34" charset="0"/>
              </a:endParaRPr>
            </a:p>
          </p:txBody>
        </p:sp>
        <p:sp>
          <p:nvSpPr>
            <p:cNvPr id="29736" name="Rectangle 89">
              <a:extLst>
                <a:ext uri="{FF2B5EF4-FFF2-40B4-BE49-F238E27FC236}">
                  <a16:creationId xmlns:a16="http://schemas.microsoft.com/office/drawing/2014/main" id="{F2296E43-8E8A-F527-4929-295D99B207C8}"/>
                </a:ext>
              </a:extLst>
            </p:cNvPr>
            <p:cNvSpPr>
              <a:spLocks noChangeArrowheads="1"/>
            </p:cNvSpPr>
            <p:nvPr/>
          </p:nvSpPr>
          <p:spPr bwMode="auto">
            <a:xfrm>
              <a:off x="6248400" y="5486400"/>
              <a:ext cx="455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solidFill>
                    <a:srgbClr val="595959"/>
                  </a:solidFill>
                  <a:latin typeface="Calibri" panose="020F0502020204030204" pitchFamily="34" charset="0"/>
                </a:rPr>
                <a:t>No</a:t>
              </a:r>
              <a:endParaRPr lang="en-US" altLang="en-US" sz="1800">
                <a:latin typeface="Calibri" panose="020F0502020204030204" pitchFamily="34" charset="0"/>
              </a:endParaRPr>
            </a:p>
          </p:txBody>
        </p:sp>
        <p:sp>
          <p:nvSpPr>
            <p:cNvPr id="29737" name="Rectangle 98">
              <a:extLst>
                <a:ext uri="{FF2B5EF4-FFF2-40B4-BE49-F238E27FC236}">
                  <a16:creationId xmlns:a16="http://schemas.microsoft.com/office/drawing/2014/main" id="{9F53A5D9-FF08-EBB8-8D6F-AD6A17591154}"/>
                </a:ext>
              </a:extLst>
            </p:cNvPr>
            <p:cNvSpPr>
              <a:spLocks noChangeArrowheads="1"/>
            </p:cNvSpPr>
            <p:nvPr/>
          </p:nvSpPr>
          <p:spPr bwMode="auto">
            <a:xfrm>
              <a:off x="3276600" y="1295400"/>
              <a:ext cx="6019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600" b="1">
                  <a:solidFill>
                    <a:srgbClr val="595959"/>
                  </a:solidFill>
                  <a:latin typeface="Calibri" panose="020F0502020204030204" pitchFamily="34" charset="0"/>
                </a:rPr>
                <a:t>Verification an input password against the stored hash</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BB31F91A-F985-AD35-678B-BB4B5643FFC8}"/>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30722" name="Content Placeholder 2">
            <a:extLst>
              <a:ext uri="{FF2B5EF4-FFF2-40B4-BE49-F238E27FC236}">
                <a16:creationId xmlns:a16="http://schemas.microsoft.com/office/drawing/2014/main" id="{75E4E3F8-F752-2DA7-2A5F-2EA2B8478A83}"/>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rPr>
              <a:t>Overview of Cryptography Hash Function</a:t>
            </a:r>
          </a:p>
          <a:p>
            <a:r>
              <a:rPr lang="en-US" altLang="en-US" b="1">
                <a:latin typeface="Calibri" panose="020F0502020204030204" pitchFamily="34" charset="0"/>
              </a:rPr>
              <a:t>Usages</a:t>
            </a:r>
          </a:p>
          <a:p>
            <a:r>
              <a:rPr lang="en-US" altLang="en-US">
                <a:latin typeface="Calibri" panose="020F0502020204030204" pitchFamily="34" charset="0"/>
              </a:rPr>
              <a:t>Properties</a:t>
            </a:r>
          </a:p>
          <a:p>
            <a:r>
              <a:rPr lang="en-US" altLang="en-US">
                <a:latin typeface="Calibri" panose="020F0502020204030204" pitchFamily="34" charset="0"/>
              </a:rPr>
              <a:t>Hashing Function Structure</a:t>
            </a:r>
          </a:p>
          <a:p>
            <a:r>
              <a:rPr lang="en-US" altLang="en-US">
                <a:latin typeface="Calibri" panose="020F0502020204030204" pitchFamily="34" charset="0"/>
              </a:rPr>
              <a:t>Attack on Hash Function </a:t>
            </a:r>
          </a:p>
          <a:p>
            <a:r>
              <a:rPr lang="en-US" altLang="en-US">
                <a:latin typeface="Calibri" panose="020F0502020204030204" pitchFamily="34" charset="0"/>
              </a:rPr>
              <a:t>The Road to new Secure Hash Standard</a:t>
            </a:r>
          </a:p>
          <a:p>
            <a:endParaRPr lang="en-US" altLang="en-US">
              <a:latin typeface="Calibri" panose="020F0502020204030204" pitchFamily="34" charset="0"/>
            </a:endParaRPr>
          </a:p>
          <a:p>
            <a:endParaRPr lang="en-US" altLang="en-US">
              <a:latin typeface="Calibri" panose="020F0502020204030204" pitchFamily="34"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270F8ADF-151B-7121-822F-F848B27542BD}"/>
              </a:ext>
            </a:extLst>
          </p:cNvPr>
          <p:cNvSpPr>
            <a:spLocks noGrp="1"/>
          </p:cNvSpPr>
          <p:nvPr>
            <p:ph type="title"/>
          </p:nvPr>
        </p:nvSpPr>
        <p:spPr/>
        <p:txBody>
          <a:bodyPr/>
          <a:lstStyle/>
          <a:p>
            <a:pPr eaLnBrk="1" hangingPunct="1"/>
            <a:r>
              <a:rPr lang="en-US" altLang="en-US">
                <a:latin typeface="Calibri" panose="020F0502020204030204" pitchFamily="34" charset="0"/>
              </a:rPr>
              <a:t>Hash Function Usages (I)</a:t>
            </a:r>
          </a:p>
        </p:txBody>
      </p:sp>
      <p:sp>
        <p:nvSpPr>
          <p:cNvPr id="31746" name="Content Placeholder 2">
            <a:extLst>
              <a:ext uri="{FF2B5EF4-FFF2-40B4-BE49-F238E27FC236}">
                <a16:creationId xmlns:a16="http://schemas.microsoft.com/office/drawing/2014/main" id="{D8A5FA5E-887B-34BA-1E95-A98D30E46ECB}"/>
              </a:ext>
            </a:extLst>
          </p:cNvPr>
          <p:cNvSpPr>
            <a:spLocks noGrp="1"/>
          </p:cNvSpPr>
          <p:nvPr>
            <p:ph sz="quarter" idx="1"/>
          </p:nvPr>
        </p:nvSpPr>
        <p:spPr>
          <a:xfrm>
            <a:off x="457200" y="5562600"/>
            <a:ext cx="8229600" cy="593725"/>
          </a:xfrm>
        </p:spPr>
        <p:txBody>
          <a:bodyPr/>
          <a:lstStyle/>
          <a:p>
            <a:pPr eaLnBrk="1" hangingPunct="1"/>
            <a:endParaRPr lang="en-US" altLang="en-US">
              <a:latin typeface="Calibri" panose="020F0502020204030204" pitchFamily="34" charset="0"/>
            </a:endParaRPr>
          </a:p>
        </p:txBody>
      </p:sp>
      <p:pic>
        <p:nvPicPr>
          <p:cNvPr id="31747" name="Picture 3">
            <a:extLst>
              <a:ext uri="{FF2B5EF4-FFF2-40B4-BE49-F238E27FC236}">
                <a16:creationId xmlns:a16="http://schemas.microsoft.com/office/drawing/2014/main" id="{7A4025C5-61DC-A164-BDF4-E8B26FB5E654}"/>
              </a:ext>
            </a:extLst>
          </p:cNvPr>
          <p:cNvPicPr>
            <a:picLocks noChangeAspect="1"/>
          </p:cNvPicPr>
          <p:nvPr/>
        </p:nvPicPr>
        <p:blipFill>
          <a:blip r:embed="rId3">
            <a:extLst>
              <a:ext uri="{28A0092B-C50C-407E-A947-70E740481C1C}">
                <a14:useLocalDpi xmlns:a14="http://schemas.microsoft.com/office/drawing/2010/main" val="0"/>
              </a:ext>
            </a:extLst>
          </a:blip>
          <a:srcRect b="47218"/>
          <a:stretch>
            <a:fillRect/>
          </a:stretch>
        </p:blipFill>
        <p:spPr bwMode="auto">
          <a:xfrm>
            <a:off x="914400" y="1371600"/>
            <a:ext cx="7467600" cy="4575175"/>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 Box 4">
            <a:extLst>
              <a:ext uri="{FF2B5EF4-FFF2-40B4-BE49-F238E27FC236}">
                <a16:creationId xmlns:a16="http://schemas.microsoft.com/office/drawing/2014/main" id="{06EE9C5B-125A-D275-CF85-162BF67082AF}"/>
              </a:ext>
            </a:extLst>
          </p:cNvPr>
          <p:cNvSpPr txBox="1">
            <a:spLocks noChangeArrowheads="1"/>
          </p:cNvSpPr>
          <p:nvPr/>
        </p:nvSpPr>
        <p:spPr bwMode="auto">
          <a:xfrm>
            <a:off x="1447800" y="3276600"/>
            <a:ext cx="594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latin typeface="Calibri" panose="020F0502020204030204" pitchFamily="34" charset="0"/>
              </a:rPr>
              <a:t>Message encrypted : Confidentiality and authentication</a:t>
            </a:r>
          </a:p>
        </p:txBody>
      </p:sp>
      <p:sp>
        <p:nvSpPr>
          <p:cNvPr id="31749" name="Text Box 5">
            <a:extLst>
              <a:ext uri="{FF2B5EF4-FFF2-40B4-BE49-F238E27FC236}">
                <a16:creationId xmlns:a16="http://schemas.microsoft.com/office/drawing/2014/main" id="{B61A17F5-99D2-9BCC-D3CF-31057B3D0E4E}"/>
              </a:ext>
            </a:extLst>
          </p:cNvPr>
          <p:cNvSpPr txBox="1">
            <a:spLocks noChangeArrowheads="1"/>
          </p:cNvSpPr>
          <p:nvPr/>
        </p:nvSpPr>
        <p:spPr bwMode="auto">
          <a:xfrm>
            <a:off x="1676400" y="5257800"/>
            <a:ext cx="502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latin typeface="Calibri" panose="020F0502020204030204" pitchFamily="34" charset="0"/>
              </a:rPr>
              <a:t>Message unencrypted:  Authentication</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3">
            <a:extLst>
              <a:ext uri="{FF2B5EF4-FFF2-40B4-BE49-F238E27FC236}">
                <a16:creationId xmlns:a16="http://schemas.microsoft.com/office/drawing/2014/main" id="{E47F7CFB-F6A0-AEF6-86B5-1B5902DBB683}"/>
              </a:ext>
            </a:extLst>
          </p:cNvPr>
          <p:cNvPicPr>
            <a:picLocks noChangeAspect="1"/>
          </p:cNvPicPr>
          <p:nvPr/>
        </p:nvPicPr>
        <p:blipFill>
          <a:blip r:embed="rId3">
            <a:extLst>
              <a:ext uri="{28A0092B-C50C-407E-A947-70E740481C1C}">
                <a14:useLocalDpi xmlns:a14="http://schemas.microsoft.com/office/drawing/2010/main" val="0"/>
              </a:ext>
            </a:extLst>
          </a:blip>
          <a:srcRect t="47218"/>
          <a:stretch>
            <a:fillRect/>
          </a:stretch>
        </p:blipFill>
        <p:spPr bwMode="auto">
          <a:xfrm>
            <a:off x="609600" y="990600"/>
            <a:ext cx="8162925" cy="4572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Title 1">
            <a:extLst>
              <a:ext uri="{FF2B5EF4-FFF2-40B4-BE49-F238E27FC236}">
                <a16:creationId xmlns:a16="http://schemas.microsoft.com/office/drawing/2014/main" id="{9C584A2E-17BC-AD06-9BAE-050C479F5D29}"/>
              </a:ext>
            </a:extLst>
          </p:cNvPr>
          <p:cNvSpPr>
            <a:spLocks noGrp="1"/>
          </p:cNvSpPr>
          <p:nvPr>
            <p:ph type="title"/>
          </p:nvPr>
        </p:nvSpPr>
        <p:spPr/>
        <p:txBody>
          <a:bodyPr/>
          <a:lstStyle/>
          <a:p>
            <a:pPr eaLnBrk="1" hangingPunct="1"/>
            <a:r>
              <a:rPr lang="en-US" altLang="en-US">
                <a:latin typeface="Calibri" panose="020F0502020204030204" pitchFamily="34" charset="0"/>
              </a:rPr>
              <a:t>Hash Function Usages (II)</a:t>
            </a:r>
          </a:p>
        </p:txBody>
      </p:sp>
      <p:sp>
        <p:nvSpPr>
          <p:cNvPr id="33795" name="Content Placeholder 2">
            <a:extLst>
              <a:ext uri="{FF2B5EF4-FFF2-40B4-BE49-F238E27FC236}">
                <a16:creationId xmlns:a16="http://schemas.microsoft.com/office/drawing/2014/main" id="{751AB2C1-3B38-F2AB-D8CB-82FEDF1A65D0}"/>
              </a:ext>
            </a:extLst>
          </p:cNvPr>
          <p:cNvSpPr>
            <a:spLocks noGrp="1"/>
          </p:cNvSpPr>
          <p:nvPr>
            <p:ph sz="quarter" idx="1"/>
          </p:nvPr>
        </p:nvSpPr>
        <p:spPr>
          <a:xfrm>
            <a:off x="457200" y="5562600"/>
            <a:ext cx="8229600" cy="593725"/>
          </a:xfrm>
        </p:spPr>
        <p:txBody>
          <a:bodyPr/>
          <a:lstStyle/>
          <a:p>
            <a:pPr eaLnBrk="1" hangingPunct="1"/>
            <a:endParaRPr lang="en-US" altLang="en-US">
              <a:latin typeface="Calibri" panose="020F0502020204030204" pitchFamily="34" charset="0"/>
            </a:endParaRPr>
          </a:p>
        </p:txBody>
      </p:sp>
      <p:sp>
        <p:nvSpPr>
          <p:cNvPr id="33796" name="Text Box 4">
            <a:extLst>
              <a:ext uri="{FF2B5EF4-FFF2-40B4-BE49-F238E27FC236}">
                <a16:creationId xmlns:a16="http://schemas.microsoft.com/office/drawing/2014/main" id="{5058F182-9B18-F284-12F6-AC2111DF5536}"/>
              </a:ext>
            </a:extLst>
          </p:cNvPr>
          <p:cNvSpPr txBox="1">
            <a:spLocks noChangeArrowheads="1"/>
          </p:cNvSpPr>
          <p:nvPr/>
        </p:nvSpPr>
        <p:spPr bwMode="auto">
          <a:xfrm>
            <a:off x="1447800" y="32766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dirty="0">
                <a:latin typeface="Calibri" panose="020F0502020204030204" pitchFamily="34" charset="0"/>
              </a:rPr>
              <a:t>Message unencrypted : Authentication (no encryption needed!)</a:t>
            </a:r>
          </a:p>
        </p:txBody>
      </p:sp>
      <p:sp>
        <p:nvSpPr>
          <p:cNvPr id="33797" name="Text Box 5">
            <a:extLst>
              <a:ext uri="{FF2B5EF4-FFF2-40B4-BE49-F238E27FC236}">
                <a16:creationId xmlns:a16="http://schemas.microsoft.com/office/drawing/2014/main" id="{6AB511B0-A06D-5C49-9470-870F6FFC3660}"/>
              </a:ext>
            </a:extLst>
          </p:cNvPr>
          <p:cNvSpPr txBox="1">
            <a:spLocks noChangeArrowheads="1"/>
          </p:cNvSpPr>
          <p:nvPr/>
        </p:nvSpPr>
        <p:spPr bwMode="auto">
          <a:xfrm>
            <a:off x="1676400" y="5257800"/>
            <a:ext cx="6858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lg"/>
              </a14:hiddenLine>
            </a:ext>
          </a:extLst>
        </p:spPr>
        <p:txBody>
          <a:bodyPr>
            <a:spAutoFit/>
          </a:bodyPr>
          <a:lstStyle>
            <a:lvl1pPr marL="457200" indent="-45720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latin typeface="Calibri" panose="020F0502020204030204" pitchFamily="34" charset="0"/>
              </a:rPr>
              <a:t>Message encrypted:  Authentication, confidentiality</a:t>
            </a:r>
          </a:p>
          <a:p>
            <a:pPr eaLnBrk="1" hangingPunct="1"/>
            <a:endParaRPr lang="en-US" altLang="en-US" sz="1800" dirty="0">
              <a:latin typeface="Calibri" panose="020F0502020204030204" pitchFamily="34"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D3D4666B-9537-D96A-2BB8-4E5B2F416839}"/>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37890" name="Content Placeholder 2">
            <a:extLst>
              <a:ext uri="{FF2B5EF4-FFF2-40B4-BE49-F238E27FC236}">
                <a16:creationId xmlns:a16="http://schemas.microsoft.com/office/drawing/2014/main" id="{7C3D65C7-55B9-E91A-0A1A-B45CDBD078D2}"/>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rPr>
              <a:t>Overview of Cryptography Hash Function</a:t>
            </a:r>
          </a:p>
          <a:p>
            <a:r>
              <a:rPr lang="en-US" altLang="en-US">
                <a:latin typeface="Calibri" panose="020F0502020204030204" pitchFamily="34" charset="0"/>
              </a:rPr>
              <a:t>Usages</a:t>
            </a:r>
          </a:p>
          <a:p>
            <a:r>
              <a:rPr lang="en-US" altLang="en-US" b="1">
                <a:latin typeface="Calibri" panose="020F0502020204030204" pitchFamily="34" charset="0"/>
              </a:rPr>
              <a:t>Properties</a:t>
            </a:r>
          </a:p>
          <a:p>
            <a:r>
              <a:rPr lang="en-US" altLang="en-US">
                <a:latin typeface="Calibri" panose="020F0502020204030204" pitchFamily="34" charset="0"/>
              </a:rPr>
              <a:t>Hashing Function Structure</a:t>
            </a:r>
          </a:p>
          <a:p>
            <a:r>
              <a:rPr lang="en-US" altLang="en-US">
                <a:latin typeface="Calibri" panose="020F0502020204030204" pitchFamily="34" charset="0"/>
              </a:rPr>
              <a:t>Attack on Hash Function </a:t>
            </a:r>
          </a:p>
          <a:p>
            <a:r>
              <a:rPr lang="en-US" altLang="en-US">
                <a:latin typeface="Calibri" panose="020F0502020204030204" pitchFamily="34" charset="0"/>
              </a:rPr>
              <a:t>The Road to new Secure Hash Standard</a:t>
            </a:r>
          </a:p>
          <a:p>
            <a:endParaRPr lang="en-US" altLang="en-US">
              <a:latin typeface="Calibri" panose="020F0502020204030204" pitchFamily="34" charset="0"/>
            </a:endParaRPr>
          </a:p>
          <a:p>
            <a:endParaRPr lang="en-US" altLang="en-US">
              <a:latin typeface="Calibri" panose="020F0502020204030204" pitchFamily="34"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8737EE2F-9D25-0207-F872-951F90DEE777}"/>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Hash Function Properties</a:t>
            </a:r>
          </a:p>
        </p:txBody>
      </p:sp>
      <p:sp>
        <p:nvSpPr>
          <p:cNvPr id="38914" name="Rectangle 3">
            <a:extLst>
              <a:ext uri="{FF2B5EF4-FFF2-40B4-BE49-F238E27FC236}">
                <a16:creationId xmlns:a16="http://schemas.microsoft.com/office/drawing/2014/main" id="{26D9C83B-1A22-E1EE-81B7-08BBF0936AA9}"/>
              </a:ext>
            </a:extLst>
          </p:cNvPr>
          <p:cNvSpPr>
            <a:spLocks noGrp="1" noChangeArrowheads="1"/>
          </p:cNvSpPr>
          <p:nvPr>
            <p:ph type="body" idx="1"/>
          </p:nvPr>
        </p:nvSpPr>
        <p:spPr>
          <a:xfrm>
            <a:off x="457200" y="1219200"/>
            <a:ext cx="8229600" cy="4937125"/>
          </a:xfrm>
        </p:spPr>
        <p:txBody>
          <a:bodyPr/>
          <a:lstStyle/>
          <a:p>
            <a:pPr eaLnBrk="1" hangingPunct="1">
              <a:lnSpc>
                <a:spcPct val="90000"/>
              </a:lnSpc>
            </a:pPr>
            <a:r>
              <a:rPr lang="en-US" altLang="en-US" sz="2400">
                <a:latin typeface="Calibri" panose="020F0502020204030204" pitchFamily="34" charset="0"/>
              </a:rPr>
              <a:t>Arbitrary-length message to fixed-length digest</a:t>
            </a:r>
          </a:p>
          <a:p>
            <a:pPr eaLnBrk="1" hangingPunct="1">
              <a:lnSpc>
                <a:spcPct val="90000"/>
              </a:lnSpc>
            </a:pPr>
            <a:endParaRPr lang="en-US" altLang="en-US" sz="2400">
              <a:latin typeface="Calibri" panose="020F0502020204030204" pitchFamily="34" charset="0"/>
            </a:endParaRPr>
          </a:p>
          <a:p>
            <a:pPr eaLnBrk="1" hangingPunct="1">
              <a:lnSpc>
                <a:spcPct val="90000"/>
              </a:lnSpc>
            </a:pPr>
            <a:r>
              <a:rPr lang="en-US" altLang="en-US" sz="2400">
                <a:latin typeface="Calibri" panose="020F0502020204030204" pitchFamily="34" charset="0"/>
              </a:rPr>
              <a:t>Preimage resistant  (</a:t>
            </a:r>
            <a:r>
              <a:rPr lang="en-US" altLang="en-US" sz="2400" b="1">
                <a:latin typeface="Calibri" panose="020F0502020204030204" pitchFamily="34" charset="0"/>
              </a:rPr>
              <a:t>One-way property</a:t>
            </a:r>
            <a:r>
              <a:rPr lang="en-US" altLang="en-US" sz="2400">
                <a:latin typeface="Calibri" panose="020F0502020204030204" pitchFamily="34" charset="0"/>
              </a:rPr>
              <a:t>)</a:t>
            </a:r>
          </a:p>
          <a:p>
            <a:pPr eaLnBrk="1" hangingPunct="1">
              <a:lnSpc>
                <a:spcPct val="90000"/>
              </a:lnSpc>
            </a:pPr>
            <a:endParaRPr lang="en-US" altLang="en-US" sz="2400">
              <a:latin typeface="Calibri" panose="020F0502020204030204" pitchFamily="34" charset="0"/>
            </a:endParaRPr>
          </a:p>
          <a:p>
            <a:pPr eaLnBrk="1" hangingPunct="1">
              <a:lnSpc>
                <a:spcPct val="90000"/>
              </a:lnSpc>
            </a:pPr>
            <a:r>
              <a:rPr lang="en-US" altLang="en-US" sz="2400">
                <a:latin typeface="Calibri" panose="020F0502020204030204" pitchFamily="34" charset="0"/>
              </a:rPr>
              <a:t>Second preimage resistant (</a:t>
            </a:r>
            <a:r>
              <a:rPr lang="en-US" altLang="en-US" sz="2400" b="1">
                <a:latin typeface="Calibri" panose="020F0502020204030204" pitchFamily="34" charset="0"/>
              </a:rPr>
              <a:t>Weak collision resistant</a:t>
            </a:r>
            <a:r>
              <a:rPr lang="en-US" altLang="en-US" sz="2400">
                <a:latin typeface="Calibri" panose="020F0502020204030204" pitchFamily="34" charset="0"/>
              </a:rPr>
              <a:t>) </a:t>
            </a:r>
          </a:p>
          <a:p>
            <a:pPr eaLnBrk="1" hangingPunct="1">
              <a:lnSpc>
                <a:spcPct val="90000"/>
              </a:lnSpc>
            </a:pPr>
            <a:endParaRPr lang="en-US" altLang="en-US" sz="2400">
              <a:latin typeface="Calibri" panose="020F0502020204030204" pitchFamily="34" charset="0"/>
            </a:endParaRPr>
          </a:p>
          <a:p>
            <a:pPr eaLnBrk="1" hangingPunct="1">
              <a:lnSpc>
                <a:spcPct val="90000"/>
              </a:lnSpc>
            </a:pPr>
            <a:r>
              <a:rPr lang="en-US" altLang="en-US" sz="2400">
                <a:latin typeface="Calibri" panose="020F0502020204030204" pitchFamily="34" charset="0"/>
              </a:rPr>
              <a:t>Collision resistant (</a:t>
            </a:r>
            <a:r>
              <a:rPr lang="en-US" altLang="en-US" sz="2400" b="1">
                <a:latin typeface="Calibri" panose="020F0502020204030204" pitchFamily="34" charset="0"/>
              </a:rPr>
              <a:t>Strong collision resistance</a:t>
            </a:r>
            <a:r>
              <a:rPr lang="en-US" altLang="en-US" sz="2400">
                <a:latin typeface="Calibri" panose="020F0502020204030204" pitchFamily="34" charset="0"/>
              </a:rPr>
              <a:t>)</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7137636F-B919-3B89-42E1-E3AB5B554807}"/>
              </a:ext>
            </a:extLst>
          </p:cNvPr>
          <p:cNvSpPr>
            <a:spLocks noGrp="1"/>
          </p:cNvSpPr>
          <p:nvPr>
            <p:ph type="title"/>
          </p:nvPr>
        </p:nvSpPr>
        <p:spPr/>
        <p:txBody>
          <a:bodyPr/>
          <a:lstStyle/>
          <a:p>
            <a:pPr eaLnBrk="1" hangingPunct="1"/>
            <a:r>
              <a:rPr lang="en-US" altLang="en-US">
                <a:latin typeface="Calibri" panose="020F0502020204030204" pitchFamily="34" charset="0"/>
              </a:rPr>
              <a:t>Properties : Fixed length</a:t>
            </a:r>
          </a:p>
        </p:txBody>
      </p:sp>
      <p:sp>
        <p:nvSpPr>
          <p:cNvPr id="41987" name="Content Placeholder 2">
            <a:extLst>
              <a:ext uri="{FF2B5EF4-FFF2-40B4-BE49-F238E27FC236}">
                <a16:creationId xmlns:a16="http://schemas.microsoft.com/office/drawing/2014/main" id="{C9DC2439-E311-6816-DE10-28B021FB15AF}"/>
              </a:ext>
            </a:extLst>
          </p:cNvPr>
          <p:cNvSpPr>
            <a:spLocks noGrp="1"/>
          </p:cNvSpPr>
          <p:nvPr>
            <p:ph sz="quarter" idx="1"/>
          </p:nvPr>
        </p:nvSpPr>
        <p:spPr>
          <a:xfrm>
            <a:off x="457200" y="5257800"/>
            <a:ext cx="8229600" cy="898525"/>
          </a:xfrm>
        </p:spPr>
        <p:txBody>
          <a:bodyPr/>
          <a:lstStyle/>
          <a:p>
            <a:pPr eaLnBrk="1" hangingPunct="1"/>
            <a:r>
              <a:rPr lang="en-US" altLang="en-US" sz="2800">
                <a:latin typeface="Calibri" panose="020F0502020204030204" pitchFamily="34" charset="0"/>
              </a:rPr>
              <a:t>Arbitrary-length message to fixed-length digest</a:t>
            </a:r>
          </a:p>
        </p:txBody>
      </p:sp>
      <p:grpSp>
        <p:nvGrpSpPr>
          <p:cNvPr id="2" name="Group 16">
            <a:extLst>
              <a:ext uri="{FF2B5EF4-FFF2-40B4-BE49-F238E27FC236}">
                <a16:creationId xmlns:a16="http://schemas.microsoft.com/office/drawing/2014/main" id="{1F0AC079-22DC-C2BC-D6DA-9EAD28A36954}"/>
              </a:ext>
            </a:extLst>
          </p:cNvPr>
          <p:cNvGrpSpPr>
            <a:grpSpLocks/>
          </p:cNvGrpSpPr>
          <p:nvPr/>
        </p:nvGrpSpPr>
        <p:grpSpPr bwMode="auto">
          <a:xfrm>
            <a:off x="2819400" y="1600200"/>
            <a:ext cx="3505200" cy="1371600"/>
            <a:chOff x="2819400" y="1600200"/>
            <a:chExt cx="3505200" cy="1371600"/>
          </a:xfrm>
        </p:grpSpPr>
        <p:sp>
          <p:nvSpPr>
            <p:cNvPr id="4" name="Trapezoid 3">
              <a:extLst>
                <a:ext uri="{FF2B5EF4-FFF2-40B4-BE49-F238E27FC236}">
                  <a16:creationId xmlns:a16="http://schemas.microsoft.com/office/drawing/2014/main" id="{94E8FF9C-5F68-B1F8-42C5-08ECCD149AF7}"/>
                </a:ext>
              </a:extLst>
            </p:cNvPr>
            <p:cNvSpPr/>
            <p:nvPr/>
          </p:nvSpPr>
          <p:spPr>
            <a:xfrm rot="5400000">
              <a:off x="3924300" y="1790700"/>
              <a:ext cx="1371600" cy="990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a:defRPr/>
              </a:pPr>
              <a:r>
                <a:rPr lang="en-US" dirty="0" err="1">
                  <a:latin typeface="Calibri"/>
                </a:rPr>
                <a:t>h</a:t>
              </a:r>
              <a:endParaRPr lang="en-US" dirty="0">
                <a:latin typeface="Calibri"/>
              </a:endParaRPr>
            </a:p>
          </p:txBody>
        </p:sp>
        <p:cxnSp>
          <p:nvCxnSpPr>
            <p:cNvPr id="6" name="Straight Arrow Connector 5">
              <a:extLst>
                <a:ext uri="{FF2B5EF4-FFF2-40B4-BE49-F238E27FC236}">
                  <a16:creationId xmlns:a16="http://schemas.microsoft.com/office/drawing/2014/main" id="{722FA58E-E1BF-5733-1AFB-815BEAAED0D5}"/>
                </a:ext>
              </a:extLst>
            </p:cNvPr>
            <p:cNvCxnSpPr>
              <a:cxnSpLocks noChangeShapeType="1"/>
            </p:cNvCxnSpPr>
            <p:nvPr/>
          </p:nvCxnSpPr>
          <p:spPr bwMode="auto">
            <a:xfrm>
              <a:off x="2819400" y="22098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7" name="Straight Arrow Connector 6">
              <a:extLst>
                <a:ext uri="{FF2B5EF4-FFF2-40B4-BE49-F238E27FC236}">
                  <a16:creationId xmlns:a16="http://schemas.microsoft.com/office/drawing/2014/main" id="{2A66E4DF-4115-A7D6-DEC5-820A15653559}"/>
                </a:ext>
              </a:extLst>
            </p:cNvPr>
            <p:cNvCxnSpPr>
              <a:cxnSpLocks noChangeShapeType="1"/>
            </p:cNvCxnSpPr>
            <p:nvPr/>
          </p:nvCxnSpPr>
          <p:spPr bwMode="auto">
            <a:xfrm>
              <a:off x="5105400" y="2209800"/>
              <a:ext cx="12192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grpSp>
      <p:grpSp>
        <p:nvGrpSpPr>
          <p:cNvPr id="3" name="Group 17">
            <a:extLst>
              <a:ext uri="{FF2B5EF4-FFF2-40B4-BE49-F238E27FC236}">
                <a16:creationId xmlns:a16="http://schemas.microsoft.com/office/drawing/2014/main" id="{9B70B724-400E-3DA8-98ED-A9E8C1CCB2E8}"/>
              </a:ext>
            </a:extLst>
          </p:cNvPr>
          <p:cNvGrpSpPr>
            <a:grpSpLocks/>
          </p:cNvGrpSpPr>
          <p:nvPr/>
        </p:nvGrpSpPr>
        <p:grpSpPr bwMode="auto">
          <a:xfrm>
            <a:off x="2819400" y="3200400"/>
            <a:ext cx="3429000" cy="1371600"/>
            <a:chOff x="2819400" y="3200400"/>
            <a:chExt cx="3429000" cy="1371600"/>
          </a:xfrm>
        </p:grpSpPr>
        <p:sp>
          <p:nvSpPr>
            <p:cNvPr id="10" name="Trapezoid 9">
              <a:extLst>
                <a:ext uri="{FF2B5EF4-FFF2-40B4-BE49-F238E27FC236}">
                  <a16:creationId xmlns:a16="http://schemas.microsoft.com/office/drawing/2014/main" id="{EDB9FDC6-43F9-2BA0-C59F-34F51D375F8C}"/>
                </a:ext>
              </a:extLst>
            </p:cNvPr>
            <p:cNvSpPr/>
            <p:nvPr/>
          </p:nvSpPr>
          <p:spPr>
            <a:xfrm rot="5400000">
              <a:off x="3924300" y="3390900"/>
              <a:ext cx="1371600" cy="990600"/>
            </a:xfrm>
            <a:prstGeom prst="trapezoid">
              <a:avLst>
                <a:gd name="adj" fmla="val 39583"/>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vert="vert270" anchor="ctr"/>
            <a:lstStyle/>
            <a:p>
              <a:pPr algn="ctr">
                <a:defRPr/>
              </a:pPr>
              <a:r>
                <a:rPr lang="en-US" dirty="0" err="1">
                  <a:latin typeface="Calibri"/>
                </a:rPr>
                <a:t>h</a:t>
              </a:r>
              <a:endParaRPr lang="en-US" dirty="0">
                <a:latin typeface="Calibri"/>
              </a:endParaRPr>
            </a:p>
          </p:txBody>
        </p:sp>
        <p:cxnSp>
          <p:nvCxnSpPr>
            <p:cNvPr id="11" name="Straight Arrow Connector 10">
              <a:extLst>
                <a:ext uri="{FF2B5EF4-FFF2-40B4-BE49-F238E27FC236}">
                  <a16:creationId xmlns:a16="http://schemas.microsoft.com/office/drawing/2014/main" id="{BA6979DF-2A23-D7FE-8966-B172F5274ED9}"/>
                </a:ext>
              </a:extLst>
            </p:cNvPr>
            <p:cNvCxnSpPr>
              <a:cxnSpLocks noChangeShapeType="1"/>
            </p:cNvCxnSpPr>
            <p:nvPr/>
          </p:nvCxnSpPr>
          <p:spPr bwMode="auto">
            <a:xfrm>
              <a:off x="2819400" y="3810000"/>
              <a:ext cx="12954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418D3642-EEFC-6290-C6C4-BC0071D32F6C}"/>
                </a:ext>
              </a:extLst>
            </p:cNvPr>
            <p:cNvCxnSpPr>
              <a:cxnSpLocks noChangeShapeType="1"/>
            </p:cNvCxnSpPr>
            <p:nvPr/>
          </p:nvCxnSpPr>
          <p:spPr bwMode="auto">
            <a:xfrm>
              <a:off x="5105400" y="3810000"/>
              <a:ext cx="1143000" cy="1588"/>
            </a:xfrm>
            <a:prstGeom prst="straightConnector1">
              <a:avLst/>
            </a:prstGeom>
            <a:noFill/>
            <a:ln w="41275">
              <a:solidFill>
                <a:srgbClr val="000090"/>
              </a:solidFill>
              <a:round/>
              <a:headEnd/>
              <a:tailEnd type="triangle" w="lg" len="med"/>
            </a:ln>
            <a:effectLst>
              <a:outerShdw blurRad="38100" dist="25400" dir="5400000" rotWithShape="0">
                <a:srgbClr val="808080">
                  <a:alpha val="39999"/>
                </a:srgbClr>
              </a:outerShdw>
            </a:effectLst>
            <a:extLst>
              <a:ext uri="{909E8E84-426E-40DD-AFC4-6F175D3DCCD1}">
                <a14:hiddenFill xmlns:a14="http://schemas.microsoft.com/office/drawing/2010/main">
                  <a:noFill/>
                </a14:hiddenFill>
              </a:ext>
            </a:extLst>
          </p:spPr>
        </p:cxnSp>
      </p:grpSp>
      <p:sp>
        <p:nvSpPr>
          <p:cNvPr id="15" name="Rectangle 14">
            <a:extLst>
              <a:ext uri="{FF2B5EF4-FFF2-40B4-BE49-F238E27FC236}">
                <a16:creationId xmlns:a16="http://schemas.microsoft.com/office/drawing/2014/main" id="{51076B28-A973-771B-51E4-7A86D5D76A2C}"/>
              </a:ext>
            </a:extLst>
          </p:cNvPr>
          <p:cNvSpPr/>
          <p:nvPr/>
        </p:nvSpPr>
        <p:spPr>
          <a:xfrm>
            <a:off x="609600" y="1905000"/>
            <a:ext cx="2362200" cy="5334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Hello, world</a:t>
            </a:r>
          </a:p>
        </p:txBody>
      </p:sp>
      <p:sp>
        <p:nvSpPr>
          <p:cNvPr id="16" name="Rectangle 15">
            <a:extLst>
              <a:ext uri="{FF2B5EF4-FFF2-40B4-BE49-F238E27FC236}">
                <a16:creationId xmlns:a16="http://schemas.microsoft.com/office/drawing/2014/main" id="{9E08F2C2-0219-0998-01A3-856241E19823}"/>
              </a:ext>
            </a:extLst>
          </p:cNvPr>
          <p:cNvSpPr/>
          <p:nvPr/>
        </p:nvSpPr>
        <p:spPr>
          <a:xfrm>
            <a:off x="609600" y="2971800"/>
            <a:ext cx="2362200" cy="1828800"/>
          </a:xfrm>
          <a:prstGeom prst="rect">
            <a:avLst/>
          </a:prstGeom>
          <a:gradFill>
            <a:gsLst>
              <a:gs pos="0">
                <a:srgbClr val="1360C2"/>
              </a:gs>
              <a:gs pos="100000">
                <a:srgbClr val="1577F2"/>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This is a clear text that can easily read without using the key.  The sentence is longer than the text above.</a:t>
            </a:r>
          </a:p>
        </p:txBody>
      </p:sp>
      <p:grpSp>
        <p:nvGrpSpPr>
          <p:cNvPr id="5" name="Group 19">
            <a:extLst>
              <a:ext uri="{FF2B5EF4-FFF2-40B4-BE49-F238E27FC236}">
                <a16:creationId xmlns:a16="http://schemas.microsoft.com/office/drawing/2014/main" id="{CA3247AE-752E-2D41-50EA-A681701F3113}"/>
              </a:ext>
            </a:extLst>
          </p:cNvPr>
          <p:cNvGrpSpPr>
            <a:grpSpLocks/>
          </p:cNvGrpSpPr>
          <p:nvPr/>
        </p:nvGrpSpPr>
        <p:grpSpPr bwMode="auto">
          <a:xfrm>
            <a:off x="6248400" y="1905000"/>
            <a:ext cx="2286000" cy="2286000"/>
            <a:chOff x="6248400" y="1905000"/>
            <a:chExt cx="2286000" cy="2286000"/>
          </a:xfrm>
        </p:grpSpPr>
        <p:sp>
          <p:nvSpPr>
            <p:cNvPr id="14" name="Rectangle 13">
              <a:extLst>
                <a:ext uri="{FF2B5EF4-FFF2-40B4-BE49-F238E27FC236}">
                  <a16:creationId xmlns:a16="http://schemas.microsoft.com/office/drawing/2014/main" id="{21A01E1C-BB16-D43B-3FA0-006D7BC72863}"/>
                </a:ext>
              </a:extLst>
            </p:cNvPr>
            <p:cNvSpPr/>
            <p:nvPr/>
          </p:nvSpPr>
          <p:spPr>
            <a:xfrm>
              <a:off x="6248400" y="3581400"/>
              <a:ext cx="228404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52f21cf7c7034a20</a:t>
              </a:r>
              <a:br>
                <a:rPr lang="en-US" dirty="0">
                  <a:latin typeface="Calibri"/>
                </a:rPr>
              </a:br>
              <a:r>
                <a:rPr lang="en-US" dirty="0">
                  <a:latin typeface="Calibri"/>
                </a:rPr>
                <a:t>17a21e17e061a863</a:t>
              </a:r>
            </a:p>
          </p:txBody>
        </p:sp>
        <p:sp>
          <p:nvSpPr>
            <p:cNvPr id="40978" name="TextBox 14">
              <a:extLst>
                <a:ext uri="{FF2B5EF4-FFF2-40B4-BE49-F238E27FC236}">
                  <a16:creationId xmlns:a16="http://schemas.microsoft.com/office/drawing/2014/main" id="{5451A61D-29B5-75C5-3527-9428CDAFE0B8}"/>
                </a:ext>
              </a:extLst>
            </p:cNvPr>
            <p:cNvSpPr txBox="1">
              <a:spLocks noChangeArrowheads="1"/>
            </p:cNvSpPr>
            <p:nvPr/>
          </p:nvSpPr>
          <p:spPr bwMode="auto">
            <a:xfrm>
              <a:off x="6660232" y="2708920"/>
              <a:ext cx="1527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i="1">
                  <a:latin typeface="Calibri" panose="020F0502020204030204" pitchFamily="34" charset="0"/>
                </a:rPr>
                <a:t>Fixed length L</a:t>
              </a:r>
            </a:p>
          </p:txBody>
        </p:sp>
        <p:sp>
          <p:nvSpPr>
            <p:cNvPr id="19" name="Rectangle 18">
              <a:extLst>
                <a:ext uri="{FF2B5EF4-FFF2-40B4-BE49-F238E27FC236}">
                  <a16:creationId xmlns:a16="http://schemas.microsoft.com/office/drawing/2014/main" id="{A767A005-1EF1-3255-D3B7-6307DD7C2421}"/>
                </a:ext>
              </a:extLst>
            </p:cNvPr>
            <p:cNvSpPr/>
            <p:nvPr/>
          </p:nvSpPr>
          <p:spPr>
            <a:xfrm>
              <a:off x="6324600" y="1905000"/>
              <a:ext cx="2209800" cy="609600"/>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latin typeface="Calibri"/>
                </a:rPr>
                <a:t>661dce0da2bcb2d8</a:t>
              </a:r>
              <a:br>
                <a:rPr lang="en-US" dirty="0">
                  <a:latin typeface="Calibri"/>
                </a:rPr>
              </a:br>
              <a:r>
                <a:rPr lang="en-US" dirty="0">
                  <a:latin typeface="Calibri"/>
                </a:rPr>
                <a:t>2884e0162acf8194</a:t>
              </a:r>
            </a:p>
          </p:txBody>
        </p:sp>
      </p:grpSp>
      <p:cxnSp>
        <p:nvCxnSpPr>
          <p:cNvPr id="18" name="Straight Arrow Connector 17">
            <a:extLst>
              <a:ext uri="{FF2B5EF4-FFF2-40B4-BE49-F238E27FC236}">
                <a16:creationId xmlns:a16="http://schemas.microsoft.com/office/drawing/2014/main" id="{210946FA-1542-3E83-75CC-2A4398E99A50}"/>
              </a:ext>
            </a:extLst>
          </p:cNvPr>
          <p:cNvCxnSpPr/>
          <p:nvPr/>
        </p:nvCxnSpPr>
        <p:spPr bwMode="auto">
          <a:xfrm rot="5400000">
            <a:off x="6035676" y="3117850"/>
            <a:ext cx="533400" cy="3175"/>
          </a:xfrm>
          <a:prstGeom prst="straightConnector1">
            <a:avLst/>
          </a:prstGeom>
          <a:ln>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FC8735C-B048-42CC-5F5E-DCE4B0D55FAB}"/>
              </a:ext>
            </a:extLst>
          </p:cNvPr>
          <p:cNvCxnSpPr/>
          <p:nvPr/>
        </p:nvCxnSpPr>
        <p:spPr bwMode="auto">
          <a:xfrm rot="5400000">
            <a:off x="8267701" y="3117850"/>
            <a:ext cx="533400" cy="3175"/>
          </a:xfrm>
          <a:prstGeom prst="straightConnector1">
            <a:avLst/>
          </a:prstGeom>
          <a:ln>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5AF86B2-361F-8B89-71D8-DBF166B5C4E1}"/>
              </a:ext>
            </a:extLst>
          </p:cNvPr>
          <p:cNvCxnSpPr/>
          <p:nvPr/>
        </p:nvCxnSpPr>
        <p:spPr bwMode="auto">
          <a:xfrm flipV="1">
            <a:off x="6300788" y="3141663"/>
            <a:ext cx="2232025" cy="0"/>
          </a:xfrm>
          <a:prstGeom prst="straightConnector1">
            <a:avLst/>
          </a:prstGeom>
          <a:ln w="28575" cmpd="sng">
            <a:prstDash val="sysDash"/>
            <a:headEnd type="triangl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0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1987">
                                            <p:txEl>
                                              <p:pRg st="0" end="0"/>
                                            </p:txEl>
                                          </p:spTgt>
                                        </p:tgtEl>
                                        <p:attrNameLst>
                                          <p:attrName>style.visibility</p:attrName>
                                        </p:attrNameLst>
                                      </p:cBhvr>
                                      <p:to>
                                        <p:strVal val="visible"/>
                                      </p:to>
                                    </p:set>
                                    <p:animEffect transition="in" filter="fade">
                                      <p:cBhvr>
                                        <p:cTn id="18" dur="2000"/>
                                        <p:tgtEl>
                                          <p:spTgt spid="41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6462A721-CC9E-BD05-010A-86C9B64DC0A8}"/>
              </a:ext>
            </a:extLst>
          </p:cNvPr>
          <p:cNvSpPr>
            <a:spLocks noGrp="1"/>
          </p:cNvSpPr>
          <p:nvPr>
            <p:ph type="title"/>
          </p:nvPr>
        </p:nvSpPr>
        <p:spPr/>
        <p:txBody>
          <a:bodyPr/>
          <a:lstStyle/>
          <a:p>
            <a:pPr eaLnBrk="1" hangingPunct="1"/>
            <a:r>
              <a:rPr lang="en-US" altLang="en-US">
                <a:latin typeface="Calibri" panose="020F0502020204030204" pitchFamily="34" charset="0"/>
              </a:rPr>
              <a:t>Preimage resistant</a:t>
            </a:r>
          </a:p>
        </p:txBody>
      </p:sp>
      <p:sp>
        <p:nvSpPr>
          <p:cNvPr id="41986" name="Content Placeholder 2">
            <a:extLst>
              <a:ext uri="{FF2B5EF4-FFF2-40B4-BE49-F238E27FC236}">
                <a16:creationId xmlns:a16="http://schemas.microsoft.com/office/drawing/2014/main" id="{A9844B67-9EB0-67AA-9F95-DA487A857798}"/>
              </a:ext>
            </a:extLst>
          </p:cNvPr>
          <p:cNvSpPr>
            <a:spLocks noGrp="1"/>
          </p:cNvSpPr>
          <p:nvPr>
            <p:ph sz="quarter" idx="1"/>
          </p:nvPr>
        </p:nvSpPr>
        <p:spPr>
          <a:xfrm>
            <a:off x="457200" y="1219200"/>
            <a:ext cx="8229600" cy="914400"/>
          </a:xfrm>
        </p:spPr>
        <p:txBody>
          <a:bodyPr/>
          <a:lstStyle/>
          <a:p>
            <a:pPr eaLnBrk="1" hangingPunct="1">
              <a:lnSpc>
                <a:spcPct val="90000"/>
              </a:lnSpc>
            </a:pPr>
            <a:r>
              <a:rPr lang="en-US" altLang="en-US" sz="2000" dirty="0">
                <a:latin typeface="Calibri" panose="020F0502020204030204" pitchFamily="34" charset="0"/>
              </a:rPr>
              <a:t>This measures how difficult to devise a message which hashes to the known digest </a:t>
            </a:r>
          </a:p>
          <a:p>
            <a:pPr eaLnBrk="1" hangingPunct="1">
              <a:lnSpc>
                <a:spcPct val="90000"/>
              </a:lnSpc>
            </a:pPr>
            <a:r>
              <a:rPr lang="en-US" altLang="en-US" sz="2000" dirty="0">
                <a:latin typeface="Calibri" panose="020F0502020204030204" pitchFamily="34" charset="0"/>
              </a:rPr>
              <a:t>Roughly speaking, the hash function must be one-way.   </a:t>
            </a:r>
          </a:p>
          <a:p>
            <a:pPr eaLnBrk="1" hangingPunct="1"/>
            <a:endParaRPr lang="en-US" altLang="en-US" dirty="0">
              <a:latin typeface="Calibri" panose="020F0502020204030204" pitchFamily="34" charset="0"/>
            </a:endParaRPr>
          </a:p>
        </p:txBody>
      </p:sp>
      <p:pic>
        <p:nvPicPr>
          <p:cNvPr id="41987" name="Picture 14">
            <a:extLst>
              <a:ext uri="{FF2B5EF4-FFF2-40B4-BE49-F238E27FC236}">
                <a16:creationId xmlns:a16="http://schemas.microsoft.com/office/drawing/2014/main" id="{AA854E4E-B611-1B9A-929C-69E4EFE04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8235950" cy="642938"/>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41988" name="Picture 16">
            <a:extLst>
              <a:ext uri="{FF2B5EF4-FFF2-40B4-BE49-F238E27FC236}">
                <a16:creationId xmlns:a16="http://schemas.microsoft.com/office/drawing/2014/main" id="{703542DB-766A-BD2C-2CB5-83D3585090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971800"/>
            <a:ext cx="6821488"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5">
            <a:extLst>
              <a:ext uri="{FF2B5EF4-FFF2-40B4-BE49-F238E27FC236}">
                <a16:creationId xmlns:a16="http://schemas.microsoft.com/office/drawing/2014/main" id="{763F060F-7ACD-00F9-6B1C-D63F48330E91}"/>
              </a:ext>
            </a:extLst>
          </p:cNvPr>
          <p:cNvSpPr>
            <a:spLocks noChangeArrowheads="1"/>
          </p:cNvSpPr>
          <p:nvPr/>
        </p:nvSpPr>
        <p:spPr bwMode="auto">
          <a:xfrm>
            <a:off x="3124200" y="5791200"/>
            <a:ext cx="5257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ct val="90000"/>
              </a:lnSpc>
            </a:pPr>
            <a:r>
              <a:rPr lang="en-US" altLang="en-US" sz="1800">
                <a:latin typeface="Calibri" panose="020F0502020204030204" pitchFamily="34" charset="0"/>
              </a:rPr>
              <a:t>Given only a message digest, can’t find any message (or </a:t>
            </a:r>
            <a:r>
              <a:rPr lang="en-US" altLang="en-US" sz="1800" i="1">
                <a:latin typeface="Calibri" panose="020F0502020204030204" pitchFamily="34" charset="0"/>
              </a:rPr>
              <a:t>preimage</a:t>
            </a:r>
            <a:r>
              <a:rPr lang="en-US" altLang="en-US" sz="1800">
                <a:latin typeface="Calibri" panose="020F0502020204030204" pitchFamily="34" charset="0"/>
              </a:rPr>
              <a:t>) that generates that digest. </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5C4C2655-6757-466A-581C-F7A1B17B811F}"/>
              </a:ext>
            </a:extLst>
          </p:cNvPr>
          <p:cNvSpPr>
            <a:spLocks noGrp="1"/>
          </p:cNvSpPr>
          <p:nvPr>
            <p:ph type="title"/>
          </p:nvPr>
        </p:nvSpPr>
        <p:spPr/>
        <p:txBody>
          <a:bodyPr/>
          <a:lstStyle/>
          <a:p>
            <a:pPr eaLnBrk="1" hangingPunct="1"/>
            <a:r>
              <a:rPr lang="en-US" altLang="en-US">
                <a:latin typeface="Calibri" panose="020F0502020204030204" pitchFamily="34" charset="0"/>
              </a:rPr>
              <a:t>Second preimage resistant </a:t>
            </a:r>
          </a:p>
        </p:txBody>
      </p:sp>
      <p:sp>
        <p:nvSpPr>
          <p:cNvPr id="44034" name="Content Placeholder 2">
            <a:extLst>
              <a:ext uri="{FF2B5EF4-FFF2-40B4-BE49-F238E27FC236}">
                <a16:creationId xmlns:a16="http://schemas.microsoft.com/office/drawing/2014/main" id="{2772E18F-04ED-22F1-7CD8-13A7D6E6D86A}"/>
              </a:ext>
            </a:extLst>
          </p:cNvPr>
          <p:cNvSpPr>
            <a:spLocks noGrp="1"/>
          </p:cNvSpPr>
          <p:nvPr>
            <p:ph sz="quarter" idx="1"/>
          </p:nvPr>
        </p:nvSpPr>
        <p:spPr>
          <a:xfrm>
            <a:off x="457200" y="5181600"/>
            <a:ext cx="8229600" cy="1143000"/>
          </a:xfrm>
        </p:spPr>
        <p:txBody>
          <a:bodyPr/>
          <a:lstStyle/>
          <a:p>
            <a:pPr eaLnBrk="1" hangingPunct="1">
              <a:lnSpc>
                <a:spcPct val="90000"/>
              </a:lnSpc>
            </a:pPr>
            <a:r>
              <a:rPr lang="en-US" altLang="en-US" sz="1500">
                <a:latin typeface="Calibri" panose="020F0502020204030204" pitchFamily="34" charset="0"/>
              </a:rPr>
              <a:t>Given one message, can’t find another message that has the same message digest.  An attack that finds a second message with the same message digest is a </a:t>
            </a:r>
            <a:r>
              <a:rPr lang="en-US" altLang="en-US" sz="1500" i="1">
                <a:latin typeface="Calibri" panose="020F0502020204030204" pitchFamily="34" charset="0"/>
              </a:rPr>
              <a:t>second pre-image</a:t>
            </a:r>
            <a:r>
              <a:rPr lang="en-US" altLang="en-US" sz="1500">
                <a:latin typeface="Calibri" panose="020F0502020204030204" pitchFamily="34" charset="0"/>
              </a:rPr>
              <a:t> attack.</a:t>
            </a:r>
          </a:p>
          <a:p>
            <a:pPr lvl="2" eaLnBrk="1" hangingPunct="1">
              <a:lnSpc>
                <a:spcPct val="90000"/>
              </a:lnSpc>
            </a:pPr>
            <a:r>
              <a:rPr lang="en-US" altLang="en-US" sz="1500">
                <a:latin typeface="Calibri" panose="020F0502020204030204" pitchFamily="34" charset="0"/>
              </a:rPr>
              <a:t>It would be easy to forge new digital signatures from old signatures if the hash function used weren’t second preimage resistant</a:t>
            </a:r>
          </a:p>
          <a:p>
            <a:pPr eaLnBrk="1" hangingPunct="1"/>
            <a:endParaRPr lang="en-US" altLang="en-US">
              <a:latin typeface="Calibri" panose="020F0502020204030204" pitchFamily="34" charset="0"/>
            </a:endParaRPr>
          </a:p>
        </p:txBody>
      </p:sp>
      <p:pic>
        <p:nvPicPr>
          <p:cNvPr id="44035" name="Picture 12">
            <a:extLst>
              <a:ext uri="{FF2B5EF4-FFF2-40B4-BE49-F238E27FC236}">
                <a16:creationId xmlns:a16="http://schemas.microsoft.com/office/drawing/2014/main" id="{76C4E511-4B83-6278-EA06-CB19D4C90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05000"/>
            <a:ext cx="8583613" cy="635000"/>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44036" name="Picture 14">
            <a:extLst>
              <a:ext uri="{FF2B5EF4-FFF2-40B4-BE49-F238E27FC236}">
                <a16:creationId xmlns:a16="http://schemas.microsoft.com/office/drawing/2014/main" id="{64CE2062-10C3-4AB9-C718-4D13A20B1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590800"/>
            <a:ext cx="6019800"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Content Placeholder 2">
            <a:extLst>
              <a:ext uri="{FF2B5EF4-FFF2-40B4-BE49-F238E27FC236}">
                <a16:creationId xmlns:a16="http://schemas.microsoft.com/office/drawing/2014/main" id="{4875209D-BE5D-417F-E71F-2707ADB634E6}"/>
              </a:ext>
            </a:extLst>
          </p:cNvPr>
          <p:cNvSpPr txBox="1">
            <a:spLocks/>
          </p:cNvSpPr>
          <p:nvPr/>
        </p:nvSpPr>
        <p:spPr bwMode="auto">
          <a:xfrm>
            <a:off x="457200" y="12192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ct val="90000"/>
              </a:lnSpc>
              <a:spcBef>
                <a:spcPts val="600"/>
              </a:spcBef>
              <a:buClr>
                <a:schemeClr val="accent1"/>
              </a:buClr>
              <a:buSzPct val="76000"/>
              <a:buFont typeface="Wingdings 3" panose="05040102010807070707" pitchFamily="18" charset="2"/>
              <a:buChar char=""/>
            </a:pPr>
            <a:r>
              <a:rPr lang="en-US" altLang="en-US" sz="2000">
                <a:latin typeface="Calibri" panose="020F0502020204030204" pitchFamily="34" charset="0"/>
              </a:rPr>
              <a:t>This measures how difficult to devise a message which hashes to the known digest and its message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ECB048C9-357D-4B89-97B9-4FDFBDF4FB1A}"/>
              </a:ext>
            </a:extLst>
          </p:cNvPr>
          <p:cNvSpPr>
            <a:spLocks noGrp="1"/>
          </p:cNvSpPr>
          <p:nvPr>
            <p:ph type="title"/>
          </p:nvPr>
        </p:nvSpPr>
        <p:spPr/>
        <p:txBody>
          <a:bodyPr/>
          <a:lstStyle/>
          <a:p>
            <a:pPr eaLnBrk="1" hangingPunct="1"/>
            <a:r>
              <a:rPr lang="en-US" altLang="en-US">
                <a:latin typeface="Calibri" panose="020F0502020204030204" pitchFamily="34" charset="0"/>
              </a:rPr>
              <a:t>Collision Resistant</a:t>
            </a:r>
          </a:p>
        </p:txBody>
      </p:sp>
      <p:sp>
        <p:nvSpPr>
          <p:cNvPr id="46082" name="Content Placeholder 2">
            <a:extLst>
              <a:ext uri="{FF2B5EF4-FFF2-40B4-BE49-F238E27FC236}">
                <a16:creationId xmlns:a16="http://schemas.microsoft.com/office/drawing/2014/main" id="{1D449FA9-FB3A-B089-2617-A5A027CD6C52}"/>
              </a:ext>
            </a:extLst>
          </p:cNvPr>
          <p:cNvSpPr>
            <a:spLocks noGrp="1"/>
          </p:cNvSpPr>
          <p:nvPr>
            <p:ph sz="quarter" idx="1"/>
          </p:nvPr>
        </p:nvSpPr>
        <p:spPr>
          <a:xfrm>
            <a:off x="457200" y="5181600"/>
            <a:ext cx="8229600" cy="974725"/>
          </a:xfrm>
        </p:spPr>
        <p:txBody>
          <a:bodyPr/>
          <a:lstStyle/>
          <a:p>
            <a:pPr lvl="1" eaLnBrk="1" hangingPunct="1">
              <a:lnSpc>
                <a:spcPct val="90000"/>
              </a:lnSpc>
            </a:pPr>
            <a:r>
              <a:rPr lang="en-US" altLang="en-US" sz="1500">
                <a:latin typeface="Calibri" panose="020F0502020204030204" pitchFamily="34" charset="0"/>
              </a:rPr>
              <a:t>Can’t find any two different messages with the same message digest</a:t>
            </a:r>
          </a:p>
          <a:p>
            <a:pPr lvl="2" eaLnBrk="1" hangingPunct="1">
              <a:lnSpc>
                <a:spcPct val="90000"/>
              </a:lnSpc>
            </a:pPr>
            <a:r>
              <a:rPr lang="en-US" altLang="en-US" sz="1500">
                <a:latin typeface="Calibri" panose="020F0502020204030204" pitchFamily="34" charset="0"/>
              </a:rPr>
              <a:t>Collision resistance implies second preimage resistance</a:t>
            </a:r>
          </a:p>
          <a:p>
            <a:pPr lvl="2" eaLnBrk="1" hangingPunct="1">
              <a:lnSpc>
                <a:spcPct val="90000"/>
              </a:lnSpc>
            </a:pPr>
            <a:r>
              <a:rPr lang="en-US" altLang="en-US" sz="1500">
                <a:latin typeface="Calibri" panose="020F0502020204030204" pitchFamily="34" charset="0"/>
              </a:rPr>
              <a:t>Collisions, if we could find them, would give signatories a way to repudiate their signatures</a:t>
            </a:r>
          </a:p>
          <a:p>
            <a:pPr eaLnBrk="1" hangingPunct="1"/>
            <a:endParaRPr lang="en-US" altLang="en-US">
              <a:latin typeface="Calibri" panose="020F0502020204030204" pitchFamily="34" charset="0"/>
            </a:endParaRPr>
          </a:p>
        </p:txBody>
      </p:sp>
      <p:pic>
        <p:nvPicPr>
          <p:cNvPr id="46083" name="Picture 11">
            <a:extLst>
              <a:ext uri="{FF2B5EF4-FFF2-40B4-BE49-F238E27FC236}">
                <a16:creationId xmlns:a16="http://schemas.microsoft.com/office/drawing/2014/main" id="{2C415417-5D0B-42C4-3329-C0CB8365E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 y="1524000"/>
            <a:ext cx="8255000" cy="682625"/>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46084" name="Picture 13">
            <a:extLst>
              <a:ext uri="{FF2B5EF4-FFF2-40B4-BE49-F238E27FC236}">
                <a16:creationId xmlns:a16="http://schemas.microsoft.com/office/drawing/2014/main" id="{BA0E4E34-D1A0-9AA1-63B0-24A840D97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438400"/>
            <a:ext cx="7129463"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37CE0413-F555-C591-B7A8-25E1C3690A4D}"/>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47106" name="Content Placeholder 2">
            <a:extLst>
              <a:ext uri="{FF2B5EF4-FFF2-40B4-BE49-F238E27FC236}">
                <a16:creationId xmlns:a16="http://schemas.microsoft.com/office/drawing/2014/main" id="{53DEADA1-20B9-2812-6512-A464FE65AD86}"/>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rPr>
              <a:t>Overview of Cryptography Hash Function</a:t>
            </a:r>
          </a:p>
          <a:p>
            <a:r>
              <a:rPr lang="en-US" altLang="en-US">
                <a:latin typeface="Calibri" panose="020F0502020204030204" pitchFamily="34" charset="0"/>
              </a:rPr>
              <a:t>Usages</a:t>
            </a:r>
          </a:p>
          <a:p>
            <a:r>
              <a:rPr lang="en-US" altLang="en-US">
                <a:latin typeface="Calibri" panose="020F0502020204030204" pitchFamily="34" charset="0"/>
              </a:rPr>
              <a:t>Properties</a:t>
            </a:r>
          </a:p>
          <a:p>
            <a:r>
              <a:rPr lang="en-US" altLang="en-US" b="1">
                <a:latin typeface="Calibri" panose="020F0502020204030204" pitchFamily="34" charset="0"/>
              </a:rPr>
              <a:t>Hashing Function Structure</a:t>
            </a:r>
          </a:p>
          <a:p>
            <a:r>
              <a:rPr lang="en-US" altLang="en-US">
                <a:latin typeface="Calibri" panose="020F0502020204030204" pitchFamily="34" charset="0"/>
              </a:rPr>
              <a:t>Attack on Hash Function </a:t>
            </a:r>
          </a:p>
          <a:p>
            <a:r>
              <a:rPr lang="en-US" altLang="en-US">
                <a:latin typeface="Calibri" panose="020F0502020204030204" pitchFamily="34" charset="0"/>
              </a:rPr>
              <a:t>The Road to new Secure Hash Standard</a:t>
            </a:r>
          </a:p>
          <a:p>
            <a:endParaRPr lang="en-US" altLang="en-US">
              <a:latin typeface="Calibri" panose="020F0502020204030204" pitchFamily="34" charset="0"/>
            </a:endParaRPr>
          </a:p>
          <a:p>
            <a:endParaRPr lang="en-US" altLang="en-US">
              <a:latin typeface="Calibri" panose="020F0502020204030204" pitchFamily="34" charset="0"/>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C1617F3A-1E8A-54CE-A6A0-A371F6B83B65}"/>
              </a:ext>
            </a:extLst>
          </p:cNvPr>
          <p:cNvSpPr>
            <a:spLocks noGrp="1"/>
          </p:cNvSpPr>
          <p:nvPr>
            <p:ph type="title"/>
          </p:nvPr>
        </p:nvSpPr>
        <p:spPr/>
        <p:txBody>
          <a:bodyPr/>
          <a:lstStyle/>
          <a:p>
            <a:pPr eaLnBrk="1" hangingPunct="1"/>
            <a:r>
              <a:rPr lang="en-US" altLang="en-US">
                <a:latin typeface="Calibri" panose="020F0502020204030204" pitchFamily="34" charset="0"/>
              </a:rPr>
              <a:t>Two Group of Compression Functions</a:t>
            </a:r>
          </a:p>
        </p:txBody>
      </p:sp>
      <p:sp>
        <p:nvSpPr>
          <p:cNvPr id="48130" name="Content Placeholder 2">
            <a:extLst>
              <a:ext uri="{FF2B5EF4-FFF2-40B4-BE49-F238E27FC236}">
                <a16:creationId xmlns:a16="http://schemas.microsoft.com/office/drawing/2014/main" id="{6DFDD85B-54B5-40D7-8697-339801BCC063}"/>
              </a:ext>
            </a:extLst>
          </p:cNvPr>
          <p:cNvSpPr>
            <a:spLocks noGrp="1"/>
          </p:cNvSpPr>
          <p:nvPr>
            <p:ph sz="quarter" idx="1"/>
          </p:nvPr>
        </p:nvSpPr>
        <p:spPr>
          <a:xfrm>
            <a:off x="457200" y="1219200"/>
            <a:ext cx="8229600" cy="4937125"/>
          </a:xfrm>
        </p:spPr>
        <p:txBody>
          <a:bodyPr/>
          <a:lstStyle/>
          <a:p>
            <a:pPr eaLnBrk="1" hangingPunct="1"/>
            <a:r>
              <a:rPr lang="en-US" altLang="en-US">
                <a:latin typeface="Calibri" panose="020F0502020204030204" pitchFamily="34" charset="0"/>
              </a:rPr>
              <a:t>The compression function is made from scratch</a:t>
            </a:r>
          </a:p>
          <a:p>
            <a:pPr lvl="1" eaLnBrk="1" hangingPunct="1"/>
            <a:r>
              <a:rPr lang="en-US" altLang="en-US">
                <a:latin typeface="Calibri" panose="020F0502020204030204" pitchFamily="34" charset="0"/>
              </a:rPr>
              <a:t>Message Digest</a:t>
            </a:r>
          </a:p>
          <a:p>
            <a:pPr eaLnBrk="1" hangingPunct="1"/>
            <a:endParaRPr lang="en-US" altLang="en-US">
              <a:latin typeface="Calibri" panose="020F0502020204030204" pitchFamily="34" charset="0"/>
            </a:endParaRPr>
          </a:p>
          <a:p>
            <a:pPr eaLnBrk="1" hangingPunct="1"/>
            <a:r>
              <a:rPr lang="en-US" altLang="en-US">
                <a:latin typeface="Calibri" panose="020F0502020204030204" pitchFamily="34" charset="0"/>
              </a:rPr>
              <a:t>A symmetric-key block cipher serves as a compression function</a:t>
            </a:r>
          </a:p>
          <a:p>
            <a:pPr lvl="1" eaLnBrk="1" hangingPunct="1"/>
            <a:r>
              <a:rPr lang="en-US" altLang="en-US">
                <a:latin typeface="Calibri" panose="020F0502020204030204" pitchFamily="34" charset="0"/>
              </a:rPr>
              <a:t>Whirlpool</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D0726889-EFB0-C5F1-FBF7-A6B472E60E25}"/>
              </a:ext>
            </a:extLst>
          </p:cNvPr>
          <p:cNvSpPr>
            <a:spLocks noGrp="1"/>
          </p:cNvSpPr>
          <p:nvPr>
            <p:ph type="title"/>
          </p:nvPr>
        </p:nvSpPr>
        <p:spPr/>
        <p:txBody>
          <a:bodyPr/>
          <a:lstStyle/>
          <a:p>
            <a:pPr eaLnBrk="1" hangingPunct="1"/>
            <a:r>
              <a:rPr lang="en-US" altLang="en-US">
                <a:solidFill>
                  <a:schemeClr val="folHlink"/>
                </a:solidFill>
                <a:latin typeface="Calibri" panose="020F0502020204030204" pitchFamily="34" charset="0"/>
              </a:rPr>
              <a:t>Merkle-Damgard Scheme</a:t>
            </a:r>
            <a:endParaRPr lang="en-US" altLang="en-US">
              <a:latin typeface="Calibri" panose="020F0502020204030204" pitchFamily="34" charset="0"/>
            </a:endParaRPr>
          </a:p>
        </p:txBody>
      </p:sp>
      <p:sp>
        <p:nvSpPr>
          <p:cNvPr id="49154" name="Content Placeholder 2">
            <a:extLst>
              <a:ext uri="{FF2B5EF4-FFF2-40B4-BE49-F238E27FC236}">
                <a16:creationId xmlns:a16="http://schemas.microsoft.com/office/drawing/2014/main" id="{284C9F99-6799-FE38-FE6C-539CEBF38718}"/>
              </a:ext>
            </a:extLst>
          </p:cNvPr>
          <p:cNvSpPr>
            <a:spLocks noGrp="1"/>
          </p:cNvSpPr>
          <p:nvPr>
            <p:ph sz="quarter" idx="1"/>
          </p:nvPr>
        </p:nvSpPr>
        <p:spPr>
          <a:xfrm>
            <a:off x="457200" y="4572000"/>
            <a:ext cx="8229600" cy="1524000"/>
          </a:xfrm>
        </p:spPr>
        <p:txBody>
          <a:bodyPr/>
          <a:lstStyle/>
          <a:p>
            <a:pPr eaLnBrk="1" hangingPunct="1"/>
            <a:r>
              <a:rPr lang="en-US" altLang="en-US" sz="1800">
                <a:latin typeface="Embedded-Garamond" charset="0"/>
              </a:rPr>
              <a:t>Well-known method to build cryptographic hash function </a:t>
            </a:r>
          </a:p>
          <a:p>
            <a:pPr eaLnBrk="1" hangingPunct="1"/>
            <a:r>
              <a:rPr lang="en-US" altLang="en-US" sz="1800">
                <a:latin typeface="Embedded-Garamond" charset="0"/>
              </a:rPr>
              <a:t>A message of arbitrary length is broken into blocks </a:t>
            </a:r>
          </a:p>
          <a:p>
            <a:pPr lvl="1" eaLnBrk="1" hangingPunct="1"/>
            <a:r>
              <a:rPr lang="en-US" altLang="en-US" sz="1500">
                <a:latin typeface="Embedded-Garamond" charset="0"/>
              </a:rPr>
              <a:t>length depends on the compression function </a:t>
            </a:r>
            <a:r>
              <a:rPr lang="en-US" altLang="en-US" sz="1500" i="1">
                <a:latin typeface="Embedded-Garamond" charset="0"/>
              </a:rPr>
              <a:t>f</a:t>
            </a:r>
          </a:p>
          <a:p>
            <a:pPr lvl="1" eaLnBrk="1" hangingPunct="1"/>
            <a:r>
              <a:rPr lang="en-US" altLang="en-US" sz="1500">
                <a:latin typeface="Embedded-Garamond" charset="0"/>
              </a:rPr>
              <a:t>padding the size of the message into a multiple of the block size. </a:t>
            </a:r>
          </a:p>
          <a:p>
            <a:pPr lvl="1" eaLnBrk="1" hangingPunct="1"/>
            <a:r>
              <a:rPr lang="en-US" altLang="en-US" sz="1500">
                <a:latin typeface="Embedded-Garamond" charset="0"/>
              </a:rPr>
              <a:t>sequentially process blocks , taking as input the result of the hash so far and the current message block, with the final fixed length output</a:t>
            </a:r>
            <a:endParaRPr lang="en-US" altLang="en-US" sz="1500">
              <a:latin typeface="Calibri" panose="020F0502020204030204" pitchFamily="34" charset="0"/>
            </a:endParaRPr>
          </a:p>
        </p:txBody>
      </p:sp>
      <p:pic>
        <p:nvPicPr>
          <p:cNvPr id="49155" name="Picture 13">
            <a:extLst>
              <a:ext uri="{FF2B5EF4-FFF2-40B4-BE49-F238E27FC236}">
                <a16:creationId xmlns:a16="http://schemas.microsoft.com/office/drawing/2014/main" id="{80A25AEE-54D9-6370-C539-00B2663B17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1600"/>
            <a:ext cx="8299450" cy="315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46D1098D-1595-FB65-A72E-A4C944547081}"/>
              </a:ext>
            </a:extLst>
          </p:cNvPr>
          <p:cNvSpPr>
            <a:spLocks noGrp="1"/>
          </p:cNvSpPr>
          <p:nvPr>
            <p:ph type="title"/>
          </p:nvPr>
        </p:nvSpPr>
        <p:spPr/>
        <p:txBody>
          <a:bodyPr/>
          <a:lstStyle/>
          <a:p>
            <a:pPr eaLnBrk="1" hangingPunct="1"/>
            <a:r>
              <a:rPr lang="en-US" altLang="en-US">
                <a:latin typeface="Calibri" panose="020F0502020204030204" pitchFamily="34" charset="0"/>
              </a:rPr>
              <a:t>Hash Functions Family</a:t>
            </a:r>
          </a:p>
        </p:txBody>
      </p:sp>
      <p:sp>
        <p:nvSpPr>
          <p:cNvPr id="51202" name="Content Placeholder 2">
            <a:extLst>
              <a:ext uri="{FF2B5EF4-FFF2-40B4-BE49-F238E27FC236}">
                <a16:creationId xmlns:a16="http://schemas.microsoft.com/office/drawing/2014/main" id="{C130D5A4-5E04-B5F5-AB2B-EC9650135354}"/>
              </a:ext>
            </a:extLst>
          </p:cNvPr>
          <p:cNvSpPr>
            <a:spLocks noGrp="1"/>
          </p:cNvSpPr>
          <p:nvPr>
            <p:ph sz="quarter" idx="1"/>
          </p:nvPr>
        </p:nvSpPr>
        <p:spPr>
          <a:xfrm>
            <a:off x="457200" y="1219200"/>
            <a:ext cx="8229600" cy="4937125"/>
          </a:xfrm>
        </p:spPr>
        <p:txBody>
          <a:bodyPr/>
          <a:lstStyle/>
          <a:p>
            <a:pPr eaLnBrk="1" hangingPunct="1"/>
            <a:r>
              <a:rPr lang="en-US" altLang="en-US" b="1" dirty="0">
                <a:latin typeface="Calibri" panose="020F0502020204030204" pitchFamily="34" charset="0"/>
              </a:rPr>
              <a:t>MD (Message Digest)</a:t>
            </a:r>
            <a:endParaRPr lang="en-US" altLang="en-US" sz="2000" b="1" dirty="0">
              <a:latin typeface="Calibri" panose="020F0502020204030204" pitchFamily="34" charset="0"/>
            </a:endParaRPr>
          </a:p>
          <a:p>
            <a:pPr lvl="1" eaLnBrk="1" hangingPunct="1"/>
            <a:r>
              <a:rPr lang="en-US" altLang="en-US" sz="2000" dirty="0">
                <a:latin typeface="Calibri" panose="020F0502020204030204" pitchFamily="34" charset="0"/>
              </a:rPr>
              <a:t>Designed by Ron Rivest</a:t>
            </a:r>
          </a:p>
          <a:p>
            <a:pPr lvl="1" eaLnBrk="1" hangingPunct="1"/>
            <a:r>
              <a:rPr lang="en-US" altLang="en-US" sz="2000" dirty="0">
                <a:latin typeface="Calibri" panose="020F0502020204030204" pitchFamily="34" charset="0"/>
              </a:rPr>
              <a:t>Family: MD2, MD4, MD5 </a:t>
            </a:r>
          </a:p>
          <a:p>
            <a:pPr eaLnBrk="1" hangingPunct="1"/>
            <a:r>
              <a:rPr lang="en-US" altLang="en-US" b="1" dirty="0">
                <a:latin typeface="Calibri" panose="020F0502020204030204" pitchFamily="34" charset="0"/>
              </a:rPr>
              <a:t>SHA (Secure Hash Algorithm)</a:t>
            </a:r>
          </a:p>
          <a:p>
            <a:pPr lvl="1" eaLnBrk="1" hangingPunct="1"/>
            <a:r>
              <a:rPr lang="en-US" altLang="en-US" sz="2000" dirty="0">
                <a:solidFill>
                  <a:schemeClr val="tx1"/>
                </a:solidFill>
                <a:latin typeface="Calibri" panose="020F0502020204030204" pitchFamily="34" charset="0"/>
              </a:rPr>
              <a:t>Designed by NIST </a:t>
            </a:r>
          </a:p>
          <a:p>
            <a:pPr lvl="1" eaLnBrk="1" hangingPunct="1"/>
            <a:r>
              <a:rPr lang="en-US" altLang="en-US" sz="2000" dirty="0">
                <a:solidFill>
                  <a:schemeClr val="tx1"/>
                </a:solidFill>
                <a:latin typeface="Calibri" panose="020F0502020204030204" pitchFamily="34" charset="0"/>
              </a:rPr>
              <a:t>Family: SHA-0, SHA-1, and SHA-2</a:t>
            </a:r>
          </a:p>
          <a:p>
            <a:pPr lvl="2" eaLnBrk="1" hangingPunct="1"/>
            <a:r>
              <a:rPr lang="en-US" altLang="en-US" sz="1700" dirty="0">
                <a:latin typeface="Calibri" panose="020F0502020204030204" pitchFamily="34" charset="0"/>
              </a:rPr>
              <a:t>SHA-2: SHA-224, SHA-256, SHA-384, SHA-512</a:t>
            </a:r>
          </a:p>
          <a:p>
            <a:pPr eaLnBrk="1" hangingPunct="1"/>
            <a:r>
              <a:rPr lang="en-US" altLang="en-US" b="1" dirty="0">
                <a:latin typeface="Calibri" panose="020F0502020204030204" pitchFamily="34" charset="0"/>
              </a:rPr>
              <a:t>RIPEMD (Race Integrity Primitive Evaluation Message Digest)</a:t>
            </a:r>
          </a:p>
          <a:p>
            <a:pPr lvl="1" eaLnBrk="1" hangingPunct="1"/>
            <a:r>
              <a:rPr lang="en-US" altLang="en-US" sz="2000" dirty="0">
                <a:latin typeface="Calibri" panose="020F0502020204030204" pitchFamily="34" charset="0"/>
              </a:rPr>
              <a:t>Developed by </a:t>
            </a:r>
            <a:r>
              <a:rPr lang="en-US" altLang="en-US" sz="2000" dirty="0" err="1">
                <a:latin typeface="Calibri" panose="020F0502020204030204" pitchFamily="34" charset="0"/>
              </a:rPr>
              <a:t>Katholieke</a:t>
            </a:r>
            <a:r>
              <a:rPr lang="en-US" altLang="en-US" sz="2000" dirty="0">
                <a:latin typeface="Calibri" panose="020F0502020204030204" pitchFamily="34" charset="0"/>
              </a:rPr>
              <a:t> University Leuven Team</a:t>
            </a:r>
          </a:p>
          <a:p>
            <a:pPr lvl="1" eaLnBrk="1" hangingPunct="1"/>
            <a:r>
              <a:rPr lang="en-US" altLang="en-US" sz="2000" dirty="0">
                <a:latin typeface="Calibri" panose="020F0502020204030204" pitchFamily="34" charset="0"/>
              </a:rPr>
              <a:t>Family : RIPEMD-128, RIPEMD-160, RIPEMD-256, RIPEMD-320 </a:t>
            </a:r>
          </a:p>
          <a:p>
            <a:pPr lvl="1" eaLnBrk="1" hangingPunct="1"/>
            <a:endParaRPr lang="en-US" altLang="en-US" dirty="0">
              <a:latin typeface="Calibri" panose="020F0502020204030204" pitchFamily="34" charset="0"/>
            </a:endParaRPr>
          </a:p>
          <a:p>
            <a:pPr lvl="1" eaLnBrk="1" hangingPunct="1">
              <a:buFont typeface="Wingdings 3" panose="05040102010807070707" pitchFamily="18" charset="2"/>
              <a:buNone/>
            </a:pPr>
            <a:endParaRPr lang="en-US" altLang="en-US" dirty="0">
              <a:latin typeface="Calibri" panose="020F0502020204030204" pitchFamily="34" charset="0"/>
            </a:endParaRPr>
          </a:p>
          <a:p>
            <a:pPr eaLnBrk="1" hangingPunct="1"/>
            <a:endParaRPr lang="en-US" altLang="en-US" dirty="0">
              <a:latin typeface="Calibri" panose="020F0502020204030204" pitchFamily="34" charset="0"/>
            </a:endParaRPr>
          </a:p>
          <a:p>
            <a:pPr eaLnBrk="1" hangingPunct="1"/>
            <a:endParaRPr lang="en-US" altLang="en-US" dirty="0">
              <a:latin typeface="Calibri" panose="020F0502020204030204" pitchFamily="34" charset="0"/>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596ADA9-3851-923B-FBAE-ED27E4B3F7CF}"/>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MD5, SHA-1, and RIPEMD-160</a:t>
            </a:r>
          </a:p>
        </p:txBody>
      </p:sp>
      <p:pic>
        <p:nvPicPr>
          <p:cNvPr id="52227" name="Picture 3">
            <a:extLst>
              <a:ext uri="{FF2B5EF4-FFF2-40B4-BE49-F238E27FC236}">
                <a16:creationId xmlns:a16="http://schemas.microsoft.com/office/drawing/2014/main" id="{B5B9CE52-D59D-5144-A921-1FCA6444A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752600"/>
            <a:ext cx="81534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25AB98E8-E0AA-6F52-B8E0-782F6A2DB19A}"/>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MD2, MD4 and MD5</a:t>
            </a:r>
          </a:p>
        </p:txBody>
      </p:sp>
      <p:sp>
        <p:nvSpPr>
          <p:cNvPr id="53250" name="Rectangle 3">
            <a:extLst>
              <a:ext uri="{FF2B5EF4-FFF2-40B4-BE49-F238E27FC236}">
                <a16:creationId xmlns:a16="http://schemas.microsoft.com/office/drawing/2014/main" id="{DAFA607A-F660-A718-A893-5EA4E299E438}"/>
              </a:ext>
            </a:extLst>
          </p:cNvPr>
          <p:cNvSpPr>
            <a:spLocks noGrp="1" noChangeArrowheads="1"/>
          </p:cNvSpPr>
          <p:nvPr>
            <p:ph type="body" idx="1"/>
          </p:nvPr>
        </p:nvSpPr>
        <p:spPr>
          <a:xfrm>
            <a:off x="609600" y="1524000"/>
            <a:ext cx="7772400" cy="4114800"/>
          </a:xfrm>
        </p:spPr>
        <p:txBody>
          <a:bodyPr/>
          <a:lstStyle/>
          <a:p>
            <a:pPr eaLnBrk="1" hangingPunct="1">
              <a:lnSpc>
                <a:spcPct val="70000"/>
              </a:lnSpc>
            </a:pPr>
            <a:r>
              <a:rPr lang="en-US" altLang="en-US" sz="2200">
                <a:latin typeface="Calibri" panose="020F0502020204030204" pitchFamily="34" charset="0"/>
              </a:rPr>
              <a:t>Family of one-way hash functions by Ronald Rivest</a:t>
            </a:r>
          </a:p>
          <a:p>
            <a:pPr lvl="1" eaLnBrk="1" hangingPunct="1">
              <a:lnSpc>
                <a:spcPct val="70000"/>
              </a:lnSpc>
            </a:pPr>
            <a:r>
              <a:rPr lang="en-US" altLang="en-US" sz="1900">
                <a:latin typeface="Calibri" panose="020F0502020204030204" pitchFamily="34" charset="0"/>
              </a:rPr>
              <a:t>All produces 128 bits hash value </a:t>
            </a:r>
            <a:endParaRPr lang="en-US" altLang="en-US" sz="2200">
              <a:latin typeface="Calibri" panose="020F0502020204030204" pitchFamily="34" charset="0"/>
            </a:endParaRPr>
          </a:p>
          <a:p>
            <a:pPr eaLnBrk="1" hangingPunct="1">
              <a:lnSpc>
                <a:spcPct val="70000"/>
              </a:lnSpc>
            </a:pPr>
            <a:r>
              <a:rPr lang="en-US" altLang="en-US" sz="2200" b="1">
                <a:latin typeface="Calibri" panose="020F0502020204030204" pitchFamily="34" charset="0"/>
              </a:rPr>
              <a:t>MD2: 1989 </a:t>
            </a:r>
          </a:p>
          <a:p>
            <a:pPr lvl="1" eaLnBrk="1" hangingPunct="1">
              <a:lnSpc>
                <a:spcPct val="70000"/>
              </a:lnSpc>
            </a:pPr>
            <a:r>
              <a:rPr lang="en-US" altLang="en-US" sz="1900">
                <a:latin typeface="Calibri" panose="020F0502020204030204" pitchFamily="34" charset="0"/>
              </a:rPr>
              <a:t>Optimized for 8 bit computer</a:t>
            </a:r>
          </a:p>
          <a:p>
            <a:pPr lvl="1" eaLnBrk="1" hangingPunct="1">
              <a:lnSpc>
                <a:spcPct val="70000"/>
              </a:lnSpc>
            </a:pPr>
            <a:r>
              <a:rPr lang="en-US" altLang="en-US" sz="1900">
                <a:latin typeface="Calibri" panose="020F0502020204030204" pitchFamily="34" charset="0"/>
              </a:rPr>
              <a:t>Collision found in 1995</a:t>
            </a:r>
            <a:endParaRPr lang="en-US" altLang="en-US" sz="2200">
              <a:latin typeface="Calibri" panose="020F0502020204030204" pitchFamily="34" charset="0"/>
            </a:endParaRPr>
          </a:p>
          <a:p>
            <a:pPr eaLnBrk="1" hangingPunct="1">
              <a:lnSpc>
                <a:spcPct val="70000"/>
              </a:lnSpc>
            </a:pPr>
            <a:r>
              <a:rPr lang="en-US" altLang="en-US" sz="2200" b="1">
                <a:latin typeface="Calibri" panose="020F0502020204030204" pitchFamily="34" charset="0"/>
              </a:rPr>
              <a:t>MD4: 1990</a:t>
            </a:r>
          </a:p>
          <a:p>
            <a:pPr lvl="1" eaLnBrk="1" hangingPunct="1">
              <a:lnSpc>
                <a:spcPct val="70000"/>
              </a:lnSpc>
            </a:pPr>
            <a:r>
              <a:rPr lang="en-US" altLang="en-US" sz="1900">
                <a:latin typeface="Calibri" panose="020F0502020204030204" pitchFamily="34" charset="0"/>
              </a:rPr>
              <a:t>Full round collision attack found in 1995</a:t>
            </a:r>
            <a:endParaRPr lang="en-US" altLang="en-US" sz="2200">
              <a:latin typeface="Calibri" panose="020F0502020204030204" pitchFamily="34" charset="0"/>
            </a:endParaRPr>
          </a:p>
          <a:p>
            <a:pPr eaLnBrk="1" hangingPunct="1">
              <a:lnSpc>
                <a:spcPct val="70000"/>
              </a:lnSpc>
            </a:pPr>
            <a:r>
              <a:rPr lang="en-US" altLang="en-US" sz="2200" b="1">
                <a:latin typeface="Calibri" panose="020F0502020204030204" pitchFamily="34" charset="0"/>
              </a:rPr>
              <a:t>MD5: 1992</a:t>
            </a:r>
          </a:p>
          <a:p>
            <a:pPr lvl="1" eaLnBrk="1" hangingPunct="1">
              <a:lnSpc>
                <a:spcPct val="70000"/>
              </a:lnSpc>
            </a:pPr>
            <a:r>
              <a:rPr lang="en-AU" altLang="en-US" sz="1900">
                <a:latin typeface="Calibri" panose="020F0502020204030204" pitchFamily="34" charset="0"/>
              </a:rPr>
              <a:t>Specified as Internet standard in </a:t>
            </a:r>
            <a:r>
              <a:rPr lang="en-US" altLang="en-US" sz="1900">
                <a:latin typeface="Calibri" panose="020F0502020204030204" pitchFamily="34" charset="0"/>
              </a:rPr>
              <a:t>RFC 1321 </a:t>
            </a:r>
          </a:p>
          <a:p>
            <a:pPr lvl="1" eaLnBrk="1" hangingPunct="1">
              <a:lnSpc>
                <a:spcPct val="70000"/>
              </a:lnSpc>
            </a:pPr>
            <a:r>
              <a:rPr lang="en-US" altLang="en-US" sz="1900">
                <a:latin typeface="Calibri" panose="020F0502020204030204" pitchFamily="34" charset="0"/>
              </a:rPr>
              <a:t>since 1997 it was theoretically not so hard to create a collision</a:t>
            </a:r>
          </a:p>
          <a:p>
            <a:pPr lvl="1" eaLnBrk="1" hangingPunct="1">
              <a:lnSpc>
                <a:spcPct val="70000"/>
              </a:lnSpc>
            </a:pPr>
            <a:r>
              <a:rPr lang="en-US" altLang="en-US" sz="1900">
                <a:latin typeface="Calibri" panose="020F0502020204030204" pitchFamily="34" charset="0"/>
              </a:rPr>
              <a:t>Practical Collision MD5 has been broken since 2004</a:t>
            </a:r>
          </a:p>
          <a:p>
            <a:pPr lvl="1" eaLnBrk="1" hangingPunct="1">
              <a:lnSpc>
                <a:spcPct val="70000"/>
              </a:lnSpc>
            </a:pPr>
            <a:r>
              <a:rPr lang="en-US" altLang="en-US" sz="1900">
                <a:latin typeface="Calibri" panose="020F0502020204030204" pitchFamily="34" charset="0"/>
              </a:rPr>
              <a:t>CA attack published in 2007</a:t>
            </a:r>
          </a:p>
          <a:p>
            <a:pPr lvl="1" eaLnBrk="1" hangingPunct="1">
              <a:lnSpc>
                <a:spcPct val="70000"/>
              </a:lnSpc>
            </a:pPr>
            <a:endParaRPr lang="en-US" altLang="en-US" sz="1900">
              <a:latin typeface="Calibri" panose="020F0502020204030204" pitchFamily="34" charset="0"/>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9C01B064-84A0-591C-3CA2-CE8495263492}"/>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63490" name="Content Placeholder 2">
            <a:extLst>
              <a:ext uri="{FF2B5EF4-FFF2-40B4-BE49-F238E27FC236}">
                <a16:creationId xmlns:a16="http://schemas.microsoft.com/office/drawing/2014/main" id="{5D236DD2-9A48-5DA0-5C59-0373FFC3F7CB}"/>
              </a:ext>
            </a:extLst>
          </p:cNvPr>
          <p:cNvSpPr>
            <a:spLocks noGrp="1"/>
          </p:cNvSpPr>
          <p:nvPr>
            <p:ph sz="quarter" idx="1"/>
          </p:nvPr>
        </p:nvSpPr>
        <p:spPr>
          <a:xfrm>
            <a:off x="457200" y="1219200"/>
            <a:ext cx="8229600" cy="4937125"/>
          </a:xfrm>
        </p:spPr>
        <p:txBody>
          <a:bodyPr/>
          <a:lstStyle/>
          <a:p>
            <a:r>
              <a:rPr lang="en-US" altLang="en-US" dirty="0">
                <a:latin typeface="Calibri" panose="020F0502020204030204" pitchFamily="34" charset="0"/>
              </a:rPr>
              <a:t>Overview of Cryptography Hash Function</a:t>
            </a:r>
          </a:p>
          <a:p>
            <a:r>
              <a:rPr lang="en-US" altLang="en-US" dirty="0">
                <a:latin typeface="Calibri" panose="020F0502020204030204" pitchFamily="34" charset="0"/>
              </a:rPr>
              <a:t>Usages</a:t>
            </a:r>
          </a:p>
          <a:p>
            <a:r>
              <a:rPr lang="en-US" altLang="en-US" dirty="0">
                <a:latin typeface="Calibri" panose="020F0502020204030204" pitchFamily="34" charset="0"/>
              </a:rPr>
              <a:t>Properties</a:t>
            </a:r>
          </a:p>
          <a:p>
            <a:r>
              <a:rPr lang="en-US" altLang="en-US" b="1" dirty="0">
                <a:latin typeface="Calibri" panose="020F0502020204030204" pitchFamily="34" charset="0"/>
              </a:rPr>
              <a:t>Hashing Function Structure</a:t>
            </a:r>
          </a:p>
          <a:p>
            <a:pPr lvl="1"/>
            <a:r>
              <a:rPr lang="en-US" altLang="en-US" b="1" dirty="0">
                <a:latin typeface="Calibri" panose="020F0502020204030204" pitchFamily="34" charset="0"/>
              </a:rPr>
              <a:t>SHA</a:t>
            </a:r>
          </a:p>
          <a:p>
            <a:r>
              <a:rPr lang="en-US" altLang="en-US" dirty="0">
                <a:latin typeface="Calibri" panose="020F0502020204030204" pitchFamily="34" charset="0"/>
              </a:rPr>
              <a:t>Attack on Hash Function </a:t>
            </a:r>
          </a:p>
          <a:p>
            <a:r>
              <a:rPr lang="en-US" altLang="en-US" dirty="0">
                <a:latin typeface="Calibri" panose="020F0502020204030204" pitchFamily="34" charset="0"/>
              </a:rPr>
              <a:t>The Road to new Secure Hash Standard</a:t>
            </a:r>
          </a:p>
          <a:p>
            <a:endParaRPr lang="en-US" altLang="en-US" dirty="0">
              <a:latin typeface="Calibri" panose="020F0502020204030204" pitchFamily="34" charset="0"/>
            </a:endParaRPr>
          </a:p>
          <a:p>
            <a:endParaRPr lang="en-US" altLang="en-US" dirty="0">
              <a:latin typeface="Calibri" panose="020F0502020204030204" pitchFamily="34"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883B22BD-7ACB-89C9-A11A-A5129736D129}"/>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Secure Hash Algorithm</a:t>
            </a:r>
            <a:endParaRPr lang="en-AU" altLang="en-US">
              <a:latin typeface="Calibri" panose="020F0502020204030204" pitchFamily="34" charset="0"/>
            </a:endParaRPr>
          </a:p>
        </p:txBody>
      </p:sp>
      <p:sp>
        <p:nvSpPr>
          <p:cNvPr id="64514" name="Rectangle 3">
            <a:extLst>
              <a:ext uri="{FF2B5EF4-FFF2-40B4-BE49-F238E27FC236}">
                <a16:creationId xmlns:a16="http://schemas.microsoft.com/office/drawing/2014/main" id="{AFA1F0BE-81DF-921F-45BD-6352958C903C}"/>
              </a:ext>
            </a:extLst>
          </p:cNvPr>
          <p:cNvSpPr>
            <a:spLocks noGrp="1" noChangeArrowheads="1"/>
          </p:cNvSpPr>
          <p:nvPr>
            <p:ph sz="quarter" idx="1"/>
          </p:nvPr>
        </p:nvSpPr>
        <p:spPr>
          <a:xfrm>
            <a:off x="457200" y="1219200"/>
            <a:ext cx="8229600" cy="4937125"/>
          </a:xfrm>
        </p:spPr>
        <p:txBody>
          <a:bodyPr/>
          <a:lstStyle/>
          <a:p>
            <a:pPr eaLnBrk="1" hangingPunct="1">
              <a:buFont typeface="Wingdings" panose="05000000000000000000" pitchFamily="2" charset="2"/>
              <a:buChar char="Ø"/>
            </a:pPr>
            <a:r>
              <a:rPr lang="en-AU" altLang="en-US" sz="2400">
                <a:latin typeface="Calibri" panose="020F0502020204030204" pitchFamily="34" charset="0"/>
              </a:rPr>
              <a:t>SHA originally designed by NIST &amp; NSA in 1993</a:t>
            </a:r>
          </a:p>
          <a:p>
            <a:pPr lvl="1" eaLnBrk="1" hangingPunct="1">
              <a:buFont typeface="Wingdings" panose="05000000000000000000" pitchFamily="2" charset="2"/>
              <a:buChar char="Ø"/>
            </a:pPr>
            <a:r>
              <a:rPr lang="en-AU" altLang="en-US" sz="2100">
                <a:latin typeface="Calibri" panose="020F0502020204030204" pitchFamily="34" charset="0"/>
              </a:rPr>
              <a:t>revised in 1995 as SHA-1</a:t>
            </a:r>
          </a:p>
          <a:p>
            <a:pPr eaLnBrk="1" hangingPunct="1">
              <a:buFont typeface="Wingdings" panose="05000000000000000000" pitchFamily="2" charset="2"/>
              <a:buChar char="Ø"/>
            </a:pPr>
            <a:r>
              <a:rPr lang="en-AU" altLang="en-US" sz="2400">
                <a:latin typeface="Calibri" panose="020F0502020204030204" pitchFamily="34" charset="0"/>
              </a:rPr>
              <a:t>US standard for use with DSA signature scheme </a:t>
            </a:r>
          </a:p>
          <a:p>
            <a:pPr lvl="1" eaLnBrk="1" hangingPunct="1">
              <a:buFont typeface="Wingdings" panose="05000000000000000000" pitchFamily="2" charset="2"/>
              <a:buChar char="l"/>
            </a:pPr>
            <a:r>
              <a:rPr lang="en-US" altLang="en-US" sz="2000">
                <a:latin typeface="Calibri" panose="020F0502020204030204" pitchFamily="34" charset="0"/>
              </a:rPr>
              <a:t>standard is FIPS 180-1 1995, also Internet RFC3174</a:t>
            </a:r>
            <a:endParaRPr lang="en-AU" altLang="en-US" sz="2000">
              <a:latin typeface="Calibri" panose="020F0502020204030204" pitchFamily="34" charset="0"/>
            </a:endParaRPr>
          </a:p>
          <a:p>
            <a:pPr lvl="1" eaLnBrk="1" hangingPunct="1">
              <a:buFont typeface="Wingdings" panose="05000000000000000000" pitchFamily="2" charset="2"/>
              <a:buChar char="Ø"/>
            </a:pPr>
            <a:r>
              <a:rPr lang="en-AU" altLang="en-US" sz="2100">
                <a:latin typeface="Calibri" panose="020F0502020204030204" pitchFamily="34" charset="0"/>
              </a:rPr>
              <a:t>based on design of MD4 with key differences </a:t>
            </a:r>
          </a:p>
          <a:p>
            <a:pPr eaLnBrk="1" hangingPunct="1">
              <a:buFont typeface="Wingdings" panose="05000000000000000000" pitchFamily="2" charset="2"/>
              <a:buChar char="Ø"/>
            </a:pPr>
            <a:r>
              <a:rPr lang="en-AU" altLang="en-US" sz="2400">
                <a:latin typeface="Calibri" panose="020F0502020204030204" pitchFamily="34" charset="0"/>
              </a:rPr>
              <a:t>produces 160-bit hash values </a:t>
            </a:r>
          </a:p>
          <a:p>
            <a:pPr eaLnBrk="1" hangingPunct="1">
              <a:buFont typeface="Wingdings" panose="05000000000000000000" pitchFamily="2" charset="2"/>
              <a:buChar char="Ø"/>
            </a:pPr>
            <a:r>
              <a:rPr lang="en-AU" altLang="en-US" sz="2400">
                <a:latin typeface="Calibri" panose="020F0502020204030204" pitchFamily="34" charset="0"/>
              </a:rPr>
              <a:t>recent 2005 results on security of SHA-1 have raised concerns on its use in future applications</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FE267597-0B5C-4870-382B-9ABFD2B9813E}"/>
              </a:ext>
            </a:extLst>
          </p:cNvPr>
          <p:cNvSpPr>
            <a:spLocks noGrp="1" noChangeArrowheads="1"/>
          </p:cNvSpPr>
          <p:nvPr>
            <p:ph type="title"/>
          </p:nvPr>
        </p:nvSpPr>
        <p:spPr/>
        <p:txBody>
          <a:bodyPr/>
          <a:lstStyle/>
          <a:p>
            <a:pPr eaLnBrk="1" hangingPunct="1"/>
            <a:r>
              <a:rPr lang="en-US" altLang="en-US">
                <a:latin typeface="Calibri" panose="020F0502020204030204" pitchFamily="34" charset="0"/>
              </a:rPr>
              <a:t>Revised SHA</a:t>
            </a:r>
            <a:endParaRPr lang="en-AU" altLang="en-US">
              <a:latin typeface="Calibri" panose="020F0502020204030204" pitchFamily="34" charset="0"/>
            </a:endParaRPr>
          </a:p>
        </p:txBody>
      </p:sp>
      <p:sp>
        <p:nvSpPr>
          <p:cNvPr id="66562" name="Rectangle 3">
            <a:extLst>
              <a:ext uri="{FF2B5EF4-FFF2-40B4-BE49-F238E27FC236}">
                <a16:creationId xmlns:a16="http://schemas.microsoft.com/office/drawing/2014/main" id="{3A65FA0F-4B1F-4E65-B3DE-0FFFBFB41EA1}"/>
              </a:ext>
            </a:extLst>
          </p:cNvPr>
          <p:cNvSpPr>
            <a:spLocks noGrp="1" noChangeArrowheads="1"/>
          </p:cNvSpPr>
          <p:nvPr>
            <p:ph sz="quarter" idx="1"/>
          </p:nvPr>
        </p:nvSpPr>
        <p:spPr>
          <a:xfrm>
            <a:off x="457200" y="1219200"/>
            <a:ext cx="8229600" cy="4937125"/>
          </a:xfrm>
        </p:spPr>
        <p:txBody>
          <a:bodyPr/>
          <a:lstStyle/>
          <a:p>
            <a:pPr eaLnBrk="1" hangingPunct="1">
              <a:lnSpc>
                <a:spcPct val="90000"/>
              </a:lnSpc>
              <a:buFont typeface="Wingdings" panose="05000000000000000000" pitchFamily="2" charset="2"/>
              <a:buChar char="Ø"/>
            </a:pPr>
            <a:r>
              <a:rPr lang="en-US" altLang="en-US">
                <a:latin typeface="Calibri" panose="020F0502020204030204" pitchFamily="34" charset="0"/>
              </a:rPr>
              <a:t>NIST issued revision FIPS 180-2 in 2002</a:t>
            </a:r>
          </a:p>
          <a:p>
            <a:pPr eaLnBrk="1" hangingPunct="1">
              <a:lnSpc>
                <a:spcPct val="90000"/>
              </a:lnSpc>
              <a:buFont typeface="Wingdings" panose="05000000000000000000" pitchFamily="2" charset="2"/>
              <a:buChar char="Ø"/>
            </a:pPr>
            <a:r>
              <a:rPr lang="en-US" altLang="en-US">
                <a:latin typeface="Calibri" panose="020F0502020204030204" pitchFamily="34" charset="0"/>
              </a:rPr>
              <a:t>adds 3 additional versions of SHA </a:t>
            </a:r>
          </a:p>
          <a:p>
            <a:pPr lvl="1" eaLnBrk="1" hangingPunct="1">
              <a:lnSpc>
                <a:spcPct val="90000"/>
              </a:lnSpc>
              <a:buFont typeface="Wingdings" panose="05000000000000000000" pitchFamily="2" charset="2"/>
              <a:buChar char="l"/>
            </a:pPr>
            <a:r>
              <a:rPr lang="en-US" altLang="en-US">
                <a:latin typeface="Calibri" panose="020F0502020204030204" pitchFamily="34" charset="0"/>
              </a:rPr>
              <a:t>SHA-256, SHA-384, SHA-512</a:t>
            </a:r>
          </a:p>
          <a:p>
            <a:pPr eaLnBrk="1" hangingPunct="1">
              <a:lnSpc>
                <a:spcPct val="90000"/>
              </a:lnSpc>
              <a:buFont typeface="Wingdings" panose="05000000000000000000" pitchFamily="2" charset="2"/>
              <a:buChar char="Ø"/>
            </a:pPr>
            <a:r>
              <a:rPr lang="en-US" altLang="en-US">
                <a:latin typeface="Calibri" panose="020F0502020204030204" pitchFamily="34" charset="0"/>
              </a:rPr>
              <a:t>designed for compatibility with increased security provided by the AES cipher</a:t>
            </a:r>
          </a:p>
          <a:p>
            <a:pPr eaLnBrk="1" hangingPunct="1">
              <a:lnSpc>
                <a:spcPct val="90000"/>
              </a:lnSpc>
              <a:buFont typeface="Wingdings" panose="05000000000000000000" pitchFamily="2" charset="2"/>
              <a:buChar char="Ø"/>
            </a:pPr>
            <a:r>
              <a:rPr lang="en-US" altLang="en-US">
                <a:latin typeface="Calibri" panose="020F0502020204030204" pitchFamily="34" charset="0"/>
              </a:rPr>
              <a:t>structure &amp; detail is similar to SHA-1</a:t>
            </a:r>
          </a:p>
          <a:p>
            <a:pPr eaLnBrk="1" hangingPunct="1">
              <a:lnSpc>
                <a:spcPct val="90000"/>
              </a:lnSpc>
              <a:buFont typeface="Wingdings" panose="05000000000000000000" pitchFamily="2" charset="2"/>
              <a:buChar char="Ø"/>
            </a:pPr>
            <a:r>
              <a:rPr lang="en-US" altLang="en-US">
                <a:latin typeface="Calibri" panose="020F0502020204030204" pitchFamily="34" charset="0"/>
              </a:rPr>
              <a:t>hence analysis should be similar</a:t>
            </a:r>
          </a:p>
          <a:p>
            <a:pPr eaLnBrk="1" hangingPunct="1">
              <a:lnSpc>
                <a:spcPct val="90000"/>
              </a:lnSpc>
              <a:buFont typeface="Wingdings" panose="05000000000000000000" pitchFamily="2" charset="2"/>
              <a:buChar char="Ø"/>
            </a:pPr>
            <a:r>
              <a:rPr lang="en-AU" altLang="en-US">
                <a:latin typeface="Calibri" panose="020F0502020204030204" pitchFamily="34" charset="0"/>
              </a:rPr>
              <a:t>but security levels are rather higher</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FF17A47D-14C6-D310-E81B-45C24A5AEC61}"/>
              </a:ext>
            </a:extLst>
          </p:cNvPr>
          <p:cNvSpPr>
            <a:spLocks noGrp="1"/>
          </p:cNvSpPr>
          <p:nvPr>
            <p:ph type="title"/>
          </p:nvPr>
        </p:nvSpPr>
        <p:spPr/>
        <p:txBody>
          <a:bodyPr/>
          <a:lstStyle/>
          <a:p>
            <a:pPr eaLnBrk="1" hangingPunct="1"/>
            <a:r>
              <a:rPr lang="en-US" altLang="en-US">
                <a:latin typeface="Calibri" panose="020F0502020204030204" pitchFamily="34" charset="0"/>
              </a:rPr>
              <a:t>SHA Versions</a:t>
            </a:r>
          </a:p>
        </p:txBody>
      </p:sp>
      <p:graphicFrame>
        <p:nvGraphicFramePr>
          <p:cNvPr id="7" name="Table 6">
            <a:extLst>
              <a:ext uri="{FF2B5EF4-FFF2-40B4-BE49-F238E27FC236}">
                <a16:creationId xmlns:a16="http://schemas.microsoft.com/office/drawing/2014/main" id="{EDDD3BF3-AE2B-F244-D1B0-15075AAFC5B6}"/>
              </a:ext>
            </a:extLst>
          </p:cNvPr>
          <p:cNvGraphicFramePr>
            <a:graphicFrameLocks noGrp="1"/>
          </p:cNvGraphicFramePr>
          <p:nvPr/>
        </p:nvGraphicFramePr>
        <p:xfrm>
          <a:off x="395536" y="1844824"/>
          <a:ext cx="8208913" cy="2895599"/>
        </p:xfrm>
        <a:graphic>
          <a:graphicData uri="http://schemas.openxmlformats.org/drawingml/2006/table">
            <a:tbl>
              <a:tblPr>
                <a:effectLst>
                  <a:outerShdw blurRad="50800" dist="38100" dir="2700000">
                    <a:srgbClr val="000000">
                      <a:alpha val="43000"/>
                    </a:srgbClr>
                  </a:outerShdw>
                </a:effectLst>
              </a:tblPr>
              <a:tblGrid>
                <a:gridCol w="1271223">
                  <a:extLst>
                    <a:ext uri="{9D8B030D-6E8A-4147-A177-3AD203B41FA5}">
                      <a16:colId xmlns:a16="http://schemas.microsoft.com/office/drawing/2014/main" val="20000"/>
                    </a:ext>
                  </a:extLst>
                </a:gridCol>
                <a:gridCol w="889017">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gridCol w="1080120">
                  <a:extLst>
                    <a:ext uri="{9D8B030D-6E8A-4147-A177-3AD203B41FA5}">
                      <a16:colId xmlns:a16="http://schemas.microsoft.com/office/drawing/2014/main" val="20006"/>
                    </a:ext>
                  </a:extLst>
                </a:gridCol>
                <a:gridCol w="1080121">
                  <a:extLst>
                    <a:ext uri="{9D8B030D-6E8A-4147-A177-3AD203B41FA5}">
                      <a16:colId xmlns:a16="http://schemas.microsoft.com/office/drawing/2014/main" val="20007"/>
                    </a:ext>
                  </a:extLst>
                </a:gridCol>
              </a:tblGrid>
              <a:tr h="474082">
                <a:tc>
                  <a:txBody>
                    <a:bodyPr/>
                    <a:lstStyle/>
                    <a:p>
                      <a:pPr algn="l" fontAlgn="b"/>
                      <a:endParaRPr lang="en-US" sz="2000" b="1" i="0" u="none" strike="noStrike"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MD5</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1" i="0" u="none" strike="noStrike" dirty="0">
                          <a:latin typeface="Calibri"/>
                        </a:rPr>
                        <a:t>SHA-0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1" i="0" u="none" strike="noStrike" dirty="0">
                          <a:latin typeface="Calibri"/>
                        </a:rPr>
                        <a:t>SHA-1</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SHA-224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SHA-256</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SHA-384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1" i="0" u="none" strike="noStrike" dirty="0">
                          <a:latin typeface="Calibri"/>
                        </a:rPr>
                        <a:t>SHA-512 </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541808">
                <a:tc>
                  <a:txBody>
                    <a:bodyPr/>
                    <a:lstStyle/>
                    <a:p>
                      <a:pPr algn="l" fontAlgn="b"/>
                      <a:r>
                        <a:rPr lang="en-US" sz="1800" b="1" i="0" u="none" strike="noStrike" dirty="0">
                          <a:latin typeface="Calibri"/>
                        </a:rPr>
                        <a:t>Digest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128</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160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160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256</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384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530863">
                <a:tc>
                  <a:txBody>
                    <a:bodyPr/>
                    <a:lstStyle/>
                    <a:p>
                      <a:pPr algn="l" fontAlgn="b"/>
                      <a:r>
                        <a:rPr lang="en-US" sz="1800" b="1" i="0" u="none" strike="noStrike" dirty="0">
                          <a:latin typeface="Calibri"/>
                        </a:rPr>
                        <a:t>Message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64 </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64</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128</a:t>
                      </a:r>
                      <a:r>
                        <a:rPr lang="en-US" sz="2000" b="0" i="0" u="none" strike="noStrike" dirty="0">
                          <a:latin typeface="Calibri"/>
                        </a:rPr>
                        <a:t>-1</a:t>
                      </a:r>
                      <a:endParaRPr lang="en-US" sz="2000" b="0" i="0" u="none" strike="noStrike" baseline="30000" dirty="0">
                        <a:latin typeface="Calibri"/>
                      </a:endParaRP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2</a:t>
                      </a:r>
                      <a:r>
                        <a:rPr lang="en-US" sz="2000" b="0" i="0" u="none" strike="noStrike" baseline="30000" dirty="0">
                          <a:latin typeface="Calibri"/>
                        </a:rPr>
                        <a:t>128</a:t>
                      </a:r>
                      <a:r>
                        <a:rPr lang="en-US" sz="2000" b="0" i="0" u="none" strike="noStrike" dirty="0">
                          <a:latin typeface="Calibri"/>
                        </a:rPr>
                        <a:t>-1 </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464683">
                <a:tc>
                  <a:txBody>
                    <a:bodyPr/>
                    <a:lstStyle/>
                    <a:p>
                      <a:pPr algn="l" fontAlgn="b"/>
                      <a:r>
                        <a:rPr lang="en-US" sz="1800" b="1" i="0" u="none" strike="noStrike" dirty="0">
                          <a:latin typeface="Calibri"/>
                        </a:rPr>
                        <a:t>Block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512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1024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1024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464683">
                <a:tc>
                  <a:txBody>
                    <a:bodyPr/>
                    <a:lstStyle/>
                    <a:p>
                      <a:pPr algn="l" fontAlgn="b"/>
                      <a:r>
                        <a:rPr lang="en-US" sz="1800" b="1" i="0" u="none" strike="noStrike" dirty="0">
                          <a:latin typeface="Calibri"/>
                        </a:rPr>
                        <a:t>Word size</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32</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419480">
                <a:tc>
                  <a:txBody>
                    <a:bodyPr/>
                    <a:lstStyle/>
                    <a:p>
                      <a:pPr algn="l" fontAlgn="b"/>
                      <a:r>
                        <a:rPr lang="en-US" sz="1800" b="1" i="0" u="none" strike="noStrike" dirty="0">
                          <a:latin typeface="Calibri"/>
                        </a:rPr>
                        <a:t># of steps</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B021"/>
                    </a:solidFill>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64</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fontAlgn="b"/>
                      <a:r>
                        <a:rPr lang="en-US" sz="2000" b="0" i="0" u="none" strike="noStrike" dirty="0">
                          <a:latin typeface="Calibri"/>
                        </a:rPr>
                        <a:t>80</a:t>
                      </a:r>
                    </a:p>
                  </a:txBody>
                  <a:tcPr marL="12315" marR="12315" marT="12315"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8611" name="TextBox 1">
            <a:extLst>
              <a:ext uri="{FF2B5EF4-FFF2-40B4-BE49-F238E27FC236}">
                <a16:creationId xmlns:a16="http://schemas.microsoft.com/office/drawing/2014/main" id="{5E391124-F619-66A3-6ED2-8047A457FC71}"/>
              </a:ext>
            </a:extLst>
          </p:cNvPr>
          <p:cNvSpPr txBox="1">
            <a:spLocks noChangeArrowheads="1"/>
          </p:cNvSpPr>
          <p:nvPr/>
        </p:nvSpPr>
        <p:spPr bwMode="auto">
          <a:xfrm>
            <a:off x="1547813" y="5373688"/>
            <a:ext cx="2082800" cy="368300"/>
          </a:xfrm>
          <a:prstGeom prst="rect">
            <a:avLst/>
          </a:prstGeom>
          <a:solidFill>
            <a:srgbClr val="FFB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1800"/>
              <a:t>Full collision found</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3C061E09-5D6D-D3A7-2718-D863E83BE46E}"/>
              </a:ext>
            </a:extLst>
          </p:cNvPr>
          <p:cNvSpPr>
            <a:spLocks noGrp="1"/>
          </p:cNvSpPr>
          <p:nvPr>
            <p:ph type="title"/>
          </p:nvPr>
        </p:nvSpPr>
        <p:spPr/>
        <p:txBody>
          <a:bodyPr/>
          <a:lstStyle/>
          <a:p>
            <a:r>
              <a:rPr lang="en-US" altLang="en-US">
                <a:latin typeface="Calibri" panose="020F0502020204030204" pitchFamily="34" charset="0"/>
              </a:rPr>
              <a:t>Sample Processing</a:t>
            </a:r>
          </a:p>
        </p:txBody>
      </p:sp>
      <p:sp>
        <p:nvSpPr>
          <p:cNvPr id="70658" name="Content Placeholder 2">
            <a:extLst>
              <a:ext uri="{FF2B5EF4-FFF2-40B4-BE49-F238E27FC236}">
                <a16:creationId xmlns:a16="http://schemas.microsoft.com/office/drawing/2014/main" id="{6BB3B8C9-A14C-2870-32A4-2BF492F69F4D}"/>
              </a:ext>
            </a:extLst>
          </p:cNvPr>
          <p:cNvSpPr>
            <a:spLocks noGrp="1"/>
          </p:cNvSpPr>
          <p:nvPr>
            <p:ph sz="quarter" idx="1"/>
          </p:nvPr>
        </p:nvSpPr>
        <p:spPr>
          <a:xfrm>
            <a:off x="685800" y="3733800"/>
            <a:ext cx="8229600" cy="1219200"/>
          </a:xfrm>
        </p:spPr>
        <p:txBody>
          <a:bodyPr/>
          <a:lstStyle/>
          <a:p>
            <a:r>
              <a:rPr lang="en-US" altLang="en-US">
                <a:latin typeface="Calibri" panose="020F0502020204030204" pitchFamily="34" charset="0"/>
              </a:rPr>
              <a:t>Mac Intel 2.66 Ghz core i7</a:t>
            </a:r>
          </a:p>
          <a:p>
            <a:r>
              <a:rPr lang="en-US" altLang="en-US">
                <a:latin typeface="Calibri" panose="020F0502020204030204" pitchFamily="34" charset="0"/>
              </a:rPr>
              <a:t>1024 bytes block of data </a:t>
            </a:r>
          </a:p>
        </p:txBody>
      </p:sp>
      <p:sp>
        <p:nvSpPr>
          <p:cNvPr id="70659" name="Rectangle 3">
            <a:extLst>
              <a:ext uri="{FF2B5EF4-FFF2-40B4-BE49-F238E27FC236}">
                <a16:creationId xmlns:a16="http://schemas.microsoft.com/office/drawing/2014/main" id="{1AA4896D-F36A-2564-6D65-6498F6E1169B}"/>
              </a:ext>
            </a:extLst>
          </p:cNvPr>
          <p:cNvSpPr>
            <a:spLocks noChangeArrowheads="1"/>
          </p:cNvSpPr>
          <p:nvPr/>
        </p:nvSpPr>
        <p:spPr bwMode="auto">
          <a:xfrm>
            <a:off x="914400" y="1600200"/>
            <a:ext cx="7239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800" b="1">
                <a:latin typeface="Calibri" panose="020F0502020204030204" pitchFamily="34" charset="0"/>
                <a:cs typeface="Calibri" panose="020F0502020204030204" pitchFamily="34" charset="0"/>
              </a:rPr>
              <a:t>Type            bits                 data processed</a:t>
            </a:r>
          </a:p>
          <a:p>
            <a:pPr eaLnBrk="1" hangingPunct="1"/>
            <a:r>
              <a:rPr lang="en-US" altLang="en-US" sz="2800">
                <a:latin typeface="Calibri" panose="020F0502020204030204" pitchFamily="34" charset="0"/>
                <a:cs typeface="Calibri" panose="020F0502020204030204" pitchFamily="34" charset="0"/>
              </a:rPr>
              <a:t>MD5            128  		469.7 MB/s   </a:t>
            </a:r>
          </a:p>
          <a:p>
            <a:pPr eaLnBrk="1" hangingPunct="1"/>
            <a:r>
              <a:rPr lang="en-US" altLang="en-US" sz="2800">
                <a:latin typeface="Calibri" panose="020F0502020204030204" pitchFamily="34" charset="0"/>
                <a:cs typeface="Calibri" panose="020F0502020204030204" pitchFamily="34" charset="0"/>
              </a:rPr>
              <a:t>SHA-1          160		339.4 MB/s   </a:t>
            </a:r>
          </a:p>
          <a:p>
            <a:pPr eaLnBrk="1" hangingPunct="1"/>
            <a:r>
              <a:rPr lang="en-US" altLang="en-US" sz="2800">
                <a:latin typeface="Calibri" panose="020F0502020204030204" pitchFamily="34" charset="0"/>
                <a:cs typeface="Calibri" panose="020F0502020204030204" pitchFamily="34" charset="0"/>
              </a:rPr>
              <a:t>SHA-512      512  		177.7 MB/s </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9B136CC1-DD42-C6C2-3CE5-7B3F72E9F9C2}"/>
              </a:ext>
            </a:extLst>
          </p:cNvPr>
          <p:cNvSpPr>
            <a:spLocks noGrp="1" noChangeArrowheads="1"/>
          </p:cNvSpPr>
          <p:nvPr>
            <p:ph type="title"/>
          </p:nvPr>
        </p:nvSpPr>
        <p:spPr>
          <a:xfrm>
            <a:off x="457200" y="152400"/>
            <a:ext cx="8229600" cy="914400"/>
          </a:xfrm>
        </p:spPr>
        <p:txBody>
          <a:bodyPr/>
          <a:lstStyle/>
          <a:p>
            <a:pPr eaLnBrk="1" hangingPunct="1"/>
            <a:r>
              <a:rPr lang="en-AU" altLang="en-US">
                <a:latin typeface="Calibri" panose="020F0502020204030204" pitchFamily="34" charset="0"/>
              </a:rPr>
              <a:t>SHA-512 Overview</a:t>
            </a:r>
          </a:p>
        </p:txBody>
      </p:sp>
      <p:pic>
        <p:nvPicPr>
          <p:cNvPr id="71682" name="Picture 12">
            <a:extLst>
              <a:ext uri="{FF2B5EF4-FFF2-40B4-BE49-F238E27FC236}">
                <a16:creationId xmlns:a16="http://schemas.microsoft.com/office/drawing/2014/main" id="{D784EC91-116E-A5F2-457A-203EDE8F59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1828800"/>
            <a:ext cx="8601075"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D32A0B0E-D41B-92AF-0E1F-187E1CA2411B}"/>
              </a:ext>
            </a:extLst>
          </p:cNvPr>
          <p:cNvSpPr>
            <a:spLocks noGrp="1"/>
          </p:cNvSpPr>
          <p:nvPr>
            <p:ph type="title"/>
          </p:nvPr>
        </p:nvSpPr>
        <p:spPr/>
        <p:txBody>
          <a:bodyPr/>
          <a:lstStyle/>
          <a:p>
            <a:pPr eaLnBrk="1" hangingPunct="1"/>
            <a:r>
              <a:rPr lang="en-US" altLang="en-US">
                <a:latin typeface="Calibri" panose="020F0502020204030204" pitchFamily="34" charset="0"/>
              </a:rPr>
              <a:t>Padding and length field in SHA-512</a:t>
            </a:r>
          </a:p>
        </p:txBody>
      </p:sp>
      <p:sp>
        <p:nvSpPr>
          <p:cNvPr id="73730" name="Content Placeholder 2">
            <a:extLst>
              <a:ext uri="{FF2B5EF4-FFF2-40B4-BE49-F238E27FC236}">
                <a16:creationId xmlns:a16="http://schemas.microsoft.com/office/drawing/2014/main" id="{33F1A32B-47D2-73DE-6B6C-1EAEC0920D42}"/>
              </a:ext>
            </a:extLst>
          </p:cNvPr>
          <p:cNvSpPr>
            <a:spLocks noGrp="1"/>
          </p:cNvSpPr>
          <p:nvPr>
            <p:ph sz="quarter" idx="1"/>
          </p:nvPr>
        </p:nvSpPr>
        <p:spPr>
          <a:xfrm>
            <a:off x="457200" y="3505200"/>
            <a:ext cx="8229600" cy="2651125"/>
          </a:xfrm>
        </p:spPr>
        <p:txBody>
          <a:bodyPr/>
          <a:lstStyle/>
          <a:p>
            <a:pPr eaLnBrk="1" hangingPunct="1"/>
            <a:r>
              <a:rPr lang="en-US" altLang="en-US" sz="2000" b="1">
                <a:latin typeface="Calibri" panose="020F0502020204030204" pitchFamily="34" charset="0"/>
              </a:rPr>
              <a:t>What is the number of padding bits if the length of the original message is 2590 bits?</a:t>
            </a:r>
          </a:p>
          <a:p>
            <a:pPr eaLnBrk="1" hangingPunct="1"/>
            <a:r>
              <a:rPr lang="en-US" altLang="en-US" sz="2000">
                <a:latin typeface="Calibri" panose="020F0502020204030204" pitchFamily="34" charset="0"/>
              </a:rPr>
              <a:t>We can calculate the number of padding bits as follows:</a:t>
            </a:r>
          </a:p>
          <a:p>
            <a:pPr eaLnBrk="1" hangingPunct="1"/>
            <a:endParaRPr lang="en-US" altLang="en-US" sz="2000">
              <a:latin typeface="Calibri" panose="020F0502020204030204" pitchFamily="34" charset="0"/>
            </a:endParaRPr>
          </a:p>
          <a:p>
            <a:pPr eaLnBrk="1" hangingPunct="1"/>
            <a:endParaRPr lang="en-US" altLang="en-US" sz="2000">
              <a:latin typeface="Calibri" panose="020F0502020204030204" pitchFamily="34" charset="0"/>
            </a:endParaRPr>
          </a:p>
          <a:p>
            <a:pPr eaLnBrk="1" hangingPunct="1"/>
            <a:r>
              <a:rPr lang="en-US" altLang="en-US" sz="2000">
                <a:latin typeface="Calibri" panose="020F0502020204030204" pitchFamily="34" charset="0"/>
              </a:rPr>
              <a:t>The padding consists of one 1 followed by 353 0’s.</a:t>
            </a:r>
          </a:p>
          <a:p>
            <a:pPr eaLnBrk="1" hangingPunct="1"/>
            <a:endParaRPr lang="en-US" altLang="en-US" sz="2000">
              <a:latin typeface="Calibri" panose="020F0502020204030204" pitchFamily="34" charset="0"/>
            </a:endParaRPr>
          </a:p>
          <a:p>
            <a:pPr eaLnBrk="1" hangingPunct="1"/>
            <a:endParaRPr lang="en-US" altLang="en-US" sz="2000">
              <a:latin typeface="Calibri" panose="020F0502020204030204" pitchFamily="34" charset="0"/>
            </a:endParaRPr>
          </a:p>
        </p:txBody>
      </p:sp>
      <p:pic>
        <p:nvPicPr>
          <p:cNvPr id="73731" name="Picture 12">
            <a:extLst>
              <a:ext uri="{FF2B5EF4-FFF2-40B4-BE49-F238E27FC236}">
                <a16:creationId xmlns:a16="http://schemas.microsoft.com/office/drawing/2014/main" id="{E3C3AC68-A3E0-AFB4-1A10-37B8F009E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47800"/>
            <a:ext cx="86010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2" name="Picture 13">
            <a:extLst>
              <a:ext uri="{FF2B5EF4-FFF2-40B4-BE49-F238E27FC236}">
                <a16:creationId xmlns:a16="http://schemas.microsoft.com/office/drawing/2014/main" id="{087374C4-7250-D1BE-911D-32D1E5437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648200"/>
            <a:ext cx="76946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4E653070-EA04-B2D9-10ED-238CD63A0666}"/>
              </a:ext>
            </a:extLst>
          </p:cNvPr>
          <p:cNvSpPr>
            <a:spLocks noGrp="1" noChangeArrowheads="1"/>
          </p:cNvSpPr>
          <p:nvPr>
            <p:ph type="title"/>
          </p:nvPr>
        </p:nvSpPr>
        <p:spPr>
          <a:xfrm>
            <a:off x="533400" y="152400"/>
            <a:ext cx="8229600" cy="914400"/>
          </a:xfrm>
        </p:spPr>
        <p:txBody>
          <a:bodyPr/>
          <a:lstStyle/>
          <a:p>
            <a:pPr eaLnBrk="1" hangingPunct="1"/>
            <a:r>
              <a:rPr lang="en-AU" altLang="en-US">
                <a:latin typeface="Calibri" panose="020F0502020204030204" pitchFamily="34" charset="0"/>
              </a:rPr>
              <a:t>SHA-512 Round Function</a:t>
            </a:r>
          </a:p>
        </p:txBody>
      </p:sp>
      <p:pic>
        <p:nvPicPr>
          <p:cNvPr id="74754" name="Picture 3">
            <a:extLst>
              <a:ext uri="{FF2B5EF4-FFF2-40B4-BE49-F238E27FC236}">
                <a16:creationId xmlns:a16="http://schemas.microsoft.com/office/drawing/2014/main" id="{95852692-E1D4-F370-AC52-F8C7C83B25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447800"/>
            <a:ext cx="5969000" cy="4513263"/>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B5BDD378-0D90-BB40-A5AF-0B428036E615}"/>
              </a:ext>
            </a:extLst>
          </p:cNvPr>
          <p:cNvSpPr>
            <a:spLocks noGrp="1"/>
          </p:cNvSpPr>
          <p:nvPr>
            <p:ph type="title"/>
          </p:nvPr>
        </p:nvSpPr>
        <p:spPr/>
        <p:txBody>
          <a:bodyPr/>
          <a:lstStyle/>
          <a:p>
            <a:r>
              <a:rPr lang="en-US" altLang="en-US">
                <a:latin typeface="Calibri" panose="020F0502020204030204" pitchFamily="34" charset="0"/>
              </a:rPr>
              <a:t>Topics</a:t>
            </a:r>
          </a:p>
        </p:txBody>
      </p:sp>
      <p:sp>
        <p:nvSpPr>
          <p:cNvPr id="76802" name="Content Placeholder 2">
            <a:extLst>
              <a:ext uri="{FF2B5EF4-FFF2-40B4-BE49-F238E27FC236}">
                <a16:creationId xmlns:a16="http://schemas.microsoft.com/office/drawing/2014/main" id="{01ABA680-793A-7A87-951B-557DF08E55B1}"/>
              </a:ext>
            </a:extLst>
          </p:cNvPr>
          <p:cNvSpPr>
            <a:spLocks noGrp="1"/>
          </p:cNvSpPr>
          <p:nvPr>
            <p:ph sz="quarter" idx="1"/>
          </p:nvPr>
        </p:nvSpPr>
        <p:spPr>
          <a:xfrm>
            <a:off x="457200" y="1219200"/>
            <a:ext cx="8229600" cy="4937125"/>
          </a:xfrm>
        </p:spPr>
        <p:txBody>
          <a:bodyPr/>
          <a:lstStyle/>
          <a:p>
            <a:r>
              <a:rPr lang="en-US" altLang="en-US">
                <a:latin typeface="Calibri" panose="020F0502020204030204" pitchFamily="34" charset="0"/>
              </a:rPr>
              <a:t>Overview of Cryptography Hash Function</a:t>
            </a:r>
          </a:p>
          <a:p>
            <a:r>
              <a:rPr lang="en-US" altLang="en-US">
                <a:latin typeface="Calibri" panose="020F0502020204030204" pitchFamily="34" charset="0"/>
              </a:rPr>
              <a:t>Usages</a:t>
            </a:r>
          </a:p>
          <a:p>
            <a:r>
              <a:rPr lang="en-US" altLang="en-US">
                <a:latin typeface="Calibri" panose="020F0502020204030204" pitchFamily="34" charset="0"/>
              </a:rPr>
              <a:t>Properties</a:t>
            </a:r>
          </a:p>
          <a:p>
            <a:r>
              <a:rPr lang="en-US" altLang="en-US">
                <a:latin typeface="Calibri" panose="020F0502020204030204" pitchFamily="34" charset="0"/>
              </a:rPr>
              <a:t>Hashing Function Structure</a:t>
            </a:r>
          </a:p>
          <a:p>
            <a:pPr lvl="1"/>
            <a:r>
              <a:rPr lang="en-US" altLang="en-US">
                <a:latin typeface="Calibri" panose="020F0502020204030204" pitchFamily="34" charset="0"/>
              </a:rPr>
              <a:t>MD5</a:t>
            </a:r>
          </a:p>
          <a:p>
            <a:pPr lvl="1"/>
            <a:r>
              <a:rPr lang="en-US" altLang="en-US">
                <a:latin typeface="Calibri" panose="020F0502020204030204" pitchFamily="34" charset="0"/>
              </a:rPr>
              <a:t>SHA</a:t>
            </a:r>
          </a:p>
          <a:p>
            <a:r>
              <a:rPr lang="en-US" altLang="en-US" b="1">
                <a:latin typeface="Calibri" panose="020F0502020204030204" pitchFamily="34" charset="0"/>
              </a:rPr>
              <a:t>Attack on Hash Function </a:t>
            </a:r>
          </a:p>
          <a:p>
            <a:r>
              <a:rPr lang="en-US" altLang="en-US">
                <a:latin typeface="Calibri" panose="020F0502020204030204" pitchFamily="34" charset="0"/>
              </a:rPr>
              <a:t>The Road to new Secure Hash Standard</a:t>
            </a:r>
          </a:p>
          <a:p>
            <a:endParaRPr lang="en-US" altLang="en-US">
              <a:latin typeface="Calibri" panose="020F0502020204030204" pitchFamily="34" charset="0"/>
            </a:endParaRPr>
          </a:p>
          <a:p>
            <a:endParaRPr lang="en-US" altLang="en-US">
              <a:latin typeface="Calibri" panose="020F0502020204030204" pitchFamily="34" charset="0"/>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3E380BF-F720-4F8C-93E7-30868CA1250B}"/>
              </a:ext>
            </a:extLst>
          </p:cNvPr>
          <p:cNvSpPr>
            <a:spLocks noGrp="1"/>
          </p:cNvSpPr>
          <p:nvPr>
            <p:ph type="title"/>
          </p:nvPr>
        </p:nvSpPr>
        <p:spPr/>
        <p:txBody>
          <a:bodyPr/>
          <a:lstStyle/>
          <a:p>
            <a:pPr eaLnBrk="1" hangingPunct="1"/>
            <a:r>
              <a:rPr lang="en-US" altLang="en-US">
                <a:latin typeface="Calibri" panose="020F0502020204030204" pitchFamily="34" charset="0"/>
              </a:rPr>
              <a:t>Hash Function Cryptanalysis</a:t>
            </a:r>
          </a:p>
        </p:txBody>
      </p:sp>
      <p:sp>
        <p:nvSpPr>
          <p:cNvPr id="77826" name="Content Placeholder 2">
            <a:extLst>
              <a:ext uri="{FF2B5EF4-FFF2-40B4-BE49-F238E27FC236}">
                <a16:creationId xmlns:a16="http://schemas.microsoft.com/office/drawing/2014/main" id="{2B7E69C6-FD2D-7DF6-EF31-69BCF94A1390}"/>
              </a:ext>
            </a:extLst>
          </p:cNvPr>
          <p:cNvSpPr>
            <a:spLocks noGrp="1"/>
          </p:cNvSpPr>
          <p:nvPr>
            <p:ph sz="quarter" idx="1"/>
          </p:nvPr>
        </p:nvSpPr>
        <p:spPr>
          <a:xfrm>
            <a:off x="457200" y="1371600"/>
            <a:ext cx="8229600" cy="2819400"/>
          </a:xfrm>
        </p:spPr>
        <p:txBody>
          <a:bodyPr/>
          <a:lstStyle/>
          <a:p>
            <a:pPr eaLnBrk="1" hangingPunct="1">
              <a:buFont typeface="Wingdings" panose="05000000000000000000" pitchFamily="2" charset="2"/>
              <a:buChar char="Ø"/>
            </a:pPr>
            <a:r>
              <a:rPr lang="en-US" altLang="en-US">
                <a:latin typeface="Calibri" panose="020F0502020204030204" pitchFamily="34" charset="0"/>
              </a:rPr>
              <a:t>cryptanalytic attacks exploit some property of algorithm so faster than exhaustive search</a:t>
            </a:r>
          </a:p>
          <a:p>
            <a:pPr eaLnBrk="1" hangingPunct="1">
              <a:buFont typeface="Wingdings" panose="05000000000000000000" pitchFamily="2" charset="2"/>
              <a:buChar char="Ø"/>
            </a:pPr>
            <a:r>
              <a:rPr lang="en-US" altLang="en-US">
                <a:latin typeface="Calibri" panose="020F0502020204030204" pitchFamily="34" charset="0"/>
              </a:rPr>
              <a:t>hash functions use iterative structure</a:t>
            </a:r>
          </a:p>
          <a:p>
            <a:pPr lvl="1" eaLnBrk="1" hangingPunct="1">
              <a:buFont typeface="Wingdings" panose="05000000000000000000" pitchFamily="2" charset="2"/>
              <a:buChar char="l"/>
            </a:pPr>
            <a:r>
              <a:rPr lang="en-US" altLang="en-US">
                <a:latin typeface="Calibri" panose="020F0502020204030204" pitchFamily="34" charset="0"/>
              </a:rPr>
              <a:t>process message in blocks (incl length)</a:t>
            </a:r>
          </a:p>
          <a:p>
            <a:pPr eaLnBrk="1" hangingPunct="1">
              <a:buFont typeface="Wingdings" panose="05000000000000000000" pitchFamily="2" charset="2"/>
              <a:buChar char="Ø"/>
            </a:pPr>
            <a:r>
              <a:rPr lang="en-US" altLang="en-US">
                <a:latin typeface="Calibri" panose="020F0502020204030204" pitchFamily="34" charset="0"/>
              </a:rPr>
              <a:t>attacks focus on collisions in function f</a:t>
            </a:r>
          </a:p>
        </p:txBody>
      </p:sp>
      <p:pic>
        <p:nvPicPr>
          <p:cNvPr id="77827" name="Picture 3">
            <a:extLst>
              <a:ext uri="{FF2B5EF4-FFF2-40B4-BE49-F238E27FC236}">
                <a16:creationId xmlns:a16="http://schemas.microsoft.com/office/drawing/2014/main" id="{1C3E3B0A-3B64-390E-1C95-AF89953A52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733800"/>
            <a:ext cx="6972300" cy="2106613"/>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9E7EC637-D06F-F9B7-E817-1FB5DCFE2931}"/>
              </a:ext>
            </a:extLst>
          </p:cNvPr>
          <p:cNvSpPr>
            <a:spLocks noGrp="1"/>
          </p:cNvSpPr>
          <p:nvPr>
            <p:ph type="title"/>
          </p:nvPr>
        </p:nvSpPr>
        <p:spPr/>
        <p:txBody>
          <a:bodyPr/>
          <a:lstStyle/>
          <a:p>
            <a:pPr eaLnBrk="1" hangingPunct="1"/>
            <a:r>
              <a:rPr lang="en-US" altLang="en-US">
                <a:latin typeface="Calibri" panose="020F0502020204030204" pitchFamily="34" charset="0"/>
              </a:rPr>
              <a:t>Attacks on Hash Functions</a:t>
            </a:r>
          </a:p>
        </p:txBody>
      </p:sp>
      <p:sp>
        <p:nvSpPr>
          <p:cNvPr id="79874" name="Content Placeholder 2">
            <a:extLst>
              <a:ext uri="{FF2B5EF4-FFF2-40B4-BE49-F238E27FC236}">
                <a16:creationId xmlns:a16="http://schemas.microsoft.com/office/drawing/2014/main" id="{5FB82AD6-38E3-996B-91C7-F49DA69CEE15}"/>
              </a:ext>
            </a:extLst>
          </p:cNvPr>
          <p:cNvSpPr>
            <a:spLocks noGrp="1"/>
          </p:cNvSpPr>
          <p:nvPr>
            <p:ph sz="quarter" idx="1"/>
          </p:nvPr>
        </p:nvSpPr>
        <p:spPr>
          <a:xfrm>
            <a:off x="468313" y="1412875"/>
            <a:ext cx="8229600" cy="2473325"/>
          </a:xfrm>
        </p:spPr>
        <p:txBody>
          <a:bodyPr/>
          <a:lstStyle/>
          <a:p>
            <a:pPr eaLnBrk="1" hangingPunct="1">
              <a:buFont typeface="Wingdings" panose="05000000000000000000" pitchFamily="2" charset="2"/>
              <a:buChar char="Ø"/>
            </a:pPr>
            <a:r>
              <a:rPr lang="en-US" altLang="en-US">
                <a:latin typeface="Calibri" panose="020F0502020204030204" pitchFamily="34" charset="0"/>
              </a:rPr>
              <a:t>brute-force attacks and cryptanalysis</a:t>
            </a:r>
          </a:p>
          <a:p>
            <a:pPr lvl="1" eaLnBrk="1" hangingPunct="1">
              <a:buFont typeface="Wingdings" panose="05000000000000000000" pitchFamily="2" charset="2"/>
              <a:buChar char="Ø"/>
            </a:pPr>
            <a:r>
              <a:rPr lang="en-US" altLang="en-US">
                <a:latin typeface="Calibri" panose="020F0502020204030204" pitchFamily="34" charset="0"/>
              </a:rPr>
              <a:t>cryptanalytic attacks exploit some property of algorithm so faster than brute-force </a:t>
            </a:r>
          </a:p>
          <a:p>
            <a:pPr eaLnBrk="1" hangingPunct="1">
              <a:buFont typeface="Wingdings" panose="05000000000000000000" pitchFamily="2" charset="2"/>
              <a:buChar char="Ø"/>
            </a:pPr>
            <a:r>
              <a:rPr lang="en-US" altLang="en-US">
                <a:latin typeface="Calibri" panose="020F0502020204030204" pitchFamily="34" charset="0"/>
              </a:rPr>
              <a:t>a preimage or second preimage attack</a:t>
            </a:r>
          </a:p>
          <a:p>
            <a:pPr lvl="1" eaLnBrk="1" hangingPunct="1">
              <a:buFont typeface="Wingdings" panose="05000000000000000000" pitchFamily="2" charset="2"/>
              <a:buChar char="l"/>
            </a:pPr>
            <a:r>
              <a:rPr lang="en-US" altLang="en-US">
                <a:latin typeface="Calibri" panose="020F0502020204030204" pitchFamily="34" charset="0"/>
              </a:rPr>
              <a:t>find </a:t>
            </a:r>
            <a:r>
              <a:rPr lang="en-US" altLang="en-US" i="1">
                <a:latin typeface="Courier New" panose="02070309020205020404" pitchFamily="49" charset="0"/>
                <a:cs typeface="Courier New" panose="02070309020205020404" pitchFamily="49" charset="0"/>
              </a:rPr>
              <a:t>y</a:t>
            </a:r>
            <a:r>
              <a:rPr lang="en-US" altLang="en-US" i="1">
                <a:latin typeface="Calibri" panose="020F0502020204030204" pitchFamily="34" charset="0"/>
              </a:rPr>
              <a:t>  </a:t>
            </a:r>
            <a:r>
              <a:rPr lang="en-US" altLang="en-US">
                <a:latin typeface="Calibri" panose="020F0502020204030204" pitchFamily="34" charset="0"/>
              </a:rPr>
              <a:t>such that </a:t>
            </a:r>
            <a:r>
              <a:rPr lang="en-US" altLang="en-US" i="1">
                <a:latin typeface="Courier New" panose="02070309020205020404" pitchFamily="49" charset="0"/>
                <a:cs typeface="Courier New" panose="02070309020205020404" pitchFamily="49" charset="0"/>
              </a:rPr>
              <a:t>H(y)</a:t>
            </a:r>
            <a:r>
              <a:rPr lang="en-US" altLang="en-US">
                <a:latin typeface="Calibri" panose="020F0502020204030204" pitchFamily="34" charset="0"/>
              </a:rPr>
              <a:t>equals a given hash value </a:t>
            </a:r>
          </a:p>
          <a:p>
            <a:pPr eaLnBrk="1" hangingPunct="1">
              <a:buFont typeface="Wingdings" panose="05000000000000000000" pitchFamily="2" charset="2"/>
              <a:buChar char="Ø"/>
            </a:pPr>
            <a:r>
              <a:rPr lang="en-US" altLang="en-US">
                <a:latin typeface="Calibri" panose="020F0502020204030204" pitchFamily="34" charset="0"/>
              </a:rPr>
              <a:t>collision resistance</a:t>
            </a:r>
          </a:p>
          <a:p>
            <a:pPr lvl="1" eaLnBrk="1" hangingPunct="1">
              <a:buFont typeface="Wingdings" panose="05000000000000000000" pitchFamily="2" charset="2"/>
              <a:buChar char="l"/>
            </a:pPr>
            <a:r>
              <a:rPr lang="en-US" altLang="en-US">
                <a:latin typeface="Calibri" panose="020F0502020204030204" pitchFamily="34" charset="0"/>
              </a:rPr>
              <a:t>find  two messages </a:t>
            </a:r>
            <a:r>
              <a:rPr lang="en-US" altLang="en-US">
                <a:latin typeface="Courier New" panose="02070309020205020404" pitchFamily="49" charset="0"/>
                <a:cs typeface="Courier New" panose="02070309020205020404" pitchFamily="49" charset="0"/>
              </a:rPr>
              <a:t>x</a:t>
            </a:r>
            <a:r>
              <a:rPr lang="en-US" altLang="en-US">
                <a:latin typeface="Calibri" panose="020F0502020204030204" pitchFamily="34" charset="0"/>
              </a:rPr>
              <a:t> &amp; </a:t>
            </a:r>
            <a:r>
              <a:rPr lang="en-US" altLang="en-US" i="1">
                <a:latin typeface="Courier New" panose="02070309020205020404" pitchFamily="49" charset="0"/>
                <a:cs typeface="Courier New" panose="02070309020205020404" pitchFamily="49" charset="0"/>
              </a:rPr>
              <a:t>y</a:t>
            </a:r>
            <a:r>
              <a:rPr lang="en-US" altLang="en-US" i="1">
                <a:latin typeface="Calibri" panose="020F0502020204030204" pitchFamily="34" charset="0"/>
              </a:rPr>
              <a:t> </a:t>
            </a:r>
            <a:r>
              <a:rPr lang="en-US" altLang="en-US">
                <a:latin typeface="Calibri" panose="020F0502020204030204" pitchFamily="34" charset="0"/>
              </a:rPr>
              <a:t>with same hash so </a:t>
            </a:r>
            <a:r>
              <a:rPr lang="en-US" altLang="en-US">
                <a:latin typeface="Courier New" panose="02070309020205020404" pitchFamily="49" charset="0"/>
                <a:cs typeface="Courier New" panose="02070309020205020404" pitchFamily="49" charset="0"/>
              </a:rPr>
              <a:t>H(x) = H(y)</a:t>
            </a:r>
            <a:r>
              <a:rPr lang="en-US" altLang="en-US">
                <a:latin typeface="Calibri" panose="020F0502020204030204" pitchFamily="34" charset="0"/>
              </a:rPr>
              <a:t> </a:t>
            </a:r>
          </a:p>
          <a:p>
            <a:pPr eaLnBrk="1" hangingPunct="1">
              <a:buFont typeface="Wingdings" panose="05000000000000000000" pitchFamily="2" charset="2"/>
              <a:buChar char="Ø"/>
            </a:pPr>
            <a:endParaRPr lang="en-US" altLang="en-US">
              <a:latin typeface="Calibri" panose="020F0502020204030204" pitchFamily="34" charset="0"/>
            </a:endParaRPr>
          </a:p>
        </p:txBody>
      </p:sp>
      <p:sp>
        <p:nvSpPr>
          <p:cNvPr id="80899" name="Rectangle 3">
            <a:extLst>
              <a:ext uri="{FF2B5EF4-FFF2-40B4-BE49-F238E27FC236}">
                <a16:creationId xmlns:a16="http://schemas.microsoft.com/office/drawing/2014/main" id="{1FE5F737-01B7-0687-4061-065F7DD2B3FE}"/>
              </a:ext>
            </a:extLst>
          </p:cNvPr>
          <p:cNvSpPr>
            <a:spLocks noChangeArrowheads="1"/>
          </p:cNvSpPr>
          <p:nvPr/>
        </p:nvSpPr>
        <p:spPr bwMode="auto">
          <a:xfrm>
            <a:off x="611188" y="4797425"/>
            <a:ext cx="7772400" cy="1169988"/>
          </a:xfrm>
          <a:prstGeom prst="rect">
            <a:avLst/>
          </a:prstGeom>
          <a:solidFill>
            <a:schemeClr val="bg1"/>
          </a:solidFill>
          <a:ln w="19050">
            <a:solidFill>
              <a:schemeClr val="tx1"/>
            </a:solidFill>
            <a:miter lim="800000"/>
            <a:headEnd/>
            <a:tailEnd/>
          </a:ln>
          <a:effectLst>
            <a:outerShdw blurRad="50800" dist="38100" dir="2700000" algn="tl" rotWithShape="0">
              <a:srgbClr val="808080">
                <a:alpha val="39999"/>
              </a:srgbClr>
            </a:outerShdw>
          </a:effectLst>
        </p:spPr>
        <p:txBody>
          <a:bodyPr>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r>
              <a:rPr lang="en-US" altLang="en-US">
                <a:solidFill>
                  <a:srgbClr val="000000"/>
                </a:solidFill>
                <a:latin typeface="Gill Sans MT" panose="020B0502020104020203" pitchFamily="34" charset="0"/>
              </a:rPr>
              <a:t>"</a:t>
            </a:r>
            <a:r>
              <a:rPr lang="en-US" altLang="en-US" sz="2000" i="1">
                <a:solidFill>
                  <a:srgbClr val="000000"/>
                </a:solidFill>
                <a:latin typeface="Times New Roman" panose="02020603050405020304" pitchFamily="18" charset="0"/>
                <a:cs typeface="Times New Roman" panose="02020603050405020304" pitchFamily="18" charset="0"/>
              </a:rPr>
              <a:t>md5 and sha1 are both clearly broken (in terms of collision-resistance</a:t>
            </a:r>
            <a:r>
              <a:rPr lang="en-US" altLang="en-US">
                <a:solidFill>
                  <a:srgbClr val="000000"/>
                </a:solidFill>
                <a:latin typeface="Gill Sans MT" panose="020B0502020104020203" pitchFamily="34" charset="0"/>
              </a:rPr>
              <a:t>” </a:t>
            </a:r>
          </a:p>
          <a:p>
            <a:pPr algn="r" eaLnBrk="1" hangingPunct="1"/>
            <a:r>
              <a:rPr lang="en-US" altLang="en-US" sz="1600">
                <a:solidFill>
                  <a:srgbClr val="000000"/>
                </a:solidFill>
                <a:latin typeface="Gill Sans MT" panose="020B0502020104020203" pitchFamily="34" charset="0"/>
              </a:rPr>
              <a:t>Ron Rivest</a:t>
            </a:r>
          </a:p>
          <a:p>
            <a:pPr algn="r" eaLnBrk="1" hangingPunct="1"/>
            <a:endParaRPr lang="en-US" altLang="en-US" sz="1600">
              <a:solidFill>
                <a:srgbClr val="000000"/>
              </a:solidFill>
              <a:latin typeface="Gill Sans MT" panose="020B0502020104020203" pitchFamily="34" charset="0"/>
            </a:endParaRPr>
          </a:p>
          <a:p>
            <a:pPr algn="r" eaLnBrk="1" hangingPunct="1"/>
            <a:r>
              <a:rPr lang="en-US" altLang="en-US" sz="1400">
                <a:solidFill>
                  <a:srgbClr val="000000"/>
                </a:solidFill>
                <a:latin typeface="Gill Sans MT" panose="020B0502020104020203" pitchFamily="34" charset="0"/>
              </a:rPr>
              <a:t>http://mail.python.org/pipermail/python-dev/2005-December/058850.html</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45A58E88-E306-EB83-EF0E-EA20BAADCB2E}"/>
              </a:ext>
            </a:extLst>
          </p:cNvPr>
          <p:cNvSpPr>
            <a:spLocks noGrp="1"/>
          </p:cNvSpPr>
          <p:nvPr>
            <p:ph type="title"/>
          </p:nvPr>
        </p:nvSpPr>
        <p:spPr/>
        <p:txBody>
          <a:bodyPr/>
          <a:lstStyle/>
          <a:p>
            <a:pPr eaLnBrk="1" hangingPunct="1"/>
            <a:r>
              <a:rPr lang="en-US" altLang="en-US">
                <a:latin typeface="Calibri" panose="020F0502020204030204" pitchFamily="34" charset="0"/>
              </a:rPr>
              <a:t>Summary</a:t>
            </a:r>
          </a:p>
        </p:txBody>
      </p:sp>
      <p:sp>
        <p:nvSpPr>
          <p:cNvPr id="89090" name="Content Placeholder 2">
            <a:extLst>
              <a:ext uri="{FF2B5EF4-FFF2-40B4-BE49-F238E27FC236}">
                <a16:creationId xmlns:a16="http://schemas.microsoft.com/office/drawing/2014/main" id="{251B9506-D037-AC79-7DDE-5F5726CE954D}"/>
              </a:ext>
            </a:extLst>
          </p:cNvPr>
          <p:cNvSpPr>
            <a:spLocks noGrp="1"/>
          </p:cNvSpPr>
          <p:nvPr>
            <p:ph sz="quarter" idx="1"/>
          </p:nvPr>
        </p:nvSpPr>
        <p:spPr>
          <a:xfrm>
            <a:off x="457200" y="1219200"/>
            <a:ext cx="8229600" cy="4937125"/>
          </a:xfrm>
        </p:spPr>
        <p:txBody>
          <a:bodyPr/>
          <a:lstStyle/>
          <a:p>
            <a:pPr eaLnBrk="1" hangingPunct="1"/>
            <a:r>
              <a:rPr lang="en-US" altLang="en-US" sz="2400" dirty="0">
                <a:latin typeface="Calibri" panose="020F0502020204030204" pitchFamily="34" charset="0"/>
              </a:rPr>
              <a:t>Hash functions are keyless</a:t>
            </a:r>
          </a:p>
          <a:p>
            <a:pPr lvl="1" eaLnBrk="1" hangingPunct="1"/>
            <a:r>
              <a:rPr lang="en-US" altLang="en-US" sz="1800" dirty="0">
                <a:latin typeface="Calibri" panose="020F0502020204030204" pitchFamily="34" charset="0"/>
              </a:rPr>
              <a:t>Applications for digital signatures and in message authentication codes</a:t>
            </a:r>
            <a:endParaRPr lang="en-US" altLang="en-US" sz="2400" dirty="0">
              <a:latin typeface="Calibri" panose="020F0502020204030204" pitchFamily="34" charset="0"/>
            </a:endParaRPr>
          </a:p>
          <a:p>
            <a:pPr eaLnBrk="1" hangingPunct="1"/>
            <a:r>
              <a:rPr lang="en-US" altLang="en-US" sz="2400" dirty="0">
                <a:latin typeface="Calibri" panose="020F0502020204030204" pitchFamily="34" charset="0"/>
              </a:rPr>
              <a:t>The three security requirements for hash functions are </a:t>
            </a:r>
          </a:p>
          <a:p>
            <a:pPr lvl="1" eaLnBrk="1" hangingPunct="1"/>
            <a:r>
              <a:rPr lang="en-US" altLang="en-US" sz="1800" dirty="0">
                <a:latin typeface="Calibri" panose="020F0502020204030204" pitchFamily="34" charset="0"/>
              </a:rPr>
              <a:t>one-</a:t>
            </a:r>
            <a:r>
              <a:rPr lang="en-US" altLang="en-US" sz="1800" dirty="0" err="1">
                <a:latin typeface="Calibri" panose="020F0502020204030204" pitchFamily="34" charset="0"/>
              </a:rPr>
              <a:t>wayness</a:t>
            </a:r>
            <a:r>
              <a:rPr lang="en-US" altLang="en-US" sz="1800" dirty="0">
                <a:latin typeface="Calibri" panose="020F0502020204030204" pitchFamily="34" charset="0"/>
              </a:rPr>
              <a:t>, second preimage resistance and collision resistance</a:t>
            </a:r>
            <a:endParaRPr lang="en-US" altLang="en-US" sz="2400" dirty="0">
              <a:latin typeface="Calibri" panose="020F0502020204030204" pitchFamily="34" charset="0"/>
            </a:endParaRPr>
          </a:p>
          <a:p>
            <a:pPr eaLnBrk="1" hangingPunct="1"/>
            <a:r>
              <a:rPr lang="en-US" altLang="en-US" sz="2400" dirty="0">
                <a:latin typeface="Calibri" panose="020F0502020204030204" pitchFamily="34" charset="0"/>
              </a:rPr>
              <a:t>MD5 and SHA-0 is insecure</a:t>
            </a:r>
          </a:p>
          <a:p>
            <a:pPr eaLnBrk="1" hangingPunct="1"/>
            <a:r>
              <a:rPr lang="en-US" altLang="en-US" sz="2400" dirty="0">
                <a:latin typeface="Calibri" panose="020F0502020204030204" pitchFamily="34" charset="0"/>
              </a:rPr>
              <a:t>Serious security weaknesses have been found in SHA-1</a:t>
            </a:r>
          </a:p>
          <a:p>
            <a:pPr lvl="1" eaLnBrk="1" hangingPunct="1"/>
            <a:r>
              <a:rPr lang="en-US" altLang="en-US" sz="1800" dirty="0">
                <a:latin typeface="Calibri" panose="020F0502020204030204" pitchFamily="34" charset="0"/>
              </a:rPr>
              <a:t>should be phased out</a:t>
            </a:r>
          </a:p>
          <a:p>
            <a:pPr lvl="1" eaLnBrk="1" hangingPunct="1">
              <a:spcBef>
                <a:spcPts val="600"/>
              </a:spcBef>
              <a:buClr>
                <a:schemeClr val="accent1"/>
              </a:buClr>
            </a:pPr>
            <a:r>
              <a:rPr lang="en-US" altLang="en-US" sz="1800" dirty="0">
                <a:latin typeface="Calibri" panose="020F0502020204030204" pitchFamily="34" charset="0"/>
              </a:rPr>
              <a:t>SHA-2 appears to be secure</a:t>
            </a:r>
          </a:p>
          <a:p>
            <a:pPr lvl="1" eaLnBrk="1" hangingPunct="1"/>
            <a:r>
              <a:rPr lang="en-US" altLang="en-US" sz="1800" dirty="0">
                <a:latin typeface="Calibri" panose="020F0502020204030204" pitchFamily="34" charset="0"/>
              </a:rPr>
              <a:t>May use SHA-512 and use the first 256 bytes</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Origin.thmx</Template>
  <TotalTime>4102</TotalTime>
  <Words>4196</Words>
  <Application>Microsoft Office PowerPoint</Application>
  <PresentationFormat>On-screen Show (4:3)</PresentationFormat>
  <Paragraphs>357</Paragraphs>
  <Slides>33</Slides>
  <Notes>33</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Arial</vt:lpstr>
      <vt:lpstr>Bookman Old Style</vt:lpstr>
      <vt:lpstr>Calibri</vt:lpstr>
      <vt:lpstr>Courier New</vt:lpstr>
      <vt:lpstr>Embedded-Garamond</vt:lpstr>
      <vt:lpstr>Embedded-Garamond-Italic</vt:lpstr>
      <vt:lpstr>Gill Sans MT</vt:lpstr>
      <vt:lpstr>Google Sans</vt:lpstr>
      <vt:lpstr>Times New Roman</vt:lpstr>
      <vt:lpstr>Wingdings</vt:lpstr>
      <vt:lpstr>Wingdings 3</vt:lpstr>
      <vt:lpstr>Origin</vt:lpstr>
      <vt:lpstr>Cryptographic Hash Functions</vt:lpstr>
      <vt:lpstr>Topics</vt:lpstr>
      <vt:lpstr>Hash Function</vt:lpstr>
      <vt:lpstr>Hashing V.S. Encryption</vt:lpstr>
      <vt:lpstr>Integrity</vt:lpstr>
      <vt:lpstr>Password Verification</vt:lpstr>
      <vt:lpstr>Topics</vt:lpstr>
      <vt:lpstr>Hash Function Usages (I)</vt:lpstr>
      <vt:lpstr>Hash Function Usages (II)</vt:lpstr>
      <vt:lpstr>Topics</vt:lpstr>
      <vt:lpstr>Hash Function Properties</vt:lpstr>
      <vt:lpstr>Properties : Fixed length</vt:lpstr>
      <vt:lpstr>Preimage resistant</vt:lpstr>
      <vt:lpstr>Second preimage resistant </vt:lpstr>
      <vt:lpstr>Collision Resistant</vt:lpstr>
      <vt:lpstr>Topics</vt:lpstr>
      <vt:lpstr>Two Group of Compression Functions</vt:lpstr>
      <vt:lpstr>Merkle-Damgard Scheme</vt:lpstr>
      <vt:lpstr>Hash Functions Family</vt:lpstr>
      <vt:lpstr>MD5, SHA-1, and RIPEMD-160</vt:lpstr>
      <vt:lpstr>MD2, MD4 and MD5</vt:lpstr>
      <vt:lpstr>Topics</vt:lpstr>
      <vt:lpstr>Secure Hash Algorithm</vt:lpstr>
      <vt:lpstr>Revised SHA</vt:lpstr>
      <vt:lpstr>SHA Versions</vt:lpstr>
      <vt:lpstr>Sample Processing</vt:lpstr>
      <vt:lpstr>SHA-512 Overview</vt:lpstr>
      <vt:lpstr>Padding and length field in SHA-512</vt:lpstr>
      <vt:lpstr>SHA-512 Round Function</vt:lpstr>
      <vt:lpstr>Topics</vt:lpstr>
      <vt:lpstr>Hash Function Cryptanalysis</vt:lpstr>
      <vt:lpstr>Attacks on Hash Functions</vt:lpstr>
      <vt:lpstr>Summary</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11</dc:subject>
  <dc:creator>Dr Abid</dc:creator>
  <cp:keywords/>
  <dc:description/>
  <cp:lastModifiedBy>zulqarnain hassan</cp:lastModifiedBy>
  <cp:revision>127</cp:revision>
  <cp:lastPrinted>2022-10-05T04:38:26Z</cp:lastPrinted>
  <dcterms:created xsi:type="dcterms:W3CDTF">2011-07-18T14:14:34Z</dcterms:created>
  <dcterms:modified xsi:type="dcterms:W3CDTF">2025-06-21T18:35:40Z</dcterms:modified>
  <cp:category/>
</cp:coreProperties>
</file>