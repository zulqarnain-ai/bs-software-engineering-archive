
<file path=[Content_Types].xml><?xml version="1.0" encoding="utf-8"?>
<Types xmlns="http://schemas.openxmlformats.org/package/2006/content-types">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notesMasterIdLst>
    <p:notesMasterId r:id="rId44"/>
  </p:notesMasterIdLst>
  <p:sldIdLst>
    <p:sldId id="256" r:id="rId2"/>
    <p:sldId id="257" r:id="rId3"/>
    <p:sldId id="260" r:id="rId4"/>
    <p:sldId id="261" r:id="rId5"/>
    <p:sldId id="263" r:id="rId6"/>
    <p:sldId id="264" r:id="rId7"/>
    <p:sldId id="265" r:id="rId8"/>
    <p:sldId id="266" r:id="rId9"/>
    <p:sldId id="268" r:id="rId10"/>
    <p:sldId id="269" r:id="rId11"/>
    <p:sldId id="270" r:id="rId12"/>
    <p:sldId id="271" r:id="rId13"/>
    <p:sldId id="272" r:id="rId14"/>
    <p:sldId id="334" r:id="rId15"/>
    <p:sldId id="333" r:id="rId16"/>
    <p:sldId id="337" r:id="rId17"/>
    <p:sldId id="338" r:id="rId18"/>
    <p:sldId id="335" r:id="rId19"/>
    <p:sldId id="336" r:id="rId20"/>
    <p:sldId id="274" r:id="rId21"/>
    <p:sldId id="285" r:id="rId22"/>
    <p:sldId id="275" r:id="rId23"/>
    <p:sldId id="286" r:id="rId24"/>
    <p:sldId id="339" r:id="rId25"/>
    <p:sldId id="276" r:id="rId26"/>
    <p:sldId id="287" r:id="rId27"/>
    <p:sldId id="278" r:id="rId28"/>
    <p:sldId id="279" r:id="rId29"/>
    <p:sldId id="290" r:id="rId30"/>
    <p:sldId id="280" r:id="rId31"/>
    <p:sldId id="288" r:id="rId32"/>
    <p:sldId id="281" r:id="rId33"/>
    <p:sldId id="289" r:id="rId34"/>
    <p:sldId id="282" r:id="rId35"/>
    <p:sldId id="291" r:id="rId36"/>
    <p:sldId id="292" r:id="rId37"/>
    <p:sldId id="340" r:id="rId38"/>
    <p:sldId id="316" r:id="rId39"/>
    <p:sldId id="295" r:id="rId40"/>
    <p:sldId id="317" r:id="rId41"/>
    <p:sldId id="318" r:id="rId42"/>
    <p:sldId id="319" r:id="rId43"/>
  </p:sldIdLst>
  <p:sldSz cx="9144000" cy="6858000" type="screen4x3"/>
  <p:notesSz cx="6858000" cy="9144000"/>
  <p:defaultTextStyle>
    <a:defPPr>
      <a:defRPr lang="en-US"/>
    </a:defPPr>
    <a:lvl1pPr algn="l" rtl="0" fontAlgn="base">
      <a:spcBef>
        <a:spcPct val="0"/>
      </a:spcBef>
      <a:spcAft>
        <a:spcPct val="0"/>
      </a:spcAft>
      <a:defRPr sz="28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8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8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8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800" kern="1200">
        <a:solidFill>
          <a:schemeClr val="tx1"/>
        </a:solidFill>
        <a:latin typeface="Times New Roman" panose="02020603050405020304" pitchFamily="18" charset="0"/>
        <a:ea typeface="+mn-ea"/>
        <a:cs typeface="+mn-cs"/>
      </a:defRPr>
    </a:lvl5pPr>
    <a:lvl6pPr marL="2286000" algn="l" defTabSz="914400" rtl="0" eaLnBrk="1" latinLnBrk="0" hangingPunct="1">
      <a:defRPr sz="2800" kern="1200">
        <a:solidFill>
          <a:schemeClr val="tx1"/>
        </a:solidFill>
        <a:latin typeface="Times New Roman" panose="02020603050405020304" pitchFamily="18" charset="0"/>
        <a:ea typeface="+mn-ea"/>
        <a:cs typeface="+mn-cs"/>
      </a:defRPr>
    </a:lvl6pPr>
    <a:lvl7pPr marL="2743200" algn="l" defTabSz="914400" rtl="0" eaLnBrk="1" latinLnBrk="0" hangingPunct="1">
      <a:defRPr sz="2800" kern="1200">
        <a:solidFill>
          <a:schemeClr val="tx1"/>
        </a:solidFill>
        <a:latin typeface="Times New Roman" panose="02020603050405020304" pitchFamily="18" charset="0"/>
        <a:ea typeface="+mn-ea"/>
        <a:cs typeface="+mn-cs"/>
      </a:defRPr>
    </a:lvl7pPr>
    <a:lvl8pPr marL="3200400" algn="l" defTabSz="914400" rtl="0" eaLnBrk="1" latinLnBrk="0" hangingPunct="1">
      <a:defRPr sz="2800" kern="1200">
        <a:solidFill>
          <a:schemeClr val="tx1"/>
        </a:solidFill>
        <a:latin typeface="Times New Roman" panose="02020603050405020304" pitchFamily="18" charset="0"/>
        <a:ea typeface="+mn-ea"/>
        <a:cs typeface="+mn-cs"/>
      </a:defRPr>
    </a:lvl8pPr>
    <a:lvl9pPr marL="3657600" algn="l" defTabSz="914400" rtl="0" eaLnBrk="1" latinLnBrk="0" hangingPunct="1">
      <a:defRPr sz="28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0" autoAdjust="0"/>
    <p:restoredTop sz="94727"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017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0180"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018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018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018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A108896-765C-4A91-82C2-28984B9ECF82}" type="slidenum">
              <a:rPr lang="en-US"/>
              <a:pPr/>
              <a:t>‹#›</a:t>
            </a:fld>
            <a:endParaRPr lang="en-US"/>
          </a:p>
        </p:txBody>
      </p:sp>
    </p:spTree>
    <p:extLst>
      <p:ext uri="{BB962C8B-B14F-4D97-AF65-F5344CB8AC3E}">
        <p14:creationId xmlns:p14="http://schemas.microsoft.com/office/powerpoint/2010/main" val="325518763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D66992-E6A6-4CC4-B7E4-24AB9365CCD8}" type="slidenum">
              <a:rPr lang="en-US"/>
              <a:pPr/>
              <a:t>13</a:t>
            </a:fld>
            <a:endParaRPr lang="en-US"/>
          </a:p>
        </p:txBody>
      </p:sp>
      <p:sp>
        <p:nvSpPr>
          <p:cNvPr id="91138" name="Rectangle 2"/>
          <p:cNvSpPr>
            <a:spLocks noChangeArrowheads="1" noTextEdit="1"/>
          </p:cNvSpPr>
          <p:nvPr>
            <p:ph type="sldImg"/>
          </p:nvPr>
        </p:nvSpPr>
        <p:spPr>
          <a:ln/>
        </p:spPr>
      </p:sp>
      <p:sp>
        <p:nvSpPr>
          <p:cNvPr id="91139" name="Rectangle 3"/>
          <p:cNvSpPr>
            <a:spLocks noGrp="1" noChangeArrowheads="1"/>
          </p:cNvSpPr>
          <p:nvPr>
            <p:ph type="body" idx="1"/>
          </p:nvPr>
        </p:nvSpPr>
        <p:spPr/>
        <p:txBody>
          <a:bodyPr/>
          <a:lstStyle/>
          <a:p>
            <a:pPr>
              <a:buFontTx/>
              <a:buChar char="•"/>
            </a:pPr>
            <a:r>
              <a:rPr lang="en-US"/>
              <a:t>There are many uses for a SRS</a:t>
            </a:r>
          </a:p>
          <a:p>
            <a:pPr lvl="1">
              <a:buFontTx/>
              <a:buChar char="•"/>
            </a:pPr>
            <a:r>
              <a:rPr lang="en-US"/>
              <a:t>To define a whole system and plan for implementation (OUR USE)</a:t>
            </a:r>
          </a:p>
          <a:p>
            <a:pPr lvl="1">
              <a:buFontTx/>
              <a:buChar char="•"/>
            </a:pPr>
            <a:r>
              <a:rPr lang="en-US"/>
              <a:t>Define subsystems for future development</a:t>
            </a:r>
          </a:p>
          <a:p>
            <a:pPr lvl="1">
              <a:buFontTx/>
              <a:buChar char="•"/>
            </a:pPr>
            <a:r>
              <a:rPr lang="en-US"/>
              <a:t>To merge requirements with a previous SRS</a:t>
            </a:r>
          </a:p>
          <a:p>
            <a:pPr lvl="1">
              <a:buFontTx/>
              <a:buChar char="•"/>
            </a:pPr>
            <a:r>
              <a:rPr lang="en-US"/>
              <a:t>To validate requirements already documented</a:t>
            </a:r>
          </a:p>
        </p:txBody>
      </p:sp>
    </p:spTree>
    <p:extLst>
      <p:ext uri="{BB962C8B-B14F-4D97-AF65-F5344CB8AC3E}">
        <p14:creationId xmlns:p14="http://schemas.microsoft.com/office/powerpoint/2010/main" val="2560623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102B52-9E22-4A97-9ED7-A77B1F37F958}" type="slidenum">
              <a:rPr lang="en-US"/>
              <a:pPr/>
              <a:t>17</a:t>
            </a:fld>
            <a:endParaRPr lang="en-US"/>
          </a:p>
        </p:txBody>
      </p:sp>
      <p:sp>
        <p:nvSpPr>
          <p:cNvPr id="100354" name="Rectangle 2"/>
          <p:cNvSpPr>
            <a:spLocks noChangeArrowheads="1" noTextEdit="1"/>
          </p:cNvSpPr>
          <p:nvPr>
            <p:ph type="sldImg"/>
          </p:nvPr>
        </p:nvSpPr>
        <p:spPr>
          <a:ln/>
        </p:spPr>
      </p:sp>
      <p:sp>
        <p:nvSpPr>
          <p:cNvPr id="100355" name="Rectangle 3"/>
          <p:cNvSpPr>
            <a:spLocks noGrp="1" noChangeArrowheads="1"/>
          </p:cNvSpPr>
          <p:nvPr>
            <p:ph type="body" idx="1"/>
          </p:nvPr>
        </p:nvSpPr>
        <p:spPr/>
        <p:txBody>
          <a:bodyPr/>
          <a:lstStyle/>
          <a:p>
            <a:r>
              <a:rPr lang="en-US"/>
              <a:t>The scope of a system defines what are the boundaries of a system.  These include what is inside the system - what will be designed and programmed.</a:t>
            </a:r>
          </a:p>
        </p:txBody>
      </p:sp>
    </p:spTree>
    <p:extLst>
      <p:ext uri="{BB962C8B-B14F-4D97-AF65-F5344CB8AC3E}">
        <p14:creationId xmlns:p14="http://schemas.microsoft.com/office/powerpoint/2010/main" val="1593766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B1D877-2640-4D87-BBB9-085632A0CED4}" type="slidenum">
              <a:rPr lang="en-US"/>
              <a:pPr/>
              <a:t>30</a:t>
            </a:fld>
            <a:endParaRPr lang="en-US"/>
          </a:p>
        </p:txBody>
      </p:sp>
      <p:sp>
        <p:nvSpPr>
          <p:cNvPr id="102402" name="Rectangle 2"/>
          <p:cNvSpPr>
            <a:spLocks noChangeArrowheads="1" noTextEdit="1"/>
          </p:cNvSpPr>
          <p:nvPr>
            <p:ph type="sldImg"/>
          </p:nvPr>
        </p:nvSpPr>
        <p:spPr>
          <a:ln/>
        </p:spPr>
      </p:sp>
      <p:sp>
        <p:nvSpPr>
          <p:cNvPr id="102403" name="Rectangle 3"/>
          <p:cNvSpPr>
            <a:spLocks noGrp="1" noChangeArrowheads="1"/>
          </p:cNvSpPr>
          <p:nvPr>
            <p:ph type="body" idx="1"/>
          </p:nvPr>
        </p:nvSpPr>
        <p:spPr/>
        <p:txBody>
          <a:bodyPr/>
          <a:lstStyle/>
          <a:p>
            <a:r>
              <a:rPr lang="en-US" b="1"/>
              <a:t>James Martin documented the major business functions of all businesses in his technique on Information Strategy.  These include items such as accounts receivable, accounts payable, sales, administration, etc.</a:t>
            </a:r>
          </a:p>
          <a:p>
            <a:endParaRPr lang="en-US" b="1"/>
          </a:p>
          <a:p>
            <a:endParaRPr lang="en-US" b="1"/>
          </a:p>
        </p:txBody>
      </p:sp>
    </p:spTree>
    <p:extLst>
      <p:ext uri="{BB962C8B-B14F-4D97-AF65-F5344CB8AC3E}">
        <p14:creationId xmlns:p14="http://schemas.microsoft.com/office/powerpoint/2010/main" val="1633595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60524A-0F25-4D1E-B1A1-3D20B87CCF89}" type="slidenum">
              <a:rPr lang="en-US"/>
              <a:pPr/>
              <a:t>38</a:t>
            </a:fld>
            <a:endParaRPr lang="en-US"/>
          </a:p>
        </p:txBody>
      </p:sp>
      <p:sp>
        <p:nvSpPr>
          <p:cNvPr id="103426" name="Rectangle 2"/>
          <p:cNvSpPr>
            <a:spLocks noChangeArrowheads="1" noTextEdit="1"/>
          </p:cNvSpPr>
          <p:nvPr>
            <p:ph type="sldImg"/>
          </p:nvPr>
        </p:nvSpPr>
        <p:spPr>
          <a:ln/>
        </p:spPr>
      </p:sp>
      <p:sp>
        <p:nvSpPr>
          <p:cNvPr id="103427" name="Rectangle 3"/>
          <p:cNvSpPr>
            <a:spLocks noGrp="1" noChangeArrowheads="1"/>
          </p:cNvSpPr>
          <p:nvPr>
            <p:ph type="body" idx="1"/>
          </p:nvPr>
        </p:nvSpPr>
        <p:spPr/>
        <p:txBody>
          <a:bodyPr/>
          <a:lstStyle/>
          <a:p>
            <a:r>
              <a:rPr lang="en-US"/>
              <a:t>SEE VRS EXAMPLE</a:t>
            </a:r>
          </a:p>
        </p:txBody>
      </p:sp>
    </p:spTree>
    <p:extLst>
      <p:ext uri="{BB962C8B-B14F-4D97-AF65-F5344CB8AC3E}">
        <p14:creationId xmlns:p14="http://schemas.microsoft.com/office/powerpoint/2010/main" val="4128527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BCC9E-5AD6-48DD-8A30-8433C049A27E}"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114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176B4E-149E-4DDA-8B92-CAC44D4C331D}" type="slidenum">
              <a:rPr lang="en-US" smtClean="0"/>
              <a:pPr/>
              <a:t>‹#›</a:t>
            </a:fld>
            <a:endParaRPr lang="en-US"/>
          </a:p>
        </p:txBody>
      </p:sp>
    </p:spTree>
    <p:extLst>
      <p:ext uri="{BB962C8B-B14F-4D97-AF65-F5344CB8AC3E}">
        <p14:creationId xmlns:p14="http://schemas.microsoft.com/office/powerpoint/2010/main" val="2036080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1D2E3-9C4B-4B93-8445-17F695257FB1}"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4695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15F477-F90D-4E8C-A927-3602ADF69B3D}" type="slidenum">
              <a:rPr lang="en-US" smtClean="0"/>
              <a:pPr/>
              <a:t>‹#›</a:t>
            </a:fld>
            <a:endParaRPr lang="en-US"/>
          </a:p>
        </p:txBody>
      </p:sp>
    </p:spTree>
    <p:extLst>
      <p:ext uri="{BB962C8B-B14F-4D97-AF65-F5344CB8AC3E}">
        <p14:creationId xmlns:p14="http://schemas.microsoft.com/office/powerpoint/2010/main" val="3585236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5B6B4A-6BFE-4BB4-BB29-05703ED7AA44}" type="slidenum">
              <a:rPr lang="en-US" smtClean="0"/>
              <a:pPr/>
              <a:t>‹#›</a:t>
            </a:fld>
            <a:endParaRPr lang="en-US"/>
          </a:p>
        </p:txBody>
      </p:sp>
    </p:spTree>
    <p:extLst>
      <p:ext uri="{BB962C8B-B14F-4D97-AF65-F5344CB8AC3E}">
        <p14:creationId xmlns:p14="http://schemas.microsoft.com/office/powerpoint/2010/main" val="3033790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88D103-B113-4770-A6FD-6B6091C45369}" type="slidenum">
              <a:rPr lang="en-US" smtClean="0"/>
              <a:pPr/>
              <a:t>‹#›</a:t>
            </a:fld>
            <a:endParaRPr lang="en-US"/>
          </a:p>
        </p:txBody>
      </p:sp>
    </p:spTree>
    <p:extLst>
      <p:ext uri="{BB962C8B-B14F-4D97-AF65-F5344CB8AC3E}">
        <p14:creationId xmlns:p14="http://schemas.microsoft.com/office/powerpoint/2010/main" val="3653037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9C721B8-7043-4B6A-B581-5CC3080A2984}" type="slidenum">
              <a:rPr lang="en-US" smtClean="0"/>
              <a:pPr/>
              <a:t>‹#›</a:t>
            </a:fld>
            <a:endParaRPr lang="en-US"/>
          </a:p>
        </p:txBody>
      </p:sp>
    </p:spTree>
    <p:extLst>
      <p:ext uri="{BB962C8B-B14F-4D97-AF65-F5344CB8AC3E}">
        <p14:creationId xmlns:p14="http://schemas.microsoft.com/office/powerpoint/2010/main" val="1553423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517681C-9C8F-46A6-84E4-B30D5003A9E4}" type="slidenum">
              <a:rPr lang="en-US" smtClean="0"/>
              <a:pPr/>
              <a:t>‹#›</a:t>
            </a:fld>
            <a:endParaRPr lang="en-US"/>
          </a:p>
        </p:txBody>
      </p:sp>
    </p:spTree>
    <p:extLst>
      <p:ext uri="{BB962C8B-B14F-4D97-AF65-F5344CB8AC3E}">
        <p14:creationId xmlns:p14="http://schemas.microsoft.com/office/powerpoint/2010/main" val="1250027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90B204-F9F7-472C-9CBB-86950AEEED3C}" type="slidenum">
              <a:rPr lang="en-US" smtClean="0"/>
              <a:pPr/>
              <a:t>‹#›</a:t>
            </a:fld>
            <a:endParaRPr lang="en-US"/>
          </a:p>
        </p:txBody>
      </p:sp>
    </p:spTree>
    <p:extLst>
      <p:ext uri="{BB962C8B-B14F-4D97-AF65-F5344CB8AC3E}">
        <p14:creationId xmlns:p14="http://schemas.microsoft.com/office/powerpoint/2010/main" val="756265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35E108-B10C-4865-9325-4EF803B16EE0}" type="slidenum">
              <a:rPr lang="en-US" smtClean="0"/>
              <a:pPr/>
              <a:t>‹#›</a:t>
            </a:fld>
            <a:endParaRPr lang="en-US"/>
          </a:p>
        </p:txBody>
      </p:sp>
    </p:spTree>
    <p:extLst>
      <p:ext uri="{BB962C8B-B14F-4D97-AF65-F5344CB8AC3E}">
        <p14:creationId xmlns:p14="http://schemas.microsoft.com/office/powerpoint/2010/main" val="4116529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6C8A7E-9CFE-4D26-99E8-BE3B810F9C22}" type="slidenum">
              <a:rPr lang="en-US" smtClean="0"/>
              <a:pPr/>
              <a:t>‹#›</a:t>
            </a:fld>
            <a:endParaRPr lang="en-US"/>
          </a:p>
        </p:txBody>
      </p:sp>
    </p:spTree>
    <p:extLst>
      <p:ext uri="{BB962C8B-B14F-4D97-AF65-F5344CB8AC3E}">
        <p14:creationId xmlns:p14="http://schemas.microsoft.com/office/powerpoint/2010/main" val="2459165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endParaRPr lang="en-US"/>
          </a:p>
        </p:txBody>
      </p:sp>
      <p:sp>
        <p:nvSpPr>
          <p:cNvPr id="4" name="Date Placeholder 3"/>
          <p:cNvSpPr>
            <a:spLocks noGrp="1"/>
          </p:cNvSpPr>
          <p:nvPr>
            <p:ph type="dt" sz="half" idx="10"/>
          </p:nvPr>
        </p:nvSpPr>
        <p:spPr>
          <a:xfrm>
            <a:off x="685800" y="6248400"/>
            <a:ext cx="1905000" cy="457200"/>
          </a:xfrm>
        </p:spPr>
        <p:txBody>
          <a:bodyPr/>
          <a:lstStyle>
            <a:lvl1pPr>
              <a:defRPr/>
            </a:lvl1pPr>
          </a:lstStyle>
          <a:p>
            <a:endParaRPr 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8400"/>
            <a:ext cx="1905000" cy="457200"/>
          </a:xfrm>
        </p:spPr>
        <p:txBody>
          <a:bodyPr/>
          <a:lstStyle>
            <a:lvl1pPr>
              <a:defRPr/>
            </a:lvl1pPr>
          </a:lstStyle>
          <a:p>
            <a:fld id="{3481DCE6-0BAB-4CF2-9247-526D683C82C0}" type="slidenum">
              <a:rPr lang="en-US"/>
              <a:pPr/>
              <a:t>‹#›</a:t>
            </a:fld>
            <a:endParaRPr lang="en-US"/>
          </a:p>
        </p:txBody>
      </p:sp>
    </p:spTree>
    <p:extLst>
      <p:ext uri="{BB962C8B-B14F-4D97-AF65-F5344CB8AC3E}">
        <p14:creationId xmlns:p14="http://schemas.microsoft.com/office/powerpoint/2010/main" val="111858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16470D0-25D7-4A83-8FF9-C4222AFBA6B7}"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41060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ChangeArrowheads="1"/>
          </p:cNvSpPr>
          <p:nvPr/>
        </p:nvSpPr>
        <p:spPr bwMode="auto">
          <a:xfrm>
            <a:off x="1068388" y="1879600"/>
            <a:ext cx="72136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sz="5400" b="1">
                <a:solidFill>
                  <a:schemeClr val="accent2"/>
                </a:solidFill>
              </a:rPr>
              <a:t>Software Requirements </a:t>
            </a:r>
            <a:br>
              <a:rPr lang="en-US" sz="5400" b="1">
                <a:solidFill>
                  <a:schemeClr val="accent2"/>
                </a:solidFill>
              </a:rPr>
            </a:br>
            <a:r>
              <a:rPr lang="en-US" sz="5400" b="1">
                <a:solidFill>
                  <a:schemeClr val="accent2"/>
                </a:solidFill>
              </a:rPr>
              <a:t>Specification Document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6"/>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079" name="Rectangle 7"/>
          <p:cNvSpPr>
            <a:spLocks noChangeArrowheads="1"/>
          </p:cNvSpPr>
          <p:nvPr/>
        </p:nvSpPr>
        <p:spPr bwMode="auto">
          <a:xfrm>
            <a:off x="685800" y="2209800"/>
            <a:ext cx="75438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20000"/>
              </a:spcBef>
              <a:buChar char="•"/>
              <a:defRPr sz="3200">
                <a:solidFill>
                  <a:schemeClr val="tx1"/>
                </a:solidFill>
                <a:latin typeface="Times New Roman" panose="02020603050405020304" pitchFamily="18" charset="0"/>
              </a:defRPr>
            </a:lvl1pPr>
            <a:lvl2pPr marL="685800" indent="-2286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543050" indent="-171450">
              <a:spcBef>
                <a:spcPct val="20000"/>
              </a:spcBef>
              <a:buChar char="–"/>
              <a:defRPr sz="2000">
                <a:solidFill>
                  <a:schemeClr val="tx1"/>
                </a:solidFill>
                <a:latin typeface="Times New Roman" panose="02020603050405020304" pitchFamily="18" charset="0"/>
              </a:defRPr>
            </a:lvl4pPr>
            <a:lvl5pPr marL="2000250" indent="-171450">
              <a:spcBef>
                <a:spcPct val="20000"/>
              </a:spcBef>
              <a:buChar char="»"/>
              <a:defRPr sz="2000">
                <a:solidFill>
                  <a:schemeClr val="tx1"/>
                </a:solidFill>
                <a:latin typeface="Times New Roman" panose="02020603050405020304" pitchFamily="18" charset="0"/>
              </a:defRPr>
            </a:lvl5pPr>
            <a:lvl6pPr marL="2457450" indent="-171450" fontAlgn="base">
              <a:spcBef>
                <a:spcPct val="20000"/>
              </a:spcBef>
              <a:spcAft>
                <a:spcPct val="0"/>
              </a:spcAft>
              <a:buChar char="»"/>
              <a:defRPr sz="2000">
                <a:solidFill>
                  <a:schemeClr val="tx1"/>
                </a:solidFill>
                <a:latin typeface="Times New Roman" panose="02020603050405020304" pitchFamily="18" charset="0"/>
              </a:defRPr>
            </a:lvl6pPr>
            <a:lvl7pPr marL="2914650" indent="-171450" fontAlgn="base">
              <a:spcBef>
                <a:spcPct val="20000"/>
              </a:spcBef>
              <a:spcAft>
                <a:spcPct val="0"/>
              </a:spcAft>
              <a:buChar char="»"/>
              <a:defRPr sz="2000">
                <a:solidFill>
                  <a:schemeClr val="tx1"/>
                </a:solidFill>
                <a:latin typeface="Times New Roman" panose="02020603050405020304" pitchFamily="18" charset="0"/>
              </a:defRPr>
            </a:lvl7pPr>
            <a:lvl8pPr marL="3371850" indent="-171450" fontAlgn="base">
              <a:spcBef>
                <a:spcPct val="20000"/>
              </a:spcBef>
              <a:spcAft>
                <a:spcPct val="0"/>
              </a:spcAft>
              <a:buChar char="»"/>
              <a:defRPr sz="2000">
                <a:solidFill>
                  <a:schemeClr val="tx1"/>
                </a:solidFill>
                <a:latin typeface="Times New Roman" panose="02020603050405020304" pitchFamily="18" charset="0"/>
              </a:defRPr>
            </a:lvl8pPr>
            <a:lvl9pPr marL="3829050" indent="-171450" fontAlgn="base">
              <a:spcBef>
                <a:spcPct val="20000"/>
              </a:spcBef>
              <a:spcAft>
                <a:spcPct val="0"/>
              </a:spcAft>
              <a:buChar char="»"/>
              <a:defRPr sz="2000">
                <a:solidFill>
                  <a:schemeClr val="tx1"/>
                </a:solidFill>
                <a:latin typeface="Times New Roman" panose="02020603050405020304" pitchFamily="18" charset="0"/>
              </a:defRPr>
            </a:lvl9pPr>
          </a:lstStyle>
          <a:p>
            <a:pPr>
              <a:lnSpc>
                <a:spcPct val="75000"/>
              </a:lnSpc>
              <a:spcBef>
                <a:spcPct val="50000"/>
              </a:spcBef>
              <a:buFontTx/>
              <a:buNone/>
            </a:pPr>
            <a:r>
              <a:rPr lang="en-US" sz="2800"/>
              <a:t>Table of Contents</a:t>
            </a:r>
          </a:p>
          <a:p>
            <a:pPr>
              <a:lnSpc>
                <a:spcPct val="75000"/>
              </a:lnSpc>
              <a:spcBef>
                <a:spcPct val="50000"/>
              </a:spcBef>
              <a:buFontTx/>
              <a:buNone/>
            </a:pPr>
            <a:r>
              <a:rPr lang="en-US" sz="2800"/>
              <a:t>	I.      Introduction</a:t>
            </a:r>
          </a:p>
          <a:p>
            <a:pPr>
              <a:lnSpc>
                <a:spcPct val="75000"/>
              </a:lnSpc>
              <a:spcBef>
                <a:spcPct val="50000"/>
              </a:spcBef>
              <a:buFontTx/>
              <a:buNone/>
            </a:pPr>
            <a:r>
              <a:rPr lang="en-US" sz="2800"/>
              <a:t>	II.    General Description</a:t>
            </a:r>
          </a:p>
          <a:p>
            <a:pPr>
              <a:lnSpc>
                <a:spcPct val="75000"/>
              </a:lnSpc>
              <a:spcBef>
                <a:spcPct val="50000"/>
              </a:spcBef>
              <a:buFontTx/>
              <a:buNone/>
            </a:pPr>
            <a:r>
              <a:rPr lang="en-US" sz="2800"/>
              <a:t>	III.   Functional Requirements</a:t>
            </a:r>
          </a:p>
          <a:p>
            <a:pPr>
              <a:lnSpc>
                <a:spcPct val="75000"/>
              </a:lnSpc>
              <a:spcBef>
                <a:spcPct val="50000"/>
              </a:spcBef>
              <a:buFontTx/>
              <a:buNone/>
            </a:pPr>
            <a:r>
              <a:rPr lang="en-US" sz="2800"/>
              <a:t>   IV.   Non Functional Requirements</a:t>
            </a:r>
          </a:p>
          <a:p>
            <a:pPr>
              <a:lnSpc>
                <a:spcPct val="75000"/>
              </a:lnSpc>
              <a:spcBef>
                <a:spcPct val="50000"/>
              </a:spcBef>
              <a:buFontTx/>
              <a:buNone/>
            </a:pPr>
            <a:r>
              <a:rPr lang="en-US" sz="2800"/>
              <a:t>   V.     System Architecture</a:t>
            </a:r>
          </a:p>
          <a:p>
            <a:pPr>
              <a:lnSpc>
                <a:spcPct val="75000"/>
              </a:lnSpc>
              <a:spcBef>
                <a:spcPct val="50000"/>
              </a:spcBef>
              <a:buFontTx/>
              <a:buNone/>
            </a:pPr>
            <a:r>
              <a:rPr lang="en-US" sz="2800"/>
              <a:t>   VI.   System Models</a:t>
            </a:r>
          </a:p>
          <a:p>
            <a:pPr>
              <a:lnSpc>
                <a:spcPct val="75000"/>
              </a:lnSpc>
              <a:spcBef>
                <a:spcPct val="50000"/>
              </a:spcBef>
              <a:buFontTx/>
              <a:buNone/>
            </a:pPr>
            <a:r>
              <a:rPr lang="en-US" sz="2800"/>
              <a:t>   VII.  Appendices</a:t>
            </a:r>
          </a:p>
          <a:p>
            <a:pPr>
              <a:lnSpc>
                <a:spcPct val="75000"/>
              </a:lnSpc>
              <a:spcBef>
                <a:spcPct val="50000"/>
              </a:spcBef>
              <a:buFontTx/>
              <a:buNone/>
            </a:pPr>
            <a:r>
              <a:rPr lang="en-US" sz="2800"/>
              <a:t>    </a:t>
            </a:r>
            <a:endParaRPr lang="en-US"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6147" name="Rectangle 3"/>
          <p:cNvSpPr>
            <a:spLocks noChangeArrowheads="1"/>
          </p:cNvSpPr>
          <p:nvPr/>
        </p:nvSpPr>
        <p:spPr bwMode="auto">
          <a:xfrm>
            <a:off x="304800" y="2201863"/>
            <a:ext cx="8305800" cy="308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75000"/>
              </a:lnSpc>
              <a:spcBef>
                <a:spcPct val="50000"/>
              </a:spcBef>
            </a:pPr>
            <a:r>
              <a:rPr lang="en-US" b="1"/>
              <a:t>	I.  Introduction</a:t>
            </a:r>
          </a:p>
          <a:p>
            <a:pPr eaLnBrk="0" hangingPunct="0">
              <a:lnSpc>
                <a:spcPct val="75000"/>
              </a:lnSpc>
              <a:spcBef>
                <a:spcPct val="50000"/>
              </a:spcBef>
            </a:pPr>
            <a:r>
              <a:rPr lang="en-US" b="1"/>
              <a:t>	      A Purpose</a:t>
            </a:r>
          </a:p>
          <a:p>
            <a:pPr eaLnBrk="0" hangingPunct="0">
              <a:lnSpc>
                <a:spcPct val="75000"/>
              </a:lnSpc>
              <a:spcBef>
                <a:spcPct val="50000"/>
              </a:spcBef>
            </a:pPr>
            <a:r>
              <a:rPr lang="en-US" b="1"/>
              <a:t>	      B Scope</a:t>
            </a:r>
          </a:p>
          <a:p>
            <a:pPr eaLnBrk="0" hangingPunct="0">
              <a:lnSpc>
                <a:spcPct val="75000"/>
              </a:lnSpc>
              <a:spcBef>
                <a:spcPct val="50000"/>
              </a:spcBef>
            </a:pPr>
            <a:r>
              <a:rPr lang="en-US" b="1"/>
              <a:t>	      C  Definition, Acronyms, or Abbreviations</a:t>
            </a:r>
          </a:p>
          <a:p>
            <a:pPr eaLnBrk="0" hangingPunct="0">
              <a:lnSpc>
                <a:spcPct val="75000"/>
              </a:lnSpc>
              <a:spcBef>
                <a:spcPct val="50000"/>
              </a:spcBef>
            </a:pPr>
            <a:r>
              <a:rPr lang="en-US" b="1"/>
              <a:t>	      D References</a:t>
            </a:r>
          </a:p>
          <a:p>
            <a:pPr eaLnBrk="0" hangingPunct="0">
              <a:lnSpc>
                <a:spcPct val="75000"/>
              </a:lnSpc>
              <a:spcBef>
                <a:spcPct val="50000"/>
              </a:spcBef>
            </a:pPr>
            <a:r>
              <a:rPr lang="en-US" b="1"/>
              <a:t>	      E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7171" name="Rectangle 3"/>
          <p:cNvSpPr>
            <a:spLocks noChangeArrowheads="1"/>
          </p:cNvSpPr>
          <p:nvPr/>
        </p:nvSpPr>
        <p:spPr bwMode="auto">
          <a:xfrm>
            <a:off x="1219200" y="2125663"/>
            <a:ext cx="6553200" cy="362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75000"/>
              </a:lnSpc>
              <a:spcBef>
                <a:spcPct val="50000"/>
              </a:spcBef>
            </a:pPr>
            <a:r>
              <a:rPr lang="en-US" b="1"/>
              <a:t>II.  General Description</a:t>
            </a:r>
          </a:p>
          <a:p>
            <a:pPr eaLnBrk="0" hangingPunct="0">
              <a:lnSpc>
                <a:spcPct val="75000"/>
              </a:lnSpc>
              <a:spcBef>
                <a:spcPct val="50000"/>
              </a:spcBef>
            </a:pPr>
            <a:r>
              <a:rPr lang="en-US" b="1"/>
              <a:t>	      A  Product Perspective</a:t>
            </a:r>
          </a:p>
          <a:p>
            <a:pPr eaLnBrk="0" hangingPunct="0">
              <a:lnSpc>
                <a:spcPct val="75000"/>
              </a:lnSpc>
              <a:spcBef>
                <a:spcPct val="50000"/>
              </a:spcBef>
            </a:pPr>
            <a:r>
              <a:rPr lang="en-US" b="1"/>
              <a:t>	      B  Product Functions</a:t>
            </a:r>
          </a:p>
          <a:p>
            <a:pPr eaLnBrk="0" hangingPunct="0">
              <a:lnSpc>
                <a:spcPct val="75000"/>
              </a:lnSpc>
              <a:spcBef>
                <a:spcPct val="50000"/>
              </a:spcBef>
            </a:pPr>
            <a:r>
              <a:rPr lang="en-US" b="1"/>
              <a:t>	      C  User Characteristics</a:t>
            </a:r>
          </a:p>
          <a:p>
            <a:pPr eaLnBrk="0" hangingPunct="0">
              <a:lnSpc>
                <a:spcPct val="75000"/>
              </a:lnSpc>
              <a:spcBef>
                <a:spcPct val="50000"/>
              </a:spcBef>
            </a:pPr>
            <a:r>
              <a:rPr lang="en-US" b="1"/>
              <a:t>	      D  General Constraints</a:t>
            </a:r>
          </a:p>
          <a:p>
            <a:pPr eaLnBrk="0" hangingPunct="0">
              <a:lnSpc>
                <a:spcPct val="75000"/>
              </a:lnSpc>
              <a:spcBef>
                <a:spcPct val="50000"/>
              </a:spcBef>
            </a:pPr>
            <a:r>
              <a:rPr lang="en-US" b="1"/>
              <a:t>	      E  Assumptions</a:t>
            </a:r>
          </a:p>
          <a:p>
            <a:pPr eaLnBrk="0" hangingPunct="0">
              <a:lnSpc>
                <a:spcPct val="75000"/>
              </a:lnSpc>
              <a:spcBef>
                <a:spcPct val="50000"/>
              </a:spcBef>
            </a:pPr>
            <a:r>
              <a:rPr lang="en-US" b="1"/>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9220" name="Oval 4"/>
          <p:cNvSpPr>
            <a:spLocks noChangeArrowheads="1"/>
          </p:cNvSpPr>
          <p:nvPr/>
        </p:nvSpPr>
        <p:spPr bwMode="auto">
          <a:xfrm>
            <a:off x="1627188" y="1344613"/>
            <a:ext cx="5483225" cy="3829050"/>
          </a:xfrm>
          <a:prstGeom prst="ellipse">
            <a:avLst/>
          </a:prstGeom>
          <a:solidFill>
            <a:srgbClr val="8C488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1" name="Oval 5"/>
          <p:cNvSpPr>
            <a:spLocks noChangeArrowheads="1"/>
          </p:cNvSpPr>
          <p:nvPr/>
        </p:nvSpPr>
        <p:spPr bwMode="auto">
          <a:xfrm>
            <a:off x="2682875" y="1958975"/>
            <a:ext cx="3386138" cy="2492375"/>
          </a:xfrm>
          <a:prstGeom prst="ellipse">
            <a:avLst/>
          </a:prstGeom>
          <a:solidFill>
            <a:srgbClr val="AD278D"/>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endParaRPr lang="en-US" sz="1800" b="1">
              <a:latin typeface="Helvetica" panose="020B0604020202020204" pitchFamily="34" charset="0"/>
            </a:endParaRPr>
          </a:p>
        </p:txBody>
      </p:sp>
      <p:sp>
        <p:nvSpPr>
          <p:cNvPr id="9222" name="Oval 6"/>
          <p:cNvSpPr>
            <a:spLocks noChangeArrowheads="1"/>
          </p:cNvSpPr>
          <p:nvPr/>
        </p:nvSpPr>
        <p:spPr bwMode="auto">
          <a:xfrm>
            <a:off x="3373438" y="2506663"/>
            <a:ext cx="2022475" cy="1344612"/>
          </a:xfrm>
          <a:prstGeom prst="ellipse">
            <a:avLst/>
          </a:prstGeom>
          <a:solidFill>
            <a:srgbClr val="D1039B"/>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en-US" sz="1800" b="1">
                <a:solidFill>
                  <a:schemeClr val="bg1"/>
                </a:solidFill>
                <a:latin typeface="Helvetica" panose="020B0604020202020204" pitchFamily="34" charset="0"/>
              </a:rPr>
              <a:t>Data Model</a:t>
            </a:r>
            <a:endParaRPr lang="en-US" sz="1800" b="1">
              <a:latin typeface="Helvetica" panose="020B0604020202020204" pitchFamily="34" charset="0"/>
            </a:endParaRPr>
          </a:p>
        </p:txBody>
      </p:sp>
      <p:sp>
        <p:nvSpPr>
          <p:cNvPr id="9223" name="Text Box 7"/>
          <p:cNvSpPr txBox="1">
            <a:spLocks noChangeArrowheads="1"/>
          </p:cNvSpPr>
          <p:nvPr/>
        </p:nvSpPr>
        <p:spPr bwMode="auto">
          <a:xfrm>
            <a:off x="3744913" y="4513263"/>
            <a:ext cx="13525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90000"/>
              </a:lnSpc>
            </a:pPr>
            <a:r>
              <a:rPr lang="en-US" sz="1800" b="1">
                <a:solidFill>
                  <a:schemeClr val="bg1"/>
                </a:solidFill>
                <a:latin typeface="Helvetica" panose="020B0604020202020204" pitchFamily="34" charset="0"/>
              </a:rPr>
              <a:t>Behavioral</a:t>
            </a:r>
          </a:p>
          <a:p>
            <a:pPr algn="ctr" eaLnBrk="0" hangingPunct="0">
              <a:lnSpc>
                <a:spcPct val="90000"/>
              </a:lnSpc>
            </a:pPr>
            <a:r>
              <a:rPr lang="en-US" sz="1800" b="1">
                <a:solidFill>
                  <a:schemeClr val="bg1"/>
                </a:solidFill>
                <a:latin typeface="Helvetica" panose="020B0604020202020204" pitchFamily="34" charset="0"/>
              </a:rPr>
              <a:t>Model</a:t>
            </a:r>
            <a:endParaRPr lang="en-US" sz="1800" b="1">
              <a:solidFill>
                <a:schemeClr val="folHlink"/>
              </a:solidFill>
              <a:latin typeface="Helvetica" panose="020B0604020202020204" pitchFamily="34" charset="0"/>
            </a:endParaRPr>
          </a:p>
        </p:txBody>
      </p:sp>
      <p:sp>
        <p:nvSpPr>
          <p:cNvPr id="9224" name="Text Box 8"/>
          <p:cNvSpPr txBox="1">
            <a:spLocks noChangeArrowheads="1"/>
          </p:cNvSpPr>
          <p:nvPr/>
        </p:nvSpPr>
        <p:spPr bwMode="auto">
          <a:xfrm>
            <a:off x="3763963" y="3854450"/>
            <a:ext cx="13398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90000"/>
              </a:lnSpc>
            </a:pPr>
            <a:r>
              <a:rPr lang="en-US" sz="1800" b="1">
                <a:solidFill>
                  <a:schemeClr val="bg1"/>
                </a:solidFill>
                <a:latin typeface="Helvetica" panose="020B0604020202020204" pitchFamily="34" charset="0"/>
              </a:rPr>
              <a:t>Functional</a:t>
            </a:r>
          </a:p>
          <a:p>
            <a:pPr algn="ctr" eaLnBrk="0" hangingPunct="0">
              <a:lnSpc>
                <a:spcPct val="90000"/>
              </a:lnSpc>
            </a:pPr>
            <a:r>
              <a:rPr lang="en-US" sz="1800" b="1">
                <a:solidFill>
                  <a:schemeClr val="bg1"/>
                </a:solidFill>
                <a:latin typeface="Helvetica" panose="020B0604020202020204" pitchFamily="34" charset="0"/>
              </a:rPr>
              <a:t>Model</a:t>
            </a:r>
            <a:endParaRPr lang="en-US" sz="1800" b="1">
              <a:latin typeface="Helvetica" panose="020B0604020202020204" pitchFamily="34" charset="0"/>
            </a:endParaRPr>
          </a:p>
        </p:txBody>
      </p:sp>
      <p:sp>
        <p:nvSpPr>
          <p:cNvPr id="9225" name="Text Box 9"/>
          <p:cNvSpPr txBox="1">
            <a:spLocks noChangeArrowheads="1"/>
          </p:cNvSpPr>
          <p:nvPr/>
        </p:nvSpPr>
        <p:spPr bwMode="auto">
          <a:xfrm>
            <a:off x="685800" y="5432425"/>
            <a:ext cx="775970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50000"/>
              </a:spcBef>
            </a:pPr>
            <a:r>
              <a:rPr lang="en-US" sz="1800" b="1">
                <a:latin typeface="Helvetica" panose="020B0604020202020204" pitchFamily="34" charset="0"/>
              </a:rPr>
              <a:t>The SRS is composed of the outer layer of the behavioral model, the functional model, then the data model.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0243" name="Rectangle 3"/>
          <p:cNvSpPr>
            <a:spLocks noChangeArrowheads="1"/>
          </p:cNvSpPr>
          <p:nvPr/>
        </p:nvSpPr>
        <p:spPr bwMode="auto">
          <a:xfrm>
            <a:off x="381000" y="1295400"/>
            <a:ext cx="87630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20000"/>
              </a:spcBef>
              <a:buChar char="•"/>
              <a:defRPr sz="3200">
                <a:solidFill>
                  <a:schemeClr val="tx1"/>
                </a:solidFill>
                <a:latin typeface="Times New Roman" panose="02020603050405020304" pitchFamily="18" charset="0"/>
              </a:defRPr>
            </a:lvl1pPr>
            <a:lvl2pPr marL="685800" indent="-2286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543050" indent="-171450">
              <a:spcBef>
                <a:spcPct val="20000"/>
              </a:spcBef>
              <a:buChar char="–"/>
              <a:defRPr sz="2000">
                <a:solidFill>
                  <a:schemeClr val="tx1"/>
                </a:solidFill>
                <a:latin typeface="Times New Roman" panose="02020603050405020304" pitchFamily="18" charset="0"/>
              </a:defRPr>
            </a:lvl4pPr>
            <a:lvl5pPr marL="2000250" indent="-171450">
              <a:spcBef>
                <a:spcPct val="20000"/>
              </a:spcBef>
              <a:buChar char="»"/>
              <a:defRPr sz="2000">
                <a:solidFill>
                  <a:schemeClr val="tx1"/>
                </a:solidFill>
                <a:latin typeface="Times New Roman" panose="02020603050405020304" pitchFamily="18" charset="0"/>
              </a:defRPr>
            </a:lvl5pPr>
            <a:lvl6pPr marL="2457450" indent="-171450" fontAlgn="base">
              <a:spcBef>
                <a:spcPct val="20000"/>
              </a:spcBef>
              <a:spcAft>
                <a:spcPct val="0"/>
              </a:spcAft>
              <a:buChar char="»"/>
              <a:defRPr sz="2000">
                <a:solidFill>
                  <a:schemeClr val="tx1"/>
                </a:solidFill>
                <a:latin typeface="Times New Roman" panose="02020603050405020304" pitchFamily="18" charset="0"/>
              </a:defRPr>
            </a:lvl6pPr>
            <a:lvl7pPr marL="2914650" indent="-171450" fontAlgn="base">
              <a:spcBef>
                <a:spcPct val="20000"/>
              </a:spcBef>
              <a:spcAft>
                <a:spcPct val="0"/>
              </a:spcAft>
              <a:buChar char="»"/>
              <a:defRPr sz="2000">
                <a:solidFill>
                  <a:schemeClr val="tx1"/>
                </a:solidFill>
                <a:latin typeface="Times New Roman" panose="02020603050405020304" pitchFamily="18" charset="0"/>
              </a:defRPr>
            </a:lvl7pPr>
            <a:lvl8pPr marL="3371850" indent="-171450" fontAlgn="base">
              <a:spcBef>
                <a:spcPct val="20000"/>
              </a:spcBef>
              <a:spcAft>
                <a:spcPct val="0"/>
              </a:spcAft>
              <a:buChar char="»"/>
              <a:defRPr sz="2000">
                <a:solidFill>
                  <a:schemeClr val="tx1"/>
                </a:solidFill>
                <a:latin typeface="Times New Roman" panose="02020603050405020304" pitchFamily="18" charset="0"/>
              </a:defRPr>
            </a:lvl8pPr>
            <a:lvl9pPr marL="3829050" indent="-171450" fontAlgn="base">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sz="2400">
                <a:latin typeface="Arial" panose="020B0604020202020204" pitchFamily="34" charset="0"/>
              </a:rPr>
              <a:t>	</a:t>
            </a:r>
            <a:r>
              <a:rPr lang="en-US">
                <a:latin typeface="Arial" panose="020B0604020202020204" pitchFamily="34" charset="0"/>
              </a:rPr>
              <a:t>Correct			 	Complete</a:t>
            </a:r>
          </a:p>
          <a:p>
            <a:pPr>
              <a:spcBef>
                <a:spcPct val="50000"/>
              </a:spcBef>
              <a:buFontTx/>
              <a:buNone/>
            </a:pPr>
            <a:r>
              <a:rPr lang="en-US">
                <a:latin typeface="Arial" panose="020B0604020202020204" pitchFamily="34" charset="0"/>
              </a:rPr>
              <a:t>	Precise				Organized</a:t>
            </a:r>
          </a:p>
          <a:p>
            <a:pPr>
              <a:spcBef>
                <a:spcPct val="50000"/>
              </a:spcBef>
              <a:buFontTx/>
              <a:buNone/>
            </a:pPr>
            <a:r>
              <a:rPr lang="en-US">
                <a:latin typeface="Arial" panose="020B0604020202020204" pitchFamily="34" charset="0"/>
              </a:rPr>
              <a:t>	Unambiguous		Verifiable</a:t>
            </a:r>
          </a:p>
          <a:p>
            <a:pPr>
              <a:spcBef>
                <a:spcPct val="50000"/>
              </a:spcBef>
              <a:buFontTx/>
              <a:buNone/>
            </a:pPr>
            <a:r>
              <a:rPr lang="en-US">
                <a:latin typeface="Arial" panose="020B0604020202020204" pitchFamily="34" charset="0"/>
              </a:rPr>
              <a:t>	Consistent			Understandable</a:t>
            </a:r>
          </a:p>
          <a:p>
            <a:pPr>
              <a:spcBef>
                <a:spcPct val="50000"/>
              </a:spcBef>
              <a:buFontTx/>
              <a:buNone/>
            </a:pPr>
            <a:r>
              <a:rPr lang="en-US">
                <a:latin typeface="Arial" panose="020B0604020202020204" pitchFamily="34" charset="0"/>
              </a:rPr>
              <a:t>	Modifiable			Traceable</a:t>
            </a:r>
          </a:p>
          <a:p>
            <a:pPr>
              <a:spcBef>
                <a:spcPct val="50000"/>
              </a:spcBef>
              <a:buFontTx/>
              <a:buNone/>
            </a:pPr>
            <a:r>
              <a:rPr lang="en-US">
                <a:latin typeface="Arial" panose="020B0604020202020204" pitchFamily="34" charset="0"/>
              </a:rPr>
              <a:t>	Design Independent	Annotated</a:t>
            </a:r>
          </a:p>
          <a:p>
            <a:pPr>
              <a:spcBef>
                <a:spcPct val="50000"/>
              </a:spcBef>
              <a:buFontTx/>
              <a:buNone/>
            </a:pPr>
            <a:r>
              <a:rPr lang="en-US">
                <a:latin typeface="Arial" panose="020B0604020202020204" pitchFamily="34" charset="0"/>
              </a:rPr>
              <a:t>	Concise			</a:t>
            </a:r>
          </a:p>
          <a:p>
            <a:pPr>
              <a:lnSpc>
                <a:spcPct val="90000"/>
              </a:lnSpc>
            </a:pPr>
            <a:endParaRPr lang="en-US" sz="280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1267" name="Rectangle 3"/>
          <p:cNvSpPr>
            <a:spLocks noChangeArrowheads="1"/>
          </p:cNvSpPr>
          <p:nvPr/>
        </p:nvSpPr>
        <p:spPr bwMode="auto">
          <a:xfrm>
            <a:off x="533400" y="1143000"/>
            <a:ext cx="80772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20000"/>
              </a:spcBef>
              <a:buChar char="•"/>
              <a:defRPr sz="3200">
                <a:solidFill>
                  <a:schemeClr val="tx1"/>
                </a:solidFill>
                <a:latin typeface="Times New Roman" panose="02020603050405020304" pitchFamily="18" charset="0"/>
              </a:defRPr>
            </a:lvl1pPr>
            <a:lvl2pPr marL="685800" indent="-2286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543050" indent="-171450">
              <a:spcBef>
                <a:spcPct val="20000"/>
              </a:spcBef>
              <a:buChar char="–"/>
              <a:defRPr sz="2000">
                <a:solidFill>
                  <a:schemeClr val="tx1"/>
                </a:solidFill>
                <a:latin typeface="Times New Roman" panose="02020603050405020304" pitchFamily="18" charset="0"/>
              </a:defRPr>
            </a:lvl4pPr>
            <a:lvl5pPr marL="2000250" indent="-171450">
              <a:spcBef>
                <a:spcPct val="20000"/>
              </a:spcBef>
              <a:buChar char="»"/>
              <a:defRPr sz="2000">
                <a:solidFill>
                  <a:schemeClr val="tx1"/>
                </a:solidFill>
                <a:latin typeface="Times New Roman" panose="02020603050405020304" pitchFamily="18" charset="0"/>
              </a:defRPr>
            </a:lvl5pPr>
            <a:lvl6pPr marL="2457450" indent="-171450" fontAlgn="base">
              <a:spcBef>
                <a:spcPct val="20000"/>
              </a:spcBef>
              <a:spcAft>
                <a:spcPct val="0"/>
              </a:spcAft>
              <a:buChar char="»"/>
              <a:defRPr sz="2000">
                <a:solidFill>
                  <a:schemeClr val="tx1"/>
                </a:solidFill>
                <a:latin typeface="Times New Roman" panose="02020603050405020304" pitchFamily="18" charset="0"/>
              </a:defRPr>
            </a:lvl6pPr>
            <a:lvl7pPr marL="2914650" indent="-171450" fontAlgn="base">
              <a:spcBef>
                <a:spcPct val="20000"/>
              </a:spcBef>
              <a:spcAft>
                <a:spcPct val="0"/>
              </a:spcAft>
              <a:buChar char="»"/>
              <a:defRPr sz="2000">
                <a:solidFill>
                  <a:schemeClr val="tx1"/>
                </a:solidFill>
                <a:latin typeface="Times New Roman" panose="02020603050405020304" pitchFamily="18" charset="0"/>
              </a:defRPr>
            </a:lvl7pPr>
            <a:lvl8pPr marL="3371850" indent="-171450" fontAlgn="base">
              <a:spcBef>
                <a:spcPct val="20000"/>
              </a:spcBef>
              <a:spcAft>
                <a:spcPct val="0"/>
              </a:spcAft>
              <a:buChar char="»"/>
              <a:defRPr sz="2000">
                <a:solidFill>
                  <a:schemeClr val="tx1"/>
                </a:solidFill>
                <a:latin typeface="Times New Roman" panose="02020603050405020304" pitchFamily="18" charset="0"/>
              </a:defRPr>
            </a:lvl8pPr>
            <a:lvl9pPr marL="3829050" indent="-171450" fontAlgn="base">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t>Correct -</a:t>
            </a:r>
          </a:p>
          <a:p>
            <a:pPr>
              <a:spcBef>
                <a:spcPct val="50000"/>
              </a:spcBef>
              <a:buFontTx/>
              <a:buNone/>
            </a:pPr>
            <a:r>
              <a:rPr lang="en-US" sz="2000"/>
              <a:t>		specifies every true requirement known at that time and no incorrect 	specifications - no wrong data</a:t>
            </a:r>
            <a:r>
              <a:rPr lang="en-US"/>
              <a:t>	</a:t>
            </a:r>
          </a:p>
          <a:p>
            <a:pPr>
              <a:spcBef>
                <a:spcPct val="50000"/>
              </a:spcBef>
              <a:buFontTx/>
              <a:buNone/>
            </a:pPr>
            <a:r>
              <a:rPr lang="en-US"/>
              <a:t>Precise -  </a:t>
            </a:r>
            <a:r>
              <a:rPr lang="en-US" sz="2000"/>
              <a:t>	</a:t>
            </a:r>
          </a:p>
          <a:p>
            <a:pPr>
              <a:spcBef>
                <a:spcPct val="50000"/>
              </a:spcBef>
              <a:buFontTx/>
              <a:buNone/>
            </a:pPr>
            <a:r>
              <a:rPr lang="en-US" sz="2000"/>
              <a:t>		remember this must eventually turn to executable code, fuzzy words 	in  requirements are not acceptable - fuzzy words </a:t>
            </a:r>
            <a:endParaRPr lang="en-US"/>
          </a:p>
          <a:p>
            <a:pPr>
              <a:spcBef>
                <a:spcPct val="50000"/>
              </a:spcBef>
              <a:buFontTx/>
              <a:buNone/>
            </a:pPr>
            <a:r>
              <a:rPr lang="en-US"/>
              <a:t>Unambiguous </a:t>
            </a:r>
          </a:p>
          <a:p>
            <a:pPr>
              <a:spcBef>
                <a:spcPct val="50000"/>
              </a:spcBef>
              <a:buFontTx/>
              <a:buNone/>
            </a:pPr>
            <a:r>
              <a:rPr lang="en-US" sz="2000"/>
              <a:t>		each requirement has only one interpretation - English interpretation</a:t>
            </a:r>
          </a:p>
          <a:p>
            <a:pPr>
              <a:spcBef>
                <a:spcPct val="50000"/>
              </a:spcBef>
              <a:buFontTx/>
              <a:buNone/>
            </a:pPr>
            <a:r>
              <a:rPr lang="en-US"/>
              <a:t>Complete - </a:t>
            </a:r>
          </a:p>
          <a:p>
            <a:pPr>
              <a:spcBef>
                <a:spcPct val="50000"/>
              </a:spcBef>
              <a:buFontTx/>
              <a:buNone/>
            </a:pPr>
            <a:r>
              <a:rPr lang="en-US" sz="2000"/>
              <a:t>		everything included behavior (methods, use cases, systems, 	subsystems, business rules) and data (objects, attributes </a:t>
            </a:r>
          </a:p>
          <a:p>
            <a:pPr>
              <a:lnSpc>
                <a:spcPct val="90000"/>
              </a:lnSpc>
            </a:pPr>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ChangeArrowheads="1"/>
          </p:cNvSpPr>
          <p:nvPr/>
        </p:nvSpPr>
        <p:spPr bwMode="auto">
          <a:xfrm>
            <a:off x="533400" y="1828800"/>
            <a:ext cx="80772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t>Verifiable</a:t>
            </a:r>
          </a:p>
          <a:p>
            <a:pPr>
              <a:spcBef>
                <a:spcPct val="50000"/>
              </a:spcBef>
              <a:buFontTx/>
              <a:buNone/>
            </a:pPr>
            <a:r>
              <a:rPr lang="en-US" sz="2000"/>
              <a:t>		is the software built what was specified in the SRS</a:t>
            </a:r>
          </a:p>
          <a:p>
            <a:pPr>
              <a:spcBef>
                <a:spcPct val="50000"/>
              </a:spcBef>
              <a:buFontTx/>
              <a:buNone/>
            </a:pPr>
            <a:r>
              <a:rPr lang="en-US"/>
              <a:t>Consistent	</a:t>
            </a:r>
          </a:p>
          <a:p>
            <a:pPr>
              <a:spcBef>
                <a:spcPct val="50000"/>
              </a:spcBef>
              <a:buFontTx/>
              <a:buNone/>
            </a:pPr>
            <a:r>
              <a:rPr lang="en-US" sz="2000"/>
              <a:t>		conflicting terms, characteristics</a:t>
            </a:r>
          </a:p>
          <a:p>
            <a:pPr>
              <a:spcBef>
                <a:spcPct val="50000"/>
              </a:spcBef>
              <a:buFontTx/>
              <a:buNone/>
            </a:pPr>
            <a:r>
              <a:rPr lang="en-US"/>
              <a:t>Understandable</a:t>
            </a:r>
          </a:p>
          <a:p>
            <a:pPr>
              <a:spcBef>
                <a:spcPct val="50000"/>
              </a:spcBef>
              <a:buFontTx/>
              <a:buNone/>
            </a:pPr>
            <a:r>
              <a:rPr lang="en-US"/>
              <a:t>		</a:t>
            </a:r>
            <a:r>
              <a:rPr lang="en-US" sz="2000"/>
              <a:t>question: are formal specifications understandable, are informal 	specifications understandable</a:t>
            </a:r>
          </a:p>
        </p:txBody>
      </p:sp>
      <p:sp>
        <p:nvSpPr>
          <p:cNvPr id="12292" name="Rectangle 4"/>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5364" name="Rectangle 4"/>
          <p:cNvSpPr>
            <a:spLocks noChangeArrowheads="1"/>
          </p:cNvSpPr>
          <p:nvPr/>
        </p:nvSpPr>
        <p:spPr bwMode="auto">
          <a:xfrm>
            <a:off x="762000" y="1752600"/>
            <a:ext cx="80772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20000"/>
              </a:spcBef>
              <a:buChar char="•"/>
              <a:defRPr sz="3200">
                <a:solidFill>
                  <a:schemeClr val="tx1"/>
                </a:solidFill>
                <a:latin typeface="Times New Roman" panose="02020603050405020304" pitchFamily="18" charset="0"/>
              </a:defRPr>
            </a:lvl1pPr>
            <a:lvl2pPr marL="685800" indent="-2286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543050" indent="-171450">
              <a:spcBef>
                <a:spcPct val="20000"/>
              </a:spcBef>
              <a:buChar char="–"/>
              <a:defRPr sz="2000">
                <a:solidFill>
                  <a:schemeClr val="tx1"/>
                </a:solidFill>
                <a:latin typeface="Times New Roman" panose="02020603050405020304" pitchFamily="18" charset="0"/>
              </a:defRPr>
            </a:lvl4pPr>
            <a:lvl5pPr marL="2000250" indent="-171450">
              <a:spcBef>
                <a:spcPct val="20000"/>
              </a:spcBef>
              <a:buChar char="»"/>
              <a:defRPr sz="2000">
                <a:solidFill>
                  <a:schemeClr val="tx1"/>
                </a:solidFill>
                <a:latin typeface="Times New Roman" panose="02020603050405020304" pitchFamily="18" charset="0"/>
              </a:defRPr>
            </a:lvl5pPr>
            <a:lvl6pPr marL="2457450" indent="-171450" fontAlgn="base">
              <a:spcBef>
                <a:spcPct val="20000"/>
              </a:spcBef>
              <a:spcAft>
                <a:spcPct val="0"/>
              </a:spcAft>
              <a:buChar char="»"/>
              <a:defRPr sz="2000">
                <a:solidFill>
                  <a:schemeClr val="tx1"/>
                </a:solidFill>
                <a:latin typeface="Times New Roman" panose="02020603050405020304" pitchFamily="18" charset="0"/>
              </a:defRPr>
            </a:lvl6pPr>
            <a:lvl7pPr marL="2914650" indent="-171450" fontAlgn="base">
              <a:spcBef>
                <a:spcPct val="20000"/>
              </a:spcBef>
              <a:spcAft>
                <a:spcPct val="0"/>
              </a:spcAft>
              <a:buChar char="»"/>
              <a:defRPr sz="2000">
                <a:solidFill>
                  <a:schemeClr val="tx1"/>
                </a:solidFill>
                <a:latin typeface="Times New Roman" panose="02020603050405020304" pitchFamily="18" charset="0"/>
              </a:defRPr>
            </a:lvl7pPr>
            <a:lvl8pPr marL="3371850" indent="-171450" fontAlgn="base">
              <a:spcBef>
                <a:spcPct val="20000"/>
              </a:spcBef>
              <a:spcAft>
                <a:spcPct val="0"/>
              </a:spcAft>
              <a:buChar char="»"/>
              <a:defRPr sz="2000">
                <a:solidFill>
                  <a:schemeClr val="tx1"/>
                </a:solidFill>
                <a:latin typeface="Times New Roman" panose="02020603050405020304" pitchFamily="18" charset="0"/>
              </a:defRPr>
            </a:lvl8pPr>
            <a:lvl9pPr marL="3829050" indent="-171450" fontAlgn="base">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t>Modifiable	</a:t>
            </a:r>
          </a:p>
          <a:p>
            <a:pPr>
              <a:spcBef>
                <a:spcPct val="50000"/>
              </a:spcBef>
              <a:buFontTx/>
              <a:buNone/>
            </a:pPr>
            <a:r>
              <a:rPr lang="en-US" sz="2000"/>
              <a:t>		changing requirements easily modified when specifying, designing, 	coding, implementing</a:t>
            </a:r>
          </a:p>
          <a:p>
            <a:endParaRPr lang="en-US" sz="2000"/>
          </a:p>
          <a:p>
            <a:pPr>
              <a:spcBef>
                <a:spcPct val="50000"/>
              </a:spcBef>
              <a:buFontTx/>
              <a:buNone/>
            </a:pPr>
            <a:r>
              <a:rPr lang="en-US"/>
              <a:t>Traceable</a:t>
            </a:r>
          </a:p>
          <a:p>
            <a:pPr>
              <a:spcBef>
                <a:spcPct val="50000"/>
              </a:spcBef>
              <a:buFontTx/>
              <a:buNone/>
            </a:pPr>
            <a:r>
              <a:rPr lang="en-US" sz="2000"/>
              <a:t>		can I locate the SRS origin of software components</a:t>
            </a:r>
            <a:r>
              <a:rPr lang="en-US"/>
              <a:t>.  	</a:t>
            </a:r>
          </a:p>
          <a:p>
            <a:pPr>
              <a:spcBef>
                <a:spcPct val="50000"/>
              </a:spcBef>
              <a:buFontTx/>
              <a:buNone/>
            </a:pPr>
            <a:r>
              <a:rPr lang="en-US"/>
              <a:t>Design Independent	</a:t>
            </a:r>
          </a:p>
          <a:p>
            <a:pPr>
              <a:spcBef>
                <a:spcPct val="50000"/>
              </a:spcBef>
              <a:buFontTx/>
              <a:buNone/>
            </a:pPr>
            <a:r>
              <a:rPr lang="en-US" sz="2000"/>
              <a:t>		SRS should not specify a particular design</a:t>
            </a:r>
          </a:p>
          <a:p>
            <a:pPr>
              <a:spcBef>
                <a:spcPct val="50000"/>
              </a:spcBef>
              <a:buFontTx/>
              <a:buNone/>
            </a:pPr>
            <a:endParaRPr lang="en-US" sz="2000"/>
          </a:p>
          <a:p>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6388" name="Rectangle 4"/>
          <p:cNvSpPr>
            <a:spLocks noChangeArrowheads="1"/>
          </p:cNvSpPr>
          <p:nvPr/>
        </p:nvSpPr>
        <p:spPr bwMode="auto">
          <a:xfrm>
            <a:off x="685800" y="1676400"/>
            <a:ext cx="8229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r>
              <a:rPr lang="en-US"/>
              <a:t>Section One</a:t>
            </a:r>
          </a:p>
          <a:p>
            <a:pPr lvl="1"/>
            <a:r>
              <a:rPr lang="en-US"/>
              <a:t>Overview document for executives describing the system from a management perspective</a:t>
            </a:r>
          </a:p>
          <a:p>
            <a:r>
              <a:rPr lang="en-US"/>
              <a:t>Section Two</a:t>
            </a:r>
          </a:p>
          <a:p>
            <a:pPr lvl="1"/>
            <a:r>
              <a:rPr lang="en-US"/>
              <a:t>General Description describing the system from a user and system perspective in general terms.  </a:t>
            </a:r>
          </a:p>
          <a:p>
            <a:r>
              <a:rPr lang="en-US"/>
              <a:t>Section Three</a:t>
            </a:r>
          </a:p>
          <a:p>
            <a:pPr lvl="1"/>
            <a:r>
              <a:rPr lang="en-US"/>
              <a:t>Detailed document for users and developers describing the system in detailed terms.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7411" name="Rectangle 3"/>
          <p:cNvSpPr>
            <a:spLocks noChangeArrowheads="1"/>
          </p:cNvSpPr>
          <p:nvPr/>
        </p:nvSpPr>
        <p:spPr bwMode="auto">
          <a:xfrm>
            <a:off x="1219200" y="1447800"/>
            <a:ext cx="7391400" cy="258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200" b="1">
                <a:solidFill>
                  <a:srgbClr val="0000FF"/>
                </a:solidFill>
              </a:rPr>
              <a:t>SRS - Section I - Introduction</a:t>
            </a:r>
            <a:endParaRPr lang="en-US" b="1">
              <a:solidFill>
                <a:srgbClr val="0000FF"/>
              </a:solidFill>
            </a:endParaRPr>
          </a:p>
          <a:p>
            <a:pPr eaLnBrk="0" hangingPunct="0">
              <a:spcBef>
                <a:spcPct val="50000"/>
              </a:spcBef>
            </a:pPr>
            <a:endParaRPr lang="en-US" sz="2000" b="1">
              <a:solidFill>
                <a:srgbClr val="0000FF"/>
              </a:solidFill>
            </a:endParaRPr>
          </a:p>
          <a:p>
            <a:pPr eaLnBrk="0" hangingPunct="0">
              <a:spcBef>
                <a:spcPct val="50000"/>
              </a:spcBef>
            </a:pPr>
            <a:endParaRPr lang="en-US" sz="2000" b="1">
              <a:solidFill>
                <a:srgbClr val="0000FF"/>
              </a:solidFill>
            </a:endParaRPr>
          </a:p>
          <a:p>
            <a:pPr lvl="2" eaLnBrk="0" hangingPunct="0">
              <a:spcBef>
                <a:spcPct val="50000"/>
              </a:spcBef>
            </a:pPr>
            <a:r>
              <a:rPr lang="en-US" b="1">
                <a:solidFill>
                  <a:srgbClr val="0000FF"/>
                </a:solidFill>
              </a:rPr>
              <a:t>Definition of section contents</a:t>
            </a:r>
            <a:r>
              <a:rPr lang="en-US" sz="2000" b="1">
                <a:solidFill>
                  <a:srgbClr val="0000FF"/>
                </a:solidFill>
              </a:rPr>
              <a:t>  </a:t>
            </a:r>
          </a:p>
          <a:p>
            <a:pPr lvl="2" eaLnBrk="0" hangingPunct="0">
              <a:spcBef>
                <a:spcPct val="50000"/>
              </a:spcBef>
            </a:pPr>
            <a:endParaRPr lang="en-US" sz="2000" b="1">
              <a:solidFill>
                <a:srgbClr val="0000FF"/>
              </a:solidFill>
            </a:endParaRPr>
          </a:p>
        </p:txBody>
      </p:sp>
      <p:sp>
        <p:nvSpPr>
          <p:cNvPr id="17412" name="Rectangle 4"/>
          <p:cNvSpPr>
            <a:spLocks noChangeArrowheads="1"/>
          </p:cNvSpPr>
          <p:nvPr/>
        </p:nvSpPr>
        <p:spPr bwMode="auto">
          <a:xfrm>
            <a:off x="762000" y="4114800"/>
            <a:ext cx="7848600" cy="1797050"/>
          </a:xfrm>
          <a:prstGeom prst="rect">
            <a:avLst/>
          </a:prstGeom>
          <a:solidFill>
            <a:srgbClr val="C0C0C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lvl="2" eaLnBrk="0" hangingPunct="0">
              <a:spcBef>
                <a:spcPct val="50000"/>
              </a:spcBef>
            </a:pPr>
            <a:r>
              <a:rPr lang="en-US" b="1">
                <a:solidFill>
                  <a:srgbClr val="0000FF"/>
                </a:solidFill>
              </a:rPr>
              <a:t>In the next slides, the deliverable is defined using blue and black font.  Then an small example of the needed deliverable is documented with a gray background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8440" name="Rectangle 8"/>
          <p:cNvSpPr>
            <a:spLocks noChangeArrowheads="1"/>
          </p:cNvSpPr>
          <p:nvPr/>
        </p:nvSpPr>
        <p:spPr bwMode="auto">
          <a:xfrm>
            <a:off x="304800" y="2795588"/>
            <a:ext cx="8997950"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50000"/>
              </a:spcBef>
            </a:pPr>
            <a:endParaRPr lang="en-US" b="1"/>
          </a:p>
          <a:p>
            <a:pPr eaLnBrk="0" hangingPunct="0">
              <a:spcBef>
                <a:spcPct val="50000"/>
              </a:spcBef>
            </a:pPr>
            <a:r>
              <a:rPr lang="en-US" b="1"/>
              <a:t>		      A Purpose</a:t>
            </a:r>
          </a:p>
          <a:p>
            <a:pPr eaLnBrk="0" hangingPunct="0">
              <a:spcBef>
                <a:spcPct val="50000"/>
              </a:spcBef>
            </a:pPr>
            <a:r>
              <a:rPr lang="en-US" b="1"/>
              <a:t>		      B Scope</a:t>
            </a:r>
          </a:p>
          <a:p>
            <a:pPr eaLnBrk="0" hangingPunct="0">
              <a:spcBef>
                <a:spcPct val="50000"/>
              </a:spcBef>
            </a:pPr>
            <a:r>
              <a:rPr lang="en-US" b="1"/>
              <a:t>		      C  Definition, Acronyms, or Abbreviations</a:t>
            </a:r>
          </a:p>
          <a:p>
            <a:pPr eaLnBrk="0" hangingPunct="0">
              <a:spcBef>
                <a:spcPct val="50000"/>
              </a:spcBef>
            </a:pPr>
            <a:r>
              <a:rPr lang="en-US" b="1"/>
              <a:t>	  	      D References</a:t>
            </a:r>
          </a:p>
          <a:p>
            <a:pPr eaLnBrk="0" hangingPunct="0">
              <a:spcBef>
                <a:spcPct val="50000"/>
              </a:spcBef>
            </a:pPr>
            <a:r>
              <a:rPr lang="en-US" b="1"/>
              <a:t>		      E Overview</a:t>
            </a:r>
          </a:p>
        </p:txBody>
      </p:sp>
      <p:sp>
        <p:nvSpPr>
          <p:cNvPr id="18441" name="Rectangle 9"/>
          <p:cNvSpPr>
            <a:spLocks noChangeArrowheads="1"/>
          </p:cNvSpPr>
          <p:nvPr/>
        </p:nvSpPr>
        <p:spPr bwMode="auto">
          <a:xfrm>
            <a:off x="1068388" y="1784350"/>
            <a:ext cx="8074025"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200" b="1">
                <a:solidFill>
                  <a:srgbClr val="0000FF"/>
                </a:solidFill>
              </a:rPr>
              <a:t>I.  Introduction</a:t>
            </a:r>
          </a:p>
          <a:p>
            <a:pPr eaLnBrk="0" hangingPunct="0">
              <a:spcBef>
                <a:spcPct val="50000"/>
              </a:spcBef>
            </a:pPr>
            <a:r>
              <a:rPr lang="en-US" sz="3200" b="1">
                <a:solidFill>
                  <a:srgbClr val="0000FF"/>
                </a:solidFill>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19462" name="Text Box 6"/>
          <p:cNvSpPr txBox="1">
            <a:spLocks noChangeArrowheads="1"/>
          </p:cNvSpPr>
          <p:nvPr/>
        </p:nvSpPr>
        <p:spPr bwMode="auto">
          <a:xfrm>
            <a:off x="533400" y="2409825"/>
            <a:ext cx="6721475" cy="252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a:t>The purpose of this Software Requirements Specification document </a:t>
            </a:r>
          </a:p>
          <a:p>
            <a:pPr eaLnBrk="0" hangingPunct="0"/>
            <a:endParaRPr lang="en-US" sz="3200"/>
          </a:p>
          <a:p>
            <a:pPr eaLnBrk="0" hangingPunct="0"/>
            <a:r>
              <a:rPr lang="en-US" sz="3200"/>
              <a:t>Intended audience of this document</a:t>
            </a:r>
          </a:p>
          <a:p>
            <a:pPr eaLnBrk="0" hangingPunct="0"/>
            <a:endParaRPr lang="en-US" sz="3200"/>
          </a:p>
        </p:txBody>
      </p:sp>
      <p:sp>
        <p:nvSpPr>
          <p:cNvPr id="19463" name="Rectangle 7"/>
          <p:cNvSpPr>
            <a:spLocks noChangeArrowheads="1"/>
          </p:cNvSpPr>
          <p:nvPr/>
        </p:nvSpPr>
        <p:spPr bwMode="auto">
          <a:xfrm>
            <a:off x="762000" y="1281113"/>
            <a:ext cx="80740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eaLnBrk="0" hangingPunct="0">
              <a:spcBef>
                <a:spcPct val="50000"/>
              </a:spcBef>
            </a:pPr>
            <a:r>
              <a:rPr lang="en-US" sz="2800" b="1">
                <a:solidFill>
                  <a:srgbClr val="0000FF"/>
                </a:solidFill>
              </a:rPr>
              <a:t>      A Purpose</a:t>
            </a:r>
          </a:p>
          <a:p>
            <a:pPr eaLnBrk="0" hangingPunct="0">
              <a:spcBef>
                <a:spcPct val="50000"/>
              </a:spcBef>
            </a:pPr>
            <a:r>
              <a:rPr lang="en-US" sz="2800" b="1">
                <a:solidFill>
                  <a:srgbClr val="0000FF"/>
                </a:solidFill>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90115" name="Text Box 3"/>
          <p:cNvSpPr txBox="1">
            <a:spLocks noChangeArrowheads="1"/>
          </p:cNvSpPr>
          <p:nvPr/>
        </p:nvSpPr>
        <p:spPr bwMode="auto">
          <a:xfrm>
            <a:off x="533400" y="2409825"/>
            <a:ext cx="8077200" cy="4362450"/>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t>	The purpose of the Software Requirements Specification document is to clearly define the system under development, namely the Video Rental System (VRS). The intended audience of this document includes the owner of the video store, the clerks of the video store, and the end users of the VRS. Other intended audience includes the development team such as the requirements team, requirements analyst, design team, and other members of the developing organization. </a:t>
            </a:r>
          </a:p>
        </p:txBody>
      </p:sp>
      <p:sp>
        <p:nvSpPr>
          <p:cNvPr id="90116" name="Rectangle 4"/>
          <p:cNvSpPr>
            <a:spLocks noChangeArrowheads="1"/>
          </p:cNvSpPr>
          <p:nvPr/>
        </p:nvSpPr>
        <p:spPr bwMode="auto">
          <a:xfrm>
            <a:off x="762000" y="1281113"/>
            <a:ext cx="80740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eaLnBrk="0" hangingPunct="0">
              <a:spcBef>
                <a:spcPct val="50000"/>
              </a:spcBef>
            </a:pPr>
            <a:r>
              <a:rPr lang="en-US" sz="2800" b="1">
                <a:solidFill>
                  <a:srgbClr val="0000FF"/>
                </a:solidFill>
              </a:rPr>
              <a:t>      A Purpose</a:t>
            </a:r>
          </a:p>
          <a:p>
            <a:pPr eaLnBrk="0" hangingPunct="0">
              <a:spcBef>
                <a:spcPct val="50000"/>
              </a:spcBef>
            </a:pPr>
            <a:r>
              <a:rPr lang="en-US" sz="2800" b="1">
                <a:solidFill>
                  <a:srgbClr val="0000FF"/>
                </a:solidFil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89091" name="Text Box 3"/>
          <p:cNvSpPr txBox="1">
            <a:spLocks noChangeArrowheads="1"/>
          </p:cNvSpPr>
          <p:nvPr/>
        </p:nvSpPr>
        <p:spPr bwMode="auto">
          <a:xfrm>
            <a:off x="1066800" y="2590800"/>
            <a:ext cx="6721475" cy="301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a:t>Origin of need</a:t>
            </a:r>
          </a:p>
          <a:p>
            <a:pPr eaLnBrk="0" hangingPunct="0"/>
            <a:r>
              <a:rPr lang="en-US" sz="3200"/>
              <a:t>High-level description of the system functionality</a:t>
            </a:r>
          </a:p>
          <a:p>
            <a:pPr eaLnBrk="0" hangingPunct="0"/>
            <a:r>
              <a:rPr lang="en-US" sz="3200"/>
              <a:t>Goals of proposed system</a:t>
            </a:r>
          </a:p>
          <a:p>
            <a:pPr eaLnBrk="0" hangingPunct="0"/>
            <a:endParaRPr lang="en-US" sz="3200"/>
          </a:p>
          <a:p>
            <a:pPr eaLnBrk="0" hangingPunct="0"/>
            <a:endParaRPr lang="en-US" sz="3200"/>
          </a:p>
        </p:txBody>
      </p:sp>
      <p:sp>
        <p:nvSpPr>
          <p:cNvPr id="89092" name="Rectangle 4"/>
          <p:cNvSpPr>
            <a:spLocks noChangeArrowheads="1"/>
          </p:cNvSpPr>
          <p:nvPr/>
        </p:nvSpPr>
        <p:spPr bwMode="auto">
          <a:xfrm>
            <a:off x="762000" y="1281113"/>
            <a:ext cx="80740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eaLnBrk="0" hangingPunct="0">
              <a:spcBef>
                <a:spcPct val="50000"/>
              </a:spcBef>
            </a:pPr>
            <a:r>
              <a:rPr lang="en-US" sz="2800" b="1">
                <a:solidFill>
                  <a:srgbClr val="0000FF"/>
                </a:solidFill>
              </a:rPr>
              <a:t>       B. Scope</a:t>
            </a:r>
          </a:p>
          <a:p>
            <a:pPr eaLnBrk="0" hangingPunct="0">
              <a:spcBef>
                <a:spcPct val="50000"/>
              </a:spcBef>
            </a:pPr>
            <a:r>
              <a:rPr lang="en-US" sz="2800" b="1">
                <a:solidFill>
                  <a:srgbClr val="0000FF"/>
                </a:solid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97283" name="Rectangle 3"/>
          <p:cNvSpPr>
            <a:spLocks noChangeArrowheads="1"/>
          </p:cNvSpPr>
          <p:nvPr/>
        </p:nvSpPr>
        <p:spPr bwMode="auto">
          <a:xfrm>
            <a:off x="1069975" y="1784350"/>
            <a:ext cx="8074025"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lvl="1" eaLnBrk="0" hangingPunct="0">
              <a:spcBef>
                <a:spcPct val="50000"/>
              </a:spcBef>
            </a:pPr>
            <a:r>
              <a:rPr lang="en-US" sz="2800" b="1">
                <a:solidFill>
                  <a:srgbClr val="0000FF"/>
                </a:solidFill>
              </a:rPr>
              <a:t>B.  Scope</a:t>
            </a:r>
          </a:p>
          <a:p>
            <a:pPr eaLnBrk="0" hangingPunct="0">
              <a:spcBef>
                <a:spcPct val="50000"/>
              </a:spcBef>
            </a:pPr>
            <a:r>
              <a:rPr lang="en-US" sz="2800" b="1">
                <a:solidFill>
                  <a:srgbClr val="0000FF"/>
                </a:solidFill>
              </a:rPr>
              <a:t>	</a:t>
            </a:r>
          </a:p>
        </p:txBody>
      </p:sp>
      <p:sp>
        <p:nvSpPr>
          <p:cNvPr id="97284" name="Text Box 4"/>
          <p:cNvSpPr txBox="1">
            <a:spLocks noChangeArrowheads="1"/>
          </p:cNvSpPr>
          <p:nvPr/>
        </p:nvSpPr>
        <p:spPr bwMode="auto">
          <a:xfrm>
            <a:off x="1357313" y="3305175"/>
            <a:ext cx="6569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en-US"/>
          </a:p>
        </p:txBody>
      </p:sp>
      <p:sp>
        <p:nvSpPr>
          <p:cNvPr id="97285" name="Text Box 5"/>
          <p:cNvSpPr txBox="1">
            <a:spLocks noChangeArrowheads="1"/>
          </p:cNvSpPr>
          <p:nvPr/>
        </p:nvSpPr>
        <p:spPr bwMode="auto">
          <a:xfrm>
            <a:off x="1889125" y="3581400"/>
            <a:ext cx="6111875"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Origin of the need</a:t>
            </a:r>
          </a:p>
          <a:p>
            <a:pPr>
              <a:buFontTx/>
              <a:buChar char="•"/>
            </a:pPr>
            <a:r>
              <a:rPr lang="en-US"/>
              <a:t> who and what triggered the request for this software development activity</a:t>
            </a:r>
          </a:p>
          <a:p>
            <a:pPr>
              <a:buFontTx/>
              <a:buChar char="•"/>
            </a:pPr>
            <a:r>
              <a:rPr lang="en-US"/>
              <a:t> gives developers an understanding of the goals for the proposed system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98307" name="Rectangle 3"/>
          <p:cNvSpPr>
            <a:spLocks noChangeArrowheads="1"/>
          </p:cNvSpPr>
          <p:nvPr/>
        </p:nvSpPr>
        <p:spPr bwMode="auto">
          <a:xfrm>
            <a:off x="1069975" y="1784350"/>
            <a:ext cx="8074025"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lvl="1" eaLnBrk="0" hangingPunct="0">
              <a:spcBef>
                <a:spcPct val="50000"/>
              </a:spcBef>
            </a:pPr>
            <a:r>
              <a:rPr lang="en-US" sz="2800" b="1">
                <a:solidFill>
                  <a:srgbClr val="0000FF"/>
                </a:solidFill>
              </a:rPr>
              <a:t>B. Scope</a:t>
            </a:r>
          </a:p>
          <a:p>
            <a:pPr eaLnBrk="0" hangingPunct="0">
              <a:spcBef>
                <a:spcPct val="50000"/>
              </a:spcBef>
            </a:pPr>
            <a:r>
              <a:rPr lang="en-US" sz="2800" b="1">
                <a:solidFill>
                  <a:srgbClr val="0000FF"/>
                </a:solidFill>
              </a:rPr>
              <a:t>	</a:t>
            </a:r>
          </a:p>
        </p:txBody>
      </p:sp>
      <p:sp>
        <p:nvSpPr>
          <p:cNvPr id="98308" name="Text Box 4"/>
          <p:cNvSpPr txBox="1">
            <a:spLocks noChangeArrowheads="1"/>
          </p:cNvSpPr>
          <p:nvPr/>
        </p:nvSpPr>
        <p:spPr bwMode="auto">
          <a:xfrm>
            <a:off x="1357313" y="3305175"/>
            <a:ext cx="6569075"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t>High-level functionality </a:t>
            </a:r>
          </a:p>
          <a:p>
            <a:pPr eaLnBrk="0" hangingPunct="0">
              <a:buFontTx/>
              <a:buChar char="•"/>
            </a:pPr>
            <a:r>
              <a:rPr lang="en-US"/>
              <a:t> defined for the system </a:t>
            </a:r>
          </a:p>
          <a:p>
            <a:pPr eaLnBrk="0" hangingPunct="0">
              <a:buFontTx/>
              <a:buChar char="•"/>
            </a:pPr>
            <a:r>
              <a:rPr lang="en-US"/>
              <a:t>  usually in list separated by commas</a:t>
            </a:r>
          </a:p>
          <a:p>
            <a:pPr eaLnBrk="0" hangingPunct="0"/>
            <a:endParaRPr lang="en-US"/>
          </a:p>
          <a:p>
            <a:pPr eaLnBrk="0" hangingPunct="0"/>
            <a:r>
              <a:rPr lang="en-US"/>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92163" name="Text Box 3"/>
          <p:cNvSpPr txBox="1">
            <a:spLocks noChangeArrowheads="1"/>
          </p:cNvSpPr>
          <p:nvPr/>
        </p:nvSpPr>
        <p:spPr bwMode="auto">
          <a:xfrm>
            <a:off x="1066800" y="2590800"/>
            <a:ext cx="6721475"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3200"/>
              <a:t>Goals are general purposes of a system.  They are fuzzy and non measurable.  </a:t>
            </a:r>
          </a:p>
          <a:p>
            <a:pPr eaLnBrk="0" hangingPunct="0"/>
            <a:endParaRPr lang="en-US" sz="3200"/>
          </a:p>
          <a:p>
            <a:r>
              <a:rPr lang="en-US"/>
              <a:t>A typical goal would be things like</a:t>
            </a:r>
          </a:p>
          <a:p>
            <a:pPr lvl="1">
              <a:buFontTx/>
              <a:buChar char="•"/>
            </a:pPr>
            <a:r>
              <a:rPr lang="en-US"/>
              <a:t>Increase customer satisfaction</a:t>
            </a:r>
          </a:p>
          <a:p>
            <a:pPr lvl="1">
              <a:buFontTx/>
              <a:buChar char="•"/>
            </a:pPr>
            <a:r>
              <a:rPr lang="en-US"/>
              <a:t>Make xyz easier for the customer</a:t>
            </a:r>
          </a:p>
          <a:p>
            <a:pPr lvl="1">
              <a:buFontTx/>
              <a:buChar char="•"/>
            </a:pPr>
            <a:r>
              <a:rPr lang="en-US"/>
              <a:t>Improve customer relationships</a:t>
            </a:r>
            <a:endParaRPr lang="en-US" sz="3200"/>
          </a:p>
          <a:p>
            <a:pPr eaLnBrk="0" hangingPunct="0"/>
            <a:endParaRPr lang="en-US" sz="3200"/>
          </a:p>
        </p:txBody>
      </p:sp>
      <p:sp>
        <p:nvSpPr>
          <p:cNvPr id="92164" name="Rectangle 4"/>
          <p:cNvSpPr>
            <a:spLocks noChangeArrowheads="1"/>
          </p:cNvSpPr>
          <p:nvPr/>
        </p:nvSpPr>
        <p:spPr bwMode="auto">
          <a:xfrm>
            <a:off x="762000" y="1281113"/>
            <a:ext cx="80740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eaLnBrk="0" hangingPunct="0">
              <a:spcBef>
                <a:spcPct val="50000"/>
              </a:spcBef>
            </a:pPr>
            <a:r>
              <a:rPr lang="en-US" sz="2800" b="1">
                <a:solidFill>
                  <a:srgbClr val="0000FF"/>
                </a:solidFill>
              </a:rPr>
              <a:t>       B. Scope</a:t>
            </a:r>
          </a:p>
          <a:p>
            <a:pPr eaLnBrk="0" hangingPunct="0">
              <a:spcBef>
                <a:spcPct val="50000"/>
              </a:spcBef>
            </a:pPr>
            <a:r>
              <a:rPr lang="en-US" sz="2800" b="1">
                <a:solidFill>
                  <a:srgbClr val="0000FF"/>
                </a:solidFill>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93187" name="Text Box 3"/>
          <p:cNvSpPr txBox="1">
            <a:spLocks noChangeArrowheads="1"/>
          </p:cNvSpPr>
          <p:nvPr/>
        </p:nvSpPr>
        <p:spPr bwMode="auto">
          <a:xfrm>
            <a:off x="1066800" y="2590800"/>
            <a:ext cx="7543800" cy="3810000"/>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2000"/>
              <a:t>The owner of a local video store wanted to create a new business plan where everything about renting a video (except the picking up and returning of videos) was done online. Therefore, the new VRS will allow the following functionality online:  to search for videos, to become members, to rent videos, to modify membership information, and to pay overdue fees. The store personnel may use the VRS to process the rented or returned videos, to add or remove videos to/from his store’s video inventory and to update video information. The VRS is intended </a:t>
            </a:r>
            <a:r>
              <a:rPr lang="en-CA" sz="2000"/>
              <a:t>to increase the owner’s profit margin by increasing video sales with this unique business approach and by allowing him to reduce the staffing needed in his stores.</a:t>
            </a:r>
            <a:r>
              <a:rPr lang="en-US" sz="2000"/>
              <a:t> </a:t>
            </a:r>
            <a:endParaRPr lang="en-US" sz="2400"/>
          </a:p>
          <a:p>
            <a:pPr eaLnBrk="0" hangingPunct="0"/>
            <a:endParaRPr lang="en-US" sz="2400"/>
          </a:p>
        </p:txBody>
      </p:sp>
      <p:sp>
        <p:nvSpPr>
          <p:cNvPr id="93188" name="Rectangle 4"/>
          <p:cNvSpPr>
            <a:spLocks noChangeArrowheads="1"/>
          </p:cNvSpPr>
          <p:nvPr/>
        </p:nvSpPr>
        <p:spPr bwMode="auto">
          <a:xfrm>
            <a:off x="762000" y="1281113"/>
            <a:ext cx="80740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2800" b="1">
                <a:solidFill>
                  <a:srgbClr val="0000FF"/>
                </a:solidFill>
              </a:rPr>
              <a:t>Introduction  </a:t>
            </a:r>
          </a:p>
          <a:p>
            <a:pPr eaLnBrk="0" hangingPunct="0">
              <a:spcBef>
                <a:spcPct val="50000"/>
              </a:spcBef>
            </a:pPr>
            <a:r>
              <a:rPr lang="en-US" sz="2800" b="1">
                <a:solidFill>
                  <a:srgbClr val="0000FF"/>
                </a:solidFill>
              </a:rPr>
              <a:t>       B. Scope</a:t>
            </a:r>
          </a:p>
          <a:p>
            <a:pPr eaLnBrk="0" hangingPunct="0">
              <a:spcBef>
                <a:spcPct val="50000"/>
              </a:spcBef>
            </a:pPr>
            <a:r>
              <a:rPr lang="en-US" sz="2800" b="1">
                <a:solidFill>
                  <a:srgbClr val="0000FF"/>
                </a:solidFill>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1507" name="Rectangle 3"/>
          <p:cNvSpPr>
            <a:spLocks noChangeArrowheads="1"/>
          </p:cNvSpPr>
          <p:nvPr/>
        </p:nvSpPr>
        <p:spPr bwMode="auto">
          <a:xfrm>
            <a:off x="838200" y="715963"/>
            <a:ext cx="8074025" cy="243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pPr>
            <a:endParaRPr lang="en-US" sz="2800" b="1">
              <a:solidFill>
                <a:srgbClr val="0000FF"/>
              </a:solidFill>
            </a:endParaRPr>
          </a:p>
          <a:p>
            <a:pPr eaLnBrk="0" hangingPunct="0">
              <a:spcBef>
                <a:spcPct val="50000"/>
              </a:spcBef>
              <a:buFontTx/>
              <a:buAutoNum type="romanUcPeriod"/>
            </a:pPr>
            <a:r>
              <a:rPr lang="en-US" sz="2800" b="1">
                <a:solidFill>
                  <a:srgbClr val="0000FF"/>
                </a:solidFill>
              </a:rPr>
              <a:t>Introduction  </a:t>
            </a:r>
          </a:p>
          <a:p>
            <a:pPr lvl="1" eaLnBrk="0" hangingPunct="0">
              <a:spcBef>
                <a:spcPct val="50000"/>
              </a:spcBef>
            </a:pPr>
            <a:r>
              <a:rPr lang="en-US" sz="2800" b="1">
                <a:solidFill>
                  <a:srgbClr val="0000FF"/>
                </a:solidFill>
              </a:rPr>
              <a:t>C. Definitions, Acronyms..</a:t>
            </a:r>
          </a:p>
          <a:p>
            <a:pPr eaLnBrk="0" hangingPunct="0">
              <a:spcBef>
                <a:spcPct val="50000"/>
              </a:spcBef>
            </a:pPr>
            <a:r>
              <a:rPr lang="en-US" sz="2800" b="1">
                <a:solidFill>
                  <a:srgbClr val="0000FF"/>
                </a:solidFill>
              </a:rPr>
              <a:t>	</a:t>
            </a:r>
          </a:p>
        </p:txBody>
      </p:sp>
      <p:sp>
        <p:nvSpPr>
          <p:cNvPr id="21508" name="Text Box 4"/>
          <p:cNvSpPr txBox="1">
            <a:spLocks noChangeArrowheads="1"/>
          </p:cNvSpPr>
          <p:nvPr/>
        </p:nvSpPr>
        <p:spPr bwMode="auto">
          <a:xfrm>
            <a:off x="990600" y="3352800"/>
            <a:ext cx="73914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t>As you begin to define a system, you will encounter words which need definition and general usage acronyms.  These should be documented for new personnel and for clarity of all concerned parties.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3795" name="Rectangle 3"/>
          <p:cNvSpPr>
            <a:spLocks noChangeArrowheads="1"/>
          </p:cNvSpPr>
          <p:nvPr/>
        </p:nvSpPr>
        <p:spPr bwMode="auto">
          <a:xfrm>
            <a:off x="838200" y="715963"/>
            <a:ext cx="80740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endParaRPr lang="en-US" b="1">
              <a:solidFill>
                <a:srgbClr val="0000FF"/>
              </a:solidFill>
            </a:endParaRPr>
          </a:p>
          <a:p>
            <a:pPr eaLnBrk="0" hangingPunct="0">
              <a:spcBef>
                <a:spcPct val="50000"/>
              </a:spcBef>
            </a:pPr>
            <a:r>
              <a:rPr lang="en-US" b="1">
                <a:solidFill>
                  <a:srgbClr val="0000FF"/>
                </a:solidFill>
              </a:rPr>
              <a:t>I.  Introduction  C Definitions, Acronyms..</a:t>
            </a:r>
          </a:p>
          <a:p>
            <a:pPr eaLnBrk="0" hangingPunct="0">
              <a:spcBef>
                <a:spcPct val="50000"/>
              </a:spcBef>
            </a:pPr>
            <a:r>
              <a:rPr lang="en-US" b="1">
                <a:solidFill>
                  <a:srgbClr val="0000FF"/>
                </a:solidFill>
              </a:rPr>
              <a:t>	</a:t>
            </a:r>
          </a:p>
        </p:txBody>
      </p:sp>
      <p:sp>
        <p:nvSpPr>
          <p:cNvPr id="33798" name="Text Box 6"/>
          <p:cNvSpPr txBox="1">
            <a:spLocks noChangeArrowheads="1"/>
          </p:cNvSpPr>
          <p:nvPr/>
        </p:nvSpPr>
        <p:spPr bwMode="auto">
          <a:xfrm>
            <a:off x="914400" y="2990850"/>
            <a:ext cx="7467600" cy="26479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b="1" i="1"/>
              <a:t>FSU – Florida State University</a:t>
            </a:r>
          </a:p>
          <a:p>
            <a:pPr eaLnBrk="0" hangingPunct="0">
              <a:spcBef>
                <a:spcPct val="50000"/>
              </a:spcBef>
            </a:pPr>
            <a:r>
              <a:rPr lang="en-US" sz="2400" b="1" i="1"/>
              <a:t>CS - Computer Science</a:t>
            </a:r>
          </a:p>
          <a:p>
            <a:pPr eaLnBrk="0" hangingPunct="0">
              <a:spcBef>
                <a:spcPct val="50000"/>
              </a:spcBef>
            </a:pPr>
            <a:r>
              <a:rPr lang="en-US" sz="2400" b="1" i="1"/>
              <a:t>MSES - Masters in Software Engineering Science</a:t>
            </a:r>
          </a:p>
          <a:p>
            <a:pPr eaLnBrk="0" hangingPunct="0">
              <a:spcBef>
                <a:spcPct val="50000"/>
              </a:spcBef>
            </a:pPr>
            <a:r>
              <a:rPr lang="en-US" sz="2400" b="1" i="1"/>
              <a:t>DOE - Department of Education</a:t>
            </a:r>
          </a:p>
          <a:p>
            <a:pPr eaLnBrk="0" hangingPunct="0">
              <a:spcBef>
                <a:spcPct val="50000"/>
              </a:spcBef>
            </a:pPr>
            <a:r>
              <a:rPr lang="en-US" sz="2400" b="1" i="1"/>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2531" name="Rectangle 3"/>
          <p:cNvSpPr>
            <a:spLocks noChangeArrowheads="1"/>
          </p:cNvSpPr>
          <p:nvPr/>
        </p:nvSpPr>
        <p:spPr bwMode="auto">
          <a:xfrm>
            <a:off x="1066800" y="1509713"/>
            <a:ext cx="6627813"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3200" b="1">
                <a:solidFill>
                  <a:srgbClr val="0000FF"/>
                </a:solidFill>
              </a:rPr>
              <a:t>Introduction  </a:t>
            </a:r>
          </a:p>
          <a:p>
            <a:pPr lvl="1" eaLnBrk="0" hangingPunct="0">
              <a:spcBef>
                <a:spcPct val="50000"/>
              </a:spcBef>
            </a:pPr>
            <a:r>
              <a:rPr lang="en-US" sz="3200" b="1">
                <a:solidFill>
                  <a:srgbClr val="0000FF"/>
                </a:solidFill>
              </a:rPr>
              <a:t>D. References</a:t>
            </a:r>
          </a:p>
        </p:txBody>
      </p:sp>
      <p:sp>
        <p:nvSpPr>
          <p:cNvPr id="22532" name="Text Box 4"/>
          <p:cNvSpPr txBox="1">
            <a:spLocks noChangeArrowheads="1"/>
          </p:cNvSpPr>
          <p:nvPr/>
        </p:nvSpPr>
        <p:spPr bwMode="auto">
          <a:xfrm>
            <a:off x="1066800" y="3259138"/>
            <a:ext cx="70866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t>Many references may be used to define existing systems, procedures (both new and old), documents and their requirements, or previous system endeavors.  These references are listed here for others. </a:t>
            </a:r>
          </a:p>
          <a:p>
            <a:pPr eaLnBrk="0" hangingPunct="0"/>
            <a:endParaRPr lang="en-US"/>
          </a:p>
          <a:p>
            <a:pPr eaLnBrk="0" hangingPunct="0"/>
            <a:r>
              <a:rPr lang="en-US"/>
              <a:t>If any of these references are provided in the appendices, it should be noted here.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4819" name="Rectangle 3"/>
          <p:cNvSpPr>
            <a:spLocks noChangeArrowheads="1"/>
          </p:cNvSpPr>
          <p:nvPr/>
        </p:nvSpPr>
        <p:spPr bwMode="auto">
          <a:xfrm>
            <a:off x="1066800" y="1509713"/>
            <a:ext cx="662781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200" b="1">
                <a:solidFill>
                  <a:srgbClr val="0000FF"/>
                </a:solidFill>
              </a:rPr>
              <a:t>I.  Introduction  D References</a:t>
            </a:r>
          </a:p>
        </p:txBody>
      </p:sp>
      <p:sp>
        <p:nvSpPr>
          <p:cNvPr id="34821" name="Text Box 5"/>
          <p:cNvSpPr txBox="1">
            <a:spLocks noChangeArrowheads="1"/>
          </p:cNvSpPr>
          <p:nvPr/>
        </p:nvSpPr>
        <p:spPr bwMode="auto">
          <a:xfrm>
            <a:off x="533400" y="2438400"/>
            <a:ext cx="7772400" cy="41513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b="1" i="1"/>
              <a:t>Clerk - Personnel staff who is working in a video store</a:t>
            </a:r>
          </a:p>
          <a:p>
            <a:pPr eaLnBrk="0" hangingPunct="0">
              <a:spcBef>
                <a:spcPct val="50000"/>
              </a:spcBef>
            </a:pPr>
            <a:r>
              <a:rPr lang="en-US" b="1" i="1"/>
              <a:t>Customer - Anyone who interacts with the VRS with becoming a member</a:t>
            </a:r>
          </a:p>
          <a:p>
            <a:pPr eaLnBrk="0" hangingPunct="0">
              <a:spcBef>
                <a:spcPct val="50000"/>
              </a:spcBef>
            </a:pPr>
            <a:r>
              <a:rPr lang="en-US" b="1" i="1"/>
              <a:t>Functional requirement - A service provided by the software system</a:t>
            </a:r>
          </a:p>
          <a:p>
            <a:pPr eaLnBrk="0" hangingPunct="0">
              <a:spcBef>
                <a:spcPct val="50000"/>
              </a:spcBef>
            </a:pPr>
            <a:r>
              <a:rPr lang="en-US" b="1" i="1"/>
              <a:t>Member - Anyone who registers with the VRS to acquire membership in the video store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685800" y="609600"/>
            <a:ext cx="7772400" cy="944563"/>
          </a:xfrm>
        </p:spPr>
        <p:txBody>
          <a:bodyPr/>
          <a:lstStyle/>
          <a:p>
            <a:r>
              <a:rPr lang="en-US"/>
              <a:t>Section I of SRS</a:t>
            </a:r>
          </a:p>
        </p:txBody>
      </p:sp>
      <p:graphicFrame>
        <p:nvGraphicFramePr>
          <p:cNvPr id="104451" name="Group 3"/>
          <p:cNvGraphicFramePr>
            <a:graphicFrameLocks noGrp="1"/>
          </p:cNvGraphicFramePr>
          <p:nvPr>
            <p:ph type="tbl" idx="1"/>
          </p:nvPr>
        </p:nvGraphicFramePr>
        <p:xfrm>
          <a:off x="457200" y="1600200"/>
          <a:ext cx="8229600" cy="4644390"/>
        </p:xfrm>
        <a:graphic>
          <a:graphicData uri="http://schemas.openxmlformats.org/drawingml/2006/table">
            <a:tbl>
              <a:tblPr/>
              <a:tblGrid>
                <a:gridCol w="5029200"/>
                <a:gridCol w="3200400"/>
              </a:tblGrid>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I.A Purpose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I.B Scope of the System Specified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6463">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I.C Definitions, Acronyms, and Abbreviations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Table form or bulleted list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I.D References to Supporting Documents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Bulleted list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I.E Overview of rest of SRS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dirty="0">
                <a:solidFill>
                  <a:schemeClr val="accent2"/>
                </a:solidFill>
              </a:rPr>
              <a:t>Systems Requirements Specification</a:t>
            </a:r>
          </a:p>
        </p:txBody>
      </p:sp>
      <p:sp>
        <p:nvSpPr>
          <p:cNvPr id="23555" name="Rectangle 3"/>
          <p:cNvSpPr>
            <a:spLocks noChangeArrowheads="1"/>
          </p:cNvSpPr>
          <p:nvPr/>
        </p:nvSpPr>
        <p:spPr bwMode="auto">
          <a:xfrm>
            <a:off x="838200" y="1571625"/>
            <a:ext cx="8074025"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609600" indent="-609600">
              <a:defRPr sz="2400">
                <a:solidFill>
                  <a:schemeClr val="tx1"/>
                </a:solidFill>
                <a:latin typeface="Times New Roman" panose="02020603050405020304" pitchFamily="18" charset="0"/>
              </a:defRPr>
            </a:lvl1pPr>
            <a:lvl2pPr marL="1066800" indent="-609600">
              <a:defRPr sz="2400">
                <a:solidFill>
                  <a:schemeClr val="tx1"/>
                </a:solidFill>
                <a:latin typeface="Times New Roman" panose="02020603050405020304" pitchFamily="18" charset="0"/>
              </a:defRPr>
            </a:lvl2pPr>
            <a:lvl3pPr marL="1524000" indent="-609600">
              <a:defRPr sz="2400">
                <a:solidFill>
                  <a:schemeClr val="tx1"/>
                </a:solidFill>
                <a:latin typeface="Times New Roman" panose="02020603050405020304" pitchFamily="18" charset="0"/>
              </a:defRPr>
            </a:lvl3pPr>
            <a:lvl4pPr marL="1981200" indent="-609600">
              <a:defRPr sz="2400">
                <a:solidFill>
                  <a:schemeClr val="tx1"/>
                </a:solidFill>
                <a:latin typeface="Times New Roman" panose="02020603050405020304" pitchFamily="18" charset="0"/>
              </a:defRPr>
            </a:lvl4pPr>
            <a:lvl5pPr marL="2438400" indent="-609600">
              <a:defRPr sz="2400">
                <a:solidFill>
                  <a:schemeClr val="tx1"/>
                </a:solidFill>
                <a:latin typeface="Times New Roman" panose="02020603050405020304" pitchFamily="18" charset="0"/>
              </a:defRPr>
            </a:lvl5pPr>
            <a:lvl6pPr marL="2895600" indent="-609600" fontAlgn="base">
              <a:spcBef>
                <a:spcPct val="0"/>
              </a:spcBef>
              <a:spcAft>
                <a:spcPct val="0"/>
              </a:spcAft>
              <a:defRPr sz="2400">
                <a:solidFill>
                  <a:schemeClr val="tx1"/>
                </a:solidFill>
                <a:latin typeface="Times New Roman" panose="02020603050405020304" pitchFamily="18" charset="0"/>
              </a:defRPr>
            </a:lvl6pPr>
            <a:lvl7pPr marL="3352800" indent="-609600" fontAlgn="base">
              <a:spcBef>
                <a:spcPct val="0"/>
              </a:spcBef>
              <a:spcAft>
                <a:spcPct val="0"/>
              </a:spcAft>
              <a:defRPr sz="2400">
                <a:solidFill>
                  <a:schemeClr val="tx1"/>
                </a:solidFill>
                <a:latin typeface="Times New Roman" panose="02020603050405020304" pitchFamily="18" charset="0"/>
              </a:defRPr>
            </a:lvl7pPr>
            <a:lvl8pPr marL="3810000" indent="-609600" fontAlgn="base">
              <a:spcBef>
                <a:spcPct val="0"/>
              </a:spcBef>
              <a:spcAft>
                <a:spcPct val="0"/>
              </a:spcAft>
              <a:defRPr sz="2400">
                <a:solidFill>
                  <a:schemeClr val="tx1"/>
                </a:solidFill>
                <a:latin typeface="Times New Roman" panose="02020603050405020304" pitchFamily="18" charset="0"/>
              </a:defRPr>
            </a:lvl8pPr>
            <a:lvl9pPr marL="4267200" indent="-609600" fontAlgn="base">
              <a:spcBef>
                <a:spcPct val="0"/>
              </a:spcBef>
              <a:spcAft>
                <a:spcPct val="0"/>
              </a:spcAft>
              <a:defRPr sz="2400">
                <a:solidFill>
                  <a:schemeClr val="tx1"/>
                </a:solidFill>
                <a:latin typeface="Times New Roman" panose="02020603050405020304" pitchFamily="18" charset="0"/>
              </a:defRPr>
            </a:lvl9pPr>
          </a:lstStyle>
          <a:p>
            <a:pPr eaLnBrk="0" hangingPunct="0">
              <a:spcBef>
                <a:spcPct val="50000"/>
              </a:spcBef>
              <a:buFontTx/>
              <a:buAutoNum type="romanUcPeriod"/>
            </a:pPr>
            <a:r>
              <a:rPr lang="en-US" sz="3200" b="1">
                <a:solidFill>
                  <a:srgbClr val="0000FF"/>
                </a:solidFill>
              </a:rPr>
              <a:t>Introduction  </a:t>
            </a:r>
          </a:p>
          <a:p>
            <a:pPr lvl="1" eaLnBrk="0" hangingPunct="0">
              <a:spcBef>
                <a:spcPct val="50000"/>
              </a:spcBef>
            </a:pPr>
            <a:r>
              <a:rPr lang="en-US" sz="3200" b="1">
                <a:solidFill>
                  <a:srgbClr val="0000FF"/>
                </a:solidFill>
              </a:rPr>
              <a:t>E. Overview	</a:t>
            </a:r>
          </a:p>
        </p:txBody>
      </p:sp>
      <p:sp>
        <p:nvSpPr>
          <p:cNvPr id="23556" name="Text Box 4"/>
          <p:cNvSpPr txBox="1">
            <a:spLocks noChangeArrowheads="1"/>
          </p:cNvSpPr>
          <p:nvPr/>
        </p:nvSpPr>
        <p:spPr bwMode="auto">
          <a:xfrm>
            <a:off x="914400" y="3503613"/>
            <a:ext cx="73914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t>This section defines the organization of the entire document.  It will lay the framework for reading the document.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5843" name="Rectangle 3"/>
          <p:cNvSpPr>
            <a:spLocks noChangeArrowheads="1"/>
          </p:cNvSpPr>
          <p:nvPr/>
        </p:nvSpPr>
        <p:spPr bwMode="auto">
          <a:xfrm>
            <a:off x="838200" y="1571625"/>
            <a:ext cx="807402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200" b="1">
                <a:solidFill>
                  <a:srgbClr val="0000FF"/>
                </a:solidFill>
              </a:rPr>
              <a:t>I.  Introduction  E Overview	</a:t>
            </a:r>
          </a:p>
        </p:txBody>
      </p:sp>
      <p:sp>
        <p:nvSpPr>
          <p:cNvPr id="35845" name="Text Box 5"/>
          <p:cNvSpPr txBox="1">
            <a:spLocks noChangeArrowheads="1"/>
          </p:cNvSpPr>
          <p:nvPr/>
        </p:nvSpPr>
        <p:spPr bwMode="auto">
          <a:xfrm>
            <a:off x="914400" y="3227388"/>
            <a:ext cx="6858000" cy="3081337"/>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b="1" i="1"/>
              <a:t>Section 2 of the SRS describes the product in more detail. Section 3 provides a complete list of the functional requirements of the intended system. Section 4 provides the non-functional requirements. Section 5 shows the class diagram, and Section 6 the use case diagram. The appendices appear next.</a:t>
            </a:r>
            <a:r>
              <a:rPr lang="en-US"/>
              <a:t> </a:t>
            </a:r>
            <a:endParaRPr lang="en-US" b="1" i="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5603" name="Rectangle 3"/>
          <p:cNvSpPr>
            <a:spLocks noChangeArrowheads="1"/>
          </p:cNvSpPr>
          <p:nvPr/>
        </p:nvSpPr>
        <p:spPr bwMode="auto">
          <a:xfrm>
            <a:off x="914400" y="1617663"/>
            <a:ext cx="807402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600" b="1">
                <a:solidFill>
                  <a:srgbClr val="0000FF"/>
                </a:solidFill>
              </a:rPr>
              <a:t>II.  General Description	</a:t>
            </a:r>
          </a:p>
        </p:txBody>
      </p:sp>
      <p:sp>
        <p:nvSpPr>
          <p:cNvPr id="25606" name="Rectangle 6"/>
          <p:cNvSpPr>
            <a:spLocks noChangeArrowheads="1"/>
          </p:cNvSpPr>
          <p:nvPr/>
        </p:nvSpPr>
        <p:spPr bwMode="auto">
          <a:xfrm>
            <a:off x="1447800" y="2286000"/>
            <a:ext cx="6934200"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endParaRPr lang="en-US" sz="3200" b="1"/>
          </a:p>
          <a:p>
            <a:pPr eaLnBrk="0" hangingPunct="0">
              <a:spcBef>
                <a:spcPct val="50000"/>
              </a:spcBef>
            </a:pPr>
            <a:r>
              <a:rPr lang="en-US" sz="3200" b="1"/>
              <a:t>	      A  Product Perspective</a:t>
            </a:r>
          </a:p>
          <a:p>
            <a:pPr eaLnBrk="0" hangingPunct="0">
              <a:spcBef>
                <a:spcPct val="50000"/>
              </a:spcBef>
            </a:pPr>
            <a:r>
              <a:rPr lang="en-US" sz="3200" b="1"/>
              <a:t>	      B  Product Functions</a:t>
            </a:r>
          </a:p>
          <a:p>
            <a:pPr eaLnBrk="0" hangingPunct="0">
              <a:spcBef>
                <a:spcPct val="50000"/>
              </a:spcBef>
            </a:pPr>
            <a:r>
              <a:rPr lang="en-US" sz="3200" b="1"/>
              <a:t>	      C  User Characteristics</a:t>
            </a:r>
          </a:p>
          <a:p>
            <a:pPr eaLnBrk="0" hangingPunct="0">
              <a:spcBef>
                <a:spcPct val="50000"/>
              </a:spcBef>
            </a:pPr>
            <a:r>
              <a:rPr lang="en-US" sz="3200" b="1"/>
              <a:t>	      D  General Constraints</a:t>
            </a:r>
          </a:p>
          <a:p>
            <a:pPr eaLnBrk="0" hangingPunct="0">
              <a:spcBef>
                <a:spcPct val="50000"/>
              </a:spcBef>
            </a:pPr>
            <a:r>
              <a:rPr lang="en-US" sz="3200" b="1"/>
              <a:t>	      E  Assumptions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6627" name="Rectangle 3"/>
          <p:cNvSpPr>
            <a:spLocks noChangeArrowheads="1"/>
          </p:cNvSpPr>
          <p:nvPr/>
        </p:nvSpPr>
        <p:spPr bwMode="auto">
          <a:xfrm>
            <a:off x="304800" y="1312863"/>
            <a:ext cx="84582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200" b="1">
                <a:solidFill>
                  <a:srgbClr val="0000FF"/>
                </a:solidFill>
              </a:rPr>
              <a:t>II  General Description  </a:t>
            </a:r>
          </a:p>
          <a:p>
            <a:pPr eaLnBrk="0" hangingPunct="0">
              <a:spcBef>
                <a:spcPct val="50000"/>
              </a:spcBef>
            </a:pPr>
            <a:r>
              <a:rPr lang="en-US" sz="3200" b="1">
                <a:solidFill>
                  <a:srgbClr val="0000FF"/>
                </a:solidFill>
              </a:rPr>
              <a:t>A  Product Perspective</a:t>
            </a:r>
          </a:p>
        </p:txBody>
      </p:sp>
      <p:sp>
        <p:nvSpPr>
          <p:cNvPr id="26629" name="Rectangle 5"/>
          <p:cNvSpPr>
            <a:spLocks noChangeArrowheads="1"/>
          </p:cNvSpPr>
          <p:nvPr/>
        </p:nvSpPr>
        <p:spPr bwMode="auto">
          <a:xfrm>
            <a:off x="1447800" y="3281363"/>
            <a:ext cx="70104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b="1"/>
              <a:t>This defines the relationship this product has in the entire spectrum of products.</a:t>
            </a:r>
          </a:p>
          <a:p>
            <a:pPr eaLnBrk="0" hangingPunct="0">
              <a:spcBef>
                <a:spcPct val="50000"/>
              </a:spcBef>
            </a:pPr>
            <a:r>
              <a:rPr lang="en-US" sz="2400" b="1"/>
              <a:t>It defines who will be responsible for the product and what business purpose it serves.  </a:t>
            </a:r>
          </a:p>
          <a:p>
            <a:pPr eaLnBrk="0" hangingPunct="0">
              <a:spcBef>
                <a:spcPct val="50000"/>
              </a:spcBef>
            </a:pPr>
            <a:r>
              <a:rPr lang="en-US" sz="2400" b="1"/>
              <a:t>It also defines what interfaces it may have to other systems.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8915" name="Rectangle 3"/>
          <p:cNvSpPr>
            <a:spLocks noChangeArrowheads="1"/>
          </p:cNvSpPr>
          <p:nvPr/>
        </p:nvSpPr>
        <p:spPr bwMode="auto">
          <a:xfrm>
            <a:off x="304800" y="1312863"/>
            <a:ext cx="84582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sz="3200" b="1">
                <a:solidFill>
                  <a:srgbClr val="0000FF"/>
                </a:solidFill>
              </a:rPr>
              <a:t>II  General Description  </a:t>
            </a:r>
          </a:p>
          <a:p>
            <a:pPr eaLnBrk="0" hangingPunct="0">
              <a:spcBef>
                <a:spcPct val="50000"/>
              </a:spcBef>
            </a:pPr>
            <a:r>
              <a:rPr lang="en-US" sz="3200" b="1">
                <a:solidFill>
                  <a:srgbClr val="0000FF"/>
                </a:solidFill>
              </a:rPr>
              <a:t>A  Product Perspective</a:t>
            </a:r>
          </a:p>
        </p:txBody>
      </p:sp>
      <p:sp>
        <p:nvSpPr>
          <p:cNvPr id="38916" name="Text Box 4"/>
          <p:cNvSpPr txBox="1">
            <a:spLocks noChangeArrowheads="1"/>
          </p:cNvSpPr>
          <p:nvPr/>
        </p:nvSpPr>
        <p:spPr bwMode="auto">
          <a:xfrm>
            <a:off x="381000" y="2803525"/>
            <a:ext cx="8229600" cy="308133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b="1" i="1"/>
              <a:t>The VRS is a web-based system. The system interfaces with two other systems, the owner’s email system, the video distributor’s video system, and the browsers used by VRS customers. The system provides a secure environment for all financial transactions and for the storing and retrieving of confidential member information.</a:t>
            </a:r>
            <a:r>
              <a:rPr lang="en-US"/>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7651" name="Rectangle 3"/>
          <p:cNvSpPr>
            <a:spLocks noChangeArrowheads="1"/>
          </p:cNvSpPr>
          <p:nvPr/>
        </p:nvSpPr>
        <p:spPr bwMode="auto">
          <a:xfrm>
            <a:off x="457200" y="1236663"/>
            <a:ext cx="80740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B Product Functions</a:t>
            </a:r>
          </a:p>
        </p:txBody>
      </p:sp>
      <p:sp>
        <p:nvSpPr>
          <p:cNvPr id="27652" name="Rectangle 4"/>
          <p:cNvSpPr>
            <a:spLocks noChangeArrowheads="1"/>
          </p:cNvSpPr>
          <p:nvPr/>
        </p:nvSpPr>
        <p:spPr bwMode="auto">
          <a:xfrm>
            <a:off x="381000" y="2133600"/>
            <a:ext cx="8458200" cy="30130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b="1"/>
              <a:t>This section lists the major functions of the system. </a:t>
            </a:r>
          </a:p>
          <a:p>
            <a:pPr eaLnBrk="0" hangingPunct="0">
              <a:spcBef>
                <a:spcPct val="50000"/>
              </a:spcBef>
            </a:pPr>
            <a:r>
              <a:rPr lang="en-US" sz="2400" b="1"/>
              <a:t>It provides a summary of all the functions of the software. The functions should be organized in a way that makes the list of functions understandable to the customer or to anyone else reading the document for the first time.</a:t>
            </a:r>
            <a:r>
              <a:rPr lang="en-US" sz="2400"/>
              <a:t> </a:t>
            </a:r>
          </a:p>
          <a:p>
            <a:pPr eaLnBrk="0" hangingPunct="0">
              <a:spcBef>
                <a:spcPct val="50000"/>
              </a:spcBef>
            </a:pPr>
            <a:r>
              <a:rPr lang="en-US" sz="2400" b="1"/>
              <a:t>This section should be consistent with the functional requirements defined in Section III.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6867" name="Rectangle 3"/>
          <p:cNvSpPr>
            <a:spLocks noChangeArrowheads="1"/>
          </p:cNvSpPr>
          <p:nvPr/>
        </p:nvSpPr>
        <p:spPr bwMode="auto">
          <a:xfrm>
            <a:off x="457200" y="1236663"/>
            <a:ext cx="80740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 B Product Functions</a:t>
            </a:r>
          </a:p>
        </p:txBody>
      </p:sp>
      <p:sp>
        <p:nvSpPr>
          <p:cNvPr id="36869" name="Text Box 5"/>
          <p:cNvSpPr txBox="1">
            <a:spLocks noChangeArrowheads="1"/>
          </p:cNvSpPr>
          <p:nvPr/>
        </p:nvSpPr>
        <p:spPr bwMode="auto">
          <a:xfrm>
            <a:off x="457200" y="1889125"/>
            <a:ext cx="7797800" cy="46640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b="1" i="1"/>
              <a:t>	The VRS allows customers to search the video inventory provided by this video store. To rent videos through the VRS, one must register as a member using the VRS. Upon becoming a member and logging into the VRS, the VRS provides the functionality for renting videos, modifying membership information, and paying overdue fines.</a:t>
            </a:r>
          </a:p>
          <a:p>
            <a:r>
              <a:rPr lang="en-US" sz="2000" b="1" i="1"/>
              <a:t>	The clerks of the video store use VRS to process the return of rented videos. The owner of the video store uses VRS to add new videos into the system, remove videos from the system, and modify video information.</a:t>
            </a:r>
          </a:p>
          <a:p>
            <a:r>
              <a:rPr lang="en-US" sz="2000" b="1" i="1"/>
              <a:t>	The VRS sends emails to members concerning video rentals. One day before a rented video is due to be returned, VRS emails the member a reminder of the due date for the video(s). For any overdue videos, VRS emails the member every 3rd day with overdue notices. At the 60-day limit for outstanding videos, VRS debits the member’s credit card with the appropriate charge and notifies the member of this charge.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8675" name="Rectangle 3"/>
          <p:cNvSpPr>
            <a:spLocks noChangeArrowheads="1"/>
          </p:cNvSpPr>
          <p:nvPr/>
        </p:nvSpPr>
        <p:spPr bwMode="auto">
          <a:xfrm>
            <a:off x="533400" y="2743200"/>
            <a:ext cx="7996238" cy="350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List the users involved with the proposed system including the general characteristics of eventual users (for example, educational background, amount of product training). </a:t>
            </a:r>
          </a:p>
          <a:p>
            <a:pPr eaLnBrk="0" hangingPunct="0">
              <a:spcBef>
                <a:spcPct val="50000"/>
              </a:spcBef>
            </a:pPr>
            <a:r>
              <a:rPr lang="en-US"/>
              <a:t>List the responsibility of each type of user involved, if needed.</a:t>
            </a:r>
          </a:p>
          <a:p>
            <a:pPr eaLnBrk="0" hangingPunct="0">
              <a:spcBef>
                <a:spcPct val="50000"/>
              </a:spcBef>
            </a:pPr>
            <a:endParaRPr lang="en-US"/>
          </a:p>
        </p:txBody>
      </p:sp>
      <p:sp>
        <p:nvSpPr>
          <p:cNvPr id="28676" name="Rectangle 4"/>
          <p:cNvSpPr>
            <a:spLocks noChangeArrowheads="1"/>
          </p:cNvSpPr>
          <p:nvPr/>
        </p:nvSpPr>
        <p:spPr bwMode="auto">
          <a:xfrm>
            <a:off x="457200" y="1922463"/>
            <a:ext cx="80740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 C User Characteristics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7892" name="Text Box 4"/>
          <p:cNvSpPr txBox="1">
            <a:spLocks noChangeArrowheads="1"/>
          </p:cNvSpPr>
          <p:nvPr/>
        </p:nvSpPr>
        <p:spPr bwMode="auto">
          <a:xfrm>
            <a:off x="914400" y="2209800"/>
            <a:ext cx="7543800" cy="46640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b="1" i="1"/>
              <a:t>	The three main groups of VRS users are customers, members, and store personnel. A customer is anyone who is not a member. The customer can only search through the video inventory. The amount of product training needed for a customer is none since the level of technical expertise and educational background is unknown. The only skill needed by a customer is the ability to browse a website. </a:t>
            </a:r>
          </a:p>
          <a:p>
            <a:r>
              <a:rPr lang="en-US" sz="2000" b="1" i="1"/>
              <a:t>	Member is someone who has registered with VRS. A member can rent videos and pay fees online. As with a customer, these activities require no product training since the level of technical expertise and educational background of a member is unknown. The only skill needed by a member is the ability to browse a website.</a:t>
            </a:r>
          </a:p>
          <a:p>
            <a:r>
              <a:rPr lang="en-US" sz="2000" b="1" i="1"/>
              <a:t>	The store personnel are divided into two groups: the clerk-level personnel and owner-level personnel. Their educational level is unknown and both group needs little to no training.</a:t>
            </a:r>
            <a:r>
              <a:rPr lang="en-US" sz="2000"/>
              <a:t> </a:t>
            </a:r>
          </a:p>
        </p:txBody>
      </p:sp>
      <p:sp>
        <p:nvSpPr>
          <p:cNvPr id="37893" name="Rectangle 5"/>
          <p:cNvSpPr>
            <a:spLocks noChangeArrowheads="1"/>
          </p:cNvSpPr>
          <p:nvPr/>
        </p:nvSpPr>
        <p:spPr bwMode="auto">
          <a:xfrm>
            <a:off x="457200" y="1465263"/>
            <a:ext cx="80740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 C User Characteristics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29699" name="Rectangle 3"/>
          <p:cNvSpPr>
            <a:spLocks noChangeArrowheads="1"/>
          </p:cNvSpPr>
          <p:nvPr/>
        </p:nvSpPr>
        <p:spPr bwMode="auto">
          <a:xfrm>
            <a:off x="685800" y="2971800"/>
            <a:ext cx="8001000" cy="286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b="1"/>
              <a:t>D  General Constraints</a:t>
            </a:r>
          </a:p>
          <a:p>
            <a:pPr eaLnBrk="0" hangingPunct="0">
              <a:spcBef>
                <a:spcPct val="50000"/>
              </a:spcBef>
            </a:pPr>
            <a:r>
              <a:rPr lang="en-US" b="1"/>
              <a:t>In this section, the constraints of the system are listed.  They include hardware, network, system software, and software constraints.  It also includes user constraints, processing constraints, timing constraints, and control limits.</a:t>
            </a:r>
          </a:p>
        </p:txBody>
      </p:sp>
      <p:sp>
        <p:nvSpPr>
          <p:cNvPr id="29700" name="Rectangle 4"/>
          <p:cNvSpPr>
            <a:spLocks noChangeArrowheads="1"/>
          </p:cNvSpPr>
          <p:nvPr/>
        </p:nvSpPr>
        <p:spPr bwMode="auto">
          <a:xfrm>
            <a:off x="457200" y="1922463"/>
            <a:ext cx="807402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 D General Constraints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39940" name="Rectangle 4"/>
          <p:cNvSpPr>
            <a:spLocks noChangeArrowheads="1"/>
          </p:cNvSpPr>
          <p:nvPr/>
        </p:nvSpPr>
        <p:spPr bwMode="auto">
          <a:xfrm>
            <a:off x="457200" y="1524000"/>
            <a:ext cx="807402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 D General Constraints</a:t>
            </a:r>
          </a:p>
        </p:txBody>
      </p:sp>
      <p:sp>
        <p:nvSpPr>
          <p:cNvPr id="39942" name="Text Box 6"/>
          <p:cNvSpPr txBox="1">
            <a:spLocks noChangeArrowheads="1"/>
          </p:cNvSpPr>
          <p:nvPr/>
        </p:nvSpPr>
        <p:spPr bwMode="auto">
          <a:xfrm>
            <a:off x="914400" y="2574925"/>
            <a:ext cx="7543800" cy="39354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b="1" i="1"/>
              <a:t>This system provides </a:t>
            </a:r>
            <a:r>
              <a:rPr lang="en-CA" b="1" i="1"/>
              <a:t>web access for all customer and member functions. The user interface will be intuitive enough so that no training is required by customers, members, or store personnel. All online financial transactions and the storage of confidential member information will be done in a secure environment. Persistent storage for membership, rental, and video inventory information will be maintained.</a:t>
            </a:r>
            <a:r>
              <a:rPr lang="en-US"/>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40963" name="Rectangle 3"/>
          <p:cNvSpPr>
            <a:spLocks noChangeArrowheads="1"/>
          </p:cNvSpPr>
          <p:nvPr/>
        </p:nvSpPr>
        <p:spPr bwMode="auto">
          <a:xfrm>
            <a:off x="457200" y="1524000"/>
            <a:ext cx="807402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b="1">
                <a:solidFill>
                  <a:schemeClr val="accent2"/>
                </a:solidFill>
              </a:rPr>
              <a:t>II  General Description – D Assumptions and Dependencies</a:t>
            </a:r>
          </a:p>
        </p:txBody>
      </p:sp>
      <p:sp>
        <p:nvSpPr>
          <p:cNvPr id="40965" name="Rectangle 5"/>
          <p:cNvSpPr>
            <a:spLocks noChangeArrowheads="1"/>
          </p:cNvSpPr>
          <p:nvPr/>
        </p:nvSpPr>
        <p:spPr bwMode="auto">
          <a:xfrm>
            <a:off x="609600" y="2667000"/>
            <a:ext cx="8153400" cy="429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b="1"/>
              <a:t>This includes assumptions made at the beginning of the development effort as well as those made during the development.   </a:t>
            </a:r>
          </a:p>
          <a:p>
            <a:pPr eaLnBrk="0" hangingPunct="0">
              <a:spcBef>
                <a:spcPct val="50000"/>
              </a:spcBef>
            </a:pPr>
            <a:r>
              <a:rPr lang="en-US" sz="2400" b="1"/>
              <a:t>List and describe each of the factors that affect the requirements stated in the SRS.  These factors are not design constraints on the software but any changes to them can affect the requirements in the SRS.  For example, an assumption might be that a specific operating system will be available on the hardware designated for the software product.  If, in fact, the operating system is not available, the SRS would then have to change.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685800" y="609600"/>
            <a:ext cx="7772400" cy="944563"/>
          </a:xfrm>
        </p:spPr>
        <p:txBody>
          <a:bodyPr/>
          <a:lstStyle/>
          <a:p>
            <a:r>
              <a:rPr lang="en-US"/>
              <a:t>Section II of SRS</a:t>
            </a:r>
          </a:p>
        </p:txBody>
      </p:sp>
      <p:graphicFrame>
        <p:nvGraphicFramePr>
          <p:cNvPr id="105475" name="Group 3"/>
          <p:cNvGraphicFramePr>
            <a:graphicFrameLocks noGrp="1"/>
          </p:cNvGraphicFramePr>
          <p:nvPr>
            <p:ph type="tbl" idx="1"/>
          </p:nvPr>
        </p:nvGraphicFramePr>
        <p:xfrm>
          <a:off x="457200" y="1600200"/>
          <a:ext cx="8229600" cy="4687888"/>
        </p:xfrm>
        <a:graphic>
          <a:graphicData uri="http://schemas.openxmlformats.org/drawingml/2006/table">
            <a:tbl>
              <a:tblPr/>
              <a:tblGrid>
                <a:gridCol w="5029200"/>
                <a:gridCol w="3200400"/>
              </a:tblGrid>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Times New Roman" panose="02020603050405020304" pitchFamily="18" charset="0"/>
                        </a:rPr>
                        <a:t>II.A Product Perspective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Times New Roman" panose="02020603050405020304" pitchFamily="18" charset="0"/>
                        </a:rPr>
                        <a:t>II.B Product Functions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6463">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Times New Roman" panose="02020603050405020304" pitchFamily="18" charset="0"/>
                        </a:rPr>
                        <a:t>II.C  User Characteristics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Times New Roman" panose="02020603050405020304" pitchFamily="18" charset="0"/>
                        </a:rPr>
                        <a:t>II.D General Constraints</a:t>
                      </a:r>
                      <a:endParaRPr kumimoji="0" lang="en-US" sz="2800" b="0" i="0" u="none" strike="noStrike" cap="none" normalizeH="0" baseline="0" smtClean="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Times New Roman" panose="02020603050405020304" pitchFamily="18" charset="0"/>
                        </a:rPr>
                        <a:t>II.E  Assumptions and Dependencies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Paragraph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67587" name="Rectangle 3"/>
          <p:cNvSpPr>
            <a:spLocks noChangeArrowheads="1"/>
          </p:cNvSpPr>
          <p:nvPr/>
        </p:nvSpPr>
        <p:spPr bwMode="auto">
          <a:xfrm>
            <a:off x="779463" y="1143000"/>
            <a:ext cx="78311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3200" b="1">
                <a:solidFill>
                  <a:srgbClr val="000099"/>
                </a:solidFill>
              </a:rPr>
              <a:t>III  Functional Requirements	</a:t>
            </a:r>
          </a:p>
        </p:txBody>
      </p:sp>
      <p:sp>
        <p:nvSpPr>
          <p:cNvPr id="67588" name="Rectangle 4"/>
          <p:cNvSpPr>
            <a:spLocks noChangeArrowheads="1"/>
          </p:cNvSpPr>
          <p:nvPr/>
        </p:nvSpPr>
        <p:spPr bwMode="auto">
          <a:xfrm>
            <a:off x="609600" y="2133600"/>
            <a:ext cx="8077200" cy="429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b="1"/>
              <a:t>Functional requirements are those business functions which are included in this software under development. It describes the features of the product and the needed behavior. </a:t>
            </a:r>
          </a:p>
          <a:p>
            <a:pPr eaLnBrk="0" hangingPunct="0">
              <a:spcBef>
                <a:spcPct val="50000"/>
              </a:spcBef>
            </a:pPr>
            <a:r>
              <a:rPr lang="en-US" sz="2400" b="1"/>
              <a:t>The functional requirements are going to be written in narrative form identified with numbers. Each requirement is something that the system SHALL do. Thus, it has a common name of a </a:t>
            </a:r>
            <a:r>
              <a:rPr lang="en-US" sz="2400" b="1" i="1"/>
              <a:t>shall</a:t>
            </a:r>
            <a:r>
              <a:rPr lang="en-US" sz="2400" b="1"/>
              <a:t> list. You may provide a brief design rationale for any requirement which you feel requires explanation for how and/or why the requirement was derived.</a:t>
            </a:r>
          </a:p>
        </p:txBody>
      </p:sp>
      <p:sp>
        <p:nvSpPr>
          <p:cNvPr id="67589" name="Rectangle 5"/>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44036" name="Rectangle 4"/>
          <p:cNvSpPr>
            <a:spLocks noChangeArrowheads="1"/>
          </p:cNvSpPr>
          <p:nvPr/>
        </p:nvSpPr>
        <p:spPr bwMode="auto">
          <a:xfrm>
            <a:off x="779463" y="1143000"/>
            <a:ext cx="78311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3200" b="1">
                <a:solidFill>
                  <a:srgbClr val="000099"/>
                </a:solidFill>
              </a:rPr>
              <a:t>IV  Non Functional Requirements	</a:t>
            </a:r>
          </a:p>
        </p:txBody>
      </p:sp>
      <p:sp>
        <p:nvSpPr>
          <p:cNvPr id="44037" name="Rectangle 5"/>
          <p:cNvSpPr>
            <a:spLocks noChangeArrowheads="1"/>
          </p:cNvSpPr>
          <p:nvPr/>
        </p:nvSpPr>
        <p:spPr bwMode="auto">
          <a:xfrm>
            <a:off x="609600" y="2514600"/>
            <a:ext cx="80772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b="1"/>
              <a:t>Non functional requirements are properties that the system must have such as performance, reusability, usability, user friendliness, etc.  </a:t>
            </a:r>
          </a:p>
          <a:p>
            <a:endParaRPr lang="en-US" sz="2400" b="1"/>
          </a:p>
          <a:p>
            <a:r>
              <a:rPr lang="en-US" sz="2400" b="1"/>
              <a:t>The same format as the functional requirements is to be used for the non-functional requirements. You may provide a brief design rationale for any requirement which you feel requires explanation for how and/or why the requirement was derived.</a:t>
            </a:r>
          </a:p>
        </p:txBody>
      </p:sp>
      <p:sp>
        <p:nvSpPr>
          <p:cNvPr id="44038" name="Rectangle 6"/>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70659" name="Rectangle 3"/>
          <p:cNvSpPr>
            <a:spLocks noChangeArrowheads="1"/>
          </p:cNvSpPr>
          <p:nvPr/>
        </p:nvSpPr>
        <p:spPr bwMode="auto">
          <a:xfrm>
            <a:off x="779463" y="1143000"/>
            <a:ext cx="78311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3200" b="1">
                <a:solidFill>
                  <a:srgbClr val="000099"/>
                </a:solidFill>
              </a:rPr>
              <a:t>V  System Architecture	</a:t>
            </a:r>
          </a:p>
        </p:txBody>
      </p:sp>
      <p:sp>
        <p:nvSpPr>
          <p:cNvPr id="70660" name="Rectangle 4"/>
          <p:cNvSpPr>
            <a:spLocks noChangeArrowheads="1"/>
          </p:cNvSpPr>
          <p:nvPr/>
        </p:nvSpPr>
        <p:spPr bwMode="auto">
          <a:xfrm>
            <a:off x="609600" y="2286000"/>
            <a:ext cx="80772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a:t>This section presents a high-level overview of the anticipated system architecture using a class diagram. It shows the fundamental objects/classes that must be modeled with the system to satisfy its requirements. Each class on the diagram must include the attributes related to the class. All the relationships between classes and their multiplicity must be shown on the class diagram.  The classes specified in this document </a:t>
            </a:r>
            <a:r>
              <a:rPr lang="en-US" b="1" u="sng"/>
              <a:t>only</a:t>
            </a:r>
            <a:r>
              <a:rPr lang="en-US" b="1"/>
              <a:t> are those directly derived from the application domain.</a:t>
            </a:r>
            <a:r>
              <a:rPr lang="en-US"/>
              <a:t> </a:t>
            </a:r>
          </a:p>
        </p:txBody>
      </p:sp>
      <p:sp>
        <p:nvSpPr>
          <p:cNvPr id="70661" name="Rectangle 5"/>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71683" name="Rectangle 3"/>
          <p:cNvSpPr>
            <a:spLocks noChangeArrowheads="1"/>
          </p:cNvSpPr>
          <p:nvPr/>
        </p:nvSpPr>
        <p:spPr bwMode="auto">
          <a:xfrm>
            <a:off x="779463" y="1143000"/>
            <a:ext cx="78311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3200" b="1">
                <a:solidFill>
                  <a:srgbClr val="000099"/>
                </a:solidFill>
              </a:rPr>
              <a:t>VI System Models</a:t>
            </a:r>
          </a:p>
        </p:txBody>
      </p:sp>
      <p:sp>
        <p:nvSpPr>
          <p:cNvPr id="71684" name="Rectangle 4"/>
          <p:cNvSpPr>
            <a:spLocks noChangeArrowheads="1"/>
          </p:cNvSpPr>
          <p:nvPr/>
        </p:nvSpPr>
        <p:spPr bwMode="auto">
          <a:xfrm>
            <a:off x="609600" y="2514600"/>
            <a:ext cx="8077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a:t>This section presents the use case diagram for the system under development. The use case diagram should be a complete version containing all the use cases needed to describe the functionality to be developed.</a:t>
            </a:r>
            <a:r>
              <a:rPr lang="en-US"/>
              <a:t> </a:t>
            </a:r>
          </a:p>
        </p:txBody>
      </p:sp>
      <p:sp>
        <p:nvSpPr>
          <p:cNvPr id="71685" name="Rectangle 5"/>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66675" y="355600"/>
            <a:ext cx="87550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r>
              <a:rPr lang="en-US" b="1">
                <a:solidFill>
                  <a:schemeClr val="accent2"/>
                </a:solidFill>
              </a:rPr>
              <a:t>Systems Requirements Specification</a:t>
            </a:r>
          </a:p>
        </p:txBody>
      </p:sp>
      <p:sp>
        <p:nvSpPr>
          <p:cNvPr id="72707" name="Rectangle 3"/>
          <p:cNvSpPr>
            <a:spLocks noChangeArrowheads="1"/>
          </p:cNvSpPr>
          <p:nvPr/>
        </p:nvSpPr>
        <p:spPr bwMode="auto">
          <a:xfrm>
            <a:off x="779463" y="1143000"/>
            <a:ext cx="78311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3200" b="1">
                <a:solidFill>
                  <a:srgbClr val="000099"/>
                </a:solidFill>
              </a:rPr>
              <a:t>VII  Appendixes</a:t>
            </a:r>
          </a:p>
        </p:txBody>
      </p:sp>
      <p:sp>
        <p:nvSpPr>
          <p:cNvPr id="72708" name="Rectangle 4"/>
          <p:cNvSpPr>
            <a:spLocks noChangeArrowheads="1"/>
          </p:cNvSpPr>
          <p:nvPr/>
        </p:nvSpPr>
        <p:spPr bwMode="auto">
          <a:xfrm>
            <a:off x="609600" y="1676400"/>
            <a:ext cx="8534400" cy="398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b="1"/>
              <a:t>Appendix A.	Data dictionary</a:t>
            </a:r>
          </a:p>
          <a:p>
            <a:endParaRPr lang="en-US" sz="2400" b="1"/>
          </a:p>
          <a:p>
            <a:r>
              <a:rPr lang="en-US" sz="2400" b="1"/>
              <a:t>Appendix B.	Raw use case point analysis </a:t>
            </a:r>
          </a:p>
          <a:p>
            <a:endParaRPr lang="en-US" sz="1600" b="1"/>
          </a:p>
          <a:p>
            <a:r>
              <a:rPr lang="en-US" sz="2400" b="1"/>
              <a:t>Appendix C.	Screens and reports with navigation matrix.</a:t>
            </a:r>
          </a:p>
          <a:p>
            <a:endParaRPr lang="en-US" sz="2400" b="1"/>
          </a:p>
          <a:p>
            <a:r>
              <a:rPr lang="en-US" sz="2400" b="1"/>
              <a:t>Appendix D.	Scenario analysis tables</a:t>
            </a:r>
          </a:p>
          <a:p>
            <a:endParaRPr lang="en-US" sz="2400" b="1"/>
          </a:p>
          <a:p>
            <a:r>
              <a:rPr lang="en-US" sz="2400" b="1"/>
              <a:t>Appendix E.  Screens/reports list</a:t>
            </a:r>
            <a:endParaRPr lang="en-US" sz="2000" b="1"/>
          </a:p>
          <a:p>
            <a:endParaRPr lang="en-US" sz="2400" b="1"/>
          </a:p>
          <a:p>
            <a:r>
              <a:rPr lang="en-US" sz="2400" b="1"/>
              <a:t>Appendix F and following. Other items needed</a:t>
            </a:r>
          </a:p>
        </p:txBody>
      </p:sp>
      <p:sp>
        <p:nvSpPr>
          <p:cNvPr id="72709" name="Rectangle 5"/>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505</TotalTime>
  <Words>1728</Words>
  <Application>Microsoft Office PowerPoint</Application>
  <PresentationFormat>On-screen Show (4:3)</PresentationFormat>
  <Paragraphs>281</Paragraphs>
  <Slides>42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Times New Roman</vt:lpstr>
      <vt:lpstr>Helvetica</vt:lpstr>
      <vt:lpstr>Times</vt:lpstr>
      <vt:lpstr>Arial</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Section I of SRS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Section II of SRS</vt:lpstr>
      <vt:lpstr>PowerPoint Presentation</vt:lpstr>
      <vt:lpstr>PowerPoint Presentation</vt:lpstr>
      <vt:lpstr>PowerPoint Presentation</vt:lpstr>
      <vt:lpstr>PowerPoint Presentation</vt:lpstr>
      <vt:lpstr>PowerPoint Presentation</vt:lpstr>
    </vt:vector>
  </TitlesOfParts>
  <Company>Florida State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Panama City Campus</dc:creator>
  <cp:lastModifiedBy>Pc Planet</cp:lastModifiedBy>
  <cp:revision>42</cp:revision>
  <dcterms:created xsi:type="dcterms:W3CDTF">2004-08-11T22:24:34Z</dcterms:created>
  <dcterms:modified xsi:type="dcterms:W3CDTF">2023-04-27T09:29:54Z</dcterms:modified>
</cp:coreProperties>
</file>