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0"/>
  </p:notesMasterIdLst>
  <p:sldIdLst>
    <p:sldId id="368" r:id="rId3"/>
    <p:sldId id="509" r:id="rId4"/>
    <p:sldId id="647" r:id="rId5"/>
    <p:sldId id="648" r:id="rId6"/>
    <p:sldId id="589" r:id="rId7"/>
    <p:sldId id="649" r:id="rId8"/>
    <p:sldId id="591" r:id="rId9"/>
    <p:sldId id="650" r:id="rId10"/>
    <p:sldId id="651" r:id="rId11"/>
    <p:sldId id="652" r:id="rId12"/>
    <p:sldId id="653" r:id="rId13"/>
    <p:sldId id="654" r:id="rId14"/>
    <p:sldId id="655" r:id="rId15"/>
    <p:sldId id="656" r:id="rId16"/>
    <p:sldId id="657" r:id="rId17"/>
    <p:sldId id="658" r:id="rId18"/>
    <p:sldId id="659" r:id="rId19"/>
    <p:sldId id="660" r:id="rId20"/>
    <p:sldId id="661" r:id="rId21"/>
    <p:sldId id="662" r:id="rId22"/>
    <p:sldId id="663" r:id="rId23"/>
    <p:sldId id="664" r:id="rId24"/>
    <p:sldId id="665" r:id="rId25"/>
    <p:sldId id="666" r:id="rId26"/>
    <p:sldId id="667" r:id="rId27"/>
    <p:sldId id="671" r:id="rId28"/>
    <p:sldId id="41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 showGuides="1">
      <p:cViewPr>
        <p:scale>
          <a:sx n="71" d="100"/>
          <a:sy n="71" d="100"/>
        </p:scale>
        <p:origin x="-1160" y="-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66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D4BB-E70E-4D5C-83E2-D95045F6F69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D4BB-E70E-4D5C-83E2-D95045F6F69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</a:t>
            </a:r>
            <a:r>
              <a:rPr lang="en-US" sz="2800" b="1">
                <a:solidFill>
                  <a:srgbClr val="000000">
                    <a:lumMod val="75000"/>
                    <a:lumOff val="25000"/>
                  </a:srgbClr>
                </a:solidFill>
              </a:rPr>
              <a:t>Engineering</a:t>
            </a:r>
            <a:r>
              <a:rPr lang="en-US" sz="2800" b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23182" y="637061"/>
            <a:ext cx="1897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# 11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84" y="206141"/>
            <a:ext cx="7429499" cy="14785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11237" y="1290918"/>
            <a:ext cx="7429499" cy="544157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assignment problem is a special type of transportation problem where the objective is to minimize the cost or maximize the profit of the given problem</a:t>
            </a:r>
            <a:r>
              <a:rPr lang="en-US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b="1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Assumption </a:t>
            </a:r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Assignment problem: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Number of jobs = Number of Machine or person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person or machine is assigned only one job</a:t>
            </a:r>
          </a:p>
          <a:p>
            <a:pPr marL="0" indent="0">
              <a:buNone/>
            </a:pP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36" y="3101788"/>
            <a:ext cx="6598024" cy="12102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person is independently capable of handling any job to be done.</a:t>
            </a:r>
          </a:p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Assigning criteria is clearly specified (minimizing cost or maximizing (profit).</a:t>
            </a:r>
          </a:p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use Hungarian method to solve assignment problem.</a:t>
            </a:r>
          </a:p>
          <a:p>
            <a:pPr marL="0" indent="0">
              <a:buNone/>
            </a:pPr>
            <a:r>
              <a:rPr lang="en-US" sz="2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Feasible solution in Hungarian method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there are ‘n’ number of jobs given to ‘n’ different person’s then it is called feasible solution in Hungarian method.</a:t>
            </a:r>
          </a:p>
          <a:p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71" y="3455791"/>
          <a:ext cx="4712675" cy="3056664"/>
        </p:xfrm>
        <a:graphic>
          <a:graphicData uri="http://schemas.openxmlformats.org/drawingml/2006/table">
            <a:tbl>
              <a:tblPr/>
              <a:tblGrid>
                <a:gridCol w="942535"/>
                <a:gridCol w="942535"/>
                <a:gridCol w="942535"/>
                <a:gridCol w="942535"/>
                <a:gridCol w="942535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J1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J2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J3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J4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56056" y="1832549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Minimization Problem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J = Jobs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 = Persons</a:t>
            </a:r>
          </a:p>
        </p:txBody>
      </p:sp>
      <p:sp>
        <p:nvSpPr>
          <p:cNvPr id="4" name="Flowchart: Connector 3"/>
          <p:cNvSpPr/>
          <p:nvPr/>
        </p:nvSpPr>
        <p:spPr>
          <a:xfrm>
            <a:off x="5190565" y="4150659"/>
            <a:ext cx="98611" cy="10757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/>
          <p:cNvSpPr/>
          <p:nvPr/>
        </p:nvSpPr>
        <p:spPr>
          <a:xfrm>
            <a:off x="6257365" y="4796118"/>
            <a:ext cx="89647" cy="10757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/>
          <p:cNvSpPr/>
          <p:nvPr/>
        </p:nvSpPr>
        <p:spPr>
          <a:xfrm>
            <a:off x="3388659" y="5414682"/>
            <a:ext cx="89647" cy="7171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/>
          <p:cNvSpPr/>
          <p:nvPr/>
        </p:nvSpPr>
        <p:spPr>
          <a:xfrm>
            <a:off x="3316941" y="6042212"/>
            <a:ext cx="116541" cy="8068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3" y="1868815"/>
            <a:ext cx="7934177" cy="4760912"/>
          </a:xfrm>
          <a:prstGeom prst="rect">
            <a:avLst/>
          </a:prstGeom>
        </p:spPr>
      </p:pic>
      <p:sp>
        <p:nvSpPr>
          <p:cNvPr id="7" name="Flowchart: Connector 6"/>
          <p:cNvSpPr/>
          <p:nvPr/>
        </p:nvSpPr>
        <p:spPr>
          <a:xfrm>
            <a:off x="4881279" y="4249270"/>
            <a:ext cx="116541" cy="13031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34636"/>
            <a:ext cx="7429499" cy="11879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7" y="1581513"/>
            <a:ext cx="7519987" cy="44338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6424" y="6113058"/>
            <a:ext cx="677731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NewRoman"/>
              </a:rPr>
              <a:t>No of assignments=No of rows (Optimal Solution)</a:t>
            </a:r>
          </a:p>
          <a:p>
            <a:r>
              <a:rPr lang="en-US" dirty="0" smtClean="0">
                <a:latin typeface="TimesNewRoman"/>
              </a:rPr>
              <a:t>Minimum </a:t>
            </a:r>
            <a:r>
              <a:rPr lang="en-US" dirty="0">
                <a:latin typeface="TimesNewRoman"/>
              </a:rPr>
              <a:t>solution = 3+2+</a:t>
            </a:r>
            <a:r>
              <a:rPr lang="en-US" dirty="0" smtClean="0">
                <a:latin typeface="TimesNewRoman"/>
              </a:rPr>
              <a:t>10+</a:t>
            </a:r>
            <a:r>
              <a:rPr lang="en-US" dirty="0">
                <a:latin typeface="TimesNewRoman"/>
              </a:rPr>
              <a:t>3 = 18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47095" y="1944686"/>
            <a:ext cx="7429499" cy="49133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(a) First round for making assignments</a:t>
            </a:r>
          </a:p>
          <a:p>
            <a:r>
              <a:rPr lang="en-GB" dirty="0" smtClean="0"/>
              <a:t> </a:t>
            </a:r>
            <a:r>
              <a:rPr lang="en-GB" dirty="0"/>
              <a:t>Identify rows successively from top to bottom until a row with exactly one zero element is found.</a:t>
            </a:r>
          </a:p>
          <a:p>
            <a:r>
              <a:rPr lang="en-GB" dirty="0"/>
              <a:t>Make an assignment to this single zero by making a square (􀂅) around it. Then cross off (×) </a:t>
            </a:r>
            <a:r>
              <a:rPr lang="en-GB" dirty="0" smtClean="0"/>
              <a:t>all other </a:t>
            </a:r>
            <a:r>
              <a:rPr lang="en-GB" dirty="0"/>
              <a:t>zeros in the corresponding column.</a:t>
            </a:r>
          </a:p>
          <a:p>
            <a:r>
              <a:rPr lang="en-GB" dirty="0" smtClean="0"/>
              <a:t> </a:t>
            </a:r>
            <a:r>
              <a:rPr lang="en-GB" dirty="0"/>
              <a:t>Identify columns successively from left to right hand with exactly one zero element that has </a:t>
            </a:r>
            <a:r>
              <a:rPr lang="en-GB" dirty="0" smtClean="0"/>
              <a:t>not been </a:t>
            </a:r>
            <a:r>
              <a:rPr lang="en-GB" dirty="0"/>
              <a:t>assigned. Make assignment to this single zero by making a square (􀂅) around it and </a:t>
            </a:r>
            <a:r>
              <a:rPr lang="en-GB" dirty="0" smtClean="0"/>
              <a:t>then cross </a:t>
            </a:r>
            <a:r>
              <a:rPr lang="en-GB" dirty="0"/>
              <a:t>off (×) all other zero elements in the corresponding row.</a:t>
            </a:r>
          </a:p>
          <a:p>
            <a:pPr marL="0" indent="0">
              <a:buNone/>
            </a:pPr>
            <a:r>
              <a:rPr lang="en-GB" dirty="0"/>
              <a:t>(b) Second round for making assignments</a:t>
            </a:r>
          </a:p>
          <a:p>
            <a:r>
              <a:rPr lang="en-GB" dirty="0" smtClean="0"/>
              <a:t> </a:t>
            </a:r>
            <a:r>
              <a:rPr lang="en-GB" dirty="0"/>
              <a:t>If a row and/or column has two or more unmarked zeros and one cannot be chosen by </a:t>
            </a:r>
            <a:r>
              <a:rPr lang="en-GB" dirty="0" smtClean="0"/>
              <a:t>inspection, then </a:t>
            </a:r>
            <a:r>
              <a:rPr lang="en-GB" dirty="0"/>
              <a:t>choose zero element arbitrarily for assignment</a:t>
            </a:r>
            <a:r>
              <a:rPr lang="en-GB" dirty="0" smtClean="0"/>
              <a:t>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71" y="3455791"/>
          <a:ext cx="4712675" cy="3056664"/>
        </p:xfrm>
        <a:graphic>
          <a:graphicData uri="http://schemas.openxmlformats.org/drawingml/2006/table">
            <a:tbl>
              <a:tblPr/>
              <a:tblGrid>
                <a:gridCol w="942535"/>
                <a:gridCol w="942535"/>
                <a:gridCol w="942535"/>
                <a:gridCol w="942535"/>
                <a:gridCol w="942535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56056" y="1832549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Minimization Problem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 = Teacher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 = Subject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71" y="3455791"/>
          <a:ext cx="4712675" cy="3056664"/>
        </p:xfrm>
        <a:graphic>
          <a:graphicData uri="http://schemas.openxmlformats.org/drawingml/2006/table">
            <a:tbl>
              <a:tblPr/>
              <a:tblGrid>
                <a:gridCol w="942535"/>
                <a:gridCol w="942535"/>
                <a:gridCol w="942535"/>
                <a:gridCol w="942535"/>
                <a:gridCol w="942535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56055" y="1832549"/>
            <a:ext cx="74294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Identify the minimum value in each row and subtract it from every value in that row.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71" y="3455791"/>
          <a:ext cx="4712675" cy="3056664"/>
        </p:xfrm>
        <a:graphic>
          <a:graphicData uri="http://schemas.openxmlformats.org/drawingml/2006/table">
            <a:tbl>
              <a:tblPr/>
              <a:tblGrid>
                <a:gridCol w="942535"/>
                <a:gridCol w="942535"/>
                <a:gridCol w="942535"/>
                <a:gridCol w="942535"/>
                <a:gridCol w="942535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56055" y="1832549"/>
            <a:ext cx="742949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II: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Identify the minimum value in each column and subtract it from every value in that column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123"/>
              <p:cNvGraphicFramePr>
                <a:graphicFrameLocks noGrp="1"/>
              </p:cNvGraphicFramePr>
              <p:nvPr/>
            </p:nvGraphicFramePr>
            <p:xfrm>
              <a:off x="2214471" y="3455791"/>
              <a:ext cx="4712675" cy="3056664"/>
            </p:xfrm>
            <a:graphic>
              <a:graphicData uri="http://schemas.openxmlformats.org/drawingml/2006/table">
                <a:tbl>
                  <a:tblPr/>
                  <a:tblGrid>
                    <a:gridCol w="942535"/>
                    <a:gridCol w="942535"/>
                    <a:gridCol w="942535"/>
                    <a:gridCol w="942535"/>
                    <a:gridCol w="942535"/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S1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S2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S3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S4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S PGothic" panose="020B0600070205080204" pitchFamily="34" charset="-128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123"/>
              <p:cNvGraphicFramePr>
                <a:graphicFrameLocks noGrp="1"/>
              </p:cNvGraphicFramePr>
              <p:nvPr/>
            </p:nvGraphicFramePr>
            <p:xfrm>
              <a:off x="2214471" y="3455791"/>
              <a:ext cx="4712675" cy="3056664"/>
            </p:xfrm>
            <a:graphic>
              <a:graphicData uri="http://schemas.openxmlformats.org/drawingml/2006/table">
                <a:tbl>
                  <a:tblPr/>
                  <a:tblGrid>
                    <a:gridCol w="942535"/>
                    <a:gridCol w="942535"/>
                    <a:gridCol w="942535"/>
                    <a:gridCol w="942535"/>
                    <a:gridCol w="942535"/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S1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S2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S3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S4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T1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8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2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T2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11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T3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2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4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T4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12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856055" y="1832549"/>
            <a:ext cx="74294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any row or any column has only one zero then make an assignment there and move to next column or row.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376246" y="6070670"/>
            <a:ext cx="365760" cy="1903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305823" y="5477482"/>
            <a:ext cx="365760" cy="1903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123"/>
              <p:cNvGraphicFramePr>
                <a:graphicFrameLocks noGrp="1"/>
              </p:cNvGraphicFramePr>
              <p:nvPr/>
            </p:nvGraphicFramePr>
            <p:xfrm>
              <a:off x="2214471" y="3455791"/>
              <a:ext cx="4712675" cy="3056664"/>
            </p:xfrm>
            <a:graphic>
              <a:graphicData uri="http://schemas.openxmlformats.org/drawingml/2006/table">
                <a:tbl>
                  <a:tblPr/>
                  <a:tblGrid>
                    <a:gridCol w="942535"/>
                    <a:gridCol w="942535"/>
                    <a:gridCol w="942535"/>
                    <a:gridCol w="942535"/>
                    <a:gridCol w="942535"/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S1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S2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S3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S4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S PGothic" panose="020B0600070205080204" pitchFamily="34" charset="-128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123"/>
              <p:cNvGraphicFramePr>
                <a:graphicFrameLocks noGrp="1"/>
              </p:cNvGraphicFramePr>
              <p:nvPr/>
            </p:nvGraphicFramePr>
            <p:xfrm>
              <a:off x="2214471" y="3455791"/>
              <a:ext cx="4712675" cy="3056664"/>
            </p:xfrm>
            <a:graphic>
              <a:graphicData uri="http://schemas.openxmlformats.org/drawingml/2006/table">
                <a:tbl>
                  <a:tblPr/>
                  <a:tblGrid>
                    <a:gridCol w="942535"/>
                    <a:gridCol w="942535"/>
                    <a:gridCol w="942535"/>
                    <a:gridCol w="942535"/>
                    <a:gridCol w="942535"/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S1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S2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S3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S4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T1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8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2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T2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11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T3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2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4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T4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12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856055" y="1832549"/>
            <a:ext cx="74294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Now applying a different approach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291840" y="5556738"/>
            <a:ext cx="351692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16922" y="4093698"/>
            <a:ext cx="0" cy="241875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3291840" y="4965895"/>
            <a:ext cx="351692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123"/>
              <p:cNvGraphicFramePr>
                <a:graphicFrameLocks noGrp="1"/>
              </p:cNvGraphicFramePr>
              <p:nvPr/>
            </p:nvGraphicFramePr>
            <p:xfrm>
              <a:off x="2903788" y="3721835"/>
              <a:ext cx="4712675" cy="3056664"/>
            </p:xfrm>
            <a:graphic>
              <a:graphicData uri="http://schemas.openxmlformats.org/drawingml/2006/table">
                <a:tbl>
                  <a:tblPr/>
                  <a:tblGrid>
                    <a:gridCol w="942535"/>
                    <a:gridCol w="942535"/>
                    <a:gridCol w="942535"/>
                    <a:gridCol w="942535"/>
                    <a:gridCol w="942535"/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S1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S2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S3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S4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6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S PGothic" panose="020B0600070205080204" pitchFamily="34" charset="-128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123"/>
              <p:cNvGraphicFramePr>
                <a:graphicFrameLocks noGrp="1"/>
              </p:cNvGraphicFramePr>
              <p:nvPr/>
            </p:nvGraphicFramePr>
            <p:xfrm>
              <a:off x="2903788" y="3721835"/>
              <a:ext cx="4712675" cy="3056664"/>
            </p:xfrm>
            <a:graphic>
              <a:graphicData uri="http://schemas.openxmlformats.org/drawingml/2006/table">
                <a:tbl>
                  <a:tblPr/>
                  <a:tblGrid>
                    <a:gridCol w="942535"/>
                    <a:gridCol w="942535"/>
                    <a:gridCol w="942535"/>
                    <a:gridCol w="942535"/>
                    <a:gridCol w="942535"/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S1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S2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S3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S4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T1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6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T2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T3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4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T4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856055" y="1832549"/>
            <a:ext cx="74294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value which have been not marked and among them is lowest value 2. Subtract 2 from the values which have not been used and add 2 to the values which have been intersected.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123"/>
              <p:cNvGraphicFramePr>
                <a:graphicFrameLocks noGrp="1"/>
              </p:cNvGraphicFramePr>
              <p:nvPr/>
            </p:nvGraphicFramePr>
            <p:xfrm>
              <a:off x="2214466" y="2679866"/>
              <a:ext cx="4712675" cy="3056664"/>
            </p:xfrm>
            <a:graphic>
              <a:graphicData uri="http://schemas.openxmlformats.org/drawingml/2006/table">
                <a:tbl>
                  <a:tblPr/>
                  <a:tblGrid>
                    <a:gridCol w="942535"/>
                    <a:gridCol w="942535"/>
                    <a:gridCol w="942535"/>
                    <a:gridCol w="942535"/>
                    <a:gridCol w="942535"/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S1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S2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S3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S4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6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S PGothic" panose="020B0600070205080204" pitchFamily="34" charset="-128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123"/>
              <p:cNvGraphicFramePr>
                <a:graphicFrameLocks noGrp="1"/>
              </p:cNvGraphicFramePr>
              <p:nvPr/>
            </p:nvGraphicFramePr>
            <p:xfrm>
              <a:off x="2214466" y="2679866"/>
              <a:ext cx="4712675" cy="3056664"/>
            </p:xfrm>
            <a:graphic>
              <a:graphicData uri="http://schemas.openxmlformats.org/drawingml/2006/table">
                <a:tbl>
                  <a:tblPr/>
                  <a:tblGrid>
                    <a:gridCol w="942535"/>
                    <a:gridCol w="942535"/>
                    <a:gridCol w="942535"/>
                    <a:gridCol w="942535"/>
                    <a:gridCol w="942535"/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S1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S2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S3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S4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T1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6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T2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5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T3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4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6254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T4</a:t>
                          </a: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10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anose="05000000000000000000" pitchFamily="2" charset="2"/>
                            <a:buNone/>
                          </a:pPr>
                          <a:r>
                            <a:rPr kumimoji="0" 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MS PGothic" panose="020B0600070205080204" pitchFamily="34" charset="-128"/>
                            </a:rPr>
                            <a:t>3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MS PGothic" panose="020B0600070205080204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7" name="Straight Connector 6"/>
          <p:cNvCxnSpPr/>
          <p:nvPr/>
        </p:nvCxnSpPr>
        <p:spPr>
          <a:xfrm>
            <a:off x="3474720" y="3429000"/>
            <a:ext cx="323557" cy="1827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343378" y="4668235"/>
            <a:ext cx="323557" cy="1827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3628272" y="2269997"/>
          <a:ext cx="1885070" cy="3056664"/>
        </p:xfrm>
        <a:graphic>
          <a:graphicData uri="http://schemas.openxmlformats.org/drawingml/2006/table">
            <a:tbl>
              <a:tblPr/>
              <a:tblGrid>
                <a:gridCol w="942535"/>
                <a:gridCol w="942535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hrs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T1- S3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T2- S2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T3-S4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T4-S1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264018" y="5499570"/>
            <a:ext cx="74294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Minimum Solution=9+4+11+3=27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effectLst/>
                <a:latin typeface="TimesNewRoman"/>
              </a:rPr>
              <a:t>Find maximum solution of the following Assignment problem.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69" y="3019693"/>
          <a:ext cx="4712676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  <a:gridCol w="785446"/>
                <a:gridCol w="785446"/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S5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effectLst/>
                <a:latin typeface="TimesNewRoman"/>
              </a:rPr>
              <a:t>Here the highest value is 62. So, we subtract each value from it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69" y="3019693"/>
          <a:ext cx="4712676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  <a:gridCol w="785446"/>
                <a:gridCol w="785446"/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S5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the minimum value in each row and subtract it from every value in that row.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69" y="3019693"/>
          <a:ext cx="4712676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  <a:gridCol w="785446"/>
                <a:gridCol w="785446"/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S5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prstClr val="black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the minimum value in each column and subtract it from every value in that column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453620" y="3049403"/>
          <a:ext cx="4712676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  <a:gridCol w="785446"/>
                <a:gridCol w="785446"/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S5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any row or any column has only one zero then make an assignment there and move to next column or row.</a:t>
            </a: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327011" y="2919919"/>
          <a:ext cx="4712676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  <a:gridCol w="785446"/>
                <a:gridCol w="785446"/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S5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6469946" y="3657600"/>
            <a:ext cx="379828" cy="23915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344573" y="4907280"/>
            <a:ext cx="379828" cy="23915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69" y="2463777"/>
          <a:ext cx="4712676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  <a:gridCol w="785446"/>
                <a:gridCol w="785446"/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S5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3024553" y="5247249"/>
            <a:ext cx="362946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502855" y="3249637"/>
            <a:ext cx="0" cy="28838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221502" y="3249637"/>
            <a:ext cx="343251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084938" y="5894363"/>
            <a:ext cx="370564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69" y="2463777"/>
          <a:ext cx="4712676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  <a:gridCol w="785446"/>
                <a:gridCol w="785446"/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S5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2214469" y="2463777"/>
          <a:ext cx="4712676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  <a:gridCol w="785446"/>
                <a:gridCol w="785446"/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S1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S2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S3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S4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S5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19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6372665" y="3235569"/>
            <a:ext cx="323557" cy="19343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233225" y="3838136"/>
            <a:ext cx="323557" cy="19343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794739" y="5076092"/>
            <a:ext cx="323557" cy="19343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method(Balanced problem)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8" y="1903942"/>
            <a:ext cx="7429499" cy="46085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990580" y="2097088"/>
          <a:ext cx="1570892" cy="3681988"/>
        </p:xfrm>
        <a:graphic>
          <a:graphicData uri="http://schemas.openxmlformats.org/drawingml/2006/table">
            <a:tbl>
              <a:tblPr/>
              <a:tblGrid>
                <a:gridCol w="785446"/>
                <a:gridCol w="785446"/>
              </a:tblGrid>
              <a:tr h="555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T1-S3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T2-S5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T3-S1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T4-S4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36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T5-S2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695993" y="3946588"/>
            <a:ext cx="6279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Maximum Solution=40+36+40+36+62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" y="726141"/>
            <a:ext cx="9072282" cy="5629835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Example 10.2, 10.3, 10.4, 10.5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rcui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1083</Words>
  <Application>Microsoft Office PowerPoint</Application>
  <PresentationFormat>On-screen Show (4:3)</PresentationFormat>
  <Paragraphs>577</Paragraphs>
  <Slides>27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Clarity</vt:lpstr>
      <vt:lpstr>Circuit</vt:lpstr>
      <vt:lpstr>PowerPoint Presentation</vt:lpstr>
      <vt:lpstr>Assignment problem</vt:lpstr>
      <vt:lpstr>Assignment problem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Hungarian method(Balanced problem)</vt:lpstr>
      <vt:lpstr>PowerPoint Presentation</vt:lpstr>
      <vt:lpstr>Practice Exercises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4G Traders</cp:lastModifiedBy>
  <cp:revision>380</cp:revision>
  <dcterms:created xsi:type="dcterms:W3CDTF">2022-09-10T13:48:00Z</dcterms:created>
  <dcterms:modified xsi:type="dcterms:W3CDTF">2025-04-24T06:45:18Z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7843D23DBD344EC2AA06DC9C0A148896_12</vt:lpwstr>
  </property>
  <property fmtid="{D5CDD505-2E9C-101B-9397-08002B2CF9AE}" pid="3" name="KSOProductBuildVer">
    <vt:lpwstr>1033-12.2.0.19805</vt:lpwstr>
  </property>
</Properties>
</file>