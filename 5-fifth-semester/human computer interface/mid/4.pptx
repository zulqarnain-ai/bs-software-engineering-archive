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0"/>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7" r:id="rId22"/>
    <p:sldId id="276" r:id="rId23"/>
    <p:sldId id="278" r:id="rId24"/>
    <p:sldId id="279" r:id="rId25"/>
    <p:sldId id="280" r:id="rId26"/>
    <p:sldId id="281" r:id="rId27"/>
    <p:sldId id="282" r:id="rId28"/>
    <p:sldId id="283" r:id="rId2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3957" autoAdjust="0"/>
  </p:normalViewPr>
  <p:slideViewPr>
    <p:cSldViewPr snapToGrid="0">
      <p:cViewPr>
        <p:scale>
          <a:sx n="75" d="100"/>
          <a:sy n="75" d="100"/>
        </p:scale>
        <p:origin x="946" y="-331"/>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495B325-3F05-45E9-B952-1CA984CC55AC}" type="datetimeFigureOut">
              <a:rPr lang="en-PK" smtClean="0"/>
              <a:t>04/10/2024</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460381-F347-4957-9B3C-0073BDA91002}" type="slidenum">
              <a:rPr lang="en-PK" smtClean="0"/>
              <a:t>‹#›</a:t>
            </a:fld>
            <a:endParaRPr lang="en-PK"/>
          </a:p>
        </p:txBody>
      </p:sp>
    </p:spTree>
    <p:extLst>
      <p:ext uri="{BB962C8B-B14F-4D97-AF65-F5344CB8AC3E}">
        <p14:creationId xmlns:p14="http://schemas.microsoft.com/office/powerpoint/2010/main" val="30770347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260B1F"/>
                </a:solidFill>
                <a:effectLst/>
                <a:latin typeface="Mabry001"/>
              </a:rPr>
              <a:t>The UX design process is important because it helps designers create interfaces that meet the needs of their users. By following a well-defined process, designers can be sure that they are covering all of the necessary bases and creating an interface that will be user-friendly and effective.</a:t>
            </a:r>
            <a:endParaRPr lang="en-PK" dirty="0"/>
          </a:p>
        </p:txBody>
      </p:sp>
      <p:sp>
        <p:nvSpPr>
          <p:cNvPr id="4" name="Slide Number Placeholder 3"/>
          <p:cNvSpPr>
            <a:spLocks noGrp="1"/>
          </p:cNvSpPr>
          <p:nvPr>
            <p:ph type="sldNum" sz="quarter" idx="5"/>
          </p:nvPr>
        </p:nvSpPr>
        <p:spPr/>
        <p:txBody>
          <a:bodyPr/>
          <a:lstStyle/>
          <a:p>
            <a:fld id="{17460381-F347-4957-9B3C-0073BDA91002}" type="slidenum">
              <a:rPr lang="en-PK" smtClean="0"/>
              <a:t>3</a:t>
            </a:fld>
            <a:endParaRPr lang="en-PK"/>
          </a:p>
        </p:txBody>
      </p:sp>
    </p:spTree>
    <p:extLst>
      <p:ext uri="{BB962C8B-B14F-4D97-AF65-F5344CB8AC3E}">
        <p14:creationId xmlns:p14="http://schemas.microsoft.com/office/powerpoint/2010/main" val="42833636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761999"/>
            <a:ext cx="9141619" cy="5334001"/>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9270263" y="761999"/>
            <a:ext cx="2925318" cy="5334001"/>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69848" y="1298448"/>
            <a:ext cx="7315200" cy="3255264"/>
          </a:xfrm>
        </p:spPr>
        <p:txBody>
          <a:bodyPr anchor="b">
            <a:normAutofit/>
          </a:bodyPr>
          <a:lstStyle>
            <a:lvl1pPr algn="l">
              <a:defRPr sz="5900" spc="-100" baseline="0">
                <a:solidFill>
                  <a:srgbClr val="FFFFFF"/>
                </a:solidFill>
              </a:defRPr>
            </a:lvl1pPr>
          </a:lstStyle>
          <a:p>
            <a:r>
              <a:rPr lang="en-US"/>
              <a:t>Click to edit Master title style</a:t>
            </a:r>
            <a:endParaRPr lang="en-US" dirty="0"/>
          </a:p>
        </p:txBody>
      </p:sp>
      <p:sp>
        <p:nvSpPr>
          <p:cNvPr id="3" name="Subtitle 2"/>
          <p:cNvSpPr>
            <a:spLocks noGrp="1"/>
          </p:cNvSpPr>
          <p:nvPr>
            <p:ph type="subTitle" idx="1"/>
          </p:nvPr>
        </p:nvSpPr>
        <p:spPr>
          <a:xfrm>
            <a:off x="1100015" y="4670246"/>
            <a:ext cx="7315200" cy="914400"/>
          </a:xfrm>
        </p:spPr>
        <p:txBody>
          <a:bodyPr anchor="t">
            <a:normAutofit/>
          </a:bodyPr>
          <a:lstStyle>
            <a:lvl1pPr marL="0" indent="0" algn="l">
              <a:buNone/>
              <a:defRPr sz="2200" cap="none" spc="0" baseline="0">
                <a:solidFill>
                  <a:schemeClr val="accent1">
                    <a:lumMod val="20000"/>
                    <a:lumOff val="80000"/>
                  </a:schemeClr>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B095779-1EC9-4FDB-B302-57A129EA00C7}" type="datetimeFigureOut">
              <a:rPr lang="en-PK" smtClean="0"/>
              <a:t>04/10/2024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9533892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095779-1EC9-4FDB-B302-57A129EA00C7}" type="datetimeFigureOut">
              <a:rPr lang="en-PK" smtClean="0"/>
              <a:t>04/10/2024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14967543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3867912" y="1298448"/>
            <a:ext cx="7315200" cy="3255264"/>
          </a:xfrm>
        </p:spPr>
        <p:txBody>
          <a:bodyPr anchor="b">
            <a:normAutofit/>
          </a:bodyPr>
          <a:lstStyle>
            <a:lvl1pPr>
              <a:defRPr sz="5900" b="0" spc="-100" baseline="0">
                <a:solidFill>
                  <a:schemeClr val="tx1">
                    <a:lumMod val="65000"/>
                    <a:lumOff val="3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3886200" y="4672584"/>
            <a:ext cx="7315200" cy="914400"/>
          </a:xfrm>
        </p:spPr>
        <p:txBody>
          <a:bodyPr anchor="t">
            <a:normAutofit/>
          </a:bodyPr>
          <a:lstStyle>
            <a:lvl1pPr marL="0" indent="0">
              <a:buNone/>
              <a:defRPr sz="2200" cap="none" spc="0" baseline="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B095779-1EC9-4FDB-B302-57A129EA00C7}" type="datetimeFigureOut">
              <a:rPr lang="en-PK" smtClean="0"/>
              <a:t>04/10/2024</a:t>
            </a:fld>
            <a:endParaRPr lang="en-PK"/>
          </a:p>
        </p:txBody>
      </p:sp>
      <p:sp>
        <p:nvSpPr>
          <p:cNvPr id="5" name="Footer Placeholder 4"/>
          <p:cNvSpPr>
            <a:spLocks noGrp="1"/>
          </p:cNvSpPr>
          <p:nvPr>
            <p:ph type="ftr" sz="quarter" idx="11"/>
          </p:nvPr>
        </p:nvSpPr>
        <p:spPr/>
        <p:txBody>
          <a:bodyPr/>
          <a:lstStyle/>
          <a:p>
            <a:endParaRPr lang="en-PK"/>
          </a:p>
        </p:txBody>
      </p:sp>
      <p:sp>
        <p:nvSpPr>
          <p:cNvPr id="6" name="Slide Number Placeholder 5"/>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7075834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3867912"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7818120" y="868680"/>
            <a:ext cx="347472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Date Placeholder 7"/>
          <p:cNvSpPr>
            <a:spLocks noGrp="1"/>
          </p:cNvSpPr>
          <p:nvPr>
            <p:ph type="dt" sz="half" idx="10"/>
          </p:nvPr>
        </p:nvSpPr>
        <p:spPr/>
        <p:txBody>
          <a:bodyPr/>
          <a:lstStyle/>
          <a:p>
            <a:fld id="{CB095779-1EC9-4FDB-B302-57A129EA00C7}" type="datetimeFigureOut">
              <a:rPr lang="en-PK" smtClean="0"/>
              <a:t>04/10/2024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367856326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3867912" y="1023586"/>
            <a:ext cx="3474720" cy="807720"/>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867912"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7818463" y="1023586"/>
            <a:ext cx="3474720" cy="813171"/>
          </a:xfrm>
        </p:spPr>
        <p:txBody>
          <a:bodyPr anchor="b">
            <a:normAutofit/>
          </a:bodyPr>
          <a:lstStyle>
            <a:lvl1pPr marL="0" indent="0">
              <a:spcBef>
                <a:spcPts val="0"/>
              </a:spcBef>
              <a:buNone/>
              <a:defRPr sz="2000" b="1">
                <a:solidFill>
                  <a:schemeClr val="tx1">
                    <a:lumMod val="65000"/>
                    <a:lumOff val="3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7818463" y="1930936"/>
            <a:ext cx="3474720" cy="402336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Date Placeholder 1"/>
          <p:cNvSpPr>
            <a:spLocks noGrp="1"/>
          </p:cNvSpPr>
          <p:nvPr>
            <p:ph type="dt" sz="half" idx="10"/>
          </p:nvPr>
        </p:nvSpPr>
        <p:spPr/>
        <p:txBody>
          <a:bodyPr/>
          <a:lstStyle/>
          <a:p>
            <a:fld id="{CB095779-1EC9-4FDB-B302-57A129EA00C7}" type="datetimeFigureOut">
              <a:rPr lang="en-PK" smtClean="0"/>
              <a:t>04/10/2024</a:t>
            </a:fld>
            <a:endParaRPr lang="en-PK"/>
          </a:p>
        </p:txBody>
      </p:sp>
      <p:sp>
        <p:nvSpPr>
          <p:cNvPr id="11" name="Footer Placeholder 10"/>
          <p:cNvSpPr>
            <a:spLocks noGrp="1"/>
          </p:cNvSpPr>
          <p:nvPr>
            <p:ph type="ftr" sz="quarter" idx="11"/>
          </p:nvPr>
        </p:nvSpPr>
        <p:spPr/>
        <p:txBody>
          <a:bodyPr/>
          <a:lstStyle/>
          <a:p>
            <a:endParaRPr lang="en-PK"/>
          </a:p>
        </p:txBody>
      </p:sp>
      <p:sp>
        <p:nvSpPr>
          <p:cNvPr id="12" name="Slide Number Placeholder 11"/>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3778548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lang="en-US" dirty="0"/>
          </a:p>
        </p:txBody>
      </p:sp>
      <p:sp>
        <p:nvSpPr>
          <p:cNvPr id="2" name="Date Placeholder 1"/>
          <p:cNvSpPr>
            <a:spLocks noGrp="1"/>
          </p:cNvSpPr>
          <p:nvPr>
            <p:ph type="dt" sz="half" idx="10"/>
          </p:nvPr>
        </p:nvSpPr>
        <p:spPr/>
        <p:txBody>
          <a:bodyPr/>
          <a:lstStyle/>
          <a:p>
            <a:fld id="{CB095779-1EC9-4FDB-B302-57A129EA00C7}" type="datetimeFigureOut">
              <a:rPr lang="en-PK" smtClean="0"/>
              <a:t>04/10/2024</a:t>
            </a:fld>
            <a:endParaRPr lang="en-PK"/>
          </a:p>
        </p:txBody>
      </p:sp>
      <p:sp>
        <p:nvSpPr>
          <p:cNvPr id="7" name="Footer Placeholder 6"/>
          <p:cNvSpPr>
            <a:spLocks noGrp="1"/>
          </p:cNvSpPr>
          <p:nvPr>
            <p:ph type="ftr" sz="quarter" idx="11"/>
          </p:nvPr>
        </p:nvSpPr>
        <p:spPr/>
        <p:txBody>
          <a:bodyPr/>
          <a:lstStyle/>
          <a:p>
            <a:endParaRPr lang="en-PK"/>
          </a:p>
        </p:txBody>
      </p:sp>
      <p:sp>
        <p:nvSpPr>
          <p:cNvPr id="8" name="Slide Number Placeholder 7"/>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33595106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B095779-1EC9-4FDB-B302-57A129EA00C7}" type="datetimeFigureOut">
              <a:rPr lang="en-PK" smtClean="0"/>
              <a:t>04/10/2024</a:t>
            </a:fld>
            <a:endParaRPr lang="en-PK"/>
          </a:p>
        </p:txBody>
      </p:sp>
      <p:sp>
        <p:nvSpPr>
          <p:cNvPr id="6" name="Footer Placeholder 5"/>
          <p:cNvSpPr>
            <a:spLocks noGrp="1"/>
          </p:cNvSpPr>
          <p:nvPr>
            <p:ph type="ftr" sz="quarter" idx="11"/>
          </p:nvPr>
        </p:nvSpPr>
        <p:spPr/>
        <p:txBody>
          <a:bodyPr/>
          <a:lstStyle/>
          <a:p>
            <a:endParaRPr lang="en-PK"/>
          </a:p>
        </p:txBody>
      </p:sp>
      <p:sp>
        <p:nvSpPr>
          <p:cNvPr id="7" name="Slide Number Placeholder 6"/>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17240048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baseline="0"/>
            </a:lvl1pPr>
          </a:lstStyle>
          <a:p>
            <a:r>
              <a:rPr lang="en-US"/>
              <a:t>Click to edit Master title style</a:t>
            </a:r>
            <a:endParaRPr lang="en-US" dirty="0"/>
          </a:p>
        </p:txBody>
      </p:sp>
      <p:sp>
        <p:nvSpPr>
          <p:cNvPr id="3" name="Content Placeholder 2"/>
          <p:cNvSpPr>
            <a:spLocks noGrp="1"/>
          </p:cNvSpPr>
          <p:nvPr>
            <p:ph idx="1"/>
          </p:nvPr>
        </p:nvSpPr>
        <p:spPr>
          <a:xfrm>
            <a:off x="3867912" y="868680"/>
            <a:ext cx="7315200" cy="5120640"/>
          </a:xfrm>
        </p:spPr>
        <p:txBody>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256032" y="3494176"/>
            <a:ext cx="2834640" cy="2321990"/>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B095779-1EC9-4FDB-B302-57A129EA00C7}" type="datetimeFigureOut">
              <a:rPr lang="en-PK" smtClean="0"/>
              <a:t>04/10/2024</a:t>
            </a:fld>
            <a:endParaRPr lang="en-PK"/>
          </a:p>
        </p:txBody>
      </p:sp>
      <p:sp>
        <p:nvSpPr>
          <p:cNvPr id="9" name="Footer Placeholder 8"/>
          <p:cNvSpPr>
            <a:spLocks noGrp="1"/>
          </p:cNvSpPr>
          <p:nvPr>
            <p:ph type="ftr" sz="quarter" idx="11"/>
          </p:nvPr>
        </p:nvSpPr>
        <p:spPr/>
        <p:txBody>
          <a:bodyPr/>
          <a:lstStyle/>
          <a:p>
            <a:endParaRPr lang="en-PK"/>
          </a:p>
        </p:txBody>
      </p:sp>
      <p:sp>
        <p:nvSpPr>
          <p:cNvPr id="10" name="Slide Number Placeholder 9"/>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23846189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56032" y="1143000"/>
            <a:ext cx="2834640" cy="2377440"/>
          </a:xfrm>
        </p:spPr>
        <p:txBody>
          <a:bodyPr anchor="b">
            <a:normAutofit/>
          </a:bodyPr>
          <a:lstStyle>
            <a:lvl1pP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3570644" y="767419"/>
            <a:ext cx="8115230" cy="5330952"/>
          </a:xfrm>
          <a:solidFill>
            <a:schemeClr val="bg1">
              <a:lumMod val="75000"/>
            </a:schemeClr>
          </a:solidFill>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256032" y="3493008"/>
            <a:ext cx="2834640" cy="2322576"/>
          </a:xfrm>
        </p:spPr>
        <p:txBody>
          <a:bodyPr anchor="t">
            <a:normAutofit/>
          </a:bodyPr>
          <a:lstStyle>
            <a:lvl1pPr marL="0" indent="0">
              <a:lnSpc>
                <a:spcPct val="100000"/>
              </a:lnSpc>
              <a:buNone/>
              <a:defRPr sz="14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CB095779-1EC9-4FDB-B302-57A129EA00C7}" type="datetimeFigureOut">
              <a:rPr lang="en-PK" smtClean="0"/>
              <a:t>04/10/2024</a:t>
            </a:fld>
            <a:endParaRPr lang="en-PK"/>
          </a:p>
        </p:txBody>
      </p:sp>
      <p:sp>
        <p:nvSpPr>
          <p:cNvPr id="9" name="Footer Placeholder 8"/>
          <p:cNvSpPr>
            <a:spLocks noGrp="1"/>
          </p:cNvSpPr>
          <p:nvPr>
            <p:ph type="ftr" sz="quarter" idx="11"/>
          </p:nvPr>
        </p:nvSpPr>
        <p:spPr>
          <a:xfrm>
            <a:off x="3499101" y="6356350"/>
            <a:ext cx="5911517" cy="365125"/>
          </a:xfrm>
        </p:spPr>
        <p:txBody>
          <a:bodyPr/>
          <a:lstStyle/>
          <a:p>
            <a:endParaRPr lang="en-PK"/>
          </a:p>
        </p:txBody>
      </p:sp>
      <p:sp>
        <p:nvSpPr>
          <p:cNvPr id="10" name="Slide Number Placeholder 9"/>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17730581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095779-1EC9-4FDB-B302-57A129EA00C7}" type="datetimeFigureOut">
              <a:rPr lang="en-PK" smtClean="0"/>
              <a:t>04/10/2024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178416309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81000" y="990600"/>
            <a:ext cx="2819400" cy="4953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3867912" y="868680"/>
            <a:ext cx="7315200" cy="512064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B095779-1EC9-4FDB-B302-57A129EA00C7}" type="datetimeFigureOut">
              <a:rPr lang="en-PK" smtClean="0"/>
              <a:t>04/10/2024</a:t>
            </a:fld>
            <a:endParaRPr lang="en-PK"/>
          </a:p>
        </p:txBody>
      </p:sp>
      <p:sp>
        <p:nvSpPr>
          <p:cNvPr id="8" name="Footer Placeholder 7"/>
          <p:cNvSpPr>
            <a:spLocks noGrp="1"/>
          </p:cNvSpPr>
          <p:nvPr>
            <p:ph type="ftr" sz="quarter" idx="11"/>
          </p:nvPr>
        </p:nvSpPr>
        <p:spPr/>
        <p:txBody>
          <a:bodyPr/>
          <a:lstStyle/>
          <a:p>
            <a:endParaRPr lang="en-PK"/>
          </a:p>
        </p:txBody>
      </p:sp>
      <p:sp>
        <p:nvSpPr>
          <p:cNvPr id="9" name="Slide Number Placeholder 8"/>
          <p:cNvSpPr>
            <a:spLocks noGrp="1"/>
          </p:cNvSpPr>
          <p:nvPr>
            <p:ph type="sldNum" sz="quarter" idx="12"/>
          </p:nvPr>
        </p:nvSpPr>
        <p:spPr/>
        <p:txBody>
          <a:bodyPr/>
          <a:lstStyle/>
          <a:p>
            <a:fld id="{CB02BCDC-A6FB-41C6-9D12-6DE9DB0B845A}" type="slidenum">
              <a:rPr lang="en-PK" smtClean="0"/>
              <a:t>‹#›</a:t>
            </a:fld>
            <a:endParaRPr lang="en-PK"/>
          </a:p>
        </p:txBody>
      </p:sp>
    </p:spTree>
    <p:extLst>
      <p:ext uri="{BB962C8B-B14F-4D97-AF65-F5344CB8AC3E}">
        <p14:creationId xmlns:p14="http://schemas.microsoft.com/office/powerpoint/2010/main" val="1038079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758952"/>
            <a:ext cx="3443590" cy="5330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52919" y="1123837"/>
            <a:ext cx="2947482" cy="460118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8" name="Rectangle 37"/>
          <p:cNvSpPr/>
          <p:nvPr/>
        </p:nvSpPr>
        <p:spPr>
          <a:xfrm>
            <a:off x="11815864" y="758952"/>
            <a:ext cx="384048" cy="5330952"/>
          </a:xfrm>
          <a:prstGeom prst="rect">
            <a:avLst/>
          </a:prstGeom>
          <a:solidFill>
            <a:srgbClr val="C8C8C8">
              <a:alpha val="49804"/>
            </a:srgb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 name="Text Placeholder 2"/>
          <p:cNvSpPr>
            <a:spLocks noGrp="1"/>
          </p:cNvSpPr>
          <p:nvPr>
            <p:ph type="body" idx="1"/>
          </p:nvPr>
        </p:nvSpPr>
        <p:spPr>
          <a:xfrm>
            <a:off x="3869268" y="864108"/>
            <a:ext cx="7315200" cy="512064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62465" y="6356350"/>
            <a:ext cx="2743200"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fld id="{CB095779-1EC9-4FDB-B302-57A129EA00C7}" type="datetimeFigureOut">
              <a:rPr lang="en-PK" smtClean="0"/>
              <a:t>04/10/2024</a:t>
            </a:fld>
            <a:endParaRPr lang="en-PK"/>
          </a:p>
        </p:txBody>
      </p:sp>
      <p:sp>
        <p:nvSpPr>
          <p:cNvPr id="5" name="Footer Placeholder 4"/>
          <p:cNvSpPr>
            <a:spLocks noGrp="1"/>
          </p:cNvSpPr>
          <p:nvPr>
            <p:ph type="ftr" sz="quarter" idx="3"/>
          </p:nvPr>
        </p:nvSpPr>
        <p:spPr>
          <a:xfrm>
            <a:off x="3869268" y="6356350"/>
            <a:ext cx="5911517" cy="365125"/>
          </a:xfrm>
          <a:prstGeom prst="rect">
            <a:avLst/>
          </a:prstGeom>
        </p:spPr>
        <p:txBody>
          <a:bodyPr vert="horz" lIns="91440" tIns="45720" rIns="91440" bIns="45720" rtlCol="0" anchor="ctr"/>
          <a:lstStyle>
            <a:lvl1pPr algn="l">
              <a:defRPr sz="1100">
                <a:solidFill>
                  <a:schemeClr val="tx1">
                    <a:lumMod val="50000"/>
                    <a:lumOff val="50000"/>
                  </a:schemeClr>
                </a:solidFill>
              </a:defRPr>
            </a:lvl1pPr>
          </a:lstStyle>
          <a:p>
            <a:endParaRPr lang="en-PK"/>
          </a:p>
        </p:txBody>
      </p:sp>
      <p:sp>
        <p:nvSpPr>
          <p:cNvPr id="6" name="Slide Number Placeholder 5"/>
          <p:cNvSpPr>
            <a:spLocks noGrp="1"/>
          </p:cNvSpPr>
          <p:nvPr>
            <p:ph type="sldNum" sz="quarter" idx="4"/>
          </p:nvPr>
        </p:nvSpPr>
        <p:spPr>
          <a:xfrm>
            <a:off x="10634135" y="6356350"/>
            <a:ext cx="1530927" cy="365125"/>
          </a:xfrm>
          <a:prstGeom prst="rect">
            <a:avLst/>
          </a:prstGeom>
        </p:spPr>
        <p:txBody>
          <a:bodyPr vert="horz" lIns="91440" tIns="45720" rIns="91440" bIns="45720" rtlCol="0" anchor="ctr"/>
          <a:lstStyle>
            <a:lvl1pPr algn="r">
              <a:defRPr sz="1200" b="1">
                <a:solidFill>
                  <a:schemeClr val="accent1"/>
                </a:solidFill>
              </a:defRPr>
            </a:lvl1pPr>
          </a:lstStyle>
          <a:p>
            <a:fld id="{CB02BCDC-A6FB-41C6-9D12-6DE9DB0B845A}" type="slidenum">
              <a:rPr lang="en-PK" smtClean="0"/>
              <a:t>‹#›</a:t>
            </a:fld>
            <a:endParaRPr lang="en-PK"/>
          </a:p>
        </p:txBody>
      </p:sp>
    </p:spTree>
    <p:extLst>
      <p:ext uri="{BB962C8B-B14F-4D97-AF65-F5344CB8AC3E}">
        <p14:creationId xmlns:p14="http://schemas.microsoft.com/office/powerpoint/2010/main" val="208945757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3600" kern="1200" spc="-60" baseline="0">
          <a:solidFill>
            <a:srgbClr val="FFFFFF"/>
          </a:solidFill>
          <a:latin typeface="+mj-lt"/>
          <a:ea typeface="+mj-ea"/>
          <a:cs typeface="+mj-cs"/>
        </a:defRPr>
      </a:lvl1pPr>
    </p:titleStyle>
    <p:bodyStyle>
      <a:lvl1pPr marL="182880" indent="-182880" algn="l" defTabSz="914400" rtl="0" eaLnBrk="1" latinLnBrk="0" hangingPunct="1">
        <a:lnSpc>
          <a:spcPct val="90000"/>
        </a:lnSpc>
        <a:spcBef>
          <a:spcPts val="1200"/>
        </a:spcBef>
        <a:buClr>
          <a:schemeClr val="accent1"/>
        </a:buClr>
        <a:buFont typeface="Wingdings 2" pitchFamily="18" charset="2"/>
        <a:buChar char=""/>
        <a:defRPr sz="2000" kern="1200">
          <a:solidFill>
            <a:schemeClr val="tx1">
              <a:lumMod val="65000"/>
              <a:lumOff val="35000"/>
            </a:schemeClr>
          </a:solidFill>
          <a:latin typeface="+mn-lt"/>
          <a:ea typeface="+mn-ea"/>
          <a:cs typeface="+mn-cs"/>
        </a:defRPr>
      </a:lvl1pPr>
      <a:lvl2pPr marL="6858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800" kern="1200">
          <a:solidFill>
            <a:schemeClr val="tx1">
              <a:lumMod val="65000"/>
              <a:lumOff val="35000"/>
            </a:schemeClr>
          </a:solidFill>
          <a:latin typeface="+mn-lt"/>
          <a:ea typeface="+mn-ea"/>
          <a:cs typeface="+mn-cs"/>
        </a:defRPr>
      </a:lvl2pPr>
      <a:lvl3pPr marL="11430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600" kern="1200">
          <a:solidFill>
            <a:schemeClr val="tx1">
              <a:lumMod val="65000"/>
              <a:lumOff val="35000"/>
            </a:schemeClr>
          </a:solidFill>
          <a:latin typeface="+mn-lt"/>
          <a:ea typeface="+mn-ea"/>
          <a:cs typeface="+mn-cs"/>
        </a:defRPr>
      </a:lvl3pPr>
      <a:lvl4pPr marL="16002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4pPr>
      <a:lvl5pPr marL="2057400" indent="-18288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s://sciencepod.net/technical-design-authority" TargetMode="External"/><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41E732-90E1-352C-AD3A-D19DF0AF8764}"/>
              </a:ext>
            </a:extLst>
          </p:cNvPr>
          <p:cNvSpPr>
            <a:spLocks noGrp="1"/>
          </p:cNvSpPr>
          <p:nvPr>
            <p:ph type="ctrTitle"/>
          </p:nvPr>
        </p:nvSpPr>
        <p:spPr/>
        <p:txBody>
          <a:bodyPr/>
          <a:lstStyle/>
          <a:p>
            <a:r>
              <a:rPr lang="en-US" dirty="0"/>
              <a:t>The process of UX design</a:t>
            </a:r>
            <a:endParaRPr lang="en-PK" dirty="0"/>
          </a:p>
        </p:txBody>
      </p:sp>
      <p:sp>
        <p:nvSpPr>
          <p:cNvPr id="3" name="Subtitle 2">
            <a:extLst>
              <a:ext uri="{FF2B5EF4-FFF2-40B4-BE49-F238E27FC236}">
                <a16:creationId xmlns:a16="http://schemas.microsoft.com/office/drawing/2014/main" id="{0178921C-0821-4257-A02D-BBC7FE665039}"/>
              </a:ext>
            </a:extLst>
          </p:cNvPr>
          <p:cNvSpPr>
            <a:spLocks noGrp="1"/>
          </p:cNvSpPr>
          <p:nvPr>
            <p:ph type="subTitle" idx="1"/>
          </p:nvPr>
        </p:nvSpPr>
        <p:spPr/>
        <p:txBody>
          <a:bodyPr/>
          <a:lstStyle/>
          <a:p>
            <a:r>
              <a:rPr lang="en-US" dirty="0"/>
              <a:t>Ms. Iqra Shahzad</a:t>
            </a:r>
          </a:p>
          <a:p>
            <a:r>
              <a:rPr lang="en-US" dirty="0"/>
              <a:t>Department of Software Engineering, NUML, Islamabad.</a:t>
            </a:r>
          </a:p>
          <a:p>
            <a:endParaRPr lang="en-US" dirty="0"/>
          </a:p>
          <a:p>
            <a:endParaRPr lang="en-PK" dirty="0"/>
          </a:p>
        </p:txBody>
      </p:sp>
    </p:spTree>
    <p:extLst>
      <p:ext uri="{BB962C8B-B14F-4D97-AF65-F5344CB8AC3E}">
        <p14:creationId xmlns:p14="http://schemas.microsoft.com/office/powerpoint/2010/main" val="3541101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161EB1-6B92-17AB-A290-2E195D8EBD17}"/>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C622A908-BC5B-18C7-5BC0-3535FBA33F0D}"/>
              </a:ext>
            </a:extLst>
          </p:cNvPr>
          <p:cNvPicPr>
            <a:picLocks noGrp="1" noChangeAspect="1"/>
          </p:cNvPicPr>
          <p:nvPr>
            <p:ph idx="1"/>
          </p:nvPr>
        </p:nvPicPr>
        <p:blipFill>
          <a:blip r:embed="rId2"/>
          <a:stretch>
            <a:fillRect/>
          </a:stretch>
        </p:blipFill>
        <p:spPr>
          <a:xfrm>
            <a:off x="3868738" y="1045493"/>
            <a:ext cx="7315200" cy="4757489"/>
          </a:xfrm>
        </p:spPr>
      </p:pic>
    </p:spTree>
    <p:extLst>
      <p:ext uri="{BB962C8B-B14F-4D97-AF65-F5344CB8AC3E}">
        <p14:creationId xmlns:p14="http://schemas.microsoft.com/office/powerpoint/2010/main" val="40666717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41F3C-2152-E1E0-4B92-75A46BE55D5D}"/>
              </a:ext>
            </a:extLst>
          </p:cNvPr>
          <p:cNvSpPr>
            <a:spLocks noGrp="1"/>
          </p:cNvSpPr>
          <p:nvPr>
            <p:ph type="title"/>
          </p:nvPr>
        </p:nvSpPr>
        <p:spPr/>
        <p:txBody>
          <a:bodyPr/>
          <a:lstStyle/>
          <a:p>
            <a:r>
              <a:rPr lang="en-US" dirty="0"/>
              <a:t>UX design process</a:t>
            </a:r>
            <a:endParaRPr lang="en-PK" dirty="0"/>
          </a:p>
        </p:txBody>
      </p:sp>
      <p:sp>
        <p:nvSpPr>
          <p:cNvPr id="3" name="Content Placeholder 2">
            <a:extLst>
              <a:ext uri="{FF2B5EF4-FFF2-40B4-BE49-F238E27FC236}">
                <a16:creationId xmlns:a16="http://schemas.microsoft.com/office/drawing/2014/main" id="{C25D6AF3-5D5A-7E4B-9A9E-9EC49C80D7AB}"/>
              </a:ext>
            </a:extLst>
          </p:cNvPr>
          <p:cNvSpPr>
            <a:spLocks noGrp="1"/>
          </p:cNvSpPr>
          <p:nvPr>
            <p:ph idx="1"/>
          </p:nvPr>
        </p:nvSpPr>
        <p:spPr/>
        <p:txBody>
          <a:bodyPr>
            <a:normAutofit lnSpcReduction="10000"/>
          </a:bodyPr>
          <a:lstStyle/>
          <a:p>
            <a:r>
              <a:rPr lang="en-US" b="0" i="0" dirty="0">
                <a:solidFill>
                  <a:srgbClr val="260B1F"/>
                </a:solidFill>
                <a:effectLst/>
                <a:latin typeface="Mabry001"/>
              </a:rPr>
              <a:t>A UX design process is a series of steps that designers take to turn an idea into a user-friendly interface. The steps may vary depending on the project.</a:t>
            </a:r>
          </a:p>
          <a:p>
            <a:r>
              <a:rPr lang="en-US" dirty="0">
                <a:solidFill>
                  <a:srgbClr val="260B1F"/>
                </a:solidFill>
                <a:latin typeface="Mabry001"/>
              </a:rPr>
              <a:t>Typically includes:</a:t>
            </a:r>
          </a:p>
          <a:p>
            <a:pPr algn="l">
              <a:buFont typeface="Arial" panose="020B0604020202020204" pitchFamily="34" charset="0"/>
              <a:buChar char="•"/>
            </a:pPr>
            <a:r>
              <a:rPr lang="en-US" b="0" i="0" dirty="0">
                <a:solidFill>
                  <a:srgbClr val="260B1F"/>
                </a:solidFill>
                <a:effectLst/>
                <a:latin typeface="Mabry001"/>
              </a:rPr>
              <a:t>Step 1: Define</a:t>
            </a:r>
          </a:p>
          <a:p>
            <a:pPr algn="l">
              <a:buFont typeface="Arial" panose="020B0604020202020204" pitchFamily="34" charset="0"/>
              <a:buChar char="•"/>
            </a:pPr>
            <a:r>
              <a:rPr lang="en-US" b="0" i="0" dirty="0">
                <a:solidFill>
                  <a:srgbClr val="260B1F"/>
                </a:solidFill>
                <a:effectLst/>
                <a:latin typeface="Mabry001"/>
              </a:rPr>
              <a:t>Step 2: Research</a:t>
            </a:r>
          </a:p>
          <a:p>
            <a:pPr algn="l">
              <a:buFont typeface="Arial" panose="020B0604020202020204" pitchFamily="34" charset="0"/>
              <a:buChar char="•"/>
            </a:pPr>
            <a:r>
              <a:rPr lang="en-US" b="0" i="0" dirty="0">
                <a:solidFill>
                  <a:srgbClr val="260B1F"/>
                </a:solidFill>
                <a:effectLst/>
                <a:latin typeface="Mabry001"/>
              </a:rPr>
              <a:t>Step 3: Analysis &amp; Planning</a:t>
            </a:r>
          </a:p>
          <a:p>
            <a:pPr algn="l">
              <a:buFont typeface="Arial" panose="020B0604020202020204" pitchFamily="34" charset="0"/>
              <a:buChar char="•"/>
            </a:pPr>
            <a:r>
              <a:rPr lang="en-US" b="0" i="0" dirty="0">
                <a:solidFill>
                  <a:srgbClr val="260B1F"/>
                </a:solidFill>
                <a:effectLst/>
                <a:latin typeface="Mabry001"/>
              </a:rPr>
              <a:t>Step 4: Design</a:t>
            </a:r>
          </a:p>
          <a:p>
            <a:pPr algn="l">
              <a:buFont typeface="Arial" panose="020B0604020202020204" pitchFamily="34" charset="0"/>
              <a:buChar char="•"/>
            </a:pPr>
            <a:r>
              <a:rPr lang="en-US" b="0" i="0" dirty="0">
                <a:solidFill>
                  <a:srgbClr val="260B1F"/>
                </a:solidFill>
                <a:effectLst/>
                <a:latin typeface="Mabry001"/>
              </a:rPr>
              <a:t>Step 5: Prototyping</a:t>
            </a:r>
          </a:p>
          <a:p>
            <a:pPr algn="l">
              <a:buFont typeface="Arial" panose="020B0604020202020204" pitchFamily="34" charset="0"/>
              <a:buChar char="•"/>
            </a:pPr>
            <a:r>
              <a:rPr lang="en-US" b="0" i="0" dirty="0">
                <a:solidFill>
                  <a:srgbClr val="260B1F"/>
                </a:solidFill>
                <a:effectLst/>
                <a:latin typeface="Mabry001"/>
              </a:rPr>
              <a:t>Step 6: Testing</a:t>
            </a:r>
          </a:p>
          <a:p>
            <a:pPr algn="l">
              <a:buFont typeface="Arial" panose="020B0604020202020204" pitchFamily="34" charset="0"/>
              <a:buChar char="•"/>
            </a:pPr>
            <a:r>
              <a:rPr lang="en-US" b="0" i="0" dirty="0">
                <a:solidFill>
                  <a:srgbClr val="260B1F"/>
                </a:solidFill>
                <a:effectLst/>
                <a:latin typeface="Mabry001"/>
              </a:rPr>
              <a:t>Step 7: Launch</a:t>
            </a:r>
          </a:p>
          <a:p>
            <a:pPr algn="l">
              <a:buFont typeface="Arial" panose="020B0604020202020204" pitchFamily="34" charset="0"/>
              <a:buChar char="•"/>
            </a:pPr>
            <a:r>
              <a:rPr lang="en-US" b="0" i="0" dirty="0">
                <a:solidFill>
                  <a:srgbClr val="260B1F"/>
                </a:solidFill>
                <a:effectLst/>
                <a:latin typeface="Mabry001"/>
              </a:rPr>
              <a:t>Step 8: Iteration</a:t>
            </a:r>
          </a:p>
          <a:p>
            <a:br>
              <a:rPr lang="en-US" dirty="0"/>
            </a:br>
            <a:endParaRPr lang="en-PK" dirty="0"/>
          </a:p>
        </p:txBody>
      </p:sp>
    </p:spTree>
    <p:extLst>
      <p:ext uri="{BB962C8B-B14F-4D97-AF65-F5344CB8AC3E}">
        <p14:creationId xmlns:p14="http://schemas.microsoft.com/office/powerpoint/2010/main" val="38468130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F8D20F-4CBE-1B75-B289-F15C93F64EF1}"/>
              </a:ext>
            </a:extLst>
          </p:cNvPr>
          <p:cNvSpPr>
            <a:spLocks noGrp="1"/>
          </p:cNvSpPr>
          <p:nvPr>
            <p:ph type="title"/>
          </p:nvPr>
        </p:nvSpPr>
        <p:spPr/>
        <p:txBody>
          <a:bodyPr/>
          <a:lstStyle/>
          <a:p>
            <a:r>
              <a:rPr lang="en-US" dirty="0"/>
              <a:t>Design process</a:t>
            </a:r>
            <a:endParaRPr lang="en-PK" dirty="0"/>
          </a:p>
        </p:txBody>
      </p:sp>
      <p:pic>
        <p:nvPicPr>
          <p:cNvPr id="5" name="Content Placeholder 4">
            <a:extLst>
              <a:ext uri="{FF2B5EF4-FFF2-40B4-BE49-F238E27FC236}">
                <a16:creationId xmlns:a16="http://schemas.microsoft.com/office/drawing/2014/main" id="{A736A4E2-EEA0-F08D-1FA9-F156F646BCE4}"/>
              </a:ext>
            </a:extLst>
          </p:cNvPr>
          <p:cNvPicPr>
            <a:picLocks noGrp="1" noChangeAspect="1"/>
          </p:cNvPicPr>
          <p:nvPr>
            <p:ph idx="1"/>
          </p:nvPr>
        </p:nvPicPr>
        <p:blipFill>
          <a:blip r:embed="rId2"/>
          <a:stretch>
            <a:fillRect/>
          </a:stretch>
        </p:blipFill>
        <p:spPr>
          <a:xfrm>
            <a:off x="4333334" y="863600"/>
            <a:ext cx="6386007" cy="5121275"/>
          </a:xfrm>
        </p:spPr>
      </p:pic>
    </p:spTree>
    <p:extLst>
      <p:ext uri="{BB962C8B-B14F-4D97-AF65-F5344CB8AC3E}">
        <p14:creationId xmlns:p14="http://schemas.microsoft.com/office/powerpoint/2010/main" val="32437379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21DB095-962A-FF21-5D6F-503DA241308B}"/>
              </a:ext>
            </a:extLst>
          </p:cNvPr>
          <p:cNvSpPr>
            <a:spLocks noGrp="1"/>
          </p:cNvSpPr>
          <p:nvPr>
            <p:ph type="title"/>
          </p:nvPr>
        </p:nvSpPr>
        <p:spPr/>
        <p:txBody>
          <a:bodyPr/>
          <a:lstStyle/>
          <a:p>
            <a:r>
              <a:rPr lang="en-US" dirty="0"/>
              <a:t>Understanding </a:t>
            </a:r>
            <a:endParaRPr lang="en-PK" dirty="0"/>
          </a:p>
        </p:txBody>
      </p:sp>
      <p:pic>
        <p:nvPicPr>
          <p:cNvPr id="5" name="Content Placeholder 4">
            <a:extLst>
              <a:ext uri="{FF2B5EF4-FFF2-40B4-BE49-F238E27FC236}">
                <a16:creationId xmlns:a16="http://schemas.microsoft.com/office/drawing/2014/main" id="{F273A2C5-82AC-B426-BA93-1ACB72AC518B}"/>
              </a:ext>
            </a:extLst>
          </p:cNvPr>
          <p:cNvPicPr>
            <a:picLocks noGrp="1" noChangeAspect="1"/>
          </p:cNvPicPr>
          <p:nvPr>
            <p:ph idx="1"/>
          </p:nvPr>
        </p:nvPicPr>
        <p:blipFill>
          <a:blip r:embed="rId2"/>
          <a:stretch>
            <a:fillRect/>
          </a:stretch>
        </p:blipFill>
        <p:spPr>
          <a:xfrm>
            <a:off x="4073043" y="885470"/>
            <a:ext cx="6906589" cy="5077534"/>
          </a:xfrm>
        </p:spPr>
      </p:pic>
      <p:sp>
        <p:nvSpPr>
          <p:cNvPr id="6" name="TextBox 5">
            <a:extLst>
              <a:ext uri="{FF2B5EF4-FFF2-40B4-BE49-F238E27FC236}">
                <a16:creationId xmlns:a16="http://schemas.microsoft.com/office/drawing/2014/main" id="{A54548C8-E4A3-B3A6-47AA-9C6A8B9041B1}"/>
              </a:ext>
            </a:extLst>
          </p:cNvPr>
          <p:cNvSpPr txBox="1"/>
          <p:nvPr/>
        </p:nvSpPr>
        <p:spPr>
          <a:xfrm>
            <a:off x="6193536" y="2901696"/>
            <a:ext cx="2295821" cy="369332"/>
          </a:xfrm>
          <a:prstGeom prst="rect">
            <a:avLst/>
          </a:prstGeom>
          <a:noFill/>
        </p:spPr>
        <p:txBody>
          <a:bodyPr wrap="none" rtlCol="0">
            <a:spAutoFit/>
          </a:bodyPr>
          <a:lstStyle/>
          <a:p>
            <a:r>
              <a:rPr lang="en-US" dirty="0"/>
              <a:t>(Users and their tasks)</a:t>
            </a:r>
            <a:endParaRPr lang="en-PK" dirty="0"/>
          </a:p>
        </p:txBody>
      </p:sp>
      <p:sp>
        <p:nvSpPr>
          <p:cNvPr id="7" name="TextBox 6">
            <a:extLst>
              <a:ext uri="{FF2B5EF4-FFF2-40B4-BE49-F238E27FC236}">
                <a16:creationId xmlns:a16="http://schemas.microsoft.com/office/drawing/2014/main" id="{6C735B35-BA55-F3FE-0821-F365EA495ACA}"/>
              </a:ext>
            </a:extLst>
          </p:cNvPr>
          <p:cNvSpPr txBox="1"/>
          <p:nvPr/>
        </p:nvSpPr>
        <p:spPr>
          <a:xfrm>
            <a:off x="7104616" y="3217641"/>
            <a:ext cx="4214359" cy="369332"/>
          </a:xfrm>
          <a:prstGeom prst="rect">
            <a:avLst/>
          </a:prstGeom>
          <a:noFill/>
        </p:spPr>
        <p:txBody>
          <a:bodyPr wrap="none" rtlCol="0">
            <a:spAutoFit/>
          </a:bodyPr>
          <a:lstStyle/>
          <a:p>
            <a:r>
              <a:rPr lang="en-US" dirty="0"/>
              <a:t>Technology what is compatible and </a:t>
            </a:r>
            <a:r>
              <a:rPr lang="en-US" dirty="0" err="1"/>
              <a:t>fesible</a:t>
            </a:r>
            <a:endParaRPr lang="en-PK" dirty="0"/>
          </a:p>
        </p:txBody>
      </p:sp>
      <p:sp>
        <p:nvSpPr>
          <p:cNvPr id="8" name="TextBox 7">
            <a:extLst>
              <a:ext uri="{FF2B5EF4-FFF2-40B4-BE49-F238E27FC236}">
                <a16:creationId xmlns:a16="http://schemas.microsoft.com/office/drawing/2014/main" id="{C88BA040-5A7A-EB32-C54D-938F668E9E6C}"/>
              </a:ext>
            </a:extLst>
          </p:cNvPr>
          <p:cNvSpPr txBox="1"/>
          <p:nvPr/>
        </p:nvSpPr>
        <p:spPr>
          <a:xfrm>
            <a:off x="6467856" y="4687824"/>
            <a:ext cx="2442015" cy="369332"/>
          </a:xfrm>
          <a:prstGeom prst="rect">
            <a:avLst/>
          </a:prstGeom>
          <a:noFill/>
        </p:spPr>
        <p:txBody>
          <a:bodyPr wrap="none" rtlCol="0">
            <a:spAutoFit/>
          </a:bodyPr>
          <a:lstStyle/>
          <a:p>
            <a:r>
              <a:rPr lang="en-US" dirty="0"/>
              <a:t>(Users and background)</a:t>
            </a:r>
            <a:endParaRPr lang="en-PK" dirty="0"/>
          </a:p>
        </p:txBody>
      </p:sp>
    </p:spTree>
    <p:extLst>
      <p:ext uri="{BB962C8B-B14F-4D97-AF65-F5344CB8AC3E}">
        <p14:creationId xmlns:p14="http://schemas.microsoft.com/office/powerpoint/2010/main" val="3425196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832116-68A2-43A2-2F0D-3239D3781AE8}"/>
              </a:ext>
            </a:extLst>
          </p:cNvPr>
          <p:cNvSpPr>
            <a:spLocks noGrp="1"/>
          </p:cNvSpPr>
          <p:nvPr>
            <p:ph type="title"/>
          </p:nvPr>
        </p:nvSpPr>
        <p:spPr/>
        <p:txBody>
          <a:bodyPr/>
          <a:lstStyle/>
          <a:p>
            <a:r>
              <a:rPr lang="en-US" dirty="0"/>
              <a:t>Conceptual design </a:t>
            </a:r>
            <a:endParaRPr lang="en-PK" dirty="0"/>
          </a:p>
        </p:txBody>
      </p:sp>
      <p:pic>
        <p:nvPicPr>
          <p:cNvPr id="5" name="Content Placeholder 4">
            <a:extLst>
              <a:ext uri="{FF2B5EF4-FFF2-40B4-BE49-F238E27FC236}">
                <a16:creationId xmlns:a16="http://schemas.microsoft.com/office/drawing/2014/main" id="{0EDEFDA6-2F85-6F83-3977-50ECCD230E6D}"/>
              </a:ext>
            </a:extLst>
          </p:cNvPr>
          <p:cNvPicPr>
            <a:picLocks noGrp="1" noChangeAspect="1"/>
          </p:cNvPicPr>
          <p:nvPr>
            <p:ph idx="1"/>
          </p:nvPr>
        </p:nvPicPr>
        <p:blipFill>
          <a:blip r:embed="rId2"/>
          <a:stretch>
            <a:fillRect/>
          </a:stretch>
        </p:blipFill>
        <p:spPr>
          <a:xfrm>
            <a:off x="3754946" y="2746207"/>
            <a:ext cx="7315200" cy="1536447"/>
          </a:xfrm>
        </p:spPr>
      </p:pic>
      <p:sp>
        <p:nvSpPr>
          <p:cNvPr id="7" name="TextBox 6">
            <a:extLst>
              <a:ext uri="{FF2B5EF4-FFF2-40B4-BE49-F238E27FC236}">
                <a16:creationId xmlns:a16="http://schemas.microsoft.com/office/drawing/2014/main" id="{955FEDD3-9E41-DA2D-8CA7-00A81C55ADEA}"/>
              </a:ext>
            </a:extLst>
          </p:cNvPr>
          <p:cNvSpPr txBox="1"/>
          <p:nvPr/>
        </p:nvSpPr>
        <p:spPr>
          <a:xfrm>
            <a:off x="3754946" y="1123837"/>
            <a:ext cx="6102096" cy="1477328"/>
          </a:xfrm>
          <a:prstGeom prst="rect">
            <a:avLst/>
          </a:prstGeom>
          <a:noFill/>
        </p:spPr>
        <p:txBody>
          <a:bodyPr wrap="square">
            <a:spAutoFit/>
          </a:bodyPr>
          <a:lstStyle/>
          <a:p>
            <a:pPr algn="just"/>
            <a:r>
              <a:rPr lang="en-US" dirty="0">
                <a:effectLst>
                  <a:outerShdw blurRad="38100" dist="38100" dir="2700000" algn="tl">
                    <a:srgbClr val="000000">
                      <a:alpha val="43137"/>
                    </a:srgbClr>
                  </a:outerShdw>
                </a:effectLst>
                <a:latin typeface="Google Sans"/>
              </a:rPr>
              <a:t>I</a:t>
            </a:r>
            <a:r>
              <a:rPr lang="en-US" b="0" i="0" dirty="0">
                <a:effectLst>
                  <a:outerShdw blurRad="38100" dist="38100" dir="2700000" algn="tl">
                    <a:srgbClr val="000000">
                      <a:alpha val="43137"/>
                    </a:srgbClr>
                  </a:outerShdw>
                </a:effectLst>
                <a:latin typeface="Google Sans"/>
              </a:rPr>
              <a:t>n UX design process , </a:t>
            </a:r>
            <a:r>
              <a:rPr lang="en-US" b="1" i="0" dirty="0">
                <a:effectLst>
                  <a:outerShdw blurRad="38100" dist="38100" dir="2700000" algn="tl">
                    <a:srgbClr val="000000">
                      <a:alpha val="43137"/>
                    </a:srgbClr>
                  </a:outerShdw>
                </a:effectLst>
                <a:latin typeface="Google Sans"/>
              </a:rPr>
              <a:t>a conceptual model provides a mental framework that users rely on to predict and understand a system's functionality. </a:t>
            </a:r>
          </a:p>
          <a:p>
            <a:pPr algn="just"/>
            <a:r>
              <a:rPr lang="en-US" b="0" i="0" dirty="0">
                <a:effectLst>
                  <a:outerShdw blurRad="38100" dist="38100" dir="2700000" algn="tl">
                    <a:srgbClr val="000000">
                      <a:alpha val="43137"/>
                    </a:srgbClr>
                  </a:outerShdw>
                </a:effectLst>
                <a:latin typeface="Google Sans"/>
              </a:rPr>
              <a:t>It bridges the gap between </a:t>
            </a:r>
            <a:r>
              <a:rPr lang="en-US" b="0" i="0" u="sng" dirty="0">
                <a:effectLst>
                  <a:outerShdw blurRad="38100" dist="38100" dir="2700000" algn="tl">
                    <a:srgbClr val="000000">
                      <a:alpha val="43137"/>
                    </a:srgbClr>
                  </a:outerShdw>
                </a:effectLst>
                <a:latin typeface="Google Sans"/>
              </a:rPr>
              <a:t>user expectations and the product's functions,</a:t>
            </a:r>
            <a:endParaRPr lang="en-PK" u="sng" dirty="0">
              <a:effectLst>
                <a:outerShdw blurRad="38100" dist="38100" dir="2700000" algn="tl">
                  <a:srgbClr val="000000">
                    <a:alpha val="43137"/>
                  </a:srgbClr>
                </a:outerShdw>
              </a:effectLst>
            </a:endParaRPr>
          </a:p>
        </p:txBody>
      </p:sp>
      <p:sp>
        <p:nvSpPr>
          <p:cNvPr id="9" name="TextBox 8">
            <a:extLst>
              <a:ext uri="{FF2B5EF4-FFF2-40B4-BE49-F238E27FC236}">
                <a16:creationId xmlns:a16="http://schemas.microsoft.com/office/drawing/2014/main" id="{5679E60B-AA55-88B6-BAB8-7FD70D1D2C79}"/>
              </a:ext>
            </a:extLst>
          </p:cNvPr>
          <p:cNvSpPr txBox="1"/>
          <p:nvPr/>
        </p:nvSpPr>
        <p:spPr>
          <a:xfrm>
            <a:off x="3754946" y="4427696"/>
            <a:ext cx="7235634" cy="1477328"/>
          </a:xfrm>
          <a:prstGeom prst="rect">
            <a:avLst/>
          </a:prstGeom>
          <a:noFill/>
        </p:spPr>
        <p:txBody>
          <a:bodyPr wrap="square">
            <a:spAutoFit/>
          </a:bodyPr>
          <a:lstStyle/>
          <a:p>
            <a:r>
              <a:rPr lang="en-US" b="0" i="0" dirty="0">
                <a:solidFill>
                  <a:srgbClr val="454545"/>
                </a:solidFill>
                <a:effectLst/>
                <a:latin typeface="Montserrat" panose="020F0502020204030204" pitchFamily="2" charset="0"/>
              </a:rPr>
              <a:t>For instance, </a:t>
            </a:r>
            <a:r>
              <a:rPr lang="en-US" b="1" i="0" dirty="0">
                <a:solidFill>
                  <a:srgbClr val="454545"/>
                </a:solidFill>
                <a:effectLst>
                  <a:outerShdw blurRad="38100" dist="38100" dir="2700000" algn="tl">
                    <a:srgbClr val="000000">
                      <a:alpha val="43137"/>
                    </a:srgbClr>
                  </a:outerShdw>
                </a:effectLst>
                <a:latin typeface="Montserrat" panose="020F0502020204030204" pitchFamily="2" charset="0"/>
              </a:rPr>
              <a:t>Apple’s iPhone interface </a:t>
            </a:r>
            <a:r>
              <a:rPr lang="en-US" b="0" i="0" dirty="0">
                <a:solidFill>
                  <a:srgbClr val="454545"/>
                </a:solidFill>
                <a:effectLst/>
                <a:latin typeface="Montserrat" panose="020F0502020204030204" pitchFamily="2" charset="0"/>
              </a:rPr>
              <a:t>seamlessly embodies conceptual design, prioritizing user-friendly navigation and aesthetic appeal. The development of such a design could be influenced by a </a:t>
            </a:r>
            <a:r>
              <a:rPr lang="en-US" b="0" i="0" u="sng" dirty="0">
                <a:solidFill>
                  <a:srgbClr val="308391"/>
                </a:solidFill>
                <a:effectLst/>
                <a:latin typeface="Montserrat" panose="020F0502020204030204" pitchFamily="2" charset="0"/>
                <a:hlinkClick r:id="rId3"/>
              </a:rPr>
              <a:t>technical design authority</a:t>
            </a:r>
            <a:r>
              <a:rPr lang="en-US" b="0" i="0" dirty="0">
                <a:solidFill>
                  <a:srgbClr val="454545"/>
                </a:solidFill>
                <a:effectLst/>
                <a:latin typeface="Montserrat" panose="020F0502020204030204" pitchFamily="2" charset="0"/>
              </a:rPr>
              <a:t>, which defines and ensures adherence to technical standards and practices.</a:t>
            </a:r>
            <a:endParaRPr lang="en-PK" dirty="0"/>
          </a:p>
        </p:txBody>
      </p:sp>
    </p:spTree>
    <p:extLst>
      <p:ext uri="{BB962C8B-B14F-4D97-AF65-F5344CB8AC3E}">
        <p14:creationId xmlns:p14="http://schemas.microsoft.com/office/powerpoint/2010/main" val="180195212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52C3E2-75A8-AC4F-37C6-E345FD8D0183}"/>
              </a:ext>
            </a:extLst>
          </p:cNvPr>
          <p:cNvSpPr>
            <a:spLocks noGrp="1"/>
          </p:cNvSpPr>
          <p:nvPr>
            <p:ph type="title"/>
          </p:nvPr>
        </p:nvSpPr>
        <p:spPr/>
        <p:txBody>
          <a:bodyPr/>
          <a:lstStyle/>
          <a:p>
            <a:r>
              <a:rPr lang="en-US" dirty="0"/>
              <a:t>Examples</a:t>
            </a:r>
            <a:br>
              <a:rPr lang="en-US" dirty="0"/>
            </a:br>
            <a:endParaRPr lang="en-PK" dirty="0"/>
          </a:p>
        </p:txBody>
      </p:sp>
      <p:pic>
        <p:nvPicPr>
          <p:cNvPr id="4" name="Content Placeholder 3">
            <a:extLst>
              <a:ext uri="{FF2B5EF4-FFF2-40B4-BE49-F238E27FC236}">
                <a16:creationId xmlns:a16="http://schemas.microsoft.com/office/drawing/2014/main" id="{26E0D524-EC10-0175-2E56-6264E7717CFA}"/>
              </a:ext>
            </a:extLst>
          </p:cNvPr>
          <p:cNvPicPr>
            <a:picLocks noGrp="1" noChangeAspect="1"/>
          </p:cNvPicPr>
          <p:nvPr>
            <p:ph idx="1"/>
          </p:nvPr>
        </p:nvPicPr>
        <p:blipFill>
          <a:blip r:embed="rId2"/>
          <a:stretch>
            <a:fillRect/>
          </a:stretch>
        </p:blipFill>
        <p:spPr>
          <a:xfrm>
            <a:off x="3998538" y="863601"/>
            <a:ext cx="3905294" cy="2834640"/>
          </a:xfrm>
          <a:prstGeom prst="rect">
            <a:avLst/>
          </a:prstGeom>
          <a:ln w="127000" cap="sq">
            <a:solidFill>
              <a:srgbClr val="000000"/>
            </a:solidFill>
            <a:miter lim="800000"/>
          </a:ln>
          <a:effectLst>
            <a:outerShdw blurRad="57150" dist="50800" dir="2700000" algn="tl" rotWithShape="0">
              <a:srgbClr val="000000">
                <a:alpha val="40000"/>
              </a:srgbClr>
            </a:outerShdw>
          </a:effectLst>
        </p:spPr>
      </p:pic>
      <p:pic>
        <p:nvPicPr>
          <p:cNvPr id="5" name="Picture 4">
            <a:extLst>
              <a:ext uri="{FF2B5EF4-FFF2-40B4-BE49-F238E27FC236}">
                <a16:creationId xmlns:a16="http://schemas.microsoft.com/office/drawing/2014/main" id="{4BC9F311-1720-1116-86A8-35F2E74EFEA6}"/>
              </a:ext>
            </a:extLst>
          </p:cNvPr>
          <p:cNvPicPr>
            <a:picLocks noChangeAspect="1"/>
          </p:cNvPicPr>
          <p:nvPr/>
        </p:nvPicPr>
        <p:blipFill>
          <a:blip r:embed="rId3"/>
          <a:stretch>
            <a:fillRect/>
          </a:stretch>
        </p:blipFill>
        <p:spPr>
          <a:xfrm>
            <a:off x="6785610" y="3424428"/>
            <a:ext cx="5014565" cy="2592070"/>
          </a:xfrm>
          <a:prstGeom prst="rect">
            <a:avLst/>
          </a:prstGeom>
          <a:ln w="88900" cap="sq" cmpd="thickThin">
            <a:solidFill>
              <a:srgbClr val="000000"/>
            </a:solidFill>
            <a:prstDash val="solid"/>
            <a:miter lim="800000"/>
          </a:ln>
          <a:effectLst>
            <a:innerShdw blurRad="76200">
              <a:srgbClr val="000000"/>
            </a:innerShdw>
          </a:effectLst>
        </p:spPr>
      </p:pic>
      <p:pic>
        <p:nvPicPr>
          <p:cNvPr id="6" name="Picture 5">
            <a:extLst>
              <a:ext uri="{FF2B5EF4-FFF2-40B4-BE49-F238E27FC236}">
                <a16:creationId xmlns:a16="http://schemas.microsoft.com/office/drawing/2014/main" id="{F70D3E07-31B7-6ACD-C440-F72CD480469A}"/>
              </a:ext>
            </a:extLst>
          </p:cNvPr>
          <p:cNvPicPr>
            <a:picLocks noChangeAspect="1"/>
          </p:cNvPicPr>
          <p:nvPr/>
        </p:nvPicPr>
        <p:blipFill>
          <a:blip r:embed="rId4"/>
          <a:stretch>
            <a:fillRect/>
          </a:stretch>
        </p:blipFill>
        <p:spPr>
          <a:xfrm>
            <a:off x="1572626" y="3940306"/>
            <a:ext cx="4523374" cy="2054093"/>
          </a:xfrm>
          <a:prstGeom prst="rect">
            <a:avLst/>
          </a:prstGeom>
          <a:ln w="127000" cap="sq">
            <a:solidFill>
              <a:srgbClr val="000000"/>
            </a:solidFill>
            <a:miter lim="800000"/>
          </a:ln>
          <a:effectLst>
            <a:outerShdw blurRad="57150" dist="50800" dir="2700000" algn="tl" rotWithShape="0">
              <a:srgbClr val="000000">
                <a:alpha val="40000"/>
              </a:srgbClr>
            </a:outerShdw>
          </a:effectLst>
        </p:spPr>
      </p:pic>
    </p:spTree>
    <p:extLst>
      <p:ext uri="{BB962C8B-B14F-4D97-AF65-F5344CB8AC3E}">
        <p14:creationId xmlns:p14="http://schemas.microsoft.com/office/powerpoint/2010/main" val="2226483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A0FABD-AE2B-0735-0EFD-7DF5DFEF0500}"/>
              </a:ext>
            </a:extLst>
          </p:cNvPr>
          <p:cNvSpPr>
            <a:spLocks noGrp="1"/>
          </p:cNvSpPr>
          <p:nvPr>
            <p:ph type="title"/>
          </p:nvPr>
        </p:nvSpPr>
        <p:spPr/>
        <p:txBody>
          <a:bodyPr/>
          <a:lstStyle/>
          <a:p>
            <a:r>
              <a:rPr lang="en-US" dirty="0"/>
              <a:t>Physical design</a:t>
            </a:r>
            <a:endParaRPr lang="en-PK" dirty="0"/>
          </a:p>
        </p:txBody>
      </p:sp>
      <p:sp>
        <p:nvSpPr>
          <p:cNvPr id="3" name="Content Placeholder 2">
            <a:extLst>
              <a:ext uri="{FF2B5EF4-FFF2-40B4-BE49-F238E27FC236}">
                <a16:creationId xmlns:a16="http://schemas.microsoft.com/office/drawing/2014/main" id="{B669CF8D-ED54-AB7C-2835-D13CCA266B79}"/>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5071C9ED-DB39-6A42-0D8D-96706FA59B04}"/>
              </a:ext>
            </a:extLst>
          </p:cNvPr>
          <p:cNvPicPr>
            <a:picLocks noChangeAspect="1"/>
          </p:cNvPicPr>
          <p:nvPr/>
        </p:nvPicPr>
        <p:blipFill>
          <a:blip r:embed="rId2"/>
          <a:stretch>
            <a:fillRect/>
          </a:stretch>
        </p:blipFill>
        <p:spPr>
          <a:xfrm>
            <a:off x="3774574" y="1004740"/>
            <a:ext cx="7182852" cy="4839375"/>
          </a:xfrm>
          <a:prstGeom prst="rect">
            <a:avLst/>
          </a:prstGeom>
        </p:spPr>
      </p:pic>
    </p:spTree>
    <p:extLst>
      <p:ext uri="{BB962C8B-B14F-4D97-AF65-F5344CB8AC3E}">
        <p14:creationId xmlns:p14="http://schemas.microsoft.com/office/powerpoint/2010/main" val="329285797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35BE68-BA43-0CB8-B672-1002F40BFFF9}"/>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176706E-2CAB-F13E-2234-B29BBD29397D}"/>
              </a:ext>
            </a:extLst>
          </p:cNvPr>
          <p:cNvSpPr>
            <a:spLocks noGrp="1"/>
          </p:cNvSpPr>
          <p:nvPr>
            <p:ph idx="1"/>
          </p:nvPr>
        </p:nvSpPr>
        <p:spPr/>
        <p:txBody>
          <a:bodyPr/>
          <a:lstStyle/>
          <a:p>
            <a:endParaRPr lang="en-PK"/>
          </a:p>
        </p:txBody>
      </p:sp>
      <p:pic>
        <p:nvPicPr>
          <p:cNvPr id="1026" name="Picture 2" descr="Screenshot of Zoom’s homepage">
            <a:extLst>
              <a:ext uri="{FF2B5EF4-FFF2-40B4-BE49-F238E27FC236}">
                <a16:creationId xmlns:a16="http://schemas.microsoft.com/office/drawing/2014/main" id="{F37A5923-E02F-74B5-A6DF-0344405AD9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 y="1132980"/>
            <a:ext cx="9723120" cy="43766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982029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F31410-E726-468E-0A03-58D7CE6A2BDF}"/>
              </a:ext>
            </a:extLst>
          </p:cNvPr>
          <p:cNvSpPr>
            <a:spLocks noGrp="1"/>
          </p:cNvSpPr>
          <p:nvPr>
            <p:ph type="title"/>
          </p:nvPr>
        </p:nvSpPr>
        <p:spPr/>
        <p:txBody>
          <a:bodyPr/>
          <a:lstStyle/>
          <a:p>
            <a:r>
              <a:rPr lang="en-US" dirty="0"/>
              <a:t>Envisionment </a:t>
            </a:r>
            <a:endParaRPr lang="en-PK" dirty="0"/>
          </a:p>
        </p:txBody>
      </p:sp>
      <p:sp>
        <p:nvSpPr>
          <p:cNvPr id="3" name="Content Placeholder 2">
            <a:extLst>
              <a:ext uri="{FF2B5EF4-FFF2-40B4-BE49-F238E27FC236}">
                <a16:creationId xmlns:a16="http://schemas.microsoft.com/office/drawing/2014/main" id="{C09FAE92-F3E1-E5BD-2286-D71295E792B4}"/>
              </a:ext>
            </a:extLst>
          </p:cNvPr>
          <p:cNvSpPr>
            <a:spLocks noGrp="1"/>
          </p:cNvSpPr>
          <p:nvPr>
            <p:ph idx="1"/>
          </p:nvPr>
        </p:nvSpPr>
        <p:spPr/>
        <p:txBody>
          <a:bodyPr/>
          <a:lstStyle/>
          <a:p>
            <a:r>
              <a:rPr lang="en-US" b="0" i="0" dirty="0">
                <a:solidFill>
                  <a:schemeClr val="tx1"/>
                </a:solidFill>
                <a:effectLst/>
                <a:latin typeface="Google Sans"/>
              </a:rPr>
              <a:t>Envisionment is standard to effective human-</a:t>
            </a:r>
            <a:r>
              <a:rPr lang="en-US" b="0" i="0" dirty="0" err="1">
                <a:solidFill>
                  <a:schemeClr val="tx1"/>
                </a:solidFill>
                <a:effectLst/>
                <a:latin typeface="Google Sans"/>
              </a:rPr>
              <a:t>centred</a:t>
            </a:r>
            <a:r>
              <a:rPr lang="en-US" b="0" i="0" dirty="0">
                <a:solidFill>
                  <a:schemeClr val="tx1"/>
                </a:solidFill>
                <a:effectLst/>
                <a:latin typeface="Google Sans"/>
              </a:rPr>
              <a:t> design, to enable designers to compare from other people's perspectives and to explore design concepts and ideas with others</a:t>
            </a:r>
          </a:p>
          <a:p>
            <a:r>
              <a:rPr lang="en-US" b="1" i="0" dirty="0">
                <a:solidFill>
                  <a:srgbClr val="666666"/>
                </a:solidFill>
                <a:effectLst/>
                <a:latin typeface="Open Sans" panose="020B0606030504020204" pitchFamily="34" charset="0"/>
              </a:rPr>
              <a:t>Basic techniques</a:t>
            </a:r>
            <a:endParaRPr lang="en-US" dirty="0">
              <a:solidFill>
                <a:schemeClr val="tx1"/>
              </a:solidFill>
              <a:latin typeface="Google Sans"/>
            </a:endParaRPr>
          </a:p>
          <a:p>
            <a:pPr lvl="1"/>
            <a:r>
              <a:rPr lang="en-US" b="0" i="0" u="sng" dirty="0">
                <a:solidFill>
                  <a:schemeClr val="tx1"/>
                </a:solidFill>
                <a:effectLst/>
                <a:latin typeface="Open Sans" panose="020B0606030504020204" pitchFamily="34" charset="0"/>
              </a:rPr>
              <a:t>Sketches and snapshots</a:t>
            </a:r>
            <a:r>
              <a:rPr lang="en-US" b="0" i="0" dirty="0">
                <a:solidFill>
                  <a:schemeClr val="tx1"/>
                </a:solidFill>
                <a:effectLst/>
                <a:latin typeface="Google Sans"/>
              </a:rPr>
              <a:t>(quickly visualize the idea)</a:t>
            </a:r>
          </a:p>
          <a:p>
            <a:pPr lvl="1"/>
            <a:r>
              <a:rPr lang="en-US" b="0" i="0" u="sng" dirty="0">
                <a:solidFill>
                  <a:schemeClr val="tx1"/>
                </a:solidFill>
                <a:effectLst/>
                <a:latin typeface="Open Sans" panose="020B0606030504020204" pitchFamily="34" charset="0"/>
              </a:rPr>
              <a:t>Storyboards</a:t>
            </a:r>
            <a:r>
              <a:rPr lang="en-US" dirty="0">
                <a:solidFill>
                  <a:schemeClr val="tx1"/>
                </a:solidFill>
                <a:latin typeface="Google Sans"/>
              </a:rPr>
              <a:t>(</a:t>
            </a:r>
            <a:r>
              <a:rPr lang="en-US" b="0" i="0" dirty="0">
                <a:solidFill>
                  <a:schemeClr val="tx1"/>
                </a:solidFill>
                <a:effectLst/>
                <a:latin typeface="Open Sans" panose="020B0606030504020204" pitchFamily="34" charset="0"/>
              </a:rPr>
              <a:t>using a simple cartoon-like structure, key moments from the interactive experience are represented.</a:t>
            </a:r>
            <a:r>
              <a:rPr lang="en-US" dirty="0">
                <a:solidFill>
                  <a:schemeClr val="tx1"/>
                </a:solidFill>
                <a:latin typeface="Google Sans"/>
              </a:rPr>
              <a:t>)</a:t>
            </a:r>
          </a:p>
          <a:p>
            <a:pPr lvl="1"/>
            <a:r>
              <a:rPr lang="en-US" u="sng" dirty="0">
                <a:solidFill>
                  <a:schemeClr val="tx1"/>
                </a:solidFill>
                <a:latin typeface="Google Sans"/>
              </a:rPr>
              <a:t>Mood boards</a:t>
            </a:r>
          </a:p>
          <a:p>
            <a:pPr lvl="1" algn="just" fontAlgn="base"/>
            <a:r>
              <a:rPr lang="en-US" b="1" i="0" u="sng" dirty="0">
                <a:solidFill>
                  <a:schemeClr val="tx1"/>
                </a:solidFill>
                <a:effectLst/>
                <a:latin typeface="inherit"/>
              </a:rPr>
              <a:t>Navigation maps</a:t>
            </a:r>
            <a:endParaRPr lang="en-US" b="0" i="0" u="sng" dirty="0">
              <a:solidFill>
                <a:schemeClr val="tx1"/>
              </a:solidFill>
              <a:effectLst/>
              <a:latin typeface="Open Sans" panose="020B0606030504020204" pitchFamily="34" charset="0"/>
            </a:endParaRPr>
          </a:p>
          <a:p>
            <a:pPr marL="960120" lvl="2" indent="0" algn="just" fontAlgn="base">
              <a:buNone/>
            </a:pPr>
            <a:r>
              <a:rPr lang="en-US" b="0" i="0" dirty="0">
                <a:solidFill>
                  <a:schemeClr val="tx1"/>
                </a:solidFill>
                <a:effectLst/>
                <a:latin typeface="Open Sans" panose="020B0606030504020204" pitchFamily="34" charset="0"/>
              </a:rPr>
              <a:t>Navigation maps focus on how people move through the site or application. The aim is to focus on how people will experience the site.</a:t>
            </a:r>
          </a:p>
          <a:p>
            <a:pPr lvl="1" algn="just" fontAlgn="base"/>
            <a:r>
              <a:rPr lang="en-US" u="sng" dirty="0">
                <a:solidFill>
                  <a:schemeClr val="tx1"/>
                </a:solidFill>
                <a:latin typeface="Open Sans" panose="020B0606030504020204" pitchFamily="34" charset="0"/>
              </a:rPr>
              <a:t>Wireframes</a:t>
            </a:r>
          </a:p>
          <a:p>
            <a:pPr lvl="1" algn="just" fontAlgn="base"/>
            <a:r>
              <a:rPr lang="en-US" b="0" i="0" u="sng" dirty="0">
                <a:solidFill>
                  <a:schemeClr val="tx1"/>
                </a:solidFill>
                <a:effectLst/>
                <a:latin typeface="Open Sans" panose="020B0606030504020204" pitchFamily="34" charset="0"/>
              </a:rPr>
              <a:t>prototypes</a:t>
            </a:r>
          </a:p>
          <a:p>
            <a:pPr lvl="1"/>
            <a:endParaRPr lang="en-PK" dirty="0">
              <a:solidFill>
                <a:schemeClr val="tx1"/>
              </a:solidFill>
            </a:endParaRPr>
          </a:p>
        </p:txBody>
      </p:sp>
    </p:spTree>
    <p:extLst>
      <p:ext uri="{BB962C8B-B14F-4D97-AF65-F5344CB8AC3E}">
        <p14:creationId xmlns:p14="http://schemas.microsoft.com/office/powerpoint/2010/main" val="18642846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BBA23-6558-8894-ACCB-22428F17BB0B}"/>
              </a:ext>
            </a:extLst>
          </p:cNvPr>
          <p:cNvSpPr>
            <a:spLocks noGrp="1"/>
          </p:cNvSpPr>
          <p:nvPr>
            <p:ph type="title"/>
          </p:nvPr>
        </p:nvSpPr>
        <p:spPr/>
        <p:txBody>
          <a:bodyPr/>
          <a:lstStyle/>
          <a:p>
            <a:endParaRPr lang="en-PK"/>
          </a:p>
        </p:txBody>
      </p:sp>
      <p:pic>
        <p:nvPicPr>
          <p:cNvPr id="4" name="Content Placeholder 3">
            <a:extLst>
              <a:ext uri="{FF2B5EF4-FFF2-40B4-BE49-F238E27FC236}">
                <a16:creationId xmlns:a16="http://schemas.microsoft.com/office/drawing/2014/main" id="{1F9B5109-829B-82AD-9629-522DF5F7AD13}"/>
              </a:ext>
            </a:extLst>
          </p:cNvPr>
          <p:cNvPicPr>
            <a:picLocks noGrp="1" noChangeAspect="1"/>
          </p:cNvPicPr>
          <p:nvPr>
            <p:ph idx="1"/>
          </p:nvPr>
        </p:nvPicPr>
        <p:blipFill>
          <a:blip r:embed="rId2"/>
          <a:stretch>
            <a:fillRect/>
          </a:stretch>
        </p:blipFill>
        <p:spPr>
          <a:xfrm>
            <a:off x="3868738" y="1595437"/>
            <a:ext cx="7315200" cy="3657600"/>
          </a:xfrm>
          <a:prstGeom prst="rect">
            <a:avLst/>
          </a:prstGeom>
        </p:spPr>
      </p:pic>
      <p:pic>
        <p:nvPicPr>
          <p:cNvPr id="5" name="Picture 4">
            <a:extLst>
              <a:ext uri="{FF2B5EF4-FFF2-40B4-BE49-F238E27FC236}">
                <a16:creationId xmlns:a16="http://schemas.microsoft.com/office/drawing/2014/main" id="{7DD33898-DD2D-6BE4-A7F6-E3CB1B4C9616}"/>
              </a:ext>
            </a:extLst>
          </p:cNvPr>
          <p:cNvPicPr>
            <a:picLocks noChangeAspect="1"/>
          </p:cNvPicPr>
          <p:nvPr/>
        </p:nvPicPr>
        <p:blipFill>
          <a:blip r:embed="rId3"/>
          <a:stretch>
            <a:fillRect/>
          </a:stretch>
        </p:blipFill>
        <p:spPr>
          <a:xfrm>
            <a:off x="3868738" y="1521459"/>
            <a:ext cx="6646862" cy="3722243"/>
          </a:xfrm>
          <a:prstGeom prst="rect">
            <a:avLst/>
          </a:prstGeom>
        </p:spPr>
      </p:pic>
      <p:pic>
        <p:nvPicPr>
          <p:cNvPr id="6" name="Picture 5">
            <a:extLst>
              <a:ext uri="{FF2B5EF4-FFF2-40B4-BE49-F238E27FC236}">
                <a16:creationId xmlns:a16="http://schemas.microsoft.com/office/drawing/2014/main" id="{445015E2-CCBB-A056-82F5-AE55887854BE}"/>
              </a:ext>
            </a:extLst>
          </p:cNvPr>
          <p:cNvPicPr>
            <a:picLocks noChangeAspect="1"/>
          </p:cNvPicPr>
          <p:nvPr/>
        </p:nvPicPr>
        <p:blipFill>
          <a:blip r:embed="rId4"/>
          <a:stretch>
            <a:fillRect/>
          </a:stretch>
        </p:blipFill>
        <p:spPr>
          <a:xfrm>
            <a:off x="2159938" y="844580"/>
            <a:ext cx="9024000" cy="5076000"/>
          </a:xfrm>
          <a:prstGeom prst="rect">
            <a:avLst/>
          </a:prstGeom>
        </p:spPr>
      </p:pic>
    </p:spTree>
    <p:extLst>
      <p:ext uri="{BB962C8B-B14F-4D97-AF65-F5344CB8AC3E}">
        <p14:creationId xmlns:p14="http://schemas.microsoft.com/office/powerpoint/2010/main" val="586517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38E086-677F-4EAB-CEC6-18C0226F5A24}"/>
              </a:ext>
            </a:extLst>
          </p:cNvPr>
          <p:cNvSpPr>
            <a:spLocks noGrp="1"/>
          </p:cNvSpPr>
          <p:nvPr>
            <p:ph type="title"/>
          </p:nvPr>
        </p:nvSpPr>
        <p:spPr/>
        <p:txBody>
          <a:bodyPr/>
          <a:lstStyle/>
          <a:p>
            <a:r>
              <a:rPr lang="en-US" dirty="0"/>
              <a:t>Evaluation </a:t>
            </a:r>
            <a:endParaRPr lang="en-PK" dirty="0"/>
          </a:p>
        </p:txBody>
      </p:sp>
      <p:sp>
        <p:nvSpPr>
          <p:cNvPr id="3" name="Content Placeholder 2">
            <a:extLst>
              <a:ext uri="{FF2B5EF4-FFF2-40B4-BE49-F238E27FC236}">
                <a16:creationId xmlns:a16="http://schemas.microsoft.com/office/drawing/2014/main" id="{D9B9E50E-58DF-0FD0-67E3-CB615934BB4C}"/>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019FC584-1519-E3BC-3708-EEE77C9AD86A}"/>
              </a:ext>
            </a:extLst>
          </p:cNvPr>
          <p:cNvPicPr>
            <a:picLocks noChangeAspect="1"/>
          </p:cNvPicPr>
          <p:nvPr/>
        </p:nvPicPr>
        <p:blipFill>
          <a:blip r:embed="rId2"/>
          <a:stretch>
            <a:fillRect/>
          </a:stretch>
        </p:blipFill>
        <p:spPr>
          <a:xfrm>
            <a:off x="4056931" y="1607634"/>
            <a:ext cx="5744377" cy="2667372"/>
          </a:xfrm>
          <a:prstGeom prst="rect">
            <a:avLst/>
          </a:prstGeom>
        </p:spPr>
      </p:pic>
      <p:sp>
        <p:nvSpPr>
          <p:cNvPr id="7" name="TextBox 6">
            <a:extLst>
              <a:ext uri="{FF2B5EF4-FFF2-40B4-BE49-F238E27FC236}">
                <a16:creationId xmlns:a16="http://schemas.microsoft.com/office/drawing/2014/main" id="{694E7E17-7C8D-0082-21BA-DFCF7E4994FF}"/>
              </a:ext>
            </a:extLst>
          </p:cNvPr>
          <p:cNvSpPr txBox="1"/>
          <p:nvPr/>
        </p:nvSpPr>
        <p:spPr>
          <a:xfrm>
            <a:off x="4249420" y="4430375"/>
            <a:ext cx="6101080" cy="923330"/>
          </a:xfrm>
          <a:prstGeom prst="rect">
            <a:avLst/>
          </a:prstGeom>
          <a:noFill/>
        </p:spPr>
        <p:txBody>
          <a:bodyPr wrap="square">
            <a:spAutoFit/>
          </a:bodyPr>
          <a:lstStyle/>
          <a:p>
            <a:r>
              <a:rPr lang="en-US" b="0" i="0" dirty="0">
                <a:effectLst/>
                <a:latin typeface="Arial" panose="020B0604020202020204" pitchFamily="34" charset="0"/>
              </a:rPr>
              <a:t>keep in mind that successful </a:t>
            </a:r>
            <a:r>
              <a:rPr lang="en-US" b="1" i="0" dirty="0">
                <a:effectLst/>
                <a:latin typeface="Arial" panose="020B0604020202020204" pitchFamily="34" charset="0"/>
              </a:rPr>
              <a:t>UX design</a:t>
            </a:r>
            <a:r>
              <a:rPr lang="en-US" b="0" i="0" dirty="0">
                <a:effectLst/>
                <a:latin typeface="Arial" panose="020B0604020202020204" pitchFamily="34" charset="0"/>
              </a:rPr>
              <a:t> requires ongoing </a:t>
            </a:r>
            <a:r>
              <a:rPr lang="en-US" b="1" i="0" dirty="0">
                <a:effectLst/>
                <a:latin typeface="Arial" panose="020B0604020202020204" pitchFamily="34" charset="0"/>
              </a:rPr>
              <a:t>evaluation</a:t>
            </a:r>
            <a:r>
              <a:rPr lang="en-US" b="0" i="0" dirty="0">
                <a:effectLst/>
                <a:latin typeface="Arial" panose="020B0604020202020204" pitchFamily="34" charset="0"/>
              </a:rPr>
              <a:t>, testing, and refinement to ensure alignment with user expectations </a:t>
            </a:r>
            <a:endParaRPr lang="en-PK" dirty="0"/>
          </a:p>
        </p:txBody>
      </p:sp>
    </p:spTree>
    <p:extLst>
      <p:ext uri="{BB962C8B-B14F-4D97-AF65-F5344CB8AC3E}">
        <p14:creationId xmlns:p14="http://schemas.microsoft.com/office/powerpoint/2010/main" val="23755011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11EFAD-6DE3-9E17-A362-7962D92A1CFE}"/>
              </a:ext>
            </a:extLst>
          </p:cNvPr>
          <p:cNvSpPr>
            <a:spLocks noGrp="1"/>
          </p:cNvSpPr>
          <p:nvPr>
            <p:ph type="title"/>
          </p:nvPr>
        </p:nvSpPr>
        <p:spPr/>
        <p:txBody>
          <a:bodyPr/>
          <a:lstStyle/>
          <a:p>
            <a:r>
              <a:rPr lang="en-US" dirty="0"/>
              <a:t>Evaluation techniques </a:t>
            </a:r>
            <a:endParaRPr lang="en-PK" dirty="0"/>
          </a:p>
        </p:txBody>
      </p:sp>
      <p:pic>
        <p:nvPicPr>
          <p:cNvPr id="5" name="Content Placeholder 4">
            <a:extLst>
              <a:ext uri="{FF2B5EF4-FFF2-40B4-BE49-F238E27FC236}">
                <a16:creationId xmlns:a16="http://schemas.microsoft.com/office/drawing/2014/main" id="{035CD438-0061-CB9B-CF35-7CBD1E39B522}"/>
              </a:ext>
            </a:extLst>
          </p:cNvPr>
          <p:cNvPicPr>
            <a:picLocks noGrp="1" noChangeAspect="1"/>
          </p:cNvPicPr>
          <p:nvPr>
            <p:ph idx="1"/>
          </p:nvPr>
        </p:nvPicPr>
        <p:blipFill>
          <a:blip r:embed="rId2"/>
          <a:stretch>
            <a:fillRect/>
          </a:stretch>
        </p:blipFill>
        <p:spPr>
          <a:xfrm>
            <a:off x="3635058" y="896517"/>
            <a:ext cx="7315200" cy="2527911"/>
          </a:xfrm>
        </p:spPr>
      </p:pic>
    </p:spTree>
    <p:extLst>
      <p:ext uri="{BB962C8B-B14F-4D97-AF65-F5344CB8AC3E}">
        <p14:creationId xmlns:p14="http://schemas.microsoft.com/office/powerpoint/2010/main" val="41432288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ED447A-7891-A362-B007-0DD54EEC7CF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76CBA78A-DB3A-BAB5-60EB-85D769C19FE4}"/>
              </a:ext>
            </a:extLst>
          </p:cNvPr>
          <p:cNvSpPr>
            <a:spLocks noGrp="1"/>
          </p:cNvSpPr>
          <p:nvPr>
            <p:ph idx="1"/>
          </p:nvPr>
        </p:nvSpPr>
        <p:spPr/>
        <p:txBody>
          <a:bodyPr/>
          <a:lstStyle/>
          <a:p>
            <a:r>
              <a:rPr lang="en-US" dirty="0"/>
              <a:t>Cognitive walkthrough:  </a:t>
            </a:r>
          </a:p>
          <a:p>
            <a:endParaRPr lang="en-PK" dirty="0"/>
          </a:p>
        </p:txBody>
      </p:sp>
      <p:pic>
        <p:nvPicPr>
          <p:cNvPr id="5" name="Picture 4">
            <a:extLst>
              <a:ext uri="{FF2B5EF4-FFF2-40B4-BE49-F238E27FC236}">
                <a16:creationId xmlns:a16="http://schemas.microsoft.com/office/drawing/2014/main" id="{D859FAF1-F0FF-DD12-75DB-ABD2580FBF3E}"/>
              </a:ext>
            </a:extLst>
          </p:cNvPr>
          <p:cNvPicPr>
            <a:picLocks noChangeAspect="1"/>
          </p:cNvPicPr>
          <p:nvPr/>
        </p:nvPicPr>
        <p:blipFill>
          <a:blip r:embed="rId2"/>
          <a:stretch>
            <a:fillRect/>
          </a:stretch>
        </p:blipFill>
        <p:spPr>
          <a:xfrm>
            <a:off x="3909908" y="3424428"/>
            <a:ext cx="6716062" cy="1000265"/>
          </a:xfrm>
          <a:prstGeom prst="rect">
            <a:avLst/>
          </a:prstGeom>
        </p:spPr>
      </p:pic>
    </p:spTree>
    <p:extLst>
      <p:ext uri="{BB962C8B-B14F-4D97-AF65-F5344CB8AC3E}">
        <p14:creationId xmlns:p14="http://schemas.microsoft.com/office/powerpoint/2010/main" val="12225129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AD279-0089-C895-2183-5D985764AD79}"/>
              </a:ext>
            </a:extLst>
          </p:cNvPr>
          <p:cNvSpPr>
            <a:spLocks noGrp="1"/>
          </p:cNvSpPr>
          <p:nvPr>
            <p:ph type="title"/>
          </p:nvPr>
        </p:nvSpPr>
        <p:spPr/>
        <p:txBody>
          <a:bodyPr/>
          <a:lstStyle/>
          <a:p>
            <a:endParaRPr lang="en-PK"/>
          </a:p>
        </p:txBody>
      </p:sp>
      <p:pic>
        <p:nvPicPr>
          <p:cNvPr id="5" name="Content Placeholder 4">
            <a:extLst>
              <a:ext uri="{FF2B5EF4-FFF2-40B4-BE49-F238E27FC236}">
                <a16:creationId xmlns:a16="http://schemas.microsoft.com/office/drawing/2014/main" id="{737A3B5F-EF6A-4232-4745-633A8F7FD14A}"/>
              </a:ext>
            </a:extLst>
          </p:cNvPr>
          <p:cNvPicPr>
            <a:picLocks noGrp="1" noChangeAspect="1"/>
          </p:cNvPicPr>
          <p:nvPr>
            <p:ph idx="1"/>
          </p:nvPr>
        </p:nvPicPr>
        <p:blipFill>
          <a:blip r:embed="rId2"/>
          <a:stretch>
            <a:fillRect/>
          </a:stretch>
        </p:blipFill>
        <p:spPr>
          <a:xfrm>
            <a:off x="3911600" y="1570078"/>
            <a:ext cx="7097115" cy="3972479"/>
          </a:xfrm>
        </p:spPr>
      </p:pic>
      <p:sp>
        <p:nvSpPr>
          <p:cNvPr id="6" name="TextBox 5">
            <a:extLst>
              <a:ext uri="{FF2B5EF4-FFF2-40B4-BE49-F238E27FC236}">
                <a16:creationId xmlns:a16="http://schemas.microsoft.com/office/drawing/2014/main" id="{0D9125F2-1A0A-516A-8BC9-59C5097A9590}"/>
              </a:ext>
            </a:extLst>
          </p:cNvPr>
          <p:cNvSpPr txBox="1"/>
          <p:nvPr/>
        </p:nvSpPr>
        <p:spPr>
          <a:xfrm>
            <a:off x="3911600" y="1123837"/>
            <a:ext cx="6502400" cy="369332"/>
          </a:xfrm>
          <a:prstGeom prst="rect">
            <a:avLst/>
          </a:prstGeom>
          <a:noFill/>
        </p:spPr>
        <p:txBody>
          <a:bodyPr wrap="square" rtlCol="0">
            <a:spAutoFit/>
          </a:bodyPr>
          <a:lstStyle/>
          <a:p>
            <a:r>
              <a:rPr lang="en-US" dirty="0"/>
              <a:t>Heuristic evaluations:</a:t>
            </a:r>
            <a:endParaRPr lang="en-PK" dirty="0"/>
          </a:p>
        </p:txBody>
      </p:sp>
    </p:spTree>
    <p:extLst>
      <p:ext uri="{BB962C8B-B14F-4D97-AF65-F5344CB8AC3E}">
        <p14:creationId xmlns:p14="http://schemas.microsoft.com/office/powerpoint/2010/main" val="4921955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3531D0-1539-E1B6-F14A-B47C595F679E}"/>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FE2DDF53-30E6-5E88-7731-025009847B8A}"/>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767E7EA4-BFB5-FBBC-3544-05D5609725EB}"/>
              </a:ext>
            </a:extLst>
          </p:cNvPr>
          <p:cNvPicPr>
            <a:picLocks noChangeAspect="1"/>
          </p:cNvPicPr>
          <p:nvPr/>
        </p:nvPicPr>
        <p:blipFill>
          <a:blip r:embed="rId2"/>
          <a:stretch>
            <a:fillRect/>
          </a:stretch>
        </p:blipFill>
        <p:spPr>
          <a:xfrm>
            <a:off x="3506757" y="873252"/>
            <a:ext cx="8040222" cy="5315692"/>
          </a:xfrm>
          <a:prstGeom prst="rect">
            <a:avLst/>
          </a:prstGeom>
        </p:spPr>
      </p:pic>
    </p:spTree>
    <p:extLst>
      <p:ext uri="{BB962C8B-B14F-4D97-AF65-F5344CB8AC3E}">
        <p14:creationId xmlns:p14="http://schemas.microsoft.com/office/powerpoint/2010/main" val="204861861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1BCB1-25CF-1597-B069-04DD987381AD}"/>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01009A11-A071-5735-EF19-287FBB40A6F9}"/>
              </a:ext>
            </a:extLst>
          </p:cNvPr>
          <p:cNvSpPr>
            <a:spLocks noGrp="1"/>
          </p:cNvSpPr>
          <p:nvPr>
            <p:ph idx="1"/>
          </p:nvPr>
        </p:nvSpPr>
        <p:spPr/>
        <p:txBody>
          <a:bodyPr/>
          <a:lstStyle/>
          <a:p>
            <a:pPr>
              <a:buFont typeface="Wingdings" panose="05000000000000000000" pitchFamily="2" charset="2"/>
              <a:buChar char="Ø"/>
            </a:pPr>
            <a:r>
              <a:rPr lang="en-US" sz="3200" dirty="0">
                <a:effectLst>
                  <a:outerShdw blurRad="38100" dist="38100" dir="2700000" algn="tl">
                    <a:srgbClr val="000000">
                      <a:alpha val="43137"/>
                    </a:srgbClr>
                  </a:outerShdw>
                </a:effectLst>
              </a:rPr>
              <a:t>Laboratory studies</a:t>
            </a:r>
          </a:p>
          <a:p>
            <a:endParaRPr lang="en-US" dirty="0"/>
          </a:p>
          <a:p>
            <a:r>
              <a:rPr lang="en-US" dirty="0"/>
              <a:t>Field studies</a:t>
            </a:r>
            <a:endParaRPr lang="en-PK" dirty="0"/>
          </a:p>
        </p:txBody>
      </p:sp>
      <p:pic>
        <p:nvPicPr>
          <p:cNvPr id="5" name="Picture 4">
            <a:extLst>
              <a:ext uri="{FF2B5EF4-FFF2-40B4-BE49-F238E27FC236}">
                <a16:creationId xmlns:a16="http://schemas.microsoft.com/office/drawing/2014/main" id="{007E55D4-B343-8073-988B-FB20CE153654}"/>
              </a:ext>
            </a:extLst>
          </p:cNvPr>
          <p:cNvPicPr>
            <a:picLocks noChangeAspect="1"/>
          </p:cNvPicPr>
          <p:nvPr/>
        </p:nvPicPr>
        <p:blipFill>
          <a:blip r:embed="rId2"/>
          <a:stretch>
            <a:fillRect/>
          </a:stretch>
        </p:blipFill>
        <p:spPr>
          <a:xfrm>
            <a:off x="4005455" y="3268783"/>
            <a:ext cx="6335009" cy="2819794"/>
          </a:xfrm>
          <a:prstGeom prst="rect">
            <a:avLst/>
          </a:prstGeom>
        </p:spPr>
      </p:pic>
    </p:spTree>
    <p:extLst>
      <p:ext uri="{BB962C8B-B14F-4D97-AF65-F5344CB8AC3E}">
        <p14:creationId xmlns:p14="http://schemas.microsoft.com/office/powerpoint/2010/main" val="21590194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1707C3-BE45-22DA-3423-7CD138435ED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34FD931-4D60-5626-A60B-59554E6293A4}"/>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E00EE744-19C3-EB49-7DD4-61D95FE64667}"/>
              </a:ext>
            </a:extLst>
          </p:cNvPr>
          <p:cNvPicPr>
            <a:picLocks noChangeAspect="1"/>
          </p:cNvPicPr>
          <p:nvPr/>
        </p:nvPicPr>
        <p:blipFill>
          <a:blip r:embed="rId2"/>
          <a:stretch>
            <a:fillRect/>
          </a:stretch>
        </p:blipFill>
        <p:spPr>
          <a:xfrm>
            <a:off x="3869268" y="1354182"/>
            <a:ext cx="7744906" cy="3905795"/>
          </a:xfrm>
          <a:prstGeom prst="rect">
            <a:avLst/>
          </a:prstGeom>
        </p:spPr>
      </p:pic>
    </p:spTree>
    <p:extLst>
      <p:ext uri="{BB962C8B-B14F-4D97-AF65-F5344CB8AC3E}">
        <p14:creationId xmlns:p14="http://schemas.microsoft.com/office/powerpoint/2010/main" val="36764910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C967E9-62A6-D74E-290F-1040CC469960}"/>
              </a:ext>
            </a:extLst>
          </p:cNvPr>
          <p:cNvSpPr>
            <a:spLocks noGrp="1"/>
          </p:cNvSpPr>
          <p:nvPr>
            <p:ph type="title"/>
          </p:nvPr>
        </p:nvSpPr>
        <p:spPr/>
        <p:txBody>
          <a:bodyPr/>
          <a:lstStyle/>
          <a:p>
            <a:endParaRPr lang="en-PK"/>
          </a:p>
        </p:txBody>
      </p:sp>
      <p:sp>
        <p:nvSpPr>
          <p:cNvPr id="5" name="TextBox 4">
            <a:extLst>
              <a:ext uri="{FF2B5EF4-FFF2-40B4-BE49-F238E27FC236}">
                <a16:creationId xmlns:a16="http://schemas.microsoft.com/office/drawing/2014/main" id="{E4E44262-4427-E441-B3C6-5471D28E1DC3}"/>
              </a:ext>
            </a:extLst>
          </p:cNvPr>
          <p:cNvSpPr txBox="1"/>
          <p:nvPr/>
        </p:nvSpPr>
        <p:spPr>
          <a:xfrm>
            <a:off x="3869268" y="1123837"/>
            <a:ext cx="6101080" cy="4401205"/>
          </a:xfrm>
          <a:prstGeom prst="rect">
            <a:avLst/>
          </a:prstGeom>
          <a:noFill/>
        </p:spPr>
        <p:txBody>
          <a:bodyPr wrap="square">
            <a:spAutoFit/>
          </a:bodyPr>
          <a:lstStyle/>
          <a:p>
            <a:pPr marL="457200" indent="-457200">
              <a:buFont typeface="Wingdings" panose="05000000000000000000" pitchFamily="2" charset="2"/>
              <a:buChar char="Ø"/>
            </a:pPr>
            <a:r>
              <a:rPr lang="en-US" sz="2800" dirty="0"/>
              <a:t>Think Aloud </a:t>
            </a:r>
          </a:p>
          <a:p>
            <a:r>
              <a:rPr lang="en-US" dirty="0"/>
              <a:t>• user observed performing task </a:t>
            </a:r>
          </a:p>
          <a:p>
            <a:r>
              <a:rPr lang="en-US" dirty="0"/>
              <a:t>• user asked to describe what he is doing and why, what he thinks is happening etc.</a:t>
            </a:r>
          </a:p>
          <a:p>
            <a:endParaRPr lang="en-US" dirty="0"/>
          </a:p>
          <a:p>
            <a:endParaRPr lang="en-US" dirty="0"/>
          </a:p>
          <a:p>
            <a:r>
              <a:rPr lang="en-US" dirty="0"/>
              <a:t> • Advantages </a:t>
            </a:r>
          </a:p>
          <a:p>
            <a:r>
              <a:rPr lang="en-US" dirty="0"/>
              <a:t>– simplicity</a:t>
            </a:r>
          </a:p>
          <a:p>
            <a:r>
              <a:rPr lang="en-US" dirty="0"/>
              <a:t> - requires little expertise </a:t>
            </a:r>
          </a:p>
          <a:p>
            <a:r>
              <a:rPr lang="en-US" dirty="0"/>
              <a:t>– can provide useful insight </a:t>
            </a:r>
          </a:p>
          <a:p>
            <a:r>
              <a:rPr lang="en-US" dirty="0"/>
              <a:t>– can show how system is actually use </a:t>
            </a:r>
          </a:p>
          <a:p>
            <a:r>
              <a:rPr lang="en-US" dirty="0"/>
              <a:t>• Disadvantages </a:t>
            </a:r>
          </a:p>
          <a:p>
            <a:r>
              <a:rPr lang="en-US" dirty="0"/>
              <a:t>– subjective </a:t>
            </a:r>
          </a:p>
          <a:p>
            <a:r>
              <a:rPr lang="en-US" dirty="0"/>
              <a:t>– selective</a:t>
            </a:r>
          </a:p>
          <a:p>
            <a:r>
              <a:rPr lang="en-US" dirty="0"/>
              <a:t> – act of describing may alter task performance </a:t>
            </a:r>
            <a:endParaRPr lang="en-PK" dirty="0"/>
          </a:p>
        </p:txBody>
      </p:sp>
    </p:spTree>
    <p:extLst>
      <p:ext uri="{BB962C8B-B14F-4D97-AF65-F5344CB8AC3E}">
        <p14:creationId xmlns:p14="http://schemas.microsoft.com/office/powerpoint/2010/main" val="36667160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D299F7-FCD8-7D4C-3A01-36393FD679F9}"/>
              </a:ext>
            </a:extLst>
          </p:cNvPr>
          <p:cNvSpPr>
            <a:spLocks noGrp="1"/>
          </p:cNvSpPr>
          <p:nvPr>
            <p:ph type="title"/>
          </p:nvPr>
        </p:nvSpPr>
        <p:spPr/>
        <p:txBody>
          <a:bodyPr/>
          <a:lstStyle/>
          <a:p>
            <a:r>
              <a:rPr lang="en-US" dirty="0"/>
              <a:t>Personas </a:t>
            </a:r>
            <a:endParaRPr lang="en-PK" dirty="0"/>
          </a:p>
        </p:txBody>
      </p:sp>
      <p:pic>
        <p:nvPicPr>
          <p:cNvPr id="4" name="Picture 3">
            <a:extLst>
              <a:ext uri="{FF2B5EF4-FFF2-40B4-BE49-F238E27FC236}">
                <a16:creationId xmlns:a16="http://schemas.microsoft.com/office/drawing/2014/main" id="{524F44BA-61B5-1FA1-200B-411A967652AD}"/>
              </a:ext>
            </a:extLst>
          </p:cNvPr>
          <p:cNvPicPr>
            <a:picLocks noChangeAspect="1"/>
          </p:cNvPicPr>
          <p:nvPr/>
        </p:nvPicPr>
        <p:blipFill>
          <a:blip r:embed="rId2"/>
          <a:stretch>
            <a:fillRect/>
          </a:stretch>
        </p:blipFill>
        <p:spPr>
          <a:xfrm>
            <a:off x="5138629" y="1123836"/>
            <a:ext cx="6711485" cy="4474323"/>
          </a:xfrm>
          <a:prstGeom prst="rect">
            <a:avLst/>
          </a:prstGeom>
        </p:spPr>
      </p:pic>
      <p:sp>
        <p:nvSpPr>
          <p:cNvPr id="6" name="TextBox 5">
            <a:extLst>
              <a:ext uri="{FF2B5EF4-FFF2-40B4-BE49-F238E27FC236}">
                <a16:creationId xmlns:a16="http://schemas.microsoft.com/office/drawing/2014/main" id="{EAB1EBE9-CBE4-959A-ADFA-300B408728B6}"/>
              </a:ext>
            </a:extLst>
          </p:cNvPr>
          <p:cNvSpPr txBox="1"/>
          <p:nvPr/>
        </p:nvSpPr>
        <p:spPr>
          <a:xfrm>
            <a:off x="3597911" y="361837"/>
            <a:ext cx="6101080" cy="923330"/>
          </a:xfrm>
          <a:prstGeom prst="rect">
            <a:avLst/>
          </a:prstGeom>
          <a:noFill/>
        </p:spPr>
        <p:txBody>
          <a:bodyPr wrap="square">
            <a:spAutoFit/>
          </a:bodyPr>
          <a:lstStyle/>
          <a:p>
            <a:r>
              <a:rPr lang="en-US" dirty="0"/>
              <a:t>Personas are descriptions of individual people who represent groups of users that would interact with your system. You use them to guide your design</a:t>
            </a:r>
            <a:endParaRPr lang="en-PK" dirty="0"/>
          </a:p>
        </p:txBody>
      </p:sp>
    </p:spTree>
    <p:extLst>
      <p:ext uri="{BB962C8B-B14F-4D97-AF65-F5344CB8AC3E}">
        <p14:creationId xmlns:p14="http://schemas.microsoft.com/office/powerpoint/2010/main" val="21004729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8DA7C-61B5-79F5-1C09-CFA45886DC78}"/>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BCFBD282-204B-F20B-1A9F-D502DA1D08D0}"/>
              </a:ext>
            </a:extLst>
          </p:cNvPr>
          <p:cNvSpPr>
            <a:spLocks noGrp="1"/>
          </p:cNvSpPr>
          <p:nvPr>
            <p:ph idx="1"/>
          </p:nvPr>
        </p:nvSpPr>
        <p:spPr/>
        <p:txBody>
          <a:bodyPr/>
          <a:lstStyle/>
          <a:p>
            <a:endParaRPr lang="en-PK"/>
          </a:p>
        </p:txBody>
      </p:sp>
      <p:pic>
        <p:nvPicPr>
          <p:cNvPr id="5" name="Picture 4">
            <a:extLst>
              <a:ext uri="{FF2B5EF4-FFF2-40B4-BE49-F238E27FC236}">
                <a16:creationId xmlns:a16="http://schemas.microsoft.com/office/drawing/2014/main" id="{EFA42F9A-9DB1-2797-B7E9-5408B5AC3E7C}"/>
              </a:ext>
            </a:extLst>
          </p:cNvPr>
          <p:cNvPicPr>
            <a:picLocks noChangeAspect="1"/>
          </p:cNvPicPr>
          <p:nvPr/>
        </p:nvPicPr>
        <p:blipFill>
          <a:blip r:embed="rId2"/>
          <a:stretch>
            <a:fillRect/>
          </a:stretch>
        </p:blipFill>
        <p:spPr>
          <a:xfrm>
            <a:off x="3869268" y="985520"/>
            <a:ext cx="6940307" cy="3837990"/>
          </a:xfrm>
          <a:prstGeom prst="rect">
            <a:avLst/>
          </a:prstGeom>
        </p:spPr>
      </p:pic>
    </p:spTree>
    <p:extLst>
      <p:ext uri="{BB962C8B-B14F-4D97-AF65-F5344CB8AC3E}">
        <p14:creationId xmlns:p14="http://schemas.microsoft.com/office/powerpoint/2010/main" val="3980899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04004A-FCAF-081C-EF86-7EBAD864B954}"/>
              </a:ext>
            </a:extLst>
          </p:cNvPr>
          <p:cNvSpPr>
            <a:spLocks noGrp="1"/>
          </p:cNvSpPr>
          <p:nvPr>
            <p:ph type="title"/>
          </p:nvPr>
        </p:nvSpPr>
        <p:spPr/>
        <p:txBody>
          <a:bodyPr/>
          <a:lstStyle/>
          <a:p>
            <a:r>
              <a:rPr lang="en-US" dirty="0"/>
              <a:t>Objective of personas</a:t>
            </a:r>
            <a:endParaRPr lang="en-PK" dirty="0"/>
          </a:p>
        </p:txBody>
      </p:sp>
      <p:sp>
        <p:nvSpPr>
          <p:cNvPr id="3" name="Content Placeholder 2">
            <a:extLst>
              <a:ext uri="{FF2B5EF4-FFF2-40B4-BE49-F238E27FC236}">
                <a16:creationId xmlns:a16="http://schemas.microsoft.com/office/drawing/2014/main" id="{17540C43-3C23-C53C-E7B8-08340A2738E4}"/>
              </a:ext>
            </a:extLst>
          </p:cNvPr>
          <p:cNvSpPr>
            <a:spLocks noGrp="1"/>
          </p:cNvSpPr>
          <p:nvPr>
            <p:ph idx="1"/>
          </p:nvPr>
        </p:nvSpPr>
        <p:spPr/>
        <p:txBody>
          <a:bodyPr/>
          <a:lstStyle/>
          <a:p>
            <a:pPr marL="0" indent="0">
              <a:lnSpc>
                <a:spcPct val="200000"/>
              </a:lnSpc>
              <a:buNone/>
            </a:pPr>
            <a:r>
              <a:rPr lang="en-US" b="0" i="0" dirty="0">
                <a:solidFill>
                  <a:srgbClr val="2B2B2B"/>
                </a:solidFill>
                <a:effectLst/>
                <a:latin typeface="Merriweather" panose="00000500000000000000" pitchFamily="2" charset="0"/>
              </a:rPr>
              <a:t> The objective of a persona is to examine the process and workflow that your user would prefer to utilize to achieve their goals in interacting with your product or service. </a:t>
            </a:r>
          </a:p>
          <a:p>
            <a:pPr marL="0" indent="0">
              <a:lnSpc>
                <a:spcPct val="200000"/>
              </a:lnSpc>
              <a:buNone/>
            </a:pPr>
            <a:r>
              <a:rPr lang="en-US" b="0" i="0" dirty="0">
                <a:solidFill>
                  <a:srgbClr val="2B2B2B"/>
                </a:solidFill>
                <a:effectLst/>
                <a:latin typeface="Merriweather" panose="00000500000000000000" pitchFamily="2" charset="0"/>
              </a:rPr>
              <a:t>It focusses on</a:t>
            </a:r>
            <a:r>
              <a:rPr lang="en-US" b="0" i="0" dirty="0">
                <a:solidFill>
                  <a:srgbClr val="FF0000"/>
                </a:solidFill>
                <a:effectLst/>
                <a:latin typeface="Merriweather" panose="00000500000000000000" pitchFamily="2" charset="0"/>
              </a:rPr>
              <a:t>: What does my typical user want to do with my product?</a:t>
            </a:r>
            <a:endParaRPr lang="en-PK" dirty="0">
              <a:solidFill>
                <a:srgbClr val="FF0000"/>
              </a:solidFill>
            </a:endParaRPr>
          </a:p>
        </p:txBody>
      </p:sp>
      <p:pic>
        <p:nvPicPr>
          <p:cNvPr id="7" name="Picture 6">
            <a:extLst>
              <a:ext uri="{FF2B5EF4-FFF2-40B4-BE49-F238E27FC236}">
                <a16:creationId xmlns:a16="http://schemas.microsoft.com/office/drawing/2014/main" id="{543F1D40-F88A-B0DB-E693-8692B36C4873}"/>
              </a:ext>
            </a:extLst>
          </p:cNvPr>
          <p:cNvPicPr>
            <a:picLocks noChangeAspect="1"/>
          </p:cNvPicPr>
          <p:nvPr/>
        </p:nvPicPr>
        <p:blipFill>
          <a:blip r:embed="rId2"/>
          <a:stretch>
            <a:fillRect/>
          </a:stretch>
        </p:blipFill>
        <p:spPr>
          <a:xfrm>
            <a:off x="0" y="3915270"/>
            <a:ext cx="3495040" cy="1809750"/>
          </a:xfrm>
          <a:prstGeom prst="rect">
            <a:avLst/>
          </a:prstGeom>
        </p:spPr>
      </p:pic>
    </p:spTree>
    <p:extLst>
      <p:ext uri="{BB962C8B-B14F-4D97-AF65-F5344CB8AC3E}">
        <p14:creationId xmlns:p14="http://schemas.microsoft.com/office/powerpoint/2010/main" val="357918084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69A555-588E-EF9F-0C43-80E0028492FC}"/>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15C600B-DEE8-EE06-5CA7-30ED25F9E833}"/>
              </a:ext>
            </a:extLst>
          </p:cNvPr>
          <p:cNvSpPr>
            <a:spLocks noGrp="1"/>
          </p:cNvSpPr>
          <p:nvPr>
            <p:ph idx="1"/>
          </p:nvPr>
        </p:nvSpPr>
        <p:spPr/>
        <p:txBody>
          <a:bodyPr/>
          <a:lstStyle/>
          <a:p>
            <a:endParaRPr lang="en-PK"/>
          </a:p>
        </p:txBody>
      </p:sp>
      <p:pic>
        <p:nvPicPr>
          <p:cNvPr id="2050" name="Picture 2" descr="Relationship between a Persona, Scenario and Goal">
            <a:extLst>
              <a:ext uri="{FF2B5EF4-FFF2-40B4-BE49-F238E27FC236}">
                <a16:creationId xmlns:a16="http://schemas.microsoft.com/office/drawing/2014/main" id="{8EF2DBFC-4EE8-292A-0CCF-180C78572C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30993" y="1123837"/>
            <a:ext cx="6124575" cy="457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2799939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DE6291-96FF-8721-5E4D-E3AC217C4E9E}"/>
              </a:ext>
            </a:extLst>
          </p:cNvPr>
          <p:cNvSpPr>
            <a:spLocks noGrp="1"/>
          </p:cNvSpPr>
          <p:nvPr>
            <p:ph type="title"/>
          </p:nvPr>
        </p:nvSpPr>
        <p:spPr/>
        <p:txBody>
          <a:bodyPr/>
          <a:lstStyle/>
          <a:p>
            <a:r>
              <a:rPr lang="en-US" dirty="0"/>
              <a:t>How do you create user personas</a:t>
            </a:r>
            <a:endParaRPr lang="en-PK" dirty="0"/>
          </a:p>
        </p:txBody>
      </p:sp>
      <p:sp>
        <p:nvSpPr>
          <p:cNvPr id="3" name="Content Placeholder 2">
            <a:extLst>
              <a:ext uri="{FF2B5EF4-FFF2-40B4-BE49-F238E27FC236}">
                <a16:creationId xmlns:a16="http://schemas.microsoft.com/office/drawing/2014/main" id="{FD7D6376-3F96-28D2-9531-DFF3F4D65EAA}"/>
              </a:ext>
            </a:extLst>
          </p:cNvPr>
          <p:cNvSpPr>
            <a:spLocks noGrp="1"/>
          </p:cNvSpPr>
          <p:nvPr>
            <p:ph idx="1"/>
          </p:nvPr>
        </p:nvSpPr>
        <p:spPr/>
        <p:txBody>
          <a:bodyPr/>
          <a:lstStyle/>
          <a:p>
            <a:r>
              <a:rPr lang="en-US" b="0" i="0" dirty="0">
                <a:effectLst/>
                <a:latin typeface="-apple-system"/>
              </a:rPr>
              <a:t>To create user personas and scenarios, you need to conduct user research and analysis. </a:t>
            </a:r>
          </a:p>
          <a:p>
            <a:r>
              <a:rPr lang="en-US" b="0" i="0" dirty="0">
                <a:effectLst/>
                <a:latin typeface="-apple-system"/>
              </a:rPr>
              <a:t>You need to collect and synthesize data from various sources, such as interviews, surveys, observations, analytics, and feedback. </a:t>
            </a:r>
          </a:p>
          <a:p>
            <a:r>
              <a:rPr lang="en-US" b="0" i="0" dirty="0">
                <a:effectLst/>
                <a:latin typeface="-apple-system"/>
              </a:rPr>
              <a:t>You need to identify and segment your user groups, and select the most relevant or representative ones for your project.</a:t>
            </a:r>
            <a:endParaRPr lang="en-PK" dirty="0"/>
          </a:p>
        </p:txBody>
      </p:sp>
    </p:spTree>
    <p:extLst>
      <p:ext uri="{BB962C8B-B14F-4D97-AF65-F5344CB8AC3E}">
        <p14:creationId xmlns:p14="http://schemas.microsoft.com/office/powerpoint/2010/main" val="135284650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2FC0DD-CDF3-98DB-4E8F-0FF4B049EC63}"/>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2BC12A9D-57D1-51DA-BA1B-46C4D7E76353}"/>
              </a:ext>
            </a:extLst>
          </p:cNvPr>
          <p:cNvSpPr>
            <a:spLocks noGrp="1"/>
          </p:cNvSpPr>
          <p:nvPr>
            <p:ph idx="1"/>
          </p:nvPr>
        </p:nvSpPr>
        <p:spPr/>
        <p:txBody>
          <a:bodyPr/>
          <a:lstStyle/>
          <a:p>
            <a:endParaRPr lang="en-PK"/>
          </a:p>
        </p:txBody>
      </p:sp>
      <p:pic>
        <p:nvPicPr>
          <p:cNvPr id="3074" name="Picture 2" descr="Free User Persona PowerPoint Template &amp; Google Slides">
            <a:extLst>
              <a:ext uri="{FF2B5EF4-FFF2-40B4-BE49-F238E27FC236}">
                <a16:creationId xmlns:a16="http://schemas.microsoft.com/office/drawing/2014/main" id="{A94C4F76-A6B5-AD69-68D8-C487629E9320}"/>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3268"/>
          <a:stretch/>
        </p:blipFill>
        <p:spPr bwMode="auto">
          <a:xfrm>
            <a:off x="848000" y="864108"/>
            <a:ext cx="10496000" cy="5120640"/>
          </a:xfrm>
          <a:prstGeom prst="rect">
            <a:avLst/>
          </a:prstGeom>
          <a:noFill/>
          <a:extLst>
            <a:ext uri="{909E8E84-426E-40DD-AFC4-6F175D3DCCD1}">
              <a14:hiddenFill xmlns:a14="http://schemas.microsoft.com/office/drawing/2010/main">
                <a:solidFill>
                  <a:srgbClr val="FFFFFF"/>
                </a:solidFill>
              </a14:hiddenFill>
            </a:ext>
          </a:extLst>
        </p:spPr>
      </p:pic>
      <p:sp>
        <p:nvSpPr>
          <p:cNvPr id="4" name="Rectangle 3">
            <a:extLst>
              <a:ext uri="{FF2B5EF4-FFF2-40B4-BE49-F238E27FC236}">
                <a16:creationId xmlns:a16="http://schemas.microsoft.com/office/drawing/2014/main" id="{B76CE70F-C610-C7DA-1C82-C0B59534FDA5}"/>
              </a:ext>
            </a:extLst>
          </p:cNvPr>
          <p:cNvSpPr/>
          <p:nvPr/>
        </p:nvSpPr>
        <p:spPr>
          <a:xfrm>
            <a:off x="6583680" y="2885440"/>
            <a:ext cx="4267200" cy="914400"/>
          </a:xfrm>
          <a:prstGeom prst="rect">
            <a:avLst/>
          </a:prstGeom>
          <a:ln>
            <a:solidFill>
              <a:srgbClr val="0070C0"/>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en-US" dirty="0">
                <a:solidFill>
                  <a:srgbClr val="0000FF"/>
                </a:solidFill>
              </a:rPr>
              <a:t>Scenario</a:t>
            </a:r>
            <a:endParaRPr lang="en-PK" dirty="0">
              <a:solidFill>
                <a:srgbClr val="0000FF"/>
              </a:solidFill>
            </a:endParaRPr>
          </a:p>
        </p:txBody>
      </p:sp>
    </p:spTree>
    <p:extLst>
      <p:ext uri="{BB962C8B-B14F-4D97-AF65-F5344CB8AC3E}">
        <p14:creationId xmlns:p14="http://schemas.microsoft.com/office/powerpoint/2010/main" val="191191155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BE9C92-F59A-3FB9-486D-4F9FFF9B58E6}"/>
              </a:ext>
            </a:extLst>
          </p:cNvPr>
          <p:cNvSpPr>
            <a:spLocks noGrp="1"/>
          </p:cNvSpPr>
          <p:nvPr>
            <p:ph type="title"/>
          </p:nvPr>
        </p:nvSpPr>
        <p:spPr/>
        <p:txBody>
          <a:bodyPr/>
          <a:lstStyle/>
          <a:p>
            <a:r>
              <a:rPr lang="en-US" dirty="0"/>
              <a:t>Activities</a:t>
            </a:r>
            <a:endParaRPr lang="en-PK" dirty="0"/>
          </a:p>
        </p:txBody>
      </p:sp>
      <p:sp>
        <p:nvSpPr>
          <p:cNvPr id="3" name="Content Placeholder 2">
            <a:extLst>
              <a:ext uri="{FF2B5EF4-FFF2-40B4-BE49-F238E27FC236}">
                <a16:creationId xmlns:a16="http://schemas.microsoft.com/office/drawing/2014/main" id="{7EFE0F64-1C84-03E2-F58B-2F5B764970C1}"/>
              </a:ext>
            </a:extLst>
          </p:cNvPr>
          <p:cNvSpPr>
            <a:spLocks noGrp="1"/>
          </p:cNvSpPr>
          <p:nvPr>
            <p:ph idx="1"/>
          </p:nvPr>
        </p:nvSpPr>
        <p:spPr/>
        <p:txBody>
          <a:bodyPr/>
          <a:lstStyle/>
          <a:p>
            <a:pPr algn="l" fontAlgn="base"/>
            <a:r>
              <a:rPr lang="en-US" b="1" i="0" dirty="0">
                <a:effectLst/>
                <a:latin typeface="-apple-system"/>
              </a:rPr>
              <a:t>Activity 1</a:t>
            </a:r>
          </a:p>
          <a:p>
            <a:pPr algn="l" fontAlgn="base"/>
            <a:r>
              <a:rPr lang="en-US" b="0" i="0" dirty="0">
                <a:solidFill>
                  <a:srgbClr val="334155"/>
                </a:solidFill>
                <a:effectLst/>
                <a:latin typeface="-apple-system"/>
              </a:rPr>
              <a:t>You are creating a website that deals with properties. People should be able to buy and sell properties with the help of your website. Your website should ideally include information that can help people make the decision. Create Persona for a user who has to buy a house but has no previous experience buying or selling properties.</a:t>
            </a:r>
          </a:p>
          <a:p>
            <a:endParaRPr lang="en-PK" dirty="0"/>
          </a:p>
        </p:txBody>
      </p:sp>
    </p:spTree>
    <p:extLst>
      <p:ext uri="{BB962C8B-B14F-4D97-AF65-F5344CB8AC3E}">
        <p14:creationId xmlns:p14="http://schemas.microsoft.com/office/powerpoint/2010/main" val="7726263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38E4EA-816E-6F01-5710-A281B43389CF}"/>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64992BFA-2A31-E508-A7B6-B8D180FA0214}"/>
              </a:ext>
            </a:extLst>
          </p:cNvPr>
          <p:cNvSpPr>
            <a:spLocks noGrp="1"/>
          </p:cNvSpPr>
          <p:nvPr>
            <p:ph idx="1"/>
          </p:nvPr>
        </p:nvSpPr>
        <p:spPr/>
        <p:txBody>
          <a:bodyPr>
            <a:normAutofit fontScale="92500" lnSpcReduction="10000"/>
          </a:bodyPr>
          <a:lstStyle/>
          <a:p>
            <a:pPr algn="l" fontAlgn="base"/>
            <a:r>
              <a:rPr lang="en-US" b="1" i="0" dirty="0">
                <a:effectLst/>
                <a:latin typeface="-apple-system"/>
              </a:rPr>
              <a:t>Solution:</a:t>
            </a:r>
          </a:p>
          <a:p>
            <a:pPr algn="l" fontAlgn="base"/>
            <a:r>
              <a:rPr lang="en-US" b="1" i="0" dirty="0">
                <a:effectLst/>
                <a:latin typeface="-apple-system"/>
              </a:rPr>
              <a:t>Name: Fatima Ali Age: 38</a:t>
            </a:r>
          </a:p>
          <a:p>
            <a:pPr algn="l" fontAlgn="base"/>
            <a:r>
              <a:rPr lang="en-US" b="1" i="0" dirty="0">
                <a:solidFill>
                  <a:srgbClr val="334155"/>
                </a:solidFill>
                <a:effectLst/>
                <a:latin typeface="-apple-system"/>
              </a:rPr>
              <a:t>Marital Status: Married</a:t>
            </a:r>
            <a:endParaRPr lang="en-US" b="0" i="0" dirty="0">
              <a:solidFill>
                <a:srgbClr val="334155"/>
              </a:solidFill>
              <a:effectLst/>
              <a:latin typeface="-apple-system"/>
            </a:endParaRPr>
          </a:p>
          <a:p>
            <a:pPr algn="l" fontAlgn="base"/>
            <a:r>
              <a:rPr lang="en-US" b="0" i="0" dirty="0">
                <a:solidFill>
                  <a:srgbClr val="334155"/>
                </a:solidFill>
                <a:effectLst/>
                <a:latin typeface="-apple-system"/>
              </a:rPr>
              <a:t>Fatima Ali has always dreamed about owning a house. Recently with the promotion of her husband Ali Javaid her dream can finally be turned into a reality. The main problem for her now is she has no idea where to start. She is not sure what kind of factors would go into the price. She knows what kind of house she is looking for but knows nothing about the property marker. Ali is too busy with his job to think about these things and has left it all to his wife.</a:t>
            </a:r>
          </a:p>
          <a:p>
            <a:pPr algn="l" fontAlgn="base"/>
            <a:r>
              <a:rPr lang="en-US" b="0" i="0" dirty="0">
                <a:solidFill>
                  <a:srgbClr val="334155"/>
                </a:solidFill>
                <a:effectLst/>
                <a:latin typeface="-apple-system"/>
              </a:rPr>
              <a:t>She would like a website which gives her all the information that she needs in one place without drowning her in information. She is quite comfortable with online shopping but this is a big decision and she wants to make the right choice.</a:t>
            </a:r>
          </a:p>
          <a:p>
            <a:pPr algn="l" fontAlgn="base"/>
            <a:r>
              <a:rPr lang="en-US" b="0" i="0" dirty="0">
                <a:solidFill>
                  <a:srgbClr val="334155"/>
                </a:solidFill>
                <a:effectLst/>
                <a:latin typeface="-apple-system"/>
              </a:rPr>
              <a:t>It is very important for her to know about what kind of areas or neighborhoods are undesirable. Another factor that is important is that she wants to live in a quite area with good schools and parks for her 3 year old twin girls.</a:t>
            </a:r>
          </a:p>
          <a:p>
            <a:endParaRPr lang="en-PK" dirty="0"/>
          </a:p>
        </p:txBody>
      </p:sp>
    </p:spTree>
    <p:extLst>
      <p:ext uri="{BB962C8B-B14F-4D97-AF65-F5344CB8AC3E}">
        <p14:creationId xmlns:p14="http://schemas.microsoft.com/office/powerpoint/2010/main" val="80114435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8FA4A5-9975-C42D-075F-0F00508025E6}"/>
              </a:ext>
            </a:extLst>
          </p:cNvPr>
          <p:cNvSpPr>
            <a:spLocks noGrp="1"/>
          </p:cNvSpPr>
          <p:nvPr>
            <p:ph type="title"/>
          </p:nvPr>
        </p:nvSpPr>
        <p:spPr/>
        <p:txBody>
          <a:bodyPr/>
          <a:lstStyle/>
          <a:p>
            <a:endParaRPr lang="en-PK"/>
          </a:p>
        </p:txBody>
      </p:sp>
      <p:sp>
        <p:nvSpPr>
          <p:cNvPr id="3" name="Content Placeholder 2">
            <a:extLst>
              <a:ext uri="{FF2B5EF4-FFF2-40B4-BE49-F238E27FC236}">
                <a16:creationId xmlns:a16="http://schemas.microsoft.com/office/drawing/2014/main" id="{148DA9E6-E826-0F8A-D060-033EADA16FAC}"/>
              </a:ext>
            </a:extLst>
          </p:cNvPr>
          <p:cNvSpPr>
            <a:spLocks noGrp="1"/>
          </p:cNvSpPr>
          <p:nvPr>
            <p:ph idx="1"/>
          </p:nvPr>
        </p:nvSpPr>
        <p:spPr/>
        <p:txBody>
          <a:bodyPr/>
          <a:lstStyle/>
          <a:p>
            <a:endParaRPr lang="en-PK"/>
          </a:p>
        </p:txBody>
      </p:sp>
    </p:spTree>
    <p:extLst>
      <p:ext uri="{BB962C8B-B14F-4D97-AF65-F5344CB8AC3E}">
        <p14:creationId xmlns:p14="http://schemas.microsoft.com/office/powerpoint/2010/main" val="1921206972"/>
      </p:ext>
    </p:extLst>
  </p:cSld>
  <p:clrMapOvr>
    <a:masterClrMapping/>
  </p:clrMapOvr>
</p:sld>
</file>

<file path=ppt/theme/theme1.xml><?xml version="1.0" encoding="utf-8"?>
<a:theme xmlns:a="http://schemas.openxmlformats.org/drawingml/2006/main" name="Frame">
  <a:themeElements>
    <a:clrScheme name="Frame">
      <a:dk1>
        <a:srgbClr val="000000"/>
      </a:dk1>
      <a:lt1>
        <a:srgbClr val="FFFFFF"/>
      </a:lt1>
      <a:dk2>
        <a:srgbClr val="545454"/>
      </a:dk2>
      <a:lt2>
        <a:srgbClr val="BFBFBF"/>
      </a:lt2>
      <a:accent1>
        <a:srgbClr val="40BAD2"/>
      </a:accent1>
      <a:accent2>
        <a:srgbClr val="FAB900"/>
      </a:accent2>
      <a:accent3>
        <a:srgbClr val="90BB23"/>
      </a:accent3>
      <a:accent4>
        <a:srgbClr val="EE7008"/>
      </a:accent4>
      <a:accent5>
        <a:srgbClr val="1AB39F"/>
      </a:accent5>
      <a:accent6>
        <a:srgbClr val="D5393D"/>
      </a:accent6>
      <a:hlink>
        <a:srgbClr val="90BB23"/>
      </a:hlink>
      <a:folHlink>
        <a:srgbClr val="EE7008"/>
      </a:folHlink>
    </a:clrScheme>
    <a:fontScheme name="Frame">
      <a:maj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panose="020B0503020204020204"/>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extraClrSchemeLst/>
  <a:extLst>
    <a:ext uri="{05A4C25C-085E-4340-85A3-A5531E510DB2}">
      <thm15:themeFamily xmlns:thm15="http://schemas.microsoft.com/office/thememl/2012/main" name="Frame" id="{F226E7A2-7162-461C-9490-D27D9DC04E43}" vid="{629A0216-3BBD-45C0-B63F-2683BEA18F60}"/>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Frame</Template>
  <TotalTime>69</TotalTime>
  <Words>842</Words>
  <Application>Microsoft Office PowerPoint</Application>
  <PresentationFormat>Widescreen</PresentationFormat>
  <Paragraphs>79</Paragraphs>
  <Slides>28</Slides>
  <Notes>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28</vt:i4>
      </vt:variant>
    </vt:vector>
  </HeadingPairs>
  <TitlesOfParts>
    <vt:vector size="41" baseType="lpstr">
      <vt:lpstr>-apple-system</vt:lpstr>
      <vt:lpstr>Arial</vt:lpstr>
      <vt:lpstr>Calibri</vt:lpstr>
      <vt:lpstr>Corbel</vt:lpstr>
      <vt:lpstr>Google Sans</vt:lpstr>
      <vt:lpstr>inherit</vt:lpstr>
      <vt:lpstr>Mabry001</vt:lpstr>
      <vt:lpstr>Merriweather</vt:lpstr>
      <vt:lpstr>Montserrat</vt:lpstr>
      <vt:lpstr>Open Sans</vt:lpstr>
      <vt:lpstr>Wingdings</vt:lpstr>
      <vt:lpstr>Wingdings 2</vt:lpstr>
      <vt:lpstr>Frame</vt:lpstr>
      <vt:lpstr>The process of UX design</vt:lpstr>
      <vt:lpstr>PowerPoint Presentation</vt:lpstr>
      <vt:lpstr>UX design process</vt:lpstr>
      <vt:lpstr>Design process</vt:lpstr>
      <vt:lpstr>Understanding </vt:lpstr>
      <vt:lpstr>Conceptual design </vt:lpstr>
      <vt:lpstr>Examples </vt:lpstr>
      <vt:lpstr>Physical design</vt:lpstr>
      <vt:lpstr>PowerPoint Presentation</vt:lpstr>
      <vt:lpstr>Envisionment </vt:lpstr>
      <vt:lpstr>PowerPoint Presentation</vt:lpstr>
      <vt:lpstr>Evaluation </vt:lpstr>
      <vt:lpstr>Evaluation techniques </vt:lpstr>
      <vt:lpstr>PowerPoint Presentation</vt:lpstr>
      <vt:lpstr>PowerPoint Presentation</vt:lpstr>
      <vt:lpstr>PowerPoint Presentation</vt:lpstr>
      <vt:lpstr>PowerPoint Presentation</vt:lpstr>
      <vt:lpstr>PowerPoint Presentation</vt:lpstr>
      <vt:lpstr>PowerPoint Presentation</vt:lpstr>
      <vt:lpstr>Personas </vt:lpstr>
      <vt:lpstr>PowerPoint Presentation</vt:lpstr>
      <vt:lpstr>Objective of personas</vt:lpstr>
      <vt:lpstr>PowerPoint Presentation</vt:lpstr>
      <vt:lpstr>How do you create user personas</vt:lpstr>
      <vt:lpstr>PowerPoint Presentation</vt:lpstr>
      <vt:lpstr>Activities</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Iqra Shahzad</dc:creator>
  <cp:lastModifiedBy>Iqra Shahzad</cp:lastModifiedBy>
  <cp:revision>4</cp:revision>
  <dcterms:created xsi:type="dcterms:W3CDTF">2024-10-04T06:28:01Z</dcterms:created>
  <dcterms:modified xsi:type="dcterms:W3CDTF">2024-10-04T07:37:10Z</dcterms:modified>
</cp:coreProperties>
</file>