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5" r:id="rId22"/>
    <p:sldId id="276"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1" d="100"/>
          <a:sy n="61" d="100"/>
        </p:scale>
        <p:origin x="88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E28431-200F-492F-A085-57E9AD906057}" type="datetimeFigureOut">
              <a:rPr lang="en-PK" smtClean="0"/>
              <a:t>10/11/2024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3758E4-72CE-4148-B2A7-E3BE40CF730C}" type="slidenum">
              <a:rPr lang="en-PK" smtClean="0"/>
              <a:t>‹#›</a:t>
            </a:fld>
            <a:endParaRPr lang="en-PK"/>
          </a:p>
        </p:txBody>
      </p:sp>
    </p:spTree>
    <p:extLst>
      <p:ext uri="{BB962C8B-B14F-4D97-AF65-F5344CB8AC3E}">
        <p14:creationId xmlns:p14="http://schemas.microsoft.com/office/powerpoint/2010/main" val="3474999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spiceworks.com/tech/iot/articles/what-is-internet-of-thing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knows that plagiarism is something to be avoided, but not everyone is sure precisely what it is</a:t>
            </a:r>
            <a:endParaRPr lang="en-PK" dirty="0"/>
          </a:p>
        </p:txBody>
      </p:sp>
      <p:sp>
        <p:nvSpPr>
          <p:cNvPr id="4" name="Slide Number Placeholder 3"/>
          <p:cNvSpPr>
            <a:spLocks noGrp="1"/>
          </p:cNvSpPr>
          <p:nvPr>
            <p:ph type="sldNum" sz="quarter" idx="5"/>
          </p:nvPr>
        </p:nvSpPr>
        <p:spPr/>
        <p:txBody>
          <a:bodyPr/>
          <a:lstStyle/>
          <a:p>
            <a:fld id="{B23758E4-72CE-4148-B2A7-E3BE40CF730C}" type="slidenum">
              <a:rPr lang="en-PK" smtClean="0"/>
              <a:t>9</a:t>
            </a:fld>
            <a:endParaRPr lang="en-PK"/>
          </a:p>
        </p:txBody>
      </p:sp>
    </p:spTree>
    <p:extLst>
      <p:ext uri="{BB962C8B-B14F-4D97-AF65-F5344CB8AC3E}">
        <p14:creationId xmlns:p14="http://schemas.microsoft.com/office/powerpoint/2010/main" val="1577331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app uses common or similar </a:t>
            </a:r>
            <a:r>
              <a:rPr lang="en-US" dirty="0" err="1"/>
              <a:t>ui</a:t>
            </a:r>
            <a:endParaRPr lang="en-PK" dirty="0"/>
          </a:p>
        </p:txBody>
      </p:sp>
      <p:sp>
        <p:nvSpPr>
          <p:cNvPr id="4" name="Slide Number Placeholder 3"/>
          <p:cNvSpPr>
            <a:spLocks noGrp="1"/>
          </p:cNvSpPr>
          <p:nvPr>
            <p:ph type="sldNum" sz="quarter" idx="5"/>
          </p:nvPr>
        </p:nvSpPr>
        <p:spPr/>
        <p:txBody>
          <a:bodyPr/>
          <a:lstStyle/>
          <a:p>
            <a:fld id="{B23758E4-72CE-4148-B2A7-E3BE40CF730C}" type="slidenum">
              <a:rPr lang="en-PK" smtClean="0"/>
              <a:t>15</a:t>
            </a:fld>
            <a:endParaRPr lang="en-PK"/>
          </a:p>
        </p:txBody>
      </p:sp>
    </p:spTree>
    <p:extLst>
      <p:ext uri="{BB962C8B-B14F-4D97-AF65-F5344CB8AC3E}">
        <p14:creationId xmlns:p14="http://schemas.microsoft.com/office/powerpoint/2010/main" val="454476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1" dirty="0">
                <a:solidFill>
                  <a:srgbClr val="080809"/>
                </a:solidFill>
                <a:effectLst/>
                <a:latin typeface="PT Serif" panose="020F0502020204030204" pitchFamily="18" charset="0"/>
              </a:rPr>
              <a:t>The study of human-computer interaction (HCI) focuses on designing, implementing, and evaluating interactive interfaces to enhance users’ experiences with computing devices.</a:t>
            </a:r>
            <a:endParaRPr lang="en-PK" dirty="0"/>
          </a:p>
          <a:p>
            <a:endParaRPr lang="en-PK" dirty="0"/>
          </a:p>
        </p:txBody>
      </p:sp>
      <p:sp>
        <p:nvSpPr>
          <p:cNvPr id="4" name="Slide Number Placeholder 3"/>
          <p:cNvSpPr>
            <a:spLocks noGrp="1"/>
          </p:cNvSpPr>
          <p:nvPr>
            <p:ph type="sldNum" sz="quarter" idx="5"/>
          </p:nvPr>
        </p:nvSpPr>
        <p:spPr/>
        <p:txBody>
          <a:bodyPr/>
          <a:lstStyle/>
          <a:p>
            <a:fld id="{B23758E4-72CE-4148-B2A7-E3BE40CF730C}" type="slidenum">
              <a:rPr lang="en-PK" smtClean="0"/>
              <a:t>16</a:t>
            </a:fld>
            <a:endParaRPr lang="en-PK"/>
          </a:p>
        </p:txBody>
      </p:sp>
    </p:spTree>
    <p:extLst>
      <p:ext uri="{BB962C8B-B14F-4D97-AF65-F5344CB8AC3E}">
        <p14:creationId xmlns:p14="http://schemas.microsoft.com/office/powerpoint/2010/main" val="1102593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80809"/>
                </a:solidFill>
                <a:effectLst/>
                <a:latin typeface="PT Serif" panose="020A0603040505020204" pitchFamily="18" charset="0"/>
              </a:rPr>
              <a:t>with the advent of the internet and the explosion of mobile and diversified technologies such as voice-based and </a:t>
            </a:r>
            <a:r>
              <a:rPr lang="en-US" b="0" i="0" u="sng" dirty="0">
                <a:solidFill>
                  <a:srgbClr val="007FA2"/>
                </a:solidFill>
                <a:effectLst/>
                <a:latin typeface="PT Serif" panose="020A0603040505020204" pitchFamily="18" charset="0"/>
                <a:hlinkClick r:id="rId3" tooltip="Internet of Things (IoT)"/>
              </a:rPr>
              <a:t>Internet of Things (IoT)</a:t>
            </a:r>
            <a:r>
              <a:rPr lang="en-US" b="0" i="0" dirty="0">
                <a:solidFill>
                  <a:srgbClr val="080809"/>
                </a:solidFill>
                <a:effectLst/>
                <a:latin typeface="PT Serif" panose="020A0603040505020204" pitchFamily="18" charset="0"/>
              </a:rPr>
              <a:t>, computing became omnipresent and omnipotent.</a:t>
            </a:r>
            <a:endParaRPr lang="en-PK" dirty="0"/>
          </a:p>
        </p:txBody>
      </p:sp>
      <p:sp>
        <p:nvSpPr>
          <p:cNvPr id="4" name="Slide Number Placeholder 3"/>
          <p:cNvSpPr>
            <a:spLocks noGrp="1"/>
          </p:cNvSpPr>
          <p:nvPr>
            <p:ph type="sldNum" sz="quarter" idx="5"/>
          </p:nvPr>
        </p:nvSpPr>
        <p:spPr/>
        <p:txBody>
          <a:bodyPr/>
          <a:lstStyle/>
          <a:p>
            <a:fld id="{B23758E4-72CE-4148-B2A7-E3BE40CF730C}" type="slidenum">
              <a:rPr lang="en-PK" smtClean="0"/>
              <a:t>17</a:t>
            </a:fld>
            <a:endParaRPr lang="en-PK"/>
          </a:p>
        </p:txBody>
      </p:sp>
    </p:spTree>
    <p:extLst>
      <p:ext uri="{BB962C8B-B14F-4D97-AF65-F5344CB8AC3E}">
        <p14:creationId xmlns:p14="http://schemas.microsoft.com/office/powerpoint/2010/main" val="2283957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80809"/>
                </a:solidFill>
                <a:effectLst/>
                <a:latin typeface="PT Serif" panose="020A0603040505020204" pitchFamily="18" charset="0"/>
              </a:rPr>
              <a:t>The user component refers to an individual or a group of individuals that participate in a common task. HCI studies users’ needs, goals, and interaction patterns. It analyzes various parameters such as users’ cognitive capabilities, emotions, and experiences to provide them with a seamless experience while interacting with computing systems.</a:t>
            </a:r>
          </a:p>
          <a:p>
            <a:endParaRPr lang="en-PK" dirty="0"/>
          </a:p>
        </p:txBody>
      </p:sp>
      <p:sp>
        <p:nvSpPr>
          <p:cNvPr id="4" name="Slide Number Placeholder 3"/>
          <p:cNvSpPr>
            <a:spLocks noGrp="1"/>
          </p:cNvSpPr>
          <p:nvPr>
            <p:ph type="sldNum" sz="quarter" idx="5"/>
          </p:nvPr>
        </p:nvSpPr>
        <p:spPr/>
        <p:txBody>
          <a:bodyPr/>
          <a:lstStyle/>
          <a:p>
            <a:fld id="{B23758E4-72CE-4148-B2A7-E3BE40CF730C}" type="slidenum">
              <a:rPr lang="en-PK" smtClean="0"/>
              <a:t>19</a:t>
            </a:fld>
            <a:endParaRPr lang="en-PK"/>
          </a:p>
        </p:txBody>
      </p:sp>
    </p:spTree>
    <p:extLst>
      <p:ext uri="{BB962C8B-B14F-4D97-AF65-F5344CB8AC3E}">
        <p14:creationId xmlns:p14="http://schemas.microsoft.com/office/powerpoint/2010/main" val="2294372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80809"/>
                </a:solidFill>
                <a:effectLst/>
                <a:latin typeface="PT Serif" panose="020A0603040505020204" pitchFamily="18" charset="0"/>
              </a:rPr>
              <a:t>A user operates a computer system with an objective or goal in mind. The computer provides a digital representation of objects to accomplish this goal. For example, booking an airline for a destination could be a task for an aviation website.</a:t>
            </a:r>
          </a:p>
          <a:p>
            <a:endParaRPr lang="en-PK" dirty="0"/>
          </a:p>
        </p:txBody>
      </p:sp>
      <p:sp>
        <p:nvSpPr>
          <p:cNvPr id="4" name="Slide Number Placeholder 3"/>
          <p:cNvSpPr>
            <a:spLocks noGrp="1"/>
          </p:cNvSpPr>
          <p:nvPr>
            <p:ph type="sldNum" sz="quarter" idx="5"/>
          </p:nvPr>
        </p:nvSpPr>
        <p:spPr/>
        <p:txBody>
          <a:bodyPr/>
          <a:lstStyle/>
          <a:p>
            <a:fld id="{B23758E4-72CE-4148-B2A7-E3BE40CF730C}" type="slidenum">
              <a:rPr lang="en-PK" smtClean="0"/>
              <a:t>20</a:t>
            </a:fld>
            <a:endParaRPr lang="en-PK"/>
          </a:p>
        </p:txBody>
      </p:sp>
    </p:spTree>
    <p:extLst>
      <p:ext uri="{BB962C8B-B14F-4D97-AF65-F5344CB8AC3E}">
        <p14:creationId xmlns:p14="http://schemas.microsoft.com/office/powerpoint/2010/main" val="419961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0DBA45-6E07-46A9-A432-D09C5670CF02}" type="datetimeFigureOut">
              <a:rPr lang="en-PK" smtClean="0"/>
              <a:t>10/11/2024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3571058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0DBA45-6E07-46A9-A432-D09C5670CF02}" type="datetimeFigureOut">
              <a:rPr lang="en-PK" smtClean="0"/>
              <a:t>10/11/2024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2819636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0DBA45-6E07-46A9-A432-D09C5670CF02}" type="datetimeFigureOut">
              <a:rPr lang="en-PK" smtClean="0"/>
              <a:t>10/11/2024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1790298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800DBA45-6E07-46A9-A432-D09C5670CF02}" type="datetimeFigureOut">
              <a:rPr lang="en-PK" smtClean="0"/>
              <a:t>10/11/2024</a:t>
            </a:fld>
            <a:endParaRPr lang="en-PK"/>
          </a:p>
        </p:txBody>
      </p:sp>
      <p:sp>
        <p:nvSpPr>
          <p:cNvPr id="9" name="Footer Placeholder 8"/>
          <p:cNvSpPr>
            <a:spLocks noGrp="1"/>
          </p:cNvSpPr>
          <p:nvPr>
            <p:ph type="ftr" sz="quarter" idx="11"/>
          </p:nvPr>
        </p:nvSpPr>
        <p:spPr/>
        <p:txBody>
          <a:bodyPr/>
          <a:lstStyle/>
          <a:p>
            <a:endParaRPr lang="en-PK"/>
          </a:p>
        </p:txBody>
      </p:sp>
      <p:sp>
        <p:nvSpPr>
          <p:cNvPr id="10" name="Slide Number Placeholder 9"/>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2004466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800DBA45-6E07-46A9-A432-D09C5670CF02}" type="datetimeFigureOut">
              <a:rPr lang="en-PK" smtClean="0"/>
              <a:t>10/11/2024</a:t>
            </a:fld>
            <a:endParaRPr lang="en-PK"/>
          </a:p>
        </p:txBody>
      </p:sp>
      <p:sp>
        <p:nvSpPr>
          <p:cNvPr id="11" name="Footer Placeholder 10"/>
          <p:cNvSpPr>
            <a:spLocks noGrp="1"/>
          </p:cNvSpPr>
          <p:nvPr>
            <p:ph type="ftr" sz="quarter" idx="11"/>
          </p:nvPr>
        </p:nvSpPr>
        <p:spPr/>
        <p:txBody>
          <a:bodyPr/>
          <a:lstStyle/>
          <a:p>
            <a:endParaRPr lang="en-PK"/>
          </a:p>
        </p:txBody>
      </p:sp>
      <p:sp>
        <p:nvSpPr>
          <p:cNvPr id="12" name="Slide Number Placeholder 11"/>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3590121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800DBA45-6E07-46A9-A432-D09C5670CF02}" type="datetimeFigureOut">
              <a:rPr lang="en-PK" smtClean="0"/>
              <a:t>10/11/2024</a:t>
            </a:fld>
            <a:endParaRPr lang="en-PK"/>
          </a:p>
        </p:txBody>
      </p:sp>
      <p:sp>
        <p:nvSpPr>
          <p:cNvPr id="7" name="Footer Placeholder 6"/>
          <p:cNvSpPr>
            <a:spLocks noGrp="1"/>
          </p:cNvSpPr>
          <p:nvPr>
            <p:ph type="ftr" sz="quarter" idx="11"/>
          </p:nvPr>
        </p:nvSpPr>
        <p:spPr/>
        <p:txBody>
          <a:bodyPr/>
          <a:lstStyle/>
          <a:p>
            <a:endParaRPr lang="en-PK"/>
          </a:p>
        </p:txBody>
      </p:sp>
      <p:sp>
        <p:nvSpPr>
          <p:cNvPr id="8" name="Slide Number Placeholder 7"/>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3012565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00DBA45-6E07-46A9-A432-D09C5670CF02}" type="datetimeFigureOut">
              <a:rPr lang="en-PK" smtClean="0"/>
              <a:t>10/11/2024</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3055370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00DBA45-6E07-46A9-A432-D09C5670CF02}" type="datetimeFigureOut">
              <a:rPr lang="en-PK" smtClean="0"/>
              <a:t>10/11/2024</a:t>
            </a:fld>
            <a:endParaRPr lang="en-PK"/>
          </a:p>
        </p:txBody>
      </p:sp>
      <p:sp>
        <p:nvSpPr>
          <p:cNvPr id="9" name="Footer Placeholder 8"/>
          <p:cNvSpPr>
            <a:spLocks noGrp="1"/>
          </p:cNvSpPr>
          <p:nvPr>
            <p:ph type="ftr" sz="quarter" idx="11"/>
          </p:nvPr>
        </p:nvSpPr>
        <p:spPr/>
        <p:txBody>
          <a:bodyPr/>
          <a:lstStyle/>
          <a:p>
            <a:endParaRPr lang="en-PK"/>
          </a:p>
        </p:txBody>
      </p:sp>
      <p:sp>
        <p:nvSpPr>
          <p:cNvPr id="10" name="Slide Number Placeholder 9"/>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384964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00DBA45-6E07-46A9-A432-D09C5670CF02}" type="datetimeFigureOut">
              <a:rPr lang="en-PK" smtClean="0"/>
              <a:t>10/11/2024</a:t>
            </a:fld>
            <a:endParaRPr lang="en-PK"/>
          </a:p>
        </p:txBody>
      </p:sp>
      <p:sp>
        <p:nvSpPr>
          <p:cNvPr id="9" name="Footer Placeholder 8"/>
          <p:cNvSpPr>
            <a:spLocks noGrp="1"/>
          </p:cNvSpPr>
          <p:nvPr>
            <p:ph type="ftr" sz="quarter" idx="11"/>
          </p:nvPr>
        </p:nvSpPr>
        <p:spPr>
          <a:xfrm>
            <a:off x="3499101" y="6356350"/>
            <a:ext cx="5911517" cy="365125"/>
          </a:xfrm>
        </p:spPr>
        <p:txBody>
          <a:bodyPr/>
          <a:lstStyle/>
          <a:p>
            <a:endParaRPr lang="en-PK"/>
          </a:p>
        </p:txBody>
      </p:sp>
      <p:sp>
        <p:nvSpPr>
          <p:cNvPr id="10" name="Slide Number Placeholder 9"/>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2728527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0DBA45-6E07-46A9-A432-D09C5670CF02}" type="datetimeFigureOut">
              <a:rPr lang="en-PK" smtClean="0"/>
              <a:t>10/11/2024</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2095514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0DBA45-6E07-46A9-A432-D09C5670CF02}" type="datetimeFigureOut">
              <a:rPr lang="en-PK" smtClean="0"/>
              <a:t>10/11/2024</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567015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800DBA45-6E07-46A9-A432-D09C5670CF02}" type="datetimeFigureOut">
              <a:rPr lang="en-PK" smtClean="0"/>
              <a:t>10/11/2024</a:t>
            </a:fld>
            <a:endParaRPr lang="en-PK"/>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PK"/>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616EB149-C597-4161-BB3B-8AD85D703A70}" type="slidenum">
              <a:rPr lang="en-PK" smtClean="0"/>
              <a:t>‹#›</a:t>
            </a:fld>
            <a:endParaRPr lang="en-PK"/>
          </a:p>
        </p:txBody>
      </p:sp>
    </p:spTree>
    <p:extLst>
      <p:ext uri="{BB962C8B-B14F-4D97-AF65-F5344CB8AC3E}">
        <p14:creationId xmlns:p14="http://schemas.microsoft.com/office/powerpoint/2010/main" val="35216506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gif"/></Relationships>
</file>

<file path=ppt/slides/_rels/slide2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17C78-FC12-82DF-9472-9B33E5E67C89}"/>
              </a:ext>
            </a:extLst>
          </p:cNvPr>
          <p:cNvSpPr>
            <a:spLocks noGrp="1"/>
          </p:cNvSpPr>
          <p:nvPr>
            <p:ph type="ctrTitle"/>
          </p:nvPr>
        </p:nvSpPr>
        <p:spPr/>
        <p:txBody>
          <a:bodyPr/>
          <a:lstStyle/>
          <a:p>
            <a:r>
              <a:rPr lang="en-US" dirty="0"/>
              <a:t>Human Computer Interaction </a:t>
            </a:r>
            <a:endParaRPr lang="en-PK" dirty="0"/>
          </a:p>
        </p:txBody>
      </p:sp>
      <p:sp>
        <p:nvSpPr>
          <p:cNvPr id="3" name="Subtitle 2">
            <a:extLst>
              <a:ext uri="{FF2B5EF4-FFF2-40B4-BE49-F238E27FC236}">
                <a16:creationId xmlns:a16="http://schemas.microsoft.com/office/drawing/2014/main" id="{A0805B44-0228-C8D5-85AE-98EA73338D46}"/>
              </a:ext>
            </a:extLst>
          </p:cNvPr>
          <p:cNvSpPr>
            <a:spLocks noGrp="1"/>
          </p:cNvSpPr>
          <p:nvPr>
            <p:ph type="subTitle" idx="1"/>
          </p:nvPr>
        </p:nvSpPr>
        <p:spPr/>
        <p:txBody>
          <a:bodyPr/>
          <a:lstStyle/>
          <a:p>
            <a:r>
              <a:rPr lang="en-US" dirty="0"/>
              <a:t>Ms. Iqra Shahzad</a:t>
            </a:r>
          </a:p>
          <a:p>
            <a:r>
              <a:rPr lang="en-US" dirty="0"/>
              <a:t>Department of Software Engineering, NUML, Islamabad.</a:t>
            </a:r>
          </a:p>
          <a:p>
            <a:endParaRPr lang="en-PK" dirty="0"/>
          </a:p>
        </p:txBody>
      </p:sp>
    </p:spTree>
    <p:extLst>
      <p:ext uri="{BB962C8B-B14F-4D97-AF65-F5344CB8AC3E}">
        <p14:creationId xmlns:p14="http://schemas.microsoft.com/office/powerpoint/2010/main" val="1454555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71BC2-D561-0037-319F-E11DA7C84F82}"/>
              </a:ext>
            </a:extLst>
          </p:cNvPr>
          <p:cNvSpPr>
            <a:spLocks noGrp="1"/>
          </p:cNvSpPr>
          <p:nvPr>
            <p:ph type="title"/>
          </p:nvPr>
        </p:nvSpPr>
        <p:spPr/>
        <p:txBody>
          <a:bodyPr/>
          <a:lstStyle/>
          <a:p>
            <a:endParaRPr lang="en-PK" dirty="0"/>
          </a:p>
        </p:txBody>
      </p:sp>
      <p:pic>
        <p:nvPicPr>
          <p:cNvPr id="5" name="Content Placeholder 4">
            <a:extLst>
              <a:ext uri="{FF2B5EF4-FFF2-40B4-BE49-F238E27FC236}">
                <a16:creationId xmlns:a16="http://schemas.microsoft.com/office/drawing/2014/main" id="{67A0CEC5-4743-ED1B-96C7-D2D2648269F2}"/>
              </a:ext>
            </a:extLst>
          </p:cNvPr>
          <p:cNvPicPr>
            <a:picLocks noGrp="1" noChangeAspect="1"/>
          </p:cNvPicPr>
          <p:nvPr>
            <p:ph idx="1"/>
          </p:nvPr>
        </p:nvPicPr>
        <p:blipFill>
          <a:blip r:embed="rId2"/>
          <a:stretch>
            <a:fillRect/>
          </a:stretch>
        </p:blipFill>
        <p:spPr>
          <a:xfrm>
            <a:off x="838200" y="365125"/>
            <a:ext cx="9953860" cy="5587633"/>
          </a:xfrm>
        </p:spPr>
      </p:pic>
    </p:spTree>
    <p:extLst>
      <p:ext uri="{BB962C8B-B14F-4D97-AF65-F5344CB8AC3E}">
        <p14:creationId xmlns:p14="http://schemas.microsoft.com/office/powerpoint/2010/main" val="2606734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EC338-1C12-A370-A7D0-01454826500B}"/>
              </a:ext>
            </a:extLst>
          </p:cNvPr>
          <p:cNvSpPr>
            <a:spLocks noGrp="1"/>
          </p:cNvSpPr>
          <p:nvPr>
            <p:ph type="title"/>
          </p:nvPr>
        </p:nvSpPr>
        <p:spPr/>
        <p:txBody>
          <a:bodyPr/>
          <a:lstStyle/>
          <a:p>
            <a:r>
              <a:rPr lang="en-US" dirty="0"/>
              <a:t>SELF-INTRODUCTION</a:t>
            </a:r>
            <a:endParaRPr lang="en-PK" dirty="0"/>
          </a:p>
        </p:txBody>
      </p:sp>
      <p:sp>
        <p:nvSpPr>
          <p:cNvPr id="3" name="Content Placeholder 2">
            <a:extLst>
              <a:ext uri="{FF2B5EF4-FFF2-40B4-BE49-F238E27FC236}">
                <a16:creationId xmlns:a16="http://schemas.microsoft.com/office/drawing/2014/main" id="{634A6F60-457E-5FC8-3CD6-2C99DA750CBC}"/>
              </a:ext>
            </a:extLst>
          </p:cNvPr>
          <p:cNvSpPr>
            <a:spLocks noGrp="1"/>
          </p:cNvSpPr>
          <p:nvPr>
            <p:ph idx="1"/>
          </p:nvPr>
        </p:nvSpPr>
        <p:spPr/>
        <p:txBody>
          <a:bodyPr/>
          <a:lstStyle/>
          <a:p>
            <a:endParaRPr lang="en-PK" dirty="0"/>
          </a:p>
        </p:txBody>
      </p:sp>
      <p:sp>
        <p:nvSpPr>
          <p:cNvPr id="4" name="Rectangle 3">
            <a:extLst>
              <a:ext uri="{FF2B5EF4-FFF2-40B4-BE49-F238E27FC236}">
                <a16:creationId xmlns:a16="http://schemas.microsoft.com/office/drawing/2014/main" id="{B90FAD9D-8363-19B9-31EB-88B669F10703}"/>
              </a:ext>
            </a:extLst>
          </p:cNvPr>
          <p:cNvSpPr/>
          <p:nvPr/>
        </p:nvSpPr>
        <p:spPr>
          <a:xfrm>
            <a:off x="4042920" y="359195"/>
            <a:ext cx="2318994" cy="1383384"/>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dirty="0"/>
              <a:t>MS(CSE)</a:t>
            </a:r>
          </a:p>
          <a:p>
            <a:pPr algn="ctr"/>
            <a:r>
              <a:rPr lang="en-US" dirty="0"/>
              <a:t>NUST (2020) </a:t>
            </a:r>
            <a:endParaRPr lang="en-PK" dirty="0"/>
          </a:p>
        </p:txBody>
      </p:sp>
      <p:sp>
        <p:nvSpPr>
          <p:cNvPr id="5" name="Rectangle 4">
            <a:extLst>
              <a:ext uri="{FF2B5EF4-FFF2-40B4-BE49-F238E27FC236}">
                <a16:creationId xmlns:a16="http://schemas.microsoft.com/office/drawing/2014/main" id="{F4F549EA-60CA-DBAD-1FB2-9EA20A67581B}"/>
              </a:ext>
            </a:extLst>
          </p:cNvPr>
          <p:cNvSpPr/>
          <p:nvPr/>
        </p:nvSpPr>
        <p:spPr>
          <a:xfrm>
            <a:off x="6932434" y="2035946"/>
            <a:ext cx="2318994" cy="1383384"/>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a:p>
          <a:p>
            <a:pPr algn="ctr"/>
            <a:r>
              <a:rPr lang="en-US" dirty="0"/>
              <a:t>HCI</a:t>
            </a:r>
          </a:p>
          <a:p>
            <a:pPr algn="ctr"/>
            <a:r>
              <a:rPr lang="en-US" dirty="0"/>
              <a:t>UI/UX</a:t>
            </a:r>
          </a:p>
          <a:p>
            <a:pPr algn="ctr"/>
            <a:r>
              <a:rPr lang="en-US" dirty="0"/>
              <a:t>Big data visualization</a:t>
            </a:r>
          </a:p>
          <a:p>
            <a:pPr algn="ctr"/>
            <a:r>
              <a:rPr lang="en-US" dirty="0"/>
              <a:t>blockchain</a:t>
            </a:r>
          </a:p>
          <a:p>
            <a:pPr algn="ctr"/>
            <a:endParaRPr lang="en-US" dirty="0"/>
          </a:p>
          <a:p>
            <a:pPr algn="ctr"/>
            <a:endParaRPr lang="en-PK" dirty="0"/>
          </a:p>
        </p:txBody>
      </p:sp>
      <p:sp>
        <p:nvSpPr>
          <p:cNvPr id="6" name="Rectangle 5">
            <a:extLst>
              <a:ext uri="{FF2B5EF4-FFF2-40B4-BE49-F238E27FC236}">
                <a16:creationId xmlns:a16="http://schemas.microsoft.com/office/drawing/2014/main" id="{22065640-6D3D-F145-B8B6-96E91E581D64}"/>
              </a:ext>
            </a:extLst>
          </p:cNvPr>
          <p:cNvSpPr/>
          <p:nvPr/>
        </p:nvSpPr>
        <p:spPr>
          <a:xfrm>
            <a:off x="5581651" y="3644604"/>
            <a:ext cx="2318994" cy="1383384"/>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dirty="0"/>
              <a:t>How to reach me?</a:t>
            </a:r>
          </a:p>
          <a:p>
            <a:pPr algn="ctr"/>
            <a:r>
              <a:rPr lang="en-US" dirty="0"/>
              <a:t>Room no 21(basement)</a:t>
            </a:r>
          </a:p>
          <a:p>
            <a:pPr algn="ctr"/>
            <a:r>
              <a:rPr lang="en-US" dirty="0"/>
              <a:t>iqra.shahzad@numl.edu.pk</a:t>
            </a:r>
            <a:endParaRPr lang="en-PK" dirty="0"/>
          </a:p>
        </p:txBody>
      </p:sp>
      <p:sp>
        <p:nvSpPr>
          <p:cNvPr id="7" name="Rectangle 6">
            <a:extLst>
              <a:ext uri="{FF2B5EF4-FFF2-40B4-BE49-F238E27FC236}">
                <a16:creationId xmlns:a16="http://schemas.microsoft.com/office/drawing/2014/main" id="{2451DA4E-A44E-0C15-4364-9B9A13EACB67}"/>
              </a:ext>
            </a:extLst>
          </p:cNvPr>
          <p:cNvSpPr/>
          <p:nvPr/>
        </p:nvSpPr>
        <p:spPr>
          <a:xfrm>
            <a:off x="6860356" y="359195"/>
            <a:ext cx="2318994" cy="1383384"/>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dirty="0"/>
              <a:t>Experience:</a:t>
            </a:r>
          </a:p>
          <a:p>
            <a:pPr algn="ctr"/>
            <a:r>
              <a:rPr lang="en-US" dirty="0"/>
              <a:t>GVNU 2016-17</a:t>
            </a:r>
          </a:p>
          <a:p>
            <a:pPr algn="ctr"/>
            <a:r>
              <a:rPr lang="en-US" dirty="0"/>
              <a:t>JSPSC 2019-2021</a:t>
            </a:r>
          </a:p>
          <a:p>
            <a:pPr algn="ctr"/>
            <a:r>
              <a:rPr lang="en-US" dirty="0"/>
              <a:t>NUML 2021-Present</a:t>
            </a:r>
            <a:endParaRPr lang="en-PK" dirty="0"/>
          </a:p>
        </p:txBody>
      </p:sp>
      <p:sp>
        <p:nvSpPr>
          <p:cNvPr id="8" name="Rectangle 7">
            <a:extLst>
              <a:ext uri="{FF2B5EF4-FFF2-40B4-BE49-F238E27FC236}">
                <a16:creationId xmlns:a16="http://schemas.microsoft.com/office/drawing/2014/main" id="{AF3A68F2-5C6A-0168-246B-AE1E3121E9AC}"/>
              </a:ext>
            </a:extLst>
          </p:cNvPr>
          <p:cNvSpPr/>
          <p:nvPr/>
        </p:nvSpPr>
        <p:spPr>
          <a:xfrm>
            <a:off x="4042920" y="1963524"/>
            <a:ext cx="2318994" cy="1383384"/>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dirty="0"/>
              <a:t>BS(CS)</a:t>
            </a:r>
          </a:p>
          <a:p>
            <a:pPr algn="ctr"/>
            <a:r>
              <a:rPr lang="en-US" dirty="0"/>
              <a:t>IIUI(2014)</a:t>
            </a:r>
            <a:endParaRPr lang="en-PK" dirty="0"/>
          </a:p>
        </p:txBody>
      </p:sp>
    </p:spTree>
    <p:extLst>
      <p:ext uri="{BB962C8B-B14F-4D97-AF65-F5344CB8AC3E}">
        <p14:creationId xmlns:p14="http://schemas.microsoft.com/office/powerpoint/2010/main" val="2558317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A2EEA-E191-25E8-6816-BDCA28B36F5D}"/>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3C3B1A0B-6E38-EDDE-8256-1D2ABAC5A75C}"/>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A212D130-68E4-BE9F-BBB0-1F858528FE61}"/>
              </a:ext>
            </a:extLst>
          </p:cNvPr>
          <p:cNvPicPr>
            <a:picLocks noChangeAspect="1"/>
          </p:cNvPicPr>
          <p:nvPr/>
        </p:nvPicPr>
        <p:blipFill>
          <a:blip r:embed="rId2"/>
          <a:stretch>
            <a:fillRect/>
          </a:stretch>
        </p:blipFill>
        <p:spPr>
          <a:xfrm>
            <a:off x="772136" y="365125"/>
            <a:ext cx="9361677" cy="5620896"/>
          </a:xfrm>
          <a:prstGeom prst="rect">
            <a:avLst/>
          </a:prstGeom>
        </p:spPr>
      </p:pic>
    </p:spTree>
    <p:extLst>
      <p:ext uri="{BB962C8B-B14F-4D97-AF65-F5344CB8AC3E}">
        <p14:creationId xmlns:p14="http://schemas.microsoft.com/office/powerpoint/2010/main" val="953016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0FAD0-A1E0-029C-34ED-F121EE631C8B}"/>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40720903-123F-BE2B-518D-F20D406F7EF2}"/>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82EEC57C-59B0-697A-2141-5007856620AD}"/>
              </a:ext>
            </a:extLst>
          </p:cNvPr>
          <p:cNvPicPr>
            <a:picLocks noChangeAspect="1"/>
          </p:cNvPicPr>
          <p:nvPr/>
        </p:nvPicPr>
        <p:blipFill>
          <a:blip r:embed="rId2"/>
          <a:stretch>
            <a:fillRect/>
          </a:stretch>
        </p:blipFill>
        <p:spPr>
          <a:xfrm>
            <a:off x="669678" y="365125"/>
            <a:ext cx="8473490" cy="5811838"/>
          </a:xfrm>
          <a:prstGeom prst="rect">
            <a:avLst/>
          </a:prstGeom>
        </p:spPr>
      </p:pic>
    </p:spTree>
    <p:extLst>
      <p:ext uri="{BB962C8B-B14F-4D97-AF65-F5344CB8AC3E}">
        <p14:creationId xmlns:p14="http://schemas.microsoft.com/office/powerpoint/2010/main" val="1411117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77A0F-AADF-CC01-05FB-75F1FD75CE5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7EDA1AA7-7663-A42E-77A1-731DE00E1D15}"/>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1A1B753C-60BD-818C-EE08-B79DE3AB2CF9}"/>
              </a:ext>
            </a:extLst>
          </p:cNvPr>
          <p:cNvPicPr>
            <a:picLocks noChangeAspect="1"/>
          </p:cNvPicPr>
          <p:nvPr/>
        </p:nvPicPr>
        <p:blipFill>
          <a:blip r:embed="rId2"/>
          <a:stretch>
            <a:fillRect/>
          </a:stretch>
        </p:blipFill>
        <p:spPr>
          <a:xfrm>
            <a:off x="912620" y="365125"/>
            <a:ext cx="8443692" cy="5471634"/>
          </a:xfrm>
          <a:prstGeom prst="rect">
            <a:avLst/>
          </a:prstGeom>
        </p:spPr>
      </p:pic>
    </p:spTree>
    <p:extLst>
      <p:ext uri="{BB962C8B-B14F-4D97-AF65-F5344CB8AC3E}">
        <p14:creationId xmlns:p14="http://schemas.microsoft.com/office/powerpoint/2010/main" val="2442618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9394B-F507-416B-4EE3-FC7452F99F9B}"/>
              </a:ext>
            </a:extLst>
          </p:cNvPr>
          <p:cNvSpPr>
            <a:spLocks noGrp="1"/>
          </p:cNvSpPr>
          <p:nvPr>
            <p:ph type="title"/>
          </p:nvPr>
        </p:nvSpPr>
        <p:spPr/>
        <p:txBody>
          <a:bodyPr/>
          <a:lstStyle/>
          <a:p>
            <a:r>
              <a:rPr lang="en-US" dirty="0"/>
              <a:t>Grading policy</a:t>
            </a:r>
            <a:endParaRPr lang="en-PK" dirty="0"/>
          </a:p>
        </p:txBody>
      </p:sp>
      <p:pic>
        <p:nvPicPr>
          <p:cNvPr id="5" name="Content Placeholder 4">
            <a:extLst>
              <a:ext uri="{FF2B5EF4-FFF2-40B4-BE49-F238E27FC236}">
                <a16:creationId xmlns:a16="http://schemas.microsoft.com/office/drawing/2014/main" id="{E24E7A83-9E66-F889-EFED-519C38896DBA}"/>
              </a:ext>
            </a:extLst>
          </p:cNvPr>
          <p:cNvPicPr>
            <a:picLocks noGrp="1" noChangeAspect="1"/>
          </p:cNvPicPr>
          <p:nvPr>
            <p:ph idx="1"/>
          </p:nvPr>
        </p:nvPicPr>
        <p:blipFill>
          <a:blip r:embed="rId2"/>
          <a:stretch>
            <a:fillRect/>
          </a:stretch>
        </p:blipFill>
        <p:spPr>
          <a:xfrm>
            <a:off x="3497870" y="1577566"/>
            <a:ext cx="6911939" cy="2941575"/>
          </a:xfrm>
        </p:spPr>
      </p:pic>
    </p:spTree>
    <p:extLst>
      <p:ext uri="{BB962C8B-B14F-4D97-AF65-F5344CB8AC3E}">
        <p14:creationId xmlns:p14="http://schemas.microsoft.com/office/powerpoint/2010/main" val="2383907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BD4A7-5E51-710A-E33C-7028A72CAB4B}"/>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8B952D48-2226-EB8F-AAF8-A2AD9E9D29F8}"/>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B63B17B4-D75A-34EE-CB6D-8A200010704B}"/>
              </a:ext>
            </a:extLst>
          </p:cNvPr>
          <p:cNvPicPr>
            <a:picLocks noChangeAspect="1"/>
          </p:cNvPicPr>
          <p:nvPr/>
        </p:nvPicPr>
        <p:blipFill>
          <a:blip r:embed="rId2"/>
          <a:stretch>
            <a:fillRect/>
          </a:stretch>
        </p:blipFill>
        <p:spPr>
          <a:xfrm>
            <a:off x="895548" y="751624"/>
            <a:ext cx="10048971" cy="5530242"/>
          </a:xfrm>
          <a:prstGeom prst="rect">
            <a:avLst/>
          </a:prstGeom>
        </p:spPr>
      </p:pic>
    </p:spTree>
    <p:extLst>
      <p:ext uri="{BB962C8B-B14F-4D97-AF65-F5344CB8AC3E}">
        <p14:creationId xmlns:p14="http://schemas.microsoft.com/office/powerpoint/2010/main" val="604746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5F07-85F8-37B9-F6CE-54D4572226A3}"/>
              </a:ext>
            </a:extLst>
          </p:cNvPr>
          <p:cNvSpPr>
            <a:spLocks noGrp="1"/>
          </p:cNvSpPr>
          <p:nvPr>
            <p:ph type="title"/>
          </p:nvPr>
        </p:nvSpPr>
        <p:spPr/>
        <p:txBody>
          <a:bodyPr/>
          <a:lstStyle/>
          <a:p>
            <a:r>
              <a:rPr lang="en-US" dirty="0"/>
              <a:t>What is plagiarism?</a:t>
            </a:r>
            <a:endParaRPr lang="en-PK" dirty="0"/>
          </a:p>
        </p:txBody>
      </p:sp>
      <p:sp>
        <p:nvSpPr>
          <p:cNvPr id="3" name="Content Placeholder 2">
            <a:extLst>
              <a:ext uri="{FF2B5EF4-FFF2-40B4-BE49-F238E27FC236}">
                <a16:creationId xmlns:a16="http://schemas.microsoft.com/office/drawing/2014/main" id="{77A4632A-1049-C754-97B0-5E4EAE243E55}"/>
              </a:ext>
            </a:extLst>
          </p:cNvPr>
          <p:cNvSpPr>
            <a:spLocks noGrp="1"/>
          </p:cNvSpPr>
          <p:nvPr>
            <p:ph idx="1"/>
          </p:nvPr>
        </p:nvSpPr>
        <p:spPr/>
        <p:txBody>
          <a:bodyPr>
            <a:normAutofit/>
          </a:bodyPr>
          <a:lstStyle/>
          <a:p>
            <a:r>
              <a:rPr lang="en-US" dirty="0"/>
              <a:t>Plagiarism is a specific form of cheating which is almost wholly found in respect of course assignments completed by students independently. </a:t>
            </a:r>
          </a:p>
          <a:p>
            <a:r>
              <a:rPr lang="en-US" dirty="0"/>
              <a:t>Plagiarism includes, but is not limited to:</a:t>
            </a:r>
          </a:p>
          <a:p>
            <a:pPr marL="0" indent="0">
              <a:buNone/>
            </a:pPr>
            <a:r>
              <a:rPr lang="en-US" dirty="0"/>
              <a:t>    1. using published work without referencing (the most common) </a:t>
            </a:r>
          </a:p>
          <a:p>
            <a:pPr marL="0" indent="0">
              <a:buNone/>
            </a:pPr>
            <a:r>
              <a:rPr lang="en-US" dirty="0"/>
              <a:t>    2. copying coursework essays </a:t>
            </a:r>
          </a:p>
          <a:p>
            <a:pPr marL="0" indent="0">
              <a:buNone/>
            </a:pPr>
            <a:r>
              <a:rPr lang="en-US" dirty="0"/>
              <a:t>    3. collaborating with any other person when the work is supposed to be individual</a:t>
            </a:r>
          </a:p>
          <a:p>
            <a:pPr marL="0" indent="0">
              <a:buNone/>
            </a:pPr>
            <a:r>
              <a:rPr lang="en-US" dirty="0"/>
              <a:t>    4. taking another person's computer file/program</a:t>
            </a:r>
          </a:p>
          <a:p>
            <a:pPr marL="0" indent="0">
              <a:buNone/>
            </a:pPr>
            <a:r>
              <a:rPr lang="en-US" dirty="0"/>
              <a:t>    5. submitting another person's work as one's own </a:t>
            </a:r>
          </a:p>
          <a:p>
            <a:pPr marL="0" indent="0">
              <a:buNone/>
            </a:pPr>
            <a:r>
              <a:rPr lang="en-US" dirty="0"/>
              <a:t>    6. the use of unacknowledged material published on the web </a:t>
            </a:r>
          </a:p>
          <a:p>
            <a:pPr marL="0" indent="0">
              <a:buNone/>
            </a:pPr>
            <a:r>
              <a:rPr lang="en-US" dirty="0"/>
              <a:t>    7. purchase of model assignments from whatever source </a:t>
            </a:r>
          </a:p>
          <a:p>
            <a:pPr marL="0" indent="0">
              <a:buNone/>
            </a:pPr>
            <a:r>
              <a:rPr lang="en-US" dirty="0"/>
              <a:t>    8. copying another student's results </a:t>
            </a:r>
            <a:endParaRPr lang="en-PK" dirty="0"/>
          </a:p>
        </p:txBody>
      </p:sp>
    </p:spTree>
    <p:extLst>
      <p:ext uri="{BB962C8B-B14F-4D97-AF65-F5344CB8AC3E}">
        <p14:creationId xmlns:p14="http://schemas.microsoft.com/office/powerpoint/2010/main" val="1561062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FE4DF-E017-611E-B1DD-77B6ADC1A353}"/>
              </a:ext>
            </a:extLst>
          </p:cNvPr>
          <p:cNvSpPr>
            <a:spLocks noGrp="1"/>
          </p:cNvSpPr>
          <p:nvPr>
            <p:ph type="title"/>
          </p:nvPr>
        </p:nvSpPr>
        <p:spPr/>
        <p:txBody>
          <a:bodyPr/>
          <a:lstStyle/>
          <a:p>
            <a:r>
              <a:rPr lang="en-US" dirty="0"/>
              <a:t>reasons why students plagiaries</a:t>
            </a:r>
            <a:endParaRPr lang="en-PK" dirty="0"/>
          </a:p>
        </p:txBody>
      </p:sp>
      <p:sp>
        <p:nvSpPr>
          <p:cNvPr id="3" name="Content Placeholder 2">
            <a:extLst>
              <a:ext uri="{FF2B5EF4-FFF2-40B4-BE49-F238E27FC236}">
                <a16:creationId xmlns:a16="http://schemas.microsoft.com/office/drawing/2014/main" id="{645D225F-73E2-8194-B6C0-6CD190349BA2}"/>
              </a:ext>
            </a:extLst>
          </p:cNvPr>
          <p:cNvSpPr>
            <a:spLocks noGrp="1"/>
          </p:cNvSpPr>
          <p:nvPr>
            <p:ph idx="1"/>
          </p:nvPr>
        </p:nvSpPr>
        <p:spPr/>
        <p:txBody>
          <a:bodyPr/>
          <a:lstStyle/>
          <a:p>
            <a:r>
              <a:rPr lang="en-US" dirty="0"/>
              <a:t>There are many reasons why students plagiaries, for example: </a:t>
            </a:r>
          </a:p>
          <a:p>
            <a:pPr lvl="1">
              <a:buFont typeface="Wingdings" panose="05000000000000000000" pitchFamily="2" charset="2"/>
              <a:buChar char="q"/>
            </a:pPr>
            <a:r>
              <a:rPr lang="en-US" dirty="0"/>
              <a:t>not being fully aware of what plagiarism is?</a:t>
            </a:r>
          </a:p>
          <a:p>
            <a:pPr lvl="1">
              <a:buFont typeface="Wingdings" panose="05000000000000000000" pitchFamily="2" charset="2"/>
              <a:buChar char="q"/>
            </a:pPr>
            <a:r>
              <a:rPr lang="en-US" dirty="0"/>
              <a:t> short-term panic response when an assignment is due and time is short</a:t>
            </a:r>
          </a:p>
          <a:p>
            <a:pPr lvl="1">
              <a:buFont typeface="Wingdings" panose="05000000000000000000" pitchFamily="2" charset="2"/>
              <a:buChar char="q"/>
            </a:pPr>
            <a:r>
              <a:rPr lang="en-US" dirty="0"/>
              <a:t>feeling a desperate need not to be seen as a failure and so copying to try to ensure “success” </a:t>
            </a:r>
          </a:p>
          <a:p>
            <a:pPr lvl="1">
              <a:buFont typeface="Wingdings" panose="05000000000000000000" pitchFamily="2" charset="2"/>
              <a:buChar char="q"/>
            </a:pPr>
            <a:r>
              <a:rPr lang="en-US" dirty="0"/>
              <a:t>different academic traditions</a:t>
            </a:r>
            <a:endParaRPr lang="en-PK" dirty="0"/>
          </a:p>
        </p:txBody>
      </p:sp>
    </p:spTree>
    <p:extLst>
      <p:ext uri="{BB962C8B-B14F-4D97-AF65-F5344CB8AC3E}">
        <p14:creationId xmlns:p14="http://schemas.microsoft.com/office/powerpoint/2010/main" val="2960809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6624B-7B04-6BE6-EAA6-A99CDEA8E985}"/>
              </a:ext>
            </a:extLst>
          </p:cNvPr>
          <p:cNvSpPr>
            <a:spLocks noGrp="1"/>
          </p:cNvSpPr>
          <p:nvPr>
            <p:ph type="title"/>
          </p:nvPr>
        </p:nvSpPr>
        <p:spPr/>
        <p:txBody>
          <a:bodyPr/>
          <a:lstStyle/>
          <a:p>
            <a:r>
              <a:rPr lang="en-US" dirty="0"/>
              <a:t>Positive Reasons for Not Plagiarizing</a:t>
            </a:r>
            <a:endParaRPr lang="en-PK" dirty="0"/>
          </a:p>
        </p:txBody>
      </p:sp>
      <p:sp>
        <p:nvSpPr>
          <p:cNvPr id="3" name="Content Placeholder 2">
            <a:extLst>
              <a:ext uri="{FF2B5EF4-FFF2-40B4-BE49-F238E27FC236}">
                <a16:creationId xmlns:a16="http://schemas.microsoft.com/office/drawing/2014/main" id="{14BE0EC9-6438-2D95-6523-78ED0F9B477D}"/>
              </a:ext>
            </a:extLst>
          </p:cNvPr>
          <p:cNvSpPr>
            <a:spLocks noGrp="1"/>
          </p:cNvSpPr>
          <p:nvPr>
            <p:ph idx="1"/>
          </p:nvPr>
        </p:nvSpPr>
        <p:spPr/>
        <p:txBody>
          <a:bodyPr/>
          <a:lstStyle/>
          <a:p>
            <a:r>
              <a:rPr lang="en-US" dirty="0"/>
              <a:t>Pride in your work</a:t>
            </a:r>
          </a:p>
          <a:p>
            <a:r>
              <a:rPr lang="en-US" dirty="0"/>
              <a:t>Real Level of Attainment</a:t>
            </a:r>
          </a:p>
          <a:p>
            <a:endParaRPr lang="en-PK" dirty="0"/>
          </a:p>
        </p:txBody>
      </p:sp>
    </p:spTree>
    <p:extLst>
      <p:ext uri="{BB962C8B-B14F-4D97-AF65-F5344CB8AC3E}">
        <p14:creationId xmlns:p14="http://schemas.microsoft.com/office/powerpoint/2010/main" val="504439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41438-EBCE-1E3B-0593-9B95C3E115E6}"/>
              </a:ext>
            </a:extLst>
          </p:cNvPr>
          <p:cNvSpPr>
            <a:spLocks noGrp="1"/>
          </p:cNvSpPr>
          <p:nvPr>
            <p:ph type="title"/>
          </p:nvPr>
        </p:nvSpPr>
        <p:spPr/>
        <p:txBody>
          <a:bodyPr/>
          <a:lstStyle/>
          <a:p>
            <a:r>
              <a:rPr lang="en-US" dirty="0"/>
              <a:t>Plagiarism in Practice – what is it?</a:t>
            </a:r>
            <a:endParaRPr lang="en-PK" dirty="0"/>
          </a:p>
        </p:txBody>
      </p:sp>
      <p:sp>
        <p:nvSpPr>
          <p:cNvPr id="3" name="Content Placeholder 2">
            <a:extLst>
              <a:ext uri="{FF2B5EF4-FFF2-40B4-BE49-F238E27FC236}">
                <a16:creationId xmlns:a16="http://schemas.microsoft.com/office/drawing/2014/main" id="{F64485AC-119A-27F4-EE04-C4DC8AC5D82D}"/>
              </a:ext>
            </a:extLst>
          </p:cNvPr>
          <p:cNvSpPr>
            <a:spLocks noGrp="1"/>
          </p:cNvSpPr>
          <p:nvPr>
            <p:ph idx="1"/>
          </p:nvPr>
        </p:nvSpPr>
        <p:spPr/>
        <p:txBody>
          <a:bodyPr/>
          <a:lstStyle/>
          <a:p>
            <a:r>
              <a:rPr lang="en-US" dirty="0"/>
              <a:t>Plagiarism takes many forms. Some of the more common are identified here:</a:t>
            </a:r>
          </a:p>
          <a:p>
            <a:pPr lvl="1"/>
            <a:r>
              <a:rPr lang="en-US" dirty="0"/>
              <a:t>Copying from a single source</a:t>
            </a:r>
          </a:p>
          <a:p>
            <a:pPr lvl="1"/>
            <a:r>
              <a:rPr lang="en-US" dirty="0"/>
              <a:t>Copying from several sources</a:t>
            </a:r>
          </a:p>
          <a:p>
            <a:pPr lvl="1"/>
            <a:r>
              <a:rPr lang="en-US" dirty="0"/>
              <a:t>Paraphrasing</a:t>
            </a:r>
          </a:p>
          <a:p>
            <a:pPr lvl="1"/>
            <a:r>
              <a:rPr lang="en-US" dirty="0"/>
              <a:t>Collusion(This can occur when students work together, and it is very important to distinguish when this is required, and when it has to end.)</a:t>
            </a:r>
          </a:p>
          <a:p>
            <a:pPr lvl="1"/>
            <a:r>
              <a:rPr lang="en-US" dirty="0"/>
              <a:t>Reuse of programming code</a:t>
            </a:r>
          </a:p>
          <a:p>
            <a:pPr lvl="1"/>
            <a:r>
              <a:rPr lang="en-US" dirty="0"/>
              <a:t>Use of multimedia</a:t>
            </a:r>
          </a:p>
          <a:p>
            <a:pPr lvl="1"/>
            <a:endParaRPr lang="en-US" dirty="0"/>
          </a:p>
          <a:p>
            <a:pPr lvl="1"/>
            <a:endParaRPr lang="en-PK" dirty="0"/>
          </a:p>
        </p:txBody>
      </p:sp>
    </p:spTree>
    <p:extLst>
      <p:ext uri="{BB962C8B-B14F-4D97-AF65-F5344CB8AC3E}">
        <p14:creationId xmlns:p14="http://schemas.microsoft.com/office/powerpoint/2010/main" val="2988852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3CE4-AE84-7A86-6FE8-5E15D0E83099}"/>
              </a:ext>
            </a:extLst>
          </p:cNvPr>
          <p:cNvSpPr>
            <a:spLocks noGrp="1"/>
          </p:cNvSpPr>
          <p:nvPr>
            <p:ph type="title"/>
          </p:nvPr>
        </p:nvSpPr>
        <p:spPr/>
        <p:txBody>
          <a:bodyPr/>
          <a:lstStyle/>
          <a:p>
            <a:r>
              <a:rPr lang="en-US" dirty="0"/>
              <a:t>How to avoid </a:t>
            </a:r>
            <a:r>
              <a:rPr lang="en-US" dirty="0" err="1"/>
              <a:t>plagerism</a:t>
            </a:r>
            <a:endParaRPr lang="en-PK" dirty="0"/>
          </a:p>
        </p:txBody>
      </p:sp>
      <p:sp>
        <p:nvSpPr>
          <p:cNvPr id="3" name="Content Placeholder 2">
            <a:extLst>
              <a:ext uri="{FF2B5EF4-FFF2-40B4-BE49-F238E27FC236}">
                <a16:creationId xmlns:a16="http://schemas.microsoft.com/office/drawing/2014/main" id="{BD448829-B728-0247-13E0-80EFF8028C81}"/>
              </a:ext>
            </a:extLst>
          </p:cNvPr>
          <p:cNvSpPr>
            <a:spLocks noGrp="1"/>
          </p:cNvSpPr>
          <p:nvPr>
            <p:ph idx="1"/>
          </p:nvPr>
        </p:nvSpPr>
        <p:spPr/>
        <p:txBody>
          <a:bodyPr/>
          <a:lstStyle/>
          <a:p>
            <a:r>
              <a:rPr lang="en-US" dirty="0"/>
              <a:t>Making notes</a:t>
            </a:r>
          </a:p>
          <a:p>
            <a:r>
              <a:rPr lang="en-US" dirty="0"/>
              <a:t>Paraphrasing</a:t>
            </a:r>
          </a:p>
          <a:p>
            <a:r>
              <a:rPr lang="en-US" dirty="0"/>
              <a:t>Proper citation</a:t>
            </a:r>
          </a:p>
          <a:p>
            <a:r>
              <a:rPr lang="en-US" dirty="0"/>
              <a:t>Use of quotations</a:t>
            </a:r>
          </a:p>
          <a:p>
            <a:endParaRPr lang="en-PK" dirty="0"/>
          </a:p>
        </p:txBody>
      </p:sp>
    </p:spTree>
    <p:extLst>
      <p:ext uri="{BB962C8B-B14F-4D97-AF65-F5344CB8AC3E}">
        <p14:creationId xmlns:p14="http://schemas.microsoft.com/office/powerpoint/2010/main" val="1366527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75211-AC12-EDD9-69AE-2FE289AD6A8A}"/>
              </a:ext>
            </a:extLst>
          </p:cNvPr>
          <p:cNvSpPr>
            <a:spLocks noGrp="1"/>
          </p:cNvSpPr>
          <p:nvPr>
            <p:ph type="title"/>
          </p:nvPr>
        </p:nvSpPr>
        <p:spPr/>
        <p:txBody>
          <a:bodyPr/>
          <a:lstStyle/>
          <a:p>
            <a:r>
              <a:rPr lang="en-US" dirty="0"/>
              <a:t>HCI or UI/UX wrt to plagiarism</a:t>
            </a:r>
            <a:endParaRPr lang="en-PK" dirty="0"/>
          </a:p>
        </p:txBody>
      </p:sp>
      <p:sp>
        <p:nvSpPr>
          <p:cNvPr id="3" name="Content Placeholder 2">
            <a:extLst>
              <a:ext uri="{FF2B5EF4-FFF2-40B4-BE49-F238E27FC236}">
                <a16:creationId xmlns:a16="http://schemas.microsoft.com/office/drawing/2014/main" id="{036AA229-B1CF-358D-4985-8F2329082F6A}"/>
              </a:ext>
            </a:extLst>
          </p:cNvPr>
          <p:cNvSpPr>
            <a:spLocks noGrp="1"/>
          </p:cNvSpPr>
          <p:nvPr>
            <p:ph idx="1"/>
          </p:nvPr>
        </p:nvSpPr>
        <p:spPr/>
        <p:txBody>
          <a:bodyPr/>
          <a:lstStyle/>
          <a:p>
            <a:r>
              <a:rPr lang="en-US" dirty="0"/>
              <a:t>Copying someone’s else design</a:t>
            </a:r>
          </a:p>
          <a:p>
            <a:pPr algn="l">
              <a:buFont typeface="Arial" panose="020B0604020202020204" pitchFamily="34" charset="0"/>
              <a:buChar char="•"/>
            </a:pPr>
            <a:r>
              <a:rPr lang="en-US" b="0" i="0" dirty="0">
                <a:solidFill>
                  <a:srgbClr val="260B1F"/>
                </a:solidFill>
                <a:effectLst/>
                <a:latin typeface="Mabry001"/>
              </a:rPr>
              <a:t>Using someone else’s UX copy in your own designs </a:t>
            </a:r>
            <a:r>
              <a:rPr lang="en-US" b="0" i="1" dirty="0">
                <a:solidFill>
                  <a:srgbClr val="260B1F"/>
                </a:solidFill>
                <a:effectLst/>
                <a:latin typeface="Mabry001"/>
              </a:rPr>
              <a:t>without permission or attribution</a:t>
            </a:r>
            <a:endParaRPr lang="en-US" b="0" i="0" dirty="0">
              <a:solidFill>
                <a:srgbClr val="260B1F"/>
              </a:solidFill>
              <a:effectLst/>
              <a:latin typeface="Mabry001"/>
            </a:endParaRPr>
          </a:p>
          <a:p>
            <a:pPr algn="l">
              <a:buFont typeface="Arial" panose="020B0604020202020204" pitchFamily="34" charset="0"/>
              <a:buChar char="•"/>
            </a:pPr>
            <a:r>
              <a:rPr lang="en-US" b="0" i="0" dirty="0">
                <a:solidFill>
                  <a:srgbClr val="260B1F"/>
                </a:solidFill>
                <a:effectLst/>
                <a:latin typeface="Mabry001"/>
              </a:rPr>
              <a:t>Copying original media, banners, and logos </a:t>
            </a:r>
            <a:r>
              <a:rPr lang="en-US" b="0" i="1" dirty="0">
                <a:solidFill>
                  <a:srgbClr val="260B1F"/>
                </a:solidFill>
                <a:effectLst/>
                <a:latin typeface="Mabry001"/>
              </a:rPr>
              <a:t>without permission or attribution</a:t>
            </a:r>
            <a:endParaRPr lang="en-US" b="0" i="0" dirty="0">
              <a:solidFill>
                <a:srgbClr val="260B1F"/>
              </a:solidFill>
              <a:effectLst/>
              <a:latin typeface="Mabry001"/>
            </a:endParaRPr>
          </a:p>
          <a:p>
            <a:pPr algn="l">
              <a:buFont typeface="Arial" panose="020B0604020202020204" pitchFamily="34" charset="0"/>
              <a:buChar char="•"/>
            </a:pPr>
            <a:r>
              <a:rPr lang="en-US" b="0" i="0" dirty="0">
                <a:solidFill>
                  <a:srgbClr val="260B1F"/>
                </a:solidFill>
                <a:effectLst/>
                <a:latin typeface="Mabry001"/>
              </a:rPr>
              <a:t>Using or copying someone else’s UI kit </a:t>
            </a:r>
            <a:r>
              <a:rPr lang="en-US" b="0" i="1" dirty="0">
                <a:solidFill>
                  <a:srgbClr val="260B1F"/>
                </a:solidFill>
                <a:effectLst/>
                <a:latin typeface="Mabry001"/>
              </a:rPr>
              <a:t>without permission or attribution</a:t>
            </a:r>
            <a:endParaRPr lang="en-US" b="0" i="0" dirty="0">
              <a:solidFill>
                <a:srgbClr val="260B1F"/>
              </a:solidFill>
              <a:effectLst/>
              <a:latin typeface="Mabry001"/>
            </a:endParaRPr>
          </a:p>
          <a:p>
            <a:pPr marL="0" indent="0">
              <a:buNone/>
            </a:pPr>
            <a:endParaRPr lang="en-PK" dirty="0"/>
          </a:p>
        </p:txBody>
      </p:sp>
    </p:spTree>
    <p:extLst>
      <p:ext uri="{BB962C8B-B14F-4D97-AF65-F5344CB8AC3E}">
        <p14:creationId xmlns:p14="http://schemas.microsoft.com/office/powerpoint/2010/main" val="3342457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0B2A8-58DB-B60C-4588-A09AAC1FAB5E}"/>
              </a:ext>
            </a:extLst>
          </p:cNvPr>
          <p:cNvSpPr>
            <a:spLocks noGrp="1"/>
          </p:cNvSpPr>
          <p:nvPr>
            <p:ph type="title"/>
          </p:nvPr>
        </p:nvSpPr>
        <p:spPr/>
        <p:txBody>
          <a:bodyPr/>
          <a:lstStyle/>
          <a:p>
            <a:r>
              <a:rPr lang="en-US" b="0" i="0" dirty="0">
                <a:solidFill>
                  <a:srgbClr val="000000"/>
                </a:solidFill>
                <a:effectLst/>
                <a:latin typeface="DM serif text" panose="020F0502020204030204" pitchFamily="2" charset="0"/>
              </a:rPr>
              <a:t>Users prefer a similar UI experience</a:t>
            </a:r>
            <a:br>
              <a:rPr lang="en-US" b="0" i="0" dirty="0">
                <a:solidFill>
                  <a:srgbClr val="000000"/>
                </a:solidFill>
                <a:effectLst/>
                <a:latin typeface="DM serif text" panose="020F0502020204030204" pitchFamily="2" charset="0"/>
              </a:rPr>
            </a:br>
            <a:endParaRPr lang="en-PK" dirty="0"/>
          </a:p>
        </p:txBody>
      </p:sp>
      <p:sp>
        <p:nvSpPr>
          <p:cNvPr id="4" name="Content Placeholder 3">
            <a:extLst>
              <a:ext uri="{FF2B5EF4-FFF2-40B4-BE49-F238E27FC236}">
                <a16:creationId xmlns:a16="http://schemas.microsoft.com/office/drawing/2014/main" id="{AD323BAF-10B6-90AE-F224-CCC24C166F45}"/>
              </a:ext>
            </a:extLst>
          </p:cNvPr>
          <p:cNvSpPr>
            <a:spLocks noGrp="1"/>
          </p:cNvSpPr>
          <p:nvPr>
            <p:ph idx="1"/>
          </p:nvPr>
        </p:nvSpPr>
        <p:spPr/>
        <p:txBody>
          <a:bodyPr/>
          <a:lstStyle/>
          <a:p>
            <a:endParaRPr lang="en-PK"/>
          </a:p>
        </p:txBody>
      </p:sp>
      <p:pic>
        <p:nvPicPr>
          <p:cNvPr id="1028" name="Picture 4" descr="similar-ui">
            <a:extLst>
              <a:ext uri="{FF2B5EF4-FFF2-40B4-BE49-F238E27FC236}">
                <a16:creationId xmlns:a16="http://schemas.microsoft.com/office/drawing/2014/main" id="{5F9AA426-9A46-3486-2D1F-D935EDB6CA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2877" y="1507601"/>
            <a:ext cx="790575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810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60FDD-1D61-CD87-A318-E7E5C73680A7}"/>
              </a:ext>
            </a:extLst>
          </p:cNvPr>
          <p:cNvSpPr>
            <a:spLocks noGrp="1"/>
          </p:cNvSpPr>
          <p:nvPr>
            <p:ph type="title"/>
          </p:nvPr>
        </p:nvSpPr>
        <p:spPr/>
        <p:txBody>
          <a:bodyPr/>
          <a:lstStyle/>
          <a:p>
            <a:r>
              <a:rPr lang="en-US" dirty="0"/>
              <a:t>Introduction to HCI</a:t>
            </a:r>
            <a:endParaRPr lang="en-PK" dirty="0"/>
          </a:p>
        </p:txBody>
      </p:sp>
      <p:sp>
        <p:nvSpPr>
          <p:cNvPr id="3" name="Content Placeholder 2">
            <a:extLst>
              <a:ext uri="{FF2B5EF4-FFF2-40B4-BE49-F238E27FC236}">
                <a16:creationId xmlns:a16="http://schemas.microsoft.com/office/drawing/2014/main" id="{7B0B9611-0CD3-FD0E-C91C-A51370F8B5A3}"/>
              </a:ext>
            </a:extLst>
          </p:cNvPr>
          <p:cNvSpPr>
            <a:spLocks noGrp="1"/>
          </p:cNvSpPr>
          <p:nvPr>
            <p:ph idx="1"/>
          </p:nvPr>
        </p:nvSpPr>
        <p:spPr>
          <a:xfrm>
            <a:off x="3563332" y="757482"/>
            <a:ext cx="8224920" cy="4351338"/>
          </a:xfrm>
        </p:spPr>
        <p:txBody>
          <a:bodyPr/>
          <a:lstStyle/>
          <a:p>
            <a:pPr marL="0" indent="0" algn="l" fontAlgn="base">
              <a:buNone/>
            </a:pPr>
            <a:br>
              <a:rPr lang="en-US" dirty="0"/>
            </a:br>
            <a:endParaRPr lang="en-US" b="0" i="0" dirty="0">
              <a:solidFill>
                <a:srgbClr val="0D0D0D"/>
              </a:solidFill>
              <a:effectLst/>
              <a:latin typeface="Roboto" panose="020F0502020204030204" pitchFamily="2" charset="0"/>
            </a:endParaRPr>
          </a:p>
          <a:p>
            <a:pPr algn="l" fontAlgn="base"/>
            <a:r>
              <a:rPr lang="en-US" b="1" i="1" dirty="0">
                <a:solidFill>
                  <a:srgbClr val="080809"/>
                </a:solidFill>
                <a:effectLst/>
                <a:latin typeface="PT Serif" panose="020A0603040505020204" pitchFamily="18" charset="0"/>
              </a:rPr>
              <a:t>Human-computer interaction (HCI) is defined as the field of study that focuses on </a:t>
            </a:r>
          </a:p>
          <a:p>
            <a:pPr marL="0" indent="0" algn="l" fontAlgn="base">
              <a:buNone/>
            </a:pPr>
            <a:r>
              <a:rPr lang="en-US" b="1" i="1" dirty="0">
                <a:solidFill>
                  <a:srgbClr val="080809"/>
                </a:solidFill>
                <a:latin typeface="PT Serif" panose="020A0603040505020204" pitchFamily="18" charset="0"/>
              </a:rPr>
              <a:t>        “o</a:t>
            </a:r>
            <a:r>
              <a:rPr lang="en-US" b="1" i="1" dirty="0">
                <a:solidFill>
                  <a:srgbClr val="080809"/>
                </a:solidFill>
                <a:effectLst/>
                <a:latin typeface="PT Serif" panose="020A0603040505020204" pitchFamily="18" charset="0"/>
              </a:rPr>
              <a:t>ptimizing how users and computers interact by designing interactive computer interfaces that satisfy users’ needs.” </a:t>
            </a:r>
            <a:endParaRPr lang="en-PK" dirty="0"/>
          </a:p>
        </p:txBody>
      </p:sp>
    </p:spTree>
    <p:extLst>
      <p:ext uri="{BB962C8B-B14F-4D97-AF65-F5344CB8AC3E}">
        <p14:creationId xmlns:p14="http://schemas.microsoft.com/office/powerpoint/2010/main" val="1485919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931D8-49EF-79AF-FF0A-27095B3BC60F}"/>
              </a:ext>
            </a:extLst>
          </p:cNvPr>
          <p:cNvSpPr>
            <a:spLocks noGrp="1"/>
          </p:cNvSpPr>
          <p:nvPr>
            <p:ph type="title"/>
          </p:nvPr>
        </p:nvSpPr>
        <p:spPr/>
        <p:txBody>
          <a:bodyPr/>
          <a:lstStyle/>
          <a:p>
            <a:endParaRPr lang="en-PK" dirty="0"/>
          </a:p>
        </p:txBody>
      </p:sp>
      <p:sp>
        <p:nvSpPr>
          <p:cNvPr id="3" name="Content Placeholder 2">
            <a:extLst>
              <a:ext uri="{FF2B5EF4-FFF2-40B4-BE49-F238E27FC236}">
                <a16:creationId xmlns:a16="http://schemas.microsoft.com/office/drawing/2014/main" id="{21F65471-B90F-7749-C715-B5720BAC25F6}"/>
              </a:ext>
            </a:extLst>
          </p:cNvPr>
          <p:cNvSpPr>
            <a:spLocks noGrp="1"/>
          </p:cNvSpPr>
          <p:nvPr>
            <p:ph idx="1"/>
          </p:nvPr>
        </p:nvSpPr>
        <p:spPr/>
        <p:txBody>
          <a:bodyPr/>
          <a:lstStyle/>
          <a:p>
            <a:r>
              <a:rPr lang="en-US" b="0" i="0" dirty="0">
                <a:solidFill>
                  <a:srgbClr val="080809"/>
                </a:solidFill>
                <a:effectLst/>
                <a:latin typeface="PT Serif" panose="020A0603040505020204" pitchFamily="18" charset="0"/>
              </a:rPr>
              <a:t>The emergence of HCI dates back to the 1980s, </a:t>
            </a:r>
          </a:p>
          <a:p>
            <a:r>
              <a:rPr lang="en-US" b="0" i="0" dirty="0">
                <a:solidFill>
                  <a:srgbClr val="080809"/>
                </a:solidFill>
                <a:effectLst/>
                <a:latin typeface="PT Serif" panose="020A0603040505020204" pitchFamily="18" charset="0"/>
              </a:rPr>
              <a:t>when personal computing was on the rise. </a:t>
            </a:r>
          </a:p>
          <a:p>
            <a:r>
              <a:rPr lang="en-US" b="0" i="0" dirty="0">
                <a:solidFill>
                  <a:srgbClr val="080809"/>
                </a:solidFill>
                <a:effectLst/>
                <a:latin typeface="PT Serif" panose="020A0603040505020204" pitchFamily="18" charset="0"/>
              </a:rPr>
              <a:t>It was when desktop computers started appearing in households and corporate offices. </a:t>
            </a:r>
          </a:p>
          <a:p>
            <a:r>
              <a:rPr lang="en-US" b="0" i="0" dirty="0">
                <a:solidFill>
                  <a:srgbClr val="080809"/>
                </a:solidFill>
                <a:effectLst/>
                <a:latin typeface="PT Serif" panose="020A0603040505020204" pitchFamily="18" charset="0"/>
              </a:rPr>
              <a:t>HCI’s journey began with video games, word processors, and numerical units.</a:t>
            </a:r>
            <a:endParaRPr lang="en-PK" dirty="0"/>
          </a:p>
        </p:txBody>
      </p:sp>
    </p:spTree>
    <p:extLst>
      <p:ext uri="{BB962C8B-B14F-4D97-AF65-F5344CB8AC3E}">
        <p14:creationId xmlns:p14="http://schemas.microsoft.com/office/powerpoint/2010/main" val="4008662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56616-F7F4-2809-DB02-EAD731F5C14F}"/>
              </a:ext>
            </a:extLst>
          </p:cNvPr>
          <p:cNvSpPr>
            <a:spLocks noGrp="1"/>
          </p:cNvSpPr>
          <p:nvPr>
            <p:ph type="ctrTitle"/>
          </p:nvPr>
        </p:nvSpPr>
        <p:spPr/>
        <p:txBody>
          <a:bodyPr/>
          <a:lstStyle/>
          <a:p>
            <a:endParaRPr lang="en-PK" dirty="0"/>
          </a:p>
        </p:txBody>
      </p:sp>
      <p:sp>
        <p:nvSpPr>
          <p:cNvPr id="3" name="Content Placeholder 2">
            <a:extLst>
              <a:ext uri="{FF2B5EF4-FFF2-40B4-BE49-F238E27FC236}">
                <a16:creationId xmlns:a16="http://schemas.microsoft.com/office/drawing/2014/main" id="{C5BD61E9-9BA3-A43E-2013-1B3D6AD011BD}"/>
              </a:ext>
            </a:extLst>
          </p:cNvPr>
          <p:cNvSpPr>
            <a:spLocks noGrp="1"/>
          </p:cNvSpPr>
          <p:nvPr>
            <p:ph type="subTitle" idx="1"/>
          </p:nvPr>
        </p:nvSpPr>
        <p:spPr>
          <a:xfrm>
            <a:off x="213895" y="946659"/>
            <a:ext cx="7315200" cy="914400"/>
          </a:xfrm>
        </p:spPr>
        <p:txBody>
          <a:bodyPr>
            <a:noAutofit/>
          </a:bodyPr>
          <a:lstStyle/>
          <a:p>
            <a:r>
              <a:rPr lang="en-US" sz="1800" dirty="0">
                <a:solidFill>
                  <a:srgbClr val="080809"/>
                </a:solidFill>
                <a:latin typeface="PT Serif" panose="020A0603040505020204" pitchFamily="18" charset="0"/>
              </a:rPr>
              <a:t>T</a:t>
            </a:r>
            <a:r>
              <a:rPr lang="en-US" sz="1800" b="0" i="0" dirty="0">
                <a:solidFill>
                  <a:srgbClr val="080809"/>
                </a:solidFill>
                <a:effectLst/>
                <a:latin typeface="PT Serif" panose="020A0603040505020204" pitchFamily="18" charset="0"/>
              </a:rPr>
              <a:t>oday, HCI focuses on designing, implementing, and evaluating interactive interfaces that enhance user experience using computing devices. This includes user interface design, user-centered design, and user experience design.</a:t>
            </a:r>
            <a:endParaRPr lang="en-PK" sz="1800" dirty="0"/>
          </a:p>
        </p:txBody>
      </p:sp>
      <p:pic>
        <p:nvPicPr>
          <p:cNvPr id="2050" name="Picture 2" descr="Human-Computer Interaction">
            <a:extLst>
              <a:ext uri="{FF2B5EF4-FFF2-40B4-BE49-F238E27FC236}">
                <a16:creationId xmlns:a16="http://schemas.microsoft.com/office/drawing/2014/main" id="{ABDC5A15-B7EE-7C20-B08C-C06236C85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3517" y="2019351"/>
            <a:ext cx="6568483" cy="4742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4196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595B1-A84B-742E-072D-52850A625A25}"/>
              </a:ext>
            </a:extLst>
          </p:cNvPr>
          <p:cNvSpPr>
            <a:spLocks noGrp="1"/>
          </p:cNvSpPr>
          <p:nvPr>
            <p:ph type="title"/>
          </p:nvPr>
        </p:nvSpPr>
        <p:spPr/>
        <p:txBody>
          <a:bodyPr>
            <a:normAutofit/>
          </a:bodyPr>
          <a:lstStyle/>
          <a:p>
            <a:pPr fontAlgn="base"/>
            <a:r>
              <a:rPr lang="en-US" b="0" i="0" dirty="0">
                <a:solidFill>
                  <a:srgbClr val="080809"/>
                </a:solidFill>
                <a:effectLst/>
                <a:latin typeface="Roboto" panose="020F0502020204030204" pitchFamily="2" charset="0"/>
              </a:rPr>
              <a:t>Key components of HCI</a:t>
            </a:r>
            <a:br>
              <a:rPr lang="en-US" b="1" i="0" dirty="0">
                <a:solidFill>
                  <a:srgbClr val="080809"/>
                </a:solidFill>
                <a:effectLst/>
                <a:latin typeface="Roboto" panose="020F0502020204030204" pitchFamily="2" charset="0"/>
              </a:rPr>
            </a:br>
            <a:endParaRPr lang="en-PK" dirty="0"/>
          </a:p>
        </p:txBody>
      </p:sp>
      <p:sp>
        <p:nvSpPr>
          <p:cNvPr id="3" name="Content Placeholder 2">
            <a:extLst>
              <a:ext uri="{FF2B5EF4-FFF2-40B4-BE49-F238E27FC236}">
                <a16:creationId xmlns:a16="http://schemas.microsoft.com/office/drawing/2014/main" id="{F9EF40DC-8578-71EE-A7B5-16FD23184CC1}"/>
              </a:ext>
            </a:extLst>
          </p:cNvPr>
          <p:cNvSpPr>
            <a:spLocks noGrp="1"/>
          </p:cNvSpPr>
          <p:nvPr>
            <p:ph idx="1"/>
          </p:nvPr>
        </p:nvSpPr>
        <p:spPr/>
        <p:txBody>
          <a:bodyPr>
            <a:normAutofit/>
          </a:bodyPr>
          <a:lstStyle/>
          <a:p>
            <a:r>
              <a:rPr lang="en-US" b="0" i="0" dirty="0">
                <a:solidFill>
                  <a:srgbClr val="080809"/>
                </a:solidFill>
                <a:effectLst/>
                <a:latin typeface="PT Serif" panose="020A0603040505020204" pitchFamily="18" charset="0"/>
              </a:rPr>
              <a:t>Fundamentally, HCI is made up of these key components:</a:t>
            </a:r>
          </a:p>
          <a:p>
            <a:pPr marL="0" indent="0" algn="l" fontAlgn="base">
              <a:buNone/>
            </a:pPr>
            <a:r>
              <a:rPr lang="en-US" b="1" i="0" dirty="0">
                <a:solidFill>
                  <a:srgbClr val="080809"/>
                </a:solidFill>
                <a:effectLst/>
                <a:latin typeface="PT Serif" panose="020A0603040505020204" pitchFamily="18" charset="0"/>
              </a:rPr>
              <a:t>1-The user/ human</a:t>
            </a:r>
            <a:endParaRPr lang="en-US" b="0" i="0" dirty="0">
              <a:solidFill>
                <a:srgbClr val="080809"/>
              </a:solidFill>
              <a:effectLst/>
              <a:latin typeface="PT Serif" panose="020A0603040505020204" pitchFamily="18" charset="0"/>
            </a:endParaRPr>
          </a:p>
          <a:p>
            <a:pPr marL="0" indent="0" algn="l" fontAlgn="base">
              <a:buNone/>
            </a:pPr>
            <a:r>
              <a:rPr lang="en-US" b="0" i="0" dirty="0">
                <a:solidFill>
                  <a:srgbClr val="080809"/>
                </a:solidFill>
                <a:effectLst/>
                <a:latin typeface="PT Serif" panose="020A0603040505020204" pitchFamily="18" charset="0"/>
              </a:rPr>
              <a:t> The user component refers to an individual or a group of individuals that participate in a common task. HCI studies users’ needs, goals, and interaction patterns. It analyzes various parameters such as users’ cognitive capabilities, emotions, and experiences to provide them with a seamless experience while interacting with computing systems.</a:t>
            </a:r>
          </a:p>
          <a:p>
            <a:pPr marL="0" indent="0" algn="l" fontAlgn="base">
              <a:buNone/>
            </a:pPr>
            <a:r>
              <a:rPr lang="en-US" b="1" i="0" dirty="0">
                <a:solidFill>
                  <a:srgbClr val="080809"/>
                </a:solidFill>
                <a:effectLst/>
                <a:latin typeface="PT Serif" panose="020A0603040505020204" pitchFamily="18" charset="0"/>
              </a:rPr>
              <a:t>System:</a:t>
            </a:r>
          </a:p>
          <a:p>
            <a:pPr marL="0" indent="0" algn="l" fontAlgn="base">
              <a:buNone/>
            </a:pPr>
            <a:r>
              <a:rPr lang="en-US" b="1" i="0" dirty="0">
                <a:solidFill>
                  <a:srgbClr val="080809"/>
                </a:solidFill>
                <a:effectLst/>
                <a:latin typeface="PT Serif" panose="020A0603040505020204" pitchFamily="18" charset="0"/>
              </a:rPr>
              <a:t>The product that user is using..</a:t>
            </a:r>
          </a:p>
          <a:p>
            <a:pPr marL="0" indent="0">
              <a:buNone/>
            </a:pPr>
            <a:br>
              <a:rPr lang="en-US" b="0" i="0" dirty="0">
                <a:solidFill>
                  <a:srgbClr val="080809"/>
                </a:solidFill>
                <a:effectLst/>
                <a:latin typeface="PT Serif" panose="020A0603040505020204" pitchFamily="18" charset="0"/>
              </a:rPr>
            </a:br>
            <a:endParaRPr lang="en-PK" dirty="0"/>
          </a:p>
        </p:txBody>
      </p:sp>
    </p:spTree>
    <p:extLst>
      <p:ext uri="{BB962C8B-B14F-4D97-AF65-F5344CB8AC3E}">
        <p14:creationId xmlns:p14="http://schemas.microsoft.com/office/powerpoint/2010/main" val="1864546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6BD01-097D-63AD-B4E3-4F05C3164943}"/>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D4287B70-EE8E-236F-646D-0B8D4B76D17B}"/>
              </a:ext>
            </a:extLst>
          </p:cNvPr>
          <p:cNvSpPr>
            <a:spLocks noGrp="1"/>
          </p:cNvSpPr>
          <p:nvPr>
            <p:ph idx="1"/>
          </p:nvPr>
        </p:nvSpPr>
        <p:spPr/>
        <p:txBody>
          <a:bodyPr/>
          <a:lstStyle/>
          <a:p>
            <a:pPr marL="0" indent="0" algn="l" fontAlgn="base">
              <a:buNone/>
            </a:pPr>
            <a:r>
              <a:rPr lang="en-US" b="1" i="0" dirty="0">
                <a:solidFill>
                  <a:srgbClr val="080809"/>
                </a:solidFill>
                <a:effectLst/>
                <a:latin typeface="PT Serif" panose="020A0603040505020204" pitchFamily="18" charset="0"/>
              </a:rPr>
              <a:t>2- The goal-oriented task</a:t>
            </a:r>
            <a:endParaRPr lang="en-US" b="0" i="0" dirty="0">
              <a:solidFill>
                <a:srgbClr val="080809"/>
              </a:solidFill>
              <a:effectLst/>
              <a:latin typeface="PT Serif" panose="020A0603040505020204" pitchFamily="18" charset="0"/>
            </a:endParaRPr>
          </a:p>
          <a:p>
            <a:pPr marL="0" indent="0" algn="l" fontAlgn="base">
              <a:buNone/>
            </a:pPr>
            <a:r>
              <a:rPr lang="en-US" b="0" i="0" dirty="0">
                <a:solidFill>
                  <a:srgbClr val="080809"/>
                </a:solidFill>
                <a:effectLst/>
                <a:latin typeface="PT Serif" panose="020A0603040505020204" pitchFamily="18" charset="0"/>
              </a:rPr>
              <a:t>A user operates a computer system with an objective or goal in mind. The computer provides a digital representation of objects to accomplish this goal. For example, booking an airline for a destination could be a task for an aviation website.</a:t>
            </a:r>
          </a:p>
          <a:p>
            <a:endParaRPr lang="en-PK" dirty="0"/>
          </a:p>
        </p:txBody>
      </p:sp>
    </p:spTree>
    <p:extLst>
      <p:ext uri="{BB962C8B-B14F-4D97-AF65-F5344CB8AC3E}">
        <p14:creationId xmlns:p14="http://schemas.microsoft.com/office/powerpoint/2010/main" val="508835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5982A-64DA-CC82-311C-117310BC7FAD}"/>
              </a:ext>
            </a:extLst>
          </p:cNvPr>
          <p:cNvSpPr>
            <a:spLocks noGrp="1"/>
          </p:cNvSpPr>
          <p:nvPr>
            <p:ph idx="1"/>
          </p:nvPr>
        </p:nvSpPr>
        <p:spPr>
          <a:xfrm>
            <a:off x="725079" y="543580"/>
            <a:ext cx="10515600" cy="4351338"/>
          </a:xfrm>
        </p:spPr>
        <p:txBody>
          <a:bodyPr/>
          <a:lstStyle/>
          <a:p>
            <a:pPr marL="0" indent="0" algn="l" fontAlgn="base">
              <a:buNone/>
            </a:pPr>
            <a:r>
              <a:rPr lang="en-US" b="1" i="0" dirty="0">
                <a:solidFill>
                  <a:srgbClr val="080809"/>
                </a:solidFill>
                <a:effectLst/>
                <a:latin typeface="PT Serif" panose="020A0603040505020204" pitchFamily="18" charset="0"/>
              </a:rPr>
              <a:t>3- The interface /interaction</a:t>
            </a:r>
            <a:endParaRPr lang="en-US" b="0" i="0" dirty="0">
              <a:solidFill>
                <a:srgbClr val="080809"/>
              </a:solidFill>
              <a:effectLst/>
              <a:latin typeface="PT Serif" panose="020A0603040505020204" pitchFamily="18" charset="0"/>
            </a:endParaRPr>
          </a:p>
          <a:p>
            <a:pPr marL="0" indent="0" algn="l" fontAlgn="base">
              <a:buNone/>
            </a:pPr>
            <a:r>
              <a:rPr lang="en-US" b="0" i="0" dirty="0">
                <a:solidFill>
                  <a:srgbClr val="080809"/>
                </a:solidFill>
                <a:effectLst/>
                <a:latin typeface="PT Serif" panose="020A0603040505020204" pitchFamily="18" charset="0"/>
              </a:rPr>
              <a:t>The interface is a crucial HCI component that can enhance the overall user interaction experience. </a:t>
            </a:r>
          </a:p>
          <a:p>
            <a:pPr marL="0" indent="0" algn="l" fontAlgn="base">
              <a:buNone/>
            </a:pPr>
            <a:r>
              <a:rPr lang="en-US" b="0" i="0" dirty="0">
                <a:solidFill>
                  <a:srgbClr val="080809"/>
                </a:solidFill>
                <a:effectLst/>
                <a:latin typeface="PT Serif" panose="020A0603040505020204" pitchFamily="18" charset="0"/>
              </a:rPr>
              <a:t>Various interface-related aspects must be considered, such as interaction type (touch, click, gesture, or voice), screen resolution, display size, or even color contrast. </a:t>
            </a:r>
          </a:p>
          <a:p>
            <a:pPr marL="0" indent="0" algn="l" fontAlgn="base">
              <a:buNone/>
            </a:pPr>
            <a:r>
              <a:rPr lang="en-US" b="0" i="0" dirty="0">
                <a:solidFill>
                  <a:srgbClr val="080809"/>
                </a:solidFill>
                <a:effectLst/>
                <a:latin typeface="PT Serif" panose="020A0603040505020204" pitchFamily="18" charset="0"/>
              </a:rPr>
              <a:t>Users can adjust these depending on the user’s needs and requirements.</a:t>
            </a:r>
          </a:p>
          <a:p>
            <a:endParaRPr lang="en-PK" dirty="0"/>
          </a:p>
        </p:txBody>
      </p:sp>
      <p:sp>
        <p:nvSpPr>
          <p:cNvPr id="4" name="TextBox 3">
            <a:extLst>
              <a:ext uri="{FF2B5EF4-FFF2-40B4-BE49-F238E27FC236}">
                <a16:creationId xmlns:a16="http://schemas.microsoft.com/office/drawing/2014/main" id="{0099F951-3FE5-393D-3F04-6D0949FF2472}"/>
              </a:ext>
            </a:extLst>
          </p:cNvPr>
          <p:cNvSpPr txBox="1"/>
          <p:nvPr/>
        </p:nvSpPr>
        <p:spPr>
          <a:xfrm>
            <a:off x="820828" y="3687440"/>
            <a:ext cx="10714892" cy="175432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Example:</a:t>
            </a:r>
          </a:p>
          <a:p>
            <a:r>
              <a:rPr lang="en-US" b="0" i="0" dirty="0">
                <a:solidFill>
                  <a:srgbClr val="080809"/>
                </a:solidFill>
                <a:effectLst/>
                <a:latin typeface="PT Serif" panose="020A0603040505020204" pitchFamily="18" charset="0"/>
              </a:rPr>
              <a:t>For example, consider a user visiting a website on a smartphone. In such a case, the mobile version of the website should only display important information that allows the user to navigate through the site easily. Moreover, the text size should be appropriately adjusted so that the user is in a position to read it on the mobile device. Such design optimization boosts user experience as it makes them feel comfortable while accessing the site on a mobile phone.</a:t>
            </a:r>
            <a:endParaRPr lang="en-PK" dirty="0"/>
          </a:p>
        </p:txBody>
      </p:sp>
    </p:spTree>
    <p:extLst>
      <p:ext uri="{BB962C8B-B14F-4D97-AF65-F5344CB8AC3E}">
        <p14:creationId xmlns:p14="http://schemas.microsoft.com/office/powerpoint/2010/main" val="2979004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DB8C4-CE65-967C-D83E-6D57A9518C02}"/>
              </a:ext>
            </a:extLst>
          </p:cNvPr>
          <p:cNvSpPr>
            <a:spLocks noGrp="1"/>
          </p:cNvSpPr>
          <p:nvPr>
            <p:ph type="title"/>
          </p:nvPr>
        </p:nvSpPr>
        <p:spPr/>
        <p:txBody>
          <a:bodyPr/>
          <a:lstStyle/>
          <a:p>
            <a:r>
              <a:rPr lang="en-US" b="1" i="0" dirty="0">
                <a:solidFill>
                  <a:srgbClr val="080809"/>
                </a:solidFill>
                <a:effectLst/>
                <a:latin typeface="Roboto" panose="020F0502020204030204" pitchFamily="2" charset="0"/>
              </a:rPr>
              <a:t>Importance of HCI</a:t>
            </a:r>
            <a:endParaRPr lang="en-PK" dirty="0"/>
          </a:p>
        </p:txBody>
      </p:sp>
      <p:sp>
        <p:nvSpPr>
          <p:cNvPr id="3" name="Content Placeholder 2">
            <a:extLst>
              <a:ext uri="{FF2B5EF4-FFF2-40B4-BE49-F238E27FC236}">
                <a16:creationId xmlns:a16="http://schemas.microsoft.com/office/drawing/2014/main" id="{50FA9AFE-7ECE-6DA5-09EF-E2712EA4CD68}"/>
              </a:ext>
            </a:extLst>
          </p:cNvPr>
          <p:cNvSpPr>
            <a:spLocks noGrp="1"/>
          </p:cNvSpPr>
          <p:nvPr>
            <p:ph idx="1"/>
          </p:nvPr>
        </p:nvSpPr>
        <p:spPr/>
        <p:txBody>
          <a:bodyPr/>
          <a:lstStyle/>
          <a:p>
            <a:r>
              <a:rPr lang="en-US" b="1" i="0" dirty="0">
                <a:solidFill>
                  <a:srgbClr val="080809"/>
                </a:solidFill>
                <a:effectLst/>
                <a:latin typeface="Roboto" panose="020F0502020204030204" pitchFamily="2" charset="0"/>
              </a:rPr>
              <a:t> HCI in daily lives: </a:t>
            </a:r>
            <a:r>
              <a:rPr lang="en-US" b="0" i="0" dirty="0">
                <a:solidFill>
                  <a:srgbClr val="080809"/>
                </a:solidFill>
                <a:effectLst/>
                <a:latin typeface="PT Serif" panose="020A0603040505020204" pitchFamily="18" charset="0"/>
              </a:rPr>
              <a:t>an ATM, food dispensing machine, or snack vending machine(interface , design…)</a:t>
            </a:r>
          </a:p>
          <a:p>
            <a:r>
              <a:rPr lang="en-US" b="1" i="0" dirty="0">
                <a:solidFill>
                  <a:srgbClr val="080809"/>
                </a:solidFill>
                <a:effectLst/>
                <a:latin typeface="Roboto" panose="020F0502020204030204" pitchFamily="2" charset="0"/>
              </a:rPr>
              <a:t>Industry</a:t>
            </a:r>
            <a:r>
              <a:rPr lang="en-US" dirty="0">
                <a:solidFill>
                  <a:srgbClr val="080809"/>
                </a:solidFill>
                <a:latin typeface="PT Serif" panose="020A0603040505020204" pitchFamily="18" charset="0"/>
              </a:rPr>
              <a:t>: </a:t>
            </a:r>
            <a:r>
              <a:rPr lang="en-US" b="0" i="0" dirty="0">
                <a:solidFill>
                  <a:srgbClr val="080809"/>
                </a:solidFill>
                <a:effectLst/>
                <a:latin typeface="PT Serif" panose="020A0603040505020204" pitchFamily="18" charset="0"/>
              </a:rPr>
              <a:t>Industries that use computing technology for day-to-day activities tend to consider HCI a necessary business-driving force. </a:t>
            </a:r>
            <a:r>
              <a:rPr lang="en-US" dirty="0">
                <a:solidFill>
                  <a:srgbClr val="080809"/>
                </a:solidFill>
                <a:latin typeface="PT Serif" panose="020A0603040505020204" pitchFamily="18" charset="0"/>
              </a:rPr>
              <a:t>Making employees comfortable</a:t>
            </a:r>
          </a:p>
          <a:p>
            <a:r>
              <a:rPr lang="en-US" b="1" i="0" dirty="0">
                <a:solidFill>
                  <a:srgbClr val="080809"/>
                </a:solidFill>
                <a:effectLst/>
                <a:latin typeface="Roboto" panose="020F0502020204030204" pitchFamily="2" charset="0"/>
              </a:rPr>
              <a:t>Accessible to disabled</a:t>
            </a:r>
            <a:r>
              <a:rPr lang="en-US" b="1" i="0" dirty="0">
                <a:solidFill>
                  <a:srgbClr val="080809"/>
                </a:solidFill>
                <a:effectLst/>
                <a:latin typeface="PT Serif" panose="020A0603040505020204" pitchFamily="18" charset="0"/>
              </a:rPr>
              <a:t>.</a:t>
            </a:r>
          </a:p>
          <a:p>
            <a:r>
              <a:rPr lang="en-US" b="1" dirty="0">
                <a:solidFill>
                  <a:srgbClr val="080809"/>
                </a:solidFill>
                <a:latin typeface="PT Serif" panose="020A0603040505020204" pitchFamily="18" charset="0"/>
              </a:rPr>
              <a:t>Usability and user experience</a:t>
            </a:r>
          </a:p>
          <a:p>
            <a:r>
              <a:rPr lang="en-US" b="1" i="0" dirty="0">
                <a:solidFill>
                  <a:srgbClr val="080809"/>
                </a:solidFill>
                <a:effectLst/>
                <a:latin typeface="PT Serif" panose="020A0603040505020204" pitchFamily="18" charset="0"/>
              </a:rPr>
              <a:t>Business growth.</a:t>
            </a:r>
          </a:p>
          <a:p>
            <a:pPr marL="0" indent="0">
              <a:buNone/>
            </a:pPr>
            <a:endParaRPr lang="en-PK" dirty="0"/>
          </a:p>
        </p:txBody>
      </p:sp>
    </p:spTree>
    <p:extLst>
      <p:ext uri="{BB962C8B-B14F-4D97-AF65-F5344CB8AC3E}">
        <p14:creationId xmlns:p14="http://schemas.microsoft.com/office/powerpoint/2010/main" val="2779196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60B9C-33C2-9A4C-E607-EB50B3F62F55}"/>
              </a:ext>
            </a:extLst>
          </p:cNvPr>
          <p:cNvSpPr>
            <a:spLocks noGrp="1"/>
          </p:cNvSpPr>
          <p:nvPr>
            <p:ph type="title"/>
          </p:nvPr>
        </p:nvSpPr>
        <p:spPr/>
        <p:txBody>
          <a:bodyPr/>
          <a:lstStyle/>
          <a:p>
            <a:r>
              <a:rPr lang="en-US" b="1" i="0" dirty="0">
                <a:solidFill>
                  <a:srgbClr val="080809"/>
                </a:solidFill>
                <a:effectLst/>
                <a:latin typeface="Roboto" panose="020F0502020204030204" pitchFamily="2" charset="0"/>
              </a:rPr>
              <a:t>Examples of HCI</a:t>
            </a:r>
            <a:endParaRPr lang="en-PK" dirty="0"/>
          </a:p>
        </p:txBody>
      </p:sp>
      <p:sp>
        <p:nvSpPr>
          <p:cNvPr id="3" name="Content Placeholder 2">
            <a:extLst>
              <a:ext uri="{FF2B5EF4-FFF2-40B4-BE49-F238E27FC236}">
                <a16:creationId xmlns:a16="http://schemas.microsoft.com/office/drawing/2014/main" id="{B3A528B7-3EE0-EAB7-7CB4-E53ADDD60E87}"/>
              </a:ext>
            </a:extLst>
          </p:cNvPr>
          <p:cNvSpPr>
            <a:spLocks noGrp="1"/>
          </p:cNvSpPr>
          <p:nvPr>
            <p:ph idx="1"/>
          </p:nvPr>
        </p:nvSpPr>
        <p:spPr/>
        <p:txBody>
          <a:bodyPr/>
          <a:lstStyle/>
          <a:p>
            <a:r>
              <a:rPr lang="en-US" b="1" i="0" dirty="0">
                <a:solidFill>
                  <a:srgbClr val="080809"/>
                </a:solidFill>
                <a:effectLst/>
                <a:latin typeface="Roboto" panose="020F0502020204030204" pitchFamily="2" charset="0"/>
              </a:rPr>
              <a:t>1. IoT technology</a:t>
            </a:r>
          </a:p>
          <a:p>
            <a:r>
              <a:rPr lang="en-US" b="1" i="0" dirty="0">
                <a:solidFill>
                  <a:srgbClr val="080809"/>
                </a:solidFill>
                <a:effectLst/>
                <a:latin typeface="Roboto" panose="020F0502020204030204" pitchFamily="2" charset="0"/>
              </a:rPr>
              <a:t>Eye-tracking technology</a:t>
            </a:r>
            <a:endParaRPr lang="en-US" b="1" dirty="0">
              <a:solidFill>
                <a:srgbClr val="080809"/>
              </a:solidFill>
              <a:latin typeface="Roboto" panose="020F0502020204030204" pitchFamily="2" charset="0"/>
            </a:endParaRPr>
          </a:p>
          <a:p>
            <a:r>
              <a:rPr lang="en-US" b="1" i="0" dirty="0">
                <a:solidFill>
                  <a:srgbClr val="080809"/>
                </a:solidFill>
                <a:effectLst/>
                <a:latin typeface="Roboto" panose="020F0502020204030204" pitchFamily="2" charset="0"/>
              </a:rPr>
              <a:t>Speech recognition technology</a:t>
            </a:r>
          </a:p>
          <a:p>
            <a:r>
              <a:rPr lang="en-US" b="1" i="0" dirty="0">
                <a:solidFill>
                  <a:srgbClr val="080809"/>
                </a:solidFill>
                <a:effectLst/>
                <a:latin typeface="Roboto" panose="020F0502020204030204" pitchFamily="2" charset="0"/>
              </a:rPr>
              <a:t>4. AR/VR technology</a:t>
            </a:r>
            <a:endParaRPr lang="en-US" b="1" dirty="0">
              <a:solidFill>
                <a:srgbClr val="080809"/>
              </a:solidFill>
              <a:latin typeface="Roboto" panose="020F0502020204030204" pitchFamily="2" charset="0"/>
            </a:endParaRPr>
          </a:p>
          <a:p>
            <a:r>
              <a:rPr lang="en-US" b="1" i="0" dirty="0">
                <a:solidFill>
                  <a:srgbClr val="080809"/>
                </a:solidFill>
                <a:effectLst/>
                <a:latin typeface="Roboto" panose="020F0502020204030204" pitchFamily="2" charset="0"/>
              </a:rPr>
              <a:t>Cloud computing</a:t>
            </a:r>
            <a:endParaRPr lang="en-PK" dirty="0"/>
          </a:p>
        </p:txBody>
      </p:sp>
    </p:spTree>
    <p:extLst>
      <p:ext uri="{BB962C8B-B14F-4D97-AF65-F5344CB8AC3E}">
        <p14:creationId xmlns:p14="http://schemas.microsoft.com/office/powerpoint/2010/main" val="2070536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B6E0E-DBB9-F816-225C-091FD16FC65A}"/>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2FB1CF9B-558E-A0D5-A653-B189AE7B0AA9}"/>
              </a:ext>
            </a:extLst>
          </p:cNvPr>
          <p:cNvSpPr>
            <a:spLocks noGrp="1"/>
          </p:cNvSpPr>
          <p:nvPr>
            <p:ph idx="1"/>
          </p:nvPr>
        </p:nvSpPr>
        <p:spPr>
          <a:xfrm>
            <a:off x="1423481" y="5130147"/>
            <a:ext cx="10515600" cy="1597916"/>
          </a:xfrm>
        </p:spPr>
        <p:txBody>
          <a:bodyPr>
            <a:normAutofit/>
          </a:bodyPr>
          <a:lstStyle/>
          <a:p>
            <a:r>
              <a:rPr lang="en-US" sz="1800" b="0" i="0" dirty="0">
                <a:solidFill>
                  <a:srgbClr val="222222"/>
                </a:solidFill>
                <a:effectLst/>
                <a:latin typeface="Helvetica Neue"/>
              </a:rPr>
              <a:t>Multi-touch gestures enable interaction with touch screens through multiple fingers at once. They are especially useful because they permit numerous finger combinations and stroke gestures. This empowers touch screens to be some of the most useful input-output devices available.</a:t>
            </a:r>
            <a:endParaRPr lang="en-PK" sz="1800" dirty="0"/>
          </a:p>
        </p:txBody>
      </p:sp>
      <p:pic>
        <p:nvPicPr>
          <p:cNvPr id="5" name="Picture 4">
            <a:extLst>
              <a:ext uri="{FF2B5EF4-FFF2-40B4-BE49-F238E27FC236}">
                <a16:creationId xmlns:a16="http://schemas.microsoft.com/office/drawing/2014/main" id="{23A1ABC4-3429-C5E6-A7C9-5B660014D331}"/>
              </a:ext>
            </a:extLst>
          </p:cNvPr>
          <p:cNvPicPr>
            <a:picLocks noChangeAspect="1"/>
          </p:cNvPicPr>
          <p:nvPr/>
        </p:nvPicPr>
        <p:blipFill>
          <a:blip r:embed="rId2"/>
          <a:stretch>
            <a:fillRect/>
          </a:stretch>
        </p:blipFill>
        <p:spPr>
          <a:xfrm>
            <a:off x="981796" y="551937"/>
            <a:ext cx="3345470" cy="3825572"/>
          </a:xfrm>
          <a:prstGeom prst="rect">
            <a:avLst/>
          </a:prstGeom>
        </p:spPr>
      </p:pic>
      <p:pic>
        <p:nvPicPr>
          <p:cNvPr id="7" name="Picture 6">
            <a:extLst>
              <a:ext uri="{FF2B5EF4-FFF2-40B4-BE49-F238E27FC236}">
                <a16:creationId xmlns:a16="http://schemas.microsoft.com/office/drawing/2014/main" id="{2FD57885-CE62-5DC4-371E-4048C3DC2C4A}"/>
              </a:ext>
            </a:extLst>
          </p:cNvPr>
          <p:cNvPicPr>
            <a:picLocks noChangeAspect="1"/>
          </p:cNvPicPr>
          <p:nvPr/>
        </p:nvPicPr>
        <p:blipFill>
          <a:blip r:embed="rId3"/>
          <a:stretch>
            <a:fillRect/>
          </a:stretch>
        </p:blipFill>
        <p:spPr>
          <a:xfrm>
            <a:off x="4676799" y="753884"/>
            <a:ext cx="3436918" cy="3421677"/>
          </a:xfrm>
          <a:prstGeom prst="rect">
            <a:avLst/>
          </a:prstGeom>
        </p:spPr>
      </p:pic>
      <p:pic>
        <p:nvPicPr>
          <p:cNvPr id="3074" name="Picture 2">
            <a:extLst>
              <a:ext uri="{FF2B5EF4-FFF2-40B4-BE49-F238E27FC236}">
                <a16:creationId xmlns:a16="http://schemas.microsoft.com/office/drawing/2014/main" id="{769EABD6-06D6-6D86-D4E2-6DD2E9522D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9341" y="1123837"/>
            <a:ext cx="7275517" cy="4092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7345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4C404-A8C8-C749-7448-72404256A83C}"/>
              </a:ext>
            </a:extLst>
          </p:cNvPr>
          <p:cNvSpPr>
            <a:spLocks noGrp="1"/>
          </p:cNvSpPr>
          <p:nvPr>
            <p:ph type="title"/>
          </p:nvPr>
        </p:nvSpPr>
        <p:spPr/>
        <p:txBody>
          <a:bodyPr/>
          <a:lstStyle/>
          <a:p>
            <a:endParaRPr lang="en-PK"/>
          </a:p>
        </p:txBody>
      </p:sp>
      <p:pic>
        <p:nvPicPr>
          <p:cNvPr id="4098" name="Picture 2">
            <a:extLst>
              <a:ext uri="{FF2B5EF4-FFF2-40B4-BE49-F238E27FC236}">
                <a16:creationId xmlns:a16="http://schemas.microsoft.com/office/drawing/2014/main" id="{D1829972-2F1A-D92A-8DC9-B5EA847CC5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60509" y="544234"/>
            <a:ext cx="6096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C0FC039-F3D3-B192-766A-C4B625BAB86A}"/>
              </a:ext>
            </a:extLst>
          </p:cNvPr>
          <p:cNvSpPr txBox="1"/>
          <p:nvPr/>
        </p:nvSpPr>
        <p:spPr>
          <a:xfrm>
            <a:off x="3885508" y="4050807"/>
            <a:ext cx="6097384" cy="1200329"/>
          </a:xfrm>
          <a:prstGeom prst="rect">
            <a:avLst/>
          </a:prstGeom>
          <a:noFill/>
        </p:spPr>
        <p:txBody>
          <a:bodyPr wrap="square">
            <a:spAutoFit/>
          </a:bodyPr>
          <a:lstStyle/>
          <a:p>
            <a:r>
              <a:rPr lang="en-US" b="0" i="0" dirty="0">
                <a:solidFill>
                  <a:srgbClr val="222222"/>
                </a:solidFill>
                <a:effectLst/>
                <a:latin typeface="Helvetica Neue"/>
              </a:rPr>
              <a:t>Speech as Search Input is the use of oral commands to input a search query. You ask the computer to find you an answer. The technique often uses Artificial Intelligence technology, which can be difficult to implement.</a:t>
            </a:r>
            <a:endParaRPr lang="en-PK" dirty="0"/>
          </a:p>
        </p:txBody>
      </p:sp>
    </p:spTree>
    <p:extLst>
      <p:ext uri="{BB962C8B-B14F-4D97-AF65-F5344CB8AC3E}">
        <p14:creationId xmlns:p14="http://schemas.microsoft.com/office/powerpoint/2010/main" val="2747213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DE423-94E4-DD64-FFA3-FA9A03E851FC}"/>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C2C780D3-7A83-FE67-87AC-5360D2023F20}"/>
              </a:ext>
            </a:extLst>
          </p:cNvPr>
          <p:cNvSpPr>
            <a:spLocks noGrp="1"/>
          </p:cNvSpPr>
          <p:nvPr>
            <p:ph idx="1"/>
          </p:nvPr>
        </p:nvSpPr>
        <p:spPr/>
        <p:txBody>
          <a:bodyPr/>
          <a:lstStyle/>
          <a:p>
            <a:endParaRPr lang="en-PK" dirty="0"/>
          </a:p>
        </p:txBody>
      </p:sp>
      <p:pic>
        <p:nvPicPr>
          <p:cNvPr id="5122" name="Picture 2">
            <a:extLst>
              <a:ext uri="{FF2B5EF4-FFF2-40B4-BE49-F238E27FC236}">
                <a16:creationId xmlns:a16="http://schemas.microsoft.com/office/drawing/2014/main" id="{9B589522-3BC8-9A23-1E2F-1A3CF95742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4468" y="499670"/>
            <a:ext cx="7620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344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C972A-D629-8AE9-A738-E4A8367675FD}"/>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0B65508A-3A25-056C-ABE1-5A6EBDACF62D}"/>
              </a:ext>
            </a:extLst>
          </p:cNvPr>
          <p:cNvSpPr>
            <a:spLocks noGrp="1"/>
          </p:cNvSpPr>
          <p:nvPr>
            <p:ph idx="1"/>
          </p:nvPr>
        </p:nvSpPr>
        <p:spPr/>
        <p:txBody>
          <a:bodyPr/>
          <a:lstStyle/>
          <a:p>
            <a:endParaRPr lang="en-PK"/>
          </a:p>
        </p:txBody>
      </p:sp>
      <p:pic>
        <p:nvPicPr>
          <p:cNvPr id="4" name="Picture 2" descr="Reflective emotional design">
            <a:extLst>
              <a:ext uri="{FF2B5EF4-FFF2-40B4-BE49-F238E27FC236}">
                <a16:creationId xmlns:a16="http://schemas.microsoft.com/office/drawing/2014/main" id="{327776D6-FAC9-D261-41DA-8A1E0A2FC6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000" y="723207"/>
            <a:ext cx="11904000" cy="5669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4637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4AB4-C4F4-3427-C3E4-F3EE91C0B4C3}"/>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4C2F3BDD-A85E-FE53-81CB-350DA6E457FD}"/>
              </a:ext>
            </a:extLst>
          </p:cNvPr>
          <p:cNvSpPr>
            <a:spLocks noGrp="1"/>
          </p:cNvSpPr>
          <p:nvPr>
            <p:ph idx="1"/>
          </p:nvPr>
        </p:nvSpPr>
        <p:spPr>
          <a:xfrm>
            <a:off x="3406813" y="367581"/>
            <a:ext cx="7315200" cy="3083893"/>
          </a:xfrm>
        </p:spPr>
        <p:txBody>
          <a:bodyPr/>
          <a:lstStyle/>
          <a:p>
            <a:r>
              <a:rPr lang="en-US" b="0" i="0" dirty="0">
                <a:solidFill>
                  <a:srgbClr val="1A1A1A"/>
                </a:solidFill>
                <a:effectLst/>
                <a:latin typeface="Inter"/>
              </a:rPr>
              <a:t> Describe two advantages of using an HCI when monitoring your fitness.  Describe the disadvantages using an HCI might have in banking.  • Cost and ease of use must be considered when designing any HCI.</a:t>
            </a:r>
            <a:endParaRPr lang="en-PK" dirty="0"/>
          </a:p>
        </p:txBody>
      </p:sp>
      <p:pic>
        <p:nvPicPr>
          <p:cNvPr id="6146" name="Picture 2">
            <a:extLst>
              <a:ext uri="{FF2B5EF4-FFF2-40B4-BE49-F238E27FC236}">
                <a16:creationId xmlns:a16="http://schemas.microsoft.com/office/drawing/2014/main" id="{BC7D0E9C-2513-8EDB-23B7-6646C4C64C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4924" y="-102043"/>
            <a:ext cx="2124551" cy="19505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A7FC943-3D6E-62FB-7845-0B3209B6749C}"/>
              </a:ext>
            </a:extLst>
          </p:cNvPr>
          <p:cNvSpPr txBox="1"/>
          <p:nvPr/>
        </p:nvSpPr>
        <p:spPr>
          <a:xfrm>
            <a:off x="3760774" y="2797100"/>
            <a:ext cx="5069378" cy="3693319"/>
          </a:xfrm>
          <a:prstGeom prst="rect">
            <a:avLst/>
          </a:prstGeom>
          <a:noFill/>
        </p:spPr>
        <p:txBody>
          <a:bodyPr wrap="square" rtlCol="0">
            <a:spAutoFit/>
          </a:bodyPr>
          <a:lstStyle/>
          <a:p>
            <a:r>
              <a:rPr lang="en-US" b="0" i="0" dirty="0">
                <a:solidFill>
                  <a:srgbClr val="1A1A1A"/>
                </a:solidFill>
                <a:effectLst/>
                <a:latin typeface="Inter"/>
              </a:rPr>
              <a:t>1…The different display types and sizes that an HCI can be used on…</a:t>
            </a:r>
          </a:p>
          <a:p>
            <a:r>
              <a:rPr lang="en-US" dirty="0">
                <a:solidFill>
                  <a:srgbClr val="1A1A1A"/>
                </a:solidFill>
                <a:latin typeface="Inter"/>
              </a:rPr>
              <a:t>2…choices of function</a:t>
            </a:r>
          </a:p>
          <a:p>
            <a:r>
              <a:rPr lang="en-US" b="0" i="0" dirty="0">
                <a:solidFill>
                  <a:srgbClr val="1A1A1A"/>
                </a:solidFill>
                <a:effectLst/>
                <a:latin typeface="Inter"/>
              </a:rPr>
              <a:t>Long-lasting and reliable. • Light and thin as often portable.</a:t>
            </a:r>
          </a:p>
          <a:p>
            <a:endParaRPr lang="en-US" dirty="0">
              <a:solidFill>
                <a:srgbClr val="1A1A1A"/>
              </a:solidFill>
              <a:latin typeface="Inter"/>
            </a:endParaRPr>
          </a:p>
          <a:p>
            <a:r>
              <a:rPr lang="en-US" b="0" i="0" dirty="0">
                <a:solidFill>
                  <a:srgbClr val="1A1A1A"/>
                </a:solidFill>
                <a:effectLst/>
                <a:latin typeface="Inter"/>
              </a:rPr>
              <a:t>Disadvantages:</a:t>
            </a:r>
          </a:p>
          <a:p>
            <a:pPr marL="342900" indent="-342900">
              <a:buAutoNum type="arabicPeriod"/>
            </a:pPr>
            <a:r>
              <a:rPr lang="en-US" dirty="0">
                <a:solidFill>
                  <a:srgbClr val="1A1A1A"/>
                </a:solidFill>
                <a:latin typeface="Inter"/>
              </a:rPr>
              <a:t>Cost and use of resources</a:t>
            </a:r>
          </a:p>
          <a:p>
            <a:pPr marL="342900" indent="-342900">
              <a:buAutoNum type="arabicPeriod"/>
            </a:pPr>
            <a:r>
              <a:rPr lang="en-US" b="0" i="0" dirty="0">
                <a:solidFill>
                  <a:srgbClr val="1A1A1A"/>
                </a:solidFill>
                <a:effectLst/>
                <a:latin typeface="Inter"/>
              </a:rPr>
              <a:t>Processing power </a:t>
            </a:r>
          </a:p>
          <a:p>
            <a:endParaRPr lang="en-US" dirty="0">
              <a:solidFill>
                <a:srgbClr val="1A1A1A"/>
              </a:solidFill>
              <a:latin typeface="Inter"/>
            </a:endParaRPr>
          </a:p>
          <a:p>
            <a:endParaRPr lang="en-US" dirty="0">
              <a:solidFill>
                <a:srgbClr val="1A1A1A"/>
              </a:solidFill>
              <a:latin typeface="Inter"/>
            </a:endParaRPr>
          </a:p>
          <a:p>
            <a:endParaRPr lang="en-US" dirty="0">
              <a:solidFill>
                <a:srgbClr val="1A1A1A"/>
              </a:solidFill>
              <a:latin typeface="Inter"/>
            </a:endParaRPr>
          </a:p>
          <a:p>
            <a:endParaRPr lang="en-PK" dirty="0"/>
          </a:p>
        </p:txBody>
      </p:sp>
    </p:spTree>
    <p:extLst>
      <p:ext uri="{BB962C8B-B14F-4D97-AF65-F5344CB8AC3E}">
        <p14:creationId xmlns:p14="http://schemas.microsoft.com/office/powerpoint/2010/main" val="2085487685"/>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TM03457475[[fn=Frame]]</Template>
  <TotalTime>148</TotalTime>
  <Words>1243</Words>
  <Application>Microsoft Office PowerPoint</Application>
  <PresentationFormat>Widescreen</PresentationFormat>
  <Paragraphs>120</Paragraphs>
  <Slides>28</Slides>
  <Notes>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Arial</vt:lpstr>
      <vt:lpstr>Calibri</vt:lpstr>
      <vt:lpstr>Corbel</vt:lpstr>
      <vt:lpstr>DM serif text</vt:lpstr>
      <vt:lpstr>Helvetica Neue</vt:lpstr>
      <vt:lpstr>Inter</vt:lpstr>
      <vt:lpstr>Mabry001</vt:lpstr>
      <vt:lpstr>PT Serif</vt:lpstr>
      <vt:lpstr>Roboto</vt:lpstr>
      <vt:lpstr>Wingdings</vt:lpstr>
      <vt:lpstr>Wingdings 2</vt:lpstr>
      <vt:lpstr>Frame</vt:lpstr>
      <vt:lpstr>Human Computer Interaction </vt:lpstr>
      <vt:lpstr>PowerPoint Presentation</vt:lpstr>
      <vt:lpstr>SELF-INTRODUCTION</vt:lpstr>
      <vt:lpstr>PowerPoint Presentation</vt:lpstr>
      <vt:lpstr>PowerPoint Presentation</vt:lpstr>
      <vt:lpstr>PowerPoint Presentation</vt:lpstr>
      <vt:lpstr>Grading policy</vt:lpstr>
      <vt:lpstr>PowerPoint Presentation</vt:lpstr>
      <vt:lpstr>What is plagiarism?</vt:lpstr>
      <vt:lpstr>reasons why students plagiaries</vt:lpstr>
      <vt:lpstr>Positive Reasons for Not Plagiarizing</vt:lpstr>
      <vt:lpstr>Plagiarism in Practice – what is it?</vt:lpstr>
      <vt:lpstr>How to avoid plagerism</vt:lpstr>
      <vt:lpstr>HCI or UI/UX wrt to plagiarism</vt:lpstr>
      <vt:lpstr>Users prefer a similar UI experience </vt:lpstr>
      <vt:lpstr>Introduction to HCI</vt:lpstr>
      <vt:lpstr>PowerPoint Presentation</vt:lpstr>
      <vt:lpstr>PowerPoint Presentation</vt:lpstr>
      <vt:lpstr>Key components of HCI </vt:lpstr>
      <vt:lpstr>PowerPoint Presentation</vt:lpstr>
      <vt:lpstr>PowerPoint Presentation</vt:lpstr>
      <vt:lpstr>Importance of HCI</vt:lpstr>
      <vt:lpstr>Examples of HCI</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Computer Interaction </dc:title>
  <dc:creator>Iqra Shahzad</dc:creator>
  <cp:lastModifiedBy>zulqarnain hassan</cp:lastModifiedBy>
  <cp:revision>11</cp:revision>
  <dcterms:created xsi:type="dcterms:W3CDTF">2024-09-13T04:33:54Z</dcterms:created>
  <dcterms:modified xsi:type="dcterms:W3CDTF">2024-10-11T05:15:52Z</dcterms:modified>
</cp:coreProperties>
</file>