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0"/>
  </p:notesMasterIdLst>
  <p:sldIdLst>
    <p:sldId id="256" r:id="rId2"/>
    <p:sldId id="259" r:id="rId3"/>
    <p:sldId id="299" r:id="rId4"/>
    <p:sldId id="288" r:id="rId5"/>
    <p:sldId id="301" r:id="rId6"/>
    <p:sldId id="300" r:id="rId7"/>
    <p:sldId id="298" r:id="rId8"/>
    <p:sldId id="304" r:id="rId9"/>
    <p:sldId id="285" r:id="rId10"/>
    <p:sldId id="290" r:id="rId11"/>
    <p:sldId id="291" r:id="rId12"/>
    <p:sldId id="292" r:id="rId13"/>
    <p:sldId id="293" r:id="rId14"/>
    <p:sldId id="294" r:id="rId15"/>
    <p:sldId id="295" r:id="rId16"/>
    <p:sldId id="297" r:id="rId17"/>
    <p:sldId id="302" r:id="rId18"/>
    <p:sldId id="28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79" autoAdjust="0"/>
  </p:normalViewPr>
  <p:slideViewPr>
    <p:cSldViewPr snapToGrid="0">
      <p:cViewPr varScale="1">
        <p:scale>
          <a:sx n="66" d="100"/>
          <a:sy n="66" d="100"/>
        </p:scale>
        <p:origin x="57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DCA08D-05EE-4B32-B5AC-2B12B7F8F24C}" type="datetimeFigureOut">
              <a:rPr lang="en-US" smtClean="0"/>
              <a:t>2/28/2024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57DD28-5022-4CEB-9F0C-84D6CE3CA1AB}" type="slidenum">
              <a:rPr lang="en-US" smtClean="0"/>
              <a:t>‹#›</a:t>
            </a:fld>
            <a:endParaRPr lang="en-US"/>
          </a:p>
        </p:txBody>
      </p:sp>
    </p:spTree>
    <p:extLst>
      <p:ext uri="{BB962C8B-B14F-4D97-AF65-F5344CB8AC3E}">
        <p14:creationId xmlns:p14="http://schemas.microsoft.com/office/powerpoint/2010/main" val="3769087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57DD28-5022-4CEB-9F0C-84D6CE3CA1AB}" type="slidenum">
              <a:rPr lang="en-US" smtClean="0"/>
              <a:t>2</a:t>
            </a:fld>
            <a:endParaRPr lang="en-US"/>
          </a:p>
        </p:txBody>
      </p:sp>
    </p:spTree>
    <p:extLst>
      <p:ext uri="{BB962C8B-B14F-4D97-AF65-F5344CB8AC3E}">
        <p14:creationId xmlns:p14="http://schemas.microsoft.com/office/powerpoint/2010/main" val="771555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Trigger </a:t>
            </a:r>
            <a:r>
              <a:rPr lang="en-US" sz="1200" b="0" i="0" kern="1200" dirty="0" smtClean="0">
                <a:solidFill>
                  <a:schemeClr val="tx1"/>
                </a:solidFill>
                <a:effectLst/>
                <a:latin typeface="+mn-lt"/>
                <a:ea typeface="+mn-ea"/>
                <a:cs typeface="+mn-cs"/>
              </a:rPr>
              <a:t>- An event that initiates the flow of events in a use case. Triggers can either be an actor action or a temporal event. </a:t>
            </a:r>
          </a:p>
          <a:p>
            <a:endParaRPr lang="en-US" sz="1200" b="0" i="0" kern="1200" dirty="0" smtClean="0">
              <a:solidFill>
                <a:schemeClr val="tx1"/>
              </a:solidFill>
              <a:effectLst/>
              <a:latin typeface="+mn-lt"/>
              <a:ea typeface="+mn-ea"/>
              <a:cs typeface="+mn-cs"/>
            </a:endParaRPr>
          </a:p>
          <a:p>
            <a:r>
              <a:rPr lang="en-US" sz="1200" b="1" i="1" kern="1200" dirty="0" smtClean="0">
                <a:solidFill>
                  <a:schemeClr val="tx1"/>
                </a:solidFill>
                <a:effectLst/>
                <a:latin typeface="+mn-lt"/>
                <a:ea typeface="+mn-ea"/>
                <a:cs typeface="+mn-cs"/>
              </a:rPr>
              <a:t>Actor Actions</a:t>
            </a:r>
            <a:r>
              <a:rPr lang="en-US" sz="1200" b="1" i="0" kern="1200" dirty="0" smtClean="0">
                <a:solidFill>
                  <a:schemeClr val="tx1"/>
                </a:solidFill>
                <a:effectLst/>
                <a:latin typeface="+mn-lt"/>
                <a:ea typeface="+mn-ea"/>
                <a:cs typeface="+mn-cs"/>
              </a:rPr>
              <a:t> - </a:t>
            </a:r>
            <a:r>
              <a:rPr lang="en-US" sz="1200" b="0" i="0" kern="1200" dirty="0" smtClean="0">
                <a:solidFill>
                  <a:schemeClr val="tx1"/>
                </a:solidFill>
                <a:effectLst/>
                <a:latin typeface="+mn-lt"/>
                <a:ea typeface="+mn-ea"/>
                <a:cs typeface="+mn-cs"/>
              </a:rPr>
              <a:t>The most common trigger when an action taken by the primary actor (input) initiates the use case.</a:t>
            </a:r>
          </a:p>
          <a:p>
            <a:r>
              <a:rPr lang="en-US" sz="1200" b="1" i="1" kern="1200" dirty="0" smtClean="0">
                <a:solidFill>
                  <a:schemeClr val="tx1"/>
                </a:solidFill>
                <a:effectLst/>
                <a:latin typeface="+mn-lt"/>
                <a:ea typeface="+mn-ea"/>
                <a:cs typeface="+mn-cs"/>
              </a:rPr>
              <a:t>Temporal Event</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 Time-related events that may trigger a use case. Commonly used when actions need to be executed during a specific time of day or on a specific date.</a:t>
            </a:r>
          </a:p>
          <a:p>
            <a:endParaRPr lang="en-US" dirty="0"/>
          </a:p>
        </p:txBody>
      </p:sp>
      <p:sp>
        <p:nvSpPr>
          <p:cNvPr id="4" name="Slide Number Placeholder 3"/>
          <p:cNvSpPr>
            <a:spLocks noGrp="1"/>
          </p:cNvSpPr>
          <p:nvPr>
            <p:ph type="sldNum" sz="quarter" idx="10"/>
          </p:nvPr>
        </p:nvSpPr>
        <p:spPr/>
        <p:txBody>
          <a:bodyPr/>
          <a:lstStyle/>
          <a:p>
            <a:fld id="{2D57DD28-5022-4CEB-9F0C-84D6CE3CA1AB}" type="slidenum">
              <a:rPr lang="en-US" smtClean="0"/>
              <a:t>16</a:t>
            </a:fld>
            <a:endParaRPr lang="en-US"/>
          </a:p>
        </p:txBody>
      </p:sp>
    </p:spTree>
    <p:extLst>
      <p:ext uri="{BB962C8B-B14F-4D97-AF65-F5344CB8AC3E}">
        <p14:creationId xmlns:p14="http://schemas.microsoft.com/office/powerpoint/2010/main" val="2478706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98C73EC7-6A4E-46FA-B986-FAE131F2744C}" type="datetime1">
              <a:rPr lang="en-US" smtClean="0"/>
              <a:t>2/28/2024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231358572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742A674-4B7C-42EB-AD6B-C654F879C338}" type="datetime1">
              <a:rPr lang="en-US" smtClean="0"/>
              <a:t>2/28/2024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500782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7" name="Date Placeholder 6"/>
          <p:cNvSpPr>
            <a:spLocks noGrp="1"/>
          </p:cNvSpPr>
          <p:nvPr>
            <p:ph type="dt" sz="half" idx="10"/>
          </p:nvPr>
        </p:nvSpPr>
        <p:spPr/>
        <p:txBody>
          <a:bodyPr/>
          <a:lstStyle/>
          <a:p>
            <a:fld id="{A7005CED-EB39-4B51-91B3-A1B8900A2F1B}" type="datetime1">
              <a:rPr lang="en-US" smtClean="0"/>
              <a:t>2/28/2024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400314780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p:cNvSpPr>
            <a:spLocks noGrp="1"/>
          </p:cNvSpPr>
          <p:nvPr>
            <p:ph type="dt" sz="half" idx="10"/>
          </p:nvPr>
        </p:nvSpPr>
        <p:spPr/>
        <p:txBody>
          <a:bodyPr/>
          <a:lstStyle/>
          <a:p>
            <a:fld id="{7EFBF5AF-749F-442D-B6FF-88757A24EBE8}" type="datetime1">
              <a:rPr lang="en-US" smtClean="0"/>
              <a:t>2/28/2024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1789552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7" name="Date Placeholder 6"/>
          <p:cNvSpPr>
            <a:spLocks noGrp="1"/>
          </p:cNvSpPr>
          <p:nvPr>
            <p:ph type="dt" sz="half" idx="10"/>
          </p:nvPr>
        </p:nvSpPr>
        <p:spPr/>
        <p:txBody>
          <a:bodyPr/>
          <a:lstStyle/>
          <a:p>
            <a:fld id="{674A466F-6942-4CC7-ABCB-9677CA2C43C2}" type="datetime1">
              <a:rPr lang="en-US" smtClean="0"/>
              <a:t>2/28/2024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2F7C27-5A00-40E7-B405-23691DEF5BBA}"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3789898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413DDB7-5966-4BAC-88CD-30A703140E9B}" type="datetime1">
              <a:rPr lang="en-US" smtClean="0"/>
              <a:t>2/28/2024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880198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61B0CC-7A13-4924-8DF4-4CED2B9D6ED9}" type="datetime1">
              <a:rPr lang="en-US" smtClean="0"/>
              <a:t>2/28/2024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109894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9" name="Date Placeholder 8"/>
          <p:cNvSpPr>
            <a:spLocks noGrp="1"/>
          </p:cNvSpPr>
          <p:nvPr>
            <p:ph type="dt" sz="half" idx="10"/>
          </p:nvPr>
        </p:nvSpPr>
        <p:spPr/>
        <p:txBody>
          <a:bodyPr/>
          <a:lstStyle/>
          <a:p>
            <a:fld id="{816E6881-DDE0-4F4A-9D02-251264B14C64}" type="datetime1">
              <a:rPr lang="en-US" smtClean="0"/>
              <a:t>2/28/2024</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1789274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ADF6D19A-414C-43C5-B75A-85EAF1873566}" type="datetime1">
              <a:rPr lang="en-US" smtClean="0"/>
              <a:t>2/28/2024</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47161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E60BC50-8852-4EC3-8FE4-EB2E2F38B720}" type="datetime1">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360818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2FA7EF-DCA2-4731-A29E-C19B9396DDCF}" type="datetime1">
              <a:rPr lang="en-US" smtClean="0"/>
              <a:t>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2F7C27-5A00-40E7-B405-23691DEF5BBA}" type="slidenum">
              <a:rPr lang="en-US" smtClean="0"/>
              <a:t>‹#›</a:t>
            </a:fld>
            <a:endParaRPr lang="en-US"/>
          </a:p>
        </p:txBody>
      </p:sp>
    </p:spTree>
    <p:extLst>
      <p:ext uri="{BB962C8B-B14F-4D97-AF65-F5344CB8AC3E}">
        <p14:creationId xmlns:p14="http://schemas.microsoft.com/office/powerpoint/2010/main" val="1937612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08A92934-DBFB-4D05-91C1-5B6DA94D1278}" type="datetime1">
              <a:rPr lang="en-US" smtClean="0"/>
              <a:t>2/28/2024</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552F7C27-5A00-40E7-B405-23691DEF5BBA}" type="slidenum">
              <a:rPr lang="en-US" smtClean="0"/>
              <a:t>‹#›</a:t>
            </a:fld>
            <a:endParaRPr lang="en-US"/>
          </a:p>
        </p:txBody>
      </p:sp>
    </p:spTree>
    <p:extLst>
      <p:ext uri="{BB962C8B-B14F-4D97-AF65-F5344CB8AC3E}">
        <p14:creationId xmlns:p14="http://schemas.microsoft.com/office/powerpoint/2010/main" val="33957050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www.ecs.csun.edu/~rlingard/COMP682/use_case_template.htm"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mailto:ahsanarif.se42@gmail.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nSpc>
                <a:spcPct val="100000"/>
              </a:lnSpc>
              <a:spcAft>
                <a:spcPts val="600"/>
              </a:spcAft>
            </a:pPr>
            <a:r>
              <a:rPr lang="en-US" b="1" dirty="0" smtClean="0">
                <a:latin typeface="Times New Roman" panose="02020603050405020304" pitchFamily="18" charset="0"/>
                <a:cs typeface="Times New Roman" panose="02020603050405020304" pitchFamily="18" charset="0"/>
              </a:rPr>
              <a:t>LAB 3</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sz="3100" b="1" dirty="0">
                <a:solidFill>
                  <a:srgbClr val="FFC000"/>
                </a:solidFill>
                <a:latin typeface="Times New Roman" panose="02020603050405020304" pitchFamily="18" charset="0"/>
                <a:cs typeface="Times New Roman" panose="02020603050405020304" pitchFamily="18" charset="0"/>
              </a:rPr>
              <a:t>SOFTWARE DESIGN AND ARCHITECTURE</a:t>
            </a:r>
            <a:endParaRPr lang="en-US" sz="3100" dirty="0">
              <a:solidFill>
                <a:srgbClr val="FFC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99" y="410671"/>
            <a:ext cx="923330" cy="923330"/>
          </a:xfrm>
          <a:prstGeom prst="ellipse">
            <a:avLst/>
          </a:prstGeom>
          <a:ln w="28575" cap="rnd">
            <a:solidFill>
              <a:schemeClr val="bg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5" name="Rectangle 4"/>
          <p:cNvSpPr/>
          <p:nvPr/>
        </p:nvSpPr>
        <p:spPr>
          <a:xfrm>
            <a:off x="1197729" y="349116"/>
            <a:ext cx="10626409" cy="1046440"/>
          </a:xfrm>
          <a:prstGeom prst="rect">
            <a:avLst/>
          </a:prstGeom>
        </p:spPr>
        <p:txBody>
          <a:bodyPr wrap="square">
            <a:spAutoFit/>
          </a:bodyPr>
          <a:lstStyle/>
          <a:p>
            <a:r>
              <a:rPr lang="en-US" altLang="en-US" sz="2200" b="1" dirty="0">
                <a:solidFill>
                  <a:srgbClr val="002060"/>
                </a:solidFill>
                <a:latin typeface="Times New Roman" panose="02020603050405020304" pitchFamily="18" charset="0"/>
                <a:cs typeface="Times New Roman" panose="02020603050405020304" pitchFamily="18" charset="0"/>
              </a:rPr>
              <a:t>NATIONAL UNIVERSITY OF MODERN LANGUAGES </a:t>
            </a:r>
            <a:r>
              <a:rPr lang="en-US" altLang="en-US" sz="2000" dirty="0">
                <a:latin typeface="Times New Roman" panose="02020603050405020304" pitchFamily="18" charset="0"/>
                <a:cs typeface="Times New Roman" panose="02020603050405020304" pitchFamily="18" charset="0"/>
              </a:rPr>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Faculty of Engineering and Computing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Department of Software Engineering</a:t>
            </a:r>
            <a:endParaRPr lang="en-US" sz="2000" dirty="0"/>
          </a:p>
        </p:txBody>
      </p:sp>
      <p:graphicFrame>
        <p:nvGraphicFramePr>
          <p:cNvPr id="6" name="Table 5"/>
          <p:cNvGraphicFramePr>
            <a:graphicFrameLocks noGrp="1"/>
          </p:cNvGraphicFramePr>
          <p:nvPr>
            <p:extLst>
              <p:ext uri="{D42A27DB-BD31-4B8C-83A1-F6EECF244321}">
                <p14:modId xmlns:p14="http://schemas.microsoft.com/office/powerpoint/2010/main" val="3711763262"/>
              </p:ext>
            </p:extLst>
          </p:nvPr>
        </p:nvGraphicFramePr>
        <p:xfrm>
          <a:off x="1600198" y="4205496"/>
          <a:ext cx="8991601" cy="1697495"/>
        </p:xfrm>
        <a:graphic>
          <a:graphicData uri="http://schemas.openxmlformats.org/drawingml/2006/table">
            <a:tbl>
              <a:tblPr firstRow="1" bandRow="1">
                <a:tableStyleId>{2D5ABB26-0587-4C30-8999-92F81FD0307C}</a:tableStyleId>
              </a:tblPr>
              <a:tblGrid>
                <a:gridCol w="2971801">
                  <a:extLst>
                    <a:ext uri="{9D8B030D-6E8A-4147-A177-3AD203B41FA5}">
                      <a16:colId xmlns:a16="http://schemas.microsoft.com/office/drawing/2014/main" val="3084840113"/>
                    </a:ext>
                  </a:extLst>
                </a:gridCol>
                <a:gridCol w="6019800">
                  <a:extLst>
                    <a:ext uri="{9D8B030D-6E8A-4147-A177-3AD203B41FA5}">
                      <a16:colId xmlns:a16="http://schemas.microsoft.com/office/drawing/2014/main" val="307421204"/>
                    </a:ext>
                  </a:extLst>
                </a:gridCol>
              </a:tblGrid>
              <a:tr h="396471">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2400" b="1" kern="0" dirty="0" smtClean="0">
                          <a:solidFill>
                            <a:schemeClr val="tx1"/>
                          </a:solidFill>
                          <a:latin typeface="Times New Roman" panose="02020603050405020304" pitchFamily="18" charset="0"/>
                          <a:cs typeface="Times New Roman" panose="02020603050405020304" pitchFamily="18" charset="0"/>
                        </a:rPr>
                        <a:t>Course Instructor:</a:t>
                      </a:r>
                    </a:p>
                  </a:txBody>
                  <a:tcPr marL="91450" marR="91450" marT="45747" marB="45747"/>
                </a:tc>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2400" b="1" kern="0" dirty="0" smtClean="0">
                          <a:solidFill>
                            <a:schemeClr val="bg1"/>
                          </a:solidFill>
                          <a:latin typeface="Times New Roman" panose="02020603050405020304" pitchFamily="18" charset="0"/>
                          <a:cs typeface="Times New Roman" panose="02020603050405020304" pitchFamily="18" charset="0"/>
                        </a:rPr>
                        <a:t>Mr. Ahsan Arif </a:t>
                      </a:r>
                    </a:p>
                  </a:txBody>
                  <a:tcPr marL="91450" marR="91450" marT="45747" marB="45747"/>
                </a:tc>
                <a:extLst>
                  <a:ext uri="{0D108BD9-81ED-4DB2-BD59-A6C34878D82A}">
                    <a16:rowId xmlns:a16="http://schemas.microsoft.com/office/drawing/2014/main" val="2559868446"/>
                  </a:ext>
                </a:extLst>
              </a:tr>
              <a:tr h="1240241">
                <a:tc>
                  <a:txBody>
                    <a:bodyPr/>
                    <a:lstStyle/>
                    <a:p>
                      <a:endParaRPr lang="en-US" sz="2400" dirty="0">
                        <a:latin typeface="Times New Roman" panose="02020603050405020304" pitchFamily="18" charset="0"/>
                        <a:cs typeface="Times New Roman" panose="02020603050405020304" pitchFamily="18" charset="0"/>
                      </a:endParaRPr>
                    </a:p>
                  </a:txBody>
                  <a:tcPr marL="91450" marR="91450" marT="45747" marB="45747"/>
                </a:tc>
                <a:tc>
                  <a:txBody>
                    <a:bodyPr/>
                    <a:lstStyle/>
                    <a:p>
                      <a:pPr marL="0" marR="0" indent="0" algn="l" defTabSz="914400" eaLnBrk="1" fontAlgn="auto" latinLnBrk="0" hangingPunct="1">
                        <a:lnSpc>
                          <a:spcPct val="100000"/>
                        </a:lnSpc>
                        <a:spcBef>
                          <a:spcPts val="200"/>
                        </a:spcBef>
                        <a:spcAft>
                          <a:spcPts val="0"/>
                        </a:spcAft>
                        <a:buClrTx/>
                        <a:buSzTx/>
                        <a:buFontTx/>
                        <a:buNone/>
                        <a:tabLst/>
                        <a:defRPr/>
                      </a:pPr>
                      <a:r>
                        <a:rPr lang="en-US" sz="2400" kern="0" dirty="0" smtClean="0">
                          <a:solidFill>
                            <a:schemeClr val="bg1"/>
                          </a:solidFill>
                          <a:latin typeface="Times New Roman" panose="02020603050405020304" pitchFamily="18" charset="0"/>
                          <a:cs typeface="Times New Roman" panose="02020603050405020304" pitchFamily="18" charset="0"/>
                        </a:rPr>
                        <a:t>Lecturer</a:t>
                      </a:r>
                      <a:endParaRPr lang="en-US" sz="2400" dirty="0" smtClean="0">
                        <a:solidFill>
                          <a:schemeClr val="bg1"/>
                        </a:solidFill>
                        <a:latin typeface="Times New Roman" panose="02020603050405020304" pitchFamily="18" charset="0"/>
                        <a:cs typeface="Times New Roman" panose="02020603050405020304" pitchFamily="18" charset="0"/>
                      </a:endParaRPr>
                    </a:p>
                    <a:p>
                      <a:pPr algn="l" eaLnBrk="1" fontAlgn="auto" hangingPunct="1">
                        <a:spcBef>
                          <a:spcPts val="200"/>
                        </a:spcBef>
                        <a:spcAft>
                          <a:spcPts val="0"/>
                        </a:spcAft>
                        <a:defRPr/>
                      </a:pPr>
                      <a:r>
                        <a:rPr lang="en-US" sz="2000" kern="0" dirty="0" smtClean="0">
                          <a:solidFill>
                            <a:schemeClr val="bg1"/>
                          </a:solidFill>
                          <a:latin typeface="Times New Roman" panose="02020603050405020304" pitchFamily="18" charset="0"/>
                          <a:cs typeface="Times New Roman" panose="02020603050405020304" pitchFamily="18" charset="0"/>
                        </a:rPr>
                        <a:t>Department of Software Engineering,</a:t>
                      </a:r>
                      <a:r>
                        <a:rPr lang="en-US" sz="2000" kern="0" baseline="0" dirty="0" smtClean="0">
                          <a:solidFill>
                            <a:schemeClr val="bg1"/>
                          </a:solidFill>
                          <a:latin typeface="Times New Roman" panose="02020603050405020304" pitchFamily="18" charset="0"/>
                          <a:cs typeface="Times New Roman" panose="02020603050405020304" pitchFamily="18" charset="0"/>
                        </a:rPr>
                        <a:t> </a:t>
                      </a:r>
                      <a:r>
                        <a:rPr lang="en-US" sz="2000" kern="0" dirty="0" smtClean="0">
                          <a:solidFill>
                            <a:schemeClr val="bg1"/>
                          </a:solidFill>
                          <a:latin typeface="Times New Roman" panose="02020603050405020304" pitchFamily="18" charset="0"/>
                          <a:cs typeface="Times New Roman" panose="02020603050405020304" pitchFamily="18" charset="0"/>
                        </a:rPr>
                        <a:t>NUML Islamabad</a:t>
                      </a:r>
                    </a:p>
                  </a:txBody>
                  <a:tcPr marL="91450" marR="91450" marT="45747" marB="45747"/>
                </a:tc>
                <a:extLst>
                  <a:ext uri="{0D108BD9-81ED-4DB2-BD59-A6C34878D82A}">
                    <a16:rowId xmlns:a16="http://schemas.microsoft.com/office/drawing/2014/main" val="116006078"/>
                  </a:ext>
                </a:extLst>
              </a:tr>
            </a:tbl>
          </a:graphicData>
        </a:graphic>
      </p:graphicFrame>
      <p:sp>
        <p:nvSpPr>
          <p:cNvPr id="10" name="Footer Placeholder 3"/>
          <p:cNvSpPr>
            <a:spLocks noGrp="1"/>
          </p:cNvSpPr>
          <p:nvPr>
            <p:ph type="ftr" sz="quarter" idx="11"/>
          </p:nvPr>
        </p:nvSpPr>
        <p:spPr>
          <a:xfrm>
            <a:off x="1600200" y="6236208"/>
            <a:ext cx="5901189" cy="320040"/>
          </a:xfrm>
        </p:spPr>
        <p:txBody>
          <a:bodyPr/>
          <a:lstStyle/>
          <a:p>
            <a:r>
              <a:rPr lang="en-US" sz="1800" b="1" spc="-5" dirty="0">
                <a:solidFill>
                  <a:srgbClr val="002060"/>
                </a:solidFill>
                <a:latin typeface="Times New Roman"/>
                <a:cs typeface="Times New Roman"/>
              </a:rPr>
              <a:t>Date:</a:t>
            </a:r>
            <a:r>
              <a:rPr lang="en-US" sz="1800" b="1" spc="-15" dirty="0">
                <a:solidFill>
                  <a:srgbClr val="002060"/>
                </a:solidFill>
                <a:latin typeface="Times New Roman"/>
                <a:cs typeface="Times New Roman"/>
              </a:rPr>
              <a:t> </a:t>
            </a:r>
            <a:r>
              <a:rPr lang="en-US" sz="1800" b="1" spc="-5" dirty="0">
                <a:solidFill>
                  <a:srgbClr val="002060"/>
                </a:solidFill>
                <a:latin typeface="Times New Roman"/>
                <a:cs typeface="Times New Roman"/>
              </a:rPr>
              <a:t>February</a:t>
            </a:r>
            <a:r>
              <a:rPr lang="en-US" sz="1800" b="1" spc="-45" dirty="0">
                <a:solidFill>
                  <a:srgbClr val="002060"/>
                </a:solidFill>
                <a:latin typeface="Times New Roman"/>
                <a:cs typeface="Times New Roman"/>
              </a:rPr>
              <a:t> </a:t>
            </a:r>
            <a:r>
              <a:rPr lang="en-US" sz="1800" b="1" dirty="0" smtClean="0">
                <a:solidFill>
                  <a:srgbClr val="002060"/>
                </a:solidFill>
                <a:latin typeface="Times New Roman"/>
                <a:cs typeface="Times New Roman"/>
              </a:rPr>
              <a:t>28,</a:t>
            </a:r>
            <a:r>
              <a:rPr lang="en-US" sz="1800" b="1" spc="-20" dirty="0" smtClean="0">
                <a:solidFill>
                  <a:srgbClr val="002060"/>
                </a:solidFill>
                <a:latin typeface="Times New Roman"/>
                <a:cs typeface="Times New Roman"/>
              </a:rPr>
              <a:t> </a:t>
            </a:r>
            <a:r>
              <a:rPr lang="en-US" sz="1800" b="1" dirty="0" smtClean="0">
                <a:solidFill>
                  <a:srgbClr val="002060"/>
                </a:solidFill>
                <a:latin typeface="Times New Roman"/>
                <a:cs typeface="Times New Roman"/>
              </a:rPr>
              <a:t>2024</a:t>
            </a:r>
            <a:endParaRPr lang="en-US" sz="1800" dirty="0">
              <a:solidFill>
                <a:srgbClr val="002060"/>
              </a:solidFill>
              <a:latin typeface="Times New Roman"/>
              <a:cs typeface="Times New Roman"/>
            </a:endParaRPr>
          </a:p>
        </p:txBody>
      </p:sp>
    </p:spTree>
    <p:extLst>
      <p:ext uri="{BB962C8B-B14F-4D97-AF65-F5344CB8AC3E}">
        <p14:creationId xmlns:p14="http://schemas.microsoft.com/office/powerpoint/2010/main" val="28396782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4709" y="2520222"/>
            <a:ext cx="7729728" cy="1188720"/>
          </a:xfrm>
        </p:spPr>
        <p:txBody>
          <a:bodyPr>
            <a:normAutofit/>
          </a:bodyPr>
          <a:lstStyle/>
          <a:p>
            <a:r>
              <a:rPr lang="en-US" sz="3200" b="1" dirty="0">
                <a:latin typeface="Times New Roman" panose="02020603050405020304" pitchFamily="18" charset="0"/>
                <a:cs typeface="Times New Roman" panose="02020603050405020304" pitchFamily="18" charset="0"/>
              </a:rPr>
              <a:t>Use Case Description</a:t>
            </a:r>
          </a:p>
        </p:txBody>
      </p:sp>
      <p:sp>
        <p:nvSpPr>
          <p:cNvPr id="5" name="Slide Number Placeholder 4"/>
          <p:cNvSpPr>
            <a:spLocks noGrp="1"/>
          </p:cNvSpPr>
          <p:nvPr>
            <p:ph type="sldNum" sz="quarter" idx="12"/>
          </p:nvPr>
        </p:nvSpPr>
        <p:spPr/>
        <p:txBody>
          <a:bodyPr/>
          <a:lstStyle/>
          <a:p>
            <a:fld id="{552F7C27-5A00-40E7-B405-23691DEF5BBA}" type="slidenum">
              <a:rPr lang="en-US" smtClean="0"/>
              <a:t>2</a:t>
            </a:fld>
            <a:endParaRPr lang="en-US"/>
          </a:p>
        </p:txBody>
      </p:sp>
    </p:spTree>
    <p:extLst>
      <p:ext uri="{BB962C8B-B14F-4D97-AF65-F5344CB8AC3E}">
        <p14:creationId xmlns:p14="http://schemas.microsoft.com/office/powerpoint/2010/main" val="20061565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778" y="175420"/>
            <a:ext cx="10065903" cy="719729"/>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Contents</a:t>
            </a:r>
            <a:endParaRPr lang="en-US"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52F7C27-5A00-40E7-B405-23691DEF5BBA}" type="slidenum">
              <a:rPr lang="en-US" smtClean="0"/>
              <a:t>3</a:t>
            </a:fld>
            <a:endParaRPr lang="en-US"/>
          </a:p>
        </p:txBody>
      </p:sp>
      <p:sp>
        <p:nvSpPr>
          <p:cNvPr id="5" name="Rectangle 4"/>
          <p:cNvSpPr/>
          <p:nvPr/>
        </p:nvSpPr>
        <p:spPr>
          <a:xfrm>
            <a:off x="1058777" y="999481"/>
            <a:ext cx="10065903" cy="4524315"/>
          </a:xfrm>
          <a:prstGeom prst="rect">
            <a:avLst/>
          </a:prstGeom>
        </p:spPr>
        <p:txBody>
          <a:bodyPr wrap="square">
            <a:spAutoFit/>
          </a:bodyPr>
          <a:lstStyle/>
          <a:p>
            <a:pPr marL="342900" indent="-342900">
              <a:buFont typeface="+mj-lt"/>
              <a:buAutoNum type="arabicPeriod"/>
            </a:pPr>
            <a:r>
              <a:rPr lang="en-US" b="1" dirty="0" smtClean="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Case Identification</a:t>
            </a:r>
          </a:p>
          <a:p>
            <a:r>
              <a:rPr lang="en-US" b="1" dirty="0" smtClean="0">
                <a:latin typeface="Times New Roman" panose="02020603050405020304" pitchFamily="18" charset="0"/>
                <a:cs typeface="Times New Roman" panose="02020603050405020304" pitchFamily="18" charset="0"/>
              </a:rPr>
              <a:t>	1.1. Use </a:t>
            </a:r>
            <a:r>
              <a:rPr lang="en-US" b="1" dirty="0">
                <a:latin typeface="Times New Roman" panose="02020603050405020304" pitchFamily="18" charset="0"/>
                <a:cs typeface="Times New Roman" panose="02020603050405020304" pitchFamily="18" charset="0"/>
              </a:rPr>
              <a:t>Case ID</a:t>
            </a:r>
          </a:p>
          <a:p>
            <a:r>
              <a:rPr lang="en-US" b="1" dirty="0" smtClean="0">
                <a:latin typeface="Times New Roman" panose="02020603050405020304" pitchFamily="18" charset="0"/>
                <a:cs typeface="Times New Roman" panose="02020603050405020304" pitchFamily="18" charset="0"/>
              </a:rPr>
              <a:t>	1.2.</a:t>
            </a: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Case Name</a:t>
            </a:r>
          </a:p>
          <a:p>
            <a:r>
              <a:rPr lang="en-US" b="1" dirty="0" smtClean="0">
                <a:latin typeface="Times New Roman" panose="02020603050405020304" pitchFamily="18" charset="0"/>
                <a:cs typeface="Times New Roman" panose="02020603050405020304" pitchFamily="18" charset="0"/>
              </a:rPr>
              <a:t>	1.3.</a:t>
            </a: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Case </a:t>
            </a:r>
            <a:r>
              <a:rPr lang="en-US" b="1" dirty="0" smtClean="0">
                <a:latin typeface="Times New Roman" panose="02020603050405020304" pitchFamily="18" charset="0"/>
                <a:cs typeface="Times New Roman" panose="02020603050405020304" pitchFamily="18" charset="0"/>
              </a:rPr>
              <a:t>History</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1.3.1</a:t>
            </a: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Created </a:t>
            </a:r>
            <a:r>
              <a:rPr lang="en-US" b="1" dirty="0">
                <a:latin typeface="Times New Roman" panose="02020603050405020304" pitchFamily="18" charset="0"/>
                <a:cs typeface="Times New Roman" panose="02020603050405020304" pitchFamily="18" charset="0"/>
              </a:rPr>
              <a:t>By</a:t>
            </a:r>
          </a:p>
          <a:p>
            <a:pPr lvl="2"/>
            <a:r>
              <a:rPr lang="en-US" b="1" dirty="0">
                <a:latin typeface="Times New Roman" panose="02020603050405020304" pitchFamily="18" charset="0"/>
                <a:cs typeface="Times New Roman" panose="02020603050405020304" pitchFamily="18" charset="0"/>
              </a:rPr>
              <a:t>1.3.2 </a:t>
            </a:r>
            <a:r>
              <a:rPr lang="en-US" b="1" dirty="0" smtClean="0">
                <a:latin typeface="Times New Roman" panose="02020603050405020304" pitchFamily="18" charset="0"/>
                <a:cs typeface="Times New Roman" panose="02020603050405020304" pitchFamily="18" charset="0"/>
              </a:rPr>
              <a:t>Date Created</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1.3.3 </a:t>
            </a:r>
            <a:r>
              <a:rPr lang="en-US" b="1" dirty="0" smtClean="0">
                <a:latin typeface="Times New Roman" panose="02020603050405020304" pitchFamily="18" charset="0"/>
                <a:cs typeface="Times New Roman" panose="02020603050405020304" pitchFamily="18" charset="0"/>
              </a:rPr>
              <a:t>Last </a:t>
            </a:r>
            <a:r>
              <a:rPr lang="en-US" b="1" dirty="0">
                <a:latin typeface="Times New Roman" panose="02020603050405020304" pitchFamily="18" charset="0"/>
                <a:cs typeface="Times New Roman" panose="02020603050405020304" pitchFamily="18" charset="0"/>
              </a:rPr>
              <a:t>Updated </a:t>
            </a:r>
            <a:r>
              <a:rPr lang="en-US" b="1" dirty="0" smtClean="0">
                <a:latin typeface="Times New Roman" panose="02020603050405020304" pitchFamily="18" charset="0"/>
                <a:cs typeface="Times New Roman" panose="02020603050405020304" pitchFamily="18" charset="0"/>
              </a:rPr>
              <a:t>By</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1.3.4 </a:t>
            </a:r>
            <a:r>
              <a:rPr lang="en-US" b="1" dirty="0" smtClean="0">
                <a:latin typeface="Times New Roman" panose="02020603050405020304" pitchFamily="18" charset="0"/>
                <a:cs typeface="Times New Roman" panose="02020603050405020304" pitchFamily="18" charset="0"/>
              </a:rPr>
              <a:t>Date </a:t>
            </a:r>
            <a:r>
              <a:rPr lang="en-US" b="1" dirty="0">
                <a:latin typeface="Times New Roman" panose="02020603050405020304" pitchFamily="18" charset="0"/>
                <a:cs typeface="Times New Roman" panose="02020603050405020304" pitchFamily="18" charset="0"/>
              </a:rPr>
              <a:t>Last </a:t>
            </a:r>
            <a:r>
              <a:rPr lang="en-US" b="1" dirty="0" smtClean="0">
                <a:latin typeface="Times New Roman" panose="02020603050405020304" pitchFamily="18" charset="0"/>
                <a:cs typeface="Times New Roman" panose="02020603050405020304" pitchFamily="18" charset="0"/>
              </a:rPr>
              <a:t>Updated</a:t>
            </a:r>
          </a:p>
          <a:p>
            <a:pPr lvl="2"/>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a:t>
            </a:r>
            <a:r>
              <a:rPr lang="en-US" sz="700"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Use Case </a:t>
            </a:r>
            <a:r>
              <a:rPr lang="en-US" b="1" dirty="0" smtClean="0">
                <a:latin typeface="Times New Roman" panose="02020603050405020304" pitchFamily="18" charset="0"/>
                <a:cs typeface="Times New Roman" panose="02020603050405020304" pitchFamily="18" charset="0"/>
              </a:rPr>
              <a:t>Definition</a:t>
            </a:r>
          </a:p>
          <a:p>
            <a:r>
              <a:rPr lang="en-US" b="1" dirty="0" smtClean="0">
                <a:latin typeface="Times New Roman" panose="02020603050405020304" pitchFamily="18" charset="0"/>
                <a:cs typeface="Times New Roman" panose="02020603050405020304" pitchFamily="18" charset="0"/>
              </a:rPr>
              <a:t>3. Use Case Templates</a:t>
            </a:r>
            <a:endParaRPr lang="en-US" b="1" dirty="0">
              <a:latin typeface="Times New Roman" panose="02020603050405020304" pitchFamily="18" charset="0"/>
              <a:cs typeface="Times New Roman" panose="02020603050405020304" pitchFamily="18" charset="0"/>
            </a:endParaRPr>
          </a:p>
          <a:p>
            <a:r>
              <a:rPr lang="en-US" dirty="0"/>
              <a:t/>
            </a:r>
            <a:br>
              <a:rPr lang="en-US" dirty="0"/>
            </a:br>
            <a:endParaRPr lang="en-US" b="1" dirty="0">
              <a:latin typeface="Times New Roman" panose="02020603050405020304" pitchFamily="18" charset="0"/>
              <a:cs typeface="Times New Roman" panose="02020603050405020304" pitchFamily="18" charset="0"/>
            </a:endParaRPr>
          </a:p>
          <a:p>
            <a:pPr lvl="2"/>
            <a:r>
              <a:rPr lang="en-US" sz="2400" dirty="0"/>
              <a:t/>
            </a:r>
            <a:br>
              <a:rPr lang="en-US" sz="2400" dirty="0"/>
            </a:br>
            <a:endParaRPr lang="en-US" sz="2400" dirty="0" smtClean="0"/>
          </a:p>
        </p:txBody>
      </p:sp>
    </p:spTree>
    <p:extLst>
      <p:ext uri="{BB962C8B-B14F-4D97-AF65-F5344CB8AC3E}">
        <p14:creationId xmlns:p14="http://schemas.microsoft.com/office/powerpoint/2010/main" val="264122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4</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a:solidFill>
                  <a:schemeClr val="bg1"/>
                </a:solidFill>
                <a:latin typeface="Times New Roman" panose="02020603050405020304" pitchFamily="18" charset="0"/>
                <a:cs typeface="Times New Roman" panose="02020603050405020304" pitchFamily="18" charset="0"/>
              </a:rPr>
              <a:t>How to describe Use Cases?</a:t>
            </a:r>
            <a:endParaRPr lang="en-US" dirty="0"/>
          </a:p>
        </p:txBody>
      </p:sp>
      <p:sp>
        <p:nvSpPr>
          <p:cNvPr id="9" name="Rectangle 8"/>
          <p:cNvSpPr/>
          <p:nvPr/>
        </p:nvSpPr>
        <p:spPr>
          <a:xfrm>
            <a:off x="735723" y="1124609"/>
            <a:ext cx="10909738" cy="5078313"/>
          </a:xfrm>
          <a:prstGeom prst="rect">
            <a:avLst/>
          </a:prstGeom>
        </p:spPr>
        <p:txBody>
          <a:bodyPr wrap="square">
            <a:spAutoFit/>
          </a:bodyPr>
          <a:lstStyle/>
          <a:p>
            <a:pPr marL="342900" indent="-342900" algn="just">
              <a:spcBef>
                <a:spcPts val="600"/>
              </a:spcBef>
              <a:spcAft>
                <a:spcPts val="600"/>
              </a:spcAft>
              <a:buFont typeface="Wingdings" panose="05000000000000000000" pitchFamily="2" charset="2"/>
              <a:buChar char="§"/>
            </a:pPr>
            <a:r>
              <a:rPr lang="en-US" sz="2200" dirty="0" smtClean="0">
                <a:latin typeface="Times New Roman" panose="02020603050405020304" pitchFamily="18" charset="0"/>
                <a:cs typeface="Times New Roman" panose="02020603050405020304" pitchFamily="18" charset="0"/>
              </a:rPr>
              <a:t>Use Case Specification is known as </a:t>
            </a:r>
            <a:r>
              <a:rPr lang="en-US" sz="2200" b="1" dirty="0" smtClean="0">
                <a:latin typeface="Times New Roman" panose="02020603050405020304" pitchFamily="18" charset="0"/>
                <a:cs typeface="Times New Roman" panose="02020603050405020304" pitchFamily="18" charset="0"/>
              </a:rPr>
              <a:t>Use Case Description.</a:t>
            </a:r>
          </a:p>
          <a:p>
            <a:pPr marL="342900" indent="-342900" algn="just">
              <a:spcBef>
                <a:spcPts val="600"/>
              </a:spcBef>
              <a:spcAft>
                <a:spcPts val="1200"/>
              </a:spcAft>
              <a:buFont typeface="Wingdings" panose="05000000000000000000" pitchFamily="2" charset="2"/>
              <a:buChar char="§"/>
            </a:pPr>
            <a:r>
              <a:rPr lang="en-US" sz="2200" dirty="0" smtClean="0">
                <a:latin typeface="Times New Roman" panose="02020603050405020304" pitchFamily="18" charset="0"/>
                <a:cs typeface="Times New Roman" panose="02020603050405020304" pitchFamily="18" charset="0"/>
              </a:rPr>
              <a:t>The Use Case Specification includes</a:t>
            </a:r>
            <a:r>
              <a:rPr lang="en-US" sz="2200" dirty="0" smtClean="0">
                <a:latin typeface="Times New Roman" panose="02020603050405020304" pitchFamily="18" charset="0"/>
                <a:cs typeface="Times New Roman" panose="02020603050405020304" pitchFamily="18" charset="0"/>
              </a:rPr>
              <a:t>:</a:t>
            </a:r>
          </a:p>
          <a:p>
            <a:pPr>
              <a:spcAft>
                <a:spcPts val="600"/>
              </a:spcAft>
            </a:pPr>
            <a:r>
              <a:rPr lang="en-US" sz="2000" b="1" dirty="0">
                <a:latin typeface="Times New Roman" panose="02020603050405020304" pitchFamily="18" charset="0"/>
                <a:cs typeface="Times New Roman" panose="02020603050405020304" pitchFamily="18" charset="0"/>
              </a:rPr>
              <a:t>1.   Use Case </a:t>
            </a:r>
            <a:r>
              <a:rPr lang="en-US" sz="2000" b="1" dirty="0" smtClean="0">
                <a:latin typeface="Times New Roman" panose="02020603050405020304" pitchFamily="18" charset="0"/>
                <a:cs typeface="Times New Roman" panose="02020603050405020304" pitchFamily="18" charset="0"/>
              </a:rPr>
              <a:t>Identification:</a:t>
            </a:r>
            <a:endParaRPr lang="en-US" sz="2000" dirty="0" smtClean="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v"/>
            </a:pPr>
            <a:r>
              <a:rPr lang="en-US" sz="2000" b="1" dirty="0">
                <a:solidFill>
                  <a:srgbClr val="FF0000"/>
                </a:solidFill>
                <a:latin typeface="Times New Roman" panose="02020603050405020304" pitchFamily="18" charset="0"/>
                <a:cs typeface="Times New Roman" panose="02020603050405020304" pitchFamily="18" charset="0"/>
              </a:rPr>
              <a:t>Use case ID</a:t>
            </a:r>
            <a:r>
              <a:rPr lang="en-US" sz="2000" dirty="0">
                <a:solidFill>
                  <a:srgbClr val="FF0000"/>
                </a:solidFill>
                <a:latin typeface="Times New Roman" panose="02020603050405020304" pitchFamily="18" charset="0"/>
                <a:cs typeface="Times New Roman" panose="02020603050405020304" pitchFamily="18" charset="0"/>
              </a:rPr>
              <a:t>: </a:t>
            </a:r>
            <a:endParaRPr lang="en-US" sz="2000" dirty="0" smtClean="0">
              <a:solidFill>
                <a:srgbClr val="FF0000"/>
              </a:solidFill>
              <a:latin typeface="Times New Roman" panose="02020603050405020304" pitchFamily="18" charset="0"/>
              <a:cs typeface="Times New Roman" panose="02020603050405020304" pitchFamily="18" charset="0"/>
            </a:endParaRPr>
          </a:p>
          <a:p>
            <a:pPr marL="1257300" lvl="2" indent="-342900" algn="just">
              <a:spcAft>
                <a:spcPts val="600"/>
              </a:spcAft>
              <a:buFont typeface="Courier New" panose="02070309020205020404" pitchFamily="49" charset="0"/>
              <a:buChar char="o"/>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unique identifier that is helpful for tracking the use case record</a:t>
            </a:r>
            <a:r>
              <a:rPr lang="en-US" sz="2000" dirty="0" smtClean="0">
                <a:latin typeface="Times New Roman" panose="02020603050405020304" pitchFamily="18" charset="0"/>
                <a:cs typeface="Times New Roman" panose="02020603050405020304" pitchFamily="18" charset="0"/>
              </a:rPr>
              <a:t>.</a:t>
            </a:r>
          </a:p>
          <a:p>
            <a:pPr marL="800100" lvl="1" indent="-342900" algn="just">
              <a:spcAft>
                <a:spcPts val="600"/>
              </a:spcAft>
              <a:buFont typeface="Wingdings" panose="05000000000000000000" pitchFamily="2" charset="2"/>
              <a:buChar char="v"/>
            </a:pPr>
            <a:r>
              <a:rPr lang="en-US" sz="2000" b="1" dirty="0">
                <a:solidFill>
                  <a:srgbClr val="FF0000"/>
                </a:solidFill>
                <a:latin typeface="Times New Roman" panose="02020603050405020304" pitchFamily="18" charset="0"/>
                <a:cs typeface="Times New Roman" panose="02020603050405020304" pitchFamily="18" charset="0"/>
              </a:rPr>
              <a:t>Use </a:t>
            </a:r>
            <a:r>
              <a:rPr lang="en-US" sz="2000" b="1" dirty="0" smtClean="0">
                <a:solidFill>
                  <a:srgbClr val="FF0000"/>
                </a:solidFill>
                <a:latin typeface="Times New Roman" panose="02020603050405020304" pitchFamily="18" charset="0"/>
                <a:cs typeface="Times New Roman" panose="02020603050405020304" pitchFamily="18" charset="0"/>
              </a:rPr>
              <a:t>Case Name</a:t>
            </a:r>
            <a:r>
              <a:rPr lang="en-US" sz="2000" dirty="0" smtClean="0">
                <a:solidFill>
                  <a:srgbClr val="FF0000"/>
                </a:solidFill>
                <a:latin typeface="Times New Roman" panose="02020603050405020304" pitchFamily="18" charset="0"/>
                <a:cs typeface="Times New Roman" panose="02020603050405020304" pitchFamily="18" charset="0"/>
              </a:rPr>
              <a:t>: </a:t>
            </a:r>
            <a:endParaRPr lang="en-US" sz="2000" dirty="0">
              <a:solidFill>
                <a:srgbClr val="FF0000"/>
              </a:solidFill>
              <a:latin typeface="Times New Roman" panose="02020603050405020304" pitchFamily="18" charset="0"/>
              <a:cs typeface="Times New Roman" panose="02020603050405020304" pitchFamily="18" charset="0"/>
            </a:endParaRPr>
          </a:p>
          <a:p>
            <a:pPr marL="1257300" lvl="2" indent="-342900" algn="just">
              <a:spcAft>
                <a:spcPts val="600"/>
              </a:spcAf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State a concise, results-oriented name for the use case. These reflect the tasks the user needs to be able to accomplish using the system.</a:t>
            </a:r>
            <a:endParaRPr lang="en-US" sz="2000" dirty="0" smtClean="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v"/>
            </a:pPr>
            <a:r>
              <a:rPr lang="en-US" sz="2000" b="1" dirty="0" smtClean="0">
                <a:solidFill>
                  <a:srgbClr val="FF0000"/>
                </a:solidFill>
                <a:latin typeface="Times New Roman" panose="02020603050405020304" pitchFamily="18" charset="0"/>
                <a:cs typeface="Times New Roman" panose="02020603050405020304" pitchFamily="18" charset="0"/>
              </a:rPr>
              <a:t>Use Case History</a:t>
            </a:r>
            <a:r>
              <a:rPr lang="en-US" sz="2000" b="1" dirty="0" smtClean="0">
                <a:solidFill>
                  <a:srgbClr val="FF0000"/>
                </a:solidFill>
                <a:latin typeface="Times New Roman" panose="02020603050405020304" pitchFamily="18" charset="0"/>
                <a:cs typeface="Times New Roman" panose="02020603050405020304" pitchFamily="18" charset="0"/>
              </a:rPr>
              <a:t>: </a:t>
            </a:r>
          </a:p>
          <a:p>
            <a:pPr marL="1257300" lvl="2" indent="-342900">
              <a:buFont typeface="Courier New" panose="02070309020205020404" pitchFamily="49" charset="0"/>
              <a:buChar char="o"/>
            </a:pPr>
            <a:r>
              <a:rPr lang="en-US" sz="2000" b="1" dirty="0" smtClean="0">
                <a:latin typeface="Times New Roman" panose="02020603050405020304" pitchFamily="18" charset="0"/>
                <a:cs typeface="Times New Roman" panose="02020603050405020304" pitchFamily="18" charset="0"/>
              </a:rPr>
              <a:t>Created By : </a:t>
            </a:r>
            <a:r>
              <a:rPr lang="en-US" sz="2000" dirty="0" smtClean="0">
                <a:latin typeface="Times New Roman" panose="02020603050405020304" pitchFamily="18" charset="0"/>
                <a:cs typeface="Times New Roman" panose="02020603050405020304" pitchFamily="18" charset="0"/>
              </a:rPr>
              <a:t>Supply </a:t>
            </a:r>
            <a:r>
              <a:rPr lang="en-US" sz="2000" dirty="0">
                <a:latin typeface="Times New Roman" panose="02020603050405020304" pitchFamily="18" charset="0"/>
                <a:cs typeface="Times New Roman" panose="02020603050405020304" pitchFamily="18" charset="0"/>
              </a:rPr>
              <a:t>the name of the person who initially documented this use case.</a:t>
            </a:r>
          </a:p>
          <a:p>
            <a:pPr marL="1257300" lvl="2" indent="-342900">
              <a:buFont typeface="Courier New" panose="02070309020205020404" pitchFamily="49" charset="0"/>
              <a:buChar char="o"/>
            </a:pPr>
            <a:r>
              <a:rPr lang="en-US" sz="2000" b="1" dirty="0" smtClean="0">
                <a:latin typeface="Times New Roman" panose="02020603050405020304" pitchFamily="18" charset="0"/>
                <a:cs typeface="Times New Roman" panose="02020603050405020304" pitchFamily="18" charset="0"/>
              </a:rPr>
              <a:t>Date Created: </a:t>
            </a:r>
            <a:r>
              <a:rPr lang="en-US" sz="2000" dirty="0" smtClean="0">
                <a:latin typeface="Times New Roman" panose="02020603050405020304" pitchFamily="18" charset="0"/>
                <a:cs typeface="Times New Roman" panose="02020603050405020304" pitchFamily="18" charset="0"/>
              </a:rPr>
              <a:t>Enter </a:t>
            </a:r>
            <a:r>
              <a:rPr lang="en-US" sz="2000" dirty="0">
                <a:latin typeface="Times New Roman" panose="02020603050405020304" pitchFamily="18" charset="0"/>
                <a:cs typeface="Times New Roman" panose="02020603050405020304" pitchFamily="18" charset="0"/>
              </a:rPr>
              <a:t>the date on which the use case was initially documented.</a:t>
            </a:r>
          </a:p>
          <a:p>
            <a:pPr marL="1257300" lvl="2" indent="-342900">
              <a:buFont typeface="Courier New" panose="02070309020205020404" pitchFamily="49" charset="0"/>
              <a:buChar char="o"/>
            </a:pPr>
            <a:r>
              <a:rPr lang="en-US" sz="2000" b="1" dirty="0" smtClean="0">
                <a:latin typeface="Times New Roman" panose="02020603050405020304" pitchFamily="18" charset="0"/>
                <a:cs typeface="Times New Roman" panose="02020603050405020304" pitchFamily="18" charset="0"/>
              </a:rPr>
              <a:t>Last </a:t>
            </a:r>
            <a:r>
              <a:rPr lang="en-US" sz="2000" b="1" dirty="0">
                <a:latin typeface="Times New Roman" panose="02020603050405020304" pitchFamily="18" charset="0"/>
                <a:cs typeface="Times New Roman" panose="02020603050405020304" pitchFamily="18" charset="0"/>
              </a:rPr>
              <a:t>Updated </a:t>
            </a:r>
            <a:r>
              <a:rPr lang="en-US" sz="2000" b="1" dirty="0" smtClean="0">
                <a:latin typeface="Times New Roman" panose="02020603050405020304" pitchFamily="18" charset="0"/>
                <a:cs typeface="Times New Roman" panose="02020603050405020304" pitchFamily="18" charset="0"/>
              </a:rPr>
              <a:t>By: </a:t>
            </a:r>
            <a:r>
              <a:rPr lang="en-US" sz="2000" dirty="0" smtClean="0">
                <a:latin typeface="Times New Roman" panose="02020603050405020304" pitchFamily="18" charset="0"/>
                <a:cs typeface="Times New Roman" panose="02020603050405020304" pitchFamily="18" charset="0"/>
              </a:rPr>
              <a:t>Supply </a:t>
            </a:r>
            <a:r>
              <a:rPr lang="en-US" sz="2000" dirty="0">
                <a:latin typeface="Times New Roman" panose="02020603050405020304" pitchFamily="18" charset="0"/>
                <a:cs typeface="Times New Roman" panose="02020603050405020304" pitchFamily="18" charset="0"/>
              </a:rPr>
              <a:t>the name of the person who performed the most recent update to the use case description.</a:t>
            </a:r>
          </a:p>
          <a:p>
            <a:pPr marL="1257300" lvl="2" indent="-342900">
              <a:buFont typeface="Courier New" panose="02070309020205020404" pitchFamily="49" charset="0"/>
              <a:buChar char="o"/>
            </a:pPr>
            <a:r>
              <a:rPr lang="en-US" sz="2000" b="1" dirty="0" smtClean="0">
                <a:latin typeface="Times New Roman" panose="02020603050405020304" pitchFamily="18" charset="0"/>
                <a:cs typeface="Times New Roman" panose="02020603050405020304" pitchFamily="18" charset="0"/>
              </a:rPr>
              <a:t>Date </a:t>
            </a:r>
            <a:r>
              <a:rPr lang="en-US" sz="2000" b="1" dirty="0">
                <a:latin typeface="Times New Roman" panose="02020603050405020304" pitchFamily="18" charset="0"/>
                <a:cs typeface="Times New Roman" panose="02020603050405020304" pitchFamily="18" charset="0"/>
              </a:rPr>
              <a:t>Last </a:t>
            </a:r>
            <a:r>
              <a:rPr lang="en-US" sz="2000" b="1" dirty="0" smtClean="0">
                <a:latin typeface="Times New Roman" panose="02020603050405020304" pitchFamily="18" charset="0"/>
                <a:cs typeface="Times New Roman" panose="02020603050405020304" pitchFamily="18" charset="0"/>
              </a:rPr>
              <a:t>Updated: </a:t>
            </a:r>
            <a:r>
              <a:rPr lang="en-US" sz="2000" dirty="0" smtClean="0">
                <a:latin typeface="Times New Roman" panose="02020603050405020304" pitchFamily="18" charset="0"/>
                <a:cs typeface="Times New Roman" panose="02020603050405020304" pitchFamily="18" charset="0"/>
              </a:rPr>
              <a:t>Enter </a:t>
            </a:r>
            <a:r>
              <a:rPr lang="en-US" sz="2000" dirty="0">
                <a:latin typeface="Times New Roman" panose="02020603050405020304" pitchFamily="18" charset="0"/>
                <a:cs typeface="Times New Roman" panose="02020603050405020304" pitchFamily="18" charset="0"/>
              </a:rPr>
              <a:t>the date on which the use case was most recently updated</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57767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5</a:t>
            </a:fld>
            <a:endParaRPr lang="en-US"/>
          </a:p>
        </p:txBody>
      </p:sp>
      <p:pic>
        <p:nvPicPr>
          <p:cNvPr id="4" name="Picture 3"/>
          <p:cNvPicPr>
            <a:picLocks noChangeAspect="1"/>
          </p:cNvPicPr>
          <p:nvPr/>
        </p:nvPicPr>
        <p:blipFill>
          <a:blip r:embed="rId2"/>
          <a:stretch>
            <a:fillRect/>
          </a:stretch>
        </p:blipFill>
        <p:spPr>
          <a:xfrm>
            <a:off x="735724" y="2762349"/>
            <a:ext cx="10909737" cy="1569018"/>
          </a:xfrm>
          <a:prstGeom prst="rect">
            <a:avLst/>
          </a:prstGeom>
        </p:spPr>
      </p:pic>
      <p:sp>
        <p:nvSpPr>
          <p:cNvPr id="5"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a:solidFill>
                  <a:schemeClr val="bg1"/>
                </a:solidFill>
                <a:latin typeface="Times New Roman" panose="02020603050405020304" pitchFamily="18" charset="0"/>
                <a:cs typeface="Times New Roman" panose="02020603050405020304" pitchFamily="18" charset="0"/>
              </a:rPr>
              <a:t>How to describe Use Cases?</a:t>
            </a:r>
            <a:endParaRPr lang="en-US" dirty="0"/>
          </a:p>
        </p:txBody>
      </p:sp>
    </p:spTree>
    <p:extLst>
      <p:ext uri="{BB962C8B-B14F-4D97-AF65-F5344CB8AC3E}">
        <p14:creationId xmlns:p14="http://schemas.microsoft.com/office/powerpoint/2010/main" val="4190969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6</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a:solidFill>
                  <a:schemeClr val="bg1"/>
                </a:solidFill>
                <a:latin typeface="Times New Roman" panose="02020603050405020304" pitchFamily="18" charset="0"/>
                <a:cs typeface="Times New Roman" panose="02020603050405020304" pitchFamily="18" charset="0"/>
              </a:rPr>
              <a:t>How to describe Use Cases?</a:t>
            </a:r>
            <a:endParaRPr lang="en-US" dirty="0"/>
          </a:p>
        </p:txBody>
      </p:sp>
      <p:sp>
        <p:nvSpPr>
          <p:cNvPr id="5" name="Rectangle 4"/>
          <p:cNvSpPr/>
          <p:nvPr/>
        </p:nvSpPr>
        <p:spPr>
          <a:xfrm>
            <a:off x="735723" y="1205889"/>
            <a:ext cx="10909738" cy="5324535"/>
          </a:xfrm>
          <a:prstGeom prst="rect">
            <a:avLst/>
          </a:prstGeom>
        </p:spPr>
        <p:txBody>
          <a:bodyPr wrap="square">
            <a:spAutoFit/>
          </a:bodyPr>
          <a:lstStyle/>
          <a:p>
            <a:pPr marL="800100" lvl="1" indent="-342900" algn="just">
              <a:buFont typeface="Wingdings" panose="05000000000000000000" pitchFamily="2" charset="2"/>
              <a:buChar char="v"/>
            </a:pPr>
            <a:r>
              <a:rPr lang="en-US" sz="2000" b="1" dirty="0">
                <a:solidFill>
                  <a:srgbClr val="FF0000"/>
                </a:solidFill>
                <a:latin typeface="Times New Roman" panose="02020603050405020304" pitchFamily="18" charset="0"/>
                <a:cs typeface="Times New Roman" panose="02020603050405020304" pitchFamily="18" charset="0"/>
              </a:rPr>
              <a:t>Actors:</a:t>
            </a:r>
            <a:r>
              <a:rPr lang="en-US" sz="2000" dirty="0">
                <a:solidFill>
                  <a:srgbClr val="FF0000"/>
                </a:solidFill>
                <a:latin typeface="Times New Roman" panose="02020603050405020304" pitchFamily="18" charset="0"/>
                <a:cs typeface="Times New Roman" panose="02020603050405020304" pitchFamily="18" charset="0"/>
              </a:rPr>
              <a:t> </a:t>
            </a:r>
            <a:endParaRPr lang="en-US" sz="2000" dirty="0" smtClean="0">
              <a:solidFill>
                <a:srgbClr val="FF0000"/>
              </a:solidFill>
              <a:latin typeface="Times New Roman" panose="02020603050405020304" pitchFamily="18" charset="0"/>
              <a:cs typeface="Times New Roman" panose="02020603050405020304" pitchFamily="18" charset="0"/>
            </a:endParaRPr>
          </a:p>
          <a:p>
            <a:pPr marL="1257300" lvl="2" indent="-342900" algn="just">
              <a:spcAft>
                <a:spcPts val="600"/>
              </a:spcAft>
              <a:buFont typeface="Courier New" panose="02070309020205020404" pitchFamily="49" charset="0"/>
              <a:buChar char="o"/>
            </a:pPr>
            <a:r>
              <a:rPr lang="en-US" sz="2000" dirty="0" smtClean="0">
                <a:latin typeface="Times New Roman" panose="02020603050405020304" pitchFamily="18" charset="0"/>
                <a:cs typeface="Times New Roman" panose="02020603050405020304" pitchFamily="18" charset="0"/>
              </a:rPr>
              <a:t>Actors </a:t>
            </a:r>
            <a:r>
              <a:rPr lang="en-US" sz="2000" dirty="0">
                <a:latin typeface="Times New Roman" panose="02020603050405020304" pitchFamily="18" charset="0"/>
                <a:cs typeface="Times New Roman" panose="02020603050405020304" pitchFamily="18" charset="0"/>
              </a:rPr>
              <a:t>are the people or the systems who interact with the use cases. In other words, we can say that actors perform the functional requirements. For example, the title “Register Employee”  is the functional requirement representing the use case and it can be performed by an actor</a:t>
            </a:r>
            <a:r>
              <a:rPr lang="en-US" sz="2000" dirty="0" smtClean="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v"/>
            </a:pPr>
            <a:r>
              <a:rPr lang="en-US" sz="2000" b="1" dirty="0">
                <a:solidFill>
                  <a:srgbClr val="FF0000"/>
                </a:solidFill>
                <a:latin typeface="Times New Roman" panose="02020603050405020304" pitchFamily="18" charset="0"/>
                <a:cs typeface="Times New Roman" panose="02020603050405020304" pitchFamily="18" charset="0"/>
              </a:rPr>
              <a:t>Brief description: </a:t>
            </a:r>
          </a:p>
          <a:p>
            <a:pPr marL="1257300" lvl="2" indent="-342900"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A brief textual description of what the use case does or Summary of the Use Case.</a:t>
            </a:r>
          </a:p>
          <a:p>
            <a:pPr marL="1257300" lvl="2" indent="-342900" algn="just">
              <a:spcAft>
                <a:spcPts val="600"/>
              </a:spcAf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Describe the Use Case not more than 5 lines.</a:t>
            </a:r>
            <a:endParaRPr lang="en-US" sz="2000" dirty="0" smtClean="0">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v"/>
            </a:pPr>
            <a:r>
              <a:rPr lang="en-US" sz="2000" b="1" dirty="0">
                <a:solidFill>
                  <a:srgbClr val="FF0000"/>
                </a:solidFill>
                <a:latin typeface="Times New Roman" panose="02020603050405020304" pitchFamily="18" charset="0"/>
                <a:cs typeface="Times New Roman" panose="02020603050405020304" pitchFamily="18" charset="0"/>
              </a:rPr>
              <a:t>Preconditions:</a:t>
            </a:r>
            <a:r>
              <a:rPr lang="en-US" sz="2000" dirty="0">
                <a:solidFill>
                  <a:srgbClr val="FF0000"/>
                </a:solidFill>
                <a:latin typeface="Times New Roman" panose="02020603050405020304" pitchFamily="18" charset="0"/>
                <a:cs typeface="Times New Roman" panose="02020603050405020304" pitchFamily="18" charset="0"/>
              </a:rPr>
              <a:t> </a:t>
            </a:r>
            <a:endParaRPr lang="en-US" sz="2000" dirty="0" smtClean="0">
              <a:solidFill>
                <a:srgbClr val="FF0000"/>
              </a:solidFill>
              <a:latin typeface="Times New Roman" panose="02020603050405020304" pitchFamily="18" charset="0"/>
              <a:cs typeface="Times New Roman" panose="02020603050405020304" pitchFamily="18" charset="0"/>
            </a:endParaRPr>
          </a:p>
          <a:p>
            <a:pPr marL="1200150" lvl="2" indent="-285750" algn="just">
              <a:spcAft>
                <a:spcPts val="600"/>
              </a:spcAft>
              <a:buFont typeface="Courier New" panose="02070309020205020404" pitchFamily="49" charset="0"/>
              <a:buChar char="o"/>
            </a:pPr>
            <a:r>
              <a:rPr lang="en-US" sz="2000" dirty="0" smtClean="0">
                <a:latin typeface="Times New Roman" panose="02020603050405020304" pitchFamily="18" charset="0"/>
                <a:cs typeface="Times New Roman" panose="02020603050405020304" pitchFamily="18" charset="0"/>
              </a:rPr>
              <a:t>Preconditions</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 the requirements that must fulfill before the activity.</a:t>
            </a:r>
          </a:p>
          <a:p>
            <a:pPr marL="742950" lvl="1" indent="-285750" algn="just">
              <a:buFont typeface="Wingdings" panose="05000000000000000000" pitchFamily="2" charset="2"/>
              <a:buChar char="v"/>
            </a:pPr>
            <a:r>
              <a:rPr lang="en-US" sz="2000" b="1" dirty="0" smtClean="0">
                <a:solidFill>
                  <a:srgbClr val="FF0000"/>
                </a:solidFill>
                <a:latin typeface="Times New Roman" panose="02020603050405020304" pitchFamily="18" charset="0"/>
                <a:cs typeface="Times New Roman" panose="02020603050405020304" pitchFamily="18" charset="0"/>
              </a:rPr>
              <a:t>Postconditions</a:t>
            </a:r>
            <a:r>
              <a:rPr lang="en-US" sz="2000" b="1" dirty="0">
                <a:solidFill>
                  <a:srgbClr val="FF0000"/>
                </a:solidFill>
                <a:latin typeface="Times New Roman" panose="02020603050405020304" pitchFamily="18" charset="0"/>
                <a:cs typeface="Times New Roman" panose="02020603050405020304" pitchFamily="18" charset="0"/>
              </a:rPr>
              <a:t>: </a:t>
            </a:r>
            <a:endParaRPr lang="en-US" sz="2000" b="1" dirty="0" smtClean="0">
              <a:solidFill>
                <a:srgbClr val="FF0000"/>
              </a:solidFill>
              <a:latin typeface="Times New Roman" panose="02020603050405020304" pitchFamily="18" charset="0"/>
              <a:cs typeface="Times New Roman" panose="02020603050405020304" pitchFamily="18" charset="0"/>
            </a:endParaRPr>
          </a:p>
          <a:p>
            <a:pPr marL="1200150" lvl="2" indent="-285750" algn="just">
              <a:spcAft>
                <a:spcPts val="600"/>
              </a:spcAft>
              <a:buFont typeface="Courier New" panose="02070309020205020404" pitchFamily="49" charset="0"/>
              <a:buChar char="o"/>
            </a:pPr>
            <a:r>
              <a:rPr lang="en-US" sz="2000" dirty="0" smtClean="0">
                <a:latin typeface="Times New Roman" panose="02020603050405020304" pitchFamily="18" charset="0"/>
                <a:cs typeface="Times New Roman" panose="02020603050405020304" pitchFamily="18" charset="0"/>
              </a:rPr>
              <a:t>Postconditions</a:t>
            </a:r>
            <a:r>
              <a:rPr lang="en-US" sz="2000" dirty="0">
                <a:latin typeface="Times New Roman" panose="02020603050405020304" pitchFamily="18" charset="0"/>
                <a:cs typeface="Times New Roman" panose="02020603050405020304" pitchFamily="18" charset="0"/>
              </a:rPr>
              <a:t> represents the finish of the use case successfully or unsuccessfully.  Its can be further extended to the main success scenario and alternate scenario.</a:t>
            </a:r>
          </a:p>
          <a:p>
            <a:pPr marL="800100" lvl="1" indent="-342900" algn="just">
              <a:buFont typeface="Wingdings" panose="05000000000000000000" pitchFamily="2" charset="2"/>
              <a:buChar char="v"/>
            </a:pPr>
            <a:r>
              <a:rPr lang="en-US" sz="2000" b="1" dirty="0">
                <a:solidFill>
                  <a:srgbClr val="FF0000"/>
                </a:solidFill>
                <a:latin typeface="Times New Roman" panose="02020603050405020304" pitchFamily="18" charset="0"/>
                <a:cs typeface="Times New Roman" panose="02020603050405020304" pitchFamily="18" charset="0"/>
              </a:rPr>
              <a:t>Path:</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marL="1257300" lvl="2" indent="-342900" algn="just">
              <a:buFont typeface="Courier New" panose="02070309020205020404" pitchFamily="49" charset="0"/>
              <a:buChar char="o"/>
            </a:pPr>
            <a:r>
              <a:rPr lang="en-US" sz="2000" dirty="0" smtClean="0">
                <a:latin typeface="Times New Roman" panose="02020603050405020304" pitchFamily="18" charset="0"/>
                <a:cs typeface="Times New Roman" panose="02020603050405020304" pitchFamily="18" charset="0"/>
              </a:rPr>
              <a:t>The</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path is the step-by-step action that places between the actor and the system. Paths come in three </a:t>
            </a:r>
            <a:r>
              <a:rPr lang="en-US" sz="2000" dirty="0" smtClean="0">
                <a:latin typeface="Times New Roman" panose="02020603050405020304" pitchFamily="18" charset="0"/>
                <a:cs typeface="Times New Roman" panose="02020603050405020304" pitchFamily="18" charset="0"/>
              </a:rPr>
              <a:t>types</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16374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7</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a:solidFill>
                  <a:schemeClr val="bg1"/>
                </a:solidFill>
                <a:latin typeface="Times New Roman" panose="02020603050405020304" pitchFamily="18" charset="0"/>
                <a:cs typeface="Times New Roman" panose="02020603050405020304" pitchFamily="18" charset="0"/>
              </a:rPr>
              <a:t>How to describe Use Cases?</a:t>
            </a:r>
            <a:endParaRPr lang="en-US" dirty="0"/>
          </a:p>
        </p:txBody>
      </p:sp>
      <p:sp>
        <p:nvSpPr>
          <p:cNvPr id="9" name="Rectangle 8"/>
          <p:cNvSpPr/>
          <p:nvPr/>
        </p:nvSpPr>
        <p:spPr>
          <a:xfrm>
            <a:off x="735723" y="1124609"/>
            <a:ext cx="10909738" cy="774571"/>
          </a:xfrm>
          <a:prstGeom prst="rect">
            <a:avLst/>
          </a:prstGeom>
        </p:spPr>
        <p:txBody>
          <a:bodyPr wrap="square">
            <a:spAutoFit/>
          </a:bodyPr>
          <a:lstStyle/>
          <a:p>
            <a:pPr marL="1257300" lvl="2" indent="-342900" algn="just">
              <a:spcBef>
                <a:spcPts val="600"/>
              </a:spcBef>
              <a:spcAft>
                <a:spcPts val="400"/>
              </a:spcAft>
              <a:buFont typeface="Courier New" panose="02070309020205020404" pitchFamily="49" charset="0"/>
              <a:buChar char="o"/>
            </a:pPr>
            <a:endParaRPr lang="en-US" dirty="0" smtClean="0"/>
          </a:p>
          <a:p>
            <a:pPr marL="1257300" lvl="2" indent="-342900" algn="just">
              <a:spcBef>
                <a:spcPts val="600"/>
              </a:spcBef>
              <a:spcAft>
                <a:spcPts val="400"/>
              </a:spcAft>
              <a:buFont typeface="Courier New" panose="02070309020205020404" pitchFamily="49" charset="0"/>
              <a:buChar char="o"/>
            </a:pPr>
            <a:endParaRPr lang="en-US" dirty="0"/>
          </a:p>
        </p:txBody>
      </p:sp>
      <p:pic>
        <p:nvPicPr>
          <p:cNvPr id="2" name="Picture 1"/>
          <p:cNvPicPr>
            <a:picLocks noChangeAspect="1"/>
          </p:cNvPicPr>
          <p:nvPr/>
        </p:nvPicPr>
        <p:blipFill>
          <a:blip r:embed="rId2"/>
          <a:stretch>
            <a:fillRect/>
          </a:stretch>
        </p:blipFill>
        <p:spPr>
          <a:xfrm>
            <a:off x="1190766" y="1511894"/>
            <a:ext cx="9999652" cy="4350570"/>
          </a:xfrm>
          <a:prstGeom prst="rect">
            <a:avLst/>
          </a:prstGeom>
        </p:spPr>
      </p:pic>
    </p:spTree>
    <p:extLst>
      <p:ext uri="{BB962C8B-B14F-4D97-AF65-F5344CB8AC3E}">
        <p14:creationId xmlns:p14="http://schemas.microsoft.com/office/powerpoint/2010/main" val="24150745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8</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a:solidFill>
                  <a:schemeClr val="bg1"/>
                </a:solidFill>
                <a:latin typeface="Times New Roman" panose="02020603050405020304" pitchFamily="18" charset="0"/>
                <a:cs typeface="Times New Roman" panose="02020603050405020304" pitchFamily="18" charset="0"/>
              </a:rPr>
              <a:t>How to describe Use Cases?</a:t>
            </a:r>
            <a:endParaRPr lang="en-US" dirty="0"/>
          </a:p>
        </p:txBody>
      </p:sp>
      <p:sp>
        <p:nvSpPr>
          <p:cNvPr id="9" name="Rectangle 8"/>
          <p:cNvSpPr/>
          <p:nvPr/>
        </p:nvSpPr>
        <p:spPr>
          <a:xfrm>
            <a:off x="735723" y="1124609"/>
            <a:ext cx="10909738" cy="774571"/>
          </a:xfrm>
          <a:prstGeom prst="rect">
            <a:avLst/>
          </a:prstGeom>
        </p:spPr>
        <p:txBody>
          <a:bodyPr wrap="square">
            <a:spAutoFit/>
          </a:bodyPr>
          <a:lstStyle/>
          <a:p>
            <a:pPr marL="1257300" lvl="2" indent="-342900" algn="just">
              <a:spcBef>
                <a:spcPts val="600"/>
              </a:spcBef>
              <a:spcAft>
                <a:spcPts val="400"/>
              </a:spcAft>
              <a:buFont typeface="Courier New" panose="02070309020205020404" pitchFamily="49" charset="0"/>
              <a:buChar char="o"/>
            </a:pPr>
            <a:endParaRPr lang="en-US" dirty="0" smtClean="0"/>
          </a:p>
          <a:p>
            <a:pPr marL="1257300" lvl="2" indent="-342900" algn="just">
              <a:spcBef>
                <a:spcPts val="600"/>
              </a:spcBef>
              <a:spcAft>
                <a:spcPts val="400"/>
              </a:spcAft>
              <a:buFont typeface="Courier New" panose="02070309020205020404" pitchFamily="49" charset="0"/>
              <a:buChar char="o"/>
            </a:pP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67862641"/>
              </p:ext>
            </p:extLst>
          </p:nvPr>
        </p:nvGraphicFramePr>
        <p:xfrm>
          <a:off x="735723" y="1363739"/>
          <a:ext cx="10388959" cy="2697480"/>
        </p:xfrm>
        <a:graphic>
          <a:graphicData uri="http://schemas.openxmlformats.org/drawingml/2006/table">
            <a:tbl>
              <a:tblPr firstRow="1" bandRow="1">
                <a:tableStyleId>{2D5ABB26-0587-4C30-8999-92F81FD0307C}</a:tableStyleId>
              </a:tblPr>
              <a:tblGrid>
                <a:gridCol w="2182345">
                  <a:extLst>
                    <a:ext uri="{9D8B030D-6E8A-4147-A177-3AD203B41FA5}">
                      <a16:colId xmlns:a16="http://schemas.microsoft.com/office/drawing/2014/main" val="182291621"/>
                    </a:ext>
                  </a:extLst>
                </a:gridCol>
                <a:gridCol w="8206614">
                  <a:extLst>
                    <a:ext uri="{9D8B030D-6E8A-4147-A177-3AD203B41FA5}">
                      <a16:colId xmlns:a16="http://schemas.microsoft.com/office/drawing/2014/main" val="1074930566"/>
                    </a:ext>
                  </a:extLst>
                </a:gridCol>
              </a:tblGrid>
              <a:tr h="370840">
                <a:tc>
                  <a:txBody>
                    <a:bodyPr/>
                    <a:lstStyle/>
                    <a:p>
                      <a:r>
                        <a:rPr lang="en-US" b="1" dirty="0" smtClean="0">
                          <a:latin typeface="Times New Roman" panose="02020603050405020304" pitchFamily="18" charset="0"/>
                          <a:cs typeface="Times New Roman" panose="02020603050405020304" pitchFamily="18" charset="0"/>
                        </a:rPr>
                        <a:t>Basic Flow</a:t>
                      </a:r>
                      <a:endParaRPr lang="en-US" b="1" dirty="0">
                        <a:latin typeface="Times New Roman" panose="02020603050405020304" pitchFamily="18" charset="0"/>
                        <a:cs typeface="Times New Roman" panose="02020603050405020304" pitchFamily="18" charset="0"/>
                      </a:endParaRPr>
                    </a:p>
                  </a:txBody>
                  <a:tcPr/>
                </a:tc>
                <a:tc>
                  <a:txBody>
                    <a:bodyPr/>
                    <a:lstStyle/>
                    <a:p>
                      <a:pPr>
                        <a:spcAft>
                          <a:spcPts val="600"/>
                        </a:spcAft>
                      </a:pPr>
                      <a:r>
                        <a:rPr lang="en-US" dirty="0" smtClean="0">
                          <a:latin typeface="Times New Roman" panose="02020603050405020304" pitchFamily="18" charset="0"/>
                          <a:cs typeface="Times New Roman" panose="02020603050405020304" pitchFamily="18" charset="0"/>
                        </a:rPr>
                        <a:t>is the normal flow</a:t>
                      </a:r>
                      <a:r>
                        <a:rPr lang="en-US" baseline="0" dirty="0" smtClean="0">
                          <a:latin typeface="Times New Roman" panose="02020603050405020304" pitchFamily="18" charset="0"/>
                          <a:cs typeface="Times New Roman" panose="02020603050405020304" pitchFamily="18" charset="0"/>
                        </a:rPr>
                        <a:t> of action in an application. </a:t>
                      </a:r>
                    </a:p>
                    <a:p>
                      <a:r>
                        <a:rPr lang="en-US" baseline="0" dirty="0" smtClean="0">
                          <a:latin typeface="Times New Roman" panose="02020603050405020304" pitchFamily="18" charset="0"/>
                          <a:cs typeface="Times New Roman" panose="02020603050405020304" pitchFamily="18" charset="0"/>
                        </a:rPr>
                        <a:t>For example, in the login page after entering user name and password the next screen should appear is the basic flow.</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31516546"/>
                  </a:ext>
                </a:extLst>
              </a:tr>
              <a:tr h="370840">
                <a:tc>
                  <a:txBody>
                    <a:bodyPr/>
                    <a:lstStyle/>
                    <a:p>
                      <a:r>
                        <a:rPr lang="en-US" b="1" dirty="0" smtClean="0">
                          <a:latin typeface="Times New Roman" panose="02020603050405020304" pitchFamily="18" charset="0"/>
                          <a:cs typeface="Times New Roman" panose="02020603050405020304" pitchFamily="18" charset="0"/>
                        </a:rPr>
                        <a:t>Alternative Flow </a:t>
                      </a:r>
                      <a:endParaRPr lang="en-US" b="1" dirty="0">
                        <a:latin typeface="Times New Roman" panose="02020603050405020304" pitchFamily="18" charset="0"/>
                        <a:cs typeface="Times New Roman" panose="02020603050405020304" pitchFamily="18" charset="0"/>
                      </a:endParaRPr>
                    </a:p>
                  </a:txBody>
                  <a:tcPr/>
                </a:tc>
                <a:tc>
                  <a:txBody>
                    <a:bodyPr/>
                    <a:lstStyle/>
                    <a:p>
                      <a:pPr>
                        <a:spcAft>
                          <a:spcPts val="600"/>
                        </a:spcAft>
                      </a:pPr>
                      <a:r>
                        <a:rPr lang="en-US" dirty="0" smtClean="0">
                          <a:latin typeface="Times New Roman" panose="02020603050405020304" pitchFamily="18" charset="0"/>
                          <a:cs typeface="Times New Roman" panose="02020603050405020304" pitchFamily="18" charset="0"/>
                        </a:rPr>
                        <a:t>are</a:t>
                      </a:r>
                      <a:r>
                        <a:rPr lang="en-US" baseline="0" dirty="0" smtClean="0">
                          <a:latin typeface="Times New Roman" panose="02020603050405020304" pitchFamily="18" charset="0"/>
                          <a:cs typeface="Times New Roman" panose="02020603050405020304" pitchFamily="18" charset="0"/>
                        </a:rPr>
                        <a:t> the alternative actions that can be performed. </a:t>
                      </a:r>
                    </a:p>
                    <a:p>
                      <a:r>
                        <a:rPr lang="en-US" baseline="0" dirty="0" smtClean="0">
                          <a:latin typeface="Times New Roman" panose="02020603050405020304" pitchFamily="18" charset="0"/>
                          <a:cs typeface="Times New Roman" panose="02020603050405020304" pitchFamily="18" charset="0"/>
                        </a:rPr>
                        <a:t>For example, in the login page the alternative flow will be checking the existence of the user name entered.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54093858"/>
                  </a:ext>
                </a:extLst>
              </a:tr>
              <a:tr h="370840">
                <a:tc>
                  <a:txBody>
                    <a:bodyPr/>
                    <a:lstStyle/>
                    <a:p>
                      <a:r>
                        <a:rPr lang="en-US" b="1" dirty="0" smtClean="0">
                          <a:latin typeface="Times New Roman" panose="02020603050405020304" pitchFamily="18" charset="0"/>
                          <a:cs typeface="Times New Roman" panose="02020603050405020304" pitchFamily="18" charset="0"/>
                        </a:rPr>
                        <a:t>Exception </a:t>
                      </a:r>
                      <a:endParaRPr lang="en-US" b="1" dirty="0">
                        <a:latin typeface="Times New Roman" panose="02020603050405020304" pitchFamily="18" charset="0"/>
                        <a:cs typeface="Times New Roman" panose="02020603050405020304" pitchFamily="18" charset="0"/>
                      </a:endParaRPr>
                    </a:p>
                  </a:txBody>
                  <a:tcPr/>
                </a:tc>
                <a:tc>
                  <a:txBody>
                    <a:bodyPr/>
                    <a:lstStyle/>
                    <a:p>
                      <a:pPr>
                        <a:spcAft>
                          <a:spcPts val="600"/>
                        </a:spcAft>
                      </a:pPr>
                      <a:r>
                        <a:rPr lang="en-US" dirty="0" smtClean="0">
                          <a:latin typeface="Times New Roman" panose="02020603050405020304" pitchFamily="18" charset="0"/>
                          <a:cs typeface="Times New Roman" panose="02020603050405020304" pitchFamily="18" charset="0"/>
                        </a:rPr>
                        <a:t>are</a:t>
                      </a:r>
                      <a:r>
                        <a:rPr lang="en-US" baseline="0" dirty="0" smtClean="0">
                          <a:latin typeface="Times New Roman" panose="02020603050405020304" pitchFamily="18" charset="0"/>
                          <a:cs typeface="Times New Roman" panose="02020603050405020304" pitchFamily="18" charset="0"/>
                        </a:rPr>
                        <a:t> the activities in case of the exception thrown.  </a:t>
                      </a:r>
                    </a:p>
                    <a:p>
                      <a:r>
                        <a:rPr lang="en-US" baseline="0" dirty="0" smtClean="0">
                          <a:latin typeface="Times New Roman" panose="02020603050405020304" pitchFamily="18" charset="0"/>
                          <a:cs typeface="Times New Roman" panose="02020603050405020304" pitchFamily="18" charset="0"/>
                        </a:rPr>
                        <a:t>They are the flow of events which will happen in case of the error.</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0709437"/>
                  </a:ext>
                </a:extLst>
              </a:tr>
            </a:tbl>
          </a:graphicData>
        </a:graphic>
      </p:graphicFrame>
    </p:spTree>
    <p:extLst>
      <p:ext uri="{BB962C8B-B14F-4D97-AF65-F5344CB8AC3E}">
        <p14:creationId xmlns:p14="http://schemas.microsoft.com/office/powerpoint/2010/main" val="22681091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9</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smtClean="0">
                <a:solidFill>
                  <a:schemeClr val="bg1"/>
                </a:solidFill>
                <a:latin typeface="Times New Roman" panose="02020603050405020304" pitchFamily="18" charset="0"/>
                <a:cs typeface="Times New Roman" panose="02020603050405020304" pitchFamily="18" charset="0"/>
              </a:rPr>
              <a:t>Examples…</a:t>
            </a:r>
          </a:p>
          <a:p>
            <a:pPr>
              <a:buFont typeface="Wingdings" panose="05000000000000000000" pitchFamily="2" charset="2"/>
              <a:buChar char="§"/>
            </a:pPr>
            <a:endParaRPr lang="en-US" dirty="0"/>
          </a:p>
        </p:txBody>
      </p:sp>
      <p:pic>
        <p:nvPicPr>
          <p:cNvPr id="2" name="Picture 1"/>
          <p:cNvPicPr>
            <a:picLocks noChangeAspect="1"/>
          </p:cNvPicPr>
          <p:nvPr/>
        </p:nvPicPr>
        <p:blipFill>
          <a:blip r:embed="rId2"/>
          <a:stretch>
            <a:fillRect/>
          </a:stretch>
        </p:blipFill>
        <p:spPr>
          <a:xfrm>
            <a:off x="485117" y="1518614"/>
            <a:ext cx="11410950" cy="4305300"/>
          </a:xfrm>
          <a:prstGeom prst="rect">
            <a:avLst/>
          </a:prstGeom>
        </p:spPr>
      </p:pic>
    </p:spTree>
    <p:extLst>
      <p:ext uri="{BB962C8B-B14F-4D97-AF65-F5344CB8AC3E}">
        <p14:creationId xmlns:p14="http://schemas.microsoft.com/office/powerpoint/2010/main" val="28172966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10</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smtClean="0">
                <a:solidFill>
                  <a:schemeClr val="bg1"/>
                </a:solidFill>
                <a:latin typeface="Times New Roman" panose="02020603050405020304" pitchFamily="18" charset="0"/>
                <a:cs typeface="Times New Roman" panose="02020603050405020304" pitchFamily="18" charset="0"/>
              </a:rPr>
              <a:t>Examples…</a:t>
            </a:r>
          </a:p>
          <a:p>
            <a:pPr>
              <a:buFont typeface="Wingdings" panose="05000000000000000000" pitchFamily="2" charset="2"/>
              <a:buChar char="§"/>
            </a:pPr>
            <a:endParaRPr lang="en-US" dirty="0"/>
          </a:p>
        </p:txBody>
      </p:sp>
      <p:pic>
        <p:nvPicPr>
          <p:cNvPr id="5" name="Picture 4"/>
          <p:cNvPicPr>
            <a:picLocks noChangeAspect="1"/>
          </p:cNvPicPr>
          <p:nvPr/>
        </p:nvPicPr>
        <p:blipFill>
          <a:blip r:embed="rId2"/>
          <a:stretch>
            <a:fillRect/>
          </a:stretch>
        </p:blipFill>
        <p:spPr>
          <a:xfrm>
            <a:off x="447017" y="1294777"/>
            <a:ext cx="11487150" cy="4752975"/>
          </a:xfrm>
          <a:prstGeom prst="rect">
            <a:avLst/>
          </a:prstGeom>
        </p:spPr>
      </p:pic>
    </p:spTree>
    <p:extLst>
      <p:ext uri="{BB962C8B-B14F-4D97-AF65-F5344CB8AC3E}">
        <p14:creationId xmlns:p14="http://schemas.microsoft.com/office/powerpoint/2010/main" val="15381546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11</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smtClean="0">
                <a:solidFill>
                  <a:schemeClr val="bg1"/>
                </a:solidFill>
                <a:latin typeface="Times New Roman" panose="02020603050405020304" pitchFamily="18" charset="0"/>
                <a:cs typeface="Times New Roman" panose="02020603050405020304" pitchFamily="18" charset="0"/>
              </a:rPr>
              <a:t>Examples…</a:t>
            </a:r>
          </a:p>
          <a:p>
            <a:pPr>
              <a:buFont typeface="Wingdings" panose="05000000000000000000" pitchFamily="2" charset="2"/>
              <a:buChar char="§"/>
            </a:pPr>
            <a:endParaRPr lang="en-US" dirty="0"/>
          </a:p>
        </p:txBody>
      </p:sp>
      <p:pic>
        <p:nvPicPr>
          <p:cNvPr id="2" name="Picture 1"/>
          <p:cNvPicPr>
            <a:picLocks noChangeAspect="1"/>
          </p:cNvPicPr>
          <p:nvPr/>
        </p:nvPicPr>
        <p:blipFill>
          <a:blip r:embed="rId2"/>
          <a:stretch>
            <a:fillRect/>
          </a:stretch>
        </p:blipFill>
        <p:spPr>
          <a:xfrm>
            <a:off x="1366247" y="1124609"/>
            <a:ext cx="9392675" cy="5507665"/>
          </a:xfrm>
          <a:prstGeom prst="rect">
            <a:avLst/>
          </a:prstGeom>
        </p:spPr>
      </p:pic>
    </p:spTree>
    <p:extLst>
      <p:ext uri="{BB962C8B-B14F-4D97-AF65-F5344CB8AC3E}">
        <p14:creationId xmlns:p14="http://schemas.microsoft.com/office/powerpoint/2010/main" val="14380927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12</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smtClean="0">
                <a:solidFill>
                  <a:schemeClr val="bg1"/>
                </a:solidFill>
                <a:latin typeface="Times New Roman" panose="02020603050405020304" pitchFamily="18" charset="0"/>
                <a:cs typeface="Times New Roman" panose="02020603050405020304" pitchFamily="18" charset="0"/>
              </a:rPr>
              <a:t>Examples…</a:t>
            </a:r>
          </a:p>
          <a:p>
            <a:pPr>
              <a:buFont typeface="Wingdings" panose="05000000000000000000" pitchFamily="2" charset="2"/>
              <a:buChar char="§"/>
            </a:pPr>
            <a:endParaRPr lang="en-US" dirty="0"/>
          </a:p>
        </p:txBody>
      </p:sp>
      <p:pic>
        <p:nvPicPr>
          <p:cNvPr id="5" name="Picture 4"/>
          <p:cNvPicPr>
            <a:picLocks noChangeAspect="1"/>
          </p:cNvPicPr>
          <p:nvPr/>
        </p:nvPicPr>
        <p:blipFill>
          <a:blip r:embed="rId2"/>
          <a:stretch>
            <a:fillRect/>
          </a:stretch>
        </p:blipFill>
        <p:spPr>
          <a:xfrm>
            <a:off x="1268050" y="1157760"/>
            <a:ext cx="9490872" cy="5054404"/>
          </a:xfrm>
          <a:prstGeom prst="rect">
            <a:avLst/>
          </a:prstGeom>
        </p:spPr>
      </p:pic>
    </p:spTree>
    <p:extLst>
      <p:ext uri="{BB962C8B-B14F-4D97-AF65-F5344CB8AC3E}">
        <p14:creationId xmlns:p14="http://schemas.microsoft.com/office/powerpoint/2010/main" val="4551077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13</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smtClean="0">
                <a:solidFill>
                  <a:schemeClr val="bg1"/>
                </a:solidFill>
                <a:latin typeface="Times New Roman" panose="02020603050405020304" pitchFamily="18" charset="0"/>
                <a:cs typeface="Times New Roman" panose="02020603050405020304" pitchFamily="18" charset="0"/>
              </a:rPr>
              <a:t>Examples…</a:t>
            </a:r>
          </a:p>
          <a:p>
            <a:pPr>
              <a:buFont typeface="Wingdings" panose="05000000000000000000" pitchFamily="2" charset="2"/>
              <a:buChar char="§"/>
            </a:pPr>
            <a:endParaRPr lang="en-US" dirty="0"/>
          </a:p>
        </p:txBody>
      </p:sp>
      <p:pic>
        <p:nvPicPr>
          <p:cNvPr id="2" name="Picture 1"/>
          <p:cNvPicPr>
            <a:picLocks noChangeAspect="1"/>
          </p:cNvPicPr>
          <p:nvPr/>
        </p:nvPicPr>
        <p:blipFill>
          <a:blip r:embed="rId2"/>
          <a:stretch>
            <a:fillRect/>
          </a:stretch>
        </p:blipFill>
        <p:spPr>
          <a:xfrm>
            <a:off x="1682987" y="1177939"/>
            <a:ext cx="9015210" cy="5222861"/>
          </a:xfrm>
          <a:prstGeom prst="rect">
            <a:avLst/>
          </a:prstGeom>
        </p:spPr>
      </p:pic>
    </p:spTree>
    <p:extLst>
      <p:ext uri="{BB962C8B-B14F-4D97-AF65-F5344CB8AC3E}">
        <p14:creationId xmlns:p14="http://schemas.microsoft.com/office/powerpoint/2010/main" val="26013201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14</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smtClean="0">
                <a:solidFill>
                  <a:schemeClr val="bg1"/>
                </a:solidFill>
                <a:latin typeface="Times New Roman" panose="02020603050405020304" pitchFamily="18" charset="0"/>
                <a:cs typeface="Times New Roman" panose="02020603050405020304" pitchFamily="18" charset="0"/>
              </a:rPr>
              <a:t>Examples…</a:t>
            </a:r>
          </a:p>
          <a:p>
            <a:pPr>
              <a:buFont typeface="Wingdings" panose="05000000000000000000" pitchFamily="2" charset="2"/>
              <a:buChar char="§"/>
            </a:pPr>
            <a:endParaRPr lang="en-US" dirty="0"/>
          </a:p>
        </p:txBody>
      </p:sp>
      <p:pic>
        <p:nvPicPr>
          <p:cNvPr id="5" name="Picture 4"/>
          <p:cNvPicPr>
            <a:picLocks noChangeAspect="1"/>
          </p:cNvPicPr>
          <p:nvPr/>
        </p:nvPicPr>
        <p:blipFill>
          <a:blip r:embed="rId2"/>
          <a:stretch>
            <a:fillRect/>
          </a:stretch>
        </p:blipFill>
        <p:spPr>
          <a:xfrm>
            <a:off x="1826493" y="1157885"/>
            <a:ext cx="8728198" cy="5060035"/>
          </a:xfrm>
          <a:prstGeom prst="rect">
            <a:avLst/>
          </a:prstGeom>
        </p:spPr>
      </p:pic>
    </p:spTree>
    <p:extLst>
      <p:ext uri="{BB962C8B-B14F-4D97-AF65-F5344CB8AC3E}">
        <p14:creationId xmlns:p14="http://schemas.microsoft.com/office/powerpoint/2010/main" val="18345957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15</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smtClean="0">
                <a:solidFill>
                  <a:schemeClr val="bg1"/>
                </a:solidFill>
                <a:latin typeface="Times New Roman" panose="02020603050405020304" pitchFamily="18" charset="0"/>
                <a:cs typeface="Times New Roman" panose="02020603050405020304" pitchFamily="18" charset="0"/>
              </a:rPr>
              <a:t>Examples…</a:t>
            </a:r>
          </a:p>
          <a:p>
            <a:pPr>
              <a:buFont typeface="Wingdings" panose="05000000000000000000" pitchFamily="2" charset="2"/>
              <a:buChar char="§"/>
            </a:pPr>
            <a:endParaRPr lang="en-US" dirty="0"/>
          </a:p>
        </p:txBody>
      </p:sp>
      <p:pic>
        <p:nvPicPr>
          <p:cNvPr id="2" name="Picture 1"/>
          <p:cNvPicPr>
            <a:picLocks noChangeAspect="1"/>
          </p:cNvPicPr>
          <p:nvPr/>
        </p:nvPicPr>
        <p:blipFill>
          <a:blip r:embed="rId2"/>
          <a:stretch>
            <a:fillRect/>
          </a:stretch>
        </p:blipFill>
        <p:spPr>
          <a:xfrm>
            <a:off x="1892133" y="1178594"/>
            <a:ext cx="8596918" cy="5039326"/>
          </a:xfrm>
          <a:prstGeom prst="rect">
            <a:avLst/>
          </a:prstGeom>
        </p:spPr>
      </p:pic>
    </p:spTree>
    <p:extLst>
      <p:ext uri="{BB962C8B-B14F-4D97-AF65-F5344CB8AC3E}">
        <p14:creationId xmlns:p14="http://schemas.microsoft.com/office/powerpoint/2010/main" val="33335023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16</a:t>
            </a:fld>
            <a:endParaRPr lang="en-US"/>
          </a:p>
        </p:txBody>
      </p:sp>
      <p:sp>
        <p:nvSpPr>
          <p:cNvPr id="4" name="Content Placeholder 2"/>
          <p:cNvSpPr txBox="1">
            <a:spLocks/>
          </p:cNvSpPr>
          <p:nvPr/>
        </p:nvSpPr>
        <p:spPr>
          <a:xfrm>
            <a:off x="735723" y="426137"/>
            <a:ext cx="10909738" cy="698472"/>
          </a:xfrm>
          <a:prstGeom prst="rect">
            <a:avLst/>
          </a:prstGeom>
          <a:solidFill>
            <a:schemeClr val="tx1">
              <a:lumMod val="50000"/>
              <a:lumOff val="50000"/>
            </a:schemeClr>
          </a:solidFill>
        </p:spPr>
        <p:txBody>
          <a:bodyP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3600" b="1" dirty="0" smtClean="0">
                <a:solidFill>
                  <a:schemeClr val="bg1"/>
                </a:solidFill>
                <a:latin typeface="Times New Roman" panose="02020603050405020304" pitchFamily="18" charset="0"/>
                <a:cs typeface="Times New Roman" panose="02020603050405020304" pitchFamily="18" charset="0"/>
              </a:rPr>
              <a:t>Use Case Template</a:t>
            </a:r>
            <a:endParaRPr lang="en-US" dirty="0"/>
          </a:p>
        </p:txBody>
      </p:sp>
      <p:pic>
        <p:nvPicPr>
          <p:cNvPr id="5" name="Picture 4"/>
          <p:cNvPicPr>
            <a:picLocks noChangeAspect="1"/>
          </p:cNvPicPr>
          <p:nvPr/>
        </p:nvPicPr>
        <p:blipFill>
          <a:blip r:embed="rId3"/>
          <a:stretch>
            <a:fillRect/>
          </a:stretch>
        </p:blipFill>
        <p:spPr>
          <a:xfrm>
            <a:off x="2701728" y="1124609"/>
            <a:ext cx="6977727" cy="5319022"/>
          </a:xfrm>
          <a:prstGeom prst="rect">
            <a:avLst/>
          </a:prstGeom>
        </p:spPr>
      </p:pic>
    </p:spTree>
    <p:extLst>
      <p:ext uri="{BB962C8B-B14F-4D97-AF65-F5344CB8AC3E}">
        <p14:creationId xmlns:p14="http://schemas.microsoft.com/office/powerpoint/2010/main" val="11978323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17</a:t>
            </a:fld>
            <a:endParaRPr lang="en-US"/>
          </a:p>
        </p:txBody>
      </p:sp>
      <p:sp>
        <p:nvSpPr>
          <p:cNvPr id="4" name="Rectangle 3"/>
          <p:cNvSpPr/>
          <p:nvPr/>
        </p:nvSpPr>
        <p:spPr>
          <a:xfrm>
            <a:off x="885524" y="805591"/>
            <a:ext cx="10239158" cy="846386"/>
          </a:xfrm>
          <a:prstGeom prst="rect">
            <a:avLst/>
          </a:prstGeom>
        </p:spPr>
        <p:txBody>
          <a:bodyPr wrap="square">
            <a:spAutoFit/>
          </a:bodyPr>
          <a:lstStyle/>
          <a:p>
            <a:pPr>
              <a:spcBef>
                <a:spcPts val="600"/>
              </a:spcBef>
              <a:spcAft>
                <a:spcPts val="600"/>
              </a:spcAft>
            </a:pPr>
            <a:r>
              <a:rPr lang="en-US" sz="2400" b="1" dirty="0" smtClean="0">
                <a:latin typeface="Times New Roman" panose="02020603050405020304" pitchFamily="18" charset="0"/>
                <a:cs typeface="Times New Roman" panose="02020603050405020304" pitchFamily="18" charset="0"/>
              </a:rPr>
              <a:t>Reference:</a:t>
            </a:r>
          </a:p>
          <a:p>
            <a:r>
              <a:rPr lang="en-US" sz="2000" dirty="0" smtClean="0">
                <a:latin typeface="Times New Roman" panose="02020603050405020304" pitchFamily="18" charset="0"/>
                <a:cs typeface="Times New Roman" panose="02020603050405020304" pitchFamily="18" charset="0"/>
                <a:hlinkClick r:id="rId2"/>
              </a:rPr>
              <a:t>https</a:t>
            </a:r>
            <a:r>
              <a:rPr lang="en-US" sz="2000" dirty="0">
                <a:latin typeface="Times New Roman" panose="02020603050405020304" pitchFamily="18" charset="0"/>
                <a:cs typeface="Times New Roman" panose="02020603050405020304" pitchFamily="18" charset="0"/>
                <a:hlinkClick r:id="rId2"/>
              </a:rPr>
              <a:t>://www.ecs.csun.edu/~</a:t>
            </a:r>
            <a:r>
              <a:rPr lang="en-US" sz="2000" dirty="0" smtClean="0">
                <a:latin typeface="Times New Roman" panose="02020603050405020304" pitchFamily="18" charset="0"/>
                <a:cs typeface="Times New Roman" panose="02020603050405020304" pitchFamily="18" charset="0"/>
                <a:hlinkClick r:id="rId2"/>
              </a:rPr>
              <a:t>rlingard/COMP682/use_case_template.htm</a:t>
            </a:r>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321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2F7C27-5A00-40E7-B405-23691DEF5BBA}" type="slidenum">
              <a:rPr lang="en-US" smtClean="0"/>
              <a:t>18</a:t>
            </a:fld>
            <a:endParaRPr lang="en-US"/>
          </a:p>
        </p:txBody>
      </p:sp>
      <p:sp>
        <p:nvSpPr>
          <p:cNvPr id="4" name="object 6"/>
          <p:cNvSpPr txBox="1">
            <a:spLocks/>
          </p:cNvSpPr>
          <p:nvPr/>
        </p:nvSpPr>
        <p:spPr>
          <a:xfrm>
            <a:off x="0" y="2491563"/>
            <a:ext cx="12192000" cy="842963"/>
          </a:xfrm>
          <a:prstGeom prst="rect">
            <a:avLst/>
          </a:prstGeom>
        </p:spPr>
        <p:txBody>
          <a:bodyPr tIns="12065"/>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altLang="en-US" sz="5400" b="1" dirty="0" smtClean="0">
                <a:solidFill>
                  <a:srgbClr val="002060"/>
                </a:solidFill>
                <a:latin typeface="Times New Roman" panose="02020603050405020304" pitchFamily="18" charset="0"/>
                <a:cs typeface="Times New Roman" panose="02020603050405020304" pitchFamily="18" charset="0"/>
              </a:rPr>
              <a:t>Thank You...</a:t>
            </a:r>
            <a:endParaRPr lang="en-US" altLang="en-US" sz="5400" b="1" dirty="0" smtClean="0">
              <a:latin typeface="Times New Roman" panose="02020603050405020304" pitchFamily="18" charset="0"/>
              <a:cs typeface="Times New Roman" panose="02020603050405020304" pitchFamily="18" charset="0"/>
            </a:endParaRPr>
          </a:p>
        </p:txBody>
      </p:sp>
      <p:sp>
        <p:nvSpPr>
          <p:cNvPr id="5" name="Rectangle 4"/>
          <p:cNvSpPr/>
          <p:nvPr/>
        </p:nvSpPr>
        <p:spPr>
          <a:xfrm>
            <a:off x="4089400" y="5293995"/>
            <a:ext cx="4013200" cy="923925"/>
          </a:xfrm>
          <a:prstGeom prst="rect">
            <a:avLst/>
          </a:prstGeom>
        </p:spPr>
        <p:txBody>
          <a:bodyPr wrap="none">
            <a:spAutoFit/>
          </a:bodyPr>
          <a:lstStyle/>
          <a:p>
            <a:pPr algn="ctr" eaLnBrk="1" fontAlgn="auto" hangingPunct="1">
              <a:spcBef>
                <a:spcPts val="0"/>
              </a:spcBef>
              <a:spcAft>
                <a:spcPts val="0"/>
              </a:spcAft>
              <a:defRPr/>
            </a:pPr>
            <a:r>
              <a:rPr lang="en-US" b="1" kern="0" dirty="0">
                <a:solidFill>
                  <a:srgbClr val="C00000"/>
                </a:solidFill>
                <a:latin typeface="Times New Roman" panose="02020603050405020304" pitchFamily="18" charset="0"/>
                <a:cs typeface="Times New Roman" panose="02020603050405020304" pitchFamily="18" charset="0"/>
              </a:rPr>
              <a:t>Mr. Ahsan Arif</a:t>
            </a:r>
          </a:p>
          <a:p>
            <a:pPr algn="ctr" eaLnBrk="1" fontAlgn="auto" hangingPunct="1">
              <a:spcBef>
                <a:spcPts val="0"/>
              </a:spcBef>
              <a:spcAft>
                <a:spcPts val="0"/>
              </a:spcAft>
              <a:defRPr/>
            </a:pPr>
            <a:r>
              <a:rPr lang="en-US" kern="0" dirty="0">
                <a:solidFill>
                  <a:srgbClr val="002060"/>
                </a:solidFill>
                <a:latin typeface="Times New Roman" panose="02020603050405020304" pitchFamily="18" charset="0"/>
                <a:cs typeface="Times New Roman" panose="02020603050405020304" pitchFamily="18" charset="0"/>
              </a:rPr>
              <a:t>Lecturer (Dept. of Software Engineering)</a:t>
            </a:r>
          </a:p>
          <a:p>
            <a:pPr algn="ctr" eaLnBrk="1" fontAlgn="auto" hangingPunct="1">
              <a:spcBef>
                <a:spcPts val="0"/>
              </a:spcBef>
              <a:spcAft>
                <a:spcPts val="0"/>
              </a:spcAft>
              <a:defRPr/>
            </a:pPr>
            <a:r>
              <a:rPr lang="en-US" b="1" kern="0" dirty="0">
                <a:solidFill>
                  <a:srgbClr val="002060"/>
                </a:solidFill>
                <a:latin typeface="Times New Roman" panose="02020603050405020304" pitchFamily="18" charset="0"/>
                <a:cs typeface="Times New Roman" panose="02020603050405020304" pitchFamily="18" charset="0"/>
              </a:rPr>
              <a:t> </a:t>
            </a:r>
            <a:r>
              <a:rPr lang="en-US" kern="0" dirty="0">
                <a:solidFill>
                  <a:srgbClr val="002060"/>
                </a:solidFill>
                <a:latin typeface="Times New Roman" panose="02020603050405020304" pitchFamily="18" charset="0"/>
                <a:cs typeface="Times New Roman" panose="02020603050405020304" pitchFamily="18" charset="0"/>
                <a:hlinkClick r:id="rId2"/>
              </a:rPr>
              <a:t>ahsanarif.se42@gmail.com</a:t>
            </a:r>
            <a:r>
              <a:rPr lang="en-US" kern="0" dirty="0">
                <a:solidFill>
                  <a:srgbClr val="00206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17328016"/>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891</TotalTime>
  <Words>684</Words>
  <Application>Microsoft Office PowerPoint</Application>
  <PresentationFormat>Widescreen</PresentationFormat>
  <Paragraphs>93</Paragraphs>
  <Slides>18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Courier New</vt:lpstr>
      <vt:lpstr>Gill Sans MT</vt:lpstr>
      <vt:lpstr>Times New Roman</vt:lpstr>
      <vt:lpstr>Wingdings</vt:lpstr>
      <vt:lpstr>Parcel</vt:lpstr>
      <vt:lpstr>LAB 3 SOFTWARE DESIGN AND ARCHITECTURE</vt:lpstr>
      <vt:lpstr>Use Case Description</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2: Use Case Diagram </dc:title>
  <dc:creator>HP</dc:creator>
  <cp:lastModifiedBy>HP</cp:lastModifiedBy>
  <cp:revision>242</cp:revision>
  <dcterms:created xsi:type="dcterms:W3CDTF">2024-02-20T05:16:53Z</dcterms:created>
  <dcterms:modified xsi:type="dcterms:W3CDTF">2024-02-28T05:36:21Z</dcterms:modified>
</cp:coreProperties>
</file>