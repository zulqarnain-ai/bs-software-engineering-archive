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5"/>
  </p:notesMasterIdLst>
  <p:handoutMasterIdLst>
    <p:handoutMasterId r:id="rId36"/>
  </p:handoutMasterIdLst>
  <p:sldIdLst>
    <p:sldId id="256" r:id="rId2"/>
    <p:sldId id="259" r:id="rId3"/>
    <p:sldId id="269" r:id="rId4"/>
    <p:sldId id="261" r:id="rId5"/>
    <p:sldId id="263" r:id="rId6"/>
    <p:sldId id="270" r:id="rId7"/>
    <p:sldId id="308" r:id="rId8"/>
    <p:sldId id="291" r:id="rId9"/>
    <p:sldId id="309" r:id="rId10"/>
    <p:sldId id="294" r:id="rId11"/>
    <p:sldId id="304" r:id="rId12"/>
    <p:sldId id="290" r:id="rId13"/>
    <p:sldId id="295" r:id="rId14"/>
    <p:sldId id="296" r:id="rId15"/>
    <p:sldId id="292" r:id="rId16"/>
    <p:sldId id="297" r:id="rId17"/>
    <p:sldId id="298" r:id="rId18"/>
    <p:sldId id="300" r:id="rId19"/>
    <p:sldId id="301" r:id="rId20"/>
    <p:sldId id="302" r:id="rId21"/>
    <p:sldId id="303" r:id="rId22"/>
    <p:sldId id="306" r:id="rId23"/>
    <p:sldId id="307" r:id="rId24"/>
    <p:sldId id="276" r:id="rId25"/>
    <p:sldId id="278" r:id="rId26"/>
    <p:sldId id="279" r:id="rId27"/>
    <p:sldId id="281" r:id="rId28"/>
    <p:sldId id="266" r:id="rId29"/>
    <p:sldId id="283" r:id="rId30"/>
    <p:sldId id="305" r:id="rId31"/>
    <p:sldId id="312" r:id="rId32"/>
    <p:sldId id="313" r:id="rId33"/>
    <p:sldId id="31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85" d="100"/>
          <a:sy n="85" d="100"/>
        </p:scale>
        <p:origin x="605" y="62"/>
      </p:cViewPr>
      <p:guideLst/>
    </p:cSldViewPr>
  </p:slideViewPr>
  <p:notesTextViewPr>
    <p:cViewPr>
      <p:scale>
        <a:sx n="3" d="2"/>
        <a:sy n="3" d="2"/>
      </p:scale>
      <p:origin x="0" y="0"/>
    </p:cViewPr>
  </p:notesTextViewPr>
  <p:notesViewPr>
    <p:cSldViewPr snapToGrid="0">
      <p:cViewPr varScale="1">
        <p:scale>
          <a:sx n="76" d="100"/>
          <a:sy n="76" d="100"/>
        </p:scale>
        <p:origin x="168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D2DDA-69D8-473F-A583-B6774B31A77B}" type="datetimeFigureOut">
              <a:rPr lang="en-US"/>
              <a:t>10/1/2024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92CCB-FF08-4D29-8DA3-E1FD86044808}" type="slidenum">
              <a:rPr/>
              <a:t>‹#›</a:t>
            </a:fld>
            <a:endParaRPr/>
          </a:p>
        </p:txBody>
      </p:sp>
    </p:spTree>
    <p:extLst>
      <p:ext uri="{BB962C8B-B14F-4D97-AF65-F5344CB8AC3E}">
        <p14:creationId xmlns:p14="http://schemas.microsoft.com/office/powerpoint/2010/main" val="1662153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F6DFB-6833-46E4-B515-70E0D9178056}" type="datetimeFigureOut">
              <a:rPr lang="en-US"/>
              <a:t>10/1/2024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706C7-F2C3-48B6-8A22-C484D800B5D4}" type="slidenum">
              <a:rPr/>
              <a:t>‹#›</a:t>
            </a:fld>
            <a:endParaRPr/>
          </a:p>
        </p:txBody>
      </p:sp>
    </p:spTree>
    <p:extLst>
      <p:ext uri="{BB962C8B-B14F-4D97-AF65-F5344CB8AC3E}">
        <p14:creationId xmlns:p14="http://schemas.microsoft.com/office/powerpoint/2010/main" val="59950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1BA8CFD3-27DE-449F-84DF-735B77421804}"/>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39939" name="Notes Placeholder 2">
            <a:extLst>
              <a:ext uri="{FF2B5EF4-FFF2-40B4-BE49-F238E27FC236}">
                <a16:creationId xmlns:a16="http://schemas.microsoft.com/office/drawing/2014/main" id="{9492DA80-5827-499B-9F0D-700CEC93B93B}"/>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9940" name="Slide Number Placeholder 3">
            <a:extLst>
              <a:ext uri="{FF2B5EF4-FFF2-40B4-BE49-F238E27FC236}">
                <a16:creationId xmlns:a16="http://schemas.microsoft.com/office/drawing/2014/main" id="{8C27E97F-B863-4EB1-A0A9-7384D0DCA82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alibri" panose="020F0502020204030204" pitchFamily="34" charset="0"/>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EDD8B204-D880-44E9-A1AE-41EBC8C84B1D}"/>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41987" name="Notes Placeholder 2">
            <a:extLst>
              <a:ext uri="{FF2B5EF4-FFF2-40B4-BE49-F238E27FC236}">
                <a16:creationId xmlns:a16="http://schemas.microsoft.com/office/drawing/2014/main" id="{D98CF17B-0C8F-4781-8820-6F2497DFC9F0}"/>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1988" name="Slide Number Placeholder 3">
            <a:extLst>
              <a:ext uri="{FF2B5EF4-FFF2-40B4-BE49-F238E27FC236}">
                <a16:creationId xmlns:a16="http://schemas.microsoft.com/office/drawing/2014/main" id="{151DF18D-8B08-47E0-BE09-811702D7FAC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alibri" panose="020F0502020204030204" pitchFamily="34"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9370FBD2-D87E-4572-82D5-B5A121DCC276}"/>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43011" name="Notes Placeholder 2">
            <a:extLst>
              <a:ext uri="{FF2B5EF4-FFF2-40B4-BE49-F238E27FC236}">
                <a16:creationId xmlns:a16="http://schemas.microsoft.com/office/drawing/2014/main" id="{9100CAEC-3C02-4B89-8E67-5BB4FF7B2822}"/>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3012" name="Slide Number Placeholder 3">
            <a:extLst>
              <a:ext uri="{FF2B5EF4-FFF2-40B4-BE49-F238E27FC236}">
                <a16:creationId xmlns:a16="http://schemas.microsoft.com/office/drawing/2014/main" id="{FA9DCA97-D99A-425E-B8B9-9CE66DE803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alibri" panose="020F0502020204030204" pitchFamily="34" charset="0"/>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E223D7-2A27-4B34-A31C-02090805ABAC}" type="datetime1">
              <a:rPr lang="en-US" smtClean="0"/>
              <a:t>10/1/2024</a:t>
            </a:fld>
            <a:endParaRPr lang="en-US"/>
          </a:p>
        </p:txBody>
      </p:sp>
      <p:sp>
        <p:nvSpPr>
          <p:cNvPr id="5" name="Footer Placeholder 4"/>
          <p:cNvSpPr>
            <a:spLocks noGrp="1"/>
          </p:cNvSpPr>
          <p:nvPr>
            <p:ph type="ftr" sz="quarter" idx="11"/>
          </p:nvPr>
        </p:nvSpPr>
        <p:spPr>
          <a:xfrm>
            <a:off x="2416500" y="329307"/>
            <a:ext cx="4973915" cy="309201"/>
          </a:xfrm>
        </p:spPr>
        <p:txBody>
          <a:bodyPr/>
          <a:lstStyle/>
          <a:p>
            <a:r>
              <a:rPr lang="en-US"/>
              <a:t>Add a footer</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FC749032-2A07-4AE8-BA90-74324CAE0C87}"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3777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a:solidFill>
                  <a:schemeClr val="tx1"/>
                </a:solidFill>
                <a:latin typeface="Times New Roman" panose="02020603050405020304" pitchFamily="18" charset="0"/>
                <a:cs typeface="Times New Roman" panose="02020603050405020304" pitchFamily="18" charset="0"/>
              </a:defRPr>
            </a:lvl1pPr>
          </a:lstStyle>
          <a:p>
            <a:br>
              <a:rPr lang="en-US" dirty="0"/>
            </a:br>
            <a:r>
              <a:rPr lang="en-US" dirty="0"/>
              <a:t>Click to edit Master title style</a:t>
            </a:r>
          </a:p>
        </p:txBody>
      </p:sp>
      <p:sp>
        <p:nvSpPr>
          <p:cNvPr id="3" name="Content Placeholder 2"/>
          <p:cNvSpPr>
            <a:spLocks noGrp="1"/>
          </p:cNvSpPr>
          <p:nvPr>
            <p:ph idx="1"/>
          </p:nvPr>
        </p:nvSpPr>
        <p:spPr/>
        <p:txBody>
          <a:bodyPr anchor="t"/>
          <a:lstStyle>
            <a:lvl1pPr>
              <a:defRPr>
                <a:solidFill>
                  <a:schemeClr val="tx1"/>
                </a:solidFill>
                <a:latin typeface="Times New Roman" panose="02020603050405020304" pitchFamily="18" charset="0"/>
                <a:cs typeface="Times New Roman" panose="02020603050405020304" pitchFamily="18" charset="0"/>
              </a:defRPr>
            </a:lvl1pPr>
            <a:lvl2pPr>
              <a:defRPr>
                <a:solidFill>
                  <a:schemeClr val="tx1"/>
                </a:solidFill>
                <a:latin typeface="Times New Roman" panose="02020603050405020304" pitchFamily="18" charset="0"/>
                <a:cs typeface="Times New Roman" panose="02020603050405020304" pitchFamily="18" charset="0"/>
              </a:defRPr>
            </a:lvl2pPr>
            <a:lvl3pPr>
              <a:defRPr>
                <a:solidFill>
                  <a:schemeClr val="tx1"/>
                </a:solidFill>
                <a:latin typeface="Times New Roman" panose="02020603050405020304" pitchFamily="18" charset="0"/>
                <a:cs typeface="Times New Roman" panose="02020603050405020304" pitchFamily="18" charset="0"/>
              </a:defRPr>
            </a:lvl3pPr>
            <a:lvl4pPr>
              <a:defRPr>
                <a:solidFill>
                  <a:schemeClr val="tx1"/>
                </a:solidFill>
                <a:latin typeface="Times New Roman" panose="02020603050405020304" pitchFamily="18" charset="0"/>
                <a:cs typeface="Times New Roman" panose="02020603050405020304" pitchFamily="18" charset="0"/>
              </a:defRPr>
            </a:lvl4pPr>
            <a:lvl5pPr>
              <a:defRPr>
                <a:solidFill>
                  <a:schemeClr val="tx1"/>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EFC7548-FD58-4384-A951-C87160C229EB}" type="datetime1">
              <a:rPr lang="en-US" smtClean="0"/>
              <a:t>10/1/2024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33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E13194-3577-4D3C-A927-FE879CBA54D5}" type="datetime1">
              <a:rPr lang="en-US" smtClean="0"/>
              <a:t>10/1/2024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147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9DC53B-D6DF-4D88-8598-DAA646F1ABC6}" type="datetime1">
              <a:rPr lang="en-US" smtClean="0"/>
              <a:t>10/1/2024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70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F13985-7297-49C2-8AF7-445853E5DC92}" type="datetime1">
              <a:rPr lang="en-US" smtClean="0"/>
              <a:t>10/1/2024</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FC749032-2A07-4AE8-BA90-74324CAE0C8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188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A7CB2E-E929-49CA-BA6D-3C562126F566}" type="datetime1">
              <a:rPr lang="en-US" smtClean="0"/>
              <a:t>10/1/2024</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FC749032-2A07-4AE8-BA90-74324CAE0C8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4490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27CFE0-ED18-4B5C-AA30-B675E1042721}" type="datetime1">
              <a:rPr lang="en-US" smtClean="0"/>
              <a:t>10/1/2024</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221987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3BAAB-3A39-450E-9B38-6FB42E71A3AF}" type="datetime1">
              <a:rPr lang="en-US" smtClean="0"/>
              <a:t>10/1/2024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5897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0EE0331-03F7-4310-9C27-C65B2378D791}" type="datetime1">
              <a:rPr lang="en-US" smtClean="0"/>
              <a:t>10/1/2024</a:t>
            </a:fld>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453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02F1F3-2254-4E04-B960-C1DB42B67330}" type="datetime1">
              <a:rPr lang="en-US" smtClean="0"/>
              <a:t>10/1/2024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1596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5D0DE7-A14C-48CB-AB8E-D3357522F5F2}" type="datetime1">
              <a:rPr lang="en-US" smtClean="0"/>
              <a:t>10/1/2024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7833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13C09FF-A05A-44B7-B7F9-9715502B619B}" type="datetime1">
              <a:rPr lang="en-US" smtClean="0"/>
              <a:pPr/>
              <a:t>10/1/2024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C749032-2A07-4AE8-BA90-74324CAE0C87}"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7539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www.merriam-webster.com/dictionary/social%20construct"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www.scienceofpeople.com/beauty-standards/" TargetMode="Externa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Social work</a:t>
            </a:r>
          </a:p>
        </p:txBody>
      </p:sp>
      <p:sp>
        <p:nvSpPr>
          <p:cNvPr id="7" name="Subtitle 6"/>
          <p:cNvSpPr>
            <a:spLocks noGrp="1"/>
          </p:cNvSpPr>
          <p:nvPr>
            <p:ph type="subTitle" idx="1"/>
          </p:nvPr>
        </p:nvSpPr>
        <p:spPr/>
        <p:txBody>
          <a:bodyPr>
            <a:normAutofit/>
          </a:bodyPr>
          <a:lstStyle/>
          <a:p>
            <a:pPr algn="r"/>
            <a:r>
              <a:rPr lang="en-US" sz="2000" b="1" dirty="0">
                <a:latin typeface="Times New Roman" panose="02020603050405020304" pitchFamily="18" charset="0"/>
                <a:cs typeface="Times New Roman" panose="02020603050405020304" pitchFamily="18" charset="0"/>
              </a:rPr>
              <a:t>Course instructor: Qubsha Munir</a:t>
            </a:r>
          </a:p>
        </p:txBody>
      </p:sp>
    </p:spTree>
    <p:extLst>
      <p:ext uri="{BB962C8B-B14F-4D97-AF65-F5344CB8AC3E}">
        <p14:creationId xmlns:p14="http://schemas.microsoft.com/office/powerpoint/2010/main" val="399801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mran\Imran D\My Documents\My Pictures\watch ur self.bmp">
            <a:extLst>
              <a:ext uri="{FF2B5EF4-FFF2-40B4-BE49-F238E27FC236}">
                <a16:creationId xmlns:a16="http://schemas.microsoft.com/office/drawing/2014/main" id="{23AD6985-8EE0-4747-B27D-9858EECEFB9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522417" y="2725270"/>
            <a:ext cx="153511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DA41FD7-81FC-41B5-824F-2A2EF69CE0B5}"/>
              </a:ext>
            </a:extLst>
          </p:cNvPr>
          <p:cNvSpPr>
            <a:spLocks noGrp="1"/>
          </p:cNvSpPr>
          <p:nvPr>
            <p:ph type="title"/>
          </p:nvPr>
        </p:nvSpPr>
        <p:spPr/>
        <p:txBody>
          <a:bodyPr>
            <a:noAutofit/>
          </a:bodyPr>
          <a:lstStyle/>
          <a:p>
            <a:pPr eaLnBrk="1" hangingPunct="1">
              <a:defRPr/>
            </a:pPr>
            <a:r>
              <a:rPr lang="en-US" b="1" dirty="0">
                <a:effectLst>
                  <a:outerShdw blurRad="38100" dist="38100" dir="2700000" algn="tl">
                    <a:srgbClr val="000000">
                      <a:alpha val="43137"/>
                    </a:srgbClr>
                  </a:outerShdw>
                </a:effectLst>
              </a:rPr>
              <a:t>Answer these Questions?</a:t>
            </a:r>
          </a:p>
        </p:txBody>
      </p:sp>
      <p:sp>
        <p:nvSpPr>
          <p:cNvPr id="5124" name="Content Placeholder 2">
            <a:extLst>
              <a:ext uri="{FF2B5EF4-FFF2-40B4-BE49-F238E27FC236}">
                <a16:creationId xmlns:a16="http://schemas.microsoft.com/office/drawing/2014/main" id="{FB698435-E3FF-4F7C-B240-5EED20B03478}"/>
              </a:ext>
            </a:extLst>
          </p:cNvPr>
          <p:cNvSpPr>
            <a:spLocks noGrp="1" noChangeArrowheads="1"/>
          </p:cNvSpPr>
          <p:nvPr>
            <p:ph idx="1"/>
          </p:nvPr>
        </p:nvSpPr>
        <p:spPr>
          <a:xfrm>
            <a:off x="1451579" y="2015732"/>
            <a:ext cx="9603275" cy="4037749"/>
          </a:xfrm>
        </p:spPr>
        <p:txBody>
          <a:bodyPr>
            <a:normAutofit fontScale="77500" lnSpcReduction="20000"/>
          </a:bodyPr>
          <a:lstStyle/>
          <a:p>
            <a:pPr marL="514350" indent="-514350">
              <a:buFontTx/>
              <a:buAutoNum type="arabicPeriod"/>
            </a:pPr>
            <a:r>
              <a:rPr lang="en-US" altLang="en-US" sz="2800" dirty="0"/>
              <a:t>Do you imagine any society without human sufferings?</a:t>
            </a:r>
          </a:p>
          <a:p>
            <a:pPr marL="514350" indent="-514350">
              <a:buFontTx/>
              <a:buAutoNum type="arabicPeriod"/>
            </a:pPr>
            <a:r>
              <a:rPr lang="en-US" altLang="en-US" sz="2800" dirty="0"/>
              <a:t>Do you imagine any society where all members are young and there is no old-age problem?</a:t>
            </a:r>
          </a:p>
          <a:p>
            <a:pPr marL="514350" indent="-514350">
              <a:buFontTx/>
              <a:buAutoNum type="arabicPeriod"/>
            </a:pPr>
            <a:r>
              <a:rPr lang="en-US" altLang="en-US" sz="2800" dirty="0"/>
              <a:t>All members are healthy and wealthy?</a:t>
            </a:r>
          </a:p>
          <a:p>
            <a:pPr marL="514350" indent="-514350">
              <a:buFontTx/>
              <a:buAutoNum type="arabicPeriod"/>
            </a:pPr>
            <a:r>
              <a:rPr lang="en-US" altLang="en-US" sz="2800" dirty="0"/>
              <a:t>All members have their needs satisfied?</a:t>
            </a:r>
          </a:p>
          <a:p>
            <a:pPr marL="514350" indent="-514350">
              <a:buFontTx/>
              <a:buAutoNum type="arabicPeriod"/>
            </a:pPr>
            <a:r>
              <a:rPr lang="en-US" altLang="en-US" sz="2800" dirty="0"/>
              <a:t>A society where there is no discrimination and prejudice?</a:t>
            </a:r>
          </a:p>
          <a:p>
            <a:pPr marL="514350" indent="-514350">
              <a:buFontTx/>
              <a:buAutoNum type="arabicPeriod"/>
            </a:pPr>
            <a:r>
              <a:rPr lang="en-US" altLang="en-US" sz="2800" dirty="0"/>
              <a:t>A society where there is no poverty?</a:t>
            </a:r>
          </a:p>
          <a:p>
            <a:pPr marL="514350" indent="-514350">
              <a:buFontTx/>
              <a:buAutoNum type="arabicPeriod"/>
            </a:pPr>
            <a:r>
              <a:rPr lang="en-US" altLang="en-US" sz="2800" dirty="0"/>
              <a:t>Where every body is rich?</a:t>
            </a:r>
          </a:p>
          <a:p>
            <a:pPr marL="514350" indent="-514350">
              <a:buFontTx/>
              <a:buAutoNum type="arabicPeriod"/>
            </a:pPr>
            <a:r>
              <a:rPr lang="en-US" altLang="en-US" sz="2800" dirty="0"/>
              <a:t>Where everybody is educated?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007909-D984-46EB-BA60-DA265C84D972}"/>
              </a:ext>
            </a:extLst>
          </p:cNvPr>
          <p:cNvSpPr>
            <a:spLocks noGrp="1"/>
          </p:cNvSpPr>
          <p:nvPr>
            <p:ph type="title"/>
          </p:nvPr>
        </p:nvSpPr>
        <p:spPr>
          <a:xfrm>
            <a:off x="1484556" y="3022301"/>
            <a:ext cx="9509760" cy="1233424"/>
          </a:xfrm>
        </p:spPr>
        <p:txBody>
          <a:bodyPr>
            <a:normAutofit/>
          </a:bodyPr>
          <a:lstStyle/>
          <a:p>
            <a:pPr algn="ctr"/>
            <a:br>
              <a:rPr lang="en-US" sz="4000" i="1" dirty="0">
                <a:latin typeface="Times New Roman" panose="02020603050405020304" pitchFamily="18" charset="0"/>
                <a:cs typeface="Times New Roman" panose="02020603050405020304" pitchFamily="18" charset="0"/>
              </a:rPr>
            </a:br>
            <a:r>
              <a:rPr lang="en-US" sz="4000" i="1" dirty="0">
                <a:latin typeface="Times New Roman" panose="02020603050405020304" pitchFamily="18" charset="0"/>
                <a:cs typeface="Times New Roman" panose="02020603050405020304" pitchFamily="18" charset="0"/>
              </a:rPr>
              <a:t>NO…………….</a:t>
            </a:r>
          </a:p>
        </p:txBody>
      </p:sp>
    </p:spTree>
    <p:extLst>
      <p:ext uri="{BB962C8B-B14F-4D97-AF65-F5344CB8AC3E}">
        <p14:creationId xmlns:p14="http://schemas.microsoft.com/office/powerpoint/2010/main" val="2939748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F2D7-698C-4BA5-853D-FD1815A838BD}"/>
              </a:ext>
            </a:extLst>
          </p:cNvPr>
          <p:cNvSpPr>
            <a:spLocks noGrp="1"/>
          </p:cNvSpPr>
          <p:nvPr>
            <p:ph type="title"/>
          </p:nvPr>
        </p:nvSpPr>
        <p:spPr>
          <a:xfrm>
            <a:off x="1442615" y="3099483"/>
            <a:ext cx="9603275" cy="1049235"/>
          </a:xfrm>
        </p:spPr>
        <p:txBody>
          <a:bodyPr>
            <a:normAutofit/>
          </a:bodyPr>
          <a:lstStyle/>
          <a:p>
            <a:pPr eaLnBrk="1" hangingPunct="1">
              <a:defRPr/>
            </a:pPr>
            <a:r>
              <a:rPr lang="en-US" b="1" dirty="0">
                <a:effectLst>
                  <a:outerShdw blurRad="38100" dist="38100" dir="2700000" algn="tl">
                    <a:srgbClr val="000000">
                      <a:alpha val="43137"/>
                    </a:srgbClr>
                  </a:outerShdw>
                </a:effectLst>
              </a:rPr>
              <a:t>Because,</a:t>
            </a: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 Human Societies are not Perfect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AB5F-4033-4E3F-93E6-3E59C189ECD1}"/>
              </a:ext>
            </a:extLst>
          </p:cNvPr>
          <p:cNvSpPr>
            <a:spLocks noGrp="1"/>
          </p:cNvSpPr>
          <p:nvPr>
            <p:ph type="title"/>
          </p:nvPr>
        </p:nvSpPr>
        <p:spPr/>
        <p:txBody>
          <a:bodyPr>
            <a:normAutofit/>
          </a:bodyPr>
          <a:lstStyle/>
          <a:p>
            <a:pPr eaLnBrk="1" hangingPunct="1">
              <a:defRPr/>
            </a:pPr>
            <a:br>
              <a:rPr lang="en-US" b="1" dirty="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Now Answer these Questions?</a:t>
            </a:r>
          </a:p>
        </p:txBody>
      </p:sp>
      <p:sp>
        <p:nvSpPr>
          <p:cNvPr id="8196" name="Content Placeholder 2">
            <a:extLst>
              <a:ext uri="{FF2B5EF4-FFF2-40B4-BE49-F238E27FC236}">
                <a16:creationId xmlns:a16="http://schemas.microsoft.com/office/drawing/2014/main" id="{6E5B2087-341B-42D2-86F7-C0C123DB1759}"/>
              </a:ext>
            </a:extLst>
          </p:cNvPr>
          <p:cNvSpPr>
            <a:spLocks noGrp="1" noChangeArrowheads="1"/>
          </p:cNvSpPr>
          <p:nvPr>
            <p:ph idx="1"/>
          </p:nvPr>
        </p:nvSpPr>
        <p:spPr/>
        <p:txBody>
          <a:bodyPr>
            <a:normAutofit fontScale="77500" lnSpcReduction="20000"/>
          </a:bodyPr>
          <a:lstStyle/>
          <a:p>
            <a:pPr marL="514350" indent="-514350">
              <a:buFontTx/>
              <a:buAutoNum type="arabicPeriod"/>
            </a:pPr>
            <a:r>
              <a:rPr lang="en-US" altLang="en-US" sz="3000" dirty="0"/>
              <a:t>Are you offended when you see poor picking their food from garbage?</a:t>
            </a:r>
          </a:p>
          <a:p>
            <a:pPr marL="514350" indent="-514350">
              <a:buFontTx/>
              <a:buAutoNum type="arabicPeriod"/>
            </a:pPr>
            <a:r>
              <a:rPr lang="en-US" altLang="en-US" sz="3000" dirty="0"/>
              <a:t>When you see poor fighting over a bag of floor or rice? </a:t>
            </a:r>
          </a:p>
          <a:p>
            <a:pPr marL="514350" indent="-514350">
              <a:buFontTx/>
              <a:buAutoNum type="arabicPeriod"/>
            </a:pPr>
            <a:r>
              <a:rPr lang="en-US" altLang="en-US" sz="3000" dirty="0"/>
              <a:t>When you see illness and disease go untreated because health care is not affordable and efficient?</a:t>
            </a:r>
          </a:p>
          <a:p>
            <a:pPr marL="514350" indent="-514350">
              <a:buFontTx/>
              <a:buAutoNum type="arabicPeriod"/>
            </a:pPr>
            <a:r>
              <a:rPr lang="en-US" altLang="en-US" sz="3000" dirty="0"/>
              <a:t>When you see children addicted to drugs?</a:t>
            </a:r>
          </a:p>
          <a:p>
            <a:pPr marL="514350" indent="-514350">
              <a:buFontTx/>
              <a:buAutoNum type="arabicPeriod"/>
            </a:pPr>
            <a:r>
              <a:rPr lang="en-US" altLang="en-US" sz="3000" dirty="0"/>
              <a:t>When children beg in the streets,?</a:t>
            </a:r>
          </a:p>
          <a:p>
            <a:pPr marL="514350" indent="-514350">
              <a:buFontTx/>
              <a:buAutoNum type="arabicPeriod"/>
            </a:pPr>
            <a:r>
              <a:rPr lang="en-US" altLang="en-US" sz="3000" dirty="0"/>
              <a:t>When the deserving candidates do not get job? </a:t>
            </a:r>
          </a:p>
        </p:txBody>
      </p:sp>
      <p:pic>
        <p:nvPicPr>
          <p:cNvPr id="8198" name="Picture 2" descr="D:\Imran\Imran D\My Documents\My Pictures\watch ur self.bmp">
            <a:extLst>
              <a:ext uri="{FF2B5EF4-FFF2-40B4-BE49-F238E27FC236}">
                <a16:creationId xmlns:a16="http://schemas.microsoft.com/office/drawing/2014/main" id="{3EA50CE5-C9C6-49B1-A9E9-3F8B2B48785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41193" y="105943"/>
            <a:ext cx="153511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B50C9-70D5-456F-A463-52370D7AA6E1}"/>
              </a:ext>
            </a:extLst>
          </p:cNvPr>
          <p:cNvSpPr>
            <a:spLocks noGrp="1"/>
          </p:cNvSpPr>
          <p:nvPr>
            <p:ph type="title"/>
          </p:nvPr>
        </p:nvSpPr>
        <p:spPr/>
        <p:txBody>
          <a:bodyPr>
            <a:normAutofit fontScale="90000"/>
          </a:bodyPr>
          <a:lstStyle/>
          <a:p>
            <a:pPr marL="514350" marR="0" lvl="0" indent="-514350" algn="ctr" defTabSz="914400" rtl="0" eaLnBrk="1" fontAlgn="base" latinLnBrk="0" hangingPunct="1">
              <a:lnSpc>
                <a:spcPct val="100000"/>
              </a:lnSpc>
              <a:spcBef>
                <a:spcPct val="20000"/>
              </a:spcBef>
              <a:spcAft>
                <a:spcPct val="0"/>
              </a:spcAft>
              <a:tabLst/>
              <a:defRPr/>
            </a:pPr>
            <a:r>
              <a:rPr kumimoji="0" lang="en-US" sz="3200" b="0" i="0" u="none" strike="noStrike" kern="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a:t>
            </a:r>
            <a:r>
              <a:rPr kumimoji="0" lang="en-US" sz="3200" b="1" i="0" u="none" strike="noStrike" kern="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Do you want to be involved in shaping a society that strives to ensure a </a:t>
            </a:r>
            <a:r>
              <a:rPr kumimoji="0" lang="en-US" sz="3200" b="1" i="1" u="sng" strike="noStrike" kern="0" cap="none" spc="0" normalizeH="0" baseline="0" noProof="0" dirty="0">
                <a:ln>
                  <a:noFill/>
                </a:ln>
                <a:solidFill>
                  <a:srgbClr val="333333"/>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high quality of life </a:t>
            </a:r>
            <a:r>
              <a:rPr kumimoji="0" lang="en-US" sz="3200" b="1" i="0" u="none" strike="noStrike" kern="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and </a:t>
            </a:r>
            <a:r>
              <a:rPr kumimoji="0" lang="en-US" sz="3200" b="1" i="1" u="sng" strike="noStrike" kern="0" cap="none" spc="0" normalizeH="0" baseline="0" noProof="0" dirty="0">
                <a:ln>
                  <a:noFill/>
                </a:ln>
                <a:solidFill>
                  <a:srgbClr val="333333"/>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social justice</a:t>
            </a:r>
            <a:r>
              <a:rPr kumimoji="0" lang="en-US" sz="3200" b="1" i="0" u="none" strike="noStrike" kern="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for all social members? </a:t>
            </a:r>
            <a:br>
              <a:rPr kumimoji="0" lang="en-US" sz="3200" b="0" i="0" u="none" strike="noStrike" kern="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26B91845-EE27-4E08-9444-26E3E54288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7607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416A80-7EC6-42D9-805F-A275C54AB8B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Definition</a:t>
            </a:r>
          </a:p>
        </p:txBody>
      </p:sp>
      <p:sp>
        <p:nvSpPr>
          <p:cNvPr id="5" name="Text Placeholder 4">
            <a:extLst>
              <a:ext uri="{FF2B5EF4-FFF2-40B4-BE49-F238E27FC236}">
                <a16:creationId xmlns:a16="http://schemas.microsoft.com/office/drawing/2014/main" id="{DF46543E-61CE-432A-95E4-D8A453C7BC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8976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1FCF7-9CAC-4717-9BAA-C1075CE6DE4A}"/>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Social Service is a profession concerned with resolving physio-social problems that exist in a person. </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Definition on Google</a:t>
            </a:r>
            <a:r>
              <a:rPr lang="en-US" dirty="0">
                <a:latin typeface="Times New Roman" panose="02020603050405020304" pitchFamily="18" charset="0"/>
                <a:cs typeface="Times New Roman" panose="02020603050405020304" pitchFamily="18" charset="0"/>
              </a:rPr>
              <a:t>: Work done by professionals to benefit those people in a community suffering from social deprivation. </a:t>
            </a:r>
          </a:p>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Scientific Definition</a:t>
            </a:r>
            <a:r>
              <a:rPr lang="en-US" dirty="0">
                <a:latin typeface="Times New Roman" panose="02020603050405020304" pitchFamily="18" charset="0"/>
                <a:cs typeface="Times New Roman" panose="02020603050405020304" pitchFamily="18" charset="0"/>
              </a:rPr>
              <a:t>: Social Work is a scientific process for helping those in need, those suffering from diseases, material deficiency, disability, and mental disorders. </a:t>
            </a:r>
          </a:p>
        </p:txBody>
      </p:sp>
      <p:pic>
        <p:nvPicPr>
          <p:cNvPr id="4" name="Picture 3">
            <a:extLst>
              <a:ext uri="{FF2B5EF4-FFF2-40B4-BE49-F238E27FC236}">
                <a16:creationId xmlns:a16="http://schemas.microsoft.com/office/drawing/2014/main" id="{2E2380A0-5C5C-49E1-A550-210FF79EE536}"/>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l="53835"/>
          <a:stretch>
            <a:fillRect/>
          </a:stretch>
        </p:blipFill>
        <p:spPr bwMode="auto">
          <a:xfrm>
            <a:off x="4555006" y="430305"/>
            <a:ext cx="2016125" cy="124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679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3D41C19-3E97-4317-ADDA-02E13F3188DB}"/>
              </a:ext>
            </a:extLst>
          </p:cNvPr>
          <p:cNvSpPr>
            <a:spLocks noGrp="1"/>
          </p:cNvSpPr>
          <p:nvPr>
            <p:ph type="title"/>
          </p:nvPr>
        </p:nvSpPr>
        <p:spPr/>
        <p:txBody>
          <a:bodyPr>
            <a:normAutofit fontScale="90000"/>
          </a:bodyPr>
          <a:lstStyle/>
          <a:p>
            <a:r>
              <a:rPr lang="en-US" sz="3600" b="1" dirty="0"/>
              <a:t>Difference between sociology and social work </a:t>
            </a:r>
          </a:p>
        </p:txBody>
      </p:sp>
      <p:sp>
        <p:nvSpPr>
          <p:cNvPr id="8" name="Content Placeholder 7">
            <a:extLst>
              <a:ext uri="{FF2B5EF4-FFF2-40B4-BE49-F238E27FC236}">
                <a16:creationId xmlns:a16="http://schemas.microsoft.com/office/drawing/2014/main" id="{6979E5F1-169C-4CB1-B5C8-0441F16390E3}"/>
              </a:ext>
            </a:extLst>
          </p:cNvPr>
          <p:cNvSpPr>
            <a:spLocks noGrp="1"/>
          </p:cNvSpPr>
          <p:nvPr>
            <p:ph idx="1"/>
          </p:nvPr>
        </p:nvSpPr>
        <p:spPr/>
        <p:txBody>
          <a:bodyPr/>
          <a:lstStyle/>
          <a:p>
            <a:endParaRPr lang="en-US"/>
          </a:p>
        </p:txBody>
      </p:sp>
      <p:pic>
        <p:nvPicPr>
          <p:cNvPr id="1026" name="Picture 2" descr="Sociology vs. Social Work: What Degree Is Better for You?">
            <a:extLst>
              <a:ext uri="{FF2B5EF4-FFF2-40B4-BE49-F238E27FC236}">
                <a16:creationId xmlns:a16="http://schemas.microsoft.com/office/drawing/2014/main" id="{AE519AFF-CB6B-488C-9707-57991FC01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579" y="2015731"/>
            <a:ext cx="9603275" cy="345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82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E21D-A2E3-4359-92FC-42EB9253D9F5}"/>
              </a:ext>
            </a:extLst>
          </p:cNvPr>
          <p:cNvSpPr>
            <a:spLocks noGrp="1"/>
          </p:cNvSpPr>
          <p:nvPr>
            <p:ph type="title"/>
          </p:nvPr>
        </p:nvSpPr>
        <p:spPr/>
        <p:txBody>
          <a:bodyPr/>
          <a:lstStyle/>
          <a:p>
            <a:br>
              <a:rPr lang="en-US" b="1" dirty="0"/>
            </a:br>
            <a:r>
              <a:rPr lang="en-US" b="1" dirty="0"/>
              <a:t>About the Profession</a:t>
            </a:r>
          </a:p>
        </p:txBody>
      </p:sp>
      <p:pic>
        <p:nvPicPr>
          <p:cNvPr id="5" name="Picture 4">
            <a:extLst>
              <a:ext uri="{FF2B5EF4-FFF2-40B4-BE49-F238E27FC236}">
                <a16:creationId xmlns:a16="http://schemas.microsoft.com/office/drawing/2014/main" id="{CDB24449-C2F1-4F96-AB9B-BA35E09A21AC}"/>
              </a:ext>
            </a:extLst>
          </p:cNvPr>
          <p:cNvPicPr>
            <a:picLocks noChangeAspect="1"/>
          </p:cNvPicPr>
          <p:nvPr/>
        </p:nvPicPr>
        <p:blipFill>
          <a:blip r:embed="rId2"/>
          <a:stretch>
            <a:fillRect/>
          </a:stretch>
        </p:blipFill>
        <p:spPr>
          <a:xfrm>
            <a:off x="1451579" y="1936377"/>
            <a:ext cx="9603275" cy="4009528"/>
          </a:xfrm>
          <a:prstGeom prst="rect">
            <a:avLst/>
          </a:prstGeom>
        </p:spPr>
      </p:pic>
    </p:spTree>
    <p:extLst>
      <p:ext uri="{BB962C8B-B14F-4D97-AF65-F5344CB8AC3E}">
        <p14:creationId xmlns:p14="http://schemas.microsoft.com/office/powerpoint/2010/main" val="30886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FE1D-FFE5-4245-9D75-329895662695}"/>
              </a:ext>
            </a:extLst>
          </p:cNvPr>
          <p:cNvSpPr>
            <a:spLocks noGrp="1"/>
          </p:cNvSpPr>
          <p:nvPr>
            <p:ph type="title"/>
          </p:nvPr>
        </p:nvSpPr>
        <p:spPr/>
        <p:txBody>
          <a:bodyPr/>
          <a:lstStyle/>
          <a:p>
            <a:endParaRPr lang="en-US"/>
          </a:p>
        </p:txBody>
      </p:sp>
      <p:pic>
        <p:nvPicPr>
          <p:cNvPr id="4" name="Content Placeholder 3" descr="Screen Clipping">
            <a:extLst>
              <a:ext uri="{FF2B5EF4-FFF2-40B4-BE49-F238E27FC236}">
                <a16:creationId xmlns:a16="http://schemas.microsoft.com/office/drawing/2014/main" id="{347A5D3A-5883-4646-AA1D-51A70BF57739}"/>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1550894" y="2128732"/>
            <a:ext cx="9503960" cy="3770043"/>
          </a:xfrm>
          <a:prstGeom prst="rect">
            <a:avLst/>
          </a:prstGeom>
        </p:spPr>
      </p:pic>
    </p:spTree>
    <p:extLst>
      <p:ext uri="{BB962C8B-B14F-4D97-AF65-F5344CB8AC3E}">
        <p14:creationId xmlns:p14="http://schemas.microsoft.com/office/powerpoint/2010/main" val="257689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DF7CC2-5C00-41DA-A076-5093BD75CED9}"/>
              </a:ext>
            </a:extLst>
          </p:cNvPr>
          <p:cNvSpPr>
            <a:spLocks noGrp="1"/>
          </p:cNvSpPr>
          <p:nvPr>
            <p:ph type="ctrTitle"/>
          </p:nvPr>
        </p:nvSpPr>
        <p:spPr>
          <a:xfrm>
            <a:off x="1954307" y="887569"/>
            <a:ext cx="9710146" cy="2541431"/>
          </a:xfrm>
        </p:spPr>
        <p:txBody>
          <a:bodyPr>
            <a:normAutofit/>
          </a:bodyPr>
          <a:lstStyle/>
          <a:p>
            <a:r>
              <a:rPr lang="en-US" sz="5400" b="1" dirty="0">
                <a:latin typeface="Times New Roman" panose="02020603050405020304" pitchFamily="18" charset="0"/>
                <a:cs typeface="Times New Roman" panose="02020603050405020304" pitchFamily="18" charset="0"/>
              </a:rPr>
              <a:t>History of Social work</a:t>
            </a:r>
          </a:p>
        </p:txBody>
      </p:sp>
    </p:spTree>
    <p:extLst>
      <p:ext uri="{BB962C8B-B14F-4D97-AF65-F5344CB8AC3E}">
        <p14:creationId xmlns:p14="http://schemas.microsoft.com/office/powerpoint/2010/main" val="212814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85BE0A-5581-4331-B900-401AE51EE6BF}"/>
              </a:ext>
            </a:extLst>
          </p:cNvPr>
          <p:cNvPicPr>
            <a:picLocks noGrp="1" noChangeAspect="1"/>
          </p:cNvPicPr>
          <p:nvPr>
            <p:ph idx="1"/>
          </p:nvPr>
        </p:nvPicPr>
        <p:blipFill>
          <a:blip r:embed="rId2"/>
          <a:stretch>
            <a:fillRect/>
          </a:stretch>
        </p:blipFill>
        <p:spPr>
          <a:xfrm>
            <a:off x="1460543" y="931395"/>
            <a:ext cx="9603275" cy="4467663"/>
          </a:xfrm>
        </p:spPr>
      </p:pic>
    </p:spTree>
    <p:extLst>
      <p:ext uri="{BB962C8B-B14F-4D97-AF65-F5344CB8AC3E}">
        <p14:creationId xmlns:p14="http://schemas.microsoft.com/office/powerpoint/2010/main" val="6301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C496-7ADF-439A-A1CE-FC38C4CE183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2C3712D-FC70-44EE-AAB3-4A1D679DFF17}"/>
              </a:ext>
            </a:extLst>
          </p:cNvPr>
          <p:cNvPicPr>
            <a:picLocks noGrp="1" noChangeAspect="1"/>
          </p:cNvPicPr>
          <p:nvPr>
            <p:ph idx="1"/>
          </p:nvPr>
        </p:nvPicPr>
        <p:blipFill rotWithShape="1">
          <a:blip r:embed="rId2"/>
          <a:srcRect b="13249"/>
          <a:stretch/>
        </p:blipFill>
        <p:spPr>
          <a:xfrm>
            <a:off x="1375026" y="652119"/>
            <a:ext cx="9812927" cy="5049434"/>
          </a:xfrm>
        </p:spPr>
      </p:pic>
    </p:spTree>
    <p:extLst>
      <p:ext uri="{BB962C8B-B14F-4D97-AF65-F5344CB8AC3E}">
        <p14:creationId xmlns:p14="http://schemas.microsoft.com/office/powerpoint/2010/main" val="352553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CE28F-3C55-4B91-93DB-C3EC980260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396199-A75E-4A9D-B115-833CDB6770F7}"/>
              </a:ext>
            </a:extLst>
          </p:cNvPr>
          <p:cNvSpPr>
            <a:spLocks noGrp="1"/>
          </p:cNvSpPr>
          <p:nvPr>
            <p:ph idx="1"/>
          </p:nvPr>
        </p:nvSpPr>
        <p:spPr>
          <a:xfrm>
            <a:off x="1451579" y="2015732"/>
            <a:ext cx="9603275" cy="3945797"/>
          </a:xfrm>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During the 17th century, the Elizabethan Poor Law of 1601 was implemented.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main purpose of the poor law was to </a:t>
            </a:r>
            <a:r>
              <a:rPr lang="en-US" b="1" i="1" dirty="0">
                <a:latin typeface="Times New Roman" panose="02020603050405020304" pitchFamily="18" charset="0"/>
                <a:cs typeface="Times New Roman" panose="02020603050405020304" pitchFamily="18" charset="0"/>
              </a:rPr>
              <a:t>provide work for the poor people</a:t>
            </a:r>
            <a:r>
              <a:rPr lang="en-US" dirty="0">
                <a:latin typeface="Times New Roman" panose="02020603050405020304" pitchFamily="18" charset="0"/>
                <a:cs typeface="Times New Roman" panose="02020603050405020304" pitchFamily="18" charset="0"/>
              </a:rPr>
              <a:t>.</a:t>
            </a:r>
          </a:p>
        </p:txBody>
      </p:sp>
      <p:pic>
        <p:nvPicPr>
          <p:cNvPr id="1026" name="Picture 2" descr="1601 Elizabethan Poor Law Enacted - Waterloo County House of Industry and  Refuge">
            <a:extLst>
              <a:ext uri="{FF2B5EF4-FFF2-40B4-BE49-F238E27FC236}">
                <a16:creationId xmlns:a16="http://schemas.microsoft.com/office/drawing/2014/main" id="{E63C744A-6BFF-4ADF-ACE9-E8B68F422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847" y="3036794"/>
            <a:ext cx="32004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7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2460-E864-4F5C-BC39-A3E5D3EE04AE}"/>
              </a:ext>
            </a:extLst>
          </p:cNvPr>
          <p:cNvSpPr>
            <a:spLocks noGrp="1"/>
          </p:cNvSpPr>
          <p:nvPr>
            <p:ph type="title"/>
          </p:nvPr>
        </p:nvSpPr>
        <p:spPr/>
        <p:txBody>
          <a:bodyPr/>
          <a:lstStyle/>
          <a:p>
            <a:pPr algn="ctr"/>
            <a:r>
              <a:rPr lang="en-US" b="1" dirty="0"/>
              <a:t>Jane </a:t>
            </a:r>
            <a:r>
              <a:rPr lang="en-US" b="1" dirty="0" err="1"/>
              <a:t>ADDAms</a:t>
            </a:r>
            <a:r>
              <a:rPr lang="en-US" b="1" dirty="0"/>
              <a:t>, Mother of social work</a:t>
            </a:r>
          </a:p>
        </p:txBody>
      </p:sp>
      <p:pic>
        <p:nvPicPr>
          <p:cNvPr id="9" name="Picture 8">
            <a:extLst>
              <a:ext uri="{FF2B5EF4-FFF2-40B4-BE49-F238E27FC236}">
                <a16:creationId xmlns:a16="http://schemas.microsoft.com/office/drawing/2014/main" id="{46DE88B2-F2DD-4AC7-AF90-8978006DA48E}"/>
              </a:ext>
            </a:extLst>
          </p:cNvPr>
          <p:cNvPicPr>
            <a:picLocks noChangeAspect="1"/>
          </p:cNvPicPr>
          <p:nvPr/>
        </p:nvPicPr>
        <p:blipFill>
          <a:blip r:embed="rId2"/>
          <a:stretch>
            <a:fillRect/>
          </a:stretch>
        </p:blipFill>
        <p:spPr>
          <a:xfrm>
            <a:off x="4446495" y="2057816"/>
            <a:ext cx="3110754" cy="3309917"/>
          </a:xfrm>
          <a:prstGeom prst="rect">
            <a:avLst/>
          </a:prstGeom>
        </p:spPr>
      </p:pic>
    </p:spTree>
    <p:extLst>
      <p:ext uri="{BB962C8B-B14F-4D97-AF65-F5344CB8AC3E}">
        <p14:creationId xmlns:p14="http://schemas.microsoft.com/office/powerpoint/2010/main" val="345657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E12D7-2EA7-4AD0-9598-213AB854AB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949C3A-787B-4EA1-B531-2191EDBCAE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F0A704D-E7B3-4575-9017-D4A238918AB2}"/>
              </a:ext>
            </a:extLst>
          </p:cNvPr>
          <p:cNvPicPr>
            <a:picLocks noChangeAspect="1"/>
          </p:cNvPicPr>
          <p:nvPr/>
        </p:nvPicPr>
        <p:blipFill>
          <a:blip r:embed="rId2"/>
          <a:stretch>
            <a:fillRect/>
          </a:stretch>
        </p:blipFill>
        <p:spPr>
          <a:xfrm>
            <a:off x="1451579" y="708212"/>
            <a:ext cx="9682586" cy="5182261"/>
          </a:xfrm>
          <a:prstGeom prst="rect">
            <a:avLst/>
          </a:prstGeom>
        </p:spPr>
      </p:pic>
    </p:spTree>
    <p:extLst>
      <p:ext uri="{BB962C8B-B14F-4D97-AF65-F5344CB8AC3E}">
        <p14:creationId xmlns:p14="http://schemas.microsoft.com/office/powerpoint/2010/main" val="372220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45B046-9843-4D42-92B9-31BAE8B79C41}"/>
              </a:ext>
            </a:extLst>
          </p:cNvPr>
          <p:cNvSpPr>
            <a:spLocks noGrp="1"/>
          </p:cNvSpPr>
          <p:nvPr>
            <p:ph type="title"/>
          </p:nvPr>
        </p:nvSpPr>
        <p:spPr/>
        <p:txBody>
          <a:bodyPr/>
          <a:lstStyle/>
          <a:p>
            <a:endParaRPr lang="en-US"/>
          </a:p>
        </p:txBody>
      </p:sp>
      <p:pic>
        <p:nvPicPr>
          <p:cNvPr id="2050" name="Picture 2" descr="Raja Ram Mohan Roy: 'The apostle of a religious revival' | Who Is News -  The Indian Express">
            <a:extLst>
              <a:ext uri="{FF2B5EF4-FFF2-40B4-BE49-F238E27FC236}">
                <a16:creationId xmlns:a16="http://schemas.microsoft.com/office/drawing/2014/main" id="{E31F36F6-4B1B-4553-9A19-87EE810CECB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798637" y="2640013"/>
            <a:ext cx="3943350" cy="219075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F1BF62F1-7B1D-46BF-9418-3F6B284E18DA}"/>
              </a:ext>
            </a:extLst>
          </p:cNvPr>
          <p:cNvSpPr>
            <a:spLocks noGrp="1"/>
          </p:cNvSpPr>
          <p:nvPr>
            <p:ph sz="half" idx="2"/>
          </p:nvPr>
        </p:nvSpPr>
        <p:spPr/>
        <p:txBody>
          <a:bodyPr/>
          <a:lstStyle/>
          <a:p>
            <a:pPr algn="just">
              <a:buFont typeface="Wingdings" panose="05000000000000000000" pitchFamily="2" charset="2"/>
              <a:buChar char="Ø"/>
            </a:pPr>
            <a:r>
              <a:rPr lang="en-US" b="0" i="0" dirty="0">
                <a:solidFill>
                  <a:srgbClr val="474747"/>
                </a:solidFill>
                <a:effectLst/>
                <a:latin typeface="Times New Roman" panose="02020603050405020304" pitchFamily="18" charset="0"/>
                <a:cs typeface="Times New Roman" panose="02020603050405020304" pitchFamily="18" charset="0"/>
              </a:rPr>
              <a:t>Raja Ram Mohan Roy </a:t>
            </a:r>
            <a:r>
              <a:rPr lang="en-US" b="0" i="0" dirty="0">
                <a:solidFill>
                  <a:srgbClr val="040C28"/>
                </a:solidFill>
                <a:effectLst/>
                <a:latin typeface="Times New Roman" panose="02020603050405020304" pitchFamily="18" charset="0"/>
                <a:cs typeface="Times New Roman" panose="02020603050405020304" pitchFamily="18" charset="0"/>
              </a:rPr>
              <a:t>campaigned against the caste system, </a:t>
            </a:r>
            <a:r>
              <a:rPr lang="en-US" b="0" i="0" dirty="0">
                <a:solidFill>
                  <a:srgbClr val="474747"/>
                </a:solidFill>
                <a:effectLst/>
                <a:latin typeface="Times New Roman" panose="02020603050405020304" pitchFamily="18" charset="0"/>
                <a:cs typeface="Times New Roman" panose="02020603050405020304" pitchFamily="18" charset="0"/>
              </a:rPr>
              <a:t>child marriage, polygamy, </a:t>
            </a:r>
            <a:r>
              <a:rPr lang="en-US" b="0" i="0" dirty="0" err="1">
                <a:solidFill>
                  <a:srgbClr val="474747"/>
                </a:solidFill>
                <a:effectLst/>
                <a:latin typeface="Times New Roman" panose="02020603050405020304" pitchFamily="18" charset="0"/>
                <a:cs typeface="Times New Roman" panose="02020603050405020304" pitchFamily="18" charset="0"/>
              </a:rPr>
              <a:t>satti</a:t>
            </a:r>
            <a:r>
              <a:rPr lang="en-US" b="0" i="0" dirty="0">
                <a:solidFill>
                  <a:srgbClr val="474747"/>
                </a:solidFill>
                <a:effectLst/>
                <a:latin typeface="Times New Roman" panose="02020603050405020304" pitchFamily="18" charset="0"/>
                <a:cs typeface="Times New Roman" panose="02020603050405020304" pitchFamily="18" charset="0"/>
              </a:rPr>
              <a:t>, illiteracy of women and the degraded state of widows. He supported widow’s remarriage.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3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348EFE-214E-43D8-A030-DE197FE91A82}"/>
              </a:ext>
            </a:extLst>
          </p:cNvPr>
          <p:cNvSpPr>
            <a:spLocks noGrp="1"/>
          </p:cNvSpPr>
          <p:nvPr>
            <p:ph type="title"/>
          </p:nvPr>
        </p:nvSpPr>
        <p:spPr/>
        <p:txBody>
          <a:bodyPr/>
          <a:lstStyle/>
          <a:p>
            <a:endParaRPr lang="en-US"/>
          </a:p>
        </p:txBody>
      </p:sp>
      <p:pic>
        <p:nvPicPr>
          <p:cNvPr id="4" name="Picture 4" descr="Greatest of 19th century liberals to whom a Brahmin, a Sudra, a Muslim were  all alike">
            <a:extLst>
              <a:ext uri="{FF2B5EF4-FFF2-40B4-BE49-F238E27FC236}">
                <a16:creationId xmlns:a16="http://schemas.microsoft.com/office/drawing/2014/main" id="{DCE15D4B-7F3B-422B-876D-15F4FD213AF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471612" y="2011363"/>
            <a:ext cx="4597400" cy="344805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295F4EE-318A-44C7-88A7-EE52E7809540}"/>
              </a:ext>
            </a:extLst>
          </p:cNvPr>
          <p:cNvSpPr>
            <a:spLocks noGrp="1"/>
          </p:cNvSpPr>
          <p:nvPr>
            <p:ph sz="half" idx="2"/>
          </p:nvPr>
        </p:nvSpPr>
        <p:spPr/>
        <p:txBody>
          <a:bodyPr/>
          <a:lstStyle/>
          <a:p>
            <a:pPr algn="just">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He was the most prominent campaigner for Hindu widow remarriage</a:t>
            </a:r>
            <a:r>
              <a:rPr lang="en-US" dirty="0">
                <a:latin typeface="Times New Roman" panose="02020603050405020304" pitchFamily="18" charset="0"/>
                <a:cs typeface="Times New Roman" panose="02020603050405020304" pitchFamily="18" charset="0"/>
              </a:rPr>
              <a:t> and </a:t>
            </a:r>
            <a:r>
              <a:rPr lang="en-US" b="0" i="0" dirty="0">
                <a:effectLst/>
                <a:latin typeface="Times New Roman" panose="02020603050405020304" pitchFamily="18" charset="0"/>
                <a:cs typeface="Times New Roman" panose="02020603050405020304" pitchFamily="18" charset="0"/>
              </a:rPr>
              <a:t>girls education in Indian society. It is due to his efforts that the Hindu Widow Remarriage Act of 1856 was enacted.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3492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F873-71D0-4816-8374-589C69F8CEE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95A51010-C9C4-4CFE-843A-2A57AD041D86}"/>
              </a:ext>
            </a:extLst>
          </p:cNvPr>
          <p:cNvSpPr>
            <a:spLocks noGrp="1"/>
          </p:cNvSpPr>
          <p:nvPr>
            <p:ph sz="half" idx="2"/>
          </p:nvPr>
        </p:nvSpPr>
        <p:spPr/>
        <p:txBody>
          <a:bodyPr/>
          <a:lstStyle/>
          <a:p>
            <a:pPr algn="just">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Gopal </a:t>
            </a:r>
            <a:r>
              <a:rPr lang="en-US" cap="none" dirty="0" err="1">
                <a:latin typeface="Times New Roman" panose="02020603050405020304" pitchFamily="18" charset="0"/>
                <a:cs typeface="Times New Roman" panose="02020603050405020304" pitchFamily="18" charset="0"/>
              </a:rPr>
              <a:t>hari</a:t>
            </a:r>
            <a:r>
              <a:rPr lang="en-US" cap="none" dirty="0">
                <a:latin typeface="Times New Roman" panose="02020603050405020304" pitchFamily="18" charset="0"/>
                <a:cs typeface="Times New Roman" panose="02020603050405020304" pitchFamily="18" charset="0"/>
              </a:rPr>
              <a:t> </a:t>
            </a:r>
            <a:r>
              <a:rPr lang="en-US" cap="none" dirty="0" err="1">
                <a:latin typeface="Times New Roman" panose="02020603050405020304" pitchFamily="18" charset="0"/>
                <a:cs typeface="Times New Roman" panose="02020603050405020304" pitchFamily="18" charset="0"/>
              </a:rPr>
              <a:t>deshmukh</a:t>
            </a:r>
            <a:r>
              <a:rPr lang="en-US" cap="none" dirty="0">
                <a:latin typeface="Times New Roman" panose="02020603050405020304" pitchFamily="18" charset="0"/>
                <a:cs typeface="Times New Roman" panose="02020603050405020304" pitchFamily="18" charset="0"/>
              </a:rPr>
              <a:t> promoted the establishment of dispensaries, maternity homes and orphanages.</a:t>
            </a:r>
            <a:endParaRPr lang="en-US" dirty="0"/>
          </a:p>
        </p:txBody>
      </p:sp>
      <p:pic>
        <p:nvPicPr>
          <p:cNvPr id="3074" name="Picture 2" descr="Gopal Hari Desmukh">
            <a:extLst>
              <a:ext uri="{FF2B5EF4-FFF2-40B4-BE49-F238E27FC236}">
                <a16:creationId xmlns:a16="http://schemas.microsoft.com/office/drawing/2014/main" id="{93181283-25EB-4DF7-989B-D07E3D75A3C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972236" y="2190749"/>
            <a:ext cx="3191435" cy="3268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511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2A72F-9EF1-4258-A436-31C400ED7C6F}"/>
              </a:ext>
            </a:extLst>
          </p:cNvPr>
          <p:cNvSpPr>
            <a:spLocks noGrp="1"/>
          </p:cNvSpPr>
          <p:nvPr>
            <p:ph type="title"/>
          </p:nvPr>
        </p:nvSpPr>
        <p:spPr/>
        <p:txBody>
          <a:bodyPr/>
          <a:lstStyle/>
          <a:p>
            <a:r>
              <a:rPr lang="en-US" b="1" i="0" dirty="0">
                <a:solidFill>
                  <a:srgbClr val="1F1F1F"/>
                </a:solidFill>
                <a:effectLst/>
              </a:rPr>
              <a:t>Mother Teresa</a:t>
            </a:r>
            <a:endParaRPr lang="en-US" b="1" dirty="0"/>
          </a:p>
        </p:txBody>
      </p:sp>
      <p:sp>
        <p:nvSpPr>
          <p:cNvPr id="3" name="Content Placeholder 2">
            <a:extLst>
              <a:ext uri="{FF2B5EF4-FFF2-40B4-BE49-F238E27FC236}">
                <a16:creationId xmlns:a16="http://schemas.microsoft.com/office/drawing/2014/main" id="{E504A6B1-A5FC-47AD-9D5A-506C076F391E}"/>
              </a:ext>
            </a:extLst>
          </p:cNvPr>
          <p:cNvSpPr>
            <a:spLocks noGrp="1"/>
          </p:cNvSpPr>
          <p:nvPr>
            <p:ph idx="1"/>
          </p:nvPr>
        </p:nvSpPr>
        <p:spPr/>
        <p:txBody>
          <a:bodyPr/>
          <a:lstStyle/>
          <a:p>
            <a:endParaRPr lang="en-US"/>
          </a:p>
        </p:txBody>
      </p:sp>
      <p:pic>
        <p:nvPicPr>
          <p:cNvPr id="5122" name="Picture 2" descr="Mother Teresa: The messenger of peace and generosity | NewsTrack English 1">
            <a:extLst>
              <a:ext uri="{FF2B5EF4-FFF2-40B4-BE49-F238E27FC236}">
                <a16:creationId xmlns:a16="http://schemas.microsoft.com/office/drawing/2014/main" id="{1648A71E-6DDA-41DA-9DBF-27F5048BB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579" y="2015732"/>
            <a:ext cx="8338548" cy="345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22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7D639-4B45-443F-800A-B6A6E15159AD}"/>
              </a:ext>
            </a:extLst>
          </p:cNvPr>
          <p:cNvSpPr>
            <a:spLocks noGrp="1"/>
          </p:cNvSpPr>
          <p:nvPr>
            <p:ph type="title"/>
          </p:nvPr>
        </p:nvSpPr>
        <p:spPr/>
        <p:txBody>
          <a:bodyPr/>
          <a:lstStyle/>
          <a:p>
            <a:endParaRPr lang="en-US"/>
          </a:p>
        </p:txBody>
      </p:sp>
      <p:pic>
        <p:nvPicPr>
          <p:cNvPr id="6146" name="Picture 2" descr="Edhi sb a source of inspiration. Abdul Sattar Edhi the eminent… | by Asmat  Ali | Medium">
            <a:extLst>
              <a:ext uri="{FF2B5EF4-FFF2-40B4-BE49-F238E27FC236}">
                <a16:creationId xmlns:a16="http://schemas.microsoft.com/office/drawing/2014/main" id="{BA65651C-789B-428A-968C-2F13FDE3FE3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0630" y="1998195"/>
            <a:ext cx="6570739"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99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C9B5-739E-44C1-9104-9BEECFFC7719}"/>
              </a:ext>
            </a:extLst>
          </p:cNvPr>
          <p:cNvSpPr>
            <a:spLocks noGrp="1"/>
          </p:cNvSpPr>
          <p:nvPr>
            <p:ph type="title"/>
          </p:nvPr>
        </p:nvSpPr>
        <p:spPr/>
        <p:txBody>
          <a:bodyPr/>
          <a:lstStyle/>
          <a:p>
            <a:endParaRPr lang="en-US"/>
          </a:p>
        </p:txBody>
      </p:sp>
      <p:pic>
        <p:nvPicPr>
          <p:cNvPr id="7172" name="Picture 4" descr="Chhipa Welfare Association® | Beacon of Hope for Humanity">
            <a:extLst>
              <a:ext uri="{FF2B5EF4-FFF2-40B4-BE49-F238E27FC236}">
                <a16:creationId xmlns:a16="http://schemas.microsoft.com/office/drawing/2014/main" id="{769D665F-D3E1-462D-849E-6AC96D04A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5554" y="2140884"/>
            <a:ext cx="4760258" cy="3056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76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682E-F19E-4F17-A9A5-8DE20B3B11A0}"/>
              </a:ext>
            </a:extLst>
          </p:cNvPr>
          <p:cNvSpPr>
            <a:spLocks noGrp="1"/>
          </p:cNvSpPr>
          <p:nvPr>
            <p:ph type="title"/>
          </p:nvPr>
        </p:nvSpPr>
        <p:spPr>
          <a:xfrm>
            <a:off x="1379861" y="580402"/>
            <a:ext cx="9603275" cy="1049235"/>
          </a:xfrm>
        </p:spPr>
        <p:txBody>
          <a:bodyPr/>
          <a:lstStyle/>
          <a:p>
            <a:br>
              <a:rPr lang="en-US" b="1" dirty="0"/>
            </a:br>
            <a:r>
              <a:rPr lang="en-US" b="1" dirty="0"/>
              <a:t>Diamond Model</a:t>
            </a:r>
          </a:p>
        </p:txBody>
      </p:sp>
      <p:pic>
        <p:nvPicPr>
          <p:cNvPr id="4" name="Picture 3">
            <a:extLst>
              <a:ext uri="{FF2B5EF4-FFF2-40B4-BE49-F238E27FC236}">
                <a16:creationId xmlns:a16="http://schemas.microsoft.com/office/drawing/2014/main" id="{2F3DC6FC-9EB9-4FD2-8751-6CCFB3307E6A}"/>
              </a:ext>
            </a:extLst>
          </p:cNvPr>
          <p:cNvPicPr>
            <a:picLocks noChangeAspect="1"/>
          </p:cNvPicPr>
          <p:nvPr/>
        </p:nvPicPr>
        <p:blipFill>
          <a:blip r:embed="rId2"/>
          <a:stretch>
            <a:fillRect/>
          </a:stretch>
        </p:blipFill>
        <p:spPr>
          <a:xfrm>
            <a:off x="2888581" y="1912416"/>
            <a:ext cx="6414837" cy="4076985"/>
          </a:xfrm>
          <a:prstGeom prst="rect">
            <a:avLst/>
          </a:prstGeom>
        </p:spPr>
      </p:pic>
    </p:spTree>
    <p:extLst>
      <p:ext uri="{BB962C8B-B14F-4D97-AF65-F5344CB8AC3E}">
        <p14:creationId xmlns:p14="http://schemas.microsoft.com/office/powerpoint/2010/main" val="129510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DA8F-6141-46C2-A209-154638AEC925}"/>
              </a:ext>
            </a:extLst>
          </p:cNvPr>
          <p:cNvSpPr>
            <a:spLocks noGrp="1"/>
          </p:cNvSpPr>
          <p:nvPr>
            <p:ph type="title"/>
          </p:nvPr>
        </p:nvSpPr>
        <p:spPr/>
        <p:txBody>
          <a:bodyPr>
            <a:normAutofit fontScale="90000"/>
          </a:bodyPr>
          <a:lstStyle/>
          <a:p>
            <a:br>
              <a:rPr lang="en-US" sz="3200" b="1" dirty="0">
                <a:solidFill>
                  <a:srgbClr val="231F20"/>
                </a:solidFill>
                <a:effectLst/>
                <a:latin typeface="Times New Roman" panose="02020603050405020304" pitchFamily="18" charset="0"/>
                <a:cs typeface="Times New Roman" panose="02020603050405020304" pitchFamily="18" charset="0"/>
              </a:rPr>
            </a:br>
            <a:r>
              <a:rPr lang="en-US" sz="3200" b="1" dirty="0">
                <a:solidFill>
                  <a:srgbClr val="231F20"/>
                </a:solidFill>
                <a:effectLst/>
                <a:latin typeface="Times New Roman" panose="02020603050405020304" pitchFamily="18" charset="0"/>
                <a:cs typeface="Times New Roman" panose="02020603050405020304" pitchFamily="18" charset="0"/>
              </a:rPr>
              <a:t>State </a:t>
            </a:r>
            <a:br>
              <a:rPr lang="en-US" sz="3200" dirty="0">
                <a:latin typeface="Times New Roman" panose="02020603050405020304" pitchFamily="18" charset="0"/>
                <a:cs typeface="Times New Roman" panose="02020603050405020304" pitchFamily="18" charset="0"/>
              </a:rPr>
            </a:br>
            <a:endParaRPr lang="en-US" b="1" dirty="0"/>
          </a:p>
        </p:txBody>
      </p:sp>
      <p:sp>
        <p:nvSpPr>
          <p:cNvPr id="3" name="Content Placeholder 2">
            <a:extLst>
              <a:ext uri="{FF2B5EF4-FFF2-40B4-BE49-F238E27FC236}">
                <a16:creationId xmlns:a16="http://schemas.microsoft.com/office/drawing/2014/main" id="{C2CD9C61-A57A-4B1F-9BD1-14BCA2328018}"/>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sz="2000" b="1" i="1" dirty="0">
                <a:solidFill>
                  <a:srgbClr val="231F20"/>
                </a:solidFill>
                <a:effectLst/>
                <a:latin typeface="Times New Roman" panose="02020603050405020304" pitchFamily="18" charset="0"/>
                <a:cs typeface="Times New Roman" panose="02020603050405020304" pitchFamily="18" charset="0"/>
              </a:rPr>
              <a:t>Key factors</a:t>
            </a:r>
            <a:r>
              <a:rPr lang="en-US" sz="2000" i="1" dirty="0">
                <a:solidFill>
                  <a:srgbClr val="231F20"/>
                </a:solidFill>
                <a:effectLst/>
                <a:latin typeface="Times New Roman" panose="02020603050405020304" pitchFamily="18" charset="0"/>
                <a:cs typeface="Times New Roman" panose="02020603050405020304" pitchFamily="18" charset="0"/>
              </a:rPr>
              <a:t>: </a:t>
            </a: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Roles of </a:t>
            </a:r>
            <a:r>
              <a:rPr lang="en-US" sz="2000" b="1" i="1" dirty="0">
                <a:solidFill>
                  <a:srgbClr val="231F20"/>
                </a:solidFill>
                <a:effectLst/>
                <a:latin typeface="Times New Roman" panose="02020603050405020304" pitchFamily="18" charset="0"/>
                <a:cs typeface="Times New Roman" panose="02020603050405020304" pitchFamily="18" charset="0"/>
              </a:rPr>
              <a:t>central government and local authorities.</a:t>
            </a: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National policies, taxation and government spending.</a:t>
            </a: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Roles of Parliament, courts, regulatory bodies.</a:t>
            </a: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Political conflict about the proper role of the state.</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8229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8ABA-DA63-4330-91CB-E16A742D84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428EAC-BF1C-4F96-8431-A270D1113AC4}"/>
              </a:ext>
            </a:extLst>
          </p:cNvPr>
          <p:cNvSpPr>
            <a:spLocks noGrp="1"/>
          </p:cNvSpPr>
          <p:nvPr>
            <p:ph idx="1"/>
          </p:nvPr>
        </p:nvSpPr>
        <p:spPr>
          <a:xfrm>
            <a:off x="1451579" y="2015732"/>
            <a:ext cx="9603275" cy="3820292"/>
          </a:xfrm>
        </p:spPr>
        <p:txBody>
          <a:bodyPr>
            <a:normAutofit/>
          </a:bodyPr>
          <a:lstStyle/>
          <a:p>
            <a:pPr marL="0" indent="0" algn="just">
              <a:lnSpc>
                <a:spcPct val="150000"/>
              </a:lnSpc>
              <a:buNone/>
            </a:pPr>
            <a:r>
              <a:rPr lang="en-US" sz="2000" b="1" dirty="0">
                <a:solidFill>
                  <a:srgbClr val="231F20"/>
                </a:solidFill>
                <a:effectLst/>
                <a:latin typeface="Times New Roman" panose="02020603050405020304" pitchFamily="18" charset="0"/>
                <a:cs typeface="Times New Roman" panose="02020603050405020304" pitchFamily="18" charset="0"/>
              </a:rPr>
              <a:t>Profession </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itchFamily="2" charset="2"/>
              <a:buChar char="Ø"/>
            </a:pPr>
            <a:r>
              <a:rPr lang="en-US" sz="2000" dirty="0">
                <a:solidFill>
                  <a:srgbClr val="231F20"/>
                </a:solidFill>
                <a:effectLst/>
                <a:latin typeface="Times New Roman" panose="02020603050405020304" pitchFamily="18" charset="0"/>
                <a:cs typeface="Times New Roman" panose="02020603050405020304" pitchFamily="18" charset="0"/>
              </a:rPr>
              <a:t>Social policy, social work and other social professions expert-led activities. (e.g. health professionals, teachers, lawyers, community workers).</a:t>
            </a:r>
          </a:p>
          <a:p>
            <a:pPr marL="0" indent="0" algn="just">
              <a:lnSpc>
                <a:spcPct val="150000"/>
              </a:lnSpc>
              <a:buNone/>
            </a:pPr>
            <a:r>
              <a:rPr lang="en-US" sz="2000" b="1" dirty="0">
                <a:solidFill>
                  <a:srgbClr val="231F20"/>
                </a:solidFill>
                <a:effectLst/>
                <a:latin typeface="Times New Roman" panose="02020603050405020304" pitchFamily="18" charset="0"/>
                <a:cs typeface="Times New Roman" panose="02020603050405020304" pitchFamily="18" charset="0"/>
              </a:rPr>
              <a:t>Service users </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788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4F44-1801-44CD-B106-4C71CA91E40D}"/>
              </a:ext>
            </a:extLst>
          </p:cNvPr>
          <p:cNvSpPr>
            <a:spLocks noGrp="1"/>
          </p:cNvSpPr>
          <p:nvPr>
            <p:ph type="title"/>
          </p:nvPr>
        </p:nvSpPr>
        <p:spPr/>
        <p:txBody>
          <a:bodyPr>
            <a:normAutofit fontScale="90000"/>
          </a:bodyPr>
          <a:lstStyle/>
          <a:p>
            <a:br>
              <a:rPr lang="en-US" sz="3200" b="1" dirty="0">
                <a:solidFill>
                  <a:srgbClr val="231F20"/>
                </a:solidFill>
                <a:effectLst/>
                <a:latin typeface="Times New Roman" panose="02020603050405020304" pitchFamily="18" charset="0"/>
                <a:cs typeface="Times New Roman" panose="02020603050405020304" pitchFamily="18" charset="0"/>
              </a:rPr>
            </a:br>
            <a:r>
              <a:rPr lang="en-US" sz="3200" b="1" dirty="0">
                <a:solidFill>
                  <a:srgbClr val="231F20"/>
                </a:solidFill>
                <a:effectLst/>
                <a:latin typeface="Times New Roman" panose="02020603050405020304" pitchFamily="18" charset="0"/>
                <a:cs typeface="Times New Roman" panose="02020603050405020304" pitchFamily="18" charset="0"/>
              </a:rPr>
              <a:t>Organization </a:t>
            </a:r>
            <a:br>
              <a:rPr lang="en-US" sz="3200"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34A2F95-3D42-4D4E-A860-72E4603A0303}"/>
              </a:ext>
            </a:extLst>
          </p:cNvPr>
          <p:cNvSpPr>
            <a:spLocks noGrp="1"/>
          </p:cNvSpPr>
          <p:nvPr>
            <p:ph idx="1"/>
          </p:nvPr>
        </p:nvSpPr>
        <p:spPr>
          <a:xfrm>
            <a:off x="762001" y="2015732"/>
            <a:ext cx="10292854" cy="3820292"/>
          </a:xfrm>
        </p:spPr>
        <p:txBody>
          <a:bodyPr>
            <a:normAutofit/>
          </a:bodyPr>
          <a:lstStyle/>
          <a:p>
            <a:pPr marL="0" indent="0" algn="just">
              <a:lnSpc>
                <a:spcPct val="150000"/>
              </a:lnSpc>
              <a:buNone/>
            </a:pPr>
            <a:r>
              <a:rPr lang="en-US" sz="2000" dirty="0">
                <a:solidFill>
                  <a:srgbClr val="231F20"/>
                </a:solidFill>
                <a:effectLst/>
                <a:latin typeface="Times New Roman" panose="02020603050405020304" pitchFamily="18" charset="0"/>
                <a:cs typeface="Times New Roman" panose="02020603050405020304" pitchFamily="18" charset="0"/>
              </a:rPr>
              <a:t>Social policy, social work and other social professions as activities that are shaped by their organizational setting. </a:t>
            </a:r>
            <a:endParaRPr lang="en-US" sz="2000"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Ø"/>
            </a:pPr>
            <a:r>
              <a:rPr lang="en-US" sz="2000" b="1" i="1" dirty="0">
                <a:solidFill>
                  <a:srgbClr val="231F20"/>
                </a:solidFill>
                <a:effectLst/>
                <a:latin typeface="Times New Roman" panose="02020603050405020304" pitchFamily="18" charset="0"/>
                <a:cs typeface="Times New Roman" panose="02020603050405020304" pitchFamily="18" charset="0"/>
              </a:rPr>
              <a:t>Key factors</a:t>
            </a:r>
            <a:r>
              <a:rPr lang="en-US" sz="2000" i="1" dirty="0">
                <a:solidFill>
                  <a:srgbClr val="231F20"/>
                </a:solidFill>
                <a:effectLst/>
                <a:latin typeface="Times New Roman" panose="02020603050405020304" pitchFamily="18" charset="0"/>
                <a:cs typeface="Times New Roman" panose="02020603050405020304" pitchFamily="18" charset="0"/>
              </a:rPr>
              <a:t>:</a:t>
            </a:r>
            <a:endParaRPr lang="en-US" sz="2000" i="1" dirty="0">
              <a:solidFill>
                <a:srgbClr val="231F20"/>
              </a:solidFill>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Type of organization – (e.g. local authority), voluntary or business?</a:t>
            </a:r>
          </a:p>
          <a:p>
            <a:pPr marL="457200" indent="-457200" algn="just">
              <a:lnSpc>
                <a:spcPct val="150000"/>
              </a:lnSpc>
              <a:buFont typeface="+mj-lt"/>
              <a:buAutoNum type="arabicPeriod"/>
            </a:pPr>
            <a:r>
              <a:rPr lang="en-US" sz="2000" dirty="0">
                <a:solidFill>
                  <a:srgbClr val="231F20"/>
                </a:solidFill>
                <a:effectLst/>
                <a:latin typeface="Times New Roman" panose="02020603050405020304" pitchFamily="18" charset="0"/>
                <a:cs typeface="Times New Roman" panose="02020603050405020304" pitchFamily="18" charset="0"/>
              </a:rPr>
              <a:t>Budgets.</a:t>
            </a:r>
            <a:endParaRPr lang="en-US" dirty="0"/>
          </a:p>
        </p:txBody>
      </p:sp>
    </p:spTree>
    <p:extLst>
      <p:ext uri="{BB962C8B-B14F-4D97-AF65-F5344CB8AC3E}">
        <p14:creationId xmlns:p14="http://schemas.microsoft.com/office/powerpoint/2010/main" val="2368303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CF9071-A8F5-D6A9-30C5-21BD8454B825}"/>
              </a:ext>
            </a:extLst>
          </p:cNvPr>
          <p:cNvSpPr txBox="1"/>
          <p:nvPr/>
        </p:nvSpPr>
        <p:spPr>
          <a:xfrm>
            <a:off x="1174613" y="1905506"/>
            <a:ext cx="9986209" cy="3046988"/>
          </a:xfrm>
          <a:prstGeom prst="rect">
            <a:avLst/>
          </a:prstGeom>
          <a:noFill/>
        </p:spPr>
        <p:txBody>
          <a:bodyPr wrap="square">
            <a:spAutoFit/>
          </a:bodyPr>
          <a:lstStyle/>
          <a:p>
            <a:pPr algn="just"/>
            <a:r>
              <a:rPr lang="en-US" sz="2400" dirty="0">
                <a:solidFill>
                  <a:srgbClr val="231F20"/>
                </a:solidFill>
                <a:effectLst/>
                <a:latin typeface="Times New Roman" panose="02020603050405020304" pitchFamily="18" charset="0"/>
                <a:cs typeface="Times New Roman" panose="02020603050405020304" pitchFamily="18" charset="0"/>
              </a:rPr>
              <a:t>An important feature of the diamond is that there are tensions </a:t>
            </a:r>
            <a:r>
              <a:rPr lang="en-US" sz="2400" i="1" dirty="0">
                <a:solidFill>
                  <a:srgbClr val="231F20"/>
                </a:solidFill>
                <a:effectLst/>
                <a:latin typeface="Times New Roman" panose="02020603050405020304" pitchFamily="18" charset="0"/>
                <a:cs typeface="Times New Roman" panose="02020603050405020304" pitchFamily="18" charset="0"/>
              </a:rPr>
              <a:t>within</a:t>
            </a:r>
            <a:r>
              <a:rPr lang="en-US" sz="2400" dirty="0">
                <a:solidFill>
                  <a:srgbClr val="231F20"/>
                </a:solidFill>
                <a:effectLst/>
                <a:latin typeface="Times New Roman" panose="02020603050405020304" pitchFamily="18" charset="0"/>
                <a:cs typeface="Times New Roman" panose="02020603050405020304" pitchFamily="18" charset="0"/>
              </a:rPr>
              <a:t> each of the four points as well as </a:t>
            </a:r>
            <a:r>
              <a:rPr lang="en-US" sz="2400" i="1" dirty="0">
                <a:solidFill>
                  <a:srgbClr val="231F20"/>
                </a:solidFill>
                <a:effectLst/>
                <a:latin typeface="Times New Roman" panose="02020603050405020304" pitchFamily="18" charset="0"/>
                <a:cs typeface="Times New Roman" panose="02020603050405020304" pitchFamily="18" charset="0"/>
              </a:rPr>
              <a:t>between</a:t>
            </a:r>
            <a:r>
              <a:rPr lang="en-US" sz="2400" dirty="0">
                <a:solidFill>
                  <a:srgbClr val="231F20"/>
                </a:solidFill>
                <a:effectLst/>
                <a:latin typeface="Times New Roman" panose="02020603050405020304" pitchFamily="18" charset="0"/>
                <a:cs typeface="Times New Roman" panose="02020603050405020304" pitchFamily="18" charset="0"/>
              </a:rPr>
              <a:t> them.</a:t>
            </a:r>
          </a:p>
          <a:p>
            <a:pPr algn="just"/>
            <a:endParaRPr lang="en-US" sz="2400" dirty="0">
              <a:solidFill>
                <a:srgbClr val="231F20"/>
              </a:solidFill>
              <a:latin typeface="Times New Roman" panose="02020603050405020304" pitchFamily="18" charset="0"/>
              <a:cs typeface="Times New Roman" panose="02020603050405020304" pitchFamily="18" charset="0"/>
            </a:endParaRPr>
          </a:p>
          <a:p>
            <a:pPr algn="just"/>
            <a:r>
              <a:rPr lang="en-US" sz="2400" dirty="0">
                <a:solidFill>
                  <a:srgbClr val="231F20"/>
                </a:solidFill>
                <a:effectLst/>
                <a:latin typeface="Times New Roman" panose="02020603050405020304" pitchFamily="18" charset="0"/>
                <a:cs typeface="Times New Roman" panose="02020603050405020304" pitchFamily="18" charset="0"/>
              </a:rPr>
              <a:t>So, within the state there may sometimes be conflict between political priorities and court decisions, and there is often tension between central and local government. </a:t>
            </a:r>
          </a:p>
          <a:p>
            <a:pPr algn="just"/>
            <a:endParaRPr lang="en-US" sz="2400" dirty="0">
              <a:solidFill>
                <a:srgbClr val="231F20"/>
              </a:solidFill>
              <a:latin typeface="Times New Roman" panose="02020603050405020304" pitchFamily="18" charset="0"/>
              <a:cs typeface="Times New Roman" panose="02020603050405020304" pitchFamily="18" charset="0"/>
            </a:endParaRPr>
          </a:p>
          <a:p>
            <a:pPr algn="just"/>
            <a:r>
              <a:rPr lang="en-US" sz="2400" dirty="0">
                <a:solidFill>
                  <a:srgbClr val="231F20"/>
                </a:solidFill>
                <a:effectLst/>
                <a:latin typeface="Times New Roman" panose="02020603050405020304" pitchFamily="18" charset="0"/>
                <a:cs typeface="Times New Roman" panose="02020603050405020304" pitchFamily="18" charset="0"/>
              </a:rPr>
              <a:t>Limited resources. </a:t>
            </a:r>
            <a:endParaRPr lang="en-US" sz="2400" dirty="0">
              <a:solidFill>
                <a:srgbClr val="231F2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468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D8CC4E7-EA72-E8F0-C821-2F76EDC42E3F}"/>
              </a:ext>
            </a:extLst>
          </p:cNvPr>
          <p:cNvSpPr>
            <a:spLocks noGrp="1"/>
          </p:cNvSpPr>
          <p:nvPr>
            <p:ph type="title"/>
          </p:nvPr>
        </p:nvSpPr>
        <p:spPr>
          <a:xfrm>
            <a:off x="1219200" y="277813"/>
            <a:ext cx="10363200" cy="1143000"/>
          </a:xfrm>
        </p:spPr>
        <p:txBody>
          <a:bodyPr/>
          <a:lstStyle/>
          <a:p>
            <a:pPr algn="ctr"/>
            <a:r>
              <a:rPr lang="en-US" sz="3600" b="1" dirty="0">
                <a:latin typeface="Times New Roman" panose="02020603050405020304" pitchFamily="18" charset="0"/>
                <a:cs typeface="Times New Roman" panose="02020603050405020304" pitchFamily="18" charset="0"/>
              </a:rPr>
              <a:t>Social Construction of Social Work Theory</a:t>
            </a:r>
          </a:p>
        </p:txBody>
      </p:sp>
      <p:sp>
        <p:nvSpPr>
          <p:cNvPr id="11" name="Content Placeholder 2">
            <a:extLst>
              <a:ext uri="{FF2B5EF4-FFF2-40B4-BE49-F238E27FC236}">
                <a16:creationId xmlns:a16="http://schemas.microsoft.com/office/drawing/2014/main" id="{C1C903C0-4E79-0F92-0768-E2A6E36CD0CE}"/>
              </a:ext>
            </a:extLst>
          </p:cNvPr>
          <p:cNvSpPr>
            <a:spLocks noGrp="1"/>
          </p:cNvSpPr>
          <p:nvPr>
            <p:ph idx="1"/>
          </p:nvPr>
        </p:nvSpPr>
        <p:spPr>
          <a:xfrm>
            <a:off x="1219200" y="2133600"/>
            <a:ext cx="10363200" cy="3997326"/>
          </a:xfrm>
        </p:spPr>
        <p:txBody>
          <a:bodyPr/>
          <a:lstStyle/>
          <a:p>
            <a:pPr algn="just">
              <a:buFont typeface="Wingdings" panose="05000000000000000000" pitchFamily="2" charset="2"/>
              <a:buChar char="Ø"/>
            </a:pPr>
            <a:r>
              <a:rPr lang="en-US" sz="2400" b="0" i="0" dirty="0">
                <a:effectLst/>
              </a:rPr>
              <a:t>An idea that has been created and accepted by the people in a society. </a:t>
            </a:r>
            <a:endParaRPr lang="en-US" sz="2400" dirty="0"/>
          </a:p>
          <a:p>
            <a:pPr algn="just">
              <a:buFont typeface="Wingdings" panose="05000000000000000000" pitchFamily="2" charset="2"/>
              <a:buChar char="Ø"/>
            </a:pPr>
            <a:r>
              <a:rPr lang="en-US" sz="2400" b="0" i="0" u="sng" dirty="0">
                <a:effectLst/>
                <a:hlinkClick r:id="rId2">
                  <a:extLst>
                    <a:ext uri="{A12FA001-AC4F-418D-AE19-62706E023703}">
                      <ahyp:hlinkClr xmlns:ahyp="http://schemas.microsoft.com/office/drawing/2018/hyperlinkcolor" val="tx"/>
                    </a:ext>
                  </a:extLst>
                </a:hlinkClick>
              </a:rPr>
              <a:t>Social constructs</a:t>
            </a:r>
            <a:r>
              <a:rPr lang="en-US" sz="2400" b="0" i="0" dirty="0">
                <a:effectLst/>
              </a:rPr>
              <a:t> are ideas that have been created and accepted by people in a society  often dictating how people “should” behave or identify in relation to others.</a:t>
            </a:r>
          </a:p>
          <a:p>
            <a:pPr algn="just">
              <a:buFont typeface="Wingdings" panose="05000000000000000000" pitchFamily="2" charset="2"/>
              <a:buChar char="Ø"/>
            </a:pPr>
            <a:r>
              <a:rPr lang="en-US" sz="2400" b="0" i="0" dirty="0">
                <a:effectLst/>
              </a:rPr>
              <a:t>Social constructs don’t have meaning until a society gives them meaning.</a:t>
            </a:r>
            <a:endParaRPr lang="en-US" sz="2800" dirty="0"/>
          </a:p>
        </p:txBody>
      </p:sp>
    </p:spTree>
    <p:extLst>
      <p:ext uri="{BB962C8B-B14F-4D97-AF65-F5344CB8AC3E}">
        <p14:creationId xmlns:p14="http://schemas.microsoft.com/office/powerpoint/2010/main" val="365964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92A55-450A-4A35-BA3D-366D7DDB1BFA}"/>
              </a:ext>
            </a:extLst>
          </p:cNvPr>
          <p:cNvSpPr>
            <a:spLocks noGrp="1"/>
          </p:cNvSpPr>
          <p:nvPr>
            <p:ph type="title"/>
          </p:nvPr>
        </p:nvSpPr>
        <p:spPr/>
        <p:txBody>
          <a:bodyPr/>
          <a:lstStyle/>
          <a:p>
            <a:r>
              <a:rPr lang="en-US" b="1" dirty="0"/>
              <a:t>Examples of Social construction</a:t>
            </a:r>
          </a:p>
        </p:txBody>
      </p:sp>
      <p:pic>
        <p:nvPicPr>
          <p:cNvPr id="5" name="Picture 4">
            <a:extLst>
              <a:ext uri="{FF2B5EF4-FFF2-40B4-BE49-F238E27FC236}">
                <a16:creationId xmlns:a16="http://schemas.microsoft.com/office/drawing/2014/main" id="{E5977E10-18C1-44A8-B383-A9651170FDFA}"/>
              </a:ext>
            </a:extLst>
          </p:cNvPr>
          <p:cNvPicPr>
            <a:picLocks noChangeAspect="1"/>
          </p:cNvPicPr>
          <p:nvPr/>
        </p:nvPicPr>
        <p:blipFill>
          <a:blip r:embed="rId2"/>
          <a:stretch>
            <a:fillRect/>
          </a:stretch>
        </p:blipFill>
        <p:spPr>
          <a:xfrm>
            <a:off x="2622176" y="1926084"/>
            <a:ext cx="6947647" cy="4037749"/>
          </a:xfrm>
          <a:prstGeom prst="rect">
            <a:avLst/>
          </a:prstGeom>
        </p:spPr>
      </p:pic>
    </p:spTree>
    <p:extLst>
      <p:ext uri="{BB962C8B-B14F-4D97-AF65-F5344CB8AC3E}">
        <p14:creationId xmlns:p14="http://schemas.microsoft.com/office/powerpoint/2010/main" val="372724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0CD62-3A26-4DAE-97FE-ED40CEEF70B5}"/>
              </a:ext>
            </a:extLst>
          </p:cNvPr>
          <p:cNvSpPr>
            <a:spLocks noGrp="1"/>
          </p:cNvSpPr>
          <p:nvPr>
            <p:ph idx="1"/>
          </p:nvPr>
        </p:nvSpPr>
        <p:spPr>
          <a:xfrm>
            <a:off x="1057835" y="1945340"/>
            <a:ext cx="10399059" cy="4096871"/>
          </a:xfrm>
        </p:spPr>
        <p:txBody>
          <a:bodyPr>
            <a:normAutofit/>
          </a:bodyPr>
          <a:lstStyle/>
          <a:p>
            <a:pPr algn="just"/>
            <a:r>
              <a:rPr lang="en-US" sz="1400" b="1" dirty="0">
                <a:latin typeface="Times New Roman" panose="02020603050405020304" pitchFamily="18" charset="0"/>
                <a:cs typeface="Times New Roman" panose="02020603050405020304" pitchFamily="18" charset="0"/>
              </a:rPr>
              <a:t>Gender role: </a:t>
            </a:r>
            <a:r>
              <a:rPr lang="en-US" sz="1400" b="0" i="0" dirty="0">
                <a:effectLst/>
                <a:latin typeface="Times New Roman" panose="02020603050405020304" pitchFamily="18" charset="0"/>
                <a:cs typeface="Times New Roman" panose="02020603050405020304" pitchFamily="18" charset="0"/>
              </a:rPr>
              <a:t>Gender is not inherent. Genders are the socially constructed roles, behaviors, etc. that society considers appropriate for "men" and "women".</a:t>
            </a: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Fashion:</a:t>
            </a:r>
            <a:r>
              <a:rPr lang="en-US" sz="1400" dirty="0">
                <a:latin typeface="Times New Roman" panose="02020603050405020304" pitchFamily="18" charset="0"/>
                <a:cs typeface="Times New Roman" panose="02020603050405020304" pitchFamily="18" charset="0"/>
              </a:rPr>
              <a:t> </a:t>
            </a:r>
            <a:r>
              <a:rPr lang="en-US" sz="1400" b="0" i="0" dirty="0">
                <a:effectLst/>
                <a:latin typeface="Times New Roman" panose="02020603050405020304" pitchFamily="18" charset="0"/>
                <a:cs typeface="Times New Roman" panose="02020603050405020304" pitchFamily="18" charset="0"/>
              </a:rPr>
              <a:t>The idea of what type of apparel is considered fashionable is an example of a social construct that changes quickly. What is fashionable one year may not be fashionable the next, based on how what designers create and influencers share catches on in the larger society.</a:t>
            </a: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Beauty </a:t>
            </a:r>
            <a:r>
              <a:rPr lang="en-US" sz="1400" b="0" i="0" dirty="0">
                <a:effectLst/>
                <a:latin typeface="Times New Roman" panose="02020603050405020304" pitchFamily="18" charset="0"/>
                <a:cs typeface="Times New Roman" panose="02020603050405020304" pitchFamily="18" charset="0"/>
              </a:rPr>
              <a:t>is a social construct that has </a:t>
            </a:r>
            <a:r>
              <a:rPr lang="en-US" sz="1400" b="0"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definitely changed over time</a:t>
            </a:r>
            <a:r>
              <a:rPr lang="en-US" sz="1400" b="0" i="0" dirty="0">
                <a:effectLst/>
                <a:latin typeface="Times New Roman" panose="02020603050405020304" pitchFamily="18" charset="0"/>
                <a:cs typeface="Times New Roman" panose="02020603050405020304" pitchFamily="18" charset="0"/>
              </a:rPr>
              <a:t> — and varies widely across cultures. Our ideas about what kinds of physical attributes (like body shape, clothing, hair, makeup, and more) are considered beautiful have even varied widely in the last couple of decades. </a:t>
            </a: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Marriage</a:t>
            </a:r>
            <a:r>
              <a:rPr lang="en-US" sz="1400" dirty="0">
                <a:latin typeface="Times New Roman" panose="02020603050405020304" pitchFamily="18" charset="0"/>
                <a:cs typeface="Times New Roman" panose="02020603050405020304" pitchFamily="18" charset="0"/>
              </a:rPr>
              <a:t>: </a:t>
            </a:r>
            <a:r>
              <a:rPr lang="en-US" sz="1400" b="0" i="0" dirty="0">
                <a:effectLst/>
                <a:latin typeface="Times New Roman" panose="02020603050405020304" pitchFamily="18" charset="0"/>
                <a:cs typeface="Times New Roman" panose="02020603050405020304" pitchFamily="18" charset="0"/>
              </a:rPr>
              <a:t>The concept of marriage is a social construct that is not perceived the same by all groups. Some groups view it as a contract while others see it as a religious sacrament. Within some groups, marriages are arranged while in others the decision of who to marry and whether to marry is a choice.</a:t>
            </a:r>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Money:</a:t>
            </a:r>
            <a:r>
              <a:rPr lang="en-US" sz="1400" dirty="0">
                <a:latin typeface="Times New Roman" panose="02020603050405020304" pitchFamily="18" charset="0"/>
                <a:cs typeface="Times New Roman" panose="02020603050405020304" pitchFamily="18" charset="0"/>
              </a:rPr>
              <a:t> </a:t>
            </a:r>
            <a:r>
              <a:rPr lang="en-US" sz="1400" b="0" i="0" dirty="0">
                <a:effectLst/>
                <a:latin typeface="Times New Roman" panose="02020603050405020304" pitchFamily="18" charset="0"/>
                <a:cs typeface="Times New Roman" panose="02020603050405020304" pitchFamily="18" charset="0"/>
              </a:rPr>
              <a:t>Currency used as money is made of paper and metal. It only has value because people in society assign value to it. Before paper money and coins existed, people used other items that had value to exchange for goods and services.</a:t>
            </a:r>
            <a:endParaRPr lang="en-US" sz="1400" dirty="0">
              <a:latin typeface="Times New Roman" panose="02020603050405020304" pitchFamily="18" charset="0"/>
              <a:cs typeface="Times New Roman" panose="02020603050405020304" pitchFamily="18" charset="0"/>
            </a:endParaRPr>
          </a:p>
        </p:txBody>
      </p:sp>
      <p:pic>
        <p:nvPicPr>
          <p:cNvPr id="1026" name="Picture 2" descr="Social Constructionism Definition">
            <a:extLst>
              <a:ext uri="{FF2B5EF4-FFF2-40B4-BE49-F238E27FC236}">
                <a16:creationId xmlns:a16="http://schemas.microsoft.com/office/drawing/2014/main" id="{BBB3D4E1-4233-4394-A9B9-FFDEA6587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9176" y="116541"/>
            <a:ext cx="3845859" cy="15867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ocial Constructionism Theory: Definition and Examples">
            <a:extLst>
              <a:ext uri="{FF2B5EF4-FFF2-40B4-BE49-F238E27FC236}">
                <a16:creationId xmlns:a16="http://schemas.microsoft.com/office/drawing/2014/main" id="{484603B2-4770-4C48-8F4F-AB484B0391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318" y="116541"/>
            <a:ext cx="3935506" cy="1586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08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D755F-72C4-4AA9-B4B3-02864921FC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637013-52CE-4C66-98E6-9F41EE1A336E}"/>
              </a:ext>
            </a:extLst>
          </p:cNvPr>
          <p:cNvSpPr>
            <a:spLocks noGrp="1"/>
          </p:cNvSpPr>
          <p:nvPr>
            <p:ph idx="1"/>
          </p:nvPr>
        </p:nvSpPr>
        <p:spPr>
          <a:xfrm>
            <a:off x="932329" y="1936376"/>
            <a:ext cx="5755343" cy="3926542"/>
          </a:xfrm>
        </p:spPr>
        <p:txBody>
          <a:bodyPr>
            <a:noAutofit/>
          </a:bodyPr>
          <a:lstStyle/>
          <a:p>
            <a:pPr algn="just"/>
            <a:r>
              <a:rPr lang="en-US" b="1" i="0" dirty="0">
                <a:effectLst/>
                <a:latin typeface="Times New Roman" panose="02020603050405020304" pitchFamily="18" charset="0"/>
                <a:cs typeface="Times New Roman" panose="02020603050405020304" pitchFamily="18" charset="0"/>
              </a:rPr>
              <a:t>Family</a:t>
            </a:r>
            <a:r>
              <a:rPr lang="en-US" b="0" i="0" dirty="0">
                <a:effectLst/>
                <a:latin typeface="Times New Roman" panose="02020603050405020304" pitchFamily="18" charset="0"/>
                <a:cs typeface="Times New Roman" panose="02020603050405020304" pitchFamily="18" charset="0"/>
              </a:rPr>
              <a:t> :The concept of family is a social construct. Some perceive family to be limited to the traditional nuclear unit of mother, father and biological children, while others take the broader perspective that there are many types of family structures.</a:t>
            </a:r>
          </a:p>
          <a:p>
            <a:pPr algn="just"/>
            <a:r>
              <a:rPr lang="en-US" b="1" i="0" dirty="0">
                <a:effectLst/>
                <a:latin typeface="Times New Roman" panose="02020603050405020304" pitchFamily="18" charset="0"/>
                <a:cs typeface="Times New Roman" panose="02020603050405020304" pitchFamily="18" charset="0"/>
              </a:rPr>
              <a:t>Geographic borders </a:t>
            </a:r>
            <a:r>
              <a:rPr lang="en-US" b="0" i="0" dirty="0">
                <a:effectLst/>
                <a:latin typeface="Times New Roman" panose="02020603050405020304" pitchFamily="18" charset="0"/>
                <a:cs typeface="Times New Roman" panose="02020603050405020304" pitchFamily="18" charset="0"/>
              </a:rPr>
              <a:t>are often brought up in conversations about keeping people out of a country, region, or neighborhood. But have you ever stopped to think about who created those hard lines and why they keep some people in and others out?</a:t>
            </a:r>
            <a:endParaRPr lang="en-US" dirty="0">
              <a:latin typeface="Times New Roman" panose="02020603050405020304" pitchFamily="18" charset="0"/>
              <a:cs typeface="Times New Roman" panose="02020603050405020304" pitchFamily="18" charset="0"/>
            </a:endParaRPr>
          </a:p>
        </p:txBody>
      </p:sp>
      <p:pic>
        <p:nvPicPr>
          <p:cNvPr id="2050" name="Picture 2" descr="Everything is a Social Construct — Let Me Educate You">
            <a:extLst>
              <a:ext uri="{FF2B5EF4-FFF2-40B4-BE49-F238E27FC236}">
                <a16:creationId xmlns:a16="http://schemas.microsoft.com/office/drawing/2014/main" id="{2C97AC32-CFDA-4C8C-BE8B-CAA4F45F8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4541" y="2247621"/>
            <a:ext cx="4876800" cy="313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643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E16B-01F0-44F2-AD7B-EF039C521AD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AAF44EF-90D3-40A7-BCF0-51F78A0F1F8C}"/>
              </a:ext>
            </a:extLst>
          </p:cNvPr>
          <p:cNvPicPr>
            <a:picLocks noGrp="1" noChangeAspect="1"/>
          </p:cNvPicPr>
          <p:nvPr>
            <p:ph idx="1"/>
          </p:nvPr>
        </p:nvPicPr>
        <p:blipFill>
          <a:blip r:embed="rId2"/>
          <a:stretch>
            <a:fillRect/>
          </a:stretch>
        </p:blipFill>
        <p:spPr>
          <a:xfrm>
            <a:off x="3612775" y="1017027"/>
            <a:ext cx="5145741" cy="4823946"/>
          </a:xfrm>
          <a:prstGeom prst="rect">
            <a:avLst/>
          </a:prstGeom>
        </p:spPr>
      </p:pic>
    </p:spTree>
    <p:extLst>
      <p:ext uri="{BB962C8B-B14F-4D97-AF65-F5344CB8AC3E}">
        <p14:creationId xmlns:p14="http://schemas.microsoft.com/office/powerpoint/2010/main" val="330746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TM10001114[[fn=Gallery]]</Template>
  <TotalTime>365</TotalTime>
  <Words>967</Words>
  <Application>Microsoft Office PowerPoint</Application>
  <PresentationFormat>Widescreen</PresentationFormat>
  <Paragraphs>70</Paragraphs>
  <Slides>33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Century Gothic</vt:lpstr>
      <vt:lpstr>Gill Sans MT</vt:lpstr>
      <vt:lpstr>Times New Roman</vt:lpstr>
      <vt:lpstr>Wingdings</vt:lpstr>
      <vt:lpstr>Gallery</vt:lpstr>
      <vt:lpstr>Social work</vt:lpstr>
      <vt:lpstr>Answer these Questions?</vt:lpstr>
      <vt:lpstr> NO…………….</vt:lpstr>
      <vt:lpstr>Because,  Human Societies are not Perfect</vt:lpstr>
      <vt:lpstr> Now Answer these Questions?</vt:lpstr>
      <vt:lpstr>     Do you want to be involved in shaping a society that strives to ensure a high quality of life and social justice for all social members?  </vt:lpstr>
      <vt:lpstr>Definition</vt:lpstr>
      <vt:lpstr>PowerPoint Presentation</vt:lpstr>
      <vt:lpstr>Difference between sociology and social work </vt:lpstr>
      <vt:lpstr> About the Profession</vt:lpstr>
      <vt:lpstr>PowerPoint Presentation</vt:lpstr>
      <vt:lpstr>History of Social work</vt:lpstr>
      <vt:lpstr>PowerPoint Presentation</vt:lpstr>
      <vt:lpstr>PowerPoint Presentation</vt:lpstr>
      <vt:lpstr>PowerPoint Presentation</vt:lpstr>
      <vt:lpstr>Jane ADDAms, Mother of social work</vt:lpstr>
      <vt:lpstr>PowerPoint Presentation</vt:lpstr>
      <vt:lpstr>PowerPoint Presentation</vt:lpstr>
      <vt:lpstr>PowerPoint Presentation</vt:lpstr>
      <vt:lpstr>PowerPoint Presentation</vt:lpstr>
      <vt:lpstr>Mother Teresa</vt:lpstr>
      <vt:lpstr>PowerPoint Presentation</vt:lpstr>
      <vt:lpstr>PowerPoint Presentation</vt:lpstr>
      <vt:lpstr> Diamond Model</vt:lpstr>
      <vt:lpstr> State  </vt:lpstr>
      <vt:lpstr>PowerPoint Presentation</vt:lpstr>
      <vt:lpstr> Organization  </vt:lpstr>
      <vt:lpstr>PowerPoint Presentation</vt:lpstr>
      <vt:lpstr>Social Construction of Social Work Theory</vt:lpstr>
      <vt:lpstr>Examples of Social construction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work</dc:title>
  <dc:creator>DELL</dc:creator>
  <cp:lastModifiedBy>DELL</cp:lastModifiedBy>
  <cp:revision>17</cp:revision>
  <dcterms:created xsi:type="dcterms:W3CDTF">2024-09-18T03:20:49Z</dcterms:created>
  <dcterms:modified xsi:type="dcterms:W3CDTF">2024-10-01T03:56:11Z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74069200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