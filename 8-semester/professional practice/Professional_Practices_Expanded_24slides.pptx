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ym typeface="+mn-ea"/>
              </a:rPr>
              <a:t>Lecture Content</a:t>
            </a:r>
            <a:endParaRPr lang="en-GB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Reliability</a:t>
            </a:r>
          </a:p>
          <a:p>
            <a:r>
              <a:t>Data Errors, </a:t>
            </a:r>
          </a:p>
          <a:p>
            <a:r>
              <a:t>Software Errors</a:t>
            </a:r>
          </a:p>
          <a:p>
            <a:r>
              <a:t>Notable Failures</a:t>
            </a:r>
          </a:p>
          <a:p>
            <a:r>
              <a:t>Algorithm Bias</a:t>
            </a:r>
          </a:p>
          <a:p/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covers five core topics in professional computing practices: computer reliability, data errors, software errors, notable software/system failures, and algorithm bias. Each topic includes clear explanations, causes, impacts, mitigation strategies, and real-life examples.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Reliability —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reliability is the probability that a computer system will perform its required functions without failure for a specified period under stated conditions. Reliability measures help teams design systems that remain available, correct, and safe for users and businesses.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Reliability —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• Mean Time Between Failures (MTBF): average operating time between failures.</a:t>
            </a:r>
          </a:p>
          <a:p>
            <a:r>
              <a:t>• Mean Time To Repair (MTTR): average time to restore service after a failure.</a:t>
            </a:r>
          </a:p>
          <a:p>
            <a:r>
              <a:t>• Availability = MTBF / (MTBF + MTTR). These metrics guide architecture and maintenance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Reliability — Causes of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causes:</a:t>
            </a:r>
          </a:p>
          <a:p>
            <a:r>
              <a:t>• Hardware wear and defects (power supplies, disks)</a:t>
            </a:r>
          </a:p>
          <a:p>
            <a:r>
              <a:t>• Software faults causing crashes or hangs</a:t>
            </a:r>
          </a:p>
          <a:p>
            <a:r>
              <a:t>• Environmental factors (power outages, temperature)</a:t>
            </a:r>
          </a:p>
          <a:p>
            <a:r>
              <a:t>• Network interruptions</a:t>
            </a:r>
          </a:p>
          <a:p>
            <a:r>
              <a:t>• Human operational errors (misconfiguration)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Reliability — Design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practices to improve reliability:</a:t>
            </a:r>
          </a:p>
          <a:p>
            <a:r>
              <a:t>• Redundancy (N+1, active-active clustering)</a:t>
            </a:r>
          </a:p>
          <a:p>
            <a:r>
              <a:t>• Failover and graceful degradation</a:t>
            </a:r>
          </a:p>
          <a:p>
            <a:r>
              <a:t>• Health checks and monitoring</a:t>
            </a:r>
          </a:p>
          <a:p>
            <a:r>
              <a:t>• Capacity planning and stress testing</a:t>
            </a:r>
          </a:p>
          <a:p>
            <a:r>
              <a:t>• Use of reliability engineering techniques like Reliability Block Diagrams (RBDs) and fault trees.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Reliability —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Banking systems and ATMs: Reliability means transactions complete correctly. Redundancy in databases, transactional logging, and multiple network paths reduce risk of lost transactions and customer-impacting downtime.</a:t>
            </a:r>
          </a:p>
          <a:p/>
          <a:p>
            <a:r>
              <a:t>Suggested image: Reliability Block Diagram or system redundancy diagram.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Errors —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errors are incorrect, missing, or corrupted data introduced at any stage: capture, transmission, storage, or processing. Even small data errors can cascade into wrong business decisions or harm (e.g., clinical misdiagnosis).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Errors — Types &amp; Causes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Types:</a:t>
            </a:r>
          </a:p>
          <a:p>
            <a:r>
              <a:t>• Entry errors (typos, wrong formats)</a:t>
            </a:r>
          </a:p>
          <a:p>
            <a:r>
              <a:t>• Transmission errors (packet loss, encoding issues)</a:t>
            </a:r>
          </a:p>
          <a:p>
            <a:r>
              <a:t>• Storage corruption (disk errors, file-system bugs)</a:t>
            </a:r>
          </a:p>
          <a:p>
            <a:r>
              <a:t>• Semantic errors (wrong interpretation)</a:t>
            </a:r>
          </a:p>
          <a:p>
            <a:r>
              <a:t>Causes include human mistakes, faulty sensors, software bugs, and hardware failures.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Errors — Detection &amp;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Detection &amp; prevention:</a:t>
            </a:r>
          </a:p>
          <a:p>
            <a:r>
              <a:t>• Validation on input (format, ranges)</a:t>
            </a:r>
          </a:p>
          <a:p>
            <a:r>
              <a:t>• Checksums and CRCs to detect corruption</a:t>
            </a:r>
          </a:p>
          <a:p>
            <a:r>
              <a:t>• Transactional guarantees (ACID databases)</a:t>
            </a:r>
          </a:p>
          <a:p>
            <a:r>
              <a:t>• Automated data quality checks and alerts</a:t>
            </a:r>
          </a:p>
          <a:p>
            <a:r>
              <a:t>• Backups and immutable logs for recovery.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Errors —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Medical records: A wrong lab value typed into a patient record can lead to incorrect treatment. Hospitals use double-entry checks, validation ranges, and electronic interfaces to reduce such errors.</a:t>
            </a:r>
          </a:p>
          <a:p/>
          <a:p>
            <a:r>
              <a:t>Suggested image: data error/404 or corrupted file illustration.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Errors —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errors (bugs) are flaws in code or design that cause software to behave unexpectedly. They range from minor UI glitches to security vulnerabilities or system crashes.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Errors — Causes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causes:</a:t>
            </a:r>
          </a:p>
          <a:p>
            <a:r>
              <a:t>• Programming mistakes (logic errors)</a:t>
            </a:r>
          </a:p>
          <a:p>
            <a:r>
              <a:t>• Incomplete requirements or ambiguous specs</a:t>
            </a:r>
          </a:p>
          <a:p>
            <a:r>
              <a:t>• Race conditions and concurrency issues</a:t>
            </a:r>
          </a:p>
          <a:p>
            <a:r>
              <a:t>• Integration mismatches between modules</a:t>
            </a:r>
          </a:p>
          <a:p>
            <a:r>
              <a:t>• Inadequate testing and rushed releases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Errors — Testing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Mitigation approaches:</a:t>
            </a:r>
          </a:p>
          <a:p>
            <a:r>
              <a:t>• Unit, integration, system, and acceptance testing</a:t>
            </a:r>
          </a:p>
          <a:p>
            <a:r>
              <a:t>• Static code analysis and linters</a:t>
            </a:r>
          </a:p>
          <a:p>
            <a:r>
              <a:t>• Code reviews and pair programming</a:t>
            </a:r>
          </a:p>
          <a:p>
            <a:r>
              <a:t>• Continuous integration with automated test suites</a:t>
            </a:r>
          </a:p>
          <a:p>
            <a:r>
              <a:t>• Observability: logs, metrics, tracing for quick root cause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Errors —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 application that crashes when a user uploads a particular file format due to an unhandled exception. Reproducing the issue, adding unit tests for that case, and handling the exception prevents recurrence.</a:t>
            </a:r>
          </a:p>
          <a:p/>
          <a:p>
            <a:r>
              <a:t>Suggested image: software bug / crash illustration.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Failures — Why study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Studying failures reveals root causes, systemic weaknesses, and human factors. Lessons learned guide better practices in design, testing, and governance to avoid repeating catastrophic mistakes.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Ariane 5 (1996)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• The Ariane 5 rocket self-destructed shortly after launch due to a software error in a reused inertial reference module. A 64-bit float was converted to a 16-bit integer, causing an overflow and system failure. Lesson: reuse requires re-validation in the new operational context.</a:t>
            </a:r>
          </a:p>
          <a:p/>
          <a:p>
            <a:r>
              <a:t>Suggested image: Ariane 5 diagram / failure timeline. Citation: see suggested sources.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Therac-25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• Therac-25 radiation therapy machine delivered lethal overdoses because of race conditions and inadequate software safety interlocks. Human operators were harmed. Lesson: safety-critical software needs formal verification, hardware interlocks, and thorough testing.</a:t>
            </a:r>
          </a:p>
          <a:p/>
          <a:p>
            <a:r>
              <a:t>Suggested image: medical device / Therac-25 diagram.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Boeing 737 MAX (MCAS)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• Faults in the MCAS flight control software and inadequate pilot training contributed to two crashes. Design assumptions and lack of redundancy in angle-of-attack sensing were critical. Lesson: consider sensor redundancy, human factors, and clear documentation.</a:t>
            </a:r>
          </a:p>
          <a:p/>
          <a:p>
            <a:r>
              <a:t>Suggested image: Boeing 737 MAX diagram.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Bias —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bias occurs when models or automated systems produce systematically unfair or discriminatory outcomes. Bias typically arises from biased training data, flawed feature choices, or assumptions embedded in model design.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Bias — Causes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Causes:</a:t>
            </a:r>
          </a:p>
          <a:p>
            <a:r>
              <a:t>• Historical bias in training data</a:t>
            </a:r>
          </a:p>
          <a:p>
            <a:r>
              <a:t>• Sampling bias (under-representation)</a:t>
            </a:r>
          </a:p>
          <a:p>
            <a:r>
              <a:t>• Labeling bias (subjective labels)</a:t>
            </a:r>
          </a:p>
          <a:p>
            <a:r>
              <a:t>• Proxy variables that correlate with protected traits</a:t>
            </a:r>
          </a:p>
          <a:p>
            <a:r>
              <a:t>Examples: hiring systems downgrading female applicants; facial recognition with higher error rates on darker skin tones.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Bias — Measurement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Measurement:</a:t>
            </a:r>
          </a:p>
          <a:p>
            <a:r>
              <a:t>• Fairness metrics (demographic parity, equalized odds, predictive parity)</a:t>
            </a:r>
          </a:p>
          <a:p>
            <a:r>
              <a:t>Mitigation:</a:t>
            </a:r>
          </a:p>
          <a:p>
            <a:r>
              <a:t>• Use diverse and representative data</a:t>
            </a:r>
          </a:p>
          <a:p>
            <a:r>
              <a:t>• Preprocessing (de-biasing), in-process constraints, post-processing corrections</a:t>
            </a:r>
          </a:p>
          <a:p>
            <a:r>
              <a:t>• Human-in-the-loop review and monitoring</a:t>
            </a:r>
          </a:p>
          <a:p>
            <a:r>
              <a:t>• Transparency and documentation (model cards, data sheets)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Bias —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measures:</a:t>
            </a:r>
          </a:p>
          <a:p>
            <a:r>
              <a:t>• Bias audits and third-party reviews</a:t>
            </a:r>
          </a:p>
          <a:p>
            <a:r>
              <a:t>• Clear ownership and accountability for models</a:t>
            </a:r>
          </a:p>
          <a:p>
            <a:r>
              <a:t>• Regular monitoring in production for drift and fairness metrics</a:t>
            </a:r>
          </a:p>
          <a:p>
            <a:r>
              <a:t>• Legal and ethical compliance (GDPR, anti-discrimination laws)</a:t>
            </a:r>
          </a:p>
          <a:p/>
          <a:p>
            <a:r>
              <a:t>Suggested image: algorithm bias illustration.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short checklist teams can use:</a:t>
            </a:r>
          </a:p>
          <a:p>
            <a:r>
              <a:t>• Define reliability and correctness requirements early</a:t>
            </a:r>
          </a:p>
          <a:p>
            <a:r>
              <a:t>• Adopt test-driven development and CI/CD</a:t>
            </a:r>
          </a:p>
          <a:p>
            <a:r>
              <a:t>• Implement monitoring, alerts, and runbooks</a:t>
            </a:r>
          </a:p>
          <a:p>
            <a:r>
              <a:t>• Use input validation, checksums, and backups for data</a:t>
            </a:r>
          </a:p>
          <a:p>
            <a:r>
              <a:t>• Perform bias audits and document models</a:t>
            </a:r>
          </a:p>
          <a:p>
            <a:r>
              <a:t>• Conduct post-mortems after incidents to share lessons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Suggested tools and concepts:</a:t>
            </a:r>
          </a:p>
          <a:p>
            <a:r>
              <a:t>• Monitoring: Prometheus, Grafana, ELK stack</a:t>
            </a:r>
          </a:p>
          <a:p>
            <a:r>
              <a:t>• Testing: pytest / JUnit, Selenium</a:t>
            </a:r>
          </a:p>
          <a:p>
            <a:r>
              <a:t>• Data QA: Great Expectations</a:t>
            </a:r>
          </a:p>
          <a:p>
            <a:r>
              <a:t>• Reliability engineering: RBD, FMEA, chaos testing (Chaos Monkey)</a:t>
            </a:r>
          </a:p>
          <a:p/>
          <a:p>
            <a:r>
              <a:t>References and image sources listed on final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Reliability, data integrity, robust software engineering, learning from failures, and fairness in algorithms are core to professional practices. Investing in these areas reduces risk, protects users, and increases trust in systems.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Image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references and suggested image sources you can use to replace placeholders in the PPT:</a:t>
            </a:r>
          </a:p>
          <a:p/>
          <a:p>
            <a:r>
              <a:t>1. Reliability Block Diagram resources (Isograph / MDPI). citeturn0image0turn0image2</a:t>
            </a:r>
          </a:p>
          <a:p>
            <a:r>
              <a:t>2. Data error illustrations / vectors (Iconscout, VectorStock). citeturn0image6turn0image9</a:t>
            </a:r>
          </a:p>
          <a:p>
            <a:r>
              <a:t>3. Software failure case studies (Ariane 5, Therac-25, Boeing 737 MAX) — look up detailed reports from official investigation boards (ESA, NRC, NTSB).</a:t>
            </a:r>
          </a:p>
          <a:p>
            <a:r>
              <a:t>4. Algorithm bias illustrations and articles (search for fairness metrics and model cards online).</a:t>
            </a:r>
          </a:p>
          <a:p/>
          <a:p>
            <a:r>
              <a:t>Note: I could not fetch or embed full-resolution images into the PPT in this environment. Replace the image placeholders with the suggested images from the referenced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8169</Words>
  <Application>WPS Presentation</Application>
  <PresentationFormat>On-screen Show (4:3)</PresentationFormat>
  <Paragraphs>198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Title</vt:lpstr>
      <vt:lpstr>Overview</vt:lpstr>
      <vt:lpstr>Computer Reliability — Definition</vt:lpstr>
      <vt:lpstr>Computer Reliability — Metrics</vt:lpstr>
      <vt:lpstr>Computer Reliability — Causes of Failure</vt:lpstr>
      <vt:lpstr>Computer Reliability — Design Practices</vt:lpstr>
      <vt:lpstr>Computer Reliability — Example</vt:lpstr>
      <vt:lpstr>Data Errors — Definition</vt:lpstr>
      <vt:lpstr>Data Errors — Types &amp; Causes</vt:lpstr>
      <vt:lpstr>Data Errors — Detection &amp; Prevention</vt:lpstr>
      <vt:lpstr>Data Errors — Example</vt:lpstr>
      <vt:lpstr>Software Errors — Definition</vt:lpstr>
      <vt:lpstr>Software Errors — Causes</vt:lpstr>
      <vt:lpstr>Software Errors — Testing &amp; Mitigation</vt:lpstr>
      <vt:lpstr>Software Errors — Example</vt:lpstr>
      <vt:lpstr>Notable Failures — Why study them</vt:lpstr>
      <vt:lpstr>Case Study: Ariane 5 (1996)</vt:lpstr>
      <vt:lpstr>Case Study: Therac-25</vt:lpstr>
      <vt:lpstr>Case Study: Boeing 737 MAX (MCAS)</vt:lpstr>
      <vt:lpstr>Algorithm Bias — Definition</vt:lpstr>
      <vt:lpstr>Algorithm Bias — Causes &amp; Examples</vt:lpstr>
      <vt:lpstr>Algorithm Bias — Measurement &amp; Mitigation</vt:lpstr>
      <vt:lpstr>Algorithm Bias — Governance</vt:lpstr>
      <vt:lpstr>Practical Checklist</vt:lpstr>
      <vt:lpstr>Tools &amp; Further Reading</vt:lpstr>
      <vt:lpstr>Conclusion</vt:lpstr>
      <vt:lpstr>References &amp; Image Suggestions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Muhammad usman shahid</cp:lastModifiedBy>
  <cp:revision>4</cp:revision>
  <dcterms:created xsi:type="dcterms:W3CDTF">2013-01-27T09:14:00Z</dcterms:created>
  <dcterms:modified xsi:type="dcterms:W3CDTF">2026-04-30T07:17:54Z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60488D0669E14994B8C8FEA45142E008_12</vt:lpwstr>
  </property>
  <property fmtid="{D5CDD505-2E9C-101B-9397-08002B2CF9AE}" pid="3" name="KSOProductBuildVer">
    <vt:lpwstr>1033-12.1.0.25862</vt:lpwstr>
  </property>
</Properties>
</file>