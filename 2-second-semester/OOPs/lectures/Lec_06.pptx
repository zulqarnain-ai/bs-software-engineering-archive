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9"/>
  </p:notesMasterIdLst>
  <p:sldIdLst>
    <p:sldId id="317" r:id="rId2"/>
    <p:sldId id="326" r:id="rId3"/>
    <p:sldId id="327" r:id="rId4"/>
    <p:sldId id="328" r:id="rId5"/>
    <p:sldId id="260" r:id="rId6"/>
    <p:sldId id="329" r:id="rId7"/>
    <p:sldId id="261" r:id="rId8"/>
    <p:sldId id="264"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330" r:id="rId41"/>
    <p:sldId id="331" r:id="rId42"/>
    <p:sldId id="332" r:id="rId43"/>
    <p:sldId id="333" r:id="rId44"/>
    <p:sldId id="334" r:id="rId45"/>
    <p:sldId id="335" r:id="rId46"/>
    <p:sldId id="336" r:id="rId47"/>
    <p:sldId id="337" r:id="rId48"/>
    <p:sldId id="348" r:id="rId49"/>
    <p:sldId id="349" r:id="rId50"/>
    <p:sldId id="350" r:id="rId51"/>
    <p:sldId id="351" r:id="rId52"/>
    <p:sldId id="352" r:id="rId53"/>
    <p:sldId id="338" r:id="rId54"/>
    <p:sldId id="339" r:id="rId55"/>
    <p:sldId id="340" r:id="rId56"/>
    <p:sldId id="341" r:id="rId57"/>
    <p:sldId id="342" r:id="rId58"/>
    <p:sldId id="343" r:id="rId59"/>
    <p:sldId id="344" r:id="rId60"/>
    <p:sldId id="307" r:id="rId61"/>
    <p:sldId id="312" r:id="rId62"/>
    <p:sldId id="309" r:id="rId63"/>
    <p:sldId id="310" r:id="rId64"/>
    <p:sldId id="311" r:id="rId65"/>
    <p:sldId id="314" r:id="rId66"/>
    <p:sldId id="315" r:id="rId67"/>
    <p:sldId id="325" r:id="rId6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88" autoAdjust="0"/>
    <p:restoredTop sz="83700" autoAdjust="0"/>
  </p:normalViewPr>
  <p:slideViewPr>
    <p:cSldViewPr>
      <p:cViewPr varScale="1">
        <p:scale>
          <a:sx n="56" d="100"/>
          <a:sy n="56" d="100"/>
        </p:scale>
        <p:origin x="201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BC242495-5141-428E-B307-9A86EE6ED867}" type="datetimeFigureOut">
              <a:rPr lang="en-US"/>
              <a:pPr>
                <a:defRPr/>
              </a:pPr>
              <a:t>3/25/2022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DF554F4-3161-40CC-BA11-980923C7F114}"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All the classes, interfaces, packages, methods and fields of java programming language are given according to java naming convention.</a:t>
            </a:r>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FF52EEE-A009-4135-A2DB-6AF50824C15A}" type="slidenum">
              <a:rPr lang="en-US" altLang="en-US" smtClean="0"/>
              <a:pPr/>
              <a:t>3</a:t>
            </a:fld>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82050CA-2162-466B-835B-1CD33EFF9D9B}" type="slidenum">
              <a:rPr lang="en-US" altLang="en-US" smtClean="0"/>
              <a:pPr/>
              <a:t>4</a:t>
            </a:fld>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Class is a template or blueprint from which objects are created. So object is the instance(result) of a class.</a:t>
            </a:r>
          </a:p>
          <a:p>
            <a:endParaRPr lang="en-US" dirty="0"/>
          </a:p>
        </p:txBody>
      </p:sp>
      <p:sp>
        <p:nvSpPr>
          <p:cNvPr id="4" name="Slide Number Placeholder 3"/>
          <p:cNvSpPr>
            <a:spLocks noGrp="1"/>
          </p:cNvSpPr>
          <p:nvPr>
            <p:ph type="sldNum" sz="quarter" idx="10"/>
          </p:nvPr>
        </p:nvSpPr>
        <p:spPr/>
        <p:txBody>
          <a:bodyPr/>
          <a:lstStyle/>
          <a:p>
            <a:pPr>
              <a:defRPr/>
            </a:pPr>
            <a:fld id="{EDF554F4-3161-40CC-BA11-980923C7F114}" type="slidenum">
              <a:rPr lang="en-US" smtClean="0"/>
              <a:pPr>
                <a:defRPr/>
              </a:pPr>
              <a:t>6</a:t>
            </a:fld>
            <a:endParaRPr lang="en-US"/>
          </a:p>
        </p:txBody>
      </p:sp>
    </p:spTree>
    <p:extLst>
      <p:ext uri="{BB962C8B-B14F-4D97-AF65-F5344CB8AC3E}">
        <p14:creationId xmlns:p14="http://schemas.microsoft.com/office/powerpoint/2010/main" val="2630930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5BD1DBB-4FEF-4A5A-B4F7-49E37B0B6994}" type="slidenum">
              <a:rPr lang="en-US" altLang="en-US" smtClean="0"/>
              <a:pPr/>
              <a:t>7</a:t>
            </a:fld>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59B64FF-4C81-4226-ABFE-FFCBFBED21E0}" type="slidenum">
              <a:rPr lang="en-US" altLang="en-US" smtClean="0"/>
              <a:pPr/>
              <a:t>8</a:t>
            </a:fld>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smtClean="0"/>
              <a:t>The new keyword is used to allocate memory at run time. All objects get memory in Heap memory area.</a:t>
            </a:r>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5986B1C-DCDE-4EF8-BA93-952D0FBB5081}" type="slidenum">
              <a:rPr lang="en-US" altLang="en-US" smtClean="0"/>
              <a:pPr/>
              <a:t>31</a:t>
            </a:fld>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333D7DC-F1C6-4572-8BAB-7FE74DD14EA6}" type="slidenum">
              <a:rPr lang="en-US" altLang="en-US" smtClean="0"/>
              <a:pPr/>
              <a:t>33</a:t>
            </a:fld>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532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2A466E-20F3-4BBA-9F4F-F11A61E63A07}" type="slidenum">
              <a:rPr lang="en-US" altLang="en-US" smtClean="0"/>
              <a:pPr/>
              <a:t>34</a:t>
            </a:fld>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71DBBE4-4AFD-4795-8055-2DBA1884E512}" type="slidenum">
              <a:rPr lang="en-US" altLang="en-US" smtClean="0"/>
              <a:pPr/>
              <a:t>35</a:t>
            </a:fld>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a:defRPr/>
            </a:pPr>
            <a:endParaRPr lang="en-US" dirty="0"/>
          </a:p>
        </p:txBody>
      </p:sp>
      <p:sp>
        <p:nvSpPr>
          <p:cNvPr id="61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11058E5-D1D6-4A5F-969D-B5D4E4334226}" type="slidenum">
              <a:rPr lang="en-US" altLang="en-US" smtClean="0"/>
              <a:pPr/>
              <a:t>40</a:t>
            </a:fld>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634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016EC50-059D-4261-8BE0-20F200599E0F}" type="slidenum">
              <a:rPr lang="en-US" altLang="en-US" smtClean="0"/>
              <a:pPr/>
              <a:t>41</a:t>
            </a:fld>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665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9A2EBB0-6AAA-4D39-A8DD-53ECF235FF4F}" type="slidenum">
              <a:rPr lang="en-US" altLang="en-US" smtClean="0"/>
              <a:pPr/>
              <a:t>43</a:t>
            </a:fld>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a:defRPr/>
            </a:pPr>
            <a:endParaRPr lang="en-US" dirty="0"/>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83E46E-D4EF-48C0-9305-9B1EEBC70D72}" type="slidenum">
              <a:rPr lang="en-US" altLang="en-US" smtClean="0"/>
              <a:pPr/>
              <a:t>45</a:t>
            </a:fld>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endParaRPr lang="en-US" dirty="0"/>
          </a:p>
        </p:txBody>
      </p:sp>
      <p:sp>
        <p:nvSpPr>
          <p:cNvPr id="716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AC70872-8601-486A-8C02-69538C9F7A9E}" type="slidenum">
              <a:rPr lang="en-US" altLang="en-US" smtClean="0"/>
              <a:pPr/>
              <a:t>46</a:t>
            </a:fld>
            <a:endParaRPr lang="en-US"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smtClean="0"/>
              <a:t>object gets the memory in heap memory area. The reference variable refers to the object allocated in the heap memory area. Here, s1 and s2 both are reference variables that refer to the objects allocated in memory.</a:t>
            </a:r>
          </a:p>
        </p:txBody>
      </p:sp>
      <p:sp>
        <p:nvSpPr>
          <p:cNvPr id="737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138DA9E-058D-4227-9E11-84D8C0D5E838}" type="slidenum">
              <a:rPr lang="en-US" altLang="en-US" smtClean="0"/>
              <a:pPr/>
              <a:t>47</a:t>
            </a:fld>
            <a:endParaRPr lang="en-US"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endParaRPr lang="en-US" dirty="0"/>
          </a:p>
        </p:txBody>
      </p:sp>
      <p:sp>
        <p:nvSpPr>
          <p:cNvPr id="757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D610E5-2A9A-4ACE-B918-0EE202C0D144}" type="slidenum">
              <a:rPr lang="en-US" altLang="en-US" smtClean="0"/>
              <a:pPr/>
              <a:t>53</a:t>
            </a:fld>
            <a:endParaRPr lang="en-US"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778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EF4F20-E0BE-4F3A-BEF2-F3C8F34200FD}" type="slidenum">
              <a:rPr lang="en-US" altLang="en-US" smtClean="0"/>
              <a:pPr/>
              <a:t>54</a:t>
            </a:fld>
            <a:endParaRPr lang="en-US"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798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2C4EC99-5AF6-4EB7-8C05-009DA7C4DE82}" type="slidenum">
              <a:rPr lang="en-US" altLang="en-US" smtClean="0"/>
              <a:pPr/>
              <a:t>55</a:t>
            </a:fld>
            <a:endParaRPr lang="en-US"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B1CB34C-3AD4-41AB-A064-2F81061B40BE}" type="slidenum">
              <a:rPr lang="en-US" altLang="en-US" smtClean="0"/>
              <a:pPr/>
              <a:t>57</a:t>
            </a:fld>
            <a:endParaRPr lang="en-US"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endParaRPr lang="en-US" dirty="0"/>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FC8604D-8A60-462F-83A0-B523F8641B2F}" type="slidenum">
              <a:rPr lang="en-US" altLang="en-US" smtClean="0"/>
              <a:pPr/>
              <a:t>59</a:t>
            </a:fld>
            <a:endParaRPr lang="en-US"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034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6D0807C-7C95-4ADA-A2FE-94E039C5D123}" type="slidenum">
              <a:rPr lang="en-US" altLang="en-US" smtClean="0"/>
              <a:pPr/>
              <a:t>62</a:t>
            </a:fld>
            <a:endParaRPr lang="en-US"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1054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E0699F6-EB24-4753-B538-0E30541B5BBB}" type="slidenum">
              <a:rPr lang="en-US" altLang="en-US" smtClean="0"/>
              <a:pPr/>
              <a:t>63</a:t>
            </a:fld>
            <a:endParaRPr lang="en-US"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075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52CE0CC-AA9C-4F35-9A20-5FFEB28DFB4A}" type="slidenum">
              <a:rPr lang="en-US" altLang="en-US" smtClean="0"/>
              <a:pPr/>
              <a:t>64</a:t>
            </a:fld>
            <a:endParaRPr lang="en-US"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105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9CD4C3A-3136-4259-BA6E-A87DB169A08E}" type="slidenum">
              <a:rPr lang="en-US" altLang="en-US" smtClean="0"/>
              <a:pPr/>
              <a:t>66</a:t>
            </a:fld>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nvGrpSpPr>
          <p:cNvPr id="5"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7" name="Freeform 18"/>
            <p:cNvSpPr>
              <a:spLocks/>
            </p:cNvSpPr>
            <p:nvPr/>
          </p:nvSpPr>
          <p:spPr bwMode="auto">
            <a:xfrm>
              <a:off x="35926" y="5135025"/>
              <a:ext cx="9108074" cy="838869"/>
            </a:xfrm>
            <a:custGeom>
              <a:avLst/>
              <a:gdLst>
                <a:gd name="T0" fmla="*/ 0 w 5760"/>
                <a:gd name="T1" fmla="*/ 0 h 528"/>
                <a:gd name="T2" fmla="*/ 2147483646 w 5760"/>
                <a:gd name="T3" fmla="*/ 0 h 528"/>
                <a:gd name="T4" fmla="*/ 2147483646 w 5760"/>
                <a:gd name="T5" fmla="*/ 2147483646 h 528"/>
                <a:gd name="T6" fmla="*/ 2147483646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latin typeface="Arial" pitchFamily="34" charset="0"/>
                <a:cs typeface="Arial" pitchFamily="34" charset="0"/>
              </a:defRPr>
            </a:lvl1pPr>
            <a:extLst/>
          </a:lstStyle>
          <a:p>
            <a:r>
              <a:rPr lang="en-US" dirty="0" smtClean="0"/>
              <a:t>Click to edit Master title style</a:t>
            </a:r>
            <a:endParaRPr lang="en-US" dirty="0"/>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latin typeface="Arial" pitchFamily="34" charset="0"/>
                <a:cs typeface="Arial"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smtClean="0"/>
              <a:t>Click to edit Master subtitle style</a:t>
            </a:r>
            <a:endParaRPr lang="en-US" dirty="0"/>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fld id="{2B7F057F-8760-486B-AA13-607C33E0C881}" type="datetimeFigureOut">
              <a:rPr lang="en-US"/>
              <a:pPr>
                <a:defRPr/>
              </a:pPr>
              <a:t>3/25/2022</a:t>
            </a:fld>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p>
        </p:txBody>
      </p:sp>
      <p:sp>
        <p:nvSpPr>
          <p:cNvPr id="13" name="Slide Number Placeholder 26"/>
          <p:cNvSpPr>
            <a:spLocks noGrp="1"/>
          </p:cNvSpPr>
          <p:nvPr>
            <p:ph type="sldNum" sz="quarter" idx="12"/>
          </p:nvPr>
        </p:nvSpPr>
        <p:spPr/>
        <p:txBody>
          <a:bodyPr/>
          <a:lstStyle>
            <a:lvl1pPr>
              <a:defRPr>
                <a:solidFill>
                  <a:srgbClr val="FFFFFF"/>
                </a:solidFill>
              </a:defRPr>
            </a:lvl1pPr>
          </a:lstStyle>
          <a:p>
            <a:pPr>
              <a:defRPr/>
            </a:pPr>
            <a:fld id="{61218B3C-12FB-4C96-8641-3CACF3687367}" type="slidenum">
              <a:rPr lang="en-US"/>
              <a:pPr>
                <a:defRPr/>
              </a:pPr>
              <a:t>‹#›</a:t>
            </a:fld>
            <a:endParaRPr lang="en-US"/>
          </a:p>
        </p:txBody>
      </p:sp>
    </p:spTree>
    <p:extLst>
      <p:ext uri="{BB962C8B-B14F-4D97-AF65-F5344CB8AC3E}">
        <p14:creationId xmlns:p14="http://schemas.microsoft.com/office/powerpoint/2010/main" val="2672934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lang="en-US" dirty="0" smtClean="0"/>
              <a:t>Click to edit Master title style</a:t>
            </a:r>
            <a:endParaRPr lang="en-US" dirty="0"/>
          </a:p>
        </p:txBody>
      </p:sp>
      <p:sp>
        <p:nvSpPr>
          <p:cNvPr id="4" name="Date Placeholder 9"/>
          <p:cNvSpPr>
            <a:spLocks noGrp="1"/>
          </p:cNvSpPr>
          <p:nvPr>
            <p:ph type="dt" sz="half" idx="10"/>
          </p:nvPr>
        </p:nvSpPr>
        <p:spPr/>
        <p:txBody>
          <a:bodyPr/>
          <a:lstStyle>
            <a:lvl1pPr>
              <a:defRPr/>
            </a:lvl1pPr>
          </a:lstStyle>
          <a:p>
            <a:pPr>
              <a:defRPr/>
            </a:pPr>
            <a:fld id="{897BE922-67C9-4777-BFFA-F6EC593DC63D}" type="datetimeFigureOut">
              <a:rPr lang="en-US"/>
              <a:pPr>
                <a:defRPr/>
              </a:pPr>
              <a:t>3/25/2022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5ECD111F-D03F-4ED5-A247-0AC940C4EDB4}" type="slidenum">
              <a:rPr lang="en-US"/>
              <a:pPr>
                <a:defRPr/>
              </a:pPr>
              <a:t>‹#›</a:t>
            </a:fld>
            <a:endParaRPr lang="en-US"/>
          </a:p>
        </p:txBody>
      </p:sp>
    </p:spTree>
    <p:extLst>
      <p:ext uri="{BB962C8B-B14F-4D97-AF65-F5344CB8AC3E}">
        <p14:creationId xmlns:p14="http://schemas.microsoft.com/office/powerpoint/2010/main" val="3332196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fld id="{4EE6513A-24D3-405E-8DB4-8F90CF76102C}" type="datetimeFigureOut">
              <a:rPr lang="en-US"/>
              <a:pPr>
                <a:defRPr/>
              </a:pPr>
              <a:t>3/25/2022</a:t>
            </a:fld>
            <a:endParaRPr lang="en-US"/>
          </a:p>
        </p:txBody>
      </p:sp>
      <p:sp>
        <p:nvSpPr>
          <p:cNvPr id="7" name="Footer Placeholder 4"/>
          <p:cNvSpPr>
            <a:spLocks noGrp="1"/>
          </p:cNvSpPr>
          <p:nvPr>
            <p:ph type="ftr" sz="quarter" idx="11"/>
          </p:nvPr>
        </p:nvSpPr>
        <p:spPr/>
        <p:txBody>
          <a:bodyPr/>
          <a:lstStyle>
            <a:lvl1pPr>
              <a:defRPr/>
            </a:lvl1pPr>
            <a:extLst/>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29F9F0FE-9EDF-46C5-982A-36FC47EC96EF}" type="slidenum">
              <a:rPr lang="en-US"/>
              <a:pPr>
                <a:defRPr/>
              </a:pPr>
              <a:t>‹#›</a:t>
            </a:fld>
            <a:endParaRPr lang="en-US"/>
          </a:p>
        </p:txBody>
      </p:sp>
    </p:spTree>
    <p:extLst>
      <p:ext uri="{BB962C8B-B14F-4D97-AF65-F5344CB8AC3E}">
        <p14:creationId xmlns:p14="http://schemas.microsoft.com/office/powerpoint/2010/main" val="219814219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fld id="{BD9EEA4A-9E77-4E4D-BDFC-86525D4EE171}" type="datetimeFigureOut">
              <a:rPr lang="en-US"/>
              <a:pPr>
                <a:defRPr/>
              </a:pPr>
              <a:t>3/25/2022</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08CB9796-9AD8-4C3A-BC99-6A278E1ABC62}" type="slidenum">
              <a:rPr lang="en-US"/>
              <a:pPr>
                <a:defRPr/>
              </a:pPr>
              <a:t>‹#›</a:t>
            </a:fld>
            <a:endParaRPr lang="en-US"/>
          </a:p>
        </p:txBody>
      </p:sp>
    </p:spTree>
    <p:extLst>
      <p:ext uri="{BB962C8B-B14F-4D97-AF65-F5344CB8AC3E}">
        <p14:creationId xmlns:p14="http://schemas.microsoft.com/office/powerpoint/2010/main" val="174667458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fld id="{1A913461-E795-4B13-B6F8-D8D202E552BA}" type="datetimeFigureOut">
              <a:rPr lang="en-US"/>
              <a:pPr>
                <a:defRPr/>
              </a:pPr>
              <a:t>3/25/2022</a:t>
            </a:fld>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7071E060-67AF-4D3D-A651-ED7BEFBEB36A}" type="slidenum">
              <a:rPr lang="en-US"/>
              <a:pPr>
                <a:defRPr/>
              </a:pPr>
              <a:t>‹#›</a:t>
            </a:fld>
            <a:endParaRPr lang="en-US"/>
          </a:p>
        </p:txBody>
      </p:sp>
    </p:spTree>
    <p:extLst>
      <p:ext uri="{BB962C8B-B14F-4D97-AF65-F5344CB8AC3E}">
        <p14:creationId xmlns:p14="http://schemas.microsoft.com/office/powerpoint/2010/main" val="132554240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fld id="{76C99E74-DEA6-4A51-A4E9-F23F6B3D4DF5}" type="datetimeFigureOut">
              <a:rPr lang="en-US"/>
              <a:pPr>
                <a:defRPr/>
              </a:pPr>
              <a:t>3/25/2022</a:t>
            </a:fld>
            <a:endParaRPr lang="en-US"/>
          </a:p>
        </p:txBody>
      </p:sp>
      <p:sp>
        <p:nvSpPr>
          <p:cNvPr id="4" name="Footer Placeholder 3"/>
          <p:cNvSpPr>
            <a:spLocks noGrp="1"/>
          </p:cNvSpPr>
          <p:nvPr>
            <p:ph type="ftr" sz="quarter" idx="11"/>
          </p:nvPr>
        </p:nvSpPr>
        <p:spPr/>
        <p:txBody>
          <a:bodyPr/>
          <a:lstStyle>
            <a:lvl1pPr>
              <a:defRPr/>
            </a:lvl1pPr>
            <a:extLst/>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DBF7EF33-0757-4031-BACA-211CE80CAD3F}" type="slidenum">
              <a:rPr lang="en-US"/>
              <a:pPr>
                <a:defRPr/>
              </a:pPr>
              <a:t>‹#›</a:t>
            </a:fld>
            <a:endParaRPr lang="en-US"/>
          </a:p>
        </p:txBody>
      </p:sp>
    </p:spTree>
    <p:extLst>
      <p:ext uri="{BB962C8B-B14F-4D97-AF65-F5344CB8AC3E}">
        <p14:creationId xmlns:p14="http://schemas.microsoft.com/office/powerpoint/2010/main" val="2479762139"/>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EC1ADCFA-A368-45A4-8671-C5500CFE2D9E}" type="datetimeFigureOut">
              <a:rPr lang="en-US"/>
              <a:pPr>
                <a:defRPr/>
              </a:pPr>
              <a:t>3/25/2022</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AE970CB7-BC40-4F19-8100-787B8818E4F8}" type="slidenum">
              <a:rPr lang="en-US"/>
              <a:pPr>
                <a:defRPr/>
              </a:pPr>
              <a:t>‹#›</a:t>
            </a:fld>
            <a:endParaRPr lang="en-US"/>
          </a:p>
        </p:txBody>
      </p:sp>
    </p:spTree>
    <p:extLst>
      <p:ext uri="{BB962C8B-B14F-4D97-AF65-F5344CB8AC3E}">
        <p14:creationId xmlns:p14="http://schemas.microsoft.com/office/powerpoint/2010/main" val="3183153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fld id="{19631EAB-0E17-463A-9A49-F4AF4A6EF1BD}" type="datetimeFigureOut">
              <a:rPr lang="en-US"/>
              <a:pPr>
                <a:defRPr/>
              </a:pPr>
              <a:t>3/25/2022</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C35AEA7F-0087-4956-940C-3352EBCF5F59}" type="slidenum">
              <a:rPr lang="en-US"/>
              <a:pPr>
                <a:defRPr/>
              </a:pPr>
              <a:t>‹#›</a:t>
            </a:fld>
            <a:endParaRPr lang="en-US"/>
          </a:p>
        </p:txBody>
      </p:sp>
    </p:spTree>
    <p:extLst>
      <p:ext uri="{BB962C8B-B14F-4D97-AF65-F5344CB8AC3E}">
        <p14:creationId xmlns:p14="http://schemas.microsoft.com/office/powerpoint/2010/main" val="309220240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6" name="Freeform 15"/>
          <p:cNvSpPr>
            <a:spLocks/>
          </p:cNvSpPr>
          <p:nvPr/>
        </p:nvSpPr>
        <p:spPr bwMode="auto">
          <a:xfrm>
            <a:off x="485775" y="5938838"/>
            <a:ext cx="3690938"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fld id="{AB566F84-2DC8-4C82-A152-8A40EE005038}" type="datetimeFigureOut">
              <a:rPr lang="en-US"/>
              <a:pPr>
                <a:defRPr/>
              </a:pPr>
              <a:t>3/25/2022</a:t>
            </a:fld>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endParaRPr lang="en-US"/>
          </a:p>
        </p:txBody>
      </p:sp>
      <p:sp>
        <p:nvSpPr>
          <p:cNvPr id="13" name="Slide Number Placeholder 6"/>
          <p:cNvSpPr>
            <a:spLocks noGrp="1"/>
          </p:cNvSpPr>
          <p:nvPr>
            <p:ph type="sldNum" sz="quarter" idx="12"/>
          </p:nvPr>
        </p:nvSpPr>
        <p:spPr/>
        <p:txBody>
          <a:bodyPr/>
          <a:lstStyle>
            <a:lvl1pPr>
              <a:defRPr/>
            </a:lvl1pPr>
          </a:lstStyle>
          <a:p>
            <a:pPr>
              <a:defRPr/>
            </a:pPr>
            <a:fld id="{1B2F9590-536F-4D0D-A590-01B6F7501C21}" type="slidenum">
              <a:rPr lang="en-US"/>
              <a:pPr>
                <a:defRPr/>
              </a:pPr>
              <a:t>‹#›</a:t>
            </a:fld>
            <a:endParaRPr lang="en-US"/>
          </a:p>
        </p:txBody>
      </p:sp>
    </p:spTree>
    <p:extLst>
      <p:ext uri="{BB962C8B-B14F-4D97-AF65-F5344CB8AC3E}">
        <p14:creationId xmlns:p14="http://schemas.microsoft.com/office/powerpoint/2010/main" val="44122700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B14313E6-CB6C-4973-8E9F-227BDBB40F2C}" type="datetimeFigureOut">
              <a:rPr lang="en-US"/>
              <a:pPr>
                <a:defRPr/>
              </a:pPr>
              <a:t>3/25/2022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4D7EBD85-D119-4591-9BF9-1E9344B3EB8C}" type="slidenum">
              <a:rPr lang="en-US"/>
              <a:pPr>
                <a:defRPr/>
              </a:pPr>
              <a:t>‹#›</a:t>
            </a:fld>
            <a:endParaRPr lang="en-US"/>
          </a:p>
        </p:txBody>
      </p:sp>
    </p:spTree>
    <p:extLst>
      <p:ext uri="{BB962C8B-B14F-4D97-AF65-F5344CB8AC3E}">
        <p14:creationId xmlns:p14="http://schemas.microsoft.com/office/powerpoint/2010/main" val="1804349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799E7063-23A3-49A3-9678-2EDD97BEB0BB}" type="datetimeFigureOut">
              <a:rPr lang="en-US"/>
              <a:pPr>
                <a:defRPr/>
              </a:pPr>
              <a:t>3/25/2022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1D6E0A81-1DFB-42A7-9A7B-E206E05FC0EA}" type="slidenum">
              <a:rPr lang="en-US"/>
              <a:pPr>
                <a:defRPr/>
              </a:pPr>
              <a:t>‹#›</a:t>
            </a:fld>
            <a:endParaRPr lang="en-US"/>
          </a:p>
        </p:txBody>
      </p:sp>
    </p:spTree>
    <p:extLst>
      <p:ext uri="{BB962C8B-B14F-4D97-AF65-F5344CB8AC3E}">
        <p14:creationId xmlns:p14="http://schemas.microsoft.com/office/powerpoint/2010/main" val="1577258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dirty="0" smtClean="0"/>
              <a:t>Click to edit Master title style</a:t>
            </a:r>
            <a:endParaRPr lang="en-US" dirty="0"/>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mn-lt"/>
                <a:cs typeface="+mn-cs"/>
              </a:defRPr>
            </a:lvl1pPr>
            <a:extLst/>
          </a:lstStyle>
          <a:p>
            <a:pPr>
              <a:defRPr/>
            </a:pPr>
            <a:fld id="{9C76EF58-4949-489A-87A9-2B2D481E09EE}" type="datetimeFigureOut">
              <a:rPr lang="en-US"/>
              <a:pPr>
                <a:defRPr/>
              </a:pPr>
              <a:t>3/25/2022</a:t>
            </a:fld>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mn-lt"/>
                <a:cs typeface="+mn-cs"/>
              </a:defRPr>
            </a:lvl1pPr>
            <a:extLst/>
          </a:lstStyle>
          <a:p>
            <a:pPr>
              <a:defRPr/>
            </a:pP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atin typeface="Lucida Sans Unicode" panose="020B0602030504020204" pitchFamily="34" charset="0"/>
              </a:defRPr>
            </a:lvl1pPr>
          </a:lstStyle>
          <a:p>
            <a:pPr>
              <a:defRPr/>
            </a:pPr>
            <a:fld id="{F73E7B33-CAEC-4CD2-8D45-BF6ADD02E8B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025" r:id="rId1"/>
    <p:sldLayoutId id="2147484021" r:id="rId2"/>
    <p:sldLayoutId id="2147484026" r:id="rId3"/>
    <p:sldLayoutId id="2147484027" r:id="rId4"/>
    <p:sldLayoutId id="2147484028" r:id="rId5"/>
    <p:sldLayoutId id="2147484029" r:id="rId6"/>
    <p:sldLayoutId id="2147484022" r:id="rId7"/>
    <p:sldLayoutId id="2147484030" r:id="rId8"/>
    <p:sldLayoutId id="2147484031" r:id="rId9"/>
    <p:sldLayoutId id="2147484023" r:id="rId10"/>
    <p:sldLayoutId id="2147484024" r:id="rId11"/>
  </p:sldLayoutIdLst>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Arial" pitchFamily="34" charset="0"/>
          <a:ea typeface="+mj-ea"/>
          <a:cs typeface="Arial" pitchFamily="34" charset="0"/>
        </a:defRPr>
      </a:lvl1pPr>
      <a:lvl2pPr algn="l" rtl="0" eaLnBrk="0" fontAlgn="base" hangingPunct="0">
        <a:spcBef>
          <a:spcPct val="0"/>
        </a:spcBef>
        <a:spcAft>
          <a:spcPct val="0"/>
        </a:spcAft>
        <a:defRPr sz="4100" b="1">
          <a:solidFill>
            <a:schemeClr val="tx2"/>
          </a:solidFill>
          <a:latin typeface="Arial" charset="0"/>
          <a:cs typeface="Arial" charset="0"/>
        </a:defRPr>
      </a:lvl2pPr>
      <a:lvl3pPr algn="l" rtl="0" eaLnBrk="0" fontAlgn="base" hangingPunct="0">
        <a:spcBef>
          <a:spcPct val="0"/>
        </a:spcBef>
        <a:spcAft>
          <a:spcPct val="0"/>
        </a:spcAft>
        <a:defRPr sz="4100" b="1">
          <a:solidFill>
            <a:schemeClr val="tx2"/>
          </a:solidFill>
          <a:latin typeface="Arial" charset="0"/>
          <a:cs typeface="Arial" charset="0"/>
        </a:defRPr>
      </a:lvl3pPr>
      <a:lvl4pPr algn="l" rtl="0" eaLnBrk="0" fontAlgn="base" hangingPunct="0">
        <a:spcBef>
          <a:spcPct val="0"/>
        </a:spcBef>
        <a:spcAft>
          <a:spcPct val="0"/>
        </a:spcAft>
        <a:defRPr sz="4100" b="1">
          <a:solidFill>
            <a:schemeClr val="tx2"/>
          </a:solidFill>
          <a:latin typeface="Arial" charset="0"/>
          <a:cs typeface="Arial" charset="0"/>
        </a:defRPr>
      </a:lvl4pPr>
      <a:lvl5pPr algn="l" rtl="0" eaLnBrk="0" fontAlgn="base" hangingPunct="0">
        <a:spcBef>
          <a:spcPct val="0"/>
        </a:spcBef>
        <a:spcAft>
          <a:spcPct val="0"/>
        </a:spcAft>
        <a:defRPr sz="4100" b="1">
          <a:solidFill>
            <a:schemeClr val="tx2"/>
          </a:solidFill>
          <a:latin typeface="Arial" charset="0"/>
          <a:cs typeface="Arial" charset="0"/>
        </a:defRPr>
      </a:lvl5pPr>
      <a:lvl6pPr marL="457200" algn="l" rtl="0" fontAlgn="base">
        <a:spcBef>
          <a:spcPct val="0"/>
        </a:spcBef>
        <a:spcAft>
          <a:spcPct val="0"/>
        </a:spcAft>
        <a:defRPr sz="4100" b="1">
          <a:solidFill>
            <a:schemeClr val="tx2"/>
          </a:solidFill>
          <a:latin typeface="Arial" charset="0"/>
          <a:cs typeface="Arial" charset="0"/>
        </a:defRPr>
      </a:lvl6pPr>
      <a:lvl7pPr marL="914400" algn="l" rtl="0" fontAlgn="base">
        <a:spcBef>
          <a:spcPct val="0"/>
        </a:spcBef>
        <a:spcAft>
          <a:spcPct val="0"/>
        </a:spcAft>
        <a:defRPr sz="4100" b="1">
          <a:solidFill>
            <a:schemeClr val="tx2"/>
          </a:solidFill>
          <a:latin typeface="Arial" charset="0"/>
          <a:cs typeface="Arial" charset="0"/>
        </a:defRPr>
      </a:lvl7pPr>
      <a:lvl8pPr marL="1371600" algn="l" rtl="0" fontAlgn="base">
        <a:spcBef>
          <a:spcPct val="0"/>
        </a:spcBef>
        <a:spcAft>
          <a:spcPct val="0"/>
        </a:spcAft>
        <a:defRPr sz="4100" b="1">
          <a:solidFill>
            <a:schemeClr val="tx2"/>
          </a:solidFill>
          <a:latin typeface="Arial" charset="0"/>
          <a:cs typeface="Arial" charset="0"/>
        </a:defRPr>
      </a:lvl8pPr>
      <a:lvl9pPr marL="1828800" algn="l" rtl="0" fontAlgn="base">
        <a:spcBef>
          <a:spcPct val="0"/>
        </a:spcBef>
        <a:spcAft>
          <a:spcPct val="0"/>
        </a:spcAft>
        <a:defRPr sz="4100" b="1">
          <a:solidFill>
            <a:schemeClr val="tx2"/>
          </a:solidFill>
          <a:latin typeface="Arial" charset="0"/>
          <a:cs typeface="Arial"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Arial" pitchFamily="34" charset="0"/>
          <a:ea typeface="+mn-ea"/>
          <a:cs typeface="Arial" pitchFamily="34" charset="0"/>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Arial" pitchFamily="34" charset="0"/>
          <a:ea typeface="+mn-ea"/>
          <a:cs typeface="Arial" pitchFamily="34" charset="0"/>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Arial" pitchFamily="34" charset="0"/>
          <a:ea typeface="+mn-ea"/>
          <a:cs typeface="Arial" pitchFamily="34" charset="0"/>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Arial" pitchFamily="34" charset="0"/>
          <a:ea typeface="+mn-ea"/>
          <a:cs typeface="Arial" pitchFamily="34" charset="0"/>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sz="2000" kern="1200">
          <a:solidFill>
            <a:schemeClr val="tx1"/>
          </a:solidFill>
          <a:latin typeface="Arial" pitchFamily="34" charset="0"/>
          <a:ea typeface="+mn-ea"/>
          <a:cs typeface="Arial" pitchFamily="34" charset="0"/>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0" y="2362200"/>
            <a:ext cx="8839200" cy="1830388"/>
          </a:xfrm>
        </p:spPr>
        <p:txBody>
          <a:bodyPr/>
          <a:lstStyle/>
          <a:p>
            <a:pPr eaLnBrk="1" fontAlgn="auto" hangingPunct="1">
              <a:spcAft>
                <a:spcPts val="0"/>
              </a:spcAft>
              <a:defRPr/>
            </a:pPr>
            <a:r>
              <a:rPr lang="en-US" dirty="0" smtClean="0"/>
              <a:t>Object Oriented </a:t>
            </a:r>
            <a:br>
              <a:rPr lang="en-US" dirty="0" smtClean="0"/>
            </a:br>
            <a:r>
              <a:rPr lang="en-US" dirty="0" smtClean="0"/>
              <a:t>Programming</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1"/>
          <p:cNvSpPr>
            <a:spLocks noGrp="1"/>
          </p:cNvSpPr>
          <p:nvPr>
            <p:ph idx="1"/>
          </p:nvPr>
        </p:nvSpPr>
        <p:spPr>
          <a:xfrm>
            <a:off x="457200" y="1481138"/>
            <a:ext cx="7696200" cy="4525962"/>
          </a:xfrm>
        </p:spPr>
        <p:txBody>
          <a:bodyPr/>
          <a:lstStyle/>
          <a:p>
            <a:pPr eaLnBrk="1" hangingPunct="1"/>
            <a:r>
              <a:rPr lang="en-US" altLang="en-US" dirty="0" smtClean="0"/>
              <a:t>Java Naming Conventions</a:t>
            </a:r>
          </a:p>
          <a:p>
            <a:pPr eaLnBrk="1" hangingPunct="1"/>
            <a:r>
              <a:rPr lang="en-US" altLang="en-US" dirty="0" smtClean="0"/>
              <a:t>Objects versus Class</a:t>
            </a:r>
          </a:p>
          <a:p>
            <a:pPr eaLnBrk="1" hangingPunct="1"/>
            <a:r>
              <a:rPr lang="en-US" altLang="en-US" dirty="0" smtClean="0"/>
              <a:t>Three main concepts of OOP</a:t>
            </a:r>
          </a:p>
          <a:p>
            <a:pPr lvl="1" eaLnBrk="1" hangingPunct="1"/>
            <a:r>
              <a:rPr lang="en-US" altLang="en-US" dirty="0" smtClean="0"/>
              <a:t>Encapsulation</a:t>
            </a:r>
          </a:p>
          <a:p>
            <a:pPr lvl="1" eaLnBrk="1" hangingPunct="1"/>
            <a:r>
              <a:rPr lang="en-US" altLang="en-US" dirty="0" smtClean="0"/>
              <a:t>Inheritance </a:t>
            </a:r>
          </a:p>
          <a:p>
            <a:pPr lvl="1" eaLnBrk="1" hangingPunct="1"/>
            <a:r>
              <a:rPr lang="en-US" altLang="en-US" dirty="0" smtClean="0"/>
              <a:t>Polymorphism</a:t>
            </a:r>
          </a:p>
          <a:p>
            <a:pPr eaLnBrk="1" hangingPunct="1"/>
            <a:r>
              <a:rPr lang="en-US" altLang="en-US" dirty="0" smtClean="0"/>
              <a:t>Method</a:t>
            </a:r>
          </a:p>
          <a:p>
            <a:pPr lvl="1" eaLnBrk="1" hangingPunct="1"/>
            <a:r>
              <a:rPr lang="en-US" altLang="en-US" dirty="0" smtClean="0"/>
              <a:t>Parameterized</a:t>
            </a:r>
          </a:p>
          <a:p>
            <a:pPr lvl="1" eaLnBrk="1" hangingPunct="1"/>
            <a:r>
              <a:rPr lang="en-US" altLang="en-US" dirty="0" smtClean="0"/>
              <a:t>Value-Returning</a:t>
            </a:r>
          </a:p>
          <a:p>
            <a:pPr lvl="1" eaLnBrk="1" hangingPunct="1"/>
            <a:endParaRPr lang="en-US" altLang="en-US" dirty="0" smtClean="0"/>
          </a:p>
        </p:txBody>
      </p:sp>
      <p:sp>
        <p:nvSpPr>
          <p:cNvPr id="3" name="Title 2"/>
          <p:cNvSpPr>
            <a:spLocks noGrp="1"/>
          </p:cNvSpPr>
          <p:nvPr>
            <p:ph type="title"/>
          </p:nvPr>
        </p:nvSpPr>
        <p:spPr/>
        <p:txBody>
          <a:bodyPr/>
          <a:lstStyle/>
          <a:p>
            <a:pPr eaLnBrk="1" fontAlgn="auto" hangingPunct="1">
              <a:spcAft>
                <a:spcPts val="0"/>
              </a:spcAft>
              <a:defRPr/>
            </a:pPr>
            <a:r>
              <a:rPr lang="en-US" dirty="0" smtClean="0"/>
              <a:t>Topics To Be Covered Today</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1"/>
          <p:cNvSpPr>
            <a:spLocks noGrp="1"/>
          </p:cNvSpPr>
          <p:nvPr>
            <p:ph idx="1"/>
          </p:nvPr>
        </p:nvSpPr>
        <p:spPr/>
        <p:txBody>
          <a:bodyPr/>
          <a:lstStyle/>
          <a:p>
            <a:r>
              <a:rPr lang="en-US" altLang="en-US" dirty="0" smtClean="0"/>
              <a:t>A rule to follow as you decide what to name your identifiers</a:t>
            </a:r>
          </a:p>
          <a:p>
            <a:r>
              <a:rPr lang="en-US" altLang="en-US" dirty="0" smtClean="0"/>
              <a:t>not forced to follow. So, it is known as </a:t>
            </a:r>
            <a:r>
              <a:rPr lang="en-US" altLang="en-US" dirty="0" smtClean="0">
                <a:solidFill>
                  <a:srgbClr val="FF0000"/>
                </a:solidFill>
              </a:rPr>
              <a:t>convention not rule</a:t>
            </a:r>
            <a:r>
              <a:rPr lang="en-US" altLang="en-US" dirty="0" smtClean="0"/>
              <a:t>.</a:t>
            </a:r>
          </a:p>
          <a:p>
            <a:r>
              <a:rPr lang="en-US" altLang="en-US" b="1" dirty="0" smtClean="0"/>
              <a:t>Advantage of naming conventions in java</a:t>
            </a:r>
          </a:p>
          <a:p>
            <a:pPr lvl="1"/>
            <a:r>
              <a:rPr lang="en-US" altLang="en-US" dirty="0" smtClean="0"/>
              <a:t>Code becomes easy to read for yourself and for other programmers as readability of Java program is very important</a:t>
            </a:r>
          </a:p>
          <a:p>
            <a:pPr lvl="1"/>
            <a:r>
              <a:rPr lang="en-US" altLang="en-US" b="1" dirty="0" smtClean="0"/>
              <a:t>less time</a:t>
            </a:r>
            <a:r>
              <a:rPr lang="en-US" altLang="en-US" dirty="0" smtClean="0"/>
              <a:t> is spent to figure out what the code does.</a:t>
            </a:r>
          </a:p>
          <a:p>
            <a:r>
              <a:rPr lang="en-US" altLang="en-US" dirty="0" err="1" smtClean="0">
                <a:solidFill>
                  <a:srgbClr val="FF0000"/>
                </a:solidFill>
              </a:rPr>
              <a:t>CamelCase</a:t>
            </a:r>
            <a:r>
              <a:rPr lang="en-US" altLang="en-US" dirty="0" smtClean="0">
                <a:solidFill>
                  <a:srgbClr val="FF0000"/>
                </a:solidFill>
              </a:rPr>
              <a:t> </a:t>
            </a:r>
            <a:r>
              <a:rPr lang="en-US" altLang="en-US" dirty="0" smtClean="0"/>
              <a:t>in java naming conventions</a:t>
            </a:r>
          </a:p>
          <a:p>
            <a:pPr lvl="1"/>
            <a:r>
              <a:rPr lang="en-US" altLang="en-US" dirty="0" smtClean="0"/>
              <a:t>e.g. </a:t>
            </a:r>
            <a:r>
              <a:rPr lang="en-US" altLang="en-US" dirty="0" err="1" smtClean="0"/>
              <a:t>actionPerformed</a:t>
            </a:r>
            <a:r>
              <a:rPr lang="en-US" altLang="en-US" dirty="0" smtClean="0"/>
              <a:t>(), </a:t>
            </a:r>
            <a:r>
              <a:rPr lang="en-US" altLang="en-US" dirty="0" err="1" smtClean="0"/>
              <a:t>firstName</a:t>
            </a:r>
            <a:endParaRPr lang="en-US" altLang="en-US" dirty="0" smtClean="0"/>
          </a:p>
          <a:p>
            <a:endParaRPr lang="en-US" altLang="en-US" dirty="0" smtClean="0"/>
          </a:p>
        </p:txBody>
      </p:sp>
      <p:sp>
        <p:nvSpPr>
          <p:cNvPr id="3" name="Title 2"/>
          <p:cNvSpPr>
            <a:spLocks noGrp="1"/>
          </p:cNvSpPr>
          <p:nvPr>
            <p:ph type="title"/>
          </p:nvPr>
        </p:nvSpPr>
        <p:spPr/>
        <p:txBody>
          <a:bodyPr/>
          <a:lstStyle/>
          <a:p>
            <a:pPr>
              <a:defRPr/>
            </a:pPr>
            <a:r>
              <a:rPr lang="en-US" dirty="0"/>
              <a:t>Java Naming conventions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a:t>Java Naming conventions</a:t>
            </a:r>
          </a:p>
        </p:txBody>
      </p:sp>
      <p:pic>
        <p:nvPicPr>
          <p:cNvPr id="14339"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1638" y="1417638"/>
            <a:ext cx="8437562" cy="460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p:cNvSpPr>
            <a:spLocks noGrp="1"/>
          </p:cNvSpPr>
          <p:nvPr>
            <p:ph idx="1"/>
          </p:nvPr>
        </p:nvSpPr>
        <p:spPr>
          <a:xfrm>
            <a:off x="457200" y="1219200"/>
            <a:ext cx="8229600" cy="4787900"/>
          </a:xfrm>
        </p:spPr>
        <p:txBody>
          <a:bodyPr/>
          <a:lstStyle/>
          <a:p>
            <a:r>
              <a:rPr lang="en-US" altLang="en-US" smtClean="0"/>
              <a:t>Real world objects are things that have:</a:t>
            </a:r>
          </a:p>
          <a:p>
            <a:pPr lvl="1"/>
            <a:r>
              <a:rPr lang="en-US" altLang="en-US" smtClean="0"/>
              <a:t>State</a:t>
            </a:r>
          </a:p>
          <a:p>
            <a:pPr lvl="2"/>
            <a:r>
              <a:rPr lang="en-US" altLang="en-US" smtClean="0"/>
              <a:t>represents data (value) of an object</a:t>
            </a:r>
          </a:p>
          <a:p>
            <a:pPr lvl="1"/>
            <a:r>
              <a:rPr lang="en-US" altLang="en-US" smtClean="0"/>
              <a:t>Behavior </a:t>
            </a:r>
          </a:p>
          <a:p>
            <a:pPr lvl="2"/>
            <a:r>
              <a:rPr lang="en-US" altLang="en-US" smtClean="0"/>
              <a:t>represents the behavior (functionality) of an object</a:t>
            </a:r>
          </a:p>
          <a:p>
            <a:pPr lvl="1"/>
            <a:r>
              <a:rPr lang="en-US" altLang="en-US" b="1" smtClean="0"/>
              <a:t>Identity</a:t>
            </a:r>
          </a:p>
          <a:p>
            <a:pPr lvl="2"/>
            <a:r>
              <a:rPr lang="en-US" altLang="en-US" smtClean="0"/>
              <a:t>Object identity is typically implemented via a unique ID. The value of the ID is not visible to the external user. But, it is used internally by the JVM to identify each object uniquely</a:t>
            </a:r>
          </a:p>
          <a:p>
            <a:r>
              <a:rPr lang="en-US" altLang="en-US" smtClean="0"/>
              <a:t>Example: your pen:</a:t>
            </a:r>
          </a:p>
          <a:p>
            <a:pPr lvl="1"/>
            <a:r>
              <a:rPr lang="en-US" altLang="en-US" smtClean="0"/>
              <a:t>state – </a:t>
            </a:r>
            <a:r>
              <a:rPr lang="en-US" altLang="en-US" b="1" smtClean="0"/>
              <a:t>name</a:t>
            </a:r>
            <a:r>
              <a:rPr lang="en-US" altLang="en-US" smtClean="0"/>
              <a:t> is Reynolds, </a:t>
            </a:r>
            <a:r>
              <a:rPr lang="en-US" altLang="en-US" b="1" smtClean="0"/>
              <a:t>color</a:t>
            </a:r>
            <a:r>
              <a:rPr lang="en-US" altLang="en-US" smtClean="0"/>
              <a:t> is white</a:t>
            </a:r>
          </a:p>
          <a:p>
            <a:pPr lvl="1"/>
            <a:r>
              <a:rPr lang="en-US" altLang="en-US" smtClean="0"/>
              <a:t>behavior – writing</a:t>
            </a:r>
          </a:p>
        </p:txBody>
      </p:sp>
      <p:sp>
        <p:nvSpPr>
          <p:cNvPr id="3" name="Title 2"/>
          <p:cNvSpPr>
            <a:spLocks noGrp="1"/>
          </p:cNvSpPr>
          <p:nvPr>
            <p:ph type="title"/>
          </p:nvPr>
        </p:nvSpPr>
        <p:spPr/>
        <p:txBody>
          <a:bodyPr/>
          <a:lstStyle/>
          <a:p>
            <a:pPr>
              <a:defRPr/>
            </a:pPr>
            <a:r>
              <a:rPr lang="en-US" dirty="0" smtClean="0"/>
              <a:t>What is an Object?</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dirty="0"/>
              <a:t>Object </a:t>
            </a:r>
            <a:r>
              <a:rPr lang="en-US" dirty="0" smtClean="0"/>
              <a:t>is</a:t>
            </a:r>
            <a:r>
              <a:rPr lang="en-US" dirty="0"/>
              <a:t>:</a:t>
            </a:r>
            <a:endParaRPr lang="en-US" dirty="0" smtClean="0"/>
          </a:p>
          <a:p>
            <a:pPr lvl="1">
              <a:defRPr/>
            </a:pPr>
            <a:r>
              <a:rPr lang="en-US" i="1" dirty="0" smtClean="0"/>
              <a:t>a </a:t>
            </a:r>
            <a:r>
              <a:rPr lang="en-US" i="1" dirty="0"/>
              <a:t>real world entity</a:t>
            </a:r>
            <a:r>
              <a:rPr lang="en-US" dirty="0"/>
              <a:t>.</a:t>
            </a:r>
          </a:p>
          <a:p>
            <a:pPr lvl="1">
              <a:defRPr/>
            </a:pPr>
            <a:r>
              <a:rPr lang="en-US" i="1" dirty="0" smtClean="0"/>
              <a:t>an </a:t>
            </a:r>
            <a:r>
              <a:rPr lang="en-US" i="1" dirty="0"/>
              <a:t>entity which has state and behavior</a:t>
            </a:r>
            <a:r>
              <a:rPr lang="en-US" dirty="0"/>
              <a:t>.</a:t>
            </a:r>
          </a:p>
          <a:p>
            <a:pPr lvl="1">
              <a:defRPr/>
            </a:pPr>
            <a:r>
              <a:rPr lang="en-US" i="1" dirty="0" smtClean="0"/>
              <a:t>an </a:t>
            </a:r>
            <a:r>
              <a:rPr lang="en-US" i="1" dirty="0"/>
              <a:t>instance of a </a:t>
            </a:r>
            <a:r>
              <a:rPr lang="en-US" i="1" dirty="0" smtClean="0"/>
              <a:t>class</a:t>
            </a:r>
          </a:p>
          <a:p>
            <a:pPr marL="109537" indent="0">
              <a:buFont typeface="Wingdings 3" panose="05040102010807070707" pitchFamily="18" charset="2"/>
              <a:buNone/>
              <a:defRPr/>
            </a:pPr>
            <a:endParaRPr lang="en-US" dirty="0"/>
          </a:p>
        </p:txBody>
      </p:sp>
      <p:sp>
        <p:nvSpPr>
          <p:cNvPr id="3" name="Title 2"/>
          <p:cNvSpPr>
            <a:spLocks noGrp="1"/>
          </p:cNvSpPr>
          <p:nvPr>
            <p:ph type="title"/>
          </p:nvPr>
        </p:nvSpPr>
        <p:spPr/>
        <p:txBody>
          <a:bodyPr/>
          <a:lstStyle/>
          <a:p>
            <a:pPr>
              <a:defRPr/>
            </a:pPr>
            <a:r>
              <a:rPr lang="en-US" dirty="0">
                <a:effectLst/>
              </a:rPr>
              <a:t>Object Definitions:</a:t>
            </a:r>
            <a:endParaRPr lang="en-US" dirty="0"/>
          </a:p>
        </p:txBody>
      </p:sp>
      <p:pic>
        <p:nvPicPr>
          <p:cNvPr id="4" name="Picture 3"/>
          <p:cNvPicPr>
            <a:picLocks noChangeAspect="1"/>
          </p:cNvPicPr>
          <p:nvPr/>
        </p:nvPicPr>
        <p:blipFill>
          <a:blip r:embed="rId3"/>
          <a:stretch>
            <a:fillRect/>
          </a:stretch>
        </p:blipFill>
        <p:spPr>
          <a:xfrm>
            <a:off x="4038600" y="2813050"/>
            <a:ext cx="4953000" cy="4044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p:txBody>
          <a:bodyPr/>
          <a:lstStyle/>
          <a:p>
            <a:r>
              <a:rPr lang="en-US" altLang="en-US" dirty="0" smtClean="0"/>
              <a:t>A class is a blueprint that defines the variables and methods common to all objects of a certain kind.</a:t>
            </a:r>
          </a:p>
          <a:p>
            <a:r>
              <a:rPr lang="en-US" altLang="en-US" dirty="0" smtClean="0"/>
              <a:t>Objects are created from class. So, object holds values for the variables defined in the class.</a:t>
            </a:r>
          </a:p>
          <a:p>
            <a:pPr marL="109537" indent="0">
              <a:buNone/>
            </a:pPr>
            <a:endParaRPr lang="en-US" altLang="en-US" dirty="0" smtClean="0"/>
          </a:p>
          <a:p>
            <a:r>
              <a:rPr lang="en-US" altLang="en-US" dirty="0" smtClean="0"/>
              <a:t>Example: ‘your dog’ is a object of the class Dog.</a:t>
            </a:r>
          </a:p>
        </p:txBody>
      </p:sp>
      <p:sp>
        <p:nvSpPr>
          <p:cNvPr id="3" name="Title 2"/>
          <p:cNvSpPr>
            <a:spLocks noGrp="1"/>
          </p:cNvSpPr>
          <p:nvPr>
            <p:ph type="title"/>
          </p:nvPr>
        </p:nvSpPr>
        <p:spPr/>
        <p:txBody>
          <a:bodyPr/>
          <a:lstStyle/>
          <a:p>
            <a:pPr>
              <a:defRPr/>
            </a:pPr>
            <a:r>
              <a:rPr lang="en-US" dirty="0" smtClean="0"/>
              <a:t>What is a Class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smtClean="0"/>
              <a:t>Three main concepts</a:t>
            </a:r>
            <a:endParaRPr lang="en-US" dirty="0"/>
          </a:p>
        </p:txBody>
      </p:sp>
      <p:pic>
        <p:nvPicPr>
          <p:cNvPr id="18436" name="Picture 4"/>
          <p:cNvPicPr>
            <a:picLocks noChangeAspect="1" noChangeArrowheads="1"/>
          </p:cNvPicPr>
          <p:nvPr/>
        </p:nvPicPr>
        <p:blipFill>
          <a:blip r:embed="rId3" cstate="print"/>
          <a:srcRect/>
          <a:stretch>
            <a:fillRect/>
          </a:stretch>
        </p:blipFill>
        <p:spPr bwMode="auto">
          <a:xfrm>
            <a:off x="609600" y="2209800"/>
            <a:ext cx="2228850" cy="1581150"/>
          </a:xfrm>
          <a:prstGeom prst="rect">
            <a:avLst/>
          </a:prstGeom>
          <a:ln>
            <a:noFill/>
          </a:ln>
          <a:effectLst>
            <a:softEdge rad="112500"/>
          </a:effectLst>
        </p:spPr>
      </p:pic>
      <p:pic>
        <p:nvPicPr>
          <p:cNvPr id="18438" name="Picture 6"/>
          <p:cNvPicPr>
            <a:picLocks noChangeAspect="1" noChangeArrowheads="1"/>
          </p:cNvPicPr>
          <p:nvPr/>
        </p:nvPicPr>
        <p:blipFill>
          <a:blip r:embed="rId4" cstate="print"/>
          <a:srcRect/>
          <a:stretch>
            <a:fillRect/>
          </a:stretch>
        </p:blipFill>
        <p:spPr bwMode="auto">
          <a:xfrm>
            <a:off x="2286000" y="4114800"/>
            <a:ext cx="2800350" cy="2057400"/>
          </a:xfrm>
          <a:prstGeom prst="rect">
            <a:avLst/>
          </a:prstGeom>
          <a:ln>
            <a:noFill/>
          </a:ln>
          <a:effectLst>
            <a:softEdge rad="112500"/>
          </a:effectLst>
        </p:spPr>
      </p:pic>
      <p:pic>
        <p:nvPicPr>
          <p:cNvPr id="2253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1828800"/>
            <a:ext cx="33909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Box 9"/>
          <p:cNvSpPr txBox="1">
            <a:spLocks noChangeArrowheads="1"/>
          </p:cNvSpPr>
          <p:nvPr/>
        </p:nvSpPr>
        <p:spPr bwMode="auto">
          <a:xfrm>
            <a:off x="533400" y="1676400"/>
            <a:ext cx="2667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lvl="1" eaLnBrk="1" hangingPunct="1">
              <a:spcBef>
                <a:spcPct val="0"/>
              </a:spcBef>
              <a:buClrTx/>
              <a:buFontTx/>
              <a:buNone/>
            </a:pPr>
            <a:r>
              <a:rPr lang="en-US" altLang="en-US" sz="1800"/>
              <a:t>Encapsulation</a:t>
            </a:r>
          </a:p>
        </p:txBody>
      </p:sp>
      <p:sp>
        <p:nvSpPr>
          <p:cNvPr id="22535" name="TextBox 10"/>
          <p:cNvSpPr txBox="1">
            <a:spLocks noChangeArrowheads="1"/>
          </p:cNvSpPr>
          <p:nvPr/>
        </p:nvSpPr>
        <p:spPr bwMode="auto">
          <a:xfrm>
            <a:off x="2819400" y="3810000"/>
            <a:ext cx="1905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lvl="1" eaLnBrk="1" hangingPunct="1">
              <a:spcBef>
                <a:spcPct val="0"/>
              </a:spcBef>
              <a:buClrTx/>
              <a:buFontTx/>
              <a:buNone/>
            </a:pPr>
            <a:r>
              <a:rPr lang="en-US" altLang="en-US" sz="1800"/>
              <a:t>Inheritance</a:t>
            </a:r>
          </a:p>
        </p:txBody>
      </p:sp>
      <p:sp>
        <p:nvSpPr>
          <p:cNvPr id="22536" name="TextBox 11"/>
          <p:cNvSpPr txBox="1">
            <a:spLocks noChangeArrowheads="1"/>
          </p:cNvSpPr>
          <p:nvPr/>
        </p:nvSpPr>
        <p:spPr bwMode="auto">
          <a:xfrm>
            <a:off x="5638800" y="1295400"/>
            <a:ext cx="228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lvl="1" eaLnBrk="1" hangingPunct="1">
              <a:spcBef>
                <a:spcPct val="0"/>
              </a:spcBef>
              <a:buClrTx/>
              <a:buFontTx/>
              <a:buNone/>
            </a:pPr>
            <a:r>
              <a:rPr lang="en-US" altLang="en-US" sz="1800"/>
              <a:t>Polymorphism</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Encapsulation</a:t>
            </a:r>
            <a:endParaRPr lang="en-US" dirty="0"/>
          </a:p>
        </p:txBody>
      </p:sp>
      <p:pic>
        <p:nvPicPr>
          <p:cNvPr id="245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2296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Encapsulation</a:t>
            </a:r>
            <a:endParaRPr lang="en-US" dirty="0"/>
          </a:p>
        </p:txBody>
      </p:sp>
      <p:pic>
        <p:nvPicPr>
          <p:cNvPr id="256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Encapsulation</a:t>
            </a:r>
            <a:endParaRPr lang="en-US" dirty="0"/>
          </a:p>
        </p:txBody>
      </p:sp>
      <p:pic>
        <p:nvPicPr>
          <p:cNvPr id="266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229600" cy="494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Encapsulation</a:t>
            </a:r>
            <a:endParaRPr lang="en-US" dirty="0"/>
          </a:p>
        </p:txBody>
      </p:sp>
      <p:pic>
        <p:nvPicPr>
          <p:cNvPr id="276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Encapsulation</a:t>
            </a:r>
            <a:endParaRPr lang="en-US" dirty="0"/>
          </a:p>
        </p:txBody>
      </p:sp>
      <p:pic>
        <p:nvPicPr>
          <p:cNvPr id="286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305800"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smtClean="0"/>
              <a:t>Encapsulation</a:t>
            </a:r>
            <a:endParaRPr lang="en-US" dirty="0"/>
          </a:p>
        </p:txBody>
      </p:sp>
      <p:pic>
        <p:nvPicPr>
          <p:cNvPr id="2969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524000"/>
            <a:ext cx="8153400"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Encapsulation</a:t>
            </a:r>
            <a:endParaRPr lang="en-US" dirty="0"/>
          </a:p>
        </p:txBody>
      </p:sp>
      <p:pic>
        <p:nvPicPr>
          <p:cNvPr id="307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229600"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smtClean="0"/>
              <a:t>Encapsulation</a:t>
            </a:r>
            <a:endParaRPr lang="en-US" dirty="0"/>
          </a:p>
        </p:txBody>
      </p:sp>
      <p:pic>
        <p:nvPicPr>
          <p:cNvPr id="3174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4478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p:cNvSpPr>
            <a:spLocks noGrp="1"/>
          </p:cNvSpPr>
          <p:nvPr>
            <p:ph idx="1"/>
          </p:nvPr>
        </p:nvSpPr>
        <p:spPr>
          <a:xfrm>
            <a:off x="228600" y="1481138"/>
            <a:ext cx="4876800" cy="4525962"/>
          </a:xfrm>
        </p:spPr>
        <p:txBody>
          <a:bodyPr/>
          <a:lstStyle/>
          <a:p>
            <a:r>
              <a:rPr lang="en-US" altLang="en-US" smtClean="0"/>
              <a:t>Features:</a:t>
            </a:r>
          </a:p>
          <a:p>
            <a:pPr lvl="1"/>
            <a:r>
              <a:rPr lang="en-US" altLang="en-US" smtClean="0"/>
              <a:t>a class obtains variables and methods from another class</a:t>
            </a:r>
          </a:p>
          <a:p>
            <a:pPr lvl="1"/>
            <a:r>
              <a:rPr lang="en-US" altLang="en-US" smtClean="0"/>
              <a:t>the former is called </a:t>
            </a:r>
            <a:r>
              <a:rPr lang="en-US" altLang="en-US" smtClean="0">
                <a:solidFill>
                  <a:srgbClr val="FF0000"/>
                </a:solidFill>
              </a:rPr>
              <a:t>subclass</a:t>
            </a:r>
            <a:r>
              <a:rPr lang="en-US" altLang="en-US" smtClean="0"/>
              <a:t>, the latter </a:t>
            </a:r>
            <a:r>
              <a:rPr lang="en-US" altLang="en-US" smtClean="0">
                <a:solidFill>
                  <a:srgbClr val="FF0000"/>
                </a:solidFill>
              </a:rPr>
              <a:t>super-class</a:t>
            </a:r>
          </a:p>
          <a:p>
            <a:pPr lvl="1"/>
            <a:r>
              <a:rPr lang="en-US" altLang="en-US" smtClean="0"/>
              <a:t>a </a:t>
            </a:r>
            <a:r>
              <a:rPr lang="en-US" altLang="en-US" smtClean="0">
                <a:solidFill>
                  <a:srgbClr val="FF0000"/>
                </a:solidFill>
              </a:rPr>
              <a:t>sub-class</a:t>
            </a:r>
            <a:r>
              <a:rPr lang="en-US" altLang="en-US" smtClean="0"/>
              <a:t> provides a specialized behavior with respect to its super-class</a:t>
            </a:r>
          </a:p>
          <a:p>
            <a:pPr lvl="1"/>
            <a:r>
              <a:rPr lang="en-US" altLang="en-US" smtClean="0"/>
              <a:t>inheritance faciliates code reuse and avoids duplication of data</a:t>
            </a:r>
          </a:p>
        </p:txBody>
      </p:sp>
      <p:sp>
        <p:nvSpPr>
          <p:cNvPr id="3" name="Title 2"/>
          <p:cNvSpPr>
            <a:spLocks noGrp="1"/>
          </p:cNvSpPr>
          <p:nvPr>
            <p:ph type="title"/>
          </p:nvPr>
        </p:nvSpPr>
        <p:spPr/>
        <p:txBody>
          <a:bodyPr/>
          <a:lstStyle/>
          <a:p>
            <a:pPr>
              <a:defRPr/>
            </a:pPr>
            <a:r>
              <a:rPr lang="en-US" dirty="0" smtClean="0"/>
              <a:t>Inheritance</a:t>
            </a:r>
            <a:endParaRPr lang="en-US" dirty="0"/>
          </a:p>
        </p:txBody>
      </p:sp>
      <p:pic>
        <p:nvPicPr>
          <p:cNvPr id="327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828800"/>
            <a:ext cx="3857625"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Arrow Connector 5"/>
          <p:cNvCxnSpPr>
            <a:stCxn id="32774" idx="1"/>
          </p:cNvCxnSpPr>
          <p:nvPr/>
        </p:nvCxnSpPr>
        <p:spPr>
          <a:xfrm rot="10800000" flipV="1">
            <a:off x="7086600" y="1555750"/>
            <a:ext cx="381000" cy="19685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2774" name="TextBox 9"/>
          <p:cNvSpPr txBox="1">
            <a:spLocks noChangeArrowheads="1"/>
          </p:cNvSpPr>
          <p:nvPr/>
        </p:nvSpPr>
        <p:spPr bwMode="auto">
          <a:xfrm>
            <a:off x="7467600" y="1371600"/>
            <a:ext cx="1492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Super-class</a:t>
            </a:r>
          </a:p>
        </p:txBody>
      </p:sp>
      <p:sp>
        <p:nvSpPr>
          <p:cNvPr id="32775" name="TextBox 11"/>
          <p:cNvSpPr txBox="1">
            <a:spLocks noChangeArrowheads="1"/>
          </p:cNvSpPr>
          <p:nvPr/>
        </p:nvSpPr>
        <p:spPr bwMode="auto">
          <a:xfrm>
            <a:off x="6400800" y="5562600"/>
            <a:ext cx="1196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Subclass</a:t>
            </a:r>
          </a:p>
        </p:txBody>
      </p:sp>
      <p:cxnSp>
        <p:nvCxnSpPr>
          <p:cNvPr id="14" name="Straight Arrow Connector 13"/>
          <p:cNvCxnSpPr/>
          <p:nvPr/>
        </p:nvCxnSpPr>
        <p:spPr>
          <a:xfrm>
            <a:off x="5791200" y="5029200"/>
            <a:ext cx="762000" cy="5334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flipV="1">
            <a:off x="7467600" y="5029200"/>
            <a:ext cx="609600" cy="5334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6706394" y="5257006"/>
            <a:ext cx="457200" cy="1588"/>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Inheritance</a:t>
            </a:r>
            <a:endParaRPr lang="en-US" dirty="0"/>
          </a:p>
        </p:txBody>
      </p:sp>
      <p:pic>
        <p:nvPicPr>
          <p:cNvPr id="337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24000"/>
            <a:ext cx="8305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Inheritance</a:t>
            </a:r>
            <a:endParaRPr lang="en-US" dirty="0"/>
          </a:p>
        </p:txBody>
      </p:sp>
      <p:pic>
        <p:nvPicPr>
          <p:cNvPr id="348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382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Inheritance</a:t>
            </a:r>
            <a:endParaRPr lang="en-US" dirty="0"/>
          </a:p>
        </p:txBody>
      </p:sp>
      <p:pic>
        <p:nvPicPr>
          <p:cNvPr id="35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458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Inheritance</a:t>
            </a:r>
            <a:endParaRPr lang="en-US" dirty="0"/>
          </a:p>
        </p:txBody>
      </p:sp>
      <p:pic>
        <p:nvPicPr>
          <p:cNvPr id="3686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534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1"/>
          <p:cNvSpPr>
            <a:spLocks noGrp="1"/>
          </p:cNvSpPr>
          <p:nvPr>
            <p:ph idx="1"/>
          </p:nvPr>
        </p:nvSpPr>
        <p:spPr/>
        <p:txBody>
          <a:bodyPr/>
          <a:lstStyle/>
          <a:p>
            <a:r>
              <a:rPr lang="en-US" altLang="en-US" sz="2400" dirty="0" smtClean="0"/>
              <a:t>Polymorphism = many different (poly) forms of objects that share a common interface respond differently when a method of that interface is invoked.</a:t>
            </a:r>
          </a:p>
          <a:p>
            <a:r>
              <a:rPr lang="en-US" altLang="en-US" sz="2400" dirty="0" smtClean="0"/>
              <a:t>Polymorphism is enabled by inheritance:</a:t>
            </a:r>
          </a:p>
          <a:p>
            <a:pPr lvl="1"/>
            <a:r>
              <a:rPr lang="en-US" altLang="en-US" dirty="0" smtClean="0"/>
              <a:t>a super-class defines an interface that all sub-classes must follow</a:t>
            </a:r>
          </a:p>
          <a:p>
            <a:pPr lvl="1"/>
            <a:r>
              <a:rPr lang="en-US" altLang="en-US" dirty="0" smtClean="0"/>
              <a:t>it is up to the sub-classes how this interface is implemented; a subclass may override methods of its super-class</a:t>
            </a:r>
          </a:p>
          <a:p>
            <a:r>
              <a:rPr lang="en-US" altLang="en-US" sz="2400" dirty="0" smtClean="0"/>
              <a:t>Therefore, objects from the classes related by inheritance may receive the same requests but respond to such requests in their own ways.</a:t>
            </a:r>
          </a:p>
        </p:txBody>
      </p:sp>
      <p:sp>
        <p:nvSpPr>
          <p:cNvPr id="3" name="Title 2"/>
          <p:cNvSpPr>
            <a:spLocks noGrp="1"/>
          </p:cNvSpPr>
          <p:nvPr>
            <p:ph type="title"/>
          </p:nvPr>
        </p:nvSpPr>
        <p:spPr/>
        <p:txBody>
          <a:bodyPr/>
          <a:lstStyle/>
          <a:p>
            <a:pPr>
              <a:defRPr/>
            </a:pPr>
            <a:r>
              <a:rPr lang="en-US" dirty="0" smtClean="0"/>
              <a:t>Polymorphism</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Polymorphism</a:t>
            </a:r>
            <a:endParaRPr lang="en-US" dirty="0"/>
          </a:p>
        </p:txBody>
      </p:sp>
      <p:pic>
        <p:nvPicPr>
          <p:cNvPr id="389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305800"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Polymorphism</a:t>
            </a:r>
            <a:endParaRPr lang="en-US" dirty="0"/>
          </a:p>
        </p:txBody>
      </p:sp>
      <p:pic>
        <p:nvPicPr>
          <p:cNvPr id="3994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00200"/>
            <a:ext cx="8153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Polymorphism</a:t>
            </a:r>
            <a:endParaRPr lang="en-US" dirty="0"/>
          </a:p>
        </p:txBody>
      </p:sp>
      <p:pic>
        <p:nvPicPr>
          <p:cNvPr id="409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24000"/>
            <a:ext cx="8229600" cy="481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Polymorphism</a:t>
            </a:r>
            <a:endParaRPr lang="en-US" dirty="0"/>
          </a:p>
        </p:txBody>
      </p:sp>
      <p:pic>
        <p:nvPicPr>
          <p:cNvPr id="4198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4478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Polymorphism</a:t>
            </a:r>
            <a:endParaRPr lang="en-US" dirty="0"/>
          </a:p>
        </p:txBody>
      </p:sp>
      <p:pic>
        <p:nvPicPr>
          <p:cNvPr id="430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305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Polymorphism</a:t>
            </a:r>
            <a:endParaRPr lang="en-US" dirty="0"/>
          </a:p>
        </p:txBody>
      </p:sp>
      <p:pic>
        <p:nvPicPr>
          <p:cNvPr id="440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24000"/>
            <a:ext cx="830580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Content Placeholder 1"/>
          <p:cNvSpPr>
            <a:spLocks noGrp="1"/>
          </p:cNvSpPr>
          <p:nvPr>
            <p:ph idx="1"/>
          </p:nvPr>
        </p:nvSpPr>
        <p:spPr/>
        <p:txBody>
          <a:bodyPr/>
          <a:lstStyle/>
          <a:p>
            <a:endParaRPr lang="en-US" altLang="en-US" smtClean="0"/>
          </a:p>
        </p:txBody>
      </p:sp>
      <p:sp>
        <p:nvSpPr>
          <p:cNvPr id="3" name="Title 2"/>
          <p:cNvSpPr>
            <a:spLocks noGrp="1"/>
          </p:cNvSpPr>
          <p:nvPr>
            <p:ph type="title"/>
          </p:nvPr>
        </p:nvSpPr>
        <p:spPr/>
        <p:txBody>
          <a:bodyPr/>
          <a:lstStyle/>
          <a:p>
            <a:pPr>
              <a:defRPr/>
            </a:pPr>
            <a:r>
              <a:rPr lang="en-US" dirty="0" smtClean="0"/>
              <a:t>Polymorphism</a:t>
            </a:r>
            <a:endParaRPr lang="en-US" dirty="0"/>
          </a:p>
        </p:txBody>
      </p:sp>
      <p:pic>
        <p:nvPicPr>
          <p:cNvPr id="450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447800"/>
            <a:ext cx="81534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1"/>
          <p:cNvSpPr>
            <a:spLocks noGrp="1"/>
          </p:cNvSpPr>
          <p:nvPr>
            <p:ph idx="1"/>
          </p:nvPr>
        </p:nvSpPr>
        <p:spPr/>
        <p:txBody>
          <a:bodyPr/>
          <a:lstStyle/>
          <a:p>
            <a:r>
              <a:rPr lang="en-US" altLang="en-US" smtClean="0"/>
              <a:t>Everything in Java is an object.</a:t>
            </a:r>
          </a:p>
          <a:p>
            <a:r>
              <a:rPr lang="en-US" altLang="en-US" smtClean="0"/>
              <a:t>Well ... almost.</a:t>
            </a:r>
          </a:p>
          <a:p>
            <a:r>
              <a:rPr lang="en-US" altLang="en-US" smtClean="0"/>
              <a:t>Object lifecycle:</a:t>
            </a:r>
          </a:p>
          <a:p>
            <a:pPr lvl="1"/>
            <a:r>
              <a:rPr lang="en-US" altLang="en-US" smtClean="0"/>
              <a:t>Creation</a:t>
            </a:r>
          </a:p>
          <a:p>
            <a:pPr lvl="1"/>
            <a:r>
              <a:rPr lang="en-US" altLang="en-US" smtClean="0"/>
              <a:t>Usage</a:t>
            </a:r>
          </a:p>
          <a:p>
            <a:pPr lvl="1"/>
            <a:r>
              <a:rPr lang="en-US" altLang="en-US" smtClean="0"/>
              <a:t>Destruction</a:t>
            </a:r>
          </a:p>
          <a:p>
            <a:endParaRPr lang="en-US" altLang="en-US" smtClean="0"/>
          </a:p>
        </p:txBody>
      </p:sp>
      <p:sp>
        <p:nvSpPr>
          <p:cNvPr id="3" name="Title 2"/>
          <p:cNvSpPr>
            <a:spLocks noGrp="1"/>
          </p:cNvSpPr>
          <p:nvPr>
            <p:ph type="title"/>
          </p:nvPr>
        </p:nvSpPr>
        <p:spPr/>
        <p:txBody>
          <a:bodyPr/>
          <a:lstStyle/>
          <a:p>
            <a:pPr>
              <a:defRPr/>
            </a:pPr>
            <a:r>
              <a:rPr lang="en-US" dirty="0" smtClean="0"/>
              <a:t>Object</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1"/>
          <p:cNvSpPr>
            <a:spLocks noGrp="1"/>
          </p:cNvSpPr>
          <p:nvPr>
            <p:ph idx="1"/>
          </p:nvPr>
        </p:nvSpPr>
        <p:spPr/>
        <p:txBody>
          <a:bodyPr/>
          <a:lstStyle/>
          <a:p>
            <a:r>
              <a:rPr lang="en-US" altLang="en-US" dirty="0" smtClean="0"/>
              <a:t>A variable </a:t>
            </a:r>
            <a:r>
              <a:rPr lang="en-US" altLang="en-US" dirty="0" smtClean="0">
                <a:solidFill>
                  <a:srgbClr val="FF0000"/>
                </a:solidFill>
              </a:rPr>
              <a:t>s</a:t>
            </a:r>
            <a:r>
              <a:rPr lang="en-US" altLang="en-US" dirty="0" smtClean="0"/>
              <a:t> is declared to refer to the objects of type/class String:</a:t>
            </a:r>
          </a:p>
          <a:p>
            <a:pPr lvl="1">
              <a:buFont typeface="Verdana" panose="020B0604030504040204" pitchFamily="34" charset="0"/>
              <a:buNone/>
            </a:pPr>
            <a:r>
              <a:rPr lang="en-US" altLang="en-US" dirty="0" smtClean="0"/>
              <a:t>    String s;</a:t>
            </a:r>
          </a:p>
          <a:p>
            <a:r>
              <a:rPr lang="en-US" altLang="en-US" dirty="0" smtClean="0"/>
              <a:t>The value of </a:t>
            </a:r>
            <a:r>
              <a:rPr lang="en-US" altLang="en-US" dirty="0" smtClean="0">
                <a:solidFill>
                  <a:srgbClr val="FF0000"/>
                </a:solidFill>
              </a:rPr>
              <a:t>s</a:t>
            </a:r>
            <a:r>
              <a:rPr lang="en-US" altLang="en-US" dirty="0" smtClean="0"/>
              <a:t> is null; it does not yet refer to any object.</a:t>
            </a:r>
          </a:p>
          <a:p>
            <a:r>
              <a:rPr lang="en-US" altLang="en-US" dirty="0" smtClean="0"/>
              <a:t>A new String object is created in memory with initial </a:t>
            </a:r>
            <a:r>
              <a:rPr lang="en-US" altLang="en-US" dirty="0" smtClean="0">
                <a:solidFill>
                  <a:srgbClr val="FF0000"/>
                </a:solidFill>
              </a:rPr>
              <a:t>“</a:t>
            </a:r>
            <a:r>
              <a:rPr lang="en-US" altLang="en-US" dirty="0" err="1" smtClean="0">
                <a:solidFill>
                  <a:srgbClr val="FF0000"/>
                </a:solidFill>
              </a:rPr>
              <a:t>abc</a:t>
            </a:r>
            <a:r>
              <a:rPr lang="en-US" altLang="en-US" dirty="0" smtClean="0">
                <a:solidFill>
                  <a:srgbClr val="FF0000"/>
                </a:solidFill>
              </a:rPr>
              <a:t>” </a:t>
            </a:r>
            <a:r>
              <a:rPr lang="en-US" altLang="en-US" dirty="0" smtClean="0"/>
              <a:t>value:</a:t>
            </a:r>
          </a:p>
          <a:p>
            <a:pPr lvl="1">
              <a:buFont typeface="Verdana" panose="020B0604030504040204" pitchFamily="34" charset="0"/>
              <a:buNone/>
            </a:pPr>
            <a:r>
              <a:rPr lang="en-US" altLang="en-US" dirty="0" smtClean="0"/>
              <a:t>   String s = new String(“</a:t>
            </a:r>
            <a:r>
              <a:rPr lang="en-US" altLang="en-US" dirty="0" err="1" smtClean="0"/>
              <a:t>abc</a:t>
            </a:r>
            <a:r>
              <a:rPr lang="en-US" altLang="en-US" dirty="0" smtClean="0"/>
              <a:t>”);</a:t>
            </a:r>
          </a:p>
          <a:p>
            <a:r>
              <a:rPr lang="en-US" altLang="en-US" dirty="0" smtClean="0"/>
              <a:t>Now </a:t>
            </a:r>
            <a:r>
              <a:rPr lang="en-US" altLang="en-US" dirty="0" smtClean="0">
                <a:solidFill>
                  <a:srgbClr val="FF0000"/>
                </a:solidFill>
              </a:rPr>
              <a:t>s</a:t>
            </a:r>
            <a:r>
              <a:rPr lang="en-US" altLang="en-US" dirty="0" smtClean="0"/>
              <a:t> contains the address of this new object.</a:t>
            </a:r>
          </a:p>
        </p:txBody>
      </p:sp>
      <p:sp>
        <p:nvSpPr>
          <p:cNvPr id="3" name="Title 2"/>
          <p:cNvSpPr>
            <a:spLocks noGrp="1"/>
          </p:cNvSpPr>
          <p:nvPr>
            <p:ph type="title"/>
          </p:nvPr>
        </p:nvSpPr>
        <p:spPr/>
        <p:txBody>
          <a:bodyPr/>
          <a:lstStyle/>
          <a:p>
            <a:pPr>
              <a:defRPr/>
            </a:pPr>
            <a:r>
              <a:rPr lang="en-US" dirty="0" smtClean="0"/>
              <a:t>Object Creation</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1"/>
          <p:cNvSpPr>
            <a:spLocks noGrp="1"/>
          </p:cNvSpPr>
          <p:nvPr>
            <p:ph idx="1"/>
          </p:nvPr>
        </p:nvSpPr>
        <p:spPr/>
        <p:txBody>
          <a:bodyPr/>
          <a:lstStyle/>
          <a:p>
            <a:r>
              <a:rPr lang="en-US" altLang="en-US" smtClean="0"/>
              <a:t>Objects are used mostly through variables.</a:t>
            </a:r>
          </a:p>
          <a:p>
            <a:r>
              <a:rPr lang="en-US" altLang="en-US" smtClean="0"/>
              <a:t>Four usage scenarios:</a:t>
            </a:r>
          </a:p>
          <a:p>
            <a:pPr lvl="1"/>
            <a:r>
              <a:rPr lang="en-US" altLang="en-US" smtClean="0"/>
              <a:t>one variable, one object</a:t>
            </a:r>
          </a:p>
          <a:p>
            <a:pPr lvl="1"/>
            <a:r>
              <a:rPr lang="en-US" altLang="en-US" smtClean="0"/>
              <a:t>two variables, one object</a:t>
            </a:r>
          </a:p>
          <a:p>
            <a:pPr lvl="1"/>
            <a:r>
              <a:rPr lang="en-US" altLang="en-US" smtClean="0"/>
              <a:t>two variables, two objects</a:t>
            </a:r>
          </a:p>
          <a:p>
            <a:pPr lvl="1"/>
            <a:r>
              <a:rPr lang="en-US" altLang="en-US" smtClean="0"/>
              <a:t>one variable, two objects</a:t>
            </a:r>
          </a:p>
        </p:txBody>
      </p:sp>
      <p:sp>
        <p:nvSpPr>
          <p:cNvPr id="3" name="Title 2"/>
          <p:cNvSpPr>
            <a:spLocks noGrp="1"/>
          </p:cNvSpPr>
          <p:nvPr>
            <p:ph type="title"/>
          </p:nvPr>
        </p:nvSpPr>
        <p:spPr/>
        <p:txBody>
          <a:bodyPr/>
          <a:lstStyle/>
          <a:p>
            <a:pPr>
              <a:defRPr/>
            </a:pPr>
            <a:r>
              <a:rPr lang="en-US" dirty="0" smtClean="0"/>
              <a:t>Object Usage</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1"/>
          <p:cNvSpPr>
            <a:spLocks noGrp="1"/>
          </p:cNvSpPr>
          <p:nvPr>
            <p:ph idx="1"/>
          </p:nvPr>
        </p:nvSpPr>
        <p:spPr/>
        <p:txBody>
          <a:bodyPr/>
          <a:lstStyle/>
          <a:p>
            <a:r>
              <a:rPr lang="en-US" altLang="en-US" dirty="0" smtClean="0"/>
              <a:t>One variable, one object:</a:t>
            </a:r>
          </a:p>
          <a:p>
            <a:pPr lvl="1">
              <a:buFont typeface="Verdana" panose="020B0604030504040204" pitchFamily="34" charset="0"/>
              <a:buNone/>
            </a:pPr>
            <a:r>
              <a:rPr lang="en-US" altLang="en-US" dirty="0" smtClean="0"/>
              <a:t>   String s = new String(“</a:t>
            </a:r>
            <a:r>
              <a:rPr lang="en-US" altLang="en-US" dirty="0" err="1" smtClean="0"/>
              <a:t>abc</a:t>
            </a:r>
            <a:r>
              <a:rPr lang="en-US" altLang="en-US" dirty="0" smtClean="0"/>
              <a:t>”);</a:t>
            </a:r>
          </a:p>
          <a:p>
            <a:r>
              <a:rPr lang="en-US" altLang="en-US" dirty="0" smtClean="0"/>
              <a:t>What can you do with the object addressed by s?</a:t>
            </a:r>
          </a:p>
          <a:p>
            <a:pPr lvl="1"/>
            <a:r>
              <a:rPr lang="en-US" altLang="en-US" dirty="0" smtClean="0"/>
              <a:t>Check the length: </a:t>
            </a:r>
            <a:r>
              <a:rPr lang="en-US" altLang="en-US" dirty="0" err="1" smtClean="0"/>
              <a:t>s.length</a:t>
            </a:r>
            <a:r>
              <a:rPr lang="en-US" altLang="en-US" dirty="0" smtClean="0"/>
              <a:t>() == 3</a:t>
            </a:r>
          </a:p>
          <a:p>
            <a:pPr lvl="1"/>
            <a:r>
              <a:rPr lang="en-US" altLang="en-US" dirty="0" smtClean="0"/>
              <a:t>Return the substring: </a:t>
            </a:r>
            <a:r>
              <a:rPr lang="en-US" altLang="en-US" dirty="0" err="1" smtClean="0"/>
              <a:t>s.substring</a:t>
            </a:r>
            <a:r>
              <a:rPr lang="en-US" altLang="en-US" dirty="0" smtClean="0"/>
              <a:t>(2)</a:t>
            </a:r>
          </a:p>
          <a:p>
            <a:endParaRPr lang="en-US" altLang="en-US" dirty="0" smtClean="0"/>
          </a:p>
          <a:p>
            <a:r>
              <a:rPr lang="en-US" altLang="en-US" dirty="0" smtClean="0"/>
              <a:t>Depending what is allowed by the definition of String.</a:t>
            </a:r>
          </a:p>
        </p:txBody>
      </p:sp>
      <p:sp>
        <p:nvSpPr>
          <p:cNvPr id="3" name="Title 2"/>
          <p:cNvSpPr>
            <a:spLocks noGrp="1"/>
          </p:cNvSpPr>
          <p:nvPr>
            <p:ph type="title"/>
          </p:nvPr>
        </p:nvSpPr>
        <p:spPr/>
        <p:txBody>
          <a:bodyPr/>
          <a:lstStyle/>
          <a:p>
            <a:pPr>
              <a:defRPr/>
            </a:pPr>
            <a:r>
              <a:rPr lang="en-US" dirty="0" smtClean="0"/>
              <a:t>One Variable, One Object</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1"/>
          <p:cNvSpPr>
            <a:spLocks noGrp="1"/>
          </p:cNvSpPr>
          <p:nvPr>
            <p:ph idx="1"/>
          </p:nvPr>
        </p:nvSpPr>
        <p:spPr/>
        <p:txBody>
          <a:bodyPr/>
          <a:lstStyle/>
          <a:p>
            <a:r>
              <a:rPr lang="en-US" altLang="en-US" dirty="0" smtClean="0"/>
              <a:t>Two variables, one object:</a:t>
            </a:r>
          </a:p>
          <a:p>
            <a:pPr lvl="1">
              <a:buFont typeface="Verdana" panose="020B0604030504040204" pitchFamily="34" charset="0"/>
              <a:buNone/>
            </a:pPr>
            <a:r>
              <a:rPr lang="en-US" altLang="en-US" dirty="0" smtClean="0"/>
              <a:t>    String s1 = new String(“</a:t>
            </a:r>
            <a:r>
              <a:rPr lang="en-US" altLang="en-US" dirty="0" err="1" smtClean="0"/>
              <a:t>abc</a:t>
            </a:r>
            <a:r>
              <a:rPr lang="en-US" altLang="en-US" dirty="0" smtClean="0"/>
              <a:t>”);</a:t>
            </a:r>
          </a:p>
          <a:p>
            <a:pPr lvl="1">
              <a:buFont typeface="Verdana" panose="020B0604030504040204" pitchFamily="34" charset="0"/>
              <a:buNone/>
            </a:pPr>
            <a:r>
              <a:rPr lang="en-US" altLang="en-US" dirty="0" smtClean="0"/>
              <a:t>    String s2;</a:t>
            </a:r>
          </a:p>
          <a:p>
            <a:r>
              <a:rPr lang="en-US" altLang="en-US" dirty="0" smtClean="0"/>
              <a:t>Assignment copies the address, not value:</a:t>
            </a:r>
          </a:p>
          <a:p>
            <a:pPr lvl="1">
              <a:buFont typeface="Verdana" panose="020B0604030504040204" pitchFamily="34" charset="0"/>
              <a:buNone/>
            </a:pPr>
            <a:r>
              <a:rPr lang="en-US" altLang="en-US" dirty="0" smtClean="0"/>
              <a:t>    s2 = s1;</a:t>
            </a:r>
          </a:p>
          <a:p>
            <a:r>
              <a:rPr lang="en-US" altLang="en-US" dirty="0" smtClean="0"/>
              <a:t>Now s1 and s2 both refer to one object. After</a:t>
            </a:r>
          </a:p>
          <a:p>
            <a:pPr lvl="1">
              <a:buFont typeface="Verdana" panose="020B0604030504040204" pitchFamily="34" charset="0"/>
              <a:buNone/>
            </a:pPr>
            <a:r>
              <a:rPr lang="en-US" altLang="en-US" dirty="0" smtClean="0"/>
              <a:t>    s1 = null;</a:t>
            </a:r>
          </a:p>
          <a:p>
            <a:r>
              <a:rPr lang="en-US" altLang="en-US" dirty="0" smtClean="0"/>
              <a:t>s2 still points to this object.</a:t>
            </a:r>
          </a:p>
          <a:p>
            <a:endParaRPr lang="en-US" altLang="en-US" dirty="0" smtClean="0"/>
          </a:p>
          <a:p>
            <a:r>
              <a:rPr lang="en-US" altLang="en-US" dirty="0" smtClean="0">
                <a:solidFill>
                  <a:srgbClr val="FF0000"/>
                </a:solidFill>
              </a:rPr>
              <a:t>What if s1=s2?</a:t>
            </a:r>
          </a:p>
        </p:txBody>
      </p:sp>
      <p:sp>
        <p:nvSpPr>
          <p:cNvPr id="3" name="Title 2"/>
          <p:cNvSpPr>
            <a:spLocks noGrp="1"/>
          </p:cNvSpPr>
          <p:nvPr>
            <p:ph type="title"/>
          </p:nvPr>
        </p:nvSpPr>
        <p:spPr/>
        <p:txBody>
          <a:bodyPr/>
          <a:lstStyle/>
          <a:p>
            <a:pPr>
              <a:defRPr/>
            </a:pPr>
            <a:r>
              <a:rPr lang="en-US" dirty="0" smtClean="0"/>
              <a:t>Two Variables, One Object</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1"/>
          <p:cNvSpPr>
            <a:spLocks noGrp="1"/>
          </p:cNvSpPr>
          <p:nvPr>
            <p:ph idx="1"/>
          </p:nvPr>
        </p:nvSpPr>
        <p:spPr/>
        <p:txBody>
          <a:bodyPr/>
          <a:lstStyle/>
          <a:p>
            <a:r>
              <a:rPr lang="en-US" altLang="en-US" dirty="0" smtClean="0"/>
              <a:t>Two variables, two objects:</a:t>
            </a:r>
          </a:p>
          <a:p>
            <a:pPr lvl="1">
              <a:buFont typeface="Verdana" panose="020B0604030504040204" pitchFamily="34" charset="0"/>
              <a:buNone/>
            </a:pPr>
            <a:r>
              <a:rPr lang="en-US" altLang="en-US" dirty="0" smtClean="0"/>
              <a:t>   String s1 = new String(“</a:t>
            </a:r>
            <a:r>
              <a:rPr lang="en-US" altLang="en-US" dirty="0" err="1" smtClean="0"/>
              <a:t>abc</a:t>
            </a:r>
            <a:r>
              <a:rPr lang="en-US" altLang="en-US" dirty="0" smtClean="0"/>
              <a:t>”); </a:t>
            </a:r>
          </a:p>
          <a:p>
            <a:pPr lvl="1">
              <a:buFont typeface="Verdana" panose="020B0604030504040204" pitchFamily="34" charset="0"/>
              <a:buNone/>
            </a:pPr>
            <a:r>
              <a:rPr lang="en-US" altLang="en-US" dirty="0" smtClean="0"/>
              <a:t>   String s2 = new String(“</a:t>
            </a:r>
            <a:r>
              <a:rPr lang="en-US" altLang="en-US" dirty="0" err="1" smtClean="0"/>
              <a:t>abc</a:t>
            </a:r>
            <a:r>
              <a:rPr lang="en-US" altLang="en-US" dirty="0" smtClean="0"/>
              <a:t>”);</a:t>
            </a:r>
          </a:p>
          <a:p>
            <a:r>
              <a:rPr lang="en-US" altLang="en-US" dirty="0" smtClean="0"/>
              <a:t>s1 and s2 objects have initially the same values:</a:t>
            </a:r>
          </a:p>
          <a:p>
            <a:pPr lvl="1">
              <a:buFont typeface="Verdana" panose="020B0604030504040204" pitchFamily="34" charset="0"/>
              <a:buNone/>
            </a:pPr>
            <a:r>
              <a:rPr lang="en-US" altLang="en-US" dirty="0" smtClean="0"/>
              <a:t>   s1.equals(s2) == true</a:t>
            </a:r>
          </a:p>
          <a:p>
            <a:r>
              <a:rPr lang="en-US" altLang="en-US" dirty="0" smtClean="0"/>
              <a:t>But they are not the same objects:</a:t>
            </a:r>
          </a:p>
          <a:p>
            <a:pPr lvl="1">
              <a:buFont typeface="Verdana" panose="020B0604030504040204" pitchFamily="34" charset="0"/>
              <a:buNone/>
            </a:pPr>
            <a:r>
              <a:rPr lang="en-US" altLang="en-US" dirty="0" smtClean="0"/>
              <a:t>  (s1 == s2) == false</a:t>
            </a:r>
          </a:p>
          <a:p>
            <a:r>
              <a:rPr lang="en-US" altLang="en-US" dirty="0" smtClean="0"/>
              <a:t>They can be changed independently of each other.</a:t>
            </a:r>
          </a:p>
        </p:txBody>
      </p:sp>
      <p:sp>
        <p:nvSpPr>
          <p:cNvPr id="3" name="Title 2"/>
          <p:cNvSpPr>
            <a:spLocks noGrp="1"/>
          </p:cNvSpPr>
          <p:nvPr>
            <p:ph type="title"/>
          </p:nvPr>
        </p:nvSpPr>
        <p:spPr/>
        <p:txBody>
          <a:bodyPr/>
          <a:lstStyle/>
          <a:p>
            <a:pPr>
              <a:defRPr/>
            </a:pPr>
            <a:r>
              <a:rPr lang="en-US" dirty="0" smtClean="0"/>
              <a:t>Two Variables, Two Objects</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1"/>
          <p:cNvSpPr>
            <a:spLocks noGrp="1"/>
          </p:cNvSpPr>
          <p:nvPr>
            <p:ph idx="1"/>
          </p:nvPr>
        </p:nvSpPr>
        <p:spPr/>
        <p:txBody>
          <a:bodyPr/>
          <a:lstStyle/>
          <a:p>
            <a:r>
              <a:rPr lang="en-US" altLang="en-US" dirty="0" smtClean="0"/>
              <a:t>One variable, two objects:</a:t>
            </a:r>
          </a:p>
          <a:p>
            <a:pPr lvl="1">
              <a:buFont typeface="Verdana" panose="020B0604030504040204" pitchFamily="34" charset="0"/>
              <a:buNone/>
            </a:pPr>
            <a:r>
              <a:rPr lang="en-US" altLang="en-US" dirty="0" smtClean="0"/>
              <a:t>   String s = new String(“</a:t>
            </a:r>
            <a:r>
              <a:rPr lang="en-US" altLang="en-US" dirty="0" err="1" smtClean="0"/>
              <a:t>abc</a:t>
            </a:r>
            <a:r>
              <a:rPr lang="en-US" altLang="en-US" dirty="0" smtClean="0"/>
              <a:t>”);</a:t>
            </a:r>
          </a:p>
          <a:p>
            <a:pPr lvl="1">
              <a:buFont typeface="Verdana" panose="020B0604030504040204" pitchFamily="34" charset="0"/>
              <a:buNone/>
            </a:pPr>
            <a:r>
              <a:rPr lang="en-US" altLang="en-US" dirty="0" smtClean="0"/>
              <a:t>   s = new String(“</a:t>
            </a:r>
            <a:r>
              <a:rPr lang="en-US" altLang="en-US" dirty="0" err="1" smtClean="0"/>
              <a:t>cba</a:t>
            </a:r>
            <a:r>
              <a:rPr lang="en-US" altLang="en-US" dirty="0" smtClean="0"/>
              <a:t>”);</a:t>
            </a:r>
          </a:p>
          <a:p>
            <a:r>
              <a:rPr lang="en-US" altLang="en-US" dirty="0" smtClean="0"/>
              <a:t>The “</a:t>
            </a:r>
            <a:r>
              <a:rPr lang="en-US" altLang="en-US" dirty="0" err="1" smtClean="0"/>
              <a:t>abc</a:t>
            </a:r>
            <a:r>
              <a:rPr lang="en-US" altLang="en-US" dirty="0" smtClean="0"/>
              <a:t>” object is no longer accessible through any variable.</a:t>
            </a:r>
          </a:p>
        </p:txBody>
      </p:sp>
      <p:sp>
        <p:nvSpPr>
          <p:cNvPr id="3" name="Title 2"/>
          <p:cNvSpPr>
            <a:spLocks noGrp="1"/>
          </p:cNvSpPr>
          <p:nvPr>
            <p:ph type="title"/>
          </p:nvPr>
        </p:nvSpPr>
        <p:spPr/>
        <p:txBody>
          <a:bodyPr/>
          <a:lstStyle/>
          <a:p>
            <a:pPr>
              <a:defRPr/>
            </a:pPr>
            <a:r>
              <a:rPr lang="en-US" dirty="0" smtClean="0"/>
              <a:t>One Variable, Two Objects</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1"/>
          <p:cNvSpPr>
            <a:spLocks noGrp="1"/>
          </p:cNvSpPr>
          <p:nvPr>
            <p:ph idx="1"/>
          </p:nvPr>
        </p:nvSpPr>
        <p:spPr>
          <a:xfrm>
            <a:off x="228600" y="1143000"/>
            <a:ext cx="8229600" cy="4525963"/>
          </a:xfrm>
        </p:spPr>
        <p:txBody>
          <a:bodyPr/>
          <a:lstStyle/>
          <a:p>
            <a:r>
              <a:rPr lang="en-US" altLang="en-US" dirty="0" smtClean="0"/>
              <a:t>A program accumulates memory through its execution.</a:t>
            </a:r>
          </a:p>
          <a:p>
            <a:r>
              <a:rPr lang="en-US" altLang="en-US" dirty="0" smtClean="0"/>
              <a:t>Two mechanism to free memory that is no longer needed by the program:</a:t>
            </a:r>
          </a:p>
          <a:p>
            <a:pPr lvl="1"/>
            <a:r>
              <a:rPr lang="en-US" altLang="en-US" dirty="0" smtClean="0"/>
              <a:t>manual – done in C/C++</a:t>
            </a:r>
          </a:p>
          <a:p>
            <a:pPr lvl="1"/>
            <a:r>
              <a:rPr lang="en-US" altLang="en-US" dirty="0" smtClean="0"/>
              <a:t>automatic – done in Java</a:t>
            </a:r>
          </a:p>
          <a:p>
            <a:r>
              <a:rPr lang="en-US" altLang="en-US" dirty="0" smtClean="0"/>
              <a:t>In Java, when an object is no longer accessible through any variable, it is eventually removed from the memory by the garbage collector.</a:t>
            </a:r>
          </a:p>
          <a:p>
            <a:r>
              <a:rPr lang="en-US" altLang="en-US" dirty="0" smtClean="0">
                <a:solidFill>
                  <a:srgbClr val="FF0000"/>
                </a:solidFill>
              </a:rPr>
              <a:t>Garbage collector</a:t>
            </a:r>
            <a:r>
              <a:rPr lang="en-US" altLang="en-US" dirty="0" smtClean="0"/>
              <a:t> is parts</a:t>
            </a:r>
          </a:p>
          <a:p>
            <a:pPr>
              <a:buFont typeface="Wingdings 3" panose="05040102010807070707" pitchFamily="18" charset="2"/>
              <a:buNone/>
            </a:pPr>
            <a:r>
              <a:rPr lang="en-US" altLang="en-US" dirty="0" smtClean="0"/>
              <a:t> of the Java Run-Time Environment.</a:t>
            </a:r>
          </a:p>
        </p:txBody>
      </p:sp>
      <p:sp>
        <p:nvSpPr>
          <p:cNvPr id="3" name="Title 2"/>
          <p:cNvSpPr>
            <a:spLocks noGrp="1"/>
          </p:cNvSpPr>
          <p:nvPr>
            <p:ph type="title"/>
          </p:nvPr>
        </p:nvSpPr>
        <p:spPr/>
        <p:txBody>
          <a:bodyPr/>
          <a:lstStyle/>
          <a:p>
            <a:pPr>
              <a:defRPr/>
            </a:pPr>
            <a:r>
              <a:rPr lang="en-US" dirty="0" smtClean="0"/>
              <a:t>Object Destruction</a:t>
            </a:r>
            <a:endParaRPr lang="en-US" dirty="0"/>
          </a:p>
        </p:txBody>
      </p:sp>
      <p:pic>
        <p:nvPicPr>
          <p:cNvPr id="5734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4495800"/>
            <a:ext cx="214312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1"/>
          <p:cNvSpPr>
            <a:spLocks noGrp="1"/>
          </p:cNvSpPr>
          <p:nvPr>
            <p:ph idx="1"/>
          </p:nvPr>
        </p:nvSpPr>
        <p:spPr/>
        <p:txBody>
          <a:bodyPr/>
          <a:lstStyle/>
          <a:p>
            <a:r>
              <a:rPr lang="en-US" altLang="en-US" smtClean="0"/>
              <a:t>A basis for the Java language.</a:t>
            </a:r>
          </a:p>
          <a:p>
            <a:r>
              <a:rPr lang="en-US" altLang="en-US" smtClean="0"/>
              <a:t>A template or blueprint from which objects are created</a:t>
            </a:r>
          </a:p>
          <a:p>
            <a:r>
              <a:rPr lang="en-US" altLang="en-US" smtClean="0"/>
              <a:t>Each concept we wish to describe in Java must be included inside a class.</a:t>
            </a:r>
          </a:p>
          <a:p>
            <a:r>
              <a:rPr lang="en-US" altLang="en-US" smtClean="0"/>
              <a:t>A class in Java can contain:</a:t>
            </a:r>
          </a:p>
          <a:p>
            <a:pPr lvl="1"/>
            <a:r>
              <a:rPr lang="en-US" altLang="en-US" smtClean="0"/>
              <a:t>fields</a:t>
            </a:r>
          </a:p>
          <a:p>
            <a:pPr lvl="1"/>
            <a:r>
              <a:rPr lang="en-US" altLang="en-US" smtClean="0"/>
              <a:t>methods</a:t>
            </a:r>
          </a:p>
          <a:p>
            <a:pPr lvl="1"/>
            <a:r>
              <a:rPr lang="en-US" altLang="en-US" smtClean="0"/>
              <a:t>constructors</a:t>
            </a:r>
          </a:p>
          <a:p>
            <a:pPr lvl="1"/>
            <a:r>
              <a:rPr lang="en-US" altLang="en-US" smtClean="0"/>
              <a:t>blocks</a:t>
            </a:r>
          </a:p>
          <a:p>
            <a:pPr lvl="1"/>
            <a:r>
              <a:rPr lang="en-US" altLang="en-US" smtClean="0"/>
              <a:t>nested class and interface</a:t>
            </a:r>
          </a:p>
        </p:txBody>
      </p:sp>
      <p:sp>
        <p:nvSpPr>
          <p:cNvPr id="3" name="Title 2"/>
          <p:cNvSpPr>
            <a:spLocks noGrp="1"/>
          </p:cNvSpPr>
          <p:nvPr>
            <p:ph type="title"/>
          </p:nvPr>
        </p:nvSpPr>
        <p:spPr/>
        <p:txBody>
          <a:bodyPr/>
          <a:lstStyle/>
          <a:p>
            <a:pPr>
              <a:defRPr/>
            </a:pPr>
            <a:r>
              <a:rPr lang="en-US" dirty="0" smtClean="0"/>
              <a:t>Class</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Content Placeholder 1"/>
          <p:cNvSpPr>
            <a:spLocks noGrp="1"/>
          </p:cNvSpPr>
          <p:nvPr>
            <p:ph idx="1"/>
          </p:nvPr>
        </p:nvSpPr>
        <p:spPr/>
        <p:txBody>
          <a:bodyPr/>
          <a:lstStyle/>
          <a:p>
            <a:pPr>
              <a:defRPr/>
            </a:pPr>
            <a:r>
              <a:rPr lang="en-US" sz="2300" dirty="0" smtClean="0"/>
              <a:t>A class contains a name, several variable declarations (instance variables) and several method declarations. All are called members of the class.</a:t>
            </a:r>
          </a:p>
          <a:p>
            <a:pPr>
              <a:defRPr/>
            </a:pPr>
            <a:r>
              <a:rPr lang="en-US" sz="2300" dirty="0" smtClean="0"/>
              <a:t>General form of a class:</a:t>
            </a:r>
          </a:p>
          <a:p>
            <a:pPr>
              <a:defRPr/>
            </a:pPr>
            <a:endParaRPr lang="en-US" sz="2400" b="1" dirty="0" smtClean="0"/>
          </a:p>
          <a:p>
            <a:pPr marL="109537" indent="0">
              <a:buFont typeface="Wingdings 3" panose="05040102010807070707" pitchFamily="18" charset="2"/>
              <a:buNone/>
              <a:defRPr/>
            </a:pPr>
            <a:r>
              <a:rPr lang="en-US" sz="2400" b="1" dirty="0" smtClean="0"/>
              <a:t>   class</a:t>
            </a:r>
            <a:r>
              <a:rPr lang="en-US" sz="2400" dirty="0"/>
              <a:t> &lt;</a:t>
            </a:r>
            <a:r>
              <a:rPr lang="en-US" sz="2400" dirty="0" err="1"/>
              <a:t>class_name</a:t>
            </a:r>
            <a:r>
              <a:rPr lang="en-US" sz="2400" dirty="0"/>
              <a:t>&gt;{  </a:t>
            </a:r>
          </a:p>
          <a:p>
            <a:pPr marL="109537" indent="0">
              <a:buFont typeface="Wingdings 3" panose="05040102010807070707" pitchFamily="18" charset="2"/>
              <a:buNone/>
              <a:defRPr/>
            </a:pPr>
            <a:r>
              <a:rPr lang="en-US" sz="2400" dirty="0"/>
              <a:t>   </a:t>
            </a:r>
            <a:r>
              <a:rPr lang="en-US" sz="2400" dirty="0" smtClean="0"/>
              <a:t>   </a:t>
            </a:r>
            <a:r>
              <a:rPr lang="en-US" sz="2400" dirty="0"/>
              <a:t> field;  </a:t>
            </a:r>
            <a:r>
              <a:rPr lang="en-US" sz="2400" dirty="0" smtClean="0">
                <a:solidFill>
                  <a:srgbClr val="00B050"/>
                </a:solidFill>
              </a:rPr>
              <a:t>//instance variable</a:t>
            </a:r>
            <a:endParaRPr lang="en-US" sz="2400" dirty="0">
              <a:solidFill>
                <a:srgbClr val="00B050"/>
              </a:solidFill>
            </a:endParaRPr>
          </a:p>
          <a:p>
            <a:pPr marL="109537" indent="0">
              <a:buFont typeface="Wingdings 3" panose="05040102010807070707" pitchFamily="18" charset="2"/>
              <a:buNone/>
              <a:defRPr/>
            </a:pPr>
            <a:r>
              <a:rPr lang="en-US" sz="2400" dirty="0"/>
              <a:t>    </a:t>
            </a:r>
            <a:r>
              <a:rPr lang="en-US" sz="2400" dirty="0" smtClean="0"/>
              <a:t>   method</a:t>
            </a:r>
            <a:r>
              <a:rPr lang="en-US" sz="2400" dirty="0"/>
              <a:t>;  </a:t>
            </a:r>
          </a:p>
          <a:p>
            <a:pPr marL="109537" indent="0">
              <a:buFont typeface="Wingdings 3" panose="05040102010807070707" pitchFamily="18" charset="2"/>
              <a:buNone/>
              <a:defRPr/>
            </a:pPr>
            <a:r>
              <a:rPr lang="en-US" sz="2400" dirty="0" smtClean="0"/>
              <a:t>    }</a:t>
            </a:r>
            <a:r>
              <a:rPr lang="en-US" sz="2400" dirty="0"/>
              <a:t>  </a:t>
            </a:r>
          </a:p>
          <a:p>
            <a:pPr>
              <a:defRPr/>
            </a:pPr>
            <a:endParaRPr lang="en-US" sz="2300" dirty="0" smtClean="0"/>
          </a:p>
        </p:txBody>
      </p:sp>
      <p:sp>
        <p:nvSpPr>
          <p:cNvPr id="3" name="Title 2"/>
          <p:cNvSpPr>
            <a:spLocks noGrp="1"/>
          </p:cNvSpPr>
          <p:nvPr>
            <p:ph type="title"/>
          </p:nvPr>
        </p:nvSpPr>
        <p:spPr/>
        <p:txBody>
          <a:bodyPr/>
          <a:lstStyle/>
          <a:p>
            <a:pPr>
              <a:defRPr/>
            </a:pPr>
            <a:r>
              <a:rPr lang="en-US" dirty="0" smtClean="0"/>
              <a:t>Class </a:t>
            </a:r>
            <a:r>
              <a:rPr lang="en-US" dirty="0" err="1" smtClean="0"/>
              <a:t>Defination</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defRPr/>
            </a:pPr>
            <a:r>
              <a:rPr lang="en-US" dirty="0"/>
              <a:t>Object and Class Example: main within class</a:t>
            </a:r>
          </a:p>
        </p:txBody>
      </p:sp>
      <p:pic>
        <p:nvPicPr>
          <p:cNvPr id="60419"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752600"/>
            <a:ext cx="73914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914400" y="1752600"/>
            <a:ext cx="6096000" cy="4343400"/>
          </a:xfrm>
        </p:spPr>
      </p:pic>
      <p:sp>
        <p:nvSpPr>
          <p:cNvPr id="3" name="Title 2"/>
          <p:cNvSpPr>
            <a:spLocks noGrp="1"/>
          </p:cNvSpPr>
          <p:nvPr>
            <p:ph type="title"/>
          </p:nvPr>
        </p:nvSpPr>
        <p:spPr/>
        <p:txBody>
          <a:bodyPr>
            <a:normAutofit fontScale="90000"/>
          </a:bodyPr>
          <a:lstStyle/>
          <a:p>
            <a:pPr>
              <a:defRPr/>
            </a:pPr>
            <a:r>
              <a:rPr lang="en-US" dirty="0"/>
              <a:t>Object and Class Example: main outside class (</a:t>
            </a:r>
            <a:r>
              <a:rPr lang="en-US" dirty="0">
                <a:solidFill>
                  <a:srgbClr val="FF0000"/>
                </a:solidFill>
              </a:rPr>
              <a:t>better approach</a:t>
            </a:r>
            <a:r>
              <a:rPr lang="en-US" dirty="0"/>
              <a:t>)</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1"/>
          <p:cNvSpPr>
            <a:spLocks noGrp="1"/>
          </p:cNvSpPr>
          <p:nvPr>
            <p:ph idx="1"/>
          </p:nvPr>
        </p:nvSpPr>
        <p:spPr/>
        <p:txBody>
          <a:bodyPr/>
          <a:lstStyle/>
          <a:p>
            <a:r>
              <a:rPr lang="en-US" altLang="en-US" smtClean="0"/>
              <a:t>There are 3 ways to initialize object in java.</a:t>
            </a:r>
          </a:p>
          <a:p>
            <a:pPr lvl="1"/>
            <a:r>
              <a:rPr lang="en-US" altLang="en-US" smtClean="0"/>
              <a:t>By reference variable</a:t>
            </a:r>
          </a:p>
          <a:p>
            <a:pPr lvl="1"/>
            <a:r>
              <a:rPr lang="en-US" altLang="en-US" smtClean="0"/>
              <a:t>By method</a:t>
            </a:r>
          </a:p>
          <a:p>
            <a:pPr lvl="1"/>
            <a:r>
              <a:rPr lang="en-US" altLang="en-US" i="1" smtClean="0"/>
              <a:t>By constructor</a:t>
            </a:r>
          </a:p>
          <a:p>
            <a:pPr lvl="2"/>
            <a:r>
              <a:rPr lang="en-US" altLang="en-US" smtClean="0"/>
              <a:t>Will be discussed later in Constructor topic</a:t>
            </a:r>
          </a:p>
          <a:p>
            <a:endParaRPr lang="en-US" altLang="en-US" smtClean="0"/>
          </a:p>
        </p:txBody>
      </p:sp>
      <p:sp>
        <p:nvSpPr>
          <p:cNvPr id="3" name="Title 2"/>
          <p:cNvSpPr>
            <a:spLocks noGrp="1"/>
          </p:cNvSpPr>
          <p:nvPr>
            <p:ph type="title"/>
          </p:nvPr>
        </p:nvSpPr>
        <p:spPr/>
        <p:txBody>
          <a:bodyPr/>
          <a:lstStyle/>
          <a:p>
            <a:pPr>
              <a:defRPr/>
            </a:pPr>
            <a:r>
              <a:rPr lang="en-US" dirty="0"/>
              <a:t>Ways to initialize object</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Content Placeholder 1"/>
          <p:cNvSpPr>
            <a:spLocks noGrp="1"/>
          </p:cNvSpPr>
          <p:nvPr>
            <p:ph idx="1"/>
          </p:nvPr>
        </p:nvSpPr>
        <p:spPr/>
        <p:txBody>
          <a:bodyPr/>
          <a:lstStyle/>
          <a:p>
            <a:r>
              <a:rPr lang="en-US" altLang="en-US" smtClean="0"/>
              <a:t>Initializing object simply means storing data into object</a:t>
            </a:r>
          </a:p>
          <a:p>
            <a:endParaRPr lang="en-US" altLang="en-US" smtClean="0"/>
          </a:p>
        </p:txBody>
      </p:sp>
      <p:sp>
        <p:nvSpPr>
          <p:cNvPr id="3" name="Title 2"/>
          <p:cNvSpPr>
            <a:spLocks noGrp="1"/>
          </p:cNvSpPr>
          <p:nvPr>
            <p:ph type="title"/>
          </p:nvPr>
        </p:nvSpPr>
        <p:spPr/>
        <p:txBody>
          <a:bodyPr/>
          <a:lstStyle/>
          <a:p>
            <a:pPr>
              <a:defRPr/>
            </a:pPr>
            <a:r>
              <a:rPr lang="en-US" dirty="0" smtClean="0"/>
              <a:t>1.Initialization </a:t>
            </a:r>
            <a:r>
              <a:rPr lang="en-US" dirty="0"/>
              <a:t>through reference</a:t>
            </a:r>
          </a:p>
        </p:txBody>
      </p:sp>
      <p:pic>
        <p:nvPicPr>
          <p:cNvPr id="6554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438400"/>
            <a:ext cx="70866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1"/>
          <p:cNvSpPr>
            <a:spLocks noGrp="1"/>
          </p:cNvSpPr>
          <p:nvPr>
            <p:ph idx="1"/>
          </p:nvPr>
        </p:nvSpPr>
        <p:spPr/>
        <p:txBody>
          <a:bodyPr/>
          <a:lstStyle/>
          <a:p>
            <a:r>
              <a:rPr lang="en-US" altLang="en-US" smtClean="0"/>
              <a:t>We can also create multiple objects and store information in it through reference variable</a:t>
            </a:r>
          </a:p>
          <a:p>
            <a:r>
              <a:rPr lang="en-US" altLang="en-US" sz="2800" smtClean="0"/>
              <a:t>Each object has its own copy of the instance variables: </a:t>
            </a:r>
          </a:p>
          <a:p>
            <a:pPr lvl="1"/>
            <a:r>
              <a:rPr lang="en-US" altLang="en-US" sz="2400" smtClean="0"/>
              <a:t>changing the variables of one object has no effect on the variables of another object.</a:t>
            </a:r>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Variable Independence</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a:t>Variable Independence</a:t>
            </a:r>
          </a:p>
        </p:txBody>
      </p:sp>
      <p:pic>
        <p:nvPicPr>
          <p:cNvPr id="68611"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1963" y="1489075"/>
            <a:ext cx="5024437" cy="506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762000" y="1481138"/>
            <a:ext cx="5870575" cy="5224462"/>
          </a:xfrm>
        </p:spPr>
      </p:pic>
      <p:sp>
        <p:nvSpPr>
          <p:cNvPr id="3" name="Title 2"/>
          <p:cNvSpPr>
            <a:spLocks noGrp="1"/>
          </p:cNvSpPr>
          <p:nvPr>
            <p:ph type="title"/>
          </p:nvPr>
        </p:nvSpPr>
        <p:spPr/>
        <p:txBody>
          <a:bodyPr/>
          <a:lstStyle/>
          <a:p>
            <a:pPr>
              <a:defRPr/>
            </a:pPr>
            <a:r>
              <a:rPr lang="en-US" dirty="0"/>
              <a:t>2. Initialization through method</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smtClean="0"/>
              <a:t>Memory Point of view</a:t>
            </a:r>
            <a:endParaRPr lang="en-US" dirty="0"/>
          </a:p>
        </p:txBody>
      </p:sp>
      <p:sp>
        <p:nvSpPr>
          <p:cNvPr id="72707" name="Content Placeholder 4"/>
          <p:cNvSpPr>
            <a:spLocks noGrp="1"/>
          </p:cNvSpPr>
          <p:nvPr>
            <p:ph idx="1"/>
          </p:nvPr>
        </p:nvSpPr>
        <p:spPr/>
        <p:txBody>
          <a:bodyPr/>
          <a:lstStyle/>
          <a:p>
            <a:r>
              <a:rPr lang="en-US" altLang="en-US" sz="2800" smtClean="0"/>
              <a:t>Object gets the memory in heap memory area</a:t>
            </a:r>
          </a:p>
          <a:p>
            <a:r>
              <a:rPr lang="en-US" altLang="en-US" sz="2800" smtClean="0"/>
              <a:t>s1 and s2 both are reference variables that refer to the objects allocated in memory.</a:t>
            </a:r>
          </a:p>
          <a:p>
            <a:endParaRPr lang="en-US" altLang="en-US" smtClean="0"/>
          </a:p>
        </p:txBody>
      </p:sp>
      <p:pic>
        <p:nvPicPr>
          <p:cNvPr id="72708"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3048000"/>
            <a:ext cx="67024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Content Placeholder 1"/>
          <p:cNvSpPr>
            <a:spLocks noGrp="1"/>
          </p:cNvSpPr>
          <p:nvPr>
            <p:ph idx="1"/>
          </p:nvPr>
        </p:nvSpPr>
        <p:spPr/>
        <p:txBody>
          <a:bodyPr/>
          <a:lstStyle/>
          <a:p>
            <a:r>
              <a:rPr lang="en-US" altLang="en-US" smtClean="0"/>
              <a:t>Obtaining objects of a class is a two-stage process:</a:t>
            </a:r>
          </a:p>
          <a:p>
            <a:pPr lvl="1"/>
            <a:r>
              <a:rPr lang="en-US" altLang="en-US" smtClean="0"/>
              <a:t>Declare a variable of the class type:</a:t>
            </a:r>
          </a:p>
          <a:p>
            <a:pPr lvl="2">
              <a:buFont typeface="Wingdings 2" panose="05020102010507070707" pitchFamily="18" charset="2"/>
              <a:buNone/>
            </a:pPr>
            <a:r>
              <a:rPr lang="en-US" altLang="en-US" smtClean="0"/>
              <a:t>   Student s1;</a:t>
            </a:r>
          </a:p>
          <a:p>
            <a:pPr lvl="2"/>
            <a:r>
              <a:rPr lang="en-US" altLang="en-US" smtClean="0"/>
              <a:t>The value of s1 is a reference to an object, if one exists, or null.</a:t>
            </a:r>
          </a:p>
          <a:p>
            <a:pPr lvl="2"/>
            <a:r>
              <a:rPr lang="en-US" altLang="en-US" smtClean="0"/>
              <a:t>At this moment, the value of s1 is null.</a:t>
            </a:r>
          </a:p>
          <a:p>
            <a:pPr lvl="1"/>
            <a:r>
              <a:rPr lang="en-US" altLang="en-US" smtClean="0"/>
              <a:t>Acquire an actual, physical copy of an object and assign its address to the variable. How to do this?</a:t>
            </a:r>
          </a:p>
        </p:txBody>
      </p:sp>
      <p:sp>
        <p:nvSpPr>
          <p:cNvPr id="3" name="Title 2"/>
          <p:cNvSpPr>
            <a:spLocks noGrp="1"/>
          </p:cNvSpPr>
          <p:nvPr>
            <p:ph type="title"/>
          </p:nvPr>
        </p:nvSpPr>
        <p:spPr/>
        <p:txBody>
          <a:bodyPr/>
          <a:lstStyle/>
          <a:p>
            <a:pPr>
              <a:defRPr/>
            </a:pPr>
            <a:r>
              <a:rPr lang="en-US" dirty="0" smtClean="0"/>
              <a:t>Declaring Objects</a:t>
            </a:r>
            <a:endParaRPr lang="en-US" dirty="0"/>
          </a:p>
        </p:txBody>
      </p:sp>
    </p:spTree>
    <p:extLst>
      <p:ext uri="{BB962C8B-B14F-4D97-AF65-F5344CB8AC3E}">
        <p14:creationId xmlns:p14="http://schemas.microsoft.com/office/powerpoint/2010/main" val="124293130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Content Placeholder 1"/>
          <p:cNvSpPr>
            <a:spLocks noGrp="1"/>
          </p:cNvSpPr>
          <p:nvPr>
            <p:ph idx="1"/>
          </p:nvPr>
        </p:nvSpPr>
        <p:spPr/>
        <p:txBody>
          <a:bodyPr/>
          <a:lstStyle/>
          <a:p>
            <a:endParaRPr lang="en-US" altLang="en-US" smtClean="0"/>
          </a:p>
          <a:p>
            <a:r>
              <a:rPr lang="en-US" altLang="en-US" smtClean="0"/>
              <a:t>Allocates memory for a Student object and returns its address:</a:t>
            </a:r>
          </a:p>
          <a:p>
            <a:pPr lvl="1">
              <a:buFont typeface="Verdana" panose="020B0604030504040204" pitchFamily="34" charset="0"/>
              <a:buNone/>
            </a:pPr>
            <a:r>
              <a:rPr lang="en-US" altLang="en-US" smtClean="0"/>
              <a:t>  Student s1= new Student();</a:t>
            </a:r>
          </a:p>
          <a:p>
            <a:pPr lvl="1">
              <a:buFont typeface="Verdana" panose="020B0604030504040204" pitchFamily="34" charset="0"/>
              <a:buNone/>
            </a:pPr>
            <a:endParaRPr lang="en-US" altLang="en-US" smtClean="0"/>
          </a:p>
          <a:p>
            <a:r>
              <a:rPr lang="en-US" altLang="en-US" smtClean="0"/>
              <a:t>The address is then stored in the </a:t>
            </a:r>
            <a:r>
              <a:rPr lang="en-US" altLang="en-US" smtClean="0">
                <a:solidFill>
                  <a:srgbClr val="FF0000"/>
                </a:solidFill>
              </a:rPr>
              <a:t>s1 </a:t>
            </a:r>
            <a:r>
              <a:rPr lang="en-US" altLang="en-US" smtClean="0"/>
              <a:t>reference variable.</a:t>
            </a:r>
          </a:p>
        </p:txBody>
      </p:sp>
      <p:sp>
        <p:nvSpPr>
          <p:cNvPr id="3" name="Title 2"/>
          <p:cNvSpPr>
            <a:spLocks noGrp="1"/>
          </p:cNvSpPr>
          <p:nvPr>
            <p:ph type="title"/>
          </p:nvPr>
        </p:nvSpPr>
        <p:spPr/>
        <p:txBody>
          <a:bodyPr/>
          <a:lstStyle/>
          <a:p>
            <a:pPr>
              <a:defRPr/>
            </a:pPr>
            <a:r>
              <a:rPr lang="en-US" dirty="0" smtClean="0"/>
              <a:t>Operator new</a:t>
            </a:r>
            <a:endParaRPr lang="en-US" dirty="0"/>
          </a:p>
        </p:txBody>
      </p:sp>
    </p:spTree>
    <p:extLst>
      <p:ext uri="{BB962C8B-B14F-4D97-AF65-F5344CB8AC3E}">
        <p14:creationId xmlns:p14="http://schemas.microsoft.com/office/powerpoint/2010/main" val="25530594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smtClean="0"/>
              <a:t>Declaring VS Operator new</a:t>
            </a:r>
            <a:endParaRPr lang="en-US" dirty="0"/>
          </a:p>
        </p:txBody>
      </p:sp>
      <p:sp>
        <p:nvSpPr>
          <p:cNvPr id="97283" name="TextBox 3"/>
          <p:cNvSpPr txBox="1">
            <a:spLocks noChangeArrowheads="1"/>
          </p:cNvSpPr>
          <p:nvPr/>
        </p:nvSpPr>
        <p:spPr bwMode="auto">
          <a:xfrm>
            <a:off x="914400" y="1981200"/>
            <a:ext cx="7086600" cy="36941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dirty="0"/>
              <a:t>            </a:t>
            </a:r>
            <a:r>
              <a:rPr lang="en-US" altLang="en-US" sz="1800" b="1" u="sng" dirty="0"/>
              <a:t>Statement</a:t>
            </a:r>
            <a:r>
              <a:rPr lang="en-US" altLang="en-US" sz="1800" dirty="0"/>
              <a:t>                               </a:t>
            </a:r>
            <a:r>
              <a:rPr lang="en-US" altLang="en-US" sz="1800" b="1" u="sng" dirty="0"/>
              <a:t>Effect</a:t>
            </a:r>
          </a:p>
          <a:p>
            <a:pPr eaLnBrk="1" hangingPunct="1">
              <a:spcBef>
                <a:spcPct val="0"/>
              </a:spcBef>
              <a:buClrTx/>
              <a:buSzTx/>
              <a:buFontTx/>
              <a:buNone/>
            </a:pPr>
            <a:r>
              <a:rPr lang="en-US" altLang="en-US" sz="1800" dirty="0"/>
              <a:t>                </a:t>
            </a:r>
          </a:p>
          <a:p>
            <a:pPr eaLnBrk="1" hangingPunct="1">
              <a:spcBef>
                <a:spcPct val="0"/>
              </a:spcBef>
              <a:buClrTx/>
              <a:buSzTx/>
              <a:buFontTx/>
              <a:buNone/>
            </a:pPr>
            <a:r>
              <a:rPr lang="en-US" altLang="en-US" sz="1800" dirty="0"/>
              <a:t>            Student s1;                                    </a:t>
            </a:r>
          </a:p>
          <a:p>
            <a:pPr eaLnBrk="1" hangingPunct="1">
              <a:spcBef>
                <a:spcPct val="0"/>
              </a:spcBef>
              <a:buClrTx/>
              <a:buSzTx/>
              <a:buFontTx/>
              <a:buNone/>
            </a:pPr>
            <a:r>
              <a:rPr lang="en-US" altLang="en-US" sz="1800" dirty="0"/>
              <a:t>                                                                s1</a:t>
            </a:r>
          </a:p>
          <a:p>
            <a:pPr eaLnBrk="1" hangingPunct="1">
              <a:lnSpc>
                <a:spcPct val="150000"/>
              </a:lnSpc>
              <a:spcBef>
                <a:spcPct val="0"/>
              </a:spcBef>
              <a:buClrTx/>
              <a:buSzTx/>
              <a:buFontTx/>
              <a:buNone/>
            </a:pPr>
            <a:endParaRPr lang="en-US" altLang="en-US" sz="1800" dirty="0"/>
          </a:p>
          <a:p>
            <a:pPr eaLnBrk="1" hangingPunct="1">
              <a:lnSpc>
                <a:spcPct val="150000"/>
              </a:lnSpc>
              <a:spcBef>
                <a:spcPct val="0"/>
              </a:spcBef>
              <a:buClrTx/>
              <a:buSzTx/>
              <a:buFontTx/>
              <a:buNone/>
            </a:pPr>
            <a:r>
              <a:rPr lang="en-US" altLang="en-US" sz="1800" dirty="0"/>
              <a:t>            s1= new Student();                   </a:t>
            </a:r>
          </a:p>
          <a:p>
            <a:pPr eaLnBrk="1" hangingPunct="1">
              <a:lnSpc>
                <a:spcPct val="150000"/>
              </a:lnSpc>
              <a:spcBef>
                <a:spcPct val="0"/>
              </a:spcBef>
              <a:buClrTx/>
              <a:buSzTx/>
              <a:buFontTx/>
              <a:buNone/>
            </a:pPr>
            <a:r>
              <a:rPr lang="en-US" altLang="en-US" sz="1800" dirty="0"/>
              <a:t>                                                                  s1</a:t>
            </a:r>
          </a:p>
          <a:p>
            <a:pPr eaLnBrk="1" hangingPunct="1">
              <a:lnSpc>
                <a:spcPct val="150000"/>
              </a:lnSpc>
              <a:spcBef>
                <a:spcPct val="0"/>
              </a:spcBef>
              <a:buClrTx/>
              <a:buSzTx/>
              <a:buFontTx/>
              <a:buNone/>
            </a:pPr>
            <a:endParaRPr lang="en-US" altLang="en-US" sz="1800" dirty="0"/>
          </a:p>
          <a:p>
            <a:pPr eaLnBrk="1" hangingPunct="1">
              <a:lnSpc>
                <a:spcPct val="150000"/>
              </a:lnSpc>
              <a:spcBef>
                <a:spcPct val="0"/>
              </a:spcBef>
              <a:buClrTx/>
              <a:buSzTx/>
              <a:buFontTx/>
              <a:buNone/>
            </a:pPr>
            <a:r>
              <a:rPr lang="en-US" altLang="en-US" sz="1800" dirty="0"/>
              <a:t>                                                                                  </a:t>
            </a:r>
            <a:r>
              <a:rPr lang="en-US" altLang="en-US" sz="1600" dirty="0"/>
              <a:t>Student object</a:t>
            </a:r>
            <a:r>
              <a:rPr lang="en-US" altLang="en-US" sz="1800" dirty="0"/>
              <a:t>                          </a:t>
            </a:r>
          </a:p>
          <a:p>
            <a:pPr eaLnBrk="1" hangingPunct="1">
              <a:lnSpc>
                <a:spcPct val="150000"/>
              </a:lnSpc>
              <a:spcBef>
                <a:spcPct val="0"/>
              </a:spcBef>
              <a:buClrTx/>
              <a:buSzTx/>
              <a:buFontTx/>
              <a:buNone/>
            </a:pPr>
            <a:r>
              <a:rPr lang="en-US" altLang="en-US" sz="1800" dirty="0"/>
              <a:t>                                                                                            </a:t>
            </a:r>
          </a:p>
        </p:txBody>
      </p:sp>
      <p:sp>
        <p:nvSpPr>
          <p:cNvPr id="5" name="Rectangle 4"/>
          <p:cNvSpPr/>
          <p:nvPr/>
        </p:nvSpPr>
        <p:spPr>
          <a:xfrm>
            <a:off x="4872038" y="2509838"/>
            <a:ext cx="762000" cy="3048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null</a:t>
            </a:r>
          </a:p>
        </p:txBody>
      </p:sp>
      <p:sp>
        <p:nvSpPr>
          <p:cNvPr id="6" name="Rectangle 5"/>
          <p:cNvSpPr/>
          <p:nvPr/>
        </p:nvSpPr>
        <p:spPr>
          <a:xfrm>
            <a:off x="4921250" y="3681413"/>
            <a:ext cx="762000" cy="3048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chemeClr val="tx1"/>
              </a:solidFill>
            </a:endParaRPr>
          </a:p>
        </p:txBody>
      </p:sp>
      <p:cxnSp>
        <p:nvCxnSpPr>
          <p:cNvPr id="8" name="Elbow Connector 7"/>
          <p:cNvCxnSpPr>
            <a:stCxn id="6" idx="3"/>
          </p:cNvCxnSpPr>
          <p:nvPr/>
        </p:nvCxnSpPr>
        <p:spPr>
          <a:xfrm>
            <a:off x="5683250" y="3833813"/>
            <a:ext cx="695325" cy="39052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11" name="Rectangle 10"/>
          <p:cNvSpPr/>
          <p:nvPr/>
        </p:nvSpPr>
        <p:spPr>
          <a:xfrm>
            <a:off x="6378575" y="4033838"/>
            <a:ext cx="914400" cy="381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rollno</a:t>
            </a:r>
          </a:p>
        </p:txBody>
      </p:sp>
      <p:sp>
        <p:nvSpPr>
          <p:cNvPr id="12" name="Rectangle 11"/>
          <p:cNvSpPr/>
          <p:nvPr/>
        </p:nvSpPr>
        <p:spPr>
          <a:xfrm>
            <a:off x="6378575" y="4424363"/>
            <a:ext cx="914400" cy="381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name</a:t>
            </a:r>
          </a:p>
        </p:txBody>
      </p:sp>
    </p:spTree>
    <p:extLst>
      <p:ext uri="{BB962C8B-B14F-4D97-AF65-F5344CB8AC3E}">
        <p14:creationId xmlns:p14="http://schemas.microsoft.com/office/powerpoint/2010/main" val="9541159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Content Placeholder 1"/>
          <p:cNvSpPr>
            <a:spLocks noGrp="1"/>
          </p:cNvSpPr>
          <p:nvPr>
            <p:ph idx="1"/>
          </p:nvPr>
        </p:nvSpPr>
        <p:spPr/>
        <p:txBody>
          <a:bodyPr/>
          <a:lstStyle/>
          <a:p>
            <a:r>
              <a:rPr lang="en-US" altLang="en-US" smtClean="0"/>
              <a:t>Memory is allocated for objects dynamically.</a:t>
            </a:r>
          </a:p>
          <a:p>
            <a:r>
              <a:rPr lang="en-US" altLang="en-US" smtClean="0"/>
              <a:t>This has both advantages and disadvantages:</a:t>
            </a:r>
          </a:p>
          <a:p>
            <a:pPr lvl="1"/>
            <a:r>
              <a:rPr lang="en-US" altLang="en-US" smtClean="0"/>
              <a:t>as many objects are created as needed</a:t>
            </a:r>
          </a:p>
          <a:p>
            <a:pPr lvl="1"/>
            <a:r>
              <a:rPr lang="en-US" altLang="en-US" smtClean="0"/>
              <a:t>allocation is uncertain – memory may be insufficient</a:t>
            </a:r>
          </a:p>
          <a:p>
            <a:r>
              <a:rPr lang="en-US" altLang="en-US" smtClean="0"/>
              <a:t>Variables of simple types do not require new:</a:t>
            </a:r>
          </a:p>
          <a:p>
            <a:pPr lvl="1">
              <a:buFont typeface="Verdana" panose="020B0604030504040204" pitchFamily="34" charset="0"/>
              <a:buNone/>
            </a:pPr>
            <a:r>
              <a:rPr lang="en-US" altLang="en-US" smtClean="0"/>
              <a:t>   int n = 1;</a:t>
            </a:r>
          </a:p>
          <a:p>
            <a:r>
              <a:rPr lang="en-US" altLang="en-US" smtClean="0"/>
              <a:t>In the interest of efficiency, Java does not implement simple types as objects. Variables of simple types hold values, not references.</a:t>
            </a:r>
          </a:p>
        </p:txBody>
      </p:sp>
      <p:sp>
        <p:nvSpPr>
          <p:cNvPr id="3" name="Title 2"/>
          <p:cNvSpPr>
            <a:spLocks noGrp="1"/>
          </p:cNvSpPr>
          <p:nvPr>
            <p:ph type="title"/>
          </p:nvPr>
        </p:nvSpPr>
        <p:spPr/>
        <p:txBody>
          <a:bodyPr/>
          <a:lstStyle/>
          <a:p>
            <a:pPr>
              <a:defRPr/>
            </a:pPr>
            <a:r>
              <a:rPr lang="en-US" dirty="0" smtClean="0"/>
              <a:t>Memory Allocation</a:t>
            </a:r>
            <a:endParaRPr lang="en-US" dirty="0"/>
          </a:p>
        </p:txBody>
      </p:sp>
    </p:spTree>
    <p:extLst>
      <p:ext uri="{BB962C8B-B14F-4D97-AF65-F5344CB8AC3E}">
        <p14:creationId xmlns:p14="http://schemas.microsoft.com/office/powerpoint/2010/main" val="200170793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Content Placeholder 1"/>
          <p:cNvSpPr>
            <a:spLocks noGrp="1"/>
          </p:cNvSpPr>
          <p:nvPr>
            <p:ph idx="1"/>
          </p:nvPr>
        </p:nvSpPr>
        <p:spPr/>
        <p:txBody>
          <a:bodyPr/>
          <a:lstStyle/>
          <a:p>
            <a:r>
              <a:rPr lang="en-US" altLang="en-US" smtClean="0"/>
              <a:t>Assignment copies address, not the actual value:</a:t>
            </a:r>
          </a:p>
          <a:p>
            <a:pPr lvl="1"/>
            <a:r>
              <a:rPr lang="en-US" altLang="en-US" smtClean="0"/>
              <a:t>Student s1 = new Student();</a:t>
            </a:r>
          </a:p>
          <a:p>
            <a:pPr lvl="1"/>
            <a:r>
              <a:rPr lang="en-US" altLang="en-US" smtClean="0"/>
              <a:t>Student s2 = s1;</a:t>
            </a:r>
          </a:p>
          <a:p>
            <a:r>
              <a:rPr lang="en-US" altLang="en-US" smtClean="0"/>
              <a:t>Both variables point to the same object.</a:t>
            </a:r>
          </a:p>
          <a:p>
            <a:r>
              <a:rPr lang="en-US" altLang="en-US" smtClean="0"/>
              <a:t>Variables are not in any way connected. After</a:t>
            </a:r>
          </a:p>
          <a:p>
            <a:pPr lvl="1">
              <a:buFont typeface="Verdana" panose="020B0604030504040204" pitchFamily="34" charset="0"/>
              <a:buNone/>
            </a:pPr>
            <a:r>
              <a:rPr lang="en-US" altLang="en-US" smtClean="0"/>
              <a:t>    s1 = null;</a:t>
            </a:r>
          </a:p>
          <a:p>
            <a:pPr>
              <a:buFont typeface="Wingdings 3" panose="05040102010807070707" pitchFamily="18" charset="2"/>
              <a:buNone/>
            </a:pPr>
            <a:r>
              <a:rPr lang="en-US" altLang="en-US" smtClean="0"/>
              <a:t>   s2 still refers to the original object.</a:t>
            </a:r>
          </a:p>
        </p:txBody>
      </p:sp>
      <p:sp>
        <p:nvSpPr>
          <p:cNvPr id="3" name="Title 2"/>
          <p:cNvSpPr>
            <a:spLocks noGrp="1"/>
          </p:cNvSpPr>
          <p:nvPr>
            <p:ph type="title"/>
          </p:nvPr>
        </p:nvSpPr>
        <p:spPr/>
        <p:txBody>
          <a:bodyPr/>
          <a:lstStyle/>
          <a:p>
            <a:pPr>
              <a:defRPr/>
            </a:pPr>
            <a:r>
              <a:rPr lang="en-US" dirty="0" smtClean="0"/>
              <a:t>Assigning Reference Variable</a:t>
            </a:r>
            <a:endParaRPr lang="en-US" dirty="0"/>
          </a:p>
        </p:txBody>
      </p:sp>
      <p:pic>
        <p:nvPicPr>
          <p:cNvPr id="9933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4724400"/>
            <a:ext cx="3962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8095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defRPr/>
            </a:pPr>
            <a:r>
              <a:rPr lang="en-US" dirty="0"/>
              <a:t>Object and Class Example: </a:t>
            </a:r>
            <a:r>
              <a:rPr lang="en-US" dirty="0" smtClean="0"/>
              <a:t>Employee</a:t>
            </a:r>
            <a:endParaRPr lang="en-US" dirty="0"/>
          </a:p>
        </p:txBody>
      </p:sp>
      <p:pic>
        <p:nvPicPr>
          <p:cNvPr id="74755"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4500" y="1600200"/>
            <a:ext cx="42037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6"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576388"/>
            <a:ext cx="3724275"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defRPr/>
            </a:pPr>
            <a:r>
              <a:rPr lang="en-US" dirty="0"/>
              <a:t>Object and Class Example: Rectangle</a:t>
            </a:r>
          </a:p>
        </p:txBody>
      </p:sp>
      <p:pic>
        <p:nvPicPr>
          <p:cNvPr id="76803"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981200"/>
            <a:ext cx="434340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4"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26050" y="1981200"/>
            <a:ext cx="3476625"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1"/>
          <p:cNvSpPr>
            <a:spLocks noGrp="1"/>
          </p:cNvSpPr>
          <p:nvPr>
            <p:ph idx="1"/>
          </p:nvPr>
        </p:nvSpPr>
        <p:spPr/>
        <p:txBody>
          <a:bodyPr/>
          <a:lstStyle/>
          <a:p>
            <a:r>
              <a:rPr lang="en-US" altLang="en-US" smtClean="0"/>
              <a:t>Anonymous simply means nameless</a:t>
            </a:r>
          </a:p>
          <a:p>
            <a:r>
              <a:rPr lang="en-US" altLang="en-US" smtClean="0"/>
              <a:t>An object which has no reference is known as anonymous object</a:t>
            </a:r>
          </a:p>
          <a:p>
            <a:r>
              <a:rPr lang="en-US" altLang="en-US" smtClean="0"/>
              <a:t>can be used at the time of object creation only.</a:t>
            </a:r>
          </a:p>
          <a:p>
            <a:endParaRPr lang="en-US" altLang="en-US" smtClean="0"/>
          </a:p>
          <a:p>
            <a:r>
              <a:rPr lang="en-US" altLang="en-US" smtClean="0"/>
              <a:t>If you have to use an object only once, anonymous object is a good approach</a:t>
            </a:r>
          </a:p>
          <a:p>
            <a:endParaRPr lang="en-US" altLang="en-US" smtClean="0"/>
          </a:p>
          <a:p>
            <a:r>
              <a:rPr lang="en-US" altLang="en-US" b="1" smtClean="0"/>
              <a:t>new</a:t>
            </a:r>
            <a:r>
              <a:rPr lang="en-US" altLang="en-US" smtClean="0"/>
              <a:t> Calculation();</a:t>
            </a:r>
            <a:r>
              <a:rPr lang="en-US" altLang="en-US" smtClean="0">
                <a:solidFill>
                  <a:srgbClr val="00B050"/>
                </a:solidFill>
              </a:rPr>
              <a:t>//anonymous object</a:t>
            </a:r>
            <a:r>
              <a:rPr lang="en-US" altLang="en-US" smtClean="0">
                <a:solidFill>
                  <a:srgbClr val="92D050"/>
                </a:solidFill>
              </a:rPr>
              <a:t> </a:t>
            </a:r>
            <a:r>
              <a:rPr lang="en-US" altLang="en-US" smtClean="0"/>
              <a:t> </a:t>
            </a:r>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Anonymous object</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dirty="0"/>
              <a:t>Calling method through reference</a:t>
            </a:r>
            <a:r>
              <a:rPr lang="en-US" dirty="0" smtClean="0"/>
              <a:t>:</a:t>
            </a:r>
          </a:p>
          <a:p>
            <a:pPr marL="109537" indent="0">
              <a:buFont typeface="Wingdings 3" panose="05040102010807070707" pitchFamily="18" charset="2"/>
              <a:buNone/>
              <a:defRPr/>
            </a:pPr>
            <a:r>
              <a:rPr lang="en-US" dirty="0" smtClean="0"/>
              <a:t>	Calculation</a:t>
            </a:r>
            <a:r>
              <a:rPr lang="en-US" dirty="0"/>
              <a:t> c=</a:t>
            </a:r>
            <a:r>
              <a:rPr lang="en-US" b="1" dirty="0"/>
              <a:t>new</a:t>
            </a:r>
            <a:r>
              <a:rPr lang="en-US" dirty="0"/>
              <a:t> Calculation();  </a:t>
            </a:r>
          </a:p>
          <a:p>
            <a:pPr marL="109537" indent="0">
              <a:buFont typeface="Wingdings 3" panose="05040102010807070707" pitchFamily="18" charset="2"/>
              <a:buNone/>
              <a:defRPr/>
            </a:pPr>
            <a:r>
              <a:rPr lang="en-US" dirty="0" smtClean="0"/>
              <a:t>	</a:t>
            </a:r>
            <a:r>
              <a:rPr lang="en-US" dirty="0" err="1" smtClean="0"/>
              <a:t>c.fact</a:t>
            </a:r>
            <a:r>
              <a:rPr lang="en-US" dirty="0" smtClean="0"/>
              <a:t>(5</a:t>
            </a:r>
            <a:r>
              <a:rPr lang="en-US" dirty="0"/>
              <a:t>);</a:t>
            </a:r>
          </a:p>
          <a:p>
            <a:pPr>
              <a:defRPr/>
            </a:pPr>
            <a:endParaRPr lang="en-US" dirty="0" smtClean="0"/>
          </a:p>
          <a:p>
            <a:pPr>
              <a:defRPr/>
            </a:pPr>
            <a:r>
              <a:rPr lang="en-US" dirty="0"/>
              <a:t>Calling method through anonymous </a:t>
            </a:r>
            <a:r>
              <a:rPr lang="en-US" dirty="0" smtClean="0"/>
              <a:t>object:</a:t>
            </a:r>
          </a:p>
          <a:p>
            <a:pPr marL="109537" indent="0">
              <a:buFont typeface="Wingdings 3" panose="05040102010807070707" pitchFamily="18" charset="2"/>
              <a:buNone/>
              <a:defRPr/>
            </a:pPr>
            <a:r>
              <a:rPr lang="en-US" b="1" dirty="0" smtClean="0"/>
              <a:t>	new</a:t>
            </a:r>
            <a:r>
              <a:rPr lang="en-US" dirty="0"/>
              <a:t> Calculation().fact(5);  </a:t>
            </a:r>
          </a:p>
          <a:p>
            <a:pPr>
              <a:defRPr/>
            </a:pPr>
            <a:endParaRPr lang="en-US" dirty="0"/>
          </a:p>
        </p:txBody>
      </p:sp>
      <p:sp>
        <p:nvSpPr>
          <p:cNvPr id="3" name="Title 2"/>
          <p:cNvSpPr>
            <a:spLocks noGrp="1"/>
          </p:cNvSpPr>
          <p:nvPr>
            <p:ph type="title"/>
          </p:nvPr>
        </p:nvSpPr>
        <p:spPr/>
        <p:txBody>
          <a:bodyPr/>
          <a:lstStyle/>
          <a:p>
            <a:pPr>
              <a:defRPr/>
            </a:pPr>
            <a:r>
              <a:rPr lang="en-US" dirty="0" smtClean="0"/>
              <a:t>Comparison </a:t>
            </a:r>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smtClean="0"/>
              <a:t>Example</a:t>
            </a:r>
            <a:endParaRPr lang="en-US" dirty="0"/>
          </a:p>
        </p:txBody>
      </p:sp>
      <p:pic>
        <p:nvPicPr>
          <p:cNvPr id="81923"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433513"/>
            <a:ext cx="6629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5486400" y="1417638"/>
            <a:ext cx="2819400" cy="3139321"/>
          </a:xfrm>
          <a:prstGeom prst="rect">
            <a:avLst/>
          </a:prstGeom>
          <a:noFill/>
        </p:spPr>
        <p:txBody>
          <a:bodyPr wrap="square" rtlCol="0">
            <a:spAutoFit/>
          </a:bodyPr>
          <a:lstStyle/>
          <a:p>
            <a:r>
              <a:rPr lang="en-US" dirty="0"/>
              <a:t>fact = 1</a:t>
            </a:r>
          </a:p>
          <a:p>
            <a:r>
              <a:rPr lang="en-US" dirty="0" err="1"/>
              <a:t>i</a:t>
            </a:r>
            <a:r>
              <a:rPr lang="en-US" dirty="0"/>
              <a:t>=1 </a:t>
            </a:r>
          </a:p>
          <a:p>
            <a:r>
              <a:rPr lang="en-US" dirty="0"/>
              <a:t>	fact=1*1=1</a:t>
            </a:r>
          </a:p>
          <a:p>
            <a:r>
              <a:rPr lang="en-US" dirty="0" err="1"/>
              <a:t>i</a:t>
            </a:r>
            <a:r>
              <a:rPr lang="en-US" dirty="0"/>
              <a:t>=2</a:t>
            </a:r>
          </a:p>
          <a:p>
            <a:r>
              <a:rPr lang="en-US" dirty="0"/>
              <a:t>	fact=1*2=2</a:t>
            </a:r>
          </a:p>
          <a:p>
            <a:r>
              <a:rPr lang="en-US" dirty="0" err="1"/>
              <a:t>i</a:t>
            </a:r>
            <a:r>
              <a:rPr lang="en-US" dirty="0"/>
              <a:t>=3</a:t>
            </a:r>
          </a:p>
          <a:p>
            <a:r>
              <a:rPr lang="en-US" dirty="0"/>
              <a:t>	fact=2*3=6</a:t>
            </a:r>
          </a:p>
          <a:p>
            <a:r>
              <a:rPr lang="en-US" dirty="0" err="1"/>
              <a:t>i</a:t>
            </a:r>
            <a:r>
              <a:rPr lang="en-US" dirty="0"/>
              <a:t>=4</a:t>
            </a:r>
          </a:p>
          <a:p>
            <a:r>
              <a:rPr lang="en-US" dirty="0"/>
              <a:t>	fact=6*4=24</a:t>
            </a:r>
          </a:p>
          <a:p>
            <a:r>
              <a:rPr lang="en-US" dirty="0" err="1"/>
              <a:t>i</a:t>
            </a:r>
            <a:r>
              <a:rPr lang="en-US" dirty="0"/>
              <a:t>=5</a:t>
            </a:r>
          </a:p>
          <a:p>
            <a:r>
              <a:rPr lang="en-US" dirty="0"/>
              <a:t>	fact=24*5=120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138"/>
            <a:ext cx="8382000" cy="4525962"/>
          </a:xfrm>
        </p:spPr>
        <p:txBody>
          <a:bodyPr/>
          <a:lstStyle/>
          <a:p>
            <a:pPr>
              <a:defRPr/>
            </a:pPr>
            <a:r>
              <a:rPr lang="en-US" dirty="0"/>
              <a:t>We can create multiple objects by one type only as we do in case of primitives</a:t>
            </a:r>
            <a:r>
              <a:rPr lang="en-US" dirty="0" smtClean="0"/>
              <a:t>.</a:t>
            </a:r>
          </a:p>
          <a:p>
            <a:pPr>
              <a:defRPr/>
            </a:pPr>
            <a:endParaRPr lang="en-US" dirty="0"/>
          </a:p>
          <a:p>
            <a:pPr>
              <a:defRPr/>
            </a:pPr>
            <a:r>
              <a:rPr lang="en-US" dirty="0"/>
              <a:t>Initialization of primitive variables</a:t>
            </a:r>
            <a:r>
              <a:rPr lang="en-US" dirty="0" smtClean="0"/>
              <a:t>:</a:t>
            </a:r>
          </a:p>
          <a:p>
            <a:pPr marL="109537" indent="0">
              <a:buFont typeface="Wingdings 3" panose="05040102010807070707" pitchFamily="18" charset="2"/>
              <a:buNone/>
              <a:defRPr/>
            </a:pPr>
            <a:r>
              <a:rPr lang="en-US" b="1" dirty="0" smtClean="0"/>
              <a:t>	int</a:t>
            </a:r>
            <a:r>
              <a:rPr lang="en-US" dirty="0"/>
              <a:t> a=10, b=20;  </a:t>
            </a:r>
          </a:p>
          <a:p>
            <a:pPr>
              <a:defRPr/>
            </a:pPr>
            <a:endParaRPr lang="en-US" dirty="0" smtClean="0"/>
          </a:p>
          <a:p>
            <a:pPr>
              <a:defRPr/>
            </a:pPr>
            <a:r>
              <a:rPr lang="en-US" dirty="0" smtClean="0"/>
              <a:t>Initialization </a:t>
            </a:r>
            <a:r>
              <a:rPr lang="en-US" dirty="0"/>
              <a:t>of </a:t>
            </a:r>
            <a:r>
              <a:rPr lang="en-US" dirty="0" smtClean="0"/>
              <a:t>reference </a:t>
            </a:r>
            <a:r>
              <a:rPr lang="en-US" dirty="0"/>
              <a:t>variables</a:t>
            </a:r>
            <a:r>
              <a:rPr lang="en-US" dirty="0" smtClean="0"/>
              <a:t>:</a:t>
            </a:r>
          </a:p>
          <a:p>
            <a:pPr marL="109537" indent="0">
              <a:buFont typeface="Wingdings 3" panose="05040102010807070707" pitchFamily="18" charset="2"/>
              <a:buNone/>
              <a:defRPr/>
            </a:pPr>
            <a:r>
              <a:rPr lang="en-US" dirty="0" smtClean="0"/>
              <a:t>Rectangle</a:t>
            </a:r>
            <a:r>
              <a:rPr lang="en-US" dirty="0"/>
              <a:t> r1=</a:t>
            </a:r>
            <a:r>
              <a:rPr lang="en-US" b="1" dirty="0"/>
              <a:t>new</a:t>
            </a:r>
            <a:r>
              <a:rPr lang="en-US" dirty="0"/>
              <a:t> Rectangle(), r2=</a:t>
            </a:r>
            <a:r>
              <a:rPr lang="en-US" b="1" dirty="0"/>
              <a:t>new</a:t>
            </a:r>
            <a:r>
              <a:rPr lang="en-US" dirty="0"/>
              <a:t> Rectangle();</a:t>
            </a:r>
            <a:r>
              <a:rPr lang="en-US" dirty="0">
                <a:solidFill>
                  <a:srgbClr val="00B050"/>
                </a:solidFill>
              </a:rPr>
              <a:t>//creating two objects  </a:t>
            </a:r>
          </a:p>
          <a:p>
            <a:pPr>
              <a:defRPr/>
            </a:pPr>
            <a:endParaRPr lang="en-US" dirty="0"/>
          </a:p>
        </p:txBody>
      </p:sp>
      <p:sp>
        <p:nvSpPr>
          <p:cNvPr id="3" name="Title 2"/>
          <p:cNvSpPr>
            <a:spLocks noGrp="1"/>
          </p:cNvSpPr>
          <p:nvPr>
            <p:ph type="title"/>
          </p:nvPr>
        </p:nvSpPr>
        <p:spPr/>
        <p:txBody>
          <a:bodyPr>
            <a:normAutofit fontScale="90000"/>
          </a:bodyPr>
          <a:lstStyle/>
          <a:p>
            <a:pPr>
              <a:defRPr/>
            </a:pPr>
            <a:r>
              <a:rPr lang="en-US" dirty="0"/>
              <a:t>Creating multiple objects by one type only</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1143000"/>
          </a:xfrm>
        </p:spPr>
        <p:txBody>
          <a:bodyPr/>
          <a:lstStyle/>
          <a:p>
            <a:pPr>
              <a:defRPr/>
            </a:pPr>
            <a:r>
              <a:rPr lang="en-US" dirty="0" smtClean="0"/>
              <a:t>Example</a:t>
            </a:r>
            <a:endParaRPr lang="en-US" dirty="0"/>
          </a:p>
        </p:txBody>
      </p:sp>
      <p:pic>
        <p:nvPicPr>
          <p:cNvPr id="84995"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95400"/>
            <a:ext cx="6781800" cy="541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ntent Placeholder 1"/>
          <p:cNvSpPr>
            <a:spLocks noGrp="1"/>
          </p:cNvSpPr>
          <p:nvPr>
            <p:ph idx="1"/>
          </p:nvPr>
        </p:nvSpPr>
        <p:spPr/>
        <p:txBody>
          <a:bodyPr/>
          <a:lstStyle/>
          <a:p>
            <a:r>
              <a:rPr lang="en-US" altLang="en-US" sz="2300" smtClean="0"/>
              <a:t>General form of a method definition:</a:t>
            </a:r>
          </a:p>
          <a:p>
            <a:endParaRPr lang="en-US" altLang="en-US" sz="2300" smtClean="0"/>
          </a:p>
          <a:p>
            <a:endParaRPr lang="en-US" altLang="en-US" sz="2300" smtClean="0"/>
          </a:p>
          <a:p>
            <a:endParaRPr lang="en-US" altLang="en-US" sz="2300" smtClean="0"/>
          </a:p>
          <a:p>
            <a:endParaRPr lang="en-US" altLang="en-US" sz="2300" smtClean="0"/>
          </a:p>
          <a:p>
            <a:r>
              <a:rPr lang="en-US" altLang="en-US" sz="2300" smtClean="0"/>
              <a:t>Components:</a:t>
            </a:r>
          </a:p>
          <a:p>
            <a:pPr lvl="1"/>
            <a:r>
              <a:rPr lang="en-US" altLang="en-US" sz="2100" smtClean="0"/>
              <a:t>type - type of values returned by the method. If a method does not return any value, its return type must be void.</a:t>
            </a:r>
          </a:p>
          <a:p>
            <a:pPr lvl="1"/>
            <a:r>
              <a:rPr lang="en-US" altLang="en-US" sz="2100" smtClean="0"/>
              <a:t>name is the name of the method</a:t>
            </a:r>
          </a:p>
          <a:p>
            <a:pPr lvl="1"/>
            <a:r>
              <a:rPr lang="en-US" altLang="en-US" sz="2100" smtClean="0"/>
              <a:t>parameter-list is a sequence of type-identifier lists separated by commas</a:t>
            </a:r>
          </a:p>
          <a:p>
            <a:pPr lvl="1"/>
            <a:r>
              <a:rPr lang="en-US" altLang="en-US" sz="2100" smtClean="0"/>
              <a:t>return value indicates what value is returned by the method.</a:t>
            </a:r>
          </a:p>
        </p:txBody>
      </p:sp>
      <p:sp>
        <p:nvSpPr>
          <p:cNvPr id="3" name="Title 2"/>
          <p:cNvSpPr>
            <a:spLocks noGrp="1"/>
          </p:cNvSpPr>
          <p:nvPr>
            <p:ph type="title"/>
          </p:nvPr>
        </p:nvSpPr>
        <p:spPr/>
        <p:txBody>
          <a:bodyPr/>
          <a:lstStyle/>
          <a:p>
            <a:pPr>
              <a:defRPr/>
            </a:pPr>
            <a:r>
              <a:rPr lang="en-US" dirty="0" smtClean="0"/>
              <a:t>Methods</a:t>
            </a:r>
            <a:endParaRPr lang="en-US" dirty="0"/>
          </a:p>
        </p:txBody>
      </p:sp>
      <p:pic>
        <p:nvPicPr>
          <p:cNvPr id="1003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057400"/>
            <a:ext cx="4114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8" name="Content Placeholder 1"/>
          <p:cNvSpPr>
            <a:spLocks noGrp="1"/>
          </p:cNvSpPr>
          <p:nvPr>
            <p:ph idx="1"/>
          </p:nvPr>
        </p:nvSpPr>
        <p:spPr/>
        <p:txBody>
          <a:bodyPr/>
          <a:lstStyle/>
          <a:p>
            <a:r>
              <a:rPr lang="en-US" altLang="en-US" smtClean="0"/>
              <a:t>Classes declare methods to hide their internal data structures, as well as for their own internal use:</a:t>
            </a:r>
          </a:p>
          <a:p>
            <a:r>
              <a:rPr lang="en-US" altLang="en-US" smtClean="0"/>
              <a:t>Within a class, we can refer directly to its member variables:</a:t>
            </a:r>
          </a:p>
        </p:txBody>
      </p:sp>
      <p:sp>
        <p:nvSpPr>
          <p:cNvPr id="3" name="Title 2"/>
          <p:cNvSpPr>
            <a:spLocks noGrp="1"/>
          </p:cNvSpPr>
          <p:nvPr>
            <p:ph type="title"/>
          </p:nvPr>
        </p:nvSpPr>
        <p:spPr/>
        <p:txBody>
          <a:bodyPr/>
          <a:lstStyle/>
          <a:p>
            <a:pPr>
              <a:defRPr/>
            </a:pPr>
            <a:r>
              <a:rPr lang="en-US" dirty="0" smtClean="0"/>
              <a:t>Example: Method</a:t>
            </a:r>
            <a:endParaRPr lang="en-US" dirty="0"/>
          </a:p>
        </p:txBody>
      </p:sp>
      <p:pic>
        <p:nvPicPr>
          <p:cNvPr id="101380"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886200"/>
            <a:ext cx="56388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smtClean="0"/>
              <a:t>Example: Method</a:t>
            </a:r>
            <a:endParaRPr lang="en-US" dirty="0"/>
          </a:p>
        </p:txBody>
      </p:sp>
      <p:pic>
        <p:nvPicPr>
          <p:cNvPr id="102403"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422400"/>
            <a:ext cx="67056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Content Placeholder 1"/>
          <p:cNvSpPr>
            <a:spLocks noGrp="1"/>
          </p:cNvSpPr>
          <p:nvPr>
            <p:ph idx="1"/>
          </p:nvPr>
        </p:nvSpPr>
        <p:spPr/>
        <p:txBody>
          <a:bodyPr/>
          <a:lstStyle/>
          <a:p>
            <a:r>
              <a:rPr lang="en-US" altLang="en-US" smtClean="0"/>
              <a:t>The type of an expression returning value from a method must agree with the return type of this method:</a:t>
            </a:r>
          </a:p>
        </p:txBody>
      </p:sp>
      <p:sp>
        <p:nvSpPr>
          <p:cNvPr id="3" name="Title 2"/>
          <p:cNvSpPr>
            <a:spLocks noGrp="1"/>
          </p:cNvSpPr>
          <p:nvPr>
            <p:ph type="title"/>
          </p:nvPr>
        </p:nvSpPr>
        <p:spPr/>
        <p:txBody>
          <a:bodyPr/>
          <a:lstStyle/>
          <a:p>
            <a:pPr>
              <a:defRPr/>
            </a:pPr>
            <a:r>
              <a:rPr lang="en-US" dirty="0" smtClean="0"/>
              <a:t>Value-Returning Method</a:t>
            </a:r>
            <a:endParaRPr lang="en-US" dirty="0"/>
          </a:p>
        </p:txBody>
      </p:sp>
      <p:pic>
        <p:nvPicPr>
          <p:cNvPr id="10445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200400"/>
            <a:ext cx="4343400"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smtClean="0"/>
              <a:t>Value-Returning Method</a:t>
            </a:r>
            <a:endParaRPr lang="en-US" dirty="0"/>
          </a:p>
        </p:txBody>
      </p:sp>
      <p:pic>
        <p:nvPicPr>
          <p:cNvPr id="106499"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24000"/>
            <a:ext cx="7924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Content Placeholder 1"/>
          <p:cNvSpPr>
            <a:spLocks noGrp="1"/>
          </p:cNvSpPr>
          <p:nvPr>
            <p:ph idx="1"/>
          </p:nvPr>
        </p:nvSpPr>
        <p:spPr/>
        <p:txBody>
          <a:bodyPr/>
          <a:lstStyle/>
          <a:p>
            <a:r>
              <a:rPr lang="en-US" altLang="en-US" smtClean="0"/>
              <a:t>Parameters increase generality and applicability of a method:</a:t>
            </a:r>
          </a:p>
          <a:p>
            <a:pPr lvl="1"/>
            <a:r>
              <a:rPr lang="en-US" altLang="en-US" smtClean="0"/>
              <a:t>method without parameters</a:t>
            </a:r>
          </a:p>
          <a:p>
            <a:pPr lvl="2">
              <a:buFont typeface="Wingdings 2" panose="05020102010507070707" pitchFamily="18" charset="2"/>
              <a:buNone/>
            </a:pPr>
            <a:r>
              <a:rPr lang="en-US" altLang="en-US" smtClean="0"/>
              <a:t>    int square() { return 10*10; }</a:t>
            </a:r>
          </a:p>
          <a:p>
            <a:pPr lvl="1"/>
            <a:r>
              <a:rPr lang="en-US" altLang="en-US" smtClean="0"/>
              <a:t>method with parameters</a:t>
            </a:r>
          </a:p>
          <a:p>
            <a:pPr lvl="1">
              <a:buFont typeface="Verdana" panose="020B0604030504040204" pitchFamily="34" charset="0"/>
              <a:buNone/>
            </a:pPr>
            <a:r>
              <a:rPr lang="en-US" altLang="en-US" smtClean="0"/>
              <a:t>       int square(int i) { return i*i; }</a:t>
            </a:r>
          </a:p>
          <a:p>
            <a:r>
              <a:rPr lang="en-US" altLang="en-US" b="1" smtClean="0"/>
              <a:t>Parameter:</a:t>
            </a:r>
            <a:r>
              <a:rPr lang="en-US" altLang="en-US" smtClean="0"/>
              <a:t> a variable receiving value at the time the method is invoked.</a:t>
            </a:r>
          </a:p>
          <a:p>
            <a:r>
              <a:rPr lang="en-US" altLang="en-US" b="1" smtClean="0"/>
              <a:t>Argument: </a:t>
            </a:r>
            <a:r>
              <a:rPr lang="en-US" altLang="en-US" smtClean="0"/>
              <a:t>a value passed to the method when it is invoked.</a:t>
            </a:r>
          </a:p>
        </p:txBody>
      </p:sp>
      <p:sp>
        <p:nvSpPr>
          <p:cNvPr id="3" name="Title 2"/>
          <p:cNvSpPr>
            <a:spLocks noGrp="1"/>
          </p:cNvSpPr>
          <p:nvPr>
            <p:ph type="title"/>
          </p:nvPr>
        </p:nvSpPr>
        <p:spPr/>
        <p:txBody>
          <a:bodyPr/>
          <a:lstStyle/>
          <a:p>
            <a:pPr>
              <a:defRPr/>
            </a:pPr>
            <a:r>
              <a:rPr lang="en-US" dirty="0" smtClean="0"/>
              <a:t>Parameterized Method</a:t>
            </a:r>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smtClean="0"/>
              <a:t>Example: Parameterized Method</a:t>
            </a:r>
            <a:endParaRPr lang="en-US" dirty="0"/>
          </a:p>
        </p:txBody>
      </p:sp>
      <p:pic>
        <p:nvPicPr>
          <p:cNvPr id="109571"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1963" y="1676400"/>
            <a:ext cx="2967037"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2"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1676400"/>
            <a:ext cx="41148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ChangeArrowheads="1"/>
          </p:cNvSpPr>
          <p:nvPr/>
        </p:nvSpPr>
        <p:spPr bwMode="auto">
          <a:xfrm>
            <a:off x="381000" y="914400"/>
            <a:ext cx="7315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just" eaLnBrk="1" hangingPunct="1">
              <a:spcBef>
                <a:spcPct val="0"/>
              </a:spcBef>
              <a:buClrTx/>
              <a:buSzTx/>
              <a:buFontTx/>
              <a:buNone/>
            </a:pPr>
            <a:r>
              <a:rPr lang="en-US" altLang="en-US" sz="1800">
                <a:solidFill>
                  <a:schemeClr val="tx2"/>
                </a:solidFill>
                <a:latin typeface="Lucida Sans Unicode" panose="020B0602030504020204" pitchFamily="34" charset="0"/>
              </a:rPr>
              <a:t/>
            </a:r>
            <a:br>
              <a:rPr lang="en-US" altLang="en-US" sz="1800">
                <a:solidFill>
                  <a:schemeClr val="tx2"/>
                </a:solidFill>
                <a:latin typeface="Lucida Sans Unicode" panose="020B0602030504020204" pitchFamily="34" charset="0"/>
              </a:rPr>
            </a:br>
            <a:endParaRPr lang="en-US" altLang="en-US" sz="1800">
              <a:solidFill>
                <a:schemeClr val="tx2"/>
              </a:solidFill>
              <a:latin typeface="Lucida Sans Unicode" panose="020B0602030504020204" pitchFamily="34" charset="0"/>
            </a:endParaRPr>
          </a:p>
        </p:txBody>
      </p:sp>
      <p:sp>
        <p:nvSpPr>
          <p:cNvPr id="111619" name="Title 1"/>
          <p:cNvSpPr txBox="1">
            <a:spLocks/>
          </p:cNvSpPr>
          <p:nvPr/>
        </p:nvSpPr>
        <p:spPr bwMode="auto">
          <a:xfrm>
            <a:off x="685800" y="2438400"/>
            <a:ext cx="73914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4400">
                <a:latin typeface="Calibri" panose="020F0502020204030204" pitchFamily="34" charset="0"/>
              </a:rPr>
              <a:t>Questions?</a:t>
            </a:r>
          </a:p>
        </p:txBody>
      </p:sp>
      <p:sp>
        <p:nvSpPr>
          <p:cNvPr id="111620" name="Slide Number Placeholder 2"/>
          <p:cNvSpPr>
            <a:spLocks noGrp="1"/>
          </p:cNvSpPr>
          <p:nvPr>
            <p:ph type="sldNum" sz="quarter" idx="12"/>
          </p:nvPr>
        </p:nvSpPr>
        <p:spPr bwMode="auto">
          <a:xfrm>
            <a:off x="9926638" y="8534400"/>
            <a:ext cx="312737" cy="257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l">
              <a:spcBef>
                <a:spcPct val="0"/>
              </a:spcBef>
              <a:buClrTx/>
              <a:buSzTx/>
              <a:buFontTx/>
              <a:buNone/>
            </a:pPr>
            <a:fld id="{FDD0D70F-69F0-4E2E-A520-CFC5F913130A}" type="slidenum">
              <a:rPr lang="en-US" altLang="en-US" sz="1400" smtClean="0">
                <a:solidFill>
                  <a:schemeClr val="bg1"/>
                </a:solidFill>
                <a:latin typeface="Lucida Sans Unicode" panose="020B0602030504020204" pitchFamily="34" charset="0"/>
                <a:ea typeface="ヒラギノ角ゴ ProN W3"/>
                <a:cs typeface="ヒラギノ角ゴ ProN W3"/>
                <a:sym typeface="Arial" panose="020B0604020202020204" pitchFamily="34" charset="0"/>
              </a:rPr>
              <a:pPr algn="l">
                <a:spcBef>
                  <a:spcPct val="0"/>
                </a:spcBef>
                <a:buClrTx/>
                <a:buSzTx/>
                <a:buFontTx/>
                <a:buNone/>
              </a:pPr>
              <a:t>67</a:t>
            </a:fld>
            <a:endParaRPr lang="en-US" altLang="en-US" sz="1400" smtClean="0">
              <a:solidFill>
                <a:schemeClr val="bg1"/>
              </a:solidFill>
              <a:latin typeface="Lucida Sans Unicode" panose="020B0602030504020204" pitchFamily="34" charset="0"/>
              <a:ea typeface="ヒラギノ角ゴ ProN W3"/>
              <a:cs typeface="ヒラギノ角ゴ ProN W3"/>
              <a:sym typeface="Arial" panose="020B0604020202020204" pitchFamily="34" charset="0"/>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Concourse</Template>
  <TotalTime>22203</TotalTime>
  <Words>1734</Words>
  <Application>Microsoft Office PowerPoint</Application>
  <PresentationFormat>On-screen Show (4:3)</PresentationFormat>
  <Paragraphs>316</Paragraphs>
  <Slides>67</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67</vt:i4>
      </vt:variant>
    </vt:vector>
  </HeadingPairs>
  <TitlesOfParts>
    <vt:vector size="75" baseType="lpstr">
      <vt:lpstr>Arial</vt:lpstr>
      <vt:lpstr>Calibri</vt:lpstr>
      <vt:lpstr>Lucida Sans Unicode</vt:lpstr>
      <vt:lpstr>Verdana</vt:lpstr>
      <vt:lpstr>Wingdings 2</vt:lpstr>
      <vt:lpstr>Wingdings 3</vt:lpstr>
      <vt:lpstr>ヒラギノ角ゴ ProN W3</vt:lpstr>
      <vt:lpstr>Concourse</vt:lpstr>
      <vt:lpstr>Object Oriented  Programming</vt:lpstr>
      <vt:lpstr>Topics To Be Covered Today</vt:lpstr>
      <vt:lpstr>Java Naming conventions</vt:lpstr>
      <vt:lpstr>Java Naming conventions</vt:lpstr>
      <vt:lpstr>What is an Object?</vt:lpstr>
      <vt:lpstr>Object Definitions:</vt:lpstr>
      <vt:lpstr>What is a Class</vt:lpstr>
      <vt:lpstr>Three main concepts</vt:lpstr>
      <vt:lpstr>Encapsulation</vt:lpstr>
      <vt:lpstr>Encapsulation</vt:lpstr>
      <vt:lpstr>Encapsulation</vt:lpstr>
      <vt:lpstr>Encapsulation</vt:lpstr>
      <vt:lpstr>Encapsulation</vt:lpstr>
      <vt:lpstr>Encapsulation</vt:lpstr>
      <vt:lpstr>Encapsulation</vt:lpstr>
      <vt:lpstr>Encapsulation</vt:lpstr>
      <vt:lpstr>Inheritance</vt:lpstr>
      <vt:lpstr>Inheritance</vt:lpstr>
      <vt:lpstr>Inheritance</vt:lpstr>
      <vt:lpstr>Inheritance</vt:lpstr>
      <vt:lpstr>Inheritance</vt:lpstr>
      <vt:lpstr>Polymorphism</vt:lpstr>
      <vt:lpstr>Polymorphism</vt:lpstr>
      <vt:lpstr>Polymorphism</vt:lpstr>
      <vt:lpstr>Polymorphism</vt:lpstr>
      <vt:lpstr>Polymorphism</vt:lpstr>
      <vt:lpstr>Polymorphism</vt:lpstr>
      <vt:lpstr>Polymorphism</vt:lpstr>
      <vt:lpstr>Polymorphism</vt:lpstr>
      <vt:lpstr>Object</vt:lpstr>
      <vt:lpstr>Object Creation</vt:lpstr>
      <vt:lpstr>Object Usage</vt:lpstr>
      <vt:lpstr>One Variable, One Object</vt:lpstr>
      <vt:lpstr>Two Variables, One Object</vt:lpstr>
      <vt:lpstr>Two Variables, Two Objects</vt:lpstr>
      <vt:lpstr>One Variable, Two Objects</vt:lpstr>
      <vt:lpstr>Object Destruction</vt:lpstr>
      <vt:lpstr>Class</vt:lpstr>
      <vt:lpstr>Class Defination</vt:lpstr>
      <vt:lpstr>Object and Class Example: main within class</vt:lpstr>
      <vt:lpstr>Object and Class Example: main outside class (better approach)</vt:lpstr>
      <vt:lpstr>Ways to initialize object</vt:lpstr>
      <vt:lpstr>1.Initialization through reference</vt:lpstr>
      <vt:lpstr>Variable Independence</vt:lpstr>
      <vt:lpstr>Variable Independence</vt:lpstr>
      <vt:lpstr>2. Initialization through method</vt:lpstr>
      <vt:lpstr>Memory Point of view</vt:lpstr>
      <vt:lpstr>Declaring Objects</vt:lpstr>
      <vt:lpstr>Operator new</vt:lpstr>
      <vt:lpstr>Declaring VS Operator new</vt:lpstr>
      <vt:lpstr>Memory Allocation</vt:lpstr>
      <vt:lpstr>Assigning Reference Variable</vt:lpstr>
      <vt:lpstr>Object and Class Example: Employee</vt:lpstr>
      <vt:lpstr>Object and Class Example: Rectangle</vt:lpstr>
      <vt:lpstr>Anonymous object</vt:lpstr>
      <vt:lpstr>Comparison </vt:lpstr>
      <vt:lpstr>Example</vt:lpstr>
      <vt:lpstr>Creating multiple objects by one type only</vt:lpstr>
      <vt:lpstr>Example</vt:lpstr>
      <vt:lpstr>Methods</vt:lpstr>
      <vt:lpstr>Example: Method</vt:lpstr>
      <vt:lpstr>Example: Method</vt:lpstr>
      <vt:lpstr>Value-Returning Method</vt:lpstr>
      <vt:lpstr>Value-Returning Method</vt:lpstr>
      <vt:lpstr>Parameterized Method</vt:lpstr>
      <vt:lpstr>Example: Parameterized Method</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WinDows7</dc:creator>
  <cp:lastModifiedBy>Admin</cp:lastModifiedBy>
  <cp:revision>86</cp:revision>
  <dcterms:created xsi:type="dcterms:W3CDTF">2010-09-29T03:31:11Z</dcterms:created>
  <dcterms:modified xsi:type="dcterms:W3CDTF">2022-03-25T13:09:53Z</dcterms:modified>
</cp:coreProperties>
</file>