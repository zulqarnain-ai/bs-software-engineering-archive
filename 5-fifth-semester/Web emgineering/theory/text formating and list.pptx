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84" r:id="rId4"/>
    <p:sldId id="285" r:id="rId5"/>
    <p:sldId id="288" r:id="rId6"/>
    <p:sldId id="291" r:id="rId7"/>
    <p:sldId id="292" r:id="rId8"/>
    <p:sldId id="289" r:id="rId9"/>
    <p:sldId id="290" r:id="rId10"/>
    <p:sldId id="279" r:id="rId11"/>
    <p:sldId id="278" r:id="rId12"/>
    <p:sldId id="294" r:id="rId13"/>
    <p:sldId id="295" r:id="rId14"/>
    <p:sldId id="297" r:id="rId15"/>
    <p:sldId id="299" r:id="rId16"/>
    <p:sldId id="298" r:id="rId17"/>
    <p:sldId id="296" r:id="rId18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48119"/>
            <a:ext cx="920750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804735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7694295" cy="1642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/>
          </a:p>
          <a:p>
            <a:pPr marL="1010285" marR="190500" indent="-814705">
              <a:lnSpc>
                <a:spcPts val="3829"/>
              </a:lnSpc>
            </a:pPr>
            <a:r>
              <a:rPr spc="-215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FFFFFF"/>
                </a:solidFill>
                <a:latin typeface="Tahoma"/>
                <a:cs typeface="Tahoma"/>
              </a:rPr>
              <a:t>to </a:t>
            </a:r>
            <a:r>
              <a:rPr spc="-20" dirty="0">
                <a:solidFill>
                  <a:srgbClr val="FFFFFF"/>
                </a:solidFill>
                <a:latin typeface="Tahoma"/>
                <a:cs typeface="Tahoma"/>
              </a:rPr>
              <a:t>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ctrTitle"/>
          </p:nvPr>
        </p:nvSpPr>
        <p:spPr>
          <a:xfrm>
            <a:off x="1314450" y="2400305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HTML Text Formatting</a:t>
            </a:r>
          </a:p>
        </p:txBody>
      </p:sp>
    </p:spTree>
    <p:extLst>
      <p:ext uri="{BB962C8B-B14F-4D97-AF65-F5344CB8AC3E}">
        <p14:creationId xmlns:p14="http://schemas.microsoft.com/office/powerpoint/2010/main" val="33440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Text Formatting</a:t>
            </a:r>
          </a:p>
        </p:txBody>
      </p:sp>
      <p:pic>
        <p:nvPicPr>
          <p:cNvPr id="209717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485900"/>
            <a:ext cx="54864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5135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/>
          </a:bodyPr>
          <a:lstStyle/>
          <a:p>
            <a:r>
              <a:rPr lang="en-US" sz="3200" dirty="0"/>
              <a:t>HTML Formatting Elements</a:t>
            </a:r>
          </a:p>
        </p:txBody>
      </p:sp>
      <p:sp>
        <p:nvSpPr>
          <p:cNvPr id="1048650" name="Subtitle 2"/>
          <p:cNvSpPr>
            <a:spLocks noGrp="1"/>
          </p:cNvSpPr>
          <p:nvPr>
            <p:ph type="subTitle" idx="4294967295"/>
          </p:nvPr>
        </p:nvSpPr>
        <p:spPr>
          <a:xfrm>
            <a:off x="685800" y="914400"/>
            <a:ext cx="7620000" cy="40005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Formatting elements were designed to display special types of text: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&lt;b&gt; - Bold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&lt;strong&gt; - Important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&gt; - Italic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&lt;mark&gt; - Marked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&lt;small&gt; - Small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&lt;del&gt; - Deleted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&lt;ins&gt; - Inserted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&lt;sub&gt; - Subscript text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&lt;sup&gt; - Superscript text</a:t>
            </a:r>
          </a:p>
          <a:p>
            <a:pPr algn="l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65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ctrTitle"/>
          </p:nvPr>
        </p:nvSpPr>
        <p:spPr>
          <a:xfrm>
            <a:off x="1257300" y="171456"/>
            <a:ext cx="6572250" cy="57149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HTML &lt;small&gt;, &lt;mark&gt;, &lt;del&gt;, &lt;ins&gt;, &lt;sub&gt; and &lt;sup</a:t>
            </a:r>
            <a:r>
              <a:rPr lang="en-US" sz="2800" dirty="0" smtClean="0"/>
              <a:t>&gt; </a:t>
            </a:r>
            <a:r>
              <a:rPr lang="en-US" sz="2800" dirty="0"/>
              <a:t>Elements</a:t>
            </a:r>
            <a:endParaRPr lang="en-US" sz="3200" dirty="0"/>
          </a:p>
        </p:txBody>
      </p:sp>
      <p:sp>
        <p:nvSpPr>
          <p:cNvPr id="1048628" name="Subtitle 2"/>
          <p:cNvSpPr>
            <a:spLocks noGrp="1"/>
          </p:cNvSpPr>
          <p:nvPr>
            <p:ph type="subTitle" idx="4294967295"/>
          </p:nvPr>
        </p:nvSpPr>
        <p:spPr>
          <a:xfrm>
            <a:off x="304800" y="1276350"/>
            <a:ext cx="8610600" cy="36385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endParaRPr lang="en-US" sz="2400" dirty="0" smtClean="0">
              <a:solidFill>
                <a:schemeClr val="tx1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chemeClr val="tx1"/>
                </a:solidFill>
              </a:rPr>
              <a:t>HTML &lt;small&gt; element defines smaller text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HTML &lt;mark&gt; element defines marked or highlighted text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HTML &lt;del&gt; element defines deleted (removed) text.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HTML &lt;ins&gt; element defines inserted (added) text.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HTML &lt;sub&gt; element defines subscripted text.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HTML &lt;sup&gt; element defines superscripted text.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09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Formatted</a:t>
            </a:r>
            <a:r>
              <a:rPr spc="-4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92733"/>
            <a:ext cx="7890509" cy="148272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sz="1200" spc="-25" dirty="0">
                <a:solidFill>
                  <a:srgbClr val="1B4587"/>
                </a:solidFill>
                <a:latin typeface="Courier New"/>
                <a:cs typeface="Courier New"/>
              </a:rPr>
              <a:t>&lt;p&gt;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Here</a:t>
            </a:r>
            <a:r>
              <a:rPr sz="1200" spc="-5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paragraph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with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&lt;em&gt;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emphasized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&lt;/em&gt;</a:t>
            </a:r>
            <a:r>
              <a:rPr sz="12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text</a:t>
            </a:r>
            <a:r>
              <a:rPr sz="1200" spc="-5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and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&lt;strong&gt;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important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&lt;/strong&gt;</a:t>
            </a:r>
            <a:r>
              <a:rPr sz="12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text.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00" spc="-20" dirty="0">
                <a:solidFill>
                  <a:srgbClr val="1B4587"/>
                </a:solidFill>
                <a:latin typeface="Courier New"/>
                <a:cs typeface="Courier New"/>
              </a:rPr>
              <a:t>&lt;/p&gt;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1B4587"/>
                </a:solidFill>
                <a:latin typeface="Courier New"/>
                <a:cs typeface="Courier New"/>
              </a:rPr>
              <a:t>&lt;p&gt;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Here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7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another</a:t>
            </a:r>
            <a:r>
              <a:rPr sz="1200" spc="-7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paragraph</a:t>
            </a:r>
            <a:r>
              <a:rPr sz="1200" spc="-7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with</a:t>
            </a:r>
            <a:r>
              <a:rPr sz="1200" spc="-7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&lt;i&gt;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Italic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&lt;/i&gt;</a:t>
            </a:r>
            <a:r>
              <a:rPr sz="1200" spc="-7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text</a:t>
            </a:r>
            <a:r>
              <a:rPr sz="1200" spc="-7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and</a:t>
            </a:r>
            <a:r>
              <a:rPr sz="1200" spc="-7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&lt;b&gt;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Bold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&lt;/b&gt;</a:t>
            </a:r>
            <a:r>
              <a:rPr sz="1200" spc="-7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text.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spc="-20" dirty="0">
                <a:solidFill>
                  <a:srgbClr val="1B4587"/>
                </a:solidFill>
                <a:latin typeface="Courier New"/>
                <a:cs typeface="Courier New"/>
              </a:rPr>
              <a:t>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804364"/>
            <a:ext cx="8349615" cy="165417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Here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65" dirty="0">
                <a:solidFill>
                  <a:srgbClr val="53555C"/>
                </a:solidFill>
                <a:latin typeface="Tahoma"/>
                <a:cs typeface="Tahoma"/>
              </a:rPr>
              <a:t>a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paragraph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53555C"/>
                </a:solidFill>
                <a:latin typeface="Tahoma"/>
                <a:cs typeface="Tahoma"/>
              </a:rPr>
              <a:t>with</a:t>
            </a:r>
            <a:r>
              <a:rPr sz="2700" spc="-27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i="1" spc="-105" dirty="0">
                <a:solidFill>
                  <a:srgbClr val="53555C"/>
                </a:solidFill>
                <a:latin typeface="Trebuchet MS"/>
                <a:cs typeface="Trebuchet MS"/>
              </a:rPr>
              <a:t>Emphasized</a:t>
            </a:r>
            <a:r>
              <a:rPr sz="2700" i="1" spc="-250" dirty="0">
                <a:solidFill>
                  <a:srgbClr val="53555C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text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and</a:t>
            </a:r>
            <a:r>
              <a:rPr sz="2700" spc="-28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b="1" spc="-160" dirty="0">
                <a:solidFill>
                  <a:srgbClr val="53555C"/>
                </a:solidFill>
                <a:latin typeface="Tahoma"/>
                <a:cs typeface="Tahoma"/>
              </a:rPr>
              <a:t>Important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text.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Here</a:t>
            </a:r>
            <a:r>
              <a:rPr sz="2700" spc="-2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another</a:t>
            </a:r>
            <a:r>
              <a:rPr sz="2700" spc="-2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paragraph</a:t>
            </a:r>
            <a:r>
              <a:rPr sz="2700" spc="-2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53555C"/>
                </a:solidFill>
                <a:latin typeface="Tahoma"/>
                <a:cs typeface="Tahoma"/>
              </a:rPr>
              <a:t>with</a:t>
            </a:r>
            <a:r>
              <a:rPr sz="2700" spc="-2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i="1" spc="-130" dirty="0">
                <a:solidFill>
                  <a:srgbClr val="53555C"/>
                </a:solidFill>
                <a:latin typeface="Trebuchet MS"/>
                <a:cs typeface="Trebuchet MS"/>
              </a:rPr>
              <a:t>Italic</a:t>
            </a:r>
            <a:r>
              <a:rPr sz="2700" i="1" spc="-235" dirty="0">
                <a:solidFill>
                  <a:srgbClr val="53555C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text</a:t>
            </a:r>
            <a:r>
              <a:rPr sz="2700" spc="-26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and</a:t>
            </a:r>
            <a:r>
              <a:rPr sz="2700" spc="-26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b="1" spc="-130" dirty="0">
                <a:solidFill>
                  <a:srgbClr val="53555C"/>
                </a:solidFill>
                <a:latin typeface="Tahoma"/>
                <a:cs typeface="Tahoma"/>
              </a:rPr>
              <a:t>Bold</a:t>
            </a:r>
            <a:r>
              <a:rPr sz="2700" b="1" spc="-204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text.</a:t>
            </a:r>
            <a:endParaRPr sz="27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6155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Formatted</a:t>
            </a:r>
            <a:r>
              <a:rPr spc="-40" dirty="0"/>
              <a:t> </a:t>
            </a:r>
            <a:r>
              <a:rPr spc="55" dirty="0"/>
              <a:t>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9403"/>
            <a:ext cx="7981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&lt;p&gt;Here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</a:t>
            </a:r>
            <a:r>
              <a:rPr sz="12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&lt;mark&gt;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highlighted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&lt;/mark&gt;</a:t>
            </a:r>
            <a:r>
              <a:rPr sz="1200" spc="-3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text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and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this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3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&lt;small&gt;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smaller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&lt;/small&gt;</a:t>
            </a:r>
            <a:r>
              <a:rPr sz="12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text.&lt;/p&gt;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3186" y="1647775"/>
            <a:ext cx="1766570" cy="411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0"/>
              </a:lnSpc>
            </a:pP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Highlighted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621358"/>
            <a:ext cx="691134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97860" algn="l"/>
              </a:tabLst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Here</a:t>
            </a:r>
            <a:r>
              <a:rPr sz="2700" spc="-31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30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50" dirty="0">
                <a:solidFill>
                  <a:srgbClr val="53555C"/>
                </a:solidFill>
                <a:latin typeface="Tahoma"/>
                <a:cs typeface="Tahoma"/>
              </a:rPr>
              <a:t>a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	text</a:t>
            </a:r>
            <a:r>
              <a:rPr sz="2700" spc="-24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and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this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3555C"/>
                </a:solidFill>
                <a:latin typeface="Tahoma"/>
                <a:cs typeface="Tahoma"/>
              </a:rPr>
              <a:t>smaller</a:t>
            </a:r>
            <a:r>
              <a:rPr sz="1800" spc="3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text.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2305254"/>
            <a:ext cx="78905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&lt;p&gt;Here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&lt;del&gt;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some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deleted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&lt;/del&gt;</a:t>
            </a:r>
            <a:r>
              <a:rPr sz="1200" spc="-7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text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and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this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7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&lt;ins&gt;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some</a:t>
            </a:r>
            <a:r>
              <a:rPr sz="1200" spc="-8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inserted</a:t>
            </a:r>
            <a:r>
              <a:rPr sz="1200" dirty="0">
                <a:solidFill>
                  <a:srgbClr val="F45E61"/>
                </a:solidFill>
                <a:latin typeface="Courier New"/>
                <a:cs typeface="Courier New"/>
              </a:rPr>
              <a:t>&lt;/ins&gt;</a:t>
            </a:r>
            <a:r>
              <a:rPr sz="1200" spc="-7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text.&lt;/p&gt;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625" y="2707209"/>
            <a:ext cx="8352790" cy="152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Here</a:t>
            </a:r>
            <a:r>
              <a:rPr sz="2700" spc="-24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sngStrike" spc="-25" dirty="0">
                <a:solidFill>
                  <a:srgbClr val="53555C"/>
                </a:solidFill>
                <a:latin typeface="Tahoma"/>
                <a:cs typeface="Tahoma"/>
              </a:rPr>
              <a:t>some</a:t>
            </a:r>
            <a:r>
              <a:rPr sz="2700" strike="sng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sngStrike" dirty="0">
                <a:solidFill>
                  <a:srgbClr val="53555C"/>
                </a:solidFill>
                <a:latin typeface="Tahoma"/>
                <a:cs typeface="Tahoma"/>
              </a:rPr>
              <a:t>deleted</a:t>
            </a:r>
            <a:r>
              <a:rPr sz="2700" strike="no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noStrike" dirty="0">
                <a:solidFill>
                  <a:srgbClr val="53555C"/>
                </a:solidFill>
                <a:latin typeface="Tahoma"/>
                <a:cs typeface="Tahoma"/>
              </a:rPr>
              <a:t>text</a:t>
            </a:r>
            <a:r>
              <a:rPr sz="2700" strike="noStrike" spc="-24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noStrike" spc="-20" dirty="0">
                <a:solidFill>
                  <a:srgbClr val="53555C"/>
                </a:solidFill>
                <a:latin typeface="Tahoma"/>
                <a:cs typeface="Tahoma"/>
              </a:rPr>
              <a:t>and</a:t>
            </a:r>
            <a:r>
              <a:rPr sz="2700" strike="no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noStrike" dirty="0">
                <a:solidFill>
                  <a:srgbClr val="53555C"/>
                </a:solidFill>
                <a:latin typeface="Tahoma"/>
                <a:cs typeface="Tahoma"/>
              </a:rPr>
              <a:t>this</a:t>
            </a:r>
            <a:r>
              <a:rPr sz="2700" strike="no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noStrike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trike="no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u="heavy" strike="noStrike" spc="-25" dirty="0">
                <a:solidFill>
                  <a:srgbClr val="53555C"/>
                </a:solidFill>
                <a:uFill>
                  <a:solidFill>
                    <a:srgbClr val="53555C"/>
                  </a:solidFill>
                </a:uFill>
                <a:latin typeface="Tahoma"/>
                <a:cs typeface="Tahoma"/>
              </a:rPr>
              <a:t>some</a:t>
            </a:r>
            <a:r>
              <a:rPr sz="2700" u="heavy" strike="noStrike" spc="-245" dirty="0">
                <a:solidFill>
                  <a:srgbClr val="53555C"/>
                </a:solidFill>
                <a:uFill>
                  <a:solidFill>
                    <a:srgbClr val="53555C"/>
                  </a:solidFill>
                </a:uFill>
                <a:latin typeface="Tahoma"/>
                <a:cs typeface="Tahoma"/>
              </a:rPr>
              <a:t> </a:t>
            </a:r>
            <a:r>
              <a:rPr sz="2700" u="heavy" strike="noStrike" dirty="0">
                <a:solidFill>
                  <a:srgbClr val="53555C"/>
                </a:solidFill>
                <a:uFill>
                  <a:solidFill>
                    <a:srgbClr val="53555C"/>
                  </a:solidFill>
                </a:uFill>
                <a:latin typeface="Tahoma"/>
                <a:cs typeface="Tahoma"/>
              </a:rPr>
              <a:t>inserted</a:t>
            </a:r>
            <a:r>
              <a:rPr sz="2700" strike="noStrike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trike="noStrike" spc="-10" dirty="0">
                <a:solidFill>
                  <a:srgbClr val="53555C"/>
                </a:solidFill>
                <a:latin typeface="Tahoma"/>
                <a:cs typeface="Tahoma"/>
              </a:rPr>
              <a:t>text.</a:t>
            </a:r>
            <a:endParaRPr sz="27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2145"/>
              </a:spcBef>
            </a:pP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&lt;p&gt;This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&lt;sup&gt;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superscripted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&lt;/sup&gt;</a:t>
            </a:r>
            <a:r>
              <a:rPr sz="12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text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and</a:t>
            </a:r>
            <a:r>
              <a:rPr sz="12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this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1B4587"/>
                </a:solidFill>
                <a:latin typeface="Courier New"/>
                <a:cs typeface="Courier New"/>
              </a:rPr>
              <a:t>is</a:t>
            </a:r>
            <a:r>
              <a:rPr sz="12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&lt;sub&gt;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subscripted</a:t>
            </a:r>
            <a:r>
              <a:rPr sz="1200" spc="-10" dirty="0">
                <a:solidFill>
                  <a:srgbClr val="F45E61"/>
                </a:solidFill>
                <a:latin typeface="Courier New"/>
                <a:cs typeface="Courier New"/>
              </a:rPr>
              <a:t>&lt;/sub&gt;</a:t>
            </a:r>
            <a:r>
              <a:rPr sz="1200" spc="-40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1B4587"/>
                </a:solidFill>
                <a:latin typeface="Courier New"/>
                <a:cs typeface="Courier New"/>
              </a:rPr>
              <a:t>text.&lt;/p&gt;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200">
              <a:latin typeface="Courier New"/>
              <a:cs typeface="Courier New"/>
            </a:endParaRPr>
          </a:p>
          <a:p>
            <a:pPr marL="50800">
              <a:lnSpc>
                <a:spcPct val="100000"/>
              </a:lnSpc>
            </a:pPr>
            <a:r>
              <a:rPr sz="2700" spc="70" dirty="0">
                <a:solidFill>
                  <a:srgbClr val="53555C"/>
                </a:solidFill>
                <a:latin typeface="Tahoma"/>
                <a:cs typeface="Tahoma"/>
              </a:rPr>
              <a:t>Here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3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baseline="30864" dirty="0">
                <a:solidFill>
                  <a:srgbClr val="53555C"/>
                </a:solidFill>
                <a:latin typeface="Tahoma"/>
                <a:cs typeface="Tahoma"/>
              </a:rPr>
              <a:t>superscripted</a:t>
            </a:r>
            <a:r>
              <a:rPr sz="2700" spc="60" baseline="30864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text</a:t>
            </a:r>
            <a:r>
              <a:rPr sz="2700" spc="-23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20" dirty="0">
                <a:solidFill>
                  <a:srgbClr val="53555C"/>
                </a:solidFill>
                <a:latin typeface="Tahoma"/>
                <a:cs typeface="Tahoma"/>
              </a:rPr>
              <a:t>and</a:t>
            </a:r>
            <a:r>
              <a:rPr sz="2700" spc="-240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this</a:t>
            </a:r>
            <a:r>
              <a:rPr sz="2700" spc="-23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53555C"/>
                </a:solidFill>
                <a:latin typeface="Tahoma"/>
                <a:cs typeface="Tahoma"/>
              </a:rPr>
              <a:t>is</a:t>
            </a:r>
            <a:r>
              <a:rPr sz="2700" spc="-235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baseline="-30864" dirty="0">
                <a:solidFill>
                  <a:srgbClr val="53555C"/>
                </a:solidFill>
                <a:latin typeface="Tahoma"/>
                <a:cs typeface="Tahoma"/>
              </a:rPr>
              <a:t>subscripted</a:t>
            </a:r>
            <a:r>
              <a:rPr sz="2700" spc="60" baseline="-30864" dirty="0">
                <a:solidFill>
                  <a:srgbClr val="53555C"/>
                </a:solidFill>
                <a:latin typeface="Tahoma"/>
                <a:cs typeface="Tahoma"/>
              </a:rPr>
              <a:t> </a:t>
            </a:r>
            <a:r>
              <a:rPr sz="2700" spc="-10" dirty="0">
                <a:solidFill>
                  <a:srgbClr val="53555C"/>
                </a:solidFill>
                <a:latin typeface="Tahoma"/>
                <a:cs typeface="Tahoma"/>
              </a:rPr>
              <a:t>text.</a:t>
            </a:r>
            <a:endParaRPr sz="27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6634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ctrTitle"/>
          </p:nvPr>
        </p:nvSpPr>
        <p:spPr>
          <a:xfrm>
            <a:off x="304800" y="171456"/>
            <a:ext cx="8534400" cy="57149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HTML &lt;small&gt;, &lt;mark&gt;, &lt;del&gt;, &lt;ins&gt;, &lt;sub&gt; and &lt;sup&gt;</a:t>
            </a:r>
            <a:br>
              <a:rPr lang="en-US" sz="2800" dirty="0"/>
            </a:br>
            <a:r>
              <a:rPr lang="en-US" sz="2800" dirty="0"/>
              <a:t> Elements</a:t>
            </a:r>
            <a:endParaRPr lang="en-US" sz="3200" dirty="0"/>
          </a:p>
        </p:txBody>
      </p:sp>
      <p:sp>
        <p:nvSpPr>
          <p:cNvPr id="1048630" name="Subtitle 2"/>
          <p:cNvSpPr>
            <a:spLocks noGrp="1"/>
          </p:cNvSpPr>
          <p:nvPr>
            <p:ph type="subTitle" idx="4294967295"/>
          </p:nvPr>
        </p:nvSpPr>
        <p:spPr>
          <a:xfrm>
            <a:off x="0" y="742950"/>
            <a:ext cx="8763000" cy="41719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EXAMPLE</a:t>
            </a:r>
            <a:endParaRPr lang="en-US" dirty="0"/>
          </a:p>
          <a:p>
            <a:endParaRPr lang="en-US" dirty="0"/>
          </a:p>
        </p:txBody>
      </p:sp>
      <p:pic>
        <p:nvPicPr>
          <p:cNvPr id="209716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14451"/>
            <a:ext cx="8458200" cy="3485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531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ctrTitle"/>
          </p:nvPr>
        </p:nvSpPr>
        <p:spPr>
          <a:xfrm>
            <a:off x="457200" y="114301"/>
            <a:ext cx="7486650" cy="3429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HTML &lt;address&gt; for Contact Information</a:t>
            </a:r>
          </a:p>
        </p:txBody>
      </p:sp>
      <p:sp>
        <p:nvSpPr>
          <p:cNvPr id="1048654" name="Subtitle 2"/>
          <p:cNvSpPr>
            <a:spLocks noGrp="1"/>
          </p:cNvSpPr>
          <p:nvPr>
            <p:ph type="subTitle" idx="4294967295"/>
          </p:nvPr>
        </p:nvSpPr>
        <p:spPr>
          <a:xfrm>
            <a:off x="0" y="514350"/>
            <a:ext cx="8763000" cy="440055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chemeClr val="tx1"/>
                </a:solidFill>
              </a:rPr>
              <a:t>HTML &lt;address&gt; element defines contact information (author/owner) of a document or an article.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&lt;address&gt; element is usually displayed in italic. Most browsers will add a line break before and after the element.</a:t>
            </a:r>
          </a:p>
        </p:txBody>
      </p:sp>
      <p:pic>
        <p:nvPicPr>
          <p:cNvPr id="2097173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28076"/>
          <a:stretch/>
        </p:blipFill>
        <p:spPr bwMode="auto">
          <a:xfrm>
            <a:off x="209550" y="2266950"/>
            <a:ext cx="8763000" cy="1878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9087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303403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Lists</a:t>
            </a:r>
            <a:r>
              <a:rPr sz="1800" spc="-1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everywhere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customized</a:t>
            </a:r>
            <a:r>
              <a:rPr sz="1800" spc="-16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look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as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19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want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649" y="898962"/>
            <a:ext cx="4679149" cy="3841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2329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Unordered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(bullets)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1690701"/>
            <a:ext cx="21380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2559380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Ordered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 (sequence)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272" y="3033726"/>
            <a:ext cx="218122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22275" indent="-409575">
              <a:lnSpc>
                <a:spcPct val="100000"/>
              </a:lnSpc>
              <a:spcBef>
                <a:spcPts val="414"/>
              </a:spcBef>
              <a:buAutoNum type="arabicPeriod"/>
              <a:tabLst>
                <a:tab pos="42227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  <a:p>
            <a:pPr marL="422275" indent="-40957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422275" algn="l"/>
              </a:tabLst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9400" y="1533859"/>
            <a:ext cx="2677160" cy="9080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20" dirty="0">
                <a:solidFill>
                  <a:srgbClr val="063763"/>
                </a:solidFill>
                <a:latin typeface="Courier New"/>
                <a:cs typeface="Courier New"/>
              </a:rPr>
              <a:t>&lt;ul&gt;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09"/>
              </a:spcBef>
            </a:pP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&lt;li&gt;List</a:t>
            </a:r>
            <a:r>
              <a:rPr sz="1200" spc="-10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&lt;li&gt;Another</a:t>
            </a:r>
            <a:r>
              <a:rPr sz="1200" spc="-9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List</a:t>
            </a:r>
            <a:r>
              <a:rPr sz="1200" spc="-9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&lt;/ul&gt;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9400" y="2778459"/>
            <a:ext cx="2677160" cy="9017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200" spc="-20" dirty="0">
                <a:solidFill>
                  <a:srgbClr val="063763"/>
                </a:solidFill>
                <a:latin typeface="Courier New"/>
                <a:cs typeface="Courier New"/>
              </a:rPr>
              <a:t>&lt;ol&gt;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&lt;li&gt;List</a:t>
            </a:r>
            <a:r>
              <a:rPr sz="1200" spc="-10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&lt;li&gt;Another</a:t>
            </a:r>
            <a:r>
              <a:rPr sz="1200" spc="-9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63763"/>
                </a:solidFill>
                <a:latin typeface="Courier New"/>
                <a:cs typeface="Courier New"/>
              </a:rPr>
              <a:t>List</a:t>
            </a:r>
            <a:r>
              <a:rPr sz="1200" spc="-9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10" dirty="0">
                <a:solidFill>
                  <a:srgbClr val="063763"/>
                </a:solidFill>
                <a:latin typeface="Courier New"/>
                <a:cs typeface="Courier New"/>
              </a:rPr>
              <a:t>&lt;/ol&gt;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906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 smtClean="0"/>
              <a:t> </a:t>
            </a:r>
            <a:r>
              <a:rPr spc="-40" dirty="0"/>
              <a:t>HTML</a:t>
            </a:r>
            <a:r>
              <a:rPr spc="-80" dirty="0"/>
              <a:t> </a:t>
            </a:r>
            <a:r>
              <a:rPr spc="9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44815" cy="1082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Unordered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Marker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list-style-type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property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style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marker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788105"/>
            <a:ext cx="719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possible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list-style-type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property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are: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5E686C"/>
                </a:solidFill>
                <a:latin typeface="Tahoma"/>
                <a:cs typeface="Tahoma"/>
              </a:rPr>
              <a:t>disc,</a:t>
            </a:r>
            <a:r>
              <a:rPr sz="1800" b="1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5E686C"/>
                </a:solidFill>
                <a:latin typeface="Tahoma"/>
                <a:cs typeface="Tahoma"/>
              </a:rPr>
              <a:t>circle,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5E686C"/>
                </a:solidFill>
                <a:latin typeface="Tahoma"/>
                <a:cs typeface="Tahoma"/>
              </a:rPr>
              <a:t>square,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5E686C"/>
                </a:solidFill>
                <a:latin typeface="Tahoma"/>
                <a:cs typeface="Tahoma"/>
              </a:rPr>
              <a:t>none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449" y="2395001"/>
            <a:ext cx="213804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9799" y="2259533"/>
            <a:ext cx="3043555" cy="9080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&lt;ul</a:t>
            </a:r>
            <a:r>
              <a:rPr sz="1200" spc="-7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style="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list-style-type:disc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"&gt;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09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&lt;li&gt;List</a:t>
            </a:r>
            <a:r>
              <a:rPr sz="1200" spc="-7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&lt;li&gt;Another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List</a:t>
            </a:r>
            <a:r>
              <a:rPr sz="12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&lt;/ul&gt;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0299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906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More</a:t>
            </a:r>
            <a:r>
              <a:rPr spc="-80" dirty="0"/>
              <a:t> </a:t>
            </a:r>
            <a:r>
              <a:rPr spc="195" dirty="0"/>
              <a:t>on</a:t>
            </a:r>
            <a:r>
              <a:rPr spc="-80" dirty="0"/>
              <a:t> </a:t>
            </a:r>
            <a:r>
              <a:rPr spc="-40" dirty="0"/>
              <a:t>HTML</a:t>
            </a:r>
            <a:r>
              <a:rPr spc="-80" dirty="0"/>
              <a:t> </a:t>
            </a:r>
            <a:r>
              <a:rPr spc="9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893050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5E686C"/>
                </a:solidFill>
                <a:latin typeface="Tahoma"/>
                <a:cs typeface="Tahoma"/>
              </a:rPr>
              <a:t>For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ordered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change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8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Type</a:t>
            </a:r>
            <a:r>
              <a:rPr sz="1800" b="1" u="heavy" spc="-18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7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of</a:t>
            </a:r>
            <a:r>
              <a:rPr sz="1800" b="1" u="heavy" spc="-18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10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the</a:t>
            </a:r>
            <a:r>
              <a:rPr sz="1800" b="1" u="heavy" spc="-17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List</a:t>
            </a:r>
            <a:r>
              <a:rPr sz="1800" b="1" u="heavy" spc="-18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6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Marker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type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property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define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ordered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marker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612" y="2242601"/>
            <a:ext cx="2204085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45134" indent="-433070">
              <a:lnSpc>
                <a:spcPct val="100000"/>
              </a:lnSpc>
              <a:spcBef>
                <a:spcPts val="414"/>
              </a:spcBef>
              <a:buAutoNum type="alphaUcPeriod"/>
              <a:tabLst>
                <a:tab pos="445134" algn="l"/>
                <a:tab pos="445770" algn="l"/>
              </a:tabLst>
            </a:pP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  <a:p>
            <a:pPr marL="445134" indent="-426084">
              <a:lnSpc>
                <a:spcPct val="100000"/>
              </a:lnSpc>
              <a:spcBef>
                <a:spcPts val="315"/>
              </a:spcBef>
              <a:buAutoNum type="alphaUcPeriod"/>
              <a:tabLst>
                <a:tab pos="445134" algn="l"/>
                <a:tab pos="445770" algn="l"/>
              </a:tabLst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Another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Item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9799" y="2183333"/>
            <a:ext cx="2677160" cy="9080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&lt;ol</a:t>
            </a:r>
            <a:r>
              <a:rPr sz="1200" spc="-6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type="</a:t>
            </a:r>
            <a:r>
              <a:rPr sz="1200" spc="-5" dirty="0">
                <a:solidFill>
                  <a:srgbClr val="F45E61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"&gt;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309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&lt;li&gt;List</a:t>
            </a:r>
            <a:r>
              <a:rPr sz="1200" spc="-7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&lt;li&gt;Another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List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Item&lt;/li&gt;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&lt;/ol&gt;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4737" y="3252087"/>
          <a:ext cx="7239000" cy="1771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/>
                <a:gridCol w="5988050"/>
              </a:tblGrid>
              <a:tr h="3542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type="1"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list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items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will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numbered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numbers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(default)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42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type="A"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list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items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will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numbered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uppercase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letters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2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type="a"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list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items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will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numbered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lowercase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letters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542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type="I"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list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items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will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numbered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uppercase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roman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542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type="i"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list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items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will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be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numbered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1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lowercase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roman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numbers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001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29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25" y="1216355"/>
            <a:ext cx="7694295" cy="55399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remaining type attribute options like upper case lower case numbers upper roman numbers </a:t>
            </a:r>
          </a:p>
        </p:txBody>
      </p:sp>
    </p:spTree>
    <p:extLst>
      <p:ext uri="{BB962C8B-B14F-4D97-AF65-F5344CB8AC3E}">
        <p14:creationId xmlns:p14="http://schemas.microsoft.com/office/powerpoint/2010/main" val="91733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047355" cy="492443"/>
          </a:xfrm>
        </p:spPr>
        <p:txBody>
          <a:bodyPr/>
          <a:lstStyle/>
          <a:p>
            <a:r>
              <a:rPr lang="en-US" dirty="0" smtClean="0"/>
              <a:t>Nested lists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52525"/>
            <a:ext cx="303847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984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047355" cy="492443"/>
          </a:xfrm>
        </p:spPr>
        <p:txBody>
          <a:bodyPr/>
          <a:lstStyle/>
          <a:p>
            <a:r>
              <a:rPr lang="en-US" dirty="0"/>
              <a:t>Control list counting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7620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028950"/>
            <a:ext cx="3733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57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906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More</a:t>
            </a:r>
            <a:r>
              <a:rPr spc="-80" dirty="0"/>
              <a:t> </a:t>
            </a:r>
            <a:r>
              <a:rPr spc="195" dirty="0"/>
              <a:t>on</a:t>
            </a:r>
            <a:r>
              <a:rPr spc="-80" dirty="0"/>
              <a:t> </a:t>
            </a:r>
            <a:r>
              <a:rPr spc="-40" dirty="0"/>
              <a:t>HTML</a:t>
            </a:r>
            <a:r>
              <a:rPr spc="-80" dirty="0"/>
              <a:t> </a:t>
            </a:r>
            <a:r>
              <a:rPr spc="9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15934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9535">
              <a:lnSpc>
                <a:spcPct val="114599"/>
              </a:lnSpc>
              <a:spcBef>
                <a:spcPts val="100"/>
              </a:spcBef>
            </a:pP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supports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description</a:t>
            </a:r>
            <a:r>
              <a:rPr sz="1800" b="1" u="heavy" spc="-175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 </a:t>
            </a:r>
            <a:r>
              <a:rPr sz="1800" b="1" u="heavy" spc="-90" dirty="0">
                <a:solidFill>
                  <a:srgbClr val="5E686C"/>
                </a:solidFill>
                <a:uFill>
                  <a:solidFill>
                    <a:srgbClr val="5E686C"/>
                  </a:solidFill>
                </a:uFill>
                <a:latin typeface="Tahoma"/>
                <a:cs typeface="Tahoma"/>
              </a:rPr>
              <a:t>lists</a:t>
            </a:r>
            <a:r>
              <a:rPr sz="1800" b="1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terms,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description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term.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20" dirty="0">
                <a:solidFill>
                  <a:srgbClr val="F45E61"/>
                </a:solidFill>
                <a:latin typeface="Tahoma"/>
                <a:cs typeface="Tahoma"/>
              </a:rPr>
              <a:t>&lt;dl&gt;</a:t>
            </a:r>
            <a:r>
              <a:rPr sz="1800" spc="-21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description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list,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0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14" dirty="0">
                <a:solidFill>
                  <a:srgbClr val="F45E61"/>
                </a:solidFill>
                <a:latin typeface="Tahoma"/>
                <a:cs typeface="Tahoma"/>
              </a:rPr>
              <a:t>&lt;dt&gt;</a:t>
            </a:r>
            <a:r>
              <a:rPr sz="1800" spc="-21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defines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term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5E686C"/>
                </a:solidFill>
                <a:latin typeface="Tahoma"/>
                <a:cs typeface="Tahoma"/>
              </a:rPr>
              <a:t>(name),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30" dirty="0">
                <a:solidFill>
                  <a:srgbClr val="F45E61"/>
                </a:solidFill>
                <a:latin typeface="Tahoma"/>
                <a:cs typeface="Tahoma"/>
              </a:rPr>
              <a:t>&lt;dd&gt;</a:t>
            </a:r>
            <a:r>
              <a:rPr sz="1800" spc="-220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tag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describes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each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term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925" y="3461801"/>
            <a:ext cx="2082164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coffee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black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hot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drink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milk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white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cold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drink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9875" y="3438059"/>
            <a:ext cx="2585720" cy="133985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&lt;dl&gt;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&lt;dt&gt;coffee&lt;/dt&gt;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&lt;dd&gt;black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hot</a:t>
            </a:r>
            <a:r>
              <a:rPr sz="1200" spc="-40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drink&lt;/dd&gt;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&lt;dt&gt;milk&lt;/dt&gt;</a:t>
            </a:r>
            <a:endParaRPr sz="120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285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&lt;dd&gt;white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cold</a:t>
            </a:r>
            <a:r>
              <a:rPr sz="1200" spc="-45" dirty="0">
                <a:solidFill>
                  <a:srgbClr val="063763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drink&lt;/dd&gt;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1200" spc="-5" dirty="0">
                <a:solidFill>
                  <a:srgbClr val="063763"/>
                </a:solidFill>
                <a:latin typeface="Courier New"/>
                <a:cs typeface="Courier New"/>
              </a:rPr>
              <a:t>&lt;/dl&gt;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227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2883</TotalTime>
  <Words>676</Words>
  <Application>Microsoft Office PowerPoint</Application>
  <PresentationFormat>On-screen Show (16:9)</PresentationFormat>
  <Paragraphs>114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  Introduction to HTML</vt:lpstr>
      <vt:lpstr>HTML Text Formatting</vt:lpstr>
      <vt:lpstr>Text Formatting</vt:lpstr>
      <vt:lpstr>HTML Formatting Elements</vt:lpstr>
      <vt:lpstr>HTML &lt;small&gt;, &lt;mark&gt;, &lt;del&gt;, &lt;ins&gt;, &lt;sub&gt; and &lt;sup&gt; Elements</vt:lpstr>
      <vt:lpstr>Formatted Text</vt:lpstr>
      <vt:lpstr>Formatted Text</vt:lpstr>
      <vt:lpstr>HTML &lt;small&gt;, &lt;mark&gt;, &lt;del&gt;, &lt;ins&gt;, &lt;sub&gt; and &lt;sup&gt;  Elements</vt:lpstr>
      <vt:lpstr>HTML &lt;address&gt; for Contact Information</vt:lpstr>
      <vt:lpstr>Lists</vt:lpstr>
      <vt:lpstr>Lists</vt:lpstr>
      <vt:lpstr> HTML Lists</vt:lpstr>
      <vt:lpstr>More on HTML Lists</vt:lpstr>
      <vt:lpstr>PowerPoint Presentation</vt:lpstr>
      <vt:lpstr>Nested lists </vt:lpstr>
      <vt:lpstr>Control list counting</vt:lpstr>
      <vt:lpstr>More on HTML Lists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</dc:title>
  <dc:creator>Saadia Sh</dc:creator>
  <cp:lastModifiedBy>Sadi Shabbit</cp:lastModifiedBy>
  <cp:revision>11</cp:revision>
  <dcterms:created xsi:type="dcterms:W3CDTF">2024-02-10T14:26:22Z</dcterms:created>
  <dcterms:modified xsi:type="dcterms:W3CDTF">2024-10-02T03:15:00Z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