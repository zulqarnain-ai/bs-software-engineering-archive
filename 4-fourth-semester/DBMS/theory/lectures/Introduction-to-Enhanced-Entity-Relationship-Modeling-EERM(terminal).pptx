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88" r:id="rId33"/>
    <p:sldId id="289" r:id="rId34"/>
    <p:sldId id="290" r:id="rId35"/>
    <p:sldId id="291" r:id="rId36"/>
    <p:sldId id="292" r:id="rId37"/>
    <p:sldId id="293" r:id="rId38"/>
    <p:sldId id="283" r:id="rId3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064" autoAdjust="0"/>
  </p:normalViewPr>
  <p:slideViewPr>
    <p:cSldViewPr snapToGrid="0" snapToObjects="1">
      <p:cViewPr varScale="1">
        <p:scale>
          <a:sx n="43" d="100"/>
          <a:sy n="43" d="100"/>
        </p:scale>
        <p:origin x="1228" y="48"/>
      </p:cViewPr>
      <p:guideLst/>
    </p:cSldViewPr>
  </p:slideViewPr>
  <p:notesTextViewPr>
    <p:cViewPr>
      <p:scale>
        <a:sx n="1" d="1"/>
        <a:sy n="1" d="1"/>
      </p:scale>
      <p:origin x="0" y="-279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14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Imagine you're planning a big event like a wedding. You'll need to keep track of a lot of different things: guests, invitations, seating arrangements, vendors, and more. Each of these things is like a piece of information in a system.</a:t>
            </a:r>
          </a:p>
          <a:p>
            <a:r>
              <a:rPr lang="en-US" dirty="0" smtClean="0">
                <a:effectLst/>
              </a:rPr>
              <a:t>Now, think of each piece of information as an "entity." So, guests are one entity, invitations are another, and so on.</a:t>
            </a:r>
          </a:p>
          <a:p>
            <a:r>
              <a:rPr lang="en-US" dirty="0" smtClean="0">
                <a:effectLst/>
              </a:rPr>
              <a:t>In a regular diagram, like a family tree, you might draw lines connecting one person to their parents or siblings. That's a basic version of what's called an Entity Relationship Diagram (ERD). It's like saying "this person is related to these other people in these ways."</a:t>
            </a:r>
          </a:p>
          <a:p>
            <a:r>
              <a:rPr lang="en-US" dirty="0" smtClean="0">
                <a:effectLst/>
              </a:rPr>
              <a:t>Now, let's say you want to get more detailed. You not only want to know who's related to who, but also how they're related. For example, you might want to know if someone is a friend, a colleague, or a relative. That's where Enhanced Entity Relationship Modeling (EERM) comes in.</a:t>
            </a:r>
          </a:p>
          <a:p>
            <a:r>
              <a:rPr lang="en-US" dirty="0" smtClean="0">
                <a:effectLst/>
              </a:rPr>
              <a:t>With EERM, you can capture more complex relationships and structures. So, going back to our wedding example, you might want to track not just who's coming to the wedding, but also how they're related to the bride and groom – are they family, friends, coworkers, or something else?</a:t>
            </a:r>
          </a:p>
          <a:p>
            <a:r>
              <a:rPr lang="en-US" dirty="0" smtClean="0">
                <a:effectLst/>
              </a:rPr>
              <a:t>In simple terms, EERM helps you see the bigger picture and understand how different pieces of information are connected in more detail. It's like having a more detailed map that shows not just the roads, but also the landmarks, traffic lights, and shortcuts – all the things that help you navigate a complex system more effectively.</a:t>
            </a:r>
          </a:p>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Conceptual EERM Diagram:</a:t>
            </a:r>
            <a:endParaRPr lang="en-US" sz="1200" b="0" i="0" kern="1200" dirty="0" smtClean="0">
              <a:solidFill>
                <a:schemeClr val="tx1"/>
              </a:solidFill>
              <a:effectLst/>
              <a:latin typeface="+mn-lt"/>
              <a:ea typeface="+mn-ea"/>
              <a:cs typeface="+mn-cs"/>
            </a:endParaRPr>
          </a:p>
          <a:p>
            <a:pPr lvl="1"/>
            <a:r>
              <a:rPr lang="en-US" sz="1200" b="1" i="0" kern="1200" dirty="0" smtClean="0">
                <a:solidFill>
                  <a:schemeClr val="tx1"/>
                </a:solidFill>
                <a:effectLst/>
                <a:latin typeface="+mn-lt"/>
                <a:ea typeface="+mn-ea"/>
                <a:cs typeface="+mn-cs"/>
              </a:rPr>
              <a:t>Definition:</a:t>
            </a:r>
            <a:r>
              <a:rPr lang="en-US" sz="1200" b="0" i="0" kern="1200" dirty="0" smtClean="0">
                <a:solidFill>
                  <a:schemeClr val="tx1"/>
                </a:solidFill>
                <a:effectLst/>
                <a:latin typeface="+mn-lt"/>
                <a:ea typeface="+mn-ea"/>
                <a:cs typeface="+mn-cs"/>
              </a:rPr>
              <a:t> A conceptual EERM diagram depicts the high-level entities, their attributes, and the relationships between them in a business domain. It focuses on understanding the overall structure of the information system without getting into specific technical details.</a:t>
            </a:r>
          </a:p>
          <a:p>
            <a:pPr lvl="1"/>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Imagine you're designing a system for a library. In the conceptual EERM diagram, you'd identify entities like "Book," "Author," "Member," and "Borrowing." You'd also define the relationships between these entities – for instance, a book can be written by one or more authors, and each member can borrow multiple books.</a:t>
            </a:r>
          </a:p>
          <a:p>
            <a:r>
              <a:rPr lang="en-US" sz="1200" b="1" i="0" kern="1200" dirty="0" smtClean="0">
                <a:solidFill>
                  <a:schemeClr val="tx1"/>
                </a:solidFill>
                <a:effectLst/>
                <a:latin typeface="+mn-lt"/>
                <a:ea typeface="+mn-ea"/>
                <a:cs typeface="+mn-cs"/>
              </a:rPr>
              <a:t>Logical EERM Diagram:</a:t>
            </a:r>
            <a:endParaRPr lang="en-US" sz="1200" b="0" i="0" kern="1200" dirty="0" smtClean="0">
              <a:solidFill>
                <a:schemeClr val="tx1"/>
              </a:solidFill>
              <a:effectLst/>
              <a:latin typeface="+mn-lt"/>
              <a:ea typeface="+mn-ea"/>
              <a:cs typeface="+mn-cs"/>
            </a:endParaRPr>
          </a:p>
          <a:p>
            <a:pPr lvl="1"/>
            <a:r>
              <a:rPr lang="en-US" sz="1200" b="1" i="0" kern="1200" dirty="0" smtClean="0">
                <a:solidFill>
                  <a:schemeClr val="tx1"/>
                </a:solidFill>
                <a:effectLst/>
                <a:latin typeface="+mn-lt"/>
                <a:ea typeface="+mn-ea"/>
                <a:cs typeface="+mn-cs"/>
              </a:rPr>
              <a:t>Definition:</a:t>
            </a:r>
            <a:r>
              <a:rPr lang="en-US" sz="1200" b="0" i="0" kern="1200" dirty="0" smtClean="0">
                <a:solidFill>
                  <a:schemeClr val="tx1"/>
                </a:solidFill>
                <a:effectLst/>
                <a:latin typeface="+mn-lt"/>
                <a:ea typeface="+mn-ea"/>
                <a:cs typeface="+mn-cs"/>
              </a:rPr>
              <a:t> A logical EERM diagram translates the conceptual model into a more detailed representation, including data types, keys, and normalization. It's a step closer to the actual database design, but still abstracted from the physical implementation.</a:t>
            </a:r>
          </a:p>
          <a:p>
            <a:pPr lvl="1"/>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Continuing with the library system example, in the logical EERM diagram, you'd specify details like the data type of each attribute (e.g., book title as a string, publication date as a date), primary and foreign keys to establish relationships between tables, and normalization to ensure efficient data storage and retrieval. You'd also refine the cardinality of relationships – for example, specifying that each book can have multiple authors, but each author can contribute to many books.</a:t>
            </a:r>
          </a:p>
          <a:p>
            <a:r>
              <a:rPr lang="en-US" sz="1200" b="1" i="0" kern="1200" dirty="0" smtClean="0">
                <a:solidFill>
                  <a:schemeClr val="tx1"/>
                </a:solidFill>
                <a:effectLst/>
                <a:latin typeface="+mn-lt"/>
                <a:ea typeface="+mn-ea"/>
                <a:cs typeface="+mn-cs"/>
              </a:rPr>
              <a:t>Physical EERM Diagram:</a:t>
            </a:r>
            <a:endParaRPr lang="en-US" sz="1200" b="0" i="0" kern="1200" dirty="0" smtClean="0">
              <a:solidFill>
                <a:schemeClr val="tx1"/>
              </a:solidFill>
              <a:effectLst/>
              <a:latin typeface="+mn-lt"/>
              <a:ea typeface="+mn-ea"/>
              <a:cs typeface="+mn-cs"/>
            </a:endParaRPr>
          </a:p>
          <a:p>
            <a:pPr lvl="1"/>
            <a:r>
              <a:rPr lang="en-US" sz="1200" b="1" i="0" kern="1200" dirty="0" smtClean="0">
                <a:solidFill>
                  <a:schemeClr val="tx1"/>
                </a:solidFill>
                <a:effectLst/>
                <a:latin typeface="+mn-lt"/>
                <a:ea typeface="+mn-ea"/>
                <a:cs typeface="+mn-cs"/>
              </a:rPr>
              <a:t>Definition:</a:t>
            </a:r>
            <a:r>
              <a:rPr lang="en-US" sz="1200" b="0" i="0" kern="1200" dirty="0" smtClean="0">
                <a:solidFill>
                  <a:schemeClr val="tx1"/>
                </a:solidFill>
                <a:effectLst/>
                <a:latin typeface="+mn-lt"/>
                <a:ea typeface="+mn-ea"/>
                <a:cs typeface="+mn-cs"/>
              </a:rPr>
              <a:t> A physical EERM diagram represents the actual implementation of the database, including table structures, indexes, and other physical design elements. It's closely tied to the specific database management system being used.</a:t>
            </a:r>
          </a:p>
          <a:p>
            <a:pPr lvl="1"/>
            <a:r>
              <a:rPr lang="en-US" sz="1200" b="1" i="0" kern="1200" dirty="0" smtClean="0">
                <a:solidFill>
                  <a:schemeClr val="tx1"/>
                </a:solidFill>
                <a:effectLst/>
                <a:latin typeface="+mn-lt"/>
                <a:ea typeface="+mn-ea"/>
                <a:cs typeface="+mn-cs"/>
              </a:rPr>
              <a:t>Example:</a:t>
            </a:r>
            <a:r>
              <a:rPr lang="en-US" sz="1200" b="0" i="0" kern="1200" dirty="0" smtClean="0">
                <a:solidFill>
                  <a:schemeClr val="tx1"/>
                </a:solidFill>
                <a:effectLst/>
                <a:latin typeface="+mn-lt"/>
                <a:ea typeface="+mn-ea"/>
                <a:cs typeface="+mn-cs"/>
              </a:rPr>
              <a:t> Now, in the physical EERM diagram for the library system, you'd translate the logical model into the actual database tables, specifying details like column names, data types, constraints, and indexes. For instance, you'd create tables for "Book," "Author," "Member," and "Borrowing," with columns corresponding to their attributes. You'd also define primary and foreign key constraints to enforce data integrity, and indexes to optimize query performance.</a:t>
            </a:r>
          </a:p>
          <a:p>
            <a:r>
              <a:rPr lang="en-US" sz="1200" b="0" i="0" kern="1200" dirty="0" smtClean="0">
                <a:solidFill>
                  <a:schemeClr val="tx1"/>
                </a:solidFill>
                <a:effectLst/>
                <a:latin typeface="+mn-lt"/>
                <a:ea typeface="+mn-ea"/>
                <a:cs typeface="+mn-cs"/>
              </a:rPr>
              <a:t>In summary, the conceptual EERM diagram gives you a big-picture view of the system, the logical EERM diagram delves into the specifics of the data model, and the physical EERM diagram provides the blueprint for the actual database implementation. Each stage adds more detail and specificity, ultimately leading to a fully realized and efficiently designed database system.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smtClean="0"/>
              <a:t>Supertype</a:t>
            </a:r>
            <a:r>
              <a:rPr lang="en-US" b="1" dirty="0" smtClean="0"/>
              <a:t> as the Bigger Box:</a:t>
            </a:r>
            <a:endParaRPr lang="en-US" dirty="0" smtClean="0"/>
          </a:p>
          <a:p>
            <a:r>
              <a:rPr lang="en-US" dirty="0" smtClean="0"/>
              <a:t>Imagine a </a:t>
            </a:r>
            <a:r>
              <a:rPr lang="en-US" dirty="0" err="1" smtClean="0"/>
              <a:t>supertype</a:t>
            </a:r>
            <a:r>
              <a:rPr lang="en-US" dirty="0" smtClean="0"/>
              <a:t> as a big nesting doll that holds all the common characteristics. In daily life, this could be the concept of a "Vehicle."</a:t>
            </a:r>
          </a:p>
          <a:p>
            <a:r>
              <a:rPr lang="en-US" b="1" dirty="0" smtClean="0"/>
              <a:t>Subtypes as the Specialized Dolls Inside:</a:t>
            </a:r>
            <a:endParaRPr lang="en-US" dirty="0" smtClean="0"/>
          </a:p>
          <a:p>
            <a:r>
              <a:rPr lang="en-US" dirty="0" smtClean="0"/>
              <a:t>Branching off from this "Vehicle" </a:t>
            </a:r>
            <a:r>
              <a:rPr lang="en-US" dirty="0" err="1" smtClean="0"/>
              <a:t>supertype</a:t>
            </a:r>
            <a:r>
              <a:rPr lang="en-US" dirty="0" smtClean="0"/>
              <a:t>, we have subtypes like "Car," "Truck," and "Motorcycle." These subtypes inherit the general properties of a vehicle (having wheels, an engine) but have their own unique features.</a:t>
            </a:r>
          </a:p>
          <a:p>
            <a:r>
              <a:rPr lang="en-US" b="1" dirty="0" smtClean="0"/>
              <a:t>Attributes Inheritance - Sharing and Owning Traits:</a:t>
            </a:r>
            <a:endParaRPr lang="en-US" dirty="0" smtClean="0"/>
          </a:p>
          <a:p>
            <a:r>
              <a:rPr lang="en-US" dirty="0" smtClean="0"/>
              <a:t>All the subtypes inherit common attributes from the </a:t>
            </a:r>
            <a:r>
              <a:rPr lang="en-US" dirty="0" err="1" smtClean="0"/>
              <a:t>supertype</a:t>
            </a:r>
            <a:r>
              <a:rPr lang="en-US" dirty="0" smtClean="0"/>
              <a:t>. Cars, trucks, and motorcycles all have attributes like a manufacturer, color, and top speed (inherited from "Vehicle").</a:t>
            </a:r>
          </a:p>
          <a:p>
            <a:r>
              <a:rPr lang="en-US" dirty="0" smtClean="0"/>
              <a:t>Subtypes can also have their own unique attributes. Cars might have "number of doors," trucks might have "cargo capacity," and motorcycles might have "engine size" (specific to each subtype).</a:t>
            </a:r>
          </a:p>
          <a:p>
            <a:r>
              <a:rPr lang="en-US" b="1" dirty="0" smtClean="0"/>
              <a:t>Relationships - How They Interact:</a:t>
            </a:r>
            <a:endParaRPr lang="en-US" dirty="0" smtClean="0"/>
          </a:p>
          <a:p>
            <a:r>
              <a:rPr lang="en-US" dirty="0" smtClean="0"/>
              <a:t>The </a:t>
            </a:r>
            <a:r>
              <a:rPr lang="en-US" dirty="0" err="1" smtClean="0"/>
              <a:t>supertype</a:t>
            </a:r>
            <a:r>
              <a:rPr lang="en-US" dirty="0" smtClean="0"/>
              <a:t> can also define relationships that all subtypes inherit. Vehicles can have a relationship with "Roads" (a separate entity).</a:t>
            </a:r>
          </a:p>
          <a:p>
            <a:r>
              <a:rPr lang="en-US" b="1" dirty="0" smtClean="0"/>
              <a:t>Examples in Action:</a:t>
            </a:r>
            <a:endParaRPr lang="en-US" dirty="0" smtClean="0"/>
          </a:p>
          <a:p>
            <a:r>
              <a:rPr lang="en-US" dirty="0" smtClean="0"/>
              <a:t>Imagine a car rental service. Their EERM might have a "Vehicle" </a:t>
            </a:r>
            <a:r>
              <a:rPr lang="en-US" dirty="0" err="1" smtClean="0"/>
              <a:t>supertype</a:t>
            </a:r>
            <a:r>
              <a:rPr lang="en-US" dirty="0" smtClean="0"/>
              <a:t> with attributes like ID, make, model, and daily rate. Subtypes like "Car" and "Truck" would inherit these attributes and add their own (e.g., Car: number of doors; Truck: cargo capacity). This allows for efficient data management as only common info goes in the </a:t>
            </a:r>
            <a:r>
              <a:rPr lang="en-US" dirty="0" err="1" smtClean="0"/>
              <a:t>supertype</a:t>
            </a:r>
            <a:r>
              <a:rPr lang="en-US" dirty="0" smtClean="0"/>
              <a:t>, while specific details reside in subtypes.</a:t>
            </a:r>
          </a:p>
          <a:p>
            <a:r>
              <a:rPr lang="en-US" b="1" dirty="0" smtClean="0"/>
              <a:t>Real-world Benefits:</a:t>
            </a:r>
            <a:endParaRPr lang="en-US" dirty="0" smtClean="0"/>
          </a:p>
          <a:p>
            <a:r>
              <a:rPr lang="en-US" dirty="0" smtClean="0"/>
              <a:t>Using </a:t>
            </a:r>
            <a:r>
              <a:rPr lang="en-US" dirty="0" err="1" smtClean="0"/>
              <a:t>supertypes</a:t>
            </a:r>
            <a:r>
              <a:rPr lang="en-US" dirty="0" smtClean="0"/>
              <a:t> and subtypes helps avoid data redundancy. You define common features once in the </a:t>
            </a:r>
            <a:r>
              <a:rPr lang="en-US" dirty="0" err="1" smtClean="0"/>
              <a:t>supertype</a:t>
            </a:r>
            <a:r>
              <a:rPr lang="en-US" dirty="0" smtClean="0"/>
              <a:t> and avoid repeating them for each subtype.</a:t>
            </a:r>
          </a:p>
          <a:p>
            <a:r>
              <a:rPr lang="en-US" dirty="0" smtClean="0"/>
              <a:t>It makes the model more flexible and adaptable. As new vehicle types (e.g., electric scooters) emerge, you can easily create a new subtype without changing the entire structure.</a:t>
            </a:r>
          </a:p>
          <a:p>
            <a:r>
              <a:rPr lang="en-US" dirty="0" smtClean="0"/>
              <a:t>So, </a:t>
            </a:r>
            <a:r>
              <a:rPr lang="en-US" dirty="0" err="1" smtClean="0"/>
              <a:t>supertypes</a:t>
            </a:r>
            <a:r>
              <a:rPr lang="en-US" dirty="0" smtClean="0"/>
              <a:t> and subtypes in EERM are like a hierarchy in your house. You have a general category like "Furniture" (</a:t>
            </a:r>
            <a:r>
              <a:rPr lang="en-US" dirty="0" err="1" smtClean="0"/>
              <a:t>supertype</a:t>
            </a:r>
            <a:r>
              <a:rPr lang="en-US" dirty="0" smtClean="0"/>
              <a:t>) with common features like material and color. Then, specific types like "Chair" and "Table" (subtypes) inherit these traits and add their own functionalities. This keeps your data organized and reflects the natural way things are categorized in the real world.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Entity Relationships: The Connections</a:t>
            </a:r>
            <a:endParaRPr lang="en-US" dirty="0" smtClean="0"/>
          </a:p>
          <a:p>
            <a:r>
              <a:rPr lang="en-US" dirty="0" smtClean="0"/>
              <a:t>Imagine a social media app. Here, "User" and "Post" are entities. A user can create many posts, and a post can be created by one user. This is a one-to-many relationship.</a:t>
            </a:r>
          </a:p>
          <a:p>
            <a:r>
              <a:rPr lang="en-US" b="1" dirty="0" smtClean="0"/>
              <a:t>Cardinality: How Many?</a:t>
            </a:r>
            <a:endParaRPr lang="en-US" dirty="0" smtClean="0"/>
          </a:p>
          <a:p>
            <a:r>
              <a:rPr lang="en-US" b="1" dirty="0" smtClean="0"/>
              <a:t>One-to-One:</a:t>
            </a:r>
            <a:r>
              <a:rPr lang="en-US" dirty="0" smtClean="0"/>
              <a:t> A user can have only one profile picture (one-to-one with "Profile Picture" entity).</a:t>
            </a:r>
          </a:p>
          <a:p>
            <a:r>
              <a:rPr lang="en-US" b="1" dirty="0" smtClean="0"/>
              <a:t>One-to-Many:</a:t>
            </a:r>
            <a:r>
              <a:rPr lang="en-US" dirty="0" smtClean="0"/>
              <a:t> A user can follow many other users (one-to-many with "Follows" entity).</a:t>
            </a:r>
          </a:p>
          <a:p>
            <a:r>
              <a:rPr lang="en-US" b="1" dirty="0" smtClean="0"/>
              <a:t>Many-to-One:</a:t>
            </a:r>
            <a:r>
              <a:rPr lang="en-US" dirty="0" smtClean="0"/>
              <a:t> A post can have one category (many-to-one with "Category" entity).</a:t>
            </a:r>
          </a:p>
          <a:p>
            <a:r>
              <a:rPr lang="en-US" b="1" dirty="0" smtClean="0"/>
              <a:t>Many-to-Many:</a:t>
            </a:r>
            <a:r>
              <a:rPr lang="en-US" dirty="0" smtClean="0"/>
              <a:t> A user can be tagged in many posts, and a post can have many tags (many-to-many with "Tags" entity).</a:t>
            </a:r>
          </a:p>
          <a:p>
            <a:r>
              <a:rPr lang="en-US" b="1" dirty="0" smtClean="0"/>
              <a:t>Recursive Relationships: When Entities Relate to Themselves</a:t>
            </a:r>
            <a:endParaRPr lang="en-US" dirty="0" smtClean="0"/>
          </a:p>
          <a:p>
            <a:r>
              <a:rPr lang="en-US" b="1" dirty="0" smtClean="0"/>
              <a:t>Organizational Hierarchy:</a:t>
            </a:r>
            <a:r>
              <a:rPr lang="en-US" dirty="0" smtClean="0"/>
              <a:t> An employee (entity) can have one manager (who is also an employee). This creates a self-referential or recursive relationship.</a:t>
            </a:r>
          </a:p>
          <a:p>
            <a:r>
              <a:rPr lang="en-US" b="1" dirty="0" smtClean="0"/>
              <a:t>Associative Entities: The Intermediaries</a:t>
            </a:r>
            <a:endParaRPr lang="en-US" dirty="0" smtClean="0"/>
          </a:p>
          <a:p>
            <a:r>
              <a:rPr lang="en-US" b="1" dirty="0" smtClean="0"/>
              <a:t>Course Enrollment:</a:t>
            </a:r>
            <a:r>
              <a:rPr lang="en-US" dirty="0" smtClean="0"/>
              <a:t> Imagine a "Course" entity and a "Student" entity. An "Enrollment" entity captures the relationship between them. It can have its own attributes like "semester" or "grade."</a:t>
            </a:r>
          </a:p>
          <a:p>
            <a:r>
              <a:rPr lang="en-US" b="1" dirty="0" smtClean="0"/>
              <a:t>Examples Explained:</a:t>
            </a:r>
            <a:endParaRPr lang="en-US" dirty="0" smtClean="0"/>
          </a:p>
          <a:p>
            <a:r>
              <a:rPr lang="en-US" b="1" dirty="0" smtClean="0"/>
              <a:t>Social Media App:</a:t>
            </a:r>
            <a:r>
              <a:rPr lang="en-US" dirty="0" smtClean="0"/>
              <a:t> A one-to-many relationship between "User" and "Post" depicts how one user can create many posts. Similarly, many users can follow one user (one-to-many with "Follows").</a:t>
            </a:r>
          </a:p>
          <a:p>
            <a:r>
              <a:rPr lang="en-US" b="1" dirty="0" smtClean="0"/>
              <a:t>University Course Registration:</a:t>
            </a:r>
            <a:r>
              <a:rPr lang="en-US" dirty="0" smtClean="0"/>
              <a:t> A many-to-many relationship exists between "Student" and "Course." A student can enroll in many courses, and a course can have many students enrolled.</a:t>
            </a:r>
          </a:p>
          <a:p>
            <a:r>
              <a:rPr lang="en-US" b="1" dirty="0" smtClean="0"/>
              <a:t>Bill of Materials:</a:t>
            </a:r>
            <a:r>
              <a:rPr lang="en-US" dirty="0" smtClean="0"/>
              <a:t> In a manufacturing company, a product (entity) can be composed of many components (another entity). An "Assembly" entity (associative entity) captures this relationship and might have attributes like "quantity" of each component needed.</a:t>
            </a:r>
          </a:p>
          <a:p>
            <a:r>
              <a:rPr lang="en-US" dirty="0" smtClean="0"/>
              <a:t>By understanding these entity relationships and cardinalities, we can effectively model the complex web of connections that exist in real-world scenarios. EERM provides the tools to represent these relationships accurately, ensuring our data models reflect the true nature of the information they manage.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Attributes: The Details That Matter</a:t>
            </a:r>
            <a:endParaRPr lang="en-US" dirty="0" smtClean="0"/>
          </a:p>
          <a:p>
            <a:r>
              <a:rPr lang="en-US" dirty="0" smtClean="0"/>
              <a:t>Imagine a library. Here, "Book" is an entity. Attributes of a book could be:</a:t>
            </a:r>
          </a:p>
          <a:p>
            <a:r>
              <a:rPr lang="en-US" b="1" dirty="0" smtClean="0"/>
              <a:t>Identifiers:</a:t>
            </a:r>
            <a:r>
              <a:rPr lang="en-US" dirty="0" smtClean="0"/>
              <a:t> ISBN (unique identifier), Book ID (assigned by the library)</a:t>
            </a:r>
          </a:p>
          <a:p>
            <a:r>
              <a:rPr lang="en-US" b="1" dirty="0" smtClean="0"/>
              <a:t>Characteristics:</a:t>
            </a:r>
            <a:r>
              <a:rPr lang="en-US" dirty="0" smtClean="0"/>
              <a:t> Title, Author, Genre, Publication Year, Number of Pages</a:t>
            </a:r>
          </a:p>
          <a:p>
            <a:r>
              <a:rPr lang="en-US" b="1" dirty="0" smtClean="0"/>
              <a:t>Relationships</a:t>
            </a:r>
            <a:r>
              <a:rPr lang="en-US" dirty="0" smtClean="0"/>
              <a:t> (attributes capturing connections): Borrowing History (list of patrons who borrowed the book)</a:t>
            </a:r>
          </a:p>
          <a:p>
            <a:r>
              <a:rPr lang="en-US" b="1" dirty="0" smtClean="0"/>
              <a:t>Breaking it Down:</a:t>
            </a:r>
            <a:endParaRPr lang="en-US" dirty="0" smtClean="0"/>
          </a:p>
          <a:p>
            <a:r>
              <a:rPr lang="en-US" b="1" dirty="0" smtClean="0"/>
              <a:t>ISBN:</a:t>
            </a:r>
            <a:r>
              <a:rPr lang="en-US" dirty="0" smtClean="0"/>
              <a:t> This unique code identifies a specific book edition globally.</a:t>
            </a:r>
          </a:p>
          <a:p>
            <a:r>
              <a:rPr lang="en-US" b="1" dirty="0" smtClean="0"/>
              <a:t>Title &amp; Author:</a:t>
            </a:r>
            <a:r>
              <a:rPr lang="en-US" dirty="0" smtClean="0"/>
              <a:t> These descriptive attributes tell us what the book is about and who wrote it.</a:t>
            </a:r>
          </a:p>
          <a:p>
            <a:r>
              <a:rPr lang="en-US" b="1" dirty="0" smtClean="0"/>
              <a:t>Genre:</a:t>
            </a:r>
            <a:r>
              <a:rPr lang="en-US" dirty="0" smtClean="0"/>
              <a:t> This helps categorize the book (fiction, non-fiction, etc.).</a:t>
            </a:r>
          </a:p>
          <a:p>
            <a:r>
              <a:rPr lang="en-US" b="1" dirty="0" smtClean="0"/>
              <a:t>Publication Year &amp; Number of Pages:</a:t>
            </a:r>
            <a:r>
              <a:rPr lang="en-US" dirty="0" smtClean="0"/>
              <a:t> These provide additional details.</a:t>
            </a:r>
          </a:p>
          <a:p>
            <a:r>
              <a:rPr lang="en-US" b="1" dirty="0" smtClean="0"/>
              <a:t>Borrowing History:</a:t>
            </a:r>
            <a:r>
              <a:rPr lang="en-US" dirty="0" smtClean="0"/>
              <a:t> This captures the relationship between the book and patrons who borrowed it.</a:t>
            </a:r>
          </a:p>
          <a:p>
            <a:r>
              <a:rPr lang="en-US" b="1" dirty="0" smtClean="0"/>
              <a:t>More Examples:</a:t>
            </a:r>
            <a:endParaRPr lang="en-US" dirty="0" smtClean="0"/>
          </a:p>
          <a:p>
            <a:r>
              <a:rPr lang="en-US" b="1" dirty="0" smtClean="0"/>
              <a:t>Online Store:</a:t>
            </a:r>
            <a:r>
              <a:rPr lang="en-US" dirty="0" smtClean="0"/>
              <a:t> In an online store, a "Product" entity might have attributes like:</a:t>
            </a:r>
          </a:p>
          <a:p>
            <a:pPr lvl="1"/>
            <a:r>
              <a:rPr lang="en-US" b="1" dirty="0" smtClean="0"/>
              <a:t>Identifier:</a:t>
            </a:r>
            <a:r>
              <a:rPr lang="en-US" dirty="0" smtClean="0"/>
              <a:t> Product ID (unique)</a:t>
            </a:r>
          </a:p>
          <a:p>
            <a:pPr lvl="1"/>
            <a:r>
              <a:rPr lang="en-US" b="1" dirty="0" smtClean="0"/>
              <a:t>Characteristics:</a:t>
            </a:r>
            <a:r>
              <a:rPr lang="en-US" dirty="0" smtClean="0"/>
              <a:t> Name, Description, Price, Color, Size</a:t>
            </a:r>
          </a:p>
          <a:p>
            <a:pPr lvl="1"/>
            <a:r>
              <a:rPr lang="en-US" b="1" dirty="0" smtClean="0"/>
              <a:t>Relationships:</a:t>
            </a:r>
            <a:r>
              <a:rPr lang="en-US" dirty="0" smtClean="0"/>
              <a:t> Reviews (written by customers)</a:t>
            </a:r>
          </a:p>
          <a:p>
            <a:r>
              <a:rPr lang="en-US" b="1" dirty="0" smtClean="0"/>
              <a:t>University:</a:t>
            </a:r>
            <a:r>
              <a:rPr lang="en-US" dirty="0" smtClean="0"/>
              <a:t> A "Student" entity could have:</a:t>
            </a:r>
          </a:p>
          <a:p>
            <a:pPr lvl="1"/>
            <a:r>
              <a:rPr lang="en-US" b="1" dirty="0" smtClean="0"/>
              <a:t>Identifier:</a:t>
            </a:r>
            <a:r>
              <a:rPr lang="en-US" dirty="0" smtClean="0"/>
              <a:t> Student ID (unique)</a:t>
            </a:r>
          </a:p>
          <a:p>
            <a:pPr lvl="1"/>
            <a:r>
              <a:rPr lang="en-US" b="1" dirty="0" smtClean="0"/>
              <a:t>Characteristics:</a:t>
            </a:r>
            <a:r>
              <a:rPr lang="en-US" dirty="0" smtClean="0"/>
              <a:t> Name, Major, Year</a:t>
            </a:r>
          </a:p>
          <a:p>
            <a:r>
              <a:rPr lang="en-US" dirty="0" smtClean="0"/>
              <a:t>By understanding these different types of attributes, we can create a comprehensive picture of each entity and how they relate to each other. This is crucial for designing effective and informative EER models.</a:t>
            </a:r>
          </a:p>
          <a:p>
            <a:r>
              <a:rPr lang="en-US" b="1" dirty="0" smtClean="0"/>
              <a:t>Key Points:</a:t>
            </a:r>
            <a:endParaRPr lang="en-US" dirty="0" smtClean="0"/>
          </a:p>
          <a:p>
            <a:r>
              <a:rPr lang="en-US" dirty="0" smtClean="0"/>
              <a:t>Identifiers uniquely distinguish entities (like ISBN for books).</a:t>
            </a:r>
          </a:p>
          <a:p>
            <a:r>
              <a:rPr lang="en-US" dirty="0" smtClean="0"/>
              <a:t>Characteristics describe the entity's properties (e.g., book title).</a:t>
            </a:r>
          </a:p>
          <a:p>
            <a:r>
              <a:rPr lang="en-US" dirty="0" smtClean="0"/>
              <a:t>Relationship attributes capture connections between entities (e.g., borrowing history for books).</a:t>
            </a:r>
          </a:p>
          <a:p>
            <a:r>
              <a:rPr lang="en-US" dirty="0" smtClean="0"/>
              <a:t>Remember, the specific attributes chosen depend on the domain you're modeling. However, understanding these categories helps you build robust and informative EERM diagrams.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868525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Imagine a Video Rental Store Database:</a:t>
            </a:r>
            <a:endParaRPr lang="en-US" dirty="0" smtClean="0"/>
          </a:p>
          <a:p>
            <a:r>
              <a:rPr lang="en-US" b="1" dirty="0" smtClean="0"/>
              <a:t>Tables:</a:t>
            </a:r>
            <a:r>
              <a:rPr lang="en-US" dirty="0" smtClean="0"/>
              <a:t> We have two main tables: "Movies" and "Rentals."</a:t>
            </a:r>
          </a:p>
          <a:p>
            <a:r>
              <a:rPr lang="en-US" b="1" dirty="0" smtClean="0"/>
              <a:t>Movies Table (Like a File Folder):</a:t>
            </a:r>
            <a:r>
              <a:rPr lang="en-US" dirty="0" smtClean="0"/>
              <a:t> This table has columns (attributes) to describe each movie, like:</a:t>
            </a:r>
          </a:p>
          <a:p>
            <a:pPr lvl="1"/>
            <a:r>
              <a:rPr lang="en-US" dirty="0" err="1" smtClean="0"/>
              <a:t>MovieID</a:t>
            </a:r>
            <a:r>
              <a:rPr lang="en-US" dirty="0" smtClean="0"/>
              <a:t> (unique identifier)</a:t>
            </a:r>
          </a:p>
          <a:p>
            <a:pPr lvl="1"/>
            <a:r>
              <a:rPr lang="en-US" dirty="0" smtClean="0"/>
              <a:t>Title</a:t>
            </a:r>
          </a:p>
          <a:p>
            <a:pPr lvl="1"/>
            <a:r>
              <a:rPr lang="en-US" dirty="0" smtClean="0"/>
              <a:t>Genre</a:t>
            </a:r>
          </a:p>
          <a:p>
            <a:pPr lvl="1"/>
            <a:r>
              <a:rPr lang="en-US" dirty="0" smtClean="0"/>
              <a:t>Release Year</a:t>
            </a:r>
          </a:p>
          <a:p>
            <a:r>
              <a:rPr lang="en-US" b="1" dirty="0" smtClean="0"/>
              <a:t>Rentals Table (Another File Folder):</a:t>
            </a:r>
            <a:r>
              <a:rPr lang="en-US" dirty="0" smtClean="0"/>
              <a:t> This table keeps track of who rented which movie:</a:t>
            </a:r>
          </a:p>
          <a:p>
            <a:pPr lvl="1"/>
            <a:r>
              <a:rPr lang="en-US" dirty="0" err="1" smtClean="0"/>
              <a:t>RentalID</a:t>
            </a:r>
            <a:r>
              <a:rPr lang="en-US" dirty="0" smtClean="0"/>
              <a:t> (unique identifier)</a:t>
            </a:r>
          </a:p>
          <a:p>
            <a:pPr lvl="1"/>
            <a:r>
              <a:rPr lang="en-US" dirty="0" err="1" smtClean="0"/>
              <a:t>MovieID</a:t>
            </a:r>
            <a:r>
              <a:rPr lang="en-US" dirty="0" smtClean="0"/>
              <a:t> (references the Movies table) - This is a foreign key</a:t>
            </a:r>
          </a:p>
          <a:p>
            <a:pPr lvl="1"/>
            <a:r>
              <a:rPr lang="en-US" dirty="0" err="1" smtClean="0"/>
              <a:t>CustomerID</a:t>
            </a:r>
            <a:r>
              <a:rPr lang="en-US" dirty="0" smtClean="0"/>
              <a:t> (who rented the movie)</a:t>
            </a:r>
          </a:p>
          <a:p>
            <a:pPr lvl="1"/>
            <a:r>
              <a:rPr lang="en-US" dirty="0" smtClean="0"/>
              <a:t>Rental Date</a:t>
            </a:r>
          </a:p>
          <a:p>
            <a:pPr lvl="1"/>
            <a:r>
              <a:rPr lang="en-US" dirty="0" smtClean="0"/>
              <a:t>Return Date</a:t>
            </a:r>
          </a:p>
          <a:p>
            <a:r>
              <a:rPr lang="en-US" b="1" dirty="0" smtClean="0"/>
              <a:t>Integrity Constraints: The Filing Cabinet Rules</a:t>
            </a:r>
            <a:endParaRPr lang="en-US" dirty="0" smtClean="0"/>
          </a:p>
          <a:p>
            <a:r>
              <a:rPr lang="en-US" dirty="0" smtClean="0"/>
              <a:t>These rules ensure the data makes sense and avoids errors:</a:t>
            </a:r>
          </a:p>
          <a:p>
            <a:r>
              <a:rPr lang="en-US" b="1" dirty="0" smtClean="0"/>
              <a:t>Domain Constraints (Like Labeling Folders):</a:t>
            </a:r>
            <a:r>
              <a:rPr lang="en-US" dirty="0" smtClean="0"/>
              <a:t> </a:t>
            </a:r>
          </a:p>
          <a:p>
            <a:pPr lvl="1"/>
            <a:r>
              <a:rPr lang="en-US" dirty="0" smtClean="0"/>
              <a:t>Movie titles must be text (not numbers).</a:t>
            </a:r>
          </a:p>
          <a:p>
            <a:pPr lvl="1"/>
            <a:r>
              <a:rPr lang="en-US" dirty="0" smtClean="0"/>
              <a:t>Release year must be a valid year (e.g., not 2050 for a movie not yet released).</a:t>
            </a:r>
          </a:p>
          <a:p>
            <a:r>
              <a:rPr lang="en-US" b="1" dirty="0" smtClean="0"/>
              <a:t>Entity Integrity (Ensuring Unique Folders):</a:t>
            </a:r>
            <a:r>
              <a:rPr lang="en-US" dirty="0" smtClean="0"/>
              <a:t> </a:t>
            </a:r>
          </a:p>
          <a:p>
            <a:pPr lvl="1"/>
            <a:r>
              <a:rPr lang="en-US" dirty="0" err="1" smtClean="0"/>
              <a:t>MovieID</a:t>
            </a:r>
            <a:r>
              <a:rPr lang="en-US" dirty="0" smtClean="0"/>
              <a:t> must be unique (no duplicate movies).</a:t>
            </a:r>
          </a:p>
          <a:p>
            <a:pPr lvl="1"/>
            <a:r>
              <a:rPr lang="en-US" dirty="0" err="1" smtClean="0"/>
              <a:t>RentalID</a:t>
            </a:r>
            <a:r>
              <a:rPr lang="en-US" dirty="0" smtClean="0"/>
              <a:t> must be unique (no duplicate rentals).</a:t>
            </a:r>
          </a:p>
          <a:p>
            <a:r>
              <a:rPr lang="en-US" b="1" dirty="0" smtClean="0"/>
              <a:t>Referential Integrity (Cross-referencing Folders):</a:t>
            </a:r>
            <a:r>
              <a:rPr lang="en-US" dirty="0" smtClean="0"/>
              <a:t> </a:t>
            </a:r>
          </a:p>
          <a:p>
            <a:pPr lvl="1"/>
            <a:r>
              <a:rPr lang="en-US" dirty="0" smtClean="0"/>
              <a:t>The </a:t>
            </a:r>
            <a:r>
              <a:rPr lang="en-US" dirty="0" err="1" smtClean="0"/>
              <a:t>MovieID</a:t>
            </a:r>
            <a:r>
              <a:rPr lang="en-US" dirty="0" smtClean="0"/>
              <a:t> in the Rentals table must exist in the Movies table (ensuring a valid movie was rented).</a:t>
            </a:r>
          </a:p>
          <a:p>
            <a:r>
              <a:rPr lang="en-US" b="1" dirty="0" smtClean="0"/>
              <a:t>Benefits of Constraints:</a:t>
            </a:r>
            <a:endParaRPr lang="en-US" dirty="0" smtClean="0"/>
          </a:p>
          <a:p>
            <a:r>
              <a:rPr lang="en-US" b="1" dirty="0" smtClean="0"/>
              <a:t>Data Accuracy:</a:t>
            </a:r>
            <a:r>
              <a:rPr lang="en-US" dirty="0" smtClean="0"/>
              <a:t> They prevent typos, invalid entries, and contradictory information.</a:t>
            </a:r>
          </a:p>
          <a:p>
            <a:r>
              <a:rPr lang="en-US" b="1" dirty="0" smtClean="0"/>
              <a:t>Data Consistency:</a:t>
            </a:r>
            <a:r>
              <a:rPr lang="en-US" dirty="0" smtClean="0"/>
              <a:t> They maintain relationships between tables (a rental record references an actual movie).</a:t>
            </a:r>
          </a:p>
          <a:p>
            <a:r>
              <a:rPr lang="en-US" b="1" dirty="0" smtClean="0"/>
              <a:t>Data Reliability:</a:t>
            </a:r>
            <a:r>
              <a:rPr lang="en-US" dirty="0" smtClean="0"/>
              <a:t> You can trust the information stored in your database.</a:t>
            </a:r>
          </a:p>
          <a:p>
            <a:r>
              <a:rPr lang="en-US" b="1" dirty="0" smtClean="0"/>
              <a:t>Real-life Analogy:</a:t>
            </a:r>
            <a:endParaRPr lang="en-US" dirty="0" smtClean="0"/>
          </a:p>
          <a:p>
            <a:r>
              <a:rPr lang="en-US" dirty="0" smtClean="0"/>
              <a:t>Think of a library. Books (entities) have unique identifiers (call numbers). </a:t>
            </a:r>
            <a:r>
              <a:rPr lang="en-US" smtClean="0"/>
              <a:t>When you borrow a book (rental record), the library ensures the book exists (referential integrity) and assigns you a unique borrowing record (entity integrity). </a:t>
            </a:r>
            <a:r>
              <a:rPr lang="en-US" dirty="0" smtClean="0"/>
              <a:t>These rules keep the library's data organized and reliable.</a:t>
            </a:r>
          </a:p>
          <a:p>
            <a:r>
              <a:rPr lang="en-US" dirty="0" smtClean="0"/>
              <a:t>By enforcing integrity constraints, you create a robust and trustworthy database, just like a well-organized filing cabinet ensures you can find the information you need quickly and accurately.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37654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62091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53495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169119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592788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16685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08529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42692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864720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556393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25176995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19914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4442758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0958405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3954804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023857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241314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247185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0696419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9065177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5852290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5046827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9307822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9307210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1239689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8162085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255127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hyperlink" Target="https://gamma.app" TargetMode="Externa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sp>
        <p:nvSpPr>
          <p:cNvPr id="5" name="Text 1"/>
          <p:cNvSpPr/>
          <p:nvPr/>
        </p:nvSpPr>
        <p:spPr>
          <a:xfrm>
            <a:off x="833199" y="1143238"/>
            <a:ext cx="7477601" cy="3832860"/>
          </a:xfrm>
          <a:prstGeom prst="rect">
            <a:avLst/>
          </a:prstGeom>
          <a:noFill/>
          <a:ln/>
        </p:spPr>
        <p:txBody>
          <a:bodyPr wrap="square" rtlCol="0" anchor="t"/>
          <a:lstStyle/>
          <a:p>
            <a:pPr marL="0" indent="0">
              <a:lnSpc>
                <a:spcPts val="7545"/>
              </a:lnSpc>
              <a:buNone/>
            </a:pPr>
            <a:r>
              <a:rPr lang="en-US" sz="6036" b="1" dirty="0">
                <a:solidFill>
                  <a:srgbClr val="5B5F72"/>
                </a:solidFill>
                <a:latin typeface="Instrument Sans" pitchFamily="34" charset="0"/>
                <a:ea typeface="Instrument Sans" pitchFamily="34" charset="-122"/>
                <a:cs typeface="Instrument Sans" pitchFamily="34" charset="-120"/>
              </a:rPr>
              <a:t>Introduction to Enhanced Entity Relationship Modeling (EERM)</a:t>
            </a:r>
            <a:endParaRPr lang="en-US" sz="6036" dirty="0"/>
          </a:p>
        </p:txBody>
      </p:sp>
      <p:sp>
        <p:nvSpPr>
          <p:cNvPr id="6" name="Text 2"/>
          <p:cNvSpPr/>
          <p:nvPr/>
        </p:nvSpPr>
        <p:spPr>
          <a:xfrm>
            <a:off x="833199" y="5309354"/>
            <a:ext cx="7477601"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is a powerful data modeling technique that extends the classic Entity Relationship Diagram (ERD) to capture more complex relationships and structures within an information system. It provides a comprehensive way to visualize and understand the entities, attributes, and connections that make up a database or application.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2390418"/>
            <a:ext cx="6489144"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Types of EERM Diagrams</a:t>
            </a:r>
            <a:endParaRPr lang="en-US" sz="4374" dirty="0"/>
          </a:p>
        </p:txBody>
      </p:sp>
      <p:sp>
        <p:nvSpPr>
          <p:cNvPr id="5" name="Text 2"/>
          <p:cNvSpPr/>
          <p:nvPr/>
        </p:nvSpPr>
        <p:spPr>
          <a:xfrm>
            <a:off x="2393394" y="3529132"/>
            <a:ext cx="10199013"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dirty="0">
                <a:solidFill>
                  <a:srgbClr val="5B5F71"/>
                </a:solidFill>
                <a:latin typeface="Instrument Sans" pitchFamily="34" charset="0"/>
                <a:ea typeface="Instrument Sans" pitchFamily="34" charset="-122"/>
                <a:cs typeface="Instrument Sans" pitchFamily="34" charset="-120"/>
              </a:rPr>
              <a:t>Conceptual EERM Diagram: Depicts the high-level entities, their attributes, and the relationships between them in a business domain.</a:t>
            </a:r>
            <a:endParaRPr lang="en-US" sz="1750" dirty="0"/>
          </a:p>
        </p:txBody>
      </p:sp>
      <p:sp>
        <p:nvSpPr>
          <p:cNvPr id="6" name="Text 3"/>
          <p:cNvSpPr/>
          <p:nvPr/>
        </p:nvSpPr>
        <p:spPr>
          <a:xfrm>
            <a:off x="2393394" y="4328755"/>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dirty="0">
                <a:solidFill>
                  <a:srgbClr val="5B5F71"/>
                </a:solidFill>
                <a:latin typeface="Instrument Sans" pitchFamily="34" charset="0"/>
                <a:ea typeface="Instrument Sans" pitchFamily="34" charset="-122"/>
                <a:cs typeface="Instrument Sans" pitchFamily="34" charset="-120"/>
              </a:rPr>
              <a:t>Logical EERM Diagram: Translates the conceptual model into a more detailed representation, including data types, keys, and normalization.</a:t>
            </a:r>
            <a:endParaRPr lang="en-US" sz="1750" dirty="0"/>
          </a:p>
        </p:txBody>
      </p:sp>
      <p:sp>
        <p:nvSpPr>
          <p:cNvPr id="7" name="Text 4"/>
          <p:cNvSpPr/>
          <p:nvPr/>
        </p:nvSpPr>
        <p:spPr>
          <a:xfrm>
            <a:off x="2393394" y="5128379"/>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dirty="0">
                <a:solidFill>
                  <a:srgbClr val="5B5F71"/>
                </a:solidFill>
                <a:latin typeface="Instrument Sans" pitchFamily="34" charset="0"/>
                <a:ea typeface="Instrument Sans" pitchFamily="34" charset="-122"/>
                <a:cs typeface="Instrument Sans" pitchFamily="34" charset="-120"/>
              </a:rPr>
              <a:t>Physical EERM Diagram: Represents the actual implementation of the database, including table structures, indexes, and other physical design elements.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2834640"/>
            <a:ext cx="9007435"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Subtypes and Supertypes in EERM</a:t>
            </a:r>
            <a:endParaRPr lang="en-US" sz="4374" dirty="0"/>
          </a:p>
        </p:txBody>
      </p:sp>
      <p:sp>
        <p:nvSpPr>
          <p:cNvPr id="5" name="Text 2"/>
          <p:cNvSpPr/>
          <p:nvPr/>
        </p:nvSpPr>
        <p:spPr>
          <a:xfrm>
            <a:off x="2037993" y="3973354"/>
            <a:ext cx="10554414"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In EERM, subtypes and supertypes are used to model hierarchical relationships between entities. A </a:t>
            </a:r>
            <a:r>
              <a:rPr lang="en-US" sz="1750" b="1" dirty="0">
                <a:solidFill>
                  <a:srgbClr val="5B5F71"/>
                </a:solidFill>
                <a:latin typeface="Instrument Sans" pitchFamily="34" charset="0"/>
                <a:ea typeface="Instrument Sans" pitchFamily="34" charset="-122"/>
                <a:cs typeface="Instrument Sans" pitchFamily="34" charset="-120"/>
              </a:rPr>
              <a:t>supertype</a:t>
            </a:r>
            <a:r>
              <a:rPr lang="en-US" sz="1750" dirty="0">
                <a:solidFill>
                  <a:srgbClr val="5B5F71"/>
                </a:solidFill>
                <a:latin typeface="Instrument Sans" pitchFamily="34" charset="0"/>
                <a:ea typeface="Instrument Sans" pitchFamily="34" charset="-122"/>
                <a:cs typeface="Instrument Sans" pitchFamily="34" charset="-120"/>
              </a:rPr>
              <a:t> is a general entity that has more specialized </a:t>
            </a:r>
            <a:r>
              <a:rPr lang="en-US" sz="1750" b="1" dirty="0">
                <a:solidFill>
                  <a:srgbClr val="5B5F71"/>
                </a:solidFill>
                <a:latin typeface="Instrument Sans" pitchFamily="34" charset="0"/>
                <a:ea typeface="Instrument Sans" pitchFamily="34" charset="-122"/>
                <a:cs typeface="Instrument Sans" pitchFamily="34" charset="-120"/>
              </a:rPr>
              <a:t>subtypes</a:t>
            </a:r>
            <a:r>
              <a:rPr lang="en-US" sz="1750" dirty="0">
                <a:solidFill>
                  <a:srgbClr val="5B5F71"/>
                </a:solidFill>
                <a:latin typeface="Instrument Sans" pitchFamily="34" charset="0"/>
                <a:ea typeface="Instrument Sans" pitchFamily="34" charset="-122"/>
                <a:cs typeface="Instrument Sans" pitchFamily="34" charset="-120"/>
              </a:rPr>
              <a:t> branching off from it. Subtypes inherit the attributes and relationships of their supertype, allowing for more detailed and nuanced modeling.</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10980420" y="0"/>
            <a:ext cx="3657600" cy="8229600"/>
          </a:xfrm>
          <a:prstGeom prst="rect">
            <a:avLst/>
          </a:prstGeom>
        </p:spPr>
      </p:pic>
      <p:pic>
        <p:nvPicPr>
          <p:cNvPr id="5" name="Image 2" descr="preencoded.png"/>
          <p:cNvPicPr>
            <a:picLocks noChangeAspect="1"/>
          </p:cNvPicPr>
          <p:nvPr/>
        </p:nvPicPr>
        <p:blipFill>
          <a:blip r:embed="rId5"/>
          <a:stretch>
            <a:fillRect/>
          </a:stretch>
        </p:blipFill>
        <p:spPr>
          <a:xfrm>
            <a:off x="10022304" y="747593"/>
            <a:ext cx="4648339" cy="6254786"/>
          </a:xfrm>
          <a:prstGeom prst="rect">
            <a:avLst/>
          </a:prstGeom>
        </p:spPr>
      </p:pic>
      <p:sp>
        <p:nvSpPr>
          <p:cNvPr id="6" name="Text 1"/>
          <p:cNvSpPr/>
          <p:nvPr/>
        </p:nvSpPr>
        <p:spPr>
          <a:xfrm>
            <a:off x="791408" y="747593"/>
            <a:ext cx="5624393" cy="659606"/>
          </a:xfrm>
          <a:prstGeom prst="rect">
            <a:avLst/>
          </a:prstGeom>
          <a:noFill/>
          <a:ln/>
        </p:spPr>
        <p:txBody>
          <a:bodyPr wrap="none" rtlCol="0" anchor="t"/>
          <a:lstStyle/>
          <a:p>
            <a:pPr marL="0" indent="0">
              <a:lnSpc>
                <a:spcPts val="5193"/>
              </a:lnSpc>
              <a:buNone/>
            </a:pPr>
            <a:r>
              <a:rPr lang="en-US" sz="4155" b="1" dirty="0">
                <a:solidFill>
                  <a:srgbClr val="5B5F72"/>
                </a:solidFill>
                <a:latin typeface="Instrument Sans" pitchFamily="34" charset="0"/>
                <a:ea typeface="Instrument Sans" pitchFamily="34" charset="-122"/>
                <a:cs typeface="Instrument Sans" pitchFamily="34" charset="-120"/>
              </a:rPr>
              <a:t>Specialization in EERM</a:t>
            </a:r>
            <a:endParaRPr lang="en-US" sz="4155" dirty="0"/>
          </a:p>
        </p:txBody>
      </p:sp>
      <p:sp>
        <p:nvSpPr>
          <p:cNvPr id="7" name="Shape 2"/>
          <p:cNvSpPr/>
          <p:nvPr/>
        </p:nvSpPr>
        <p:spPr>
          <a:xfrm>
            <a:off x="1086922" y="1723787"/>
            <a:ext cx="42148" cy="5758220"/>
          </a:xfrm>
          <a:prstGeom prst="roundRect">
            <a:avLst>
              <a:gd name="adj" fmla="val 225341"/>
            </a:avLst>
          </a:prstGeom>
          <a:solidFill>
            <a:srgbClr val="C9CACE"/>
          </a:solidFill>
          <a:ln/>
        </p:spPr>
      </p:sp>
      <p:sp>
        <p:nvSpPr>
          <p:cNvPr id="8" name="Shape 3"/>
          <p:cNvSpPr/>
          <p:nvPr/>
        </p:nvSpPr>
        <p:spPr>
          <a:xfrm>
            <a:off x="1345406" y="2104906"/>
            <a:ext cx="738664" cy="42148"/>
          </a:xfrm>
          <a:prstGeom prst="roundRect">
            <a:avLst>
              <a:gd name="adj" fmla="val 225341"/>
            </a:avLst>
          </a:prstGeom>
          <a:solidFill>
            <a:srgbClr val="C9CACE"/>
          </a:solidFill>
          <a:ln/>
        </p:spPr>
      </p:sp>
      <p:sp>
        <p:nvSpPr>
          <p:cNvPr id="9" name="Shape 4"/>
          <p:cNvSpPr/>
          <p:nvPr/>
        </p:nvSpPr>
        <p:spPr>
          <a:xfrm>
            <a:off x="870585" y="1888688"/>
            <a:ext cx="474821" cy="474821"/>
          </a:xfrm>
          <a:prstGeom prst="roundRect">
            <a:avLst>
              <a:gd name="adj" fmla="val 20003"/>
            </a:avLst>
          </a:prstGeom>
          <a:solidFill>
            <a:srgbClr val="E3E4E8"/>
          </a:solidFill>
          <a:ln w="7620">
            <a:solidFill>
              <a:srgbClr val="C9CACE"/>
            </a:solidFill>
            <a:prstDash val="solid"/>
          </a:ln>
        </p:spPr>
      </p:sp>
      <p:sp>
        <p:nvSpPr>
          <p:cNvPr id="10" name="Text 5"/>
          <p:cNvSpPr/>
          <p:nvPr/>
        </p:nvSpPr>
        <p:spPr>
          <a:xfrm>
            <a:off x="1046678" y="1928217"/>
            <a:ext cx="122515" cy="395645"/>
          </a:xfrm>
          <a:prstGeom prst="rect">
            <a:avLst/>
          </a:prstGeom>
          <a:noFill/>
          <a:ln/>
        </p:spPr>
        <p:txBody>
          <a:bodyPr wrap="none" rtlCol="0" anchor="t"/>
          <a:lstStyle/>
          <a:p>
            <a:pPr marL="0" indent="0" algn="ctr">
              <a:lnSpc>
                <a:spcPts val="3116"/>
              </a:lnSpc>
              <a:buNone/>
            </a:pPr>
            <a:r>
              <a:rPr lang="en-US" sz="2493" b="1" dirty="0">
                <a:solidFill>
                  <a:srgbClr val="5B5F71"/>
                </a:solidFill>
                <a:latin typeface="Instrument Sans" pitchFamily="34" charset="0"/>
                <a:ea typeface="Instrument Sans" pitchFamily="34" charset="-122"/>
                <a:cs typeface="Instrument Sans" pitchFamily="34" charset="-120"/>
              </a:rPr>
              <a:t>1</a:t>
            </a:r>
            <a:endParaRPr lang="en-US" sz="2493" dirty="0"/>
          </a:p>
        </p:txBody>
      </p:sp>
      <p:sp>
        <p:nvSpPr>
          <p:cNvPr id="11" name="Text 6"/>
          <p:cNvSpPr/>
          <p:nvPr/>
        </p:nvSpPr>
        <p:spPr>
          <a:xfrm>
            <a:off x="2268736" y="1934766"/>
            <a:ext cx="2638187" cy="329803"/>
          </a:xfrm>
          <a:prstGeom prst="rect">
            <a:avLst/>
          </a:prstGeom>
          <a:noFill/>
          <a:ln/>
        </p:spPr>
        <p:txBody>
          <a:bodyPr wrap="none" rtlCol="0" anchor="t"/>
          <a:lstStyle/>
          <a:p>
            <a:pPr marL="0" indent="0" algn="l">
              <a:lnSpc>
                <a:spcPts val="2597"/>
              </a:lnSpc>
              <a:buNone/>
            </a:pPr>
            <a:r>
              <a:rPr lang="en-US" sz="2077" b="1" dirty="0">
                <a:solidFill>
                  <a:srgbClr val="5B5F71"/>
                </a:solidFill>
                <a:latin typeface="Instrument Sans" pitchFamily="34" charset="0"/>
                <a:ea typeface="Instrument Sans" pitchFamily="34" charset="-122"/>
                <a:cs typeface="Instrument Sans" pitchFamily="34" charset="-120"/>
              </a:rPr>
              <a:t>Defining Subtypes</a:t>
            </a:r>
            <a:endParaRPr lang="en-US" sz="2077" dirty="0"/>
          </a:p>
        </p:txBody>
      </p:sp>
      <p:sp>
        <p:nvSpPr>
          <p:cNvPr id="12" name="Text 7"/>
          <p:cNvSpPr/>
          <p:nvPr/>
        </p:nvSpPr>
        <p:spPr>
          <a:xfrm>
            <a:off x="2268736" y="2391132"/>
            <a:ext cx="7912656" cy="1012984"/>
          </a:xfrm>
          <a:prstGeom prst="rect">
            <a:avLst/>
          </a:prstGeom>
          <a:noFill/>
          <a:ln/>
        </p:spPr>
        <p:txBody>
          <a:bodyPr wrap="square" rtlCol="0" anchor="t"/>
          <a:lstStyle/>
          <a:p>
            <a:pPr marL="0" indent="0" algn="l">
              <a:lnSpc>
                <a:spcPts val="2659"/>
              </a:lnSpc>
              <a:buNone/>
            </a:pPr>
            <a:r>
              <a:rPr lang="en-US" sz="1662" dirty="0">
                <a:solidFill>
                  <a:srgbClr val="5B5F71"/>
                </a:solidFill>
                <a:latin typeface="Instrument Sans" pitchFamily="34" charset="0"/>
                <a:ea typeface="Instrument Sans" pitchFamily="34" charset="-122"/>
                <a:cs typeface="Instrument Sans" pitchFamily="34" charset="-120"/>
              </a:rPr>
              <a:t>Subtypes in EERM are more specialized entities that inherit attributes and relationships from a broader supertype. They allow for modeling nuanced differences within a domain.</a:t>
            </a:r>
            <a:endParaRPr lang="en-US" sz="1662" dirty="0"/>
          </a:p>
        </p:txBody>
      </p:sp>
      <p:sp>
        <p:nvSpPr>
          <p:cNvPr id="13" name="Shape 8"/>
          <p:cNvSpPr/>
          <p:nvPr/>
        </p:nvSpPr>
        <p:spPr>
          <a:xfrm>
            <a:off x="1345406" y="4207192"/>
            <a:ext cx="738664" cy="42148"/>
          </a:xfrm>
          <a:prstGeom prst="roundRect">
            <a:avLst>
              <a:gd name="adj" fmla="val 225341"/>
            </a:avLst>
          </a:prstGeom>
          <a:solidFill>
            <a:srgbClr val="C9CACE"/>
          </a:solidFill>
          <a:ln/>
        </p:spPr>
      </p:sp>
      <p:sp>
        <p:nvSpPr>
          <p:cNvPr id="14" name="Shape 9"/>
          <p:cNvSpPr/>
          <p:nvPr/>
        </p:nvSpPr>
        <p:spPr>
          <a:xfrm>
            <a:off x="870585" y="3990975"/>
            <a:ext cx="474821" cy="474821"/>
          </a:xfrm>
          <a:prstGeom prst="roundRect">
            <a:avLst>
              <a:gd name="adj" fmla="val 20003"/>
            </a:avLst>
          </a:prstGeom>
          <a:solidFill>
            <a:srgbClr val="E3E4E8"/>
          </a:solidFill>
          <a:ln w="7620">
            <a:solidFill>
              <a:srgbClr val="C9CACE"/>
            </a:solidFill>
            <a:prstDash val="solid"/>
          </a:ln>
        </p:spPr>
      </p:sp>
      <p:sp>
        <p:nvSpPr>
          <p:cNvPr id="15" name="Text 10"/>
          <p:cNvSpPr/>
          <p:nvPr/>
        </p:nvSpPr>
        <p:spPr>
          <a:xfrm>
            <a:off x="1019770" y="4030504"/>
            <a:ext cx="176332" cy="395645"/>
          </a:xfrm>
          <a:prstGeom prst="rect">
            <a:avLst/>
          </a:prstGeom>
          <a:noFill/>
          <a:ln/>
        </p:spPr>
        <p:txBody>
          <a:bodyPr wrap="none" rtlCol="0" anchor="t"/>
          <a:lstStyle/>
          <a:p>
            <a:pPr marL="0" indent="0" algn="ctr">
              <a:lnSpc>
                <a:spcPts val="3116"/>
              </a:lnSpc>
              <a:buNone/>
            </a:pPr>
            <a:r>
              <a:rPr lang="en-US" sz="2493" b="1" dirty="0">
                <a:solidFill>
                  <a:srgbClr val="5B5F71"/>
                </a:solidFill>
                <a:latin typeface="Instrument Sans" pitchFamily="34" charset="0"/>
                <a:ea typeface="Instrument Sans" pitchFamily="34" charset="-122"/>
                <a:cs typeface="Instrument Sans" pitchFamily="34" charset="-120"/>
              </a:rPr>
              <a:t>2</a:t>
            </a:r>
            <a:endParaRPr lang="en-US" sz="2493" dirty="0"/>
          </a:p>
        </p:txBody>
      </p:sp>
      <p:sp>
        <p:nvSpPr>
          <p:cNvPr id="16" name="Text 11"/>
          <p:cNvSpPr/>
          <p:nvPr/>
        </p:nvSpPr>
        <p:spPr>
          <a:xfrm>
            <a:off x="2268736" y="4037052"/>
            <a:ext cx="2858810" cy="329803"/>
          </a:xfrm>
          <a:prstGeom prst="rect">
            <a:avLst/>
          </a:prstGeom>
          <a:noFill/>
          <a:ln/>
        </p:spPr>
        <p:txBody>
          <a:bodyPr wrap="none" rtlCol="0" anchor="t"/>
          <a:lstStyle/>
          <a:p>
            <a:pPr marL="0" indent="0" algn="l">
              <a:lnSpc>
                <a:spcPts val="2597"/>
              </a:lnSpc>
              <a:buNone/>
            </a:pPr>
            <a:r>
              <a:rPr lang="en-US" sz="2077" b="1" dirty="0">
                <a:solidFill>
                  <a:srgbClr val="5B5F71"/>
                </a:solidFill>
                <a:latin typeface="Instrument Sans" pitchFamily="34" charset="0"/>
                <a:ea typeface="Instrument Sans" pitchFamily="34" charset="-122"/>
                <a:cs typeface="Instrument Sans" pitchFamily="34" charset="-120"/>
              </a:rPr>
              <a:t>Disjoint vs Overlapping</a:t>
            </a:r>
            <a:endParaRPr lang="en-US" sz="2077" dirty="0"/>
          </a:p>
        </p:txBody>
      </p:sp>
      <p:sp>
        <p:nvSpPr>
          <p:cNvPr id="17" name="Text 12"/>
          <p:cNvSpPr/>
          <p:nvPr/>
        </p:nvSpPr>
        <p:spPr>
          <a:xfrm>
            <a:off x="2268736" y="4493419"/>
            <a:ext cx="7912656" cy="675323"/>
          </a:xfrm>
          <a:prstGeom prst="rect">
            <a:avLst/>
          </a:prstGeom>
          <a:noFill/>
          <a:ln/>
        </p:spPr>
        <p:txBody>
          <a:bodyPr wrap="square" rtlCol="0" anchor="t"/>
          <a:lstStyle/>
          <a:p>
            <a:pPr marL="0" indent="0" algn="l">
              <a:lnSpc>
                <a:spcPts val="2659"/>
              </a:lnSpc>
              <a:buNone/>
            </a:pPr>
            <a:r>
              <a:rPr lang="en-US" sz="1662" dirty="0">
                <a:solidFill>
                  <a:srgbClr val="5B5F71"/>
                </a:solidFill>
                <a:latin typeface="Instrument Sans" pitchFamily="34" charset="0"/>
                <a:ea typeface="Instrument Sans" pitchFamily="34" charset="-122"/>
                <a:cs typeface="Instrument Sans" pitchFamily="34" charset="-120"/>
              </a:rPr>
              <a:t>Subtypes can be defined as disjoint, where an instance can only belong to one subtype, or overlapping, where an instance can belong to multiple subtypes.</a:t>
            </a:r>
            <a:endParaRPr lang="en-US" sz="1662" dirty="0"/>
          </a:p>
        </p:txBody>
      </p:sp>
      <p:sp>
        <p:nvSpPr>
          <p:cNvPr id="18" name="Shape 13"/>
          <p:cNvSpPr/>
          <p:nvPr/>
        </p:nvSpPr>
        <p:spPr>
          <a:xfrm>
            <a:off x="1345406" y="5971818"/>
            <a:ext cx="738664" cy="42148"/>
          </a:xfrm>
          <a:prstGeom prst="roundRect">
            <a:avLst>
              <a:gd name="adj" fmla="val 225341"/>
            </a:avLst>
          </a:prstGeom>
          <a:solidFill>
            <a:srgbClr val="C9CACE"/>
          </a:solidFill>
          <a:ln/>
        </p:spPr>
      </p:sp>
      <p:sp>
        <p:nvSpPr>
          <p:cNvPr id="19" name="Shape 14"/>
          <p:cNvSpPr/>
          <p:nvPr/>
        </p:nvSpPr>
        <p:spPr>
          <a:xfrm>
            <a:off x="870585" y="5755600"/>
            <a:ext cx="474821" cy="474821"/>
          </a:xfrm>
          <a:prstGeom prst="roundRect">
            <a:avLst>
              <a:gd name="adj" fmla="val 20003"/>
            </a:avLst>
          </a:prstGeom>
          <a:solidFill>
            <a:srgbClr val="E3E4E8"/>
          </a:solidFill>
          <a:ln w="7620">
            <a:solidFill>
              <a:srgbClr val="C9CACE"/>
            </a:solidFill>
            <a:prstDash val="solid"/>
          </a:ln>
        </p:spPr>
      </p:sp>
      <p:sp>
        <p:nvSpPr>
          <p:cNvPr id="20" name="Text 15"/>
          <p:cNvSpPr/>
          <p:nvPr/>
        </p:nvSpPr>
        <p:spPr>
          <a:xfrm>
            <a:off x="1016317" y="5795129"/>
            <a:ext cx="183237" cy="395645"/>
          </a:xfrm>
          <a:prstGeom prst="rect">
            <a:avLst/>
          </a:prstGeom>
          <a:noFill/>
          <a:ln/>
        </p:spPr>
        <p:txBody>
          <a:bodyPr wrap="none" rtlCol="0" anchor="t"/>
          <a:lstStyle/>
          <a:p>
            <a:pPr marL="0" indent="0" algn="ctr">
              <a:lnSpc>
                <a:spcPts val="3116"/>
              </a:lnSpc>
              <a:buNone/>
            </a:pPr>
            <a:r>
              <a:rPr lang="en-US" sz="2493" b="1" dirty="0">
                <a:solidFill>
                  <a:srgbClr val="5B5F71"/>
                </a:solidFill>
                <a:latin typeface="Instrument Sans" pitchFamily="34" charset="0"/>
                <a:ea typeface="Instrument Sans" pitchFamily="34" charset="-122"/>
                <a:cs typeface="Instrument Sans" pitchFamily="34" charset="-120"/>
              </a:rPr>
              <a:t>3</a:t>
            </a:r>
            <a:endParaRPr lang="en-US" sz="2493" dirty="0"/>
          </a:p>
        </p:txBody>
      </p:sp>
      <p:sp>
        <p:nvSpPr>
          <p:cNvPr id="21" name="Text 16"/>
          <p:cNvSpPr/>
          <p:nvPr/>
        </p:nvSpPr>
        <p:spPr>
          <a:xfrm>
            <a:off x="2268736" y="5801678"/>
            <a:ext cx="2912626" cy="329803"/>
          </a:xfrm>
          <a:prstGeom prst="rect">
            <a:avLst/>
          </a:prstGeom>
          <a:noFill/>
          <a:ln/>
        </p:spPr>
        <p:txBody>
          <a:bodyPr wrap="none" rtlCol="0" anchor="t"/>
          <a:lstStyle/>
          <a:p>
            <a:pPr marL="0" indent="0" algn="l">
              <a:lnSpc>
                <a:spcPts val="2597"/>
              </a:lnSpc>
              <a:buNone/>
            </a:pPr>
            <a:r>
              <a:rPr lang="en-US" sz="2077" b="1" dirty="0">
                <a:solidFill>
                  <a:srgbClr val="5B5F71"/>
                </a:solidFill>
                <a:latin typeface="Instrument Sans" pitchFamily="34" charset="0"/>
                <a:ea typeface="Instrument Sans" pitchFamily="34" charset="-122"/>
                <a:cs typeface="Instrument Sans" pitchFamily="34" charset="-120"/>
              </a:rPr>
              <a:t>Applying Specialization</a:t>
            </a:r>
            <a:endParaRPr lang="en-US" sz="2077" dirty="0"/>
          </a:p>
        </p:txBody>
      </p:sp>
      <p:sp>
        <p:nvSpPr>
          <p:cNvPr id="22" name="Text 17"/>
          <p:cNvSpPr/>
          <p:nvPr/>
        </p:nvSpPr>
        <p:spPr>
          <a:xfrm>
            <a:off x="2268736" y="6258044"/>
            <a:ext cx="7912656" cy="1012984"/>
          </a:xfrm>
          <a:prstGeom prst="rect">
            <a:avLst/>
          </a:prstGeom>
          <a:noFill/>
          <a:ln/>
        </p:spPr>
        <p:txBody>
          <a:bodyPr wrap="square" rtlCol="0" anchor="t"/>
          <a:lstStyle/>
          <a:p>
            <a:pPr marL="0" indent="0" algn="l">
              <a:lnSpc>
                <a:spcPts val="2659"/>
              </a:lnSpc>
              <a:buNone/>
            </a:pPr>
            <a:r>
              <a:rPr lang="en-US" sz="1662" dirty="0">
                <a:solidFill>
                  <a:srgbClr val="5B5F71"/>
                </a:solidFill>
                <a:latin typeface="Instrument Sans" pitchFamily="34" charset="0"/>
                <a:ea typeface="Instrument Sans" pitchFamily="34" charset="-122"/>
                <a:cs typeface="Instrument Sans" pitchFamily="34" charset="-120"/>
              </a:rPr>
              <a:t>Specialization is useful for modeling complex hierarchies, such as employee-manager relationships or product categorization. It enhances the expressiveness of the data model.</a:t>
            </a:r>
            <a:endParaRPr lang="en-US" sz="1662"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2468761" y="561142"/>
            <a:ext cx="5568434" cy="637699"/>
          </a:xfrm>
          <a:prstGeom prst="rect">
            <a:avLst/>
          </a:prstGeom>
          <a:noFill/>
          <a:ln/>
        </p:spPr>
        <p:txBody>
          <a:bodyPr wrap="none" rtlCol="0" anchor="t"/>
          <a:lstStyle/>
          <a:p>
            <a:pPr marL="0" indent="0">
              <a:lnSpc>
                <a:spcPts val="5021"/>
              </a:lnSpc>
              <a:buNone/>
            </a:pPr>
            <a:r>
              <a:rPr lang="en-US" sz="4017" b="1" dirty="0">
                <a:solidFill>
                  <a:srgbClr val="5B5F72"/>
                </a:solidFill>
                <a:latin typeface="Instrument Sans" pitchFamily="34" charset="0"/>
                <a:ea typeface="Instrument Sans" pitchFamily="34" charset="-122"/>
                <a:cs typeface="Instrument Sans" pitchFamily="34" charset="-120"/>
              </a:rPr>
              <a:t>Generalization in EERM</a:t>
            </a:r>
            <a:endParaRPr lang="en-US" sz="4017" dirty="0"/>
          </a:p>
        </p:txBody>
      </p:sp>
      <p:pic>
        <p:nvPicPr>
          <p:cNvPr id="5" name="Image 1" descr="preencoded.png"/>
          <p:cNvPicPr>
            <a:picLocks noChangeAspect="1"/>
          </p:cNvPicPr>
          <p:nvPr/>
        </p:nvPicPr>
        <p:blipFill>
          <a:blip r:embed="rId4"/>
          <a:stretch>
            <a:fillRect/>
          </a:stretch>
        </p:blipFill>
        <p:spPr>
          <a:xfrm>
            <a:off x="4292203" y="1606867"/>
            <a:ext cx="1305997" cy="1280160"/>
          </a:xfrm>
          <a:prstGeom prst="rect">
            <a:avLst/>
          </a:prstGeom>
        </p:spPr>
      </p:pic>
      <p:sp>
        <p:nvSpPr>
          <p:cNvPr id="6" name="Text 2"/>
          <p:cNvSpPr/>
          <p:nvPr/>
        </p:nvSpPr>
        <p:spPr>
          <a:xfrm>
            <a:off x="4842510" y="2136338"/>
            <a:ext cx="98703"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1</a:t>
            </a:r>
            <a:endParaRPr lang="en-US" sz="2008" dirty="0"/>
          </a:p>
        </p:txBody>
      </p:sp>
      <p:sp>
        <p:nvSpPr>
          <p:cNvPr id="7" name="Text 3"/>
          <p:cNvSpPr/>
          <p:nvPr/>
        </p:nvSpPr>
        <p:spPr>
          <a:xfrm>
            <a:off x="5695593" y="1810822"/>
            <a:ext cx="2378154"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Supertype</a:t>
            </a:r>
            <a:endParaRPr lang="en-US" sz="2008" dirty="0"/>
          </a:p>
        </p:txBody>
      </p:sp>
      <p:sp>
        <p:nvSpPr>
          <p:cNvPr id="8" name="Text 4"/>
          <p:cNvSpPr/>
          <p:nvPr/>
        </p:nvSpPr>
        <p:spPr>
          <a:xfrm>
            <a:off x="5695593" y="2251948"/>
            <a:ext cx="2378154"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The broad, general entity</a:t>
            </a:r>
            <a:endParaRPr lang="en-US" sz="1607" dirty="0"/>
          </a:p>
        </p:txBody>
      </p:sp>
      <p:sp>
        <p:nvSpPr>
          <p:cNvPr id="9" name="Shape 5"/>
          <p:cNvSpPr/>
          <p:nvPr/>
        </p:nvSpPr>
        <p:spPr>
          <a:xfrm>
            <a:off x="5542598" y="2784931"/>
            <a:ext cx="6567964" cy="20360"/>
          </a:xfrm>
          <a:prstGeom prst="roundRect">
            <a:avLst>
              <a:gd name="adj" fmla="val 451016"/>
            </a:avLst>
          </a:prstGeom>
          <a:solidFill>
            <a:srgbClr val="C9CACE"/>
          </a:solidFill>
          <a:ln/>
        </p:spPr>
      </p:sp>
      <p:pic>
        <p:nvPicPr>
          <p:cNvPr id="10" name="Image 2" descr="preencoded.png"/>
          <p:cNvPicPr>
            <a:picLocks noChangeAspect="1"/>
          </p:cNvPicPr>
          <p:nvPr/>
        </p:nvPicPr>
        <p:blipFill>
          <a:blip r:embed="rId5"/>
          <a:stretch>
            <a:fillRect/>
          </a:stretch>
        </p:blipFill>
        <p:spPr>
          <a:xfrm>
            <a:off x="3692366" y="2833330"/>
            <a:ext cx="2612112" cy="1280160"/>
          </a:xfrm>
          <a:prstGeom prst="rect">
            <a:avLst/>
          </a:prstGeom>
        </p:spPr>
      </p:pic>
      <p:sp>
        <p:nvSpPr>
          <p:cNvPr id="11" name="Text 6"/>
          <p:cNvSpPr/>
          <p:nvPr/>
        </p:nvSpPr>
        <p:spPr>
          <a:xfrm>
            <a:off x="4820603" y="3217069"/>
            <a:ext cx="142161"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2</a:t>
            </a:r>
            <a:endParaRPr lang="en-US" sz="2008" dirty="0"/>
          </a:p>
        </p:txBody>
      </p:sp>
      <p:sp>
        <p:nvSpPr>
          <p:cNvPr id="12" name="Text 7"/>
          <p:cNvSpPr/>
          <p:nvPr/>
        </p:nvSpPr>
        <p:spPr>
          <a:xfrm>
            <a:off x="6295192" y="3037284"/>
            <a:ext cx="1864638"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Subtype 1</a:t>
            </a:r>
            <a:endParaRPr lang="en-US" sz="2008" dirty="0"/>
          </a:p>
        </p:txBody>
      </p:sp>
      <p:sp>
        <p:nvSpPr>
          <p:cNvPr id="13" name="Text 8"/>
          <p:cNvSpPr/>
          <p:nvPr/>
        </p:nvSpPr>
        <p:spPr>
          <a:xfrm>
            <a:off x="6295192" y="3478411"/>
            <a:ext cx="1864638"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More specific entity</a:t>
            </a:r>
            <a:endParaRPr lang="en-US" sz="1607" dirty="0"/>
          </a:p>
        </p:txBody>
      </p:sp>
      <p:sp>
        <p:nvSpPr>
          <p:cNvPr id="14" name="Shape 9"/>
          <p:cNvSpPr/>
          <p:nvPr/>
        </p:nvSpPr>
        <p:spPr>
          <a:xfrm>
            <a:off x="6142196" y="4011394"/>
            <a:ext cx="5968365" cy="20360"/>
          </a:xfrm>
          <a:prstGeom prst="roundRect">
            <a:avLst>
              <a:gd name="adj" fmla="val 451016"/>
            </a:avLst>
          </a:prstGeom>
          <a:solidFill>
            <a:srgbClr val="C9CACE"/>
          </a:solidFill>
          <a:ln/>
        </p:spPr>
      </p:sp>
      <p:pic>
        <p:nvPicPr>
          <p:cNvPr id="15" name="Image 3" descr="preencoded.png"/>
          <p:cNvPicPr>
            <a:picLocks noChangeAspect="1"/>
          </p:cNvPicPr>
          <p:nvPr/>
        </p:nvPicPr>
        <p:blipFill>
          <a:blip r:embed="rId6"/>
          <a:stretch>
            <a:fillRect/>
          </a:stretch>
        </p:blipFill>
        <p:spPr>
          <a:xfrm>
            <a:off x="3092648" y="4059793"/>
            <a:ext cx="3918228" cy="1280160"/>
          </a:xfrm>
          <a:prstGeom prst="rect">
            <a:avLst/>
          </a:prstGeom>
        </p:spPr>
      </p:pic>
      <p:sp>
        <p:nvSpPr>
          <p:cNvPr id="16" name="Text 10"/>
          <p:cNvSpPr/>
          <p:nvPr/>
        </p:nvSpPr>
        <p:spPr>
          <a:xfrm>
            <a:off x="4817983" y="4443532"/>
            <a:ext cx="147757"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3</a:t>
            </a:r>
            <a:endParaRPr lang="en-US" sz="2008" dirty="0"/>
          </a:p>
        </p:txBody>
      </p:sp>
      <p:sp>
        <p:nvSpPr>
          <p:cNvPr id="17" name="Text 11"/>
          <p:cNvSpPr/>
          <p:nvPr/>
        </p:nvSpPr>
        <p:spPr>
          <a:xfrm>
            <a:off x="6895028" y="4263747"/>
            <a:ext cx="1864638"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Subtype 2</a:t>
            </a:r>
            <a:endParaRPr lang="en-US" sz="2008" dirty="0"/>
          </a:p>
        </p:txBody>
      </p:sp>
      <p:sp>
        <p:nvSpPr>
          <p:cNvPr id="18" name="Text 12"/>
          <p:cNvSpPr/>
          <p:nvPr/>
        </p:nvSpPr>
        <p:spPr>
          <a:xfrm>
            <a:off x="6895028" y="4704874"/>
            <a:ext cx="1864638"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More specific entity</a:t>
            </a:r>
            <a:endParaRPr lang="en-US" sz="1607" dirty="0"/>
          </a:p>
        </p:txBody>
      </p:sp>
      <p:sp>
        <p:nvSpPr>
          <p:cNvPr id="19" name="Shape 13"/>
          <p:cNvSpPr/>
          <p:nvPr/>
        </p:nvSpPr>
        <p:spPr>
          <a:xfrm>
            <a:off x="6742033" y="5237857"/>
            <a:ext cx="5368528" cy="20360"/>
          </a:xfrm>
          <a:prstGeom prst="roundRect">
            <a:avLst>
              <a:gd name="adj" fmla="val 451016"/>
            </a:avLst>
          </a:prstGeom>
          <a:solidFill>
            <a:srgbClr val="C9CACE"/>
          </a:solidFill>
          <a:ln/>
        </p:spPr>
      </p:sp>
      <p:pic>
        <p:nvPicPr>
          <p:cNvPr id="20" name="Image 4" descr="preencoded.png"/>
          <p:cNvPicPr>
            <a:picLocks noChangeAspect="1"/>
          </p:cNvPicPr>
          <p:nvPr/>
        </p:nvPicPr>
        <p:blipFill>
          <a:blip r:embed="rId7"/>
          <a:stretch>
            <a:fillRect/>
          </a:stretch>
        </p:blipFill>
        <p:spPr>
          <a:xfrm>
            <a:off x="2492931" y="5286256"/>
            <a:ext cx="5224343" cy="1280160"/>
          </a:xfrm>
          <a:prstGeom prst="rect">
            <a:avLst/>
          </a:prstGeom>
        </p:spPr>
      </p:pic>
      <p:sp>
        <p:nvSpPr>
          <p:cNvPr id="21" name="Text 14"/>
          <p:cNvSpPr/>
          <p:nvPr/>
        </p:nvSpPr>
        <p:spPr>
          <a:xfrm>
            <a:off x="4813340" y="5669994"/>
            <a:ext cx="156924" cy="408027"/>
          </a:xfrm>
          <a:prstGeom prst="rect">
            <a:avLst/>
          </a:prstGeom>
          <a:noFill/>
          <a:ln/>
        </p:spPr>
        <p:txBody>
          <a:bodyPr wrap="none" rtlCol="0" anchor="t"/>
          <a:lstStyle/>
          <a:p>
            <a:pPr marL="0" indent="0" algn="ctr">
              <a:lnSpc>
                <a:spcPts val="3214"/>
              </a:lnSpc>
              <a:buNone/>
            </a:pPr>
            <a:r>
              <a:rPr lang="en-US" sz="2008" b="1" dirty="0">
                <a:solidFill>
                  <a:srgbClr val="5B5F71"/>
                </a:solidFill>
                <a:latin typeface="Instrument Sans" pitchFamily="34" charset="0"/>
                <a:ea typeface="Instrument Sans" pitchFamily="34" charset="-122"/>
                <a:cs typeface="Instrument Sans" pitchFamily="34" charset="-120"/>
              </a:rPr>
              <a:t>4</a:t>
            </a:r>
            <a:endParaRPr lang="en-US" sz="2008" dirty="0"/>
          </a:p>
        </p:txBody>
      </p:sp>
      <p:sp>
        <p:nvSpPr>
          <p:cNvPr id="22" name="Text 15"/>
          <p:cNvSpPr/>
          <p:nvPr/>
        </p:nvSpPr>
        <p:spPr>
          <a:xfrm>
            <a:off x="7494746" y="5490210"/>
            <a:ext cx="1864638" cy="318730"/>
          </a:xfrm>
          <a:prstGeom prst="rect">
            <a:avLst/>
          </a:prstGeom>
          <a:noFill/>
          <a:ln/>
        </p:spPr>
        <p:txBody>
          <a:bodyPr wrap="none" rtlCol="0" anchor="t"/>
          <a:lstStyle/>
          <a:p>
            <a:pPr marL="0" indent="0" algn="l">
              <a:lnSpc>
                <a:spcPts val="2511"/>
              </a:lnSpc>
              <a:buNone/>
            </a:pPr>
            <a:r>
              <a:rPr lang="en-US" sz="2008" b="1" dirty="0">
                <a:solidFill>
                  <a:srgbClr val="5B5F71"/>
                </a:solidFill>
                <a:latin typeface="Instrument Sans" pitchFamily="34" charset="0"/>
                <a:ea typeface="Instrument Sans" pitchFamily="34" charset="-122"/>
                <a:cs typeface="Instrument Sans" pitchFamily="34" charset="-120"/>
              </a:rPr>
              <a:t>Subtype 3</a:t>
            </a:r>
            <a:endParaRPr lang="en-US" sz="2008" dirty="0"/>
          </a:p>
        </p:txBody>
      </p:sp>
      <p:sp>
        <p:nvSpPr>
          <p:cNvPr id="23" name="Text 16"/>
          <p:cNvSpPr/>
          <p:nvPr/>
        </p:nvSpPr>
        <p:spPr>
          <a:xfrm>
            <a:off x="7494746" y="5931337"/>
            <a:ext cx="1864638" cy="326469"/>
          </a:xfrm>
          <a:prstGeom prst="rect">
            <a:avLst/>
          </a:prstGeom>
          <a:noFill/>
          <a:ln/>
        </p:spPr>
        <p:txBody>
          <a:bodyPr wrap="none" rtlCol="0" anchor="t"/>
          <a:lstStyle/>
          <a:p>
            <a:pPr marL="0" indent="0" algn="l">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More specific entity</a:t>
            </a:r>
            <a:endParaRPr lang="en-US" sz="1607" dirty="0"/>
          </a:p>
        </p:txBody>
      </p:sp>
      <p:sp>
        <p:nvSpPr>
          <p:cNvPr id="24" name="Text 17"/>
          <p:cNvSpPr/>
          <p:nvPr/>
        </p:nvSpPr>
        <p:spPr>
          <a:xfrm>
            <a:off x="2468761" y="6691313"/>
            <a:ext cx="9692759" cy="979408"/>
          </a:xfrm>
          <a:prstGeom prst="rect">
            <a:avLst/>
          </a:prstGeom>
          <a:noFill/>
          <a:ln/>
        </p:spPr>
        <p:txBody>
          <a:bodyPr wrap="square" rtlCol="0" anchor="t"/>
          <a:lstStyle/>
          <a:p>
            <a:pPr marL="0" indent="0">
              <a:lnSpc>
                <a:spcPts val="2571"/>
              </a:lnSpc>
              <a:buNone/>
            </a:pPr>
            <a:r>
              <a:rPr lang="en-US" sz="1607" dirty="0">
                <a:solidFill>
                  <a:srgbClr val="5B5F71"/>
                </a:solidFill>
                <a:latin typeface="Instrument Sans" pitchFamily="34" charset="0"/>
                <a:ea typeface="Instrument Sans" pitchFamily="34" charset="-122"/>
                <a:cs typeface="Instrument Sans" pitchFamily="34" charset="-120"/>
              </a:rPr>
              <a:t>Generalization in EERM allows you to model a hierarchy, where a supertype entity represents a general concept, and subtypes inherit its attributes and relationships. This enables more precise and expressive data modeling, capturing nuanced distinctions within a domain.</a:t>
            </a:r>
            <a:endParaRPr lang="en-US" sz="160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2037993" y="1250394"/>
            <a:ext cx="5780365"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Relationships in EERM</a:t>
            </a:r>
            <a:endParaRPr lang="en-US" sz="4374" dirty="0"/>
          </a:p>
        </p:txBody>
      </p:sp>
      <p:sp>
        <p:nvSpPr>
          <p:cNvPr id="5" name="Shape 2"/>
          <p:cNvSpPr/>
          <p:nvPr/>
        </p:nvSpPr>
        <p:spPr>
          <a:xfrm>
            <a:off x="2267783" y="2389108"/>
            <a:ext cx="5166122" cy="2006203"/>
          </a:xfrm>
          <a:prstGeom prst="roundRect">
            <a:avLst>
              <a:gd name="adj" fmla="val 4984"/>
            </a:avLst>
          </a:prstGeom>
          <a:solidFill>
            <a:srgbClr val="E3E4E8"/>
          </a:solidFill>
          <a:ln w="7620">
            <a:solidFill>
              <a:srgbClr val="C9CACE"/>
            </a:solidFill>
            <a:prstDash val="solid"/>
          </a:ln>
        </p:spPr>
      </p:sp>
      <p:sp>
        <p:nvSpPr>
          <p:cNvPr id="6" name="Text 3"/>
          <p:cNvSpPr/>
          <p:nvPr/>
        </p:nvSpPr>
        <p:spPr>
          <a:xfrm>
            <a:off x="2267783" y="2618899"/>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Entity Relationships</a:t>
            </a:r>
            <a:endParaRPr lang="en-US" sz="2187" dirty="0"/>
          </a:p>
        </p:txBody>
      </p:sp>
      <p:sp>
        <p:nvSpPr>
          <p:cNvPr id="7" name="Text 4"/>
          <p:cNvSpPr/>
          <p:nvPr/>
        </p:nvSpPr>
        <p:spPr>
          <a:xfrm>
            <a:off x="2497573" y="3099316"/>
            <a:ext cx="4706541"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models the complex relationships between entities, capturing the connections and dependencies that exist in the real world.</a:t>
            </a:r>
            <a:endParaRPr lang="en-US" sz="1750" dirty="0"/>
          </a:p>
        </p:txBody>
      </p:sp>
      <p:sp>
        <p:nvSpPr>
          <p:cNvPr id="8" name="Shape 5"/>
          <p:cNvSpPr/>
          <p:nvPr/>
        </p:nvSpPr>
        <p:spPr>
          <a:xfrm>
            <a:off x="7426285" y="2389108"/>
            <a:ext cx="5166122" cy="2006203"/>
          </a:xfrm>
          <a:prstGeom prst="roundRect">
            <a:avLst>
              <a:gd name="adj" fmla="val 4984"/>
            </a:avLst>
          </a:prstGeom>
          <a:solidFill>
            <a:srgbClr val="E3E4E8"/>
          </a:solidFill>
          <a:ln w="7620">
            <a:solidFill>
              <a:srgbClr val="C9CACE"/>
            </a:solidFill>
            <a:prstDash val="solid"/>
          </a:ln>
        </p:spPr>
      </p:sp>
      <p:sp>
        <p:nvSpPr>
          <p:cNvPr id="9" name="Text 6"/>
          <p:cNvSpPr/>
          <p:nvPr/>
        </p:nvSpPr>
        <p:spPr>
          <a:xfrm>
            <a:off x="7885866" y="2618899"/>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Cardinality</a:t>
            </a:r>
            <a:endParaRPr lang="en-US" sz="2187" dirty="0"/>
          </a:p>
        </p:txBody>
      </p:sp>
      <p:sp>
        <p:nvSpPr>
          <p:cNvPr id="10" name="Text 7"/>
          <p:cNvSpPr/>
          <p:nvPr/>
        </p:nvSpPr>
        <p:spPr>
          <a:xfrm>
            <a:off x="7885866" y="3099316"/>
            <a:ext cx="4706541"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Cardinality specifies the number of instances of one entity that can be associated with a single instance of a related entity.</a:t>
            </a:r>
            <a:endParaRPr lang="en-US" sz="1750" dirty="0"/>
          </a:p>
        </p:txBody>
      </p:sp>
      <p:sp>
        <p:nvSpPr>
          <p:cNvPr id="11" name="Shape 8"/>
          <p:cNvSpPr/>
          <p:nvPr/>
        </p:nvSpPr>
        <p:spPr>
          <a:xfrm>
            <a:off x="2267783" y="4617482"/>
            <a:ext cx="5166122" cy="2361605"/>
          </a:xfrm>
          <a:prstGeom prst="roundRect">
            <a:avLst>
              <a:gd name="adj" fmla="val 4234"/>
            </a:avLst>
          </a:prstGeom>
          <a:solidFill>
            <a:srgbClr val="E3E4E8"/>
          </a:solidFill>
          <a:ln w="7620">
            <a:solidFill>
              <a:srgbClr val="C9CACE"/>
            </a:solidFill>
            <a:prstDash val="solid"/>
          </a:ln>
        </p:spPr>
      </p:sp>
      <p:sp>
        <p:nvSpPr>
          <p:cNvPr id="12" name="Text 9"/>
          <p:cNvSpPr/>
          <p:nvPr/>
        </p:nvSpPr>
        <p:spPr>
          <a:xfrm>
            <a:off x="2497573" y="4847273"/>
            <a:ext cx="3086219"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Recursive Relationships</a:t>
            </a:r>
            <a:endParaRPr lang="en-US" sz="2187" dirty="0"/>
          </a:p>
        </p:txBody>
      </p:sp>
      <p:sp>
        <p:nvSpPr>
          <p:cNvPr id="13" name="Text 10"/>
          <p:cNvSpPr/>
          <p:nvPr/>
        </p:nvSpPr>
        <p:spPr>
          <a:xfrm>
            <a:off x="2267783" y="5327690"/>
            <a:ext cx="470654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allows for modeling recursive relationships, where an entity can be related to itself, such as a manager-employee hierarchy.</a:t>
            </a:r>
            <a:endParaRPr lang="en-US" sz="1750" dirty="0"/>
          </a:p>
        </p:txBody>
      </p:sp>
      <p:sp>
        <p:nvSpPr>
          <p:cNvPr id="14" name="Shape 11"/>
          <p:cNvSpPr/>
          <p:nvPr/>
        </p:nvSpPr>
        <p:spPr>
          <a:xfrm>
            <a:off x="7426285" y="4617482"/>
            <a:ext cx="5166122" cy="2361605"/>
          </a:xfrm>
          <a:prstGeom prst="roundRect">
            <a:avLst>
              <a:gd name="adj" fmla="val 4234"/>
            </a:avLst>
          </a:prstGeom>
          <a:solidFill>
            <a:srgbClr val="E3E4E8"/>
          </a:solidFill>
          <a:ln w="7620">
            <a:solidFill>
              <a:srgbClr val="C9CACE"/>
            </a:solidFill>
            <a:prstDash val="solid"/>
          </a:ln>
        </p:spPr>
      </p:sp>
      <p:sp>
        <p:nvSpPr>
          <p:cNvPr id="15" name="Text 12"/>
          <p:cNvSpPr/>
          <p:nvPr/>
        </p:nvSpPr>
        <p:spPr>
          <a:xfrm>
            <a:off x="7885866" y="4847273"/>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Associative Entities</a:t>
            </a:r>
            <a:endParaRPr lang="en-US" sz="2187" dirty="0"/>
          </a:p>
        </p:txBody>
      </p:sp>
      <p:sp>
        <p:nvSpPr>
          <p:cNvPr id="16" name="Text 13"/>
          <p:cNvSpPr/>
          <p:nvPr/>
        </p:nvSpPr>
        <p:spPr>
          <a:xfrm>
            <a:off x="7885866" y="5327690"/>
            <a:ext cx="470654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supports the creation of associative entities, which represent the relationship between two other entities and can have their own attributes.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2037993" y="2087761"/>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Attributes in EERM</a:t>
            </a:r>
            <a:endParaRPr lang="en-US" sz="4374" dirty="0"/>
          </a:p>
        </p:txBody>
      </p:sp>
      <p:sp>
        <p:nvSpPr>
          <p:cNvPr id="5" name="Text 2"/>
          <p:cNvSpPr/>
          <p:nvPr/>
        </p:nvSpPr>
        <p:spPr>
          <a:xfrm>
            <a:off x="2037993" y="3226475"/>
            <a:ext cx="10554414"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In EERM, attributes are the specific pieces of information that define and describe each entity. These can include unique </a:t>
            </a:r>
            <a:r>
              <a:rPr lang="en-US" sz="1750" b="1" dirty="0">
                <a:solidFill>
                  <a:srgbClr val="5B5F71"/>
                </a:solidFill>
                <a:latin typeface="Instrument Sans" pitchFamily="34" charset="0"/>
                <a:ea typeface="Instrument Sans" pitchFamily="34" charset="-122"/>
                <a:cs typeface="Instrument Sans" pitchFamily="34" charset="-120"/>
              </a:rPr>
              <a:t>identifiers</a:t>
            </a:r>
            <a:r>
              <a:rPr lang="en-US" sz="1750" dirty="0">
                <a:solidFill>
                  <a:srgbClr val="5B5F71"/>
                </a:solidFill>
                <a:latin typeface="Instrument Sans" pitchFamily="34" charset="0"/>
                <a:ea typeface="Instrument Sans" pitchFamily="34" charset="-122"/>
                <a:cs typeface="Instrument Sans" pitchFamily="34" charset="-120"/>
              </a:rPr>
              <a:t>, key </a:t>
            </a:r>
            <a:r>
              <a:rPr lang="en-US" sz="1750" u="sng" dirty="0">
                <a:solidFill>
                  <a:srgbClr val="5B5F71"/>
                </a:solidFill>
                <a:latin typeface="Instrument Sans" pitchFamily="34" charset="0"/>
                <a:ea typeface="Instrument Sans" pitchFamily="34" charset="-122"/>
                <a:cs typeface="Instrument Sans" pitchFamily="34" charset="-120"/>
              </a:rPr>
              <a:t>characteristics</a:t>
            </a:r>
            <a:r>
              <a:rPr lang="en-US" sz="1750" dirty="0">
                <a:solidFill>
                  <a:srgbClr val="5B5F71"/>
                </a:solidFill>
                <a:latin typeface="Instrument Sans" pitchFamily="34" charset="0"/>
                <a:ea typeface="Instrument Sans" pitchFamily="34" charset="-122"/>
                <a:cs typeface="Instrument Sans" pitchFamily="34" charset="-120"/>
              </a:rPr>
              <a:t>, and other </a:t>
            </a:r>
            <a:r>
              <a:rPr lang="en-US" sz="1750" b="1" dirty="0">
                <a:solidFill>
                  <a:srgbClr val="5B5F71"/>
                </a:solidFill>
                <a:latin typeface="Instrument Sans" pitchFamily="34" charset="0"/>
                <a:ea typeface="Instrument Sans" pitchFamily="34" charset="-122"/>
                <a:cs typeface="Instrument Sans" pitchFamily="34" charset="-120"/>
              </a:rPr>
              <a:t>details</a:t>
            </a:r>
            <a:r>
              <a:rPr lang="en-US" sz="1750" dirty="0">
                <a:solidFill>
                  <a:srgbClr val="5B5F71"/>
                </a:solidFill>
                <a:latin typeface="Instrument Sans" pitchFamily="34" charset="0"/>
                <a:ea typeface="Instrument Sans" pitchFamily="34" charset="-122"/>
                <a:cs typeface="Instrument Sans" pitchFamily="34" charset="-120"/>
              </a:rPr>
              <a:t> that help paint a comprehensive picture of the entity and its relationships.</a:t>
            </a:r>
            <a:endParaRPr lang="en-US" sz="1750" dirty="0"/>
          </a:p>
        </p:txBody>
      </p:sp>
      <p:sp>
        <p:nvSpPr>
          <p:cNvPr id="6" name="Text 3"/>
          <p:cNvSpPr/>
          <p:nvPr/>
        </p:nvSpPr>
        <p:spPr>
          <a:xfrm>
            <a:off x="2393394" y="4542592"/>
            <a:ext cx="10199013" cy="355402"/>
          </a:xfrm>
          <a:prstGeom prst="rect">
            <a:avLst/>
          </a:prstGeom>
          <a:noFill/>
          <a:ln/>
        </p:spPr>
        <p:txBody>
          <a:bodyPr wrap="none" rtlCol="0" anchor="t"/>
          <a:lstStyle/>
          <a:p>
            <a:pPr marL="342900" indent="-342900" algn="l">
              <a:lnSpc>
                <a:spcPts val="2799"/>
              </a:lnSpc>
              <a:buSzPct val="100000"/>
              <a:buFont typeface="+mj-lt"/>
              <a:buAutoNum type="arabicPeriod"/>
            </a:pPr>
            <a:r>
              <a:rPr lang="en-US" sz="1750" dirty="0">
                <a:solidFill>
                  <a:srgbClr val="5B5F71"/>
                </a:solidFill>
                <a:latin typeface="Instrument Sans" pitchFamily="34" charset="0"/>
                <a:ea typeface="Instrument Sans" pitchFamily="34" charset="-122"/>
                <a:cs typeface="Instrument Sans" pitchFamily="34" charset="-120"/>
              </a:rPr>
              <a:t>Identifiers: Unique codes, numbers, or names that distinguish one entity instance from another.</a:t>
            </a:r>
            <a:endParaRPr lang="en-US" sz="1750" dirty="0"/>
          </a:p>
        </p:txBody>
      </p:sp>
      <p:sp>
        <p:nvSpPr>
          <p:cNvPr id="7" name="Text 4"/>
          <p:cNvSpPr/>
          <p:nvPr/>
        </p:nvSpPr>
        <p:spPr>
          <a:xfrm>
            <a:off x="2393394" y="4986814"/>
            <a:ext cx="10199013" cy="355402"/>
          </a:xfrm>
          <a:prstGeom prst="rect">
            <a:avLst/>
          </a:prstGeom>
          <a:noFill/>
          <a:ln/>
        </p:spPr>
        <p:txBody>
          <a:bodyPr wrap="none" rtlCol="0" anchor="t"/>
          <a:lstStyle/>
          <a:p>
            <a:pPr marL="342900" indent="-342900" algn="l">
              <a:lnSpc>
                <a:spcPts val="2799"/>
              </a:lnSpc>
              <a:buSzPct val="100000"/>
              <a:buFont typeface="+mj-lt"/>
              <a:buAutoNum type="arabicPeriod" startAt="2"/>
            </a:pPr>
            <a:r>
              <a:rPr lang="en-US" sz="1750" dirty="0">
                <a:solidFill>
                  <a:srgbClr val="5B5F71"/>
                </a:solidFill>
                <a:latin typeface="Instrument Sans" pitchFamily="34" charset="0"/>
                <a:ea typeface="Instrument Sans" pitchFamily="34" charset="-122"/>
                <a:cs typeface="Instrument Sans" pitchFamily="34" charset="-120"/>
              </a:rPr>
              <a:t>Characteristics: Descriptive properties like size, color, price, or any other relevant details.</a:t>
            </a:r>
            <a:endParaRPr lang="en-US" sz="1750" dirty="0"/>
          </a:p>
        </p:txBody>
      </p:sp>
      <p:sp>
        <p:nvSpPr>
          <p:cNvPr id="8" name="Text 5"/>
          <p:cNvSpPr/>
          <p:nvPr/>
        </p:nvSpPr>
        <p:spPr>
          <a:xfrm>
            <a:off x="2393394" y="5431036"/>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dirty="0">
                <a:solidFill>
                  <a:srgbClr val="5B5F71"/>
                </a:solidFill>
                <a:latin typeface="Instrument Sans" pitchFamily="34" charset="0"/>
                <a:ea typeface="Instrument Sans" pitchFamily="34" charset="-122"/>
                <a:cs typeface="Instrument Sans" pitchFamily="34" charset="-120"/>
              </a:rPr>
              <a:t>Relationships: Attributes that capture the connections between entities, such as a customer's order history or an employee's manager.</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2037993" y="680204"/>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Cardinality in EERM</a:t>
            </a:r>
            <a:endParaRPr lang="en-US" sz="4374" dirty="0"/>
          </a:p>
        </p:txBody>
      </p:sp>
      <p:sp>
        <p:nvSpPr>
          <p:cNvPr id="5" name="Text 2"/>
          <p:cNvSpPr/>
          <p:nvPr/>
        </p:nvSpPr>
        <p:spPr>
          <a:xfrm>
            <a:off x="2037993" y="1818918"/>
            <a:ext cx="10554414"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Cardinality in EERM specifies the numerical relationship between instances of two entities. It defines the minimum and maximum number of instances of one entity that can be associated with a single instance of another entity.</a:t>
            </a:r>
            <a:endParaRPr lang="en-US" sz="1750" dirty="0"/>
          </a:p>
        </p:txBody>
      </p:sp>
      <p:sp>
        <p:nvSpPr>
          <p:cNvPr id="6" name="Shape 3"/>
          <p:cNvSpPr/>
          <p:nvPr/>
        </p:nvSpPr>
        <p:spPr>
          <a:xfrm>
            <a:off x="2037993" y="3135035"/>
            <a:ext cx="10554414" cy="4414361"/>
          </a:xfrm>
          <a:prstGeom prst="roundRect">
            <a:avLst>
              <a:gd name="adj" fmla="val 2265"/>
            </a:avLst>
          </a:prstGeom>
          <a:noFill/>
          <a:ln w="7620">
            <a:solidFill>
              <a:srgbClr val="000000">
                <a:alpha val="8000"/>
              </a:srgbClr>
            </a:solidFill>
            <a:prstDash val="solid"/>
          </a:ln>
        </p:spPr>
      </p:sp>
      <p:sp>
        <p:nvSpPr>
          <p:cNvPr id="7" name="Shape 4"/>
          <p:cNvSpPr/>
          <p:nvPr/>
        </p:nvSpPr>
        <p:spPr>
          <a:xfrm>
            <a:off x="2045613" y="3142655"/>
            <a:ext cx="10539174" cy="992505"/>
          </a:xfrm>
          <a:prstGeom prst="rect">
            <a:avLst/>
          </a:prstGeom>
          <a:solidFill>
            <a:srgbClr val="FFFFFF">
              <a:alpha val="4000"/>
            </a:srgbClr>
          </a:solidFill>
          <a:ln/>
        </p:spPr>
      </p:sp>
      <p:sp>
        <p:nvSpPr>
          <p:cNvPr id="8" name="Text 5"/>
          <p:cNvSpPr/>
          <p:nvPr/>
        </p:nvSpPr>
        <p:spPr>
          <a:xfrm>
            <a:off x="2267783" y="3283506"/>
            <a:ext cx="4821436" cy="355402"/>
          </a:xfrm>
          <a:prstGeom prst="rect">
            <a:avLst/>
          </a:prstGeom>
          <a:noFill/>
          <a:ln/>
        </p:spPr>
        <p:txBody>
          <a:bodyPr wrap="non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One-to-One</a:t>
            </a:r>
            <a:endParaRPr lang="en-US" sz="1750" dirty="0"/>
          </a:p>
        </p:txBody>
      </p:sp>
      <p:sp>
        <p:nvSpPr>
          <p:cNvPr id="9" name="Text 6"/>
          <p:cNvSpPr/>
          <p:nvPr/>
        </p:nvSpPr>
        <p:spPr>
          <a:xfrm>
            <a:off x="7541181" y="3283506"/>
            <a:ext cx="4821436" cy="710803"/>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Each instance of an entity is related to at most one instance of another entity, and vice versa.</a:t>
            </a:r>
            <a:endParaRPr lang="en-US" sz="1750" dirty="0"/>
          </a:p>
        </p:txBody>
      </p:sp>
      <p:sp>
        <p:nvSpPr>
          <p:cNvPr id="10" name="Shape 7"/>
          <p:cNvSpPr/>
          <p:nvPr/>
        </p:nvSpPr>
        <p:spPr>
          <a:xfrm>
            <a:off x="2045613" y="4135160"/>
            <a:ext cx="10539174" cy="1703308"/>
          </a:xfrm>
          <a:prstGeom prst="rect">
            <a:avLst/>
          </a:prstGeom>
          <a:solidFill>
            <a:srgbClr val="000000">
              <a:alpha val="4000"/>
            </a:srgbClr>
          </a:solidFill>
          <a:ln/>
        </p:spPr>
      </p:sp>
      <p:sp>
        <p:nvSpPr>
          <p:cNvPr id="11" name="Text 8"/>
          <p:cNvSpPr/>
          <p:nvPr/>
        </p:nvSpPr>
        <p:spPr>
          <a:xfrm>
            <a:off x="2267783" y="4276011"/>
            <a:ext cx="4821436" cy="355402"/>
          </a:xfrm>
          <a:prstGeom prst="rect">
            <a:avLst/>
          </a:prstGeom>
          <a:noFill/>
          <a:ln/>
        </p:spPr>
        <p:txBody>
          <a:bodyPr wrap="non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One-to-Many</a:t>
            </a:r>
            <a:endParaRPr lang="en-US" sz="1750" dirty="0"/>
          </a:p>
        </p:txBody>
      </p:sp>
      <p:sp>
        <p:nvSpPr>
          <p:cNvPr id="12" name="Text 9"/>
          <p:cNvSpPr/>
          <p:nvPr/>
        </p:nvSpPr>
        <p:spPr>
          <a:xfrm>
            <a:off x="7541181" y="4276011"/>
            <a:ext cx="4821436"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Each instance of an entity can be related to multiple instances of another entity, but each instance of the second entity is related to at most one instance of the first.</a:t>
            </a:r>
            <a:endParaRPr lang="en-US" sz="1750" dirty="0"/>
          </a:p>
        </p:txBody>
      </p:sp>
      <p:sp>
        <p:nvSpPr>
          <p:cNvPr id="13" name="Shape 10"/>
          <p:cNvSpPr/>
          <p:nvPr/>
        </p:nvSpPr>
        <p:spPr>
          <a:xfrm>
            <a:off x="2045613" y="5838468"/>
            <a:ext cx="10539174" cy="1703308"/>
          </a:xfrm>
          <a:prstGeom prst="rect">
            <a:avLst/>
          </a:prstGeom>
          <a:solidFill>
            <a:srgbClr val="FFFFFF">
              <a:alpha val="4000"/>
            </a:srgbClr>
          </a:solidFill>
          <a:ln/>
        </p:spPr>
      </p:sp>
      <p:sp>
        <p:nvSpPr>
          <p:cNvPr id="14" name="Text 11"/>
          <p:cNvSpPr/>
          <p:nvPr/>
        </p:nvSpPr>
        <p:spPr>
          <a:xfrm>
            <a:off x="2267783" y="5979319"/>
            <a:ext cx="4821436" cy="355402"/>
          </a:xfrm>
          <a:prstGeom prst="rect">
            <a:avLst/>
          </a:prstGeom>
          <a:noFill/>
          <a:ln/>
        </p:spPr>
        <p:txBody>
          <a:bodyPr wrap="non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Many-to-Many</a:t>
            </a:r>
            <a:endParaRPr lang="en-US" sz="1750" dirty="0"/>
          </a:p>
        </p:txBody>
      </p:sp>
      <p:sp>
        <p:nvSpPr>
          <p:cNvPr id="15" name="Text 12"/>
          <p:cNvSpPr/>
          <p:nvPr/>
        </p:nvSpPr>
        <p:spPr>
          <a:xfrm>
            <a:off x="7541181" y="5979319"/>
            <a:ext cx="4821436"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Each instance of an entity can be related to multiple instances of another entity, and each instance of the second entity can also be related to multiple instances of the first.</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927021"/>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Advantages of EERM</a:t>
            </a:r>
            <a:endParaRPr lang="en-US" sz="4374" dirty="0"/>
          </a:p>
        </p:txBody>
      </p:sp>
      <p:sp>
        <p:nvSpPr>
          <p:cNvPr id="5" name="Shape 2"/>
          <p:cNvSpPr/>
          <p:nvPr/>
        </p:nvSpPr>
        <p:spPr>
          <a:xfrm>
            <a:off x="2037993" y="2239328"/>
            <a:ext cx="499943" cy="499943"/>
          </a:xfrm>
          <a:prstGeom prst="roundRect">
            <a:avLst>
              <a:gd name="adj" fmla="val 20000"/>
            </a:avLst>
          </a:prstGeom>
          <a:solidFill>
            <a:srgbClr val="E3E4E8"/>
          </a:solidFill>
          <a:ln w="7620">
            <a:solidFill>
              <a:srgbClr val="C9CACE"/>
            </a:solidFill>
            <a:prstDash val="solid"/>
          </a:ln>
        </p:spPr>
      </p:sp>
      <p:sp>
        <p:nvSpPr>
          <p:cNvPr id="6" name="Text 3"/>
          <p:cNvSpPr/>
          <p:nvPr/>
        </p:nvSpPr>
        <p:spPr>
          <a:xfrm>
            <a:off x="2223373" y="2280999"/>
            <a:ext cx="129064"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1</a:t>
            </a:r>
            <a:endParaRPr lang="en-US" sz="2624" dirty="0"/>
          </a:p>
        </p:txBody>
      </p:sp>
      <p:sp>
        <p:nvSpPr>
          <p:cNvPr id="7" name="Text 4"/>
          <p:cNvSpPr/>
          <p:nvPr/>
        </p:nvSpPr>
        <p:spPr>
          <a:xfrm>
            <a:off x="2760107" y="2315647"/>
            <a:ext cx="321052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Improved Data Modeling</a:t>
            </a:r>
            <a:endParaRPr lang="en-US" sz="2187" dirty="0"/>
          </a:p>
        </p:txBody>
      </p:sp>
      <p:sp>
        <p:nvSpPr>
          <p:cNvPr id="8" name="Text 5"/>
          <p:cNvSpPr/>
          <p:nvPr/>
        </p:nvSpPr>
        <p:spPr>
          <a:xfrm>
            <a:off x="2760107" y="2796064"/>
            <a:ext cx="4444008"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allows for more comprehensive and accurate modeling of complex entities, relationships, and business rules, leading to better data integrity and understanding.</a:t>
            </a:r>
            <a:endParaRPr lang="en-US" sz="1750" dirty="0"/>
          </a:p>
        </p:txBody>
      </p:sp>
      <p:sp>
        <p:nvSpPr>
          <p:cNvPr id="9" name="Shape 6"/>
          <p:cNvSpPr/>
          <p:nvPr/>
        </p:nvSpPr>
        <p:spPr>
          <a:xfrm>
            <a:off x="7426285" y="2239328"/>
            <a:ext cx="499943" cy="499943"/>
          </a:xfrm>
          <a:prstGeom prst="roundRect">
            <a:avLst>
              <a:gd name="adj" fmla="val 20000"/>
            </a:avLst>
          </a:prstGeom>
          <a:solidFill>
            <a:srgbClr val="E3E4E8"/>
          </a:solidFill>
          <a:ln w="7620">
            <a:solidFill>
              <a:srgbClr val="C9CACE"/>
            </a:solidFill>
            <a:prstDash val="solid"/>
          </a:ln>
        </p:spPr>
      </p:sp>
      <p:sp>
        <p:nvSpPr>
          <p:cNvPr id="10" name="Text 7"/>
          <p:cNvSpPr/>
          <p:nvPr/>
        </p:nvSpPr>
        <p:spPr>
          <a:xfrm>
            <a:off x="7583329" y="2280999"/>
            <a:ext cx="185738"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2</a:t>
            </a:r>
            <a:endParaRPr lang="en-US" sz="2624" dirty="0"/>
          </a:p>
        </p:txBody>
      </p:sp>
      <p:sp>
        <p:nvSpPr>
          <p:cNvPr id="11" name="Text 8"/>
          <p:cNvSpPr/>
          <p:nvPr/>
        </p:nvSpPr>
        <p:spPr>
          <a:xfrm>
            <a:off x="8148399" y="2315647"/>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Enhanced Flexibility</a:t>
            </a:r>
            <a:endParaRPr lang="en-US" sz="2187" dirty="0"/>
          </a:p>
        </p:txBody>
      </p:sp>
      <p:sp>
        <p:nvSpPr>
          <p:cNvPr id="12" name="Text 9"/>
          <p:cNvSpPr/>
          <p:nvPr/>
        </p:nvSpPr>
        <p:spPr>
          <a:xfrm>
            <a:off x="8148399" y="2796064"/>
            <a:ext cx="4444008"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enhanced features of EERM, such as subtypes, supertypes, and associative entities, provide greater flexibility in adapting the data model to changing business requirements.</a:t>
            </a:r>
            <a:endParaRPr lang="en-US" sz="1750" dirty="0"/>
          </a:p>
        </p:txBody>
      </p:sp>
      <p:sp>
        <p:nvSpPr>
          <p:cNvPr id="13" name="Shape 10"/>
          <p:cNvSpPr/>
          <p:nvPr/>
        </p:nvSpPr>
        <p:spPr>
          <a:xfrm>
            <a:off x="2037993" y="4968835"/>
            <a:ext cx="499943" cy="499943"/>
          </a:xfrm>
          <a:prstGeom prst="roundRect">
            <a:avLst>
              <a:gd name="adj" fmla="val 20000"/>
            </a:avLst>
          </a:prstGeom>
          <a:solidFill>
            <a:srgbClr val="E3E4E8"/>
          </a:solidFill>
          <a:ln w="7620">
            <a:solidFill>
              <a:srgbClr val="C9CACE"/>
            </a:solidFill>
            <a:prstDash val="solid"/>
          </a:ln>
        </p:spPr>
      </p:sp>
      <p:sp>
        <p:nvSpPr>
          <p:cNvPr id="14" name="Text 11"/>
          <p:cNvSpPr/>
          <p:nvPr/>
        </p:nvSpPr>
        <p:spPr>
          <a:xfrm>
            <a:off x="2191464" y="5010507"/>
            <a:ext cx="193000"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3</a:t>
            </a:r>
            <a:endParaRPr lang="en-US" sz="2624" dirty="0"/>
          </a:p>
        </p:txBody>
      </p:sp>
      <p:sp>
        <p:nvSpPr>
          <p:cNvPr id="15" name="Text 12"/>
          <p:cNvSpPr/>
          <p:nvPr/>
        </p:nvSpPr>
        <p:spPr>
          <a:xfrm>
            <a:off x="2760107" y="5045154"/>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Increased Clarity</a:t>
            </a:r>
            <a:endParaRPr lang="en-US" sz="2187" dirty="0"/>
          </a:p>
        </p:txBody>
      </p:sp>
      <p:sp>
        <p:nvSpPr>
          <p:cNvPr id="16" name="Text 13"/>
          <p:cNvSpPr/>
          <p:nvPr/>
        </p:nvSpPr>
        <p:spPr>
          <a:xfrm>
            <a:off x="2760107" y="5525572"/>
            <a:ext cx="4444008"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EERM diagrams offer a visually intuitive way to communicate the structure and dependencies within an information system, facilitating better collaboration and understanding among stakeholders.</a:t>
            </a:r>
            <a:endParaRPr lang="en-US" sz="1750" dirty="0"/>
          </a:p>
        </p:txBody>
      </p:sp>
      <p:sp>
        <p:nvSpPr>
          <p:cNvPr id="17" name="Shape 14"/>
          <p:cNvSpPr/>
          <p:nvPr/>
        </p:nvSpPr>
        <p:spPr>
          <a:xfrm>
            <a:off x="7426285" y="4968835"/>
            <a:ext cx="499943" cy="499943"/>
          </a:xfrm>
          <a:prstGeom prst="roundRect">
            <a:avLst>
              <a:gd name="adj" fmla="val 20000"/>
            </a:avLst>
          </a:prstGeom>
          <a:solidFill>
            <a:srgbClr val="E3E4E8"/>
          </a:solidFill>
          <a:ln w="7620">
            <a:solidFill>
              <a:srgbClr val="C9CACE"/>
            </a:solidFill>
            <a:prstDash val="solid"/>
          </a:ln>
        </p:spPr>
      </p:sp>
      <p:sp>
        <p:nvSpPr>
          <p:cNvPr id="18" name="Text 15"/>
          <p:cNvSpPr/>
          <p:nvPr/>
        </p:nvSpPr>
        <p:spPr>
          <a:xfrm>
            <a:off x="7573685" y="5010507"/>
            <a:ext cx="205026" cy="416481"/>
          </a:xfrm>
          <a:prstGeom prst="rect">
            <a:avLst/>
          </a:prstGeom>
          <a:noFill/>
          <a:ln/>
        </p:spPr>
        <p:txBody>
          <a:bodyPr wrap="none" rtlCol="0" anchor="t"/>
          <a:lstStyle/>
          <a:p>
            <a:pPr marL="0" indent="0" algn="ctr">
              <a:lnSpc>
                <a:spcPts val="3281"/>
              </a:lnSpc>
              <a:buNone/>
            </a:pPr>
            <a:r>
              <a:rPr lang="en-US" sz="2624" b="1" dirty="0">
                <a:solidFill>
                  <a:srgbClr val="5B5F71"/>
                </a:solidFill>
                <a:latin typeface="Instrument Sans" pitchFamily="34" charset="0"/>
                <a:ea typeface="Instrument Sans" pitchFamily="34" charset="-122"/>
                <a:cs typeface="Instrument Sans" pitchFamily="34" charset="-120"/>
              </a:rPr>
              <a:t>4</a:t>
            </a:r>
            <a:endParaRPr lang="en-US" sz="2624" dirty="0"/>
          </a:p>
        </p:txBody>
      </p:sp>
      <p:sp>
        <p:nvSpPr>
          <p:cNvPr id="19" name="Text 16"/>
          <p:cNvSpPr/>
          <p:nvPr/>
        </p:nvSpPr>
        <p:spPr>
          <a:xfrm>
            <a:off x="8148399" y="5045154"/>
            <a:ext cx="3137773"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Optimized Performance</a:t>
            </a:r>
            <a:endParaRPr lang="en-US" sz="2187" dirty="0"/>
          </a:p>
        </p:txBody>
      </p:sp>
      <p:sp>
        <p:nvSpPr>
          <p:cNvPr id="20" name="Text 17"/>
          <p:cNvSpPr/>
          <p:nvPr/>
        </p:nvSpPr>
        <p:spPr>
          <a:xfrm>
            <a:off x="8148399" y="5525572"/>
            <a:ext cx="4444008"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detailed physical modeling capabilities of EERM can help identify opportunities for performance optimization, such as indexing and partitioning, leading to more efficient database design.</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14630400" cy="2777490"/>
          </a:xfrm>
          <a:prstGeom prst="rect">
            <a:avLst/>
          </a:prstGeom>
        </p:spPr>
      </p:pic>
      <p:sp>
        <p:nvSpPr>
          <p:cNvPr id="5" name="Text 1"/>
          <p:cNvSpPr/>
          <p:nvPr/>
        </p:nvSpPr>
        <p:spPr>
          <a:xfrm>
            <a:off x="2037993" y="3443168"/>
            <a:ext cx="804541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Conclusion and Key Takeaways</a:t>
            </a:r>
            <a:endParaRPr lang="en-US" sz="4374" dirty="0"/>
          </a:p>
        </p:txBody>
      </p:sp>
      <p:sp>
        <p:nvSpPr>
          <p:cNvPr id="6" name="Text 2"/>
          <p:cNvSpPr/>
          <p:nvPr/>
        </p:nvSpPr>
        <p:spPr>
          <a:xfrm>
            <a:off x="2037993" y="4470797"/>
            <a:ext cx="10554414"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In conclusion, Enhanced Entity Relationship Modeling (EERM) offers a powerful approach to data modeling that goes beyond traditional ER diagrams. By incorporating specialized features like subtypes, supertypes, and associative entities, EERM empowers designers to create more expressive, flexible, and performant database schemas.</a:t>
            </a:r>
            <a:endParaRPr lang="en-US" sz="1750" dirty="0"/>
          </a:p>
        </p:txBody>
      </p:sp>
      <p:sp>
        <p:nvSpPr>
          <p:cNvPr id="7" name="Text 3"/>
          <p:cNvSpPr/>
          <p:nvPr/>
        </p:nvSpPr>
        <p:spPr>
          <a:xfrm>
            <a:off x="2037993" y="6142315"/>
            <a:ext cx="10554414"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key takeaways from our exploration of EERM include the importance of hierarchical relationships, the ability to model nuanced business rules, and the visual clarity that EERM diagrams provide for communicating system architecture. Leveraging these advanced modeling techniques can lead to significant improvements in data integrity, system adaptability, and stakeholder understanding.</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10088880" y="2308860"/>
            <a:ext cx="3611880" cy="3611880"/>
          </a:xfrm>
          <a:prstGeom prst="rect">
            <a:avLst/>
          </a:prstGeom>
        </p:spPr>
      </p:pic>
      <p:sp>
        <p:nvSpPr>
          <p:cNvPr id="6" name="Text 1"/>
          <p:cNvSpPr/>
          <p:nvPr/>
        </p:nvSpPr>
        <p:spPr>
          <a:xfrm>
            <a:off x="833199" y="1799987"/>
            <a:ext cx="7477601" cy="2874645"/>
          </a:xfrm>
          <a:prstGeom prst="rect">
            <a:avLst/>
          </a:prstGeom>
          <a:noFill/>
          <a:ln/>
        </p:spPr>
        <p:txBody>
          <a:bodyPr wrap="square" rtlCol="0" anchor="t"/>
          <a:lstStyle/>
          <a:p>
            <a:pPr marL="0" indent="0">
              <a:lnSpc>
                <a:spcPts val="7545"/>
              </a:lnSpc>
              <a:buNone/>
            </a:pPr>
            <a:r>
              <a:rPr lang="en-US" sz="6036" b="1" dirty="0">
                <a:solidFill>
                  <a:srgbClr val="5B5F72"/>
                </a:solidFill>
                <a:latin typeface="Instrument Sans" pitchFamily="34" charset="0"/>
                <a:ea typeface="Instrument Sans" pitchFamily="34" charset="-122"/>
                <a:cs typeface="Instrument Sans" pitchFamily="34" charset="-120"/>
              </a:rPr>
              <a:t>Introduction to Logical Database Design</a:t>
            </a:r>
            <a:endParaRPr lang="en-US" sz="6036" dirty="0"/>
          </a:p>
        </p:txBody>
      </p:sp>
      <p:sp>
        <p:nvSpPr>
          <p:cNvPr id="7" name="Text 2"/>
          <p:cNvSpPr/>
          <p:nvPr/>
        </p:nvSpPr>
        <p:spPr>
          <a:xfrm>
            <a:off x="833199" y="5007888"/>
            <a:ext cx="747760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Logical database design is a crucial step in creating robust and efficient data systems. This phase focuses on transforming conceptual models into a relational representation, ensuring the integrity and consistency of the data.</a:t>
            </a:r>
            <a:endParaRPr lang="en-US" sz="1750" dirty="0"/>
          </a:p>
        </p:txBody>
      </p:sp>
    </p:spTree>
    <p:extLst>
      <p:ext uri="{BB962C8B-B14F-4D97-AF65-F5344CB8AC3E}">
        <p14:creationId xmlns:p14="http://schemas.microsoft.com/office/powerpoint/2010/main" val="2510445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sp>
        <p:nvSpPr>
          <p:cNvPr id="5" name="Text 1"/>
          <p:cNvSpPr/>
          <p:nvPr/>
        </p:nvSpPr>
        <p:spPr>
          <a:xfrm>
            <a:off x="833199" y="1743313"/>
            <a:ext cx="7477601" cy="1388745"/>
          </a:xfrm>
          <a:prstGeom prst="rect">
            <a:avLst/>
          </a:prstGeom>
          <a:noFill/>
          <a:ln/>
        </p:spPr>
        <p:txBody>
          <a:bodyPr wrap="squar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Relational Model and its Integrity Constraints</a:t>
            </a:r>
            <a:endParaRPr lang="en-US" sz="4374" dirty="0"/>
          </a:p>
        </p:txBody>
      </p:sp>
      <p:sp>
        <p:nvSpPr>
          <p:cNvPr id="6" name="Text 2"/>
          <p:cNvSpPr/>
          <p:nvPr/>
        </p:nvSpPr>
        <p:spPr>
          <a:xfrm>
            <a:off x="1188601" y="3465314"/>
            <a:ext cx="7122200"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dirty="0">
                <a:solidFill>
                  <a:srgbClr val="5B5F71"/>
                </a:solidFill>
                <a:latin typeface="Instrument Sans" pitchFamily="34" charset="0"/>
                <a:ea typeface="Instrument Sans" pitchFamily="34" charset="-122"/>
                <a:cs typeface="Instrument Sans" pitchFamily="34" charset="-120"/>
              </a:rPr>
              <a:t>The </a:t>
            </a:r>
            <a:r>
              <a:rPr lang="en-US" sz="1750" b="1" dirty="0">
                <a:solidFill>
                  <a:srgbClr val="5B5F71"/>
                </a:solidFill>
                <a:latin typeface="Instrument Sans" pitchFamily="34" charset="0"/>
                <a:ea typeface="Instrument Sans" pitchFamily="34" charset="-122"/>
                <a:cs typeface="Instrument Sans" pitchFamily="34" charset="-120"/>
              </a:rPr>
              <a:t>Relational Model</a:t>
            </a:r>
            <a:r>
              <a:rPr lang="en-US" sz="1750" dirty="0">
                <a:solidFill>
                  <a:srgbClr val="5B5F71"/>
                </a:solidFill>
                <a:latin typeface="Instrument Sans" pitchFamily="34" charset="0"/>
                <a:ea typeface="Instrument Sans" pitchFamily="34" charset="-122"/>
                <a:cs typeface="Instrument Sans" pitchFamily="34" charset="-120"/>
              </a:rPr>
              <a:t> organizes data into tables (relations) with rows (tuples) and columns (attributes).</a:t>
            </a:r>
            <a:endParaRPr lang="en-US" sz="1750" dirty="0"/>
          </a:p>
        </p:txBody>
      </p:sp>
      <p:sp>
        <p:nvSpPr>
          <p:cNvPr id="7" name="Text 3"/>
          <p:cNvSpPr/>
          <p:nvPr/>
        </p:nvSpPr>
        <p:spPr>
          <a:xfrm>
            <a:off x="1188601" y="4264938"/>
            <a:ext cx="7122200" cy="1066205"/>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b="1" dirty="0">
                <a:solidFill>
                  <a:srgbClr val="5B5F71"/>
                </a:solidFill>
                <a:latin typeface="Instrument Sans" pitchFamily="34" charset="0"/>
                <a:ea typeface="Instrument Sans" pitchFamily="34" charset="-122"/>
                <a:cs typeface="Instrument Sans" pitchFamily="34" charset="-120"/>
              </a:rPr>
              <a:t>Integrity Constraints</a:t>
            </a:r>
            <a:r>
              <a:rPr lang="en-US" sz="1750" dirty="0">
                <a:solidFill>
                  <a:srgbClr val="5B5F71"/>
                </a:solidFill>
                <a:latin typeface="Instrument Sans" pitchFamily="34" charset="0"/>
                <a:ea typeface="Instrument Sans" pitchFamily="34" charset="-122"/>
                <a:cs typeface="Instrument Sans" pitchFamily="34" charset="-120"/>
              </a:rPr>
              <a:t> are rules that ensure the data remains consistent and valid, including </a:t>
            </a:r>
            <a:r>
              <a:rPr lang="en-US" sz="1750" u="sng" dirty="0">
                <a:solidFill>
                  <a:srgbClr val="5B5F71"/>
                </a:solidFill>
                <a:latin typeface="Instrument Sans" pitchFamily="34" charset="0"/>
                <a:ea typeface="Instrument Sans" pitchFamily="34" charset="-122"/>
                <a:cs typeface="Instrument Sans" pitchFamily="34" charset="-120"/>
              </a:rPr>
              <a:t>domain constraints</a:t>
            </a:r>
            <a:r>
              <a:rPr lang="en-US" sz="1750" dirty="0">
                <a:solidFill>
                  <a:srgbClr val="5B5F71"/>
                </a:solidFill>
                <a:latin typeface="Instrument Sans" pitchFamily="34" charset="0"/>
                <a:ea typeface="Instrument Sans" pitchFamily="34" charset="-122"/>
                <a:cs typeface="Instrument Sans" pitchFamily="34" charset="-120"/>
              </a:rPr>
              <a:t>, </a:t>
            </a:r>
            <a:r>
              <a:rPr lang="en-US" sz="1750" u="sng" dirty="0">
                <a:solidFill>
                  <a:srgbClr val="5B5F71"/>
                </a:solidFill>
                <a:latin typeface="Instrument Sans" pitchFamily="34" charset="0"/>
                <a:ea typeface="Instrument Sans" pitchFamily="34" charset="-122"/>
                <a:cs typeface="Instrument Sans" pitchFamily="34" charset="-120"/>
              </a:rPr>
              <a:t>entity integrity</a:t>
            </a:r>
            <a:r>
              <a:rPr lang="en-US" sz="1750" dirty="0">
                <a:solidFill>
                  <a:srgbClr val="5B5F71"/>
                </a:solidFill>
                <a:latin typeface="Instrument Sans" pitchFamily="34" charset="0"/>
                <a:ea typeface="Instrument Sans" pitchFamily="34" charset="-122"/>
                <a:cs typeface="Instrument Sans" pitchFamily="34" charset="-120"/>
              </a:rPr>
              <a:t>, and </a:t>
            </a:r>
            <a:r>
              <a:rPr lang="en-US" sz="1750" u="sng" dirty="0">
                <a:solidFill>
                  <a:srgbClr val="5B5F71"/>
                </a:solidFill>
                <a:latin typeface="Instrument Sans" pitchFamily="34" charset="0"/>
                <a:ea typeface="Instrument Sans" pitchFamily="34" charset="-122"/>
                <a:cs typeface="Instrument Sans" pitchFamily="34" charset="-120"/>
              </a:rPr>
              <a:t>referential integrity</a:t>
            </a:r>
            <a:r>
              <a:rPr lang="en-US" sz="1750" dirty="0">
                <a:solidFill>
                  <a:srgbClr val="5B5F71"/>
                </a:solidFill>
                <a:latin typeface="Instrument Sans" pitchFamily="34" charset="0"/>
                <a:ea typeface="Instrument Sans" pitchFamily="34" charset="-122"/>
                <a:cs typeface="Instrument Sans" pitchFamily="34" charset="-120"/>
              </a:rPr>
              <a:t>.</a:t>
            </a:r>
            <a:endParaRPr lang="en-US" sz="1750" dirty="0"/>
          </a:p>
        </p:txBody>
      </p:sp>
      <p:sp>
        <p:nvSpPr>
          <p:cNvPr id="8" name="Text 4"/>
          <p:cNvSpPr/>
          <p:nvPr/>
        </p:nvSpPr>
        <p:spPr>
          <a:xfrm>
            <a:off x="1188601" y="5419963"/>
            <a:ext cx="7122200" cy="1066205"/>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dirty="0">
                <a:solidFill>
                  <a:srgbClr val="5B5F71"/>
                </a:solidFill>
                <a:latin typeface="Instrument Sans" pitchFamily="34" charset="0"/>
                <a:ea typeface="Instrument Sans" pitchFamily="34" charset="-122"/>
                <a:cs typeface="Instrument Sans" pitchFamily="34" charset="-120"/>
              </a:rPr>
              <a:t>These constraints protect the </a:t>
            </a:r>
            <a:r>
              <a:rPr lang="en-US" sz="1750" b="1" dirty="0">
                <a:solidFill>
                  <a:srgbClr val="5B5F71"/>
                </a:solidFill>
                <a:latin typeface="Instrument Sans" pitchFamily="34" charset="0"/>
                <a:ea typeface="Instrument Sans" pitchFamily="34" charset="-122"/>
                <a:cs typeface="Instrument Sans" pitchFamily="34" charset="-120"/>
              </a:rPr>
              <a:t>reliability</a:t>
            </a:r>
            <a:r>
              <a:rPr lang="en-US" sz="1750" dirty="0">
                <a:solidFill>
                  <a:srgbClr val="5B5F71"/>
                </a:solidFill>
                <a:latin typeface="Instrument Sans" pitchFamily="34" charset="0"/>
                <a:ea typeface="Instrument Sans" pitchFamily="34" charset="-122"/>
                <a:cs typeface="Instrument Sans" pitchFamily="34" charset="-120"/>
              </a:rPr>
              <a:t> and </a:t>
            </a:r>
            <a:r>
              <a:rPr lang="en-US" sz="1750" b="1" dirty="0">
                <a:solidFill>
                  <a:srgbClr val="5B5F71"/>
                </a:solidFill>
                <a:latin typeface="Instrument Sans" pitchFamily="34" charset="0"/>
                <a:ea typeface="Instrument Sans" pitchFamily="34" charset="-122"/>
                <a:cs typeface="Instrument Sans" pitchFamily="34" charset="-120"/>
              </a:rPr>
              <a:t>quality</a:t>
            </a:r>
            <a:r>
              <a:rPr lang="en-US" sz="1750" dirty="0">
                <a:solidFill>
                  <a:srgbClr val="5B5F71"/>
                </a:solidFill>
                <a:latin typeface="Instrument Sans" pitchFamily="34" charset="0"/>
                <a:ea typeface="Instrument Sans" pitchFamily="34" charset="-122"/>
                <a:cs typeface="Instrument Sans" pitchFamily="34" charset="-120"/>
              </a:rPr>
              <a:t> of the data, preventing invalid or contradictory information from being stored in the database.</a:t>
            </a:r>
            <a:endParaRPr lang="en-US" sz="1750" dirty="0"/>
          </a:p>
        </p:txBody>
      </p:sp>
    </p:spTree>
    <p:extLst>
      <p:ext uri="{BB962C8B-B14F-4D97-AF65-F5344CB8AC3E}">
        <p14:creationId xmlns:p14="http://schemas.microsoft.com/office/powerpoint/2010/main" val="1182989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7620" y="0"/>
            <a:ext cx="5486400" cy="8229600"/>
          </a:xfrm>
          <a:prstGeom prst="rect">
            <a:avLst/>
          </a:prstGeom>
        </p:spPr>
      </p:pic>
      <p:sp>
        <p:nvSpPr>
          <p:cNvPr id="5" name="Text 1"/>
          <p:cNvSpPr/>
          <p:nvPr/>
        </p:nvSpPr>
        <p:spPr>
          <a:xfrm>
            <a:off x="6319599" y="2090499"/>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Domain Constraints</a:t>
            </a:r>
            <a:endParaRPr lang="en-US" sz="4374" dirty="0"/>
          </a:p>
        </p:txBody>
      </p:sp>
      <p:sp>
        <p:nvSpPr>
          <p:cNvPr id="6" name="Text 2"/>
          <p:cNvSpPr/>
          <p:nvPr/>
        </p:nvSpPr>
        <p:spPr>
          <a:xfrm>
            <a:off x="6675001" y="3118128"/>
            <a:ext cx="7122200"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5B5F71"/>
                </a:solidFill>
                <a:latin typeface="Instrument Sans" pitchFamily="34" charset="0"/>
                <a:ea typeface="Instrument Sans" pitchFamily="34" charset="-122"/>
                <a:cs typeface="Instrument Sans" pitchFamily="34" charset="-120"/>
              </a:rPr>
              <a:t>Data Type Constraints:</a:t>
            </a:r>
            <a:r>
              <a:rPr lang="en-US" sz="1750" dirty="0">
                <a:solidFill>
                  <a:srgbClr val="5B5F71"/>
                </a:solidFill>
                <a:latin typeface="Instrument Sans" pitchFamily="34" charset="0"/>
                <a:ea typeface="Instrument Sans" pitchFamily="34" charset="-122"/>
                <a:cs typeface="Instrument Sans" pitchFamily="34" charset="-120"/>
              </a:rPr>
              <a:t> Ensure that data stored in each attribute matches the specified data type, such as integers, strings, or dates.</a:t>
            </a:r>
            <a:endParaRPr lang="en-US" sz="1750" dirty="0"/>
          </a:p>
        </p:txBody>
      </p:sp>
      <p:sp>
        <p:nvSpPr>
          <p:cNvPr id="7" name="Text 3"/>
          <p:cNvSpPr/>
          <p:nvPr/>
        </p:nvSpPr>
        <p:spPr>
          <a:xfrm>
            <a:off x="6675001" y="3917752"/>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5B5F71"/>
                </a:solidFill>
                <a:latin typeface="Instrument Sans" pitchFamily="34" charset="0"/>
                <a:ea typeface="Instrument Sans" pitchFamily="34" charset="-122"/>
                <a:cs typeface="Instrument Sans" pitchFamily="34" charset="-120"/>
              </a:rPr>
              <a:t>Range Constraints:</a:t>
            </a:r>
            <a:r>
              <a:rPr lang="en-US" sz="1750" dirty="0">
                <a:solidFill>
                  <a:srgbClr val="5B5F71"/>
                </a:solidFill>
                <a:latin typeface="Instrument Sans" pitchFamily="34" charset="0"/>
                <a:ea typeface="Instrument Sans" pitchFamily="34" charset="-122"/>
                <a:cs typeface="Instrument Sans" pitchFamily="34" charset="-120"/>
              </a:rPr>
              <a:t> Limit the acceptable values for an attribute to a specific range, such as ages between 0 and 120 or salaries between $30,000 and $150,000.</a:t>
            </a:r>
            <a:endParaRPr lang="en-US" sz="1750" dirty="0"/>
          </a:p>
        </p:txBody>
      </p:sp>
      <p:sp>
        <p:nvSpPr>
          <p:cNvPr id="8" name="Text 4"/>
          <p:cNvSpPr/>
          <p:nvPr/>
        </p:nvSpPr>
        <p:spPr>
          <a:xfrm>
            <a:off x="6675001" y="5072777"/>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5B5F71"/>
                </a:solidFill>
                <a:latin typeface="Instrument Sans" pitchFamily="34" charset="0"/>
                <a:ea typeface="Instrument Sans" pitchFamily="34" charset="-122"/>
                <a:cs typeface="Instrument Sans" pitchFamily="34" charset="-120"/>
              </a:rPr>
              <a:t>Enumeration Constraints:</a:t>
            </a:r>
            <a:r>
              <a:rPr lang="en-US" sz="1750" dirty="0">
                <a:solidFill>
                  <a:srgbClr val="5B5F71"/>
                </a:solidFill>
                <a:latin typeface="Instrument Sans" pitchFamily="34" charset="0"/>
                <a:ea typeface="Instrument Sans" pitchFamily="34" charset="-122"/>
                <a:cs typeface="Instrument Sans" pitchFamily="34" charset="-120"/>
              </a:rPr>
              <a:t> Restrict an attribute to a predefined set of valid values, like gender (male, female, other) or account status (active, inactive, pending).</a:t>
            </a:r>
            <a:endParaRPr lang="en-US" sz="1750" dirty="0"/>
          </a:p>
        </p:txBody>
      </p:sp>
    </p:spTree>
    <p:extLst>
      <p:ext uri="{BB962C8B-B14F-4D97-AF65-F5344CB8AC3E}">
        <p14:creationId xmlns:p14="http://schemas.microsoft.com/office/powerpoint/2010/main" val="4007201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2390418"/>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Entity Integrity</a:t>
            </a:r>
            <a:endParaRPr lang="en-US" sz="4374" dirty="0"/>
          </a:p>
        </p:txBody>
      </p:sp>
      <p:sp>
        <p:nvSpPr>
          <p:cNvPr id="5" name="Text 2"/>
          <p:cNvSpPr/>
          <p:nvPr/>
        </p:nvSpPr>
        <p:spPr>
          <a:xfrm>
            <a:off x="2393394" y="3529132"/>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5B5F71"/>
                </a:solidFill>
                <a:latin typeface="Instrument Sans" pitchFamily="34" charset="0"/>
                <a:ea typeface="Instrument Sans" pitchFamily="34" charset="-122"/>
                <a:cs typeface="Instrument Sans" pitchFamily="34" charset="-120"/>
              </a:rPr>
              <a:t>Primary Key Constraint:</a:t>
            </a:r>
            <a:r>
              <a:rPr lang="en-US" sz="1750" dirty="0">
                <a:solidFill>
                  <a:srgbClr val="5B5F71"/>
                </a:solidFill>
                <a:latin typeface="Instrument Sans" pitchFamily="34" charset="0"/>
                <a:ea typeface="Instrument Sans" pitchFamily="34" charset="-122"/>
                <a:cs typeface="Instrument Sans" pitchFamily="34" charset="-120"/>
              </a:rPr>
              <a:t> Ensures that each tuple (row) in a relation (table) has a unique identifier, known as a primary key, to differentiate it from other tuples.</a:t>
            </a:r>
            <a:endParaRPr lang="en-US" sz="1750" dirty="0"/>
          </a:p>
        </p:txBody>
      </p:sp>
      <p:sp>
        <p:nvSpPr>
          <p:cNvPr id="6" name="Text 3"/>
          <p:cNvSpPr/>
          <p:nvPr/>
        </p:nvSpPr>
        <p:spPr>
          <a:xfrm>
            <a:off x="2393394" y="4328755"/>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5B5F71"/>
                </a:solidFill>
                <a:latin typeface="Instrument Sans" pitchFamily="34" charset="0"/>
                <a:ea typeface="Instrument Sans" pitchFamily="34" charset="-122"/>
                <a:cs typeface="Instrument Sans" pitchFamily="34" charset="-120"/>
              </a:rPr>
              <a:t>Uniqueness Constraint:</a:t>
            </a:r>
            <a:r>
              <a:rPr lang="en-US" sz="1750" dirty="0">
                <a:solidFill>
                  <a:srgbClr val="5B5F71"/>
                </a:solidFill>
                <a:latin typeface="Instrument Sans" pitchFamily="34" charset="0"/>
                <a:ea typeface="Instrument Sans" pitchFamily="34" charset="-122"/>
                <a:cs typeface="Instrument Sans" pitchFamily="34" charset="-120"/>
              </a:rPr>
              <a:t> Guarantees that the values of a specified attribute or set of attributes are unique across all tuples in a relation.</a:t>
            </a:r>
            <a:endParaRPr lang="en-US" sz="1750" dirty="0"/>
          </a:p>
        </p:txBody>
      </p:sp>
      <p:sp>
        <p:nvSpPr>
          <p:cNvPr id="7" name="Text 4"/>
          <p:cNvSpPr/>
          <p:nvPr/>
        </p:nvSpPr>
        <p:spPr>
          <a:xfrm>
            <a:off x="2393394" y="5128379"/>
            <a:ext cx="10199013" cy="710803"/>
          </a:xfrm>
          <a:prstGeom prst="rect">
            <a:avLst/>
          </a:prstGeom>
          <a:noFill/>
          <a:ln/>
        </p:spPr>
        <p:txBody>
          <a:bodyPr wrap="square" rtlCol="0" anchor="t"/>
          <a:lstStyle/>
          <a:p>
            <a:pPr marL="342900" indent="-342900" algn="l">
              <a:lnSpc>
                <a:spcPts val="2799"/>
              </a:lnSpc>
              <a:buSzPct val="100000"/>
              <a:buChar char="•"/>
            </a:pPr>
            <a:r>
              <a:rPr lang="en-US" sz="1750" b="1" dirty="0">
                <a:solidFill>
                  <a:srgbClr val="5B5F71"/>
                </a:solidFill>
                <a:latin typeface="Instrument Sans" pitchFamily="34" charset="0"/>
                <a:ea typeface="Instrument Sans" pitchFamily="34" charset="-122"/>
                <a:cs typeface="Instrument Sans" pitchFamily="34" charset="-120"/>
              </a:rPr>
              <a:t>Not Null Constraint:</a:t>
            </a:r>
            <a:r>
              <a:rPr lang="en-US" sz="1750" dirty="0">
                <a:solidFill>
                  <a:srgbClr val="5B5F71"/>
                </a:solidFill>
                <a:latin typeface="Instrument Sans" pitchFamily="34" charset="0"/>
                <a:ea typeface="Instrument Sans" pitchFamily="34" charset="-122"/>
                <a:cs typeface="Instrument Sans" pitchFamily="34" charset="-120"/>
              </a:rPr>
              <a:t> Requires that an attribute cannot have a null value, ensuring that every tuple has a non-missing value for that attribute.</a:t>
            </a:r>
            <a:endParaRPr lang="en-US" sz="1750" dirty="0"/>
          </a:p>
        </p:txBody>
      </p:sp>
    </p:spTree>
    <p:extLst>
      <p:ext uri="{BB962C8B-B14F-4D97-AF65-F5344CB8AC3E}">
        <p14:creationId xmlns:p14="http://schemas.microsoft.com/office/powerpoint/2010/main" val="2551217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0" y="0"/>
            <a:ext cx="14630400" cy="2777490"/>
          </a:xfrm>
          <a:prstGeom prst="rect">
            <a:avLst/>
          </a:prstGeom>
        </p:spPr>
      </p:pic>
      <p:sp>
        <p:nvSpPr>
          <p:cNvPr id="5" name="Text 1"/>
          <p:cNvSpPr/>
          <p:nvPr/>
        </p:nvSpPr>
        <p:spPr>
          <a:xfrm>
            <a:off x="2037993" y="3834646"/>
            <a:ext cx="555498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Referential Integrity</a:t>
            </a:r>
            <a:endParaRPr lang="en-US" sz="4374" dirty="0"/>
          </a:p>
        </p:txBody>
      </p:sp>
      <p:sp>
        <p:nvSpPr>
          <p:cNvPr id="6" name="Text 2"/>
          <p:cNvSpPr/>
          <p:nvPr/>
        </p:nvSpPr>
        <p:spPr>
          <a:xfrm>
            <a:off x="2393394" y="4862274"/>
            <a:ext cx="10199013" cy="710803"/>
          </a:xfrm>
          <a:prstGeom prst="rect">
            <a:avLst/>
          </a:prstGeom>
          <a:noFill/>
          <a:ln/>
        </p:spPr>
        <p:txBody>
          <a:bodyPr wrap="square" rtlCol="0" anchor="t"/>
          <a:lstStyle/>
          <a:p>
            <a:pPr marL="342900" indent="-342900" algn="l">
              <a:lnSpc>
                <a:spcPts val="2799"/>
              </a:lnSpc>
              <a:buSzPct val="100000"/>
              <a:buFont typeface="+mj-lt"/>
              <a:buAutoNum type="arabicPeriod"/>
            </a:pPr>
            <a:r>
              <a:rPr lang="en-US" sz="1750" b="1" dirty="0">
                <a:solidFill>
                  <a:srgbClr val="5B5F71"/>
                </a:solidFill>
                <a:latin typeface="Instrument Sans" pitchFamily="34" charset="0"/>
                <a:ea typeface="Instrument Sans" pitchFamily="34" charset="-122"/>
                <a:cs typeface="Instrument Sans" pitchFamily="34" charset="-120"/>
              </a:rPr>
              <a:t>Relationship Constraints:</a:t>
            </a:r>
            <a:r>
              <a:rPr lang="en-US" sz="1750" dirty="0">
                <a:solidFill>
                  <a:srgbClr val="5B5F71"/>
                </a:solidFill>
                <a:latin typeface="Instrument Sans" pitchFamily="34" charset="0"/>
                <a:ea typeface="Instrument Sans" pitchFamily="34" charset="-122"/>
                <a:cs typeface="Instrument Sans" pitchFamily="34" charset="-120"/>
              </a:rPr>
              <a:t> Ensure that relationships between entities are valid and consistent, preventing the creation of "orphan" records without a valid parent.</a:t>
            </a:r>
            <a:endParaRPr lang="en-US" sz="1750" dirty="0"/>
          </a:p>
        </p:txBody>
      </p:sp>
      <p:sp>
        <p:nvSpPr>
          <p:cNvPr id="7" name="Text 3"/>
          <p:cNvSpPr/>
          <p:nvPr/>
        </p:nvSpPr>
        <p:spPr>
          <a:xfrm>
            <a:off x="2393394" y="5661898"/>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2"/>
            </a:pPr>
            <a:r>
              <a:rPr lang="en-US" sz="1750" b="1" dirty="0">
                <a:solidFill>
                  <a:srgbClr val="5B5F71"/>
                </a:solidFill>
                <a:latin typeface="Instrument Sans" pitchFamily="34" charset="0"/>
                <a:ea typeface="Instrument Sans" pitchFamily="34" charset="-122"/>
                <a:cs typeface="Instrument Sans" pitchFamily="34" charset="-120"/>
              </a:rPr>
              <a:t>Cascade Actions:</a:t>
            </a:r>
            <a:r>
              <a:rPr lang="en-US" sz="1750" dirty="0">
                <a:solidFill>
                  <a:srgbClr val="5B5F71"/>
                </a:solidFill>
                <a:latin typeface="Instrument Sans" pitchFamily="34" charset="0"/>
                <a:ea typeface="Instrument Sans" pitchFamily="34" charset="-122"/>
                <a:cs typeface="Instrument Sans" pitchFamily="34" charset="-120"/>
              </a:rPr>
              <a:t> Define how changes to a parent record, such as deletion or updates, should propagate to dependent child records, maintaining data consistency.</a:t>
            </a:r>
            <a:endParaRPr lang="en-US" sz="1750" dirty="0"/>
          </a:p>
        </p:txBody>
      </p:sp>
      <p:sp>
        <p:nvSpPr>
          <p:cNvPr id="8" name="Text 4"/>
          <p:cNvSpPr/>
          <p:nvPr/>
        </p:nvSpPr>
        <p:spPr>
          <a:xfrm>
            <a:off x="2393394" y="6461522"/>
            <a:ext cx="10199013" cy="710803"/>
          </a:xfrm>
          <a:prstGeom prst="rect">
            <a:avLst/>
          </a:prstGeom>
          <a:noFill/>
          <a:ln/>
        </p:spPr>
        <p:txBody>
          <a:bodyPr wrap="square" rtlCol="0" anchor="t"/>
          <a:lstStyle/>
          <a:p>
            <a:pPr marL="342900" indent="-342900" algn="l">
              <a:lnSpc>
                <a:spcPts val="2799"/>
              </a:lnSpc>
              <a:buSzPct val="100000"/>
              <a:buFont typeface="+mj-lt"/>
              <a:buAutoNum type="arabicPeriod" startAt="3"/>
            </a:pPr>
            <a:r>
              <a:rPr lang="en-US" sz="1750" b="1" dirty="0">
                <a:solidFill>
                  <a:srgbClr val="5B5F71"/>
                </a:solidFill>
                <a:latin typeface="Instrument Sans" pitchFamily="34" charset="0"/>
                <a:ea typeface="Instrument Sans" pitchFamily="34" charset="-122"/>
                <a:cs typeface="Instrument Sans" pitchFamily="34" charset="-120"/>
              </a:rPr>
              <a:t>Referential Integrity Checks:</a:t>
            </a:r>
            <a:r>
              <a:rPr lang="en-US" sz="1750" dirty="0">
                <a:solidFill>
                  <a:srgbClr val="5B5F71"/>
                </a:solidFill>
                <a:latin typeface="Instrument Sans" pitchFamily="34" charset="0"/>
                <a:ea typeface="Instrument Sans" pitchFamily="34" charset="-122"/>
                <a:cs typeface="Instrument Sans" pitchFamily="34" charset="-120"/>
              </a:rPr>
              <a:t> Continuously monitor the database to identify and resolve any violations of referential integrity, keeping the data structured and reliable.</a:t>
            </a:r>
            <a:endParaRPr lang="en-US" sz="1750" dirty="0"/>
          </a:p>
        </p:txBody>
      </p:sp>
    </p:spTree>
    <p:extLst>
      <p:ext uri="{BB962C8B-B14F-4D97-AF65-F5344CB8AC3E}">
        <p14:creationId xmlns:p14="http://schemas.microsoft.com/office/powerpoint/2010/main" val="2015870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429393" y="2298502"/>
            <a:ext cx="4930854" cy="3632478"/>
          </a:xfrm>
          <a:prstGeom prst="rect">
            <a:avLst/>
          </a:prstGeom>
        </p:spPr>
      </p:pic>
      <p:sp>
        <p:nvSpPr>
          <p:cNvPr id="6" name="Text 1"/>
          <p:cNvSpPr/>
          <p:nvPr/>
        </p:nvSpPr>
        <p:spPr>
          <a:xfrm>
            <a:off x="833199" y="1182291"/>
            <a:ext cx="7477601" cy="2083118"/>
          </a:xfrm>
          <a:prstGeom prst="rect">
            <a:avLst/>
          </a:prstGeom>
          <a:noFill/>
          <a:ln/>
        </p:spPr>
        <p:txBody>
          <a:bodyPr wrap="squar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Transforming Entity Relationship Diagrams (ERDs)</a:t>
            </a:r>
            <a:endParaRPr lang="en-US" sz="4374" dirty="0"/>
          </a:p>
        </p:txBody>
      </p:sp>
      <p:sp>
        <p:nvSpPr>
          <p:cNvPr id="7" name="Text 2"/>
          <p:cNvSpPr/>
          <p:nvPr/>
        </p:nvSpPr>
        <p:spPr>
          <a:xfrm>
            <a:off x="833199" y="3598664"/>
            <a:ext cx="747760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Entity Relationship Diagrams (ERDs) are conceptual models that visually represent the entities, attributes, and relationships within a database. Transforming an ERD into a relational schema involves mapping these elements into tables, columns, and foreign key constraints.</a:t>
            </a:r>
            <a:endParaRPr lang="en-US" sz="1750" dirty="0"/>
          </a:p>
        </p:txBody>
      </p:sp>
      <p:sp>
        <p:nvSpPr>
          <p:cNvPr id="8" name="Text 3"/>
          <p:cNvSpPr/>
          <p:nvPr/>
        </p:nvSpPr>
        <p:spPr>
          <a:xfrm>
            <a:off x="833199" y="5270182"/>
            <a:ext cx="7477601"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key steps include identifying entities as relations, defining primary keys, and establishing referential integrity through foreign key relationships. This process ensures the logical design seamlessly translates the conceptual model into an efficient, normalized relational database structure.</a:t>
            </a:r>
            <a:endParaRPr lang="en-US" sz="1750" dirty="0"/>
          </a:p>
        </p:txBody>
      </p:sp>
    </p:spTree>
    <p:extLst>
      <p:ext uri="{BB962C8B-B14F-4D97-AF65-F5344CB8AC3E}">
        <p14:creationId xmlns:p14="http://schemas.microsoft.com/office/powerpoint/2010/main" val="4167848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429274" y="1501140"/>
            <a:ext cx="4930973" cy="5227201"/>
          </a:xfrm>
          <a:prstGeom prst="rect">
            <a:avLst/>
          </a:prstGeom>
        </p:spPr>
      </p:pic>
      <p:sp>
        <p:nvSpPr>
          <p:cNvPr id="6" name="Text 1"/>
          <p:cNvSpPr/>
          <p:nvPr/>
        </p:nvSpPr>
        <p:spPr>
          <a:xfrm>
            <a:off x="833199" y="1182291"/>
            <a:ext cx="7477601" cy="2083118"/>
          </a:xfrm>
          <a:prstGeom prst="rect">
            <a:avLst/>
          </a:prstGeom>
          <a:noFill/>
          <a:ln/>
        </p:spPr>
        <p:txBody>
          <a:bodyPr wrap="squar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Transforming Enhanced Entity Relationship Diagrams (EERDs)</a:t>
            </a:r>
            <a:endParaRPr lang="en-US" sz="4374" dirty="0"/>
          </a:p>
        </p:txBody>
      </p:sp>
      <p:sp>
        <p:nvSpPr>
          <p:cNvPr id="7" name="Text 2"/>
          <p:cNvSpPr/>
          <p:nvPr/>
        </p:nvSpPr>
        <p:spPr>
          <a:xfrm>
            <a:off x="833199" y="3598664"/>
            <a:ext cx="7477601" cy="1777008"/>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Enhanced Entity Relationship Diagrams (EERDs) build upon the basic ERD model, adding advanced concepts like inheritance, categories, and specialization. Transforming an EERD into a relational schema involves carefully mapping these complex relationships into a normalized set of tables and constraints.</a:t>
            </a:r>
            <a:endParaRPr lang="en-US" sz="1750" dirty="0"/>
          </a:p>
        </p:txBody>
      </p:sp>
      <p:sp>
        <p:nvSpPr>
          <p:cNvPr id="8" name="Text 3"/>
          <p:cNvSpPr/>
          <p:nvPr/>
        </p:nvSpPr>
        <p:spPr>
          <a:xfrm>
            <a:off x="833199" y="5625584"/>
            <a:ext cx="747760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Key steps include identifying supertype and subtype entities, handling generalization and specialization, and ensuring the integrity of the relational model through appropriate foreign key links and inheritance rules.</a:t>
            </a:r>
            <a:endParaRPr lang="en-US" sz="1750" dirty="0"/>
          </a:p>
        </p:txBody>
      </p:sp>
    </p:spTree>
    <p:extLst>
      <p:ext uri="{BB962C8B-B14F-4D97-AF65-F5344CB8AC3E}">
        <p14:creationId xmlns:p14="http://schemas.microsoft.com/office/powerpoint/2010/main" val="3797301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sp>
        <p:nvSpPr>
          <p:cNvPr id="5" name="Text 1"/>
          <p:cNvSpPr/>
          <p:nvPr/>
        </p:nvSpPr>
        <p:spPr>
          <a:xfrm>
            <a:off x="833199" y="2062639"/>
            <a:ext cx="7477601" cy="1388745"/>
          </a:xfrm>
          <a:prstGeom prst="rect">
            <a:avLst/>
          </a:prstGeom>
          <a:noFill/>
          <a:ln/>
        </p:spPr>
        <p:txBody>
          <a:bodyPr wrap="squar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Mapping Entities to Relations</a:t>
            </a:r>
            <a:endParaRPr lang="en-US" sz="4374" dirty="0"/>
          </a:p>
        </p:txBody>
      </p:sp>
      <p:sp>
        <p:nvSpPr>
          <p:cNvPr id="6" name="Text 2"/>
          <p:cNvSpPr/>
          <p:nvPr/>
        </p:nvSpPr>
        <p:spPr>
          <a:xfrm>
            <a:off x="833199" y="3784640"/>
            <a:ext cx="747760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Transforming entities from the conceptual Entity Relationship Diagram (ERD) into relations (tables) in the relational model is a crucial step. Each entity becomes a relation, with its attributes mapped to columns in the table.</a:t>
            </a:r>
            <a:endParaRPr lang="en-US" sz="1750" dirty="0"/>
          </a:p>
        </p:txBody>
      </p:sp>
      <p:sp>
        <p:nvSpPr>
          <p:cNvPr id="7" name="Text 3"/>
          <p:cNvSpPr/>
          <p:nvPr/>
        </p:nvSpPr>
        <p:spPr>
          <a:xfrm>
            <a:off x="833199" y="5456158"/>
            <a:ext cx="7477601" cy="710803"/>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primary key of the entity is designated as the primary key for the relation, ensuring unique identification of each tuple (row).</a:t>
            </a:r>
            <a:endParaRPr lang="en-US" sz="1750" dirty="0"/>
          </a:p>
        </p:txBody>
      </p:sp>
    </p:spTree>
    <p:extLst>
      <p:ext uri="{BB962C8B-B14F-4D97-AF65-F5344CB8AC3E}">
        <p14:creationId xmlns:p14="http://schemas.microsoft.com/office/powerpoint/2010/main" val="90760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pic>
        <p:nvPicPr>
          <p:cNvPr id="5" name="Image 2" descr="preencoded.png"/>
          <p:cNvPicPr>
            <a:picLocks noChangeAspect="1"/>
          </p:cNvPicPr>
          <p:nvPr/>
        </p:nvPicPr>
        <p:blipFill>
          <a:blip r:embed="rId5"/>
          <a:stretch>
            <a:fillRect/>
          </a:stretch>
        </p:blipFill>
        <p:spPr>
          <a:xfrm>
            <a:off x="9429393" y="2273856"/>
            <a:ext cx="4930854" cy="3681770"/>
          </a:xfrm>
          <a:prstGeom prst="rect">
            <a:avLst/>
          </a:prstGeom>
        </p:spPr>
      </p:pic>
      <p:sp>
        <p:nvSpPr>
          <p:cNvPr id="6" name="Text 1"/>
          <p:cNvSpPr/>
          <p:nvPr/>
        </p:nvSpPr>
        <p:spPr>
          <a:xfrm>
            <a:off x="833199" y="1884878"/>
            <a:ext cx="7477601" cy="1388745"/>
          </a:xfrm>
          <a:prstGeom prst="rect">
            <a:avLst/>
          </a:prstGeom>
          <a:noFill/>
          <a:ln/>
        </p:spPr>
        <p:txBody>
          <a:bodyPr wrap="squar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Mapping Relationships to Relations</a:t>
            </a:r>
            <a:endParaRPr lang="en-US" sz="4374" dirty="0"/>
          </a:p>
        </p:txBody>
      </p:sp>
      <p:sp>
        <p:nvSpPr>
          <p:cNvPr id="7" name="Text 2"/>
          <p:cNvSpPr/>
          <p:nvPr/>
        </p:nvSpPr>
        <p:spPr>
          <a:xfrm>
            <a:off x="833199" y="3606879"/>
            <a:ext cx="7477601"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Transforming the relationships defined in the conceptual Entity Relationship Diagram (ERD) into the corresponding relational schema is a crucial step. Relationships are mapped to foreign key constraints, ensuring referential integrity between related tables.</a:t>
            </a:r>
            <a:endParaRPr lang="en-US" sz="1750" dirty="0"/>
          </a:p>
        </p:txBody>
      </p:sp>
      <p:sp>
        <p:nvSpPr>
          <p:cNvPr id="8" name="Text 3"/>
          <p:cNvSpPr/>
          <p:nvPr/>
        </p:nvSpPr>
        <p:spPr>
          <a:xfrm>
            <a:off x="833199" y="5278398"/>
            <a:ext cx="7477601" cy="1066205"/>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The cardinality of the relationship, such as one-to-many or many-to-many, determines how the foreign keys are structured to preserve the logical connections between entities.</a:t>
            </a:r>
            <a:endParaRPr lang="en-US" sz="1750" dirty="0"/>
          </a:p>
        </p:txBody>
      </p:sp>
    </p:spTree>
    <p:extLst>
      <p:ext uri="{BB962C8B-B14F-4D97-AF65-F5344CB8AC3E}">
        <p14:creationId xmlns:p14="http://schemas.microsoft.com/office/powerpoint/2010/main" val="466865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75000"/>
            </a:srgbClr>
          </a:solidFill>
          <a:ln/>
        </p:spPr>
      </p:sp>
      <p:sp>
        <p:nvSpPr>
          <p:cNvPr id="4" name="Text 1"/>
          <p:cNvSpPr/>
          <p:nvPr/>
        </p:nvSpPr>
        <p:spPr>
          <a:xfrm>
            <a:off x="2037993" y="1108829"/>
            <a:ext cx="8045410" cy="694373"/>
          </a:xfrm>
          <a:prstGeom prst="rect">
            <a:avLst/>
          </a:prstGeom>
          <a:noFill/>
          <a:ln/>
        </p:spPr>
        <p:txBody>
          <a:bodyPr wrap="none" rtlCol="0" anchor="t"/>
          <a:lstStyle/>
          <a:p>
            <a:pPr marL="0" indent="0">
              <a:lnSpc>
                <a:spcPts val="5468"/>
              </a:lnSpc>
              <a:buNone/>
            </a:pPr>
            <a:r>
              <a:rPr lang="en-US" sz="4374" b="1" dirty="0">
                <a:solidFill>
                  <a:srgbClr val="5B5F72"/>
                </a:solidFill>
                <a:latin typeface="Instrument Sans" pitchFamily="34" charset="0"/>
                <a:ea typeface="Instrument Sans" pitchFamily="34" charset="-122"/>
                <a:cs typeface="Instrument Sans" pitchFamily="34" charset="-120"/>
              </a:rPr>
              <a:t>Conclusion and Key Takeaways</a:t>
            </a:r>
            <a:endParaRPr lang="en-US" sz="4374" dirty="0"/>
          </a:p>
        </p:txBody>
      </p:sp>
      <p:sp>
        <p:nvSpPr>
          <p:cNvPr id="5" name="Shape 2"/>
          <p:cNvSpPr/>
          <p:nvPr/>
        </p:nvSpPr>
        <p:spPr>
          <a:xfrm>
            <a:off x="2037993" y="2476738"/>
            <a:ext cx="388739" cy="388739"/>
          </a:xfrm>
          <a:prstGeom prst="roundRect">
            <a:avLst>
              <a:gd name="adj" fmla="val 25722"/>
            </a:avLst>
          </a:prstGeom>
          <a:solidFill>
            <a:srgbClr val="E3E4E8"/>
          </a:solidFill>
          <a:ln w="7620">
            <a:solidFill>
              <a:srgbClr val="C9CACE"/>
            </a:solidFill>
            <a:prstDash val="solid"/>
          </a:ln>
        </p:spPr>
      </p:sp>
      <p:sp>
        <p:nvSpPr>
          <p:cNvPr id="6" name="Text 3"/>
          <p:cNvSpPr/>
          <p:nvPr/>
        </p:nvSpPr>
        <p:spPr>
          <a:xfrm>
            <a:off x="2648903" y="2497455"/>
            <a:ext cx="3212187"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Logical Database Design</a:t>
            </a:r>
            <a:endParaRPr lang="en-US" sz="2187" dirty="0"/>
          </a:p>
        </p:txBody>
      </p:sp>
      <p:sp>
        <p:nvSpPr>
          <p:cNvPr id="7" name="Text 4"/>
          <p:cNvSpPr/>
          <p:nvPr/>
        </p:nvSpPr>
        <p:spPr>
          <a:xfrm>
            <a:off x="2648903" y="2977872"/>
            <a:ext cx="4555212"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Translating conceptual models like ERDs and EERDs into a robust relational database structure is crucial for maintaining data integrity and reliability.</a:t>
            </a:r>
            <a:endParaRPr lang="en-US" sz="1750" dirty="0"/>
          </a:p>
        </p:txBody>
      </p:sp>
      <p:sp>
        <p:nvSpPr>
          <p:cNvPr id="8" name="Shape 5"/>
          <p:cNvSpPr/>
          <p:nvPr/>
        </p:nvSpPr>
        <p:spPr>
          <a:xfrm>
            <a:off x="7426285" y="2476738"/>
            <a:ext cx="388739" cy="388739"/>
          </a:xfrm>
          <a:prstGeom prst="roundRect">
            <a:avLst>
              <a:gd name="adj" fmla="val 25722"/>
            </a:avLst>
          </a:prstGeom>
          <a:solidFill>
            <a:srgbClr val="E3E4E8"/>
          </a:solidFill>
          <a:ln w="7620">
            <a:solidFill>
              <a:srgbClr val="C9CACE"/>
            </a:solidFill>
            <a:prstDash val="solid"/>
          </a:ln>
        </p:spPr>
      </p:sp>
      <p:sp>
        <p:nvSpPr>
          <p:cNvPr id="9" name="Text 6"/>
          <p:cNvSpPr/>
          <p:nvPr/>
        </p:nvSpPr>
        <p:spPr>
          <a:xfrm>
            <a:off x="8037195" y="2497455"/>
            <a:ext cx="2777490"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Integrity Constraints</a:t>
            </a:r>
            <a:endParaRPr lang="en-US" sz="2187" dirty="0"/>
          </a:p>
        </p:txBody>
      </p:sp>
      <p:sp>
        <p:nvSpPr>
          <p:cNvPr id="10" name="Text 7"/>
          <p:cNvSpPr/>
          <p:nvPr/>
        </p:nvSpPr>
        <p:spPr>
          <a:xfrm>
            <a:off x="8037195" y="2977872"/>
            <a:ext cx="4555212"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Domain, entity, and referential integrity constraints protect the database from inconsistent, invalid, and contradictory information.</a:t>
            </a:r>
            <a:endParaRPr lang="en-US" sz="1750" dirty="0"/>
          </a:p>
        </p:txBody>
      </p:sp>
      <p:sp>
        <p:nvSpPr>
          <p:cNvPr id="11" name="Shape 8"/>
          <p:cNvSpPr/>
          <p:nvPr/>
        </p:nvSpPr>
        <p:spPr>
          <a:xfrm>
            <a:off x="2037993" y="4850844"/>
            <a:ext cx="388739" cy="388739"/>
          </a:xfrm>
          <a:prstGeom prst="roundRect">
            <a:avLst>
              <a:gd name="adj" fmla="val 25722"/>
            </a:avLst>
          </a:prstGeom>
          <a:solidFill>
            <a:srgbClr val="E3E4E8"/>
          </a:solidFill>
          <a:ln w="7620">
            <a:solidFill>
              <a:srgbClr val="C9CACE"/>
            </a:solidFill>
            <a:prstDash val="solid"/>
          </a:ln>
        </p:spPr>
      </p:sp>
      <p:sp>
        <p:nvSpPr>
          <p:cNvPr id="12" name="Text 9"/>
          <p:cNvSpPr/>
          <p:nvPr/>
        </p:nvSpPr>
        <p:spPr>
          <a:xfrm>
            <a:off x="2648903" y="4871561"/>
            <a:ext cx="4555212" cy="694373"/>
          </a:xfrm>
          <a:prstGeom prst="rect">
            <a:avLst/>
          </a:prstGeom>
          <a:noFill/>
          <a:ln/>
        </p:spPr>
        <p:txBody>
          <a:bodyPr wrap="squar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Mapping Entities and Relationships</a:t>
            </a:r>
            <a:endParaRPr lang="en-US" sz="2187" dirty="0"/>
          </a:p>
        </p:txBody>
      </p:sp>
      <p:sp>
        <p:nvSpPr>
          <p:cNvPr id="13" name="Text 10"/>
          <p:cNvSpPr/>
          <p:nvPr/>
        </p:nvSpPr>
        <p:spPr>
          <a:xfrm>
            <a:off x="2648903" y="5699165"/>
            <a:ext cx="4555212"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Carefully mapping entities to relations and relationships to foreign key constraints ensures the logical design aligns with the conceptual model.</a:t>
            </a:r>
            <a:endParaRPr lang="en-US" sz="1750" dirty="0"/>
          </a:p>
        </p:txBody>
      </p:sp>
      <p:sp>
        <p:nvSpPr>
          <p:cNvPr id="14" name="Shape 11"/>
          <p:cNvSpPr/>
          <p:nvPr/>
        </p:nvSpPr>
        <p:spPr>
          <a:xfrm>
            <a:off x="7426285" y="4850844"/>
            <a:ext cx="388739" cy="388739"/>
          </a:xfrm>
          <a:prstGeom prst="roundRect">
            <a:avLst>
              <a:gd name="adj" fmla="val 25722"/>
            </a:avLst>
          </a:prstGeom>
          <a:solidFill>
            <a:srgbClr val="E3E4E8"/>
          </a:solidFill>
          <a:ln w="7620">
            <a:solidFill>
              <a:srgbClr val="C9CACE"/>
            </a:solidFill>
            <a:prstDash val="solid"/>
          </a:ln>
        </p:spPr>
      </p:sp>
      <p:sp>
        <p:nvSpPr>
          <p:cNvPr id="15" name="Text 12"/>
          <p:cNvSpPr/>
          <p:nvPr/>
        </p:nvSpPr>
        <p:spPr>
          <a:xfrm>
            <a:off x="8037195" y="4871561"/>
            <a:ext cx="3666768" cy="347186"/>
          </a:xfrm>
          <a:prstGeom prst="rect">
            <a:avLst/>
          </a:prstGeom>
          <a:noFill/>
          <a:ln/>
        </p:spPr>
        <p:txBody>
          <a:bodyPr wrap="none" rtlCol="0" anchor="t"/>
          <a:lstStyle/>
          <a:p>
            <a:pPr marL="0" indent="0">
              <a:lnSpc>
                <a:spcPts val="2734"/>
              </a:lnSpc>
              <a:buNone/>
            </a:pPr>
            <a:r>
              <a:rPr lang="en-US" sz="2187" b="1" dirty="0">
                <a:solidFill>
                  <a:srgbClr val="5B5F71"/>
                </a:solidFill>
                <a:latin typeface="Instrument Sans" pitchFamily="34" charset="0"/>
                <a:ea typeface="Instrument Sans" pitchFamily="34" charset="-122"/>
                <a:cs typeface="Instrument Sans" pitchFamily="34" charset="-120"/>
              </a:rPr>
              <a:t>Optimal Database Structure</a:t>
            </a:r>
            <a:endParaRPr lang="en-US" sz="2187" dirty="0"/>
          </a:p>
        </p:txBody>
      </p:sp>
      <p:sp>
        <p:nvSpPr>
          <p:cNvPr id="16" name="Text 13"/>
          <p:cNvSpPr/>
          <p:nvPr/>
        </p:nvSpPr>
        <p:spPr>
          <a:xfrm>
            <a:off x="8037195" y="5351978"/>
            <a:ext cx="4555212" cy="1421606"/>
          </a:xfrm>
          <a:prstGeom prst="rect">
            <a:avLst/>
          </a:prstGeom>
          <a:noFill/>
          <a:ln/>
        </p:spPr>
        <p:txBody>
          <a:bodyPr wrap="square" rtlCol="0" anchor="t"/>
          <a:lstStyle/>
          <a:p>
            <a:pPr marL="0" indent="0">
              <a:lnSpc>
                <a:spcPts val="2799"/>
              </a:lnSpc>
              <a:buNone/>
            </a:pPr>
            <a:r>
              <a:rPr lang="en-US" sz="1750" dirty="0">
                <a:solidFill>
                  <a:srgbClr val="5B5F71"/>
                </a:solidFill>
                <a:latin typeface="Instrument Sans" pitchFamily="34" charset="0"/>
                <a:ea typeface="Instrument Sans" pitchFamily="34" charset="-122"/>
                <a:cs typeface="Instrument Sans" pitchFamily="34" charset="-120"/>
              </a:rPr>
              <a:t>Following best practices in logical database design results in a normalized, efficient, and scalable relational database that supports the organization's data needs.</a:t>
            </a:r>
            <a:endParaRPr lang="en-US" sz="1750" dirty="0"/>
          </a:p>
        </p:txBody>
      </p:sp>
    </p:spTree>
    <p:extLst>
      <p:ext uri="{BB962C8B-B14F-4D97-AF65-F5344CB8AC3E}">
        <p14:creationId xmlns:p14="http://schemas.microsoft.com/office/powerpoint/2010/main" val="1176221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762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270034" y="2265640"/>
            <a:ext cx="4931093" cy="3698319"/>
          </a:xfrm>
          <a:prstGeom prst="rect">
            <a:avLst/>
          </a:prstGeom>
        </p:spPr>
      </p:pic>
      <p:sp>
        <p:nvSpPr>
          <p:cNvPr id="6" name="Text 2"/>
          <p:cNvSpPr/>
          <p:nvPr/>
        </p:nvSpPr>
        <p:spPr>
          <a:xfrm>
            <a:off x="6319599" y="1143238"/>
            <a:ext cx="7477601" cy="3832860"/>
          </a:xfrm>
          <a:prstGeom prst="rect">
            <a:avLst/>
          </a:prstGeom>
          <a:noFill/>
          <a:ln/>
        </p:spPr>
        <p:txBody>
          <a:bodyPr wrap="square" rtlCol="0" anchor="t"/>
          <a:lstStyle/>
          <a:p>
            <a:pPr marL="0" indent="0">
              <a:lnSpc>
                <a:spcPts val="7545"/>
              </a:lnSpc>
              <a:buNone/>
            </a:pPr>
            <a:r>
              <a:rPr lang="en-US" sz="6036" dirty="0">
                <a:solidFill>
                  <a:srgbClr val="1B1B27"/>
                </a:solidFill>
                <a:latin typeface="Raleway" pitchFamily="34" charset="0"/>
                <a:ea typeface="Raleway" pitchFamily="34" charset="-122"/>
                <a:cs typeface="Raleway" pitchFamily="34" charset="-120"/>
              </a:rPr>
              <a:t>Introduction to Transaction Management and Concurrency Control</a:t>
            </a:r>
            <a:endParaRPr lang="en-US" sz="6036" dirty="0"/>
          </a:p>
        </p:txBody>
      </p:sp>
      <p:sp>
        <p:nvSpPr>
          <p:cNvPr id="7" name="Text 3"/>
          <p:cNvSpPr/>
          <p:nvPr/>
        </p:nvSpPr>
        <p:spPr>
          <a:xfrm>
            <a:off x="6319599" y="5309354"/>
            <a:ext cx="7477601" cy="1777008"/>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 Database systems are the backbone of modern applications, handling complex tasks and ensuring data integrity. At the core of this are transactions and concurrency control, which enable reliable, secure, and efficient data processing. This presentation will explore the key principles and best practices in this critical area.</a:t>
            </a:r>
            <a:endParaRPr lang="en-US" sz="1750" dirty="0"/>
          </a:p>
        </p:txBody>
      </p:sp>
    </p:spTree>
    <p:extLst>
      <p:ext uri="{BB962C8B-B14F-4D97-AF65-F5344CB8AC3E}">
        <p14:creationId xmlns:p14="http://schemas.microsoft.com/office/powerpoint/2010/main" val="1086239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7620" y="0"/>
            <a:ext cx="3657600" cy="8229600"/>
          </a:xfrm>
          <a:prstGeom prst="rect">
            <a:avLst/>
          </a:prstGeom>
        </p:spPr>
      </p:pic>
      <p:pic>
        <p:nvPicPr>
          <p:cNvPr id="5" name="Image 1" descr="preencoded.png"/>
          <p:cNvPicPr>
            <a:picLocks noChangeAspect="1"/>
          </p:cNvPicPr>
          <p:nvPr/>
        </p:nvPicPr>
        <p:blipFill>
          <a:blip r:embed="rId4"/>
          <a:stretch>
            <a:fillRect/>
          </a:stretch>
        </p:blipFill>
        <p:spPr>
          <a:xfrm>
            <a:off x="267891" y="3053358"/>
            <a:ext cx="3106579" cy="2122884"/>
          </a:xfrm>
          <a:prstGeom prst="rect">
            <a:avLst/>
          </a:prstGeom>
        </p:spPr>
      </p:pic>
      <p:sp>
        <p:nvSpPr>
          <p:cNvPr id="6" name="Text 2"/>
          <p:cNvSpPr/>
          <p:nvPr/>
        </p:nvSpPr>
        <p:spPr>
          <a:xfrm>
            <a:off x="4483894" y="607576"/>
            <a:ext cx="9320213" cy="1377077"/>
          </a:xfrm>
          <a:prstGeom prst="rect">
            <a:avLst/>
          </a:prstGeom>
          <a:noFill/>
          <a:ln/>
        </p:spPr>
        <p:txBody>
          <a:bodyPr wrap="square" rtlCol="0" anchor="t"/>
          <a:lstStyle/>
          <a:p>
            <a:pPr marL="0" indent="0">
              <a:lnSpc>
                <a:spcPts val="5422"/>
              </a:lnSpc>
              <a:buNone/>
            </a:pPr>
            <a:r>
              <a:rPr lang="en-US" sz="4338" dirty="0">
                <a:solidFill>
                  <a:srgbClr val="1B1B27"/>
                </a:solidFill>
                <a:latin typeface="Raleway" pitchFamily="34" charset="0"/>
                <a:ea typeface="Raleway" pitchFamily="34" charset="-122"/>
                <a:cs typeface="Raleway" pitchFamily="34" charset="-120"/>
              </a:rPr>
              <a:t>Importance of Transaction Management in Database Systems</a:t>
            </a:r>
            <a:endParaRPr lang="en-US" sz="4338" dirty="0"/>
          </a:p>
        </p:txBody>
      </p:sp>
      <p:sp>
        <p:nvSpPr>
          <p:cNvPr id="7" name="Shape 3"/>
          <p:cNvSpPr/>
          <p:nvPr/>
        </p:nvSpPr>
        <p:spPr>
          <a:xfrm>
            <a:off x="4792385" y="2315170"/>
            <a:ext cx="44053" cy="5306854"/>
          </a:xfrm>
          <a:prstGeom prst="roundRect">
            <a:avLst>
              <a:gd name="adj" fmla="val 225099"/>
            </a:avLst>
          </a:prstGeom>
          <a:solidFill>
            <a:srgbClr val="C7C7D0"/>
          </a:solidFill>
          <a:ln/>
        </p:spPr>
      </p:sp>
      <p:sp>
        <p:nvSpPr>
          <p:cNvPr id="8" name="Shape 4"/>
          <p:cNvSpPr/>
          <p:nvPr/>
        </p:nvSpPr>
        <p:spPr>
          <a:xfrm>
            <a:off x="5062299" y="2713077"/>
            <a:ext cx="771168" cy="44053"/>
          </a:xfrm>
          <a:prstGeom prst="roundRect">
            <a:avLst>
              <a:gd name="adj" fmla="val 225099"/>
            </a:avLst>
          </a:prstGeom>
          <a:solidFill>
            <a:srgbClr val="C7C7D0"/>
          </a:solidFill>
          <a:ln/>
        </p:spPr>
      </p:sp>
      <p:sp>
        <p:nvSpPr>
          <p:cNvPr id="9" name="Shape 5"/>
          <p:cNvSpPr/>
          <p:nvPr/>
        </p:nvSpPr>
        <p:spPr>
          <a:xfrm>
            <a:off x="4566523" y="2487335"/>
            <a:ext cx="495776" cy="495776"/>
          </a:xfrm>
          <a:prstGeom prst="roundRect">
            <a:avLst>
              <a:gd name="adj" fmla="val 20002"/>
            </a:avLst>
          </a:prstGeom>
          <a:solidFill>
            <a:srgbClr val="E1E1EA"/>
          </a:solidFill>
          <a:ln w="7620">
            <a:solidFill>
              <a:srgbClr val="C7C7D0"/>
            </a:solidFill>
            <a:prstDash val="solid"/>
          </a:ln>
        </p:spPr>
      </p:sp>
      <p:sp>
        <p:nvSpPr>
          <p:cNvPr id="10" name="Text 6"/>
          <p:cNvSpPr/>
          <p:nvPr/>
        </p:nvSpPr>
        <p:spPr>
          <a:xfrm>
            <a:off x="4743688" y="2528649"/>
            <a:ext cx="141446" cy="413147"/>
          </a:xfrm>
          <a:prstGeom prst="rect">
            <a:avLst/>
          </a:prstGeom>
          <a:noFill/>
          <a:ln/>
        </p:spPr>
        <p:txBody>
          <a:bodyPr wrap="none" rtlCol="0" anchor="t"/>
          <a:lstStyle/>
          <a:p>
            <a:pPr marL="0" indent="0" algn="ctr">
              <a:lnSpc>
                <a:spcPts val="3253"/>
              </a:lnSpc>
              <a:buNone/>
            </a:pPr>
            <a:r>
              <a:rPr lang="en-US" sz="2603" dirty="0">
                <a:solidFill>
                  <a:srgbClr val="3C3939"/>
                </a:solidFill>
                <a:latin typeface="Raleway" pitchFamily="34" charset="0"/>
                <a:ea typeface="Raleway" pitchFamily="34" charset="-122"/>
                <a:cs typeface="Raleway" pitchFamily="34" charset="-120"/>
              </a:rPr>
              <a:t>1</a:t>
            </a:r>
            <a:endParaRPr lang="en-US" sz="2603" dirty="0"/>
          </a:p>
        </p:txBody>
      </p:sp>
      <p:sp>
        <p:nvSpPr>
          <p:cNvPr id="11" name="Text 7"/>
          <p:cNvSpPr/>
          <p:nvPr/>
        </p:nvSpPr>
        <p:spPr>
          <a:xfrm>
            <a:off x="6026348" y="2535436"/>
            <a:ext cx="2754511" cy="344329"/>
          </a:xfrm>
          <a:prstGeom prst="rect">
            <a:avLst/>
          </a:prstGeom>
          <a:noFill/>
          <a:ln/>
        </p:spPr>
        <p:txBody>
          <a:bodyPr wrap="none" rtlCol="0" anchor="t"/>
          <a:lstStyle/>
          <a:p>
            <a:pPr marL="0" indent="0" algn="l">
              <a:lnSpc>
                <a:spcPts val="2711"/>
              </a:lnSpc>
              <a:buNone/>
            </a:pPr>
            <a:r>
              <a:rPr lang="en-US" sz="2169" dirty="0">
                <a:solidFill>
                  <a:srgbClr val="3C3939"/>
                </a:solidFill>
                <a:latin typeface="Raleway" pitchFamily="34" charset="0"/>
                <a:ea typeface="Raleway" pitchFamily="34" charset="-122"/>
                <a:cs typeface="Raleway" pitchFamily="34" charset="-120"/>
              </a:rPr>
              <a:t>Data Integrity</a:t>
            </a:r>
            <a:endParaRPr lang="en-US" sz="2169" dirty="0"/>
          </a:p>
        </p:txBody>
      </p:sp>
      <p:sp>
        <p:nvSpPr>
          <p:cNvPr id="12" name="Text 8"/>
          <p:cNvSpPr/>
          <p:nvPr/>
        </p:nvSpPr>
        <p:spPr>
          <a:xfrm>
            <a:off x="6026348" y="3011924"/>
            <a:ext cx="7777758" cy="705088"/>
          </a:xfrm>
          <a:prstGeom prst="rect">
            <a:avLst/>
          </a:prstGeom>
          <a:noFill/>
          <a:ln/>
        </p:spPr>
        <p:txBody>
          <a:bodyPr wrap="square" rtlCol="0" anchor="t"/>
          <a:lstStyle/>
          <a:p>
            <a:pPr marL="0" indent="0" algn="l">
              <a:lnSpc>
                <a:spcPts val="2776"/>
              </a:lnSpc>
              <a:buNone/>
            </a:pPr>
            <a:r>
              <a:rPr lang="en-US" sz="1735" dirty="0">
                <a:solidFill>
                  <a:srgbClr val="3C3939"/>
                </a:solidFill>
                <a:latin typeface="Roboto" pitchFamily="34" charset="0"/>
                <a:ea typeface="Roboto" pitchFamily="34" charset="-122"/>
                <a:cs typeface="Roboto" pitchFamily="34" charset="-120"/>
              </a:rPr>
              <a:t>Transactions ensure that database updates are completed fully or not at all, preventing partial or inconsistent changes.</a:t>
            </a:r>
            <a:endParaRPr lang="en-US" sz="1735" dirty="0"/>
          </a:p>
        </p:txBody>
      </p:sp>
      <p:sp>
        <p:nvSpPr>
          <p:cNvPr id="13" name="Shape 9"/>
          <p:cNvSpPr/>
          <p:nvPr/>
        </p:nvSpPr>
        <p:spPr>
          <a:xfrm>
            <a:off x="5062299" y="4555450"/>
            <a:ext cx="771168" cy="44053"/>
          </a:xfrm>
          <a:prstGeom prst="roundRect">
            <a:avLst>
              <a:gd name="adj" fmla="val 225099"/>
            </a:avLst>
          </a:prstGeom>
          <a:solidFill>
            <a:srgbClr val="C7C7D0"/>
          </a:solidFill>
          <a:ln/>
        </p:spPr>
      </p:sp>
      <p:sp>
        <p:nvSpPr>
          <p:cNvPr id="14" name="Shape 10"/>
          <p:cNvSpPr/>
          <p:nvPr/>
        </p:nvSpPr>
        <p:spPr>
          <a:xfrm>
            <a:off x="4566523" y="4329708"/>
            <a:ext cx="495776" cy="495776"/>
          </a:xfrm>
          <a:prstGeom prst="roundRect">
            <a:avLst>
              <a:gd name="adj" fmla="val 20002"/>
            </a:avLst>
          </a:prstGeom>
          <a:solidFill>
            <a:srgbClr val="E1E1EA"/>
          </a:solidFill>
          <a:ln w="7620">
            <a:solidFill>
              <a:srgbClr val="C7C7D0"/>
            </a:solidFill>
            <a:prstDash val="solid"/>
          </a:ln>
        </p:spPr>
      </p:sp>
      <p:sp>
        <p:nvSpPr>
          <p:cNvPr id="15" name="Text 11"/>
          <p:cNvSpPr/>
          <p:nvPr/>
        </p:nvSpPr>
        <p:spPr>
          <a:xfrm>
            <a:off x="4728329" y="4371023"/>
            <a:ext cx="172164" cy="413147"/>
          </a:xfrm>
          <a:prstGeom prst="rect">
            <a:avLst/>
          </a:prstGeom>
          <a:noFill/>
          <a:ln/>
        </p:spPr>
        <p:txBody>
          <a:bodyPr wrap="none" rtlCol="0" anchor="t"/>
          <a:lstStyle/>
          <a:p>
            <a:pPr marL="0" indent="0" algn="ctr">
              <a:lnSpc>
                <a:spcPts val="3253"/>
              </a:lnSpc>
              <a:buNone/>
            </a:pPr>
            <a:r>
              <a:rPr lang="en-US" sz="2603" dirty="0">
                <a:solidFill>
                  <a:srgbClr val="3C3939"/>
                </a:solidFill>
                <a:latin typeface="Raleway" pitchFamily="34" charset="0"/>
                <a:ea typeface="Raleway" pitchFamily="34" charset="-122"/>
                <a:cs typeface="Raleway" pitchFamily="34" charset="-120"/>
              </a:rPr>
              <a:t>2</a:t>
            </a:r>
            <a:endParaRPr lang="en-US" sz="2603" dirty="0"/>
          </a:p>
        </p:txBody>
      </p:sp>
      <p:sp>
        <p:nvSpPr>
          <p:cNvPr id="16" name="Text 12"/>
          <p:cNvSpPr/>
          <p:nvPr/>
        </p:nvSpPr>
        <p:spPr>
          <a:xfrm>
            <a:off x="6026348" y="4377809"/>
            <a:ext cx="2754511" cy="344329"/>
          </a:xfrm>
          <a:prstGeom prst="rect">
            <a:avLst/>
          </a:prstGeom>
          <a:noFill/>
          <a:ln/>
        </p:spPr>
        <p:txBody>
          <a:bodyPr wrap="none" rtlCol="0" anchor="t"/>
          <a:lstStyle/>
          <a:p>
            <a:pPr marL="0" indent="0" algn="l">
              <a:lnSpc>
                <a:spcPts val="2711"/>
              </a:lnSpc>
              <a:buNone/>
            </a:pPr>
            <a:r>
              <a:rPr lang="en-US" sz="2169" dirty="0">
                <a:solidFill>
                  <a:srgbClr val="3C3939"/>
                </a:solidFill>
                <a:latin typeface="Raleway" pitchFamily="34" charset="0"/>
                <a:ea typeface="Raleway" pitchFamily="34" charset="-122"/>
                <a:cs typeface="Raleway" pitchFamily="34" charset="-120"/>
              </a:rPr>
              <a:t>Reliability</a:t>
            </a:r>
            <a:endParaRPr lang="en-US" sz="2169" dirty="0"/>
          </a:p>
        </p:txBody>
      </p:sp>
      <p:sp>
        <p:nvSpPr>
          <p:cNvPr id="17" name="Text 13"/>
          <p:cNvSpPr/>
          <p:nvPr/>
        </p:nvSpPr>
        <p:spPr>
          <a:xfrm>
            <a:off x="6026348" y="4854297"/>
            <a:ext cx="7777758" cy="705088"/>
          </a:xfrm>
          <a:prstGeom prst="rect">
            <a:avLst/>
          </a:prstGeom>
          <a:noFill/>
          <a:ln/>
        </p:spPr>
        <p:txBody>
          <a:bodyPr wrap="square" rtlCol="0" anchor="t"/>
          <a:lstStyle/>
          <a:p>
            <a:pPr marL="0" indent="0" algn="l">
              <a:lnSpc>
                <a:spcPts val="2776"/>
              </a:lnSpc>
              <a:buNone/>
            </a:pPr>
            <a:r>
              <a:rPr lang="en-US" sz="1735" dirty="0">
                <a:solidFill>
                  <a:srgbClr val="3C3939"/>
                </a:solidFill>
                <a:latin typeface="Roboto" pitchFamily="34" charset="0"/>
                <a:ea typeface="Roboto" pitchFamily="34" charset="-122"/>
                <a:cs typeface="Roboto" pitchFamily="34" charset="-120"/>
              </a:rPr>
              <a:t>Transactions provide a way to recover from failures, rolling back incomplete changes and restoring the database to a valid state.</a:t>
            </a:r>
            <a:endParaRPr lang="en-US" sz="1735" dirty="0"/>
          </a:p>
        </p:txBody>
      </p:sp>
      <p:sp>
        <p:nvSpPr>
          <p:cNvPr id="18" name="Shape 14"/>
          <p:cNvSpPr/>
          <p:nvPr/>
        </p:nvSpPr>
        <p:spPr>
          <a:xfrm>
            <a:off x="5062299" y="6397823"/>
            <a:ext cx="771168" cy="44053"/>
          </a:xfrm>
          <a:prstGeom prst="roundRect">
            <a:avLst>
              <a:gd name="adj" fmla="val 225099"/>
            </a:avLst>
          </a:prstGeom>
          <a:solidFill>
            <a:srgbClr val="C7C7D0"/>
          </a:solidFill>
          <a:ln/>
        </p:spPr>
      </p:sp>
      <p:sp>
        <p:nvSpPr>
          <p:cNvPr id="19" name="Shape 15"/>
          <p:cNvSpPr/>
          <p:nvPr/>
        </p:nvSpPr>
        <p:spPr>
          <a:xfrm>
            <a:off x="4566523" y="6172081"/>
            <a:ext cx="495776" cy="495776"/>
          </a:xfrm>
          <a:prstGeom prst="roundRect">
            <a:avLst>
              <a:gd name="adj" fmla="val 20002"/>
            </a:avLst>
          </a:prstGeom>
          <a:solidFill>
            <a:srgbClr val="E1E1EA"/>
          </a:solidFill>
          <a:ln w="7620">
            <a:solidFill>
              <a:srgbClr val="C7C7D0"/>
            </a:solidFill>
            <a:prstDash val="solid"/>
          </a:ln>
        </p:spPr>
      </p:sp>
      <p:sp>
        <p:nvSpPr>
          <p:cNvPr id="20" name="Text 16"/>
          <p:cNvSpPr/>
          <p:nvPr/>
        </p:nvSpPr>
        <p:spPr>
          <a:xfrm>
            <a:off x="4726186" y="6213396"/>
            <a:ext cx="176451" cy="413147"/>
          </a:xfrm>
          <a:prstGeom prst="rect">
            <a:avLst/>
          </a:prstGeom>
          <a:noFill/>
          <a:ln/>
        </p:spPr>
        <p:txBody>
          <a:bodyPr wrap="none" rtlCol="0" anchor="t"/>
          <a:lstStyle/>
          <a:p>
            <a:pPr marL="0" indent="0" algn="ctr">
              <a:lnSpc>
                <a:spcPts val="3253"/>
              </a:lnSpc>
              <a:buNone/>
            </a:pPr>
            <a:r>
              <a:rPr lang="en-US" sz="2603" dirty="0">
                <a:solidFill>
                  <a:srgbClr val="3C3939"/>
                </a:solidFill>
                <a:latin typeface="Raleway" pitchFamily="34" charset="0"/>
                <a:ea typeface="Raleway" pitchFamily="34" charset="-122"/>
                <a:cs typeface="Raleway" pitchFamily="34" charset="-120"/>
              </a:rPr>
              <a:t>3</a:t>
            </a:r>
            <a:endParaRPr lang="en-US" sz="2603" dirty="0"/>
          </a:p>
        </p:txBody>
      </p:sp>
      <p:sp>
        <p:nvSpPr>
          <p:cNvPr id="21" name="Text 17"/>
          <p:cNvSpPr/>
          <p:nvPr/>
        </p:nvSpPr>
        <p:spPr>
          <a:xfrm>
            <a:off x="6026348" y="6220182"/>
            <a:ext cx="2754511" cy="344329"/>
          </a:xfrm>
          <a:prstGeom prst="rect">
            <a:avLst/>
          </a:prstGeom>
          <a:noFill/>
          <a:ln/>
        </p:spPr>
        <p:txBody>
          <a:bodyPr wrap="none" rtlCol="0" anchor="t"/>
          <a:lstStyle/>
          <a:p>
            <a:pPr marL="0" indent="0" algn="l">
              <a:lnSpc>
                <a:spcPts val="2711"/>
              </a:lnSpc>
              <a:buNone/>
            </a:pPr>
            <a:r>
              <a:rPr lang="en-US" sz="2169" dirty="0">
                <a:solidFill>
                  <a:srgbClr val="3C3939"/>
                </a:solidFill>
                <a:latin typeface="Raleway" pitchFamily="34" charset="0"/>
                <a:ea typeface="Raleway" pitchFamily="34" charset="-122"/>
                <a:cs typeface="Raleway" pitchFamily="34" charset="-120"/>
              </a:rPr>
              <a:t>Concurrency</a:t>
            </a:r>
            <a:endParaRPr lang="en-US" sz="2169" dirty="0"/>
          </a:p>
        </p:txBody>
      </p:sp>
      <p:sp>
        <p:nvSpPr>
          <p:cNvPr id="22" name="Text 18"/>
          <p:cNvSpPr/>
          <p:nvPr/>
        </p:nvSpPr>
        <p:spPr>
          <a:xfrm>
            <a:off x="6026348" y="6696670"/>
            <a:ext cx="7777758" cy="705088"/>
          </a:xfrm>
          <a:prstGeom prst="rect">
            <a:avLst/>
          </a:prstGeom>
          <a:noFill/>
          <a:ln/>
        </p:spPr>
        <p:txBody>
          <a:bodyPr wrap="square" rtlCol="0" anchor="t"/>
          <a:lstStyle/>
          <a:p>
            <a:pPr marL="0" indent="0" algn="l">
              <a:lnSpc>
                <a:spcPts val="2776"/>
              </a:lnSpc>
              <a:buNone/>
            </a:pPr>
            <a:r>
              <a:rPr lang="en-US" sz="1735" dirty="0">
                <a:solidFill>
                  <a:srgbClr val="3C3939"/>
                </a:solidFill>
                <a:latin typeface="Roboto" pitchFamily="34" charset="0"/>
                <a:ea typeface="Roboto" pitchFamily="34" charset="-122"/>
                <a:cs typeface="Roboto" pitchFamily="34" charset="-120"/>
              </a:rPr>
              <a:t>Concurrency control mechanisms allow multiple users to access the database simultaneously without conflicting with each other.</a:t>
            </a:r>
            <a:endParaRPr lang="en-US" sz="1735" dirty="0"/>
          </a:p>
        </p:txBody>
      </p:sp>
    </p:spTree>
    <p:extLst>
      <p:ext uri="{BB962C8B-B14F-4D97-AF65-F5344CB8AC3E}">
        <p14:creationId xmlns:p14="http://schemas.microsoft.com/office/powerpoint/2010/main" val="3818578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sp>
        <p:nvSpPr>
          <p:cNvPr id="4" name="Text 2"/>
          <p:cNvSpPr/>
          <p:nvPr/>
        </p:nvSpPr>
        <p:spPr>
          <a:xfrm>
            <a:off x="2037993" y="2216706"/>
            <a:ext cx="8024336"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ACID Properties of Transactions</a:t>
            </a:r>
            <a:endParaRPr lang="en-US" sz="4374" dirty="0"/>
          </a:p>
        </p:txBody>
      </p:sp>
      <p:sp>
        <p:nvSpPr>
          <p:cNvPr id="5" name="Text 3"/>
          <p:cNvSpPr/>
          <p:nvPr/>
        </p:nvSpPr>
        <p:spPr>
          <a:xfrm>
            <a:off x="2037993" y="3466505"/>
            <a:ext cx="2777490"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Atomicity</a:t>
            </a:r>
            <a:endParaRPr lang="en-US" sz="2187" dirty="0"/>
          </a:p>
        </p:txBody>
      </p:sp>
      <p:sp>
        <p:nvSpPr>
          <p:cNvPr id="6" name="Text 4"/>
          <p:cNvSpPr/>
          <p:nvPr/>
        </p:nvSpPr>
        <p:spPr>
          <a:xfrm>
            <a:off x="2037993" y="4035862"/>
            <a:ext cx="3156347"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Transactions are executed as a single, indivisible unit of work. Either the entire transaction completes or none of it does.</a:t>
            </a:r>
            <a:endParaRPr lang="en-US" sz="1750" dirty="0"/>
          </a:p>
        </p:txBody>
      </p:sp>
      <p:sp>
        <p:nvSpPr>
          <p:cNvPr id="7" name="Text 5"/>
          <p:cNvSpPr/>
          <p:nvPr/>
        </p:nvSpPr>
        <p:spPr>
          <a:xfrm>
            <a:off x="5743932" y="3466505"/>
            <a:ext cx="2777490"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Consistency</a:t>
            </a:r>
            <a:endParaRPr lang="en-US" sz="2187" dirty="0"/>
          </a:p>
        </p:txBody>
      </p:sp>
      <p:sp>
        <p:nvSpPr>
          <p:cNvPr id="8" name="Text 6"/>
          <p:cNvSpPr/>
          <p:nvPr/>
        </p:nvSpPr>
        <p:spPr>
          <a:xfrm>
            <a:off x="5743932" y="4035862"/>
            <a:ext cx="3156347" cy="1777008"/>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Transactions preserve the integrity of the database by ensuring that data remains in a valid state before and after execution.</a:t>
            </a:r>
            <a:endParaRPr lang="en-US" sz="1750" dirty="0"/>
          </a:p>
        </p:txBody>
      </p:sp>
      <p:sp>
        <p:nvSpPr>
          <p:cNvPr id="9" name="Text 7"/>
          <p:cNvSpPr/>
          <p:nvPr/>
        </p:nvSpPr>
        <p:spPr>
          <a:xfrm>
            <a:off x="9449872" y="3466505"/>
            <a:ext cx="2777490"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Isolation</a:t>
            </a:r>
            <a:endParaRPr lang="en-US" sz="2187" dirty="0"/>
          </a:p>
        </p:txBody>
      </p:sp>
      <p:sp>
        <p:nvSpPr>
          <p:cNvPr id="10" name="Text 8"/>
          <p:cNvSpPr/>
          <p:nvPr/>
        </p:nvSpPr>
        <p:spPr>
          <a:xfrm>
            <a:off x="9449872" y="4035862"/>
            <a:ext cx="3156347" cy="1777008"/>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Concurrent transactions are isolated from each other, as if they were running independently, even when they access the same data.</a:t>
            </a:r>
            <a:endParaRPr lang="en-US" sz="1750" dirty="0"/>
          </a:p>
        </p:txBody>
      </p:sp>
    </p:spTree>
    <p:extLst>
      <p:ext uri="{BB962C8B-B14F-4D97-AF65-F5344CB8AC3E}">
        <p14:creationId xmlns:p14="http://schemas.microsoft.com/office/powerpoint/2010/main" val="2824784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sp>
        <p:nvSpPr>
          <p:cNvPr id="4" name="Text 2"/>
          <p:cNvSpPr/>
          <p:nvPr/>
        </p:nvSpPr>
        <p:spPr>
          <a:xfrm>
            <a:off x="2037993" y="1290638"/>
            <a:ext cx="10554414" cy="1388745"/>
          </a:xfrm>
          <a:prstGeom prst="rect">
            <a:avLst/>
          </a:prstGeom>
          <a:noFill/>
          <a:ln/>
        </p:spPr>
        <p:txBody>
          <a:bodyPr wrap="squar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Locking Mechanisms for Concurrency Control</a:t>
            </a:r>
            <a:endParaRPr lang="en-US" sz="4374" dirty="0"/>
          </a:p>
        </p:txBody>
      </p:sp>
      <p:sp>
        <p:nvSpPr>
          <p:cNvPr id="5" name="Shape 3"/>
          <p:cNvSpPr/>
          <p:nvPr/>
        </p:nvSpPr>
        <p:spPr>
          <a:xfrm>
            <a:off x="2037993" y="3297317"/>
            <a:ext cx="499943" cy="499943"/>
          </a:xfrm>
          <a:prstGeom prst="roundRect">
            <a:avLst>
              <a:gd name="adj" fmla="val 20000"/>
            </a:avLst>
          </a:prstGeom>
          <a:solidFill>
            <a:srgbClr val="E1E1EA"/>
          </a:solidFill>
          <a:ln w="7620">
            <a:solidFill>
              <a:srgbClr val="C7C7D0"/>
            </a:solidFill>
            <a:prstDash val="solid"/>
          </a:ln>
        </p:spPr>
      </p:sp>
      <p:sp>
        <p:nvSpPr>
          <p:cNvPr id="6" name="Text 4"/>
          <p:cNvSpPr/>
          <p:nvPr/>
        </p:nvSpPr>
        <p:spPr>
          <a:xfrm>
            <a:off x="2216587" y="3338989"/>
            <a:ext cx="142637" cy="416481"/>
          </a:xfrm>
          <a:prstGeom prst="rect">
            <a:avLst/>
          </a:prstGeom>
          <a:noFill/>
          <a:ln/>
        </p:spPr>
        <p:txBody>
          <a:bodyPr wrap="none" rtlCol="0" anchor="t"/>
          <a:lstStyle/>
          <a:p>
            <a:pPr marL="0" indent="0" algn="ctr">
              <a:lnSpc>
                <a:spcPts val="3281"/>
              </a:lnSpc>
              <a:buNone/>
            </a:pPr>
            <a:r>
              <a:rPr lang="en-US" sz="2624" dirty="0">
                <a:solidFill>
                  <a:srgbClr val="3C3939"/>
                </a:solidFill>
                <a:latin typeface="Raleway" pitchFamily="34" charset="0"/>
                <a:ea typeface="Raleway" pitchFamily="34" charset="-122"/>
                <a:cs typeface="Raleway" pitchFamily="34" charset="-120"/>
              </a:rPr>
              <a:t>1</a:t>
            </a:r>
            <a:endParaRPr lang="en-US" sz="2624" dirty="0"/>
          </a:p>
        </p:txBody>
      </p:sp>
      <p:sp>
        <p:nvSpPr>
          <p:cNvPr id="7" name="Text 5"/>
          <p:cNvSpPr/>
          <p:nvPr/>
        </p:nvSpPr>
        <p:spPr>
          <a:xfrm>
            <a:off x="2760107" y="3373636"/>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Shared Locks</a:t>
            </a:r>
            <a:endParaRPr lang="en-US" sz="2187" dirty="0"/>
          </a:p>
        </p:txBody>
      </p:sp>
      <p:sp>
        <p:nvSpPr>
          <p:cNvPr id="8" name="Text 6"/>
          <p:cNvSpPr/>
          <p:nvPr/>
        </p:nvSpPr>
        <p:spPr>
          <a:xfrm>
            <a:off x="2760107" y="3854053"/>
            <a:ext cx="4444008"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Allow multiple transactions to read the same data simultaneously, but prevent modifications.</a:t>
            </a:r>
            <a:endParaRPr lang="en-US" sz="1750" dirty="0"/>
          </a:p>
        </p:txBody>
      </p:sp>
      <p:sp>
        <p:nvSpPr>
          <p:cNvPr id="9" name="Shape 7"/>
          <p:cNvSpPr/>
          <p:nvPr/>
        </p:nvSpPr>
        <p:spPr>
          <a:xfrm>
            <a:off x="7426285" y="3297317"/>
            <a:ext cx="499943" cy="499943"/>
          </a:xfrm>
          <a:prstGeom prst="roundRect">
            <a:avLst>
              <a:gd name="adj" fmla="val 20000"/>
            </a:avLst>
          </a:prstGeom>
          <a:solidFill>
            <a:srgbClr val="E1E1EA"/>
          </a:solidFill>
          <a:ln w="7620">
            <a:solidFill>
              <a:srgbClr val="C7C7D0"/>
            </a:solidFill>
            <a:prstDash val="solid"/>
          </a:ln>
        </p:spPr>
      </p:sp>
      <p:sp>
        <p:nvSpPr>
          <p:cNvPr id="10" name="Text 8"/>
          <p:cNvSpPr/>
          <p:nvPr/>
        </p:nvSpPr>
        <p:spPr>
          <a:xfrm>
            <a:off x="7589401" y="3338989"/>
            <a:ext cx="173712" cy="416481"/>
          </a:xfrm>
          <a:prstGeom prst="rect">
            <a:avLst/>
          </a:prstGeom>
          <a:noFill/>
          <a:ln/>
        </p:spPr>
        <p:txBody>
          <a:bodyPr wrap="none" rtlCol="0" anchor="t"/>
          <a:lstStyle/>
          <a:p>
            <a:pPr marL="0" indent="0" algn="ctr">
              <a:lnSpc>
                <a:spcPts val="3281"/>
              </a:lnSpc>
              <a:buNone/>
            </a:pPr>
            <a:r>
              <a:rPr lang="en-US" sz="2624" dirty="0">
                <a:solidFill>
                  <a:srgbClr val="3C3939"/>
                </a:solidFill>
                <a:latin typeface="Raleway" pitchFamily="34" charset="0"/>
                <a:ea typeface="Raleway" pitchFamily="34" charset="-122"/>
                <a:cs typeface="Raleway" pitchFamily="34" charset="-120"/>
              </a:rPr>
              <a:t>2</a:t>
            </a:r>
            <a:endParaRPr lang="en-US" sz="2624" dirty="0"/>
          </a:p>
        </p:txBody>
      </p:sp>
      <p:sp>
        <p:nvSpPr>
          <p:cNvPr id="11" name="Text 9"/>
          <p:cNvSpPr/>
          <p:nvPr/>
        </p:nvSpPr>
        <p:spPr>
          <a:xfrm>
            <a:off x="8148399" y="3373636"/>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Exclusive Locks</a:t>
            </a:r>
            <a:endParaRPr lang="en-US" sz="2187" dirty="0"/>
          </a:p>
        </p:txBody>
      </p:sp>
      <p:sp>
        <p:nvSpPr>
          <p:cNvPr id="12" name="Text 10"/>
          <p:cNvSpPr/>
          <p:nvPr/>
        </p:nvSpPr>
        <p:spPr>
          <a:xfrm>
            <a:off x="8148399" y="3854053"/>
            <a:ext cx="4444008"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Allow a single transaction to read and modify data, preventing access by other transactions.</a:t>
            </a:r>
            <a:endParaRPr lang="en-US" sz="1750" dirty="0"/>
          </a:p>
        </p:txBody>
      </p:sp>
      <p:sp>
        <p:nvSpPr>
          <p:cNvPr id="13" name="Shape 11"/>
          <p:cNvSpPr/>
          <p:nvPr/>
        </p:nvSpPr>
        <p:spPr>
          <a:xfrm>
            <a:off x="2037993" y="5316022"/>
            <a:ext cx="499943" cy="499943"/>
          </a:xfrm>
          <a:prstGeom prst="roundRect">
            <a:avLst>
              <a:gd name="adj" fmla="val 20000"/>
            </a:avLst>
          </a:prstGeom>
          <a:solidFill>
            <a:srgbClr val="E1E1EA"/>
          </a:solidFill>
          <a:ln w="7620">
            <a:solidFill>
              <a:srgbClr val="C7C7D0"/>
            </a:solidFill>
            <a:prstDash val="solid"/>
          </a:ln>
        </p:spPr>
      </p:sp>
      <p:sp>
        <p:nvSpPr>
          <p:cNvPr id="14" name="Text 12"/>
          <p:cNvSpPr/>
          <p:nvPr/>
        </p:nvSpPr>
        <p:spPr>
          <a:xfrm>
            <a:off x="2198965" y="5357693"/>
            <a:ext cx="177998" cy="416481"/>
          </a:xfrm>
          <a:prstGeom prst="rect">
            <a:avLst/>
          </a:prstGeom>
          <a:noFill/>
          <a:ln/>
        </p:spPr>
        <p:txBody>
          <a:bodyPr wrap="none" rtlCol="0" anchor="t"/>
          <a:lstStyle/>
          <a:p>
            <a:pPr marL="0" indent="0" algn="ctr">
              <a:lnSpc>
                <a:spcPts val="3281"/>
              </a:lnSpc>
              <a:buNone/>
            </a:pPr>
            <a:r>
              <a:rPr lang="en-US" sz="2624" dirty="0">
                <a:solidFill>
                  <a:srgbClr val="3C3939"/>
                </a:solidFill>
                <a:latin typeface="Raleway" pitchFamily="34" charset="0"/>
                <a:ea typeface="Raleway" pitchFamily="34" charset="-122"/>
                <a:cs typeface="Raleway" pitchFamily="34" charset="-120"/>
              </a:rPr>
              <a:t>3</a:t>
            </a:r>
            <a:endParaRPr lang="en-US" sz="2624" dirty="0"/>
          </a:p>
        </p:txBody>
      </p:sp>
      <p:sp>
        <p:nvSpPr>
          <p:cNvPr id="15" name="Text 13"/>
          <p:cNvSpPr/>
          <p:nvPr/>
        </p:nvSpPr>
        <p:spPr>
          <a:xfrm>
            <a:off x="2760107" y="5392341"/>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Intention Locks</a:t>
            </a:r>
            <a:endParaRPr lang="en-US" sz="2187" dirty="0"/>
          </a:p>
        </p:txBody>
      </p:sp>
      <p:sp>
        <p:nvSpPr>
          <p:cNvPr id="16" name="Text 14"/>
          <p:cNvSpPr/>
          <p:nvPr/>
        </p:nvSpPr>
        <p:spPr>
          <a:xfrm>
            <a:off x="2760107" y="5872758"/>
            <a:ext cx="4444008"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Indicate that a transaction plans to acquire locks on lower-level objects, such as rows or pages.</a:t>
            </a:r>
            <a:endParaRPr lang="en-US" sz="1750" dirty="0"/>
          </a:p>
        </p:txBody>
      </p:sp>
      <p:sp>
        <p:nvSpPr>
          <p:cNvPr id="17" name="Shape 15"/>
          <p:cNvSpPr/>
          <p:nvPr/>
        </p:nvSpPr>
        <p:spPr>
          <a:xfrm>
            <a:off x="7426285" y="5316022"/>
            <a:ext cx="499943" cy="499943"/>
          </a:xfrm>
          <a:prstGeom prst="roundRect">
            <a:avLst>
              <a:gd name="adj" fmla="val 20000"/>
            </a:avLst>
          </a:prstGeom>
          <a:solidFill>
            <a:srgbClr val="E1E1EA"/>
          </a:solidFill>
          <a:ln w="7620">
            <a:solidFill>
              <a:srgbClr val="C7C7D0"/>
            </a:solidFill>
            <a:prstDash val="solid"/>
          </a:ln>
        </p:spPr>
      </p:sp>
      <p:sp>
        <p:nvSpPr>
          <p:cNvPr id="18" name="Text 16"/>
          <p:cNvSpPr/>
          <p:nvPr/>
        </p:nvSpPr>
        <p:spPr>
          <a:xfrm>
            <a:off x="7585234" y="5357693"/>
            <a:ext cx="182047" cy="416481"/>
          </a:xfrm>
          <a:prstGeom prst="rect">
            <a:avLst/>
          </a:prstGeom>
          <a:noFill/>
          <a:ln/>
        </p:spPr>
        <p:txBody>
          <a:bodyPr wrap="none" rtlCol="0" anchor="t"/>
          <a:lstStyle/>
          <a:p>
            <a:pPr marL="0" indent="0" algn="ctr">
              <a:lnSpc>
                <a:spcPts val="3281"/>
              </a:lnSpc>
              <a:buNone/>
            </a:pPr>
            <a:r>
              <a:rPr lang="en-US" sz="2624" dirty="0">
                <a:solidFill>
                  <a:srgbClr val="3C3939"/>
                </a:solidFill>
                <a:latin typeface="Raleway" pitchFamily="34" charset="0"/>
                <a:ea typeface="Raleway" pitchFamily="34" charset="-122"/>
                <a:cs typeface="Raleway" pitchFamily="34" charset="-120"/>
              </a:rPr>
              <a:t>4</a:t>
            </a:r>
            <a:endParaRPr lang="en-US" sz="2624" dirty="0"/>
          </a:p>
        </p:txBody>
      </p:sp>
      <p:sp>
        <p:nvSpPr>
          <p:cNvPr id="19" name="Text 17"/>
          <p:cNvSpPr/>
          <p:nvPr/>
        </p:nvSpPr>
        <p:spPr>
          <a:xfrm>
            <a:off x="8148399" y="5392341"/>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Escalation</a:t>
            </a:r>
            <a:endParaRPr lang="en-US" sz="2187" dirty="0"/>
          </a:p>
        </p:txBody>
      </p:sp>
      <p:sp>
        <p:nvSpPr>
          <p:cNvPr id="20" name="Text 18"/>
          <p:cNvSpPr/>
          <p:nvPr/>
        </p:nvSpPr>
        <p:spPr>
          <a:xfrm>
            <a:off x="8148399" y="5872758"/>
            <a:ext cx="4444008"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Upgrading from fine-grained locks to coarser-grained locks to improve performance.</a:t>
            </a:r>
            <a:endParaRPr lang="en-US" sz="1750" dirty="0"/>
          </a:p>
        </p:txBody>
      </p:sp>
    </p:spTree>
    <p:extLst>
      <p:ext uri="{BB962C8B-B14F-4D97-AF65-F5344CB8AC3E}">
        <p14:creationId xmlns:p14="http://schemas.microsoft.com/office/powerpoint/2010/main" val="443392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7620" y="0"/>
            <a:ext cx="3657600" cy="8229600"/>
          </a:xfrm>
          <a:prstGeom prst="rect">
            <a:avLst/>
          </a:prstGeom>
        </p:spPr>
      </p:pic>
      <p:sp>
        <p:nvSpPr>
          <p:cNvPr id="5" name="Text 2"/>
          <p:cNvSpPr/>
          <p:nvPr/>
        </p:nvSpPr>
        <p:spPr>
          <a:xfrm>
            <a:off x="4490799" y="934760"/>
            <a:ext cx="9064109"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Deadlock Detection and Resolution</a:t>
            </a:r>
            <a:endParaRPr lang="en-US" sz="4374" dirty="0"/>
          </a:p>
        </p:txBody>
      </p:sp>
      <p:pic>
        <p:nvPicPr>
          <p:cNvPr id="6" name="Image 1" descr="preencoded.png"/>
          <p:cNvPicPr>
            <a:picLocks noChangeAspect="1"/>
          </p:cNvPicPr>
          <p:nvPr/>
        </p:nvPicPr>
        <p:blipFill>
          <a:blip r:embed="rId4"/>
          <a:stretch>
            <a:fillRect/>
          </a:stretch>
        </p:blipFill>
        <p:spPr>
          <a:xfrm>
            <a:off x="4490799" y="1962388"/>
            <a:ext cx="1110972" cy="1777484"/>
          </a:xfrm>
          <a:prstGeom prst="rect">
            <a:avLst/>
          </a:prstGeom>
        </p:spPr>
      </p:pic>
      <p:sp>
        <p:nvSpPr>
          <p:cNvPr id="7" name="Text 3"/>
          <p:cNvSpPr/>
          <p:nvPr/>
        </p:nvSpPr>
        <p:spPr>
          <a:xfrm>
            <a:off x="5935028" y="2184559"/>
            <a:ext cx="2777490"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Detection</a:t>
            </a:r>
            <a:endParaRPr lang="en-US" sz="2187" dirty="0"/>
          </a:p>
        </p:txBody>
      </p:sp>
      <p:sp>
        <p:nvSpPr>
          <p:cNvPr id="8" name="Text 4"/>
          <p:cNvSpPr/>
          <p:nvPr/>
        </p:nvSpPr>
        <p:spPr>
          <a:xfrm>
            <a:off x="5935028" y="2664976"/>
            <a:ext cx="7862173" cy="710803"/>
          </a:xfrm>
          <a:prstGeom prst="rect">
            <a:avLst/>
          </a:prstGeom>
          <a:noFill/>
          <a:ln/>
        </p:spPr>
        <p:txBody>
          <a:bodyPr wrap="square" rtlCol="0" anchor="t"/>
          <a:lstStyle/>
          <a:p>
            <a:pPr marL="0" indent="0" algn="l">
              <a:lnSpc>
                <a:spcPts val="2799"/>
              </a:lnSpc>
              <a:buNone/>
            </a:pPr>
            <a:r>
              <a:rPr lang="en-US" sz="1750" dirty="0">
                <a:solidFill>
                  <a:srgbClr val="3C3939"/>
                </a:solidFill>
                <a:latin typeface="Roboto" pitchFamily="34" charset="0"/>
                <a:ea typeface="Roboto" pitchFamily="34" charset="-122"/>
                <a:cs typeface="Roboto" pitchFamily="34" charset="-120"/>
              </a:rPr>
              <a:t>Algorithms like Wait-for Graph and Deadlock Cycle Detection identify deadlock situations.</a:t>
            </a:r>
            <a:endParaRPr lang="en-US" sz="1750" dirty="0"/>
          </a:p>
        </p:txBody>
      </p:sp>
      <p:pic>
        <p:nvPicPr>
          <p:cNvPr id="9" name="Image 2" descr="preencoded.png"/>
          <p:cNvPicPr>
            <a:picLocks noChangeAspect="1"/>
          </p:cNvPicPr>
          <p:nvPr/>
        </p:nvPicPr>
        <p:blipFill>
          <a:blip r:embed="rId5"/>
          <a:stretch>
            <a:fillRect/>
          </a:stretch>
        </p:blipFill>
        <p:spPr>
          <a:xfrm>
            <a:off x="4490799" y="3739872"/>
            <a:ext cx="1110972" cy="1777484"/>
          </a:xfrm>
          <a:prstGeom prst="rect">
            <a:avLst/>
          </a:prstGeom>
        </p:spPr>
      </p:pic>
      <p:sp>
        <p:nvSpPr>
          <p:cNvPr id="10" name="Text 5"/>
          <p:cNvSpPr/>
          <p:nvPr/>
        </p:nvSpPr>
        <p:spPr>
          <a:xfrm>
            <a:off x="5935028" y="3962043"/>
            <a:ext cx="2777490"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Avoidance</a:t>
            </a:r>
            <a:endParaRPr lang="en-US" sz="2187" dirty="0"/>
          </a:p>
        </p:txBody>
      </p:sp>
      <p:sp>
        <p:nvSpPr>
          <p:cNvPr id="11" name="Text 6"/>
          <p:cNvSpPr/>
          <p:nvPr/>
        </p:nvSpPr>
        <p:spPr>
          <a:xfrm>
            <a:off x="5935028" y="4442460"/>
            <a:ext cx="7862173" cy="710803"/>
          </a:xfrm>
          <a:prstGeom prst="rect">
            <a:avLst/>
          </a:prstGeom>
          <a:noFill/>
          <a:ln/>
        </p:spPr>
        <p:txBody>
          <a:bodyPr wrap="square" rtlCol="0" anchor="t"/>
          <a:lstStyle/>
          <a:p>
            <a:pPr marL="0" indent="0" algn="l">
              <a:lnSpc>
                <a:spcPts val="2799"/>
              </a:lnSpc>
              <a:buNone/>
            </a:pPr>
            <a:r>
              <a:rPr lang="en-US" sz="1750" dirty="0">
                <a:solidFill>
                  <a:srgbClr val="3C3939"/>
                </a:solidFill>
                <a:latin typeface="Roboto" pitchFamily="34" charset="0"/>
                <a:ea typeface="Roboto" pitchFamily="34" charset="-122"/>
                <a:cs typeface="Roboto" pitchFamily="34" charset="-120"/>
              </a:rPr>
              <a:t>Strategies like Deadlock Prevention and Deadlock Victim Selection help avoid deadlocks.</a:t>
            </a:r>
            <a:endParaRPr lang="en-US" sz="1750" dirty="0"/>
          </a:p>
        </p:txBody>
      </p:sp>
      <p:pic>
        <p:nvPicPr>
          <p:cNvPr id="12" name="Image 3" descr="preencoded.png"/>
          <p:cNvPicPr>
            <a:picLocks noChangeAspect="1"/>
          </p:cNvPicPr>
          <p:nvPr/>
        </p:nvPicPr>
        <p:blipFill>
          <a:blip r:embed="rId6"/>
          <a:stretch>
            <a:fillRect/>
          </a:stretch>
        </p:blipFill>
        <p:spPr>
          <a:xfrm>
            <a:off x="4490799" y="5517356"/>
            <a:ext cx="1110972" cy="1777484"/>
          </a:xfrm>
          <a:prstGeom prst="rect">
            <a:avLst/>
          </a:prstGeom>
        </p:spPr>
      </p:pic>
      <p:sp>
        <p:nvSpPr>
          <p:cNvPr id="13" name="Text 7"/>
          <p:cNvSpPr/>
          <p:nvPr/>
        </p:nvSpPr>
        <p:spPr>
          <a:xfrm>
            <a:off x="5935028" y="5739527"/>
            <a:ext cx="2777490"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Resolution</a:t>
            </a:r>
            <a:endParaRPr lang="en-US" sz="2187" dirty="0"/>
          </a:p>
        </p:txBody>
      </p:sp>
      <p:sp>
        <p:nvSpPr>
          <p:cNvPr id="14" name="Text 8"/>
          <p:cNvSpPr/>
          <p:nvPr/>
        </p:nvSpPr>
        <p:spPr>
          <a:xfrm>
            <a:off x="5935028" y="6219944"/>
            <a:ext cx="7862173" cy="710803"/>
          </a:xfrm>
          <a:prstGeom prst="rect">
            <a:avLst/>
          </a:prstGeom>
          <a:noFill/>
          <a:ln/>
        </p:spPr>
        <p:txBody>
          <a:bodyPr wrap="square" rtlCol="0" anchor="t"/>
          <a:lstStyle/>
          <a:p>
            <a:pPr marL="0" indent="0" algn="l">
              <a:lnSpc>
                <a:spcPts val="2799"/>
              </a:lnSpc>
              <a:buNone/>
            </a:pPr>
            <a:r>
              <a:rPr lang="en-US" sz="1750" dirty="0">
                <a:solidFill>
                  <a:srgbClr val="3C3939"/>
                </a:solidFill>
                <a:latin typeface="Roboto" pitchFamily="34" charset="0"/>
                <a:ea typeface="Roboto" pitchFamily="34" charset="-122"/>
                <a:cs typeface="Roboto" pitchFamily="34" charset="-120"/>
              </a:rPr>
              <a:t>Deadlocks are resolved by rolling back one or more transactions to break the cycle.</a:t>
            </a:r>
            <a:endParaRPr lang="en-US" sz="1750" dirty="0"/>
          </a:p>
        </p:txBody>
      </p:sp>
    </p:spTree>
    <p:extLst>
      <p:ext uri="{BB962C8B-B14F-4D97-AF65-F5344CB8AC3E}">
        <p14:creationId xmlns:p14="http://schemas.microsoft.com/office/powerpoint/2010/main" val="1432770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sp>
        <p:nvSpPr>
          <p:cNvPr id="4" name="Text 2"/>
          <p:cNvSpPr/>
          <p:nvPr/>
        </p:nvSpPr>
        <p:spPr>
          <a:xfrm>
            <a:off x="2037993" y="1428155"/>
            <a:ext cx="10448211"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Isolation Levels in Database Transactions</a:t>
            </a:r>
            <a:endParaRPr lang="en-US" sz="4374" dirty="0"/>
          </a:p>
        </p:txBody>
      </p:sp>
      <p:sp>
        <p:nvSpPr>
          <p:cNvPr id="5" name="Shape 3"/>
          <p:cNvSpPr/>
          <p:nvPr/>
        </p:nvSpPr>
        <p:spPr>
          <a:xfrm>
            <a:off x="2037993" y="2566868"/>
            <a:ext cx="5166122" cy="2006203"/>
          </a:xfrm>
          <a:prstGeom prst="roundRect">
            <a:avLst>
              <a:gd name="adj" fmla="val 4984"/>
            </a:avLst>
          </a:prstGeom>
          <a:solidFill>
            <a:srgbClr val="E1E1EA"/>
          </a:solidFill>
          <a:ln w="7620">
            <a:solidFill>
              <a:srgbClr val="C7C7D0"/>
            </a:solidFill>
            <a:prstDash val="solid"/>
          </a:ln>
        </p:spPr>
      </p:sp>
      <p:sp>
        <p:nvSpPr>
          <p:cNvPr id="6" name="Text 4"/>
          <p:cNvSpPr/>
          <p:nvPr/>
        </p:nvSpPr>
        <p:spPr>
          <a:xfrm>
            <a:off x="2267783" y="2796659"/>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Read Uncommitted</a:t>
            </a:r>
            <a:endParaRPr lang="en-US" sz="2187" dirty="0"/>
          </a:p>
        </p:txBody>
      </p:sp>
      <p:sp>
        <p:nvSpPr>
          <p:cNvPr id="7" name="Text 5"/>
          <p:cNvSpPr/>
          <p:nvPr/>
        </p:nvSpPr>
        <p:spPr>
          <a:xfrm>
            <a:off x="2267783" y="3277076"/>
            <a:ext cx="4706541"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The least restrictive level, allowing transactions to read data that has been modified but not yet committed.</a:t>
            </a:r>
            <a:endParaRPr lang="en-US" sz="1750" dirty="0"/>
          </a:p>
        </p:txBody>
      </p:sp>
      <p:sp>
        <p:nvSpPr>
          <p:cNvPr id="8" name="Shape 6"/>
          <p:cNvSpPr/>
          <p:nvPr/>
        </p:nvSpPr>
        <p:spPr>
          <a:xfrm>
            <a:off x="7426285" y="2566868"/>
            <a:ext cx="5166122" cy="2006203"/>
          </a:xfrm>
          <a:prstGeom prst="roundRect">
            <a:avLst>
              <a:gd name="adj" fmla="val 4984"/>
            </a:avLst>
          </a:prstGeom>
          <a:solidFill>
            <a:srgbClr val="E1E1EA"/>
          </a:solidFill>
          <a:ln w="7620">
            <a:solidFill>
              <a:srgbClr val="C7C7D0"/>
            </a:solidFill>
            <a:prstDash val="solid"/>
          </a:ln>
        </p:spPr>
      </p:sp>
      <p:sp>
        <p:nvSpPr>
          <p:cNvPr id="9" name="Text 7"/>
          <p:cNvSpPr/>
          <p:nvPr/>
        </p:nvSpPr>
        <p:spPr>
          <a:xfrm>
            <a:off x="7656076" y="2796659"/>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Read Committed</a:t>
            </a:r>
            <a:endParaRPr lang="en-US" sz="2187" dirty="0"/>
          </a:p>
        </p:txBody>
      </p:sp>
      <p:sp>
        <p:nvSpPr>
          <p:cNvPr id="10" name="Text 8"/>
          <p:cNvSpPr/>
          <p:nvPr/>
        </p:nvSpPr>
        <p:spPr>
          <a:xfrm>
            <a:off x="7656076" y="3277076"/>
            <a:ext cx="4706541"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Transactions can only read data that has been committed, preventing them from seeing partial updates.</a:t>
            </a:r>
            <a:endParaRPr lang="en-US" sz="1750" dirty="0"/>
          </a:p>
        </p:txBody>
      </p:sp>
      <p:sp>
        <p:nvSpPr>
          <p:cNvPr id="11" name="Shape 9"/>
          <p:cNvSpPr/>
          <p:nvPr/>
        </p:nvSpPr>
        <p:spPr>
          <a:xfrm>
            <a:off x="2037993" y="4795242"/>
            <a:ext cx="5166122" cy="2006203"/>
          </a:xfrm>
          <a:prstGeom prst="roundRect">
            <a:avLst>
              <a:gd name="adj" fmla="val 4984"/>
            </a:avLst>
          </a:prstGeom>
          <a:solidFill>
            <a:srgbClr val="E1E1EA"/>
          </a:solidFill>
          <a:ln w="7620">
            <a:solidFill>
              <a:srgbClr val="C7C7D0"/>
            </a:solidFill>
            <a:prstDash val="solid"/>
          </a:ln>
        </p:spPr>
      </p:sp>
      <p:sp>
        <p:nvSpPr>
          <p:cNvPr id="12" name="Text 10"/>
          <p:cNvSpPr/>
          <p:nvPr/>
        </p:nvSpPr>
        <p:spPr>
          <a:xfrm>
            <a:off x="2267783" y="5025033"/>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Repeatable Read</a:t>
            </a:r>
            <a:endParaRPr lang="en-US" sz="2187" dirty="0"/>
          </a:p>
        </p:txBody>
      </p:sp>
      <p:sp>
        <p:nvSpPr>
          <p:cNvPr id="13" name="Text 11"/>
          <p:cNvSpPr/>
          <p:nvPr/>
        </p:nvSpPr>
        <p:spPr>
          <a:xfrm>
            <a:off x="2267783" y="5505450"/>
            <a:ext cx="4706541"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Transactions see a consistent snapshot of the data, preventing phantom reads and non-repeatable reads.</a:t>
            </a:r>
            <a:endParaRPr lang="en-US" sz="1750" dirty="0"/>
          </a:p>
        </p:txBody>
      </p:sp>
      <p:sp>
        <p:nvSpPr>
          <p:cNvPr id="14" name="Shape 12"/>
          <p:cNvSpPr/>
          <p:nvPr/>
        </p:nvSpPr>
        <p:spPr>
          <a:xfrm>
            <a:off x="7426285" y="4795242"/>
            <a:ext cx="5166122" cy="2006203"/>
          </a:xfrm>
          <a:prstGeom prst="roundRect">
            <a:avLst>
              <a:gd name="adj" fmla="val 4984"/>
            </a:avLst>
          </a:prstGeom>
          <a:solidFill>
            <a:srgbClr val="E1E1EA"/>
          </a:solidFill>
          <a:ln w="7620">
            <a:solidFill>
              <a:srgbClr val="C7C7D0"/>
            </a:solidFill>
            <a:prstDash val="solid"/>
          </a:ln>
        </p:spPr>
      </p:sp>
      <p:sp>
        <p:nvSpPr>
          <p:cNvPr id="15" name="Text 13"/>
          <p:cNvSpPr/>
          <p:nvPr/>
        </p:nvSpPr>
        <p:spPr>
          <a:xfrm>
            <a:off x="7656076" y="5025033"/>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Serializable</a:t>
            </a:r>
            <a:endParaRPr lang="en-US" sz="2187" dirty="0"/>
          </a:p>
        </p:txBody>
      </p:sp>
      <p:sp>
        <p:nvSpPr>
          <p:cNvPr id="16" name="Text 14"/>
          <p:cNvSpPr/>
          <p:nvPr/>
        </p:nvSpPr>
        <p:spPr>
          <a:xfrm>
            <a:off x="7656076" y="5505450"/>
            <a:ext cx="4706541"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The strictest level, ensuring that transactions are executed in a way that produces the same result as if they were executed serially.</a:t>
            </a:r>
            <a:endParaRPr lang="en-US" sz="1750" dirty="0"/>
          </a:p>
        </p:txBody>
      </p:sp>
    </p:spTree>
    <p:extLst>
      <p:ext uri="{BB962C8B-B14F-4D97-AF65-F5344CB8AC3E}">
        <p14:creationId xmlns:p14="http://schemas.microsoft.com/office/powerpoint/2010/main" val="32585285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sp>
        <p:nvSpPr>
          <p:cNvPr id="4" name="Text 2"/>
          <p:cNvSpPr/>
          <p:nvPr/>
        </p:nvSpPr>
        <p:spPr>
          <a:xfrm>
            <a:off x="2037993" y="1869519"/>
            <a:ext cx="10554414" cy="1388745"/>
          </a:xfrm>
          <a:prstGeom prst="rect">
            <a:avLst/>
          </a:prstGeom>
          <a:noFill/>
          <a:ln/>
        </p:spPr>
        <p:txBody>
          <a:bodyPr wrap="squar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Optimistic vs. Pessimistic Concurrency Control</a:t>
            </a:r>
            <a:endParaRPr lang="en-US" sz="4374" dirty="0"/>
          </a:p>
        </p:txBody>
      </p:sp>
      <p:sp>
        <p:nvSpPr>
          <p:cNvPr id="5" name="Text 3"/>
          <p:cNvSpPr/>
          <p:nvPr/>
        </p:nvSpPr>
        <p:spPr>
          <a:xfrm>
            <a:off x="2037993" y="3813691"/>
            <a:ext cx="2777490"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Optimistic</a:t>
            </a:r>
            <a:endParaRPr lang="en-US" sz="2187" dirty="0"/>
          </a:p>
        </p:txBody>
      </p:sp>
      <p:sp>
        <p:nvSpPr>
          <p:cNvPr id="6" name="Text 4"/>
          <p:cNvSpPr/>
          <p:nvPr/>
        </p:nvSpPr>
        <p:spPr>
          <a:xfrm>
            <a:off x="2037993" y="4383048"/>
            <a:ext cx="3156347"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Allows concurrent access, but detects and resolves conflicts at commit time. Suitable for low-contention environments.</a:t>
            </a:r>
            <a:endParaRPr lang="en-US" sz="1750" dirty="0"/>
          </a:p>
        </p:txBody>
      </p:sp>
      <p:sp>
        <p:nvSpPr>
          <p:cNvPr id="7" name="Text 5"/>
          <p:cNvSpPr/>
          <p:nvPr/>
        </p:nvSpPr>
        <p:spPr>
          <a:xfrm>
            <a:off x="5743932" y="3813691"/>
            <a:ext cx="2777490"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Pessimistic</a:t>
            </a:r>
            <a:endParaRPr lang="en-US" sz="2187" dirty="0"/>
          </a:p>
        </p:txBody>
      </p:sp>
      <p:sp>
        <p:nvSpPr>
          <p:cNvPr id="8" name="Text 6"/>
          <p:cNvSpPr/>
          <p:nvPr/>
        </p:nvSpPr>
        <p:spPr>
          <a:xfrm>
            <a:off x="5743932" y="4383048"/>
            <a:ext cx="3156347" cy="1777008"/>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Acquires locks to prevent conflicts, ensuring data integrity but potentially reducing concurrency. Suitable for high-contention environments.</a:t>
            </a:r>
            <a:endParaRPr lang="en-US" sz="1750" dirty="0"/>
          </a:p>
        </p:txBody>
      </p:sp>
      <p:sp>
        <p:nvSpPr>
          <p:cNvPr id="9" name="Text 7"/>
          <p:cNvSpPr/>
          <p:nvPr/>
        </p:nvSpPr>
        <p:spPr>
          <a:xfrm>
            <a:off x="9449872" y="3813691"/>
            <a:ext cx="2777490"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Hybrid</a:t>
            </a:r>
            <a:endParaRPr lang="en-US" sz="2187" dirty="0"/>
          </a:p>
        </p:txBody>
      </p:sp>
      <p:sp>
        <p:nvSpPr>
          <p:cNvPr id="10" name="Text 8"/>
          <p:cNvSpPr/>
          <p:nvPr/>
        </p:nvSpPr>
        <p:spPr>
          <a:xfrm>
            <a:off x="9449872" y="4383048"/>
            <a:ext cx="3156347" cy="1777008"/>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Combines optimistic and pessimistic approaches, leveraging the strengths of both to achieve better performance and reliability.</a:t>
            </a:r>
            <a:endParaRPr lang="en-US" sz="1750" dirty="0"/>
          </a:p>
        </p:txBody>
      </p:sp>
    </p:spTree>
    <p:extLst>
      <p:ext uri="{BB962C8B-B14F-4D97-AF65-F5344CB8AC3E}">
        <p14:creationId xmlns:p14="http://schemas.microsoft.com/office/powerpoint/2010/main" val="32517431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29274" y="1949172"/>
            <a:ext cx="4930973" cy="4331137"/>
          </a:xfrm>
          <a:prstGeom prst="rect">
            <a:avLst/>
          </a:prstGeom>
        </p:spPr>
      </p:pic>
      <p:sp>
        <p:nvSpPr>
          <p:cNvPr id="6" name="Text 2"/>
          <p:cNvSpPr/>
          <p:nvPr/>
        </p:nvSpPr>
        <p:spPr>
          <a:xfrm>
            <a:off x="833199" y="1001554"/>
            <a:ext cx="7477601" cy="3832860"/>
          </a:xfrm>
          <a:prstGeom prst="rect">
            <a:avLst/>
          </a:prstGeom>
          <a:noFill/>
          <a:ln/>
        </p:spPr>
        <p:txBody>
          <a:bodyPr wrap="square" rtlCol="0" anchor="t"/>
          <a:lstStyle/>
          <a:p>
            <a:pPr marL="0" indent="0">
              <a:lnSpc>
                <a:spcPts val="7545"/>
              </a:lnSpc>
              <a:buNone/>
            </a:pPr>
            <a:r>
              <a:rPr lang="en-US" sz="6036" dirty="0">
                <a:solidFill>
                  <a:srgbClr val="1B1B27"/>
                </a:solidFill>
                <a:latin typeface="Raleway" pitchFamily="34" charset="0"/>
                <a:ea typeface="Raleway" pitchFamily="34" charset="-122"/>
                <a:cs typeface="Raleway" pitchFamily="34" charset="-120"/>
              </a:rPr>
              <a:t>Introduction to Data Mining, Data Warehousing, OLAP, and OLTP</a:t>
            </a:r>
            <a:endParaRPr lang="en-US" sz="6036" dirty="0"/>
          </a:p>
        </p:txBody>
      </p:sp>
      <p:sp>
        <p:nvSpPr>
          <p:cNvPr id="7" name="Text 3"/>
          <p:cNvSpPr/>
          <p:nvPr/>
        </p:nvSpPr>
        <p:spPr>
          <a:xfrm>
            <a:off x="833199" y="5167670"/>
            <a:ext cx="7477601"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Explore the fundamental concepts of data mining, data warehousing, online analytical processing (OLAP), and online transaction processing (OLTP). Understand how these technologies work together to unlock valuable insights from complex data.</a:t>
            </a:r>
            <a:endParaRPr lang="en-US" sz="1750" dirty="0"/>
          </a:p>
        </p:txBody>
      </p:sp>
      <p:pic>
        <p:nvPicPr>
          <p:cNvPr id="11" name="Image 3" descr="preencoded.png">
            <a:hlinkClick r:id="rId5"/>
          </p:cNvPr>
          <p:cNvPicPr>
            <a:picLocks noChangeAspect="1"/>
          </p:cNvPicPr>
          <p:nvPr/>
        </p:nvPicPr>
        <p:blipFill>
          <a:blip r:embed="rId6"/>
          <a:stretch>
            <a:fillRect/>
          </a:stretch>
        </p:blipFill>
        <p:spPr>
          <a:xfrm>
            <a:off x="12242153" y="7589520"/>
            <a:ext cx="2296807" cy="548640"/>
          </a:xfrm>
          <a:prstGeom prst="rect">
            <a:avLst/>
          </a:prstGeom>
        </p:spPr>
      </p:pic>
    </p:spTree>
    <p:extLst>
      <p:ext uri="{BB962C8B-B14F-4D97-AF65-F5344CB8AC3E}">
        <p14:creationId xmlns:p14="http://schemas.microsoft.com/office/powerpoint/2010/main" val="618462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FFFFF">
              <a:alpha val="85000"/>
            </a:srgbClr>
          </a:solidFill>
          <a:ln/>
        </p:spPr>
      </p:sp>
      <p:sp>
        <p:nvSpPr>
          <p:cNvPr id="6" name="Text 3"/>
          <p:cNvSpPr/>
          <p:nvPr/>
        </p:nvSpPr>
        <p:spPr>
          <a:xfrm>
            <a:off x="2037993" y="2890123"/>
            <a:ext cx="5554980"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What is Data Mining?</a:t>
            </a:r>
            <a:endParaRPr lang="en-US" sz="4374" dirty="0"/>
          </a:p>
        </p:txBody>
      </p:sp>
      <p:sp>
        <p:nvSpPr>
          <p:cNvPr id="7" name="Text 4"/>
          <p:cNvSpPr/>
          <p:nvPr/>
        </p:nvSpPr>
        <p:spPr>
          <a:xfrm>
            <a:off x="2037993" y="3917752"/>
            <a:ext cx="10554414" cy="2665928"/>
          </a:xfrm>
          <a:prstGeom prst="rect">
            <a:avLst/>
          </a:prstGeom>
          <a:noFill/>
          <a:ln/>
        </p:spPr>
        <p:txBody>
          <a:bodyPr wrap="square" rtlCol="0" anchor="t"/>
          <a:lstStyle/>
          <a:p>
            <a:pPr marL="0" indent="0" algn="just">
              <a:lnSpc>
                <a:spcPts val="2799"/>
              </a:lnSpc>
              <a:buNone/>
            </a:pPr>
            <a:r>
              <a:rPr lang="en-US" sz="3200" dirty="0">
                <a:solidFill>
                  <a:srgbClr val="3C3939"/>
                </a:solidFill>
                <a:latin typeface="Roboto" pitchFamily="34" charset="0"/>
                <a:ea typeface="Roboto" pitchFamily="34" charset="-122"/>
                <a:cs typeface="Roboto" pitchFamily="34" charset="-120"/>
              </a:rPr>
              <a:t>Data mining is the process of extracting valuable insights and patterns from large, complex datasets. It involves using advanced analytical techniques to uncover hidden relationships, trends, and predictions that can drive informed decision-making. Data mining enables organizations to gain a deeper understanding of their data and unlock new business opportunities.</a:t>
            </a:r>
            <a:endParaRPr lang="en-US" sz="3200" dirty="0"/>
          </a:p>
        </p:txBody>
      </p:sp>
    </p:spTree>
    <p:extLst>
      <p:ext uri="{BB962C8B-B14F-4D97-AF65-F5344CB8AC3E}">
        <p14:creationId xmlns:p14="http://schemas.microsoft.com/office/powerpoint/2010/main" val="19608389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7620" y="0"/>
            <a:ext cx="5486400" cy="8229600"/>
          </a:xfrm>
          <a:prstGeom prst="rect">
            <a:avLst/>
          </a:prstGeom>
        </p:spPr>
      </p:pic>
      <p:sp>
        <p:nvSpPr>
          <p:cNvPr id="5" name="Text 2"/>
          <p:cNvSpPr/>
          <p:nvPr/>
        </p:nvSpPr>
        <p:spPr>
          <a:xfrm>
            <a:off x="6319599" y="1565672"/>
            <a:ext cx="7477601" cy="1388745"/>
          </a:xfrm>
          <a:prstGeom prst="rect">
            <a:avLst/>
          </a:prstGeom>
          <a:noFill/>
          <a:ln/>
        </p:spPr>
        <p:txBody>
          <a:bodyPr wrap="squar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Fundamentals of Data Warehousing</a:t>
            </a:r>
            <a:endParaRPr lang="en-US" sz="4374" dirty="0"/>
          </a:p>
        </p:txBody>
      </p:sp>
      <p:sp>
        <p:nvSpPr>
          <p:cNvPr id="6" name="Text 3"/>
          <p:cNvSpPr/>
          <p:nvPr/>
        </p:nvSpPr>
        <p:spPr>
          <a:xfrm>
            <a:off x="6675001" y="3287673"/>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3C3939"/>
                </a:solidFill>
                <a:latin typeface="Roboto" pitchFamily="34" charset="0"/>
                <a:ea typeface="Roboto" pitchFamily="34" charset="-122"/>
                <a:cs typeface="Roboto" pitchFamily="34" charset="-120"/>
              </a:rPr>
              <a:t>Consolidation of Data:</a:t>
            </a:r>
            <a:r>
              <a:rPr lang="en-US" sz="1750" dirty="0">
                <a:solidFill>
                  <a:srgbClr val="3C3939"/>
                </a:solidFill>
                <a:latin typeface="Roboto" pitchFamily="34" charset="0"/>
                <a:ea typeface="Roboto" pitchFamily="34" charset="-122"/>
                <a:cs typeface="Roboto" pitchFamily="34" charset="-120"/>
              </a:rPr>
              <a:t> A data warehouse aggregates data from various sources, such as operational databases, into a centralized repository for analysis and reporting.</a:t>
            </a:r>
            <a:endParaRPr lang="en-US" sz="1750" dirty="0"/>
          </a:p>
        </p:txBody>
      </p:sp>
      <p:sp>
        <p:nvSpPr>
          <p:cNvPr id="7" name="Text 4"/>
          <p:cNvSpPr/>
          <p:nvPr/>
        </p:nvSpPr>
        <p:spPr>
          <a:xfrm>
            <a:off x="6675001" y="4442698"/>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3C3939"/>
                </a:solidFill>
                <a:latin typeface="Roboto" pitchFamily="34" charset="0"/>
                <a:ea typeface="Roboto" pitchFamily="34" charset="-122"/>
                <a:cs typeface="Roboto" pitchFamily="34" charset="-120"/>
              </a:rPr>
              <a:t>Multidimensional Data Model:</a:t>
            </a:r>
            <a:r>
              <a:rPr lang="en-US" sz="1750" dirty="0">
                <a:solidFill>
                  <a:srgbClr val="3C3939"/>
                </a:solidFill>
                <a:latin typeface="Roboto" pitchFamily="34" charset="0"/>
                <a:ea typeface="Roboto" pitchFamily="34" charset="-122"/>
                <a:cs typeface="Roboto" pitchFamily="34" charset="-120"/>
              </a:rPr>
              <a:t> Data warehouses utilize a multidimensional data model, where data is organized into dimensions (e.g., time, product, customer) and facts (quantitative measurements).</a:t>
            </a:r>
            <a:endParaRPr lang="en-US" sz="1750" dirty="0"/>
          </a:p>
        </p:txBody>
      </p:sp>
      <p:sp>
        <p:nvSpPr>
          <p:cNvPr id="8" name="Text 5"/>
          <p:cNvSpPr/>
          <p:nvPr/>
        </p:nvSpPr>
        <p:spPr>
          <a:xfrm>
            <a:off x="6675001" y="5597723"/>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3C3939"/>
                </a:solidFill>
                <a:latin typeface="Roboto" pitchFamily="34" charset="0"/>
                <a:ea typeface="Roboto" pitchFamily="34" charset="-122"/>
                <a:cs typeface="Roboto" pitchFamily="34" charset="-120"/>
              </a:rPr>
              <a:t>Historical Data:</a:t>
            </a:r>
            <a:r>
              <a:rPr lang="en-US" sz="1750" dirty="0">
                <a:solidFill>
                  <a:srgbClr val="3C3939"/>
                </a:solidFill>
                <a:latin typeface="Roboto" pitchFamily="34" charset="0"/>
                <a:ea typeface="Roboto" pitchFamily="34" charset="-122"/>
                <a:cs typeface="Roboto" pitchFamily="34" charset="-120"/>
              </a:rPr>
              <a:t> A key characteristic of a data warehouse is the ability to store and analyze historical data, enabling organizations to identify trends and patterns over time.</a:t>
            </a:r>
            <a:endParaRPr lang="en-US" sz="1750" dirty="0"/>
          </a:p>
        </p:txBody>
      </p:sp>
    </p:spTree>
    <p:extLst>
      <p:ext uri="{BB962C8B-B14F-4D97-AF65-F5344CB8AC3E}">
        <p14:creationId xmlns:p14="http://schemas.microsoft.com/office/powerpoint/2010/main" val="3149789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29274" y="2633424"/>
            <a:ext cx="4930973" cy="2962751"/>
          </a:xfrm>
          <a:prstGeom prst="rect">
            <a:avLst/>
          </a:prstGeom>
        </p:spPr>
      </p:pic>
      <p:sp>
        <p:nvSpPr>
          <p:cNvPr id="6" name="Text 2"/>
          <p:cNvSpPr/>
          <p:nvPr/>
        </p:nvSpPr>
        <p:spPr>
          <a:xfrm>
            <a:off x="833199" y="1884878"/>
            <a:ext cx="7477601" cy="1388745"/>
          </a:xfrm>
          <a:prstGeom prst="rect">
            <a:avLst/>
          </a:prstGeom>
          <a:noFill/>
          <a:ln/>
        </p:spPr>
        <p:txBody>
          <a:bodyPr wrap="squar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OLAP (Online Analytical Processing)</a:t>
            </a:r>
            <a:endParaRPr lang="en-US" sz="4374" dirty="0"/>
          </a:p>
        </p:txBody>
      </p:sp>
      <p:sp>
        <p:nvSpPr>
          <p:cNvPr id="7" name="Text 3"/>
          <p:cNvSpPr/>
          <p:nvPr/>
        </p:nvSpPr>
        <p:spPr>
          <a:xfrm>
            <a:off x="833199" y="3606879"/>
            <a:ext cx="7477601"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OLAP is an analytical approach that enables users to explore and analyze multidimensional data from various perspectives. It allows for the quick and flexible querying and manipulation of large datasets, enabling informed decision-making based on real-time insights.</a:t>
            </a:r>
            <a:endParaRPr lang="en-US" sz="1750" dirty="0"/>
          </a:p>
        </p:txBody>
      </p:sp>
      <p:sp>
        <p:nvSpPr>
          <p:cNvPr id="8" name="Text 4"/>
          <p:cNvSpPr/>
          <p:nvPr/>
        </p:nvSpPr>
        <p:spPr>
          <a:xfrm>
            <a:off x="833199" y="5278398"/>
            <a:ext cx="7477601" cy="1066205"/>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OLAP systems utilize a multidimensional data model, which organizes data into cubes with dimensions and measures, facilitating complex, ad-hoc queries and advanced data analysis.</a:t>
            </a:r>
            <a:endParaRPr lang="en-US" sz="1750" dirty="0"/>
          </a:p>
        </p:txBody>
      </p:sp>
    </p:spTree>
    <p:extLst>
      <p:ext uri="{BB962C8B-B14F-4D97-AF65-F5344CB8AC3E}">
        <p14:creationId xmlns:p14="http://schemas.microsoft.com/office/powerpoint/2010/main" val="23550824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29274" y="2265640"/>
            <a:ext cx="4931093" cy="3698319"/>
          </a:xfrm>
          <a:prstGeom prst="rect">
            <a:avLst/>
          </a:prstGeom>
        </p:spPr>
      </p:pic>
      <p:sp>
        <p:nvSpPr>
          <p:cNvPr id="6" name="Text 2"/>
          <p:cNvSpPr/>
          <p:nvPr/>
        </p:nvSpPr>
        <p:spPr>
          <a:xfrm>
            <a:off x="833199" y="1707237"/>
            <a:ext cx="7477601" cy="1388745"/>
          </a:xfrm>
          <a:prstGeom prst="rect">
            <a:avLst/>
          </a:prstGeom>
          <a:noFill/>
          <a:ln/>
        </p:spPr>
        <p:txBody>
          <a:bodyPr wrap="squar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OLTP (Online Transaction Processing)</a:t>
            </a:r>
            <a:endParaRPr lang="en-US" sz="4374" dirty="0"/>
          </a:p>
        </p:txBody>
      </p:sp>
      <p:sp>
        <p:nvSpPr>
          <p:cNvPr id="7" name="Text 3"/>
          <p:cNvSpPr/>
          <p:nvPr/>
        </p:nvSpPr>
        <p:spPr>
          <a:xfrm>
            <a:off x="833199" y="3429238"/>
            <a:ext cx="7477601"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OLTP systems are designed to handle high-volume, low-latency transactions in real-time. They focus on efficiency, consistency, and reliability for mission-critical business operations like order processing, banking transactions, and inventory management.</a:t>
            </a:r>
            <a:endParaRPr lang="en-US" sz="1750" dirty="0"/>
          </a:p>
        </p:txBody>
      </p:sp>
      <p:sp>
        <p:nvSpPr>
          <p:cNvPr id="8" name="Text 4"/>
          <p:cNvSpPr/>
          <p:nvPr/>
        </p:nvSpPr>
        <p:spPr>
          <a:xfrm>
            <a:off x="833199" y="5100757"/>
            <a:ext cx="7477601"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OLTP systems prioritize transactional integrity, ensuring data accuracy and atomicity through features like locking, logging, and rollbacks. They enable rapid data entry, retrieval, and updates to support critical day-to-day business activities.</a:t>
            </a:r>
            <a:endParaRPr lang="en-US" sz="1750" dirty="0"/>
          </a:p>
        </p:txBody>
      </p:sp>
    </p:spTree>
    <p:extLst>
      <p:ext uri="{BB962C8B-B14F-4D97-AF65-F5344CB8AC3E}">
        <p14:creationId xmlns:p14="http://schemas.microsoft.com/office/powerpoint/2010/main" val="36024116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sp>
        <p:nvSpPr>
          <p:cNvPr id="4" name="Text 2"/>
          <p:cNvSpPr/>
          <p:nvPr/>
        </p:nvSpPr>
        <p:spPr>
          <a:xfrm>
            <a:off x="2037993" y="1332309"/>
            <a:ext cx="9552861"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Differences between OLAP and OLTP</a:t>
            </a:r>
            <a:endParaRPr lang="en-US" sz="4374" dirty="0"/>
          </a:p>
        </p:txBody>
      </p:sp>
      <p:sp>
        <p:nvSpPr>
          <p:cNvPr id="5" name="Text 3"/>
          <p:cNvSpPr/>
          <p:nvPr/>
        </p:nvSpPr>
        <p:spPr>
          <a:xfrm>
            <a:off x="2037993" y="2582108"/>
            <a:ext cx="2232065"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Purpose</a:t>
            </a:r>
            <a:endParaRPr lang="en-US" sz="2187" dirty="0"/>
          </a:p>
        </p:txBody>
      </p:sp>
      <p:sp>
        <p:nvSpPr>
          <p:cNvPr id="6" name="Text 4"/>
          <p:cNvSpPr/>
          <p:nvPr/>
        </p:nvSpPr>
        <p:spPr>
          <a:xfrm>
            <a:off x="2037993" y="3151465"/>
            <a:ext cx="2232065" cy="2843213"/>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OLAP systems are designed for analytical and decision-support tasks, while OLTP systems focus on the execution of day-to-day business transactions.</a:t>
            </a:r>
            <a:endParaRPr lang="en-US" sz="1750" dirty="0"/>
          </a:p>
        </p:txBody>
      </p:sp>
      <p:sp>
        <p:nvSpPr>
          <p:cNvPr id="7" name="Text 5"/>
          <p:cNvSpPr/>
          <p:nvPr/>
        </p:nvSpPr>
        <p:spPr>
          <a:xfrm>
            <a:off x="4819650" y="2582108"/>
            <a:ext cx="2232065"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Data Structure</a:t>
            </a:r>
            <a:endParaRPr lang="en-US" sz="2187" dirty="0"/>
          </a:p>
        </p:txBody>
      </p:sp>
      <p:sp>
        <p:nvSpPr>
          <p:cNvPr id="8" name="Text 6"/>
          <p:cNvSpPr/>
          <p:nvPr/>
        </p:nvSpPr>
        <p:spPr>
          <a:xfrm>
            <a:off x="4819650" y="3151465"/>
            <a:ext cx="2232065" cy="3198614"/>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OLAP utilizes a multidimensional data model organized into cubes, while OLTP relies on a relational database structure optimized for transactional efficiency.</a:t>
            </a:r>
            <a:endParaRPr lang="en-US" sz="1750" dirty="0"/>
          </a:p>
        </p:txBody>
      </p:sp>
      <p:sp>
        <p:nvSpPr>
          <p:cNvPr id="9" name="Text 7"/>
          <p:cNvSpPr/>
          <p:nvPr/>
        </p:nvSpPr>
        <p:spPr>
          <a:xfrm>
            <a:off x="7601307" y="2582108"/>
            <a:ext cx="2232065" cy="694373"/>
          </a:xfrm>
          <a:prstGeom prst="rect">
            <a:avLst/>
          </a:prstGeom>
          <a:noFill/>
          <a:ln/>
        </p:spPr>
        <p:txBody>
          <a:bodyPr wrap="squar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Query Complexity</a:t>
            </a:r>
            <a:endParaRPr lang="en-US" sz="2187" dirty="0"/>
          </a:p>
        </p:txBody>
      </p:sp>
      <p:sp>
        <p:nvSpPr>
          <p:cNvPr id="10" name="Text 8"/>
          <p:cNvSpPr/>
          <p:nvPr/>
        </p:nvSpPr>
        <p:spPr>
          <a:xfrm>
            <a:off x="7601307" y="3498652"/>
            <a:ext cx="2232065" cy="3198614"/>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OLAP supports complex, ad-hoc queries that involve data aggregation and analysis, while OLTP handles simpler, predefined queries for routine business operations.</a:t>
            </a:r>
            <a:endParaRPr lang="en-US" sz="1750" dirty="0"/>
          </a:p>
        </p:txBody>
      </p:sp>
      <p:sp>
        <p:nvSpPr>
          <p:cNvPr id="11" name="Text 9"/>
          <p:cNvSpPr/>
          <p:nvPr/>
        </p:nvSpPr>
        <p:spPr>
          <a:xfrm>
            <a:off x="10382964" y="2582108"/>
            <a:ext cx="2232065" cy="347186"/>
          </a:xfrm>
          <a:prstGeom prst="rect">
            <a:avLst/>
          </a:prstGeom>
          <a:noFill/>
          <a:ln/>
        </p:spPr>
        <p:txBody>
          <a:bodyPr wrap="none" rtlCol="0" anchor="t"/>
          <a:lstStyle/>
          <a:p>
            <a:pPr marL="0" indent="0">
              <a:lnSpc>
                <a:spcPts val="2734"/>
              </a:lnSpc>
              <a:buNone/>
            </a:pPr>
            <a:r>
              <a:rPr lang="en-US" sz="2187" dirty="0">
                <a:solidFill>
                  <a:srgbClr val="1B1B27"/>
                </a:solidFill>
                <a:latin typeface="Raleway" pitchFamily="34" charset="0"/>
                <a:ea typeface="Raleway" pitchFamily="34" charset="-122"/>
                <a:cs typeface="Raleway" pitchFamily="34" charset="-120"/>
              </a:rPr>
              <a:t>Performance</a:t>
            </a:r>
            <a:endParaRPr lang="en-US" sz="2187" dirty="0"/>
          </a:p>
        </p:txBody>
      </p:sp>
      <p:sp>
        <p:nvSpPr>
          <p:cNvPr id="12" name="Text 10"/>
          <p:cNvSpPr/>
          <p:nvPr/>
        </p:nvSpPr>
        <p:spPr>
          <a:xfrm>
            <a:off x="10382964" y="3151465"/>
            <a:ext cx="2232065" cy="3198614"/>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OLAP systems prioritize query speed and data analysis, while OLTP systems focus on high transaction throughput and low latency for real-time processing.</a:t>
            </a:r>
            <a:endParaRPr lang="en-US" sz="1750" dirty="0"/>
          </a:p>
        </p:txBody>
      </p:sp>
    </p:spTree>
    <p:extLst>
      <p:ext uri="{BB962C8B-B14F-4D97-AF65-F5344CB8AC3E}">
        <p14:creationId xmlns:p14="http://schemas.microsoft.com/office/powerpoint/2010/main" val="3162916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29274" y="1649254"/>
            <a:ext cx="4931093" cy="4931093"/>
          </a:xfrm>
          <a:prstGeom prst="rect">
            <a:avLst/>
          </a:prstGeom>
        </p:spPr>
      </p:pic>
      <p:sp>
        <p:nvSpPr>
          <p:cNvPr id="6" name="Text 2"/>
          <p:cNvSpPr/>
          <p:nvPr/>
        </p:nvSpPr>
        <p:spPr>
          <a:xfrm>
            <a:off x="833199" y="2279094"/>
            <a:ext cx="7477601" cy="1916430"/>
          </a:xfrm>
          <a:prstGeom prst="rect">
            <a:avLst/>
          </a:prstGeom>
          <a:noFill/>
          <a:ln/>
        </p:spPr>
        <p:txBody>
          <a:bodyPr wrap="square" rtlCol="0" anchor="t"/>
          <a:lstStyle/>
          <a:p>
            <a:pPr marL="0" indent="0">
              <a:lnSpc>
                <a:spcPts val="7545"/>
              </a:lnSpc>
              <a:buNone/>
            </a:pPr>
            <a:r>
              <a:rPr lang="en-US" sz="6036" dirty="0">
                <a:solidFill>
                  <a:srgbClr val="1B1B27"/>
                </a:solidFill>
                <a:latin typeface="Raleway" pitchFamily="34" charset="0"/>
                <a:ea typeface="Raleway" pitchFamily="34" charset="-122"/>
                <a:cs typeface="Raleway" pitchFamily="34" charset="-120"/>
              </a:rPr>
              <a:t>Introduction to NoSQL Databases</a:t>
            </a:r>
            <a:endParaRPr lang="en-US" sz="6036" dirty="0"/>
          </a:p>
        </p:txBody>
      </p:sp>
      <p:sp>
        <p:nvSpPr>
          <p:cNvPr id="7" name="Text 3"/>
          <p:cNvSpPr/>
          <p:nvPr/>
        </p:nvSpPr>
        <p:spPr>
          <a:xfrm>
            <a:off x="833199" y="4528780"/>
            <a:ext cx="7477601"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NoSQL databases offer a flexible, scalable alternative to traditional relational databases. They are designed to handle large, unstructured datasets and provide high availability and rapid querying capabilities for modern data-intensive applications.</a:t>
            </a:r>
            <a:endParaRPr lang="en-US" sz="1750" dirty="0"/>
          </a:p>
        </p:txBody>
      </p:sp>
    </p:spTree>
    <p:extLst>
      <p:ext uri="{BB962C8B-B14F-4D97-AF65-F5344CB8AC3E}">
        <p14:creationId xmlns:p14="http://schemas.microsoft.com/office/powerpoint/2010/main" val="2070857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pic>
        <p:nvPicPr>
          <p:cNvPr id="4" name="Image 0" descr="preencoded.png"/>
          <p:cNvPicPr>
            <a:picLocks noChangeAspect="1"/>
          </p:cNvPicPr>
          <p:nvPr/>
        </p:nvPicPr>
        <p:blipFill>
          <a:blip r:embed="rId3"/>
          <a:stretch>
            <a:fillRect/>
          </a:stretch>
        </p:blipFill>
        <p:spPr>
          <a:xfrm>
            <a:off x="-762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270153" y="1893808"/>
            <a:ext cx="4930854" cy="4441984"/>
          </a:xfrm>
          <a:prstGeom prst="rect">
            <a:avLst/>
          </a:prstGeom>
        </p:spPr>
      </p:pic>
      <p:sp>
        <p:nvSpPr>
          <p:cNvPr id="6" name="Text 2"/>
          <p:cNvSpPr/>
          <p:nvPr/>
        </p:nvSpPr>
        <p:spPr>
          <a:xfrm>
            <a:off x="6319599" y="1565672"/>
            <a:ext cx="7477601" cy="1388745"/>
          </a:xfrm>
          <a:prstGeom prst="rect">
            <a:avLst/>
          </a:prstGeom>
          <a:noFill/>
          <a:ln/>
        </p:spPr>
        <p:txBody>
          <a:bodyPr wrap="squar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Advantages and Use Cases of NoSQL</a:t>
            </a:r>
            <a:endParaRPr lang="en-US" sz="4374" dirty="0"/>
          </a:p>
        </p:txBody>
      </p:sp>
      <p:sp>
        <p:nvSpPr>
          <p:cNvPr id="7" name="Text 3"/>
          <p:cNvSpPr/>
          <p:nvPr/>
        </p:nvSpPr>
        <p:spPr>
          <a:xfrm>
            <a:off x="6675001" y="3287673"/>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3C3939"/>
                </a:solidFill>
                <a:latin typeface="Roboto" pitchFamily="34" charset="0"/>
                <a:ea typeface="Roboto" pitchFamily="34" charset="-122"/>
                <a:cs typeface="Roboto" pitchFamily="34" charset="-120"/>
              </a:rPr>
              <a:t>Flexible Data Modeling:</a:t>
            </a:r>
            <a:r>
              <a:rPr lang="en-US" sz="1750" dirty="0">
                <a:solidFill>
                  <a:srgbClr val="3C3939"/>
                </a:solidFill>
                <a:latin typeface="Roboto" pitchFamily="34" charset="0"/>
                <a:ea typeface="Roboto" pitchFamily="34" charset="-122"/>
                <a:cs typeface="Roboto" pitchFamily="34" charset="-120"/>
              </a:rPr>
              <a:t> NoSQL databases can handle unstructured and semi-structured data, allowing for more flexible data models that adapt to changing requirements.</a:t>
            </a:r>
            <a:endParaRPr lang="en-US" sz="1750" dirty="0"/>
          </a:p>
        </p:txBody>
      </p:sp>
      <p:sp>
        <p:nvSpPr>
          <p:cNvPr id="8" name="Text 4"/>
          <p:cNvSpPr/>
          <p:nvPr/>
        </p:nvSpPr>
        <p:spPr>
          <a:xfrm>
            <a:off x="6675001" y="4442698"/>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3C3939"/>
                </a:solidFill>
                <a:latin typeface="Roboto" pitchFamily="34" charset="0"/>
                <a:ea typeface="Roboto" pitchFamily="34" charset="-122"/>
                <a:cs typeface="Roboto" pitchFamily="34" charset="-120"/>
              </a:rPr>
              <a:t>Scalability and High Availability:</a:t>
            </a:r>
            <a:r>
              <a:rPr lang="en-US" sz="1750" dirty="0">
                <a:solidFill>
                  <a:srgbClr val="3C3939"/>
                </a:solidFill>
                <a:latin typeface="Roboto" pitchFamily="34" charset="0"/>
                <a:ea typeface="Roboto" pitchFamily="34" charset="-122"/>
                <a:cs typeface="Roboto" pitchFamily="34" charset="-120"/>
              </a:rPr>
              <a:t> NoSQL systems can easily scale horizontally, distributing data and processing across multiple servers, providing high availability and fault tolerance.</a:t>
            </a:r>
            <a:endParaRPr lang="en-US" sz="1750" dirty="0"/>
          </a:p>
        </p:txBody>
      </p:sp>
      <p:sp>
        <p:nvSpPr>
          <p:cNvPr id="9" name="Text 5"/>
          <p:cNvSpPr/>
          <p:nvPr/>
        </p:nvSpPr>
        <p:spPr>
          <a:xfrm>
            <a:off x="6675001" y="5597723"/>
            <a:ext cx="7122200" cy="1066205"/>
          </a:xfrm>
          <a:prstGeom prst="rect">
            <a:avLst/>
          </a:prstGeom>
          <a:noFill/>
          <a:ln/>
        </p:spPr>
        <p:txBody>
          <a:bodyPr wrap="square" rtlCol="0" anchor="t"/>
          <a:lstStyle/>
          <a:p>
            <a:pPr marL="342900" indent="-342900" algn="l">
              <a:lnSpc>
                <a:spcPts val="2799"/>
              </a:lnSpc>
              <a:buSzPct val="100000"/>
              <a:buChar char="•"/>
            </a:pPr>
            <a:r>
              <a:rPr lang="en-US" sz="1750" b="1" dirty="0">
                <a:solidFill>
                  <a:srgbClr val="3C3939"/>
                </a:solidFill>
                <a:latin typeface="Roboto" pitchFamily="34" charset="0"/>
                <a:ea typeface="Roboto" pitchFamily="34" charset="-122"/>
                <a:cs typeface="Roboto" pitchFamily="34" charset="-120"/>
              </a:rPr>
              <a:t>Real-Time Processing:</a:t>
            </a:r>
            <a:r>
              <a:rPr lang="en-US" sz="1750" dirty="0">
                <a:solidFill>
                  <a:srgbClr val="3C3939"/>
                </a:solidFill>
                <a:latin typeface="Roboto" pitchFamily="34" charset="0"/>
                <a:ea typeface="Roboto" pitchFamily="34" charset="-122"/>
                <a:cs typeface="Roboto" pitchFamily="34" charset="-120"/>
              </a:rPr>
              <a:t> NoSQL databases excel at handling high-velocity data streams and enabling real-time analytics, making them well-suited for applications like IoT, social media, and e-commerce.</a:t>
            </a:r>
            <a:endParaRPr lang="en-US" sz="1750" dirty="0"/>
          </a:p>
        </p:txBody>
      </p:sp>
    </p:spTree>
    <p:extLst>
      <p:ext uri="{BB962C8B-B14F-4D97-AF65-F5344CB8AC3E}">
        <p14:creationId xmlns:p14="http://schemas.microsoft.com/office/powerpoint/2010/main" val="20576845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33053"/>
          </a:xfrm>
          <a:prstGeom prst="rect">
            <a:avLst/>
          </a:prstGeom>
          <a:solidFill>
            <a:srgbClr val="FFFFFF">
              <a:alpha val="75000"/>
            </a:srgbClr>
          </a:solidFill>
          <a:ln/>
        </p:spPr>
      </p:sp>
      <p:sp>
        <p:nvSpPr>
          <p:cNvPr id="4" name="Text 2"/>
          <p:cNvSpPr/>
          <p:nvPr/>
        </p:nvSpPr>
        <p:spPr>
          <a:xfrm>
            <a:off x="3074551" y="491014"/>
            <a:ext cx="6792397" cy="557927"/>
          </a:xfrm>
          <a:prstGeom prst="rect">
            <a:avLst/>
          </a:prstGeom>
          <a:noFill/>
          <a:ln/>
        </p:spPr>
        <p:txBody>
          <a:bodyPr wrap="none" rtlCol="0" anchor="t"/>
          <a:lstStyle/>
          <a:p>
            <a:pPr marL="0" indent="0">
              <a:lnSpc>
                <a:spcPts val="4394"/>
              </a:lnSpc>
              <a:buNone/>
            </a:pPr>
            <a:r>
              <a:rPr lang="en-US" sz="3515" dirty="0">
                <a:solidFill>
                  <a:srgbClr val="1B1B27"/>
                </a:solidFill>
                <a:latin typeface="Raleway" pitchFamily="34" charset="0"/>
                <a:ea typeface="Raleway" pitchFamily="34" charset="-122"/>
                <a:cs typeface="Raleway" pitchFamily="34" charset="-120"/>
              </a:rPr>
              <a:t>Database Lifecycle Management</a:t>
            </a:r>
            <a:endParaRPr lang="en-US" sz="3515" dirty="0"/>
          </a:p>
        </p:txBody>
      </p:sp>
      <p:sp>
        <p:nvSpPr>
          <p:cNvPr id="5" name="Shape 3"/>
          <p:cNvSpPr/>
          <p:nvPr/>
        </p:nvSpPr>
        <p:spPr>
          <a:xfrm>
            <a:off x="7297341" y="1406009"/>
            <a:ext cx="35600" cy="6336030"/>
          </a:xfrm>
          <a:prstGeom prst="roundRect">
            <a:avLst>
              <a:gd name="adj" fmla="val 225699"/>
            </a:avLst>
          </a:prstGeom>
          <a:solidFill>
            <a:srgbClr val="C7C7D0"/>
          </a:solidFill>
          <a:ln/>
        </p:spPr>
      </p:sp>
      <p:sp>
        <p:nvSpPr>
          <p:cNvPr id="6" name="Shape 4"/>
          <p:cNvSpPr/>
          <p:nvPr/>
        </p:nvSpPr>
        <p:spPr>
          <a:xfrm>
            <a:off x="6489383" y="1728490"/>
            <a:ext cx="624840" cy="35600"/>
          </a:xfrm>
          <a:prstGeom prst="roundRect">
            <a:avLst>
              <a:gd name="adj" fmla="val 225699"/>
            </a:avLst>
          </a:prstGeom>
          <a:solidFill>
            <a:srgbClr val="C7C7D0"/>
          </a:solidFill>
          <a:ln/>
        </p:spPr>
      </p:sp>
      <p:sp>
        <p:nvSpPr>
          <p:cNvPr id="7" name="Shape 5"/>
          <p:cNvSpPr/>
          <p:nvPr/>
        </p:nvSpPr>
        <p:spPr>
          <a:xfrm>
            <a:off x="7114223" y="1545550"/>
            <a:ext cx="401717" cy="401717"/>
          </a:xfrm>
          <a:prstGeom prst="roundRect">
            <a:avLst>
              <a:gd name="adj" fmla="val 20001"/>
            </a:avLst>
          </a:prstGeom>
          <a:solidFill>
            <a:srgbClr val="E1E1EA"/>
          </a:solidFill>
          <a:ln w="7620">
            <a:solidFill>
              <a:srgbClr val="C7C7D0"/>
            </a:solidFill>
            <a:prstDash val="solid"/>
          </a:ln>
        </p:spPr>
      </p:sp>
      <p:sp>
        <p:nvSpPr>
          <p:cNvPr id="8" name="Text 6"/>
          <p:cNvSpPr/>
          <p:nvPr/>
        </p:nvSpPr>
        <p:spPr>
          <a:xfrm>
            <a:off x="7257693" y="1579007"/>
            <a:ext cx="114657" cy="334685"/>
          </a:xfrm>
          <a:prstGeom prst="rect">
            <a:avLst/>
          </a:prstGeom>
          <a:noFill/>
          <a:ln/>
        </p:spPr>
        <p:txBody>
          <a:bodyPr wrap="none" rtlCol="0" anchor="t"/>
          <a:lstStyle/>
          <a:p>
            <a:pPr marL="0" indent="0" algn="ctr">
              <a:lnSpc>
                <a:spcPts val="2636"/>
              </a:lnSpc>
              <a:buNone/>
            </a:pPr>
            <a:r>
              <a:rPr lang="en-US" sz="2109" dirty="0">
                <a:solidFill>
                  <a:srgbClr val="3C3939"/>
                </a:solidFill>
                <a:latin typeface="Raleway" pitchFamily="34" charset="0"/>
                <a:ea typeface="Raleway" pitchFamily="34" charset="-122"/>
                <a:cs typeface="Raleway" pitchFamily="34" charset="-120"/>
              </a:rPr>
              <a:t>1</a:t>
            </a:r>
            <a:endParaRPr lang="en-US" sz="2109" dirty="0"/>
          </a:p>
        </p:txBody>
      </p:sp>
      <p:sp>
        <p:nvSpPr>
          <p:cNvPr id="9" name="Text 7"/>
          <p:cNvSpPr/>
          <p:nvPr/>
        </p:nvSpPr>
        <p:spPr>
          <a:xfrm>
            <a:off x="4101227" y="1584484"/>
            <a:ext cx="2231827" cy="278963"/>
          </a:xfrm>
          <a:prstGeom prst="rect">
            <a:avLst/>
          </a:prstGeom>
          <a:noFill/>
          <a:ln/>
        </p:spPr>
        <p:txBody>
          <a:bodyPr wrap="none" rtlCol="0" anchor="t"/>
          <a:lstStyle/>
          <a:p>
            <a:pPr marL="0" indent="0" algn="r">
              <a:lnSpc>
                <a:spcPts val="2197"/>
              </a:lnSpc>
              <a:buNone/>
            </a:pPr>
            <a:r>
              <a:rPr lang="en-US" sz="1757" dirty="0">
                <a:solidFill>
                  <a:srgbClr val="3C3939"/>
                </a:solidFill>
                <a:latin typeface="Raleway" pitchFamily="34" charset="0"/>
                <a:ea typeface="Raleway" pitchFamily="34" charset="-122"/>
                <a:cs typeface="Raleway" pitchFamily="34" charset="-120"/>
              </a:rPr>
              <a:t>Planning</a:t>
            </a:r>
            <a:endParaRPr lang="en-US" sz="1757" dirty="0"/>
          </a:p>
        </p:txBody>
      </p:sp>
      <p:sp>
        <p:nvSpPr>
          <p:cNvPr id="10" name="Text 8"/>
          <p:cNvSpPr/>
          <p:nvPr/>
        </p:nvSpPr>
        <p:spPr>
          <a:xfrm>
            <a:off x="3074551" y="1970484"/>
            <a:ext cx="3258503" cy="857250"/>
          </a:xfrm>
          <a:prstGeom prst="rect">
            <a:avLst/>
          </a:prstGeom>
          <a:noFill/>
          <a:ln/>
        </p:spPr>
        <p:txBody>
          <a:bodyPr wrap="square" rtlCol="0" anchor="t"/>
          <a:lstStyle/>
          <a:p>
            <a:pPr marL="0" indent="0" algn="r">
              <a:lnSpc>
                <a:spcPts val="2249"/>
              </a:lnSpc>
              <a:buNone/>
            </a:pPr>
            <a:r>
              <a:rPr lang="en-US" sz="1406" dirty="0">
                <a:solidFill>
                  <a:srgbClr val="3C3939"/>
                </a:solidFill>
                <a:latin typeface="Roboto" pitchFamily="34" charset="0"/>
                <a:ea typeface="Roboto" pitchFamily="34" charset="-122"/>
                <a:cs typeface="Roboto" pitchFamily="34" charset="-120"/>
              </a:rPr>
              <a:t>Assess business requirements, define database architecture, and create a comprehensive implementation plan.</a:t>
            </a:r>
            <a:endParaRPr lang="en-US" sz="1406" dirty="0"/>
          </a:p>
        </p:txBody>
      </p:sp>
      <p:sp>
        <p:nvSpPr>
          <p:cNvPr id="11" name="Shape 9"/>
          <p:cNvSpPr/>
          <p:nvPr/>
        </p:nvSpPr>
        <p:spPr>
          <a:xfrm>
            <a:off x="7515939" y="2621101"/>
            <a:ext cx="624840" cy="35600"/>
          </a:xfrm>
          <a:prstGeom prst="roundRect">
            <a:avLst>
              <a:gd name="adj" fmla="val 225699"/>
            </a:avLst>
          </a:prstGeom>
          <a:solidFill>
            <a:srgbClr val="C7C7D0"/>
          </a:solidFill>
          <a:ln/>
        </p:spPr>
      </p:sp>
      <p:sp>
        <p:nvSpPr>
          <p:cNvPr id="12" name="Shape 10"/>
          <p:cNvSpPr/>
          <p:nvPr/>
        </p:nvSpPr>
        <p:spPr>
          <a:xfrm>
            <a:off x="7114223" y="2438162"/>
            <a:ext cx="401717" cy="401717"/>
          </a:xfrm>
          <a:prstGeom prst="roundRect">
            <a:avLst>
              <a:gd name="adj" fmla="val 20001"/>
            </a:avLst>
          </a:prstGeom>
          <a:solidFill>
            <a:srgbClr val="E1E1EA"/>
          </a:solidFill>
          <a:ln w="7620">
            <a:solidFill>
              <a:srgbClr val="C7C7D0"/>
            </a:solidFill>
            <a:prstDash val="solid"/>
          </a:ln>
        </p:spPr>
      </p:sp>
      <p:sp>
        <p:nvSpPr>
          <p:cNvPr id="13" name="Text 11"/>
          <p:cNvSpPr/>
          <p:nvPr/>
        </p:nvSpPr>
        <p:spPr>
          <a:xfrm>
            <a:off x="7245310" y="2471618"/>
            <a:ext cx="139541" cy="334685"/>
          </a:xfrm>
          <a:prstGeom prst="rect">
            <a:avLst/>
          </a:prstGeom>
          <a:noFill/>
          <a:ln/>
        </p:spPr>
        <p:txBody>
          <a:bodyPr wrap="none" rtlCol="0" anchor="t"/>
          <a:lstStyle/>
          <a:p>
            <a:pPr marL="0" indent="0" algn="ctr">
              <a:lnSpc>
                <a:spcPts val="2636"/>
              </a:lnSpc>
              <a:buNone/>
            </a:pPr>
            <a:r>
              <a:rPr lang="en-US" sz="2109" dirty="0">
                <a:solidFill>
                  <a:srgbClr val="3C3939"/>
                </a:solidFill>
                <a:latin typeface="Raleway" pitchFamily="34" charset="0"/>
                <a:ea typeface="Raleway" pitchFamily="34" charset="-122"/>
                <a:cs typeface="Raleway" pitchFamily="34" charset="-120"/>
              </a:rPr>
              <a:t>2</a:t>
            </a:r>
            <a:endParaRPr lang="en-US" sz="2109" dirty="0"/>
          </a:p>
        </p:txBody>
      </p:sp>
      <p:sp>
        <p:nvSpPr>
          <p:cNvPr id="14" name="Text 12"/>
          <p:cNvSpPr/>
          <p:nvPr/>
        </p:nvSpPr>
        <p:spPr>
          <a:xfrm>
            <a:off x="8297108" y="2477095"/>
            <a:ext cx="2231827" cy="278963"/>
          </a:xfrm>
          <a:prstGeom prst="rect">
            <a:avLst/>
          </a:prstGeom>
          <a:noFill/>
          <a:ln/>
        </p:spPr>
        <p:txBody>
          <a:bodyPr wrap="none" rtlCol="0" anchor="t"/>
          <a:lstStyle/>
          <a:p>
            <a:pPr marL="0" indent="0" algn="l">
              <a:lnSpc>
                <a:spcPts val="2197"/>
              </a:lnSpc>
              <a:buNone/>
            </a:pPr>
            <a:r>
              <a:rPr lang="en-US" sz="1757" dirty="0">
                <a:solidFill>
                  <a:srgbClr val="3C3939"/>
                </a:solidFill>
                <a:latin typeface="Raleway" pitchFamily="34" charset="0"/>
                <a:ea typeface="Raleway" pitchFamily="34" charset="-122"/>
                <a:cs typeface="Raleway" pitchFamily="34" charset="-120"/>
              </a:rPr>
              <a:t>Design</a:t>
            </a:r>
            <a:endParaRPr lang="en-US" sz="1757" dirty="0"/>
          </a:p>
        </p:txBody>
      </p:sp>
      <p:sp>
        <p:nvSpPr>
          <p:cNvPr id="15" name="Text 13"/>
          <p:cNvSpPr/>
          <p:nvPr/>
        </p:nvSpPr>
        <p:spPr>
          <a:xfrm>
            <a:off x="8297108" y="2863096"/>
            <a:ext cx="3258622" cy="857250"/>
          </a:xfrm>
          <a:prstGeom prst="rect">
            <a:avLst/>
          </a:prstGeom>
          <a:noFill/>
          <a:ln/>
        </p:spPr>
        <p:txBody>
          <a:bodyPr wrap="square" rtlCol="0" anchor="t"/>
          <a:lstStyle/>
          <a:p>
            <a:pPr marL="0" indent="0" algn="l">
              <a:lnSpc>
                <a:spcPts val="2249"/>
              </a:lnSpc>
              <a:buNone/>
            </a:pPr>
            <a:r>
              <a:rPr lang="en-US" sz="1406" dirty="0">
                <a:solidFill>
                  <a:srgbClr val="3C3939"/>
                </a:solidFill>
                <a:latin typeface="Roboto" pitchFamily="34" charset="0"/>
                <a:ea typeface="Roboto" pitchFamily="34" charset="-122"/>
                <a:cs typeface="Roboto" pitchFamily="34" charset="-120"/>
              </a:rPr>
              <a:t>Design the database schema, data models, and security policies to meet the organization's needs.</a:t>
            </a:r>
            <a:endParaRPr lang="en-US" sz="1406" dirty="0"/>
          </a:p>
        </p:txBody>
      </p:sp>
      <p:sp>
        <p:nvSpPr>
          <p:cNvPr id="16" name="Shape 14"/>
          <p:cNvSpPr/>
          <p:nvPr/>
        </p:nvSpPr>
        <p:spPr>
          <a:xfrm>
            <a:off x="6489383" y="3510379"/>
            <a:ext cx="624840" cy="35600"/>
          </a:xfrm>
          <a:prstGeom prst="roundRect">
            <a:avLst>
              <a:gd name="adj" fmla="val 225699"/>
            </a:avLst>
          </a:prstGeom>
          <a:solidFill>
            <a:srgbClr val="C7C7D0"/>
          </a:solidFill>
          <a:ln/>
        </p:spPr>
      </p:sp>
      <p:sp>
        <p:nvSpPr>
          <p:cNvPr id="17" name="Shape 15"/>
          <p:cNvSpPr/>
          <p:nvPr/>
        </p:nvSpPr>
        <p:spPr>
          <a:xfrm>
            <a:off x="7114223" y="3327440"/>
            <a:ext cx="401717" cy="401717"/>
          </a:xfrm>
          <a:prstGeom prst="roundRect">
            <a:avLst>
              <a:gd name="adj" fmla="val 20001"/>
            </a:avLst>
          </a:prstGeom>
          <a:solidFill>
            <a:srgbClr val="E1E1EA"/>
          </a:solidFill>
          <a:ln w="7620">
            <a:solidFill>
              <a:srgbClr val="C7C7D0"/>
            </a:solidFill>
            <a:prstDash val="solid"/>
          </a:ln>
        </p:spPr>
      </p:sp>
      <p:sp>
        <p:nvSpPr>
          <p:cNvPr id="18" name="Text 16"/>
          <p:cNvSpPr/>
          <p:nvPr/>
        </p:nvSpPr>
        <p:spPr>
          <a:xfrm>
            <a:off x="7243524" y="3360896"/>
            <a:ext cx="142994" cy="334685"/>
          </a:xfrm>
          <a:prstGeom prst="rect">
            <a:avLst/>
          </a:prstGeom>
          <a:noFill/>
          <a:ln/>
        </p:spPr>
        <p:txBody>
          <a:bodyPr wrap="none" rtlCol="0" anchor="t"/>
          <a:lstStyle/>
          <a:p>
            <a:pPr marL="0" indent="0" algn="ctr">
              <a:lnSpc>
                <a:spcPts val="2636"/>
              </a:lnSpc>
              <a:buNone/>
            </a:pPr>
            <a:r>
              <a:rPr lang="en-US" sz="2109" dirty="0">
                <a:solidFill>
                  <a:srgbClr val="3C3939"/>
                </a:solidFill>
                <a:latin typeface="Raleway" pitchFamily="34" charset="0"/>
                <a:ea typeface="Raleway" pitchFamily="34" charset="-122"/>
                <a:cs typeface="Raleway" pitchFamily="34" charset="-120"/>
              </a:rPr>
              <a:t>3</a:t>
            </a:r>
            <a:endParaRPr lang="en-US" sz="2109" dirty="0"/>
          </a:p>
        </p:txBody>
      </p:sp>
      <p:sp>
        <p:nvSpPr>
          <p:cNvPr id="19" name="Text 17"/>
          <p:cNvSpPr/>
          <p:nvPr/>
        </p:nvSpPr>
        <p:spPr>
          <a:xfrm>
            <a:off x="4101227" y="3366373"/>
            <a:ext cx="2231827" cy="278963"/>
          </a:xfrm>
          <a:prstGeom prst="rect">
            <a:avLst/>
          </a:prstGeom>
          <a:noFill/>
          <a:ln/>
        </p:spPr>
        <p:txBody>
          <a:bodyPr wrap="none" rtlCol="0" anchor="t"/>
          <a:lstStyle/>
          <a:p>
            <a:pPr marL="0" indent="0" algn="r">
              <a:lnSpc>
                <a:spcPts val="2197"/>
              </a:lnSpc>
              <a:buNone/>
            </a:pPr>
            <a:r>
              <a:rPr lang="en-US" sz="1757" dirty="0">
                <a:solidFill>
                  <a:srgbClr val="3C3939"/>
                </a:solidFill>
                <a:latin typeface="Raleway" pitchFamily="34" charset="0"/>
                <a:ea typeface="Raleway" pitchFamily="34" charset="-122"/>
                <a:cs typeface="Raleway" pitchFamily="34" charset="-120"/>
              </a:rPr>
              <a:t>Implementation</a:t>
            </a:r>
            <a:endParaRPr lang="en-US" sz="1757" dirty="0"/>
          </a:p>
        </p:txBody>
      </p:sp>
      <p:sp>
        <p:nvSpPr>
          <p:cNvPr id="20" name="Text 18"/>
          <p:cNvSpPr/>
          <p:nvPr/>
        </p:nvSpPr>
        <p:spPr>
          <a:xfrm>
            <a:off x="3074551" y="3752374"/>
            <a:ext cx="3258503" cy="857250"/>
          </a:xfrm>
          <a:prstGeom prst="rect">
            <a:avLst/>
          </a:prstGeom>
          <a:noFill/>
          <a:ln/>
        </p:spPr>
        <p:txBody>
          <a:bodyPr wrap="square" rtlCol="0" anchor="t"/>
          <a:lstStyle/>
          <a:p>
            <a:pPr marL="0" indent="0" algn="r">
              <a:lnSpc>
                <a:spcPts val="2249"/>
              </a:lnSpc>
              <a:buNone/>
            </a:pPr>
            <a:r>
              <a:rPr lang="en-US" sz="1406" dirty="0">
                <a:solidFill>
                  <a:srgbClr val="3C3939"/>
                </a:solidFill>
                <a:latin typeface="Roboto" pitchFamily="34" charset="0"/>
                <a:ea typeface="Roboto" pitchFamily="34" charset="-122"/>
                <a:cs typeface="Roboto" pitchFamily="34" charset="-120"/>
              </a:rPr>
              <a:t>Deploy the database infrastructure, migrate data, and test the system to ensure seamless integration.</a:t>
            </a:r>
            <a:endParaRPr lang="en-US" sz="1406" dirty="0"/>
          </a:p>
        </p:txBody>
      </p:sp>
      <p:sp>
        <p:nvSpPr>
          <p:cNvPr id="21" name="Shape 19"/>
          <p:cNvSpPr/>
          <p:nvPr/>
        </p:nvSpPr>
        <p:spPr>
          <a:xfrm>
            <a:off x="7515939" y="4399776"/>
            <a:ext cx="624840" cy="35600"/>
          </a:xfrm>
          <a:prstGeom prst="roundRect">
            <a:avLst>
              <a:gd name="adj" fmla="val 225699"/>
            </a:avLst>
          </a:prstGeom>
          <a:solidFill>
            <a:srgbClr val="C7C7D0"/>
          </a:solidFill>
          <a:ln/>
        </p:spPr>
      </p:sp>
      <p:sp>
        <p:nvSpPr>
          <p:cNvPr id="22" name="Shape 20"/>
          <p:cNvSpPr/>
          <p:nvPr/>
        </p:nvSpPr>
        <p:spPr>
          <a:xfrm>
            <a:off x="7114223" y="4216837"/>
            <a:ext cx="401717" cy="401717"/>
          </a:xfrm>
          <a:prstGeom prst="roundRect">
            <a:avLst>
              <a:gd name="adj" fmla="val 20001"/>
            </a:avLst>
          </a:prstGeom>
          <a:solidFill>
            <a:srgbClr val="E1E1EA"/>
          </a:solidFill>
          <a:ln w="7620">
            <a:solidFill>
              <a:srgbClr val="C7C7D0"/>
            </a:solidFill>
            <a:prstDash val="solid"/>
          </a:ln>
        </p:spPr>
      </p:sp>
      <p:sp>
        <p:nvSpPr>
          <p:cNvPr id="23" name="Text 21"/>
          <p:cNvSpPr/>
          <p:nvPr/>
        </p:nvSpPr>
        <p:spPr>
          <a:xfrm>
            <a:off x="7241977" y="4250293"/>
            <a:ext cx="146209" cy="334685"/>
          </a:xfrm>
          <a:prstGeom prst="rect">
            <a:avLst/>
          </a:prstGeom>
          <a:noFill/>
          <a:ln/>
        </p:spPr>
        <p:txBody>
          <a:bodyPr wrap="none" rtlCol="0" anchor="t"/>
          <a:lstStyle/>
          <a:p>
            <a:pPr marL="0" indent="0" algn="ctr">
              <a:lnSpc>
                <a:spcPts val="2636"/>
              </a:lnSpc>
              <a:buNone/>
            </a:pPr>
            <a:r>
              <a:rPr lang="en-US" sz="2109" dirty="0">
                <a:solidFill>
                  <a:srgbClr val="3C3939"/>
                </a:solidFill>
                <a:latin typeface="Raleway" pitchFamily="34" charset="0"/>
                <a:ea typeface="Raleway" pitchFamily="34" charset="-122"/>
                <a:cs typeface="Raleway" pitchFamily="34" charset="-120"/>
              </a:rPr>
              <a:t>4</a:t>
            </a:r>
            <a:endParaRPr lang="en-US" sz="2109" dirty="0"/>
          </a:p>
        </p:txBody>
      </p:sp>
      <p:sp>
        <p:nvSpPr>
          <p:cNvPr id="24" name="Text 22"/>
          <p:cNvSpPr/>
          <p:nvPr/>
        </p:nvSpPr>
        <p:spPr>
          <a:xfrm>
            <a:off x="8297108" y="4255770"/>
            <a:ext cx="2231827" cy="278963"/>
          </a:xfrm>
          <a:prstGeom prst="rect">
            <a:avLst/>
          </a:prstGeom>
          <a:noFill/>
          <a:ln/>
        </p:spPr>
        <p:txBody>
          <a:bodyPr wrap="none" rtlCol="0" anchor="t"/>
          <a:lstStyle/>
          <a:p>
            <a:pPr marL="0" indent="0" algn="l">
              <a:lnSpc>
                <a:spcPts val="2197"/>
              </a:lnSpc>
              <a:buNone/>
            </a:pPr>
            <a:r>
              <a:rPr lang="en-US" sz="1757" dirty="0">
                <a:solidFill>
                  <a:srgbClr val="3C3939"/>
                </a:solidFill>
                <a:latin typeface="Raleway" pitchFamily="34" charset="0"/>
                <a:ea typeface="Raleway" pitchFamily="34" charset="-122"/>
                <a:cs typeface="Raleway" pitchFamily="34" charset="-120"/>
              </a:rPr>
              <a:t>Maintenance</a:t>
            </a:r>
            <a:endParaRPr lang="en-US" sz="1757" dirty="0"/>
          </a:p>
        </p:txBody>
      </p:sp>
      <p:sp>
        <p:nvSpPr>
          <p:cNvPr id="25" name="Text 23"/>
          <p:cNvSpPr/>
          <p:nvPr/>
        </p:nvSpPr>
        <p:spPr>
          <a:xfrm>
            <a:off x="8297108" y="4641771"/>
            <a:ext cx="3258622" cy="857250"/>
          </a:xfrm>
          <a:prstGeom prst="rect">
            <a:avLst/>
          </a:prstGeom>
          <a:noFill/>
          <a:ln/>
        </p:spPr>
        <p:txBody>
          <a:bodyPr wrap="square" rtlCol="0" anchor="t"/>
          <a:lstStyle/>
          <a:p>
            <a:pPr marL="0" indent="0" algn="l">
              <a:lnSpc>
                <a:spcPts val="2249"/>
              </a:lnSpc>
              <a:buNone/>
            </a:pPr>
            <a:r>
              <a:rPr lang="en-US" sz="1406" dirty="0">
                <a:solidFill>
                  <a:srgbClr val="3C3939"/>
                </a:solidFill>
                <a:latin typeface="Roboto" pitchFamily="34" charset="0"/>
                <a:ea typeface="Roboto" pitchFamily="34" charset="-122"/>
                <a:cs typeface="Roboto" pitchFamily="34" charset="-120"/>
              </a:rPr>
              <a:t>Continuously monitor, optimize, and maintain the database to ensure optimal performance and uptime.</a:t>
            </a:r>
            <a:endParaRPr lang="en-US" sz="1406" dirty="0"/>
          </a:p>
        </p:txBody>
      </p:sp>
      <p:sp>
        <p:nvSpPr>
          <p:cNvPr id="26" name="Shape 24"/>
          <p:cNvSpPr/>
          <p:nvPr/>
        </p:nvSpPr>
        <p:spPr>
          <a:xfrm>
            <a:off x="6489383" y="5289173"/>
            <a:ext cx="624840" cy="35600"/>
          </a:xfrm>
          <a:prstGeom prst="roundRect">
            <a:avLst>
              <a:gd name="adj" fmla="val 225699"/>
            </a:avLst>
          </a:prstGeom>
          <a:solidFill>
            <a:srgbClr val="C7C7D0"/>
          </a:solidFill>
          <a:ln/>
        </p:spPr>
      </p:sp>
      <p:sp>
        <p:nvSpPr>
          <p:cNvPr id="27" name="Shape 25"/>
          <p:cNvSpPr/>
          <p:nvPr/>
        </p:nvSpPr>
        <p:spPr>
          <a:xfrm>
            <a:off x="7114223" y="5106233"/>
            <a:ext cx="401717" cy="401717"/>
          </a:xfrm>
          <a:prstGeom prst="roundRect">
            <a:avLst>
              <a:gd name="adj" fmla="val 20001"/>
            </a:avLst>
          </a:prstGeom>
          <a:solidFill>
            <a:srgbClr val="E1E1EA"/>
          </a:solidFill>
          <a:ln w="7620">
            <a:solidFill>
              <a:srgbClr val="C7C7D0"/>
            </a:solidFill>
            <a:prstDash val="solid"/>
          </a:ln>
        </p:spPr>
      </p:sp>
      <p:sp>
        <p:nvSpPr>
          <p:cNvPr id="28" name="Text 26"/>
          <p:cNvSpPr/>
          <p:nvPr/>
        </p:nvSpPr>
        <p:spPr>
          <a:xfrm>
            <a:off x="7242096" y="5139690"/>
            <a:ext cx="145971" cy="334685"/>
          </a:xfrm>
          <a:prstGeom prst="rect">
            <a:avLst/>
          </a:prstGeom>
          <a:noFill/>
          <a:ln/>
        </p:spPr>
        <p:txBody>
          <a:bodyPr wrap="none" rtlCol="0" anchor="t"/>
          <a:lstStyle/>
          <a:p>
            <a:pPr marL="0" indent="0" algn="ctr">
              <a:lnSpc>
                <a:spcPts val="2636"/>
              </a:lnSpc>
              <a:buNone/>
            </a:pPr>
            <a:r>
              <a:rPr lang="en-US" sz="2109" dirty="0">
                <a:solidFill>
                  <a:srgbClr val="3C3939"/>
                </a:solidFill>
                <a:latin typeface="Raleway" pitchFamily="34" charset="0"/>
                <a:ea typeface="Raleway" pitchFamily="34" charset="-122"/>
                <a:cs typeface="Raleway" pitchFamily="34" charset="-120"/>
              </a:rPr>
              <a:t>5</a:t>
            </a:r>
            <a:endParaRPr lang="en-US" sz="2109" dirty="0"/>
          </a:p>
        </p:txBody>
      </p:sp>
      <p:sp>
        <p:nvSpPr>
          <p:cNvPr id="29" name="Text 27"/>
          <p:cNvSpPr/>
          <p:nvPr/>
        </p:nvSpPr>
        <p:spPr>
          <a:xfrm>
            <a:off x="4101227" y="5145167"/>
            <a:ext cx="2231827" cy="278963"/>
          </a:xfrm>
          <a:prstGeom prst="rect">
            <a:avLst/>
          </a:prstGeom>
          <a:noFill/>
          <a:ln/>
        </p:spPr>
        <p:txBody>
          <a:bodyPr wrap="none" rtlCol="0" anchor="t"/>
          <a:lstStyle/>
          <a:p>
            <a:pPr marL="0" indent="0" algn="r">
              <a:lnSpc>
                <a:spcPts val="2197"/>
              </a:lnSpc>
              <a:buNone/>
            </a:pPr>
            <a:r>
              <a:rPr lang="en-US" sz="1757" dirty="0">
                <a:solidFill>
                  <a:srgbClr val="3C3939"/>
                </a:solidFill>
                <a:latin typeface="Raleway" pitchFamily="34" charset="0"/>
                <a:ea typeface="Raleway" pitchFamily="34" charset="-122"/>
                <a:cs typeface="Raleway" pitchFamily="34" charset="-120"/>
              </a:rPr>
              <a:t>Evolution</a:t>
            </a:r>
            <a:endParaRPr lang="en-US" sz="1757" dirty="0"/>
          </a:p>
        </p:txBody>
      </p:sp>
      <p:sp>
        <p:nvSpPr>
          <p:cNvPr id="30" name="Text 28"/>
          <p:cNvSpPr/>
          <p:nvPr/>
        </p:nvSpPr>
        <p:spPr>
          <a:xfrm>
            <a:off x="3074551" y="5531168"/>
            <a:ext cx="3258503" cy="1143000"/>
          </a:xfrm>
          <a:prstGeom prst="rect">
            <a:avLst/>
          </a:prstGeom>
          <a:noFill/>
          <a:ln/>
        </p:spPr>
        <p:txBody>
          <a:bodyPr wrap="square" rtlCol="0" anchor="t"/>
          <a:lstStyle/>
          <a:p>
            <a:pPr marL="0" indent="0" algn="r">
              <a:lnSpc>
                <a:spcPts val="2249"/>
              </a:lnSpc>
              <a:buNone/>
            </a:pPr>
            <a:r>
              <a:rPr lang="en-US" sz="1406" dirty="0">
                <a:solidFill>
                  <a:srgbClr val="3C3939"/>
                </a:solidFill>
                <a:latin typeface="Roboto" pitchFamily="34" charset="0"/>
                <a:ea typeface="Roboto" pitchFamily="34" charset="-122"/>
                <a:cs typeface="Roboto" pitchFamily="34" charset="-120"/>
              </a:rPr>
              <a:t>Adapt the database to changing business requirements, upgrade software, and implement new features as needed.</a:t>
            </a:r>
            <a:endParaRPr lang="en-US" sz="1406" dirty="0"/>
          </a:p>
        </p:txBody>
      </p:sp>
      <p:sp>
        <p:nvSpPr>
          <p:cNvPr id="31" name="Shape 29"/>
          <p:cNvSpPr/>
          <p:nvPr/>
        </p:nvSpPr>
        <p:spPr>
          <a:xfrm>
            <a:off x="7515939" y="6321326"/>
            <a:ext cx="624840" cy="35600"/>
          </a:xfrm>
          <a:prstGeom prst="roundRect">
            <a:avLst>
              <a:gd name="adj" fmla="val 225699"/>
            </a:avLst>
          </a:prstGeom>
          <a:solidFill>
            <a:srgbClr val="C7C7D0"/>
          </a:solidFill>
          <a:ln/>
        </p:spPr>
      </p:sp>
      <p:sp>
        <p:nvSpPr>
          <p:cNvPr id="32" name="Shape 30"/>
          <p:cNvSpPr/>
          <p:nvPr/>
        </p:nvSpPr>
        <p:spPr>
          <a:xfrm>
            <a:off x="7114223" y="6138386"/>
            <a:ext cx="401717" cy="401717"/>
          </a:xfrm>
          <a:prstGeom prst="roundRect">
            <a:avLst>
              <a:gd name="adj" fmla="val 20001"/>
            </a:avLst>
          </a:prstGeom>
          <a:solidFill>
            <a:srgbClr val="E1E1EA"/>
          </a:solidFill>
          <a:ln w="7620">
            <a:solidFill>
              <a:srgbClr val="C7C7D0"/>
            </a:solidFill>
            <a:prstDash val="solid"/>
          </a:ln>
        </p:spPr>
      </p:sp>
      <p:sp>
        <p:nvSpPr>
          <p:cNvPr id="33" name="Text 31"/>
          <p:cNvSpPr/>
          <p:nvPr/>
        </p:nvSpPr>
        <p:spPr>
          <a:xfrm>
            <a:off x="7234357" y="6171843"/>
            <a:ext cx="161449" cy="334685"/>
          </a:xfrm>
          <a:prstGeom prst="rect">
            <a:avLst/>
          </a:prstGeom>
          <a:noFill/>
          <a:ln/>
        </p:spPr>
        <p:txBody>
          <a:bodyPr wrap="none" rtlCol="0" anchor="t"/>
          <a:lstStyle/>
          <a:p>
            <a:pPr marL="0" indent="0" algn="ctr">
              <a:lnSpc>
                <a:spcPts val="2636"/>
              </a:lnSpc>
              <a:buNone/>
            </a:pPr>
            <a:r>
              <a:rPr lang="en-US" sz="2109" dirty="0">
                <a:solidFill>
                  <a:srgbClr val="3C3939"/>
                </a:solidFill>
                <a:latin typeface="Raleway" pitchFamily="34" charset="0"/>
                <a:ea typeface="Raleway" pitchFamily="34" charset="-122"/>
                <a:cs typeface="Raleway" pitchFamily="34" charset="-120"/>
              </a:rPr>
              <a:t>6</a:t>
            </a:r>
            <a:endParaRPr lang="en-US" sz="2109" dirty="0"/>
          </a:p>
        </p:txBody>
      </p:sp>
      <p:sp>
        <p:nvSpPr>
          <p:cNvPr id="34" name="Text 32"/>
          <p:cNvSpPr/>
          <p:nvPr/>
        </p:nvSpPr>
        <p:spPr>
          <a:xfrm>
            <a:off x="8297108" y="6177320"/>
            <a:ext cx="2231827" cy="278963"/>
          </a:xfrm>
          <a:prstGeom prst="rect">
            <a:avLst/>
          </a:prstGeom>
          <a:noFill/>
          <a:ln/>
        </p:spPr>
        <p:txBody>
          <a:bodyPr wrap="none" rtlCol="0" anchor="t"/>
          <a:lstStyle/>
          <a:p>
            <a:pPr marL="0" indent="0" algn="l">
              <a:lnSpc>
                <a:spcPts val="2197"/>
              </a:lnSpc>
              <a:buNone/>
            </a:pPr>
            <a:r>
              <a:rPr lang="en-US" sz="1757" dirty="0">
                <a:solidFill>
                  <a:srgbClr val="3C3939"/>
                </a:solidFill>
                <a:latin typeface="Raleway" pitchFamily="34" charset="0"/>
                <a:ea typeface="Raleway" pitchFamily="34" charset="-122"/>
                <a:cs typeface="Raleway" pitchFamily="34" charset="-120"/>
              </a:rPr>
              <a:t>Retirement</a:t>
            </a:r>
            <a:endParaRPr lang="en-US" sz="1757" dirty="0"/>
          </a:p>
        </p:txBody>
      </p:sp>
      <p:sp>
        <p:nvSpPr>
          <p:cNvPr id="35" name="Text 33"/>
          <p:cNvSpPr/>
          <p:nvPr/>
        </p:nvSpPr>
        <p:spPr>
          <a:xfrm>
            <a:off x="8297108" y="6563320"/>
            <a:ext cx="3258622" cy="857250"/>
          </a:xfrm>
          <a:prstGeom prst="rect">
            <a:avLst/>
          </a:prstGeom>
          <a:noFill/>
          <a:ln/>
        </p:spPr>
        <p:txBody>
          <a:bodyPr wrap="square" rtlCol="0" anchor="t"/>
          <a:lstStyle/>
          <a:p>
            <a:pPr marL="0" indent="0" algn="l">
              <a:lnSpc>
                <a:spcPts val="2249"/>
              </a:lnSpc>
              <a:buNone/>
            </a:pPr>
            <a:r>
              <a:rPr lang="en-US" sz="1406" dirty="0">
                <a:solidFill>
                  <a:srgbClr val="3C3939"/>
                </a:solidFill>
                <a:latin typeface="Roboto" pitchFamily="34" charset="0"/>
                <a:ea typeface="Roboto" pitchFamily="34" charset="-122"/>
                <a:cs typeface="Roboto" pitchFamily="34" charset="-120"/>
              </a:rPr>
              <a:t>Properly archive and retire outdated databases, ensuring data preservation and compliance with regulations.</a:t>
            </a:r>
            <a:endParaRPr lang="en-US" sz="1406" dirty="0"/>
          </a:p>
        </p:txBody>
      </p:sp>
    </p:spTree>
    <p:extLst>
      <p:ext uri="{BB962C8B-B14F-4D97-AF65-F5344CB8AC3E}">
        <p14:creationId xmlns:p14="http://schemas.microsoft.com/office/powerpoint/2010/main" val="4293546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sp>
        <p:nvSpPr>
          <p:cNvPr id="4" name="Text 2"/>
          <p:cNvSpPr/>
          <p:nvPr/>
        </p:nvSpPr>
        <p:spPr>
          <a:xfrm>
            <a:off x="2037993" y="1104662"/>
            <a:ext cx="7972663"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Conclusion and Key Takeaways</a:t>
            </a:r>
            <a:endParaRPr lang="en-US" sz="4374" dirty="0"/>
          </a:p>
        </p:txBody>
      </p:sp>
      <p:sp>
        <p:nvSpPr>
          <p:cNvPr id="5" name="Shape 3"/>
          <p:cNvSpPr/>
          <p:nvPr/>
        </p:nvSpPr>
        <p:spPr>
          <a:xfrm>
            <a:off x="2037993" y="2472571"/>
            <a:ext cx="388739" cy="388739"/>
          </a:xfrm>
          <a:prstGeom prst="roundRect">
            <a:avLst>
              <a:gd name="adj" fmla="val 25722"/>
            </a:avLst>
          </a:prstGeom>
          <a:solidFill>
            <a:srgbClr val="E1E1EA"/>
          </a:solidFill>
          <a:ln w="7620">
            <a:solidFill>
              <a:srgbClr val="C7C7D0"/>
            </a:solidFill>
            <a:prstDash val="solid"/>
          </a:ln>
        </p:spPr>
      </p:sp>
      <p:sp>
        <p:nvSpPr>
          <p:cNvPr id="6" name="Text 4"/>
          <p:cNvSpPr/>
          <p:nvPr/>
        </p:nvSpPr>
        <p:spPr>
          <a:xfrm>
            <a:off x="2648903" y="2493288"/>
            <a:ext cx="3301603"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Comprehensive Overview</a:t>
            </a:r>
            <a:endParaRPr lang="en-US" sz="2187" dirty="0"/>
          </a:p>
        </p:txBody>
      </p:sp>
      <p:sp>
        <p:nvSpPr>
          <p:cNvPr id="7" name="Text 5"/>
          <p:cNvSpPr/>
          <p:nvPr/>
        </p:nvSpPr>
        <p:spPr>
          <a:xfrm>
            <a:off x="2648903" y="2973705"/>
            <a:ext cx="4555212" cy="1777008"/>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This presentation has provided a comprehensive introduction to the key concepts in data mining, data warehousing, OLAP, OLTP, NoSQL databases, and database lifecycle management.</a:t>
            </a:r>
            <a:endParaRPr lang="en-US" sz="1750" dirty="0"/>
          </a:p>
        </p:txBody>
      </p:sp>
      <p:sp>
        <p:nvSpPr>
          <p:cNvPr id="8" name="Shape 6"/>
          <p:cNvSpPr/>
          <p:nvPr/>
        </p:nvSpPr>
        <p:spPr>
          <a:xfrm>
            <a:off x="7426285" y="2472571"/>
            <a:ext cx="388739" cy="388739"/>
          </a:xfrm>
          <a:prstGeom prst="roundRect">
            <a:avLst>
              <a:gd name="adj" fmla="val 25722"/>
            </a:avLst>
          </a:prstGeom>
          <a:solidFill>
            <a:srgbClr val="E1E1EA"/>
          </a:solidFill>
          <a:ln w="7620">
            <a:solidFill>
              <a:srgbClr val="C7C7D0"/>
            </a:solidFill>
            <a:prstDash val="solid"/>
          </a:ln>
        </p:spPr>
      </p:sp>
      <p:sp>
        <p:nvSpPr>
          <p:cNvPr id="9" name="Text 7"/>
          <p:cNvSpPr/>
          <p:nvPr/>
        </p:nvSpPr>
        <p:spPr>
          <a:xfrm>
            <a:off x="8037195" y="2493288"/>
            <a:ext cx="3697605"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Complementary Approaches</a:t>
            </a:r>
            <a:endParaRPr lang="en-US" sz="2187" dirty="0"/>
          </a:p>
        </p:txBody>
      </p:sp>
      <p:sp>
        <p:nvSpPr>
          <p:cNvPr id="10" name="Text 8"/>
          <p:cNvSpPr/>
          <p:nvPr/>
        </p:nvSpPr>
        <p:spPr>
          <a:xfrm>
            <a:off x="8037195" y="2973705"/>
            <a:ext cx="4555212"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OLAP and OLTP systems serve distinct but complementary purposes, unlocking insights and powering mission-critical operations respectively.</a:t>
            </a:r>
            <a:endParaRPr lang="en-US" sz="1750" dirty="0"/>
          </a:p>
        </p:txBody>
      </p:sp>
      <p:sp>
        <p:nvSpPr>
          <p:cNvPr id="11" name="Shape 9"/>
          <p:cNvSpPr/>
          <p:nvPr/>
        </p:nvSpPr>
        <p:spPr>
          <a:xfrm>
            <a:off x="2037993" y="5202079"/>
            <a:ext cx="388739" cy="388739"/>
          </a:xfrm>
          <a:prstGeom prst="roundRect">
            <a:avLst>
              <a:gd name="adj" fmla="val 25722"/>
            </a:avLst>
          </a:prstGeom>
          <a:solidFill>
            <a:srgbClr val="E1E1EA"/>
          </a:solidFill>
          <a:ln w="7620">
            <a:solidFill>
              <a:srgbClr val="C7C7D0"/>
            </a:solidFill>
            <a:prstDash val="solid"/>
          </a:ln>
        </p:spPr>
      </p:sp>
      <p:sp>
        <p:nvSpPr>
          <p:cNvPr id="12" name="Text 10"/>
          <p:cNvSpPr/>
          <p:nvPr/>
        </p:nvSpPr>
        <p:spPr>
          <a:xfrm>
            <a:off x="2648903" y="5222796"/>
            <a:ext cx="277749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NoSQL Flexibility</a:t>
            </a:r>
            <a:endParaRPr lang="en-US" sz="2187" dirty="0"/>
          </a:p>
        </p:txBody>
      </p:sp>
      <p:sp>
        <p:nvSpPr>
          <p:cNvPr id="13" name="Text 11"/>
          <p:cNvSpPr/>
          <p:nvPr/>
        </p:nvSpPr>
        <p:spPr>
          <a:xfrm>
            <a:off x="2648903" y="5703213"/>
            <a:ext cx="4555212"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NoSQL databases offer a flexible, scalable alternative to traditional relational databases, well-suited for handling unstructured data and enabling real-time processing.</a:t>
            </a:r>
            <a:endParaRPr lang="en-US" sz="1750" dirty="0"/>
          </a:p>
        </p:txBody>
      </p:sp>
      <p:sp>
        <p:nvSpPr>
          <p:cNvPr id="14" name="Shape 12"/>
          <p:cNvSpPr/>
          <p:nvPr/>
        </p:nvSpPr>
        <p:spPr>
          <a:xfrm>
            <a:off x="7426285" y="5202079"/>
            <a:ext cx="388739" cy="388739"/>
          </a:xfrm>
          <a:prstGeom prst="roundRect">
            <a:avLst>
              <a:gd name="adj" fmla="val 25722"/>
            </a:avLst>
          </a:prstGeom>
          <a:solidFill>
            <a:srgbClr val="E1E1EA"/>
          </a:solidFill>
          <a:ln w="7620">
            <a:solidFill>
              <a:srgbClr val="C7C7D0"/>
            </a:solidFill>
            <a:prstDash val="solid"/>
          </a:ln>
        </p:spPr>
      </p:sp>
      <p:sp>
        <p:nvSpPr>
          <p:cNvPr id="15" name="Text 13"/>
          <p:cNvSpPr/>
          <p:nvPr/>
        </p:nvSpPr>
        <p:spPr>
          <a:xfrm>
            <a:off x="8037195" y="5222796"/>
            <a:ext cx="2942630" cy="347186"/>
          </a:xfrm>
          <a:prstGeom prst="rect">
            <a:avLst/>
          </a:prstGeom>
          <a:noFill/>
          <a:ln/>
        </p:spPr>
        <p:txBody>
          <a:bodyPr wrap="none" rtlCol="0" anchor="t"/>
          <a:lstStyle/>
          <a:p>
            <a:pPr marL="0" indent="0">
              <a:lnSpc>
                <a:spcPts val="2734"/>
              </a:lnSpc>
              <a:buNone/>
            </a:pPr>
            <a:r>
              <a:rPr lang="en-US" sz="2187" dirty="0">
                <a:solidFill>
                  <a:srgbClr val="3C3939"/>
                </a:solidFill>
                <a:latin typeface="Raleway" pitchFamily="34" charset="0"/>
                <a:ea typeface="Raleway" pitchFamily="34" charset="-122"/>
                <a:cs typeface="Raleway" pitchFamily="34" charset="-120"/>
              </a:rPr>
              <a:t>Lifecycle Management</a:t>
            </a:r>
            <a:endParaRPr lang="en-US" sz="2187" dirty="0"/>
          </a:p>
        </p:txBody>
      </p:sp>
      <p:sp>
        <p:nvSpPr>
          <p:cNvPr id="16" name="Text 14"/>
          <p:cNvSpPr/>
          <p:nvPr/>
        </p:nvSpPr>
        <p:spPr>
          <a:xfrm>
            <a:off x="8037195" y="5703213"/>
            <a:ext cx="4555212" cy="1421606"/>
          </a:xfrm>
          <a:prstGeom prst="rect">
            <a:avLst/>
          </a:prstGeom>
          <a:noFill/>
          <a:ln/>
        </p:spPr>
        <p:txBody>
          <a:bodyPr wrap="square" rtlCol="0" anchor="t"/>
          <a:lstStyle/>
          <a:p>
            <a:pPr marL="0" indent="0">
              <a:lnSpc>
                <a:spcPts val="2799"/>
              </a:lnSpc>
              <a:buNone/>
            </a:pPr>
            <a:r>
              <a:rPr lang="en-US" sz="1750" dirty="0">
                <a:solidFill>
                  <a:srgbClr val="3C3939"/>
                </a:solidFill>
                <a:latin typeface="Roboto" pitchFamily="34" charset="0"/>
                <a:ea typeface="Roboto" pitchFamily="34" charset="-122"/>
                <a:cs typeface="Roboto" pitchFamily="34" charset="-120"/>
              </a:rPr>
              <a:t>Effective database lifecycle management is essential for ensuring optimal performance, security, and alignment with evolving business needs.</a:t>
            </a:r>
            <a:endParaRPr lang="en-US" sz="1750" dirty="0"/>
          </a:p>
        </p:txBody>
      </p:sp>
    </p:spTree>
    <p:extLst>
      <p:ext uri="{BB962C8B-B14F-4D97-AF65-F5344CB8AC3E}">
        <p14:creationId xmlns:p14="http://schemas.microsoft.com/office/powerpoint/2010/main" val="2901449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75000"/>
            </a:srgbClr>
          </a:solidFill>
          <a:ln/>
        </p:spPr>
      </p:sp>
      <p:sp>
        <p:nvSpPr>
          <p:cNvPr id="4" name="Text 2"/>
          <p:cNvSpPr/>
          <p:nvPr/>
        </p:nvSpPr>
        <p:spPr>
          <a:xfrm>
            <a:off x="2037993" y="1850231"/>
            <a:ext cx="7762637" cy="694373"/>
          </a:xfrm>
          <a:prstGeom prst="rect">
            <a:avLst/>
          </a:prstGeom>
          <a:noFill/>
          <a:ln/>
        </p:spPr>
        <p:txBody>
          <a:bodyPr wrap="none" rtlCol="0" anchor="t"/>
          <a:lstStyle/>
          <a:p>
            <a:pPr marL="0" indent="0">
              <a:lnSpc>
                <a:spcPts val="5468"/>
              </a:lnSpc>
              <a:buNone/>
            </a:pPr>
            <a:r>
              <a:rPr lang="en-US" sz="4374" dirty="0">
                <a:solidFill>
                  <a:srgbClr val="1B1B27"/>
                </a:solidFill>
                <a:latin typeface="Raleway" pitchFamily="34" charset="0"/>
                <a:ea typeface="Raleway" pitchFamily="34" charset="-122"/>
                <a:cs typeface="Raleway" pitchFamily="34" charset="-120"/>
              </a:rPr>
              <a:t>Conclusion and Best Practices</a:t>
            </a:r>
            <a:endParaRPr lang="en-US" sz="4374" dirty="0"/>
          </a:p>
        </p:txBody>
      </p:sp>
      <p:pic>
        <p:nvPicPr>
          <p:cNvPr id="5" name="Image 0" descr="preencoded.png"/>
          <p:cNvPicPr>
            <a:picLocks noChangeAspect="1"/>
          </p:cNvPicPr>
          <p:nvPr/>
        </p:nvPicPr>
        <p:blipFill>
          <a:blip r:embed="rId3"/>
          <a:stretch>
            <a:fillRect/>
          </a:stretch>
        </p:blipFill>
        <p:spPr>
          <a:xfrm>
            <a:off x="2037993" y="2988945"/>
            <a:ext cx="555427" cy="555427"/>
          </a:xfrm>
          <a:prstGeom prst="rect">
            <a:avLst/>
          </a:prstGeom>
        </p:spPr>
      </p:pic>
      <p:sp>
        <p:nvSpPr>
          <p:cNvPr id="6" name="Text 3"/>
          <p:cNvSpPr/>
          <p:nvPr/>
        </p:nvSpPr>
        <p:spPr>
          <a:xfrm>
            <a:off x="2037993" y="3766542"/>
            <a:ext cx="2388632"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Documentation</a:t>
            </a:r>
            <a:endParaRPr lang="en-US" sz="2187" dirty="0"/>
          </a:p>
        </p:txBody>
      </p:sp>
      <p:sp>
        <p:nvSpPr>
          <p:cNvPr id="7" name="Text 4"/>
          <p:cNvSpPr/>
          <p:nvPr/>
        </p:nvSpPr>
        <p:spPr>
          <a:xfrm>
            <a:off x="2037993" y="4246959"/>
            <a:ext cx="2388632" cy="2132409"/>
          </a:xfrm>
          <a:prstGeom prst="rect">
            <a:avLst/>
          </a:prstGeom>
          <a:noFill/>
          <a:ln/>
        </p:spPr>
        <p:txBody>
          <a:bodyPr wrap="square" rtlCol="0" anchor="t"/>
          <a:lstStyle/>
          <a:p>
            <a:pPr marL="0" indent="0" algn="l">
              <a:lnSpc>
                <a:spcPts val="2799"/>
              </a:lnSpc>
              <a:buNone/>
            </a:pPr>
            <a:r>
              <a:rPr lang="en-US" sz="1750" dirty="0">
                <a:solidFill>
                  <a:srgbClr val="3C3939"/>
                </a:solidFill>
                <a:latin typeface="Roboto" pitchFamily="34" charset="0"/>
                <a:ea typeface="Roboto" pitchFamily="34" charset="-122"/>
                <a:cs typeface="Roboto" pitchFamily="34" charset="-120"/>
              </a:rPr>
              <a:t>Maintain detailed documentation on your transaction management and concurrency control policies.</a:t>
            </a:r>
            <a:endParaRPr lang="en-US" sz="1750" dirty="0"/>
          </a:p>
        </p:txBody>
      </p:sp>
      <p:pic>
        <p:nvPicPr>
          <p:cNvPr id="8" name="Image 1" descr="preencoded.png"/>
          <p:cNvPicPr>
            <a:picLocks noChangeAspect="1"/>
          </p:cNvPicPr>
          <p:nvPr/>
        </p:nvPicPr>
        <p:blipFill>
          <a:blip r:embed="rId4"/>
          <a:stretch>
            <a:fillRect/>
          </a:stretch>
        </p:blipFill>
        <p:spPr>
          <a:xfrm>
            <a:off x="4759881" y="2988945"/>
            <a:ext cx="555427" cy="555427"/>
          </a:xfrm>
          <a:prstGeom prst="rect">
            <a:avLst/>
          </a:prstGeom>
        </p:spPr>
      </p:pic>
      <p:sp>
        <p:nvSpPr>
          <p:cNvPr id="9" name="Text 5"/>
          <p:cNvSpPr/>
          <p:nvPr/>
        </p:nvSpPr>
        <p:spPr>
          <a:xfrm>
            <a:off x="4759881" y="3766542"/>
            <a:ext cx="2388632"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Monitoring</a:t>
            </a:r>
            <a:endParaRPr lang="en-US" sz="2187" dirty="0"/>
          </a:p>
        </p:txBody>
      </p:sp>
      <p:sp>
        <p:nvSpPr>
          <p:cNvPr id="10" name="Text 6"/>
          <p:cNvSpPr/>
          <p:nvPr/>
        </p:nvSpPr>
        <p:spPr>
          <a:xfrm>
            <a:off x="4759881" y="4246959"/>
            <a:ext cx="2388632" cy="2132409"/>
          </a:xfrm>
          <a:prstGeom prst="rect">
            <a:avLst/>
          </a:prstGeom>
          <a:noFill/>
          <a:ln/>
        </p:spPr>
        <p:txBody>
          <a:bodyPr wrap="square" rtlCol="0" anchor="t"/>
          <a:lstStyle/>
          <a:p>
            <a:pPr marL="0" indent="0" algn="l">
              <a:lnSpc>
                <a:spcPts val="2799"/>
              </a:lnSpc>
              <a:buNone/>
            </a:pPr>
            <a:r>
              <a:rPr lang="en-US" sz="1750" dirty="0">
                <a:solidFill>
                  <a:srgbClr val="3C3939"/>
                </a:solidFill>
                <a:latin typeface="Roboto" pitchFamily="34" charset="0"/>
                <a:ea typeface="Roboto" pitchFamily="34" charset="-122"/>
                <a:cs typeface="Roboto" pitchFamily="34" charset="-120"/>
              </a:rPr>
              <a:t>Continuously monitor your database for potential issues, such as deadlocks or performance degradation.</a:t>
            </a:r>
            <a:endParaRPr lang="en-US" sz="1750" dirty="0"/>
          </a:p>
        </p:txBody>
      </p:sp>
      <p:pic>
        <p:nvPicPr>
          <p:cNvPr id="11" name="Image 2" descr="preencoded.png"/>
          <p:cNvPicPr>
            <a:picLocks noChangeAspect="1"/>
          </p:cNvPicPr>
          <p:nvPr/>
        </p:nvPicPr>
        <p:blipFill>
          <a:blip r:embed="rId5"/>
          <a:stretch>
            <a:fillRect/>
          </a:stretch>
        </p:blipFill>
        <p:spPr>
          <a:xfrm>
            <a:off x="7481768" y="2988945"/>
            <a:ext cx="555427" cy="555427"/>
          </a:xfrm>
          <a:prstGeom prst="rect">
            <a:avLst/>
          </a:prstGeom>
        </p:spPr>
      </p:pic>
      <p:sp>
        <p:nvSpPr>
          <p:cNvPr id="12" name="Text 7"/>
          <p:cNvSpPr/>
          <p:nvPr/>
        </p:nvSpPr>
        <p:spPr>
          <a:xfrm>
            <a:off x="7481768" y="3766542"/>
            <a:ext cx="2388632"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Testing</a:t>
            </a:r>
            <a:endParaRPr lang="en-US" sz="2187" dirty="0"/>
          </a:p>
        </p:txBody>
      </p:sp>
      <p:sp>
        <p:nvSpPr>
          <p:cNvPr id="13" name="Text 8"/>
          <p:cNvSpPr/>
          <p:nvPr/>
        </p:nvSpPr>
        <p:spPr>
          <a:xfrm>
            <a:off x="7481768" y="4246959"/>
            <a:ext cx="2388632" cy="2132409"/>
          </a:xfrm>
          <a:prstGeom prst="rect">
            <a:avLst/>
          </a:prstGeom>
          <a:noFill/>
          <a:ln/>
        </p:spPr>
        <p:txBody>
          <a:bodyPr wrap="square" rtlCol="0" anchor="t"/>
          <a:lstStyle/>
          <a:p>
            <a:pPr marL="0" indent="0" algn="l">
              <a:lnSpc>
                <a:spcPts val="2799"/>
              </a:lnSpc>
              <a:buNone/>
            </a:pPr>
            <a:r>
              <a:rPr lang="en-US" sz="1750" dirty="0">
                <a:solidFill>
                  <a:srgbClr val="3C3939"/>
                </a:solidFill>
                <a:latin typeface="Roboto" pitchFamily="34" charset="0"/>
                <a:ea typeface="Roboto" pitchFamily="34" charset="-122"/>
                <a:cs typeface="Roboto" pitchFamily="34" charset="-120"/>
              </a:rPr>
              <a:t>Thoroughly test your transaction and concurrency control implementations to ensure correctness and efficiency.</a:t>
            </a:r>
            <a:endParaRPr lang="en-US" sz="1750" dirty="0"/>
          </a:p>
        </p:txBody>
      </p:sp>
      <p:pic>
        <p:nvPicPr>
          <p:cNvPr id="14" name="Image 3" descr="preencoded.png"/>
          <p:cNvPicPr>
            <a:picLocks noChangeAspect="1"/>
          </p:cNvPicPr>
          <p:nvPr/>
        </p:nvPicPr>
        <p:blipFill>
          <a:blip r:embed="rId6"/>
          <a:stretch>
            <a:fillRect/>
          </a:stretch>
        </p:blipFill>
        <p:spPr>
          <a:xfrm>
            <a:off x="10203656" y="2988945"/>
            <a:ext cx="555427" cy="555427"/>
          </a:xfrm>
          <a:prstGeom prst="rect">
            <a:avLst/>
          </a:prstGeom>
        </p:spPr>
      </p:pic>
      <p:sp>
        <p:nvSpPr>
          <p:cNvPr id="15" name="Text 9"/>
          <p:cNvSpPr/>
          <p:nvPr/>
        </p:nvSpPr>
        <p:spPr>
          <a:xfrm>
            <a:off x="10203656" y="3766542"/>
            <a:ext cx="2388751" cy="347186"/>
          </a:xfrm>
          <a:prstGeom prst="rect">
            <a:avLst/>
          </a:prstGeom>
          <a:noFill/>
          <a:ln/>
        </p:spPr>
        <p:txBody>
          <a:bodyPr wrap="none" rtlCol="0" anchor="t"/>
          <a:lstStyle/>
          <a:p>
            <a:pPr marL="0" indent="0" algn="l">
              <a:lnSpc>
                <a:spcPts val="2734"/>
              </a:lnSpc>
              <a:buNone/>
            </a:pPr>
            <a:r>
              <a:rPr lang="en-US" sz="2187" dirty="0">
                <a:solidFill>
                  <a:srgbClr val="3C3939"/>
                </a:solidFill>
                <a:latin typeface="Raleway" pitchFamily="34" charset="0"/>
                <a:ea typeface="Raleway" pitchFamily="34" charset="-122"/>
                <a:cs typeface="Raleway" pitchFamily="34" charset="-120"/>
              </a:rPr>
              <a:t>Optimization</a:t>
            </a:r>
            <a:endParaRPr lang="en-US" sz="2187" dirty="0"/>
          </a:p>
        </p:txBody>
      </p:sp>
      <p:sp>
        <p:nvSpPr>
          <p:cNvPr id="16" name="Text 10"/>
          <p:cNvSpPr/>
          <p:nvPr/>
        </p:nvSpPr>
        <p:spPr>
          <a:xfrm>
            <a:off x="10203656" y="4246959"/>
            <a:ext cx="2388751" cy="2132409"/>
          </a:xfrm>
          <a:prstGeom prst="rect">
            <a:avLst/>
          </a:prstGeom>
          <a:noFill/>
          <a:ln/>
        </p:spPr>
        <p:txBody>
          <a:bodyPr wrap="square" rtlCol="0" anchor="t"/>
          <a:lstStyle/>
          <a:p>
            <a:pPr marL="0" indent="0" algn="l">
              <a:lnSpc>
                <a:spcPts val="2799"/>
              </a:lnSpc>
              <a:buNone/>
            </a:pPr>
            <a:r>
              <a:rPr lang="en-US" sz="1750" dirty="0">
                <a:solidFill>
                  <a:srgbClr val="3C3939"/>
                </a:solidFill>
                <a:latin typeface="Roboto" pitchFamily="34" charset="0"/>
                <a:ea typeface="Roboto" pitchFamily="34" charset="-122"/>
                <a:cs typeface="Roboto" pitchFamily="34" charset="-120"/>
              </a:rPr>
              <a:t>Regularly review and optimize your locking strategies, isolation levels, and other concurrency control parameters.</a:t>
            </a:r>
            <a:endParaRPr lang="en-US" sz="1750" dirty="0"/>
          </a:p>
        </p:txBody>
      </p:sp>
    </p:spTree>
    <p:extLst>
      <p:ext uri="{BB962C8B-B14F-4D97-AF65-F5344CB8AC3E}">
        <p14:creationId xmlns:p14="http://schemas.microsoft.com/office/powerpoint/2010/main" val="807342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5319</Words>
  <Application>Microsoft Office PowerPoint</Application>
  <PresentationFormat>Custom</PresentationFormat>
  <Paragraphs>371</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Instrument Sans</vt:lpstr>
      <vt:lpstr>Raleway</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ayesha jarral</cp:lastModifiedBy>
  <cp:revision>14</cp:revision>
  <dcterms:created xsi:type="dcterms:W3CDTF">2024-05-14T09:44:52Z</dcterms:created>
  <dcterms:modified xsi:type="dcterms:W3CDTF">2024-05-14T11:18:30Z</dcterms:modified>
</cp:coreProperties>
</file>