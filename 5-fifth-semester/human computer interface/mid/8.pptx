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7"/>
  </p:notesMasterIdLst>
  <p:sldIdLst>
    <p:sldId id="256" r:id="rId2"/>
    <p:sldId id="257" r:id="rId3"/>
    <p:sldId id="258" r:id="rId4"/>
    <p:sldId id="259" r:id="rId5"/>
    <p:sldId id="260" r:id="rId6"/>
    <p:sldId id="261" r:id="rId7"/>
    <p:sldId id="262" r:id="rId8"/>
    <p:sldId id="263" r:id="rId9"/>
    <p:sldId id="269" r:id="rId10"/>
    <p:sldId id="270" r:id="rId11"/>
    <p:sldId id="264" r:id="rId12"/>
    <p:sldId id="271" r:id="rId13"/>
    <p:sldId id="265" r:id="rId14"/>
    <p:sldId id="266" r:id="rId15"/>
    <p:sldId id="267" r:id="rId16"/>
    <p:sldId id="268" r:id="rId17"/>
    <p:sldId id="272" r:id="rId18"/>
    <p:sldId id="273" r:id="rId19"/>
    <p:sldId id="274" r:id="rId20"/>
    <p:sldId id="276" r:id="rId21"/>
    <p:sldId id="277" r:id="rId22"/>
    <p:sldId id="278" r:id="rId23"/>
    <p:sldId id="279" r:id="rId24"/>
    <p:sldId id="280" r:id="rId25"/>
    <p:sldId id="281" r:id="rId26"/>
    <p:sldId id="283" r:id="rId27"/>
    <p:sldId id="282" r:id="rId28"/>
    <p:sldId id="284" r:id="rId29"/>
    <p:sldId id="275"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291FB2-4E9C-9323-617B-2906B008769C}" v="122" dt="2024-10-11T09:32:23.0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76359" autoAdjust="0"/>
  </p:normalViewPr>
  <p:slideViewPr>
    <p:cSldViewPr snapToGrid="0">
      <p:cViewPr>
        <p:scale>
          <a:sx n="72" d="100"/>
          <a:sy n="72" d="100"/>
        </p:scale>
        <p:origin x="43" y="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6C7764-5C61-49FC-B73E-765864E2F20B}" type="datetimeFigureOut">
              <a:rPr lang="en-PK" smtClean="0"/>
              <a:t>25/10/2024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998152-ABCE-40C6-A4C8-1E23CE669779}" type="slidenum">
              <a:rPr lang="en-PK" smtClean="0"/>
              <a:t>‹#›</a:t>
            </a:fld>
            <a:endParaRPr lang="en-PK"/>
          </a:p>
        </p:txBody>
      </p:sp>
    </p:spTree>
    <p:extLst>
      <p:ext uri="{BB962C8B-B14F-4D97-AF65-F5344CB8AC3E}">
        <p14:creationId xmlns:p14="http://schemas.microsoft.com/office/powerpoint/2010/main" val="2672576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7998152-ABCE-40C6-A4C8-1E23CE669779}" type="slidenum">
              <a:rPr lang="en-PK" smtClean="0"/>
              <a:t>1</a:t>
            </a:fld>
            <a:endParaRPr lang="en-PK"/>
          </a:p>
        </p:txBody>
      </p:sp>
    </p:spTree>
    <p:extLst>
      <p:ext uri="{BB962C8B-B14F-4D97-AF65-F5344CB8AC3E}">
        <p14:creationId xmlns:p14="http://schemas.microsoft.com/office/powerpoint/2010/main" val="3641641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Learnability</a:t>
            </a:r>
          </a:p>
          <a:p>
            <a:r>
              <a:rPr lang="en-US" sz="1200" b="0" i="0" kern="1200" dirty="0">
                <a:solidFill>
                  <a:schemeClr val="tx1"/>
                </a:solidFill>
                <a:effectLst/>
                <a:latin typeface="+mn-lt"/>
                <a:ea typeface="+mn-ea"/>
                <a:cs typeface="+mn-cs"/>
              </a:rPr>
              <a:t>Learnability principles are concerned with interactive system features, which aid novice users to learn quickly and also allows steady progression to expertise.</a:t>
            </a:r>
          </a:p>
          <a:p>
            <a:r>
              <a:rPr lang="en-US" b="1" dirty="0"/>
              <a:t>Flexibility</a:t>
            </a:r>
          </a:p>
          <a:p>
            <a:r>
              <a:rPr lang="en-US" dirty="0"/>
              <a:t>Flexibility in interactive design extends the way a user and the system exchange information. By applying flexibility principles to an interactive system design, designers aim to improve a system's usability.</a:t>
            </a:r>
          </a:p>
        </p:txBody>
      </p:sp>
      <p:sp>
        <p:nvSpPr>
          <p:cNvPr id="4" name="Slide Number Placeholder 3"/>
          <p:cNvSpPr>
            <a:spLocks noGrp="1"/>
          </p:cNvSpPr>
          <p:nvPr>
            <p:ph type="sldNum" sz="quarter" idx="10"/>
          </p:nvPr>
        </p:nvSpPr>
        <p:spPr/>
        <p:txBody>
          <a:bodyPr/>
          <a:lstStyle/>
          <a:p>
            <a:fld id="{2BE674E8-2300-4C61-8101-1870ABDD9233}" type="slidenum">
              <a:rPr lang="en-US" smtClean="0"/>
              <a:t>6</a:t>
            </a:fld>
            <a:endParaRPr lang="en-US"/>
          </a:p>
        </p:txBody>
      </p:sp>
    </p:spTree>
    <p:extLst>
      <p:ext uri="{BB962C8B-B14F-4D97-AF65-F5344CB8AC3E}">
        <p14:creationId xmlns:p14="http://schemas.microsoft.com/office/powerpoint/2010/main" val="2907329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Visiblity</a:t>
            </a:r>
            <a:r>
              <a:rPr lang="en-US" dirty="0"/>
              <a:t>: Try to ensure that things are visible so that</a:t>
            </a:r>
          </a:p>
          <a:p>
            <a:pPr marL="0" indent="0">
              <a:buNone/>
            </a:pPr>
            <a:r>
              <a:rPr lang="en-US" dirty="0"/>
              <a:t>people can see what functions are available and what</a:t>
            </a:r>
          </a:p>
          <a:p>
            <a:pPr marL="0" indent="0">
              <a:buNone/>
            </a:pPr>
            <a:r>
              <a:rPr lang="en-US" dirty="0"/>
              <a:t>the system is currently doing.</a:t>
            </a:r>
          </a:p>
          <a:p>
            <a:endParaRPr lang="en-US" dirty="0"/>
          </a:p>
          <a:p>
            <a:endParaRPr lang="en-US" dirty="0"/>
          </a:p>
        </p:txBody>
      </p:sp>
      <p:sp>
        <p:nvSpPr>
          <p:cNvPr id="4" name="Slide Number Placeholder 3"/>
          <p:cNvSpPr>
            <a:spLocks noGrp="1"/>
          </p:cNvSpPr>
          <p:nvPr>
            <p:ph type="sldNum" sz="quarter" idx="10"/>
          </p:nvPr>
        </p:nvSpPr>
        <p:spPr/>
        <p:txBody>
          <a:bodyPr/>
          <a:lstStyle/>
          <a:p>
            <a:fld id="{2BE674E8-2300-4C61-8101-1870ABDD9233}" type="slidenum">
              <a:rPr lang="en-US" smtClean="0"/>
              <a:t>7</a:t>
            </a:fld>
            <a:endParaRPr lang="en-US"/>
          </a:p>
        </p:txBody>
      </p:sp>
    </p:spTree>
    <p:extLst>
      <p:ext uri="{BB962C8B-B14F-4D97-AF65-F5344CB8AC3E}">
        <p14:creationId xmlns:p14="http://schemas.microsoft.com/office/powerpoint/2010/main" val="3283072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You are at home page.</a:t>
            </a:r>
          </a:p>
          <a:p>
            <a:pPr marL="228600" indent="-228600">
              <a:buAutoNum type="arabicPeriod"/>
            </a:pPr>
            <a:r>
              <a:rPr lang="en-US" dirty="0"/>
              <a:t>How many steps are covered and left.</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5F874A8-618A-412E-B385-CA7584EBE9D9}" type="slidenum">
              <a:rPr lang="en-US" smtClean="0"/>
              <a:t>8</a:t>
            </a:fld>
            <a:endParaRPr lang="en-US"/>
          </a:p>
        </p:txBody>
      </p:sp>
    </p:spTree>
    <p:extLst>
      <p:ext uri="{BB962C8B-B14F-4D97-AF65-F5344CB8AC3E}">
        <p14:creationId xmlns:p14="http://schemas.microsoft.com/office/powerpoint/2010/main" val="1635518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Affordances</a:t>
            </a:r>
            <a:r>
              <a:rPr lang="en-US" sz="1200" b="0" i="0" kern="1200" dirty="0">
                <a:solidFill>
                  <a:schemeClr val="tx1"/>
                </a:solidFill>
                <a:effectLst/>
                <a:latin typeface="+mn-lt"/>
                <a:ea typeface="+mn-ea"/>
                <a:cs typeface="+mn-cs"/>
              </a:rPr>
              <a:t> are the properties of an object that help a user understand that they can interact with it, and the type of interaction that may be involved. Designing user experiences with affordance in mind is crucial in order to ensure a user understands what they can do across sections of a product or app.</a:t>
            </a:r>
            <a:endParaRPr lang="en-US" dirty="0"/>
          </a:p>
        </p:txBody>
      </p:sp>
      <p:sp>
        <p:nvSpPr>
          <p:cNvPr id="4" name="Slide Number Placeholder 3"/>
          <p:cNvSpPr>
            <a:spLocks noGrp="1"/>
          </p:cNvSpPr>
          <p:nvPr>
            <p:ph type="sldNum" sz="quarter" idx="10"/>
          </p:nvPr>
        </p:nvSpPr>
        <p:spPr/>
        <p:txBody>
          <a:bodyPr/>
          <a:lstStyle/>
          <a:p>
            <a:fld id="{C5F874A8-618A-412E-B385-CA7584EBE9D9}" type="slidenum">
              <a:rPr lang="en-US" smtClean="0"/>
              <a:t>10</a:t>
            </a:fld>
            <a:endParaRPr lang="en-US"/>
          </a:p>
        </p:txBody>
      </p:sp>
    </p:spTree>
    <p:extLst>
      <p:ext uri="{BB962C8B-B14F-4D97-AF65-F5344CB8AC3E}">
        <p14:creationId xmlns:p14="http://schemas.microsoft.com/office/powerpoint/2010/main" val="2693696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The toggle switch pictured above is a UI control that looks and acts kind of like a light switch in the physical world. It is either on or off, there is no in between. It is fairly obvious what you're supposed to do with it; clicking or tapping the control toggles the switch to the only other state that it is allowed to be in. In this case, it even toggles through a slight animation sequence to make it feel even more like a real-world control. This is one example of where affordance can be used in a UI design.</a:t>
            </a:r>
            <a:endParaRPr lang="en-US" dirty="0"/>
          </a:p>
        </p:txBody>
      </p:sp>
      <p:sp>
        <p:nvSpPr>
          <p:cNvPr id="4" name="Slide Number Placeholder 3"/>
          <p:cNvSpPr>
            <a:spLocks noGrp="1"/>
          </p:cNvSpPr>
          <p:nvPr>
            <p:ph type="sldNum" sz="quarter" idx="10"/>
          </p:nvPr>
        </p:nvSpPr>
        <p:spPr/>
        <p:txBody>
          <a:bodyPr/>
          <a:lstStyle/>
          <a:p>
            <a:fld id="{C5F874A8-618A-412E-B385-CA7584EBE9D9}" type="slidenum">
              <a:rPr lang="en-US" smtClean="0"/>
              <a:t>11</a:t>
            </a:fld>
            <a:endParaRPr lang="en-US"/>
          </a:p>
        </p:txBody>
      </p:sp>
    </p:spTree>
    <p:extLst>
      <p:ext uri="{BB962C8B-B14F-4D97-AF65-F5344CB8AC3E}">
        <p14:creationId xmlns:p14="http://schemas.microsoft.com/office/powerpoint/2010/main" val="581065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click on back interface</a:t>
            </a:r>
            <a:r>
              <a:rPr lang="en-US" baseline="0" dirty="0"/>
              <a:t> ask question and give control to user for finding a </a:t>
            </a:r>
            <a:r>
              <a:rPr lang="en-US" baseline="0" dirty="0" err="1"/>
              <a:t>fligh</a:t>
            </a:r>
            <a:r>
              <a:rPr lang="en-US" baseline="0" dirty="0"/>
              <a:t>….  </a:t>
            </a:r>
            <a:r>
              <a:rPr lang="en-US" baseline="0" dirty="0" err="1"/>
              <a:t>tht</a:t>
            </a:r>
            <a:r>
              <a:rPr lang="en-US" baseline="0" dirty="0"/>
              <a:t> might be a reason that user is not understanding and leaving page</a:t>
            </a:r>
            <a:endParaRPr lang="en-US" dirty="0"/>
          </a:p>
        </p:txBody>
      </p:sp>
      <p:sp>
        <p:nvSpPr>
          <p:cNvPr id="4" name="Slide Number Placeholder 3"/>
          <p:cNvSpPr>
            <a:spLocks noGrp="1"/>
          </p:cNvSpPr>
          <p:nvPr>
            <p:ph type="sldNum" sz="quarter" idx="10"/>
          </p:nvPr>
        </p:nvSpPr>
        <p:spPr/>
        <p:txBody>
          <a:bodyPr/>
          <a:lstStyle/>
          <a:p>
            <a:fld id="{C5F874A8-618A-412E-B385-CA7584EBE9D9}" type="slidenum">
              <a:rPr lang="en-US" smtClean="0"/>
              <a:t>14</a:t>
            </a:fld>
            <a:endParaRPr lang="en-US"/>
          </a:p>
        </p:txBody>
      </p:sp>
    </p:spTree>
    <p:extLst>
      <p:ext uri="{BB962C8B-B14F-4D97-AF65-F5344CB8AC3E}">
        <p14:creationId xmlns:p14="http://schemas.microsoft.com/office/powerpoint/2010/main" val="2452841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Helps to understand the needs of different disable users.</a:t>
            </a:r>
          </a:p>
        </p:txBody>
      </p:sp>
      <p:sp>
        <p:nvSpPr>
          <p:cNvPr id="4" name="Slide Number Placeholder 3"/>
          <p:cNvSpPr>
            <a:spLocks noGrp="1"/>
          </p:cNvSpPr>
          <p:nvPr>
            <p:ph type="sldNum" sz="quarter" idx="10"/>
          </p:nvPr>
        </p:nvSpPr>
        <p:spPr/>
        <p:txBody>
          <a:bodyPr/>
          <a:lstStyle/>
          <a:p>
            <a:fld id="{C5F874A8-618A-412E-B385-CA7584EBE9D9}" type="slidenum">
              <a:rPr lang="en-US" smtClean="0"/>
              <a:t>16</a:t>
            </a:fld>
            <a:endParaRPr lang="en-US"/>
          </a:p>
        </p:txBody>
      </p:sp>
    </p:spTree>
    <p:extLst>
      <p:ext uri="{BB962C8B-B14F-4D97-AF65-F5344CB8AC3E}">
        <p14:creationId xmlns:p14="http://schemas.microsoft.com/office/powerpoint/2010/main" val="4092206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7998152-ABCE-40C6-A4C8-1E23CE669779}" type="slidenum">
              <a:rPr lang="en-PK" smtClean="0"/>
              <a:t>28</a:t>
            </a:fld>
            <a:endParaRPr lang="en-PK"/>
          </a:p>
        </p:txBody>
      </p:sp>
    </p:spTree>
    <p:extLst>
      <p:ext uri="{BB962C8B-B14F-4D97-AF65-F5344CB8AC3E}">
        <p14:creationId xmlns:p14="http://schemas.microsoft.com/office/powerpoint/2010/main" val="3475508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7998152-ABCE-40C6-A4C8-1E23CE669779}" type="slidenum">
              <a:rPr lang="en-PK" smtClean="0"/>
              <a:t>34</a:t>
            </a:fld>
            <a:endParaRPr lang="en-PK"/>
          </a:p>
        </p:txBody>
      </p:sp>
    </p:spTree>
    <p:extLst>
      <p:ext uri="{BB962C8B-B14F-4D97-AF65-F5344CB8AC3E}">
        <p14:creationId xmlns:p14="http://schemas.microsoft.com/office/powerpoint/2010/main" val="3775645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dirty="0"/>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448007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011140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547688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021142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69089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621163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238820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dirty="0"/>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413041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dirty="0"/>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4046065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6769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10/25/2024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661112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dirty="0"/>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10/25/2024</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57128469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Concepts of accessibility, usability and acceptability; design principles(part 2)</a:t>
            </a:r>
            <a:br>
              <a:rPr lang="en-US" dirty="0"/>
            </a:br>
            <a:endParaRPr lang="en-US" dirty="0"/>
          </a:p>
        </p:txBody>
      </p:sp>
      <p:sp>
        <p:nvSpPr>
          <p:cNvPr id="3" name="Subtitle 2"/>
          <p:cNvSpPr>
            <a:spLocks noGrp="1"/>
          </p:cNvSpPr>
          <p:nvPr>
            <p:ph type="subTitle" idx="1"/>
          </p:nvPr>
        </p:nvSpPr>
        <p:spPr/>
        <p:txBody>
          <a:bodyPr/>
          <a:lstStyle/>
          <a:p>
            <a:r>
              <a:rPr lang="en-US" dirty="0"/>
              <a:t>Ms. Iqra Shahzad, Department of Software Engineering , NUML ,Islamabad</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2ABC-E6CD-1D1A-FE21-F022D6929ED8}"/>
              </a:ext>
            </a:extLst>
          </p:cNvPr>
          <p:cNvSpPr>
            <a:spLocks noGrp="1"/>
          </p:cNvSpPr>
          <p:nvPr>
            <p:ph type="title"/>
          </p:nvPr>
        </p:nvSpPr>
        <p:spPr/>
        <p:txBody>
          <a:bodyPr/>
          <a:lstStyle/>
          <a:p>
            <a:r>
              <a:rPr lang="en-US" dirty="0"/>
              <a:t>Design principals</a:t>
            </a:r>
            <a:br>
              <a:rPr lang="en-US" dirty="0"/>
            </a:br>
            <a:endParaRPr lang="en-PK" dirty="0"/>
          </a:p>
        </p:txBody>
      </p:sp>
      <p:sp>
        <p:nvSpPr>
          <p:cNvPr id="3" name="Content Placeholder 2">
            <a:extLst>
              <a:ext uri="{FF2B5EF4-FFF2-40B4-BE49-F238E27FC236}">
                <a16:creationId xmlns:a16="http://schemas.microsoft.com/office/drawing/2014/main" id="{BE08B1A7-85FD-5917-F0E1-F8DF1D1642E1}"/>
              </a:ext>
            </a:extLst>
          </p:cNvPr>
          <p:cNvSpPr>
            <a:spLocks noGrp="1"/>
          </p:cNvSpPr>
          <p:nvPr>
            <p:ph idx="1"/>
          </p:nvPr>
        </p:nvSpPr>
        <p:spPr/>
        <p:txBody>
          <a:bodyPr/>
          <a:lstStyle/>
          <a:p>
            <a:r>
              <a:rPr lang="en-US" b="0" i="0" dirty="0">
                <a:solidFill>
                  <a:schemeClr val="tx1"/>
                </a:solidFill>
                <a:effectLst/>
                <a:latin typeface="Google Sans"/>
              </a:rPr>
              <a:t>Design principles are a set of values that act as a compass for your product.</a:t>
            </a:r>
          </a:p>
          <a:p>
            <a:r>
              <a:rPr lang="en-US" dirty="0"/>
              <a:t>Designing interactive computer systems to be effective, efficient, easy, and enjoyable is important. As it benefits the people who uses the interactive system. When designing interactive systems, there are some principles to be followed.</a:t>
            </a:r>
          </a:p>
          <a:p>
            <a:endParaRPr lang="en-PK" dirty="0">
              <a:solidFill>
                <a:schemeClr val="tx1"/>
              </a:solidFill>
            </a:endParaRPr>
          </a:p>
        </p:txBody>
      </p:sp>
    </p:spTree>
    <p:extLst>
      <p:ext uri="{BB962C8B-B14F-4D97-AF65-F5344CB8AC3E}">
        <p14:creationId xmlns:p14="http://schemas.microsoft.com/office/powerpoint/2010/main" val="335442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p:txBody>
          <a:bodyPr/>
          <a:lstStyle/>
          <a:p>
            <a:r>
              <a:rPr lang="en-US" dirty="0"/>
              <a:t>Human computer interaction is focused on the user experience and user interface. </a:t>
            </a:r>
          </a:p>
          <a:p>
            <a:pPr marL="0" indent="0">
              <a:buNone/>
            </a:pPr>
            <a:endParaRPr lang="en-US" dirty="0"/>
          </a:p>
          <a:p>
            <a:r>
              <a:rPr lang="en-US" dirty="0"/>
              <a:t>These principles help the designers to design a better application that is beneficial for the user. Also, there should be a universal design principle when it comes to designing a system</a:t>
            </a:r>
          </a:p>
        </p:txBody>
      </p:sp>
    </p:spTree>
    <p:extLst>
      <p:ext uri="{BB962C8B-B14F-4D97-AF65-F5344CB8AC3E}">
        <p14:creationId xmlns:p14="http://schemas.microsoft.com/office/powerpoint/2010/main" val="4034118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Most people in the </a:t>
            </a:r>
            <a:r>
              <a:rPr lang="en-US" b="1" dirty="0">
                <a:highlight>
                  <a:srgbClr val="FFFF00"/>
                </a:highlight>
              </a:rPr>
              <a:t>HCI field follow a few established design principles when creating, designing, and evaluating an interface</a:t>
            </a:r>
            <a:r>
              <a:rPr lang="en-US" dirty="0"/>
              <a:t>. These principles are research-based and commonly referenced by experts in the field of HCI</a:t>
            </a:r>
          </a:p>
          <a:p>
            <a:r>
              <a:rPr lang="en-US" dirty="0"/>
              <a:t>These general principles appear in works by various researchers </a:t>
            </a:r>
            <a:r>
              <a:rPr lang="en-US" b="1" dirty="0"/>
              <a:t>such as </a:t>
            </a:r>
            <a:r>
              <a:rPr lang="en-US" b="1" dirty="0">
                <a:highlight>
                  <a:srgbClr val="FFFF00"/>
                </a:highlight>
              </a:rPr>
              <a:t>Don Norma, </a:t>
            </a:r>
            <a:r>
              <a:rPr lang="en-US" b="1" dirty="0" err="1">
                <a:highlight>
                  <a:srgbClr val="FFFF00"/>
                </a:highlight>
              </a:rPr>
              <a:t>Jakob</a:t>
            </a:r>
            <a:r>
              <a:rPr lang="en-US" b="1" dirty="0">
                <a:highlight>
                  <a:srgbClr val="FFFF00"/>
                </a:highlight>
              </a:rPr>
              <a:t> Nielson, Constantine &amp; Lockwood, and in the Universal Design process. </a:t>
            </a:r>
            <a:r>
              <a:rPr lang="en-US" dirty="0"/>
              <a:t>They are used to improve human-computer interaction by improving how an interface is used and understood by humans.</a:t>
            </a:r>
          </a:p>
        </p:txBody>
      </p:sp>
    </p:spTree>
    <p:extLst>
      <p:ext uri="{BB962C8B-B14F-4D97-AF65-F5344CB8AC3E}">
        <p14:creationId xmlns:p14="http://schemas.microsoft.com/office/powerpoint/2010/main" val="2575641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750340" y="959993"/>
            <a:ext cx="7739320" cy="4351338"/>
          </a:xfrm>
          <a:prstGeom prst="rect">
            <a:avLst/>
          </a:prstGeom>
        </p:spPr>
      </p:pic>
    </p:spTree>
    <p:extLst>
      <p:ext uri="{BB962C8B-B14F-4D97-AF65-F5344CB8AC3E}">
        <p14:creationId xmlns:p14="http://schemas.microsoft.com/office/powerpoint/2010/main" val="3332833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principals</a:t>
            </a:r>
          </a:p>
        </p:txBody>
      </p:sp>
      <p:sp>
        <p:nvSpPr>
          <p:cNvPr id="3" name="Content Placeholder 2"/>
          <p:cNvSpPr>
            <a:spLocks noGrp="1"/>
          </p:cNvSpPr>
          <p:nvPr>
            <p:ph idx="1"/>
          </p:nvPr>
        </p:nvSpPr>
        <p:spPr/>
        <p:txBody>
          <a:bodyPr>
            <a:normAutofit/>
          </a:bodyPr>
          <a:lstStyle/>
          <a:p>
            <a:r>
              <a:rPr lang="en-US" dirty="0"/>
              <a:t>To support usability design principles  are split into three main categories ,For ease of memorizing and use, we have grouped them into three main categories –</a:t>
            </a:r>
          </a:p>
          <a:p>
            <a:endParaRPr lang="en-US" dirty="0"/>
          </a:p>
          <a:p>
            <a:r>
              <a:rPr lang="en-US" dirty="0"/>
              <a:t>Learnability</a:t>
            </a:r>
          </a:p>
          <a:p>
            <a:endParaRPr lang="en-US" dirty="0"/>
          </a:p>
          <a:p>
            <a:r>
              <a:rPr lang="en-US" dirty="0"/>
              <a:t>Robustness</a:t>
            </a:r>
          </a:p>
          <a:p>
            <a:endParaRPr lang="en-US" dirty="0"/>
          </a:p>
          <a:p>
            <a:r>
              <a:rPr lang="en-US" dirty="0"/>
              <a:t>accommodation.</a:t>
            </a:r>
          </a:p>
        </p:txBody>
      </p:sp>
    </p:spTree>
    <p:extLst>
      <p:ext uri="{BB962C8B-B14F-4D97-AF65-F5344CB8AC3E}">
        <p14:creationId xmlns:p14="http://schemas.microsoft.com/office/powerpoint/2010/main" val="3957116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Learnability: Helping people access, learn and</a:t>
            </a:r>
            <a:br>
              <a:rPr lang="en-US" dirty="0"/>
            </a:br>
            <a:r>
              <a:rPr lang="en-US" dirty="0"/>
              <a:t>remember the system</a:t>
            </a:r>
            <a:br>
              <a:rPr lang="en-US" dirty="0"/>
            </a:br>
            <a:endParaRPr lang="en-US" dirty="0"/>
          </a:p>
        </p:txBody>
      </p:sp>
      <p:sp>
        <p:nvSpPr>
          <p:cNvPr id="3" name="Content Placeholder 2"/>
          <p:cNvSpPr>
            <a:spLocks noGrp="1"/>
          </p:cNvSpPr>
          <p:nvPr>
            <p:ph idx="1"/>
          </p:nvPr>
        </p:nvSpPr>
        <p:spPr/>
        <p:txBody>
          <a:bodyPr>
            <a:normAutofit/>
          </a:bodyPr>
          <a:lstStyle/>
          <a:p>
            <a:endParaRPr lang="en-US" dirty="0"/>
          </a:p>
          <a:p>
            <a:r>
              <a:rPr lang="en-US" dirty="0"/>
              <a:t>Visibility. </a:t>
            </a:r>
          </a:p>
          <a:p>
            <a:r>
              <a:rPr lang="en-US" dirty="0"/>
              <a:t>Consistency</a:t>
            </a:r>
          </a:p>
          <a:p>
            <a:endParaRPr lang="en-US" dirty="0"/>
          </a:p>
          <a:p>
            <a:r>
              <a:rPr lang="en-US" dirty="0"/>
              <a:t>Affordance.</a:t>
            </a:r>
          </a:p>
          <a:p>
            <a:endParaRPr lang="en-US" dirty="0"/>
          </a:p>
          <a:p>
            <a:r>
              <a:rPr lang="en-US" dirty="0"/>
              <a:t>Familiarity</a:t>
            </a:r>
          </a:p>
        </p:txBody>
      </p:sp>
    </p:spTree>
    <p:extLst>
      <p:ext uri="{BB962C8B-B14F-4D97-AF65-F5344CB8AC3E}">
        <p14:creationId xmlns:p14="http://schemas.microsoft.com/office/powerpoint/2010/main" val="1136663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Visibility</a:t>
            </a:r>
          </a:p>
        </p:txBody>
      </p:sp>
      <p:pic>
        <p:nvPicPr>
          <p:cNvPr id="4098" name="Picture 2" descr="4 Ways To Communicate the Visibility of System Status in UI | by Nick ..."/>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90824" y="3408547"/>
            <a:ext cx="4179069" cy="313430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6815" y="2892219"/>
            <a:ext cx="4969655" cy="3727241"/>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0359" y="177455"/>
            <a:ext cx="4035287" cy="3026465"/>
          </a:xfrm>
          <a:prstGeom prst="rect">
            <a:avLst/>
          </a:prstGeom>
        </p:spPr>
      </p:pic>
    </p:spTree>
    <p:extLst>
      <p:ext uri="{BB962C8B-B14F-4D97-AF65-F5344CB8AC3E}">
        <p14:creationId xmlns:p14="http://schemas.microsoft.com/office/powerpoint/2010/main" val="3835044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Affordance</a:t>
            </a:r>
            <a:br>
              <a:rPr lang="en-US" dirty="0"/>
            </a:br>
            <a:endParaRPr lang="en-US" dirty="0"/>
          </a:p>
        </p:txBody>
      </p:sp>
      <p:sp>
        <p:nvSpPr>
          <p:cNvPr id="3" name="Content Placeholder 2"/>
          <p:cNvSpPr>
            <a:spLocks noGrp="1"/>
          </p:cNvSpPr>
          <p:nvPr>
            <p:ph idx="1"/>
          </p:nvPr>
        </p:nvSpPr>
        <p:spPr/>
        <p:txBody>
          <a:bodyPr/>
          <a:lstStyle/>
          <a:p>
            <a:r>
              <a:rPr lang="en-US" dirty="0"/>
              <a:t>An affordance is a perceivable or visual clue that tells you what action the thing can afford. It tells the user what action they can take with the thing in front of them.</a:t>
            </a:r>
          </a:p>
          <a:p>
            <a:endParaRPr lang="en-US" dirty="0"/>
          </a:p>
          <a:p>
            <a:r>
              <a:rPr lang="en-US" dirty="0"/>
              <a:t>Example: Perceiving a chair, the structure, plains and stability, we know it can be sat or stood on.</a:t>
            </a:r>
          </a:p>
          <a:p>
            <a:endParaRPr lang="en-US" dirty="0"/>
          </a:p>
          <a:p>
            <a:r>
              <a:rPr lang="en-US" dirty="0"/>
              <a:t>Example: Perceiving a button on a screen, we know it is something that can be pressed to produce an action.</a:t>
            </a:r>
          </a:p>
          <a:p>
            <a:endParaRPr lang="en-US" dirty="0"/>
          </a:p>
        </p:txBody>
      </p:sp>
      <p:pic>
        <p:nvPicPr>
          <p:cNvPr id="5" name="Picture 4"/>
          <p:cNvPicPr>
            <a:picLocks noChangeAspect="1"/>
          </p:cNvPicPr>
          <p:nvPr/>
        </p:nvPicPr>
        <p:blipFill>
          <a:blip r:embed="rId2"/>
          <a:stretch>
            <a:fillRect/>
          </a:stretch>
        </p:blipFill>
        <p:spPr>
          <a:xfrm>
            <a:off x="3451691" y="864108"/>
            <a:ext cx="8671561" cy="4793446"/>
          </a:xfrm>
          <a:prstGeom prst="rect">
            <a:avLst/>
          </a:prstGeom>
        </p:spPr>
      </p:pic>
    </p:spTree>
    <p:extLst>
      <p:ext uri="{BB962C8B-B14F-4D97-AF65-F5344CB8AC3E}">
        <p14:creationId xmlns:p14="http://schemas.microsoft.com/office/powerpoint/2010/main" val="4198005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Affordance:</a:t>
            </a:r>
          </a:p>
        </p:txBody>
      </p:sp>
      <p:pic>
        <p:nvPicPr>
          <p:cNvPr id="5122" name="Picture 2" descr="Affordances and Signifiers in Mobile Interface Desig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493295" y="1459864"/>
            <a:ext cx="6737922" cy="4562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33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2" descr="The toggle switch pictured above is a UI control that looks and acts kind of like a light switch in the physical world. It is either on or off, there is no in between. It is fairly obvious what you're supposed to do with it; clicking or tapping th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3426" y="859431"/>
            <a:ext cx="7773538" cy="4865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1052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19236" y="1373682"/>
            <a:ext cx="5801784" cy="4351338"/>
          </a:xfrm>
        </p:spPr>
      </p:pic>
    </p:spTree>
    <p:extLst>
      <p:ext uri="{BB962C8B-B14F-4D97-AF65-F5344CB8AC3E}">
        <p14:creationId xmlns:p14="http://schemas.microsoft.com/office/powerpoint/2010/main" val="1467874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Effectiveness: </a:t>
            </a:r>
            <a:r>
              <a:rPr lang="en-US" dirty="0"/>
              <a:t>Giving them the sense of being in control, knowing what to do and how to do it</a:t>
            </a:r>
          </a:p>
        </p:txBody>
      </p:sp>
      <p:sp>
        <p:nvSpPr>
          <p:cNvPr id="3" name="Content Placeholder 2"/>
          <p:cNvSpPr>
            <a:spLocks noGrp="1"/>
          </p:cNvSpPr>
          <p:nvPr>
            <p:ph idx="1"/>
          </p:nvPr>
        </p:nvSpPr>
        <p:spPr/>
        <p:txBody>
          <a:bodyPr/>
          <a:lstStyle/>
          <a:p>
            <a:r>
              <a:rPr lang="en-US" dirty="0"/>
              <a:t>Navigation </a:t>
            </a:r>
          </a:p>
          <a:p>
            <a:r>
              <a:rPr lang="en-US" dirty="0"/>
              <a:t>Control </a:t>
            </a:r>
          </a:p>
          <a:p>
            <a:r>
              <a:rPr lang="en-US" dirty="0"/>
              <a:t>feedback</a:t>
            </a:r>
          </a:p>
        </p:txBody>
      </p:sp>
      <p:pic>
        <p:nvPicPr>
          <p:cNvPr id="5" name="Picture 4"/>
          <p:cNvPicPr>
            <a:picLocks noChangeAspect="1"/>
          </p:cNvPicPr>
          <p:nvPr/>
        </p:nvPicPr>
        <p:blipFill rotWithShape="1">
          <a:blip r:embed="rId2"/>
          <a:srcRect l="28509" t="47146" r="29935" b="11006"/>
          <a:stretch/>
        </p:blipFill>
        <p:spPr>
          <a:xfrm>
            <a:off x="5295834" y="428246"/>
            <a:ext cx="6801678" cy="4353340"/>
          </a:xfrm>
          <a:prstGeom prst="rect">
            <a:avLst/>
          </a:prstGeom>
        </p:spPr>
      </p:pic>
      <p:pic>
        <p:nvPicPr>
          <p:cNvPr id="8194" name="Picture 2" descr="https://public-images.interaction-design.org/literature/articles/materials/8eA70kEKKQYDMHiMmc5GqwoUbmSn6chs39Kji26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5221" y="2604916"/>
            <a:ext cx="4270513" cy="3182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703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should be hands of user</a:t>
            </a:r>
          </a:p>
        </p:txBody>
      </p:sp>
      <p:pic>
        <p:nvPicPr>
          <p:cNvPr id="7170" name="Picture 2" descr="Four screenshots from Delta's mobile app are displayed. The first screen shows several available flights for a search from Detroit to Honolulu. The second screen shows one flight has been selected. There is a back button at the top of the screen. When the back button is pressed, a overlay message is displayed (shown on screen 3) which asks the user if they want to continue booking or search for a new flight. Selecting search for a new flight takes the user back to the beginning where they have to enter their search criteria, rather than to the previous list of all available flight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27467" y="596428"/>
            <a:ext cx="9064533" cy="5128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860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Accommodation :</a:t>
            </a:r>
            <a:br>
              <a:rPr lang="en-US" dirty="0"/>
            </a:br>
            <a:r>
              <a:rPr lang="en-US" dirty="0"/>
              <a:t>Safely and securely </a:t>
            </a:r>
            <a:br>
              <a:rPr lang="en-US" dirty="0"/>
            </a:br>
            <a:r>
              <a:rPr lang="en-US" dirty="0"/>
              <a:t>-the way that suits users</a:t>
            </a:r>
          </a:p>
        </p:txBody>
      </p:sp>
      <p:sp>
        <p:nvSpPr>
          <p:cNvPr id="3" name="Content Placeholder 2"/>
          <p:cNvSpPr>
            <a:spLocks noGrp="1"/>
          </p:cNvSpPr>
          <p:nvPr>
            <p:ph idx="1"/>
          </p:nvPr>
        </p:nvSpPr>
        <p:spPr/>
        <p:txBody>
          <a:bodyPr/>
          <a:lstStyle/>
          <a:p>
            <a:r>
              <a:rPr lang="en-US" dirty="0"/>
              <a:t>Recovery – reversal  of actions . Error recovery</a:t>
            </a:r>
          </a:p>
          <a:p>
            <a:r>
              <a:rPr lang="en-US" dirty="0"/>
              <a:t>Flexibility - : Allow multiple ways of doing things (short keys , multiple ways to tasks)</a:t>
            </a:r>
          </a:p>
          <a:p>
            <a:r>
              <a:rPr lang="en-US" dirty="0"/>
              <a:t>Style – animations or gifs etc.</a:t>
            </a:r>
          </a:p>
          <a:p>
            <a:r>
              <a:rPr lang="en-US" dirty="0"/>
              <a:t>Conviviality (pleasant ness) : UI should be polite and </a:t>
            </a:r>
            <a:r>
              <a:rPr lang="en-US" dirty="0" err="1"/>
              <a:t>gentelly</a:t>
            </a:r>
            <a:r>
              <a:rPr lang="en-US" dirty="0"/>
              <a:t> present.</a:t>
            </a:r>
          </a:p>
        </p:txBody>
      </p:sp>
    </p:spTree>
    <p:extLst>
      <p:ext uri="{BB962C8B-B14F-4D97-AF65-F5344CB8AC3E}">
        <p14:creationId xmlns:p14="http://schemas.microsoft.com/office/powerpoint/2010/main" val="2315170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Accessibility</a:t>
            </a:r>
          </a:p>
        </p:txBody>
      </p:sp>
      <p:sp>
        <p:nvSpPr>
          <p:cNvPr id="3" name="Content Placeholder 2"/>
          <p:cNvSpPr>
            <a:spLocks noGrp="1"/>
          </p:cNvSpPr>
          <p:nvPr>
            <p:ph idx="1"/>
          </p:nvPr>
        </p:nvSpPr>
        <p:spPr/>
        <p:txBody>
          <a:bodyPr>
            <a:normAutofit/>
          </a:bodyPr>
          <a:lstStyle/>
          <a:p>
            <a:r>
              <a:rPr lang="en-US" dirty="0"/>
              <a:t>Accessibility guidelines for UX designers </a:t>
            </a:r>
          </a:p>
          <a:p>
            <a:r>
              <a:rPr lang="en-US" dirty="0"/>
              <a:t>1) Create user personas. </a:t>
            </a:r>
          </a:p>
          <a:p>
            <a:r>
              <a:rPr lang="en-US" dirty="0"/>
              <a:t>2) Design for all platforms and devices.</a:t>
            </a:r>
          </a:p>
          <a:p>
            <a:r>
              <a:rPr lang="en-US" dirty="0"/>
              <a:t> 3) Organize the content logically.</a:t>
            </a:r>
          </a:p>
          <a:p>
            <a:r>
              <a:rPr lang="en-US" dirty="0"/>
              <a:t> 4) Ensure consistency in design. </a:t>
            </a:r>
          </a:p>
          <a:p>
            <a:r>
              <a:rPr lang="en-US" dirty="0"/>
              <a:t>5) Use accessible fonts.</a:t>
            </a:r>
          </a:p>
          <a:p>
            <a:r>
              <a:rPr lang="en-US" dirty="0"/>
              <a:t> 6) Choose appropriate color contrast.</a:t>
            </a:r>
          </a:p>
          <a:p>
            <a:r>
              <a:rPr lang="en-US" dirty="0"/>
              <a:t> 7) Include alt-text for media content.</a:t>
            </a:r>
          </a:p>
          <a:p>
            <a:r>
              <a:rPr lang="en-US" dirty="0"/>
              <a:t> 8) Provide transcriptions and subtitles.</a:t>
            </a:r>
          </a:p>
        </p:txBody>
      </p:sp>
    </p:spTree>
    <p:extLst>
      <p:ext uri="{BB962C8B-B14F-4D97-AF65-F5344CB8AC3E}">
        <p14:creationId xmlns:p14="http://schemas.microsoft.com/office/powerpoint/2010/main" val="3903410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Famous ones</a:t>
            </a:r>
          </a:p>
        </p:txBody>
      </p:sp>
      <p:sp>
        <p:nvSpPr>
          <p:cNvPr id="3" name="Content Placeholder 2"/>
          <p:cNvSpPr>
            <a:spLocks noGrp="1"/>
          </p:cNvSpPr>
          <p:nvPr>
            <p:ph idx="1"/>
          </p:nvPr>
        </p:nvSpPr>
        <p:spPr/>
        <p:txBody>
          <a:bodyPr/>
          <a:lstStyle/>
          <a:p>
            <a:r>
              <a:rPr lang="en-US" dirty="0"/>
              <a:t>Neilson heuristics</a:t>
            </a:r>
          </a:p>
          <a:p>
            <a:r>
              <a:rPr lang="en-US" dirty="0"/>
              <a:t>Norman’s 7 principals of interaction</a:t>
            </a:r>
          </a:p>
          <a:p>
            <a:r>
              <a:rPr lang="en-US" dirty="0" err="1"/>
              <a:t>Shneiderman’s</a:t>
            </a:r>
            <a:r>
              <a:rPr lang="en-US" dirty="0"/>
              <a:t> 8 Golden Rules (1987)</a:t>
            </a:r>
          </a:p>
        </p:txBody>
      </p:sp>
    </p:spTree>
    <p:extLst>
      <p:ext uri="{BB962C8B-B14F-4D97-AF65-F5344CB8AC3E}">
        <p14:creationId xmlns:p14="http://schemas.microsoft.com/office/powerpoint/2010/main" val="1849081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Norman’s 7 Principles (1988):</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dirty="0"/>
              <a:t>1. Use both knowledge in the world and knowledge in</a:t>
            </a:r>
          </a:p>
          <a:p>
            <a:pPr marL="0" indent="0">
              <a:buNone/>
            </a:pPr>
            <a:r>
              <a:rPr lang="en-US" dirty="0"/>
              <a:t>the head.</a:t>
            </a:r>
          </a:p>
          <a:p>
            <a:pPr marL="0" indent="0">
              <a:buNone/>
            </a:pPr>
            <a:r>
              <a:rPr lang="en-US" dirty="0"/>
              <a:t>2. Simplify the structure of tasks.</a:t>
            </a:r>
          </a:p>
          <a:p>
            <a:pPr marL="0" indent="0">
              <a:buNone/>
            </a:pPr>
            <a:r>
              <a:rPr lang="en-US" dirty="0"/>
              <a:t>3. Make things visible.</a:t>
            </a:r>
          </a:p>
          <a:p>
            <a:pPr marL="0" indent="0">
              <a:buNone/>
            </a:pPr>
            <a:r>
              <a:rPr lang="en-US" dirty="0"/>
              <a:t>4. Get the mappings right.</a:t>
            </a:r>
          </a:p>
          <a:p>
            <a:pPr marL="0" indent="0">
              <a:buNone/>
            </a:pPr>
            <a:r>
              <a:rPr lang="en-US" dirty="0"/>
              <a:t>5. Exploit the power of constraints, both natural and</a:t>
            </a:r>
          </a:p>
          <a:p>
            <a:pPr marL="0" indent="0">
              <a:buNone/>
            </a:pPr>
            <a:r>
              <a:rPr lang="en-US" dirty="0"/>
              <a:t>artificial.</a:t>
            </a:r>
          </a:p>
          <a:p>
            <a:pPr marL="0" indent="0">
              <a:buNone/>
            </a:pPr>
            <a:r>
              <a:rPr lang="en-US" dirty="0"/>
              <a:t>6. Design for error.</a:t>
            </a:r>
          </a:p>
          <a:p>
            <a:pPr marL="0" indent="0">
              <a:buNone/>
            </a:pPr>
            <a:r>
              <a:rPr lang="en-US" dirty="0"/>
              <a:t>7. When all else fails, standardize</a:t>
            </a:r>
          </a:p>
        </p:txBody>
      </p:sp>
    </p:spTree>
    <p:extLst>
      <p:ext uri="{BB962C8B-B14F-4D97-AF65-F5344CB8AC3E}">
        <p14:creationId xmlns:p14="http://schemas.microsoft.com/office/powerpoint/2010/main" val="2079738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10 Usability Heuristics (1994):</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dirty="0"/>
              <a:t>1. Visibility of system status</a:t>
            </a:r>
          </a:p>
          <a:p>
            <a:pPr marL="0" indent="0">
              <a:buNone/>
            </a:pPr>
            <a:r>
              <a:rPr lang="en-US" dirty="0"/>
              <a:t>2. Match between system and the real world</a:t>
            </a:r>
          </a:p>
          <a:p>
            <a:pPr marL="0" indent="0">
              <a:buNone/>
            </a:pPr>
            <a:r>
              <a:rPr lang="en-US" dirty="0"/>
              <a:t>3. User control and freedom</a:t>
            </a:r>
          </a:p>
          <a:p>
            <a:pPr marL="0" indent="0">
              <a:buNone/>
            </a:pPr>
            <a:r>
              <a:rPr lang="en-US" dirty="0"/>
              <a:t>4. Consistency and standards</a:t>
            </a:r>
          </a:p>
          <a:p>
            <a:pPr marL="0" indent="0">
              <a:buNone/>
            </a:pPr>
            <a:r>
              <a:rPr lang="en-US" dirty="0"/>
              <a:t>5. Help users recognize, diagnose and recover from</a:t>
            </a:r>
          </a:p>
          <a:p>
            <a:pPr marL="0" indent="0">
              <a:buNone/>
            </a:pPr>
            <a:r>
              <a:rPr lang="en-US" dirty="0"/>
              <a:t>errors</a:t>
            </a:r>
          </a:p>
          <a:p>
            <a:pPr marL="0" indent="0">
              <a:buNone/>
            </a:pPr>
            <a:r>
              <a:rPr lang="en-US" dirty="0"/>
              <a:t>6. Error prevention</a:t>
            </a:r>
          </a:p>
          <a:p>
            <a:pPr marL="0" indent="0">
              <a:buNone/>
            </a:pPr>
            <a:r>
              <a:rPr lang="en-US" dirty="0"/>
              <a:t>7. Recognition rather than recall</a:t>
            </a:r>
          </a:p>
          <a:p>
            <a:pPr marL="0" indent="0">
              <a:buNone/>
            </a:pPr>
            <a:r>
              <a:rPr lang="en-US" dirty="0"/>
              <a:t>8. Flexibility and efficiency of use</a:t>
            </a:r>
          </a:p>
          <a:p>
            <a:pPr marL="0" indent="0">
              <a:buNone/>
            </a:pPr>
            <a:r>
              <a:rPr lang="en-US" dirty="0"/>
              <a:t>9. Aesthetic and minimalist design</a:t>
            </a:r>
          </a:p>
          <a:p>
            <a:pPr marL="0" indent="0">
              <a:buNone/>
            </a:pPr>
            <a:r>
              <a:rPr lang="en-US" dirty="0"/>
              <a:t>10.Help and documentation</a:t>
            </a:r>
          </a:p>
        </p:txBody>
      </p:sp>
    </p:spTree>
    <p:extLst>
      <p:ext uri="{BB962C8B-B14F-4D97-AF65-F5344CB8AC3E}">
        <p14:creationId xmlns:p14="http://schemas.microsoft.com/office/powerpoint/2010/main" val="2473983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B97B9BB-116E-52FD-D0CA-D7E1C6CB8C62}"/>
              </a:ext>
            </a:extLst>
          </p:cNvPr>
          <p:cNvPicPr>
            <a:picLocks noGrp="1" noChangeAspect="1"/>
          </p:cNvPicPr>
          <p:nvPr>
            <p:ph idx="1"/>
          </p:nvPr>
        </p:nvPicPr>
        <p:blipFill>
          <a:blip r:embed="rId2"/>
          <a:srcRect l="4444" r="1" b="1"/>
          <a:stretch/>
        </p:blipFill>
        <p:spPr>
          <a:xfrm>
            <a:off x="20" y="10"/>
            <a:ext cx="12191980" cy="6857990"/>
          </a:xfrm>
          <a:prstGeom prst="rect">
            <a:avLst/>
          </a:prstGeom>
        </p:spPr>
      </p:pic>
    </p:spTree>
    <p:extLst>
      <p:ext uri="{BB962C8B-B14F-4D97-AF65-F5344CB8AC3E}">
        <p14:creationId xmlns:p14="http://schemas.microsoft.com/office/powerpoint/2010/main" val="3881608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BBB681-F4D2-40F2-ACC3-DE0B4B488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E4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388ED0-1FEF-4E11-B488-BD661D1AC1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58470"/>
            <a:ext cx="11237976" cy="589788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4CF5E0D2-97B2-5AF7-0784-A0765FE5E131}"/>
              </a:ext>
            </a:extLst>
          </p:cNvPr>
          <p:cNvPicPr>
            <a:picLocks noGrp="1" noChangeAspect="1"/>
          </p:cNvPicPr>
          <p:nvPr>
            <p:ph idx="1"/>
          </p:nvPr>
        </p:nvPicPr>
        <p:blipFill>
          <a:blip r:embed="rId2"/>
          <a:stretch>
            <a:fillRect/>
          </a:stretch>
        </p:blipFill>
        <p:spPr>
          <a:xfrm>
            <a:off x="1002325" y="771434"/>
            <a:ext cx="10187350" cy="5271953"/>
          </a:xfrm>
          <a:prstGeom prst="rect">
            <a:avLst/>
          </a:prstGeom>
        </p:spPr>
      </p:pic>
    </p:spTree>
    <p:extLst>
      <p:ext uri="{BB962C8B-B14F-4D97-AF65-F5344CB8AC3E}">
        <p14:creationId xmlns:p14="http://schemas.microsoft.com/office/powerpoint/2010/main" val="3235374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E78C5-1C70-FC83-6067-C8073CDECAF4}"/>
              </a:ext>
            </a:extLst>
          </p:cNvPr>
          <p:cNvSpPr>
            <a:spLocks noGrp="1"/>
          </p:cNvSpPr>
          <p:nvPr>
            <p:ph type="title"/>
          </p:nvPr>
        </p:nvSpPr>
        <p:spPr/>
        <p:txBody>
          <a:bodyPr/>
          <a:lstStyle/>
          <a:p>
            <a:r>
              <a:rPr lang="en-US" dirty="0"/>
              <a:t>Consistency and standards</a:t>
            </a:r>
            <a:endParaRPr lang="en-PK" dirty="0"/>
          </a:p>
        </p:txBody>
      </p:sp>
      <p:pic>
        <p:nvPicPr>
          <p:cNvPr id="4" name="Content Placeholder 3">
            <a:extLst>
              <a:ext uri="{FF2B5EF4-FFF2-40B4-BE49-F238E27FC236}">
                <a16:creationId xmlns:a16="http://schemas.microsoft.com/office/drawing/2014/main" id="{B8E8A9CA-7876-406A-19BC-4C6B3580B976}"/>
              </a:ext>
            </a:extLst>
          </p:cNvPr>
          <p:cNvPicPr>
            <a:picLocks noGrp="1" noChangeAspect="1"/>
          </p:cNvPicPr>
          <p:nvPr>
            <p:ph idx="1"/>
          </p:nvPr>
        </p:nvPicPr>
        <p:blipFill>
          <a:blip r:embed="rId2"/>
          <a:stretch>
            <a:fillRect/>
          </a:stretch>
        </p:blipFill>
        <p:spPr>
          <a:xfrm>
            <a:off x="3868738" y="1078743"/>
            <a:ext cx="7315200" cy="4690989"/>
          </a:xfrm>
          <a:prstGeom prst="rect">
            <a:avLst/>
          </a:prstGeom>
        </p:spPr>
      </p:pic>
      <p:pic>
        <p:nvPicPr>
          <p:cNvPr id="5" name="Picture 4">
            <a:extLst>
              <a:ext uri="{FF2B5EF4-FFF2-40B4-BE49-F238E27FC236}">
                <a16:creationId xmlns:a16="http://schemas.microsoft.com/office/drawing/2014/main" id="{8DE3DDFE-78E2-FC1C-6E6D-8C1515F47C43}"/>
              </a:ext>
            </a:extLst>
          </p:cNvPr>
          <p:cNvPicPr>
            <a:picLocks noChangeAspect="1"/>
          </p:cNvPicPr>
          <p:nvPr/>
        </p:nvPicPr>
        <p:blipFill>
          <a:blip r:embed="rId3"/>
          <a:stretch>
            <a:fillRect/>
          </a:stretch>
        </p:blipFill>
        <p:spPr>
          <a:xfrm>
            <a:off x="857250" y="481012"/>
            <a:ext cx="10477500" cy="5895975"/>
          </a:xfrm>
          <a:prstGeom prst="rect">
            <a:avLst/>
          </a:prstGeom>
        </p:spPr>
      </p:pic>
    </p:spTree>
    <p:extLst>
      <p:ext uri="{BB962C8B-B14F-4D97-AF65-F5344CB8AC3E}">
        <p14:creationId xmlns:p14="http://schemas.microsoft.com/office/powerpoint/2010/main" val="199393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69F4-292D-8312-F9D7-4184C11371B5}"/>
              </a:ext>
            </a:extLst>
          </p:cNvPr>
          <p:cNvSpPr>
            <a:spLocks noGrp="1"/>
          </p:cNvSpPr>
          <p:nvPr>
            <p:ph type="title"/>
          </p:nvPr>
        </p:nvSpPr>
        <p:spPr/>
        <p:txBody>
          <a:bodyPr/>
          <a:lstStyle/>
          <a:p>
            <a:r>
              <a:rPr lang="en-US" dirty="0"/>
              <a:t>Error prevention</a:t>
            </a:r>
            <a:endParaRPr lang="en-PK" dirty="0"/>
          </a:p>
        </p:txBody>
      </p:sp>
      <p:pic>
        <p:nvPicPr>
          <p:cNvPr id="4" name="Content Placeholder 3">
            <a:extLst>
              <a:ext uri="{FF2B5EF4-FFF2-40B4-BE49-F238E27FC236}">
                <a16:creationId xmlns:a16="http://schemas.microsoft.com/office/drawing/2014/main" id="{186203BB-85C5-1AD5-D2CA-73F70CFFE010}"/>
              </a:ext>
            </a:extLst>
          </p:cNvPr>
          <p:cNvPicPr>
            <a:picLocks noGrp="1" noChangeAspect="1"/>
          </p:cNvPicPr>
          <p:nvPr>
            <p:ph idx="1"/>
          </p:nvPr>
        </p:nvPicPr>
        <p:blipFill>
          <a:blip r:embed="rId2"/>
          <a:stretch>
            <a:fillRect/>
          </a:stretch>
        </p:blipFill>
        <p:spPr>
          <a:xfrm>
            <a:off x="3868738" y="1415627"/>
            <a:ext cx="7315200" cy="4017220"/>
          </a:xfrm>
          <a:prstGeom prst="rect">
            <a:avLst/>
          </a:prstGeom>
        </p:spPr>
      </p:pic>
    </p:spTree>
    <p:extLst>
      <p:ext uri="{BB962C8B-B14F-4D97-AF65-F5344CB8AC3E}">
        <p14:creationId xmlns:p14="http://schemas.microsoft.com/office/powerpoint/2010/main" val="1586086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FC51F-A290-B20A-7E72-DB70D9A9F970}"/>
              </a:ext>
            </a:extLst>
          </p:cNvPr>
          <p:cNvSpPr>
            <a:spLocks noGrp="1"/>
          </p:cNvSpPr>
          <p:nvPr>
            <p:ph type="title"/>
          </p:nvPr>
        </p:nvSpPr>
        <p:spPr/>
        <p:txBody>
          <a:bodyPr/>
          <a:lstStyle/>
          <a:p>
            <a:r>
              <a:rPr lang="en-US" dirty="0"/>
              <a:t>Recognition than recall </a:t>
            </a:r>
            <a:endParaRPr lang="en-PK" dirty="0"/>
          </a:p>
        </p:txBody>
      </p:sp>
      <p:pic>
        <p:nvPicPr>
          <p:cNvPr id="4" name="Content Placeholder 3">
            <a:extLst>
              <a:ext uri="{FF2B5EF4-FFF2-40B4-BE49-F238E27FC236}">
                <a16:creationId xmlns:a16="http://schemas.microsoft.com/office/drawing/2014/main" id="{61C2190F-F89C-2D7E-490F-C1A50E49829C}"/>
              </a:ext>
            </a:extLst>
          </p:cNvPr>
          <p:cNvPicPr>
            <a:picLocks noGrp="1" noChangeAspect="1"/>
          </p:cNvPicPr>
          <p:nvPr>
            <p:ph idx="1"/>
          </p:nvPr>
        </p:nvPicPr>
        <p:blipFill>
          <a:blip r:embed="rId2"/>
          <a:stretch>
            <a:fillRect/>
          </a:stretch>
        </p:blipFill>
        <p:spPr>
          <a:xfrm>
            <a:off x="4483100" y="1547812"/>
            <a:ext cx="6086475" cy="3752850"/>
          </a:xfrm>
          <a:prstGeom prst="rect">
            <a:avLst/>
          </a:prstGeom>
        </p:spPr>
      </p:pic>
    </p:spTree>
    <p:extLst>
      <p:ext uri="{BB962C8B-B14F-4D97-AF65-F5344CB8AC3E}">
        <p14:creationId xmlns:p14="http://schemas.microsoft.com/office/powerpoint/2010/main" val="4886110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4516" y="4212709"/>
            <a:ext cx="10764932" cy="1873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4E040D-B715-9B87-4AA6-C26F90660CF5}"/>
              </a:ext>
            </a:extLst>
          </p:cNvPr>
          <p:cNvSpPr>
            <a:spLocks noGrp="1"/>
          </p:cNvSpPr>
          <p:nvPr>
            <p:ph type="title"/>
          </p:nvPr>
        </p:nvSpPr>
        <p:spPr>
          <a:xfrm>
            <a:off x="1030406" y="4386057"/>
            <a:ext cx="4067033" cy="1527244"/>
          </a:xfrm>
        </p:spPr>
        <p:txBody>
          <a:bodyPr>
            <a:normAutofit/>
          </a:bodyPr>
          <a:lstStyle/>
          <a:p>
            <a:pPr algn="r"/>
            <a:r>
              <a:rPr lang="en-US" sz="3200"/>
              <a:t>Minimalistic design</a:t>
            </a:r>
            <a:endParaRPr lang="en-PK" sz="3200"/>
          </a:p>
        </p:txBody>
      </p:sp>
      <p:sp>
        <p:nvSpPr>
          <p:cNvPr id="1043" name="Rectangle 1042">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pic>
        <p:nvPicPr>
          <p:cNvPr id="1026" name="Picture 2" descr="Aesthetic and minimalist design">
            <a:extLst>
              <a:ext uri="{FF2B5EF4-FFF2-40B4-BE49-F238E27FC236}">
                <a16:creationId xmlns:a16="http://schemas.microsoft.com/office/drawing/2014/main" id="{70E7CFD9-2BCF-3805-0BF4-3B2B20AE913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108376" y="757326"/>
            <a:ext cx="6277209" cy="3185684"/>
          </a:xfrm>
          <a:prstGeom prst="rect">
            <a:avLst/>
          </a:prstGeom>
          <a:noFill/>
          <a:extLst>
            <a:ext uri="{909E8E84-426E-40DD-AFC4-6F175D3DCCD1}">
              <a14:hiddenFill xmlns:a14="http://schemas.microsoft.com/office/drawing/2010/main">
                <a:solidFill>
                  <a:srgbClr val="FFFFFF"/>
                </a:solidFill>
              </a14:hiddenFill>
            </a:ext>
          </a:extLst>
        </p:spPr>
      </p:pic>
      <p:sp>
        <p:nvSpPr>
          <p:cNvPr id="1030" name="Content Placeholder 1029">
            <a:extLst>
              <a:ext uri="{FF2B5EF4-FFF2-40B4-BE49-F238E27FC236}">
                <a16:creationId xmlns:a16="http://schemas.microsoft.com/office/drawing/2014/main" id="{51F49516-663E-19F0-5492-25A9D776DF67}"/>
              </a:ext>
            </a:extLst>
          </p:cNvPr>
          <p:cNvSpPr>
            <a:spLocks noGrp="1"/>
          </p:cNvSpPr>
          <p:nvPr>
            <p:ph idx="1"/>
          </p:nvPr>
        </p:nvSpPr>
        <p:spPr>
          <a:xfrm>
            <a:off x="5437390" y="4386720"/>
            <a:ext cx="5992610" cy="1526582"/>
          </a:xfrm>
        </p:spPr>
        <p:txBody>
          <a:bodyPr anchor="ctr">
            <a:normAutofit/>
          </a:bodyPr>
          <a:lstStyle/>
          <a:p>
            <a:endParaRPr lang="en-US" sz="1600">
              <a:solidFill>
                <a:srgbClr val="FFFFFF"/>
              </a:solidFill>
            </a:endParaRPr>
          </a:p>
        </p:txBody>
      </p:sp>
      <p:pic>
        <p:nvPicPr>
          <p:cNvPr id="4" name="Picture 3">
            <a:extLst>
              <a:ext uri="{FF2B5EF4-FFF2-40B4-BE49-F238E27FC236}">
                <a16:creationId xmlns:a16="http://schemas.microsoft.com/office/drawing/2014/main" id="{B731452D-F149-D8C4-845C-96D91C61B681}"/>
              </a:ext>
            </a:extLst>
          </p:cNvPr>
          <p:cNvPicPr>
            <a:picLocks noChangeAspect="1"/>
          </p:cNvPicPr>
          <p:nvPr/>
        </p:nvPicPr>
        <p:blipFill>
          <a:blip r:embed="rId3"/>
          <a:stretch>
            <a:fillRect/>
          </a:stretch>
        </p:blipFill>
        <p:spPr>
          <a:xfrm>
            <a:off x="4870492" y="456735"/>
            <a:ext cx="2592989" cy="3754554"/>
          </a:xfrm>
          <a:prstGeom prst="rect">
            <a:avLst/>
          </a:prstGeom>
        </p:spPr>
      </p:pic>
    </p:spTree>
    <p:extLst>
      <p:ext uri="{BB962C8B-B14F-4D97-AF65-F5344CB8AC3E}">
        <p14:creationId xmlns:p14="http://schemas.microsoft.com/office/powerpoint/2010/main" val="1424449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8A657-A230-2570-5B1A-AABF611761DC}"/>
              </a:ext>
            </a:extLst>
          </p:cNvPr>
          <p:cNvSpPr>
            <a:spLocks noGrp="1"/>
          </p:cNvSpPr>
          <p:nvPr>
            <p:ph type="title"/>
          </p:nvPr>
        </p:nvSpPr>
        <p:spPr/>
        <p:txBody>
          <a:bodyPr/>
          <a:lstStyle/>
          <a:p>
            <a:r>
              <a:rPr lang="en-US" b="1" i="0" dirty="0">
                <a:solidFill>
                  <a:srgbClr val="000000"/>
                </a:solidFill>
                <a:effectLst/>
                <a:latin typeface="Work Sans" pitchFamily="2" charset="0"/>
              </a:rPr>
              <a:t>Help users recognize, diagnose and recover from errors</a:t>
            </a:r>
            <a:br>
              <a:rPr lang="en-US" b="1" i="0" dirty="0">
                <a:solidFill>
                  <a:srgbClr val="000000"/>
                </a:solidFill>
                <a:effectLst/>
                <a:latin typeface="Work Sans" pitchFamily="2" charset="0"/>
              </a:rPr>
            </a:br>
            <a:br>
              <a:rPr lang="en-US" b="0" i="0" dirty="0">
                <a:solidFill>
                  <a:srgbClr val="000000"/>
                </a:solidFill>
                <a:effectLst/>
                <a:latin typeface="Work Sans" pitchFamily="2" charset="0"/>
              </a:rPr>
            </a:br>
            <a:endParaRPr lang="en-PK" dirty="0"/>
          </a:p>
        </p:txBody>
      </p:sp>
      <p:pic>
        <p:nvPicPr>
          <p:cNvPr id="4" name="Content Placeholder 3">
            <a:extLst>
              <a:ext uri="{FF2B5EF4-FFF2-40B4-BE49-F238E27FC236}">
                <a16:creationId xmlns:a16="http://schemas.microsoft.com/office/drawing/2014/main" id="{800EA794-ED7E-1780-586B-D84A072BF725}"/>
              </a:ext>
            </a:extLst>
          </p:cNvPr>
          <p:cNvPicPr>
            <a:picLocks noGrp="1" noChangeAspect="1"/>
          </p:cNvPicPr>
          <p:nvPr>
            <p:ph idx="1"/>
          </p:nvPr>
        </p:nvPicPr>
        <p:blipFill>
          <a:blip r:embed="rId2"/>
          <a:stretch>
            <a:fillRect/>
          </a:stretch>
        </p:blipFill>
        <p:spPr>
          <a:xfrm>
            <a:off x="3868738" y="955357"/>
            <a:ext cx="7315200" cy="4937760"/>
          </a:xfrm>
          <a:prstGeom prst="rect">
            <a:avLst/>
          </a:prstGeom>
        </p:spPr>
      </p:pic>
    </p:spTree>
    <p:extLst>
      <p:ext uri="{BB962C8B-B14F-4D97-AF65-F5344CB8AC3E}">
        <p14:creationId xmlns:p14="http://schemas.microsoft.com/office/powerpoint/2010/main" val="3869208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4C9EE1D-12BB-43F7-9A2A-893578DCA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2" name="Rectangle 11">
            <a:extLst>
              <a:ext uri="{FF2B5EF4-FFF2-40B4-BE49-F238E27FC236}">
                <a16:creationId xmlns:a16="http://schemas.microsoft.com/office/drawing/2014/main" id="{43962A31-C54E-4762-B155-59777FED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useBgFill="1">
        <p:nvSpPr>
          <p:cNvPr id="14" name="Rectangle 13">
            <a:extLst>
              <a:ext uri="{FF2B5EF4-FFF2-40B4-BE49-F238E27FC236}">
                <a16:creationId xmlns:a16="http://schemas.microsoft.com/office/drawing/2014/main" id="{4B392D36-B685-45E0-B197-6EE5D7480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DCA8533-CC5E-4754-9A04-047EDE49E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F735AC5D-B15D-AC5A-CCCC-6F6D5BA24D0B}"/>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900" spc="-100"/>
              <a:t>Flexibility and efficiency of use</a:t>
            </a:r>
          </a:p>
        </p:txBody>
      </p:sp>
      <p:pic>
        <p:nvPicPr>
          <p:cNvPr id="4" name="Content Placeholder 3">
            <a:extLst>
              <a:ext uri="{FF2B5EF4-FFF2-40B4-BE49-F238E27FC236}">
                <a16:creationId xmlns:a16="http://schemas.microsoft.com/office/drawing/2014/main" id="{993E9A5C-B924-5251-5648-B5A344496840}"/>
              </a:ext>
            </a:extLst>
          </p:cNvPr>
          <p:cNvPicPr>
            <a:picLocks noGrp="1" noChangeAspect="1"/>
          </p:cNvPicPr>
          <p:nvPr>
            <p:ph idx="1"/>
          </p:nvPr>
        </p:nvPicPr>
        <p:blipFill>
          <a:blip r:embed="rId2"/>
          <a:stretch>
            <a:fillRect/>
          </a:stretch>
        </p:blipFill>
        <p:spPr>
          <a:xfrm>
            <a:off x="3053129" y="2108913"/>
            <a:ext cx="4789994" cy="2155496"/>
          </a:xfrm>
          <a:prstGeom prst="rect">
            <a:avLst/>
          </a:prstGeom>
        </p:spPr>
      </p:pic>
      <p:pic>
        <p:nvPicPr>
          <p:cNvPr id="5" name="Picture 4">
            <a:extLst>
              <a:ext uri="{FF2B5EF4-FFF2-40B4-BE49-F238E27FC236}">
                <a16:creationId xmlns:a16="http://schemas.microsoft.com/office/drawing/2014/main" id="{4FF5941C-C274-B682-9AB2-434B28B2026E}"/>
              </a:ext>
            </a:extLst>
          </p:cNvPr>
          <p:cNvPicPr>
            <a:picLocks noChangeAspect="1"/>
          </p:cNvPicPr>
          <p:nvPr/>
        </p:nvPicPr>
        <p:blipFill>
          <a:blip r:embed="rId3"/>
          <a:stretch>
            <a:fillRect/>
          </a:stretch>
        </p:blipFill>
        <p:spPr>
          <a:xfrm>
            <a:off x="7749647" y="484632"/>
            <a:ext cx="1967330" cy="3556755"/>
          </a:xfrm>
          <a:prstGeom prst="rect">
            <a:avLst/>
          </a:prstGeom>
        </p:spPr>
      </p:pic>
    </p:spTree>
    <p:extLst>
      <p:ext uri="{BB962C8B-B14F-4D97-AF65-F5344CB8AC3E}">
        <p14:creationId xmlns:p14="http://schemas.microsoft.com/office/powerpoint/2010/main" val="888428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4AAD-5AEF-EADA-29F4-EEFFCCE77CC6}"/>
              </a:ext>
            </a:extLst>
          </p:cNvPr>
          <p:cNvSpPr>
            <a:spLocks noGrp="1"/>
          </p:cNvSpPr>
          <p:nvPr>
            <p:ph type="title"/>
          </p:nvPr>
        </p:nvSpPr>
        <p:spPr/>
        <p:txBody>
          <a:bodyPr>
            <a:normAutofit/>
          </a:bodyPr>
          <a:lstStyle/>
          <a:p>
            <a:pPr algn="ctr"/>
            <a:r>
              <a:rPr lang="en-US" sz="3200" dirty="0"/>
              <a:t>Help and documentation </a:t>
            </a:r>
            <a:endParaRPr lang="en-PK" sz="3200" dirty="0"/>
          </a:p>
        </p:txBody>
      </p:sp>
      <p:pic>
        <p:nvPicPr>
          <p:cNvPr id="4" name="Content Placeholder 3">
            <a:extLst>
              <a:ext uri="{FF2B5EF4-FFF2-40B4-BE49-F238E27FC236}">
                <a16:creationId xmlns:a16="http://schemas.microsoft.com/office/drawing/2014/main" id="{E73ECF4A-2362-865D-0342-1266B7202BE3}"/>
              </a:ext>
            </a:extLst>
          </p:cNvPr>
          <p:cNvPicPr>
            <a:picLocks noGrp="1" noChangeAspect="1"/>
          </p:cNvPicPr>
          <p:nvPr>
            <p:ph idx="1"/>
          </p:nvPr>
        </p:nvPicPr>
        <p:blipFill>
          <a:blip r:embed="rId3"/>
          <a:stretch>
            <a:fillRect/>
          </a:stretch>
        </p:blipFill>
        <p:spPr>
          <a:xfrm>
            <a:off x="3868738" y="1368144"/>
            <a:ext cx="7315200" cy="4112187"/>
          </a:xfrm>
          <a:prstGeom prst="rect">
            <a:avLst/>
          </a:prstGeom>
        </p:spPr>
      </p:pic>
    </p:spTree>
    <p:extLst>
      <p:ext uri="{BB962C8B-B14F-4D97-AF65-F5344CB8AC3E}">
        <p14:creationId xmlns:p14="http://schemas.microsoft.com/office/powerpoint/2010/main" val="1121144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Shneiderman’s</a:t>
            </a:r>
            <a:r>
              <a:rPr lang="en-US" dirty="0"/>
              <a:t> 8 Golden Rules (1987):</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dirty="0"/>
              <a:t>1. Strive for consistency</a:t>
            </a:r>
          </a:p>
          <a:p>
            <a:pPr marL="0" indent="0">
              <a:buNone/>
            </a:pPr>
            <a:r>
              <a:rPr lang="en-US" dirty="0"/>
              <a:t>2. Enable frequent users to use shortcuts</a:t>
            </a:r>
          </a:p>
          <a:p>
            <a:pPr marL="0" indent="0">
              <a:buNone/>
            </a:pPr>
            <a:r>
              <a:rPr lang="en-US" dirty="0"/>
              <a:t>3. Offer informative feedback</a:t>
            </a:r>
          </a:p>
          <a:p>
            <a:pPr marL="0" indent="0">
              <a:buNone/>
            </a:pPr>
            <a:r>
              <a:rPr lang="en-US" dirty="0"/>
              <a:t>4. Design dialogs to yield closure</a:t>
            </a:r>
          </a:p>
          <a:p>
            <a:pPr marL="0" indent="0">
              <a:buNone/>
            </a:pPr>
            <a:r>
              <a:rPr lang="en-US" dirty="0"/>
              <a:t>5. Offer error prevention and simple error handling</a:t>
            </a:r>
          </a:p>
          <a:p>
            <a:pPr marL="0" indent="0">
              <a:buNone/>
            </a:pPr>
            <a:r>
              <a:rPr lang="en-US" dirty="0"/>
              <a:t>6. Permit easy reversal of actions</a:t>
            </a:r>
          </a:p>
          <a:p>
            <a:pPr marL="0" indent="0">
              <a:buNone/>
            </a:pPr>
            <a:r>
              <a:rPr lang="en-US" dirty="0"/>
              <a:t>7. Support internal locus of control</a:t>
            </a:r>
          </a:p>
          <a:p>
            <a:pPr marL="0" indent="0">
              <a:buNone/>
            </a:pPr>
            <a:r>
              <a:rPr lang="en-US" dirty="0"/>
              <a:t>8. Reduce short-term memory load </a:t>
            </a:r>
          </a:p>
        </p:txBody>
      </p:sp>
    </p:spTree>
    <p:extLst>
      <p:ext uri="{BB962C8B-B14F-4D97-AF65-F5344CB8AC3E}">
        <p14:creationId xmlns:p14="http://schemas.microsoft.com/office/powerpoint/2010/main" val="3067630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5160E-AC54-42B4-92E5-06CCFD9A7576}"/>
              </a:ext>
            </a:extLst>
          </p:cNvPr>
          <p:cNvSpPr>
            <a:spLocks noGrp="1"/>
          </p:cNvSpPr>
          <p:nvPr>
            <p:ph type="title"/>
          </p:nvPr>
        </p:nvSpPr>
        <p:spPr/>
        <p:txBody>
          <a:bodyPr/>
          <a:lstStyle/>
          <a:p>
            <a:r>
              <a:rPr lang="en-US" dirty="0"/>
              <a:t>1.Strive for consistency:</a:t>
            </a:r>
            <a:endParaRPr lang="en-PK" dirty="0"/>
          </a:p>
        </p:txBody>
      </p:sp>
      <p:sp>
        <p:nvSpPr>
          <p:cNvPr id="3" name="Content Placeholder 2">
            <a:extLst>
              <a:ext uri="{FF2B5EF4-FFF2-40B4-BE49-F238E27FC236}">
                <a16:creationId xmlns:a16="http://schemas.microsoft.com/office/drawing/2014/main" id="{737E320E-1124-7945-B4C3-48A2EE75A3D6}"/>
              </a:ext>
            </a:extLst>
          </p:cNvPr>
          <p:cNvSpPr>
            <a:spLocks noGrp="1"/>
          </p:cNvSpPr>
          <p:nvPr>
            <p:ph idx="1"/>
          </p:nvPr>
        </p:nvSpPr>
        <p:spPr/>
        <p:txBody>
          <a:bodyPr/>
          <a:lstStyle/>
          <a:p>
            <a:r>
              <a:rPr lang="en-US" b="0" i="0" dirty="0">
                <a:solidFill>
                  <a:srgbClr val="1B1B1B"/>
                </a:solidFill>
                <a:effectLst/>
                <a:latin typeface="ProximaNova-Regular"/>
              </a:rPr>
              <a:t>using the same design patterns and sequences of actions in similar situations throughout an application user’s workflows and includes the proper use of colors, typography, and terminology. </a:t>
            </a:r>
          </a:p>
          <a:p>
            <a:r>
              <a:rPr lang="en-US" b="0" i="0" dirty="0">
                <a:solidFill>
                  <a:srgbClr val="1B1B1B"/>
                </a:solidFill>
                <a:effectLst/>
                <a:latin typeface="ProximaNova-Regular"/>
              </a:rPr>
              <a:t>you should remember that your application does </a:t>
            </a:r>
            <a:r>
              <a:rPr lang="en-US" b="0" i="1" dirty="0">
                <a:solidFill>
                  <a:srgbClr val="1B1B1B"/>
                </a:solidFill>
                <a:effectLst/>
                <a:latin typeface="ProximaNova-RegularIt"/>
              </a:rPr>
              <a:t>not</a:t>
            </a:r>
            <a:r>
              <a:rPr lang="en-US" b="0" i="0" dirty="0">
                <a:solidFill>
                  <a:srgbClr val="1B1B1B"/>
                </a:solidFill>
                <a:effectLst/>
                <a:latin typeface="ProximaNova-Regular"/>
              </a:rPr>
              <a:t> exist in a vacuum. It is not the only product your users know. They’ll draw ideas and expectations from many other applications and build their mental models accordingly. </a:t>
            </a:r>
          </a:p>
          <a:p>
            <a:r>
              <a:rPr lang="en-US" b="0" i="0" dirty="0">
                <a:solidFill>
                  <a:srgbClr val="1B1B1B"/>
                </a:solidFill>
                <a:effectLst/>
                <a:latin typeface="ProximaNova-Regular"/>
              </a:rPr>
              <a:t>It’s important to create consistent, predictable user interfaces that let users navigate an application more easily and achieve their goals much faster.</a:t>
            </a:r>
            <a:endParaRPr lang="en-PK" dirty="0"/>
          </a:p>
        </p:txBody>
      </p:sp>
    </p:spTree>
    <p:extLst>
      <p:ext uri="{BB962C8B-B14F-4D97-AF65-F5344CB8AC3E}">
        <p14:creationId xmlns:p14="http://schemas.microsoft.com/office/powerpoint/2010/main" val="11448478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BF394-B585-7263-615D-8AA914997B47}"/>
              </a:ext>
            </a:extLst>
          </p:cNvPr>
          <p:cNvSpPr>
            <a:spLocks noGrp="1"/>
          </p:cNvSpPr>
          <p:nvPr>
            <p:ph type="title"/>
          </p:nvPr>
        </p:nvSpPr>
        <p:spPr/>
        <p:txBody>
          <a:bodyPr/>
          <a:lstStyle/>
          <a:p>
            <a:r>
              <a:rPr lang="en-US" dirty="0"/>
              <a:t>2. Enable frequent users to use shortcuts</a:t>
            </a:r>
            <a:br>
              <a:rPr lang="en-US" dirty="0"/>
            </a:br>
            <a:endParaRPr lang="en-PK" dirty="0"/>
          </a:p>
        </p:txBody>
      </p:sp>
      <p:sp>
        <p:nvSpPr>
          <p:cNvPr id="3" name="Content Placeholder 2">
            <a:extLst>
              <a:ext uri="{FF2B5EF4-FFF2-40B4-BE49-F238E27FC236}">
                <a16:creationId xmlns:a16="http://schemas.microsoft.com/office/drawing/2014/main" id="{10A80FFB-052E-3A22-998B-B6EBA9CF0F5B}"/>
              </a:ext>
            </a:extLst>
          </p:cNvPr>
          <p:cNvSpPr>
            <a:spLocks noGrp="1"/>
          </p:cNvSpPr>
          <p:nvPr>
            <p:ph idx="1"/>
          </p:nvPr>
        </p:nvSpPr>
        <p:spPr/>
        <p:txBody>
          <a:bodyPr/>
          <a:lstStyle/>
          <a:p>
            <a:r>
              <a:rPr lang="en-US" b="0" i="0" dirty="0">
                <a:solidFill>
                  <a:srgbClr val="1C1C1C"/>
                </a:solidFill>
                <a:effectLst/>
                <a:latin typeface="Roboto Slab" panose="020F0502020204030204" pitchFamily="2" charset="0"/>
              </a:rPr>
              <a:t>Mastering a tool requires more flexible, effective, and faster use of its capabilities. Naturally, people want to work faster, if possible. Thus, the goal of the interface designers should be to provide such capabilities.</a:t>
            </a:r>
          </a:p>
          <a:p>
            <a:pPr marL="0" indent="0" algn="l">
              <a:buNone/>
            </a:pPr>
            <a:r>
              <a:rPr lang="en-US" b="1" i="0" dirty="0">
                <a:solidFill>
                  <a:srgbClr val="1C1C1C"/>
                </a:solidFill>
                <a:effectLst/>
                <a:latin typeface="Roboto Slab" pitchFamily="2" charset="0"/>
              </a:rPr>
              <a:t>The most popular ways of "answering" these diverse needs include the following:</a:t>
            </a:r>
            <a:endParaRPr lang="en-US" b="0" i="0" dirty="0">
              <a:solidFill>
                <a:srgbClr val="1C1C1C"/>
              </a:solidFill>
              <a:effectLst/>
              <a:latin typeface="Roboto Slab" pitchFamily="2" charset="0"/>
            </a:endParaRPr>
          </a:p>
          <a:p>
            <a:pPr algn="l">
              <a:buFont typeface="Arial" panose="020B0604020202020204" pitchFamily="34" charset="0"/>
              <a:buChar char="•"/>
            </a:pPr>
            <a:r>
              <a:rPr lang="en-US" b="0" i="0" dirty="0">
                <a:solidFill>
                  <a:srgbClr val="1C1C1C"/>
                </a:solidFill>
                <a:effectLst/>
                <a:latin typeface="Roboto Slab" pitchFamily="2" charset="0"/>
              </a:rPr>
              <a:t>Offering shortcuts</a:t>
            </a:r>
          </a:p>
          <a:p>
            <a:pPr algn="l">
              <a:buFont typeface="Arial" panose="020B0604020202020204" pitchFamily="34" charset="0"/>
              <a:buChar char="•"/>
            </a:pPr>
            <a:r>
              <a:rPr lang="en-US" b="0" i="0" dirty="0">
                <a:solidFill>
                  <a:srgbClr val="1C1C1C"/>
                </a:solidFill>
                <a:effectLst/>
                <a:latin typeface="Roboto Slab" pitchFamily="2" charset="0"/>
              </a:rPr>
              <a:t>Command line</a:t>
            </a:r>
          </a:p>
          <a:p>
            <a:pPr algn="l">
              <a:buFont typeface="Arial" panose="020B0604020202020204" pitchFamily="34" charset="0"/>
              <a:buChar char="•"/>
            </a:pPr>
            <a:r>
              <a:rPr lang="en-US" b="0" i="0" dirty="0">
                <a:solidFill>
                  <a:srgbClr val="1C1C1C"/>
                </a:solidFill>
                <a:effectLst/>
                <a:latin typeface="Roboto Slab" pitchFamily="2" charset="0"/>
              </a:rPr>
              <a:t>Hints and explanations, e.g., in the form of assistants</a:t>
            </a:r>
          </a:p>
          <a:p>
            <a:endParaRPr lang="en-PK" dirty="0"/>
          </a:p>
        </p:txBody>
      </p:sp>
      <p:pic>
        <p:nvPicPr>
          <p:cNvPr id="4" name="Picture 3">
            <a:extLst>
              <a:ext uri="{FF2B5EF4-FFF2-40B4-BE49-F238E27FC236}">
                <a16:creationId xmlns:a16="http://schemas.microsoft.com/office/drawing/2014/main" id="{AC6020B2-2144-33BC-930E-04550ED29948}"/>
              </a:ext>
            </a:extLst>
          </p:cNvPr>
          <p:cNvPicPr>
            <a:picLocks noChangeAspect="1"/>
          </p:cNvPicPr>
          <p:nvPr/>
        </p:nvPicPr>
        <p:blipFill>
          <a:blip r:embed="rId2"/>
          <a:stretch>
            <a:fillRect/>
          </a:stretch>
        </p:blipFill>
        <p:spPr>
          <a:xfrm>
            <a:off x="3764493" y="1452753"/>
            <a:ext cx="7419975" cy="3943350"/>
          </a:xfrm>
          <a:prstGeom prst="rect">
            <a:avLst/>
          </a:prstGeom>
        </p:spPr>
      </p:pic>
    </p:spTree>
    <p:extLst>
      <p:ext uri="{BB962C8B-B14F-4D97-AF65-F5344CB8AC3E}">
        <p14:creationId xmlns:p14="http://schemas.microsoft.com/office/powerpoint/2010/main" val="247878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047B8-4F45-B134-7B1B-3174ED18B25A}"/>
              </a:ext>
            </a:extLst>
          </p:cNvPr>
          <p:cNvSpPr>
            <a:spLocks noGrp="1"/>
          </p:cNvSpPr>
          <p:nvPr>
            <p:ph type="title"/>
          </p:nvPr>
        </p:nvSpPr>
        <p:spPr/>
        <p:txBody>
          <a:bodyPr/>
          <a:lstStyle/>
          <a:p>
            <a:r>
              <a:rPr lang="en-US" dirty="0"/>
              <a:t>3. offer informative feedbacks</a:t>
            </a:r>
            <a:endParaRPr lang="en-PK" dirty="0"/>
          </a:p>
        </p:txBody>
      </p:sp>
      <p:sp>
        <p:nvSpPr>
          <p:cNvPr id="3" name="Content Placeholder 2">
            <a:extLst>
              <a:ext uri="{FF2B5EF4-FFF2-40B4-BE49-F238E27FC236}">
                <a16:creationId xmlns:a16="http://schemas.microsoft.com/office/drawing/2014/main" id="{DAFCB5D8-25CC-945B-9675-1CE169DD14E4}"/>
              </a:ext>
            </a:extLst>
          </p:cNvPr>
          <p:cNvSpPr>
            <a:spLocks noGrp="1"/>
          </p:cNvSpPr>
          <p:nvPr>
            <p:ph idx="1"/>
          </p:nvPr>
        </p:nvSpPr>
        <p:spPr/>
        <p:txBody>
          <a:bodyPr/>
          <a:lstStyle/>
          <a:p>
            <a:r>
              <a:rPr lang="en-US" b="0" i="0" dirty="0">
                <a:solidFill>
                  <a:srgbClr val="1C1C1C"/>
                </a:solidFill>
                <a:effectLst/>
                <a:latin typeface="Roboto Slab" pitchFamily="2" charset="0"/>
              </a:rPr>
              <a:t>A well-designed interface should offer users informative feedback. People, users need to understand the situations they're in.</a:t>
            </a:r>
            <a:endParaRPr lang="en-PK" dirty="0"/>
          </a:p>
        </p:txBody>
      </p:sp>
      <p:pic>
        <p:nvPicPr>
          <p:cNvPr id="4" name="Picture 3">
            <a:extLst>
              <a:ext uri="{FF2B5EF4-FFF2-40B4-BE49-F238E27FC236}">
                <a16:creationId xmlns:a16="http://schemas.microsoft.com/office/drawing/2014/main" id="{F2724AED-AC96-165F-E55F-6B167FD7EF67}"/>
              </a:ext>
            </a:extLst>
          </p:cNvPr>
          <p:cNvPicPr>
            <a:picLocks noChangeAspect="1"/>
          </p:cNvPicPr>
          <p:nvPr/>
        </p:nvPicPr>
        <p:blipFill>
          <a:blip r:embed="rId2"/>
          <a:stretch>
            <a:fillRect/>
          </a:stretch>
        </p:blipFill>
        <p:spPr>
          <a:xfrm>
            <a:off x="522719" y="604381"/>
            <a:ext cx="9708732" cy="5120639"/>
          </a:xfrm>
          <a:prstGeom prst="rect">
            <a:avLst/>
          </a:prstGeom>
        </p:spPr>
      </p:pic>
      <p:sp>
        <p:nvSpPr>
          <p:cNvPr id="6" name="TextBox 5">
            <a:extLst>
              <a:ext uri="{FF2B5EF4-FFF2-40B4-BE49-F238E27FC236}">
                <a16:creationId xmlns:a16="http://schemas.microsoft.com/office/drawing/2014/main" id="{53AFA0C4-3175-8FF5-55E3-4B27F29CCE22}"/>
              </a:ext>
            </a:extLst>
          </p:cNvPr>
          <p:cNvSpPr txBox="1"/>
          <p:nvPr/>
        </p:nvSpPr>
        <p:spPr>
          <a:xfrm>
            <a:off x="3048886" y="3105835"/>
            <a:ext cx="6097772" cy="646331"/>
          </a:xfrm>
          <a:prstGeom prst="rect">
            <a:avLst/>
          </a:prstGeom>
          <a:noFill/>
        </p:spPr>
        <p:txBody>
          <a:bodyPr wrap="square">
            <a:spAutoFit/>
          </a:bodyPr>
          <a:lstStyle/>
          <a:p>
            <a:r>
              <a:rPr lang="en-US" dirty="0"/>
              <a:t>Products &gt; Bedroom Furniture &gt; Lighting &gt; Table Lamps &gt; ASKMULLER</a:t>
            </a:r>
            <a:endParaRPr lang="en-PK" dirty="0"/>
          </a:p>
        </p:txBody>
      </p:sp>
    </p:spTree>
    <p:extLst>
      <p:ext uri="{BB962C8B-B14F-4D97-AF65-F5344CB8AC3E}">
        <p14:creationId xmlns:p14="http://schemas.microsoft.com/office/powerpoint/2010/main" val="167089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544BF-CE21-EA14-CDF8-9DCF63BDE508}"/>
              </a:ext>
            </a:extLst>
          </p:cNvPr>
          <p:cNvSpPr>
            <a:spLocks noGrp="1"/>
          </p:cNvSpPr>
          <p:nvPr>
            <p:ph type="title"/>
          </p:nvPr>
        </p:nvSpPr>
        <p:spPr/>
        <p:txBody>
          <a:bodyPr/>
          <a:lstStyle/>
          <a:p>
            <a:r>
              <a:rPr lang="en-US" b="1" i="0" dirty="0">
                <a:solidFill>
                  <a:srgbClr val="1C1C1C"/>
                </a:solidFill>
                <a:effectLst/>
                <a:latin typeface="Roboto Slab" pitchFamily="2" charset="0"/>
              </a:rPr>
              <a:t>4. Design Dialog to Yield Closure</a:t>
            </a:r>
            <a:br>
              <a:rPr lang="en-US" b="1" i="0" dirty="0">
                <a:solidFill>
                  <a:srgbClr val="1C1C1C"/>
                </a:solidFill>
                <a:effectLst/>
                <a:latin typeface="Roboto Slab" pitchFamily="2" charset="0"/>
              </a:rPr>
            </a:br>
            <a:endParaRPr lang="en-PK" dirty="0"/>
          </a:p>
        </p:txBody>
      </p:sp>
      <p:sp>
        <p:nvSpPr>
          <p:cNvPr id="3" name="Content Placeholder 2">
            <a:extLst>
              <a:ext uri="{FF2B5EF4-FFF2-40B4-BE49-F238E27FC236}">
                <a16:creationId xmlns:a16="http://schemas.microsoft.com/office/drawing/2014/main" id="{3A20A0F0-68AB-0638-6463-EF3ECED49597}"/>
              </a:ext>
            </a:extLst>
          </p:cNvPr>
          <p:cNvSpPr>
            <a:spLocks noGrp="1"/>
          </p:cNvSpPr>
          <p:nvPr>
            <p:ph idx="1"/>
          </p:nvPr>
        </p:nvSpPr>
        <p:spPr/>
        <p:txBody>
          <a:bodyPr/>
          <a:lstStyle/>
          <a:p>
            <a:pPr algn="l"/>
            <a:r>
              <a:rPr lang="en-US" b="0" i="0" dirty="0">
                <a:solidFill>
                  <a:srgbClr val="1C1C1C"/>
                </a:solidFill>
                <a:effectLst/>
                <a:latin typeface="Roboto Slab" pitchFamily="2" charset="0"/>
              </a:rPr>
              <a:t>Actions should be grouped and structured. Therefore, they should have a clearly communicated beginning, middle, and end.</a:t>
            </a:r>
          </a:p>
          <a:p>
            <a:pPr algn="l"/>
            <a:r>
              <a:rPr lang="en-US" b="0" i="0" dirty="0">
                <a:solidFill>
                  <a:srgbClr val="1C1C1C"/>
                </a:solidFill>
                <a:effectLst/>
                <a:latin typeface="Roboto Slab" pitchFamily="2" charset="0"/>
              </a:rPr>
              <a:t>The initiation of an action, its course, and its end should be communicated with specially designed dialog boxes.</a:t>
            </a:r>
          </a:p>
          <a:p>
            <a:pPr marL="0" indent="0">
              <a:buNone/>
            </a:pPr>
            <a:endParaRPr lang="en-PK" dirty="0"/>
          </a:p>
        </p:txBody>
      </p:sp>
      <p:pic>
        <p:nvPicPr>
          <p:cNvPr id="4" name="Picture 3">
            <a:extLst>
              <a:ext uri="{FF2B5EF4-FFF2-40B4-BE49-F238E27FC236}">
                <a16:creationId xmlns:a16="http://schemas.microsoft.com/office/drawing/2014/main" id="{D2C287C2-93DE-A1F9-183C-CE5ED90DB384}"/>
              </a:ext>
            </a:extLst>
          </p:cNvPr>
          <p:cNvPicPr>
            <a:picLocks noChangeAspect="1"/>
          </p:cNvPicPr>
          <p:nvPr/>
        </p:nvPicPr>
        <p:blipFill>
          <a:blip r:embed="rId2"/>
          <a:stretch>
            <a:fillRect/>
          </a:stretch>
        </p:blipFill>
        <p:spPr>
          <a:xfrm>
            <a:off x="4806138" y="1167003"/>
            <a:ext cx="4514850" cy="4514850"/>
          </a:xfrm>
          <a:prstGeom prst="rect">
            <a:avLst/>
          </a:prstGeom>
        </p:spPr>
      </p:pic>
    </p:spTree>
    <p:extLst>
      <p:ext uri="{BB962C8B-B14F-4D97-AF65-F5344CB8AC3E}">
        <p14:creationId xmlns:p14="http://schemas.microsoft.com/office/powerpoint/2010/main" val="366636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A73C5-DECC-D641-3884-9DF38BA450BF}"/>
              </a:ext>
            </a:extLst>
          </p:cNvPr>
          <p:cNvSpPr>
            <a:spLocks noGrp="1"/>
          </p:cNvSpPr>
          <p:nvPr>
            <p:ph type="title"/>
          </p:nvPr>
        </p:nvSpPr>
        <p:spPr/>
        <p:txBody>
          <a:bodyPr/>
          <a:lstStyle/>
          <a:p>
            <a:r>
              <a:rPr lang="en-US" b="1" i="0" dirty="0">
                <a:solidFill>
                  <a:srgbClr val="1C1C1C"/>
                </a:solidFill>
                <a:effectLst/>
                <a:latin typeface="Roboto Slab" pitchFamily="2" charset="0"/>
              </a:rPr>
              <a:t>Support Internal Locus of Control</a:t>
            </a:r>
            <a:br>
              <a:rPr lang="en-US" b="1" i="0" dirty="0">
                <a:solidFill>
                  <a:srgbClr val="1C1C1C"/>
                </a:solidFill>
                <a:effectLst/>
                <a:latin typeface="Roboto Slab" pitchFamily="2" charset="0"/>
              </a:rPr>
            </a:br>
            <a:endParaRPr lang="en-PK" dirty="0"/>
          </a:p>
        </p:txBody>
      </p:sp>
      <p:sp>
        <p:nvSpPr>
          <p:cNvPr id="3" name="Content Placeholder 2">
            <a:extLst>
              <a:ext uri="{FF2B5EF4-FFF2-40B4-BE49-F238E27FC236}">
                <a16:creationId xmlns:a16="http://schemas.microsoft.com/office/drawing/2014/main" id="{DFB6240F-53B2-883A-DFFB-3EAA34299AFC}"/>
              </a:ext>
            </a:extLst>
          </p:cNvPr>
          <p:cNvSpPr>
            <a:spLocks noGrp="1"/>
          </p:cNvSpPr>
          <p:nvPr>
            <p:ph idx="1"/>
          </p:nvPr>
        </p:nvSpPr>
        <p:spPr/>
        <p:txBody>
          <a:bodyPr/>
          <a:lstStyle/>
          <a:p>
            <a:r>
              <a:rPr lang="en-US" b="0" i="0" dirty="0">
                <a:solidFill>
                  <a:srgbClr val="1B1B1B"/>
                </a:solidFill>
                <a:effectLst/>
                <a:latin typeface="Produkt Web Regular"/>
              </a:rPr>
              <a:t>Keep the User in Control</a:t>
            </a:r>
          </a:p>
          <a:p>
            <a:r>
              <a:rPr lang="en-US" b="0" i="0" dirty="0">
                <a:solidFill>
                  <a:srgbClr val="1B1B1B"/>
                </a:solidFill>
                <a:effectLst/>
                <a:latin typeface="ProximaNova-Regular"/>
              </a:rPr>
              <a:t>As users navigate through your Web site or application, they should feel in control and be aware that they are using it of their own free will. Give users the ability to use your site or application in whatever way they want to use it and enable them to customize the user interface to suit their needs.</a:t>
            </a:r>
            <a:endParaRPr lang="en-PK" dirty="0"/>
          </a:p>
        </p:txBody>
      </p:sp>
      <p:pic>
        <p:nvPicPr>
          <p:cNvPr id="4" name="Picture 3">
            <a:extLst>
              <a:ext uri="{FF2B5EF4-FFF2-40B4-BE49-F238E27FC236}">
                <a16:creationId xmlns:a16="http://schemas.microsoft.com/office/drawing/2014/main" id="{F6490790-0422-DB63-D0D2-AF2321A41B56}"/>
              </a:ext>
            </a:extLst>
          </p:cNvPr>
          <p:cNvPicPr>
            <a:picLocks noChangeAspect="1"/>
          </p:cNvPicPr>
          <p:nvPr/>
        </p:nvPicPr>
        <p:blipFill>
          <a:blip r:embed="rId3"/>
          <a:stretch>
            <a:fillRect/>
          </a:stretch>
        </p:blipFill>
        <p:spPr>
          <a:xfrm>
            <a:off x="361728" y="1221747"/>
            <a:ext cx="9341780" cy="3370136"/>
          </a:xfrm>
          <a:prstGeom prst="rect">
            <a:avLst/>
          </a:prstGeom>
        </p:spPr>
      </p:pic>
    </p:spTree>
    <p:extLst>
      <p:ext uri="{BB962C8B-B14F-4D97-AF65-F5344CB8AC3E}">
        <p14:creationId xmlns:p14="http://schemas.microsoft.com/office/powerpoint/2010/main" val="110300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FFF33-11E1-9DF1-58AE-EB05CB811A07}"/>
              </a:ext>
            </a:extLst>
          </p:cNvPr>
          <p:cNvSpPr>
            <a:spLocks noGrp="1"/>
          </p:cNvSpPr>
          <p:nvPr>
            <p:ph type="title"/>
          </p:nvPr>
        </p:nvSpPr>
        <p:spPr/>
        <p:txBody>
          <a:bodyPr/>
          <a:lstStyle/>
          <a:p>
            <a:r>
              <a:rPr lang="en-US" dirty="0"/>
              <a:t>Reduce memory load</a:t>
            </a:r>
            <a:endParaRPr lang="en-PK" dirty="0"/>
          </a:p>
        </p:txBody>
      </p:sp>
      <p:pic>
        <p:nvPicPr>
          <p:cNvPr id="4" name="Content Placeholder 3">
            <a:extLst>
              <a:ext uri="{FF2B5EF4-FFF2-40B4-BE49-F238E27FC236}">
                <a16:creationId xmlns:a16="http://schemas.microsoft.com/office/drawing/2014/main" id="{921A9568-C1DC-9B9D-B708-6BF3FB03FFA5}"/>
              </a:ext>
            </a:extLst>
          </p:cNvPr>
          <p:cNvPicPr>
            <a:picLocks noGrp="1" noChangeAspect="1"/>
          </p:cNvPicPr>
          <p:nvPr>
            <p:ph idx="1"/>
          </p:nvPr>
        </p:nvPicPr>
        <p:blipFill>
          <a:blip r:embed="rId2"/>
          <a:stretch>
            <a:fillRect/>
          </a:stretch>
        </p:blipFill>
        <p:spPr>
          <a:xfrm>
            <a:off x="5268913" y="1143000"/>
            <a:ext cx="4514850" cy="4562475"/>
          </a:xfrm>
          <a:prstGeom prst="rect">
            <a:avLst/>
          </a:prstGeom>
        </p:spPr>
      </p:pic>
    </p:spTree>
    <p:extLst>
      <p:ext uri="{BB962C8B-B14F-4D97-AF65-F5344CB8AC3E}">
        <p14:creationId xmlns:p14="http://schemas.microsoft.com/office/powerpoint/2010/main" val="1901831991"/>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453</TotalTime>
  <Words>1421</Words>
  <Application>Microsoft Office PowerPoint</Application>
  <PresentationFormat>Widescreen</PresentationFormat>
  <Paragraphs>140</Paragraphs>
  <Slides>35</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Arial</vt:lpstr>
      <vt:lpstr>Calibri</vt:lpstr>
      <vt:lpstr>Corbel</vt:lpstr>
      <vt:lpstr>Google Sans</vt:lpstr>
      <vt:lpstr>Produkt Web Regular</vt:lpstr>
      <vt:lpstr>ProximaNova-Regular</vt:lpstr>
      <vt:lpstr>ProximaNova-RegularIt</vt:lpstr>
      <vt:lpstr>Roboto Slab</vt:lpstr>
      <vt:lpstr>Wingdings 2</vt:lpstr>
      <vt:lpstr>Work Sans</vt:lpstr>
      <vt:lpstr>Frame</vt:lpstr>
      <vt:lpstr>Concepts of accessibility, usability and acceptability; design principles(part 2) </vt:lpstr>
      <vt:lpstr>Design principals </vt:lpstr>
      <vt:lpstr>Overview:</vt:lpstr>
      <vt:lpstr>PowerPoint Presentation</vt:lpstr>
      <vt:lpstr>PowerPoint Presentation</vt:lpstr>
      <vt:lpstr>Design principals</vt:lpstr>
      <vt:lpstr>Learnability: Helping people access, learn and remember the system </vt:lpstr>
      <vt:lpstr>Visibility</vt:lpstr>
      <vt:lpstr>Affordance </vt:lpstr>
      <vt:lpstr>Affordance:</vt:lpstr>
      <vt:lpstr>PowerPoint Presentation</vt:lpstr>
      <vt:lpstr>PowerPoint Presentation</vt:lpstr>
      <vt:lpstr>Effectiveness: Giving them the sense of being in control, knowing what to do and how to do it</vt:lpstr>
      <vt:lpstr>Control should be hands of user</vt:lpstr>
      <vt:lpstr>Accommodation : Safely and securely  -the way that suits users</vt:lpstr>
      <vt:lpstr>Accessibility</vt:lpstr>
      <vt:lpstr>Famous ones</vt:lpstr>
      <vt:lpstr>Norman’s 7 Principles (1988): </vt:lpstr>
      <vt:lpstr>Nielsen’s 10 Usability Heuristics (1994): </vt:lpstr>
      <vt:lpstr>PowerPoint Presentation</vt:lpstr>
      <vt:lpstr>PowerPoint Presentation</vt:lpstr>
      <vt:lpstr>Consistency and standards</vt:lpstr>
      <vt:lpstr>Error prevention</vt:lpstr>
      <vt:lpstr>Recognition than recall </vt:lpstr>
      <vt:lpstr>Minimalistic design</vt:lpstr>
      <vt:lpstr>Help users recognize, diagnose and recover from errors  </vt:lpstr>
      <vt:lpstr>Flexibility and efficiency of use</vt:lpstr>
      <vt:lpstr>Help and documentation </vt:lpstr>
      <vt:lpstr>Shneiderman’s 8 Golden Rules (1987): </vt:lpstr>
      <vt:lpstr>1.Strive for consistency:</vt:lpstr>
      <vt:lpstr>2. Enable frequent users to use shortcuts </vt:lpstr>
      <vt:lpstr>3. offer informative feedbacks</vt:lpstr>
      <vt:lpstr>4. Design Dialog to Yield Closure </vt:lpstr>
      <vt:lpstr>Support Internal Locus of Control </vt:lpstr>
      <vt:lpstr>Reduce memory load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Iqra Shahzad</dc:creator>
  <cp:lastModifiedBy>Iqra Shahzad</cp:lastModifiedBy>
  <cp:revision>64</cp:revision>
  <dcterms:created xsi:type="dcterms:W3CDTF">2013-07-15T20:26:40Z</dcterms:created>
  <dcterms:modified xsi:type="dcterms:W3CDTF">2024-10-25T10:29:39Z</dcterms:modified>
</cp:coreProperties>
</file>