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296" r:id="rId2"/>
    <p:sldId id="443" r:id="rId3"/>
    <p:sldId id="451" r:id="rId4"/>
    <p:sldId id="445" r:id="rId5"/>
    <p:sldId id="446" r:id="rId6"/>
    <p:sldId id="456" r:id="rId7"/>
    <p:sldId id="447" r:id="rId8"/>
    <p:sldId id="450" r:id="rId9"/>
    <p:sldId id="452" r:id="rId10"/>
    <p:sldId id="453" r:id="rId11"/>
    <p:sldId id="455" r:id="rId12"/>
    <p:sldId id="454" r:id="rId13"/>
    <p:sldId id="457" r:id="rId14"/>
    <p:sldId id="458" r:id="rId15"/>
    <p:sldId id="459" r:id="rId16"/>
    <p:sldId id="460" r:id="rId17"/>
    <p:sldId id="461" r:id="rId18"/>
    <p:sldId id="462" r:id="rId19"/>
    <p:sldId id="463" r:id="rId20"/>
    <p:sldId id="46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68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87" autoAdjust="0"/>
    <p:restoredTop sz="94377"/>
  </p:normalViewPr>
  <p:slideViewPr>
    <p:cSldViewPr>
      <p:cViewPr varScale="1">
        <p:scale>
          <a:sx n="61" d="100"/>
          <a:sy n="61" d="100"/>
        </p:scale>
        <p:origin x="1756"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5D3291-283E-9F47-BD2D-E9FB2184F06D}" type="datetimeFigureOut">
              <a:rPr lang="en-US" smtClean="0"/>
              <a:t>10/3/2024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788E28-F68D-A049-B172-4E7D7FABD88D}" type="slidenum">
              <a:rPr lang="en-US" smtClean="0"/>
              <a:t>‹#›</a:t>
            </a:fld>
            <a:endParaRPr lang="en-US"/>
          </a:p>
        </p:txBody>
      </p:sp>
    </p:spTree>
    <p:extLst>
      <p:ext uri="{BB962C8B-B14F-4D97-AF65-F5344CB8AC3E}">
        <p14:creationId xmlns:p14="http://schemas.microsoft.com/office/powerpoint/2010/main" val="1872216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google.com/search?sxsrf=APwXEddHLyNdeoOa5_lX3ndXpNCJQ9b5ww:1680061982148&amp;q=evokes&amp;si=AMnBZoEP2YukYW07_nAjizsjQPEkOdmyi1ycMTX4w1YzpKXM-TGxSKlP6ztgz_c2FgEhIhkbAT3kJZWVs9cNrKM28XV9cezudg==&amp;expnd=1"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Stimuli= </a:t>
            </a:r>
            <a:r>
              <a:rPr lang="en-US" sz="1200" b="0" i="0" kern="1200" dirty="0">
                <a:solidFill>
                  <a:schemeClr val="tx1"/>
                </a:solidFill>
                <a:effectLst/>
                <a:latin typeface="+mn-lt"/>
                <a:ea typeface="+mn-ea"/>
                <a:cs typeface="+mn-cs"/>
              </a:rPr>
              <a:t>a thing or event that </a:t>
            </a:r>
            <a:r>
              <a:rPr lang="en-US" sz="1200" b="0" i="0" u="none" strike="noStrike" kern="1200" dirty="0">
                <a:solidFill>
                  <a:schemeClr val="tx1"/>
                </a:solidFill>
                <a:effectLst/>
                <a:latin typeface="+mn-lt"/>
                <a:ea typeface="+mn-ea"/>
                <a:cs typeface="+mn-cs"/>
                <a:hlinkClick r:id="rId3"/>
              </a:rPr>
              <a:t>evokes</a:t>
            </a:r>
            <a:r>
              <a:rPr lang="en-US" sz="1200" b="0" i="0" kern="1200" dirty="0">
                <a:solidFill>
                  <a:schemeClr val="tx1"/>
                </a:solidFill>
                <a:effectLst/>
                <a:latin typeface="+mn-lt"/>
                <a:ea typeface="+mn-ea"/>
                <a:cs typeface="+mn-cs"/>
              </a:rPr>
              <a:t> a specific functional reaction</a:t>
            </a:r>
            <a:endParaRPr lang="en-US" dirty="0"/>
          </a:p>
        </p:txBody>
      </p:sp>
      <p:sp>
        <p:nvSpPr>
          <p:cNvPr id="4" name="Slide Number Placeholder 3"/>
          <p:cNvSpPr>
            <a:spLocks noGrp="1"/>
          </p:cNvSpPr>
          <p:nvPr>
            <p:ph type="sldNum" sz="quarter" idx="10"/>
          </p:nvPr>
        </p:nvSpPr>
        <p:spPr/>
        <p:txBody>
          <a:bodyPr/>
          <a:lstStyle/>
          <a:p>
            <a:fld id="{54CE95B0-1C6C-F445-90DE-5A699FAEF4C6}" type="slidenum">
              <a:rPr lang="en-US" smtClean="0"/>
              <a:t>10</a:t>
            </a:fld>
            <a:endParaRPr lang="en-US"/>
          </a:p>
        </p:txBody>
      </p:sp>
    </p:spTree>
    <p:extLst>
      <p:ext uri="{BB962C8B-B14F-4D97-AF65-F5344CB8AC3E}">
        <p14:creationId xmlns:p14="http://schemas.microsoft.com/office/powerpoint/2010/main" val="218610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2DA7D68-83E7-4B82-970A-B8B0DBE2D28A}" type="datetimeFigureOut">
              <a:rPr lang="en-US" smtClean="0"/>
              <a:t>10/3/2024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DC7240-8DC2-441B-9FF5-DCBE3AAE6F35}" type="slidenum">
              <a:rPr lang="en-US" smtClean="0"/>
              <a:t>‹#›</a:t>
            </a:fld>
            <a:endParaRPr lang="en-US" dirty="0"/>
          </a:p>
        </p:txBody>
      </p:sp>
    </p:spTree>
    <p:extLst>
      <p:ext uri="{BB962C8B-B14F-4D97-AF65-F5344CB8AC3E}">
        <p14:creationId xmlns:p14="http://schemas.microsoft.com/office/powerpoint/2010/main" val="3774651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DA7D68-83E7-4B82-970A-B8B0DBE2D28A}" type="datetimeFigureOut">
              <a:rPr lang="en-US" smtClean="0"/>
              <a:t>10/3/2024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DC7240-8DC2-441B-9FF5-DCBE3AAE6F35}" type="slidenum">
              <a:rPr lang="en-US" smtClean="0"/>
              <a:t>‹#›</a:t>
            </a:fld>
            <a:endParaRPr lang="en-US" dirty="0"/>
          </a:p>
        </p:txBody>
      </p:sp>
    </p:spTree>
    <p:extLst>
      <p:ext uri="{BB962C8B-B14F-4D97-AF65-F5344CB8AC3E}">
        <p14:creationId xmlns:p14="http://schemas.microsoft.com/office/powerpoint/2010/main" val="1881749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DA7D68-83E7-4B82-970A-B8B0DBE2D28A}" type="datetimeFigureOut">
              <a:rPr lang="en-US" smtClean="0"/>
              <a:t>10/3/2024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DC7240-8DC2-441B-9FF5-DCBE3AAE6F35}" type="slidenum">
              <a:rPr lang="en-US" smtClean="0"/>
              <a:t>‹#›</a:t>
            </a:fld>
            <a:endParaRPr lang="en-US" dirty="0"/>
          </a:p>
        </p:txBody>
      </p:sp>
    </p:spTree>
    <p:extLst>
      <p:ext uri="{BB962C8B-B14F-4D97-AF65-F5344CB8AC3E}">
        <p14:creationId xmlns:p14="http://schemas.microsoft.com/office/powerpoint/2010/main" val="4133226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2DA7D68-83E7-4B82-970A-B8B0DBE2D28A}" type="datetimeFigureOut">
              <a:rPr lang="en-US" smtClean="0"/>
              <a:t>10/3/2024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CDC7240-8DC2-441B-9FF5-DCBE3AAE6F35}" type="slidenum">
              <a:rPr lang="en-US" smtClean="0"/>
              <a:t>‹#›</a:t>
            </a:fld>
            <a:endParaRPr lang="en-US" dirty="0"/>
          </a:p>
        </p:txBody>
      </p:sp>
    </p:spTree>
    <p:extLst>
      <p:ext uri="{BB962C8B-B14F-4D97-AF65-F5344CB8AC3E}">
        <p14:creationId xmlns:p14="http://schemas.microsoft.com/office/powerpoint/2010/main" val="198166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2DA7D68-83E7-4B82-970A-B8B0DBE2D28A}" type="datetimeFigureOut">
              <a:rPr lang="en-US" smtClean="0"/>
              <a:t>10/3/2024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CDC7240-8DC2-441B-9FF5-DCBE3AAE6F35}" type="slidenum">
              <a:rPr lang="en-US" smtClean="0"/>
              <a:t>‹#›</a:t>
            </a:fld>
            <a:endParaRPr lang="en-US" dirty="0"/>
          </a:p>
        </p:txBody>
      </p:sp>
    </p:spTree>
    <p:extLst>
      <p:ext uri="{BB962C8B-B14F-4D97-AF65-F5344CB8AC3E}">
        <p14:creationId xmlns:p14="http://schemas.microsoft.com/office/powerpoint/2010/main" val="2517490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2DA7D68-83E7-4B82-970A-B8B0DBE2D28A}" type="datetimeFigureOut">
              <a:rPr lang="en-US" smtClean="0"/>
              <a:t>10/3/2024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CDC7240-8DC2-441B-9FF5-DCBE3AAE6F35}" type="slidenum">
              <a:rPr lang="en-US" smtClean="0"/>
              <a:t>‹#›</a:t>
            </a:fld>
            <a:endParaRPr lang="en-US" dirty="0"/>
          </a:p>
        </p:txBody>
      </p:sp>
    </p:spTree>
    <p:extLst>
      <p:ext uri="{BB962C8B-B14F-4D97-AF65-F5344CB8AC3E}">
        <p14:creationId xmlns:p14="http://schemas.microsoft.com/office/powerpoint/2010/main" val="1593007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DA7D68-83E7-4B82-970A-B8B0DBE2D28A}" type="datetimeFigureOut">
              <a:rPr lang="en-US" smtClean="0"/>
              <a:t>10/3/2024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CDC7240-8DC2-441B-9FF5-DCBE3AAE6F35}" type="slidenum">
              <a:rPr lang="en-US" smtClean="0"/>
              <a:t>‹#›</a:t>
            </a:fld>
            <a:endParaRPr lang="en-US" dirty="0"/>
          </a:p>
        </p:txBody>
      </p:sp>
    </p:spTree>
    <p:extLst>
      <p:ext uri="{BB962C8B-B14F-4D97-AF65-F5344CB8AC3E}">
        <p14:creationId xmlns:p14="http://schemas.microsoft.com/office/powerpoint/2010/main" val="3472549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DA7D68-83E7-4B82-970A-B8B0DBE2D28A}" type="datetimeFigureOut">
              <a:rPr lang="en-US" smtClean="0"/>
              <a:t>10/3/2024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CDC7240-8DC2-441B-9FF5-DCBE3AAE6F35}" type="slidenum">
              <a:rPr lang="en-US" smtClean="0"/>
              <a:t>‹#›</a:t>
            </a:fld>
            <a:endParaRPr lang="en-US" dirty="0"/>
          </a:p>
        </p:txBody>
      </p:sp>
    </p:spTree>
    <p:extLst>
      <p:ext uri="{BB962C8B-B14F-4D97-AF65-F5344CB8AC3E}">
        <p14:creationId xmlns:p14="http://schemas.microsoft.com/office/powerpoint/2010/main" val="4081217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DA7D68-83E7-4B82-970A-B8B0DBE2D28A}" type="datetimeFigureOut">
              <a:rPr lang="en-US" smtClean="0"/>
              <a:t>10/3/2024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CDC7240-8DC2-441B-9FF5-DCBE3AAE6F35}" type="slidenum">
              <a:rPr lang="en-US" smtClean="0"/>
              <a:t>‹#›</a:t>
            </a:fld>
            <a:endParaRPr lang="en-US" dirty="0"/>
          </a:p>
        </p:txBody>
      </p:sp>
    </p:spTree>
    <p:extLst>
      <p:ext uri="{BB962C8B-B14F-4D97-AF65-F5344CB8AC3E}">
        <p14:creationId xmlns:p14="http://schemas.microsoft.com/office/powerpoint/2010/main" val="1686328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DA7D68-83E7-4B82-970A-B8B0DBE2D28A}" type="datetimeFigureOut">
              <a:rPr lang="en-US" smtClean="0"/>
              <a:t>10/3/2024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DC7240-8DC2-441B-9FF5-DCBE3AAE6F35}" type="slidenum">
              <a:rPr lang="en-US" smtClean="0"/>
              <a:t>‹#›</a:t>
            </a:fld>
            <a:endParaRPr lang="en-US" dirty="0"/>
          </a:p>
        </p:txBody>
      </p:sp>
    </p:spTree>
    <p:extLst>
      <p:ext uri="{BB962C8B-B14F-4D97-AF65-F5344CB8AC3E}">
        <p14:creationId xmlns:p14="http://schemas.microsoft.com/office/powerpoint/2010/main" val="3820051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DA7D68-83E7-4B82-970A-B8B0DBE2D28A}" type="datetimeFigureOut">
              <a:rPr lang="en-US" smtClean="0"/>
              <a:t>10/3/2024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DC7240-8DC2-441B-9FF5-DCBE3AAE6F35}" type="slidenum">
              <a:rPr lang="en-US" smtClean="0"/>
              <a:t>‹#›</a:t>
            </a:fld>
            <a:endParaRPr lang="en-US" dirty="0"/>
          </a:p>
        </p:txBody>
      </p:sp>
    </p:spTree>
    <p:extLst>
      <p:ext uri="{BB962C8B-B14F-4D97-AF65-F5344CB8AC3E}">
        <p14:creationId xmlns:p14="http://schemas.microsoft.com/office/powerpoint/2010/main" val="2378651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DA7D68-83E7-4B82-970A-B8B0DBE2D28A}" type="datetimeFigureOut">
              <a:rPr lang="en-US" smtClean="0"/>
              <a:t>10/3/2024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DC7240-8DC2-441B-9FF5-DCBE3AAE6F35}" type="slidenum">
              <a:rPr lang="en-US" smtClean="0"/>
              <a:t>‹#›</a:t>
            </a:fld>
            <a:endParaRPr lang="en-US" dirty="0"/>
          </a:p>
        </p:txBody>
      </p:sp>
    </p:spTree>
    <p:extLst>
      <p:ext uri="{BB962C8B-B14F-4D97-AF65-F5344CB8AC3E}">
        <p14:creationId xmlns:p14="http://schemas.microsoft.com/office/powerpoint/2010/main" val="12142366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ismillah-910299_1280.png"/>
          <p:cNvPicPr>
            <a:picLocks noChangeAspect="1"/>
          </p:cNvPicPr>
          <p:nvPr/>
        </p:nvPicPr>
        <p:blipFill>
          <a:blip r:embed="rId2">
            <a:duotone>
              <a:prstClr val="black"/>
              <a:srgbClr val="208CE2">
                <a:tint val="45000"/>
                <a:satMod val="400000"/>
              </a:srgbClr>
            </a:duotone>
            <a:extLst>
              <a:ext uri="{28A0092B-C50C-407E-A947-70E740481C1C}">
                <a14:useLocalDpi xmlns:a14="http://schemas.microsoft.com/office/drawing/2010/main" val="0"/>
              </a:ext>
            </a:extLst>
          </a:blip>
          <a:stretch>
            <a:fillRect/>
          </a:stretch>
        </p:blipFill>
        <p:spPr>
          <a:xfrm>
            <a:off x="1099904" y="1676400"/>
            <a:ext cx="6964903" cy="3352800"/>
          </a:xfrm>
          <a:prstGeom prst="rect">
            <a:avLst/>
          </a:prstGeom>
        </p:spPr>
      </p:pic>
    </p:spTree>
    <p:extLst>
      <p:ext uri="{BB962C8B-B14F-4D97-AF65-F5344CB8AC3E}">
        <p14:creationId xmlns:p14="http://schemas.microsoft.com/office/powerpoint/2010/main" val="1216911042"/>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Diagram</a:t>
            </a:r>
          </a:p>
        </p:txBody>
      </p:sp>
      <p:sp>
        <p:nvSpPr>
          <p:cNvPr id="3" name="Text Placeholder 2"/>
          <p:cNvSpPr>
            <a:spLocks noGrp="1"/>
          </p:cNvSpPr>
          <p:nvPr>
            <p:ph type="body" idx="1"/>
          </p:nvPr>
        </p:nvSpPr>
        <p:spPr/>
        <p:txBody>
          <a:bodyPr/>
          <a:lstStyle/>
          <a:p>
            <a:r>
              <a:rPr lang="en-US" dirty="0"/>
              <a:t>UML (Unified Modeling language)</a:t>
            </a:r>
          </a:p>
        </p:txBody>
      </p:sp>
    </p:spTree>
    <p:extLst>
      <p:ext uri="{BB962C8B-B14F-4D97-AF65-F5344CB8AC3E}">
        <p14:creationId xmlns:p14="http://schemas.microsoft.com/office/powerpoint/2010/main" val="1096545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Timing Diagram Looks Like?</a:t>
            </a:r>
          </a:p>
        </p:txBody>
      </p:sp>
      <p:pic>
        <p:nvPicPr>
          <p:cNvPr id="5"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5652" y="1961765"/>
            <a:ext cx="5424948" cy="3912598"/>
          </a:xfrm>
        </p:spPr>
      </p:pic>
    </p:spTree>
    <p:extLst>
      <p:ext uri="{BB962C8B-B14F-4D97-AF65-F5344CB8AC3E}">
        <p14:creationId xmlns:p14="http://schemas.microsoft.com/office/powerpoint/2010/main" val="1492610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Diagram</a:t>
            </a:r>
          </a:p>
        </p:txBody>
      </p:sp>
      <p:pic>
        <p:nvPicPr>
          <p:cNvPr id="4" name="Content Placeholder 3"/>
          <p:cNvPicPr>
            <a:picLocks noGrp="1" noChangeAspect="1"/>
          </p:cNvPicPr>
          <p:nvPr>
            <p:ph idx="1"/>
          </p:nvPr>
        </p:nvPicPr>
        <p:blipFill>
          <a:blip r:embed="rId2">
            <a:alphaModFix amt="50000"/>
            <a:extLst>
              <a:ext uri="{28A0092B-C50C-407E-A947-70E740481C1C}">
                <a14:useLocalDpi xmlns:a14="http://schemas.microsoft.com/office/drawing/2010/main" val="0"/>
              </a:ext>
            </a:extLst>
          </a:blip>
          <a:stretch>
            <a:fillRect/>
          </a:stretch>
        </p:blipFill>
        <p:spPr>
          <a:xfrm>
            <a:off x="1304282" y="1802038"/>
            <a:ext cx="6507687" cy="3912598"/>
          </a:xfrm>
        </p:spPr>
      </p:pic>
      <p:pic>
        <p:nvPicPr>
          <p:cNvPr id="5" name="Content Placeholder 3"/>
          <p:cNvPicPr>
            <a:picLocks noChangeAspect="1"/>
          </p:cNvPicPr>
          <p:nvPr/>
        </p:nvPicPr>
        <p:blipFill rotWithShape="1">
          <a:blip r:embed="rId2">
            <a:alphaModFix/>
            <a:extLst>
              <a:ext uri="{28A0092B-C50C-407E-A947-70E740481C1C}">
                <a14:useLocalDpi xmlns:a14="http://schemas.microsoft.com/office/drawing/2010/main" val="0"/>
              </a:ext>
            </a:extLst>
          </a:blip>
          <a:srcRect l="75681" t="84896"/>
          <a:stretch/>
        </p:blipFill>
        <p:spPr>
          <a:xfrm>
            <a:off x="6229365" y="5123681"/>
            <a:ext cx="1582603" cy="590954"/>
          </a:xfrm>
          <a:prstGeom prst="rect">
            <a:avLst/>
          </a:prstGeom>
        </p:spPr>
      </p:pic>
    </p:spTree>
    <p:extLst>
      <p:ext uri="{BB962C8B-B14F-4D97-AF65-F5344CB8AC3E}">
        <p14:creationId xmlns:p14="http://schemas.microsoft.com/office/powerpoint/2010/main" val="2027751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Timing Diagram?</a:t>
            </a:r>
          </a:p>
        </p:txBody>
      </p:sp>
      <p:sp>
        <p:nvSpPr>
          <p:cNvPr id="3" name="Content Placeholder 2"/>
          <p:cNvSpPr>
            <a:spLocks noGrp="1"/>
          </p:cNvSpPr>
          <p:nvPr>
            <p:ph idx="1"/>
          </p:nvPr>
        </p:nvSpPr>
        <p:spPr/>
        <p:txBody>
          <a:bodyPr>
            <a:normAutofit fontScale="55000" lnSpcReduction="20000"/>
          </a:bodyPr>
          <a:lstStyle/>
          <a:p>
            <a:pPr>
              <a:lnSpc>
                <a:spcPct val="250000"/>
              </a:lnSpc>
            </a:pPr>
            <a:r>
              <a:rPr lang="en-US" b="0" dirty="0"/>
              <a:t>A timing diagram is a specific UML behavioral modeling diagram that focuses on timing constraints.</a:t>
            </a:r>
          </a:p>
          <a:p>
            <a:pPr>
              <a:lnSpc>
                <a:spcPct val="250000"/>
              </a:lnSpc>
            </a:pPr>
            <a:r>
              <a:rPr lang="en-US" b="0" dirty="0"/>
              <a:t>It show’s how objects interact with each other during a certain period of time.</a:t>
            </a:r>
          </a:p>
          <a:p>
            <a:pPr>
              <a:lnSpc>
                <a:spcPct val="250000"/>
              </a:lnSpc>
            </a:pPr>
            <a:r>
              <a:rPr lang="en-US" b="0" dirty="0"/>
              <a:t>In a timing diagram, time passes on the x-axis from left to right, with different components of the system that interact with each other on the y-axis.</a:t>
            </a:r>
          </a:p>
        </p:txBody>
      </p:sp>
    </p:spTree>
    <p:extLst>
      <p:ext uri="{BB962C8B-B14F-4D97-AF65-F5344CB8AC3E}">
        <p14:creationId xmlns:p14="http://schemas.microsoft.com/office/powerpoint/2010/main" val="1467234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Timing Diagram?</a:t>
            </a:r>
          </a:p>
        </p:txBody>
      </p:sp>
      <p:sp>
        <p:nvSpPr>
          <p:cNvPr id="3" name="Content Placeholder 2"/>
          <p:cNvSpPr>
            <a:spLocks noGrp="1"/>
          </p:cNvSpPr>
          <p:nvPr>
            <p:ph idx="1"/>
          </p:nvPr>
        </p:nvSpPr>
        <p:spPr/>
        <p:txBody>
          <a:bodyPr>
            <a:normAutofit fontScale="77500" lnSpcReduction="20000"/>
          </a:bodyPr>
          <a:lstStyle/>
          <a:p>
            <a:pPr>
              <a:lnSpc>
                <a:spcPct val="300000"/>
              </a:lnSpc>
            </a:pPr>
            <a:r>
              <a:rPr lang="en-US" b="0" dirty="0"/>
              <a:t>Timing diagrams show how long each step of a process takes. </a:t>
            </a:r>
          </a:p>
          <a:p>
            <a:pPr>
              <a:lnSpc>
                <a:spcPct val="300000"/>
              </a:lnSpc>
            </a:pPr>
            <a:r>
              <a:rPr lang="en-US" b="0" dirty="0"/>
              <a:t>We use timing diagram to identify which steps of a process require too much time and to find areas for improvement.</a:t>
            </a:r>
          </a:p>
        </p:txBody>
      </p:sp>
    </p:spTree>
    <p:extLst>
      <p:ext uri="{BB962C8B-B14F-4D97-AF65-F5344CB8AC3E}">
        <p14:creationId xmlns:p14="http://schemas.microsoft.com/office/powerpoint/2010/main" val="1776360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Timing Diagram</a:t>
            </a:r>
          </a:p>
        </p:txBody>
      </p:sp>
      <p:sp>
        <p:nvSpPr>
          <p:cNvPr id="3" name="Content Placeholder 2"/>
          <p:cNvSpPr>
            <a:spLocks noGrp="1"/>
          </p:cNvSpPr>
          <p:nvPr>
            <p:ph idx="1"/>
          </p:nvPr>
        </p:nvSpPr>
        <p:spPr/>
        <p:txBody>
          <a:bodyPr>
            <a:normAutofit fontScale="70000" lnSpcReduction="20000"/>
          </a:bodyPr>
          <a:lstStyle/>
          <a:p>
            <a:pPr>
              <a:lnSpc>
                <a:spcPct val="200000"/>
              </a:lnSpc>
            </a:pPr>
            <a:r>
              <a:rPr lang="en-US" b="0" dirty="0"/>
              <a:t>One of the key benefits of a UML timing diagram is that it gives users an overview of what goes on in a system or piece of software. </a:t>
            </a:r>
          </a:p>
          <a:p>
            <a:pPr>
              <a:lnSpc>
                <a:spcPct val="200000"/>
              </a:lnSpc>
            </a:pPr>
            <a:r>
              <a:rPr lang="en-US" b="0" dirty="0"/>
              <a:t>More critically, it shows which steps in a system take too much time, and this information can be used by business users and developers alike to improve their processes. </a:t>
            </a:r>
          </a:p>
          <a:p>
            <a:pPr>
              <a:lnSpc>
                <a:spcPct val="200000"/>
              </a:lnSpc>
            </a:pPr>
            <a:r>
              <a:rPr lang="en-US" b="0" dirty="0"/>
              <a:t>With timing diagrams, we can easily diagram a process and identify the major steps it takes to complete the process.</a:t>
            </a:r>
            <a:endParaRPr lang="en-US" dirty="0"/>
          </a:p>
          <a:p>
            <a:pPr>
              <a:lnSpc>
                <a:spcPct val="200000"/>
              </a:lnSpc>
            </a:pPr>
            <a:endParaRPr lang="en-US" dirty="0"/>
          </a:p>
        </p:txBody>
      </p:sp>
    </p:spTree>
    <p:extLst>
      <p:ext uri="{BB962C8B-B14F-4D97-AF65-F5344CB8AC3E}">
        <p14:creationId xmlns:p14="http://schemas.microsoft.com/office/powerpoint/2010/main" val="1980777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Diagram Basic Symbols</a:t>
            </a:r>
          </a:p>
        </p:txBody>
      </p:sp>
      <p:sp>
        <p:nvSpPr>
          <p:cNvPr id="6" name="Content Placeholder 2"/>
          <p:cNvSpPr txBox="1">
            <a:spLocks/>
          </p:cNvSpPr>
          <p:nvPr/>
        </p:nvSpPr>
        <p:spPr>
          <a:xfrm>
            <a:off x="705235" y="1823957"/>
            <a:ext cx="7617580" cy="3912664"/>
          </a:xfrm>
          <a:prstGeom prst="rect">
            <a:avLst/>
          </a:prstGeom>
        </p:spPr>
        <p:txBody>
          <a:bodyPr vert="horz" lIns="0" tIns="29845" rIns="0" bIns="29845" rtlCol="0">
            <a:normAutofit/>
          </a:bodyPr>
          <a:lst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a:lstStyle>
          <a:p>
            <a:pPr>
              <a:lnSpc>
                <a:spcPct val="150000"/>
              </a:lnSpc>
            </a:pPr>
            <a:r>
              <a:rPr lang="en-US" sz="1840" dirty="0"/>
              <a:t>Symbol Name: </a:t>
            </a:r>
            <a:r>
              <a:rPr lang="en-US" sz="1840" b="0" dirty="0"/>
              <a:t>Lifeline</a:t>
            </a:r>
          </a:p>
          <a:p>
            <a:pPr>
              <a:lnSpc>
                <a:spcPct val="150000"/>
              </a:lnSpc>
            </a:pPr>
            <a:r>
              <a:rPr lang="en-US" sz="1840" dirty="0"/>
              <a:t>Description: </a:t>
            </a:r>
            <a:r>
              <a:rPr lang="en-US" sz="1840" b="0" dirty="0"/>
              <a:t>A lifeline in a Timing Diagram forms a rectangular space within the content area of a frame. Lifeline is a named element which represents an individual participant in the interaction. It is typically aligned horizontally to read from left to right.</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516" y="4234533"/>
            <a:ext cx="2395170" cy="1121641"/>
          </a:xfrm>
          <a:prstGeom prst="rect">
            <a:avLst/>
          </a:prstGeom>
        </p:spPr>
      </p:pic>
    </p:spTree>
    <p:extLst>
      <p:ext uri="{BB962C8B-B14F-4D97-AF65-F5344CB8AC3E}">
        <p14:creationId xmlns:p14="http://schemas.microsoft.com/office/powerpoint/2010/main" val="701979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Diagram Basic Symbols</a:t>
            </a:r>
          </a:p>
        </p:txBody>
      </p:sp>
      <p:sp>
        <p:nvSpPr>
          <p:cNvPr id="6" name="Content Placeholder 2"/>
          <p:cNvSpPr txBox="1">
            <a:spLocks/>
          </p:cNvSpPr>
          <p:nvPr/>
        </p:nvSpPr>
        <p:spPr>
          <a:xfrm>
            <a:off x="705235" y="1823957"/>
            <a:ext cx="7617580" cy="3912664"/>
          </a:xfrm>
          <a:prstGeom prst="rect">
            <a:avLst/>
          </a:prstGeom>
        </p:spPr>
        <p:txBody>
          <a:bodyPr vert="horz" lIns="0" tIns="29845" rIns="0" bIns="29845" rtlCol="0">
            <a:normAutofit/>
          </a:bodyPr>
          <a:lstStyle>
            <a:lvl1pPr marL="64882" indent="-64882" algn="l" defTabSz="648822" rtl="0" eaLnBrk="1" latinLnBrk="0" hangingPunct="1">
              <a:lnSpc>
                <a:spcPct val="90000"/>
              </a:lnSpc>
              <a:spcBef>
                <a:spcPts val="851"/>
              </a:spcBef>
              <a:spcAft>
                <a:spcPts val="142"/>
              </a:spcAft>
              <a:buClr>
                <a:schemeClr val="accent1"/>
              </a:buClr>
              <a:buSzPct val="100000"/>
              <a:buFont typeface="Wingdings" charset="2"/>
              <a:buChar char="q"/>
              <a:defRPr sz="2000" b="1" kern="1200">
                <a:solidFill>
                  <a:schemeClr val="tx1">
                    <a:lumMod val="75000"/>
                    <a:lumOff val="25000"/>
                  </a:schemeClr>
                </a:solidFill>
                <a:latin typeface="+mn-lt"/>
                <a:ea typeface="+mn-ea"/>
                <a:cs typeface="+mn-cs"/>
              </a:defRPr>
            </a:lvl1pPr>
            <a:lvl2pPr marL="272505" indent="-129765" algn="l" defTabSz="648822" rtl="0" eaLnBrk="1" latinLnBrk="0" hangingPunct="1">
              <a:lnSpc>
                <a:spcPct val="90000"/>
              </a:lnSpc>
              <a:spcBef>
                <a:spcPts val="142"/>
              </a:spcBef>
              <a:spcAft>
                <a:spcPts val="283"/>
              </a:spcAft>
              <a:buClr>
                <a:schemeClr val="accent1"/>
              </a:buClr>
              <a:buFont typeface="Wingdings" charset="2"/>
              <a:buChar char="q"/>
              <a:defRPr sz="2000" kern="1200">
                <a:solidFill>
                  <a:schemeClr val="tx1">
                    <a:lumMod val="75000"/>
                    <a:lumOff val="25000"/>
                  </a:schemeClr>
                </a:solidFill>
                <a:latin typeface="+mn-lt"/>
                <a:ea typeface="+mn-ea"/>
                <a:cs typeface="+mn-cs"/>
              </a:defRPr>
            </a:lvl2pPr>
            <a:lvl3pPr marL="402269" indent="-129765" algn="l" defTabSz="648822" rtl="0" eaLnBrk="1" latinLnBrk="0" hangingPunct="1">
              <a:lnSpc>
                <a:spcPct val="90000"/>
              </a:lnSpc>
              <a:spcBef>
                <a:spcPts val="142"/>
              </a:spcBef>
              <a:spcAft>
                <a:spcPts val="283"/>
              </a:spcAft>
              <a:buClr>
                <a:schemeClr val="accent1"/>
              </a:buClr>
              <a:buFont typeface="Wingdings" charset="2"/>
              <a:buChar char="q"/>
              <a:defRPr sz="1800" kern="1200">
                <a:solidFill>
                  <a:schemeClr val="tx1">
                    <a:lumMod val="75000"/>
                    <a:lumOff val="25000"/>
                  </a:schemeClr>
                </a:solidFill>
                <a:latin typeface="+mn-lt"/>
                <a:ea typeface="+mn-ea"/>
                <a:cs typeface="+mn-cs"/>
              </a:defRPr>
            </a:lvl3pPr>
            <a:lvl4pPr marL="532034"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4pPr>
            <a:lvl5pPr marL="661798" indent="-129765" algn="l" defTabSz="648822" rtl="0" eaLnBrk="1" latinLnBrk="0" hangingPunct="1">
              <a:lnSpc>
                <a:spcPct val="90000"/>
              </a:lnSpc>
              <a:spcBef>
                <a:spcPts val="142"/>
              </a:spcBef>
              <a:spcAft>
                <a:spcPts val="283"/>
              </a:spcAft>
              <a:buClr>
                <a:schemeClr val="accent1"/>
              </a:buClr>
              <a:buFont typeface="Wingdings" charset="2"/>
              <a:buChar char="q"/>
              <a:defRPr sz="1600" kern="1200">
                <a:solidFill>
                  <a:schemeClr val="tx1">
                    <a:lumMod val="75000"/>
                    <a:lumOff val="25000"/>
                  </a:schemeClr>
                </a:solidFill>
                <a:latin typeface="+mn-lt"/>
                <a:ea typeface="+mn-ea"/>
                <a:cs typeface="+mn-cs"/>
              </a:defRPr>
            </a:lvl5pPr>
            <a:lvl6pPr marL="780516"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6pPr>
            <a:lvl7pPr marL="922428"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7pPr>
            <a:lvl8pPr marL="1064340"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8pPr>
            <a:lvl9pPr marL="1206252" indent="-162206" algn="l" defTabSz="648822" rtl="0" eaLnBrk="1" latinLnBrk="0" hangingPunct="1">
              <a:lnSpc>
                <a:spcPct val="90000"/>
              </a:lnSpc>
              <a:spcBef>
                <a:spcPts val="142"/>
              </a:spcBef>
              <a:spcAft>
                <a:spcPts val="283"/>
              </a:spcAft>
              <a:buClr>
                <a:schemeClr val="accent1"/>
              </a:buClr>
              <a:buFont typeface="Calibri" pitchFamily="34" charset="0"/>
              <a:buChar char="◦"/>
              <a:defRPr sz="1000" kern="1200">
                <a:solidFill>
                  <a:schemeClr val="tx1">
                    <a:lumMod val="75000"/>
                    <a:lumOff val="25000"/>
                  </a:schemeClr>
                </a:solidFill>
                <a:latin typeface="+mn-lt"/>
                <a:ea typeface="+mn-ea"/>
                <a:cs typeface="+mn-cs"/>
              </a:defRPr>
            </a:lvl9pPr>
          </a:lstStyle>
          <a:p>
            <a:pPr>
              <a:lnSpc>
                <a:spcPct val="150000"/>
              </a:lnSpc>
            </a:pPr>
            <a:r>
              <a:rPr lang="en-US" sz="1840" b="0" dirty="0"/>
              <a:t>Multiple lifelines may be stacked within the same frame to model the interaction between them.</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0597" y="3285338"/>
            <a:ext cx="2406854" cy="1647410"/>
          </a:xfrm>
          <a:prstGeom prst="rect">
            <a:avLst/>
          </a:prstGeom>
        </p:spPr>
      </p:pic>
    </p:spTree>
    <p:extLst>
      <p:ext uri="{BB962C8B-B14F-4D97-AF65-F5344CB8AC3E}">
        <p14:creationId xmlns:p14="http://schemas.microsoft.com/office/powerpoint/2010/main" val="1308852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Timing Diagram Basic Symbols</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4390"/>
          <a:stretch/>
        </p:blipFill>
        <p:spPr>
          <a:xfrm>
            <a:off x="1607441" y="2647577"/>
            <a:ext cx="5526417" cy="2669833"/>
          </a:xfrm>
          <a:prstGeom prst="rect">
            <a:avLst/>
          </a:prstGeom>
        </p:spPr>
      </p:pic>
      <p:sp>
        <p:nvSpPr>
          <p:cNvPr id="5" name="TextBox 4"/>
          <p:cNvSpPr txBox="1"/>
          <p:nvPr/>
        </p:nvSpPr>
        <p:spPr>
          <a:xfrm>
            <a:off x="598749" y="2749070"/>
            <a:ext cx="825354" cy="347146"/>
          </a:xfrm>
          <a:prstGeom prst="rect">
            <a:avLst/>
          </a:prstGeom>
          <a:noFill/>
        </p:spPr>
        <p:txBody>
          <a:bodyPr wrap="none" rtlCol="0">
            <a:spAutoFit/>
          </a:bodyPr>
          <a:lstStyle/>
          <a:p>
            <a:r>
              <a:rPr lang="en-US" sz="1656" b="1">
                <a:solidFill>
                  <a:srgbClr val="FF0000"/>
                </a:solidFill>
              </a:rPr>
              <a:t>Lifeline</a:t>
            </a:r>
          </a:p>
        </p:txBody>
      </p:sp>
      <p:sp>
        <p:nvSpPr>
          <p:cNvPr id="8" name="TextBox 7"/>
          <p:cNvSpPr txBox="1"/>
          <p:nvPr/>
        </p:nvSpPr>
        <p:spPr>
          <a:xfrm>
            <a:off x="2996433" y="2222362"/>
            <a:ext cx="723083" cy="347146"/>
          </a:xfrm>
          <a:prstGeom prst="rect">
            <a:avLst/>
          </a:prstGeom>
          <a:noFill/>
        </p:spPr>
        <p:txBody>
          <a:bodyPr wrap="none" rtlCol="0">
            <a:spAutoFit/>
          </a:bodyPr>
          <a:lstStyle/>
          <a:p>
            <a:r>
              <a:rPr lang="en-US" sz="1656" b="1">
                <a:solidFill>
                  <a:srgbClr val="FF0000"/>
                </a:solidFill>
              </a:rPr>
              <a:t>States</a:t>
            </a:r>
          </a:p>
        </p:txBody>
      </p:sp>
      <p:sp>
        <p:nvSpPr>
          <p:cNvPr id="9" name="TextBox 8"/>
          <p:cNvSpPr txBox="1"/>
          <p:nvPr/>
        </p:nvSpPr>
        <p:spPr>
          <a:xfrm>
            <a:off x="4427918" y="2243133"/>
            <a:ext cx="960263" cy="347146"/>
          </a:xfrm>
          <a:prstGeom prst="rect">
            <a:avLst/>
          </a:prstGeom>
          <a:noFill/>
        </p:spPr>
        <p:txBody>
          <a:bodyPr wrap="none" rtlCol="0">
            <a:spAutoFit/>
          </a:bodyPr>
          <a:lstStyle/>
          <a:p>
            <a:r>
              <a:rPr lang="en-US" sz="1656" b="1" dirty="0">
                <a:solidFill>
                  <a:srgbClr val="FF0000"/>
                </a:solidFill>
              </a:rPr>
              <a:t>Duration</a:t>
            </a:r>
          </a:p>
        </p:txBody>
      </p:sp>
      <p:sp>
        <p:nvSpPr>
          <p:cNvPr id="10" name="TextBox 9"/>
          <p:cNvSpPr txBox="1"/>
          <p:nvPr/>
        </p:nvSpPr>
        <p:spPr>
          <a:xfrm>
            <a:off x="7738962" y="5062576"/>
            <a:ext cx="1050288" cy="347146"/>
          </a:xfrm>
          <a:prstGeom prst="rect">
            <a:avLst/>
          </a:prstGeom>
          <a:noFill/>
        </p:spPr>
        <p:txBody>
          <a:bodyPr wrap="none" rtlCol="0">
            <a:spAutoFit/>
          </a:bodyPr>
          <a:lstStyle/>
          <a:p>
            <a:r>
              <a:rPr lang="en-US" sz="1656" b="1" dirty="0">
                <a:solidFill>
                  <a:srgbClr val="FF0000"/>
                </a:solidFill>
              </a:rPr>
              <a:t>Time Unit</a:t>
            </a:r>
          </a:p>
        </p:txBody>
      </p:sp>
      <p:cxnSp>
        <p:nvCxnSpPr>
          <p:cNvPr id="12" name="Straight Arrow Connector 11"/>
          <p:cNvCxnSpPr>
            <a:stCxn id="5" idx="3"/>
          </p:cNvCxnSpPr>
          <p:nvPr/>
        </p:nvCxnSpPr>
        <p:spPr>
          <a:xfrm>
            <a:off x="1424103" y="2922643"/>
            <a:ext cx="407436" cy="273664"/>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2"/>
          </p:cNvCxnSpPr>
          <p:nvPr/>
        </p:nvCxnSpPr>
        <p:spPr>
          <a:xfrm flipH="1">
            <a:off x="3259142" y="2569508"/>
            <a:ext cx="98833" cy="626799"/>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427918" y="2476021"/>
            <a:ext cx="0" cy="1327249"/>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117090" y="2497968"/>
            <a:ext cx="0" cy="712188"/>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6827059" y="5189993"/>
            <a:ext cx="848034" cy="0"/>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864432" y="3196306"/>
            <a:ext cx="805029" cy="347146"/>
          </a:xfrm>
          <a:prstGeom prst="rect">
            <a:avLst/>
          </a:prstGeom>
          <a:noFill/>
        </p:spPr>
        <p:txBody>
          <a:bodyPr wrap="none" rtlCol="0">
            <a:spAutoFit/>
          </a:bodyPr>
          <a:lstStyle/>
          <a:p>
            <a:r>
              <a:rPr lang="en-US" sz="1656" b="1" dirty="0">
                <a:solidFill>
                  <a:srgbClr val="FF0000"/>
                </a:solidFill>
              </a:rPr>
              <a:t>Stimuli</a:t>
            </a:r>
          </a:p>
        </p:txBody>
      </p:sp>
      <p:cxnSp>
        <p:nvCxnSpPr>
          <p:cNvPr id="26" name="Straight Arrow Connector 25"/>
          <p:cNvCxnSpPr/>
          <p:nvPr/>
        </p:nvCxnSpPr>
        <p:spPr>
          <a:xfrm flipH="1">
            <a:off x="6952528" y="3323724"/>
            <a:ext cx="848034" cy="0"/>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195367" y="2221187"/>
            <a:ext cx="2372829" cy="347146"/>
          </a:xfrm>
          <a:prstGeom prst="rect">
            <a:avLst/>
          </a:prstGeom>
          <a:noFill/>
        </p:spPr>
        <p:txBody>
          <a:bodyPr wrap="none" rtlCol="0">
            <a:spAutoFit/>
          </a:bodyPr>
          <a:lstStyle/>
          <a:p>
            <a:r>
              <a:rPr lang="en-US" sz="1656" b="1">
                <a:solidFill>
                  <a:srgbClr val="FF0000"/>
                </a:solidFill>
              </a:rPr>
              <a:t>Operation/System Name</a:t>
            </a:r>
            <a:endParaRPr lang="en-US" sz="1656" b="1" dirty="0">
              <a:solidFill>
                <a:srgbClr val="FF0000"/>
              </a:solidFill>
            </a:endParaRPr>
          </a:p>
        </p:txBody>
      </p:sp>
      <p:cxnSp>
        <p:nvCxnSpPr>
          <p:cNvPr id="28" name="Straight Arrow Connector 27"/>
          <p:cNvCxnSpPr>
            <a:stCxn id="27" idx="2"/>
          </p:cNvCxnSpPr>
          <p:nvPr/>
        </p:nvCxnSpPr>
        <p:spPr>
          <a:xfrm flipH="1">
            <a:off x="1997357" y="2568333"/>
            <a:ext cx="384425" cy="151982"/>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8" idx="2"/>
          </p:cNvCxnSpPr>
          <p:nvPr/>
        </p:nvCxnSpPr>
        <p:spPr>
          <a:xfrm>
            <a:off x="3357975" y="2569508"/>
            <a:ext cx="1220874" cy="1691642"/>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740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80" dirty="0"/>
              <a:t>Example : </a:t>
            </a:r>
            <a:r>
              <a:rPr lang="en-US" sz="3312"/>
              <a:t>Mobile Telephone System</a:t>
            </a:r>
            <a:endParaRPr lang="en-US" dirty="0"/>
          </a:p>
        </p:txBody>
      </p:sp>
      <p:sp>
        <p:nvSpPr>
          <p:cNvPr id="3" name="Text Placeholder 2"/>
          <p:cNvSpPr>
            <a:spLocks noGrp="1"/>
          </p:cNvSpPr>
          <p:nvPr>
            <p:ph type="body" idx="1"/>
          </p:nvPr>
        </p:nvSpPr>
        <p:spPr/>
        <p:txBody>
          <a:bodyPr/>
          <a:lstStyle/>
          <a:p>
            <a:r>
              <a:rPr lang="en-US" dirty="0"/>
              <a:t>How to Draw timing diagram</a:t>
            </a:r>
          </a:p>
        </p:txBody>
      </p:sp>
    </p:spTree>
    <p:extLst>
      <p:ext uri="{BB962C8B-B14F-4D97-AF65-F5344CB8AC3E}">
        <p14:creationId xmlns:p14="http://schemas.microsoft.com/office/powerpoint/2010/main" val="289284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5652" y="1961765"/>
            <a:ext cx="5424948" cy="3912598"/>
          </a:xfrm>
        </p:spPr>
      </p:pic>
    </p:spTree>
    <p:extLst>
      <p:ext uri="{BB962C8B-B14F-4D97-AF65-F5344CB8AC3E}">
        <p14:creationId xmlns:p14="http://schemas.microsoft.com/office/powerpoint/2010/main" val="435397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D576A-EA1E-42CF-8B2B-07283A9F66F2}"/>
              </a:ext>
            </a:extLst>
          </p:cNvPr>
          <p:cNvSpPr>
            <a:spLocks noGrp="1"/>
          </p:cNvSpPr>
          <p:nvPr>
            <p:ph type="title"/>
          </p:nvPr>
        </p:nvSpPr>
        <p:spPr/>
        <p:txBody>
          <a:bodyPr/>
          <a:lstStyle/>
          <a:p>
            <a:endParaRPr lang="en-PK" dirty="0"/>
          </a:p>
        </p:txBody>
      </p:sp>
      <p:pic>
        <p:nvPicPr>
          <p:cNvPr id="5" name="Content Placeholder 4">
            <a:extLst>
              <a:ext uri="{FF2B5EF4-FFF2-40B4-BE49-F238E27FC236}">
                <a16:creationId xmlns:a16="http://schemas.microsoft.com/office/drawing/2014/main" id="{796DDB20-8638-467B-A212-A947382AA447}"/>
              </a:ext>
            </a:extLst>
          </p:cNvPr>
          <p:cNvPicPr>
            <a:picLocks noGrp="1" noChangeAspect="1"/>
          </p:cNvPicPr>
          <p:nvPr>
            <p:ph idx="1"/>
          </p:nvPr>
        </p:nvPicPr>
        <p:blipFill>
          <a:blip r:embed="rId2"/>
          <a:stretch>
            <a:fillRect/>
          </a:stretch>
        </p:blipFill>
        <p:spPr>
          <a:xfrm>
            <a:off x="1311665" y="1600200"/>
            <a:ext cx="6520669" cy="4525963"/>
          </a:xfrm>
        </p:spPr>
      </p:pic>
    </p:spTree>
    <p:extLst>
      <p:ext uri="{BB962C8B-B14F-4D97-AF65-F5344CB8AC3E}">
        <p14:creationId xmlns:p14="http://schemas.microsoft.com/office/powerpoint/2010/main" val="3189685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B03AB-B5F5-4418-A7C8-106A31AFE484}"/>
              </a:ext>
            </a:extLst>
          </p:cNvPr>
          <p:cNvSpPr>
            <a:spLocks noGrp="1"/>
          </p:cNvSpPr>
          <p:nvPr>
            <p:ph type="title"/>
          </p:nvPr>
        </p:nvSpPr>
        <p:spPr/>
        <p:txBody>
          <a:bodyPr/>
          <a:lstStyle/>
          <a:p>
            <a:endParaRPr lang="en-PK"/>
          </a:p>
        </p:txBody>
      </p:sp>
      <p:pic>
        <p:nvPicPr>
          <p:cNvPr id="7" name="Content Placeholder 6">
            <a:extLst>
              <a:ext uri="{FF2B5EF4-FFF2-40B4-BE49-F238E27FC236}">
                <a16:creationId xmlns:a16="http://schemas.microsoft.com/office/drawing/2014/main" id="{8459B418-E9B9-4B86-8B63-CAEB8E61FC0C}"/>
              </a:ext>
            </a:extLst>
          </p:cNvPr>
          <p:cNvPicPr>
            <a:picLocks noGrp="1" noChangeAspect="1"/>
          </p:cNvPicPr>
          <p:nvPr>
            <p:ph idx="1"/>
          </p:nvPr>
        </p:nvPicPr>
        <p:blipFill>
          <a:blip r:embed="rId2"/>
          <a:stretch>
            <a:fillRect/>
          </a:stretch>
        </p:blipFill>
        <p:spPr>
          <a:xfrm>
            <a:off x="1269830" y="2702804"/>
            <a:ext cx="6604339" cy="2320755"/>
          </a:xfrm>
        </p:spPr>
      </p:pic>
    </p:spTree>
    <p:extLst>
      <p:ext uri="{BB962C8B-B14F-4D97-AF65-F5344CB8AC3E}">
        <p14:creationId xmlns:p14="http://schemas.microsoft.com/office/powerpoint/2010/main" val="870273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2F460-181C-4022-8CE0-9918D2751CA5}"/>
              </a:ext>
            </a:extLst>
          </p:cNvPr>
          <p:cNvSpPr>
            <a:spLocks noGrp="1"/>
          </p:cNvSpPr>
          <p:nvPr>
            <p:ph type="title"/>
          </p:nvPr>
        </p:nvSpPr>
        <p:spPr/>
        <p:txBody>
          <a:bodyPr/>
          <a:lstStyle/>
          <a:p>
            <a:r>
              <a:rPr lang="en-US" dirty="0"/>
              <a:t>State</a:t>
            </a:r>
            <a:endParaRPr lang="en-PK" dirty="0"/>
          </a:p>
        </p:txBody>
      </p:sp>
      <p:pic>
        <p:nvPicPr>
          <p:cNvPr id="5" name="Content Placeholder 4">
            <a:extLst>
              <a:ext uri="{FF2B5EF4-FFF2-40B4-BE49-F238E27FC236}">
                <a16:creationId xmlns:a16="http://schemas.microsoft.com/office/drawing/2014/main" id="{7C9FE153-F70A-4278-9211-B546CB602545}"/>
              </a:ext>
            </a:extLst>
          </p:cNvPr>
          <p:cNvPicPr>
            <a:picLocks noGrp="1" noChangeAspect="1"/>
          </p:cNvPicPr>
          <p:nvPr>
            <p:ph idx="1"/>
          </p:nvPr>
        </p:nvPicPr>
        <p:blipFill>
          <a:blip r:embed="rId2"/>
          <a:stretch>
            <a:fillRect/>
          </a:stretch>
        </p:blipFill>
        <p:spPr>
          <a:xfrm>
            <a:off x="949139" y="2720123"/>
            <a:ext cx="7245722" cy="2286117"/>
          </a:xfrm>
        </p:spPr>
      </p:pic>
    </p:spTree>
    <p:extLst>
      <p:ext uri="{BB962C8B-B14F-4D97-AF65-F5344CB8AC3E}">
        <p14:creationId xmlns:p14="http://schemas.microsoft.com/office/powerpoint/2010/main" val="3948963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D4D53-8BCC-4B38-A718-CA44605B3267}"/>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DE2921B8-7CD5-487B-84C3-DE6C4776E8A4}"/>
              </a:ext>
            </a:extLst>
          </p:cNvPr>
          <p:cNvPicPr>
            <a:picLocks noGrp="1" noChangeAspect="1"/>
          </p:cNvPicPr>
          <p:nvPr>
            <p:ph idx="1"/>
          </p:nvPr>
        </p:nvPicPr>
        <p:blipFill>
          <a:blip r:embed="rId2"/>
          <a:stretch>
            <a:fillRect/>
          </a:stretch>
        </p:blipFill>
        <p:spPr>
          <a:xfrm>
            <a:off x="914212" y="2535963"/>
            <a:ext cx="7315576" cy="2654436"/>
          </a:xfrm>
        </p:spPr>
      </p:pic>
    </p:spTree>
    <p:extLst>
      <p:ext uri="{BB962C8B-B14F-4D97-AF65-F5344CB8AC3E}">
        <p14:creationId xmlns:p14="http://schemas.microsoft.com/office/powerpoint/2010/main" val="2167511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85F5C-8B21-44BC-BA47-2BE8955567B0}"/>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ECCB7002-FA0F-43CE-986C-25DBEEFB31F7}"/>
              </a:ext>
            </a:extLst>
          </p:cNvPr>
          <p:cNvPicPr>
            <a:picLocks noGrp="1" noChangeAspect="1"/>
          </p:cNvPicPr>
          <p:nvPr>
            <p:ph idx="1"/>
          </p:nvPr>
        </p:nvPicPr>
        <p:blipFill>
          <a:blip r:embed="rId2"/>
          <a:stretch>
            <a:fillRect/>
          </a:stretch>
        </p:blipFill>
        <p:spPr>
          <a:xfrm>
            <a:off x="939613" y="2659794"/>
            <a:ext cx="7264773" cy="2406774"/>
          </a:xfrm>
        </p:spPr>
      </p:pic>
    </p:spTree>
    <p:extLst>
      <p:ext uri="{BB962C8B-B14F-4D97-AF65-F5344CB8AC3E}">
        <p14:creationId xmlns:p14="http://schemas.microsoft.com/office/powerpoint/2010/main" val="1152260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132C4-A8C1-445F-B620-665390F44B17}"/>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D82425D3-ADD0-4B7A-BEC6-CC070A387A5B}"/>
              </a:ext>
            </a:extLst>
          </p:cNvPr>
          <p:cNvPicPr>
            <a:picLocks noGrp="1" noChangeAspect="1"/>
          </p:cNvPicPr>
          <p:nvPr>
            <p:ph idx="1"/>
          </p:nvPr>
        </p:nvPicPr>
        <p:blipFill>
          <a:blip r:embed="rId2"/>
          <a:stretch>
            <a:fillRect/>
          </a:stretch>
        </p:blipFill>
        <p:spPr>
          <a:xfrm>
            <a:off x="920562" y="2577240"/>
            <a:ext cx="7302875" cy="2571882"/>
          </a:xfrm>
        </p:spPr>
      </p:pic>
    </p:spTree>
    <p:extLst>
      <p:ext uri="{BB962C8B-B14F-4D97-AF65-F5344CB8AC3E}">
        <p14:creationId xmlns:p14="http://schemas.microsoft.com/office/powerpoint/2010/main" val="2236230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C86CC-9404-401B-A17D-F25C1BCB230D}"/>
              </a:ext>
            </a:extLst>
          </p:cNvPr>
          <p:cNvSpPr>
            <a:spLocks noGrp="1"/>
          </p:cNvSpPr>
          <p:nvPr>
            <p:ph type="title"/>
          </p:nvPr>
        </p:nvSpPr>
        <p:spPr/>
        <p:txBody>
          <a:bodyPr/>
          <a:lstStyle/>
          <a:p>
            <a:r>
              <a:rPr lang="en-US" dirty="0"/>
              <a:t>Class Task</a:t>
            </a:r>
            <a:endParaRPr lang="en-PK" dirty="0"/>
          </a:p>
        </p:txBody>
      </p:sp>
      <p:sp>
        <p:nvSpPr>
          <p:cNvPr id="3" name="Content Placeholder 2">
            <a:extLst>
              <a:ext uri="{FF2B5EF4-FFF2-40B4-BE49-F238E27FC236}">
                <a16:creationId xmlns:a16="http://schemas.microsoft.com/office/drawing/2014/main" id="{DD2BAC2C-8A75-4B05-A941-C5A3BBD8E771}"/>
              </a:ext>
            </a:extLst>
          </p:cNvPr>
          <p:cNvSpPr>
            <a:spLocks noGrp="1"/>
          </p:cNvSpPr>
          <p:nvPr>
            <p:ph idx="1"/>
          </p:nvPr>
        </p:nvSpPr>
        <p:spPr/>
        <p:txBody>
          <a:bodyPr/>
          <a:lstStyle/>
          <a:p>
            <a:pPr algn="just">
              <a:lnSpc>
                <a:spcPct val="107000"/>
              </a:lnSpc>
              <a:spcAft>
                <a:spcPts val="800"/>
              </a:spcAft>
            </a:pPr>
            <a:r>
              <a:rPr lang="en-PK" sz="2800" dirty="0">
                <a:effectLst/>
                <a:latin typeface="Calibri" panose="020F0502020204030204" pitchFamily="34" charset="0"/>
                <a:ea typeface="Calibri" panose="020F0502020204030204" pitchFamily="34" charset="0"/>
                <a:cs typeface="Times New Roman" panose="02020603050405020304" pitchFamily="18" charset="0"/>
              </a:rPr>
              <a:t>A user wants to purchase a book online. After entering the URL on google chrome, it should take 0.5 seconds for http request. Chrome will then send a request to DNS server. DNS server will then contact web server for its response. Google chrome should take 0.5 second to open and DNS processing should take 1 second. DNS time for sending request to webserver should be 3 second. </a:t>
            </a:r>
          </a:p>
          <a:p>
            <a:pPr algn="just">
              <a:lnSpc>
                <a:spcPct val="107000"/>
              </a:lnSpc>
              <a:spcAft>
                <a:spcPts val="800"/>
              </a:spcAft>
            </a:pPr>
            <a:r>
              <a:rPr lang="en-PK" sz="2800" dirty="0">
                <a:effectLst/>
                <a:latin typeface="Calibri" panose="020F0502020204030204" pitchFamily="34" charset="0"/>
                <a:ea typeface="Calibri" panose="020F0502020204030204" pitchFamily="34" charset="0"/>
                <a:cs typeface="Times New Roman" panose="02020603050405020304" pitchFamily="18" charset="0"/>
              </a:rPr>
              <a:t>Draw a timing diagram for the above scenario.</a:t>
            </a:r>
          </a:p>
          <a:p>
            <a:endParaRPr lang="en-PK" dirty="0"/>
          </a:p>
        </p:txBody>
      </p:sp>
    </p:spTree>
    <p:extLst>
      <p:ext uri="{BB962C8B-B14F-4D97-AF65-F5344CB8AC3E}">
        <p14:creationId xmlns:p14="http://schemas.microsoft.com/office/powerpoint/2010/main" val="166223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F666C-CEE4-45FB-9B19-06FBAA7D49D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559C3600-9FC9-4DA4-BF93-7F17A1B182FB}"/>
              </a:ext>
            </a:extLst>
          </p:cNvPr>
          <p:cNvSpPr>
            <a:spLocks noGrp="1"/>
          </p:cNvSpPr>
          <p:nvPr>
            <p:ph idx="1"/>
          </p:nvPr>
        </p:nvSpPr>
        <p:spPr/>
        <p:txBody>
          <a:bodyPr>
            <a:normAutofit fontScale="40000" lnSpcReduction="20000"/>
          </a:bodyPr>
          <a:lstStyle/>
          <a:p>
            <a:pPr algn="just">
              <a:buFont typeface="Arial" panose="020B0604020202020204" pitchFamily="34" charset="0"/>
              <a:buChar char="•"/>
            </a:pPr>
            <a:r>
              <a:rPr lang="en-US" sz="3500" dirty="0"/>
              <a:t>No Impairment, Normal State</a:t>
            </a:r>
            <a:br>
              <a:rPr lang="en-US" sz="3500" dirty="0"/>
            </a:br>
            <a:r>
              <a:rPr lang="en-US" sz="3500" dirty="0"/>
              <a:t>It is the stage where the memory and cognitive abilities look normal.</a:t>
            </a:r>
          </a:p>
          <a:p>
            <a:pPr algn="just">
              <a:buFont typeface="Arial" panose="020B0604020202020204" pitchFamily="34" charset="0"/>
              <a:buChar char="•"/>
            </a:pPr>
            <a:r>
              <a:rPr lang="en-US" sz="3500" dirty="0"/>
              <a:t>Normal Aged Forgetfulness</a:t>
            </a:r>
            <a:br>
              <a:rPr lang="en-US" sz="3500" dirty="0"/>
            </a:br>
            <a:r>
              <a:rPr lang="en-US" sz="3500" dirty="0"/>
              <a:t>It is mostly seen in people with an age group of 65 who experience subjective complaints of cognitive and/or functional difficulties, which means they face problems in recalling the name and past 5 to 10 years of history.</a:t>
            </a:r>
          </a:p>
          <a:p>
            <a:pPr algn="just">
              <a:buFont typeface="Arial" panose="020B0604020202020204" pitchFamily="34" charset="0"/>
              <a:buChar char="•"/>
            </a:pPr>
            <a:r>
              <a:rPr lang="en-US" sz="3500" dirty="0"/>
              <a:t>Early </a:t>
            </a:r>
            <a:r>
              <a:rPr lang="en-US" sz="3500" dirty="0" err="1"/>
              <a:t>Confusional</a:t>
            </a:r>
            <a:r>
              <a:rPr lang="en-US" sz="3500" dirty="0"/>
              <a:t>, Mild Cognitive Impairment</a:t>
            </a:r>
            <a:br>
              <a:rPr lang="en-US" sz="3500" dirty="0"/>
            </a:br>
            <a:r>
              <a:rPr lang="en-US" sz="3500" dirty="0"/>
              <a:t>It causes a problem in retrieving words, planning, organizing, objects misplacing as well as forgetting fresh learning, which in turn affects the surrounding.</a:t>
            </a:r>
          </a:p>
          <a:p>
            <a:pPr algn="just">
              <a:buFont typeface="Arial" panose="020B0604020202020204" pitchFamily="34" charset="0"/>
              <a:buChar char="•"/>
            </a:pPr>
            <a:r>
              <a:rPr lang="en-US" sz="3500" dirty="0"/>
              <a:t>Late </a:t>
            </a:r>
            <a:r>
              <a:rPr lang="en-US" sz="3500" dirty="0" err="1"/>
              <a:t>Confusional</a:t>
            </a:r>
            <a:r>
              <a:rPr lang="en-US" sz="3500" dirty="0"/>
              <a:t>, Mild Alzheimer's</a:t>
            </a:r>
            <a:br>
              <a:rPr lang="en-US" sz="3500" dirty="0"/>
            </a:br>
            <a:r>
              <a:rPr lang="en-US" sz="3500" dirty="0"/>
              <a:t>In this, a person forgets the most recent events and conversations. The person remembers himself and his family, but face problems while carrying out sequential tasks such as cooking, driving, etc. Its duration is about two years,</a:t>
            </a:r>
          </a:p>
          <a:p>
            <a:pPr algn="just">
              <a:buFont typeface="Arial" panose="020B0604020202020204" pitchFamily="34" charset="0"/>
              <a:buChar char="•"/>
            </a:pPr>
            <a:r>
              <a:rPr lang="en-US" sz="3500" dirty="0"/>
              <a:t>Early Dementia, Moderate Alzheimer's</a:t>
            </a:r>
            <a:br>
              <a:rPr lang="en-US" sz="3500" dirty="0"/>
            </a:br>
            <a:r>
              <a:rPr lang="en-US" sz="3500" dirty="0"/>
              <a:t>In this, the person cannot manage independently. He faces difficulty in recalling the past details and contact information. It lasts for about 1.5 years.</a:t>
            </a:r>
          </a:p>
          <a:p>
            <a:pPr algn="just">
              <a:buFont typeface="Arial" panose="020B0604020202020204" pitchFamily="34" charset="0"/>
              <a:buChar char="•"/>
            </a:pPr>
            <a:r>
              <a:rPr lang="en-US" sz="3500" dirty="0"/>
              <a:t>Middle Dementia, Moderately Severe Alzheimer's</a:t>
            </a:r>
            <a:br>
              <a:rPr lang="en-US" sz="3500" dirty="0"/>
            </a:br>
            <a:r>
              <a:rPr lang="en-US" sz="3500" dirty="0"/>
              <a:t>It leads to insufficient awareness about current events, and the person is unable to recall the past. It causes an inability in people to take a bath and dress up independently. It lasts for about 2.5 years approximately.</a:t>
            </a:r>
          </a:p>
          <a:p>
            <a:pPr algn="just">
              <a:buFont typeface="Arial" panose="020B0604020202020204" pitchFamily="34" charset="0"/>
              <a:buChar char="•"/>
            </a:pPr>
            <a:r>
              <a:rPr lang="en-US" sz="3500" dirty="0"/>
              <a:t>Late or Severe Dementia, Failure to Thrive</a:t>
            </a:r>
            <a:br>
              <a:rPr lang="en-US" sz="3500" dirty="0"/>
            </a:br>
            <a:r>
              <a:rPr lang="en-US" sz="3500" dirty="0"/>
              <a:t>It is severely limited intellectual ability. In this, a person either communicates through short words or cries, which leads health to decline as it shut down the body system. Its duration is 1 to 2.5 years.</a:t>
            </a:r>
          </a:p>
          <a:p>
            <a:endParaRPr lang="en-PK" dirty="0"/>
          </a:p>
        </p:txBody>
      </p:sp>
    </p:spTree>
    <p:extLst>
      <p:ext uri="{BB962C8B-B14F-4D97-AF65-F5344CB8AC3E}">
        <p14:creationId xmlns:p14="http://schemas.microsoft.com/office/powerpoint/2010/main" val="3256612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1482</TotalTime>
  <Words>690</Words>
  <Application>Microsoft Office PowerPoint</Application>
  <PresentationFormat>On-screen Show (4:3)</PresentationFormat>
  <Paragraphs>43</Paragraphs>
  <Slides>20</Slides>
  <Notes>1</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Wingdings</vt:lpstr>
      <vt:lpstr>Office Theme</vt:lpstr>
      <vt:lpstr>PowerPoint Presentation</vt:lpstr>
      <vt:lpstr>Timing Diagram</vt:lpstr>
      <vt:lpstr>How Timing Diagram Looks Like?</vt:lpstr>
      <vt:lpstr>Timing Diagram</vt:lpstr>
      <vt:lpstr>What is Timing Diagram?</vt:lpstr>
      <vt:lpstr>What is Timing Diagram?</vt:lpstr>
      <vt:lpstr>Benefits of Timing Diagram</vt:lpstr>
      <vt:lpstr>Timing Diagram Basic Symbols</vt:lpstr>
      <vt:lpstr>Timing Diagram Basic Symbols</vt:lpstr>
      <vt:lpstr>Timing Diagram Basic Symbols</vt:lpstr>
      <vt:lpstr>Example : Mobile Telephone System</vt:lpstr>
      <vt:lpstr>Example</vt:lpstr>
      <vt:lpstr>PowerPoint Presentation</vt:lpstr>
      <vt:lpstr>PowerPoint Presentation</vt:lpstr>
      <vt:lpstr>State</vt:lpstr>
      <vt:lpstr>PowerPoint Presentation</vt:lpstr>
      <vt:lpstr>PowerPoint Presentation</vt:lpstr>
      <vt:lpstr>PowerPoint Presentation</vt:lpstr>
      <vt:lpstr>Class Task</vt:lpstr>
      <vt:lpstr>PowerPoint Presentation</vt:lpstr>
    </vt:vector>
  </TitlesOfParts>
  <Company>diakov.net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Architecture UML: Use case diagram-Part2</dc:title>
  <dc:creator>UZAIR IQBAL</dc:creator>
  <cp:lastModifiedBy>Fatima gillani</cp:lastModifiedBy>
  <cp:revision>158</cp:revision>
  <cp:lastPrinted>2023-02-24T01:07:46Z</cp:lastPrinted>
  <dcterms:created xsi:type="dcterms:W3CDTF">2020-03-27T04:40:44Z</dcterms:created>
  <dcterms:modified xsi:type="dcterms:W3CDTF">2024-10-03T09:23:32Z</dcterms:modified>
</cp:coreProperties>
</file>