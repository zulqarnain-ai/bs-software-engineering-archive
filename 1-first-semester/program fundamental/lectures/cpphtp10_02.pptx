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3.xml"/>
  <Override ContentType="application/vnd.openxmlformats-officedocument.themeOverride+xml" PartName="/ppt/theme/themeOverride2.xml"/>
  <Override ContentType="application/vnd.openxmlformats-officedocument.themeOverride+xml" PartName="/ppt/theme/themeOverride4.xml"/>
  <Override ContentType="application/vnd.openxmlformats-officedocument.themeOverride+xml" PartName="/ppt/theme/themeOverr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80" roundtripDataSignature="AMtx7mgrvvSnLdd5vpxAf4TkTwX8Fmz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0" name="Google Shape;3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8" name="Google Shape;32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6" name="Google Shape;33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4" name="Google Shape;36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2" name="Google Shape;37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0" name="Google Shape;38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8" name="Google Shape;38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1" name="Google Shape;40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9" name="Google Shape;40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7" name="Google Shape;41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0" name="Google Shape;44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3" name="Google Shape;45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1" name="Google Shape;46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4" name="Google Shape;47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7" name="Google Shape;48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0" name="Google Shape;51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3" name="Google Shape;53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1" name="Google Shape;54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64" name="Google Shape;56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7" name="Google Shape;57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6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76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4" name="Google Shape;24;p76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5" name="Google Shape;25;p76"/>
            <p:cNvSpPr/>
            <p:nvPr/>
          </p:nvSpPr>
          <p:spPr>
            <a:xfrm>
              <a:off x="35926" y="5135025"/>
              <a:ext cx="9108074" cy="838869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76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" name="Google Shape;27;p76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cap="flat" cmpd="sng" w="12050">
              <a:solidFill>
                <a:srgbClr val="93C5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8" name="Google Shape;28;p76">
            <a:hlinkClick action="ppaction://hlinkshowjump?jump=nextslide"/>
          </p:cNvPr>
          <p:cNvSpPr/>
          <p:nvPr/>
        </p:nvSpPr>
        <p:spPr>
          <a:xfrm>
            <a:off x="8686800" y="152400"/>
            <a:ext cx="3048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darken" h="120000" w="12000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none" h="120000" w="12000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898B"/>
              </a:gs>
              <a:gs pos="65000">
                <a:srgbClr val="FFBFC2"/>
              </a:gs>
              <a:gs pos="100000">
                <a:srgbClr val="FFCFCF"/>
              </a:gs>
            </a:gsLst>
            <a:lin ang="162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6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76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6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76"/>
          <p:cNvSpPr txBox="1"/>
          <p:nvPr>
            <p:ph idx="11" type="ftr"/>
          </p:nvPr>
        </p:nvSpPr>
        <p:spPr>
          <a:xfrm>
            <a:off x="2743200" y="6408738"/>
            <a:ext cx="398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7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7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77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8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1" name="Google Shape;41;p78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8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8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9">
            <a:hlinkClick action="ppaction://hlinkshowjump?jump=previousslide"/>
          </p:cNvPr>
          <p:cNvSpPr/>
          <p:nvPr/>
        </p:nvSpPr>
        <p:spPr>
          <a:xfrm>
            <a:off x="8305800" y="152400"/>
            <a:ext cx="3048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darken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898B"/>
              </a:gs>
              <a:gs pos="65000">
                <a:srgbClr val="FFBFC2"/>
              </a:gs>
              <a:gs pos="100000">
                <a:srgbClr val="FFCFCF"/>
              </a:gs>
            </a:gsLst>
            <a:lin ang="162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9">
            <a:hlinkClick action="ppaction://hlinkshowjump?jump=nextslide"/>
          </p:cNvPr>
          <p:cNvSpPr/>
          <p:nvPr/>
        </p:nvSpPr>
        <p:spPr>
          <a:xfrm>
            <a:off x="8686800" y="152400"/>
            <a:ext cx="3048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darken" h="120000" w="12000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none" h="120000" w="12000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898B"/>
              </a:gs>
              <a:gs pos="65000">
                <a:srgbClr val="FFBFC2"/>
              </a:gs>
              <a:gs pos="100000">
                <a:srgbClr val="FFCFCF"/>
              </a:gs>
            </a:gsLst>
            <a:lin ang="162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9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74650" lvl="1" marL="914400" algn="l">
              <a:spcBef>
                <a:spcPts val="325"/>
              </a:spcBef>
              <a:spcAft>
                <a:spcPts val="0"/>
              </a:spcAft>
              <a:buSzPts val="2300"/>
              <a:buFont typeface="Noto Sans Symbols"/>
              <a:buChar char="▪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" name="Google Shape;48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9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9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9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0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0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0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0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Font typeface="Lucida Sans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Font typeface="Lucida Sans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80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0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0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1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1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1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1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1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2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2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Font typeface="Lucida Sans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Font typeface="Lucida Sans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" name="Google Shape;70;p82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Font typeface="Lucida Sans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Font typeface="Lucida Sans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" name="Google Shape;71;p82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" name="Google Shape;72;p82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" name="Google Shape;73;p82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2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2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3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3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3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4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4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Font typeface="Lucida Sans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Font typeface="Lucida Sans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" name="Google Shape;84;p84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84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4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4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5"/>
          <p:cNvSpPr/>
          <p:nvPr/>
        </p:nvSpPr>
        <p:spPr>
          <a:xfrm>
            <a:off x="500063" y="5945188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0" name="Google Shape;90;p85"/>
          <p:cNvSpPr/>
          <p:nvPr/>
        </p:nvSpPr>
        <p:spPr>
          <a:xfrm>
            <a:off x="485775" y="5938838"/>
            <a:ext cx="3690938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85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3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85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85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5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5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6" name="Google Shape;96;p85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5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5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5"/>
          <p:cNvSpPr txBox="1"/>
          <p:nvPr>
            <p:ph idx="11" type="ftr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85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6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4" name="Google Shape;104;p86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6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86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7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7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0" name="Google Shape;110;p87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7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87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/>
          <p:nvPr/>
        </p:nvSpPr>
        <p:spPr>
          <a:xfrm>
            <a:off x="500063" y="5945188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" name="Google Shape;11;p75"/>
          <p:cNvSpPr/>
          <p:nvPr/>
        </p:nvSpPr>
        <p:spPr>
          <a:xfrm>
            <a:off x="485775" y="5938838"/>
            <a:ext cx="3690938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5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75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5" name="Google Shape;15;p75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228600" lvl="3" marL="1828800" marR="0" rtl="0" algn="l">
              <a:spcBef>
                <a:spcPts val="35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228600" lvl="4" marL="2286000" marR="0" rtl="0" algn="l">
              <a:spcBef>
                <a:spcPts val="35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6" name="Google Shape;16;p75"/>
          <p:cNvSpPr txBox="1"/>
          <p:nvPr>
            <p:ph idx="10" type="dt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75"/>
          <p:cNvSpPr txBox="1"/>
          <p:nvPr>
            <p:ph idx="12" type="sldNum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5">
            <a:hlinkClick action="ppaction://hlinkshowjump?jump=previousslide"/>
          </p:cNvPr>
          <p:cNvSpPr/>
          <p:nvPr/>
        </p:nvSpPr>
        <p:spPr>
          <a:xfrm>
            <a:off x="8305800" y="152400"/>
            <a:ext cx="3048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darken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898B"/>
              </a:gs>
              <a:gs pos="65000">
                <a:srgbClr val="FFBFC2"/>
              </a:gs>
              <a:gs pos="100000">
                <a:srgbClr val="FFCFCF"/>
              </a:gs>
            </a:gsLst>
            <a:lin ang="162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75">
            <a:hlinkClick action="ppaction://hlinkshowjump?jump=nextslide"/>
          </p:cNvPr>
          <p:cNvSpPr/>
          <p:nvPr/>
        </p:nvSpPr>
        <p:spPr>
          <a:xfrm>
            <a:off x="8686800" y="152400"/>
            <a:ext cx="3048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darken" h="120000" w="12000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none" h="120000" w="12000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898B"/>
              </a:gs>
              <a:gs pos="65000">
                <a:srgbClr val="FFBFC2"/>
              </a:gs>
              <a:gs pos="100000">
                <a:srgbClr val="FFCFCF"/>
              </a:gs>
            </a:gsLst>
            <a:lin ang="162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75"/>
          <p:cNvSpPr txBox="1"/>
          <p:nvPr>
            <p:ph idx="11" type="ftr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C++ Programming, Input/Output and Operators</a:t>
            </a:r>
            <a:endParaRPr/>
          </a:p>
        </p:txBody>
      </p:sp>
      <p:sp>
        <p:nvSpPr>
          <p:cNvPr id="119" name="Google Shape;119;p1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64008" rtl="0" algn="r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en-US"/>
              <a:t>Chapter 2 of C++ How to Program, 10/e</a:t>
            </a:r>
            <a:endParaRPr/>
          </a:p>
        </p:txBody>
      </p:sp>
      <p:sp>
        <p:nvSpPr>
          <p:cNvPr id="120" name="Google Shape;120;p1"/>
          <p:cNvSpPr txBox="1"/>
          <p:nvPr>
            <p:ph idx="11" type="ftr"/>
          </p:nvPr>
        </p:nvSpPr>
        <p:spPr>
          <a:xfrm>
            <a:off x="2743200" y="64087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02" id="125" name="Google Shape;1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016" y="857250"/>
            <a:ext cx="66067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03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1613"/>
            <a:ext cx="9144000" cy="3913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2.1  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now introduce C++ programming, which facilitates a disciplined approach to program development.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Most of the C++ programs you’ll study in this book process data and display results.</a:t>
            </a:r>
            <a:endParaRPr/>
          </a:p>
        </p:txBody>
      </p:sp>
      <p:sp>
        <p:nvSpPr>
          <p:cNvPr id="138" name="Google Shape;138;p4"/>
          <p:cNvSpPr txBox="1"/>
          <p:nvPr>
            <p:ph idx="11" type="ftr"/>
          </p:nvPr>
        </p:nvSpPr>
        <p:spPr>
          <a:xfrm>
            <a:off x="3276600" y="6408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</a:t>
            </a:r>
            <a:endParaRPr/>
          </a:p>
        </p:txBody>
      </p: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Simple program that prints a line of text (Fig. 2.1).</a:t>
            </a:r>
            <a:endParaRPr/>
          </a:p>
        </p:txBody>
      </p:sp>
      <p:sp>
        <p:nvSpPr>
          <p:cNvPr id="146" name="Google Shape;146;p5"/>
          <p:cNvSpPr txBox="1"/>
          <p:nvPr>
            <p:ph idx="11" type="ftr"/>
          </p:nvPr>
        </p:nvSpPr>
        <p:spPr>
          <a:xfrm>
            <a:off x="3276600" y="64770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06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29929"/>
            <a:ext cx="9144000" cy="4198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 txBox="1"/>
          <p:nvPr>
            <p:ph idx="11" type="ftr"/>
          </p:nvPr>
        </p:nvSpPr>
        <p:spPr>
          <a:xfrm>
            <a:off x="3276600" y="64770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indicates that the remainder of each line is a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comment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You insert comments to document your programs and to help other people read and understand them.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Comments are ignored by the C++ compiler and do not cause any machine-language object code to be generated.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comment beginning with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called a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single-line comment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because it terminates at the end of the current line.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You also may use comments containing one or more lines enclosed in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/*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*/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160" name="Google Shape;160;p7"/>
          <p:cNvSpPr txBox="1"/>
          <p:nvPr>
            <p:ph idx="11" type="ftr"/>
          </p:nvPr>
        </p:nvSpPr>
        <p:spPr>
          <a:xfrm>
            <a:off x="3276600" y="64770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07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63391"/>
            <a:ext cx="9144000" cy="2131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/>
          <p:nvPr>
            <p:ph idx="11" type="ftr"/>
          </p:nvPr>
        </p:nvSpPr>
        <p:spPr>
          <a:xfrm>
            <a:off x="3276600" y="64770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173" name="Google Shape;173;p9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preprocessing directive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a message to the C++ preprocessor.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Lines that begin with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are processed by the preprocessor before the program is compiled.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notifies the preprocessor to include in the program the contents of the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input/output stream header file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header is a file containing information used by the compiler when compiling any program that outputs data to the screen or inputs data from the keyboard using C++-style stream input/output.</a:t>
            </a:r>
            <a:endParaRPr/>
          </a:p>
        </p:txBody>
      </p:sp>
      <p:sp>
        <p:nvSpPr>
          <p:cNvPr id="174" name="Google Shape;174;p9"/>
          <p:cNvSpPr txBox="1"/>
          <p:nvPr>
            <p:ph idx="11" type="ftr"/>
          </p:nvPr>
        </p:nvSpPr>
        <p:spPr>
          <a:xfrm>
            <a:off x="3276600" y="64008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08" id="179" name="Google Shape;1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87154"/>
            <a:ext cx="9144000" cy="2882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You use blank lines, </a:t>
            </a:r>
            <a:r>
              <a:rPr i="1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characters 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i="1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tab characters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(i.e., “tabs”) to make programs easier to read.</a:t>
            </a:r>
            <a:endParaRPr/>
          </a:p>
          <a:p>
            <a:pPr indent="-228600" lvl="1" marL="620713" rtl="0" algn="l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Together, these characters are known as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white space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White-space characters are normally </a:t>
            </a:r>
            <a:r>
              <a:rPr i="1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ignored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by the compiler.</a:t>
            </a:r>
            <a:endParaRPr/>
          </a:p>
        </p:txBody>
      </p:sp>
      <p:sp>
        <p:nvSpPr>
          <p:cNvPr id="187" name="Google Shape;187;p11"/>
          <p:cNvSpPr txBox="1"/>
          <p:nvPr>
            <p:ph idx="11" type="ftr"/>
          </p:nvPr>
        </p:nvSpPr>
        <p:spPr>
          <a:xfrm>
            <a:off x="3276600" y="64008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a part of every C++ program.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parentheses after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indicate that </a:t>
            </a:r>
            <a:r>
              <a:rPr lang="en-US" sz="2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a program building block called a </a:t>
            </a:r>
            <a:r>
              <a:rPr lang="en-US" sz="23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function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C++ programs typically consist of one or more functions and classes.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Exactly </a:t>
            </a:r>
            <a:r>
              <a:rPr i="1"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one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function in every program </a:t>
            </a:r>
            <a:r>
              <a:rPr i="1"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must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be named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C++ programs begin executing at function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even if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</a:t>
            </a:r>
            <a:r>
              <a:rPr i="1"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first function defined in the program.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keyword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the left of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indicates that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“returns” an integer (whole number) value.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 sz="2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keyword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a word in code that is reserved by C++ for a specific use.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 now, simply include the keyword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the left of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 each of your programs.</a:t>
            </a:r>
            <a:endParaRPr/>
          </a:p>
        </p:txBody>
      </p:sp>
      <p:sp>
        <p:nvSpPr>
          <p:cNvPr id="195" name="Google Shape;195;p12"/>
          <p:cNvSpPr txBox="1"/>
          <p:nvPr>
            <p:ph idx="11" type="ftr"/>
          </p:nvPr>
        </p:nvSpPr>
        <p:spPr>
          <a:xfrm>
            <a:off x="3276600" y="64008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202" name="Google Shape;202;p13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left brace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must </a:t>
            </a:r>
            <a:r>
              <a:rPr i="1"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begin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body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every function.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corresponding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right brace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must </a:t>
            </a:r>
            <a:r>
              <a:rPr i="1"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end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each function’s body.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statement instructs the computer to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perform an action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Together, the quotation marks and the characters between them are called a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string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a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character string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or a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string literal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refer to characters between double quotation marks simply as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strings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White-space characters in strings are not ignored by the compiler.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Most C++ statements end with a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semicolon 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), also known as the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statement terminator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Preprocessing directives (like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do not end with a semicolon.</a:t>
            </a:r>
            <a:endParaRPr/>
          </a:p>
        </p:txBody>
      </p:sp>
      <p:sp>
        <p:nvSpPr>
          <p:cNvPr id="203" name="Google Shape;203;p13"/>
          <p:cNvSpPr txBox="1"/>
          <p:nvPr>
            <p:ph idx="11" type="ftr"/>
          </p:nvPr>
        </p:nvSpPr>
        <p:spPr>
          <a:xfrm>
            <a:off x="3276600" y="64008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09" id="208" name="Google Shape;2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291" y="857250"/>
            <a:ext cx="754022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0"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20479"/>
            <a:ext cx="9144000" cy="3017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1" id="218" name="Google Shape;2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83582"/>
            <a:ext cx="9144000" cy="2889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225" name="Google Shape;225;p17"/>
          <p:cNvSpPr txBox="1"/>
          <p:nvPr>
            <p:ph idx="1" type="body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Typically, output and input in C++ are accomplished with </a:t>
            </a:r>
            <a:r>
              <a:rPr lang="en-US" sz="23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streams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data. 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a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 executes, it sends a stream of characters to the </a:t>
            </a:r>
            <a:r>
              <a:rPr lang="en-US" sz="23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standard output stream object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—</a:t>
            </a:r>
            <a:r>
              <a:rPr lang="en-US" sz="2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std::cout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—which is normally “connected” to the screen.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64"/>
              <a:buChar char="🞂"/>
            </a:pP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before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required when we use names that we’ve brought into the program by the preprocessing directive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3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r>
              <a:rPr lang="en-US" sz="2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notation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std::cout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specifies that we are using a name, in this case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that belongs to “namespace”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names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(the standard input stream) and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cerr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(the standard error stream) also belong to namespace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226" name="Google Shape;226;p17"/>
          <p:cNvSpPr txBox="1"/>
          <p:nvPr>
            <p:ph idx="11" type="ftr"/>
          </p:nvPr>
        </p:nvSpPr>
        <p:spPr>
          <a:xfrm>
            <a:off x="3276600" y="64008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233" name="Google Shape;233;p18"/>
          <p:cNvSpPr txBox="1"/>
          <p:nvPr>
            <p:ph idx="1" type="body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4"/>
              <a:buChar char="🞂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the context of an output statement, the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operator is referred to as the </a:t>
            </a:r>
            <a:r>
              <a:rPr lang="en-US" sz="2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stream insertion operator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800"/>
              <a:buChar char="◦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value to the operator’s right, the right </a:t>
            </a:r>
            <a:r>
              <a:rPr lang="en-US" sz="2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operand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is inserted in the output stream.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4"/>
              <a:buChar char="🞂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characters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are </a:t>
            </a:r>
            <a:r>
              <a:rPr i="1"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printed on the screen.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4"/>
              <a:buChar char="🞂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backslash (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\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is called an </a:t>
            </a:r>
            <a:r>
              <a:rPr lang="en-US" sz="2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escape character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indicates that a “special” character is to be output.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4"/>
              <a:buChar char="🞂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a backslash is encountered in a string of characters, the next character is combined with the backslash to form an </a:t>
            </a:r>
            <a:r>
              <a:rPr lang="en-US" sz="2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escape sequence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4"/>
              <a:buChar char="🞂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escape sequence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means </a:t>
            </a:r>
            <a:r>
              <a:rPr lang="en-US" sz="2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newline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Causes the </a:t>
            </a:r>
            <a:r>
              <a:rPr lang="en-US" sz="24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cursor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move to the beginning of the next line on the screen.</a:t>
            </a:r>
            <a:endParaRPr/>
          </a:p>
          <a:p>
            <a:pPr indent="-134683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4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01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4" name="Google Shape;234;p18"/>
          <p:cNvSpPr txBox="1"/>
          <p:nvPr>
            <p:ph idx="11" type="ftr"/>
          </p:nvPr>
        </p:nvSpPr>
        <p:spPr>
          <a:xfrm>
            <a:off x="3276600" y="64008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2" id="239" name="Google Shape;2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857250"/>
            <a:ext cx="89046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2.2  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First Program in C++: Printing a Line of Text (cont.)</a:t>
            </a:r>
            <a:endParaRPr/>
          </a:p>
        </p:txBody>
      </p:sp>
      <p:sp>
        <p:nvSpPr>
          <p:cNvPr id="246" name="Google Shape;246;p20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🞂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 </a:t>
            </a:r>
            <a:r>
              <a:rPr lang="en-US" sz="2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statement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used at the end of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value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indicates that the program has </a:t>
            </a:r>
            <a:r>
              <a:rPr i="1"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terminated successfully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4"/>
              <a:buChar char="🞂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According to the C++ standard, if program execution reaches the end of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without encountering a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statement, it’s assumed that the program terminated successfully—exactly as when the last statement in main is a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 with the value </a:t>
            </a: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endParaRPr/>
          </a:p>
        </p:txBody>
      </p:sp>
      <p:sp>
        <p:nvSpPr>
          <p:cNvPr id="247" name="Google Shape;247;p20"/>
          <p:cNvSpPr txBox="1"/>
          <p:nvPr>
            <p:ph idx="11" type="ftr"/>
          </p:nvPr>
        </p:nvSpPr>
        <p:spPr>
          <a:xfrm>
            <a:off x="3276600" y="64008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Modifying Our First C++ Program</a:t>
            </a:r>
            <a:endParaRPr/>
          </a:p>
        </p:txBody>
      </p:sp>
      <p:sp>
        <p:nvSpPr>
          <p:cNvPr id="254" name="Google Shape;254;p21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Welcome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C++!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can be printed several ways.</a:t>
            </a:r>
            <a:endParaRPr/>
          </a:p>
        </p:txBody>
      </p:sp>
      <p:sp>
        <p:nvSpPr>
          <p:cNvPr id="255" name="Google Shape;255;p21"/>
          <p:cNvSpPr txBox="1"/>
          <p:nvPr>
            <p:ph idx="11" type="ftr"/>
          </p:nvPr>
        </p:nvSpPr>
        <p:spPr>
          <a:xfrm>
            <a:off x="3276600" y="64087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3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37085"/>
            <a:ext cx="9144000" cy="3982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Modifying Our First C++ Program (cont.)</a:t>
            </a:r>
            <a:endParaRPr/>
          </a:p>
        </p:txBody>
      </p:sp>
      <p:sp>
        <p:nvSpPr>
          <p:cNvPr id="267" name="Google Shape;267;p23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single statement can print multiple lines by using newline characters.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Each time the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(newline) escape sequence is encountered in the output stream, the screen cursor is positioned to the beginning of the next line.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 get a blank line in your output, place two newline characters back to back.</a:t>
            </a:r>
            <a:endParaRPr/>
          </a:p>
        </p:txBody>
      </p:sp>
      <p:sp>
        <p:nvSpPr>
          <p:cNvPr id="268" name="Google Shape;268;p23"/>
          <p:cNvSpPr txBox="1"/>
          <p:nvPr>
            <p:ph idx="11" type="ftr"/>
          </p:nvPr>
        </p:nvSpPr>
        <p:spPr>
          <a:xfrm>
            <a:off x="3276600" y="64087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4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9441"/>
            <a:ext cx="9144000" cy="4377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</a:t>
            </a:r>
            <a:endParaRPr/>
          </a:p>
        </p:txBody>
      </p:sp>
      <p:sp>
        <p:nvSpPr>
          <p:cNvPr id="280" name="Google Shape;280;p25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next program obtains two integers typed by a user at the keyboard, computes their sum and outputs the result using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std::cout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Figure 2.5 shows the program and sample inputs and outputs. </a:t>
            </a:r>
            <a:endParaRPr/>
          </a:p>
        </p:txBody>
      </p:sp>
      <p:sp>
        <p:nvSpPr>
          <p:cNvPr id="281" name="Google Shape;281;p25"/>
          <p:cNvSpPr txBox="1"/>
          <p:nvPr>
            <p:ph idx="11" type="ftr"/>
          </p:nvPr>
        </p:nvSpPr>
        <p:spPr>
          <a:xfrm>
            <a:off x="3276600" y="64087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5" id="286" name="Google Shape;2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3" y="857250"/>
            <a:ext cx="78771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6" id="291" name="Google Shape;2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40769"/>
            <a:ext cx="9144000" cy="2175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298" name="Google Shape;298;p28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Declarations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introduce identifiers into programs.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identifiers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are the names of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variables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variable is a location in the computer’s memory where a value can be stored for use by a program.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Variables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are data of type </a:t>
            </a: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meaning that these variables will hold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integers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(whole numbers such as 7, –11, 0 and 31914).</a:t>
            </a:r>
            <a:endParaRPr/>
          </a:p>
          <a:p>
            <a:pPr indent="-14763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5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9" name="Google Shape;299;p28"/>
          <p:cNvSpPr txBox="1"/>
          <p:nvPr>
            <p:ph idx="11" type="ftr"/>
          </p:nvPr>
        </p:nvSpPr>
        <p:spPr>
          <a:xfrm>
            <a:off x="3276600" y="6408738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06" name="Google Shape;306;p29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Lines 8–10 initialize each variable to 0 by placing a value in braces (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immediately following the variable’s name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Known as list initialization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Introduced in C++11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Previously, these declarations would have been written as: 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 number1 = 0; 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 number2 = 0; 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 sum = 0;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4763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5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7" name="Google Shape;307;p29"/>
          <p:cNvSpPr txBox="1"/>
          <p:nvPr>
            <p:ph idx="11" type="ftr"/>
          </p:nvPr>
        </p:nvSpPr>
        <p:spPr>
          <a:xfrm>
            <a:off x="3276600" y="6408738"/>
            <a:ext cx="441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14" name="Google Shape;314;p30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 variables </a:t>
            </a:r>
            <a:r>
              <a:rPr i="1"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must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be declared with a </a:t>
            </a:r>
            <a:r>
              <a:rPr i="1"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a </a:t>
            </a:r>
            <a:r>
              <a:rPr i="1"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type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before they can be used in a program.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more than one name is declared in a declaration (as shown here), the names are separated by commas (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); this is referred to as a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comma-separated list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315" name="Google Shape;315;p30"/>
          <p:cNvSpPr txBox="1"/>
          <p:nvPr>
            <p:ph idx="11" type="ftr"/>
          </p:nvPr>
        </p:nvSpPr>
        <p:spPr>
          <a:xfrm>
            <a:off x="3276600" y="6408738"/>
            <a:ext cx="441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7" id="320" name="Google Shape;3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9079"/>
            <a:ext cx="9144000" cy="255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8"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70510"/>
            <a:ext cx="9144000" cy="251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32" name="Google Shape;332;p33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type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for specifying real numbers, and data type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for specifying </a:t>
            </a:r>
            <a:r>
              <a:rPr i="1"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character data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Real numbers are numbers with decimal points, such as 3.4, 0.0 and –11.19.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variable may hold only a single lowercase letter, a single uppercase letter, a single digit or a single special character (e.g.,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Types such as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are called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fundamental types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Fundamental-type names are keywords and therefore </a:t>
            </a:r>
            <a:r>
              <a:rPr i="1"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must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appear in all lowercase letters.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Appendix C contains the complete list of fundamental types.</a:t>
            </a:r>
            <a:endParaRPr/>
          </a:p>
        </p:txBody>
      </p:sp>
      <p:sp>
        <p:nvSpPr>
          <p:cNvPr id="333" name="Google Shape;333;p33"/>
          <p:cNvSpPr txBox="1"/>
          <p:nvPr>
            <p:ph idx="11" type="ftr"/>
          </p:nvPr>
        </p:nvSpPr>
        <p:spPr>
          <a:xfrm>
            <a:off x="3276600" y="6408738"/>
            <a:ext cx="441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40" name="Google Shape;340;p34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variable name is any valid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identifier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that is </a:t>
            </a:r>
            <a:r>
              <a:rPr i="1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 keyword.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 identifier is a series of characters consisting of letters, digits and underscores ( _ ) that does not begin with a digit.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C++ is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case sensitive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—uppercase and lowercase letters are different, so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a1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A1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are </a:t>
            </a:r>
            <a:r>
              <a:rPr i="1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different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identifiers.</a:t>
            </a:r>
            <a:endParaRPr/>
          </a:p>
        </p:txBody>
      </p:sp>
      <p:sp>
        <p:nvSpPr>
          <p:cNvPr id="341" name="Google Shape;341;p34"/>
          <p:cNvSpPr txBox="1"/>
          <p:nvPr>
            <p:ph idx="11" type="ftr"/>
          </p:nvPr>
        </p:nvSpPr>
        <p:spPr>
          <a:xfrm>
            <a:off x="3276600" y="6408738"/>
            <a:ext cx="434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19" id="346" name="Google Shape;3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76438"/>
            <a:ext cx="9144000" cy="2903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0" id="351" name="Google Shape;3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70485"/>
            <a:ext cx="9144000" cy="2917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1" id="356" name="Google Shape;3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7204"/>
            <a:ext cx="9144000" cy="2083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2" id="361" name="Google Shape;3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66938"/>
            <a:ext cx="91440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68" name="Google Shape;368;p39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Declarations of variables can be placed almost anywhere in a program, but they must appear </a:t>
            </a:r>
            <a:r>
              <a:rPr i="1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before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their corresponding variables are used in the program.</a:t>
            </a:r>
            <a:endParaRPr/>
          </a:p>
        </p:txBody>
      </p:sp>
      <p:sp>
        <p:nvSpPr>
          <p:cNvPr id="369" name="Google Shape;369;p39"/>
          <p:cNvSpPr txBox="1"/>
          <p:nvPr>
            <p:ph idx="11" type="ftr"/>
          </p:nvPr>
        </p:nvSpPr>
        <p:spPr>
          <a:xfrm>
            <a:off x="3276600" y="6408738"/>
            <a:ext cx="434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76" name="Google Shape;376;p40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prompt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it directs the user to take a specific action.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 uses the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input stream object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(of namespace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and the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stream extraction operator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to obtain a value from the keyboard.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Using the stream extraction operator with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std::cin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takes character input from the standard input stream, which is usually the keyboard.</a:t>
            </a:r>
            <a:endParaRPr/>
          </a:p>
        </p:txBody>
      </p:sp>
      <p:sp>
        <p:nvSpPr>
          <p:cNvPr id="377" name="Google Shape;377;p40"/>
          <p:cNvSpPr txBox="1"/>
          <p:nvPr>
            <p:ph idx="11" type="ftr"/>
          </p:nvPr>
        </p:nvSpPr>
        <p:spPr>
          <a:xfrm>
            <a:off x="3276600" y="6408738"/>
            <a:ext cx="434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84" name="Google Shape;384;p41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32"/>
              <a:buChar char="🞂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 computer executes an input statement that places a value in an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variable, it waits for the user to enter a value for variable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32"/>
              <a:buChar char="🞂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user responds by typing the number (as characters) then pressing the </a:t>
            </a:r>
            <a:r>
              <a:rPr i="1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Enter 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key (sometimes called the </a:t>
            </a:r>
            <a:r>
              <a:rPr i="1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Return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key) to send the characters to the computer.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32"/>
              <a:buChar char="🞂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computer converts the character representation of the number to an integer and assigns (i.e., copies) this number (or </a:t>
            </a:r>
            <a:r>
              <a:rPr lang="en-US" sz="24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value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to the variable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32"/>
              <a:buChar char="🞂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Any subsequent references to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 this program will use this same value.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32"/>
              <a:buChar char="🞂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Pressing </a:t>
            </a:r>
            <a:r>
              <a:rPr i="1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Enter</a:t>
            </a: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also causes the cursor to move to the beginning of the next line on the screen. </a:t>
            </a:r>
            <a:endParaRPr sz="2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5" name="Google Shape;385;p41"/>
          <p:cNvSpPr txBox="1"/>
          <p:nvPr>
            <p:ph idx="11" type="ftr"/>
          </p:nvPr>
        </p:nvSpPr>
        <p:spPr>
          <a:xfrm>
            <a:off x="3276600" y="6408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392" name="Google Shape;392;p42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this program, an assignment statement adds the values of variables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assigns the result to variable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using the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assignment operator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Most calculations are performed in assignment statements.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operator and the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operator are called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binary operators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because each has two operands.</a:t>
            </a:r>
            <a:endParaRPr/>
          </a:p>
        </p:txBody>
      </p:sp>
      <p:sp>
        <p:nvSpPr>
          <p:cNvPr id="393" name="Google Shape;393;p42"/>
          <p:cNvSpPr txBox="1"/>
          <p:nvPr>
            <p:ph idx="11" type="ftr"/>
          </p:nvPr>
        </p:nvSpPr>
        <p:spPr>
          <a:xfrm>
            <a:off x="3276600" y="6408738"/>
            <a:ext cx="441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3" id="398" name="Google Shape;39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84798"/>
            <a:ext cx="9144000" cy="2487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405" name="Google Shape;405;p44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std::endl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a so-called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stream manipulator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name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endl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an abbreviation for “end line” and belongs to namespace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std::endl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stream manipulator outputs a newline, then “flushes the output buffer.” 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simply means that, on some systems where outputs accumulate in the machine until there are enough to “make it worthwhile” to display them on the screen,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std::endl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forces any accumulated outputs to be displayed at that moment.</a:t>
            </a:r>
            <a:endParaRPr/>
          </a:p>
          <a:p>
            <a:pPr indent="-228600" lvl="1" marL="620713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can be important when the outputs are prompting the user for an action, such as entering data.</a:t>
            </a:r>
            <a:endParaRPr/>
          </a:p>
        </p:txBody>
      </p:sp>
      <p:sp>
        <p:nvSpPr>
          <p:cNvPr id="406" name="Google Shape;406;p44"/>
          <p:cNvSpPr txBox="1"/>
          <p:nvPr>
            <p:ph idx="11" type="ftr"/>
          </p:nvPr>
        </p:nvSpPr>
        <p:spPr>
          <a:xfrm>
            <a:off x="3276600" y="6408738"/>
            <a:ext cx="441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Another C++ Program: Adding Integers (cont.)</a:t>
            </a:r>
            <a:endParaRPr/>
          </a:p>
        </p:txBody>
      </p:sp>
      <p:sp>
        <p:nvSpPr>
          <p:cNvPr id="413" name="Google Shape;413;p45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Using multiple stream insertion operators (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in a single statement is referred to as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concatenating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chaining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cascading stream insertion operations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Calculations can also be performed in output statements.</a:t>
            </a:r>
            <a:endParaRPr/>
          </a:p>
        </p:txBody>
      </p:sp>
      <p:sp>
        <p:nvSpPr>
          <p:cNvPr id="414" name="Google Shape;414;p45"/>
          <p:cNvSpPr txBox="1"/>
          <p:nvPr>
            <p:ph idx="11" type="ftr"/>
          </p:nvPr>
        </p:nvSpPr>
        <p:spPr>
          <a:xfrm>
            <a:off x="3276600" y="6408738"/>
            <a:ext cx="426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2.5  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Memory Concepts</a:t>
            </a:r>
            <a:endParaRPr/>
          </a:p>
        </p:txBody>
      </p:sp>
      <p:sp>
        <p:nvSpPr>
          <p:cNvPr id="421" name="Google Shape;421;p46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Variable names such as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actually correspond to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locations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 the computer’s memory.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Every variable has a name, a type, a size and a value.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a value is placed in a memory location, the value overwrites the previous value in that location; thus, placing a new value into a memory location is said to be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destructive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a value is read out of a memory loca-tion, the process is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nondestructive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422" name="Google Shape;422;p46"/>
          <p:cNvSpPr txBox="1"/>
          <p:nvPr>
            <p:ph idx="11" type="ftr"/>
          </p:nvPr>
        </p:nvSpPr>
        <p:spPr>
          <a:xfrm>
            <a:off x="3276600" y="6408738"/>
            <a:ext cx="449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4" id="427" name="Google Shape;42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05050"/>
            <a:ext cx="91440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5" id="432" name="Google Shape;43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09788"/>
            <a:ext cx="914400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6" id="437" name="Google Shape;43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20466"/>
            <a:ext cx="9144000" cy="3215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2.6  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  <p:sp>
        <p:nvSpPr>
          <p:cNvPr id="444" name="Google Shape;444;p50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Most programs perform arithmetic calculations.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Figure 2.9 summarizes the C++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arithmetic operators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asterisk 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indicates multiplication. 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percent sign 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 the remainder operator.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Yields the remainder after integer division.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Can be used only with integer operands.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arithmetic operators are all binary operators.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Integer division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(i.e., where both the numerator and the denominator are integers) yields an integer quotient.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Any fractional part in integer division is discarded (i.e., </a:t>
            </a:r>
            <a:r>
              <a:rPr lang="en-US" sz="21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truncated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)—no rounding occurs.</a:t>
            </a:r>
            <a:endParaRPr/>
          </a:p>
        </p:txBody>
      </p:sp>
      <p:sp>
        <p:nvSpPr>
          <p:cNvPr id="445" name="Google Shape;445;p50"/>
          <p:cNvSpPr txBox="1"/>
          <p:nvPr>
            <p:ph idx="11" type="ftr"/>
          </p:nvPr>
        </p:nvSpPr>
        <p:spPr>
          <a:xfrm>
            <a:off x="3276600" y="6408738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7" id="450" name="Google Shape;45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70410"/>
            <a:ext cx="9144000" cy="4115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2.6  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Arithmetic (cont.)</a:t>
            </a:r>
            <a:endParaRPr/>
          </a:p>
        </p:txBody>
      </p:sp>
      <p:sp>
        <p:nvSpPr>
          <p:cNvPr id="457" name="Google Shape;457;p52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Arithmetic expressions in C++ must be entered into the computer in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straight-line form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Expressions such as “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divided by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 must be written as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so that all constants, variables and operators appear in a straight line.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Parentheses are used in C++ expressions in the same manner as in algebraic expressions.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 example, to multiply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times the quantity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we write </a:t>
            </a:r>
            <a:endParaRPr/>
          </a:p>
          <a:p>
            <a:pPr indent="-228600" lvl="1" marL="620713" rtl="0" algn="l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* ( b + c )</a:t>
            </a:r>
            <a:endParaRPr/>
          </a:p>
        </p:txBody>
      </p:sp>
      <p:sp>
        <p:nvSpPr>
          <p:cNvPr id="458" name="Google Shape;458;p52"/>
          <p:cNvSpPr txBox="1"/>
          <p:nvPr>
            <p:ph idx="11" type="ftr"/>
          </p:nvPr>
        </p:nvSpPr>
        <p:spPr>
          <a:xfrm>
            <a:off x="3276600" y="64087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2.6  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Arithmetic (cont.)</a:t>
            </a:r>
            <a:endParaRPr/>
          </a:p>
        </p:txBody>
      </p:sp>
      <p:sp>
        <p:nvSpPr>
          <p:cNvPr id="465" name="Google Shape;465;p53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C++ applies the operators in arithmetic expressions in a precise sequence determined by the following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rules of operator precedence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which are generally the same as those followed in algebra.</a:t>
            </a:r>
            <a:endParaRPr/>
          </a:p>
        </p:txBody>
      </p:sp>
      <p:sp>
        <p:nvSpPr>
          <p:cNvPr id="466" name="Google Shape;466;p53"/>
          <p:cNvSpPr txBox="1"/>
          <p:nvPr>
            <p:ph idx="11" type="ftr"/>
          </p:nvPr>
        </p:nvSpPr>
        <p:spPr>
          <a:xfrm>
            <a:off x="3276600" y="6408738"/>
            <a:ext cx="449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8" id="471" name="Google Shape;47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23" y="857250"/>
            <a:ext cx="886896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2.6  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Arithmetic (cont.)</a:t>
            </a:r>
            <a:endParaRPr/>
          </a:p>
        </p:txBody>
      </p:sp>
      <p:sp>
        <p:nvSpPr>
          <p:cNvPr id="478" name="Google Shape;478;p55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There is no arithmetic operator for exponentiation in C++, so </a:t>
            </a:r>
            <a:r>
              <a:rPr i="1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30000"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represented as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Figure 2.11 illustrates the order in which the operators in a second-degree polynomial are applied.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 in algebra, it’s acceptable to place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redundant parentheses 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an expression to make the expression clearer.</a:t>
            </a:r>
            <a:endParaRPr/>
          </a:p>
        </p:txBody>
      </p:sp>
      <p:sp>
        <p:nvSpPr>
          <p:cNvPr id="479" name="Google Shape;479;p55"/>
          <p:cNvSpPr txBox="1"/>
          <p:nvPr>
            <p:ph idx="11" type="ftr"/>
          </p:nvPr>
        </p:nvSpPr>
        <p:spPr>
          <a:xfrm>
            <a:off x="3276600" y="6408738"/>
            <a:ext cx="449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29" id="484" name="Google Shape;48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431" y="857250"/>
            <a:ext cx="68151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Decision Making: Equality and Relational Operators</a:t>
            </a:r>
            <a:endParaRPr/>
          </a:p>
        </p:txBody>
      </p:sp>
      <p:sp>
        <p:nvSpPr>
          <p:cNvPr id="491" name="Google Shape;491;p57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statement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allows a program to take alternative action based on whether a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condition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true or false.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the condition is true, the statement in the body of the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 is executed.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the condition is false, the body statement is not executed.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Conditions in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statements can be formed by using the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equality operators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relational operators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(Fig. 2.12).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relational operators all have the same level of precedence and associate left to right.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equality operators both have the same level of precedence, which is lower than that of the relational operators, and associate left to right.</a:t>
            </a:r>
            <a:endParaRPr/>
          </a:p>
        </p:txBody>
      </p:sp>
      <p:sp>
        <p:nvSpPr>
          <p:cNvPr id="492" name="Google Shape;492;p57"/>
          <p:cNvSpPr txBox="1"/>
          <p:nvPr>
            <p:ph idx="11" type="ftr"/>
          </p:nvPr>
        </p:nvSpPr>
        <p:spPr>
          <a:xfrm>
            <a:off x="3276600" y="6408738"/>
            <a:ext cx="495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0" id="497" name="Google Shape;49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33463"/>
            <a:ext cx="9144000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1" id="502" name="Google Shape;50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929" y="857250"/>
            <a:ext cx="876895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2" id="507" name="Google Shape;50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0150"/>
            <a:ext cx="914400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Decision Making: Equality and Relational Operators (cont.)</a:t>
            </a:r>
            <a:endParaRPr/>
          </a:p>
        </p:txBody>
      </p:sp>
      <p:sp>
        <p:nvSpPr>
          <p:cNvPr id="514" name="Google Shape;514;p61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Fig. 2.12 uses six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statements to compare two numbers input by the user.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the condition in any of these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statements is satisfied, the output statement associated with that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 executes.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Figure 2.13 shows the program and the input/output dialogs of three sample executions.</a:t>
            </a:r>
            <a:endParaRPr/>
          </a:p>
        </p:txBody>
      </p:sp>
      <p:sp>
        <p:nvSpPr>
          <p:cNvPr id="515" name="Google Shape;515;p61"/>
          <p:cNvSpPr txBox="1"/>
          <p:nvPr>
            <p:ph idx="11" type="ftr"/>
          </p:nvPr>
        </p:nvSpPr>
        <p:spPr>
          <a:xfrm>
            <a:off x="3276600" y="64087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3" id="520" name="Google Shape;5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766" y="857250"/>
            <a:ext cx="75592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4" id="525" name="Google Shape;52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654" y="857250"/>
            <a:ext cx="783669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5" id="530" name="Google Shape;53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423" y="857250"/>
            <a:ext cx="848915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Decision Making: Equality and Relational Operators (cont.)</a:t>
            </a:r>
            <a:endParaRPr/>
          </a:p>
        </p:txBody>
      </p:sp>
      <p:sp>
        <p:nvSpPr>
          <p:cNvPr id="537" name="Google Shape;537;p65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-US" sz="2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declarations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eliminate the need to repeat the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prefix.</a:t>
            </a:r>
            <a:endParaRPr/>
          </a:p>
          <a:p>
            <a:pPr indent="-228600" lvl="1" marL="620713" rtl="0" algn="l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100"/>
              <a:buChar char="◦"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Can write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instead of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std::cout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instead of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std::cin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endl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instead of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std::endl</a:t>
            </a: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respectively, in the remainder of the program.  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Many programmers prefer to use the declaration</a:t>
            </a:r>
            <a:endParaRPr/>
          </a:p>
          <a:p>
            <a:pPr indent="-228600" lvl="2" marL="858838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rPr lang="en-US" sz="19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using namespace </a:t>
            </a:r>
            <a:r>
              <a:rPr lang="en-US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std;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which enables a program to use all the names in any standard C++ header file (such as </a:t>
            </a:r>
            <a:r>
              <a:rPr lang="en-US" sz="2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that a program might include.</a:t>
            </a:r>
            <a:endParaRPr/>
          </a:p>
          <a:p>
            <a:pPr indent="-255587" lvl="0" marL="3651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Char char="🞂"/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From this point forward in the book, we’ll use the preceding declaration in our programs.</a:t>
            </a:r>
            <a:endParaRPr/>
          </a:p>
        </p:txBody>
      </p:sp>
      <p:sp>
        <p:nvSpPr>
          <p:cNvPr id="538" name="Google Shape;538;p65"/>
          <p:cNvSpPr txBox="1"/>
          <p:nvPr>
            <p:ph idx="11" type="ftr"/>
          </p:nvPr>
        </p:nvSpPr>
        <p:spPr>
          <a:xfrm>
            <a:off x="3276600" y="6408738"/>
            <a:ext cx="449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Decision Making: Equality and Relational Operators (cont.)</a:t>
            </a:r>
            <a:endParaRPr/>
          </a:p>
        </p:txBody>
      </p:sp>
      <p:sp>
        <p:nvSpPr>
          <p:cNvPr id="545" name="Google Shape;545;p66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Each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 in Fig. 2.13 has a single statement in its body and each body statement is indented.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Each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statement’s body is enclosed in a pair of braces,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creating what’s called a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compound statement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or a </a:t>
            </a:r>
            <a:r>
              <a:rPr lang="en-US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block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that may contain multiple statements.</a:t>
            </a:r>
            <a:endParaRPr/>
          </a:p>
        </p:txBody>
      </p:sp>
      <p:sp>
        <p:nvSpPr>
          <p:cNvPr id="546" name="Google Shape;546;p66"/>
          <p:cNvSpPr txBox="1"/>
          <p:nvPr>
            <p:ph idx="11" type="ftr"/>
          </p:nvPr>
        </p:nvSpPr>
        <p:spPr>
          <a:xfrm>
            <a:off x="3276600" y="6408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6" id="551" name="Google Shape;55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90775"/>
            <a:ext cx="91440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7" id="556" name="Google Shape;55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68054"/>
            <a:ext cx="9144000" cy="3721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8" id="561" name="Google Shape;56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45357"/>
            <a:ext cx="9144000" cy="4966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Decision Making: Equality and Relational Operators (cont.)</a:t>
            </a:r>
            <a:endParaRPr/>
          </a:p>
        </p:txBody>
      </p:sp>
      <p:sp>
        <p:nvSpPr>
          <p:cNvPr id="568" name="Google Shape;568;p70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Statements may be split over several lines and may be spaced according to your preferences.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It’s a syntax error to split identifiers, strings (such as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and constants (such as the number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over several lines.</a:t>
            </a:r>
            <a:endParaRPr/>
          </a:p>
        </p:txBody>
      </p:sp>
      <p:sp>
        <p:nvSpPr>
          <p:cNvPr id="569" name="Google Shape;569;p70"/>
          <p:cNvSpPr txBox="1"/>
          <p:nvPr>
            <p:ph idx="11" type="ftr"/>
          </p:nvPr>
        </p:nvSpPr>
        <p:spPr>
          <a:xfrm>
            <a:off x="3276600" y="6408738"/>
            <a:ext cx="441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39" id="574" name="Google Shape;57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16844"/>
            <a:ext cx="9144000" cy="4023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B5A1"/>
                </a:solidFill>
                <a:latin typeface="Arial"/>
                <a:ea typeface="Arial"/>
                <a:cs typeface="Arial"/>
                <a:sym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  <a:ea typeface="Arial"/>
                <a:cs typeface="Arial"/>
                <a:sym typeface="Arial"/>
              </a:rPr>
              <a:t>Decision Making: Equality and Relational Operators (cont.)</a:t>
            </a:r>
            <a:endParaRPr/>
          </a:p>
        </p:txBody>
      </p:sp>
      <p:sp>
        <p:nvSpPr>
          <p:cNvPr id="581" name="Google Shape;581;p72"/>
          <p:cNvSpPr txBox="1"/>
          <p:nvPr>
            <p:ph idx="1"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Figure 2.14 shows the precedence and associativity of the operators introduced in this chapter.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operators are shown top to bottom in decreasing order of precedence.</a:t>
            </a:r>
            <a:endParaRPr/>
          </a:p>
          <a:p>
            <a:pPr indent="-255587" lvl="0" marL="365125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 these operators, with the exception of the assignment operator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associate from left to right.</a:t>
            </a:r>
            <a:endParaRPr/>
          </a:p>
        </p:txBody>
      </p:sp>
      <p:sp>
        <p:nvSpPr>
          <p:cNvPr id="582" name="Google Shape;582;p72"/>
          <p:cNvSpPr txBox="1"/>
          <p:nvPr>
            <p:ph idx="11" type="ftr"/>
          </p:nvPr>
        </p:nvSpPr>
        <p:spPr>
          <a:xfrm>
            <a:off x="3276600" y="6408738"/>
            <a:ext cx="434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Copyright 2017 by Pearson Education, Ltd. All Rights Reserved.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40" id="587" name="Google Shape;58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8960"/>
            <a:ext cx="9144000" cy="4458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pphtp10_02_Page_41" id="592" name="Google Shape;59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1" y="857250"/>
            <a:ext cx="87582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Concourse">
    <a:dk1>
      <a:srgbClr val="000000"/>
    </a:dk1>
    <a:lt1>
      <a:srgbClr val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 xmlns:r="http://schemas.openxmlformats.org/officeDocument/2006/relationships">
  <a:clrScheme name="Concourse">
    <a:dk1>
      <a:srgbClr val="000000"/>
    </a:dk1>
    <a:lt1>
      <a:srgbClr val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 xmlns:r="http://schemas.openxmlformats.org/officeDocument/2006/relationships">
  <a:clrScheme name="Concourse">
    <a:dk1>
      <a:srgbClr val="000000"/>
    </a:dk1>
    <a:lt1>
      <a:srgbClr val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 xmlns:r="http://schemas.openxmlformats.org/officeDocument/2006/relationships">
  <a:clrScheme name="Concourse">
    <a:dk1>
      <a:srgbClr val="000000"/>
    </a:dk1>
    <a:lt1>
      <a:srgbClr val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2009-08-24T19:56:30Z</dcterms:created>
  <dc:creator>Windows User</dc:creator>
</cp:coreProperties>
</file>