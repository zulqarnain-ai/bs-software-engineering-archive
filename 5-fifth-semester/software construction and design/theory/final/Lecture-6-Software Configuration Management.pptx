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notesMasterIdLst>
    <p:notesMasterId r:id="rId27"/>
  </p:notesMasterIdLst>
  <p:sldIdLst>
    <p:sldId id="296" r:id="rId2"/>
    <p:sldId id="295" r:id="rId3"/>
    <p:sldId id="322" r:id="rId4"/>
    <p:sldId id="303" r:id="rId5"/>
    <p:sldId id="304" r:id="rId6"/>
    <p:sldId id="294" r:id="rId7"/>
    <p:sldId id="297" r:id="rId8"/>
    <p:sldId id="305" r:id="rId9"/>
    <p:sldId id="306" r:id="rId10"/>
    <p:sldId id="307" r:id="rId11"/>
    <p:sldId id="298" r:id="rId12"/>
    <p:sldId id="299" r:id="rId13"/>
    <p:sldId id="300" r:id="rId14"/>
    <p:sldId id="301" r:id="rId15"/>
    <p:sldId id="302" r:id="rId16"/>
    <p:sldId id="308" r:id="rId17"/>
    <p:sldId id="310" r:id="rId18"/>
    <p:sldId id="313" r:id="rId19"/>
    <p:sldId id="314" r:id="rId20"/>
    <p:sldId id="316" r:id="rId21"/>
    <p:sldId id="317" r:id="rId22"/>
    <p:sldId id="318" r:id="rId23"/>
    <p:sldId id="319" r:id="rId24"/>
    <p:sldId id="320" r:id="rId25"/>
    <p:sldId id="321" r:id="rId2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70197" autoAdjust="0"/>
  </p:normalViewPr>
  <p:slideViewPr>
    <p:cSldViewPr>
      <p:cViewPr varScale="1">
        <p:scale>
          <a:sx n="46" d="100"/>
          <a:sy n="46" d="100"/>
        </p:scale>
        <p:origin x="1888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67B51-13A1-4C7A-8BAC-27B51097B05B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EEBEF-C418-4441-A032-95CC583C0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1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5" dirty="0">
                <a:latin typeface="Arial"/>
                <a:cs typeface="Arial"/>
              </a:rPr>
              <a:t>Any</a:t>
            </a:r>
            <a:r>
              <a:rPr lang="en-US" sz="1200" b="1" dirty="0">
                <a:latin typeface="Arial"/>
                <a:cs typeface="Arial"/>
              </a:rPr>
              <a:t> </a:t>
            </a:r>
            <a:r>
              <a:rPr lang="en-US" sz="1200" b="1" spc="-5" dirty="0">
                <a:latin typeface="Arial"/>
                <a:cs typeface="Arial"/>
              </a:rPr>
              <a:t>change</a:t>
            </a:r>
            <a:r>
              <a:rPr lang="en-US" sz="1200" b="1" spc="10" dirty="0">
                <a:latin typeface="Arial"/>
                <a:cs typeface="Arial"/>
              </a:rPr>
              <a:t> </a:t>
            </a:r>
            <a:r>
              <a:rPr lang="en-US" sz="1200" b="1" dirty="0">
                <a:latin typeface="Arial"/>
                <a:cs typeface="Arial"/>
              </a:rPr>
              <a:t>to	the </a:t>
            </a:r>
            <a:r>
              <a:rPr lang="en-US" sz="1200" b="1" spc="-5" dirty="0">
                <a:latin typeface="Arial"/>
                <a:cs typeface="Arial"/>
              </a:rPr>
              <a:t>configuration </a:t>
            </a:r>
            <a:r>
              <a:rPr lang="en-US" sz="1200" b="1" dirty="0">
                <a:latin typeface="Arial"/>
                <a:cs typeface="Arial"/>
              </a:rPr>
              <a:t>items </a:t>
            </a:r>
            <a:r>
              <a:rPr lang="en-US" sz="1200" b="1" spc="-15" dirty="0">
                <a:latin typeface="Arial"/>
                <a:cs typeface="Arial"/>
              </a:rPr>
              <a:t>will </a:t>
            </a:r>
            <a:r>
              <a:rPr lang="en-US" sz="1200" b="1" spc="-10" dirty="0">
                <a:latin typeface="Arial"/>
                <a:cs typeface="Arial"/>
              </a:rPr>
              <a:t>affect </a:t>
            </a:r>
            <a:r>
              <a:rPr lang="en-US" sz="1200" b="1" dirty="0">
                <a:latin typeface="Arial"/>
                <a:cs typeface="Arial"/>
              </a:rPr>
              <a:t>the </a:t>
            </a:r>
            <a:r>
              <a:rPr lang="en-US" sz="1200" b="1" spc="-5" dirty="0">
                <a:latin typeface="Arial"/>
                <a:cs typeface="Arial"/>
              </a:rPr>
              <a:t>product and hence  changes </a:t>
            </a:r>
            <a:r>
              <a:rPr lang="en-US" sz="1200" b="1" dirty="0">
                <a:latin typeface="Arial"/>
                <a:cs typeface="Arial"/>
              </a:rPr>
              <a:t>to </a:t>
            </a:r>
            <a:r>
              <a:rPr lang="en-US" sz="1200" b="1" spc="-5" dirty="0">
                <a:latin typeface="Arial"/>
                <a:cs typeface="Arial"/>
              </a:rPr>
              <a:t>configuration </a:t>
            </a:r>
            <a:r>
              <a:rPr lang="en-US" sz="1200" b="1" dirty="0">
                <a:latin typeface="Arial"/>
                <a:cs typeface="Arial"/>
              </a:rPr>
              <a:t>items </a:t>
            </a:r>
            <a:r>
              <a:rPr lang="en-US" sz="1200" b="1" spc="-5" dirty="0">
                <a:latin typeface="Arial"/>
                <a:cs typeface="Arial"/>
              </a:rPr>
              <a:t>needs </a:t>
            </a:r>
            <a:r>
              <a:rPr lang="en-US" sz="1200" b="1" dirty="0">
                <a:latin typeface="Arial"/>
                <a:cs typeface="Arial"/>
              </a:rPr>
              <a:t>to </a:t>
            </a:r>
            <a:r>
              <a:rPr lang="en-US" sz="1200" b="1" spc="-5" dirty="0">
                <a:latin typeface="Arial"/>
                <a:cs typeface="Arial"/>
              </a:rPr>
              <a:t>be controlled and</a:t>
            </a:r>
            <a:r>
              <a:rPr lang="en-US" sz="1200" b="1" spc="60" dirty="0">
                <a:latin typeface="Arial"/>
                <a:cs typeface="Arial"/>
              </a:rPr>
              <a:t> </a:t>
            </a:r>
            <a:r>
              <a:rPr lang="en-US" sz="1200" b="1" spc="-5" dirty="0">
                <a:latin typeface="Arial"/>
                <a:cs typeface="Arial"/>
              </a:rPr>
              <a:t>managed.</a:t>
            </a:r>
            <a:endParaRPr lang="en-US" sz="1200" b="1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EEBEF-C418-4441-A032-95CC583C07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0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1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4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4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7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9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29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5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3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0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60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89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50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19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22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2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5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Configuration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25</a:t>
            </a:r>
          </a:p>
        </p:txBody>
      </p:sp>
    </p:spTree>
    <p:extLst>
      <p:ext uri="{BB962C8B-B14F-4D97-AF65-F5344CB8AC3E}">
        <p14:creationId xmlns:p14="http://schemas.microsoft.com/office/powerpoint/2010/main" val="2475579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 2"/>
          <p:cNvSpPr/>
          <p:nvPr/>
        </p:nvSpPr>
        <p:spPr>
          <a:xfrm>
            <a:off x="838200" y="762000"/>
            <a:ext cx="7162800" cy="5562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806" y="1981200"/>
            <a:ext cx="8916194" cy="32004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(CM) is concerned with the policies, processes, and tools for managing changing software systems. You need to manage evolving systems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to lose track of what changes and component versions have been incorporated into each system version.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Versions implement proposals for change, corrections of faults, and adaptations for different hardware and operating systems.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configuration management procedures not in place, will waste effort modifying the wrong version of a system, deliver the wrong version of a system to customers, or forget where the software source code for a particular version of the system or component is stored.</a:t>
            </a:r>
          </a:p>
        </p:txBody>
      </p:sp>
    </p:spTree>
    <p:extLst>
      <p:ext uri="{BB962C8B-B14F-4D97-AF65-F5344CB8AC3E}">
        <p14:creationId xmlns:p14="http://schemas.microsoft.com/office/powerpoint/2010/main" val="4087753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670018" cy="3530600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user requirement, policy, budget, schedule need to be accommodated.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should able to run on various machines and Operating Systems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develop coordination among stakeholders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SCM process is also beneficial to control the costs involved in making changes to a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307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of Not Using SCM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46218" cy="35306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don’t have effective configuration management procedures in place, you may  have following issues: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effort modifying the wrong version of a system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the wrong version of a system to customers,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forget where the software source code for a particular version of the system or component is stored.</a:t>
            </a:r>
          </a:p>
        </p:txBody>
      </p:sp>
    </p:spTree>
    <p:extLst>
      <p:ext uri="{BB962C8B-B14F-4D97-AF65-F5344CB8AC3E}">
        <p14:creationId xmlns:p14="http://schemas.microsoft.com/office/powerpoint/2010/main" val="321077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1051823"/>
            <a:ext cx="7239000" cy="510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Software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55600"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spc="-10" dirty="0">
                <a:latin typeface="Times New Roman"/>
                <a:cs typeface="Times New Roman"/>
              </a:rPr>
              <a:t>New </a:t>
            </a:r>
            <a:r>
              <a:rPr lang="en-US" sz="2800" dirty="0">
                <a:latin typeface="Times New Roman"/>
                <a:cs typeface="Times New Roman"/>
              </a:rPr>
              <a:t>business or </a:t>
            </a:r>
            <a:r>
              <a:rPr lang="en-US" sz="2800" b="1" spc="-5" dirty="0">
                <a:latin typeface="Times New Roman"/>
                <a:cs typeface="Times New Roman"/>
              </a:rPr>
              <a:t>market</a:t>
            </a:r>
            <a:r>
              <a:rPr lang="en-US" sz="2800" b="1" spc="-35" dirty="0">
                <a:latin typeface="Times New Roman"/>
                <a:cs typeface="Times New Roman"/>
              </a:rPr>
              <a:t> </a:t>
            </a:r>
            <a:r>
              <a:rPr lang="en-US" sz="2800" b="1" spc="-5" dirty="0">
                <a:latin typeface="Times New Roman"/>
                <a:cs typeface="Times New Roman"/>
              </a:rPr>
              <a:t>conditions</a:t>
            </a:r>
            <a:endParaRPr lang="en-US" sz="28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Changes </a:t>
            </a:r>
            <a:r>
              <a:rPr lang="en-US" sz="2400" spc="5" dirty="0">
                <a:latin typeface="Times New Roman"/>
                <a:cs typeface="Times New Roman"/>
              </a:rPr>
              <a:t>to </a:t>
            </a:r>
            <a:r>
              <a:rPr lang="en-US" sz="2400" b="1" spc="-5" dirty="0">
                <a:latin typeface="Times New Roman"/>
                <a:cs typeface="Times New Roman"/>
              </a:rPr>
              <a:t>SW requirements </a:t>
            </a:r>
            <a:r>
              <a:rPr lang="en-US" sz="2400" dirty="0">
                <a:latin typeface="Times New Roman"/>
                <a:cs typeface="Times New Roman"/>
              </a:rPr>
              <a:t>or </a:t>
            </a:r>
            <a:r>
              <a:rPr lang="en-US" sz="2400" b="1" spc="-5" dirty="0">
                <a:latin typeface="Times New Roman"/>
                <a:cs typeface="Times New Roman"/>
              </a:rPr>
              <a:t>business</a:t>
            </a:r>
            <a:r>
              <a:rPr lang="en-US" sz="2400" b="1" spc="5" dirty="0"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rules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spc="-10" dirty="0">
                <a:latin typeface="Times New Roman"/>
                <a:cs typeface="Times New Roman"/>
              </a:rPr>
              <a:t>New </a:t>
            </a:r>
            <a:r>
              <a:rPr lang="en-US" sz="2800" b="1" spc="-5" dirty="0">
                <a:latin typeface="Times New Roman"/>
                <a:cs typeface="Times New Roman"/>
              </a:rPr>
              <a:t>customer</a:t>
            </a:r>
            <a:r>
              <a:rPr lang="en-US" sz="2800" b="1" spc="-25" dirty="0">
                <a:latin typeface="Times New Roman"/>
                <a:cs typeface="Times New Roman"/>
              </a:rPr>
              <a:t> </a:t>
            </a:r>
            <a:r>
              <a:rPr lang="en-US" sz="2800" b="1" spc="-10" dirty="0">
                <a:latin typeface="Times New Roman"/>
                <a:cs typeface="Times New Roman"/>
              </a:rPr>
              <a:t>needs</a:t>
            </a:r>
            <a:endParaRPr lang="en-US" sz="28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015" algn="l"/>
                <a:tab pos="75565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demand modification </a:t>
            </a:r>
            <a:r>
              <a:rPr lang="en-US" sz="2400" dirty="0">
                <a:latin typeface="Times New Roman"/>
                <a:cs typeface="Times New Roman"/>
              </a:rPr>
              <a:t>of data, functionality, or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services</a:t>
            </a:r>
          </a:p>
          <a:p>
            <a:pPr marL="355600"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Business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b="1" spc="-5" dirty="0">
                <a:latin typeface="Times New Roman"/>
                <a:cs typeface="Times New Roman"/>
              </a:rPr>
              <a:t>reorganization</a:t>
            </a:r>
            <a:endParaRPr lang="en-US" sz="2800" dirty="0">
              <a:latin typeface="Times New Roman"/>
              <a:cs typeface="Times New Roman"/>
            </a:endParaRPr>
          </a:p>
          <a:p>
            <a:pPr marL="755650" marR="967105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  <a:tab pos="75565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causes </a:t>
            </a:r>
            <a:r>
              <a:rPr lang="en-US" sz="2400" dirty="0">
                <a:latin typeface="Times New Roman"/>
                <a:cs typeface="Times New Roman"/>
              </a:rPr>
              <a:t>changes </a:t>
            </a:r>
            <a:r>
              <a:rPr lang="en-US" sz="2400" spc="5" dirty="0">
                <a:latin typeface="Times New Roman"/>
                <a:cs typeface="Times New Roman"/>
              </a:rPr>
              <a:t>in </a:t>
            </a:r>
            <a:r>
              <a:rPr lang="en-US" sz="2400" dirty="0">
                <a:latin typeface="Times New Roman"/>
                <a:cs typeface="Times New Roman"/>
              </a:rPr>
              <a:t>project priorities or </a:t>
            </a:r>
            <a:r>
              <a:rPr lang="en-US" sz="2400" spc="-5" dirty="0">
                <a:latin typeface="Times New Roman"/>
                <a:cs typeface="Times New Roman"/>
              </a:rPr>
              <a:t>software  </a:t>
            </a:r>
            <a:r>
              <a:rPr lang="en-US" sz="2400" dirty="0">
                <a:latin typeface="Times New Roman"/>
                <a:cs typeface="Times New Roman"/>
              </a:rPr>
              <a:t>engineering team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structure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spc="-5" dirty="0">
                <a:latin typeface="Times New Roman"/>
                <a:cs typeface="Times New Roman"/>
              </a:rPr>
              <a:t>Budgetary </a:t>
            </a:r>
            <a:r>
              <a:rPr lang="en-US" sz="2800" dirty="0">
                <a:latin typeface="Times New Roman"/>
                <a:cs typeface="Times New Roman"/>
              </a:rPr>
              <a:t>or </a:t>
            </a:r>
            <a:r>
              <a:rPr lang="en-US" sz="2800" spc="-5" dirty="0">
                <a:latin typeface="Times New Roman"/>
                <a:cs typeface="Times New Roman"/>
              </a:rPr>
              <a:t>scheduling</a:t>
            </a:r>
            <a:r>
              <a:rPr lang="en-US" sz="2800" spc="20" dirty="0">
                <a:latin typeface="Times New Roman"/>
                <a:cs typeface="Times New Roman"/>
              </a:rPr>
              <a:t> </a:t>
            </a:r>
            <a:r>
              <a:rPr lang="en-US" sz="2800" b="1" spc="-5" dirty="0">
                <a:latin typeface="Times New Roman"/>
                <a:cs typeface="Times New Roman"/>
              </a:rPr>
              <a:t>constraints</a:t>
            </a:r>
            <a:endParaRPr lang="en-US" sz="2800" dirty="0">
              <a:latin typeface="Times New Roman"/>
              <a:cs typeface="Times New Roman"/>
            </a:endParaRPr>
          </a:p>
          <a:p>
            <a:pPr marL="831850" lvl="1" indent="-361950">
              <a:lnSpc>
                <a:spcPct val="100000"/>
              </a:lnSpc>
              <a:spcBef>
                <a:spcPts val="600"/>
              </a:spcBef>
              <a:buChar char="–"/>
              <a:tabLst>
                <a:tab pos="831215" algn="l"/>
                <a:tab pos="83185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cause </a:t>
            </a:r>
            <a:r>
              <a:rPr lang="en-US" sz="2400" dirty="0">
                <a:latin typeface="Times New Roman"/>
                <a:cs typeface="Times New Roman"/>
              </a:rPr>
              <a:t>system to be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redefined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0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SCM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14600"/>
            <a:ext cx="8382000" cy="353060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configuration management of a software system product involves four closely related activities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management: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keeping track of requests for changes to the software from customers and developers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out the costs and impact of making these changes, and deciding if and when the changes should be implemented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4284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SCM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209800"/>
            <a:ext cx="8051018" cy="3530600"/>
          </a:xfrm>
        </p:spPr>
        <p:txBody>
          <a:bodyPr>
            <a:noAutofit/>
          </a:bodyPr>
          <a:lstStyle/>
          <a:p>
            <a:pPr algn="just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management</a:t>
            </a:r>
          </a:p>
          <a:p>
            <a:pPr marL="0" indent="0" algn="just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keeping track of the multiple versions of system components and ensuring that changes made to components by different developers do not interfere with each other.</a:t>
            </a:r>
          </a:p>
          <a:p>
            <a:pPr algn="just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building </a:t>
            </a: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process of assembling program components, data, and libraries, and then compiling and linking these to create an executable system.</a:t>
            </a:r>
          </a:p>
        </p:txBody>
      </p:sp>
    </p:spTree>
    <p:extLst>
      <p:ext uri="{BB962C8B-B14F-4D97-AF65-F5344CB8AC3E}">
        <p14:creationId xmlns:p14="http://schemas.microsoft.com/office/powerpoint/2010/main" val="4000981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SCM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746218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management</a:t>
            </a:r>
          </a:p>
          <a:p>
            <a:pPr marL="0" indent="0" algn="just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preparing software for external release and keeping track of the system versions that have been released for customer use.</a:t>
            </a:r>
          </a:p>
        </p:txBody>
      </p:sp>
    </p:spTree>
    <p:extLst>
      <p:ext uri="{BB962C8B-B14F-4D97-AF65-F5344CB8AC3E}">
        <p14:creationId xmlns:p14="http://schemas.microsoft.com/office/powerpoint/2010/main" val="3525598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670018" cy="4216400"/>
          </a:xfrm>
        </p:spPr>
        <p:txBody>
          <a:bodyPr/>
          <a:lstStyle/>
          <a:p>
            <a:pPr marL="527050" indent="-51435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lang="en-US" sz="3200" b="1" spc="-5" dirty="0">
                <a:latin typeface="Times New Roman"/>
                <a:cs typeface="Times New Roman"/>
              </a:rPr>
              <a:t>Baseline</a:t>
            </a:r>
            <a:r>
              <a:rPr lang="en-US" sz="3200" b="1" spc="25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versions</a:t>
            </a:r>
          </a:p>
          <a:p>
            <a:pPr marL="527050" indent="-51435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lang="en-US" sz="3200" b="1" dirty="0">
                <a:latin typeface="Times New Roman"/>
                <a:cs typeface="Times New Roman"/>
              </a:rPr>
              <a:t>Intermediate </a:t>
            </a:r>
            <a:r>
              <a:rPr lang="en-US" sz="3200" spc="-5" dirty="0">
                <a:latin typeface="Times New Roman"/>
                <a:cs typeface="Times New Roman"/>
              </a:rPr>
              <a:t>versions,</a:t>
            </a:r>
            <a:r>
              <a:rPr lang="en-US" sz="3200" spc="30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/>
                <a:cs typeface="Times New Roman"/>
              </a:rPr>
              <a:t>and</a:t>
            </a:r>
          </a:p>
          <a:p>
            <a:pPr marL="527050" indent="-51435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526415" algn="l"/>
                <a:tab pos="527050" algn="l"/>
              </a:tabLst>
            </a:pPr>
            <a:r>
              <a:rPr lang="en-US" sz="3200" b="1" dirty="0">
                <a:latin typeface="Times New Roman"/>
                <a:cs typeface="Times New Roman"/>
              </a:rPr>
              <a:t>Revisions</a:t>
            </a:r>
            <a:endParaRPr lang="en-US"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4800" dirty="0">
              <a:latin typeface="Times New Roman"/>
              <a:cs typeface="Times New Roman"/>
            </a:endParaRPr>
          </a:p>
          <a:p>
            <a:pPr marL="527050" marR="5080" indent="-514350">
              <a:lnSpc>
                <a:spcPct val="100000"/>
              </a:lnSpc>
            </a:pPr>
            <a:r>
              <a:rPr lang="en-US" sz="3200" dirty="0">
                <a:latin typeface="Times New Roman"/>
                <a:cs typeface="Times New Roman"/>
              </a:rPr>
              <a:t>They </a:t>
            </a:r>
            <a:r>
              <a:rPr lang="en-US" sz="3200" spc="-5" dirty="0">
                <a:latin typeface="Times New Roman"/>
                <a:cs typeface="Times New Roman"/>
              </a:rPr>
              <a:t>are all quite different </a:t>
            </a:r>
            <a:r>
              <a:rPr lang="en-US" sz="3200" dirty="0">
                <a:latin typeface="Times New Roman"/>
                <a:cs typeface="Times New Roman"/>
              </a:rPr>
              <a:t>and serve </a:t>
            </a:r>
            <a:r>
              <a:rPr lang="en-US" sz="3200" spc="-5" dirty="0">
                <a:latin typeface="Times New Roman"/>
                <a:cs typeface="Times New Roman"/>
              </a:rPr>
              <a:t>different  </a:t>
            </a:r>
            <a:r>
              <a:rPr lang="en-US" sz="3200" dirty="0">
                <a:latin typeface="Times New Roman"/>
                <a:cs typeface="Times New Roman"/>
              </a:rPr>
              <a:t>needs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06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7822418" cy="3530600"/>
          </a:xfrm>
        </p:spPr>
        <p:txBody>
          <a:bodyPr>
            <a:noAutofit/>
          </a:bodyPr>
          <a:lstStyle/>
          <a:p>
            <a:pPr marL="355600"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3600" spc="-5" dirty="0">
                <a:latin typeface="Times New Roman"/>
                <a:cs typeface="Times New Roman"/>
              </a:rPr>
              <a:t>These are </a:t>
            </a:r>
            <a:r>
              <a:rPr lang="en-US" sz="3600" dirty="0">
                <a:latin typeface="Times New Roman"/>
                <a:cs typeface="Times New Roman"/>
              </a:rPr>
              <a:t>the</a:t>
            </a:r>
            <a:r>
              <a:rPr lang="en-US" sz="3600" spc="-30" dirty="0">
                <a:latin typeface="Times New Roman"/>
                <a:cs typeface="Times New Roman"/>
              </a:rPr>
              <a:t> </a:t>
            </a:r>
            <a:r>
              <a:rPr lang="en-US" sz="3600" b="1" spc="-5" dirty="0" err="1">
                <a:latin typeface="Times New Roman"/>
                <a:cs typeface="Times New Roman"/>
              </a:rPr>
              <a:t>bigges</a:t>
            </a:r>
            <a:r>
              <a:rPr lang="en-US" sz="3600" spc="-5" dirty="0">
                <a:latin typeface="Times New Roman"/>
                <a:cs typeface="Times New Roman"/>
              </a:rPr>
              <a:t>.</a:t>
            </a:r>
            <a:endParaRPr lang="en-US" sz="3600" dirty="0">
              <a:latin typeface="Times New Roman"/>
              <a:cs typeface="Times New Roman"/>
            </a:endParaRPr>
          </a:p>
          <a:p>
            <a:pPr marL="355600"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3600" spc="-5" dirty="0">
                <a:latin typeface="Times New Roman"/>
                <a:cs typeface="Times New Roman"/>
              </a:rPr>
              <a:t>Planned</a:t>
            </a:r>
            <a:r>
              <a:rPr lang="en-US" sz="3600" dirty="0">
                <a:latin typeface="Times New Roman"/>
                <a:cs typeface="Times New Roman"/>
              </a:rPr>
              <a:t> </a:t>
            </a:r>
            <a:r>
              <a:rPr lang="en-US" sz="3600" b="1" spc="-5" dirty="0">
                <a:latin typeface="Times New Roman"/>
                <a:cs typeface="Times New Roman"/>
              </a:rPr>
              <a:t>early</a:t>
            </a:r>
            <a:endParaRPr lang="en-US" sz="3600" dirty="0">
              <a:latin typeface="Times New Roman"/>
              <a:cs typeface="Times New Roman"/>
            </a:endParaRPr>
          </a:p>
          <a:p>
            <a:pPr marL="355600"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3600" spc="-10" dirty="0">
                <a:latin typeface="Times New Roman"/>
                <a:cs typeface="Times New Roman"/>
              </a:rPr>
              <a:t>Reviewed,</a:t>
            </a:r>
            <a:r>
              <a:rPr lang="en-US" sz="3600" spc="-25" dirty="0">
                <a:latin typeface="Times New Roman"/>
                <a:cs typeface="Times New Roman"/>
              </a:rPr>
              <a:t> </a:t>
            </a:r>
            <a:r>
              <a:rPr lang="en-US" sz="3600" spc="-5" dirty="0">
                <a:latin typeface="Times New Roman"/>
                <a:cs typeface="Times New Roman"/>
              </a:rPr>
              <a:t>tested</a:t>
            </a:r>
            <a:endParaRPr lang="en-US" sz="3600" dirty="0">
              <a:latin typeface="Times New Roman"/>
              <a:cs typeface="Times New Roman"/>
            </a:endParaRPr>
          </a:p>
          <a:p>
            <a:pPr marL="355600" marR="5080"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3600" spc="-5" dirty="0">
                <a:latin typeface="Times New Roman"/>
                <a:cs typeface="Times New Roman"/>
              </a:rPr>
              <a:t>These are </a:t>
            </a:r>
            <a:r>
              <a:rPr lang="en-US" sz="3600" b="1" spc="-5" dirty="0">
                <a:latin typeface="Times New Roman"/>
                <a:cs typeface="Times New Roman"/>
              </a:rPr>
              <a:t>milestone </a:t>
            </a:r>
            <a:r>
              <a:rPr lang="en-US" sz="3600" dirty="0">
                <a:latin typeface="Times New Roman"/>
                <a:cs typeface="Times New Roman"/>
              </a:rPr>
              <a:t>in the </a:t>
            </a:r>
            <a:r>
              <a:rPr lang="en-US" sz="3600" spc="-5" dirty="0">
                <a:latin typeface="Times New Roman"/>
                <a:cs typeface="Times New Roman"/>
              </a:rPr>
              <a:t>software system’s </a:t>
            </a:r>
            <a:r>
              <a:rPr lang="en-US" sz="3600" b="1" dirty="0">
                <a:latin typeface="Times New Roman"/>
                <a:cs typeface="Times New Roman"/>
              </a:rPr>
              <a:t>life  </a:t>
            </a:r>
            <a:r>
              <a:rPr lang="en-US" sz="3600" b="1" spc="-10" dirty="0">
                <a:latin typeface="Times New Roman"/>
                <a:cs typeface="Times New Roman"/>
              </a:rPr>
              <a:t>cycle</a:t>
            </a:r>
            <a:r>
              <a:rPr lang="en-US" sz="3600" spc="-10" dirty="0">
                <a:latin typeface="Times New Roman"/>
                <a:cs typeface="Times New Roman"/>
              </a:rPr>
              <a:t>.</a:t>
            </a:r>
            <a:endParaRPr lang="en-US" sz="3600" dirty="0">
              <a:latin typeface="Times New Roman"/>
              <a:cs typeface="Times New Roman"/>
            </a:endParaRPr>
          </a:p>
          <a:p>
            <a:pPr marL="355600"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3600" spc="-5" dirty="0">
                <a:latin typeface="Times New Roman"/>
                <a:cs typeface="Times New Roman"/>
              </a:rPr>
              <a:t>These are </a:t>
            </a:r>
            <a:r>
              <a:rPr lang="en-US" sz="3600" dirty="0">
                <a:latin typeface="Times New Roman"/>
                <a:cs typeface="Times New Roman"/>
              </a:rPr>
              <a:t>the </a:t>
            </a:r>
            <a:r>
              <a:rPr lang="en-US" sz="3600" b="1" dirty="0">
                <a:latin typeface="Times New Roman"/>
                <a:cs typeface="Times New Roman"/>
              </a:rPr>
              <a:t>major</a:t>
            </a:r>
            <a:r>
              <a:rPr lang="en-US" sz="3600" b="1" spc="-35" dirty="0">
                <a:latin typeface="Times New Roman"/>
                <a:cs typeface="Times New Roman"/>
              </a:rPr>
              <a:t> </a:t>
            </a:r>
            <a:r>
              <a:rPr lang="en-US" sz="3600" b="1" spc="-5" dirty="0">
                <a:latin typeface="Times New Roman"/>
                <a:cs typeface="Times New Roman"/>
              </a:rPr>
              <a:t>releases</a:t>
            </a:r>
            <a:r>
              <a:rPr lang="en-US" sz="3600" spc="-5" dirty="0">
                <a:latin typeface="Times New Roman"/>
                <a:cs typeface="Times New Roman"/>
              </a:rPr>
              <a:t>!</a:t>
            </a:r>
            <a:endParaRPr lang="en-US" sz="3600" dirty="0">
              <a:latin typeface="Times New Roman"/>
              <a:cs typeface="Times New Roman"/>
            </a:endParaRPr>
          </a:p>
          <a:p>
            <a:pPr marL="355600" marR="480695"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3600" spc="-5" dirty="0">
                <a:latin typeface="Times New Roman"/>
                <a:cs typeface="Times New Roman"/>
              </a:rPr>
              <a:t>Usually </a:t>
            </a:r>
            <a:r>
              <a:rPr lang="en-US" sz="3600" b="1" dirty="0">
                <a:latin typeface="Times New Roman"/>
                <a:cs typeface="Times New Roman"/>
              </a:rPr>
              <a:t>have major </a:t>
            </a:r>
            <a:r>
              <a:rPr lang="en-US" sz="3600" b="1" spc="-5" dirty="0">
                <a:latin typeface="Times New Roman"/>
                <a:cs typeface="Times New Roman"/>
              </a:rPr>
              <a:t>changes </a:t>
            </a:r>
            <a:r>
              <a:rPr lang="en-US" sz="3600" b="1" dirty="0">
                <a:latin typeface="Times New Roman"/>
                <a:cs typeface="Times New Roman"/>
              </a:rPr>
              <a:t>or </a:t>
            </a:r>
            <a:r>
              <a:rPr lang="en-US" sz="3600" b="1" spc="-5" dirty="0">
                <a:latin typeface="Times New Roman"/>
                <a:cs typeface="Times New Roman"/>
              </a:rPr>
              <a:t>upgrades </a:t>
            </a:r>
            <a:r>
              <a:rPr lang="en-US" sz="3600" dirty="0">
                <a:latin typeface="Times New Roman"/>
                <a:cs typeface="Times New Roman"/>
              </a:rPr>
              <a:t>or  </a:t>
            </a:r>
            <a:r>
              <a:rPr lang="en-US" sz="3600" spc="-10" dirty="0">
                <a:latin typeface="Times New Roman"/>
                <a:cs typeface="Times New Roman"/>
              </a:rPr>
              <a:t>enhancements.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5592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517618" cy="3530600"/>
          </a:xfrm>
        </p:spPr>
        <p:txBody>
          <a:bodyPr>
            <a:normAutofit fontScale="92500"/>
          </a:bodyPr>
          <a:lstStyle/>
          <a:p>
            <a:pPr marL="355600" marR="538480"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A work product becomes a </a:t>
            </a:r>
            <a:r>
              <a:rPr lang="en-US" sz="2800" spc="-5" dirty="0">
                <a:latin typeface="Times New Roman"/>
                <a:cs typeface="Times New Roman"/>
              </a:rPr>
              <a:t>baseline only  after it is </a:t>
            </a:r>
            <a:r>
              <a:rPr lang="en-US" sz="2800" b="1" dirty="0">
                <a:latin typeface="Times New Roman"/>
                <a:cs typeface="Times New Roman"/>
              </a:rPr>
              <a:t>reviewed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40" dirty="0">
                <a:latin typeface="Times New Roman"/>
                <a:cs typeface="Times New Roman"/>
              </a:rPr>
              <a:t> </a:t>
            </a:r>
            <a:r>
              <a:rPr lang="en-US" sz="2800" b="1" spc="5" dirty="0">
                <a:latin typeface="Times New Roman"/>
                <a:cs typeface="Times New Roman"/>
              </a:rPr>
              <a:t>approved</a:t>
            </a:r>
            <a:r>
              <a:rPr lang="en-US" sz="2800" spc="5" dirty="0">
                <a:latin typeface="Times New Roman"/>
                <a:cs typeface="Times New Roman"/>
              </a:rPr>
              <a:t>.</a:t>
            </a:r>
            <a:endParaRPr lang="en-US" sz="2800" dirty="0">
              <a:latin typeface="Times New Roman"/>
              <a:cs typeface="Times New Roman"/>
            </a:endParaRPr>
          </a:p>
          <a:p>
            <a:pPr marL="355600" marR="135255"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A </a:t>
            </a:r>
            <a:r>
              <a:rPr lang="en-US" sz="2800" spc="-5" dirty="0">
                <a:latin typeface="Times New Roman"/>
                <a:cs typeface="Times New Roman"/>
              </a:rPr>
              <a:t>baseline is </a:t>
            </a:r>
            <a:r>
              <a:rPr lang="en-US" sz="2800" dirty="0">
                <a:latin typeface="Times New Roman"/>
                <a:cs typeface="Times New Roman"/>
              </a:rPr>
              <a:t>a </a:t>
            </a:r>
            <a:r>
              <a:rPr lang="en-US" sz="2800" b="1" dirty="0">
                <a:latin typeface="Times New Roman"/>
                <a:cs typeface="Times New Roman"/>
              </a:rPr>
              <a:t>milestone </a:t>
            </a:r>
            <a:r>
              <a:rPr lang="en-US" sz="2800" spc="-5" dirty="0">
                <a:latin typeface="Times New Roman"/>
                <a:cs typeface="Times New Roman"/>
              </a:rPr>
              <a:t>in software  development </a:t>
            </a:r>
            <a:r>
              <a:rPr lang="en-US" sz="2800" dirty="0">
                <a:latin typeface="Times New Roman"/>
                <a:cs typeface="Times New Roman"/>
              </a:rPr>
              <a:t>that </a:t>
            </a:r>
            <a:r>
              <a:rPr lang="en-US" sz="2800" spc="-5" dirty="0">
                <a:latin typeface="Times New Roman"/>
                <a:cs typeface="Times New Roman"/>
              </a:rPr>
              <a:t>is marked </a:t>
            </a:r>
            <a:r>
              <a:rPr lang="en-US" sz="2800" dirty="0">
                <a:latin typeface="Times New Roman"/>
                <a:cs typeface="Times New Roman"/>
              </a:rPr>
              <a:t>by </a:t>
            </a:r>
            <a:r>
              <a:rPr lang="en-US" sz="2800" spc="-5" dirty="0">
                <a:latin typeface="Times New Roman"/>
                <a:cs typeface="Times New Roman"/>
              </a:rPr>
              <a:t>the delivery  </a:t>
            </a:r>
            <a:r>
              <a:rPr lang="en-US" sz="2800" dirty="0">
                <a:latin typeface="Times New Roman"/>
                <a:cs typeface="Times New Roman"/>
              </a:rPr>
              <a:t>of one or </a:t>
            </a:r>
            <a:r>
              <a:rPr lang="en-US" sz="2800" spc="-5" dirty="0">
                <a:latin typeface="Times New Roman"/>
                <a:cs typeface="Times New Roman"/>
              </a:rPr>
              <a:t>more </a:t>
            </a:r>
            <a:r>
              <a:rPr lang="en-US" sz="2800" b="1" dirty="0">
                <a:latin typeface="Times New Roman"/>
                <a:cs typeface="Times New Roman"/>
              </a:rPr>
              <a:t>configuration</a:t>
            </a:r>
            <a:r>
              <a:rPr lang="en-US" sz="2800" b="1" spc="35" dirty="0">
                <a:latin typeface="Times New Roman"/>
                <a:cs typeface="Times New Roman"/>
              </a:rPr>
              <a:t> </a:t>
            </a:r>
            <a:r>
              <a:rPr lang="en-US" sz="2800" b="1" spc="10" dirty="0">
                <a:latin typeface="Times New Roman"/>
                <a:cs typeface="Times New Roman"/>
              </a:rPr>
              <a:t>items</a:t>
            </a:r>
            <a:r>
              <a:rPr lang="en-US" sz="2800" spc="10" dirty="0">
                <a:latin typeface="Times New Roman"/>
                <a:cs typeface="Times New Roman"/>
              </a:rPr>
              <a:t>.</a:t>
            </a:r>
            <a:endParaRPr lang="en-US" sz="2800" dirty="0">
              <a:latin typeface="Times New Roman"/>
              <a:cs typeface="Times New Roman"/>
            </a:endParaRPr>
          </a:p>
          <a:p>
            <a:pPr marL="355600" marR="5080">
              <a:lnSpc>
                <a:spcPct val="99900"/>
              </a:lnSpc>
              <a:spcBef>
                <a:spcPts val="79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Once a baseline </a:t>
            </a:r>
            <a:r>
              <a:rPr lang="en-US" sz="2800" spc="-5" dirty="0">
                <a:latin typeface="Times New Roman"/>
                <a:cs typeface="Times New Roman"/>
              </a:rPr>
              <a:t>is established </a:t>
            </a:r>
            <a:r>
              <a:rPr lang="en-US" sz="2800" dirty="0">
                <a:latin typeface="Times New Roman"/>
                <a:cs typeface="Times New Roman"/>
              </a:rPr>
              <a:t>each </a:t>
            </a:r>
            <a:r>
              <a:rPr lang="en-US" sz="2800" b="1" dirty="0">
                <a:latin typeface="Times New Roman"/>
                <a:cs typeface="Times New Roman"/>
              </a:rPr>
              <a:t>change  request </a:t>
            </a:r>
            <a:r>
              <a:rPr lang="en-US" sz="2800" spc="-5" dirty="0">
                <a:latin typeface="Times New Roman"/>
                <a:cs typeface="Times New Roman"/>
              </a:rPr>
              <a:t>must </a:t>
            </a:r>
            <a:r>
              <a:rPr lang="en-US" sz="2800" dirty="0">
                <a:latin typeface="Times New Roman"/>
                <a:cs typeface="Times New Roman"/>
              </a:rPr>
              <a:t>be </a:t>
            </a:r>
            <a:r>
              <a:rPr lang="en-US" sz="2800" spc="-5" dirty="0">
                <a:latin typeface="Times New Roman"/>
                <a:cs typeface="Times New Roman"/>
              </a:rPr>
              <a:t>evaluated and verified </a:t>
            </a:r>
            <a:r>
              <a:rPr lang="en-US" sz="2800" dirty="0">
                <a:latin typeface="Times New Roman"/>
                <a:cs typeface="Times New Roman"/>
              </a:rPr>
              <a:t>by a  </a:t>
            </a:r>
            <a:r>
              <a:rPr lang="en-US" sz="2800" b="1" spc="5" dirty="0">
                <a:latin typeface="Times New Roman"/>
                <a:cs typeface="Times New Roman"/>
              </a:rPr>
              <a:t>formal </a:t>
            </a:r>
            <a:r>
              <a:rPr lang="en-US" sz="2800" b="1" dirty="0">
                <a:latin typeface="Times New Roman"/>
                <a:cs typeface="Times New Roman"/>
              </a:rPr>
              <a:t>or </a:t>
            </a:r>
            <a:r>
              <a:rPr lang="en-US" sz="2800" b="1" spc="5" dirty="0">
                <a:latin typeface="Times New Roman"/>
                <a:cs typeface="Times New Roman"/>
              </a:rPr>
              <a:t>informal </a:t>
            </a:r>
            <a:r>
              <a:rPr lang="en-US" sz="2800" dirty="0">
                <a:latin typeface="Times New Roman"/>
                <a:cs typeface="Times New Roman"/>
              </a:rPr>
              <a:t>procedure </a:t>
            </a:r>
            <a:r>
              <a:rPr lang="en-US" sz="2800" spc="-5" dirty="0">
                <a:latin typeface="Times New Roman"/>
                <a:cs typeface="Times New Roman"/>
              </a:rPr>
              <a:t>before it is  </a:t>
            </a:r>
            <a:r>
              <a:rPr lang="en-US" sz="2800" dirty="0">
                <a:latin typeface="Times New Roman"/>
                <a:cs typeface="Times New Roman"/>
              </a:rPr>
              <a:t>processed.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1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593818" cy="3530600"/>
          </a:xfrm>
        </p:spPr>
        <p:txBody>
          <a:bodyPr>
            <a:normAutofit lnSpcReduction="10000"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spc="-5" dirty="0">
                <a:latin typeface="Times New Roman"/>
                <a:cs typeface="Times New Roman"/>
              </a:rPr>
              <a:t>Usually designed </a:t>
            </a:r>
            <a:r>
              <a:rPr lang="en-US" sz="2400" dirty="0">
                <a:latin typeface="Times New Roman"/>
                <a:cs typeface="Times New Roman"/>
              </a:rPr>
              <a:t>to </a:t>
            </a:r>
            <a:r>
              <a:rPr lang="en-US" sz="2400" spc="-5" dirty="0">
                <a:latin typeface="Times New Roman"/>
                <a:cs typeface="Times New Roman"/>
              </a:rPr>
              <a:t>address </a:t>
            </a:r>
            <a:r>
              <a:rPr lang="en-US" sz="2400" b="1" spc="-5" dirty="0">
                <a:latin typeface="Times New Roman"/>
                <a:cs typeface="Times New Roman"/>
              </a:rPr>
              <a:t>immediate problems </a:t>
            </a:r>
            <a:r>
              <a:rPr lang="en-US" sz="2400" spc="-5" dirty="0">
                <a:latin typeface="Times New Roman"/>
                <a:cs typeface="Times New Roman"/>
              </a:rPr>
              <a:t>as  </a:t>
            </a:r>
            <a:r>
              <a:rPr lang="en-US" sz="2400" dirty="0">
                <a:latin typeface="Times New Roman"/>
                <a:cs typeface="Times New Roman"/>
              </a:rPr>
              <a:t>to </a:t>
            </a:r>
            <a:r>
              <a:rPr lang="en-US" sz="2400" b="1" spc="-10" dirty="0">
                <a:latin typeface="Times New Roman"/>
                <a:cs typeface="Times New Roman"/>
              </a:rPr>
              <a:t>correct </a:t>
            </a:r>
            <a:r>
              <a:rPr lang="en-US" sz="2400" b="1" spc="-5" dirty="0">
                <a:latin typeface="Times New Roman"/>
                <a:cs typeface="Times New Roman"/>
              </a:rPr>
              <a:t>defects </a:t>
            </a:r>
            <a:r>
              <a:rPr lang="en-US" sz="2400" dirty="0">
                <a:latin typeface="Times New Roman"/>
                <a:cs typeface="Times New Roman"/>
              </a:rPr>
              <a:t>in </a:t>
            </a:r>
            <a:r>
              <a:rPr lang="en-US" sz="2400" spc="-5" dirty="0">
                <a:latin typeface="Times New Roman"/>
                <a:cs typeface="Times New Roman"/>
              </a:rPr>
              <a:t>an important SCI </a:t>
            </a:r>
            <a:r>
              <a:rPr lang="en-US" sz="2400" dirty="0">
                <a:latin typeface="Times New Roman"/>
                <a:cs typeface="Times New Roman"/>
              </a:rPr>
              <a:t>or to include  </a:t>
            </a:r>
            <a:r>
              <a:rPr lang="en-US" sz="2400" spc="-10" dirty="0">
                <a:latin typeface="Times New Roman"/>
                <a:cs typeface="Times New Roman"/>
              </a:rPr>
              <a:t>an </a:t>
            </a:r>
            <a:r>
              <a:rPr lang="en-US" sz="2400" b="1" dirty="0">
                <a:latin typeface="Times New Roman"/>
                <a:cs typeface="Times New Roman"/>
              </a:rPr>
              <a:t>immediate adaptations </a:t>
            </a:r>
            <a:r>
              <a:rPr lang="en-US" sz="2400" spc="-5" dirty="0">
                <a:latin typeface="Times New Roman"/>
                <a:cs typeface="Times New Roman"/>
              </a:rPr>
              <a:t>for </a:t>
            </a:r>
            <a:r>
              <a:rPr lang="en-US" sz="2400" dirty="0">
                <a:latin typeface="Times New Roman"/>
                <a:cs typeface="Times New Roman"/>
              </a:rPr>
              <a:t>a new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customer.</a:t>
            </a:r>
            <a:endParaRPr lang="en-US" sz="2400" dirty="0">
              <a:latin typeface="Times New Roman"/>
              <a:cs typeface="Times New Roman"/>
            </a:endParaRPr>
          </a:p>
          <a:p>
            <a:pPr marL="137795" indent="-125730" algn="just">
              <a:lnSpc>
                <a:spcPct val="100000"/>
              </a:lnSpc>
              <a:spcBef>
                <a:spcPts val="700"/>
              </a:spcBef>
              <a:buSzPct val="96428"/>
              <a:buChar char="•"/>
              <a:tabLst>
                <a:tab pos="13843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This </a:t>
            </a:r>
            <a:r>
              <a:rPr lang="en-US" sz="2400" dirty="0">
                <a:latin typeface="Times New Roman"/>
                <a:cs typeface="Times New Roman"/>
              </a:rPr>
              <a:t>is </a:t>
            </a:r>
            <a:r>
              <a:rPr lang="en-US" sz="2400" spc="-10" dirty="0">
                <a:latin typeface="Times New Roman"/>
                <a:cs typeface="Times New Roman"/>
              </a:rPr>
              <a:t>an </a:t>
            </a:r>
            <a:r>
              <a:rPr lang="en-US" sz="2400" b="1" spc="-5" dirty="0">
                <a:latin typeface="Times New Roman"/>
                <a:cs typeface="Times New Roman"/>
              </a:rPr>
              <a:t>intermediate </a:t>
            </a:r>
            <a:r>
              <a:rPr lang="en-US" sz="2400" b="1" dirty="0">
                <a:latin typeface="Times New Roman"/>
                <a:cs typeface="Times New Roman"/>
              </a:rPr>
              <a:t>version </a:t>
            </a:r>
            <a:r>
              <a:rPr lang="en-US" sz="2400" dirty="0">
                <a:latin typeface="Times New Roman"/>
                <a:cs typeface="Times New Roman"/>
              </a:rPr>
              <a:t>of the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software.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389255" algn="just">
              <a:lnSpc>
                <a:spcPct val="100000"/>
              </a:lnSpc>
              <a:spcBef>
                <a:spcPts val="690"/>
              </a:spcBef>
              <a:buSzPct val="96428"/>
              <a:buChar char="•"/>
              <a:tabLst>
                <a:tab pos="13843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May </a:t>
            </a:r>
            <a:r>
              <a:rPr lang="en-US" sz="2400" dirty="0">
                <a:latin typeface="Times New Roman"/>
                <a:cs typeface="Times New Roman"/>
              </a:rPr>
              <a:t>be done to </a:t>
            </a:r>
            <a:r>
              <a:rPr lang="en-US" sz="2400" spc="-5" dirty="0">
                <a:latin typeface="Times New Roman"/>
                <a:cs typeface="Times New Roman"/>
              </a:rPr>
              <a:t>serve </a:t>
            </a:r>
            <a:r>
              <a:rPr lang="en-US" sz="2400" dirty="0">
                <a:latin typeface="Times New Roman"/>
                <a:cs typeface="Times New Roman"/>
              </a:rPr>
              <a:t>only a </a:t>
            </a:r>
            <a:r>
              <a:rPr lang="en-US" sz="2400" spc="-10" dirty="0">
                <a:latin typeface="Times New Roman"/>
                <a:cs typeface="Times New Roman"/>
              </a:rPr>
              <a:t>small </a:t>
            </a:r>
            <a:r>
              <a:rPr lang="en-US" sz="2400" spc="-5" dirty="0">
                <a:latin typeface="Times New Roman"/>
                <a:cs typeface="Times New Roman"/>
              </a:rPr>
              <a:t>segment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8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  </a:t>
            </a:r>
            <a:r>
              <a:rPr lang="en-US" sz="2400" spc="-10" dirty="0">
                <a:latin typeface="Times New Roman"/>
                <a:cs typeface="Times New Roman"/>
              </a:rPr>
              <a:t>firm’s </a:t>
            </a:r>
            <a:r>
              <a:rPr lang="en-US" sz="2400" spc="-5" dirty="0">
                <a:latin typeface="Times New Roman"/>
                <a:cs typeface="Times New Roman"/>
              </a:rPr>
              <a:t>clients; </a:t>
            </a:r>
            <a:r>
              <a:rPr lang="en-US" sz="2400" dirty="0">
                <a:latin typeface="Times New Roman"/>
                <a:cs typeface="Times New Roman"/>
              </a:rPr>
              <a:t>perhaps </a:t>
            </a:r>
            <a:r>
              <a:rPr lang="en-US" sz="2400" spc="-5" dirty="0">
                <a:latin typeface="Times New Roman"/>
                <a:cs typeface="Times New Roman"/>
              </a:rPr>
              <a:t>for </a:t>
            </a: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spc="-5" dirty="0">
                <a:latin typeface="Times New Roman"/>
                <a:cs typeface="Times New Roman"/>
              </a:rPr>
              <a:t>limited </a:t>
            </a:r>
            <a:r>
              <a:rPr lang="en-US" sz="2400" dirty="0">
                <a:latin typeface="Times New Roman"/>
                <a:cs typeface="Times New Roman"/>
              </a:rPr>
              <a:t>period until a  </a:t>
            </a:r>
            <a:r>
              <a:rPr lang="en-US" sz="2400" b="1" spc="-10" dirty="0">
                <a:latin typeface="Times New Roman"/>
                <a:cs typeface="Times New Roman"/>
              </a:rPr>
              <a:t>new </a:t>
            </a:r>
            <a:r>
              <a:rPr lang="en-US" sz="2400" b="1" spc="-5" dirty="0">
                <a:latin typeface="Times New Roman"/>
                <a:cs typeface="Times New Roman"/>
              </a:rPr>
              <a:t>baseline is</a:t>
            </a:r>
            <a:r>
              <a:rPr lang="en-US" sz="2400" b="1" spc="-35" dirty="0"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latin typeface="Times New Roman"/>
                <a:cs typeface="Times New Roman"/>
              </a:rPr>
              <a:t>developed</a:t>
            </a:r>
            <a:r>
              <a:rPr lang="en-US" sz="2400" spc="-5" dirty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  <a:p>
            <a:pPr marL="12700" marR="443865" algn="just">
              <a:lnSpc>
                <a:spcPct val="100000"/>
              </a:lnSpc>
              <a:spcBef>
                <a:spcPts val="700"/>
              </a:spcBef>
              <a:buSzPct val="96428"/>
              <a:buChar char="•"/>
              <a:tabLst>
                <a:tab pos="13843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Realize </a:t>
            </a:r>
            <a:r>
              <a:rPr lang="en-US" sz="2400" dirty="0">
                <a:latin typeface="Times New Roman"/>
                <a:cs typeface="Times New Roman"/>
              </a:rPr>
              <a:t>that </a:t>
            </a:r>
            <a:r>
              <a:rPr lang="en-US" sz="2400" spc="-5" dirty="0">
                <a:latin typeface="Times New Roman"/>
                <a:cs typeface="Times New Roman"/>
              </a:rPr>
              <a:t>all clients </a:t>
            </a:r>
            <a:r>
              <a:rPr lang="en-US" sz="2400" spc="-15" dirty="0">
                <a:latin typeface="Times New Roman"/>
                <a:cs typeface="Times New Roman"/>
              </a:rPr>
              <a:t>may </a:t>
            </a:r>
            <a:r>
              <a:rPr lang="en-US" sz="2400" dirty="0">
                <a:latin typeface="Times New Roman"/>
                <a:cs typeface="Times New Roman"/>
              </a:rPr>
              <a:t>not be using the</a:t>
            </a:r>
            <a:r>
              <a:rPr lang="en-US" sz="2400" spc="-1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same  </a:t>
            </a:r>
            <a:r>
              <a:rPr lang="en-US" sz="2400" spc="-5" dirty="0">
                <a:latin typeface="Times New Roman"/>
                <a:cs typeface="Times New Roman"/>
              </a:rPr>
              <a:t>version </a:t>
            </a:r>
            <a:r>
              <a:rPr lang="en-US" sz="2400" dirty="0">
                <a:latin typeface="Times New Roman"/>
                <a:cs typeface="Times New Roman"/>
              </a:rPr>
              <a:t>of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software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052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974818" cy="3530600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Definition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 Adjusted versions of an existing baseline or intermediate version.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Purpose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 Focuses on fixing issues, improving performance, or refining details.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Characteristics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Typically involves minor 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changes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Addresses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bugs, inconsistencies, or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268736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 Process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032" y="2590800"/>
            <a:ext cx="582561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7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Codeline</a:t>
            </a:r>
            <a:r>
              <a:rPr lang="en-US" dirty="0"/>
              <a:t> and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593818" cy="3530600"/>
          </a:xfrm>
        </p:spPr>
        <p:txBody>
          <a:bodyPr>
            <a:normAutofit/>
          </a:bodyPr>
          <a:lstStyle/>
          <a:p>
            <a:r>
              <a:rPr lang="en-US" sz="2400" dirty="0"/>
              <a:t> A </a:t>
            </a:r>
            <a:r>
              <a:rPr lang="en-US" sz="2400" dirty="0" err="1"/>
              <a:t>codeline</a:t>
            </a:r>
            <a:r>
              <a:rPr lang="en-US" sz="2400" dirty="0"/>
              <a:t> is a sequence of revisions of a configuration item – In essence, a branch </a:t>
            </a:r>
          </a:p>
          <a:p>
            <a:r>
              <a:rPr lang="en-US" sz="2400" dirty="0"/>
              <a:t>A baseline is a collection of component versions that make up a system.</a:t>
            </a:r>
          </a:p>
        </p:txBody>
      </p:sp>
    </p:spTree>
    <p:extLst>
      <p:ext uri="{BB962C8B-B14F-4D97-AF65-F5344CB8AC3E}">
        <p14:creationId xmlns:p14="http://schemas.microsoft.com/office/powerpoint/2010/main" val="924843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767080"/>
            <a:ext cx="6685280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6945" marR="5080" indent="-22148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Configuration Management  Activities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2133600"/>
            <a:ext cx="7746218" cy="3883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40"/>
              </a:spcBef>
              <a:buNone/>
            </a:pPr>
            <a:endParaRPr sz="4600" dirty="0"/>
          </a:p>
          <a:p>
            <a:pPr marL="768350" lvl="1" indent="-284480">
              <a:lnSpc>
                <a:spcPct val="100000"/>
              </a:lnSpc>
              <a:buChar char="–"/>
              <a:tabLst>
                <a:tab pos="768350" algn="l"/>
              </a:tabLst>
            </a:pPr>
            <a:r>
              <a:rPr sz="2800" spc="-5" dirty="0">
                <a:latin typeface="Times New Roman"/>
                <a:cs typeface="Times New Roman"/>
              </a:rPr>
              <a:t>Configuration item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identification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4480">
              <a:lnSpc>
                <a:spcPct val="100000"/>
              </a:lnSpc>
              <a:spcBef>
                <a:spcPts val="700"/>
              </a:spcBef>
              <a:buChar char="–"/>
              <a:tabLst>
                <a:tab pos="768350" algn="l"/>
              </a:tabLst>
            </a:pPr>
            <a:r>
              <a:rPr sz="2800" spc="-5" dirty="0">
                <a:latin typeface="Times New Roman"/>
                <a:cs typeface="Times New Roman"/>
              </a:rPr>
              <a:t>Promotion</a:t>
            </a:r>
            <a:r>
              <a:rPr sz="2800" spc="-10" dirty="0">
                <a:latin typeface="Times New Roman"/>
                <a:cs typeface="Times New Roman"/>
              </a:rPr>
              <a:t> management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4480">
              <a:lnSpc>
                <a:spcPct val="100000"/>
              </a:lnSpc>
              <a:spcBef>
                <a:spcPts val="690"/>
              </a:spcBef>
              <a:buChar char="–"/>
              <a:tabLst>
                <a:tab pos="768350" algn="l"/>
              </a:tabLst>
            </a:pPr>
            <a:r>
              <a:rPr sz="2800" spc="-5" dirty="0">
                <a:latin typeface="Times New Roman"/>
                <a:cs typeface="Times New Roman"/>
              </a:rPr>
              <a:t>Release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4480">
              <a:lnSpc>
                <a:spcPct val="100000"/>
              </a:lnSpc>
              <a:spcBef>
                <a:spcPts val="700"/>
              </a:spcBef>
              <a:buChar char="–"/>
              <a:tabLst>
                <a:tab pos="768350" algn="l"/>
              </a:tabLst>
            </a:pPr>
            <a:r>
              <a:rPr sz="2800" spc="-5" dirty="0">
                <a:latin typeface="Times New Roman"/>
                <a:cs typeface="Times New Roman"/>
              </a:rPr>
              <a:t>Branch</a:t>
            </a:r>
            <a:r>
              <a:rPr sz="2800" spc="-10" dirty="0">
                <a:latin typeface="Times New Roman"/>
                <a:cs typeface="Times New Roman"/>
              </a:rPr>
              <a:t> management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4480">
              <a:lnSpc>
                <a:spcPct val="100000"/>
              </a:lnSpc>
              <a:spcBef>
                <a:spcPts val="700"/>
              </a:spcBef>
              <a:buChar char="–"/>
              <a:tabLst>
                <a:tab pos="768350" algn="l"/>
              </a:tabLst>
            </a:pPr>
            <a:r>
              <a:rPr sz="2800" spc="-5" dirty="0">
                <a:latin typeface="Times New Roman"/>
                <a:cs typeface="Times New Roman"/>
              </a:rPr>
              <a:t>Variant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4480">
              <a:lnSpc>
                <a:spcPct val="100000"/>
              </a:lnSpc>
              <a:spcBef>
                <a:spcPts val="690"/>
              </a:spcBef>
              <a:buChar char="–"/>
              <a:tabLst>
                <a:tab pos="768350" algn="l"/>
              </a:tabLst>
            </a:pPr>
            <a:r>
              <a:rPr sz="2800" spc="-5" dirty="0">
                <a:latin typeface="Times New Roman"/>
                <a:cs typeface="Times New Roman"/>
              </a:rPr>
              <a:t>Change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8936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969" y="559077"/>
            <a:ext cx="7620525" cy="1445908"/>
          </a:xfrm>
          <a:prstGeom prst="rect">
            <a:avLst/>
          </a:prstGeom>
        </p:spPr>
        <p:txBody>
          <a:bodyPr vert="horz" wrap="square" lIns="0" tIns="456564" rIns="0" bIns="0" rtlCol="0">
            <a:spAutoFit/>
          </a:bodyPr>
          <a:lstStyle/>
          <a:p>
            <a:pPr marL="2493010" marR="5080" indent="-230124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Configuration </a:t>
            </a:r>
            <a:r>
              <a:rPr sz="3200" spc="5" dirty="0"/>
              <a:t>Management</a:t>
            </a:r>
            <a:r>
              <a:rPr sz="3200" spc="-75" dirty="0"/>
              <a:t> </a:t>
            </a:r>
            <a:r>
              <a:rPr sz="3200" dirty="0"/>
              <a:t>Activities  (continued)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8249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840" y="2174240"/>
            <a:ext cx="7653655" cy="450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Configuration </a:t>
            </a:r>
            <a:r>
              <a:rPr sz="2400" b="1" dirty="0">
                <a:latin typeface="Times New Roman"/>
                <a:cs typeface="Times New Roman"/>
              </a:rPr>
              <a:t>item </a:t>
            </a:r>
            <a:r>
              <a:rPr sz="2400" b="1" spc="-5" dirty="0">
                <a:latin typeface="Times New Roman"/>
                <a:cs typeface="Times New Roman"/>
              </a:rPr>
              <a:t>identification</a:t>
            </a:r>
            <a:endParaRPr sz="2400" dirty="0">
              <a:latin typeface="Times New Roman"/>
              <a:cs typeface="Times New Roman"/>
            </a:endParaRPr>
          </a:p>
          <a:p>
            <a:pPr marL="12700" marR="295275" indent="114300">
              <a:lnSpc>
                <a:spcPct val="100699"/>
              </a:lnSpc>
              <a:buChar char="–"/>
              <a:tabLst>
                <a:tab pos="412115" algn="l"/>
                <a:tab pos="412750" algn="l"/>
              </a:tabLst>
            </a:pPr>
            <a:r>
              <a:rPr sz="2400" spc="-5" dirty="0">
                <a:latin typeface="Times New Roman"/>
                <a:cs typeface="Times New Roman"/>
              </a:rPr>
              <a:t>modeling </a:t>
            </a:r>
            <a:r>
              <a:rPr sz="2400" dirty="0">
                <a:latin typeface="Times New Roman"/>
                <a:cs typeface="Times New Roman"/>
              </a:rPr>
              <a:t>of the system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evolving components  Promotion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management</a:t>
            </a:r>
            <a:endParaRPr sz="2400" dirty="0">
              <a:latin typeface="Times New Roman"/>
              <a:cs typeface="Times New Roman"/>
            </a:endParaRPr>
          </a:p>
          <a:p>
            <a:pPr marL="12700" marR="1494155" indent="114300">
              <a:lnSpc>
                <a:spcPct val="100699"/>
              </a:lnSpc>
              <a:buChar char="–"/>
              <a:tabLst>
                <a:tab pos="412115" algn="l"/>
                <a:tab pos="412750" algn="l"/>
              </a:tabLst>
            </a:pPr>
            <a:r>
              <a:rPr sz="2400" dirty="0">
                <a:latin typeface="Times New Roman"/>
                <a:cs typeface="Times New Roman"/>
              </a:rPr>
              <a:t>is the creation of versions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other </a:t>
            </a:r>
            <a:r>
              <a:rPr sz="2400" b="1" spc="-5" dirty="0">
                <a:latin typeface="Times New Roman"/>
                <a:cs typeface="Times New Roman"/>
              </a:rPr>
              <a:t>developers  Release management</a:t>
            </a:r>
            <a:endParaRPr sz="2400" dirty="0">
              <a:latin typeface="Times New Roman"/>
              <a:cs typeface="Times New Roman"/>
            </a:endParaRPr>
          </a:p>
          <a:p>
            <a:pPr marL="12700" marR="986790" indent="114300">
              <a:lnSpc>
                <a:spcPct val="100699"/>
              </a:lnSpc>
              <a:buChar char="–"/>
              <a:tabLst>
                <a:tab pos="412115" algn="l"/>
                <a:tab pos="412750" algn="l"/>
              </a:tabLst>
            </a:pPr>
            <a:r>
              <a:rPr sz="2400" dirty="0">
                <a:latin typeface="Times New Roman"/>
                <a:cs typeface="Times New Roman"/>
              </a:rPr>
              <a:t>is the creation of versions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b="1" dirty="0">
                <a:latin typeface="Times New Roman"/>
                <a:cs typeface="Times New Roman"/>
              </a:rPr>
              <a:t>clients and </a:t>
            </a:r>
            <a:r>
              <a:rPr sz="2400" b="1" spc="-5" dirty="0">
                <a:latin typeface="Times New Roman"/>
                <a:cs typeface="Times New Roman"/>
              </a:rPr>
              <a:t>users  Change management</a:t>
            </a:r>
            <a:endParaRPr sz="2400" dirty="0">
              <a:latin typeface="Times New Roman"/>
              <a:cs typeface="Times New Roman"/>
            </a:endParaRPr>
          </a:p>
          <a:p>
            <a:pPr marL="12700" marR="140335" indent="114300">
              <a:lnSpc>
                <a:spcPct val="100699"/>
              </a:lnSpc>
              <a:buChar char="–"/>
              <a:tabLst>
                <a:tab pos="412115" algn="l"/>
                <a:tab pos="412750" algn="l"/>
              </a:tabLst>
            </a:pP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spc="-5" dirty="0">
                <a:latin typeface="Times New Roman"/>
                <a:cs typeface="Times New Roman"/>
              </a:rPr>
              <a:t>handling, </a:t>
            </a:r>
            <a:r>
              <a:rPr sz="2400" dirty="0">
                <a:latin typeface="Times New Roman"/>
                <a:cs typeface="Times New Roman"/>
              </a:rPr>
              <a:t>approval and tracking of </a:t>
            </a:r>
            <a:r>
              <a:rPr sz="2400" b="1" spc="-5" dirty="0">
                <a:latin typeface="Times New Roman"/>
                <a:cs typeface="Times New Roman"/>
              </a:rPr>
              <a:t>change requests  Branch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management</a:t>
            </a:r>
            <a:endParaRPr sz="2400" dirty="0">
              <a:latin typeface="Times New Roman"/>
              <a:cs typeface="Times New Roman"/>
            </a:endParaRPr>
          </a:p>
          <a:p>
            <a:pPr marL="12700" marR="1367790" indent="114300">
              <a:lnSpc>
                <a:spcPct val="100699"/>
              </a:lnSpc>
              <a:buChar char="–"/>
              <a:tabLst>
                <a:tab pos="412115" algn="l"/>
                <a:tab pos="412750" algn="l"/>
              </a:tabLst>
            </a:pP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spc="-5" dirty="0">
                <a:latin typeface="Times New Roman"/>
                <a:cs typeface="Times New Roman"/>
              </a:rPr>
              <a:t>management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concurrent development  Variant management</a:t>
            </a:r>
            <a:endParaRPr sz="2400" dirty="0">
              <a:latin typeface="Times New Roman"/>
              <a:cs typeface="Times New Roman"/>
            </a:endParaRPr>
          </a:p>
          <a:p>
            <a:pPr marL="412750" indent="-285750">
              <a:lnSpc>
                <a:spcPct val="100000"/>
              </a:lnSpc>
              <a:spcBef>
                <a:spcPts val="20"/>
              </a:spcBef>
              <a:buChar char="–"/>
              <a:tabLst>
                <a:tab pos="412750" algn="l"/>
              </a:tabLst>
            </a:pPr>
            <a:r>
              <a:rPr sz="2800" dirty="0">
                <a:latin typeface="Times New Roman"/>
                <a:cs typeface="Times New Roman"/>
              </a:rPr>
              <a:t>is the </a:t>
            </a:r>
            <a:r>
              <a:rPr sz="2800" spc="-10" dirty="0">
                <a:latin typeface="Times New Roman"/>
                <a:cs typeface="Times New Roman"/>
              </a:rPr>
              <a:t>management </a:t>
            </a:r>
            <a:r>
              <a:rPr sz="2800" dirty="0">
                <a:latin typeface="Times New Roman"/>
                <a:cs typeface="Times New Roman"/>
              </a:rPr>
              <a:t>of versions </a:t>
            </a:r>
            <a:r>
              <a:rPr sz="2800" b="1" spc="-5" dirty="0">
                <a:latin typeface="Times New Roman"/>
                <a:cs typeface="Times New Roman"/>
              </a:rPr>
              <a:t>intended to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coexist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25615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32981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40347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47713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55079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6062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0388" y="817052"/>
            <a:ext cx="5132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Change</a:t>
            </a:r>
            <a:r>
              <a:rPr spc="-60" dirty="0"/>
              <a:t> </a:t>
            </a:r>
            <a:r>
              <a:rPr spc="-5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2209800"/>
            <a:ext cx="8652510" cy="3500958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800"/>
              </a:spcBef>
              <a:tabLst>
                <a:tab pos="342265" algn="l"/>
                <a:tab pos="342900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Change management </a:t>
            </a:r>
            <a:r>
              <a:rPr sz="2000" dirty="0">
                <a:latin typeface="Times New Roman"/>
                <a:cs typeface="Times New Roman"/>
              </a:rPr>
              <a:t>is the handling of </a:t>
            </a:r>
            <a:r>
              <a:rPr sz="2000" b="1" spc="-5" dirty="0">
                <a:latin typeface="Times New Roman"/>
                <a:cs typeface="Times New Roman"/>
              </a:rPr>
              <a:t>change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requests</a:t>
            </a:r>
            <a:endParaRPr sz="2000" dirty="0">
              <a:latin typeface="Times New Roman"/>
              <a:cs typeface="Times New Roman"/>
            </a:endParaRPr>
          </a:p>
          <a:p>
            <a:pPr marL="285750" marR="1079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285750" algn="l"/>
              </a:tabLst>
            </a:pP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change request leads </a:t>
            </a:r>
            <a:r>
              <a:rPr sz="2000" dirty="0">
                <a:latin typeface="Times New Roman"/>
                <a:cs typeface="Times New Roman"/>
              </a:rPr>
              <a:t>to the </a:t>
            </a:r>
            <a:r>
              <a:rPr sz="2000" spc="-5" dirty="0">
                <a:latin typeface="Times New Roman"/>
                <a:cs typeface="Times New Roman"/>
              </a:rPr>
              <a:t>creation </a:t>
            </a:r>
            <a:r>
              <a:rPr sz="2000" dirty="0">
                <a:latin typeface="Times New Roman"/>
                <a:cs typeface="Times New Roman"/>
              </a:rPr>
              <a:t>of a </a:t>
            </a:r>
            <a:r>
              <a:rPr sz="2000" spc="-5" dirty="0">
                <a:latin typeface="Times New Roman"/>
                <a:cs typeface="Times New Roman"/>
              </a:rPr>
              <a:t>new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release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General </a:t>
            </a:r>
            <a:r>
              <a:rPr sz="2000" b="1" spc="-5" dirty="0">
                <a:latin typeface="Times New Roman"/>
                <a:cs typeface="Times New Roman"/>
              </a:rPr>
              <a:t>change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process</a:t>
            </a:r>
            <a:endParaRPr sz="2000" dirty="0">
              <a:latin typeface="Times New Roman"/>
              <a:cs typeface="Times New Roman"/>
            </a:endParaRPr>
          </a:p>
          <a:p>
            <a:pPr marL="755650" marR="21971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b="1" spc="-5" dirty="0">
                <a:latin typeface="Times New Roman"/>
                <a:cs typeface="Times New Roman"/>
              </a:rPr>
              <a:t>change </a:t>
            </a:r>
            <a:r>
              <a:rPr sz="2000" b="1" dirty="0">
                <a:latin typeface="Times New Roman"/>
                <a:cs typeface="Times New Roman"/>
              </a:rPr>
              <a:t>is </a:t>
            </a:r>
            <a:r>
              <a:rPr sz="2000" b="1" spc="-10" dirty="0">
                <a:latin typeface="Times New Roman"/>
                <a:cs typeface="Times New Roman"/>
              </a:rPr>
              <a:t>requested </a:t>
            </a:r>
            <a:r>
              <a:rPr sz="2000" dirty="0">
                <a:latin typeface="Times New Roman"/>
                <a:cs typeface="Times New Roman"/>
              </a:rPr>
              <a:t>(this </a:t>
            </a:r>
            <a:r>
              <a:rPr sz="2000" spc="-10" dirty="0">
                <a:latin typeface="Times New Roman"/>
                <a:cs typeface="Times New Roman"/>
              </a:rPr>
              <a:t>can </a:t>
            </a:r>
            <a:r>
              <a:rPr sz="2000" dirty="0">
                <a:latin typeface="Times New Roman"/>
                <a:cs typeface="Times New Roman"/>
              </a:rPr>
              <a:t>be done by anyone  including users </a:t>
            </a:r>
            <a:r>
              <a:rPr sz="2000" spc="-5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developers)</a:t>
            </a:r>
            <a:endParaRPr sz="20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change request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b="1" spc="-5" dirty="0">
                <a:latin typeface="Times New Roman"/>
                <a:cs typeface="Times New Roman"/>
              </a:rPr>
              <a:t>assessed </a:t>
            </a:r>
            <a:r>
              <a:rPr sz="2000" b="1" dirty="0">
                <a:latin typeface="Times New Roman"/>
                <a:cs typeface="Times New Roman"/>
              </a:rPr>
              <a:t>against </a:t>
            </a:r>
            <a:r>
              <a:rPr sz="2000" b="1" spc="-5" dirty="0">
                <a:latin typeface="Times New Roman"/>
                <a:cs typeface="Times New Roman"/>
              </a:rPr>
              <a:t>project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goals</a:t>
            </a:r>
            <a:endParaRPr sz="2000" dirty="0">
              <a:latin typeface="Times New Roman"/>
              <a:cs typeface="Times New Roman"/>
            </a:endParaRPr>
          </a:p>
          <a:p>
            <a:pPr marL="755650" marR="313055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Following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assessment,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b="1" spc="-5" dirty="0">
                <a:latin typeface="Times New Roman"/>
                <a:cs typeface="Times New Roman"/>
              </a:rPr>
              <a:t>change </a:t>
            </a:r>
            <a:r>
              <a:rPr sz="2000" b="1" dirty="0">
                <a:latin typeface="Times New Roman"/>
                <a:cs typeface="Times New Roman"/>
              </a:rPr>
              <a:t>is </a:t>
            </a:r>
            <a:r>
              <a:rPr sz="2000" b="1" spc="-5" dirty="0">
                <a:latin typeface="Times New Roman"/>
                <a:cs typeface="Times New Roman"/>
              </a:rPr>
              <a:t>accepted </a:t>
            </a:r>
            <a:r>
              <a:rPr sz="2000" b="1" dirty="0">
                <a:latin typeface="Times New Roman"/>
                <a:cs typeface="Times New Roman"/>
              </a:rPr>
              <a:t>or  </a:t>
            </a:r>
            <a:r>
              <a:rPr sz="2000" b="1" spc="-10" dirty="0">
                <a:latin typeface="Times New Roman"/>
                <a:cs typeface="Times New Roman"/>
              </a:rPr>
              <a:t>rejected</a:t>
            </a:r>
            <a:endParaRPr sz="2000" dirty="0">
              <a:latin typeface="Times New Roman"/>
              <a:cs typeface="Times New Roman"/>
            </a:endParaRPr>
          </a:p>
          <a:p>
            <a:pPr marL="755650" marR="18542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If </a:t>
            </a:r>
            <a:r>
              <a:rPr sz="2000" dirty="0">
                <a:latin typeface="Times New Roman"/>
                <a:cs typeface="Times New Roman"/>
              </a:rPr>
              <a:t>it is </a:t>
            </a:r>
            <a:r>
              <a:rPr sz="2000" spc="-10" dirty="0">
                <a:latin typeface="Times New Roman"/>
                <a:cs typeface="Times New Roman"/>
              </a:rPr>
              <a:t>accepted,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change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assigned </a:t>
            </a:r>
            <a:r>
              <a:rPr sz="2000" dirty="0">
                <a:latin typeface="Times New Roman"/>
                <a:cs typeface="Times New Roman"/>
              </a:rPr>
              <a:t>to a </a:t>
            </a:r>
            <a:r>
              <a:rPr sz="2000" b="1" spc="-5" dirty="0">
                <a:latin typeface="Times New Roman"/>
                <a:cs typeface="Times New Roman"/>
              </a:rPr>
              <a:t>developer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" dirty="0">
                <a:latin typeface="Times New Roman"/>
                <a:cs typeface="Times New Roman"/>
              </a:rPr>
              <a:t> implemented</a:t>
            </a:r>
            <a:endParaRPr sz="20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000" spc="-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implemented </a:t>
            </a:r>
            <a:r>
              <a:rPr sz="2000" b="1" spc="-5" dirty="0">
                <a:latin typeface="Times New Roman"/>
                <a:cs typeface="Times New Roman"/>
              </a:rPr>
              <a:t>change </a:t>
            </a:r>
            <a:r>
              <a:rPr sz="2000" b="1" dirty="0">
                <a:latin typeface="Times New Roman"/>
                <a:cs typeface="Times New Roman"/>
              </a:rPr>
              <a:t>is audited</a:t>
            </a:r>
            <a:r>
              <a:rPr sz="20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109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1127153"/>
            <a:ext cx="44824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 </a:t>
            </a:r>
            <a:r>
              <a:rPr spc="-5" dirty="0"/>
              <a:t>Change</a:t>
            </a:r>
            <a:r>
              <a:rPr spc="-75" dirty="0"/>
              <a:t> </a:t>
            </a:r>
            <a:r>
              <a:rPr spc="-5" dirty="0"/>
              <a:t>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2286000"/>
            <a:ext cx="8256905" cy="387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Specifies the </a:t>
            </a:r>
            <a:r>
              <a:rPr sz="2400" dirty="0">
                <a:latin typeface="Times New Roman"/>
                <a:cs typeface="Times New Roman"/>
              </a:rPr>
              <a:t>procedures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requesting a change  </a:t>
            </a: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baselined CI and the information to </a:t>
            </a:r>
            <a:r>
              <a:rPr sz="2400" dirty="0">
                <a:latin typeface="Times New Roman"/>
                <a:cs typeface="Times New Roman"/>
              </a:rPr>
              <a:t>be  </a:t>
            </a:r>
            <a:r>
              <a:rPr sz="2400" spc="-5" dirty="0">
                <a:latin typeface="Times New Roman"/>
                <a:cs typeface="Times New Roman"/>
              </a:rPr>
              <a:t>documented:</a:t>
            </a:r>
            <a:endParaRPr sz="2400" dirty="0">
              <a:latin typeface="Times New Roman"/>
              <a:cs typeface="Times New Roman"/>
            </a:endParaRPr>
          </a:p>
          <a:p>
            <a:pPr marL="755650" marR="954405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400" spc="-10" dirty="0">
                <a:latin typeface="Times New Roman"/>
                <a:cs typeface="Times New Roman"/>
              </a:rPr>
              <a:t>Name(s)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version(s) of the </a:t>
            </a:r>
            <a:r>
              <a:rPr sz="2400" spc="-5" dirty="0">
                <a:latin typeface="Times New Roman"/>
                <a:cs typeface="Times New Roman"/>
              </a:rPr>
              <a:t>CI(s) where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problem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appears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Originator’s name 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address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Date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request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Indication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urgency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need for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change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Times New Roman"/>
                <a:cs typeface="Times New Roman"/>
              </a:rPr>
              <a:t>Description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requested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change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631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0659" y="1009746"/>
            <a:ext cx="61931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28110" algn="l"/>
              </a:tabLst>
            </a:pPr>
            <a:r>
              <a:rPr dirty="0"/>
              <a:t>2.</a:t>
            </a:r>
            <a:r>
              <a:rPr spc="10" dirty="0"/>
              <a:t> </a:t>
            </a:r>
            <a:r>
              <a:rPr spc="-5" dirty="0"/>
              <a:t>Evaluation</a:t>
            </a:r>
            <a:r>
              <a:rPr spc="10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spc="-5" dirty="0"/>
              <a:t>Change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262" y="2590800"/>
            <a:ext cx="7473950" cy="197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999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Specifies the </a:t>
            </a:r>
            <a:r>
              <a:rPr sz="3200" dirty="0">
                <a:latin typeface="Times New Roman"/>
                <a:cs typeface="Times New Roman"/>
              </a:rPr>
              <a:t>analysis required </a:t>
            </a:r>
            <a:r>
              <a:rPr sz="3200" spc="-5" dirty="0">
                <a:latin typeface="Times New Roman"/>
                <a:cs typeface="Times New Roman"/>
              </a:rPr>
              <a:t>to determine  the </a:t>
            </a:r>
            <a:r>
              <a:rPr sz="3200" b="1" spc="5" dirty="0">
                <a:latin typeface="Times New Roman"/>
                <a:cs typeface="Times New Roman"/>
              </a:rPr>
              <a:t>impact </a:t>
            </a:r>
            <a:r>
              <a:rPr sz="3200" b="1" dirty="0">
                <a:latin typeface="Times New Roman"/>
                <a:cs typeface="Times New Roman"/>
              </a:rPr>
              <a:t>of proposed changes </a:t>
            </a:r>
            <a:r>
              <a:rPr sz="3200" dirty="0">
                <a:latin typeface="Times New Roman"/>
                <a:cs typeface="Times New Roman"/>
              </a:rPr>
              <a:t>and </a:t>
            </a:r>
            <a:r>
              <a:rPr sz="3200" spc="-5" dirty="0">
                <a:latin typeface="Times New Roman"/>
                <a:cs typeface="Times New Roman"/>
              </a:rPr>
              <a:t>the  </a:t>
            </a:r>
            <a:r>
              <a:rPr sz="3200" dirty="0">
                <a:latin typeface="Times New Roman"/>
                <a:cs typeface="Times New Roman"/>
              </a:rPr>
              <a:t>procedure </a:t>
            </a:r>
            <a:r>
              <a:rPr sz="3200" spc="-5" dirty="0">
                <a:latin typeface="Times New Roman"/>
                <a:cs typeface="Times New Roman"/>
              </a:rPr>
              <a:t>for </a:t>
            </a:r>
            <a:r>
              <a:rPr sz="3200" dirty="0">
                <a:latin typeface="Times New Roman"/>
                <a:cs typeface="Times New Roman"/>
              </a:rPr>
              <a:t>reviewing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results of </a:t>
            </a:r>
            <a:r>
              <a:rPr sz="3200" spc="-5" dirty="0">
                <a:latin typeface="Times New Roman"/>
                <a:cs typeface="Times New Roman"/>
              </a:rPr>
              <a:t>the  </a:t>
            </a:r>
            <a:r>
              <a:rPr sz="3200" dirty="0">
                <a:latin typeface="Times New Roman"/>
                <a:cs typeface="Times New Roman"/>
              </a:rPr>
              <a:t>analysis.</a:t>
            </a:r>
          </a:p>
        </p:txBody>
      </p:sp>
    </p:spTree>
    <p:extLst>
      <p:ext uri="{BB962C8B-B14F-4D97-AF65-F5344CB8AC3E}">
        <p14:creationId xmlns:p14="http://schemas.microsoft.com/office/powerpoint/2010/main" val="4006272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985" marR="5080" indent="-1275080">
              <a:lnSpc>
                <a:spcPct val="100000"/>
              </a:lnSpc>
              <a:spcBef>
                <a:spcPts val="100"/>
              </a:spcBef>
            </a:pPr>
            <a:r>
              <a:rPr dirty="0"/>
              <a:t>3. </a:t>
            </a:r>
            <a:r>
              <a:rPr spc="-5" dirty="0"/>
              <a:t>Change Approval </a:t>
            </a:r>
            <a:r>
              <a:rPr dirty="0"/>
              <a:t>or  </a:t>
            </a:r>
            <a:r>
              <a:rPr spc="-5" dirty="0"/>
              <a:t>Disapproval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970" y="145034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9100" y="2081251"/>
            <a:ext cx="7889240" cy="37343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66548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25400" marR="6654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This section of the </a:t>
            </a:r>
            <a:r>
              <a:rPr sz="2400" spc="-5" dirty="0">
                <a:latin typeface="Times New Roman"/>
                <a:cs typeface="Times New Roman"/>
              </a:rPr>
              <a:t>SCM </a:t>
            </a:r>
            <a:r>
              <a:rPr sz="2400" dirty="0">
                <a:latin typeface="Times New Roman"/>
                <a:cs typeface="Times New Roman"/>
              </a:rPr>
              <a:t>describes the organization of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configuration </a:t>
            </a:r>
            <a:r>
              <a:rPr sz="2400" dirty="0">
                <a:latin typeface="Times New Roman"/>
                <a:cs typeface="Times New Roman"/>
              </a:rPr>
              <a:t>control board</a:t>
            </a:r>
            <a:r>
              <a:rPr sz="2400" spc="-5" dirty="0">
                <a:latin typeface="Times New Roman"/>
                <a:cs typeface="Times New Roman"/>
              </a:rPr>
              <a:t> (CCB).</a:t>
            </a:r>
            <a:endParaRPr sz="24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latin typeface="Times New Roman"/>
                <a:cs typeface="Times New Roman"/>
              </a:rPr>
              <a:t>Configuration Control Board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(CCB)</a:t>
            </a:r>
            <a:endParaRPr sz="2400" dirty="0">
              <a:latin typeface="Times New Roman"/>
              <a:cs typeface="Times New Roman"/>
            </a:endParaRPr>
          </a:p>
          <a:p>
            <a:pPr marL="425450" indent="-286385">
              <a:lnSpc>
                <a:spcPct val="100000"/>
              </a:lnSpc>
              <a:spcBef>
                <a:spcPts val="600"/>
              </a:spcBef>
              <a:buChar char="–"/>
              <a:tabLst>
                <a:tab pos="424815" algn="l"/>
                <a:tab pos="425450" algn="l"/>
              </a:tabLst>
            </a:pPr>
            <a:r>
              <a:rPr sz="2400" spc="-5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be an individual or a </a:t>
            </a:r>
            <a:r>
              <a:rPr sz="2400" spc="-5" dirty="0">
                <a:latin typeface="Times New Roman"/>
                <a:cs typeface="Times New Roman"/>
              </a:rPr>
              <a:t>group.</a:t>
            </a:r>
            <a:endParaRPr sz="2400" dirty="0">
              <a:latin typeface="Times New Roman"/>
              <a:cs typeface="Times New Roman"/>
            </a:endParaRPr>
          </a:p>
          <a:p>
            <a:pPr marL="424815" marR="13843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424815" algn="l"/>
                <a:tab pos="425450" algn="l"/>
              </a:tabLst>
            </a:pPr>
            <a:r>
              <a:rPr sz="2400" dirty="0">
                <a:latin typeface="Times New Roman"/>
                <a:cs typeface="Times New Roman"/>
              </a:rPr>
              <a:t>Multiple levels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CCBs </a:t>
            </a:r>
            <a:r>
              <a:rPr sz="2400" dirty="0">
                <a:latin typeface="Times New Roman"/>
                <a:cs typeface="Times New Roman"/>
              </a:rPr>
              <a:t>are also </a:t>
            </a:r>
            <a:r>
              <a:rPr sz="2400" spc="-5" dirty="0">
                <a:latin typeface="Times New Roman"/>
                <a:cs typeface="Times New Roman"/>
              </a:rPr>
              <a:t>possible, </a:t>
            </a:r>
            <a:r>
              <a:rPr sz="2400" dirty="0">
                <a:latin typeface="Times New Roman"/>
                <a:cs typeface="Times New Roman"/>
              </a:rPr>
              <a:t>depending on the  </a:t>
            </a:r>
            <a:r>
              <a:rPr sz="2400" spc="-5" dirty="0">
                <a:latin typeface="Times New Roman"/>
                <a:cs typeface="Times New Roman"/>
              </a:rPr>
              <a:t>complexity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</a:p>
          <a:p>
            <a:pPr marL="254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Times New Roman"/>
                <a:cs typeface="Times New Roman"/>
              </a:rPr>
              <a:t>Multiple levels of </a:t>
            </a:r>
            <a:r>
              <a:rPr sz="2400" spc="-10" dirty="0">
                <a:latin typeface="Times New Roman"/>
                <a:cs typeface="Times New Roman"/>
              </a:rPr>
              <a:t>CCBs may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specified.</a:t>
            </a:r>
            <a:endParaRPr sz="2400" dirty="0">
              <a:latin typeface="Times New Roman"/>
              <a:cs typeface="Times New Roman"/>
            </a:endParaRPr>
          </a:p>
          <a:p>
            <a:pPr marL="425450" indent="-286385">
              <a:lnSpc>
                <a:spcPct val="100000"/>
              </a:lnSpc>
              <a:spcBef>
                <a:spcPts val="600"/>
              </a:spcBef>
              <a:buChar char="–"/>
              <a:tabLst>
                <a:tab pos="424815" algn="l"/>
                <a:tab pos="42545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small development efforts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10" dirty="0">
                <a:latin typeface="Times New Roman"/>
                <a:cs typeface="Times New Roman"/>
              </a:rPr>
              <a:t>CCB </a:t>
            </a:r>
            <a:r>
              <a:rPr sz="2400" dirty="0">
                <a:latin typeface="Times New Roman"/>
                <a:cs typeface="Times New Roman"/>
              </a:rPr>
              <a:t>level is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sufficient.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970" y="22567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970" y="394842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970" y="483107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6436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8059" y="978119"/>
            <a:ext cx="59118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 </a:t>
            </a:r>
            <a:r>
              <a:rPr spc="-5" dirty="0"/>
              <a:t>Implementing</a:t>
            </a:r>
            <a:r>
              <a:rPr spc="-40" dirty="0"/>
              <a:t> </a:t>
            </a:r>
            <a:r>
              <a:rPr spc="-5" dirty="0"/>
              <a:t>Change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300" y="108330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717" y="2122413"/>
            <a:ext cx="8090534" cy="401584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algn="just">
              <a:lnSpc>
                <a:spcPct val="79900"/>
              </a:lnSpc>
              <a:spcBef>
                <a:spcPts val="675"/>
              </a:spcBef>
            </a:pPr>
            <a:r>
              <a:rPr sz="2000" dirty="0">
                <a:latin typeface="Times New Roman"/>
                <a:cs typeface="Times New Roman"/>
              </a:rPr>
              <a:t>This </a:t>
            </a:r>
            <a:r>
              <a:rPr sz="2000" spc="-5" dirty="0">
                <a:latin typeface="Times New Roman"/>
                <a:cs typeface="Times New Roman"/>
              </a:rPr>
              <a:t>section </a:t>
            </a:r>
            <a:r>
              <a:rPr sz="2000" dirty="0">
                <a:latin typeface="Times New Roman"/>
                <a:cs typeface="Times New Roman"/>
              </a:rPr>
              <a:t>of the </a:t>
            </a:r>
            <a:r>
              <a:rPr sz="2000" spc="-10" dirty="0">
                <a:latin typeface="Times New Roman"/>
                <a:cs typeface="Times New Roman"/>
              </a:rPr>
              <a:t>SCMP </a:t>
            </a:r>
            <a:r>
              <a:rPr sz="2000" spc="-5" dirty="0">
                <a:latin typeface="Times New Roman"/>
                <a:cs typeface="Times New Roman"/>
              </a:rPr>
              <a:t>specifies </a:t>
            </a:r>
            <a:r>
              <a:rPr sz="2000" dirty="0">
                <a:latin typeface="Times New Roman"/>
                <a:cs typeface="Times New Roman"/>
              </a:rPr>
              <a:t>the activities for verifying and  </a:t>
            </a:r>
            <a:r>
              <a:rPr sz="2000" spc="-5" dirty="0">
                <a:latin typeface="Times New Roman"/>
                <a:cs typeface="Times New Roman"/>
              </a:rPr>
              <a:t>implementing an approved</a:t>
            </a:r>
            <a:r>
              <a:rPr sz="2000" dirty="0">
                <a:latin typeface="Times New Roman"/>
                <a:cs typeface="Times New Roman"/>
              </a:rPr>
              <a:t> change.</a:t>
            </a:r>
          </a:p>
          <a:p>
            <a:pPr marL="12700" marR="1255395" algn="just">
              <a:lnSpc>
                <a:spcPts val="2310"/>
              </a:lnSpc>
              <a:spcBef>
                <a:spcPts val="575"/>
              </a:spcBef>
            </a:pP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completed </a:t>
            </a:r>
            <a:r>
              <a:rPr sz="2000" dirty="0">
                <a:latin typeface="Times New Roman"/>
                <a:cs typeface="Times New Roman"/>
              </a:rPr>
              <a:t>change </a:t>
            </a:r>
            <a:r>
              <a:rPr sz="2000" spc="-5" dirty="0">
                <a:latin typeface="Times New Roman"/>
                <a:cs typeface="Times New Roman"/>
              </a:rPr>
              <a:t>request mu</a:t>
            </a:r>
            <a:r>
              <a:rPr lang="en-US" sz="2000" spc="-5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t </a:t>
            </a:r>
            <a:r>
              <a:rPr sz="2000" dirty="0">
                <a:latin typeface="Times New Roman"/>
                <a:cs typeface="Times New Roman"/>
              </a:rPr>
              <a:t>contain the </a:t>
            </a:r>
            <a:r>
              <a:rPr sz="2000" spc="-5" dirty="0">
                <a:latin typeface="Times New Roman"/>
                <a:cs typeface="Times New Roman"/>
              </a:rPr>
              <a:t>following  information:</a:t>
            </a:r>
            <a:endParaRPr sz="2000" dirty="0">
              <a:latin typeface="Times New Roman"/>
              <a:cs typeface="Times New Roman"/>
            </a:endParaRPr>
          </a:p>
          <a:p>
            <a:pPr marL="412750" indent="-284480" algn="just">
              <a:lnSpc>
                <a:spcPct val="100000"/>
              </a:lnSpc>
              <a:spcBef>
                <a:spcPts val="35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dirty="0">
                <a:latin typeface="Times New Roman"/>
                <a:cs typeface="Times New Roman"/>
              </a:rPr>
              <a:t>The original </a:t>
            </a:r>
            <a:r>
              <a:rPr sz="2000" spc="-5" dirty="0">
                <a:latin typeface="Times New Roman"/>
                <a:cs typeface="Times New Roman"/>
              </a:rPr>
              <a:t>change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request(</a:t>
            </a:r>
            <a:r>
              <a:rPr lang="en-US" sz="2000" spc="-5" dirty="0" err="1">
                <a:latin typeface="Times New Roman"/>
                <a:cs typeface="Times New Roman"/>
              </a:rPr>
              <a:t>s</a:t>
            </a:r>
            <a:r>
              <a:rPr sz="2000" dirty="0" err="1">
                <a:latin typeface="Times New Roman"/>
                <a:cs typeface="Times New Roman"/>
              </a:rPr>
              <a:t>s</a:t>
            </a:r>
            <a:r>
              <a:rPr sz="2000" dirty="0">
                <a:latin typeface="Times New Roman"/>
                <a:cs typeface="Times New Roman"/>
              </a:rPr>
              <a:t>)</a:t>
            </a:r>
          </a:p>
          <a:p>
            <a:pPr marL="412750" indent="-284480" algn="just">
              <a:lnSpc>
                <a:spcPct val="100000"/>
              </a:lnSpc>
              <a:spcBef>
                <a:spcPts val="2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names </a:t>
            </a:r>
            <a:r>
              <a:rPr sz="2000" dirty="0">
                <a:latin typeface="Times New Roman"/>
                <a:cs typeface="Times New Roman"/>
              </a:rPr>
              <a:t>and versions of the </a:t>
            </a:r>
            <a:r>
              <a:rPr sz="2000" spc="-5" dirty="0">
                <a:latin typeface="Times New Roman"/>
                <a:cs typeface="Times New Roman"/>
              </a:rPr>
              <a:t>affected configuration items</a:t>
            </a:r>
            <a:endParaRPr sz="2000" dirty="0">
              <a:latin typeface="Times New Roman"/>
              <a:cs typeface="Times New Roman"/>
            </a:endParaRPr>
          </a:p>
          <a:p>
            <a:pPr marL="412750" indent="-284480" algn="just">
              <a:lnSpc>
                <a:spcPct val="100000"/>
              </a:lnSpc>
              <a:spcBef>
                <a:spcPts val="2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spc="-5" dirty="0">
                <a:latin typeface="Times New Roman"/>
                <a:cs typeface="Times New Roman"/>
              </a:rPr>
              <a:t>Verification </a:t>
            </a:r>
            <a:r>
              <a:rPr sz="2000" dirty="0">
                <a:latin typeface="Times New Roman"/>
                <a:cs typeface="Times New Roman"/>
              </a:rPr>
              <a:t>date and </a:t>
            </a:r>
            <a:r>
              <a:rPr sz="2000" spc="-5" dirty="0">
                <a:latin typeface="Times New Roman"/>
                <a:cs typeface="Times New Roman"/>
              </a:rPr>
              <a:t>responsible</a:t>
            </a:r>
            <a:r>
              <a:rPr sz="2000" dirty="0">
                <a:latin typeface="Times New Roman"/>
                <a:cs typeface="Times New Roman"/>
              </a:rPr>
              <a:t> party</a:t>
            </a:r>
          </a:p>
          <a:p>
            <a:pPr marL="412750" indent="-284480" algn="just">
              <a:lnSpc>
                <a:spcPct val="100000"/>
              </a:lnSpc>
              <a:spcBef>
                <a:spcPts val="2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dirty="0">
                <a:latin typeface="Times New Roman"/>
                <a:cs typeface="Times New Roman"/>
              </a:rPr>
              <a:t>Identifier of the new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version</a:t>
            </a:r>
          </a:p>
          <a:p>
            <a:pPr marL="412750" indent="-284480" algn="just">
              <a:lnSpc>
                <a:spcPct val="100000"/>
              </a:lnSpc>
              <a:spcBef>
                <a:spcPts val="1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dirty="0">
                <a:latin typeface="Times New Roman"/>
                <a:cs typeface="Times New Roman"/>
              </a:rPr>
              <a:t>Archiving </a:t>
            </a:r>
            <a:r>
              <a:rPr sz="2000" spc="-5" dirty="0">
                <a:latin typeface="Times New Roman"/>
                <a:cs typeface="Times New Roman"/>
              </a:rPr>
              <a:t>completed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requests</a:t>
            </a:r>
          </a:p>
          <a:p>
            <a:pPr marL="412750" indent="-284480" algn="just">
              <a:lnSpc>
                <a:spcPct val="100000"/>
              </a:lnSpc>
              <a:spcBef>
                <a:spcPts val="2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dirty="0">
                <a:latin typeface="Times New Roman"/>
                <a:cs typeface="Times New Roman"/>
              </a:rPr>
              <a:t>Planning and </a:t>
            </a:r>
            <a:r>
              <a:rPr sz="2000" spc="-5" dirty="0">
                <a:latin typeface="Times New Roman"/>
                <a:cs typeface="Times New Roman"/>
              </a:rPr>
              <a:t>control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releases</a:t>
            </a:r>
            <a:endParaRPr sz="2000" dirty="0">
              <a:latin typeface="Times New Roman"/>
              <a:cs typeface="Times New Roman"/>
            </a:endParaRPr>
          </a:p>
          <a:p>
            <a:pPr marL="412750" indent="-284480" algn="just">
              <a:lnSpc>
                <a:spcPct val="100000"/>
              </a:lnSpc>
              <a:spcBef>
                <a:spcPts val="2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spc="-5" dirty="0">
                <a:latin typeface="Times New Roman"/>
                <a:cs typeface="Times New Roman"/>
              </a:rPr>
              <a:t>How </a:t>
            </a:r>
            <a:r>
              <a:rPr sz="2000" dirty="0">
                <a:latin typeface="Times New Roman"/>
                <a:cs typeface="Times New Roman"/>
              </a:rPr>
              <a:t>to coordinate </a:t>
            </a:r>
            <a:r>
              <a:rPr sz="2000" spc="-5" dirty="0">
                <a:latin typeface="Times New Roman"/>
                <a:cs typeface="Times New Roman"/>
              </a:rPr>
              <a:t>multiple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changes</a:t>
            </a:r>
            <a:endParaRPr sz="2000" dirty="0">
              <a:latin typeface="Times New Roman"/>
              <a:cs typeface="Times New Roman"/>
            </a:endParaRPr>
          </a:p>
          <a:p>
            <a:pPr marL="412750" indent="-284480" algn="just">
              <a:lnSpc>
                <a:spcPct val="100000"/>
              </a:lnSpc>
              <a:spcBef>
                <a:spcPts val="2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spc="-5" dirty="0">
                <a:latin typeface="Times New Roman"/>
                <a:cs typeface="Times New Roman"/>
              </a:rPr>
              <a:t>How </a:t>
            </a:r>
            <a:r>
              <a:rPr sz="2000" dirty="0">
                <a:latin typeface="Times New Roman"/>
                <a:cs typeface="Times New Roman"/>
              </a:rPr>
              <a:t>to add new </a:t>
            </a:r>
            <a:r>
              <a:rPr sz="2000" spc="-5" dirty="0">
                <a:latin typeface="Times New Roman"/>
                <a:cs typeface="Times New Roman"/>
              </a:rPr>
              <a:t>CIs </a:t>
            </a:r>
            <a:r>
              <a:rPr sz="2000" dirty="0">
                <a:latin typeface="Times New Roman"/>
                <a:cs typeface="Times New Roman"/>
              </a:rPr>
              <a:t>to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configuration</a:t>
            </a:r>
            <a:endParaRPr sz="2000" dirty="0">
              <a:latin typeface="Times New Roman"/>
              <a:cs typeface="Times New Roman"/>
            </a:endParaRPr>
          </a:p>
          <a:p>
            <a:pPr marL="412750" indent="-284480" algn="just">
              <a:lnSpc>
                <a:spcPct val="100000"/>
              </a:lnSpc>
              <a:spcBef>
                <a:spcPts val="2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spc="-5" dirty="0">
                <a:latin typeface="Times New Roman"/>
                <a:cs typeface="Times New Roman"/>
              </a:rPr>
              <a:t>How </a:t>
            </a:r>
            <a:r>
              <a:rPr sz="2000" dirty="0">
                <a:latin typeface="Times New Roman"/>
                <a:cs typeface="Times New Roman"/>
              </a:rPr>
              <a:t>to deliver a new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8300" y="174370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300" y="424560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4156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1066800"/>
            <a:ext cx="5132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Change</a:t>
            </a:r>
            <a:r>
              <a:rPr spc="-60" dirty="0"/>
              <a:t> </a:t>
            </a:r>
            <a:r>
              <a:rPr spc="-5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347" y="2514600"/>
            <a:ext cx="8613775" cy="30700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1031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The complexity </a:t>
            </a:r>
            <a:r>
              <a:rPr sz="3200" dirty="0">
                <a:latin typeface="Times New Roman"/>
                <a:cs typeface="Times New Roman"/>
              </a:rPr>
              <a:t>of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change </a:t>
            </a:r>
            <a:r>
              <a:rPr sz="3200" spc="-5" dirty="0">
                <a:latin typeface="Times New Roman"/>
                <a:cs typeface="Times New Roman"/>
              </a:rPr>
              <a:t>management  </a:t>
            </a:r>
            <a:r>
              <a:rPr sz="3200" dirty="0">
                <a:latin typeface="Times New Roman"/>
                <a:cs typeface="Times New Roman"/>
              </a:rPr>
              <a:t>process varies </a:t>
            </a:r>
            <a:r>
              <a:rPr sz="3200" spc="-5" dirty="0">
                <a:latin typeface="Times New Roman"/>
                <a:cs typeface="Times New Roman"/>
              </a:rPr>
              <a:t>with the </a:t>
            </a:r>
            <a:r>
              <a:rPr sz="3200" dirty="0">
                <a:latin typeface="Times New Roman"/>
                <a:cs typeface="Times New Roman"/>
              </a:rPr>
              <a:t>project.</a:t>
            </a:r>
          </a:p>
          <a:p>
            <a:pPr marL="355600" marR="5080" indent="-342900">
              <a:lnSpc>
                <a:spcPct val="100000"/>
              </a:lnSpc>
              <a:spcBef>
                <a:spcPts val="8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Small </a:t>
            </a:r>
            <a:r>
              <a:rPr sz="3200" dirty="0">
                <a:latin typeface="Times New Roman"/>
                <a:cs typeface="Times New Roman"/>
              </a:rPr>
              <a:t>projects can </a:t>
            </a:r>
            <a:r>
              <a:rPr sz="3200" spc="-5" dirty="0">
                <a:latin typeface="Times New Roman"/>
                <a:cs typeface="Times New Roman"/>
              </a:rPr>
              <a:t>perform </a:t>
            </a:r>
            <a:r>
              <a:rPr sz="3200" dirty="0">
                <a:latin typeface="Times New Roman"/>
                <a:cs typeface="Times New Roman"/>
              </a:rPr>
              <a:t>change requests  </a:t>
            </a:r>
            <a:r>
              <a:rPr sz="3200" spc="-5" dirty="0">
                <a:latin typeface="Times New Roman"/>
                <a:cs typeface="Times New Roman"/>
              </a:rPr>
              <a:t>informally and fast while complex </a:t>
            </a:r>
            <a:r>
              <a:rPr sz="3200" dirty="0">
                <a:latin typeface="Times New Roman"/>
                <a:cs typeface="Times New Roman"/>
              </a:rPr>
              <a:t>projects require  </a:t>
            </a:r>
            <a:r>
              <a:rPr sz="3200" spc="-5" dirty="0">
                <a:latin typeface="Times New Roman"/>
                <a:cs typeface="Times New Roman"/>
              </a:rPr>
              <a:t>detailed </a:t>
            </a:r>
            <a:r>
              <a:rPr sz="3200" dirty="0">
                <a:latin typeface="Times New Roman"/>
                <a:cs typeface="Times New Roman"/>
              </a:rPr>
              <a:t>change request </a:t>
            </a:r>
            <a:r>
              <a:rPr sz="3200" spc="-10" dirty="0">
                <a:latin typeface="Times New Roman"/>
                <a:cs typeface="Times New Roman"/>
              </a:rPr>
              <a:t>forms </a:t>
            </a:r>
            <a:r>
              <a:rPr sz="3200" dirty="0">
                <a:latin typeface="Times New Roman"/>
                <a:cs typeface="Times New Roman"/>
              </a:rPr>
              <a:t>and </a:t>
            </a:r>
            <a:r>
              <a:rPr sz="3200" spc="-5" dirty="0">
                <a:latin typeface="Times New Roman"/>
                <a:cs typeface="Times New Roman"/>
              </a:rPr>
              <a:t>the official  </a:t>
            </a:r>
            <a:r>
              <a:rPr sz="3200" dirty="0">
                <a:latin typeface="Times New Roman"/>
                <a:cs typeface="Times New Roman"/>
              </a:rPr>
              <a:t>approval by one </a:t>
            </a:r>
            <a:r>
              <a:rPr sz="3200" spc="-10" dirty="0">
                <a:latin typeface="Times New Roman"/>
                <a:cs typeface="Times New Roman"/>
              </a:rPr>
              <a:t>more</a:t>
            </a:r>
            <a:r>
              <a:rPr sz="3200" spc="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managers.</a:t>
            </a:r>
            <a:endParaRPr sz="3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449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5523</TotalTime>
  <Words>1183</Words>
  <Application>Microsoft Office PowerPoint</Application>
  <PresentationFormat>On-screen Show (4:3)</PresentationFormat>
  <Paragraphs>144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Software Configuration Management</vt:lpstr>
      <vt:lpstr>PowerPoint Presentation</vt:lpstr>
      <vt:lpstr>Software Construction</vt:lpstr>
      <vt:lpstr>Why Configuration Management</vt:lpstr>
      <vt:lpstr>Problems of Not Using SCM</vt:lpstr>
      <vt:lpstr>PowerPoint Presentation</vt:lpstr>
      <vt:lpstr>What are Software Changes</vt:lpstr>
      <vt:lpstr>SCM Activities</vt:lpstr>
      <vt:lpstr>SCM Activities</vt:lpstr>
      <vt:lpstr>SCM Activities</vt:lpstr>
      <vt:lpstr>Types of Versions</vt:lpstr>
      <vt:lpstr>Baseline</vt:lpstr>
      <vt:lpstr>Baseline</vt:lpstr>
      <vt:lpstr>Intermediate </vt:lpstr>
      <vt:lpstr>Revisions </vt:lpstr>
      <vt:lpstr>Change Management Process</vt:lpstr>
      <vt:lpstr>Codeline and Baseline</vt:lpstr>
      <vt:lpstr>Configuration Management  Activities</vt:lpstr>
      <vt:lpstr>Configuration Management Activities  (continued)</vt:lpstr>
      <vt:lpstr>Change Management</vt:lpstr>
      <vt:lpstr>1. Change Request</vt:lpstr>
      <vt:lpstr>2. Evaluation of a Change</vt:lpstr>
      <vt:lpstr>3. Change Approval or  Disapproval</vt:lpstr>
      <vt:lpstr>4. Implementing Change</vt:lpstr>
      <vt:lpstr>Change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zulqarnain hassan</cp:lastModifiedBy>
  <cp:revision>33</cp:revision>
  <dcterms:created xsi:type="dcterms:W3CDTF">2021-02-21T14:18:28Z</dcterms:created>
  <dcterms:modified xsi:type="dcterms:W3CDTF">2024-12-29T19:09:12Z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2021-02-21T00:00:00Z</vt:filetime>
  </property>
</Properties>
</file>