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sldIdLst>
    <p:sldId id="256" r:id="rId2"/>
    <p:sldId id="263" r:id="rId3"/>
    <p:sldId id="298" r:id="rId4"/>
    <p:sldId id="265" r:id="rId5"/>
    <p:sldId id="329" r:id="rId6"/>
    <p:sldId id="266" r:id="rId7"/>
    <p:sldId id="299" r:id="rId8"/>
    <p:sldId id="267" r:id="rId9"/>
    <p:sldId id="268" r:id="rId10"/>
    <p:sldId id="300" r:id="rId11"/>
    <p:sldId id="269" r:id="rId12"/>
    <p:sldId id="270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6" r:id="rId23"/>
    <p:sldId id="288" r:id="rId24"/>
    <p:sldId id="287" r:id="rId25"/>
    <p:sldId id="313" r:id="rId26"/>
    <p:sldId id="314" r:id="rId27"/>
    <p:sldId id="304" r:id="rId28"/>
    <p:sldId id="305" r:id="rId29"/>
    <p:sldId id="307" r:id="rId30"/>
    <p:sldId id="310" r:id="rId31"/>
    <p:sldId id="311" r:id="rId32"/>
    <p:sldId id="289" r:id="rId33"/>
    <p:sldId id="290" r:id="rId34"/>
    <p:sldId id="291" r:id="rId35"/>
    <p:sldId id="292" r:id="rId36"/>
    <p:sldId id="293" r:id="rId37"/>
    <p:sldId id="294" r:id="rId38"/>
    <p:sldId id="315" r:id="rId39"/>
    <p:sldId id="318" r:id="rId40"/>
    <p:sldId id="319" r:id="rId41"/>
    <p:sldId id="295" r:id="rId42"/>
    <p:sldId id="320" r:id="rId43"/>
    <p:sldId id="330" r:id="rId44"/>
    <p:sldId id="331" r:id="rId45"/>
    <p:sldId id="323" r:id="rId46"/>
    <p:sldId id="325" r:id="rId47"/>
    <p:sldId id="326" r:id="rId48"/>
    <p:sldId id="332" r:id="rId49"/>
    <p:sldId id="338" r:id="rId50"/>
    <p:sldId id="339" r:id="rId51"/>
    <p:sldId id="340" r:id="rId52"/>
    <p:sldId id="333" r:id="rId53"/>
    <p:sldId id="334" r:id="rId54"/>
    <p:sldId id="335" r:id="rId55"/>
    <p:sldId id="336" r:id="rId56"/>
    <p:sldId id="337" r:id="rId57"/>
  </p:sldIdLst>
  <p:sldSz cx="9144000" cy="5143500" type="screen16x9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516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C7AF8F-698C-4C5F-B50B-EAA1FC2FF86D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AD58492-86A6-4D98-973C-6A77B11016FA}">
      <dgm:prSet/>
      <dgm:spPr/>
      <dgm:t>
        <a:bodyPr/>
        <a:lstStyle/>
        <a:p>
          <a:pPr rtl="0"/>
          <a:r>
            <a:rPr lang="en-US" b="1" dirty="0" smtClean="0"/>
            <a:t> </a:t>
          </a:r>
          <a:r>
            <a:rPr lang="en-US" b="1" dirty="0"/>
            <a:t>In-line Styles</a:t>
          </a:r>
          <a:endParaRPr lang="en-US" dirty="0"/>
        </a:p>
      </dgm:t>
    </dgm:pt>
    <dgm:pt modelId="{7C5A7264-6E70-442B-BD4D-0CDDD7361813}" type="parTrans" cxnId="{3EEE870F-2681-4192-AD6B-5B5E93DA0C98}">
      <dgm:prSet/>
      <dgm:spPr/>
      <dgm:t>
        <a:bodyPr/>
        <a:lstStyle/>
        <a:p>
          <a:endParaRPr lang="en-US"/>
        </a:p>
      </dgm:t>
    </dgm:pt>
    <dgm:pt modelId="{14F64403-B3DC-46C3-9E80-AF6EE44C5C2B}" type="sibTrans" cxnId="{3EEE870F-2681-4192-AD6B-5B5E93DA0C98}">
      <dgm:prSet/>
      <dgm:spPr/>
      <dgm:t>
        <a:bodyPr/>
        <a:lstStyle/>
        <a:p>
          <a:endParaRPr lang="en-US"/>
        </a:p>
      </dgm:t>
    </dgm:pt>
    <dgm:pt modelId="{CBEA5EC3-6AE7-42F5-AFAE-0424E5082418}" type="pres">
      <dgm:prSet presAssocID="{C6C7AF8F-698C-4C5F-B50B-EAA1FC2FF86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E26BA21-E264-4503-A5EA-C9F5086AA25A}" type="pres">
      <dgm:prSet presAssocID="{CAD58492-86A6-4D98-973C-6A77B11016F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EEE870F-2681-4192-AD6B-5B5E93DA0C98}" srcId="{C6C7AF8F-698C-4C5F-B50B-EAA1FC2FF86D}" destId="{CAD58492-86A6-4D98-973C-6A77B11016FA}" srcOrd="0" destOrd="0" parTransId="{7C5A7264-6E70-442B-BD4D-0CDDD7361813}" sibTransId="{14F64403-B3DC-46C3-9E80-AF6EE44C5C2B}"/>
    <dgm:cxn modelId="{DC3ECDE0-C4EA-4008-8B43-9536395EBAE5}" type="presOf" srcId="{CAD58492-86A6-4D98-973C-6A77B11016FA}" destId="{9E26BA21-E264-4503-A5EA-C9F5086AA25A}" srcOrd="0" destOrd="0" presId="urn:microsoft.com/office/officeart/2005/8/layout/vList2"/>
    <dgm:cxn modelId="{A97EB290-C80F-4410-8835-B10C652B5FAE}" type="presOf" srcId="{C6C7AF8F-698C-4C5F-B50B-EAA1FC2FF86D}" destId="{CBEA5EC3-6AE7-42F5-AFAE-0424E5082418}" srcOrd="0" destOrd="0" presId="urn:microsoft.com/office/officeart/2005/8/layout/vList2"/>
    <dgm:cxn modelId="{58343CDE-F03F-48CE-9F67-0C27822A59A4}" type="presParOf" srcId="{CBEA5EC3-6AE7-42F5-AFAE-0424E5082418}" destId="{9E26BA21-E264-4503-A5EA-C9F5086AA25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D226B3-5A77-4E5A-85AF-6B521293FD34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F96E514-8214-43F6-A7B7-42AA4D4F924F}">
      <dgm:prSet/>
      <dgm:spPr/>
      <dgm:t>
        <a:bodyPr/>
        <a:lstStyle/>
        <a:p>
          <a:pPr rtl="0"/>
          <a:r>
            <a:rPr lang="en-US" b="1" dirty="0" smtClean="0"/>
            <a:t>Styling </a:t>
          </a:r>
          <a:r>
            <a:rPr lang="en-US" b="1" dirty="0"/>
            <a:t>Links</a:t>
          </a:r>
          <a:endParaRPr lang="en-US" dirty="0"/>
        </a:p>
      </dgm:t>
    </dgm:pt>
    <dgm:pt modelId="{D0D36153-C198-4729-87C4-192AF60E7031}" type="parTrans" cxnId="{0C2493E6-6EC4-4B5B-AFC3-C3BE3D655856}">
      <dgm:prSet/>
      <dgm:spPr/>
      <dgm:t>
        <a:bodyPr/>
        <a:lstStyle/>
        <a:p>
          <a:endParaRPr lang="en-US"/>
        </a:p>
      </dgm:t>
    </dgm:pt>
    <dgm:pt modelId="{FD430DEB-E8E4-4425-B373-C2FE38EBC699}" type="sibTrans" cxnId="{0C2493E6-6EC4-4B5B-AFC3-C3BE3D655856}">
      <dgm:prSet/>
      <dgm:spPr/>
      <dgm:t>
        <a:bodyPr/>
        <a:lstStyle/>
        <a:p>
          <a:endParaRPr lang="en-US"/>
        </a:p>
      </dgm:t>
    </dgm:pt>
    <dgm:pt modelId="{CFDBDFE9-5C99-4A9A-976C-20BB0F19481B}" type="pres">
      <dgm:prSet presAssocID="{5FD226B3-5A77-4E5A-85AF-6B521293FD3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0C61DE6-5955-403A-B9F4-7FD68796BD46}" type="pres">
      <dgm:prSet presAssocID="{7F96E514-8214-43F6-A7B7-42AA4D4F924F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C967DE2-7C1C-4CCC-A660-58CCB3B9C6C1}" type="presOf" srcId="{5FD226B3-5A77-4E5A-85AF-6B521293FD34}" destId="{CFDBDFE9-5C99-4A9A-976C-20BB0F19481B}" srcOrd="0" destOrd="0" presId="urn:microsoft.com/office/officeart/2005/8/layout/vList2"/>
    <dgm:cxn modelId="{7F707D8D-D974-4AE6-B587-909E53AE9920}" type="presOf" srcId="{7F96E514-8214-43F6-A7B7-42AA4D4F924F}" destId="{80C61DE6-5955-403A-B9F4-7FD68796BD46}" srcOrd="0" destOrd="0" presId="urn:microsoft.com/office/officeart/2005/8/layout/vList2"/>
    <dgm:cxn modelId="{0C2493E6-6EC4-4B5B-AFC3-C3BE3D655856}" srcId="{5FD226B3-5A77-4E5A-85AF-6B521293FD34}" destId="{7F96E514-8214-43F6-A7B7-42AA4D4F924F}" srcOrd="0" destOrd="0" parTransId="{D0D36153-C198-4729-87C4-192AF60E7031}" sibTransId="{FD430DEB-E8E4-4425-B373-C2FE38EBC699}"/>
    <dgm:cxn modelId="{D356F66C-4498-44EF-A4A1-CE058088C454}" type="presParOf" srcId="{CFDBDFE9-5C99-4A9A-976C-20BB0F19481B}" destId="{80C61DE6-5955-403A-B9F4-7FD68796BD4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E30DC3-D257-41CB-9909-6E44241712B2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E590081-43BF-4AA8-B3F1-371A6295B255}">
      <dgm:prSet/>
      <dgm:spPr/>
      <dgm:t>
        <a:bodyPr/>
        <a:lstStyle/>
        <a:p>
          <a:pPr rtl="0"/>
          <a:r>
            <a:rPr lang="en-US" b="1" dirty="0" smtClean="0"/>
            <a:t>Styling </a:t>
          </a:r>
          <a:r>
            <a:rPr lang="en-US" b="1" dirty="0"/>
            <a:t>links…</a:t>
          </a:r>
          <a:endParaRPr lang="en-US" dirty="0"/>
        </a:p>
      </dgm:t>
    </dgm:pt>
    <dgm:pt modelId="{9A78AA80-D2D8-4547-A5D6-E7AD81A4AACC}" type="parTrans" cxnId="{4DB9C0DF-80B8-4486-A96D-11A56F7D0291}">
      <dgm:prSet/>
      <dgm:spPr/>
      <dgm:t>
        <a:bodyPr/>
        <a:lstStyle/>
        <a:p>
          <a:endParaRPr lang="en-US"/>
        </a:p>
      </dgm:t>
    </dgm:pt>
    <dgm:pt modelId="{7C90159C-AF15-4FB9-82DC-EC28BB4A06A2}" type="sibTrans" cxnId="{4DB9C0DF-80B8-4486-A96D-11A56F7D0291}">
      <dgm:prSet/>
      <dgm:spPr/>
      <dgm:t>
        <a:bodyPr/>
        <a:lstStyle/>
        <a:p>
          <a:endParaRPr lang="en-US"/>
        </a:p>
      </dgm:t>
    </dgm:pt>
    <dgm:pt modelId="{3DD07E67-562C-42C7-8816-3683BCA6F610}" type="pres">
      <dgm:prSet presAssocID="{2FE30DC3-D257-41CB-9909-6E44241712B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D4E6C0F-BA92-44FD-AF7A-42628CE264C6}" type="pres">
      <dgm:prSet presAssocID="{2E590081-43BF-4AA8-B3F1-371A6295B255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574891D-2A3A-4F03-8D1F-F6109CD3B3F8}" type="presOf" srcId="{2E590081-43BF-4AA8-B3F1-371A6295B255}" destId="{4D4E6C0F-BA92-44FD-AF7A-42628CE264C6}" srcOrd="0" destOrd="0" presId="urn:microsoft.com/office/officeart/2005/8/layout/vList2"/>
    <dgm:cxn modelId="{4DB9C0DF-80B8-4486-A96D-11A56F7D0291}" srcId="{2FE30DC3-D257-41CB-9909-6E44241712B2}" destId="{2E590081-43BF-4AA8-B3F1-371A6295B255}" srcOrd="0" destOrd="0" parTransId="{9A78AA80-D2D8-4547-A5D6-E7AD81A4AACC}" sibTransId="{7C90159C-AF15-4FB9-82DC-EC28BB4A06A2}"/>
    <dgm:cxn modelId="{99FFE4CE-42D6-4401-8A76-9F4D2B35BE1B}" type="presOf" srcId="{2FE30DC3-D257-41CB-9909-6E44241712B2}" destId="{3DD07E67-562C-42C7-8816-3683BCA6F610}" srcOrd="0" destOrd="0" presId="urn:microsoft.com/office/officeart/2005/8/layout/vList2"/>
    <dgm:cxn modelId="{ABFF3875-89EA-44DB-907C-6F3E44D97F08}" type="presParOf" srcId="{3DD07E67-562C-42C7-8816-3683BCA6F610}" destId="{4D4E6C0F-BA92-44FD-AF7A-42628CE264C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167FE4-079B-4880-AC16-95485A9FF75B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A2B5A7D-BA8A-427F-B69C-C5F449B5FDEF}">
      <dgm:prSet/>
      <dgm:spPr/>
      <dgm:t>
        <a:bodyPr/>
        <a:lstStyle/>
        <a:p>
          <a:pPr rtl="0"/>
          <a:r>
            <a:rPr lang="en-US" b="1"/>
            <a:t>4. Styling Background</a:t>
          </a:r>
          <a:endParaRPr lang="en-US"/>
        </a:p>
      </dgm:t>
    </dgm:pt>
    <dgm:pt modelId="{0F2EDC4B-BFE2-45E2-AF23-D40C1B9177A1}" type="parTrans" cxnId="{4F7A25F0-E6DE-4480-AF64-865DE50F3C3E}">
      <dgm:prSet/>
      <dgm:spPr/>
      <dgm:t>
        <a:bodyPr/>
        <a:lstStyle/>
        <a:p>
          <a:endParaRPr lang="en-US"/>
        </a:p>
      </dgm:t>
    </dgm:pt>
    <dgm:pt modelId="{D638D27E-F428-49DE-9237-D07AFBAB2769}" type="sibTrans" cxnId="{4F7A25F0-E6DE-4480-AF64-865DE50F3C3E}">
      <dgm:prSet/>
      <dgm:spPr/>
      <dgm:t>
        <a:bodyPr/>
        <a:lstStyle/>
        <a:p>
          <a:endParaRPr lang="en-US"/>
        </a:p>
      </dgm:t>
    </dgm:pt>
    <dgm:pt modelId="{C665B47A-7C94-4ED8-B15A-8871D630FA4E}" type="pres">
      <dgm:prSet presAssocID="{9A167FE4-079B-4880-AC16-95485A9FF75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B74D848-8CF3-404D-BE0D-9B4A123722D4}" type="pres">
      <dgm:prSet presAssocID="{0A2B5A7D-BA8A-427F-B69C-C5F449B5FDEF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7E0B966-CBEA-473B-A44E-44F4A94FDBEA}" type="presOf" srcId="{9A167FE4-079B-4880-AC16-95485A9FF75B}" destId="{C665B47A-7C94-4ED8-B15A-8871D630FA4E}" srcOrd="0" destOrd="0" presId="urn:microsoft.com/office/officeart/2005/8/layout/vList2"/>
    <dgm:cxn modelId="{4F7A25F0-E6DE-4480-AF64-865DE50F3C3E}" srcId="{9A167FE4-079B-4880-AC16-95485A9FF75B}" destId="{0A2B5A7D-BA8A-427F-B69C-C5F449B5FDEF}" srcOrd="0" destOrd="0" parTransId="{0F2EDC4B-BFE2-45E2-AF23-D40C1B9177A1}" sibTransId="{D638D27E-F428-49DE-9237-D07AFBAB2769}"/>
    <dgm:cxn modelId="{626D773C-764D-4599-B510-2B7B3BF3FBB3}" type="presOf" srcId="{0A2B5A7D-BA8A-427F-B69C-C5F449B5FDEF}" destId="{9B74D848-8CF3-404D-BE0D-9B4A123722D4}" srcOrd="0" destOrd="0" presId="urn:microsoft.com/office/officeart/2005/8/layout/vList2"/>
    <dgm:cxn modelId="{783030E2-46A8-47DB-A438-B8F4F78CE076}" type="presParOf" srcId="{C665B47A-7C94-4ED8-B15A-8871D630FA4E}" destId="{9B74D848-8CF3-404D-BE0D-9B4A123722D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5002CAB-2EB1-405C-A297-7FD5B05C1651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27E8F55-398A-4A3B-ADE6-F8A837D0ACAA}">
      <dgm:prSet/>
      <dgm:spPr/>
      <dgm:t>
        <a:bodyPr/>
        <a:lstStyle/>
        <a:p>
          <a:pPr rtl="0"/>
          <a:r>
            <a:rPr lang="en-US" b="1" dirty="0" smtClean="0"/>
            <a:t> </a:t>
          </a:r>
          <a:r>
            <a:rPr lang="en-US" b="1" dirty="0"/>
            <a:t>Styling tables…</a:t>
          </a:r>
          <a:endParaRPr lang="en-US" dirty="0"/>
        </a:p>
      </dgm:t>
    </dgm:pt>
    <dgm:pt modelId="{328E7B8E-C9CB-4309-9B88-0AF077993A01}" type="parTrans" cxnId="{3F5E8C85-D719-4E8F-B475-8EEC86F5ED5C}">
      <dgm:prSet/>
      <dgm:spPr/>
      <dgm:t>
        <a:bodyPr/>
        <a:lstStyle/>
        <a:p>
          <a:endParaRPr lang="en-US"/>
        </a:p>
      </dgm:t>
    </dgm:pt>
    <dgm:pt modelId="{DF00B79E-CF06-48B2-BF6C-13653C95970D}" type="sibTrans" cxnId="{3F5E8C85-D719-4E8F-B475-8EEC86F5ED5C}">
      <dgm:prSet/>
      <dgm:spPr/>
      <dgm:t>
        <a:bodyPr/>
        <a:lstStyle/>
        <a:p>
          <a:endParaRPr lang="en-US"/>
        </a:p>
      </dgm:t>
    </dgm:pt>
    <dgm:pt modelId="{6D1851DB-3B56-4C64-89F1-00436C58A6A6}" type="pres">
      <dgm:prSet presAssocID="{45002CAB-2EB1-405C-A297-7FD5B05C165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2B11825-8A05-4AA6-A672-2ED88B7505D6}" type="pres">
      <dgm:prSet presAssocID="{F27E8F55-398A-4A3B-ADE6-F8A837D0ACA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0818467-36D5-47F0-8D37-49F09958FD01}" type="presOf" srcId="{45002CAB-2EB1-405C-A297-7FD5B05C1651}" destId="{6D1851DB-3B56-4C64-89F1-00436C58A6A6}" srcOrd="0" destOrd="0" presId="urn:microsoft.com/office/officeart/2005/8/layout/vList2"/>
    <dgm:cxn modelId="{66872FC9-AA87-49C9-B748-AC52C88E158F}" type="presOf" srcId="{F27E8F55-398A-4A3B-ADE6-F8A837D0ACAA}" destId="{C2B11825-8A05-4AA6-A672-2ED88B7505D6}" srcOrd="0" destOrd="0" presId="urn:microsoft.com/office/officeart/2005/8/layout/vList2"/>
    <dgm:cxn modelId="{3F5E8C85-D719-4E8F-B475-8EEC86F5ED5C}" srcId="{45002CAB-2EB1-405C-A297-7FD5B05C1651}" destId="{F27E8F55-398A-4A3B-ADE6-F8A837D0ACAA}" srcOrd="0" destOrd="0" parTransId="{328E7B8E-C9CB-4309-9B88-0AF077993A01}" sibTransId="{DF00B79E-CF06-48B2-BF6C-13653C95970D}"/>
    <dgm:cxn modelId="{2B69BEC8-89F7-4935-8C2F-55389CBA0D13}" type="presParOf" srcId="{6D1851DB-3B56-4C64-89F1-00436C58A6A6}" destId="{C2B11825-8A05-4AA6-A672-2ED88B7505D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5002CAB-2EB1-405C-A297-7FD5B05C1651}" type="doc">
      <dgm:prSet loTypeId="urn:microsoft.com/office/officeart/2005/8/layout/vList2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F27E8F55-398A-4A3B-ADE6-F8A837D0ACAA}">
      <dgm:prSet/>
      <dgm:spPr/>
      <dgm:t>
        <a:bodyPr/>
        <a:lstStyle/>
        <a:p>
          <a:pPr rtl="0"/>
          <a:r>
            <a:rPr lang="en-US" b="1" dirty="0" smtClean="0"/>
            <a:t>Styling </a:t>
          </a:r>
          <a:r>
            <a:rPr lang="en-US" b="1" dirty="0"/>
            <a:t>tables…</a:t>
          </a:r>
          <a:endParaRPr lang="en-US" dirty="0"/>
        </a:p>
      </dgm:t>
    </dgm:pt>
    <dgm:pt modelId="{328E7B8E-C9CB-4309-9B88-0AF077993A01}" type="parTrans" cxnId="{3F5E8C85-D719-4E8F-B475-8EEC86F5ED5C}">
      <dgm:prSet/>
      <dgm:spPr/>
      <dgm:t>
        <a:bodyPr/>
        <a:lstStyle/>
        <a:p>
          <a:endParaRPr lang="en-US"/>
        </a:p>
      </dgm:t>
    </dgm:pt>
    <dgm:pt modelId="{DF00B79E-CF06-48B2-BF6C-13653C95970D}" type="sibTrans" cxnId="{3F5E8C85-D719-4E8F-B475-8EEC86F5ED5C}">
      <dgm:prSet/>
      <dgm:spPr/>
      <dgm:t>
        <a:bodyPr/>
        <a:lstStyle/>
        <a:p>
          <a:endParaRPr lang="en-US"/>
        </a:p>
      </dgm:t>
    </dgm:pt>
    <dgm:pt modelId="{6D1851DB-3B56-4C64-89F1-00436C58A6A6}" type="pres">
      <dgm:prSet presAssocID="{45002CAB-2EB1-405C-A297-7FD5B05C165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2B11825-8A05-4AA6-A672-2ED88B7505D6}" type="pres">
      <dgm:prSet presAssocID="{F27E8F55-398A-4A3B-ADE6-F8A837D0ACA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86E4E6C-40AC-42B9-972D-A01C262728A0}" type="presOf" srcId="{F27E8F55-398A-4A3B-ADE6-F8A837D0ACAA}" destId="{C2B11825-8A05-4AA6-A672-2ED88B7505D6}" srcOrd="0" destOrd="0" presId="urn:microsoft.com/office/officeart/2005/8/layout/vList2"/>
    <dgm:cxn modelId="{C4E489C5-EF92-4015-9806-F76EDFA5B9E6}" type="presOf" srcId="{45002CAB-2EB1-405C-A297-7FD5B05C1651}" destId="{6D1851DB-3B56-4C64-89F1-00436C58A6A6}" srcOrd="0" destOrd="0" presId="urn:microsoft.com/office/officeart/2005/8/layout/vList2"/>
    <dgm:cxn modelId="{3F5E8C85-D719-4E8F-B475-8EEC86F5ED5C}" srcId="{45002CAB-2EB1-405C-A297-7FD5B05C1651}" destId="{F27E8F55-398A-4A3B-ADE6-F8A837D0ACAA}" srcOrd="0" destOrd="0" parTransId="{328E7B8E-C9CB-4309-9B88-0AF077993A01}" sibTransId="{DF00B79E-CF06-48B2-BF6C-13653C95970D}"/>
    <dgm:cxn modelId="{E1F8E083-E0F0-473E-A909-469677DD82BC}" type="presParOf" srcId="{6D1851DB-3B56-4C64-89F1-00436C58A6A6}" destId="{C2B11825-8A05-4AA6-A672-2ED88B7505D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6BA21-E264-4503-A5EA-C9F5086AA25A}">
      <dsp:nvSpPr>
        <dsp:cNvPr id="0" name=""/>
        <dsp:cNvSpPr/>
      </dsp:nvSpPr>
      <dsp:spPr>
        <a:xfrm>
          <a:off x="0" y="8887"/>
          <a:ext cx="8229600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 smtClean="0"/>
            <a:t> </a:t>
          </a:r>
          <a:r>
            <a:rPr lang="en-US" sz="3500" b="1" kern="1200" dirty="0"/>
            <a:t>In-line Styles</a:t>
          </a:r>
          <a:endParaRPr lang="en-US" sz="3500" kern="1200" dirty="0"/>
        </a:p>
      </dsp:txBody>
      <dsp:txXfrm>
        <a:off x="40980" y="49867"/>
        <a:ext cx="8147640" cy="757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61DE6-5955-403A-B9F4-7FD68796BD46}">
      <dsp:nvSpPr>
        <dsp:cNvPr id="0" name=""/>
        <dsp:cNvSpPr/>
      </dsp:nvSpPr>
      <dsp:spPr>
        <a:xfrm>
          <a:off x="0" y="8887"/>
          <a:ext cx="8229600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 smtClean="0"/>
            <a:t>Styling </a:t>
          </a:r>
          <a:r>
            <a:rPr lang="en-US" sz="3500" b="1" kern="1200" dirty="0"/>
            <a:t>Links</a:t>
          </a:r>
          <a:endParaRPr lang="en-US" sz="3500" kern="1200" dirty="0"/>
        </a:p>
      </dsp:txBody>
      <dsp:txXfrm>
        <a:off x="40980" y="49867"/>
        <a:ext cx="8147640" cy="7575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E6C0F-BA92-44FD-AF7A-42628CE264C6}">
      <dsp:nvSpPr>
        <dsp:cNvPr id="0" name=""/>
        <dsp:cNvSpPr/>
      </dsp:nvSpPr>
      <dsp:spPr>
        <a:xfrm>
          <a:off x="0" y="8887"/>
          <a:ext cx="8229600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 smtClean="0"/>
            <a:t>Styling </a:t>
          </a:r>
          <a:r>
            <a:rPr lang="en-US" sz="3500" b="1" kern="1200" dirty="0"/>
            <a:t>links…</a:t>
          </a:r>
          <a:endParaRPr lang="en-US" sz="3500" kern="1200" dirty="0"/>
        </a:p>
      </dsp:txBody>
      <dsp:txXfrm>
        <a:off x="40980" y="49867"/>
        <a:ext cx="8147640" cy="7575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74D848-8CF3-404D-BE0D-9B4A123722D4}">
      <dsp:nvSpPr>
        <dsp:cNvPr id="0" name=""/>
        <dsp:cNvSpPr/>
      </dsp:nvSpPr>
      <dsp:spPr>
        <a:xfrm>
          <a:off x="0" y="8887"/>
          <a:ext cx="8229600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/>
            <a:t>4. Styling Background</a:t>
          </a:r>
          <a:endParaRPr lang="en-US" sz="3500" kern="1200"/>
        </a:p>
      </dsp:txBody>
      <dsp:txXfrm>
        <a:off x="40980" y="49867"/>
        <a:ext cx="8147640" cy="7575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B11825-8A05-4AA6-A672-2ED88B7505D6}">
      <dsp:nvSpPr>
        <dsp:cNvPr id="0" name=""/>
        <dsp:cNvSpPr/>
      </dsp:nvSpPr>
      <dsp:spPr>
        <a:xfrm>
          <a:off x="0" y="8887"/>
          <a:ext cx="8229600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 smtClean="0"/>
            <a:t> </a:t>
          </a:r>
          <a:r>
            <a:rPr lang="en-US" sz="3500" b="1" kern="1200" dirty="0"/>
            <a:t>Styling tables…</a:t>
          </a:r>
          <a:endParaRPr lang="en-US" sz="3500" kern="1200" dirty="0"/>
        </a:p>
      </dsp:txBody>
      <dsp:txXfrm>
        <a:off x="40980" y="49867"/>
        <a:ext cx="8147640" cy="7575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B11825-8A05-4AA6-A672-2ED88B7505D6}">
      <dsp:nvSpPr>
        <dsp:cNvPr id="0" name=""/>
        <dsp:cNvSpPr/>
      </dsp:nvSpPr>
      <dsp:spPr>
        <a:xfrm>
          <a:off x="0" y="8887"/>
          <a:ext cx="8229600" cy="839474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 smtClean="0"/>
            <a:t>Styling </a:t>
          </a:r>
          <a:r>
            <a:rPr lang="en-US" sz="3500" b="1" kern="1200" dirty="0"/>
            <a:t>tables…</a:t>
          </a:r>
          <a:endParaRPr lang="en-US" sz="3500" kern="1200" dirty="0"/>
        </a:p>
      </dsp:txBody>
      <dsp:txXfrm>
        <a:off x="40980" y="49867"/>
        <a:ext cx="8147640" cy="757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D4A0D-D9F8-46DF-92C1-3B9BBE6D219D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5C359-C17F-461E-9E46-7772F9831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1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385763"/>
            <a:ext cx="3429000" cy="1928812"/>
          </a:xfrm>
        </p:spPr>
      </p:sp>
      <p:sp>
        <p:nvSpPr>
          <p:cNvPr id="104865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dirty="0"/>
          </a:p>
        </p:txBody>
      </p:sp>
      <p:sp>
        <p:nvSpPr>
          <p:cNvPr id="104865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2B70E-41B7-49F8-A232-AE562DCC463D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385763"/>
            <a:ext cx="3429000" cy="1928812"/>
          </a:xfrm>
        </p:spPr>
      </p:sp>
      <p:sp>
        <p:nvSpPr>
          <p:cNvPr id="1048658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dirty="0"/>
          </a:p>
        </p:txBody>
      </p:sp>
      <p:sp>
        <p:nvSpPr>
          <p:cNvPr id="104865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2B70E-41B7-49F8-A232-AE562DCC463D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385763"/>
            <a:ext cx="3429000" cy="1928812"/>
          </a:xfrm>
        </p:spPr>
      </p:sp>
      <p:sp>
        <p:nvSpPr>
          <p:cNvPr id="1048669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dirty="0"/>
          </a:p>
        </p:txBody>
      </p:sp>
      <p:sp>
        <p:nvSpPr>
          <p:cNvPr id="104867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2B70E-41B7-49F8-A232-AE562DCC463D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448119"/>
            <a:ext cx="348424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448119"/>
            <a:ext cx="704723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216355"/>
            <a:ext cx="8004809" cy="2985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ref/css_selectors.asp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ref/playdemo.php?filename=playcss_background-position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3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4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9050" y="748799"/>
            <a:ext cx="3646170" cy="3646170"/>
          </a:xfrm>
          <a:custGeom>
            <a:avLst/>
            <a:gdLst/>
            <a:ahLst/>
            <a:cxnLst/>
            <a:rect l="l" t="t" r="r" b="b"/>
            <a:pathLst>
              <a:path w="3646170" h="3646170">
                <a:moveTo>
                  <a:pt x="3645899" y="3645899"/>
                </a:moveTo>
                <a:lnTo>
                  <a:pt x="0" y="3645899"/>
                </a:lnTo>
                <a:lnTo>
                  <a:pt x="0" y="0"/>
                </a:lnTo>
                <a:lnTo>
                  <a:pt x="3645899" y="0"/>
                </a:lnTo>
                <a:lnTo>
                  <a:pt x="3645899" y="36458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2950" y="992699"/>
            <a:ext cx="3158490" cy="3158490"/>
          </a:xfrm>
          <a:prstGeom prst="rect">
            <a:avLst/>
          </a:prstGeom>
          <a:solidFill>
            <a:srgbClr val="F45E61"/>
          </a:solidFill>
          <a:ln w="2857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spcBef>
                <a:spcPts val="55"/>
              </a:spcBef>
            </a:pPr>
            <a:endParaRPr/>
          </a:p>
          <a:p>
            <a:pPr marL="1224280" marR="190500" indent="-1028700">
              <a:lnSpc>
                <a:spcPts val="3829"/>
              </a:lnSpc>
            </a:pPr>
            <a:r>
              <a:rPr spc="-215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r>
              <a:rPr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25" dirty="0">
                <a:solidFill>
                  <a:srgbClr val="FFFFFF"/>
                </a:solidFill>
                <a:latin typeface="Tahoma"/>
                <a:cs typeface="Tahoma"/>
              </a:rPr>
              <a:t>to 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-20" dirty="0"/>
              <a:t> </a:t>
            </a:r>
            <a:r>
              <a:rPr spc="200" dirty="0"/>
              <a:t>=</a:t>
            </a:r>
            <a:r>
              <a:rPr spc="-20" dirty="0"/>
              <a:t> </a:t>
            </a:r>
            <a:r>
              <a:rPr spc="110" dirty="0"/>
              <a:t>Cascading</a:t>
            </a:r>
            <a:r>
              <a:rPr spc="-20" dirty="0"/>
              <a:t> </a:t>
            </a:r>
            <a:r>
              <a:rPr spc="90" dirty="0"/>
              <a:t>Style</a:t>
            </a:r>
            <a:r>
              <a:rPr spc="-15" dirty="0"/>
              <a:t> </a:t>
            </a:r>
            <a:r>
              <a:rPr spc="135" dirty="0"/>
              <a:t>Sheets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547609" cy="814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"style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sheet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language"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lets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style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page.</a:t>
            </a: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works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conjunction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HTML,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but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not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itself.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397" y="2719401"/>
            <a:ext cx="807720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1335" marR="5080" indent="-1779270">
              <a:lnSpc>
                <a:spcPct val="114599"/>
              </a:lnSpc>
              <a:spcBef>
                <a:spcPts val="100"/>
              </a:spcBef>
            </a:pPr>
            <a:r>
              <a:rPr sz="1800" spc="-25" dirty="0">
                <a:solidFill>
                  <a:srgbClr val="F45E61"/>
                </a:solidFill>
                <a:latin typeface="Tahoma"/>
                <a:cs typeface="Tahoma"/>
              </a:rPr>
              <a:t>So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far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we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learned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how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to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create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45E61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paragraph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like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this</a:t>
            </a:r>
            <a:r>
              <a:rPr sz="1800" spc="-16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in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F45E61"/>
                </a:solidFill>
                <a:latin typeface="Tahoma"/>
                <a:cs typeface="Tahoma"/>
              </a:rPr>
              <a:t>HTML,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but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how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do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we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45E61"/>
                </a:solidFill>
                <a:latin typeface="Tahoma"/>
                <a:cs typeface="Tahoma"/>
              </a:rPr>
              <a:t>add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color</a:t>
            </a:r>
            <a:r>
              <a:rPr sz="1800" spc="-15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to</a:t>
            </a:r>
            <a:r>
              <a:rPr sz="18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F45E61"/>
                </a:solidFill>
                <a:latin typeface="Tahoma"/>
                <a:cs typeface="Tahoma"/>
              </a:rPr>
              <a:t>it</a:t>
            </a:r>
            <a:r>
              <a:rPr sz="18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or</a:t>
            </a:r>
            <a:r>
              <a:rPr sz="1800" spc="-15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align</a:t>
            </a:r>
            <a:r>
              <a:rPr sz="18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F45E61"/>
                </a:solidFill>
                <a:latin typeface="Tahoma"/>
                <a:cs typeface="Tahoma"/>
              </a:rPr>
              <a:t>it</a:t>
            </a:r>
            <a:r>
              <a:rPr sz="18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center</a:t>
            </a:r>
            <a:r>
              <a:rPr sz="18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of</a:t>
            </a:r>
            <a:r>
              <a:rPr sz="1800" spc="-15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page?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Basharat Mahm ood, Department of Computer Science, CIIT,Islamabad, Pakistan</a:t>
            </a:r>
            <a:endParaRPr lang="en-US" dirty="0"/>
          </a:p>
        </p:txBody>
      </p:sp>
      <p:sp>
        <p:nvSpPr>
          <p:cNvPr id="104860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D1BB0B1-F5A1-4ED6-814D-7F67699B7935}" type="slidenum">
              <a:rPr lang="en-US" smtClean="0"/>
              <a:t>3</a:t>
            </a:fld>
            <a:endParaRPr lang="en-US" dirty="0"/>
          </a:p>
        </p:txBody>
      </p:sp>
      <p:pic>
        <p:nvPicPr>
          <p:cNvPr id="209715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6868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1917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The</a:t>
            </a:r>
            <a:r>
              <a:rPr spc="5" dirty="0"/>
              <a:t> </a:t>
            </a:r>
            <a:r>
              <a:rPr dirty="0"/>
              <a:t>CSS</a:t>
            </a:r>
            <a:r>
              <a:rPr spc="5" dirty="0"/>
              <a:t> </a:t>
            </a:r>
            <a:r>
              <a:rPr spc="60"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4121785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1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block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code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rule.</a:t>
            </a:r>
            <a:endParaRPr sz="1800">
              <a:latin typeface="Tahoma"/>
              <a:cs typeface="Tahoma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rule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starts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selector.</a:t>
            </a:r>
            <a:endParaRPr sz="1800">
              <a:latin typeface="Tahoma"/>
              <a:cs typeface="Tahoma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has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sets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properties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values.</a:t>
            </a:r>
            <a:endParaRPr sz="1800">
              <a:latin typeface="Tahoma"/>
              <a:cs typeface="Tahoma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spc="1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property-value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pair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declaration.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5087" y="2797257"/>
            <a:ext cx="3921017" cy="20223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60" dirty="0"/>
              <a:t> </a:t>
            </a:r>
            <a:r>
              <a:rPr spc="80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577596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Selector: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element(s)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want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apply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CSS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rule</a:t>
            </a:r>
            <a:r>
              <a:rPr sz="1800" spc="-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005026"/>
            <a:ext cx="579374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Declaration: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property-value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pairs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style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you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plan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249" y="2833701"/>
            <a:ext cx="568134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Declarations</a:t>
            </a:r>
            <a:r>
              <a:rPr sz="1800" spc="-11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end</a:t>
            </a:r>
            <a:r>
              <a:rPr sz="1800" spc="-1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1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semicolon</a:t>
            </a:r>
            <a:endParaRPr sz="1800">
              <a:latin typeface="Tahoma"/>
              <a:cs typeface="Tahoma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Declaration</a:t>
            </a:r>
            <a:r>
              <a:rPr sz="1800" spc="-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groups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surrounded</a:t>
            </a:r>
            <a:r>
              <a:rPr sz="1800" spc="-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curly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brackets.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04800" y="2117598"/>
            <a:ext cx="1945005" cy="1263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425" marR="5080" indent="-213360">
              <a:lnSpc>
                <a:spcPct val="116100"/>
              </a:lnSpc>
              <a:spcBef>
                <a:spcPts val="100"/>
              </a:spcBef>
            </a:pP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selector</a:t>
            </a:r>
            <a:r>
              <a:rPr sz="1400" spc="-40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 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property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-45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value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 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property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-45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value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 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property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-45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value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7900" y="3941623"/>
            <a:ext cx="1412240" cy="7683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p</a:t>
            </a:r>
            <a:r>
              <a:rPr sz="1400" spc="-5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color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-30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spc="-20" dirty="0">
                <a:solidFill>
                  <a:srgbClr val="718C00"/>
                </a:solidFill>
                <a:latin typeface="Courier New"/>
                <a:cs typeface="Courier New"/>
              </a:rPr>
              <a:t>red</a:t>
            </a:r>
            <a:r>
              <a:rPr sz="1400" spc="-2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18373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8323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/>
              <a:t>Connecting</a:t>
            </a:r>
            <a:r>
              <a:rPr spc="-15" dirty="0"/>
              <a:t> </a:t>
            </a:r>
            <a:r>
              <a:rPr dirty="0"/>
              <a:t>CSS</a:t>
            </a:r>
            <a:r>
              <a:rPr spc="-10" dirty="0"/>
              <a:t> </a:t>
            </a:r>
            <a:r>
              <a:rPr spc="130" dirty="0"/>
              <a:t>to</a:t>
            </a:r>
            <a:r>
              <a:rPr spc="-10" dirty="0"/>
              <a:t> </a:t>
            </a:r>
            <a:r>
              <a:rPr spc="-25" dirty="0"/>
              <a:t>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270875" cy="179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70" dirty="0">
                <a:solidFill>
                  <a:srgbClr val="5E686C"/>
                </a:solidFill>
                <a:latin typeface="Tahoma"/>
                <a:cs typeface="Tahoma"/>
              </a:rPr>
              <a:t>Now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know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what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does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rule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look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like.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But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how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do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customize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our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pages?</a:t>
            </a:r>
            <a:endParaRPr sz="1800">
              <a:latin typeface="Tahoma"/>
              <a:cs typeface="Tahoma"/>
            </a:endParaRPr>
          </a:p>
          <a:p>
            <a:pPr marL="469265" indent="-409575">
              <a:lnSpc>
                <a:spcPct val="100000"/>
              </a:lnSpc>
              <a:spcBef>
                <a:spcPts val="1890"/>
              </a:spcBef>
              <a:buAutoNum type="arabicPeriod"/>
              <a:tabLst>
                <a:tab pos="469265" algn="l"/>
              </a:tabLst>
            </a:pP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Inline</a:t>
            </a:r>
            <a:endParaRPr sz="1800">
              <a:latin typeface="Tahoma"/>
              <a:cs typeface="Tahoma"/>
            </a:endParaRPr>
          </a:p>
          <a:p>
            <a:pPr marL="469265" indent="-40957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69265" algn="l"/>
              </a:tabLst>
            </a:pP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Embedded</a:t>
            </a:r>
            <a:endParaRPr sz="1800">
              <a:latin typeface="Tahoma"/>
              <a:cs typeface="Tahoma"/>
            </a:endParaRPr>
          </a:p>
          <a:p>
            <a:pPr marL="469265" indent="-40957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69265" algn="l"/>
              </a:tabLst>
            </a:pP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External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9" name="Diagram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6866421"/>
              </p:ext>
            </p:extLst>
          </p:nvPr>
        </p:nvGraphicFramePr>
        <p:xfrm>
          <a:off x="457200" y="205979"/>
          <a:ext cx="8229600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486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971550"/>
            <a:ext cx="7543800" cy="3771900"/>
          </a:xfrm>
        </p:spPr>
        <p:txBody>
          <a:bodyPr>
            <a:noAutofit/>
          </a:bodyPr>
          <a:lstStyle/>
          <a:p>
            <a:pPr marL="928687" lvl="1" indent="-457200">
              <a:buFont typeface="Wingdings" pitchFamily="2" charset="2"/>
              <a:buChar char="§"/>
            </a:pPr>
            <a:endParaRPr lang="en-US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928687" lvl="1" indent="-457200">
              <a:buFont typeface="Wingdings" pitchFamily="2" charset="2"/>
              <a:buChar char="§"/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Inline 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styles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 are directly applied to the particular HTML element. </a:t>
            </a: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928687" lvl="1" indent="-457200">
              <a:buFont typeface="Wingdings" pitchFamily="2" charset="2"/>
              <a:buChar char="§"/>
            </a:pP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928687" lvl="1" indent="-457200">
              <a:buFont typeface="Wingdings" pitchFamily="2" charset="2"/>
              <a:buChar char="§"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It’s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good for 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quick changes of a specific HTML element in current web pages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. </a:t>
            </a: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928687" lvl="1" indent="-457200">
              <a:buFont typeface="Wingdings" pitchFamily="2" charset="2"/>
              <a:buChar char="§"/>
            </a:pP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928687" lvl="1" indent="-457200">
              <a:buFont typeface="Wingdings" pitchFamily="2" charset="2"/>
              <a:buChar char="§"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However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, it’s the least CSS styles coverage than external and internal style sheets because the CSS styles will only apply to a specific HTML element.</a:t>
            </a:r>
            <a:endParaRPr lang="en-US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09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/>
              <a:t>Connecting</a:t>
            </a:r>
            <a:r>
              <a:rPr spc="-35" dirty="0"/>
              <a:t> </a:t>
            </a:r>
            <a:r>
              <a:rPr dirty="0"/>
              <a:t>CSS</a:t>
            </a:r>
            <a:r>
              <a:rPr spc="-35" dirty="0"/>
              <a:t> </a:t>
            </a:r>
            <a:r>
              <a:rPr spc="130" dirty="0"/>
              <a:t>to</a:t>
            </a:r>
            <a:r>
              <a:rPr spc="-35" dirty="0"/>
              <a:t> </a:t>
            </a:r>
            <a:r>
              <a:rPr spc="-55" dirty="0"/>
              <a:t>HTML:</a:t>
            </a:r>
            <a:r>
              <a:rPr spc="-35" dirty="0"/>
              <a:t> </a:t>
            </a:r>
            <a:r>
              <a:rPr spc="110" dirty="0"/>
              <a:t>Inline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844790" cy="150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Uses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r>
              <a:rPr sz="1800" spc="-1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05B62"/>
                </a:solidFill>
                <a:latin typeface="Tahoma"/>
                <a:cs typeface="Tahoma"/>
              </a:rPr>
              <a:t>style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 marL="2320925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&lt;p</a:t>
            </a:r>
            <a:r>
              <a:rPr sz="1400" spc="-6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05B62"/>
                </a:solidFill>
                <a:latin typeface="Courier New"/>
                <a:cs typeface="Courier New"/>
              </a:rPr>
              <a:t>style="color:red"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&gt;Some</a:t>
            </a:r>
            <a:r>
              <a:rPr sz="1400" spc="-6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text.&lt;/p&gt;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70" dirty="0">
                <a:solidFill>
                  <a:srgbClr val="5E686C"/>
                </a:solidFill>
                <a:latin typeface="Tahoma"/>
                <a:cs typeface="Tahoma"/>
              </a:rPr>
              <a:t>How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would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change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color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all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paragraphs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file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red?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/>
              <a:t>Connecting</a:t>
            </a:r>
            <a:r>
              <a:rPr spc="-35" dirty="0"/>
              <a:t> </a:t>
            </a:r>
            <a:r>
              <a:rPr dirty="0"/>
              <a:t>CSS</a:t>
            </a:r>
            <a:r>
              <a:rPr spc="-35" dirty="0"/>
              <a:t> </a:t>
            </a:r>
            <a:r>
              <a:rPr spc="130" dirty="0"/>
              <a:t>to</a:t>
            </a:r>
            <a:r>
              <a:rPr spc="-35" dirty="0"/>
              <a:t> </a:t>
            </a:r>
            <a:r>
              <a:rPr spc="-55" dirty="0"/>
              <a:t>HTML:</a:t>
            </a:r>
            <a:r>
              <a:rPr spc="-35" dirty="0"/>
              <a:t> </a:t>
            </a:r>
            <a:r>
              <a:rPr spc="110" dirty="0"/>
              <a:t>Inline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844790" cy="2023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Uses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r>
              <a:rPr sz="1800" spc="-1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05B62"/>
                </a:solidFill>
                <a:latin typeface="Tahoma"/>
                <a:cs typeface="Tahoma"/>
              </a:rPr>
              <a:t>style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 marL="530225" algn="ctr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&lt;p</a:t>
            </a:r>
            <a:r>
              <a:rPr sz="1400" spc="-6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05B62"/>
                </a:solidFill>
                <a:latin typeface="Courier New"/>
                <a:cs typeface="Courier New"/>
              </a:rPr>
              <a:t>style="color:red"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&gt;Some</a:t>
            </a:r>
            <a:r>
              <a:rPr sz="1400" spc="-6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text.&lt;/p&gt;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70" dirty="0">
                <a:solidFill>
                  <a:srgbClr val="5E686C"/>
                </a:solidFill>
                <a:latin typeface="Tahoma"/>
                <a:cs typeface="Tahoma"/>
              </a:rPr>
              <a:t>How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would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change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color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all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paragraphs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file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red?</a:t>
            </a:r>
            <a:endParaRPr sz="1800">
              <a:latin typeface="Tahoma"/>
              <a:cs typeface="Tahoma"/>
            </a:endParaRPr>
          </a:p>
          <a:p>
            <a:pPr marL="529590" algn="ctr">
              <a:lnSpc>
                <a:spcPct val="100000"/>
              </a:lnSpc>
              <a:spcBef>
                <a:spcPts val="1889"/>
              </a:spcBef>
            </a:pPr>
            <a:r>
              <a:rPr sz="1800" spc="50" dirty="0">
                <a:solidFill>
                  <a:srgbClr val="F45E61"/>
                </a:solidFill>
                <a:latin typeface="Tahoma"/>
                <a:cs typeface="Tahoma"/>
              </a:rPr>
              <a:t>Add</a:t>
            </a:r>
            <a:r>
              <a:rPr sz="18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style</a:t>
            </a:r>
            <a:r>
              <a:rPr sz="18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attribute</a:t>
            </a:r>
            <a:r>
              <a:rPr sz="1800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to</a:t>
            </a:r>
            <a:r>
              <a:rPr sz="18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all</a:t>
            </a:r>
            <a:r>
              <a:rPr sz="1800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paragraph</a:t>
            </a:r>
            <a:r>
              <a:rPr sz="18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elements!</a:t>
            </a:r>
            <a:r>
              <a:rPr sz="1800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80" dirty="0">
                <a:solidFill>
                  <a:srgbClr val="F45E61"/>
                </a:solidFill>
                <a:latin typeface="Tahoma"/>
                <a:cs typeface="Tahoma"/>
              </a:rPr>
              <a:t>Not</a:t>
            </a:r>
            <a:r>
              <a:rPr sz="18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very</a:t>
            </a:r>
            <a:r>
              <a:rPr sz="1800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efficient.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="" xmlns:a16="http://schemas.microsoft.com/office/drawing/2014/main" id="{4842675A-0BF9-4060-8057-98CE01014C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4725" y="448119"/>
            <a:ext cx="7047230" cy="492443"/>
          </a:xfrm>
          <a:ln/>
        </p:spPr>
        <p:txBody>
          <a:bodyPr/>
          <a:lstStyle/>
          <a:p>
            <a:r>
              <a:rPr lang="en-US" altLang="en-US"/>
              <a:t>Style Location: Inline</a:t>
            </a:r>
          </a:p>
        </p:txBody>
      </p:sp>
      <p:pic>
        <p:nvPicPr>
          <p:cNvPr id="34820" name="Picture 4">
            <a:extLst>
              <a:ext uri="{FF2B5EF4-FFF2-40B4-BE49-F238E27FC236}">
                <a16:creationId xmlns="" xmlns:a16="http://schemas.microsoft.com/office/drawing/2014/main" id="{5A7C375F-B4C5-4D35-94D7-AF2F500F8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28750"/>
            <a:ext cx="7772400" cy="9858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1" name="Picture 5">
            <a:extLst>
              <a:ext uri="{FF2B5EF4-FFF2-40B4-BE49-F238E27FC236}">
                <a16:creationId xmlns="" xmlns:a16="http://schemas.microsoft.com/office/drawing/2014/main" id="{67FCC36C-405F-4C5C-BE8D-54D408445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287" y="3014663"/>
            <a:ext cx="4057650" cy="9858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23" name="AutoShape 7">
            <a:extLst>
              <a:ext uri="{FF2B5EF4-FFF2-40B4-BE49-F238E27FC236}">
                <a16:creationId xmlns="" xmlns:a16="http://schemas.microsoft.com/office/drawing/2014/main" id="{F9954210-5FD9-4927-9251-003F305F0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112" y="2571750"/>
            <a:ext cx="293688" cy="442913"/>
          </a:xfrm>
          <a:prstGeom prst="downArrow">
            <a:avLst>
              <a:gd name="adj1" fmla="val 50000"/>
              <a:gd name="adj2" fmla="val 502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162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 smtClean="0"/>
              <a:t> </a:t>
            </a:r>
            <a:r>
              <a:rPr lang="en-US" spc="100" dirty="0" smtClean="0"/>
              <a:t>internal style</a:t>
            </a:r>
            <a:endParaRPr spc="100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3928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Inside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5E686C"/>
                </a:solidFill>
                <a:latin typeface="Tahoma"/>
                <a:cs typeface="Tahoma"/>
              </a:rPr>
              <a:t>&lt;head&gt;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element,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5E686C"/>
                </a:solidFill>
                <a:latin typeface="Tahoma"/>
                <a:cs typeface="Tahoma"/>
              </a:rPr>
              <a:t>&lt;style&gt;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45E61"/>
                </a:solidFill>
                <a:latin typeface="Tahoma"/>
                <a:cs typeface="Tahoma"/>
              </a:rPr>
              <a:t>tag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707083"/>
            <a:ext cx="2312035" cy="170180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200" spc="-10" dirty="0">
                <a:solidFill>
                  <a:srgbClr val="063763"/>
                </a:solidFill>
                <a:latin typeface="Courier New"/>
                <a:cs typeface="Courier New"/>
              </a:rPr>
              <a:t>&lt;head&gt;</a:t>
            </a:r>
            <a:endParaRPr sz="1200">
              <a:latin typeface="Courier New"/>
              <a:cs typeface="Courier New"/>
            </a:endParaRPr>
          </a:p>
          <a:p>
            <a:pPr marL="378460" marR="5080" indent="-182880">
              <a:lnSpc>
                <a:spcPct val="114599"/>
              </a:lnSpc>
            </a:pPr>
            <a:r>
              <a:rPr sz="1200" dirty="0">
                <a:solidFill>
                  <a:srgbClr val="F45E61"/>
                </a:solidFill>
                <a:latin typeface="Courier New"/>
                <a:cs typeface="Courier New"/>
              </a:rPr>
              <a:t>&lt;style</a:t>
            </a:r>
            <a:r>
              <a:rPr sz="1200" spc="-7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type="text/css"&gt; </a:t>
            </a:r>
            <a:r>
              <a:rPr sz="1200" dirty="0">
                <a:solidFill>
                  <a:srgbClr val="F45E61"/>
                </a:solidFill>
                <a:latin typeface="Courier New"/>
                <a:cs typeface="Courier New"/>
              </a:rPr>
              <a:t>p</a:t>
            </a:r>
            <a:r>
              <a:rPr sz="1200" spc="-1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F45E61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561340" marR="278765">
              <a:lnSpc>
                <a:spcPct val="114599"/>
              </a:lnSpc>
            </a:pPr>
            <a:r>
              <a:rPr sz="1200" dirty="0">
                <a:solidFill>
                  <a:srgbClr val="F45E61"/>
                </a:solidFill>
                <a:latin typeface="Courier New"/>
                <a:cs typeface="Courier New"/>
              </a:rPr>
              <a:t>color:</a:t>
            </a:r>
            <a:r>
              <a:rPr sz="1200" spc="-7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blue; </a:t>
            </a:r>
            <a:r>
              <a:rPr sz="1200" spc="-20" dirty="0">
                <a:solidFill>
                  <a:srgbClr val="F45E61"/>
                </a:solidFill>
                <a:latin typeface="Courier New"/>
                <a:cs typeface="Courier New"/>
              </a:rPr>
              <a:t>font-</a:t>
            </a:r>
            <a:r>
              <a:rPr sz="1200" dirty="0">
                <a:solidFill>
                  <a:srgbClr val="F45E61"/>
                </a:solidFill>
                <a:latin typeface="Courier New"/>
                <a:cs typeface="Courier New"/>
              </a:rPr>
              <a:t>size:</a:t>
            </a:r>
            <a:r>
              <a:rPr sz="12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12px;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209"/>
              </a:spcBef>
            </a:pPr>
            <a:r>
              <a:rPr sz="1200" spc="-50" dirty="0">
                <a:solidFill>
                  <a:srgbClr val="F45E61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09"/>
              </a:spcBef>
            </a:pP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&lt;/style&gt;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1200" spc="-10" dirty="0">
                <a:solidFill>
                  <a:srgbClr val="063763"/>
                </a:solidFill>
                <a:latin typeface="Courier New"/>
                <a:cs typeface="Courier New"/>
              </a:rPr>
              <a:t>&lt;/head&gt;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3607130"/>
            <a:ext cx="667639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change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style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all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paragraphs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05B62"/>
                </a:solidFill>
                <a:latin typeface="Tahoma"/>
                <a:cs typeface="Tahoma"/>
              </a:rPr>
              <a:t>one</a:t>
            </a:r>
            <a:r>
              <a:rPr sz="1800" spc="-175" dirty="0">
                <a:solidFill>
                  <a:srgbClr val="F05B62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file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once</a:t>
            </a:r>
            <a:r>
              <a:rPr sz="1800" spc="-10" dirty="0" smtClean="0">
                <a:solidFill>
                  <a:srgbClr val="5E686C"/>
                </a:solidFill>
                <a:latin typeface="Tahoma"/>
                <a:cs typeface="Tahoma"/>
              </a:rPr>
              <a:t>.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70" dirty="0"/>
              <a:t>E</a:t>
            </a:r>
            <a:r>
              <a:rPr lang="en-US" spc="70" dirty="0" smtClean="0"/>
              <a:t>xternal Style</a:t>
            </a:r>
            <a:endParaRPr spc="70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672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5E686C"/>
                </a:solidFill>
                <a:latin typeface="Tahoma"/>
                <a:cs typeface="Tahoma"/>
              </a:rPr>
              <a:t>Put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rules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separate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file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link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file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all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files.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074" y="1943100"/>
            <a:ext cx="6879590" cy="2122170"/>
          </a:xfrm>
          <a:prstGeom prst="rect">
            <a:avLst/>
          </a:prstGeom>
          <a:ln w="9524">
            <a:solidFill>
              <a:srgbClr val="999999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ts val="1664"/>
              </a:lnSpc>
              <a:spcBef>
                <a:spcPts val="620"/>
              </a:spcBef>
            </a:pP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&lt;!doctype</a:t>
            </a:r>
            <a:r>
              <a:rPr sz="14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html&gt;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50"/>
              </a:lnSpc>
            </a:pP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&lt;html&gt;</a:t>
            </a:r>
            <a:endParaRPr sz="1400">
              <a:latin typeface="Courier New"/>
              <a:cs typeface="Courier New"/>
            </a:endParaRPr>
          </a:p>
          <a:p>
            <a:pPr marL="405765">
              <a:lnSpc>
                <a:spcPts val="1650"/>
              </a:lnSpc>
            </a:pP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&lt;head&gt;</a:t>
            </a:r>
            <a:endParaRPr sz="1400">
              <a:latin typeface="Courier New"/>
              <a:cs typeface="Courier New"/>
            </a:endParaRPr>
          </a:p>
          <a:p>
            <a:pPr marL="725805">
              <a:lnSpc>
                <a:spcPts val="1650"/>
              </a:lnSpc>
            </a:pP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&lt;link</a:t>
            </a:r>
            <a:r>
              <a:rPr sz="1400" spc="-6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rel="stylesheet"</a:t>
            </a:r>
            <a:r>
              <a:rPr sz="1400" spc="-6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type="text/css"</a:t>
            </a:r>
            <a:r>
              <a:rPr sz="1400" spc="-6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45E61"/>
                </a:solidFill>
                <a:latin typeface="Courier New"/>
                <a:cs typeface="Courier New"/>
              </a:rPr>
              <a:t>href="style.css"</a:t>
            </a: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&gt;</a:t>
            </a:r>
            <a:endParaRPr sz="1400">
              <a:latin typeface="Courier New"/>
              <a:cs typeface="Courier New"/>
            </a:endParaRPr>
          </a:p>
          <a:p>
            <a:pPr marL="405765">
              <a:lnSpc>
                <a:spcPts val="1650"/>
              </a:lnSpc>
            </a:pP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&lt;/head&gt;</a:t>
            </a:r>
            <a:endParaRPr sz="1400">
              <a:latin typeface="Courier New"/>
              <a:cs typeface="Courier New"/>
            </a:endParaRPr>
          </a:p>
          <a:p>
            <a:pPr marL="405765">
              <a:lnSpc>
                <a:spcPts val="1650"/>
              </a:lnSpc>
            </a:pP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&lt;body&gt;</a:t>
            </a:r>
            <a:endParaRPr sz="1400">
              <a:latin typeface="Courier New"/>
              <a:cs typeface="Courier New"/>
            </a:endParaRPr>
          </a:p>
          <a:p>
            <a:pPr marR="5718810" algn="r">
              <a:lnSpc>
                <a:spcPts val="1650"/>
              </a:lnSpc>
            </a:pPr>
            <a:r>
              <a:rPr sz="1400" spc="-20" dirty="0">
                <a:solidFill>
                  <a:srgbClr val="063763"/>
                </a:solidFill>
                <a:latin typeface="Courier New"/>
                <a:cs typeface="Courier New"/>
              </a:rPr>
              <a:t>....</a:t>
            </a:r>
            <a:endParaRPr sz="1400">
              <a:latin typeface="Courier New"/>
              <a:cs typeface="Courier New"/>
            </a:endParaRPr>
          </a:p>
          <a:p>
            <a:pPr marR="5718810" algn="r">
              <a:lnSpc>
                <a:spcPts val="1650"/>
              </a:lnSpc>
            </a:pP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&lt;/body&gt;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64"/>
              </a:lnSpc>
            </a:pP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&lt;/html&gt;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01950" y="4192980"/>
            <a:ext cx="1151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myfile.html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972" y="1919178"/>
            <a:ext cx="36861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dirty="0">
                <a:solidFill>
                  <a:srgbClr val="FFFFFF"/>
                </a:solidFill>
                <a:latin typeface="Tahoma"/>
                <a:cs typeface="Tahoma"/>
              </a:rPr>
              <a:t>CSS</a:t>
            </a:r>
            <a:r>
              <a:rPr sz="4800" b="0" spc="-4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800" b="0" spc="-10" dirty="0">
                <a:solidFill>
                  <a:srgbClr val="FFFFFF"/>
                </a:solidFill>
                <a:latin typeface="Tahoma"/>
                <a:cs typeface="Tahoma"/>
              </a:rPr>
              <a:t>Selectors</a:t>
            </a:r>
            <a:endParaRPr sz="4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10" dirty="0"/>
              <a:t> </a:t>
            </a:r>
            <a:r>
              <a:rPr spc="105" dirty="0"/>
              <a:t>Selectors:</a:t>
            </a:r>
            <a:r>
              <a:rPr spc="10" dirty="0"/>
              <a:t> </a:t>
            </a:r>
            <a:r>
              <a:rPr spc="100" dirty="0"/>
              <a:t>Element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412990" cy="2308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selector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selects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u="heavy" spc="-85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all</a:t>
            </a:r>
            <a:r>
              <a:rPr sz="1800" b="1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specified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name.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p</a:t>
            </a:r>
            <a:r>
              <a:rPr sz="1400" spc="-5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color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-30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yellow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body</a:t>
            </a:r>
            <a:r>
              <a:rPr sz="1400" spc="-20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EAB700"/>
                </a:solidFill>
                <a:latin typeface="Courier New"/>
                <a:cs typeface="Courier New"/>
              </a:rPr>
              <a:t>background-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color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20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spc="-20" dirty="0">
                <a:solidFill>
                  <a:srgbClr val="718C00"/>
                </a:solidFill>
                <a:latin typeface="Courier New"/>
                <a:cs typeface="Courier New"/>
              </a:rPr>
              <a:t>red</a:t>
            </a:r>
            <a:r>
              <a:rPr sz="1400" spc="-2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10" dirty="0"/>
              <a:t> </a:t>
            </a:r>
            <a:r>
              <a:rPr spc="105" dirty="0"/>
              <a:t>Selectors:</a:t>
            </a:r>
            <a:r>
              <a:rPr spc="10" dirty="0"/>
              <a:t> </a:t>
            </a:r>
            <a:r>
              <a:rPr spc="-25" dirty="0"/>
              <a:t>Id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6537959" cy="3203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45E61"/>
                </a:solidFill>
                <a:latin typeface="Tahoma"/>
                <a:cs typeface="Tahoma"/>
              </a:rPr>
              <a:t>#id</a:t>
            </a:r>
            <a:r>
              <a:rPr sz="18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selector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styles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u="heavy" spc="-105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specified</a:t>
            </a:r>
            <a:r>
              <a:rPr sz="1800" b="1" u="heavy" spc="-114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 </a:t>
            </a:r>
            <a:r>
              <a:rPr sz="1800" b="1" u="heavy" spc="-9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id</a:t>
            </a:r>
            <a:r>
              <a:rPr sz="1800" b="1" spc="-1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attribute.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800">
              <a:latin typeface="Tahoma"/>
              <a:cs typeface="Tahoma"/>
            </a:endParaRPr>
          </a:p>
          <a:p>
            <a:pPr marL="332740">
              <a:lnSpc>
                <a:spcPct val="100000"/>
              </a:lnSpc>
            </a:pP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&lt;h1</a:t>
            </a:r>
            <a:r>
              <a:rPr sz="1400" spc="-4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id="header"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&gt;This</a:t>
            </a:r>
            <a:r>
              <a:rPr sz="1400" spc="-2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is</a:t>
            </a:r>
            <a:r>
              <a:rPr sz="1400" spc="-3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my</a:t>
            </a:r>
            <a:r>
              <a:rPr sz="1400" spc="-2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page</a:t>
            </a:r>
            <a:r>
              <a:rPr sz="1400" spc="-2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header&lt;/h1&gt;</a:t>
            </a:r>
            <a:endParaRPr sz="1400">
              <a:latin typeface="Courier New"/>
              <a:cs typeface="Courier New"/>
            </a:endParaRPr>
          </a:p>
          <a:p>
            <a:pPr marL="12700" marR="544195" indent="320040">
              <a:lnSpc>
                <a:spcPct val="209800"/>
              </a:lnSpc>
            </a:pP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&lt;strong</a:t>
            </a:r>
            <a:r>
              <a:rPr sz="1400" spc="-3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id="firstname"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&gt;This</a:t>
            </a:r>
            <a:r>
              <a:rPr sz="1400" spc="-3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is</a:t>
            </a:r>
            <a:r>
              <a:rPr sz="1400" spc="-3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my</a:t>
            </a:r>
            <a:r>
              <a:rPr sz="1400" spc="-3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first</a:t>
            </a:r>
            <a:r>
              <a:rPr sz="1400" spc="-3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name&lt;/strong&gt; </a:t>
            </a: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#header</a:t>
            </a:r>
            <a:r>
              <a:rPr sz="1400" spc="-35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color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-30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yellow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#firstname</a:t>
            </a:r>
            <a:r>
              <a:rPr sz="1400" spc="-50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EAB700"/>
                </a:solidFill>
                <a:latin typeface="Courier New"/>
                <a:cs typeface="Courier New"/>
              </a:rPr>
              <a:t>background-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color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20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spc="-20" dirty="0">
                <a:solidFill>
                  <a:srgbClr val="718C00"/>
                </a:solidFill>
                <a:latin typeface="Courier New"/>
                <a:cs typeface="Courier New"/>
              </a:rPr>
              <a:t>red</a:t>
            </a:r>
            <a:r>
              <a:rPr sz="1400" spc="-2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10" dirty="0"/>
              <a:t> </a:t>
            </a:r>
            <a:r>
              <a:rPr spc="105" dirty="0"/>
              <a:t>Selectors:</a:t>
            </a:r>
            <a:r>
              <a:rPr spc="10" dirty="0"/>
              <a:t> </a:t>
            </a:r>
            <a:r>
              <a:rPr spc="90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6805930" cy="327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45E61"/>
                </a:solidFill>
                <a:latin typeface="Tahoma"/>
                <a:cs typeface="Tahoma"/>
              </a:rPr>
              <a:t>.class</a:t>
            </a:r>
            <a:r>
              <a:rPr sz="1800" spc="-16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selector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u="heavy" spc="-85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all</a:t>
            </a:r>
            <a:r>
              <a:rPr sz="1800" b="1" spc="-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u="heavy" spc="-10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specific</a:t>
            </a:r>
            <a:r>
              <a:rPr sz="1800" b="1" u="heavy" spc="-13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 </a:t>
            </a:r>
            <a:r>
              <a:rPr sz="1800" b="1" u="heavy" spc="-12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class</a:t>
            </a:r>
            <a:r>
              <a:rPr sz="1800" b="1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attribute.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800">
              <a:latin typeface="Tahoma"/>
              <a:cs typeface="Tahoma"/>
            </a:endParaRPr>
          </a:p>
          <a:p>
            <a:pPr marL="321310">
              <a:lnSpc>
                <a:spcPct val="100000"/>
              </a:lnSpc>
            </a:pP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&lt;h1</a:t>
            </a:r>
            <a:r>
              <a:rPr sz="1400" spc="-5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class="maintitle"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&gt;Main</a:t>
            </a:r>
            <a:r>
              <a:rPr sz="14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title</a:t>
            </a:r>
            <a:r>
              <a:rPr sz="14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goes</a:t>
            </a:r>
            <a:r>
              <a:rPr sz="1400" spc="-4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here.&lt;/h1&gt;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400">
              <a:latin typeface="Courier New"/>
              <a:cs typeface="Courier New"/>
            </a:endParaRPr>
          </a:p>
          <a:p>
            <a:pPr marL="332740">
              <a:lnSpc>
                <a:spcPct val="100000"/>
              </a:lnSpc>
            </a:pP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&lt;p</a:t>
            </a:r>
            <a:r>
              <a:rPr sz="1400" spc="-5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class="address"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&gt;1212</a:t>
            </a:r>
            <a:r>
              <a:rPr sz="1400" spc="-4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some</a:t>
            </a:r>
            <a:r>
              <a:rPr sz="14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Rd.</a:t>
            </a:r>
            <a:r>
              <a:rPr sz="1400" spc="-4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Tallahassee,</a:t>
            </a:r>
            <a:r>
              <a:rPr sz="1400" spc="-4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FL&lt;/p&gt;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.maintitle</a:t>
            </a:r>
            <a:r>
              <a:rPr sz="1400" spc="-50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EAB700"/>
                </a:solidFill>
                <a:latin typeface="Courier New"/>
                <a:cs typeface="Courier New"/>
              </a:rPr>
              <a:t>font-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size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100px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.address</a:t>
            </a:r>
            <a:r>
              <a:rPr sz="1400" spc="-40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EAB700"/>
                </a:solidFill>
                <a:latin typeface="Courier New"/>
                <a:cs typeface="Courier New"/>
              </a:rPr>
              <a:t>font-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style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-5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italic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10" dirty="0"/>
              <a:t> </a:t>
            </a:r>
            <a:r>
              <a:rPr spc="105" dirty="0"/>
              <a:t>Selectors:</a:t>
            </a:r>
            <a:r>
              <a:rPr spc="10" dirty="0"/>
              <a:t> </a:t>
            </a:r>
            <a:r>
              <a:rPr spc="90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310880" cy="2881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599"/>
              </a:lnSpc>
              <a:spcBef>
                <a:spcPts val="100"/>
              </a:spcBef>
            </a:pP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also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specify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only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specific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u="heavy" spc="-114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elements</a:t>
            </a:r>
            <a:r>
              <a:rPr sz="1800" b="1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should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affected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u="heavy" spc="-125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class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.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do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this,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start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5E686C"/>
                </a:solidFill>
                <a:latin typeface="Tahoma"/>
                <a:cs typeface="Tahoma"/>
              </a:rPr>
              <a:t>name,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then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write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period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(.)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character,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followed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name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class.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800">
              <a:latin typeface="Tahoma"/>
              <a:cs typeface="Tahoma"/>
            </a:endParaRPr>
          </a:p>
          <a:p>
            <a:pPr marL="321310">
              <a:lnSpc>
                <a:spcPct val="100000"/>
              </a:lnSpc>
            </a:pP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&lt;h1</a:t>
            </a:r>
            <a:r>
              <a:rPr sz="1400" spc="-5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class="maintitle"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&gt;Main</a:t>
            </a:r>
            <a:r>
              <a:rPr sz="14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title</a:t>
            </a:r>
            <a:r>
              <a:rPr sz="14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goes</a:t>
            </a:r>
            <a:r>
              <a:rPr sz="1400" spc="-4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here.&lt;/h1&gt;</a:t>
            </a:r>
            <a:endParaRPr sz="1400">
              <a:latin typeface="Courier New"/>
              <a:cs typeface="Courier New"/>
            </a:endParaRPr>
          </a:p>
          <a:p>
            <a:pPr marL="12700" marR="2209800" indent="320040">
              <a:lnSpc>
                <a:spcPct val="209800"/>
              </a:lnSpc>
              <a:spcBef>
                <a:spcPts val="140"/>
              </a:spcBef>
            </a:pP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&lt;p</a:t>
            </a:r>
            <a:r>
              <a:rPr sz="1400" spc="-5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45E61"/>
                </a:solidFill>
                <a:latin typeface="Courier New"/>
                <a:cs typeface="Courier New"/>
              </a:rPr>
              <a:t>class="maintitle"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&gt;1212</a:t>
            </a:r>
            <a:r>
              <a:rPr sz="14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some</a:t>
            </a:r>
            <a:r>
              <a:rPr sz="14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Rd.</a:t>
            </a:r>
            <a:r>
              <a:rPr sz="14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Tallahassee,</a:t>
            </a:r>
            <a:r>
              <a:rPr sz="1400" spc="-4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FL&lt;/p&gt; </a:t>
            </a: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h1.maintitle</a:t>
            </a:r>
            <a:r>
              <a:rPr sz="1400" spc="-60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EAB700"/>
                </a:solidFill>
                <a:latin typeface="Courier New"/>
                <a:cs typeface="Courier New"/>
              </a:rPr>
              <a:t>font-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size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100px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10" dirty="0"/>
              <a:t> </a:t>
            </a:r>
            <a:r>
              <a:rPr spc="105" dirty="0"/>
              <a:t>Selectors:</a:t>
            </a:r>
            <a:r>
              <a:rPr spc="10" dirty="0"/>
              <a:t> </a:t>
            </a:r>
            <a:r>
              <a:rPr spc="-50" dirty="0"/>
              <a:t>*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6442075" cy="270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80" dirty="0">
                <a:solidFill>
                  <a:srgbClr val="5E686C"/>
                </a:solidFill>
                <a:latin typeface="Tahoma"/>
                <a:cs typeface="Tahoma"/>
              </a:rPr>
              <a:t>*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selector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all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elements.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*</a:t>
            </a:r>
            <a:r>
              <a:rPr sz="1400" spc="-5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EAB700"/>
                </a:solidFill>
                <a:latin typeface="Courier New"/>
                <a:cs typeface="Courier New"/>
              </a:rPr>
              <a:t>font-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size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10px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80" dirty="0">
                <a:solidFill>
                  <a:srgbClr val="5E686C"/>
                </a:solidFill>
                <a:latin typeface="Tahoma"/>
                <a:cs typeface="Tahoma"/>
              </a:rPr>
              <a:t>*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selector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also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all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inside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another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p</a:t>
            </a:r>
            <a:r>
              <a:rPr sz="1400" spc="-5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*</a:t>
            </a:r>
            <a:r>
              <a:rPr sz="1400" spc="-5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6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EAB700"/>
                </a:solidFill>
                <a:latin typeface="Courier New"/>
                <a:cs typeface="Courier New"/>
              </a:rPr>
              <a:t>background-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color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10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green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-5" dirty="0"/>
              <a:t> </a:t>
            </a:r>
            <a:r>
              <a:rPr spc="105" dirty="0"/>
              <a:t>Selectors:</a:t>
            </a:r>
            <a:r>
              <a:rPr dirty="0"/>
              <a:t> </a:t>
            </a:r>
            <a:r>
              <a:rPr spc="110" dirty="0"/>
              <a:t>Element</a:t>
            </a:r>
            <a:r>
              <a:rPr dirty="0"/>
              <a:t> </a:t>
            </a:r>
            <a:r>
              <a:rPr spc="100" dirty="0"/>
              <a:t>Element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215505" cy="1698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element</a:t>
            </a:r>
            <a:r>
              <a:rPr sz="1800" spc="-16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element</a:t>
            </a:r>
            <a:r>
              <a:rPr sz="1800" spc="-15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selector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u="heavy" spc="-11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inside</a:t>
            </a:r>
            <a:r>
              <a:rPr sz="1800" b="1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elements.</a:t>
            </a:r>
            <a:endParaRPr sz="1800">
              <a:latin typeface="Tahoma"/>
              <a:cs typeface="Tahoma"/>
            </a:endParaRPr>
          </a:p>
          <a:p>
            <a:pPr marL="12700" marR="46990" indent="426720">
              <a:lnSpc>
                <a:spcPct val="209800"/>
              </a:lnSpc>
              <a:spcBef>
                <a:spcPts val="60"/>
              </a:spcBef>
            </a:pP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&lt;p&gt;This</a:t>
            </a:r>
            <a:r>
              <a:rPr sz="1400" spc="-3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is</a:t>
            </a:r>
            <a:r>
              <a:rPr sz="1400" spc="-3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my</a:t>
            </a:r>
            <a:r>
              <a:rPr sz="1400" spc="-3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&lt;strong&gt;address&lt;/strong&gt;</a:t>
            </a:r>
            <a:r>
              <a:rPr sz="1400" spc="-3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in</a:t>
            </a:r>
            <a:r>
              <a:rPr sz="1400" spc="-3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green</a:t>
            </a:r>
            <a:r>
              <a:rPr sz="1400" spc="-3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background.&lt;/p&gt; </a:t>
            </a: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p</a:t>
            </a:r>
            <a:r>
              <a:rPr sz="1400" spc="-20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strong</a:t>
            </a:r>
            <a:r>
              <a:rPr sz="1400" spc="-15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EAB700"/>
                </a:solidFill>
                <a:latin typeface="Courier New"/>
                <a:cs typeface="Courier New"/>
              </a:rPr>
              <a:t>background-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color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10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green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10" dirty="0"/>
              <a:t> </a:t>
            </a:r>
            <a:r>
              <a:rPr spc="105" dirty="0"/>
              <a:t>Selectors:</a:t>
            </a:r>
            <a:r>
              <a:rPr spc="10" dirty="0"/>
              <a:t> </a:t>
            </a:r>
            <a:r>
              <a:rPr spc="95" dirty="0"/>
              <a:t>Element,Element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110220" cy="3443604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style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several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u="heavy" spc="-16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same</a:t>
            </a:r>
            <a:r>
              <a:rPr sz="1800" b="1" u="heavy" spc="-13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 </a:t>
            </a:r>
            <a:r>
              <a:rPr sz="1800" b="1" u="heavy" spc="-11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style</a:t>
            </a:r>
            <a:r>
              <a:rPr sz="1800" spc="-110" dirty="0">
                <a:solidFill>
                  <a:srgbClr val="5E686C"/>
                </a:solidFill>
                <a:latin typeface="Tahoma"/>
                <a:cs typeface="Tahoma"/>
              </a:rPr>
              <a:t>,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separate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each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name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u="heavy" spc="-1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comma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 marL="439420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&lt;p&gt;This</a:t>
            </a:r>
            <a:r>
              <a:rPr sz="1400" spc="-2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is</a:t>
            </a:r>
            <a:r>
              <a:rPr sz="1400" spc="-1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a</a:t>
            </a:r>
            <a:r>
              <a:rPr sz="1400" spc="-1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paragraph.&lt;/p&gt;</a:t>
            </a:r>
            <a:endParaRPr sz="1400">
              <a:latin typeface="Courier New"/>
              <a:cs typeface="Courier New"/>
            </a:endParaRPr>
          </a:p>
          <a:p>
            <a:pPr marL="12700" marR="4782185" indent="426720">
              <a:lnSpc>
                <a:spcPct val="209800"/>
              </a:lnSpc>
            </a:pP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&lt;h1&gt;This</a:t>
            </a:r>
            <a:r>
              <a:rPr sz="1400" spc="-3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is</a:t>
            </a:r>
            <a:r>
              <a:rPr sz="1400" spc="-2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63763"/>
                </a:solidFill>
                <a:latin typeface="Courier New"/>
                <a:cs typeface="Courier New"/>
              </a:rPr>
              <a:t>a</a:t>
            </a:r>
            <a:r>
              <a:rPr sz="1400" spc="-1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63763"/>
                </a:solidFill>
                <a:latin typeface="Courier New"/>
                <a:cs typeface="Courier New"/>
              </a:rPr>
              <a:t>heading.&lt;/h1&gt; </a:t>
            </a: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p,h1</a:t>
            </a:r>
            <a:r>
              <a:rPr sz="1400" spc="-20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EAB700"/>
                </a:solidFill>
                <a:latin typeface="Courier New"/>
                <a:cs typeface="Courier New"/>
              </a:rPr>
              <a:t>background-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color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10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green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p</a:t>
            </a:r>
            <a:r>
              <a:rPr sz="1400" spc="-5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EAB700"/>
                </a:solidFill>
                <a:latin typeface="Courier New"/>
                <a:cs typeface="Courier New"/>
              </a:rPr>
              <a:t>font-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size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10px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60" dirty="0"/>
              <a:t> </a:t>
            </a:r>
            <a:r>
              <a:rPr spc="125" dirty="0"/>
              <a:t>Selectors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214359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There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number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other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selectors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5E686C"/>
                </a:solidFill>
                <a:latin typeface="Tahoma"/>
                <a:cs typeface="Tahoma"/>
              </a:rPr>
              <a:t>used.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complete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you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check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out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webpage: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559380"/>
            <a:ext cx="533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10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https://www.w3schools.com/cssref/css_selectors.asp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7301" y="1919178"/>
            <a:ext cx="30099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dirty="0">
                <a:solidFill>
                  <a:srgbClr val="FFFFFF"/>
                </a:solidFill>
                <a:latin typeface="Tahoma"/>
                <a:cs typeface="Tahoma"/>
              </a:rPr>
              <a:t>CSS</a:t>
            </a:r>
            <a:r>
              <a:rPr sz="4800" b="0" spc="-4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800" b="0" spc="-10" dirty="0">
                <a:solidFill>
                  <a:srgbClr val="FFFFFF"/>
                </a:solidFill>
                <a:latin typeface="Tahoma"/>
                <a:cs typeface="Tahoma"/>
              </a:rPr>
              <a:t>Values</a:t>
            </a:r>
            <a:endParaRPr sz="4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-20" dirty="0"/>
              <a:t> </a:t>
            </a:r>
            <a:r>
              <a:rPr spc="55" dirty="0"/>
              <a:t>Values:</a:t>
            </a:r>
            <a:r>
              <a:rPr spc="-20" dirty="0"/>
              <a:t> </a:t>
            </a:r>
            <a:r>
              <a:rPr spc="110" dirty="0"/>
              <a:t>Lengths</a:t>
            </a:r>
            <a:r>
              <a:rPr spc="-15" dirty="0"/>
              <a:t> </a:t>
            </a:r>
            <a:r>
              <a:rPr spc="120" dirty="0"/>
              <a:t>and</a:t>
            </a:r>
            <a:r>
              <a:rPr spc="-20" dirty="0"/>
              <a:t> </a:t>
            </a:r>
            <a:r>
              <a:rPr spc="120" dirty="0"/>
              <a:t>Percentages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070215" cy="2830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599"/>
              </a:lnSpc>
              <a:spcBef>
                <a:spcPts val="100"/>
              </a:spcBef>
            </a:pP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There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many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property-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specific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units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CSS,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but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there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 general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units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number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properties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worth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familiarizing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yourself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these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before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continuing.</a:t>
            </a:r>
            <a:endParaRPr sz="1800" dirty="0">
              <a:latin typeface="Tahoma"/>
              <a:cs typeface="Tahoma"/>
            </a:endParaRPr>
          </a:p>
          <a:p>
            <a:pPr marL="469265" indent="-351155">
              <a:lnSpc>
                <a:spcPct val="100000"/>
              </a:lnSpc>
              <a:spcBef>
                <a:spcPts val="1895"/>
              </a:spcBef>
              <a:buClr>
                <a:srgbClr val="5E686C"/>
              </a:buClr>
              <a:buFont typeface="Microsoft Sans Serif"/>
              <a:buChar char="●"/>
              <a:tabLst>
                <a:tab pos="469265" algn="l"/>
              </a:tabLst>
            </a:pPr>
            <a:r>
              <a:rPr sz="1600" dirty="0">
                <a:solidFill>
                  <a:srgbClr val="F45E61"/>
                </a:solidFill>
                <a:latin typeface="Tahoma"/>
                <a:cs typeface="Tahoma"/>
              </a:rPr>
              <a:t>px</a:t>
            </a:r>
            <a:r>
              <a:rPr sz="1600" spc="-15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5E686C"/>
                </a:solidFill>
                <a:latin typeface="Tahoma"/>
                <a:cs typeface="Tahoma"/>
              </a:rPr>
              <a:t>(such</a:t>
            </a:r>
            <a:r>
              <a:rPr sz="16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5E686C"/>
                </a:solidFill>
                <a:latin typeface="Tahoma"/>
                <a:cs typeface="Tahoma"/>
              </a:rPr>
              <a:t>font-size:</a:t>
            </a:r>
            <a:r>
              <a:rPr sz="16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5E686C"/>
                </a:solidFill>
                <a:latin typeface="Tahoma"/>
                <a:cs typeface="Tahoma"/>
              </a:rPr>
              <a:t>12px)</a:t>
            </a:r>
            <a:r>
              <a:rPr sz="16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6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unit</a:t>
            </a:r>
            <a:r>
              <a:rPr sz="16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5E686C"/>
                </a:solidFill>
                <a:latin typeface="Tahoma"/>
                <a:cs typeface="Tahoma"/>
              </a:rPr>
              <a:t>pixels.</a:t>
            </a:r>
            <a:endParaRPr sz="1600" dirty="0">
              <a:latin typeface="Tahoma"/>
              <a:cs typeface="Tahoma"/>
            </a:endParaRPr>
          </a:p>
          <a:p>
            <a:pPr marL="469900" marR="77470" indent="-351790">
              <a:lnSpc>
                <a:spcPct val="113300"/>
              </a:lnSpc>
              <a:buClr>
                <a:srgbClr val="5E686C"/>
              </a:buClr>
              <a:buFont typeface="Microsoft Sans Serif"/>
              <a:buChar char="●"/>
              <a:tabLst>
                <a:tab pos="469900" algn="l"/>
              </a:tabLst>
            </a:pPr>
            <a:r>
              <a:rPr sz="1600" dirty="0" err="1" smtClean="0">
                <a:solidFill>
                  <a:srgbClr val="F45E61"/>
                </a:solidFill>
                <a:latin typeface="Tahoma"/>
                <a:cs typeface="Tahoma"/>
              </a:rPr>
              <a:t>pt</a:t>
            </a:r>
            <a:r>
              <a:rPr sz="1600" spc="-155" dirty="0" smtClean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5E686C"/>
                </a:solidFill>
                <a:latin typeface="Tahoma"/>
                <a:cs typeface="Tahoma"/>
              </a:rPr>
              <a:t>(such</a:t>
            </a:r>
            <a:r>
              <a:rPr sz="16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6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5E686C"/>
                </a:solidFill>
                <a:latin typeface="Tahoma"/>
                <a:cs typeface="Tahoma"/>
              </a:rPr>
              <a:t>font-size:</a:t>
            </a:r>
            <a:r>
              <a:rPr sz="16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12pt)</a:t>
            </a:r>
            <a:r>
              <a:rPr sz="16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6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6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unit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6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5E686C"/>
                </a:solidFill>
                <a:latin typeface="Tahoma"/>
                <a:cs typeface="Tahoma"/>
              </a:rPr>
              <a:t>points,</a:t>
            </a:r>
            <a:r>
              <a:rPr sz="16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6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measurements</a:t>
            </a:r>
            <a:r>
              <a:rPr sz="16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typically</a:t>
            </a:r>
            <a:r>
              <a:rPr sz="16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6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5E686C"/>
                </a:solidFill>
                <a:latin typeface="Tahoma"/>
                <a:cs typeface="Tahoma"/>
              </a:rPr>
              <a:t>printed media.</a:t>
            </a:r>
            <a:endParaRPr sz="1600" dirty="0">
              <a:latin typeface="Tahoma"/>
              <a:cs typeface="Tahoma"/>
            </a:endParaRPr>
          </a:p>
          <a:p>
            <a:pPr marL="469265" indent="-351155">
              <a:lnSpc>
                <a:spcPct val="100000"/>
              </a:lnSpc>
              <a:spcBef>
                <a:spcPts val="254"/>
              </a:spcBef>
              <a:buClr>
                <a:srgbClr val="5E686C"/>
              </a:buClr>
              <a:buFont typeface="Microsoft Sans Serif"/>
              <a:buChar char="●"/>
              <a:tabLst>
                <a:tab pos="469265" algn="l"/>
              </a:tabLst>
            </a:pPr>
            <a:r>
              <a:rPr sz="1600" spc="-315" dirty="0">
                <a:solidFill>
                  <a:srgbClr val="F45E61"/>
                </a:solidFill>
                <a:latin typeface="Tahoma"/>
                <a:cs typeface="Tahoma"/>
              </a:rPr>
              <a:t>%</a:t>
            </a:r>
            <a:r>
              <a:rPr sz="16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5E686C"/>
                </a:solidFill>
                <a:latin typeface="Tahoma"/>
                <a:cs typeface="Tahoma"/>
              </a:rPr>
              <a:t>(such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5E686C"/>
                </a:solidFill>
                <a:latin typeface="Tahoma"/>
                <a:cs typeface="Tahoma"/>
              </a:rPr>
              <a:t>width: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95" dirty="0">
                <a:solidFill>
                  <a:srgbClr val="5E686C"/>
                </a:solidFill>
                <a:latin typeface="Tahoma"/>
                <a:cs typeface="Tahoma"/>
              </a:rPr>
              <a:t>80%)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unit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5E686C"/>
                </a:solidFill>
                <a:latin typeface="Tahoma"/>
                <a:cs typeface="Tahoma"/>
              </a:rPr>
              <a:t>for…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wait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5E686C"/>
                </a:solidFill>
                <a:latin typeface="Tahoma"/>
                <a:cs typeface="Tahoma"/>
              </a:rPr>
              <a:t>it…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5E686C"/>
                </a:solidFill>
                <a:latin typeface="Tahoma"/>
                <a:cs typeface="Tahoma"/>
              </a:rPr>
              <a:t>percentages</a:t>
            </a:r>
            <a:r>
              <a:rPr sz="1600" spc="-10" dirty="0" smtClean="0">
                <a:solidFill>
                  <a:srgbClr val="5E686C"/>
                </a:solidFill>
                <a:latin typeface="Tahoma"/>
                <a:cs typeface="Tahoma"/>
              </a:rPr>
              <a:t>.</a:t>
            </a:r>
            <a:endParaRPr lang="en-US" sz="1600" spc="-10" dirty="0" smtClean="0">
              <a:solidFill>
                <a:srgbClr val="5E686C"/>
              </a:solidFill>
              <a:latin typeface="Tahoma"/>
              <a:cs typeface="Tahoma"/>
            </a:endParaRPr>
          </a:p>
          <a:p>
            <a:pPr marL="469265" indent="-351155">
              <a:lnSpc>
                <a:spcPct val="100000"/>
              </a:lnSpc>
              <a:spcBef>
                <a:spcPts val="254"/>
              </a:spcBef>
              <a:buClr>
                <a:srgbClr val="5E686C"/>
              </a:buClr>
              <a:buFont typeface="Microsoft Sans Serif"/>
              <a:buChar char="●"/>
              <a:tabLst>
                <a:tab pos="469265" algn="l"/>
              </a:tabLst>
            </a:pPr>
            <a:r>
              <a:rPr sz="1600" dirty="0" smtClean="0">
                <a:latin typeface="Tahoma"/>
                <a:cs typeface="Tahoma"/>
              </a:rPr>
              <a:t> </a:t>
            </a:r>
            <a:r>
              <a:rPr sz="1600" dirty="0" smtClean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600" spc="-150" dirty="0" smtClean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value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5E686C"/>
                </a:solidFill>
                <a:latin typeface="Tahoma"/>
                <a:cs typeface="Tahoma"/>
              </a:rPr>
              <a:t>zero,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do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not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need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state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5E686C"/>
                </a:solidFill>
                <a:latin typeface="Tahoma"/>
                <a:cs typeface="Tahoma"/>
              </a:rPr>
              <a:t>unit.</a:t>
            </a:r>
            <a:r>
              <a:rPr sz="16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5E686C"/>
                </a:solidFill>
                <a:latin typeface="Tahoma"/>
                <a:cs typeface="Tahoma"/>
              </a:rPr>
              <a:t>example,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if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wanted</a:t>
            </a:r>
            <a:r>
              <a:rPr sz="16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5E686C"/>
                </a:solidFill>
                <a:latin typeface="Tahoma"/>
                <a:cs typeface="Tahoma"/>
              </a:rPr>
              <a:t>to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specify</a:t>
            </a:r>
            <a:r>
              <a:rPr sz="16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no</a:t>
            </a:r>
            <a:r>
              <a:rPr sz="16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border,</a:t>
            </a:r>
            <a:r>
              <a:rPr sz="16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6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would</a:t>
            </a:r>
            <a:r>
              <a:rPr sz="16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6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5E686C"/>
                </a:solidFill>
                <a:latin typeface="Tahoma"/>
                <a:cs typeface="Tahoma"/>
              </a:rPr>
              <a:t>border:</a:t>
            </a:r>
            <a:r>
              <a:rPr sz="16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5E686C"/>
                </a:solidFill>
                <a:latin typeface="Tahoma"/>
                <a:cs typeface="Tahoma"/>
              </a:rPr>
              <a:t>0.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15" dirty="0"/>
              <a:t> </a:t>
            </a:r>
            <a:r>
              <a:rPr spc="55" dirty="0"/>
              <a:t>Values:</a:t>
            </a:r>
            <a:r>
              <a:rPr spc="15" dirty="0"/>
              <a:t> </a:t>
            </a:r>
            <a:r>
              <a:rPr spc="80" dirty="0"/>
              <a:t>Color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4725" y="1216355"/>
            <a:ext cx="8203565" cy="12362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11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browser</a:t>
            </a:r>
            <a:r>
              <a:rPr sz="1800" spc="-11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1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accept</a:t>
            </a:r>
            <a:r>
              <a:rPr sz="1800" spc="-11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colors</a:t>
            </a:r>
            <a:r>
              <a:rPr sz="1800" spc="-11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1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many</a:t>
            </a:r>
            <a:r>
              <a:rPr sz="1800" spc="-11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different</a:t>
            </a:r>
            <a:r>
              <a:rPr sz="1800" spc="-11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ways:</a:t>
            </a:r>
            <a:endParaRPr sz="1800" dirty="0">
              <a:latin typeface="Tahoma"/>
              <a:cs typeface="Tahoma"/>
            </a:endParaRPr>
          </a:p>
          <a:p>
            <a:pPr marL="46926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800" dirty="0" smtClean="0">
                <a:solidFill>
                  <a:srgbClr val="5E686C"/>
                </a:solidFill>
                <a:latin typeface="Tahoma"/>
                <a:cs typeface="Tahoma"/>
              </a:rPr>
              <a:t>Hexadecimal</a:t>
            </a:r>
            <a:r>
              <a:rPr sz="1800" spc="-180" dirty="0" smtClean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endParaRPr lang="en-US" sz="1800" spc="-175" dirty="0" smtClean="0">
              <a:solidFill>
                <a:srgbClr val="5E686C"/>
              </a:solidFill>
              <a:latin typeface="Tahoma"/>
              <a:cs typeface="Tahoma"/>
            </a:endParaRPr>
          </a:p>
          <a:p>
            <a:pPr marL="46926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800" spc="90" dirty="0" smtClean="0">
                <a:solidFill>
                  <a:srgbClr val="5E686C"/>
                </a:solidFill>
                <a:latin typeface="Tahoma"/>
                <a:cs typeface="Tahoma"/>
              </a:rPr>
              <a:t>RGB</a:t>
            </a:r>
            <a:r>
              <a:rPr sz="1800" spc="-200" dirty="0" smtClean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 smtClean="0">
                <a:solidFill>
                  <a:srgbClr val="5E686C"/>
                </a:solidFill>
                <a:latin typeface="Tahoma"/>
                <a:cs typeface="Tahoma"/>
              </a:rPr>
              <a:t>value</a:t>
            </a:r>
            <a:endParaRPr sz="1800" dirty="0">
              <a:latin typeface="Tahoma"/>
              <a:cs typeface="Tahoma"/>
            </a:endParaRPr>
          </a:p>
          <a:p>
            <a:pPr marL="46926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HSL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ctrTitle"/>
          </p:nvPr>
        </p:nvSpPr>
        <p:spPr>
          <a:xfrm>
            <a:off x="1257300" y="171456"/>
            <a:ext cx="6572250" cy="571499"/>
          </a:xfrm>
        </p:spPr>
        <p:txBody>
          <a:bodyPr>
            <a:normAutofit/>
          </a:bodyPr>
          <a:lstStyle/>
          <a:p>
            <a:r>
              <a:rPr lang="en-US" sz="3200" dirty="0"/>
              <a:t>RGB Value</a:t>
            </a:r>
          </a:p>
        </p:txBody>
      </p:sp>
      <p:sp>
        <p:nvSpPr>
          <p:cNvPr id="1048651" name="Rectangle 5"/>
          <p:cNvSpPr/>
          <p:nvPr/>
        </p:nvSpPr>
        <p:spPr>
          <a:xfrm>
            <a:off x="381000" y="742951"/>
            <a:ext cx="8610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In HTML, a color can be specified as an RGB value, using this formula:</a:t>
            </a:r>
          </a:p>
          <a:p>
            <a:pPr marL="457200" indent="-457200"/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rgb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b="1" i="1" dirty="0">
                <a:latin typeface="Tahoma" pitchFamily="34" charset="0"/>
                <a:ea typeface="Tahoma" pitchFamily="34" charset="0"/>
                <a:cs typeface="Tahoma" pitchFamily="34" charset="0"/>
              </a:rPr>
              <a:t>red,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 </a:t>
            </a:r>
            <a:r>
              <a:rPr lang="en-US" b="1" i="1" dirty="0">
                <a:latin typeface="Tahoma" pitchFamily="34" charset="0"/>
                <a:ea typeface="Tahoma" pitchFamily="34" charset="0"/>
                <a:cs typeface="Tahoma" pitchFamily="34" charset="0"/>
              </a:rPr>
              <a:t>green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, </a:t>
            </a:r>
            <a:r>
              <a:rPr lang="en-US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blue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pPr marL="457200" indent="-457200"/>
            <a:endParaRPr lang="en-US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Each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parameter (red, green, and blue) defines the intensity of the color with a value between 0 and 255.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This means that there are 256 x 256 x 256 = 16777216 possible colors!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20971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876550"/>
            <a:ext cx="7010400" cy="699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880368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ctrTitle"/>
          </p:nvPr>
        </p:nvSpPr>
        <p:spPr>
          <a:xfrm>
            <a:off x="1257300" y="171456"/>
            <a:ext cx="6572250" cy="571499"/>
          </a:xfrm>
        </p:spPr>
        <p:txBody>
          <a:bodyPr>
            <a:normAutofit/>
          </a:bodyPr>
          <a:lstStyle/>
          <a:p>
            <a:r>
              <a:rPr lang="en-US" sz="3200" dirty="0"/>
              <a:t>RGB Value</a:t>
            </a:r>
          </a:p>
        </p:txBody>
      </p:sp>
      <p:sp>
        <p:nvSpPr>
          <p:cNvPr id="1048656" name="Rectangle 5"/>
          <p:cNvSpPr/>
          <p:nvPr/>
        </p:nvSpPr>
        <p:spPr>
          <a:xfrm>
            <a:off x="381000" y="742951"/>
            <a:ext cx="8610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600" dirty="0" err="1"/>
              <a:t>rgb</a:t>
            </a:r>
            <a:r>
              <a:rPr lang="en-US" sz="1600" dirty="0"/>
              <a:t>(255, 0, 0) is displayed as red, because red is set to its highest value (255), and the other two (green and blue) are set to 0.</a:t>
            </a:r>
          </a:p>
          <a:p>
            <a:pPr marL="457200" indent="-457200">
              <a:buFont typeface="+mj-lt"/>
              <a:buAutoNum type="arabicPeriod"/>
            </a:pPr>
            <a:endParaRPr lang="en-US" sz="1600" dirty="0"/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Another example, </a:t>
            </a:r>
            <a:r>
              <a:rPr lang="en-US" sz="1600" dirty="0" err="1"/>
              <a:t>rgb</a:t>
            </a:r>
            <a:r>
              <a:rPr lang="en-US" sz="1600" dirty="0"/>
              <a:t>(0, 255, 0) is displayed as green, because green is set to its highest value (255), and the other two (red and blue) are set to 0.</a:t>
            </a:r>
          </a:p>
          <a:p>
            <a:pPr marL="457200" indent="-457200">
              <a:buFont typeface="+mj-lt"/>
              <a:buAutoNum type="arabicPeriod"/>
            </a:pPr>
            <a:endParaRPr lang="en-US" sz="1600" dirty="0"/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To display black, set all color parameters to 0, like this: </a:t>
            </a:r>
            <a:r>
              <a:rPr lang="en-US" sz="1600" dirty="0" err="1"/>
              <a:t>rgb</a:t>
            </a:r>
            <a:r>
              <a:rPr lang="en-US" sz="1600" dirty="0"/>
              <a:t>(0, 0, 0).</a:t>
            </a:r>
          </a:p>
          <a:p>
            <a:pPr marL="457200" indent="-457200">
              <a:buFont typeface="+mj-lt"/>
              <a:buAutoNum type="arabicPeriod"/>
            </a:pPr>
            <a:endParaRPr lang="en-US" sz="1600" dirty="0"/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To display white, set all color parameters to 255, like this: </a:t>
            </a:r>
            <a:r>
              <a:rPr lang="en-US" sz="1600" dirty="0" err="1"/>
              <a:t>rgb</a:t>
            </a:r>
            <a:r>
              <a:rPr lang="en-US" sz="1600" dirty="0"/>
              <a:t>(255, 255, 255).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t="21145" b="57710"/>
          <a:stretch/>
        </p:blipFill>
        <p:spPr bwMode="auto">
          <a:xfrm>
            <a:off x="685800" y="3323553"/>
            <a:ext cx="7086600" cy="5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80824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ctrTitle"/>
          </p:nvPr>
        </p:nvSpPr>
        <p:spPr>
          <a:xfrm>
            <a:off x="1257300" y="171456"/>
            <a:ext cx="6572250" cy="571499"/>
          </a:xfrm>
        </p:spPr>
        <p:txBody>
          <a:bodyPr>
            <a:normAutofit/>
          </a:bodyPr>
          <a:lstStyle/>
          <a:p>
            <a:r>
              <a:rPr lang="en-US" sz="3200" dirty="0"/>
              <a:t>RGB Value Cont’d</a:t>
            </a:r>
          </a:p>
        </p:txBody>
      </p:sp>
      <p:sp>
        <p:nvSpPr>
          <p:cNvPr id="1048667" name="Subtitle 2"/>
          <p:cNvSpPr>
            <a:spLocks noGrp="1"/>
          </p:cNvSpPr>
          <p:nvPr>
            <p:ph type="subTitle" idx="4294967295"/>
          </p:nvPr>
        </p:nvSpPr>
        <p:spPr>
          <a:xfrm>
            <a:off x="381000" y="914400"/>
            <a:ext cx="7391400" cy="40005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dirty="0"/>
              <a:t>Shades of gray are often defined using equal values for all the 3 light sources:</a:t>
            </a:r>
            <a:br>
              <a:rPr lang="en-US" dirty="0"/>
            </a:br>
            <a:endParaRPr lang="en-US" dirty="0"/>
          </a:p>
        </p:txBody>
      </p:sp>
      <p:pic>
        <p:nvPicPr>
          <p:cNvPr id="209717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2057400"/>
            <a:ext cx="6858000" cy="1407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78668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7047230" cy="492443"/>
          </a:xfrm>
        </p:spPr>
        <p:txBody>
          <a:bodyPr/>
          <a:lstStyle/>
          <a:p>
            <a:r>
              <a:rPr lang="en-US" dirty="0"/>
              <a:t>RGBA VALUES</a:t>
            </a:r>
          </a:p>
        </p:txBody>
      </p:sp>
      <p:sp>
        <p:nvSpPr>
          <p:cNvPr id="1048672" name="Content Placeholder 2"/>
          <p:cNvSpPr>
            <a:spLocks noGrp="1"/>
          </p:cNvSpPr>
          <p:nvPr>
            <p:ph idx="1"/>
          </p:nvPr>
        </p:nvSpPr>
        <p:spPr>
          <a:xfrm>
            <a:off x="384725" y="1216355"/>
            <a:ext cx="8004809" cy="2215991"/>
          </a:xfrm>
        </p:spPr>
        <p:txBody>
          <a:bodyPr/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RGBA color values are an extension of RGB color values with an Alpha channel </a:t>
            </a:r>
            <a:r>
              <a:rPr lang="en-US" dirty="0" smtClean="0"/>
              <a:t>which </a:t>
            </a:r>
            <a:r>
              <a:rPr lang="en-US" dirty="0"/>
              <a:t>specifies the opacity for a </a:t>
            </a:r>
            <a:r>
              <a:rPr lang="en-US" dirty="0" smtClean="0"/>
              <a:t>color.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An </a:t>
            </a:r>
            <a:r>
              <a:rPr lang="en-US" dirty="0"/>
              <a:t>RGBA color value is specified </a:t>
            </a:r>
            <a:r>
              <a:rPr lang="en-US" dirty="0" smtClean="0"/>
              <a:t>with: </a:t>
            </a:r>
            <a:r>
              <a:rPr lang="en-US" b="1" dirty="0" err="1" smtClean="0"/>
              <a:t>rgba</a:t>
            </a:r>
            <a:r>
              <a:rPr lang="en-US" b="1" dirty="0" smtClean="0"/>
              <a:t>(</a:t>
            </a:r>
            <a:r>
              <a:rPr lang="en-US" b="1" i="1" dirty="0" smtClean="0"/>
              <a:t>red</a:t>
            </a:r>
            <a:r>
              <a:rPr lang="en-US" b="1" i="1" dirty="0"/>
              <a:t>,</a:t>
            </a:r>
            <a:r>
              <a:rPr lang="en-US" b="1" dirty="0"/>
              <a:t> </a:t>
            </a:r>
            <a:r>
              <a:rPr lang="en-US" b="1" i="1" dirty="0"/>
              <a:t>green</a:t>
            </a:r>
            <a:r>
              <a:rPr lang="en-US" b="1" dirty="0"/>
              <a:t>, </a:t>
            </a:r>
            <a:r>
              <a:rPr lang="en-US" b="1" i="1" dirty="0"/>
              <a:t>blue, </a:t>
            </a:r>
            <a:r>
              <a:rPr lang="en-US" b="1" i="1" dirty="0" smtClean="0"/>
              <a:t>alpha</a:t>
            </a:r>
            <a:r>
              <a:rPr lang="en-US" b="1" dirty="0" smtClean="0"/>
              <a:t>)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b="1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The </a:t>
            </a:r>
            <a:r>
              <a:rPr lang="en-US" dirty="0"/>
              <a:t>alpha parameter is a number between 0.0 (fully transparent) and 1.0 (not transparent at all):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0129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7047230" cy="492443"/>
          </a:xfrm>
        </p:spPr>
        <p:txBody>
          <a:bodyPr/>
          <a:lstStyle/>
          <a:p>
            <a:r>
              <a:rPr lang="en-US" dirty="0"/>
              <a:t>HTML HEX COLOURS</a:t>
            </a:r>
          </a:p>
        </p:txBody>
      </p:sp>
      <p:sp>
        <p:nvSpPr>
          <p:cNvPr id="10486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3750"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 In HTML, a color can be specified using a hexadecimal value in the form:</a:t>
            </a:r>
          </a:p>
          <a:p>
            <a:r>
              <a:rPr lang="en-US" b="1" dirty="0"/>
              <a:t>#</a:t>
            </a:r>
            <a:r>
              <a:rPr lang="en-US" b="1" i="1" dirty="0" err="1" smtClean="0"/>
              <a:t>rrggbb</a:t>
            </a:r>
            <a:endParaRPr lang="en-US" b="1" dirty="0"/>
          </a:p>
          <a:p>
            <a:pPr marL="285750" indent="-285750">
              <a:buFont typeface="Wingdings" pitchFamily="2" charset="2"/>
              <a:buChar char="q"/>
            </a:pPr>
            <a:endParaRPr lang="en-US" b="1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Where </a:t>
            </a:r>
            <a:r>
              <a:rPr lang="en-US" dirty="0" err="1"/>
              <a:t>rr</a:t>
            </a:r>
            <a:r>
              <a:rPr lang="en-US" dirty="0"/>
              <a:t> (red), </a:t>
            </a:r>
            <a:r>
              <a:rPr lang="en-US" dirty="0" err="1"/>
              <a:t>gg</a:t>
            </a:r>
            <a:r>
              <a:rPr lang="en-US" dirty="0"/>
              <a:t> (green) and bb (blue) are hexadecimal values between 00 and ff (same as decimal 0-255).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For </a:t>
            </a:r>
            <a:r>
              <a:rPr lang="en-US" dirty="0"/>
              <a:t>example, #ff0000 is displayed as red, because red is set to its highest value (ff), and the other two (green and blue) are set to 00</a:t>
            </a:r>
            <a:r>
              <a:rPr lang="en-US" dirty="0" smtClean="0"/>
              <a:t>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Shades of gray are often defined using equal values for all three </a:t>
            </a:r>
            <a:r>
              <a:rPr lang="en-US" dirty="0" smtClean="0"/>
              <a:t>parameters </a:t>
            </a:r>
            <a:r>
              <a:rPr lang="en-US" dirty="0" err="1" smtClean="0"/>
              <a:t>e.g</a:t>
            </a:r>
            <a:r>
              <a:rPr lang="en-US" dirty="0" smtClean="0"/>
              <a:t> #404040</a:t>
            </a: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743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7047230" cy="492443"/>
          </a:xfrm>
        </p:spPr>
        <p:txBody>
          <a:bodyPr/>
          <a:lstStyle/>
          <a:p>
            <a:r>
              <a:rPr lang="en-US" dirty="0"/>
              <a:t>HSL COLOR VALUES</a:t>
            </a:r>
          </a:p>
        </p:txBody>
      </p:sp>
      <p:sp>
        <p:nvSpPr>
          <p:cNvPr id="104868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3750"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In HTML, a color can be specified using hue, saturation, and lightness (HSL) in the </a:t>
            </a:r>
            <a:r>
              <a:rPr lang="en-US" dirty="0" smtClean="0"/>
              <a:t>form: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b="1" dirty="0" err="1" smtClean="0"/>
              <a:t>hsl</a:t>
            </a:r>
            <a:r>
              <a:rPr lang="en-US" b="1" dirty="0" smtClean="0"/>
              <a:t>(</a:t>
            </a:r>
            <a:r>
              <a:rPr lang="en-US" b="1" i="1" dirty="0" smtClean="0"/>
              <a:t>hue</a:t>
            </a:r>
            <a:r>
              <a:rPr lang="en-US" b="1" dirty="0"/>
              <a:t>, </a:t>
            </a:r>
            <a:r>
              <a:rPr lang="en-US" b="1" i="1" dirty="0"/>
              <a:t>saturation</a:t>
            </a:r>
            <a:r>
              <a:rPr lang="en-US" b="1" dirty="0"/>
              <a:t>, </a:t>
            </a:r>
            <a:r>
              <a:rPr lang="en-US" b="1" i="1" dirty="0" smtClean="0"/>
              <a:t>lightness</a:t>
            </a:r>
            <a:r>
              <a:rPr lang="en-US" b="1" dirty="0" smtClean="0"/>
              <a:t>)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b="1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Hue </a:t>
            </a:r>
            <a:r>
              <a:rPr lang="en-US" dirty="0"/>
              <a:t>is a degree on the color wheel from 0 to 360. 0 is red, 120 is green, and 240 is </a:t>
            </a:r>
            <a:r>
              <a:rPr lang="en-US" dirty="0" smtClean="0"/>
              <a:t>blue.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Saturation </a:t>
            </a:r>
            <a:r>
              <a:rPr lang="en-US" dirty="0"/>
              <a:t>is a percentage value, 0% means a shade of gray, and 100% is the full </a:t>
            </a:r>
            <a:r>
              <a:rPr lang="en-US" dirty="0" smtClean="0"/>
              <a:t>color.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Lightness </a:t>
            </a:r>
            <a:r>
              <a:rPr lang="en-US" dirty="0"/>
              <a:t>is also a percentage value, 0% is black, and 100% is white.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4234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Content Placeholder 2"/>
          <p:cNvSpPr>
            <a:spLocks noGrp="1"/>
          </p:cNvSpPr>
          <p:nvPr>
            <p:ph idx="1"/>
          </p:nvPr>
        </p:nvSpPr>
        <p:spPr>
          <a:xfrm>
            <a:off x="384725" y="1216355"/>
            <a:ext cx="8004809" cy="276999"/>
          </a:xfrm>
        </p:spPr>
        <p:txBody>
          <a:bodyPr/>
          <a:lstStyle/>
          <a:p>
            <a:r>
              <a:rPr lang="en-US" dirty="0"/>
              <a:t>Experiment </a:t>
            </a:r>
            <a:r>
              <a:rPr lang="en-US" dirty="0" err="1"/>
              <a:t>hsl</a:t>
            </a:r>
            <a:r>
              <a:rPr lang="en-US" dirty="0"/>
              <a:t> and </a:t>
            </a:r>
            <a:r>
              <a:rPr lang="en-US" dirty="0" err="1"/>
              <a:t>hsla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977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5540" y="1919178"/>
            <a:ext cx="40335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dirty="0">
                <a:solidFill>
                  <a:srgbClr val="FFFFFF"/>
                </a:solidFill>
                <a:latin typeface="Tahoma"/>
                <a:cs typeface="Tahoma"/>
              </a:rPr>
              <a:t>CSS</a:t>
            </a:r>
            <a:r>
              <a:rPr sz="4800" b="0" spc="-4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800" b="0" spc="75" dirty="0">
                <a:solidFill>
                  <a:srgbClr val="FFFFFF"/>
                </a:solidFill>
                <a:latin typeface="Tahoma"/>
                <a:cs typeface="Tahoma"/>
              </a:rPr>
              <a:t>Properties</a:t>
            </a:r>
            <a:endParaRPr sz="4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10" dirty="0"/>
              <a:t> </a:t>
            </a:r>
            <a:r>
              <a:rPr spc="110" dirty="0"/>
              <a:t>Properties:</a:t>
            </a:r>
            <a:r>
              <a:rPr spc="10" dirty="0"/>
              <a:t> </a:t>
            </a:r>
            <a:r>
              <a:rPr spc="70" dirty="0"/>
              <a:t>Color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042784" cy="270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color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color</a:t>
            </a:r>
            <a:r>
              <a:rPr sz="1800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property: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p</a:t>
            </a:r>
            <a:r>
              <a:rPr sz="1400" spc="-5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color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-30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yellow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background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color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background-color</a:t>
            </a:r>
            <a:r>
              <a:rPr sz="1800" spc="-16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property: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body</a:t>
            </a:r>
            <a:r>
              <a:rPr sz="1400" spc="-20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EAB700"/>
                </a:solidFill>
                <a:latin typeface="Courier New"/>
                <a:cs typeface="Courier New"/>
              </a:rPr>
              <a:t>background-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color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20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spc="-20" dirty="0">
                <a:solidFill>
                  <a:srgbClr val="718C00"/>
                </a:solidFill>
                <a:latin typeface="Courier New"/>
                <a:cs typeface="Courier New"/>
              </a:rPr>
              <a:t>red</a:t>
            </a:r>
            <a:r>
              <a:rPr sz="1400" spc="-2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10" dirty="0"/>
              <a:t> </a:t>
            </a:r>
            <a:r>
              <a:rPr spc="110" dirty="0"/>
              <a:t>Properties:</a:t>
            </a:r>
            <a:r>
              <a:rPr spc="10" dirty="0"/>
              <a:t> </a:t>
            </a:r>
            <a:r>
              <a:rPr spc="55" dirty="0"/>
              <a:t>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359140" cy="28937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alter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size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shape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range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properties.</a:t>
            </a:r>
            <a:endParaRPr sz="1800" dirty="0">
              <a:latin typeface="Tahoma"/>
              <a:cs typeface="Tahoma"/>
            </a:endParaRPr>
          </a:p>
          <a:p>
            <a:pPr marL="12700" marR="214629">
              <a:lnSpc>
                <a:spcPct val="187500"/>
              </a:lnSpc>
            </a:pP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font-family:</a:t>
            </a:r>
            <a:r>
              <a:rPr sz="1800" spc="-18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font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itself,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such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Times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New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Roman,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Arial,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Verdana. </a:t>
            </a:r>
            <a:endParaRPr lang="en-US" sz="1800" spc="-10" dirty="0" smtClean="0">
              <a:solidFill>
                <a:srgbClr val="5E686C"/>
              </a:solidFill>
              <a:latin typeface="Tahoma"/>
              <a:cs typeface="Tahoma"/>
            </a:endParaRPr>
          </a:p>
          <a:p>
            <a:pPr marL="12700" marR="214629">
              <a:lnSpc>
                <a:spcPct val="187500"/>
              </a:lnSpc>
            </a:pPr>
            <a:r>
              <a:rPr sz="1800" dirty="0" smtClean="0">
                <a:solidFill>
                  <a:srgbClr val="5E686C"/>
                </a:solidFill>
                <a:latin typeface="Tahoma"/>
                <a:cs typeface="Tahoma"/>
              </a:rPr>
              <a:t>There</a:t>
            </a:r>
            <a:r>
              <a:rPr sz="1800" spc="-175" dirty="0" smtClean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few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“safe”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fonts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(the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most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commonly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Arial,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Verdana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Times</a:t>
            </a:r>
            <a:r>
              <a:rPr sz="18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New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5E686C"/>
                </a:solidFill>
                <a:latin typeface="Tahoma"/>
                <a:cs typeface="Tahoma"/>
              </a:rPr>
              <a:t>Roman),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but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specify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more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than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one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font,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separated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commas.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purpose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if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does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not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have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first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font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specify,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the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browser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go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through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until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finds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does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have.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10" dirty="0"/>
              <a:t> </a:t>
            </a:r>
            <a:r>
              <a:rPr spc="110" dirty="0"/>
              <a:t>Properties:</a:t>
            </a:r>
            <a:r>
              <a:rPr spc="10" dirty="0"/>
              <a:t> </a:t>
            </a:r>
            <a:r>
              <a:rPr spc="55" dirty="0"/>
              <a:t>Text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p</a:t>
            </a:r>
            <a:r>
              <a:rPr sz="1400" spc="-5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EAB700"/>
                </a:solidFill>
                <a:latin typeface="Courier New"/>
                <a:cs typeface="Courier New"/>
              </a:rPr>
              <a:t>font-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family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-30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718C00"/>
                </a:solidFill>
                <a:latin typeface="Courier New"/>
                <a:cs typeface="Courier New"/>
              </a:rPr>
              <a:t>Arial,</a:t>
            </a:r>
            <a:r>
              <a:rPr sz="1400" spc="-30" dirty="0">
                <a:solidFill>
                  <a:srgbClr val="718C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718C00"/>
                </a:solidFill>
                <a:latin typeface="Courier New"/>
                <a:cs typeface="Courier New"/>
              </a:rPr>
              <a:t>Helvetica,</a:t>
            </a:r>
            <a:r>
              <a:rPr sz="1400" spc="-30" dirty="0">
                <a:solidFill>
                  <a:srgbClr val="718C0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Serif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 marR="63500">
              <a:lnSpc>
                <a:spcPct val="114599"/>
              </a:lnSpc>
              <a:spcBef>
                <a:spcPts val="1510"/>
              </a:spcBef>
            </a:pPr>
            <a:r>
              <a:rPr dirty="0">
                <a:solidFill>
                  <a:srgbClr val="4D4D4C"/>
                </a:solidFill>
              </a:rPr>
              <a:t>will</a:t>
            </a:r>
            <a:r>
              <a:rPr spc="-13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look</a:t>
            </a:r>
            <a:r>
              <a:rPr spc="-13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for</a:t>
            </a:r>
            <a:r>
              <a:rPr spc="-13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the</a:t>
            </a:r>
            <a:r>
              <a:rPr spc="-135" dirty="0">
                <a:solidFill>
                  <a:srgbClr val="4D4D4C"/>
                </a:solidFill>
              </a:rPr>
              <a:t> </a:t>
            </a:r>
            <a:r>
              <a:rPr spc="55" dirty="0">
                <a:solidFill>
                  <a:srgbClr val="4D4D4C"/>
                </a:solidFill>
              </a:rPr>
              <a:t>Arial</a:t>
            </a:r>
            <a:r>
              <a:rPr spc="-130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font</a:t>
            </a:r>
            <a:r>
              <a:rPr spc="-13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first</a:t>
            </a:r>
            <a:r>
              <a:rPr spc="-135" dirty="0">
                <a:solidFill>
                  <a:srgbClr val="4D4D4C"/>
                </a:solidFill>
              </a:rPr>
              <a:t> </a:t>
            </a:r>
            <a:r>
              <a:rPr spc="-60" dirty="0">
                <a:solidFill>
                  <a:srgbClr val="4D4D4C"/>
                </a:solidFill>
              </a:rPr>
              <a:t>and,</a:t>
            </a:r>
            <a:r>
              <a:rPr spc="-13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if</a:t>
            </a:r>
            <a:r>
              <a:rPr spc="-130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the</a:t>
            </a:r>
            <a:r>
              <a:rPr spc="-13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browser</a:t>
            </a:r>
            <a:r>
              <a:rPr spc="-13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can’t</a:t>
            </a:r>
            <a:r>
              <a:rPr spc="-13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find</a:t>
            </a:r>
            <a:r>
              <a:rPr spc="-135" dirty="0">
                <a:solidFill>
                  <a:srgbClr val="4D4D4C"/>
                </a:solidFill>
              </a:rPr>
              <a:t> </a:t>
            </a:r>
            <a:r>
              <a:rPr spc="-30" dirty="0">
                <a:solidFill>
                  <a:srgbClr val="4D4D4C"/>
                </a:solidFill>
              </a:rPr>
              <a:t>it,</a:t>
            </a:r>
            <a:r>
              <a:rPr spc="-130" dirty="0">
                <a:solidFill>
                  <a:srgbClr val="4D4D4C"/>
                </a:solidFill>
              </a:rPr>
              <a:t> </a:t>
            </a:r>
            <a:r>
              <a:rPr spc="55" dirty="0">
                <a:solidFill>
                  <a:srgbClr val="4D4D4C"/>
                </a:solidFill>
              </a:rPr>
              <a:t>it</a:t>
            </a:r>
            <a:r>
              <a:rPr spc="-13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will</a:t>
            </a:r>
            <a:r>
              <a:rPr spc="-13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search</a:t>
            </a:r>
            <a:r>
              <a:rPr spc="-135" dirty="0">
                <a:solidFill>
                  <a:srgbClr val="4D4D4C"/>
                </a:solidFill>
              </a:rPr>
              <a:t> </a:t>
            </a:r>
            <a:r>
              <a:rPr spc="-25" dirty="0">
                <a:solidFill>
                  <a:srgbClr val="4D4D4C"/>
                </a:solidFill>
              </a:rPr>
              <a:t>for </a:t>
            </a:r>
            <a:r>
              <a:rPr dirty="0">
                <a:solidFill>
                  <a:srgbClr val="4D4D4C"/>
                </a:solidFill>
              </a:rPr>
              <a:t>Helvetica,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spc="-25" dirty="0">
                <a:solidFill>
                  <a:srgbClr val="4D4D4C"/>
                </a:solidFill>
              </a:rPr>
              <a:t>and</a:t>
            </a:r>
            <a:r>
              <a:rPr spc="-170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then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spc="-45" dirty="0">
                <a:solidFill>
                  <a:srgbClr val="4D4D4C"/>
                </a:solidFill>
              </a:rPr>
              <a:t>a</a:t>
            </a:r>
            <a:r>
              <a:rPr spc="-170" dirty="0">
                <a:solidFill>
                  <a:srgbClr val="4D4D4C"/>
                </a:solidFill>
              </a:rPr>
              <a:t> </a:t>
            </a:r>
            <a:r>
              <a:rPr spc="-20" dirty="0">
                <a:solidFill>
                  <a:srgbClr val="4D4D4C"/>
                </a:solidFill>
              </a:rPr>
              <a:t>common</a:t>
            </a:r>
            <a:r>
              <a:rPr spc="-170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serif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spc="-10" dirty="0">
                <a:solidFill>
                  <a:srgbClr val="4D4D4C"/>
                </a:solidFill>
              </a:rPr>
              <a:t>font.</a:t>
            </a: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dirty="0">
                <a:solidFill>
                  <a:srgbClr val="4D4D4C"/>
                </a:solidFill>
              </a:rPr>
              <a:t>if</a:t>
            </a:r>
            <a:r>
              <a:rPr spc="-180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the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spc="-30" dirty="0">
                <a:solidFill>
                  <a:srgbClr val="4D4D4C"/>
                </a:solidFill>
              </a:rPr>
              <a:t>name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of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spc="-45" dirty="0">
                <a:solidFill>
                  <a:srgbClr val="4D4D4C"/>
                </a:solidFill>
              </a:rPr>
              <a:t>a</a:t>
            </a:r>
            <a:r>
              <a:rPr spc="-180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font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is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more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than</a:t>
            </a:r>
            <a:r>
              <a:rPr spc="-180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one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spc="-10" dirty="0">
                <a:solidFill>
                  <a:srgbClr val="4D4D4C"/>
                </a:solidFill>
              </a:rPr>
              <a:t>word,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spc="55" dirty="0">
                <a:solidFill>
                  <a:srgbClr val="4D4D4C"/>
                </a:solidFill>
              </a:rPr>
              <a:t>it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should</a:t>
            </a:r>
            <a:r>
              <a:rPr spc="-180" dirty="0">
                <a:solidFill>
                  <a:srgbClr val="4D4D4C"/>
                </a:solidFill>
              </a:rPr>
              <a:t> </a:t>
            </a:r>
            <a:r>
              <a:rPr spc="-10" dirty="0">
                <a:solidFill>
                  <a:srgbClr val="4D4D4C"/>
                </a:solidFill>
              </a:rPr>
              <a:t>be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put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in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dirty="0">
                <a:solidFill>
                  <a:srgbClr val="4D4D4C"/>
                </a:solidFill>
              </a:rPr>
              <a:t>quotation</a:t>
            </a:r>
            <a:r>
              <a:rPr spc="-175" dirty="0">
                <a:solidFill>
                  <a:srgbClr val="4D4D4C"/>
                </a:solidFill>
              </a:rPr>
              <a:t> </a:t>
            </a:r>
            <a:r>
              <a:rPr spc="-10" dirty="0">
                <a:solidFill>
                  <a:srgbClr val="4D4D4C"/>
                </a:solidFill>
              </a:rPr>
              <a:t>marks</a:t>
            </a: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1400" dirty="0">
                <a:solidFill>
                  <a:srgbClr val="C82829"/>
                </a:solidFill>
                <a:latin typeface="Courier New"/>
                <a:cs typeface="Courier New"/>
              </a:rPr>
              <a:t>p</a:t>
            </a:r>
            <a:r>
              <a:rPr sz="1400" spc="-5" dirty="0">
                <a:solidFill>
                  <a:srgbClr val="C8282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EAB700"/>
                </a:solidFill>
                <a:latin typeface="Courier New"/>
                <a:cs typeface="Courier New"/>
              </a:rPr>
              <a:t>font-</a:t>
            </a:r>
            <a:r>
              <a:rPr sz="1400" dirty="0">
                <a:solidFill>
                  <a:srgbClr val="EAB700"/>
                </a:solidFill>
                <a:latin typeface="Courier New"/>
                <a:cs typeface="Courier New"/>
              </a:rPr>
              <a:t>family</a:t>
            </a:r>
            <a:r>
              <a:rPr sz="1400" dirty="0">
                <a:solidFill>
                  <a:srgbClr val="4D4D4C"/>
                </a:solidFill>
                <a:latin typeface="Courier New"/>
                <a:cs typeface="Courier New"/>
              </a:rPr>
              <a:t>:</a:t>
            </a:r>
            <a:r>
              <a:rPr sz="1400" spc="-20" dirty="0">
                <a:solidFill>
                  <a:srgbClr val="4D4D4C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718C00"/>
                </a:solidFill>
                <a:latin typeface="Courier New"/>
                <a:cs typeface="Courier New"/>
              </a:rPr>
              <a:t>"Times</a:t>
            </a:r>
            <a:r>
              <a:rPr sz="1400" spc="-20" dirty="0">
                <a:solidFill>
                  <a:srgbClr val="718C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718C00"/>
                </a:solidFill>
                <a:latin typeface="Courier New"/>
                <a:cs typeface="Courier New"/>
              </a:rPr>
              <a:t>New</a:t>
            </a:r>
            <a:r>
              <a:rPr sz="1400" spc="-15" dirty="0">
                <a:solidFill>
                  <a:srgbClr val="718C0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18C00"/>
                </a:solidFill>
                <a:latin typeface="Courier New"/>
                <a:cs typeface="Courier New"/>
              </a:rPr>
              <a:t>Roman"</a:t>
            </a:r>
            <a:r>
              <a:rPr sz="1400" spc="-10" dirty="0">
                <a:solidFill>
                  <a:srgbClr val="4D4D4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4D4D4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10" dirty="0"/>
              <a:t> </a:t>
            </a:r>
            <a:r>
              <a:rPr spc="110" dirty="0"/>
              <a:t>Properties:</a:t>
            </a:r>
            <a:r>
              <a:rPr spc="10" dirty="0"/>
              <a:t> </a:t>
            </a:r>
            <a:r>
              <a:rPr spc="55" dirty="0"/>
              <a:t>Text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45E61"/>
                </a:solidFill>
              </a:rPr>
              <a:t>font-</a:t>
            </a:r>
            <a:r>
              <a:rPr spc="-35" dirty="0">
                <a:solidFill>
                  <a:srgbClr val="F45E61"/>
                </a:solidFill>
              </a:rPr>
              <a:t>size</a:t>
            </a:r>
            <a:r>
              <a:rPr spc="-35" dirty="0"/>
              <a:t>:</a:t>
            </a:r>
            <a:r>
              <a:rPr spc="-180" dirty="0"/>
              <a:t> </a:t>
            </a:r>
            <a:r>
              <a:rPr dirty="0"/>
              <a:t>sets</a:t>
            </a:r>
            <a:r>
              <a:rPr spc="-175" dirty="0"/>
              <a:t> </a:t>
            </a:r>
            <a:r>
              <a:rPr dirty="0"/>
              <a:t>the</a:t>
            </a:r>
            <a:r>
              <a:rPr spc="-175" dirty="0"/>
              <a:t> </a:t>
            </a:r>
            <a:r>
              <a:rPr dirty="0"/>
              <a:t>size</a:t>
            </a:r>
            <a:r>
              <a:rPr spc="-180" dirty="0"/>
              <a:t> </a:t>
            </a:r>
            <a:r>
              <a:rPr dirty="0"/>
              <a:t>of</a:t>
            </a:r>
            <a:r>
              <a:rPr spc="-175" dirty="0"/>
              <a:t> </a:t>
            </a:r>
            <a:r>
              <a:rPr dirty="0"/>
              <a:t>the</a:t>
            </a:r>
            <a:r>
              <a:rPr spc="-175" dirty="0"/>
              <a:t> </a:t>
            </a:r>
            <a:r>
              <a:rPr dirty="0"/>
              <a:t>font</a:t>
            </a:r>
            <a:r>
              <a:rPr spc="-180" dirty="0"/>
              <a:t> </a:t>
            </a:r>
            <a:r>
              <a:rPr spc="-10" dirty="0"/>
              <a:t>(remember</a:t>
            </a:r>
            <a:r>
              <a:rPr spc="-175" dirty="0"/>
              <a:t> </a:t>
            </a:r>
            <a:r>
              <a:rPr dirty="0"/>
              <a:t>units</a:t>
            </a:r>
            <a:r>
              <a:rPr spc="-175" dirty="0"/>
              <a:t> </a:t>
            </a:r>
            <a:r>
              <a:rPr spc="-10" dirty="0"/>
              <a:t>such</a:t>
            </a:r>
            <a:r>
              <a:rPr spc="-180" dirty="0"/>
              <a:t> </a:t>
            </a:r>
            <a:r>
              <a:rPr spc="-35" dirty="0"/>
              <a:t>as</a:t>
            </a:r>
            <a:r>
              <a:rPr spc="-175" dirty="0"/>
              <a:t> </a:t>
            </a:r>
            <a:r>
              <a:rPr spc="-65" dirty="0"/>
              <a:t>px,</a:t>
            </a:r>
            <a:r>
              <a:rPr spc="-175" dirty="0"/>
              <a:t> </a:t>
            </a:r>
            <a:r>
              <a:rPr spc="-80" dirty="0"/>
              <a:t>em,</a:t>
            </a:r>
            <a:r>
              <a:rPr spc="-180" dirty="0"/>
              <a:t> </a:t>
            </a:r>
            <a:r>
              <a:rPr spc="-25" dirty="0"/>
              <a:t>pt)</a:t>
            </a:r>
          </a:p>
          <a:p>
            <a:pPr marL="12700" marR="936625">
              <a:lnSpc>
                <a:spcPct val="187500"/>
              </a:lnSpc>
            </a:pPr>
            <a:r>
              <a:rPr dirty="0">
                <a:solidFill>
                  <a:srgbClr val="F45E61"/>
                </a:solidFill>
              </a:rPr>
              <a:t>font-</a:t>
            </a:r>
            <a:r>
              <a:rPr spc="-25" dirty="0">
                <a:solidFill>
                  <a:srgbClr val="F45E61"/>
                </a:solidFill>
              </a:rPr>
              <a:t>weight</a:t>
            </a:r>
            <a:r>
              <a:rPr spc="-25" dirty="0"/>
              <a:t>:</a:t>
            </a:r>
            <a:r>
              <a:rPr spc="-145" dirty="0"/>
              <a:t> </a:t>
            </a:r>
            <a:r>
              <a:rPr dirty="0"/>
              <a:t>states</a:t>
            </a:r>
            <a:r>
              <a:rPr spc="-145" dirty="0"/>
              <a:t> </a:t>
            </a:r>
            <a:r>
              <a:rPr dirty="0"/>
              <a:t>whether</a:t>
            </a:r>
            <a:r>
              <a:rPr spc="-145" dirty="0"/>
              <a:t> </a:t>
            </a:r>
            <a:r>
              <a:rPr dirty="0"/>
              <a:t>the</a:t>
            </a:r>
            <a:r>
              <a:rPr spc="-140" dirty="0"/>
              <a:t> </a:t>
            </a:r>
            <a:r>
              <a:rPr dirty="0"/>
              <a:t>text</a:t>
            </a:r>
            <a:r>
              <a:rPr spc="-145" dirty="0"/>
              <a:t> </a:t>
            </a:r>
            <a:r>
              <a:rPr dirty="0"/>
              <a:t>is</a:t>
            </a:r>
            <a:r>
              <a:rPr spc="-145" dirty="0"/>
              <a:t> </a:t>
            </a:r>
            <a:r>
              <a:rPr dirty="0"/>
              <a:t>bold</a:t>
            </a:r>
            <a:r>
              <a:rPr spc="-140" dirty="0"/>
              <a:t> </a:t>
            </a:r>
            <a:r>
              <a:rPr dirty="0"/>
              <a:t>or</a:t>
            </a:r>
            <a:r>
              <a:rPr spc="-145" dirty="0"/>
              <a:t> </a:t>
            </a:r>
            <a:r>
              <a:rPr dirty="0"/>
              <a:t>not</a:t>
            </a:r>
            <a:r>
              <a:rPr spc="-145" dirty="0"/>
              <a:t> </a:t>
            </a:r>
            <a:r>
              <a:rPr spc="-45" dirty="0"/>
              <a:t>(bold,</a:t>
            </a:r>
            <a:r>
              <a:rPr spc="-140" dirty="0"/>
              <a:t> </a:t>
            </a:r>
            <a:r>
              <a:rPr spc="-40" dirty="0"/>
              <a:t>light,normal,...) </a:t>
            </a:r>
            <a:r>
              <a:rPr dirty="0">
                <a:solidFill>
                  <a:srgbClr val="F45E61"/>
                </a:solidFill>
              </a:rPr>
              <a:t>font-</a:t>
            </a:r>
            <a:r>
              <a:rPr spc="-25" dirty="0">
                <a:solidFill>
                  <a:srgbClr val="F45E61"/>
                </a:solidFill>
              </a:rPr>
              <a:t>style</a:t>
            </a:r>
            <a:r>
              <a:rPr spc="-25" dirty="0"/>
              <a:t>:</a:t>
            </a:r>
            <a:r>
              <a:rPr spc="-130" dirty="0"/>
              <a:t> </a:t>
            </a:r>
            <a:r>
              <a:rPr dirty="0"/>
              <a:t>states</a:t>
            </a:r>
            <a:r>
              <a:rPr spc="-125" dirty="0"/>
              <a:t> </a:t>
            </a:r>
            <a:r>
              <a:rPr dirty="0"/>
              <a:t>whether</a:t>
            </a:r>
            <a:r>
              <a:rPr spc="-130" dirty="0"/>
              <a:t> </a:t>
            </a:r>
            <a:r>
              <a:rPr dirty="0"/>
              <a:t>the</a:t>
            </a:r>
            <a:r>
              <a:rPr spc="-125" dirty="0"/>
              <a:t> </a:t>
            </a:r>
            <a:r>
              <a:rPr dirty="0"/>
              <a:t>text</a:t>
            </a:r>
            <a:r>
              <a:rPr spc="-130" dirty="0"/>
              <a:t> </a:t>
            </a:r>
            <a:r>
              <a:rPr dirty="0"/>
              <a:t>is</a:t>
            </a:r>
            <a:r>
              <a:rPr spc="-125" dirty="0"/>
              <a:t> </a:t>
            </a:r>
            <a:r>
              <a:rPr dirty="0"/>
              <a:t>italic</a:t>
            </a:r>
            <a:r>
              <a:rPr spc="-130" dirty="0"/>
              <a:t> </a:t>
            </a:r>
            <a:r>
              <a:rPr dirty="0"/>
              <a:t>or</a:t>
            </a:r>
            <a:r>
              <a:rPr spc="-125" dirty="0"/>
              <a:t> </a:t>
            </a:r>
            <a:r>
              <a:rPr dirty="0"/>
              <a:t>not</a:t>
            </a:r>
            <a:r>
              <a:rPr spc="-125" dirty="0"/>
              <a:t> </a:t>
            </a:r>
            <a:r>
              <a:rPr spc="-25" dirty="0"/>
              <a:t>(italic,</a:t>
            </a:r>
            <a:r>
              <a:rPr spc="-130" dirty="0"/>
              <a:t> </a:t>
            </a:r>
            <a:r>
              <a:rPr spc="-10" dirty="0"/>
              <a:t>normal)</a:t>
            </a:r>
          </a:p>
          <a:p>
            <a:pPr marL="12700" marR="342900">
              <a:lnSpc>
                <a:spcPct val="114599"/>
              </a:lnSpc>
              <a:spcBef>
                <a:spcPts val="1575"/>
              </a:spcBef>
            </a:pPr>
            <a:r>
              <a:rPr dirty="0">
                <a:solidFill>
                  <a:srgbClr val="F45E61"/>
                </a:solidFill>
              </a:rPr>
              <a:t>text-</a:t>
            </a:r>
            <a:r>
              <a:rPr spc="-10" dirty="0">
                <a:solidFill>
                  <a:srgbClr val="F45E61"/>
                </a:solidFill>
              </a:rPr>
              <a:t>decoration</a:t>
            </a:r>
            <a:r>
              <a:rPr spc="-10" dirty="0"/>
              <a:t>:</a:t>
            </a:r>
            <a:r>
              <a:rPr spc="-160" dirty="0"/>
              <a:t> </a:t>
            </a:r>
            <a:r>
              <a:rPr dirty="0"/>
              <a:t>states</a:t>
            </a:r>
            <a:r>
              <a:rPr spc="-160" dirty="0"/>
              <a:t> </a:t>
            </a:r>
            <a:r>
              <a:rPr dirty="0"/>
              <a:t>whether</a:t>
            </a:r>
            <a:r>
              <a:rPr spc="-155" dirty="0"/>
              <a:t> </a:t>
            </a:r>
            <a:r>
              <a:rPr dirty="0"/>
              <a:t>the</a:t>
            </a:r>
            <a:r>
              <a:rPr spc="-160" dirty="0"/>
              <a:t> </a:t>
            </a:r>
            <a:r>
              <a:rPr dirty="0"/>
              <a:t>text</a:t>
            </a:r>
            <a:r>
              <a:rPr spc="-155" dirty="0"/>
              <a:t> </a:t>
            </a:r>
            <a:r>
              <a:rPr spc="-35" dirty="0"/>
              <a:t>has</a:t>
            </a:r>
            <a:r>
              <a:rPr spc="-160" dirty="0"/>
              <a:t> </a:t>
            </a:r>
            <a:r>
              <a:rPr dirty="0"/>
              <a:t>got</a:t>
            </a:r>
            <a:r>
              <a:rPr spc="-155" dirty="0"/>
              <a:t> </a:t>
            </a:r>
            <a:r>
              <a:rPr spc="-45" dirty="0"/>
              <a:t>a</a:t>
            </a:r>
            <a:r>
              <a:rPr spc="-160" dirty="0"/>
              <a:t> </a:t>
            </a:r>
            <a:r>
              <a:rPr dirty="0"/>
              <a:t>line</a:t>
            </a:r>
            <a:r>
              <a:rPr spc="-155" dirty="0"/>
              <a:t> </a:t>
            </a:r>
            <a:r>
              <a:rPr dirty="0"/>
              <a:t>running</a:t>
            </a:r>
            <a:r>
              <a:rPr spc="-160" dirty="0"/>
              <a:t> </a:t>
            </a:r>
            <a:r>
              <a:rPr spc="-25" dirty="0"/>
              <a:t>under,</a:t>
            </a:r>
            <a:r>
              <a:rPr spc="-155" dirty="0"/>
              <a:t> </a:t>
            </a:r>
            <a:r>
              <a:rPr spc="-25" dirty="0"/>
              <a:t>over,</a:t>
            </a:r>
            <a:r>
              <a:rPr spc="-160" dirty="0"/>
              <a:t> </a:t>
            </a:r>
            <a:r>
              <a:rPr spc="-25" dirty="0"/>
              <a:t>or </a:t>
            </a:r>
            <a:r>
              <a:rPr dirty="0"/>
              <a:t>through</a:t>
            </a:r>
            <a:r>
              <a:rPr spc="-180" dirty="0"/>
              <a:t> </a:t>
            </a:r>
            <a:r>
              <a:rPr spc="-30" dirty="0"/>
              <a:t>it.</a:t>
            </a:r>
            <a:r>
              <a:rPr spc="-175" dirty="0"/>
              <a:t> </a:t>
            </a:r>
            <a:r>
              <a:rPr spc="-25" dirty="0"/>
              <a:t>(underline,</a:t>
            </a:r>
            <a:r>
              <a:rPr spc="-175" dirty="0"/>
              <a:t> </a:t>
            </a:r>
            <a:r>
              <a:rPr dirty="0"/>
              <a:t>overline,</a:t>
            </a:r>
            <a:r>
              <a:rPr spc="-175" dirty="0"/>
              <a:t> </a:t>
            </a:r>
            <a:r>
              <a:rPr spc="-10" dirty="0"/>
              <a:t>line-through,</a:t>
            </a:r>
            <a:r>
              <a:rPr spc="-175" dirty="0"/>
              <a:t> </a:t>
            </a:r>
            <a:r>
              <a:rPr spc="-10" dirty="0"/>
              <a:t>none)</a:t>
            </a:r>
          </a:p>
          <a:p>
            <a:pPr marL="12700" marR="5080">
              <a:lnSpc>
                <a:spcPct val="114599"/>
              </a:lnSpc>
              <a:spcBef>
                <a:spcPts val="1575"/>
              </a:spcBef>
            </a:pPr>
            <a:r>
              <a:rPr dirty="0">
                <a:solidFill>
                  <a:srgbClr val="F45E61"/>
                </a:solidFill>
              </a:rPr>
              <a:t>text-</a:t>
            </a:r>
            <a:r>
              <a:rPr spc="-10" dirty="0">
                <a:solidFill>
                  <a:srgbClr val="F45E61"/>
                </a:solidFill>
              </a:rPr>
              <a:t>transform</a:t>
            </a:r>
            <a:r>
              <a:rPr spc="-10" dirty="0"/>
              <a:t>:</a:t>
            </a:r>
            <a:r>
              <a:rPr spc="-140" dirty="0"/>
              <a:t> </a:t>
            </a:r>
            <a:r>
              <a:rPr dirty="0"/>
              <a:t>will</a:t>
            </a:r>
            <a:r>
              <a:rPr spc="-135" dirty="0"/>
              <a:t> </a:t>
            </a:r>
            <a:r>
              <a:rPr spc="-25" dirty="0"/>
              <a:t>change</a:t>
            </a:r>
            <a:r>
              <a:rPr spc="-135" dirty="0"/>
              <a:t> </a:t>
            </a:r>
            <a:r>
              <a:rPr dirty="0"/>
              <a:t>the</a:t>
            </a:r>
            <a:r>
              <a:rPr spc="-140" dirty="0"/>
              <a:t> </a:t>
            </a:r>
            <a:r>
              <a:rPr spc="-25" dirty="0"/>
              <a:t>case</a:t>
            </a:r>
            <a:r>
              <a:rPr spc="-135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dirty="0"/>
              <a:t>the</a:t>
            </a:r>
            <a:r>
              <a:rPr spc="-140" dirty="0"/>
              <a:t> </a:t>
            </a:r>
            <a:r>
              <a:rPr dirty="0"/>
              <a:t>text</a:t>
            </a:r>
            <a:r>
              <a:rPr spc="-135" dirty="0"/>
              <a:t> </a:t>
            </a:r>
            <a:r>
              <a:rPr spc="-20" dirty="0"/>
              <a:t>(capitalize,</a:t>
            </a:r>
            <a:r>
              <a:rPr spc="-135" dirty="0"/>
              <a:t> </a:t>
            </a:r>
            <a:r>
              <a:rPr spc="-25" dirty="0"/>
              <a:t>uppercase,</a:t>
            </a:r>
            <a:r>
              <a:rPr spc="-140" dirty="0"/>
              <a:t> </a:t>
            </a:r>
            <a:r>
              <a:rPr spc="-10" dirty="0"/>
              <a:t>lowercase, none)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10" dirty="0"/>
              <a:t> </a:t>
            </a:r>
            <a:r>
              <a:rPr spc="110" dirty="0"/>
              <a:t>Properties:</a:t>
            </a:r>
            <a:r>
              <a:rPr spc="10" dirty="0"/>
              <a:t> </a:t>
            </a:r>
            <a:r>
              <a:rPr spc="55" dirty="0"/>
              <a:t>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84098"/>
            <a:ext cx="4931410" cy="10160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body</a:t>
            </a:r>
            <a:r>
              <a:rPr sz="14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5E686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438784" marR="5080">
              <a:lnSpc>
                <a:spcPct val="116100"/>
              </a:lnSpc>
            </a:pPr>
            <a:r>
              <a:rPr sz="1400" spc="-10" dirty="0">
                <a:solidFill>
                  <a:srgbClr val="FF9900"/>
                </a:solidFill>
                <a:latin typeface="Courier New"/>
                <a:cs typeface="Courier New"/>
              </a:rPr>
              <a:t>font-</a:t>
            </a:r>
            <a:r>
              <a:rPr sz="1400" dirty="0">
                <a:solidFill>
                  <a:srgbClr val="FF9900"/>
                </a:solidFill>
                <a:latin typeface="Courier New"/>
                <a:cs typeface="Courier New"/>
              </a:rPr>
              <a:t>family</a:t>
            </a:r>
            <a:r>
              <a:rPr sz="1400" dirty="0">
                <a:solidFill>
                  <a:srgbClr val="5E686C"/>
                </a:solidFill>
                <a:latin typeface="Courier New"/>
                <a:cs typeface="Courier New"/>
              </a:rPr>
              <a:t>:</a:t>
            </a:r>
            <a:r>
              <a:rPr sz="1400" spc="-25" dirty="0">
                <a:solidFill>
                  <a:srgbClr val="5E686C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6AA84F"/>
                </a:solidFill>
                <a:latin typeface="Courier New"/>
                <a:cs typeface="Courier New"/>
              </a:rPr>
              <a:t>arial,</a:t>
            </a:r>
            <a:r>
              <a:rPr sz="1400" spc="-20" dirty="0">
                <a:solidFill>
                  <a:srgbClr val="6AA8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6AA84F"/>
                </a:solidFill>
                <a:latin typeface="Courier New"/>
                <a:cs typeface="Courier New"/>
              </a:rPr>
              <a:t>helvetica,</a:t>
            </a:r>
            <a:r>
              <a:rPr sz="1400" spc="-20" dirty="0">
                <a:solidFill>
                  <a:srgbClr val="6AA84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6AA84F"/>
                </a:solidFill>
                <a:latin typeface="Courier New"/>
                <a:cs typeface="Courier New"/>
              </a:rPr>
              <a:t>sans-serif</a:t>
            </a:r>
            <a:r>
              <a:rPr sz="1400" spc="-10" dirty="0">
                <a:solidFill>
                  <a:srgbClr val="5E686C"/>
                </a:solidFill>
                <a:latin typeface="Courier New"/>
                <a:cs typeface="Courier New"/>
              </a:rPr>
              <a:t>; </a:t>
            </a:r>
            <a:r>
              <a:rPr sz="1400" spc="-10" dirty="0">
                <a:solidFill>
                  <a:srgbClr val="FF9900"/>
                </a:solidFill>
                <a:latin typeface="Courier New"/>
                <a:cs typeface="Courier New"/>
              </a:rPr>
              <a:t>font-</a:t>
            </a:r>
            <a:r>
              <a:rPr sz="1400" dirty="0">
                <a:solidFill>
                  <a:srgbClr val="FF9900"/>
                </a:solidFill>
                <a:latin typeface="Courier New"/>
                <a:cs typeface="Courier New"/>
              </a:rPr>
              <a:t>size</a:t>
            </a:r>
            <a:r>
              <a:rPr sz="1400" dirty="0">
                <a:solidFill>
                  <a:srgbClr val="5E686C"/>
                </a:solidFill>
                <a:latin typeface="Courier New"/>
                <a:cs typeface="Courier New"/>
              </a:rPr>
              <a:t>: </a:t>
            </a:r>
            <a:r>
              <a:rPr sz="1400" spc="-10" dirty="0">
                <a:solidFill>
                  <a:srgbClr val="6AA84F"/>
                </a:solidFill>
                <a:latin typeface="Courier New"/>
                <a:cs typeface="Courier New"/>
              </a:rPr>
              <a:t>14px</a:t>
            </a:r>
            <a:r>
              <a:rPr sz="1400" spc="-10" dirty="0">
                <a:solidFill>
                  <a:srgbClr val="5E686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5E686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422348"/>
            <a:ext cx="2052320" cy="7683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h1</a:t>
            </a:r>
            <a:r>
              <a:rPr sz="14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5E686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438784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FF9900"/>
                </a:solidFill>
                <a:latin typeface="Courier New"/>
                <a:cs typeface="Courier New"/>
              </a:rPr>
              <a:t>font-</a:t>
            </a:r>
            <a:r>
              <a:rPr sz="1400" dirty="0">
                <a:solidFill>
                  <a:srgbClr val="FF9900"/>
                </a:solidFill>
                <a:latin typeface="Courier New"/>
                <a:cs typeface="Courier New"/>
              </a:rPr>
              <a:t>size</a:t>
            </a:r>
            <a:r>
              <a:rPr sz="1400" dirty="0">
                <a:solidFill>
                  <a:srgbClr val="5E686C"/>
                </a:solidFill>
                <a:latin typeface="Courier New"/>
                <a:cs typeface="Courier New"/>
              </a:rPr>
              <a:t>: </a:t>
            </a:r>
            <a:r>
              <a:rPr sz="1400" spc="-20" dirty="0">
                <a:solidFill>
                  <a:srgbClr val="6AA84F"/>
                </a:solidFill>
                <a:latin typeface="Courier New"/>
                <a:cs typeface="Courier New"/>
              </a:rPr>
              <a:t>2em</a:t>
            </a:r>
            <a:r>
              <a:rPr sz="1400" spc="-20" dirty="0">
                <a:solidFill>
                  <a:srgbClr val="5E686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5E686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3412947"/>
            <a:ext cx="2265045" cy="7683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h2</a:t>
            </a:r>
            <a:r>
              <a:rPr sz="14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5E686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438784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FF9900"/>
                </a:solidFill>
                <a:latin typeface="Courier New"/>
                <a:cs typeface="Courier New"/>
              </a:rPr>
              <a:t>font-</a:t>
            </a:r>
            <a:r>
              <a:rPr sz="1400" dirty="0">
                <a:solidFill>
                  <a:srgbClr val="FF9900"/>
                </a:solidFill>
                <a:latin typeface="Courier New"/>
                <a:cs typeface="Courier New"/>
              </a:rPr>
              <a:t>size</a:t>
            </a:r>
            <a:r>
              <a:rPr sz="1400" dirty="0">
                <a:solidFill>
                  <a:srgbClr val="5E686C"/>
                </a:solidFill>
                <a:latin typeface="Courier New"/>
                <a:cs typeface="Courier New"/>
              </a:rPr>
              <a:t>: </a:t>
            </a:r>
            <a:r>
              <a:rPr sz="1400" spc="-10" dirty="0">
                <a:solidFill>
                  <a:srgbClr val="6AA84F"/>
                </a:solidFill>
                <a:latin typeface="Courier New"/>
                <a:cs typeface="Courier New"/>
              </a:rPr>
              <a:t>1.5em</a:t>
            </a:r>
            <a:r>
              <a:rPr sz="1400" spc="-10" dirty="0">
                <a:solidFill>
                  <a:srgbClr val="5E686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5E686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11150" y="2307688"/>
            <a:ext cx="345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400" spc="-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5E686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37701" y="2555338"/>
            <a:ext cx="23717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9900"/>
                </a:solidFill>
                <a:latin typeface="Courier New"/>
                <a:cs typeface="Courier New"/>
              </a:rPr>
              <a:t>text-</a:t>
            </a:r>
            <a:r>
              <a:rPr sz="1400" dirty="0">
                <a:solidFill>
                  <a:srgbClr val="FF9900"/>
                </a:solidFill>
                <a:latin typeface="Courier New"/>
                <a:cs typeface="Courier New"/>
              </a:rPr>
              <a:t>decoration</a:t>
            </a:r>
            <a:r>
              <a:rPr sz="1400" dirty="0">
                <a:solidFill>
                  <a:srgbClr val="5E686C"/>
                </a:solidFill>
                <a:latin typeface="Courier New"/>
                <a:cs typeface="Courier New"/>
              </a:rPr>
              <a:t>:</a:t>
            </a:r>
            <a:r>
              <a:rPr sz="1400" spc="-35" dirty="0">
                <a:solidFill>
                  <a:srgbClr val="5E686C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6AA84F"/>
                </a:solidFill>
                <a:latin typeface="Courier New"/>
                <a:cs typeface="Courier New"/>
              </a:rPr>
              <a:t>none</a:t>
            </a:r>
            <a:r>
              <a:rPr sz="1400" spc="-10" dirty="0">
                <a:solidFill>
                  <a:srgbClr val="5E686C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11150" y="2802988"/>
            <a:ext cx="1327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5E686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11150" y="3263998"/>
            <a:ext cx="3225165" cy="10160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strong</a:t>
            </a:r>
            <a:r>
              <a:rPr sz="14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5E686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438784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FF9900"/>
                </a:solidFill>
                <a:latin typeface="Courier New"/>
                <a:cs typeface="Courier New"/>
              </a:rPr>
              <a:t>font-</a:t>
            </a:r>
            <a:r>
              <a:rPr sz="1400" dirty="0">
                <a:solidFill>
                  <a:srgbClr val="FF9900"/>
                </a:solidFill>
                <a:latin typeface="Courier New"/>
                <a:cs typeface="Courier New"/>
              </a:rPr>
              <a:t>style:</a:t>
            </a:r>
            <a:r>
              <a:rPr sz="1400" spc="-5" dirty="0">
                <a:solidFill>
                  <a:srgbClr val="FF990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6AA84F"/>
                </a:solidFill>
                <a:latin typeface="Courier New"/>
                <a:cs typeface="Courier New"/>
              </a:rPr>
              <a:t>italic</a:t>
            </a:r>
            <a:r>
              <a:rPr sz="1400" spc="-10" dirty="0">
                <a:solidFill>
                  <a:srgbClr val="FF990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439420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FF9900"/>
                </a:solidFill>
                <a:latin typeface="Courier New"/>
                <a:cs typeface="Courier New"/>
              </a:rPr>
              <a:t>text-</a:t>
            </a:r>
            <a:r>
              <a:rPr sz="1400" dirty="0">
                <a:solidFill>
                  <a:srgbClr val="FF9900"/>
                </a:solidFill>
                <a:latin typeface="Courier New"/>
                <a:cs typeface="Courier New"/>
              </a:rPr>
              <a:t>transform:</a:t>
            </a:r>
            <a:r>
              <a:rPr sz="1400" spc="-30" dirty="0">
                <a:solidFill>
                  <a:srgbClr val="FF990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6AA84F"/>
                </a:solidFill>
                <a:latin typeface="Courier New"/>
                <a:cs typeface="Courier New"/>
              </a:rPr>
              <a:t>uppercase</a:t>
            </a:r>
            <a:r>
              <a:rPr sz="1400" spc="-10" dirty="0">
                <a:solidFill>
                  <a:srgbClr val="FF990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5E686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79822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Google fonts</a:t>
            </a:r>
          </a:p>
        </p:txBody>
      </p:sp>
      <p:sp>
        <p:nvSpPr>
          <p:cNvPr id="1843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57200" y="742951"/>
            <a:ext cx="8229600" cy="892552"/>
          </a:xfrm>
        </p:spPr>
        <p:txBody>
          <a:bodyPr/>
          <a:lstStyle/>
          <a:p>
            <a:r>
              <a:rPr lang="en-US" sz="2000" smtClean="0"/>
              <a:t>If you do not want to use any of the standard fonts in HTML, you can use Google Fonts.They  are free to use, and have more than 1000 fonts</a:t>
            </a:r>
          </a:p>
          <a:p>
            <a:pPr>
              <a:buFont typeface="Arial" charset="0"/>
              <a:buNone/>
            </a:pPr>
            <a:endParaRPr 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BB470981-D7D2-4917-AA7C-F2EB93F1617E}" type="slidenum">
              <a:rPr lang="en-US">
                <a:solidFill>
                  <a:srgbClr val="898989"/>
                </a:solidFill>
              </a:rPr>
              <a:pPr/>
              <a:t>38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184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28" b="3812"/>
          <a:stretch>
            <a:fillRect/>
          </a:stretch>
        </p:blipFill>
        <p:spPr bwMode="auto">
          <a:xfrm>
            <a:off x="457200" y="1314450"/>
            <a:ext cx="76962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790950"/>
            <a:ext cx="49911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1954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308372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Fonts effects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2F328285-F53D-4E68-8284-304820AF07C2}" type="slidenum">
              <a:rPr lang="en-US">
                <a:solidFill>
                  <a:srgbClr val="898989"/>
                </a:solidFill>
              </a:rPr>
              <a:pPr/>
              <a:t>39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2150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857250"/>
            <a:ext cx="8153400" cy="2628900"/>
          </a:xfrm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29012"/>
            <a:ext cx="3448050" cy="110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69255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 noChangeArrowheads="1"/>
          </p:cNvSpPr>
          <p:nvPr>
            <p:ph type="title"/>
          </p:nvPr>
        </p:nvSpPr>
        <p:spPr>
          <a:xfrm>
            <a:off x="384725" y="448119"/>
            <a:ext cx="7047230" cy="492443"/>
          </a:xfrm>
        </p:spPr>
        <p:txBody>
          <a:bodyPr/>
          <a:lstStyle/>
          <a:p>
            <a:r>
              <a:rPr lang="en-US" smtClean="0"/>
              <a:t>Font short hand property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C95CDCBF-AD52-43D6-902E-80C8FBCEAB2A}" type="slidenum">
              <a:rPr lang="en-US">
                <a:solidFill>
                  <a:srgbClr val="898989"/>
                </a:solidFill>
              </a:rPr>
              <a:pPr/>
              <a:t>40</a:t>
            </a:fld>
            <a:endParaRPr lang="en-US">
              <a:solidFill>
                <a:srgbClr val="898989"/>
              </a:solidFill>
            </a:endParaRPr>
          </a:p>
        </p:txBody>
      </p:sp>
      <p:sp>
        <p:nvSpPr>
          <p:cNvPr id="22532" name="Content Placeholder 8"/>
          <p:cNvSpPr>
            <a:spLocks noGrp="1" noChangeArrowheads="1"/>
          </p:cNvSpPr>
          <p:nvPr>
            <p:ph idx="1"/>
          </p:nvPr>
        </p:nvSpPr>
        <p:spPr>
          <a:xfrm>
            <a:off x="384725" y="1216355"/>
            <a:ext cx="8004809" cy="276999"/>
          </a:xfrm>
        </p:spPr>
        <p:txBody>
          <a:bodyPr/>
          <a:lstStyle/>
          <a:p>
            <a:r>
              <a:rPr lang="en-US" smtClean="0"/>
              <a:t>Use font to set several font properties in one declaration</a:t>
            </a:r>
          </a:p>
        </p:txBody>
      </p:sp>
      <p:pic>
        <p:nvPicPr>
          <p:cNvPr id="2253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2018110"/>
            <a:ext cx="5991225" cy="186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21070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-10" dirty="0"/>
              <a:t> </a:t>
            </a:r>
            <a:r>
              <a:rPr spc="110" dirty="0"/>
              <a:t>Properties:</a:t>
            </a:r>
            <a:r>
              <a:rPr spc="-10" dirty="0"/>
              <a:t> </a:t>
            </a:r>
            <a:r>
              <a:rPr spc="75" dirty="0"/>
              <a:t>Text</a:t>
            </a:r>
            <a:r>
              <a:rPr spc="-5" dirty="0"/>
              <a:t> </a:t>
            </a:r>
            <a:r>
              <a:rPr spc="110" dirty="0"/>
              <a:t>Spacing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232140" cy="330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letter-</a:t>
            </a:r>
            <a:r>
              <a:rPr sz="1800" spc="-25" dirty="0">
                <a:solidFill>
                  <a:srgbClr val="F45E61"/>
                </a:solidFill>
                <a:latin typeface="Tahoma"/>
                <a:cs typeface="Tahoma"/>
              </a:rPr>
              <a:t>spacing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: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sets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spacing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between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letters.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length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normal.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word-</a:t>
            </a:r>
            <a:r>
              <a:rPr sz="1800" spc="-30" dirty="0">
                <a:solidFill>
                  <a:srgbClr val="F45E61"/>
                </a:solidFill>
                <a:latin typeface="Tahoma"/>
                <a:cs typeface="Tahoma"/>
              </a:rPr>
              <a:t>spacing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:</a:t>
            </a:r>
            <a:r>
              <a:rPr sz="18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sets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spacing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between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words.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length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normal.</a:t>
            </a:r>
            <a:endParaRPr sz="1800">
              <a:latin typeface="Tahoma"/>
              <a:cs typeface="Tahoma"/>
            </a:endParaRPr>
          </a:p>
          <a:p>
            <a:pPr marL="12700" marR="66040">
              <a:lnSpc>
                <a:spcPct val="114599"/>
              </a:lnSpc>
              <a:spcBef>
                <a:spcPts val="1575"/>
              </a:spcBef>
            </a:pP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line-</a:t>
            </a:r>
            <a:r>
              <a:rPr sz="1800" spc="-25" dirty="0">
                <a:solidFill>
                  <a:srgbClr val="F45E61"/>
                </a:solidFill>
                <a:latin typeface="Tahoma"/>
                <a:cs typeface="Tahoma"/>
              </a:rPr>
              <a:t>height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: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sets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height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lines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element,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such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paragraph,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without adjusting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size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font.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number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(which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specifies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multiple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the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font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size,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so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“2”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two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times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font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size,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5E686C"/>
                </a:solidFill>
                <a:latin typeface="Tahoma"/>
                <a:cs typeface="Tahoma"/>
              </a:rPr>
              <a:t>example),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length,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percentage,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normal.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87500"/>
              </a:lnSpc>
            </a:pP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text-</a:t>
            </a:r>
            <a:r>
              <a:rPr sz="1800" spc="-20" dirty="0">
                <a:solidFill>
                  <a:srgbClr val="F45E61"/>
                </a:solidFill>
                <a:latin typeface="Tahoma"/>
                <a:cs typeface="Tahoma"/>
              </a:rPr>
              <a:t>indent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: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indent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first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line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paragraph,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given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length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percentage.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text-</a:t>
            </a:r>
            <a:r>
              <a:rPr sz="1800" spc="-30" dirty="0">
                <a:solidFill>
                  <a:srgbClr val="F45E61"/>
                </a:solidFill>
                <a:latin typeface="Tahoma"/>
                <a:cs typeface="Tahoma"/>
              </a:rPr>
              <a:t>align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: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align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inside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left,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right,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center,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justify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365522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Text alignment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9273EDED-ED30-49B4-AE84-8F9A154DC8B9}" type="slidenum">
              <a:rPr lang="en-US">
                <a:solidFill>
                  <a:srgbClr val="898989"/>
                </a:solidFill>
              </a:rPr>
              <a:pPr/>
              <a:t>42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286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11"/>
          <a:stretch>
            <a:fillRect/>
          </a:stretch>
        </p:blipFill>
        <p:spPr bwMode="auto">
          <a:xfrm>
            <a:off x="228600" y="1123950"/>
            <a:ext cx="7924800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63282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 noChangeArrowheads="1"/>
          </p:cNvSpPr>
          <p:nvPr>
            <p:ph type="title"/>
          </p:nvPr>
        </p:nvSpPr>
        <p:spPr>
          <a:xfrm>
            <a:off x="384725" y="448119"/>
            <a:ext cx="7047230" cy="492443"/>
          </a:xfrm>
        </p:spPr>
        <p:txBody>
          <a:bodyPr/>
          <a:lstStyle/>
          <a:p>
            <a:r>
              <a:rPr lang="en-US" smtClean="0"/>
              <a:t>Text decoration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0438F7F1-D374-40DE-BC57-7285EAC79FC4}" type="slidenum">
              <a:rPr lang="en-US">
                <a:solidFill>
                  <a:srgbClr val="898989"/>
                </a:solidFill>
              </a:rPr>
              <a:pPr/>
              <a:t>43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3174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257300"/>
            <a:ext cx="7239000" cy="3429000"/>
          </a:xfrm>
        </p:spPr>
      </p:pic>
    </p:spTree>
    <p:extLst>
      <p:ext uri="{BB962C8B-B14F-4D97-AF65-F5344CB8AC3E}">
        <p14:creationId xmlns:p14="http://schemas.microsoft.com/office/powerpoint/2010/main" val="1341205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75761955"/>
              </p:ext>
            </p:extLst>
          </p:nvPr>
        </p:nvGraphicFramePr>
        <p:xfrm>
          <a:off x="457200" y="171450"/>
          <a:ext cx="8229600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533400" y="997744"/>
            <a:ext cx="8229600" cy="1661993"/>
          </a:xfrm>
        </p:spPr>
        <p:txBody>
          <a:bodyPr/>
          <a:lstStyle/>
          <a:p>
            <a:r>
              <a:rPr lang="en-US" b="1" smtClean="0">
                <a:cs typeface="Calibri" pitchFamily="34" charset="0"/>
              </a:rPr>
              <a:t>color : </a:t>
            </a:r>
          </a:p>
          <a:p>
            <a:pPr lvl="1"/>
            <a:r>
              <a:rPr lang="en-US" b="1" smtClean="0">
                <a:cs typeface="Calibri" pitchFamily="34" charset="0"/>
              </a:rPr>
              <a:t>Changes the </a:t>
            </a:r>
            <a:r>
              <a:rPr lang="en-US" b="1" smtClean="0">
                <a:solidFill>
                  <a:srgbClr val="FF0000"/>
                </a:solidFill>
                <a:cs typeface="Calibri" pitchFamily="34" charset="0"/>
              </a:rPr>
              <a:t>color</a:t>
            </a:r>
            <a:r>
              <a:rPr lang="en-US" b="1" smtClean="0">
                <a:cs typeface="Calibri" pitchFamily="34" charset="0"/>
              </a:rPr>
              <a:t> of the links</a:t>
            </a:r>
          </a:p>
          <a:p>
            <a:r>
              <a:rPr lang="en-US" b="1" smtClean="0">
                <a:cs typeface="Calibri" pitchFamily="34" charset="0"/>
              </a:rPr>
              <a:t>background-color : </a:t>
            </a:r>
          </a:p>
          <a:p>
            <a:pPr lvl="1"/>
            <a:r>
              <a:rPr lang="en-US" b="1" smtClean="0">
                <a:solidFill>
                  <a:srgbClr val="FF0000"/>
                </a:solidFill>
                <a:cs typeface="Calibri" pitchFamily="34" charset="0"/>
              </a:rPr>
              <a:t>Highlights</a:t>
            </a:r>
            <a:r>
              <a:rPr lang="en-US" b="1" smtClean="0">
                <a:cs typeface="Calibri" pitchFamily="34" charset="0"/>
              </a:rPr>
              <a:t> the link, as if it had been highlighted with a highlighter pen</a:t>
            </a:r>
          </a:p>
          <a:p>
            <a:r>
              <a:rPr lang="en-US" b="1" smtClean="0">
                <a:cs typeface="Calibri" pitchFamily="34" charset="0"/>
              </a:rPr>
              <a:t>text-decoration : </a:t>
            </a:r>
          </a:p>
          <a:p>
            <a:pPr lvl="1"/>
            <a:r>
              <a:rPr lang="en-US" b="1" smtClean="0">
                <a:solidFill>
                  <a:srgbClr val="FF0000"/>
                </a:solidFill>
                <a:cs typeface="Calibri" pitchFamily="34" charset="0"/>
              </a:rPr>
              <a:t>Underline, strike through, over-line, blink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4E2F6EAA-48C5-4791-956E-B65FDD83BD4C}" type="slidenum">
              <a:rPr lang="en-US">
                <a:solidFill>
                  <a:srgbClr val="898989"/>
                </a:solidFill>
              </a:rPr>
              <a:pPr/>
              <a:t>44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59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551260230"/>
              </p:ext>
            </p:extLst>
          </p:nvPr>
        </p:nvGraphicFramePr>
        <p:xfrm>
          <a:off x="457200" y="171450"/>
          <a:ext cx="8229600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>
                <a:solidFill>
                  <a:schemeClr val="accent1"/>
                </a:solidFill>
              </a:rPr>
              <a:t>Pseudo-classes of links: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/>
              <a:t>Link: 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b="1" dirty="0"/>
              <a:t>Styles for </a:t>
            </a:r>
            <a:r>
              <a:rPr lang="en-US" b="1" dirty="0">
                <a:solidFill>
                  <a:srgbClr val="FF0000"/>
                </a:solidFill>
              </a:rPr>
              <a:t>links </a:t>
            </a:r>
            <a:r>
              <a:rPr lang="en-US" b="1" dirty="0"/>
              <a:t>in general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/>
              <a:t>Visited: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b="1" dirty="0"/>
              <a:t>Styles the links which are </a:t>
            </a:r>
            <a:r>
              <a:rPr lang="en-US" b="1" dirty="0">
                <a:solidFill>
                  <a:srgbClr val="FF0000"/>
                </a:solidFill>
              </a:rPr>
              <a:t>already visited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/>
              <a:t>Hover: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b="1" dirty="0"/>
              <a:t>Styles when some on </a:t>
            </a:r>
            <a:r>
              <a:rPr lang="en-US" b="1" dirty="0">
                <a:solidFill>
                  <a:srgbClr val="FF0000"/>
                </a:solidFill>
              </a:rPr>
              <a:t>hovering</a:t>
            </a:r>
            <a:r>
              <a:rPr lang="en-US" b="1" dirty="0"/>
              <a:t> over a link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/>
              <a:t>Active: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b="1" dirty="0"/>
              <a:t>Styles the links when a links is </a:t>
            </a:r>
            <a:r>
              <a:rPr lang="en-US" b="1" dirty="0">
                <a:solidFill>
                  <a:srgbClr val="FF0000"/>
                </a:solidFill>
              </a:rPr>
              <a:t>being clicked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5434A8B2-3D2D-492D-A74C-F633464BBA2A}" type="slidenum">
              <a:rPr lang="en-US">
                <a:solidFill>
                  <a:srgbClr val="898989"/>
                </a:solidFill>
              </a:rPr>
              <a:pPr/>
              <a:t>45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31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57200" y="285751"/>
            <a:ext cx="8229600" cy="830997"/>
          </a:xfrm>
        </p:spPr>
        <p:txBody>
          <a:bodyPr/>
          <a:lstStyle/>
          <a:p>
            <a:r>
              <a:rPr lang="en-US" smtClean="0"/>
              <a:t>This example demonstrates how to add other styles to hyperlinks:</a:t>
            </a:r>
          </a:p>
          <a:p>
            <a:pPr>
              <a:buFont typeface="Arial" charset="0"/>
              <a:buNone/>
            </a:pPr>
            <a:endParaRPr lang="en-US" smtClean="0"/>
          </a:p>
          <a:p>
            <a:endParaRPr 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E7B14753-D467-40AB-B425-16BE3F548C63}" type="slidenum">
              <a:rPr lang="en-US">
                <a:solidFill>
                  <a:srgbClr val="898989"/>
                </a:solidFill>
              </a:rPr>
              <a:pPr/>
              <a:t>46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4096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85850"/>
            <a:ext cx="7467600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21189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736028204"/>
              </p:ext>
            </p:extLst>
          </p:nvPr>
        </p:nvGraphicFramePr>
        <p:xfrm>
          <a:off x="457200" y="171450"/>
          <a:ext cx="8229600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/>
          <p:cNvSpPr>
            <a:spLocks noGrp="1" noChangeArrowheads="1"/>
          </p:cNvSpPr>
          <p:nvPr>
            <p:ph idx="1"/>
          </p:nvPr>
        </p:nvSpPr>
        <p:spPr>
          <a:xfrm>
            <a:off x="384725" y="1216355"/>
            <a:ext cx="8004809" cy="2215991"/>
          </a:xfrm>
        </p:spPr>
        <p:txBody>
          <a:bodyPr/>
          <a:lstStyle/>
          <a:p>
            <a:r>
              <a:rPr lang="en-US" b="1" smtClean="0"/>
              <a:t>background-color:</a:t>
            </a:r>
          </a:p>
          <a:p>
            <a:pPr lvl="1"/>
            <a:r>
              <a:rPr lang="en-US" b="1" smtClean="0"/>
              <a:t>Specifies the </a:t>
            </a:r>
            <a:r>
              <a:rPr lang="en-US" b="1" smtClean="0">
                <a:solidFill>
                  <a:srgbClr val="FF0000"/>
                </a:solidFill>
              </a:rPr>
              <a:t>background color</a:t>
            </a:r>
          </a:p>
          <a:p>
            <a:r>
              <a:rPr lang="en-US" b="1" smtClean="0"/>
              <a:t>background-image:</a:t>
            </a:r>
          </a:p>
          <a:p>
            <a:pPr lvl="1"/>
            <a:r>
              <a:rPr lang="en-US" b="1" smtClean="0"/>
              <a:t>Specifies the </a:t>
            </a:r>
            <a:r>
              <a:rPr lang="en-US" b="1" smtClean="0">
                <a:solidFill>
                  <a:srgbClr val="FF0000"/>
                </a:solidFill>
              </a:rPr>
              <a:t>background image</a:t>
            </a:r>
          </a:p>
          <a:p>
            <a:r>
              <a:rPr lang="en-US" b="1" smtClean="0"/>
              <a:t>background-repeat:</a:t>
            </a:r>
          </a:p>
          <a:p>
            <a:pPr lvl="1"/>
            <a:r>
              <a:rPr lang="en-US" b="1" smtClean="0"/>
              <a:t>Specifies whether the image should </a:t>
            </a:r>
            <a:r>
              <a:rPr lang="en-US" b="1" smtClean="0">
                <a:solidFill>
                  <a:srgbClr val="FF0000"/>
                </a:solidFill>
              </a:rPr>
              <a:t>repeat or not</a:t>
            </a:r>
          </a:p>
          <a:p>
            <a:r>
              <a:rPr lang="en-US" b="1" smtClean="0"/>
              <a:t>background-position:</a:t>
            </a:r>
          </a:p>
          <a:p>
            <a:pPr lvl="1"/>
            <a:r>
              <a:rPr lang="en-US" b="1" smtClean="0"/>
              <a:t>Where an image should be </a:t>
            </a:r>
            <a:r>
              <a:rPr lang="en-US" b="1" smtClean="0">
                <a:solidFill>
                  <a:srgbClr val="FF0000"/>
                </a:solidFill>
              </a:rPr>
              <a:t>positioned</a:t>
            </a:r>
          </a:p>
        </p:txBody>
      </p:sp>
    </p:spTree>
    <p:extLst>
      <p:ext uri="{BB962C8B-B14F-4D97-AF65-F5344CB8AC3E}">
        <p14:creationId xmlns:p14="http://schemas.microsoft.com/office/powerpoint/2010/main" val="114919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 noChangeArrowheads="1"/>
          </p:cNvSpPr>
          <p:nvPr>
            <p:ph type="title"/>
          </p:nvPr>
        </p:nvSpPr>
        <p:spPr>
          <a:xfrm>
            <a:off x="384725" y="448119"/>
            <a:ext cx="7047230" cy="492443"/>
          </a:xfrm>
        </p:spPr>
        <p:txBody>
          <a:bodyPr/>
          <a:lstStyle/>
          <a:p>
            <a:r>
              <a:rPr lang="en-US" smtClean="0"/>
              <a:t>Background image and repeat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6BB12702-D757-4E35-B90B-150F66CBBBE4}" type="slidenum">
              <a:rPr lang="en-US">
                <a:solidFill>
                  <a:srgbClr val="898989"/>
                </a:solidFill>
              </a:rPr>
              <a:pPr/>
              <a:t>48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4403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" y="1200150"/>
            <a:ext cx="8153400" cy="1885950"/>
          </a:xfrm>
        </p:spPr>
      </p:pic>
      <p:pic>
        <p:nvPicPr>
          <p:cNvPr id="4403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371850"/>
            <a:ext cx="807720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56062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 noChangeArrowheads="1"/>
          </p:cNvSpPr>
          <p:nvPr>
            <p:ph type="title"/>
          </p:nvPr>
        </p:nvSpPr>
        <p:spPr>
          <a:xfrm>
            <a:off x="384725" y="448119"/>
            <a:ext cx="7047230" cy="492443"/>
          </a:xfrm>
        </p:spPr>
        <p:txBody>
          <a:bodyPr/>
          <a:lstStyle/>
          <a:p>
            <a:r>
              <a:rPr lang="en-GB" smtClean="0"/>
              <a:t>Background position</a:t>
            </a:r>
          </a:p>
        </p:txBody>
      </p:sp>
      <p:pic>
        <p:nvPicPr>
          <p:cNvPr id="45059" name="Content Placeholder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428751"/>
            <a:ext cx="8382000" cy="3612356"/>
          </a:xfr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37D0BDB-D80D-491B-8D80-F16A09B073D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3F612FB-F8F7-4F83-9895-202B95BDC0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97B8C1A3-E70A-4398-BCF0-AA87EA013294}" type="slidenum">
              <a:rPr lang="en-US">
                <a:solidFill>
                  <a:srgbClr val="898989"/>
                </a:solidFill>
              </a:rPr>
              <a:pPr/>
              <a:t>49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4506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09638"/>
            <a:ext cx="5562600" cy="335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74718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 noChangeArrowheads="1"/>
          </p:cNvSpPr>
          <p:nvPr>
            <p:ph type="title"/>
          </p:nvPr>
        </p:nvSpPr>
        <p:spPr>
          <a:xfrm>
            <a:off x="384725" y="448119"/>
            <a:ext cx="7047230" cy="492443"/>
          </a:xfrm>
        </p:spPr>
        <p:txBody>
          <a:bodyPr/>
          <a:lstStyle/>
          <a:p>
            <a:endParaRPr lang="en-GB" smtClean="0"/>
          </a:p>
        </p:txBody>
      </p:sp>
      <p:sp>
        <p:nvSpPr>
          <p:cNvPr id="4608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84725" y="1216355"/>
            <a:ext cx="8004809" cy="830997"/>
          </a:xfrm>
        </p:spPr>
        <p:txBody>
          <a:bodyPr/>
          <a:lstStyle/>
          <a:p>
            <a:r>
              <a:rPr lang="en-GB" smtClean="0">
                <a:hlinkClick r:id="rId2"/>
              </a:rPr>
              <a:t>https://www.w3schools.com/cssref/playdemo.php?filename=playcss_background-position</a:t>
            </a:r>
            <a:endParaRPr lang="en-GB" smtClean="0"/>
          </a:p>
          <a:p>
            <a:endParaRPr lang="en-GB" smtClean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65A4BA3-26B3-48B5-90C0-CF60E0E519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39B28B85-10E5-4C99-A378-D8FF90C6F3B8}" type="slidenum">
              <a:rPr lang="en-US">
                <a:solidFill>
                  <a:srgbClr val="898989"/>
                </a:solidFill>
              </a:rPr>
              <a:pPr/>
              <a:t>50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0402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D2AF57-C6DF-44B0-94A3-E73B5AFA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dirty="0"/>
              <a:t>Background position-x property &amp;</a:t>
            </a:r>
            <a:br>
              <a:rPr lang="en-GB" dirty="0"/>
            </a:br>
            <a:r>
              <a:rPr lang="en-GB" dirty="0"/>
              <a:t>Background position-y property</a:t>
            </a:r>
          </a:p>
        </p:txBody>
      </p:sp>
      <p:pic>
        <p:nvPicPr>
          <p:cNvPr id="47107" name="Content Placeholder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57300"/>
            <a:ext cx="6858000" cy="971550"/>
          </a:xfrm>
        </p:spPr>
      </p:pic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8955911-63CF-4227-A914-609B474ECF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B7EC1333-4A09-4EF0-8727-2D3811F9447B}" type="slidenum">
              <a:rPr lang="en-US">
                <a:solidFill>
                  <a:srgbClr val="898989"/>
                </a:solidFill>
              </a:rPr>
              <a:pPr/>
              <a:t>51</a:t>
            </a:fld>
            <a:endParaRPr lang="en-US">
              <a:solidFill>
                <a:srgbClr val="898989"/>
              </a:solidFill>
            </a:endParaRPr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477838" y="2433638"/>
            <a:ext cx="51609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GB"/>
              <a:t>Background position-y property in same way</a:t>
            </a:r>
          </a:p>
        </p:txBody>
      </p:sp>
    </p:spTree>
    <p:extLst>
      <p:ext uri="{BB962C8B-B14F-4D97-AF65-F5344CB8AC3E}">
        <p14:creationId xmlns:p14="http://schemas.microsoft.com/office/powerpoint/2010/main" val="30362157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A507CA61-F074-4156-AA0F-B28487C179C4}" type="slidenum">
              <a:rPr lang="en-US">
                <a:solidFill>
                  <a:srgbClr val="898989"/>
                </a:solidFill>
              </a:rPr>
              <a:pPr/>
              <a:t>52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4813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400050"/>
            <a:ext cx="8153400" cy="4514850"/>
          </a:xfrm>
        </p:spPr>
      </p:pic>
    </p:spTree>
    <p:extLst>
      <p:ext uri="{BB962C8B-B14F-4D97-AF65-F5344CB8AC3E}">
        <p14:creationId xmlns:p14="http://schemas.microsoft.com/office/powerpoint/2010/main" val="6741843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12C00B22-2DFE-45D8-AA66-A2414ECFCF26}" type="slidenum">
              <a:rPr lang="en-US">
                <a:solidFill>
                  <a:srgbClr val="898989"/>
                </a:solidFill>
              </a:rPr>
              <a:pPr/>
              <a:t>53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4915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10"/>
          <a:stretch/>
        </p:blipFill>
        <p:spPr bwMode="auto">
          <a:xfrm>
            <a:off x="228600" y="514350"/>
            <a:ext cx="8153400" cy="2547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3413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852378817"/>
              </p:ext>
            </p:extLst>
          </p:nvPr>
        </p:nvGraphicFramePr>
        <p:xfrm>
          <a:off x="457200" y="171450"/>
          <a:ext cx="8229600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65FC7465-A143-423D-B2A5-E9A49746DF11}" type="slidenum">
              <a:rPr lang="en-US">
                <a:solidFill>
                  <a:srgbClr val="898989"/>
                </a:solidFill>
              </a:rPr>
              <a:pPr/>
              <a:t>54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67589" name="Picture 6" descr="style - Notepa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85850"/>
            <a:ext cx="8634413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ight Brace 7"/>
          <p:cNvSpPr/>
          <p:nvPr/>
        </p:nvSpPr>
        <p:spPr>
          <a:xfrm>
            <a:off x="3657600" y="1485900"/>
            <a:ext cx="381000" cy="62865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191000" y="1543050"/>
            <a:ext cx="1828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b="1"/>
              <a:t>Table settings</a:t>
            </a:r>
          </a:p>
        </p:txBody>
      </p:sp>
      <p:sp>
        <p:nvSpPr>
          <p:cNvPr id="10" name="Right Brace 9"/>
          <p:cNvSpPr/>
          <p:nvPr/>
        </p:nvSpPr>
        <p:spPr>
          <a:xfrm>
            <a:off x="3848100" y="2514600"/>
            <a:ext cx="342900" cy="5715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343400" y="2514600"/>
            <a:ext cx="2209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b="1"/>
              <a:t>Th settings</a:t>
            </a:r>
          </a:p>
        </p:txBody>
      </p:sp>
      <p:sp>
        <p:nvSpPr>
          <p:cNvPr id="12" name="Right Brace 11"/>
          <p:cNvSpPr/>
          <p:nvPr/>
        </p:nvSpPr>
        <p:spPr>
          <a:xfrm>
            <a:off x="4572000" y="3200400"/>
            <a:ext cx="533400" cy="5715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257800" y="3371850"/>
            <a:ext cx="1447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b="1"/>
              <a:t>Td settings</a:t>
            </a:r>
          </a:p>
        </p:txBody>
      </p:sp>
      <p:sp>
        <p:nvSpPr>
          <p:cNvPr id="14" name="Right Brace 13"/>
          <p:cNvSpPr/>
          <p:nvPr/>
        </p:nvSpPr>
        <p:spPr>
          <a:xfrm>
            <a:off x="2667000" y="4000500"/>
            <a:ext cx="304800" cy="40005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028950" y="4062413"/>
            <a:ext cx="2324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b="1"/>
              <a:t>Tr settings</a:t>
            </a:r>
          </a:p>
        </p:txBody>
      </p:sp>
    </p:spTree>
    <p:extLst>
      <p:ext uri="{BB962C8B-B14F-4D97-AF65-F5344CB8AC3E}">
        <p14:creationId xmlns:p14="http://schemas.microsoft.com/office/powerpoint/2010/main" val="99248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280398924"/>
              </p:ext>
            </p:extLst>
          </p:nvPr>
        </p:nvGraphicFramePr>
        <p:xfrm>
          <a:off x="457200" y="171450"/>
          <a:ext cx="8229600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636574BB-E656-4C9F-9B42-EC149BAFB588}" type="slidenum">
              <a:rPr lang="en-US">
                <a:solidFill>
                  <a:srgbClr val="898989"/>
                </a:solidFill>
              </a:rPr>
              <a:pPr/>
              <a:t>55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68613" name="Picture 2" descr="Text properties - Google Chrom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1085850"/>
            <a:ext cx="8596313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57899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E0E2A351-CE3A-4965-9066-79E3E0D3159D}" type="slidenum">
              <a:rPr lang="en-US">
                <a:solidFill>
                  <a:srgbClr val="898989"/>
                </a:solidFill>
              </a:rPr>
              <a:pPr/>
              <a:t>56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6963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</p:spPr>
      </p:pic>
    </p:spTree>
    <p:extLst>
      <p:ext uri="{BB962C8B-B14F-4D97-AF65-F5344CB8AC3E}">
        <p14:creationId xmlns:p14="http://schemas.microsoft.com/office/powerpoint/2010/main" val="618769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E434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</TotalTime>
  <Words>2038</Words>
  <Application>Microsoft Office PowerPoint</Application>
  <PresentationFormat>On-screen Show (16:9)</PresentationFormat>
  <Paragraphs>315</Paragraphs>
  <Slides>56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7" baseType="lpstr">
      <vt:lpstr>Office Theme</vt:lpstr>
      <vt:lpstr>  Introduction to CSS</vt:lpstr>
      <vt:lpstr>CSS = Cascading Style Sheets</vt:lpstr>
      <vt:lpstr>PowerPoint Presentation</vt:lpstr>
      <vt:lpstr>The CSS Rule</vt:lpstr>
      <vt:lpstr>CSS Syntax</vt:lpstr>
      <vt:lpstr>Connecting CSS to HTML</vt:lpstr>
      <vt:lpstr>PowerPoint Presentation</vt:lpstr>
      <vt:lpstr>Connecting CSS to HTML: Inline</vt:lpstr>
      <vt:lpstr>Connecting CSS to HTML: Inline</vt:lpstr>
      <vt:lpstr>Style Location: Inline</vt:lpstr>
      <vt:lpstr> internal style</vt:lpstr>
      <vt:lpstr>External Style</vt:lpstr>
      <vt:lpstr>CSS Selectors</vt:lpstr>
      <vt:lpstr>CSS Selectors: Element</vt:lpstr>
      <vt:lpstr>CSS Selectors: Id</vt:lpstr>
      <vt:lpstr>CSS Selectors: Class</vt:lpstr>
      <vt:lpstr>CSS Selectors: Class</vt:lpstr>
      <vt:lpstr>CSS Selectors: *</vt:lpstr>
      <vt:lpstr>CSS Selectors: Element Element</vt:lpstr>
      <vt:lpstr>CSS Selectors: Element,Element</vt:lpstr>
      <vt:lpstr>CSS Selectors</vt:lpstr>
      <vt:lpstr>CSS Values</vt:lpstr>
      <vt:lpstr>CSS Values: Lengths and Percentages</vt:lpstr>
      <vt:lpstr>CSS Values: Color</vt:lpstr>
      <vt:lpstr>RGB Value</vt:lpstr>
      <vt:lpstr>RGB Value</vt:lpstr>
      <vt:lpstr>RGB Value Cont’d</vt:lpstr>
      <vt:lpstr>RGBA VALUES</vt:lpstr>
      <vt:lpstr>HTML HEX COLOURS</vt:lpstr>
      <vt:lpstr>HSL COLOR VALUES</vt:lpstr>
      <vt:lpstr>PowerPoint Presentation</vt:lpstr>
      <vt:lpstr>CSS Properties</vt:lpstr>
      <vt:lpstr>CSS Properties: Color</vt:lpstr>
      <vt:lpstr>CSS Properties: Text</vt:lpstr>
      <vt:lpstr>CSS Properties: Text</vt:lpstr>
      <vt:lpstr>CSS Properties: Text</vt:lpstr>
      <vt:lpstr>CSS Properties: Text</vt:lpstr>
      <vt:lpstr>Google fonts</vt:lpstr>
      <vt:lpstr>Fonts effects</vt:lpstr>
      <vt:lpstr>Font short hand property</vt:lpstr>
      <vt:lpstr>CSS Properties: Text Spacing</vt:lpstr>
      <vt:lpstr>Text alignment</vt:lpstr>
      <vt:lpstr>Text decoration</vt:lpstr>
      <vt:lpstr>PowerPoint Presentation</vt:lpstr>
      <vt:lpstr>PowerPoint Presentation</vt:lpstr>
      <vt:lpstr>PowerPoint Presentation</vt:lpstr>
      <vt:lpstr>PowerPoint Presentation</vt:lpstr>
      <vt:lpstr>Background image and repeat</vt:lpstr>
      <vt:lpstr>Background position</vt:lpstr>
      <vt:lpstr>PowerPoint Presentation</vt:lpstr>
      <vt:lpstr>Background position-x property &amp; Background position-y property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CSS</dc:title>
  <dc:creator>Saadia Sh</dc:creator>
  <cp:lastModifiedBy>Sadi Shabbit</cp:lastModifiedBy>
  <cp:revision>15</cp:revision>
  <dcterms:created xsi:type="dcterms:W3CDTF">2024-03-17T01:01:57Z</dcterms:created>
  <dcterms:modified xsi:type="dcterms:W3CDTF">2024-10-17T19:58:42Z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