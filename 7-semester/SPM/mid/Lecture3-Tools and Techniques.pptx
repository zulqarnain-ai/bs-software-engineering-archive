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308" r:id="rId2"/>
    <p:sldId id="640" r:id="rId3"/>
    <p:sldId id="639" r:id="rId4"/>
    <p:sldId id="641" r:id="rId5"/>
    <p:sldId id="642" r:id="rId6"/>
    <p:sldId id="650" r:id="rId7"/>
    <p:sldId id="643" r:id="rId8"/>
    <p:sldId id="644" r:id="rId9"/>
    <p:sldId id="645" r:id="rId10"/>
    <p:sldId id="646" r:id="rId11"/>
    <p:sldId id="647" r:id="rId12"/>
    <p:sldId id="648" r:id="rId13"/>
    <p:sldId id="649" r:id="rId1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FpiYag1g4dwilbFgJV47w==" hashData="VKAtG5dmFeI8mcMqNqIgYIzAVpsRpmK97qmEFRkoxtQZDkZ/Q7khPT8QL/wMg9ZZvbo2b8kEwZcRR4mCazr0N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32" autoAdjust="0"/>
  </p:normalViewPr>
  <p:slideViewPr>
    <p:cSldViewPr>
      <p:cViewPr varScale="1">
        <p:scale>
          <a:sx n="75" d="100"/>
          <a:sy n="75" d="100"/>
        </p:scale>
        <p:origin x="142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4B210D1-BB10-4D3F-84EE-23EFEA341F4D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9735464-44F0-47AE-8A8C-CFA2DB979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56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98C4478-F009-4084-AF5B-5BBC1C5391ED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AE8BB69-AF1B-45E0-A550-DEEAC09AE99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851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>
                <a:latin typeface="Arial" charset="0"/>
                <a:cs typeface="Arial" charset="0"/>
              </a:rPr>
              <a:t>Header1</a:t>
            </a:r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2F0B80D-AA9C-4B07-9B7A-DEF1E9678A05}" type="slidenum">
              <a:rPr lang="ko-KR" altLang="en-US"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6762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4343400"/>
            <a:ext cx="5032375" cy="4114800"/>
          </a:xfrm>
          <a:noFill/>
        </p:spPr>
        <p:txBody>
          <a:bodyPr wrap="square" lIns="95059" tIns="47530" rIns="95059" bIns="4753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baseline="0" dirty="0">
                <a:cs typeface="Arial" charset="0"/>
              </a:rPr>
              <a:t> </a:t>
            </a: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A362-69E2-4DDC-BADC-7B11D5BE817A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8EB19-C617-4428-9A2B-3B89409218E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3722BA4-39B3-45A1-A7AC-1F3918C8D142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03B330-A60E-4F9A-B368-AA9E0D2C0C6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928D8-2A07-4C9A-AC2B-B87C68A18E32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B0840-58FB-42AE-B722-DA08D68A1B7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E289E5-BF1E-4F65-9039-EDEE690F93CE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6944B55-65F2-47D6-AA9A-06DBBEBDF1A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752A6-4FF7-4D96-86DC-D5737A5BCD80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7F683-B714-4840-9F7B-D54158E195F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6632DF-7466-44F8-B14F-7E352A8B1400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B62068E-3DF5-4F07-A479-6ECFC5B4334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FF663F3-C0EA-42A8-9D3C-15DAC77F7ABD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1A95174-CFA5-499D-88D0-D09D2FB1806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8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9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32F19D3-364E-4BE1-AB1D-9389337F1716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314A49B-29C5-41E1-9157-AF7F5FD4ACA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9DBE8-5B23-4758-B47C-E9E341EE3328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8FE86-17E6-4DB8-A3B4-0AF1C45D9DD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4BA9B-DFDF-4564-91A2-6DF83062B79A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0A575-958F-452E-A13F-7BD0F68F6B4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D23C4-0CBE-41AD-9915-09C3EB7D8FC5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7BE41-6580-421D-AAB4-199544DFCC6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111073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4674603B-BE21-4B82-834E-441265CC936A}" type="datetimeFigureOut">
              <a:rPr lang="en-US"/>
              <a:pPr>
                <a:defRPr/>
              </a:pPr>
              <a:t>3/12/2025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25D2816C-7373-4FF3-9DF2-CB9F7B7A5FB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8" r:id="rId2"/>
    <p:sldLayoutId id="2147483703" r:id="rId3"/>
    <p:sldLayoutId id="2147483709" r:id="rId4"/>
    <p:sldLayoutId id="2147483704" r:id="rId5"/>
    <p:sldLayoutId id="2147483710" r:id="rId6"/>
    <p:sldLayoutId id="2147483711" r:id="rId7"/>
    <p:sldLayoutId id="2147483712" r:id="rId8"/>
    <p:sldLayoutId id="2147483705" r:id="rId9"/>
    <p:sldLayoutId id="2147483706" r:id="rId10"/>
    <p:sldLayoutId id="2147483707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8"/>
          <p:cNvSpPr>
            <a:spLocks noChangeArrowheads="1"/>
          </p:cNvSpPr>
          <p:nvPr/>
        </p:nvSpPr>
        <p:spPr bwMode="auto">
          <a:xfrm>
            <a:off x="107504" y="236124"/>
            <a:ext cx="8893006" cy="153669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bg1"/>
              </a:buClr>
              <a:buFontTx/>
              <a:buChar char="•"/>
            </a:pPr>
            <a:endParaRPr lang="en-US" sz="2800" dirty="0">
              <a:latin typeface="Goudy Stout" pitchFamily="18" charset="0"/>
            </a:endParaRP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-108520" y="4301081"/>
            <a:ext cx="856898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marL="511175" indent="-279400" algn="ctr"/>
            <a:endParaRPr lang="en-US" sz="1200" dirty="0">
              <a:cs typeface="Times New Roman" pitchFamily="18" charset="0"/>
            </a:endParaRPr>
          </a:p>
          <a:p>
            <a:pPr marL="511175" indent="-279400" algn="r"/>
            <a:endParaRPr lang="en-US"/>
          </a:p>
          <a:p>
            <a:pPr marL="511175" indent="-279400" algn="r"/>
            <a:r>
              <a:rPr lang="en-US"/>
              <a:t>Dr</a:t>
            </a:r>
            <a:r>
              <a:rPr lang="en-US" dirty="0"/>
              <a:t>. Sumaira Nazir</a:t>
            </a:r>
          </a:p>
          <a:p>
            <a:pPr marL="511175" indent="-279400" algn="r"/>
            <a:r>
              <a:rPr lang="en-US" dirty="0"/>
              <a:t>Assistant Professor </a:t>
            </a:r>
          </a:p>
          <a:p>
            <a:pPr marL="511175" indent="-279400" algn="r"/>
            <a:r>
              <a:rPr lang="en-US" dirty="0"/>
              <a:t>Department of Software Engineering</a:t>
            </a:r>
          </a:p>
          <a:p>
            <a:pPr marL="511175" indent="-279400" algn="r"/>
            <a:r>
              <a:rPr lang="en-US" dirty="0"/>
              <a:t>National University of Modern Languages, Islamabad</a:t>
            </a:r>
          </a:p>
          <a:p>
            <a:pPr marL="511175" indent="-279400"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70068C-DD74-4ED8-9B03-A9F8221E847B}"/>
              </a:ext>
            </a:extLst>
          </p:cNvPr>
          <p:cNvSpPr txBox="1"/>
          <p:nvPr/>
        </p:nvSpPr>
        <p:spPr>
          <a:xfrm>
            <a:off x="269513" y="742860"/>
            <a:ext cx="8568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dirty="0">
                <a:latin typeface="Times" panose="02020603060405020304" pitchFamily="18" charset="0"/>
              </a:rPr>
              <a:t>Software Project Management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41FF3906-606C-41C2-9417-0401F7474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/>
              <a:t>Project Management Tools and Techniques</a:t>
            </a:r>
            <a:endParaRPr lang="en-US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B1CAE-CA83-4073-9CDF-738A51AB8A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94570562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F018-F443-46D0-8CC8-73D50AF9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Management Tools and Technique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EBBB-0723-45B5-B6C9-9ECAE7F4B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sz="3200" dirty="0"/>
              <a:t>1.Project scope management </a:t>
            </a:r>
          </a:p>
          <a:p>
            <a:pPr marL="82550" indent="0" algn="just">
              <a:buNone/>
            </a:pPr>
            <a:r>
              <a:rPr lang="en-MY" dirty="0"/>
              <a:t>	Statements of work </a:t>
            </a:r>
          </a:p>
          <a:p>
            <a:pPr marL="82550" indent="0" algn="just">
              <a:buNone/>
            </a:pPr>
            <a:r>
              <a:rPr lang="en-MY" dirty="0"/>
              <a:t>	Scope management plans </a:t>
            </a:r>
          </a:p>
          <a:p>
            <a:pPr marL="82550" indent="0" algn="just">
              <a:buNone/>
            </a:pPr>
            <a:r>
              <a:rPr lang="en-MY" dirty="0"/>
              <a:t>	Scope verification techniques </a:t>
            </a:r>
          </a:p>
          <a:p>
            <a:pPr marL="82550" indent="0" algn="just">
              <a:buNone/>
            </a:pPr>
            <a:r>
              <a:rPr lang="en-MY" dirty="0"/>
              <a:t>	Scope change controls.</a:t>
            </a:r>
          </a:p>
          <a:p>
            <a:pPr marL="82550" indent="0" algn="just">
              <a:buNone/>
            </a:pPr>
            <a:endParaRPr lang="en-US" sz="3200" dirty="0"/>
          </a:p>
          <a:p>
            <a:pPr marL="82550" indent="0">
              <a:buNone/>
            </a:pPr>
            <a:endParaRPr lang="en-US" sz="3200" dirty="0"/>
          </a:p>
          <a:p>
            <a:pPr marL="82550" indent="0">
              <a:buNone/>
            </a:pPr>
            <a:endParaRPr lang="en-MY" sz="3200" dirty="0"/>
          </a:p>
        </p:txBody>
      </p:sp>
    </p:spTree>
    <p:extLst>
      <p:ext uri="{BB962C8B-B14F-4D97-AF65-F5344CB8AC3E}">
        <p14:creationId xmlns:p14="http://schemas.microsoft.com/office/powerpoint/2010/main" val="73554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F018-F443-46D0-8CC8-73D50AF9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EBBB-0723-45B5-B6C9-9ECAE7F4B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sz="3200" dirty="0"/>
              <a:t>2-Project schedule management </a:t>
            </a:r>
          </a:p>
          <a:p>
            <a:pPr marL="82550" indent="0">
              <a:buNone/>
            </a:pPr>
            <a:r>
              <a:rPr lang="en-US" dirty="0"/>
              <a:t> 	Project network diagrams </a:t>
            </a:r>
          </a:p>
          <a:p>
            <a:pPr marL="82550" indent="0">
              <a:buNone/>
            </a:pPr>
            <a:r>
              <a:rPr lang="en-US" dirty="0"/>
              <a:t>	Critical path analysis </a:t>
            </a:r>
          </a:p>
          <a:p>
            <a:pPr marL="82550" indent="0">
              <a:buNone/>
            </a:pPr>
            <a:r>
              <a:rPr lang="en-US" dirty="0"/>
              <a:t>	Crashing (addition of Resources)</a:t>
            </a:r>
          </a:p>
          <a:p>
            <a:pPr marL="82550" indent="0">
              <a:buNone/>
            </a:pPr>
            <a:r>
              <a:rPr lang="en-US" dirty="0"/>
              <a:t>        Fast tracking  (Parallel)</a:t>
            </a:r>
          </a:p>
          <a:p>
            <a:pPr marL="8255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24850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F018-F443-46D0-8CC8-73D50AF9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EBBB-0723-45B5-B6C9-9ECAE7F4B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dirty="0"/>
              <a:t>3-</a:t>
            </a:r>
            <a:r>
              <a:rPr lang="en-US" sz="3200" dirty="0"/>
              <a:t>Project cost management  </a:t>
            </a:r>
            <a:endParaRPr lang="en-US" sz="2800" dirty="0"/>
          </a:p>
          <a:p>
            <a:pPr marL="82550" indent="0">
              <a:buNone/>
            </a:pPr>
            <a:r>
              <a:rPr lang="en-US" sz="2800" dirty="0"/>
              <a:t>        	Return on investment </a:t>
            </a:r>
          </a:p>
          <a:p>
            <a:pPr marL="82550" indent="0">
              <a:buNone/>
            </a:pPr>
            <a:r>
              <a:rPr lang="en-US" sz="2800" dirty="0"/>
              <a:t>	Payback analysis </a:t>
            </a:r>
          </a:p>
          <a:p>
            <a:pPr marL="82550" indent="0">
              <a:buNone/>
            </a:pPr>
            <a:r>
              <a:rPr lang="en-US" sz="2800" dirty="0"/>
              <a:t>             (</a:t>
            </a:r>
            <a:r>
              <a:rPr lang="en-US" sz="1600" b="0" i="0" dirty="0">
                <a:solidFill>
                  <a:srgbClr val="4D5156"/>
                </a:solidFill>
                <a:effectLst/>
                <a:latin typeface="Google Sans"/>
              </a:rPr>
              <a:t>payback period for an investment</a:t>
            </a:r>
            <a:r>
              <a:rPr lang="en-US" sz="2800" dirty="0"/>
              <a:t>)</a:t>
            </a:r>
          </a:p>
          <a:p>
            <a:pPr marL="992188" indent="-909638">
              <a:buNone/>
            </a:pPr>
            <a:r>
              <a:rPr lang="en-US" sz="2800" dirty="0"/>
              <a:t>	Earned value management 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             (measure project performance and progress) </a:t>
            </a:r>
            <a:r>
              <a:rPr lang="en-US" sz="2800" i="1" dirty="0"/>
              <a:t>[</a:t>
            </a:r>
            <a:r>
              <a:rPr lang="en-US" sz="1600" b="0" i="1" dirty="0">
                <a:solidFill>
                  <a:srgbClr val="001D35"/>
                </a:solidFill>
                <a:effectLst/>
                <a:latin typeface="Google Sans"/>
              </a:rPr>
              <a:t>Compares planned work to actual work completed,  Compares costs associated with planned and actual work, Identifies variances from the plan, Helps managers make decisions and take action</a:t>
            </a:r>
            <a:r>
              <a:rPr lang="en-US" sz="2800" i="1" dirty="0"/>
              <a:t>]</a:t>
            </a:r>
          </a:p>
          <a:p>
            <a:pPr marL="82550" indent="0">
              <a:buNone/>
            </a:pPr>
            <a:r>
              <a:rPr lang="en-US" sz="2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8712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147A-6C85-A40C-59AE-349F3B00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A020-B60F-94C9-C02D-08E9CF49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6CAB1-D5B5-0E2F-0737-A7228BA60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dirty="0"/>
              <a:t>3-</a:t>
            </a:r>
            <a:r>
              <a:rPr lang="en-US" sz="3200" dirty="0"/>
              <a:t>Project cost management  </a:t>
            </a:r>
          </a:p>
          <a:p>
            <a:pPr marL="82550" indent="0">
              <a:buNone/>
            </a:pPr>
            <a:r>
              <a:rPr lang="en-US" dirty="0"/>
              <a:t> 	</a:t>
            </a:r>
            <a:r>
              <a:rPr lang="en-US" sz="2800" dirty="0"/>
              <a:t>Project portfolio management </a:t>
            </a:r>
          </a:p>
          <a:p>
            <a:pPr marL="82550" indent="0">
              <a:buNone/>
            </a:pPr>
            <a:r>
              <a:rPr lang="en-US" sz="2800" dirty="0"/>
              <a:t>        Cost estimates </a:t>
            </a:r>
          </a:p>
          <a:p>
            <a:pPr marL="82550" indent="0">
              <a:buNone/>
            </a:pPr>
            <a:r>
              <a:rPr lang="en-US" sz="2800" dirty="0"/>
              <a:t>	Cost management plans </a:t>
            </a:r>
          </a:p>
        </p:txBody>
      </p:sp>
    </p:spTree>
    <p:extLst>
      <p:ext uri="{BB962C8B-B14F-4D97-AF65-F5344CB8AC3E}">
        <p14:creationId xmlns:p14="http://schemas.microsoft.com/office/powerpoint/2010/main" val="1379314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F018-F443-46D0-8CC8-73D50AF9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EBBB-0723-45B5-B6C9-9ECAE7F4B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dirty="0"/>
              <a:t>4-</a:t>
            </a:r>
            <a:r>
              <a:rPr lang="en-US" sz="3200" dirty="0"/>
              <a:t>Project quality management  </a:t>
            </a:r>
          </a:p>
          <a:p>
            <a:pPr marL="82550" indent="0">
              <a:buNone/>
            </a:pPr>
            <a:r>
              <a:rPr lang="en-US" dirty="0"/>
              <a:t> 	</a:t>
            </a:r>
            <a:r>
              <a:rPr lang="en-US" sz="2800" dirty="0"/>
              <a:t>Quality metrics </a:t>
            </a:r>
          </a:p>
          <a:p>
            <a:pPr marL="82550" indent="0">
              <a:buNone/>
            </a:pPr>
            <a:r>
              <a:rPr lang="en-US" sz="2800" dirty="0"/>
              <a:t>         Checklists </a:t>
            </a:r>
          </a:p>
          <a:p>
            <a:pPr marL="82550" indent="0">
              <a:buNone/>
            </a:pPr>
            <a:r>
              <a:rPr lang="en-US" sz="2800" dirty="0"/>
              <a:t>         Fishbone diagrams </a:t>
            </a:r>
          </a:p>
          <a:p>
            <a:pPr marL="82550" indent="0">
              <a:buNone/>
            </a:pPr>
            <a:r>
              <a:rPr lang="en-US" sz="2800" dirty="0"/>
              <a:t>         Maturity models </a:t>
            </a:r>
          </a:p>
          <a:p>
            <a:pPr marL="82550" indent="0">
              <a:buNone/>
            </a:pPr>
            <a:r>
              <a:rPr lang="en-US" sz="2800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61559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FCE-E56D-46EA-9708-3E42F9DC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A3F-EB76-4FF0-8B66-2E6296E5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650" y="1422101"/>
            <a:ext cx="7499350" cy="4800600"/>
          </a:xfrm>
        </p:spPr>
        <p:txBody>
          <a:bodyPr/>
          <a:lstStyle/>
          <a:p>
            <a:pPr marL="82550" indent="0">
              <a:buNone/>
            </a:pPr>
            <a:r>
              <a:rPr lang="en-US" sz="2800" dirty="0"/>
              <a:t>5. Project resource management </a:t>
            </a:r>
          </a:p>
          <a:p>
            <a:pPr marL="82550" indent="0" algn="just">
              <a:buNone/>
            </a:pPr>
            <a:r>
              <a:rPr lang="en-US" sz="2800" dirty="0"/>
              <a:t>	Motivation techniques </a:t>
            </a:r>
          </a:p>
          <a:p>
            <a:pPr marL="82550" indent="0" algn="just">
              <a:buNone/>
            </a:pPr>
            <a:r>
              <a:rPr lang="en-US" sz="2800" dirty="0"/>
              <a:t>	Empathic listening</a:t>
            </a:r>
          </a:p>
          <a:p>
            <a:pPr marL="82550" indent="0" algn="just">
              <a:buNone/>
            </a:pPr>
            <a:r>
              <a:rPr lang="en-US" sz="2800" dirty="0"/>
              <a:t>	Responsibility assignment matrices </a:t>
            </a:r>
          </a:p>
          <a:p>
            <a:pPr marL="82550" indent="0" algn="just">
              <a:buNone/>
            </a:pPr>
            <a:r>
              <a:rPr lang="en-US" sz="2800" dirty="0"/>
              <a:t>  	Project organizational charts </a:t>
            </a:r>
          </a:p>
          <a:p>
            <a:pPr marL="82550" indent="0" algn="just">
              <a:buNone/>
            </a:pPr>
            <a:r>
              <a:rPr lang="en-US" sz="2800" dirty="0"/>
              <a:t>	Team building exercises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3181168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FCE-E56D-46EA-9708-3E42F9DC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A3F-EB76-4FF0-8B66-2E6296E5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650" y="1422101"/>
            <a:ext cx="7499350" cy="4800600"/>
          </a:xfrm>
        </p:spPr>
        <p:txBody>
          <a:bodyPr/>
          <a:lstStyle/>
          <a:p>
            <a:pPr marL="82550" indent="0">
              <a:buNone/>
            </a:pPr>
            <a:r>
              <a:rPr lang="en-US" sz="2800" dirty="0"/>
              <a:t>6. Project communications management </a:t>
            </a:r>
          </a:p>
          <a:p>
            <a:pPr marL="82550" indent="0">
              <a:buNone/>
            </a:pPr>
            <a:r>
              <a:rPr lang="en-MY" sz="2800" dirty="0"/>
              <a:t>	Communications management plans 	Conflict management </a:t>
            </a:r>
          </a:p>
          <a:p>
            <a:pPr marL="82550" indent="0">
              <a:buNone/>
            </a:pPr>
            <a:r>
              <a:rPr lang="en-MY" sz="2800" dirty="0"/>
              <a:t>	Communications media selection </a:t>
            </a:r>
          </a:p>
          <a:p>
            <a:pPr marL="82550" indent="0">
              <a:buNone/>
            </a:pPr>
            <a:r>
              <a:rPr lang="en-MY" sz="2800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20225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FCE-E56D-46EA-9708-3E42F9DC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A3F-EB76-4FF0-8B66-2E6296E5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650" y="1422101"/>
            <a:ext cx="7499350" cy="4800600"/>
          </a:xfrm>
        </p:spPr>
        <p:txBody>
          <a:bodyPr/>
          <a:lstStyle/>
          <a:p>
            <a:pPr marL="82550" indent="0">
              <a:buNone/>
            </a:pPr>
            <a:r>
              <a:rPr lang="en-US" sz="2800" dirty="0"/>
              <a:t>7. Project risk management </a:t>
            </a:r>
          </a:p>
          <a:p>
            <a:pPr marL="82550" indent="0">
              <a:buNone/>
            </a:pPr>
            <a:r>
              <a:rPr lang="en-US" sz="2800" dirty="0"/>
              <a:t>	Risk management plans </a:t>
            </a:r>
          </a:p>
          <a:p>
            <a:pPr marL="82550" indent="0">
              <a:buNone/>
            </a:pPr>
            <a:r>
              <a:rPr lang="en-US" sz="2800" dirty="0"/>
              <a:t>	Risk registers Probability/impact matrices 	Risk rankings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18852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FCE-E56D-46EA-9708-3E42F9DC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A3F-EB76-4FF0-8B66-2E6296E5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650" y="1422101"/>
            <a:ext cx="7499350" cy="4800600"/>
          </a:xfrm>
        </p:spPr>
        <p:txBody>
          <a:bodyPr/>
          <a:lstStyle/>
          <a:p>
            <a:pPr marL="82550" indent="0">
              <a:buNone/>
            </a:pPr>
            <a:r>
              <a:rPr lang="en-US" sz="2800" dirty="0"/>
              <a:t> 8. Project procurement management</a:t>
            </a:r>
          </a:p>
          <a:p>
            <a:pPr marL="82550" indent="0" algn="just">
              <a:buNone/>
            </a:pPr>
            <a:r>
              <a:rPr lang="en-MY" sz="2800" dirty="0"/>
              <a:t>	Make-or-buy analyses </a:t>
            </a:r>
          </a:p>
          <a:p>
            <a:pPr marL="82550" indent="0" algn="just">
              <a:buNone/>
            </a:pPr>
            <a:r>
              <a:rPr lang="en-MY" sz="2800" dirty="0"/>
              <a:t>	Contracts </a:t>
            </a:r>
          </a:p>
          <a:p>
            <a:pPr marL="82550" indent="0" algn="just">
              <a:buNone/>
            </a:pPr>
            <a:r>
              <a:rPr lang="en-MY" sz="2800" dirty="0"/>
              <a:t>	Requests for proposals or quotes </a:t>
            </a:r>
          </a:p>
          <a:p>
            <a:pPr marL="82550" indent="0" algn="just">
              <a:buNone/>
            </a:pPr>
            <a:r>
              <a:rPr lang="en-MY" sz="2800" dirty="0"/>
              <a:t>	Source selections </a:t>
            </a:r>
          </a:p>
          <a:p>
            <a:pPr marL="82550" indent="0" algn="just">
              <a:buNone/>
            </a:pPr>
            <a:r>
              <a:rPr lang="en-MY" sz="2800" dirty="0"/>
              <a:t>	Supplier evaluation matrices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7969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FCE-E56D-46EA-9708-3E42F9DC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A3F-EB76-4FF0-8B66-2E6296E5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650" y="1422101"/>
            <a:ext cx="7499350" cy="4800600"/>
          </a:xfrm>
        </p:spPr>
        <p:txBody>
          <a:bodyPr/>
          <a:lstStyle/>
          <a:p>
            <a:pPr marL="82550" indent="0">
              <a:buNone/>
            </a:pPr>
            <a:r>
              <a:rPr lang="en-US" sz="2800" dirty="0"/>
              <a:t>Project stakeholder management</a:t>
            </a:r>
          </a:p>
          <a:p>
            <a:pPr marL="82550" indent="0">
              <a:buNone/>
            </a:pPr>
            <a:r>
              <a:rPr lang="en-US" sz="2800" dirty="0"/>
              <a:t>	Win </a:t>
            </a:r>
            <a:r>
              <a:rPr lang="en-US" sz="2800" dirty="0" err="1"/>
              <a:t>Win</a:t>
            </a:r>
            <a:r>
              <a:rPr lang="en-US" sz="2800" dirty="0"/>
              <a:t> Spiral </a:t>
            </a:r>
          </a:p>
        </p:txBody>
      </p:sp>
    </p:spTree>
    <p:extLst>
      <p:ext uri="{BB962C8B-B14F-4D97-AF65-F5344CB8AC3E}">
        <p14:creationId xmlns:p14="http://schemas.microsoft.com/office/powerpoint/2010/main" val="2463508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9FCE-E56D-46EA-9708-3E42F9DC0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Project Management Tools and Technique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AA3F-EB76-4FF0-8B66-2E6296E5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650" y="1422101"/>
            <a:ext cx="7499350" cy="4800600"/>
          </a:xfrm>
        </p:spPr>
        <p:txBody>
          <a:bodyPr/>
          <a:lstStyle/>
          <a:p>
            <a:pPr marL="82550" indent="0">
              <a:buNone/>
            </a:pPr>
            <a:r>
              <a:rPr lang="en-US" sz="2800" dirty="0"/>
              <a:t>10. Project integration management </a:t>
            </a:r>
          </a:p>
          <a:p>
            <a:pPr marL="82550" indent="0" algn="just">
              <a:buNone/>
            </a:pPr>
            <a:r>
              <a:rPr lang="en-US" sz="2800" dirty="0"/>
              <a:t>  Project selection methods </a:t>
            </a:r>
          </a:p>
          <a:p>
            <a:pPr marL="82550" indent="0" algn="just">
              <a:buNone/>
            </a:pPr>
            <a:r>
              <a:rPr lang="en-US" sz="2800" dirty="0"/>
              <a:t>  Project management methodologies </a:t>
            </a:r>
          </a:p>
          <a:p>
            <a:pPr marL="82550" indent="0" algn="just">
              <a:buNone/>
            </a:pPr>
            <a:r>
              <a:rPr lang="en-US" sz="2800" dirty="0"/>
              <a:t>  Stakeholder analyses </a:t>
            </a:r>
          </a:p>
          <a:p>
            <a:pPr marL="82550" indent="0" algn="just">
              <a:buNone/>
            </a:pPr>
            <a:r>
              <a:rPr lang="en-US" sz="2800" dirty="0"/>
              <a:t>   Project charters </a:t>
            </a:r>
          </a:p>
          <a:p>
            <a:pPr marL="82550" indent="0" algn="just">
              <a:buNone/>
            </a:pPr>
            <a:r>
              <a:rPr lang="en-US" sz="2800" dirty="0"/>
              <a:t>  Project management plans </a:t>
            </a:r>
          </a:p>
          <a:p>
            <a:pPr marL="82550" indent="0" algn="just">
              <a:buNone/>
            </a:pPr>
            <a:r>
              <a:rPr lang="en-US" sz="2800" dirty="0"/>
              <a:t>  Change control boards </a:t>
            </a:r>
          </a:p>
          <a:p>
            <a:pPr marL="82550" indent="0" algn="just">
              <a:buNone/>
            </a:pPr>
            <a:r>
              <a:rPr lang="en-US" sz="2800" dirty="0"/>
              <a:t>  Project review meetings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905276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1939</TotalTime>
  <Words>369</Words>
  <Application>Microsoft Office PowerPoint</Application>
  <PresentationFormat>On-screen Show (4:3)</PresentationFormat>
  <Paragraphs>80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Gill Sans MT</vt:lpstr>
      <vt:lpstr>Google Sans</vt:lpstr>
      <vt:lpstr>Goudy Stout</vt:lpstr>
      <vt:lpstr>Times</vt:lpstr>
      <vt:lpstr>Times New Roman</vt:lpstr>
      <vt:lpstr>Verdana</vt:lpstr>
      <vt:lpstr>Wingdings 2</vt:lpstr>
      <vt:lpstr>Solstice</vt:lpstr>
      <vt:lpstr>PowerPoint Presentation</vt:lpstr>
      <vt:lpstr>Project Management Tools and Techniques</vt:lpstr>
      <vt:lpstr>Project Management Tools and Technique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  <vt:lpstr>Project Management Tools and Technique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MN</dc:creator>
  <cp:lastModifiedBy>Sumaira Nazir</cp:lastModifiedBy>
  <cp:revision>187</cp:revision>
  <cp:lastPrinted>2014-09-07T17:36:35Z</cp:lastPrinted>
  <dcterms:created xsi:type="dcterms:W3CDTF">2006-12-08T11:09:38Z</dcterms:created>
  <dcterms:modified xsi:type="dcterms:W3CDTF">2025-03-12T09:37:51Z</dcterms:modified>
</cp:coreProperties>
</file>