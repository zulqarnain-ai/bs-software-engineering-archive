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8" r:id="rId4"/>
    <p:sldId id="275" r:id="rId5"/>
    <p:sldId id="259" r:id="rId6"/>
    <p:sldId id="264" r:id="rId7"/>
    <p:sldId id="265" r:id="rId8"/>
    <p:sldId id="266" r:id="rId9"/>
    <p:sldId id="267" r:id="rId10"/>
    <p:sldId id="260" r:id="rId11"/>
    <p:sldId id="268" r:id="rId12"/>
    <p:sldId id="269" r:id="rId13"/>
    <p:sldId id="261" r:id="rId14"/>
    <p:sldId id="270" r:id="rId15"/>
    <p:sldId id="262" r:id="rId16"/>
    <p:sldId id="271" r:id="rId17"/>
    <p:sldId id="263" r:id="rId18"/>
    <p:sldId id="272" r:id="rId19"/>
    <p:sldId id="276" r:id="rId20"/>
    <p:sldId id="279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4F2BE-79D1-BBAD-6BA3-1CDDE5272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2D411-9A00-3927-6FB8-01216F31C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5F0D2-7F77-E71B-9263-0BA425885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6642-A794-4EAF-961B-9E5FC743B990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39390-5404-93B0-71E7-5F925CEA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BD81B-A27C-C076-BEE9-B824CDFFA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5F53-1DEE-4C31-9766-804514721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84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B6B8-DBD3-3019-4A94-F00AAF86F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C94C5-5D1C-CAC5-2E3F-D850D2392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8D3F4-D637-48F9-7B6D-E0D2BE37F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6642-A794-4EAF-961B-9E5FC743B990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F0163-8B0F-B98E-F6B5-568B7A1DF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964C3-CF74-8609-D29B-4D9C95B93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5F53-1DEE-4C31-9766-804514721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6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001C-7252-67C8-A524-3C3D08326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0974C-E4D6-C655-5121-3041FEFA5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02928-9D90-8DB9-0693-D3D874E5C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6642-A794-4EAF-961B-9E5FC743B990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1C740-2265-74F5-311B-88C32A55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FF6A1-7A71-EE0F-D8D4-52BDF7C7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5F53-1DEE-4C31-9766-804514721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86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9A07C-FD6B-05B2-C429-63BF0C71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8659D-3111-7CB2-0DF1-9770968B3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A7FB3-6616-53A2-13EE-AF40B0CD9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7E9A8-56F6-843B-9D20-1B4AD53C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6642-A794-4EAF-961B-9E5FC743B990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0E3F4-2C5D-3AFE-2359-8312715B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0FE26-79EE-F6DE-AA34-20622B9B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5F53-1DEE-4C31-9766-804514721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5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7AE9-45D3-1EAE-441A-52DD0BBF9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1CD3B-9E22-8768-2F4B-AD3EF856D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5FCDE-D48C-C894-04FC-354026C05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645627-7CAC-EAE1-2092-6BBFDD8B9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34B0CC-EC0F-A1E8-3DF9-D46BC3FC3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CD5A4D-8F36-7409-4541-19600D5B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6642-A794-4EAF-961B-9E5FC743B990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18E134-8F78-BB15-60B3-83BC788B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44ECD-33A2-6F08-2BBC-4D5952F32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5F53-1DEE-4C31-9766-804514721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8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6F109-31ED-6B4C-C95B-902913458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AE05D1-EE00-8DF8-B503-3F933DC48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6642-A794-4EAF-961B-9E5FC743B990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A56D8-2A40-0B6F-D00F-A9C455F28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60410A-2C0E-9460-7B80-7650E921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5F53-1DEE-4C31-9766-804514721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880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90C315-74FE-2EA2-C17F-6FDCADF5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6642-A794-4EAF-961B-9E5FC743B990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8D249-C1D4-1754-76C0-9FDF1AD66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98065-8033-670B-61B0-784ADB66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5F53-1DEE-4C31-9766-804514721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25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2D99F-79A2-1803-10B5-F957FF91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D3D3F-39CA-52FB-BCBF-71D50FAF4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9F52C-743B-98EF-5447-7BEE14325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79030-8F6D-82FD-E712-A0AFD4AC3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6642-A794-4EAF-961B-9E5FC743B990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604C9-7450-8FCB-9780-24F82DE7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928A2-17A4-D81F-6749-6FA7FB08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5F53-1DEE-4C31-9766-804514721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4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1253-6FEA-E979-1458-4B1EF850A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65AB68-49FF-6ABD-C386-3501EE3CA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7F280-B5E2-387E-7609-9A5A67DD4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41EC7-0B5F-43A2-9F61-F852576E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6642-A794-4EAF-961B-9E5FC743B990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A2254-07BB-1ADF-ED36-C41094D0F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163F6-C646-F34B-4226-CEA6A682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5F53-1DEE-4C31-9766-804514721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42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4F07-0F0A-EBC5-33ED-22B8B1D95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A8F49-B1B4-14E2-C589-90890993B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F6039-5E5F-0660-72AD-91D910FC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6642-A794-4EAF-961B-9E5FC743B990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B7FB1-930E-85EA-193D-647D87842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76474-8022-3DF1-55F2-8948AB86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5F53-1DEE-4C31-9766-804514721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56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E31051-4298-E64F-0AA6-EF251F3CB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9410E-388A-F1E0-4068-FC5F57F94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CA9C4-D737-7DB6-84E0-1E8D578F3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16642-A794-4EAF-961B-9E5FC743B990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065DB-9702-4EC5-DEA6-5FD66E6F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9374D-75D2-5E13-D8FB-5D51CE53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5F53-1DEE-4C31-9766-804514721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987FA-8CA9-B839-C4FB-5281BC26A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32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6269E-CD7B-F70F-6CF4-CF273708AC1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9142F-8DFC-EB18-07BC-18D98B498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7B4FB-DC2D-113E-C3B1-663F2900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8C598-3FBA-E064-B43E-E1844E7D8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73041-4E17-C300-3348-4D57FC12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E59D4892-646C-44F9-B0DD-91A289D9EAB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5626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F88A1-ADEF-DFAE-73C5-C7DD33DB7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32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169E98AD-2698-450C-12EA-FCFD9C1ECDA7}"/>
              </a:ext>
            </a:extLst>
          </p:cNvPr>
          <p:cNvSpPr>
            <a:spLocks noGrp="1"/>
          </p:cNvSpPr>
          <p:nvPr>
            <p:ph type="clipArt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BB1C1-EC7E-2607-511D-A9EED0E29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842C4-617B-7095-AE9B-D670D338B5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2AF4A-51D0-263F-0656-B8EDEB0B1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46096-9F3E-F227-68C5-DD27278F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3CB3E7B2-61D3-4A80-A92C-04225891811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6601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8ADB6E-1002-56C4-0602-1B22C3808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5B69F-5C73-CD7D-9E41-B464BB703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CD564-7814-7C06-39DA-97987B782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16642-A794-4EAF-961B-9E5FC743B990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62D94-07B3-894A-F6AD-7BA0D8ED9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A0FC2-8AA1-DD81-0EEB-FAB55FE77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B5F53-1DEE-4C31-9766-804514721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8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F260-1162-D08C-0FD6-0415A8686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4667"/>
            <a:ext cx="9144000" cy="3268133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  <a:latin typeface="+mn-lt"/>
                <a:ea typeface="Calibri" panose="020F0502020204030204" pitchFamily="34" charset="0"/>
              </a:rPr>
              <a:t>Aspects of inequality, Slogan under Human Rights Agenda.</a:t>
            </a:r>
            <a:endParaRPr lang="en-US" sz="239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275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DCA26-C300-F4BB-CE2F-A10D6C8BF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498"/>
            <a:ext cx="10515600" cy="45901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Inequality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F1389-765D-03E1-B6AE-158774506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24138"/>
            <a:ext cx="11277600" cy="6033861"/>
          </a:xfrm>
        </p:spPr>
        <p:txBody>
          <a:bodyPr>
            <a:noAutofit/>
          </a:bodyPr>
          <a:lstStyle/>
          <a:p>
            <a:pPr algn="l"/>
            <a:r>
              <a:rPr lang="en-US" sz="2400" b="1" dirty="0"/>
              <a:t>I</a:t>
            </a:r>
            <a:r>
              <a:rPr lang="en-US" sz="2400" b="1" i="0" dirty="0">
                <a:effectLst/>
              </a:rPr>
              <a:t>nequality</a:t>
            </a:r>
            <a:r>
              <a:rPr lang="en-US" sz="2400" b="0" i="0" dirty="0">
                <a:effectLst/>
              </a:rPr>
              <a:t> is defined as the unequal distribution of goods and burdens based on one's social class and economic mobility. A </a:t>
            </a:r>
            <a:r>
              <a:rPr lang="en-US" sz="2400" b="1" i="0" dirty="0">
                <a:effectLst/>
              </a:rPr>
              <a:t>good</a:t>
            </a:r>
            <a:r>
              <a:rPr lang="en-US" sz="2400" b="0" i="0" dirty="0">
                <a:effectLst/>
              </a:rPr>
              <a:t> is an element of life that provides value, such 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Education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Home ownership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Health insurance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Employment</a:t>
            </a:r>
          </a:p>
          <a:p>
            <a:pPr algn="l"/>
            <a:r>
              <a:rPr lang="en-US" sz="2400" b="0" i="0" dirty="0">
                <a:effectLst/>
              </a:rPr>
              <a:t>A </a:t>
            </a:r>
            <a:r>
              <a:rPr lang="en-US" sz="2400" b="1" i="0" dirty="0">
                <a:effectLst/>
              </a:rPr>
              <a:t>burden</a:t>
            </a:r>
            <a:r>
              <a:rPr lang="en-US" sz="2400" b="0" i="0" dirty="0">
                <a:effectLst/>
              </a:rPr>
              <a:t> is an element of life that provides hardship.</a:t>
            </a:r>
          </a:p>
          <a:p>
            <a:pPr marL="0" indent="0" algn="l">
              <a:buNone/>
            </a:pPr>
            <a:r>
              <a:rPr lang="en-US" sz="2400" b="0" i="0" dirty="0">
                <a:effectLst/>
              </a:rPr>
              <a:t>Some types of inequality include: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Employment income disparities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Home loans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Educational Access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Inequality refers to the phenomenon of unequal and/or unjust distribution of resources and opportunities among members of a given society. 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400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90870F2-39A2-C0C4-4BF7-C95973DFA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944564"/>
            <a:ext cx="7772400" cy="701675"/>
          </a:xfrm>
        </p:spPr>
        <p:txBody>
          <a:bodyPr>
            <a:spAutoFit/>
          </a:bodyPr>
          <a:lstStyle/>
          <a:p>
            <a:r>
              <a:rPr lang="en-GB" altLang="en-US" b="1" dirty="0">
                <a:solidFill>
                  <a:srgbClr val="333333"/>
                </a:solidFill>
                <a:latin typeface="+mn-lt"/>
              </a:rPr>
              <a:t>Aspects of Inequality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3CC81BE0-68F0-04CF-250E-D3FEEB6BD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550" y="1881188"/>
            <a:ext cx="6394450" cy="429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Text, letter&#10;&#10;Description automatically generated">
            <a:extLst>
              <a:ext uri="{FF2B5EF4-FFF2-40B4-BE49-F238E27FC236}">
                <a16:creationId xmlns:a16="http://schemas.microsoft.com/office/drawing/2014/main" id="{9F8E179A-43A9-BF8A-1396-10CD993FE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8464" y="643468"/>
            <a:ext cx="730631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3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884AD82-DC4A-F3E5-85FA-F2E5A7CBE5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944564"/>
            <a:ext cx="7772400" cy="701675"/>
          </a:xfrm>
        </p:spPr>
        <p:txBody>
          <a:bodyPr>
            <a:spAutoFit/>
          </a:bodyPr>
          <a:lstStyle/>
          <a:p>
            <a:r>
              <a:rPr lang="en-GB" altLang="en-US" b="1" dirty="0">
                <a:solidFill>
                  <a:srgbClr val="000000"/>
                </a:solidFill>
                <a:latin typeface="+mn-lt"/>
              </a:rPr>
              <a:t>Incomes</a:t>
            </a:r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44DA5F11-A50C-AF8C-C45F-BCDDC604C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764" y="1706564"/>
            <a:ext cx="7081837" cy="446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3D1DD7B-20D6-0D54-B25E-E41E78A897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 dirty="0">
                <a:latin typeface="+mn-lt"/>
              </a:rPr>
              <a:t>Inequality: Incomes</a:t>
            </a:r>
            <a:endParaRPr lang="en-US" altLang="en-US" b="1" dirty="0">
              <a:latin typeface="+mn-lt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022B90E-E6B9-5D21-8D6F-91E460FD4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b="1">
                <a:solidFill>
                  <a:schemeClr val="accent2"/>
                </a:solidFill>
              </a:rPr>
              <a:t>Vertical Inequality</a:t>
            </a:r>
          </a:p>
          <a:p>
            <a:pPr lvl="1"/>
            <a:r>
              <a:rPr lang="en-GB" altLang="en-US"/>
              <a:t>Difference between the rich and the poor</a:t>
            </a:r>
          </a:p>
          <a:p>
            <a:r>
              <a:rPr lang="en-GB" altLang="en-US" b="1">
                <a:solidFill>
                  <a:schemeClr val="accent2"/>
                </a:solidFill>
              </a:rPr>
              <a:t>Horizontal Inequality</a:t>
            </a:r>
          </a:p>
          <a:p>
            <a:pPr lvl="1"/>
            <a:r>
              <a:rPr lang="en-GB" altLang="en-US"/>
              <a:t>Where people of similar background, status, qualifications, etc. have differences in incomes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1E94AB0-0547-E1E1-7BEF-E3EF4209C4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 dirty="0">
                <a:latin typeface="+mn-lt"/>
              </a:rPr>
              <a:t>Inequality: Incomes</a:t>
            </a:r>
            <a:endParaRPr lang="en-US" altLang="en-US" b="1" dirty="0">
              <a:latin typeface="+mn-lt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79A22A5-4123-7F29-31DB-6EAB7C8389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Caused by:</a:t>
            </a:r>
          </a:p>
          <a:p>
            <a:pPr>
              <a:lnSpc>
                <a:spcPct val="90000"/>
              </a:lnSpc>
            </a:pPr>
            <a:r>
              <a:rPr lang="en-GB" altLang="en-US" sz="2400" b="1">
                <a:solidFill>
                  <a:schemeClr val="accent2"/>
                </a:solidFill>
              </a:rPr>
              <a:t>The Labour Market: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Differences in education, qualifications, skills, abilities and experience mean that the supply of labour differs in relation to the demand</a:t>
            </a:r>
          </a:p>
          <a:p>
            <a:pPr>
              <a:lnSpc>
                <a:spcPct val="90000"/>
              </a:lnSpc>
            </a:pPr>
            <a:r>
              <a:rPr lang="en-GB" altLang="en-US" sz="2400" b="1">
                <a:solidFill>
                  <a:schemeClr val="accent2"/>
                </a:solidFill>
              </a:rPr>
              <a:t>The Tax System: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Impact of taxes that may be regressive in their effect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Ability of some to be able to exploit the system to pay less tax</a:t>
            </a:r>
          </a:p>
          <a:p>
            <a:pPr>
              <a:lnSpc>
                <a:spcPct val="90000"/>
              </a:lnSpc>
            </a:pPr>
            <a:r>
              <a:rPr lang="en-GB" altLang="en-US" sz="2400" b="1">
                <a:solidFill>
                  <a:schemeClr val="accent2"/>
                </a:solidFill>
              </a:rPr>
              <a:t>Education: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Level of education and access to education influences the level of earnings</a:t>
            </a:r>
          </a:p>
          <a:p>
            <a:pPr>
              <a:lnSpc>
                <a:spcPct val="90000"/>
              </a:lnSpc>
            </a:pPr>
            <a:endParaRPr lang="en-GB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D8ECCDA-EC49-64CB-CE35-4262FFB30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944564"/>
            <a:ext cx="7772400" cy="701675"/>
          </a:xfrm>
        </p:spPr>
        <p:txBody>
          <a:bodyPr>
            <a:spAutoFit/>
          </a:bodyPr>
          <a:lstStyle/>
          <a:p>
            <a:r>
              <a:rPr lang="en-GB" altLang="en-US" b="1" dirty="0">
                <a:solidFill>
                  <a:srgbClr val="000000"/>
                </a:solidFill>
                <a:latin typeface="+mn-lt"/>
              </a:rPr>
              <a:t>Opportunity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CA1964BF-AE83-EE04-CB7E-B13C5A7A8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639" y="2022476"/>
            <a:ext cx="8594725" cy="392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CB14924-6AC1-94F2-9825-A92A55861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 dirty="0">
                <a:latin typeface="+mn-lt"/>
              </a:rPr>
              <a:t>Inequality: Opportunity</a:t>
            </a:r>
            <a:endParaRPr lang="en-US" altLang="en-US" b="1" dirty="0">
              <a:latin typeface="+mn-lt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2F8FA4F-E1CD-8F30-193F-7D0F6687B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The level of opportunity may influence the level of inequality</a:t>
            </a:r>
          </a:p>
          <a:p>
            <a:r>
              <a:rPr lang="en-GB" altLang="en-US" b="1">
                <a:solidFill>
                  <a:schemeClr val="accent2"/>
                </a:solidFill>
              </a:rPr>
              <a:t>Access</a:t>
            </a:r>
            <a:r>
              <a:rPr lang="en-GB" altLang="en-US"/>
              <a:t> </a:t>
            </a:r>
          </a:p>
          <a:p>
            <a:pPr lvl="1"/>
            <a:r>
              <a:rPr lang="en-GB" altLang="en-US"/>
              <a:t>How easy is it for individuals to access education, work, housing, etc?</a:t>
            </a:r>
          </a:p>
          <a:p>
            <a:pPr lvl="1"/>
            <a:r>
              <a:rPr lang="en-GB" altLang="en-US"/>
              <a:t>How easy is it for countries to access markets?</a:t>
            </a:r>
          </a:p>
          <a:p>
            <a:r>
              <a:rPr lang="en-GB" altLang="en-US" b="1">
                <a:solidFill>
                  <a:schemeClr val="accent2"/>
                </a:solidFill>
              </a:rPr>
              <a:t>Discrimination</a:t>
            </a:r>
            <a:r>
              <a:rPr lang="en-GB" altLang="en-US"/>
              <a:t> – on the basis of race, ethnicity, gender, etc.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F90A6F0-BE5F-0650-7FD5-2588AC6A06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9571" y="944564"/>
            <a:ext cx="8512629" cy="701675"/>
          </a:xfrm>
        </p:spPr>
        <p:txBody>
          <a:bodyPr wrap="square">
            <a:spAutoFit/>
          </a:bodyPr>
          <a:lstStyle/>
          <a:p>
            <a:r>
              <a:rPr lang="en-GB" altLang="en-US" b="1" dirty="0">
                <a:solidFill>
                  <a:srgbClr val="000000"/>
                </a:solidFill>
                <a:latin typeface="+mn-lt"/>
              </a:rPr>
              <a:t>Physical Environment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FCC3EEB3-DD85-D26D-49BD-23D6519AE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639" y="2301876"/>
            <a:ext cx="85947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3A70C7E-D0B5-18DD-F6B2-29BAF660B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latin typeface="+mn-lt"/>
              </a:rPr>
              <a:t>Inequality: Physical Environment</a:t>
            </a:r>
            <a:endParaRPr lang="en-US" altLang="en-US" sz="3600" b="1" dirty="0">
              <a:latin typeface="+mn-lt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D554785-DC44-EAE9-FB1B-E5A336DF81F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altLang="en-US" sz="2400"/>
              <a:t>Physical environment can include natural resources, raw materials and climate</a:t>
            </a:r>
          </a:p>
          <a:p>
            <a:r>
              <a:rPr lang="en-GB" altLang="en-US" sz="2400"/>
              <a:t>Not only availability of natural resources but accessibility and ease with which they can be exploited</a:t>
            </a:r>
            <a:endParaRPr lang="en-US" altLang="en-US" sz="2400"/>
          </a:p>
        </p:txBody>
      </p:sp>
      <p:pic>
        <p:nvPicPr>
          <p:cNvPr id="14342" name="Picture 6" descr="Image of California Oil is Source of Wealth and Fear, image 823929-001">
            <a:extLst>
              <a:ext uri="{FF2B5EF4-FFF2-40B4-BE49-F238E27FC236}">
                <a16:creationId xmlns:a16="http://schemas.microsoft.com/office/drawing/2014/main" id="{033ABF71-EA59-E89A-91C2-C680A1AB7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25" y="1700213"/>
            <a:ext cx="2292350" cy="338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43" name="Text Box 7">
            <a:extLst>
              <a:ext uri="{FF2B5EF4-FFF2-40B4-BE49-F238E27FC236}">
                <a16:creationId xmlns:a16="http://schemas.microsoft.com/office/drawing/2014/main" id="{4B44EA74-47C8-E448-EBF7-E1AAE46BC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8" y="5084764"/>
            <a:ext cx="3816350" cy="992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>
                <a:latin typeface="Arial" panose="020B0604020202020204" pitchFamily="34" charset="0"/>
              </a:rPr>
              <a:t>It is not enough to have natural resources available, there has to be sufficient capital equipment to be able to exploit them.</a:t>
            </a:r>
          </a:p>
          <a:p>
            <a:pPr>
              <a:spcBef>
                <a:spcPct val="50000"/>
              </a:spcBef>
            </a:pPr>
            <a:r>
              <a:rPr lang="en-GB" altLang="en-US" sz="900">
                <a:latin typeface="Arial" panose="020B0604020202020204" pitchFamily="34" charset="0"/>
              </a:rPr>
              <a:t>Title: California oil is a source of wealth and fear. Copyright: Getty Images, available from Education Image Gallery.</a:t>
            </a:r>
            <a:endParaRPr lang="en-US" altLang="en-US" sz="9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88716BB-4694-A55E-6C44-29E066BE0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latin typeface="+mn-lt"/>
              </a:rPr>
              <a:t>Inequality: Physical Environment</a:t>
            </a:r>
            <a:endParaRPr lang="en-US" altLang="en-US" sz="3600" b="1" dirty="0">
              <a:latin typeface="+mn-lt"/>
            </a:endParaRP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47D6098D-D813-AE3B-5348-7B42931280D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527800" y="1916113"/>
            <a:ext cx="3810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Natural climatic factors are at the heart of a large amount of inequality – it is not coincidence that countries with an equitable climate are the most economically developed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Natural climate and climate change tend to affect those countries least able to help themselves</a:t>
            </a:r>
            <a:endParaRPr lang="en-US" altLang="en-US" sz="2000"/>
          </a:p>
        </p:txBody>
      </p:sp>
      <p:pic>
        <p:nvPicPr>
          <p:cNvPr id="16391" name="Picture 7" descr="Image of Three Year Drought Dries Up Pakistan Lake, image 1169186-001">
            <a:extLst>
              <a:ext uri="{FF2B5EF4-FFF2-40B4-BE49-F238E27FC236}">
                <a16:creationId xmlns:a16="http://schemas.microsoft.com/office/drawing/2014/main" id="{19ABB287-6F4F-5242-6246-19D7C6698E96}"/>
              </a:ext>
            </a:extLst>
          </p:cNvPr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9288" y="1916113"/>
            <a:ext cx="4349750" cy="2895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92" name="Text Box 8">
            <a:extLst>
              <a:ext uri="{FF2B5EF4-FFF2-40B4-BE49-F238E27FC236}">
                <a16:creationId xmlns:a16="http://schemas.microsoft.com/office/drawing/2014/main" id="{42AD1AE2-4A5D-B3F7-394E-6B8C323E3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4868863"/>
            <a:ext cx="3816350" cy="1415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>
                <a:latin typeface="Verdana" panose="020B0604030504040204" pitchFamily="34" charset="0"/>
              </a:rPr>
              <a:t>Extremes of weather tend to impact most heavily on countries who have the lowest ability to cope with such extremes.</a:t>
            </a:r>
          </a:p>
          <a:p>
            <a:pPr>
              <a:spcBef>
                <a:spcPct val="50000"/>
              </a:spcBef>
            </a:pPr>
            <a:r>
              <a:rPr lang="en-GB" altLang="en-US" sz="1000">
                <a:latin typeface="Verdana" panose="020B0604030504040204" pitchFamily="34" charset="0"/>
              </a:rPr>
              <a:t>Title: Three year drought dries up Pakistan lake. Copyright: Getty Images, available from Education Image Gallery</a:t>
            </a:r>
            <a:endParaRPr lang="en-US" altLang="en-US" sz="1000"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sz="10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07EEF2D-7AB0-EBD8-1E99-4ED0E2B023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944564"/>
            <a:ext cx="7772400" cy="701675"/>
          </a:xfrm>
        </p:spPr>
        <p:txBody>
          <a:bodyPr>
            <a:spAutoFit/>
          </a:bodyPr>
          <a:lstStyle/>
          <a:p>
            <a:r>
              <a:rPr lang="en-GB" altLang="en-US" b="1" dirty="0">
                <a:solidFill>
                  <a:srgbClr val="000000"/>
                </a:solidFill>
                <a:latin typeface="+mn-lt"/>
              </a:rPr>
              <a:t>Assets</a:t>
            </a: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AC06F5DC-66E2-F9B6-5A9F-732329EEC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639" y="1546226"/>
            <a:ext cx="8594725" cy="454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1705BBE-0495-DD6E-EE7D-41B5AE3C4E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 dirty="0">
                <a:latin typeface="+mn-lt"/>
              </a:rPr>
              <a:t>Inequality: Assets</a:t>
            </a:r>
            <a:endParaRPr lang="en-US" altLang="en-US" b="1" dirty="0">
              <a:latin typeface="+mn-lt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C4F9F4F-17C6-8A22-31E0-C263E8FA3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/>
              <a:t>Not just the quantity but also the quality of assets can impact on inequality</a:t>
            </a:r>
          </a:p>
          <a:p>
            <a:pPr>
              <a:lnSpc>
                <a:spcPct val="80000"/>
              </a:lnSpc>
            </a:pPr>
            <a:r>
              <a:rPr lang="en-GB" altLang="en-US" b="1">
                <a:solidFill>
                  <a:schemeClr val="accent2"/>
                </a:solidFill>
              </a:rPr>
              <a:t>Individuals</a:t>
            </a:r>
            <a:r>
              <a:rPr lang="en-GB" altLang="en-US"/>
              <a:t> – ownership of houses, cars, consumer goods, etc.</a:t>
            </a:r>
          </a:p>
          <a:p>
            <a:pPr>
              <a:lnSpc>
                <a:spcPct val="80000"/>
              </a:lnSpc>
            </a:pPr>
            <a:r>
              <a:rPr lang="en-GB" altLang="en-US" b="1">
                <a:solidFill>
                  <a:schemeClr val="accent2"/>
                </a:solidFill>
              </a:rPr>
              <a:t>Countries</a:t>
            </a:r>
            <a:r>
              <a:rPr lang="en-GB" altLang="en-US"/>
              <a:t> </a:t>
            </a:r>
          </a:p>
          <a:p>
            <a:pPr lvl="1">
              <a:lnSpc>
                <a:spcPct val="80000"/>
              </a:lnSpc>
            </a:pPr>
            <a:r>
              <a:rPr lang="en-GB" altLang="en-US"/>
              <a:t>Access to raw materials, natural resources, infrastructure – roads, rail telecommunications, etc. </a:t>
            </a:r>
          </a:p>
          <a:p>
            <a:pPr lvl="1">
              <a:lnSpc>
                <a:spcPct val="80000"/>
              </a:lnSpc>
            </a:pPr>
            <a:r>
              <a:rPr lang="en-GB" altLang="en-US"/>
              <a:t>Amount and quality of capital assets</a:t>
            </a:r>
          </a:p>
          <a:p>
            <a:pPr lvl="1">
              <a:lnSpc>
                <a:spcPct val="80000"/>
              </a:lnSpc>
            </a:pPr>
            <a:r>
              <a:rPr lang="en-GB" altLang="en-US"/>
              <a:t>Amount and quality of human assets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E58C683-56A7-4AA1-837B-B196186AEA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944564"/>
            <a:ext cx="7772400" cy="701675"/>
          </a:xfrm>
        </p:spPr>
        <p:txBody>
          <a:bodyPr>
            <a:spAutoFit/>
          </a:bodyPr>
          <a:lstStyle/>
          <a:p>
            <a:r>
              <a:rPr lang="en-GB" altLang="en-US" b="1" dirty="0">
                <a:solidFill>
                  <a:srgbClr val="000000"/>
                </a:solidFill>
                <a:latin typeface="+mn-lt"/>
              </a:rPr>
              <a:t>Gender</a:t>
            </a: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5E86E2E0-93D3-3266-88FE-E4D8758F7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1676400"/>
            <a:ext cx="7770812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2FA5C6-46EC-27D6-2596-A91B2DDCB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 dirty="0">
                <a:latin typeface="+mn-lt"/>
              </a:rPr>
              <a:t>Inequality: Gender</a:t>
            </a:r>
            <a:endParaRPr lang="en-US" altLang="en-US" b="1" dirty="0">
              <a:latin typeface="+mn-lt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D1989643-C7FA-C5EA-3BA4-6E8A692B349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Evidence suggests women still paid less than men for the same job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Some countries actively discriminate against women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Men still dominate positions of power and responsibility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‘Glass ceiling’ – limits the extent to which women can make it to the top</a:t>
            </a:r>
            <a:endParaRPr lang="en-US" altLang="en-US" sz="2000"/>
          </a:p>
        </p:txBody>
      </p:sp>
      <p:pic>
        <p:nvPicPr>
          <p:cNvPr id="19464" name="Picture 8" descr="Image of An Afghan Woman Operates Heavy Machinery, image 2066686-001">
            <a:extLst>
              <a:ext uri="{FF2B5EF4-FFF2-40B4-BE49-F238E27FC236}">
                <a16:creationId xmlns:a16="http://schemas.microsoft.com/office/drawing/2014/main" id="{6D024146-6301-E715-F1E0-63EB83742F5D}"/>
              </a:ext>
            </a:extLst>
          </p:cNvPr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11451" y="1700214"/>
            <a:ext cx="2303463" cy="31765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5" name="Text Box 9">
            <a:extLst>
              <a:ext uri="{FF2B5EF4-FFF2-40B4-BE49-F238E27FC236}">
                <a16:creationId xmlns:a16="http://schemas.microsoft.com/office/drawing/2014/main" id="{1F72B593-56BF-A43A-993E-57E090159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4868864"/>
            <a:ext cx="4319588" cy="179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>
                <a:latin typeface="Verdana" panose="020B0604030504040204" pitchFamily="34" charset="0"/>
              </a:rPr>
              <a:t>An Afghan woman operates a paving machine on a road that is to be re-surfaced in Kabul, Afghanistan. Women working was outlawed during the rule of the Taliban but have now become more common since the demise of the regime. </a:t>
            </a:r>
          </a:p>
          <a:p>
            <a:pPr>
              <a:spcBef>
                <a:spcPct val="50000"/>
              </a:spcBef>
            </a:pPr>
            <a:r>
              <a:rPr lang="en-GB" altLang="en-US" sz="1000">
                <a:latin typeface="Verdana" panose="020B0604030504040204" pitchFamily="34" charset="0"/>
              </a:rPr>
              <a:t>Title: An Afghan woman operates heavy machinery. Copyright: Getty Images, available from Education Image Gallery</a:t>
            </a:r>
            <a:endParaRPr lang="en-US" altLang="en-US" sz="1000"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endParaRPr lang="en-GB" altLang="en-US" sz="1000"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sz="8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D7AB22C-E8C1-1939-1FBA-104BAAB0CA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944564"/>
            <a:ext cx="7772400" cy="701675"/>
          </a:xfrm>
        </p:spPr>
        <p:txBody>
          <a:bodyPr>
            <a:spAutoFit/>
          </a:bodyPr>
          <a:lstStyle/>
          <a:p>
            <a:r>
              <a:rPr lang="en-GB" altLang="en-US" b="1" dirty="0">
                <a:solidFill>
                  <a:srgbClr val="000000"/>
                </a:solidFill>
                <a:latin typeface="+mn-lt"/>
              </a:rPr>
              <a:t>Wealth</a:t>
            </a:r>
          </a:p>
        </p:txBody>
      </p:sp>
      <p:pic>
        <p:nvPicPr>
          <p:cNvPr id="9222" name="Picture 6">
            <a:extLst>
              <a:ext uri="{FF2B5EF4-FFF2-40B4-BE49-F238E27FC236}">
                <a16:creationId xmlns:a16="http://schemas.microsoft.com/office/drawing/2014/main" id="{9A89C931-D42F-FE5B-F2F4-4D56D7183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639" y="1546226"/>
            <a:ext cx="8594725" cy="454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AD3105B-5A00-E8BC-4CE9-21C84F44DB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 dirty="0">
                <a:latin typeface="+mn-lt"/>
              </a:rPr>
              <a:t>Inequality: Wealth</a:t>
            </a:r>
            <a:endParaRPr lang="en-US" altLang="en-US" b="1" dirty="0">
              <a:latin typeface="+mn-lt"/>
            </a:endParaRP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1379B8A9-B1B2-CD0A-28AE-A7727A2B251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Differences in wealth – different to that of income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Income = flow 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Wealth = stock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Wealth = houses, land, physical assets such as cultural items – artwork, sculptures, etc.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Inherited wealth still a source of inequality</a:t>
            </a:r>
            <a:endParaRPr lang="en-US" altLang="en-US" sz="2000"/>
          </a:p>
        </p:txBody>
      </p:sp>
      <p:pic>
        <p:nvPicPr>
          <p:cNvPr id="22535" name="Picture 7" descr="Image of Cartier Polo, image 2211991-001">
            <a:extLst>
              <a:ext uri="{FF2B5EF4-FFF2-40B4-BE49-F238E27FC236}">
                <a16:creationId xmlns:a16="http://schemas.microsoft.com/office/drawing/2014/main" id="{15A28538-D2E4-2678-E4D0-13C5EA514A40}"/>
              </a:ext>
            </a:extLst>
          </p:cNvPr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5913" y="1773238"/>
            <a:ext cx="2703512" cy="33194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6" name="Text Box 8">
            <a:extLst>
              <a:ext uri="{FF2B5EF4-FFF2-40B4-BE49-F238E27FC236}">
                <a16:creationId xmlns:a16="http://schemas.microsoft.com/office/drawing/2014/main" id="{90941E80-0045-A1E9-750E-072D24A36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5300663"/>
            <a:ext cx="4032250" cy="143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>
                <a:latin typeface="Verdana" panose="020B0604030504040204" pitchFamily="34" charset="0"/>
              </a:rPr>
              <a:t>The trappings of inherited wealth still serve as a source to generate inequality.</a:t>
            </a:r>
          </a:p>
          <a:p>
            <a:pPr>
              <a:spcBef>
                <a:spcPct val="50000"/>
              </a:spcBef>
            </a:pPr>
            <a:r>
              <a:rPr lang="en-GB" altLang="en-US" sz="1000">
                <a:latin typeface="Verdana" panose="020B0604030504040204" pitchFamily="34" charset="0"/>
              </a:rPr>
              <a:t>Title: Cartier Polo. Copyright: Getty Images, available from Education Image Gallery</a:t>
            </a:r>
            <a:endParaRPr lang="en-US" altLang="en-US" sz="1000"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endParaRPr lang="en-GB" altLang="en-US" sz="1000"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endParaRPr lang="en-GB" altLang="en-US" sz="800"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sz="8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A64AF-21E2-09F8-2036-A121D4D71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tx1"/>
                </a:solidFill>
                <a:effectLst/>
                <a:latin typeface="+mn-lt"/>
                <a:ea typeface="+mj-ea"/>
                <a:cs typeface="+mj-cs"/>
              </a:rPr>
              <a:t>The Slogan under Human Rights Agenda</a:t>
            </a:r>
            <a:endParaRPr lang="en-US" sz="3200" kern="1200" dirty="0">
              <a:solidFill>
                <a:schemeClr val="tx1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C26EA-13FC-47B8-C95B-4863380CA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Fight inequality, Fight Racism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5FC7F2-F65B-C3E5-48A2-A64D324B0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51" y="1273269"/>
            <a:ext cx="5708649" cy="428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63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8B55-9A9F-D603-A7A8-063E40BD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1200" dirty="0">
                <a:solidFill>
                  <a:schemeClr val="tx1"/>
                </a:solidFill>
                <a:effectLst/>
                <a:latin typeface="+mn-lt"/>
                <a:ea typeface="+mj-ea"/>
                <a:cs typeface="+mj-cs"/>
              </a:rPr>
              <a:t>The Slogan under Human Rights Agenda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C9BD5-404B-A26E-7B26-39BFFC6E9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r>
              <a:rPr lang="en-US" i="0" dirty="0">
                <a:effectLst/>
              </a:rPr>
              <a:t>“The rights of every man are diminished when the rights of one man are threatened.” – John F. Kennedy</a:t>
            </a:r>
          </a:p>
          <a:p>
            <a:r>
              <a:rPr lang="en-US" i="0" dirty="0">
                <a:effectLst/>
              </a:rPr>
              <a:t>“Women’s rights are human rights.” – Hillary Clinton</a:t>
            </a:r>
            <a:endParaRPr lang="en-US" dirty="0"/>
          </a:p>
          <a:p>
            <a:r>
              <a:rPr lang="en-US" i="0" dirty="0">
                <a:effectLst/>
              </a:rPr>
              <a:t>“We can disagree and still love each other unless your disagreement is rooted in my oppression and denial of my humanity and right to exist.” – James Baldwin</a:t>
            </a:r>
          </a:p>
          <a:p>
            <a:r>
              <a:rPr lang="en-US" i="0" dirty="0">
                <a:effectLst/>
              </a:rPr>
              <a:t>“While poverty persists, there is no true freedom.”  – Nelson Mandela</a:t>
            </a:r>
            <a:endParaRPr lang="en-US" dirty="0"/>
          </a:p>
          <a:p>
            <a:r>
              <a:rPr lang="en-US" i="0" dirty="0">
                <a:effectLst/>
              </a:rPr>
              <a:t>“I have a dream.” – Martin Luther King Jr.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982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44902C5-5AE9-AC93-8A9D-94A25E2F6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76573"/>
            <a:ext cx="5294716" cy="3904851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F5EB6E2-A530-DF94-41FC-62C2A813C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469955"/>
            <a:ext cx="5294715" cy="391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61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15199DFE-5809-C4E5-9BD9-4FF45CD1E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1715"/>
            <a:ext cx="4315691" cy="3215189"/>
          </a:xfrm>
          <a:prstGeom prst="rect">
            <a:avLst/>
          </a:prstGeom>
        </p:spPr>
      </p:pic>
      <p:pic>
        <p:nvPicPr>
          <p:cNvPr id="10" name="Picture 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7D9130E-87D6-24D9-90CA-ACDA6B4C8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3675036"/>
            <a:ext cx="5426764" cy="267268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FBF9C5AC-B8CF-00E6-3BFF-D79912731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1335226"/>
            <a:ext cx="5426764" cy="404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5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780</Words>
  <Application>Microsoft Office PowerPoint</Application>
  <PresentationFormat>Widescreen</PresentationFormat>
  <Paragraphs>81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Verdana</vt:lpstr>
      <vt:lpstr>Office Theme</vt:lpstr>
      <vt:lpstr>Aspects of inequality, Slogan under Human Rights Agenda.</vt:lpstr>
      <vt:lpstr>Inequality</vt:lpstr>
      <vt:lpstr>Aspects of Inequality</vt:lpstr>
      <vt:lpstr>PowerPoint Presentation</vt:lpstr>
      <vt:lpstr>Incomes</vt:lpstr>
      <vt:lpstr>Inequality: Incomes</vt:lpstr>
      <vt:lpstr>Inequality: Incomes</vt:lpstr>
      <vt:lpstr>Opportunity</vt:lpstr>
      <vt:lpstr>Inequality: Opportunity</vt:lpstr>
      <vt:lpstr>Physical Environment</vt:lpstr>
      <vt:lpstr>Inequality: Physical Environment</vt:lpstr>
      <vt:lpstr>Inequality: Physical Environment</vt:lpstr>
      <vt:lpstr>Assets</vt:lpstr>
      <vt:lpstr>Inequality: Assets</vt:lpstr>
      <vt:lpstr>Gender</vt:lpstr>
      <vt:lpstr>Inequality: Gender</vt:lpstr>
      <vt:lpstr>Wealth</vt:lpstr>
      <vt:lpstr>Inequality: Wealth</vt:lpstr>
      <vt:lpstr>The Slogan under Human Rights Agenda</vt:lpstr>
      <vt:lpstr>The Slogan under Human Rights Agenda</vt:lpstr>
      <vt:lpstr>PowerPoint Presentation</vt:lpstr>
      <vt:lpstr>PowerPoint Presentation</vt:lpstr>
    </vt:vector>
  </TitlesOfParts>
  <Company>Mercy Corps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Work in Social Work and Field Ethics, Values &amp; Ethics of the social work profession, Code of Ethics</dc:title>
  <dc:creator>Madeha Ashraf</dc:creator>
  <cp:lastModifiedBy>Madeha Ashraf</cp:lastModifiedBy>
  <cp:revision>4</cp:revision>
  <dcterms:created xsi:type="dcterms:W3CDTF">2023-03-17T10:20:28Z</dcterms:created>
  <dcterms:modified xsi:type="dcterms:W3CDTF">2023-03-24T04:42:07Z</dcterms:modified>
</cp:coreProperties>
</file>