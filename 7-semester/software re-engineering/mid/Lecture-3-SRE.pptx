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  <p:sldMasterId id="2147483668" r:id="rId3"/>
    <p:sldMasterId id="2147483656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1" r:id="rId6"/>
    <p:sldId id="550" r:id="rId7"/>
    <p:sldId id="551" r:id="rId8"/>
    <p:sldId id="558" r:id="rId9"/>
    <p:sldId id="559" r:id="rId10"/>
    <p:sldId id="560" r:id="rId11"/>
    <p:sldId id="561" r:id="rId12"/>
    <p:sldId id="562" r:id="rId13"/>
    <p:sldId id="55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4353" autoAdjust="0"/>
  </p:normalViewPr>
  <p:slideViewPr>
    <p:cSldViewPr snapToGrid="0">
      <p:cViewPr varScale="1">
        <p:scale>
          <a:sx n="90" d="100"/>
          <a:sy n="90" d="100"/>
        </p:scale>
        <p:origin x="7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892352-B4B8-4883-A7AE-74A1CD73CC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988E6-59B9-48DC-9B4A-57289DC710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95C29-67EF-49A4-98C1-FCB15B726954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B0436-9CF9-4A1C-A1A4-6B867600F0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D58C5-83E6-49AD-8389-6E84C9EF0A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1700E-07F4-4037-B9BA-0B17596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42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83B8F-3A1C-4F2C-B130-8969D6C1E4AD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C6B6B-DEB4-4104-BA10-F9FA8AE5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126" y="4738508"/>
            <a:ext cx="5185954" cy="46051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1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C0E30B0-E077-4993-974F-9A916C82C114}" type="datetime1">
              <a:rPr lang="en-US" smtClean="0"/>
              <a:t>2/18/2025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070B560-5622-461A-9086-C81B8DFD0314}"/>
              </a:ext>
            </a:extLst>
          </p:cNvPr>
          <p:cNvSpPr txBox="1">
            <a:spLocks/>
          </p:cNvSpPr>
          <p:nvPr userDrawn="1"/>
        </p:nvSpPr>
        <p:spPr>
          <a:xfrm>
            <a:off x="-13063" y="596657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E984078-D535-4E16-A9EF-E132281C5B64}"/>
              </a:ext>
            </a:extLst>
          </p:cNvPr>
          <p:cNvSpPr txBox="1">
            <a:spLocks/>
          </p:cNvSpPr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8708" y="692331"/>
            <a:ext cx="4467497" cy="105809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6514-E628-458B-AA9A-60A33D091D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EA8-1D0F-4EDA-AC1C-3D8EC882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q"/>
              <a:defRPr b="1">
                <a:solidFill>
                  <a:srgbClr val="001050"/>
                </a:solidFill>
              </a:defRPr>
            </a:lvl1pPr>
            <a:lvl2pPr>
              <a:buFont typeface="Wingdings" panose="05000000000000000000" pitchFamily="2" charset="2"/>
              <a:buChar char="§"/>
              <a:defRPr b="0"/>
            </a:lvl2pPr>
            <a:lvl3pPr>
              <a:buFont typeface="Courier New" panose="02070309020205020404" pitchFamily="49" charset="0"/>
              <a:buChar char="o"/>
              <a:defRPr b="0">
                <a:latin typeface="+mj-lt"/>
              </a:defRPr>
            </a:lvl3pPr>
            <a:lvl4pPr>
              <a:buFont typeface="Arial" panose="020B0604020202020204" pitchFamily="34" charset="0"/>
              <a:buChar char="•"/>
              <a:defRPr b="0">
                <a:latin typeface="+mj-lt"/>
              </a:defRPr>
            </a:lvl4pPr>
            <a:lvl5pPr>
              <a:buFont typeface="Arial" panose="020B0604020202020204" pitchFamily="34" charset="0"/>
              <a:buChar char="•"/>
              <a:defRPr b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3E359-53AB-4630-9445-BD1EC211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B4D4-DD5B-499F-AF34-6F714EED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0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4C5-DA85-42F4-9809-54A7416F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rgbClr val="002060"/>
          </a:solidFill>
        </p:spPr>
        <p:txBody>
          <a:bodyPr anchor="b"/>
          <a:lstStyle>
            <a:lvl1pPr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C6D7-FA11-4EC0-B04D-17711775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rgbClr val="001050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90E4-1765-4F51-B6C8-CF347346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30EE-1BA8-420F-B2C9-CE22107EC47A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C99A-182B-47B9-803E-FD4A2E2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1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80E0-5E40-408E-BDD1-D6554F92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062"/>
            <a:ext cx="10515600" cy="1325563"/>
          </a:xfrm>
          <a:solidFill>
            <a:srgbClr val="002060"/>
          </a:solidFill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4002-4A0D-4A91-A1FF-EEA9F9CE6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6D3D0-22D7-4FE1-9BC2-28DE2F5EC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E05DC-021E-4421-ACCD-6ED98EF2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0214-E8A3-43BC-B597-D3E30C8B00C0}" type="datetime1">
              <a:rPr lang="en-US" smtClean="0"/>
              <a:t>2/18/2025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1E2AC-9805-48FF-BA68-31E79A97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7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6EF0-EABB-4D40-99F9-02DEBD1E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29DF0-9338-429B-894B-6BA89B81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38542-80B1-4CF8-8433-4FF09B77E667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F8401-E628-423C-AAB0-CEFA4399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98250-7BF9-4699-8DAA-10CA39A6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6DA35-5107-4BD5-8AAB-1BDDC0BFF481}" type="datetime1">
              <a:rPr lang="en-US" smtClean="0"/>
              <a:t>2/18/2025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DEACF-DE1A-4413-8881-A9F8E73A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01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8D342-6308-A30E-DE72-61C991543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68DC8-10D2-ACEF-F2F9-89D23BC8C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95DD4-7554-1C07-53E0-A0762B15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AD26E-D6CF-453C-92E1-EE10FF701A4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7AD89-0D93-A257-6D7A-5BBC4466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153E1-6DF6-1D69-43A9-4CE2CB7B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2880-A5A5-4033-9D13-DF6D2E150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9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880E-804F-F587-F07F-82364C47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92093-F2F2-BF12-66F2-19B235105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33E3D-E2A3-46F5-979F-92231E1C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AD26E-D6CF-453C-92E1-EE10FF701A4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7D22B-11B3-52A3-1B1D-9273B231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7888C-CF78-0BEB-D447-F66071E6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2880-A5A5-4033-9D13-DF6D2E150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1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7D9D-2E55-5688-296A-AD504D435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5A727-D3D9-6708-AA25-EA5380FF5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21C66-C832-8982-92E5-B33FC31D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AD26E-D6CF-453C-92E1-EE10FF701A4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1691E-A8E7-BBCF-758A-58D8630DE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61286-55F1-5089-3A89-6F6713CD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2880-A5A5-4033-9D13-DF6D2E150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4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D31D-9A7C-9E79-F4CF-B353FCD3C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6EBFF-F167-A853-B80B-9C0344A3A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E0386-4B26-A411-F973-2F7B2EE9C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17EF4-F28D-838B-8BEA-39448F37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AD26E-D6CF-453C-92E1-EE10FF701A4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8159D-4652-F976-4200-74B25FE2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7ADFC-D6E7-720D-8080-D5B4BE133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2880-A5A5-4033-9D13-DF6D2E150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20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E3F08-BF4C-DD50-DDC2-B3762B86A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7F6FC-17EB-40FE-D33F-054B6471E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AA6B7-1BDC-EC8B-374F-F6C401493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DC894-0B34-4482-009C-DF008BB8D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3D864-63C8-81AA-50B5-09DCC74B4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E8BCB7-0D3F-49E7-D57A-EEEFF857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AD26E-D6CF-453C-92E1-EE10FF701A4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B86FCD-CB09-CDF7-CA8A-73C26F958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8EAE02-6C3B-E75D-EFDD-B5503222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2880-A5A5-4033-9D13-DF6D2E150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8355-8442-EE1A-B538-78430CAC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514A9-A7A1-EC8F-3BA0-A4FF0402A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AD26E-D6CF-453C-92E1-EE10FF701A4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E7A006-52A8-D32F-1F1C-B337B320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D7B14-424A-FD65-9535-78E5F80F9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2880-A5A5-4033-9D13-DF6D2E150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84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4B15E-1406-3E37-FA7E-0C9D1CC86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AD26E-D6CF-453C-92E1-EE10FF701A4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0A4AD-DA59-44E1-BD6C-A6E349363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6EB0E-F031-9513-7579-35C488F5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2880-A5A5-4033-9D13-DF6D2E150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85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9083C-596C-1797-9CB2-FBC4C560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68DC9-75C4-3A0A-438B-CD04BAEFE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395B0-2082-A98B-B303-4B3266134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5D8C1-32DD-5902-3CFA-1C86A2F82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AD26E-D6CF-453C-92E1-EE10FF701A4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28D25-4C8F-69F5-61B4-40B9A017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AD85B-C4CA-EB12-C1F5-A9C7746B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2880-A5A5-4033-9D13-DF6D2E150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44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8D5E3-2E79-A2B5-1718-DDCF1D282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08E93-F04B-3480-9C1A-EC1AC1557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86E1C-1FDB-9C22-1F40-421D2F6A4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DE0A6-6639-26C4-8A85-8921C100F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AD26E-D6CF-453C-92E1-EE10FF701A4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223EB-E5A5-77D3-7216-4398A346C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15A82-7B59-3895-9870-3DD124CE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2880-A5A5-4033-9D13-DF6D2E150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6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4CECE-8EED-70B8-B842-192CEC6FD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8526A-206F-4730-C4A2-8F3084BF8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62C8C-BF42-6672-BF21-D5008CFA4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AD26E-D6CF-453C-92E1-EE10FF701A4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177E-D63C-F7B3-5805-5D7DCC2A6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D5FD6-4078-A048-1A18-0F52ABB5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2880-A5A5-4033-9D13-DF6D2E150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50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45C74E-DA35-DDD8-FA85-B303636C5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33A84-2057-0889-BB6A-70EC48F3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4982E-D4EF-C74D-87AA-8B26581DA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AD26E-D6CF-453C-92E1-EE10FF701A4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F3F87-BE94-08BD-CC63-FD4E6E45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DE538-D54D-C2DD-A953-1D529F90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2880-A5A5-4033-9D13-DF6D2E150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38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C624-2822-7746-38D5-C0DB3FB84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8D0E6-82A3-5881-E49D-7E181B323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1F1A7-F48C-3939-E3FA-5AF0D2EA2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103D-62E7-4BFA-9CDD-CF0EA4BA896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B0406-E467-58F3-30AE-356D0FD9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93D42-DCE3-9184-F2F6-CF2469AD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B5FA-E59C-445B-A5A7-610DF90B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81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8741-F62E-053F-B645-4F577D18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851D0-DE03-2CE4-8EFC-D5141ACE5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E5604-185B-4FDE-8686-A1C8ECFF0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103D-62E7-4BFA-9CDD-CF0EA4BA896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F7D76-D3D8-F68C-9276-B27FEA113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2B55F-7BDF-76DC-5E2A-0D1888F8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B5FA-E59C-445B-A5A7-610DF90B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934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BA57B-506A-AF04-8912-B17D91B89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8AA79-575F-1D54-E37B-6B893101C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D24AD-893D-8206-871B-A93B1DC07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103D-62E7-4BFA-9CDD-CF0EA4BA896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4FA3E-0CF4-2A4C-12D4-D3122890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7BB2F-BC6C-3900-9CD8-EC931C7E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B5FA-E59C-445B-A5A7-610DF90B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019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AC1AF-B4E4-C415-9567-1385321E7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364E7-7CF1-AC95-FD8C-D84FF8E5C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41B1C-CC59-3D99-EBFD-E704A8C6A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B6510-F928-DB60-E8E3-10735FE8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103D-62E7-4BFA-9CDD-CF0EA4BA896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010-A335-EE5E-DB97-117986BFD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54496-5C05-20C1-5379-A7B36A297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B5FA-E59C-445B-A5A7-610DF90B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57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A658-14EA-370F-5DE9-3370199E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825BE-A276-A722-4188-D06A13726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58C37-16AC-1A9D-4E17-19B3AC4D3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2B7D87-CA1D-B8C2-A181-38CC6F6C6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83F7A-2911-CB01-7DFB-DDF1DC8CC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326ADE-9ECA-7645-77AC-8360598F9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103D-62E7-4BFA-9CDD-CF0EA4BA896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E1A8AB-279B-E237-1DFB-7AD4221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A9F33-4C93-64C6-4A69-2A371879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B5FA-E59C-445B-A5A7-610DF90B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476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016D-9866-8C08-5616-11A8FDF33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ABC20-4B3F-EDAB-C342-7C14A1FC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103D-62E7-4BFA-9CDD-CF0EA4BA896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678C3-7405-5685-EEB2-2EC985009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AC9BB-3870-AD1D-DAC3-083E8505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B5FA-E59C-445B-A5A7-610DF90B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920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A0257-B6FE-BED8-D9B5-B7CC949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103D-62E7-4BFA-9CDD-CF0EA4BA896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D5706A-5E01-25BB-D601-ADCE7AA0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6A8AA-DA4D-FB8B-E5A0-D0DC91F2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B5FA-E59C-445B-A5A7-610DF90B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031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8AB8-01D2-DC10-7639-26C0E61CA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D9A79-43C6-F45F-CBCE-C9F7CE2DF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2E3BD-2535-2C53-73F1-6B8A7FF30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1B702-4DC1-FD2B-7ECA-8D06D7D44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103D-62E7-4BFA-9CDD-CF0EA4BA896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A7795-6348-9CF9-30EB-BA87012D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53D0F-314E-D06D-767F-3EF4A7C0D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B5FA-E59C-445B-A5A7-610DF90B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669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A1929-E456-4A65-DFA7-0A26E10A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706D48-5757-E339-C040-46B2B06D3F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E50B5-61CE-87BC-BDB3-6038954B1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5F49A-C48D-6310-1AD2-1C2740E2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103D-62E7-4BFA-9CDD-CF0EA4BA896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04C78-7F77-1182-416A-0C8F2AA8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83E1E-3BBC-8EC2-6351-7CB8C8D8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B5FA-E59C-445B-A5A7-610DF90B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055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12FE-4E38-AD9B-02C8-0DC34A915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877D3-5DF2-69AC-7DE7-E18146E76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77E59-C5B4-AAE0-5FAA-CD7CDD4F2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103D-62E7-4BFA-9CDD-CF0EA4BA896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2CCD-87BC-ED8D-18D2-25CFB9DB7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E062E-6140-8D81-F1F5-1CE73A31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B5FA-E59C-445B-A5A7-610DF90B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47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E09B61-958B-58D5-B156-C3BB2AF85D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225A9-8834-09C1-5D0F-08F2CDA4F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E190F-CD8A-76F5-5874-8DEDF50D2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103D-62E7-4BFA-9CDD-CF0EA4BA896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7162B-190F-2A60-0712-A31CE331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B03C0-2D5A-68FD-1130-96D203EC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FB5FA-E59C-445B-A5A7-610DF90B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48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64B0-696B-5516-96A3-D9E90E68D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96D6D-2FF5-F14A-06C2-2B70E58C3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CAABE-571F-1250-857F-DBA8A0D49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8AF-65EC-4C65-88C2-CB1519DFCA9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69B49-0802-6567-7FF8-2E913B467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7D83-4CCA-EEA9-6AE9-27E35BEC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0D1E-1F8C-4FD3-A83C-E9C5B232F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626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2886-4479-CFD4-6A59-F530B99DB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D377D-6BAF-021E-DDAA-99EB0F6D1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020CD-A210-67C7-90AC-78CCFD48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8AF-65EC-4C65-88C2-CB1519DFCA9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2270B-459C-DB1F-9F70-6B72ACB1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D4F7A-CE3C-49C4-47FA-2A8AF2128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0D1E-1F8C-4FD3-A83C-E9C5B232F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188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09C1-41DB-034D-41F5-B15C78FC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107ED-00BB-B3CE-F8D7-3D77E758E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27320-BB59-E2C8-BEB0-6ECC972F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8AF-65EC-4C65-88C2-CB1519DFCA9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AA4D1-AE1A-D22F-2B32-B3AA88F9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322CD-3253-26A8-3E8F-D1F56A7B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0D1E-1F8C-4FD3-A83C-E9C5B232F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872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BEBAB-344B-50C7-2A08-15127B158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69B1A-08D1-3740-35D8-055ACBB4C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9B208-0198-E58E-093B-B8A3D90CE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828B3-413B-F8C4-1B46-81E36187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8AF-65EC-4C65-88C2-CB1519DFCA9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80D49-3E17-AA6F-6814-B3E6F8CFC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BFFEC-3FF2-32B5-51C7-B479B215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0D1E-1F8C-4FD3-A83C-E9C5B232F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69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70DB-9B99-FCAE-66AE-4C884800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211E3-4204-4384-D5B9-0CA78C312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4BB91-994E-FE51-D53A-6AC454BC5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674B9-5E8D-A3F9-FDFF-DB2DB2E31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4C858-BEFA-31B0-F9B8-A5616AC95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539296-A82B-26D3-3C1F-40B15401B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8AF-65EC-4C65-88C2-CB1519DFCA9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1A4A5-F36E-6A54-2347-4839A832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685CB6-D361-4F31-32A7-26860E03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0D1E-1F8C-4FD3-A83C-E9C5B232F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301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48E33-6E99-98EE-EF96-0C2E0E7E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75482-6F69-85ED-CF11-B66AADE5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8AF-65EC-4C65-88C2-CB1519DFCA9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35B50-06DB-4234-206E-312D08DC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E5ECE0-F31A-B6C3-E8DE-8281DF5C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0D1E-1F8C-4FD3-A83C-E9C5B232F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409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F4FB54-0F67-1209-85FD-5BE5E2A7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8AF-65EC-4C65-88C2-CB1519DFCA9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1AC0F-B73B-0318-7150-6B8464216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B3ED8-20F0-0610-C278-50F831FE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0D1E-1F8C-4FD3-A83C-E9C5B232F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43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B0A69-F318-E967-DD36-AF59CBCD3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E1521-FF78-CD60-3FED-579B04EF1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9D223-A2A2-2447-E7CD-82E312FED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CC78E-B8B2-362E-EDF5-3B605FA6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8AF-65EC-4C65-88C2-CB1519DFCA9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220FB-DC63-6792-5C3F-F6BBD832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414C5-8E74-6480-F233-D2BC9679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0D1E-1F8C-4FD3-A83C-E9C5B232F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139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57AF7-EAD2-797E-67C9-6575A227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5B4E35-09F8-B9D1-B2EF-9833552C6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11EED-3282-BD7B-3263-CFC3AF6BD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A29E3-7B8D-18DD-69DE-831A43E17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8AF-65EC-4C65-88C2-CB1519DFCA9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1AAB5-1888-6BC7-990B-C0A5F2221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66376-858E-8BF7-9B52-ADFF31FA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0D1E-1F8C-4FD3-A83C-E9C5B232F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893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4909-BA01-7573-14C1-447ACBC51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6A399-060A-1210-7918-F0FB4C848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27B0D-F7E0-7146-0FB8-77B3522EA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8AF-65EC-4C65-88C2-CB1519DFCA9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8CAE1-3C5B-F1E5-F079-700D66331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FEF85-E766-6A97-AFDD-9DAE0E700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0D1E-1F8C-4FD3-A83C-E9C5B232F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196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CB0317-C845-D247-C0BC-C57A98DF4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888374-42B8-755E-4D2E-92FC22867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AEC20-0D80-1128-62FC-1E643FFD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68AF-65EC-4C65-88C2-CB1519DFCA9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F5271-E2BC-9C21-DA77-BB81E159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663F1-973C-387A-A111-1DCB9E279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0D1E-1F8C-4FD3-A83C-E9C5B232F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2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26DA1-7ABB-4B30-BC38-25B428BD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6C9A3-0ABC-4112-86CC-F1C647B8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14F0-AD23-468C-BFE0-6A14B6401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A08FD-3D60-442C-B673-50DEA1E71820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87060-9AB1-4B3A-A1EF-C8A00129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3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2CCFEA-8EBC-F7E9-23A4-B906AB1CB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CE396-B11D-3C93-9F84-5952018CA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53C68-AE31-8A95-7BFC-AFCF18596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AD26E-D6CF-453C-92E1-EE10FF701A4E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96040-EB87-E18E-06DC-BC899EEBB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42880-A5A5-4033-9D13-DF6D2E150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1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312690-F831-7DB3-2F3F-AFA15D318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1375D-8BC8-4CF8-4A20-A201014AF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5F81A-05E3-200F-9BF9-FAFEF7BC60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8103D-62E7-4BFA-9CDD-CF0EA4BA896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A84D5-26CB-575A-5B4A-F71ECC400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FB5FA-E59C-445B-A5A7-610DF90B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70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4AEEE-3AF0-693F-7232-842A02239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5CCF3-3600-CC5A-9653-59B131D21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11D46-3E9B-296C-6854-D037783D5B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A68AF-65EC-4C65-88C2-CB1519DFCA9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8414B-AC0E-E6C2-E846-9011ABFDB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20D1E-1F8C-4FD3-A83C-E9C5B232F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39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3A08-5DAE-4AF9-898B-437FB4DCE9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Re-Engineering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EFB2B-D101-4F13-9CD7-92D3F27417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Instructor</a:t>
            </a:r>
            <a:r>
              <a:rPr lang="en-US"/>
              <a:t>: Muhammad Usman Shahid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46440-FFC7-47D9-82FF-48B7F66EBD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1" y="697368"/>
            <a:ext cx="4532812" cy="1045029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 No.03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6F98B-6F84-40A3-A2C3-2A0ADF2766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BSSE – 7 &amp; 8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F4ED84E-60DD-47EC-B4DE-DE8CA8C4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52C-3CFC-4FAB-945A-BCF95F4812D3}" type="datetime1">
              <a:rPr lang="en-US" smtClean="0"/>
              <a:t>2/18/2025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85CF7-82D0-438F-957D-503B6DDA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1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0" y="0"/>
            <a:ext cx="10515600" cy="575908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Lecture 3: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27" y="674703"/>
            <a:ext cx="10714608" cy="4944862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dirty="0"/>
              <a:t>Categories of maintenance concepts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80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200" dirty="0"/>
              <a:t>Categories of maintenance concepts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514350" indent="-514350" algn="l">
              <a:buAutoNum type="arabicParenR"/>
            </a:pPr>
            <a:r>
              <a:rPr lang="en-US" sz="3200" i="0" u="none" strike="noStrike" baseline="0" dirty="0"/>
              <a:t>Maintained product</a:t>
            </a:r>
          </a:p>
          <a:p>
            <a:pPr marL="514350" indent="-514350" algn="l">
              <a:buAutoNum type="arabicParenR"/>
            </a:pPr>
            <a:r>
              <a:rPr lang="en-US" sz="3200" b="0" dirty="0"/>
              <a:t>Maintenance types</a:t>
            </a:r>
          </a:p>
          <a:p>
            <a:pPr marL="514350" indent="-514350" algn="l">
              <a:buAutoNum type="arabicParenR"/>
            </a:pPr>
            <a:r>
              <a:rPr lang="en-US" sz="3200" b="0" i="0" u="none" strike="noStrike" baseline="0" dirty="0"/>
              <a:t>Maintenance organization process</a:t>
            </a:r>
          </a:p>
          <a:p>
            <a:pPr marL="514350" indent="-514350" algn="l">
              <a:buAutoNum type="arabicParenR"/>
            </a:pPr>
            <a:r>
              <a:rPr lang="en-US" sz="3200" b="0" dirty="0"/>
              <a:t>Peopleware</a:t>
            </a:r>
          </a:p>
          <a:p>
            <a:pPr marL="0" indent="0" algn="l">
              <a:buNone/>
            </a:pPr>
            <a:endParaRPr lang="en-US" sz="32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1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Maintained product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u="none" strike="noStrike" baseline="0" dirty="0"/>
              <a:t>The maintained product dimension is characterized by three concepts: </a:t>
            </a:r>
          </a:p>
          <a:p>
            <a:pPr marL="514350" indent="-514350" algn="l">
              <a:buAutoNum type="arabicParenR"/>
            </a:pPr>
            <a:r>
              <a:rPr lang="en-US" b="0" u="none" strike="noStrike" baseline="0" dirty="0"/>
              <a:t>product, </a:t>
            </a:r>
          </a:p>
          <a:p>
            <a:pPr marL="514350" indent="-514350" algn="l">
              <a:buAutoNum type="arabicParenR"/>
            </a:pPr>
            <a:r>
              <a:rPr lang="en-US" b="0" u="none" strike="noStrike" baseline="0" dirty="0"/>
              <a:t>product upgrade, </a:t>
            </a:r>
          </a:p>
          <a:p>
            <a:pPr marL="514350" indent="-514350" algn="l">
              <a:buAutoNum type="arabicParenR"/>
            </a:pPr>
            <a:r>
              <a:rPr lang="en-US" b="0" u="none" strike="noStrike" baseline="0" dirty="0"/>
              <a:t>and artifacts.</a:t>
            </a:r>
            <a:endParaRPr lang="en-US" sz="4400" b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49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Maintained product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i="1" u="none" strike="noStrike" baseline="0" dirty="0"/>
              <a:t>Product</a:t>
            </a:r>
            <a:r>
              <a:rPr lang="en-US" i="0" u="none" strike="noStrike" baseline="0" dirty="0"/>
              <a:t>. </a:t>
            </a:r>
            <a:r>
              <a:rPr lang="en-US" b="0" i="0" u="none" strike="noStrike" baseline="0" dirty="0"/>
              <a:t>A product is a clear collection of several different artifacts (pieces).</a:t>
            </a:r>
          </a:p>
          <a:p>
            <a:pPr algn="l"/>
            <a:r>
              <a:rPr lang="en-US" b="0" i="0" u="none" strike="noStrike" baseline="0" dirty="0"/>
              <a:t> Source code is the key component of a software product.</a:t>
            </a:r>
          </a:p>
          <a:p>
            <a:pPr algn="l"/>
            <a:r>
              <a:rPr lang="en-US" b="0" i="0" u="none" strike="noStrike" baseline="0" dirty="0"/>
              <a:t> Other artifacts of interest include print manuals and online help.</a:t>
            </a:r>
            <a:endParaRPr lang="en-US" sz="6000" b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2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Maintained product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r>
              <a:rPr lang="en-US" i="1" u="none" strike="noStrike" baseline="0" dirty="0"/>
              <a:t>Product upgrade</a:t>
            </a:r>
            <a:r>
              <a:rPr lang="en-US" i="0" u="none" strike="noStrike" baseline="0" dirty="0"/>
              <a:t>. </a:t>
            </a:r>
            <a:r>
              <a:rPr lang="en-US" b="0" dirty="0"/>
              <a:t>A</a:t>
            </a:r>
            <a:r>
              <a:rPr lang="en-US" b="0" i="0" u="none" strike="noStrike" baseline="0" dirty="0"/>
              <a:t>n upgrade can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create a new version </a:t>
            </a:r>
            <a:r>
              <a:rPr lang="en-US" b="0" i="0" u="none" strike="noStrike" baseline="0" dirty="0"/>
              <a:t>of the system being maintained, a patch code for an object, or even a notice explaining a restriction on the use of the system. </a:t>
            </a:r>
            <a:endParaRPr lang="en-US" i="0" u="none" strike="noStrike" baseline="0" dirty="0"/>
          </a:p>
          <a:p>
            <a:r>
              <a:rPr lang="en-US" b="0" i="0" u="none" strike="noStrike" baseline="0" dirty="0"/>
              <a:t>Any change or upgrade made to a software product relates to a specific baseline. </a:t>
            </a:r>
          </a:p>
          <a:p>
            <a:pPr algn="l"/>
            <a:r>
              <a:rPr lang="en-US" b="0" i="0" u="none" strike="noStrike" baseline="0" dirty="0">
                <a:solidFill>
                  <a:srgbClr val="FF0000"/>
                </a:solidFill>
              </a:rPr>
              <a:t>Baseline</a:t>
            </a:r>
            <a:r>
              <a:rPr lang="en-US" b="0" i="0" u="none" strike="noStrike" baseline="0" dirty="0"/>
              <a:t> is an arrangement of related entities that make up a particular software configuration. </a:t>
            </a:r>
          </a:p>
          <a:p>
            <a:pPr algn="l"/>
            <a:r>
              <a:rPr lang="en-US" b="0" i="0" u="none" strike="noStrike" baseline="0" dirty="0"/>
              <a:t>A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restriction notice </a:t>
            </a:r>
            <a:r>
              <a:rPr lang="en-US" b="0" i="0" u="none" strike="noStrike" baseline="0" dirty="0"/>
              <a:t>can be a release note saying that the product may not work with a specific version of a hardware.</a:t>
            </a:r>
            <a:endParaRPr lang="en-US" b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07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Maintained product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sz="3200" i="1" u="none" strike="noStrike" baseline="0" dirty="0">
                <a:solidFill>
                  <a:srgbClr val="FF0000"/>
                </a:solidFill>
              </a:rPr>
              <a:t>Artifact</a:t>
            </a:r>
            <a:r>
              <a:rPr lang="en-US" sz="3200" i="0" u="none" strike="noStrike" baseline="0" dirty="0">
                <a:solidFill>
                  <a:srgbClr val="FF0000"/>
                </a:solidFill>
              </a:rPr>
              <a:t>. </a:t>
            </a:r>
            <a:r>
              <a:rPr lang="en-US" sz="3200" b="0" i="0" u="none" strike="noStrike" baseline="0" dirty="0"/>
              <a:t>A number of different artifacts are used in the design of a software product </a:t>
            </a:r>
          </a:p>
          <a:p>
            <a:pPr algn="l"/>
            <a:r>
              <a:rPr lang="en-US" sz="3200" b="0" i="0" u="none" strike="noStrike" baseline="0" dirty="0"/>
              <a:t>a number of artifacts simultaneously exist along side a software product. </a:t>
            </a:r>
          </a:p>
          <a:p>
            <a:pPr algn="l"/>
            <a:r>
              <a:rPr lang="en-US" sz="3200" b="0" dirty="0">
                <a:solidFill>
                  <a:srgbClr val="FF0000"/>
                </a:solidFill>
              </a:rPr>
              <a:t>T</a:t>
            </a:r>
            <a:r>
              <a:rPr lang="en-US" sz="3200" b="0" i="0" u="none" strike="noStrike" baseline="0" dirty="0">
                <a:solidFill>
                  <a:srgbClr val="FF0000"/>
                </a:solidFill>
              </a:rPr>
              <a:t>ypes of artifacts: </a:t>
            </a:r>
            <a:r>
              <a:rPr lang="en-US" sz="3200" b="0" i="0" u="none" strike="noStrike" baseline="0" dirty="0"/>
              <a:t>textual and graphical documents, component off-the-shelf products, and object code components. </a:t>
            </a:r>
          </a:p>
          <a:p>
            <a:pPr algn="l"/>
            <a:r>
              <a:rPr lang="en-US" sz="3200" b="0" i="0" u="none" strike="noStrike" baseline="0" dirty="0"/>
              <a:t>Textual documents are readily understood by human readers: requirements specifications, plans, designs, and source code listings.</a:t>
            </a:r>
            <a:endParaRPr lang="en-US" sz="4400" b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04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/>
              <a:t>Maintained product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The </a:t>
            </a:r>
            <a:r>
              <a:rPr lang="en-US" sz="3200" i="0" u="none" strike="noStrike" baseline="0" dirty="0"/>
              <a:t>age of a software product</a:t>
            </a:r>
            <a:r>
              <a:rPr lang="en-US" b="0" i="0" u="none" strike="noStrike" baseline="0" dirty="0"/>
              <a:t> is the number of calendar years elapsed since its first release. </a:t>
            </a:r>
          </a:p>
          <a:p>
            <a:pPr algn="l"/>
            <a:r>
              <a:rPr lang="en-US" b="0" i="0" u="none" strike="noStrike" baseline="0" dirty="0"/>
              <a:t>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age</a:t>
            </a:r>
            <a:r>
              <a:rPr lang="en-US" b="0" i="0" u="none" strike="noStrike" baseline="0" dirty="0"/>
              <a:t> of a software product can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affect maintenance activities</a:t>
            </a:r>
            <a:r>
              <a:rPr lang="en-US" b="0" i="0" u="none" strike="noStrike" baseline="0" dirty="0"/>
              <a:t> in various ways. </a:t>
            </a:r>
          </a:p>
          <a:p>
            <a:pPr algn="l"/>
            <a:r>
              <a:rPr lang="en-US" b="0" i="0" u="none" strike="noStrike" baseline="0" dirty="0"/>
              <a:t>It is difficult to maintain too  old products for the following reasons: </a:t>
            </a:r>
          </a:p>
          <a:p>
            <a:pPr marL="571500" indent="-571500" algn="l">
              <a:buAutoNum type="romanLcParenBoth"/>
            </a:pPr>
            <a:r>
              <a:rPr lang="en-US" b="0" i="0" u="none" strike="noStrike" baseline="0" dirty="0"/>
              <a:t>it is difficult to find maintenance personnel for too old products, because of changes in development technologies; </a:t>
            </a:r>
          </a:p>
          <a:p>
            <a:pPr marL="571500" indent="-571500" algn="l">
              <a:buAutoNum type="romanLcParenBoth"/>
            </a:pPr>
            <a:r>
              <a:rPr lang="en-US" b="0" i="0" u="none" strike="noStrike" baseline="0" dirty="0"/>
              <a:t>finding tools, namely, compilers and code analyzers, for very old systems is difficult</a:t>
            </a:r>
          </a:p>
          <a:p>
            <a:pPr marL="571500" indent="-571500" algn="l">
              <a:buAutoNum type="romanLcParenBoth"/>
            </a:pPr>
            <a:r>
              <a:rPr lang="en-US" b="0" i="0" u="none" strike="noStrike" baseline="0" dirty="0"/>
              <a:t>the original or up-to-date development documentation may not be available for old products</a:t>
            </a:r>
            <a:endParaRPr lang="en-US" sz="6000" b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0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200" dirty="0"/>
              <a:t>Categories of maintenance concepts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514350" indent="-514350" algn="l">
              <a:buAutoNum type="arabicParenR"/>
            </a:pPr>
            <a:r>
              <a:rPr lang="en-US" sz="3200" b="0" i="0" u="none" strike="noStrike" baseline="0" dirty="0"/>
              <a:t>Maintained product</a:t>
            </a:r>
          </a:p>
          <a:p>
            <a:pPr marL="514350" indent="-514350" algn="l">
              <a:buAutoNum type="arabicParenR"/>
            </a:pPr>
            <a:r>
              <a:rPr lang="en-US" sz="3200" b="0" dirty="0"/>
              <a:t>Maintenance types</a:t>
            </a:r>
          </a:p>
          <a:p>
            <a:pPr marL="514350" indent="-514350" algn="l">
              <a:buAutoNum type="arabicParenR"/>
            </a:pPr>
            <a:r>
              <a:rPr lang="en-US" sz="3200" i="0" u="none" strike="noStrike" baseline="0" dirty="0"/>
              <a:t>Maintenance organization process</a:t>
            </a:r>
          </a:p>
          <a:p>
            <a:pPr marL="514350" indent="-514350" algn="l">
              <a:buAutoNum type="arabicParenR"/>
            </a:pPr>
            <a:r>
              <a:rPr lang="en-US" sz="3200" b="0" dirty="0"/>
              <a:t>Peopleware</a:t>
            </a:r>
          </a:p>
          <a:p>
            <a:pPr marL="0" indent="0" algn="l">
              <a:buNone/>
            </a:pPr>
            <a:endParaRPr lang="en-US" sz="32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65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pPr algn="l"/>
            <a:r>
              <a:rPr lang="en-US" sz="3600" i="0" u="none" strike="noStrike" baseline="0" dirty="0"/>
              <a:t>Maintenance organization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Two different levels of maintenance processes are followed within a maintenance organization:</a:t>
            </a:r>
          </a:p>
          <a:p>
            <a:pPr algn="l"/>
            <a:r>
              <a:rPr lang="en-US" b="0" i="0" u="none" strike="noStrike" baseline="0" dirty="0"/>
              <a:t>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individual-level maintenance processes </a:t>
            </a:r>
            <a:r>
              <a:rPr lang="en-US" b="0" i="0" u="none" strike="noStrike" baseline="0" dirty="0"/>
              <a:t>followed by maintenance personnel to implement a specific  change request (CR).</a:t>
            </a:r>
          </a:p>
          <a:p>
            <a:pPr algn="l"/>
            <a:r>
              <a:rPr lang="en-US" b="0" i="0" u="none" strike="noStrike" baseline="0" dirty="0"/>
              <a:t>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organization-level process </a:t>
            </a:r>
            <a:r>
              <a:rPr lang="en-US" b="0" i="0" u="none" strike="noStrike" baseline="0" dirty="0"/>
              <a:t>followed to manage the CRs from maintenance personnel, users, and customers/clients; this higher level of process is referred to as the maintenance organization process.</a:t>
            </a:r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00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6494</TotalTime>
  <Words>451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Wingdings</vt:lpstr>
      <vt:lpstr>Office Theme</vt:lpstr>
      <vt:lpstr>2_Custom Design</vt:lpstr>
      <vt:lpstr>1_Custom Design</vt:lpstr>
      <vt:lpstr>Custom Design</vt:lpstr>
      <vt:lpstr>Software Re-Engineering</vt:lpstr>
      <vt:lpstr>Lecture 3: Content</vt:lpstr>
      <vt:lpstr>Categories of maintenance concepts</vt:lpstr>
      <vt:lpstr>Maintained product</vt:lpstr>
      <vt:lpstr>Maintained product</vt:lpstr>
      <vt:lpstr>Maintained product</vt:lpstr>
      <vt:lpstr>Maintained product</vt:lpstr>
      <vt:lpstr>Maintained product</vt:lpstr>
      <vt:lpstr>Categories of maintenance concepts</vt:lpstr>
      <vt:lpstr>Maintenance organization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Waqar ul Hassan</dc:creator>
  <cp:lastModifiedBy>zakiya suman</cp:lastModifiedBy>
  <cp:revision>400</cp:revision>
  <dcterms:created xsi:type="dcterms:W3CDTF">2020-10-13T09:21:17Z</dcterms:created>
  <dcterms:modified xsi:type="dcterms:W3CDTF">2025-02-18T04:53:38Z</dcterms:modified>
</cp:coreProperties>
</file>