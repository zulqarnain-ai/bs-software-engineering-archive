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6" r:id="rId1"/>
  </p:sldMasterIdLst>
  <p:notesMasterIdLst>
    <p:notesMasterId r:id="rId38"/>
  </p:notesMasterIdLst>
  <p:handoutMasterIdLst>
    <p:handoutMasterId r:id="rId39"/>
  </p:handoutMasterIdLst>
  <p:sldIdLst>
    <p:sldId id="410" r:id="rId2"/>
    <p:sldId id="411" r:id="rId3"/>
    <p:sldId id="295" r:id="rId4"/>
    <p:sldId id="395" r:id="rId5"/>
    <p:sldId id="302" r:id="rId6"/>
    <p:sldId id="305" r:id="rId7"/>
    <p:sldId id="438" r:id="rId8"/>
    <p:sldId id="361" r:id="rId9"/>
    <p:sldId id="397" r:id="rId10"/>
    <p:sldId id="306" r:id="rId11"/>
    <p:sldId id="307" r:id="rId12"/>
    <p:sldId id="366" r:id="rId13"/>
    <p:sldId id="437" r:id="rId14"/>
    <p:sldId id="420" r:id="rId15"/>
    <p:sldId id="421" r:id="rId16"/>
    <p:sldId id="423" r:id="rId17"/>
    <p:sldId id="424" r:id="rId18"/>
    <p:sldId id="425" r:id="rId19"/>
    <p:sldId id="426" r:id="rId20"/>
    <p:sldId id="427" r:id="rId21"/>
    <p:sldId id="430" r:id="rId22"/>
    <p:sldId id="429" r:id="rId23"/>
    <p:sldId id="428" r:id="rId24"/>
    <p:sldId id="431" r:id="rId25"/>
    <p:sldId id="400" r:id="rId26"/>
    <p:sldId id="370" r:id="rId27"/>
    <p:sldId id="341" r:id="rId28"/>
    <p:sldId id="342" r:id="rId29"/>
    <p:sldId id="343" r:id="rId30"/>
    <p:sldId id="344" r:id="rId31"/>
    <p:sldId id="345" r:id="rId32"/>
    <p:sldId id="346" r:id="rId33"/>
    <p:sldId id="432" r:id="rId34"/>
    <p:sldId id="434" r:id="rId35"/>
    <p:sldId id="436" r:id="rId36"/>
    <p:sldId id="435" r:id="rId37"/>
  </p:sldIdLst>
  <p:sldSz cx="9144000" cy="6858000" type="screen4x3"/>
  <p:notesSz cx="7315200" cy="9601200"/>
  <p:embeddedFontLst>
    <p:embeddedFont>
      <p:font typeface="Angsana New" panose="02020603050405020304" pitchFamily="18" charset="-34"/>
      <p:regular r:id="rId40"/>
      <p:bold r:id="rId41"/>
      <p:italic r:id="rId42"/>
      <p:boldItalic r:id="rId43"/>
    </p:embeddedFont>
    <p:embeddedFont>
      <p:font typeface="Book Antiqua" panose="02040602050305030304" pitchFamily="18" charset="0"/>
      <p:regular r:id="rId44"/>
      <p:bold r:id="rId45"/>
      <p:italic r:id="rId46"/>
      <p:boldItalic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Cambria Math" panose="02040503050406030204" pitchFamily="18" charset="0"/>
      <p:regular r:id="rId52"/>
    </p:embeddedFont>
    <p:embeddedFont>
      <p:font typeface="Cordia New" panose="020B0304020202020204" pitchFamily="34" charset="-34"/>
      <p:regular r:id="rId53"/>
      <p:bold r:id="rId54"/>
      <p:italic r:id="rId55"/>
      <p:boldItalic r:id="rId56"/>
    </p:embeddedFont>
    <p:embeddedFont>
      <p:font typeface="EucrosiaUPC" panose="02020603050405020304" pitchFamily="18" charset="-34"/>
      <p:regular r:id="rId57"/>
      <p:bold r:id="rId58"/>
      <p:italic r:id="rId59"/>
      <p:boldItalic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0059" autoAdjust="0"/>
  </p:normalViewPr>
  <p:slideViewPr>
    <p:cSldViewPr>
      <p:cViewPr varScale="1">
        <p:scale>
          <a:sx n="105" d="100"/>
          <a:sy n="105" d="100"/>
        </p:scale>
        <p:origin x="18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20" y="224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68"/>
    </p:cViewPr>
  </p:sorterViewPr>
  <p:notesViewPr>
    <p:cSldViewPr>
      <p:cViewPr varScale="1">
        <p:scale>
          <a:sx n="60" d="100"/>
          <a:sy n="60" d="100"/>
        </p:scale>
        <p:origin x="-2166" y="-72"/>
      </p:cViewPr>
      <p:guideLst>
        <p:guide orient="horz" pos="3024"/>
        <p:guide pos="23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59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3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3. Predicate Logic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8" y="9119473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01582-F5A8-41ED-8946-57B4D8BFA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50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33FB8-1F43-454C-9FAC-BE3AABA74DC7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3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3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57B6A7-1EA9-4BE6-974C-D49D9BB4E8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97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olean-valued_function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commonly understood to be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Boolean-valued function"/>
              </a:rPr>
              <a:t>Boolean-valued function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{true, false}, called the predicate on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>
              <a:cs typeface="Cordia New" pitchFamily="34" charset="-3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Mortal means subject to death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Socrates was an ancient Greek philosopher who is widely credited for laying the foundation for Western philosophy.-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B6A7-1EA9-4BE6-974C-D49D9BB4E80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89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Integer :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 the positive or negative numbers 1, 2, 3, etc., or 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B6A7-1EA9-4BE6-974C-D49D9BB4E80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95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X&gt;0={1,2,3,4,5…..}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X&lt;0={-1,-2,-3,-4,-5…..}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X= even={……………-4,-2,0,2,4,6,8,……..}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B6A7-1EA9-4BE6-974C-D49D9BB4E80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84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</a:t>
            </a:r>
            <a:r>
              <a:rPr lang="en-US" baseline="0" dirty="0"/>
              <a:t> not means all are not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B6A7-1EA9-4BE6-974C-D49D9BB4E80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85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exist a student</a:t>
            </a:r>
            <a:r>
              <a:rPr lang="en-US" baseline="0" dirty="0"/>
              <a:t> who is happy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B6A7-1EA9-4BE6-974C-D49D9BB4E80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6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FB4305-11E2-432B-9ADC-82081093E9BA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2CF-7EF8-425E-B0C7-16E577635771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6771-CE02-4803-9609-02F649C79988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6B7B-4772-4906-AB7F-E34D5581632F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68B1-2DE4-4BD6-BB9F-4D5A80234C9E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86BC-646D-49AA-801F-918D502C87FE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465E-9F77-44EF-81BA-78556FCA5581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61598-2A47-45EF-90AD-1556544D77F2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B8613-867A-4A36-AD8A-E795D3C11207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A6AB-E50D-4E42-8FDA-6EAA5103FACD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788B-16F0-4D25-97DC-D4741A467560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715C773-7DBB-4539-9218-46DA38969126}" type="datetime1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4191000"/>
            <a:ext cx="6934200" cy="137160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th-TH" b="1" dirty="0">
                <a:effectLst/>
              </a:rPr>
              <a:t>Objective</a:t>
            </a:r>
          </a:p>
          <a:p>
            <a:pPr lvl="1"/>
            <a:r>
              <a:rPr lang="th-TH" dirty="0">
                <a:effectLst/>
              </a:rPr>
              <a:t>to introduce </a:t>
            </a:r>
            <a:r>
              <a:rPr lang="en-US" dirty="0"/>
              <a:t>predicate logic </a:t>
            </a:r>
            <a:br>
              <a:rPr lang="en-US" dirty="0"/>
            </a:br>
            <a:r>
              <a:rPr lang="en-US" dirty="0"/>
              <a:t>(also called the predicate calculus)</a:t>
            </a:r>
          </a:p>
          <a:p>
            <a:pPr lvl="1"/>
            <a:endParaRPr lang="th-TH" dirty="0"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/>
          <a:lstStyle/>
          <a:p>
            <a:r>
              <a:rPr lang="en-US" sz="3600" dirty="0">
                <a:effectLst/>
              </a:rPr>
              <a:t>Discrete </a:t>
            </a:r>
            <a:r>
              <a:rPr lang="en-US" sz="3600" dirty="0" err="1">
                <a:effectLst/>
              </a:rPr>
              <a:t>Maths</a:t>
            </a:r>
            <a:endParaRPr lang="th-TH">
              <a:effectLst/>
            </a:endParaRPr>
          </a:p>
        </p:txBody>
      </p:sp>
      <p:sp>
        <p:nvSpPr>
          <p:cNvPr id="2053" name="Rectangle 6"/>
          <p:cNvSpPr>
            <a:spLocks noChangeArrowheads="1"/>
          </p:cNvSpPr>
          <p:nvPr/>
        </p:nvSpPr>
        <p:spPr bwMode="auto">
          <a:xfrm>
            <a:off x="2546350" y="2609850"/>
            <a:ext cx="4616450" cy="643766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0488" tIns="44450" rIns="90488" bIns="44450">
            <a:spAutoFit/>
          </a:bodyPr>
          <a:lstStyle/>
          <a:p>
            <a:pPr algn="ctr"/>
            <a:r>
              <a:rPr lang="en-US" sz="3600" dirty="0"/>
              <a:t>1.3. Predicate Logic</a:t>
            </a:r>
            <a:endParaRPr lang="th-TH" sz="3600" dirty="0"/>
          </a:p>
        </p:txBody>
      </p:sp>
    </p:spTree>
    <p:extLst>
      <p:ext uri="{BB962C8B-B14F-4D97-AF65-F5344CB8AC3E}">
        <p14:creationId xmlns:p14="http://schemas.microsoft.com/office/powerpoint/2010/main" val="28250678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133600"/>
            <a:ext cx="6934200" cy="4114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Predicate Logic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Quantifiers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From English to Logic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Domain Affects Translation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Translation Examples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More Information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effectLst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76561162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sentences: </a:t>
            </a:r>
          </a:p>
          <a:p>
            <a:pPr lvl="1">
              <a:buNone/>
            </a:pPr>
            <a:r>
              <a:rPr lang="en-US" dirty="0"/>
              <a:t>“All men are mortal.”</a:t>
            </a:r>
          </a:p>
          <a:p>
            <a:pPr lvl="1">
              <a:buNone/>
            </a:pPr>
            <a:r>
              <a:rPr lang="en-US" dirty="0"/>
              <a:t>“Socrates is a man.”</a:t>
            </a:r>
          </a:p>
          <a:p>
            <a:r>
              <a:rPr lang="en-US" dirty="0"/>
              <a:t>Is Socrates mortal?</a:t>
            </a:r>
          </a:p>
          <a:p>
            <a:endParaRPr lang="en-US" dirty="0"/>
          </a:p>
          <a:p>
            <a:r>
              <a:rPr lang="en-US" dirty="0"/>
              <a:t>These sentences and question cannot be represented in propositional logic. </a:t>
            </a:r>
          </a:p>
          <a:p>
            <a:r>
              <a:rPr lang="en-US" dirty="0"/>
              <a:t>We need a logic that talks about objects (things), their properties, and their 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1. Motivation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Based on prop. logic. The new features:</a:t>
            </a:r>
          </a:p>
          <a:p>
            <a:pPr lvl="1"/>
            <a:r>
              <a:rPr lang="en-US" dirty="0"/>
              <a:t>Variables:   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</a:p>
          <a:p>
            <a:pPr lvl="1"/>
            <a:r>
              <a:rPr lang="en-US" dirty="0"/>
              <a:t>Predicates:</a:t>
            </a:r>
            <a:r>
              <a:rPr lang="en-US" i="1" dirty="0"/>
              <a:t>  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), </a:t>
            </a:r>
            <a:r>
              <a:rPr lang="en-US" i="1" dirty="0"/>
              <a:t>M</a:t>
            </a:r>
            <a:r>
              <a:rPr lang="en-US" dirty="0"/>
              <a:t>(</a:t>
            </a:r>
            <a:r>
              <a:rPr lang="en-US" i="1" dirty="0"/>
              <a:t>x, y</a:t>
            </a:r>
            <a:r>
              <a:rPr lang="en-US" dirty="0"/>
              <a:t>), etc.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a bit like functions</a:t>
            </a:r>
          </a:p>
          <a:p>
            <a:pPr lvl="1"/>
            <a:r>
              <a:rPr lang="en-US" dirty="0"/>
              <a:t>Two quantifiers (</a:t>
            </a:r>
            <a:r>
              <a:rPr lang="en-US" dirty="0">
                <a:sym typeface="Symbol"/>
              </a:rPr>
              <a:t>,  </a:t>
            </a:r>
            <a:r>
              <a:rPr lang="en-US" dirty="0"/>
              <a:t>to be covered in a few slides)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Predicates can be used to represent properties and 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Predicate </a:t>
            </a:r>
            <a:r>
              <a:rPr lang="en-US" dirty="0"/>
              <a:t>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821" y="2514600"/>
            <a:ext cx="8229600" cy="2331720"/>
          </a:xfrm>
        </p:spPr>
        <p:txBody>
          <a:bodyPr>
            <a:normAutofit/>
          </a:bodyPr>
          <a:lstStyle/>
          <a:p>
            <a:r>
              <a:rPr lang="en-US" dirty="0"/>
              <a:t>Let</a:t>
            </a:r>
            <a:r>
              <a:rPr lang="en-US" i="1" dirty="0"/>
              <a:t> P(x)</a:t>
            </a:r>
            <a:r>
              <a:rPr lang="en-US" dirty="0"/>
              <a:t> mean “</a:t>
            </a:r>
            <a:r>
              <a:rPr lang="en-US" i="1" dirty="0"/>
              <a:t>x</a:t>
            </a:r>
            <a:r>
              <a:rPr lang="en-US" dirty="0"/>
              <a:t> &gt;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0”</a:t>
            </a:r>
            <a:r>
              <a:rPr lang="en-US" dirty="0"/>
              <a:t> for integers. Then:</a:t>
            </a:r>
          </a:p>
          <a:p>
            <a:pPr marL="850392" lvl="1" indent="-457200">
              <a:buNone/>
            </a:pPr>
            <a:r>
              <a:rPr lang="en-US" dirty="0"/>
              <a:t>P(-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 is false		P(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) is false</a:t>
            </a:r>
          </a:p>
          <a:p>
            <a:pPr marL="850392" lvl="1" indent="-457200">
              <a:buNone/>
            </a:pPr>
            <a:r>
              <a:rPr lang="en-US" dirty="0"/>
              <a:t>P(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 is true		             P(5) is 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Predicate as a Property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“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z” </a:t>
            </a:r>
            <a:r>
              <a:rPr lang="en-US" dirty="0"/>
              <a:t>be </a:t>
            </a:r>
            <a:r>
              <a:rPr lang="en-US" i="1" dirty="0"/>
              <a:t>R</a:t>
            </a:r>
            <a:r>
              <a:rPr lang="en-US" dirty="0"/>
              <a:t>(</a:t>
            </a:r>
            <a:r>
              <a:rPr lang="en-US" i="1" dirty="0"/>
              <a:t>x, y, z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U</a:t>
            </a:r>
            <a:r>
              <a:rPr lang="en-US" dirty="0"/>
              <a:t> be the integers:</a:t>
            </a:r>
            <a:r>
              <a:rPr lang="en-US" i="1" dirty="0"/>
              <a:t> </a:t>
            </a:r>
            <a:endParaRPr lang="en-US" dirty="0"/>
          </a:p>
          <a:p>
            <a:pPr lvl="1">
              <a:buNone/>
            </a:pPr>
            <a:r>
              <a:rPr lang="en-US" dirty="0"/>
              <a:t>R(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2,-1</a:t>
            </a:r>
            <a:r>
              <a:rPr lang="en-US" dirty="0"/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)	is false</a:t>
            </a:r>
          </a:p>
          <a:p>
            <a:pPr lvl="1">
              <a:buNone/>
            </a:pPr>
            <a:r>
              <a:rPr lang="en-US" dirty="0"/>
              <a:t>R(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3,4,7</a:t>
            </a:r>
            <a:r>
              <a:rPr lang="en-US" dirty="0"/>
              <a:t>)	is true</a:t>
            </a:r>
          </a:p>
          <a:p>
            <a:pPr lvl="1">
              <a:buNone/>
            </a:pPr>
            <a:r>
              <a:rPr lang="en-US" dirty="0"/>
              <a:t>R(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	</a:t>
            </a:r>
            <a:r>
              <a:rPr lang="en-US" b="1" dirty="0"/>
              <a:t>invalid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no </a:t>
            </a:r>
            <a:r>
              <a:rPr lang="en-US" i="1" dirty="0">
                <a:solidFill>
                  <a:srgbClr val="FF0000"/>
                </a:solidFill>
              </a:rPr>
              <a:t>unbound</a:t>
            </a:r>
            <a:r>
              <a:rPr lang="en-US" dirty="0">
                <a:solidFill>
                  <a:srgbClr val="FF0000"/>
                </a:solidFill>
              </a:rPr>
              <a:t> variables allowed</a:t>
            </a:r>
            <a:r>
              <a:rPr lang="en-US" dirty="0"/>
              <a:t>)</a:t>
            </a:r>
          </a:p>
          <a:p>
            <a:pPr lvl="1">
              <a:buNone/>
            </a:pPr>
            <a:endParaRPr lang="en-US" b="1" dirty="0"/>
          </a:p>
          <a:p>
            <a:r>
              <a:rPr lang="en-US" dirty="0"/>
              <a:t>Let  “</a:t>
            </a:r>
            <a:r>
              <a:rPr lang="en-US" i="1" dirty="0"/>
              <a:t>x</a:t>
            </a:r>
            <a:r>
              <a:rPr lang="en-US" dirty="0"/>
              <a:t> -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z” </a:t>
            </a:r>
            <a:r>
              <a:rPr lang="en-US" dirty="0"/>
              <a:t>be </a:t>
            </a:r>
            <a:r>
              <a:rPr lang="en-US" i="1" dirty="0"/>
              <a:t>Q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), with U as the integers:</a:t>
            </a:r>
          </a:p>
          <a:p>
            <a:pPr lvl="1">
              <a:buNone/>
            </a:pPr>
            <a:r>
              <a:rPr lang="en-US" dirty="0"/>
              <a:t>Q(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2,-1,3</a:t>
            </a:r>
            <a:r>
              <a:rPr lang="en-US" dirty="0"/>
              <a:t>)	is true</a:t>
            </a:r>
          </a:p>
          <a:p>
            <a:pPr lvl="1">
              <a:buNone/>
            </a:pPr>
            <a:r>
              <a:rPr lang="en-US" dirty="0"/>
              <a:t>Q(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3,4,7</a:t>
            </a:r>
            <a:r>
              <a:rPr lang="en-US" dirty="0"/>
              <a:t>)	is false</a:t>
            </a:r>
          </a:p>
          <a:p>
            <a:pPr lvl="1">
              <a:buNone/>
            </a:pPr>
            <a:r>
              <a:rPr lang="en-US" dirty="0"/>
              <a:t>Q(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	</a:t>
            </a:r>
            <a:r>
              <a:rPr lang="en-US" b="1" dirty="0"/>
              <a:t>invalid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 Predicate as a Relation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47D2EB-29BE-5945-B47D-87B1DE1E2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proposition function Q(</a:t>
            </a:r>
            <a:r>
              <a:rPr lang="en-US" dirty="0" err="1"/>
              <a:t>x,y,z</a:t>
            </a:r>
            <a:r>
              <a:rPr lang="en-US" dirty="0"/>
              <a:t>) defined by: </a:t>
            </a:r>
          </a:p>
          <a:p>
            <a:pPr marL="0" indent="0">
              <a:buNone/>
            </a:pPr>
            <a:r>
              <a:rPr lang="en-US" dirty="0" err="1"/>
              <a:t>X+y</a:t>
            </a:r>
            <a:r>
              <a:rPr lang="en-US" dirty="0"/>
              <a:t>=z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truth value of Q(2,3,5)?</a:t>
            </a:r>
          </a:p>
          <a:p>
            <a:pPr marL="0" indent="0">
              <a:buNone/>
            </a:pPr>
            <a:r>
              <a:rPr lang="en-US" dirty="0"/>
              <a:t>What is the truth value of Q(0,1,2)?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B54813-4F2B-CC4D-A93C-71305724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895481-B357-CE48-A0F3-C36F5542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2578144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All the operators from prop logic can be used in predicate logic (i.e.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, </a:t>
            </a:r>
            <a:r>
              <a:rPr lang="en-US" dirty="0">
                <a:sym typeface="Symbol"/>
              </a:rPr>
              <a:t>, , )</a:t>
            </a:r>
            <a:r>
              <a:rPr lang="en-US" dirty="0"/>
              <a:t> </a:t>
            </a:r>
          </a:p>
          <a:p>
            <a:r>
              <a:rPr lang="en-US" dirty="0"/>
              <a:t>e.g. let </a:t>
            </a:r>
            <a:r>
              <a:rPr lang="en-US" i="1" dirty="0"/>
              <a:t>P(x)</a:t>
            </a:r>
            <a:r>
              <a:rPr lang="en-US" dirty="0"/>
              <a:t> be “</a:t>
            </a:r>
            <a:r>
              <a:rPr lang="en-US" i="1" dirty="0"/>
              <a:t>x</a:t>
            </a:r>
            <a:r>
              <a:rPr lang="en-US" dirty="0"/>
              <a:t> &gt;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0”</a:t>
            </a:r>
            <a:r>
              <a:rPr lang="en-US" dirty="0"/>
              <a:t> Then:</a:t>
            </a:r>
          </a:p>
          <a:p>
            <a:pPr lvl="1">
              <a:buNone/>
            </a:pPr>
            <a:r>
              <a:rPr lang="en-US" dirty="0"/>
              <a:t>P(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 </a:t>
            </a:r>
            <a:r>
              <a:rPr lang="en-US" dirty="0">
                <a:latin typeface="Cambria Math"/>
                <a:ea typeface="Cambria Math"/>
              </a:rPr>
              <a:t>∨ P(-1)      is true</a:t>
            </a:r>
          </a:p>
          <a:p>
            <a:pPr lvl="1">
              <a:buNone/>
            </a:pPr>
            <a:r>
              <a:rPr lang="en-US" dirty="0"/>
              <a:t>P(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 </a:t>
            </a:r>
            <a:r>
              <a:rPr lang="en-US" dirty="0">
                <a:latin typeface="Cambria Math"/>
                <a:ea typeface="Cambria Math"/>
              </a:rPr>
              <a:t>∧ P(-1)      is false</a:t>
            </a:r>
          </a:p>
          <a:p>
            <a:pPr lvl="1">
              <a:buNone/>
            </a:pPr>
            <a:r>
              <a:rPr lang="en-US" dirty="0"/>
              <a:t>P(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 </a:t>
            </a:r>
            <a:r>
              <a:rPr lang="en-US" dirty="0">
                <a:latin typeface="Cambria Math"/>
                <a:ea typeface="Cambria Math"/>
              </a:rPr>
              <a:t>→ P(1)      is true</a:t>
            </a:r>
          </a:p>
          <a:p>
            <a:pPr lvl="1">
              <a:buNone/>
            </a:pPr>
            <a:r>
              <a:rPr lang="en-US" dirty="0"/>
              <a:t>P(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 </a:t>
            </a:r>
            <a:r>
              <a:rPr lang="en-US" dirty="0">
                <a:latin typeface="Cambria Math"/>
                <a:ea typeface="Cambria Math"/>
              </a:rPr>
              <a:t>→ P(-1)     is false</a:t>
            </a:r>
          </a:p>
          <a:p>
            <a:pPr lvl="1">
              <a:buNone/>
            </a:pPr>
            <a:endParaRPr lang="en-US" dirty="0"/>
          </a:p>
          <a:p>
            <a:r>
              <a:rPr lang="en-US" dirty="0"/>
              <a:t>Invalid, since </a:t>
            </a:r>
            <a:r>
              <a:rPr lang="en-US" i="1" dirty="0"/>
              <a:t>unbound</a:t>
            </a:r>
            <a:r>
              <a:rPr lang="en-US" dirty="0"/>
              <a:t> variables are not allowed:</a:t>
            </a:r>
          </a:p>
          <a:p>
            <a:pPr lvl="1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P(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mbria Math"/>
                <a:ea typeface="Cambria Math"/>
              </a:rPr>
              <a:t>∧ P(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latin typeface="Cambria Math"/>
                <a:ea typeface="Cambria Math"/>
              </a:rPr>
              <a:t>y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mbria Math"/>
                <a:ea typeface="Cambria Math"/>
              </a:rPr>
              <a:t>)      </a:t>
            </a:r>
          </a:p>
          <a:p>
            <a:pPr lvl="1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P(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x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mbria Math"/>
                <a:ea typeface="Cambria Math"/>
              </a:rPr>
              <a:t>→ P(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latin typeface="Cambria Math"/>
                <a:ea typeface="Cambria Math"/>
              </a:rPr>
              <a:t>y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mbria Math"/>
                <a:ea typeface="Cambria Math"/>
              </a:rPr>
              <a:t>) 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Expressions</a:t>
            </a:r>
          </a:p>
        </p:txBody>
      </p:sp>
      <p:pic>
        <p:nvPicPr>
          <p:cNvPr id="5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52400"/>
            <a:ext cx="1753586" cy="144780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Straight Arrow Connector 6"/>
          <p:cNvCxnSpPr/>
          <p:nvPr/>
        </p:nvCxnSpPr>
        <p:spPr>
          <a:xfrm flipV="1">
            <a:off x="3581400" y="609600"/>
            <a:ext cx="3581400" cy="3352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657600" y="914400"/>
            <a:ext cx="3505200" cy="3352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114800"/>
          </a:xfrm>
        </p:spPr>
        <p:txBody>
          <a:bodyPr>
            <a:normAutofit/>
          </a:bodyPr>
          <a:lstStyle/>
          <a:p>
            <a:r>
              <a:rPr lang="en-US" dirty="0"/>
              <a:t>We use </a:t>
            </a:r>
            <a:r>
              <a:rPr lang="en-US" i="1" dirty="0"/>
              <a:t>quantifiers</a:t>
            </a:r>
            <a:r>
              <a:rPr lang="en-US" dirty="0"/>
              <a:t> to 'bind' variables in expressions:</a:t>
            </a:r>
          </a:p>
          <a:p>
            <a:pPr lvl="1"/>
            <a:endParaRPr lang="en-US" dirty="0"/>
          </a:p>
          <a:p>
            <a:r>
              <a:rPr lang="en-US" dirty="0"/>
              <a:t>Two quantifiers:</a:t>
            </a:r>
          </a:p>
          <a:p>
            <a:pPr lvl="1"/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Universal Quantifier</a:t>
            </a: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Symbol"/>
              </a:rPr>
              <a:t>“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all,” symbol: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Symbol"/>
              </a:rPr>
              <a:t></a:t>
            </a:r>
          </a:p>
          <a:p>
            <a:pPr lvl="2"/>
            <a:r>
              <a:rPr lang="en-US" dirty="0">
                <a:solidFill>
                  <a:srgbClr val="FF0000"/>
                </a:solidFill>
                <a:sym typeface="Symbol"/>
              </a:rPr>
              <a:t>English: every, all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b="1" i="1" dirty="0">
                <a:solidFill>
                  <a:srgbClr val="00B050"/>
                </a:solidFill>
              </a:rPr>
              <a:t>Existential Quantifier</a:t>
            </a:r>
            <a:r>
              <a:rPr lang="en-US" dirty="0">
                <a:solidFill>
                  <a:srgbClr val="00B050"/>
                </a:solidFill>
              </a:rPr>
              <a:t>, “There exists,” symbol: </a:t>
            </a:r>
            <a:r>
              <a:rPr lang="en-US" sz="2800" b="1" dirty="0">
                <a:solidFill>
                  <a:srgbClr val="00B050"/>
                </a:solidFill>
                <a:sym typeface="Symbol"/>
              </a:rPr>
              <a:t></a:t>
            </a:r>
          </a:p>
          <a:p>
            <a:pPr lvl="2"/>
            <a:r>
              <a:rPr lang="en-US" dirty="0">
                <a:solidFill>
                  <a:srgbClr val="FF0000"/>
                </a:solidFill>
                <a:sym typeface="Symbol"/>
              </a:rPr>
              <a:t>English: some, at least one </a:t>
            </a:r>
          </a:p>
          <a:p>
            <a:pPr lvl="2">
              <a:buNone/>
            </a:pPr>
            <a:endParaRPr lang="en-US" dirty="0"/>
          </a:p>
          <a:p>
            <a:pPr lvl="2"/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Quantifiers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919913" y="6310313"/>
            <a:ext cx="149092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th-TH" sz="2400" i="1">
                <a:solidFill>
                  <a:schemeClr val="tx2"/>
                </a:solidFill>
              </a:rPr>
              <a:t>continued</a:t>
            </a:r>
            <a:endParaRPr lang="th-TH" i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915400" cy="3877815"/>
          </a:xfrm>
        </p:spPr>
        <p:txBody>
          <a:bodyPr>
            <a:noAutofit/>
          </a:bodyPr>
          <a:lstStyle/>
          <a:p>
            <a:pPr marL="274320" lvl="1" indent="-274320" algn="just">
              <a:buClr>
                <a:schemeClr val="accent3"/>
              </a:buClr>
              <a:buSzPct val="95000"/>
            </a:pPr>
            <a:r>
              <a:rPr lang="en-US" sz="2800" dirty="0">
                <a:solidFill>
                  <a:schemeClr val="tx1"/>
                </a:solidFill>
                <a:sym typeface="Symbol"/>
              </a:rPr>
              <a:t></a:t>
            </a:r>
            <a:r>
              <a:rPr lang="en-US" sz="2800" i="1" dirty="0">
                <a:solidFill>
                  <a:schemeClr val="tx1"/>
                </a:solidFill>
                <a:sym typeface="Symbol"/>
              </a:rPr>
              <a:t>x P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(</a:t>
            </a:r>
            <a:r>
              <a:rPr lang="en-US" sz="2800" i="1" dirty="0">
                <a:solidFill>
                  <a:schemeClr val="tx1"/>
                </a:solidFill>
                <a:sym typeface="Symbol"/>
              </a:rPr>
              <a:t>x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)</a:t>
            </a:r>
            <a:r>
              <a:rPr lang="en-US" sz="2800" i="1" dirty="0">
                <a:solidFill>
                  <a:schemeClr val="tx1"/>
                </a:solidFill>
              </a:rPr>
              <a:t>  </a:t>
            </a:r>
            <a:r>
              <a:rPr lang="en-US" sz="2800" dirty="0">
                <a:solidFill>
                  <a:schemeClr val="tx1"/>
                </a:solidFill>
              </a:rPr>
              <a:t>is read as </a:t>
            </a:r>
            <a:r>
              <a:rPr lang="en-US" sz="2800" i="1" dirty="0">
                <a:solidFill>
                  <a:schemeClr val="tx1"/>
                </a:solidFill>
              </a:rPr>
              <a:t>“</a:t>
            </a:r>
            <a:r>
              <a:rPr lang="en-US" sz="2800" dirty="0">
                <a:solidFill>
                  <a:schemeClr val="tx1"/>
                </a:solidFill>
              </a:rPr>
              <a:t>For all </a:t>
            </a:r>
            <a:r>
              <a:rPr lang="en-US" sz="2800" i="1" dirty="0">
                <a:solidFill>
                  <a:schemeClr val="tx1"/>
                </a:solidFill>
              </a:rPr>
              <a:t>x</a:t>
            </a:r>
            <a:r>
              <a:rPr lang="en-US" sz="2800" dirty="0">
                <a:solidFill>
                  <a:schemeClr val="tx1"/>
                </a:solidFill>
              </a:rPr>
              <a:t>, P(</a:t>
            </a:r>
            <a:r>
              <a:rPr lang="en-US" sz="2800" i="1" dirty="0">
                <a:solidFill>
                  <a:schemeClr val="tx1"/>
                </a:solidFill>
              </a:rPr>
              <a:t>x</a:t>
            </a:r>
            <a:r>
              <a:rPr lang="en-US" sz="2800" dirty="0">
                <a:solidFill>
                  <a:schemeClr val="tx1"/>
                </a:solidFill>
              </a:rPr>
              <a:t>)” or “For every </a:t>
            </a:r>
            <a:r>
              <a:rPr lang="en-US" sz="2800" i="1" dirty="0">
                <a:solidFill>
                  <a:schemeClr val="tx1"/>
                </a:solidFill>
              </a:rPr>
              <a:t>x</a:t>
            </a:r>
            <a:r>
              <a:rPr lang="en-US" sz="2800" dirty="0">
                <a:solidFill>
                  <a:schemeClr val="tx1"/>
                </a:solidFill>
              </a:rPr>
              <a:t>, P(</a:t>
            </a:r>
            <a:r>
              <a:rPr lang="en-US" sz="2800" i="1" dirty="0">
                <a:solidFill>
                  <a:schemeClr val="tx1"/>
                </a:solidFill>
              </a:rPr>
              <a:t>x</a:t>
            </a:r>
            <a:r>
              <a:rPr lang="en-US" sz="2800" dirty="0">
                <a:solidFill>
                  <a:schemeClr val="tx1"/>
                </a:solidFill>
              </a:rPr>
              <a:t>)”</a:t>
            </a:r>
          </a:p>
          <a:p>
            <a:pPr algn="just"/>
            <a:r>
              <a:rPr lang="en-US" sz="3200" b="1" dirty="0">
                <a:solidFill>
                  <a:schemeClr val="tx1"/>
                </a:solidFill>
              </a:rPr>
              <a:t>Examples</a:t>
            </a:r>
            <a:r>
              <a:rPr lang="en-US" sz="3200" dirty="0">
                <a:solidFill>
                  <a:schemeClr val="tx1"/>
                </a:solidFill>
              </a:rPr>
              <a:t>:</a:t>
            </a:r>
          </a:p>
          <a:p>
            <a:pPr lvl="1" algn="just"/>
            <a:r>
              <a:rPr lang="en-US" sz="2800" i="1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If</a:t>
            </a:r>
            <a:r>
              <a:rPr lang="en-US" sz="2800" i="1" dirty="0">
                <a:solidFill>
                  <a:schemeClr val="tx1"/>
                </a:solidFill>
              </a:rPr>
              <a:t> P(x)</a:t>
            </a:r>
            <a:r>
              <a:rPr lang="en-US" sz="2800" dirty="0">
                <a:solidFill>
                  <a:schemeClr val="tx1"/>
                </a:solidFill>
              </a:rPr>
              <a:t> means “</a:t>
            </a:r>
            <a:r>
              <a:rPr lang="en-US" sz="2800" i="1" dirty="0">
                <a:solidFill>
                  <a:schemeClr val="tx1"/>
                </a:solidFill>
              </a:rPr>
              <a:t>x</a:t>
            </a:r>
            <a:r>
              <a:rPr lang="en-US" sz="2800" dirty="0">
                <a:solidFill>
                  <a:schemeClr val="tx1"/>
                </a:solidFill>
              </a:rPr>
              <a:t> &gt; </a:t>
            </a:r>
            <a:r>
              <a:rPr lang="en-US" sz="28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0” and </a:t>
            </a:r>
            <a:r>
              <a:rPr lang="en-US" sz="2800" i="1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U</a:t>
            </a:r>
            <a:r>
              <a:rPr lang="en-US" sz="28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  is the integers, then </a:t>
            </a:r>
            <a:br>
              <a:rPr lang="en-US" sz="28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</a:br>
            <a:r>
              <a:rPr lang="en-US" sz="2800" dirty="0">
                <a:solidFill>
                  <a:schemeClr val="tx1"/>
                </a:solidFill>
                <a:sym typeface="Symbol"/>
              </a:rPr>
              <a:t></a:t>
            </a:r>
            <a:r>
              <a:rPr lang="en-US" sz="2800" i="1" dirty="0">
                <a:solidFill>
                  <a:schemeClr val="tx1"/>
                </a:solidFill>
                <a:sym typeface="Symbol"/>
              </a:rPr>
              <a:t>x P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(</a:t>
            </a:r>
            <a:r>
              <a:rPr lang="en-US" sz="2800" i="1" dirty="0">
                <a:solidFill>
                  <a:schemeClr val="tx1"/>
                </a:solidFill>
                <a:sym typeface="Symbol"/>
              </a:rPr>
              <a:t>x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) is false</a:t>
            </a:r>
          </a:p>
          <a:p>
            <a:pPr lvl="1" algn="just"/>
            <a:r>
              <a:rPr lang="en-US" sz="2800" dirty="0">
                <a:solidFill>
                  <a:schemeClr val="tx1"/>
                </a:solidFill>
              </a:rPr>
              <a:t>If</a:t>
            </a:r>
            <a:r>
              <a:rPr lang="en-US" sz="2800" i="1" dirty="0">
                <a:solidFill>
                  <a:schemeClr val="tx1"/>
                </a:solidFill>
              </a:rPr>
              <a:t> P(x)</a:t>
            </a:r>
            <a:r>
              <a:rPr lang="en-US" sz="2800" dirty="0">
                <a:solidFill>
                  <a:schemeClr val="tx1"/>
                </a:solidFill>
              </a:rPr>
              <a:t> means “</a:t>
            </a:r>
            <a:r>
              <a:rPr lang="en-US" sz="2800" i="1" dirty="0">
                <a:solidFill>
                  <a:schemeClr val="tx1"/>
                </a:solidFill>
              </a:rPr>
              <a:t>x</a:t>
            </a:r>
            <a:r>
              <a:rPr lang="en-US" sz="2800" dirty="0">
                <a:solidFill>
                  <a:schemeClr val="tx1"/>
                </a:solidFill>
              </a:rPr>
              <a:t> &gt; </a:t>
            </a:r>
            <a:r>
              <a:rPr lang="en-US" sz="28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0” and </a:t>
            </a:r>
            <a:r>
              <a:rPr lang="en-US" sz="2800" i="1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U</a:t>
            </a:r>
            <a:r>
              <a:rPr lang="en-US" sz="28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+ is the positive integers, then 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</a:t>
            </a:r>
            <a:r>
              <a:rPr lang="en-US" sz="2800" i="1" dirty="0">
                <a:solidFill>
                  <a:schemeClr val="tx1"/>
                </a:solidFill>
                <a:sym typeface="Symbol"/>
              </a:rPr>
              <a:t>x P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(</a:t>
            </a:r>
            <a:r>
              <a:rPr lang="en-US" sz="2800" i="1" dirty="0">
                <a:solidFill>
                  <a:schemeClr val="tx1"/>
                </a:solidFill>
                <a:sym typeface="Symbol"/>
              </a:rPr>
              <a:t>x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) is true</a:t>
            </a:r>
          </a:p>
          <a:p>
            <a:pPr lvl="1" algn="just"/>
            <a:r>
              <a:rPr lang="en-US" sz="2800" dirty="0">
                <a:solidFill>
                  <a:schemeClr val="tx1"/>
                </a:solidFill>
              </a:rPr>
              <a:t>If</a:t>
            </a:r>
            <a:r>
              <a:rPr lang="en-US" sz="2800" i="1" dirty="0">
                <a:solidFill>
                  <a:schemeClr val="tx1"/>
                </a:solidFill>
              </a:rPr>
              <a:t> P(x)</a:t>
            </a:r>
            <a:r>
              <a:rPr lang="en-US" sz="2800" dirty="0">
                <a:solidFill>
                  <a:schemeClr val="tx1"/>
                </a:solidFill>
              </a:rPr>
              <a:t> means “</a:t>
            </a:r>
            <a:r>
              <a:rPr lang="en-US" sz="2800" i="1" dirty="0">
                <a:solidFill>
                  <a:schemeClr val="tx1"/>
                </a:solidFill>
              </a:rPr>
              <a:t>x</a:t>
            </a:r>
            <a:r>
              <a:rPr lang="en-US" sz="2800" dirty="0">
                <a:solidFill>
                  <a:schemeClr val="tx1"/>
                </a:solidFill>
              </a:rPr>
              <a:t> is even</a:t>
            </a:r>
            <a:r>
              <a:rPr lang="en-US" sz="28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” and </a:t>
            </a:r>
            <a:r>
              <a:rPr lang="en-US" sz="2800" i="1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U</a:t>
            </a:r>
            <a:r>
              <a:rPr lang="en-US" sz="28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  is the integers,  then 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</a:t>
            </a:r>
            <a:r>
              <a:rPr lang="en-US" sz="2800" i="1" dirty="0">
                <a:solidFill>
                  <a:schemeClr val="tx1"/>
                </a:solidFill>
                <a:sym typeface="Symbol"/>
              </a:rPr>
              <a:t>x P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(</a:t>
            </a:r>
            <a:r>
              <a:rPr lang="en-US" sz="2800" i="1" dirty="0">
                <a:solidFill>
                  <a:schemeClr val="tx1"/>
                </a:solidFill>
                <a:sym typeface="Symbol"/>
              </a:rPr>
              <a:t>x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) is false</a:t>
            </a:r>
          </a:p>
          <a:p>
            <a:pPr lvl="1" algn="just"/>
            <a:r>
              <a:rPr lang="en-US" sz="2800" i="1" dirty="0">
                <a:solidFill>
                  <a:schemeClr val="tx1"/>
                </a:solidFill>
              </a:rPr>
              <a:t>P(x)</a:t>
            </a:r>
            <a:r>
              <a:rPr lang="en-US" sz="2800" dirty="0">
                <a:solidFill>
                  <a:schemeClr val="tx1"/>
                </a:solidFill>
              </a:rPr>
              <a:t> means “</a:t>
            </a:r>
            <a:r>
              <a:rPr lang="en-US" sz="2800" i="1" dirty="0">
                <a:solidFill>
                  <a:schemeClr val="tx1"/>
                </a:solidFill>
              </a:rPr>
              <a:t>x</a:t>
            </a:r>
            <a:r>
              <a:rPr lang="en-US" sz="2800" dirty="0">
                <a:solidFill>
                  <a:schemeClr val="tx1"/>
                </a:solidFill>
              </a:rPr>
              <a:t> &gt; </a:t>
            </a:r>
            <a:r>
              <a:rPr lang="en-US" sz="28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0” and </a:t>
            </a:r>
            <a:r>
              <a:rPr lang="en-US" sz="2800" i="1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U</a:t>
            </a:r>
            <a:r>
              <a:rPr lang="en-US" sz="28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+ is the positive integers, then 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</a:t>
            </a:r>
            <a:r>
              <a:rPr lang="en-US" sz="2800" i="1" dirty="0">
                <a:solidFill>
                  <a:schemeClr val="tx1"/>
                </a:solidFill>
                <a:sym typeface="Symbol"/>
              </a:rPr>
              <a:t>x P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(</a:t>
            </a:r>
            <a:r>
              <a:rPr lang="en-US" sz="2800" i="1" dirty="0">
                <a:solidFill>
                  <a:schemeClr val="tx1"/>
                </a:solidFill>
                <a:sym typeface="Symbol"/>
              </a:rPr>
              <a:t>x</a:t>
            </a:r>
            <a:r>
              <a:rPr lang="en-US" sz="2800" dirty="0">
                <a:solidFill>
                  <a:schemeClr val="tx1"/>
                </a:solidFill>
                <a:sym typeface="Symbol"/>
              </a:rPr>
              <a:t>) is true</a:t>
            </a:r>
          </a:p>
          <a:p>
            <a:pPr lvl="1" algn="just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756263" cy="1054250"/>
          </a:xfrm>
        </p:spPr>
        <p:txBody>
          <a:bodyPr/>
          <a:lstStyle/>
          <a:p>
            <a:r>
              <a:rPr lang="en-US" dirty="0"/>
              <a:t>3.1. Universal Quantifier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8444753" cy="3877815"/>
          </a:xfrm>
        </p:spPr>
        <p:txBody>
          <a:bodyPr>
            <a:noAutofit/>
          </a:bodyPr>
          <a:lstStyle/>
          <a:p>
            <a:r>
              <a:rPr lang="en-US" sz="2800" dirty="0">
                <a:sym typeface="Symbol"/>
              </a:rPr>
              <a:t></a:t>
            </a:r>
            <a:r>
              <a:rPr lang="en-US" sz="2800" i="1" dirty="0">
                <a:sym typeface="Symbol"/>
              </a:rPr>
              <a:t>x P</a:t>
            </a:r>
            <a:r>
              <a:rPr lang="en-US" sz="2800" dirty="0">
                <a:sym typeface="Symbol"/>
              </a:rPr>
              <a:t>(</a:t>
            </a:r>
            <a:r>
              <a:rPr lang="en-US" sz="2800" i="1" dirty="0">
                <a:sym typeface="Symbol"/>
              </a:rPr>
              <a:t>x</a:t>
            </a:r>
            <a:r>
              <a:rPr lang="en-US" sz="2800" dirty="0">
                <a:sym typeface="Symbol"/>
              </a:rPr>
              <a:t>) is read as </a:t>
            </a:r>
            <a:r>
              <a:rPr lang="en-US" sz="2800" i="1" dirty="0"/>
              <a:t>“</a:t>
            </a:r>
            <a:r>
              <a:rPr lang="en-US" sz="2800" dirty="0"/>
              <a:t>For some </a:t>
            </a:r>
            <a:r>
              <a:rPr lang="en-US" sz="2800" i="1" dirty="0"/>
              <a:t>x</a:t>
            </a:r>
            <a:r>
              <a:rPr lang="en-US" sz="2800" dirty="0"/>
              <a:t>, P(</a:t>
            </a:r>
            <a:r>
              <a:rPr lang="en-US" sz="2800" i="1" dirty="0"/>
              <a:t>x</a:t>
            </a:r>
            <a:r>
              <a:rPr lang="en-US" sz="2800" dirty="0"/>
              <a:t>)”,  or “There is an </a:t>
            </a:r>
            <a:r>
              <a:rPr lang="en-US" sz="2800" i="1" dirty="0"/>
              <a:t>x</a:t>
            </a:r>
            <a:r>
              <a:rPr lang="en-US" sz="2800" dirty="0"/>
              <a:t> such that P(</a:t>
            </a:r>
            <a:r>
              <a:rPr lang="en-US" sz="2800" i="1" dirty="0"/>
              <a:t>x</a:t>
            </a:r>
            <a:r>
              <a:rPr lang="en-US" sz="2800" dirty="0"/>
              <a:t>),”  or “For at least one </a:t>
            </a:r>
            <a:r>
              <a:rPr lang="en-US" sz="2800" i="1" dirty="0"/>
              <a:t>x</a:t>
            </a:r>
            <a:r>
              <a:rPr lang="en-US" sz="2800" dirty="0"/>
              <a:t>, P(</a:t>
            </a:r>
            <a:r>
              <a:rPr lang="en-US" sz="2800" i="1" dirty="0"/>
              <a:t>x</a:t>
            </a:r>
            <a:r>
              <a:rPr lang="en-US" sz="2800" dirty="0"/>
              <a:t>).” </a:t>
            </a:r>
          </a:p>
          <a:p>
            <a:r>
              <a:rPr lang="en-US" sz="2800" b="1" dirty="0"/>
              <a:t>Examples</a:t>
            </a:r>
            <a:r>
              <a:rPr lang="en-US" sz="2800" dirty="0"/>
              <a:t>:</a:t>
            </a:r>
          </a:p>
          <a:p>
            <a:pPr lvl="1"/>
            <a:r>
              <a:rPr lang="en-US" sz="2400" i="1" dirty="0"/>
              <a:t> </a:t>
            </a:r>
            <a:r>
              <a:rPr lang="en-US" sz="2400" dirty="0"/>
              <a:t>If</a:t>
            </a:r>
            <a:r>
              <a:rPr lang="en-US" sz="2400" i="1" dirty="0"/>
              <a:t> P(x)</a:t>
            </a:r>
            <a:r>
              <a:rPr lang="en-US" sz="2400" dirty="0"/>
              <a:t> means “</a:t>
            </a:r>
            <a:r>
              <a:rPr lang="en-US" sz="2400" i="1" dirty="0"/>
              <a:t>x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0” and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U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 is the integers, then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sz="2400" i="1" dirty="0">
                <a:sym typeface="Symbol"/>
              </a:rPr>
              <a:t>x P</a:t>
            </a:r>
            <a:r>
              <a:rPr lang="en-US" sz="2400" dirty="0">
                <a:sym typeface="Symbol"/>
              </a:rPr>
              <a:t>(</a:t>
            </a:r>
            <a:r>
              <a:rPr lang="en-US" sz="2400" i="1" dirty="0">
                <a:sym typeface="Symbol"/>
              </a:rPr>
              <a:t>x</a:t>
            </a:r>
            <a:r>
              <a:rPr lang="en-US" sz="2400" dirty="0">
                <a:sym typeface="Symbol"/>
              </a:rPr>
              <a:t>) is true.</a:t>
            </a:r>
          </a:p>
          <a:p>
            <a:pPr lvl="1"/>
            <a:r>
              <a:rPr lang="en-US" sz="2400" dirty="0"/>
              <a:t>If</a:t>
            </a:r>
            <a:r>
              <a:rPr lang="en-US" sz="2400" i="1" dirty="0"/>
              <a:t> P(x)</a:t>
            </a:r>
            <a:r>
              <a:rPr lang="en-US" sz="2400" dirty="0"/>
              <a:t> means “</a:t>
            </a:r>
            <a:r>
              <a:rPr lang="en-US" sz="2400" i="1" dirty="0"/>
              <a:t>x</a:t>
            </a:r>
            <a:r>
              <a:rPr lang="en-US" sz="2400" dirty="0"/>
              <a:t> &lt;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0” and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U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+ is the positive integers,  then    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sz="2400" i="1" dirty="0">
                <a:sym typeface="Symbol"/>
              </a:rPr>
              <a:t>x P</a:t>
            </a:r>
            <a:r>
              <a:rPr lang="en-US" sz="2400" dirty="0">
                <a:sym typeface="Symbol"/>
              </a:rPr>
              <a:t>(</a:t>
            </a:r>
            <a:r>
              <a:rPr lang="en-US" sz="2400" i="1" dirty="0">
                <a:sym typeface="Symbol"/>
              </a:rPr>
              <a:t>x</a:t>
            </a:r>
            <a:r>
              <a:rPr lang="en-US" sz="2400" dirty="0">
                <a:sym typeface="Symbol"/>
              </a:rPr>
              <a:t>) is false</a:t>
            </a:r>
          </a:p>
          <a:p>
            <a:pPr lvl="1"/>
            <a:r>
              <a:rPr lang="en-US" sz="2400" dirty="0"/>
              <a:t>If</a:t>
            </a:r>
            <a:r>
              <a:rPr lang="en-US" sz="2400" i="1" dirty="0"/>
              <a:t> P(x)</a:t>
            </a:r>
            <a:r>
              <a:rPr lang="en-US" sz="2400" dirty="0"/>
              <a:t> means “</a:t>
            </a:r>
            <a:r>
              <a:rPr lang="en-US" sz="2400" i="1" dirty="0"/>
              <a:t>x</a:t>
            </a:r>
            <a:r>
              <a:rPr lang="en-US" sz="2400" dirty="0"/>
              <a:t> is even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” and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U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 is the integers,  then</a:t>
            </a:r>
            <a:br>
              <a:rPr lang="en-US" sz="2400" dirty="0">
                <a:latin typeface="Cambria Math" pitchFamily="18" charset="0"/>
                <a:ea typeface="Cambria Math" pitchFamily="18" charset="0"/>
              </a:rPr>
            </a:br>
            <a:r>
              <a:rPr lang="en-US" sz="2400" dirty="0"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sz="2400" i="1" dirty="0">
                <a:sym typeface="Symbol"/>
              </a:rPr>
              <a:t>x P</a:t>
            </a:r>
            <a:r>
              <a:rPr lang="en-US" sz="2400" dirty="0">
                <a:sym typeface="Symbol"/>
              </a:rPr>
              <a:t>(</a:t>
            </a:r>
            <a:r>
              <a:rPr lang="en-US" sz="2400" i="1" dirty="0">
                <a:sym typeface="Symbol"/>
              </a:rPr>
              <a:t>x</a:t>
            </a:r>
            <a:r>
              <a:rPr lang="en-US" sz="2400" dirty="0">
                <a:sym typeface="Symbol"/>
              </a:rPr>
              <a:t>) is true.</a:t>
            </a:r>
          </a:p>
          <a:p>
            <a:pPr lvl="2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3.2. Existential </a:t>
            </a:r>
            <a:r>
              <a:rPr lang="en-US" dirty="0"/>
              <a:t>Quantifier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905000"/>
            <a:ext cx="8229600" cy="3505200"/>
          </a:xfrm>
        </p:spPr>
        <p:txBody>
          <a:bodyPr>
            <a:normAutofit/>
          </a:bodyPr>
          <a:lstStyle/>
          <a:p>
            <a:r>
              <a:rPr lang="en-US" dirty="0"/>
              <a:t>The rules for negating quantifiers are: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The table shows that: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458200" cy="914400"/>
          </a:xfrm>
        </p:spPr>
        <p:txBody>
          <a:bodyPr>
            <a:normAutofit fontScale="90000"/>
          </a:bodyPr>
          <a:lstStyle/>
          <a:p>
            <a:r>
              <a:rPr lang="en-US" sz="4400"/>
              <a:t>3.3. De </a:t>
            </a:r>
            <a:r>
              <a:rPr lang="en-US" sz="4400" dirty="0"/>
              <a:t>Morgan’s Laws for Quantifiers</a:t>
            </a:r>
          </a:p>
        </p:txBody>
      </p:sp>
      <p:pic>
        <p:nvPicPr>
          <p:cNvPr id="4" name="Picture 3" descr="table20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0259" y="2494786"/>
            <a:ext cx="8815141" cy="2133601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283142" y="5827394"/>
            <a:ext cx="3431858" cy="382905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283142" y="6474713"/>
            <a:ext cx="3431858" cy="3829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17536" y="2209800"/>
            <a:ext cx="7745505" cy="441121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All S(x) is P(x) </a:t>
            </a:r>
          </a:p>
          <a:p>
            <a:r>
              <a:rPr lang="en-US" b="1" dirty="0">
                <a:solidFill>
                  <a:schemeClr val="tx1"/>
                </a:solidFill>
                <a:sym typeface="Symbol"/>
              </a:rPr>
              <a:t> </a:t>
            </a:r>
            <a:r>
              <a:rPr lang="en-US" b="1" i="1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 </a:t>
            </a:r>
            <a:r>
              <a:rPr lang="en-US" b="1" dirty="0">
                <a:solidFill>
                  <a:schemeClr val="tx1"/>
                </a:solidFill>
              </a:rPr>
              <a:t>x ( S(x)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b="1" dirty="0">
                <a:solidFill>
                  <a:schemeClr val="tx1"/>
                </a:solidFill>
              </a:rPr>
              <a:t> P(x) )  </a:t>
            </a:r>
          </a:p>
          <a:p>
            <a:r>
              <a:rPr lang="en-US" b="1" dirty="0">
                <a:solidFill>
                  <a:schemeClr val="tx1"/>
                </a:solidFill>
              </a:rPr>
              <a:t>No S(x) is P(x) </a:t>
            </a:r>
          </a:p>
          <a:p>
            <a:r>
              <a:rPr lang="en-US" b="1" i="1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 </a:t>
            </a:r>
            <a:r>
              <a:rPr lang="en-US" b="1" dirty="0">
                <a:solidFill>
                  <a:schemeClr val="tx1"/>
                </a:solidFill>
              </a:rPr>
              <a:t>x( S(x)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b="1" dirty="0">
                <a:solidFill>
                  <a:schemeClr val="tx1"/>
                </a:solidFill>
              </a:rPr>
              <a:t> ¬P(x) 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Some S(x) is P(x) </a:t>
            </a:r>
          </a:p>
          <a:p>
            <a:r>
              <a:rPr lang="en-US" b="1" dirty="0">
                <a:solidFill>
                  <a:schemeClr val="tx1"/>
                </a:solidFill>
                <a:sym typeface="Symbol"/>
              </a:rPr>
              <a:t>   </a:t>
            </a:r>
            <a:r>
              <a:rPr lang="en-US" b="1" dirty="0">
                <a:solidFill>
                  <a:schemeClr val="tx1"/>
                </a:solidFill>
              </a:rPr>
              <a:t>x (S(x) </a:t>
            </a:r>
            <a:r>
              <a:rPr lang="en-US" b="1" dirty="0">
                <a:solidFill>
                  <a:schemeClr val="tx1"/>
                </a:solidFill>
                <a:latin typeface="Cambria Math"/>
                <a:ea typeface="Cambria Math"/>
                <a:sym typeface="Symbol"/>
              </a:rPr>
              <a:t>∧</a:t>
            </a:r>
            <a:r>
              <a:rPr lang="en-US" b="1" dirty="0">
                <a:solidFill>
                  <a:schemeClr val="tx1"/>
                </a:solidFill>
              </a:rPr>
              <a:t> P(x) )</a:t>
            </a:r>
          </a:p>
          <a:p>
            <a:r>
              <a:rPr lang="en-US" b="1" dirty="0">
                <a:solidFill>
                  <a:schemeClr val="tx1"/>
                </a:solidFill>
              </a:rPr>
              <a:t> • Some S(x) is not P(x) </a:t>
            </a:r>
          </a:p>
          <a:p>
            <a:r>
              <a:rPr lang="en-US" b="1" dirty="0">
                <a:solidFill>
                  <a:schemeClr val="tx1"/>
                </a:solidFill>
                <a:sym typeface="Symbol"/>
              </a:rPr>
              <a:t>  </a:t>
            </a:r>
            <a:r>
              <a:rPr lang="en-US" b="1" dirty="0">
                <a:solidFill>
                  <a:schemeClr val="tx1"/>
                </a:solidFill>
              </a:rPr>
              <a:t>x (S(x) </a:t>
            </a:r>
            <a:r>
              <a:rPr lang="en-US" b="1" dirty="0">
                <a:solidFill>
                  <a:schemeClr val="tx1"/>
                </a:solidFill>
                <a:latin typeface="Cambria Math"/>
                <a:ea typeface="Cambria Math"/>
                <a:sym typeface="Symbol"/>
              </a:rPr>
              <a:t>∧</a:t>
            </a:r>
            <a:r>
              <a:rPr lang="en-US" b="1" i="1" dirty="0">
                <a:solidFill>
                  <a:schemeClr val="tx1"/>
                </a:solidFill>
                <a:latin typeface="Cambria Math"/>
                <a:ea typeface="Cambria Math"/>
                <a:sym typeface="Symbol"/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¬P(x))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</a:t>
            </a:r>
          </a:p>
        </p:txBody>
      </p:sp>
    </p:spTree>
    <p:extLst>
      <p:ext uri="{BB962C8B-B14F-4D97-AF65-F5344CB8AC3E}">
        <p14:creationId xmlns:p14="http://schemas.microsoft.com/office/powerpoint/2010/main" val="2708312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4653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translation of English to predicate logic is difficult because we now have quantifiers (</a:t>
            </a:r>
            <a:r>
              <a:rPr lang="en-US" dirty="0">
                <a:sym typeface="Symbol"/>
              </a:rPr>
              <a:t> and </a:t>
            </a:r>
            <a:r>
              <a:rPr lang="en-US" dirty="0"/>
              <a:t>).</a:t>
            </a:r>
          </a:p>
          <a:p>
            <a:r>
              <a:rPr lang="en-US" dirty="0"/>
              <a:t>There are special translations for sentences using: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all-are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all-and-are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some-are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no-are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some-are-not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not-all-are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all-are-not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only-are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From English to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7361" y="4258270"/>
            <a:ext cx="1912639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these two are the </a:t>
            </a:r>
          </a:p>
          <a:p>
            <a:r>
              <a:rPr lang="en-US"/>
              <a:t>most important</a:t>
            </a:r>
          </a:p>
          <a:p>
            <a:r>
              <a:rPr lang="en-US"/>
              <a:t>to </a:t>
            </a:r>
            <a:r>
              <a:rPr lang="en-US" b="1"/>
              <a:t>memorize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 flipV="1">
            <a:off x="2438400" y="3352800"/>
            <a:ext cx="3268961" cy="1367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1"/>
          </p:cNvCxnSpPr>
          <p:nvPr/>
        </p:nvCxnSpPr>
        <p:spPr>
          <a:xfrm flipH="1" flipV="1">
            <a:off x="2743200" y="4193232"/>
            <a:ext cx="2964161" cy="526703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Brace 5"/>
          <p:cNvSpPr/>
          <p:nvPr/>
        </p:nvSpPr>
        <p:spPr>
          <a:xfrm>
            <a:off x="3196974" y="4419600"/>
            <a:ext cx="609600" cy="6835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730374" y="4456837"/>
            <a:ext cx="1169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variations</a:t>
            </a:r>
          </a:p>
          <a:p>
            <a:r>
              <a:rPr lang="en-US" dirty="0"/>
              <a:t>of 4.3</a:t>
            </a:r>
          </a:p>
        </p:txBody>
      </p:sp>
      <p:sp>
        <p:nvSpPr>
          <p:cNvPr id="10" name="Right Brace 9"/>
          <p:cNvSpPr/>
          <p:nvPr/>
        </p:nvSpPr>
        <p:spPr>
          <a:xfrm>
            <a:off x="3196974" y="5299336"/>
            <a:ext cx="609600" cy="5680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783128" y="5257800"/>
            <a:ext cx="1169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variations</a:t>
            </a:r>
          </a:p>
          <a:p>
            <a:r>
              <a:rPr lang="en-US" dirty="0"/>
              <a:t>of 4.1</a:t>
            </a:r>
          </a:p>
        </p:txBody>
      </p:sp>
    </p:spTree>
    <p:extLst>
      <p:ext uri="{BB962C8B-B14F-4D97-AF65-F5344CB8AC3E}">
        <p14:creationId xmlns:p14="http://schemas.microsoft.com/office/powerpoint/2010/main" val="1662627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35480"/>
            <a:ext cx="8534400" cy="4389120"/>
          </a:xfrm>
        </p:spPr>
        <p:txBody>
          <a:bodyPr/>
          <a:lstStyle/>
          <a:p>
            <a:r>
              <a:rPr lang="en-US" dirty="0"/>
              <a:t>All </a:t>
            </a:r>
            <a:r>
              <a:rPr lang="en-US" dirty="0">
                <a:sym typeface="Symbol"/>
              </a:rPr>
              <a:t>  ; are  </a:t>
            </a:r>
          </a:p>
          <a:p>
            <a:r>
              <a:rPr lang="en-US" dirty="0">
                <a:sym typeface="Symbol"/>
              </a:rPr>
              <a:t>"All </a:t>
            </a:r>
            <a:r>
              <a:rPr lang="en-US" dirty="0" err="1">
                <a:sym typeface="Symbol"/>
              </a:rPr>
              <a:t>ps</a:t>
            </a:r>
            <a:r>
              <a:rPr lang="en-US" dirty="0">
                <a:sym typeface="Symbol"/>
              </a:rPr>
              <a:t> are </a:t>
            </a:r>
            <a:r>
              <a:rPr lang="en-US" dirty="0" err="1">
                <a:sym typeface="Symbol"/>
              </a:rPr>
              <a:t>q's</a:t>
            </a:r>
            <a:r>
              <a:rPr lang="en-US" dirty="0">
                <a:sym typeface="Symbol"/>
              </a:rPr>
              <a:t>" becomes x (p(x)  q(x))</a:t>
            </a: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e.g. "All students are hard-working" becomes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x (s(x)  hw(x))</a:t>
            </a: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The common mistake is to translate all-are into  and  </a:t>
            </a:r>
          </a:p>
          <a:p>
            <a:r>
              <a:rPr lang="en-US" dirty="0">
                <a:sym typeface="Symbol"/>
              </a:rPr>
              <a:t>"All </a:t>
            </a:r>
            <a:r>
              <a:rPr lang="en-US" dirty="0" err="1">
                <a:sym typeface="Symbol"/>
              </a:rPr>
              <a:t>ps</a:t>
            </a:r>
            <a:r>
              <a:rPr lang="en-US" dirty="0">
                <a:sym typeface="Symbol"/>
              </a:rPr>
              <a:t> are </a:t>
            </a:r>
            <a:r>
              <a:rPr lang="en-US" dirty="0" err="1">
                <a:sym typeface="Symbol"/>
              </a:rPr>
              <a:t>q's</a:t>
            </a:r>
            <a:r>
              <a:rPr lang="en-US" dirty="0">
                <a:sym typeface="Symbol"/>
              </a:rPr>
              <a:t>" is </a:t>
            </a:r>
            <a:r>
              <a:rPr lang="en-US" b="1" dirty="0">
                <a:sym typeface="Symbol"/>
              </a:rPr>
              <a:t>NOT</a:t>
            </a:r>
            <a:r>
              <a:rPr lang="en-US" dirty="0">
                <a:sym typeface="Symbol"/>
              </a:rPr>
              <a:t> x (p(x)  q(x))</a:t>
            </a:r>
          </a:p>
          <a:p>
            <a:r>
              <a:rPr lang="en-US" dirty="0">
                <a:sym typeface="Symbol"/>
              </a:rPr>
              <a:t>Logically this is "too strong"</a:t>
            </a:r>
          </a:p>
          <a:p>
            <a:endParaRPr lang="en-US" dirty="0"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4.1. All-are: All p's are q's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1302" y="2286000"/>
            <a:ext cx="628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00B050"/>
                </a:solidFill>
                <a:sym typeface="Wingdings"/>
              </a:rPr>
              <a:t></a:t>
            </a:r>
            <a:endParaRPr lang="en-US" sz="440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23861" y="5097959"/>
            <a:ext cx="5437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FF0000"/>
                </a:solidFill>
                <a:sym typeface="Wingdings"/>
              </a:rPr>
              <a:t>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34200" y="3733800"/>
            <a:ext cx="628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00B050"/>
                </a:solidFill>
                <a:sym typeface="Wingdings"/>
              </a:rPr>
              <a:t></a:t>
            </a:r>
            <a:endParaRPr lang="en-US" sz="440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42965" y="1371600"/>
            <a:ext cx="3067635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/>
              <a:t>Memorize this one</a:t>
            </a:r>
          </a:p>
        </p:txBody>
      </p:sp>
      <p:sp>
        <p:nvSpPr>
          <p:cNvPr id="9" name="Oval 8"/>
          <p:cNvSpPr/>
          <p:nvPr/>
        </p:nvSpPr>
        <p:spPr>
          <a:xfrm>
            <a:off x="228600" y="1905000"/>
            <a:ext cx="3429000" cy="6096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32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3093720"/>
          </a:xfrm>
        </p:spPr>
        <p:txBody>
          <a:bodyPr>
            <a:normAutofit/>
          </a:bodyPr>
          <a:lstStyle/>
          <a:p>
            <a:r>
              <a:rPr lang="en-US" dirty="0"/>
              <a:t>"All men and women are human" becomes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		</a:t>
            </a:r>
            <a:r>
              <a:rPr lang="en-US" dirty="0"/>
              <a:t>x ( m(x) </a:t>
            </a:r>
            <a:r>
              <a:rPr lang="en-US" sz="3200" b="1" dirty="0">
                <a:sym typeface="Symbol"/>
              </a:rPr>
              <a:t></a:t>
            </a:r>
            <a:r>
              <a:rPr lang="en-US" dirty="0"/>
              <a:t> w(x)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h(x))</a:t>
            </a:r>
          </a:p>
          <a:p>
            <a:r>
              <a:rPr lang="en-US" dirty="0"/>
              <a:t>Why not translate to: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		</a:t>
            </a:r>
            <a:r>
              <a:rPr lang="en-US" dirty="0"/>
              <a:t>x ( m(x) </a:t>
            </a:r>
            <a:r>
              <a:rPr lang="en-US" sz="3600" b="1" dirty="0">
                <a:sym typeface="Symbol"/>
              </a:rPr>
              <a:t></a:t>
            </a:r>
            <a:r>
              <a:rPr lang="en-US" dirty="0"/>
              <a:t> w(x)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h(x))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ym typeface="Symbol"/>
              </a:rPr>
              <a:t></a:t>
            </a:r>
            <a:r>
              <a:rPr lang="en-US" dirty="0">
                <a:sym typeface="Symbol"/>
              </a:rPr>
              <a:t> </a:t>
            </a:r>
            <a:r>
              <a:rPr lang="en-US" dirty="0"/>
              <a:t>is "too strong"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4.2.  All-and-are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54759"/>
            <a:ext cx="628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00B050"/>
                </a:solidFill>
                <a:sym typeface="Wingdings"/>
              </a:rPr>
              <a:t></a:t>
            </a:r>
            <a:endParaRPr lang="en-US" sz="440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23861" y="3352800"/>
            <a:ext cx="5437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FF0000"/>
                </a:solidFill>
                <a:sym typeface="Wingdings"/>
              </a:rPr>
              <a:t></a:t>
            </a:r>
            <a:endParaRPr lang="en-US" sz="4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334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731520"/>
          </a:xfrm>
        </p:spPr>
        <p:txBody>
          <a:bodyPr/>
          <a:lstStyle/>
          <a:p>
            <a:r>
              <a:rPr lang="en-US" dirty="0"/>
              <a:t>Consider the meaning of m(x)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w(x) and m(x)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w(x)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"too strong"?</a:t>
            </a:r>
          </a:p>
        </p:txBody>
      </p:sp>
      <p:pic>
        <p:nvPicPr>
          <p:cNvPr id="5" name="Picture 2" descr="C:\Users\Ad\Teaching\Discrete Math Sem 2\Slides\orSe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2743200"/>
            <a:ext cx="28098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Ad\Teaching\Discrete Math Sem 2\Slides\andSet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25" y="2762250"/>
            <a:ext cx="28098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52427" y="3282404"/>
            <a:ext cx="628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00B050"/>
                </a:solidFill>
                <a:sym typeface="Wingdings"/>
              </a:rPr>
              <a:t></a:t>
            </a:r>
            <a:endParaRPr lang="en-US" sz="440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43800" y="3429000"/>
            <a:ext cx="5437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FF0000"/>
                </a:solidFill>
                <a:sym typeface="Wingdings"/>
              </a:rPr>
              <a:t>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0200" y="3051570"/>
            <a:ext cx="450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1025" y="3051571"/>
            <a:ext cx="410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0800" y="4491335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ym typeface="Symbol"/>
              </a:rPr>
              <a:t></a:t>
            </a:r>
            <a:endParaRPr 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003685" y="3048000"/>
            <a:ext cx="450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4510" y="3048001"/>
            <a:ext cx="410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4285" y="4419600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ym typeface="Symbol"/>
              </a:rPr>
              <a:t></a:t>
            </a:r>
            <a:endParaRPr lang="en-US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706370" y="5486400"/>
            <a:ext cx="4082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These are  people who are both men</a:t>
            </a:r>
          </a:p>
          <a:p>
            <a:r>
              <a:rPr lang="en-US"/>
              <a:t>and women, which is too small a group.</a:t>
            </a:r>
          </a:p>
        </p:txBody>
      </p:sp>
      <p:cxnSp>
        <p:nvCxnSpPr>
          <p:cNvPr id="17" name="Straight Arrow Connector 16"/>
          <p:cNvCxnSpPr>
            <a:stCxn id="15" idx="0"/>
          </p:cNvCxnSpPr>
          <p:nvPr/>
        </p:nvCxnSpPr>
        <p:spPr>
          <a:xfrm flipV="1">
            <a:off x="5747698" y="3681046"/>
            <a:ext cx="336579" cy="18053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573215" y="4953000"/>
            <a:ext cx="276716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/>
              <a:t>All men and women are ...</a:t>
            </a:r>
          </a:p>
        </p:txBody>
      </p:sp>
    </p:spTree>
    <p:extLst>
      <p:ext uri="{BB962C8B-B14F-4D97-AF65-F5344CB8AC3E}">
        <p14:creationId xmlns:p14="http://schemas.microsoft.com/office/powerpoint/2010/main" val="651776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534400" cy="4389120"/>
          </a:xfrm>
        </p:spPr>
        <p:txBody>
          <a:bodyPr>
            <a:normAutofit/>
          </a:bodyPr>
          <a:lstStyle/>
          <a:p>
            <a:r>
              <a:rPr lang="en-US" dirty="0"/>
              <a:t>Some </a:t>
            </a:r>
            <a:r>
              <a:rPr lang="en-US" dirty="0">
                <a:sym typeface="Symbol"/>
              </a:rPr>
              <a:t>  ; are  </a:t>
            </a:r>
          </a:p>
          <a:p>
            <a:r>
              <a:rPr lang="en-US" dirty="0">
                <a:sym typeface="Symbol"/>
              </a:rPr>
              <a:t>"Some </a:t>
            </a:r>
            <a:r>
              <a:rPr lang="en-US" dirty="0" err="1">
                <a:sym typeface="Symbol"/>
              </a:rPr>
              <a:t>ps</a:t>
            </a:r>
            <a:r>
              <a:rPr lang="en-US" dirty="0">
                <a:sym typeface="Symbol"/>
              </a:rPr>
              <a:t> are </a:t>
            </a:r>
            <a:r>
              <a:rPr lang="en-US" dirty="0" err="1">
                <a:sym typeface="Symbol"/>
              </a:rPr>
              <a:t>q's</a:t>
            </a:r>
            <a:r>
              <a:rPr lang="en-US" dirty="0">
                <a:sym typeface="Symbol"/>
              </a:rPr>
              <a:t>" becomes x (p(x)  q(x))</a:t>
            </a: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e.g. "Some women are tall" becomes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		  x (w(x)  t(x))</a:t>
            </a:r>
          </a:p>
          <a:p>
            <a:r>
              <a:rPr lang="en-US" dirty="0">
                <a:sym typeface="Symbol"/>
              </a:rPr>
              <a:t>Why not:     x (w(x)  t(x))</a:t>
            </a:r>
          </a:p>
          <a:p>
            <a:r>
              <a:rPr lang="en-US" dirty="0">
                <a:sym typeface="Symbol"/>
              </a:rPr>
              <a:t>Logically this is "too weak"</a:t>
            </a:r>
          </a:p>
          <a:p>
            <a:endParaRPr lang="en-US" dirty="0"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4.3. Some-are: Some p's are q's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1302" y="2286000"/>
            <a:ext cx="628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00B050"/>
                </a:solidFill>
                <a:sym typeface="Wingdings"/>
              </a:rPr>
              <a:t></a:t>
            </a:r>
            <a:endParaRPr lang="en-US" sz="440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0" y="3810000"/>
            <a:ext cx="5437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FF0000"/>
                </a:solidFill>
                <a:sym typeface="Wingdings"/>
              </a:rPr>
              <a:t>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3429000"/>
            <a:ext cx="628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B050"/>
                </a:solidFill>
                <a:sym typeface="Wingdings"/>
              </a:rPr>
              <a:t></a:t>
            </a:r>
            <a:endParaRPr lang="en-US" sz="4400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38531" y="1364574"/>
            <a:ext cx="3067635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Memorize this one</a:t>
            </a:r>
          </a:p>
        </p:txBody>
      </p:sp>
      <p:sp>
        <p:nvSpPr>
          <p:cNvPr id="9" name="Oval 8"/>
          <p:cNvSpPr/>
          <p:nvPr/>
        </p:nvSpPr>
        <p:spPr>
          <a:xfrm>
            <a:off x="381000" y="1905000"/>
            <a:ext cx="3429000" cy="6096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67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48200"/>
            <a:ext cx="8229600" cy="1676400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ym typeface="Symbol"/>
              </a:rPr>
              <a:t> and  is too weak since it allows a non-women to be tall which does not 'fit' the English meaning.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8341"/>
            <a:ext cx="8229600" cy="1143000"/>
          </a:xfrm>
        </p:spPr>
        <p:txBody>
          <a:bodyPr/>
          <a:lstStyle/>
          <a:p>
            <a:r>
              <a:rPr lang="en-US"/>
              <a:t>Why too weak?</a:t>
            </a:r>
          </a:p>
        </p:txBody>
      </p:sp>
      <p:pic>
        <p:nvPicPr>
          <p:cNvPr id="1027" name="Picture 3" descr="C:\Users\Ad\Teaching\Discrete Math Sem 2\Slides\impSe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317" y="2002898"/>
            <a:ext cx="1848432" cy="119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\Teaching\Discrete Math Sem 2\Slides\andSet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615" y="2054862"/>
            <a:ext cx="1828800" cy="120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242716" y="2035439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9430" y="2199507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974" y="2111639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9027" y="2104237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4015" y="2180437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9559" y="2180437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916" y="3178439"/>
            <a:ext cx="1796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ym typeface="Symbol"/>
              </a:rPr>
              <a:t>x (w(x)  t(x))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201615" y="3235569"/>
            <a:ext cx="1708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ym typeface="Symbol"/>
              </a:rPr>
              <a:t>x (w(x)  t(x))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76600" y="2438400"/>
            <a:ext cx="628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00B050"/>
                </a:solidFill>
                <a:sym typeface="Wingdings"/>
              </a:rPr>
              <a:t></a:t>
            </a:r>
            <a:endParaRPr lang="en-US" sz="4400">
              <a:solidFill>
                <a:srgbClr val="00B05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67600" y="2430959"/>
            <a:ext cx="5437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FF0000"/>
                </a:solidFill>
                <a:sym typeface="Wingdings"/>
              </a:rPr>
              <a:t>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98780" y="3733800"/>
            <a:ext cx="224253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>
                <a:sym typeface="Symbol"/>
              </a:rPr>
              <a:t>Some women are tall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03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"No" = 0 = not (1 or more) = </a:t>
            </a:r>
            <a:r>
              <a:rPr lang="en-US" sz="2800" dirty="0">
                <a:sym typeface="Symbol"/>
              </a:rPr>
              <a:t> x</a:t>
            </a:r>
            <a:endParaRPr lang="en-US" sz="2800" dirty="0"/>
          </a:p>
          <a:p>
            <a:r>
              <a:rPr lang="en-US" sz="2800" dirty="0">
                <a:sym typeface="Symbol"/>
              </a:rPr>
              <a:t>"No </a:t>
            </a:r>
            <a:r>
              <a:rPr lang="en-US" sz="2800" dirty="0" err="1">
                <a:sym typeface="Symbol"/>
              </a:rPr>
              <a:t>p's</a:t>
            </a:r>
            <a:r>
              <a:rPr lang="en-US" sz="2800" dirty="0">
                <a:sym typeface="Symbol"/>
              </a:rPr>
              <a:t> are </a:t>
            </a:r>
            <a:r>
              <a:rPr lang="en-US" sz="2800" dirty="0" err="1">
                <a:sym typeface="Symbol"/>
              </a:rPr>
              <a:t>q's</a:t>
            </a:r>
            <a:r>
              <a:rPr lang="en-US" sz="2800" dirty="0">
                <a:sym typeface="Symbol"/>
              </a:rPr>
              <a:t>" becomes   </a:t>
            </a:r>
            <a:br>
              <a:rPr lang="en-US" sz="2800" dirty="0">
                <a:sym typeface="Symbol"/>
              </a:rPr>
            </a:br>
            <a:r>
              <a:rPr lang="en-US" sz="2800" dirty="0">
                <a:sym typeface="Symbol"/>
              </a:rPr>
              <a:t> x  (p(x)  q(x))</a:t>
            </a:r>
            <a:br>
              <a:rPr lang="en-US" sz="2800" dirty="0">
                <a:sym typeface="Symbol"/>
              </a:rPr>
            </a:br>
            <a:r>
              <a:rPr lang="en-US" sz="2800" dirty="0">
                <a:solidFill>
                  <a:srgbClr val="FF0000"/>
                </a:solidFill>
                <a:sym typeface="Symbol"/>
              </a:rPr>
              <a:t> x (p(x)  q(x))</a:t>
            </a:r>
            <a:br>
              <a:rPr lang="en-US" sz="2800" dirty="0">
                <a:solidFill>
                  <a:srgbClr val="FF0000"/>
                </a:solidFill>
                <a:sym typeface="Symbol"/>
              </a:rPr>
            </a:br>
            <a:r>
              <a:rPr lang="en-US" sz="2800" dirty="0">
                <a:solidFill>
                  <a:srgbClr val="FF0000"/>
                </a:solidFill>
                <a:sym typeface="Symbol"/>
              </a:rPr>
              <a:t> x (p(x)  q(x))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No-are: No </a:t>
            </a:r>
            <a:r>
              <a:rPr lang="en-US" dirty="0" err="1"/>
              <a:t>p's</a:t>
            </a:r>
            <a:r>
              <a:rPr lang="en-US" dirty="0"/>
              <a:t> are </a:t>
            </a:r>
            <a:r>
              <a:rPr lang="en-US" dirty="0" err="1"/>
              <a:t>q's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19600" y="3733800"/>
            <a:ext cx="628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B050"/>
                </a:solidFill>
                <a:sym typeface="Wingdings"/>
              </a:rPr>
              <a:t></a:t>
            </a:r>
            <a:endParaRPr lang="en-US" sz="4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359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</a:t>
            </a:r>
            <a:r>
              <a:rPr lang="en-US" dirty="0" err="1"/>
              <a:t>p's</a:t>
            </a:r>
            <a:r>
              <a:rPr lang="en-US" dirty="0"/>
              <a:t> are not </a:t>
            </a:r>
            <a:r>
              <a:rPr lang="en-US" dirty="0" err="1"/>
              <a:t>q's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becomes  		</a:t>
            </a:r>
            <a:r>
              <a:rPr lang="en-US" dirty="0">
                <a:sym typeface="Symbol"/>
              </a:rPr>
              <a:t>x (p(x)  q(x))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4.5 Some-are-not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0" y="3429000"/>
            <a:ext cx="209140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4.3 translation + an</a:t>
            </a:r>
          </a:p>
          <a:p>
            <a:r>
              <a:rPr lang="en-US"/>
              <a:t>inner not</a:t>
            </a:r>
          </a:p>
        </p:txBody>
      </p:sp>
      <p:cxnSp>
        <p:nvCxnSpPr>
          <p:cNvPr id="7" name="Straight Arrow Connector 6"/>
          <p:cNvCxnSpPr>
            <a:stCxn id="5" idx="0"/>
          </p:cNvCxnSpPr>
          <p:nvPr/>
        </p:nvCxnSpPr>
        <p:spPr>
          <a:xfrm flipH="1" flipV="1">
            <a:off x="4572000" y="2895600"/>
            <a:ext cx="283703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0"/>
          </p:cNvCxnSpPr>
          <p:nvPr/>
        </p:nvCxnSpPr>
        <p:spPr>
          <a:xfrm flipH="1" flipV="1">
            <a:off x="3505200" y="2895600"/>
            <a:ext cx="1350503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303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4038600"/>
          </a:xfrm>
        </p:spPr>
        <p:txBody>
          <a:bodyPr/>
          <a:lstStyle/>
          <a:p>
            <a:r>
              <a:rPr lang="en-US" dirty="0"/>
              <a:t>Not all </a:t>
            </a:r>
            <a:r>
              <a:rPr lang="en-US" dirty="0" err="1"/>
              <a:t>p's</a:t>
            </a:r>
            <a:r>
              <a:rPr lang="en-US" dirty="0"/>
              <a:t> are </a:t>
            </a:r>
            <a:r>
              <a:rPr lang="en-US" dirty="0" err="1"/>
              <a:t>q's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becomes  		</a:t>
            </a:r>
            <a:r>
              <a:rPr lang="en-US" dirty="0">
                <a:sym typeface="Symbol"/>
              </a:rPr>
              <a:t>x (p(x)  q(x))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 x  (p(x)  q(x))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 x (p(x)  q(x))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 "Some </a:t>
            </a:r>
            <a:r>
              <a:rPr lang="en-US" dirty="0" err="1">
                <a:sym typeface="Symbol"/>
              </a:rPr>
              <a:t>p's</a:t>
            </a:r>
            <a:r>
              <a:rPr lang="en-US" dirty="0">
                <a:sym typeface="Symbol"/>
              </a:rPr>
              <a:t> are not </a:t>
            </a:r>
            <a:r>
              <a:rPr lang="en-US" dirty="0" err="1">
                <a:sym typeface="Symbol"/>
              </a:rPr>
              <a:t>q's</a:t>
            </a:r>
            <a:r>
              <a:rPr lang="en-US" dirty="0">
                <a:sym typeface="Symbol"/>
              </a:rPr>
              <a:t>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4.6.  Not-all-are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3669268"/>
            <a:ext cx="2057743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4.1 translation + an</a:t>
            </a:r>
          </a:p>
          <a:p>
            <a:r>
              <a:rPr lang="en-US"/>
              <a:t>outer not</a:t>
            </a:r>
          </a:p>
        </p:txBody>
      </p:sp>
      <p:cxnSp>
        <p:nvCxnSpPr>
          <p:cNvPr id="7" name="Straight Arrow Connector 6"/>
          <p:cNvCxnSpPr>
            <a:stCxn id="5" idx="0"/>
          </p:cNvCxnSpPr>
          <p:nvPr/>
        </p:nvCxnSpPr>
        <p:spPr>
          <a:xfrm flipH="1" flipV="1">
            <a:off x="4953000" y="3200400"/>
            <a:ext cx="1409872" cy="4688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0"/>
          </p:cNvCxnSpPr>
          <p:nvPr/>
        </p:nvCxnSpPr>
        <p:spPr>
          <a:xfrm flipH="1" flipV="1">
            <a:off x="3886200" y="3200400"/>
            <a:ext cx="2476672" cy="4688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38600" y="4724400"/>
            <a:ext cx="135671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same as 4.5!</a:t>
            </a:r>
          </a:p>
        </p:txBody>
      </p:sp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 flipV="1">
            <a:off x="2819400" y="4419600"/>
            <a:ext cx="1219200" cy="489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737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114800"/>
          </a:xfrm>
        </p:spPr>
        <p:txBody>
          <a:bodyPr/>
          <a:lstStyle/>
          <a:p>
            <a:r>
              <a:rPr lang="en-US" dirty="0"/>
              <a:t>All </a:t>
            </a:r>
            <a:r>
              <a:rPr lang="en-US" dirty="0" err="1"/>
              <a:t>p's</a:t>
            </a:r>
            <a:r>
              <a:rPr lang="en-US" dirty="0"/>
              <a:t> are not </a:t>
            </a:r>
            <a:r>
              <a:rPr lang="en-US" dirty="0" err="1"/>
              <a:t>q's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becomes  		</a:t>
            </a:r>
            <a:r>
              <a:rPr lang="en-US" dirty="0">
                <a:sym typeface="Symbol"/>
              </a:rPr>
              <a:t>x (p(x)  q(x))</a:t>
            </a: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This is the same as 4.4. "No </a:t>
            </a:r>
            <a:r>
              <a:rPr lang="en-US" dirty="0" err="1">
                <a:sym typeface="Symbol"/>
              </a:rPr>
              <a:t>p's</a:t>
            </a:r>
            <a:r>
              <a:rPr lang="en-US" dirty="0">
                <a:sym typeface="Symbol"/>
              </a:rPr>
              <a:t> are </a:t>
            </a:r>
            <a:r>
              <a:rPr lang="en-US" dirty="0" err="1">
                <a:sym typeface="Symbol"/>
              </a:rPr>
              <a:t>q's</a:t>
            </a:r>
            <a:r>
              <a:rPr lang="en-US" dirty="0">
                <a:sym typeface="Symbol"/>
              </a:rPr>
              <a:t>"</a:t>
            </a:r>
            <a:br>
              <a:rPr lang="en-US" dirty="0">
                <a:sym typeface="Symbol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4.7.  All-not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8200" y="1905000"/>
            <a:ext cx="303711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4.1 translation + an inner not</a:t>
            </a:r>
          </a:p>
        </p:txBody>
      </p:sp>
      <p:cxnSp>
        <p:nvCxnSpPr>
          <p:cNvPr id="7" name="Straight Arrow Connector 6"/>
          <p:cNvCxnSpPr>
            <a:stCxn id="5" idx="2"/>
          </p:cNvCxnSpPr>
          <p:nvPr/>
        </p:nvCxnSpPr>
        <p:spPr>
          <a:xfrm flipH="1">
            <a:off x="4648203" y="2274332"/>
            <a:ext cx="1518554" cy="5450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2"/>
          </p:cNvCxnSpPr>
          <p:nvPr/>
        </p:nvCxnSpPr>
        <p:spPr>
          <a:xfrm flipH="1">
            <a:off x="3581403" y="2274332"/>
            <a:ext cx="2585354" cy="4688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566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"Only </a:t>
            </a:r>
            <a:r>
              <a:rPr lang="en-US" dirty="0" err="1"/>
              <a:t>p's</a:t>
            </a:r>
            <a:r>
              <a:rPr lang="en-US" dirty="0"/>
              <a:t> are </a:t>
            </a:r>
            <a:r>
              <a:rPr lang="en-US" dirty="0" err="1"/>
              <a:t>q's</a:t>
            </a:r>
            <a:r>
              <a:rPr lang="en-US" dirty="0"/>
              <a:t>" can be drawn as "subset":</a:t>
            </a:r>
          </a:p>
          <a:p>
            <a:endParaRPr lang="en-US" dirty="0"/>
          </a:p>
          <a:p>
            <a:r>
              <a:rPr lang="en-US" dirty="0"/>
              <a:t>Another way of saying this is "All </a:t>
            </a:r>
            <a:r>
              <a:rPr lang="en-US" dirty="0" err="1"/>
              <a:t>q's</a:t>
            </a:r>
            <a:r>
              <a:rPr lang="en-US" dirty="0"/>
              <a:t> are </a:t>
            </a:r>
            <a:r>
              <a:rPr lang="en-US" dirty="0" err="1"/>
              <a:t>p's</a:t>
            </a:r>
            <a:r>
              <a:rPr lang="en-US" dirty="0"/>
              <a:t>" which becomes:   </a:t>
            </a:r>
            <a:r>
              <a:rPr lang="en-US" dirty="0">
                <a:sym typeface="Symbol"/>
              </a:rPr>
              <a:t>x (q(x)  p(x))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diagram for this is not the same shape as the one above because it also includes </a:t>
            </a:r>
            <a:r>
              <a:rPr lang="en-US" dirty="0" err="1"/>
              <a:t>p's</a:t>
            </a:r>
            <a:r>
              <a:rPr lang="en-US" dirty="0"/>
              <a:t> which are not </a:t>
            </a:r>
            <a:r>
              <a:rPr lang="en-US" dirty="0" err="1"/>
              <a:t>q's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4.8.  Only-are</a:t>
            </a:r>
          </a:p>
        </p:txBody>
      </p:sp>
      <p:pic>
        <p:nvPicPr>
          <p:cNvPr id="5" name="Picture 3" descr="C:\Users\Ad\Teaching\Discrete Math Sem 2\Slides\impSe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355698"/>
            <a:ext cx="1848432" cy="119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306599" y="5388239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5200" y="555230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0890" y="54102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9" name="Rectangle 8"/>
          <p:cNvSpPr/>
          <p:nvPr/>
        </p:nvSpPr>
        <p:spPr>
          <a:xfrm>
            <a:off x="7239000" y="1295400"/>
            <a:ext cx="16002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543800" y="1447800"/>
            <a:ext cx="1143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696200" y="1600200"/>
            <a:ext cx="762000" cy="381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559212" y="9906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5294" y="18288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4690" y="130706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4648201" y="5105400"/>
            <a:ext cx="658398" cy="4469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4748857" y="5105400"/>
            <a:ext cx="557742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570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384542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“Every student in this class knows Java.”</a:t>
            </a:r>
          </a:p>
          <a:p>
            <a:pPr>
              <a:buNone/>
            </a:pPr>
            <a:r>
              <a:rPr lang="en-US" dirty="0"/>
              <a:t>Decide on the domain </a:t>
            </a:r>
            <a:r>
              <a:rPr lang="en-US" i="1" dirty="0"/>
              <a:t>U</a:t>
            </a:r>
            <a:r>
              <a:rPr lang="en-US" dirty="0"/>
              <a:t>. </a:t>
            </a:r>
          </a:p>
          <a:p>
            <a:pPr lvl="1">
              <a:buNone/>
            </a:pPr>
            <a:r>
              <a:rPr lang="en-US" b="1" dirty="0"/>
              <a:t>Solution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: If </a:t>
            </a:r>
            <a:r>
              <a:rPr lang="en-US" i="1" dirty="0"/>
              <a:t>U</a:t>
            </a:r>
            <a:r>
              <a:rPr lang="en-US" dirty="0"/>
              <a:t> is all students in this class, let J(x) be </a:t>
            </a:r>
            <a:br>
              <a:rPr lang="en-US" dirty="0"/>
            </a:br>
            <a:r>
              <a:rPr lang="en-US" dirty="0"/>
              <a:t>“x knows Java”. Translate as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x  J(x)</a:t>
            </a: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r>
              <a:rPr lang="en-US" b="1" dirty="0"/>
              <a:t>Solution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: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If </a:t>
            </a:r>
            <a:r>
              <a:rPr lang="en-US" i="1" dirty="0"/>
              <a:t>U</a:t>
            </a:r>
            <a:r>
              <a:rPr lang="en-US" dirty="0"/>
              <a:t> is all people, let S(x) be “x is a student in this class”. Translate as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x (S(x)</a:t>
            </a:r>
            <a:r>
              <a:rPr lang="en-US" dirty="0">
                <a:latin typeface="Cambria Math"/>
                <a:ea typeface="Cambria Math"/>
                <a:sym typeface="Symbol"/>
              </a:rPr>
              <a:t>→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 J(x))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5. Domain Affects Translation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86400" y="3810000"/>
            <a:ext cx="1600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096000" y="4006334"/>
            <a:ext cx="838200" cy="489466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111412" y="3773269"/>
            <a:ext cx="1650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 is </a:t>
            </a:r>
          </a:p>
          <a:p>
            <a:r>
              <a:rPr lang="en-US"/>
              <a:t>'class students'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090" y="3821668"/>
            <a:ext cx="25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J</a:t>
            </a:r>
          </a:p>
        </p:txBody>
      </p:sp>
      <p:pic>
        <p:nvPicPr>
          <p:cNvPr id="11" name="Picture 3" descr="C:\Users\Ad\Teaching\Discrete Math Sem 2\Slides\impSe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584298"/>
            <a:ext cx="1848432" cy="119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306599" y="5616839"/>
            <a:ext cx="1681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 is 'all people'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4760" y="571500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0890" y="5638800"/>
            <a:ext cx="245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" y="5715000"/>
            <a:ext cx="2535822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This one is better </a:t>
            </a:r>
          </a:p>
          <a:p>
            <a:r>
              <a:rPr lang="en-US" dirty="0"/>
              <a:t>since U is more general.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“</a:t>
            </a:r>
            <a:r>
              <a:rPr lang="en-US" b="1" dirty="0"/>
              <a:t>Some</a:t>
            </a:r>
            <a:r>
              <a:rPr lang="en-US" dirty="0"/>
              <a:t> student in this class has visited Mexico.”</a:t>
            </a:r>
          </a:p>
          <a:p>
            <a:pPr marL="850392" lvl="1" indent="-457200">
              <a:buNone/>
            </a:pPr>
            <a:r>
              <a:rPr lang="en-US" dirty="0"/>
              <a:t>   </a:t>
            </a:r>
            <a:r>
              <a:rPr lang="en-US" b="1" dirty="0"/>
              <a:t>Solution</a:t>
            </a:r>
            <a:r>
              <a:rPr lang="en-US" dirty="0"/>
              <a:t>: Let </a:t>
            </a:r>
            <a:r>
              <a:rPr lang="en-US" i="1" dirty="0"/>
              <a:t>M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be “</a:t>
            </a:r>
            <a:r>
              <a:rPr lang="en-US" i="1" dirty="0"/>
              <a:t>x</a:t>
            </a:r>
            <a:r>
              <a:rPr lang="en-US" dirty="0"/>
              <a:t> has visited Mexico” and </a:t>
            </a:r>
            <a:r>
              <a:rPr lang="en-US" i="1" dirty="0"/>
              <a:t>S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be “</a:t>
            </a:r>
            <a:r>
              <a:rPr lang="en-US" i="1" dirty="0"/>
              <a:t>x</a:t>
            </a:r>
            <a:r>
              <a:rPr lang="en-US" dirty="0"/>
              <a:t> is a student in this class,”  and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U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be all people.</a:t>
            </a:r>
            <a:endParaRPr lang="en-US" dirty="0"/>
          </a:p>
          <a:p>
            <a:pPr marL="850392" lvl="1" indent="-457200">
              <a:buNone/>
            </a:pPr>
            <a:r>
              <a:rPr lang="en-US" dirty="0"/>
              <a:t>                      </a:t>
            </a:r>
            <a:r>
              <a:rPr lang="en-US" dirty="0">
                <a:sym typeface="Symbol"/>
              </a:rPr>
              <a:t>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x  (S(x) </a:t>
            </a:r>
            <a:r>
              <a:rPr lang="en-US" dirty="0">
                <a:latin typeface="Cambria Math"/>
                <a:ea typeface="Cambria Math"/>
                <a:sym typeface="Symbol"/>
              </a:rPr>
              <a:t>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M(x))</a:t>
            </a:r>
          </a:p>
          <a:p>
            <a:pPr marL="850392" lvl="1" indent="-45720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“</a:t>
            </a:r>
            <a:r>
              <a:rPr lang="en-US" b="1" dirty="0"/>
              <a:t>Every</a:t>
            </a:r>
            <a:r>
              <a:rPr lang="en-US" dirty="0"/>
              <a:t> student in this class has visited Canada </a:t>
            </a:r>
            <a:r>
              <a:rPr lang="en-US" b="1" dirty="0"/>
              <a:t>or</a:t>
            </a:r>
            <a:r>
              <a:rPr lang="en-US" dirty="0"/>
              <a:t> Mexico.”</a:t>
            </a:r>
          </a:p>
          <a:p>
            <a:pPr marL="850392" lvl="1" indent="-457200">
              <a:buNone/>
            </a:pPr>
            <a:r>
              <a:rPr lang="en-US" dirty="0"/>
              <a:t>  </a:t>
            </a:r>
            <a:r>
              <a:rPr lang="en-US" b="1" dirty="0"/>
              <a:t>Solution</a:t>
            </a:r>
            <a:r>
              <a:rPr lang="en-US" dirty="0"/>
              <a:t>: Let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be “</a:t>
            </a:r>
            <a:r>
              <a:rPr lang="en-US" i="1" dirty="0"/>
              <a:t>x</a:t>
            </a:r>
            <a:r>
              <a:rPr lang="en-US" dirty="0"/>
              <a:t> has visited Canada.”</a:t>
            </a:r>
          </a:p>
          <a:p>
            <a:pPr marL="850392" lvl="1" indent="-457200">
              <a:buNone/>
            </a:pP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                   x (S(x)</a:t>
            </a:r>
            <a:r>
              <a:rPr lang="en-US" i="1" dirty="0">
                <a:latin typeface="Cambria Math"/>
                <a:ea typeface="Cambria Math"/>
                <a:sym typeface="Symbol"/>
              </a:rPr>
              <a:t>→ (M(x) ∨ C(x)))</a:t>
            </a:r>
            <a:endParaRPr lang="en-US" i="1" dirty="0">
              <a:latin typeface="Cambria Math" pitchFamily="18" charset="0"/>
              <a:ea typeface="Cambria Math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>
            <a:normAutofit/>
          </a:bodyPr>
          <a:lstStyle/>
          <a:p>
            <a:r>
              <a:rPr lang="en-US"/>
              <a:t>6. Translation Examples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14638" y="3352800"/>
            <a:ext cx="16577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Translation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9807" y="5562600"/>
            <a:ext cx="16577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Translation 4.1</a:t>
            </a:r>
          </a:p>
        </p:txBody>
      </p:sp>
      <p:pic>
        <p:nvPicPr>
          <p:cNvPr id="7" name="Picture 4" descr="C:\Users\Ad\Teaching\Discrete Math Sem 2\Slides\andSe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81200" y="2217567"/>
            <a:ext cx="1828800" cy="120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1981200" y="3398274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x (S(x)  M(x))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 = {green, red, blue}</a:t>
            </a:r>
          </a:p>
          <a:p>
            <a:pPr lvl="1">
              <a:buNone/>
            </a:pPr>
            <a:r>
              <a:rPr lang="en-US" sz="3200" i="1" dirty="0"/>
              <a:t>G(x)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green</a:t>
            </a:r>
          </a:p>
          <a:p>
            <a:pPr lvl="1">
              <a:buNone/>
            </a:pPr>
            <a:r>
              <a:rPr lang="en-US" sz="3200" i="1" dirty="0"/>
              <a:t>R(x)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red</a:t>
            </a:r>
          </a:p>
          <a:p>
            <a:pPr lvl="1">
              <a:buNone/>
            </a:pPr>
            <a:r>
              <a:rPr lang="en-US" sz="3200" i="1" dirty="0"/>
              <a:t>B(x)</a:t>
            </a:r>
            <a:r>
              <a:rPr lang="en-US" sz="3200" dirty="0"/>
              <a:t>: x is a blue</a:t>
            </a:r>
          </a:p>
          <a:p>
            <a:pPr lvl="1"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   </a:t>
            </a:r>
            <a:r>
              <a:rPr lang="en-US" sz="2800" dirty="0"/>
              <a:t>Translate “</a:t>
            </a:r>
            <a:r>
              <a:rPr lang="en-US" sz="2800" b="1" dirty="0"/>
              <a:t>Everything</a:t>
            </a:r>
            <a:r>
              <a:rPr lang="en-US" sz="2800" dirty="0"/>
              <a:t> is a green”</a:t>
            </a:r>
          </a:p>
          <a:p>
            <a:pPr>
              <a:buNone/>
            </a:pPr>
            <a:r>
              <a:rPr lang="en-US" sz="2800" b="1" dirty="0"/>
              <a:t>    Solution</a:t>
            </a:r>
            <a:r>
              <a:rPr lang="en-US" sz="2800" dirty="0"/>
              <a:t>: </a:t>
            </a:r>
            <a:r>
              <a:rPr lang="en-US" sz="2800" i="1" dirty="0">
                <a:latin typeface="Cambria Math" pitchFamily="18" charset="0"/>
                <a:ea typeface="Cambria Math" pitchFamily="18" charset="0"/>
                <a:sym typeface="Symbol"/>
              </a:rPr>
              <a:t>x G(x)</a:t>
            </a:r>
            <a:endParaRPr lang="en-US" sz="2800" i="1" dirty="0">
              <a:latin typeface="Cambria Math" pitchFamily="18" charset="0"/>
              <a:ea typeface="Cambria Math" pitchFamily="18" charset="0"/>
            </a:endParaRP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919913" y="6310313"/>
            <a:ext cx="149092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th-TH" sz="2400" i="1">
                <a:solidFill>
                  <a:schemeClr val="tx2"/>
                </a:solidFill>
              </a:rPr>
              <a:t>continued</a:t>
            </a:r>
            <a:endParaRPr lang="th-TH" i="1">
              <a:solidFill>
                <a:schemeClr val="tx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8000" y="711575"/>
            <a:ext cx="3429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Example</a:t>
            </a:r>
            <a:endParaRPr lang="en-US" sz="36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38778"/>
            <a:ext cx="8229600" cy="4389120"/>
          </a:xfrm>
        </p:spPr>
        <p:txBody>
          <a:bodyPr/>
          <a:lstStyle/>
          <a:p>
            <a:r>
              <a:rPr lang="en-US" sz="3600" dirty="0"/>
              <a:t>U = {green, red, blue}</a:t>
            </a:r>
          </a:p>
          <a:p>
            <a:pPr lvl="1">
              <a:buNone/>
            </a:pPr>
            <a:r>
              <a:rPr lang="en-US" sz="3200" i="1" dirty="0"/>
              <a:t>G(x)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green</a:t>
            </a:r>
          </a:p>
          <a:p>
            <a:pPr lvl="1">
              <a:buNone/>
            </a:pPr>
            <a:r>
              <a:rPr lang="en-US" sz="3200" i="1" dirty="0"/>
              <a:t>R(x)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red</a:t>
            </a:r>
          </a:p>
          <a:p>
            <a:pPr lvl="1">
              <a:buNone/>
            </a:pPr>
            <a:r>
              <a:rPr lang="en-US" sz="3200" i="1" dirty="0"/>
              <a:t>B(x)</a:t>
            </a:r>
            <a:r>
              <a:rPr lang="en-US" sz="3200" dirty="0"/>
              <a:t>: x is a blue</a:t>
            </a:r>
          </a:p>
          <a:p>
            <a:pPr lvl="1">
              <a:buNone/>
            </a:pPr>
            <a:endParaRPr lang="en-US" dirty="0"/>
          </a:p>
          <a:p>
            <a:pPr>
              <a:buNone/>
            </a:pPr>
            <a:r>
              <a:rPr lang="en-US" sz="3200" dirty="0"/>
              <a:t>   “</a:t>
            </a:r>
            <a:r>
              <a:rPr lang="en-US" sz="3200" b="1" dirty="0"/>
              <a:t>Nothing</a:t>
            </a:r>
            <a:r>
              <a:rPr lang="en-US" sz="3200" dirty="0"/>
              <a:t> is a red</a:t>
            </a:r>
          </a:p>
          <a:p>
            <a:pPr>
              <a:buNone/>
            </a:pPr>
            <a:r>
              <a:rPr lang="en-US" sz="3200" b="1" dirty="0"/>
              <a:t>     Solution</a:t>
            </a:r>
            <a:r>
              <a:rPr lang="en-US" sz="3200" dirty="0"/>
              <a:t>: </a:t>
            </a:r>
            <a:r>
              <a:rPr lang="en-US" sz="3200" dirty="0">
                <a:latin typeface="Cambria Math"/>
                <a:ea typeface="Cambria Math"/>
              </a:rPr>
              <a:t>¬</a:t>
            </a:r>
            <a:r>
              <a:rPr lang="en-US" sz="3200" dirty="0">
                <a:sym typeface="Symbol"/>
              </a:rPr>
              <a:t></a:t>
            </a:r>
            <a:r>
              <a:rPr lang="en-US" sz="3200" i="1" dirty="0">
                <a:latin typeface="Cambria Math" pitchFamily="18" charset="0"/>
                <a:ea typeface="Cambria Math" pitchFamily="18" charset="0"/>
                <a:sym typeface="Symbol"/>
              </a:rPr>
              <a:t>x R(x)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19913" y="6310313"/>
            <a:ext cx="149092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th-TH" sz="2400" i="1">
                <a:solidFill>
                  <a:schemeClr val="tx2"/>
                </a:solidFill>
              </a:rPr>
              <a:t>continued</a:t>
            </a:r>
            <a:endParaRPr lang="th-TH" i="1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02574" y="4343400"/>
            <a:ext cx="249446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Nothing == zero ==</a:t>
            </a:r>
          </a:p>
          <a:p>
            <a:r>
              <a:rPr lang="en-US" dirty="0"/>
              <a:t>not (1 or more)  == </a:t>
            </a:r>
            <a:r>
              <a:rPr lang="en-US" dirty="0">
                <a:latin typeface="Cambria Math"/>
                <a:ea typeface="Cambria Math"/>
              </a:rPr>
              <a:t>¬</a:t>
            </a:r>
            <a:r>
              <a:rPr lang="en-US" dirty="0">
                <a:sym typeface="Symbol"/>
              </a:rPr>
              <a:t>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x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U = {green, red, blue}</a:t>
            </a:r>
          </a:p>
          <a:p>
            <a:pPr lvl="1">
              <a:buNone/>
            </a:pPr>
            <a:r>
              <a:rPr lang="en-US" sz="3200" i="1" dirty="0"/>
              <a:t>G(x)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green</a:t>
            </a:r>
          </a:p>
          <a:p>
            <a:pPr lvl="1">
              <a:buNone/>
            </a:pPr>
            <a:r>
              <a:rPr lang="en-US" sz="3200" i="1" dirty="0"/>
              <a:t>R(x)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red</a:t>
            </a:r>
          </a:p>
          <a:p>
            <a:pPr lvl="1">
              <a:buNone/>
            </a:pPr>
            <a:r>
              <a:rPr lang="en-US" sz="3200" i="1" dirty="0"/>
              <a:t>B(x)</a:t>
            </a:r>
            <a:r>
              <a:rPr lang="en-US" sz="3200" dirty="0"/>
              <a:t>: x is a blue</a:t>
            </a:r>
          </a:p>
          <a:p>
            <a:pPr lvl="1">
              <a:buNone/>
            </a:pPr>
            <a:endParaRPr lang="en-US" sz="2400" dirty="0"/>
          </a:p>
          <a:p>
            <a:pPr>
              <a:buNone/>
            </a:pPr>
            <a:r>
              <a:rPr lang="en-US" sz="2800" dirty="0"/>
              <a:t>  “</a:t>
            </a:r>
            <a:r>
              <a:rPr lang="en-US" sz="2800" b="1" dirty="0"/>
              <a:t>All</a:t>
            </a:r>
            <a:r>
              <a:rPr lang="en-US" sz="2800" dirty="0"/>
              <a:t> Greens are Reds.</a:t>
            </a:r>
          </a:p>
          <a:p>
            <a:pPr>
              <a:buNone/>
            </a:pPr>
            <a:r>
              <a:rPr lang="en-US" sz="2800" b="1" dirty="0"/>
              <a:t>   Solution</a:t>
            </a:r>
            <a:r>
              <a:rPr lang="en-US" sz="2800" dirty="0"/>
              <a:t>: </a:t>
            </a:r>
            <a:r>
              <a:rPr lang="en-US" sz="2800" i="1" dirty="0">
                <a:latin typeface="Cambria Math" pitchFamily="18" charset="0"/>
                <a:ea typeface="Cambria Math" pitchFamily="18" charset="0"/>
                <a:sym typeface="Symbol"/>
              </a:rPr>
              <a:t>x (G(x)</a:t>
            </a:r>
            <a:r>
              <a:rPr lang="en-US" sz="2800" i="1" dirty="0">
                <a:latin typeface="Cambria Math"/>
                <a:ea typeface="Cambria Math"/>
                <a:sym typeface="Symbol"/>
              </a:rPr>
              <a:t>→ R(x))</a:t>
            </a:r>
            <a:endParaRPr lang="en-US" sz="2800" i="1" dirty="0">
              <a:latin typeface="Cambria Math" pitchFamily="18" charset="0"/>
              <a:ea typeface="Cambria Math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19913" y="6310313"/>
            <a:ext cx="149092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th-TH" sz="2400" i="1">
                <a:solidFill>
                  <a:schemeClr val="tx2"/>
                </a:solidFill>
              </a:rPr>
              <a:t>continued</a:t>
            </a:r>
            <a:endParaRPr lang="th-TH" i="1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0" y="4343400"/>
            <a:ext cx="16577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Translation 4.1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U = {green, red, blue}</a:t>
            </a:r>
          </a:p>
          <a:p>
            <a:pPr lvl="1">
              <a:buNone/>
            </a:pPr>
            <a:r>
              <a:rPr lang="en-US" sz="3200" i="1" dirty="0"/>
              <a:t>G(x)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green</a:t>
            </a:r>
          </a:p>
          <a:p>
            <a:pPr lvl="1">
              <a:buNone/>
            </a:pPr>
            <a:r>
              <a:rPr lang="en-US" sz="3200" i="1" dirty="0"/>
              <a:t>R(x)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red</a:t>
            </a:r>
          </a:p>
          <a:p>
            <a:pPr lvl="1">
              <a:buNone/>
            </a:pPr>
            <a:r>
              <a:rPr lang="en-US" sz="3200" i="1" dirty="0"/>
              <a:t>B(x)</a:t>
            </a:r>
            <a:r>
              <a:rPr lang="en-US" sz="3200" dirty="0"/>
              <a:t>: x is a blue</a:t>
            </a:r>
          </a:p>
          <a:p>
            <a:pPr lvl="1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“</a:t>
            </a:r>
            <a:r>
              <a:rPr lang="en-US" b="1" dirty="0"/>
              <a:t>Some</a:t>
            </a:r>
            <a:r>
              <a:rPr lang="en-US" dirty="0"/>
              <a:t> Greens are Blue</a:t>
            </a:r>
          </a:p>
          <a:p>
            <a:pPr>
              <a:buNone/>
            </a:pPr>
            <a:r>
              <a:rPr lang="en-US" b="1" dirty="0"/>
              <a:t>   Solution</a:t>
            </a:r>
            <a:r>
              <a:rPr lang="en-US" dirty="0"/>
              <a:t>: </a:t>
            </a:r>
            <a:r>
              <a:rPr lang="en-US" dirty="0">
                <a:sym typeface="Symbol"/>
              </a:rPr>
              <a:t>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x (G(x) </a:t>
            </a:r>
            <a:r>
              <a:rPr lang="en-US" dirty="0">
                <a:latin typeface="Cambria Math"/>
                <a:ea typeface="Cambria Math"/>
                <a:sym typeface="Symbol"/>
              </a:rPr>
              <a:t>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B(x))</a:t>
            </a:r>
            <a:endParaRPr lang="en-US" i="1" dirty="0">
              <a:latin typeface="Cambria Math" pitchFamily="18" charset="0"/>
              <a:ea typeface="Cambria Math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19913" y="6310313"/>
            <a:ext cx="149092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th-TH" sz="2400" i="1">
                <a:solidFill>
                  <a:schemeClr val="tx2"/>
                </a:solidFill>
              </a:rPr>
              <a:t>continued</a:t>
            </a:r>
            <a:endParaRPr lang="th-TH" i="1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53200" y="4572000"/>
            <a:ext cx="16577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Translation 4.3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374833"/>
          </a:xfrm>
        </p:spPr>
        <p:txBody>
          <a:bodyPr>
            <a:normAutofit/>
          </a:bodyPr>
          <a:lstStyle/>
          <a:p>
            <a:r>
              <a:rPr lang="en-US" sz="3600" dirty="0"/>
              <a:t>U = {green, red, blue}</a:t>
            </a:r>
          </a:p>
          <a:p>
            <a:pPr lvl="1">
              <a:buNone/>
            </a:pPr>
            <a:r>
              <a:rPr lang="en-US" sz="3200" i="1" dirty="0"/>
              <a:t>G(x)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green</a:t>
            </a:r>
          </a:p>
          <a:p>
            <a:pPr lvl="1">
              <a:buNone/>
            </a:pPr>
            <a:r>
              <a:rPr lang="en-US" sz="3200" i="1" dirty="0"/>
              <a:t>R(x)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red</a:t>
            </a:r>
          </a:p>
          <a:p>
            <a:pPr lvl="1">
              <a:buNone/>
            </a:pPr>
            <a:r>
              <a:rPr lang="en-US" sz="3200" i="1" dirty="0"/>
              <a:t>B(x)</a:t>
            </a:r>
            <a:r>
              <a:rPr lang="en-US" sz="3200" dirty="0"/>
              <a:t>: x is a blue</a:t>
            </a:r>
          </a:p>
          <a:p>
            <a:pPr lvl="1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“</a:t>
            </a:r>
            <a:r>
              <a:rPr lang="en-US" b="1" dirty="0"/>
              <a:t>No</a:t>
            </a:r>
            <a:r>
              <a:rPr lang="en-US" dirty="0"/>
              <a:t> Red is a Blue.”</a:t>
            </a:r>
          </a:p>
          <a:p>
            <a:pPr>
              <a:buNone/>
            </a:pPr>
            <a:r>
              <a:rPr lang="en-US" b="1" dirty="0"/>
              <a:t>     Solution</a:t>
            </a:r>
            <a:r>
              <a:rPr lang="en-US" dirty="0"/>
              <a:t>: </a:t>
            </a:r>
            <a:r>
              <a:rPr lang="en-US" dirty="0">
                <a:latin typeface="Cambria Math"/>
                <a:ea typeface="Cambria Math"/>
              </a:rPr>
              <a:t>¬</a:t>
            </a:r>
            <a:r>
              <a:rPr lang="en-US" dirty="0">
                <a:sym typeface="Symbol"/>
              </a:rPr>
              <a:t>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x (R(x) </a:t>
            </a:r>
            <a:r>
              <a:rPr lang="en-US" dirty="0">
                <a:latin typeface="Cambria Math"/>
                <a:ea typeface="Cambria Math"/>
                <a:sym typeface="Symbol"/>
              </a:rPr>
              <a:t>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B(x))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19913" y="6310313"/>
            <a:ext cx="149092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th-TH" sz="2400" i="1">
                <a:solidFill>
                  <a:schemeClr val="tx2"/>
                </a:solidFill>
              </a:rPr>
              <a:t>continued</a:t>
            </a:r>
            <a:endParaRPr lang="th-TH" i="1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49807" y="4495800"/>
            <a:ext cx="16577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Translation 4.4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U = {green, red, blue}</a:t>
            </a:r>
          </a:p>
          <a:p>
            <a:pPr lvl="1">
              <a:buNone/>
            </a:pPr>
            <a:r>
              <a:rPr lang="en-US" sz="3200" i="1" dirty="0"/>
              <a:t>G(x)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green</a:t>
            </a:r>
          </a:p>
          <a:p>
            <a:pPr lvl="1">
              <a:buNone/>
            </a:pPr>
            <a:r>
              <a:rPr lang="en-US" sz="3200" i="1" dirty="0"/>
              <a:t>R(x)</a:t>
            </a:r>
            <a:r>
              <a:rPr lang="en-US" sz="3200" dirty="0"/>
              <a:t>: </a:t>
            </a:r>
            <a:r>
              <a:rPr lang="en-US" sz="3200" i="1" dirty="0"/>
              <a:t>x</a:t>
            </a:r>
            <a:r>
              <a:rPr lang="en-US" sz="3200" dirty="0"/>
              <a:t> is a red</a:t>
            </a:r>
          </a:p>
          <a:p>
            <a:pPr lvl="1">
              <a:buNone/>
            </a:pPr>
            <a:r>
              <a:rPr lang="en-US" sz="3200" i="1" dirty="0"/>
              <a:t>B(x)</a:t>
            </a:r>
            <a:r>
              <a:rPr lang="en-US" sz="3200" dirty="0"/>
              <a:t>: x is a blue</a:t>
            </a:r>
          </a:p>
          <a:p>
            <a:pPr lvl="1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“</a:t>
            </a:r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/>
              <a:t>any</a:t>
            </a:r>
            <a:r>
              <a:rPr lang="en-US" dirty="0"/>
              <a:t> green is a red </a:t>
            </a:r>
            <a:r>
              <a:rPr lang="en-US" b="1" dirty="0"/>
              <a:t>then</a:t>
            </a:r>
            <a:r>
              <a:rPr lang="en-US" dirty="0"/>
              <a:t> it is also a blue”.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     Solution</a:t>
            </a:r>
            <a:r>
              <a:rPr lang="en-US" dirty="0"/>
              <a:t>: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x (</a:t>
            </a:r>
            <a:r>
              <a:rPr lang="en-US" dirty="0">
                <a:sym typeface="Symbol"/>
              </a:rPr>
              <a:t>(x)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(G(x) </a:t>
            </a:r>
            <a:r>
              <a:rPr lang="en-US" dirty="0">
                <a:latin typeface="Cambria Math"/>
                <a:ea typeface="Cambria Math"/>
                <a:sym typeface="Symbol"/>
              </a:rPr>
              <a:t>∧</a:t>
            </a:r>
            <a:r>
              <a:rPr lang="en-US" i="1" dirty="0">
                <a:latin typeface="Cambria Math"/>
                <a:ea typeface="Cambria Math"/>
                <a:sym typeface="Symbol"/>
              </a:rPr>
              <a:t> R(x))→ B(x))</a:t>
            </a:r>
            <a:endParaRPr lang="en-US" i="1" dirty="0">
              <a:latin typeface="Cambria Math" pitchFamily="18" charset="0"/>
              <a:ea typeface="Cambria Math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1295400" y="4648200"/>
            <a:ext cx="31242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>
            <a:stCxn id="2" idx="7"/>
            <a:endCxn id="7" idx="1"/>
          </p:cNvCxnSpPr>
          <p:nvPr/>
        </p:nvCxnSpPr>
        <p:spPr>
          <a:xfrm flipV="1">
            <a:off x="3962072" y="3083169"/>
            <a:ext cx="2057728" cy="16766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19800" y="2621504"/>
            <a:ext cx="293170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"any" suggests  </a:t>
            </a:r>
            <a:r>
              <a:rPr lang="en-US" dirty="0">
                <a:sym typeface="Symbol"/>
              </a:rPr>
              <a:t> and ,</a:t>
            </a:r>
          </a:p>
          <a:p>
            <a:r>
              <a:rPr lang="en-US" dirty="0">
                <a:sym typeface="Symbol"/>
              </a:rPr>
              <a:t>but since it is the condition </a:t>
            </a:r>
          </a:p>
          <a:p>
            <a:r>
              <a:rPr lang="en-US" dirty="0">
                <a:sym typeface="Symbol"/>
              </a:rPr>
              <a:t>of if-then, just use 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All  graduate students are smart. </a:t>
            </a:r>
          </a:p>
          <a:p>
            <a:r>
              <a:rPr lang="en-US" sz="3200" i="1" dirty="0">
                <a:latin typeface="Cambria Math" pitchFamily="18" charset="0"/>
                <a:ea typeface="Cambria Math" pitchFamily="18" charset="0"/>
                <a:sym typeface="Symbol"/>
              </a:rPr>
              <a:t>  x   </a:t>
            </a:r>
            <a:r>
              <a:rPr lang="en-US" sz="3200" dirty="0"/>
              <a:t>Smart(x) </a:t>
            </a:r>
          </a:p>
          <a:p>
            <a:endParaRPr lang="en-US" sz="3200" dirty="0"/>
          </a:p>
          <a:p>
            <a:r>
              <a:rPr lang="en-US" sz="3200" dirty="0"/>
              <a:t>Someone of the students  are smart</a:t>
            </a:r>
          </a:p>
          <a:p>
            <a:r>
              <a:rPr lang="en-US" sz="3200" dirty="0">
                <a:sym typeface="Symbol"/>
              </a:rPr>
              <a:t></a:t>
            </a:r>
            <a:r>
              <a:rPr lang="en-US" sz="3200" dirty="0"/>
              <a:t> x Smart(x)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3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09799"/>
            <a:ext cx="7745505" cy="3916363"/>
          </a:xfrm>
        </p:spPr>
        <p:txBody>
          <a:bodyPr>
            <a:noAutofit/>
          </a:bodyPr>
          <a:lstStyle/>
          <a:p>
            <a:r>
              <a:rPr lang="en-US" sz="1800" dirty="0"/>
              <a:t>1. Let </a:t>
            </a:r>
            <a:r>
              <a:rPr lang="en-US" sz="1800" i="1" dirty="0"/>
              <a:t>Q(x, y)</a:t>
            </a:r>
            <a:r>
              <a:rPr lang="en-US" sz="1800" dirty="0"/>
              <a:t> denote the statement "</a:t>
            </a:r>
            <a:r>
              <a:rPr lang="en-US" sz="1800" i="1" dirty="0"/>
              <a:t>x</a:t>
            </a:r>
            <a:r>
              <a:rPr lang="en-US" sz="1800" dirty="0"/>
              <a:t> is greater than </a:t>
            </a:r>
            <a:r>
              <a:rPr lang="en-US" sz="1800" i="1" dirty="0"/>
              <a:t>y</a:t>
            </a:r>
            <a:r>
              <a:rPr lang="en-US" sz="1800" dirty="0"/>
              <a:t>."  What are the truth values of the following?</a:t>
            </a:r>
          </a:p>
          <a:p>
            <a:r>
              <a:rPr lang="en-US" sz="1800" i="1" dirty="0"/>
              <a:t>Q</a:t>
            </a:r>
            <a:r>
              <a:rPr lang="en-US" sz="1800" dirty="0"/>
              <a:t> (3, 1)</a:t>
            </a:r>
          </a:p>
          <a:p>
            <a:r>
              <a:rPr lang="en-US" sz="1800" i="1" dirty="0"/>
              <a:t>Q</a:t>
            </a:r>
            <a:r>
              <a:rPr lang="en-US" sz="1800" dirty="0"/>
              <a:t> (5, 5)</a:t>
            </a:r>
          </a:p>
          <a:p>
            <a:r>
              <a:rPr lang="en-US" sz="1800" i="1" dirty="0"/>
              <a:t>Q</a:t>
            </a:r>
            <a:r>
              <a:rPr lang="en-US" sz="1800" dirty="0"/>
              <a:t> (6, -6)</a:t>
            </a:r>
          </a:p>
          <a:p>
            <a:r>
              <a:rPr lang="en-US" sz="1800" i="1" dirty="0"/>
              <a:t>Q</a:t>
            </a:r>
            <a:r>
              <a:rPr lang="en-US" sz="1800" dirty="0"/>
              <a:t> (2</a:t>
            </a:r>
            <a:r>
              <a:rPr lang="en-US" sz="1800" baseline="30000" dirty="0"/>
              <a:t>8</a:t>
            </a:r>
            <a:r>
              <a:rPr lang="en-US" sz="1800" dirty="0"/>
              <a:t>, 256)</a:t>
            </a:r>
          </a:p>
          <a:p>
            <a:r>
              <a:rPr lang="en-US" sz="1800" b="1" dirty="0"/>
              <a:t>2.</a:t>
            </a:r>
            <a:r>
              <a:rPr lang="en-US" sz="1800" dirty="0"/>
              <a:t> Let </a:t>
            </a:r>
            <a:r>
              <a:rPr lang="en-US" sz="1800" i="1" dirty="0"/>
              <a:t>P(x)</a:t>
            </a:r>
            <a:r>
              <a:rPr lang="en-US" sz="1800" dirty="0"/>
              <a:t> be the statement "</a:t>
            </a:r>
            <a:r>
              <a:rPr lang="en-US" sz="1800" i="1" dirty="0"/>
              <a:t>x</a:t>
            </a:r>
            <a:r>
              <a:rPr lang="en-US" sz="1800" dirty="0"/>
              <a:t> is happy," where the universe of discourse for </a:t>
            </a:r>
            <a:r>
              <a:rPr lang="en-US" sz="1800" i="1" dirty="0"/>
              <a:t>x</a:t>
            </a:r>
            <a:r>
              <a:rPr lang="en-US" sz="1800" dirty="0"/>
              <a:t> is the set of students.  Express each of the following quantifications in English.</a:t>
            </a:r>
          </a:p>
          <a:p>
            <a:r>
              <a:rPr lang="en-US" sz="1800" dirty="0"/>
              <a:t> </a:t>
            </a:r>
            <a:r>
              <a:rPr lang="en-US" sz="1800" dirty="0">
                <a:sym typeface="Symbol"/>
              </a:rPr>
              <a:t> </a:t>
            </a:r>
            <a:r>
              <a:rPr lang="en-US" sz="1800" dirty="0"/>
              <a:t> </a:t>
            </a:r>
            <a:r>
              <a:rPr lang="en-US" sz="1800" i="1" dirty="0"/>
              <a:t>x P(x)</a:t>
            </a:r>
            <a:endParaRPr lang="en-US" sz="1800" dirty="0"/>
          </a:p>
          <a:p>
            <a:r>
              <a:rPr lang="en-US" sz="1800" dirty="0"/>
              <a:t>  </a:t>
            </a:r>
            <a:r>
              <a:rPr lang="en-US" sz="1800" b="1" i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  </a:t>
            </a:r>
            <a:r>
              <a:rPr lang="en-US" sz="1800" i="1" dirty="0"/>
              <a:t>x </a:t>
            </a:r>
            <a:r>
              <a:rPr lang="en-US" sz="1800" b="1" dirty="0">
                <a:solidFill>
                  <a:srgbClr val="0070C0"/>
                </a:solidFill>
              </a:rPr>
              <a:t> ¬ </a:t>
            </a:r>
            <a:r>
              <a:rPr lang="en-US" sz="1800" i="1" dirty="0"/>
              <a:t>P(x)</a:t>
            </a:r>
            <a:endParaRPr lang="en-US" sz="1800" dirty="0"/>
          </a:p>
          <a:p>
            <a:r>
              <a:rPr lang="en-US" sz="1800" dirty="0"/>
              <a:t> </a:t>
            </a:r>
            <a:r>
              <a:rPr lang="en-US" sz="1800" dirty="0">
                <a:sym typeface="Symbol"/>
              </a:rPr>
              <a:t> </a:t>
            </a:r>
            <a:r>
              <a:rPr lang="en-US" sz="1800" dirty="0"/>
              <a:t> </a:t>
            </a:r>
            <a:r>
              <a:rPr lang="en-US" sz="1800" i="1" dirty="0"/>
              <a:t>x</a:t>
            </a:r>
            <a:r>
              <a:rPr lang="en-US" sz="1800" dirty="0"/>
              <a:t>  </a:t>
            </a:r>
            <a:r>
              <a:rPr lang="en-US" sz="1800" b="1" dirty="0">
                <a:solidFill>
                  <a:srgbClr val="0070C0"/>
                </a:solidFill>
              </a:rPr>
              <a:t> ¬ </a:t>
            </a:r>
            <a:r>
              <a:rPr lang="en-US" sz="1800" i="1" dirty="0"/>
              <a:t>P(x)</a:t>
            </a:r>
            <a:endParaRPr lang="en-US" sz="1800" dirty="0"/>
          </a:p>
          <a:p>
            <a:r>
              <a:rPr lang="en-US" sz="1800" dirty="0"/>
              <a:t>  </a:t>
            </a:r>
            <a:r>
              <a:rPr lang="en-US" sz="1800" b="1" dirty="0">
                <a:solidFill>
                  <a:srgbClr val="0070C0"/>
                </a:solidFill>
              </a:rPr>
              <a:t> ¬ </a:t>
            </a:r>
            <a:r>
              <a:rPr lang="en-US" sz="1800" b="1" i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  </a:t>
            </a:r>
            <a:r>
              <a:rPr lang="en-US" sz="1800" i="1" dirty="0"/>
              <a:t>x</a:t>
            </a:r>
            <a:r>
              <a:rPr lang="en-US" sz="1800" dirty="0"/>
              <a:t>  </a:t>
            </a:r>
            <a:r>
              <a:rPr lang="en-US" sz="1800" b="1" dirty="0">
                <a:solidFill>
                  <a:srgbClr val="0070C0"/>
                </a:solidFill>
              </a:rPr>
              <a:t> ¬ </a:t>
            </a:r>
            <a:r>
              <a:rPr lang="en-US" sz="1800" i="1" dirty="0"/>
              <a:t>P(x)</a:t>
            </a:r>
            <a:endParaRPr 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</p:spPr>
        <p:txBody>
          <a:bodyPr/>
          <a:lstStyle/>
          <a:p>
            <a:r>
              <a:rPr lang="en-US" dirty="0"/>
              <a:t>Exercise </a:t>
            </a:r>
          </a:p>
        </p:txBody>
      </p:sp>
    </p:spTree>
    <p:extLst>
      <p:ext uri="{BB962C8B-B14F-4D97-AF65-F5344CB8AC3E}">
        <p14:creationId xmlns:p14="http://schemas.microsoft.com/office/powerpoint/2010/main" val="2734348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</a:t>
            </a:r>
            <a:r>
              <a:rPr lang="en-US" dirty="0"/>
              <a:t> Let </a:t>
            </a:r>
            <a:r>
              <a:rPr lang="en-US" i="1" dirty="0"/>
              <a:t>P(x)</a:t>
            </a:r>
            <a:r>
              <a:rPr lang="en-US" dirty="0"/>
              <a:t> be the statement " </a:t>
            </a:r>
            <a:r>
              <a:rPr lang="en-US" i="1" dirty="0"/>
              <a:t>x</a:t>
            </a:r>
            <a:r>
              <a:rPr lang="en-US" dirty="0"/>
              <a:t> &gt; </a:t>
            </a:r>
            <a:r>
              <a:rPr lang="en-US" i="1" dirty="0"/>
              <a:t>x</a:t>
            </a:r>
            <a:r>
              <a:rPr lang="en-US" i="1" baseline="30000" dirty="0"/>
              <a:t>2</a:t>
            </a:r>
            <a:r>
              <a:rPr lang="en-US" dirty="0"/>
              <a:t>."  If the universe of discourse is the set of real numbers, what are the truth values of the following?</a:t>
            </a:r>
          </a:p>
          <a:p>
            <a:r>
              <a:rPr lang="en-US" i="1" dirty="0"/>
              <a:t>P(0)</a:t>
            </a:r>
            <a:endParaRPr lang="en-US" dirty="0"/>
          </a:p>
          <a:p>
            <a:r>
              <a:rPr lang="en-US" i="1" dirty="0"/>
              <a:t>P(1/2)</a:t>
            </a:r>
            <a:endParaRPr lang="en-US" dirty="0"/>
          </a:p>
          <a:p>
            <a:r>
              <a:rPr lang="en-US" i="1" dirty="0"/>
              <a:t>P(2)</a:t>
            </a:r>
            <a:endParaRPr lang="en-US" dirty="0"/>
          </a:p>
          <a:p>
            <a:r>
              <a:rPr lang="en-US" i="1" dirty="0"/>
              <a:t>P(-1)</a:t>
            </a:r>
            <a:endParaRPr lang="en-US" dirty="0"/>
          </a:p>
          <a:p>
            <a:r>
              <a:rPr lang="en-US" dirty="0"/>
              <a:t> </a:t>
            </a:r>
            <a:r>
              <a:rPr lang="en-US" dirty="0">
                <a:sym typeface="Symbol"/>
              </a:rPr>
              <a:t> </a:t>
            </a:r>
            <a:r>
              <a:rPr lang="en-US" dirty="0"/>
              <a:t> </a:t>
            </a:r>
            <a:r>
              <a:rPr lang="en-US" i="1" dirty="0"/>
              <a:t>x P(x)</a:t>
            </a:r>
            <a:endParaRPr lang="en-US" dirty="0"/>
          </a:p>
          <a:p>
            <a:r>
              <a:rPr lang="en-US" dirty="0"/>
              <a:t> </a:t>
            </a:r>
            <a:r>
              <a:rPr lang="en-US" b="1" i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   </a:t>
            </a:r>
            <a:r>
              <a:rPr lang="en-US" i="1" dirty="0"/>
              <a:t>x P(x)</a:t>
            </a:r>
            <a:endParaRPr lang="en-US" dirty="0"/>
          </a:p>
          <a:p>
            <a:endParaRPr lang="en-US" sz="105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010408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</a:t>
            </a:r>
            <a:r>
              <a:rPr lang="en-US" dirty="0"/>
              <a:t> a) T     b) F     c) T      d) F</a:t>
            </a:r>
          </a:p>
          <a:p>
            <a:r>
              <a:rPr lang="en-US" b="1" dirty="0"/>
              <a:t>2.</a:t>
            </a:r>
            <a:endParaRPr lang="en-US" dirty="0"/>
          </a:p>
          <a:p>
            <a:r>
              <a:rPr lang="en-US" dirty="0"/>
              <a:t>There is a student who is happy.</a:t>
            </a:r>
          </a:p>
          <a:p>
            <a:r>
              <a:rPr lang="en-US" dirty="0"/>
              <a:t>Every student is not happy.</a:t>
            </a:r>
          </a:p>
          <a:p>
            <a:r>
              <a:rPr lang="en-US" dirty="0"/>
              <a:t>There is a student who is not happy.</a:t>
            </a:r>
          </a:p>
          <a:p>
            <a:r>
              <a:rPr lang="en-US" dirty="0"/>
              <a:t>Not all students are unhappy.</a:t>
            </a:r>
          </a:p>
          <a:p>
            <a:r>
              <a:rPr lang="en-US" b="1" dirty="0"/>
              <a:t>3.</a:t>
            </a:r>
            <a:r>
              <a:rPr lang="en-US" dirty="0"/>
              <a:t> a) F    b) T    c) F   d)F    e) T     f) F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answers</a:t>
            </a:r>
          </a:p>
        </p:txBody>
      </p:sp>
    </p:spTree>
    <p:extLst>
      <p:ext uri="{BB962C8B-B14F-4D97-AF65-F5344CB8AC3E}">
        <p14:creationId xmlns:p14="http://schemas.microsoft.com/office/powerpoint/2010/main" val="2465900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8|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neg \forall x P(x) \equiv \exists x \neg P(x)$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neg \exists x P(x) \equiv \forall  x \neg P(x)$&#10;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9981</TotalTime>
  <Words>2794</Words>
  <Application>Microsoft Macintosh PowerPoint</Application>
  <PresentationFormat>On-screen Show (4:3)</PresentationFormat>
  <Paragraphs>379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Book Antiqua</vt:lpstr>
      <vt:lpstr>EucrosiaUPC</vt:lpstr>
      <vt:lpstr>Cambria Math</vt:lpstr>
      <vt:lpstr>Calibri</vt:lpstr>
      <vt:lpstr>Arial</vt:lpstr>
      <vt:lpstr>Wingdings</vt:lpstr>
      <vt:lpstr>Symbol</vt:lpstr>
      <vt:lpstr>Angsana New</vt:lpstr>
      <vt:lpstr>Cordia New</vt:lpstr>
      <vt:lpstr>Hardcover</vt:lpstr>
      <vt:lpstr>Discrete Maths</vt:lpstr>
      <vt:lpstr>Overview</vt:lpstr>
      <vt:lpstr>1. Motivation</vt:lpstr>
      <vt:lpstr>2. Predicate Logic</vt:lpstr>
      <vt:lpstr>A Predicate as a Property</vt:lpstr>
      <vt:lpstr>A Predicate as a Relation</vt:lpstr>
      <vt:lpstr>Question</vt:lpstr>
      <vt:lpstr>Compound Expressions</vt:lpstr>
      <vt:lpstr>3. Quantifiers</vt:lpstr>
      <vt:lpstr>3.1. Universal Quantifier</vt:lpstr>
      <vt:lpstr>3.2. Existential Quantifier</vt:lpstr>
      <vt:lpstr>3.3. De Morgan’s Laws for Quantifiers</vt:lpstr>
      <vt:lpstr>Basic concept</vt:lpstr>
      <vt:lpstr>4. From English to Logic</vt:lpstr>
      <vt:lpstr>4.1. All-are: All p's are q's</vt:lpstr>
      <vt:lpstr>4.2.  All-and-are</vt:lpstr>
      <vt:lpstr>Why "too strong"?</vt:lpstr>
      <vt:lpstr>4.3. Some-are: Some p's are q's</vt:lpstr>
      <vt:lpstr>Why too weak?</vt:lpstr>
      <vt:lpstr>4.4. No-are: No p's are q's</vt:lpstr>
      <vt:lpstr>4.5 Some-are-not</vt:lpstr>
      <vt:lpstr>4.6.  Not-all-are</vt:lpstr>
      <vt:lpstr>4.7.  All-not</vt:lpstr>
      <vt:lpstr>4.8.  Only-are</vt:lpstr>
      <vt:lpstr>5. Domain Affects Translation</vt:lpstr>
      <vt:lpstr>6. Translation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</vt:lpstr>
      <vt:lpstr>Exercise</vt:lpstr>
      <vt:lpstr>Exercise answers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Maths</dc:title>
  <cp:lastModifiedBy>Microsoft Office User</cp:lastModifiedBy>
  <cp:revision>667</cp:revision>
  <cp:lastPrinted>2015-01-12T09:55:37Z</cp:lastPrinted>
  <dcterms:created xsi:type="dcterms:W3CDTF">2011-03-16T03:13:19Z</dcterms:created>
  <dcterms:modified xsi:type="dcterms:W3CDTF">2022-09-28T13:12:54Z</dcterms:modified>
</cp:coreProperties>
</file>