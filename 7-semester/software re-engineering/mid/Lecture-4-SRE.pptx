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61" r:id="rId3"/>
    <p:sldId id="550" r:id="rId4"/>
    <p:sldId id="551" r:id="rId5"/>
    <p:sldId id="552" r:id="rId6"/>
    <p:sldId id="553" r:id="rId7"/>
    <p:sldId id="554" r:id="rId8"/>
    <p:sldId id="555" r:id="rId9"/>
    <p:sldId id="556" r:id="rId10"/>
    <p:sldId id="557" r:id="rId11"/>
    <p:sldId id="558" r:id="rId12"/>
    <p:sldId id="559" r:id="rId13"/>
    <p:sldId id="560" r:id="rId14"/>
    <p:sldId id="561" r:id="rId15"/>
    <p:sldId id="5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353" autoAdjust="0"/>
  </p:normalViewPr>
  <p:slideViewPr>
    <p:cSldViewPr snapToGrid="0">
      <p:cViewPr varScale="1">
        <p:scale>
          <a:sx n="90" d="100"/>
          <a:sy n="90" d="100"/>
        </p:scale>
        <p:origin x="7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92352-B4B8-4883-A7AE-74A1CD73CC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88E6-59B9-48DC-9B4A-57289DC710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95C29-67EF-49A4-98C1-FCB15B72695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B0436-9CF9-4A1C-A1A4-6B867600F0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D58C5-83E6-49AD-8389-6E84C9EF0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1700E-07F4-4037-B9BA-0B175960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2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83B8F-3A1C-4F2C-B130-8969D6C1E4A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C6B6B-DEB4-4104-BA10-F9FA8AE5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C0E30B0-E077-4993-974F-9A916C82C114}" type="datetime1">
              <a:rPr lang="en-US" smtClean="0"/>
              <a:t>9/16/2024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0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rgbClr val="002060"/>
          </a:solidFill>
        </p:spPr>
        <p:txBody>
          <a:bodyPr anchor="b"/>
          <a:lstStyle>
            <a:lvl1pPr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rgbClr val="001050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330EE-1BA8-420F-B2C9-CE22107EC47A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1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062"/>
            <a:ext cx="10515600" cy="1325563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0214-E8A3-43BC-B597-D3E30C8B00C0}" type="datetime1">
              <a:rPr lang="en-US" smtClean="0"/>
              <a:t>9/16/2024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7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38542-80B1-4CF8-8433-4FF09B77E667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DA35-5107-4BD5-8AAB-1BDDC0BFF481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0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A08FD-3D60-442C-B673-50DEA1E71820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E983-65F8-481A-83AB-B8769D08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3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3A08-5DAE-4AF9-898B-437FB4DCE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Re-Engineering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EFB2B-D101-4F13-9CD7-92D3F2741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Instructor</a:t>
            </a:r>
            <a:r>
              <a:rPr lang="en-US"/>
              <a:t>: Muhammad Usman Shahid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46440-FFC7-47D9-82FF-48B7F66EB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1" y="697368"/>
            <a:ext cx="4532812" cy="1045029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 No.04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6F98B-6F84-40A3-A2C3-2A0ADF2766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BSSE – 7 &amp; 8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4ED84E-60DD-47EC-B4DE-DE8CA8C46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52C-3CFC-4FAB-945A-BCF95F4812D3}" type="datetime1">
              <a:rPr lang="en-US" smtClean="0"/>
              <a:t>9/16/2024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85CF7-82D0-438F-957D-503B6DDA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0" y="0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Lecture 4: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27" y="674703"/>
            <a:ext cx="10714608" cy="494486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i="0" u="none" strike="noStrike" baseline="0" dirty="0"/>
              <a:t>Evolution Of Software Systems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SPE Taxonomy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80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200" i="0" u="none" strike="noStrike" baseline="0" dirty="0"/>
              <a:t>Evolution Of Software Systems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Dynamic growth of software</a:t>
            </a:r>
          </a:p>
          <a:p>
            <a:pPr algn="l"/>
            <a:r>
              <a:rPr lang="en-US" b="0" i="1" u="none" strike="noStrike" baseline="0" dirty="0">
                <a:solidFill>
                  <a:srgbClr val="FF0000"/>
                </a:solidFill>
              </a:rPr>
              <a:t>Maintenance</a:t>
            </a:r>
            <a:r>
              <a:rPr lang="en-US" b="0" i="1" u="none" strike="noStrike" baseline="0" dirty="0"/>
              <a:t> </a:t>
            </a:r>
            <a:r>
              <a:rPr lang="en-US" b="0" i="0" u="none" strike="noStrike" baseline="0" dirty="0"/>
              <a:t>means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preserving software </a:t>
            </a:r>
            <a:r>
              <a:rPr lang="en-US" b="0" i="0" u="none" strike="noStrike" baseline="0" dirty="0"/>
              <a:t>from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decline or failure</a:t>
            </a:r>
            <a:r>
              <a:rPr lang="en-US" b="0" i="0" u="none" strike="noStrike" baseline="0" dirty="0"/>
              <a:t>.</a:t>
            </a:r>
          </a:p>
          <a:p>
            <a:pPr algn="l"/>
            <a:r>
              <a:rPr lang="en-US" b="0" i="0" u="none" strike="noStrike" baseline="0" dirty="0"/>
              <a:t> </a:t>
            </a:r>
            <a:r>
              <a:rPr lang="en-US" b="0" i="1" u="none" strike="noStrike" baseline="0" dirty="0">
                <a:solidFill>
                  <a:srgbClr val="FF0000"/>
                </a:solidFill>
              </a:rPr>
              <a:t>Evolution</a:t>
            </a:r>
            <a:r>
              <a:rPr lang="en-US" b="0" i="1" u="none" strike="noStrike" baseline="0" dirty="0"/>
              <a:t> </a:t>
            </a:r>
            <a:r>
              <a:rPr lang="en-US" b="0" i="0" u="none" strike="noStrike" baseline="0" dirty="0"/>
              <a:t>means a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continuously changing </a:t>
            </a:r>
            <a:r>
              <a:rPr lang="en-US" b="0" i="0" u="none" strike="noStrike" baseline="0" dirty="0"/>
              <a:t>software from a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worse</a:t>
            </a:r>
            <a:r>
              <a:rPr lang="en-US" b="0" i="0" u="none" strike="noStrike" baseline="0" dirty="0"/>
              <a:t> state to a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better</a:t>
            </a:r>
            <a:r>
              <a:rPr lang="en-US" b="0" i="0" u="none" strike="noStrike" baseline="0" dirty="0"/>
              <a:t> state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1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SPE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u="none" strike="noStrike" baseline="0" dirty="0"/>
              <a:t>SPE refers to </a:t>
            </a:r>
          </a:p>
          <a:p>
            <a:pPr algn="l"/>
            <a:r>
              <a:rPr lang="en-US" b="0" i="0" u="none" strike="noStrike" baseline="0" dirty="0"/>
              <a:t>S (Specified), </a:t>
            </a:r>
          </a:p>
          <a:p>
            <a:pPr algn="l"/>
            <a:r>
              <a:rPr lang="en-US" b="0" i="0" u="none" strike="noStrike" baseline="0" dirty="0"/>
              <a:t>P (Problem), </a:t>
            </a:r>
          </a:p>
          <a:p>
            <a:pPr algn="l"/>
            <a:r>
              <a:rPr lang="en-US" b="0" i="0" u="none" strike="noStrike" baseline="0" dirty="0"/>
              <a:t>and E (Evolving) programs.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/>
              <a:t>S-type programs: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200" b="0" i="0" u="none" strike="noStrike" baseline="0" dirty="0"/>
              <a:t>S-type programs have the following characteristics:</a:t>
            </a:r>
          </a:p>
          <a:p>
            <a:pPr algn="l"/>
            <a:r>
              <a:rPr lang="en-US" sz="3200" b="0" i="0" u="none" strike="noStrike" baseline="0" dirty="0"/>
              <a:t> All the nonfunctional and functional program properties that are important to its stakeholders are </a:t>
            </a:r>
            <a:r>
              <a:rPr lang="en-US" sz="3200" b="0" i="1" u="none" strike="noStrike" baseline="0" dirty="0">
                <a:solidFill>
                  <a:srgbClr val="FF0000"/>
                </a:solidFill>
              </a:rPr>
              <a:t>formally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and </a:t>
            </a:r>
            <a:r>
              <a:rPr lang="en-US" sz="3200" b="0" i="1" u="none" strike="noStrike" baseline="0" dirty="0">
                <a:solidFill>
                  <a:srgbClr val="FF0000"/>
                </a:solidFill>
              </a:rPr>
              <a:t>completely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defined.</a:t>
            </a:r>
          </a:p>
          <a:p>
            <a:pPr algn="l"/>
            <a:r>
              <a:rPr lang="en-US" sz="3200" b="0" i="0" u="none" strike="noStrike" baseline="0" dirty="0"/>
              <a:t>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Correctness</a:t>
            </a:r>
            <a:r>
              <a:rPr lang="en-US" sz="3200" b="0" i="0" u="none" strike="noStrike" baseline="0" dirty="0"/>
              <a:t> of the program with respect to its formal specification. </a:t>
            </a:r>
          </a:p>
          <a:p>
            <a:pPr marL="0" indent="0" algn="l">
              <a:buNone/>
            </a:pPr>
            <a:r>
              <a:rPr lang="en-US" sz="3200" b="0" i="0" u="none" strike="noStrike" baseline="0" dirty="0"/>
              <a:t>And it is the </a:t>
            </a:r>
            <a:r>
              <a:rPr lang="en-US" sz="3200" b="0" i="1" u="none" strike="noStrike" baseline="0" dirty="0"/>
              <a:t>only </a:t>
            </a:r>
            <a:r>
              <a:rPr lang="en-US" sz="3200" b="0" i="0" u="none" strike="noStrike" baseline="0" dirty="0"/>
              <a:t>criterion of the acceptability of the solution to its stakeholders.</a:t>
            </a:r>
            <a:endParaRPr lang="en-US" sz="48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5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b="1" i="0" u="none" strike="noStrike" baseline="0" dirty="0"/>
              <a:t>S-type programs:</a:t>
            </a:r>
            <a:endParaRPr lang="en-US" sz="5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446A80-5449-4833-9C60-071AF29A9F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7394" y="861135"/>
            <a:ext cx="7080268" cy="599686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9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4000" b="1" i="0" u="none" strike="noStrike" baseline="0" dirty="0"/>
              <a:t>P-type programs</a:t>
            </a:r>
            <a:endParaRPr lang="en-US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/>
              <a:t>The concept of correctness is difficult to define in these programs. </a:t>
            </a:r>
          </a:p>
          <a:p>
            <a:pPr algn="l"/>
            <a:r>
              <a:rPr lang="en-US" sz="3200" b="0" i="0" u="none" strike="noStrike" baseline="0" dirty="0"/>
              <a:t>Therefore, approximate solutions are developed for logical reasons.</a:t>
            </a:r>
            <a:endParaRPr lang="en-US" sz="48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72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b="1" i="0" u="none" strike="noStrike" baseline="0" dirty="0"/>
              <a:t>P-type programs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>
                <a:solidFill>
                  <a:srgbClr val="FF0000"/>
                </a:solidFill>
              </a:rPr>
              <a:t>Numerical problems</a:t>
            </a:r>
            <a:r>
              <a:rPr lang="en-US" sz="3200" b="0" i="0" u="none" strike="noStrike" baseline="0" dirty="0"/>
              <a:t>, except computations with integers and rational numbers, are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resolved</a:t>
            </a:r>
            <a:r>
              <a:rPr lang="en-US" sz="3200" b="0" i="0" u="none" strike="noStrike" baseline="0" dirty="0"/>
              <a:t> </a:t>
            </a:r>
            <a:r>
              <a:rPr lang="en-US" sz="3200" b="0" dirty="0">
                <a:solidFill>
                  <a:srgbClr val="FF0000"/>
                </a:solidFill>
              </a:rPr>
              <a:t>through approximations</a:t>
            </a:r>
            <a:r>
              <a:rPr lang="en-US" sz="3200" b="0" i="0" u="none" strike="noStrike" baseline="0" dirty="0"/>
              <a:t>.</a:t>
            </a:r>
            <a:endParaRPr lang="en-US" sz="48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77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b="1" i="0" u="none" strike="noStrike" baseline="0" dirty="0"/>
              <a:t>P-type programs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i="0" u="none" strike="noStrike" baseline="0" dirty="0"/>
              <a:t>For example, consider a program to play chess.</a:t>
            </a:r>
          </a:p>
          <a:p>
            <a:pPr algn="l"/>
            <a:r>
              <a:rPr lang="en-US" b="0" i="0" u="none" strike="noStrike" baseline="0" dirty="0"/>
              <a:t>Since the rules of chess are completely defined, the problem can be completely specified.</a:t>
            </a:r>
          </a:p>
          <a:p>
            <a:pPr algn="l"/>
            <a:r>
              <a:rPr lang="en-US" b="0" i="0" u="none" strike="noStrike" baseline="0" dirty="0"/>
              <a:t>At each step of the game, a solution might involve calculating the various moves and their impacts to determine the next best move.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33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b="1" i="0" u="none" strike="noStrike" baseline="0" dirty="0"/>
              <a:t>P-type programs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/>
              <a:t>However, complete implementation of such a solution may not be possible, because the number of moves is too large to be evaluated in a given time duration. </a:t>
            </a:r>
          </a:p>
          <a:p>
            <a:pPr algn="l"/>
            <a:r>
              <a:rPr lang="en-US" sz="3200" b="0" i="0" u="none" strike="noStrike" baseline="0" dirty="0"/>
              <a:t>Therefore, one must develop an approximate solution that is more practical while being acceptable.</a:t>
            </a:r>
            <a:endParaRPr lang="en-US" sz="48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49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b="1" i="0" u="none" strike="noStrike" baseline="0" dirty="0">
                <a:solidFill>
                  <a:srgbClr val="FF0000"/>
                </a:solidFill>
              </a:rPr>
              <a:t>P</a:t>
            </a:r>
            <a:r>
              <a:rPr lang="en-US" sz="5400" b="1" i="0" u="none" strike="noStrike" baseline="0" dirty="0"/>
              <a:t>-type programs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/>
              <a:t>In order to develop this type of solution, we describe the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problem in an abstract way</a:t>
            </a:r>
            <a:r>
              <a:rPr lang="en-US" sz="3200" b="0" i="0" u="none" strike="noStrike" baseline="0" dirty="0"/>
              <a:t> and write the requirement specification accordingly. </a:t>
            </a:r>
          </a:p>
          <a:p>
            <a:pPr algn="l"/>
            <a:r>
              <a:rPr lang="en-US" sz="3200" b="0" i="0" u="none" strike="noStrike" baseline="0" dirty="0"/>
              <a:t>A program developed this way is of P-type</a:t>
            </a:r>
          </a:p>
          <a:p>
            <a:pPr algn="l"/>
            <a:r>
              <a:rPr lang="en-US" sz="3200" b="0" i="0" u="none" strike="noStrike" baseline="0" dirty="0"/>
              <a:t>because it is based on a practical abstraction of the problem, instead of relying on a completely defined specification.</a:t>
            </a:r>
            <a:endParaRPr lang="en-US" sz="48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50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b="1" i="0" u="none" strike="noStrike" baseline="0" dirty="0"/>
              <a:t>P-type programs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Even though an exact solution may exist, the solution produced by a P-type program is tampered by the environment</a:t>
            </a:r>
          </a:p>
          <a:p>
            <a:pPr marL="0" indent="0" algn="l">
              <a:buNone/>
            </a:pPr>
            <a:r>
              <a:rPr lang="en-US" b="0" i="0" u="none" strike="noStrike" baseline="0" dirty="0"/>
              <a:t>    in which it must be produced. </a:t>
            </a:r>
          </a:p>
          <a:p>
            <a:pPr algn="l"/>
            <a:r>
              <a:rPr lang="en-US" b="0" i="0" u="none" strike="noStrike" baseline="0" dirty="0"/>
              <a:t>The solution of a P-type program is accepted if the program outcomes make sense to the stakeholder(s) in the world in which the problem is embedded.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7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b="1" i="0" u="none" strike="noStrike" baseline="0" dirty="0"/>
              <a:t>P-type programs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As illustrated in Figure 2.6 (Next slide),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P-type programs are more dynamic than S-type programs. </a:t>
            </a:r>
          </a:p>
          <a:p>
            <a:pPr algn="l"/>
            <a:r>
              <a:rPr lang="en-US" b="0" i="0" u="none" strike="noStrike" baseline="0" dirty="0"/>
              <a:t>P-type programs are likely to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change in an incremental fashion</a:t>
            </a:r>
            <a:r>
              <a:rPr lang="en-US" b="0" i="0" u="none" strike="noStrike" baseline="0" dirty="0"/>
              <a:t>.</a:t>
            </a:r>
          </a:p>
          <a:p>
            <a:pPr algn="l"/>
            <a:r>
              <a:rPr lang="en-US" b="0" i="0" u="none" strike="noStrike" baseline="0" dirty="0"/>
              <a:t>If the output of the solution is unacceptable, then the problem abstraction may be changed, and the requirements modified to make the new solution more realistic.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15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b="1" i="0" u="none" strike="noStrike" baseline="0" dirty="0"/>
              <a:t>P-type programs</a:t>
            </a:r>
            <a:endParaRPr lang="en-US" sz="5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EF63C3-1446-48B7-981F-CB5136505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4536" y="964531"/>
            <a:ext cx="4830519" cy="589347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10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B560-41A5-4898-9457-BF2FC3F2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 fontScale="90000"/>
          </a:bodyPr>
          <a:lstStyle/>
          <a:p>
            <a:r>
              <a:rPr lang="en-US" sz="5400" b="1" i="0" u="none" strike="noStrike" baseline="0" dirty="0"/>
              <a:t>P-type programs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7995-EA4B-47BF-86FB-6BC26FCD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75" y="1212112"/>
            <a:ext cx="11105225" cy="4964851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solidFill>
                  <a:srgbClr val="FF0000"/>
                </a:solidFill>
              </a:rPr>
              <a:t>Note that </a:t>
            </a:r>
            <a:r>
              <a:rPr lang="en-US" b="0" i="0" u="none" strike="noStrike" baseline="0" dirty="0"/>
              <a:t>the program resulting from the changes cannot be considered a new solution to a new problem. </a:t>
            </a:r>
          </a:p>
          <a:p>
            <a:pPr algn="l"/>
            <a:r>
              <a:rPr lang="en-US" b="0" i="0" u="none" strike="noStrike" baseline="0" dirty="0"/>
              <a:t>Rather, it is a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modification </a:t>
            </a:r>
            <a:r>
              <a:rPr lang="en-US" b="0" i="0" u="none" strike="noStrike" baseline="0" dirty="0"/>
              <a:t>of 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old solution </a:t>
            </a:r>
            <a:r>
              <a:rPr lang="en-US" b="0" i="0" u="none" strike="noStrike" baseline="0" dirty="0"/>
              <a:t>to better fit the existing problem. </a:t>
            </a:r>
          </a:p>
          <a:p>
            <a:pPr algn="l"/>
            <a:r>
              <a:rPr lang="en-US" b="0" i="0" u="none" strike="noStrike" baseline="0" dirty="0"/>
              <a:t>In addition, 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real world </a:t>
            </a:r>
            <a:r>
              <a:rPr lang="en-US" b="0" i="0" u="none" strike="noStrike" baseline="0" dirty="0"/>
              <a:t>may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change</a:t>
            </a:r>
            <a:r>
              <a:rPr lang="en-US" b="0" i="0" u="none" strike="noStrike" baseline="0" dirty="0"/>
              <a:t>, hence 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problem changes</a:t>
            </a:r>
            <a:r>
              <a:rPr lang="en-US" b="0" i="0" u="none" strike="noStrike" baseline="0" dirty="0"/>
              <a:t>.</a:t>
            </a:r>
            <a:endParaRPr lang="en-US" sz="4400" b="0" i="0" u="none" strike="noStrike" baseline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393E5-A9E0-41AC-86A4-A529290F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A665-65B8-4E6C-BF58-97471B62A462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CD00E-6C97-43A6-A0DF-387BFA38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77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6601</TotalTime>
  <Words>541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Wingdings</vt:lpstr>
      <vt:lpstr>Office Theme</vt:lpstr>
      <vt:lpstr>Software Re-Engineering</vt:lpstr>
      <vt:lpstr>Lecture 4: Content</vt:lpstr>
      <vt:lpstr>Evolution Of Software Systems</vt:lpstr>
      <vt:lpstr>SPE Taxonomy</vt:lpstr>
      <vt:lpstr>S-type programs:</vt:lpstr>
      <vt:lpstr>S-type programs:</vt:lpstr>
      <vt:lpstr>P-type programs</vt:lpstr>
      <vt:lpstr>P-type programs</vt:lpstr>
      <vt:lpstr>P-type programs</vt:lpstr>
      <vt:lpstr>P-type programs</vt:lpstr>
      <vt:lpstr>P-type programs</vt:lpstr>
      <vt:lpstr>P-type programs</vt:lpstr>
      <vt:lpstr>P-type programs</vt:lpstr>
      <vt:lpstr>P-type programs</vt:lpstr>
      <vt:lpstr>P-type programs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Waqar ul Hassan</dc:creator>
  <cp:lastModifiedBy>Muhammad Usman Shahid/SE</cp:lastModifiedBy>
  <cp:revision>442</cp:revision>
  <dcterms:created xsi:type="dcterms:W3CDTF">2020-10-13T09:21:17Z</dcterms:created>
  <dcterms:modified xsi:type="dcterms:W3CDTF">2024-09-16T06:44:49Z</dcterms:modified>
</cp:coreProperties>
</file>