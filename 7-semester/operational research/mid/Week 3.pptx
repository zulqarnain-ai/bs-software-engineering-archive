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6"/>
  </p:notesMasterIdLst>
  <p:sldIdLst>
    <p:sldId id="368" r:id="rId4"/>
    <p:sldId id="456" r:id="rId5"/>
    <p:sldId id="446" r:id="rId6"/>
    <p:sldId id="468" r:id="rId7"/>
    <p:sldId id="469" r:id="rId8"/>
    <p:sldId id="473" r:id="rId9"/>
    <p:sldId id="472" r:id="rId10"/>
    <p:sldId id="470" r:id="rId11"/>
    <p:sldId id="471" r:id="rId12"/>
    <p:sldId id="457" r:id="rId13"/>
    <p:sldId id="458" r:id="rId14"/>
    <p:sldId id="459" r:id="rId15"/>
    <p:sldId id="463" r:id="rId16"/>
    <p:sldId id="434" r:id="rId17"/>
    <p:sldId id="460" r:id="rId18"/>
    <p:sldId id="461" r:id="rId19"/>
    <p:sldId id="462" r:id="rId20"/>
    <p:sldId id="465" r:id="rId21"/>
    <p:sldId id="466" r:id="rId22"/>
    <p:sldId id="467" r:id="rId23"/>
    <p:sldId id="489" r:id="rId24"/>
    <p:sldId id="41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7930" autoAdjust="0"/>
    <p:restoredTop sz="94291" autoAdjust="0"/>
  </p:normalViewPr>
  <p:slideViewPr>
    <p:cSldViewPr snapToGrid="0" showGuides="1">
      <p:cViewPr>
        <p:scale>
          <a:sx n="71" d="100"/>
          <a:sy n="71" d="100"/>
        </p:scale>
        <p:origin x="-868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  <a:endParaRPr lang="en-US" sz="3900" b="1" dirty="0"/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23324" y="637061"/>
            <a:ext cx="16973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en-US" sz="2800" b="1" u="sng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3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person requires 10, 12 and 12 units of chemical A, B and C respectively for his garden. A liquid product contains 5, 2 and 3 units of A, B and C respectively per jar. The dry product contains 3, 3 and 4 units of A, B and C respectively per carton. If the liquid product sells for Rs. 3 per jar and dry products sells for Rs. 2 per carton. How many of each should be purchase to minimize the cost and meet the requirement.  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Method of linear programming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522809" y="2097088"/>
          <a:ext cx="60960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2933"/>
                <a:gridCol w="1715067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Chemicals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Liquid product per Jar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Dry product per carton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522810" y="4002086"/>
                <a:ext cx="6095999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 Z=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ctr"/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</a:t>
                </a:r>
                <a:r>
                  <a:rPr lang="en-US" sz="2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prstClr val="black">
                                  <a:lumMod val="95000"/>
                                  <a:lumOff val="5000"/>
                                </a:prst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0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12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sz="2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810" y="4002086"/>
                <a:ext cx="6095999" cy="2308324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1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7" y="107576"/>
            <a:ext cx="7664823" cy="50292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9" y="286870"/>
            <a:ext cx="7566210" cy="575534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044318" y="833064"/>
                <a:ext cx="7429499" cy="4756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sz="2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Max 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Z=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lvl="0" indent="0">
                  <a:buNone/>
                </a:pP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Subject to Constraints</a:t>
                </a:r>
                <a:r>
                  <a:rPr lang="en-US" sz="2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12</m:t>
                    </m:r>
                  </m:oMath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prstClr val="black">
                                <a:lumMod val="95000"/>
                                <a:lumOff val="5000"/>
                              </a:prst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12</m:t>
                    </m:r>
                  </m:oMath>
                </a14:m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sz="2000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lvl="0" indent="0" algn="just">
                  <a:buNone/>
                </a:pPr>
                <a:r>
                  <a:rPr lang="en-US" alt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Unbounded solution</a:t>
                </a:r>
                <a:r>
                  <a:rPr lang="en-US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solution that can increase or decrease infinitely the value of the objective function of the LP problem is called an unbounded solution.</a:t>
                </a:r>
                <a:endParaRPr lang="en-US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4318" y="833064"/>
                <a:ext cx="7429499" cy="4756150"/>
              </a:xfrm>
              <a:prstGeom prst="rect">
                <a:avLst/>
              </a:prstGeom>
              <a:blipFill rotWithShape="1">
                <a:blip r:embed="rId1"/>
                <a:stretch>
                  <a:fillRect l="-5" t="-12" r="5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246" y="179294"/>
            <a:ext cx="7252448" cy="43120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45" y="4658255"/>
            <a:ext cx="6877403" cy="1181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59" y="1897794"/>
            <a:ext cx="7429499" cy="460851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furniture manufacturer makes two products  tables and chairs. Processing of these products is done on two types of machines A and B. A chair requires 2 hours on machine type A and 6 hours on machine type B. A table requires 5 hours on machine type A and no time on Machine type B. There are 16 hours/day available on machine type A and 30 hours/day on machine type B. Profits gained by the manufacturer from a chair and a table are Rs. 2 and Rs. 10 respectively. What should be the daily production of each of the two products? Use graphical method of LPP to find the solution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Infeasible means not possible. Infeasible solution happens when the constraints have contradictory nature. 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graphical method, infeasibility happens when we cannot find feasible region. 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883" y="107530"/>
            <a:ext cx="7429499" cy="14785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91919" y="1326121"/>
            <a:ext cx="7429499" cy="46085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Example 1: 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/>
              <a:t>Use the graphical method to solve the following LP problem:</a:t>
            </a:r>
            <a:endParaRPr lang="en-GB" sz="2800" dirty="0"/>
          </a:p>
          <a:p>
            <a:pPr marL="0" indent="0" algn="ctr">
              <a:buNone/>
            </a:pPr>
            <a:r>
              <a:rPr lang="en-GB" sz="2800" dirty="0"/>
              <a:t>Maximize </a:t>
            </a:r>
            <a:r>
              <a:rPr lang="en-GB" sz="2800" i="1" dirty="0"/>
              <a:t>Z </a:t>
            </a:r>
            <a:r>
              <a:rPr lang="en-GB" sz="2800" dirty="0"/>
              <a:t>= 6</a:t>
            </a:r>
            <a:r>
              <a:rPr lang="en-GB" sz="2800" i="1" dirty="0"/>
              <a:t>x</a:t>
            </a:r>
            <a:r>
              <a:rPr lang="en-GB" sz="2800" dirty="0"/>
              <a:t>1 – </a:t>
            </a:r>
            <a:r>
              <a:rPr lang="en-GB" sz="2800" dirty="0" smtClean="0"/>
              <a:t>4</a:t>
            </a:r>
            <a:r>
              <a:rPr lang="en-GB" sz="2800" i="1" dirty="0" smtClean="0"/>
              <a:t>x</a:t>
            </a:r>
            <a:r>
              <a:rPr lang="en-GB" sz="2800" dirty="0" smtClean="0"/>
              <a:t>2</a:t>
            </a:r>
            <a:endParaRPr lang="en-GB" sz="2800" dirty="0" smtClean="0"/>
          </a:p>
          <a:p>
            <a:pPr marL="0" indent="0">
              <a:buNone/>
            </a:pPr>
            <a:r>
              <a:rPr lang="en-GB" sz="2800" dirty="0" smtClean="0"/>
              <a:t>subject </a:t>
            </a:r>
            <a:r>
              <a:rPr lang="en-GB" sz="2800" dirty="0"/>
              <a:t>to the constraints</a:t>
            </a:r>
            <a:endParaRPr lang="en-GB" sz="2800" dirty="0"/>
          </a:p>
          <a:p>
            <a:pPr marL="0" indent="0" algn="ctr">
              <a:buNone/>
            </a:pPr>
            <a:r>
              <a:rPr lang="nn-NO" sz="2800" dirty="0" smtClean="0"/>
              <a:t>2</a:t>
            </a:r>
            <a:r>
              <a:rPr lang="nn-NO" sz="2800" i="1" dirty="0" smtClean="0"/>
              <a:t>x</a:t>
            </a:r>
            <a:r>
              <a:rPr lang="nn-NO" sz="2800" dirty="0" smtClean="0"/>
              <a:t>1 </a:t>
            </a:r>
            <a:r>
              <a:rPr lang="nn-NO" sz="2800" dirty="0"/>
              <a:t>+ 4</a:t>
            </a:r>
            <a:r>
              <a:rPr lang="nn-NO" sz="2800" i="1" dirty="0"/>
              <a:t>x</a:t>
            </a:r>
            <a:r>
              <a:rPr lang="nn-NO" sz="2800" dirty="0"/>
              <a:t>2 ≤ 4 </a:t>
            </a:r>
            <a:endParaRPr lang="nn-NO" sz="2800" dirty="0" smtClean="0"/>
          </a:p>
          <a:p>
            <a:pPr marL="0" indent="0" algn="ctr">
              <a:buNone/>
            </a:pPr>
            <a:r>
              <a:rPr lang="nn-NO" sz="2800" dirty="0" smtClean="0"/>
              <a:t>4</a:t>
            </a:r>
            <a:r>
              <a:rPr lang="nn-NO" sz="2800" i="1" dirty="0" smtClean="0"/>
              <a:t>x</a:t>
            </a:r>
            <a:r>
              <a:rPr lang="nn-NO" sz="2800" dirty="0" smtClean="0"/>
              <a:t>1 </a:t>
            </a:r>
            <a:r>
              <a:rPr lang="nn-NO" sz="2800" dirty="0"/>
              <a:t>+ 8</a:t>
            </a:r>
            <a:r>
              <a:rPr lang="nn-NO" sz="2800" i="1" dirty="0"/>
              <a:t>x</a:t>
            </a:r>
            <a:r>
              <a:rPr lang="nn-NO" sz="2800" dirty="0"/>
              <a:t>2 ≥ 16</a:t>
            </a:r>
            <a:endParaRPr lang="nn-NO" sz="2800" dirty="0"/>
          </a:p>
          <a:p>
            <a:pPr marL="0" indent="0">
              <a:buNone/>
            </a:pPr>
            <a:r>
              <a:rPr lang="en-GB" sz="2800" dirty="0"/>
              <a:t>and </a:t>
            </a:r>
            <a:r>
              <a:rPr lang="en-GB" sz="2800" i="1" dirty="0"/>
              <a:t>x</a:t>
            </a:r>
            <a:r>
              <a:rPr lang="en-GB" sz="2800" dirty="0"/>
              <a:t>1, </a:t>
            </a:r>
            <a:r>
              <a:rPr lang="en-GB" sz="2800" i="1" dirty="0"/>
              <a:t>x</a:t>
            </a:r>
            <a:r>
              <a:rPr lang="en-GB" sz="2800" dirty="0"/>
              <a:t>2 ≥ 0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7882" y="5667592"/>
            <a:ext cx="81847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The constraints are plotted on graph as usual as shown in </a:t>
            </a:r>
            <a:r>
              <a:rPr lang="en-GB" sz="1400" dirty="0" smtClean="0"/>
              <a:t>Fig</a:t>
            </a:r>
            <a:r>
              <a:rPr lang="en-GB" sz="1400" dirty="0"/>
              <a:t>.</a:t>
            </a:r>
            <a:r>
              <a:rPr lang="en-GB" sz="1400" dirty="0" smtClean="0"/>
              <a:t> </a:t>
            </a:r>
            <a:r>
              <a:rPr lang="en-GB" sz="1400" dirty="0"/>
              <a:t>Since there is no unique</a:t>
            </a:r>
            <a:endParaRPr lang="en-GB" sz="1400" dirty="0"/>
          </a:p>
          <a:p>
            <a:r>
              <a:rPr lang="en-GB" sz="1400" dirty="0"/>
              <a:t>feasible solution space, therefore a unique set of values of variables </a:t>
            </a:r>
            <a:r>
              <a:rPr lang="en-GB" sz="1400" i="1" dirty="0"/>
              <a:t>x</a:t>
            </a:r>
            <a:r>
              <a:rPr lang="en-GB" sz="1400" dirty="0"/>
              <a:t>1 and </a:t>
            </a:r>
            <a:r>
              <a:rPr lang="en-GB" sz="1400" i="1" dirty="0"/>
              <a:t>x</a:t>
            </a:r>
            <a:r>
              <a:rPr lang="en-GB" sz="1400" dirty="0"/>
              <a:t>2 that satisfy all the </a:t>
            </a:r>
            <a:r>
              <a:rPr lang="en-GB" sz="1400" dirty="0" smtClean="0"/>
              <a:t>constraints cannot </a:t>
            </a:r>
            <a:r>
              <a:rPr lang="en-GB" sz="1400" dirty="0"/>
              <a:t>be determined. Hence, there is no feasible solution to this LP problem because of the </a:t>
            </a:r>
            <a:r>
              <a:rPr lang="en-GB" sz="1400" dirty="0" smtClean="0"/>
              <a:t>conflicting constraints</a:t>
            </a:r>
            <a:r>
              <a:rPr lang="en-GB" sz="1400" dirty="0"/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3" y="1963271"/>
            <a:ext cx="7017157" cy="35679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Example 2: </a:t>
                </a:r>
                <a:endPara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r>
                  <a:rPr lang="en-US" alt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ax</a:t>
                </a: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Z =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200</a:t>
                </a: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X</a:t>
                </a:r>
                <a:r>
                  <a:rPr lang="pl-PL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300</a:t>
                </a: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X</a:t>
                </a:r>
                <a:r>
                  <a:rPr lang="pl-PL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:endParaRPr lang="pl-PL" sz="16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Subject to constraints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 1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200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300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lv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+ 1.5X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900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X1, X2 ≥ 0 </a:t>
                </a:r>
                <a:endParaRPr lang="en-US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49" y="1075765"/>
            <a:ext cx="6965576" cy="4329952"/>
          </a:xfrm>
        </p:spPr>
      </p:pic>
      <p:sp>
        <p:nvSpPr>
          <p:cNvPr id="5" name="TextBox 4"/>
          <p:cNvSpPr txBox="1"/>
          <p:nvPr/>
        </p:nvSpPr>
        <p:spPr>
          <a:xfrm>
            <a:off x="1156448" y="5694835"/>
            <a:ext cx="7216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</a:rPr>
              <a:t>Since the feasible region has no bounds, there are unbounded solutions to the problem.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 Constraint (Redundancy) 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constraint is called redundant when it does not affect the solution. The feasible region does not depend on that constraint. 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 if we remove the constraint from the solution, the optimal answer is not </a:t>
            </a:r>
            <a:r>
              <a:rPr lang="en-US" sz="28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affected.</a:t>
            </a:r>
            <a:endParaRPr lang="en-US" sz="2800" dirty="0" smtClean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dirty="0">
                <a:solidFill>
                  <a:srgbClr val="1F1F1F"/>
                </a:solidFill>
                <a:effectLst/>
                <a:latin typeface="Google Sans"/>
              </a:rPr>
              <a:t>For instance, if two constraints in an LP problem are: </a:t>
            </a:r>
            <a:r>
              <a:rPr lang="en-GB" sz="2800" dirty="0">
                <a:solidFill>
                  <a:srgbClr val="040C28"/>
                </a:solidFill>
                <a:effectLst/>
                <a:latin typeface="Google Sans"/>
              </a:rPr>
              <a:t>x + 6 y ≥ 36 and 2 x + 12 y ≥ 72</a:t>
            </a:r>
            <a:r>
              <a:rPr lang="en-GB" sz="2800" dirty="0">
                <a:solidFill>
                  <a:srgbClr val="1F1F1F"/>
                </a:solidFill>
                <a:effectLst/>
                <a:latin typeface="Google Sans"/>
              </a:rPr>
              <a:t> .</a:t>
            </a:r>
            <a:endParaRPr lang="en-US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 Constraint (Redundancy) 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Example 1: </a:t>
                </a:r>
                <a:endPara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Max. Z = 5 X</a:t>
                </a:r>
                <a:r>
                  <a:rPr lang="pl-PL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pl-PL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+ 8 X</a:t>
                </a:r>
                <a:r>
                  <a:rPr lang="pl-PL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:endParaRPr lang="pl-PL" sz="16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Subject to constraints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6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16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m:t>24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+ 3 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2 </a:t>
                </a:r>
                <a:r>
                  <a:rPr lang="en-US" dirty="0"/>
                  <a:t>≤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12 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                   </a:t>
                </a:r>
                <a:r>
                  <a:rPr lang="en-US" dirty="0">
                    <a:solidFill>
                      <a:prstClr val="black"/>
                    </a:solidFill>
                  </a:rPr>
                  <a:t>≤ </a:t>
                </a: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16</a:t>
                </a:r>
                <a:endPara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X1, X2 ≥ 0 </a:t>
                </a:r>
                <a:endParaRPr lang="en-US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 rotWithShape="1">
                <a:blip r:embed="rId1"/>
                <a:stretch>
                  <a:fillRect l="-1" t="-7" r="1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 Constraint (Redundancy) 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6060" y="2097087"/>
            <a:ext cx="7429498" cy="4627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 Constraint (Redundancy) </a:t>
            </a: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3rd constraint does not affect the feasible region. 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Hence, the constraint X1 </a:t>
            </a:r>
            <a:r>
              <a:rPr lang="en-US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</a:rPr>
              <a:t>≤ 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16 is redundant constraint. </a:t>
            </a:r>
            <a:endParaRPr lang="en-US" sz="28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71" y="618565"/>
            <a:ext cx="7700682" cy="5898776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70" y="690282"/>
            <a:ext cx="7458635" cy="6060142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06" y="896471"/>
            <a:ext cx="7530353" cy="5558117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Basic feasible 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 feasible solution to an LP problem which is also the basic solution is called the basic feasible solution. That is, all basic variables assume non-negative values. Basic feasible solution is of two types: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(a) 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Degenerate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 basic feasible solution is called degenerate if the value of at least one basic variable is zero.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(b) 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Non-degenerate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A basic feasible solution is called non-degenerate if value of all m basic variables is non-zero and positive.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3701</Words>
  <Application>WPS Presentation</Application>
  <PresentationFormat>On-screen Show (4:3)</PresentationFormat>
  <Paragraphs>135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SimSun</vt:lpstr>
      <vt:lpstr>Wingdings</vt:lpstr>
      <vt:lpstr>Trebuchet MS</vt:lpstr>
      <vt:lpstr>Cambria Math</vt:lpstr>
      <vt:lpstr>Cambria Math</vt:lpstr>
      <vt:lpstr>Times New Roman</vt:lpstr>
      <vt:lpstr>Microsoft YaHei</vt:lpstr>
      <vt:lpstr>Arial Unicode MS</vt:lpstr>
      <vt:lpstr>Calibri</vt:lpstr>
      <vt:lpstr>Google Sans</vt:lpstr>
      <vt:lpstr>Segoe Print</vt:lpstr>
      <vt:lpstr>Tw Cen MT</vt:lpstr>
      <vt:lpstr>Clarity</vt:lpstr>
      <vt:lpstr>Circuit</vt:lpstr>
      <vt:lpstr>PowerPoint 演示文稿</vt:lpstr>
      <vt:lpstr>Graphical Method of linear programming</vt:lpstr>
      <vt:lpstr>Graphical Method of linear programming</vt:lpstr>
      <vt:lpstr>PowerPoint 演示文稿</vt:lpstr>
      <vt:lpstr>PowerPoint 演示文稿</vt:lpstr>
      <vt:lpstr>PowerPoint 演示文稿</vt:lpstr>
      <vt:lpstr>PowerPoint 演示文稿</vt:lpstr>
      <vt:lpstr>Task</vt:lpstr>
      <vt:lpstr>Infeasible solution</vt:lpstr>
      <vt:lpstr>Infeasible solution</vt:lpstr>
      <vt:lpstr>Infeasible solution</vt:lpstr>
      <vt:lpstr>Infeasible solution</vt:lpstr>
      <vt:lpstr>PowerPoint 演示文稿</vt:lpstr>
      <vt:lpstr>Redundant Constraint (Redundancy) </vt:lpstr>
      <vt:lpstr>Redundant Constraint (Redundancy) </vt:lpstr>
      <vt:lpstr>Redundant Constraint (Redundancy) </vt:lpstr>
      <vt:lpstr>Redundant Constraint (Redundancy) </vt:lpstr>
      <vt:lpstr>PowerPoint 演示文稿</vt:lpstr>
      <vt:lpstr>PowerPoint 演示文稿</vt:lpstr>
      <vt:lpstr>PowerPoint 演示文稿</vt:lpstr>
      <vt:lpstr>Basic feasible solution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Dell</cp:lastModifiedBy>
  <cp:revision>236</cp:revision>
  <dcterms:created xsi:type="dcterms:W3CDTF">2022-09-10T13:48:00Z</dcterms:created>
  <dcterms:modified xsi:type="dcterms:W3CDTF">2025-02-25T08:21:10Z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193E7513DAB44F60ADFB52885BE87DDE_12</vt:lpwstr>
  </property>
  <property fmtid="{D5CDD505-2E9C-101B-9397-08002B2CF9AE}" pid="3" name="KSOProductBuildVer">
    <vt:lpwstr>1033-12.2.0.19805</vt:lpwstr>
  </property>
</Properties>
</file>