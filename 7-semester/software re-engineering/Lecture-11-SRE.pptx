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7" r:id="rId2"/>
    <p:sldId id="587" r:id="rId3"/>
    <p:sldId id="578" r:id="rId4"/>
    <p:sldId id="550" r:id="rId5"/>
    <p:sldId id="579" r:id="rId6"/>
    <p:sldId id="588" r:id="rId7"/>
    <p:sldId id="589" r:id="rId8"/>
    <p:sldId id="590" r:id="rId9"/>
    <p:sldId id="591" r:id="rId10"/>
    <p:sldId id="592" r:id="rId11"/>
    <p:sldId id="598" r:id="rId12"/>
    <p:sldId id="595" r:id="rId13"/>
    <p:sldId id="596" r:id="rId14"/>
    <p:sldId id="594" r:id="rId15"/>
    <p:sldId id="597" r:id="rId16"/>
    <p:sldId id="599" r:id="rId17"/>
    <p:sldId id="580" r:id="rId18"/>
    <p:sldId id="581" r:id="rId19"/>
    <p:sldId id="600" r:id="rId20"/>
    <p:sldId id="582" r:id="rId21"/>
    <p:sldId id="583" r:id="rId22"/>
    <p:sldId id="601" r:id="rId23"/>
    <p:sldId id="584" r:id="rId24"/>
    <p:sldId id="585" r:id="rId25"/>
    <p:sldId id="602" r:id="rId26"/>
    <p:sldId id="586" r:id="rId27"/>
    <p:sldId id="6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man Shahid" initials="US" lastIdx="1" clrIdx="0">
    <p:extLst>
      <p:ext uri="{19B8F6BF-5375-455C-9EA6-DF929625EA0E}">
        <p15:presenceInfo xmlns:p15="http://schemas.microsoft.com/office/powerpoint/2012/main" userId="S::Usman.shahid@iqrauni.edu.pk::e425ad69-e26c-42f4-8a2e-d10dd5d3c3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4353" autoAdjust="0"/>
  </p:normalViewPr>
  <p:slideViewPr>
    <p:cSldViewPr snapToGrid="0">
      <p:cViewPr varScale="1">
        <p:scale>
          <a:sx n="86" d="100"/>
          <a:sy n="86" d="100"/>
        </p:scale>
        <p:origin x="9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273239"/>
                </a:solidFill>
                <a:effectLst/>
                <a:latin typeface="Nunito" pitchFamily="2" charset="0"/>
              </a:rPr>
              <a:t>recursion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process in which a function calls itself directly or indirectly is called recursion and the corresponding function is called a recursive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C6B6B-DEB4-4104-BA10-F9FA8AE5C1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3/17/2025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/>
              <a:t>3/17/2025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0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</a:t>
            </a:r>
            <a:r>
              <a:rPr lang="en-US"/>
              <a:t>: Muhammad Usman Shahid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6F98B-6F84-40A3-A2C3-2A0ADF276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3/17/2025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Lecture 11: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sz="3200" b="0" i="0" u="none" strike="noStrike" baseline="0" dirty="0"/>
              <a:t>Source code re-engineering reference model</a:t>
            </a:r>
            <a:endParaRPr lang="en-US" sz="3200" b="0" dirty="0"/>
          </a:p>
          <a:p>
            <a:pPr marL="514350" indent="-514350" algn="l">
              <a:buAutoNum type="arabicParenR"/>
            </a:pPr>
            <a:r>
              <a:rPr lang="en-US" sz="3200" b="0" i="0" u="none" strike="noStrike" baseline="0" dirty="0"/>
              <a:t>Code reverse engineering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Reverse engineering techniques</a:t>
            </a:r>
            <a:endParaRPr lang="en-US" sz="32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0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4" y="2423603"/>
            <a:ext cx="10515600" cy="2281562"/>
          </a:xfrm>
        </p:spPr>
        <p:txBody>
          <a:bodyPr>
            <a:normAutofit/>
          </a:bodyPr>
          <a:lstStyle/>
          <a:p>
            <a:pPr algn="ctr"/>
            <a:r>
              <a:rPr lang="en-US" sz="6000" i="0" u="none" strike="noStrike" baseline="0" dirty="0"/>
              <a:t>Source code re-engineering reference model</a:t>
            </a:r>
            <a:endParaRPr lang="en-US" sz="6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7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Source Code Reengineering Reference Model (SCORE/RM) is useful in understanding the process of reengineering software.</a:t>
            </a:r>
          </a:p>
          <a:p>
            <a:pPr algn="l"/>
            <a:r>
              <a:rPr lang="en-US" b="0" i="0" u="none" strike="noStrike" baseline="0" dirty="0"/>
              <a:t>The framework, depicted in Figure, consists of four kinds of elements: </a:t>
            </a:r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function, </a:t>
            </a:r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documentation, </a:t>
            </a:r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repository database, </a:t>
            </a:r>
            <a:endParaRPr lang="en-US" dirty="0"/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metrication</a:t>
            </a:r>
            <a:r>
              <a:rPr lang="en-US" b="0" i="0" u="none" strike="noStrike" baseline="0" dirty="0"/>
              <a:t>.</a:t>
            </a:r>
          </a:p>
          <a:p>
            <a:pPr algn="l"/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5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function</a:t>
            </a:r>
            <a:r>
              <a:rPr lang="en-US" b="0" i="0" u="none" strike="noStrike" baseline="0" dirty="0"/>
              <a:t> element is divided into eight layers: </a:t>
            </a:r>
            <a:endParaRPr lang="en-US" b="0" dirty="0"/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encapsulation,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/>
              <a:t>transformation,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 err="1"/>
              <a:t>normalization</a:t>
            </a:r>
            <a:r>
              <a:rPr lang="fr-FR" i="0" u="none" strike="noStrike" baseline="0" dirty="0"/>
              <a:t>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 err="1"/>
              <a:t>interpretation</a:t>
            </a:r>
            <a:r>
              <a:rPr lang="fr-FR" i="0" u="none" strike="noStrike" baseline="0" dirty="0"/>
              <a:t>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/>
              <a:t>abstraction,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/>
              <a:t>causation, </a:t>
            </a:r>
          </a:p>
          <a:p>
            <a:pPr marL="514350" indent="-514350" algn="l">
              <a:buAutoNum type="arabicParenR"/>
            </a:pPr>
            <a:r>
              <a:rPr lang="fr-FR" i="0" u="none" strike="noStrike" baseline="0" dirty="0" err="1"/>
              <a:t>Regeneration</a:t>
            </a:r>
            <a:endParaRPr lang="fr-FR" dirty="0"/>
          </a:p>
          <a:p>
            <a:pPr marL="514350" indent="-514350" algn="l">
              <a:buAutoNum type="arabicParenR"/>
            </a:pPr>
            <a:r>
              <a:rPr lang="en-US" i="0" u="none" strike="noStrike" baseline="0" dirty="0"/>
              <a:t>certification.</a:t>
            </a:r>
            <a:endParaRPr lang="en-US" sz="440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8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The eight layers provide a detailed approach to 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</a:t>
            </a:r>
            <a:r>
              <a:rPr lang="en-US" b="0" i="0" u="none" strike="noStrike" baseline="0" dirty="0" err="1"/>
              <a:t>i</a:t>
            </a:r>
            <a:r>
              <a:rPr lang="en-US" b="0" i="0" u="none" strike="noStrike" baseline="0" dirty="0"/>
              <a:t>) explaining the system to be reengineered by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removing redundant data </a:t>
            </a:r>
            <a:r>
              <a:rPr lang="en-US" b="0" i="0" u="none" strike="noStrike" baseline="0" dirty="0"/>
              <a:t>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altering the control flow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(ii) understanding the software’s requirements; and 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(iii) reconstructing the software according to established practices.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9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top six of the eight layers shown in Figure </a:t>
            </a:r>
            <a:r>
              <a:rPr lang="en-US" b="0" dirty="0"/>
              <a:t> </a:t>
            </a:r>
            <a:r>
              <a:rPr lang="en-US" b="0" i="0" u="none" strike="noStrike" baseline="0" dirty="0"/>
              <a:t>constitute a process for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reverse engineering</a:t>
            </a:r>
            <a:r>
              <a:rPr lang="en-US" b="0" i="0" u="none" strike="noStrike" baseline="0" dirty="0"/>
              <a:t>, and the bottom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three layers </a:t>
            </a:r>
            <a:r>
              <a:rPr lang="en-US" b="0" i="0" u="none" strike="noStrike" baseline="0" dirty="0"/>
              <a:t>constitute a process for </a:t>
            </a:r>
            <a:r>
              <a:rPr lang="en-US" b="0" dirty="0">
                <a:solidFill>
                  <a:srgbClr val="FF0000"/>
                </a:solidFill>
              </a:rPr>
              <a:t>forward engineering</a:t>
            </a:r>
            <a:r>
              <a:rPr lang="en-US" b="0" i="0" u="none" strike="noStrike" baseline="0" dirty="0"/>
              <a:t>.</a:t>
            </a:r>
          </a:p>
          <a:p>
            <a:pPr marL="0" indent="0" algn="l">
              <a:buNone/>
            </a:pP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9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Improvements in the software as a result of reengineering are measured by means of the </a:t>
            </a:r>
            <a:r>
              <a:rPr lang="en-US" i="0" u="none" strike="noStrike" baseline="0" dirty="0"/>
              <a:t>metrication element. </a:t>
            </a:r>
          </a:p>
          <a:p>
            <a:pPr algn="l"/>
            <a:r>
              <a:rPr lang="en-US" b="0" i="0" u="none" strike="noStrike" baseline="0" dirty="0"/>
              <a:t>The </a:t>
            </a:r>
            <a:r>
              <a:rPr lang="en-US" i="0" u="none" strike="noStrike" baseline="0" dirty="0">
                <a:solidFill>
                  <a:srgbClr val="FF0000"/>
                </a:solidFill>
              </a:rPr>
              <a:t>metrication element </a:t>
            </a:r>
            <a:r>
              <a:rPr lang="en-US" b="0" i="0" u="none" strike="noStrike" baseline="0" dirty="0"/>
              <a:t>is described in terms of the relevant software metrics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before executing a layer </a:t>
            </a:r>
            <a:r>
              <a:rPr lang="en-US" b="0" i="0" u="none" strike="noStrike" baseline="0" dirty="0"/>
              <a:t>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after executing the same layer</a:t>
            </a:r>
            <a:r>
              <a:rPr lang="en-US" b="0" i="0" u="none" strike="noStrike" baseline="0" dirty="0"/>
              <a:t>.</a:t>
            </a:r>
          </a:p>
          <a:p>
            <a:pPr algn="l"/>
            <a:r>
              <a:rPr lang="en-US" b="0" i="0" u="none" strike="noStrike" baseline="0" dirty="0"/>
              <a:t>The specification, constraints, and implementation details of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both the old and the new versions</a:t>
            </a:r>
            <a:r>
              <a:rPr lang="en-US" b="0" i="0" u="none" strike="noStrike" baseline="0" dirty="0"/>
              <a:t> of the software are described in the </a:t>
            </a:r>
            <a:r>
              <a:rPr lang="en-US" i="0" u="none" strike="noStrike" baseline="0" dirty="0">
                <a:solidFill>
                  <a:srgbClr val="FF0000"/>
                </a:solidFill>
              </a:rPr>
              <a:t>documentation </a:t>
            </a:r>
            <a:r>
              <a:rPr lang="en-US" i="0" u="none" strike="noStrike" baseline="0" dirty="0"/>
              <a:t>element.</a:t>
            </a:r>
            <a:endParaRPr lang="en-US" sz="440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1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repository database </a:t>
            </a:r>
            <a:r>
              <a:rPr lang="en-US" b="0" i="0" u="none" strike="noStrike" baseline="0" dirty="0"/>
              <a:t>is the information store for the entire reengineering process, containing the following kinds of information: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metrication</a:t>
            </a:r>
            <a:r>
              <a:rPr lang="en-US" b="0" i="0" u="none" strike="noStrike" baseline="0" dirty="0"/>
              <a:t>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documentation</a:t>
            </a:r>
            <a:r>
              <a:rPr lang="en-US" b="0" i="0" u="none" strike="noStrike" baseline="0" dirty="0"/>
              <a:t> and both the old and the new source codes.</a:t>
            </a:r>
          </a:p>
          <a:p>
            <a:pPr algn="l"/>
            <a:r>
              <a:rPr lang="en-US" b="0" i="0" u="none" strike="noStrike" baseline="0" dirty="0"/>
              <a:t>The functions of the individual layers are discussed in the following:</a:t>
            </a:r>
          </a:p>
          <a:p>
            <a:pPr marL="0" indent="0" algn="l">
              <a:buNone/>
            </a:pPr>
            <a:endParaRPr lang="en-US" b="0" i="0" u="none" strike="noStrike" baseline="0" dirty="0"/>
          </a:p>
          <a:p>
            <a:pPr algn="l"/>
            <a:endParaRPr lang="en-US" b="0" i="0" u="none" strike="noStrike" baseline="0" dirty="0"/>
          </a:p>
          <a:p>
            <a:pPr algn="l"/>
            <a:endParaRPr lang="en-US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7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598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1C681-891B-2C0F-5C9E-6A406F3313AD}"/>
              </a:ext>
            </a:extLst>
          </p:cNvPr>
          <p:cNvSpPr/>
          <p:nvPr/>
        </p:nvSpPr>
        <p:spPr>
          <a:xfrm>
            <a:off x="5469466" y="1580446"/>
            <a:ext cx="1253067" cy="2935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59303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9990447" cy="5218175"/>
          </a:xfrm>
        </p:spPr>
        <p:txBody>
          <a:bodyPr>
            <a:normAutofit/>
          </a:bodyPr>
          <a:lstStyle/>
          <a:p>
            <a:pPr algn="l"/>
            <a:r>
              <a:rPr lang="en-US" b="1" i="0" u="none" strike="noStrike" baseline="0" dirty="0"/>
              <a:t>Encapsulation</a:t>
            </a:r>
            <a:r>
              <a:rPr lang="en-US" b="0" i="0" u="none" strike="noStrike" baseline="0" dirty="0"/>
              <a:t> is the first layer of reverse engineering.</a:t>
            </a:r>
          </a:p>
          <a:p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i="0" dirty="0">
                <a:solidFill>
                  <a:srgbClr val="FF0000"/>
                </a:solidFill>
                <a:effectLst/>
              </a:rPr>
              <a:t>ncapsulation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is a method to hide the data in a single entity or unit along with a method to protect information from outside.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The following functions are expected </a:t>
            </a:r>
            <a:r>
              <a:rPr lang="en-US" b="0" dirty="0" smtClean="0"/>
              <a:t>of</a:t>
            </a:r>
            <a:r>
              <a:rPr lang="en-US" b="0" i="0" u="none" strike="noStrike" baseline="0" dirty="0" smtClean="0"/>
              <a:t> </a:t>
            </a:r>
            <a:r>
              <a:rPr lang="en-US" b="0" i="0" u="none" strike="noStrike" baseline="0" dirty="0"/>
              <a:t>this layer:</a:t>
            </a:r>
          </a:p>
          <a:p>
            <a:pPr algn="l"/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7C68E-6857-F850-7872-C4E7F3048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3254398"/>
            <a:ext cx="9676660" cy="146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5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Encapsulation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A8244F-33C7-98DC-E7BB-99F8877B1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25" y="1250002"/>
            <a:ext cx="10649450" cy="3651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0DC822-5FC8-B567-8F91-A0AF37E0D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336325"/>
            <a:ext cx="10747926" cy="20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4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Source code re-engineering reference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202124"/>
                </a:solidFill>
                <a:effectLst/>
              </a:rPr>
              <a:t>A parser is a compiler or interpreter component that breaks data into smaller elements for easy translation into another language. 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202124"/>
              </a:solidFill>
              <a:effectLst/>
            </a:endParaRPr>
          </a:p>
          <a:p>
            <a:pPr algn="just"/>
            <a:r>
              <a:rPr lang="en-US" b="0" i="0" dirty="0">
                <a:solidFill>
                  <a:srgbClr val="202124"/>
                </a:solidFill>
                <a:effectLst/>
              </a:rPr>
              <a:t>A parser takes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input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in the form of a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sequence of tokens</a:t>
            </a:r>
            <a:r>
              <a:rPr lang="en-US" b="0" i="0" dirty="0">
                <a:solidFill>
                  <a:srgbClr val="202124"/>
                </a:solidFill>
                <a:effectLst/>
              </a:rPr>
              <a:t>,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interactive commands</a:t>
            </a:r>
            <a:r>
              <a:rPr lang="en-US" b="0" i="0" dirty="0">
                <a:solidFill>
                  <a:srgbClr val="202124"/>
                </a:solidFill>
                <a:effectLst/>
              </a:rPr>
              <a:t>, or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program instructions </a:t>
            </a:r>
            <a:r>
              <a:rPr lang="en-US" b="0" i="0" dirty="0">
                <a:solidFill>
                  <a:srgbClr val="202124"/>
                </a:solidFill>
                <a:effectLst/>
              </a:rPr>
              <a:t>and breaks them up into parts that can be used by other components in programming.</a:t>
            </a:r>
            <a:endParaRPr lang="en-US" sz="4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Encapsulation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BC0846-176B-F8E1-B7F9-359BC370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" y="1368456"/>
            <a:ext cx="11685814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88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51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Transformation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90E1B4-AF91-4C40-BB5C-A52E2CD09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968" y="1222730"/>
            <a:ext cx="10864859" cy="18666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0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Normalization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84290A-6EF6-2E1E-7E32-A48623038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37" y="1205013"/>
            <a:ext cx="11187098" cy="305626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30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52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Interpretation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53FB9-2656-1BF3-5F49-350B7CCBD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3" y="1107488"/>
            <a:ext cx="11399565" cy="338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71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</a:rPr>
              <a:t>" </a:t>
            </a:r>
            <a:r>
              <a:rPr lang="en-US" i="0" dirty="0">
                <a:solidFill>
                  <a:srgbClr val="202124"/>
                </a:solidFill>
                <a:effectLst/>
              </a:rPr>
              <a:t>Coupling "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describes the relationships between modules, </a:t>
            </a:r>
          </a:p>
          <a:p>
            <a:pPr algn="l"/>
            <a:r>
              <a:rPr lang="en-US" i="0" dirty="0">
                <a:solidFill>
                  <a:srgbClr val="202124"/>
                </a:solidFill>
                <a:effectLst/>
              </a:rPr>
              <a:t>" cohesion " </a:t>
            </a:r>
            <a:r>
              <a:rPr lang="en-US" b="0" i="0" dirty="0">
                <a:solidFill>
                  <a:srgbClr val="202124"/>
                </a:solidFill>
                <a:effectLst/>
              </a:rPr>
              <a:t>describes the relationships within </a:t>
            </a:r>
            <a:r>
              <a:rPr lang="en-US" b="0" i="0" dirty="0" smtClean="0">
                <a:solidFill>
                  <a:srgbClr val="202124"/>
                </a:solidFill>
                <a:effectLst/>
              </a:rPr>
              <a:t>them.(</a:t>
            </a:r>
            <a:r>
              <a:rPr lang="en-US" b="0" i="0" smtClean="0">
                <a:solidFill>
                  <a:srgbClr val="202124"/>
                </a:solidFill>
                <a:effectLst/>
              </a:rPr>
              <a:t>relationship with internal </a:t>
            </a:r>
            <a:r>
              <a:rPr lang="en-US" b="0" i="0" dirty="0" smtClean="0">
                <a:solidFill>
                  <a:srgbClr val="202124"/>
                </a:solidFill>
                <a:effectLst/>
              </a:rPr>
              <a:t>features of </a:t>
            </a:r>
            <a:r>
              <a:rPr lang="en-US" b="0" i="0" smtClean="0">
                <a:solidFill>
                  <a:srgbClr val="202124"/>
                </a:solidFill>
                <a:effectLst/>
              </a:rPr>
              <a:t>the modules)</a:t>
            </a:r>
            <a:endParaRPr lang="en-US" b="0" i="0" dirty="0">
              <a:solidFill>
                <a:srgbClr val="202124"/>
              </a:solidFill>
              <a:effectLst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202124"/>
              </a:solidFill>
              <a:effectLst/>
            </a:endParaRPr>
          </a:p>
          <a:p>
            <a:pPr algn="l"/>
            <a:r>
              <a:rPr lang="en-US" i="0" dirty="0">
                <a:solidFill>
                  <a:srgbClr val="202124"/>
                </a:solidFill>
                <a:effectLst/>
              </a:rPr>
              <a:t>Abstraction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is the method of hiding the unwanted information. (like driving cars) </a:t>
            </a:r>
          </a:p>
          <a:p>
            <a:pPr marL="0" indent="0" algn="l">
              <a:buNone/>
            </a:pP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The annotated and rationalized source code is examined by means of abstractions to identify the underlying object hierarchies.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04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2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Causation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926F52-1ED1-3FBC-3D32-78050D1EA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638" y="1327126"/>
            <a:ext cx="11730464" cy="308507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0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Regeneration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EAE4BF-575E-179E-BF6E-2698334A3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04" y="1131078"/>
            <a:ext cx="9998299" cy="381378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25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E4E00F-7986-716A-50C8-8D6CFF24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62310"/>
            <a:ext cx="5327735" cy="65956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97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Certification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1ABF74-7F6C-2510-65D5-8701E69DD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263" y="1459552"/>
            <a:ext cx="11723473" cy="213590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0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Conformance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FEA24-1E0D-DAC8-C416-C8C98DD7D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98" y="1111288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b="0" i="1" u="none" strike="noStrike" baseline="0" dirty="0"/>
              <a:t>Conformance. </a:t>
            </a:r>
            <a:r>
              <a:rPr lang="en-US" b="0" i="0" u="none" strike="noStrike" baseline="0" dirty="0"/>
              <a:t>Tests are performed to show that the renovated source code performs at the minimum all those functionalities that were performed by the original source code.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45077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10572</TotalTime>
  <Words>531</Words>
  <Application>Microsoft Office PowerPoint</Application>
  <PresentationFormat>Widescreen</PresentationFormat>
  <Paragraphs>124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Nunito</vt:lpstr>
      <vt:lpstr>Wingdings</vt:lpstr>
      <vt:lpstr>Office Theme</vt:lpstr>
      <vt:lpstr>Software Re-Engineering</vt:lpstr>
      <vt:lpstr>Lecture 11: Content</vt:lpstr>
      <vt:lpstr>Source code re-engineering reference model</vt:lpstr>
      <vt:lpstr>Source code re-engineering reference model</vt:lpstr>
      <vt:lpstr>PowerPoint Presentation</vt:lpstr>
      <vt:lpstr>Source code re-engineering reference model</vt:lpstr>
      <vt:lpstr>Source code re-engineering reference model</vt:lpstr>
      <vt:lpstr>Source code re-engineering reference model</vt:lpstr>
      <vt:lpstr>Source code re-engineering reference model</vt:lpstr>
      <vt:lpstr>Source code re-engineering reference model</vt:lpstr>
      <vt:lpstr>PowerPoint Presentation</vt:lpstr>
      <vt:lpstr>Source code re-engineering reference model</vt:lpstr>
      <vt:lpstr>Encapsulation</vt:lpstr>
      <vt:lpstr>Source code re-engineering reference model</vt:lpstr>
      <vt:lpstr>Encapsulation</vt:lpstr>
      <vt:lpstr>PowerPoint Presentation</vt:lpstr>
      <vt:lpstr>Transformation </vt:lpstr>
      <vt:lpstr>Normalization</vt:lpstr>
      <vt:lpstr>PowerPoint Presentation</vt:lpstr>
      <vt:lpstr>Interpretation</vt:lpstr>
      <vt:lpstr>Abstraction</vt:lpstr>
      <vt:lpstr>PowerPoint Presentation</vt:lpstr>
      <vt:lpstr>Causation</vt:lpstr>
      <vt:lpstr>Regeneration</vt:lpstr>
      <vt:lpstr>PowerPoint Presentation</vt:lpstr>
      <vt:lpstr>Certification</vt:lpstr>
      <vt:lpstr>Conformance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Admin</cp:lastModifiedBy>
  <cp:revision>473</cp:revision>
  <dcterms:created xsi:type="dcterms:W3CDTF">2020-10-13T09:21:17Z</dcterms:created>
  <dcterms:modified xsi:type="dcterms:W3CDTF">2025-03-17T09:07:46Z</dcterms:modified>
</cp:coreProperties>
</file>