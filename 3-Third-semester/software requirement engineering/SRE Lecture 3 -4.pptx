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48"/>
  </p:notesMasterIdLst>
  <p:handoutMasterIdLst>
    <p:handoutMasterId r:id="rId49"/>
  </p:handoutMasterIdLst>
  <p:sldIdLst>
    <p:sldId id="256" r:id="rId2"/>
    <p:sldId id="301" r:id="rId3"/>
    <p:sldId id="302" r:id="rId4"/>
    <p:sldId id="304" r:id="rId5"/>
    <p:sldId id="310" r:id="rId6"/>
    <p:sldId id="321" r:id="rId7"/>
    <p:sldId id="311" r:id="rId8"/>
    <p:sldId id="313" r:id="rId9"/>
    <p:sldId id="314" r:id="rId10"/>
    <p:sldId id="315" r:id="rId11"/>
    <p:sldId id="316" r:id="rId12"/>
    <p:sldId id="317" r:id="rId13"/>
    <p:sldId id="318" r:id="rId14"/>
    <p:sldId id="319" r:id="rId15"/>
    <p:sldId id="328" r:id="rId16"/>
    <p:sldId id="322" r:id="rId17"/>
    <p:sldId id="323" r:id="rId18"/>
    <p:sldId id="324" r:id="rId19"/>
    <p:sldId id="325" r:id="rId20"/>
    <p:sldId id="326" r:id="rId21"/>
    <p:sldId id="327" r:id="rId22"/>
    <p:sldId id="329" r:id="rId23"/>
    <p:sldId id="330" r:id="rId24"/>
    <p:sldId id="331" r:id="rId25"/>
    <p:sldId id="361" r:id="rId26"/>
    <p:sldId id="332" r:id="rId27"/>
    <p:sldId id="333" r:id="rId28"/>
    <p:sldId id="351" r:id="rId29"/>
    <p:sldId id="352" r:id="rId30"/>
    <p:sldId id="353" r:id="rId31"/>
    <p:sldId id="354" r:id="rId32"/>
    <p:sldId id="355" r:id="rId33"/>
    <p:sldId id="356" r:id="rId34"/>
    <p:sldId id="357" r:id="rId35"/>
    <p:sldId id="358" r:id="rId36"/>
    <p:sldId id="359" r:id="rId37"/>
    <p:sldId id="360" r:id="rId38"/>
    <p:sldId id="334" r:id="rId39"/>
    <p:sldId id="335" r:id="rId40"/>
    <p:sldId id="336" r:id="rId41"/>
    <p:sldId id="337" r:id="rId42"/>
    <p:sldId id="338" r:id="rId43"/>
    <p:sldId id="339" r:id="rId44"/>
    <p:sldId id="340" r:id="rId45"/>
    <p:sldId id="341" r:id="rId46"/>
    <p:sldId id="308" r:id="rId47"/>
  </p:sldIdLst>
  <p:sldSz cx="9144000" cy="6858000" type="screen4x3"/>
  <p:notesSz cx="10234613" cy="7102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CC"/>
    <a:srgbClr val="008000"/>
    <a:srgbClr val="CCFF66"/>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BD9E08-C120-4D9D-A1AD-4EAE2AF80D78}" type="doc">
      <dgm:prSet loTypeId="urn:microsoft.com/office/officeart/2005/8/layout/chevron2" loCatId="process" qsTypeId="urn:microsoft.com/office/officeart/2005/8/quickstyle/3d1" qsCatId="3D" csTypeId="urn:microsoft.com/office/officeart/2005/8/colors/accent0_3" csCatId="mainScheme" phldr="1"/>
      <dgm:spPr/>
      <dgm:t>
        <a:bodyPr/>
        <a:lstStyle/>
        <a:p>
          <a:endParaRPr lang="en-GB"/>
        </a:p>
      </dgm:t>
    </dgm:pt>
    <dgm:pt modelId="{952D0161-47DD-41B1-AFB5-9348F094C96E}">
      <dgm:prSet custT="1"/>
      <dgm:spPr/>
      <dgm:t>
        <a:bodyPr/>
        <a:lstStyle/>
        <a:p>
          <a:pPr rtl="0"/>
          <a:r>
            <a:rPr lang="en-GB" sz="2000" b="1" dirty="0" smtClean="0"/>
            <a:t>Requirements Engineering</a:t>
          </a:r>
        </a:p>
        <a:p>
          <a:pPr rtl="0"/>
          <a:r>
            <a:rPr lang="en-GB" sz="2000" b="1" dirty="0" smtClean="0"/>
            <a:t>(RE)</a:t>
          </a:r>
          <a:endParaRPr lang="en-GB" sz="2000" dirty="0"/>
        </a:p>
      </dgm:t>
    </dgm:pt>
    <dgm:pt modelId="{FE18F0B9-90FA-47CE-8E20-B3C2E7B82395}" type="sibTrans" cxnId="{DC35D738-8133-4689-878F-5561D0F49FD6}">
      <dgm:prSet/>
      <dgm:spPr/>
      <dgm:t>
        <a:bodyPr/>
        <a:lstStyle/>
        <a:p>
          <a:endParaRPr lang="en-GB"/>
        </a:p>
      </dgm:t>
    </dgm:pt>
    <dgm:pt modelId="{9D7798C7-B5FD-4398-B5EC-0C1255FF295F}" type="parTrans" cxnId="{DC35D738-8133-4689-878F-5561D0F49FD6}">
      <dgm:prSet/>
      <dgm:spPr/>
      <dgm:t>
        <a:bodyPr/>
        <a:lstStyle/>
        <a:p>
          <a:endParaRPr lang="en-GB"/>
        </a:p>
      </dgm:t>
    </dgm:pt>
    <dgm:pt modelId="{6A44F79D-C881-4646-8046-8D9DED425EA5}">
      <dgm:prSet/>
      <dgm:spPr/>
      <dgm:t>
        <a:bodyPr/>
        <a:lstStyle/>
        <a:p>
          <a:pPr rtl="0"/>
          <a:r>
            <a:rPr lang="en-GB" b="0" dirty="0" smtClean="0"/>
            <a:t>RE is a set of activities concerned with </a:t>
          </a:r>
          <a:r>
            <a:rPr lang="en-GB" b="0" dirty="0" smtClean="0">
              <a:solidFill>
                <a:srgbClr val="FF0000"/>
              </a:solidFill>
            </a:rPr>
            <a:t>identifying</a:t>
          </a:r>
          <a:r>
            <a:rPr lang="en-GB" b="0" dirty="0" smtClean="0"/>
            <a:t> and </a:t>
          </a:r>
          <a:r>
            <a:rPr lang="en-GB" b="0" dirty="0" smtClean="0">
              <a:solidFill>
                <a:srgbClr val="FF0000"/>
              </a:solidFill>
            </a:rPr>
            <a:t>communicating</a:t>
          </a:r>
          <a:r>
            <a:rPr lang="en-GB" b="0" dirty="0" smtClean="0"/>
            <a:t> </a:t>
          </a:r>
          <a:r>
            <a:rPr lang="en-GB" b="0" dirty="0" smtClean="0">
              <a:solidFill>
                <a:schemeClr val="accent2">
                  <a:lumMod val="75000"/>
                </a:schemeClr>
              </a:solidFill>
            </a:rPr>
            <a:t>the purpose of a software-intensive system</a:t>
          </a:r>
          <a:r>
            <a:rPr lang="en-GB" b="0" dirty="0" smtClean="0"/>
            <a:t>, and the </a:t>
          </a:r>
          <a:r>
            <a:rPr lang="en-GB" b="0" dirty="0" smtClean="0">
              <a:solidFill>
                <a:srgbClr val="008000"/>
              </a:solidFill>
            </a:rPr>
            <a:t>contexts in which it will be used</a:t>
          </a:r>
          <a:r>
            <a:rPr lang="en-GB" b="0" dirty="0" smtClean="0"/>
            <a:t>.</a:t>
          </a:r>
          <a:endParaRPr lang="en-GB" b="0" dirty="0"/>
        </a:p>
      </dgm:t>
    </dgm:pt>
    <dgm:pt modelId="{04EA8D5C-58ED-4D03-BE0A-737E8C491D17}" type="parTrans" cxnId="{FF48ADD9-72F9-4C52-8CCC-36647D698643}">
      <dgm:prSet/>
      <dgm:spPr/>
      <dgm:t>
        <a:bodyPr/>
        <a:lstStyle/>
        <a:p>
          <a:endParaRPr lang="en-GB"/>
        </a:p>
      </dgm:t>
    </dgm:pt>
    <dgm:pt modelId="{3F5E34A7-7D46-41F9-A9BD-ADEA2D4E0E21}" type="sibTrans" cxnId="{FF48ADD9-72F9-4C52-8CCC-36647D698643}">
      <dgm:prSet/>
      <dgm:spPr/>
      <dgm:t>
        <a:bodyPr/>
        <a:lstStyle/>
        <a:p>
          <a:endParaRPr lang="en-GB"/>
        </a:p>
      </dgm:t>
    </dgm:pt>
    <dgm:pt modelId="{43FBD0F5-6CFD-46ED-BEDD-345E5965543E}">
      <dgm:prSet/>
      <dgm:spPr/>
      <dgm:t>
        <a:bodyPr/>
        <a:lstStyle/>
        <a:p>
          <a:r>
            <a:rPr lang="en-GB" dirty="0" smtClean="0"/>
            <a:t>RE acts as the bridge between the real-world needs of users, customers, and other constituencies affected by a software system, and the capabilities and opportunities afforded by software-intensive technologies</a:t>
          </a:r>
          <a:endParaRPr lang="en-GB" dirty="0"/>
        </a:p>
      </dgm:t>
    </dgm:pt>
    <dgm:pt modelId="{8BD5E3F8-675C-4D5D-8B0F-C91E1C6D3EC1}" type="parTrans" cxnId="{8B43E191-0C44-4C42-B3CC-86855487666F}">
      <dgm:prSet/>
      <dgm:spPr/>
      <dgm:t>
        <a:bodyPr/>
        <a:lstStyle/>
        <a:p>
          <a:endParaRPr lang="en-GB"/>
        </a:p>
      </dgm:t>
    </dgm:pt>
    <dgm:pt modelId="{078E9A56-87DE-4706-BF45-7E7273588367}" type="sibTrans" cxnId="{8B43E191-0C44-4C42-B3CC-86855487666F}">
      <dgm:prSet/>
      <dgm:spPr/>
      <dgm:t>
        <a:bodyPr/>
        <a:lstStyle/>
        <a:p>
          <a:endParaRPr lang="en-GB"/>
        </a:p>
      </dgm:t>
    </dgm:pt>
    <dgm:pt modelId="{2C8BAA1C-61FC-4600-B748-84870ED40A54}">
      <dgm:prSet custT="1"/>
      <dgm:spPr/>
      <dgm:t>
        <a:bodyPr/>
        <a:lstStyle/>
        <a:p>
          <a:pPr rtl="0"/>
          <a:r>
            <a:rPr lang="en-GB" sz="2000" b="1" dirty="0" smtClean="0"/>
            <a:t>The</a:t>
          </a:r>
          <a:r>
            <a:rPr lang="en-GB" sz="3100" b="1" dirty="0" smtClean="0"/>
            <a:t> </a:t>
          </a:r>
          <a:r>
            <a:rPr lang="en-GB" sz="2000" b="1" dirty="0" smtClean="0"/>
            <a:t>bridge</a:t>
          </a:r>
          <a:endParaRPr lang="en-GB" sz="2000" b="1" dirty="0"/>
        </a:p>
      </dgm:t>
    </dgm:pt>
    <dgm:pt modelId="{5C084C97-F9CF-4C91-AF9D-B92702FF0128}" type="sibTrans" cxnId="{8D24867B-075F-45A1-A868-654111493EE9}">
      <dgm:prSet/>
      <dgm:spPr/>
      <dgm:t>
        <a:bodyPr/>
        <a:lstStyle/>
        <a:p>
          <a:endParaRPr lang="en-GB"/>
        </a:p>
      </dgm:t>
    </dgm:pt>
    <dgm:pt modelId="{55A0B023-D9B4-4F01-975B-2D02D4C44E87}" type="parTrans" cxnId="{8D24867B-075F-45A1-A868-654111493EE9}">
      <dgm:prSet/>
      <dgm:spPr/>
      <dgm:t>
        <a:bodyPr/>
        <a:lstStyle/>
        <a:p>
          <a:endParaRPr lang="en-GB"/>
        </a:p>
      </dgm:t>
    </dgm:pt>
    <dgm:pt modelId="{B6ED5DFA-0832-4018-9D42-E58EBE07C0FA}" type="pres">
      <dgm:prSet presAssocID="{9DBD9E08-C120-4D9D-A1AD-4EAE2AF80D78}" presName="linearFlow" presStyleCnt="0">
        <dgm:presLayoutVars>
          <dgm:dir/>
          <dgm:animLvl val="lvl"/>
          <dgm:resizeHandles val="exact"/>
        </dgm:presLayoutVars>
      </dgm:prSet>
      <dgm:spPr/>
      <dgm:t>
        <a:bodyPr/>
        <a:lstStyle/>
        <a:p>
          <a:endParaRPr lang="en-GB"/>
        </a:p>
      </dgm:t>
    </dgm:pt>
    <dgm:pt modelId="{E42A0C2E-E05C-4EC9-AFAF-323D343AFA82}" type="pres">
      <dgm:prSet presAssocID="{952D0161-47DD-41B1-AFB5-9348F094C96E}" presName="composite" presStyleCnt="0"/>
      <dgm:spPr/>
    </dgm:pt>
    <dgm:pt modelId="{E5A36A8D-D734-4109-8C58-CC31AD5AC9FA}" type="pres">
      <dgm:prSet presAssocID="{952D0161-47DD-41B1-AFB5-9348F094C96E}" presName="parentText" presStyleLbl="alignNode1" presStyleIdx="0" presStyleCnt="2">
        <dgm:presLayoutVars>
          <dgm:chMax val="1"/>
          <dgm:bulletEnabled val="1"/>
        </dgm:presLayoutVars>
      </dgm:prSet>
      <dgm:spPr/>
      <dgm:t>
        <a:bodyPr/>
        <a:lstStyle/>
        <a:p>
          <a:endParaRPr lang="en-GB"/>
        </a:p>
      </dgm:t>
    </dgm:pt>
    <dgm:pt modelId="{9683F875-5B16-4918-8CB5-D0475788109E}" type="pres">
      <dgm:prSet presAssocID="{952D0161-47DD-41B1-AFB5-9348F094C96E}" presName="descendantText" presStyleLbl="alignAcc1" presStyleIdx="0" presStyleCnt="2">
        <dgm:presLayoutVars>
          <dgm:bulletEnabled val="1"/>
        </dgm:presLayoutVars>
      </dgm:prSet>
      <dgm:spPr/>
      <dgm:t>
        <a:bodyPr/>
        <a:lstStyle/>
        <a:p>
          <a:endParaRPr lang="en-GB"/>
        </a:p>
      </dgm:t>
    </dgm:pt>
    <dgm:pt modelId="{3E0442F7-1471-4C04-996A-3F1267DC350D}" type="pres">
      <dgm:prSet presAssocID="{FE18F0B9-90FA-47CE-8E20-B3C2E7B82395}" presName="sp" presStyleCnt="0"/>
      <dgm:spPr/>
    </dgm:pt>
    <dgm:pt modelId="{C357FBF0-EF14-4756-90A7-566F07494FBE}" type="pres">
      <dgm:prSet presAssocID="{2C8BAA1C-61FC-4600-B748-84870ED40A54}" presName="composite" presStyleCnt="0"/>
      <dgm:spPr/>
    </dgm:pt>
    <dgm:pt modelId="{A7737DF2-9B12-4AA5-9F52-4BE4E5C9C36B}" type="pres">
      <dgm:prSet presAssocID="{2C8BAA1C-61FC-4600-B748-84870ED40A54}" presName="parentText" presStyleLbl="alignNode1" presStyleIdx="1" presStyleCnt="2">
        <dgm:presLayoutVars>
          <dgm:chMax val="1"/>
          <dgm:bulletEnabled val="1"/>
        </dgm:presLayoutVars>
      </dgm:prSet>
      <dgm:spPr/>
      <dgm:t>
        <a:bodyPr/>
        <a:lstStyle/>
        <a:p>
          <a:endParaRPr lang="en-GB"/>
        </a:p>
      </dgm:t>
    </dgm:pt>
    <dgm:pt modelId="{99026A33-E7D6-4F7D-9188-40360FD4A03E}" type="pres">
      <dgm:prSet presAssocID="{2C8BAA1C-61FC-4600-B748-84870ED40A54}" presName="descendantText" presStyleLbl="alignAcc1" presStyleIdx="1" presStyleCnt="2">
        <dgm:presLayoutVars>
          <dgm:bulletEnabled val="1"/>
        </dgm:presLayoutVars>
      </dgm:prSet>
      <dgm:spPr/>
      <dgm:t>
        <a:bodyPr/>
        <a:lstStyle/>
        <a:p>
          <a:endParaRPr lang="en-GB"/>
        </a:p>
      </dgm:t>
    </dgm:pt>
  </dgm:ptLst>
  <dgm:cxnLst>
    <dgm:cxn modelId="{E6C00D03-8903-4F29-806F-23FF9B3D24DD}" type="presOf" srcId="{43FBD0F5-6CFD-46ED-BEDD-345E5965543E}" destId="{99026A33-E7D6-4F7D-9188-40360FD4A03E}" srcOrd="0" destOrd="0" presId="urn:microsoft.com/office/officeart/2005/8/layout/chevron2"/>
    <dgm:cxn modelId="{5BA2B967-0B4F-449D-9C5E-6CB40DCB1725}" type="presOf" srcId="{6A44F79D-C881-4646-8046-8D9DED425EA5}" destId="{9683F875-5B16-4918-8CB5-D0475788109E}" srcOrd="0" destOrd="0" presId="urn:microsoft.com/office/officeart/2005/8/layout/chevron2"/>
    <dgm:cxn modelId="{09B0EE79-12C7-4ADA-B772-FD5C97DABC04}" type="presOf" srcId="{952D0161-47DD-41B1-AFB5-9348F094C96E}" destId="{E5A36A8D-D734-4109-8C58-CC31AD5AC9FA}" srcOrd="0" destOrd="0" presId="urn:microsoft.com/office/officeart/2005/8/layout/chevron2"/>
    <dgm:cxn modelId="{DC35D738-8133-4689-878F-5561D0F49FD6}" srcId="{9DBD9E08-C120-4D9D-A1AD-4EAE2AF80D78}" destId="{952D0161-47DD-41B1-AFB5-9348F094C96E}" srcOrd="0" destOrd="0" parTransId="{9D7798C7-B5FD-4398-B5EC-0C1255FF295F}" sibTransId="{FE18F0B9-90FA-47CE-8E20-B3C2E7B82395}"/>
    <dgm:cxn modelId="{8D24867B-075F-45A1-A868-654111493EE9}" srcId="{9DBD9E08-C120-4D9D-A1AD-4EAE2AF80D78}" destId="{2C8BAA1C-61FC-4600-B748-84870ED40A54}" srcOrd="1" destOrd="0" parTransId="{55A0B023-D9B4-4F01-975B-2D02D4C44E87}" sibTransId="{5C084C97-F9CF-4C91-AF9D-B92702FF0128}"/>
    <dgm:cxn modelId="{6CCB3D2E-7A17-4B26-BCE4-99892E8A22A9}" type="presOf" srcId="{2C8BAA1C-61FC-4600-B748-84870ED40A54}" destId="{A7737DF2-9B12-4AA5-9F52-4BE4E5C9C36B}" srcOrd="0" destOrd="0" presId="urn:microsoft.com/office/officeart/2005/8/layout/chevron2"/>
    <dgm:cxn modelId="{FF48ADD9-72F9-4C52-8CCC-36647D698643}" srcId="{952D0161-47DD-41B1-AFB5-9348F094C96E}" destId="{6A44F79D-C881-4646-8046-8D9DED425EA5}" srcOrd="0" destOrd="0" parTransId="{04EA8D5C-58ED-4D03-BE0A-737E8C491D17}" sibTransId="{3F5E34A7-7D46-41F9-A9BD-ADEA2D4E0E21}"/>
    <dgm:cxn modelId="{508C6F8F-4C2C-41BC-AFA0-98B3A6324F70}" type="presOf" srcId="{9DBD9E08-C120-4D9D-A1AD-4EAE2AF80D78}" destId="{B6ED5DFA-0832-4018-9D42-E58EBE07C0FA}" srcOrd="0" destOrd="0" presId="urn:microsoft.com/office/officeart/2005/8/layout/chevron2"/>
    <dgm:cxn modelId="{8B43E191-0C44-4C42-B3CC-86855487666F}" srcId="{2C8BAA1C-61FC-4600-B748-84870ED40A54}" destId="{43FBD0F5-6CFD-46ED-BEDD-345E5965543E}" srcOrd="0" destOrd="0" parTransId="{8BD5E3F8-675C-4D5D-8B0F-C91E1C6D3EC1}" sibTransId="{078E9A56-87DE-4706-BF45-7E7273588367}"/>
    <dgm:cxn modelId="{418056CD-21FF-4C6F-8827-DF2AF41F1E97}" type="presParOf" srcId="{B6ED5DFA-0832-4018-9D42-E58EBE07C0FA}" destId="{E42A0C2E-E05C-4EC9-AFAF-323D343AFA82}" srcOrd="0" destOrd="0" presId="urn:microsoft.com/office/officeart/2005/8/layout/chevron2"/>
    <dgm:cxn modelId="{2205C30A-88EB-4F82-AFB5-3F398115BB40}" type="presParOf" srcId="{E42A0C2E-E05C-4EC9-AFAF-323D343AFA82}" destId="{E5A36A8D-D734-4109-8C58-CC31AD5AC9FA}" srcOrd="0" destOrd="0" presId="urn:microsoft.com/office/officeart/2005/8/layout/chevron2"/>
    <dgm:cxn modelId="{2681B8D8-BEDD-468F-AB21-3F986A71887E}" type="presParOf" srcId="{E42A0C2E-E05C-4EC9-AFAF-323D343AFA82}" destId="{9683F875-5B16-4918-8CB5-D0475788109E}" srcOrd="1" destOrd="0" presId="urn:microsoft.com/office/officeart/2005/8/layout/chevron2"/>
    <dgm:cxn modelId="{69AE4F67-3553-4E4C-88A7-E221E805FC16}" type="presParOf" srcId="{B6ED5DFA-0832-4018-9D42-E58EBE07C0FA}" destId="{3E0442F7-1471-4C04-996A-3F1267DC350D}" srcOrd="1" destOrd="0" presId="urn:microsoft.com/office/officeart/2005/8/layout/chevron2"/>
    <dgm:cxn modelId="{13AD3B4D-8AF6-4A99-B7DC-6494C654EA8F}" type="presParOf" srcId="{B6ED5DFA-0832-4018-9D42-E58EBE07C0FA}" destId="{C357FBF0-EF14-4756-90A7-566F07494FBE}" srcOrd="2" destOrd="0" presId="urn:microsoft.com/office/officeart/2005/8/layout/chevron2"/>
    <dgm:cxn modelId="{CE3A68DE-4D6C-4CF8-B831-4FE54948B971}" type="presParOf" srcId="{C357FBF0-EF14-4756-90A7-566F07494FBE}" destId="{A7737DF2-9B12-4AA5-9F52-4BE4E5C9C36B}" srcOrd="0" destOrd="0" presId="urn:microsoft.com/office/officeart/2005/8/layout/chevron2"/>
    <dgm:cxn modelId="{DEEB191F-01A1-4BAE-B83F-CB0DF51D1BD7}" type="presParOf" srcId="{C357FBF0-EF14-4756-90A7-566F07494FBE}" destId="{99026A33-E7D6-4F7D-9188-40360FD4A03E}"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A36A8D-D734-4109-8C58-CC31AD5AC9FA}">
      <dsp:nvSpPr>
        <dsp:cNvPr id="0" name=""/>
        <dsp:cNvSpPr/>
      </dsp:nvSpPr>
      <dsp:spPr>
        <a:xfrm rot="5400000">
          <a:off x="-431953" y="436048"/>
          <a:ext cx="2879688" cy="2015781"/>
        </a:xfrm>
        <a:prstGeom prst="chevron">
          <a:avLst/>
        </a:prstGeom>
        <a:gradFill rotWithShape="0">
          <a:gsLst>
            <a:gs pos="0">
              <a:schemeClr val="dk2">
                <a:hueOff val="0"/>
                <a:satOff val="0"/>
                <a:lumOff val="0"/>
                <a:alphaOff val="0"/>
              </a:schemeClr>
            </a:gs>
            <a:gs pos="90000">
              <a:schemeClr val="dk2">
                <a:hueOff val="0"/>
                <a:satOff val="0"/>
                <a:lumOff val="0"/>
                <a:alphaOff val="0"/>
                <a:shade val="100000"/>
                <a:satMod val="105000"/>
              </a:schemeClr>
            </a:gs>
            <a:gs pos="100000">
              <a:schemeClr val="dk2">
                <a:hueOff val="0"/>
                <a:satOff val="0"/>
                <a:lumOff val="0"/>
                <a:alphaOff val="0"/>
                <a:shade val="80000"/>
                <a:satMod val="120000"/>
              </a:schemeClr>
            </a:gs>
          </a:gsLst>
          <a:path path="circle">
            <a:fillToRect l="100000" t="100000" r="100000" b="100000"/>
          </a:path>
        </a:gradFill>
        <a:ln w="10000" cap="flat" cmpd="sng" algn="ctr">
          <a:solidFill>
            <a:schemeClr val="dk2">
              <a:hueOff val="0"/>
              <a:satOff val="0"/>
              <a:lumOff val="0"/>
              <a:alphaOff val="0"/>
            </a:schemeClr>
          </a:solidFill>
          <a:prstDash val="solid"/>
        </a:ln>
        <a:effectLst>
          <a:outerShdw blurRad="381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rtl="0">
            <a:lnSpc>
              <a:spcPct val="90000"/>
            </a:lnSpc>
            <a:spcBef>
              <a:spcPct val="0"/>
            </a:spcBef>
            <a:spcAft>
              <a:spcPct val="35000"/>
            </a:spcAft>
          </a:pPr>
          <a:r>
            <a:rPr lang="en-GB" sz="2000" b="1" kern="1200" dirty="0" smtClean="0"/>
            <a:t>Requirements Engineering</a:t>
          </a:r>
        </a:p>
        <a:p>
          <a:pPr lvl="0" algn="ctr" defTabSz="889000" rtl="0">
            <a:lnSpc>
              <a:spcPct val="90000"/>
            </a:lnSpc>
            <a:spcBef>
              <a:spcPct val="0"/>
            </a:spcBef>
            <a:spcAft>
              <a:spcPct val="35000"/>
            </a:spcAft>
          </a:pPr>
          <a:r>
            <a:rPr lang="en-GB" sz="2000" b="1" kern="1200" dirty="0" smtClean="0"/>
            <a:t>(RE)</a:t>
          </a:r>
          <a:endParaRPr lang="en-GB" sz="2000" kern="1200" dirty="0"/>
        </a:p>
      </dsp:txBody>
      <dsp:txXfrm rot="-5400000">
        <a:off x="1" y="1011986"/>
        <a:ext cx="2015781" cy="863907"/>
      </dsp:txXfrm>
    </dsp:sp>
    <dsp:sp modelId="{9683F875-5B16-4918-8CB5-D0475788109E}">
      <dsp:nvSpPr>
        <dsp:cNvPr id="0" name=""/>
        <dsp:cNvSpPr/>
      </dsp:nvSpPr>
      <dsp:spPr>
        <a:xfrm rot="5400000">
          <a:off x="4300600" y="-2280723"/>
          <a:ext cx="1872781" cy="6442418"/>
        </a:xfrm>
        <a:prstGeom prst="round2SameRect">
          <a:avLst/>
        </a:prstGeom>
        <a:solidFill>
          <a:schemeClr val="lt2">
            <a:alpha val="90000"/>
            <a:hueOff val="0"/>
            <a:satOff val="0"/>
            <a:lumOff val="0"/>
            <a:alphaOff val="0"/>
          </a:schemeClr>
        </a:solidFill>
        <a:ln w="10000" cap="flat" cmpd="sng" algn="ctr">
          <a:solidFill>
            <a:schemeClr val="dk2">
              <a:hueOff val="0"/>
              <a:satOff val="0"/>
              <a:lumOff val="0"/>
              <a:alphaOff val="0"/>
            </a:schemeClr>
          </a:solidFill>
          <a:prstDash val="solid"/>
        </a:ln>
        <a:effectLst>
          <a:outerShdw blurRad="38100" dist="25400" dir="5400000" rotWithShape="0">
            <a:srgbClr val="000000">
              <a:alpha val="4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GB" sz="2300" b="0" kern="1200" dirty="0" smtClean="0"/>
            <a:t>RE is a set of activities concerned with </a:t>
          </a:r>
          <a:r>
            <a:rPr lang="en-GB" sz="2300" b="0" kern="1200" dirty="0" smtClean="0">
              <a:solidFill>
                <a:srgbClr val="FF0000"/>
              </a:solidFill>
            </a:rPr>
            <a:t>identifying</a:t>
          </a:r>
          <a:r>
            <a:rPr lang="en-GB" sz="2300" b="0" kern="1200" dirty="0" smtClean="0"/>
            <a:t> and </a:t>
          </a:r>
          <a:r>
            <a:rPr lang="en-GB" sz="2300" b="0" kern="1200" dirty="0" smtClean="0">
              <a:solidFill>
                <a:srgbClr val="FF0000"/>
              </a:solidFill>
            </a:rPr>
            <a:t>communicating</a:t>
          </a:r>
          <a:r>
            <a:rPr lang="en-GB" sz="2300" b="0" kern="1200" dirty="0" smtClean="0"/>
            <a:t> </a:t>
          </a:r>
          <a:r>
            <a:rPr lang="en-GB" sz="2300" b="0" kern="1200" dirty="0" smtClean="0">
              <a:solidFill>
                <a:schemeClr val="accent2">
                  <a:lumMod val="75000"/>
                </a:schemeClr>
              </a:solidFill>
            </a:rPr>
            <a:t>the purpose of a software-intensive system</a:t>
          </a:r>
          <a:r>
            <a:rPr lang="en-GB" sz="2300" b="0" kern="1200" dirty="0" smtClean="0"/>
            <a:t>, and the </a:t>
          </a:r>
          <a:r>
            <a:rPr lang="en-GB" sz="2300" b="0" kern="1200" dirty="0" smtClean="0">
              <a:solidFill>
                <a:srgbClr val="008000"/>
              </a:solidFill>
            </a:rPr>
            <a:t>contexts in which it will be used</a:t>
          </a:r>
          <a:r>
            <a:rPr lang="en-GB" sz="2300" b="0" kern="1200" dirty="0" smtClean="0"/>
            <a:t>.</a:t>
          </a:r>
          <a:endParaRPr lang="en-GB" sz="2300" b="0" kern="1200" dirty="0"/>
        </a:p>
      </dsp:txBody>
      <dsp:txXfrm rot="-5400000">
        <a:off x="2015782" y="95517"/>
        <a:ext cx="6350996" cy="1689937"/>
      </dsp:txXfrm>
    </dsp:sp>
    <dsp:sp modelId="{A7737DF2-9B12-4AA5-9F52-4BE4E5C9C36B}">
      <dsp:nvSpPr>
        <dsp:cNvPr id="0" name=""/>
        <dsp:cNvSpPr/>
      </dsp:nvSpPr>
      <dsp:spPr>
        <a:xfrm rot="5400000">
          <a:off x="-431953" y="3034570"/>
          <a:ext cx="2879688" cy="2015781"/>
        </a:xfrm>
        <a:prstGeom prst="chevron">
          <a:avLst/>
        </a:prstGeom>
        <a:gradFill rotWithShape="0">
          <a:gsLst>
            <a:gs pos="0">
              <a:schemeClr val="dk2">
                <a:hueOff val="0"/>
                <a:satOff val="0"/>
                <a:lumOff val="0"/>
                <a:alphaOff val="0"/>
              </a:schemeClr>
            </a:gs>
            <a:gs pos="90000">
              <a:schemeClr val="dk2">
                <a:hueOff val="0"/>
                <a:satOff val="0"/>
                <a:lumOff val="0"/>
                <a:alphaOff val="0"/>
                <a:shade val="100000"/>
                <a:satMod val="105000"/>
              </a:schemeClr>
            </a:gs>
            <a:gs pos="100000">
              <a:schemeClr val="dk2">
                <a:hueOff val="0"/>
                <a:satOff val="0"/>
                <a:lumOff val="0"/>
                <a:alphaOff val="0"/>
                <a:shade val="80000"/>
                <a:satMod val="120000"/>
              </a:schemeClr>
            </a:gs>
          </a:gsLst>
          <a:path path="circle">
            <a:fillToRect l="100000" t="100000" r="100000" b="100000"/>
          </a:path>
        </a:gradFill>
        <a:ln w="10000" cap="flat" cmpd="sng" algn="ctr">
          <a:solidFill>
            <a:schemeClr val="dk2">
              <a:hueOff val="0"/>
              <a:satOff val="0"/>
              <a:lumOff val="0"/>
              <a:alphaOff val="0"/>
            </a:schemeClr>
          </a:solidFill>
          <a:prstDash val="solid"/>
        </a:ln>
        <a:effectLst>
          <a:outerShdw blurRad="381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rtl="0">
            <a:lnSpc>
              <a:spcPct val="90000"/>
            </a:lnSpc>
            <a:spcBef>
              <a:spcPct val="0"/>
            </a:spcBef>
            <a:spcAft>
              <a:spcPct val="35000"/>
            </a:spcAft>
          </a:pPr>
          <a:r>
            <a:rPr lang="en-GB" sz="2000" b="1" kern="1200" dirty="0" smtClean="0"/>
            <a:t>The</a:t>
          </a:r>
          <a:r>
            <a:rPr lang="en-GB" sz="3100" b="1" kern="1200" dirty="0" smtClean="0"/>
            <a:t> </a:t>
          </a:r>
          <a:r>
            <a:rPr lang="en-GB" sz="2000" b="1" kern="1200" dirty="0" smtClean="0"/>
            <a:t>bridge</a:t>
          </a:r>
          <a:endParaRPr lang="en-GB" sz="2000" b="1" kern="1200" dirty="0"/>
        </a:p>
      </dsp:txBody>
      <dsp:txXfrm rot="-5400000">
        <a:off x="1" y="3610508"/>
        <a:ext cx="2015781" cy="863907"/>
      </dsp:txXfrm>
    </dsp:sp>
    <dsp:sp modelId="{99026A33-E7D6-4F7D-9188-40360FD4A03E}">
      <dsp:nvSpPr>
        <dsp:cNvPr id="0" name=""/>
        <dsp:cNvSpPr/>
      </dsp:nvSpPr>
      <dsp:spPr>
        <a:xfrm rot="5400000">
          <a:off x="4301092" y="317306"/>
          <a:ext cx="1871797" cy="6442418"/>
        </a:xfrm>
        <a:prstGeom prst="round2SameRect">
          <a:avLst/>
        </a:prstGeom>
        <a:solidFill>
          <a:schemeClr val="lt2">
            <a:alpha val="90000"/>
            <a:hueOff val="0"/>
            <a:satOff val="0"/>
            <a:lumOff val="0"/>
            <a:alphaOff val="0"/>
          </a:schemeClr>
        </a:solidFill>
        <a:ln w="10000" cap="flat" cmpd="sng" algn="ctr">
          <a:solidFill>
            <a:schemeClr val="dk2">
              <a:hueOff val="0"/>
              <a:satOff val="0"/>
              <a:lumOff val="0"/>
              <a:alphaOff val="0"/>
            </a:schemeClr>
          </a:solidFill>
          <a:prstDash val="solid"/>
        </a:ln>
        <a:effectLst>
          <a:outerShdw blurRad="38100" dist="25400" dir="5400000" rotWithShape="0">
            <a:srgbClr val="000000">
              <a:alpha val="4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a:lnSpc>
              <a:spcPct val="90000"/>
            </a:lnSpc>
            <a:spcBef>
              <a:spcPct val="0"/>
            </a:spcBef>
            <a:spcAft>
              <a:spcPct val="15000"/>
            </a:spcAft>
            <a:buChar char="••"/>
          </a:pPr>
          <a:r>
            <a:rPr lang="en-GB" sz="2300" kern="1200" dirty="0" smtClean="0"/>
            <a:t>RE acts as the bridge between the real-world needs of users, customers, and other constituencies affected by a software system, and the capabilities and opportunities afforded by software-intensive technologies</a:t>
          </a:r>
          <a:endParaRPr lang="en-GB" sz="2300" kern="1200" dirty="0"/>
        </a:p>
      </dsp:txBody>
      <dsp:txXfrm rot="-5400000">
        <a:off x="2015782" y="2693990"/>
        <a:ext cx="6351044" cy="1689049"/>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34999" cy="355124"/>
          </a:xfrm>
          <a:prstGeom prst="rect">
            <a:avLst/>
          </a:prstGeom>
        </p:spPr>
        <p:txBody>
          <a:bodyPr vert="horz" lIns="99066" tIns="49533" rIns="99066" bIns="49533" rtlCol="0"/>
          <a:lstStyle>
            <a:lvl1pPr algn="l">
              <a:defRPr sz="1300"/>
            </a:lvl1pPr>
          </a:lstStyle>
          <a:p>
            <a:endParaRPr lang="en-GB"/>
          </a:p>
        </p:txBody>
      </p:sp>
      <p:sp>
        <p:nvSpPr>
          <p:cNvPr id="3" name="Date Placeholder 2"/>
          <p:cNvSpPr>
            <a:spLocks noGrp="1"/>
          </p:cNvSpPr>
          <p:nvPr>
            <p:ph type="dt" sz="quarter" idx="1"/>
          </p:nvPr>
        </p:nvSpPr>
        <p:spPr>
          <a:xfrm>
            <a:off x="5797838" y="0"/>
            <a:ext cx="4434999" cy="355124"/>
          </a:xfrm>
          <a:prstGeom prst="rect">
            <a:avLst/>
          </a:prstGeom>
        </p:spPr>
        <p:txBody>
          <a:bodyPr vert="horz" lIns="99066" tIns="49533" rIns="99066" bIns="49533" rtlCol="0"/>
          <a:lstStyle>
            <a:lvl1pPr algn="r">
              <a:defRPr sz="1300"/>
            </a:lvl1pPr>
          </a:lstStyle>
          <a:p>
            <a:fld id="{B725F244-0E57-48DF-9F56-766B01E529D0}" type="datetimeFigureOut">
              <a:rPr lang="en-US" smtClean="0"/>
              <a:pPr/>
              <a:t>2/22/2023</a:t>
            </a:fld>
            <a:endParaRPr lang="en-GB"/>
          </a:p>
        </p:txBody>
      </p:sp>
      <p:sp>
        <p:nvSpPr>
          <p:cNvPr id="4" name="Footer Placeholder 3"/>
          <p:cNvSpPr>
            <a:spLocks noGrp="1"/>
          </p:cNvSpPr>
          <p:nvPr>
            <p:ph type="ftr" sz="quarter" idx="2"/>
          </p:nvPr>
        </p:nvSpPr>
        <p:spPr>
          <a:xfrm>
            <a:off x="0" y="6745708"/>
            <a:ext cx="4434999" cy="355124"/>
          </a:xfrm>
          <a:prstGeom prst="rect">
            <a:avLst/>
          </a:prstGeom>
        </p:spPr>
        <p:txBody>
          <a:bodyPr vert="horz" lIns="99066" tIns="49533" rIns="99066" bIns="49533" rtlCol="0" anchor="b"/>
          <a:lstStyle>
            <a:lvl1pPr algn="l">
              <a:defRPr sz="1300"/>
            </a:lvl1pPr>
          </a:lstStyle>
          <a:p>
            <a:endParaRPr lang="en-GB"/>
          </a:p>
        </p:txBody>
      </p:sp>
      <p:sp>
        <p:nvSpPr>
          <p:cNvPr id="5" name="Slide Number Placeholder 4"/>
          <p:cNvSpPr>
            <a:spLocks noGrp="1"/>
          </p:cNvSpPr>
          <p:nvPr>
            <p:ph type="sldNum" sz="quarter" idx="3"/>
          </p:nvPr>
        </p:nvSpPr>
        <p:spPr>
          <a:xfrm>
            <a:off x="5797838" y="6745708"/>
            <a:ext cx="4434999" cy="355124"/>
          </a:xfrm>
          <a:prstGeom prst="rect">
            <a:avLst/>
          </a:prstGeom>
        </p:spPr>
        <p:txBody>
          <a:bodyPr vert="horz" lIns="99066" tIns="49533" rIns="99066" bIns="49533" rtlCol="0" anchor="b"/>
          <a:lstStyle>
            <a:lvl1pPr algn="r">
              <a:defRPr sz="1300"/>
            </a:lvl1pPr>
          </a:lstStyle>
          <a:p>
            <a:fld id="{4E8D8FC5-7EE3-4D86-938A-5B0A642AD494}" type="slidenum">
              <a:rPr lang="en-GB" smtClean="0"/>
              <a:pPr/>
              <a:t>‹#›</a:t>
            </a:fld>
            <a:endParaRPr lang="en-GB"/>
          </a:p>
        </p:txBody>
      </p:sp>
    </p:spTree>
    <p:extLst>
      <p:ext uri="{BB962C8B-B14F-4D97-AF65-F5344CB8AC3E}">
        <p14:creationId xmlns:p14="http://schemas.microsoft.com/office/powerpoint/2010/main" val="5431974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34999" cy="355124"/>
          </a:xfrm>
          <a:prstGeom prst="rect">
            <a:avLst/>
          </a:prstGeom>
        </p:spPr>
        <p:txBody>
          <a:bodyPr vert="horz" lIns="99066" tIns="49533" rIns="99066" bIns="49533" rtlCol="0"/>
          <a:lstStyle>
            <a:lvl1pPr algn="l">
              <a:defRPr sz="1300"/>
            </a:lvl1pPr>
          </a:lstStyle>
          <a:p>
            <a:endParaRPr lang="en-GB"/>
          </a:p>
        </p:txBody>
      </p:sp>
      <p:sp>
        <p:nvSpPr>
          <p:cNvPr id="3" name="Date Placeholder 2"/>
          <p:cNvSpPr>
            <a:spLocks noGrp="1"/>
          </p:cNvSpPr>
          <p:nvPr>
            <p:ph type="dt" idx="1"/>
          </p:nvPr>
        </p:nvSpPr>
        <p:spPr>
          <a:xfrm>
            <a:off x="5797246" y="0"/>
            <a:ext cx="4434999" cy="355124"/>
          </a:xfrm>
          <a:prstGeom prst="rect">
            <a:avLst/>
          </a:prstGeom>
        </p:spPr>
        <p:txBody>
          <a:bodyPr vert="horz" lIns="99066" tIns="49533" rIns="99066" bIns="49533" rtlCol="0"/>
          <a:lstStyle>
            <a:lvl1pPr algn="r">
              <a:defRPr sz="1300"/>
            </a:lvl1pPr>
          </a:lstStyle>
          <a:p>
            <a:fld id="{0F7F6FB6-070A-4DFE-8799-1853B5BEE514}" type="datetimeFigureOut">
              <a:rPr lang="en-US" smtClean="0"/>
              <a:pPr/>
              <a:t>2/22/2023</a:t>
            </a:fld>
            <a:endParaRPr lang="en-GB"/>
          </a:p>
        </p:txBody>
      </p:sp>
      <p:sp>
        <p:nvSpPr>
          <p:cNvPr id="4" name="Slide Image Placeholder 3"/>
          <p:cNvSpPr>
            <a:spLocks noGrp="1" noRot="1" noChangeAspect="1"/>
          </p:cNvSpPr>
          <p:nvPr>
            <p:ph type="sldImg" idx="2"/>
          </p:nvPr>
        </p:nvSpPr>
        <p:spPr>
          <a:xfrm>
            <a:off x="3341688" y="533400"/>
            <a:ext cx="3551237" cy="2662238"/>
          </a:xfrm>
          <a:prstGeom prst="rect">
            <a:avLst/>
          </a:prstGeom>
          <a:noFill/>
          <a:ln w="12700">
            <a:solidFill>
              <a:prstClr val="black"/>
            </a:solidFill>
          </a:ln>
        </p:spPr>
        <p:txBody>
          <a:bodyPr vert="horz" lIns="99066" tIns="49533" rIns="99066" bIns="49533" rtlCol="0" anchor="ctr"/>
          <a:lstStyle/>
          <a:p>
            <a:endParaRPr lang="en-GB"/>
          </a:p>
        </p:txBody>
      </p:sp>
      <p:sp>
        <p:nvSpPr>
          <p:cNvPr id="5" name="Notes Placeholder 4"/>
          <p:cNvSpPr>
            <a:spLocks noGrp="1"/>
          </p:cNvSpPr>
          <p:nvPr>
            <p:ph type="body" sz="quarter" idx="3"/>
          </p:nvPr>
        </p:nvSpPr>
        <p:spPr>
          <a:xfrm>
            <a:off x="1023462" y="3373676"/>
            <a:ext cx="8187690" cy="3196114"/>
          </a:xfrm>
          <a:prstGeom prst="rect">
            <a:avLst/>
          </a:prstGeom>
        </p:spPr>
        <p:txBody>
          <a:bodyPr vert="horz" lIns="99066" tIns="49533" rIns="99066" bIns="49533"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6746119"/>
            <a:ext cx="4434999" cy="355124"/>
          </a:xfrm>
          <a:prstGeom prst="rect">
            <a:avLst/>
          </a:prstGeom>
        </p:spPr>
        <p:txBody>
          <a:bodyPr vert="horz" lIns="99066" tIns="49533" rIns="99066" bIns="49533" rtlCol="0" anchor="b"/>
          <a:lstStyle>
            <a:lvl1pPr algn="l">
              <a:defRPr sz="1300"/>
            </a:lvl1pPr>
          </a:lstStyle>
          <a:p>
            <a:endParaRPr lang="en-GB"/>
          </a:p>
        </p:txBody>
      </p:sp>
      <p:sp>
        <p:nvSpPr>
          <p:cNvPr id="7" name="Slide Number Placeholder 6"/>
          <p:cNvSpPr>
            <a:spLocks noGrp="1"/>
          </p:cNvSpPr>
          <p:nvPr>
            <p:ph type="sldNum" sz="quarter" idx="5"/>
          </p:nvPr>
        </p:nvSpPr>
        <p:spPr>
          <a:xfrm>
            <a:off x="5797246" y="6746119"/>
            <a:ext cx="4434999" cy="355124"/>
          </a:xfrm>
          <a:prstGeom prst="rect">
            <a:avLst/>
          </a:prstGeom>
        </p:spPr>
        <p:txBody>
          <a:bodyPr vert="horz" lIns="99066" tIns="49533" rIns="99066" bIns="49533" rtlCol="0" anchor="b"/>
          <a:lstStyle>
            <a:lvl1pPr algn="r">
              <a:defRPr sz="1300"/>
            </a:lvl1pPr>
          </a:lstStyle>
          <a:p>
            <a:fld id="{5CD285AE-5B40-4E7E-BD53-427AC31884BF}" type="slidenum">
              <a:rPr lang="en-GB" smtClean="0"/>
              <a:pPr/>
              <a:t>‹#›</a:t>
            </a:fld>
            <a:endParaRPr lang="en-GB"/>
          </a:p>
        </p:txBody>
      </p:sp>
    </p:spTree>
    <p:extLst>
      <p:ext uri="{BB962C8B-B14F-4D97-AF65-F5344CB8AC3E}">
        <p14:creationId xmlns:p14="http://schemas.microsoft.com/office/powerpoint/2010/main" val="2229487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EEC466-2230-48DA-80E2-1AD8F9376710}" type="slidenum">
              <a:rPr lang="en-US"/>
              <a:pPr/>
              <a:t>43</a:t>
            </a:fld>
            <a:endParaRPr lang="en-US"/>
          </a:p>
        </p:txBody>
      </p:sp>
      <p:sp>
        <p:nvSpPr>
          <p:cNvPr id="176130" name="Rectangle 2"/>
          <p:cNvSpPr>
            <a:spLocks noGrp="1" noRot="1" noChangeAspect="1" noChangeArrowheads="1" noTextEdit="1"/>
          </p:cNvSpPr>
          <p:nvPr>
            <p:ph type="sldImg"/>
          </p:nvPr>
        </p:nvSpPr>
        <p:spPr>
          <a:xfrm>
            <a:off x="5256213" y="647700"/>
            <a:ext cx="3138487" cy="2352675"/>
          </a:xfrm>
          <a:ln/>
        </p:spPr>
      </p:sp>
      <p:sp>
        <p:nvSpPr>
          <p:cNvPr id="176131" name="Rectangle 3"/>
          <p:cNvSpPr>
            <a:spLocks noGrp="1" noChangeArrowheads="1"/>
          </p:cNvSpPr>
          <p:nvPr>
            <p:ph type="body" idx="1"/>
          </p:nvPr>
        </p:nvSpPr>
        <p:spPr>
          <a:xfrm>
            <a:off x="3851307" y="3235338"/>
            <a:ext cx="5930212" cy="3059184"/>
          </a:xfrm>
        </p:spPr>
        <p:txBody>
          <a:bodyPr/>
          <a:lstStyle/>
          <a:p>
            <a:r>
              <a:rPr lang="en-US" sz="1100">
                <a:latin typeface="ZapfHumnst BT" pitchFamily="34" charset="0"/>
              </a:rPr>
              <a:t>Again, our primary goal here is to have communication between the development team (design, QA, doc) and the customer, so it is necessary that it be readable and understandable by all parties.</a:t>
            </a:r>
          </a:p>
        </p:txBody>
      </p:sp>
    </p:spTree>
    <p:extLst>
      <p:ext uri="{BB962C8B-B14F-4D97-AF65-F5344CB8AC3E}">
        <p14:creationId xmlns:p14="http://schemas.microsoft.com/office/powerpoint/2010/main" val="36377666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82879" y="182879"/>
            <a:ext cx="8778240" cy="64922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32485" y="882376"/>
            <a:ext cx="7475220" cy="2926080"/>
          </a:xfrm>
        </p:spPr>
        <p:txBody>
          <a:bodyPr anchor="b">
            <a:normAutofit/>
          </a:bodyPr>
          <a:lstStyle>
            <a:lvl1pPr algn="ctr">
              <a:lnSpc>
                <a:spcPct val="85000"/>
              </a:lnSpc>
              <a:defRPr sz="6000" b="1" cap="all"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82148" y="3869635"/>
            <a:ext cx="6575895" cy="1388165"/>
          </a:xfrm>
        </p:spPr>
        <p:txBody>
          <a:bodyPr>
            <a:normAutofit/>
          </a:bodyPr>
          <a:lstStyle>
            <a:lvl1pPr marL="0" indent="0" algn="ctr">
              <a:spcBef>
                <a:spcPts val="1000"/>
              </a:spcBef>
              <a:buNone/>
              <a:defRPr sz="1800">
                <a:solidFill>
                  <a:schemeClr val="tx1"/>
                </a:solidFill>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2/22/2023</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cxnSp>
        <p:nvCxnSpPr>
          <p:cNvPr id="8" name="Straight Connector 7"/>
          <p:cNvCxnSpPr/>
          <p:nvPr/>
        </p:nvCxnSpPr>
        <p:spPr>
          <a:xfrm>
            <a:off x="1483995" y="3733800"/>
            <a:ext cx="61722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dse_logo_clr.jpg"/>
          <p:cNvPicPr>
            <a:picLocks noChangeAspect="1"/>
          </p:cNvPicPr>
          <p:nvPr userDrawn="1"/>
        </p:nvPicPr>
        <p:blipFill>
          <a:blip r:embed="rId2" cstate="print"/>
          <a:stretch>
            <a:fillRect/>
          </a:stretch>
        </p:blipFill>
        <p:spPr>
          <a:xfrm>
            <a:off x="838200" y="685801"/>
            <a:ext cx="3581400" cy="4190238"/>
          </a:xfrm>
          <a:prstGeom prst="rect">
            <a:avLst/>
          </a:prstGeom>
        </p:spPr>
      </p:pic>
    </p:spTree>
    <p:extLst>
      <p:ext uri="{BB962C8B-B14F-4D97-AF65-F5344CB8AC3E}">
        <p14:creationId xmlns:p14="http://schemas.microsoft.com/office/powerpoint/2010/main" val="1349304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spcBef>
                <a:spcPts val="1000"/>
              </a:spcBef>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3765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9818" y="1173575"/>
            <a:ext cx="7475220" cy="2926080"/>
          </a:xfrm>
        </p:spPr>
        <p:txBody>
          <a:bodyPr anchor="b">
            <a:noAutofit/>
          </a:bodyPr>
          <a:lstStyle>
            <a:lvl1pPr algn="ctr">
              <a:lnSpc>
                <a:spcPct val="85000"/>
              </a:lnSpc>
              <a:defRPr sz="6000" b="0" cap="all"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82446" y="4154520"/>
            <a:ext cx="6576822" cy="1363806"/>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a:off x="1485900" y="4020408"/>
            <a:ext cx="61722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177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57250" y="2057399"/>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709" y="2057400"/>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2/22/2023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24899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57250" y="2001511"/>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857250" y="2721483"/>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1880" y="1999032"/>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701880" y="2719322"/>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689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2/22/2023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52616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2198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smtClean="0"/>
              <a:t>Click to edit Master title style</a:t>
            </a:r>
            <a:endParaRPr lang="en-US" dirty="0"/>
          </a:p>
        </p:txBody>
      </p:sp>
      <p:sp>
        <p:nvSpPr>
          <p:cNvPr id="3" name="Content Placeholder 2"/>
          <p:cNvSpPr>
            <a:spLocks noGrp="1"/>
          </p:cNvSpPr>
          <p:nvPr>
            <p:ph idx="1"/>
          </p:nvPr>
        </p:nvSpPr>
        <p:spPr>
          <a:xfrm>
            <a:off x="4129314" y="1097280"/>
            <a:ext cx="4149638" cy="46634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7250" y="2834640"/>
            <a:ext cx="2834640" cy="292608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88898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019107" y="1069847"/>
            <a:ext cx="4257703" cy="4645153"/>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857250" y="2834640"/>
            <a:ext cx="2834640" cy="288036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19555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03191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743075" cy="54102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57250" y="762000"/>
            <a:ext cx="5572125"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31039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82880" y="182880"/>
            <a:ext cx="8778240" cy="64922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57250" y="609600"/>
            <a:ext cx="7406640" cy="13563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57251" y="2057400"/>
            <a:ext cx="7404653" cy="4038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7247" y="6223829"/>
            <a:ext cx="1746806" cy="365125"/>
          </a:xfrm>
          <a:prstGeom prst="rect">
            <a:avLst/>
          </a:prstGeom>
        </p:spPr>
        <p:txBody>
          <a:bodyPr vert="horz" lIns="91440" tIns="45720" rIns="91440" bIns="45720" rtlCol="0" anchor="ctr"/>
          <a:lstStyle>
            <a:lvl1pPr algn="l">
              <a:defRPr sz="1000">
                <a:solidFill>
                  <a:schemeClr val="tx1"/>
                </a:solidFill>
              </a:defRPr>
            </a:lvl1pPr>
          </a:lstStyle>
          <a:p>
            <a:fld id="{1D8BD707-D9CF-40AE-B4C6-C98DA3205C09}" type="datetimeFigureOut">
              <a:rPr lang="en-US" smtClean="0"/>
              <a:pPr/>
              <a:t>2/22/2023</a:t>
            </a:fld>
            <a:endParaRPr lang="en-US"/>
          </a:p>
        </p:txBody>
      </p:sp>
      <p:sp>
        <p:nvSpPr>
          <p:cNvPr id="5" name="Footer Placeholder 4"/>
          <p:cNvSpPr>
            <a:spLocks noGrp="1"/>
          </p:cNvSpPr>
          <p:nvPr>
            <p:ph type="ftr" sz="quarter" idx="3"/>
          </p:nvPr>
        </p:nvSpPr>
        <p:spPr>
          <a:xfrm>
            <a:off x="2961861" y="6223829"/>
            <a:ext cx="3538331" cy="365125"/>
          </a:xfrm>
          <a:prstGeom prst="rect">
            <a:avLst/>
          </a:prstGeom>
        </p:spPr>
        <p:txBody>
          <a:bodyPr vert="horz" lIns="91440" tIns="45720" rIns="91440" bIns="45720" rtlCol="0" anchor="ctr"/>
          <a:lstStyle>
            <a:lvl1pPr algn="ctr">
              <a:defRPr sz="1000">
                <a:solidFill>
                  <a:schemeClr val="tx1"/>
                </a:solidFill>
              </a:defRPr>
            </a:lvl1pPr>
          </a:lstStyle>
          <a:p>
            <a:endParaRPr lang="en-US"/>
          </a:p>
        </p:txBody>
      </p:sp>
      <p:sp>
        <p:nvSpPr>
          <p:cNvPr id="6" name="Slide Number Placeholder 5"/>
          <p:cNvSpPr>
            <a:spLocks noGrp="1"/>
          </p:cNvSpPr>
          <p:nvPr>
            <p:ph type="sldNum" sz="quarter" idx="4"/>
          </p:nvPr>
        </p:nvSpPr>
        <p:spPr>
          <a:xfrm>
            <a:off x="6997148" y="6223829"/>
            <a:ext cx="1279663" cy="365125"/>
          </a:xfrm>
          <a:prstGeom prst="rect">
            <a:avLst/>
          </a:prstGeom>
        </p:spPr>
        <p:txBody>
          <a:bodyPr vert="horz" lIns="91440" tIns="45720" rIns="91440" bIns="45720" rtlCol="0" anchor="ctr"/>
          <a:lstStyle>
            <a:lvl1pPr algn="r">
              <a:defRPr sz="1000">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713804664"/>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defTabSz="6858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171450" indent="-137160" algn="l" defTabSz="685800" rtl="0" eaLnBrk="1" latinLnBrk="0" hangingPunct="1">
        <a:lnSpc>
          <a:spcPct val="90000"/>
        </a:lnSpc>
        <a:spcBef>
          <a:spcPts val="1000"/>
        </a:spcBef>
        <a:buClr>
          <a:schemeClr val="tx1"/>
        </a:buClr>
        <a:buSzPct val="80000"/>
        <a:buFont typeface="Corbel" pitchFamily="34" charset="0"/>
        <a:buChar char="•"/>
        <a:defRPr sz="2000" kern="1200">
          <a:solidFill>
            <a:schemeClr val="tx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tx1"/>
        </a:buClr>
        <a:buSzPct val="80000"/>
        <a:buFont typeface="Corbel" pitchFamily="34" charset="0"/>
        <a:buChar char="•"/>
        <a:defRPr sz="1800" kern="1200">
          <a:solidFill>
            <a:schemeClr val="tx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tx1"/>
        </a:buClr>
        <a:buSzPct val="80000"/>
        <a:buFont typeface="Corbel" pitchFamily="34" charset="0"/>
        <a:buChar char="•"/>
        <a:defRPr sz="1600" kern="1200">
          <a:solidFill>
            <a:schemeClr val="tx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tx1"/>
        </a:buClr>
        <a:buSzPct val="80000"/>
        <a:buFont typeface="Corbel" pitchFamily="34" charset="0"/>
        <a:buChar char="•"/>
        <a:defRPr sz="1400" kern="1200">
          <a:solidFill>
            <a:schemeClr val="tx1"/>
          </a:solidFill>
          <a:latin typeface="+mn-lt"/>
          <a:ea typeface="+mn-ea"/>
          <a:cs typeface="+mn-cs"/>
        </a:defRPr>
      </a:lvl4pPr>
      <a:lvl5pPr marL="920120" indent="-137160" algn="l" defTabSz="685800" rtl="0" eaLnBrk="1" latinLnBrk="0" hangingPunct="1">
        <a:lnSpc>
          <a:spcPct val="90000"/>
        </a:lnSpc>
        <a:spcBef>
          <a:spcPts val="150"/>
        </a:spcBef>
        <a:spcAft>
          <a:spcPts val="300"/>
        </a:spcAft>
        <a:buClr>
          <a:schemeClr val="tx1"/>
        </a:buClr>
        <a:buSzPct val="80000"/>
        <a:buFont typeface="Corbel" pitchFamily="34" charset="0"/>
        <a:buChar char="•"/>
        <a:defRPr sz="1400" kern="1200">
          <a:solidFill>
            <a:schemeClr val="tx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tx1"/>
        </a:buClr>
        <a:buSzPct val="80000"/>
        <a:buFont typeface="Corbel" pitchFamily="34" charset="0"/>
        <a:buChar char="•"/>
        <a:defRPr sz="1400" kern="1200">
          <a:solidFill>
            <a:schemeClr val="tx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tx1"/>
        </a:buClr>
        <a:buSzPct val="80000"/>
        <a:buFont typeface="Corbel" pitchFamily="34" charset="0"/>
        <a:buChar char="•"/>
        <a:defRPr sz="1400" kern="1200">
          <a:solidFill>
            <a:schemeClr val="tx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tx1"/>
        </a:buClr>
        <a:buSzPct val="80000"/>
        <a:buFont typeface="Corbel" pitchFamily="34" charset="0"/>
        <a:buChar char="•"/>
        <a:defRPr sz="1400" kern="1200">
          <a:solidFill>
            <a:schemeClr val="tx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tx1"/>
        </a:buClr>
        <a:buSzPct val="80000"/>
        <a:buFont typeface="Corbel"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1.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Microsoft_Word_97_-_2003_Document1.doc"/><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2.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3.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4.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5.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2148" y="3429000"/>
            <a:ext cx="7475220" cy="2926080"/>
          </a:xfrm>
        </p:spPr>
        <p:txBody>
          <a:bodyPr>
            <a:noAutofit/>
          </a:bodyPr>
          <a:lstStyle/>
          <a:p>
            <a:r>
              <a:rPr lang="en-GB" sz="4800" dirty="0" smtClean="0"/>
              <a:t>Requirements Engineering</a:t>
            </a:r>
            <a:endParaRPr lang="en-GB" sz="4800" dirty="0"/>
          </a:p>
        </p:txBody>
      </p:sp>
      <p:sp>
        <p:nvSpPr>
          <p:cNvPr id="3" name="Subtitle 2"/>
          <p:cNvSpPr>
            <a:spLocks noGrp="1"/>
          </p:cNvSpPr>
          <p:nvPr>
            <p:ph type="subTitle" idx="1"/>
          </p:nvPr>
        </p:nvSpPr>
        <p:spPr>
          <a:xfrm>
            <a:off x="2153040" y="3276600"/>
            <a:ext cx="6575895" cy="1388165"/>
          </a:xfrm>
        </p:spPr>
        <p:txBody>
          <a:bodyPr/>
          <a:lstStyle/>
          <a:p>
            <a:r>
              <a:rPr lang="en-GB" dirty="0" smtClean="0"/>
              <a:t>Lecture </a:t>
            </a:r>
            <a:r>
              <a:rPr lang="en-GB" dirty="0" smtClean="0"/>
              <a:t>03</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406640" cy="1356360"/>
          </a:xfrm>
        </p:spPr>
        <p:txBody>
          <a:bodyPr/>
          <a:lstStyle/>
          <a:p>
            <a:r>
              <a:rPr lang="en-GB" dirty="0" smtClean="0"/>
              <a:t>Requirements Engineering</a:t>
            </a:r>
            <a:endParaRPr lang="en-GB" dirty="0"/>
          </a:p>
        </p:txBody>
      </p:sp>
      <p:graphicFrame>
        <p:nvGraphicFramePr>
          <p:cNvPr id="4" name="Content Placeholder 3"/>
          <p:cNvGraphicFramePr>
            <a:graphicFrameLocks noGrp="1"/>
          </p:cNvGraphicFramePr>
          <p:nvPr>
            <p:ph idx="1"/>
          </p:nvPr>
        </p:nvGraphicFramePr>
        <p:xfrm>
          <a:off x="457200" y="1371600"/>
          <a:ext cx="8458200"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Rectangle 3"/>
          <p:cNvSpPr>
            <a:spLocks noGrp="1" noChangeArrowheads="1"/>
          </p:cNvSpPr>
          <p:nvPr>
            <p:ph type="title"/>
          </p:nvPr>
        </p:nvSpPr>
        <p:spPr/>
        <p:txBody>
          <a:bodyPr>
            <a:normAutofit/>
          </a:bodyPr>
          <a:lstStyle/>
          <a:p>
            <a:pPr>
              <a:lnSpc>
                <a:spcPct val="110000"/>
              </a:lnSpc>
            </a:pPr>
            <a:r>
              <a:rPr kumimoji="0" lang="en-US" b="1" dirty="0" smtClean="0">
                <a:solidFill>
                  <a:srgbClr val="0070C0"/>
                </a:solidFill>
              </a:rPr>
              <a:t>The scope of RE: </a:t>
            </a:r>
            <a:r>
              <a:rPr kumimoji="0" lang="en-US" sz="2400" b="1" i="1" dirty="0" smtClean="0">
                <a:solidFill>
                  <a:srgbClr val="0070C0"/>
                </a:solidFill>
              </a:rPr>
              <a:t>WHY</a:t>
            </a:r>
            <a:r>
              <a:rPr kumimoji="0" lang="en-US" sz="2400" b="1" dirty="0" smtClean="0">
                <a:solidFill>
                  <a:srgbClr val="0070C0"/>
                </a:solidFill>
              </a:rPr>
              <a:t>, </a:t>
            </a:r>
            <a:r>
              <a:rPr kumimoji="0" lang="en-US" sz="2400" b="1" i="1" dirty="0" smtClean="0">
                <a:solidFill>
                  <a:srgbClr val="0070C0"/>
                </a:solidFill>
              </a:rPr>
              <a:t>WHAT</a:t>
            </a:r>
            <a:r>
              <a:rPr kumimoji="0" lang="en-US" sz="2400" b="1" dirty="0" smtClean="0">
                <a:solidFill>
                  <a:srgbClr val="0070C0"/>
                </a:solidFill>
              </a:rPr>
              <a:t>, </a:t>
            </a:r>
            <a:r>
              <a:rPr kumimoji="0" lang="en-US" sz="2400" b="1" i="1" dirty="0" smtClean="0">
                <a:solidFill>
                  <a:srgbClr val="0070C0"/>
                </a:solidFill>
              </a:rPr>
              <a:t>WHO</a:t>
            </a:r>
            <a:endParaRPr kumimoji="0" lang="fr-FR" altLang="en-US" b="1" dirty="0" smtClean="0">
              <a:solidFill>
                <a:srgbClr val="0070C0"/>
              </a:solidFill>
            </a:endParaRPr>
          </a:p>
        </p:txBody>
      </p:sp>
      <p:grpSp>
        <p:nvGrpSpPr>
          <p:cNvPr id="2" name="Group 172"/>
          <p:cNvGrpSpPr>
            <a:grpSpLocks/>
          </p:cNvGrpSpPr>
          <p:nvPr/>
        </p:nvGrpSpPr>
        <p:grpSpPr bwMode="auto">
          <a:xfrm>
            <a:off x="4191000" y="2120900"/>
            <a:ext cx="2057400" cy="609600"/>
            <a:chOff x="2640" y="1134"/>
            <a:chExt cx="1296" cy="384"/>
          </a:xfrm>
        </p:grpSpPr>
        <p:sp>
          <p:nvSpPr>
            <p:cNvPr id="1389570" name="Freeform 2"/>
            <p:cNvSpPr>
              <a:spLocks/>
            </p:cNvSpPr>
            <p:nvPr/>
          </p:nvSpPr>
          <p:spPr bwMode="auto">
            <a:xfrm>
              <a:off x="2640" y="1134"/>
              <a:ext cx="1296" cy="384"/>
            </a:xfrm>
            <a:custGeom>
              <a:avLst/>
              <a:gdLst/>
              <a:ahLst/>
              <a:cxnLst>
                <a:cxn ang="0">
                  <a:pos x="70" y="281"/>
                </a:cxn>
                <a:cxn ang="0">
                  <a:pos x="164" y="219"/>
                </a:cxn>
                <a:cxn ang="0">
                  <a:pos x="405" y="102"/>
                </a:cxn>
                <a:cxn ang="0">
                  <a:pos x="569" y="78"/>
                </a:cxn>
                <a:cxn ang="0">
                  <a:pos x="1224" y="109"/>
                </a:cxn>
                <a:cxn ang="0">
                  <a:pos x="1403" y="164"/>
                </a:cxn>
                <a:cxn ang="0">
                  <a:pos x="1504" y="203"/>
                </a:cxn>
                <a:cxn ang="0">
                  <a:pos x="1535" y="219"/>
                </a:cxn>
                <a:cxn ang="0">
                  <a:pos x="1699" y="70"/>
                </a:cxn>
                <a:cxn ang="0">
                  <a:pos x="1808" y="24"/>
                </a:cxn>
                <a:cxn ang="0">
                  <a:pos x="1972" y="0"/>
                </a:cxn>
                <a:cxn ang="0">
                  <a:pos x="2509" y="24"/>
                </a:cxn>
                <a:cxn ang="0">
                  <a:pos x="2821" y="78"/>
                </a:cxn>
                <a:cxn ang="0">
                  <a:pos x="2922" y="109"/>
                </a:cxn>
                <a:cxn ang="0">
                  <a:pos x="2992" y="148"/>
                </a:cxn>
                <a:cxn ang="0">
                  <a:pos x="3031" y="195"/>
                </a:cxn>
                <a:cxn ang="0">
                  <a:pos x="3086" y="242"/>
                </a:cxn>
                <a:cxn ang="0">
                  <a:pos x="3125" y="195"/>
                </a:cxn>
                <a:cxn ang="0">
                  <a:pos x="3374" y="109"/>
                </a:cxn>
                <a:cxn ang="0">
                  <a:pos x="3966" y="148"/>
                </a:cxn>
                <a:cxn ang="0">
                  <a:pos x="4076" y="172"/>
                </a:cxn>
                <a:cxn ang="0">
                  <a:pos x="4146" y="226"/>
                </a:cxn>
                <a:cxn ang="0">
                  <a:pos x="4278" y="304"/>
                </a:cxn>
                <a:cxn ang="0">
                  <a:pos x="4364" y="413"/>
                </a:cxn>
                <a:cxn ang="0">
                  <a:pos x="4356" y="515"/>
                </a:cxn>
                <a:cxn ang="0">
                  <a:pos x="4208" y="819"/>
                </a:cxn>
                <a:cxn ang="0">
                  <a:pos x="4099" y="865"/>
                </a:cxn>
                <a:cxn ang="0">
                  <a:pos x="3951" y="881"/>
                </a:cxn>
                <a:cxn ang="0">
                  <a:pos x="3499" y="850"/>
                </a:cxn>
                <a:cxn ang="0">
                  <a:pos x="3296" y="819"/>
                </a:cxn>
                <a:cxn ang="0">
                  <a:pos x="3133" y="780"/>
                </a:cxn>
                <a:cxn ang="0">
                  <a:pos x="3094" y="756"/>
                </a:cxn>
                <a:cxn ang="0">
                  <a:pos x="2813" y="865"/>
                </a:cxn>
                <a:cxn ang="0">
                  <a:pos x="2611" y="897"/>
                </a:cxn>
                <a:cxn ang="0">
                  <a:pos x="2057" y="873"/>
                </a:cxn>
                <a:cxn ang="0">
                  <a:pos x="1722" y="780"/>
                </a:cxn>
                <a:cxn ang="0">
                  <a:pos x="1707" y="756"/>
                </a:cxn>
                <a:cxn ang="0">
                  <a:pos x="1730" y="764"/>
                </a:cxn>
                <a:cxn ang="0">
                  <a:pos x="1699" y="787"/>
                </a:cxn>
                <a:cxn ang="0">
                  <a:pos x="1629" y="834"/>
                </a:cxn>
                <a:cxn ang="0">
                  <a:pos x="1364" y="889"/>
                </a:cxn>
                <a:cxn ang="0">
                  <a:pos x="1029" y="858"/>
                </a:cxn>
                <a:cxn ang="0">
                  <a:pos x="857" y="819"/>
                </a:cxn>
                <a:cxn ang="0">
                  <a:pos x="499" y="725"/>
                </a:cxn>
                <a:cxn ang="0">
                  <a:pos x="382" y="686"/>
                </a:cxn>
                <a:cxn ang="0">
                  <a:pos x="304" y="663"/>
                </a:cxn>
                <a:cxn ang="0">
                  <a:pos x="203" y="608"/>
                </a:cxn>
                <a:cxn ang="0">
                  <a:pos x="47" y="561"/>
                </a:cxn>
                <a:cxn ang="0">
                  <a:pos x="0" y="460"/>
                </a:cxn>
                <a:cxn ang="0">
                  <a:pos x="8" y="343"/>
                </a:cxn>
                <a:cxn ang="0">
                  <a:pos x="70" y="304"/>
                </a:cxn>
                <a:cxn ang="0">
                  <a:pos x="70" y="281"/>
                </a:cxn>
              </a:cxnLst>
              <a:rect l="0" t="0" r="r" b="b"/>
              <a:pathLst>
                <a:path w="4364" h="897">
                  <a:moveTo>
                    <a:pt x="70" y="281"/>
                  </a:moveTo>
                  <a:cubicBezTo>
                    <a:pt x="93" y="248"/>
                    <a:pt x="130" y="241"/>
                    <a:pt x="164" y="219"/>
                  </a:cubicBezTo>
                  <a:cubicBezTo>
                    <a:pt x="239" y="172"/>
                    <a:pt x="319" y="126"/>
                    <a:pt x="405" y="102"/>
                  </a:cubicBezTo>
                  <a:cubicBezTo>
                    <a:pt x="458" y="87"/>
                    <a:pt x="569" y="78"/>
                    <a:pt x="569" y="78"/>
                  </a:cubicBezTo>
                  <a:cubicBezTo>
                    <a:pt x="803" y="82"/>
                    <a:pt x="1003" y="76"/>
                    <a:pt x="1224" y="109"/>
                  </a:cubicBezTo>
                  <a:cubicBezTo>
                    <a:pt x="1283" y="134"/>
                    <a:pt x="1344" y="141"/>
                    <a:pt x="1403" y="164"/>
                  </a:cubicBezTo>
                  <a:cubicBezTo>
                    <a:pt x="1437" y="177"/>
                    <a:pt x="1470" y="191"/>
                    <a:pt x="1504" y="203"/>
                  </a:cubicBezTo>
                  <a:cubicBezTo>
                    <a:pt x="1554" y="221"/>
                    <a:pt x="1510" y="219"/>
                    <a:pt x="1535" y="219"/>
                  </a:cubicBezTo>
                  <a:cubicBezTo>
                    <a:pt x="1579" y="131"/>
                    <a:pt x="1616" y="111"/>
                    <a:pt x="1699" y="70"/>
                  </a:cubicBezTo>
                  <a:cubicBezTo>
                    <a:pt x="1737" y="51"/>
                    <a:pt x="1766" y="35"/>
                    <a:pt x="1808" y="24"/>
                  </a:cubicBezTo>
                  <a:cubicBezTo>
                    <a:pt x="1861" y="10"/>
                    <a:pt x="1972" y="0"/>
                    <a:pt x="1972" y="0"/>
                  </a:cubicBezTo>
                  <a:cubicBezTo>
                    <a:pt x="2170" y="4"/>
                    <a:pt x="2325" y="5"/>
                    <a:pt x="2509" y="24"/>
                  </a:cubicBezTo>
                  <a:cubicBezTo>
                    <a:pt x="2609" y="50"/>
                    <a:pt x="2718" y="65"/>
                    <a:pt x="2821" y="78"/>
                  </a:cubicBezTo>
                  <a:cubicBezTo>
                    <a:pt x="2855" y="90"/>
                    <a:pt x="2887" y="101"/>
                    <a:pt x="2922" y="109"/>
                  </a:cubicBezTo>
                  <a:cubicBezTo>
                    <a:pt x="2945" y="124"/>
                    <a:pt x="2971" y="131"/>
                    <a:pt x="2992" y="148"/>
                  </a:cubicBezTo>
                  <a:cubicBezTo>
                    <a:pt x="3032" y="181"/>
                    <a:pt x="3002" y="161"/>
                    <a:pt x="3031" y="195"/>
                  </a:cubicBezTo>
                  <a:cubicBezTo>
                    <a:pt x="3048" y="215"/>
                    <a:pt x="3068" y="224"/>
                    <a:pt x="3086" y="242"/>
                  </a:cubicBezTo>
                  <a:cubicBezTo>
                    <a:pt x="3100" y="228"/>
                    <a:pt x="3111" y="209"/>
                    <a:pt x="3125" y="195"/>
                  </a:cubicBezTo>
                  <a:cubicBezTo>
                    <a:pt x="3178" y="142"/>
                    <a:pt x="3302" y="120"/>
                    <a:pt x="3374" y="109"/>
                  </a:cubicBezTo>
                  <a:cubicBezTo>
                    <a:pt x="3572" y="117"/>
                    <a:pt x="3769" y="128"/>
                    <a:pt x="3966" y="148"/>
                  </a:cubicBezTo>
                  <a:cubicBezTo>
                    <a:pt x="4000" y="155"/>
                    <a:pt x="4045" y="155"/>
                    <a:pt x="4076" y="172"/>
                  </a:cubicBezTo>
                  <a:cubicBezTo>
                    <a:pt x="4137" y="206"/>
                    <a:pt x="4105" y="192"/>
                    <a:pt x="4146" y="226"/>
                  </a:cubicBezTo>
                  <a:cubicBezTo>
                    <a:pt x="4185" y="259"/>
                    <a:pt x="4234" y="279"/>
                    <a:pt x="4278" y="304"/>
                  </a:cubicBezTo>
                  <a:cubicBezTo>
                    <a:pt x="4315" y="329"/>
                    <a:pt x="4349" y="370"/>
                    <a:pt x="4364" y="413"/>
                  </a:cubicBezTo>
                  <a:cubicBezTo>
                    <a:pt x="4356" y="535"/>
                    <a:pt x="4356" y="569"/>
                    <a:pt x="4356" y="515"/>
                  </a:cubicBezTo>
                  <a:cubicBezTo>
                    <a:pt x="4334" y="663"/>
                    <a:pt x="4316" y="711"/>
                    <a:pt x="4208" y="819"/>
                  </a:cubicBezTo>
                  <a:cubicBezTo>
                    <a:pt x="4188" y="839"/>
                    <a:pt x="4128" y="856"/>
                    <a:pt x="4099" y="865"/>
                  </a:cubicBezTo>
                  <a:cubicBezTo>
                    <a:pt x="4085" y="870"/>
                    <a:pt x="3953" y="881"/>
                    <a:pt x="3951" y="881"/>
                  </a:cubicBezTo>
                  <a:cubicBezTo>
                    <a:pt x="3799" y="875"/>
                    <a:pt x="3650" y="861"/>
                    <a:pt x="3499" y="850"/>
                  </a:cubicBezTo>
                  <a:cubicBezTo>
                    <a:pt x="3432" y="839"/>
                    <a:pt x="3364" y="828"/>
                    <a:pt x="3296" y="819"/>
                  </a:cubicBezTo>
                  <a:cubicBezTo>
                    <a:pt x="3242" y="805"/>
                    <a:pt x="3188" y="792"/>
                    <a:pt x="3133" y="780"/>
                  </a:cubicBezTo>
                  <a:cubicBezTo>
                    <a:pt x="3097" y="772"/>
                    <a:pt x="3106" y="781"/>
                    <a:pt x="3094" y="756"/>
                  </a:cubicBezTo>
                  <a:cubicBezTo>
                    <a:pt x="3012" y="819"/>
                    <a:pt x="2915" y="852"/>
                    <a:pt x="2813" y="865"/>
                  </a:cubicBezTo>
                  <a:cubicBezTo>
                    <a:pt x="2753" y="886"/>
                    <a:pt x="2675" y="889"/>
                    <a:pt x="2611" y="897"/>
                  </a:cubicBezTo>
                  <a:cubicBezTo>
                    <a:pt x="2404" y="893"/>
                    <a:pt x="2248" y="889"/>
                    <a:pt x="2057" y="873"/>
                  </a:cubicBezTo>
                  <a:cubicBezTo>
                    <a:pt x="1945" y="844"/>
                    <a:pt x="1833" y="812"/>
                    <a:pt x="1722" y="780"/>
                  </a:cubicBezTo>
                  <a:cubicBezTo>
                    <a:pt x="1717" y="772"/>
                    <a:pt x="1707" y="756"/>
                    <a:pt x="1707" y="756"/>
                  </a:cubicBezTo>
                  <a:cubicBezTo>
                    <a:pt x="1715" y="759"/>
                    <a:pt x="1732" y="756"/>
                    <a:pt x="1730" y="764"/>
                  </a:cubicBezTo>
                  <a:cubicBezTo>
                    <a:pt x="1727" y="776"/>
                    <a:pt x="1710" y="780"/>
                    <a:pt x="1699" y="787"/>
                  </a:cubicBezTo>
                  <a:cubicBezTo>
                    <a:pt x="1676" y="803"/>
                    <a:pt x="1654" y="821"/>
                    <a:pt x="1629" y="834"/>
                  </a:cubicBezTo>
                  <a:cubicBezTo>
                    <a:pt x="1541" y="879"/>
                    <a:pt x="1463" y="882"/>
                    <a:pt x="1364" y="889"/>
                  </a:cubicBezTo>
                  <a:cubicBezTo>
                    <a:pt x="1250" y="883"/>
                    <a:pt x="1142" y="873"/>
                    <a:pt x="1029" y="858"/>
                  </a:cubicBezTo>
                  <a:cubicBezTo>
                    <a:pt x="974" y="840"/>
                    <a:pt x="914" y="834"/>
                    <a:pt x="857" y="819"/>
                  </a:cubicBezTo>
                  <a:cubicBezTo>
                    <a:pt x="737" y="788"/>
                    <a:pt x="619" y="756"/>
                    <a:pt x="499" y="725"/>
                  </a:cubicBezTo>
                  <a:cubicBezTo>
                    <a:pt x="459" y="715"/>
                    <a:pt x="421" y="698"/>
                    <a:pt x="382" y="686"/>
                  </a:cubicBezTo>
                  <a:cubicBezTo>
                    <a:pt x="357" y="679"/>
                    <a:pt x="327" y="675"/>
                    <a:pt x="304" y="663"/>
                  </a:cubicBezTo>
                  <a:cubicBezTo>
                    <a:pt x="269" y="645"/>
                    <a:pt x="240" y="622"/>
                    <a:pt x="203" y="608"/>
                  </a:cubicBezTo>
                  <a:cubicBezTo>
                    <a:pt x="153" y="589"/>
                    <a:pt x="98" y="579"/>
                    <a:pt x="47" y="561"/>
                  </a:cubicBezTo>
                  <a:cubicBezTo>
                    <a:pt x="19" y="519"/>
                    <a:pt x="15" y="505"/>
                    <a:pt x="0" y="460"/>
                  </a:cubicBezTo>
                  <a:cubicBezTo>
                    <a:pt x="3" y="421"/>
                    <a:pt x="2" y="382"/>
                    <a:pt x="8" y="343"/>
                  </a:cubicBezTo>
                  <a:cubicBezTo>
                    <a:pt x="12" y="319"/>
                    <a:pt x="70" y="304"/>
                    <a:pt x="70" y="304"/>
                  </a:cubicBezTo>
                  <a:cubicBezTo>
                    <a:pt x="89" y="277"/>
                    <a:pt x="95" y="281"/>
                    <a:pt x="70" y="281"/>
                  </a:cubicBezTo>
                  <a:close/>
                </a:path>
              </a:pathLst>
            </a:custGeom>
            <a:solidFill>
              <a:srgbClr val="C5C3F1"/>
            </a:solidFill>
            <a:ln w="12700" cap="sq" cmpd="sng">
              <a:solidFill>
                <a:schemeClr val="bg2"/>
              </a:solidFill>
              <a:prstDash val="solid"/>
              <a:round/>
              <a:headEnd/>
              <a:tailEnd/>
            </a:ln>
            <a:effectLst/>
          </p:spPr>
          <p:txBody>
            <a:bodyPr anchor="ctr">
              <a:spAutoFit/>
            </a:bodyPr>
            <a:lstStyle/>
            <a:p>
              <a:pPr>
                <a:defRPr/>
              </a:pPr>
              <a:endParaRPr lang="en-GB">
                <a:effectLst>
                  <a:outerShdw blurRad="38100" dist="38100" dir="2700000" algn="tl">
                    <a:srgbClr val="000000">
                      <a:alpha val="43137"/>
                    </a:srgbClr>
                  </a:outerShdw>
                </a:effectLst>
              </a:endParaRPr>
            </a:p>
          </p:txBody>
        </p:sp>
        <p:sp>
          <p:nvSpPr>
            <p:cNvPr id="1389572" name="Text Box 4"/>
            <p:cNvSpPr txBox="1">
              <a:spLocks noChangeArrowheads="1"/>
            </p:cNvSpPr>
            <p:nvPr/>
          </p:nvSpPr>
          <p:spPr bwMode="auto">
            <a:xfrm>
              <a:off x="2822" y="1240"/>
              <a:ext cx="938" cy="227"/>
            </a:xfrm>
            <a:prstGeom prst="rect">
              <a:avLst/>
            </a:prstGeom>
            <a:noFill/>
            <a:ln w="12700" cap="sq">
              <a:noFill/>
              <a:miter lim="800000"/>
              <a:headEnd/>
              <a:tailEnd/>
            </a:ln>
            <a:effectLst/>
          </p:spPr>
          <p:txBody>
            <a:bodyPr wrap="none">
              <a:spAutoFit/>
            </a:bodyPr>
            <a:lstStyle/>
            <a:p>
              <a:pPr>
                <a:lnSpc>
                  <a:spcPct val="80000"/>
                </a:lnSpc>
                <a:defRPr/>
              </a:pPr>
              <a:r>
                <a:rPr lang="fr-FR" sz="2200" i="0">
                  <a:solidFill>
                    <a:schemeClr val="tx1"/>
                  </a:solidFill>
                  <a:latin typeface="Arial" pitchFamily="34" charset="0"/>
                </a:rPr>
                <a:t>Objectives</a:t>
              </a:r>
              <a:endParaRPr lang="fr-FR" i="0">
                <a:solidFill>
                  <a:srgbClr val="FFCC00"/>
                </a:solidFill>
                <a:effectLst>
                  <a:outerShdw blurRad="38100" dist="38100" dir="2700000" algn="tl">
                    <a:srgbClr val="000000"/>
                  </a:outerShdw>
                </a:effectLst>
                <a:latin typeface="Arial" pitchFamily="34" charset="0"/>
              </a:endParaRPr>
            </a:p>
          </p:txBody>
        </p:sp>
      </p:grpSp>
      <p:sp>
        <p:nvSpPr>
          <p:cNvPr id="1389573" name="Text Box 5"/>
          <p:cNvSpPr txBox="1">
            <a:spLocks noChangeArrowheads="1"/>
          </p:cNvSpPr>
          <p:nvPr/>
        </p:nvSpPr>
        <p:spPr bwMode="auto">
          <a:xfrm>
            <a:off x="6705600" y="2044700"/>
            <a:ext cx="2286000" cy="762000"/>
          </a:xfrm>
          <a:prstGeom prst="rect">
            <a:avLst/>
          </a:prstGeom>
          <a:noFill/>
          <a:ln w="12700" cap="sq">
            <a:noFill/>
            <a:miter lim="800000"/>
            <a:headEnd/>
            <a:tailEnd/>
          </a:ln>
          <a:effectLst/>
        </p:spPr>
        <p:txBody>
          <a:bodyPr>
            <a:spAutoFit/>
          </a:bodyPr>
          <a:lstStyle/>
          <a:p>
            <a:pPr>
              <a:spcBef>
                <a:spcPct val="0"/>
              </a:spcBef>
              <a:defRPr/>
            </a:pPr>
            <a:r>
              <a:rPr lang="fr-FR" sz="2200" i="0" dirty="0">
                <a:solidFill>
                  <a:srgbClr val="008000"/>
                </a:solidFill>
                <a:effectLst>
                  <a:outerShdw blurRad="38100" dist="38100" dir="2700000" algn="tl">
                    <a:srgbClr val="000000"/>
                  </a:outerShdw>
                </a:effectLst>
                <a:latin typeface="Comic Sans MS" pitchFamily="66" charset="0"/>
              </a:rPr>
              <a:t>WHY</a:t>
            </a:r>
            <a:r>
              <a:rPr lang="fr-FR" sz="2200" i="0" dirty="0">
                <a:solidFill>
                  <a:srgbClr val="008000"/>
                </a:solidFill>
                <a:latin typeface="Comic Sans MS" pitchFamily="66" charset="0"/>
              </a:rPr>
              <a:t> </a:t>
            </a:r>
          </a:p>
          <a:p>
            <a:pPr>
              <a:spcBef>
                <a:spcPct val="0"/>
              </a:spcBef>
              <a:defRPr/>
            </a:pPr>
            <a:r>
              <a:rPr lang="fr-FR" sz="2200" i="0" dirty="0">
                <a:solidFill>
                  <a:srgbClr val="008000"/>
                </a:solidFill>
                <a:latin typeface="Comic Sans MS" pitchFamily="66" charset="0"/>
              </a:rPr>
              <a:t>a new system?</a:t>
            </a:r>
            <a:endParaRPr lang="fr-FR" sz="2800" i="0" dirty="0">
              <a:solidFill>
                <a:srgbClr val="008000"/>
              </a:solidFill>
              <a:effectLst>
                <a:outerShdw blurRad="38100" dist="38100" dir="2700000" algn="tl">
                  <a:srgbClr val="000000"/>
                </a:outerShdw>
              </a:effectLst>
              <a:latin typeface="Helvetica" charset="0"/>
            </a:endParaRPr>
          </a:p>
        </p:txBody>
      </p:sp>
      <p:sp>
        <p:nvSpPr>
          <p:cNvPr id="1389574" name="Text Box 6"/>
          <p:cNvSpPr txBox="1">
            <a:spLocks noChangeArrowheads="1"/>
          </p:cNvSpPr>
          <p:nvPr/>
        </p:nvSpPr>
        <p:spPr bwMode="auto">
          <a:xfrm>
            <a:off x="7010400" y="3644900"/>
            <a:ext cx="1752600" cy="762000"/>
          </a:xfrm>
          <a:prstGeom prst="rect">
            <a:avLst/>
          </a:prstGeom>
          <a:noFill/>
          <a:ln w="12700" cap="sq">
            <a:noFill/>
            <a:miter lim="800000"/>
            <a:headEnd/>
            <a:tailEnd/>
          </a:ln>
          <a:effectLst/>
        </p:spPr>
        <p:txBody>
          <a:bodyPr>
            <a:spAutoFit/>
          </a:bodyPr>
          <a:lstStyle/>
          <a:p>
            <a:pPr>
              <a:spcBef>
                <a:spcPct val="0"/>
              </a:spcBef>
              <a:defRPr/>
            </a:pPr>
            <a:r>
              <a:rPr lang="fr-FR" sz="2200" i="0" dirty="0">
                <a:solidFill>
                  <a:srgbClr val="008000"/>
                </a:solidFill>
                <a:effectLst>
                  <a:outerShdw blurRad="38100" dist="38100" dir="2700000" algn="tl">
                    <a:srgbClr val="000000"/>
                  </a:outerShdw>
                </a:effectLst>
                <a:latin typeface="Comic Sans MS" pitchFamily="66" charset="0"/>
              </a:rPr>
              <a:t>WHAT</a:t>
            </a:r>
            <a:r>
              <a:rPr lang="fr-FR" sz="2200" i="0" dirty="0">
                <a:solidFill>
                  <a:srgbClr val="008000"/>
                </a:solidFill>
                <a:latin typeface="Comic Sans MS" pitchFamily="66" charset="0"/>
              </a:rPr>
              <a:t> </a:t>
            </a:r>
          </a:p>
          <a:p>
            <a:pPr>
              <a:spcBef>
                <a:spcPct val="0"/>
              </a:spcBef>
              <a:defRPr/>
            </a:pPr>
            <a:r>
              <a:rPr lang="fr-FR" sz="2200" i="0" dirty="0">
                <a:solidFill>
                  <a:srgbClr val="008000"/>
                </a:solidFill>
                <a:latin typeface="Comic Sans MS" pitchFamily="66" charset="0"/>
              </a:rPr>
              <a:t>services?</a:t>
            </a:r>
            <a:endParaRPr lang="fr-FR" sz="2800" i="0" dirty="0">
              <a:solidFill>
                <a:srgbClr val="008000"/>
              </a:solidFill>
              <a:effectLst>
                <a:outerShdw blurRad="38100" dist="38100" dir="2700000" algn="tl">
                  <a:srgbClr val="000000"/>
                </a:outerShdw>
              </a:effectLst>
              <a:latin typeface="Arial Black" pitchFamily="34" charset="0"/>
            </a:endParaRPr>
          </a:p>
        </p:txBody>
      </p:sp>
      <p:sp>
        <p:nvSpPr>
          <p:cNvPr id="1389575" name="Text Box 7"/>
          <p:cNvSpPr txBox="1">
            <a:spLocks noChangeArrowheads="1"/>
          </p:cNvSpPr>
          <p:nvPr/>
        </p:nvSpPr>
        <p:spPr bwMode="auto">
          <a:xfrm>
            <a:off x="6848475" y="4968875"/>
            <a:ext cx="2066925" cy="1446550"/>
          </a:xfrm>
          <a:prstGeom prst="rect">
            <a:avLst/>
          </a:prstGeom>
          <a:noFill/>
          <a:ln w="12700" cap="sq">
            <a:noFill/>
            <a:miter lim="800000"/>
            <a:headEnd/>
            <a:tailEnd/>
          </a:ln>
          <a:effectLst/>
        </p:spPr>
        <p:txBody>
          <a:bodyPr>
            <a:spAutoFit/>
          </a:bodyPr>
          <a:lstStyle/>
          <a:p>
            <a:pPr>
              <a:spcBef>
                <a:spcPct val="0"/>
              </a:spcBef>
              <a:defRPr/>
            </a:pPr>
            <a:r>
              <a:rPr lang="fr-FR" sz="2200" i="0" dirty="0">
                <a:solidFill>
                  <a:srgbClr val="008000"/>
                </a:solidFill>
                <a:effectLst>
                  <a:outerShdw blurRad="38100" dist="38100" dir="2700000" algn="tl">
                    <a:srgbClr val="000000"/>
                  </a:outerShdw>
                </a:effectLst>
                <a:latin typeface="Comic Sans MS" pitchFamily="66" charset="0"/>
              </a:rPr>
              <a:t>WHO</a:t>
            </a:r>
            <a:r>
              <a:rPr lang="fr-FR" sz="2200" i="0" dirty="0">
                <a:solidFill>
                  <a:srgbClr val="008000"/>
                </a:solidFill>
                <a:latin typeface="Comic Sans MS" pitchFamily="66" charset="0"/>
              </a:rPr>
              <a:t> </a:t>
            </a:r>
          </a:p>
          <a:p>
            <a:pPr>
              <a:spcBef>
                <a:spcPct val="0"/>
              </a:spcBef>
              <a:defRPr/>
            </a:pPr>
            <a:r>
              <a:rPr lang="fr-FR" sz="2200" i="0" dirty="0" err="1">
                <a:solidFill>
                  <a:srgbClr val="008000"/>
                </a:solidFill>
                <a:latin typeface="Comic Sans MS" pitchFamily="66" charset="0"/>
              </a:rPr>
              <a:t>will</a:t>
            </a:r>
            <a:r>
              <a:rPr lang="fr-FR" sz="2200" i="0" dirty="0">
                <a:solidFill>
                  <a:srgbClr val="008000"/>
                </a:solidFill>
                <a:latin typeface="Comic Sans MS" pitchFamily="66" charset="0"/>
              </a:rPr>
              <a:t> </a:t>
            </a:r>
            <a:r>
              <a:rPr lang="fr-FR" sz="2200" i="0" dirty="0" err="1">
                <a:solidFill>
                  <a:srgbClr val="008000"/>
                </a:solidFill>
                <a:latin typeface="Comic Sans MS" pitchFamily="66" charset="0"/>
              </a:rPr>
              <a:t>be</a:t>
            </a:r>
            <a:r>
              <a:rPr lang="fr-FR" sz="2200" i="0" dirty="0">
                <a:solidFill>
                  <a:srgbClr val="008000"/>
                </a:solidFill>
                <a:latin typeface="Comic Sans MS" pitchFamily="66" charset="0"/>
              </a:rPr>
              <a:t> </a:t>
            </a:r>
            <a:r>
              <a:rPr lang="fr-FR" sz="2200" i="0" dirty="0" err="1">
                <a:solidFill>
                  <a:srgbClr val="008000"/>
                </a:solidFill>
                <a:latin typeface="Comic Sans MS" pitchFamily="66" charset="0"/>
              </a:rPr>
              <a:t>responsible</a:t>
            </a:r>
            <a:endParaRPr lang="fr-FR" sz="2200" i="0" dirty="0">
              <a:solidFill>
                <a:srgbClr val="008000"/>
              </a:solidFill>
              <a:latin typeface="Comic Sans MS" pitchFamily="66" charset="0"/>
            </a:endParaRPr>
          </a:p>
          <a:p>
            <a:pPr>
              <a:spcBef>
                <a:spcPct val="0"/>
              </a:spcBef>
              <a:defRPr/>
            </a:pPr>
            <a:r>
              <a:rPr lang="fr-FR" sz="2200" i="0" dirty="0">
                <a:solidFill>
                  <a:srgbClr val="008000"/>
                </a:solidFill>
                <a:latin typeface="Comic Sans MS" pitchFamily="66" charset="0"/>
              </a:rPr>
              <a:t>for </a:t>
            </a:r>
            <a:r>
              <a:rPr lang="fr-FR" sz="2200" i="0" dirty="0" err="1">
                <a:solidFill>
                  <a:srgbClr val="008000"/>
                </a:solidFill>
                <a:latin typeface="Comic Sans MS" pitchFamily="66" charset="0"/>
              </a:rPr>
              <a:t>what</a:t>
            </a:r>
            <a:r>
              <a:rPr lang="fr-FR" sz="2200" i="0" dirty="0">
                <a:solidFill>
                  <a:srgbClr val="008000"/>
                </a:solidFill>
                <a:latin typeface="Comic Sans MS" pitchFamily="66" charset="0"/>
              </a:rPr>
              <a:t> ?</a:t>
            </a:r>
            <a:endParaRPr lang="fr-FR" i="0" dirty="0">
              <a:solidFill>
                <a:srgbClr val="008000"/>
              </a:solidFill>
              <a:effectLst>
                <a:outerShdw blurRad="38100" dist="38100" dir="2700000" algn="tl">
                  <a:srgbClr val="000000"/>
                </a:outerShdw>
              </a:effectLst>
              <a:latin typeface="Helvetica" charset="0"/>
            </a:endParaRPr>
          </a:p>
        </p:txBody>
      </p:sp>
      <p:sp>
        <p:nvSpPr>
          <p:cNvPr id="1389576" name="Text Box 8"/>
          <p:cNvSpPr txBox="1">
            <a:spLocks noChangeArrowheads="1"/>
          </p:cNvSpPr>
          <p:nvPr/>
        </p:nvSpPr>
        <p:spPr bwMode="auto">
          <a:xfrm>
            <a:off x="5210175" y="2882900"/>
            <a:ext cx="976313" cy="427038"/>
          </a:xfrm>
          <a:prstGeom prst="rect">
            <a:avLst/>
          </a:prstGeom>
          <a:noFill/>
          <a:ln w="12700" cap="sq">
            <a:noFill/>
            <a:miter lim="800000"/>
            <a:headEnd/>
            <a:tailEnd/>
          </a:ln>
          <a:effectLst/>
        </p:spPr>
        <p:txBody>
          <a:bodyPr wrap="none">
            <a:spAutoFit/>
          </a:bodyPr>
          <a:lstStyle/>
          <a:p>
            <a:pPr algn="l">
              <a:defRPr/>
            </a:pPr>
            <a:r>
              <a:rPr lang="fr-FR" sz="2200" dirty="0" err="1">
                <a:solidFill>
                  <a:schemeClr val="tx2"/>
                </a:solidFill>
                <a:latin typeface="Helvetica" charset="0"/>
              </a:rPr>
              <a:t>satisfy</a:t>
            </a:r>
            <a:endParaRPr lang="fr-FR" sz="2800" i="0" dirty="0">
              <a:solidFill>
                <a:schemeClr val="tx2"/>
              </a:solidFill>
              <a:effectLst>
                <a:outerShdw blurRad="38100" dist="38100" dir="2700000" algn="tl">
                  <a:srgbClr val="000000"/>
                </a:outerShdw>
              </a:effectLst>
              <a:latin typeface="Arial Black" pitchFamily="34" charset="0"/>
            </a:endParaRPr>
          </a:p>
        </p:txBody>
      </p:sp>
      <p:sp>
        <p:nvSpPr>
          <p:cNvPr id="2060" name="Text Box 9"/>
          <p:cNvSpPr txBox="1">
            <a:spLocks noChangeArrowheads="1"/>
          </p:cNvSpPr>
          <p:nvPr/>
        </p:nvSpPr>
        <p:spPr bwMode="auto">
          <a:xfrm>
            <a:off x="2274888" y="4892675"/>
            <a:ext cx="1687512" cy="360363"/>
          </a:xfrm>
          <a:prstGeom prst="rect">
            <a:avLst/>
          </a:prstGeom>
          <a:noFill/>
          <a:ln w="12700" cap="sq">
            <a:noFill/>
            <a:miter lim="800000"/>
            <a:headEnd/>
            <a:tailEnd/>
          </a:ln>
        </p:spPr>
        <p:txBody>
          <a:bodyPr>
            <a:spAutoFit/>
          </a:bodyPr>
          <a:lstStyle/>
          <a:p>
            <a:pPr algn="r">
              <a:lnSpc>
                <a:spcPct val="80000"/>
              </a:lnSpc>
              <a:spcBef>
                <a:spcPts val="700"/>
              </a:spcBef>
            </a:pPr>
            <a:r>
              <a:rPr lang="fr-FR" sz="2200" dirty="0" err="1">
                <a:solidFill>
                  <a:schemeClr val="tx2"/>
                </a:solidFill>
                <a:latin typeface="Helvetica" charset="0"/>
              </a:rPr>
              <a:t>assignment</a:t>
            </a:r>
            <a:endParaRPr lang="fr-FR" sz="2200" b="1" dirty="0">
              <a:solidFill>
                <a:schemeClr val="tx2"/>
              </a:solidFill>
              <a:latin typeface="Helvetica" charset="0"/>
            </a:endParaRPr>
          </a:p>
        </p:txBody>
      </p:sp>
      <p:grpSp>
        <p:nvGrpSpPr>
          <p:cNvPr id="3" name="Group 168"/>
          <p:cNvGrpSpPr>
            <a:grpSpLocks/>
          </p:cNvGrpSpPr>
          <p:nvPr/>
        </p:nvGrpSpPr>
        <p:grpSpPr bwMode="auto">
          <a:xfrm>
            <a:off x="3505200" y="3340100"/>
            <a:ext cx="3810000" cy="1524000"/>
            <a:chOff x="2949" y="2076"/>
            <a:chExt cx="2358" cy="839"/>
          </a:xfrm>
        </p:grpSpPr>
        <p:sp>
          <p:nvSpPr>
            <p:cNvPr id="1389665" name="Freeform 97"/>
            <p:cNvSpPr>
              <a:spLocks/>
            </p:cNvSpPr>
            <p:nvPr/>
          </p:nvSpPr>
          <p:spPr bwMode="auto">
            <a:xfrm>
              <a:off x="3111" y="2120"/>
              <a:ext cx="2196" cy="795"/>
            </a:xfrm>
            <a:custGeom>
              <a:avLst/>
              <a:gdLst/>
              <a:ahLst/>
              <a:cxnLst>
                <a:cxn ang="0">
                  <a:pos x="716" y="113"/>
                </a:cxn>
                <a:cxn ang="0">
                  <a:pos x="807" y="108"/>
                </a:cxn>
                <a:cxn ang="0">
                  <a:pos x="903" y="113"/>
                </a:cxn>
                <a:cxn ang="0">
                  <a:pos x="985" y="123"/>
                </a:cxn>
                <a:cxn ang="0">
                  <a:pos x="1069" y="128"/>
                </a:cxn>
                <a:cxn ang="0">
                  <a:pos x="1151" y="128"/>
                </a:cxn>
                <a:cxn ang="0">
                  <a:pos x="1231" y="121"/>
                </a:cxn>
                <a:cxn ang="0">
                  <a:pos x="1311" y="106"/>
                </a:cxn>
                <a:cxn ang="0">
                  <a:pos x="1431" y="75"/>
                </a:cxn>
                <a:cxn ang="0">
                  <a:pos x="1576" y="41"/>
                </a:cxn>
                <a:cxn ang="0">
                  <a:pos x="1723" y="14"/>
                </a:cxn>
                <a:cxn ang="0">
                  <a:pos x="1872" y="1"/>
                </a:cxn>
                <a:cxn ang="0">
                  <a:pos x="2019" y="2"/>
                </a:cxn>
                <a:cxn ang="0">
                  <a:pos x="2145" y="24"/>
                </a:cxn>
                <a:cxn ang="0">
                  <a:pos x="2192" y="80"/>
                </a:cxn>
                <a:cxn ang="0">
                  <a:pos x="2185" y="149"/>
                </a:cxn>
                <a:cxn ang="0">
                  <a:pos x="2139" y="184"/>
                </a:cxn>
                <a:cxn ang="0">
                  <a:pos x="2064" y="192"/>
                </a:cxn>
                <a:cxn ang="0">
                  <a:pos x="1977" y="186"/>
                </a:cxn>
                <a:cxn ang="0">
                  <a:pos x="1893" y="180"/>
                </a:cxn>
                <a:cxn ang="0">
                  <a:pos x="1832" y="188"/>
                </a:cxn>
                <a:cxn ang="0">
                  <a:pos x="1801" y="279"/>
                </a:cxn>
                <a:cxn ang="0">
                  <a:pos x="1801" y="462"/>
                </a:cxn>
                <a:cxn ang="0">
                  <a:pos x="1824" y="720"/>
                </a:cxn>
                <a:cxn ang="0">
                  <a:pos x="1845" y="1056"/>
                </a:cxn>
                <a:cxn ang="0">
                  <a:pos x="1870" y="1313"/>
                </a:cxn>
                <a:cxn ang="0">
                  <a:pos x="1847" y="1389"/>
                </a:cxn>
                <a:cxn ang="0">
                  <a:pos x="1782" y="1444"/>
                </a:cxn>
                <a:cxn ang="0">
                  <a:pos x="1696" y="1467"/>
                </a:cxn>
                <a:cxn ang="0">
                  <a:pos x="1610" y="1482"/>
                </a:cxn>
                <a:cxn ang="0">
                  <a:pos x="1524" y="1494"/>
                </a:cxn>
                <a:cxn ang="0">
                  <a:pos x="1437" y="1504"/>
                </a:cxn>
                <a:cxn ang="0">
                  <a:pos x="1347" y="1513"/>
                </a:cxn>
                <a:cxn ang="0">
                  <a:pos x="1246" y="1526"/>
                </a:cxn>
                <a:cxn ang="0">
                  <a:pos x="1126" y="1541"/>
                </a:cxn>
                <a:cxn ang="0">
                  <a:pos x="1007" y="1555"/>
                </a:cxn>
                <a:cxn ang="0">
                  <a:pos x="889" y="1567"/>
                </a:cxn>
                <a:cxn ang="0">
                  <a:pos x="773" y="1574"/>
                </a:cxn>
                <a:cxn ang="0">
                  <a:pos x="653" y="1578"/>
                </a:cxn>
                <a:cxn ang="0">
                  <a:pos x="540" y="1582"/>
                </a:cxn>
                <a:cxn ang="0">
                  <a:pos x="426" y="1587"/>
                </a:cxn>
                <a:cxn ang="0">
                  <a:pos x="313" y="1590"/>
                </a:cxn>
                <a:cxn ang="0">
                  <a:pos x="202" y="1584"/>
                </a:cxn>
                <a:cxn ang="0">
                  <a:pos x="96" y="1564"/>
                </a:cxn>
                <a:cxn ang="0">
                  <a:pos x="12" y="1513"/>
                </a:cxn>
                <a:cxn ang="0">
                  <a:pos x="8" y="1424"/>
                </a:cxn>
                <a:cxn ang="0">
                  <a:pos x="76" y="1354"/>
                </a:cxn>
                <a:cxn ang="0">
                  <a:pos x="174" y="1348"/>
                </a:cxn>
                <a:cxn ang="0">
                  <a:pos x="288" y="1365"/>
                </a:cxn>
                <a:cxn ang="0">
                  <a:pos x="435" y="1285"/>
                </a:cxn>
                <a:cxn ang="0">
                  <a:pos x="483" y="1014"/>
                </a:cxn>
                <a:cxn ang="0">
                  <a:pos x="426" y="734"/>
                </a:cxn>
                <a:cxn ang="0">
                  <a:pos x="408" y="493"/>
                </a:cxn>
                <a:cxn ang="0">
                  <a:pos x="441" y="310"/>
                </a:cxn>
                <a:cxn ang="0">
                  <a:pos x="492" y="223"/>
                </a:cxn>
                <a:cxn ang="0">
                  <a:pos x="572" y="147"/>
                </a:cxn>
                <a:cxn ang="0">
                  <a:pos x="628" y="118"/>
                </a:cxn>
              </a:cxnLst>
              <a:rect l="0" t="0" r="r" b="b"/>
              <a:pathLst>
                <a:path w="2196" h="1590">
                  <a:moveTo>
                    <a:pt x="655" y="118"/>
                  </a:moveTo>
                  <a:lnTo>
                    <a:pt x="685" y="115"/>
                  </a:lnTo>
                  <a:lnTo>
                    <a:pt x="716" y="113"/>
                  </a:lnTo>
                  <a:lnTo>
                    <a:pt x="744" y="110"/>
                  </a:lnTo>
                  <a:lnTo>
                    <a:pt x="777" y="108"/>
                  </a:lnTo>
                  <a:lnTo>
                    <a:pt x="807" y="108"/>
                  </a:lnTo>
                  <a:lnTo>
                    <a:pt x="838" y="108"/>
                  </a:lnTo>
                  <a:lnTo>
                    <a:pt x="870" y="109"/>
                  </a:lnTo>
                  <a:lnTo>
                    <a:pt x="903" y="113"/>
                  </a:lnTo>
                  <a:lnTo>
                    <a:pt x="929" y="117"/>
                  </a:lnTo>
                  <a:lnTo>
                    <a:pt x="958" y="119"/>
                  </a:lnTo>
                  <a:lnTo>
                    <a:pt x="985" y="123"/>
                  </a:lnTo>
                  <a:lnTo>
                    <a:pt x="1013" y="124"/>
                  </a:lnTo>
                  <a:lnTo>
                    <a:pt x="1040" y="127"/>
                  </a:lnTo>
                  <a:lnTo>
                    <a:pt x="1069" y="128"/>
                  </a:lnTo>
                  <a:lnTo>
                    <a:pt x="1095" y="128"/>
                  </a:lnTo>
                  <a:lnTo>
                    <a:pt x="1124" y="128"/>
                  </a:lnTo>
                  <a:lnTo>
                    <a:pt x="1151" y="128"/>
                  </a:lnTo>
                  <a:lnTo>
                    <a:pt x="1177" y="127"/>
                  </a:lnTo>
                  <a:lnTo>
                    <a:pt x="1204" y="124"/>
                  </a:lnTo>
                  <a:lnTo>
                    <a:pt x="1231" y="121"/>
                  </a:lnTo>
                  <a:lnTo>
                    <a:pt x="1257" y="117"/>
                  </a:lnTo>
                  <a:lnTo>
                    <a:pt x="1284" y="113"/>
                  </a:lnTo>
                  <a:lnTo>
                    <a:pt x="1311" y="106"/>
                  </a:lnTo>
                  <a:lnTo>
                    <a:pt x="1338" y="100"/>
                  </a:lnTo>
                  <a:lnTo>
                    <a:pt x="1385" y="87"/>
                  </a:lnTo>
                  <a:lnTo>
                    <a:pt x="1431" y="75"/>
                  </a:lnTo>
                  <a:lnTo>
                    <a:pt x="1479" y="63"/>
                  </a:lnTo>
                  <a:lnTo>
                    <a:pt x="1528" y="52"/>
                  </a:lnTo>
                  <a:lnTo>
                    <a:pt x="1576" y="41"/>
                  </a:lnTo>
                  <a:lnTo>
                    <a:pt x="1626" y="31"/>
                  </a:lnTo>
                  <a:lnTo>
                    <a:pt x="1673" y="22"/>
                  </a:lnTo>
                  <a:lnTo>
                    <a:pt x="1723" y="14"/>
                  </a:lnTo>
                  <a:lnTo>
                    <a:pt x="1772" y="9"/>
                  </a:lnTo>
                  <a:lnTo>
                    <a:pt x="1822" y="4"/>
                  </a:lnTo>
                  <a:lnTo>
                    <a:pt x="1872" y="1"/>
                  </a:lnTo>
                  <a:lnTo>
                    <a:pt x="1921" y="0"/>
                  </a:lnTo>
                  <a:lnTo>
                    <a:pt x="1969" y="0"/>
                  </a:lnTo>
                  <a:lnTo>
                    <a:pt x="2019" y="2"/>
                  </a:lnTo>
                  <a:lnTo>
                    <a:pt x="2068" y="8"/>
                  </a:lnTo>
                  <a:lnTo>
                    <a:pt x="2116" y="15"/>
                  </a:lnTo>
                  <a:lnTo>
                    <a:pt x="2145" y="24"/>
                  </a:lnTo>
                  <a:lnTo>
                    <a:pt x="2165" y="40"/>
                  </a:lnTo>
                  <a:lnTo>
                    <a:pt x="2181" y="58"/>
                  </a:lnTo>
                  <a:lnTo>
                    <a:pt x="2192" y="80"/>
                  </a:lnTo>
                  <a:lnTo>
                    <a:pt x="2196" y="104"/>
                  </a:lnTo>
                  <a:lnTo>
                    <a:pt x="2194" y="127"/>
                  </a:lnTo>
                  <a:lnTo>
                    <a:pt x="2185" y="149"/>
                  </a:lnTo>
                  <a:lnTo>
                    <a:pt x="2171" y="167"/>
                  </a:lnTo>
                  <a:lnTo>
                    <a:pt x="2158" y="178"/>
                  </a:lnTo>
                  <a:lnTo>
                    <a:pt x="2139" y="184"/>
                  </a:lnTo>
                  <a:lnTo>
                    <a:pt x="2116" y="189"/>
                  </a:lnTo>
                  <a:lnTo>
                    <a:pt x="2091" y="191"/>
                  </a:lnTo>
                  <a:lnTo>
                    <a:pt x="2064" y="192"/>
                  </a:lnTo>
                  <a:lnTo>
                    <a:pt x="2036" y="191"/>
                  </a:lnTo>
                  <a:lnTo>
                    <a:pt x="2005" y="188"/>
                  </a:lnTo>
                  <a:lnTo>
                    <a:pt x="1977" y="186"/>
                  </a:lnTo>
                  <a:lnTo>
                    <a:pt x="1946" y="184"/>
                  </a:lnTo>
                  <a:lnTo>
                    <a:pt x="1917" y="182"/>
                  </a:lnTo>
                  <a:lnTo>
                    <a:pt x="1893" y="180"/>
                  </a:lnTo>
                  <a:lnTo>
                    <a:pt x="1868" y="182"/>
                  </a:lnTo>
                  <a:lnTo>
                    <a:pt x="1849" y="183"/>
                  </a:lnTo>
                  <a:lnTo>
                    <a:pt x="1832" y="188"/>
                  </a:lnTo>
                  <a:lnTo>
                    <a:pt x="1820" y="195"/>
                  </a:lnTo>
                  <a:lnTo>
                    <a:pt x="1814" y="205"/>
                  </a:lnTo>
                  <a:lnTo>
                    <a:pt x="1801" y="279"/>
                  </a:lnTo>
                  <a:lnTo>
                    <a:pt x="1797" y="349"/>
                  </a:lnTo>
                  <a:lnTo>
                    <a:pt x="1799" y="412"/>
                  </a:lnTo>
                  <a:lnTo>
                    <a:pt x="1801" y="462"/>
                  </a:lnTo>
                  <a:lnTo>
                    <a:pt x="1805" y="562"/>
                  </a:lnTo>
                  <a:lnTo>
                    <a:pt x="1813" y="635"/>
                  </a:lnTo>
                  <a:lnTo>
                    <a:pt x="1824" y="720"/>
                  </a:lnTo>
                  <a:lnTo>
                    <a:pt x="1841" y="859"/>
                  </a:lnTo>
                  <a:lnTo>
                    <a:pt x="1847" y="960"/>
                  </a:lnTo>
                  <a:lnTo>
                    <a:pt x="1845" y="1056"/>
                  </a:lnTo>
                  <a:lnTo>
                    <a:pt x="1849" y="1161"/>
                  </a:lnTo>
                  <a:lnTo>
                    <a:pt x="1868" y="1289"/>
                  </a:lnTo>
                  <a:lnTo>
                    <a:pt x="1870" y="1313"/>
                  </a:lnTo>
                  <a:lnTo>
                    <a:pt x="1868" y="1339"/>
                  </a:lnTo>
                  <a:lnTo>
                    <a:pt x="1858" y="1364"/>
                  </a:lnTo>
                  <a:lnTo>
                    <a:pt x="1847" y="1389"/>
                  </a:lnTo>
                  <a:lnTo>
                    <a:pt x="1828" y="1411"/>
                  </a:lnTo>
                  <a:lnTo>
                    <a:pt x="1807" y="1430"/>
                  </a:lnTo>
                  <a:lnTo>
                    <a:pt x="1782" y="1444"/>
                  </a:lnTo>
                  <a:lnTo>
                    <a:pt x="1751" y="1455"/>
                  </a:lnTo>
                  <a:lnTo>
                    <a:pt x="1723" y="1461"/>
                  </a:lnTo>
                  <a:lnTo>
                    <a:pt x="1696" y="1467"/>
                  </a:lnTo>
                  <a:lnTo>
                    <a:pt x="1668" y="1472"/>
                  </a:lnTo>
                  <a:lnTo>
                    <a:pt x="1639" y="1477"/>
                  </a:lnTo>
                  <a:lnTo>
                    <a:pt x="1610" y="1482"/>
                  </a:lnTo>
                  <a:lnTo>
                    <a:pt x="1582" y="1486"/>
                  </a:lnTo>
                  <a:lnTo>
                    <a:pt x="1553" y="1490"/>
                  </a:lnTo>
                  <a:lnTo>
                    <a:pt x="1524" y="1494"/>
                  </a:lnTo>
                  <a:lnTo>
                    <a:pt x="1494" y="1496"/>
                  </a:lnTo>
                  <a:lnTo>
                    <a:pt x="1465" y="1500"/>
                  </a:lnTo>
                  <a:lnTo>
                    <a:pt x="1437" y="1504"/>
                  </a:lnTo>
                  <a:lnTo>
                    <a:pt x="1406" y="1507"/>
                  </a:lnTo>
                  <a:lnTo>
                    <a:pt x="1376" y="1511"/>
                  </a:lnTo>
                  <a:lnTo>
                    <a:pt x="1347" y="1513"/>
                  </a:lnTo>
                  <a:lnTo>
                    <a:pt x="1317" y="1517"/>
                  </a:lnTo>
                  <a:lnTo>
                    <a:pt x="1286" y="1521"/>
                  </a:lnTo>
                  <a:lnTo>
                    <a:pt x="1246" y="1526"/>
                  </a:lnTo>
                  <a:lnTo>
                    <a:pt x="1206" y="1532"/>
                  </a:lnTo>
                  <a:lnTo>
                    <a:pt x="1166" y="1537"/>
                  </a:lnTo>
                  <a:lnTo>
                    <a:pt x="1126" y="1541"/>
                  </a:lnTo>
                  <a:lnTo>
                    <a:pt x="1086" y="1546"/>
                  </a:lnTo>
                  <a:lnTo>
                    <a:pt x="1048" y="1551"/>
                  </a:lnTo>
                  <a:lnTo>
                    <a:pt x="1007" y="1555"/>
                  </a:lnTo>
                  <a:lnTo>
                    <a:pt x="969" y="1559"/>
                  </a:lnTo>
                  <a:lnTo>
                    <a:pt x="929" y="1563"/>
                  </a:lnTo>
                  <a:lnTo>
                    <a:pt x="889" y="1567"/>
                  </a:lnTo>
                  <a:lnTo>
                    <a:pt x="851" y="1569"/>
                  </a:lnTo>
                  <a:lnTo>
                    <a:pt x="811" y="1572"/>
                  </a:lnTo>
                  <a:lnTo>
                    <a:pt x="773" y="1574"/>
                  </a:lnTo>
                  <a:lnTo>
                    <a:pt x="733" y="1576"/>
                  </a:lnTo>
                  <a:lnTo>
                    <a:pt x="693" y="1577"/>
                  </a:lnTo>
                  <a:lnTo>
                    <a:pt x="653" y="1578"/>
                  </a:lnTo>
                  <a:lnTo>
                    <a:pt x="614" y="1578"/>
                  </a:lnTo>
                  <a:lnTo>
                    <a:pt x="578" y="1580"/>
                  </a:lnTo>
                  <a:lnTo>
                    <a:pt x="540" y="1582"/>
                  </a:lnTo>
                  <a:lnTo>
                    <a:pt x="502" y="1584"/>
                  </a:lnTo>
                  <a:lnTo>
                    <a:pt x="464" y="1586"/>
                  </a:lnTo>
                  <a:lnTo>
                    <a:pt x="426" y="1587"/>
                  </a:lnTo>
                  <a:lnTo>
                    <a:pt x="387" y="1589"/>
                  </a:lnTo>
                  <a:lnTo>
                    <a:pt x="351" y="1590"/>
                  </a:lnTo>
                  <a:lnTo>
                    <a:pt x="313" y="1590"/>
                  </a:lnTo>
                  <a:lnTo>
                    <a:pt x="275" y="1589"/>
                  </a:lnTo>
                  <a:lnTo>
                    <a:pt x="239" y="1587"/>
                  </a:lnTo>
                  <a:lnTo>
                    <a:pt x="202" y="1584"/>
                  </a:lnTo>
                  <a:lnTo>
                    <a:pt x="166" y="1580"/>
                  </a:lnTo>
                  <a:lnTo>
                    <a:pt x="130" y="1573"/>
                  </a:lnTo>
                  <a:lnTo>
                    <a:pt x="96" y="1564"/>
                  </a:lnTo>
                  <a:lnTo>
                    <a:pt x="61" y="1554"/>
                  </a:lnTo>
                  <a:lnTo>
                    <a:pt x="33" y="1538"/>
                  </a:lnTo>
                  <a:lnTo>
                    <a:pt x="12" y="1513"/>
                  </a:lnTo>
                  <a:lnTo>
                    <a:pt x="2" y="1486"/>
                  </a:lnTo>
                  <a:lnTo>
                    <a:pt x="0" y="1455"/>
                  </a:lnTo>
                  <a:lnTo>
                    <a:pt x="8" y="1424"/>
                  </a:lnTo>
                  <a:lnTo>
                    <a:pt x="23" y="1395"/>
                  </a:lnTo>
                  <a:lnTo>
                    <a:pt x="46" y="1370"/>
                  </a:lnTo>
                  <a:lnTo>
                    <a:pt x="76" y="1354"/>
                  </a:lnTo>
                  <a:lnTo>
                    <a:pt x="107" y="1347"/>
                  </a:lnTo>
                  <a:lnTo>
                    <a:pt x="139" y="1346"/>
                  </a:lnTo>
                  <a:lnTo>
                    <a:pt x="174" y="1348"/>
                  </a:lnTo>
                  <a:lnTo>
                    <a:pt x="210" y="1354"/>
                  </a:lnTo>
                  <a:lnTo>
                    <a:pt x="248" y="1360"/>
                  </a:lnTo>
                  <a:lnTo>
                    <a:pt x="288" y="1365"/>
                  </a:lnTo>
                  <a:lnTo>
                    <a:pt x="328" y="1369"/>
                  </a:lnTo>
                  <a:lnTo>
                    <a:pt x="366" y="1368"/>
                  </a:lnTo>
                  <a:lnTo>
                    <a:pt x="435" y="1285"/>
                  </a:lnTo>
                  <a:lnTo>
                    <a:pt x="473" y="1198"/>
                  </a:lnTo>
                  <a:lnTo>
                    <a:pt x="487" y="1108"/>
                  </a:lnTo>
                  <a:lnTo>
                    <a:pt x="483" y="1014"/>
                  </a:lnTo>
                  <a:lnTo>
                    <a:pt x="468" y="921"/>
                  </a:lnTo>
                  <a:lnTo>
                    <a:pt x="447" y="826"/>
                  </a:lnTo>
                  <a:lnTo>
                    <a:pt x="426" y="734"/>
                  </a:lnTo>
                  <a:lnTo>
                    <a:pt x="410" y="643"/>
                  </a:lnTo>
                  <a:lnTo>
                    <a:pt x="407" y="569"/>
                  </a:lnTo>
                  <a:lnTo>
                    <a:pt x="408" y="493"/>
                  </a:lnTo>
                  <a:lnTo>
                    <a:pt x="418" y="419"/>
                  </a:lnTo>
                  <a:lnTo>
                    <a:pt x="431" y="343"/>
                  </a:lnTo>
                  <a:lnTo>
                    <a:pt x="441" y="310"/>
                  </a:lnTo>
                  <a:lnTo>
                    <a:pt x="454" y="280"/>
                  </a:lnTo>
                  <a:lnTo>
                    <a:pt x="471" y="252"/>
                  </a:lnTo>
                  <a:lnTo>
                    <a:pt x="492" y="223"/>
                  </a:lnTo>
                  <a:lnTo>
                    <a:pt x="517" y="197"/>
                  </a:lnTo>
                  <a:lnTo>
                    <a:pt x="544" y="171"/>
                  </a:lnTo>
                  <a:lnTo>
                    <a:pt x="572" y="147"/>
                  </a:lnTo>
                  <a:lnTo>
                    <a:pt x="603" y="122"/>
                  </a:lnTo>
                  <a:lnTo>
                    <a:pt x="614" y="118"/>
                  </a:lnTo>
                  <a:lnTo>
                    <a:pt x="628" y="118"/>
                  </a:lnTo>
                  <a:lnTo>
                    <a:pt x="641" y="118"/>
                  </a:lnTo>
                  <a:lnTo>
                    <a:pt x="655" y="118"/>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66" name="Freeform 98"/>
            <p:cNvSpPr>
              <a:spLocks/>
            </p:cNvSpPr>
            <p:nvPr/>
          </p:nvSpPr>
          <p:spPr bwMode="auto">
            <a:xfrm>
              <a:off x="2959" y="2080"/>
              <a:ext cx="2193" cy="794"/>
            </a:xfrm>
            <a:custGeom>
              <a:avLst/>
              <a:gdLst/>
              <a:ahLst/>
              <a:cxnLst>
                <a:cxn ang="0">
                  <a:pos x="713" y="115"/>
                </a:cxn>
                <a:cxn ang="0">
                  <a:pos x="805" y="109"/>
                </a:cxn>
                <a:cxn ang="0">
                  <a:pos x="900" y="115"/>
                </a:cxn>
                <a:cxn ang="0">
                  <a:pos x="982" y="124"/>
                </a:cxn>
                <a:cxn ang="0">
                  <a:pos x="1066" y="129"/>
                </a:cxn>
                <a:cxn ang="0">
                  <a:pos x="1148" y="129"/>
                </a:cxn>
                <a:cxn ang="0">
                  <a:pos x="1230" y="122"/>
                </a:cxn>
                <a:cxn ang="0">
                  <a:pos x="1310" y="108"/>
                </a:cxn>
                <a:cxn ang="0">
                  <a:pos x="1430" y="76"/>
                </a:cxn>
                <a:cxn ang="0">
                  <a:pos x="1573" y="42"/>
                </a:cxn>
                <a:cxn ang="0">
                  <a:pos x="1720" y="16"/>
                </a:cxn>
                <a:cxn ang="0">
                  <a:pos x="1869" y="1"/>
                </a:cxn>
                <a:cxn ang="0">
                  <a:pos x="2016" y="3"/>
                </a:cxn>
                <a:cxn ang="0">
                  <a:pos x="2142" y="25"/>
                </a:cxn>
                <a:cxn ang="0">
                  <a:pos x="2190" y="81"/>
                </a:cxn>
                <a:cxn ang="0">
                  <a:pos x="2182" y="150"/>
                </a:cxn>
                <a:cxn ang="0">
                  <a:pos x="2136" y="186"/>
                </a:cxn>
                <a:cxn ang="0">
                  <a:pos x="2062" y="192"/>
                </a:cxn>
                <a:cxn ang="0">
                  <a:pos x="1974" y="187"/>
                </a:cxn>
                <a:cxn ang="0">
                  <a:pos x="1890" y="181"/>
                </a:cxn>
                <a:cxn ang="0">
                  <a:pos x="1829" y="189"/>
                </a:cxn>
                <a:cxn ang="0">
                  <a:pos x="1799" y="280"/>
                </a:cxn>
                <a:cxn ang="0">
                  <a:pos x="1799" y="463"/>
                </a:cxn>
                <a:cxn ang="0">
                  <a:pos x="1821" y="723"/>
                </a:cxn>
                <a:cxn ang="0">
                  <a:pos x="1842" y="1058"/>
                </a:cxn>
                <a:cxn ang="0">
                  <a:pos x="1867" y="1314"/>
                </a:cxn>
                <a:cxn ang="0">
                  <a:pos x="1844" y="1389"/>
                </a:cxn>
                <a:cxn ang="0">
                  <a:pos x="1779" y="1446"/>
                </a:cxn>
                <a:cxn ang="0">
                  <a:pos x="1694" y="1468"/>
                </a:cxn>
                <a:cxn ang="0">
                  <a:pos x="1608" y="1483"/>
                </a:cxn>
                <a:cxn ang="0">
                  <a:pos x="1522" y="1494"/>
                </a:cxn>
                <a:cxn ang="0">
                  <a:pos x="1434" y="1505"/>
                </a:cxn>
                <a:cxn ang="0">
                  <a:pos x="1345" y="1514"/>
                </a:cxn>
                <a:cxn ang="0">
                  <a:pos x="1243" y="1527"/>
                </a:cxn>
                <a:cxn ang="0">
                  <a:pos x="1125" y="1542"/>
                </a:cxn>
                <a:cxn ang="0">
                  <a:pos x="1007" y="1555"/>
                </a:cxn>
                <a:cxn ang="0">
                  <a:pos x="889" y="1567"/>
                </a:cxn>
                <a:cxn ang="0">
                  <a:pos x="770" y="1575"/>
                </a:cxn>
                <a:cxn ang="0">
                  <a:pos x="650" y="1579"/>
                </a:cxn>
                <a:cxn ang="0">
                  <a:pos x="538" y="1583"/>
                </a:cxn>
                <a:cxn ang="0">
                  <a:pos x="423" y="1589"/>
                </a:cxn>
                <a:cxn ang="0">
                  <a:pos x="310" y="1590"/>
                </a:cxn>
                <a:cxn ang="0">
                  <a:pos x="200" y="1584"/>
                </a:cxn>
                <a:cxn ang="0">
                  <a:pos x="93" y="1564"/>
                </a:cxn>
                <a:cxn ang="0">
                  <a:pos x="11" y="1514"/>
                </a:cxn>
                <a:cxn ang="0">
                  <a:pos x="5" y="1424"/>
                </a:cxn>
                <a:cxn ang="0">
                  <a:pos x="74" y="1354"/>
                </a:cxn>
                <a:cxn ang="0">
                  <a:pos x="171" y="1349"/>
                </a:cxn>
                <a:cxn ang="0">
                  <a:pos x="286" y="1367"/>
                </a:cxn>
                <a:cxn ang="0">
                  <a:pos x="433" y="1286"/>
                </a:cxn>
                <a:cxn ang="0">
                  <a:pos x="480" y="1016"/>
                </a:cxn>
                <a:cxn ang="0">
                  <a:pos x="423" y="736"/>
                </a:cxn>
                <a:cxn ang="0">
                  <a:pos x="406" y="494"/>
                </a:cxn>
                <a:cxn ang="0">
                  <a:pos x="440" y="312"/>
                </a:cxn>
                <a:cxn ang="0">
                  <a:pos x="490" y="225"/>
                </a:cxn>
                <a:cxn ang="0">
                  <a:pos x="570" y="148"/>
                </a:cxn>
                <a:cxn ang="0">
                  <a:pos x="625" y="118"/>
                </a:cxn>
              </a:cxnLst>
              <a:rect l="0" t="0" r="r" b="b"/>
              <a:pathLst>
                <a:path w="2193" h="1590">
                  <a:moveTo>
                    <a:pt x="652" y="120"/>
                  </a:moveTo>
                  <a:lnTo>
                    <a:pt x="683" y="117"/>
                  </a:lnTo>
                  <a:lnTo>
                    <a:pt x="713" y="115"/>
                  </a:lnTo>
                  <a:lnTo>
                    <a:pt x="744" y="112"/>
                  </a:lnTo>
                  <a:lnTo>
                    <a:pt x="774" y="109"/>
                  </a:lnTo>
                  <a:lnTo>
                    <a:pt x="805" y="109"/>
                  </a:lnTo>
                  <a:lnTo>
                    <a:pt x="837" y="109"/>
                  </a:lnTo>
                  <a:lnTo>
                    <a:pt x="868" y="111"/>
                  </a:lnTo>
                  <a:lnTo>
                    <a:pt x="900" y="115"/>
                  </a:lnTo>
                  <a:lnTo>
                    <a:pt x="927" y="118"/>
                  </a:lnTo>
                  <a:lnTo>
                    <a:pt x="955" y="121"/>
                  </a:lnTo>
                  <a:lnTo>
                    <a:pt x="982" y="124"/>
                  </a:lnTo>
                  <a:lnTo>
                    <a:pt x="1011" y="126"/>
                  </a:lnTo>
                  <a:lnTo>
                    <a:pt x="1039" y="128"/>
                  </a:lnTo>
                  <a:lnTo>
                    <a:pt x="1066" y="129"/>
                  </a:lnTo>
                  <a:lnTo>
                    <a:pt x="1095" y="130"/>
                  </a:lnTo>
                  <a:lnTo>
                    <a:pt x="1121" y="130"/>
                  </a:lnTo>
                  <a:lnTo>
                    <a:pt x="1148" y="129"/>
                  </a:lnTo>
                  <a:lnTo>
                    <a:pt x="1177" y="128"/>
                  </a:lnTo>
                  <a:lnTo>
                    <a:pt x="1203" y="126"/>
                  </a:lnTo>
                  <a:lnTo>
                    <a:pt x="1230" y="122"/>
                  </a:lnTo>
                  <a:lnTo>
                    <a:pt x="1257" y="118"/>
                  </a:lnTo>
                  <a:lnTo>
                    <a:pt x="1283" y="115"/>
                  </a:lnTo>
                  <a:lnTo>
                    <a:pt x="1310" y="108"/>
                  </a:lnTo>
                  <a:lnTo>
                    <a:pt x="1337" y="102"/>
                  </a:lnTo>
                  <a:lnTo>
                    <a:pt x="1383" y="89"/>
                  </a:lnTo>
                  <a:lnTo>
                    <a:pt x="1430" y="76"/>
                  </a:lnTo>
                  <a:lnTo>
                    <a:pt x="1478" y="64"/>
                  </a:lnTo>
                  <a:lnTo>
                    <a:pt x="1526" y="52"/>
                  </a:lnTo>
                  <a:lnTo>
                    <a:pt x="1573" y="42"/>
                  </a:lnTo>
                  <a:lnTo>
                    <a:pt x="1623" y="31"/>
                  </a:lnTo>
                  <a:lnTo>
                    <a:pt x="1673" y="24"/>
                  </a:lnTo>
                  <a:lnTo>
                    <a:pt x="1720" y="16"/>
                  </a:lnTo>
                  <a:lnTo>
                    <a:pt x="1770" y="9"/>
                  </a:lnTo>
                  <a:lnTo>
                    <a:pt x="1820" y="4"/>
                  </a:lnTo>
                  <a:lnTo>
                    <a:pt x="1869" y="1"/>
                  </a:lnTo>
                  <a:lnTo>
                    <a:pt x="1919" y="0"/>
                  </a:lnTo>
                  <a:lnTo>
                    <a:pt x="1966" y="0"/>
                  </a:lnTo>
                  <a:lnTo>
                    <a:pt x="2016" y="3"/>
                  </a:lnTo>
                  <a:lnTo>
                    <a:pt x="2066" y="8"/>
                  </a:lnTo>
                  <a:lnTo>
                    <a:pt x="2113" y="16"/>
                  </a:lnTo>
                  <a:lnTo>
                    <a:pt x="2142" y="25"/>
                  </a:lnTo>
                  <a:lnTo>
                    <a:pt x="2163" y="40"/>
                  </a:lnTo>
                  <a:lnTo>
                    <a:pt x="2178" y="59"/>
                  </a:lnTo>
                  <a:lnTo>
                    <a:pt x="2190" y="81"/>
                  </a:lnTo>
                  <a:lnTo>
                    <a:pt x="2193" y="104"/>
                  </a:lnTo>
                  <a:lnTo>
                    <a:pt x="2192" y="128"/>
                  </a:lnTo>
                  <a:lnTo>
                    <a:pt x="2182" y="150"/>
                  </a:lnTo>
                  <a:lnTo>
                    <a:pt x="2169" y="169"/>
                  </a:lnTo>
                  <a:lnTo>
                    <a:pt x="2155" y="179"/>
                  </a:lnTo>
                  <a:lnTo>
                    <a:pt x="2136" y="186"/>
                  </a:lnTo>
                  <a:lnTo>
                    <a:pt x="2113" y="190"/>
                  </a:lnTo>
                  <a:lnTo>
                    <a:pt x="2089" y="192"/>
                  </a:lnTo>
                  <a:lnTo>
                    <a:pt x="2062" y="192"/>
                  </a:lnTo>
                  <a:lnTo>
                    <a:pt x="2033" y="191"/>
                  </a:lnTo>
                  <a:lnTo>
                    <a:pt x="2003" y="189"/>
                  </a:lnTo>
                  <a:lnTo>
                    <a:pt x="1974" y="187"/>
                  </a:lnTo>
                  <a:lnTo>
                    <a:pt x="1944" y="185"/>
                  </a:lnTo>
                  <a:lnTo>
                    <a:pt x="1915" y="182"/>
                  </a:lnTo>
                  <a:lnTo>
                    <a:pt x="1890" y="181"/>
                  </a:lnTo>
                  <a:lnTo>
                    <a:pt x="1865" y="182"/>
                  </a:lnTo>
                  <a:lnTo>
                    <a:pt x="1846" y="183"/>
                  </a:lnTo>
                  <a:lnTo>
                    <a:pt x="1829" y="189"/>
                  </a:lnTo>
                  <a:lnTo>
                    <a:pt x="1818" y="195"/>
                  </a:lnTo>
                  <a:lnTo>
                    <a:pt x="1812" y="205"/>
                  </a:lnTo>
                  <a:lnTo>
                    <a:pt x="1799" y="280"/>
                  </a:lnTo>
                  <a:lnTo>
                    <a:pt x="1797" y="350"/>
                  </a:lnTo>
                  <a:lnTo>
                    <a:pt x="1797" y="412"/>
                  </a:lnTo>
                  <a:lnTo>
                    <a:pt x="1799" y="463"/>
                  </a:lnTo>
                  <a:lnTo>
                    <a:pt x="1802" y="563"/>
                  </a:lnTo>
                  <a:lnTo>
                    <a:pt x="1810" y="636"/>
                  </a:lnTo>
                  <a:lnTo>
                    <a:pt x="1821" y="723"/>
                  </a:lnTo>
                  <a:lnTo>
                    <a:pt x="1839" y="862"/>
                  </a:lnTo>
                  <a:lnTo>
                    <a:pt x="1844" y="962"/>
                  </a:lnTo>
                  <a:lnTo>
                    <a:pt x="1842" y="1058"/>
                  </a:lnTo>
                  <a:lnTo>
                    <a:pt x="1846" y="1162"/>
                  </a:lnTo>
                  <a:lnTo>
                    <a:pt x="1865" y="1289"/>
                  </a:lnTo>
                  <a:lnTo>
                    <a:pt x="1867" y="1314"/>
                  </a:lnTo>
                  <a:lnTo>
                    <a:pt x="1865" y="1340"/>
                  </a:lnTo>
                  <a:lnTo>
                    <a:pt x="1858" y="1364"/>
                  </a:lnTo>
                  <a:lnTo>
                    <a:pt x="1844" y="1389"/>
                  </a:lnTo>
                  <a:lnTo>
                    <a:pt x="1827" y="1412"/>
                  </a:lnTo>
                  <a:lnTo>
                    <a:pt x="1806" y="1431"/>
                  </a:lnTo>
                  <a:lnTo>
                    <a:pt x="1779" y="1446"/>
                  </a:lnTo>
                  <a:lnTo>
                    <a:pt x="1749" y="1457"/>
                  </a:lnTo>
                  <a:lnTo>
                    <a:pt x="1722" y="1463"/>
                  </a:lnTo>
                  <a:lnTo>
                    <a:pt x="1694" y="1468"/>
                  </a:lnTo>
                  <a:lnTo>
                    <a:pt x="1665" y="1474"/>
                  </a:lnTo>
                  <a:lnTo>
                    <a:pt x="1636" y="1479"/>
                  </a:lnTo>
                  <a:lnTo>
                    <a:pt x="1608" y="1483"/>
                  </a:lnTo>
                  <a:lnTo>
                    <a:pt x="1579" y="1487"/>
                  </a:lnTo>
                  <a:lnTo>
                    <a:pt x="1551" y="1490"/>
                  </a:lnTo>
                  <a:lnTo>
                    <a:pt x="1522" y="1494"/>
                  </a:lnTo>
                  <a:lnTo>
                    <a:pt x="1493" y="1497"/>
                  </a:lnTo>
                  <a:lnTo>
                    <a:pt x="1463" y="1501"/>
                  </a:lnTo>
                  <a:lnTo>
                    <a:pt x="1434" y="1505"/>
                  </a:lnTo>
                  <a:lnTo>
                    <a:pt x="1404" y="1507"/>
                  </a:lnTo>
                  <a:lnTo>
                    <a:pt x="1373" y="1511"/>
                  </a:lnTo>
                  <a:lnTo>
                    <a:pt x="1345" y="1514"/>
                  </a:lnTo>
                  <a:lnTo>
                    <a:pt x="1314" y="1518"/>
                  </a:lnTo>
                  <a:lnTo>
                    <a:pt x="1283" y="1522"/>
                  </a:lnTo>
                  <a:lnTo>
                    <a:pt x="1243" y="1527"/>
                  </a:lnTo>
                  <a:lnTo>
                    <a:pt x="1203" y="1532"/>
                  </a:lnTo>
                  <a:lnTo>
                    <a:pt x="1163" y="1537"/>
                  </a:lnTo>
                  <a:lnTo>
                    <a:pt x="1125" y="1542"/>
                  </a:lnTo>
                  <a:lnTo>
                    <a:pt x="1085" y="1546"/>
                  </a:lnTo>
                  <a:lnTo>
                    <a:pt x="1045" y="1551"/>
                  </a:lnTo>
                  <a:lnTo>
                    <a:pt x="1007" y="1555"/>
                  </a:lnTo>
                  <a:lnTo>
                    <a:pt x="967" y="1559"/>
                  </a:lnTo>
                  <a:lnTo>
                    <a:pt x="927" y="1563"/>
                  </a:lnTo>
                  <a:lnTo>
                    <a:pt x="889" y="1567"/>
                  </a:lnTo>
                  <a:lnTo>
                    <a:pt x="848" y="1571"/>
                  </a:lnTo>
                  <a:lnTo>
                    <a:pt x="808" y="1574"/>
                  </a:lnTo>
                  <a:lnTo>
                    <a:pt x="770" y="1575"/>
                  </a:lnTo>
                  <a:lnTo>
                    <a:pt x="730" y="1577"/>
                  </a:lnTo>
                  <a:lnTo>
                    <a:pt x="690" y="1579"/>
                  </a:lnTo>
                  <a:lnTo>
                    <a:pt x="650" y="1579"/>
                  </a:lnTo>
                  <a:lnTo>
                    <a:pt x="612" y="1580"/>
                  </a:lnTo>
                  <a:lnTo>
                    <a:pt x="576" y="1581"/>
                  </a:lnTo>
                  <a:lnTo>
                    <a:pt x="538" y="1583"/>
                  </a:lnTo>
                  <a:lnTo>
                    <a:pt x="499" y="1585"/>
                  </a:lnTo>
                  <a:lnTo>
                    <a:pt x="461" y="1587"/>
                  </a:lnTo>
                  <a:lnTo>
                    <a:pt x="423" y="1589"/>
                  </a:lnTo>
                  <a:lnTo>
                    <a:pt x="385" y="1590"/>
                  </a:lnTo>
                  <a:lnTo>
                    <a:pt x="349" y="1590"/>
                  </a:lnTo>
                  <a:lnTo>
                    <a:pt x="310" y="1590"/>
                  </a:lnTo>
                  <a:lnTo>
                    <a:pt x="272" y="1590"/>
                  </a:lnTo>
                  <a:lnTo>
                    <a:pt x="236" y="1588"/>
                  </a:lnTo>
                  <a:lnTo>
                    <a:pt x="200" y="1584"/>
                  </a:lnTo>
                  <a:lnTo>
                    <a:pt x="164" y="1580"/>
                  </a:lnTo>
                  <a:lnTo>
                    <a:pt x="127" y="1574"/>
                  </a:lnTo>
                  <a:lnTo>
                    <a:pt x="93" y="1564"/>
                  </a:lnTo>
                  <a:lnTo>
                    <a:pt x="59" y="1554"/>
                  </a:lnTo>
                  <a:lnTo>
                    <a:pt x="30" y="1538"/>
                  </a:lnTo>
                  <a:lnTo>
                    <a:pt x="11" y="1514"/>
                  </a:lnTo>
                  <a:lnTo>
                    <a:pt x="0" y="1487"/>
                  </a:lnTo>
                  <a:lnTo>
                    <a:pt x="0" y="1455"/>
                  </a:lnTo>
                  <a:lnTo>
                    <a:pt x="5" y="1424"/>
                  </a:lnTo>
                  <a:lnTo>
                    <a:pt x="21" y="1396"/>
                  </a:lnTo>
                  <a:lnTo>
                    <a:pt x="43" y="1371"/>
                  </a:lnTo>
                  <a:lnTo>
                    <a:pt x="74" y="1354"/>
                  </a:lnTo>
                  <a:lnTo>
                    <a:pt x="104" y="1348"/>
                  </a:lnTo>
                  <a:lnTo>
                    <a:pt x="137" y="1346"/>
                  </a:lnTo>
                  <a:lnTo>
                    <a:pt x="171" y="1349"/>
                  </a:lnTo>
                  <a:lnTo>
                    <a:pt x="207" y="1355"/>
                  </a:lnTo>
                  <a:lnTo>
                    <a:pt x="246" y="1362"/>
                  </a:lnTo>
                  <a:lnTo>
                    <a:pt x="286" y="1367"/>
                  </a:lnTo>
                  <a:lnTo>
                    <a:pt x="326" y="1371"/>
                  </a:lnTo>
                  <a:lnTo>
                    <a:pt x="364" y="1370"/>
                  </a:lnTo>
                  <a:lnTo>
                    <a:pt x="433" y="1286"/>
                  </a:lnTo>
                  <a:lnTo>
                    <a:pt x="471" y="1199"/>
                  </a:lnTo>
                  <a:lnTo>
                    <a:pt x="484" y="1108"/>
                  </a:lnTo>
                  <a:lnTo>
                    <a:pt x="480" y="1016"/>
                  </a:lnTo>
                  <a:lnTo>
                    <a:pt x="465" y="921"/>
                  </a:lnTo>
                  <a:lnTo>
                    <a:pt x="444" y="828"/>
                  </a:lnTo>
                  <a:lnTo>
                    <a:pt x="423" y="736"/>
                  </a:lnTo>
                  <a:lnTo>
                    <a:pt x="408" y="645"/>
                  </a:lnTo>
                  <a:lnTo>
                    <a:pt x="404" y="569"/>
                  </a:lnTo>
                  <a:lnTo>
                    <a:pt x="406" y="494"/>
                  </a:lnTo>
                  <a:lnTo>
                    <a:pt x="415" y="420"/>
                  </a:lnTo>
                  <a:lnTo>
                    <a:pt x="431" y="343"/>
                  </a:lnTo>
                  <a:lnTo>
                    <a:pt x="440" y="312"/>
                  </a:lnTo>
                  <a:lnTo>
                    <a:pt x="454" y="281"/>
                  </a:lnTo>
                  <a:lnTo>
                    <a:pt x="471" y="252"/>
                  </a:lnTo>
                  <a:lnTo>
                    <a:pt x="490" y="225"/>
                  </a:lnTo>
                  <a:lnTo>
                    <a:pt x="515" y="198"/>
                  </a:lnTo>
                  <a:lnTo>
                    <a:pt x="541" y="173"/>
                  </a:lnTo>
                  <a:lnTo>
                    <a:pt x="570" y="148"/>
                  </a:lnTo>
                  <a:lnTo>
                    <a:pt x="600" y="124"/>
                  </a:lnTo>
                  <a:lnTo>
                    <a:pt x="612" y="120"/>
                  </a:lnTo>
                  <a:lnTo>
                    <a:pt x="625" y="118"/>
                  </a:lnTo>
                  <a:lnTo>
                    <a:pt x="639" y="120"/>
                  </a:lnTo>
                  <a:lnTo>
                    <a:pt x="652" y="120"/>
                  </a:lnTo>
                  <a:close/>
                </a:path>
              </a:pathLst>
            </a:custGeom>
            <a:solidFill>
              <a:srgbClr val="FFEDC9"/>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67" name="Freeform 99"/>
            <p:cNvSpPr>
              <a:spLocks/>
            </p:cNvSpPr>
            <p:nvPr/>
          </p:nvSpPr>
          <p:spPr bwMode="auto">
            <a:xfrm>
              <a:off x="3611" y="2131"/>
              <a:ext cx="250" cy="12"/>
            </a:xfrm>
            <a:custGeom>
              <a:avLst/>
              <a:gdLst/>
              <a:ahLst/>
              <a:cxnLst>
                <a:cxn ang="0">
                  <a:pos x="250" y="5"/>
                </a:cxn>
                <a:cxn ang="0">
                  <a:pos x="250" y="5"/>
                </a:cxn>
                <a:cxn ang="0">
                  <a:pos x="216" y="1"/>
                </a:cxn>
                <a:cxn ang="0">
                  <a:pos x="185" y="0"/>
                </a:cxn>
                <a:cxn ang="0">
                  <a:pos x="153" y="0"/>
                </a:cxn>
                <a:cxn ang="0">
                  <a:pos x="122" y="0"/>
                </a:cxn>
                <a:cxn ang="0">
                  <a:pos x="92" y="2"/>
                </a:cxn>
                <a:cxn ang="0">
                  <a:pos x="61" y="5"/>
                </a:cxn>
                <a:cxn ang="0">
                  <a:pos x="31" y="8"/>
                </a:cxn>
                <a:cxn ang="0">
                  <a:pos x="0" y="10"/>
                </a:cxn>
                <a:cxn ang="0">
                  <a:pos x="0" y="23"/>
                </a:cxn>
                <a:cxn ang="0">
                  <a:pos x="31" y="21"/>
                </a:cxn>
                <a:cxn ang="0">
                  <a:pos x="61" y="18"/>
                </a:cxn>
                <a:cxn ang="0">
                  <a:pos x="92" y="15"/>
                </a:cxn>
                <a:cxn ang="0">
                  <a:pos x="122" y="13"/>
                </a:cxn>
                <a:cxn ang="0">
                  <a:pos x="153" y="13"/>
                </a:cxn>
                <a:cxn ang="0">
                  <a:pos x="185" y="13"/>
                </a:cxn>
                <a:cxn ang="0">
                  <a:pos x="216" y="14"/>
                </a:cxn>
                <a:cxn ang="0">
                  <a:pos x="246" y="18"/>
                </a:cxn>
                <a:cxn ang="0">
                  <a:pos x="246" y="18"/>
                </a:cxn>
                <a:cxn ang="0">
                  <a:pos x="250" y="5"/>
                </a:cxn>
              </a:cxnLst>
              <a:rect l="0" t="0" r="r" b="b"/>
              <a:pathLst>
                <a:path w="250" h="23">
                  <a:moveTo>
                    <a:pt x="250" y="5"/>
                  </a:moveTo>
                  <a:lnTo>
                    <a:pt x="250" y="5"/>
                  </a:lnTo>
                  <a:lnTo>
                    <a:pt x="216" y="1"/>
                  </a:lnTo>
                  <a:lnTo>
                    <a:pt x="185" y="0"/>
                  </a:lnTo>
                  <a:lnTo>
                    <a:pt x="153" y="0"/>
                  </a:lnTo>
                  <a:lnTo>
                    <a:pt x="122" y="0"/>
                  </a:lnTo>
                  <a:lnTo>
                    <a:pt x="92" y="2"/>
                  </a:lnTo>
                  <a:lnTo>
                    <a:pt x="61" y="5"/>
                  </a:lnTo>
                  <a:lnTo>
                    <a:pt x="31" y="8"/>
                  </a:lnTo>
                  <a:lnTo>
                    <a:pt x="0" y="10"/>
                  </a:lnTo>
                  <a:lnTo>
                    <a:pt x="0" y="23"/>
                  </a:lnTo>
                  <a:lnTo>
                    <a:pt x="31" y="21"/>
                  </a:lnTo>
                  <a:lnTo>
                    <a:pt x="61" y="18"/>
                  </a:lnTo>
                  <a:lnTo>
                    <a:pt x="92" y="15"/>
                  </a:lnTo>
                  <a:lnTo>
                    <a:pt x="122" y="13"/>
                  </a:lnTo>
                  <a:lnTo>
                    <a:pt x="153" y="13"/>
                  </a:lnTo>
                  <a:lnTo>
                    <a:pt x="185" y="13"/>
                  </a:lnTo>
                  <a:lnTo>
                    <a:pt x="216" y="14"/>
                  </a:lnTo>
                  <a:lnTo>
                    <a:pt x="246" y="18"/>
                  </a:lnTo>
                  <a:lnTo>
                    <a:pt x="246" y="18"/>
                  </a:lnTo>
                  <a:lnTo>
                    <a:pt x="250" y="5"/>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68" name="Freeform 100"/>
            <p:cNvSpPr>
              <a:spLocks/>
            </p:cNvSpPr>
            <p:nvPr/>
          </p:nvSpPr>
          <p:spPr bwMode="auto">
            <a:xfrm>
              <a:off x="3857" y="2127"/>
              <a:ext cx="443" cy="21"/>
            </a:xfrm>
            <a:custGeom>
              <a:avLst/>
              <a:gdLst/>
              <a:ahLst/>
              <a:cxnLst>
                <a:cxn ang="0">
                  <a:pos x="435" y="0"/>
                </a:cxn>
                <a:cxn ang="0">
                  <a:pos x="435" y="0"/>
                </a:cxn>
                <a:cxn ang="0">
                  <a:pos x="410" y="7"/>
                </a:cxn>
                <a:cxn ang="0">
                  <a:pos x="384" y="13"/>
                </a:cxn>
                <a:cxn ang="0">
                  <a:pos x="357" y="17"/>
                </a:cxn>
                <a:cxn ang="0">
                  <a:pos x="330" y="21"/>
                </a:cxn>
                <a:cxn ang="0">
                  <a:pos x="305" y="25"/>
                </a:cxn>
                <a:cxn ang="0">
                  <a:pos x="279" y="26"/>
                </a:cxn>
                <a:cxn ang="0">
                  <a:pos x="250" y="27"/>
                </a:cxn>
                <a:cxn ang="0">
                  <a:pos x="223" y="29"/>
                </a:cxn>
                <a:cxn ang="0">
                  <a:pos x="197" y="29"/>
                </a:cxn>
                <a:cxn ang="0">
                  <a:pos x="168" y="27"/>
                </a:cxn>
                <a:cxn ang="0">
                  <a:pos x="141" y="26"/>
                </a:cxn>
                <a:cxn ang="0">
                  <a:pos x="113" y="25"/>
                </a:cxn>
                <a:cxn ang="0">
                  <a:pos x="84" y="22"/>
                </a:cxn>
                <a:cxn ang="0">
                  <a:pos x="57" y="20"/>
                </a:cxn>
                <a:cxn ang="0">
                  <a:pos x="29" y="17"/>
                </a:cxn>
                <a:cxn ang="0">
                  <a:pos x="4" y="13"/>
                </a:cxn>
                <a:cxn ang="0">
                  <a:pos x="0" y="26"/>
                </a:cxn>
                <a:cxn ang="0">
                  <a:pos x="29" y="30"/>
                </a:cxn>
                <a:cxn ang="0">
                  <a:pos x="57" y="33"/>
                </a:cxn>
                <a:cxn ang="0">
                  <a:pos x="84" y="35"/>
                </a:cxn>
                <a:cxn ang="0">
                  <a:pos x="113" y="38"/>
                </a:cxn>
                <a:cxn ang="0">
                  <a:pos x="141" y="39"/>
                </a:cxn>
                <a:cxn ang="0">
                  <a:pos x="168" y="40"/>
                </a:cxn>
                <a:cxn ang="0">
                  <a:pos x="197" y="42"/>
                </a:cxn>
                <a:cxn ang="0">
                  <a:pos x="223" y="42"/>
                </a:cxn>
                <a:cxn ang="0">
                  <a:pos x="250" y="40"/>
                </a:cxn>
                <a:cxn ang="0">
                  <a:pos x="279" y="39"/>
                </a:cxn>
                <a:cxn ang="0">
                  <a:pos x="305" y="38"/>
                </a:cxn>
                <a:cxn ang="0">
                  <a:pos x="334" y="34"/>
                </a:cxn>
                <a:cxn ang="0">
                  <a:pos x="361" y="30"/>
                </a:cxn>
                <a:cxn ang="0">
                  <a:pos x="387" y="26"/>
                </a:cxn>
                <a:cxn ang="0">
                  <a:pos x="414" y="20"/>
                </a:cxn>
                <a:cxn ang="0">
                  <a:pos x="443" y="13"/>
                </a:cxn>
                <a:cxn ang="0">
                  <a:pos x="443" y="13"/>
                </a:cxn>
                <a:cxn ang="0">
                  <a:pos x="435" y="0"/>
                </a:cxn>
              </a:cxnLst>
              <a:rect l="0" t="0" r="r" b="b"/>
              <a:pathLst>
                <a:path w="443" h="42">
                  <a:moveTo>
                    <a:pt x="435" y="0"/>
                  </a:moveTo>
                  <a:lnTo>
                    <a:pt x="435" y="0"/>
                  </a:lnTo>
                  <a:lnTo>
                    <a:pt x="410" y="7"/>
                  </a:lnTo>
                  <a:lnTo>
                    <a:pt x="384" y="13"/>
                  </a:lnTo>
                  <a:lnTo>
                    <a:pt x="357" y="17"/>
                  </a:lnTo>
                  <a:lnTo>
                    <a:pt x="330" y="21"/>
                  </a:lnTo>
                  <a:lnTo>
                    <a:pt x="305" y="25"/>
                  </a:lnTo>
                  <a:lnTo>
                    <a:pt x="279" y="26"/>
                  </a:lnTo>
                  <a:lnTo>
                    <a:pt x="250" y="27"/>
                  </a:lnTo>
                  <a:lnTo>
                    <a:pt x="223" y="29"/>
                  </a:lnTo>
                  <a:lnTo>
                    <a:pt x="197" y="29"/>
                  </a:lnTo>
                  <a:lnTo>
                    <a:pt x="168" y="27"/>
                  </a:lnTo>
                  <a:lnTo>
                    <a:pt x="141" y="26"/>
                  </a:lnTo>
                  <a:lnTo>
                    <a:pt x="113" y="25"/>
                  </a:lnTo>
                  <a:lnTo>
                    <a:pt x="84" y="22"/>
                  </a:lnTo>
                  <a:lnTo>
                    <a:pt x="57" y="20"/>
                  </a:lnTo>
                  <a:lnTo>
                    <a:pt x="29" y="17"/>
                  </a:lnTo>
                  <a:lnTo>
                    <a:pt x="4" y="13"/>
                  </a:lnTo>
                  <a:lnTo>
                    <a:pt x="0" y="26"/>
                  </a:lnTo>
                  <a:lnTo>
                    <a:pt x="29" y="30"/>
                  </a:lnTo>
                  <a:lnTo>
                    <a:pt x="57" y="33"/>
                  </a:lnTo>
                  <a:lnTo>
                    <a:pt x="84" y="35"/>
                  </a:lnTo>
                  <a:lnTo>
                    <a:pt x="113" y="38"/>
                  </a:lnTo>
                  <a:lnTo>
                    <a:pt x="141" y="39"/>
                  </a:lnTo>
                  <a:lnTo>
                    <a:pt x="168" y="40"/>
                  </a:lnTo>
                  <a:lnTo>
                    <a:pt x="197" y="42"/>
                  </a:lnTo>
                  <a:lnTo>
                    <a:pt x="223" y="42"/>
                  </a:lnTo>
                  <a:lnTo>
                    <a:pt x="250" y="40"/>
                  </a:lnTo>
                  <a:lnTo>
                    <a:pt x="279" y="39"/>
                  </a:lnTo>
                  <a:lnTo>
                    <a:pt x="305" y="38"/>
                  </a:lnTo>
                  <a:lnTo>
                    <a:pt x="334" y="34"/>
                  </a:lnTo>
                  <a:lnTo>
                    <a:pt x="361" y="30"/>
                  </a:lnTo>
                  <a:lnTo>
                    <a:pt x="387" y="26"/>
                  </a:lnTo>
                  <a:lnTo>
                    <a:pt x="414" y="20"/>
                  </a:lnTo>
                  <a:lnTo>
                    <a:pt x="443" y="13"/>
                  </a:lnTo>
                  <a:lnTo>
                    <a:pt x="443" y="13"/>
                  </a:lnTo>
                  <a:lnTo>
                    <a:pt x="435" y="0"/>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69" name="Freeform 101"/>
            <p:cNvSpPr>
              <a:spLocks/>
            </p:cNvSpPr>
            <p:nvPr/>
          </p:nvSpPr>
          <p:spPr bwMode="auto">
            <a:xfrm>
              <a:off x="4292" y="2076"/>
              <a:ext cx="782" cy="58"/>
            </a:xfrm>
            <a:custGeom>
              <a:avLst/>
              <a:gdLst/>
              <a:ahLst/>
              <a:cxnLst>
                <a:cxn ang="0">
                  <a:pos x="782" y="15"/>
                </a:cxn>
                <a:cxn ang="0">
                  <a:pos x="782" y="15"/>
                </a:cxn>
                <a:cxn ang="0">
                  <a:pos x="735" y="7"/>
                </a:cxn>
                <a:cxn ang="0">
                  <a:pos x="683" y="2"/>
                </a:cxn>
                <a:cxn ang="0">
                  <a:pos x="633" y="0"/>
                </a:cxn>
                <a:cxn ang="0">
                  <a:pos x="586" y="0"/>
                </a:cxn>
                <a:cxn ang="0">
                  <a:pos x="536" y="1"/>
                </a:cxn>
                <a:cxn ang="0">
                  <a:pos x="487" y="4"/>
                </a:cxn>
                <a:cxn ang="0">
                  <a:pos x="437" y="9"/>
                </a:cxn>
                <a:cxn ang="0">
                  <a:pos x="385" y="15"/>
                </a:cxn>
                <a:cxn ang="0">
                  <a:pos x="338" y="23"/>
                </a:cxn>
                <a:cxn ang="0">
                  <a:pos x="288" y="31"/>
                </a:cxn>
                <a:cxn ang="0">
                  <a:pos x="239" y="41"/>
                </a:cxn>
                <a:cxn ang="0">
                  <a:pos x="191" y="52"/>
                </a:cxn>
                <a:cxn ang="0">
                  <a:pos x="143" y="63"/>
                </a:cxn>
                <a:cxn ang="0">
                  <a:pos x="95" y="75"/>
                </a:cxn>
                <a:cxn ang="0">
                  <a:pos x="46" y="88"/>
                </a:cxn>
                <a:cxn ang="0">
                  <a:pos x="0" y="101"/>
                </a:cxn>
                <a:cxn ang="0">
                  <a:pos x="8" y="114"/>
                </a:cxn>
                <a:cxn ang="0">
                  <a:pos x="53" y="101"/>
                </a:cxn>
                <a:cxn ang="0">
                  <a:pos x="99" y="88"/>
                </a:cxn>
                <a:cxn ang="0">
                  <a:pos x="147" y="76"/>
                </a:cxn>
                <a:cxn ang="0">
                  <a:pos x="195" y="65"/>
                </a:cxn>
                <a:cxn ang="0">
                  <a:pos x="242" y="54"/>
                </a:cxn>
                <a:cxn ang="0">
                  <a:pos x="292" y="44"/>
                </a:cxn>
                <a:cxn ang="0">
                  <a:pos x="342" y="36"/>
                </a:cxn>
                <a:cxn ang="0">
                  <a:pos x="389" y="28"/>
                </a:cxn>
                <a:cxn ang="0">
                  <a:pos x="437" y="22"/>
                </a:cxn>
                <a:cxn ang="0">
                  <a:pos x="487" y="17"/>
                </a:cxn>
                <a:cxn ang="0">
                  <a:pos x="536" y="14"/>
                </a:cxn>
                <a:cxn ang="0">
                  <a:pos x="586" y="13"/>
                </a:cxn>
                <a:cxn ang="0">
                  <a:pos x="633" y="13"/>
                </a:cxn>
                <a:cxn ang="0">
                  <a:pos x="683" y="15"/>
                </a:cxn>
                <a:cxn ang="0">
                  <a:pos x="731" y="20"/>
                </a:cxn>
                <a:cxn ang="0">
                  <a:pos x="778" y="28"/>
                </a:cxn>
                <a:cxn ang="0">
                  <a:pos x="778" y="28"/>
                </a:cxn>
                <a:cxn ang="0">
                  <a:pos x="782" y="15"/>
                </a:cxn>
              </a:cxnLst>
              <a:rect l="0" t="0" r="r" b="b"/>
              <a:pathLst>
                <a:path w="782" h="114">
                  <a:moveTo>
                    <a:pt x="782" y="15"/>
                  </a:moveTo>
                  <a:lnTo>
                    <a:pt x="782" y="15"/>
                  </a:lnTo>
                  <a:lnTo>
                    <a:pt x="735" y="7"/>
                  </a:lnTo>
                  <a:lnTo>
                    <a:pt x="683" y="2"/>
                  </a:lnTo>
                  <a:lnTo>
                    <a:pt x="633" y="0"/>
                  </a:lnTo>
                  <a:lnTo>
                    <a:pt x="586" y="0"/>
                  </a:lnTo>
                  <a:lnTo>
                    <a:pt x="536" y="1"/>
                  </a:lnTo>
                  <a:lnTo>
                    <a:pt x="487" y="4"/>
                  </a:lnTo>
                  <a:lnTo>
                    <a:pt x="437" y="9"/>
                  </a:lnTo>
                  <a:lnTo>
                    <a:pt x="385" y="15"/>
                  </a:lnTo>
                  <a:lnTo>
                    <a:pt x="338" y="23"/>
                  </a:lnTo>
                  <a:lnTo>
                    <a:pt x="288" y="31"/>
                  </a:lnTo>
                  <a:lnTo>
                    <a:pt x="239" y="41"/>
                  </a:lnTo>
                  <a:lnTo>
                    <a:pt x="191" y="52"/>
                  </a:lnTo>
                  <a:lnTo>
                    <a:pt x="143" y="63"/>
                  </a:lnTo>
                  <a:lnTo>
                    <a:pt x="95" y="75"/>
                  </a:lnTo>
                  <a:lnTo>
                    <a:pt x="46" y="88"/>
                  </a:lnTo>
                  <a:lnTo>
                    <a:pt x="0" y="101"/>
                  </a:lnTo>
                  <a:lnTo>
                    <a:pt x="8" y="114"/>
                  </a:lnTo>
                  <a:lnTo>
                    <a:pt x="53" y="101"/>
                  </a:lnTo>
                  <a:lnTo>
                    <a:pt x="99" y="88"/>
                  </a:lnTo>
                  <a:lnTo>
                    <a:pt x="147" y="76"/>
                  </a:lnTo>
                  <a:lnTo>
                    <a:pt x="195" y="65"/>
                  </a:lnTo>
                  <a:lnTo>
                    <a:pt x="242" y="54"/>
                  </a:lnTo>
                  <a:lnTo>
                    <a:pt x="292" y="44"/>
                  </a:lnTo>
                  <a:lnTo>
                    <a:pt x="342" y="36"/>
                  </a:lnTo>
                  <a:lnTo>
                    <a:pt x="389" y="28"/>
                  </a:lnTo>
                  <a:lnTo>
                    <a:pt x="437" y="22"/>
                  </a:lnTo>
                  <a:lnTo>
                    <a:pt x="487" y="17"/>
                  </a:lnTo>
                  <a:lnTo>
                    <a:pt x="536" y="14"/>
                  </a:lnTo>
                  <a:lnTo>
                    <a:pt x="586" y="13"/>
                  </a:lnTo>
                  <a:lnTo>
                    <a:pt x="633" y="13"/>
                  </a:lnTo>
                  <a:lnTo>
                    <a:pt x="683" y="15"/>
                  </a:lnTo>
                  <a:lnTo>
                    <a:pt x="731" y="20"/>
                  </a:lnTo>
                  <a:lnTo>
                    <a:pt x="778" y="28"/>
                  </a:lnTo>
                  <a:lnTo>
                    <a:pt x="778" y="28"/>
                  </a:lnTo>
                  <a:lnTo>
                    <a:pt x="782" y="15"/>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70" name="Freeform 102"/>
            <p:cNvSpPr>
              <a:spLocks/>
            </p:cNvSpPr>
            <p:nvPr/>
          </p:nvSpPr>
          <p:spPr bwMode="auto">
            <a:xfrm>
              <a:off x="5070" y="2084"/>
              <a:ext cx="90" cy="82"/>
            </a:xfrm>
            <a:custGeom>
              <a:avLst/>
              <a:gdLst/>
              <a:ahLst/>
              <a:cxnLst>
                <a:cxn ang="0">
                  <a:pos x="65" y="164"/>
                </a:cxn>
                <a:cxn ang="0">
                  <a:pos x="65" y="164"/>
                </a:cxn>
                <a:cxn ang="0">
                  <a:pos x="81" y="142"/>
                </a:cxn>
                <a:cxn ang="0">
                  <a:pos x="90" y="119"/>
                </a:cxn>
                <a:cxn ang="0">
                  <a:pos x="92" y="95"/>
                </a:cxn>
                <a:cxn ang="0">
                  <a:pos x="88" y="70"/>
                </a:cxn>
                <a:cxn ang="0">
                  <a:pos x="77" y="47"/>
                </a:cxn>
                <a:cxn ang="0">
                  <a:pos x="60" y="28"/>
                </a:cxn>
                <a:cxn ang="0">
                  <a:pos x="37" y="11"/>
                </a:cxn>
                <a:cxn ang="0">
                  <a:pos x="4" y="0"/>
                </a:cxn>
                <a:cxn ang="0">
                  <a:pos x="0" y="13"/>
                </a:cxn>
                <a:cxn ang="0">
                  <a:pos x="25" y="21"/>
                </a:cxn>
                <a:cxn ang="0">
                  <a:pos x="44" y="35"/>
                </a:cxn>
                <a:cxn ang="0">
                  <a:pos x="58" y="52"/>
                </a:cxn>
                <a:cxn ang="0">
                  <a:pos x="69" y="73"/>
                </a:cxn>
                <a:cxn ang="0">
                  <a:pos x="73" y="95"/>
                </a:cxn>
                <a:cxn ang="0">
                  <a:pos x="71" y="119"/>
                </a:cxn>
                <a:cxn ang="0">
                  <a:pos x="61" y="139"/>
                </a:cxn>
                <a:cxn ang="0">
                  <a:pos x="50" y="156"/>
                </a:cxn>
                <a:cxn ang="0">
                  <a:pos x="50" y="156"/>
                </a:cxn>
                <a:cxn ang="0">
                  <a:pos x="65" y="164"/>
                </a:cxn>
              </a:cxnLst>
              <a:rect l="0" t="0" r="r" b="b"/>
              <a:pathLst>
                <a:path w="92" h="164">
                  <a:moveTo>
                    <a:pt x="65" y="164"/>
                  </a:moveTo>
                  <a:lnTo>
                    <a:pt x="65" y="164"/>
                  </a:lnTo>
                  <a:lnTo>
                    <a:pt x="81" y="142"/>
                  </a:lnTo>
                  <a:lnTo>
                    <a:pt x="90" y="119"/>
                  </a:lnTo>
                  <a:lnTo>
                    <a:pt x="92" y="95"/>
                  </a:lnTo>
                  <a:lnTo>
                    <a:pt x="88" y="70"/>
                  </a:lnTo>
                  <a:lnTo>
                    <a:pt x="77" y="47"/>
                  </a:lnTo>
                  <a:lnTo>
                    <a:pt x="60" y="28"/>
                  </a:lnTo>
                  <a:lnTo>
                    <a:pt x="37" y="11"/>
                  </a:lnTo>
                  <a:lnTo>
                    <a:pt x="4" y="0"/>
                  </a:lnTo>
                  <a:lnTo>
                    <a:pt x="0" y="13"/>
                  </a:lnTo>
                  <a:lnTo>
                    <a:pt x="25" y="21"/>
                  </a:lnTo>
                  <a:lnTo>
                    <a:pt x="44" y="35"/>
                  </a:lnTo>
                  <a:lnTo>
                    <a:pt x="58" y="52"/>
                  </a:lnTo>
                  <a:lnTo>
                    <a:pt x="69" y="73"/>
                  </a:lnTo>
                  <a:lnTo>
                    <a:pt x="73" y="95"/>
                  </a:lnTo>
                  <a:lnTo>
                    <a:pt x="71" y="119"/>
                  </a:lnTo>
                  <a:lnTo>
                    <a:pt x="61" y="139"/>
                  </a:lnTo>
                  <a:lnTo>
                    <a:pt x="50" y="156"/>
                  </a:lnTo>
                  <a:lnTo>
                    <a:pt x="50" y="156"/>
                  </a:lnTo>
                  <a:lnTo>
                    <a:pt x="65" y="164"/>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71" name="Freeform 103"/>
            <p:cNvSpPr>
              <a:spLocks/>
            </p:cNvSpPr>
            <p:nvPr/>
          </p:nvSpPr>
          <p:spPr bwMode="auto">
            <a:xfrm>
              <a:off x="4761" y="2162"/>
              <a:ext cx="374" cy="20"/>
            </a:xfrm>
            <a:custGeom>
              <a:avLst/>
              <a:gdLst/>
              <a:ahLst/>
              <a:cxnLst>
                <a:cxn ang="0">
                  <a:pos x="19" y="40"/>
                </a:cxn>
                <a:cxn ang="0">
                  <a:pos x="19" y="40"/>
                </a:cxn>
                <a:cxn ang="0">
                  <a:pos x="23" y="34"/>
                </a:cxn>
                <a:cxn ang="0">
                  <a:pos x="31" y="29"/>
                </a:cxn>
                <a:cxn ang="0">
                  <a:pos x="46" y="25"/>
                </a:cxn>
                <a:cxn ang="0">
                  <a:pos x="63" y="24"/>
                </a:cxn>
                <a:cxn ang="0">
                  <a:pos x="88" y="22"/>
                </a:cxn>
                <a:cxn ang="0">
                  <a:pos x="113" y="24"/>
                </a:cxn>
                <a:cxn ang="0">
                  <a:pos x="142" y="26"/>
                </a:cxn>
                <a:cxn ang="0">
                  <a:pos x="172" y="29"/>
                </a:cxn>
                <a:cxn ang="0">
                  <a:pos x="201" y="30"/>
                </a:cxn>
                <a:cxn ang="0">
                  <a:pos x="231" y="33"/>
                </a:cxn>
                <a:cxn ang="0">
                  <a:pos x="260" y="34"/>
                </a:cxn>
                <a:cxn ang="0">
                  <a:pos x="287" y="34"/>
                </a:cxn>
                <a:cxn ang="0">
                  <a:pos x="313" y="31"/>
                </a:cxn>
                <a:cxn ang="0">
                  <a:pos x="336" y="27"/>
                </a:cxn>
                <a:cxn ang="0">
                  <a:pos x="359" y="20"/>
                </a:cxn>
                <a:cxn ang="0">
                  <a:pos x="374" y="8"/>
                </a:cxn>
                <a:cxn ang="0">
                  <a:pos x="359" y="0"/>
                </a:cxn>
                <a:cxn ang="0">
                  <a:pos x="348" y="9"/>
                </a:cxn>
                <a:cxn ang="0">
                  <a:pos x="332" y="14"/>
                </a:cxn>
                <a:cxn ang="0">
                  <a:pos x="309" y="18"/>
                </a:cxn>
                <a:cxn ang="0">
                  <a:pos x="287" y="21"/>
                </a:cxn>
                <a:cxn ang="0">
                  <a:pos x="260" y="21"/>
                </a:cxn>
                <a:cxn ang="0">
                  <a:pos x="231" y="20"/>
                </a:cxn>
                <a:cxn ang="0">
                  <a:pos x="201" y="17"/>
                </a:cxn>
                <a:cxn ang="0">
                  <a:pos x="172" y="16"/>
                </a:cxn>
                <a:cxn ang="0">
                  <a:pos x="142" y="13"/>
                </a:cxn>
                <a:cxn ang="0">
                  <a:pos x="113" y="11"/>
                </a:cxn>
                <a:cxn ang="0">
                  <a:pos x="88" y="9"/>
                </a:cxn>
                <a:cxn ang="0">
                  <a:pos x="63" y="11"/>
                </a:cxn>
                <a:cxn ang="0">
                  <a:pos x="42" y="12"/>
                </a:cxn>
                <a:cxn ang="0">
                  <a:pos x="23" y="18"/>
                </a:cxn>
                <a:cxn ang="0">
                  <a:pos x="8" y="26"/>
                </a:cxn>
                <a:cxn ang="0">
                  <a:pos x="0" y="40"/>
                </a:cxn>
                <a:cxn ang="0">
                  <a:pos x="0" y="40"/>
                </a:cxn>
                <a:cxn ang="0">
                  <a:pos x="19" y="40"/>
                </a:cxn>
              </a:cxnLst>
              <a:rect l="0" t="0" r="r" b="b"/>
              <a:pathLst>
                <a:path w="374" h="40">
                  <a:moveTo>
                    <a:pt x="19" y="40"/>
                  </a:moveTo>
                  <a:lnTo>
                    <a:pt x="19" y="40"/>
                  </a:lnTo>
                  <a:lnTo>
                    <a:pt x="23" y="34"/>
                  </a:lnTo>
                  <a:lnTo>
                    <a:pt x="31" y="29"/>
                  </a:lnTo>
                  <a:lnTo>
                    <a:pt x="46" y="25"/>
                  </a:lnTo>
                  <a:lnTo>
                    <a:pt x="63" y="24"/>
                  </a:lnTo>
                  <a:lnTo>
                    <a:pt x="88" y="22"/>
                  </a:lnTo>
                  <a:lnTo>
                    <a:pt x="113" y="24"/>
                  </a:lnTo>
                  <a:lnTo>
                    <a:pt x="142" y="26"/>
                  </a:lnTo>
                  <a:lnTo>
                    <a:pt x="172" y="29"/>
                  </a:lnTo>
                  <a:lnTo>
                    <a:pt x="201" y="30"/>
                  </a:lnTo>
                  <a:lnTo>
                    <a:pt x="231" y="33"/>
                  </a:lnTo>
                  <a:lnTo>
                    <a:pt x="260" y="34"/>
                  </a:lnTo>
                  <a:lnTo>
                    <a:pt x="287" y="34"/>
                  </a:lnTo>
                  <a:lnTo>
                    <a:pt x="313" y="31"/>
                  </a:lnTo>
                  <a:lnTo>
                    <a:pt x="336" y="27"/>
                  </a:lnTo>
                  <a:lnTo>
                    <a:pt x="359" y="20"/>
                  </a:lnTo>
                  <a:lnTo>
                    <a:pt x="374" y="8"/>
                  </a:lnTo>
                  <a:lnTo>
                    <a:pt x="359" y="0"/>
                  </a:lnTo>
                  <a:lnTo>
                    <a:pt x="348" y="9"/>
                  </a:lnTo>
                  <a:lnTo>
                    <a:pt x="332" y="14"/>
                  </a:lnTo>
                  <a:lnTo>
                    <a:pt x="309" y="18"/>
                  </a:lnTo>
                  <a:lnTo>
                    <a:pt x="287" y="21"/>
                  </a:lnTo>
                  <a:lnTo>
                    <a:pt x="260" y="21"/>
                  </a:lnTo>
                  <a:lnTo>
                    <a:pt x="231" y="20"/>
                  </a:lnTo>
                  <a:lnTo>
                    <a:pt x="201" y="17"/>
                  </a:lnTo>
                  <a:lnTo>
                    <a:pt x="172" y="16"/>
                  </a:lnTo>
                  <a:lnTo>
                    <a:pt x="142" y="13"/>
                  </a:lnTo>
                  <a:lnTo>
                    <a:pt x="113" y="11"/>
                  </a:lnTo>
                  <a:lnTo>
                    <a:pt x="88" y="9"/>
                  </a:lnTo>
                  <a:lnTo>
                    <a:pt x="63" y="11"/>
                  </a:lnTo>
                  <a:lnTo>
                    <a:pt x="42" y="12"/>
                  </a:lnTo>
                  <a:lnTo>
                    <a:pt x="23" y="18"/>
                  </a:lnTo>
                  <a:lnTo>
                    <a:pt x="8" y="26"/>
                  </a:lnTo>
                  <a:lnTo>
                    <a:pt x="0" y="40"/>
                  </a:lnTo>
                  <a:lnTo>
                    <a:pt x="0" y="40"/>
                  </a:lnTo>
                  <a:lnTo>
                    <a:pt x="19" y="40"/>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72" name="Freeform 104"/>
            <p:cNvSpPr>
              <a:spLocks/>
            </p:cNvSpPr>
            <p:nvPr/>
          </p:nvSpPr>
          <p:spPr bwMode="auto">
            <a:xfrm>
              <a:off x="4746" y="2182"/>
              <a:ext cx="34" cy="129"/>
            </a:xfrm>
            <a:custGeom>
              <a:avLst/>
              <a:gdLst/>
              <a:ahLst/>
              <a:cxnLst>
                <a:cxn ang="0">
                  <a:pos x="21" y="258"/>
                </a:cxn>
                <a:cxn ang="0">
                  <a:pos x="21" y="258"/>
                </a:cxn>
                <a:cxn ang="0">
                  <a:pos x="19" y="207"/>
                </a:cxn>
                <a:cxn ang="0">
                  <a:pos x="19" y="145"/>
                </a:cxn>
                <a:cxn ang="0">
                  <a:pos x="21" y="75"/>
                </a:cxn>
                <a:cxn ang="0">
                  <a:pos x="34" y="0"/>
                </a:cxn>
                <a:cxn ang="0">
                  <a:pos x="15" y="0"/>
                </a:cxn>
                <a:cxn ang="0">
                  <a:pos x="2" y="75"/>
                </a:cxn>
                <a:cxn ang="0">
                  <a:pos x="0" y="145"/>
                </a:cxn>
                <a:cxn ang="0">
                  <a:pos x="0" y="207"/>
                </a:cxn>
                <a:cxn ang="0">
                  <a:pos x="2" y="258"/>
                </a:cxn>
                <a:cxn ang="0">
                  <a:pos x="2" y="258"/>
                </a:cxn>
                <a:cxn ang="0">
                  <a:pos x="21" y="258"/>
                </a:cxn>
              </a:cxnLst>
              <a:rect l="0" t="0" r="r" b="b"/>
              <a:pathLst>
                <a:path w="34" h="258">
                  <a:moveTo>
                    <a:pt x="21" y="258"/>
                  </a:moveTo>
                  <a:lnTo>
                    <a:pt x="21" y="258"/>
                  </a:lnTo>
                  <a:lnTo>
                    <a:pt x="19" y="207"/>
                  </a:lnTo>
                  <a:lnTo>
                    <a:pt x="19" y="145"/>
                  </a:lnTo>
                  <a:lnTo>
                    <a:pt x="21" y="75"/>
                  </a:lnTo>
                  <a:lnTo>
                    <a:pt x="34" y="0"/>
                  </a:lnTo>
                  <a:lnTo>
                    <a:pt x="15" y="0"/>
                  </a:lnTo>
                  <a:lnTo>
                    <a:pt x="2" y="75"/>
                  </a:lnTo>
                  <a:lnTo>
                    <a:pt x="0" y="145"/>
                  </a:lnTo>
                  <a:lnTo>
                    <a:pt x="0" y="207"/>
                  </a:lnTo>
                  <a:lnTo>
                    <a:pt x="2" y="258"/>
                  </a:lnTo>
                  <a:lnTo>
                    <a:pt x="2" y="258"/>
                  </a:lnTo>
                  <a:lnTo>
                    <a:pt x="21" y="258"/>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73" name="Freeform 105"/>
            <p:cNvSpPr>
              <a:spLocks/>
            </p:cNvSpPr>
            <p:nvPr/>
          </p:nvSpPr>
          <p:spPr bwMode="auto">
            <a:xfrm>
              <a:off x="4748" y="2311"/>
              <a:ext cx="59" cy="199"/>
            </a:xfrm>
            <a:custGeom>
              <a:avLst/>
              <a:gdLst/>
              <a:ahLst/>
              <a:cxnLst>
                <a:cxn ang="0">
                  <a:pos x="59" y="399"/>
                </a:cxn>
                <a:cxn ang="0">
                  <a:pos x="59" y="399"/>
                </a:cxn>
                <a:cxn ang="0">
                  <a:pos x="42" y="260"/>
                </a:cxn>
                <a:cxn ang="0">
                  <a:pos x="31" y="173"/>
                </a:cxn>
                <a:cxn ang="0">
                  <a:pos x="23" y="100"/>
                </a:cxn>
                <a:cxn ang="0">
                  <a:pos x="19" y="0"/>
                </a:cxn>
                <a:cxn ang="0">
                  <a:pos x="0" y="0"/>
                </a:cxn>
                <a:cxn ang="0">
                  <a:pos x="4" y="100"/>
                </a:cxn>
                <a:cxn ang="0">
                  <a:pos x="11" y="173"/>
                </a:cxn>
                <a:cxn ang="0">
                  <a:pos x="23" y="260"/>
                </a:cxn>
                <a:cxn ang="0">
                  <a:pos x="40" y="399"/>
                </a:cxn>
                <a:cxn ang="0">
                  <a:pos x="40" y="399"/>
                </a:cxn>
                <a:cxn ang="0">
                  <a:pos x="59" y="399"/>
                </a:cxn>
              </a:cxnLst>
              <a:rect l="0" t="0" r="r" b="b"/>
              <a:pathLst>
                <a:path w="59" h="399">
                  <a:moveTo>
                    <a:pt x="59" y="399"/>
                  </a:moveTo>
                  <a:lnTo>
                    <a:pt x="59" y="399"/>
                  </a:lnTo>
                  <a:lnTo>
                    <a:pt x="42" y="260"/>
                  </a:lnTo>
                  <a:lnTo>
                    <a:pt x="31" y="173"/>
                  </a:lnTo>
                  <a:lnTo>
                    <a:pt x="23" y="100"/>
                  </a:lnTo>
                  <a:lnTo>
                    <a:pt x="19" y="0"/>
                  </a:lnTo>
                  <a:lnTo>
                    <a:pt x="0" y="0"/>
                  </a:lnTo>
                  <a:lnTo>
                    <a:pt x="4" y="100"/>
                  </a:lnTo>
                  <a:lnTo>
                    <a:pt x="11" y="173"/>
                  </a:lnTo>
                  <a:lnTo>
                    <a:pt x="23" y="260"/>
                  </a:lnTo>
                  <a:lnTo>
                    <a:pt x="40" y="399"/>
                  </a:lnTo>
                  <a:lnTo>
                    <a:pt x="40" y="399"/>
                  </a:lnTo>
                  <a:lnTo>
                    <a:pt x="59" y="399"/>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74" name="Freeform 106"/>
            <p:cNvSpPr>
              <a:spLocks/>
            </p:cNvSpPr>
            <p:nvPr/>
          </p:nvSpPr>
          <p:spPr bwMode="auto">
            <a:xfrm>
              <a:off x="4788" y="2510"/>
              <a:ext cx="46" cy="212"/>
            </a:xfrm>
            <a:custGeom>
              <a:avLst/>
              <a:gdLst/>
              <a:ahLst/>
              <a:cxnLst>
                <a:cxn ang="0">
                  <a:pos x="46" y="427"/>
                </a:cxn>
                <a:cxn ang="0">
                  <a:pos x="46" y="427"/>
                </a:cxn>
                <a:cxn ang="0">
                  <a:pos x="27" y="300"/>
                </a:cxn>
                <a:cxn ang="0">
                  <a:pos x="23" y="196"/>
                </a:cxn>
                <a:cxn ang="0">
                  <a:pos x="25" y="100"/>
                </a:cxn>
                <a:cxn ang="0">
                  <a:pos x="19" y="0"/>
                </a:cxn>
                <a:cxn ang="0">
                  <a:pos x="0" y="0"/>
                </a:cxn>
                <a:cxn ang="0">
                  <a:pos x="6" y="100"/>
                </a:cxn>
                <a:cxn ang="0">
                  <a:pos x="4" y="196"/>
                </a:cxn>
                <a:cxn ang="0">
                  <a:pos x="8" y="300"/>
                </a:cxn>
                <a:cxn ang="0">
                  <a:pos x="27" y="427"/>
                </a:cxn>
                <a:cxn ang="0">
                  <a:pos x="27" y="427"/>
                </a:cxn>
                <a:cxn ang="0">
                  <a:pos x="46" y="427"/>
                </a:cxn>
              </a:cxnLst>
              <a:rect l="0" t="0" r="r" b="b"/>
              <a:pathLst>
                <a:path w="46" h="427">
                  <a:moveTo>
                    <a:pt x="46" y="427"/>
                  </a:moveTo>
                  <a:lnTo>
                    <a:pt x="46" y="427"/>
                  </a:lnTo>
                  <a:lnTo>
                    <a:pt x="27" y="300"/>
                  </a:lnTo>
                  <a:lnTo>
                    <a:pt x="23" y="196"/>
                  </a:lnTo>
                  <a:lnTo>
                    <a:pt x="25" y="100"/>
                  </a:lnTo>
                  <a:lnTo>
                    <a:pt x="19" y="0"/>
                  </a:lnTo>
                  <a:lnTo>
                    <a:pt x="0" y="0"/>
                  </a:lnTo>
                  <a:lnTo>
                    <a:pt x="6" y="100"/>
                  </a:lnTo>
                  <a:lnTo>
                    <a:pt x="4" y="196"/>
                  </a:lnTo>
                  <a:lnTo>
                    <a:pt x="8" y="300"/>
                  </a:lnTo>
                  <a:lnTo>
                    <a:pt x="27" y="427"/>
                  </a:lnTo>
                  <a:lnTo>
                    <a:pt x="27" y="427"/>
                  </a:lnTo>
                  <a:lnTo>
                    <a:pt x="46" y="427"/>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75" name="Freeform 107"/>
            <p:cNvSpPr>
              <a:spLocks/>
            </p:cNvSpPr>
            <p:nvPr/>
          </p:nvSpPr>
          <p:spPr bwMode="auto">
            <a:xfrm>
              <a:off x="4706" y="2724"/>
              <a:ext cx="132" cy="87"/>
            </a:xfrm>
            <a:custGeom>
              <a:avLst/>
              <a:gdLst/>
              <a:ahLst/>
              <a:cxnLst>
                <a:cxn ang="0">
                  <a:pos x="4" y="174"/>
                </a:cxn>
                <a:cxn ang="0">
                  <a:pos x="4" y="174"/>
                </a:cxn>
                <a:cxn ang="0">
                  <a:pos x="38" y="162"/>
                </a:cxn>
                <a:cxn ang="0">
                  <a:pos x="65" y="146"/>
                </a:cxn>
                <a:cxn ang="0">
                  <a:pos x="88" y="126"/>
                </a:cxn>
                <a:cxn ang="0">
                  <a:pos x="107" y="103"/>
                </a:cxn>
                <a:cxn ang="0">
                  <a:pos x="120" y="77"/>
                </a:cxn>
                <a:cxn ang="0">
                  <a:pos x="128" y="51"/>
                </a:cxn>
                <a:cxn ang="0">
                  <a:pos x="130" y="25"/>
                </a:cxn>
                <a:cxn ang="0">
                  <a:pos x="128" y="0"/>
                </a:cxn>
                <a:cxn ang="0">
                  <a:pos x="109" y="0"/>
                </a:cxn>
                <a:cxn ang="0">
                  <a:pos x="111" y="25"/>
                </a:cxn>
                <a:cxn ang="0">
                  <a:pos x="109" y="51"/>
                </a:cxn>
                <a:cxn ang="0">
                  <a:pos x="101" y="74"/>
                </a:cxn>
                <a:cxn ang="0">
                  <a:pos x="88" y="97"/>
                </a:cxn>
                <a:cxn ang="0">
                  <a:pos x="73" y="121"/>
                </a:cxn>
                <a:cxn ang="0">
                  <a:pos x="53" y="138"/>
                </a:cxn>
                <a:cxn ang="0">
                  <a:pos x="27" y="152"/>
                </a:cxn>
                <a:cxn ang="0">
                  <a:pos x="0" y="161"/>
                </a:cxn>
                <a:cxn ang="0">
                  <a:pos x="0" y="161"/>
                </a:cxn>
                <a:cxn ang="0">
                  <a:pos x="4" y="174"/>
                </a:cxn>
              </a:cxnLst>
              <a:rect l="0" t="0" r="r" b="b"/>
              <a:pathLst>
                <a:path w="130" h="174">
                  <a:moveTo>
                    <a:pt x="4" y="174"/>
                  </a:moveTo>
                  <a:lnTo>
                    <a:pt x="4" y="174"/>
                  </a:lnTo>
                  <a:lnTo>
                    <a:pt x="38" y="162"/>
                  </a:lnTo>
                  <a:lnTo>
                    <a:pt x="65" y="146"/>
                  </a:lnTo>
                  <a:lnTo>
                    <a:pt x="88" y="126"/>
                  </a:lnTo>
                  <a:lnTo>
                    <a:pt x="107" y="103"/>
                  </a:lnTo>
                  <a:lnTo>
                    <a:pt x="120" y="77"/>
                  </a:lnTo>
                  <a:lnTo>
                    <a:pt x="128" y="51"/>
                  </a:lnTo>
                  <a:lnTo>
                    <a:pt x="130" y="25"/>
                  </a:lnTo>
                  <a:lnTo>
                    <a:pt x="128" y="0"/>
                  </a:lnTo>
                  <a:lnTo>
                    <a:pt x="109" y="0"/>
                  </a:lnTo>
                  <a:lnTo>
                    <a:pt x="111" y="25"/>
                  </a:lnTo>
                  <a:lnTo>
                    <a:pt x="109" y="51"/>
                  </a:lnTo>
                  <a:lnTo>
                    <a:pt x="101" y="74"/>
                  </a:lnTo>
                  <a:lnTo>
                    <a:pt x="88" y="97"/>
                  </a:lnTo>
                  <a:lnTo>
                    <a:pt x="73" y="121"/>
                  </a:lnTo>
                  <a:lnTo>
                    <a:pt x="53" y="138"/>
                  </a:lnTo>
                  <a:lnTo>
                    <a:pt x="27" y="152"/>
                  </a:lnTo>
                  <a:lnTo>
                    <a:pt x="0" y="161"/>
                  </a:lnTo>
                  <a:lnTo>
                    <a:pt x="0" y="161"/>
                  </a:lnTo>
                  <a:lnTo>
                    <a:pt x="4" y="174"/>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76" name="Freeform 108"/>
            <p:cNvSpPr>
              <a:spLocks/>
            </p:cNvSpPr>
            <p:nvPr/>
          </p:nvSpPr>
          <p:spPr bwMode="auto">
            <a:xfrm>
              <a:off x="4241" y="2805"/>
              <a:ext cx="469" cy="39"/>
            </a:xfrm>
            <a:custGeom>
              <a:avLst/>
              <a:gdLst/>
              <a:ahLst/>
              <a:cxnLst>
                <a:cxn ang="0">
                  <a:pos x="3" y="78"/>
                </a:cxn>
                <a:cxn ang="0">
                  <a:pos x="3" y="78"/>
                </a:cxn>
                <a:cxn ang="0">
                  <a:pos x="34" y="74"/>
                </a:cxn>
                <a:cxn ang="0">
                  <a:pos x="63" y="70"/>
                </a:cxn>
                <a:cxn ang="0">
                  <a:pos x="91" y="68"/>
                </a:cxn>
                <a:cxn ang="0">
                  <a:pos x="122" y="64"/>
                </a:cxn>
                <a:cxn ang="0">
                  <a:pos x="152" y="61"/>
                </a:cxn>
                <a:cxn ang="0">
                  <a:pos x="183" y="57"/>
                </a:cxn>
                <a:cxn ang="0">
                  <a:pos x="211" y="53"/>
                </a:cxn>
                <a:cxn ang="0">
                  <a:pos x="240" y="51"/>
                </a:cxn>
                <a:cxn ang="0">
                  <a:pos x="270" y="47"/>
                </a:cxn>
                <a:cxn ang="0">
                  <a:pos x="299" y="43"/>
                </a:cxn>
                <a:cxn ang="0">
                  <a:pos x="328" y="39"/>
                </a:cxn>
                <a:cxn ang="0">
                  <a:pos x="356" y="35"/>
                </a:cxn>
                <a:cxn ang="0">
                  <a:pos x="385" y="30"/>
                </a:cxn>
                <a:cxn ang="0">
                  <a:pos x="414" y="25"/>
                </a:cxn>
                <a:cxn ang="0">
                  <a:pos x="442" y="20"/>
                </a:cxn>
                <a:cxn ang="0">
                  <a:pos x="469" y="13"/>
                </a:cxn>
                <a:cxn ang="0">
                  <a:pos x="465" y="0"/>
                </a:cxn>
                <a:cxn ang="0">
                  <a:pos x="438" y="7"/>
                </a:cxn>
                <a:cxn ang="0">
                  <a:pos x="410" y="12"/>
                </a:cxn>
                <a:cxn ang="0">
                  <a:pos x="381" y="17"/>
                </a:cxn>
                <a:cxn ang="0">
                  <a:pos x="353" y="22"/>
                </a:cxn>
                <a:cxn ang="0">
                  <a:pos x="324" y="26"/>
                </a:cxn>
                <a:cxn ang="0">
                  <a:pos x="295" y="30"/>
                </a:cxn>
                <a:cxn ang="0">
                  <a:pos x="267" y="34"/>
                </a:cxn>
                <a:cxn ang="0">
                  <a:pos x="240" y="38"/>
                </a:cxn>
                <a:cxn ang="0">
                  <a:pos x="211" y="40"/>
                </a:cxn>
                <a:cxn ang="0">
                  <a:pos x="179" y="44"/>
                </a:cxn>
                <a:cxn ang="0">
                  <a:pos x="152" y="48"/>
                </a:cxn>
                <a:cxn ang="0">
                  <a:pos x="122" y="51"/>
                </a:cxn>
                <a:cxn ang="0">
                  <a:pos x="91" y="55"/>
                </a:cxn>
                <a:cxn ang="0">
                  <a:pos x="63" y="57"/>
                </a:cxn>
                <a:cxn ang="0">
                  <a:pos x="30" y="61"/>
                </a:cxn>
                <a:cxn ang="0">
                  <a:pos x="0" y="65"/>
                </a:cxn>
                <a:cxn ang="0">
                  <a:pos x="0" y="65"/>
                </a:cxn>
                <a:cxn ang="0">
                  <a:pos x="3" y="78"/>
                </a:cxn>
              </a:cxnLst>
              <a:rect l="0" t="0" r="r" b="b"/>
              <a:pathLst>
                <a:path w="469" h="78">
                  <a:moveTo>
                    <a:pt x="3" y="78"/>
                  </a:moveTo>
                  <a:lnTo>
                    <a:pt x="3" y="78"/>
                  </a:lnTo>
                  <a:lnTo>
                    <a:pt x="34" y="74"/>
                  </a:lnTo>
                  <a:lnTo>
                    <a:pt x="63" y="70"/>
                  </a:lnTo>
                  <a:lnTo>
                    <a:pt x="91" y="68"/>
                  </a:lnTo>
                  <a:lnTo>
                    <a:pt x="122" y="64"/>
                  </a:lnTo>
                  <a:lnTo>
                    <a:pt x="152" y="61"/>
                  </a:lnTo>
                  <a:lnTo>
                    <a:pt x="183" y="57"/>
                  </a:lnTo>
                  <a:lnTo>
                    <a:pt x="211" y="53"/>
                  </a:lnTo>
                  <a:lnTo>
                    <a:pt x="240" y="51"/>
                  </a:lnTo>
                  <a:lnTo>
                    <a:pt x="270" y="47"/>
                  </a:lnTo>
                  <a:lnTo>
                    <a:pt x="299" y="43"/>
                  </a:lnTo>
                  <a:lnTo>
                    <a:pt x="328" y="39"/>
                  </a:lnTo>
                  <a:lnTo>
                    <a:pt x="356" y="35"/>
                  </a:lnTo>
                  <a:lnTo>
                    <a:pt x="385" y="30"/>
                  </a:lnTo>
                  <a:lnTo>
                    <a:pt x="414" y="25"/>
                  </a:lnTo>
                  <a:lnTo>
                    <a:pt x="442" y="20"/>
                  </a:lnTo>
                  <a:lnTo>
                    <a:pt x="469" y="13"/>
                  </a:lnTo>
                  <a:lnTo>
                    <a:pt x="465" y="0"/>
                  </a:lnTo>
                  <a:lnTo>
                    <a:pt x="438" y="7"/>
                  </a:lnTo>
                  <a:lnTo>
                    <a:pt x="410" y="12"/>
                  </a:lnTo>
                  <a:lnTo>
                    <a:pt x="381" y="17"/>
                  </a:lnTo>
                  <a:lnTo>
                    <a:pt x="353" y="22"/>
                  </a:lnTo>
                  <a:lnTo>
                    <a:pt x="324" y="26"/>
                  </a:lnTo>
                  <a:lnTo>
                    <a:pt x="295" y="30"/>
                  </a:lnTo>
                  <a:lnTo>
                    <a:pt x="267" y="34"/>
                  </a:lnTo>
                  <a:lnTo>
                    <a:pt x="240" y="38"/>
                  </a:lnTo>
                  <a:lnTo>
                    <a:pt x="211" y="40"/>
                  </a:lnTo>
                  <a:lnTo>
                    <a:pt x="179" y="44"/>
                  </a:lnTo>
                  <a:lnTo>
                    <a:pt x="152" y="48"/>
                  </a:lnTo>
                  <a:lnTo>
                    <a:pt x="122" y="51"/>
                  </a:lnTo>
                  <a:lnTo>
                    <a:pt x="91" y="55"/>
                  </a:lnTo>
                  <a:lnTo>
                    <a:pt x="63" y="57"/>
                  </a:lnTo>
                  <a:lnTo>
                    <a:pt x="30" y="61"/>
                  </a:lnTo>
                  <a:lnTo>
                    <a:pt x="0" y="65"/>
                  </a:lnTo>
                  <a:lnTo>
                    <a:pt x="0" y="65"/>
                  </a:lnTo>
                  <a:lnTo>
                    <a:pt x="3" y="78"/>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77" name="Freeform 109"/>
            <p:cNvSpPr>
              <a:spLocks/>
            </p:cNvSpPr>
            <p:nvPr/>
          </p:nvSpPr>
          <p:spPr bwMode="auto">
            <a:xfrm>
              <a:off x="3609" y="2837"/>
              <a:ext cx="635" cy="35"/>
            </a:xfrm>
            <a:custGeom>
              <a:avLst/>
              <a:gdLst/>
              <a:ahLst/>
              <a:cxnLst>
                <a:cxn ang="0">
                  <a:pos x="0" y="70"/>
                </a:cxn>
                <a:cxn ang="0">
                  <a:pos x="0" y="70"/>
                </a:cxn>
                <a:cxn ang="0">
                  <a:pos x="40" y="70"/>
                </a:cxn>
                <a:cxn ang="0">
                  <a:pos x="80" y="69"/>
                </a:cxn>
                <a:cxn ang="0">
                  <a:pos x="120" y="66"/>
                </a:cxn>
                <a:cxn ang="0">
                  <a:pos x="158" y="65"/>
                </a:cxn>
                <a:cxn ang="0">
                  <a:pos x="198" y="62"/>
                </a:cxn>
                <a:cxn ang="0">
                  <a:pos x="239" y="59"/>
                </a:cxn>
                <a:cxn ang="0">
                  <a:pos x="277" y="55"/>
                </a:cxn>
                <a:cxn ang="0">
                  <a:pos x="317" y="51"/>
                </a:cxn>
                <a:cxn ang="0">
                  <a:pos x="357" y="47"/>
                </a:cxn>
                <a:cxn ang="0">
                  <a:pos x="395" y="43"/>
                </a:cxn>
                <a:cxn ang="0">
                  <a:pos x="435" y="38"/>
                </a:cxn>
                <a:cxn ang="0">
                  <a:pos x="475" y="34"/>
                </a:cxn>
                <a:cxn ang="0">
                  <a:pos x="515" y="29"/>
                </a:cxn>
                <a:cxn ang="0">
                  <a:pos x="555" y="23"/>
                </a:cxn>
                <a:cxn ang="0">
                  <a:pos x="595" y="18"/>
                </a:cxn>
                <a:cxn ang="0">
                  <a:pos x="635" y="13"/>
                </a:cxn>
                <a:cxn ang="0">
                  <a:pos x="632" y="0"/>
                </a:cxn>
                <a:cxn ang="0">
                  <a:pos x="591" y="5"/>
                </a:cxn>
                <a:cxn ang="0">
                  <a:pos x="551" y="10"/>
                </a:cxn>
                <a:cxn ang="0">
                  <a:pos x="511" y="16"/>
                </a:cxn>
                <a:cxn ang="0">
                  <a:pos x="475" y="21"/>
                </a:cxn>
                <a:cxn ang="0">
                  <a:pos x="435" y="25"/>
                </a:cxn>
                <a:cxn ang="0">
                  <a:pos x="395" y="30"/>
                </a:cxn>
                <a:cxn ang="0">
                  <a:pos x="357" y="34"/>
                </a:cxn>
                <a:cxn ang="0">
                  <a:pos x="317" y="38"/>
                </a:cxn>
                <a:cxn ang="0">
                  <a:pos x="277" y="42"/>
                </a:cxn>
                <a:cxn ang="0">
                  <a:pos x="239" y="46"/>
                </a:cxn>
                <a:cxn ang="0">
                  <a:pos x="198" y="49"/>
                </a:cxn>
                <a:cxn ang="0">
                  <a:pos x="158" y="52"/>
                </a:cxn>
                <a:cxn ang="0">
                  <a:pos x="120" y="53"/>
                </a:cxn>
                <a:cxn ang="0">
                  <a:pos x="80" y="56"/>
                </a:cxn>
                <a:cxn ang="0">
                  <a:pos x="40" y="57"/>
                </a:cxn>
                <a:cxn ang="0">
                  <a:pos x="0" y="57"/>
                </a:cxn>
                <a:cxn ang="0">
                  <a:pos x="0" y="57"/>
                </a:cxn>
                <a:cxn ang="0">
                  <a:pos x="0" y="70"/>
                </a:cxn>
              </a:cxnLst>
              <a:rect l="0" t="0" r="r" b="b"/>
              <a:pathLst>
                <a:path w="635" h="70">
                  <a:moveTo>
                    <a:pt x="0" y="70"/>
                  </a:moveTo>
                  <a:lnTo>
                    <a:pt x="0" y="70"/>
                  </a:lnTo>
                  <a:lnTo>
                    <a:pt x="40" y="70"/>
                  </a:lnTo>
                  <a:lnTo>
                    <a:pt x="80" y="69"/>
                  </a:lnTo>
                  <a:lnTo>
                    <a:pt x="120" y="66"/>
                  </a:lnTo>
                  <a:lnTo>
                    <a:pt x="158" y="65"/>
                  </a:lnTo>
                  <a:lnTo>
                    <a:pt x="198" y="62"/>
                  </a:lnTo>
                  <a:lnTo>
                    <a:pt x="239" y="59"/>
                  </a:lnTo>
                  <a:lnTo>
                    <a:pt x="277" y="55"/>
                  </a:lnTo>
                  <a:lnTo>
                    <a:pt x="317" y="51"/>
                  </a:lnTo>
                  <a:lnTo>
                    <a:pt x="357" y="47"/>
                  </a:lnTo>
                  <a:lnTo>
                    <a:pt x="395" y="43"/>
                  </a:lnTo>
                  <a:lnTo>
                    <a:pt x="435" y="38"/>
                  </a:lnTo>
                  <a:lnTo>
                    <a:pt x="475" y="34"/>
                  </a:lnTo>
                  <a:lnTo>
                    <a:pt x="515" y="29"/>
                  </a:lnTo>
                  <a:lnTo>
                    <a:pt x="555" y="23"/>
                  </a:lnTo>
                  <a:lnTo>
                    <a:pt x="595" y="18"/>
                  </a:lnTo>
                  <a:lnTo>
                    <a:pt x="635" y="13"/>
                  </a:lnTo>
                  <a:lnTo>
                    <a:pt x="632" y="0"/>
                  </a:lnTo>
                  <a:lnTo>
                    <a:pt x="591" y="5"/>
                  </a:lnTo>
                  <a:lnTo>
                    <a:pt x="551" y="10"/>
                  </a:lnTo>
                  <a:lnTo>
                    <a:pt x="511" y="16"/>
                  </a:lnTo>
                  <a:lnTo>
                    <a:pt x="475" y="21"/>
                  </a:lnTo>
                  <a:lnTo>
                    <a:pt x="435" y="25"/>
                  </a:lnTo>
                  <a:lnTo>
                    <a:pt x="395" y="30"/>
                  </a:lnTo>
                  <a:lnTo>
                    <a:pt x="357" y="34"/>
                  </a:lnTo>
                  <a:lnTo>
                    <a:pt x="317" y="38"/>
                  </a:lnTo>
                  <a:lnTo>
                    <a:pt x="277" y="42"/>
                  </a:lnTo>
                  <a:lnTo>
                    <a:pt x="239" y="46"/>
                  </a:lnTo>
                  <a:lnTo>
                    <a:pt x="198" y="49"/>
                  </a:lnTo>
                  <a:lnTo>
                    <a:pt x="158" y="52"/>
                  </a:lnTo>
                  <a:lnTo>
                    <a:pt x="120" y="53"/>
                  </a:lnTo>
                  <a:lnTo>
                    <a:pt x="80" y="56"/>
                  </a:lnTo>
                  <a:lnTo>
                    <a:pt x="40" y="57"/>
                  </a:lnTo>
                  <a:lnTo>
                    <a:pt x="0" y="57"/>
                  </a:lnTo>
                  <a:lnTo>
                    <a:pt x="0" y="57"/>
                  </a:lnTo>
                  <a:lnTo>
                    <a:pt x="0" y="70"/>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78" name="Freeform 110"/>
            <p:cNvSpPr>
              <a:spLocks/>
            </p:cNvSpPr>
            <p:nvPr/>
          </p:nvSpPr>
          <p:spPr bwMode="auto">
            <a:xfrm>
              <a:off x="3014" y="2854"/>
              <a:ext cx="595" cy="24"/>
            </a:xfrm>
            <a:custGeom>
              <a:avLst/>
              <a:gdLst/>
              <a:ahLst/>
              <a:cxnLst>
                <a:cxn ang="0">
                  <a:pos x="0" y="10"/>
                </a:cxn>
                <a:cxn ang="0">
                  <a:pos x="0" y="10"/>
                </a:cxn>
                <a:cxn ang="0">
                  <a:pos x="34" y="22"/>
                </a:cxn>
                <a:cxn ang="0">
                  <a:pos x="70" y="31"/>
                </a:cxn>
                <a:cxn ang="0">
                  <a:pos x="107" y="38"/>
                </a:cxn>
                <a:cxn ang="0">
                  <a:pos x="145" y="41"/>
                </a:cxn>
                <a:cxn ang="0">
                  <a:pos x="181" y="45"/>
                </a:cxn>
                <a:cxn ang="0">
                  <a:pos x="217" y="48"/>
                </a:cxn>
                <a:cxn ang="0">
                  <a:pos x="255" y="48"/>
                </a:cxn>
                <a:cxn ang="0">
                  <a:pos x="294" y="48"/>
                </a:cxn>
                <a:cxn ang="0">
                  <a:pos x="330" y="48"/>
                </a:cxn>
                <a:cxn ang="0">
                  <a:pos x="368" y="47"/>
                </a:cxn>
                <a:cxn ang="0">
                  <a:pos x="406" y="44"/>
                </a:cxn>
                <a:cxn ang="0">
                  <a:pos x="444" y="43"/>
                </a:cxn>
                <a:cxn ang="0">
                  <a:pos x="483" y="40"/>
                </a:cxn>
                <a:cxn ang="0">
                  <a:pos x="521" y="39"/>
                </a:cxn>
                <a:cxn ang="0">
                  <a:pos x="557" y="38"/>
                </a:cxn>
                <a:cxn ang="0">
                  <a:pos x="595" y="36"/>
                </a:cxn>
                <a:cxn ang="0">
                  <a:pos x="595" y="23"/>
                </a:cxn>
                <a:cxn ang="0">
                  <a:pos x="557" y="25"/>
                </a:cxn>
                <a:cxn ang="0">
                  <a:pos x="521" y="26"/>
                </a:cxn>
                <a:cxn ang="0">
                  <a:pos x="483" y="27"/>
                </a:cxn>
                <a:cxn ang="0">
                  <a:pos x="444" y="30"/>
                </a:cxn>
                <a:cxn ang="0">
                  <a:pos x="406" y="31"/>
                </a:cxn>
                <a:cxn ang="0">
                  <a:pos x="368" y="34"/>
                </a:cxn>
                <a:cxn ang="0">
                  <a:pos x="330" y="35"/>
                </a:cxn>
                <a:cxn ang="0">
                  <a:pos x="294" y="35"/>
                </a:cxn>
                <a:cxn ang="0">
                  <a:pos x="255" y="35"/>
                </a:cxn>
                <a:cxn ang="0">
                  <a:pos x="217" y="35"/>
                </a:cxn>
                <a:cxn ang="0">
                  <a:pos x="181" y="32"/>
                </a:cxn>
                <a:cxn ang="0">
                  <a:pos x="145" y="28"/>
                </a:cxn>
                <a:cxn ang="0">
                  <a:pos x="111" y="25"/>
                </a:cxn>
                <a:cxn ang="0">
                  <a:pos x="74" y="18"/>
                </a:cxn>
                <a:cxn ang="0">
                  <a:pos x="42" y="9"/>
                </a:cxn>
                <a:cxn ang="0">
                  <a:pos x="7" y="0"/>
                </a:cxn>
                <a:cxn ang="0">
                  <a:pos x="7" y="0"/>
                </a:cxn>
                <a:cxn ang="0">
                  <a:pos x="0" y="10"/>
                </a:cxn>
              </a:cxnLst>
              <a:rect l="0" t="0" r="r" b="b"/>
              <a:pathLst>
                <a:path w="595" h="48">
                  <a:moveTo>
                    <a:pt x="0" y="10"/>
                  </a:moveTo>
                  <a:lnTo>
                    <a:pt x="0" y="10"/>
                  </a:lnTo>
                  <a:lnTo>
                    <a:pt x="34" y="22"/>
                  </a:lnTo>
                  <a:lnTo>
                    <a:pt x="70" y="31"/>
                  </a:lnTo>
                  <a:lnTo>
                    <a:pt x="107" y="38"/>
                  </a:lnTo>
                  <a:lnTo>
                    <a:pt x="145" y="41"/>
                  </a:lnTo>
                  <a:lnTo>
                    <a:pt x="181" y="45"/>
                  </a:lnTo>
                  <a:lnTo>
                    <a:pt x="217" y="48"/>
                  </a:lnTo>
                  <a:lnTo>
                    <a:pt x="255" y="48"/>
                  </a:lnTo>
                  <a:lnTo>
                    <a:pt x="294" y="48"/>
                  </a:lnTo>
                  <a:lnTo>
                    <a:pt x="330" y="48"/>
                  </a:lnTo>
                  <a:lnTo>
                    <a:pt x="368" y="47"/>
                  </a:lnTo>
                  <a:lnTo>
                    <a:pt x="406" y="44"/>
                  </a:lnTo>
                  <a:lnTo>
                    <a:pt x="444" y="43"/>
                  </a:lnTo>
                  <a:lnTo>
                    <a:pt x="483" y="40"/>
                  </a:lnTo>
                  <a:lnTo>
                    <a:pt x="521" y="39"/>
                  </a:lnTo>
                  <a:lnTo>
                    <a:pt x="557" y="38"/>
                  </a:lnTo>
                  <a:lnTo>
                    <a:pt x="595" y="36"/>
                  </a:lnTo>
                  <a:lnTo>
                    <a:pt x="595" y="23"/>
                  </a:lnTo>
                  <a:lnTo>
                    <a:pt x="557" y="25"/>
                  </a:lnTo>
                  <a:lnTo>
                    <a:pt x="521" y="26"/>
                  </a:lnTo>
                  <a:lnTo>
                    <a:pt x="483" y="27"/>
                  </a:lnTo>
                  <a:lnTo>
                    <a:pt x="444" y="30"/>
                  </a:lnTo>
                  <a:lnTo>
                    <a:pt x="406" y="31"/>
                  </a:lnTo>
                  <a:lnTo>
                    <a:pt x="368" y="34"/>
                  </a:lnTo>
                  <a:lnTo>
                    <a:pt x="330" y="35"/>
                  </a:lnTo>
                  <a:lnTo>
                    <a:pt x="294" y="35"/>
                  </a:lnTo>
                  <a:lnTo>
                    <a:pt x="255" y="35"/>
                  </a:lnTo>
                  <a:lnTo>
                    <a:pt x="217" y="35"/>
                  </a:lnTo>
                  <a:lnTo>
                    <a:pt x="181" y="32"/>
                  </a:lnTo>
                  <a:lnTo>
                    <a:pt x="145" y="28"/>
                  </a:lnTo>
                  <a:lnTo>
                    <a:pt x="111" y="25"/>
                  </a:lnTo>
                  <a:lnTo>
                    <a:pt x="74" y="18"/>
                  </a:lnTo>
                  <a:lnTo>
                    <a:pt x="42" y="9"/>
                  </a:lnTo>
                  <a:lnTo>
                    <a:pt x="7" y="0"/>
                  </a:lnTo>
                  <a:lnTo>
                    <a:pt x="7" y="0"/>
                  </a:lnTo>
                  <a:lnTo>
                    <a:pt x="0" y="10"/>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79" name="Freeform 111"/>
            <p:cNvSpPr>
              <a:spLocks/>
            </p:cNvSpPr>
            <p:nvPr/>
          </p:nvSpPr>
          <p:spPr bwMode="auto">
            <a:xfrm>
              <a:off x="2949" y="2754"/>
              <a:ext cx="88" cy="105"/>
            </a:xfrm>
            <a:custGeom>
              <a:avLst/>
              <a:gdLst/>
              <a:ahLst/>
              <a:cxnLst>
                <a:cxn ang="0">
                  <a:pos x="80" y="0"/>
                </a:cxn>
                <a:cxn ang="0">
                  <a:pos x="80" y="0"/>
                </a:cxn>
                <a:cxn ang="0">
                  <a:pos x="46" y="18"/>
                </a:cxn>
                <a:cxn ang="0">
                  <a:pos x="23" y="44"/>
                </a:cxn>
                <a:cxn ang="0">
                  <a:pos x="6" y="74"/>
                </a:cxn>
                <a:cxn ang="0">
                  <a:pos x="0" y="106"/>
                </a:cxn>
                <a:cxn ang="0">
                  <a:pos x="0" y="138"/>
                </a:cxn>
                <a:cxn ang="0">
                  <a:pos x="11" y="167"/>
                </a:cxn>
                <a:cxn ang="0">
                  <a:pos x="32" y="193"/>
                </a:cxn>
                <a:cxn ang="0">
                  <a:pos x="65" y="210"/>
                </a:cxn>
                <a:cxn ang="0">
                  <a:pos x="72" y="200"/>
                </a:cxn>
                <a:cxn ang="0">
                  <a:pos x="48" y="186"/>
                </a:cxn>
                <a:cxn ang="0">
                  <a:pos x="31" y="162"/>
                </a:cxn>
                <a:cxn ang="0">
                  <a:pos x="19" y="138"/>
                </a:cxn>
                <a:cxn ang="0">
                  <a:pos x="19" y="106"/>
                </a:cxn>
                <a:cxn ang="0">
                  <a:pos x="25" y="76"/>
                </a:cxn>
                <a:cxn ang="0">
                  <a:pos x="38" y="49"/>
                </a:cxn>
                <a:cxn ang="0">
                  <a:pos x="61" y="26"/>
                </a:cxn>
                <a:cxn ang="0">
                  <a:pos x="88" y="10"/>
                </a:cxn>
                <a:cxn ang="0">
                  <a:pos x="88" y="10"/>
                </a:cxn>
                <a:cxn ang="0">
                  <a:pos x="80" y="0"/>
                </a:cxn>
              </a:cxnLst>
              <a:rect l="0" t="0" r="r" b="b"/>
              <a:pathLst>
                <a:path w="88" h="210">
                  <a:moveTo>
                    <a:pt x="80" y="0"/>
                  </a:moveTo>
                  <a:lnTo>
                    <a:pt x="80" y="0"/>
                  </a:lnTo>
                  <a:lnTo>
                    <a:pt x="46" y="18"/>
                  </a:lnTo>
                  <a:lnTo>
                    <a:pt x="23" y="44"/>
                  </a:lnTo>
                  <a:lnTo>
                    <a:pt x="6" y="74"/>
                  </a:lnTo>
                  <a:lnTo>
                    <a:pt x="0" y="106"/>
                  </a:lnTo>
                  <a:lnTo>
                    <a:pt x="0" y="138"/>
                  </a:lnTo>
                  <a:lnTo>
                    <a:pt x="11" y="167"/>
                  </a:lnTo>
                  <a:lnTo>
                    <a:pt x="32" y="193"/>
                  </a:lnTo>
                  <a:lnTo>
                    <a:pt x="65" y="210"/>
                  </a:lnTo>
                  <a:lnTo>
                    <a:pt x="72" y="200"/>
                  </a:lnTo>
                  <a:lnTo>
                    <a:pt x="48" y="186"/>
                  </a:lnTo>
                  <a:lnTo>
                    <a:pt x="31" y="162"/>
                  </a:lnTo>
                  <a:lnTo>
                    <a:pt x="19" y="138"/>
                  </a:lnTo>
                  <a:lnTo>
                    <a:pt x="19" y="106"/>
                  </a:lnTo>
                  <a:lnTo>
                    <a:pt x="25" y="76"/>
                  </a:lnTo>
                  <a:lnTo>
                    <a:pt x="38" y="49"/>
                  </a:lnTo>
                  <a:lnTo>
                    <a:pt x="61" y="26"/>
                  </a:lnTo>
                  <a:lnTo>
                    <a:pt x="88" y="10"/>
                  </a:lnTo>
                  <a:lnTo>
                    <a:pt x="88" y="10"/>
                  </a:lnTo>
                  <a:lnTo>
                    <a:pt x="80" y="0"/>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80" name="Freeform 112"/>
            <p:cNvSpPr>
              <a:spLocks/>
            </p:cNvSpPr>
            <p:nvPr/>
          </p:nvSpPr>
          <p:spPr bwMode="auto">
            <a:xfrm>
              <a:off x="3029" y="2749"/>
              <a:ext cx="304" cy="19"/>
            </a:xfrm>
            <a:custGeom>
              <a:avLst/>
              <a:gdLst/>
              <a:ahLst/>
              <a:cxnLst>
                <a:cxn ang="0">
                  <a:pos x="286" y="26"/>
                </a:cxn>
                <a:cxn ang="0">
                  <a:pos x="294" y="23"/>
                </a:cxn>
                <a:cxn ang="0">
                  <a:pos x="256" y="24"/>
                </a:cxn>
                <a:cxn ang="0">
                  <a:pos x="216" y="20"/>
                </a:cxn>
                <a:cxn ang="0">
                  <a:pos x="178" y="15"/>
                </a:cxn>
                <a:cxn ang="0">
                  <a:pos x="139" y="9"/>
                </a:cxn>
                <a:cxn ang="0">
                  <a:pos x="103" y="2"/>
                </a:cxn>
                <a:cxn ang="0">
                  <a:pos x="67" y="0"/>
                </a:cxn>
                <a:cxn ang="0">
                  <a:pos x="34" y="1"/>
                </a:cxn>
                <a:cxn ang="0">
                  <a:pos x="0" y="9"/>
                </a:cxn>
                <a:cxn ang="0">
                  <a:pos x="8" y="19"/>
                </a:cxn>
                <a:cxn ang="0">
                  <a:pos x="34" y="14"/>
                </a:cxn>
                <a:cxn ang="0">
                  <a:pos x="67" y="13"/>
                </a:cxn>
                <a:cxn ang="0">
                  <a:pos x="99" y="15"/>
                </a:cxn>
                <a:cxn ang="0">
                  <a:pos x="136" y="22"/>
                </a:cxn>
                <a:cxn ang="0">
                  <a:pos x="174" y="28"/>
                </a:cxn>
                <a:cxn ang="0">
                  <a:pos x="216" y="33"/>
                </a:cxn>
                <a:cxn ang="0">
                  <a:pos x="256" y="37"/>
                </a:cxn>
                <a:cxn ang="0">
                  <a:pos x="294" y="36"/>
                </a:cxn>
                <a:cxn ang="0">
                  <a:pos x="302" y="33"/>
                </a:cxn>
                <a:cxn ang="0">
                  <a:pos x="294" y="36"/>
                </a:cxn>
                <a:cxn ang="0">
                  <a:pos x="300" y="36"/>
                </a:cxn>
                <a:cxn ang="0">
                  <a:pos x="302" y="33"/>
                </a:cxn>
                <a:cxn ang="0">
                  <a:pos x="286" y="26"/>
                </a:cxn>
              </a:cxnLst>
              <a:rect l="0" t="0" r="r" b="b"/>
              <a:pathLst>
                <a:path w="302" h="37">
                  <a:moveTo>
                    <a:pt x="286" y="26"/>
                  </a:moveTo>
                  <a:lnTo>
                    <a:pt x="294" y="23"/>
                  </a:lnTo>
                  <a:lnTo>
                    <a:pt x="256" y="24"/>
                  </a:lnTo>
                  <a:lnTo>
                    <a:pt x="216" y="20"/>
                  </a:lnTo>
                  <a:lnTo>
                    <a:pt x="178" y="15"/>
                  </a:lnTo>
                  <a:lnTo>
                    <a:pt x="139" y="9"/>
                  </a:lnTo>
                  <a:lnTo>
                    <a:pt x="103" y="2"/>
                  </a:lnTo>
                  <a:lnTo>
                    <a:pt x="67" y="0"/>
                  </a:lnTo>
                  <a:lnTo>
                    <a:pt x="34" y="1"/>
                  </a:lnTo>
                  <a:lnTo>
                    <a:pt x="0" y="9"/>
                  </a:lnTo>
                  <a:lnTo>
                    <a:pt x="8" y="19"/>
                  </a:lnTo>
                  <a:lnTo>
                    <a:pt x="34" y="14"/>
                  </a:lnTo>
                  <a:lnTo>
                    <a:pt x="67" y="13"/>
                  </a:lnTo>
                  <a:lnTo>
                    <a:pt x="99" y="15"/>
                  </a:lnTo>
                  <a:lnTo>
                    <a:pt x="136" y="22"/>
                  </a:lnTo>
                  <a:lnTo>
                    <a:pt x="174" y="28"/>
                  </a:lnTo>
                  <a:lnTo>
                    <a:pt x="216" y="33"/>
                  </a:lnTo>
                  <a:lnTo>
                    <a:pt x="256" y="37"/>
                  </a:lnTo>
                  <a:lnTo>
                    <a:pt x="294" y="36"/>
                  </a:lnTo>
                  <a:lnTo>
                    <a:pt x="302" y="33"/>
                  </a:lnTo>
                  <a:lnTo>
                    <a:pt x="294" y="36"/>
                  </a:lnTo>
                  <a:lnTo>
                    <a:pt x="300" y="36"/>
                  </a:lnTo>
                  <a:lnTo>
                    <a:pt x="302" y="33"/>
                  </a:lnTo>
                  <a:lnTo>
                    <a:pt x="286" y="26"/>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81" name="Freeform 113"/>
            <p:cNvSpPr>
              <a:spLocks/>
            </p:cNvSpPr>
            <p:nvPr/>
          </p:nvSpPr>
          <p:spPr bwMode="auto">
            <a:xfrm>
              <a:off x="3315" y="2402"/>
              <a:ext cx="138" cy="364"/>
            </a:xfrm>
            <a:custGeom>
              <a:avLst/>
              <a:gdLst/>
              <a:ahLst/>
              <a:cxnLst>
                <a:cxn ang="0">
                  <a:pos x="42" y="0"/>
                </a:cxn>
                <a:cxn ang="0">
                  <a:pos x="42" y="0"/>
                </a:cxn>
                <a:cxn ang="0">
                  <a:pos x="58" y="91"/>
                </a:cxn>
                <a:cxn ang="0">
                  <a:pos x="79" y="183"/>
                </a:cxn>
                <a:cxn ang="0">
                  <a:pos x="99" y="276"/>
                </a:cxn>
                <a:cxn ang="0">
                  <a:pos x="115" y="371"/>
                </a:cxn>
                <a:cxn ang="0">
                  <a:pos x="119" y="463"/>
                </a:cxn>
                <a:cxn ang="0">
                  <a:pos x="105" y="553"/>
                </a:cxn>
                <a:cxn ang="0">
                  <a:pos x="67" y="639"/>
                </a:cxn>
                <a:cxn ang="0">
                  <a:pos x="0" y="721"/>
                </a:cxn>
                <a:cxn ang="0">
                  <a:pos x="16" y="728"/>
                </a:cxn>
                <a:cxn ang="0">
                  <a:pos x="86" y="644"/>
                </a:cxn>
                <a:cxn ang="0">
                  <a:pos x="124" y="556"/>
                </a:cxn>
                <a:cxn ang="0">
                  <a:pos x="138" y="463"/>
                </a:cxn>
                <a:cxn ang="0">
                  <a:pos x="134" y="371"/>
                </a:cxn>
                <a:cxn ang="0">
                  <a:pos x="119" y="276"/>
                </a:cxn>
                <a:cxn ang="0">
                  <a:pos x="98" y="183"/>
                </a:cxn>
                <a:cxn ang="0">
                  <a:pos x="77" y="91"/>
                </a:cxn>
                <a:cxn ang="0">
                  <a:pos x="61" y="0"/>
                </a:cxn>
                <a:cxn ang="0">
                  <a:pos x="61" y="0"/>
                </a:cxn>
                <a:cxn ang="0">
                  <a:pos x="42" y="0"/>
                </a:cxn>
              </a:cxnLst>
              <a:rect l="0" t="0" r="r" b="b"/>
              <a:pathLst>
                <a:path w="138" h="728">
                  <a:moveTo>
                    <a:pt x="42" y="0"/>
                  </a:moveTo>
                  <a:lnTo>
                    <a:pt x="42" y="0"/>
                  </a:lnTo>
                  <a:lnTo>
                    <a:pt x="58" y="91"/>
                  </a:lnTo>
                  <a:lnTo>
                    <a:pt x="79" y="183"/>
                  </a:lnTo>
                  <a:lnTo>
                    <a:pt x="99" y="276"/>
                  </a:lnTo>
                  <a:lnTo>
                    <a:pt x="115" y="371"/>
                  </a:lnTo>
                  <a:lnTo>
                    <a:pt x="119" y="463"/>
                  </a:lnTo>
                  <a:lnTo>
                    <a:pt x="105" y="553"/>
                  </a:lnTo>
                  <a:lnTo>
                    <a:pt x="67" y="639"/>
                  </a:lnTo>
                  <a:lnTo>
                    <a:pt x="0" y="721"/>
                  </a:lnTo>
                  <a:lnTo>
                    <a:pt x="16" y="728"/>
                  </a:lnTo>
                  <a:lnTo>
                    <a:pt x="86" y="644"/>
                  </a:lnTo>
                  <a:lnTo>
                    <a:pt x="124" y="556"/>
                  </a:lnTo>
                  <a:lnTo>
                    <a:pt x="138" y="463"/>
                  </a:lnTo>
                  <a:lnTo>
                    <a:pt x="134" y="371"/>
                  </a:lnTo>
                  <a:lnTo>
                    <a:pt x="119" y="276"/>
                  </a:lnTo>
                  <a:lnTo>
                    <a:pt x="98" y="183"/>
                  </a:lnTo>
                  <a:lnTo>
                    <a:pt x="77" y="91"/>
                  </a:lnTo>
                  <a:lnTo>
                    <a:pt x="61" y="0"/>
                  </a:lnTo>
                  <a:lnTo>
                    <a:pt x="61" y="0"/>
                  </a:lnTo>
                  <a:lnTo>
                    <a:pt x="42" y="0"/>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82" name="Freeform 114"/>
            <p:cNvSpPr>
              <a:spLocks/>
            </p:cNvSpPr>
            <p:nvPr/>
          </p:nvSpPr>
          <p:spPr bwMode="auto">
            <a:xfrm>
              <a:off x="3353" y="2251"/>
              <a:ext cx="46" cy="151"/>
            </a:xfrm>
            <a:custGeom>
              <a:avLst/>
              <a:gdLst/>
              <a:ahLst/>
              <a:cxnLst>
                <a:cxn ang="0">
                  <a:pos x="27" y="0"/>
                </a:cxn>
                <a:cxn ang="0">
                  <a:pos x="27" y="0"/>
                </a:cxn>
                <a:cxn ang="0">
                  <a:pos x="12" y="77"/>
                </a:cxn>
                <a:cxn ang="0">
                  <a:pos x="2" y="151"/>
                </a:cxn>
                <a:cxn ang="0">
                  <a:pos x="0" y="226"/>
                </a:cxn>
                <a:cxn ang="0">
                  <a:pos x="4" y="302"/>
                </a:cxn>
                <a:cxn ang="0">
                  <a:pos x="23" y="302"/>
                </a:cxn>
                <a:cxn ang="0">
                  <a:pos x="20" y="226"/>
                </a:cxn>
                <a:cxn ang="0">
                  <a:pos x="21" y="151"/>
                </a:cxn>
                <a:cxn ang="0">
                  <a:pos x="31" y="77"/>
                </a:cxn>
                <a:cxn ang="0">
                  <a:pos x="46" y="0"/>
                </a:cxn>
                <a:cxn ang="0">
                  <a:pos x="46" y="0"/>
                </a:cxn>
                <a:cxn ang="0">
                  <a:pos x="27" y="0"/>
                </a:cxn>
              </a:cxnLst>
              <a:rect l="0" t="0" r="r" b="b"/>
              <a:pathLst>
                <a:path w="46" h="302">
                  <a:moveTo>
                    <a:pt x="27" y="0"/>
                  </a:moveTo>
                  <a:lnTo>
                    <a:pt x="27" y="0"/>
                  </a:lnTo>
                  <a:lnTo>
                    <a:pt x="12" y="77"/>
                  </a:lnTo>
                  <a:lnTo>
                    <a:pt x="2" y="151"/>
                  </a:lnTo>
                  <a:lnTo>
                    <a:pt x="0" y="226"/>
                  </a:lnTo>
                  <a:lnTo>
                    <a:pt x="4" y="302"/>
                  </a:lnTo>
                  <a:lnTo>
                    <a:pt x="23" y="302"/>
                  </a:lnTo>
                  <a:lnTo>
                    <a:pt x="20" y="226"/>
                  </a:lnTo>
                  <a:lnTo>
                    <a:pt x="21" y="151"/>
                  </a:lnTo>
                  <a:lnTo>
                    <a:pt x="31" y="77"/>
                  </a:lnTo>
                  <a:lnTo>
                    <a:pt x="46" y="0"/>
                  </a:lnTo>
                  <a:lnTo>
                    <a:pt x="46" y="0"/>
                  </a:lnTo>
                  <a:lnTo>
                    <a:pt x="27" y="0"/>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83" name="Freeform 115"/>
            <p:cNvSpPr>
              <a:spLocks/>
            </p:cNvSpPr>
            <p:nvPr/>
          </p:nvSpPr>
          <p:spPr bwMode="auto">
            <a:xfrm>
              <a:off x="3380" y="2139"/>
              <a:ext cx="187" cy="112"/>
            </a:xfrm>
            <a:custGeom>
              <a:avLst/>
              <a:gdLst/>
              <a:ahLst/>
              <a:cxnLst>
                <a:cxn ang="0">
                  <a:pos x="172" y="0"/>
                </a:cxn>
                <a:cxn ang="0">
                  <a:pos x="172" y="0"/>
                </a:cxn>
                <a:cxn ang="0">
                  <a:pos x="141" y="24"/>
                </a:cxn>
                <a:cxn ang="0">
                  <a:pos x="113" y="49"/>
                </a:cxn>
                <a:cxn ang="0">
                  <a:pos x="86" y="74"/>
                </a:cxn>
                <a:cxn ang="0">
                  <a:pos x="61" y="102"/>
                </a:cxn>
                <a:cxn ang="0">
                  <a:pos x="40" y="130"/>
                </a:cxn>
                <a:cxn ang="0">
                  <a:pos x="23" y="160"/>
                </a:cxn>
                <a:cxn ang="0">
                  <a:pos x="10" y="191"/>
                </a:cxn>
                <a:cxn ang="0">
                  <a:pos x="0" y="223"/>
                </a:cxn>
                <a:cxn ang="0">
                  <a:pos x="19" y="223"/>
                </a:cxn>
                <a:cxn ang="0">
                  <a:pos x="29" y="193"/>
                </a:cxn>
                <a:cxn ang="0">
                  <a:pos x="42" y="162"/>
                </a:cxn>
                <a:cxn ang="0">
                  <a:pos x="59" y="135"/>
                </a:cxn>
                <a:cxn ang="0">
                  <a:pos x="76" y="108"/>
                </a:cxn>
                <a:cxn ang="0">
                  <a:pos x="101" y="82"/>
                </a:cxn>
                <a:cxn ang="0">
                  <a:pos x="128" y="57"/>
                </a:cxn>
                <a:cxn ang="0">
                  <a:pos x="157" y="32"/>
                </a:cxn>
                <a:cxn ang="0">
                  <a:pos x="187" y="8"/>
                </a:cxn>
                <a:cxn ang="0">
                  <a:pos x="187" y="8"/>
                </a:cxn>
                <a:cxn ang="0">
                  <a:pos x="172" y="0"/>
                </a:cxn>
              </a:cxnLst>
              <a:rect l="0" t="0" r="r" b="b"/>
              <a:pathLst>
                <a:path w="187" h="223">
                  <a:moveTo>
                    <a:pt x="172" y="0"/>
                  </a:moveTo>
                  <a:lnTo>
                    <a:pt x="172" y="0"/>
                  </a:lnTo>
                  <a:lnTo>
                    <a:pt x="141" y="24"/>
                  </a:lnTo>
                  <a:lnTo>
                    <a:pt x="113" y="49"/>
                  </a:lnTo>
                  <a:lnTo>
                    <a:pt x="86" y="74"/>
                  </a:lnTo>
                  <a:lnTo>
                    <a:pt x="61" y="102"/>
                  </a:lnTo>
                  <a:lnTo>
                    <a:pt x="40" y="130"/>
                  </a:lnTo>
                  <a:lnTo>
                    <a:pt x="23" y="160"/>
                  </a:lnTo>
                  <a:lnTo>
                    <a:pt x="10" y="191"/>
                  </a:lnTo>
                  <a:lnTo>
                    <a:pt x="0" y="223"/>
                  </a:lnTo>
                  <a:lnTo>
                    <a:pt x="19" y="223"/>
                  </a:lnTo>
                  <a:lnTo>
                    <a:pt x="29" y="193"/>
                  </a:lnTo>
                  <a:lnTo>
                    <a:pt x="42" y="162"/>
                  </a:lnTo>
                  <a:lnTo>
                    <a:pt x="59" y="135"/>
                  </a:lnTo>
                  <a:lnTo>
                    <a:pt x="76" y="108"/>
                  </a:lnTo>
                  <a:lnTo>
                    <a:pt x="101" y="82"/>
                  </a:lnTo>
                  <a:lnTo>
                    <a:pt x="128" y="57"/>
                  </a:lnTo>
                  <a:lnTo>
                    <a:pt x="157" y="32"/>
                  </a:lnTo>
                  <a:lnTo>
                    <a:pt x="187" y="8"/>
                  </a:lnTo>
                  <a:lnTo>
                    <a:pt x="187" y="8"/>
                  </a:lnTo>
                  <a:lnTo>
                    <a:pt x="172" y="0"/>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84" name="Freeform 116"/>
            <p:cNvSpPr>
              <a:spLocks/>
            </p:cNvSpPr>
            <p:nvPr/>
          </p:nvSpPr>
          <p:spPr bwMode="auto">
            <a:xfrm>
              <a:off x="3552" y="2135"/>
              <a:ext cx="59" cy="8"/>
            </a:xfrm>
            <a:custGeom>
              <a:avLst/>
              <a:gdLst/>
              <a:ahLst/>
              <a:cxnLst>
                <a:cxn ang="0">
                  <a:pos x="59" y="1"/>
                </a:cxn>
                <a:cxn ang="0">
                  <a:pos x="59" y="1"/>
                </a:cxn>
                <a:cxn ang="0">
                  <a:pos x="46" y="1"/>
                </a:cxn>
                <a:cxn ang="0">
                  <a:pos x="32" y="0"/>
                </a:cxn>
                <a:cxn ang="0">
                  <a:pos x="17" y="1"/>
                </a:cxn>
                <a:cxn ang="0">
                  <a:pos x="0" y="8"/>
                </a:cxn>
                <a:cxn ang="0">
                  <a:pos x="15" y="16"/>
                </a:cxn>
                <a:cxn ang="0">
                  <a:pos x="21" y="14"/>
                </a:cxn>
                <a:cxn ang="0">
                  <a:pos x="32" y="13"/>
                </a:cxn>
                <a:cxn ang="0">
                  <a:pos x="46" y="14"/>
                </a:cxn>
                <a:cxn ang="0">
                  <a:pos x="59" y="14"/>
                </a:cxn>
                <a:cxn ang="0">
                  <a:pos x="59" y="14"/>
                </a:cxn>
                <a:cxn ang="0">
                  <a:pos x="59" y="1"/>
                </a:cxn>
              </a:cxnLst>
              <a:rect l="0" t="0" r="r" b="b"/>
              <a:pathLst>
                <a:path w="59" h="16">
                  <a:moveTo>
                    <a:pt x="59" y="1"/>
                  </a:moveTo>
                  <a:lnTo>
                    <a:pt x="59" y="1"/>
                  </a:lnTo>
                  <a:lnTo>
                    <a:pt x="46" y="1"/>
                  </a:lnTo>
                  <a:lnTo>
                    <a:pt x="32" y="0"/>
                  </a:lnTo>
                  <a:lnTo>
                    <a:pt x="17" y="1"/>
                  </a:lnTo>
                  <a:lnTo>
                    <a:pt x="0" y="8"/>
                  </a:lnTo>
                  <a:lnTo>
                    <a:pt x="15" y="16"/>
                  </a:lnTo>
                  <a:lnTo>
                    <a:pt x="21" y="14"/>
                  </a:lnTo>
                  <a:lnTo>
                    <a:pt x="32" y="13"/>
                  </a:lnTo>
                  <a:lnTo>
                    <a:pt x="46" y="14"/>
                  </a:lnTo>
                  <a:lnTo>
                    <a:pt x="59" y="14"/>
                  </a:lnTo>
                  <a:lnTo>
                    <a:pt x="59" y="14"/>
                  </a:lnTo>
                  <a:lnTo>
                    <a:pt x="59" y="1"/>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85" name="Freeform 117"/>
            <p:cNvSpPr>
              <a:spLocks/>
            </p:cNvSpPr>
            <p:nvPr/>
          </p:nvSpPr>
          <p:spPr bwMode="auto">
            <a:xfrm>
              <a:off x="4599" y="2688"/>
              <a:ext cx="138" cy="119"/>
            </a:xfrm>
            <a:custGeom>
              <a:avLst/>
              <a:gdLst/>
              <a:ahLst/>
              <a:cxnLst>
                <a:cxn ang="0">
                  <a:pos x="96" y="13"/>
                </a:cxn>
                <a:cxn ang="0">
                  <a:pos x="86" y="4"/>
                </a:cxn>
                <a:cxn ang="0">
                  <a:pos x="25" y="93"/>
                </a:cxn>
                <a:cxn ang="0">
                  <a:pos x="0" y="155"/>
                </a:cxn>
                <a:cxn ang="0">
                  <a:pos x="2" y="198"/>
                </a:cxn>
                <a:cxn ang="0">
                  <a:pos x="29" y="224"/>
                </a:cxn>
                <a:cxn ang="0">
                  <a:pos x="63" y="237"/>
                </a:cxn>
                <a:cxn ang="0">
                  <a:pos x="98" y="239"/>
                </a:cxn>
                <a:cxn ang="0">
                  <a:pos x="124" y="237"/>
                </a:cxn>
                <a:cxn ang="0">
                  <a:pos x="136" y="235"/>
                </a:cxn>
                <a:cxn ang="0">
                  <a:pos x="132" y="222"/>
                </a:cxn>
                <a:cxn ang="0">
                  <a:pos x="124" y="224"/>
                </a:cxn>
                <a:cxn ang="0">
                  <a:pos x="98" y="226"/>
                </a:cxn>
                <a:cxn ang="0">
                  <a:pos x="67" y="224"/>
                </a:cxn>
                <a:cxn ang="0">
                  <a:pos x="40" y="213"/>
                </a:cxn>
                <a:cxn ang="0">
                  <a:pos x="21" y="195"/>
                </a:cxn>
                <a:cxn ang="0">
                  <a:pos x="19" y="155"/>
                </a:cxn>
                <a:cxn ang="0">
                  <a:pos x="44" y="95"/>
                </a:cxn>
                <a:cxn ang="0">
                  <a:pos x="101" y="9"/>
                </a:cxn>
                <a:cxn ang="0">
                  <a:pos x="92" y="0"/>
                </a:cxn>
                <a:cxn ang="0">
                  <a:pos x="96" y="13"/>
                </a:cxn>
              </a:cxnLst>
              <a:rect l="0" t="0" r="r" b="b"/>
              <a:pathLst>
                <a:path w="136" h="239">
                  <a:moveTo>
                    <a:pt x="96" y="13"/>
                  </a:moveTo>
                  <a:lnTo>
                    <a:pt x="86" y="4"/>
                  </a:lnTo>
                  <a:lnTo>
                    <a:pt x="25" y="93"/>
                  </a:lnTo>
                  <a:lnTo>
                    <a:pt x="0" y="155"/>
                  </a:lnTo>
                  <a:lnTo>
                    <a:pt x="2" y="198"/>
                  </a:lnTo>
                  <a:lnTo>
                    <a:pt x="29" y="224"/>
                  </a:lnTo>
                  <a:lnTo>
                    <a:pt x="63" y="237"/>
                  </a:lnTo>
                  <a:lnTo>
                    <a:pt x="98" y="239"/>
                  </a:lnTo>
                  <a:lnTo>
                    <a:pt x="124" y="237"/>
                  </a:lnTo>
                  <a:lnTo>
                    <a:pt x="136" y="235"/>
                  </a:lnTo>
                  <a:lnTo>
                    <a:pt x="132" y="222"/>
                  </a:lnTo>
                  <a:lnTo>
                    <a:pt x="124" y="224"/>
                  </a:lnTo>
                  <a:lnTo>
                    <a:pt x="98" y="226"/>
                  </a:lnTo>
                  <a:lnTo>
                    <a:pt x="67" y="224"/>
                  </a:lnTo>
                  <a:lnTo>
                    <a:pt x="40" y="213"/>
                  </a:lnTo>
                  <a:lnTo>
                    <a:pt x="21" y="195"/>
                  </a:lnTo>
                  <a:lnTo>
                    <a:pt x="19" y="155"/>
                  </a:lnTo>
                  <a:lnTo>
                    <a:pt x="44" y="95"/>
                  </a:lnTo>
                  <a:lnTo>
                    <a:pt x="101" y="9"/>
                  </a:lnTo>
                  <a:lnTo>
                    <a:pt x="92" y="0"/>
                  </a:lnTo>
                  <a:lnTo>
                    <a:pt x="96" y="13"/>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86" name="Freeform 118"/>
            <p:cNvSpPr>
              <a:spLocks/>
            </p:cNvSpPr>
            <p:nvPr/>
          </p:nvSpPr>
          <p:spPr bwMode="auto">
            <a:xfrm>
              <a:off x="3321" y="2688"/>
              <a:ext cx="1374" cy="83"/>
            </a:xfrm>
            <a:custGeom>
              <a:avLst/>
              <a:gdLst/>
              <a:ahLst/>
              <a:cxnLst>
                <a:cxn ang="0">
                  <a:pos x="21" y="164"/>
                </a:cxn>
                <a:cxn ang="0">
                  <a:pos x="80" y="168"/>
                </a:cxn>
                <a:cxn ang="0">
                  <a:pos x="155" y="167"/>
                </a:cxn>
                <a:cxn ang="0">
                  <a:pos x="246" y="161"/>
                </a:cxn>
                <a:cxn ang="0">
                  <a:pos x="349" y="152"/>
                </a:cxn>
                <a:cxn ang="0">
                  <a:pos x="460" y="142"/>
                </a:cxn>
                <a:cxn ang="0">
                  <a:pos x="580" y="128"/>
                </a:cxn>
                <a:cxn ang="0">
                  <a:pos x="700" y="112"/>
                </a:cxn>
                <a:cxn ang="0">
                  <a:pos x="818" y="96"/>
                </a:cxn>
                <a:cxn ang="0">
                  <a:pos x="935" y="81"/>
                </a:cxn>
                <a:cxn ang="0">
                  <a:pos x="1044" y="64"/>
                </a:cxn>
                <a:cxn ang="0">
                  <a:pos x="1141" y="50"/>
                </a:cxn>
                <a:cxn ang="0">
                  <a:pos x="1227" y="37"/>
                </a:cxn>
                <a:cxn ang="0">
                  <a:pos x="1295" y="26"/>
                </a:cxn>
                <a:cxn ang="0">
                  <a:pos x="1345" y="18"/>
                </a:cxn>
                <a:cxn ang="0">
                  <a:pos x="1370" y="13"/>
                </a:cxn>
                <a:cxn ang="0">
                  <a:pos x="1370" y="0"/>
                </a:cxn>
                <a:cxn ang="0">
                  <a:pos x="1356" y="3"/>
                </a:cxn>
                <a:cxn ang="0">
                  <a:pos x="1318" y="8"/>
                </a:cxn>
                <a:cxn ang="0">
                  <a:pos x="1259" y="18"/>
                </a:cxn>
                <a:cxn ang="0">
                  <a:pos x="1183" y="30"/>
                </a:cxn>
                <a:cxn ang="0">
                  <a:pos x="1089" y="44"/>
                </a:cxn>
                <a:cxn ang="0">
                  <a:pos x="986" y="60"/>
                </a:cxn>
                <a:cxn ang="0">
                  <a:pos x="874" y="76"/>
                </a:cxn>
                <a:cxn ang="0">
                  <a:pos x="755" y="91"/>
                </a:cxn>
                <a:cxn ang="0">
                  <a:pos x="635" y="107"/>
                </a:cxn>
                <a:cxn ang="0">
                  <a:pos x="519" y="122"/>
                </a:cxn>
                <a:cxn ang="0">
                  <a:pos x="403" y="134"/>
                </a:cxn>
                <a:cxn ang="0">
                  <a:pos x="296" y="144"/>
                </a:cxn>
                <a:cxn ang="0">
                  <a:pos x="198" y="151"/>
                </a:cxn>
                <a:cxn ang="0">
                  <a:pos x="114" y="155"/>
                </a:cxn>
                <a:cxn ang="0">
                  <a:pos x="48" y="154"/>
                </a:cxn>
                <a:cxn ang="0">
                  <a:pos x="4" y="147"/>
                </a:cxn>
              </a:cxnLst>
              <a:rect l="0" t="0" r="r" b="b"/>
              <a:pathLst>
                <a:path w="1374" h="168">
                  <a:moveTo>
                    <a:pt x="0" y="160"/>
                  </a:moveTo>
                  <a:lnTo>
                    <a:pt x="21" y="164"/>
                  </a:lnTo>
                  <a:lnTo>
                    <a:pt x="48" y="167"/>
                  </a:lnTo>
                  <a:lnTo>
                    <a:pt x="80" y="168"/>
                  </a:lnTo>
                  <a:lnTo>
                    <a:pt x="114" y="168"/>
                  </a:lnTo>
                  <a:lnTo>
                    <a:pt x="155" y="167"/>
                  </a:lnTo>
                  <a:lnTo>
                    <a:pt x="198" y="164"/>
                  </a:lnTo>
                  <a:lnTo>
                    <a:pt x="246" y="161"/>
                  </a:lnTo>
                  <a:lnTo>
                    <a:pt x="296" y="157"/>
                  </a:lnTo>
                  <a:lnTo>
                    <a:pt x="349" y="152"/>
                  </a:lnTo>
                  <a:lnTo>
                    <a:pt x="403" y="147"/>
                  </a:lnTo>
                  <a:lnTo>
                    <a:pt x="460" y="142"/>
                  </a:lnTo>
                  <a:lnTo>
                    <a:pt x="519" y="135"/>
                  </a:lnTo>
                  <a:lnTo>
                    <a:pt x="580" y="128"/>
                  </a:lnTo>
                  <a:lnTo>
                    <a:pt x="639" y="120"/>
                  </a:lnTo>
                  <a:lnTo>
                    <a:pt x="700" y="112"/>
                  </a:lnTo>
                  <a:lnTo>
                    <a:pt x="759" y="104"/>
                  </a:lnTo>
                  <a:lnTo>
                    <a:pt x="818" y="96"/>
                  </a:lnTo>
                  <a:lnTo>
                    <a:pt x="878" y="89"/>
                  </a:lnTo>
                  <a:lnTo>
                    <a:pt x="935" y="81"/>
                  </a:lnTo>
                  <a:lnTo>
                    <a:pt x="990" y="73"/>
                  </a:lnTo>
                  <a:lnTo>
                    <a:pt x="1044" y="64"/>
                  </a:lnTo>
                  <a:lnTo>
                    <a:pt x="1093" y="57"/>
                  </a:lnTo>
                  <a:lnTo>
                    <a:pt x="1141" y="50"/>
                  </a:lnTo>
                  <a:lnTo>
                    <a:pt x="1187" y="43"/>
                  </a:lnTo>
                  <a:lnTo>
                    <a:pt x="1227" y="37"/>
                  </a:lnTo>
                  <a:lnTo>
                    <a:pt x="1263" y="31"/>
                  </a:lnTo>
                  <a:lnTo>
                    <a:pt x="1295" y="26"/>
                  </a:lnTo>
                  <a:lnTo>
                    <a:pt x="1322" y="21"/>
                  </a:lnTo>
                  <a:lnTo>
                    <a:pt x="1345" y="18"/>
                  </a:lnTo>
                  <a:lnTo>
                    <a:pt x="1360" y="16"/>
                  </a:lnTo>
                  <a:lnTo>
                    <a:pt x="1370" y="13"/>
                  </a:lnTo>
                  <a:lnTo>
                    <a:pt x="1374" y="13"/>
                  </a:lnTo>
                  <a:lnTo>
                    <a:pt x="1370" y="0"/>
                  </a:lnTo>
                  <a:lnTo>
                    <a:pt x="1366" y="0"/>
                  </a:lnTo>
                  <a:lnTo>
                    <a:pt x="1356" y="3"/>
                  </a:lnTo>
                  <a:lnTo>
                    <a:pt x="1341" y="5"/>
                  </a:lnTo>
                  <a:lnTo>
                    <a:pt x="1318" y="8"/>
                  </a:lnTo>
                  <a:lnTo>
                    <a:pt x="1292" y="13"/>
                  </a:lnTo>
                  <a:lnTo>
                    <a:pt x="1259" y="18"/>
                  </a:lnTo>
                  <a:lnTo>
                    <a:pt x="1223" y="24"/>
                  </a:lnTo>
                  <a:lnTo>
                    <a:pt x="1183" y="30"/>
                  </a:lnTo>
                  <a:lnTo>
                    <a:pt x="1137" y="37"/>
                  </a:lnTo>
                  <a:lnTo>
                    <a:pt x="1089" y="44"/>
                  </a:lnTo>
                  <a:lnTo>
                    <a:pt x="1040" y="51"/>
                  </a:lnTo>
                  <a:lnTo>
                    <a:pt x="986" y="60"/>
                  </a:lnTo>
                  <a:lnTo>
                    <a:pt x="931" y="68"/>
                  </a:lnTo>
                  <a:lnTo>
                    <a:pt x="874" y="76"/>
                  </a:lnTo>
                  <a:lnTo>
                    <a:pt x="815" y="83"/>
                  </a:lnTo>
                  <a:lnTo>
                    <a:pt x="755" y="91"/>
                  </a:lnTo>
                  <a:lnTo>
                    <a:pt x="696" y="99"/>
                  </a:lnTo>
                  <a:lnTo>
                    <a:pt x="635" y="107"/>
                  </a:lnTo>
                  <a:lnTo>
                    <a:pt x="576" y="115"/>
                  </a:lnTo>
                  <a:lnTo>
                    <a:pt x="519" y="122"/>
                  </a:lnTo>
                  <a:lnTo>
                    <a:pt x="460" y="129"/>
                  </a:lnTo>
                  <a:lnTo>
                    <a:pt x="403" y="134"/>
                  </a:lnTo>
                  <a:lnTo>
                    <a:pt x="349" y="139"/>
                  </a:lnTo>
                  <a:lnTo>
                    <a:pt x="296" y="144"/>
                  </a:lnTo>
                  <a:lnTo>
                    <a:pt x="246" y="148"/>
                  </a:lnTo>
                  <a:lnTo>
                    <a:pt x="198" y="151"/>
                  </a:lnTo>
                  <a:lnTo>
                    <a:pt x="155" y="154"/>
                  </a:lnTo>
                  <a:lnTo>
                    <a:pt x="114" y="155"/>
                  </a:lnTo>
                  <a:lnTo>
                    <a:pt x="80" y="155"/>
                  </a:lnTo>
                  <a:lnTo>
                    <a:pt x="48" y="154"/>
                  </a:lnTo>
                  <a:lnTo>
                    <a:pt x="25" y="151"/>
                  </a:lnTo>
                  <a:lnTo>
                    <a:pt x="4" y="147"/>
                  </a:lnTo>
                  <a:lnTo>
                    <a:pt x="0" y="160"/>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87" name="Freeform 119"/>
            <p:cNvSpPr>
              <a:spLocks/>
            </p:cNvSpPr>
            <p:nvPr/>
          </p:nvSpPr>
          <p:spPr bwMode="auto">
            <a:xfrm>
              <a:off x="4748" y="2078"/>
              <a:ext cx="275" cy="149"/>
            </a:xfrm>
            <a:custGeom>
              <a:avLst/>
              <a:gdLst/>
              <a:ahLst/>
              <a:cxnLst>
                <a:cxn ang="0">
                  <a:pos x="19" y="299"/>
                </a:cxn>
                <a:cxn ang="0">
                  <a:pos x="21" y="212"/>
                </a:cxn>
                <a:cxn ang="0">
                  <a:pos x="36" y="147"/>
                </a:cxn>
                <a:cxn ang="0">
                  <a:pos x="61" y="102"/>
                </a:cxn>
                <a:cxn ang="0">
                  <a:pos x="95" y="70"/>
                </a:cxn>
                <a:cxn ang="0">
                  <a:pos x="132" y="50"/>
                </a:cxn>
                <a:cxn ang="0">
                  <a:pos x="177" y="37"/>
                </a:cxn>
                <a:cxn ang="0">
                  <a:pos x="223" y="25"/>
                </a:cxn>
                <a:cxn ang="0">
                  <a:pos x="275" y="13"/>
                </a:cxn>
                <a:cxn ang="0">
                  <a:pos x="267" y="0"/>
                </a:cxn>
                <a:cxn ang="0">
                  <a:pos x="219" y="12"/>
                </a:cxn>
                <a:cxn ang="0">
                  <a:pos x="170" y="24"/>
                </a:cxn>
                <a:cxn ang="0">
                  <a:pos x="124" y="39"/>
                </a:cxn>
                <a:cxn ang="0">
                  <a:pos x="80" y="63"/>
                </a:cxn>
                <a:cxn ang="0">
                  <a:pos x="46" y="96"/>
                </a:cxn>
                <a:cxn ang="0">
                  <a:pos x="17" y="145"/>
                </a:cxn>
                <a:cxn ang="0">
                  <a:pos x="2" y="212"/>
                </a:cxn>
                <a:cxn ang="0">
                  <a:pos x="0" y="299"/>
                </a:cxn>
                <a:cxn ang="0">
                  <a:pos x="19" y="299"/>
                </a:cxn>
              </a:cxnLst>
              <a:rect l="0" t="0" r="r" b="b"/>
              <a:pathLst>
                <a:path w="275" h="299">
                  <a:moveTo>
                    <a:pt x="19" y="299"/>
                  </a:moveTo>
                  <a:lnTo>
                    <a:pt x="21" y="212"/>
                  </a:lnTo>
                  <a:lnTo>
                    <a:pt x="36" y="147"/>
                  </a:lnTo>
                  <a:lnTo>
                    <a:pt x="61" y="102"/>
                  </a:lnTo>
                  <a:lnTo>
                    <a:pt x="95" y="70"/>
                  </a:lnTo>
                  <a:lnTo>
                    <a:pt x="132" y="50"/>
                  </a:lnTo>
                  <a:lnTo>
                    <a:pt x="177" y="37"/>
                  </a:lnTo>
                  <a:lnTo>
                    <a:pt x="223" y="25"/>
                  </a:lnTo>
                  <a:lnTo>
                    <a:pt x="275" y="13"/>
                  </a:lnTo>
                  <a:lnTo>
                    <a:pt x="267" y="0"/>
                  </a:lnTo>
                  <a:lnTo>
                    <a:pt x="219" y="12"/>
                  </a:lnTo>
                  <a:lnTo>
                    <a:pt x="170" y="24"/>
                  </a:lnTo>
                  <a:lnTo>
                    <a:pt x="124" y="39"/>
                  </a:lnTo>
                  <a:lnTo>
                    <a:pt x="80" y="63"/>
                  </a:lnTo>
                  <a:lnTo>
                    <a:pt x="46" y="96"/>
                  </a:lnTo>
                  <a:lnTo>
                    <a:pt x="17" y="145"/>
                  </a:lnTo>
                  <a:lnTo>
                    <a:pt x="2" y="212"/>
                  </a:lnTo>
                  <a:lnTo>
                    <a:pt x="0" y="299"/>
                  </a:lnTo>
                  <a:lnTo>
                    <a:pt x="19" y="299"/>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88" name="Freeform 120"/>
            <p:cNvSpPr>
              <a:spLocks/>
            </p:cNvSpPr>
            <p:nvPr/>
          </p:nvSpPr>
          <p:spPr bwMode="auto">
            <a:xfrm>
              <a:off x="4614" y="2268"/>
              <a:ext cx="142" cy="6"/>
            </a:xfrm>
            <a:custGeom>
              <a:avLst/>
              <a:gdLst/>
              <a:ahLst/>
              <a:cxnLst>
                <a:cxn ang="0">
                  <a:pos x="144" y="6"/>
                </a:cxn>
                <a:cxn ang="0">
                  <a:pos x="144" y="0"/>
                </a:cxn>
                <a:cxn ang="0">
                  <a:pos x="0" y="0"/>
                </a:cxn>
                <a:cxn ang="0">
                  <a:pos x="0" y="13"/>
                </a:cxn>
                <a:cxn ang="0">
                  <a:pos x="144" y="13"/>
                </a:cxn>
                <a:cxn ang="0">
                  <a:pos x="144" y="6"/>
                </a:cxn>
              </a:cxnLst>
              <a:rect l="0" t="0" r="r" b="b"/>
              <a:pathLst>
                <a:path w="144" h="13">
                  <a:moveTo>
                    <a:pt x="144" y="6"/>
                  </a:moveTo>
                  <a:lnTo>
                    <a:pt x="144" y="0"/>
                  </a:lnTo>
                  <a:lnTo>
                    <a:pt x="0" y="0"/>
                  </a:lnTo>
                  <a:lnTo>
                    <a:pt x="0" y="13"/>
                  </a:lnTo>
                  <a:lnTo>
                    <a:pt x="144" y="13"/>
                  </a:lnTo>
                  <a:lnTo>
                    <a:pt x="144" y="6"/>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89" name="Freeform 121"/>
            <p:cNvSpPr>
              <a:spLocks/>
            </p:cNvSpPr>
            <p:nvPr/>
          </p:nvSpPr>
          <p:spPr bwMode="auto">
            <a:xfrm>
              <a:off x="4668" y="2286"/>
              <a:ext cx="88" cy="6"/>
            </a:xfrm>
            <a:custGeom>
              <a:avLst/>
              <a:gdLst/>
              <a:ahLst/>
              <a:cxnLst>
                <a:cxn ang="0">
                  <a:pos x="90" y="7"/>
                </a:cxn>
                <a:cxn ang="0">
                  <a:pos x="90" y="0"/>
                </a:cxn>
                <a:cxn ang="0">
                  <a:pos x="0" y="0"/>
                </a:cxn>
                <a:cxn ang="0">
                  <a:pos x="0" y="13"/>
                </a:cxn>
                <a:cxn ang="0">
                  <a:pos x="90" y="13"/>
                </a:cxn>
                <a:cxn ang="0">
                  <a:pos x="90" y="7"/>
                </a:cxn>
              </a:cxnLst>
              <a:rect l="0" t="0" r="r" b="b"/>
              <a:pathLst>
                <a:path w="90" h="13">
                  <a:moveTo>
                    <a:pt x="90" y="7"/>
                  </a:moveTo>
                  <a:lnTo>
                    <a:pt x="90" y="0"/>
                  </a:lnTo>
                  <a:lnTo>
                    <a:pt x="0" y="0"/>
                  </a:lnTo>
                  <a:lnTo>
                    <a:pt x="0" y="13"/>
                  </a:lnTo>
                  <a:lnTo>
                    <a:pt x="90" y="13"/>
                  </a:lnTo>
                  <a:lnTo>
                    <a:pt x="90" y="7"/>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92" name="Freeform 124"/>
            <p:cNvSpPr>
              <a:spLocks/>
            </p:cNvSpPr>
            <p:nvPr/>
          </p:nvSpPr>
          <p:spPr bwMode="auto">
            <a:xfrm>
              <a:off x="3498" y="2166"/>
              <a:ext cx="260" cy="11"/>
            </a:xfrm>
            <a:custGeom>
              <a:avLst/>
              <a:gdLst/>
              <a:ahLst/>
              <a:cxnLst>
                <a:cxn ang="0">
                  <a:pos x="262" y="16"/>
                </a:cxn>
                <a:cxn ang="0">
                  <a:pos x="262" y="9"/>
                </a:cxn>
                <a:cxn ang="0">
                  <a:pos x="0" y="0"/>
                </a:cxn>
                <a:cxn ang="0">
                  <a:pos x="0" y="13"/>
                </a:cxn>
                <a:cxn ang="0">
                  <a:pos x="262" y="22"/>
                </a:cxn>
                <a:cxn ang="0">
                  <a:pos x="262" y="16"/>
                </a:cxn>
              </a:cxnLst>
              <a:rect l="0" t="0" r="r" b="b"/>
              <a:pathLst>
                <a:path w="262" h="22">
                  <a:moveTo>
                    <a:pt x="262" y="16"/>
                  </a:moveTo>
                  <a:lnTo>
                    <a:pt x="262" y="9"/>
                  </a:lnTo>
                  <a:lnTo>
                    <a:pt x="0" y="0"/>
                  </a:lnTo>
                  <a:lnTo>
                    <a:pt x="0" y="13"/>
                  </a:lnTo>
                  <a:lnTo>
                    <a:pt x="262" y="22"/>
                  </a:lnTo>
                  <a:lnTo>
                    <a:pt x="262" y="16"/>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93" name="Freeform 125"/>
            <p:cNvSpPr>
              <a:spLocks/>
            </p:cNvSpPr>
            <p:nvPr/>
          </p:nvSpPr>
          <p:spPr bwMode="auto">
            <a:xfrm>
              <a:off x="3447" y="2188"/>
              <a:ext cx="170" cy="7"/>
            </a:xfrm>
            <a:custGeom>
              <a:avLst/>
              <a:gdLst/>
              <a:ahLst/>
              <a:cxnLst>
                <a:cxn ang="0">
                  <a:pos x="170" y="7"/>
                </a:cxn>
                <a:cxn ang="0">
                  <a:pos x="170" y="0"/>
                </a:cxn>
                <a:cxn ang="0">
                  <a:pos x="0" y="0"/>
                </a:cxn>
                <a:cxn ang="0">
                  <a:pos x="0" y="13"/>
                </a:cxn>
                <a:cxn ang="0">
                  <a:pos x="170" y="13"/>
                </a:cxn>
                <a:cxn ang="0">
                  <a:pos x="170" y="7"/>
                </a:cxn>
              </a:cxnLst>
              <a:rect l="0" t="0" r="r" b="b"/>
              <a:pathLst>
                <a:path w="170" h="13">
                  <a:moveTo>
                    <a:pt x="170" y="7"/>
                  </a:moveTo>
                  <a:lnTo>
                    <a:pt x="170" y="0"/>
                  </a:lnTo>
                  <a:lnTo>
                    <a:pt x="0" y="0"/>
                  </a:lnTo>
                  <a:lnTo>
                    <a:pt x="0" y="13"/>
                  </a:lnTo>
                  <a:lnTo>
                    <a:pt x="170" y="13"/>
                  </a:lnTo>
                  <a:lnTo>
                    <a:pt x="170" y="7"/>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94" name="Freeform 126"/>
            <p:cNvSpPr>
              <a:spLocks/>
            </p:cNvSpPr>
            <p:nvPr/>
          </p:nvSpPr>
          <p:spPr bwMode="auto">
            <a:xfrm>
              <a:off x="3409" y="2215"/>
              <a:ext cx="143" cy="11"/>
            </a:xfrm>
            <a:custGeom>
              <a:avLst/>
              <a:gdLst/>
              <a:ahLst/>
              <a:cxnLst>
                <a:cxn ang="0">
                  <a:pos x="143" y="16"/>
                </a:cxn>
                <a:cxn ang="0">
                  <a:pos x="143" y="10"/>
                </a:cxn>
                <a:cxn ang="0">
                  <a:pos x="0" y="0"/>
                </a:cxn>
                <a:cxn ang="0">
                  <a:pos x="0" y="13"/>
                </a:cxn>
                <a:cxn ang="0">
                  <a:pos x="143" y="23"/>
                </a:cxn>
                <a:cxn ang="0">
                  <a:pos x="143" y="16"/>
                </a:cxn>
              </a:cxnLst>
              <a:rect l="0" t="0" r="r" b="b"/>
              <a:pathLst>
                <a:path w="143" h="23">
                  <a:moveTo>
                    <a:pt x="143" y="16"/>
                  </a:moveTo>
                  <a:lnTo>
                    <a:pt x="143" y="10"/>
                  </a:lnTo>
                  <a:lnTo>
                    <a:pt x="0" y="0"/>
                  </a:lnTo>
                  <a:lnTo>
                    <a:pt x="0" y="13"/>
                  </a:lnTo>
                  <a:lnTo>
                    <a:pt x="143" y="23"/>
                  </a:lnTo>
                  <a:lnTo>
                    <a:pt x="143" y="16"/>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95" name="Freeform 127"/>
            <p:cNvSpPr>
              <a:spLocks/>
            </p:cNvSpPr>
            <p:nvPr/>
          </p:nvSpPr>
          <p:spPr bwMode="auto">
            <a:xfrm>
              <a:off x="4563" y="2579"/>
              <a:ext cx="238" cy="9"/>
            </a:xfrm>
            <a:custGeom>
              <a:avLst/>
              <a:gdLst/>
              <a:ahLst/>
              <a:cxnLst>
                <a:cxn ang="0">
                  <a:pos x="238" y="7"/>
                </a:cxn>
                <a:cxn ang="0">
                  <a:pos x="238" y="0"/>
                </a:cxn>
                <a:cxn ang="0">
                  <a:pos x="0" y="7"/>
                </a:cxn>
                <a:cxn ang="0">
                  <a:pos x="0" y="19"/>
                </a:cxn>
                <a:cxn ang="0">
                  <a:pos x="238" y="13"/>
                </a:cxn>
                <a:cxn ang="0">
                  <a:pos x="238" y="7"/>
                </a:cxn>
              </a:cxnLst>
              <a:rect l="0" t="0" r="r" b="b"/>
              <a:pathLst>
                <a:path w="238" h="19">
                  <a:moveTo>
                    <a:pt x="238" y="7"/>
                  </a:moveTo>
                  <a:lnTo>
                    <a:pt x="238" y="0"/>
                  </a:lnTo>
                  <a:lnTo>
                    <a:pt x="0" y="7"/>
                  </a:lnTo>
                  <a:lnTo>
                    <a:pt x="0" y="19"/>
                  </a:lnTo>
                  <a:lnTo>
                    <a:pt x="238" y="13"/>
                  </a:lnTo>
                  <a:lnTo>
                    <a:pt x="238" y="7"/>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96" name="Freeform 128"/>
            <p:cNvSpPr>
              <a:spLocks/>
            </p:cNvSpPr>
            <p:nvPr/>
          </p:nvSpPr>
          <p:spPr bwMode="auto">
            <a:xfrm>
              <a:off x="4655" y="2596"/>
              <a:ext cx="146" cy="10"/>
            </a:xfrm>
            <a:custGeom>
              <a:avLst/>
              <a:gdLst/>
              <a:ahLst/>
              <a:cxnLst>
                <a:cxn ang="0">
                  <a:pos x="146" y="7"/>
                </a:cxn>
                <a:cxn ang="0">
                  <a:pos x="146" y="0"/>
                </a:cxn>
                <a:cxn ang="0">
                  <a:pos x="0" y="7"/>
                </a:cxn>
                <a:cxn ang="0">
                  <a:pos x="0" y="20"/>
                </a:cxn>
                <a:cxn ang="0">
                  <a:pos x="146" y="13"/>
                </a:cxn>
                <a:cxn ang="0">
                  <a:pos x="146" y="7"/>
                </a:cxn>
              </a:cxnLst>
              <a:rect l="0" t="0" r="r" b="b"/>
              <a:pathLst>
                <a:path w="146" h="20">
                  <a:moveTo>
                    <a:pt x="146" y="7"/>
                  </a:moveTo>
                  <a:lnTo>
                    <a:pt x="146" y="0"/>
                  </a:lnTo>
                  <a:lnTo>
                    <a:pt x="0" y="7"/>
                  </a:lnTo>
                  <a:lnTo>
                    <a:pt x="0" y="20"/>
                  </a:lnTo>
                  <a:lnTo>
                    <a:pt x="146" y="13"/>
                  </a:lnTo>
                  <a:lnTo>
                    <a:pt x="146" y="7"/>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97" name="Freeform 129"/>
            <p:cNvSpPr>
              <a:spLocks/>
            </p:cNvSpPr>
            <p:nvPr/>
          </p:nvSpPr>
          <p:spPr bwMode="auto">
            <a:xfrm>
              <a:off x="4733" y="2624"/>
              <a:ext cx="72" cy="8"/>
            </a:xfrm>
            <a:custGeom>
              <a:avLst/>
              <a:gdLst/>
              <a:ahLst/>
              <a:cxnLst>
                <a:cxn ang="0">
                  <a:pos x="72" y="6"/>
                </a:cxn>
                <a:cxn ang="0">
                  <a:pos x="72" y="0"/>
                </a:cxn>
                <a:cxn ang="0">
                  <a:pos x="0" y="4"/>
                </a:cxn>
                <a:cxn ang="0">
                  <a:pos x="0" y="17"/>
                </a:cxn>
                <a:cxn ang="0">
                  <a:pos x="72" y="13"/>
                </a:cxn>
                <a:cxn ang="0">
                  <a:pos x="72" y="6"/>
                </a:cxn>
              </a:cxnLst>
              <a:rect l="0" t="0" r="r" b="b"/>
              <a:pathLst>
                <a:path w="72" h="17">
                  <a:moveTo>
                    <a:pt x="72" y="6"/>
                  </a:moveTo>
                  <a:lnTo>
                    <a:pt x="72" y="0"/>
                  </a:lnTo>
                  <a:lnTo>
                    <a:pt x="0" y="4"/>
                  </a:lnTo>
                  <a:lnTo>
                    <a:pt x="0" y="17"/>
                  </a:lnTo>
                  <a:lnTo>
                    <a:pt x="72" y="13"/>
                  </a:lnTo>
                  <a:lnTo>
                    <a:pt x="72" y="6"/>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grpSp>
          <p:nvGrpSpPr>
            <p:cNvPr id="4" name="Group 167"/>
            <p:cNvGrpSpPr>
              <a:grpSpLocks/>
            </p:cNvGrpSpPr>
            <p:nvPr/>
          </p:nvGrpSpPr>
          <p:grpSpPr bwMode="auto">
            <a:xfrm>
              <a:off x="3420" y="2592"/>
              <a:ext cx="372" cy="168"/>
              <a:chOff x="3420" y="2512"/>
              <a:chExt cx="536" cy="248"/>
            </a:xfrm>
          </p:grpSpPr>
          <p:sp>
            <p:nvSpPr>
              <p:cNvPr id="1389690" name="Freeform 122"/>
              <p:cNvSpPr>
                <a:spLocks/>
              </p:cNvSpPr>
              <p:nvPr/>
            </p:nvSpPr>
            <p:spPr bwMode="auto">
              <a:xfrm>
                <a:off x="3418" y="2541"/>
                <a:ext cx="249" cy="5"/>
              </a:xfrm>
              <a:custGeom>
                <a:avLst/>
                <a:gdLst/>
                <a:ahLst/>
                <a:cxnLst>
                  <a:cxn ang="0">
                    <a:pos x="248" y="6"/>
                  </a:cxn>
                  <a:cxn ang="0">
                    <a:pos x="248" y="0"/>
                  </a:cxn>
                  <a:cxn ang="0">
                    <a:pos x="0" y="0"/>
                  </a:cxn>
                  <a:cxn ang="0">
                    <a:pos x="0" y="13"/>
                  </a:cxn>
                  <a:cxn ang="0">
                    <a:pos x="248" y="13"/>
                  </a:cxn>
                  <a:cxn ang="0">
                    <a:pos x="248" y="6"/>
                  </a:cxn>
                </a:cxnLst>
                <a:rect l="0" t="0" r="r" b="b"/>
                <a:pathLst>
                  <a:path w="248" h="13">
                    <a:moveTo>
                      <a:pt x="248" y="6"/>
                    </a:moveTo>
                    <a:lnTo>
                      <a:pt x="248" y="0"/>
                    </a:lnTo>
                    <a:lnTo>
                      <a:pt x="0" y="0"/>
                    </a:lnTo>
                    <a:lnTo>
                      <a:pt x="0" y="13"/>
                    </a:lnTo>
                    <a:lnTo>
                      <a:pt x="248" y="13"/>
                    </a:lnTo>
                    <a:lnTo>
                      <a:pt x="248" y="6"/>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91" name="Freeform 123"/>
              <p:cNvSpPr>
                <a:spLocks/>
              </p:cNvSpPr>
              <p:nvPr/>
            </p:nvSpPr>
            <p:spPr bwMode="auto">
              <a:xfrm>
                <a:off x="3434" y="2559"/>
                <a:ext cx="156" cy="9"/>
              </a:xfrm>
              <a:custGeom>
                <a:avLst/>
                <a:gdLst/>
                <a:ahLst/>
                <a:cxnLst>
                  <a:cxn ang="0">
                    <a:pos x="156" y="15"/>
                  </a:cxn>
                  <a:cxn ang="0">
                    <a:pos x="156" y="8"/>
                  </a:cxn>
                  <a:cxn ang="0">
                    <a:pos x="0" y="0"/>
                  </a:cxn>
                  <a:cxn ang="0">
                    <a:pos x="0" y="13"/>
                  </a:cxn>
                  <a:cxn ang="0">
                    <a:pos x="156" y="21"/>
                  </a:cxn>
                  <a:cxn ang="0">
                    <a:pos x="156" y="15"/>
                  </a:cxn>
                </a:cxnLst>
                <a:rect l="0" t="0" r="r" b="b"/>
                <a:pathLst>
                  <a:path w="156" h="21">
                    <a:moveTo>
                      <a:pt x="156" y="15"/>
                    </a:moveTo>
                    <a:lnTo>
                      <a:pt x="156" y="8"/>
                    </a:lnTo>
                    <a:lnTo>
                      <a:pt x="0" y="0"/>
                    </a:lnTo>
                    <a:lnTo>
                      <a:pt x="0" y="13"/>
                    </a:lnTo>
                    <a:lnTo>
                      <a:pt x="156" y="21"/>
                    </a:lnTo>
                    <a:lnTo>
                      <a:pt x="156" y="15"/>
                    </a:lnTo>
                    <a:close/>
                  </a:path>
                </a:pathLst>
              </a:custGeom>
              <a:solidFill>
                <a:srgbClr val="C9933A"/>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98" name="Freeform 130"/>
              <p:cNvSpPr>
                <a:spLocks/>
              </p:cNvSpPr>
              <p:nvPr/>
            </p:nvSpPr>
            <p:spPr bwMode="auto">
              <a:xfrm>
                <a:off x="3516" y="2545"/>
                <a:ext cx="106" cy="35"/>
              </a:xfrm>
              <a:custGeom>
                <a:avLst/>
                <a:gdLst/>
                <a:ahLst/>
                <a:cxnLst>
                  <a:cxn ang="0">
                    <a:pos x="66" y="12"/>
                  </a:cxn>
                  <a:cxn ang="0">
                    <a:pos x="30" y="42"/>
                  </a:cxn>
                  <a:cxn ang="0">
                    <a:pos x="49" y="68"/>
                  </a:cxn>
                  <a:cxn ang="0">
                    <a:pos x="106" y="50"/>
                  </a:cxn>
                  <a:cxn ang="0">
                    <a:pos x="87" y="24"/>
                  </a:cxn>
                  <a:cxn ang="0">
                    <a:pos x="51" y="54"/>
                  </a:cxn>
                  <a:cxn ang="0">
                    <a:pos x="66" y="12"/>
                  </a:cxn>
                  <a:cxn ang="0">
                    <a:pos x="0" y="0"/>
                  </a:cxn>
                  <a:cxn ang="0">
                    <a:pos x="30" y="42"/>
                  </a:cxn>
                  <a:cxn ang="0">
                    <a:pos x="66" y="12"/>
                  </a:cxn>
                </a:cxnLst>
                <a:rect l="0" t="0" r="r" b="b"/>
                <a:pathLst>
                  <a:path w="106" h="68">
                    <a:moveTo>
                      <a:pt x="66" y="12"/>
                    </a:moveTo>
                    <a:lnTo>
                      <a:pt x="30" y="42"/>
                    </a:lnTo>
                    <a:lnTo>
                      <a:pt x="49" y="68"/>
                    </a:lnTo>
                    <a:lnTo>
                      <a:pt x="106" y="50"/>
                    </a:lnTo>
                    <a:lnTo>
                      <a:pt x="87" y="24"/>
                    </a:lnTo>
                    <a:lnTo>
                      <a:pt x="51" y="54"/>
                    </a:lnTo>
                    <a:lnTo>
                      <a:pt x="66" y="12"/>
                    </a:lnTo>
                    <a:lnTo>
                      <a:pt x="0" y="0"/>
                    </a:lnTo>
                    <a:lnTo>
                      <a:pt x="30" y="42"/>
                    </a:lnTo>
                    <a:lnTo>
                      <a:pt x="66" y="12"/>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699" name="Freeform 131"/>
              <p:cNvSpPr>
                <a:spLocks/>
              </p:cNvSpPr>
              <p:nvPr/>
            </p:nvSpPr>
            <p:spPr bwMode="auto">
              <a:xfrm>
                <a:off x="3567" y="2553"/>
                <a:ext cx="82" cy="27"/>
              </a:xfrm>
              <a:custGeom>
                <a:avLst/>
                <a:gdLst/>
                <a:ahLst/>
                <a:cxnLst>
                  <a:cxn ang="0">
                    <a:pos x="21" y="26"/>
                  </a:cxn>
                  <a:cxn ang="0">
                    <a:pos x="59" y="8"/>
                  </a:cxn>
                  <a:cxn ang="0">
                    <a:pos x="15" y="0"/>
                  </a:cxn>
                  <a:cxn ang="0">
                    <a:pos x="0" y="42"/>
                  </a:cxn>
                  <a:cxn ang="0">
                    <a:pos x="44" y="49"/>
                  </a:cxn>
                  <a:cxn ang="0">
                    <a:pos x="82" y="31"/>
                  </a:cxn>
                  <a:cxn ang="0">
                    <a:pos x="44" y="49"/>
                  </a:cxn>
                  <a:cxn ang="0">
                    <a:pos x="76" y="56"/>
                  </a:cxn>
                  <a:cxn ang="0">
                    <a:pos x="82" y="31"/>
                  </a:cxn>
                  <a:cxn ang="0">
                    <a:pos x="21" y="26"/>
                  </a:cxn>
                </a:cxnLst>
                <a:rect l="0" t="0" r="r" b="b"/>
                <a:pathLst>
                  <a:path w="82" h="56">
                    <a:moveTo>
                      <a:pt x="21" y="26"/>
                    </a:moveTo>
                    <a:lnTo>
                      <a:pt x="59" y="8"/>
                    </a:lnTo>
                    <a:lnTo>
                      <a:pt x="15" y="0"/>
                    </a:lnTo>
                    <a:lnTo>
                      <a:pt x="0" y="42"/>
                    </a:lnTo>
                    <a:lnTo>
                      <a:pt x="44" y="49"/>
                    </a:lnTo>
                    <a:lnTo>
                      <a:pt x="82" y="31"/>
                    </a:lnTo>
                    <a:lnTo>
                      <a:pt x="44" y="49"/>
                    </a:lnTo>
                    <a:lnTo>
                      <a:pt x="76" y="56"/>
                    </a:lnTo>
                    <a:lnTo>
                      <a:pt x="82" y="31"/>
                    </a:lnTo>
                    <a:lnTo>
                      <a:pt x="21" y="26"/>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00" name="Freeform 132"/>
              <p:cNvSpPr>
                <a:spLocks/>
              </p:cNvSpPr>
              <p:nvPr/>
            </p:nvSpPr>
            <p:spPr bwMode="auto">
              <a:xfrm>
                <a:off x="3588" y="2530"/>
                <a:ext cx="69" cy="39"/>
              </a:xfrm>
              <a:custGeom>
                <a:avLst/>
                <a:gdLst/>
                <a:ahLst/>
                <a:cxnLst>
                  <a:cxn ang="0">
                    <a:pos x="59" y="26"/>
                  </a:cxn>
                  <a:cxn ang="0">
                    <a:pos x="8" y="39"/>
                  </a:cxn>
                  <a:cxn ang="0">
                    <a:pos x="0" y="71"/>
                  </a:cxn>
                  <a:cxn ang="0">
                    <a:pos x="61" y="76"/>
                  </a:cxn>
                  <a:cxn ang="0">
                    <a:pos x="69" y="44"/>
                  </a:cxn>
                  <a:cxn ang="0">
                    <a:pos x="17" y="57"/>
                  </a:cxn>
                  <a:cxn ang="0">
                    <a:pos x="59" y="26"/>
                  </a:cxn>
                  <a:cxn ang="0">
                    <a:pos x="17" y="0"/>
                  </a:cxn>
                  <a:cxn ang="0">
                    <a:pos x="8" y="39"/>
                  </a:cxn>
                  <a:cxn ang="0">
                    <a:pos x="59" y="26"/>
                  </a:cxn>
                </a:cxnLst>
                <a:rect l="0" t="0" r="r" b="b"/>
                <a:pathLst>
                  <a:path w="69" h="76">
                    <a:moveTo>
                      <a:pt x="59" y="26"/>
                    </a:moveTo>
                    <a:lnTo>
                      <a:pt x="8" y="39"/>
                    </a:lnTo>
                    <a:lnTo>
                      <a:pt x="0" y="71"/>
                    </a:lnTo>
                    <a:lnTo>
                      <a:pt x="61" y="76"/>
                    </a:lnTo>
                    <a:lnTo>
                      <a:pt x="69" y="44"/>
                    </a:lnTo>
                    <a:lnTo>
                      <a:pt x="17" y="57"/>
                    </a:lnTo>
                    <a:lnTo>
                      <a:pt x="59" y="26"/>
                    </a:lnTo>
                    <a:lnTo>
                      <a:pt x="17" y="0"/>
                    </a:lnTo>
                    <a:lnTo>
                      <a:pt x="8" y="39"/>
                    </a:lnTo>
                    <a:lnTo>
                      <a:pt x="59" y="26"/>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01" name="Freeform 133"/>
              <p:cNvSpPr>
                <a:spLocks/>
              </p:cNvSpPr>
              <p:nvPr/>
            </p:nvSpPr>
            <p:spPr bwMode="auto">
              <a:xfrm>
                <a:off x="3605" y="2541"/>
                <a:ext cx="78" cy="35"/>
              </a:xfrm>
              <a:custGeom>
                <a:avLst/>
                <a:gdLst/>
                <a:ahLst/>
                <a:cxnLst>
                  <a:cxn ang="0">
                    <a:pos x="21" y="23"/>
                  </a:cxn>
                  <a:cxn ang="0">
                    <a:pos x="71" y="16"/>
                  </a:cxn>
                  <a:cxn ang="0">
                    <a:pos x="42" y="0"/>
                  </a:cxn>
                  <a:cxn ang="0">
                    <a:pos x="0" y="31"/>
                  </a:cxn>
                  <a:cxn ang="0">
                    <a:pos x="29" y="48"/>
                  </a:cxn>
                  <a:cxn ang="0">
                    <a:pos x="78" y="41"/>
                  </a:cxn>
                  <a:cxn ang="0">
                    <a:pos x="29" y="48"/>
                  </a:cxn>
                  <a:cxn ang="0">
                    <a:pos x="59" y="66"/>
                  </a:cxn>
                  <a:cxn ang="0">
                    <a:pos x="78" y="41"/>
                  </a:cxn>
                  <a:cxn ang="0">
                    <a:pos x="21" y="23"/>
                  </a:cxn>
                </a:cxnLst>
                <a:rect l="0" t="0" r="r" b="b"/>
                <a:pathLst>
                  <a:path w="78" h="66">
                    <a:moveTo>
                      <a:pt x="21" y="23"/>
                    </a:moveTo>
                    <a:lnTo>
                      <a:pt x="71" y="16"/>
                    </a:lnTo>
                    <a:lnTo>
                      <a:pt x="42" y="0"/>
                    </a:lnTo>
                    <a:lnTo>
                      <a:pt x="0" y="31"/>
                    </a:lnTo>
                    <a:lnTo>
                      <a:pt x="29" y="48"/>
                    </a:lnTo>
                    <a:lnTo>
                      <a:pt x="78" y="41"/>
                    </a:lnTo>
                    <a:lnTo>
                      <a:pt x="29" y="48"/>
                    </a:lnTo>
                    <a:lnTo>
                      <a:pt x="59" y="66"/>
                    </a:lnTo>
                    <a:lnTo>
                      <a:pt x="78" y="41"/>
                    </a:lnTo>
                    <a:lnTo>
                      <a:pt x="21" y="23"/>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02" name="Freeform 134"/>
              <p:cNvSpPr>
                <a:spLocks/>
              </p:cNvSpPr>
              <p:nvPr/>
            </p:nvSpPr>
            <p:spPr bwMode="auto">
              <a:xfrm>
                <a:off x="3626" y="2518"/>
                <a:ext cx="79" cy="45"/>
              </a:xfrm>
              <a:custGeom>
                <a:avLst/>
                <a:gdLst/>
                <a:ahLst/>
                <a:cxnLst>
                  <a:cxn ang="0">
                    <a:pos x="80" y="43"/>
                  </a:cxn>
                  <a:cxn ang="0">
                    <a:pos x="23" y="42"/>
                  </a:cxn>
                  <a:cxn ang="0">
                    <a:pos x="0" y="72"/>
                  </a:cxn>
                  <a:cxn ang="0">
                    <a:pos x="57" y="90"/>
                  </a:cxn>
                  <a:cxn ang="0">
                    <a:pos x="80" y="60"/>
                  </a:cxn>
                  <a:cxn ang="0">
                    <a:pos x="23" y="59"/>
                  </a:cxn>
                  <a:cxn ang="0">
                    <a:pos x="80" y="43"/>
                  </a:cxn>
                  <a:cxn ang="0">
                    <a:pos x="54" y="0"/>
                  </a:cxn>
                  <a:cxn ang="0">
                    <a:pos x="23" y="42"/>
                  </a:cxn>
                  <a:cxn ang="0">
                    <a:pos x="80" y="43"/>
                  </a:cxn>
                </a:cxnLst>
                <a:rect l="0" t="0" r="r" b="b"/>
                <a:pathLst>
                  <a:path w="80" h="90">
                    <a:moveTo>
                      <a:pt x="80" y="43"/>
                    </a:moveTo>
                    <a:lnTo>
                      <a:pt x="23" y="42"/>
                    </a:lnTo>
                    <a:lnTo>
                      <a:pt x="0" y="72"/>
                    </a:lnTo>
                    <a:lnTo>
                      <a:pt x="57" y="90"/>
                    </a:lnTo>
                    <a:lnTo>
                      <a:pt x="80" y="60"/>
                    </a:lnTo>
                    <a:lnTo>
                      <a:pt x="23" y="59"/>
                    </a:lnTo>
                    <a:lnTo>
                      <a:pt x="80" y="43"/>
                    </a:lnTo>
                    <a:lnTo>
                      <a:pt x="54" y="0"/>
                    </a:lnTo>
                    <a:lnTo>
                      <a:pt x="23" y="42"/>
                    </a:lnTo>
                    <a:lnTo>
                      <a:pt x="80" y="43"/>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03" name="Freeform 135"/>
              <p:cNvSpPr>
                <a:spLocks/>
              </p:cNvSpPr>
              <p:nvPr/>
            </p:nvSpPr>
            <p:spPr bwMode="auto">
              <a:xfrm>
                <a:off x="3649" y="2540"/>
                <a:ext cx="76" cy="43"/>
              </a:xfrm>
              <a:custGeom>
                <a:avLst/>
                <a:gdLst/>
                <a:ahLst/>
                <a:cxnLst>
                  <a:cxn ang="0">
                    <a:pos x="21" y="28"/>
                  </a:cxn>
                  <a:cxn ang="0">
                    <a:pos x="76" y="30"/>
                  </a:cxn>
                  <a:cxn ang="0">
                    <a:pos x="57" y="0"/>
                  </a:cxn>
                  <a:cxn ang="0">
                    <a:pos x="0" y="16"/>
                  </a:cxn>
                  <a:cxn ang="0">
                    <a:pos x="19" y="46"/>
                  </a:cxn>
                  <a:cxn ang="0">
                    <a:pos x="75" y="48"/>
                  </a:cxn>
                  <a:cxn ang="0">
                    <a:pos x="19" y="46"/>
                  </a:cxn>
                  <a:cxn ang="0">
                    <a:pos x="46" y="86"/>
                  </a:cxn>
                  <a:cxn ang="0">
                    <a:pos x="75" y="48"/>
                  </a:cxn>
                  <a:cxn ang="0">
                    <a:pos x="21" y="28"/>
                  </a:cxn>
                </a:cxnLst>
                <a:rect l="0" t="0" r="r" b="b"/>
                <a:pathLst>
                  <a:path w="76" h="86">
                    <a:moveTo>
                      <a:pt x="21" y="28"/>
                    </a:moveTo>
                    <a:lnTo>
                      <a:pt x="76" y="30"/>
                    </a:lnTo>
                    <a:lnTo>
                      <a:pt x="57" y="0"/>
                    </a:lnTo>
                    <a:lnTo>
                      <a:pt x="0" y="16"/>
                    </a:lnTo>
                    <a:lnTo>
                      <a:pt x="19" y="46"/>
                    </a:lnTo>
                    <a:lnTo>
                      <a:pt x="75" y="48"/>
                    </a:lnTo>
                    <a:lnTo>
                      <a:pt x="19" y="46"/>
                    </a:lnTo>
                    <a:lnTo>
                      <a:pt x="46" y="86"/>
                    </a:lnTo>
                    <a:lnTo>
                      <a:pt x="75" y="48"/>
                    </a:lnTo>
                    <a:lnTo>
                      <a:pt x="21" y="28"/>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04" name="Freeform 136"/>
              <p:cNvSpPr>
                <a:spLocks/>
              </p:cNvSpPr>
              <p:nvPr/>
            </p:nvSpPr>
            <p:spPr bwMode="auto">
              <a:xfrm>
                <a:off x="3670" y="2510"/>
                <a:ext cx="84" cy="53"/>
              </a:xfrm>
              <a:custGeom>
                <a:avLst/>
                <a:gdLst/>
                <a:ahLst/>
                <a:cxnLst>
                  <a:cxn ang="0">
                    <a:pos x="84" y="58"/>
                  </a:cxn>
                  <a:cxn ang="0">
                    <a:pos x="27" y="51"/>
                  </a:cxn>
                  <a:cxn ang="0">
                    <a:pos x="0" y="84"/>
                  </a:cxn>
                  <a:cxn ang="0">
                    <a:pos x="54" y="104"/>
                  </a:cxn>
                  <a:cxn ang="0">
                    <a:pos x="80" y="72"/>
                  </a:cxn>
                  <a:cxn ang="0">
                    <a:pos x="23" y="65"/>
                  </a:cxn>
                  <a:cxn ang="0">
                    <a:pos x="84" y="58"/>
                  </a:cxn>
                  <a:cxn ang="0">
                    <a:pos x="67" y="0"/>
                  </a:cxn>
                  <a:cxn ang="0">
                    <a:pos x="27" y="51"/>
                  </a:cxn>
                  <a:cxn ang="0">
                    <a:pos x="84" y="58"/>
                  </a:cxn>
                </a:cxnLst>
                <a:rect l="0" t="0" r="r" b="b"/>
                <a:pathLst>
                  <a:path w="84" h="104">
                    <a:moveTo>
                      <a:pt x="84" y="58"/>
                    </a:moveTo>
                    <a:lnTo>
                      <a:pt x="27" y="51"/>
                    </a:lnTo>
                    <a:lnTo>
                      <a:pt x="0" y="84"/>
                    </a:lnTo>
                    <a:lnTo>
                      <a:pt x="54" y="104"/>
                    </a:lnTo>
                    <a:lnTo>
                      <a:pt x="80" y="72"/>
                    </a:lnTo>
                    <a:lnTo>
                      <a:pt x="23" y="65"/>
                    </a:lnTo>
                    <a:lnTo>
                      <a:pt x="84" y="58"/>
                    </a:lnTo>
                    <a:lnTo>
                      <a:pt x="67" y="0"/>
                    </a:lnTo>
                    <a:lnTo>
                      <a:pt x="27" y="51"/>
                    </a:lnTo>
                    <a:lnTo>
                      <a:pt x="84" y="58"/>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05" name="Freeform 137"/>
              <p:cNvSpPr>
                <a:spLocks/>
              </p:cNvSpPr>
              <p:nvPr/>
            </p:nvSpPr>
            <p:spPr bwMode="auto">
              <a:xfrm>
                <a:off x="3693" y="2541"/>
                <a:ext cx="71" cy="40"/>
              </a:xfrm>
              <a:custGeom>
                <a:avLst/>
                <a:gdLst/>
                <a:ahLst/>
                <a:cxnLst>
                  <a:cxn ang="0">
                    <a:pos x="17" y="22"/>
                  </a:cxn>
                  <a:cxn ang="0">
                    <a:pos x="71" y="32"/>
                  </a:cxn>
                  <a:cxn ang="0">
                    <a:pos x="61" y="0"/>
                  </a:cxn>
                  <a:cxn ang="0">
                    <a:pos x="0" y="7"/>
                  </a:cxn>
                  <a:cxn ang="0">
                    <a:pos x="10" y="40"/>
                  </a:cxn>
                  <a:cxn ang="0">
                    <a:pos x="63" y="50"/>
                  </a:cxn>
                  <a:cxn ang="0">
                    <a:pos x="10" y="40"/>
                  </a:cxn>
                  <a:cxn ang="0">
                    <a:pos x="21" y="80"/>
                  </a:cxn>
                  <a:cxn ang="0">
                    <a:pos x="63" y="50"/>
                  </a:cxn>
                  <a:cxn ang="0">
                    <a:pos x="17" y="22"/>
                  </a:cxn>
                </a:cxnLst>
                <a:rect l="0" t="0" r="r" b="b"/>
                <a:pathLst>
                  <a:path w="71" h="80">
                    <a:moveTo>
                      <a:pt x="17" y="22"/>
                    </a:moveTo>
                    <a:lnTo>
                      <a:pt x="71" y="32"/>
                    </a:lnTo>
                    <a:lnTo>
                      <a:pt x="61" y="0"/>
                    </a:lnTo>
                    <a:lnTo>
                      <a:pt x="0" y="7"/>
                    </a:lnTo>
                    <a:lnTo>
                      <a:pt x="10" y="40"/>
                    </a:lnTo>
                    <a:lnTo>
                      <a:pt x="63" y="50"/>
                    </a:lnTo>
                    <a:lnTo>
                      <a:pt x="10" y="40"/>
                    </a:lnTo>
                    <a:lnTo>
                      <a:pt x="21" y="80"/>
                    </a:lnTo>
                    <a:lnTo>
                      <a:pt x="63" y="50"/>
                    </a:lnTo>
                    <a:lnTo>
                      <a:pt x="17" y="22"/>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06" name="Freeform 138"/>
              <p:cNvSpPr>
                <a:spLocks/>
              </p:cNvSpPr>
              <p:nvPr/>
            </p:nvSpPr>
            <p:spPr bwMode="auto">
              <a:xfrm>
                <a:off x="3710" y="2514"/>
                <a:ext cx="101" cy="52"/>
              </a:xfrm>
              <a:custGeom>
                <a:avLst/>
                <a:gdLst/>
                <a:ahLst/>
                <a:cxnLst>
                  <a:cxn ang="0">
                    <a:pos x="90" y="65"/>
                  </a:cxn>
                  <a:cxn ang="0">
                    <a:pos x="36" y="48"/>
                  </a:cxn>
                  <a:cxn ang="0">
                    <a:pos x="0" y="74"/>
                  </a:cxn>
                  <a:cxn ang="0">
                    <a:pos x="46" y="102"/>
                  </a:cxn>
                  <a:cxn ang="0">
                    <a:pos x="82" y="76"/>
                  </a:cxn>
                  <a:cxn ang="0">
                    <a:pos x="29" y="59"/>
                  </a:cxn>
                  <a:cxn ang="0">
                    <a:pos x="90" y="65"/>
                  </a:cxn>
                  <a:cxn ang="0">
                    <a:pos x="101" y="0"/>
                  </a:cxn>
                  <a:cxn ang="0">
                    <a:pos x="36" y="48"/>
                  </a:cxn>
                  <a:cxn ang="0">
                    <a:pos x="90" y="65"/>
                  </a:cxn>
                </a:cxnLst>
                <a:rect l="0" t="0" r="r" b="b"/>
                <a:pathLst>
                  <a:path w="101" h="102">
                    <a:moveTo>
                      <a:pt x="90" y="65"/>
                    </a:moveTo>
                    <a:lnTo>
                      <a:pt x="36" y="48"/>
                    </a:lnTo>
                    <a:lnTo>
                      <a:pt x="0" y="74"/>
                    </a:lnTo>
                    <a:lnTo>
                      <a:pt x="46" y="102"/>
                    </a:lnTo>
                    <a:lnTo>
                      <a:pt x="82" y="76"/>
                    </a:lnTo>
                    <a:lnTo>
                      <a:pt x="29" y="59"/>
                    </a:lnTo>
                    <a:lnTo>
                      <a:pt x="90" y="65"/>
                    </a:lnTo>
                    <a:lnTo>
                      <a:pt x="101" y="0"/>
                    </a:lnTo>
                    <a:lnTo>
                      <a:pt x="36" y="48"/>
                    </a:lnTo>
                    <a:lnTo>
                      <a:pt x="90" y="65"/>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07" name="Freeform 139"/>
              <p:cNvSpPr>
                <a:spLocks/>
              </p:cNvSpPr>
              <p:nvPr/>
            </p:nvSpPr>
            <p:spPr bwMode="auto">
              <a:xfrm>
                <a:off x="3724" y="2545"/>
                <a:ext cx="76" cy="41"/>
              </a:xfrm>
              <a:custGeom>
                <a:avLst/>
                <a:gdLst/>
                <a:ahLst/>
                <a:cxnLst>
                  <a:cxn ang="0">
                    <a:pos x="24" y="26"/>
                  </a:cxn>
                  <a:cxn ang="0">
                    <a:pos x="68" y="47"/>
                  </a:cxn>
                  <a:cxn ang="0">
                    <a:pos x="76" y="6"/>
                  </a:cxn>
                  <a:cxn ang="0">
                    <a:pos x="15" y="0"/>
                  </a:cxn>
                  <a:cxn ang="0">
                    <a:pos x="7" y="42"/>
                  </a:cxn>
                  <a:cxn ang="0">
                    <a:pos x="51" y="63"/>
                  </a:cxn>
                  <a:cxn ang="0">
                    <a:pos x="7" y="42"/>
                  </a:cxn>
                  <a:cxn ang="0">
                    <a:pos x="0" y="84"/>
                  </a:cxn>
                  <a:cxn ang="0">
                    <a:pos x="51" y="63"/>
                  </a:cxn>
                  <a:cxn ang="0">
                    <a:pos x="24" y="26"/>
                  </a:cxn>
                </a:cxnLst>
                <a:rect l="0" t="0" r="r" b="b"/>
                <a:pathLst>
                  <a:path w="76" h="84">
                    <a:moveTo>
                      <a:pt x="24" y="26"/>
                    </a:moveTo>
                    <a:lnTo>
                      <a:pt x="68" y="47"/>
                    </a:lnTo>
                    <a:lnTo>
                      <a:pt x="76" y="6"/>
                    </a:lnTo>
                    <a:lnTo>
                      <a:pt x="15" y="0"/>
                    </a:lnTo>
                    <a:lnTo>
                      <a:pt x="7" y="42"/>
                    </a:lnTo>
                    <a:lnTo>
                      <a:pt x="51" y="63"/>
                    </a:lnTo>
                    <a:lnTo>
                      <a:pt x="7" y="42"/>
                    </a:lnTo>
                    <a:lnTo>
                      <a:pt x="0" y="84"/>
                    </a:lnTo>
                    <a:lnTo>
                      <a:pt x="51" y="63"/>
                    </a:lnTo>
                    <a:lnTo>
                      <a:pt x="24" y="26"/>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08" name="Freeform 140"/>
              <p:cNvSpPr>
                <a:spLocks/>
              </p:cNvSpPr>
              <p:nvPr/>
            </p:nvSpPr>
            <p:spPr bwMode="auto">
              <a:xfrm>
                <a:off x="3748" y="2532"/>
                <a:ext cx="134" cy="44"/>
              </a:xfrm>
              <a:custGeom>
                <a:avLst/>
                <a:gdLst/>
                <a:ahLst/>
                <a:cxnLst>
                  <a:cxn ang="0">
                    <a:pos x="96" y="57"/>
                  </a:cxn>
                  <a:cxn ang="0">
                    <a:pos x="54" y="30"/>
                  </a:cxn>
                  <a:cxn ang="0">
                    <a:pos x="0" y="49"/>
                  </a:cxn>
                  <a:cxn ang="0">
                    <a:pos x="27" y="86"/>
                  </a:cxn>
                  <a:cxn ang="0">
                    <a:pos x="80" y="66"/>
                  </a:cxn>
                  <a:cxn ang="0">
                    <a:pos x="39" y="39"/>
                  </a:cxn>
                  <a:cxn ang="0">
                    <a:pos x="96" y="57"/>
                  </a:cxn>
                  <a:cxn ang="0">
                    <a:pos x="134" y="0"/>
                  </a:cxn>
                  <a:cxn ang="0">
                    <a:pos x="54" y="30"/>
                  </a:cxn>
                  <a:cxn ang="0">
                    <a:pos x="96" y="57"/>
                  </a:cxn>
                </a:cxnLst>
                <a:rect l="0" t="0" r="r" b="b"/>
                <a:pathLst>
                  <a:path w="134" h="86">
                    <a:moveTo>
                      <a:pt x="96" y="57"/>
                    </a:moveTo>
                    <a:lnTo>
                      <a:pt x="54" y="30"/>
                    </a:lnTo>
                    <a:lnTo>
                      <a:pt x="0" y="49"/>
                    </a:lnTo>
                    <a:lnTo>
                      <a:pt x="27" y="86"/>
                    </a:lnTo>
                    <a:lnTo>
                      <a:pt x="80" y="66"/>
                    </a:lnTo>
                    <a:lnTo>
                      <a:pt x="39" y="39"/>
                    </a:lnTo>
                    <a:lnTo>
                      <a:pt x="96" y="57"/>
                    </a:lnTo>
                    <a:lnTo>
                      <a:pt x="134" y="0"/>
                    </a:lnTo>
                    <a:lnTo>
                      <a:pt x="54" y="30"/>
                    </a:lnTo>
                    <a:lnTo>
                      <a:pt x="96" y="57"/>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09" name="Freeform 141"/>
              <p:cNvSpPr>
                <a:spLocks/>
              </p:cNvSpPr>
              <p:nvPr/>
            </p:nvSpPr>
            <p:spPr bwMode="auto">
              <a:xfrm>
                <a:off x="3732" y="2553"/>
                <a:ext cx="112" cy="37"/>
              </a:xfrm>
              <a:custGeom>
                <a:avLst/>
                <a:gdLst/>
                <a:ahLst/>
                <a:cxnLst>
                  <a:cxn ang="0">
                    <a:pos x="50" y="27"/>
                  </a:cxn>
                  <a:cxn ang="0">
                    <a:pos x="84" y="57"/>
                  </a:cxn>
                  <a:cxn ang="0">
                    <a:pos x="111" y="18"/>
                  </a:cxn>
                  <a:cxn ang="0">
                    <a:pos x="54" y="0"/>
                  </a:cxn>
                  <a:cxn ang="0">
                    <a:pos x="27" y="39"/>
                  </a:cxn>
                  <a:cxn ang="0">
                    <a:pos x="61" y="69"/>
                  </a:cxn>
                  <a:cxn ang="0">
                    <a:pos x="27" y="39"/>
                  </a:cxn>
                  <a:cxn ang="0">
                    <a:pos x="0" y="77"/>
                  </a:cxn>
                  <a:cxn ang="0">
                    <a:pos x="61" y="69"/>
                  </a:cxn>
                  <a:cxn ang="0">
                    <a:pos x="50" y="27"/>
                  </a:cxn>
                </a:cxnLst>
                <a:rect l="0" t="0" r="r" b="b"/>
                <a:pathLst>
                  <a:path w="111" h="77">
                    <a:moveTo>
                      <a:pt x="50" y="27"/>
                    </a:moveTo>
                    <a:lnTo>
                      <a:pt x="84" y="57"/>
                    </a:lnTo>
                    <a:lnTo>
                      <a:pt x="111" y="18"/>
                    </a:lnTo>
                    <a:lnTo>
                      <a:pt x="54" y="0"/>
                    </a:lnTo>
                    <a:lnTo>
                      <a:pt x="27" y="39"/>
                    </a:lnTo>
                    <a:lnTo>
                      <a:pt x="61" y="69"/>
                    </a:lnTo>
                    <a:lnTo>
                      <a:pt x="27" y="39"/>
                    </a:lnTo>
                    <a:lnTo>
                      <a:pt x="0" y="77"/>
                    </a:lnTo>
                    <a:lnTo>
                      <a:pt x="61" y="69"/>
                    </a:lnTo>
                    <a:lnTo>
                      <a:pt x="50" y="27"/>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10" name="Freeform 142"/>
              <p:cNvSpPr>
                <a:spLocks/>
              </p:cNvSpPr>
              <p:nvPr/>
            </p:nvSpPr>
            <p:spPr bwMode="auto">
              <a:xfrm>
                <a:off x="3783" y="2554"/>
                <a:ext cx="173" cy="32"/>
              </a:xfrm>
              <a:custGeom>
                <a:avLst/>
                <a:gdLst/>
                <a:ahLst/>
                <a:cxnLst>
                  <a:cxn ang="0">
                    <a:pos x="87" y="51"/>
                  </a:cxn>
                  <a:cxn ang="0">
                    <a:pos x="61" y="15"/>
                  </a:cxn>
                  <a:cxn ang="0">
                    <a:pos x="0" y="22"/>
                  </a:cxn>
                  <a:cxn ang="0">
                    <a:pos x="11" y="64"/>
                  </a:cxn>
                  <a:cxn ang="0">
                    <a:pos x="72" y="56"/>
                  </a:cxn>
                  <a:cxn ang="0">
                    <a:pos x="45" y="20"/>
                  </a:cxn>
                  <a:cxn ang="0">
                    <a:pos x="87" y="51"/>
                  </a:cxn>
                  <a:cxn ang="0">
                    <a:pos x="173" y="0"/>
                  </a:cxn>
                  <a:cxn ang="0">
                    <a:pos x="61" y="15"/>
                  </a:cxn>
                  <a:cxn ang="0">
                    <a:pos x="87" y="51"/>
                  </a:cxn>
                </a:cxnLst>
                <a:rect l="0" t="0" r="r" b="b"/>
                <a:pathLst>
                  <a:path w="173" h="64">
                    <a:moveTo>
                      <a:pt x="87" y="51"/>
                    </a:moveTo>
                    <a:lnTo>
                      <a:pt x="61" y="15"/>
                    </a:lnTo>
                    <a:lnTo>
                      <a:pt x="0" y="22"/>
                    </a:lnTo>
                    <a:lnTo>
                      <a:pt x="11" y="64"/>
                    </a:lnTo>
                    <a:lnTo>
                      <a:pt x="72" y="56"/>
                    </a:lnTo>
                    <a:lnTo>
                      <a:pt x="45" y="20"/>
                    </a:lnTo>
                    <a:lnTo>
                      <a:pt x="87" y="51"/>
                    </a:lnTo>
                    <a:lnTo>
                      <a:pt x="173" y="0"/>
                    </a:lnTo>
                    <a:lnTo>
                      <a:pt x="61" y="15"/>
                    </a:lnTo>
                    <a:lnTo>
                      <a:pt x="87" y="51"/>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11" name="Freeform 143"/>
              <p:cNvSpPr>
                <a:spLocks/>
              </p:cNvSpPr>
              <p:nvPr/>
            </p:nvSpPr>
            <p:spPr bwMode="auto">
              <a:xfrm>
                <a:off x="3739" y="2563"/>
                <a:ext cx="129" cy="32"/>
              </a:xfrm>
              <a:custGeom>
                <a:avLst/>
                <a:gdLst/>
                <a:ahLst/>
                <a:cxnLst>
                  <a:cxn ang="0">
                    <a:pos x="74" y="21"/>
                  </a:cxn>
                  <a:cxn ang="0">
                    <a:pos x="88" y="57"/>
                  </a:cxn>
                  <a:cxn ang="0">
                    <a:pos x="131" y="31"/>
                  </a:cxn>
                  <a:cxn ang="0">
                    <a:pos x="89" y="0"/>
                  </a:cxn>
                  <a:cxn ang="0">
                    <a:pos x="46" y="26"/>
                  </a:cxn>
                  <a:cxn ang="0">
                    <a:pos x="59" y="62"/>
                  </a:cxn>
                  <a:cxn ang="0">
                    <a:pos x="46" y="26"/>
                  </a:cxn>
                  <a:cxn ang="0">
                    <a:pos x="0" y="52"/>
                  </a:cxn>
                  <a:cxn ang="0">
                    <a:pos x="59" y="62"/>
                  </a:cxn>
                  <a:cxn ang="0">
                    <a:pos x="74" y="21"/>
                  </a:cxn>
                </a:cxnLst>
                <a:rect l="0" t="0" r="r" b="b"/>
                <a:pathLst>
                  <a:path w="131" h="62">
                    <a:moveTo>
                      <a:pt x="74" y="21"/>
                    </a:moveTo>
                    <a:lnTo>
                      <a:pt x="88" y="57"/>
                    </a:lnTo>
                    <a:lnTo>
                      <a:pt x="131" y="31"/>
                    </a:lnTo>
                    <a:lnTo>
                      <a:pt x="89" y="0"/>
                    </a:lnTo>
                    <a:lnTo>
                      <a:pt x="46" y="26"/>
                    </a:lnTo>
                    <a:lnTo>
                      <a:pt x="59" y="62"/>
                    </a:lnTo>
                    <a:lnTo>
                      <a:pt x="46" y="26"/>
                    </a:lnTo>
                    <a:lnTo>
                      <a:pt x="0" y="52"/>
                    </a:lnTo>
                    <a:lnTo>
                      <a:pt x="59" y="62"/>
                    </a:lnTo>
                    <a:lnTo>
                      <a:pt x="74" y="21"/>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12" name="Freeform 144"/>
              <p:cNvSpPr>
                <a:spLocks/>
              </p:cNvSpPr>
              <p:nvPr/>
            </p:nvSpPr>
            <p:spPr bwMode="auto">
              <a:xfrm>
                <a:off x="3797" y="2575"/>
                <a:ext cx="129" cy="26"/>
              </a:xfrm>
              <a:custGeom>
                <a:avLst/>
                <a:gdLst/>
                <a:ahLst/>
                <a:cxnLst>
                  <a:cxn ang="0">
                    <a:pos x="78" y="46"/>
                  </a:cxn>
                  <a:cxn ang="0">
                    <a:pos x="67" y="9"/>
                  </a:cxn>
                  <a:cxn ang="0">
                    <a:pos x="15" y="0"/>
                  </a:cxn>
                  <a:cxn ang="0">
                    <a:pos x="0" y="41"/>
                  </a:cxn>
                  <a:cxn ang="0">
                    <a:pos x="51" y="50"/>
                  </a:cxn>
                  <a:cxn ang="0">
                    <a:pos x="40" y="13"/>
                  </a:cxn>
                  <a:cxn ang="0">
                    <a:pos x="78" y="46"/>
                  </a:cxn>
                  <a:cxn ang="0">
                    <a:pos x="130" y="20"/>
                  </a:cxn>
                  <a:cxn ang="0">
                    <a:pos x="67" y="9"/>
                  </a:cxn>
                  <a:cxn ang="0">
                    <a:pos x="78" y="46"/>
                  </a:cxn>
                </a:cxnLst>
                <a:rect l="0" t="0" r="r" b="b"/>
                <a:pathLst>
                  <a:path w="130" h="50">
                    <a:moveTo>
                      <a:pt x="78" y="46"/>
                    </a:moveTo>
                    <a:lnTo>
                      <a:pt x="67" y="9"/>
                    </a:lnTo>
                    <a:lnTo>
                      <a:pt x="15" y="0"/>
                    </a:lnTo>
                    <a:lnTo>
                      <a:pt x="0" y="41"/>
                    </a:lnTo>
                    <a:lnTo>
                      <a:pt x="51" y="50"/>
                    </a:lnTo>
                    <a:lnTo>
                      <a:pt x="40" y="13"/>
                    </a:lnTo>
                    <a:lnTo>
                      <a:pt x="78" y="46"/>
                    </a:lnTo>
                    <a:lnTo>
                      <a:pt x="130" y="20"/>
                    </a:lnTo>
                    <a:lnTo>
                      <a:pt x="67" y="9"/>
                    </a:lnTo>
                    <a:lnTo>
                      <a:pt x="78" y="46"/>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13" name="Freeform 145"/>
              <p:cNvSpPr>
                <a:spLocks/>
              </p:cNvSpPr>
              <p:nvPr/>
            </p:nvSpPr>
            <p:spPr bwMode="auto">
              <a:xfrm>
                <a:off x="3754" y="2581"/>
                <a:ext cx="122" cy="31"/>
              </a:xfrm>
              <a:custGeom>
                <a:avLst/>
                <a:gdLst/>
                <a:ahLst/>
                <a:cxnLst>
                  <a:cxn ang="0">
                    <a:pos x="73" y="20"/>
                  </a:cxn>
                  <a:cxn ang="0">
                    <a:pos x="78" y="57"/>
                  </a:cxn>
                  <a:cxn ang="0">
                    <a:pos x="122" y="33"/>
                  </a:cxn>
                  <a:cxn ang="0">
                    <a:pos x="84" y="0"/>
                  </a:cxn>
                  <a:cxn ang="0">
                    <a:pos x="40" y="23"/>
                  </a:cxn>
                  <a:cxn ang="0">
                    <a:pos x="46" y="59"/>
                  </a:cxn>
                  <a:cxn ang="0">
                    <a:pos x="40" y="23"/>
                  </a:cxn>
                  <a:cxn ang="0">
                    <a:pos x="0" y="44"/>
                  </a:cxn>
                  <a:cxn ang="0">
                    <a:pos x="46" y="59"/>
                  </a:cxn>
                  <a:cxn ang="0">
                    <a:pos x="73" y="20"/>
                  </a:cxn>
                </a:cxnLst>
                <a:rect l="0" t="0" r="r" b="b"/>
                <a:pathLst>
                  <a:path w="122" h="59">
                    <a:moveTo>
                      <a:pt x="73" y="20"/>
                    </a:moveTo>
                    <a:lnTo>
                      <a:pt x="78" y="57"/>
                    </a:lnTo>
                    <a:lnTo>
                      <a:pt x="122" y="33"/>
                    </a:lnTo>
                    <a:lnTo>
                      <a:pt x="84" y="0"/>
                    </a:lnTo>
                    <a:lnTo>
                      <a:pt x="40" y="23"/>
                    </a:lnTo>
                    <a:lnTo>
                      <a:pt x="46" y="59"/>
                    </a:lnTo>
                    <a:lnTo>
                      <a:pt x="40" y="23"/>
                    </a:lnTo>
                    <a:lnTo>
                      <a:pt x="0" y="44"/>
                    </a:lnTo>
                    <a:lnTo>
                      <a:pt x="46" y="59"/>
                    </a:lnTo>
                    <a:lnTo>
                      <a:pt x="73" y="20"/>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14" name="Freeform 146"/>
              <p:cNvSpPr>
                <a:spLocks/>
              </p:cNvSpPr>
              <p:nvPr/>
            </p:nvSpPr>
            <p:spPr bwMode="auto">
              <a:xfrm>
                <a:off x="3800" y="2590"/>
                <a:ext cx="143" cy="27"/>
              </a:xfrm>
              <a:custGeom>
                <a:avLst/>
                <a:gdLst/>
                <a:ahLst/>
                <a:cxnLst>
                  <a:cxn ang="0">
                    <a:pos x="65" y="55"/>
                  </a:cxn>
                  <a:cxn ang="0">
                    <a:pos x="70" y="15"/>
                  </a:cxn>
                  <a:cxn ang="0">
                    <a:pos x="27" y="0"/>
                  </a:cxn>
                  <a:cxn ang="0">
                    <a:pos x="0" y="39"/>
                  </a:cxn>
                  <a:cxn ang="0">
                    <a:pos x="44" y="54"/>
                  </a:cxn>
                  <a:cxn ang="0">
                    <a:pos x="49" y="13"/>
                  </a:cxn>
                  <a:cxn ang="0">
                    <a:pos x="65" y="55"/>
                  </a:cxn>
                  <a:cxn ang="0">
                    <a:pos x="143" y="38"/>
                  </a:cxn>
                  <a:cxn ang="0">
                    <a:pos x="70" y="15"/>
                  </a:cxn>
                  <a:cxn ang="0">
                    <a:pos x="65" y="55"/>
                  </a:cxn>
                </a:cxnLst>
                <a:rect l="0" t="0" r="r" b="b"/>
                <a:pathLst>
                  <a:path w="143" h="55">
                    <a:moveTo>
                      <a:pt x="65" y="55"/>
                    </a:moveTo>
                    <a:lnTo>
                      <a:pt x="70" y="15"/>
                    </a:lnTo>
                    <a:lnTo>
                      <a:pt x="27" y="0"/>
                    </a:lnTo>
                    <a:lnTo>
                      <a:pt x="0" y="39"/>
                    </a:lnTo>
                    <a:lnTo>
                      <a:pt x="44" y="54"/>
                    </a:lnTo>
                    <a:lnTo>
                      <a:pt x="49" y="13"/>
                    </a:lnTo>
                    <a:lnTo>
                      <a:pt x="65" y="55"/>
                    </a:lnTo>
                    <a:lnTo>
                      <a:pt x="143" y="38"/>
                    </a:lnTo>
                    <a:lnTo>
                      <a:pt x="70" y="15"/>
                    </a:lnTo>
                    <a:lnTo>
                      <a:pt x="65" y="55"/>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15" name="Freeform 147"/>
              <p:cNvSpPr>
                <a:spLocks/>
              </p:cNvSpPr>
              <p:nvPr/>
            </p:nvSpPr>
            <p:spPr bwMode="auto">
              <a:xfrm>
                <a:off x="3739" y="2599"/>
                <a:ext cx="126" cy="26"/>
              </a:xfrm>
              <a:custGeom>
                <a:avLst/>
                <a:gdLst/>
                <a:ahLst/>
                <a:cxnLst>
                  <a:cxn ang="0">
                    <a:pos x="84" y="17"/>
                  </a:cxn>
                  <a:cxn ang="0">
                    <a:pos x="70" y="54"/>
                  </a:cxn>
                  <a:cxn ang="0">
                    <a:pos x="126" y="42"/>
                  </a:cxn>
                  <a:cxn ang="0">
                    <a:pos x="110" y="0"/>
                  </a:cxn>
                  <a:cxn ang="0">
                    <a:pos x="55" y="12"/>
                  </a:cxn>
                  <a:cxn ang="0">
                    <a:pos x="42" y="48"/>
                  </a:cxn>
                  <a:cxn ang="0">
                    <a:pos x="55" y="12"/>
                  </a:cxn>
                  <a:cxn ang="0">
                    <a:pos x="0" y="24"/>
                  </a:cxn>
                  <a:cxn ang="0">
                    <a:pos x="42" y="48"/>
                  </a:cxn>
                  <a:cxn ang="0">
                    <a:pos x="84" y="17"/>
                  </a:cxn>
                </a:cxnLst>
                <a:rect l="0" t="0" r="r" b="b"/>
                <a:pathLst>
                  <a:path w="126" h="54">
                    <a:moveTo>
                      <a:pt x="84" y="17"/>
                    </a:moveTo>
                    <a:lnTo>
                      <a:pt x="70" y="54"/>
                    </a:lnTo>
                    <a:lnTo>
                      <a:pt x="126" y="42"/>
                    </a:lnTo>
                    <a:lnTo>
                      <a:pt x="110" y="0"/>
                    </a:lnTo>
                    <a:lnTo>
                      <a:pt x="55" y="12"/>
                    </a:lnTo>
                    <a:lnTo>
                      <a:pt x="42" y="48"/>
                    </a:lnTo>
                    <a:lnTo>
                      <a:pt x="55" y="12"/>
                    </a:lnTo>
                    <a:lnTo>
                      <a:pt x="0" y="24"/>
                    </a:lnTo>
                    <a:lnTo>
                      <a:pt x="42" y="48"/>
                    </a:lnTo>
                    <a:lnTo>
                      <a:pt x="84" y="17"/>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16" name="Freeform 148"/>
              <p:cNvSpPr>
                <a:spLocks/>
              </p:cNvSpPr>
              <p:nvPr/>
            </p:nvSpPr>
            <p:spPr bwMode="auto">
              <a:xfrm>
                <a:off x="3780" y="2607"/>
                <a:ext cx="153" cy="34"/>
              </a:xfrm>
              <a:custGeom>
                <a:avLst/>
                <a:gdLst/>
                <a:ahLst/>
                <a:cxnLst>
                  <a:cxn ang="0">
                    <a:pos x="57" y="60"/>
                  </a:cxn>
                  <a:cxn ang="0">
                    <a:pos x="80" y="24"/>
                  </a:cxn>
                  <a:cxn ang="0">
                    <a:pos x="42" y="0"/>
                  </a:cxn>
                  <a:cxn ang="0">
                    <a:pos x="0" y="31"/>
                  </a:cxn>
                  <a:cxn ang="0">
                    <a:pos x="38" y="55"/>
                  </a:cxn>
                  <a:cxn ang="0">
                    <a:pos x="61" y="18"/>
                  </a:cxn>
                  <a:cxn ang="0">
                    <a:pos x="57" y="60"/>
                  </a:cxn>
                  <a:cxn ang="0">
                    <a:pos x="152" y="66"/>
                  </a:cxn>
                  <a:cxn ang="0">
                    <a:pos x="80" y="24"/>
                  </a:cxn>
                  <a:cxn ang="0">
                    <a:pos x="57" y="60"/>
                  </a:cxn>
                </a:cxnLst>
                <a:rect l="0" t="0" r="r" b="b"/>
                <a:pathLst>
                  <a:path w="152" h="66">
                    <a:moveTo>
                      <a:pt x="57" y="60"/>
                    </a:moveTo>
                    <a:lnTo>
                      <a:pt x="80" y="24"/>
                    </a:lnTo>
                    <a:lnTo>
                      <a:pt x="42" y="0"/>
                    </a:lnTo>
                    <a:lnTo>
                      <a:pt x="0" y="31"/>
                    </a:lnTo>
                    <a:lnTo>
                      <a:pt x="38" y="55"/>
                    </a:lnTo>
                    <a:lnTo>
                      <a:pt x="61" y="18"/>
                    </a:lnTo>
                    <a:lnTo>
                      <a:pt x="57" y="60"/>
                    </a:lnTo>
                    <a:lnTo>
                      <a:pt x="152" y="66"/>
                    </a:lnTo>
                    <a:lnTo>
                      <a:pt x="80" y="24"/>
                    </a:lnTo>
                    <a:lnTo>
                      <a:pt x="57" y="60"/>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17" name="Freeform 149"/>
              <p:cNvSpPr>
                <a:spLocks/>
              </p:cNvSpPr>
              <p:nvPr/>
            </p:nvSpPr>
            <p:spPr bwMode="auto">
              <a:xfrm>
                <a:off x="3745" y="2612"/>
                <a:ext cx="96" cy="25"/>
              </a:xfrm>
              <a:custGeom>
                <a:avLst/>
                <a:gdLst/>
                <a:ahLst/>
                <a:cxnLst>
                  <a:cxn ang="0">
                    <a:pos x="70" y="20"/>
                  </a:cxn>
                  <a:cxn ang="0">
                    <a:pos x="38" y="45"/>
                  </a:cxn>
                  <a:cxn ang="0">
                    <a:pos x="93" y="49"/>
                  </a:cxn>
                  <a:cxn ang="0">
                    <a:pos x="97" y="7"/>
                  </a:cxn>
                  <a:cxn ang="0">
                    <a:pos x="42" y="3"/>
                  </a:cxn>
                  <a:cxn ang="0">
                    <a:pos x="9" y="28"/>
                  </a:cxn>
                  <a:cxn ang="0">
                    <a:pos x="42" y="3"/>
                  </a:cxn>
                  <a:cxn ang="0">
                    <a:pos x="0" y="0"/>
                  </a:cxn>
                  <a:cxn ang="0">
                    <a:pos x="9" y="28"/>
                  </a:cxn>
                  <a:cxn ang="0">
                    <a:pos x="70" y="20"/>
                  </a:cxn>
                </a:cxnLst>
                <a:rect l="0" t="0" r="r" b="b"/>
                <a:pathLst>
                  <a:path w="97" h="49">
                    <a:moveTo>
                      <a:pt x="70" y="20"/>
                    </a:moveTo>
                    <a:lnTo>
                      <a:pt x="38" y="45"/>
                    </a:lnTo>
                    <a:lnTo>
                      <a:pt x="93" y="49"/>
                    </a:lnTo>
                    <a:lnTo>
                      <a:pt x="97" y="7"/>
                    </a:lnTo>
                    <a:lnTo>
                      <a:pt x="42" y="3"/>
                    </a:lnTo>
                    <a:lnTo>
                      <a:pt x="9" y="28"/>
                    </a:lnTo>
                    <a:lnTo>
                      <a:pt x="42" y="3"/>
                    </a:lnTo>
                    <a:lnTo>
                      <a:pt x="0" y="0"/>
                    </a:lnTo>
                    <a:lnTo>
                      <a:pt x="9" y="28"/>
                    </a:lnTo>
                    <a:lnTo>
                      <a:pt x="70" y="20"/>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18" name="Freeform 150"/>
              <p:cNvSpPr>
                <a:spLocks/>
              </p:cNvSpPr>
              <p:nvPr/>
            </p:nvSpPr>
            <p:spPr bwMode="auto">
              <a:xfrm>
                <a:off x="3754" y="2622"/>
                <a:ext cx="82" cy="36"/>
              </a:xfrm>
              <a:custGeom>
                <a:avLst/>
                <a:gdLst/>
                <a:ahLst/>
                <a:cxnLst>
                  <a:cxn ang="0">
                    <a:pos x="23" y="48"/>
                  </a:cxn>
                  <a:cxn ang="0">
                    <a:pos x="69" y="26"/>
                  </a:cxn>
                  <a:cxn ang="0">
                    <a:pos x="61" y="0"/>
                  </a:cxn>
                  <a:cxn ang="0">
                    <a:pos x="0" y="8"/>
                  </a:cxn>
                  <a:cxn ang="0">
                    <a:pos x="8" y="34"/>
                  </a:cxn>
                  <a:cxn ang="0">
                    <a:pos x="53" y="12"/>
                  </a:cxn>
                  <a:cxn ang="0">
                    <a:pos x="23" y="48"/>
                  </a:cxn>
                  <a:cxn ang="0">
                    <a:pos x="82" y="71"/>
                  </a:cxn>
                  <a:cxn ang="0">
                    <a:pos x="69" y="26"/>
                  </a:cxn>
                  <a:cxn ang="0">
                    <a:pos x="23" y="48"/>
                  </a:cxn>
                </a:cxnLst>
                <a:rect l="0" t="0" r="r" b="b"/>
                <a:pathLst>
                  <a:path w="82" h="71">
                    <a:moveTo>
                      <a:pt x="23" y="48"/>
                    </a:moveTo>
                    <a:lnTo>
                      <a:pt x="69" y="26"/>
                    </a:lnTo>
                    <a:lnTo>
                      <a:pt x="61" y="0"/>
                    </a:lnTo>
                    <a:lnTo>
                      <a:pt x="0" y="8"/>
                    </a:lnTo>
                    <a:lnTo>
                      <a:pt x="8" y="34"/>
                    </a:lnTo>
                    <a:lnTo>
                      <a:pt x="53" y="12"/>
                    </a:lnTo>
                    <a:lnTo>
                      <a:pt x="23" y="48"/>
                    </a:lnTo>
                    <a:lnTo>
                      <a:pt x="82" y="71"/>
                    </a:lnTo>
                    <a:lnTo>
                      <a:pt x="69" y="26"/>
                    </a:lnTo>
                    <a:lnTo>
                      <a:pt x="23" y="48"/>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19" name="Freeform 151"/>
              <p:cNvSpPr>
                <a:spLocks/>
              </p:cNvSpPr>
              <p:nvPr/>
            </p:nvSpPr>
            <p:spPr bwMode="auto">
              <a:xfrm>
                <a:off x="3735" y="2619"/>
                <a:ext cx="72" cy="28"/>
              </a:xfrm>
              <a:custGeom>
                <a:avLst/>
                <a:gdLst/>
                <a:ahLst/>
                <a:cxnLst>
                  <a:cxn ang="0">
                    <a:pos x="15" y="44"/>
                  </a:cxn>
                  <a:cxn ang="0">
                    <a:pos x="0" y="40"/>
                  </a:cxn>
                  <a:cxn ang="0">
                    <a:pos x="42" y="55"/>
                  </a:cxn>
                  <a:cxn ang="0">
                    <a:pos x="72" y="19"/>
                  </a:cxn>
                  <a:cxn ang="0">
                    <a:pos x="31" y="3"/>
                  </a:cxn>
                  <a:cxn ang="0">
                    <a:pos x="15" y="0"/>
                  </a:cxn>
                  <a:cxn ang="0">
                    <a:pos x="31" y="3"/>
                  </a:cxn>
                  <a:cxn ang="0">
                    <a:pos x="23" y="0"/>
                  </a:cxn>
                  <a:cxn ang="0">
                    <a:pos x="15" y="0"/>
                  </a:cxn>
                  <a:cxn ang="0">
                    <a:pos x="15" y="44"/>
                  </a:cxn>
                </a:cxnLst>
                <a:rect l="0" t="0" r="r" b="b"/>
                <a:pathLst>
                  <a:path w="72" h="55">
                    <a:moveTo>
                      <a:pt x="15" y="44"/>
                    </a:moveTo>
                    <a:lnTo>
                      <a:pt x="0" y="40"/>
                    </a:lnTo>
                    <a:lnTo>
                      <a:pt x="42" y="55"/>
                    </a:lnTo>
                    <a:lnTo>
                      <a:pt x="72" y="19"/>
                    </a:lnTo>
                    <a:lnTo>
                      <a:pt x="31" y="3"/>
                    </a:lnTo>
                    <a:lnTo>
                      <a:pt x="15" y="0"/>
                    </a:lnTo>
                    <a:lnTo>
                      <a:pt x="31" y="3"/>
                    </a:lnTo>
                    <a:lnTo>
                      <a:pt x="23" y="0"/>
                    </a:lnTo>
                    <a:lnTo>
                      <a:pt x="15" y="0"/>
                    </a:lnTo>
                    <a:lnTo>
                      <a:pt x="15" y="44"/>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20" name="Freeform 152"/>
              <p:cNvSpPr>
                <a:spLocks/>
              </p:cNvSpPr>
              <p:nvPr/>
            </p:nvSpPr>
            <p:spPr bwMode="auto">
              <a:xfrm>
                <a:off x="3616" y="2619"/>
                <a:ext cx="133" cy="22"/>
              </a:xfrm>
              <a:custGeom>
                <a:avLst/>
                <a:gdLst/>
                <a:ahLst/>
                <a:cxnLst>
                  <a:cxn ang="0">
                    <a:pos x="26" y="41"/>
                  </a:cxn>
                  <a:cxn ang="0">
                    <a:pos x="13" y="44"/>
                  </a:cxn>
                  <a:cxn ang="0">
                    <a:pos x="133" y="44"/>
                  </a:cxn>
                  <a:cxn ang="0">
                    <a:pos x="133" y="0"/>
                  </a:cxn>
                  <a:cxn ang="0">
                    <a:pos x="13" y="0"/>
                  </a:cxn>
                  <a:cxn ang="0">
                    <a:pos x="0" y="2"/>
                  </a:cxn>
                  <a:cxn ang="0">
                    <a:pos x="13" y="0"/>
                  </a:cxn>
                  <a:cxn ang="0">
                    <a:pos x="7" y="1"/>
                  </a:cxn>
                  <a:cxn ang="0">
                    <a:pos x="0" y="2"/>
                  </a:cxn>
                  <a:cxn ang="0">
                    <a:pos x="26" y="41"/>
                  </a:cxn>
                </a:cxnLst>
                <a:rect l="0" t="0" r="r" b="b"/>
                <a:pathLst>
                  <a:path w="133" h="44">
                    <a:moveTo>
                      <a:pt x="26" y="41"/>
                    </a:moveTo>
                    <a:lnTo>
                      <a:pt x="13" y="44"/>
                    </a:lnTo>
                    <a:lnTo>
                      <a:pt x="133" y="44"/>
                    </a:lnTo>
                    <a:lnTo>
                      <a:pt x="133" y="0"/>
                    </a:lnTo>
                    <a:lnTo>
                      <a:pt x="13" y="0"/>
                    </a:lnTo>
                    <a:lnTo>
                      <a:pt x="0" y="2"/>
                    </a:lnTo>
                    <a:lnTo>
                      <a:pt x="13" y="0"/>
                    </a:lnTo>
                    <a:lnTo>
                      <a:pt x="7" y="1"/>
                    </a:lnTo>
                    <a:lnTo>
                      <a:pt x="0" y="2"/>
                    </a:lnTo>
                    <a:lnTo>
                      <a:pt x="26" y="41"/>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21" name="Freeform 153"/>
              <p:cNvSpPr>
                <a:spLocks/>
              </p:cNvSpPr>
              <p:nvPr/>
            </p:nvSpPr>
            <p:spPr bwMode="auto">
              <a:xfrm>
                <a:off x="3527" y="2620"/>
                <a:ext cx="116" cy="39"/>
              </a:xfrm>
              <a:custGeom>
                <a:avLst/>
                <a:gdLst/>
                <a:ahLst/>
                <a:cxnLst>
                  <a:cxn ang="0">
                    <a:pos x="19" y="33"/>
                  </a:cxn>
                  <a:cxn ang="0">
                    <a:pos x="63" y="57"/>
                  </a:cxn>
                  <a:cxn ang="0">
                    <a:pos x="116" y="39"/>
                  </a:cxn>
                  <a:cxn ang="0">
                    <a:pos x="90" y="0"/>
                  </a:cxn>
                  <a:cxn ang="0">
                    <a:pos x="36" y="18"/>
                  </a:cxn>
                  <a:cxn ang="0">
                    <a:pos x="80" y="43"/>
                  </a:cxn>
                  <a:cxn ang="0">
                    <a:pos x="19" y="33"/>
                  </a:cxn>
                  <a:cxn ang="0">
                    <a:pos x="0" y="78"/>
                  </a:cxn>
                  <a:cxn ang="0">
                    <a:pos x="63" y="57"/>
                  </a:cxn>
                  <a:cxn ang="0">
                    <a:pos x="19" y="33"/>
                  </a:cxn>
                </a:cxnLst>
                <a:rect l="0" t="0" r="r" b="b"/>
                <a:pathLst>
                  <a:path w="116" h="78">
                    <a:moveTo>
                      <a:pt x="19" y="33"/>
                    </a:moveTo>
                    <a:lnTo>
                      <a:pt x="63" y="57"/>
                    </a:lnTo>
                    <a:lnTo>
                      <a:pt x="116" y="39"/>
                    </a:lnTo>
                    <a:lnTo>
                      <a:pt x="90" y="0"/>
                    </a:lnTo>
                    <a:lnTo>
                      <a:pt x="36" y="18"/>
                    </a:lnTo>
                    <a:lnTo>
                      <a:pt x="80" y="43"/>
                    </a:lnTo>
                    <a:lnTo>
                      <a:pt x="19" y="33"/>
                    </a:lnTo>
                    <a:lnTo>
                      <a:pt x="0" y="78"/>
                    </a:lnTo>
                    <a:lnTo>
                      <a:pt x="63" y="57"/>
                    </a:lnTo>
                    <a:lnTo>
                      <a:pt x="19" y="33"/>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22" name="Freeform 154"/>
              <p:cNvSpPr>
                <a:spLocks/>
              </p:cNvSpPr>
              <p:nvPr/>
            </p:nvSpPr>
            <p:spPr bwMode="auto">
              <a:xfrm>
                <a:off x="3544" y="2602"/>
                <a:ext cx="96" cy="40"/>
              </a:xfrm>
              <a:custGeom>
                <a:avLst/>
                <a:gdLst/>
                <a:ahLst/>
                <a:cxnLst>
                  <a:cxn ang="0">
                    <a:pos x="57" y="53"/>
                  </a:cxn>
                  <a:cxn ang="0">
                    <a:pos x="17" y="27"/>
                  </a:cxn>
                  <a:cxn ang="0">
                    <a:pos x="0" y="69"/>
                  </a:cxn>
                  <a:cxn ang="0">
                    <a:pos x="61" y="79"/>
                  </a:cxn>
                  <a:cxn ang="0">
                    <a:pos x="78" y="37"/>
                  </a:cxn>
                  <a:cxn ang="0">
                    <a:pos x="38" y="11"/>
                  </a:cxn>
                  <a:cxn ang="0">
                    <a:pos x="78" y="37"/>
                  </a:cxn>
                  <a:cxn ang="0">
                    <a:pos x="94" y="0"/>
                  </a:cxn>
                  <a:cxn ang="0">
                    <a:pos x="38" y="11"/>
                  </a:cxn>
                  <a:cxn ang="0">
                    <a:pos x="57" y="53"/>
                  </a:cxn>
                </a:cxnLst>
                <a:rect l="0" t="0" r="r" b="b"/>
                <a:pathLst>
                  <a:path w="94" h="79">
                    <a:moveTo>
                      <a:pt x="57" y="53"/>
                    </a:moveTo>
                    <a:lnTo>
                      <a:pt x="17" y="27"/>
                    </a:lnTo>
                    <a:lnTo>
                      <a:pt x="0" y="69"/>
                    </a:lnTo>
                    <a:lnTo>
                      <a:pt x="61" y="79"/>
                    </a:lnTo>
                    <a:lnTo>
                      <a:pt x="78" y="37"/>
                    </a:lnTo>
                    <a:lnTo>
                      <a:pt x="38" y="11"/>
                    </a:lnTo>
                    <a:lnTo>
                      <a:pt x="78" y="37"/>
                    </a:lnTo>
                    <a:lnTo>
                      <a:pt x="94" y="0"/>
                    </a:lnTo>
                    <a:lnTo>
                      <a:pt x="38" y="11"/>
                    </a:lnTo>
                    <a:lnTo>
                      <a:pt x="57" y="53"/>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23" name="Freeform 155"/>
              <p:cNvSpPr>
                <a:spLocks/>
              </p:cNvSpPr>
              <p:nvPr/>
            </p:nvSpPr>
            <p:spPr bwMode="auto">
              <a:xfrm>
                <a:off x="3493" y="2608"/>
                <a:ext cx="109" cy="32"/>
              </a:xfrm>
              <a:custGeom>
                <a:avLst/>
                <a:gdLst/>
                <a:ahLst/>
                <a:cxnLst>
                  <a:cxn ang="0">
                    <a:pos x="30" y="21"/>
                  </a:cxn>
                  <a:cxn ang="0">
                    <a:pos x="68" y="51"/>
                  </a:cxn>
                  <a:cxn ang="0">
                    <a:pos x="110" y="42"/>
                  </a:cxn>
                  <a:cxn ang="0">
                    <a:pos x="91" y="0"/>
                  </a:cxn>
                  <a:cxn ang="0">
                    <a:pos x="49" y="10"/>
                  </a:cxn>
                  <a:cxn ang="0">
                    <a:pos x="87" y="39"/>
                  </a:cxn>
                  <a:cxn ang="0">
                    <a:pos x="30" y="21"/>
                  </a:cxn>
                  <a:cxn ang="0">
                    <a:pos x="0" y="65"/>
                  </a:cxn>
                  <a:cxn ang="0">
                    <a:pos x="68" y="51"/>
                  </a:cxn>
                  <a:cxn ang="0">
                    <a:pos x="30" y="21"/>
                  </a:cxn>
                </a:cxnLst>
                <a:rect l="0" t="0" r="r" b="b"/>
                <a:pathLst>
                  <a:path w="110" h="65">
                    <a:moveTo>
                      <a:pt x="30" y="21"/>
                    </a:moveTo>
                    <a:lnTo>
                      <a:pt x="68" y="51"/>
                    </a:lnTo>
                    <a:lnTo>
                      <a:pt x="110" y="42"/>
                    </a:lnTo>
                    <a:lnTo>
                      <a:pt x="91" y="0"/>
                    </a:lnTo>
                    <a:lnTo>
                      <a:pt x="49" y="10"/>
                    </a:lnTo>
                    <a:lnTo>
                      <a:pt x="87" y="39"/>
                    </a:lnTo>
                    <a:lnTo>
                      <a:pt x="30" y="21"/>
                    </a:lnTo>
                    <a:lnTo>
                      <a:pt x="0" y="65"/>
                    </a:lnTo>
                    <a:lnTo>
                      <a:pt x="68" y="51"/>
                    </a:lnTo>
                    <a:lnTo>
                      <a:pt x="30" y="21"/>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24" name="Freeform 156"/>
              <p:cNvSpPr>
                <a:spLocks/>
              </p:cNvSpPr>
              <p:nvPr/>
            </p:nvSpPr>
            <p:spPr bwMode="auto">
              <a:xfrm>
                <a:off x="3523" y="2594"/>
                <a:ext cx="99" cy="32"/>
              </a:xfrm>
              <a:custGeom>
                <a:avLst/>
                <a:gdLst/>
                <a:ahLst/>
                <a:cxnLst>
                  <a:cxn ang="0">
                    <a:pos x="50" y="42"/>
                  </a:cxn>
                  <a:cxn ang="0">
                    <a:pos x="25" y="12"/>
                  </a:cxn>
                  <a:cxn ang="0">
                    <a:pos x="0" y="48"/>
                  </a:cxn>
                  <a:cxn ang="0">
                    <a:pos x="57" y="66"/>
                  </a:cxn>
                  <a:cxn ang="0">
                    <a:pos x="82" y="30"/>
                  </a:cxn>
                  <a:cxn ang="0">
                    <a:pos x="57" y="0"/>
                  </a:cxn>
                  <a:cxn ang="0">
                    <a:pos x="82" y="30"/>
                  </a:cxn>
                  <a:cxn ang="0">
                    <a:pos x="99" y="4"/>
                  </a:cxn>
                  <a:cxn ang="0">
                    <a:pos x="57" y="0"/>
                  </a:cxn>
                  <a:cxn ang="0">
                    <a:pos x="50" y="42"/>
                  </a:cxn>
                </a:cxnLst>
                <a:rect l="0" t="0" r="r" b="b"/>
                <a:pathLst>
                  <a:path w="99" h="66">
                    <a:moveTo>
                      <a:pt x="50" y="42"/>
                    </a:moveTo>
                    <a:lnTo>
                      <a:pt x="25" y="12"/>
                    </a:lnTo>
                    <a:lnTo>
                      <a:pt x="0" y="48"/>
                    </a:lnTo>
                    <a:lnTo>
                      <a:pt x="57" y="66"/>
                    </a:lnTo>
                    <a:lnTo>
                      <a:pt x="82" y="30"/>
                    </a:lnTo>
                    <a:lnTo>
                      <a:pt x="57" y="0"/>
                    </a:lnTo>
                    <a:lnTo>
                      <a:pt x="82" y="30"/>
                    </a:lnTo>
                    <a:lnTo>
                      <a:pt x="99" y="4"/>
                    </a:lnTo>
                    <a:lnTo>
                      <a:pt x="57" y="0"/>
                    </a:lnTo>
                    <a:lnTo>
                      <a:pt x="50" y="42"/>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25" name="Freeform 157"/>
              <p:cNvSpPr>
                <a:spLocks/>
              </p:cNvSpPr>
              <p:nvPr/>
            </p:nvSpPr>
            <p:spPr bwMode="auto">
              <a:xfrm>
                <a:off x="3449" y="2590"/>
                <a:ext cx="129" cy="23"/>
              </a:xfrm>
              <a:custGeom>
                <a:avLst/>
                <a:gdLst/>
                <a:ahLst/>
                <a:cxnLst>
                  <a:cxn ang="0">
                    <a:pos x="69" y="3"/>
                  </a:cxn>
                  <a:cxn ang="0">
                    <a:pos x="82" y="42"/>
                  </a:cxn>
                  <a:cxn ang="0">
                    <a:pos x="124" y="46"/>
                  </a:cxn>
                  <a:cxn ang="0">
                    <a:pos x="131" y="4"/>
                  </a:cxn>
                  <a:cxn ang="0">
                    <a:pos x="89" y="0"/>
                  </a:cxn>
                  <a:cxn ang="0">
                    <a:pos x="103" y="39"/>
                  </a:cxn>
                  <a:cxn ang="0">
                    <a:pos x="69" y="3"/>
                  </a:cxn>
                  <a:cxn ang="0">
                    <a:pos x="0" y="34"/>
                  </a:cxn>
                  <a:cxn ang="0">
                    <a:pos x="82" y="42"/>
                  </a:cxn>
                  <a:cxn ang="0">
                    <a:pos x="69" y="3"/>
                  </a:cxn>
                </a:cxnLst>
                <a:rect l="0" t="0" r="r" b="b"/>
                <a:pathLst>
                  <a:path w="131" h="46">
                    <a:moveTo>
                      <a:pt x="69" y="3"/>
                    </a:moveTo>
                    <a:lnTo>
                      <a:pt x="82" y="42"/>
                    </a:lnTo>
                    <a:lnTo>
                      <a:pt x="124" y="46"/>
                    </a:lnTo>
                    <a:lnTo>
                      <a:pt x="131" y="4"/>
                    </a:lnTo>
                    <a:lnTo>
                      <a:pt x="89" y="0"/>
                    </a:lnTo>
                    <a:lnTo>
                      <a:pt x="103" y="39"/>
                    </a:lnTo>
                    <a:lnTo>
                      <a:pt x="69" y="3"/>
                    </a:lnTo>
                    <a:lnTo>
                      <a:pt x="0" y="34"/>
                    </a:lnTo>
                    <a:lnTo>
                      <a:pt x="82" y="42"/>
                    </a:lnTo>
                    <a:lnTo>
                      <a:pt x="69" y="3"/>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26" name="Freeform 158"/>
              <p:cNvSpPr>
                <a:spLocks/>
              </p:cNvSpPr>
              <p:nvPr/>
            </p:nvSpPr>
            <p:spPr bwMode="auto">
              <a:xfrm>
                <a:off x="3517" y="2584"/>
                <a:ext cx="112" cy="28"/>
              </a:xfrm>
              <a:custGeom>
                <a:avLst/>
                <a:gdLst/>
                <a:ahLst/>
                <a:cxnLst>
                  <a:cxn ang="0">
                    <a:pos x="40" y="35"/>
                  </a:cxn>
                  <a:cxn ang="0">
                    <a:pos x="41" y="0"/>
                  </a:cxn>
                  <a:cxn ang="0">
                    <a:pos x="0" y="20"/>
                  </a:cxn>
                  <a:cxn ang="0">
                    <a:pos x="34" y="56"/>
                  </a:cxn>
                  <a:cxn ang="0">
                    <a:pos x="76" y="37"/>
                  </a:cxn>
                  <a:cxn ang="0">
                    <a:pos x="78" y="2"/>
                  </a:cxn>
                  <a:cxn ang="0">
                    <a:pos x="76" y="37"/>
                  </a:cxn>
                  <a:cxn ang="0">
                    <a:pos x="112" y="19"/>
                  </a:cxn>
                  <a:cxn ang="0">
                    <a:pos x="78" y="2"/>
                  </a:cxn>
                  <a:cxn ang="0">
                    <a:pos x="40" y="35"/>
                  </a:cxn>
                </a:cxnLst>
                <a:rect l="0" t="0" r="r" b="b"/>
                <a:pathLst>
                  <a:path w="112" h="56">
                    <a:moveTo>
                      <a:pt x="40" y="35"/>
                    </a:moveTo>
                    <a:lnTo>
                      <a:pt x="41" y="0"/>
                    </a:lnTo>
                    <a:lnTo>
                      <a:pt x="0" y="20"/>
                    </a:lnTo>
                    <a:lnTo>
                      <a:pt x="34" y="56"/>
                    </a:lnTo>
                    <a:lnTo>
                      <a:pt x="76" y="37"/>
                    </a:lnTo>
                    <a:lnTo>
                      <a:pt x="78" y="2"/>
                    </a:lnTo>
                    <a:lnTo>
                      <a:pt x="76" y="37"/>
                    </a:lnTo>
                    <a:lnTo>
                      <a:pt x="112" y="19"/>
                    </a:lnTo>
                    <a:lnTo>
                      <a:pt x="78" y="2"/>
                    </a:lnTo>
                    <a:lnTo>
                      <a:pt x="40" y="35"/>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27" name="Freeform 159"/>
              <p:cNvSpPr>
                <a:spLocks/>
              </p:cNvSpPr>
              <p:nvPr/>
            </p:nvSpPr>
            <p:spPr bwMode="auto">
              <a:xfrm>
                <a:off x="3493" y="2576"/>
                <a:ext cx="102" cy="25"/>
              </a:xfrm>
              <a:custGeom>
                <a:avLst/>
                <a:gdLst/>
                <a:ahLst/>
                <a:cxnLst>
                  <a:cxn ang="0">
                    <a:pos x="40" y="0"/>
                  </a:cxn>
                  <a:cxn ang="0">
                    <a:pos x="36" y="35"/>
                  </a:cxn>
                  <a:cxn ang="0">
                    <a:pos x="65" y="50"/>
                  </a:cxn>
                  <a:cxn ang="0">
                    <a:pos x="103" y="17"/>
                  </a:cxn>
                  <a:cxn ang="0">
                    <a:pos x="74" y="1"/>
                  </a:cxn>
                  <a:cxn ang="0">
                    <a:pos x="70" y="36"/>
                  </a:cxn>
                  <a:cxn ang="0">
                    <a:pos x="40" y="0"/>
                  </a:cxn>
                  <a:cxn ang="0">
                    <a:pos x="0" y="15"/>
                  </a:cxn>
                  <a:cxn ang="0">
                    <a:pos x="36" y="35"/>
                  </a:cxn>
                  <a:cxn ang="0">
                    <a:pos x="40" y="0"/>
                  </a:cxn>
                </a:cxnLst>
                <a:rect l="0" t="0" r="r" b="b"/>
                <a:pathLst>
                  <a:path w="103" h="50">
                    <a:moveTo>
                      <a:pt x="40" y="0"/>
                    </a:moveTo>
                    <a:lnTo>
                      <a:pt x="36" y="35"/>
                    </a:lnTo>
                    <a:lnTo>
                      <a:pt x="65" y="50"/>
                    </a:lnTo>
                    <a:lnTo>
                      <a:pt x="103" y="17"/>
                    </a:lnTo>
                    <a:lnTo>
                      <a:pt x="74" y="1"/>
                    </a:lnTo>
                    <a:lnTo>
                      <a:pt x="70" y="36"/>
                    </a:lnTo>
                    <a:lnTo>
                      <a:pt x="40" y="0"/>
                    </a:lnTo>
                    <a:lnTo>
                      <a:pt x="0" y="15"/>
                    </a:lnTo>
                    <a:lnTo>
                      <a:pt x="36" y="35"/>
                    </a:lnTo>
                    <a:lnTo>
                      <a:pt x="40" y="0"/>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28" name="Freeform 160"/>
              <p:cNvSpPr>
                <a:spLocks/>
              </p:cNvSpPr>
              <p:nvPr/>
            </p:nvSpPr>
            <p:spPr bwMode="auto">
              <a:xfrm>
                <a:off x="3533" y="2567"/>
                <a:ext cx="103" cy="27"/>
              </a:xfrm>
              <a:custGeom>
                <a:avLst/>
                <a:gdLst/>
                <a:ahLst/>
                <a:cxnLst>
                  <a:cxn ang="0">
                    <a:pos x="32" y="27"/>
                  </a:cxn>
                  <a:cxn ang="0">
                    <a:pos x="46" y="0"/>
                  </a:cxn>
                  <a:cxn ang="0">
                    <a:pos x="0" y="18"/>
                  </a:cxn>
                  <a:cxn ang="0">
                    <a:pos x="30" y="54"/>
                  </a:cxn>
                  <a:cxn ang="0">
                    <a:pos x="76" y="36"/>
                  </a:cxn>
                  <a:cxn ang="0">
                    <a:pos x="89" y="9"/>
                  </a:cxn>
                  <a:cxn ang="0">
                    <a:pos x="76" y="36"/>
                  </a:cxn>
                  <a:cxn ang="0">
                    <a:pos x="103" y="26"/>
                  </a:cxn>
                  <a:cxn ang="0">
                    <a:pos x="89" y="9"/>
                  </a:cxn>
                  <a:cxn ang="0">
                    <a:pos x="32" y="27"/>
                  </a:cxn>
                </a:cxnLst>
                <a:rect l="0" t="0" r="r" b="b"/>
                <a:pathLst>
                  <a:path w="103" h="54">
                    <a:moveTo>
                      <a:pt x="32" y="27"/>
                    </a:moveTo>
                    <a:lnTo>
                      <a:pt x="46" y="0"/>
                    </a:lnTo>
                    <a:lnTo>
                      <a:pt x="0" y="18"/>
                    </a:lnTo>
                    <a:lnTo>
                      <a:pt x="30" y="54"/>
                    </a:lnTo>
                    <a:lnTo>
                      <a:pt x="76" y="36"/>
                    </a:lnTo>
                    <a:lnTo>
                      <a:pt x="89" y="9"/>
                    </a:lnTo>
                    <a:lnTo>
                      <a:pt x="76" y="36"/>
                    </a:lnTo>
                    <a:lnTo>
                      <a:pt x="103" y="26"/>
                    </a:lnTo>
                    <a:lnTo>
                      <a:pt x="89" y="9"/>
                    </a:lnTo>
                    <a:lnTo>
                      <a:pt x="32" y="27"/>
                    </a:lnTo>
                    <a:close/>
                  </a:path>
                </a:pathLst>
              </a:custGeom>
              <a:solidFill>
                <a:srgbClr val="FF0066"/>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29" name="Freeform 161"/>
              <p:cNvSpPr>
                <a:spLocks/>
              </p:cNvSpPr>
              <p:nvPr/>
            </p:nvSpPr>
            <p:spPr bwMode="auto">
              <a:xfrm>
                <a:off x="3519" y="2621"/>
                <a:ext cx="299" cy="139"/>
              </a:xfrm>
              <a:custGeom>
                <a:avLst/>
                <a:gdLst/>
                <a:ahLst/>
                <a:cxnLst>
                  <a:cxn ang="0">
                    <a:pos x="79" y="28"/>
                  </a:cxn>
                  <a:cxn ang="0">
                    <a:pos x="75" y="61"/>
                  </a:cxn>
                  <a:cxn ang="0">
                    <a:pos x="63" y="91"/>
                  </a:cxn>
                  <a:cxn ang="0">
                    <a:pos x="46" y="121"/>
                  </a:cxn>
                  <a:cxn ang="0">
                    <a:pos x="29" y="150"/>
                  </a:cxn>
                  <a:cxn ang="0">
                    <a:pos x="12" y="180"/>
                  </a:cxn>
                  <a:cxn ang="0">
                    <a:pos x="0" y="212"/>
                  </a:cxn>
                  <a:cxn ang="0">
                    <a:pos x="0" y="243"/>
                  </a:cxn>
                  <a:cxn ang="0">
                    <a:pos x="12" y="276"/>
                  </a:cxn>
                  <a:cxn ang="0">
                    <a:pos x="21" y="256"/>
                  </a:cxn>
                  <a:cxn ang="0">
                    <a:pos x="39" y="235"/>
                  </a:cxn>
                  <a:cxn ang="0">
                    <a:pos x="58" y="217"/>
                  </a:cxn>
                  <a:cxn ang="0">
                    <a:pos x="81" y="200"/>
                  </a:cxn>
                  <a:cxn ang="0">
                    <a:pos x="100" y="184"/>
                  </a:cxn>
                  <a:cxn ang="0">
                    <a:pos x="117" y="169"/>
                  </a:cxn>
                  <a:cxn ang="0">
                    <a:pos x="128" y="156"/>
                  </a:cxn>
                  <a:cxn ang="0">
                    <a:pos x="130" y="144"/>
                  </a:cxn>
                  <a:cxn ang="0">
                    <a:pos x="134" y="154"/>
                  </a:cxn>
                  <a:cxn ang="0">
                    <a:pos x="130" y="163"/>
                  </a:cxn>
                  <a:cxn ang="0">
                    <a:pos x="128" y="175"/>
                  </a:cxn>
                  <a:cxn ang="0">
                    <a:pos x="132" y="192"/>
                  </a:cxn>
                  <a:cxn ang="0">
                    <a:pos x="138" y="204"/>
                  </a:cxn>
                  <a:cxn ang="0">
                    <a:pos x="143" y="214"/>
                  </a:cxn>
                  <a:cxn ang="0">
                    <a:pos x="149" y="223"/>
                  </a:cxn>
                  <a:cxn ang="0">
                    <a:pos x="157" y="231"/>
                  </a:cxn>
                  <a:cxn ang="0">
                    <a:pos x="166" y="239"/>
                  </a:cxn>
                  <a:cxn ang="0">
                    <a:pos x="176" y="245"/>
                  </a:cxn>
                  <a:cxn ang="0">
                    <a:pos x="191" y="252"/>
                  </a:cxn>
                  <a:cxn ang="0">
                    <a:pos x="208" y="258"/>
                  </a:cxn>
                  <a:cxn ang="0">
                    <a:pos x="203" y="223"/>
                  </a:cxn>
                  <a:cxn ang="0">
                    <a:pos x="208" y="191"/>
                  </a:cxn>
                  <a:cxn ang="0">
                    <a:pos x="222" y="160"/>
                  </a:cxn>
                  <a:cxn ang="0">
                    <a:pos x="241" y="130"/>
                  </a:cxn>
                  <a:cxn ang="0">
                    <a:pos x="262" y="98"/>
                  </a:cxn>
                  <a:cxn ang="0">
                    <a:pos x="281" y="69"/>
                  </a:cxn>
                  <a:cxn ang="0">
                    <a:pos x="294" y="36"/>
                  </a:cxn>
                  <a:cxn ang="0">
                    <a:pos x="298" y="2"/>
                  </a:cxn>
                  <a:cxn ang="0">
                    <a:pos x="271" y="2"/>
                  </a:cxn>
                  <a:cxn ang="0">
                    <a:pos x="243" y="1"/>
                  </a:cxn>
                  <a:cxn ang="0">
                    <a:pos x="216" y="1"/>
                  </a:cxn>
                  <a:cxn ang="0">
                    <a:pos x="189" y="0"/>
                  </a:cxn>
                  <a:cxn ang="0">
                    <a:pos x="163" y="0"/>
                  </a:cxn>
                  <a:cxn ang="0">
                    <a:pos x="134" y="1"/>
                  </a:cxn>
                  <a:cxn ang="0">
                    <a:pos x="107" y="2"/>
                  </a:cxn>
                  <a:cxn ang="0">
                    <a:pos x="79" y="5"/>
                  </a:cxn>
                  <a:cxn ang="0">
                    <a:pos x="77" y="8"/>
                  </a:cxn>
                  <a:cxn ang="0">
                    <a:pos x="77" y="13"/>
                  </a:cxn>
                  <a:cxn ang="0">
                    <a:pos x="77" y="21"/>
                  </a:cxn>
                  <a:cxn ang="0">
                    <a:pos x="79" y="28"/>
                  </a:cxn>
                </a:cxnLst>
                <a:rect l="0" t="0" r="r" b="b"/>
                <a:pathLst>
                  <a:path w="298" h="276">
                    <a:moveTo>
                      <a:pt x="79" y="28"/>
                    </a:moveTo>
                    <a:lnTo>
                      <a:pt x="75" y="61"/>
                    </a:lnTo>
                    <a:lnTo>
                      <a:pt x="63" y="91"/>
                    </a:lnTo>
                    <a:lnTo>
                      <a:pt x="46" y="121"/>
                    </a:lnTo>
                    <a:lnTo>
                      <a:pt x="29" y="150"/>
                    </a:lnTo>
                    <a:lnTo>
                      <a:pt x="12" y="180"/>
                    </a:lnTo>
                    <a:lnTo>
                      <a:pt x="0" y="212"/>
                    </a:lnTo>
                    <a:lnTo>
                      <a:pt x="0" y="243"/>
                    </a:lnTo>
                    <a:lnTo>
                      <a:pt x="12" y="276"/>
                    </a:lnTo>
                    <a:lnTo>
                      <a:pt x="21" y="256"/>
                    </a:lnTo>
                    <a:lnTo>
                      <a:pt x="39" y="235"/>
                    </a:lnTo>
                    <a:lnTo>
                      <a:pt x="58" y="217"/>
                    </a:lnTo>
                    <a:lnTo>
                      <a:pt x="81" y="200"/>
                    </a:lnTo>
                    <a:lnTo>
                      <a:pt x="100" y="184"/>
                    </a:lnTo>
                    <a:lnTo>
                      <a:pt x="117" y="169"/>
                    </a:lnTo>
                    <a:lnTo>
                      <a:pt x="128" y="156"/>
                    </a:lnTo>
                    <a:lnTo>
                      <a:pt x="130" y="144"/>
                    </a:lnTo>
                    <a:lnTo>
                      <a:pt x="134" y="154"/>
                    </a:lnTo>
                    <a:lnTo>
                      <a:pt x="130" y="163"/>
                    </a:lnTo>
                    <a:lnTo>
                      <a:pt x="128" y="175"/>
                    </a:lnTo>
                    <a:lnTo>
                      <a:pt x="132" y="192"/>
                    </a:lnTo>
                    <a:lnTo>
                      <a:pt x="138" y="204"/>
                    </a:lnTo>
                    <a:lnTo>
                      <a:pt x="143" y="214"/>
                    </a:lnTo>
                    <a:lnTo>
                      <a:pt x="149" y="223"/>
                    </a:lnTo>
                    <a:lnTo>
                      <a:pt x="157" y="231"/>
                    </a:lnTo>
                    <a:lnTo>
                      <a:pt x="166" y="239"/>
                    </a:lnTo>
                    <a:lnTo>
                      <a:pt x="176" y="245"/>
                    </a:lnTo>
                    <a:lnTo>
                      <a:pt x="191" y="252"/>
                    </a:lnTo>
                    <a:lnTo>
                      <a:pt x="208" y="258"/>
                    </a:lnTo>
                    <a:lnTo>
                      <a:pt x="203" y="223"/>
                    </a:lnTo>
                    <a:lnTo>
                      <a:pt x="208" y="191"/>
                    </a:lnTo>
                    <a:lnTo>
                      <a:pt x="222" y="160"/>
                    </a:lnTo>
                    <a:lnTo>
                      <a:pt x="241" y="130"/>
                    </a:lnTo>
                    <a:lnTo>
                      <a:pt x="262" y="98"/>
                    </a:lnTo>
                    <a:lnTo>
                      <a:pt x="281" y="69"/>
                    </a:lnTo>
                    <a:lnTo>
                      <a:pt x="294" y="36"/>
                    </a:lnTo>
                    <a:lnTo>
                      <a:pt x="298" y="2"/>
                    </a:lnTo>
                    <a:lnTo>
                      <a:pt x="271" y="2"/>
                    </a:lnTo>
                    <a:lnTo>
                      <a:pt x="243" y="1"/>
                    </a:lnTo>
                    <a:lnTo>
                      <a:pt x="216" y="1"/>
                    </a:lnTo>
                    <a:lnTo>
                      <a:pt x="189" y="0"/>
                    </a:lnTo>
                    <a:lnTo>
                      <a:pt x="163" y="0"/>
                    </a:lnTo>
                    <a:lnTo>
                      <a:pt x="134" y="1"/>
                    </a:lnTo>
                    <a:lnTo>
                      <a:pt x="107" y="2"/>
                    </a:lnTo>
                    <a:lnTo>
                      <a:pt x="79" y="5"/>
                    </a:lnTo>
                    <a:lnTo>
                      <a:pt x="77" y="8"/>
                    </a:lnTo>
                    <a:lnTo>
                      <a:pt x="77" y="13"/>
                    </a:lnTo>
                    <a:lnTo>
                      <a:pt x="77" y="21"/>
                    </a:lnTo>
                    <a:lnTo>
                      <a:pt x="79" y="28"/>
                    </a:lnTo>
                    <a:close/>
                  </a:path>
                </a:pathLst>
              </a:custGeom>
              <a:solidFill>
                <a:srgbClr val="007FE5"/>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30" name="Freeform 162"/>
              <p:cNvSpPr>
                <a:spLocks/>
              </p:cNvSpPr>
              <p:nvPr/>
            </p:nvSpPr>
            <p:spPr bwMode="auto">
              <a:xfrm>
                <a:off x="3565" y="2558"/>
                <a:ext cx="258" cy="88"/>
              </a:xfrm>
              <a:custGeom>
                <a:avLst/>
                <a:gdLst/>
                <a:ahLst/>
                <a:cxnLst>
                  <a:cxn ang="0">
                    <a:pos x="130" y="175"/>
                  </a:cxn>
                  <a:cxn ang="0">
                    <a:pos x="157" y="174"/>
                  </a:cxn>
                  <a:cxn ang="0">
                    <a:pos x="180" y="169"/>
                  </a:cxn>
                  <a:cxn ang="0">
                    <a:pos x="201" y="161"/>
                  </a:cxn>
                  <a:cxn ang="0">
                    <a:pos x="220" y="149"/>
                  </a:cxn>
                  <a:cxn ang="0">
                    <a:pos x="237" y="136"/>
                  </a:cxn>
                  <a:cxn ang="0">
                    <a:pos x="248" y="122"/>
                  </a:cxn>
                  <a:cxn ang="0">
                    <a:pos x="256" y="106"/>
                  </a:cxn>
                  <a:cxn ang="0">
                    <a:pos x="258" y="88"/>
                  </a:cxn>
                  <a:cxn ang="0">
                    <a:pos x="256" y="70"/>
                  </a:cxn>
                  <a:cxn ang="0">
                    <a:pos x="248" y="54"/>
                  </a:cxn>
                  <a:cxn ang="0">
                    <a:pos x="237" y="39"/>
                  </a:cxn>
                  <a:cxn ang="0">
                    <a:pos x="220" y="26"/>
                  </a:cxn>
                  <a:cxn ang="0">
                    <a:pos x="201" y="15"/>
                  </a:cxn>
                  <a:cxn ang="0">
                    <a:pos x="180" y="6"/>
                  </a:cxn>
                  <a:cxn ang="0">
                    <a:pos x="157" y="1"/>
                  </a:cxn>
                  <a:cxn ang="0">
                    <a:pos x="130" y="0"/>
                  </a:cxn>
                  <a:cxn ang="0">
                    <a:pos x="103" y="1"/>
                  </a:cxn>
                  <a:cxn ang="0">
                    <a:pos x="78" y="6"/>
                  </a:cxn>
                  <a:cxn ang="0">
                    <a:pos x="57" y="15"/>
                  </a:cxn>
                  <a:cxn ang="0">
                    <a:pos x="38" y="26"/>
                  </a:cxn>
                  <a:cxn ang="0">
                    <a:pos x="21" y="39"/>
                  </a:cxn>
                  <a:cxn ang="0">
                    <a:pos x="10" y="54"/>
                  </a:cxn>
                  <a:cxn ang="0">
                    <a:pos x="2" y="70"/>
                  </a:cxn>
                  <a:cxn ang="0">
                    <a:pos x="0" y="88"/>
                  </a:cxn>
                  <a:cxn ang="0">
                    <a:pos x="2" y="106"/>
                  </a:cxn>
                  <a:cxn ang="0">
                    <a:pos x="10" y="122"/>
                  </a:cxn>
                  <a:cxn ang="0">
                    <a:pos x="21" y="136"/>
                  </a:cxn>
                  <a:cxn ang="0">
                    <a:pos x="38" y="149"/>
                  </a:cxn>
                  <a:cxn ang="0">
                    <a:pos x="57" y="161"/>
                  </a:cxn>
                  <a:cxn ang="0">
                    <a:pos x="78" y="169"/>
                  </a:cxn>
                  <a:cxn ang="0">
                    <a:pos x="103" y="174"/>
                  </a:cxn>
                  <a:cxn ang="0">
                    <a:pos x="130" y="175"/>
                  </a:cxn>
                </a:cxnLst>
                <a:rect l="0" t="0" r="r" b="b"/>
                <a:pathLst>
                  <a:path w="258" h="175">
                    <a:moveTo>
                      <a:pt x="130" y="175"/>
                    </a:moveTo>
                    <a:lnTo>
                      <a:pt x="157" y="174"/>
                    </a:lnTo>
                    <a:lnTo>
                      <a:pt x="180" y="169"/>
                    </a:lnTo>
                    <a:lnTo>
                      <a:pt x="201" y="161"/>
                    </a:lnTo>
                    <a:lnTo>
                      <a:pt x="220" y="149"/>
                    </a:lnTo>
                    <a:lnTo>
                      <a:pt x="237" y="136"/>
                    </a:lnTo>
                    <a:lnTo>
                      <a:pt x="248" y="122"/>
                    </a:lnTo>
                    <a:lnTo>
                      <a:pt x="256" y="106"/>
                    </a:lnTo>
                    <a:lnTo>
                      <a:pt x="258" y="88"/>
                    </a:lnTo>
                    <a:lnTo>
                      <a:pt x="256" y="70"/>
                    </a:lnTo>
                    <a:lnTo>
                      <a:pt x="248" y="54"/>
                    </a:lnTo>
                    <a:lnTo>
                      <a:pt x="237" y="39"/>
                    </a:lnTo>
                    <a:lnTo>
                      <a:pt x="220" y="26"/>
                    </a:lnTo>
                    <a:lnTo>
                      <a:pt x="201" y="15"/>
                    </a:lnTo>
                    <a:lnTo>
                      <a:pt x="180" y="6"/>
                    </a:lnTo>
                    <a:lnTo>
                      <a:pt x="157" y="1"/>
                    </a:lnTo>
                    <a:lnTo>
                      <a:pt x="130" y="0"/>
                    </a:lnTo>
                    <a:lnTo>
                      <a:pt x="103" y="1"/>
                    </a:lnTo>
                    <a:lnTo>
                      <a:pt x="78" y="6"/>
                    </a:lnTo>
                    <a:lnTo>
                      <a:pt x="57" y="15"/>
                    </a:lnTo>
                    <a:lnTo>
                      <a:pt x="38" y="26"/>
                    </a:lnTo>
                    <a:lnTo>
                      <a:pt x="21" y="39"/>
                    </a:lnTo>
                    <a:lnTo>
                      <a:pt x="10" y="54"/>
                    </a:lnTo>
                    <a:lnTo>
                      <a:pt x="2" y="70"/>
                    </a:lnTo>
                    <a:lnTo>
                      <a:pt x="0" y="88"/>
                    </a:lnTo>
                    <a:lnTo>
                      <a:pt x="2" y="106"/>
                    </a:lnTo>
                    <a:lnTo>
                      <a:pt x="10" y="122"/>
                    </a:lnTo>
                    <a:lnTo>
                      <a:pt x="21" y="136"/>
                    </a:lnTo>
                    <a:lnTo>
                      <a:pt x="38" y="149"/>
                    </a:lnTo>
                    <a:lnTo>
                      <a:pt x="57" y="161"/>
                    </a:lnTo>
                    <a:lnTo>
                      <a:pt x="78" y="169"/>
                    </a:lnTo>
                    <a:lnTo>
                      <a:pt x="103" y="174"/>
                    </a:lnTo>
                    <a:lnTo>
                      <a:pt x="130" y="175"/>
                    </a:lnTo>
                    <a:close/>
                  </a:path>
                </a:pathLst>
              </a:custGeom>
              <a:solidFill>
                <a:srgbClr val="E0B71E"/>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31" name="Freeform 163"/>
              <p:cNvSpPr>
                <a:spLocks/>
              </p:cNvSpPr>
              <p:nvPr/>
            </p:nvSpPr>
            <p:spPr bwMode="auto">
              <a:xfrm>
                <a:off x="3694" y="2603"/>
                <a:ext cx="136" cy="46"/>
              </a:xfrm>
              <a:custGeom>
                <a:avLst/>
                <a:gdLst/>
                <a:ahLst/>
                <a:cxnLst>
                  <a:cxn ang="0">
                    <a:pos x="120" y="0"/>
                  </a:cxn>
                  <a:cxn ang="0">
                    <a:pos x="120" y="0"/>
                  </a:cxn>
                  <a:cxn ang="0">
                    <a:pos x="120" y="18"/>
                  </a:cxn>
                  <a:cxn ang="0">
                    <a:pos x="112" y="33"/>
                  </a:cxn>
                  <a:cxn ang="0">
                    <a:pos x="101" y="46"/>
                  </a:cxn>
                  <a:cxn ang="0">
                    <a:pos x="86" y="59"/>
                  </a:cxn>
                  <a:cxn ang="0">
                    <a:pos x="67" y="69"/>
                  </a:cxn>
                  <a:cxn ang="0">
                    <a:pos x="48" y="77"/>
                  </a:cxn>
                  <a:cxn ang="0">
                    <a:pos x="27" y="82"/>
                  </a:cxn>
                  <a:cxn ang="0">
                    <a:pos x="0" y="82"/>
                  </a:cxn>
                  <a:cxn ang="0">
                    <a:pos x="0" y="92"/>
                  </a:cxn>
                  <a:cxn ang="0">
                    <a:pos x="27" y="90"/>
                  </a:cxn>
                  <a:cxn ang="0">
                    <a:pos x="51" y="85"/>
                  </a:cxn>
                  <a:cxn ang="0">
                    <a:pos x="74" y="77"/>
                  </a:cxn>
                  <a:cxn ang="0">
                    <a:pos x="93" y="64"/>
                  </a:cxn>
                  <a:cxn ang="0">
                    <a:pos x="112" y="51"/>
                  </a:cxn>
                  <a:cxn ang="0">
                    <a:pos x="124" y="35"/>
                  </a:cxn>
                  <a:cxn ang="0">
                    <a:pos x="132" y="18"/>
                  </a:cxn>
                  <a:cxn ang="0">
                    <a:pos x="135" y="0"/>
                  </a:cxn>
                  <a:cxn ang="0">
                    <a:pos x="135" y="0"/>
                  </a:cxn>
                  <a:cxn ang="0">
                    <a:pos x="120" y="0"/>
                  </a:cxn>
                </a:cxnLst>
                <a:rect l="0" t="0" r="r" b="b"/>
                <a:pathLst>
                  <a:path w="135" h="92">
                    <a:moveTo>
                      <a:pt x="120" y="0"/>
                    </a:moveTo>
                    <a:lnTo>
                      <a:pt x="120" y="0"/>
                    </a:lnTo>
                    <a:lnTo>
                      <a:pt x="120" y="18"/>
                    </a:lnTo>
                    <a:lnTo>
                      <a:pt x="112" y="33"/>
                    </a:lnTo>
                    <a:lnTo>
                      <a:pt x="101" y="46"/>
                    </a:lnTo>
                    <a:lnTo>
                      <a:pt x="86" y="59"/>
                    </a:lnTo>
                    <a:lnTo>
                      <a:pt x="67" y="69"/>
                    </a:lnTo>
                    <a:lnTo>
                      <a:pt x="48" y="77"/>
                    </a:lnTo>
                    <a:lnTo>
                      <a:pt x="27" y="82"/>
                    </a:lnTo>
                    <a:lnTo>
                      <a:pt x="0" y="82"/>
                    </a:lnTo>
                    <a:lnTo>
                      <a:pt x="0" y="92"/>
                    </a:lnTo>
                    <a:lnTo>
                      <a:pt x="27" y="90"/>
                    </a:lnTo>
                    <a:lnTo>
                      <a:pt x="51" y="85"/>
                    </a:lnTo>
                    <a:lnTo>
                      <a:pt x="74" y="77"/>
                    </a:lnTo>
                    <a:lnTo>
                      <a:pt x="93" y="64"/>
                    </a:lnTo>
                    <a:lnTo>
                      <a:pt x="112" y="51"/>
                    </a:lnTo>
                    <a:lnTo>
                      <a:pt x="124" y="35"/>
                    </a:lnTo>
                    <a:lnTo>
                      <a:pt x="132" y="18"/>
                    </a:lnTo>
                    <a:lnTo>
                      <a:pt x="135" y="0"/>
                    </a:lnTo>
                    <a:lnTo>
                      <a:pt x="135" y="0"/>
                    </a:lnTo>
                    <a:lnTo>
                      <a:pt x="120" y="0"/>
                    </a:lnTo>
                    <a:close/>
                  </a:path>
                </a:pathLst>
              </a:custGeom>
              <a:solidFill>
                <a:srgbClr val="B266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32" name="Freeform 164"/>
              <p:cNvSpPr>
                <a:spLocks/>
              </p:cNvSpPr>
              <p:nvPr/>
            </p:nvSpPr>
            <p:spPr bwMode="auto">
              <a:xfrm>
                <a:off x="3694" y="2554"/>
                <a:ext cx="136" cy="49"/>
              </a:xfrm>
              <a:custGeom>
                <a:avLst/>
                <a:gdLst/>
                <a:ahLst/>
                <a:cxnLst>
                  <a:cxn ang="0">
                    <a:pos x="0" y="10"/>
                  </a:cxn>
                  <a:cxn ang="0">
                    <a:pos x="0" y="10"/>
                  </a:cxn>
                  <a:cxn ang="0">
                    <a:pos x="27" y="10"/>
                  </a:cxn>
                  <a:cxn ang="0">
                    <a:pos x="48" y="15"/>
                  </a:cxn>
                  <a:cxn ang="0">
                    <a:pos x="67" y="24"/>
                  </a:cxn>
                  <a:cxn ang="0">
                    <a:pos x="86" y="33"/>
                  </a:cxn>
                  <a:cxn ang="0">
                    <a:pos x="101" y="46"/>
                  </a:cxn>
                  <a:cxn ang="0">
                    <a:pos x="112" y="61"/>
                  </a:cxn>
                  <a:cxn ang="0">
                    <a:pos x="120" y="75"/>
                  </a:cxn>
                  <a:cxn ang="0">
                    <a:pos x="120" y="93"/>
                  </a:cxn>
                  <a:cxn ang="0">
                    <a:pos x="135" y="93"/>
                  </a:cxn>
                  <a:cxn ang="0">
                    <a:pos x="132" y="75"/>
                  </a:cxn>
                  <a:cxn ang="0">
                    <a:pos x="124" y="58"/>
                  </a:cxn>
                  <a:cxn ang="0">
                    <a:pos x="112" y="41"/>
                  </a:cxn>
                  <a:cxn ang="0">
                    <a:pos x="93" y="28"/>
                  </a:cxn>
                  <a:cxn ang="0">
                    <a:pos x="74" y="16"/>
                  </a:cxn>
                  <a:cxn ang="0">
                    <a:pos x="51" y="7"/>
                  </a:cxn>
                  <a:cxn ang="0">
                    <a:pos x="27" y="2"/>
                  </a:cxn>
                  <a:cxn ang="0">
                    <a:pos x="0" y="0"/>
                  </a:cxn>
                  <a:cxn ang="0">
                    <a:pos x="0" y="0"/>
                  </a:cxn>
                  <a:cxn ang="0">
                    <a:pos x="0" y="10"/>
                  </a:cxn>
                </a:cxnLst>
                <a:rect l="0" t="0" r="r" b="b"/>
                <a:pathLst>
                  <a:path w="135" h="93">
                    <a:moveTo>
                      <a:pt x="0" y="10"/>
                    </a:moveTo>
                    <a:lnTo>
                      <a:pt x="0" y="10"/>
                    </a:lnTo>
                    <a:lnTo>
                      <a:pt x="27" y="10"/>
                    </a:lnTo>
                    <a:lnTo>
                      <a:pt x="48" y="15"/>
                    </a:lnTo>
                    <a:lnTo>
                      <a:pt x="67" y="24"/>
                    </a:lnTo>
                    <a:lnTo>
                      <a:pt x="86" y="33"/>
                    </a:lnTo>
                    <a:lnTo>
                      <a:pt x="101" y="46"/>
                    </a:lnTo>
                    <a:lnTo>
                      <a:pt x="112" y="61"/>
                    </a:lnTo>
                    <a:lnTo>
                      <a:pt x="120" y="75"/>
                    </a:lnTo>
                    <a:lnTo>
                      <a:pt x="120" y="93"/>
                    </a:lnTo>
                    <a:lnTo>
                      <a:pt x="135" y="93"/>
                    </a:lnTo>
                    <a:lnTo>
                      <a:pt x="132" y="75"/>
                    </a:lnTo>
                    <a:lnTo>
                      <a:pt x="124" y="58"/>
                    </a:lnTo>
                    <a:lnTo>
                      <a:pt x="112" y="41"/>
                    </a:lnTo>
                    <a:lnTo>
                      <a:pt x="93" y="28"/>
                    </a:lnTo>
                    <a:lnTo>
                      <a:pt x="74" y="16"/>
                    </a:lnTo>
                    <a:lnTo>
                      <a:pt x="51" y="7"/>
                    </a:lnTo>
                    <a:lnTo>
                      <a:pt x="27" y="2"/>
                    </a:lnTo>
                    <a:lnTo>
                      <a:pt x="0" y="0"/>
                    </a:lnTo>
                    <a:lnTo>
                      <a:pt x="0" y="0"/>
                    </a:lnTo>
                    <a:lnTo>
                      <a:pt x="0" y="10"/>
                    </a:lnTo>
                    <a:close/>
                  </a:path>
                </a:pathLst>
              </a:custGeom>
              <a:solidFill>
                <a:srgbClr val="B266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33" name="Freeform 165"/>
              <p:cNvSpPr>
                <a:spLocks/>
              </p:cNvSpPr>
              <p:nvPr/>
            </p:nvSpPr>
            <p:spPr bwMode="auto">
              <a:xfrm>
                <a:off x="3558" y="2554"/>
                <a:ext cx="136" cy="49"/>
              </a:xfrm>
              <a:custGeom>
                <a:avLst/>
                <a:gdLst/>
                <a:ahLst/>
                <a:cxnLst>
                  <a:cxn ang="0">
                    <a:pos x="15" y="93"/>
                  </a:cxn>
                  <a:cxn ang="0">
                    <a:pos x="15" y="93"/>
                  </a:cxn>
                  <a:cxn ang="0">
                    <a:pos x="15" y="75"/>
                  </a:cxn>
                  <a:cxn ang="0">
                    <a:pos x="22" y="61"/>
                  </a:cxn>
                  <a:cxn ang="0">
                    <a:pos x="34" y="46"/>
                  </a:cxn>
                  <a:cxn ang="0">
                    <a:pos x="49" y="33"/>
                  </a:cxn>
                  <a:cxn ang="0">
                    <a:pos x="68" y="24"/>
                  </a:cxn>
                  <a:cxn ang="0">
                    <a:pos x="87" y="15"/>
                  </a:cxn>
                  <a:cxn ang="0">
                    <a:pos x="110" y="10"/>
                  </a:cxn>
                  <a:cxn ang="0">
                    <a:pos x="137" y="10"/>
                  </a:cxn>
                  <a:cxn ang="0">
                    <a:pos x="137" y="0"/>
                  </a:cxn>
                  <a:cxn ang="0">
                    <a:pos x="110" y="2"/>
                  </a:cxn>
                  <a:cxn ang="0">
                    <a:pos x="84" y="7"/>
                  </a:cxn>
                  <a:cxn ang="0">
                    <a:pos x="61" y="16"/>
                  </a:cxn>
                  <a:cxn ang="0">
                    <a:pos x="42" y="28"/>
                  </a:cxn>
                  <a:cxn ang="0">
                    <a:pos x="22" y="41"/>
                  </a:cxn>
                  <a:cxn ang="0">
                    <a:pos x="11" y="58"/>
                  </a:cxn>
                  <a:cxn ang="0">
                    <a:pos x="3" y="75"/>
                  </a:cxn>
                  <a:cxn ang="0">
                    <a:pos x="0" y="93"/>
                  </a:cxn>
                  <a:cxn ang="0">
                    <a:pos x="0" y="93"/>
                  </a:cxn>
                  <a:cxn ang="0">
                    <a:pos x="15" y="93"/>
                  </a:cxn>
                </a:cxnLst>
                <a:rect l="0" t="0" r="r" b="b"/>
                <a:pathLst>
                  <a:path w="137" h="93">
                    <a:moveTo>
                      <a:pt x="15" y="93"/>
                    </a:moveTo>
                    <a:lnTo>
                      <a:pt x="15" y="93"/>
                    </a:lnTo>
                    <a:lnTo>
                      <a:pt x="15" y="75"/>
                    </a:lnTo>
                    <a:lnTo>
                      <a:pt x="22" y="61"/>
                    </a:lnTo>
                    <a:lnTo>
                      <a:pt x="34" y="46"/>
                    </a:lnTo>
                    <a:lnTo>
                      <a:pt x="49" y="33"/>
                    </a:lnTo>
                    <a:lnTo>
                      <a:pt x="68" y="24"/>
                    </a:lnTo>
                    <a:lnTo>
                      <a:pt x="87" y="15"/>
                    </a:lnTo>
                    <a:lnTo>
                      <a:pt x="110" y="10"/>
                    </a:lnTo>
                    <a:lnTo>
                      <a:pt x="137" y="10"/>
                    </a:lnTo>
                    <a:lnTo>
                      <a:pt x="137" y="0"/>
                    </a:lnTo>
                    <a:lnTo>
                      <a:pt x="110" y="2"/>
                    </a:lnTo>
                    <a:lnTo>
                      <a:pt x="84" y="7"/>
                    </a:lnTo>
                    <a:lnTo>
                      <a:pt x="61" y="16"/>
                    </a:lnTo>
                    <a:lnTo>
                      <a:pt x="42" y="28"/>
                    </a:lnTo>
                    <a:lnTo>
                      <a:pt x="22" y="41"/>
                    </a:lnTo>
                    <a:lnTo>
                      <a:pt x="11" y="58"/>
                    </a:lnTo>
                    <a:lnTo>
                      <a:pt x="3" y="75"/>
                    </a:lnTo>
                    <a:lnTo>
                      <a:pt x="0" y="93"/>
                    </a:lnTo>
                    <a:lnTo>
                      <a:pt x="0" y="93"/>
                    </a:lnTo>
                    <a:lnTo>
                      <a:pt x="15" y="93"/>
                    </a:lnTo>
                    <a:close/>
                  </a:path>
                </a:pathLst>
              </a:custGeom>
              <a:solidFill>
                <a:srgbClr val="B266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389734" name="Freeform 166"/>
              <p:cNvSpPr>
                <a:spLocks/>
              </p:cNvSpPr>
              <p:nvPr/>
            </p:nvSpPr>
            <p:spPr bwMode="auto">
              <a:xfrm>
                <a:off x="3558" y="2603"/>
                <a:ext cx="136" cy="46"/>
              </a:xfrm>
              <a:custGeom>
                <a:avLst/>
                <a:gdLst/>
                <a:ahLst/>
                <a:cxnLst>
                  <a:cxn ang="0">
                    <a:pos x="137" y="82"/>
                  </a:cxn>
                  <a:cxn ang="0">
                    <a:pos x="137" y="82"/>
                  </a:cxn>
                  <a:cxn ang="0">
                    <a:pos x="110" y="82"/>
                  </a:cxn>
                  <a:cxn ang="0">
                    <a:pos x="87" y="77"/>
                  </a:cxn>
                  <a:cxn ang="0">
                    <a:pos x="68" y="69"/>
                  </a:cxn>
                  <a:cxn ang="0">
                    <a:pos x="49" y="59"/>
                  </a:cxn>
                  <a:cxn ang="0">
                    <a:pos x="34" y="46"/>
                  </a:cxn>
                  <a:cxn ang="0">
                    <a:pos x="22" y="33"/>
                  </a:cxn>
                  <a:cxn ang="0">
                    <a:pos x="15" y="18"/>
                  </a:cxn>
                  <a:cxn ang="0">
                    <a:pos x="15" y="0"/>
                  </a:cxn>
                  <a:cxn ang="0">
                    <a:pos x="0" y="0"/>
                  </a:cxn>
                  <a:cxn ang="0">
                    <a:pos x="3" y="18"/>
                  </a:cxn>
                  <a:cxn ang="0">
                    <a:pos x="11" y="35"/>
                  </a:cxn>
                  <a:cxn ang="0">
                    <a:pos x="22" y="51"/>
                  </a:cxn>
                  <a:cxn ang="0">
                    <a:pos x="42" y="64"/>
                  </a:cxn>
                  <a:cxn ang="0">
                    <a:pos x="61" y="77"/>
                  </a:cxn>
                  <a:cxn ang="0">
                    <a:pos x="84" y="85"/>
                  </a:cxn>
                  <a:cxn ang="0">
                    <a:pos x="110" y="90"/>
                  </a:cxn>
                  <a:cxn ang="0">
                    <a:pos x="137" y="92"/>
                  </a:cxn>
                  <a:cxn ang="0">
                    <a:pos x="137" y="92"/>
                  </a:cxn>
                  <a:cxn ang="0">
                    <a:pos x="137" y="82"/>
                  </a:cxn>
                </a:cxnLst>
                <a:rect l="0" t="0" r="r" b="b"/>
                <a:pathLst>
                  <a:path w="137" h="92">
                    <a:moveTo>
                      <a:pt x="137" y="82"/>
                    </a:moveTo>
                    <a:lnTo>
                      <a:pt x="137" y="82"/>
                    </a:lnTo>
                    <a:lnTo>
                      <a:pt x="110" y="82"/>
                    </a:lnTo>
                    <a:lnTo>
                      <a:pt x="87" y="77"/>
                    </a:lnTo>
                    <a:lnTo>
                      <a:pt x="68" y="69"/>
                    </a:lnTo>
                    <a:lnTo>
                      <a:pt x="49" y="59"/>
                    </a:lnTo>
                    <a:lnTo>
                      <a:pt x="34" y="46"/>
                    </a:lnTo>
                    <a:lnTo>
                      <a:pt x="22" y="33"/>
                    </a:lnTo>
                    <a:lnTo>
                      <a:pt x="15" y="18"/>
                    </a:lnTo>
                    <a:lnTo>
                      <a:pt x="15" y="0"/>
                    </a:lnTo>
                    <a:lnTo>
                      <a:pt x="0" y="0"/>
                    </a:lnTo>
                    <a:lnTo>
                      <a:pt x="3" y="18"/>
                    </a:lnTo>
                    <a:lnTo>
                      <a:pt x="11" y="35"/>
                    </a:lnTo>
                    <a:lnTo>
                      <a:pt x="22" y="51"/>
                    </a:lnTo>
                    <a:lnTo>
                      <a:pt x="42" y="64"/>
                    </a:lnTo>
                    <a:lnTo>
                      <a:pt x="61" y="77"/>
                    </a:lnTo>
                    <a:lnTo>
                      <a:pt x="84" y="85"/>
                    </a:lnTo>
                    <a:lnTo>
                      <a:pt x="110" y="90"/>
                    </a:lnTo>
                    <a:lnTo>
                      <a:pt x="137" y="92"/>
                    </a:lnTo>
                    <a:lnTo>
                      <a:pt x="137" y="92"/>
                    </a:lnTo>
                    <a:lnTo>
                      <a:pt x="137" y="82"/>
                    </a:lnTo>
                    <a:close/>
                  </a:path>
                </a:pathLst>
              </a:custGeom>
              <a:solidFill>
                <a:srgbClr val="B266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grpSp>
      </p:grpSp>
      <p:sp>
        <p:nvSpPr>
          <p:cNvPr id="1389579" name="Text Box 11"/>
          <p:cNvSpPr txBox="1">
            <a:spLocks noChangeArrowheads="1"/>
          </p:cNvSpPr>
          <p:nvPr/>
        </p:nvSpPr>
        <p:spPr bwMode="auto">
          <a:xfrm>
            <a:off x="4419600" y="3462338"/>
            <a:ext cx="2052638" cy="896937"/>
          </a:xfrm>
          <a:prstGeom prst="rect">
            <a:avLst/>
          </a:prstGeom>
          <a:noFill/>
          <a:ln w="12700" cap="sq">
            <a:noFill/>
            <a:miter lim="800000"/>
            <a:headEnd/>
            <a:tailEnd/>
          </a:ln>
          <a:effectLst/>
        </p:spPr>
        <p:txBody>
          <a:bodyPr>
            <a:spAutoFit/>
          </a:bodyPr>
          <a:lstStyle/>
          <a:p>
            <a:pPr>
              <a:lnSpc>
                <a:spcPct val="80000"/>
              </a:lnSpc>
              <a:spcBef>
                <a:spcPct val="0"/>
              </a:spcBef>
              <a:defRPr/>
            </a:pPr>
            <a:r>
              <a:rPr lang="fr-FR" sz="2200" i="0">
                <a:solidFill>
                  <a:schemeClr val="tx1"/>
                </a:solidFill>
                <a:latin typeface="Helvetica" charset="0"/>
              </a:rPr>
              <a:t>requirements, </a:t>
            </a:r>
          </a:p>
          <a:p>
            <a:pPr>
              <a:lnSpc>
                <a:spcPct val="80000"/>
              </a:lnSpc>
              <a:spcBef>
                <a:spcPct val="0"/>
              </a:spcBef>
              <a:defRPr/>
            </a:pPr>
            <a:r>
              <a:rPr lang="fr-FR" sz="2200" i="0">
                <a:solidFill>
                  <a:schemeClr val="tx1"/>
                </a:solidFill>
                <a:latin typeface="Helvetica" charset="0"/>
              </a:rPr>
              <a:t>constraints,</a:t>
            </a:r>
          </a:p>
          <a:p>
            <a:pPr>
              <a:lnSpc>
                <a:spcPct val="80000"/>
              </a:lnSpc>
              <a:spcBef>
                <a:spcPct val="0"/>
              </a:spcBef>
              <a:defRPr/>
            </a:pPr>
            <a:r>
              <a:rPr lang="fr-FR" sz="2200" i="0">
                <a:solidFill>
                  <a:schemeClr val="tx1"/>
                </a:solidFill>
                <a:latin typeface="Helvetica" charset="0"/>
              </a:rPr>
              <a:t>assumptions</a:t>
            </a:r>
            <a:endParaRPr lang="fr-FR" i="0">
              <a:solidFill>
                <a:schemeClr val="tx1"/>
              </a:solidFill>
              <a:effectLst>
                <a:outerShdw blurRad="38100" dist="38100" dir="2700000" algn="tl">
                  <a:srgbClr val="000000"/>
                </a:outerShdw>
              </a:effectLst>
              <a:latin typeface="Helvetica" charset="0"/>
            </a:endParaRPr>
          </a:p>
        </p:txBody>
      </p:sp>
      <p:sp>
        <p:nvSpPr>
          <p:cNvPr id="1389580" name="Line 12"/>
          <p:cNvSpPr>
            <a:spLocks noChangeShapeType="1"/>
          </p:cNvSpPr>
          <p:nvPr/>
        </p:nvSpPr>
        <p:spPr bwMode="auto">
          <a:xfrm flipH="1">
            <a:off x="5210175" y="2730500"/>
            <a:ext cx="0" cy="685800"/>
          </a:xfrm>
          <a:prstGeom prst="line">
            <a:avLst/>
          </a:prstGeom>
          <a:noFill/>
          <a:ln w="28575" cap="sq">
            <a:solidFill>
              <a:schemeClr val="accent2"/>
            </a:solidFill>
            <a:round/>
            <a:headEnd type="triangle" w="med" len="med"/>
            <a:tailEnd/>
          </a:ln>
          <a:effectLst/>
        </p:spPr>
        <p:txBody>
          <a:bodyPr anchor="ctr">
            <a:spAutoFit/>
          </a:bodyPr>
          <a:lstStyle/>
          <a:p>
            <a:pPr>
              <a:defRPr/>
            </a:pPr>
            <a:endParaRPr lang="en-GB">
              <a:effectLst>
                <a:outerShdw blurRad="38100" dist="38100" dir="2700000" algn="tl">
                  <a:srgbClr val="000000">
                    <a:alpha val="43137"/>
                  </a:srgbClr>
                </a:outerShdw>
              </a:effectLst>
            </a:endParaRPr>
          </a:p>
        </p:txBody>
      </p:sp>
      <p:sp>
        <p:nvSpPr>
          <p:cNvPr id="1389581" name="Line 13"/>
          <p:cNvSpPr>
            <a:spLocks noChangeShapeType="1"/>
          </p:cNvSpPr>
          <p:nvPr/>
        </p:nvSpPr>
        <p:spPr bwMode="auto">
          <a:xfrm flipV="1">
            <a:off x="2743200" y="1866900"/>
            <a:ext cx="1219200" cy="0"/>
          </a:xfrm>
          <a:prstGeom prst="line">
            <a:avLst/>
          </a:prstGeom>
          <a:noFill/>
          <a:ln w="38100" cmpd="dbl">
            <a:solidFill>
              <a:schemeClr val="tx2"/>
            </a:solidFill>
            <a:prstDash val="sysDot"/>
            <a:round/>
            <a:headEnd/>
            <a:tailEnd type="arrow" w="med" len="med"/>
          </a:ln>
          <a:effectLst/>
        </p:spPr>
        <p:txBody>
          <a:bodyPr anchor="ctr">
            <a:spAutoFit/>
          </a:bodyPr>
          <a:lstStyle/>
          <a:p>
            <a:pPr>
              <a:defRPr/>
            </a:pPr>
            <a:endParaRPr lang="en-GB">
              <a:effectLst>
                <a:outerShdw blurRad="38100" dist="38100" dir="2700000" algn="tl">
                  <a:srgbClr val="000000">
                    <a:alpha val="43137"/>
                  </a:srgbClr>
                </a:outerShdw>
              </a:effectLst>
            </a:endParaRPr>
          </a:p>
        </p:txBody>
      </p:sp>
      <p:grpSp>
        <p:nvGrpSpPr>
          <p:cNvPr id="5" name="Group 171"/>
          <p:cNvGrpSpPr>
            <a:grpSpLocks/>
          </p:cNvGrpSpPr>
          <p:nvPr/>
        </p:nvGrpSpPr>
        <p:grpSpPr bwMode="auto">
          <a:xfrm>
            <a:off x="228600" y="1916113"/>
            <a:ext cx="2819400" cy="1500187"/>
            <a:chOff x="528" y="1359"/>
            <a:chExt cx="1776" cy="945"/>
          </a:xfrm>
        </p:grpSpPr>
        <p:graphicFrame>
          <p:nvGraphicFramePr>
            <p:cNvPr id="2053" name="Object 170"/>
            <p:cNvGraphicFramePr>
              <a:graphicFrameLocks noChangeAspect="1"/>
            </p:cNvGraphicFramePr>
            <p:nvPr/>
          </p:nvGraphicFramePr>
          <p:xfrm>
            <a:off x="528" y="1359"/>
            <a:ext cx="1776" cy="945"/>
          </p:xfrm>
          <a:graphic>
            <a:graphicData uri="http://schemas.openxmlformats.org/presentationml/2006/ole">
              <mc:AlternateContent xmlns:mc="http://schemas.openxmlformats.org/markup-compatibility/2006">
                <mc:Choice xmlns:v="urn:schemas-microsoft-com:vml" Requires="v">
                  <p:oleObj spid="_x0000_s1034" name="Clip" r:id="rId3" imgW="1035720" imgH="504720" progId="">
                    <p:embed/>
                  </p:oleObj>
                </mc:Choice>
                <mc:Fallback>
                  <p:oleObj name="Clip" r:id="rId3" imgW="1035720" imgH="504720" progId="">
                    <p:embed/>
                    <p:pic>
                      <p:nvPicPr>
                        <p:cNvPr id="0" name="Object 1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 y="1359"/>
                          <a:ext cx="1776" cy="9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89584" name="Text Box 16"/>
            <p:cNvSpPr txBox="1">
              <a:spLocks noChangeArrowheads="1"/>
            </p:cNvSpPr>
            <p:nvPr/>
          </p:nvSpPr>
          <p:spPr bwMode="auto">
            <a:xfrm>
              <a:off x="720" y="1536"/>
              <a:ext cx="1440" cy="524"/>
            </a:xfrm>
            <a:prstGeom prst="rect">
              <a:avLst/>
            </a:prstGeom>
            <a:noFill/>
            <a:ln w="12700" cap="sq">
              <a:noFill/>
              <a:miter lim="800000"/>
              <a:headEnd/>
              <a:tailEnd/>
            </a:ln>
            <a:effectLst/>
          </p:spPr>
          <p:txBody>
            <a:bodyPr>
              <a:spAutoFit/>
            </a:bodyPr>
            <a:lstStyle/>
            <a:p>
              <a:pPr>
                <a:lnSpc>
                  <a:spcPct val="70000"/>
                </a:lnSpc>
                <a:spcBef>
                  <a:spcPts val="400"/>
                </a:spcBef>
                <a:defRPr/>
              </a:pPr>
              <a:r>
                <a:rPr lang="fr-FR" sz="2000" i="0" dirty="0" err="1">
                  <a:solidFill>
                    <a:schemeClr val="tx1"/>
                  </a:solidFill>
                  <a:effectLst>
                    <a:outerShdw blurRad="38100" dist="38100" dir="2700000" algn="tl">
                      <a:srgbClr val="000000"/>
                    </a:outerShdw>
                  </a:effectLst>
                  <a:latin typeface="Arial" pitchFamily="34" charset="0"/>
                </a:rPr>
                <a:t>problems</a:t>
              </a:r>
              <a:r>
                <a:rPr lang="fr-FR" sz="2000" i="0" dirty="0">
                  <a:solidFill>
                    <a:schemeClr val="tx1"/>
                  </a:solidFill>
                  <a:effectLst>
                    <a:outerShdw blurRad="38100" dist="38100" dir="2700000" algn="tl">
                      <a:srgbClr val="000000"/>
                    </a:outerShdw>
                  </a:effectLst>
                  <a:latin typeface="Arial" pitchFamily="34" charset="0"/>
                </a:rPr>
                <a:t>, </a:t>
              </a:r>
            </a:p>
            <a:p>
              <a:pPr>
                <a:lnSpc>
                  <a:spcPct val="70000"/>
                </a:lnSpc>
                <a:spcBef>
                  <a:spcPts val="400"/>
                </a:spcBef>
                <a:defRPr/>
              </a:pPr>
              <a:r>
                <a:rPr lang="fr-FR" sz="2000" i="0" dirty="0" err="1">
                  <a:solidFill>
                    <a:schemeClr val="tx1"/>
                  </a:solidFill>
                  <a:effectLst>
                    <a:outerShdw blurRad="38100" dist="38100" dir="2700000" algn="tl">
                      <a:srgbClr val="000000"/>
                    </a:outerShdw>
                  </a:effectLst>
                  <a:latin typeface="Arial" pitchFamily="34" charset="0"/>
                </a:rPr>
                <a:t>opportunities</a:t>
              </a:r>
              <a:r>
                <a:rPr lang="fr-FR" sz="2000" i="0" dirty="0">
                  <a:solidFill>
                    <a:schemeClr val="tx1"/>
                  </a:solidFill>
                  <a:effectLst>
                    <a:outerShdw blurRad="38100" dist="38100" dir="2700000" algn="tl">
                      <a:srgbClr val="000000"/>
                    </a:outerShdw>
                  </a:effectLst>
                  <a:latin typeface="Arial" pitchFamily="34" charset="0"/>
                </a:rPr>
                <a:t>,</a:t>
              </a:r>
            </a:p>
            <a:p>
              <a:pPr>
                <a:lnSpc>
                  <a:spcPct val="70000"/>
                </a:lnSpc>
                <a:spcBef>
                  <a:spcPts val="400"/>
                </a:spcBef>
                <a:defRPr/>
              </a:pPr>
              <a:r>
                <a:rPr lang="fr-FR" sz="2000" i="0" dirty="0">
                  <a:solidFill>
                    <a:schemeClr val="tx1"/>
                  </a:solidFill>
                  <a:effectLst>
                    <a:outerShdw blurRad="38100" dist="38100" dir="2700000" algn="tl">
                      <a:srgbClr val="000000"/>
                    </a:outerShdw>
                  </a:effectLst>
                  <a:latin typeface="Arial" pitchFamily="34" charset="0"/>
                </a:rPr>
                <a:t>system </a:t>
              </a:r>
              <a:r>
                <a:rPr lang="fr-FR" sz="2000" i="0" dirty="0" err="1">
                  <a:solidFill>
                    <a:schemeClr val="tx1"/>
                  </a:solidFill>
                  <a:effectLst>
                    <a:outerShdw blurRad="38100" dist="38100" dir="2700000" algn="tl">
                      <a:srgbClr val="000000"/>
                    </a:outerShdw>
                  </a:effectLst>
                  <a:latin typeface="Arial" pitchFamily="34" charset="0"/>
                </a:rPr>
                <a:t>knowledge</a:t>
              </a:r>
              <a:endParaRPr lang="fr-FR" i="0" dirty="0">
                <a:solidFill>
                  <a:schemeClr val="tx1"/>
                </a:solidFill>
                <a:effectLst>
                  <a:outerShdw blurRad="38100" dist="38100" dir="2700000" algn="tl">
                    <a:srgbClr val="000000"/>
                  </a:outerShdw>
                </a:effectLst>
                <a:latin typeface="Arial" pitchFamily="34" charset="0"/>
              </a:endParaRPr>
            </a:p>
          </p:txBody>
        </p:sp>
      </p:grpSp>
      <p:graphicFrame>
        <p:nvGraphicFramePr>
          <p:cNvPr id="2050" name="Object 17"/>
          <p:cNvGraphicFramePr>
            <a:graphicFrameLocks noChangeAspect="1"/>
          </p:cNvGraphicFramePr>
          <p:nvPr/>
        </p:nvGraphicFramePr>
        <p:xfrm>
          <a:off x="3381375" y="5397500"/>
          <a:ext cx="914400" cy="825500"/>
        </p:xfrm>
        <a:graphic>
          <a:graphicData uri="http://schemas.openxmlformats.org/presentationml/2006/ole">
            <mc:AlternateContent xmlns:mc="http://schemas.openxmlformats.org/markup-compatibility/2006">
              <mc:Choice xmlns:v="urn:schemas-microsoft-com:vml" Requires="v">
                <p:oleObj spid="_x0000_s1035" name="Clip" r:id="rId5" imgW="1259640" imgH="1137240" progId="">
                  <p:embed/>
                </p:oleObj>
              </mc:Choice>
              <mc:Fallback>
                <p:oleObj name="Clip" r:id="rId5" imgW="1259640" imgH="1137240" progId="">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81375" y="5397500"/>
                        <a:ext cx="91440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18"/>
          <p:cNvGraphicFramePr>
            <a:graphicFrameLocks noChangeAspect="1"/>
          </p:cNvGraphicFramePr>
          <p:nvPr/>
        </p:nvGraphicFramePr>
        <p:xfrm>
          <a:off x="5868988" y="5321300"/>
          <a:ext cx="941387" cy="901700"/>
        </p:xfrm>
        <a:graphic>
          <a:graphicData uri="http://schemas.openxmlformats.org/presentationml/2006/ole">
            <mc:AlternateContent xmlns:mc="http://schemas.openxmlformats.org/markup-compatibility/2006">
              <mc:Choice xmlns:v="urn:schemas-microsoft-com:vml" Requires="v">
                <p:oleObj spid="_x0000_s1036" name="Clip" r:id="rId7" imgW="762480" imgH="730440" progId="">
                  <p:embed/>
                </p:oleObj>
              </mc:Choice>
              <mc:Fallback>
                <p:oleObj name="Clip" r:id="rId7" imgW="762480" imgH="730440" progId="">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8988" y="5321300"/>
                        <a:ext cx="941387" cy="90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19"/>
          <p:cNvGraphicFramePr>
            <a:graphicFrameLocks noChangeAspect="1"/>
          </p:cNvGraphicFramePr>
          <p:nvPr/>
        </p:nvGraphicFramePr>
        <p:xfrm>
          <a:off x="4538663" y="5397500"/>
          <a:ext cx="976312" cy="812800"/>
        </p:xfrm>
        <a:graphic>
          <a:graphicData uri="http://schemas.openxmlformats.org/presentationml/2006/ole">
            <mc:AlternateContent xmlns:mc="http://schemas.openxmlformats.org/markup-compatibility/2006">
              <mc:Choice xmlns:v="urn:schemas-microsoft-com:vml" Requires="v">
                <p:oleObj spid="_x0000_s1037" name="Clip" r:id="rId9" imgW="840240" imgH="859320" progId="">
                  <p:embed/>
                </p:oleObj>
              </mc:Choice>
              <mc:Fallback>
                <p:oleObj name="Clip" r:id="rId9" imgW="840240" imgH="859320" progId="">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38663" y="5397500"/>
                        <a:ext cx="976312" cy="81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89588" name="Line 20"/>
          <p:cNvSpPr>
            <a:spLocks noChangeShapeType="1"/>
          </p:cNvSpPr>
          <p:nvPr/>
        </p:nvSpPr>
        <p:spPr bwMode="auto">
          <a:xfrm flipH="1">
            <a:off x="3984625" y="4870450"/>
            <a:ext cx="1127125" cy="438150"/>
          </a:xfrm>
          <a:prstGeom prst="line">
            <a:avLst/>
          </a:prstGeom>
          <a:noFill/>
          <a:ln w="28575">
            <a:solidFill>
              <a:srgbClr val="009999"/>
            </a:solidFill>
            <a:prstDash val="dash"/>
            <a:round/>
            <a:headEnd/>
            <a:tailEnd type="arrow" w="med" len="med"/>
          </a:ln>
          <a:effectLst/>
        </p:spPr>
        <p:txBody>
          <a:bodyPr anchor="ctr">
            <a:spAutoFit/>
          </a:bodyPr>
          <a:lstStyle/>
          <a:p>
            <a:pPr>
              <a:defRPr/>
            </a:pPr>
            <a:endParaRPr lang="en-GB">
              <a:effectLst>
                <a:outerShdw blurRad="38100" dist="38100" dir="2700000" algn="tl">
                  <a:srgbClr val="000000">
                    <a:alpha val="43137"/>
                  </a:srgbClr>
                </a:outerShdw>
              </a:effectLst>
            </a:endParaRPr>
          </a:p>
        </p:txBody>
      </p:sp>
      <p:sp>
        <p:nvSpPr>
          <p:cNvPr id="1389589" name="Line 21"/>
          <p:cNvSpPr>
            <a:spLocks noChangeShapeType="1"/>
          </p:cNvSpPr>
          <p:nvPr/>
        </p:nvSpPr>
        <p:spPr bwMode="auto">
          <a:xfrm>
            <a:off x="5124450" y="4894263"/>
            <a:ext cx="0" cy="438150"/>
          </a:xfrm>
          <a:prstGeom prst="line">
            <a:avLst/>
          </a:prstGeom>
          <a:noFill/>
          <a:ln w="28575">
            <a:solidFill>
              <a:srgbClr val="009999"/>
            </a:solidFill>
            <a:prstDash val="dash"/>
            <a:round/>
            <a:headEnd/>
            <a:tailEnd type="arrow" w="med" len="med"/>
          </a:ln>
          <a:effectLst/>
        </p:spPr>
        <p:txBody>
          <a:bodyPr anchor="ctr">
            <a:spAutoFit/>
          </a:bodyPr>
          <a:lstStyle/>
          <a:p>
            <a:pPr>
              <a:defRPr/>
            </a:pPr>
            <a:endParaRPr lang="en-GB">
              <a:effectLst>
                <a:outerShdw blurRad="38100" dist="38100" dir="2700000" algn="tl">
                  <a:srgbClr val="000000">
                    <a:alpha val="43137"/>
                  </a:srgbClr>
                </a:outerShdw>
              </a:effectLst>
            </a:endParaRPr>
          </a:p>
        </p:txBody>
      </p:sp>
      <p:sp>
        <p:nvSpPr>
          <p:cNvPr id="1389590" name="Line 22"/>
          <p:cNvSpPr>
            <a:spLocks noChangeShapeType="1"/>
          </p:cNvSpPr>
          <p:nvPr/>
        </p:nvSpPr>
        <p:spPr bwMode="auto">
          <a:xfrm>
            <a:off x="5111750" y="4870450"/>
            <a:ext cx="1116013" cy="427038"/>
          </a:xfrm>
          <a:prstGeom prst="line">
            <a:avLst/>
          </a:prstGeom>
          <a:noFill/>
          <a:ln w="28575">
            <a:solidFill>
              <a:srgbClr val="009999"/>
            </a:solidFill>
            <a:prstDash val="dash"/>
            <a:round/>
            <a:headEnd/>
            <a:tailEnd type="arrow" w="med" len="med"/>
          </a:ln>
          <a:effectLst/>
        </p:spPr>
        <p:txBody>
          <a:bodyPr anchor="ctr">
            <a:spAutoFit/>
          </a:bodyPr>
          <a:lstStyle/>
          <a:p>
            <a:pPr>
              <a:defRPr/>
            </a:pPr>
            <a:endParaRPr lang="en-GB">
              <a:effectLst>
                <a:outerShdw blurRad="38100" dist="38100" dir="2700000" algn="tl">
                  <a:srgbClr val="000000">
                    <a:alpha val="43137"/>
                  </a:srgbClr>
                </a:outerShdw>
              </a:effectLst>
            </a:endParaRPr>
          </a:p>
        </p:txBody>
      </p:sp>
      <p:sp>
        <p:nvSpPr>
          <p:cNvPr id="1389592" name="Text Box 24"/>
          <p:cNvSpPr txBox="1">
            <a:spLocks noChangeArrowheads="1"/>
          </p:cNvSpPr>
          <p:nvPr/>
        </p:nvSpPr>
        <p:spPr bwMode="auto">
          <a:xfrm>
            <a:off x="4267200" y="1739900"/>
            <a:ext cx="1905000" cy="327025"/>
          </a:xfrm>
          <a:prstGeom prst="rect">
            <a:avLst/>
          </a:prstGeom>
          <a:noFill/>
          <a:ln w="12700" cap="sq">
            <a:noFill/>
            <a:miter lim="800000"/>
            <a:headEnd/>
            <a:tailEnd/>
          </a:ln>
          <a:effectLst/>
        </p:spPr>
        <p:txBody>
          <a:bodyPr>
            <a:spAutoFit/>
          </a:bodyPr>
          <a:lstStyle/>
          <a:p>
            <a:pPr>
              <a:lnSpc>
                <a:spcPct val="70000"/>
              </a:lnSpc>
              <a:spcBef>
                <a:spcPts val="400"/>
              </a:spcBef>
              <a:defRPr/>
            </a:pPr>
            <a:r>
              <a:rPr lang="fr-FR" sz="2200" i="0">
                <a:solidFill>
                  <a:schemeClr val="tx1"/>
                </a:solidFill>
                <a:latin typeface="Arial" pitchFamily="34" charset="0"/>
              </a:rPr>
              <a:t>System-to-be</a:t>
            </a:r>
            <a:endParaRPr lang="fr-FR" i="0">
              <a:solidFill>
                <a:schemeClr val="tx1"/>
              </a:solidFill>
              <a:effectLst>
                <a:outerShdw blurRad="38100" dist="38100" dir="2700000" algn="tl">
                  <a:srgbClr val="000000"/>
                </a:outerShdw>
              </a:effectLst>
              <a:latin typeface="Arial" pitchFamily="34" charset="0"/>
            </a:endParaRPr>
          </a:p>
        </p:txBody>
      </p:sp>
      <p:sp>
        <p:nvSpPr>
          <p:cNvPr id="1389664" name="Text Box 96"/>
          <p:cNvSpPr txBox="1">
            <a:spLocks noChangeArrowheads="1"/>
          </p:cNvSpPr>
          <p:nvPr/>
        </p:nvSpPr>
        <p:spPr bwMode="auto">
          <a:xfrm>
            <a:off x="609600" y="1692275"/>
            <a:ext cx="1905000" cy="327025"/>
          </a:xfrm>
          <a:prstGeom prst="rect">
            <a:avLst/>
          </a:prstGeom>
          <a:noFill/>
          <a:ln w="12700" cap="sq">
            <a:noFill/>
            <a:miter lim="800000"/>
            <a:headEnd/>
            <a:tailEnd/>
          </a:ln>
          <a:effectLst/>
        </p:spPr>
        <p:txBody>
          <a:bodyPr>
            <a:spAutoFit/>
          </a:bodyPr>
          <a:lstStyle/>
          <a:p>
            <a:pPr>
              <a:lnSpc>
                <a:spcPct val="70000"/>
              </a:lnSpc>
              <a:spcBef>
                <a:spcPts val="400"/>
              </a:spcBef>
              <a:defRPr/>
            </a:pPr>
            <a:r>
              <a:rPr lang="fr-FR" sz="2200" i="0">
                <a:solidFill>
                  <a:schemeClr val="tx1"/>
                </a:solidFill>
                <a:latin typeface="Arial" pitchFamily="34" charset="0"/>
              </a:rPr>
              <a:t>System-as-is</a:t>
            </a:r>
            <a:endParaRPr lang="fr-FR" i="0">
              <a:solidFill>
                <a:schemeClr val="tx1"/>
              </a:solidFill>
              <a:effectLst>
                <a:outerShdw blurRad="38100" dist="38100" dir="2700000" algn="tl">
                  <a:srgbClr val="000000"/>
                </a:outerShdw>
              </a:effectLst>
              <a:latin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sz="3200"/>
              <a:t>The hardest single part of building a software system</a:t>
            </a:r>
          </a:p>
        </p:txBody>
      </p:sp>
      <p:sp>
        <p:nvSpPr>
          <p:cNvPr id="91139" name="Rectangle 3"/>
          <p:cNvSpPr>
            <a:spLocks noGrp="1" noChangeArrowheads="1"/>
          </p:cNvSpPr>
          <p:nvPr>
            <p:ph idx="1"/>
          </p:nvPr>
        </p:nvSpPr>
        <p:spPr/>
        <p:txBody>
          <a:bodyPr/>
          <a:lstStyle/>
          <a:p>
            <a:r>
              <a:rPr lang="en-US" dirty="0"/>
              <a:t>“The hardest single part of building a software system is deciding what to build. … No other part of the work so cripples the resulting system if done wrong.  No other part is more difficult to rectify later”</a:t>
            </a:r>
          </a:p>
          <a:p>
            <a:pPr algn="r"/>
            <a:r>
              <a:rPr lang="en-US" sz="1800" dirty="0"/>
              <a:t>F.P. Brooks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wipe(up)">
                                      <p:cBhvr>
                                        <p:cTn id="7" dur="75"/>
                                        <p:tgtEl>
                                          <p:spTgt spid="9113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91139">
                                            <p:txEl>
                                              <p:pRg st="1" end="1"/>
                                            </p:txEl>
                                          </p:spTgt>
                                        </p:tgtEl>
                                        <p:attrNameLst>
                                          <p:attrName>style.visibility</p:attrName>
                                        </p:attrNameLst>
                                      </p:cBhvr>
                                      <p:to>
                                        <p:strVal val="visible"/>
                                      </p:to>
                                    </p:set>
                                    <p:animEffect transition="in" filter="wipe(up)">
                                      <p:cBhvr>
                                        <p:cTn id="12" dur="75"/>
                                        <p:tgtEl>
                                          <p:spTgt spid="9113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smtClean="0">
                <a:solidFill>
                  <a:srgbClr val="C00000"/>
                </a:solidFill>
              </a:rPr>
              <a:t>Re and software development process models</a:t>
            </a:r>
            <a:endParaRPr lang="en-GB" dirty="0">
              <a:solidFill>
                <a:srgbClr val="C00000"/>
              </a:solidFill>
            </a:endParaRPr>
          </a:p>
        </p:txBody>
      </p:sp>
      <p:sp>
        <p:nvSpPr>
          <p:cNvPr id="5" name="Text Placeholder 4"/>
          <p:cNvSpPr>
            <a:spLocks noGrp="1"/>
          </p:cNvSpPr>
          <p:nvPr>
            <p:ph type="body" idx="1"/>
          </p:nvPr>
        </p:nvSpPr>
        <p:spPr/>
        <p:txBody>
          <a:bodyPr/>
          <a:lstStyle/>
          <a:p>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r>
              <a:rPr lang="en-US" smtClean="0"/>
              <a:t>Process and Process Models</a:t>
            </a:r>
            <a:endParaRPr lang="en-US" dirty="0"/>
          </a:p>
        </p:txBody>
      </p:sp>
      <p:sp>
        <p:nvSpPr>
          <p:cNvPr id="150531" name="Rectangle 3"/>
          <p:cNvSpPr>
            <a:spLocks noGrp="1" noChangeArrowheads="1"/>
          </p:cNvSpPr>
          <p:nvPr>
            <p:ph idx="1"/>
          </p:nvPr>
        </p:nvSpPr>
        <p:spPr>
          <a:xfrm>
            <a:off x="457200" y="1600200"/>
            <a:ext cx="8229600" cy="5029200"/>
          </a:xfrm>
        </p:spPr>
        <p:txBody>
          <a:bodyPr>
            <a:normAutofit/>
          </a:bodyPr>
          <a:lstStyle/>
          <a:p>
            <a:r>
              <a:rPr lang="en-US" dirty="0" smtClean="0"/>
              <a:t>A process is an organized set of activities which transforms inputs to outputs</a:t>
            </a:r>
          </a:p>
          <a:p>
            <a:r>
              <a:rPr lang="en-US" dirty="0" smtClean="0"/>
              <a:t>Process descriptions encapsulate knowledge and allow it to be reused</a:t>
            </a:r>
          </a:p>
          <a:p>
            <a:pPr lvl="1"/>
            <a:r>
              <a:rPr lang="en-US" dirty="0" smtClean="0"/>
              <a:t>Instruction manual for a dishwasher</a:t>
            </a:r>
          </a:p>
          <a:p>
            <a:pPr lvl="1"/>
            <a:r>
              <a:rPr lang="en-US" dirty="0" smtClean="0"/>
              <a:t>Cookery book</a:t>
            </a:r>
          </a:p>
          <a:p>
            <a:pPr lvl="1"/>
            <a:r>
              <a:rPr lang="en-US" dirty="0" smtClean="0"/>
              <a:t>Procedures manual for a bank</a:t>
            </a:r>
          </a:p>
          <a:p>
            <a:pPr lvl="1"/>
            <a:r>
              <a:rPr lang="en-US" dirty="0" smtClean="0"/>
              <a:t>Quality manual for software development</a:t>
            </a:r>
          </a:p>
          <a:p>
            <a:r>
              <a:rPr lang="en-US" dirty="0" smtClean="0">
                <a:solidFill>
                  <a:srgbClr val="C00000"/>
                </a:solidFill>
              </a:rPr>
              <a:t>A process model is a simplified description of a process presented from a particular perspective</a:t>
            </a:r>
          </a:p>
          <a:p>
            <a:r>
              <a:rPr lang="en-US" dirty="0" smtClean="0"/>
              <a:t>Design Processes</a:t>
            </a:r>
          </a:p>
          <a:p>
            <a:pPr lvl="1"/>
            <a:r>
              <a:rPr lang="en-US" dirty="0" smtClean="0"/>
              <a:t>Processes which involve creativity, interactions between a wide range of different people, engineering judgment and background knowledge and experience</a:t>
            </a:r>
          </a:p>
          <a:p>
            <a:pPr lvl="2"/>
            <a:r>
              <a:rPr lang="en-US" dirty="0" smtClean="0"/>
              <a:t>Writing a book</a:t>
            </a:r>
          </a:p>
          <a:p>
            <a:pPr lvl="2"/>
            <a:r>
              <a:rPr lang="en-US" dirty="0" smtClean="0"/>
              <a:t>Designing a processor chip</a:t>
            </a:r>
          </a:p>
          <a:p>
            <a:pPr lvl="2"/>
            <a:r>
              <a:rPr lang="en-US" dirty="0" smtClean="0"/>
              <a:t>Requirements engineering</a:t>
            </a:r>
          </a:p>
          <a:p>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anim calcmode="lin" valueType="num">
                                      <p:cBhvr additive="base">
                                        <p:cTn id="7" dur="500" fill="hold"/>
                                        <p:tgtEl>
                                          <p:spTgt spid="150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05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0531">
                                            <p:txEl>
                                              <p:pRg st="1" end="1"/>
                                            </p:txEl>
                                          </p:spTgt>
                                        </p:tgtEl>
                                        <p:attrNameLst>
                                          <p:attrName>style.visibility</p:attrName>
                                        </p:attrNameLst>
                                      </p:cBhvr>
                                      <p:to>
                                        <p:strVal val="visible"/>
                                      </p:to>
                                    </p:set>
                                    <p:anim calcmode="lin" valueType="num">
                                      <p:cBhvr additive="base">
                                        <p:cTn id="13" dur="500" fill="hold"/>
                                        <p:tgtEl>
                                          <p:spTgt spid="1505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0531">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50531">
                                            <p:txEl>
                                              <p:pRg st="2" end="2"/>
                                            </p:txEl>
                                          </p:spTgt>
                                        </p:tgtEl>
                                        <p:attrNameLst>
                                          <p:attrName>style.visibility</p:attrName>
                                        </p:attrNameLst>
                                      </p:cBhvr>
                                      <p:to>
                                        <p:strVal val="visible"/>
                                      </p:to>
                                    </p:set>
                                    <p:anim calcmode="lin" valueType="num">
                                      <p:cBhvr additive="base">
                                        <p:cTn id="17" dur="500" fill="hold"/>
                                        <p:tgtEl>
                                          <p:spTgt spid="15053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053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50531">
                                            <p:txEl>
                                              <p:pRg st="3" end="3"/>
                                            </p:txEl>
                                          </p:spTgt>
                                        </p:tgtEl>
                                        <p:attrNameLst>
                                          <p:attrName>style.visibility</p:attrName>
                                        </p:attrNameLst>
                                      </p:cBhvr>
                                      <p:to>
                                        <p:strVal val="visible"/>
                                      </p:to>
                                    </p:set>
                                    <p:anim calcmode="lin" valueType="num">
                                      <p:cBhvr additive="base">
                                        <p:cTn id="21" dur="500" fill="hold"/>
                                        <p:tgtEl>
                                          <p:spTgt spid="15053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5053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50531">
                                            <p:txEl>
                                              <p:pRg st="4" end="4"/>
                                            </p:txEl>
                                          </p:spTgt>
                                        </p:tgtEl>
                                        <p:attrNameLst>
                                          <p:attrName>style.visibility</p:attrName>
                                        </p:attrNameLst>
                                      </p:cBhvr>
                                      <p:to>
                                        <p:strVal val="visible"/>
                                      </p:to>
                                    </p:set>
                                    <p:anim calcmode="lin" valueType="num">
                                      <p:cBhvr additive="base">
                                        <p:cTn id="25" dur="500" fill="hold"/>
                                        <p:tgtEl>
                                          <p:spTgt spid="15053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053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50531">
                                            <p:txEl>
                                              <p:pRg st="5" end="5"/>
                                            </p:txEl>
                                          </p:spTgt>
                                        </p:tgtEl>
                                        <p:attrNameLst>
                                          <p:attrName>style.visibility</p:attrName>
                                        </p:attrNameLst>
                                      </p:cBhvr>
                                      <p:to>
                                        <p:strVal val="visible"/>
                                      </p:to>
                                    </p:set>
                                    <p:anim calcmode="lin" valueType="num">
                                      <p:cBhvr additive="base">
                                        <p:cTn id="29" dur="500" fill="hold"/>
                                        <p:tgtEl>
                                          <p:spTgt spid="15053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5053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50531">
                                            <p:txEl>
                                              <p:pRg st="6" end="6"/>
                                            </p:txEl>
                                          </p:spTgt>
                                        </p:tgtEl>
                                        <p:attrNameLst>
                                          <p:attrName>style.visibility</p:attrName>
                                        </p:attrNameLst>
                                      </p:cBhvr>
                                      <p:to>
                                        <p:strVal val="visible"/>
                                      </p:to>
                                    </p:set>
                                    <p:anim calcmode="lin" valueType="num">
                                      <p:cBhvr additive="base">
                                        <p:cTn id="35" dur="500" fill="hold"/>
                                        <p:tgtEl>
                                          <p:spTgt spid="150531">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5053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50531">
                                            <p:txEl>
                                              <p:pRg st="7" end="7"/>
                                            </p:txEl>
                                          </p:spTgt>
                                        </p:tgtEl>
                                        <p:attrNameLst>
                                          <p:attrName>style.visibility</p:attrName>
                                        </p:attrNameLst>
                                      </p:cBhvr>
                                      <p:to>
                                        <p:strVal val="visible"/>
                                      </p:to>
                                    </p:set>
                                    <p:anim calcmode="lin" valueType="num">
                                      <p:cBhvr additive="base">
                                        <p:cTn id="41" dur="500" fill="hold"/>
                                        <p:tgtEl>
                                          <p:spTgt spid="150531">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50531">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50531">
                                            <p:txEl>
                                              <p:pRg st="8" end="8"/>
                                            </p:txEl>
                                          </p:spTgt>
                                        </p:tgtEl>
                                        <p:attrNameLst>
                                          <p:attrName>style.visibility</p:attrName>
                                        </p:attrNameLst>
                                      </p:cBhvr>
                                      <p:to>
                                        <p:strVal val="visible"/>
                                      </p:to>
                                    </p:set>
                                    <p:anim calcmode="lin" valueType="num">
                                      <p:cBhvr additive="base">
                                        <p:cTn id="45" dur="500" fill="hold"/>
                                        <p:tgtEl>
                                          <p:spTgt spid="150531">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50531">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50531">
                                            <p:txEl>
                                              <p:pRg st="9" end="9"/>
                                            </p:txEl>
                                          </p:spTgt>
                                        </p:tgtEl>
                                        <p:attrNameLst>
                                          <p:attrName>style.visibility</p:attrName>
                                        </p:attrNameLst>
                                      </p:cBhvr>
                                      <p:to>
                                        <p:strVal val="visible"/>
                                      </p:to>
                                    </p:set>
                                    <p:anim calcmode="lin" valueType="num">
                                      <p:cBhvr additive="base">
                                        <p:cTn id="49" dur="500" fill="hold"/>
                                        <p:tgtEl>
                                          <p:spTgt spid="150531">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50531">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50531">
                                            <p:txEl>
                                              <p:pRg st="10" end="10"/>
                                            </p:txEl>
                                          </p:spTgt>
                                        </p:tgtEl>
                                        <p:attrNameLst>
                                          <p:attrName>style.visibility</p:attrName>
                                        </p:attrNameLst>
                                      </p:cBhvr>
                                      <p:to>
                                        <p:strVal val="visible"/>
                                      </p:to>
                                    </p:set>
                                    <p:anim calcmode="lin" valueType="num">
                                      <p:cBhvr additive="base">
                                        <p:cTn id="53" dur="500" fill="hold"/>
                                        <p:tgtEl>
                                          <p:spTgt spid="150531">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50531">
                                            <p:txEl>
                                              <p:pRg st="10" end="10"/>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50531">
                                            <p:txEl>
                                              <p:pRg st="11" end="11"/>
                                            </p:txEl>
                                          </p:spTgt>
                                        </p:tgtEl>
                                        <p:attrNameLst>
                                          <p:attrName>style.visibility</p:attrName>
                                        </p:attrNameLst>
                                      </p:cBhvr>
                                      <p:to>
                                        <p:strVal val="visible"/>
                                      </p:to>
                                    </p:set>
                                    <p:anim calcmode="lin" valueType="num">
                                      <p:cBhvr additive="base">
                                        <p:cTn id="57" dur="500" fill="hold"/>
                                        <p:tgtEl>
                                          <p:spTgt spid="150531">
                                            <p:txEl>
                                              <p:pRg st="11" end="11"/>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50531">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a:t>Waterfall Model</a:t>
            </a:r>
          </a:p>
        </p:txBody>
      </p:sp>
      <p:grpSp>
        <p:nvGrpSpPr>
          <p:cNvPr id="2" name="Group 3"/>
          <p:cNvGrpSpPr>
            <a:grpSpLocks/>
          </p:cNvGrpSpPr>
          <p:nvPr/>
        </p:nvGrpSpPr>
        <p:grpSpPr bwMode="auto">
          <a:xfrm>
            <a:off x="228600" y="1828800"/>
            <a:ext cx="8610600" cy="4495800"/>
            <a:chOff x="144" y="1152"/>
            <a:chExt cx="5424" cy="2832"/>
          </a:xfrm>
        </p:grpSpPr>
        <p:sp>
          <p:nvSpPr>
            <p:cNvPr id="141316" name="AutoShape 4"/>
            <p:cNvSpPr>
              <a:spLocks noChangeArrowheads="1"/>
            </p:cNvSpPr>
            <p:nvPr/>
          </p:nvSpPr>
          <p:spPr bwMode="auto">
            <a:xfrm>
              <a:off x="1008" y="1632"/>
              <a:ext cx="1008" cy="384"/>
            </a:xfrm>
            <a:prstGeom prst="flowChartProcess">
              <a:avLst/>
            </a:prstGeom>
            <a:solidFill>
              <a:srgbClr val="00FFFF"/>
            </a:solidFill>
            <a:ln w="19050">
              <a:solidFill>
                <a:schemeClr val="tx1"/>
              </a:solidFill>
              <a:miter lim="800000"/>
              <a:headEnd/>
              <a:tailEnd/>
            </a:ln>
            <a:effectLst/>
          </p:spPr>
          <p:txBody>
            <a:bodyPr wrap="none" anchor="ctr"/>
            <a:lstStyle/>
            <a:p>
              <a:pPr algn="ctr"/>
              <a:r>
                <a:rPr lang="en-US">
                  <a:latin typeface="Times New Roman" pitchFamily="18" charset="0"/>
                </a:rPr>
                <a:t>Requirements</a:t>
              </a:r>
              <a:br>
                <a:rPr lang="en-US">
                  <a:latin typeface="Times New Roman" pitchFamily="18" charset="0"/>
                </a:rPr>
              </a:br>
              <a:r>
                <a:rPr lang="en-US">
                  <a:latin typeface="Times New Roman" pitchFamily="18" charset="0"/>
                </a:rPr>
                <a:t>Specification</a:t>
              </a:r>
            </a:p>
          </p:txBody>
        </p:sp>
        <p:sp>
          <p:nvSpPr>
            <p:cNvPr id="141317" name="AutoShape 5"/>
            <p:cNvSpPr>
              <a:spLocks noChangeArrowheads="1"/>
            </p:cNvSpPr>
            <p:nvPr/>
          </p:nvSpPr>
          <p:spPr bwMode="auto">
            <a:xfrm>
              <a:off x="144" y="1152"/>
              <a:ext cx="1008" cy="384"/>
            </a:xfrm>
            <a:prstGeom prst="flowChartProcess">
              <a:avLst/>
            </a:prstGeom>
            <a:solidFill>
              <a:srgbClr val="3366FF"/>
            </a:solidFill>
            <a:ln w="19050">
              <a:solidFill>
                <a:schemeClr val="tx1"/>
              </a:solidFill>
              <a:miter lim="800000"/>
              <a:headEnd/>
              <a:tailEnd/>
            </a:ln>
            <a:effectLst/>
          </p:spPr>
          <p:txBody>
            <a:bodyPr wrap="none" anchor="ctr"/>
            <a:lstStyle/>
            <a:p>
              <a:pPr algn="ctr"/>
              <a:r>
                <a:rPr lang="en-US">
                  <a:latin typeface="Times New Roman" pitchFamily="18" charset="0"/>
                </a:rPr>
                <a:t>Analysis</a:t>
              </a:r>
            </a:p>
          </p:txBody>
        </p:sp>
        <p:cxnSp>
          <p:nvCxnSpPr>
            <p:cNvPr id="141318" name="AutoShape 6"/>
            <p:cNvCxnSpPr>
              <a:cxnSpLocks noChangeShapeType="1"/>
              <a:stCxn id="141317" idx="3"/>
              <a:endCxn id="141316" idx="0"/>
            </p:cNvCxnSpPr>
            <p:nvPr/>
          </p:nvCxnSpPr>
          <p:spPr bwMode="auto">
            <a:xfrm>
              <a:off x="1158" y="1344"/>
              <a:ext cx="354" cy="282"/>
            </a:xfrm>
            <a:prstGeom prst="bentConnector2">
              <a:avLst/>
            </a:prstGeom>
            <a:noFill/>
            <a:ln w="19050">
              <a:solidFill>
                <a:schemeClr val="tx1"/>
              </a:solidFill>
              <a:miter lim="800000"/>
              <a:headEnd/>
              <a:tailEnd type="triangle" w="med" len="med"/>
            </a:ln>
            <a:effectLst/>
          </p:spPr>
        </p:cxnSp>
        <p:sp>
          <p:nvSpPr>
            <p:cNvPr id="141319" name="AutoShape 7"/>
            <p:cNvSpPr>
              <a:spLocks noChangeArrowheads="1"/>
            </p:cNvSpPr>
            <p:nvPr/>
          </p:nvSpPr>
          <p:spPr bwMode="auto">
            <a:xfrm>
              <a:off x="2784" y="2592"/>
              <a:ext cx="1008" cy="384"/>
            </a:xfrm>
            <a:prstGeom prst="flowChartProcess">
              <a:avLst/>
            </a:prstGeom>
            <a:solidFill>
              <a:srgbClr val="FFFF66"/>
            </a:solidFill>
            <a:ln w="19050">
              <a:solidFill>
                <a:schemeClr val="tx1"/>
              </a:solidFill>
              <a:miter lim="800000"/>
              <a:headEnd/>
              <a:tailEnd/>
            </a:ln>
            <a:effectLst/>
          </p:spPr>
          <p:txBody>
            <a:bodyPr wrap="none" anchor="ctr"/>
            <a:lstStyle/>
            <a:p>
              <a:pPr algn="ctr"/>
              <a:r>
                <a:rPr lang="en-US">
                  <a:latin typeface="Times New Roman" pitchFamily="18" charset="0"/>
                </a:rPr>
                <a:t>Implementation</a:t>
              </a:r>
            </a:p>
          </p:txBody>
        </p:sp>
        <p:sp>
          <p:nvSpPr>
            <p:cNvPr id="141320" name="AutoShape 8"/>
            <p:cNvSpPr>
              <a:spLocks noChangeArrowheads="1"/>
            </p:cNvSpPr>
            <p:nvPr/>
          </p:nvSpPr>
          <p:spPr bwMode="auto">
            <a:xfrm>
              <a:off x="1920" y="2112"/>
              <a:ext cx="1008" cy="384"/>
            </a:xfrm>
            <a:prstGeom prst="flowChartProcess">
              <a:avLst/>
            </a:prstGeom>
            <a:solidFill>
              <a:srgbClr val="00FF00"/>
            </a:solidFill>
            <a:ln w="19050">
              <a:solidFill>
                <a:schemeClr val="tx1"/>
              </a:solidFill>
              <a:miter lim="800000"/>
              <a:headEnd/>
              <a:tailEnd/>
            </a:ln>
            <a:effectLst/>
          </p:spPr>
          <p:txBody>
            <a:bodyPr wrap="none" anchor="ctr"/>
            <a:lstStyle/>
            <a:p>
              <a:pPr algn="ctr"/>
              <a:r>
                <a:rPr lang="en-US">
                  <a:latin typeface="Times New Roman" pitchFamily="18" charset="0"/>
                </a:rPr>
                <a:t>Design</a:t>
              </a:r>
            </a:p>
          </p:txBody>
        </p:sp>
        <p:cxnSp>
          <p:nvCxnSpPr>
            <p:cNvPr id="141321" name="AutoShape 9"/>
            <p:cNvCxnSpPr>
              <a:cxnSpLocks noChangeShapeType="1"/>
              <a:stCxn id="141320" idx="3"/>
              <a:endCxn id="141319" idx="0"/>
            </p:cNvCxnSpPr>
            <p:nvPr/>
          </p:nvCxnSpPr>
          <p:spPr bwMode="auto">
            <a:xfrm>
              <a:off x="2934" y="2304"/>
              <a:ext cx="354" cy="282"/>
            </a:xfrm>
            <a:prstGeom prst="bentConnector2">
              <a:avLst/>
            </a:prstGeom>
            <a:noFill/>
            <a:ln w="19050">
              <a:solidFill>
                <a:schemeClr val="tx1"/>
              </a:solidFill>
              <a:miter lim="800000"/>
              <a:headEnd/>
              <a:tailEnd type="triangle" w="med" len="med"/>
            </a:ln>
            <a:effectLst/>
          </p:spPr>
        </p:cxnSp>
        <p:sp>
          <p:nvSpPr>
            <p:cNvPr id="141322" name="AutoShape 10"/>
            <p:cNvSpPr>
              <a:spLocks noChangeArrowheads="1"/>
            </p:cNvSpPr>
            <p:nvPr/>
          </p:nvSpPr>
          <p:spPr bwMode="auto">
            <a:xfrm>
              <a:off x="4560" y="3600"/>
              <a:ext cx="1008" cy="384"/>
            </a:xfrm>
            <a:prstGeom prst="flowChartProcess">
              <a:avLst/>
            </a:prstGeom>
            <a:solidFill>
              <a:srgbClr val="FF3300"/>
            </a:solidFill>
            <a:ln w="19050">
              <a:solidFill>
                <a:schemeClr val="tx1"/>
              </a:solidFill>
              <a:miter lim="800000"/>
              <a:headEnd/>
              <a:tailEnd/>
            </a:ln>
            <a:effectLst/>
          </p:spPr>
          <p:txBody>
            <a:bodyPr wrap="none" anchor="ctr"/>
            <a:lstStyle/>
            <a:p>
              <a:pPr algn="ctr"/>
              <a:r>
                <a:rPr lang="en-US">
                  <a:latin typeface="Times New Roman" pitchFamily="18" charset="0"/>
                </a:rPr>
                <a:t>Operation and</a:t>
              </a:r>
              <a:br>
                <a:rPr lang="en-US">
                  <a:latin typeface="Times New Roman" pitchFamily="18" charset="0"/>
                </a:rPr>
              </a:br>
              <a:r>
                <a:rPr lang="en-US">
                  <a:latin typeface="Times New Roman" pitchFamily="18" charset="0"/>
                </a:rPr>
                <a:t>Maintenance</a:t>
              </a:r>
            </a:p>
          </p:txBody>
        </p:sp>
        <p:sp>
          <p:nvSpPr>
            <p:cNvPr id="141323" name="AutoShape 11"/>
            <p:cNvSpPr>
              <a:spLocks noChangeArrowheads="1"/>
            </p:cNvSpPr>
            <p:nvPr/>
          </p:nvSpPr>
          <p:spPr bwMode="auto">
            <a:xfrm>
              <a:off x="3696" y="3120"/>
              <a:ext cx="1008" cy="384"/>
            </a:xfrm>
            <a:prstGeom prst="flowChartProcess">
              <a:avLst/>
            </a:prstGeom>
            <a:solidFill>
              <a:srgbClr val="FF9900"/>
            </a:solidFill>
            <a:ln w="19050">
              <a:solidFill>
                <a:schemeClr val="tx1"/>
              </a:solidFill>
              <a:miter lim="800000"/>
              <a:headEnd/>
              <a:tailEnd/>
            </a:ln>
            <a:effectLst/>
          </p:spPr>
          <p:txBody>
            <a:bodyPr wrap="none" anchor="ctr"/>
            <a:lstStyle/>
            <a:p>
              <a:pPr algn="ctr"/>
              <a:r>
                <a:rPr lang="en-US">
                  <a:latin typeface="Times New Roman" pitchFamily="18" charset="0"/>
                </a:rPr>
                <a:t>Testing and</a:t>
              </a:r>
              <a:br>
                <a:rPr lang="en-US">
                  <a:latin typeface="Times New Roman" pitchFamily="18" charset="0"/>
                </a:rPr>
              </a:br>
              <a:r>
                <a:rPr lang="en-US">
                  <a:latin typeface="Times New Roman" pitchFamily="18" charset="0"/>
                </a:rPr>
                <a:t>Integration</a:t>
              </a:r>
            </a:p>
          </p:txBody>
        </p:sp>
        <p:cxnSp>
          <p:nvCxnSpPr>
            <p:cNvPr id="141324" name="AutoShape 12"/>
            <p:cNvCxnSpPr>
              <a:cxnSpLocks noChangeShapeType="1"/>
              <a:stCxn id="141323" idx="3"/>
              <a:endCxn id="141322" idx="0"/>
            </p:cNvCxnSpPr>
            <p:nvPr/>
          </p:nvCxnSpPr>
          <p:spPr bwMode="auto">
            <a:xfrm>
              <a:off x="4710" y="3312"/>
              <a:ext cx="354" cy="282"/>
            </a:xfrm>
            <a:prstGeom prst="bentConnector2">
              <a:avLst/>
            </a:prstGeom>
            <a:noFill/>
            <a:ln w="19050">
              <a:solidFill>
                <a:schemeClr val="tx1"/>
              </a:solidFill>
              <a:miter lim="800000"/>
              <a:headEnd/>
              <a:tailEnd type="triangle" w="med" len="med"/>
            </a:ln>
            <a:effectLst/>
          </p:spPr>
        </p:cxnSp>
        <p:cxnSp>
          <p:nvCxnSpPr>
            <p:cNvPr id="141325" name="AutoShape 13"/>
            <p:cNvCxnSpPr>
              <a:cxnSpLocks noChangeShapeType="1"/>
              <a:stCxn id="141316" idx="3"/>
              <a:endCxn id="141320" idx="0"/>
            </p:cNvCxnSpPr>
            <p:nvPr/>
          </p:nvCxnSpPr>
          <p:spPr bwMode="auto">
            <a:xfrm>
              <a:off x="2022" y="1824"/>
              <a:ext cx="402" cy="282"/>
            </a:xfrm>
            <a:prstGeom prst="bentConnector2">
              <a:avLst/>
            </a:prstGeom>
            <a:noFill/>
            <a:ln w="19050">
              <a:solidFill>
                <a:schemeClr val="tx1"/>
              </a:solidFill>
              <a:miter lim="800000"/>
              <a:headEnd/>
              <a:tailEnd type="triangle" w="med" len="med"/>
            </a:ln>
            <a:effectLst/>
          </p:spPr>
        </p:cxnSp>
        <p:cxnSp>
          <p:nvCxnSpPr>
            <p:cNvPr id="141326" name="AutoShape 14"/>
            <p:cNvCxnSpPr>
              <a:cxnSpLocks noChangeShapeType="1"/>
              <a:stCxn id="141319" idx="3"/>
              <a:endCxn id="141323" idx="0"/>
            </p:cNvCxnSpPr>
            <p:nvPr/>
          </p:nvCxnSpPr>
          <p:spPr bwMode="auto">
            <a:xfrm>
              <a:off x="3798" y="2784"/>
              <a:ext cx="402" cy="330"/>
            </a:xfrm>
            <a:prstGeom prst="bentConnector2">
              <a:avLst/>
            </a:prstGeom>
            <a:noFill/>
            <a:ln w="19050">
              <a:solidFill>
                <a:schemeClr val="tx1"/>
              </a:solidFill>
              <a:miter lim="800000"/>
              <a:headEnd/>
              <a:tailEnd type="triangle" w="med" len="med"/>
            </a:ln>
            <a:effectLst/>
          </p:spPr>
        </p:cxn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endParaRPr lang="en-US"/>
          </a:p>
        </p:txBody>
      </p:sp>
      <p:sp>
        <p:nvSpPr>
          <p:cNvPr id="143363" name="Rectangle 3"/>
          <p:cNvSpPr>
            <a:spLocks noGrp="1" noChangeArrowheads="1"/>
          </p:cNvSpPr>
          <p:nvPr>
            <p:ph idx="1"/>
          </p:nvPr>
        </p:nvSpPr>
        <p:spPr/>
        <p:txBody>
          <a:bodyPr/>
          <a:lstStyle/>
          <a:p>
            <a:pPr>
              <a:lnSpc>
                <a:spcPct val="90000"/>
              </a:lnSpc>
            </a:pPr>
            <a:r>
              <a:rPr lang="en-US"/>
              <a:t>Development – a process of stepwise refinement</a:t>
            </a:r>
          </a:p>
          <a:p>
            <a:pPr>
              <a:lnSpc>
                <a:spcPct val="90000"/>
              </a:lnSpc>
            </a:pPr>
            <a:r>
              <a:rPr lang="en-US"/>
              <a:t>Problems</a:t>
            </a:r>
          </a:p>
          <a:p>
            <a:pPr lvl="1">
              <a:lnSpc>
                <a:spcPct val="90000"/>
              </a:lnSpc>
            </a:pPr>
            <a:r>
              <a:rPr lang="en-US"/>
              <a:t>Takes a static view of requirements</a:t>
            </a:r>
          </a:p>
          <a:p>
            <a:pPr lvl="1">
              <a:lnSpc>
                <a:spcPct val="90000"/>
              </a:lnSpc>
            </a:pPr>
            <a:r>
              <a:rPr lang="en-US"/>
              <a:t>Lack of user involvement once specification is written</a:t>
            </a:r>
          </a:p>
          <a:p>
            <a:pPr lvl="1">
              <a:lnSpc>
                <a:spcPct val="90000"/>
              </a:lnSpc>
            </a:pPr>
            <a:r>
              <a:rPr lang="en-US"/>
              <a:t>“unrealistic” separation of specification from design</a:t>
            </a:r>
          </a:p>
          <a:p>
            <a:pPr lvl="1">
              <a:lnSpc>
                <a:spcPct val="90000"/>
              </a:lnSpc>
            </a:pPr>
            <a:r>
              <a:rPr lang="en-US"/>
              <a:t>Does not accommodate prototyping and reuse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63">
                                            <p:txEl>
                                              <p:pRg st="1" end="1"/>
                                            </p:txEl>
                                          </p:spTgt>
                                        </p:tgtEl>
                                        <p:attrNameLst>
                                          <p:attrName>style.visibility</p:attrName>
                                        </p:attrNameLst>
                                      </p:cBhvr>
                                      <p:to>
                                        <p:strVal val="visible"/>
                                      </p:to>
                                    </p:set>
                                    <p:anim calcmode="lin" valueType="num">
                                      <p:cBhvr additive="base">
                                        <p:cTn id="13"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363">
                                            <p:txEl>
                                              <p:pRg st="2" end="2"/>
                                            </p:txEl>
                                          </p:spTgt>
                                        </p:tgtEl>
                                        <p:attrNameLst>
                                          <p:attrName>style.visibility</p:attrName>
                                        </p:attrNameLst>
                                      </p:cBhvr>
                                      <p:to>
                                        <p:strVal val="visible"/>
                                      </p:to>
                                    </p:set>
                                    <p:anim calcmode="lin" valueType="num">
                                      <p:cBhvr additive="base">
                                        <p:cTn id="19"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363">
                                            <p:txEl>
                                              <p:pRg st="3" end="3"/>
                                            </p:txEl>
                                          </p:spTgt>
                                        </p:tgtEl>
                                        <p:attrNameLst>
                                          <p:attrName>style.visibility</p:attrName>
                                        </p:attrNameLst>
                                      </p:cBhvr>
                                      <p:to>
                                        <p:strVal val="visible"/>
                                      </p:to>
                                    </p:set>
                                    <p:anim calcmode="lin" valueType="num">
                                      <p:cBhvr additive="base">
                                        <p:cTn id="25" dur="500" fill="hold"/>
                                        <p:tgtEl>
                                          <p:spTgt spid="1433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3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3363">
                                            <p:txEl>
                                              <p:pRg st="4" end="4"/>
                                            </p:txEl>
                                          </p:spTgt>
                                        </p:tgtEl>
                                        <p:attrNameLst>
                                          <p:attrName>style.visibility</p:attrName>
                                        </p:attrNameLst>
                                      </p:cBhvr>
                                      <p:to>
                                        <p:strVal val="visible"/>
                                      </p:to>
                                    </p:set>
                                    <p:anim calcmode="lin" valueType="num">
                                      <p:cBhvr additive="base">
                                        <p:cTn id="31" dur="500" fill="hold"/>
                                        <p:tgtEl>
                                          <p:spTgt spid="14336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33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3363">
                                            <p:txEl>
                                              <p:pRg st="5" end="5"/>
                                            </p:txEl>
                                          </p:spTgt>
                                        </p:tgtEl>
                                        <p:attrNameLst>
                                          <p:attrName>style.visibility</p:attrName>
                                        </p:attrNameLst>
                                      </p:cBhvr>
                                      <p:to>
                                        <p:strVal val="visible"/>
                                      </p:to>
                                    </p:set>
                                    <p:anim calcmode="lin" valueType="num">
                                      <p:cBhvr additive="base">
                                        <p:cTn id="37" dur="500" fill="hold"/>
                                        <p:tgtEl>
                                          <p:spTgt spid="14336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336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bldLvl="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US"/>
              <a:t>Prototyping</a:t>
            </a:r>
          </a:p>
        </p:txBody>
      </p:sp>
      <p:pic>
        <p:nvPicPr>
          <p:cNvPr id="144387" name="Picture 3"/>
          <p:cNvPicPr>
            <a:picLocks noGrp="1" noChangeArrowheads="1"/>
          </p:cNvPicPr>
          <p:nvPr>
            <p:ph idx="1"/>
          </p:nvPr>
        </p:nvPicPr>
        <p:blipFill>
          <a:blip r:embed="rId2"/>
          <a:srcRect/>
          <a:stretch>
            <a:fillRect/>
          </a:stretch>
        </p:blipFill>
        <p:spPr>
          <a:xfrm>
            <a:off x="1066800" y="1219200"/>
            <a:ext cx="7010400" cy="4800600"/>
          </a:xfrm>
          <a:noFill/>
          <a:ln/>
        </p:spPr>
      </p:pic>
      <p:sp>
        <p:nvSpPr>
          <p:cNvPr id="144388" name="Text Box 4"/>
          <p:cNvSpPr txBox="1">
            <a:spLocks noChangeArrowheads="1"/>
          </p:cNvSpPr>
          <p:nvPr/>
        </p:nvSpPr>
        <p:spPr bwMode="auto">
          <a:xfrm>
            <a:off x="6164263" y="5943600"/>
            <a:ext cx="2979737" cy="366713"/>
          </a:xfrm>
          <a:prstGeom prst="rect">
            <a:avLst/>
          </a:prstGeom>
          <a:noFill/>
          <a:ln w="9525">
            <a:noFill/>
            <a:miter lim="800000"/>
            <a:headEnd/>
            <a:tailEnd/>
          </a:ln>
          <a:effectLst/>
        </p:spPr>
        <p:txBody>
          <a:bodyPr wrap="none">
            <a:spAutoFit/>
          </a:bodyPr>
          <a:lstStyle/>
          <a:p>
            <a:r>
              <a:rPr lang="en-US">
                <a:latin typeface="Times New Roman" pitchFamily="18" charset="0"/>
              </a:rPr>
              <a:t>Figure © Pressman Associates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endParaRPr lang="en-US"/>
          </a:p>
        </p:txBody>
      </p:sp>
      <p:sp>
        <p:nvSpPr>
          <p:cNvPr id="145411" name="Rectangle 3"/>
          <p:cNvSpPr>
            <a:spLocks noGrp="1" noChangeArrowheads="1"/>
          </p:cNvSpPr>
          <p:nvPr>
            <p:ph idx="1"/>
          </p:nvPr>
        </p:nvSpPr>
        <p:spPr/>
        <p:txBody>
          <a:bodyPr/>
          <a:lstStyle/>
          <a:p>
            <a:pPr>
              <a:lnSpc>
                <a:spcPct val="90000"/>
              </a:lnSpc>
            </a:pPr>
            <a:r>
              <a:rPr lang="en-US" sz="2800"/>
              <a:t>Used for</a:t>
            </a:r>
          </a:p>
          <a:p>
            <a:pPr lvl="1">
              <a:lnSpc>
                <a:spcPct val="90000"/>
              </a:lnSpc>
            </a:pPr>
            <a:r>
              <a:rPr lang="en-US" sz="2400"/>
              <a:t>Identifying initial/known requirements</a:t>
            </a:r>
          </a:p>
          <a:p>
            <a:pPr lvl="1">
              <a:lnSpc>
                <a:spcPct val="90000"/>
              </a:lnSpc>
            </a:pPr>
            <a:r>
              <a:rPr lang="en-US" sz="2400"/>
              <a:t>Understanding the requirements for the UI</a:t>
            </a:r>
          </a:p>
          <a:p>
            <a:pPr lvl="1">
              <a:lnSpc>
                <a:spcPct val="90000"/>
              </a:lnSpc>
            </a:pPr>
            <a:r>
              <a:rPr lang="en-US" sz="2400"/>
              <a:t>Examining feasibility of a proposed design approach</a:t>
            </a:r>
          </a:p>
          <a:p>
            <a:pPr lvl="1">
              <a:lnSpc>
                <a:spcPct val="90000"/>
              </a:lnSpc>
            </a:pPr>
            <a:r>
              <a:rPr lang="en-US" sz="2400"/>
              <a:t>Exploring system performance issues</a:t>
            </a:r>
          </a:p>
          <a:p>
            <a:pPr>
              <a:lnSpc>
                <a:spcPct val="90000"/>
              </a:lnSpc>
            </a:pPr>
            <a:r>
              <a:rPr lang="en-US" sz="2800"/>
              <a:t>Problems</a:t>
            </a:r>
          </a:p>
          <a:p>
            <a:pPr lvl="1">
              <a:lnSpc>
                <a:spcPct val="90000"/>
              </a:lnSpc>
            </a:pPr>
            <a:r>
              <a:rPr lang="en-US" sz="2400"/>
              <a:t>Users treats the problem as the solution</a:t>
            </a:r>
          </a:p>
          <a:p>
            <a:pPr lvl="1">
              <a:lnSpc>
                <a:spcPct val="90000"/>
              </a:lnSpc>
            </a:pPr>
            <a:r>
              <a:rPr lang="en-US" sz="2400"/>
              <a:t>A prototype is only a partial specification</a:t>
            </a:r>
          </a:p>
          <a:p>
            <a:pPr lvl="1">
              <a:lnSpc>
                <a:spcPct val="90000"/>
              </a:lnSpc>
            </a:pPr>
            <a:r>
              <a:rPr lang="en-US" sz="2400"/>
              <a:t>Encourage excessive user change requests based on minor design issues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 calcmode="lin" valueType="num">
                                      <p:cBhvr additive="base">
                                        <p:cTn id="7" dur="500" fill="hold"/>
                                        <p:tgtEl>
                                          <p:spTgt spid="145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5411">
                                            <p:txEl>
                                              <p:pRg st="1" end="1"/>
                                            </p:txEl>
                                          </p:spTgt>
                                        </p:tgtEl>
                                        <p:attrNameLst>
                                          <p:attrName>style.visibility</p:attrName>
                                        </p:attrNameLst>
                                      </p:cBhvr>
                                      <p:to>
                                        <p:strVal val="visible"/>
                                      </p:to>
                                    </p:set>
                                    <p:anim calcmode="lin" valueType="num">
                                      <p:cBhvr additive="base">
                                        <p:cTn id="13" dur="500" fill="hold"/>
                                        <p:tgtEl>
                                          <p:spTgt spid="1454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5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5411">
                                            <p:txEl>
                                              <p:pRg st="2" end="2"/>
                                            </p:txEl>
                                          </p:spTgt>
                                        </p:tgtEl>
                                        <p:attrNameLst>
                                          <p:attrName>style.visibility</p:attrName>
                                        </p:attrNameLst>
                                      </p:cBhvr>
                                      <p:to>
                                        <p:strVal val="visible"/>
                                      </p:to>
                                    </p:set>
                                    <p:anim calcmode="lin" valueType="num">
                                      <p:cBhvr additive="base">
                                        <p:cTn id="19" dur="500" fill="hold"/>
                                        <p:tgtEl>
                                          <p:spTgt spid="1454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5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5411">
                                            <p:txEl>
                                              <p:pRg st="3" end="3"/>
                                            </p:txEl>
                                          </p:spTgt>
                                        </p:tgtEl>
                                        <p:attrNameLst>
                                          <p:attrName>style.visibility</p:attrName>
                                        </p:attrNameLst>
                                      </p:cBhvr>
                                      <p:to>
                                        <p:strVal val="visible"/>
                                      </p:to>
                                    </p:set>
                                    <p:anim calcmode="lin" valueType="num">
                                      <p:cBhvr additive="base">
                                        <p:cTn id="25" dur="500" fill="hold"/>
                                        <p:tgtEl>
                                          <p:spTgt spid="1454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54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5411">
                                            <p:txEl>
                                              <p:pRg st="4" end="4"/>
                                            </p:txEl>
                                          </p:spTgt>
                                        </p:tgtEl>
                                        <p:attrNameLst>
                                          <p:attrName>style.visibility</p:attrName>
                                        </p:attrNameLst>
                                      </p:cBhvr>
                                      <p:to>
                                        <p:strVal val="visible"/>
                                      </p:to>
                                    </p:set>
                                    <p:anim calcmode="lin" valueType="num">
                                      <p:cBhvr additive="base">
                                        <p:cTn id="31" dur="500" fill="hold"/>
                                        <p:tgtEl>
                                          <p:spTgt spid="14541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54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5411">
                                            <p:txEl>
                                              <p:pRg st="5" end="5"/>
                                            </p:txEl>
                                          </p:spTgt>
                                        </p:tgtEl>
                                        <p:attrNameLst>
                                          <p:attrName>style.visibility</p:attrName>
                                        </p:attrNameLst>
                                      </p:cBhvr>
                                      <p:to>
                                        <p:strVal val="visible"/>
                                      </p:to>
                                    </p:set>
                                    <p:anim calcmode="lin" valueType="num">
                                      <p:cBhvr additive="base">
                                        <p:cTn id="37" dur="500" fill="hold"/>
                                        <p:tgtEl>
                                          <p:spTgt spid="14541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54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45411">
                                            <p:txEl>
                                              <p:pRg st="6" end="6"/>
                                            </p:txEl>
                                          </p:spTgt>
                                        </p:tgtEl>
                                        <p:attrNameLst>
                                          <p:attrName>style.visibility</p:attrName>
                                        </p:attrNameLst>
                                      </p:cBhvr>
                                      <p:to>
                                        <p:strVal val="visible"/>
                                      </p:to>
                                    </p:set>
                                    <p:anim calcmode="lin" valueType="num">
                                      <p:cBhvr additive="base">
                                        <p:cTn id="43" dur="500" fill="hold"/>
                                        <p:tgtEl>
                                          <p:spTgt spid="14541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54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45411">
                                            <p:txEl>
                                              <p:pRg st="7" end="7"/>
                                            </p:txEl>
                                          </p:spTgt>
                                        </p:tgtEl>
                                        <p:attrNameLst>
                                          <p:attrName>style.visibility</p:attrName>
                                        </p:attrNameLst>
                                      </p:cBhvr>
                                      <p:to>
                                        <p:strVal val="visible"/>
                                      </p:to>
                                    </p:set>
                                    <p:anim calcmode="lin" valueType="num">
                                      <p:cBhvr additive="base">
                                        <p:cTn id="49" dur="500" fill="hold"/>
                                        <p:tgtEl>
                                          <p:spTgt spid="145411">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4541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45411">
                                            <p:txEl>
                                              <p:pRg st="8" end="8"/>
                                            </p:txEl>
                                          </p:spTgt>
                                        </p:tgtEl>
                                        <p:attrNameLst>
                                          <p:attrName>style.visibility</p:attrName>
                                        </p:attrNameLst>
                                      </p:cBhvr>
                                      <p:to>
                                        <p:strVal val="visible"/>
                                      </p:to>
                                    </p:set>
                                    <p:anim calcmode="lin" valueType="num">
                                      <p:cBhvr additive="base">
                                        <p:cTn id="55" dur="500" fill="hold"/>
                                        <p:tgtEl>
                                          <p:spTgt spid="145411">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4541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bldLvl="2"/>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en-US"/>
              <a:t>The RAD Model</a:t>
            </a:r>
          </a:p>
        </p:txBody>
      </p:sp>
      <p:pic>
        <p:nvPicPr>
          <p:cNvPr id="146435" name="Picture 3"/>
          <p:cNvPicPr>
            <a:picLocks noGrp="1" noChangeArrowheads="1"/>
          </p:cNvPicPr>
          <p:nvPr>
            <p:ph idx="1"/>
          </p:nvPr>
        </p:nvPicPr>
        <p:blipFill>
          <a:blip r:embed="rId2"/>
          <a:srcRect/>
          <a:stretch>
            <a:fillRect/>
          </a:stretch>
        </p:blipFill>
        <p:spPr>
          <a:xfrm>
            <a:off x="1524000" y="1371600"/>
            <a:ext cx="6019800" cy="4953000"/>
          </a:xfrm>
          <a:noFill/>
          <a:ln/>
        </p:spPr>
      </p:pic>
      <p:sp>
        <p:nvSpPr>
          <p:cNvPr id="146436" name="Text Box 4"/>
          <p:cNvSpPr txBox="1">
            <a:spLocks noChangeArrowheads="1"/>
          </p:cNvSpPr>
          <p:nvPr/>
        </p:nvSpPr>
        <p:spPr bwMode="auto">
          <a:xfrm>
            <a:off x="6164263" y="6248400"/>
            <a:ext cx="2979737" cy="366713"/>
          </a:xfrm>
          <a:prstGeom prst="rect">
            <a:avLst/>
          </a:prstGeom>
          <a:noFill/>
          <a:ln w="9525">
            <a:noFill/>
            <a:miter lim="800000"/>
            <a:headEnd/>
            <a:tailEnd/>
          </a:ln>
          <a:effectLst/>
        </p:spPr>
        <p:txBody>
          <a:bodyPr wrap="none">
            <a:spAutoFit/>
          </a:bodyPr>
          <a:lstStyle/>
          <a:p>
            <a:r>
              <a:rPr lang="en-US" dirty="0">
                <a:latin typeface="Times New Roman" pitchFamily="18" charset="0"/>
              </a:rPr>
              <a:t>Figure © Pressman Associates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967002" y="354720"/>
            <a:ext cx="7406640" cy="1356360"/>
          </a:xfrm>
        </p:spPr>
        <p:txBody>
          <a:bodyPr/>
          <a:lstStyle/>
          <a:p>
            <a:r>
              <a:rPr lang="en-US" dirty="0"/>
              <a:t>The Incremental Model</a:t>
            </a:r>
          </a:p>
        </p:txBody>
      </p:sp>
      <p:grpSp>
        <p:nvGrpSpPr>
          <p:cNvPr id="2" name="Group 3"/>
          <p:cNvGrpSpPr>
            <a:grpSpLocks/>
          </p:cNvGrpSpPr>
          <p:nvPr/>
        </p:nvGrpSpPr>
        <p:grpSpPr bwMode="auto">
          <a:xfrm>
            <a:off x="533400" y="1371600"/>
            <a:ext cx="7543800" cy="4953000"/>
            <a:chOff x="144" y="816"/>
            <a:chExt cx="4464" cy="3360"/>
          </a:xfrm>
        </p:grpSpPr>
        <p:sp>
          <p:nvSpPr>
            <p:cNvPr id="147460" name="Rectangle 4"/>
            <p:cNvSpPr>
              <a:spLocks noChangeArrowheads="1"/>
            </p:cNvSpPr>
            <p:nvPr/>
          </p:nvSpPr>
          <p:spPr bwMode="auto">
            <a:xfrm>
              <a:off x="864" y="1440"/>
              <a:ext cx="864" cy="384"/>
            </a:xfrm>
            <a:prstGeom prst="rect">
              <a:avLst/>
            </a:prstGeom>
            <a:solidFill>
              <a:srgbClr val="A1D8FD"/>
            </a:solidFill>
            <a:ln w="9525">
              <a:solidFill>
                <a:schemeClr val="tx1"/>
              </a:solidFill>
              <a:miter lim="800000"/>
              <a:headEnd/>
              <a:tailEnd/>
            </a:ln>
            <a:effectLst/>
          </p:spPr>
          <p:txBody>
            <a:bodyPr wrap="none" anchor="ctr"/>
            <a:lstStyle/>
            <a:p>
              <a:pPr algn="ctr" eaLnBrk="0" hangingPunct="0"/>
              <a:r>
                <a:rPr lang="en-US"/>
                <a:t>Specification</a:t>
              </a:r>
            </a:p>
          </p:txBody>
        </p:sp>
        <p:sp>
          <p:nvSpPr>
            <p:cNvPr id="147461" name="Rectangle 5"/>
            <p:cNvSpPr>
              <a:spLocks noChangeArrowheads="1"/>
            </p:cNvSpPr>
            <p:nvPr/>
          </p:nvSpPr>
          <p:spPr bwMode="auto">
            <a:xfrm>
              <a:off x="1536" y="1968"/>
              <a:ext cx="864" cy="432"/>
            </a:xfrm>
            <a:prstGeom prst="rect">
              <a:avLst/>
            </a:prstGeom>
            <a:solidFill>
              <a:srgbClr val="A1D8FD"/>
            </a:solidFill>
            <a:ln w="9525">
              <a:solidFill>
                <a:schemeClr val="tx1"/>
              </a:solidFill>
              <a:miter lim="800000"/>
              <a:headEnd/>
              <a:tailEnd/>
            </a:ln>
            <a:effectLst/>
          </p:spPr>
          <p:txBody>
            <a:bodyPr wrap="none" anchor="ctr"/>
            <a:lstStyle/>
            <a:p>
              <a:pPr algn="ctr" eaLnBrk="0" hangingPunct="0"/>
              <a:r>
                <a:rPr lang="en-US"/>
                <a:t>Arch Design</a:t>
              </a:r>
            </a:p>
          </p:txBody>
        </p:sp>
        <p:sp>
          <p:nvSpPr>
            <p:cNvPr id="147462" name="Rectangle 6"/>
            <p:cNvSpPr>
              <a:spLocks noChangeArrowheads="1"/>
            </p:cNvSpPr>
            <p:nvPr/>
          </p:nvSpPr>
          <p:spPr bwMode="auto">
            <a:xfrm>
              <a:off x="3792" y="3936"/>
              <a:ext cx="816" cy="240"/>
            </a:xfrm>
            <a:prstGeom prst="rect">
              <a:avLst/>
            </a:prstGeom>
            <a:solidFill>
              <a:srgbClr val="A1D8FD"/>
            </a:solidFill>
            <a:ln w="9525">
              <a:solidFill>
                <a:schemeClr val="tx1"/>
              </a:solidFill>
              <a:miter lim="800000"/>
              <a:headEnd/>
              <a:tailEnd/>
            </a:ln>
            <a:effectLst/>
          </p:spPr>
          <p:txBody>
            <a:bodyPr wrap="none" anchor="ctr"/>
            <a:lstStyle/>
            <a:p>
              <a:pPr algn="ctr" eaLnBrk="0" hangingPunct="0"/>
              <a:r>
                <a:rPr lang="en-US"/>
                <a:t>Retirement</a:t>
              </a:r>
            </a:p>
          </p:txBody>
        </p:sp>
        <p:sp>
          <p:nvSpPr>
            <p:cNvPr id="147463" name="Rectangle 7"/>
            <p:cNvSpPr>
              <a:spLocks noChangeArrowheads="1"/>
            </p:cNvSpPr>
            <p:nvPr/>
          </p:nvSpPr>
          <p:spPr bwMode="auto">
            <a:xfrm>
              <a:off x="1968" y="2496"/>
              <a:ext cx="1632" cy="912"/>
            </a:xfrm>
            <a:prstGeom prst="rect">
              <a:avLst/>
            </a:prstGeom>
            <a:solidFill>
              <a:srgbClr val="A1D8FD"/>
            </a:solidFill>
            <a:ln w="9525">
              <a:solidFill>
                <a:schemeClr val="tx1"/>
              </a:solidFill>
              <a:miter lim="800000"/>
              <a:headEnd/>
              <a:tailEnd/>
            </a:ln>
            <a:effectLst/>
          </p:spPr>
          <p:txBody>
            <a:bodyPr anchor="ctr"/>
            <a:lstStyle/>
            <a:p>
              <a:pPr algn="ctr" eaLnBrk="0" hangingPunct="0"/>
              <a:r>
                <a:rPr lang="en-US"/>
                <a:t>For each build Detail Specification, Design, Implementation, Testing</a:t>
              </a:r>
            </a:p>
          </p:txBody>
        </p:sp>
        <p:sp>
          <p:nvSpPr>
            <p:cNvPr id="147464" name="Rectangle 8"/>
            <p:cNvSpPr>
              <a:spLocks noChangeArrowheads="1"/>
            </p:cNvSpPr>
            <p:nvPr/>
          </p:nvSpPr>
          <p:spPr bwMode="auto">
            <a:xfrm>
              <a:off x="3792" y="3360"/>
              <a:ext cx="816" cy="384"/>
            </a:xfrm>
            <a:prstGeom prst="rect">
              <a:avLst/>
            </a:prstGeom>
            <a:solidFill>
              <a:srgbClr val="A1D8FD"/>
            </a:solidFill>
            <a:ln w="9525">
              <a:solidFill>
                <a:schemeClr val="tx1"/>
              </a:solidFill>
              <a:miter lim="800000"/>
              <a:headEnd/>
              <a:tailEnd/>
            </a:ln>
            <a:effectLst/>
          </p:spPr>
          <p:txBody>
            <a:bodyPr wrap="none" anchor="ctr"/>
            <a:lstStyle/>
            <a:p>
              <a:pPr algn="ctr" eaLnBrk="0" hangingPunct="0"/>
              <a:r>
                <a:rPr lang="en-US"/>
                <a:t>Maintenance</a:t>
              </a:r>
            </a:p>
          </p:txBody>
        </p:sp>
        <p:sp>
          <p:nvSpPr>
            <p:cNvPr id="147465" name="Rectangle 9"/>
            <p:cNvSpPr>
              <a:spLocks noChangeArrowheads="1"/>
            </p:cNvSpPr>
            <p:nvPr/>
          </p:nvSpPr>
          <p:spPr bwMode="auto">
            <a:xfrm>
              <a:off x="144" y="816"/>
              <a:ext cx="864" cy="432"/>
            </a:xfrm>
            <a:prstGeom prst="rect">
              <a:avLst/>
            </a:prstGeom>
            <a:solidFill>
              <a:srgbClr val="A1D8FD"/>
            </a:solidFill>
            <a:ln w="9525">
              <a:solidFill>
                <a:schemeClr val="tx1"/>
              </a:solidFill>
              <a:miter lim="800000"/>
              <a:headEnd/>
              <a:tailEnd/>
            </a:ln>
            <a:effectLst/>
          </p:spPr>
          <p:txBody>
            <a:bodyPr wrap="none" anchor="ctr"/>
            <a:lstStyle/>
            <a:p>
              <a:pPr algn="ctr" eaLnBrk="0" hangingPunct="0"/>
              <a:r>
                <a:rPr lang="en-US"/>
                <a:t>Requirement</a:t>
              </a:r>
            </a:p>
          </p:txBody>
        </p:sp>
        <p:cxnSp>
          <p:nvCxnSpPr>
            <p:cNvPr id="147466" name="AutoShape 10"/>
            <p:cNvCxnSpPr>
              <a:cxnSpLocks noChangeShapeType="1"/>
              <a:stCxn id="147465" idx="3"/>
              <a:endCxn id="147460" idx="0"/>
            </p:cNvCxnSpPr>
            <p:nvPr/>
          </p:nvCxnSpPr>
          <p:spPr bwMode="auto">
            <a:xfrm>
              <a:off x="1008" y="1032"/>
              <a:ext cx="288" cy="408"/>
            </a:xfrm>
            <a:prstGeom prst="bentConnector2">
              <a:avLst/>
            </a:prstGeom>
            <a:noFill/>
            <a:ln w="9525">
              <a:solidFill>
                <a:schemeClr val="tx1"/>
              </a:solidFill>
              <a:miter lim="800000"/>
              <a:headEnd/>
              <a:tailEnd type="triangle" w="med" len="med"/>
            </a:ln>
            <a:effectLst/>
          </p:spPr>
        </p:cxnSp>
        <p:cxnSp>
          <p:nvCxnSpPr>
            <p:cNvPr id="147467" name="AutoShape 11"/>
            <p:cNvCxnSpPr>
              <a:cxnSpLocks noChangeShapeType="1"/>
              <a:stCxn id="147460" idx="3"/>
              <a:endCxn id="147461" idx="0"/>
            </p:cNvCxnSpPr>
            <p:nvPr/>
          </p:nvCxnSpPr>
          <p:spPr bwMode="auto">
            <a:xfrm>
              <a:off x="1728" y="1632"/>
              <a:ext cx="240" cy="336"/>
            </a:xfrm>
            <a:prstGeom prst="bentConnector2">
              <a:avLst/>
            </a:prstGeom>
            <a:noFill/>
            <a:ln w="9525">
              <a:solidFill>
                <a:schemeClr val="tx1"/>
              </a:solidFill>
              <a:miter lim="800000"/>
              <a:headEnd/>
              <a:tailEnd type="triangle" w="med" len="med"/>
            </a:ln>
            <a:effectLst/>
          </p:spPr>
        </p:cxnSp>
        <p:cxnSp>
          <p:nvCxnSpPr>
            <p:cNvPr id="147468" name="AutoShape 12"/>
            <p:cNvCxnSpPr>
              <a:cxnSpLocks noChangeShapeType="1"/>
              <a:stCxn id="147461" idx="3"/>
              <a:endCxn id="147463" idx="0"/>
            </p:cNvCxnSpPr>
            <p:nvPr/>
          </p:nvCxnSpPr>
          <p:spPr bwMode="auto">
            <a:xfrm>
              <a:off x="2400" y="2184"/>
              <a:ext cx="384" cy="312"/>
            </a:xfrm>
            <a:prstGeom prst="bentConnector2">
              <a:avLst/>
            </a:prstGeom>
            <a:noFill/>
            <a:ln w="9525">
              <a:solidFill>
                <a:schemeClr val="tx1"/>
              </a:solidFill>
              <a:miter lim="800000"/>
              <a:headEnd/>
              <a:tailEnd type="triangle" w="med" len="med"/>
            </a:ln>
            <a:effectLst/>
          </p:spPr>
        </p:cxnSp>
        <p:cxnSp>
          <p:nvCxnSpPr>
            <p:cNvPr id="147469" name="AutoShape 13"/>
            <p:cNvCxnSpPr>
              <a:cxnSpLocks noChangeShapeType="1"/>
              <a:stCxn id="147463" idx="2"/>
              <a:endCxn id="147464" idx="1"/>
            </p:cNvCxnSpPr>
            <p:nvPr/>
          </p:nvCxnSpPr>
          <p:spPr bwMode="auto">
            <a:xfrm rot="16200000" flipH="1">
              <a:off x="3216" y="2976"/>
              <a:ext cx="144" cy="1008"/>
            </a:xfrm>
            <a:prstGeom prst="bentConnector2">
              <a:avLst/>
            </a:prstGeom>
            <a:noFill/>
            <a:ln w="9525">
              <a:solidFill>
                <a:schemeClr val="tx1"/>
              </a:solidFill>
              <a:miter lim="800000"/>
              <a:headEnd/>
              <a:tailEnd type="triangle" w="med" len="med"/>
            </a:ln>
            <a:effectLst/>
          </p:spPr>
        </p:cxnSp>
        <p:cxnSp>
          <p:nvCxnSpPr>
            <p:cNvPr id="147470" name="AutoShape 14"/>
            <p:cNvCxnSpPr>
              <a:cxnSpLocks noChangeShapeType="1"/>
              <a:stCxn id="147464" idx="2"/>
              <a:endCxn id="147462" idx="0"/>
            </p:cNvCxnSpPr>
            <p:nvPr/>
          </p:nvCxnSpPr>
          <p:spPr bwMode="auto">
            <a:xfrm>
              <a:off x="4200" y="3744"/>
              <a:ext cx="0" cy="192"/>
            </a:xfrm>
            <a:prstGeom prst="straightConnector1">
              <a:avLst/>
            </a:prstGeom>
            <a:noFill/>
            <a:ln w="9525">
              <a:solidFill>
                <a:schemeClr val="tx1"/>
              </a:solidFill>
              <a:round/>
              <a:headEnd/>
              <a:tailEnd type="triangle" w="med" len="med"/>
            </a:ln>
            <a:effectLst/>
          </p:spPr>
        </p:cxnSp>
        <p:cxnSp>
          <p:nvCxnSpPr>
            <p:cNvPr id="147471" name="AutoShape 15"/>
            <p:cNvCxnSpPr>
              <a:cxnSpLocks noChangeShapeType="1"/>
              <a:stCxn id="147464" idx="0"/>
              <a:endCxn id="147463" idx="3"/>
            </p:cNvCxnSpPr>
            <p:nvPr/>
          </p:nvCxnSpPr>
          <p:spPr bwMode="auto">
            <a:xfrm rot="5400000" flipH="1">
              <a:off x="3696" y="2856"/>
              <a:ext cx="408" cy="600"/>
            </a:xfrm>
            <a:prstGeom prst="bentConnector2">
              <a:avLst/>
            </a:prstGeom>
            <a:noFill/>
            <a:ln w="9525">
              <a:solidFill>
                <a:schemeClr val="tx1"/>
              </a:solidFill>
              <a:prstDash val="sysDot"/>
              <a:miter lim="800000"/>
              <a:headEnd/>
              <a:tailEnd type="triangle" w="med" len="med"/>
            </a:ln>
            <a:effectLst/>
          </p:spPr>
        </p:cxnSp>
        <p:sp>
          <p:nvSpPr>
            <p:cNvPr id="147472" name="Freeform 16"/>
            <p:cNvSpPr>
              <a:spLocks/>
            </p:cNvSpPr>
            <p:nvPr/>
          </p:nvSpPr>
          <p:spPr bwMode="auto">
            <a:xfrm rot="242005">
              <a:off x="3406" y="3262"/>
              <a:ext cx="338" cy="195"/>
            </a:xfrm>
            <a:custGeom>
              <a:avLst/>
              <a:gdLst/>
              <a:ahLst/>
              <a:cxnLst>
                <a:cxn ang="0">
                  <a:pos x="0" y="192"/>
                </a:cxn>
                <a:cxn ang="0">
                  <a:pos x="240" y="288"/>
                </a:cxn>
                <a:cxn ang="0">
                  <a:pos x="336" y="48"/>
                </a:cxn>
                <a:cxn ang="0">
                  <a:pos x="144" y="0"/>
                </a:cxn>
              </a:cxnLst>
              <a:rect l="0" t="0" r="r" b="b"/>
              <a:pathLst>
                <a:path w="352" h="312">
                  <a:moveTo>
                    <a:pt x="0" y="192"/>
                  </a:moveTo>
                  <a:cubicBezTo>
                    <a:pt x="92" y="252"/>
                    <a:pt x="184" y="312"/>
                    <a:pt x="240" y="288"/>
                  </a:cubicBezTo>
                  <a:cubicBezTo>
                    <a:pt x="296" y="264"/>
                    <a:pt x="352" y="96"/>
                    <a:pt x="336" y="48"/>
                  </a:cubicBezTo>
                  <a:cubicBezTo>
                    <a:pt x="320" y="0"/>
                    <a:pt x="232" y="0"/>
                    <a:pt x="144" y="0"/>
                  </a:cubicBezTo>
                </a:path>
              </a:pathLst>
            </a:custGeom>
            <a:noFill/>
            <a:ln w="9525">
              <a:solidFill>
                <a:schemeClr val="tx1"/>
              </a:solidFill>
              <a:round/>
              <a:headEnd type="none" w="med" len="med"/>
              <a:tailEnd type="triangle" w="med" len="med"/>
            </a:ln>
            <a:effectLst/>
          </p:spPr>
          <p:txBody>
            <a:bodyPr/>
            <a:lstStyle/>
            <a:p>
              <a:endParaRPr lang="en-GB"/>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843779" y="280965"/>
            <a:ext cx="7406640" cy="1356360"/>
          </a:xfrm>
        </p:spPr>
        <p:txBody>
          <a:bodyPr/>
          <a:lstStyle/>
          <a:p>
            <a:r>
              <a:rPr lang="en-US" dirty="0"/>
              <a:t>Win-Win Spiral Model</a:t>
            </a:r>
          </a:p>
        </p:txBody>
      </p:sp>
      <p:sp>
        <p:nvSpPr>
          <p:cNvPr id="148483" name="Rectangle 3"/>
          <p:cNvSpPr>
            <a:spLocks noChangeArrowheads="1"/>
          </p:cNvSpPr>
          <p:nvPr/>
        </p:nvSpPr>
        <p:spPr bwMode="auto">
          <a:xfrm>
            <a:off x="7239000" y="3505200"/>
            <a:ext cx="1905000" cy="1098550"/>
          </a:xfrm>
          <a:prstGeom prst="rect">
            <a:avLst/>
          </a:prstGeom>
          <a:noFill/>
          <a:ln w="9525">
            <a:noFill/>
            <a:miter lim="800000"/>
            <a:headEnd/>
            <a:tailEnd/>
          </a:ln>
        </p:spPr>
        <p:txBody>
          <a:bodyPr lIns="0" tIns="0" rIns="0" bIns="0">
            <a:spAutoFit/>
          </a:bodyPr>
          <a:lstStyle/>
          <a:p>
            <a:r>
              <a:rPr lang="en-US">
                <a:latin typeface="Times New Roman" pitchFamily="18" charset="0"/>
              </a:rPr>
              <a:t>4. Evaluate</a:t>
            </a:r>
            <a:br>
              <a:rPr lang="en-US">
                <a:latin typeface="Times New Roman" pitchFamily="18" charset="0"/>
              </a:rPr>
            </a:br>
            <a:r>
              <a:rPr lang="en-US">
                <a:latin typeface="Times New Roman" pitchFamily="18" charset="0"/>
              </a:rPr>
              <a:t>product and process alternatives.</a:t>
            </a:r>
            <a:br>
              <a:rPr lang="en-US">
                <a:latin typeface="Times New Roman" pitchFamily="18" charset="0"/>
              </a:rPr>
            </a:br>
            <a:r>
              <a:rPr lang="en-US">
                <a:latin typeface="Times New Roman" pitchFamily="18" charset="0"/>
              </a:rPr>
              <a:t>Resolve Risks</a:t>
            </a:r>
          </a:p>
        </p:txBody>
      </p:sp>
      <p:grpSp>
        <p:nvGrpSpPr>
          <p:cNvPr id="2" name="Group 4"/>
          <p:cNvGrpSpPr>
            <a:grpSpLocks/>
          </p:cNvGrpSpPr>
          <p:nvPr/>
        </p:nvGrpSpPr>
        <p:grpSpPr bwMode="auto">
          <a:xfrm>
            <a:off x="381000" y="1295400"/>
            <a:ext cx="8424863" cy="4735513"/>
            <a:chOff x="144" y="1008"/>
            <a:chExt cx="5546" cy="3053"/>
          </a:xfrm>
        </p:grpSpPr>
        <p:sp>
          <p:nvSpPr>
            <p:cNvPr id="148485" name="Freeform 5"/>
            <p:cNvSpPr>
              <a:spLocks/>
            </p:cNvSpPr>
            <p:nvPr/>
          </p:nvSpPr>
          <p:spPr bwMode="auto">
            <a:xfrm>
              <a:off x="1252" y="1677"/>
              <a:ext cx="3269" cy="1418"/>
            </a:xfrm>
            <a:custGeom>
              <a:avLst/>
              <a:gdLst/>
              <a:ahLst/>
              <a:cxnLst>
                <a:cxn ang="0">
                  <a:pos x="411" y="791"/>
                </a:cxn>
                <a:cxn ang="0">
                  <a:pos x="354" y="700"/>
                </a:cxn>
                <a:cxn ang="0">
                  <a:pos x="322" y="593"/>
                </a:cxn>
                <a:cxn ang="0">
                  <a:pos x="329" y="472"/>
                </a:cxn>
                <a:cxn ang="0">
                  <a:pos x="371" y="392"/>
                </a:cxn>
                <a:cxn ang="0">
                  <a:pos x="461" y="299"/>
                </a:cxn>
                <a:cxn ang="0">
                  <a:pos x="592" y="215"/>
                </a:cxn>
                <a:cxn ang="0">
                  <a:pos x="746" y="145"/>
                </a:cxn>
                <a:cxn ang="0">
                  <a:pos x="935" y="86"/>
                </a:cxn>
                <a:cxn ang="0">
                  <a:pos x="1213" y="31"/>
                </a:cxn>
                <a:cxn ang="0">
                  <a:pos x="1510" y="0"/>
                </a:cxn>
                <a:cxn ang="0">
                  <a:pos x="1913" y="2"/>
                </a:cxn>
                <a:cxn ang="0">
                  <a:pos x="2186" y="27"/>
                </a:cxn>
                <a:cxn ang="0">
                  <a:pos x="2454" y="76"/>
                </a:cxn>
                <a:cxn ang="0">
                  <a:pos x="2665" y="132"/>
                </a:cxn>
                <a:cxn ang="0">
                  <a:pos x="2858" y="206"/>
                </a:cxn>
                <a:cxn ang="0">
                  <a:pos x="3025" y="293"/>
                </a:cxn>
                <a:cxn ang="0">
                  <a:pos x="3159" y="398"/>
                </a:cxn>
                <a:cxn ang="0">
                  <a:pos x="3240" y="515"/>
                </a:cxn>
                <a:cxn ang="0">
                  <a:pos x="3269" y="609"/>
                </a:cxn>
                <a:cxn ang="0">
                  <a:pos x="3263" y="692"/>
                </a:cxn>
                <a:cxn ang="0">
                  <a:pos x="3231" y="791"/>
                </a:cxn>
                <a:cxn ang="0">
                  <a:pos x="3187" y="863"/>
                </a:cxn>
                <a:cxn ang="0">
                  <a:pos x="3098" y="960"/>
                </a:cxn>
                <a:cxn ang="0">
                  <a:pos x="2995" y="1040"/>
                </a:cxn>
                <a:cxn ang="0">
                  <a:pos x="2841" y="1131"/>
                </a:cxn>
                <a:cxn ang="0">
                  <a:pos x="2614" y="1228"/>
                </a:cxn>
                <a:cxn ang="0">
                  <a:pos x="2346" y="1308"/>
                </a:cxn>
                <a:cxn ang="0">
                  <a:pos x="2047" y="1369"/>
                </a:cxn>
                <a:cxn ang="0">
                  <a:pos x="1765" y="1401"/>
                </a:cxn>
                <a:cxn ang="0">
                  <a:pos x="1468" y="1418"/>
                </a:cxn>
                <a:cxn ang="0">
                  <a:pos x="1201" y="1414"/>
                </a:cxn>
                <a:cxn ang="0">
                  <a:pos x="938" y="1386"/>
                </a:cxn>
                <a:cxn ang="0">
                  <a:pos x="737" y="1344"/>
                </a:cxn>
                <a:cxn ang="0">
                  <a:pos x="531" y="1278"/>
                </a:cxn>
                <a:cxn ang="0">
                  <a:pos x="331" y="1186"/>
                </a:cxn>
                <a:cxn ang="0">
                  <a:pos x="207" y="1105"/>
                </a:cxn>
                <a:cxn ang="0">
                  <a:pos x="101" y="1011"/>
                </a:cxn>
                <a:cxn ang="0">
                  <a:pos x="0" y="884"/>
                </a:cxn>
                <a:cxn ang="0">
                  <a:pos x="411" y="791"/>
                </a:cxn>
              </a:cxnLst>
              <a:rect l="0" t="0" r="r" b="b"/>
              <a:pathLst>
                <a:path w="3269" h="1418">
                  <a:moveTo>
                    <a:pt x="411" y="791"/>
                  </a:moveTo>
                  <a:lnTo>
                    <a:pt x="354" y="700"/>
                  </a:lnTo>
                  <a:lnTo>
                    <a:pt x="322" y="593"/>
                  </a:lnTo>
                  <a:lnTo>
                    <a:pt x="329" y="472"/>
                  </a:lnTo>
                  <a:lnTo>
                    <a:pt x="371" y="392"/>
                  </a:lnTo>
                  <a:lnTo>
                    <a:pt x="461" y="299"/>
                  </a:lnTo>
                  <a:lnTo>
                    <a:pt x="592" y="215"/>
                  </a:lnTo>
                  <a:lnTo>
                    <a:pt x="746" y="145"/>
                  </a:lnTo>
                  <a:lnTo>
                    <a:pt x="935" y="86"/>
                  </a:lnTo>
                  <a:lnTo>
                    <a:pt x="1213" y="31"/>
                  </a:lnTo>
                  <a:lnTo>
                    <a:pt x="1510" y="0"/>
                  </a:lnTo>
                  <a:lnTo>
                    <a:pt x="1913" y="2"/>
                  </a:lnTo>
                  <a:lnTo>
                    <a:pt x="2186" y="27"/>
                  </a:lnTo>
                  <a:lnTo>
                    <a:pt x="2454" y="76"/>
                  </a:lnTo>
                  <a:lnTo>
                    <a:pt x="2665" y="132"/>
                  </a:lnTo>
                  <a:lnTo>
                    <a:pt x="2858" y="206"/>
                  </a:lnTo>
                  <a:lnTo>
                    <a:pt x="3025" y="293"/>
                  </a:lnTo>
                  <a:lnTo>
                    <a:pt x="3159" y="398"/>
                  </a:lnTo>
                  <a:lnTo>
                    <a:pt x="3240" y="515"/>
                  </a:lnTo>
                  <a:lnTo>
                    <a:pt x="3269" y="609"/>
                  </a:lnTo>
                  <a:lnTo>
                    <a:pt x="3263" y="692"/>
                  </a:lnTo>
                  <a:lnTo>
                    <a:pt x="3231" y="791"/>
                  </a:lnTo>
                  <a:lnTo>
                    <a:pt x="3187" y="863"/>
                  </a:lnTo>
                  <a:lnTo>
                    <a:pt x="3098" y="960"/>
                  </a:lnTo>
                  <a:lnTo>
                    <a:pt x="2995" y="1040"/>
                  </a:lnTo>
                  <a:lnTo>
                    <a:pt x="2841" y="1131"/>
                  </a:lnTo>
                  <a:lnTo>
                    <a:pt x="2614" y="1228"/>
                  </a:lnTo>
                  <a:lnTo>
                    <a:pt x="2346" y="1308"/>
                  </a:lnTo>
                  <a:lnTo>
                    <a:pt x="2047" y="1369"/>
                  </a:lnTo>
                  <a:lnTo>
                    <a:pt x="1765" y="1401"/>
                  </a:lnTo>
                  <a:lnTo>
                    <a:pt x="1468" y="1418"/>
                  </a:lnTo>
                  <a:lnTo>
                    <a:pt x="1201" y="1414"/>
                  </a:lnTo>
                  <a:lnTo>
                    <a:pt x="938" y="1386"/>
                  </a:lnTo>
                  <a:lnTo>
                    <a:pt x="737" y="1344"/>
                  </a:lnTo>
                  <a:lnTo>
                    <a:pt x="531" y="1278"/>
                  </a:lnTo>
                  <a:lnTo>
                    <a:pt x="331" y="1186"/>
                  </a:lnTo>
                  <a:lnTo>
                    <a:pt x="207" y="1105"/>
                  </a:lnTo>
                  <a:lnTo>
                    <a:pt x="101" y="1011"/>
                  </a:lnTo>
                  <a:lnTo>
                    <a:pt x="0" y="884"/>
                  </a:lnTo>
                  <a:lnTo>
                    <a:pt x="411" y="791"/>
                  </a:lnTo>
                  <a:close/>
                </a:path>
              </a:pathLst>
            </a:custGeom>
            <a:blipFill dpi="0" rotWithShape="0">
              <a:blip r:embed="rId2"/>
              <a:srcRect/>
              <a:tile tx="0" ty="0" sx="100000" sy="100000" flip="none" algn="tl"/>
            </a:blipFill>
            <a:ln w="9525">
              <a:noFill/>
              <a:round/>
              <a:headEnd/>
              <a:tailEnd/>
            </a:ln>
          </p:spPr>
          <p:txBody>
            <a:bodyPr/>
            <a:lstStyle/>
            <a:p>
              <a:endParaRPr lang="en-GB"/>
            </a:p>
          </p:txBody>
        </p:sp>
        <p:sp>
          <p:nvSpPr>
            <p:cNvPr id="148486" name="Freeform 6"/>
            <p:cNvSpPr>
              <a:spLocks/>
            </p:cNvSpPr>
            <p:nvPr/>
          </p:nvSpPr>
          <p:spPr bwMode="auto">
            <a:xfrm>
              <a:off x="1254" y="1679"/>
              <a:ext cx="3269" cy="1418"/>
            </a:xfrm>
            <a:custGeom>
              <a:avLst/>
              <a:gdLst/>
              <a:ahLst/>
              <a:cxnLst>
                <a:cxn ang="0">
                  <a:pos x="411" y="791"/>
                </a:cxn>
                <a:cxn ang="0">
                  <a:pos x="354" y="700"/>
                </a:cxn>
                <a:cxn ang="0">
                  <a:pos x="321" y="593"/>
                </a:cxn>
                <a:cxn ang="0">
                  <a:pos x="329" y="472"/>
                </a:cxn>
                <a:cxn ang="0">
                  <a:pos x="371" y="392"/>
                </a:cxn>
                <a:cxn ang="0">
                  <a:pos x="460" y="299"/>
                </a:cxn>
                <a:cxn ang="0">
                  <a:pos x="592" y="215"/>
                </a:cxn>
                <a:cxn ang="0">
                  <a:pos x="746" y="145"/>
                </a:cxn>
                <a:cxn ang="0">
                  <a:pos x="935" y="86"/>
                </a:cxn>
                <a:cxn ang="0">
                  <a:pos x="1213" y="31"/>
                </a:cxn>
                <a:cxn ang="0">
                  <a:pos x="1510" y="0"/>
                </a:cxn>
                <a:cxn ang="0">
                  <a:pos x="1913" y="2"/>
                </a:cxn>
                <a:cxn ang="0">
                  <a:pos x="2186" y="27"/>
                </a:cxn>
                <a:cxn ang="0">
                  <a:pos x="2454" y="76"/>
                </a:cxn>
                <a:cxn ang="0">
                  <a:pos x="2665" y="132"/>
                </a:cxn>
                <a:cxn ang="0">
                  <a:pos x="2858" y="206"/>
                </a:cxn>
                <a:cxn ang="0">
                  <a:pos x="3025" y="293"/>
                </a:cxn>
                <a:cxn ang="0">
                  <a:pos x="3158" y="398"/>
                </a:cxn>
                <a:cxn ang="0">
                  <a:pos x="3240" y="515"/>
                </a:cxn>
                <a:cxn ang="0">
                  <a:pos x="3269" y="608"/>
                </a:cxn>
                <a:cxn ang="0">
                  <a:pos x="3263" y="692"/>
                </a:cxn>
                <a:cxn ang="0">
                  <a:pos x="3231" y="791"/>
                </a:cxn>
                <a:cxn ang="0">
                  <a:pos x="3187" y="863"/>
                </a:cxn>
                <a:cxn ang="0">
                  <a:pos x="3098" y="960"/>
                </a:cxn>
                <a:cxn ang="0">
                  <a:pos x="2995" y="1040"/>
                </a:cxn>
                <a:cxn ang="0">
                  <a:pos x="2840" y="1131"/>
                </a:cxn>
                <a:cxn ang="0">
                  <a:pos x="2614" y="1228"/>
                </a:cxn>
                <a:cxn ang="0">
                  <a:pos x="2345" y="1308"/>
                </a:cxn>
                <a:cxn ang="0">
                  <a:pos x="2047" y="1369"/>
                </a:cxn>
                <a:cxn ang="0">
                  <a:pos x="1765" y="1401"/>
                </a:cxn>
                <a:cxn ang="0">
                  <a:pos x="1468" y="1418"/>
                </a:cxn>
                <a:cxn ang="0">
                  <a:pos x="1201" y="1414"/>
                </a:cxn>
                <a:cxn ang="0">
                  <a:pos x="938" y="1386"/>
                </a:cxn>
                <a:cxn ang="0">
                  <a:pos x="737" y="1344"/>
                </a:cxn>
                <a:cxn ang="0">
                  <a:pos x="531" y="1277"/>
                </a:cxn>
                <a:cxn ang="0">
                  <a:pos x="331" y="1186"/>
                </a:cxn>
                <a:cxn ang="0">
                  <a:pos x="207" y="1104"/>
                </a:cxn>
                <a:cxn ang="0">
                  <a:pos x="101" y="1011"/>
                </a:cxn>
                <a:cxn ang="0">
                  <a:pos x="0" y="884"/>
                </a:cxn>
                <a:cxn ang="0">
                  <a:pos x="411" y="791"/>
                </a:cxn>
              </a:cxnLst>
              <a:rect l="0" t="0" r="r" b="b"/>
              <a:pathLst>
                <a:path w="3269" h="1418">
                  <a:moveTo>
                    <a:pt x="411" y="791"/>
                  </a:moveTo>
                  <a:lnTo>
                    <a:pt x="354" y="700"/>
                  </a:lnTo>
                  <a:lnTo>
                    <a:pt x="321" y="593"/>
                  </a:lnTo>
                  <a:lnTo>
                    <a:pt x="329" y="472"/>
                  </a:lnTo>
                  <a:lnTo>
                    <a:pt x="371" y="392"/>
                  </a:lnTo>
                  <a:lnTo>
                    <a:pt x="460" y="299"/>
                  </a:lnTo>
                  <a:lnTo>
                    <a:pt x="592" y="215"/>
                  </a:lnTo>
                  <a:lnTo>
                    <a:pt x="746" y="145"/>
                  </a:lnTo>
                  <a:lnTo>
                    <a:pt x="935" y="86"/>
                  </a:lnTo>
                  <a:lnTo>
                    <a:pt x="1213" y="31"/>
                  </a:lnTo>
                  <a:lnTo>
                    <a:pt x="1510" y="0"/>
                  </a:lnTo>
                  <a:lnTo>
                    <a:pt x="1913" y="2"/>
                  </a:lnTo>
                  <a:lnTo>
                    <a:pt x="2186" y="27"/>
                  </a:lnTo>
                  <a:lnTo>
                    <a:pt x="2454" y="76"/>
                  </a:lnTo>
                  <a:lnTo>
                    <a:pt x="2665" y="132"/>
                  </a:lnTo>
                  <a:lnTo>
                    <a:pt x="2858" y="206"/>
                  </a:lnTo>
                  <a:lnTo>
                    <a:pt x="3025" y="293"/>
                  </a:lnTo>
                  <a:lnTo>
                    <a:pt x="3158" y="398"/>
                  </a:lnTo>
                  <a:lnTo>
                    <a:pt x="3240" y="515"/>
                  </a:lnTo>
                  <a:lnTo>
                    <a:pt x="3269" y="608"/>
                  </a:lnTo>
                  <a:lnTo>
                    <a:pt x="3263" y="692"/>
                  </a:lnTo>
                  <a:lnTo>
                    <a:pt x="3231" y="791"/>
                  </a:lnTo>
                  <a:lnTo>
                    <a:pt x="3187" y="863"/>
                  </a:lnTo>
                  <a:lnTo>
                    <a:pt x="3098" y="960"/>
                  </a:lnTo>
                  <a:lnTo>
                    <a:pt x="2995" y="1040"/>
                  </a:lnTo>
                  <a:lnTo>
                    <a:pt x="2840" y="1131"/>
                  </a:lnTo>
                  <a:lnTo>
                    <a:pt x="2614" y="1228"/>
                  </a:lnTo>
                  <a:lnTo>
                    <a:pt x="2345" y="1308"/>
                  </a:lnTo>
                  <a:lnTo>
                    <a:pt x="2047" y="1369"/>
                  </a:lnTo>
                  <a:lnTo>
                    <a:pt x="1765" y="1401"/>
                  </a:lnTo>
                  <a:lnTo>
                    <a:pt x="1468" y="1418"/>
                  </a:lnTo>
                  <a:lnTo>
                    <a:pt x="1201" y="1414"/>
                  </a:lnTo>
                  <a:lnTo>
                    <a:pt x="938" y="1386"/>
                  </a:lnTo>
                  <a:lnTo>
                    <a:pt x="737" y="1344"/>
                  </a:lnTo>
                  <a:lnTo>
                    <a:pt x="531" y="1277"/>
                  </a:lnTo>
                  <a:lnTo>
                    <a:pt x="331" y="1186"/>
                  </a:lnTo>
                  <a:lnTo>
                    <a:pt x="207" y="1104"/>
                  </a:lnTo>
                  <a:lnTo>
                    <a:pt x="101" y="1011"/>
                  </a:lnTo>
                  <a:lnTo>
                    <a:pt x="0" y="884"/>
                  </a:lnTo>
                  <a:lnTo>
                    <a:pt x="411" y="791"/>
                  </a:lnTo>
                  <a:close/>
                </a:path>
              </a:pathLst>
            </a:custGeom>
            <a:blipFill dpi="0" rotWithShape="0">
              <a:blip r:embed="rId2"/>
              <a:srcRect/>
              <a:tile tx="0" ty="0" sx="100000" sy="100000" flip="none" algn="tl"/>
            </a:blipFill>
            <a:ln w="9525">
              <a:solidFill>
                <a:srgbClr val="000000"/>
              </a:solidFill>
              <a:prstDash val="solid"/>
              <a:round/>
              <a:headEnd/>
              <a:tailEnd/>
            </a:ln>
          </p:spPr>
          <p:txBody>
            <a:bodyPr/>
            <a:lstStyle/>
            <a:p>
              <a:endParaRPr lang="en-GB"/>
            </a:p>
          </p:txBody>
        </p:sp>
        <p:sp>
          <p:nvSpPr>
            <p:cNvPr id="148487" name="Freeform 7"/>
            <p:cNvSpPr>
              <a:spLocks/>
            </p:cNvSpPr>
            <p:nvPr/>
          </p:nvSpPr>
          <p:spPr bwMode="auto">
            <a:xfrm>
              <a:off x="1659" y="1837"/>
              <a:ext cx="2550" cy="981"/>
            </a:xfrm>
            <a:custGeom>
              <a:avLst/>
              <a:gdLst/>
              <a:ahLst/>
              <a:cxnLst>
                <a:cxn ang="0">
                  <a:pos x="417" y="540"/>
                </a:cxn>
                <a:cxn ang="0">
                  <a:pos x="343" y="471"/>
                </a:cxn>
                <a:cxn ang="0">
                  <a:pos x="313" y="418"/>
                </a:cxn>
                <a:cxn ang="0">
                  <a:pos x="313" y="342"/>
                </a:cxn>
                <a:cxn ang="0">
                  <a:pos x="349" y="272"/>
                </a:cxn>
                <a:cxn ang="0">
                  <a:pos x="423" y="200"/>
                </a:cxn>
                <a:cxn ang="0">
                  <a:pos x="509" y="145"/>
                </a:cxn>
                <a:cxn ang="0">
                  <a:pos x="627" y="91"/>
                </a:cxn>
                <a:cxn ang="0">
                  <a:pos x="752" y="55"/>
                </a:cxn>
                <a:cxn ang="0">
                  <a:pos x="889" y="27"/>
                </a:cxn>
                <a:cxn ang="0">
                  <a:pos x="1044" y="8"/>
                </a:cxn>
                <a:cxn ang="0">
                  <a:pos x="1270" y="0"/>
                </a:cxn>
                <a:cxn ang="0">
                  <a:pos x="1544" y="12"/>
                </a:cxn>
                <a:cxn ang="0">
                  <a:pos x="1811" y="40"/>
                </a:cxn>
                <a:cxn ang="0">
                  <a:pos x="2011" y="78"/>
                </a:cxn>
                <a:cxn ang="0">
                  <a:pos x="2190" y="126"/>
                </a:cxn>
                <a:cxn ang="0">
                  <a:pos x="2336" y="183"/>
                </a:cxn>
                <a:cxn ang="0">
                  <a:pos x="2439" y="241"/>
                </a:cxn>
                <a:cxn ang="0">
                  <a:pos x="2504" y="293"/>
                </a:cxn>
                <a:cxn ang="0">
                  <a:pos x="2542" y="359"/>
                </a:cxn>
                <a:cxn ang="0">
                  <a:pos x="2550" y="416"/>
                </a:cxn>
                <a:cxn ang="0">
                  <a:pos x="2534" y="471"/>
                </a:cxn>
                <a:cxn ang="0">
                  <a:pos x="2502" y="544"/>
                </a:cxn>
                <a:cxn ang="0">
                  <a:pos x="2435" y="620"/>
                </a:cxn>
                <a:cxn ang="0">
                  <a:pos x="2327" y="701"/>
                </a:cxn>
                <a:cxn ang="0">
                  <a:pos x="2161" y="785"/>
                </a:cxn>
                <a:cxn ang="0">
                  <a:pos x="1931" y="865"/>
                </a:cxn>
                <a:cxn ang="0">
                  <a:pos x="1773" y="905"/>
                </a:cxn>
                <a:cxn ang="0">
                  <a:pos x="1508" y="950"/>
                </a:cxn>
                <a:cxn ang="0">
                  <a:pos x="1162" y="981"/>
                </a:cxn>
                <a:cxn ang="0">
                  <a:pos x="842" y="981"/>
                </a:cxn>
                <a:cxn ang="0">
                  <a:pos x="665" y="960"/>
                </a:cxn>
                <a:cxn ang="0">
                  <a:pos x="482" y="920"/>
                </a:cxn>
                <a:cxn ang="0">
                  <a:pos x="358" y="874"/>
                </a:cxn>
                <a:cxn ang="0">
                  <a:pos x="248" y="825"/>
                </a:cxn>
                <a:cxn ang="0">
                  <a:pos x="166" y="775"/>
                </a:cxn>
                <a:cxn ang="0">
                  <a:pos x="88" y="717"/>
                </a:cxn>
                <a:cxn ang="0">
                  <a:pos x="0" y="631"/>
                </a:cxn>
                <a:cxn ang="0">
                  <a:pos x="417" y="540"/>
                </a:cxn>
              </a:cxnLst>
              <a:rect l="0" t="0" r="r" b="b"/>
              <a:pathLst>
                <a:path w="2550" h="981">
                  <a:moveTo>
                    <a:pt x="417" y="540"/>
                  </a:moveTo>
                  <a:lnTo>
                    <a:pt x="343" y="471"/>
                  </a:lnTo>
                  <a:lnTo>
                    <a:pt x="313" y="418"/>
                  </a:lnTo>
                  <a:lnTo>
                    <a:pt x="313" y="342"/>
                  </a:lnTo>
                  <a:lnTo>
                    <a:pt x="349" y="272"/>
                  </a:lnTo>
                  <a:lnTo>
                    <a:pt x="423" y="200"/>
                  </a:lnTo>
                  <a:lnTo>
                    <a:pt x="509" y="145"/>
                  </a:lnTo>
                  <a:lnTo>
                    <a:pt x="627" y="91"/>
                  </a:lnTo>
                  <a:lnTo>
                    <a:pt x="752" y="55"/>
                  </a:lnTo>
                  <a:lnTo>
                    <a:pt x="889" y="27"/>
                  </a:lnTo>
                  <a:lnTo>
                    <a:pt x="1044" y="8"/>
                  </a:lnTo>
                  <a:lnTo>
                    <a:pt x="1270" y="0"/>
                  </a:lnTo>
                  <a:lnTo>
                    <a:pt x="1544" y="12"/>
                  </a:lnTo>
                  <a:lnTo>
                    <a:pt x="1811" y="40"/>
                  </a:lnTo>
                  <a:lnTo>
                    <a:pt x="2011" y="78"/>
                  </a:lnTo>
                  <a:lnTo>
                    <a:pt x="2190" y="126"/>
                  </a:lnTo>
                  <a:lnTo>
                    <a:pt x="2336" y="183"/>
                  </a:lnTo>
                  <a:lnTo>
                    <a:pt x="2439" y="241"/>
                  </a:lnTo>
                  <a:lnTo>
                    <a:pt x="2504" y="293"/>
                  </a:lnTo>
                  <a:lnTo>
                    <a:pt x="2542" y="359"/>
                  </a:lnTo>
                  <a:lnTo>
                    <a:pt x="2550" y="416"/>
                  </a:lnTo>
                  <a:lnTo>
                    <a:pt x="2534" y="471"/>
                  </a:lnTo>
                  <a:lnTo>
                    <a:pt x="2502" y="544"/>
                  </a:lnTo>
                  <a:lnTo>
                    <a:pt x="2435" y="620"/>
                  </a:lnTo>
                  <a:lnTo>
                    <a:pt x="2327" y="701"/>
                  </a:lnTo>
                  <a:lnTo>
                    <a:pt x="2161" y="785"/>
                  </a:lnTo>
                  <a:lnTo>
                    <a:pt x="1931" y="865"/>
                  </a:lnTo>
                  <a:lnTo>
                    <a:pt x="1773" y="905"/>
                  </a:lnTo>
                  <a:lnTo>
                    <a:pt x="1508" y="950"/>
                  </a:lnTo>
                  <a:lnTo>
                    <a:pt x="1162" y="981"/>
                  </a:lnTo>
                  <a:lnTo>
                    <a:pt x="842" y="981"/>
                  </a:lnTo>
                  <a:lnTo>
                    <a:pt x="665" y="960"/>
                  </a:lnTo>
                  <a:lnTo>
                    <a:pt x="482" y="920"/>
                  </a:lnTo>
                  <a:lnTo>
                    <a:pt x="358" y="874"/>
                  </a:lnTo>
                  <a:lnTo>
                    <a:pt x="248" y="825"/>
                  </a:lnTo>
                  <a:lnTo>
                    <a:pt x="166" y="775"/>
                  </a:lnTo>
                  <a:lnTo>
                    <a:pt x="88" y="717"/>
                  </a:lnTo>
                  <a:lnTo>
                    <a:pt x="0" y="631"/>
                  </a:lnTo>
                  <a:lnTo>
                    <a:pt x="417" y="540"/>
                  </a:lnTo>
                  <a:close/>
                </a:path>
              </a:pathLst>
            </a:custGeom>
            <a:blipFill dpi="0" rotWithShape="0">
              <a:blip r:embed="rId3"/>
              <a:srcRect/>
              <a:tile tx="0" ty="0" sx="100000" sy="100000" flip="none" algn="tl"/>
            </a:blipFill>
            <a:ln w="9525">
              <a:noFill/>
              <a:round/>
              <a:headEnd/>
              <a:tailEnd/>
            </a:ln>
          </p:spPr>
          <p:txBody>
            <a:bodyPr/>
            <a:lstStyle/>
            <a:p>
              <a:endParaRPr lang="en-GB"/>
            </a:p>
          </p:txBody>
        </p:sp>
        <p:sp>
          <p:nvSpPr>
            <p:cNvPr id="148488" name="Freeform 8"/>
            <p:cNvSpPr>
              <a:spLocks/>
            </p:cNvSpPr>
            <p:nvPr/>
          </p:nvSpPr>
          <p:spPr bwMode="auto">
            <a:xfrm>
              <a:off x="1661" y="1839"/>
              <a:ext cx="2550" cy="981"/>
            </a:xfrm>
            <a:custGeom>
              <a:avLst/>
              <a:gdLst/>
              <a:ahLst/>
              <a:cxnLst>
                <a:cxn ang="0">
                  <a:pos x="417" y="540"/>
                </a:cxn>
                <a:cxn ang="0">
                  <a:pos x="343" y="471"/>
                </a:cxn>
                <a:cxn ang="0">
                  <a:pos x="312" y="418"/>
                </a:cxn>
                <a:cxn ang="0">
                  <a:pos x="312" y="342"/>
                </a:cxn>
                <a:cxn ang="0">
                  <a:pos x="349" y="272"/>
                </a:cxn>
                <a:cxn ang="0">
                  <a:pos x="423" y="200"/>
                </a:cxn>
                <a:cxn ang="0">
                  <a:pos x="509" y="144"/>
                </a:cxn>
                <a:cxn ang="0">
                  <a:pos x="627" y="91"/>
                </a:cxn>
                <a:cxn ang="0">
                  <a:pos x="752" y="55"/>
                </a:cxn>
                <a:cxn ang="0">
                  <a:pos x="889" y="27"/>
                </a:cxn>
                <a:cxn ang="0">
                  <a:pos x="1044" y="8"/>
                </a:cxn>
                <a:cxn ang="0">
                  <a:pos x="1270" y="0"/>
                </a:cxn>
                <a:cxn ang="0">
                  <a:pos x="1544" y="11"/>
                </a:cxn>
                <a:cxn ang="0">
                  <a:pos x="1811" y="40"/>
                </a:cxn>
                <a:cxn ang="0">
                  <a:pos x="2011" y="78"/>
                </a:cxn>
                <a:cxn ang="0">
                  <a:pos x="2190" y="125"/>
                </a:cxn>
                <a:cxn ang="0">
                  <a:pos x="2336" y="182"/>
                </a:cxn>
                <a:cxn ang="0">
                  <a:pos x="2439" y="241"/>
                </a:cxn>
                <a:cxn ang="0">
                  <a:pos x="2504" y="293"/>
                </a:cxn>
                <a:cxn ang="0">
                  <a:pos x="2542" y="359"/>
                </a:cxn>
                <a:cxn ang="0">
                  <a:pos x="2550" y="416"/>
                </a:cxn>
                <a:cxn ang="0">
                  <a:pos x="2534" y="471"/>
                </a:cxn>
                <a:cxn ang="0">
                  <a:pos x="2502" y="544"/>
                </a:cxn>
                <a:cxn ang="0">
                  <a:pos x="2435" y="620"/>
                </a:cxn>
                <a:cxn ang="0">
                  <a:pos x="2327" y="701"/>
                </a:cxn>
                <a:cxn ang="0">
                  <a:pos x="2161" y="785"/>
                </a:cxn>
                <a:cxn ang="0">
                  <a:pos x="1931" y="865"/>
                </a:cxn>
                <a:cxn ang="0">
                  <a:pos x="1773" y="905"/>
                </a:cxn>
                <a:cxn ang="0">
                  <a:pos x="1508" y="950"/>
                </a:cxn>
                <a:cxn ang="0">
                  <a:pos x="1162" y="981"/>
                </a:cxn>
                <a:cxn ang="0">
                  <a:pos x="842" y="981"/>
                </a:cxn>
                <a:cxn ang="0">
                  <a:pos x="665" y="960"/>
                </a:cxn>
                <a:cxn ang="0">
                  <a:pos x="482" y="920"/>
                </a:cxn>
                <a:cxn ang="0">
                  <a:pos x="358" y="874"/>
                </a:cxn>
                <a:cxn ang="0">
                  <a:pos x="248" y="825"/>
                </a:cxn>
                <a:cxn ang="0">
                  <a:pos x="166" y="775"/>
                </a:cxn>
                <a:cxn ang="0">
                  <a:pos x="88" y="716"/>
                </a:cxn>
                <a:cxn ang="0">
                  <a:pos x="0" y="631"/>
                </a:cxn>
                <a:cxn ang="0">
                  <a:pos x="417" y="540"/>
                </a:cxn>
              </a:cxnLst>
              <a:rect l="0" t="0" r="r" b="b"/>
              <a:pathLst>
                <a:path w="2550" h="981">
                  <a:moveTo>
                    <a:pt x="417" y="540"/>
                  </a:moveTo>
                  <a:lnTo>
                    <a:pt x="343" y="471"/>
                  </a:lnTo>
                  <a:lnTo>
                    <a:pt x="312" y="418"/>
                  </a:lnTo>
                  <a:lnTo>
                    <a:pt x="312" y="342"/>
                  </a:lnTo>
                  <a:lnTo>
                    <a:pt x="349" y="272"/>
                  </a:lnTo>
                  <a:lnTo>
                    <a:pt x="423" y="200"/>
                  </a:lnTo>
                  <a:lnTo>
                    <a:pt x="509" y="144"/>
                  </a:lnTo>
                  <a:lnTo>
                    <a:pt x="627" y="91"/>
                  </a:lnTo>
                  <a:lnTo>
                    <a:pt x="752" y="55"/>
                  </a:lnTo>
                  <a:lnTo>
                    <a:pt x="889" y="27"/>
                  </a:lnTo>
                  <a:lnTo>
                    <a:pt x="1044" y="8"/>
                  </a:lnTo>
                  <a:lnTo>
                    <a:pt x="1270" y="0"/>
                  </a:lnTo>
                  <a:lnTo>
                    <a:pt x="1544" y="11"/>
                  </a:lnTo>
                  <a:lnTo>
                    <a:pt x="1811" y="40"/>
                  </a:lnTo>
                  <a:lnTo>
                    <a:pt x="2011" y="78"/>
                  </a:lnTo>
                  <a:lnTo>
                    <a:pt x="2190" y="125"/>
                  </a:lnTo>
                  <a:lnTo>
                    <a:pt x="2336" y="182"/>
                  </a:lnTo>
                  <a:lnTo>
                    <a:pt x="2439" y="241"/>
                  </a:lnTo>
                  <a:lnTo>
                    <a:pt x="2504" y="293"/>
                  </a:lnTo>
                  <a:lnTo>
                    <a:pt x="2542" y="359"/>
                  </a:lnTo>
                  <a:lnTo>
                    <a:pt x="2550" y="416"/>
                  </a:lnTo>
                  <a:lnTo>
                    <a:pt x="2534" y="471"/>
                  </a:lnTo>
                  <a:lnTo>
                    <a:pt x="2502" y="544"/>
                  </a:lnTo>
                  <a:lnTo>
                    <a:pt x="2435" y="620"/>
                  </a:lnTo>
                  <a:lnTo>
                    <a:pt x="2327" y="701"/>
                  </a:lnTo>
                  <a:lnTo>
                    <a:pt x="2161" y="785"/>
                  </a:lnTo>
                  <a:lnTo>
                    <a:pt x="1931" y="865"/>
                  </a:lnTo>
                  <a:lnTo>
                    <a:pt x="1773" y="905"/>
                  </a:lnTo>
                  <a:lnTo>
                    <a:pt x="1508" y="950"/>
                  </a:lnTo>
                  <a:lnTo>
                    <a:pt x="1162" y="981"/>
                  </a:lnTo>
                  <a:lnTo>
                    <a:pt x="842" y="981"/>
                  </a:lnTo>
                  <a:lnTo>
                    <a:pt x="665" y="960"/>
                  </a:lnTo>
                  <a:lnTo>
                    <a:pt x="482" y="920"/>
                  </a:lnTo>
                  <a:lnTo>
                    <a:pt x="358" y="874"/>
                  </a:lnTo>
                  <a:lnTo>
                    <a:pt x="248" y="825"/>
                  </a:lnTo>
                  <a:lnTo>
                    <a:pt x="166" y="775"/>
                  </a:lnTo>
                  <a:lnTo>
                    <a:pt x="88" y="716"/>
                  </a:lnTo>
                  <a:lnTo>
                    <a:pt x="0" y="631"/>
                  </a:lnTo>
                  <a:lnTo>
                    <a:pt x="417" y="540"/>
                  </a:lnTo>
                  <a:close/>
                </a:path>
              </a:pathLst>
            </a:custGeom>
            <a:blipFill dpi="0" rotWithShape="0">
              <a:blip r:embed="rId3"/>
              <a:srcRect/>
              <a:tile tx="0" ty="0" sx="100000" sy="100000" flip="none" algn="tl"/>
            </a:blipFill>
            <a:ln w="9525">
              <a:solidFill>
                <a:srgbClr val="000000"/>
              </a:solidFill>
              <a:prstDash val="solid"/>
              <a:round/>
              <a:headEnd/>
              <a:tailEnd/>
            </a:ln>
          </p:spPr>
          <p:txBody>
            <a:bodyPr/>
            <a:lstStyle/>
            <a:p>
              <a:endParaRPr lang="en-GB"/>
            </a:p>
          </p:txBody>
        </p:sp>
        <p:sp>
          <p:nvSpPr>
            <p:cNvPr id="148489" name="Freeform 9"/>
            <p:cNvSpPr>
              <a:spLocks/>
            </p:cNvSpPr>
            <p:nvPr/>
          </p:nvSpPr>
          <p:spPr bwMode="auto">
            <a:xfrm>
              <a:off x="2074" y="2002"/>
              <a:ext cx="1720" cy="546"/>
            </a:xfrm>
            <a:custGeom>
              <a:avLst/>
              <a:gdLst/>
              <a:ahLst/>
              <a:cxnLst>
                <a:cxn ang="0">
                  <a:pos x="358" y="291"/>
                </a:cxn>
                <a:cxn ang="0">
                  <a:pos x="322" y="219"/>
                </a:cxn>
                <a:cxn ang="0">
                  <a:pos x="328" y="189"/>
                </a:cxn>
                <a:cxn ang="0">
                  <a:pos x="349" y="152"/>
                </a:cxn>
                <a:cxn ang="0">
                  <a:pos x="385" y="118"/>
                </a:cxn>
                <a:cxn ang="0">
                  <a:pos x="429" y="92"/>
                </a:cxn>
                <a:cxn ang="0">
                  <a:pos x="484" y="67"/>
                </a:cxn>
                <a:cxn ang="0">
                  <a:pos x="541" y="48"/>
                </a:cxn>
                <a:cxn ang="0">
                  <a:pos x="608" y="31"/>
                </a:cxn>
                <a:cxn ang="0">
                  <a:pos x="680" y="18"/>
                </a:cxn>
                <a:cxn ang="0">
                  <a:pos x="751" y="8"/>
                </a:cxn>
                <a:cxn ang="0">
                  <a:pos x="823" y="2"/>
                </a:cxn>
                <a:cxn ang="0">
                  <a:pos x="939" y="0"/>
                </a:cxn>
                <a:cxn ang="0">
                  <a:pos x="1107" y="8"/>
                </a:cxn>
                <a:cxn ang="0">
                  <a:pos x="1268" y="25"/>
                </a:cxn>
                <a:cxn ang="0">
                  <a:pos x="1396" y="46"/>
                </a:cxn>
                <a:cxn ang="0">
                  <a:pos x="1503" y="71"/>
                </a:cxn>
                <a:cxn ang="0">
                  <a:pos x="1571" y="94"/>
                </a:cxn>
                <a:cxn ang="0">
                  <a:pos x="1628" y="116"/>
                </a:cxn>
                <a:cxn ang="0">
                  <a:pos x="1678" y="147"/>
                </a:cxn>
                <a:cxn ang="0">
                  <a:pos x="1706" y="175"/>
                </a:cxn>
                <a:cxn ang="0">
                  <a:pos x="1718" y="200"/>
                </a:cxn>
                <a:cxn ang="0">
                  <a:pos x="1720" y="232"/>
                </a:cxn>
                <a:cxn ang="0">
                  <a:pos x="1712" y="265"/>
                </a:cxn>
                <a:cxn ang="0">
                  <a:pos x="1697" y="299"/>
                </a:cxn>
                <a:cxn ang="0">
                  <a:pos x="1668" y="335"/>
                </a:cxn>
                <a:cxn ang="0">
                  <a:pos x="1613" y="381"/>
                </a:cxn>
                <a:cxn ang="0">
                  <a:pos x="1552" y="417"/>
                </a:cxn>
                <a:cxn ang="0">
                  <a:pos x="1472" y="455"/>
                </a:cxn>
                <a:cxn ang="0">
                  <a:pos x="1354" y="491"/>
                </a:cxn>
                <a:cxn ang="0">
                  <a:pos x="1236" y="519"/>
                </a:cxn>
                <a:cxn ang="0">
                  <a:pos x="1059" y="542"/>
                </a:cxn>
                <a:cxn ang="0">
                  <a:pos x="895" y="546"/>
                </a:cxn>
                <a:cxn ang="0">
                  <a:pos x="697" y="542"/>
                </a:cxn>
                <a:cxn ang="0">
                  <a:pos x="539" y="527"/>
                </a:cxn>
                <a:cxn ang="0">
                  <a:pos x="381" y="502"/>
                </a:cxn>
                <a:cxn ang="0">
                  <a:pos x="236" y="466"/>
                </a:cxn>
                <a:cxn ang="0">
                  <a:pos x="143" y="436"/>
                </a:cxn>
                <a:cxn ang="0">
                  <a:pos x="44" y="396"/>
                </a:cxn>
                <a:cxn ang="0">
                  <a:pos x="0" y="373"/>
                </a:cxn>
                <a:cxn ang="0">
                  <a:pos x="358" y="291"/>
                </a:cxn>
              </a:cxnLst>
              <a:rect l="0" t="0" r="r" b="b"/>
              <a:pathLst>
                <a:path w="1720" h="546">
                  <a:moveTo>
                    <a:pt x="358" y="291"/>
                  </a:moveTo>
                  <a:lnTo>
                    <a:pt x="322" y="219"/>
                  </a:lnTo>
                  <a:lnTo>
                    <a:pt x="328" y="189"/>
                  </a:lnTo>
                  <a:lnTo>
                    <a:pt x="349" y="152"/>
                  </a:lnTo>
                  <a:lnTo>
                    <a:pt x="385" y="118"/>
                  </a:lnTo>
                  <a:lnTo>
                    <a:pt x="429" y="92"/>
                  </a:lnTo>
                  <a:lnTo>
                    <a:pt x="484" y="67"/>
                  </a:lnTo>
                  <a:lnTo>
                    <a:pt x="541" y="48"/>
                  </a:lnTo>
                  <a:lnTo>
                    <a:pt x="608" y="31"/>
                  </a:lnTo>
                  <a:lnTo>
                    <a:pt x="680" y="18"/>
                  </a:lnTo>
                  <a:lnTo>
                    <a:pt x="751" y="8"/>
                  </a:lnTo>
                  <a:lnTo>
                    <a:pt x="823" y="2"/>
                  </a:lnTo>
                  <a:lnTo>
                    <a:pt x="939" y="0"/>
                  </a:lnTo>
                  <a:lnTo>
                    <a:pt x="1107" y="8"/>
                  </a:lnTo>
                  <a:lnTo>
                    <a:pt x="1268" y="25"/>
                  </a:lnTo>
                  <a:lnTo>
                    <a:pt x="1396" y="46"/>
                  </a:lnTo>
                  <a:lnTo>
                    <a:pt x="1503" y="71"/>
                  </a:lnTo>
                  <a:lnTo>
                    <a:pt x="1571" y="94"/>
                  </a:lnTo>
                  <a:lnTo>
                    <a:pt x="1628" y="116"/>
                  </a:lnTo>
                  <a:lnTo>
                    <a:pt x="1678" y="147"/>
                  </a:lnTo>
                  <a:lnTo>
                    <a:pt x="1706" y="175"/>
                  </a:lnTo>
                  <a:lnTo>
                    <a:pt x="1718" y="200"/>
                  </a:lnTo>
                  <a:lnTo>
                    <a:pt x="1720" y="232"/>
                  </a:lnTo>
                  <a:lnTo>
                    <a:pt x="1712" y="265"/>
                  </a:lnTo>
                  <a:lnTo>
                    <a:pt x="1697" y="299"/>
                  </a:lnTo>
                  <a:lnTo>
                    <a:pt x="1668" y="335"/>
                  </a:lnTo>
                  <a:lnTo>
                    <a:pt x="1613" y="381"/>
                  </a:lnTo>
                  <a:lnTo>
                    <a:pt x="1552" y="417"/>
                  </a:lnTo>
                  <a:lnTo>
                    <a:pt x="1472" y="455"/>
                  </a:lnTo>
                  <a:lnTo>
                    <a:pt x="1354" y="491"/>
                  </a:lnTo>
                  <a:lnTo>
                    <a:pt x="1236" y="519"/>
                  </a:lnTo>
                  <a:lnTo>
                    <a:pt x="1059" y="542"/>
                  </a:lnTo>
                  <a:lnTo>
                    <a:pt x="895" y="546"/>
                  </a:lnTo>
                  <a:lnTo>
                    <a:pt x="697" y="542"/>
                  </a:lnTo>
                  <a:lnTo>
                    <a:pt x="539" y="527"/>
                  </a:lnTo>
                  <a:lnTo>
                    <a:pt x="381" y="502"/>
                  </a:lnTo>
                  <a:lnTo>
                    <a:pt x="236" y="466"/>
                  </a:lnTo>
                  <a:lnTo>
                    <a:pt x="143" y="436"/>
                  </a:lnTo>
                  <a:lnTo>
                    <a:pt x="44" y="396"/>
                  </a:lnTo>
                  <a:lnTo>
                    <a:pt x="0" y="373"/>
                  </a:lnTo>
                  <a:lnTo>
                    <a:pt x="358" y="291"/>
                  </a:lnTo>
                  <a:close/>
                </a:path>
              </a:pathLst>
            </a:custGeom>
            <a:blipFill dpi="0" rotWithShape="0">
              <a:blip r:embed="rId4"/>
              <a:srcRect/>
              <a:tile tx="0" ty="0" sx="100000" sy="100000" flip="none" algn="tl"/>
            </a:blipFill>
            <a:ln w="9525">
              <a:noFill/>
              <a:round/>
              <a:headEnd/>
              <a:tailEnd/>
            </a:ln>
          </p:spPr>
          <p:txBody>
            <a:bodyPr/>
            <a:lstStyle/>
            <a:p>
              <a:endParaRPr lang="en-GB"/>
            </a:p>
          </p:txBody>
        </p:sp>
        <p:sp>
          <p:nvSpPr>
            <p:cNvPr id="148490" name="Freeform 10"/>
            <p:cNvSpPr>
              <a:spLocks/>
            </p:cNvSpPr>
            <p:nvPr/>
          </p:nvSpPr>
          <p:spPr bwMode="auto">
            <a:xfrm>
              <a:off x="2076" y="2004"/>
              <a:ext cx="1720" cy="546"/>
            </a:xfrm>
            <a:custGeom>
              <a:avLst/>
              <a:gdLst/>
              <a:ahLst/>
              <a:cxnLst>
                <a:cxn ang="0">
                  <a:pos x="358" y="291"/>
                </a:cxn>
                <a:cxn ang="0">
                  <a:pos x="322" y="219"/>
                </a:cxn>
                <a:cxn ang="0">
                  <a:pos x="328" y="188"/>
                </a:cxn>
                <a:cxn ang="0">
                  <a:pos x="349" y="152"/>
                </a:cxn>
                <a:cxn ang="0">
                  <a:pos x="385" y="118"/>
                </a:cxn>
                <a:cxn ang="0">
                  <a:pos x="429" y="92"/>
                </a:cxn>
                <a:cxn ang="0">
                  <a:pos x="484" y="67"/>
                </a:cxn>
                <a:cxn ang="0">
                  <a:pos x="541" y="48"/>
                </a:cxn>
                <a:cxn ang="0">
                  <a:pos x="608" y="31"/>
                </a:cxn>
                <a:cxn ang="0">
                  <a:pos x="680" y="17"/>
                </a:cxn>
                <a:cxn ang="0">
                  <a:pos x="750" y="8"/>
                </a:cxn>
                <a:cxn ang="0">
                  <a:pos x="823" y="2"/>
                </a:cxn>
                <a:cxn ang="0">
                  <a:pos x="939" y="0"/>
                </a:cxn>
                <a:cxn ang="0">
                  <a:pos x="1106" y="8"/>
                </a:cxn>
                <a:cxn ang="0">
                  <a:pos x="1268" y="25"/>
                </a:cxn>
                <a:cxn ang="0">
                  <a:pos x="1396" y="46"/>
                </a:cxn>
                <a:cxn ang="0">
                  <a:pos x="1502" y="71"/>
                </a:cxn>
                <a:cxn ang="0">
                  <a:pos x="1571" y="93"/>
                </a:cxn>
                <a:cxn ang="0">
                  <a:pos x="1628" y="116"/>
                </a:cxn>
                <a:cxn ang="0">
                  <a:pos x="1678" y="147"/>
                </a:cxn>
                <a:cxn ang="0">
                  <a:pos x="1706" y="175"/>
                </a:cxn>
                <a:cxn ang="0">
                  <a:pos x="1718" y="200"/>
                </a:cxn>
                <a:cxn ang="0">
                  <a:pos x="1720" y="232"/>
                </a:cxn>
                <a:cxn ang="0">
                  <a:pos x="1712" y="264"/>
                </a:cxn>
                <a:cxn ang="0">
                  <a:pos x="1697" y="299"/>
                </a:cxn>
                <a:cxn ang="0">
                  <a:pos x="1668" y="335"/>
                </a:cxn>
                <a:cxn ang="0">
                  <a:pos x="1613" y="380"/>
                </a:cxn>
                <a:cxn ang="0">
                  <a:pos x="1552" y="417"/>
                </a:cxn>
                <a:cxn ang="0">
                  <a:pos x="1472" y="455"/>
                </a:cxn>
                <a:cxn ang="0">
                  <a:pos x="1354" y="491"/>
                </a:cxn>
                <a:cxn ang="0">
                  <a:pos x="1236" y="519"/>
                </a:cxn>
                <a:cxn ang="0">
                  <a:pos x="1059" y="542"/>
                </a:cxn>
                <a:cxn ang="0">
                  <a:pos x="895" y="546"/>
                </a:cxn>
                <a:cxn ang="0">
                  <a:pos x="697" y="542"/>
                </a:cxn>
                <a:cxn ang="0">
                  <a:pos x="539" y="527"/>
                </a:cxn>
                <a:cxn ang="0">
                  <a:pos x="381" y="502"/>
                </a:cxn>
                <a:cxn ang="0">
                  <a:pos x="236" y="466"/>
                </a:cxn>
                <a:cxn ang="0">
                  <a:pos x="143" y="436"/>
                </a:cxn>
                <a:cxn ang="0">
                  <a:pos x="44" y="396"/>
                </a:cxn>
                <a:cxn ang="0">
                  <a:pos x="0" y="373"/>
                </a:cxn>
                <a:cxn ang="0">
                  <a:pos x="358" y="291"/>
                </a:cxn>
              </a:cxnLst>
              <a:rect l="0" t="0" r="r" b="b"/>
              <a:pathLst>
                <a:path w="1720" h="546">
                  <a:moveTo>
                    <a:pt x="358" y="291"/>
                  </a:moveTo>
                  <a:lnTo>
                    <a:pt x="322" y="219"/>
                  </a:lnTo>
                  <a:lnTo>
                    <a:pt x="328" y="188"/>
                  </a:lnTo>
                  <a:lnTo>
                    <a:pt x="349" y="152"/>
                  </a:lnTo>
                  <a:lnTo>
                    <a:pt x="385" y="118"/>
                  </a:lnTo>
                  <a:lnTo>
                    <a:pt x="429" y="92"/>
                  </a:lnTo>
                  <a:lnTo>
                    <a:pt x="484" y="67"/>
                  </a:lnTo>
                  <a:lnTo>
                    <a:pt x="541" y="48"/>
                  </a:lnTo>
                  <a:lnTo>
                    <a:pt x="608" y="31"/>
                  </a:lnTo>
                  <a:lnTo>
                    <a:pt x="680" y="17"/>
                  </a:lnTo>
                  <a:lnTo>
                    <a:pt x="750" y="8"/>
                  </a:lnTo>
                  <a:lnTo>
                    <a:pt x="823" y="2"/>
                  </a:lnTo>
                  <a:lnTo>
                    <a:pt x="939" y="0"/>
                  </a:lnTo>
                  <a:lnTo>
                    <a:pt x="1106" y="8"/>
                  </a:lnTo>
                  <a:lnTo>
                    <a:pt x="1268" y="25"/>
                  </a:lnTo>
                  <a:lnTo>
                    <a:pt x="1396" y="46"/>
                  </a:lnTo>
                  <a:lnTo>
                    <a:pt x="1502" y="71"/>
                  </a:lnTo>
                  <a:lnTo>
                    <a:pt x="1571" y="93"/>
                  </a:lnTo>
                  <a:lnTo>
                    <a:pt x="1628" y="116"/>
                  </a:lnTo>
                  <a:lnTo>
                    <a:pt x="1678" y="147"/>
                  </a:lnTo>
                  <a:lnTo>
                    <a:pt x="1706" y="175"/>
                  </a:lnTo>
                  <a:lnTo>
                    <a:pt x="1718" y="200"/>
                  </a:lnTo>
                  <a:lnTo>
                    <a:pt x="1720" y="232"/>
                  </a:lnTo>
                  <a:lnTo>
                    <a:pt x="1712" y="264"/>
                  </a:lnTo>
                  <a:lnTo>
                    <a:pt x="1697" y="299"/>
                  </a:lnTo>
                  <a:lnTo>
                    <a:pt x="1668" y="335"/>
                  </a:lnTo>
                  <a:lnTo>
                    <a:pt x="1613" y="380"/>
                  </a:lnTo>
                  <a:lnTo>
                    <a:pt x="1552" y="417"/>
                  </a:lnTo>
                  <a:lnTo>
                    <a:pt x="1472" y="455"/>
                  </a:lnTo>
                  <a:lnTo>
                    <a:pt x="1354" y="491"/>
                  </a:lnTo>
                  <a:lnTo>
                    <a:pt x="1236" y="519"/>
                  </a:lnTo>
                  <a:lnTo>
                    <a:pt x="1059" y="542"/>
                  </a:lnTo>
                  <a:lnTo>
                    <a:pt x="895" y="546"/>
                  </a:lnTo>
                  <a:lnTo>
                    <a:pt x="697" y="542"/>
                  </a:lnTo>
                  <a:lnTo>
                    <a:pt x="539" y="527"/>
                  </a:lnTo>
                  <a:lnTo>
                    <a:pt x="381" y="502"/>
                  </a:lnTo>
                  <a:lnTo>
                    <a:pt x="236" y="466"/>
                  </a:lnTo>
                  <a:lnTo>
                    <a:pt x="143" y="436"/>
                  </a:lnTo>
                  <a:lnTo>
                    <a:pt x="44" y="396"/>
                  </a:lnTo>
                  <a:lnTo>
                    <a:pt x="0" y="373"/>
                  </a:lnTo>
                  <a:lnTo>
                    <a:pt x="358" y="291"/>
                  </a:lnTo>
                  <a:close/>
                </a:path>
              </a:pathLst>
            </a:custGeom>
            <a:blipFill dpi="0" rotWithShape="0">
              <a:blip r:embed="rId4"/>
              <a:srcRect/>
              <a:tile tx="0" ty="0" sx="100000" sy="100000" flip="none" algn="tl"/>
            </a:blipFill>
            <a:ln w="9525">
              <a:solidFill>
                <a:srgbClr val="000000"/>
              </a:solidFill>
              <a:prstDash val="solid"/>
              <a:round/>
              <a:headEnd/>
              <a:tailEnd/>
            </a:ln>
          </p:spPr>
          <p:txBody>
            <a:bodyPr/>
            <a:lstStyle/>
            <a:p>
              <a:endParaRPr lang="en-GB"/>
            </a:p>
          </p:txBody>
        </p:sp>
        <p:sp>
          <p:nvSpPr>
            <p:cNvPr id="148491" name="Arc 11"/>
            <p:cNvSpPr>
              <a:spLocks/>
            </p:cNvSpPr>
            <p:nvPr/>
          </p:nvSpPr>
          <p:spPr bwMode="auto">
            <a:xfrm>
              <a:off x="2891" y="1839"/>
              <a:ext cx="1319" cy="41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6988">
              <a:solidFill>
                <a:srgbClr val="000000"/>
              </a:solidFill>
              <a:round/>
              <a:headEnd/>
              <a:tailEnd/>
            </a:ln>
          </p:spPr>
          <p:txBody>
            <a:bodyPr/>
            <a:lstStyle/>
            <a:p>
              <a:endParaRPr lang="en-GB"/>
            </a:p>
          </p:txBody>
        </p:sp>
        <p:sp>
          <p:nvSpPr>
            <p:cNvPr id="148492" name="Arc 12"/>
            <p:cNvSpPr>
              <a:spLocks/>
            </p:cNvSpPr>
            <p:nvPr/>
          </p:nvSpPr>
          <p:spPr bwMode="auto">
            <a:xfrm>
              <a:off x="2617" y="2248"/>
              <a:ext cx="1591" cy="58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6988">
              <a:solidFill>
                <a:srgbClr val="000000"/>
              </a:solidFill>
              <a:round/>
              <a:headEnd/>
              <a:tailEnd/>
            </a:ln>
          </p:spPr>
          <p:txBody>
            <a:bodyPr/>
            <a:lstStyle/>
            <a:p>
              <a:endParaRPr lang="en-GB"/>
            </a:p>
          </p:txBody>
        </p:sp>
        <p:sp>
          <p:nvSpPr>
            <p:cNvPr id="148493" name="Arc 13"/>
            <p:cNvSpPr>
              <a:spLocks/>
            </p:cNvSpPr>
            <p:nvPr/>
          </p:nvSpPr>
          <p:spPr bwMode="auto">
            <a:xfrm>
              <a:off x="1574" y="2223"/>
              <a:ext cx="1045" cy="604"/>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6988">
              <a:solidFill>
                <a:srgbClr val="000000"/>
              </a:solidFill>
              <a:round/>
              <a:headEnd/>
              <a:tailEnd/>
            </a:ln>
          </p:spPr>
          <p:txBody>
            <a:bodyPr/>
            <a:lstStyle/>
            <a:p>
              <a:endParaRPr lang="en-GB"/>
            </a:p>
          </p:txBody>
        </p:sp>
        <p:sp>
          <p:nvSpPr>
            <p:cNvPr id="148494" name="Arc 14"/>
            <p:cNvSpPr>
              <a:spLocks/>
            </p:cNvSpPr>
            <p:nvPr/>
          </p:nvSpPr>
          <p:spPr bwMode="auto">
            <a:xfrm>
              <a:off x="1574" y="1676"/>
              <a:ext cx="1375" cy="549"/>
            </a:xfrm>
            <a:custGeom>
              <a:avLst/>
              <a:gdLst>
                <a:gd name="G0" fmla="+- 21600 0 0"/>
                <a:gd name="G1" fmla="+- 21600 0 0"/>
                <a:gd name="G2" fmla="+- 21600 0 0"/>
                <a:gd name="T0" fmla="*/ 0 w 21600"/>
                <a:gd name="T1" fmla="*/ 21600 h 21600"/>
                <a:gd name="T2" fmla="*/ 21584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6"/>
                    <a:pt x="9660" y="8"/>
                    <a:pt x="21584" y="0"/>
                  </a:cubicBezTo>
                </a:path>
                <a:path w="21600" h="21600" stroke="0" extrusionOk="0">
                  <a:moveTo>
                    <a:pt x="0" y="21600"/>
                  </a:moveTo>
                  <a:cubicBezTo>
                    <a:pt x="0" y="9676"/>
                    <a:pt x="9660" y="8"/>
                    <a:pt x="21584" y="0"/>
                  </a:cubicBezTo>
                  <a:lnTo>
                    <a:pt x="21600" y="21600"/>
                  </a:lnTo>
                  <a:close/>
                </a:path>
              </a:pathLst>
            </a:custGeom>
            <a:noFill/>
            <a:ln w="26988">
              <a:solidFill>
                <a:srgbClr val="000000"/>
              </a:solidFill>
              <a:round/>
              <a:headEnd/>
              <a:tailEnd/>
            </a:ln>
          </p:spPr>
          <p:txBody>
            <a:bodyPr/>
            <a:lstStyle/>
            <a:p>
              <a:endParaRPr lang="en-GB"/>
            </a:p>
          </p:txBody>
        </p:sp>
        <p:sp>
          <p:nvSpPr>
            <p:cNvPr id="148495" name="Arc 15"/>
            <p:cNvSpPr>
              <a:spLocks/>
            </p:cNvSpPr>
            <p:nvPr/>
          </p:nvSpPr>
          <p:spPr bwMode="auto">
            <a:xfrm>
              <a:off x="2944" y="1676"/>
              <a:ext cx="1582" cy="640"/>
            </a:xfrm>
            <a:custGeom>
              <a:avLst/>
              <a:gdLst>
                <a:gd name="G0" fmla="+- 13 0 0"/>
                <a:gd name="G1" fmla="+- 21600 0 0"/>
                <a:gd name="G2" fmla="+- 21600 0 0"/>
                <a:gd name="T0" fmla="*/ 0 w 21613"/>
                <a:gd name="T1" fmla="*/ 0 h 21600"/>
                <a:gd name="T2" fmla="*/ 21613 w 21613"/>
                <a:gd name="T3" fmla="*/ 21600 h 21600"/>
                <a:gd name="T4" fmla="*/ 13 w 21613"/>
                <a:gd name="T5" fmla="*/ 21600 h 21600"/>
              </a:gdLst>
              <a:ahLst/>
              <a:cxnLst>
                <a:cxn ang="0">
                  <a:pos x="T0" y="T1"/>
                </a:cxn>
                <a:cxn ang="0">
                  <a:pos x="T2" y="T3"/>
                </a:cxn>
                <a:cxn ang="0">
                  <a:pos x="T4" y="T5"/>
                </a:cxn>
              </a:cxnLst>
              <a:rect l="0" t="0" r="r" b="b"/>
              <a:pathLst>
                <a:path w="21613" h="21600" fill="none" extrusionOk="0">
                  <a:moveTo>
                    <a:pt x="0" y="0"/>
                  </a:moveTo>
                  <a:cubicBezTo>
                    <a:pt x="4" y="0"/>
                    <a:pt x="8" y="-1"/>
                    <a:pt x="13" y="0"/>
                  </a:cubicBezTo>
                  <a:cubicBezTo>
                    <a:pt x="11942" y="0"/>
                    <a:pt x="21613" y="9670"/>
                    <a:pt x="21613" y="21600"/>
                  </a:cubicBezTo>
                </a:path>
                <a:path w="21613" h="21600" stroke="0" extrusionOk="0">
                  <a:moveTo>
                    <a:pt x="0" y="0"/>
                  </a:moveTo>
                  <a:cubicBezTo>
                    <a:pt x="4" y="0"/>
                    <a:pt x="8" y="-1"/>
                    <a:pt x="13" y="0"/>
                  </a:cubicBezTo>
                  <a:cubicBezTo>
                    <a:pt x="11942" y="0"/>
                    <a:pt x="21613" y="9670"/>
                    <a:pt x="21613" y="21600"/>
                  </a:cubicBezTo>
                  <a:lnTo>
                    <a:pt x="13" y="21600"/>
                  </a:lnTo>
                  <a:close/>
                </a:path>
              </a:pathLst>
            </a:custGeom>
            <a:noFill/>
            <a:ln w="26988">
              <a:solidFill>
                <a:srgbClr val="000000"/>
              </a:solidFill>
              <a:round/>
              <a:headEnd/>
              <a:tailEnd/>
            </a:ln>
          </p:spPr>
          <p:txBody>
            <a:bodyPr/>
            <a:lstStyle/>
            <a:p>
              <a:endParaRPr lang="en-GB"/>
            </a:p>
          </p:txBody>
        </p:sp>
        <p:sp>
          <p:nvSpPr>
            <p:cNvPr id="148496" name="Line 16"/>
            <p:cNvSpPr>
              <a:spLocks noChangeShapeType="1"/>
            </p:cNvSpPr>
            <p:nvPr/>
          </p:nvSpPr>
          <p:spPr bwMode="auto">
            <a:xfrm flipV="1">
              <a:off x="351" y="2187"/>
              <a:ext cx="2595" cy="583"/>
            </a:xfrm>
            <a:prstGeom prst="line">
              <a:avLst/>
            </a:prstGeom>
            <a:noFill/>
            <a:ln w="42863">
              <a:solidFill>
                <a:srgbClr val="000000"/>
              </a:solidFill>
              <a:round/>
              <a:headEnd/>
              <a:tailEnd/>
            </a:ln>
          </p:spPr>
          <p:txBody>
            <a:bodyPr/>
            <a:lstStyle/>
            <a:p>
              <a:endParaRPr lang="en-GB"/>
            </a:p>
          </p:txBody>
        </p:sp>
        <p:sp>
          <p:nvSpPr>
            <p:cNvPr id="148497" name="Arc 17"/>
            <p:cNvSpPr>
              <a:spLocks/>
            </p:cNvSpPr>
            <p:nvPr/>
          </p:nvSpPr>
          <p:spPr bwMode="auto">
            <a:xfrm>
              <a:off x="1970" y="1839"/>
              <a:ext cx="923" cy="386"/>
            </a:xfrm>
            <a:custGeom>
              <a:avLst/>
              <a:gdLst>
                <a:gd name="G0" fmla="+- 21600 0 0"/>
                <a:gd name="G1" fmla="+- 21600 0 0"/>
                <a:gd name="G2" fmla="+- 21600 0 0"/>
                <a:gd name="T0" fmla="*/ 0 w 21600"/>
                <a:gd name="T1" fmla="*/ 21600 h 21600"/>
                <a:gd name="T2" fmla="*/ 2160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0"/>
                    <a:pt x="9670" y="0"/>
                    <a:pt x="21599" y="0"/>
                  </a:cubicBezTo>
                </a:path>
                <a:path w="21600" h="21600" stroke="0" extrusionOk="0">
                  <a:moveTo>
                    <a:pt x="0" y="21600"/>
                  </a:moveTo>
                  <a:cubicBezTo>
                    <a:pt x="0" y="9670"/>
                    <a:pt x="9670" y="0"/>
                    <a:pt x="21599" y="0"/>
                  </a:cubicBezTo>
                  <a:lnTo>
                    <a:pt x="21600" y="21600"/>
                  </a:lnTo>
                  <a:close/>
                </a:path>
              </a:pathLst>
            </a:custGeom>
            <a:noFill/>
            <a:ln w="26988">
              <a:solidFill>
                <a:srgbClr val="000000"/>
              </a:solidFill>
              <a:round/>
              <a:headEnd/>
              <a:tailEnd/>
            </a:ln>
          </p:spPr>
          <p:txBody>
            <a:bodyPr/>
            <a:lstStyle/>
            <a:p>
              <a:endParaRPr lang="en-GB"/>
            </a:p>
          </p:txBody>
        </p:sp>
        <p:sp>
          <p:nvSpPr>
            <p:cNvPr id="148498" name="Arc 18"/>
            <p:cNvSpPr>
              <a:spLocks/>
            </p:cNvSpPr>
            <p:nvPr/>
          </p:nvSpPr>
          <p:spPr bwMode="auto">
            <a:xfrm>
              <a:off x="2973" y="1997"/>
              <a:ext cx="830" cy="23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6988">
              <a:solidFill>
                <a:srgbClr val="000000"/>
              </a:solidFill>
              <a:round/>
              <a:headEnd/>
              <a:tailEnd/>
            </a:ln>
          </p:spPr>
          <p:txBody>
            <a:bodyPr/>
            <a:lstStyle/>
            <a:p>
              <a:endParaRPr lang="en-GB"/>
            </a:p>
          </p:txBody>
        </p:sp>
        <p:sp>
          <p:nvSpPr>
            <p:cNvPr id="148499" name="Arc 19"/>
            <p:cNvSpPr>
              <a:spLocks/>
            </p:cNvSpPr>
            <p:nvPr/>
          </p:nvSpPr>
          <p:spPr bwMode="auto">
            <a:xfrm>
              <a:off x="2960" y="2223"/>
              <a:ext cx="841" cy="33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6988">
              <a:solidFill>
                <a:srgbClr val="000000"/>
              </a:solidFill>
              <a:round/>
              <a:headEnd/>
              <a:tailEnd/>
            </a:ln>
          </p:spPr>
          <p:txBody>
            <a:bodyPr/>
            <a:lstStyle/>
            <a:p>
              <a:endParaRPr lang="en-GB"/>
            </a:p>
          </p:txBody>
        </p:sp>
        <p:sp>
          <p:nvSpPr>
            <p:cNvPr id="148500" name="Arc 20"/>
            <p:cNvSpPr>
              <a:spLocks/>
            </p:cNvSpPr>
            <p:nvPr/>
          </p:nvSpPr>
          <p:spPr bwMode="auto">
            <a:xfrm>
              <a:off x="1970" y="2223"/>
              <a:ext cx="990" cy="330"/>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6988">
              <a:solidFill>
                <a:srgbClr val="000000"/>
              </a:solidFill>
              <a:round/>
              <a:headEnd/>
              <a:tailEnd/>
            </a:ln>
          </p:spPr>
          <p:txBody>
            <a:bodyPr/>
            <a:lstStyle/>
            <a:p>
              <a:endParaRPr lang="en-GB"/>
            </a:p>
          </p:txBody>
        </p:sp>
        <p:sp>
          <p:nvSpPr>
            <p:cNvPr id="148501" name="Arc 21"/>
            <p:cNvSpPr>
              <a:spLocks/>
            </p:cNvSpPr>
            <p:nvPr/>
          </p:nvSpPr>
          <p:spPr bwMode="auto">
            <a:xfrm>
              <a:off x="2397" y="2005"/>
              <a:ext cx="578" cy="220"/>
            </a:xfrm>
            <a:custGeom>
              <a:avLst/>
              <a:gdLst>
                <a:gd name="G0" fmla="+- 21600 0 0"/>
                <a:gd name="G1" fmla="+- 21600 0 0"/>
                <a:gd name="G2" fmla="+- 21600 0 0"/>
                <a:gd name="T0" fmla="*/ 0 w 21600"/>
                <a:gd name="T1" fmla="*/ 21600 h 21600"/>
                <a:gd name="T2" fmla="*/ 2160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0"/>
                    <a:pt x="9670" y="0"/>
                    <a:pt x="21599" y="0"/>
                  </a:cubicBezTo>
                </a:path>
                <a:path w="21600" h="21600" stroke="0" extrusionOk="0">
                  <a:moveTo>
                    <a:pt x="0" y="21600"/>
                  </a:moveTo>
                  <a:cubicBezTo>
                    <a:pt x="0" y="9670"/>
                    <a:pt x="9670" y="0"/>
                    <a:pt x="21599" y="0"/>
                  </a:cubicBezTo>
                  <a:lnTo>
                    <a:pt x="21600" y="21600"/>
                  </a:lnTo>
                  <a:close/>
                </a:path>
              </a:pathLst>
            </a:custGeom>
            <a:noFill/>
            <a:ln w="26988">
              <a:solidFill>
                <a:srgbClr val="000000"/>
              </a:solidFill>
              <a:round/>
              <a:headEnd/>
              <a:tailEnd/>
            </a:ln>
          </p:spPr>
          <p:txBody>
            <a:bodyPr/>
            <a:lstStyle/>
            <a:p>
              <a:endParaRPr lang="en-GB"/>
            </a:p>
          </p:txBody>
        </p:sp>
        <p:sp>
          <p:nvSpPr>
            <p:cNvPr id="148502" name="Arc 22"/>
            <p:cNvSpPr>
              <a:spLocks/>
            </p:cNvSpPr>
            <p:nvPr/>
          </p:nvSpPr>
          <p:spPr bwMode="auto">
            <a:xfrm>
              <a:off x="2397" y="2227"/>
              <a:ext cx="30" cy="85"/>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17463">
              <a:solidFill>
                <a:srgbClr val="000000"/>
              </a:solidFill>
              <a:round/>
              <a:headEnd/>
              <a:tailEnd/>
            </a:ln>
          </p:spPr>
          <p:txBody>
            <a:bodyPr/>
            <a:lstStyle/>
            <a:p>
              <a:endParaRPr lang="en-GB"/>
            </a:p>
          </p:txBody>
        </p:sp>
        <p:sp>
          <p:nvSpPr>
            <p:cNvPr id="148503" name="Arc 23"/>
            <p:cNvSpPr>
              <a:spLocks/>
            </p:cNvSpPr>
            <p:nvPr/>
          </p:nvSpPr>
          <p:spPr bwMode="auto">
            <a:xfrm>
              <a:off x="2617" y="2314"/>
              <a:ext cx="1909" cy="786"/>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6988">
              <a:solidFill>
                <a:srgbClr val="000000"/>
              </a:solidFill>
              <a:round/>
              <a:headEnd/>
              <a:tailEnd/>
            </a:ln>
          </p:spPr>
          <p:txBody>
            <a:bodyPr/>
            <a:lstStyle/>
            <a:p>
              <a:endParaRPr lang="en-GB"/>
            </a:p>
          </p:txBody>
        </p:sp>
        <p:sp>
          <p:nvSpPr>
            <p:cNvPr id="148504" name="Arc 24"/>
            <p:cNvSpPr>
              <a:spLocks/>
            </p:cNvSpPr>
            <p:nvPr/>
          </p:nvSpPr>
          <p:spPr bwMode="auto">
            <a:xfrm>
              <a:off x="1191" y="2331"/>
              <a:ext cx="1417" cy="769"/>
            </a:xfrm>
            <a:custGeom>
              <a:avLst/>
              <a:gdLst>
                <a:gd name="G0" fmla="+- 21600 0 0"/>
                <a:gd name="G1" fmla="+- 0 0 0"/>
                <a:gd name="G2" fmla="+- 21600 0 0"/>
                <a:gd name="T0" fmla="*/ 21585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585" y="21599"/>
                  </a:moveTo>
                  <a:cubicBezTo>
                    <a:pt x="9661" y="21591"/>
                    <a:pt x="0" y="11923"/>
                    <a:pt x="0" y="0"/>
                  </a:cubicBezTo>
                </a:path>
                <a:path w="21600" h="21600" stroke="0" extrusionOk="0">
                  <a:moveTo>
                    <a:pt x="21585" y="21599"/>
                  </a:moveTo>
                  <a:cubicBezTo>
                    <a:pt x="9661" y="21591"/>
                    <a:pt x="0" y="11923"/>
                    <a:pt x="0" y="0"/>
                  </a:cubicBezTo>
                  <a:lnTo>
                    <a:pt x="21600" y="0"/>
                  </a:lnTo>
                  <a:close/>
                </a:path>
              </a:pathLst>
            </a:custGeom>
            <a:noFill/>
            <a:ln w="26988">
              <a:solidFill>
                <a:srgbClr val="000000"/>
              </a:solidFill>
              <a:round/>
              <a:headEnd/>
              <a:tailEnd/>
            </a:ln>
          </p:spPr>
          <p:txBody>
            <a:bodyPr/>
            <a:lstStyle/>
            <a:p>
              <a:endParaRPr lang="en-GB"/>
            </a:p>
          </p:txBody>
        </p:sp>
        <p:sp>
          <p:nvSpPr>
            <p:cNvPr id="148505" name="Arc 25"/>
            <p:cNvSpPr>
              <a:spLocks/>
            </p:cNvSpPr>
            <p:nvPr/>
          </p:nvSpPr>
          <p:spPr bwMode="auto">
            <a:xfrm>
              <a:off x="1191" y="1554"/>
              <a:ext cx="1672" cy="785"/>
            </a:xfrm>
            <a:custGeom>
              <a:avLst/>
              <a:gdLst>
                <a:gd name="G0" fmla="+- 21600 0 0"/>
                <a:gd name="G1" fmla="+- 21600 0 0"/>
                <a:gd name="G2" fmla="+- 21600 0 0"/>
                <a:gd name="T0" fmla="*/ 0 w 21600"/>
                <a:gd name="T1" fmla="*/ 21600 h 21600"/>
                <a:gd name="T2" fmla="*/ 2160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0"/>
                    <a:pt x="9670" y="0"/>
                    <a:pt x="21599" y="0"/>
                  </a:cubicBezTo>
                </a:path>
                <a:path w="21600" h="21600" stroke="0" extrusionOk="0">
                  <a:moveTo>
                    <a:pt x="0" y="21600"/>
                  </a:moveTo>
                  <a:cubicBezTo>
                    <a:pt x="0" y="9670"/>
                    <a:pt x="9670" y="0"/>
                    <a:pt x="21599" y="0"/>
                  </a:cubicBezTo>
                  <a:lnTo>
                    <a:pt x="21600" y="21600"/>
                  </a:lnTo>
                  <a:close/>
                </a:path>
              </a:pathLst>
            </a:custGeom>
            <a:noFill/>
            <a:ln w="26988">
              <a:solidFill>
                <a:srgbClr val="000000"/>
              </a:solidFill>
              <a:round/>
              <a:headEnd/>
              <a:tailEnd/>
            </a:ln>
          </p:spPr>
          <p:txBody>
            <a:bodyPr/>
            <a:lstStyle/>
            <a:p>
              <a:endParaRPr lang="en-GB"/>
            </a:p>
          </p:txBody>
        </p:sp>
        <p:sp>
          <p:nvSpPr>
            <p:cNvPr id="148506" name="Arc 26"/>
            <p:cNvSpPr>
              <a:spLocks/>
            </p:cNvSpPr>
            <p:nvPr/>
          </p:nvSpPr>
          <p:spPr bwMode="auto">
            <a:xfrm>
              <a:off x="2847" y="1554"/>
              <a:ext cx="1887" cy="848"/>
            </a:xfrm>
            <a:custGeom>
              <a:avLst/>
              <a:gdLst>
                <a:gd name="G0" fmla="+- 11 0 0"/>
                <a:gd name="G1" fmla="+- 21600 0 0"/>
                <a:gd name="G2" fmla="+- 21600 0 0"/>
                <a:gd name="T0" fmla="*/ 0 w 21611"/>
                <a:gd name="T1" fmla="*/ 0 h 21600"/>
                <a:gd name="T2" fmla="*/ 21611 w 21611"/>
                <a:gd name="T3" fmla="*/ 21600 h 21600"/>
                <a:gd name="T4" fmla="*/ 11 w 21611"/>
                <a:gd name="T5" fmla="*/ 21600 h 21600"/>
              </a:gdLst>
              <a:ahLst/>
              <a:cxnLst>
                <a:cxn ang="0">
                  <a:pos x="T0" y="T1"/>
                </a:cxn>
                <a:cxn ang="0">
                  <a:pos x="T2" y="T3"/>
                </a:cxn>
                <a:cxn ang="0">
                  <a:pos x="T4" y="T5"/>
                </a:cxn>
              </a:cxnLst>
              <a:rect l="0" t="0" r="r" b="b"/>
              <a:pathLst>
                <a:path w="21611" h="21600" fill="none" extrusionOk="0">
                  <a:moveTo>
                    <a:pt x="0" y="0"/>
                  </a:moveTo>
                  <a:cubicBezTo>
                    <a:pt x="3" y="0"/>
                    <a:pt x="7" y="-1"/>
                    <a:pt x="11" y="0"/>
                  </a:cubicBezTo>
                  <a:cubicBezTo>
                    <a:pt x="11940" y="0"/>
                    <a:pt x="21611" y="9670"/>
                    <a:pt x="21611" y="21600"/>
                  </a:cubicBezTo>
                </a:path>
                <a:path w="21611" h="21600" stroke="0" extrusionOk="0">
                  <a:moveTo>
                    <a:pt x="0" y="0"/>
                  </a:moveTo>
                  <a:cubicBezTo>
                    <a:pt x="3" y="0"/>
                    <a:pt x="7" y="-1"/>
                    <a:pt x="11" y="0"/>
                  </a:cubicBezTo>
                  <a:cubicBezTo>
                    <a:pt x="11940" y="0"/>
                    <a:pt x="21611" y="9670"/>
                    <a:pt x="21611" y="21600"/>
                  </a:cubicBezTo>
                  <a:lnTo>
                    <a:pt x="11" y="21600"/>
                  </a:lnTo>
                  <a:close/>
                </a:path>
              </a:pathLst>
            </a:custGeom>
            <a:noFill/>
            <a:ln w="26988">
              <a:solidFill>
                <a:srgbClr val="000000"/>
              </a:solidFill>
              <a:round/>
              <a:headEnd/>
              <a:tailEnd/>
            </a:ln>
          </p:spPr>
          <p:txBody>
            <a:bodyPr/>
            <a:lstStyle/>
            <a:p>
              <a:endParaRPr lang="en-GB"/>
            </a:p>
          </p:txBody>
        </p:sp>
        <p:sp>
          <p:nvSpPr>
            <p:cNvPr id="148507" name="Arc 27"/>
            <p:cNvSpPr>
              <a:spLocks/>
            </p:cNvSpPr>
            <p:nvPr/>
          </p:nvSpPr>
          <p:spPr bwMode="auto">
            <a:xfrm>
              <a:off x="2623" y="2411"/>
              <a:ext cx="2111" cy="952"/>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6988">
              <a:solidFill>
                <a:srgbClr val="000000"/>
              </a:solidFill>
              <a:round/>
              <a:headEnd/>
              <a:tailEnd/>
            </a:ln>
          </p:spPr>
          <p:txBody>
            <a:bodyPr/>
            <a:lstStyle/>
            <a:p>
              <a:endParaRPr lang="en-GB"/>
            </a:p>
          </p:txBody>
        </p:sp>
        <p:sp>
          <p:nvSpPr>
            <p:cNvPr id="148508" name="Freeform 28"/>
            <p:cNvSpPr>
              <a:spLocks/>
            </p:cNvSpPr>
            <p:nvPr/>
          </p:nvSpPr>
          <p:spPr bwMode="auto">
            <a:xfrm>
              <a:off x="1149" y="2375"/>
              <a:ext cx="19" cy="93"/>
            </a:xfrm>
            <a:custGeom>
              <a:avLst/>
              <a:gdLst/>
              <a:ahLst/>
              <a:cxnLst>
                <a:cxn ang="0">
                  <a:pos x="19" y="93"/>
                </a:cxn>
                <a:cxn ang="0">
                  <a:pos x="17" y="84"/>
                </a:cxn>
                <a:cxn ang="0">
                  <a:pos x="15" y="82"/>
                </a:cxn>
                <a:cxn ang="0">
                  <a:pos x="15" y="80"/>
                </a:cxn>
                <a:cxn ang="0">
                  <a:pos x="13" y="78"/>
                </a:cxn>
                <a:cxn ang="0">
                  <a:pos x="13" y="76"/>
                </a:cxn>
                <a:cxn ang="0">
                  <a:pos x="13" y="72"/>
                </a:cxn>
                <a:cxn ang="0">
                  <a:pos x="11" y="70"/>
                </a:cxn>
                <a:cxn ang="0">
                  <a:pos x="11" y="68"/>
                </a:cxn>
                <a:cxn ang="0">
                  <a:pos x="10" y="66"/>
                </a:cxn>
                <a:cxn ang="0">
                  <a:pos x="10" y="63"/>
                </a:cxn>
                <a:cxn ang="0">
                  <a:pos x="10" y="61"/>
                </a:cxn>
                <a:cxn ang="0">
                  <a:pos x="8" y="59"/>
                </a:cxn>
                <a:cxn ang="0">
                  <a:pos x="8" y="55"/>
                </a:cxn>
                <a:cxn ang="0">
                  <a:pos x="6" y="53"/>
                </a:cxn>
                <a:cxn ang="0">
                  <a:pos x="6" y="51"/>
                </a:cxn>
                <a:cxn ang="0">
                  <a:pos x="6" y="49"/>
                </a:cxn>
                <a:cxn ang="0">
                  <a:pos x="4" y="46"/>
                </a:cxn>
                <a:cxn ang="0">
                  <a:pos x="4" y="42"/>
                </a:cxn>
                <a:cxn ang="0">
                  <a:pos x="2" y="40"/>
                </a:cxn>
                <a:cxn ang="0">
                  <a:pos x="2" y="38"/>
                </a:cxn>
                <a:cxn ang="0">
                  <a:pos x="2" y="36"/>
                </a:cxn>
                <a:cxn ang="0">
                  <a:pos x="2" y="32"/>
                </a:cxn>
                <a:cxn ang="0">
                  <a:pos x="2" y="30"/>
                </a:cxn>
                <a:cxn ang="0">
                  <a:pos x="2" y="27"/>
                </a:cxn>
                <a:cxn ang="0">
                  <a:pos x="0" y="25"/>
                </a:cxn>
                <a:cxn ang="0">
                  <a:pos x="0" y="21"/>
                </a:cxn>
                <a:cxn ang="0">
                  <a:pos x="0" y="19"/>
                </a:cxn>
                <a:cxn ang="0">
                  <a:pos x="0" y="15"/>
                </a:cxn>
                <a:cxn ang="0">
                  <a:pos x="0" y="11"/>
                </a:cxn>
                <a:cxn ang="0">
                  <a:pos x="0" y="8"/>
                </a:cxn>
                <a:cxn ang="0">
                  <a:pos x="0" y="6"/>
                </a:cxn>
                <a:cxn ang="0">
                  <a:pos x="0" y="2"/>
                </a:cxn>
                <a:cxn ang="0">
                  <a:pos x="0" y="0"/>
                </a:cxn>
                <a:cxn ang="0">
                  <a:pos x="19" y="93"/>
                </a:cxn>
              </a:cxnLst>
              <a:rect l="0" t="0" r="r" b="b"/>
              <a:pathLst>
                <a:path w="19" h="93">
                  <a:moveTo>
                    <a:pt x="19" y="93"/>
                  </a:moveTo>
                  <a:lnTo>
                    <a:pt x="17" y="84"/>
                  </a:lnTo>
                  <a:lnTo>
                    <a:pt x="15" y="82"/>
                  </a:lnTo>
                  <a:lnTo>
                    <a:pt x="15" y="80"/>
                  </a:lnTo>
                  <a:lnTo>
                    <a:pt x="13" y="78"/>
                  </a:lnTo>
                  <a:lnTo>
                    <a:pt x="13" y="76"/>
                  </a:lnTo>
                  <a:lnTo>
                    <a:pt x="13" y="72"/>
                  </a:lnTo>
                  <a:lnTo>
                    <a:pt x="11" y="70"/>
                  </a:lnTo>
                  <a:lnTo>
                    <a:pt x="11" y="68"/>
                  </a:lnTo>
                  <a:lnTo>
                    <a:pt x="10" y="66"/>
                  </a:lnTo>
                  <a:lnTo>
                    <a:pt x="10" y="63"/>
                  </a:lnTo>
                  <a:lnTo>
                    <a:pt x="10" y="61"/>
                  </a:lnTo>
                  <a:lnTo>
                    <a:pt x="8" y="59"/>
                  </a:lnTo>
                  <a:lnTo>
                    <a:pt x="8" y="55"/>
                  </a:lnTo>
                  <a:lnTo>
                    <a:pt x="6" y="53"/>
                  </a:lnTo>
                  <a:lnTo>
                    <a:pt x="6" y="51"/>
                  </a:lnTo>
                  <a:lnTo>
                    <a:pt x="6" y="49"/>
                  </a:lnTo>
                  <a:lnTo>
                    <a:pt x="4" y="46"/>
                  </a:lnTo>
                  <a:lnTo>
                    <a:pt x="4" y="42"/>
                  </a:lnTo>
                  <a:lnTo>
                    <a:pt x="2" y="40"/>
                  </a:lnTo>
                  <a:lnTo>
                    <a:pt x="2" y="38"/>
                  </a:lnTo>
                  <a:lnTo>
                    <a:pt x="2" y="36"/>
                  </a:lnTo>
                  <a:lnTo>
                    <a:pt x="2" y="32"/>
                  </a:lnTo>
                  <a:lnTo>
                    <a:pt x="2" y="30"/>
                  </a:lnTo>
                  <a:lnTo>
                    <a:pt x="2" y="27"/>
                  </a:lnTo>
                  <a:lnTo>
                    <a:pt x="0" y="25"/>
                  </a:lnTo>
                  <a:lnTo>
                    <a:pt x="0" y="21"/>
                  </a:lnTo>
                  <a:lnTo>
                    <a:pt x="0" y="19"/>
                  </a:lnTo>
                  <a:lnTo>
                    <a:pt x="0" y="15"/>
                  </a:lnTo>
                  <a:lnTo>
                    <a:pt x="0" y="11"/>
                  </a:lnTo>
                  <a:lnTo>
                    <a:pt x="0" y="8"/>
                  </a:lnTo>
                  <a:lnTo>
                    <a:pt x="0" y="6"/>
                  </a:lnTo>
                  <a:lnTo>
                    <a:pt x="0" y="2"/>
                  </a:lnTo>
                  <a:lnTo>
                    <a:pt x="0" y="0"/>
                  </a:lnTo>
                  <a:lnTo>
                    <a:pt x="19" y="93"/>
                  </a:lnTo>
                  <a:close/>
                </a:path>
              </a:pathLst>
            </a:custGeom>
            <a:solidFill>
              <a:srgbClr val="FFFFFF"/>
            </a:solidFill>
            <a:ln w="9525">
              <a:noFill/>
              <a:round/>
              <a:headEnd/>
              <a:tailEnd/>
            </a:ln>
          </p:spPr>
          <p:txBody>
            <a:bodyPr/>
            <a:lstStyle/>
            <a:p>
              <a:endParaRPr lang="en-GB"/>
            </a:p>
          </p:txBody>
        </p:sp>
        <p:sp>
          <p:nvSpPr>
            <p:cNvPr id="148509" name="Freeform 29"/>
            <p:cNvSpPr>
              <a:spLocks/>
            </p:cNvSpPr>
            <p:nvPr/>
          </p:nvSpPr>
          <p:spPr bwMode="auto">
            <a:xfrm>
              <a:off x="1149" y="2375"/>
              <a:ext cx="19" cy="93"/>
            </a:xfrm>
            <a:custGeom>
              <a:avLst/>
              <a:gdLst/>
              <a:ahLst/>
              <a:cxnLst>
                <a:cxn ang="0">
                  <a:pos x="19" y="93"/>
                </a:cxn>
                <a:cxn ang="0">
                  <a:pos x="17" y="84"/>
                </a:cxn>
                <a:cxn ang="0">
                  <a:pos x="15" y="82"/>
                </a:cxn>
                <a:cxn ang="0">
                  <a:pos x="15" y="80"/>
                </a:cxn>
                <a:cxn ang="0">
                  <a:pos x="13" y="78"/>
                </a:cxn>
                <a:cxn ang="0">
                  <a:pos x="13" y="76"/>
                </a:cxn>
                <a:cxn ang="0">
                  <a:pos x="13" y="72"/>
                </a:cxn>
                <a:cxn ang="0">
                  <a:pos x="11" y="70"/>
                </a:cxn>
                <a:cxn ang="0">
                  <a:pos x="11" y="68"/>
                </a:cxn>
                <a:cxn ang="0">
                  <a:pos x="10" y="66"/>
                </a:cxn>
                <a:cxn ang="0">
                  <a:pos x="10" y="63"/>
                </a:cxn>
                <a:cxn ang="0">
                  <a:pos x="10" y="61"/>
                </a:cxn>
                <a:cxn ang="0">
                  <a:pos x="8" y="59"/>
                </a:cxn>
                <a:cxn ang="0">
                  <a:pos x="8" y="55"/>
                </a:cxn>
                <a:cxn ang="0">
                  <a:pos x="6" y="53"/>
                </a:cxn>
                <a:cxn ang="0">
                  <a:pos x="6" y="51"/>
                </a:cxn>
                <a:cxn ang="0">
                  <a:pos x="6" y="49"/>
                </a:cxn>
                <a:cxn ang="0">
                  <a:pos x="4" y="46"/>
                </a:cxn>
                <a:cxn ang="0">
                  <a:pos x="4" y="42"/>
                </a:cxn>
                <a:cxn ang="0">
                  <a:pos x="2" y="40"/>
                </a:cxn>
                <a:cxn ang="0">
                  <a:pos x="2" y="38"/>
                </a:cxn>
                <a:cxn ang="0">
                  <a:pos x="2" y="36"/>
                </a:cxn>
                <a:cxn ang="0">
                  <a:pos x="2" y="32"/>
                </a:cxn>
                <a:cxn ang="0">
                  <a:pos x="2" y="30"/>
                </a:cxn>
                <a:cxn ang="0">
                  <a:pos x="2" y="27"/>
                </a:cxn>
                <a:cxn ang="0">
                  <a:pos x="0" y="25"/>
                </a:cxn>
                <a:cxn ang="0">
                  <a:pos x="0" y="21"/>
                </a:cxn>
                <a:cxn ang="0">
                  <a:pos x="0" y="19"/>
                </a:cxn>
                <a:cxn ang="0">
                  <a:pos x="0" y="15"/>
                </a:cxn>
                <a:cxn ang="0">
                  <a:pos x="0" y="11"/>
                </a:cxn>
                <a:cxn ang="0">
                  <a:pos x="0" y="8"/>
                </a:cxn>
                <a:cxn ang="0">
                  <a:pos x="0" y="6"/>
                </a:cxn>
                <a:cxn ang="0">
                  <a:pos x="0" y="2"/>
                </a:cxn>
                <a:cxn ang="0">
                  <a:pos x="0" y="0"/>
                </a:cxn>
                <a:cxn ang="0">
                  <a:pos x="19" y="93"/>
                </a:cxn>
              </a:cxnLst>
              <a:rect l="0" t="0" r="r" b="b"/>
              <a:pathLst>
                <a:path w="19" h="93">
                  <a:moveTo>
                    <a:pt x="19" y="93"/>
                  </a:moveTo>
                  <a:lnTo>
                    <a:pt x="17" y="84"/>
                  </a:lnTo>
                  <a:lnTo>
                    <a:pt x="15" y="82"/>
                  </a:lnTo>
                  <a:lnTo>
                    <a:pt x="15" y="80"/>
                  </a:lnTo>
                  <a:lnTo>
                    <a:pt x="13" y="78"/>
                  </a:lnTo>
                  <a:lnTo>
                    <a:pt x="13" y="76"/>
                  </a:lnTo>
                  <a:lnTo>
                    <a:pt x="13" y="72"/>
                  </a:lnTo>
                  <a:lnTo>
                    <a:pt x="11" y="70"/>
                  </a:lnTo>
                  <a:lnTo>
                    <a:pt x="11" y="68"/>
                  </a:lnTo>
                  <a:lnTo>
                    <a:pt x="10" y="66"/>
                  </a:lnTo>
                  <a:lnTo>
                    <a:pt x="10" y="63"/>
                  </a:lnTo>
                  <a:lnTo>
                    <a:pt x="10" y="61"/>
                  </a:lnTo>
                  <a:lnTo>
                    <a:pt x="8" y="59"/>
                  </a:lnTo>
                  <a:lnTo>
                    <a:pt x="8" y="55"/>
                  </a:lnTo>
                  <a:lnTo>
                    <a:pt x="6" y="53"/>
                  </a:lnTo>
                  <a:lnTo>
                    <a:pt x="6" y="51"/>
                  </a:lnTo>
                  <a:lnTo>
                    <a:pt x="6" y="49"/>
                  </a:lnTo>
                  <a:lnTo>
                    <a:pt x="4" y="46"/>
                  </a:lnTo>
                  <a:lnTo>
                    <a:pt x="4" y="42"/>
                  </a:lnTo>
                  <a:lnTo>
                    <a:pt x="2" y="40"/>
                  </a:lnTo>
                  <a:lnTo>
                    <a:pt x="2" y="38"/>
                  </a:lnTo>
                  <a:lnTo>
                    <a:pt x="2" y="36"/>
                  </a:lnTo>
                  <a:lnTo>
                    <a:pt x="2" y="32"/>
                  </a:lnTo>
                  <a:lnTo>
                    <a:pt x="2" y="30"/>
                  </a:lnTo>
                  <a:lnTo>
                    <a:pt x="2" y="27"/>
                  </a:lnTo>
                  <a:lnTo>
                    <a:pt x="0" y="25"/>
                  </a:lnTo>
                  <a:lnTo>
                    <a:pt x="0" y="21"/>
                  </a:lnTo>
                  <a:lnTo>
                    <a:pt x="0" y="19"/>
                  </a:lnTo>
                  <a:lnTo>
                    <a:pt x="0" y="15"/>
                  </a:lnTo>
                  <a:lnTo>
                    <a:pt x="0" y="11"/>
                  </a:lnTo>
                  <a:lnTo>
                    <a:pt x="0" y="8"/>
                  </a:lnTo>
                  <a:lnTo>
                    <a:pt x="0" y="6"/>
                  </a:lnTo>
                  <a:lnTo>
                    <a:pt x="0" y="2"/>
                  </a:lnTo>
                  <a:lnTo>
                    <a:pt x="0" y="0"/>
                  </a:lnTo>
                  <a:lnTo>
                    <a:pt x="19" y="93"/>
                  </a:lnTo>
                  <a:close/>
                </a:path>
              </a:pathLst>
            </a:custGeom>
            <a:solidFill>
              <a:srgbClr val="FFFFFF"/>
            </a:solidFill>
            <a:ln w="9525">
              <a:noFill/>
              <a:round/>
              <a:headEnd/>
              <a:tailEnd/>
            </a:ln>
          </p:spPr>
          <p:txBody>
            <a:bodyPr/>
            <a:lstStyle/>
            <a:p>
              <a:endParaRPr lang="en-GB"/>
            </a:p>
          </p:txBody>
        </p:sp>
        <p:sp>
          <p:nvSpPr>
            <p:cNvPr id="148510" name="Freeform 30"/>
            <p:cNvSpPr>
              <a:spLocks/>
            </p:cNvSpPr>
            <p:nvPr/>
          </p:nvSpPr>
          <p:spPr bwMode="auto">
            <a:xfrm>
              <a:off x="1151" y="2377"/>
              <a:ext cx="19" cy="93"/>
            </a:xfrm>
            <a:custGeom>
              <a:avLst/>
              <a:gdLst/>
              <a:ahLst/>
              <a:cxnLst>
                <a:cxn ang="0">
                  <a:pos x="19" y="93"/>
                </a:cxn>
                <a:cxn ang="0">
                  <a:pos x="17" y="83"/>
                </a:cxn>
                <a:cxn ang="0">
                  <a:pos x="15" y="82"/>
                </a:cxn>
                <a:cxn ang="0">
                  <a:pos x="15" y="80"/>
                </a:cxn>
                <a:cxn ang="0">
                  <a:pos x="13" y="78"/>
                </a:cxn>
                <a:cxn ang="0">
                  <a:pos x="13" y="76"/>
                </a:cxn>
                <a:cxn ang="0">
                  <a:pos x="13" y="72"/>
                </a:cxn>
                <a:cxn ang="0">
                  <a:pos x="11" y="70"/>
                </a:cxn>
                <a:cxn ang="0">
                  <a:pos x="11" y="68"/>
                </a:cxn>
                <a:cxn ang="0">
                  <a:pos x="9" y="66"/>
                </a:cxn>
                <a:cxn ang="0">
                  <a:pos x="9" y="63"/>
                </a:cxn>
                <a:cxn ang="0">
                  <a:pos x="9" y="61"/>
                </a:cxn>
                <a:cxn ang="0">
                  <a:pos x="8" y="59"/>
                </a:cxn>
                <a:cxn ang="0">
                  <a:pos x="8" y="55"/>
                </a:cxn>
                <a:cxn ang="0">
                  <a:pos x="6" y="53"/>
                </a:cxn>
                <a:cxn ang="0">
                  <a:pos x="6" y="51"/>
                </a:cxn>
                <a:cxn ang="0">
                  <a:pos x="6" y="49"/>
                </a:cxn>
                <a:cxn ang="0">
                  <a:pos x="4" y="45"/>
                </a:cxn>
                <a:cxn ang="0">
                  <a:pos x="4" y="42"/>
                </a:cxn>
                <a:cxn ang="0">
                  <a:pos x="2" y="40"/>
                </a:cxn>
                <a:cxn ang="0">
                  <a:pos x="2" y="38"/>
                </a:cxn>
                <a:cxn ang="0">
                  <a:pos x="2" y="36"/>
                </a:cxn>
                <a:cxn ang="0">
                  <a:pos x="2" y="32"/>
                </a:cxn>
                <a:cxn ang="0">
                  <a:pos x="2" y="30"/>
                </a:cxn>
                <a:cxn ang="0">
                  <a:pos x="2" y="26"/>
                </a:cxn>
                <a:cxn ang="0">
                  <a:pos x="0" y="25"/>
                </a:cxn>
                <a:cxn ang="0">
                  <a:pos x="0" y="21"/>
                </a:cxn>
                <a:cxn ang="0">
                  <a:pos x="0" y="19"/>
                </a:cxn>
                <a:cxn ang="0">
                  <a:pos x="0" y="15"/>
                </a:cxn>
                <a:cxn ang="0">
                  <a:pos x="0" y="11"/>
                </a:cxn>
                <a:cxn ang="0">
                  <a:pos x="0" y="7"/>
                </a:cxn>
                <a:cxn ang="0">
                  <a:pos x="0" y="6"/>
                </a:cxn>
                <a:cxn ang="0">
                  <a:pos x="0" y="2"/>
                </a:cxn>
                <a:cxn ang="0">
                  <a:pos x="0" y="0"/>
                </a:cxn>
              </a:cxnLst>
              <a:rect l="0" t="0" r="r" b="b"/>
              <a:pathLst>
                <a:path w="19" h="93">
                  <a:moveTo>
                    <a:pt x="19" y="93"/>
                  </a:moveTo>
                  <a:lnTo>
                    <a:pt x="17" y="83"/>
                  </a:lnTo>
                  <a:lnTo>
                    <a:pt x="15" y="82"/>
                  </a:lnTo>
                  <a:lnTo>
                    <a:pt x="15" y="80"/>
                  </a:lnTo>
                  <a:lnTo>
                    <a:pt x="13" y="78"/>
                  </a:lnTo>
                  <a:lnTo>
                    <a:pt x="13" y="76"/>
                  </a:lnTo>
                  <a:lnTo>
                    <a:pt x="13" y="72"/>
                  </a:lnTo>
                  <a:lnTo>
                    <a:pt x="11" y="70"/>
                  </a:lnTo>
                  <a:lnTo>
                    <a:pt x="11" y="68"/>
                  </a:lnTo>
                  <a:lnTo>
                    <a:pt x="9" y="66"/>
                  </a:lnTo>
                  <a:lnTo>
                    <a:pt x="9" y="63"/>
                  </a:lnTo>
                  <a:lnTo>
                    <a:pt x="9" y="61"/>
                  </a:lnTo>
                  <a:lnTo>
                    <a:pt x="8" y="59"/>
                  </a:lnTo>
                  <a:lnTo>
                    <a:pt x="8" y="55"/>
                  </a:lnTo>
                  <a:lnTo>
                    <a:pt x="6" y="53"/>
                  </a:lnTo>
                  <a:lnTo>
                    <a:pt x="6" y="51"/>
                  </a:lnTo>
                  <a:lnTo>
                    <a:pt x="6" y="49"/>
                  </a:lnTo>
                  <a:lnTo>
                    <a:pt x="4" y="45"/>
                  </a:lnTo>
                  <a:lnTo>
                    <a:pt x="4" y="42"/>
                  </a:lnTo>
                  <a:lnTo>
                    <a:pt x="2" y="40"/>
                  </a:lnTo>
                  <a:lnTo>
                    <a:pt x="2" y="38"/>
                  </a:lnTo>
                  <a:lnTo>
                    <a:pt x="2" y="36"/>
                  </a:lnTo>
                  <a:lnTo>
                    <a:pt x="2" y="32"/>
                  </a:lnTo>
                  <a:lnTo>
                    <a:pt x="2" y="30"/>
                  </a:lnTo>
                  <a:lnTo>
                    <a:pt x="2" y="26"/>
                  </a:lnTo>
                  <a:lnTo>
                    <a:pt x="0" y="25"/>
                  </a:lnTo>
                  <a:lnTo>
                    <a:pt x="0" y="21"/>
                  </a:lnTo>
                  <a:lnTo>
                    <a:pt x="0" y="19"/>
                  </a:lnTo>
                  <a:lnTo>
                    <a:pt x="0" y="15"/>
                  </a:lnTo>
                  <a:lnTo>
                    <a:pt x="0" y="11"/>
                  </a:lnTo>
                  <a:lnTo>
                    <a:pt x="0" y="7"/>
                  </a:lnTo>
                  <a:lnTo>
                    <a:pt x="0" y="6"/>
                  </a:lnTo>
                  <a:lnTo>
                    <a:pt x="0" y="2"/>
                  </a:lnTo>
                  <a:lnTo>
                    <a:pt x="0" y="0"/>
                  </a:lnTo>
                </a:path>
              </a:pathLst>
            </a:custGeom>
            <a:noFill/>
            <a:ln w="9525">
              <a:solidFill>
                <a:srgbClr val="000000"/>
              </a:solidFill>
              <a:prstDash val="solid"/>
              <a:round/>
              <a:headEnd/>
              <a:tailEnd/>
            </a:ln>
          </p:spPr>
          <p:txBody>
            <a:bodyPr/>
            <a:lstStyle/>
            <a:p>
              <a:endParaRPr lang="en-GB"/>
            </a:p>
          </p:txBody>
        </p:sp>
        <p:sp>
          <p:nvSpPr>
            <p:cNvPr id="148511" name="Arc 31"/>
            <p:cNvSpPr>
              <a:spLocks/>
            </p:cNvSpPr>
            <p:nvPr/>
          </p:nvSpPr>
          <p:spPr bwMode="auto">
            <a:xfrm>
              <a:off x="1127" y="2271"/>
              <a:ext cx="47" cy="69"/>
            </a:xfrm>
            <a:custGeom>
              <a:avLst/>
              <a:gdLst>
                <a:gd name="G0" fmla="+- 7685 0 0"/>
                <a:gd name="G1" fmla="+- 0 0 0"/>
                <a:gd name="G2" fmla="+- 21600 0 0"/>
                <a:gd name="T0" fmla="*/ 14687 w 14687"/>
                <a:gd name="T1" fmla="*/ 20433 h 21600"/>
                <a:gd name="T2" fmla="*/ 0 w 14687"/>
                <a:gd name="T3" fmla="*/ 20187 h 21600"/>
                <a:gd name="T4" fmla="*/ 7685 w 14687"/>
                <a:gd name="T5" fmla="*/ 0 h 21600"/>
              </a:gdLst>
              <a:ahLst/>
              <a:cxnLst>
                <a:cxn ang="0">
                  <a:pos x="T0" y="T1"/>
                </a:cxn>
                <a:cxn ang="0">
                  <a:pos x="T2" y="T3"/>
                </a:cxn>
                <a:cxn ang="0">
                  <a:pos x="T4" y="T5"/>
                </a:cxn>
              </a:cxnLst>
              <a:rect l="0" t="0" r="r" b="b"/>
              <a:pathLst>
                <a:path w="14687" h="21600" fill="none" extrusionOk="0">
                  <a:moveTo>
                    <a:pt x="14687" y="20433"/>
                  </a:moveTo>
                  <a:cubicBezTo>
                    <a:pt x="12433" y="21205"/>
                    <a:pt x="10067" y="21599"/>
                    <a:pt x="7685" y="21600"/>
                  </a:cubicBezTo>
                  <a:cubicBezTo>
                    <a:pt x="5058" y="21600"/>
                    <a:pt x="2454" y="21121"/>
                    <a:pt x="0" y="20186"/>
                  </a:cubicBezTo>
                </a:path>
                <a:path w="14687" h="21600" stroke="0" extrusionOk="0">
                  <a:moveTo>
                    <a:pt x="14687" y="20433"/>
                  </a:moveTo>
                  <a:cubicBezTo>
                    <a:pt x="12433" y="21205"/>
                    <a:pt x="10067" y="21599"/>
                    <a:pt x="7685" y="21600"/>
                  </a:cubicBezTo>
                  <a:cubicBezTo>
                    <a:pt x="5058" y="21600"/>
                    <a:pt x="2454" y="21121"/>
                    <a:pt x="0" y="20186"/>
                  </a:cubicBezTo>
                  <a:lnTo>
                    <a:pt x="7685" y="0"/>
                  </a:lnTo>
                  <a:close/>
                </a:path>
              </a:pathLst>
            </a:custGeom>
            <a:solidFill>
              <a:srgbClr val="000000"/>
            </a:solidFill>
            <a:ln w="9525">
              <a:noFill/>
              <a:round/>
              <a:headEnd/>
              <a:tailEnd/>
            </a:ln>
          </p:spPr>
          <p:txBody>
            <a:bodyPr/>
            <a:lstStyle/>
            <a:p>
              <a:endParaRPr lang="en-GB"/>
            </a:p>
          </p:txBody>
        </p:sp>
        <p:sp>
          <p:nvSpPr>
            <p:cNvPr id="148512" name="Line 32"/>
            <p:cNvSpPr>
              <a:spLocks noChangeShapeType="1"/>
            </p:cNvSpPr>
            <p:nvPr/>
          </p:nvSpPr>
          <p:spPr bwMode="auto">
            <a:xfrm flipV="1">
              <a:off x="1149" y="2335"/>
              <a:ext cx="1" cy="44"/>
            </a:xfrm>
            <a:prstGeom prst="line">
              <a:avLst/>
            </a:prstGeom>
            <a:noFill/>
            <a:ln w="9525">
              <a:solidFill>
                <a:srgbClr val="000000"/>
              </a:solidFill>
              <a:round/>
              <a:headEnd/>
              <a:tailEnd/>
            </a:ln>
          </p:spPr>
          <p:txBody>
            <a:bodyPr/>
            <a:lstStyle/>
            <a:p>
              <a:endParaRPr lang="en-GB"/>
            </a:p>
          </p:txBody>
        </p:sp>
        <p:sp>
          <p:nvSpPr>
            <p:cNvPr id="148513" name="Line 33"/>
            <p:cNvSpPr>
              <a:spLocks noChangeShapeType="1"/>
            </p:cNvSpPr>
            <p:nvPr/>
          </p:nvSpPr>
          <p:spPr bwMode="auto">
            <a:xfrm flipV="1">
              <a:off x="2946" y="1347"/>
              <a:ext cx="488" cy="834"/>
            </a:xfrm>
            <a:prstGeom prst="line">
              <a:avLst/>
            </a:prstGeom>
            <a:noFill/>
            <a:ln w="47625">
              <a:solidFill>
                <a:srgbClr val="000000"/>
              </a:solidFill>
              <a:round/>
              <a:headEnd/>
              <a:tailEnd/>
            </a:ln>
          </p:spPr>
          <p:txBody>
            <a:bodyPr/>
            <a:lstStyle/>
            <a:p>
              <a:endParaRPr lang="en-GB"/>
            </a:p>
          </p:txBody>
        </p:sp>
        <p:sp>
          <p:nvSpPr>
            <p:cNvPr id="148514" name="Line 34"/>
            <p:cNvSpPr>
              <a:spLocks noChangeShapeType="1"/>
            </p:cNvSpPr>
            <p:nvPr/>
          </p:nvSpPr>
          <p:spPr bwMode="auto">
            <a:xfrm flipH="1">
              <a:off x="2130" y="2198"/>
              <a:ext cx="803" cy="1819"/>
            </a:xfrm>
            <a:prstGeom prst="line">
              <a:avLst/>
            </a:prstGeom>
            <a:noFill/>
            <a:ln w="46038">
              <a:solidFill>
                <a:srgbClr val="000000"/>
              </a:solidFill>
              <a:round/>
              <a:headEnd/>
              <a:tailEnd/>
            </a:ln>
          </p:spPr>
          <p:txBody>
            <a:bodyPr/>
            <a:lstStyle/>
            <a:p>
              <a:endParaRPr lang="en-GB"/>
            </a:p>
          </p:txBody>
        </p:sp>
        <p:sp>
          <p:nvSpPr>
            <p:cNvPr id="148515" name="Arc 35"/>
            <p:cNvSpPr>
              <a:spLocks/>
            </p:cNvSpPr>
            <p:nvPr/>
          </p:nvSpPr>
          <p:spPr bwMode="auto">
            <a:xfrm>
              <a:off x="630" y="2544"/>
              <a:ext cx="2003" cy="819"/>
            </a:xfrm>
            <a:custGeom>
              <a:avLst/>
              <a:gdLst>
                <a:gd name="G0" fmla="+- 21600 0 0"/>
                <a:gd name="G1" fmla="+- 0 0 0"/>
                <a:gd name="G2" fmla="+- 21600 0 0"/>
                <a:gd name="T0" fmla="*/ 21589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589" y="21599"/>
                  </a:moveTo>
                  <a:cubicBezTo>
                    <a:pt x="9663" y="21593"/>
                    <a:pt x="0" y="11925"/>
                    <a:pt x="0" y="0"/>
                  </a:cubicBezTo>
                </a:path>
                <a:path w="21600" h="21600" stroke="0" extrusionOk="0">
                  <a:moveTo>
                    <a:pt x="21589" y="21599"/>
                  </a:moveTo>
                  <a:cubicBezTo>
                    <a:pt x="9663" y="21593"/>
                    <a:pt x="0" y="11925"/>
                    <a:pt x="0" y="0"/>
                  </a:cubicBezTo>
                  <a:lnTo>
                    <a:pt x="21600" y="0"/>
                  </a:lnTo>
                  <a:close/>
                </a:path>
              </a:pathLst>
            </a:custGeom>
            <a:noFill/>
            <a:ln w="26988">
              <a:solidFill>
                <a:srgbClr val="000000"/>
              </a:solidFill>
              <a:round/>
              <a:headEnd/>
              <a:tailEnd/>
            </a:ln>
          </p:spPr>
          <p:txBody>
            <a:bodyPr/>
            <a:lstStyle/>
            <a:p>
              <a:endParaRPr lang="en-GB"/>
            </a:p>
          </p:txBody>
        </p:sp>
        <p:sp>
          <p:nvSpPr>
            <p:cNvPr id="148516" name="Freeform 36"/>
            <p:cNvSpPr>
              <a:spLocks/>
            </p:cNvSpPr>
            <p:nvPr/>
          </p:nvSpPr>
          <p:spPr bwMode="auto">
            <a:xfrm>
              <a:off x="1537" y="2314"/>
              <a:ext cx="21" cy="93"/>
            </a:xfrm>
            <a:custGeom>
              <a:avLst/>
              <a:gdLst/>
              <a:ahLst/>
              <a:cxnLst>
                <a:cxn ang="0">
                  <a:pos x="21" y="93"/>
                </a:cxn>
                <a:cxn ang="0">
                  <a:pos x="19" y="84"/>
                </a:cxn>
                <a:cxn ang="0">
                  <a:pos x="18" y="82"/>
                </a:cxn>
                <a:cxn ang="0">
                  <a:pos x="18" y="80"/>
                </a:cxn>
                <a:cxn ang="0">
                  <a:pos x="16" y="78"/>
                </a:cxn>
                <a:cxn ang="0">
                  <a:pos x="16" y="76"/>
                </a:cxn>
                <a:cxn ang="0">
                  <a:pos x="16" y="72"/>
                </a:cxn>
                <a:cxn ang="0">
                  <a:pos x="14" y="70"/>
                </a:cxn>
                <a:cxn ang="0">
                  <a:pos x="14" y="69"/>
                </a:cxn>
                <a:cxn ang="0">
                  <a:pos x="12" y="67"/>
                </a:cxn>
                <a:cxn ang="0">
                  <a:pos x="12" y="63"/>
                </a:cxn>
                <a:cxn ang="0">
                  <a:pos x="12" y="61"/>
                </a:cxn>
                <a:cxn ang="0">
                  <a:pos x="10" y="59"/>
                </a:cxn>
                <a:cxn ang="0">
                  <a:pos x="10" y="55"/>
                </a:cxn>
                <a:cxn ang="0">
                  <a:pos x="8" y="53"/>
                </a:cxn>
                <a:cxn ang="0">
                  <a:pos x="8" y="51"/>
                </a:cxn>
                <a:cxn ang="0">
                  <a:pos x="8" y="50"/>
                </a:cxn>
                <a:cxn ang="0">
                  <a:pos x="6" y="46"/>
                </a:cxn>
                <a:cxn ang="0">
                  <a:pos x="6" y="42"/>
                </a:cxn>
                <a:cxn ang="0">
                  <a:pos x="4" y="40"/>
                </a:cxn>
                <a:cxn ang="0">
                  <a:pos x="4" y="38"/>
                </a:cxn>
                <a:cxn ang="0">
                  <a:pos x="4" y="36"/>
                </a:cxn>
                <a:cxn ang="0">
                  <a:pos x="4" y="32"/>
                </a:cxn>
                <a:cxn ang="0">
                  <a:pos x="4" y="30"/>
                </a:cxn>
                <a:cxn ang="0">
                  <a:pos x="4" y="27"/>
                </a:cxn>
                <a:cxn ang="0">
                  <a:pos x="0" y="25"/>
                </a:cxn>
                <a:cxn ang="0">
                  <a:pos x="0" y="21"/>
                </a:cxn>
                <a:cxn ang="0">
                  <a:pos x="0" y="19"/>
                </a:cxn>
                <a:cxn ang="0">
                  <a:pos x="0" y="15"/>
                </a:cxn>
                <a:cxn ang="0">
                  <a:pos x="0" y="11"/>
                </a:cxn>
                <a:cxn ang="0">
                  <a:pos x="0" y="8"/>
                </a:cxn>
                <a:cxn ang="0">
                  <a:pos x="0" y="6"/>
                </a:cxn>
                <a:cxn ang="0">
                  <a:pos x="0" y="2"/>
                </a:cxn>
                <a:cxn ang="0">
                  <a:pos x="0" y="0"/>
                </a:cxn>
                <a:cxn ang="0">
                  <a:pos x="21" y="93"/>
                </a:cxn>
              </a:cxnLst>
              <a:rect l="0" t="0" r="r" b="b"/>
              <a:pathLst>
                <a:path w="21" h="93">
                  <a:moveTo>
                    <a:pt x="21" y="93"/>
                  </a:moveTo>
                  <a:lnTo>
                    <a:pt x="19" y="84"/>
                  </a:lnTo>
                  <a:lnTo>
                    <a:pt x="18" y="82"/>
                  </a:lnTo>
                  <a:lnTo>
                    <a:pt x="18" y="80"/>
                  </a:lnTo>
                  <a:lnTo>
                    <a:pt x="16" y="78"/>
                  </a:lnTo>
                  <a:lnTo>
                    <a:pt x="16" y="76"/>
                  </a:lnTo>
                  <a:lnTo>
                    <a:pt x="16" y="72"/>
                  </a:lnTo>
                  <a:lnTo>
                    <a:pt x="14" y="70"/>
                  </a:lnTo>
                  <a:lnTo>
                    <a:pt x="14" y="69"/>
                  </a:lnTo>
                  <a:lnTo>
                    <a:pt x="12" y="67"/>
                  </a:lnTo>
                  <a:lnTo>
                    <a:pt x="12" y="63"/>
                  </a:lnTo>
                  <a:lnTo>
                    <a:pt x="12" y="61"/>
                  </a:lnTo>
                  <a:lnTo>
                    <a:pt x="10" y="59"/>
                  </a:lnTo>
                  <a:lnTo>
                    <a:pt x="10" y="55"/>
                  </a:lnTo>
                  <a:lnTo>
                    <a:pt x="8" y="53"/>
                  </a:lnTo>
                  <a:lnTo>
                    <a:pt x="8" y="51"/>
                  </a:lnTo>
                  <a:lnTo>
                    <a:pt x="8" y="50"/>
                  </a:lnTo>
                  <a:lnTo>
                    <a:pt x="6" y="46"/>
                  </a:lnTo>
                  <a:lnTo>
                    <a:pt x="6" y="42"/>
                  </a:lnTo>
                  <a:lnTo>
                    <a:pt x="4" y="40"/>
                  </a:lnTo>
                  <a:lnTo>
                    <a:pt x="4" y="38"/>
                  </a:lnTo>
                  <a:lnTo>
                    <a:pt x="4" y="36"/>
                  </a:lnTo>
                  <a:lnTo>
                    <a:pt x="4" y="32"/>
                  </a:lnTo>
                  <a:lnTo>
                    <a:pt x="4" y="30"/>
                  </a:lnTo>
                  <a:lnTo>
                    <a:pt x="4" y="27"/>
                  </a:lnTo>
                  <a:lnTo>
                    <a:pt x="0" y="25"/>
                  </a:lnTo>
                  <a:lnTo>
                    <a:pt x="0" y="21"/>
                  </a:lnTo>
                  <a:lnTo>
                    <a:pt x="0" y="19"/>
                  </a:lnTo>
                  <a:lnTo>
                    <a:pt x="0" y="15"/>
                  </a:lnTo>
                  <a:lnTo>
                    <a:pt x="0" y="11"/>
                  </a:lnTo>
                  <a:lnTo>
                    <a:pt x="0" y="8"/>
                  </a:lnTo>
                  <a:lnTo>
                    <a:pt x="0" y="6"/>
                  </a:lnTo>
                  <a:lnTo>
                    <a:pt x="0" y="2"/>
                  </a:lnTo>
                  <a:lnTo>
                    <a:pt x="0" y="0"/>
                  </a:lnTo>
                  <a:lnTo>
                    <a:pt x="21" y="93"/>
                  </a:lnTo>
                  <a:close/>
                </a:path>
              </a:pathLst>
            </a:custGeom>
            <a:solidFill>
              <a:srgbClr val="FFFFFF"/>
            </a:solidFill>
            <a:ln w="9525">
              <a:noFill/>
              <a:round/>
              <a:headEnd/>
              <a:tailEnd/>
            </a:ln>
          </p:spPr>
          <p:txBody>
            <a:bodyPr/>
            <a:lstStyle/>
            <a:p>
              <a:endParaRPr lang="en-GB"/>
            </a:p>
          </p:txBody>
        </p:sp>
        <p:sp>
          <p:nvSpPr>
            <p:cNvPr id="148517" name="Freeform 37"/>
            <p:cNvSpPr>
              <a:spLocks/>
            </p:cNvSpPr>
            <p:nvPr/>
          </p:nvSpPr>
          <p:spPr bwMode="auto">
            <a:xfrm>
              <a:off x="1537" y="2314"/>
              <a:ext cx="21" cy="93"/>
            </a:xfrm>
            <a:custGeom>
              <a:avLst/>
              <a:gdLst/>
              <a:ahLst/>
              <a:cxnLst>
                <a:cxn ang="0">
                  <a:pos x="21" y="93"/>
                </a:cxn>
                <a:cxn ang="0">
                  <a:pos x="19" y="84"/>
                </a:cxn>
                <a:cxn ang="0">
                  <a:pos x="18" y="82"/>
                </a:cxn>
                <a:cxn ang="0">
                  <a:pos x="18" y="80"/>
                </a:cxn>
                <a:cxn ang="0">
                  <a:pos x="16" y="78"/>
                </a:cxn>
                <a:cxn ang="0">
                  <a:pos x="16" y="76"/>
                </a:cxn>
                <a:cxn ang="0">
                  <a:pos x="16" y="72"/>
                </a:cxn>
                <a:cxn ang="0">
                  <a:pos x="14" y="70"/>
                </a:cxn>
                <a:cxn ang="0">
                  <a:pos x="14" y="69"/>
                </a:cxn>
                <a:cxn ang="0">
                  <a:pos x="12" y="67"/>
                </a:cxn>
                <a:cxn ang="0">
                  <a:pos x="12" y="63"/>
                </a:cxn>
                <a:cxn ang="0">
                  <a:pos x="12" y="61"/>
                </a:cxn>
                <a:cxn ang="0">
                  <a:pos x="10" y="59"/>
                </a:cxn>
                <a:cxn ang="0">
                  <a:pos x="10" y="55"/>
                </a:cxn>
                <a:cxn ang="0">
                  <a:pos x="8" y="53"/>
                </a:cxn>
                <a:cxn ang="0">
                  <a:pos x="8" y="51"/>
                </a:cxn>
                <a:cxn ang="0">
                  <a:pos x="8" y="50"/>
                </a:cxn>
                <a:cxn ang="0">
                  <a:pos x="6" y="46"/>
                </a:cxn>
                <a:cxn ang="0">
                  <a:pos x="6" y="42"/>
                </a:cxn>
                <a:cxn ang="0">
                  <a:pos x="4" y="40"/>
                </a:cxn>
                <a:cxn ang="0">
                  <a:pos x="4" y="38"/>
                </a:cxn>
                <a:cxn ang="0">
                  <a:pos x="4" y="36"/>
                </a:cxn>
                <a:cxn ang="0">
                  <a:pos x="4" y="32"/>
                </a:cxn>
                <a:cxn ang="0">
                  <a:pos x="4" y="30"/>
                </a:cxn>
                <a:cxn ang="0">
                  <a:pos x="4" y="27"/>
                </a:cxn>
                <a:cxn ang="0">
                  <a:pos x="0" y="25"/>
                </a:cxn>
                <a:cxn ang="0">
                  <a:pos x="0" y="21"/>
                </a:cxn>
                <a:cxn ang="0">
                  <a:pos x="0" y="19"/>
                </a:cxn>
                <a:cxn ang="0">
                  <a:pos x="0" y="15"/>
                </a:cxn>
                <a:cxn ang="0">
                  <a:pos x="0" y="11"/>
                </a:cxn>
                <a:cxn ang="0">
                  <a:pos x="0" y="8"/>
                </a:cxn>
                <a:cxn ang="0">
                  <a:pos x="0" y="6"/>
                </a:cxn>
                <a:cxn ang="0">
                  <a:pos x="0" y="2"/>
                </a:cxn>
                <a:cxn ang="0">
                  <a:pos x="0" y="0"/>
                </a:cxn>
                <a:cxn ang="0">
                  <a:pos x="21" y="93"/>
                </a:cxn>
              </a:cxnLst>
              <a:rect l="0" t="0" r="r" b="b"/>
              <a:pathLst>
                <a:path w="21" h="93">
                  <a:moveTo>
                    <a:pt x="21" y="93"/>
                  </a:moveTo>
                  <a:lnTo>
                    <a:pt x="19" y="84"/>
                  </a:lnTo>
                  <a:lnTo>
                    <a:pt x="18" y="82"/>
                  </a:lnTo>
                  <a:lnTo>
                    <a:pt x="18" y="80"/>
                  </a:lnTo>
                  <a:lnTo>
                    <a:pt x="16" y="78"/>
                  </a:lnTo>
                  <a:lnTo>
                    <a:pt x="16" y="76"/>
                  </a:lnTo>
                  <a:lnTo>
                    <a:pt x="16" y="72"/>
                  </a:lnTo>
                  <a:lnTo>
                    <a:pt x="14" y="70"/>
                  </a:lnTo>
                  <a:lnTo>
                    <a:pt x="14" y="69"/>
                  </a:lnTo>
                  <a:lnTo>
                    <a:pt x="12" y="67"/>
                  </a:lnTo>
                  <a:lnTo>
                    <a:pt x="12" y="63"/>
                  </a:lnTo>
                  <a:lnTo>
                    <a:pt x="12" y="61"/>
                  </a:lnTo>
                  <a:lnTo>
                    <a:pt x="10" y="59"/>
                  </a:lnTo>
                  <a:lnTo>
                    <a:pt x="10" y="55"/>
                  </a:lnTo>
                  <a:lnTo>
                    <a:pt x="8" y="53"/>
                  </a:lnTo>
                  <a:lnTo>
                    <a:pt x="8" y="51"/>
                  </a:lnTo>
                  <a:lnTo>
                    <a:pt x="8" y="50"/>
                  </a:lnTo>
                  <a:lnTo>
                    <a:pt x="6" y="46"/>
                  </a:lnTo>
                  <a:lnTo>
                    <a:pt x="6" y="42"/>
                  </a:lnTo>
                  <a:lnTo>
                    <a:pt x="4" y="40"/>
                  </a:lnTo>
                  <a:lnTo>
                    <a:pt x="4" y="38"/>
                  </a:lnTo>
                  <a:lnTo>
                    <a:pt x="4" y="36"/>
                  </a:lnTo>
                  <a:lnTo>
                    <a:pt x="4" y="32"/>
                  </a:lnTo>
                  <a:lnTo>
                    <a:pt x="4" y="30"/>
                  </a:lnTo>
                  <a:lnTo>
                    <a:pt x="4" y="27"/>
                  </a:lnTo>
                  <a:lnTo>
                    <a:pt x="0" y="25"/>
                  </a:lnTo>
                  <a:lnTo>
                    <a:pt x="0" y="21"/>
                  </a:lnTo>
                  <a:lnTo>
                    <a:pt x="0" y="19"/>
                  </a:lnTo>
                  <a:lnTo>
                    <a:pt x="0" y="15"/>
                  </a:lnTo>
                  <a:lnTo>
                    <a:pt x="0" y="11"/>
                  </a:lnTo>
                  <a:lnTo>
                    <a:pt x="0" y="8"/>
                  </a:lnTo>
                  <a:lnTo>
                    <a:pt x="0" y="6"/>
                  </a:lnTo>
                  <a:lnTo>
                    <a:pt x="0" y="2"/>
                  </a:lnTo>
                  <a:lnTo>
                    <a:pt x="0" y="0"/>
                  </a:lnTo>
                  <a:lnTo>
                    <a:pt x="21" y="93"/>
                  </a:lnTo>
                  <a:close/>
                </a:path>
              </a:pathLst>
            </a:custGeom>
            <a:solidFill>
              <a:srgbClr val="FFFFFF"/>
            </a:solidFill>
            <a:ln w="9525">
              <a:noFill/>
              <a:round/>
              <a:headEnd/>
              <a:tailEnd/>
            </a:ln>
          </p:spPr>
          <p:txBody>
            <a:bodyPr/>
            <a:lstStyle/>
            <a:p>
              <a:endParaRPr lang="en-GB"/>
            </a:p>
          </p:txBody>
        </p:sp>
        <p:sp>
          <p:nvSpPr>
            <p:cNvPr id="148518" name="Freeform 38"/>
            <p:cNvSpPr>
              <a:spLocks/>
            </p:cNvSpPr>
            <p:nvPr/>
          </p:nvSpPr>
          <p:spPr bwMode="auto">
            <a:xfrm>
              <a:off x="1539" y="2316"/>
              <a:ext cx="21" cy="93"/>
            </a:xfrm>
            <a:custGeom>
              <a:avLst/>
              <a:gdLst/>
              <a:ahLst/>
              <a:cxnLst>
                <a:cxn ang="0">
                  <a:pos x="21" y="93"/>
                </a:cxn>
                <a:cxn ang="0">
                  <a:pos x="19" y="84"/>
                </a:cxn>
                <a:cxn ang="0">
                  <a:pos x="17" y="82"/>
                </a:cxn>
                <a:cxn ang="0">
                  <a:pos x="17" y="80"/>
                </a:cxn>
                <a:cxn ang="0">
                  <a:pos x="16" y="78"/>
                </a:cxn>
                <a:cxn ang="0">
                  <a:pos x="16" y="76"/>
                </a:cxn>
                <a:cxn ang="0">
                  <a:pos x="16" y="72"/>
                </a:cxn>
                <a:cxn ang="0">
                  <a:pos x="14" y="70"/>
                </a:cxn>
                <a:cxn ang="0">
                  <a:pos x="14" y="68"/>
                </a:cxn>
                <a:cxn ang="0">
                  <a:pos x="12" y="67"/>
                </a:cxn>
                <a:cxn ang="0">
                  <a:pos x="12" y="63"/>
                </a:cxn>
                <a:cxn ang="0">
                  <a:pos x="12" y="61"/>
                </a:cxn>
                <a:cxn ang="0">
                  <a:pos x="10" y="59"/>
                </a:cxn>
                <a:cxn ang="0">
                  <a:pos x="10" y="55"/>
                </a:cxn>
                <a:cxn ang="0">
                  <a:pos x="8" y="53"/>
                </a:cxn>
                <a:cxn ang="0">
                  <a:pos x="8" y="51"/>
                </a:cxn>
                <a:cxn ang="0">
                  <a:pos x="8" y="49"/>
                </a:cxn>
                <a:cxn ang="0">
                  <a:pos x="6" y="46"/>
                </a:cxn>
                <a:cxn ang="0">
                  <a:pos x="6" y="42"/>
                </a:cxn>
                <a:cxn ang="0">
                  <a:pos x="4" y="40"/>
                </a:cxn>
                <a:cxn ang="0">
                  <a:pos x="4" y="38"/>
                </a:cxn>
                <a:cxn ang="0">
                  <a:pos x="4" y="36"/>
                </a:cxn>
                <a:cxn ang="0">
                  <a:pos x="4" y="32"/>
                </a:cxn>
                <a:cxn ang="0">
                  <a:pos x="4" y="30"/>
                </a:cxn>
                <a:cxn ang="0">
                  <a:pos x="4" y="27"/>
                </a:cxn>
                <a:cxn ang="0">
                  <a:pos x="0" y="25"/>
                </a:cxn>
                <a:cxn ang="0">
                  <a:pos x="0" y="21"/>
                </a:cxn>
                <a:cxn ang="0">
                  <a:pos x="0" y="19"/>
                </a:cxn>
                <a:cxn ang="0">
                  <a:pos x="0" y="15"/>
                </a:cxn>
                <a:cxn ang="0">
                  <a:pos x="0" y="11"/>
                </a:cxn>
                <a:cxn ang="0">
                  <a:pos x="0" y="8"/>
                </a:cxn>
                <a:cxn ang="0">
                  <a:pos x="0" y="6"/>
                </a:cxn>
                <a:cxn ang="0">
                  <a:pos x="0" y="2"/>
                </a:cxn>
                <a:cxn ang="0">
                  <a:pos x="0" y="0"/>
                </a:cxn>
              </a:cxnLst>
              <a:rect l="0" t="0" r="r" b="b"/>
              <a:pathLst>
                <a:path w="21" h="93">
                  <a:moveTo>
                    <a:pt x="21" y="93"/>
                  </a:moveTo>
                  <a:lnTo>
                    <a:pt x="19" y="84"/>
                  </a:lnTo>
                  <a:lnTo>
                    <a:pt x="17" y="82"/>
                  </a:lnTo>
                  <a:lnTo>
                    <a:pt x="17" y="80"/>
                  </a:lnTo>
                  <a:lnTo>
                    <a:pt x="16" y="78"/>
                  </a:lnTo>
                  <a:lnTo>
                    <a:pt x="16" y="76"/>
                  </a:lnTo>
                  <a:lnTo>
                    <a:pt x="16" y="72"/>
                  </a:lnTo>
                  <a:lnTo>
                    <a:pt x="14" y="70"/>
                  </a:lnTo>
                  <a:lnTo>
                    <a:pt x="14" y="68"/>
                  </a:lnTo>
                  <a:lnTo>
                    <a:pt x="12" y="67"/>
                  </a:lnTo>
                  <a:lnTo>
                    <a:pt x="12" y="63"/>
                  </a:lnTo>
                  <a:lnTo>
                    <a:pt x="12" y="61"/>
                  </a:lnTo>
                  <a:lnTo>
                    <a:pt x="10" y="59"/>
                  </a:lnTo>
                  <a:lnTo>
                    <a:pt x="10" y="55"/>
                  </a:lnTo>
                  <a:lnTo>
                    <a:pt x="8" y="53"/>
                  </a:lnTo>
                  <a:lnTo>
                    <a:pt x="8" y="51"/>
                  </a:lnTo>
                  <a:lnTo>
                    <a:pt x="8" y="49"/>
                  </a:lnTo>
                  <a:lnTo>
                    <a:pt x="6" y="46"/>
                  </a:lnTo>
                  <a:lnTo>
                    <a:pt x="6" y="42"/>
                  </a:lnTo>
                  <a:lnTo>
                    <a:pt x="4" y="40"/>
                  </a:lnTo>
                  <a:lnTo>
                    <a:pt x="4" y="38"/>
                  </a:lnTo>
                  <a:lnTo>
                    <a:pt x="4" y="36"/>
                  </a:lnTo>
                  <a:lnTo>
                    <a:pt x="4" y="32"/>
                  </a:lnTo>
                  <a:lnTo>
                    <a:pt x="4" y="30"/>
                  </a:lnTo>
                  <a:lnTo>
                    <a:pt x="4" y="27"/>
                  </a:lnTo>
                  <a:lnTo>
                    <a:pt x="0" y="25"/>
                  </a:lnTo>
                  <a:lnTo>
                    <a:pt x="0" y="21"/>
                  </a:lnTo>
                  <a:lnTo>
                    <a:pt x="0" y="19"/>
                  </a:lnTo>
                  <a:lnTo>
                    <a:pt x="0" y="15"/>
                  </a:lnTo>
                  <a:lnTo>
                    <a:pt x="0" y="11"/>
                  </a:lnTo>
                  <a:lnTo>
                    <a:pt x="0" y="8"/>
                  </a:lnTo>
                  <a:lnTo>
                    <a:pt x="0" y="6"/>
                  </a:lnTo>
                  <a:lnTo>
                    <a:pt x="0" y="2"/>
                  </a:lnTo>
                  <a:lnTo>
                    <a:pt x="0" y="0"/>
                  </a:lnTo>
                </a:path>
              </a:pathLst>
            </a:custGeom>
            <a:noFill/>
            <a:ln w="9525">
              <a:solidFill>
                <a:srgbClr val="000000"/>
              </a:solidFill>
              <a:prstDash val="solid"/>
              <a:round/>
              <a:headEnd/>
              <a:tailEnd/>
            </a:ln>
          </p:spPr>
          <p:txBody>
            <a:bodyPr/>
            <a:lstStyle/>
            <a:p>
              <a:endParaRPr lang="en-GB"/>
            </a:p>
          </p:txBody>
        </p:sp>
        <p:sp>
          <p:nvSpPr>
            <p:cNvPr id="148519" name="Arc 39"/>
            <p:cNvSpPr>
              <a:spLocks/>
            </p:cNvSpPr>
            <p:nvPr/>
          </p:nvSpPr>
          <p:spPr bwMode="auto">
            <a:xfrm>
              <a:off x="1518" y="2210"/>
              <a:ext cx="46" cy="69"/>
            </a:xfrm>
            <a:custGeom>
              <a:avLst/>
              <a:gdLst>
                <a:gd name="G0" fmla="+- 7685 0 0"/>
                <a:gd name="G1" fmla="+- 0 0 0"/>
                <a:gd name="G2" fmla="+- 21600 0 0"/>
                <a:gd name="T0" fmla="*/ 14584 w 14584"/>
                <a:gd name="T1" fmla="*/ 20468 h 21600"/>
                <a:gd name="T2" fmla="*/ 0 w 14584"/>
                <a:gd name="T3" fmla="*/ 20187 h 21600"/>
                <a:gd name="T4" fmla="*/ 7685 w 14584"/>
                <a:gd name="T5" fmla="*/ 0 h 21600"/>
              </a:gdLst>
              <a:ahLst/>
              <a:cxnLst>
                <a:cxn ang="0">
                  <a:pos x="T0" y="T1"/>
                </a:cxn>
                <a:cxn ang="0">
                  <a:pos x="T2" y="T3"/>
                </a:cxn>
                <a:cxn ang="0">
                  <a:pos x="T4" y="T5"/>
                </a:cxn>
              </a:cxnLst>
              <a:rect l="0" t="0" r="r" b="b"/>
              <a:pathLst>
                <a:path w="14584" h="21600" fill="none" extrusionOk="0">
                  <a:moveTo>
                    <a:pt x="14584" y="20468"/>
                  </a:moveTo>
                  <a:cubicBezTo>
                    <a:pt x="12361" y="21217"/>
                    <a:pt x="10030" y="21599"/>
                    <a:pt x="7685" y="21600"/>
                  </a:cubicBezTo>
                  <a:cubicBezTo>
                    <a:pt x="5058" y="21600"/>
                    <a:pt x="2454" y="21121"/>
                    <a:pt x="0" y="20186"/>
                  </a:cubicBezTo>
                </a:path>
                <a:path w="14584" h="21600" stroke="0" extrusionOk="0">
                  <a:moveTo>
                    <a:pt x="14584" y="20468"/>
                  </a:moveTo>
                  <a:cubicBezTo>
                    <a:pt x="12361" y="21217"/>
                    <a:pt x="10030" y="21599"/>
                    <a:pt x="7685" y="21600"/>
                  </a:cubicBezTo>
                  <a:cubicBezTo>
                    <a:pt x="5058" y="21600"/>
                    <a:pt x="2454" y="21121"/>
                    <a:pt x="0" y="20186"/>
                  </a:cubicBezTo>
                  <a:lnTo>
                    <a:pt x="7685" y="0"/>
                  </a:lnTo>
                  <a:close/>
                </a:path>
              </a:pathLst>
            </a:custGeom>
            <a:solidFill>
              <a:srgbClr val="000000"/>
            </a:solidFill>
            <a:ln w="9525">
              <a:noFill/>
              <a:round/>
              <a:headEnd/>
              <a:tailEnd/>
            </a:ln>
          </p:spPr>
          <p:txBody>
            <a:bodyPr/>
            <a:lstStyle/>
            <a:p>
              <a:endParaRPr lang="en-GB"/>
            </a:p>
          </p:txBody>
        </p:sp>
        <p:sp>
          <p:nvSpPr>
            <p:cNvPr id="148520" name="Line 40"/>
            <p:cNvSpPr>
              <a:spLocks noChangeShapeType="1"/>
            </p:cNvSpPr>
            <p:nvPr/>
          </p:nvSpPr>
          <p:spPr bwMode="auto">
            <a:xfrm flipV="1">
              <a:off x="1537" y="2274"/>
              <a:ext cx="2" cy="44"/>
            </a:xfrm>
            <a:prstGeom prst="line">
              <a:avLst/>
            </a:prstGeom>
            <a:noFill/>
            <a:ln w="9525">
              <a:solidFill>
                <a:srgbClr val="000000"/>
              </a:solidFill>
              <a:round/>
              <a:headEnd/>
              <a:tailEnd/>
            </a:ln>
          </p:spPr>
          <p:txBody>
            <a:bodyPr/>
            <a:lstStyle/>
            <a:p>
              <a:endParaRPr lang="en-GB"/>
            </a:p>
          </p:txBody>
        </p:sp>
        <p:sp>
          <p:nvSpPr>
            <p:cNvPr id="148521" name="Freeform 41"/>
            <p:cNvSpPr>
              <a:spLocks/>
            </p:cNvSpPr>
            <p:nvPr/>
          </p:nvSpPr>
          <p:spPr bwMode="auto">
            <a:xfrm>
              <a:off x="1941" y="2229"/>
              <a:ext cx="19" cy="93"/>
            </a:xfrm>
            <a:custGeom>
              <a:avLst/>
              <a:gdLst/>
              <a:ahLst/>
              <a:cxnLst>
                <a:cxn ang="0">
                  <a:pos x="19" y="93"/>
                </a:cxn>
                <a:cxn ang="0">
                  <a:pos x="17" y="83"/>
                </a:cxn>
                <a:cxn ang="0">
                  <a:pos x="15" y="81"/>
                </a:cxn>
                <a:cxn ang="0">
                  <a:pos x="15" y="79"/>
                </a:cxn>
                <a:cxn ang="0">
                  <a:pos x="13" y="77"/>
                </a:cxn>
                <a:cxn ang="0">
                  <a:pos x="13" y="76"/>
                </a:cxn>
                <a:cxn ang="0">
                  <a:pos x="13" y="74"/>
                </a:cxn>
                <a:cxn ang="0">
                  <a:pos x="11" y="72"/>
                </a:cxn>
                <a:cxn ang="0">
                  <a:pos x="11" y="70"/>
                </a:cxn>
                <a:cxn ang="0">
                  <a:pos x="10" y="66"/>
                </a:cxn>
                <a:cxn ang="0">
                  <a:pos x="10" y="62"/>
                </a:cxn>
                <a:cxn ang="0">
                  <a:pos x="10" y="60"/>
                </a:cxn>
                <a:cxn ang="0">
                  <a:pos x="8" y="58"/>
                </a:cxn>
                <a:cxn ang="0">
                  <a:pos x="8" y="55"/>
                </a:cxn>
                <a:cxn ang="0">
                  <a:pos x="6" y="53"/>
                </a:cxn>
                <a:cxn ang="0">
                  <a:pos x="6" y="51"/>
                </a:cxn>
                <a:cxn ang="0">
                  <a:pos x="6" y="49"/>
                </a:cxn>
                <a:cxn ang="0">
                  <a:pos x="4" y="45"/>
                </a:cxn>
                <a:cxn ang="0">
                  <a:pos x="4" y="43"/>
                </a:cxn>
                <a:cxn ang="0">
                  <a:pos x="2" y="41"/>
                </a:cxn>
                <a:cxn ang="0">
                  <a:pos x="2" y="39"/>
                </a:cxn>
                <a:cxn ang="0">
                  <a:pos x="2" y="36"/>
                </a:cxn>
                <a:cxn ang="0">
                  <a:pos x="2" y="32"/>
                </a:cxn>
                <a:cxn ang="0">
                  <a:pos x="2" y="30"/>
                </a:cxn>
                <a:cxn ang="0">
                  <a:pos x="2" y="26"/>
                </a:cxn>
                <a:cxn ang="0">
                  <a:pos x="0" y="24"/>
                </a:cxn>
                <a:cxn ang="0">
                  <a:pos x="0" y="20"/>
                </a:cxn>
                <a:cxn ang="0">
                  <a:pos x="0" y="19"/>
                </a:cxn>
                <a:cxn ang="0">
                  <a:pos x="0" y="15"/>
                </a:cxn>
                <a:cxn ang="0">
                  <a:pos x="0" y="13"/>
                </a:cxn>
                <a:cxn ang="0">
                  <a:pos x="0" y="9"/>
                </a:cxn>
                <a:cxn ang="0">
                  <a:pos x="0" y="5"/>
                </a:cxn>
                <a:cxn ang="0">
                  <a:pos x="0" y="1"/>
                </a:cxn>
                <a:cxn ang="0">
                  <a:pos x="0" y="0"/>
                </a:cxn>
                <a:cxn ang="0">
                  <a:pos x="19" y="93"/>
                </a:cxn>
              </a:cxnLst>
              <a:rect l="0" t="0" r="r" b="b"/>
              <a:pathLst>
                <a:path w="19" h="93">
                  <a:moveTo>
                    <a:pt x="19" y="93"/>
                  </a:moveTo>
                  <a:lnTo>
                    <a:pt x="17" y="83"/>
                  </a:lnTo>
                  <a:lnTo>
                    <a:pt x="15" y="81"/>
                  </a:lnTo>
                  <a:lnTo>
                    <a:pt x="15" y="79"/>
                  </a:lnTo>
                  <a:lnTo>
                    <a:pt x="13" y="77"/>
                  </a:lnTo>
                  <a:lnTo>
                    <a:pt x="13" y="76"/>
                  </a:lnTo>
                  <a:lnTo>
                    <a:pt x="13" y="74"/>
                  </a:lnTo>
                  <a:lnTo>
                    <a:pt x="11" y="72"/>
                  </a:lnTo>
                  <a:lnTo>
                    <a:pt x="11" y="70"/>
                  </a:lnTo>
                  <a:lnTo>
                    <a:pt x="10" y="66"/>
                  </a:lnTo>
                  <a:lnTo>
                    <a:pt x="10" y="62"/>
                  </a:lnTo>
                  <a:lnTo>
                    <a:pt x="10" y="60"/>
                  </a:lnTo>
                  <a:lnTo>
                    <a:pt x="8" y="58"/>
                  </a:lnTo>
                  <a:lnTo>
                    <a:pt x="8" y="55"/>
                  </a:lnTo>
                  <a:lnTo>
                    <a:pt x="6" y="53"/>
                  </a:lnTo>
                  <a:lnTo>
                    <a:pt x="6" y="51"/>
                  </a:lnTo>
                  <a:lnTo>
                    <a:pt x="6" y="49"/>
                  </a:lnTo>
                  <a:lnTo>
                    <a:pt x="4" y="45"/>
                  </a:lnTo>
                  <a:lnTo>
                    <a:pt x="4" y="43"/>
                  </a:lnTo>
                  <a:lnTo>
                    <a:pt x="2" y="41"/>
                  </a:lnTo>
                  <a:lnTo>
                    <a:pt x="2" y="39"/>
                  </a:lnTo>
                  <a:lnTo>
                    <a:pt x="2" y="36"/>
                  </a:lnTo>
                  <a:lnTo>
                    <a:pt x="2" y="32"/>
                  </a:lnTo>
                  <a:lnTo>
                    <a:pt x="2" y="30"/>
                  </a:lnTo>
                  <a:lnTo>
                    <a:pt x="2" y="26"/>
                  </a:lnTo>
                  <a:lnTo>
                    <a:pt x="0" y="24"/>
                  </a:lnTo>
                  <a:lnTo>
                    <a:pt x="0" y="20"/>
                  </a:lnTo>
                  <a:lnTo>
                    <a:pt x="0" y="19"/>
                  </a:lnTo>
                  <a:lnTo>
                    <a:pt x="0" y="15"/>
                  </a:lnTo>
                  <a:lnTo>
                    <a:pt x="0" y="13"/>
                  </a:lnTo>
                  <a:lnTo>
                    <a:pt x="0" y="9"/>
                  </a:lnTo>
                  <a:lnTo>
                    <a:pt x="0" y="5"/>
                  </a:lnTo>
                  <a:lnTo>
                    <a:pt x="0" y="1"/>
                  </a:lnTo>
                  <a:lnTo>
                    <a:pt x="0" y="0"/>
                  </a:lnTo>
                  <a:lnTo>
                    <a:pt x="19" y="93"/>
                  </a:lnTo>
                  <a:close/>
                </a:path>
              </a:pathLst>
            </a:custGeom>
            <a:solidFill>
              <a:srgbClr val="FFFFFF"/>
            </a:solidFill>
            <a:ln w="9525">
              <a:noFill/>
              <a:round/>
              <a:headEnd/>
              <a:tailEnd/>
            </a:ln>
          </p:spPr>
          <p:txBody>
            <a:bodyPr/>
            <a:lstStyle/>
            <a:p>
              <a:endParaRPr lang="en-GB"/>
            </a:p>
          </p:txBody>
        </p:sp>
        <p:sp>
          <p:nvSpPr>
            <p:cNvPr id="148522" name="Freeform 42"/>
            <p:cNvSpPr>
              <a:spLocks/>
            </p:cNvSpPr>
            <p:nvPr/>
          </p:nvSpPr>
          <p:spPr bwMode="auto">
            <a:xfrm>
              <a:off x="1941" y="2229"/>
              <a:ext cx="19" cy="93"/>
            </a:xfrm>
            <a:custGeom>
              <a:avLst/>
              <a:gdLst/>
              <a:ahLst/>
              <a:cxnLst>
                <a:cxn ang="0">
                  <a:pos x="19" y="93"/>
                </a:cxn>
                <a:cxn ang="0">
                  <a:pos x="17" y="83"/>
                </a:cxn>
                <a:cxn ang="0">
                  <a:pos x="15" y="81"/>
                </a:cxn>
                <a:cxn ang="0">
                  <a:pos x="15" y="79"/>
                </a:cxn>
                <a:cxn ang="0">
                  <a:pos x="13" y="77"/>
                </a:cxn>
                <a:cxn ang="0">
                  <a:pos x="13" y="76"/>
                </a:cxn>
                <a:cxn ang="0">
                  <a:pos x="13" y="74"/>
                </a:cxn>
                <a:cxn ang="0">
                  <a:pos x="11" y="72"/>
                </a:cxn>
                <a:cxn ang="0">
                  <a:pos x="11" y="70"/>
                </a:cxn>
                <a:cxn ang="0">
                  <a:pos x="10" y="66"/>
                </a:cxn>
                <a:cxn ang="0">
                  <a:pos x="10" y="62"/>
                </a:cxn>
                <a:cxn ang="0">
                  <a:pos x="10" y="60"/>
                </a:cxn>
                <a:cxn ang="0">
                  <a:pos x="8" y="58"/>
                </a:cxn>
                <a:cxn ang="0">
                  <a:pos x="8" y="55"/>
                </a:cxn>
                <a:cxn ang="0">
                  <a:pos x="6" y="53"/>
                </a:cxn>
                <a:cxn ang="0">
                  <a:pos x="6" y="51"/>
                </a:cxn>
                <a:cxn ang="0">
                  <a:pos x="6" y="49"/>
                </a:cxn>
                <a:cxn ang="0">
                  <a:pos x="4" y="45"/>
                </a:cxn>
                <a:cxn ang="0">
                  <a:pos x="4" y="43"/>
                </a:cxn>
                <a:cxn ang="0">
                  <a:pos x="2" y="41"/>
                </a:cxn>
                <a:cxn ang="0">
                  <a:pos x="2" y="39"/>
                </a:cxn>
                <a:cxn ang="0">
                  <a:pos x="2" y="36"/>
                </a:cxn>
                <a:cxn ang="0">
                  <a:pos x="2" y="32"/>
                </a:cxn>
                <a:cxn ang="0">
                  <a:pos x="2" y="30"/>
                </a:cxn>
                <a:cxn ang="0">
                  <a:pos x="2" y="26"/>
                </a:cxn>
                <a:cxn ang="0">
                  <a:pos x="0" y="24"/>
                </a:cxn>
                <a:cxn ang="0">
                  <a:pos x="0" y="20"/>
                </a:cxn>
                <a:cxn ang="0">
                  <a:pos x="0" y="19"/>
                </a:cxn>
                <a:cxn ang="0">
                  <a:pos x="0" y="15"/>
                </a:cxn>
                <a:cxn ang="0">
                  <a:pos x="0" y="13"/>
                </a:cxn>
                <a:cxn ang="0">
                  <a:pos x="0" y="9"/>
                </a:cxn>
                <a:cxn ang="0">
                  <a:pos x="0" y="5"/>
                </a:cxn>
                <a:cxn ang="0">
                  <a:pos x="0" y="1"/>
                </a:cxn>
                <a:cxn ang="0">
                  <a:pos x="0" y="0"/>
                </a:cxn>
                <a:cxn ang="0">
                  <a:pos x="19" y="93"/>
                </a:cxn>
              </a:cxnLst>
              <a:rect l="0" t="0" r="r" b="b"/>
              <a:pathLst>
                <a:path w="19" h="93">
                  <a:moveTo>
                    <a:pt x="19" y="93"/>
                  </a:moveTo>
                  <a:lnTo>
                    <a:pt x="17" y="83"/>
                  </a:lnTo>
                  <a:lnTo>
                    <a:pt x="15" y="81"/>
                  </a:lnTo>
                  <a:lnTo>
                    <a:pt x="15" y="79"/>
                  </a:lnTo>
                  <a:lnTo>
                    <a:pt x="13" y="77"/>
                  </a:lnTo>
                  <a:lnTo>
                    <a:pt x="13" y="76"/>
                  </a:lnTo>
                  <a:lnTo>
                    <a:pt x="13" y="74"/>
                  </a:lnTo>
                  <a:lnTo>
                    <a:pt x="11" y="72"/>
                  </a:lnTo>
                  <a:lnTo>
                    <a:pt x="11" y="70"/>
                  </a:lnTo>
                  <a:lnTo>
                    <a:pt x="10" y="66"/>
                  </a:lnTo>
                  <a:lnTo>
                    <a:pt x="10" y="62"/>
                  </a:lnTo>
                  <a:lnTo>
                    <a:pt x="10" y="60"/>
                  </a:lnTo>
                  <a:lnTo>
                    <a:pt x="8" y="58"/>
                  </a:lnTo>
                  <a:lnTo>
                    <a:pt x="8" y="55"/>
                  </a:lnTo>
                  <a:lnTo>
                    <a:pt x="6" y="53"/>
                  </a:lnTo>
                  <a:lnTo>
                    <a:pt x="6" y="51"/>
                  </a:lnTo>
                  <a:lnTo>
                    <a:pt x="6" y="49"/>
                  </a:lnTo>
                  <a:lnTo>
                    <a:pt x="4" y="45"/>
                  </a:lnTo>
                  <a:lnTo>
                    <a:pt x="4" y="43"/>
                  </a:lnTo>
                  <a:lnTo>
                    <a:pt x="2" y="41"/>
                  </a:lnTo>
                  <a:lnTo>
                    <a:pt x="2" y="39"/>
                  </a:lnTo>
                  <a:lnTo>
                    <a:pt x="2" y="36"/>
                  </a:lnTo>
                  <a:lnTo>
                    <a:pt x="2" y="32"/>
                  </a:lnTo>
                  <a:lnTo>
                    <a:pt x="2" y="30"/>
                  </a:lnTo>
                  <a:lnTo>
                    <a:pt x="2" y="26"/>
                  </a:lnTo>
                  <a:lnTo>
                    <a:pt x="0" y="24"/>
                  </a:lnTo>
                  <a:lnTo>
                    <a:pt x="0" y="20"/>
                  </a:lnTo>
                  <a:lnTo>
                    <a:pt x="0" y="19"/>
                  </a:lnTo>
                  <a:lnTo>
                    <a:pt x="0" y="15"/>
                  </a:lnTo>
                  <a:lnTo>
                    <a:pt x="0" y="13"/>
                  </a:lnTo>
                  <a:lnTo>
                    <a:pt x="0" y="9"/>
                  </a:lnTo>
                  <a:lnTo>
                    <a:pt x="0" y="5"/>
                  </a:lnTo>
                  <a:lnTo>
                    <a:pt x="0" y="1"/>
                  </a:lnTo>
                  <a:lnTo>
                    <a:pt x="0" y="0"/>
                  </a:lnTo>
                  <a:lnTo>
                    <a:pt x="19" y="93"/>
                  </a:lnTo>
                  <a:close/>
                </a:path>
              </a:pathLst>
            </a:custGeom>
            <a:solidFill>
              <a:srgbClr val="FFFFFF"/>
            </a:solidFill>
            <a:ln w="9525">
              <a:noFill/>
              <a:round/>
              <a:headEnd/>
              <a:tailEnd/>
            </a:ln>
          </p:spPr>
          <p:txBody>
            <a:bodyPr/>
            <a:lstStyle/>
            <a:p>
              <a:endParaRPr lang="en-GB"/>
            </a:p>
          </p:txBody>
        </p:sp>
        <p:sp>
          <p:nvSpPr>
            <p:cNvPr id="148523" name="Freeform 43"/>
            <p:cNvSpPr>
              <a:spLocks/>
            </p:cNvSpPr>
            <p:nvPr/>
          </p:nvSpPr>
          <p:spPr bwMode="auto">
            <a:xfrm>
              <a:off x="1943" y="2230"/>
              <a:ext cx="19" cy="94"/>
            </a:xfrm>
            <a:custGeom>
              <a:avLst/>
              <a:gdLst/>
              <a:ahLst/>
              <a:cxnLst>
                <a:cxn ang="0">
                  <a:pos x="19" y="94"/>
                </a:cxn>
                <a:cxn ang="0">
                  <a:pos x="17" y="84"/>
                </a:cxn>
                <a:cxn ang="0">
                  <a:pos x="15" y="82"/>
                </a:cxn>
                <a:cxn ang="0">
                  <a:pos x="15" y="80"/>
                </a:cxn>
                <a:cxn ang="0">
                  <a:pos x="13" y="78"/>
                </a:cxn>
                <a:cxn ang="0">
                  <a:pos x="13" y="76"/>
                </a:cxn>
                <a:cxn ang="0">
                  <a:pos x="13" y="75"/>
                </a:cxn>
                <a:cxn ang="0">
                  <a:pos x="11" y="73"/>
                </a:cxn>
                <a:cxn ang="0">
                  <a:pos x="11" y="71"/>
                </a:cxn>
                <a:cxn ang="0">
                  <a:pos x="9" y="67"/>
                </a:cxn>
                <a:cxn ang="0">
                  <a:pos x="9" y="63"/>
                </a:cxn>
                <a:cxn ang="0">
                  <a:pos x="9" y="61"/>
                </a:cxn>
                <a:cxn ang="0">
                  <a:pos x="8" y="59"/>
                </a:cxn>
                <a:cxn ang="0">
                  <a:pos x="8" y="56"/>
                </a:cxn>
                <a:cxn ang="0">
                  <a:pos x="6" y="54"/>
                </a:cxn>
                <a:cxn ang="0">
                  <a:pos x="6" y="52"/>
                </a:cxn>
                <a:cxn ang="0">
                  <a:pos x="6" y="50"/>
                </a:cxn>
                <a:cxn ang="0">
                  <a:pos x="4" y="46"/>
                </a:cxn>
                <a:cxn ang="0">
                  <a:pos x="4" y="44"/>
                </a:cxn>
                <a:cxn ang="0">
                  <a:pos x="2" y="42"/>
                </a:cxn>
                <a:cxn ang="0">
                  <a:pos x="2" y="40"/>
                </a:cxn>
                <a:cxn ang="0">
                  <a:pos x="2" y="37"/>
                </a:cxn>
                <a:cxn ang="0">
                  <a:pos x="2" y="33"/>
                </a:cxn>
                <a:cxn ang="0">
                  <a:pos x="2" y="31"/>
                </a:cxn>
                <a:cxn ang="0">
                  <a:pos x="2" y="27"/>
                </a:cxn>
                <a:cxn ang="0">
                  <a:pos x="0" y="25"/>
                </a:cxn>
                <a:cxn ang="0">
                  <a:pos x="0" y="21"/>
                </a:cxn>
                <a:cxn ang="0">
                  <a:pos x="0" y="19"/>
                </a:cxn>
                <a:cxn ang="0">
                  <a:pos x="0" y="16"/>
                </a:cxn>
                <a:cxn ang="0">
                  <a:pos x="0" y="14"/>
                </a:cxn>
                <a:cxn ang="0">
                  <a:pos x="0" y="10"/>
                </a:cxn>
                <a:cxn ang="0">
                  <a:pos x="0" y="6"/>
                </a:cxn>
                <a:cxn ang="0">
                  <a:pos x="0" y="2"/>
                </a:cxn>
                <a:cxn ang="0">
                  <a:pos x="0" y="0"/>
                </a:cxn>
              </a:cxnLst>
              <a:rect l="0" t="0" r="r" b="b"/>
              <a:pathLst>
                <a:path w="19" h="94">
                  <a:moveTo>
                    <a:pt x="19" y="94"/>
                  </a:moveTo>
                  <a:lnTo>
                    <a:pt x="17" y="84"/>
                  </a:lnTo>
                  <a:lnTo>
                    <a:pt x="15" y="82"/>
                  </a:lnTo>
                  <a:lnTo>
                    <a:pt x="15" y="80"/>
                  </a:lnTo>
                  <a:lnTo>
                    <a:pt x="13" y="78"/>
                  </a:lnTo>
                  <a:lnTo>
                    <a:pt x="13" y="76"/>
                  </a:lnTo>
                  <a:lnTo>
                    <a:pt x="13" y="75"/>
                  </a:lnTo>
                  <a:lnTo>
                    <a:pt x="11" y="73"/>
                  </a:lnTo>
                  <a:lnTo>
                    <a:pt x="11" y="71"/>
                  </a:lnTo>
                  <a:lnTo>
                    <a:pt x="9" y="67"/>
                  </a:lnTo>
                  <a:lnTo>
                    <a:pt x="9" y="63"/>
                  </a:lnTo>
                  <a:lnTo>
                    <a:pt x="9" y="61"/>
                  </a:lnTo>
                  <a:lnTo>
                    <a:pt x="8" y="59"/>
                  </a:lnTo>
                  <a:lnTo>
                    <a:pt x="8" y="56"/>
                  </a:lnTo>
                  <a:lnTo>
                    <a:pt x="6" y="54"/>
                  </a:lnTo>
                  <a:lnTo>
                    <a:pt x="6" y="52"/>
                  </a:lnTo>
                  <a:lnTo>
                    <a:pt x="6" y="50"/>
                  </a:lnTo>
                  <a:lnTo>
                    <a:pt x="4" y="46"/>
                  </a:lnTo>
                  <a:lnTo>
                    <a:pt x="4" y="44"/>
                  </a:lnTo>
                  <a:lnTo>
                    <a:pt x="2" y="42"/>
                  </a:lnTo>
                  <a:lnTo>
                    <a:pt x="2" y="40"/>
                  </a:lnTo>
                  <a:lnTo>
                    <a:pt x="2" y="37"/>
                  </a:lnTo>
                  <a:lnTo>
                    <a:pt x="2" y="33"/>
                  </a:lnTo>
                  <a:lnTo>
                    <a:pt x="2" y="31"/>
                  </a:lnTo>
                  <a:lnTo>
                    <a:pt x="2" y="27"/>
                  </a:lnTo>
                  <a:lnTo>
                    <a:pt x="0" y="25"/>
                  </a:lnTo>
                  <a:lnTo>
                    <a:pt x="0" y="21"/>
                  </a:lnTo>
                  <a:lnTo>
                    <a:pt x="0" y="19"/>
                  </a:lnTo>
                  <a:lnTo>
                    <a:pt x="0" y="16"/>
                  </a:lnTo>
                  <a:lnTo>
                    <a:pt x="0" y="14"/>
                  </a:lnTo>
                  <a:lnTo>
                    <a:pt x="0" y="10"/>
                  </a:lnTo>
                  <a:lnTo>
                    <a:pt x="0" y="6"/>
                  </a:lnTo>
                  <a:lnTo>
                    <a:pt x="0" y="2"/>
                  </a:lnTo>
                  <a:lnTo>
                    <a:pt x="0" y="0"/>
                  </a:lnTo>
                </a:path>
              </a:pathLst>
            </a:custGeom>
            <a:noFill/>
            <a:ln w="9525">
              <a:solidFill>
                <a:srgbClr val="000000"/>
              </a:solidFill>
              <a:prstDash val="solid"/>
              <a:round/>
              <a:headEnd/>
              <a:tailEnd/>
            </a:ln>
          </p:spPr>
          <p:txBody>
            <a:bodyPr/>
            <a:lstStyle/>
            <a:p>
              <a:endParaRPr lang="en-GB"/>
            </a:p>
          </p:txBody>
        </p:sp>
        <p:sp>
          <p:nvSpPr>
            <p:cNvPr id="148524" name="Arc 44"/>
            <p:cNvSpPr>
              <a:spLocks/>
            </p:cNvSpPr>
            <p:nvPr/>
          </p:nvSpPr>
          <p:spPr bwMode="auto">
            <a:xfrm>
              <a:off x="1919" y="2124"/>
              <a:ext cx="46" cy="68"/>
            </a:xfrm>
            <a:custGeom>
              <a:avLst/>
              <a:gdLst>
                <a:gd name="G0" fmla="+- 7550 0 0"/>
                <a:gd name="G1" fmla="+- 0 0 0"/>
                <a:gd name="G2" fmla="+- 21600 0 0"/>
                <a:gd name="T0" fmla="*/ 14427 w 14427"/>
                <a:gd name="T1" fmla="*/ 20476 h 21600"/>
                <a:gd name="T2" fmla="*/ 0 w 14427"/>
                <a:gd name="T3" fmla="*/ 20238 h 21600"/>
                <a:gd name="T4" fmla="*/ 7550 w 14427"/>
                <a:gd name="T5" fmla="*/ 0 h 21600"/>
              </a:gdLst>
              <a:ahLst/>
              <a:cxnLst>
                <a:cxn ang="0">
                  <a:pos x="T0" y="T1"/>
                </a:cxn>
                <a:cxn ang="0">
                  <a:pos x="T2" y="T3"/>
                </a:cxn>
                <a:cxn ang="0">
                  <a:pos x="T4" y="T5"/>
                </a:cxn>
              </a:cxnLst>
              <a:rect l="0" t="0" r="r" b="b"/>
              <a:pathLst>
                <a:path w="14427" h="21600" fill="none" extrusionOk="0">
                  <a:moveTo>
                    <a:pt x="14427" y="20476"/>
                  </a:moveTo>
                  <a:cubicBezTo>
                    <a:pt x="12210" y="21220"/>
                    <a:pt x="9888" y="21599"/>
                    <a:pt x="7550" y="21600"/>
                  </a:cubicBezTo>
                  <a:cubicBezTo>
                    <a:pt x="4972" y="21600"/>
                    <a:pt x="2415" y="21138"/>
                    <a:pt x="0" y="20237"/>
                  </a:cubicBezTo>
                </a:path>
                <a:path w="14427" h="21600" stroke="0" extrusionOk="0">
                  <a:moveTo>
                    <a:pt x="14427" y="20476"/>
                  </a:moveTo>
                  <a:cubicBezTo>
                    <a:pt x="12210" y="21220"/>
                    <a:pt x="9888" y="21599"/>
                    <a:pt x="7550" y="21600"/>
                  </a:cubicBezTo>
                  <a:cubicBezTo>
                    <a:pt x="4972" y="21600"/>
                    <a:pt x="2415" y="21138"/>
                    <a:pt x="0" y="20237"/>
                  </a:cubicBezTo>
                  <a:lnTo>
                    <a:pt x="7550" y="0"/>
                  </a:lnTo>
                  <a:close/>
                </a:path>
              </a:pathLst>
            </a:custGeom>
            <a:solidFill>
              <a:srgbClr val="000000"/>
            </a:solidFill>
            <a:ln w="9525">
              <a:noFill/>
              <a:round/>
              <a:headEnd/>
              <a:tailEnd/>
            </a:ln>
          </p:spPr>
          <p:txBody>
            <a:bodyPr/>
            <a:lstStyle/>
            <a:p>
              <a:endParaRPr lang="en-GB"/>
            </a:p>
          </p:txBody>
        </p:sp>
        <p:sp>
          <p:nvSpPr>
            <p:cNvPr id="148525" name="Line 45"/>
            <p:cNvSpPr>
              <a:spLocks noChangeShapeType="1"/>
            </p:cNvSpPr>
            <p:nvPr/>
          </p:nvSpPr>
          <p:spPr bwMode="auto">
            <a:xfrm flipV="1">
              <a:off x="1941" y="2189"/>
              <a:ext cx="1" cy="43"/>
            </a:xfrm>
            <a:prstGeom prst="line">
              <a:avLst/>
            </a:prstGeom>
            <a:noFill/>
            <a:ln w="9525">
              <a:solidFill>
                <a:srgbClr val="000000"/>
              </a:solidFill>
              <a:round/>
              <a:headEnd/>
              <a:tailEnd/>
            </a:ln>
          </p:spPr>
          <p:txBody>
            <a:bodyPr/>
            <a:lstStyle/>
            <a:p>
              <a:endParaRPr lang="en-GB"/>
            </a:p>
          </p:txBody>
        </p:sp>
        <p:sp>
          <p:nvSpPr>
            <p:cNvPr id="148526" name="Line 46"/>
            <p:cNvSpPr>
              <a:spLocks noChangeShapeType="1"/>
            </p:cNvSpPr>
            <p:nvPr/>
          </p:nvSpPr>
          <p:spPr bwMode="auto">
            <a:xfrm flipH="1" flipV="1">
              <a:off x="1130" y="1330"/>
              <a:ext cx="1792" cy="845"/>
            </a:xfrm>
            <a:prstGeom prst="line">
              <a:avLst/>
            </a:prstGeom>
            <a:noFill/>
            <a:ln w="46038">
              <a:solidFill>
                <a:srgbClr val="000000"/>
              </a:solidFill>
              <a:round/>
              <a:headEnd/>
              <a:tailEnd/>
            </a:ln>
          </p:spPr>
          <p:txBody>
            <a:bodyPr/>
            <a:lstStyle/>
            <a:p>
              <a:endParaRPr lang="en-GB"/>
            </a:p>
          </p:txBody>
        </p:sp>
        <p:sp>
          <p:nvSpPr>
            <p:cNvPr id="148527" name="Line 47"/>
            <p:cNvSpPr>
              <a:spLocks noChangeShapeType="1"/>
            </p:cNvSpPr>
            <p:nvPr/>
          </p:nvSpPr>
          <p:spPr bwMode="auto">
            <a:xfrm>
              <a:off x="2941" y="2181"/>
              <a:ext cx="1706" cy="937"/>
            </a:xfrm>
            <a:prstGeom prst="line">
              <a:avLst/>
            </a:prstGeom>
            <a:noFill/>
            <a:ln w="47625">
              <a:solidFill>
                <a:srgbClr val="000000"/>
              </a:solidFill>
              <a:round/>
              <a:headEnd/>
              <a:tailEnd/>
            </a:ln>
          </p:spPr>
          <p:txBody>
            <a:bodyPr/>
            <a:lstStyle/>
            <a:p>
              <a:endParaRPr lang="en-GB"/>
            </a:p>
          </p:txBody>
        </p:sp>
        <p:sp>
          <p:nvSpPr>
            <p:cNvPr id="148528" name="Line 48"/>
            <p:cNvSpPr>
              <a:spLocks noChangeShapeType="1"/>
            </p:cNvSpPr>
            <p:nvPr/>
          </p:nvSpPr>
          <p:spPr bwMode="auto">
            <a:xfrm flipV="1">
              <a:off x="2946" y="1985"/>
              <a:ext cx="1925" cy="202"/>
            </a:xfrm>
            <a:prstGeom prst="line">
              <a:avLst/>
            </a:prstGeom>
            <a:noFill/>
            <a:ln w="39688">
              <a:solidFill>
                <a:srgbClr val="000000"/>
              </a:solidFill>
              <a:round/>
              <a:headEnd/>
              <a:tailEnd/>
            </a:ln>
          </p:spPr>
          <p:txBody>
            <a:bodyPr/>
            <a:lstStyle/>
            <a:p>
              <a:endParaRPr lang="en-GB"/>
            </a:p>
          </p:txBody>
        </p:sp>
        <p:sp>
          <p:nvSpPr>
            <p:cNvPr id="148529" name="Freeform 49"/>
            <p:cNvSpPr>
              <a:spLocks/>
            </p:cNvSpPr>
            <p:nvPr/>
          </p:nvSpPr>
          <p:spPr bwMode="auto">
            <a:xfrm>
              <a:off x="2329" y="2208"/>
              <a:ext cx="20" cy="93"/>
            </a:xfrm>
            <a:custGeom>
              <a:avLst/>
              <a:gdLst/>
              <a:ahLst/>
              <a:cxnLst>
                <a:cxn ang="0">
                  <a:pos x="20" y="93"/>
                </a:cxn>
                <a:cxn ang="0">
                  <a:pos x="18" y="83"/>
                </a:cxn>
                <a:cxn ang="0">
                  <a:pos x="16" y="81"/>
                </a:cxn>
                <a:cxn ang="0">
                  <a:pos x="16" y="79"/>
                </a:cxn>
                <a:cxn ang="0">
                  <a:pos x="14" y="78"/>
                </a:cxn>
                <a:cxn ang="0">
                  <a:pos x="14" y="76"/>
                </a:cxn>
                <a:cxn ang="0">
                  <a:pos x="14" y="72"/>
                </a:cxn>
                <a:cxn ang="0">
                  <a:pos x="12" y="70"/>
                </a:cxn>
                <a:cxn ang="0">
                  <a:pos x="12" y="68"/>
                </a:cxn>
                <a:cxn ang="0">
                  <a:pos x="10" y="66"/>
                </a:cxn>
                <a:cxn ang="0">
                  <a:pos x="10" y="62"/>
                </a:cxn>
                <a:cxn ang="0">
                  <a:pos x="10" y="60"/>
                </a:cxn>
                <a:cxn ang="0">
                  <a:pos x="8" y="59"/>
                </a:cxn>
                <a:cxn ang="0">
                  <a:pos x="8" y="55"/>
                </a:cxn>
                <a:cxn ang="0">
                  <a:pos x="6" y="53"/>
                </a:cxn>
                <a:cxn ang="0">
                  <a:pos x="6" y="51"/>
                </a:cxn>
                <a:cxn ang="0">
                  <a:pos x="6" y="49"/>
                </a:cxn>
                <a:cxn ang="0">
                  <a:pos x="4" y="45"/>
                </a:cxn>
                <a:cxn ang="0">
                  <a:pos x="4" y="41"/>
                </a:cxn>
                <a:cxn ang="0">
                  <a:pos x="2" y="40"/>
                </a:cxn>
                <a:cxn ang="0">
                  <a:pos x="2" y="38"/>
                </a:cxn>
                <a:cxn ang="0">
                  <a:pos x="2" y="36"/>
                </a:cxn>
                <a:cxn ang="0">
                  <a:pos x="2" y="32"/>
                </a:cxn>
                <a:cxn ang="0">
                  <a:pos x="2" y="30"/>
                </a:cxn>
                <a:cxn ang="0">
                  <a:pos x="2" y="26"/>
                </a:cxn>
                <a:cxn ang="0">
                  <a:pos x="0" y="24"/>
                </a:cxn>
                <a:cxn ang="0">
                  <a:pos x="0" y="21"/>
                </a:cxn>
                <a:cxn ang="0">
                  <a:pos x="0" y="19"/>
                </a:cxn>
                <a:cxn ang="0">
                  <a:pos x="0" y="15"/>
                </a:cxn>
                <a:cxn ang="0">
                  <a:pos x="0" y="11"/>
                </a:cxn>
                <a:cxn ang="0">
                  <a:pos x="0" y="7"/>
                </a:cxn>
                <a:cxn ang="0">
                  <a:pos x="0" y="5"/>
                </a:cxn>
                <a:cxn ang="0">
                  <a:pos x="0" y="2"/>
                </a:cxn>
                <a:cxn ang="0">
                  <a:pos x="0" y="0"/>
                </a:cxn>
                <a:cxn ang="0">
                  <a:pos x="20" y="93"/>
                </a:cxn>
              </a:cxnLst>
              <a:rect l="0" t="0" r="r" b="b"/>
              <a:pathLst>
                <a:path w="20" h="93">
                  <a:moveTo>
                    <a:pt x="20" y="93"/>
                  </a:moveTo>
                  <a:lnTo>
                    <a:pt x="18" y="83"/>
                  </a:lnTo>
                  <a:lnTo>
                    <a:pt x="16" y="81"/>
                  </a:lnTo>
                  <a:lnTo>
                    <a:pt x="16" y="79"/>
                  </a:lnTo>
                  <a:lnTo>
                    <a:pt x="14" y="78"/>
                  </a:lnTo>
                  <a:lnTo>
                    <a:pt x="14" y="76"/>
                  </a:lnTo>
                  <a:lnTo>
                    <a:pt x="14" y="72"/>
                  </a:lnTo>
                  <a:lnTo>
                    <a:pt x="12" y="70"/>
                  </a:lnTo>
                  <a:lnTo>
                    <a:pt x="12" y="68"/>
                  </a:lnTo>
                  <a:lnTo>
                    <a:pt x="10" y="66"/>
                  </a:lnTo>
                  <a:lnTo>
                    <a:pt x="10" y="62"/>
                  </a:lnTo>
                  <a:lnTo>
                    <a:pt x="10" y="60"/>
                  </a:lnTo>
                  <a:lnTo>
                    <a:pt x="8" y="59"/>
                  </a:lnTo>
                  <a:lnTo>
                    <a:pt x="8" y="55"/>
                  </a:lnTo>
                  <a:lnTo>
                    <a:pt x="6" y="53"/>
                  </a:lnTo>
                  <a:lnTo>
                    <a:pt x="6" y="51"/>
                  </a:lnTo>
                  <a:lnTo>
                    <a:pt x="6" y="49"/>
                  </a:lnTo>
                  <a:lnTo>
                    <a:pt x="4" y="45"/>
                  </a:lnTo>
                  <a:lnTo>
                    <a:pt x="4" y="41"/>
                  </a:lnTo>
                  <a:lnTo>
                    <a:pt x="2" y="40"/>
                  </a:lnTo>
                  <a:lnTo>
                    <a:pt x="2" y="38"/>
                  </a:lnTo>
                  <a:lnTo>
                    <a:pt x="2" y="36"/>
                  </a:lnTo>
                  <a:lnTo>
                    <a:pt x="2" y="32"/>
                  </a:lnTo>
                  <a:lnTo>
                    <a:pt x="2" y="30"/>
                  </a:lnTo>
                  <a:lnTo>
                    <a:pt x="2" y="26"/>
                  </a:lnTo>
                  <a:lnTo>
                    <a:pt x="0" y="24"/>
                  </a:lnTo>
                  <a:lnTo>
                    <a:pt x="0" y="21"/>
                  </a:lnTo>
                  <a:lnTo>
                    <a:pt x="0" y="19"/>
                  </a:lnTo>
                  <a:lnTo>
                    <a:pt x="0" y="15"/>
                  </a:lnTo>
                  <a:lnTo>
                    <a:pt x="0" y="11"/>
                  </a:lnTo>
                  <a:lnTo>
                    <a:pt x="0" y="7"/>
                  </a:lnTo>
                  <a:lnTo>
                    <a:pt x="0" y="5"/>
                  </a:lnTo>
                  <a:lnTo>
                    <a:pt x="0" y="2"/>
                  </a:lnTo>
                  <a:lnTo>
                    <a:pt x="0" y="0"/>
                  </a:lnTo>
                  <a:lnTo>
                    <a:pt x="20" y="93"/>
                  </a:lnTo>
                  <a:close/>
                </a:path>
              </a:pathLst>
            </a:custGeom>
            <a:solidFill>
              <a:srgbClr val="FFFFFF"/>
            </a:solidFill>
            <a:ln w="9525">
              <a:noFill/>
              <a:round/>
              <a:headEnd/>
              <a:tailEnd/>
            </a:ln>
          </p:spPr>
          <p:txBody>
            <a:bodyPr/>
            <a:lstStyle/>
            <a:p>
              <a:endParaRPr lang="en-GB"/>
            </a:p>
          </p:txBody>
        </p:sp>
        <p:sp>
          <p:nvSpPr>
            <p:cNvPr id="148530" name="Freeform 50"/>
            <p:cNvSpPr>
              <a:spLocks/>
            </p:cNvSpPr>
            <p:nvPr/>
          </p:nvSpPr>
          <p:spPr bwMode="auto">
            <a:xfrm>
              <a:off x="2329" y="2208"/>
              <a:ext cx="20" cy="93"/>
            </a:xfrm>
            <a:custGeom>
              <a:avLst/>
              <a:gdLst/>
              <a:ahLst/>
              <a:cxnLst>
                <a:cxn ang="0">
                  <a:pos x="20" y="93"/>
                </a:cxn>
                <a:cxn ang="0">
                  <a:pos x="18" y="83"/>
                </a:cxn>
                <a:cxn ang="0">
                  <a:pos x="16" y="81"/>
                </a:cxn>
                <a:cxn ang="0">
                  <a:pos x="16" y="79"/>
                </a:cxn>
                <a:cxn ang="0">
                  <a:pos x="14" y="78"/>
                </a:cxn>
                <a:cxn ang="0">
                  <a:pos x="14" y="76"/>
                </a:cxn>
                <a:cxn ang="0">
                  <a:pos x="14" y="72"/>
                </a:cxn>
                <a:cxn ang="0">
                  <a:pos x="12" y="70"/>
                </a:cxn>
                <a:cxn ang="0">
                  <a:pos x="12" y="68"/>
                </a:cxn>
                <a:cxn ang="0">
                  <a:pos x="10" y="66"/>
                </a:cxn>
                <a:cxn ang="0">
                  <a:pos x="10" y="62"/>
                </a:cxn>
                <a:cxn ang="0">
                  <a:pos x="10" y="60"/>
                </a:cxn>
                <a:cxn ang="0">
                  <a:pos x="8" y="59"/>
                </a:cxn>
                <a:cxn ang="0">
                  <a:pos x="8" y="55"/>
                </a:cxn>
                <a:cxn ang="0">
                  <a:pos x="6" y="53"/>
                </a:cxn>
                <a:cxn ang="0">
                  <a:pos x="6" y="51"/>
                </a:cxn>
                <a:cxn ang="0">
                  <a:pos x="6" y="49"/>
                </a:cxn>
                <a:cxn ang="0">
                  <a:pos x="4" y="45"/>
                </a:cxn>
                <a:cxn ang="0">
                  <a:pos x="4" y="41"/>
                </a:cxn>
                <a:cxn ang="0">
                  <a:pos x="2" y="40"/>
                </a:cxn>
                <a:cxn ang="0">
                  <a:pos x="2" y="38"/>
                </a:cxn>
                <a:cxn ang="0">
                  <a:pos x="2" y="36"/>
                </a:cxn>
                <a:cxn ang="0">
                  <a:pos x="2" y="32"/>
                </a:cxn>
                <a:cxn ang="0">
                  <a:pos x="2" y="30"/>
                </a:cxn>
                <a:cxn ang="0">
                  <a:pos x="2" y="26"/>
                </a:cxn>
                <a:cxn ang="0">
                  <a:pos x="0" y="24"/>
                </a:cxn>
                <a:cxn ang="0">
                  <a:pos x="0" y="21"/>
                </a:cxn>
                <a:cxn ang="0">
                  <a:pos x="0" y="19"/>
                </a:cxn>
                <a:cxn ang="0">
                  <a:pos x="0" y="15"/>
                </a:cxn>
                <a:cxn ang="0">
                  <a:pos x="0" y="11"/>
                </a:cxn>
                <a:cxn ang="0">
                  <a:pos x="0" y="7"/>
                </a:cxn>
                <a:cxn ang="0">
                  <a:pos x="0" y="5"/>
                </a:cxn>
                <a:cxn ang="0">
                  <a:pos x="0" y="2"/>
                </a:cxn>
                <a:cxn ang="0">
                  <a:pos x="0" y="0"/>
                </a:cxn>
                <a:cxn ang="0">
                  <a:pos x="20" y="93"/>
                </a:cxn>
              </a:cxnLst>
              <a:rect l="0" t="0" r="r" b="b"/>
              <a:pathLst>
                <a:path w="20" h="93">
                  <a:moveTo>
                    <a:pt x="20" y="93"/>
                  </a:moveTo>
                  <a:lnTo>
                    <a:pt x="18" y="83"/>
                  </a:lnTo>
                  <a:lnTo>
                    <a:pt x="16" y="81"/>
                  </a:lnTo>
                  <a:lnTo>
                    <a:pt x="16" y="79"/>
                  </a:lnTo>
                  <a:lnTo>
                    <a:pt x="14" y="78"/>
                  </a:lnTo>
                  <a:lnTo>
                    <a:pt x="14" y="76"/>
                  </a:lnTo>
                  <a:lnTo>
                    <a:pt x="14" y="72"/>
                  </a:lnTo>
                  <a:lnTo>
                    <a:pt x="12" y="70"/>
                  </a:lnTo>
                  <a:lnTo>
                    <a:pt x="12" y="68"/>
                  </a:lnTo>
                  <a:lnTo>
                    <a:pt x="10" y="66"/>
                  </a:lnTo>
                  <a:lnTo>
                    <a:pt x="10" y="62"/>
                  </a:lnTo>
                  <a:lnTo>
                    <a:pt x="10" y="60"/>
                  </a:lnTo>
                  <a:lnTo>
                    <a:pt x="8" y="59"/>
                  </a:lnTo>
                  <a:lnTo>
                    <a:pt x="8" y="55"/>
                  </a:lnTo>
                  <a:lnTo>
                    <a:pt x="6" y="53"/>
                  </a:lnTo>
                  <a:lnTo>
                    <a:pt x="6" y="51"/>
                  </a:lnTo>
                  <a:lnTo>
                    <a:pt x="6" y="49"/>
                  </a:lnTo>
                  <a:lnTo>
                    <a:pt x="4" y="45"/>
                  </a:lnTo>
                  <a:lnTo>
                    <a:pt x="4" y="41"/>
                  </a:lnTo>
                  <a:lnTo>
                    <a:pt x="2" y="40"/>
                  </a:lnTo>
                  <a:lnTo>
                    <a:pt x="2" y="38"/>
                  </a:lnTo>
                  <a:lnTo>
                    <a:pt x="2" y="36"/>
                  </a:lnTo>
                  <a:lnTo>
                    <a:pt x="2" y="32"/>
                  </a:lnTo>
                  <a:lnTo>
                    <a:pt x="2" y="30"/>
                  </a:lnTo>
                  <a:lnTo>
                    <a:pt x="2" y="26"/>
                  </a:lnTo>
                  <a:lnTo>
                    <a:pt x="0" y="24"/>
                  </a:lnTo>
                  <a:lnTo>
                    <a:pt x="0" y="21"/>
                  </a:lnTo>
                  <a:lnTo>
                    <a:pt x="0" y="19"/>
                  </a:lnTo>
                  <a:lnTo>
                    <a:pt x="0" y="15"/>
                  </a:lnTo>
                  <a:lnTo>
                    <a:pt x="0" y="11"/>
                  </a:lnTo>
                  <a:lnTo>
                    <a:pt x="0" y="7"/>
                  </a:lnTo>
                  <a:lnTo>
                    <a:pt x="0" y="5"/>
                  </a:lnTo>
                  <a:lnTo>
                    <a:pt x="0" y="2"/>
                  </a:lnTo>
                  <a:lnTo>
                    <a:pt x="0" y="0"/>
                  </a:lnTo>
                  <a:lnTo>
                    <a:pt x="20" y="93"/>
                  </a:lnTo>
                  <a:close/>
                </a:path>
              </a:pathLst>
            </a:custGeom>
            <a:solidFill>
              <a:srgbClr val="FFFFFF"/>
            </a:solidFill>
            <a:ln w="9525">
              <a:noFill/>
              <a:round/>
              <a:headEnd/>
              <a:tailEnd/>
            </a:ln>
          </p:spPr>
          <p:txBody>
            <a:bodyPr/>
            <a:lstStyle/>
            <a:p>
              <a:endParaRPr lang="en-GB"/>
            </a:p>
          </p:txBody>
        </p:sp>
        <p:sp>
          <p:nvSpPr>
            <p:cNvPr id="148531" name="Freeform 51"/>
            <p:cNvSpPr>
              <a:spLocks/>
            </p:cNvSpPr>
            <p:nvPr/>
          </p:nvSpPr>
          <p:spPr bwMode="auto">
            <a:xfrm>
              <a:off x="2331" y="2210"/>
              <a:ext cx="19" cy="93"/>
            </a:xfrm>
            <a:custGeom>
              <a:avLst/>
              <a:gdLst/>
              <a:ahLst/>
              <a:cxnLst>
                <a:cxn ang="0">
                  <a:pos x="19" y="93"/>
                </a:cxn>
                <a:cxn ang="0">
                  <a:pos x="18" y="83"/>
                </a:cxn>
                <a:cxn ang="0">
                  <a:pos x="16" y="81"/>
                </a:cxn>
                <a:cxn ang="0">
                  <a:pos x="16" y="79"/>
                </a:cxn>
                <a:cxn ang="0">
                  <a:pos x="14" y="77"/>
                </a:cxn>
                <a:cxn ang="0">
                  <a:pos x="14" y="76"/>
                </a:cxn>
                <a:cxn ang="0">
                  <a:pos x="14" y="72"/>
                </a:cxn>
                <a:cxn ang="0">
                  <a:pos x="12" y="70"/>
                </a:cxn>
                <a:cxn ang="0">
                  <a:pos x="12" y="68"/>
                </a:cxn>
                <a:cxn ang="0">
                  <a:pos x="10" y="66"/>
                </a:cxn>
                <a:cxn ang="0">
                  <a:pos x="10" y="62"/>
                </a:cxn>
                <a:cxn ang="0">
                  <a:pos x="10" y="60"/>
                </a:cxn>
                <a:cxn ang="0">
                  <a:pos x="8" y="58"/>
                </a:cxn>
                <a:cxn ang="0">
                  <a:pos x="8" y="55"/>
                </a:cxn>
                <a:cxn ang="0">
                  <a:pos x="6" y="53"/>
                </a:cxn>
                <a:cxn ang="0">
                  <a:pos x="6" y="51"/>
                </a:cxn>
                <a:cxn ang="0">
                  <a:pos x="6" y="49"/>
                </a:cxn>
                <a:cxn ang="0">
                  <a:pos x="4" y="45"/>
                </a:cxn>
                <a:cxn ang="0">
                  <a:pos x="4" y="41"/>
                </a:cxn>
                <a:cxn ang="0">
                  <a:pos x="2" y="39"/>
                </a:cxn>
                <a:cxn ang="0">
                  <a:pos x="2" y="38"/>
                </a:cxn>
                <a:cxn ang="0">
                  <a:pos x="2" y="36"/>
                </a:cxn>
                <a:cxn ang="0">
                  <a:pos x="2" y="32"/>
                </a:cxn>
                <a:cxn ang="0">
                  <a:pos x="2" y="30"/>
                </a:cxn>
                <a:cxn ang="0">
                  <a:pos x="2" y="26"/>
                </a:cxn>
                <a:cxn ang="0">
                  <a:pos x="0" y="24"/>
                </a:cxn>
                <a:cxn ang="0">
                  <a:pos x="0" y="20"/>
                </a:cxn>
                <a:cxn ang="0">
                  <a:pos x="0" y="19"/>
                </a:cxn>
                <a:cxn ang="0">
                  <a:pos x="0" y="15"/>
                </a:cxn>
                <a:cxn ang="0">
                  <a:pos x="0" y="11"/>
                </a:cxn>
                <a:cxn ang="0">
                  <a:pos x="0" y="7"/>
                </a:cxn>
                <a:cxn ang="0">
                  <a:pos x="0" y="5"/>
                </a:cxn>
                <a:cxn ang="0">
                  <a:pos x="0" y="1"/>
                </a:cxn>
                <a:cxn ang="0">
                  <a:pos x="0" y="0"/>
                </a:cxn>
              </a:cxnLst>
              <a:rect l="0" t="0" r="r" b="b"/>
              <a:pathLst>
                <a:path w="19" h="93">
                  <a:moveTo>
                    <a:pt x="19" y="93"/>
                  </a:moveTo>
                  <a:lnTo>
                    <a:pt x="18" y="83"/>
                  </a:lnTo>
                  <a:lnTo>
                    <a:pt x="16" y="81"/>
                  </a:lnTo>
                  <a:lnTo>
                    <a:pt x="16" y="79"/>
                  </a:lnTo>
                  <a:lnTo>
                    <a:pt x="14" y="77"/>
                  </a:lnTo>
                  <a:lnTo>
                    <a:pt x="14" y="76"/>
                  </a:lnTo>
                  <a:lnTo>
                    <a:pt x="14" y="72"/>
                  </a:lnTo>
                  <a:lnTo>
                    <a:pt x="12" y="70"/>
                  </a:lnTo>
                  <a:lnTo>
                    <a:pt x="12" y="68"/>
                  </a:lnTo>
                  <a:lnTo>
                    <a:pt x="10" y="66"/>
                  </a:lnTo>
                  <a:lnTo>
                    <a:pt x="10" y="62"/>
                  </a:lnTo>
                  <a:lnTo>
                    <a:pt x="10" y="60"/>
                  </a:lnTo>
                  <a:lnTo>
                    <a:pt x="8" y="58"/>
                  </a:lnTo>
                  <a:lnTo>
                    <a:pt x="8" y="55"/>
                  </a:lnTo>
                  <a:lnTo>
                    <a:pt x="6" y="53"/>
                  </a:lnTo>
                  <a:lnTo>
                    <a:pt x="6" y="51"/>
                  </a:lnTo>
                  <a:lnTo>
                    <a:pt x="6" y="49"/>
                  </a:lnTo>
                  <a:lnTo>
                    <a:pt x="4" y="45"/>
                  </a:lnTo>
                  <a:lnTo>
                    <a:pt x="4" y="41"/>
                  </a:lnTo>
                  <a:lnTo>
                    <a:pt x="2" y="39"/>
                  </a:lnTo>
                  <a:lnTo>
                    <a:pt x="2" y="38"/>
                  </a:lnTo>
                  <a:lnTo>
                    <a:pt x="2" y="36"/>
                  </a:lnTo>
                  <a:lnTo>
                    <a:pt x="2" y="32"/>
                  </a:lnTo>
                  <a:lnTo>
                    <a:pt x="2" y="30"/>
                  </a:lnTo>
                  <a:lnTo>
                    <a:pt x="2" y="26"/>
                  </a:lnTo>
                  <a:lnTo>
                    <a:pt x="0" y="24"/>
                  </a:lnTo>
                  <a:lnTo>
                    <a:pt x="0" y="20"/>
                  </a:lnTo>
                  <a:lnTo>
                    <a:pt x="0" y="19"/>
                  </a:lnTo>
                  <a:lnTo>
                    <a:pt x="0" y="15"/>
                  </a:lnTo>
                  <a:lnTo>
                    <a:pt x="0" y="11"/>
                  </a:lnTo>
                  <a:lnTo>
                    <a:pt x="0" y="7"/>
                  </a:lnTo>
                  <a:lnTo>
                    <a:pt x="0" y="5"/>
                  </a:lnTo>
                  <a:lnTo>
                    <a:pt x="0" y="1"/>
                  </a:lnTo>
                  <a:lnTo>
                    <a:pt x="0" y="0"/>
                  </a:lnTo>
                </a:path>
              </a:pathLst>
            </a:custGeom>
            <a:noFill/>
            <a:ln w="9525">
              <a:solidFill>
                <a:srgbClr val="000000"/>
              </a:solidFill>
              <a:prstDash val="solid"/>
              <a:round/>
              <a:headEnd/>
              <a:tailEnd/>
            </a:ln>
          </p:spPr>
          <p:txBody>
            <a:bodyPr/>
            <a:lstStyle/>
            <a:p>
              <a:endParaRPr lang="en-GB"/>
            </a:p>
          </p:txBody>
        </p:sp>
        <p:sp>
          <p:nvSpPr>
            <p:cNvPr id="148532" name="Arc 52"/>
            <p:cNvSpPr>
              <a:spLocks/>
            </p:cNvSpPr>
            <p:nvPr/>
          </p:nvSpPr>
          <p:spPr bwMode="auto">
            <a:xfrm>
              <a:off x="2308" y="2104"/>
              <a:ext cx="46" cy="69"/>
            </a:xfrm>
            <a:custGeom>
              <a:avLst/>
              <a:gdLst>
                <a:gd name="G0" fmla="+- 7685 0 0"/>
                <a:gd name="G1" fmla="+- 0 0 0"/>
                <a:gd name="G2" fmla="+- 21600 0 0"/>
                <a:gd name="T0" fmla="*/ 14584 w 14584"/>
                <a:gd name="T1" fmla="*/ 20468 h 21600"/>
                <a:gd name="T2" fmla="*/ 0 w 14584"/>
                <a:gd name="T3" fmla="*/ 20187 h 21600"/>
                <a:gd name="T4" fmla="*/ 7685 w 14584"/>
                <a:gd name="T5" fmla="*/ 0 h 21600"/>
              </a:gdLst>
              <a:ahLst/>
              <a:cxnLst>
                <a:cxn ang="0">
                  <a:pos x="T0" y="T1"/>
                </a:cxn>
                <a:cxn ang="0">
                  <a:pos x="T2" y="T3"/>
                </a:cxn>
                <a:cxn ang="0">
                  <a:pos x="T4" y="T5"/>
                </a:cxn>
              </a:cxnLst>
              <a:rect l="0" t="0" r="r" b="b"/>
              <a:pathLst>
                <a:path w="14584" h="21600" fill="none" extrusionOk="0">
                  <a:moveTo>
                    <a:pt x="14584" y="20468"/>
                  </a:moveTo>
                  <a:cubicBezTo>
                    <a:pt x="12361" y="21217"/>
                    <a:pt x="10030" y="21599"/>
                    <a:pt x="7685" y="21600"/>
                  </a:cubicBezTo>
                  <a:cubicBezTo>
                    <a:pt x="5058" y="21600"/>
                    <a:pt x="2454" y="21121"/>
                    <a:pt x="0" y="20186"/>
                  </a:cubicBezTo>
                </a:path>
                <a:path w="14584" h="21600" stroke="0" extrusionOk="0">
                  <a:moveTo>
                    <a:pt x="14584" y="20468"/>
                  </a:moveTo>
                  <a:cubicBezTo>
                    <a:pt x="12361" y="21217"/>
                    <a:pt x="10030" y="21599"/>
                    <a:pt x="7685" y="21600"/>
                  </a:cubicBezTo>
                  <a:cubicBezTo>
                    <a:pt x="5058" y="21600"/>
                    <a:pt x="2454" y="21121"/>
                    <a:pt x="0" y="20186"/>
                  </a:cubicBezTo>
                  <a:lnTo>
                    <a:pt x="7685" y="0"/>
                  </a:lnTo>
                  <a:close/>
                </a:path>
              </a:pathLst>
            </a:custGeom>
            <a:solidFill>
              <a:srgbClr val="000000"/>
            </a:solidFill>
            <a:ln w="9525">
              <a:noFill/>
              <a:round/>
              <a:headEnd/>
              <a:tailEnd/>
            </a:ln>
          </p:spPr>
          <p:txBody>
            <a:bodyPr/>
            <a:lstStyle/>
            <a:p>
              <a:endParaRPr lang="en-GB"/>
            </a:p>
          </p:txBody>
        </p:sp>
        <p:sp>
          <p:nvSpPr>
            <p:cNvPr id="148533" name="Line 53"/>
            <p:cNvSpPr>
              <a:spLocks noChangeShapeType="1"/>
            </p:cNvSpPr>
            <p:nvPr/>
          </p:nvSpPr>
          <p:spPr bwMode="auto">
            <a:xfrm flipV="1">
              <a:off x="2329" y="2168"/>
              <a:ext cx="1" cy="43"/>
            </a:xfrm>
            <a:prstGeom prst="line">
              <a:avLst/>
            </a:prstGeom>
            <a:noFill/>
            <a:ln w="9525">
              <a:solidFill>
                <a:srgbClr val="000000"/>
              </a:solidFill>
              <a:round/>
              <a:headEnd/>
              <a:tailEnd/>
            </a:ln>
          </p:spPr>
          <p:txBody>
            <a:bodyPr/>
            <a:lstStyle/>
            <a:p>
              <a:endParaRPr lang="en-GB"/>
            </a:p>
          </p:txBody>
        </p:sp>
        <p:sp>
          <p:nvSpPr>
            <p:cNvPr id="148534" name="Text Box 54"/>
            <p:cNvSpPr txBox="1">
              <a:spLocks noChangeArrowheads="1"/>
            </p:cNvSpPr>
            <p:nvPr/>
          </p:nvSpPr>
          <p:spPr bwMode="auto">
            <a:xfrm>
              <a:off x="240" y="1632"/>
              <a:ext cx="1375" cy="414"/>
            </a:xfrm>
            <a:prstGeom prst="rect">
              <a:avLst/>
            </a:prstGeom>
            <a:noFill/>
            <a:ln w="9525">
              <a:noFill/>
              <a:miter lim="800000"/>
              <a:headEnd/>
              <a:tailEnd/>
            </a:ln>
            <a:effectLst/>
          </p:spPr>
          <p:txBody>
            <a:bodyPr wrap="none">
              <a:spAutoFit/>
            </a:bodyPr>
            <a:lstStyle/>
            <a:p>
              <a:r>
                <a:rPr lang="en-US" dirty="0">
                  <a:latin typeface="Times New Roman" pitchFamily="18" charset="0"/>
                </a:rPr>
                <a:t>1. Identify next level</a:t>
              </a:r>
            </a:p>
            <a:p>
              <a:r>
                <a:rPr lang="en-US" dirty="0">
                  <a:latin typeface="Times New Roman" pitchFamily="18" charset="0"/>
                </a:rPr>
                <a:t>    stakeholders</a:t>
              </a:r>
            </a:p>
          </p:txBody>
        </p:sp>
        <p:sp>
          <p:nvSpPr>
            <p:cNvPr id="148535" name="Text Box 55"/>
            <p:cNvSpPr txBox="1">
              <a:spLocks noChangeArrowheads="1"/>
            </p:cNvSpPr>
            <p:nvPr/>
          </p:nvSpPr>
          <p:spPr bwMode="auto">
            <a:xfrm>
              <a:off x="1680" y="1104"/>
              <a:ext cx="1614" cy="414"/>
            </a:xfrm>
            <a:prstGeom prst="rect">
              <a:avLst/>
            </a:prstGeom>
            <a:noFill/>
            <a:ln w="9525">
              <a:noFill/>
              <a:miter lim="800000"/>
              <a:headEnd/>
              <a:tailEnd/>
            </a:ln>
            <a:effectLst/>
          </p:spPr>
          <p:txBody>
            <a:bodyPr wrap="none">
              <a:spAutoFit/>
            </a:bodyPr>
            <a:lstStyle/>
            <a:p>
              <a:r>
                <a:rPr lang="en-US">
                  <a:latin typeface="Times New Roman" pitchFamily="18" charset="0"/>
                </a:rPr>
                <a:t>2. Identify Stakeholders’</a:t>
              </a:r>
            </a:p>
            <a:p>
              <a:r>
                <a:rPr lang="en-US">
                  <a:latin typeface="Times New Roman" pitchFamily="18" charset="0"/>
                </a:rPr>
                <a:t>    win conditions</a:t>
              </a:r>
            </a:p>
          </p:txBody>
        </p:sp>
        <p:sp>
          <p:nvSpPr>
            <p:cNvPr id="148536" name="Text Box 56"/>
            <p:cNvSpPr txBox="1">
              <a:spLocks noChangeArrowheads="1"/>
            </p:cNvSpPr>
            <p:nvPr/>
          </p:nvSpPr>
          <p:spPr bwMode="auto">
            <a:xfrm>
              <a:off x="3888" y="1008"/>
              <a:ext cx="1802" cy="768"/>
            </a:xfrm>
            <a:prstGeom prst="rect">
              <a:avLst/>
            </a:prstGeom>
            <a:noFill/>
            <a:ln w="9525">
              <a:noFill/>
              <a:miter lim="800000"/>
              <a:headEnd/>
              <a:tailEnd/>
            </a:ln>
            <a:effectLst/>
          </p:spPr>
          <p:txBody>
            <a:bodyPr wrap="none">
              <a:spAutoFit/>
            </a:bodyPr>
            <a:lstStyle/>
            <a:p>
              <a:r>
                <a:rPr lang="en-US">
                  <a:latin typeface="Times New Roman" pitchFamily="18" charset="0"/>
                </a:rPr>
                <a:t>3. Reconcile win conditions</a:t>
              </a:r>
              <a:br>
                <a:rPr lang="en-US">
                  <a:latin typeface="Times New Roman" pitchFamily="18" charset="0"/>
                </a:rPr>
              </a:br>
              <a:r>
                <a:rPr lang="en-US">
                  <a:latin typeface="Times New Roman" pitchFamily="18" charset="0"/>
                </a:rPr>
                <a:t>    Establish next level</a:t>
              </a:r>
              <a:br>
                <a:rPr lang="en-US">
                  <a:latin typeface="Times New Roman" pitchFamily="18" charset="0"/>
                </a:rPr>
              </a:br>
              <a:r>
                <a:rPr lang="en-US">
                  <a:latin typeface="Times New Roman" pitchFamily="18" charset="0"/>
                </a:rPr>
                <a:t>    objectives, constraints,</a:t>
              </a:r>
              <a:br>
                <a:rPr lang="en-US">
                  <a:latin typeface="Times New Roman" pitchFamily="18" charset="0"/>
                </a:rPr>
              </a:br>
              <a:r>
                <a:rPr lang="en-US">
                  <a:latin typeface="Times New Roman" pitchFamily="18" charset="0"/>
                </a:rPr>
                <a:t>    alternatives</a:t>
              </a:r>
            </a:p>
          </p:txBody>
        </p:sp>
        <p:sp>
          <p:nvSpPr>
            <p:cNvPr id="148537" name="Text Box 57"/>
            <p:cNvSpPr txBox="1">
              <a:spLocks noChangeArrowheads="1"/>
            </p:cNvSpPr>
            <p:nvPr/>
          </p:nvSpPr>
          <p:spPr bwMode="auto">
            <a:xfrm>
              <a:off x="2534" y="3480"/>
              <a:ext cx="2224" cy="413"/>
            </a:xfrm>
            <a:prstGeom prst="rect">
              <a:avLst/>
            </a:prstGeom>
            <a:noFill/>
            <a:ln w="9525">
              <a:noFill/>
              <a:miter lim="800000"/>
              <a:headEnd/>
              <a:tailEnd/>
            </a:ln>
            <a:effectLst/>
          </p:spPr>
          <p:txBody>
            <a:bodyPr wrap="none">
              <a:spAutoFit/>
            </a:bodyPr>
            <a:lstStyle/>
            <a:p>
              <a:r>
                <a:rPr lang="en-US">
                  <a:latin typeface="Times New Roman" pitchFamily="18" charset="0"/>
                </a:rPr>
                <a:t>5. Define next level of product and</a:t>
              </a:r>
              <a:br>
                <a:rPr lang="en-US">
                  <a:latin typeface="Times New Roman" pitchFamily="18" charset="0"/>
                </a:rPr>
              </a:br>
              <a:r>
                <a:rPr lang="en-US">
                  <a:latin typeface="Times New Roman" pitchFamily="18" charset="0"/>
                </a:rPr>
                <a:t>    process – including partitions</a:t>
              </a:r>
            </a:p>
          </p:txBody>
        </p:sp>
        <p:sp>
          <p:nvSpPr>
            <p:cNvPr id="148538" name="Text Box 58"/>
            <p:cNvSpPr txBox="1">
              <a:spLocks noChangeArrowheads="1"/>
            </p:cNvSpPr>
            <p:nvPr/>
          </p:nvSpPr>
          <p:spPr bwMode="auto">
            <a:xfrm>
              <a:off x="576" y="3648"/>
              <a:ext cx="1571" cy="413"/>
            </a:xfrm>
            <a:prstGeom prst="rect">
              <a:avLst/>
            </a:prstGeom>
            <a:noFill/>
            <a:ln w="9525">
              <a:noFill/>
              <a:miter lim="800000"/>
              <a:headEnd/>
              <a:tailEnd/>
            </a:ln>
            <a:effectLst/>
          </p:spPr>
          <p:txBody>
            <a:bodyPr wrap="none">
              <a:spAutoFit/>
            </a:bodyPr>
            <a:lstStyle/>
            <a:p>
              <a:r>
                <a:rPr lang="en-US">
                  <a:latin typeface="Times New Roman" pitchFamily="18" charset="0"/>
                </a:rPr>
                <a:t>6.  Validate product and</a:t>
              </a:r>
              <a:br>
                <a:rPr lang="en-US">
                  <a:latin typeface="Times New Roman" pitchFamily="18" charset="0"/>
                </a:rPr>
              </a:br>
              <a:r>
                <a:rPr lang="en-US">
                  <a:latin typeface="Times New Roman" pitchFamily="18" charset="0"/>
                </a:rPr>
                <a:t>     process definitions</a:t>
              </a:r>
            </a:p>
          </p:txBody>
        </p:sp>
        <p:sp>
          <p:nvSpPr>
            <p:cNvPr id="148539" name="Text Box 59"/>
            <p:cNvSpPr txBox="1">
              <a:spLocks noChangeArrowheads="1"/>
            </p:cNvSpPr>
            <p:nvPr/>
          </p:nvSpPr>
          <p:spPr bwMode="auto">
            <a:xfrm>
              <a:off x="144" y="2928"/>
              <a:ext cx="1568" cy="236"/>
            </a:xfrm>
            <a:prstGeom prst="rect">
              <a:avLst/>
            </a:prstGeom>
            <a:noFill/>
            <a:ln w="9525">
              <a:noFill/>
              <a:miter lim="800000"/>
              <a:headEnd/>
              <a:tailEnd/>
            </a:ln>
            <a:effectLst/>
          </p:spPr>
          <p:txBody>
            <a:bodyPr wrap="none">
              <a:spAutoFit/>
            </a:bodyPr>
            <a:lstStyle/>
            <a:p>
              <a:r>
                <a:rPr lang="en-US">
                  <a:latin typeface="Times New Roman" pitchFamily="18" charset="0"/>
                </a:rPr>
                <a:t>7. Review, commitment</a:t>
              </a: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886937" y="350679"/>
            <a:ext cx="7406640" cy="1356360"/>
          </a:xfrm>
        </p:spPr>
        <p:txBody>
          <a:bodyPr/>
          <a:lstStyle/>
          <a:p>
            <a:r>
              <a:rPr lang="en-US" dirty="0"/>
              <a:t>RUP</a:t>
            </a:r>
          </a:p>
        </p:txBody>
      </p:sp>
      <p:grpSp>
        <p:nvGrpSpPr>
          <p:cNvPr id="2" name="Group 3"/>
          <p:cNvGrpSpPr>
            <a:grpSpLocks/>
          </p:cNvGrpSpPr>
          <p:nvPr/>
        </p:nvGrpSpPr>
        <p:grpSpPr bwMode="auto">
          <a:xfrm>
            <a:off x="685800" y="1295400"/>
            <a:ext cx="7964488" cy="4897438"/>
            <a:chOff x="421" y="1104"/>
            <a:chExt cx="5017" cy="3085"/>
          </a:xfrm>
        </p:grpSpPr>
        <p:sp>
          <p:nvSpPr>
            <p:cNvPr id="149508" name="Line 4"/>
            <p:cNvSpPr>
              <a:spLocks noChangeShapeType="1"/>
            </p:cNvSpPr>
            <p:nvPr/>
          </p:nvSpPr>
          <p:spPr bwMode="auto">
            <a:xfrm flipH="1" flipV="1">
              <a:off x="3501" y="1515"/>
              <a:ext cx="4" cy="2194"/>
            </a:xfrm>
            <a:prstGeom prst="line">
              <a:avLst/>
            </a:prstGeom>
            <a:noFill/>
            <a:ln w="3175">
              <a:solidFill>
                <a:schemeClr val="tx1"/>
              </a:solidFill>
              <a:prstDash val="dash"/>
              <a:round/>
              <a:headEnd type="none" w="sm" len="sm"/>
              <a:tailEnd type="none" w="med" len="lg"/>
            </a:ln>
            <a:effectLst/>
          </p:spPr>
          <p:txBody>
            <a:bodyPr anchor="ctr">
              <a:spAutoFit/>
            </a:bodyPr>
            <a:lstStyle/>
            <a:p>
              <a:endParaRPr lang="en-GB"/>
            </a:p>
          </p:txBody>
        </p:sp>
        <p:sp>
          <p:nvSpPr>
            <p:cNvPr id="149509" name="Line 5"/>
            <p:cNvSpPr>
              <a:spLocks noChangeShapeType="1"/>
            </p:cNvSpPr>
            <p:nvPr/>
          </p:nvSpPr>
          <p:spPr bwMode="auto">
            <a:xfrm flipH="1" flipV="1">
              <a:off x="4145" y="1516"/>
              <a:ext cx="0" cy="2195"/>
            </a:xfrm>
            <a:prstGeom prst="line">
              <a:avLst/>
            </a:prstGeom>
            <a:noFill/>
            <a:ln w="3175">
              <a:solidFill>
                <a:schemeClr val="tx1"/>
              </a:solidFill>
              <a:prstDash val="dash"/>
              <a:round/>
              <a:headEnd type="none" w="sm" len="sm"/>
              <a:tailEnd type="none" w="med" len="lg"/>
            </a:ln>
            <a:effectLst/>
          </p:spPr>
          <p:txBody>
            <a:bodyPr anchor="ctr">
              <a:spAutoFit/>
            </a:bodyPr>
            <a:lstStyle/>
            <a:p>
              <a:endParaRPr lang="en-GB"/>
            </a:p>
          </p:txBody>
        </p:sp>
        <p:sp>
          <p:nvSpPr>
            <p:cNvPr id="149510" name="Line 6"/>
            <p:cNvSpPr>
              <a:spLocks noChangeShapeType="1"/>
            </p:cNvSpPr>
            <p:nvPr/>
          </p:nvSpPr>
          <p:spPr bwMode="auto">
            <a:xfrm flipH="1" flipV="1">
              <a:off x="4455" y="1513"/>
              <a:ext cx="1" cy="2175"/>
            </a:xfrm>
            <a:prstGeom prst="line">
              <a:avLst/>
            </a:prstGeom>
            <a:noFill/>
            <a:ln w="3175">
              <a:solidFill>
                <a:schemeClr val="tx1"/>
              </a:solidFill>
              <a:prstDash val="dash"/>
              <a:round/>
              <a:headEnd type="none" w="sm" len="sm"/>
              <a:tailEnd type="none" w="med" len="lg"/>
            </a:ln>
            <a:effectLst/>
          </p:spPr>
          <p:txBody>
            <a:bodyPr anchor="ctr">
              <a:spAutoFit/>
            </a:bodyPr>
            <a:lstStyle/>
            <a:p>
              <a:endParaRPr lang="en-GB"/>
            </a:p>
          </p:txBody>
        </p:sp>
        <p:sp>
          <p:nvSpPr>
            <p:cNvPr id="149511" name="Line 7"/>
            <p:cNvSpPr>
              <a:spLocks noChangeShapeType="1"/>
            </p:cNvSpPr>
            <p:nvPr/>
          </p:nvSpPr>
          <p:spPr bwMode="auto">
            <a:xfrm flipH="1" flipV="1">
              <a:off x="5094" y="1516"/>
              <a:ext cx="0" cy="2188"/>
            </a:xfrm>
            <a:prstGeom prst="line">
              <a:avLst/>
            </a:prstGeom>
            <a:noFill/>
            <a:ln w="3175">
              <a:solidFill>
                <a:schemeClr val="tx1"/>
              </a:solidFill>
              <a:prstDash val="dash"/>
              <a:round/>
              <a:headEnd type="none" w="sm" len="sm"/>
              <a:tailEnd type="none" w="med" len="lg"/>
            </a:ln>
            <a:effectLst/>
          </p:spPr>
          <p:txBody>
            <a:bodyPr anchor="ctr">
              <a:spAutoFit/>
            </a:bodyPr>
            <a:lstStyle/>
            <a:p>
              <a:endParaRPr lang="en-GB"/>
            </a:p>
          </p:txBody>
        </p:sp>
        <p:sp>
          <p:nvSpPr>
            <p:cNvPr id="149512" name="Line 8"/>
            <p:cNvSpPr>
              <a:spLocks noChangeShapeType="1"/>
            </p:cNvSpPr>
            <p:nvPr/>
          </p:nvSpPr>
          <p:spPr bwMode="auto">
            <a:xfrm flipH="1" flipV="1">
              <a:off x="3207" y="1512"/>
              <a:ext cx="2" cy="2206"/>
            </a:xfrm>
            <a:prstGeom prst="line">
              <a:avLst/>
            </a:prstGeom>
            <a:noFill/>
            <a:ln w="25400">
              <a:solidFill>
                <a:schemeClr val="tx1"/>
              </a:solidFill>
              <a:prstDash val="sysDot"/>
              <a:round/>
              <a:headEnd type="none" w="sm" len="sm"/>
              <a:tailEnd type="none" w="med" len="lg"/>
            </a:ln>
            <a:effectLst/>
          </p:spPr>
          <p:txBody>
            <a:bodyPr anchor="ctr">
              <a:spAutoFit/>
            </a:bodyPr>
            <a:lstStyle/>
            <a:p>
              <a:endParaRPr lang="en-GB"/>
            </a:p>
          </p:txBody>
        </p:sp>
        <p:sp>
          <p:nvSpPr>
            <p:cNvPr id="149513" name="Line 9"/>
            <p:cNvSpPr>
              <a:spLocks noChangeShapeType="1"/>
            </p:cNvSpPr>
            <p:nvPr/>
          </p:nvSpPr>
          <p:spPr bwMode="auto">
            <a:xfrm flipH="1" flipV="1">
              <a:off x="3818" y="1512"/>
              <a:ext cx="0" cy="2206"/>
            </a:xfrm>
            <a:prstGeom prst="line">
              <a:avLst/>
            </a:prstGeom>
            <a:noFill/>
            <a:ln w="25400">
              <a:solidFill>
                <a:schemeClr val="tx1"/>
              </a:solidFill>
              <a:prstDash val="sysDot"/>
              <a:round/>
              <a:headEnd type="none" w="sm" len="sm"/>
              <a:tailEnd type="none" w="med" len="lg"/>
            </a:ln>
            <a:effectLst/>
          </p:spPr>
          <p:txBody>
            <a:bodyPr anchor="ctr">
              <a:spAutoFit/>
            </a:bodyPr>
            <a:lstStyle/>
            <a:p>
              <a:endParaRPr lang="en-GB"/>
            </a:p>
          </p:txBody>
        </p:sp>
        <p:sp>
          <p:nvSpPr>
            <p:cNvPr id="149514" name="Line 10"/>
            <p:cNvSpPr>
              <a:spLocks noChangeShapeType="1"/>
            </p:cNvSpPr>
            <p:nvPr/>
          </p:nvSpPr>
          <p:spPr bwMode="auto">
            <a:xfrm flipV="1">
              <a:off x="4739" y="1515"/>
              <a:ext cx="0" cy="2194"/>
            </a:xfrm>
            <a:prstGeom prst="line">
              <a:avLst/>
            </a:prstGeom>
            <a:noFill/>
            <a:ln w="25400">
              <a:solidFill>
                <a:schemeClr val="tx1"/>
              </a:solidFill>
              <a:prstDash val="sysDot"/>
              <a:round/>
              <a:headEnd type="none" w="sm" len="sm"/>
              <a:tailEnd type="none" w="med" len="lg"/>
            </a:ln>
            <a:effectLst/>
          </p:spPr>
          <p:txBody>
            <a:bodyPr anchor="ctr">
              <a:spAutoFit/>
            </a:bodyPr>
            <a:lstStyle/>
            <a:p>
              <a:endParaRPr lang="en-GB"/>
            </a:p>
          </p:txBody>
        </p:sp>
        <p:sp>
          <p:nvSpPr>
            <p:cNvPr id="149515" name="Rectangle 11"/>
            <p:cNvSpPr>
              <a:spLocks noChangeArrowheads="1"/>
            </p:cNvSpPr>
            <p:nvPr/>
          </p:nvSpPr>
          <p:spPr bwMode="auto">
            <a:xfrm>
              <a:off x="949" y="3390"/>
              <a:ext cx="1563" cy="156"/>
            </a:xfrm>
            <a:prstGeom prst="rect">
              <a:avLst/>
            </a:prstGeom>
            <a:noFill/>
            <a:ln w="9525">
              <a:noFill/>
              <a:miter lim="800000"/>
              <a:headEnd/>
              <a:tailEnd/>
            </a:ln>
          </p:spPr>
          <p:txBody>
            <a:bodyPr lIns="0" tIns="0" rIns="0" bIns="0">
              <a:spAutoFit/>
            </a:bodyPr>
            <a:lstStyle/>
            <a:p>
              <a:pPr algn="r" defTabSz="862013" eaLnBrk="0" hangingPunct="0">
                <a:lnSpc>
                  <a:spcPct val="90000"/>
                </a:lnSpc>
                <a:spcBef>
                  <a:spcPct val="50000"/>
                </a:spcBef>
              </a:pPr>
              <a:r>
                <a:rPr lang="en-US" b="1"/>
                <a:t>Project Management</a:t>
              </a:r>
              <a:endParaRPr lang="en-US" sz="2300" b="1"/>
            </a:p>
          </p:txBody>
        </p:sp>
        <p:sp>
          <p:nvSpPr>
            <p:cNvPr id="149516" name="Rectangle 12"/>
            <p:cNvSpPr>
              <a:spLocks noChangeArrowheads="1"/>
            </p:cNvSpPr>
            <p:nvPr/>
          </p:nvSpPr>
          <p:spPr bwMode="auto">
            <a:xfrm>
              <a:off x="1632" y="3600"/>
              <a:ext cx="880" cy="156"/>
            </a:xfrm>
            <a:prstGeom prst="rect">
              <a:avLst/>
            </a:prstGeom>
            <a:noFill/>
            <a:ln w="9525">
              <a:noFill/>
              <a:miter lim="800000"/>
              <a:headEnd/>
              <a:tailEnd/>
            </a:ln>
          </p:spPr>
          <p:txBody>
            <a:bodyPr wrap="none" lIns="0" tIns="0" rIns="0" bIns="0">
              <a:spAutoFit/>
            </a:bodyPr>
            <a:lstStyle/>
            <a:p>
              <a:pPr defTabSz="862013" eaLnBrk="0" hangingPunct="0">
                <a:lnSpc>
                  <a:spcPct val="90000"/>
                </a:lnSpc>
                <a:spcBef>
                  <a:spcPct val="50000"/>
                </a:spcBef>
              </a:pPr>
              <a:r>
                <a:rPr lang="en-US" b="1"/>
                <a:t>Environment</a:t>
              </a:r>
              <a:endParaRPr lang="en-US" sz="2300" b="1"/>
            </a:p>
          </p:txBody>
        </p:sp>
        <p:sp>
          <p:nvSpPr>
            <p:cNvPr id="149517" name="Rectangle 13"/>
            <p:cNvSpPr>
              <a:spLocks noChangeArrowheads="1"/>
            </p:cNvSpPr>
            <p:nvPr/>
          </p:nvSpPr>
          <p:spPr bwMode="auto">
            <a:xfrm>
              <a:off x="1147" y="1585"/>
              <a:ext cx="1397" cy="156"/>
            </a:xfrm>
            <a:prstGeom prst="rect">
              <a:avLst/>
            </a:prstGeom>
            <a:noFill/>
            <a:ln w="9525">
              <a:noFill/>
              <a:miter lim="800000"/>
              <a:headEnd/>
              <a:tailEnd/>
            </a:ln>
          </p:spPr>
          <p:txBody>
            <a:bodyPr lIns="0" tIns="0" rIns="0" bIns="0">
              <a:spAutoFit/>
            </a:bodyPr>
            <a:lstStyle/>
            <a:p>
              <a:pPr algn="r" defTabSz="862013" eaLnBrk="0" hangingPunct="0">
                <a:lnSpc>
                  <a:spcPct val="90000"/>
                </a:lnSpc>
                <a:spcBef>
                  <a:spcPct val="50000"/>
                </a:spcBef>
              </a:pPr>
              <a:r>
                <a:rPr lang="en-US" b="1"/>
                <a:t>Business Modeling</a:t>
              </a:r>
              <a:endParaRPr lang="en-US" sz="2300" b="1"/>
            </a:p>
          </p:txBody>
        </p:sp>
        <p:sp>
          <p:nvSpPr>
            <p:cNvPr id="149518" name="Rectangle 14"/>
            <p:cNvSpPr>
              <a:spLocks noChangeArrowheads="1"/>
            </p:cNvSpPr>
            <p:nvPr/>
          </p:nvSpPr>
          <p:spPr bwMode="auto">
            <a:xfrm>
              <a:off x="1480" y="2285"/>
              <a:ext cx="1064" cy="156"/>
            </a:xfrm>
            <a:prstGeom prst="rect">
              <a:avLst/>
            </a:prstGeom>
            <a:noFill/>
            <a:ln w="9525">
              <a:noFill/>
              <a:miter lim="800000"/>
              <a:headEnd/>
              <a:tailEnd/>
            </a:ln>
          </p:spPr>
          <p:txBody>
            <a:bodyPr wrap="none" lIns="0" tIns="0" rIns="0" bIns="0">
              <a:spAutoFit/>
            </a:bodyPr>
            <a:lstStyle/>
            <a:p>
              <a:pPr algn="r" defTabSz="862013" eaLnBrk="0" hangingPunct="0">
                <a:lnSpc>
                  <a:spcPct val="90000"/>
                </a:lnSpc>
                <a:spcBef>
                  <a:spcPct val="50000"/>
                </a:spcBef>
              </a:pPr>
              <a:r>
                <a:rPr lang="en-US" b="1"/>
                <a:t>Implementation</a:t>
              </a:r>
              <a:endParaRPr lang="en-US" sz="2300" b="1"/>
            </a:p>
          </p:txBody>
        </p:sp>
        <p:sp>
          <p:nvSpPr>
            <p:cNvPr id="149519" name="Rectangle 15"/>
            <p:cNvSpPr>
              <a:spLocks noChangeArrowheads="1"/>
            </p:cNvSpPr>
            <p:nvPr/>
          </p:nvSpPr>
          <p:spPr bwMode="auto">
            <a:xfrm>
              <a:off x="2232" y="2495"/>
              <a:ext cx="296" cy="156"/>
            </a:xfrm>
            <a:prstGeom prst="rect">
              <a:avLst/>
            </a:prstGeom>
            <a:noFill/>
            <a:ln w="9525">
              <a:noFill/>
              <a:miter lim="800000"/>
              <a:headEnd/>
              <a:tailEnd/>
            </a:ln>
          </p:spPr>
          <p:txBody>
            <a:bodyPr wrap="none" lIns="0" tIns="0" rIns="0" bIns="0">
              <a:spAutoFit/>
            </a:bodyPr>
            <a:lstStyle/>
            <a:p>
              <a:pPr algn="r" defTabSz="862013" eaLnBrk="0" hangingPunct="0">
                <a:lnSpc>
                  <a:spcPct val="90000"/>
                </a:lnSpc>
                <a:spcBef>
                  <a:spcPct val="50000"/>
                </a:spcBef>
              </a:pPr>
              <a:r>
                <a:rPr lang="en-US" b="1"/>
                <a:t>Test</a:t>
              </a:r>
              <a:endParaRPr lang="en-US" sz="2300" b="1"/>
            </a:p>
          </p:txBody>
        </p:sp>
        <p:sp>
          <p:nvSpPr>
            <p:cNvPr id="149520" name="Rectangle 16"/>
            <p:cNvSpPr>
              <a:spLocks noChangeArrowheads="1"/>
            </p:cNvSpPr>
            <p:nvPr/>
          </p:nvSpPr>
          <p:spPr bwMode="auto">
            <a:xfrm>
              <a:off x="1288" y="2038"/>
              <a:ext cx="1256" cy="156"/>
            </a:xfrm>
            <a:prstGeom prst="rect">
              <a:avLst/>
            </a:prstGeom>
            <a:noFill/>
            <a:ln w="9525">
              <a:noFill/>
              <a:miter lim="800000"/>
              <a:headEnd/>
              <a:tailEnd/>
            </a:ln>
          </p:spPr>
          <p:txBody>
            <a:bodyPr wrap="none" lIns="0" tIns="0" rIns="0" bIns="0">
              <a:spAutoFit/>
            </a:bodyPr>
            <a:lstStyle/>
            <a:p>
              <a:pPr algn="r" defTabSz="862013" eaLnBrk="0" hangingPunct="0">
                <a:lnSpc>
                  <a:spcPct val="90000"/>
                </a:lnSpc>
                <a:spcBef>
                  <a:spcPct val="50000"/>
                </a:spcBef>
              </a:pPr>
              <a:r>
                <a:rPr lang="en-US" b="1"/>
                <a:t>Analysis &amp; Design</a:t>
              </a:r>
              <a:endParaRPr lang="en-US" sz="2300" b="1"/>
            </a:p>
          </p:txBody>
        </p:sp>
        <p:sp>
          <p:nvSpPr>
            <p:cNvPr id="149521" name="Rectangle 17"/>
            <p:cNvSpPr>
              <a:spLocks noChangeArrowheads="1"/>
            </p:cNvSpPr>
            <p:nvPr/>
          </p:nvSpPr>
          <p:spPr bwMode="auto">
            <a:xfrm>
              <a:off x="2663" y="3738"/>
              <a:ext cx="550" cy="226"/>
            </a:xfrm>
            <a:prstGeom prst="rect">
              <a:avLst/>
            </a:prstGeom>
            <a:noFill/>
            <a:ln w="9525">
              <a:noFill/>
              <a:miter lim="800000"/>
              <a:headEnd/>
              <a:tailEnd/>
            </a:ln>
          </p:spPr>
          <p:txBody>
            <a:bodyPr wrap="none" lIns="0" tIns="0" rIns="0" bIns="0">
              <a:spAutoFit/>
            </a:bodyPr>
            <a:lstStyle/>
            <a:p>
              <a:pPr algn="ctr" defTabSz="862013" eaLnBrk="0" hangingPunct="0">
                <a:lnSpc>
                  <a:spcPct val="90000"/>
                </a:lnSpc>
                <a:spcBef>
                  <a:spcPct val="50000"/>
                </a:spcBef>
              </a:pPr>
              <a:r>
                <a:rPr lang="en-US" sz="1300"/>
                <a:t>Preliminary </a:t>
              </a:r>
              <a:br>
                <a:rPr lang="en-US" sz="1300"/>
              </a:br>
              <a:r>
                <a:rPr lang="en-US" sz="1300"/>
                <a:t>Iteration(s)</a:t>
              </a:r>
            </a:p>
          </p:txBody>
        </p:sp>
        <p:sp>
          <p:nvSpPr>
            <p:cNvPr id="149522" name="Rectangle 18"/>
            <p:cNvSpPr>
              <a:spLocks noChangeArrowheads="1"/>
            </p:cNvSpPr>
            <p:nvPr/>
          </p:nvSpPr>
          <p:spPr bwMode="auto">
            <a:xfrm>
              <a:off x="3267" y="3738"/>
              <a:ext cx="209" cy="226"/>
            </a:xfrm>
            <a:prstGeom prst="rect">
              <a:avLst/>
            </a:prstGeom>
            <a:noFill/>
            <a:ln w="9525">
              <a:noFill/>
              <a:miter lim="800000"/>
              <a:headEnd/>
              <a:tailEnd/>
            </a:ln>
          </p:spPr>
          <p:txBody>
            <a:bodyPr wrap="none" lIns="0" tIns="0" rIns="0" bIns="0">
              <a:spAutoFit/>
            </a:bodyPr>
            <a:lstStyle/>
            <a:p>
              <a:pPr algn="ctr" defTabSz="862013" eaLnBrk="0" hangingPunct="0">
                <a:lnSpc>
                  <a:spcPct val="90000"/>
                </a:lnSpc>
                <a:spcBef>
                  <a:spcPct val="50000"/>
                </a:spcBef>
              </a:pPr>
              <a:r>
                <a:rPr lang="en-US" sz="1300"/>
                <a:t> Iter.</a:t>
              </a:r>
              <a:br>
                <a:rPr lang="en-US" sz="1300"/>
              </a:br>
              <a:r>
                <a:rPr lang="en-US" sz="1300"/>
                <a:t>#1</a:t>
              </a:r>
            </a:p>
          </p:txBody>
        </p:sp>
        <p:sp>
          <p:nvSpPr>
            <p:cNvPr id="149523" name="Freeform 19"/>
            <p:cNvSpPr>
              <a:spLocks/>
            </p:cNvSpPr>
            <p:nvPr/>
          </p:nvSpPr>
          <p:spPr bwMode="auto">
            <a:xfrm>
              <a:off x="2676" y="3423"/>
              <a:ext cx="2736" cy="67"/>
            </a:xfrm>
            <a:custGeom>
              <a:avLst/>
              <a:gdLst/>
              <a:ahLst/>
              <a:cxnLst>
                <a:cxn ang="0">
                  <a:pos x="356" y="5"/>
                </a:cxn>
                <a:cxn ang="0">
                  <a:pos x="620" y="72"/>
                </a:cxn>
                <a:cxn ang="0">
                  <a:pos x="715" y="54"/>
                </a:cxn>
                <a:cxn ang="0">
                  <a:pos x="810" y="38"/>
                </a:cxn>
                <a:cxn ang="0">
                  <a:pos x="907" y="23"/>
                </a:cxn>
                <a:cxn ang="0">
                  <a:pos x="1002" y="5"/>
                </a:cxn>
                <a:cxn ang="0">
                  <a:pos x="1053" y="5"/>
                </a:cxn>
                <a:cxn ang="0">
                  <a:pos x="1105" y="0"/>
                </a:cxn>
                <a:cxn ang="0">
                  <a:pos x="1156" y="0"/>
                </a:cxn>
                <a:cxn ang="0">
                  <a:pos x="1207" y="5"/>
                </a:cxn>
                <a:cxn ang="0">
                  <a:pos x="1225" y="13"/>
                </a:cxn>
                <a:cxn ang="0">
                  <a:pos x="1238" y="25"/>
                </a:cxn>
                <a:cxn ang="0">
                  <a:pos x="1248" y="38"/>
                </a:cxn>
                <a:cxn ang="0">
                  <a:pos x="1261" y="51"/>
                </a:cxn>
                <a:cxn ang="0">
                  <a:pos x="1471" y="46"/>
                </a:cxn>
                <a:cxn ang="0">
                  <a:pos x="1687" y="79"/>
                </a:cxn>
                <a:cxn ang="0">
                  <a:pos x="1894" y="33"/>
                </a:cxn>
                <a:cxn ang="0">
                  <a:pos x="2053" y="74"/>
                </a:cxn>
                <a:cxn ang="0">
                  <a:pos x="2092" y="61"/>
                </a:cxn>
                <a:cxn ang="0">
                  <a:pos x="2128" y="49"/>
                </a:cxn>
                <a:cxn ang="0">
                  <a:pos x="2161" y="36"/>
                </a:cxn>
                <a:cxn ang="0">
                  <a:pos x="2194" y="25"/>
                </a:cxn>
                <a:cxn ang="0">
                  <a:pos x="2223" y="20"/>
                </a:cxn>
                <a:cxn ang="0">
                  <a:pos x="2243" y="18"/>
                </a:cxn>
                <a:cxn ang="0">
                  <a:pos x="2261" y="18"/>
                </a:cxn>
                <a:cxn ang="0">
                  <a:pos x="2276" y="20"/>
                </a:cxn>
                <a:cxn ang="0">
                  <a:pos x="2294" y="23"/>
                </a:cxn>
                <a:cxn ang="0">
                  <a:pos x="2310" y="31"/>
                </a:cxn>
                <a:cxn ang="0">
                  <a:pos x="2328" y="38"/>
                </a:cxn>
                <a:cxn ang="0">
                  <a:pos x="2340" y="46"/>
                </a:cxn>
                <a:cxn ang="0">
                  <a:pos x="2805" y="25"/>
                </a:cxn>
                <a:cxn ang="0">
                  <a:pos x="2856" y="23"/>
                </a:cxn>
                <a:cxn ang="0">
                  <a:pos x="2907" y="20"/>
                </a:cxn>
                <a:cxn ang="0">
                  <a:pos x="2956" y="18"/>
                </a:cxn>
                <a:cxn ang="0">
                  <a:pos x="2997" y="20"/>
                </a:cxn>
                <a:cxn ang="0">
                  <a:pos x="3025" y="25"/>
                </a:cxn>
                <a:cxn ang="0">
                  <a:pos x="3046" y="33"/>
                </a:cxn>
                <a:cxn ang="0">
                  <a:pos x="3063" y="43"/>
                </a:cxn>
                <a:cxn ang="0">
                  <a:pos x="3081" y="51"/>
                </a:cxn>
                <a:cxn ang="0">
                  <a:pos x="2840" y="77"/>
                </a:cxn>
                <a:cxn ang="0">
                  <a:pos x="0" y="79"/>
                </a:cxn>
              </a:cxnLst>
              <a:rect l="0" t="0" r="r" b="b"/>
              <a:pathLst>
                <a:path w="3169" h="79">
                  <a:moveTo>
                    <a:pt x="0" y="79"/>
                  </a:moveTo>
                  <a:lnTo>
                    <a:pt x="356" y="5"/>
                  </a:lnTo>
                  <a:lnTo>
                    <a:pt x="538" y="20"/>
                  </a:lnTo>
                  <a:lnTo>
                    <a:pt x="620" y="72"/>
                  </a:lnTo>
                  <a:lnTo>
                    <a:pt x="666" y="61"/>
                  </a:lnTo>
                  <a:lnTo>
                    <a:pt x="715" y="54"/>
                  </a:lnTo>
                  <a:lnTo>
                    <a:pt x="764" y="46"/>
                  </a:lnTo>
                  <a:lnTo>
                    <a:pt x="810" y="38"/>
                  </a:lnTo>
                  <a:lnTo>
                    <a:pt x="859" y="31"/>
                  </a:lnTo>
                  <a:lnTo>
                    <a:pt x="907" y="23"/>
                  </a:lnTo>
                  <a:lnTo>
                    <a:pt x="954" y="15"/>
                  </a:lnTo>
                  <a:lnTo>
                    <a:pt x="1002" y="5"/>
                  </a:lnTo>
                  <a:lnTo>
                    <a:pt x="1028" y="5"/>
                  </a:lnTo>
                  <a:lnTo>
                    <a:pt x="1053" y="5"/>
                  </a:lnTo>
                  <a:lnTo>
                    <a:pt x="1079" y="2"/>
                  </a:lnTo>
                  <a:lnTo>
                    <a:pt x="1105" y="0"/>
                  </a:lnTo>
                  <a:lnTo>
                    <a:pt x="1130" y="0"/>
                  </a:lnTo>
                  <a:lnTo>
                    <a:pt x="1156" y="0"/>
                  </a:lnTo>
                  <a:lnTo>
                    <a:pt x="1182" y="2"/>
                  </a:lnTo>
                  <a:lnTo>
                    <a:pt x="1207" y="5"/>
                  </a:lnTo>
                  <a:lnTo>
                    <a:pt x="1218" y="10"/>
                  </a:lnTo>
                  <a:lnTo>
                    <a:pt x="1225" y="13"/>
                  </a:lnTo>
                  <a:lnTo>
                    <a:pt x="1233" y="20"/>
                  </a:lnTo>
                  <a:lnTo>
                    <a:pt x="1238" y="25"/>
                  </a:lnTo>
                  <a:lnTo>
                    <a:pt x="1243" y="33"/>
                  </a:lnTo>
                  <a:lnTo>
                    <a:pt x="1248" y="38"/>
                  </a:lnTo>
                  <a:lnTo>
                    <a:pt x="1253" y="46"/>
                  </a:lnTo>
                  <a:lnTo>
                    <a:pt x="1261" y="51"/>
                  </a:lnTo>
                  <a:lnTo>
                    <a:pt x="1300" y="79"/>
                  </a:lnTo>
                  <a:lnTo>
                    <a:pt x="1471" y="46"/>
                  </a:lnTo>
                  <a:lnTo>
                    <a:pt x="1564" y="38"/>
                  </a:lnTo>
                  <a:lnTo>
                    <a:pt x="1687" y="79"/>
                  </a:lnTo>
                  <a:lnTo>
                    <a:pt x="1807" y="51"/>
                  </a:lnTo>
                  <a:lnTo>
                    <a:pt x="1894" y="33"/>
                  </a:lnTo>
                  <a:lnTo>
                    <a:pt x="1964" y="43"/>
                  </a:lnTo>
                  <a:lnTo>
                    <a:pt x="2053" y="74"/>
                  </a:lnTo>
                  <a:lnTo>
                    <a:pt x="2074" y="69"/>
                  </a:lnTo>
                  <a:lnTo>
                    <a:pt x="2092" y="61"/>
                  </a:lnTo>
                  <a:lnTo>
                    <a:pt x="2112" y="54"/>
                  </a:lnTo>
                  <a:lnTo>
                    <a:pt x="2128" y="49"/>
                  </a:lnTo>
                  <a:lnTo>
                    <a:pt x="2146" y="41"/>
                  </a:lnTo>
                  <a:lnTo>
                    <a:pt x="2161" y="36"/>
                  </a:lnTo>
                  <a:lnTo>
                    <a:pt x="2179" y="31"/>
                  </a:lnTo>
                  <a:lnTo>
                    <a:pt x="2194" y="25"/>
                  </a:lnTo>
                  <a:lnTo>
                    <a:pt x="2210" y="23"/>
                  </a:lnTo>
                  <a:lnTo>
                    <a:pt x="2223" y="20"/>
                  </a:lnTo>
                  <a:lnTo>
                    <a:pt x="2233" y="18"/>
                  </a:lnTo>
                  <a:lnTo>
                    <a:pt x="2243" y="18"/>
                  </a:lnTo>
                  <a:lnTo>
                    <a:pt x="2253" y="18"/>
                  </a:lnTo>
                  <a:lnTo>
                    <a:pt x="2261" y="18"/>
                  </a:lnTo>
                  <a:lnTo>
                    <a:pt x="2269" y="18"/>
                  </a:lnTo>
                  <a:lnTo>
                    <a:pt x="2276" y="20"/>
                  </a:lnTo>
                  <a:lnTo>
                    <a:pt x="2284" y="20"/>
                  </a:lnTo>
                  <a:lnTo>
                    <a:pt x="2294" y="23"/>
                  </a:lnTo>
                  <a:lnTo>
                    <a:pt x="2302" y="25"/>
                  </a:lnTo>
                  <a:lnTo>
                    <a:pt x="2310" y="31"/>
                  </a:lnTo>
                  <a:lnTo>
                    <a:pt x="2320" y="33"/>
                  </a:lnTo>
                  <a:lnTo>
                    <a:pt x="2328" y="38"/>
                  </a:lnTo>
                  <a:lnTo>
                    <a:pt x="2333" y="41"/>
                  </a:lnTo>
                  <a:lnTo>
                    <a:pt x="2340" y="46"/>
                  </a:lnTo>
                  <a:lnTo>
                    <a:pt x="2392" y="77"/>
                  </a:lnTo>
                  <a:lnTo>
                    <a:pt x="2805" y="25"/>
                  </a:lnTo>
                  <a:lnTo>
                    <a:pt x="2830" y="25"/>
                  </a:lnTo>
                  <a:lnTo>
                    <a:pt x="2856" y="23"/>
                  </a:lnTo>
                  <a:lnTo>
                    <a:pt x="2881" y="20"/>
                  </a:lnTo>
                  <a:lnTo>
                    <a:pt x="2907" y="20"/>
                  </a:lnTo>
                  <a:lnTo>
                    <a:pt x="2933" y="18"/>
                  </a:lnTo>
                  <a:lnTo>
                    <a:pt x="2956" y="18"/>
                  </a:lnTo>
                  <a:lnTo>
                    <a:pt x="2976" y="18"/>
                  </a:lnTo>
                  <a:lnTo>
                    <a:pt x="2997" y="20"/>
                  </a:lnTo>
                  <a:lnTo>
                    <a:pt x="3012" y="20"/>
                  </a:lnTo>
                  <a:lnTo>
                    <a:pt x="3025" y="25"/>
                  </a:lnTo>
                  <a:lnTo>
                    <a:pt x="3035" y="28"/>
                  </a:lnTo>
                  <a:lnTo>
                    <a:pt x="3046" y="33"/>
                  </a:lnTo>
                  <a:lnTo>
                    <a:pt x="3056" y="38"/>
                  </a:lnTo>
                  <a:lnTo>
                    <a:pt x="3063" y="43"/>
                  </a:lnTo>
                  <a:lnTo>
                    <a:pt x="3071" y="49"/>
                  </a:lnTo>
                  <a:lnTo>
                    <a:pt x="3081" y="51"/>
                  </a:lnTo>
                  <a:lnTo>
                    <a:pt x="3169" y="79"/>
                  </a:lnTo>
                  <a:lnTo>
                    <a:pt x="2840" y="77"/>
                  </a:lnTo>
                  <a:lnTo>
                    <a:pt x="1546" y="79"/>
                  </a:lnTo>
                  <a:lnTo>
                    <a:pt x="0" y="79"/>
                  </a:lnTo>
                  <a:close/>
                </a:path>
              </a:pathLst>
            </a:custGeom>
            <a:solidFill>
              <a:srgbClr val="A1D8FD"/>
            </a:solidFill>
            <a:ln w="0">
              <a:solidFill>
                <a:srgbClr val="000000"/>
              </a:solidFill>
              <a:round/>
              <a:headEnd/>
              <a:tailEnd/>
            </a:ln>
          </p:spPr>
          <p:txBody>
            <a:bodyPr/>
            <a:lstStyle/>
            <a:p>
              <a:endParaRPr lang="en-GB"/>
            </a:p>
          </p:txBody>
        </p:sp>
        <p:sp>
          <p:nvSpPr>
            <p:cNvPr id="149524" name="Freeform 20"/>
            <p:cNvSpPr>
              <a:spLocks/>
            </p:cNvSpPr>
            <p:nvPr/>
          </p:nvSpPr>
          <p:spPr bwMode="auto">
            <a:xfrm>
              <a:off x="2690" y="3621"/>
              <a:ext cx="2707" cy="67"/>
            </a:xfrm>
            <a:custGeom>
              <a:avLst/>
              <a:gdLst/>
              <a:ahLst/>
              <a:cxnLst>
                <a:cxn ang="0">
                  <a:pos x="185" y="10"/>
                </a:cxn>
                <a:cxn ang="0">
                  <a:pos x="239" y="0"/>
                </a:cxn>
                <a:cxn ang="0">
                  <a:pos x="282" y="7"/>
                </a:cxn>
                <a:cxn ang="0">
                  <a:pos x="328" y="13"/>
                </a:cxn>
                <a:cxn ang="0">
                  <a:pos x="382" y="25"/>
                </a:cxn>
                <a:cxn ang="0">
                  <a:pos x="431" y="33"/>
                </a:cxn>
                <a:cxn ang="0">
                  <a:pos x="587" y="56"/>
                </a:cxn>
                <a:cxn ang="0">
                  <a:pos x="623" y="56"/>
                </a:cxn>
                <a:cxn ang="0">
                  <a:pos x="649" y="56"/>
                </a:cxn>
                <a:cxn ang="0">
                  <a:pos x="700" y="59"/>
                </a:cxn>
                <a:cxn ang="0">
                  <a:pos x="741" y="61"/>
                </a:cxn>
                <a:cxn ang="0">
                  <a:pos x="774" y="64"/>
                </a:cxn>
                <a:cxn ang="0">
                  <a:pos x="803" y="66"/>
                </a:cxn>
                <a:cxn ang="0">
                  <a:pos x="862" y="66"/>
                </a:cxn>
                <a:cxn ang="0">
                  <a:pos x="923" y="66"/>
                </a:cxn>
                <a:cxn ang="0">
                  <a:pos x="951" y="66"/>
                </a:cxn>
                <a:cxn ang="0">
                  <a:pos x="1000" y="72"/>
                </a:cxn>
                <a:cxn ang="0">
                  <a:pos x="1056" y="72"/>
                </a:cxn>
                <a:cxn ang="0">
                  <a:pos x="1118" y="72"/>
                </a:cxn>
                <a:cxn ang="0">
                  <a:pos x="1162" y="72"/>
                </a:cxn>
                <a:cxn ang="0">
                  <a:pos x="1221" y="72"/>
                </a:cxn>
                <a:cxn ang="0">
                  <a:pos x="1244" y="77"/>
                </a:cxn>
                <a:cxn ang="0">
                  <a:pos x="1264" y="77"/>
                </a:cxn>
                <a:cxn ang="0">
                  <a:pos x="1326" y="77"/>
                </a:cxn>
                <a:cxn ang="0">
                  <a:pos x="1385" y="72"/>
                </a:cxn>
                <a:cxn ang="0">
                  <a:pos x="1426" y="74"/>
                </a:cxn>
                <a:cxn ang="0">
                  <a:pos x="1556" y="79"/>
                </a:cxn>
                <a:cxn ang="0">
                  <a:pos x="1687" y="74"/>
                </a:cxn>
                <a:cxn ang="0">
                  <a:pos x="1700" y="77"/>
                </a:cxn>
                <a:cxn ang="0">
                  <a:pos x="1731" y="74"/>
                </a:cxn>
                <a:cxn ang="0">
                  <a:pos x="1764" y="74"/>
                </a:cxn>
                <a:cxn ang="0">
                  <a:pos x="1836" y="74"/>
                </a:cxn>
                <a:cxn ang="0">
                  <a:pos x="1908" y="77"/>
                </a:cxn>
                <a:cxn ang="0">
                  <a:pos x="1967" y="77"/>
                </a:cxn>
                <a:cxn ang="0">
                  <a:pos x="2043" y="77"/>
                </a:cxn>
                <a:cxn ang="0">
                  <a:pos x="2115" y="74"/>
                </a:cxn>
                <a:cxn ang="0">
                  <a:pos x="2164" y="77"/>
                </a:cxn>
                <a:cxn ang="0">
                  <a:pos x="2215" y="77"/>
                </a:cxn>
                <a:cxn ang="0">
                  <a:pos x="2264" y="77"/>
                </a:cxn>
                <a:cxn ang="0">
                  <a:pos x="2259" y="77"/>
                </a:cxn>
                <a:cxn ang="0">
                  <a:pos x="2392" y="77"/>
                </a:cxn>
                <a:cxn ang="0">
                  <a:pos x="2713" y="77"/>
                </a:cxn>
                <a:cxn ang="0">
                  <a:pos x="2884" y="77"/>
                </a:cxn>
                <a:cxn ang="0">
                  <a:pos x="2982" y="77"/>
                </a:cxn>
                <a:cxn ang="0">
                  <a:pos x="3056" y="79"/>
                </a:cxn>
                <a:cxn ang="0">
                  <a:pos x="3079" y="74"/>
                </a:cxn>
                <a:cxn ang="0">
                  <a:pos x="3102" y="74"/>
                </a:cxn>
                <a:cxn ang="0">
                  <a:pos x="3133" y="77"/>
                </a:cxn>
                <a:cxn ang="0">
                  <a:pos x="3007" y="77"/>
                </a:cxn>
                <a:cxn ang="0">
                  <a:pos x="2928" y="77"/>
                </a:cxn>
                <a:cxn ang="0">
                  <a:pos x="2838" y="77"/>
                </a:cxn>
                <a:cxn ang="0">
                  <a:pos x="2748" y="77"/>
                </a:cxn>
                <a:cxn ang="0">
                  <a:pos x="2400" y="77"/>
                </a:cxn>
                <a:cxn ang="0">
                  <a:pos x="1920" y="77"/>
                </a:cxn>
                <a:cxn ang="0">
                  <a:pos x="1462" y="77"/>
                </a:cxn>
                <a:cxn ang="0">
                  <a:pos x="1180" y="77"/>
                </a:cxn>
                <a:cxn ang="0">
                  <a:pos x="992" y="77"/>
                </a:cxn>
                <a:cxn ang="0">
                  <a:pos x="928" y="77"/>
                </a:cxn>
              </a:cxnLst>
              <a:rect l="0" t="0" r="r" b="b"/>
              <a:pathLst>
                <a:path w="3136" h="79">
                  <a:moveTo>
                    <a:pt x="0" y="77"/>
                  </a:moveTo>
                  <a:lnTo>
                    <a:pt x="151" y="15"/>
                  </a:lnTo>
                  <a:lnTo>
                    <a:pt x="162" y="13"/>
                  </a:lnTo>
                  <a:lnTo>
                    <a:pt x="172" y="10"/>
                  </a:lnTo>
                  <a:lnTo>
                    <a:pt x="185" y="10"/>
                  </a:lnTo>
                  <a:lnTo>
                    <a:pt x="195" y="7"/>
                  </a:lnTo>
                  <a:lnTo>
                    <a:pt x="208" y="5"/>
                  </a:lnTo>
                  <a:lnTo>
                    <a:pt x="218" y="2"/>
                  </a:lnTo>
                  <a:lnTo>
                    <a:pt x="228" y="2"/>
                  </a:lnTo>
                  <a:lnTo>
                    <a:pt x="239" y="0"/>
                  </a:lnTo>
                  <a:lnTo>
                    <a:pt x="249" y="0"/>
                  </a:lnTo>
                  <a:lnTo>
                    <a:pt x="257" y="2"/>
                  </a:lnTo>
                  <a:lnTo>
                    <a:pt x="267" y="2"/>
                  </a:lnTo>
                  <a:lnTo>
                    <a:pt x="275" y="5"/>
                  </a:lnTo>
                  <a:lnTo>
                    <a:pt x="282" y="7"/>
                  </a:lnTo>
                  <a:lnTo>
                    <a:pt x="292" y="10"/>
                  </a:lnTo>
                  <a:lnTo>
                    <a:pt x="300" y="10"/>
                  </a:lnTo>
                  <a:lnTo>
                    <a:pt x="310" y="10"/>
                  </a:lnTo>
                  <a:lnTo>
                    <a:pt x="321" y="10"/>
                  </a:lnTo>
                  <a:lnTo>
                    <a:pt x="328" y="13"/>
                  </a:lnTo>
                  <a:lnTo>
                    <a:pt x="341" y="15"/>
                  </a:lnTo>
                  <a:lnTo>
                    <a:pt x="351" y="18"/>
                  </a:lnTo>
                  <a:lnTo>
                    <a:pt x="362" y="20"/>
                  </a:lnTo>
                  <a:lnTo>
                    <a:pt x="372" y="23"/>
                  </a:lnTo>
                  <a:lnTo>
                    <a:pt x="382" y="25"/>
                  </a:lnTo>
                  <a:lnTo>
                    <a:pt x="392" y="25"/>
                  </a:lnTo>
                  <a:lnTo>
                    <a:pt x="403" y="28"/>
                  </a:lnTo>
                  <a:lnTo>
                    <a:pt x="413" y="28"/>
                  </a:lnTo>
                  <a:lnTo>
                    <a:pt x="421" y="31"/>
                  </a:lnTo>
                  <a:lnTo>
                    <a:pt x="431" y="33"/>
                  </a:lnTo>
                  <a:lnTo>
                    <a:pt x="441" y="36"/>
                  </a:lnTo>
                  <a:lnTo>
                    <a:pt x="451" y="38"/>
                  </a:lnTo>
                  <a:lnTo>
                    <a:pt x="462" y="38"/>
                  </a:lnTo>
                  <a:lnTo>
                    <a:pt x="474" y="41"/>
                  </a:lnTo>
                  <a:lnTo>
                    <a:pt x="587" y="56"/>
                  </a:lnTo>
                  <a:lnTo>
                    <a:pt x="605" y="56"/>
                  </a:lnTo>
                  <a:lnTo>
                    <a:pt x="615" y="56"/>
                  </a:lnTo>
                  <a:lnTo>
                    <a:pt x="621" y="56"/>
                  </a:lnTo>
                  <a:lnTo>
                    <a:pt x="623" y="56"/>
                  </a:lnTo>
                  <a:lnTo>
                    <a:pt x="623" y="56"/>
                  </a:lnTo>
                  <a:lnTo>
                    <a:pt x="623" y="56"/>
                  </a:lnTo>
                  <a:lnTo>
                    <a:pt x="623" y="56"/>
                  </a:lnTo>
                  <a:lnTo>
                    <a:pt x="631" y="56"/>
                  </a:lnTo>
                  <a:lnTo>
                    <a:pt x="639" y="56"/>
                  </a:lnTo>
                  <a:lnTo>
                    <a:pt x="649" y="56"/>
                  </a:lnTo>
                  <a:lnTo>
                    <a:pt x="659" y="56"/>
                  </a:lnTo>
                  <a:lnTo>
                    <a:pt x="669" y="56"/>
                  </a:lnTo>
                  <a:lnTo>
                    <a:pt x="680" y="56"/>
                  </a:lnTo>
                  <a:lnTo>
                    <a:pt x="690" y="56"/>
                  </a:lnTo>
                  <a:lnTo>
                    <a:pt x="700" y="59"/>
                  </a:lnTo>
                  <a:lnTo>
                    <a:pt x="708" y="59"/>
                  </a:lnTo>
                  <a:lnTo>
                    <a:pt x="718" y="59"/>
                  </a:lnTo>
                  <a:lnTo>
                    <a:pt x="726" y="61"/>
                  </a:lnTo>
                  <a:lnTo>
                    <a:pt x="733" y="61"/>
                  </a:lnTo>
                  <a:lnTo>
                    <a:pt x="741" y="61"/>
                  </a:lnTo>
                  <a:lnTo>
                    <a:pt x="749" y="61"/>
                  </a:lnTo>
                  <a:lnTo>
                    <a:pt x="756" y="61"/>
                  </a:lnTo>
                  <a:lnTo>
                    <a:pt x="764" y="61"/>
                  </a:lnTo>
                  <a:lnTo>
                    <a:pt x="772" y="61"/>
                  </a:lnTo>
                  <a:lnTo>
                    <a:pt x="774" y="64"/>
                  </a:lnTo>
                  <a:lnTo>
                    <a:pt x="780" y="64"/>
                  </a:lnTo>
                  <a:lnTo>
                    <a:pt x="785" y="66"/>
                  </a:lnTo>
                  <a:lnTo>
                    <a:pt x="790" y="66"/>
                  </a:lnTo>
                  <a:lnTo>
                    <a:pt x="795" y="66"/>
                  </a:lnTo>
                  <a:lnTo>
                    <a:pt x="803" y="66"/>
                  </a:lnTo>
                  <a:lnTo>
                    <a:pt x="810" y="66"/>
                  </a:lnTo>
                  <a:lnTo>
                    <a:pt x="821" y="66"/>
                  </a:lnTo>
                  <a:lnTo>
                    <a:pt x="833" y="66"/>
                  </a:lnTo>
                  <a:lnTo>
                    <a:pt x="846" y="66"/>
                  </a:lnTo>
                  <a:lnTo>
                    <a:pt x="862" y="66"/>
                  </a:lnTo>
                  <a:lnTo>
                    <a:pt x="874" y="64"/>
                  </a:lnTo>
                  <a:lnTo>
                    <a:pt x="890" y="64"/>
                  </a:lnTo>
                  <a:lnTo>
                    <a:pt x="903" y="66"/>
                  </a:lnTo>
                  <a:lnTo>
                    <a:pt x="913" y="66"/>
                  </a:lnTo>
                  <a:lnTo>
                    <a:pt x="923" y="66"/>
                  </a:lnTo>
                  <a:lnTo>
                    <a:pt x="931" y="66"/>
                  </a:lnTo>
                  <a:lnTo>
                    <a:pt x="936" y="66"/>
                  </a:lnTo>
                  <a:lnTo>
                    <a:pt x="941" y="66"/>
                  </a:lnTo>
                  <a:lnTo>
                    <a:pt x="946" y="66"/>
                  </a:lnTo>
                  <a:lnTo>
                    <a:pt x="951" y="66"/>
                  </a:lnTo>
                  <a:lnTo>
                    <a:pt x="959" y="66"/>
                  </a:lnTo>
                  <a:lnTo>
                    <a:pt x="967" y="66"/>
                  </a:lnTo>
                  <a:lnTo>
                    <a:pt x="974" y="69"/>
                  </a:lnTo>
                  <a:lnTo>
                    <a:pt x="987" y="69"/>
                  </a:lnTo>
                  <a:lnTo>
                    <a:pt x="1000" y="72"/>
                  </a:lnTo>
                  <a:lnTo>
                    <a:pt x="1010" y="72"/>
                  </a:lnTo>
                  <a:lnTo>
                    <a:pt x="1023" y="72"/>
                  </a:lnTo>
                  <a:lnTo>
                    <a:pt x="1033" y="72"/>
                  </a:lnTo>
                  <a:lnTo>
                    <a:pt x="1046" y="72"/>
                  </a:lnTo>
                  <a:lnTo>
                    <a:pt x="1056" y="72"/>
                  </a:lnTo>
                  <a:lnTo>
                    <a:pt x="1067" y="72"/>
                  </a:lnTo>
                  <a:lnTo>
                    <a:pt x="1085" y="72"/>
                  </a:lnTo>
                  <a:lnTo>
                    <a:pt x="1097" y="72"/>
                  </a:lnTo>
                  <a:lnTo>
                    <a:pt x="1108" y="72"/>
                  </a:lnTo>
                  <a:lnTo>
                    <a:pt x="1118" y="72"/>
                  </a:lnTo>
                  <a:lnTo>
                    <a:pt x="1123" y="72"/>
                  </a:lnTo>
                  <a:lnTo>
                    <a:pt x="1131" y="72"/>
                  </a:lnTo>
                  <a:lnTo>
                    <a:pt x="1138" y="72"/>
                  </a:lnTo>
                  <a:lnTo>
                    <a:pt x="1149" y="72"/>
                  </a:lnTo>
                  <a:lnTo>
                    <a:pt x="1162" y="72"/>
                  </a:lnTo>
                  <a:lnTo>
                    <a:pt x="1172" y="72"/>
                  </a:lnTo>
                  <a:lnTo>
                    <a:pt x="1185" y="72"/>
                  </a:lnTo>
                  <a:lnTo>
                    <a:pt x="1197" y="72"/>
                  </a:lnTo>
                  <a:lnTo>
                    <a:pt x="1210" y="72"/>
                  </a:lnTo>
                  <a:lnTo>
                    <a:pt x="1221" y="72"/>
                  </a:lnTo>
                  <a:lnTo>
                    <a:pt x="1228" y="72"/>
                  </a:lnTo>
                  <a:lnTo>
                    <a:pt x="1236" y="72"/>
                  </a:lnTo>
                  <a:lnTo>
                    <a:pt x="1238" y="74"/>
                  </a:lnTo>
                  <a:lnTo>
                    <a:pt x="1241" y="74"/>
                  </a:lnTo>
                  <a:lnTo>
                    <a:pt x="1244" y="77"/>
                  </a:lnTo>
                  <a:lnTo>
                    <a:pt x="1246" y="77"/>
                  </a:lnTo>
                  <a:lnTo>
                    <a:pt x="1249" y="79"/>
                  </a:lnTo>
                  <a:lnTo>
                    <a:pt x="1251" y="79"/>
                  </a:lnTo>
                  <a:lnTo>
                    <a:pt x="1256" y="79"/>
                  </a:lnTo>
                  <a:lnTo>
                    <a:pt x="1264" y="77"/>
                  </a:lnTo>
                  <a:lnTo>
                    <a:pt x="1274" y="74"/>
                  </a:lnTo>
                  <a:lnTo>
                    <a:pt x="1285" y="74"/>
                  </a:lnTo>
                  <a:lnTo>
                    <a:pt x="1297" y="74"/>
                  </a:lnTo>
                  <a:lnTo>
                    <a:pt x="1310" y="74"/>
                  </a:lnTo>
                  <a:lnTo>
                    <a:pt x="1326" y="77"/>
                  </a:lnTo>
                  <a:lnTo>
                    <a:pt x="1338" y="77"/>
                  </a:lnTo>
                  <a:lnTo>
                    <a:pt x="1354" y="77"/>
                  </a:lnTo>
                  <a:lnTo>
                    <a:pt x="1364" y="74"/>
                  </a:lnTo>
                  <a:lnTo>
                    <a:pt x="1374" y="74"/>
                  </a:lnTo>
                  <a:lnTo>
                    <a:pt x="1385" y="72"/>
                  </a:lnTo>
                  <a:lnTo>
                    <a:pt x="1390" y="72"/>
                  </a:lnTo>
                  <a:lnTo>
                    <a:pt x="1397" y="72"/>
                  </a:lnTo>
                  <a:lnTo>
                    <a:pt x="1405" y="72"/>
                  </a:lnTo>
                  <a:lnTo>
                    <a:pt x="1413" y="74"/>
                  </a:lnTo>
                  <a:lnTo>
                    <a:pt x="1426" y="74"/>
                  </a:lnTo>
                  <a:lnTo>
                    <a:pt x="1438" y="77"/>
                  </a:lnTo>
                  <a:lnTo>
                    <a:pt x="1459" y="77"/>
                  </a:lnTo>
                  <a:lnTo>
                    <a:pt x="1487" y="79"/>
                  </a:lnTo>
                  <a:lnTo>
                    <a:pt x="1520" y="79"/>
                  </a:lnTo>
                  <a:lnTo>
                    <a:pt x="1556" y="79"/>
                  </a:lnTo>
                  <a:lnTo>
                    <a:pt x="1592" y="79"/>
                  </a:lnTo>
                  <a:lnTo>
                    <a:pt x="1626" y="77"/>
                  </a:lnTo>
                  <a:lnTo>
                    <a:pt x="1654" y="77"/>
                  </a:lnTo>
                  <a:lnTo>
                    <a:pt x="1674" y="74"/>
                  </a:lnTo>
                  <a:lnTo>
                    <a:pt x="1687" y="74"/>
                  </a:lnTo>
                  <a:lnTo>
                    <a:pt x="1695" y="74"/>
                  </a:lnTo>
                  <a:lnTo>
                    <a:pt x="1697" y="74"/>
                  </a:lnTo>
                  <a:lnTo>
                    <a:pt x="1700" y="74"/>
                  </a:lnTo>
                  <a:lnTo>
                    <a:pt x="1700" y="77"/>
                  </a:lnTo>
                  <a:lnTo>
                    <a:pt x="1700" y="77"/>
                  </a:lnTo>
                  <a:lnTo>
                    <a:pt x="1705" y="77"/>
                  </a:lnTo>
                  <a:lnTo>
                    <a:pt x="1713" y="77"/>
                  </a:lnTo>
                  <a:lnTo>
                    <a:pt x="1720" y="74"/>
                  </a:lnTo>
                  <a:lnTo>
                    <a:pt x="1726" y="74"/>
                  </a:lnTo>
                  <a:lnTo>
                    <a:pt x="1731" y="74"/>
                  </a:lnTo>
                  <a:lnTo>
                    <a:pt x="1736" y="74"/>
                  </a:lnTo>
                  <a:lnTo>
                    <a:pt x="1738" y="74"/>
                  </a:lnTo>
                  <a:lnTo>
                    <a:pt x="1746" y="74"/>
                  </a:lnTo>
                  <a:lnTo>
                    <a:pt x="1754" y="74"/>
                  </a:lnTo>
                  <a:lnTo>
                    <a:pt x="1764" y="74"/>
                  </a:lnTo>
                  <a:lnTo>
                    <a:pt x="1777" y="74"/>
                  </a:lnTo>
                  <a:lnTo>
                    <a:pt x="1790" y="77"/>
                  </a:lnTo>
                  <a:lnTo>
                    <a:pt x="1805" y="77"/>
                  </a:lnTo>
                  <a:lnTo>
                    <a:pt x="1820" y="77"/>
                  </a:lnTo>
                  <a:lnTo>
                    <a:pt x="1836" y="74"/>
                  </a:lnTo>
                  <a:lnTo>
                    <a:pt x="1851" y="74"/>
                  </a:lnTo>
                  <a:lnTo>
                    <a:pt x="1867" y="77"/>
                  </a:lnTo>
                  <a:lnTo>
                    <a:pt x="1882" y="77"/>
                  </a:lnTo>
                  <a:lnTo>
                    <a:pt x="1895" y="77"/>
                  </a:lnTo>
                  <a:lnTo>
                    <a:pt x="1908" y="77"/>
                  </a:lnTo>
                  <a:lnTo>
                    <a:pt x="1918" y="77"/>
                  </a:lnTo>
                  <a:lnTo>
                    <a:pt x="1931" y="77"/>
                  </a:lnTo>
                  <a:lnTo>
                    <a:pt x="1941" y="77"/>
                  </a:lnTo>
                  <a:lnTo>
                    <a:pt x="1954" y="77"/>
                  </a:lnTo>
                  <a:lnTo>
                    <a:pt x="1967" y="77"/>
                  </a:lnTo>
                  <a:lnTo>
                    <a:pt x="1979" y="77"/>
                  </a:lnTo>
                  <a:lnTo>
                    <a:pt x="1995" y="77"/>
                  </a:lnTo>
                  <a:lnTo>
                    <a:pt x="2010" y="77"/>
                  </a:lnTo>
                  <a:lnTo>
                    <a:pt x="2026" y="77"/>
                  </a:lnTo>
                  <a:lnTo>
                    <a:pt x="2043" y="77"/>
                  </a:lnTo>
                  <a:lnTo>
                    <a:pt x="2059" y="77"/>
                  </a:lnTo>
                  <a:lnTo>
                    <a:pt x="2074" y="77"/>
                  </a:lnTo>
                  <a:lnTo>
                    <a:pt x="2090" y="77"/>
                  </a:lnTo>
                  <a:lnTo>
                    <a:pt x="2102" y="74"/>
                  </a:lnTo>
                  <a:lnTo>
                    <a:pt x="2115" y="74"/>
                  </a:lnTo>
                  <a:lnTo>
                    <a:pt x="2126" y="74"/>
                  </a:lnTo>
                  <a:lnTo>
                    <a:pt x="2136" y="74"/>
                  </a:lnTo>
                  <a:lnTo>
                    <a:pt x="2146" y="74"/>
                  </a:lnTo>
                  <a:lnTo>
                    <a:pt x="2156" y="74"/>
                  </a:lnTo>
                  <a:lnTo>
                    <a:pt x="2164" y="77"/>
                  </a:lnTo>
                  <a:lnTo>
                    <a:pt x="2174" y="77"/>
                  </a:lnTo>
                  <a:lnTo>
                    <a:pt x="2184" y="77"/>
                  </a:lnTo>
                  <a:lnTo>
                    <a:pt x="2195" y="77"/>
                  </a:lnTo>
                  <a:lnTo>
                    <a:pt x="2205" y="77"/>
                  </a:lnTo>
                  <a:lnTo>
                    <a:pt x="2215" y="77"/>
                  </a:lnTo>
                  <a:lnTo>
                    <a:pt x="2225" y="77"/>
                  </a:lnTo>
                  <a:lnTo>
                    <a:pt x="2236" y="77"/>
                  </a:lnTo>
                  <a:lnTo>
                    <a:pt x="2246" y="77"/>
                  </a:lnTo>
                  <a:lnTo>
                    <a:pt x="2254" y="77"/>
                  </a:lnTo>
                  <a:lnTo>
                    <a:pt x="2264" y="77"/>
                  </a:lnTo>
                  <a:lnTo>
                    <a:pt x="2267" y="77"/>
                  </a:lnTo>
                  <a:lnTo>
                    <a:pt x="2267" y="77"/>
                  </a:lnTo>
                  <a:lnTo>
                    <a:pt x="2261" y="77"/>
                  </a:lnTo>
                  <a:lnTo>
                    <a:pt x="2259" y="77"/>
                  </a:lnTo>
                  <a:lnTo>
                    <a:pt x="2259" y="77"/>
                  </a:lnTo>
                  <a:lnTo>
                    <a:pt x="2264" y="74"/>
                  </a:lnTo>
                  <a:lnTo>
                    <a:pt x="2277" y="74"/>
                  </a:lnTo>
                  <a:lnTo>
                    <a:pt x="2300" y="74"/>
                  </a:lnTo>
                  <a:lnTo>
                    <a:pt x="2341" y="74"/>
                  </a:lnTo>
                  <a:lnTo>
                    <a:pt x="2392" y="77"/>
                  </a:lnTo>
                  <a:lnTo>
                    <a:pt x="2454" y="77"/>
                  </a:lnTo>
                  <a:lnTo>
                    <a:pt x="2520" y="77"/>
                  </a:lnTo>
                  <a:lnTo>
                    <a:pt x="2587" y="77"/>
                  </a:lnTo>
                  <a:lnTo>
                    <a:pt x="2654" y="77"/>
                  </a:lnTo>
                  <a:lnTo>
                    <a:pt x="2713" y="77"/>
                  </a:lnTo>
                  <a:lnTo>
                    <a:pt x="2759" y="77"/>
                  </a:lnTo>
                  <a:lnTo>
                    <a:pt x="2797" y="77"/>
                  </a:lnTo>
                  <a:lnTo>
                    <a:pt x="2831" y="77"/>
                  </a:lnTo>
                  <a:lnTo>
                    <a:pt x="2859" y="77"/>
                  </a:lnTo>
                  <a:lnTo>
                    <a:pt x="2884" y="77"/>
                  </a:lnTo>
                  <a:lnTo>
                    <a:pt x="2907" y="77"/>
                  </a:lnTo>
                  <a:lnTo>
                    <a:pt x="2925" y="77"/>
                  </a:lnTo>
                  <a:lnTo>
                    <a:pt x="2943" y="77"/>
                  </a:lnTo>
                  <a:lnTo>
                    <a:pt x="2964" y="77"/>
                  </a:lnTo>
                  <a:lnTo>
                    <a:pt x="2982" y="77"/>
                  </a:lnTo>
                  <a:lnTo>
                    <a:pt x="3002" y="79"/>
                  </a:lnTo>
                  <a:lnTo>
                    <a:pt x="3018" y="79"/>
                  </a:lnTo>
                  <a:lnTo>
                    <a:pt x="3033" y="79"/>
                  </a:lnTo>
                  <a:lnTo>
                    <a:pt x="3046" y="79"/>
                  </a:lnTo>
                  <a:lnTo>
                    <a:pt x="3056" y="79"/>
                  </a:lnTo>
                  <a:lnTo>
                    <a:pt x="3064" y="77"/>
                  </a:lnTo>
                  <a:lnTo>
                    <a:pt x="3066" y="74"/>
                  </a:lnTo>
                  <a:lnTo>
                    <a:pt x="3072" y="74"/>
                  </a:lnTo>
                  <a:lnTo>
                    <a:pt x="3077" y="74"/>
                  </a:lnTo>
                  <a:lnTo>
                    <a:pt x="3079" y="74"/>
                  </a:lnTo>
                  <a:lnTo>
                    <a:pt x="3084" y="77"/>
                  </a:lnTo>
                  <a:lnTo>
                    <a:pt x="3089" y="77"/>
                  </a:lnTo>
                  <a:lnTo>
                    <a:pt x="3092" y="77"/>
                  </a:lnTo>
                  <a:lnTo>
                    <a:pt x="3097" y="77"/>
                  </a:lnTo>
                  <a:lnTo>
                    <a:pt x="3102" y="74"/>
                  </a:lnTo>
                  <a:lnTo>
                    <a:pt x="3107" y="74"/>
                  </a:lnTo>
                  <a:lnTo>
                    <a:pt x="3113" y="74"/>
                  </a:lnTo>
                  <a:lnTo>
                    <a:pt x="3120" y="74"/>
                  </a:lnTo>
                  <a:lnTo>
                    <a:pt x="3128" y="74"/>
                  </a:lnTo>
                  <a:lnTo>
                    <a:pt x="3133" y="77"/>
                  </a:lnTo>
                  <a:lnTo>
                    <a:pt x="3136" y="77"/>
                  </a:lnTo>
                  <a:lnTo>
                    <a:pt x="3136" y="77"/>
                  </a:lnTo>
                  <a:lnTo>
                    <a:pt x="3130" y="77"/>
                  </a:lnTo>
                  <a:lnTo>
                    <a:pt x="3020" y="77"/>
                  </a:lnTo>
                  <a:lnTo>
                    <a:pt x="3007" y="77"/>
                  </a:lnTo>
                  <a:lnTo>
                    <a:pt x="2995" y="77"/>
                  </a:lnTo>
                  <a:lnTo>
                    <a:pt x="2979" y="77"/>
                  </a:lnTo>
                  <a:lnTo>
                    <a:pt x="2964" y="77"/>
                  </a:lnTo>
                  <a:lnTo>
                    <a:pt x="2946" y="77"/>
                  </a:lnTo>
                  <a:lnTo>
                    <a:pt x="2928" y="77"/>
                  </a:lnTo>
                  <a:lnTo>
                    <a:pt x="2907" y="77"/>
                  </a:lnTo>
                  <a:lnTo>
                    <a:pt x="2884" y="77"/>
                  </a:lnTo>
                  <a:lnTo>
                    <a:pt x="2869" y="77"/>
                  </a:lnTo>
                  <a:lnTo>
                    <a:pt x="2854" y="77"/>
                  </a:lnTo>
                  <a:lnTo>
                    <a:pt x="2838" y="77"/>
                  </a:lnTo>
                  <a:lnTo>
                    <a:pt x="2823" y="77"/>
                  </a:lnTo>
                  <a:lnTo>
                    <a:pt x="2805" y="77"/>
                  </a:lnTo>
                  <a:lnTo>
                    <a:pt x="2787" y="77"/>
                  </a:lnTo>
                  <a:lnTo>
                    <a:pt x="2766" y="77"/>
                  </a:lnTo>
                  <a:lnTo>
                    <a:pt x="2748" y="77"/>
                  </a:lnTo>
                  <a:lnTo>
                    <a:pt x="2692" y="77"/>
                  </a:lnTo>
                  <a:lnTo>
                    <a:pt x="2631" y="77"/>
                  </a:lnTo>
                  <a:lnTo>
                    <a:pt x="2559" y="77"/>
                  </a:lnTo>
                  <a:lnTo>
                    <a:pt x="2482" y="77"/>
                  </a:lnTo>
                  <a:lnTo>
                    <a:pt x="2400" y="77"/>
                  </a:lnTo>
                  <a:lnTo>
                    <a:pt x="2315" y="77"/>
                  </a:lnTo>
                  <a:lnTo>
                    <a:pt x="2225" y="77"/>
                  </a:lnTo>
                  <a:lnTo>
                    <a:pt x="2136" y="77"/>
                  </a:lnTo>
                  <a:lnTo>
                    <a:pt x="2028" y="77"/>
                  </a:lnTo>
                  <a:lnTo>
                    <a:pt x="1920" y="77"/>
                  </a:lnTo>
                  <a:lnTo>
                    <a:pt x="1818" y="77"/>
                  </a:lnTo>
                  <a:lnTo>
                    <a:pt x="1718" y="77"/>
                  </a:lnTo>
                  <a:lnTo>
                    <a:pt x="1623" y="77"/>
                  </a:lnTo>
                  <a:lnTo>
                    <a:pt x="1538" y="77"/>
                  </a:lnTo>
                  <a:lnTo>
                    <a:pt x="1462" y="77"/>
                  </a:lnTo>
                  <a:lnTo>
                    <a:pt x="1397" y="77"/>
                  </a:lnTo>
                  <a:lnTo>
                    <a:pt x="1305" y="77"/>
                  </a:lnTo>
                  <a:lnTo>
                    <a:pt x="1246" y="77"/>
                  </a:lnTo>
                  <a:lnTo>
                    <a:pt x="1208" y="77"/>
                  </a:lnTo>
                  <a:lnTo>
                    <a:pt x="1180" y="77"/>
                  </a:lnTo>
                  <a:lnTo>
                    <a:pt x="1156" y="77"/>
                  </a:lnTo>
                  <a:lnTo>
                    <a:pt x="1126" y="77"/>
                  </a:lnTo>
                  <a:lnTo>
                    <a:pt x="1077" y="77"/>
                  </a:lnTo>
                  <a:lnTo>
                    <a:pt x="1005" y="77"/>
                  </a:lnTo>
                  <a:lnTo>
                    <a:pt x="992" y="77"/>
                  </a:lnTo>
                  <a:lnTo>
                    <a:pt x="982" y="77"/>
                  </a:lnTo>
                  <a:lnTo>
                    <a:pt x="969" y="77"/>
                  </a:lnTo>
                  <a:lnTo>
                    <a:pt x="956" y="77"/>
                  </a:lnTo>
                  <a:lnTo>
                    <a:pt x="941" y="77"/>
                  </a:lnTo>
                  <a:lnTo>
                    <a:pt x="928" y="77"/>
                  </a:lnTo>
                  <a:lnTo>
                    <a:pt x="913" y="77"/>
                  </a:lnTo>
                  <a:lnTo>
                    <a:pt x="900" y="77"/>
                  </a:lnTo>
                  <a:lnTo>
                    <a:pt x="454" y="77"/>
                  </a:lnTo>
                  <a:lnTo>
                    <a:pt x="0" y="77"/>
                  </a:lnTo>
                  <a:close/>
                </a:path>
              </a:pathLst>
            </a:custGeom>
            <a:solidFill>
              <a:srgbClr val="DE8002"/>
            </a:solidFill>
            <a:ln w="9525">
              <a:noFill/>
              <a:round/>
              <a:headEnd/>
              <a:tailEnd/>
            </a:ln>
          </p:spPr>
          <p:txBody>
            <a:bodyPr/>
            <a:lstStyle/>
            <a:p>
              <a:endParaRPr lang="en-GB"/>
            </a:p>
          </p:txBody>
        </p:sp>
        <p:sp>
          <p:nvSpPr>
            <p:cNvPr id="149525" name="Freeform 21"/>
            <p:cNvSpPr>
              <a:spLocks/>
            </p:cNvSpPr>
            <p:nvPr/>
          </p:nvSpPr>
          <p:spPr bwMode="auto">
            <a:xfrm>
              <a:off x="2690" y="3621"/>
              <a:ext cx="2707" cy="67"/>
            </a:xfrm>
            <a:custGeom>
              <a:avLst/>
              <a:gdLst/>
              <a:ahLst/>
              <a:cxnLst>
                <a:cxn ang="0">
                  <a:pos x="185" y="10"/>
                </a:cxn>
                <a:cxn ang="0">
                  <a:pos x="239" y="0"/>
                </a:cxn>
                <a:cxn ang="0">
                  <a:pos x="282" y="7"/>
                </a:cxn>
                <a:cxn ang="0">
                  <a:pos x="328" y="13"/>
                </a:cxn>
                <a:cxn ang="0">
                  <a:pos x="382" y="25"/>
                </a:cxn>
                <a:cxn ang="0">
                  <a:pos x="431" y="33"/>
                </a:cxn>
                <a:cxn ang="0">
                  <a:pos x="587" y="56"/>
                </a:cxn>
                <a:cxn ang="0">
                  <a:pos x="631" y="56"/>
                </a:cxn>
                <a:cxn ang="0">
                  <a:pos x="680" y="56"/>
                </a:cxn>
                <a:cxn ang="0">
                  <a:pos x="726" y="61"/>
                </a:cxn>
                <a:cxn ang="0">
                  <a:pos x="764" y="61"/>
                </a:cxn>
                <a:cxn ang="0">
                  <a:pos x="790" y="66"/>
                </a:cxn>
                <a:cxn ang="0">
                  <a:pos x="833" y="66"/>
                </a:cxn>
                <a:cxn ang="0">
                  <a:pos x="903" y="66"/>
                </a:cxn>
                <a:cxn ang="0">
                  <a:pos x="941" y="66"/>
                </a:cxn>
                <a:cxn ang="0">
                  <a:pos x="974" y="69"/>
                </a:cxn>
                <a:cxn ang="0">
                  <a:pos x="1033" y="72"/>
                </a:cxn>
                <a:cxn ang="0">
                  <a:pos x="1097" y="72"/>
                </a:cxn>
                <a:cxn ang="0">
                  <a:pos x="1138" y="72"/>
                </a:cxn>
                <a:cxn ang="0">
                  <a:pos x="1197" y="72"/>
                </a:cxn>
                <a:cxn ang="0">
                  <a:pos x="1238" y="74"/>
                </a:cxn>
                <a:cxn ang="0">
                  <a:pos x="1251" y="79"/>
                </a:cxn>
                <a:cxn ang="0">
                  <a:pos x="1297" y="74"/>
                </a:cxn>
                <a:cxn ang="0">
                  <a:pos x="1364" y="74"/>
                </a:cxn>
                <a:cxn ang="0">
                  <a:pos x="1405" y="72"/>
                </a:cxn>
                <a:cxn ang="0">
                  <a:pos x="1487" y="79"/>
                </a:cxn>
                <a:cxn ang="0">
                  <a:pos x="1654" y="77"/>
                </a:cxn>
                <a:cxn ang="0">
                  <a:pos x="1700" y="74"/>
                </a:cxn>
                <a:cxn ang="0">
                  <a:pos x="1726" y="74"/>
                </a:cxn>
                <a:cxn ang="0">
                  <a:pos x="1754" y="74"/>
                </a:cxn>
                <a:cxn ang="0">
                  <a:pos x="1820" y="77"/>
                </a:cxn>
                <a:cxn ang="0">
                  <a:pos x="1895" y="77"/>
                </a:cxn>
                <a:cxn ang="0">
                  <a:pos x="1954" y="77"/>
                </a:cxn>
                <a:cxn ang="0">
                  <a:pos x="2026" y="77"/>
                </a:cxn>
                <a:cxn ang="0">
                  <a:pos x="2102" y="74"/>
                </a:cxn>
                <a:cxn ang="0">
                  <a:pos x="2156" y="74"/>
                </a:cxn>
                <a:cxn ang="0">
                  <a:pos x="2205" y="77"/>
                </a:cxn>
                <a:cxn ang="0">
                  <a:pos x="2254" y="77"/>
                </a:cxn>
                <a:cxn ang="0">
                  <a:pos x="2264" y="74"/>
                </a:cxn>
                <a:cxn ang="0">
                  <a:pos x="2454" y="77"/>
                </a:cxn>
                <a:cxn ang="0">
                  <a:pos x="2759" y="77"/>
                </a:cxn>
                <a:cxn ang="0">
                  <a:pos x="2907" y="77"/>
                </a:cxn>
                <a:cxn ang="0">
                  <a:pos x="3002" y="79"/>
                </a:cxn>
                <a:cxn ang="0">
                  <a:pos x="3064" y="77"/>
                </a:cxn>
                <a:cxn ang="0">
                  <a:pos x="3084" y="77"/>
                </a:cxn>
                <a:cxn ang="0">
                  <a:pos x="3107" y="74"/>
                </a:cxn>
                <a:cxn ang="0">
                  <a:pos x="3136" y="77"/>
                </a:cxn>
                <a:cxn ang="0">
                  <a:pos x="2979" y="77"/>
                </a:cxn>
                <a:cxn ang="0">
                  <a:pos x="2884" y="77"/>
                </a:cxn>
                <a:cxn ang="0">
                  <a:pos x="2805" y="77"/>
                </a:cxn>
                <a:cxn ang="0">
                  <a:pos x="2631" y="77"/>
                </a:cxn>
                <a:cxn ang="0">
                  <a:pos x="2225" y="77"/>
                </a:cxn>
                <a:cxn ang="0">
                  <a:pos x="1718" y="77"/>
                </a:cxn>
                <a:cxn ang="0">
                  <a:pos x="1305" y="77"/>
                </a:cxn>
                <a:cxn ang="0">
                  <a:pos x="1126" y="77"/>
                </a:cxn>
                <a:cxn ang="0">
                  <a:pos x="969" y="77"/>
                </a:cxn>
                <a:cxn ang="0">
                  <a:pos x="900" y="77"/>
                </a:cxn>
              </a:cxnLst>
              <a:rect l="0" t="0" r="r" b="b"/>
              <a:pathLst>
                <a:path w="3136" h="79">
                  <a:moveTo>
                    <a:pt x="0" y="77"/>
                  </a:moveTo>
                  <a:lnTo>
                    <a:pt x="151" y="15"/>
                  </a:lnTo>
                  <a:lnTo>
                    <a:pt x="162" y="13"/>
                  </a:lnTo>
                  <a:lnTo>
                    <a:pt x="172" y="10"/>
                  </a:lnTo>
                  <a:lnTo>
                    <a:pt x="185" y="10"/>
                  </a:lnTo>
                  <a:lnTo>
                    <a:pt x="195" y="7"/>
                  </a:lnTo>
                  <a:lnTo>
                    <a:pt x="208" y="5"/>
                  </a:lnTo>
                  <a:lnTo>
                    <a:pt x="218" y="2"/>
                  </a:lnTo>
                  <a:lnTo>
                    <a:pt x="228" y="2"/>
                  </a:lnTo>
                  <a:lnTo>
                    <a:pt x="239" y="0"/>
                  </a:lnTo>
                  <a:lnTo>
                    <a:pt x="249" y="0"/>
                  </a:lnTo>
                  <a:lnTo>
                    <a:pt x="257" y="2"/>
                  </a:lnTo>
                  <a:lnTo>
                    <a:pt x="267" y="2"/>
                  </a:lnTo>
                  <a:lnTo>
                    <a:pt x="275" y="5"/>
                  </a:lnTo>
                  <a:lnTo>
                    <a:pt x="282" y="7"/>
                  </a:lnTo>
                  <a:lnTo>
                    <a:pt x="292" y="10"/>
                  </a:lnTo>
                  <a:lnTo>
                    <a:pt x="300" y="10"/>
                  </a:lnTo>
                  <a:lnTo>
                    <a:pt x="310" y="10"/>
                  </a:lnTo>
                  <a:lnTo>
                    <a:pt x="321" y="10"/>
                  </a:lnTo>
                  <a:lnTo>
                    <a:pt x="328" y="13"/>
                  </a:lnTo>
                  <a:lnTo>
                    <a:pt x="341" y="15"/>
                  </a:lnTo>
                  <a:lnTo>
                    <a:pt x="351" y="18"/>
                  </a:lnTo>
                  <a:lnTo>
                    <a:pt x="362" y="20"/>
                  </a:lnTo>
                  <a:lnTo>
                    <a:pt x="372" y="23"/>
                  </a:lnTo>
                  <a:lnTo>
                    <a:pt x="382" y="25"/>
                  </a:lnTo>
                  <a:lnTo>
                    <a:pt x="392" y="25"/>
                  </a:lnTo>
                  <a:lnTo>
                    <a:pt x="403" y="28"/>
                  </a:lnTo>
                  <a:lnTo>
                    <a:pt x="413" y="28"/>
                  </a:lnTo>
                  <a:lnTo>
                    <a:pt x="421" y="31"/>
                  </a:lnTo>
                  <a:lnTo>
                    <a:pt x="431" y="33"/>
                  </a:lnTo>
                  <a:lnTo>
                    <a:pt x="441" y="36"/>
                  </a:lnTo>
                  <a:lnTo>
                    <a:pt x="451" y="38"/>
                  </a:lnTo>
                  <a:lnTo>
                    <a:pt x="462" y="38"/>
                  </a:lnTo>
                  <a:lnTo>
                    <a:pt x="474" y="41"/>
                  </a:lnTo>
                  <a:lnTo>
                    <a:pt x="587" y="56"/>
                  </a:lnTo>
                  <a:lnTo>
                    <a:pt x="605" y="56"/>
                  </a:lnTo>
                  <a:lnTo>
                    <a:pt x="615" y="56"/>
                  </a:lnTo>
                  <a:lnTo>
                    <a:pt x="621" y="56"/>
                  </a:lnTo>
                  <a:lnTo>
                    <a:pt x="623" y="56"/>
                  </a:lnTo>
                  <a:lnTo>
                    <a:pt x="631" y="56"/>
                  </a:lnTo>
                  <a:lnTo>
                    <a:pt x="639" y="56"/>
                  </a:lnTo>
                  <a:lnTo>
                    <a:pt x="649" y="56"/>
                  </a:lnTo>
                  <a:lnTo>
                    <a:pt x="659" y="56"/>
                  </a:lnTo>
                  <a:lnTo>
                    <a:pt x="669" y="56"/>
                  </a:lnTo>
                  <a:lnTo>
                    <a:pt x="680" y="56"/>
                  </a:lnTo>
                  <a:lnTo>
                    <a:pt x="690" y="56"/>
                  </a:lnTo>
                  <a:lnTo>
                    <a:pt x="700" y="59"/>
                  </a:lnTo>
                  <a:lnTo>
                    <a:pt x="708" y="59"/>
                  </a:lnTo>
                  <a:lnTo>
                    <a:pt x="718" y="59"/>
                  </a:lnTo>
                  <a:lnTo>
                    <a:pt x="726" y="61"/>
                  </a:lnTo>
                  <a:lnTo>
                    <a:pt x="733" y="61"/>
                  </a:lnTo>
                  <a:lnTo>
                    <a:pt x="741" y="61"/>
                  </a:lnTo>
                  <a:lnTo>
                    <a:pt x="749" y="61"/>
                  </a:lnTo>
                  <a:lnTo>
                    <a:pt x="756" y="61"/>
                  </a:lnTo>
                  <a:lnTo>
                    <a:pt x="764" y="61"/>
                  </a:lnTo>
                  <a:lnTo>
                    <a:pt x="772" y="61"/>
                  </a:lnTo>
                  <a:lnTo>
                    <a:pt x="774" y="64"/>
                  </a:lnTo>
                  <a:lnTo>
                    <a:pt x="780" y="64"/>
                  </a:lnTo>
                  <a:lnTo>
                    <a:pt x="785" y="66"/>
                  </a:lnTo>
                  <a:lnTo>
                    <a:pt x="790" y="66"/>
                  </a:lnTo>
                  <a:lnTo>
                    <a:pt x="795" y="66"/>
                  </a:lnTo>
                  <a:lnTo>
                    <a:pt x="803" y="66"/>
                  </a:lnTo>
                  <a:lnTo>
                    <a:pt x="810" y="66"/>
                  </a:lnTo>
                  <a:lnTo>
                    <a:pt x="821" y="66"/>
                  </a:lnTo>
                  <a:lnTo>
                    <a:pt x="833" y="66"/>
                  </a:lnTo>
                  <a:lnTo>
                    <a:pt x="846" y="66"/>
                  </a:lnTo>
                  <a:lnTo>
                    <a:pt x="862" y="66"/>
                  </a:lnTo>
                  <a:lnTo>
                    <a:pt x="874" y="64"/>
                  </a:lnTo>
                  <a:lnTo>
                    <a:pt x="890" y="64"/>
                  </a:lnTo>
                  <a:lnTo>
                    <a:pt x="903" y="66"/>
                  </a:lnTo>
                  <a:lnTo>
                    <a:pt x="913" y="66"/>
                  </a:lnTo>
                  <a:lnTo>
                    <a:pt x="923" y="66"/>
                  </a:lnTo>
                  <a:lnTo>
                    <a:pt x="931" y="66"/>
                  </a:lnTo>
                  <a:lnTo>
                    <a:pt x="936" y="66"/>
                  </a:lnTo>
                  <a:lnTo>
                    <a:pt x="941" y="66"/>
                  </a:lnTo>
                  <a:lnTo>
                    <a:pt x="946" y="66"/>
                  </a:lnTo>
                  <a:lnTo>
                    <a:pt x="951" y="66"/>
                  </a:lnTo>
                  <a:lnTo>
                    <a:pt x="959" y="66"/>
                  </a:lnTo>
                  <a:lnTo>
                    <a:pt x="967" y="66"/>
                  </a:lnTo>
                  <a:lnTo>
                    <a:pt x="974" y="69"/>
                  </a:lnTo>
                  <a:lnTo>
                    <a:pt x="987" y="69"/>
                  </a:lnTo>
                  <a:lnTo>
                    <a:pt x="1000" y="72"/>
                  </a:lnTo>
                  <a:lnTo>
                    <a:pt x="1010" y="72"/>
                  </a:lnTo>
                  <a:lnTo>
                    <a:pt x="1023" y="72"/>
                  </a:lnTo>
                  <a:lnTo>
                    <a:pt x="1033" y="72"/>
                  </a:lnTo>
                  <a:lnTo>
                    <a:pt x="1046" y="72"/>
                  </a:lnTo>
                  <a:lnTo>
                    <a:pt x="1056" y="72"/>
                  </a:lnTo>
                  <a:lnTo>
                    <a:pt x="1067" y="72"/>
                  </a:lnTo>
                  <a:lnTo>
                    <a:pt x="1085" y="72"/>
                  </a:lnTo>
                  <a:lnTo>
                    <a:pt x="1097" y="72"/>
                  </a:lnTo>
                  <a:lnTo>
                    <a:pt x="1108" y="72"/>
                  </a:lnTo>
                  <a:lnTo>
                    <a:pt x="1118" y="72"/>
                  </a:lnTo>
                  <a:lnTo>
                    <a:pt x="1123" y="72"/>
                  </a:lnTo>
                  <a:lnTo>
                    <a:pt x="1131" y="72"/>
                  </a:lnTo>
                  <a:lnTo>
                    <a:pt x="1138" y="72"/>
                  </a:lnTo>
                  <a:lnTo>
                    <a:pt x="1149" y="72"/>
                  </a:lnTo>
                  <a:lnTo>
                    <a:pt x="1162" y="72"/>
                  </a:lnTo>
                  <a:lnTo>
                    <a:pt x="1172" y="72"/>
                  </a:lnTo>
                  <a:lnTo>
                    <a:pt x="1185" y="72"/>
                  </a:lnTo>
                  <a:lnTo>
                    <a:pt x="1197" y="72"/>
                  </a:lnTo>
                  <a:lnTo>
                    <a:pt x="1210" y="72"/>
                  </a:lnTo>
                  <a:lnTo>
                    <a:pt x="1221" y="72"/>
                  </a:lnTo>
                  <a:lnTo>
                    <a:pt x="1228" y="72"/>
                  </a:lnTo>
                  <a:lnTo>
                    <a:pt x="1236" y="72"/>
                  </a:lnTo>
                  <a:lnTo>
                    <a:pt x="1238" y="74"/>
                  </a:lnTo>
                  <a:lnTo>
                    <a:pt x="1241" y="74"/>
                  </a:lnTo>
                  <a:lnTo>
                    <a:pt x="1244" y="77"/>
                  </a:lnTo>
                  <a:lnTo>
                    <a:pt x="1246" y="77"/>
                  </a:lnTo>
                  <a:lnTo>
                    <a:pt x="1249" y="79"/>
                  </a:lnTo>
                  <a:lnTo>
                    <a:pt x="1251" y="79"/>
                  </a:lnTo>
                  <a:lnTo>
                    <a:pt x="1256" y="79"/>
                  </a:lnTo>
                  <a:lnTo>
                    <a:pt x="1264" y="77"/>
                  </a:lnTo>
                  <a:lnTo>
                    <a:pt x="1274" y="74"/>
                  </a:lnTo>
                  <a:lnTo>
                    <a:pt x="1285" y="74"/>
                  </a:lnTo>
                  <a:lnTo>
                    <a:pt x="1297" y="74"/>
                  </a:lnTo>
                  <a:lnTo>
                    <a:pt x="1310" y="74"/>
                  </a:lnTo>
                  <a:lnTo>
                    <a:pt x="1326" y="77"/>
                  </a:lnTo>
                  <a:lnTo>
                    <a:pt x="1338" y="77"/>
                  </a:lnTo>
                  <a:lnTo>
                    <a:pt x="1354" y="77"/>
                  </a:lnTo>
                  <a:lnTo>
                    <a:pt x="1364" y="74"/>
                  </a:lnTo>
                  <a:lnTo>
                    <a:pt x="1374" y="74"/>
                  </a:lnTo>
                  <a:lnTo>
                    <a:pt x="1385" y="72"/>
                  </a:lnTo>
                  <a:lnTo>
                    <a:pt x="1390" y="72"/>
                  </a:lnTo>
                  <a:lnTo>
                    <a:pt x="1397" y="72"/>
                  </a:lnTo>
                  <a:lnTo>
                    <a:pt x="1405" y="72"/>
                  </a:lnTo>
                  <a:lnTo>
                    <a:pt x="1413" y="74"/>
                  </a:lnTo>
                  <a:lnTo>
                    <a:pt x="1426" y="74"/>
                  </a:lnTo>
                  <a:lnTo>
                    <a:pt x="1438" y="77"/>
                  </a:lnTo>
                  <a:lnTo>
                    <a:pt x="1459" y="77"/>
                  </a:lnTo>
                  <a:lnTo>
                    <a:pt x="1487" y="79"/>
                  </a:lnTo>
                  <a:lnTo>
                    <a:pt x="1520" y="79"/>
                  </a:lnTo>
                  <a:lnTo>
                    <a:pt x="1556" y="79"/>
                  </a:lnTo>
                  <a:lnTo>
                    <a:pt x="1592" y="79"/>
                  </a:lnTo>
                  <a:lnTo>
                    <a:pt x="1626" y="77"/>
                  </a:lnTo>
                  <a:lnTo>
                    <a:pt x="1654" y="77"/>
                  </a:lnTo>
                  <a:lnTo>
                    <a:pt x="1674" y="74"/>
                  </a:lnTo>
                  <a:lnTo>
                    <a:pt x="1687" y="74"/>
                  </a:lnTo>
                  <a:lnTo>
                    <a:pt x="1695" y="74"/>
                  </a:lnTo>
                  <a:lnTo>
                    <a:pt x="1697" y="74"/>
                  </a:lnTo>
                  <a:lnTo>
                    <a:pt x="1700" y="74"/>
                  </a:lnTo>
                  <a:lnTo>
                    <a:pt x="1700" y="77"/>
                  </a:lnTo>
                  <a:lnTo>
                    <a:pt x="1705" y="77"/>
                  </a:lnTo>
                  <a:lnTo>
                    <a:pt x="1713" y="77"/>
                  </a:lnTo>
                  <a:lnTo>
                    <a:pt x="1720" y="74"/>
                  </a:lnTo>
                  <a:lnTo>
                    <a:pt x="1726" y="74"/>
                  </a:lnTo>
                  <a:lnTo>
                    <a:pt x="1731" y="74"/>
                  </a:lnTo>
                  <a:lnTo>
                    <a:pt x="1736" y="74"/>
                  </a:lnTo>
                  <a:lnTo>
                    <a:pt x="1738" y="74"/>
                  </a:lnTo>
                  <a:lnTo>
                    <a:pt x="1746" y="74"/>
                  </a:lnTo>
                  <a:lnTo>
                    <a:pt x="1754" y="74"/>
                  </a:lnTo>
                  <a:lnTo>
                    <a:pt x="1764" y="74"/>
                  </a:lnTo>
                  <a:lnTo>
                    <a:pt x="1777" y="74"/>
                  </a:lnTo>
                  <a:lnTo>
                    <a:pt x="1790" y="77"/>
                  </a:lnTo>
                  <a:lnTo>
                    <a:pt x="1805" y="77"/>
                  </a:lnTo>
                  <a:lnTo>
                    <a:pt x="1820" y="77"/>
                  </a:lnTo>
                  <a:lnTo>
                    <a:pt x="1836" y="74"/>
                  </a:lnTo>
                  <a:lnTo>
                    <a:pt x="1851" y="74"/>
                  </a:lnTo>
                  <a:lnTo>
                    <a:pt x="1867" y="77"/>
                  </a:lnTo>
                  <a:lnTo>
                    <a:pt x="1882" y="77"/>
                  </a:lnTo>
                  <a:lnTo>
                    <a:pt x="1895" y="77"/>
                  </a:lnTo>
                  <a:lnTo>
                    <a:pt x="1908" y="77"/>
                  </a:lnTo>
                  <a:lnTo>
                    <a:pt x="1918" y="77"/>
                  </a:lnTo>
                  <a:lnTo>
                    <a:pt x="1931" y="77"/>
                  </a:lnTo>
                  <a:lnTo>
                    <a:pt x="1941" y="77"/>
                  </a:lnTo>
                  <a:lnTo>
                    <a:pt x="1954" y="77"/>
                  </a:lnTo>
                  <a:lnTo>
                    <a:pt x="1967" y="77"/>
                  </a:lnTo>
                  <a:lnTo>
                    <a:pt x="1979" y="77"/>
                  </a:lnTo>
                  <a:lnTo>
                    <a:pt x="1995" y="77"/>
                  </a:lnTo>
                  <a:lnTo>
                    <a:pt x="2010" y="77"/>
                  </a:lnTo>
                  <a:lnTo>
                    <a:pt x="2026" y="77"/>
                  </a:lnTo>
                  <a:lnTo>
                    <a:pt x="2043" y="77"/>
                  </a:lnTo>
                  <a:lnTo>
                    <a:pt x="2059" y="77"/>
                  </a:lnTo>
                  <a:lnTo>
                    <a:pt x="2074" y="77"/>
                  </a:lnTo>
                  <a:lnTo>
                    <a:pt x="2090" y="77"/>
                  </a:lnTo>
                  <a:lnTo>
                    <a:pt x="2102" y="74"/>
                  </a:lnTo>
                  <a:lnTo>
                    <a:pt x="2115" y="74"/>
                  </a:lnTo>
                  <a:lnTo>
                    <a:pt x="2126" y="74"/>
                  </a:lnTo>
                  <a:lnTo>
                    <a:pt x="2136" y="74"/>
                  </a:lnTo>
                  <a:lnTo>
                    <a:pt x="2146" y="74"/>
                  </a:lnTo>
                  <a:lnTo>
                    <a:pt x="2156" y="74"/>
                  </a:lnTo>
                  <a:lnTo>
                    <a:pt x="2164" y="77"/>
                  </a:lnTo>
                  <a:lnTo>
                    <a:pt x="2174" y="77"/>
                  </a:lnTo>
                  <a:lnTo>
                    <a:pt x="2184" y="77"/>
                  </a:lnTo>
                  <a:lnTo>
                    <a:pt x="2195" y="77"/>
                  </a:lnTo>
                  <a:lnTo>
                    <a:pt x="2205" y="77"/>
                  </a:lnTo>
                  <a:lnTo>
                    <a:pt x="2215" y="77"/>
                  </a:lnTo>
                  <a:lnTo>
                    <a:pt x="2225" y="77"/>
                  </a:lnTo>
                  <a:lnTo>
                    <a:pt x="2236" y="77"/>
                  </a:lnTo>
                  <a:lnTo>
                    <a:pt x="2246" y="77"/>
                  </a:lnTo>
                  <a:lnTo>
                    <a:pt x="2254" y="77"/>
                  </a:lnTo>
                  <a:lnTo>
                    <a:pt x="2264" y="77"/>
                  </a:lnTo>
                  <a:lnTo>
                    <a:pt x="2267" y="77"/>
                  </a:lnTo>
                  <a:lnTo>
                    <a:pt x="2261" y="77"/>
                  </a:lnTo>
                  <a:lnTo>
                    <a:pt x="2259" y="77"/>
                  </a:lnTo>
                  <a:lnTo>
                    <a:pt x="2264" y="74"/>
                  </a:lnTo>
                  <a:lnTo>
                    <a:pt x="2277" y="74"/>
                  </a:lnTo>
                  <a:lnTo>
                    <a:pt x="2300" y="74"/>
                  </a:lnTo>
                  <a:lnTo>
                    <a:pt x="2341" y="74"/>
                  </a:lnTo>
                  <a:lnTo>
                    <a:pt x="2392" y="77"/>
                  </a:lnTo>
                  <a:lnTo>
                    <a:pt x="2454" y="77"/>
                  </a:lnTo>
                  <a:lnTo>
                    <a:pt x="2520" y="77"/>
                  </a:lnTo>
                  <a:lnTo>
                    <a:pt x="2587" y="77"/>
                  </a:lnTo>
                  <a:lnTo>
                    <a:pt x="2654" y="77"/>
                  </a:lnTo>
                  <a:lnTo>
                    <a:pt x="2713" y="77"/>
                  </a:lnTo>
                  <a:lnTo>
                    <a:pt x="2759" y="77"/>
                  </a:lnTo>
                  <a:lnTo>
                    <a:pt x="2797" y="77"/>
                  </a:lnTo>
                  <a:lnTo>
                    <a:pt x="2831" y="77"/>
                  </a:lnTo>
                  <a:lnTo>
                    <a:pt x="2859" y="77"/>
                  </a:lnTo>
                  <a:lnTo>
                    <a:pt x="2884" y="77"/>
                  </a:lnTo>
                  <a:lnTo>
                    <a:pt x="2907" y="77"/>
                  </a:lnTo>
                  <a:lnTo>
                    <a:pt x="2925" y="77"/>
                  </a:lnTo>
                  <a:lnTo>
                    <a:pt x="2943" y="77"/>
                  </a:lnTo>
                  <a:lnTo>
                    <a:pt x="2964" y="77"/>
                  </a:lnTo>
                  <a:lnTo>
                    <a:pt x="2982" y="77"/>
                  </a:lnTo>
                  <a:lnTo>
                    <a:pt x="3002" y="79"/>
                  </a:lnTo>
                  <a:lnTo>
                    <a:pt x="3018" y="79"/>
                  </a:lnTo>
                  <a:lnTo>
                    <a:pt x="3033" y="79"/>
                  </a:lnTo>
                  <a:lnTo>
                    <a:pt x="3046" y="79"/>
                  </a:lnTo>
                  <a:lnTo>
                    <a:pt x="3056" y="79"/>
                  </a:lnTo>
                  <a:lnTo>
                    <a:pt x="3064" y="77"/>
                  </a:lnTo>
                  <a:lnTo>
                    <a:pt x="3066" y="74"/>
                  </a:lnTo>
                  <a:lnTo>
                    <a:pt x="3072" y="74"/>
                  </a:lnTo>
                  <a:lnTo>
                    <a:pt x="3077" y="74"/>
                  </a:lnTo>
                  <a:lnTo>
                    <a:pt x="3079" y="74"/>
                  </a:lnTo>
                  <a:lnTo>
                    <a:pt x="3084" y="77"/>
                  </a:lnTo>
                  <a:lnTo>
                    <a:pt x="3089" y="77"/>
                  </a:lnTo>
                  <a:lnTo>
                    <a:pt x="3092" y="77"/>
                  </a:lnTo>
                  <a:lnTo>
                    <a:pt x="3097" y="77"/>
                  </a:lnTo>
                  <a:lnTo>
                    <a:pt x="3102" y="74"/>
                  </a:lnTo>
                  <a:lnTo>
                    <a:pt x="3107" y="74"/>
                  </a:lnTo>
                  <a:lnTo>
                    <a:pt x="3113" y="74"/>
                  </a:lnTo>
                  <a:lnTo>
                    <a:pt x="3120" y="74"/>
                  </a:lnTo>
                  <a:lnTo>
                    <a:pt x="3128" y="74"/>
                  </a:lnTo>
                  <a:lnTo>
                    <a:pt x="3133" y="77"/>
                  </a:lnTo>
                  <a:lnTo>
                    <a:pt x="3136" y="77"/>
                  </a:lnTo>
                  <a:lnTo>
                    <a:pt x="3130" y="77"/>
                  </a:lnTo>
                  <a:lnTo>
                    <a:pt x="3020" y="77"/>
                  </a:lnTo>
                  <a:lnTo>
                    <a:pt x="3007" y="77"/>
                  </a:lnTo>
                  <a:lnTo>
                    <a:pt x="2995" y="77"/>
                  </a:lnTo>
                  <a:lnTo>
                    <a:pt x="2979" y="77"/>
                  </a:lnTo>
                  <a:lnTo>
                    <a:pt x="2964" y="77"/>
                  </a:lnTo>
                  <a:lnTo>
                    <a:pt x="2946" y="77"/>
                  </a:lnTo>
                  <a:lnTo>
                    <a:pt x="2928" y="77"/>
                  </a:lnTo>
                  <a:lnTo>
                    <a:pt x="2907" y="77"/>
                  </a:lnTo>
                  <a:lnTo>
                    <a:pt x="2884" y="77"/>
                  </a:lnTo>
                  <a:lnTo>
                    <a:pt x="2869" y="77"/>
                  </a:lnTo>
                  <a:lnTo>
                    <a:pt x="2854" y="77"/>
                  </a:lnTo>
                  <a:lnTo>
                    <a:pt x="2838" y="77"/>
                  </a:lnTo>
                  <a:lnTo>
                    <a:pt x="2823" y="77"/>
                  </a:lnTo>
                  <a:lnTo>
                    <a:pt x="2805" y="77"/>
                  </a:lnTo>
                  <a:lnTo>
                    <a:pt x="2787" y="77"/>
                  </a:lnTo>
                  <a:lnTo>
                    <a:pt x="2766" y="77"/>
                  </a:lnTo>
                  <a:lnTo>
                    <a:pt x="2748" y="77"/>
                  </a:lnTo>
                  <a:lnTo>
                    <a:pt x="2692" y="77"/>
                  </a:lnTo>
                  <a:lnTo>
                    <a:pt x="2631" y="77"/>
                  </a:lnTo>
                  <a:lnTo>
                    <a:pt x="2559" y="77"/>
                  </a:lnTo>
                  <a:lnTo>
                    <a:pt x="2482" y="77"/>
                  </a:lnTo>
                  <a:lnTo>
                    <a:pt x="2400" y="77"/>
                  </a:lnTo>
                  <a:lnTo>
                    <a:pt x="2315" y="77"/>
                  </a:lnTo>
                  <a:lnTo>
                    <a:pt x="2225" y="77"/>
                  </a:lnTo>
                  <a:lnTo>
                    <a:pt x="2136" y="77"/>
                  </a:lnTo>
                  <a:lnTo>
                    <a:pt x="2028" y="77"/>
                  </a:lnTo>
                  <a:lnTo>
                    <a:pt x="1920" y="77"/>
                  </a:lnTo>
                  <a:lnTo>
                    <a:pt x="1818" y="77"/>
                  </a:lnTo>
                  <a:lnTo>
                    <a:pt x="1718" y="77"/>
                  </a:lnTo>
                  <a:lnTo>
                    <a:pt x="1623" y="77"/>
                  </a:lnTo>
                  <a:lnTo>
                    <a:pt x="1538" y="77"/>
                  </a:lnTo>
                  <a:lnTo>
                    <a:pt x="1462" y="77"/>
                  </a:lnTo>
                  <a:lnTo>
                    <a:pt x="1397" y="77"/>
                  </a:lnTo>
                  <a:lnTo>
                    <a:pt x="1305" y="77"/>
                  </a:lnTo>
                  <a:lnTo>
                    <a:pt x="1246" y="77"/>
                  </a:lnTo>
                  <a:lnTo>
                    <a:pt x="1208" y="77"/>
                  </a:lnTo>
                  <a:lnTo>
                    <a:pt x="1180" y="77"/>
                  </a:lnTo>
                  <a:lnTo>
                    <a:pt x="1156" y="77"/>
                  </a:lnTo>
                  <a:lnTo>
                    <a:pt x="1126" y="77"/>
                  </a:lnTo>
                  <a:lnTo>
                    <a:pt x="1077" y="77"/>
                  </a:lnTo>
                  <a:lnTo>
                    <a:pt x="1005" y="77"/>
                  </a:lnTo>
                  <a:lnTo>
                    <a:pt x="992" y="77"/>
                  </a:lnTo>
                  <a:lnTo>
                    <a:pt x="982" y="77"/>
                  </a:lnTo>
                  <a:lnTo>
                    <a:pt x="969" y="77"/>
                  </a:lnTo>
                  <a:lnTo>
                    <a:pt x="956" y="77"/>
                  </a:lnTo>
                  <a:lnTo>
                    <a:pt x="941" y="77"/>
                  </a:lnTo>
                  <a:lnTo>
                    <a:pt x="928" y="77"/>
                  </a:lnTo>
                  <a:lnTo>
                    <a:pt x="913" y="77"/>
                  </a:lnTo>
                  <a:lnTo>
                    <a:pt x="900" y="77"/>
                  </a:lnTo>
                  <a:lnTo>
                    <a:pt x="454" y="77"/>
                  </a:lnTo>
                  <a:lnTo>
                    <a:pt x="0" y="77"/>
                  </a:lnTo>
                </a:path>
              </a:pathLst>
            </a:custGeom>
            <a:solidFill>
              <a:srgbClr val="A1D8FD"/>
            </a:solidFill>
            <a:ln w="0">
              <a:solidFill>
                <a:srgbClr val="000000"/>
              </a:solidFill>
              <a:prstDash val="solid"/>
              <a:round/>
              <a:headEnd/>
              <a:tailEnd/>
            </a:ln>
          </p:spPr>
          <p:txBody>
            <a:bodyPr/>
            <a:lstStyle/>
            <a:p>
              <a:endParaRPr lang="en-GB"/>
            </a:p>
          </p:txBody>
        </p:sp>
        <p:sp>
          <p:nvSpPr>
            <p:cNvPr id="149526" name="Freeform 22"/>
            <p:cNvSpPr>
              <a:spLocks/>
            </p:cNvSpPr>
            <p:nvPr/>
          </p:nvSpPr>
          <p:spPr bwMode="auto">
            <a:xfrm>
              <a:off x="2691" y="1802"/>
              <a:ext cx="2713" cy="116"/>
            </a:xfrm>
            <a:custGeom>
              <a:avLst/>
              <a:gdLst/>
              <a:ahLst/>
              <a:cxnLst>
                <a:cxn ang="0">
                  <a:pos x="0" y="145"/>
                </a:cxn>
                <a:cxn ang="0">
                  <a:pos x="530" y="34"/>
                </a:cxn>
                <a:cxn ang="0">
                  <a:pos x="573" y="29"/>
                </a:cxn>
                <a:cxn ang="0">
                  <a:pos x="618" y="24"/>
                </a:cxn>
                <a:cxn ang="0">
                  <a:pos x="658" y="17"/>
                </a:cxn>
                <a:cxn ang="0">
                  <a:pos x="702" y="10"/>
                </a:cxn>
                <a:cxn ang="0">
                  <a:pos x="746" y="5"/>
                </a:cxn>
                <a:cxn ang="0">
                  <a:pos x="787" y="3"/>
                </a:cxn>
                <a:cxn ang="0">
                  <a:pos x="830" y="0"/>
                </a:cxn>
                <a:cxn ang="0">
                  <a:pos x="873" y="5"/>
                </a:cxn>
                <a:cxn ang="0">
                  <a:pos x="1135" y="34"/>
                </a:cxn>
                <a:cxn ang="0">
                  <a:pos x="1220" y="60"/>
                </a:cxn>
                <a:cxn ang="0">
                  <a:pos x="1302" y="85"/>
                </a:cxn>
                <a:cxn ang="0">
                  <a:pos x="1401" y="97"/>
                </a:cxn>
                <a:cxn ang="0">
                  <a:pos x="1461" y="105"/>
                </a:cxn>
                <a:cxn ang="0">
                  <a:pos x="1931" y="107"/>
                </a:cxn>
                <a:cxn ang="0">
                  <a:pos x="2153" y="109"/>
                </a:cxn>
                <a:cxn ang="0">
                  <a:pos x="2529" y="113"/>
                </a:cxn>
                <a:cxn ang="0">
                  <a:pos x="2968" y="145"/>
                </a:cxn>
                <a:cxn ang="0">
                  <a:pos x="0" y="145"/>
                </a:cxn>
              </a:cxnLst>
              <a:rect l="0" t="0" r="r" b="b"/>
              <a:pathLst>
                <a:path w="2968" h="145">
                  <a:moveTo>
                    <a:pt x="0" y="145"/>
                  </a:moveTo>
                  <a:lnTo>
                    <a:pt x="530" y="34"/>
                  </a:lnTo>
                  <a:lnTo>
                    <a:pt x="573" y="29"/>
                  </a:lnTo>
                  <a:lnTo>
                    <a:pt x="618" y="24"/>
                  </a:lnTo>
                  <a:lnTo>
                    <a:pt x="658" y="17"/>
                  </a:lnTo>
                  <a:lnTo>
                    <a:pt x="702" y="10"/>
                  </a:lnTo>
                  <a:lnTo>
                    <a:pt x="746" y="5"/>
                  </a:lnTo>
                  <a:lnTo>
                    <a:pt x="787" y="3"/>
                  </a:lnTo>
                  <a:lnTo>
                    <a:pt x="830" y="0"/>
                  </a:lnTo>
                  <a:lnTo>
                    <a:pt x="873" y="5"/>
                  </a:lnTo>
                  <a:lnTo>
                    <a:pt x="1135" y="34"/>
                  </a:lnTo>
                  <a:lnTo>
                    <a:pt x="1220" y="60"/>
                  </a:lnTo>
                  <a:lnTo>
                    <a:pt x="1302" y="85"/>
                  </a:lnTo>
                  <a:lnTo>
                    <a:pt x="1401" y="97"/>
                  </a:lnTo>
                  <a:lnTo>
                    <a:pt x="1461" y="105"/>
                  </a:lnTo>
                  <a:lnTo>
                    <a:pt x="1931" y="107"/>
                  </a:lnTo>
                  <a:lnTo>
                    <a:pt x="2153" y="109"/>
                  </a:lnTo>
                  <a:lnTo>
                    <a:pt x="2529" y="113"/>
                  </a:lnTo>
                  <a:lnTo>
                    <a:pt x="2968" y="145"/>
                  </a:lnTo>
                  <a:lnTo>
                    <a:pt x="0" y="145"/>
                  </a:lnTo>
                  <a:close/>
                </a:path>
              </a:pathLst>
            </a:custGeom>
            <a:solidFill>
              <a:srgbClr val="A1D8FD"/>
            </a:solidFill>
            <a:ln w="0">
              <a:solidFill>
                <a:srgbClr val="000000"/>
              </a:solidFill>
              <a:round/>
              <a:headEnd/>
              <a:tailEnd/>
            </a:ln>
          </p:spPr>
          <p:txBody>
            <a:bodyPr/>
            <a:lstStyle/>
            <a:p>
              <a:endParaRPr lang="en-GB"/>
            </a:p>
          </p:txBody>
        </p:sp>
        <p:sp>
          <p:nvSpPr>
            <p:cNvPr id="149527" name="Freeform 23"/>
            <p:cNvSpPr>
              <a:spLocks/>
            </p:cNvSpPr>
            <p:nvPr/>
          </p:nvSpPr>
          <p:spPr bwMode="auto">
            <a:xfrm>
              <a:off x="2776" y="2017"/>
              <a:ext cx="2638" cy="129"/>
            </a:xfrm>
            <a:custGeom>
              <a:avLst/>
              <a:gdLst/>
              <a:ahLst/>
              <a:cxnLst>
                <a:cxn ang="0">
                  <a:pos x="0" y="154"/>
                </a:cxn>
                <a:cxn ang="0">
                  <a:pos x="374" y="141"/>
                </a:cxn>
                <a:cxn ang="0">
                  <a:pos x="500" y="113"/>
                </a:cxn>
                <a:cxn ang="0">
                  <a:pos x="600" y="28"/>
                </a:cxn>
                <a:cxn ang="0">
                  <a:pos x="718" y="0"/>
                </a:cxn>
                <a:cxn ang="0">
                  <a:pos x="1226" y="13"/>
                </a:cxn>
                <a:cxn ang="0">
                  <a:pos x="1249" y="18"/>
                </a:cxn>
                <a:cxn ang="0">
                  <a:pos x="1269" y="20"/>
                </a:cxn>
                <a:cxn ang="0">
                  <a:pos x="1290" y="26"/>
                </a:cxn>
                <a:cxn ang="0">
                  <a:pos x="1313" y="28"/>
                </a:cxn>
                <a:cxn ang="0">
                  <a:pos x="1333" y="33"/>
                </a:cxn>
                <a:cxn ang="0">
                  <a:pos x="1354" y="38"/>
                </a:cxn>
                <a:cxn ang="0">
                  <a:pos x="1374" y="43"/>
                </a:cxn>
                <a:cxn ang="0">
                  <a:pos x="1395" y="49"/>
                </a:cxn>
                <a:cxn ang="0">
                  <a:pos x="1544" y="92"/>
                </a:cxn>
                <a:cxn ang="0">
                  <a:pos x="1702" y="133"/>
                </a:cxn>
                <a:cxn ang="0">
                  <a:pos x="2243" y="143"/>
                </a:cxn>
                <a:cxn ang="0">
                  <a:pos x="2889" y="143"/>
                </a:cxn>
                <a:cxn ang="0">
                  <a:pos x="3056" y="154"/>
                </a:cxn>
                <a:cxn ang="0">
                  <a:pos x="0" y="154"/>
                </a:cxn>
              </a:cxnLst>
              <a:rect l="0" t="0" r="r" b="b"/>
              <a:pathLst>
                <a:path w="3056" h="154">
                  <a:moveTo>
                    <a:pt x="0" y="154"/>
                  </a:moveTo>
                  <a:lnTo>
                    <a:pt x="374" y="141"/>
                  </a:lnTo>
                  <a:lnTo>
                    <a:pt x="500" y="113"/>
                  </a:lnTo>
                  <a:lnTo>
                    <a:pt x="600" y="28"/>
                  </a:lnTo>
                  <a:lnTo>
                    <a:pt x="718" y="0"/>
                  </a:lnTo>
                  <a:lnTo>
                    <a:pt x="1226" y="13"/>
                  </a:lnTo>
                  <a:lnTo>
                    <a:pt x="1249" y="18"/>
                  </a:lnTo>
                  <a:lnTo>
                    <a:pt x="1269" y="20"/>
                  </a:lnTo>
                  <a:lnTo>
                    <a:pt x="1290" y="26"/>
                  </a:lnTo>
                  <a:lnTo>
                    <a:pt x="1313" y="28"/>
                  </a:lnTo>
                  <a:lnTo>
                    <a:pt x="1333" y="33"/>
                  </a:lnTo>
                  <a:lnTo>
                    <a:pt x="1354" y="38"/>
                  </a:lnTo>
                  <a:lnTo>
                    <a:pt x="1374" y="43"/>
                  </a:lnTo>
                  <a:lnTo>
                    <a:pt x="1395" y="49"/>
                  </a:lnTo>
                  <a:lnTo>
                    <a:pt x="1544" y="92"/>
                  </a:lnTo>
                  <a:lnTo>
                    <a:pt x="1702" y="133"/>
                  </a:lnTo>
                  <a:lnTo>
                    <a:pt x="2243" y="143"/>
                  </a:lnTo>
                  <a:lnTo>
                    <a:pt x="2889" y="143"/>
                  </a:lnTo>
                  <a:lnTo>
                    <a:pt x="3056" y="154"/>
                  </a:lnTo>
                  <a:lnTo>
                    <a:pt x="0" y="154"/>
                  </a:lnTo>
                </a:path>
              </a:pathLst>
            </a:custGeom>
            <a:solidFill>
              <a:srgbClr val="A1D8FD"/>
            </a:solidFill>
            <a:ln w="0">
              <a:solidFill>
                <a:srgbClr val="000000"/>
              </a:solidFill>
              <a:prstDash val="solid"/>
              <a:round/>
              <a:headEnd/>
              <a:tailEnd/>
            </a:ln>
          </p:spPr>
          <p:txBody>
            <a:bodyPr/>
            <a:lstStyle/>
            <a:p>
              <a:endParaRPr lang="en-GB"/>
            </a:p>
          </p:txBody>
        </p:sp>
        <p:sp>
          <p:nvSpPr>
            <p:cNvPr id="149528" name="Freeform 24"/>
            <p:cNvSpPr>
              <a:spLocks/>
            </p:cNvSpPr>
            <p:nvPr/>
          </p:nvSpPr>
          <p:spPr bwMode="auto">
            <a:xfrm>
              <a:off x="2756" y="2245"/>
              <a:ext cx="2656" cy="147"/>
            </a:xfrm>
            <a:custGeom>
              <a:avLst/>
              <a:gdLst/>
              <a:ahLst/>
              <a:cxnLst>
                <a:cxn ang="0">
                  <a:pos x="410" y="226"/>
                </a:cxn>
                <a:cxn ang="0">
                  <a:pos x="1044" y="113"/>
                </a:cxn>
                <a:cxn ang="0">
                  <a:pos x="1484" y="0"/>
                </a:cxn>
                <a:cxn ang="0">
                  <a:pos x="2064" y="5"/>
                </a:cxn>
                <a:cxn ang="0">
                  <a:pos x="2107" y="11"/>
                </a:cxn>
                <a:cxn ang="0">
                  <a:pos x="2154" y="21"/>
                </a:cxn>
                <a:cxn ang="0">
                  <a:pos x="2202" y="44"/>
                </a:cxn>
                <a:cxn ang="0">
                  <a:pos x="2246" y="77"/>
                </a:cxn>
                <a:cxn ang="0">
                  <a:pos x="2279" y="105"/>
                </a:cxn>
                <a:cxn ang="0">
                  <a:pos x="2313" y="134"/>
                </a:cxn>
                <a:cxn ang="0">
                  <a:pos x="2346" y="159"/>
                </a:cxn>
                <a:cxn ang="0">
                  <a:pos x="2379" y="177"/>
                </a:cxn>
                <a:cxn ang="0">
                  <a:pos x="2407" y="190"/>
                </a:cxn>
                <a:cxn ang="0">
                  <a:pos x="2438" y="198"/>
                </a:cxn>
                <a:cxn ang="0">
                  <a:pos x="2466" y="205"/>
                </a:cxn>
                <a:cxn ang="0">
                  <a:pos x="2502" y="208"/>
                </a:cxn>
                <a:cxn ang="0">
                  <a:pos x="2523" y="210"/>
                </a:cxn>
                <a:cxn ang="0">
                  <a:pos x="2536" y="210"/>
                </a:cxn>
                <a:cxn ang="0">
                  <a:pos x="2566" y="210"/>
                </a:cxn>
                <a:cxn ang="0">
                  <a:pos x="2615" y="205"/>
                </a:cxn>
                <a:cxn ang="0">
                  <a:pos x="2633" y="193"/>
                </a:cxn>
                <a:cxn ang="0">
                  <a:pos x="2643" y="175"/>
                </a:cxn>
                <a:cxn ang="0">
                  <a:pos x="2654" y="159"/>
                </a:cxn>
                <a:cxn ang="0">
                  <a:pos x="2674" y="159"/>
                </a:cxn>
                <a:cxn ang="0">
                  <a:pos x="2684" y="172"/>
                </a:cxn>
                <a:cxn ang="0">
                  <a:pos x="2689" y="187"/>
                </a:cxn>
                <a:cxn ang="0">
                  <a:pos x="2695" y="200"/>
                </a:cxn>
                <a:cxn ang="0">
                  <a:pos x="2723" y="210"/>
                </a:cxn>
                <a:cxn ang="0">
                  <a:pos x="2810" y="221"/>
                </a:cxn>
                <a:cxn ang="0">
                  <a:pos x="2925" y="228"/>
                </a:cxn>
                <a:cxn ang="0">
                  <a:pos x="3033" y="234"/>
                </a:cxn>
                <a:cxn ang="0">
                  <a:pos x="2592" y="239"/>
                </a:cxn>
                <a:cxn ang="0">
                  <a:pos x="1697" y="239"/>
                </a:cxn>
                <a:cxn ang="0">
                  <a:pos x="328" y="239"/>
                </a:cxn>
              </a:cxnLst>
              <a:rect l="0" t="0" r="r" b="b"/>
              <a:pathLst>
                <a:path w="3077" h="239">
                  <a:moveTo>
                    <a:pt x="0" y="239"/>
                  </a:moveTo>
                  <a:lnTo>
                    <a:pt x="410" y="226"/>
                  </a:lnTo>
                  <a:lnTo>
                    <a:pt x="738" y="193"/>
                  </a:lnTo>
                  <a:lnTo>
                    <a:pt x="1044" y="113"/>
                  </a:lnTo>
                  <a:lnTo>
                    <a:pt x="1338" y="21"/>
                  </a:lnTo>
                  <a:lnTo>
                    <a:pt x="1484" y="0"/>
                  </a:lnTo>
                  <a:lnTo>
                    <a:pt x="2038" y="0"/>
                  </a:lnTo>
                  <a:lnTo>
                    <a:pt x="2064" y="5"/>
                  </a:lnTo>
                  <a:lnTo>
                    <a:pt x="2084" y="8"/>
                  </a:lnTo>
                  <a:lnTo>
                    <a:pt x="2107" y="11"/>
                  </a:lnTo>
                  <a:lnTo>
                    <a:pt x="2131" y="16"/>
                  </a:lnTo>
                  <a:lnTo>
                    <a:pt x="2154" y="21"/>
                  </a:lnTo>
                  <a:lnTo>
                    <a:pt x="2179" y="31"/>
                  </a:lnTo>
                  <a:lnTo>
                    <a:pt x="2202" y="44"/>
                  </a:lnTo>
                  <a:lnTo>
                    <a:pt x="2231" y="64"/>
                  </a:lnTo>
                  <a:lnTo>
                    <a:pt x="2246" y="77"/>
                  </a:lnTo>
                  <a:lnTo>
                    <a:pt x="2264" y="93"/>
                  </a:lnTo>
                  <a:lnTo>
                    <a:pt x="2279" y="105"/>
                  </a:lnTo>
                  <a:lnTo>
                    <a:pt x="2297" y="121"/>
                  </a:lnTo>
                  <a:lnTo>
                    <a:pt x="2313" y="134"/>
                  </a:lnTo>
                  <a:lnTo>
                    <a:pt x="2331" y="146"/>
                  </a:lnTo>
                  <a:lnTo>
                    <a:pt x="2346" y="159"/>
                  </a:lnTo>
                  <a:lnTo>
                    <a:pt x="2364" y="169"/>
                  </a:lnTo>
                  <a:lnTo>
                    <a:pt x="2379" y="177"/>
                  </a:lnTo>
                  <a:lnTo>
                    <a:pt x="2392" y="182"/>
                  </a:lnTo>
                  <a:lnTo>
                    <a:pt x="2407" y="190"/>
                  </a:lnTo>
                  <a:lnTo>
                    <a:pt x="2423" y="193"/>
                  </a:lnTo>
                  <a:lnTo>
                    <a:pt x="2438" y="198"/>
                  </a:lnTo>
                  <a:lnTo>
                    <a:pt x="2454" y="203"/>
                  </a:lnTo>
                  <a:lnTo>
                    <a:pt x="2466" y="205"/>
                  </a:lnTo>
                  <a:lnTo>
                    <a:pt x="2482" y="208"/>
                  </a:lnTo>
                  <a:lnTo>
                    <a:pt x="2502" y="208"/>
                  </a:lnTo>
                  <a:lnTo>
                    <a:pt x="2515" y="210"/>
                  </a:lnTo>
                  <a:lnTo>
                    <a:pt x="2523" y="210"/>
                  </a:lnTo>
                  <a:lnTo>
                    <a:pt x="2528" y="210"/>
                  </a:lnTo>
                  <a:lnTo>
                    <a:pt x="2536" y="210"/>
                  </a:lnTo>
                  <a:lnTo>
                    <a:pt x="2548" y="210"/>
                  </a:lnTo>
                  <a:lnTo>
                    <a:pt x="2566" y="210"/>
                  </a:lnTo>
                  <a:lnTo>
                    <a:pt x="2595" y="210"/>
                  </a:lnTo>
                  <a:lnTo>
                    <a:pt x="2615" y="205"/>
                  </a:lnTo>
                  <a:lnTo>
                    <a:pt x="2625" y="200"/>
                  </a:lnTo>
                  <a:lnTo>
                    <a:pt x="2633" y="193"/>
                  </a:lnTo>
                  <a:lnTo>
                    <a:pt x="2638" y="182"/>
                  </a:lnTo>
                  <a:lnTo>
                    <a:pt x="2643" y="175"/>
                  </a:lnTo>
                  <a:lnTo>
                    <a:pt x="2646" y="167"/>
                  </a:lnTo>
                  <a:lnTo>
                    <a:pt x="2654" y="159"/>
                  </a:lnTo>
                  <a:lnTo>
                    <a:pt x="2664" y="157"/>
                  </a:lnTo>
                  <a:lnTo>
                    <a:pt x="2674" y="159"/>
                  </a:lnTo>
                  <a:lnTo>
                    <a:pt x="2682" y="164"/>
                  </a:lnTo>
                  <a:lnTo>
                    <a:pt x="2684" y="172"/>
                  </a:lnTo>
                  <a:lnTo>
                    <a:pt x="2687" y="180"/>
                  </a:lnTo>
                  <a:lnTo>
                    <a:pt x="2689" y="187"/>
                  </a:lnTo>
                  <a:lnTo>
                    <a:pt x="2689" y="195"/>
                  </a:lnTo>
                  <a:lnTo>
                    <a:pt x="2695" y="200"/>
                  </a:lnTo>
                  <a:lnTo>
                    <a:pt x="2702" y="208"/>
                  </a:lnTo>
                  <a:lnTo>
                    <a:pt x="2723" y="210"/>
                  </a:lnTo>
                  <a:lnTo>
                    <a:pt x="2761" y="216"/>
                  </a:lnTo>
                  <a:lnTo>
                    <a:pt x="2810" y="221"/>
                  </a:lnTo>
                  <a:lnTo>
                    <a:pt x="2866" y="223"/>
                  </a:lnTo>
                  <a:lnTo>
                    <a:pt x="2925" y="228"/>
                  </a:lnTo>
                  <a:lnTo>
                    <a:pt x="2982" y="231"/>
                  </a:lnTo>
                  <a:lnTo>
                    <a:pt x="3033" y="234"/>
                  </a:lnTo>
                  <a:lnTo>
                    <a:pt x="3077" y="239"/>
                  </a:lnTo>
                  <a:lnTo>
                    <a:pt x="2592" y="239"/>
                  </a:lnTo>
                  <a:lnTo>
                    <a:pt x="2295" y="239"/>
                  </a:lnTo>
                  <a:lnTo>
                    <a:pt x="1697" y="239"/>
                  </a:lnTo>
                  <a:lnTo>
                    <a:pt x="1044" y="239"/>
                  </a:lnTo>
                  <a:lnTo>
                    <a:pt x="328" y="239"/>
                  </a:lnTo>
                  <a:lnTo>
                    <a:pt x="0" y="239"/>
                  </a:lnTo>
                  <a:close/>
                </a:path>
              </a:pathLst>
            </a:custGeom>
            <a:solidFill>
              <a:srgbClr val="A1D8FD"/>
            </a:solidFill>
            <a:ln w="0">
              <a:solidFill>
                <a:srgbClr val="000000"/>
              </a:solidFill>
              <a:round/>
              <a:headEnd/>
              <a:tailEnd/>
            </a:ln>
          </p:spPr>
          <p:txBody>
            <a:bodyPr/>
            <a:lstStyle/>
            <a:p>
              <a:endParaRPr lang="en-GB"/>
            </a:p>
          </p:txBody>
        </p:sp>
        <p:sp>
          <p:nvSpPr>
            <p:cNvPr id="149529" name="Freeform 25"/>
            <p:cNvSpPr>
              <a:spLocks/>
            </p:cNvSpPr>
            <p:nvPr/>
          </p:nvSpPr>
          <p:spPr bwMode="auto">
            <a:xfrm>
              <a:off x="2782" y="2491"/>
              <a:ext cx="2630" cy="99"/>
            </a:xfrm>
            <a:custGeom>
              <a:avLst/>
              <a:gdLst/>
              <a:ahLst/>
              <a:cxnLst>
                <a:cxn ang="0">
                  <a:pos x="0" y="118"/>
                </a:cxn>
                <a:cxn ang="0">
                  <a:pos x="490" y="118"/>
                </a:cxn>
                <a:cxn ang="0">
                  <a:pos x="625" y="92"/>
                </a:cxn>
                <a:cxn ang="0">
                  <a:pos x="725" y="87"/>
                </a:cxn>
                <a:cxn ang="0">
                  <a:pos x="818" y="118"/>
                </a:cxn>
                <a:cxn ang="0">
                  <a:pos x="905" y="100"/>
                </a:cxn>
                <a:cxn ang="0">
                  <a:pos x="989" y="87"/>
                </a:cxn>
                <a:cxn ang="0">
                  <a:pos x="1074" y="87"/>
                </a:cxn>
                <a:cxn ang="0">
                  <a:pos x="1148" y="118"/>
                </a:cxn>
                <a:cxn ang="0">
                  <a:pos x="1187" y="118"/>
                </a:cxn>
                <a:cxn ang="0">
                  <a:pos x="1261" y="87"/>
                </a:cxn>
                <a:cxn ang="0">
                  <a:pos x="1366" y="66"/>
                </a:cxn>
                <a:cxn ang="0">
                  <a:pos x="1469" y="79"/>
                </a:cxn>
                <a:cxn ang="0">
                  <a:pos x="1564" y="118"/>
                </a:cxn>
                <a:cxn ang="0">
                  <a:pos x="1782" y="59"/>
                </a:cxn>
                <a:cxn ang="0">
                  <a:pos x="1866" y="54"/>
                </a:cxn>
                <a:cxn ang="0">
                  <a:pos x="1912" y="87"/>
                </a:cxn>
                <a:cxn ang="0">
                  <a:pos x="1933" y="118"/>
                </a:cxn>
                <a:cxn ang="0">
                  <a:pos x="2079" y="46"/>
                </a:cxn>
                <a:cxn ang="0">
                  <a:pos x="2092" y="41"/>
                </a:cxn>
                <a:cxn ang="0">
                  <a:pos x="2107" y="36"/>
                </a:cxn>
                <a:cxn ang="0">
                  <a:pos x="2120" y="31"/>
                </a:cxn>
                <a:cxn ang="0">
                  <a:pos x="2133" y="25"/>
                </a:cxn>
                <a:cxn ang="0">
                  <a:pos x="2146" y="20"/>
                </a:cxn>
                <a:cxn ang="0">
                  <a:pos x="2161" y="15"/>
                </a:cxn>
                <a:cxn ang="0">
                  <a:pos x="2176" y="10"/>
                </a:cxn>
                <a:cxn ang="0">
                  <a:pos x="2192" y="7"/>
                </a:cxn>
                <a:cxn ang="0">
                  <a:pos x="2205" y="5"/>
                </a:cxn>
                <a:cxn ang="0">
                  <a:pos x="2217" y="2"/>
                </a:cxn>
                <a:cxn ang="0">
                  <a:pos x="2230" y="0"/>
                </a:cxn>
                <a:cxn ang="0">
                  <a:pos x="2241" y="0"/>
                </a:cxn>
                <a:cxn ang="0">
                  <a:pos x="2253" y="0"/>
                </a:cxn>
                <a:cxn ang="0">
                  <a:pos x="2266" y="0"/>
                </a:cxn>
                <a:cxn ang="0">
                  <a:pos x="2279" y="2"/>
                </a:cxn>
                <a:cxn ang="0">
                  <a:pos x="2292" y="5"/>
                </a:cxn>
                <a:cxn ang="0">
                  <a:pos x="2441" y="54"/>
                </a:cxn>
                <a:cxn ang="0">
                  <a:pos x="2458" y="59"/>
                </a:cxn>
                <a:cxn ang="0">
                  <a:pos x="2474" y="64"/>
                </a:cxn>
                <a:cxn ang="0">
                  <a:pos x="2492" y="69"/>
                </a:cxn>
                <a:cxn ang="0">
                  <a:pos x="2507" y="74"/>
                </a:cxn>
                <a:cxn ang="0">
                  <a:pos x="2523" y="79"/>
                </a:cxn>
                <a:cxn ang="0">
                  <a:pos x="2543" y="82"/>
                </a:cxn>
                <a:cxn ang="0">
                  <a:pos x="2564" y="87"/>
                </a:cxn>
                <a:cxn ang="0">
                  <a:pos x="2589" y="89"/>
                </a:cxn>
                <a:cxn ang="0">
                  <a:pos x="2797" y="92"/>
                </a:cxn>
                <a:cxn ang="0">
                  <a:pos x="2902" y="100"/>
                </a:cxn>
                <a:cxn ang="0">
                  <a:pos x="3046" y="118"/>
                </a:cxn>
                <a:cxn ang="0">
                  <a:pos x="0" y="118"/>
                </a:cxn>
              </a:cxnLst>
              <a:rect l="0" t="0" r="r" b="b"/>
              <a:pathLst>
                <a:path w="3046" h="118">
                  <a:moveTo>
                    <a:pt x="0" y="118"/>
                  </a:moveTo>
                  <a:lnTo>
                    <a:pt x="490" y="118"/>
                  </a:lnTo>
                  <a:lnTo>
                    <a:pt x="625" y="92"/>
                  </a:lnTo>
                  <a:lnTo>
                    <a:pt x="725" y="87"/>
                  </a:lnTo>
                  <a:lnTo>
                    <a:pt x="818" y="118"/>
                  </a:lnTo>
                  <a:lnTo>
                    <a:pt x="905" y="100"/>
                  </a:lnTo>
                  <a:lnTo>
                    <a:pt x="989" y="87"/>
                  </a:lnTo>
                  <a:lnTo>
                    <a:pt x="1074" y="87"/>
                  </a:lnTo>
                  <a:lnTo>
                    <a:pt x="1148" y="118"/>
                  </a:lnTo>
                  <a:lnTo>
                    <a:pt x="1187" y="118"/>
                  </a:lnTo>
                  <a:lnTo>
                    <a:pt x="1261" y="87"/>
                  </a:lnTo>
                  <a:lnTo>
                    <a:pt x="1366" y="66"/>
                  </a:lnTo>
                  <a:lnTo>
                    <a:pt x="1469" y="79"/>
                  </a:lnTo>
                  <a:lnTo>
                    <a:pt x="1564" y="118"/>
                  </a:lnTo>
                  <a:lnTo>
                    <a:pt x="1782" y="59"/>
                  </a:lnTo>
                  <a:lnTo>
                    <a:pt x="1866" y="54"/>
                  </a:lnTo>
                  <a:lnTo>
                    <a:pt x="1912" y="87"/>
                  </a:lnTo>
                  <a:lnTo>
                    <a:pt x="1933" y="118"/>
                  </a:lnTo>
                  <a:lnTo>
                    <a:pt x="2079" y="46"/>
                  </a:lnTo>
                  <a:lnTo>
                    <a:pt x="2092" y="41"/>
                  </a:lnTo>
                  <a:lnTo>
                    <a:pt x="2107" y="36"/>
                  </a:lnTo>
                  <a:lnTo>
                    <a:pt x="2120" y="31"/>
                  </a:lnTo>
                  <a:lnTo>
                    <a:pt x="2133" y="25"/>
                  </a:lnTo>
                  <a:lnTo>
                    <a:pt x="2146" y="20"/>
                  </a:lnTo>
                  <a:lnTo>
                    <a:pt x="2161" y="15"/>
                  </a:lnTo>
                  <a:lnTo>
                    <a:pt x="2176" y="10"/>
                  </a:lnTo>
                  <a:lnTo>
                    <a:pt x="2192" y="7"/>
                  </a:lnTo>
                  <a:lnTo>
                    <a:pt x="2205" y="5"/>
                  </a:lnTo>
                  <a:lnTo>
                    <a:pt x="2217" y="2"/>
                  </a:lnTo>
                  <a:lnTo>
                    <a:pt x="2230" y="0"/>
                  </a:lnTo>
                  <a:lnTo>
                    <a:pt x="2241" y="0"/>
                  </a:lnTo>
                  <a:lnTo>
                    <a:pt x="2253" y="0"/>
                  </a:lnTo>
                  <a:lnTo>
                    <a:pt x="2266" y="0"/>
                  </a:lnTo>
                  <a:lnTo>
                    <a:pt x="2279" y="2"/>
                  </a:lnTo>
                  <a:lnTo>
                    <a:pt x="2292" y="5"/>
                  </a:lnTo>
                  <a:lnTo>
                    <a:pt x="2441" y="54"/>
                  </a:lnTo>
                  <a:lnTo>
                    <a:pt x="2458" y="59"/>
                  </a:lnTo>
                  <a:lnTo>
                    <a:pt x="2474" y="64"/>
                  </a:lnTo>
                  <a:lnTo>
                    <a:pt x="2492" y="69"/>
                  </a:lnTo>
                  <a:lnTo>
                    <a:pt x="2507" y="74"/>
                  </a:lnTo>
                  <a:lnTo>
                    <a:pt x="2523" y="79"/>
                  </a:lnTo>
                  <a:lnTo>
                    <a:pt x="2543" y="82"/>
                  </a:lnTo>
                  <a:lnTo>
                    <a:pt x="2564" y="87"/>
                  </a:lnTo>
                  <a:lnTo>
                    <a:pt x="2589" y="89"/>
                  </a:lnTo>
                  <a:lnTo>
                    <a:pt x="2797" y="92"/>
                  </a:lnTo>
                  <a:lnTo>
                    <a:pt x="2902" y="100"/>
                  </a:lnTo>
                  <a:lnTo>
                    <a:pt x="3046" y="118"/>
                  </a:lnTo>
                  <a:lnTo>
                    <a:pt x="0" y="118"/>
                  </a:lnTo>
                  <a:close/>
                </a:path>
              </a:pathLst>
            </a:custGeom>
            <a:solidFill>
              <a:srgbClr val="A1D8FD"/>
            </a:solidFill>
            <a:ln w="0">
              <a:solidFill>
                <a:srgbClr val="000000"/>
              </a:solidFill>
              <a:round/>
              <a:headEnd/>
              <a:tailEnd/>
            </a:ln>
          </p:spPr>
          <p:txBody>
            <a:bodyPr/>
            <a:lstStyle/>
            <a:p>
              <a:endParaRPr lang="en-GB"/>
            </a:p>
          </p:txBody>
        </p:sp>
        <p:sp>
          <p:nvSpPr>
            <p:cNvPr id="149530" name="Rectangle 26"/>
            <p:cNvSpPr>
              <a:spLocks noChangeArrowheads="1"/>
            </p:cNvSpPr>
            <p:nvPr/>
          </p:nvSpPr>
          <p:spPr bwMode="auto">
            <a:xfrm>
              <a:off x="3770" y="1104"/>
              <a:ext cx="587" cy="182"/>
            </a:xfrm>
            <a:prstGeom prst="rect">
              <a:avLst/>
            </a:prstGeom>
            <a:noFill/>
            <a:ln w="9525">
              <a:noFill/>
              <a:miter lim="800000"/>
              <a:headEnd/>
              <a:tailEnd/>
            </a:ln>
          </p:spPr>
          <p:txBody>
            <a:bodyPr wrap="none" lIns="0" tIns="0" rIns="0" bIns="0">
              <a:spAutoFit/>
            </a:bodyPr>
            <a:lstStyle/>
            <a:p>
              <a:pPr defTabSz="862013" eaLnBrk="0" hangingPunct="0">
                <a:lnSpc>
                  <a:spcPct val="90000"/>
                </a:lnSpc>
                <a:spcBef>
                  <a:spcPct val="50000"/>
                </a:spcBef>
              </a:pPr>
              <a:r>
                <a:rPr lang="en-US" sz="2100" b="1">
                  <a:solidFill>
                    <a:srgbClr val="FF5050"/>
                  </a:solidFill>
                </a:rPr>
                <a:t>Phases</a:t>
              </a:r>
              <a:endParaRPr lang="en-US" sz="2300" b="1">
                <a:solidFill>
                  <a:srgbClr val="FF5050"/>
                </a:solidFill>
              </a:endParaRPr>
            </a:p>
          </p:txBody>
        </p:sp>
        <p:sp>
          <p:nvSpPr>
            <p:cNvPr id="149531" name="Rectangle 27"/>
            <p:cNvSpPr>
              <a:spLocks noChangeArrowheads="1"/>
            </p:cNvSpPr>
            <p:nvPr/>
          </p:nvSpPr>
          <p:spPr bwMode="auto">
            <a:xfrm>
              <a:off x="672" y="1304"/>
              <a:ext cx="1658" cy="173"/>
            </a:xfrm>
            <a:prstGeom prst="rect">
              <a:avLst/>
            </a:prstGeom>
            <a:noFill/>
            <a:ln w="9525">
              <a:noFill/>
              <a:miter lim="800000"/>
              <a:headEnd/>
              <a:tailEnd/>
            </a:ln>
          </p:spPr>
          <p:txBody>
            <a:bodyPr lIns="0" tIns="0" rIns="0" bIns="0">
              <a:spAutoFit/>
            </a:bodyPr>
            <a:lstStyle/>
            <a:p>
              <a:pPr defTabSz="862013" eaLnBrk="0" hangingPunct="0">
                <a:lnSpc>
                  <a:spcPct val="90000"/>
                </a:lnSpc>
                <a:spcBef>
                  <a:spcPct val="50000"/>
                </a:spcBef>
              </a:pPr>
              <a:r>
                <a:rPr lang="en-US" sz="2000" b="1">
                  <a:solidFill>
                    <a:schemeClr val="accent2"/>
                  </a:solidFill>
                </a:rPr>
                <a:t>Process Workflows</a:t>
              </a:r>
            </a:p>
          </p:txBody>
        </p:sp>
        <p:sp>
          <p:nvSpPr>
            <p:cNvPr id="149532" name="Rectangle 28"/>
            <p:cNvSpPr>
              <a:spLocks noChangeArrowheads="1"/>
            </p:cNvSpPr>
            <p:nvPr/>
          </p:nvSpPr>
          <p:spPr bwMode="auto">
            <a:xfrm>
              <a:off x="3735" y="4007"/>
              <a:ext cx="756" cy="182"/>
            </a:xfrm>
            <a:prstGeom prst="rect">
              <a:avLst/>
            </a:prstGeom>
            <a:noFill/>
            <a:ln w="9525">
              <a:noFill/>
              <a:miter lim="800000"/>
              <a:headEnd/>
              <a:tailEnd/>
            </a:ln>
          </p:spPr>
          <p:txBody>
            <a:bodyPr wrap="none" lIns="0" tIns="0" rIns="0" bIns="0">
              <a:spAutoFit/>
            </a:bodyPr>
            <a:lstStyle/>
            <a:p>
              <a:pPr defTabSz="862013" eaLnBrk="0" hangingPunct="0">
                <a:lnSpc>
                  <a:spcPct val="90000"/>
                </a:lnSpc>
                <a:spcBef>
                  <a:spcPct val="50000"/>
                </a:spcBef>
              </a:pPr>
              <a:r>
                <a:rPr lang="en-US" sz="2100" b="1">
                  <a:solidFill>
                    <a:srgbClr val="FF5050"/>
                  </a:solidFill>
                </a:rPr>
                <a:t>Iterations</a:t>
              </a:r>
              <a:endParaRPr lang="en-US" sz="2300" b="1">
                <a:solidFill>
                  <a:srgbClr val="FF5050"/>
                </a:solidFill>
              </a:endParaRPr>
            </a:p>
          </p:txBody>
        </p:sp>
        <p:sp>
          <p:nvSpPr>
            <p:cNvPr id="149533" name="Freeform 29"/>
            <p:cNvSpPr>
              <a:spLocks/>
            </p:cNvSpPr>
            <p:nvPr/>
          </p:nvSpPr>
          <p:spPr bwMode="auto">
            <a:xfrm>
              <a:off x="3199" y="3731"/>
              <a:ext cx="19" cy="162"/>
            </a:xfrm>
            <a:custGeom>
              <a:avLst/>
              <a:gdLst/>
              <a:ahLst/>
              <a:cxnLst>
                <a:cxn ang="0">
                  <a:pos x="11" y="192"/>
                </a:cxn>
                <a:cxn ang="0">
                  <a:pos x="21" y="192"/>
                </a:cxn>
                <a:cxn ang="0">
                  <a:pos x="21" y="0"/>
                </a:cxn>
                <a:cxn ang="0">
                  <a:pos x="0" y="0"/>
                </a:cxn>
                <a:cxn ang="0">
                  <a:pos x="0" y="192"/>
                </a:cxn>
                <a:cxn ang="0">
                  <a:pos x="11" y="192"/>
                </a:cxn>
              </a:cxnLst>
              <a:rect l="0" t="0" r="r" b="b"/>
              <a:pathLst>
                <a:path w="21" h="192">
                  <a:moveTo>
                    <a:pt x="11" y="192"/>
                  </a:moveTo>
                  <a:lnTo>
                    <a:pt x="21" y="192"/>
                  </a:lnTo>
                  <a:lnTo>
                    <a:pt x="21" y="0"/>
                  </a:lnTo>
                  <a:lnTo>
                    <a:pt x="0" y="0"/>
                  </a:lnTo>
                  <a:lnTo>
                    <a:pt x="0" y="192"/>
                  </a:lnTo>
                  <a:lnTo>
                    <a:pt x="11" y="192"/>
                  </a:lnTo>
                  <a:close/>
                </a:path>
              </a:pathLst>
            </a:custGeom>
            <a:solidFill>
              <a:schemeClr val="tx1"/>
            </a:solidFill>
            <a:ln w="6350" cmpd="sng">
              <a:solidFill>
                <a:schemeClr val="tx1"/>
              </a:solidFill>
              <a:round/>
              <a:headEnd/>
              <a:tailEnd/>
            </a:ln>
          </p:spPr>
          <p:txBody>
            <a:bodyPr/>
            <a:lstStyle/>
            <a:p>
              <a:endParaRPr lang="en-GB"/>
            </a:p>
          </p:txBody>
        </p:sp>
        <p:sp>
          <p:nvSpPr>
            <p:cNvPr id="149534" name="Rectangle 30"/>
            <p:cNvSpPr>
              <a:spLocks noChangeArrowheads="1"/>
            </p:cNvSpPr>
            <p:nvPr/>
          </p:nvSpPr>
          <p:spPr bwMode="auto">
            <a:xfrm>
              <a:off x="672" y="2932"/>
              <a:ext cx="1717" cy="173"/>
            </a:xfrm>
            <a:prstGeom prst="rect">
              <a:avLst/>
            </a:prstGeom>
            <a:noFill/>
            <a:ln w="9525">
              <a:noFill/>
              <a:miter lim="800000"/>
              <a:headEnd/>
              <a:tailEnd/>
            </a:ln>
          </p:spPr>
          <p:txBody>
            <a:bodyPr lIns="0" tIns="0" rIns="0" bIns="0">
              <a:spAutoFit/>
            </a:bodyPr>
            <a:lstStyle/>
            <a:p>
              <a:pPr defTabSz="862013" eaLnBrk="0" hangingPunct="0">
                <a:lnSpc>
                  <a:spcPct val="90000"/>
                </a:lnSpc>
                <a:spcBef>
                  <a:spcPct val="50000"/>
                </a:spcBef>
              </a:pPr>
              <a:r>
                <a:rPr lang="en-US" sz="2000" b="1">
                  <a:solidFill>
                    <a:schemeClr val="accent2"/>
                  </a:solidFill>
                </a:rPr>
                <a:t>Supporting Workflows</a:t>
              </a:r>
            </a:p>
          </p:txBody>
        </p:sp>
        <p:sp>
          <p:nvSpPr>
            <p:cNvPr id="149535" name="Line 31"/>
            <p:cNvSpPr>
              <a:spLocks noChangeShapeType="1"/>
            </p:cNvSpPr>
            <p:nvPr/>
          </p:nvSpPr>
          <p:spPr bwMode="auto">
            <a:xfrm flipH="1">
              <a:off x="4455" y="3725"/>
              <a:ext cx="1" cy="170"/>
            </a:xfrm>
            <a:prstGeom prst="line">
              <a:avLst/>
            </a:prstGeom>
            <a:noFill/>
            <a:ln w="0">
              <a:solidFill>
                <a:schemeClr val="tx1"/>
              </a:solidFill>
              <a:round/>
              <a:headEnd/>
              <a:tailEnd/>
            </a:ln>
          </p:spPr>
          <p:txBody>
            <a:bodyPr/>
            <a:lstStyle/>
            <a:p>
              <a:endParaRPr lang="en-GB"/>
            </a:p>
          </p:txBody>
        </p:sp>
        <p:sp>
          <p:nvSpPr>
            <p:cNvPr id="149536" name="Line 32"/>
            <p:cNvSpPr>
              <a:spLocks noChangeShapeType="1"/>
            </p:cNvSpPr>
            <p:nvPr/>
          </p:nvSpPr>
          <p:spPr bwMode="auto">
            <a:xfrm>
              <a:off x="4145" y="3726"/>
              <a:ext cx="0" cy="164"/>
            </a:xfrm>
            <a:prstGeom prst="line">
              <a:avLst/>
            </a:prstGeom>
            <a:noFill/>
            <a:ln w="0">
              <a:solidFill>
                <a:schemeClr val="tx1"/>
              </a:solidFill>
              <a:round/>
              <a:headEnd/>
              <a:tailEnd/>
            </a:ln>
          </p:spPr>
          <p:txBody>
            <a:bodyPr/>
            <a:lstStyle/>
            <a:p>
              <a:endParaRPr lang="en-GB"/>
            </a:p>
          </p:txBody>
        </p:sp>
        <p:sp>
          <p:nvSpPr>
            <p:cNvPr id="149537" name="Line 33"/>
            <p:cNvSpPr>
              <a:spLocks noChangeShapeType="1"/>
            </p:cNvSpPr>
            <p:nvPr/>
          </p:nvSpPr>
          <p:spPr bwMode="auto">
            <a:xfrm>
              <a:off x="3501" y="3726"/>
              <a:ext cx="1" cy="164"/>
            </a:xfrm>
            <a:prstGeom prst="line">
              <a:avLst/>
            </a:prstGeom>
            <a:noFill/>
            <a:ln w="0">
              <a:solidFill>
                <a:schemeClr val="tx1"/>
              </a:solidFill>
              <a:round/>
              <a:headEnd/>
              <a:tailEnd/>
            </a:ln>
          </p:spPr>
          <p:txBody>
            <a:bodyPr/>
            <a:lstStyle/>
            <a:p>
              <a:endParaRPr lang="en-GB"/>
            </a:p>
          </p:txBody>
        </p:sp>
        <p:sp>
          <p:nvSpPr>
            <p:cNvPr id="149538" name="Rectangle 34"/>
            <p:cNvSpPr>
              <a:spLocks noChangeArrowheads="1"/>
            </p:cNvSpPr>
            <p:nvPr/>
          </p:nvSpPr>
          <p:spPr bwMode="auto">
            <a:xfrm>
              <a:off x="3560" y="3738"/>
              <a:ext cx="209" cy="227"/>
            </a:xfrm>
            <a:prstGeom prst="rect">
              <a:avLst/>
            </a:prstGeom>
            <a:noFill/>
            <a:ln w="9525">
              <a:noFill/>
              <a:miter lim="800000"/>
              <a:headEnd/>
              <a:tailEnd/>
            </a:ln>
          </p:spPr>
          <p:txBody>
            <a:bodyPr wrap="none" lIns="0" tIns="0" rIns="0" bIns="0">
              <a:spAutoFit/>
            </a:bodyPr>
            <a:lstStyle/>
            <a:p>
              <a:pPr algn="ctr" defTabSz="862013" eaLnBrk="0" hangingPunct="0">
                <a:lnSpc>
                  <a:spcPct val="90000"/>
                </a:lnSpc>
                <a:spcBef>
                  <a:spcPct val="50000"/>
                </a:spcBef>
              </a:pPr>
              <a:r>
                <a:rPr lang="en-US" sz="1300"/>
                <a:t> Iter.</a:t>
              </a:r>
              <a:br>
                <a:rPr lang="en-US" sz="1300"/>
              </a:br>
              <a:r>
                <a:rPr lang="en-US" sz="1300"/>
                <a:t>#2</a:t>
              </a:r>
            </a:p>
          </p:txBody>
        </p:sp>
        <p:sp>
          <p:nvSpPr>
            <p:cNvPr id="149539" name="Rectangle 35"/>
            <p:cNvSpPr>
              <a:spLocks noChangeArrowheads="1"/>
            </p:cNvSpPr>
            <p:nvPr/>
          </p:nvSpPr>
          <p:spPr bwMode="auto">
            <a:xfrm>
              <a:off x="3838" y="3738"/>
              <a:ext cx="277" cy="227"/>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300"/>
                <a:t> Iter.</a:t>
              </a:r>
              <a:br>
                <a:rPr lang="en-US" sz="1300"/>
              </a:br>
              <a:r>
                <a:rPr lang="en-US" sz="1300"/>
                <a:t>#n</a:t>
              </a:r>
            </a:p>
          </p:txBody>
        </p:sp>
        <p:sp>
          <p:nvSpPr>
            <p:cNvPr id="149540" name="Rectangle 36"/>
            <p:cNvSpPr>
              <a:spLocks noChangeArrowheads="1"/>
            </p:cNvSpPr>
            <p:nvPr/>
          </p:nvSpPr>
          <p:spPr bwMode="auto">
            <a:xfrm>
              <a:off x="4173" y="3738"/>
              <a:ext cx="253" cy="227"/>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300"/>
                <a:t> Iter.</a:t>
              </a:r>
              <a:br>
                <a:rPr lang="en-US" sz="1300"/>
              </a:br>
              <a:r>
                <a:rPr lang="en-US" sz="1300"/>
                <a:t>#n+1</a:t>
              </a:r>
            </a:p>
          </p:txBody>
        </p:sp>
        <p:sp>
          <p:nvSpPr>
            <p:cNvPr id="149541" name="Rectangle 37"/>
            <p:cNvSpPr>
              <a:spLocks noChangeArrowheads="1"/>
            </p:cNvSpPr>
            <p:nvPr/>
          </p:nvSpPr>
          <p:spPr bwMode="auto">
            <a:xfrm>
              <a:off x="4471" y="3738"/>
              <a:ext cx="242" cy="227"/>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300"/>
                <a:t> Iter.</a:t>
              </a:r>
              <a:br>
                <a:rPr lang="en-US" sz="1300"/>
              </a:br>
              <a:r>
                <a:rPr lang="en-US" sz="1300"/>
                <a:t>#n+2</a:t>
              </a:r>
            </a:p>
          </p:txBody>
        </p:sp>
        <p:sp>
          <p:nvSpPr>
            <p:cNvPr id="149542" name="Rectangle 38"/>
            <p:cNvSpPr>
              <a:spLocks noChangeArrowheads="1"/>
            </p:cNvSpPr>
            <p:nvPr/>
          </p:nvSpPr>
          <p:spPr bwMode="auto">
            <a:xfrm>
              <a:off x="4778" y="3738"/>
              <a:ext cx="313" cy="227"/>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300"/>
                <a:t> Iter.</a:t>
              </a:r>
              <a:br>
                <a:rPr lang="en-US" sz="1300"/>
              </a:br>
              <a:r>
                <a:rPr lang="en-US" sz="1300"/>
                <a:t>#m</a:t>
              </a:r>
            </a:p>
          </p:txBody>
        </p:sp>
        <p:sp>
          <p:nvSpPr>
            <p:cNvPr id="149543" name="Rectangle 39"/>
            <p:cNvSpPr>
              <a:spLocks noChangeArrowheads="1"/>
            </p:cNvSpPr>
            <p:nvPr/>
          </p:nvSpPr>
          <p:spPr bwMode="auto">
            <a:xfrm>
              <a:off x="5130" y="3738"/>
              <a:ext cx="276" cy="227"/>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300"/>
                <a:t> Iter.</a:t>
              </a:r>
              <a:br>
                <a:rPr lang="en-US" sz="1300"/>
              </a:br>
              <a:r>
                <a:rPr lang="en-US" sz="1300"/>
                <a:t>#m+1</a:t>
              </a:r>
            </a:p>
          </p:txBody>
        </p:sp>
        <p:sp>
          <p:nvSpPr>
            <p:cNvPr id="149544" name="Rectangle 40"/>
            <p:cNvSpPr>
              <a:spLocks noChangeArrowheads="1"/>
            </p:cNvSpPr>
            <p:nvPr/>
          </p:nvSpPr>
          <p:spPr bwMode="auto">
            <a:xfrm>
              <a:off x="1720" y="2707"/>
              <a:ext cx="824" cy="155"/>
            </a:xfrm>
            <a:prstGeom prst="rect">
              <a:avLst/>
            </a:prstGeom>
            <a:noFill/>
            <a:ln w="9525">
              <a:noFill/>
              <a:miter lim="800000"/>
              <a:headEnd/>
              <a:tailEnd/>
            </a:ln>
          </p:spPr>
          <p:txBody>
            <a:bodyPr wrap="none" lIns="0" tIns="0" rIns="0" bIns="0">
              <a:spAutoFit/>
            </a:bodyPr>
            <a:lstStyle/>
            <a:p>
              <a:pPr algn="r" defTabSz="862013" eaLnBrk="0" hangingPunct="0">
                <a:lnSpc>
                  <a:spcPct val="90000"/>
                </a:lnSpc>
                <a:spcBef>
                  <a:spcPct val="50000"/>
                </a:spcBef>
              </a:pPr>
              <a:r>
                <a:rPr lang="en-US" b="1"/>
                <a:t>Deployment</a:t>
              </a:r>
              <a:endParaRPr lang="en-US" sz="2300" b="1"/>
            </a:p>
          </p:txBody>
        </p:sp>
        <p:sp>
          <p:nvSpPr>
            <p:cNvPr id="149545" name="Freeform 41"/>
            <p:cNvSpPr>
              <a:spLocks/>
            </p:cNvSpPr>
            <p:nvPr/>
          </p:nvSpPr>
          <p:spPr bwMode="auto">
            <a:xfrm>
              <a:off x="3265" y="2689"/>
              <a:ext cx="2106" cy="119"/>
            </a:xfrm>
            <a:custGeom>
              <a:avLst/>
              <a:gdLst/>
              <a:ahLst/>
              <a:cxnLst>
                <a:cxn ang="0">
                  <a:pos x="0" y="141"/>
                </a:cxn>
                <a:cxn ang="0">
                  <a:pos x="169" y="139"/>
                </a:cxn>
                <a:cxn ang="0">
                  <a:pos x="254" y="141"/>
                </a:cxn>
                <a:cxn ang="0">
                  <a:pos x="343" y="141"/>
                </a:cxn>
                <a:cxn ang="0">
                  <a:pos x="430" y="139"/>
                </a:cxn>
                <a:cxn ang="0">
                  <a:pos x="520" y="139"/>
                </a:cxn>
                <a:cxn ang="0">
                  <a:pos x="607" y="136"/>
                </a:cxn>
                <a:cxn ang="0">
                  <a:pos x="671" y="141"/>
                </a:cxn>
                <a:cxn ang="0">
                  <a:pos x="712" y="141"/>
                </a:cxn>
                <a:cxn ang="0">
                  <a:pos x="802" y="139"/>
                </a:cxn>
                <a:cxn ang="0">
                  <a:pos x="905" y="141"/>
                </a:cxn>
                <a:cxn ang="0">
                  <a:pos x="1000" y="139"/>
                </a:cxn>
                <a:cxn ang="0">
                  <a:pos x="1089" y="141"/>
                </a:cxn>
                <a:cxn ang="0">
                  <a:pos x="1300" y="141"/>
                </a:cxn>
                <a:cxn ang="0">
                  <a:pos x="1389" y="134"/>
                </a:cxn>
                <a:cxn ang="0">
                  <a:pos x="1435" y="128"/>
                </a:cxn>
                <a:cxn ang="0">
                  <a:pos x="1459" y="126"/>
                </a:cxn>
                <a:cxn ang="0">
                  <a:pos x="1612" y="95"/>
                </a:cxn>
                <a:cxn ang="0">
                  <a:pos x="1733" y="59"/>
                </a:cxn>
                <a:cxn ang="0">
                  <a:pos x="1861" y="36"/>
                </a:cxn>
                <a:cxn ang="0">
                  <a:pos x="2205" y="0"/>
                </a:cxn>
                <a:cxn ang="0">
                  <a:pos x="2340" y="23"/>
                </a:cxn>
                <a:cxn ang="0">
                  <a:pos x="2412" y="75"/>
                </a:cxn>
                <a:cxn ang="0">
                  <a:pos x="2440" y="141"/>
                </a:cxn>
                <a:cxn ang="0">
                  <a:pos x="0" y="141"/>
                </a:cxn>
              </a:cxnLst>
              <a:rect l="0" t="0" r="r" b="b"/>
              <a:pathLst>
                <a:path w="2440" h="141">
                  <a:moveTo>
                    <a:pt x="0" y="141"/>
                  </a:moveTo>
                  <a:lnTo>
                    <a:pt x="169" y="139"/>
                  </a:lnTo>
                  <a:lnTo>
                    <a:pt x="254" y="141"/>
                  </a:lnTo>
                  <a:lnTo>
                    <a:pt x="343" y="141"/>
                  </a:lnTo>
                  <a:lnTo>
                    <a:pt x="430" y="139"/>
                  </a:lnTo>
                  <a:lnTo>
                    <a:pt x="520" y="139"/>
                  </a:lnTo>
                  <a:lnTo>
                    <a:pt x="607" y="136"/>
                  </a:lnTo>
                  <a:lnTo>
                    <a:pt x="671" y="141"/>
                  </a:lnTo>
                  <a:lnTo>
                    <a:pt x="712" y="141"/>
                  </a:lnTo>
                  <a:lnTo>
                    <a:pt x="802" y="139"/>
                  </a:lnTo>
                  <a:lnTo>
                    <a:pt x="905" y="141"/>
                  </a:lnTo>
                  <a:lnTo>
                    <a:pt x="1000" y="139"/>
                  </a:lnTo>
                  <a:lnTo>
                    <a:pt x="1089" y="141"/>
                  </a:lnTo>
                  <a:lnTo>
                    <a:pt x="1300" y="141"/>
                  </a:lnTo>
                  <a:lnTo>
                    <a:pt x="1389" y="134"/>
                  </a:lnTo>
                  <a:lnTo>
                    <a:pt x="1435" y="128"/>
                  </a:lnTo>
                  <a:lnTo>
                    <a:pt x="1459" y="126"/>
                  </a:lnTo>
                  <a:lnTo>
                    <a:pt x="1612" y="95"/>
                  </a:lnTo>
                  <a:lnTo>
                    <a:pt x="1733" y="59"/>
                  </a:lnTo>
                  <a:lnTo>
                    <a:pt x="1861" y="36"/>
                  </a:lnTo>
                  <a:lnTo>
                    <a:pt x="2205" y="0"/>
                  </a:lnTo>
                  <a:lnTo>
                    <a:pt x="2340" y="23"/>
                  </a:lnTo>
                  <a:lnTo>
                    <a:pt x="2412" y="75"/>
                  </a:lnTo>
                  <a:lnTo>
                    <a:pt x="2440" y="141"/>
                  </a:lnTo>
                  <a:lnTo>
                    <a:pt x="0" y="141"/>
                  </a:lnTo>
                  <a:close/>
                </a:path>
              </a:pathLst>
            </a:custGeom>
            <a:solidFill>
              <a:srgbClr val="A1D8FD"/>
            </a:solidFill>
            <a:ln w="0">
              <a:solidFill>
                <a:srgbClr val="000000"/>
              </a:solidFill>
              <a:round/>
              <a:headEnd/>
              <a:tailEnd/>
            </a:ln>
          </p:spPr>
          <p:txBody>
            <a:bodyPr/>
            <a:lstStyle/>
            <a:p>
              <a:endParaRPr lang="en-GB"/>
            </a:p>
          </p:txBody>
        </p:sp>
        <p:sp>
          <p:nvSpPr>
            <p:cNvPr id="149546" name="Freeform 42"/>
            <p:cNvSpPr>
              <a:spLocks/>
            </p:cNvSpPr>
            <p:nvPr/>
          </p:nvSpPr>
          <p:spPr bwMode="auto">
            <a:xfrm>
              <a:off x="2688" y="1609"/>
              <a:ext cx="2706" cy="94"/>
            </a:xfrm>
            <a:custGeom>
              <a:avLst/>
              <a:gdLst/>
              <a:ahLst/>
              <a:cxnLst>
                <a:cxn ang="0">
                  <a:pos x="0" y="63"/>
                </a:cxn>
                <a:cxn ang="0">
                  <a:pos x="45" y="50"/>
                </a:cxn>
                <a:cxn ang="0">
                  <a:pos x="81" y="36"/>
                </a:cxn>
                <a:cxn ang="0">
                  <a:pos x="210" y="0"/>
                </a:cxn>
                <a:cxn ang="0">
                  <a:pos x="531" y="8"/>
                </a:cxn>
                <a:cxn ang="0">
                  <a:pos x="678" y="25"/>
                </a:cxn>
                <a:cxn ang="0">
                  <a:pos x="765" y="36"/>
                </a:cxn>
                <a:cxn ang="0">
                  <a:pos x="843" y="47"/>
                </a:cxn>
                <a:cxn ang="0">
                  <a:pos x="903" y="57"/>
                </a:cxn>
                <a:cxn ang="0">
                  <a:pos x="990" y="53"/>
                </a:cxn>
                <a:cxn ang="0">
                  <a:pos x="1104" y="47"/>
                </a:cxn>
                <a:cxn ang="0">
                  <a:pos x="1377" y="53"/>
                </a:cxn>
                <a:cxn ang="0">
                  <a:pos x="1671" y="58"/>
                </a:cxn>
                <a:cxn ang="0">
                  <a:pos x="1899" y="63"/>
                </a:cxn>
                <a:cxn ang="0">
                  <a:pos x="0" y="63"/>
                </a:cxn>
              </a:cxnLst>
              <a:rect l="0" t="0" r="r" b="b"/>
              <a:pathLst>
                <a:path w="1911" h="63">
                  <a:moveTo>
                    <a:pt x="0" y="63"/>
                  </a:moveTo>
                  <a:cubicBezTo>
                    <a:pt x="16" y="61"/>
                    <a:pt x="29" y="55"/>
                    <a:pt x="45" y="50"/>
                  </a:cubicBezTo>
                  <a:cubicBezTo>
                    <a:pt x="56" y="46"/>
                    <a:pt x="70" y="40"/>
                    <a:pt x="81" y="36"/>
                  </a:cubicBezTo>
                  <a:cubicBezTo>
                    <a:pt x="123" y="23"/>
                    <a:pt x="167" y="10"/>
                    <a:pt x="210" y="0"/>
                  </a:cubicBezTo>
                  <a:cubicBezTo>
                    <a:pt x="321" y="2"/>
                    <a:pt x="425" y="4"/>
                    <a:pt x="531" y="8"/>
                  </a:cubicBezTo>
                  <a:cubicBezTo>
                    <a:pt x="609" y="17"/>
                    <a:pt x="624" y="23"/>
                    <a:pt x="678" y="25"/>
                  </a:cubicBezTo>
                  <a:cubicBezTo>
                    <a:pt x="707" y="29"/>
                    <a:pt x="737" y="30"/>
                    <a:pt x="765" y="36"/>
                  </a:cubicBezTo>
                  <a:cubicBezTo>
                    <a:pt x="788" y="41"/>
                    <a:pt x="819" y="46"/>
                    <a:pt x="843" y="47"/>
                  </a:cubicBezTo>
                  <a:cubicBezTo>
                    <a:pt x="876" y="51"/>
                    <a:pt x="879" y="56"/>
                    <a:pt x="903" y="57"/>
                  </a:cubicBezTo>
                  <a:cubicBezTo>
                    <a:pt x="909" y="55"/>
                    <a:pt x="990" y="53"/>
                    <a:pt x="990" y="53"/>
                  </a:cubicBezTo>
                  <a:cubicBezTo>
                    <a:pt x="1013" y="51"/>
                    <a:pt x="1040" y="47"/>
                    <a:pt x="1104" y="47"/>
                  </a:cubicBezTo>
                  <a:cubicBezTo>
                    <a:pt x="1200" y="50"/>
                    <a:pt x="1280" y="51"/>
                    <a:pt x="1377" y="53"/>
                  </a:cubicBezTo>
                  <a:cubicBezTo>
                    <a:pt x="1471" y="55"/>
                    <a:pt x="1569" y="57"/>
                    <a:pt x="1671" y="58"/>
                  </a:cubicBezTo>
                  <a:cubicBezTo>
                    <a:pt x="1800" y="59"/>
                    <a:pt x="1911" y="63"/>
                    <a:pt x="1899" y="63"/>
                  </a:cubicBezTo>
                  <a:cubicBezTo>
                    <a:pt x="870" y="63"/>
                    <a:pt x="0" y="63"/>
                    <a:pt x="0" y="63"/>
                  </a:cubicBezTo>
                  <a:close/>
                </a:path>
              </a:pathLst>
            </a:custGeom>
            <a:solidFill>
              <a:srgbClr val="A1D8FD"/>
            </a:solidFill>
            <a:ln w="0">
              <a:solidFill>
                <a:srgbClr val="000000"/>
              </a:solidFill>
              <a:round/>
              <a:headEnd/>
              <a:tailEnd/>
            </a:ln>
            <a:effectLst/>
          </p:spPr>
          <p:txBody>
            <a:bodyPr wrap="none" anchor="ctr"/>
            <a:lstStyle/>
            <a:p>
              <a:endParaRPr lang="en-GB"/>
            </a:p>
          </p:txBody>
        </p:sp>
        <p:sp>
          <p:nvSpPr>
            <p:cNvPr id="149547" name="Freeform 43"/>
            <p:cNvSpPr>
              <a:spLocks/>
            </p:cNvSpPr>
            <p:nvPr/>
          </p:nvSpPr>
          <p:spPr bwMode="auto">
            <a:xfrm>
              <a:off x="2659" y="3181"/>
              <a:ext cx="2747" cy="111"/>
            </a:xfrm>
            <a:custGeom>
              <a:avLst/>
              <a:gdLst/>
              <a:ahLst/>
              <a:cxnLst>
                <a:cxn ang="0">
                  <a:pos x="0" y="140"/>
                </a:cxn>
                <a:cxn ang="0">
                  <a:pos x="64" y="123"/>
                </a:cxn>
                <a:cxn ang="0">
                  <a:pos x="808" y="90"/>
                </a:cxn>
                <a:cxn ang="0">
                  <a:pos x="1171" y="42"/>
                </a:cxn>
                <a:cxn ang="0">
                  <a:pos x="1508" y="20"/>
                </a:cxn>
                <a:cxn ang="0">
                  <a:pos x="1578" y="9"/>
                </a:cxn>
                <a:cxn ang="0">
                  <a:pos x="2147" y="0"/>
                </a:cxn>
                <a:cxn ang="0">
                  <a:pos x="2789" y="86"/>
                </a:cxn>
                <a:cxn ang="0">
                  <a:pos x="3080" y="140"/>
                </a:cxn>
                <a:cxn ang="0">
                  <a:pos x="0" y="140"/>
                </a:cxn>
              </a:cxnLst>
              <a:rect l="0" t="0" r="r" b="b"/>
              <a:pathLst>
                <a:path w="3080" h="140">
                  <a:moveTo>
                    <a:pt x="0" y="140"/>
                  </a:moveTo>
                  <a:lnTo>
                    <a:pt x="64" y="123"/>
                  </a:lnTo>
                  <a:lnTo>
                    <a:pt x="808" y="90"/>
                  </a:lnTo>
                  <a:lnTo>
                    <a:pt x="1171" y="42"/>
                  </a:lnTo>
                  <a:lnTo>
                    <a:pt x="1508" y="20"/>
                  </a:lnTo>
                  <a:lnTo>
                    <a:pt x="1578" y="9"/>
                  </a:lnTo>
                  <a:lnTo>
                    <a:pt x="2147" y="0"/>
                  </a:lnTo>
                  <a:lnTo>
                    <a:pt x="2789" y="86"/>
                  </a:lnTo>
                  <a:lnTo>
                    <a:pt x="3080" y="140"/>
                  </a:lnTo>
                  <a:lnTo>
                    <a:pt x="0" y="140"/>
                  </a:lnTo>
                  <a:close/>
                </a:path>
              </a:pathLst>
            </a:custGeom>
            <a:solidFill>
              <a:srgbClr val="A1D8FD"/>
            </a:solidFill>
            <a:ln w="0">
              <a:solidFill>
                <a:srgbClr val="000000"/>
              </a:solidFill>
              <a:round/>
              <a:headEnd/>
              <a:tailEnd/>
            </a:ln>
            <a:effectLst/>
          </p:spPr>
          <p:txBody>
            <a:bodyPr wrap="none" anchor="ctr"/>
            <a:lstStyle/>
            <a:p>
              <a:endParaRPr lang="en-GB"/>
            </a:p>
          </p:txBody>
        </p:sp>
        <p:sp>
          <p:nvSpPr>
            <p:cNvPr id="149548" name="Freeform 44"/>
            <p:cNvSpPr>
              <a:spLocks/>
            </p:cNvSpPr>
            <p:nvPr/>
          </p:nvSpPr>
          <p:spPr bwMode="auto">
            <a:xfrm>
              <a:off x="3810" y="3732"/>
              <a:ext cx="18" cy="162"/>
            </a:xfrm>
            <a:custGeom>
              <a:avLst/>
              <a:gdLst/>
              <a:ahLst/>
              <a:cxnLst>
                <a:cxn ang="0">
                  <a:pos x="11" y="192"/>
                </a:cxn>
                <a:cxn ang="0">
                  <a:pos x="21" y="192"/>
                </a:cxn>
                <a:cxn ang="0">
                  <a:pos x="21" y="0"/>
                </a:cxn>
                <a:cxn ang="0">
                  <a:pos x="0" y="0"/>
                </a:cxn>
                <a:cxn ang="0">
                  <a:pos x="0" y="192"/>
                </a:cxn>
                <a:cxn ang="0">
                  <a:pos x="11" y="192"/>
                </a:cxn>
              </a:cxnLst>
              <a:rect l="0" t="0" r="r" b="b"/>
              <a:pathLst>
                <a:path w="21" h="192">
                  <a:moveTo>
                    <a:pt x="11" y="192"/>
                  </a:moveTo>
                  <a:lnTo>
                    <a:pt x="21" y="192"/>
                  </a:lnTo>
                  <a:lnTo>
                    <a:pt x="21" y="0"/>
                  </a:lnTo>
                  <a:lnTo>
                    <a:pt x="0" y="0"/>
                  </a:lnTo>
                  <a:lnTo>
                    <a:pt x="0" y="192"/>
                  </a:lnTo>
                  <a:lnTo>
                    <a:pt x="11" y="192"/>
                  </a:lnTo>
                  <a:close/>
                </a:path>
              </a:pathLst>
            </a:custGeom>
            <a:solidFill>
              <a:schemeClr val="tx1"/>
            </a:solidFill>
            <a:ln w="6350" cmpd="sng">
              <a:solidFill>
                <a:schemeClr val="tx1"/>
              </a:solidFill>
              <a:round/>
              <a:headEnd/>
              <a:tailEnd/>
            </a:ln>
          </p:spPr>
          <p:txBody>
            <a:bodyPr/>
            <a:lstStyle/>
            <a:p>
              <a:endParaRPr lang="en-GB"/>
            </a:p>
          </p:txBody>
        </p:sp>
        <p:sp>
          <p:nvSpPr>
            <p:cNvPr id="149549" name="Freeform 45"/>
            <p:cNvSpPr>
              <a:spLocks/>
            </p:cNvSpPr>
            <p:nvPr/>
          </p:nvSpPr>
          <p:spPr bwMode="auto">
            <a:xfrm>
              <a:off x="4727" y="3733"/>
              <a:ext cx="18" cy="162"/>
            </a:xfrm>
            <a:custGeom>
              <a:avLst/>
              <a:gdLst/>
              <a:ahLst/>
              <a:cxnLst>
                <a:cxn ang="0">
                  <a:pos x="11" y="192"/>
                </a:cxn>
                <a:cxn ang="0">
                  <a:pos x="21" y="192"/>
                </a:cxn>
                <a:cxn ang="0">
                  <a:pos x="21" y="0"/>
                </a:cxn>
                <a:cxn ang="0">
                  <a:pos x="0" y="0"/>
                </a:cxn>
                <a:cxn ang="0">
                  <a:pos x="0" y="192"/>
                </a:cxn>
                <a:cxn ang="0">
                  <a:pos x="11" y="192"/>
                </a:cxn>
              </a:cxnLst>
              <a:rect l="0" t="0" r="r" b="b"/>
              <a:pathLst>
                <a:path w="21" h="192">
                  <a:moveTo>
                    <a:pt x="11" y="192"/>
                  </a:moveTo>
                  <a:lnTo>
                    <a:pt x="21" y="192"/>
                  </a:lnTo>
                  <a:lnTo>
                    <a:pt x="21" y="0"/>
                  </a:lnTo>
                  <a:lnTo>
                    <a:pt x="0" y="0"/>
                  </a:lnTo>
                  <a:lnTo>
                    <a:pt x="0" y="192"/>
                  </a:lnTo>
                  <a:lnTo>
                    <a:pt x="11" y="192"/>
                  </a:lnTo>
                  <a:close/>
                </a:path>
              </a:pathLst>
            </a:custGeom>
            <a:solidFill>
              <a:schemeClr val="tx1"/>
            </a:solidFill>
            <a:ln w="6350" cmpd="sng">
              <a:solidFill>
                <a:schemeClr val="tx1"/>
              </a:solidFill>
              <a:round/>
              <a:headEnd/>
              <a:tailEnd/>
            </a:ln>
          </p:spPr>
          <p:txBody>
            <a:bodyPr/>
            <a:lstStyle/>
            <a:p>
              <a:endParaRPr lang="en-GB"/>
            </a:p>
          </p:txBody>
        </p:sp>
        <p:sp>
          <p:nvSpPr>
            <p:cNvPr id="149550" name="Rectangle 46"/>
            <p:cNvSpPr>
              <a:spLocks noChangeArrowheads="1"/>
            </p:cNvSpPr>
            <p:nvPr/>
          </p:nvSpPr>
          <p:spPr bwMode="auto">
            <a:xfrm>
              <a:off x="421" y="3175"/>
              <a:ext cx="2080" cy="156"/>
            </a:xfrm>
            <a:prstGeom prst="rect">
              <a:avLst/>
            </a:prstGeom>
            <a:noFill/>
            <a:ln w="9525">
              <a:noFill/>
              <a:miter lim="800000"/>
              <a:headEnd/>
              <a:tailEnd/>
            </a:ln>
          </p:spPr>
          <p:txBody>
            <a:bodyPr wrap="none" lIns="0" tIns="0" rIns="0" bIns="0">
              <a:spAutoFit/>
            </a:bodyPr>
            <a:lstStyle/>
            <a:p>
              <a:pPr defTabSz="862013" eaLnBrk="0" hangingPunct="0">
                <a:lnSpc>
                  <a:spcPct val="90000"/>
                </a:lnSpc>
                <a:spcBef>
                  <a:spcPct val="50000"/>
                </a:spcBef>
              </a:pPr>
              <a:r>
                <a:rPr lang="en-US" b="1"/>
                <a:t>Configuration &amp; Change Mgmt</a:t>
              </a:r>
            </a:p>
          </p:txBody>
        </p:sp>
        <p:sp>
          <p:nvSpPr>
            <p:cNvPr id="149551" name="Rectangle 47"/>
            <p:cNvSpPr>
              <a:spLocks noChangeArrowheads="1"/>
            </p:cNvSpPr>
            <p:nvPr/>
          </p:nvSpPr>
          <p:spPr bwMode="auto">
            <a:xfrm>
              <a:off x="1423" y="1816"/>
              <a:ext cx="1121" cy="155"/>
            </a:xfrm>
            <a:prstGeom prst="rect">
              <a:avLst/>
            </a:prstGeom>
            <a:noFill/>
            <a:ln w="9525">
              <a:noFill/>
              <a:miter lim="800000"/>
              <a:headEnd/>
              <a:tailEnd/>
            </a:ln>
          </p:spPr>
          <p:txBody>
            <a:bodyPr lIns="0" tIns="0" rIns="0" bIns="0">
              <a:spAutoFit/>
            </a:bodyPr>
            <a:lstStyle/>
            <a:p>
              <a:pPr algn="r" defTabSz="862013" eaLnBrk="0" hangingPunct="0">
                <a:lnSpc>
                  <a:spcPct val="90000"/>
                </a:lnSpc>
                <a:spcBef>
                  <a:spcPct val="50000"/>
                </a:spcBef>
              </a:pPr>
              <a:r>
                <a:rPr lang="en-US" b="1"/>
                <a:t>Requirements</a:t>
              </a:r>
              <a:endParaRPr lang="en-US" sz="2300" b="1"/>
            </a:p>
          </p:txBody>
        </p:sp>
        <p:sp>
          <p:nvSpPr>
            <p:cNvPr id="149552" name="Freeform 48"/>
            <p:cNvSpPr>
              <a:spLocks/>
            </p:cNvSpPr>
            <p:nvPr/>
          </p:nvSpPr>
          <p:spPr bwMode="auto">
            <a:xfrm>
              <a:off x="3243" y="1329"/>
              <a:ext cx="573" cy="184"/>
            </a:xfrm>
            <a:custGeom>
              <a:avLst/>
              <a:gdLst/>
              <a:ahLst/>
              <a:cxnLst>
                <a:cxn ang="0">
                  <a:pos x="664" y="0"/>
                </a:cxn>
                <a:cxn ang="0">
                  <a:pos x="664" y="218"/>
                </a:cxn>
                <a:cxn ang="0">
                  <a:pos x="0" y="218"/>
                </a:cxn>
              </a:cxnLst>
              <a:rect l="0" t="0" r="r" b="b"/>
              <a:pathLst>
                <a:path w="664" h="218">
                  <a:moveTo>
                    <a:pt x="664" y="0"/>
                  </a:moveTo>
                  <a:lnTo>
                    <a:pt x="664" y="218"/>
                  </a:lnTo>
                  <a:lnTo>
                    <a:pt x="0" y="218"/>
                  </a:lnTo>
                </a:path>
              </a:pathLst>
            </a:custGeom>
            <a:noFill/>
            <a:ln w="0">
              <a:noFill/>
              <a:prstDash val="solid"/>
              <a:round/>
              <a:headEnd/>
              <a:tailEnd/>
            </a:ln>
          </p:spPr>
          <p:txBody>
            <a:bodyPr/>
            <a:lstStyle/>
            <a:p>
              <a:endParaRPr lang="en-GB"/>
            </a:p>
          </p:txBody>
        </p:sp>
        <p:sp>
          <p:nvSpPr>
            <p:cNvPr id="149553" name="Freeform 49"/>
            <p:cNvSpPr>
              <a:spLocks/>
            </p:cNvSpPr>
            <p:nvPr/>
          </p:nvSpPr>
          <p:spPr bwMode="auto">
            <a:xfrm>
              <a:off x="3856" y="1329"/>
              <a:ext cx="887" cy="184"/>
            </a:xfrm>
            <a:custGeom>
              <a:avLst/>
              <a:gdLst/>
              <a:ahLst/>
              <a:cxnLst>
                <a:cxn ang="0">
                  <a:pos x="1028" y="0"/>
                </a:cxn>
                <a:cxn ang="0">
                  <a:pos x="1028" y="218"/>
                </a:cxn>
                <a:cxn ang="0">
                  <a:pos x="0" y="218"/>
                </a:cxn>
              </a:cxnLst>
              <a:rect l="0" t="0" r="r" b="b"/>
              <a:pathLst>
                <a:path w="1028" h="218">
                  <a:moveTo>
                    <a:pt x="1028" y="0"/>
                  </a:moveTo>
                  <a:lnTo>
                    <a:pt x="1028" y="218"/>
                  </a:lnTo>
                  <a:lnTo>
                    <a:pt x="0" y="218"/>
                  </a:lnTo>
                </a:path>
              </a:pathLst>
            </a:custGeom>
            <a:noFill/>
            <a:ln w="0">
              <a:noFill/>
              <a:prstDash val="solid"/>
              <a:round/>
              <a:headEnd/>
              <a:tailEnd/>
            </a:ln>
          </p:spPr>
          <p:txBody>
            <a:bodyPr/>
            <a:lstStyle/>
            <a:p>
              <a:endParaRPr lang="en-GB"/>
            </a:p>
          </p:txBody>
        </p:sp>
        <p:sp>
          <p:nvSpPr>
            <p:cNvPr id="149554" name="Freeform 50"/>
            <p:cNvSpPr>
              <a:spLocks/>
            </p:cNvSpPr>
            <p:nvPr/>
          </p:nvSpPr>
          <p:spPr bwMode="auto">
            <a:xfrm>
              <a:off x="4781" y="1329"/>
              <a:ext cx="657" cy="184"/>
            </a:xfrm>
            <a:custGeom>
              <a:avLst/>
              <a:gdLst/>
              <a:ahLst/>
              <a:cxnLst>
                <a:cxn ang="0">
                  <a:pos x="761" y="0"/>
                </a:cxn>
                <a:cxn ang="0">
                  <a:pos x="761" y="218"/>
                </a:cxn>
                <a:cxn ang="0">
                  <a:pos x="0" y="218"/>
                </a:cxn>
              </a:cxnLst>
              <a:rect l="0" t="0" r="r" b="b"/>
              <a:pathLst>
                <a:path w="761" h="218">
                  <a:moveTo>
                    <a:pt x="761" y="0"/>
                  </a:moveTo>
                  <a:lnTo>
                    <a:pt x="761" y="218"/>
                  </a:lnTo>
                  <a:lnTo>
                    <a:pt x="0" y="218"/>
                  </a:lnTo>
                </a:path>
              </a:pathLst>
            </a:custGeom>
            <a:noFill/>
            <a:ln w="0">
              <a:noFill/>
              <a:prstDash val="solid"/>
              <a:round/>
              <a:headEnd/>
              <a:tailEnd/>
            </a:ln>
          </p:spPr>
          <p:txBody>
            <a:bodyPr/>
            <a:lstStyle/>
            <a:p>
              <a:endParaRPr lang="en-GB"/>
            </a:p>
          </p:txBody>
        </p:sp>
        <p:sp>
          <p:nvSpPr>
            <p:cNvPr id="149555" name="Rectangle 51"/>
            <p:cNvSpPr>
              <a:spLocks noChangeArrowheads="1"/>
            </p:cNvSpPr>
            <p:nvPr/>
          </p:nvSpPr>
          <p:spPr bwMode="auto">
            <a:xfrm>
              <a:off x="3205" y="1351"/>
              <a:ext cx="614" cy="121"/>
            </a:xfrm>
            <a:prstGeom prst="rect">
              <a:avLst/>
            </a:prstGeom>
            <a:noFill/>
            <a:ln w="9525">
              <a:noFill/>
              <a:miter lim="800000"/>
              <a:headEnd/>
              <a:tailEnd/>
            </a:ln>
          </p:spPr>
          <p:txBody>
            <a:bodyPr wrap="none" lIns="0" tIns="0" rIns="0" bIns="0">
              <a:spAutoFit/>
            </a:bodyPr>
            <a:lstStyle/>
            <a:p>
              <a:pPr algn="ctr" defTabSz="862013" eaLnBrk="0" hangingPunct="0">
                <a:lnSpc>
                  <a:spcPct val="90000"/>
                </a:lnSpc>
                <a:spcBef>
                  <a:spcPct val="50000"/>
                </a:spcBef>
              </a:pPr>
              <a:r>
                <a:rPr lang="en-US" sz="1400" b="1"/>
                <a:t>Elaboration</a:t>
              </a:r>
            </a:p>
          </p:txBody>
        </p:sp>
        <p:sp>
          <p:nvSpPr>
            <p:cNvPr id="149556" name="Rectangle 52"/>
            <p:cNvSpPr>
              <a:spLocks noChangeArrowheads="1"/>
            </p:cNvSpPr>
            <p:nvPr/>
          </p:nvSpPr>
          <p:spPr bwMode="auto">
            <a:xfrm>
              <a:off x="4781" y="1351"/>
              <a:ext cx="657" cy="121"/>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400" b="1"/>
                <a:t>Transition</a:t>
              </a:r>
            </a:p>
          </p:txBody>
        </p:sp>
        <p:sp>
          <p:nvSpPr>
            <p:cNvPr id="149557" name="Rectangle 53"/>
            <p:cNvSpPr>
              <a:spLocks noChangeArrowheads="1"/>
            </p:cNvSpPr>
            <p:nvPr/>
          </p:nvSpPr>
          <p:spPr bwMode="auto">
            <a:xfrm>
              <a:off x="2592" y="1351"/>
              <a:ext cx="577" cy="121"/>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400" b="1"/>
                <a:t>Inception</a:t>
              </a:r>
            </a:p>
          </p:txBody>
        </p:sp>
        <p:sp>
          <p:nvSpPr>
            <p:cNvPr id="149558" name="Rectangle 54"/>
            <p:cNvSpPr>
              <a:spLocks noChangeArrowheads="1"/>
            </p:cNvSpPr>
            <p:nvPr/>
          </p:nvSpPr>
          <p:spPr bwMode="auto">
            <a:xfrm>
              <a:off x="3856" y="1351"/>
              <a:ext cx="857" cy="121"/>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400" b="1"/>
                <a:t>Construction</a:t>
              </a:r>
            </a:p>
          </p:txBody>
        </p:sp>
        <p:sp>
          <p:nvSpPr>
            <p:cNvPr id="149559" name="Line 55"/>
            <p:cNvSpPr>
              <a:spLocks noChangeShapeType="1"/>
            </p:cNvSpPr>
            <p:nvPr/>
          </p:nvSpPr>
          <p:spPr bwMode="auto">
            <a:xfrm flipH="1">
              <a:off x="5095" y="3725"/>
              <a:ext cx="0" cy="170"/>
            </a:xfrm>
            <a:prstGeom prst="line">
              <a:avLst/>
            </a:prstGeom>
            <a:noFill/>
            <a:ln w="0">
              <a:solidFill>
                <a:schemeClr val="tx1"/>
              </a:solidFill>
              <a:round/>
              <a:headEnd/>
              <a:tailEnd/>
            </a:ln>
          </p:spPr>
          <p:txBody>
            <a:bodyPr/>
            <a:lstStyle/>
            <a:p>
              <a:endParaRPr lang="en-GB"/>
            </a:p>
          </p:txBody>
        </p:sp>
        <p:sp>
          <p:nvSpPr>
            <p:cNvPr id="149560" name="Rectangle 56"/>
            <p:cNvSpPr>
              <a:spLocks noChangeArrowheads="1"/>
            </p:cNvSpPr>
            <p:nvPr/>
          </p:nvSpPr>
          <p:spPr bwMode="ltGray">
            <a:xfrm>
              <a:off x="3488" y="1497"/>
              <a:ext cx="352" cy="2352"/>
            </a:xfrm>
            <a:prstGeom prst="rect">
              <a:avLst/>
            </a:prstGeom>
            <a:noFill/>
            <a:ln w="38100">
              <a:solidFill>
                <a:srgbClr val="0066FF"/>
              </a:solidFill>
              <a:miter lim="800000"/>
              <a:headEnd type="none" w="sm" len="sm"/>
              <a:tailEnd type="none" w="lg" len="lg"/>
            </a:ln>
            <a:effectLst/>
          </p:spPr>
          <p:txBody>
            <a:bodyPr wrap="none" anchor="ctr"/>
            <a:lstStyle/>
            <a:p>
              <a:endParaRPr lang="en-GB"/>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C00000"/>
                </a:solidFill>
              </a:rPr>
              <a:t>Re process activities and</a:t>
            </a:r>
            <a:br>
              <a:rPr lang="en-GB" dirty="0" smtClean="0">
                <a:solidFill>
                  <a:srgbClr val="C00000"/>
                </a:solidFill>
              </a:rPr>
            </a:br>
            <a:r>
              <a:rPr lang="en-GB" dirty="0" smtClean="0">
                <a:solidFill>
                  <a:srgbClr val="C00000"/>
                </a:solidFill>
              </a:rPr>
              <a:t>re process models</a:t>
            </a:r>
            <a:endParaRPr lang="en-GB" dirty="0">
              <a:solidFill>
                <a:srgbClr val="C00000"/>
              </a:solidFill>
            </a:endParaRPr>
          </a:p>
        </p:txBody>
      </p:sp>
      <p:sp>
        <p:nvSpPr>
          <p:cNvPr id="3" name="Text Placeholder 2"/>
          <p:cNvSpPr>
            <a:spLocks noGrp="1"/>
          </p:cNvSpPr>
          <p:nvPr>
            <p:ph type="body" idx="1"/>
          </p:nvPr>
        </p:nvSpPr>
        <p:spPr/>
        <p:txBody>
          <a:bodyPr/>
          <a:lstStyle/>
          <a:p>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r>
              <a:rPr lang="en-US"/>
              <a:t>RE Process activities</a:t>
            </a:r>
          </a:p>
        </p:txBody>
      </p:sp>
      <p:sp>
        <p:nvSpPr>
          <p:cNvPr id="151555" name="Rectangle 3"/>
          <p:cNvSpPr>
            <a:spLocks noGrp="1" noChangeArrowheads="1"/>
          </p:cNvSpPr>
          <p:nvPr>
            <p:ph idx="1"/>
          </p:nvPr>
        </p:nvSpPr>
        <p:spPr/>
        <p:txBody>
          <a:bodyPr/>
          <a:lstStyle/>
          <a:p>
            <a:r>
              <a:rPr lang="en-US" sz="2800"/>
              <a:t>Requirements Elicitation</a:t>
            </a:r>
          </a:p>
          <a:p>
            <a:pPr lvl="1"/>
            <a:r>
              <a:rPr lang="en-US" sz="2400"/>
              <a:t>The process through which the customers, buyers, or users of a software system discover, reveal, articulate, and understand their requirements</a:t>
            </a:r>
          </a:p>
          <a:p>
            <a:r>
              <a:rPr lang="en-US" sz="2800"/>
              <a:t>Requirement Analysis</a:t>
            </a:r>
          </a:p>
          <a:p>
            <a:pPr lvl="1"/>
            <a:r>
              <a:rPr lang="en-US" sz="2400"/>
              <a:t>The process of reasoning about the requirements that have been elicited</a:t>
            </a:r>
          </a:p>
          <a:p>
            <a:pPr lvl="1"/>
            <a:r>
              <a:rPr lang="en-US" sz="2400"/>
              <a:t>Involves examining requirements for conflicts or inconsistencies, combining related requirements, and identifying missing requirements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1555">
                                            <p:txEl>
                                              <p:pRg st="0" end="0"/>
                                            </p:txEl>
                                          </p:spTgt>
                                        </p:tgtEl>
                                        <p:attrNameLst>
                                          <p:attrName>style.visibility</p:attrName>
                                        </p:attrNameLst>
                                      </p:cBhvr>
                                      <p:to>
                                        <p:strVal val="visible"/>
                                      </p:to>
                                    </p:set>
                                    <p:anim calcmode="lin" valueType="num">
                                      <p:cBhvr additive="base">
                                        <p:cTn id="7" dur="500" fill="hold"/>
                                        <p:tgtEl>
                                          <p:spTgt spid="15155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5155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par>
                                <p:cTn id="9" presetID="2" presetClass="entr" presetSubtype="2" fill="hold" grpId="0" nodeType="withEffect">
                                  <p:stCondLst>
                                    <p:cond delay="0"/>
                                  </p:stCondLst>
                                  <p:childTnLst>
                                    <p:set>
                                      <p:cBhvr>
                                        <p:cTn id="10" dur="1" fill="hold">
                                          <p:stCondLst>
                                            <p:cond delay="0"/>
                                          </p:stCondLst>
                                        </p:cTn>
                                        <p:tgtEl>
                                          <p:spTgt spid="151555">
                                            <p:txEl>
                                              <p:pRg st="1" end="1"/>
                                            </p:txEl>
                                          </p:spTgt>
                                        </p:tgtEl>
                                        <p:attrNameLst>
                                          <p:attrName>style.visibility</p:attrName>
                                        </p:attrNameLst>
                                      </p:cBhvr>
                                      <p:to>
                                        <p:strVal val="visible"/>
                                      </p:to>
                                    </p:set>
                                    <p:anim calcmode="lin" valueType="num">
                                      <p:cBhvr additive="base">
                                        <p:cTn id="11" dur="500" fill="hold"/>
                                        <p:tgtEl>
                                          <p:spTgt spid="15155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5155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rbrake.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51555">
                                            <p:txEl>
                                              <p:pRg st="2" end="2"/>
                                            </p:txEl>
                                          </p:spTgt>
                                        </p:tgtEl>
                                        <p:attrNameLst>
                                          <p:attrName>style.visibility</p:attrName>
                                        </p:attrNameLst>
                                      </p:cBhvr>
                                      <p:to>
                                        <p:strVal val="visible"/>
                                      </p:to>
                                    </p:set>
                                    <p:anim calcmode="lin" valueType="num">
                                      <p:cBhvr additive="base">
                                        <p:cTn id="17" dur="500" fill="hold"/>
                                        <p:tgtEl>
                                          <p:spTgt spid="151555">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5155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carbrake.wav"/>
                                        </p:tgtEl>
                                      </p:cMediaNode>
                                    </p:audio>
                                  </p:subTnLst>
                                </p:cTn>
                              </p:par>
                              <p:par>
                                <p:cTn id="19" presetID="2" presetClass="entr" presetSubtype="2" fill="hold" grpId="0" nodeType="withEffect">
                                  <p:stCondLst>
                                    <p:cond delay="0"/>
                                  </p:stCondLst>
                                  <p:childTnLst>
                                    <p:set>
                                      <p:cBhvr>
                                        <p:cTn id="20" dur="1" fill="hold">
                                          <p:stCondLst>
                                            <p:cond delay="0"/>
                                          </p:stCondLst>
                                        </p:cTn>
                                        <p:tgtEl>
                                          <p:spTgt spid="151555">
                                            <p:txEl>
                                              <p:pRg st="3" end="3"/>
                                            </p:txEl>
                                          </p:spTgt>
                                        </p:tgtEl>
                                        <p:attrNameLst>
                                          <p:attrName>style.visibility</p:attrName>
                                        </p:attrNameLst>
                                      </p:cBhvr>
                                      <p:to>
                                        <p:strVal val="visible"/>
                                      </p:to>
                                    </p:set>
                                    <p:anim calcmode="lin" valueType="num">
                                      <p:cBhvr additive="base">
                                        <p:cTn id="21" dur="500" fill="hold"/>
                                        <p:tgtEl>
                                          <p:spTgt spid="151555">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5155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carbrake.wav"/>
                                        </p:tgtEl>
                                      </p:cMediaNode>
                                    </p:audio>
                                  </p:subTnLst>
                                </p:cTn>
                              </p:par>
                              <p:par>
                                <p:cTn id="23" presetID="2" presetClass="entr" presetSubtype="2" fill="hold" grpId="0" nodeType="withEffect">
                                  <p:stCondLst>
                                    <p:cond delay="0"/>
                                  </p:stCondLst>
                                  <p:childTnLst>
                                    <p:set>
                                      <p:cBhvr>
                                        <p:cTn id="24" dur="1" fill="hold">
                                          <p:stCondLst>
                                            <p:cond delay="0"/>
                                          </p:stCondLst>
                                        </p:cTn>
                                        <p:tgtEl>
                                          <p:spTgt spid="151555">
                                            <p:txEl>
                                              <p:pRg st="4" end="4"/>
                                            </p:txEl>
                                          </p:spTgt>
                                        </p:tgtEl>
                                        <p:attrNameLst>
                                          <p:attrName>style.visibility</p:attrName>
                                        </p:attrNameLst>
                                      </p:cBhvr>
                                      <p:to>
                                        <p:strVal val="visible"/>
                                      </p:to>
                                    </p:set>
                                    <p:anim calcmode="lin" valueType="num">
                                      <p:cBhvr additive="base">
                                        <p:cTn id="25" dur="500" fill="hold"/>
                                        <p:tgtEl>
                                          <p:spTgt spid="151555">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5155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en-US"/>
              <a:t>RE Process Activities</a:t>
            </a:r>
          </a:p>
        </p:txBody>
      </p:sp>
      <p:sp>
        <p:nvSpPr>
          <p:cNvPr id="152579" name="Rectangle 3"/>
          <p:cNvSpPr>
            <a:spLocks noGrp="1" noChangeArrowheads="1"/>
          </p:cNvSpPr>
          <p:nvPr>
            <p:ph idx="1"/>
          </p:nvPr>
        </p:nvSpPr>
        <p:spPr/>
        <p:txBody>
          <a:bodyPr>
            <a:normAutofit lnSpcReduction="10000"/>
          </a:bodyPr>
          <a:lstStyle/>
          <a:p>
            <a:pPr>
              <a:lnSpc>
                <a:spcPct val="90000"/>
              </a:lnSpc>
            </a:pPr>
            <a:r>
              <a:rPr lang="en-US" sz="2800"/>
              <a:t>Requirements Specification</a:t>
            </a:r>
          </a:p>
          <a:p>
            <a:pPr lvl="1">
              <a:lnSpc>
                <a:spcPct val="90000"/>
              </a:lnSpc>
            </a:pPr>
            <a:r>
              <a:rPr lang="en-US" sz="2400"/>
              <a:t>The process of recording the requirements in one or more forms, including natural language and formal, symbolic, or graphical representations</a:t>
            </a:r>
          </a:p>
          <a:p>
            <a:pPr>
              <a:lnSpc>
                <a:spcPct val="90000"/>
              </a:lnSpc>
            </a:pPr>
            <a:r>
              <a:rPr lang="en-US" sz="2800"/>
              <a:t>Requirement Validation</a:t>
            </a:r>
          </a:p>
          <a:p>
            <a:pPr lvl="1">
              <a:lnSpc>
                <a:spcPct val="90000"/>
              </a:lnSpc>
            </a:pPr>
            <a:r>
              <a:rPr lang="en-US" sz="2400"/>
              <a:t>The process of confirming with the customer or user of the software that the specified requirements are valid, correct, and complete.</a:t>
            </a:r>
          </a:p>
          <a:p>
            <a:pPr>
              <a:lnSpc>
                <a:spcPct val="90000"/>
              </a:lnSpc>
            </a:pPr>
            <a:r>
              <a:rPr lang="en-US" sz="2800"/>
              <a:t>Requirement Management</a:t>
            </a:r>
          </a:p>
          <a:p>
            <a:pPr lvl="1">
              <a:lnSpc>
                <a:spcPct val="90000"/>
              </a:lnSpc>
            </a:pPr>
            <a:r>
              <a:rPr lang="en-US" sz="2400"/>
              <a:t>The process of managing all the activities carried out during 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anim calcmode="lin" valueType="num">
                                      <p:cBhvr additive="base">
                                        <p:cTn id="7" dur="500" fill="hold"/>
                                        <p:tgtEl>
                                          <p:spTgt spid="15257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5257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par>
                                <p:cTn id="9" presetID="2" presetClass="entr" presetSubtype="2" fill="hold" grpId="0" nodeType="withEffect">
                                  <p:stCondLst>
                                    <p:cond delay="0"/>
                                  </p:stCondLst>
                                  <p:childTnLst>
                                    <p:set>
                                      <p:cBhvr>
                                        <p:cTn id="10" dur="1" fill="hold">
                                          <p:stCondLst>
                                            <p:cond delay="0"/>
                                          </p:stCondLst>
                                        </p:cTn>
                                        <p:tgtEl>
                                          <p:spTgt spid="152579">
                                            <p:txEl>
                                              <p:pRg st="1" end="1"/>
                                            </p:txEl>
                                          </p:spTgt>
                                        </p:tgtEl>
                                        <p:attrNameLst>
                                          <p:attrName>style.visibility</p:attrName>
                                        </p:attrNameLst>
                                      </p:cBhvr>
                                      <p:to>
                                        <p:strVal val="visible"/>
                                      </p:to>
                                    </p:set>
                                    <p:anim calcmode="lin" valueType="num">
                                      <p:cBhvr additive="base">
                                        <p:cTn id="11" dur="500" fill="hold"/>
                                        <p:tgtEl>
                                          <p:spTgt spid="15257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5257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rbrake.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52579">
                                            <p:txEl>
                                              <p:pRg st="2" end="2"/>
                                            </p:txEl>
                                          </p:spTgt>
                                        </p:tgtEl>
                                        <p:attrNameLst>
                                          <p:attrName>style.visibility</p:attrName>
                                        </p:attrNameLst>
                                      </p:cBhvr>
                                      <p:to>
                                        <p:strVal val="visible"/>
                                      </p:to>
                                    </p:set>
                                    <p:anim calcmode="lin" valueType="num">
                                      <p:cBhvr additive="base">
                                        <p:cTn id="17" dur="500" fill="hold"/>
                                        <p:tgtEl>
                                          <p:spTgt spid="152579">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5257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carbrake.wav"/>
                                        </p:tgtEl>
                                      </p:cMediaNode>
                                    </p:audio>
                                  </p:subTnLst>
                                </p:cTn>
                              </p:par>
                              <p:par>
                                <p:cTn id="19" presetID="2" presetClass="entr" presetSubtype="2" fill="hold" grpId="0" nodeType="withEffect">
                                  <p:stCondLst>
                                    <p:cond delay="0"/>
                                  </p:stCondLst>
                                  <p:childTnLst>
                                    <p:set>
                                      <p:cBhvr>
                                        <p:cTn id="20" dur="1" fill="hold">
                                          <p:stCondLst>
                                            <p:cond delay="0"/>
                                          </p:stCondLst>
                                        </p:cTn>
                                        <p:tgtEl>
                                          <p:spTgt spid="152579">
                                            <p:txEl>
                                              <p:pRg st="3" end="3"/>
                                            </p:txEl>
                                          </p:spTgt>
                                        </p:tgtEl>
                                        <p:attrNameLst>
                                          <p:attrName>style.visibility</p:attrName>
                                        </p:attrNameLst>
                                      </p:cBhvr>
                                      <p:to>
                                        <p:strVal val="visible"/>
                                      </p:to>
                                    </p:set>
                                    <p:anim calcmode="lin" valueType="num">
                                      <p:cBhvr additive="base">
                                        <p:cTn id="21" dur="500" fill="hold"/>
                                        <p:tgtEl>
                                          <p:spTgt spid="152579">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5257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carbrake.wav"/>
                                        </p:tgtEl>
                                      </p:cMediaNode>
                                    </p:audio>
                                  </p:sub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52579">
                                            <p:txEl>
                                              <p:pRg st="4" end="4"/>
                                            </p:txEl>
                                          </p:spTgt>
                                        </p:tgtEl>
                                        <p:attrNameLst>
                                          <p:attrName>style.visibility</p:attrName>
                                        </p:attrNameLst>
                                      </p:cBhvr>
                                      <p:to>
                                        <p:strVal val="visible"/>
                                      </p:to>
                                    </p:set>
                                    <p:anim calcmode="lin" valueType="num">
                                      <p:cBhvr additive="base">
                                        <p:cTn id="27" dur="500" fill="hold"/>
                                        <p:tgtEl>
                                          <p:spTgt spid="152579">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5257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carbrake.wav"/>
                                        </p:tgtEl>
                                      </p:cMediaNode>
                                    </p:audio>
                                  </p:subTnLst>
                                </p:cTn>
                              </p:par>
                              <p:par>
                                <p:cTn id="29" presetID="2" presetClass="entr" presetSubtype="2" fill="hold" grpId="0" nodeType="withEffect">
                                  <p:stCondLst>
                                    <p:cond delay="0"/>
                                  </p:stCondLst>
                                  <p:childTnLst>
                                    <p:set>
                                      <p:cBhvr>
                                        <p:cTn id="30" dur="1" fill="hold">
                                          <p:stCondLst>
                                            <p:cond delay="0"/>
                                          </p:stCondLst>
                                        </p:cTn>
                                        <p:tgtEl>
                                          <p:spTgt spid="152579">
                                            <p:txEl>
                                              <p:pRg st="5" end="5"/>
                                            </p:txEl>
                                          </p:spTgt>
                                        </p:tgtEl>
                                        <p:attrNameLst>
                                          <p:attrName>style.visibility</p:attrName>
                                        </p:attrNameLst>
                                      </p:cBhvr>
                                      <p:to>
                                        <p:strVal val="visible"/>
                                      </p:to>
                                    </p:set>
                                    <p:anim calcmode="lin" valueType="num">
                                      <p:cBhvr additive="base">
                                        <p:cTn id="31" dur="500" fill="hold"/>
                                        <p:tgtEl>
                                          <p:spTgt spid="152579">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5257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838200" y="243840"/>
            <a:ext cx="7406640" cy="1356360"/>
          </a:xfrm>
          <a:noFill/>
          <a:ln/>
        </p:spPr>
        <p:txBody>
          <a:bodyPr lIns="90488" tIns="44450" rIns="90488" bIns="44450" anchor="b"/>
          <a:lstStyle/>
          <a:p>
            <a:r>
              <a:rPr lang="en-US" sz="4000" dirty="0"/>
              <a:t>RE process - inputs and outputs</a:t>
            </a:r>
          </a:p>
        </p:txBody>
      </p:sp>
      <p:graphicFrame>
        <p:nvGraphicFramePr>
          <p:cNvPr id="153603" name="Object 3"/>
          <p:cNvGraphicFramePr>
            <a:graphicFrameLocks/>
          </p:cNvGraphicFramePr>
          <p:nvPr/>
        </p:nvGraphicFramePr>
        <p:xfrm>
          <a:off x="838200" y="1600200"/>
          <a:ext cx="7366000" cy="3971925"/>
        </p:xfrm>
        <a:graphic>
          <a:graphicData uri="http://schemas.openxmlformats.org/presentationml/2006/ole">
            <mc:AlternateContent xmlns:mc="http://schemas.openxmlformats.org/markup-compatibility/2006">
              <mc:Choice xmlns:v="urn:schemas-microsoft-com:vml" Requires="v">
                <p:oleObj spid="_x0000_s71684"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600200"/>
                        <a:ext cx="7366000" cy="397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04" name="Text Box 4"/>
          <p:cNvSpPr txBox="1">
            <a:spLocks noChangeArrowheads="1"/>
          </p:cNvSpPr>
          <p:nvPr/>
        </p:nvSpPr>
        <p:spPr bwMode="auto">
          <a:xfrm>
            <a:off x="4953000" y="6019800"/>
            <a:ext cx="3263900" cy="366713"/>
          </a:xfrm>
          <a:prstGeom prst="rect">
            <a:avLst/>
          </a:prstGeom>
          <a:noFill/>
          <a:ln w="9525">
            <a:noFill/>
            <a:miter lim="800000"/>
            <a:headEnd/>
            <a:tailEnd/>
          </a:ln>
          <a:effectLst/>
        </p:spPr>
        <p:txBody>
          <a:bodyPr wrap="none">
            <a:spAutoFit/>
          </a:bodyPr>
          <a:lstStyle/>
          <a:p>
            <a:pPr eaLnBrk="0" hangingPunct="0"/>
            <a:r>
              <a:rPr lang="en-US">
                <a:latin typeface="Times New Roman" pitchFamily="18" charset="0"/>
              </a:rPr>
              <a:t>Kotonya and Sommerville (1998)</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711200" y="228600"/>
            <a:ext cx="7406640" cy="1356360"/>
          </a:xfrm>
          <a:noFill/>
          <a:ln/>
        </p:spPr>
        <p:txBody>
          <a:bodyPr lIns="90488" tIns="44450" rIns="90488" bIns="44450" anchor="b"/>
          <a:lstStyle/>
          <a:p>
            <a:r>
              <a:rPr lang="en-US" dirty="0"/>
              <a:t>Input/output description</a:t>
            </a:r>
          </a:p>
        </p:txBody>
      </p:sp>
      <p:graphicFrame>
        <p:nvGraphicFramePr>
          <p:cNvPr id="154627" name="Object 3"/>
          <p:cNvGraphicFramePr>
            <a:graphicFrameLocks/>
          </p:cNvGraphicFramePr>
          <p:nvPr/>
        </p:nvGraphicFramePr>
        <p:xfrm>
          <a:off x="711200" y="1841500"/>
          <a:ext cx="8204200" cy="4864100"/>
        </p:xfrm>
        <a:graphic>
          <a:graphicData uri="http://schemas.openxmlformats.org/presentationml/2006/ole">
            <mc:AlternateContent xmlns:mc="http://schemas.openxmlformats.org/markup-compatibility/2006">
              <mc:Choice xmlns:v="urn:schemas-microsoft-com:vml" Requires="v">
                <p:oleObj spid="_x0000_s72708"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200" y="1841500"/>
                        <a:ext cx="8204200" cy="486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r>
              <a:rPr lang="en-US" dirty="0" smtClean="0"/>
              <a:t>Example stakeholders</a:t>
            </a:r>
            <a:endParaRPr lang="en-US" dirty="0"/>
          </a:p>
        </p:txBody>
      </p:sp>
      <p:sp>
        <p:nvSpPr>
          <p:cNvPr id="155651" name="Rectangle 3"/>
          <p:cNvSpPr>
            <a:spLocks noGrp="1" noChangeArrowheads="1"/>
          </p:cNvSpPr>
          <p:nvPr>
            <p:ph sz="half" idx="1"/>
          </p:nvPr>
        </p:nvSpPr>
        <p:spPr/>
        <p:txBody>
          <a:bodyPr>
            <a:normAutofit/>
          </a:bodyPr>
          <a:lstStyle/>
          <a:p>
            <a:r>
              <a:rPr lang="en-US" dirty="0" smtClean="0"/>
              <a:t>Users</a:t>
            </a:r>
          </a:p>
          <a:p>
            <a:pPr lvl="1"/>
            <a:r>
              <a:rPr lang="en-US" dirty="0" smtClean="0"/>
              <a:t>concerned with the features and functionality of the new system</a:t>
            </a:r>
          </a:p>
          <a:p>
            <a:r>
              <a:rPr lang="en-US" dirty="0" smtClean="0"/>
              <a:t>Designers</a:t>
            </a:r>
          </a:p>
          <a:p>
            <a:pPr lvl="1"/>
            <a:r>
              <a:rPr lang="en-US" dirty="0" smtClean="0"/>
              <a:t>want to build a perfect system, or reuse existing code</a:t>
            </a:r>
          </a:p>
          <a:p>
            <a:r>
              <a:rPr lang="en-US" dirty="0" smtClean="0"/>
              <a:t>Systems/Requirements analysts</a:t>
            </a:r>
          </a:p>
          <a:p>
            <a:pPr lvl="1"/>
            <a:r>
              <a:rPr lang="en-US" dirty="0" smtClean="0"/>
              <a:t>want to “get the requirements right”</a:t>
            </a:r>
          </a:p>
          <a:p>
            <a:r>
              <a:rPr lang="en-US" dirty="0" smtClean="0"/>
              <a:t>Training and user support staff</a:t>
            </a:r>
          </a:p>
          <a:p>
            <a:pPr lvl="1"/>
            <a:r>
              <a:rPr lang="en-US" dirty="0" smtClean="0"/>
              <a:t>want to make sure the new system is usable and manageable</a:t>
            </a:r>
          </a:p>
          <a:p>
            <a:endParaRPr lang="en-US" dirty="0"/>
          </a:p>
        </p:txBody>
      </p:sp>
      <p:sp>
        <p:nvSpPr>
          <p:cNvPr id="155652" name="Rectangle 4"/>
          <p:cNvSpPr>
            <a:spLocks noGrp="1" noChangeArrowheads="1"/>
          </p:cNvSpPr>
          <p:nvPr>
            <p:ph sz="half" idx="2"/>
          </p:nvPr>
        </p:nvSpPr>
        <p:spPr/>
        <p:txBody>
          <a:bodyPr>
            <a:normAutofit/>
          </a:bodyPr>
          <a:lstStyle/>
          <a:p>
            <a:r>
              <a:rPr lang="en-US" dirty="0" smtClean="0"/>
              <a:t>Business analysts</a:t>
            </a:r>
          </a:p>
          <a:p>
            <a:pPr lvl="1"/>
            <a:r>
              <a:rPr lang="en-US" dirty="0" smtClean="0"/>
              <a:t>want to make sure “we are doing better than the competition”</a:t>
            </a:r>
          </a:p>
          <a:p>
            <a:r>
              <a:rPr lang="en-US" dirty="0" smtClean="0"/>
              <a:t>Technical authors</a:t>
            </a:r>
          </a:p>
          <a:p>
            <a:pPr lvl="1"/>
            <a:r>
              <a:rPr lang="en-US" dirty="0" smtClean="0"/>
              <a:t>will prepare user manuals and other documentation for the new system</a:t>
            </a:r>
          </a:p>
          <a:p>
            <a:r>
              <a:rPr lang="en-US" dirty="0" smtClean="0"/>
              <a:t>The project manager</a:t>
            </a:r>
          </a:p>
          <a:p>
            <a:pPr lvl="1"/>
            <a:r>
              <a:rPr lang="en-US" dirty="0" smtClean="0"/>
              <a:t>wants to complete the project on time, within budget, with all objectives met.</a:t>
            </a:r>
          </a:p>
          <a:p>
            <a:r>
              <a:rPr lang="en-US" dirty="0" smtClean="0"/>
              <a:t>“the customer”</a:t>
            </a:r>
          </a:p>
          <a:p>
            <a:r>
              <a:rPr lang="en-US" dirty="0" smtClean="0"/>
              <a:t>External regulators</a:t>
            </a:r>
          </a:p>
          <a:p>
            <a:pPr lvl="1"/>
            <a:r>
              <a:rPr lang="en-US" dirty="0" smtClean="0"/>
              <a:t>wants to check that the system meets its legal requirements</a:t>
            </a:r>
            <a:endParaRPr lang="en-US" dirty="0"/>
          </a:p>
        </p:txBody>
      </p:sp>
      <p:sp>
        <p:nvSpPr>
          <p:cNvPr id="11" name="TextBox 10"/>
          <p:cNvSpPr txBox="1"/>
          <p:nvPr/>
        </p:nvSpPr>
        <p:spPr>
          <a:xfrm>
            <a:off x="851563" y="5877419"/>
            <a:ext cx="7824963" cy="892552"/>
          </a:xfrm>
          <a:prstGeom prst="rect">
            <a:avLst/>
          </a:prstGeom>
          <a:noFill/>
        </p:spPr>
        <p:txBody>
          <a:bodyPr wrap="square" rtlCol="0">
            <a:spAutoFit/>
          </a:bodyPr>
          <a:lstStyle/>
          <a:p>
            <a:pPr marL="0" lvl="1"/>
            <a:r>
              <a:rPr lang="en-US" sz="2400" dirty="0" smtClean="0">
                <a:solidFill>
                  <a:srgbClr val="C00000"/>
                </a:solidFill>
              </a:rPr>
              <a:t>Look for stakeholders associated with each of the four worlds</a:t>
            </a:r>
          </a:p>
          <a:p>
            <a:endParaRPr lang="en-GB" sz="280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5651">
                                            <p:txEl>
                                              <p:pRg st="0" end="0"/>
                                            </p:txEl>
                                          </p:spTgt>
                                        </p:tgtEl>
                                        <p:attrNameLst>
                                          <p:attrName>style.visibility</p:attrName>
                                        </p:attrNameLst>
                                      </p:cBhvr>
                                      <p:to>
                                        <p:strVal val="visible"/>
                                      </p:to>
                                    </p:set>
                                    <p:anim calcmode="lin" valueType="num">
                                      <p:cBhvr additive="base">
                                        <p:cTn id="7" dur="500" fill="hold"/>
                                        <p:tgtEl>
                                          <p:spTgt spid="1556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56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5651">
                                            <p:txEl>
                                              <p:pRg st="1" end="1"/>
                                            </p:txEl>
                                          </p:spTgt>
                                        </p:tgtEl>
                                        <p:attrNameLst>
                                          <p:attrName>style.visibility</p:attrName>
                                        </p:attrNameLst>
                                      </p:cBhvr>
                                      <p:to>
                                        <p:strVal val="visible"/>
                                      </p:to>
                                    </p:set>
                                    <p:anim calcmode="lin" valueType="num">
                                      <p:cBhvr additive="base">
                                        <p:cTn id="13" dur="500" fill="hold"/>
                                        <p:tgtEl>
                                          <p:spTgt spid="1556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56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5651">
                                            <p:txEl>
                                              <p:pRg st="2" end="2"/>
                                            </p:txEl>
                                          </p:spTgt>
                                        </p:tgtEl>
                                        <p:attrNameLst>
                                          <p:attrName>style.visibility</p:attrName>
                                        </p:attrNameLst>
                                      </p:cBhvr>
                                      <p:to>
                                        <p:strVal val="visible"/>
                                      </p:to>
                                    </p:set>
                                    <p:anim calcmode="lin" valueType="num">
                                      <p:cBhvr additive="base">
                                        <p:cTn id="19" dur="500" fill="hold"/>
                                        <p:tgtEl>
                                          <p:spTgt spid="15565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56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5651">
                                            <p:txEl>
                                              <p:pRg st="3" end="3"/>
                                            </p:txEl>
                                          </p:spTgt>
                                        </p:tgtEl>
                                        <p:attrNameLst>
                                          <p:attrName>style.visibility</p:attrName>
                                        </p:attrNameLst>
                                      </p:cBhvr>
                                      <p:to>
                                        <p:strVal val="visible"/>
                                      </p:to>
                                    </p:set>
                                    <p:anim calcmode="lin" valueType="num">
                                      <p:cBhvr additive="base">
                                        <p:cTn id="25" dur="500" fill="hold"/>
                                        <p:tgtEl>
                                          <p:spTgt spid="15565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56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5651">
                                            <p:txEl>
                                              <p:pRg st="4" end="4"/>
                                            </p:txEl>
                                          </p:spTgt>
                                        </p:tgtEl>
                                        <p:attrNameLst>
                                          <p:attrName>style.visibility</p:attrName>
                                        </p:attrNameLst>
                                      </p:cBhvr>
                                      <p:to>
                                        <p:strVal val="visible"/>
                                      </p:to>
                                    </p:set>
                                    <p:anim calcmode="lin" valueType="num">
                                      <p:cBhvr additive="base">
                                        <p:cTn id="31" dur="500" fill="hold"/>
                                        <p:tgtEl>
                                          <p:spTgt spid="15565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565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5651">
                                            <p:txEl>
                                              <p:pRg st="5" end="5"/>
                                            </p:txEl>
                                          </p:spTgt>
                                        </p:tgtEl>
                                        <p:attrNameLst>
                                          <p:attrName>style.visibility</p:attrName>
                                        </p:attrNameLst>
                                      </p:cBhvr>
                                      <p:to>
                                        <p:strVal val="visible"/>
                                      </p:to>
                                    </p:set>
                                    <p:anim calcmode="lin" valueType="num">
                                      <p:cBhvr additive="base">
                                        <p:cTn id="37" dur="500" fill="hold"/>
                                        <p:tgtEl>
                                          <p:spTgt spid="15565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565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55651">
                                            <p:txEl>
                                              <p:pRg st="6" end="6"/>
                                            </p:txEl>
                                          </p:spTgt>
                                        </p:tgtEl>
                                        <p:attrNameLst>
                                          <p:attrName>style.visibility</p:attrName>
                                        </p:attrNameLst>
                                      </p:cBhvr>
                                      <p:to>
                                        <p:strVal val="visible"/>
                                      </p:to>
                                    </p:set>
                                    <p:anim calcmode="lin" valueType="num">
                                      <p:cBhvr additive="base">
                                        <p:cTn id="43" dur="500" fill="hold"/>
                                        <p:tgtEl>
                                          <p:spTgt spid="15565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5565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55651">
                                            <p:txEl>
                                              <p:pRg st="7" end="7"/>
                                            </p:txEl>
                                          </p:spTgt>
                                        </p:tgtEl>
                                        <p:attrNameLst>
                                          <p:attrName>style.visibility</p:attrName>
                                        </p:attrNameLst>
                                      </p:cBhvr>
                                      <p:to>
                                        <p:strVal val="visible"/>
                                      </p:to>
                                    </p:set>
                                    <p:anim calcmode="lin" valueType="num">
                                      <p:cBhvr additive="base">
                                        <p:cTn id="49" dur="500" fill="hold"/>
                                        <p:tgtEl>
                                          <p:spTgt spid="15565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5565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55652">
                                            <p:txEl>
                                              <p:pRg st="0" end="0"/>
                                            </p:txEl>
                                          </p:spTgt>
                                        </p:tgtEl>
                                        <p:attrNameLst>
                                          <p:attrName>style.visibility</p:attrName>
                                        </p:attrNameLst>
                                      </p:cBhvr>
                                      <p:to>
                                        <p:strVal val="visible"/>
                                      </p:to>
                                    </p:set>
                                    <p:anim calcmode="lin" valueType="num">
                                      <p:cBhvr additive="base">
                                        <p:cTn id="55" dur="500" fill="hold"/>
                                        <p:tgtEl>
                                          <p:spTgt spid="155652">
                                            <p:txEl>
                                              <p:pRg st="0" end="0"/>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5565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55652">
                                            <p:txEl>
                                              <p:pRg st="1" end="1"/>
                                            </p:txEl>
                                          </p:spTgt>
                                        </p:tgtEl>
                                        <p:attrNameLst>
                                          <p:attrName>style.visibility</p:attrName>
                                        </p:attrNameLst>
                                      </p:cBhvr>
                                      <p:to>
                                        <p:strVal val="visible"/>
                                      </p:to>
                                    </p:set>
                                    <p:anim calcmode="lin" valueType="num">
                                      <p:cBhvr additive="base">
                                        <p:cTn id="61" dur="500" fill="hold"/>
                                        <p:tgtEl>
                                          <p:spTgt spid="155652">
                                            <p:txEl>
                                              <p:pRg st="1" end="1"/>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15565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55652">
                                            <p:txEl>
                                              <p:pRg st="2" end="2"/>
                                            </p:txEl>
                                          </p:spTgt>
                                        </p:tgtEl>
                                        <p:attrNameLst>
                                          <p:attrName>style.visibility</p:attrName>
                                        </p:attrNameLst>
                                      </p:cBhvr>
                                      <p:to>
                                        <p:strVal val="visible"/>
                                      </p:to>
                                    </p:set>
                                    <p:anim calcmode="lin" valueType="num">
                                      <p:cBhvr additive="base">
                                        <p:cTn id="67" dur="500" fill="hold"/>
                                        <p:tgtEl>
                                          <p:spTgt spid="155652">
                                            <p:txEl>
                                              <p:pRg st="2" end="2"/>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15565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55652">
                                            <p:txEl>
                                              <p:pRg st="3" end="3"/>
                                            </p:txEl>
                                          </p:spTgt>
                                        </p:tgtEl>
                                        <p:attrNameLst>
                                          <p:attrName>style.visibility</p:attrName>
                                        </p:attrNameLst>
                                      </p:cBhvr>
                                      <p:to>
                                        <p:strVal val="visible"/>
                                      </p:to>
                                    </p:set>
                                    <p:anim calcmode="lin" valueType="num">
                                      <p:cBhvr additive="base">
                                        <p:cTn id="73" dur="500" fill="hold"/>
                                        <p:tgtEl>
                                          <p:spTgt spid="155652">
                                            <p:txEl>
                                              <p:pRg st="3" end="3"/>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15565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55652">
                                            <p:txEl>
                                              <p:pRg st="4" end="4"/>
                                            </p:txEl>
                                          </p:spTgt>
                                        </p:tgtEl>
                                        <p:attrNameLst>
                                          <p:attrName>style.visibility</p:attrName>
                                        </p:attrNameLst>
                                      </p:cBhvr>
                                      <p:to>
                                        <p:strVal val="visible"/>
                                      </p:to>
                                    </p:set>
                                    <p:anim calcmode="lin" valueType="num">
                                      <p:cBhvr additive="base">
                                        <p:cTn id="79" dur="500" fill="hold"/>
                                        <p:tgtEl>
                                          <p:spTgt spid="155652">
                                            <p:txEl>
                                              <p:pRg st="4" end="4"/>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15565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155652">
                                            <p:txEl>
                                              <p:pRg st="5" end="5"/>
                                            </p:txEl>
                                          </p:spTgt>
                                        </p:tgtEl>
                                        <p:attrNameLst>
                                          <p:attrName>style.visibility</p:attrName>
                                        </p:attrNameLst>
                                      </p:cBhvr>
                                      <p:to>
                                        <p:strVal val="visible"/>
                                      </p:to>
                                    </p:set>
                                    <p:anim calcmode="lin" valueType="num">
                                      <p:cBhvr additive="base">
                                        <p:cTn id="85" dur="500" fill="hold"/>
                                        <p:tgtEl>
                                          <p:spTgt spid="155652">
                                            <p:txEl>
                                              <p:pRg st="5" end="5"/>
                                            </p:txEl>
                                          </p:spTgt>
                                        </p:tgtEl>
                                        <p:attrNameLst>
                                          <p:attrName>ppt_x</p:attrName>
                                        </p:attrNameLst>
                                      </p:cBhvr>
                                      <p:tavLst>
                                        <p:tav tm="0">
                                          <p:val>
                                            <p:strVal val="0-#ppt_w/2"/>
                                          </p:val>
                                        </p:tav>
                                        <p:tav tm="100000">
                                          <p:val>
                                            <p:strVal val="#ppt_x"/>
                                          </p:val>
                                        </p:tav>
                                      </p:tavLst>
                                    </p:anim>
                                    <p:anim calcmode="lin" valueType="num">
                                      <p:cBhvr additive="base">
                                        <p:cTn id="86" dur="500" fill="hold"/>
                                        <p:tgtEl>
                                          <p:spTgt spid="15565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155652">
                                            <p:txEl>
                                              <p:pRg st="6" end="6"/>
                                            </p:txEl>
                                          </p:spTgt>
                                        </p:tgtEl>
                                        <p:attrNameLst>
                                          <p:attrName>style.visibility</p:attrName>
                                        </p:attrNameLst>
                                      </p:cBhvr>
                                      <p:to>
                                        <p:strVal val="visible"/>
                                      </p:to>
                                    </p:set>
                                    <p:anim calcmode="lin" valueType="num">
                                      <p:cBhvr additive="base">
                                        <p:cTn id="91" dur="500" fill="hold"/>
                                        <p:tgtEl>
                                          <p:spTgt spid="155652">
                                            <p:txEl>
                                              <p:pRg st="6" end="6"/>
                                            </p:txEl>
                                          </p:spTgt>
                                        </p:tgtEl>
                                        <p:attrNameLst>
                                          <p:attrName>ppt_x</p:attrName>
                                        </p:attrNameLst>
                                      </p:cBhvr>
                                      <p:tavLst>
                                        <p:tav tm="0">
                                          <p:val>
                                            <p:strVal val="0-#ppt_w/2"/>
                                          </p:val>
                                        </p:tav>
                                        <p:tav tm="100000">
                                          <p:val>
                                            <p:strVal val="#ppt_x"/>
                                          </p:val>
                                        </p:tav>
                                      </p:tavLst>
                                    </p:anim>
                                    <p:anim calcmode="lin" valueType="num">
                                      <p:cBhvr additive="base">
                                        <p:cTn id="92" dur="500" fill="hold"/>
                                        <p:tgtEl>
                                          <p:spTgt spid="15565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155652">
                                            <p:txEl>
                                              <p:pRg st="7" end="7"/>
                                            </p:txEl>
                                          </p:spTgt>
                                        </p:tgtEl>
                                        <p:attrNameLst>
                                          <p:attrName>style.visibility</p:attrName>
                                        </p:attrNameLst>
                                      </p:cBhvr>
                                      <p:to>
                                        <p:strVal val="visible"/>
                                      </p:to>
                                    </p:set>
                                    <p:anim calcmode="lin" valueType="num">
                                      <p:cBhvr additive="base">
                                        <p:cTn id="97" dur="500" fill="hold"/>
                                        <p:tgtEl>
                                          <p:spTgt spid="155652">
                                            <p:txEl>
                                              <p:pRg st="7" end="7"/>
                                            </p:txEl>
                                          </p:spTgt>
                                        </p:tgtEl>
                                        <p:attrNameLst>
                                          <p:attrName>ppt_x</p:attrName>
                                        </p:attrNameLst>
                                      </p:cBhvr>
                                      <p:tavLst>
                                        <p:tav tm="0">
                                          <p:val>
                                            <p:strVal val="0-#ppt_w/2"/>
                                          </p:val>
                                        </p:tav>
                                        <p:tav tm="100000">
                                          <p:val>
                                            <p:strVal val="#ppt_x"/>
                                          </p:val>
                                        </p:tav>
                                      </p:tavLst>
                                    </p:anim>
                                    <p:anim calcmode="lin" valueType="num">
                                      <p:cBhvr additive="base">
                                        <p:cTn id="98" dur="500" fill="hold"/>
                                        <p:tgtEl>
                                          <p:spTgt spid="15565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155652">
                                            <p:txEl>
                                              <p:pRg st="8" end="8"/>
                                            </p:txEl>
                                          </p:spTgt>
                                        </p:tgtEl>
                                        <p:attrNameLst>
                                          <p:attrName>style.visibility</p:attrName>
                                        </p:attrNameLst>
                                      </p:cBhvr>
                                      <p:to>
                                        <p:strVal val="visible"/>
                                      </p:to>
                                    </p:set>
                                    <p:anim calcmode="lin" valueType="num">
                                      <p:cBhvr additive="base">
                                        <p:cTn id="103" dur="500" fill="hold"/>
                                        <p:tgtEl>
                                          <p:spTgt spid="155652">
                                            <p:txEl>
                                              <p:pRg st="8" end="8"/>
                                            </p:txEl>
                                          </p:spTgt>
                                        </p:tgtEl>
                                        <p:attrNameLst>
                                          <p:attrName>ppt_x</p:attrName>
                                        </p:attrNameLst>
                                      </p:cBhvr>
                                      <p:tavLst>
                                        <p:tav tm="0">
                                          <p:val>
                                            <p:strVal val="0-#ppt_w/2"/>
                                          </p:val>
                                        </p:tav>
                                        <p:tav tm="100000">
                                          <p:val>
                                            <p:strVal val="#ppt_x"/>
                                          </p:val>
                                        </p:tav>
                                      </p:tavLst>
                                    </p:anim>
                                    <p:anim calcmode="lin" valueType="num">
                                      <p:cBhvr additive="base">
                                        <p:cTn id="104" dur="500" fill="hold"/>
                                        <p:tgtEl>
                                          <p:spTgt spid="155652">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bldLvl="2" autoUpdateAnimBg="0"/>
      <p:bldP spid="155652" grpId="0" build="p" bldLvl="2"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r>
              <a:rPr lang="en-US"/>
              <a:t>Actors in the RE process</a:t>
            </a:r>
          </a:p>
        </p:txBody>
      </p:sp>
      <p:sp>
        <p:nvSpPr>
          <p:cNvPr id="156675" name="Rectangle 3"/>
          <p:cNvSpPr>
            <a:spLocks noGrp="1" noChangeArrowheads="1"/>
          </p:cNvSpPr>
          <p:nvPr>
            <p:ph idx="1"/>
          </p:nvPr>
        </p:nvSpPr>
        <p:spPr/>
        <p:txBody>
          <a:bodyPr>
            <a:normAutofit lnSpcReduction="10000"/>
          </a:bodyPr>
          <a:lstStyle/>
          <a:p>
            <a:r>
              <a:rPr lang="en-US" sz="2800"/>
              <a:t>Actors in a process are the people involved in the execution of that process</a:t>
            </a:r>
          </a:p>
          <a:p>
            <a:r>
              <a:rPr lang="en-US" sz="2800"/>
              <a:t>Actors are normally identified by their roles rather than individually</a:t>
            </a:r>
          </a:p>
          <a:p>
            <a:r>
              <a:rPr lang="en-US" sz="2800"/>
              <a:t>Requirements engineering involves actors who are primarily interested in the problem to be solved (end-users, etc) as well actors interested in the solution (system designers, etc.)</a:t>
            </a:r>
          </a:p>
          <a:p>
            <a:r>
              <a:rPr lang="en-US" sz="2800"/>
              <a:t>Role-action diagrams document which actors are involved in different activities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6675">
                                            <p:txEl>
                                              <p:pRg st="0" end="0"/>
                                            </p:txEl>
                                          </p:spTgt>
                                        </p:tgtEl>
                                        <p:attrNameLst>
                                          <p:attrName>style.visibility</p:attrName>
                                        </p:attrNameLst>
                                      </p:cBhvr>
                                      <p:to>
                                        <p:strVal val="visible"/>
                                      </p:to>
                                    </p:set>
                                    <p:anim calcmode="lin" valueType="num">
                                      <p:cBhvr additive="base">
                                        <p:cTn id="7" dur="500" fill="hold"/>
                                        <p:tgtEl>
                                          <p:spTgt spid="1566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66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6675">
                                            <p:txEl>
                                              <p:pRg st="1" end="1"/>
                                            </p:txEl>
                                          </p:spTgt>
                                        </p:tgtEl>
                                        <p:attrNameLst>
                                          <p:attrName>style.visibility</p:attrName>
                                        </p:attrNameLst>
                                      </p:cBhvr>
                                      <p:to>
                                        <p:strVal val="visible"/>
                                      </p:to>
                                    </p:set>
                                    <p:anim calcmode="lin" valueType="num">
                                      <p:cBhvr additive="base">
                                        <p:cTn id="13" dur="500" fill="hold"/>
                                        <p:tgtEl>
                                          <p:spTgt spid="1566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6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6675">
                                            <p:txEl>
                                              <p:pRg st="2" end="2"/>
                                            </p:txEl>
                                          </p:spTgt>
                                        </p:tgtEl>
                                        <p:attrNameLst>
                                          <p:attrName>style.visibility</p:attrName>
                                        </p:attrNameLst>
                                      </p:cBhvr>
                                      <p:to>
                                        <p:strVal val="visible"/>
                                      </p:to>
                                    </p:set>
                                    <p:anim calcmode="lin" valueType="num">
                                      <p:cBhvr additive="base">
                                        <p:cTn id="19" dur="500" fill="hold"/>
                                        <p:tgtEl>
                                          <p:spTgt spid="1566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66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6675">
                                            <p:txEl>
                                              <p:pRg st="3" end="3"/>
                                            </p:txEl>
                                          </p:spTgt>
                                        </p:tgtEl>
                                        <p:attrNameLst>
                                          <p:attrName>style.visibility</p:attrName>
                                        </p:attrNameLst>
                                      </p:cBhvr>
                                      <p:to>
                                        <p:strVal val="visible"/>
                                      </p:to>
                                    </p:set>
                                    <p:anim calcmode="lin" valueType="num">
                                      <p:cBhvr additive="base">
                                        <p:cTn id="25" dur="500" fill="hold"/>
                                        <p:tgtEl>
                                          <p:spTgt spid="1566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667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838200" y="312420"/>
            <a:ext cx="7406640" cy="1356360"/>
          </a:xfrm>
        </p:spPr>
        <p:txBody>
          <a:bodyPr/>
          <a:lstStyle/>
          <a:p>
            <a:r>
              <a:rPr lang="en-US" dirty="0"/>
              <a:t>Linear RE process Model</a:t>
            </a:r>
          </a:p>
        </p:txBody>
      </p:sp>
      <p:sp>
        <p:nvSpPr>
          <p:cNvPr id="163843" name="Rectangle 3"/>
          <p:cNvSpPr>
            <a:spLocks noChangeArrowheads="1"/>
          </p:cNvSpPr>
          <p:nvPr/>
        </p:nvSpPr>
        <p:spPr bwMode="auto">
          <a:xfrm>
            <a:off x="3886200" y="1295400"/>
            <a:ext cx="1905000" cy="609600"/>
          </a:xfrm>
          <a:prstGeom prst="rect">
            <a:avLst/>
          </a:prstGeom>
          <a:solidFill>
            <a:srgbClr val="99CCFF"/>
          </a:solidFill>
          <a:ln w="9525">
            <a:solidFill>
              <a:schemeClr val="tx1"/>
            </a:solidFill>
            <a:miter lim="800000"/>
            <a:headEnd/>
            <a:tailEnd/>
          </a:ln>
          <a:effectLst/>
        </p:spPr>
        <p:txBody>
          <a:bodyPr wrap="none" anchor="ctr"/>
          <a:lstStyle/>
          <a:p>
            <a:pPr algn="ctr" eaLnBrk="0" hangingPunct="0"/>
            <a:r>
              <a:rPr lang="en-US">
                <a:latin typeface="Times New Roman" pitchFamily="18" charset="0"/>
              </a:rPr>
              <a:t>Concept</a:t>
            </a:r>
          </a:p>
        </p:txBody>
      </p:sp>
      <p:sp>
        <p:nvSpPr>
          <p:cNvPr id="163844" name="Rectangle 4"/>
          <p:cNvSpPr>
            <a:spLocks noChangeArrowheads="1"/>
          </p:cNvSpPr>
          <p:nvPr/>
        </p:nvSpPr>
        <p:spPr bwMode="auto">
          <a:xfrm>
            <a:off x="3886200" y="2266950"/>
            <a:ext cx="1905000" cy="609600"/>
          </a:xfrm>
          <a:prstGeom prst="rect">
            <a:avLst/>
          </a:prstGeom>
          <a:solidFill>
            <a:srgbClr val="99CCFF"/>
          </a:solidFill>
          <a:ln w="9525">
            <a:solidFill>
              <a:schemeClr val="tx1"/>
            </a:solidFill>
            <a:miter lim="800000"/>
            <a:headEnd/>
            <a:tailEnd/>
          </a:ln>
          <a:effectLst/>
        </p:spPr>
        <p:txBody>
          <a:bodyPr wrap="none" anchor="ctr"/>
          <a:lstStyle/>
          <a:p>
            <a:pPr algn="ctr" eaLnBrk="0" hangingPunct="0"/>
            <a:r>
              <a:rPr lang="en-US">
                <a:latin typeface="Times New Roman" pitchFamily="18" charset="0"/>
              </a:rPr>
              <a:t>Problem analysis</a:t>
            </a:r>
          </a:p>
        </p:txBody>
      </p:sp>
      <p:sp>
        <p:nvSpPr>
          <p:cNvPr id="163845" name="Rectangle 5"/>
          <p:cNvSpPr>
            <a:spLocks noChangeArrowheads="1"/>
          </p:cNvSpPr>
          <p:nvPr/>
        </p:nvSpPr>
        <p:spPr bwMode="auto">
          <a:xfrm>
            <a:off x="3886200" y="3238500"/>
            <a:ext cx="1905000" cy="609600"/>
          </a:xfrm>
          <a:prstGeom prst="rect">
            <a:avLst/>
          </a:prstGeom>
          <a:solidFill>
            <a:srgbClr val="99CCFF"/>
          </a:solidFill>
          <a:ln w="9525">
            <a:solidFill>
              <a:schemeClr val="tx1"/>
            </a:solidFill>
            <a:miter lim="800000"/>
            <a:headEnd/>
            <a:tailEnd/>
          </a:ln>
          <a:effectLst/>
        </p:spPr>
        <p:txBody>
          <a:bodyPr wrap="none" anchor="ctr"/>
          <a:lstStyle/>
          <a:p>
            <a:pPr algn="ctr" eaLnBrk="0" hangingPunct="0"/>
            <a:r>
              <a:rPr lang="en-US">
                <a:latin typeface="Times New Roman" pitchFamily="18" charset="0"/>
              </a:rPr>
              <a:t>Feasibility and </a:t>
            </a:r>
            <a:br>
              <a:rPr lang="en-US">
                <a:latin typeface="Times New Roman" pitchFamily="18" charset="0"/>
              </a:rPr>
            </a:br>
            <a:r>
              <a:rPr lang="en-US">
                <a:latin typeface="Times New Roman" pitchFamily="18" charset="0"/>
              </a:rPr>
              <a:t>choice of options</a:t>
            </a:r>
          </a:p>
        </p:txBody>
      </p:sp>
      <p:sp>
        <p:nvSpPr>
          <p:cNvPr id="163846" name="Rectangle 6"/>
          <p:cNvSpPr>
            <a:spLocks noChangeArrowheads="1"/>
          </p:cNvSpPr>
          <p:nvPr/>
        </p:nvSpPr>
        <p:spPr bwMode="auto">
          <a:xfrm>
            <a:off x="3886200" y="4210050"/>
            <a:ext cx="1905000" cy="609600"/>
          </a:xfrm>
          <a:prstGeom prst="rect">
            <a:avLst/>
          </a:prstGeom>
          <a:solidFill>
            <a:srgbClr val="99CCFF"/>
          </a:solidFill>
          <a:ln w="9525">
            <a:solidFill>
              <a:schemeClr val="tx1"/>
            </a:solidFill>
            <a:miter lim="800000"/>
            <a:headEnd/>
            <a:tailEnd/>
          </a:ln>
          <a:effectLst/>
        </p:spPr>
        <p:txBody>
          <a:bodyPr wrap="none" anchor="ctr"/>
          <a:lstStyle/>
          <a:p>
            <a:pPr algn="ctr" eaLnBrk="0" hangingPunct="0"/>
            <a:r>
              <a:rPr lang="en-US">
                <a:latin typeface="Times New Roman" pitchFamily="18" charset="0"/>
              </a:rPr>
              <a:t>Analysis and</a:t>
            </a:r>
          </a:p>
          <a:p>
            <a:pPr algn="ctr" eaLnBrk="0" hangingPunct="0"/>
            <a:r>
              <a:rPr lang="en-US">
                <a:latin typeface="Times New Roman" pitchFamily="18" charset="0"/>
              </a:rPr>
              <a:t>Modeling</a:t>
            </a:r>
          </a:p>
        </p:txBody>
      </p:sp>
      <p:sp>
        <p:nvSpPr>
          <p:cNvPr id="163847" name="Rectangle 7"/>
          <p:cNvSpPr>
            <a:spLocks noChangeArrowheads="1"/>
          </p:cNvSpPr>
          <p:nvPr/>
        </p:nvSpPr>
        <p:spPr bwMode="auto">
          <a:xfrm>
            <a:off x="3886200" y="5181600"/>
            <a:ext cx="1905000" cy="609600"/>
          </a:xfrm>
          <a:prstGeom prst="rect">
            <a:avLst/>
          </a:prstGeom>
          <a:solidFill>
            <a:srgbClr val="99CCFF"/>
          </a:solidFill>
          <a:ln w="9525">
            <a:solidFill>
              <a:schemeClr val="tx1"/>
            </a:solidFill>
            <a:miter lim="800000"/>
            <a:headEnd/>
            <a:tailEnd/>
          </a:ln>
          <a:effectLst/>
        </p:spPr>
        <p:txBody>
          <a:bodyPr wrap="none" anchor="ctr"/>
          <a:lstStyle/>
          <a:p>
            <a:pPr algn="ctr" eaLnBrk="0" hangingPunct="0"/>
            <a:r>
              <a:rPr lang="en-US">
                <a:latin typeface="Times New Roman" pitchFamily="18" charset="0"/>
              </a:rPr>
              <a:t>Requirements</a:t>
            </a:r>
            <a:br>
              <a:rPr lang="en-US">
                <a:latin typeface="Times New Roman" pitchFamily="18" charset="0"/>
              </a:rPr>
            </a:br>
            <a:r>
              <a:rPr lang="en-US">
                <a:latin typeface="Times New Roman" pitchFamily="18" charset="0"/>
              </a:rPr>
              <a:t>documentation</a:t>
            </a:r>
          </a:p>
        </p:txBody>
      </p:sp>
      <p:cxnSp>
        <p:nvCxnSpPr>
          <p:cNvPr id="163848" name="AutoShape 8"/>
          <p:cNvCxnSpPr>
            <a:cxnSpLocks noChangeShapeType="1"/>
            <a:stCxn id="163843" idx="2"/>
            <a:endCxn id="163844" idx="0"/>
          </p:cNvCxnSpPr>
          <p:nvPr/>
        </p:nvCxnSpPr>
        <p:spPr bwMode="auto">
          <a:xfrm>
            <a:off x="4838700" y="1905000"/>
            <a:ext cx="0" cy="361950"/>
          </a:xfrm>
          <a:prstGeom prst="straightConnector1">
            <a:avLst/>
          </a:prstGeom>
          <a:noFill/>
          <a:ln w="9525">
            <a:solidFill>
              <a:schemeClr val="tx1"/>
            </a:solidFill>
            <a:round/>
            <a:headEnd/>
            <a:tailEnd type="triangle" w="med" len="med"/>
          </a:ln>
          <a:effectLst/>
        </p:spPr>
      </p:cxnSp>
      <p:cxnSp>
        <p:nvCxnSpPr>
          <p:cNvPr id="163849" name="AutoShape 9"/>
          <p:cNvCxnSpPr>
            <a:cxnSpLocks noChangeShapeType="1"/>
            <a:stCxn id="163844" idx="2"/>
            <a:endCxn id="163845" idx="0"/>
          </p:cNvCxnSpPr>
          <p:nvPr/>
        </p:nvCxnSpPr>
        <p:spPr bwMode="auto">
          <a:xfrm>
            <a:off x="4838700" y="2876550"/>
            <a:ext cx="0" cy="361950"/>
          </a:xfrm>
          <a:prstGeom prst="straightConnector1">
            <a:avLst/>
          </a:prstGeom>
          <a:noFill/>
          <a:ln w="9525">
            <a:solidFill>
              <a:schemeClr val="tx1"/>
            </a:solidFill>
            <a:round/>
            <a:headEnd/>
            <a:tailEnd type="triangle" w="med" len="med"/>
          </a:ln>
          <a:effectLst/>
        </p:spPr>
      </p:cxnSp>
      <p:cxnSp>
        <p:nvCxnSpPr>
          <p:cNvPr id="163850" name="AutoShape 10"/>
          <p:cNvCxnSpPr>
            <a:cxnSpLocks noChangeShapeType="1"/>
            <a:stCxn id="163845" idx="2"/>
            <a:endCxn id="163846" idx="0"/>
          </p:cNvCxnSpPr>
          <p:nvPr/>
        </p:nvCxnSpPr>
        <p:spPr bwMode="auto">
          <a:xfrm>
            <a:off x="4838700" y="3848100"/>
            <a:ext cx="0" cy="361950"/>
          </a:xfrm>
          <a:prstGeom prst="straightConnector1">
            <a:avLst/>
          </a:prstGeom>
          <a:noFill/>
          <a:ln w="9525">
            <a:solidFill>
              <a:schemeClr val="tx1"/>
            </a:solidFill>
            <a:round/>
            <a:headEnd/>
            <a:tailEnd type="triangle" w="med" len="med"/>
          </a:ln>
          <a:effectLst/>
        </p:spPr>
      </p:cxnSp>
      <p:cxnSp>
        <p:nvCxnSpPr>
          <p:cNvPr id="163851" name="AutoShape 11"/>
          <p:cNvCxnSpPr>
            <a:cxnSpLocks noChangeShapeType="1"/>
            <a:stCxn id="163846" idx="2"/>
            <a:endCxn id="163847" idx="0"/>
          </p:cNvCxnSpPr>
          <p:nvPr/>
        </p:nvCxnSpPr>
        <p:spPr bwMode="auto">
          <a:xfrm>
            <a:off x="4838700" y="4819650"/>
            <a:ext cx="0" cy="361950"/>
          </a:xfrm>
          <a:prstGeom prst="straightConnector1">
            <a:avLst/>
          </a:prstGeom>
          <a:noFill/>
          <a:ln w="9525">
            <a:solidFill>
              <a:schemeClr val="tx1"/>
            </a:solidFill>
            <a:round/>
            <a:headEnd/>
            <a:tailEnd type="triangle" w="med" len="med"/>
          </a:ln>
          <a:effectLst/>
        </p:spPr>
      </p:cxnSp>
      <p:sp>
        <p:nvSpPr>
          <p:cNvPr id="163852" name="Text Box 12"/>
          <p:cNvSpPr txBox="1">
            <a:spLocks noChangeArrowheads="1"/>
          </p:cNvSpPr>
          <p:nvPr/>
        </p:nvSpPr>
        <p:spPr bwMode="auto">
          <a:xfrm>
            <a:off x="723900" y="5486400"/>
            <a:ext cx="2457450" cy="366713"/>
          </a:xfrm>
          <a:prstGeom prst="rect">
            <a:avLst/>
          </a:prstGeom>
          <a:noFill/>
          <a:ln w="9525">
            <a:noFill/>
            <a:miter lim="800000"/>
            <a:headEnd/>
            <a:tailEnd/>
          </a:ln>
          <a:effectLst/>
        </p:spPr>
        <p:txBody>
          <a:bodyPr wrap="none">
            <a:spAutoFit/>
          </a:bodyPr>
          <a:lstStyle/>
          <a:p>
            <a:pPr eaLnBrk="0" hangingPunct="0"/>
            <a:r>
              <a:rPr lang="en-US" b="1">
                <a:latin typeface="Times New Roman" pitchFamily="18" charset="0"/>
              </a:rPr>
              <a:t>Linda Macaulay (1996)</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r>
              <a:rPr lang="en-US" sz="4000"/>
              <a:t>Linear Iterative RE Process Model</a:t>
            </a:r>
          </a:p>
        </p:txBody>
      </p:sp>
      <p:graphicFrame>
        <p:nvGraphicFramePr>
          <p:cNvPr id="164867" name="Object 3"/>
          <p:cNvGraphicFramePr>
            <a:graphicFrameLocks/>
          </p:cNvGraphicFramePr>
          <p:nvPr/>
        </p:nvGraphicFramePr>
        <p:xfrm>
          <a:off x="381000" y="1676400"/>
          <a:ext cx="8434388" cy="3187700"/>
        </p:xfrm>
        <a:graphic>
          <a:graphicData uri="http://schemas.openxmlformats.org/presentationml/2006/ole">
            <mc:AlternateContent xmlns:mc="http://schemas.openxmlformats.org/markup-compatibility/2006">
              <mc:Choice xmlns:v="urn:schemas-microsoft-com:vml" Requires="v">
                <p:oleObj spid="_x0000_s73732"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676400"/>
                        <a:ext cx="8434388" cy="318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868" name="Text Box 4"/>
          <p:cNvSpPr txBox="1">
            <a:spLocks noChangeArrowheads="1"/>
          </p:cNvSpPr>
          <p:nvPr/>
        </p:nvSpPr>
        <p:spPr bwMode="auto">
          <a:xfrm>
            <a:off x="657225" y="5283200"/>
            <a:ext cx="3263900" cy="366713"/>
          </a:xfrm>
          <a:prstGeom prst="rect">
            <a:avLst/>
          </a:prstGeom>
          <a:noFill/>
          <a:ln w="9525">
            <a:noFill/>
            <a:miter lim="800000"/>
            <a:headEnd/>
            <a:tailEnd/>
          </a:ln>
          <a:effectLst/>
        </p:spPr>
        <p:txBody>
          <a:bodyPr wrap="none">
            <a:spAutoFit/>
          </a:bodyPr>
          <a:lstStyle/>
          <a:p>
            <a:pPr eaLnBrk="0" hangingPunct="0"/>
            <a:r>
              <a:rPr lang="en-US">
                <a:latin typeface="Times New Roman" pitchFamily="18" charset="0"/>
              </a:rPr>
              <a:t>Kotonya and Sommerville (1998)</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a:xfrm>
            <a:off x="877911" y="295418"/>
            <a:ext cx="7406640" cy="1356360"/>
          </a:xfrm>
        </p:spPr>
        <p:txBody>
          <a:bodyPr/>
          <a:lstStyle/>
          <a:p>
            <a:r>
              <a:rPr lang="en-US" sz="4000" dirty="0"/>
              <a:t>Iterative RE Process Model</a:t>
            </a:r>
          </a:p>
        </p:txBody>
      </p:sp>
      <p:sp>
        <p:nvSpPr>
          <p:cNvPr id="165891" name="Rectangle 3"/>
          <p:cNvSpPr>
            <a:spLocks noGrp="1" noChangeArrowheads="1"/>
          </p:cNvSpPr>
          <p:nvPr>
            <p:ph idx="1"/>
          </p:nvPr>
        </p:nvSpPr>
        <p:spPr>
          <a:xfrm>
            <a:off x="457200" y="1295400"/>
            <a:ext cx="8229600" cy="4830763"/>
          </a:xfrm>
          <a:noFill/>
          <a:ln/>
        </p:spPr>
        <p:txBody>
          <a:bodyPr>
            <a:normAutofit/>
          </a:bodyPr>
          <a:lstStyle/>
          <a:p>
            <a:pPr>
              <a:buFont typeface="Wingdings" pitchFamily="2" charset="2"/>
              <a:buChar char="§"/>
            </a:pPr>
            <a:r>
              <a:rPr lang="en-US" sz="2400" dirty="0"/>
              <a:t>3 fundamental activities:</a:t>
            </a:r>
            <a:br>
              <a:rPr lang="en-US" sz="2400" dirty="0"/>
            </a:br>
            <a:r>
              <a:rPr lang="en-US" sz="2400" dirty="0">
                <a:solidFill>
                  <a:srgbClr val="C00000"/>
                </a:solidFill>
              </a:rPr>
              <a:t>understand</a:t>
            </a:r>
            <a:r>
              <a:rPr lang="en-US" sz="2400" dirty="0"/>
              <a:t>, (formally) </a:t>
            </a:r>
            <a:r>
              <a:rPr lang="en-US" sz="2400" dirty="0">
                <a:solidFill>
                  <a:srgbClr val="C00000"/>
                </a:solidFill>
              </a:rPr>
              <a:t>describe</a:t>
            </a:r>
            <a:r>
              <a:rPr lang="en-US" sz="2400" dirty="0"/>
              <a:t>, attain an </a:t>
            </a:r>
            <a:r>
              <a:rPr lang="en-US" sz="2400" dirty="0">
                <a:solidFill>
                  <a:srgbClr val="C00000"/>
                </a:solidFill>
              </a:rPr>
              <a:t>agreement</a:t>
            </a:r>
            <a:r>
              <a:rPr lang="en-US" sz="2400" dirty="0"/>
              <a:t> on, the problem</a:t>
            </a:r>
          </a:p>
        </p:txBody>
      </p:sp>
      <p:sp>
        <p:nvSpPr>
          <p:cNvPr id="165892" name="Rectangle 4"/>
          <p:cNvSpPr>
            <a:spLocks noChangeArrowheads="1"/>
          </p:cNvSpPr>
          <p:nvPr/>
        </p:nvSpPr>
        <p:spPr bwMode="auto">
          <a:xfrm>
            <a:off x="685800" y="4953000"/>
            <a:ext cx="8458200" cy="1219200"/>
          </a:xfrm>
          <a:prstGeom prst="rect">
            <a:avLst/>
          </a:prstGeom>
          <a:noFill/>
          <a:ln w="9525">
            <a:noFill/>
            <a:miter lim="800000"/>
            <a:headEnd/>
            <a:tailEnd/>
          </a:ln>
          <a:effectLst/>
        </p:spPr>
        <p:txBody>
          <a:bodyPr/>
          <a:lstStyle/>
          <a:p>
            <a:pPr marL="342900" indent="-342900">
              <a:lnSpc>
                <a:spcPct val="80000"/>
              </a:lnSpc>
              <a:spcBef>
                <a:spcPct val="20000"/>
              </a:spcBef>
              <a:buFontTx/>
              <a:buChar char="•"/>
            </a:pPr>
            <a:endParaRPr lang="en-US" sz="1600" dirty="0">
              <a:latin typeface="Franklin Gothic Book" pitchFamily="34" charset="0"/>
            </a:endParaRPr>
          </a:p>
        </p:txBody>
      </p:sp>
      <p:grpSp>
        <p:nvGrpSpPr>
          <p:cNvPr id="2" name="Group 5"/>
          <p:cNvGrpSpPr>
            <a:grpSpLocks/>
          </p:cNvGrpSpPr>
          <p:nvPr/>
        </p:nvGrpSpPr>
        <p:grpSpPr bwMode="auto">
          <a:xfrm>
            <a:off x="609600" y="2438400"/>
            <a:ext cx="8077200" cy="3567113"/>
            <a:chOff x="316" y="1152"/>
            <a:chExt cx="5088" cy="1959"/>
          </a:xfrm>
        </p:grpSpPr>
        <p:sp>
          <p:nvSpPr>
            <p:cNvPr id="165894" name="Oval 6"/>
            <p:cNvSpPr>
              <a:spLocks noChangeArrowheads="1"/>
            </p:cNvSpPr>
            <p:nvPr/>
          </p:nvSpPr>
          <p:spPr bwMode="auto">
            <a:xfrm>
              <a:off x="316" y="1776"/>
              <a:ext cx="960" cy="480"/>
            </a:xfrm>
            <a:prstGeom prst="ellipse">
              <a:avLst/>
            </a:prstGeom>
            <a:solidFill>
              <a:srgbClr val="99CCFF"/>
            </a:solidFill>
            <a:ln w="9525" algn="ctr">
              <a:solidFill>
                <a:schemeClr val="tx1"/>
              </a:solidFill>
              <a:round/>
              <a:headEnd/>
              <a:tailEnd/>
            </a:ln>
            <a:effectLst/>
          </p:spPr>
          <p:txBody>
            <a:bodyPr wrap="none" anchor="ctr">
              <a:spAutoFit/>
            </a:bodyPr>
            <a:lstStyle/>
            <a:p>
              <a:endParaRPr lang="en-GB"/>
            </a:p>
          </p:txBody>
        </p:sp>
        <p:sp>
          <p:nvSpPr>
            <p:cNvPr id="165895" name="Rectangle 7"/>
            <p:cNvSpPr>
              <a:spLocks noChangeArrowheads="1"/>
            </p:cNvSpPr>
            <p:nvPr/>
          </p:nvSpPr>
          <p:spPr bwMode="auto">
            <a:xfrm>
              <a:off x="2400" y="1152"/>
              <a:ext cx="1008" cy="336"/>
            </a:xfrm>
            <a:prstGeom prst="rect">
              <a:avLst/>
            </a:prstGeom>
            <a:solidFill>
              <a:srgbClr val="99CCFF"/>
            </a:solidFill>
            <a:ln w="9525" algn="ctr">
              <a:solidFill>
                <a:schemeClr val="tx1"/>
              </a:solidFill>
              <a:miter lim="800000"/>
              <a:headEnd/>
              <a:tailEnd/>
            </a:ln>
            <a:effectLst/>
          </p:spPr>
          <p:txBody>
            <a:bodyPr anchor="ctr">
              <a:spAutoFit/>
            </a:bodyPr>
            <a:lstStyle/>
            <a:p>
              <a:endParaRPr lang="en-GB"/>
            </a:p>
          </p:txBody>
        </p:sp>
        <p:sp>
          <p:nvSpPr>
            <p:cNvPr id="165896" name="Text Box 8"/>
            <p:cNvSpPr txBox="1">
              <a:spLocks noChangeArrowheads="1"/>
            </p:cNvSpPr>
            <p:nvPr/>
          </p:nvSpPr>
          <p:spPr bwMode="auto">
            <a:xfrm>
              <a:off x="2716" y="1200"/>
              <a:ext cx="379" cy="231"/>
            </a:xfrm>
            <a:prstGeom prst="rect">
              <a:avLst/>
            </a:prstGeom>
            <a:solidFill>
              <a:srgbClr val="99CCFF"/>
            </a:solidFill>
            <a:ln w="9525" algn="ctr">
              <a:noFill/>
              <a:miter lim="800000"/>
              <a:headEnd/>
              <a:tailEnd/>
            </a:ln>
            <a:effectLst/>
          </p:spPr>
          <p:txBody>
            <a:bodyPr wrap="none">
              <a:spAutoFit/>
            </a:bodyPr>
            <a:lstStyle/>
            <a:p>
              <a:pPr algn="ctr"/>
              <a:r>
                <a:rPr lang="en-US">
                  <a:latin typeface="Garamond" pitchFamily="18" charset="0"/>
                  <a:cs typeface="Arial" charset="0"/>
                </a:rPr>
                <a:t>User</a:t>
              </a:r>
            </a:p>
          </p:txBody>
        </p:sp>
        <p:sp>
          <p:nvSpPr>
            <p:cNvPr id="165897" name="Rectangle 9"/>
            <p:cNvSpPr>
              <a:spLocks noChangeArrowheads="1"/>
            </p:cNvSpPr>
            <p:nvPr/>
          </p:nvSpPr>
          <p:spPr bwMode="auto">
            <a:xfrm>
              <a:off x="2428" y="2496"/>
              <a:ext cx="1008" cy="432"/>
            </a:xfrm>
            <a:prstGeom prst="rect">
              <a:avLst/>
            </a:prstGeom>
            <a:solidFill>
              <a:srgbClr val="99CCFF"/>
            </a:solidFill>
            <a:ln w="9525" algn="ctr">
              <a:solidFill>
                <a:schemeClr val="tx1"/>
              </a:solidFill>
              <a:miter lim="800000"/>
              <a:headEnd/>
              <a:tailEnd/>
            </a:ln>
            <a:effectLst/>
          </p:spPr>
          <p:txBody>
            <a:bodyPr anchor="ctr">
              <a:spAutoFit/>
            </a:bodyPr>
            <a:lstStyle/>
            <a:p>
              <a:endParaRPr lang="en-GB"/>
            </a:p>
          </p:txBody>
        </p:sp>
        <p:sp>
          <p:nvSpPr>
            <p:cNvPr id="165898" name="Text Box 10"/>
            <p:cNvSpPr txBox="1">
              <a:spLocks noChangeArrowheads="1"/>
            </p:cNvSpPr>
            <p:nvPr/>
          </p:nvSpPr>
          <p:spPr bwMode="auto">
            <a:xfrm>
              <a:off x="2476" y="2544"/>
              <a:ext cx="912" cy="366"/>
            </a:xfrm>
            <a:prstGeom prst="rect">
              <a:avLst/>
            </a:prstGeom>
            <a:solidFill>
              <a:srgbClr val="99CCFF"/>
            </a:solidFill>
            <a:ln w="9525" algn="ctr">
              <a:noFill/>
              <a:miter lim="800000"/>
              <a:headEnd/>
              <a:tailEnd/>
            </a:ln>
            <a:effectLst/>
          </p:spPr>
          <p:txBody>
            <a:bodyPr>
              <a:spAutoFit/>
            </a:bodyPr>
            <a:lstStyle/>
            <a:p>
              <a:pPr algn="ctr"/>
              <a:r>
                <a:rPr lang="en-US" sz="1600">
                  <a:latin typeface="Garamond" pitchFamily="18" charset="0"/>
                  <a:cs typeface="Arial" charset="0"/>
                </a:rPr>
                <a:t>Problem</a:t>
              </a:r>
            </a:p>
            <a:p>
              <a:pPr algn="ctr"/>
              <a:r>
                <a:rPr lang="en-US" sz="1600">
                  <a:latin typeface="Garamond" pitchFamily="18" charset="0"/>
                  <a:cs typeface="Arial" charset="0"/>
                </a:rPr>
                <a:t>Domain</a:t>
              </a:r>
            </a:p>
          </p:txBody>
        </p:sp>
        <p:sp>
          <p:nvSpPr>
            <p:cNvPr id="165899" name="Line 11"/>
            <p:cNvSpPr>
              <a:spLocks noChangeShapeType="1"/>
            </p:cNvSpPr>
            <p:nvPr/>
          </p:nvSpPr>
          <p:spPr bwMode="auto">
            <a:xfrm>
              <a:off x="1276" y="1920"/>
              <a:ext cx="1056" cy="0"/>
            </a:xfrm>
            <a:prstGeom prst="line">
              <a:avLst/>
            </a:prstGeom>
            <a:noFill/>
            <a:ln w="9525">
              <a:solidFill>
                <a:schemeClr val="tx1"/>
              </a:solidFill>
              <a:round/>
              <a:headEnd/>
              <a:tailEnd type="triangle" w="med" len="med"/>
            </a:ln>
            <a:effectLst/>
          </p:spPr>
          <p:txBody>
            <a:bodyPr>
              <a:spAutoFit/>
            </a:bodyPr>
            <a:lstStyle/>
            <a:p>
              <a:endParaRPr lang="en-GB"/>
            </a:p>
          </p:txBody>
        </p:sp>
        <p:sp>
          <p:nvSpPr>
            <p:cNvPr id="165900" name="Text Box 12"/>
            <p:cNvSpPr txBox="1">
              <a:spLocks noChangeArrowheads="1"/>
            </p:cNvSpPr>
            <p:nvPr/>
          </p:nvSpPr>
          <p:spPr bwMode="auto">
            <a:xfrm>
              <a:off x="460" y="1920"/>
              <a:ext cx="692" cy="231"/>
            </a:xfrm>
            <a:prstGeom prst="rect">
              <a:avLst/>
            </a:prstGeom>
            <a:solidFill>
              <a:srgbClr val="99CCFF"/>
            </a:solidFill>
            <a:ln w="9525" algn="ctr">
              <a:noFill/>
              <a:miter lim="800000"/>
              <a:headEnd/>
              <a:tailEnd/>
            </a:ln>
            <a:effectLst/>
          </p:spPr>
          <p:txBody>
            <a:bodyPr wrap="none">
              <a:spAutoFit/>
            </a:bodyPr>
            <a:lstStyle/>
            <a:p>
              <a:pPr algn="ctr"/>
              <a:r>
                <a:rPr lang="en-US">
                  <a:latin typeface="Garamond" pitchFamily="18" charset="0"/>
                  <a:cs typeface="Arial" charset="0"/>
                </a:rPr>
                <a:t>Elicitation</a:t>
              </a:r>
            </a:p>
          </p:txBody>
        </p:sp>
        <p:sp>
          <p:nvSpPr>
            <p:cNvPr id="165901" name="Oval 13"/>
            <p:cNvSpPr>
              <a:spLocks noChangeArrowheads="1"/>
            </p:cNvSpPr>
            <p:nvPr/>
          </p:nvSpPr>
          <p:spPr bwMode="auto">
            <a:xfrm>
              <a:off x="2380" y="1776"/>
              <a:ext cx="960" cy="480"/>
            </a:xfrm>
            <a:prstGeom prst="ellipse">
              <a:avLst/>
            </a:prstGeom>
            <a:solidFill>
              <a:srgbClr val="99CCFF"/>
            </a:solidFill>
            <a:ln w="9525" algn="ctr">
              <a:solidFill>
                <a:schemeClr val="tx1"/>
              </a:solidFill>
              <a:round/>
              <a:headEnd/>
              <a:tailEnd/>
            </a:ln>
            <a:effectLst/>
          </p:spPr>
          <p:txBody>
            <a:bodyPr wrap="none" anchor="ctr">
              <a:spAutoFit/>
            </a:bodyPr>
            <a:lstStyle/>
            <a:p>
              <a:endParaRPr lang="en-GB"/>
            </a:p>
          </p:txBody>
        </p:sp>
        <p:sp>
          <p:nvSpPr>
            <p:cNvPr id="165902" name="Text Box 14"/>
            <p:cNvSpPr txBox="1">
              <a:spLocks noChangeArrowheads="1"/>
            </p:cNvSpPr>
            <p:nvPr/>
          </p:nvSpPr>
          <p:spPr bwMode="auto">
            <a:xfrm>
              <a:off x="2455" y="1920"/>
              <a:ext cx="830" cy="231"/>
            </a:xfrm>
            <a:prstGeom prst="rect">
              <a:avLst/>
            </a:prstGeom>
            <a:solidFill>
              <a:srgbClr val="99CCFF"/>
            </a:solidFill>
            <a:ln w="9525" algn="ctr">
              <a:noFill/>
              <a:miter lim="800000"/>
              <a:headEnd/>
              <a:tailEnd/>
            </a:ln>
            <a:effectLst/>
          </p:spPr>
          <p:txBody>
            <a:bodyPr wrap="none">
              <a:spAutoFit/>
            </a:bodyPr>
            <a:lstStyle/>
            <a:p>
              <a:pPr algn="ctr"/>
              <a:r>
                <a:rPr lang="en-US">
                  <a:latin typeface="Garamond" pitchFamily="18" charset="0"/>
                  <a:cs typeface="Arial" charset="0"/>
                </a:rPr>
                <a:t>Specification</a:t>
              </a:r>
            </a:p>
          </p:txBody>
        </p:sp>
        <p:sp>
          <p:nvSpPr>
            <p:cNvPr id="165903" name="Oval 15"/>
            <p:cNvSpPr>
              <a:spLocks noChangeArrowheads="1"/>
            </p:cNvSpPr>
            <p:nvPr/>
          </p:nvSpPr>
          <p:spPr bwMode="auto">
            <a:xfrm>
              <a:off x="4444" y="1776"/>
              <a:ext cx="960" cy="480"/>
            </a:xfrm>
            <a:prstGeom prst="ellipse">
              <a:avLst/>
            </a:prstGeom>
            <a:solidFill>
              <a:srgbClr val="99CCFF"/>
            </a:solidFill>
            <a:ln w="9525" algn="ctr">
              <a:solidFill>
                <a:schemeClr val="tx1"/>
              </a:solidFill>
              <a:round/>
              <a:headEnd/>
              <a:tailEnd/>
            </a:ln>
            <a:effectLst/>
          </p:spPr>
          <p:txBody>
            <a:bodyPr wrap="none" anchor="ctr">
              <a:spAutoFit/>
            </a:bodyPr>
            <a:lstStyle/>
            <a:p>
              <a:endParaRPr lang="en-GB"/>
            </a:p>
          </p:txBody>
        </p:sp>
        <p:sp>
          <p:nvSpPr>
            <p:cNvPr id="165904" name="Text Box 16"/>
            <p:cNvSpPr txBox="1">
              <a:spLocks noChangeArrowheads="1"/>
            </p:cNvSpPr>
            <p:nvPr/>
          </p:nvSpPr>
          <p:spPr bwMode="auto">
            <a:xfrm>
              <a:off x="4592" y="1920"/>
              <a:ext cx="691" cy="231"/>
            </a:xfrm>
            <a:prstGeom prst="rect">
              <a:avLst/>
            </a:prstGeom>
            <a:solidFill>
              <a:srgbClr val="99CCFF"/>
            </a:solidFill>
            <a:ln w="9525" algn="ctr">
              <a:noFill/>
              <a:miter lim="800000"/>
              <a:headEnd/>
              <a:tailEnd/>
            </a:ln>
            <a:effectLst/>
          </p:spPr>
          <p:txBody>
            <a:bodyPr wrap="none">
              <a:spAutoFit/>
            </a:bodyPr>
            <a:lstStyle/>
            <a:p>
              <a:pPr algn="ctr"/>
              <a:r>
                <a:rPr lang="en-US">
                  <a:latin typeface="Garamond" pitchFamily="18" charset="0"/>
                  <a:cs typeface="Arial" charset="0"/>
                </a:rPr>
                <a:t>Validation</a:t>
              </a:r>
            </a:p>
          </p:txBody>
        </p:sp>
        <p:sp>
          <p:nvSpPr>
            <p:cNvPr id="165905" name="Line 17"/>
            <p:cNvSpPr>
              <a:spLocks noChangeShapeType="1"/>
            </p:cNvSpPr>
            <p:nvPr/>
          </p:nvSpPr>
          <p:spPr bwMode="auto">
            <a:xfrm>
              <a:off x="3340" y="1920"/>
              <a:ext cx="1056" cy="0"/>
            </a:xfrm>
            <a:prstGeom prst="line">
              <a:avLst/>
            </a:prstGeom>
            <a:noFill/>
            <a:ln w="9525">
              <a:solidFill>
                <a:schemeClr val="tx1"/>
              </a:solidFill>
              <a:round/>
              <a:headEnd/>
              <a:tailEnd type="triangle" w="med" len="med"/>
            </a:ln>
            <a:effectLst/>
          </p:spPr>
          <p:txBody>
            <a:bodyPr>
              <a:spAutoFit/>
            </a:bodyPr>
            <a:lstStyle/>
            <a:p>
              <a:endParaRPr lang="en-GB"/>
            </a:p>
          </p:txBody>
        </p:sp>
        <p:sp>
          <p:nvSpPr>
            <p:cNvPr id="165906" name="Line 18"/>
            <p:cNvSpPr>
              <a:spLocks noChangeShapeType="1"/>
            </p:cNvSpPr>
            <p:nvPr/>
          </p:nvSpPr>
          <p:spPr bwMode="auto">
            <a:xfrm>
              <a:off x="1276" y="2112"/>
              <a:ext cx="1056" cy="0"/>
            </a:xfrm>
            <a:prstGeom prst="line">
              <a:avLst/>
            </a:prstGeom>
            <a:noFill/>
            <a:ln w="9525">
              <a:solidFill>
                <a:schemeClr val="tx1"/>
              </a:solidFill>
              <a:round/>
              <a:headEnd type="triangle" w="med" len="med"/>
              <a:tailEnd/>
            </a:ln>
            <a:effectLst/>
          </p:spPr>
          <p:txBody>
            <a:bodyPr>
              <a:spAutoFit/>
            </a:bodyPr>
            <a:lstStyle/>
            <a:p>
              <a:endParaRPr lang="en-GB"/>
            </a:p>
          </p:txBody>
        </p:sp>
        <p:sp>
          <p:nvSpPr>
            <p:cNvPr id="165907" name="Line 19"/>
            <p:cNvSpPr>
              <a:spLocks noChangeShapeType="1"/>
            </p:cNvSpPr>
            <p:nvPr/>
          </p:nvSpPr>
          <p:spPr bwMode="auto">
            <a:xfrm>
              <a:off x="3340" y="2112"/>
              <a:ext cx="1056" cy="0"/>
            </a:xfrm>
            <a:prstGeom prst="line">
              <a:avLst/>
            </a:prstGeom>
            <a:noFill/>
            <a:ln w="9525">
              <a:solidFill>
                <a:schemeClr val="tx1"/>
              </a:solidFill>
              <a:round/>
              <a:headEnd type="triangle" w="med" len="med"/>
              <a:tailEnd/>
            </a:ln>
            <a:effectLst/>
          </p:spPr>
          <p:txBody>
            <a:bodyPr>
              <a:spAutoFit/>
            </a:bodyPr>
            <a:lstStyle/>
            <a:p>
              <a:endParaRPr lang="en-GB"/>
            </a:p>
          </p:txBody>
        </p:sp>
        <p:sp>
          <p:nvSpPr>
            <p:cNvPr id="165908" name="Line 20"/>
            <p:cNvSpPr>
              <a:spLocks noChangeShapeType="1"/>
            </p:cNvSpPr>
            <p:nvPr/>
          </p:nvSpPr>
          <p:spPr bwMode="auto">
            <a:xfrm flipV="1">
              <a:off x="1084" y="1344"/>
              <a:ext cx="1344" cy="480"/>
            </a:xfrm>
            <a:prstGeom prst="line">
              <a:avLst/>
            </a:prstGeom>
            <a:noFill/>
            <a:ln w="9525">
              <a:solidFill>
                <a:schemeClr val="tx1"/>
              </a:solidFill>
              <a:round/>
              <a:headEnd type="triangle" w="med" len="med"/>
              <a:tailEnd/>
            </a:ln>
            <a:effectLst/>
          </p:spPr>
          <p:txBody>
            <a:bodyPr>
              <a:spAutoFit/>
            </a:bodyPr>
            <a:lstStyle/>
            <a:p>
              <a:endParaRPr lang="en-GB"/>
            </a:p>
          </p:txBody>
        </p:sp>
        <p:sp>
          <p:nvSpPr>
            <p:cNvPr id="165909" name="Line 21"/>
            <p:cNvSpPr>
              <a:spLocks noChangeShapeType="1"/>
            </p:cNvSpPr>
            <p:nvPr/>
          </p:nvSpPr>
          <p:spPr bwMode="auto">
            <a:xfrm>
              <a:off x="1084" y="2208"/>
              <a:ext cx="1344" cy="480"/>
            </a:xfrm>
            <a:prstGeom prst="line">
              <a:avLst/>
            </a:prstGeom>
            <a:noFill/>
            <a:ln w="9525">
              <a:solidFill>
                <a:schemeClr val="tx1"/>
              </a:solidFill>
              <a:round/>
              <a:headEnd type="triangle" w="med" len="med"/>
              <a:tailEnd/>
            </a:ln>
            <a:effectLst/>
          </p:spPr>
          <p:txBody>
            <a:bodyPr>
              <a:spAutoFit/>
            </a:bodyPr>
            <a:lstStyle/>
            <a:p>
              <a:endParaRPr lang="en-GB"/>
            </a:p>
          </p:txBody>
        </p:sp>
        <p:sp>
          <p:nvSpPr>
            <p:cNvPr id="165910" name="Line 22"/>
            <p:cNvSpPr>
              <a:spLocks noChangeShapeType="1"/>
            </p:cNvSpPr>
            <p:nvPr/>
          </p:nvSpPr>
          <p:spPr bwMode="auto">
            <a:xfrm flipH="1" flipV="1">
              <a:off x="3436" y="1344"/>
              <a:ext cx="1056" cy="528"/>
            </a:xfrm>
            <a:prstGeom prst="line">
              <a:avLst/>
            </a:prstGeom>
            <a:noFill/>
            <a:ln w="9525">
              <a:solidFill>
                <a:schemeClr val="tx1"/>
              </a:solidFill>
              <a:round/>
              <a:headEnd type="triangle" w="med" len="med"/>
              <a:tailEnd/>
            </a:ln>
            <a:effectLst/>
          </p:spPr>
          <p:txBody>
            <a:bodyPr>
              <a:spAutoFit/>
            </a:bodyPr>
            <a:lstStyle/>
            <a:p>
              <a:endParaRPr lang="en-GB"/>
            </a:p>
          </p:txBody>
        </p:sp>
        <p:sp>
          <p:nvSpPr>
            <p:cNvPr id="165911" name="Line 23"/>
            <p:cNvSpPr>
              <a:spLocks noChangeShapeType="1"/>
            </p:cNvSpPr>
            <p:nvPr/>
          </p:nvSpPr>
          <p:spPr bwMode="auto">
            <a:xfrm flipH="1">
              <a:off x="3436" y="2208"/>
              <a:ext cx="1056" cy="480"/>
            </a:xfrm>
            <a:prstGeom prst="line">
              <a:avLst/>
            </a:prstGeom>
            <a:noFill/>
            <a:ln w="9525">
              <a:solidFill>
                <a:schemeClr val="tx1"/>
              </a:solidFill>
              <a:round/>
              <a:headEnd type="triangle" w="med" len="med"/>
              <a:tailEnd/>
            </a:ln>
            <a:effectLst/>
          </p:spPr>
          <p:txBody>
            <a:bodyPr>
              <a:spAutoFit/>
            </a:bodyPr>
            <a:lstStyle/>
            <a:p>
              <a:endParaRPr lang="en-GB"/>
            </a:p>
          </p:txBody>
        </p:sp>
        <p:sp>
          <p:nvSpPr>
            <p:cNvPr id="165912" name="Line 24"/>
            <p:cNvSpPr>
              <a:spLocks noChangeShapeType="1"/>
            </p:cNvSpPr>
            <p:nvPr/>
          </p:nvSpPr>
          <p:spPr bwMode="auto">
            <a:xfrm>
              <a:off x="2860" y="1536"/>
              <a:ext cx="0" cy="192"/>
            </a:xfrm>
            <a:prstGeom prst="line">
              <a:avLst/>
            </a:prstGeom>
            <a:noFill/>
            <a:ln w="9525">
              <a:solidFill>
                <a:schemeClr val="tx1"/>
              </a:solidFill>
              <a:round/>
              <a:headEnd type="triangle" w="med" len="med"/>
              <a:tailEnd type="triangle" w="med" len="med"/>
            </a:ln>
            <a:effectLst/>
          </p:spPr>
          <p:txBody>
            <a:bodyPr>
              <a:spAutoFit/>
            </a:bodyPr>
            <a:lstStyle/>
            <a:p>
              <a:endParaRPr lang="en-GB"/>
            </a:p>
          </p:txBody>
        </p:sp>
        <p:sp>
          <p:nvSpPr>
            <p:cNvPr id="165913" name="Line 25"/>
            <p:cNvSpPr>
              <a:spLocks noChangeShapeType="1"/>
            </p:cNvSpPr>
            <p:nvPr/>
          </p:nvSpPr>
          <p:spPr bwMode="auto">
            <a:xfrm>
              <a:off x="2860" y="2304"/>
              <a:ext cx="0" cy="192"/>
            </a:xfrm>
            <a:prstGeom prst="line">
              <a:avLst/>
            </a:prstGeom>
            <a:noFill/>
            <a:ln w="9525">
              <a:solidFill>
                <a:schemeClr val="tx1"/>
              </a:solidFill>
              <a:round/>
              <a:headEnd type="triangle" w="med" len="med"/>
              <a:tailEnd type="triangle" w="med" len="med"/>
            </a:ln>
            <a:effectLst/>
          </p:spPr>
          <p:txBody>
            <a:bodyPr>
              <a:spAutoFit/>
            </a:bodyPr>
            <a:lstStyle/>
            <a:p>
              <a:endParaRPr lang="en-GB"/>
            </a:p>
          </p:txBody>
        </p:sp>
        <p:sp>
          <p:nvSpPr>
            <p:cNvPr id="165914" name="Text Box 26"/>
            <p:cNvSpPr txBox="1">
              <a:spLocks noChangeArrowheads="1"/>
            </p:cNvSpPr>
            <p:nvPr/>
          </p:nvSpPr>
          <p:spPr bwMode="auto">
            <a:xfrm>
              <a:off x="844" y="2400"/>
              <a:ext cx="1211" cy="231"/>
            </a:xfrm>
            <a:prstGeom prst="rect">
              <a:avLst/>
            </a:prstGeom>
            <a:noFill/>
            <a:ln w="9525" algn="ctr">
              <a:noFill/>
              <a:miter lim="800000"/>
              <a:headEnd/>
              <a:tailEnd/>
            </a:ln>
            <a:effectLst/>
          </p:spPr>
          <p:txBody>
            <a:bodyPr wrap="none">
              <a:spAutoFit/>
            </a:bodyPr>
            <a:lstStyle/>
            <a:p>
              <a:pPr algn="ctr"/>
              <a:r>
                <a:rPr lang="en-US">
                  <a:latin typeface="Garamond" pitchFamily="18" charset="0"/>
                  <a:cs typeface="Arial" charset="0"/>
                </a:rPr>
                <a:t>Domain knowledge</a:t>
              </a:r>
            </a:p>
          </p:txBody>
        </p:sp>
        <p:sp>
          <p:nvSpPr>
            <p:cNvPr id="165915" name="Text Box 27"/>
            <p:cNvSpPr txBox="1">
              <a:spLocks noChangeArrowheads="1"/>
            </p:cNvSpPr>
            <p:nvPr/>
          </p:nvSpPr>
          <p:spPr bwMode="auto">
            <a:xfrm>
              <a:off x="3820" y="2400"/>
              <a:ext cx="1211" cy="231"/>
            </a:xfrm>
            <a:prstGeom prst="rect">
              <a:avLst/>
            </a:prstGeom>
            <a:noFill/>
            <a:ln w="9525" algn="ctr">
              <a:noFill/>
              <a:miter lim="800000"/>
              <a:headEnd/>
              <a:tailEnd/>
            </a:ln>
            <a:effectLst/>
          </p:spPr>
          <p:txBody>
            <a:bodyPr wrap="none">
              <a:spAutoFit/>
            </a:bodyPr>
            <a:lstStyle/>
            <a:p>
              <a:pPr algn="ctr"/>
              <a:r>
                <a:rPr lang="en-US">
                  <a:latin typeface="Garamond" pitchFamily="18" charset="0"/>
                  <a:cs typeface="Arial" charset="0"/>
                </a:rPr>
                <a:t>Domain knowledge</a:t>
              </a:r>
            </a:p>
          </p:txBody>
        </p:sp>
        <p:sp>
          <p:nvSpPr>
            <p:cNvPr id="165916" name="Text Box 28"/>
            <p:cNvSpPr txBox="1">
              <a:spLocks noChangeArrowheads="1"/>
            </p:cNvSpPr>
            <p:nvPr/>
          </p:nvSpPr>
          <p:spPr bwMode="auto">
            <a:xfrm>
              <a:off x="1372" y="1296"/>
              <a:ext cx="647" cy="231"/>
            </a:xfrm>
            <a:prstGeom prst="rect">
              <a:avLst/>
            </a:prstGeom>
            <a:noFill/>
            <a:ln w="9525" algn="ctr">
              <a:noFill/>
              <a:miter lim="800000"/>
              <a:headEnd/>
              <a:tailEnd/>
            </a:ln>
            <a:effectLst/>
          </p:spPr>
          <p:txBody>
            <a:bodyPr wrap="none">
              <a:spAutoFit/>
            </a:bodyPr>
            <a:lstStyle/>
            <a:p>
              <a:pPr algn="ctr"/>
              <a:r>
                <a:rPr lang="en-US">
                  <a:latin typeface="Garamond" pitchFamily="18" charset="0"/>
                  <a:cs typeface="Arial" charset="0"/>
                </a:rPr>
                <a:t>User reqs</a:t>
              </a:r>
            </a:p>
          </p:txBody>
        </p:sp>
        <p:sp>
          <p:nvSpPr>
            <p:cNvPr id="165917" name="Text Box 29"/>
            <p:cNvSpPr txBox="1">
              <a:spLocks noChangeArrowheads="1"/>
            </p:cNvSpPr>
            <p:nvPr/>
          </p:nvSpPr>
          <p:spPr bwMode="auto">
            <a:xfrm>
              <a:off x="3772" y="1392"/>
              <a:ext cx="913" cy="231"/>
            </a:xfrm>
            <a:prstGeom prst="rect">
              <a:avLst/>
            </a:prstGeom>
            <a:noFill/>
            <a:ln w="9525" algn="ctr">
              <a:noFill/>
              <a:miter lim="800000"/>
              <a:headEnd/>
              <a:tailEnd/>
            </a:ln>
            <a:effectLst/>
          </p:spPr>
          <p:txBody>
            <a:bodyPr wrap="none">
              <a:spAutoFit/>
            </a:bodyPr>
            <a:lstStyle/>
            <a:p>
              <a:pPr algn="ctr"/>
              <a:r>
                <a:rPr lang="en-US">
                  <a:latin typeface="Garamond" pitchFamily="18" charset="0"/>
                  <a:cs typeface="Arial" charset="0"/>
                </a:rPr>
                <a:t>User feedback</a:t>
              </a:r>
            </a:p>
          </p:txBody>
        </p:sp>
        <p:sp>
          <p:nvSpPr>
            <p:cNvPr id="165918" name="Text Box 30"/>
            <p:cNvSpPr txBox="1">
              <a:spLocks noChangeArrowheads="1"/>
            </p:cNvSpPr>
            <p:nvPr/>
          </p:nvSpPr>
          <p:spPr bwMode="auto">
            <a:xfrm>
              <a:off x="3388" y="1728"/>
              <a:ext cx="807" cy="231"/>
            </a:xfrm>
            <a:prstGeom prst="rect">
              <a:avLst/>
            </a:prstGeom>
            <a:noFill/>
            <a:ln w="9525" algn="ctr">
              <a:noFill/>
              <a:miter lim="800000"/>
              <a:headEnd/>
              <a:tailEnd/>
            </a:ln>
            <a:effectLst/>
          </p:spPr>
          <p:txBody>
            <a:bodyPr wrap="none">
              <a:spAutoFit/>
            </a:bodyPr>
            <a:lstStyle/>
            <a:p>
              <a:pPr algn="ctr"/>
              <a:r>
                <a:rPr lang="en-US">
                  <a:latin typeface="Garamond" pitchFamily="18" charset="0"/>
                  <a:cs typeface="Arial" charset="0"/>
                </a:rPr>
                <a:t>Req. models</a:t>
              </a:r>
            </a:p>
          </p:txBody>
        </p:sp>
        <p:sp>
          <p:nvSpPr>
            <p:cNvPr id="165919" name="Text Box 31"/>
            <p:cNvSpPr txBox="1">
              <a:spLocks noChangeArrowheads="1"/>
            </p:cNvSpPr>
            <p:nvPr/>
          </p:nvSpPr>
          <p:spPr bwMode="auto">
            <a:xfrm>
              <a:off x="3436" y="2064"/>
              <a:ext cx="681" cy="231"/>
            </a:xfrm>
            <a:prstGeom prst="rect">
              <a:avLst/>
            </a:prstGeom>
            <a:noFill/>
            <a:ln w="9525" algn="ctr">
              <a:noFill/>
              <a:miter lim="800000"/>
              <a:headEnd/>
              <a:tailEnd/>
            </a:ln>
            <a:effectLst/>
          </p:spPr>
          <p:txBody>
            <a:bodyPr wrap="none">
              <a:spAutoFit/>
            </a:bodyPr>
            <a:lstStyle/>
            <a:p>
              <a:pPr algn="ctr"/>
              <a:r>
                <a:rPr lang="en-US">
                  <a:latin typeface="Garamond" pitchFamily="18" charset="0"/>
                  <a:cs typeface="Arial" charset="0"/>
                </a:rPr>
                <a:t>Val. result</a:t>
              </a:r>
            </a:p>
          </p:txBody>
        </p:sp>
        <p:sp>
          <p:nvSpPr>
            <p:cNvPr id="165920" name="Text Box 32"/>
            <p:cNvSpPr txBox="1">
              <a:spLocks noChangeArrowheads="1"/>
            </p:cNvSpPr>
            <p:nvPr/>
          </p:nvSpPr>
          <p:spPr bwMode="auto">
            <a:xfrm>
              <a:off x="1420" y="1728"/>
              <a:ext cx="715" cy="231"/>
            </a:xfrm>
            <a:prstGeom prst="rect">
              <a:avLst/>
            </a:prstGeom>
            <a:noFill/>
            <a:ln w="9525" algn="ctr">
              <a:noFill/>
              <a:miter lim="800000"/>
              <a:headEnd/>
              <a:tailEnd/>
            </a:ln>
            <a:effectLst/>
          </p:spPr>
          <p:txBody>
            <a:bodyPr wrap="none">
              <a:spAutoFit/>
            </a:bodyPr>
            <a:lstStyle/>
            <a:p>
              <a:pPr algn="ctr"/>
              <a:r>
                <a:rPr lang="en-US">
                  <a:latin typeface="Garamond" pitchFamily="18" charset="0"/>
                  <a:cs typeface="Arial" charset="0"/>
                </a:rPr>
                <a:t>knowledge</a:t>
              </a:r>
            </a:p>
          </p:txBody>
        </p:sp>
        <p:sp>
          <p:nvSpPr>
            <p:cNvPr id="165921" name="Text Box 33"/>
            <p:cNvSpPr txBox="1">
              <a:spLocks noChangeArrowheads="1"/>
            </p:cNvSpPr>
            <p:nvPr/>
          </p:nvSpPr>
          <p:spPr bwMode="auto">
            <a:xfrm>
              <a:off x="1288" y="2112"/>
              <a:ext cx="1281" cy="231"/>
            </a:xfrm>
            <a:prstGeom prst="rect">
              <a:avLst/>
            </a:prstGeom>
            <a:noFill/>
            <a:ln w="9525" algn="ctr">
              <a:noFill/>
              <a:miter lim="800000"/>
              <a:headEnd/>
              <a:tailEnd/>
            </a:ln>
            <a:effectLst/>
          </p:spPr>
          <p:txBody>
            <a:bodyPr wrap="none">
              <a:spAutoFit/>
            </a:bodyPr>
            <a:lstStyle/>
            <a:p>
              <a:pPr algn="ctr"/>
              <a:r>
                <a:rPr lang="en-US">
                  <a:latin typeface="Garamond" pitchFamily="18" charset="0"/>
                  <a:cs typeface="Arial" charset="0"/>
                </a:rPr>
                <a:t>For more knowledge</a:t>
              </a:r>
            </a:p>
          </p:txBody>
        </p:sp>
        <p:sp>
          <p:nvSpPr>
            <p:cNvPr id="165922" name="Text Box 34"/>
            <p:cNvSpPr txBox="1">
              <a:spLocks noChangeArrowheads="1"/>
            </p:cNvSpPr>
            <p:nvPr/>
          </p:nvSpPr>
          <p:spPr bwMode="auto">
            <a:xfrm>
              <a:off x="1347" y="2880"/>
              <a:ext cx="3398" cy="231"/>
            </a:xfrm>
            <a:prstGeom prst="rect">
              <a:avLst/>
            </a:prstGeom>
            <a:noFill/>
            <a:ln w="9525" algn="ctr">
              <a:noFill/>
              <a:miter lim="800000"/>
              <a:headEnd/>
              <a:tailEnd/>
            </a:ln>
            <a:effectLst/>
          </p:spPr>
          <p:txBody>
            <a:bodyPr wrap="none">
              <a:spAutoFit/>
            </a:bodyPr>
            <a:lstStyle/>
            <a:p>
              <a:pPr algn="ctr"/>
              <a:r>
                <a:rPr lang="en-US">
                  <a:latin typeface="Garamond" pitchFamily="18" charset="0"/>
                  <a:cs typeface="Arial" charset="0"/>
                </a:rPr>
                <a:t>(domain experts, laws, standards, policies, documents, etc.)</a:t>
              </a:r>
            </a:p>
          </p:txBody>
        </p:sp>
      </p:grpSp>
      <p:sp>
        <p:nvSpPr>
          <p:cNvPr id="165923" name="Text Box 35"/>
          <p:cNvSpPr txBox="1">
            <a:spLocks noChangeArrowheads="1"/>
          </p:cNvSpPr>
          <p:nvPr/>
        </p:nvSpPr>
        <p:spPr bwMode="auto">
          <a:xfrm>
            <a:off x="6115050" y="6096000"/>
            <a:ext cx="2838450" cy="366713"/>
          </a:xfrm>
          <a:prstGeom prst="rect">
            <a:avLst/>
          </a:prstGeom>
          <a:noFill/>
          <a:ln w="9525">
            <a:noFill/>
            <a:miter lim="800000"/>
            <a:headEnd/>
            <a:tailEnd/>
          </a:ln>
          <a:effectLst/>
        </p:spPr>
        <p:txBody>
          <a:bodyPr wrap="none">
            <a:spAutoFit/>
          </a:bodyPr>
          <a:lstStyle/>
          <a:p>
            <a:pPr eaLnBrk="0" hangingPunct="0"/>
            <a:r>
              <a:rPr lang="en-US">
                <a:latin typeface="Times New Roman" pitchFamily="18" charset="0"/>
              </a:rPr>
              <a:t>Loucopoulos and Karakostas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5891">
                                            <p:txEl>
                                              <p:pRg st="0" end="0"/>
                                            </p:txEl>
                                          </p:spTgt>
                                        </p:tgtEl>
                                        <p:attrNameLst>
                                          <p:attrName>style.visibility</p:attrName>
                                        </p:attrNameLst>
                                      </p:cBhvr>
                                      <p:to>
                                        <p:strVal val="visible"/>
                                      </p:to>
                                    </p:set>
                                    <p:animEffect transition="in" filter="blinds(horizontal)">
                                      <p:cBhvr>
                                        <p:cTn id="7" dur="500"/>
                                        <p:tgtEl>
                                          <p:spTgt spid="165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165892"/>
                                        </p:tgtEl>
                                        <p:attrNameLst>
                                          <p:attrName>style.visibility</p:attrName>
                                        </p:attrNameLst>
                                      </p:cBhvr>
                                      <p:to>
                                        <p:strVal val="visible"/>
                                      </p:to>
                                    </p:set>
                                    <p:animEffect transition="in" filter="blinds(horizontal)">
                                      <p:cBhvr>
                                        <p:cTn id="12" dur="500"/>
                                        <p:tgtEl>
                                          <p:spTgt spid="165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p:bldP spid="16589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Iterative RE Process Model</a:t>
            </a:r>
            <a:endParaRPr lang="en-GB" dirty="0"/>
          </a:p>
        </p:txBody>
      </p:sp>
      <p:sp>
        <p:nvSpPr>
          <p:cNvPr id="3" name="Content Placeholder 2"/>
          <p:cNvSpPr>
            <a:spLocks noGrp="1"/>
          </p:cNvSpPr>
          <p:nvPr>
            <p:ph idx="1"/>
          </p:nvPr>
        </p:nvSpPr>
        <p:spPr/>
        <p:txBody>
          <a:bodyPr>
            <a:normAutofit/>
          </a:bodyPr>
          <a:lstStyle/>
          <a:p>
            <a:pPr>
              <a:lnSpc>
                <a:spcPct val="80000"/>
              </a:lnSpc>
              <a:buFontTx/>
              <a:buChar char="•"/>
            </a:pPr>
            <a:r>
              <a:rPr lang="en-US" dirty="0" smtClean="0">
                <a:latin typeface="Franklin Gothic Book" pitchFamily="34" charset="0"/>
              </a:rPr>
              <a:t>Elicitation</a:t>
            </a:r>
          </a:p>
          <a:p>
            <a:pPr lvl="1">
              <a:lnSpc>
                <a:spcPct val="80000"/>
              </a:lnSpc>
              <a:buFontTx/>
              <a:buChar char="•"/>
            </a:pPr>
            <a:r>
              <a:rPr lang="en-US" dirty="0" smtClean="0">
                <a:latin typeface="Franklin Gothic Book" pitchFamily="34" charset="0"/>
              </a:rPr>
              <a:t>determine what</a:t>
            </a:r>
            <a:r>
              <a:rPr lang="en-US" dirty="0" smtClean="0">
                <a:latin typeface="Garamond"/>
              </a:rPr>
              <a:t>’</a:t>
            </a:r>
            <a:r>
              <a:rPr lang="en-US" dirty="0" smtClean="0">
                <a:latin typeface="Franklin Gothic Book" pitchFamily="34" charset="0"/>
              </a:rPr>
              <a:t>s really needed, why needed, whom to talk to</a:t>
            </a:r>
          </a:p>
          <a:p>
            <a:pPr>
              <a:buFontTx/>
              <a:buChar char="•"/>
            </a:pPr>
            <a:r>
              <a:rPr lang="en-US" dirty="0" smtClean="0">
                <a:latin typeface="Franklin Gothic Book" pitchFamily="34" charset="0"/>
              </a:rPr>
              <a:t>Specification</a:t>
            </a:r>
          </a:p>
          <a:p>
            <a:pPr lvl="1">
              <a:buFontTx/>
              <a:buChar char="•"/>
            </a:pPr>
            <a:r>
              <a:rPr lang="en-US" dirty="0" smtClean="0">
                <a:latin typeface="Franklin Gothic Book" pitchFamily="34" charset="0"/>
              </a:rPr>
              <a:t>produce a (formal) RS model: translate "vague" into "concrete", etc. make various decisions on what &amp; how</a:t>
            </a:r>
          </a:p>
          <a:p>
            <a:pPr>
              <a:buFontTx/>
              <a:buChar char="•"/>
            </a:pPr>
            <a:r>
              <a:rPr lang="en-US" dirty="0" smtClean="0">
                <a:latin typeface="Franklin Gothic Book" pitchFamily="34" charset="0"/>
              </a:rPr>
              <a:t>Validation</a:t>
            </a:r>
          </a:p>
          <a:p>
            <a:pPr lvl="1">
              <a:buFontTx/>
              <a:buChar char="•"/>
            </a:pPr>
            <a:r>
              <a:rPr lang="en-US" dirty="0" smtClean="0">
                <a:latin typeface="Franklin Gothic Book" pitchFamily="34" charset="0"/>
              </a:rPr>
              <a:t>assure that the RS model satisfies the users</a:t>
            </a:r>
            <a:r>
              <a:rPr lang="en-US" dirty="0" smtClean="0">
                <a:latin typeface="Garamond"/>
              </a:rPr>
              <a:t>’</a:t>
            </a:r>
            <a:r>
              <a:rPr lang="en-US" dirty="0" smtClean="0">
                <a:latin typeface="Franklin Gothic Book" pitchFamily="34" charset="0"/>
              </a:rPr>
              <a:t> needs</a:t>
            </a:r>
          </a:p>
          <a:p>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a:xfrm>
            <a:off x="914400" y="91440"/>
            <a:ext cx="7406640" cy="1356360"/>
          </a:xfrm>
          <a:noFill/>
          <a:ln/>
        </p:spPr>
        <p:txBody>
          <a:bodyPr lIns="90488" tIns="44450" rIns="90488" bIns="44450" anchor="b"/>
          <a:lstStyle/>
          <a:p>
            <a:r>
              <a:rPr lang="en-US" dirty="0"/>
              <a:t>Spiral model of the RE process</a:t>
            </a:r>
          </a:p>
        </p:txBody>
      </p:sp>
      <p:graphicFrame>
        <p:nvGraphicFramePr>
          <p:cNvPr id="166915" name="Object 3"/>
          <p:cNvGraphicFramePr>
            <a:graphicFrameLocks/>
          </p:cNvGraphicFramePr>
          <p:nvPr/>
        </p:nvGraphicFramePr>
        <p:xfrm>
          <a:off x="685800" y="1447800"/>
          <a:ext cx="8077200" cy="5257800"/>
        </p:xfrm>
        <a:graphic>
          <a:graphicData uri="http://schemas.openxmlformats.org/presentationml/2006/ole">
            <mc:AlternateContent xmlns:mc="http://schemas.openxmlformats.org/markup-compatibility/2006">
              <mc:Choice xmlns:v="urn:schemas-microsoft-com:vml" Requires="v">
                <p:oleObj spid="_x0000_s74756"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447800"/>
                        <a:ext cx="80772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6916" name="Text Box 4"/>
          <p:cNvSpPr txBox="1">
            <a:spLocks noChangeArrowheads="1"/>
          </p:cNvSpPr>
          <p:nvPr/>
        </p:nvSpPr>
        <p:spPr bwMode="auto">
          <a:xfrm>
            <a:off x="5715000" y="5943600"/>
            <a:ext cx="3263900" cy="366713"/>
          </a:xfrm>
          <a:prstGeom prst="rect">
            <a:avLst/>
          </a:prstGeom>
          <a:noFill/>
          <a:ln w="9525">
            <a:noFill/>
            <a:miter lim="800000"/>
            <a:headEnd/>
            <a:tailEnd/>
          </a:ln>
          <a:effectLst/>
        </p:spPr>
        <p:txBody>
          <a:bodyPr wrap="none">
            <a:spAutoFit/>
          </a:bodyPr>
          <a:lstStyle/>
          <a:p>
            <a:pPr eaLnBrk="0" hangingPunct="0"/>
            <a:r>
              <a:rPr lang="en-US">
                <a:latin typeface="Times New Roman" pitchFamily="18" charset="0"/>
              </a:rPr>
              <a:t>Kotonya and Sommerville (1998)</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r>
              <a:rPr lang="en-US"/>
              <a:t>Spiral</a:t>
            </a:r>
          </a:p>
        </p:txBody>
      </p:sp>
      <p:sp>
        <p:nvSpPr>
          <p:cNvPr id="167939" name="Rectangle 3"/>
          <p:cNvSpPr>
            <a:spLocks noGrp="1" noChangeArrowheads="1"/>
          </p:cNvSpPr>
          <p:nvPr>
            <p:ph idx="1"/>
          </p:nvPr>
        </p:nvSpPr>
        <p:spPr/>
        <p:txBody>
          <a:bodyPr>
            <a:normAutofit lnSpcReduction="10000"/>
          </a:bodyPr>
          <a:lstStyle/>
          <a:p>
            <a:pPr>
              <a:lnSpc>
                <a:spcPct val="90000"/>
              </a:lnSpc>
            </a:pPr>
            <a:r>
              <a:rPr lang="en-US" sz="2800"/>
              <a:t>RE Process</a:t>
            </a:r>
          </a:p>
          <a:p>
            <a:pPr lvl="1">
              <a:lnSpc>
                <a:spcPct val="90000"/>
              </a:lnSpc>
            </a:pPr>
            <a:r>
              <a:rPr lang="en-US" sz="2400"/>
              <a:t>Requirements elicitation</a:t>
            </a:r>
          </a:p>
          <a:p>
            <a:pPr lvl="2">
              <a:lnSpc>
                <a:spcPct val="90000"/>
              </a:lnSpc>
            </a:pPr>
            <a:r>
              <a:rPr lang="en-US" sz="2000"/>
              <a:t>Informal statement of requirements</a:t>
            </a:r>
          </a:p>
          <a:p>
            <a:pPr lvl="1">
              <a:lnSpc>
                <a:spcPct val="90000"/>
              </a:lnSpc>
            </a:pPr>
            <a:r>
              <a:rPr lang="en-US" sz="2400"/>
              <a:t>Requirements analysis and negotiation</a:t>
            </a:r>
          </a:p>
          <a:p>
            <a:pPr lvl="2">
              <a:lnSpc>
                <a:spcPct val="90000"/>
              </a:lnSpc>
            </a:pPr>
            <a:r>
              <a:rPr lang="en-US" sz="2000"/>
              <a:t>Agreed requirements</a:t>
            </a:r>
          </a:p>
          <a:p>
            <a:pPr lvl="1">
              <a:lnSpc>
                <a:spcPct val="90000"/>
              </a:lnSpc>
            </a:pPr>
            <a:r>
              <a:rPr lang="en-US" sz="2400"/>
              <a:t>Requirements documentation</a:t>
            </a:r>
          </a:p>
          <a:p>
            <a:pPr lvl="2">
              <a:lnSpc>
                <a:spcPct val="90000"/>
              </a:lnSpc>
            </a:pPr>
            <a:r>
              <a:rPr lang="en-US" sz="2000"/>
              <a:t>Draft requirements</a:t>
            </a:r>
          </a:p>
          <a:p>
            <a:pPr lvl="1">
              <a:lnSpc>
                <a:spcPct val="90000"/>
              </a:lnSpc>
            </a:pPr>
            <a:r>
              <a:rPr lang="en-US" sz="2400"/>
              <a:t>Requirements validation</a:t>
            </a:r>
          </a:p>
          <a:p>
            <a:pPr lvl="2">
              <a:lnSpc>
                <a:spcPct val="90000"/>
              </a:lnSpc>
            </a:pPr>
            <a:r>
              <a:rPr lang="en-US" sz="2000"/>
              <a:t>Requirements document</a:t>
            </a:r>
          </a:p>
          <a:p>
            <a:pPr>
              <a:lnSpc>
                <a:spcPct val="90000"/>
              </a:lnSpc>
            </a:pPr>
            <a:r>
              <a:rPr lang="en-US" sz="2800"/>
              <a:t>Requirements Risk Analysis</a:t>
            </a:r>
          </a:p>
          <a:p>
            <a:pPr>
              <a:lnSpc>
                <a:spcPct val="90000"/>
              </a:lnSpc>
            </a:pPr>
            <a:r>
              <a:rPr lang="en-US" sz="2800"/>
              <a:t>Emergence of new business objective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7939">
                                            <p:txEl>
                                              <p:pRg st="0" end="0"/>
                                            </p:txEl>
                                          </p:spTgt>
                                        </p:tgtEl>
                                        <p:attrNameLst>
                                          <p:attrName>style.visibility</p:attrName>
                                        </p:attrNameLst>
                                      </p:cBhvr>
                                      <p:to>
                                        <p:strVal val="visible"/>
                                      </p:to>
                                    </p:set>
                                    <p:anim calcmode="lin" valueType="num">
                                      <p:cBhvr additive="base">
                                        <p:cTn id="7" dur="500" fill="hold"/>
                                        <p:tgtEl>
                                          <p:spTgt spid="1679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793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7939">
                                            <p:txEl>
                                              <p:pRg st="1" end="1"/>
                                            </p:txEl>
                                          </p:spTgt>
                                        </p:tgtEl>
                                        <p:attrNameLst>
                                          <p:attrName>style.visibility</p:attrName>
                                        </p:attrNameLst>
                                      </p:cBhvr>
                                      <p:to>
                                        <p:strVal val="visible"/>
                                      </p:to>
                                    </p:set>
                                    <p:anim calcmode="lin" valueType="num">
                                      <p:cBhvr additive="base">
                                        <p:cTn id="11" dur="500" fill="hold"/>
                                        <p:tgtEl>
                                          <p:spTgt spid="16793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793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7939">
                                            <p:txEl>
                                              <p:pRg st="2" end="2"/>
                                            </p:txEl>
                                          </p:spTgt>
                                        </p:tgtEl>
                                        <p:attrNameLst>
                                          <p:attrName>style.visibility</p:attrName>
                                        </p:attrNameLst>
                                      </p:cBhvr>
                                      <p:to>
                                        <p:strVal val="visible"/>
                                      </p:to>
                                    </p:set>
                                    <p:anim calcmode="lin" valueType="num">
                                      <p:cBhvr additive="base">
                                        <p:cTn id="15" dur="500" fill="hold"/>
                                        <p:tgtEl>
                                          <p:spTgt spid="16793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793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67939">
                                            <p:txEl>
                                              <p:pRg st="3" end="3"/>
                                            </p:txEl>
                                          </p:spTgt>
                                        </p:tgtEl>
                                        <p:attrNameLst>
                                          <p:attrName>style.visibility</p:attrName>
                                        </p:attrNameLst>
                                      </p:cBhvr>
                                      <p:to>
                                        <p:strVal val="visible"/>
                                      </p:to>
                                    </p:set>
                                    <p:anim calcmode="lin" valueType="num">
                                      <p:cBhvr additive="base">
                                        <p:cTn id="19" dur="500" fill="hold"/>
                                        <p:tgtEl>
                                          <p:spTgt spid="16793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793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67939">
                                            <p:txEl>
                                              <p:pRg st="4" end="4"/>
                                            </p:txEl>
                                          </p:spTgt>
                                        </p:tgtEl>
                                        <p:attrNameLst>
                                          <p:attrName>style.visibility</p:attrName>
                                        </p:attrNameLst>
                                      </p:cBhvr>
                                      <p:to>
                                        <p:strVal val="visible"/>
                                      </p:to>
                                    </p:set>
                                    <p:anim calcmode="lin" valueType="num">
                                      <p:cBhvr additive="base">
                                        <p:cTn id="23" dur="500" fill="hold"/>
                                        <p:tgtEl>
                                          <p:spTgt spid="16793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7939">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67939">
                                            <p:txEl>
                                              <p:pRg st="5" end="5"/>
                                            </p:txEl>
                                          </p:spTgt>
                                        </p:tgtEl>
                                        <p:attrNameLst>
                                          <p:attrName>style.visibility</p:attrName>
                                        </p:attrNameLst>
                                      </p:cBhvr>
                                      <p:to>
                                        <p:strVal val="visible"/>
                                      </p:to>
                                    </p:set>
                                    <p:anim calcmode="lin" valueType="num">
                                      <p:cBhvr additive="base">
                                        <p:cTn id="27" dur="500" fill="hold"/>
                                        <p:tgtEl>
                                          <p:spTgt spid="16793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7939">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67939">
                                            <p:txEl>
                                              <p:pRg st="6" end="6"/>
                                            </p:txEl>
                                          </p:spTgt>
                                        </p:tgtEl>
                                        <p:attrNameLst>
                                          <p:attrName>style.visibility</p:attrName>
                                        </p:attrNameLst>
                                      </p:cBhvr>
                                      <p:to>
                                        <p:strVal val="visible"/>
                                      </p:to>
                                    </p:set>
                                    <p:anim calcmode="lin" valueType="num">
                                      <p:cBhvr additive="base">
                                        <p:cTn id="31" dur="500" fill="hold"/>
                                        <p:tgtEl>
                                          <p:spTgt spid="167939">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7939">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67939">
                                            <p:txEl>
                                              <p:pRg st="7" end="7"/>
                                            </p:txEl>
                                          </p:spTgt>
                                        </p:tgtEl>
                                        <p:attrNameLst>
                                          <p:attrName>style.visibility</p:attrName>
                                        </p:attrNameLst>
                                      </p:cBhvr>
                                      <p:to>
                                        <p:strVal val="visible"/>
                                      </p:to>
                                    </p:set>
                                    <p:anim calcmode="lin" valueType="num">
                                      <p:cBhvr additive="base">
                                        <p:cTn id="35" dur="500" fill="hold"/>
                                        <p:tgtEl>
                                          <p:spTgt spid="167939">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7939">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7939">
                                            <p:txEl>
                                              <p:pRg st="8" end="8"/>
                                            </p:txEl>
                                          </p:spTgt>
                                        </p:tgtEl>
                                        <p:attrNameLst>
                                          <p:attrName>style.visibility</p:attrName>
                                        </p:attrNameLst>
                                      </p:cBhvr>
                                      <p:to>
                                        <p:strVal val="visible"/>
                                      </p:to>
                                    </p:set>
                                    <p:anim calcmode="lin" valueType="num">
                                      <p:cBhvr additive="base">
                                        <p:cTn id="39" dur="500" fill="hold"/>
                                        <p:tgtEl>
                                          <p:spTgt spid="167939">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6793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67939">
                                            <p:txEl>
                                              <p:pRg st="9" end="9"/>
                                            </p:txEl>
                                          </p:spTgt>
                                        </p:tgtEl>
                                        <p:attrNameLst>
                                          <p:attrName>style.visibility</p:attrName>
                                        </p:attrNameLst>
                                      </p:cBhvr>
                                      <p:to>
                                        <p:strVal val="visible"/>
                                      </p:to>
                                    </p:set>
                                    <p:anim calcmode="lin" valueType="num">
                                      <p:cBhvr additive="base">
                                        <p:cTn id="45" dur="500" fill="hold"/>
                                        <p:tgtEl>
                                          <p:spTgt spid="167939">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6793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67939">
                                            <p:txEl>
                                              <p:pRg st="10" end="10"/>
                                            </p:txEl>
                                          </p:spTgt>
                                        </p:tgtEl>
                                        <p:attrNameLst>
                                          <p:attrName>style.visibility</p:attrName>
                                        </p:attrNameLst>
                                      </p:cBhvr>
                                      <p:to>
                                        <p:strVal val="visible"/>
                                      </p:to>
                                    </p:set>
                                    <p:anim calcmode="lin" valueType="num">
                                      <p:cBhvr additive="base">
                                        <p:cTn id="51" dur="500" fill="hold"/>
                                        <p:tgtEl>
                                          <p:spTgt spid="167939">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6793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859155" y="351354"/>
            <a:ext cx="7406640" cy="1356360"/>
          </a:xfrm>
        </p:spPr>
        <p:txBody>
          <a:bodyPr/>
          <a:lstStyle/>
          <a:p>
            <a:r>
              <a:rPr lang="en-US" altLang="en-US" dirty="0" smtClean="0"/>
              <a:t>The RE process  </a:t>
            </a:r>
            <a:r>
              <a:rPr lang="en-US" altLang="en-US" sz="2000" dirty="0" smtClean="0"/>
              <a:t>(1)</a:t>
            </a:r>
          </a:p>
        </p:txBody>
      </p:sp>
      <p:grpSp>
        <p:nvGrpSpPr>
          <p:cNvPr id="2" name="Group 3"/>
          <p:cNvGrpSpPr>
            <a:grpSpLocks/>
          </p:cNvGrpSpPr>
          <p:nvPr/>
        </p:nvGrpSpPr>
        <p:grpSpPr bwMode="auto">
          <a:xfrm>
            <a:off x="4411663" y="1792288"/>
            <a:ext cx="300037" cy="4141787"/>
            <a:chOff x="2779" y="1129"/>
            <a:chExt cx="189" cy="2609"/>
          </a:xfrm>
        </p:grpSpPr>
        <p:sp>
          <p:nvSpPr>
            <p:cNvPr id="1402884" name="Line 4"/>
            <p:cNvSpPr>
              <a:spLocks noChangeShapeType="1"/>
            </p:cNvSpPr>
            <p:nvPr/>
          </p:nvSpPr>
          <p:spPr bwMode="auto">
            <a:xfrm>
              <a:off x="2874" y="1263"/>
              <a:ext cx="1" cy="2341"/>
            </a:xfrm>
            <a:prstGeom prst="line">
              <a:avLst/>
            </a:prstGeom>
            <a:no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2885" name="Freeform 5"/>
            <p:cNvSpPr>
              <a:spLocks/>
            </p:cNvSpPr>
            <p:nvPr/>
          </p:nvSpPr>
          <p:spPr bwMode="auto">
            <a:xfrm>
              <a:off x="2795" y="1129"/>
              <a:ext cx="173" cy="168"/>
            </a:xfrm>
            <a:custGeom>
              <a:avLst/>
              <a:gdLst/>
              <a:ahLst/>
              <a:cxnLst>
                <a:cxn ang="0">
                  <a:pos x="173" y="168"/>
                </a:cxn>
                <a:cxn ang="0">
                  <a:pos x="79" y="0"/>
                </a:cxn>
                <a:cxn ang="0">
                  <a:pos x="0" y="168"/>
                </a:cxn>
                <a:cxn ang="0">
                  <a:pos x="173" y="168"/>
                </a:cxn>
              </a:cxnLst>
              <a:rect l="0" t="0" r="r" b="b"/>
              <a:pathLst>
                <a:path w="173" h="168">
                  <a:moveTo>
                    <a:pt x="173" y="168"/>
                  </a:moveTo>
                  <a:lnTo>
                    <a:pt x="79" y="0"/>
                  </a:lnTo>
                  <a:lnTo>
                    <a:pt x="0" y="168"/>
                  </a:lnTo>
                  <a:lnTo>
                    <a:pt x="173" y="168"/>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2886" name="Freeform 6"/>
            <p:cNvSpPr>
              <a:spLocks/>
            </p:cNvSpPr>
            <p:nvPr/>
          </p:nvSpPr>
          <p:spPr bwMode="auto">
            <a:xfrm>
              <a:off x="2779" y="3570"/>
              <a:ext cx="173" cy="168"/>
            </a:xfrm>
            <a:custGeom>
              <a:avLst/>
              <a:gdLst/>
              <a:ahLst/>
              <a:cxnLst>
                <a:cxn ang="0">
                  <a:pos x="0" y="0"/>
                </a:cxn>
                <a:cxn ang="0">
                  <a:pos x="95" y="168"/>
                </a:cxn>
                <a:cxn ang="0">
                  <a:pos x="173" y="0"/>
                </a:cxn>
                <a:cxn ang="0">
                  <a:pos x="0" y="0"/>
                </a:cxn>
              </a:cxnLst>
              <a:rect l="0" t="0" r="r" b="b"/>
              <a:pathLst>
                <a:path w="173" h="168">
                  <a:moveTo>
                    <a:pt x="0" y="0"/>
                  </a:moveTo>
                  <a:lnTo>
                    <a:pt x="95" y="168"/>
                  </a:lnTo>
                  <a:lnTo>
                    <a:pt x="173" y="0"/>
                  </a:lnTo>
                  <a:lnTo>
                    <a:pt x="0" y="0"/>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grpSp>
      <p:grpSp>
        <p:nvGrpSpPr>
          <p:cNvPr id="3" name="Group 7"/>
          <p:cNvGrpSpPr>
            <a:grpSpLocks/>
          </p:cNvGrpSpPr>
          <p:nvPr/>
        </p:nvGrpSpPr>
        <p:grpSpPr bwMode="auto">
          <a:xfrm>
            <a:off x="1889125" y="3651250"/>
            <a:ext cx="5421313" cy="317500"/>
            <a:chOff x="1190" y="2300"/>
            <a:chExt cx="3415" cy="200"/>
          </a:xfrm>
        </p:grpSpPr>
        <p:sp>
          <p:nvSpPr>
            <p:cNvPr id="1402888" name="Line 8"/>
            <p:cNvSpPr>
              <a:spLocks noChangeShapeType="1"/>
            </p:cNvSpPr>
            <p:nvPr/>
          </p:nvSpPr>
          <p:spPr bwMode="auto">
            <a:xfrm flipH="1">
              <a:off x="1316" y="2400"/>
              <a:ext cx="3163" cy="1"/>
            </a:xfrm>
            <a:prstGeom prst="line">
              <a:avLst/>
            </a:prstGeom>
            <a:no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2889" name="Freeform 9"/>
            <p:cNvSpPr>
              <a:spLocks/>
            </p:cNvSpPr>
            <p:nvPr/>
          </p:nvSpPr>
          <p:spPr bwMode="auto">
            <a:xfrm>
              <a:off x="4447" y="2316"/>
              <a:ext cx="158" cy="184"/>
            </a:xfrm>
            <a:custGeom>
              <a:avLst/>
              <a:gdLst/>
              <a:ahLst/>
              <a:cxnLst>
                <a:cxn ang="0">
                  <a:pos x="0" y="184"/>
                </a:cxn>
                <a:cxn ang="0">
                  <a:pos x="158" y="84"/>
                </a:cxn>
                <a:cxn ang="0">
                  <a:pos x="0" y="0"/>
                </a:cxn>
                <a:cxn ang="0">
                  <a:pos x="0" y="184"/>
                </a:cxn>
              </a:cxnLst>
              <a:rect l="0" t="0" r="r" b="b"/>
              <a:pathLst>
                <a:path w="158" h="184">
                  <a:moveTo>
                    <a:pt x="0" y="184"/>
                  </a:moveTo>
                  <a:lnTo>
                    <a:pt x="158" y="84"/>
                  </a:lnTo>
                  <a:lnTo>
                    <a:pt x="0" y="0"/>
                  </a:lnTo>
                  <a:lnTo>
                    <a:pt x="0" y="184"/>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2890" name="Freeform 10"/>
            <p:cNvSpPr>
              <a:spLocks/>
            </p:cNvSpPr>
            <p:nvPr/>
          </p:nvSpPr>
          <p:spPr bwMode="auto">
            <a:xfrm>
              <a:off x="1190" y="2300"/>
              <a:ext cx="158" cy="184"/>
            </a:xfrm>
            <a:custGeom>
              <a:avLst/>
              <a:gdLst/>
              <a:ahLst/>
              <a:cxnLst>
                <a:cxn ang="0">
                  <a:pos x="158" y="0"/>
                </a:cxn>
                <a:cxn ang="0">
                  <a:pos x="0" y="100"/>
                </a:cxn>
                <a:cxn ang="0">
                  <a:pos x="158" y="184"/>
                </a:cxn>
                <a:cxn ang="0">
                  <a:pos x="158" y="0"/>
                </a:cxn>
              </a:cxnLst>
              <a:rect l="0" t="0" r="r" b="b"/>
              <a:pathLst>
                <a:path w="158" h="184">
                  <a:moveTo>
                    <a:pt x="158" y="0"/>
                  </a:moveTo>
                  <a:lnTo>
                    <a:pt x="0" y="100"/>
                  </a:lnTo>
                  <a:lnTo>
                    <a:pt x="158" y="184"/>
                  </a:lnTo>
                  <a:lnTo>
                    <a:pt x="158" y="0"/>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grpSp>
      <p:sp>
        <p:nvSpPr>
          <p:cNvPr id="1402891" name="Rectangle 11"/>
          <p:cNvSpPr>
            <a:spLocks noChangeArrowheads="1"/>
          </p:cNvSpPr>
          <p:nvPr/>
        </p:nvSpPr>
        <p:spPr bwMode="auto">
          <a:xfrm>
            <a:off x="3883025" y="3863975"/>
            <a:ext cx="558800" cy="365125"/>
          </a:xfrm>
          <a:prstGeom prst="rect">
            <a:avLst/>
          </a:prstGeom>
          <a:noFill/>
          <a:ln w="9525">
            <a:noFill/>
            <a:miter lim="800000"/>
            <a:headEnd/>
            <a:tailEnd/>
          </a:ln>
        </p:spPr>
        <p:txBody>
          <a:bodyPr wrap="none" lIns="0" tIns="0" rIns="0" bIns="0">
            <a:spAutoFit/>
          </a:bodyPr>
          <a:lstStyle/>
          <a:p>
            <a:pPr>
              <a:defRPr/>
            </a:pPr>
            <a:r>
              <a:rPr kumimoji="0" lang="en-US">
                <a:solidFill>
                  <a:srgbClr val="000000"/>
                </a:solidFill>
                <a:latin typeface="Times New Roman" pitchFamily="18" charset="0"/>
              </a:rPr>
              <a:t>start</a:t>
            </a:r>
            <a:endParaRPr lang="en-US" sz="2800" i="0">
              <a:effectLst>
                <a:outerShdw blurRad="38100" dist="38100" dir="2700000" algn="tl">
                  <a:srgbClr val="000000"/>
                </a:outerShdw>
              </a:effectLst>
            </a:endParaRPr>
          </a:p>
        </p:txBody>
      </p:sp>
      <p:sp>
        <p:nvSpPr>
          <p:cNvPr id="1402892" name="Freeform 12"/>
          <p:cNvSpPr>
            <a:spLocks/>
          </p:cNvSpPr>
          <p:nvPr/>
        </p:nvSpPr>
        <p:spPr bwMode="auto">
          <a:xfrm>
            <a:off x="3937000" y="3305175"/>
            <a:ext cx="625475" cy="504825"/>
          </a:xfrm>
          <a:custGeom>
            <a:avLst/>
            <a:gdLst/>
            <a:ahLst/>
            <a:cxnLst>
              <a:cxn ang="0">
                <a:pos x="0" y="301"/>
              </a:cxn>
              <a:cxn ang="0">
                <a:pos x="32" y="318"/>
              </a:cxn>
              <a:cxn ang="0">
                <a:pos x="63" y="234"/>
              </a:cxn>
              <a:cxn ang="0">
                <a:pos x="48" y="234"/>
              </a:cxn>
              <a:cxn ang="0">
                <a:pos x="48" y="251"/>
              </a:cxn>
              <a:cxn ang="0">
                <a:pos x="95" y="184"/>
              </a:cxn>
              <a:cxn ang="0">
                <a:pos x="95" y="184"/>
              </a:cxn>
              <a:cxn ang="0">
                <a:pos x="126" y="151"/>
              </a:cxn>
              <a:cxn ang="0">
                <a:pos x="158" y="117"/>
              </a:cxn>
              <a:cxn ang="0">
                <a:pos x="252" y="67"/>
              </a:cxn>
              <a:cxn ang="0">
                <a:pos x="331" y="34"/>
              </a:cxn>
              <a:cxn ang="0">
                <a:pos x="315" y="17"/>
              </a:cxn>
              <a:cxn ang="0">
                <a:pos x="315" y="34"/>
              </a:cxn>
              <a:cxn ang="0">
                <a:pos x="394" y="34"/>
              </a:cxn>
              <a:cxn ang="0">
                <a:pos x="394" y="0"/>
              </a:cxn>
              <a:cxn ang="0">
                <a:pos x="331" y="0"/>
              </a:cxn>
              <a:cxn ang="0">
                <a:pos x="315" y="0"/>
              </a:cxn>
              <a:cxn ang="0">
                <a:pos x="236" y="34"/>
              </a:cxn>
              <a:cxn ang="0">
                <a:pos x="142" y="84"/>
              </a:cxn>
              <a:cxn ang="0">
                <a:pos x="111" y="117"/>
              </a:cxn>
              <a:cxn ang="0">
                <a:pos x="79" y="168"/>
              </a:cxn>
              <a:cxn ang="0">
                <a:pos x="79" y="168"/>
              </a:cxn>
              <a:cxn ang="0">
                <a:pos x="79" y="151"/>
              </a:cxn>
              <a:cxn ang="0">
                <a:pos x="32" y="218"/>
              </a:cxn>
              <a:cxn ang="0">
                <a:pos x="32" y="234"/>
              </a:cxn>
              <a:cxn ang="0">
                <a:pos x="32" y="234"/>
              </a:cxn>
              <a:cxn ang="0">
                <a:pos x="0" y="301"/>
              </a:cxn>
            </a:cxnLst>
            <a:rect l="0" t="0" r="r" b="b"/>
            <a:pathLst>
              <a:path w="394" h="318">
                <a:moveTo>
                  <a:pt x="0" y="301"/>
                </a:moveTo>
                <a:lnTo>
                  <a:pt x="32" y="318"/>
                </a:lnTo>
                <a:lnTo>
                  <a:pt x="63" y="234"/>
                </a:lnTo>
                <a:lnTo>
                  <a:pt x="48" y="234"/>
                </a:lnTo>
                <a:lnTo>
                  <a:pt x="48" y="251"/>
                </a:lnTo>
                <a:lnTo>
                  <a:pt x="95" y="184"/>
                </a:lnTo>
                <a:lnTo>
                  <a:pt x="95" y="184"/>
                </a:lnTo>
                <a:lnTo>
                  <a:pt x="126" y="151"/>
                </a:lnTo>
                <a:lnTo>
                  <a:pt x="158" y="117"/>
                </a:lnTo>
                <a:lnTo>
                  <a:pt x="252" y="67"/>
                </a:lnTo>
                <a:lnTo>
                  <a:pt x="331" y="34"/>
                </a:lnTo>
                <a:lnTo>
                  <a:pt x="315" y="17"/>
                </a:lnTo>
                <a:lnTo>
                  <a:pt x="315" y="34"/>
                </a:lnTo>
                <a:lnTo>
                  <a:pt x="394" y="34"/>
                </a:lnTo>
                <a:lnTo>
                  <a:pt x="394" y="0"/>
                </a:lnTo>
                <a:lnTo>
                  <a:pt x="331" y="0"/>
                </a:lnTo>
                <a:lnTo>
                  <a:pt x="315" y="0"/>
                </a:lnTo>
                <a:lnTo>
                  <a:pt x="236" y="34"/>
                </a:lnTo>
                <a:lnTo>
                  <a:pt x="142" y="84"/>
                </a:lnTo>
                <a:lnTo>
                  <a:pt x="111" y="117"/>
                </a:lnTo>
                <a:lnTo>
                  <a:pt x="79" y="168"/>
                </a:lnTo>
                <a:lnTo>
                  <a:pt x="79" y="168"/>
                </a:lnTo>
                <a:lnTo>
                  <a:pt x="79" y="151"/>
                </a:lnTo>
                <a:lnTo>
                  <a:pt x="32" y="218"/>
                </a:lnTo>
                <a:lnTo>
                  <a:pt x="32" y="234"/>
                </a:lnTo>
                <a:lnTo>
                  <a:pt x="32" y="234"/>
                </a:lnTo>
                <a:lnTo>
                  <a:pt x="0" y="301"/>
                </a:lnTo>
                <a:close/>
              </a:path>
            </a:pathLst>
          </a:custGeom>
          <a:solidFill>
            <a:srgbClr val="C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2893" name="Rectangle 13"/>
          <p:cNvSpPr>
            <a:spLocks noChangeArrowheads="1"/>
          </p:cNvSpPr>
          <p:nvPr/>
        </p:nvSpPr>
        <p:spPr bwMode="auto">
          <a:xfrm>
            <a:off x="341313" y="2138363"/>
            <a:ext cx="3946525" cy="1141412"/>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2894" name="Rectangle 14"/>
          <p:cNvSpPr>
            <a:spLocks noChangeArrowheads="1"/>
          </p:cNvSpPr>
          <p:nvPr/>
        </p:nvSpPr>
        <p:spPr bwMode="auto">
          <a:xfrm>
            <a:off x="860425" y="2217738"/>
            <a:ext cx="3021013"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effectLst>
                  <a:outerShdw blurRad="38100" dist="38100" dir="2700000" algn="tl">
                    <a:srgbClr val="000000"/>
                  </a:outerShdw>
                </a:effectLst>
                <a:latin typeface="Arial" pitchFamily="34" charset="0"/>
              </a:rPr>
              <a:t>domain understanding</a:t>
            </a:r>
            <a:endParaRPr lang="en-US" i="0">
              <a:solidFill>
                <a:schemeClr val="tx1"/>
              </a:solidFill>
              <a:effectLst>
                <a:outerShdw blurRad="38100" dist="38100" dir="2700000" algn="tl">
                  <a:srgbClr val="000000"/>
                </a:outerShdw>
              </a:effectLst>
            </a:endParaRPr>
          </a:p>
        </p:txBody>
      </p:sp>
      <p:sp>
        <p:nvSpPr>
          <p:cNvPr id="1402895" name="Rectangle 15"/>
          <p:cNvSpPr>
            <a:spLocks noChangeArrowheads="1"/>
          </p:cNvSpPr>
          <p:nvPr/>
        </p:nvSpPr>
        <p:spPr bwMode="auto">
          <a:xfrm>
            <a:off x="1597025" y="2641600"/>
            <a:ext cx="1560513"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effectLst>
                  <a:outerShdw blurRad="38100" dist="38100" dir="2700000" algn="tl">
                    <a:srgbClr val="000000"/>
                  </a:outerShdw>
                </a:effectLst>
                <a:latin typeface="Arial" pitchFamily="34" charset="0"/>
              </a:rPr>
              <a:t>&amp; elicitation</a:t>
            </a:r>
            <a:endParaRPr lang="en-US" i="0">
              <a:effectLst>
                <a:outerShdw blurRad="38100" dist="38100" dir="2700000" algn="tl">
                  <a:srgbClr val="000000"/>
                </a:outerShdw>
              </a:effectLst>
            </a:endParaRPr>
          </a:p>
        </p:txBody>
      </p:sp>
      <p:sp>
        <p:nvSpPr>
          <p:cNvPr id="1402896" name="Rectangle 16"/>
          <p:cNvSpPr>
            <a:spLocks noChangeArrowheads="1"/>
          </p:cNvSpPr>
          <p:nvPr/>
        </p:nvSpPr>
        <p:spPr bwMode="auto">
          <a:xfrm>
            <a:off x="5635625" y="2163763"/>
            <a:ext cx="3248025" cy="1141412"/>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2897" name="Rectangle 17"/>
          <p:cNvSpPr>
            <a:spLocks noChangeArrowheads="1"/>
          </p:cNvSpPr>
          <p:nvPr/>
        </p:nvSpPr>
        <p:spPr bwMode="auto">
          <a:xfrm>
            <a:off x="2738438" y="1155700"/>
            <a:ext cx="4021137" cy="742950"/>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2898" name="Rectangle 18"/>
          <p:cNvSpPr>
            <a:spLocks noChangeArrowheads="1"/>
          </p:cNvSpPr>
          <p:nvPr/>
        </p:nvSpPr>
        <p:spPr bwMode="auto">
          <a:xfrm>
            <a:off x="3124200" y="1387475"/>
            <a:ext cx="3049588" cy="365125"/>
          </a:xfrm>
          <a:prstGeom prst="rect">
            <a:avLst/>
          </a:prstGeom>
          <a:noFill/>
          <a:ln w="9525">
            <a:noFill/>
            <a:miter lim="800000"/>
            <a:headEnd/>
            <a:tailEnd/>
          </a:ln>
        </p:spPr>
        <p:txBody>
          <a:bodyPr wrap="none" lIns="0" tIns="0" rIns="0" bIns="0">
            <a:spAutoFit/>
          </a:bodyPr>
          <a:lstStyle/>
          <a:p>
            <a:pPr>
              <a:defRPr/>
            </a:pPr>
            <a:r>
              <a:rPr kumimoji="0" lang="en-US" dirty="0">
                <a:solidFill>
                  <a:srgbClr val="0000FF"/>
                </a:solidFill>
                <a:latin typeface="Times New Roman" pitchFamily="18" charset="0"/>
              </a:rPr>
              <a:t> </a:t>
            </a:r>
            <a:r>
              <a:rPr kumimoji="0" lang="en-US" dirty="0">
                <a:solidFill>
                  <a:srgbClr val="009999"/>
                </a:solidFill>
                <a:effectLst>
                  <a:outerShdw blurRad="38100" dist="38100" dir="2700000" algn="tl">
                    <a:srgbClr val="000000"/>
                  </a:outerShdw>
                </a:effectLst>
                <a:latin typeface="Comic Sans MS" pitchFamily="66" charset="0"/>
              </a:rPr>
              <a:t>alternative proposals</a:t>
            </a:r>
            <a:endParaRPr lang="en-US" i="0" dirty="0">
              <a:effectLst>
                <a:outerShdw blurRad="38100" dist="38100" dir="2700000" algn="tl">
                  <a:srgbClr val="000000"/>
                </a:outerShdw>
              </a:effectLst>
            </a:endParaRPr>
          </a:p>
        </p:txBody>
      </p:sp>
      <p:sp>
        <p:nvSpPr>
          <p:cNvPr id="1402899" name="Rectangle 19"/>
          <p:cNvSpPr>
            <a:spLocks noChangeArrowheads="1"/>
          </p:cNvSpPr>
          <p:nvPr/>
        </p:nvSpPr>
        <p:spPr bwMode="auto">
          <a:xfrm>
            <a:off x="5910263" y="3863975"/>
            <a:ext cx="2698750" cy="1166813"/>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2900" name="Rectangle 20"/>
          <p:cNvSpPr>
            <a:spLocks noChangeArrowheads="1"/>
          </p:cNvSpPr>
          <p:nvPr/>
        </p:nvSpPr>
        <p:spPr bwMode="auto">
          <a:xfrm>
            <a:off x="2463800" y="5959475"/>
            <a:ext cx="4321175" cy="769938"/>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2901" name="Rectangle 21"/>
          <p:cNvSpPr>
            <a:spLocks noChangeArrowheads="1"/>
          </p:cNvSpPr>
          <p:nvPr/>
        </p:nvSpPr>
        <p:spPr bwMode="auto">
          <a:xfrm>
            <a:off x="465138" y="3863975"/>
            <a:ext cx="2573337" cy="1166813"/>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2902" name="Rectangle 22"/>
          <p:cNvSpPr>
            <a:spLocks noChangeArrowheads="1"/>
          </p:cNvSpPr>
          <p:nvPr/>
        </p:nvSpPr>
        <p:spPr bwMode="auto">
          <a:xfrm>
            <a:off x="5535613" y="4951413"/>
            <a:ext cx="3248025" cy="1141412"/>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2903" name="Oval 23"/>
          <p:cNvSpPr>
            <a:spLocks noChangeArrowheads="1"/>
          </p:cNvSpPr>
          <p:nvPr/>
        </p:nvSpPr>
        <p:spPr bwMode="auto">
          <a:xfrm>
            <a:off x="3862388" y="3651250"/>
            <a:ext cx="274637" cy="265113"/>
          </a:xfrm>
          <a:prstGeom prst="ellipse">
            <a:avLst/>
          </a:prstGeom>
          <a:solidFill>
            <a:srgbClr val="000000"/>
          </a:solid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en-US" altLang="en-US" smtClean="0"/>
              <a:t>Domain understanding</a:t>
            </a:r>
          </a:p>
        </p:txBody>
      </p:sp>
      <p:sp>
        <p:nvSpPr>
          <p:cNvPr id="1416195" name="Rectangle 3"/>
          <p:cNvSpPr>
            <a:spLocks noGrp="1" noChangeArrowheads="1"/>
          </p:cNvSpPr>
          <p:nvPr>
            <p:ph idx="1"/>
          </p:nvPr>
        </p:nvSpPr>
        <p:spPr/>
        <p:txBody>
          <a:bodyPr>
            <a:normAutofit/>
          </a:bodyPr>
          <a:lstStyle/>
          <a:p>
            <a:r>
              <a:rPr lang="fr-FR" dirty="0" err="1" smtClean="0"/>
              <a:t>Studying</a:t>
            </a:r>
            <a:r>
              <a:rPr lang="fr-FR" dirty="0" smtClean="0"/>
              <a:t> the system-as-</a:t>
            </a:r>
            <a:r>
              <a:rPr lang="fr-FR" dirty="0" err="1" smtClean="0"/>
              <a:t>is</a:t>
            </a:r>
            <a:endParaRPr lang="fr-FR" dirty="0" smtClean="0"/>
          </a:p>
          <a:p>
            <a:pPr lvl="1"/>
            <a:r>
              <a:rPr lang="fr-FR" dirty="0" smtClean="0"/>
              <a:t>Business </a:t>
            </a:r>
            <a:r>
              <a:rPr lang="fr-FR" dirty="0" err="1" smtClean="0"/>
              <a:t>organization</a:t>
            </a:r>
            <a:r>
              <a:rPr lang="fr-FR" dirty="0" smtClean="0"/>
              <a:t>: structure, </a:t>
            </a:r>
            <a:r>
              <a:rPr lang="fr-FR" dirty="0" err="1" smtClean="0"/>
              <a:t>dependencies</a:t>
            </a:r>
            <a:r>
              <a:rPr lang="fr-FR" dirty="0" smtClean="0"/>
              <a:t>, </a:t>
            </a:r>
            <a:r>
              <a:rPr lang="fr-FR" dirty="0" err="1" smtClean="0"/>
              <a:t>strategic</a:t>
            </a:r>
            <a:r>
              <a:rPr lang="fr-FR" dirty="0" smtClean="0"/>
              <a:t> objectives, </a:t>
            </a:r>
            <a:r>
              <a:rPr lang="fr-FR" dirty="0" err="1" smtClean="0"/>
              <a:t>policies</a:t>
            </a:r>
            <a:r>
              <a:rPr lang="fr-FR" dirty="0" smtClean="0"/>
              <a:t>, </a:t>
            </a:r>
            <a:r>
              <a:rPr lang="fr-FR" dirty="0" err="1" smtClean="0"/>
              <a:t>workflows</a:t>
            </a:r>
            <a:r>
              <a:rPr lang="fr-FR" dirty="0" smtClean="0"/>
              <a:t>, </a:t>
            </a:r>
            <a:r>
              <a:rPr lang="fr-FR" dirty="0" err="1" smtClean="0"/>
              <a:t>operational</a:t>
            </a:r>
            <a:r>
              <a:rPr lang="fr-FR" dirty="0" smtClean="0"/>
              <a:t> </a:t>
            </a:r>
            <a:r>
              <a:rPr lang="fr-FR" dirty="0" err="1" smtClean="0"/>
              <a:t>procedures</a:t>
            </a:r>
            <a:r>
              <a:rPr lang="fr-FR" dirty="0" smtClean="0"/>
              <a:t>, ...</a:t>
            </a:r>
          </a:p>
          <a:p>
            <a:pPr lvl="1"/>
            <a:r>
              <a:rPr lang="fr-FR" dirty="0" smtClean="0"/>
              <a:t>Application </a:t>
            </a:r>
            <a:r>
              <a:rPr lang="fr-FR" dirty="0" err="1" smtClean="0"/>
              <a:t>domain</a:t>
            </a:r>
            <a:r>
              <a:rPr lang="fr-FR" dirty="0" smtClean="0"/>
              <a:t>: concepts, objectives, </a:t>
            </a:r>
            <a:r>
              <a:rPr lang="fr-FR" dirty="0" err="1" smtClean="0"/>
              <a:t>tasks</a:t>
            </a:r>
            <a:r>
              <a:rPr lang="fr-FR" dirty="0" smtClean="0"/>
              <a:t>, </a:t>
            </a:r>
            <a:r>
              <a:rPr lang="fr-FR" dirty="0" err="1" smtClean="0"/>
              <a:t>constraints</a:t>
            </a:r>
            <a:r>
              <a:rPr lang="fr-FR" dirty="0" smtClean="0"/>
              <a:t>, </a:t>
            </a:r>
            <a:r>
              <a:rPr lang="fr-FR" dirty="0" err="1" smtClean="0"/>
              <a:t>regulations</a:t>
            </a:r>
            <a:r>
              <a:rPr lang="fr-FR" dirty="0" smtClean="0"/>
              <a:t>, ...   </a:t>
            </a:r>
          </a:p>
          <a:p>
            <a:pPr lvl="1"/>
            <a:r>
              <a:rPr lang="fr-FR" dirty="0" err="1" smtClean="0"/>
              <a:t>Strengths</a:t>
            </a:r>
            <a:r>
              <a:rPr lang="fr-FR" dirty="0" smtClean="0"/>
              <a:t> &amp; </a:t>
            </a:r>
            <a:r>
              <a:rPr lang="fr-FR" dirty="0" err="1" smtClean="0"/>
              <a:t>weaknesses</a:t>
            </a:r>
            <a:r>
              <a:rPr lang="fr-FR" dirty="0" smtClean="0"/>
              <a:t> of the system-as-</a:t>
            </a:r>
            <a:r>
              <a:rPr lang="fr-FR" dirty="0" err="1" smtClean="0"/>
              <a:t>is</a:t>
            </a:r>
            <a:r>
              <a:rPr lang="fr-FR" dirty="0" smtClean="0"/>
              <a:t> </a:t>
            </a:r>
          </a:p>
          <a:p>
            <a:r>
              <a:rPr lang="fr-FR" dirty="0" err="1" smtClean="0"/>
              <a:t>Identifying</a:t>
            </a:r>
            <a:r>
              <a:rPr lang="fr-FR" dirty="0" smtClean="0"/>
              <a:t> the system </a:t>
            </a:r>
            <a:r>
              <a:rPr lang="fr-FR" dirty="0" err="1" smtClean="0"/>
              <a:t>stakeholders</a:t>
            </a:r>
            <a:r>
              <a:rPr lang="fr-FR" dirty="0" smtClean="0"/>
              <a:t>:</a:t>
            </a:r>
          </a:p>
          <a:p>
            <a:pPr lvl="1"/>
            <a:r>
              <a:rPr lang="fr-FR" dirty="0" smtClean="0"/>
              <a:t>Groups or </a:t>
            </a:r>
            <a:r>
              <a:rPr lang="fr-FR" dirty="0" err="1" smtClean="0"/>
              <a:t>individuals</a:t>
            </a:r>
            <a:r>
              <a:rPr lang="fr-FR" dirty="0" smtClean="0"/>
              <a:t> </a:t>
            </a:r>
            <a:r>
              <a:rPr lang="fr-FR" dirty="0" err="1" smtClean="0"/>
              <a:t>affected</a:t>
            </a:r>
            <a:r>
              <a:rPr lang="fr-FR" dirty="0" smtClean="0"/>
              <a:t> by the system-to-</a:t>
            </a:r>
            <a:r>
              <a:rPr lang="fr-FR" dirty="0" err="1" smtClean="0"/>
              <a:t>be</a:t>
            </a:r>
            <a:r>
              <a:rPr lang="fr-FR" dirty="0" smtClean="0"/>
              <a:t>, </a:t>
            </a:r>
            <a:r>
              <a:rPr lang="fr-FR" dirty="0" err="1" smtClean="0"/>
              <a:t>who</a:t>
            </a:r>
            <a:r>
              <a:rPr lang="fr-FR" dirty="0" smtClean="0"/>
              <a:t> </a:t>
            </a:r>
            <a:r>
              <a:rPr lang="fr-FR" dirty="0" err="1" smtClean="0"/>
              <a:t>may</a:t>
            </a:r>
            <a:r>
              <a:rPr lang="fr-FR" dirty="0" smtClean="0"/>
              <a:t> influence </a:t>
            </a:r>
            <a:r>
              <a:rPr lang="fr-FR" dirty="0" err="1" smtClean="0"/>
              <a:t>its</a:t>
            </a:r>
            <a:r>
              <a:rPr lang="fr-FR" dirty="0" smtClean="0"/>
              <a:t> </a:t>
            </a:r>
            <a:r>
              <a:rPr lang="fr-FR" dirty="0" err="1" smtClean="0"/>
              <a:t>elaboration</a:t>
            </a:r>
            <a:r>
              <a:rPr lang="fr-FR" dirty="0" smtClean="0"/>
              <a:t> and </a:t>
            </a:r>
            <a:r>
              <a:rPr lang="fr-FR" dirty="0" err="1" smtClean="0"/>
              <a:t>its</a:t>
            </a:r>
            <a:r>
              <a:rPr lang="fr-FR" dirty="0" smtClean="0"/>
              <a:t> </a:t>
            </a:r>
            <a:r>
              <a:rPr lang="fr-FR" dirty="0" err="1" smtClean="0"/>
              <a:t>acceptance</a:t>
            </a:r>
            <a:endParaRPr lang="fr-FR" dirty="0" smtClean="0"/>
          </a:p>
          <a:p>
            <a:pPr lvl="1"/>
            <a:r>
              <a:rPr lang="en-US" altLang="en-US" dirty="0" smtClean="0"/>
              <a:t>Decision makers, managers, domain experts, users, clients, subcontractors, analysts, developers, ...</a:t>
            </a:r>
            <a:endParaRPr lang="fr-FR" dirty="0" smtClean="0"/>
          </a:p>
          <a:p>
            <a:r>
              <a:rPr lang="fr-FR" dirty="0" smtClean="0"/>
              <a:t> </a:t>
            </a:r>
            <a:r>
              <a:rPr lang="fr-FR" dirty="0" err="1" smtClean="0"/>
              <a:t>Products</a:t>
            </a:r>
            <a:r>
              <a:rPr lang="fr-FR" dirty="0" smtClean="0"/>
              <a:t>:  Initial sections for </a:t>
            </a:r>
            <a:r>
              <a:rPr lang="fr-FR" dirty="0" err="1" smtClean="0"/>
              <a:t>preliminary</a:t>
            </a:r>
            <a:r>
              <a:rPr lang="fr-FR" dirty="0" smtClean="0"/>
              <a:t> </a:t>
            </a:r>
            <a:r>
              <a:rPr lang="fr-FR" dirty="0" err="1" smtClean="0"/>
              <a:t>draft</a:t>
            </a:r>
            <a:r>
              <a:rPr lang="fr-FR" dirty="0" smtClean="0"/>
              <a:t> </a:t>
            </a:r>
            <a:r>
              <a:rPr lang="fr-FR" dirty="0" err="1" smtClean="0"/>
              <a:t>proposal</a:t>
            </a:r>
            <a:r>
              <a:rPr lang="fr-FR" dirty="0" smtClean="0"/>
              <a:t> and </a:t>
            </a:r>
            <a:r>
              <a:rPr lang="fr-FR" dirty="0" err="1" smtClean="0"/>
              <a:t>Glossary</a:t>
            </a:r>
            <a:r>
              <a:rPr lang="fr-FR" dirty="0" smtClean="0"/>
              <a:t> of </a:t>
            </a:r>
            <a:r>
              <a:rPr lang="fr-FR" dirty="0" err="1" smtClean="0"/>
              <a:t>terms</a:t>
            </a:r>
            <a:endParaRPr lang="fr-FR" dirty="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smtClean="0"/>
              <a:t>Requirements elicitation</a:t>
            </a:r>
          </a:p>
        </p:txBody>
      </p:sp>
      <p:sp>
        <p:nvSpPr>
          <p:cNvPr id="1417219" name="Rectangle 3"/>
          <p:cNvSpPr>
            <a:spLocks noGrp="1" noChangeArrowheads="1"/>
          </p:cNvSpPr>
          <p:nvPr>
            <p:ph idx="1"/>
          </p:nvPr>
        </p:nvSpPr>
        <p:spPr/>
        <p:txBody>
          <a:bodyPr>
            <a:normAutofit/>
          </a:bodyPr>
          <a:lstStyle/>
          <a:p>
            <a:r>
              <a:rPr lang="fr-FR" dirty="0" err="1" smtClean="0"/>
              <a:t>Exploring</a:t>
            </a:r>
            <a:r>
              <a:rPr lang="fr-FR" dirty="0" smtClean="0"/>
              <a:t> the </a:t>
            </a:r>
            <a:r>
              <a:rPr lang="fr-FR" dirty="0" err="1" smtClean="0"/>
              <a:t>problem</a:t>
            </a:r>
            <a:r>
              <a:rPr lang="fr-FR" dirty="0" smtClean="0"/>
              <a:t> world ...</a:t>
            </a:r>
          </a:p>
          <a:p>
            <a:pPr lvl="1"/>
            <a:r>
              <a:rPr lang="fr-FR" dirty="0" err="1" smtClean="0"/>
              <a:t>Further</a:t>
            </a:r>
            <a:r>
              <a:rPr lang="fr-FR" dirty="0" smtClean="0"/>
              <a:t> </a:t>
            </a:r>
            <a:r>
              <a:rPr lang="fr-FR" dirty="0" err="1" smtClean="0"/>
              <a:t>analysis</a:t>
            </a:r>
            <a:r>
              <a:rPr lang="fr-FR" dirty="0" smtClean="0"/>
              <a:t> of </a:t>
            </a:r>
            <a:r>
              <a:rPr lang="fr-FR" dirty="0" err="1" smtClean="0"/>
              <a:t>problems</a:t>
            </a:r>
            <a:r>
              <a:rPr lang="fr-FR" dirty="0" smtClean="0"/>
              <a:t> </a:t>
            </a:r>
            <a:r>
              <a:rPr lang="fr-FR" dirty="0" err="1" smtClean="0"/>
              <a:t>with</a:t>
            </a:r>
            <a:r>
              <a:rPr lang="fr-FR" dirty="0" smtClean="0"/>
              <a:t> system-as-</a:t>
            </a:r>
            <a:r>
              <a:rPr lang="fr-FR" dirty="0" err="1" smtClean="0"/>
              <a:t>is</a:t>
            </a:r>
            <a:r>
              <a:rPr lang="fr-FR" dirty="0" smtClean="0"/>
              <a:t>: </a:t>
            </a:r>
            <a:r>
              <a:rPr lang="fr-FR" dirty="0" err="1" smtClean="0"/>
              <a:t>symptoms</a:t>
            </a:r>
            <a:r>
              <a:rPr lang="fr-FR" dirty="0" smtClean="0"/>
              <a:t>, causes, </a:t>
            </a:r>
            <a:r>
              <a:rPr lang="fr-FR" dirty="0" err="1" smtClean="0"/>
              <a:t>consequences</a:t>
            </a:r>
            <a:endParaRPr lang="fr-FR" dirty="0" smtClean="0"/>
          </a:p>
          <a:p>
            <a:r>
              <a:rPr lang="fr-FR" dirty="0" err="1" smtClean="0"/>
              <a:t>Analysis</a:t>
            </a:r>
            <a:r>
              <a:rPr lang="fr-FR" dirty="0" smtClean="0"/>
              <a:t> of </a:t>
            </a:r>
            <a:r>
              <a:rPr lang="fr-FR" dirty="0" err="1" smtClean="0"/>
              <a:t>technology</a:t>
            </a:r>
            <a:r>
              <a:rPr lang="fr-FR" dirty="0" smtClean="0"/>
              <a:t> </a:t>
            </a:r>
            <a:r>
              <a:rPr lang="fr-FR" dirty="0" err="1" smtClean="0"/>
              <a:t>opportunities</a:t>
            </a:r>
            <a:r>
              <a:rPr lang="fr-FR" dirty="0" smtClean="0"/>
              <a:t>, new </a:t>
            </a:r>
            <a:r>
              <a:rPr lang="fr-FR" dirty="0" err="1" smtClean="0"/>
              <a:t>market</a:t>
            </a:r>
            <a:r>
              <a:rPr lang="fr-FR" dirty="0" smtClean="0"/>
              <a:t> conditions</a:t>
            </a:r>
          </a:p>
          <a:p>
            <a:r>
              <a:rPr lang="fr-FR" dirty="0" smtClean="0"/>
              <a:t>Identification of ...</a:t>
            </a:r>
          </a:p>
          <a:p>
            <a:pPr lvl="1"/>
            <a:r>
              <a:rPr lang="fr-FR" dirty="0" err="1" smtClean="0"/>
              <a:t>improvement</a:t>
            </a:r>
            <a:r>
              <a:rPr lang="fr-FR" dirty="0" smtClean="0"/>
              <a:t> objectives</a:t>
            </a:r>
          </a:p>
          <a:p>
            <a:pPr lvl="1"/>
            <a:r>
              <a:rPr lang="fr-FR" dirty="0" err="1" smtClean="0"/>
              <a:t>organizational</a:t>
            </a:r>
            <a:r>
              <a:rPr lang="fr-FR" dirty="0" smtClean="0"/>
              <a:t>/</a:t>
            </a:r>
            <a:r>
              <a:rPr lang="fr-FR" dirty="0" err="1" smtClean="0"/>
              <a:t>technical</a:t>
            </a:r>
            <a:r>
              <a:rPr lang="fr-FR" dirty="0" smtClean="0"/>
              <a:t> </a:t>
            </a:r>
            <a:r>
              <a:rPr lang="fr-FR" dirty="0" err="1" smtClean="0"/>
              <a:t>constraints</a:t>
            </a:r>
            <a:r>
              <a:rPr lang="fr-FR" dirty="0" smtClean="0"/>
              <a:t> on system-to-</a:t>
            </a:r>
            <a:r>
              <a:rPr lang="fr-FR" dirty="0" err="1" smtClean="0"/>
              <a:t>be</a:t>
            </a:r>
            <a:endParaRPr lang="fr-FR" dirty="0" smtClean="0"/>
          </a:p>
          <a:p>
            <a:pPr lvl="1"/>
            <a:r>
              <a:rPr lang="fr-FR" dirty="0" smtClean="0"/>
              <a:t>alternative options for </a:t>
            </a:r>
            <a:r>
              <a:rPr lang="fr-FR" dirty="0" err="1" smtClean="0"/>
              <a:t>satisfying</a:t>
            </a:r>
            <a:r>
              <a:rPr lang="fr-FR" dirty="0" smtClean="0"/>
              <a:t> objectives, for </a:t>
            </a:r>
            <a:r>
              <a:rPr lang="fr-FR" dirty="0" err="1" smtClean="0"/>
              <a:t>assigning</a:t>
            </a:r>
            <a:r>
              <a:rPr lang="fr-FR" dirty="0" smtClean="0"/>
              <a:t> </a:t>
            </a:r>
            <a:r>
              <a:rPr lang="fr-FR" dirty="0" err="1" smtClean="0"/>
              <a:t>responsibilities</a:t>
            </a:r>
            <a:endParaRPr lang="fr-FR" dirty="0" smtClean="0"/>
          </a:p>
          <a:p>
            <a:pPr lvl="1"/>
            <a:r>
              <a:rPr lang="fr-FR" dirty="0" smtClean="0"/>
              <a:t>scenarios of </a:t>
            </a:r>
            <a:r>
              <a:rPr lang="fr-FR" dirty="0" err="1" smtClean="0"/>
              <a:t>hypothetical</a:t>
            </a:r>
            <a:r>
              <a:rPr lang="fr-FR" dirty="0" smtClean="0"/>
              <a:t> software-</a:t>
            </a:r>
            <a:r>
              <a:rPr lang="fr-FR" dirty="0" err="1" smtClean="0"/>
              <a:t>environment</a:t>
            </a:r>
            <a:r>
              <a:rPr lang="fr-FR" dirty="0" smtClean="0"/>
              <a:t> interaction</a:t>
            </a:r>
          </a:p>
          <a:p>
            <a:pPr lvl="1"/>
            <a:r>
              <a:rPr lang="fr-FR" dirty="0" err="1" smtClean="0"/>
              <a:t>requirements</a:t>
            </a:r>
            <a:r>
              <a:rPr lang="fr-FR" dirty="0" smtClean="0"/>
              <a:t> on software, </a:t>
            </a:r>
            <a:r>
              <a:rPr lang="fr-FR" dirty="0" err="1" smtClean="0"/>
              <a:t>assumptions</a:t>
            </a:r>
            <a:r>
              <a:rPr lang="fr-FR" dirty="0" smtClean="0"/>
              <a:t> on </a:t>
            </a:r>
            <a:r>
              <a:rPr lang="fr-FR" dirty="0" err="1" smtClean="0"/>
              <a:t>environment</a:t>
            </a:r>
            <a:endParaRPr lang="fr-FR" dirty="0" smtClean="0"/>
          </a:p>
          <a:p>
            <a:r>
              <a:rPr lang="fr-FR" dirty="0" smtClean="0"/>
              <a:t> Product: </a:t>
            </a:r>
            <a:r>
              <a:rPr lang="fr-FR" dirty="0" err="1" smtClean="0"/>
              <a:t>Additional</a:t>
            </a:r>
            <a:r>
              <a:rPr lang="fr-FR" dirty="0" smtClean="0"/>
              <a:t> sections for </a:t>
            </a:r>
            <a:r>
              <a:rPr lang="fr-FR" dirty="0" err="1" smtClean="0"/>
              <a:t>preliminary</a:t>
            </a:r>
            <a:r>
              <a:rPr lang="fr-FR" dirty="0" smtClean="0"/>
              <a:t> </a:t>
            </a:r>
            <a:r>
              <a:rPr lang="fr-FR" dirty="0" err="1" smtClean="0"/>
              <a:t>draft</a:t>
            </a:r>
            <a:r>
              <a:rPr lang="fr-FR" dirty="0" smtClean="0"/>
              <a:t> </a:t>
            </a:r>
            <a:r>
              <a:rPr lang="fr-FR" dirty="0" err="1" smtClean="0"/>
              <a:t>proposal</a:t>
            </a:r>
            <a:endParaRPr lang="fr-FR"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859155" y="270066"/>
            <a:ext cx="7406640" cy="1356360"/>
          </a:xfrm>
        </p:spPr>
        <p:txBody>
          <a:bodyPr/>
          <a:lstStyle/>
          <a:p>
            <a:r>
              <a:rPr lang="en-US" altLang="en-US" dirty="0" smtClean="0"/>
              <a:t>The RE process  </a:t>
            </a:r>
            <a:r>
              <a:rPr lang="en-US" altLang="en-US" sz="2000" dirty="0" smtClean="0"/>
              <a:t>(2)</a:t>
            </a:r>
          </a:p>
        </p:txBody>
      </p:sp>
      <p:grpSp>
        <p:nvGrpSpPr>
          <p:cNvPr id="2" name="Group 3"/>
          <p:cNvGrpSpPr>
            <a:grpSpLocks/>
          </p:cNvGrpSpPr>
          <p:nvPr/>
        </p:nvGrpSpPr>
        <p:grpSpPr bwMode="auto">
          <a:xfrm>
            <a:off x="4411663" y="1792288"/>
            <a:ext cx="300037" cy="4141787"/>
            <a:chOff x="2779" y="1129"/>
            <a:chExt cx="189" cy="2609"/>
          </a:xfrm>
        </p:grpSpPr>
        <p:sp>
          <p:nvSpPr>
            <p:cNvPr id="1403908" name="Line 4"/>
            <p:cNvSpPr>
              <a:spLocks noChangeShapeType="1"/>
            </p:cNvSpPr>
            <p:nvPr/>
          </p:nvSpPr>
          <p:spPr bwMode="auto">
            <a:xfrm>
              <a:off x="2874" y="1263"/>
              <a:ext cx="1" cy="2341"/>
            </a:xfrm>
            <a:prstGeom prst="line">
              <a:avLst/>
            </a:prstGeom>
            <a:no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3909" name="Freeform 5"/>
            <p:cNvSpPr>
              <a:spLocks/>
            </p:cNvSpPr>
            <p:nvPr/>
          </p:nvSpPr>
          <p:spPr bwMode="auto">
            <a:xfrm>
              <a:off x="2795" y="1129"/>
              <a:ext cx="173" cy="168"/>
            </a:xfrm>
            <a:custGeom>
              <a:avLst/>
              <a:gdLst/>
              <a:ahLst/>
              <a:cxnLst>
                <a:cxn ang="0">
                  <a:pos x="173" y="168"/>
                </a:cxn>
                <a:cxn ang="0">
                  <a:pos x="79" y="0"/>
                </a:cxn>
                <a:cxn ang="0">
                  <a:pos x="0" y="168"/>
                </a:cxn>
                <a:cxn ang="0">
                  <a:pos x="173" y="168"/>
                </a:cxn>
              </a:cxnLst>
              <a:rect l="0" t="0" r="r" b="b"/>
              <a:pathLst>
                <a:path w="173" h="168">
                  <a:moveTo>
                    <a:pt x="173" y="168"/>
                  </a:moveTo>
                  <a:lnTo>
                    <a:pt x="79" y="0"/>
                  </a:lnTo>
                  <a:lnTo>
                    <a:pt x="0" y="168"/>
                  </a:lnTo>
                  <a:lnTo>
                    <a:pt x="173" y="168"/>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3910" name="Freeform 6"/>
            <p:cNvSpPr>
              <a:spLocks/>
            </p:cNvSpPr>
            <p:nvPr/>
          </p:nvSpPr>
          <p:spPr bwMode="auto">
            <a:xfrm>
              <a:off x="2779" y="3570"/>
              <a:ext cx="173" cy="168"/>
            </a:xfrm>
            <a:custGeom>
              <a:avLst/>
              <a:gdLst/>
              <a:ahLst/>
              <a:cxnLst>
                <a:cxn ang="0">
                  <a:pos x="0" y="0"/>
                </a:cxn>
                <a:cxn ang="0">
                  <a:pos x="95" y="168"/>
                </a:cxn>
                <a:cxn ang="0">
                  <a:pos x="173" y="0"/>
                </a:cxn>
                <a:cxn ang="0">
                  <a:pos x="0" y="0"/>
                </a:cxn>
              </a:cxnLst>
              <a:rect l="0" t="0" r="r" b="b"/>
              <a:pathLst>
                <a:path w="173" h="168">
                  <a:moveTo>
                    <a:pt x="0" y="0"/>
                  </a:moveTo>
                  <a:lnTo>
                    <a:pt x="95" y="168"/>
                  </a:lnTo>
                  <a:lnTo>
                    <a:pt x="173" y="0"/>
                  </a:lnTo>
                  <a:lnTo>
                    <a:pt x="0" y="0"/>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grpSp>
      <p:grpSp>
        <p:nvGrpSpPr>
          <p:cNvPr id="3" name="Group 7"/>
          <p:cNvGrpSpPr>
            <a:grpSpLocks/>
          </p:cNvGrpSpPr>
          <p:nvPr/>
        </p:nvGrpSpPr>
        <p:grpSpPr bwMode="auto">
          <a:xfrm>
            <a:off x="1889125" y="3651250"/>
            <a:ext cx="5421313" cy="317500"/>
            <a:chOff x="1190" y="2300"/>
            <a:chExt cx="3415" cy="200"/>
          </a:xfrm>
        </p:grpSpPr>
        <p:sp>
          <p:nvSpPr>
            <p:cNvPr id="1403912" name="Line 8"/>
            <p:cNvSpPr>
              <a:spLocks noChangeShapeType="1"/>
            </p:cNvSpPr>
            <p:nvPr/>
          </p:nvSpPr>
          <p:spPr bwMode="auto">
            <a:xfrm flipH="1">
              <a:off x="1316" y="2400"/>
              <a:ext cx="3163" cy="1"/>
            </a:xfrm>
            <a:prstGeom prst="line">
              <a:avLst/>
            </a:prstGeom>
            <a:no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3913" name="Freeform 9"/>
            <p:cNvSpPr>
              <a:spLocks/>
            </p:cNvSpPr>
            <p:nvPr/>
          </p:nvSpPr>
          <p:spPr bwMode="auto">
            <a:xfrm>
              <a:off x="4447" y="2316"/>
              <a:ext cx="158" cy="184"/>
            </a:xfrm>
            <a:custGeom>
              <a:avLst/>
              <a:gdLst/>
              <a:ahLst/>
              <a:cxnLst>
                <a:cxn ang="0">
                  <a:pos x="0" y="184"/>
                </a:cxn>
                <a:cxn ang="0">
                  <a:pos x="158" y="84"/>
                </a:cxn>
                <a:cxn ang="0">
                  <a:pos x="0" y="0"/>
                </a:cxn>
                <a:cxn ang="0">
                  <a:pos x="0" y="184"/>
                </a:cxn>
              </a:cxnLst>
              <a:rect l="0" t="0" r="r" b="b"/>
              <a:pathLst>
                <a:path w="158" h="184">
                  <a:moveTo>
                    <a:pt x="0" y="184"/>
                  </a:moveTo>
                  <a:lnTo>
                    <a:pt x="158" y="84"/>
                  </a:lnTo>
                  <a:lnTo>
                    <a:pt x="0" y="0"/>
                  </a:lnTo>
                  <a:lnTo>
                    <a:pt x="0" y="184"/>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3914" name="Freeform 10"/>
            <p:cNvSpPr>
              <a:spLocks/>
            </p:cNvSpPr>
            <p:nvPr/>
          </p:nvSpPr>
          <p:spPr bwMode="auto">
            <a:xfrm>
              <a:off x="1190" y="2300"/>
              <a:ext cx="158" cy="184"/>
            </a:xfrm>
            <a:custGeom>
              <a:avLst/>
              <a:gdLst/>
              <a:ahLst/>
              <a:cxnLst>
                <a:cxn ang="0">
                  <a:pos x="158" y="0"/>
                </a:cxn>
                <a:cxn ang="0">
                  <a:pos x="0" y="100"/>
                </a:cxn>
                <a:cxn ang="0">
                  <a:pos x="158" y="184"/>
                </a:cxn>
                <a:cxn ang="0">
                  <a:pos x="158" y="0"/>
                </a:cxn>
              </a:cxnLst>
              <a:rect l="0" t="0" r="r" b="b"/>
              <a:pathLst>
                <a:path w="158" h="184">
                  <a:moveTo>
                    <a:pt x="158" y="0"/>
                  </a:moveTo>
                  <a:lnTo>
                    <a:pt x="0" y="100"/>
                  </a:lnTo>
                  <a:lnTo>
                    <a:pt x="158" y="184"/>
                  </a:lnTo>
                  <a:lnTo>
                    <a:pt x="158" y="0"/>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grpSp>
      <p:sp>
        <p:nvSpPr>
          <p:cNvPr id="1403915" name="Rectangle 11"/>
          <p:cNvSpPr>
            <a:spLocks noChangeArrowheads="1"/>
          </p:cNvSpPr>
          <p:nvPr/>
        </p:nvSpPr>
        <p:spPr bwMode="auto">
          <a:xfrm>
            <a:off x="3883025" y="3863975"/>
            <a:ext cx="558800" cy="365125"/>
          </a:xfrm>
          <a:prstGeom prst="rect">
            <a:avLst/>
          </a:prstGeom>
          <a:noFill/>
          <a:ln w="9525">
            <a:noFill/>
            <a:miter lim="800000"/>
            <a:headEnd/>
            <a:tailEnd/>
          </a:ln>
        </p:spPr>
        <p:txBody>
          <a:bodyPr wrap="none" lIns="0" tIns="0" rIns="0" bIns="0">
            <a:spAutoFit/>
          </a:bodyPr>
          <a:lstStyle/>
          <a:p>
            <a:pPr>
              <a:defRPr/>
            </a:pPr>
            <a:r>
              <a:rPr kumimoji="0" lang="en-US">
                <a:solidFill>
                  <a:srgbClr val="000000"/>
                </a:solidFill>
                <a:latin typeface="Times New Roman" pitchFamily="18" charset="0"/>
              </a:rPr>
              <a:t>start</a:t>
            </a:r>
            <a:endParaRPr lang="en-US" i="0">
              <a:effectLst>
                <a:outerShdw blurRad="38100" dist="38100" dir="2700000" algn="tl">
                  <a:srgbClr val="000000"/>
                </a:outerShdw>
              </a:effectLst>
            </a:endParaRPr>
          </a:p>
        </p:txBody>
      </p:sp>
      <p:sp>
        <p:nvSpPr>
          <p:cNvPr id="1403916" name="Freeform 12"/>
          <p:cNvSpPr>
            <a:spLocks/>
          </p:cNvSpPr>
          <p:nvPr/>
        </p:nvSpPr>
        <p:spPr bwMode="auto">
          <a:xfrm>
            <a:off x="3937000" y="3305175"/>
            <a:ext cx="625475" cy="504825"/>
          </a:xfrm>
          <a:custGeom>
            <a:avLst/>
            <a:gdLst/>
            <a:ahLst/>
            <a:cxnLst>
              <a:cxn ang="0">
                <a:pos x="0" y="301"/>
              </a:cxn>
              <a:cxn ang="0">
                <a:pos x="32" y="318"/>
              </a:cxn>
              <a:cxn ang="0">
                <a:pos x="63" y="234"/>
              </a:cxn>
              <a:cxn ang="0">
                <a:pos x="48" y="234"/>
              </a:cxn>
              <a:cxn ang="0">
                <a:pos x="48" y="251"/>
              </a:cxn>
              <a:cxn ang="0">
                <a:pos x="95" y="184"/>
              </a:cxn>
              <a:cxn ang="0">
                <a:pos x="95" y="184"/>
              </a:cxn>
              <a:cxn ang="0">
                <a:pos x="126" y="151"/>
              </a:cxn>
              <a:cxn ang="0">
                <a:pos x="158" y="117"/>
              </a:cxn>
              <a:cxn ang="0">
                <a:pos x="252" y="67"/>
              </a:cxn>
              <a:cxn ang="0">
                <a:pos x="331" y="34"/>
              </a:cxn>
              <a:cxn ang="0">
                <a:pos x="315" y="17"/>
              </a:cxn>
              <a:cxn ang="0">
                <a:pos x="315" y="34"/>
              </a:cxn>
              <a:cxn ang="0">
                <a:pos x="394" y="34"/>
              </a:cxn>
              <a:cxn ang="0">
                <a:pos x="394" y="0"/>
              </a:cxn>
              <a:cxn ang="0">
                <a:pos x="331" y="0"/>
              </a:cxn>
              <a:cxn ang="0">
                <a:pos x="315" y="0"/>
              </a:cxn>
              <a:cxn ang="0">
                <a:pos x="236" y="34"/>
              </a:cxn>
              <a:cxn ang="0">
                <a:pos x="142" y="84"/>
              </a:cxn>
              <a:cxn ang="0">
                <a:pos x="111" y="117"/>
              </a:cxn>
              <a:cxn ang="0">
                <a:pos x="79" y="168"/>
              </a:cxn>
              <a:cxn ang="0">
                <a:pos x="79" y="168"/>
              </a:cxn>
              <a:cxn ang="0">
                <a:pos x="79" y="151"/>
              </a:cxn>
              <a:cxn ang="0">
                <a:pos x="32" y="218"/>
              </a:cxn>
              <a:cxn ang="0">
                <a:pos x="32" y="234"/>
              </a:cxn>
              <a:cxn ang="0">
                <a:pos x="32" y="234"/>
              </a:cxn>
              <a:cxn ang="0">
                <a:pos x="0" y="301"/>
              </a:cxn>
            </a:cxnLst>
            <a:rect l="0" t="0" r="r" b="b"/>
            <a:pathLst>
              <a:path w="394" h="318">
                <a:moveTo>
                  <a:pt x="0" y="301"/>
                </a:moveTo>
                <a:lnTo>
                  <a:pt x="32" y="318"/>
                </a:lnTo>
                <a:lnTo>
                  <a:pt x="63" y="234"/>
                </a:lnTo>
                <a:lnTo>
                  <a:pt x="48" y="234"/>
                </a:lnTo>
                <a:lnTo>
                  <a:pt x="48" y="251"/>
                </a:lnTo>
                <a:lnTo>
                  <a:pt x="95" y="184"/>
                </a:lnTo>
                <a:lnTo>
                  <a:pt x="95" y="184"/>
                </a:lnTo>
                <a:lnTo>
                  <a:pt x="126" y="151"/>
                </a:lnTo>
                <a:lnTo>
                  <a:pt x="158" y="117"/>
                </a:lnTo>
                <a:lnTo>
                  <a:pt x="252" y="67"/>
                </a:lnTo>
                <a:lnTo>
                  <a:pt x="331" y="34"/>
                </a:lnTo>
                <a:lnTo>
                  <a:pt x="315" y="17"/>
                </a:lnTo>
                <a:lnTo>
                  <a:pt x="315" y="34"/>
                </a:lnTo>
                <a:lnTo>
                  <a:pt x="394" y="34"/>
                </a:lnTo>
                <a:lnTo>
                  <a:pt x="394" y="0"/>
                </a:lnTo>
                <a:lnTo>
                  <a:pt x="331" y="0"/>
                </a:lnTo>
                <a:lnTo>
                  <a:pt x="315" y="0"/>
                </a:lnTo>
                <a:lnTo>
                  <a:pt x="236" y="34"/>
                </a:lnTo>
                <a:lnTo>
                  <a:pt x="142" y="84"/>
                </a:lnTo>
                <a:lnTo>
                  <a:pt x="111" y="117"/>
                </a:lnTo>
                <a:lnTo>
                  <a:pt x="79" y="168"/>
                </a:lnTo>
                <a:lnTo>
                  <a:pt x="79" y="168"/>
                </a:lnTo>
                <a:lnTo>
                  <a:pt x="79" y="151"/>
                </a:lnTo>
                <a:lnTo>
                  <a:pt x="32" y="218"/>
                </a:lnTo>
                <a:lnTo>
                  <a:pt x="32" y="234"/>
                </a:lnTo>
                <a:lnTo>
                  <a:pt x="32" y="234"/>
                </a:lnTo>
                <a:lnTo>
                  <a:pt x="0" y="301"/>
                </a:lnTo>
                <a:close/>
              </a:path>
            </a:pathLst>
          </a:custGeom>
          <a:solidFill>
            <a:srgbClr val="C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3917" name="Freeform 13"/>
          <p:cNvSpPr>
            <a:spLocks/>
          </p:cNvSpPr>
          <p:nvPr/>
        </p:nvSpPr>
        <p:spPr bwMode="auto">
          <a:xfrm>
            <a:off x="4562475" y="3279775"/>
            <a:ext cx="798513" cy="557213"/>
          </a:xfrm>
          <a:custGeom>
            <a:avLst/>
            <a:gdLst/>
            <a:ahLst/>
            <a:cxnLst>
              <a:cxn ang="0">
                <a:pos x="0" y="0"/>
              </a:cxn>
              <a:cxn ang="0">
                <a:pos x="0" y="33"/>
              </a:cxn>
              <a:cxn ang="0">
                <a:pos x="126" y="50"/>
              </a:cxn>
              <a:cxn ang="0">
                <a:pos x="252" y="83"/>
              </a:cxn>
              <a:cxn ang="0">
                <a:pos x="362" y="150"/>
              </a:cxn>
              <a:cxn ang="0">
                <a:pos x="409" y="184"/>
              </a:cxn>
              <a:cxn ang="0">
                <a:pos x="440" y="217"/>
              </a:cxn>
              <a:cxn ang="0">
                <a:pos x="456" y="250"/>
              </a:cxn>
              <a:cxn ang="0">
                <a:pos x="472" y="234"/>
              </a:cxn>
              <a:cxn ang="0">
                <a:pos x="456" y="234"/>
              </a:cxn>
              <a:cxn ang="0">
                <a:pos x="472" y="284"/>
              </a:cxn>
              <a:cxn ang="0">
                <a:pos x="472" y="351"/>
              </a:cxn>
              <a:cxn ang="0">
                <a:pos x="503" y="351"/>
              </a:cxn>
              <a:cxn ang="0">
                <a:pos x="503" y="284"/>
              </a:cxn>
              <a:cxn ang="0">
                <a:pos x="488" y="234"/>
              </a:cxn>
              <a:cxn ang="0">
                <a:pos x="472" y="217"/>
              </a:cxn>
              <a:cxn ang="0">
                <a:pos x="456" y="184"/>
              </a:cxn>
              <a:cxn ang="0">
                <a:pos x="425" y="150"/>
              </a:cxn>
              <a:cxn ang="0">
                <a:pos x="377" y="117"/>
              </a:cxn>
              <a:cxn ang="0">
                <a:pos x="267" y="50"/>
              </a:cxn>
              <a:cxn ang="0">
                <a:pos x="141" y="16"/>
              </a:cxn>
              <a:cxn ang="0">
                <a:pos x="0" y="0"/>
              </a:cxn>
            </a:cxnLst>
            <a:rect l="0" t="0" r="r" b="b"/>
            <a:pathLst>
              <a:path w="503" h="351">
                <a:moveTo>
                  <a:pt x="0" y="0"/>
                </a:moveTo>
                <a:lnTo>
                  <a:pt x="0" y="33"/>
                </a:lnTo>
                <a:lnTo>
                  <a:pt x="126" y="50"/>
                </a:lnTo>
                <a:lnTo>
                  <a:pt x="252" y="83"/>
                </a:lnTo>
                <a:lnTo>
                  <a:pt x="362" y="150"/>
                </a:lnTo>
                <a:lnTo>
                  <a:pt x="409" y="184"/>
                </a:lnTo>
                <a:lnTo>
                  <a:pt x="440" y="217"/>
                </a:lnTo>
                <a:lnTo>
                  <a:pt x="456" y="250"/>
                </a:lnTo>
                <a:lnTo>
                  <a:pt x="472" y="234"/>
                </a:lnTo>
                <a:lnTo>
                  <a:pt x="456" y="234"/>
                </a:lnTo>
                <a:lnTo>
                  <a:pt x="472" y="284"/>
                </a:lnTo>
                <a:lnTo>
                  <a:pt x="472" y="351"/>
                </a:lnTo>
                <a:lnTo>
                  <a:pt x="503" y="351"/>
                </a:lnTo>
                <a:lnTo>
                  <a:pt x="503" y="284"/>
                </a:lnTo>
                <a:lnTo>
                  <a:pt x="488" y="234"/>
                </a:lnTo>
                <a:lnTo>
                  <a:pt x="472" y="217"/>
                </a:lnTo>
                <a:lnTo>
                  <a:pt x="456" y="184"/>
                </a:lnTo>
                <a:lnTo>
                  <a:pt x="425" y="150"/>
                </a:lnTo>
                <a:lnTo>
                  <a:pt x="377" y="117"/>
                </a:lnTo>
                <a:lnTo>
                  <a:pt x="267" y="50"/>
                </a:lnTo>
                <a:lnTo>
                  <a:pt x="141" y="16"/>
                </a:lnTo>
                <a:lnTo>
                  <a:pt x="0" y="0"/>
                </a:lnTo>
                <a:close/>
              </a:path>
            </a:pathLst>
          </a:custGeom>
          <a:solidFill>
            <a:srgbClr val="FF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3918" name="Rectangle 14"/>
          <p:cNvSpPr>
            <a:spLocks noChangeArrowheads="1"/>
          </p:cNvSpPr>
          <p:nvPr/>
        </p:nvSpPr>
        <p:spPr bwMode="auto">
          <a:xfrm>
            <a:off x="341313" y="2138363"/>
            <a:ext cx="3946525" cy="1141412"/>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3919" name="Rectangle 15"/>
          <p:cNvSpPr>
            <a:spLocks noChangeArrowheads="1"/>
          </p:cNvSpPr>
          <p:nvPr/>
        </p:nvSpPr>
        <p:spPr bwMode="auto">
          <a:xfrm>
            <a:off x="860425" y="2217738"/>
            <a:ext cx="3021013"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latin typeface="Arial" pitchFamily="34" charset="0"/>
              </a:rPr>
              <a:t>domain understanding</a:t>
            </a:r>
            <a:endParaRPr lang="en-US" i="0">
              <a:solidFill>
                <a:schemeClr val="tx1"/>
              </a:solidFill>
              <a:effectLst>
                <a:outerShdw blurRad="38100" dist="38100" dir="2700000" algn="tl">
                  <a:srgbClr val="000000"/>
                </a:outerShdw>
              </a:effectLst>
            </a:endParaRPr>
          </a:p>
        </p:txBody>
      </p:sp>
      <p:sp>
        <p:nvSpPr>
          <p:cNvPr id="1403920" name="Rectangle 16"/>
          <p:cNvSpPr>
            <a:spLocks noChangeArrowheads="1"/>
          </p:cNvSpPr>
          <p:nvPr/>
        </p:nvSpPr>
        <p:spPr bwMode="auto">
          <a:xfrm>
            <a:off x="1597025" y="2641600"/>
            <a:ext cx="1560513"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latin typeface="Arial" pitchFamily="34" charset="0"/>
              </a:rPr>
              <a:t>&amp; elicitation</a:t>
            </a:r>
            <a:endParaRPr lang="en-US" i="0">
              <a:effectLst>
                <a:outerShdw blurRad="38100" dist="38100" dir="2700000" algn="tl">
                  <a:srgbClr val="000000"/>
                </a:outerShdw>
              </a:effectLst>
            </a:endParaRPr>
          </a:p>
        </p:txBody>
      </p:sp>
      <p:sp>
        <p:nvSpPr>
          <p:cNvPr id="1403921" name="Rectangle 17"/>
          <p:cNvSpPr>
            <a:spLocks noChangeArrowheads="1"/>
          </p:cNvSpPr>
          <p:nvPr/>
        </p:nvSpPr>
        <p:spPr bwMode="auto">
          <a:xfrm>
            <a:off x="5635625" y="2163763"/>
            <a:ext cx="3248025" cy="1141412"/>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3922" name="Rectangle 18"/>
          <p:cNvSpPr>
            <a:spLocks noChangeArrowheads="1"/>
          </p:cNvSpPr>
          <p:nvPr/>
        </p:nvSpPr>
        <p:spPr bwMode="auto">
          <a:xfrm>
            <a:off x="6045200" y="2259013"/>
            <a:ext cx="1392238"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effectLst>
                  <a:outerShdw blurRad="38100" dist="38100" dir="2700000" algn="tl">
                    <a:srgbClr val="000000"/>
                  </a:outerShdw>
                </a:effectLst>
                <a:latin typeface="Arial" pitchFamily="34" charset="0"/>
              </a:rPr>
              <a:t>evaluation</a:t>
            </a:r>
            <a:endParaRPr lang="en-US" i="0">
              <a:effectLst>
                <a:outerShdw blurRad="38100" dist="38100" dir="2700000" algn="tl">
                  <a:srgbClr val="000000"/>
                </a:outerShdw>
              </a:effectLst>
            </a:endParaRPr>
          </a:p>
        </p:txBody>
      </p:sp>
      <p:sp>
        <p:nvSpPr>
          <p:cNvPr id="1403923" name="Rectangle 19"/>
          <p:cNvSpPr>
            <a:spLocks noChangeArrowheads="1"/>
          </p:cNvSpPr>
          <p:nvPr/>
        </p:nvSpPr>
        <p:spPr bwMode="auto">
          <a:xfrm>
            <a:off x="5861050" y="2682875"/>
            <a:ext cx="1746250"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effectLst>
                  <a:outerShdw blurRad="38100" dist="38100" dir="2700000" algn="tl">
                    <a:srgbClr val="000000"/>
                  </a:outerShdw>
                </a:effectLst>
                <a:latin typeface="Arial" pitchFamily="34" charset="0"/>
              </a:rPr>
              <a:t>&amp; agreement</a:t>
            </a:r>
            <a:endParaRPr lang="en-US" i="0">
              <a:effectLst>
                <a:outerShdw blurRad="38100" dist="38100" dir="2700000" algn="tl">
                  <a:srgbClr val="000000"/>
                </a:outerShdw>
              </a:effectLst>
            </a:endParaRPr>
          </a:p>
        </p:txBody>
      </p:sp>
      <p:sp>
        <p:nvSpPr>
          <p:cNvPr id="1403924" name="Rectangle 20"/>
          <p:cNvSpPr>
            <a:spLocks noChangeArrowheads="1"/>
          </p:cNvSpPr>
          <p:nvPr/>
        </p:nvSpPr>
        <p:spPr bwMode="auto">
          <a:xfrm>
            <a:off x="2738438" y="1155700"/>
            <a:ext cx="4021137" cy="742950"/>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39951" name="Rectangle 21"/>
          <p:cNvSpPr>
            <a:spLocks noChangeArrowheads="1"/>
          </p:cNvSpPr>
          <p:nvPr/>
        </p:nvSpPr>
        <p:spPr bwMode="auto">
          <a:xfrm>
            <a:off x="3124200" y="1387475"/>
            <a:ext cx="3049588" cy="365125"/>
          </a:xfrm>
          <a:prstGeom prst="rect">
            <a:avLst/>
          </a:prstGeom>
          <a:noFill/>
          <a:ln w="9525">
            <a:noFill/>
            <a:miter lim="800000"/>
            <a:headEnd/>
            <a:tailEnd/>
          </a:ln>
        </p:spPr>
        <p:txBody>
          <a:bodyPr wrap="none" lIns="0" tIns="0" rIns="0" bIns="0">
            <a:spAutoFit/>
          </a:bodyPr>
          <a:lstStyle/>
          <a:p>
            <a:r>
              <a:rPr kumimoji="0" lang="en-US">
                <a:solidFill>
                  <a:srgbClr val="0000FF"/>
                </a:solidFill>
                <a:latin typeface="Times New Roman" pitchFamily="18" charset="0"/>
              </a:rPr>
              <a:t> </a:t>
            </a:r>
            <a:r>
              <a:rPr kumimoji="0" lang="en-US">
                <a:solidFill>
                  <a:srgbClr val="009999"/>
                </a:solidFill>
                <a:latin typeface="Comic Sans MS" pitchFamily="66" charset="0"/>
              </a:rPr>
              <a:t>alternative proposals</a:t>
            </a:r>
            <a:endParaRPr lang="en-US" i="0"/>
          </a:p>
        </p:txBody>
      </p:sp>
      <p:sp>
        <p:nvSpPr>
          <p:cNvPr id="1403926" name="Rectangle 22"/>
          <p:cNvSpPr>
            <a:spLocks noChangeArrowheads="1"/>
          </p:cNvSpPr>
          <p:nvPr/>
        </p:nvSpPr>
        <p:spPr bwMode="auto">
          <a:xfrm>
            <a:off x="5910263" y="3863975"/>
            <a:ext cx="2698750" cy="1166813"/>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3927" name="Rectangle 23"/>
          <p:cNvSpPr>
            <a:spLocks noChangeArrowheads="1"/>
          </p:cNvSpPr>
          <p:nvPr/>
        </p:nvSpPr>
        <p:spPr bwMode="auto">
          <a:xfrm>
            <a:off x="6872288" y="3943350"/>
            <a:ext cx="740587" cy="276999"/>
          </a:xfrm>
          <a:prstGeom prst="rect">
            <a:avLst/>
          </a:prstGeom>
          <a:noFill/>
          <a:ln w="9525">
            <a:noFill/>
            <a:miter lim="800000"/>
            <a:headEnd/>
            <a:tailEnd/>
          </a:ln>
        </p:spPr>
        <p:txBody>
          <a:bodyPr wrap="none" lIns="0" tIns="0" rIns="0" bIns="0">
            <a:spAutoFit/>
          </a:bodyPr>
          <a:lstStyle/>
          <a:p>
            <a:pPr>
              <a:defRPr/>
            </a:pPr>
            <a:r>
              <a:rPr kumimoji="0" lang="en-US" dirty="0">
                <a:solidFill>
                  <a:srgbClr val="0099CC"/>
                </a:solidFill>
                <a:effectLst>
                  <a:outerShdw blurRad="38100" dist="38100" dir="2700000" algn="tl">
                    <a:srgbClr val="000000"/>
                  </a:outerShdw>
                </a:effectLst>
                <a:latin typeface="Comic Sans MS" pitchFamily="66" charset="0"/>
              </a:rPr>
              <a:t>agreed</a:t>
            </a:r>
            <a:endParaRPr lang="en-US" i="0" dirty="0">
              <a:solidFill>
                <a:srgbClr val="0099CC"/>
              </a:solidFill>
              <a:effectLst>
                <a:outerShdw blurRad="38100" dist="38100" dir="2700000" algn="tl">
                  <a:srgbClr val="000000"/>
                </a:outerShdw>
              </a:effectLst>
              <a:latin typeface="Comic Sans MS" pitchFamily="66" charset="0"/>
            </a:endParaRPr>
          </a:p>
        </p:txBody>
      </p:sp>
      <p:sp>
        <p:nvSpPr>
          <p:cNvPr id="1403928" name="Rectangle 24"/>
          <p:cNvSpPr>
            <a:spLocks noChangeArrowheads="1"/>
          </p:cNvSpPr>
          <p:nvPr/>
        </p:nvSpPr>
        <p:spPr bwMode="auto">
          <a:xfrm>
            <a:off x="6429375" y="4316413"/>
            <a:ext cx="1426673" cy="276999"/>
          </a:xfrm>
          <a:prstGeom prst="rect">
            <a:avLst/>
          </a:prstGeom>
          <a:noFill/>
          <a:ln w="9525">
            <a:noFill/>
            <a:miter lim="800000"/>
            <a:headEnd/>
            <a:tailEnd/>
          </a:ln>
        </p:spPr>
        <p:txBody>
          <a:bodyPr wrap="none" lIns="0" tIns="0" rIns="0" bIns="0">
            <a:spAutoFit/>
          </a:bodyPr>
          <a:lstStyle/>
          <a:p>
            <a:pPr>
              <a:defRPr/>
            </a:pPr>
            <a:r>
              <a:rPr kumimoji="0" lang="en-US" dirty="0">
                <a:solidFill>
                  <a:srgbClr val="0099CC"/>
                </a:solidFill>
                <a:effectLst>
                  <a:outerShdw blurRad="38100" dist="38100" dir="2700000" algn="tl">
                    <a:srgbClr val="000000"/>
                  </a:outerShdw>
                </a:effectLst>
                <a:latin typeface="Comic Sans MS" pitchFamily="66" charset="0"/>
              </a:rPr>
              <a:t>requirements</a:t>
            </a:r>
            <a:endParaRPr lang="en-US" i="0" dirty="0">
              <a:solidFill>
                <a:srgbClr val="0099CC"/>
              </a:solidFill>
              <a:effectLst>
                <a:outerShdw blurRad="38100" dist="38100" dir="2700000" algn="tl">
                  <a:srgbClr val="000000"/>
                </a:outerShdw>
              </a:effectLst>
              <a:latin typeface="Comic Sans MS" pitchFamily="66" charset="0"/>
            </a:endParaRPr>
          </a:p>
        </p:txBody>
      </p:sp>
      <p:sp>
        <p:nvSpPr>
          <p:cNvPr id="1403929" name="Rectangle 25"/>
          <p:cNvSpPr>
            <a:spLocks noChangeArrowheads="1"/>
          </p:cNvSpPr>
          <p:nvPr/>
        </p:nvSpPr>
        <p:spPr bwMode="auto">
          <a:xfrm>
            <a:off x="2463800" y="5959475"/>
            <a:ext cx="4321175" cy="769938"/>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3930" name="Rectangle 26"/>
          <p:cNvSpPr>
            <a:spLocks noChangeArrowheads="1"/>
          </p:cNvSpPr>
          <p:nvPr/>
        </p:nvSpPr>
        <p:spPr bwMode="auto">
          <a:xfrm>
            <a:off x="465138" y="3863975"/>
            <a:ext cx="2573337" cy="1166813"/>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3932" name="Oval 28"/>
          <p:cNvSpPr>
            <a:spLocks noChangeArrowheads="1"/>
          </p:cNvSpPr>
          <p:nvPr/>
        </p:nvSpPr>
        <p:spPr bwMode="auto">
          <a:xfrm>
            <a:off x="3862388" y="3651250"/>
            <a:ext cx="274637" cy="265113"/>
          </a:xfrm>
          <a:prstGeom prst="ellipse">
            <a:avLst/>
          </a:prstGeom>
          <a:solidFill>
            <a:srgbClr val="000000"/>
          </a:solid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smtClean="0"/>
              <a:t>Evaluation &amp; agreement</a:t>
            </a:r>
          </a:p>
        </p:txBody>
      </p:sp>
      <p:sp>
        <p:nvSpPr>
          <p:cNvPr id="1418243" name="Rectangle 3"/>
          <p:cNvSpPr>
            <a:spLocks noGrp="1" noChangeArrowheads="1"/>
          </p:cNvSpPr>
          <p:nvPr>
            <p:ph idx="1"/>
          </p:nvPr>
        </p:nvSpPr>
        <p:spPr/>
        <p:txBody>
          <a:bodyPr>
            <a:normAutofit/>
          </a:bodyPr>
          <a:lstStyle/>
          <a:p>
            <a:r>
              <a:rPr lang="fr-FR" dirty="0" err="1" smtClean="0"/>
              <a:t>Negotiation</a:t>
            </a:r>
            <a:r>
              <a:rPr lang="fr-FR" dirty="0" smtClean="0"/>
              <a:t>-</a:t>
            </a:r>
            <a:r>
              <a:rPr lang="fr-FR" dirty="0" err="1" smtClean="0"/>
              <a:t>based</a:t>
            </a:r>
            <a:r>
              <a:rPr lang="fr-FR" dirty="0" smtClean="0"/>
              <a:t> </a:t>
            </a:r>
            <a:r>
              <a:rPr lang="fr-FR" dirty="0" err="1" smtClean="0"/>
              <a:t>decision</a:t>
            </a:r>
            <a:r>
              <a:rPr lang="fr-FR" dirty="0" smtClean="0"/>
              <a:t> </a:t>
            </a:r>
            <a:r>
              <a:rPr lang="fr-FR" dirty="0" err="1" smtClean="0"/>
              <a:t>making</a:t>
            </a:r>
            <a:r>
              <a:rPr lang="fr-FR" dirty="0" smtClean="0"/>
              <a:t> ...</a:t>
            </a:r>
          </a:p>
          <a:p>
            <a:pPr lvl="1"/>
            <a:r>
              <a:rPr lang="fr-FR" dirty="0" smtClean="0"/>
              <a:t>Identification &amp; </a:t>
            </a:r>
            <a:r>
              <a:rPr lang="fr-FR" dirty="0" err="1" smtClean="0"/>
              <a:t>resolution</a:t>
            </a:r>
            <a:r>
              <a:rPr lang="fr-FR" dirty="0" smtClean="0"/>
              <a:t> of </a:t>
            </a:r>
            <a:r>
              <a:rPr lang="fr-FR" dirty="0" err="1" smtClean="0">
                <a:solidFill>
                  <a:srgbClr val="C00000"/>
                </a:solidFill>
              </a:rPr>
              <a:t>conflicting</a:t>
            </a:r>
            <a:r>
              <a:rPr lang="fr-FR" dirty="0" smtClean="0"/>
              <a:t> </a:t>
            </a:r>
            <a:r>
              <a:rPr lang="fr-FR" dirty="0" err="1" smtClean="0"/>
              <a:t>concerns</a:t>
            </a:r>
            <a:endParaRPr lang="fr-FR" dirty="0" smtClean="0"/>
          </a:p>
          <a:p>
            <a:pPr lvl="1"/>
            <a:r>
              <a:rPr lang="fr-FR" dirty="0" smtClean="0"/>
              <a:t>Identification &amp; </a:t>
            </a:r>
            <a:r>
              <a:rPr lang="fr-FR" dirty="0" err="1" smtClean="0"/>
              <a:t>resolution</a:t>
            </a:r>
            <a:r>
              <a:rPr lang="fr-FR" dirty="0" smtClean="0"/>
              <a:t> of </a:t>
            </a:r>
            <a:r>
              <a:rPr lang="fr-FR" dirty="0" err="1" smtClean="0">
                <a:solidFill>
                  <a:srgbClr val="C00000"/>
                </a:solidFill>
              </a:rPr>
              <a:t>risks</a:t>
            </a:r>
            <a:r>
              <a:rPr lang="fr-FR" dirty="0" smtClean="0"/>
              <a:t> </a:t>
            </a:r>
            <a:r>
              <a:rPr lang="fr-FR" dirty="0" err="1" smtClean="0"/>
              <a:t>with</a:t>
            </a:r>
            <a:r>
              <a:rPr lang="fr-FR" dirty="0" smtClean="0"/>
              <a:t> </a:t>
            </a:r>
            <a:r>
              <a:rPr lang="fr-FR" dirty="0" err="1" smtClean="0"/>
              <a:t>proposed</a:t>
            </a:r>
            <a:r>
              <a:rPr lang="fr-FR" dirty="0" smtClean="0"/>
              <a:t> system</a:t>
            </a:r>
          </a:p>
          <a:p>
            <a:pPr lvl="1"/>
            <a:r>
              <a:rPr lang="fr-FR" dirty="0" err="1" smtClean="0"/>
              <a:t>Comparison</a:t>
            </a:r>
            <a:r>
              <a:rPr lang="fr-FR" dirty="0" smtClean="0"/>
              <a:t> of alternative </a:t>
            </a:r>
            <a:r>
              <a:rPr lang="fr-FR" dirty="0" smtClean="0">
                <a:solidFill>
                  <a:srgbClr val="C00000"/>
                </a:solidFill>
              </a:rPr>
              <a:t>options</a:t>
            </a:r>
            <a:r>
              <a:rPr lang="fr-FR" dirty="0" smtClean="0"/>
              <a:t> </a:t>
            </a:r>
            <a:r>
              <a:rPr lang="fr-FR" dirty="0" err="1" smtClean="0"/>
              <a:t>against</a:t>
            </a:r>
            <a:r>
              <a:rPr lang="fr-FR" dirty="0" smtClean="0"/>
              <a:t> objectives &amp; </a:t>
            </a:r>
            <a:r>
              <a:rPr lang="fr-FR" dirty="0" err="1" smtClean="0"/>
              <a:t>risks</a:t>
            </a:r>
            <a:r>
              <a:rPr lang="fr-FR" dirty="0" smtClean="0"/>
              <a:t>, and </a:t>
            </a:r>
            <a:r>
              <a:rPr lang="fr-FR" dirty="0" err="1" smtClean="0"/>
              <a:t>selection</a:t>
            </a:r>
            <a:r>
              <a:rPr lang="fr-FR" dirty="0" smtClean="0"/>
              <a:t> of </a:t>
            </a:r>
            <a:r>
              <a:rPr lang="fr-FR" dirty="0" err="1" smtClean="0"/>
              <a:t>preferred</a:t>
            </a:r>
            <a:r>
              <a:rPr lang="fr-FR" dirty="0" smtClean="0"/>
              <a:t> </a:t>
            </a:r>
            <a:r>
              <a:rPr lang="fr-FR" dirty="0" err="1" smtClean="0"/>
              <a:t>ones</a:t>
            </a:r>
            <a:endParaRPr lang="fr-FR" dirty="0" smtClean="0"/>
          </a:p>
          <a:p>
            <a:pPr lvl="1"/>
            <a:r>
              <a:rPr lang="fr-FR" dirty="0" err="1" smtClean="0"/>
              <a:t>Requirements</a:t>
            </a:r>
            <a:r>
              <a:rPr lang="fr-FR" dirty="0" smtClean="0"/>
              <a:t> </a:t>
            </a:r>
            <a:r>
              <a:rPr lang="fr-FR" dirty="0" err="1" smtClean="0"/>
              <a:t>prioritization</a:t>
            </a:r>
            <a:r>
              <a:rPr lang="fr-FR" dirty="0" smtClean="0"/>
              <a:t>: to </a:t>
            </a:r>
            <a:r>
              <a:rPr lang="fr-FR" dirty="0" err="1" smtClean="0"/>
              <a:t>resolve</a:t>
            </a:r>
            <a:r>
              <a:rPr lang="fr-FR" dirty="0" smtClean="0"/>
              <a:t> </a:t>
            </a:r>
            <a:r>
              <a:rPr lang="fr-FR" dirty="0" err="1" smtClean="0"/>
              <a:t>conflicts</a:t>
            </a:r>
            <a:r>
              <a:rPr lang="fr-FR" dirty="0" smtClean="0"/>
              <a:t>, </a:t>
            </a:r>
            <a:r>
              <a:rPr lang="fr-FR" dirty="0" err="1" smtClean="0"/>
              <a:t>address</a:t>
            </a:r>
            <a:r>
              <a:rPr lang="fr-FR" dirty="0" smtClean="0"/>
              <a:t> </a:t>
            </a:r>
            <a:r>
              <a:rPr lang="fr-FR" dirty="0" err="1" smtClean="0"/>
              <a:t>cost</a:t>
            </a:r>
            <a:r>
              <a:rPr lang="fr-FR" dirty="0" smtClean="0"/>
              <a:t>/</a:t>
            </a:r>
            <a:r>
              <a:rPr lang="fr-FR" dirty="0" err="1" smtClean="0"/>
              <a:t>schedule</a:t>
            </a:r>
            <a:r>
              <a:rPr lang="fr-FR" dirty="0" smtClean="0"/>
              <a:t> </a:t>
            </a:r>
            <a:r>
              <a:rPr lang="fr-FR" dirty="0" err="1" smtClean="0"/>
              <a:t>constraints</a:t>
            </a:r>
            <a:r>
              <a:rPr lang="fr-FR" dirty="0" smtClean="0"/>
              <a:t>, support </a:t>
            </a:r>
            <a:r>
              <a:rPr lang="fr-FR" dirty="0" err="1" smtClean="0"/>
              <a:t>incremental</a:t>
            </a:r>
            <a:r>
              <a:rPr lang="fr-FR" dirty="0" smtClean="0"/>
              <a:t> </a:t>
            </a:r>
            <a:r>
              <a:rPr lang="fr-FR" dirty="0" err="1" smtClean="0"/>
              <a:t>development</a:t>
            </a:r>
            <a:r>
              <a:rPr lang="fr-FR" dirty="0" smtClean="0"/>
              <a:t> </a:t>
            </a:r>
          </a:p>
          <a:p>
            <a:r>
              <a:rPr lang="fr-FR" dirty="0" smtClean="0"/>
              <a:t> Product: Final sections of </a:t>
            </a:r>
            <a:r>
              <a:rPr lang="fr-FR" dirty="0" err="1" smtClean="0"/>
              <a:t>draft</a:t>
            </a:r>
            <a:r>
              <a:rPr lang="fr-FR" dirty="0" smtClean="0"/>
              <a:t> </a:t>
            </a:r>
            <a:r>
              <a:rPr lang="fr-FR" dirty="0" err="1" smtClean="0"/>
              <a:t>proposal</a:t>
            </a:r>
            <a:r>
              <a:rPr lang="fr-FR" dirty="0" smtClean="0"/>
              <a:t> </a:t>
            </a:r>
            <a:r>
              <a:rPr lang="fr-FR" dirty="0" err="1" smtClean="0"/>
              <a:t>documenting</a:t>
            </a:r>
            <a:r>
              <a:rPr lang="fr-FR" dirty="0" smtClean="0"/>
              <a:t> the </a:t>
            </a:r>
            <a:r>
              <a:rPr lang="fr-FR" dirty="0" err="1" smtClean="0"/>
              <a:t>selected</a:t>
            </a:r>
            <a:r>
              <a:rPr lang="fr-FR" dirty="0" smtClean="0"/>
              <a:t>/</a:t>
            </a:r>
            <a:r>
              <a:rPr lang="fr-FR" dirty="0" err="1" smtClean="0"/>
              <a:t>agreed</a:t>
            </a:r>
            <a:r>
              <a:rPr lang="fr-FR" dirty="0" smtClean="0"/>
              <a:t> objectives, </a:t>
            </a:r>
            <a:r>
              <a:rPr lang="fr-FR" dirty="0" err="1" smtClean="0"/>
              <a:t>requirements</a:t>
            </a:r>
            <a:r>
              <a:rPr lang="fr-FR" dirty="0" smtClean="0"/>
              <a:t>, </a:t>
            </a:r>
            <a:r>
              <a:rPr lang="fr-FR" dirty="0" err="1" smtClean="0"/>
              <a:t>asssumptions</a:t>
            </a:r>
            <a:r>
              <a:rPr lang="fr-FR" dirty="0" smtClean="0"/>
              <a:t> (incl. </a:t>
            </a:r>
            <a:r>
              <a:rPr lang="fr-FR" dirty="0" err="1" smtClean="0"/>
              <a:t>rationale</a:t>
            </a:r>
            <a:r>
              <a:rPr lang="fr-FR" dirty="0" smtClean="0"/>
              <a:t> for </a:t>
            </a:r>
            <a:r>
              <a:rPr lang="fr-FR" dirty="0" err="1" smtClean="0"/>
              <a:t>selected</a:t>
            </a:r>
            <a:r>
              <a:rPr lang="fr-FR" dirty="0" smtClean="0"/>
              <a:t> options)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dirty="0" smtClean="0"/>
              <a:t>The RE process  </a:t>
            </a:r>
            <a:r>
              <a:rPr lang="en-US" altLang="en-US" sz="2000" dirty="0" smtClean="0"/>
              <a:t>(3)</a:t>
            </a:r>
          </a:p>
        </p:txBody>
      </p:sp>
      <p:grpSp>
        <p:nvGrpSpPr>
          <p:cNvPr id="2" name="Group 3"/>
          <p:cNvGrpSpPr>
            <a:grpSpLocks/>
          </p:cNvGrpSpPr>
          <p:nvPr/>
        </p:nvGrpSpPr>
        <p:grpSpPr bwMode="auto">
          <a:xfrm>
            <a:off x="4411663" y="1792288"/>
            <a:ext cx="300037" cy="4141787"/>
            <a:chOff x="2779" y="1129"/>
            <a:chExt cx="189" cy="2609"/>
          </a:xfrm>
        </p:grpSpPr>
        <p:sp>
          <p:nvSpPr>
            <p:cNvPr id="1404932" name="Line 4"/>
            <p:cNvSpPr>
              <a:spLocks noChangeShapeType="1"/>
            </p:cNvSpPr>
            <p:nvPr/>
          </p:nvSpPr>
          <p:spPr bwMode="auto">
            <a:xfrm>
              <a:off x="2874" y="1263"/>
              <a:ext cx="1" cy="2341"/>
            </a:xfrm>
            <a:prstGeom prst="line">
              <a:avLst/>
            </a:prstGeom>
            <a:no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4933" name="Freeform 5"/>
            <p:cNvSpPr>
              <a:spLocks/>
            </p:cNvSpPr>
            <p:nvPr/>
          </p:nvSpPr>
          <p:spPr bwMode="auto">
            <a:xfrm>
              <a:off x="2795" y="1129"/>
              <a:ext cx="173" cy="168"/>
            </a:xfrm>
            <a:custGeom>
              <a:avLst/>
              <a:gdLst/>
              <a:ahLst/>
              <a:cxnLst>
                <a:cxn ang="0">
                  <a:pos x="173" y="168"/>
                </a:cxn>
                <a:cxn ang="0">
                  <a:pos x="79" y="0"/>
                </a:cxn>
                <a:cxn ang="0">
                  <a:pos x="0" y="168"/>
                </a:cxn>
                <a:cxn ang="0">
                  <a:pos x="173" y="168"/>
                </a:cxn>
              </a:cxnLst>
              <a:rect l="0" t="0" r="r" b="b"/>
              <a:pathLst>
                <a:path w="173" h="168">
                  <a:moveTo>
                    <a:pt x="173" y="168"/>
                  </a:moveTo>
                  <a:lnTo>
                    <a:pt x="79" y="0"/>
                  </a:lnTo>
                  <a:lnTo>
                    <a:pt x="0" y="168"/>
                  </a:lnTo>
                  <a:lnTo>
                    <a:pt x="173" y="168"/>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4934" name="Freeform 6"/>
            <p:cNvSpPr>
              <a:spLocks/>
            </p:cNvSpPr>
            <p:nvPr/>
          </p:nvSpPr>
          <p:spPr bwMode="auto">
            <a:xfrm>
              <a:off x="2779" y="3570"/>
              <a:ext cx="173" cy="168"/>
            </a:xfrm>
            <a:custGeom>
              <a:avLst/>
              <a:gdLst/>
              <a:ahLst/>
              <a:cxnLst>
                <a:cxn ang="0">
                  <a:pos x="0" y="0"/>
                </a:cxn>
                <a:cxn ang="0">
                  <a:pos x="95" y="168"/>
                </a:cxn>
                <a:cxn ang="0">
                  <a:pos x="173" y="0"/>
                </a:cxn>
                <a:cxn ang="0">
                  <a:pos x="0" y="0"/>
                </a:cxn>
              </a:cxnLst>
              <a:rect l="0" t="0" r="r" b="b"/>
              <a:pathLst>
                <a:path w="173" h="168">
                  <a:moveTo>
                    <a:pt x="0" y="0"/>
                  </a:moveTo>
                  <a:lnTo>
                    <a:pt x="95" y="168"/>
                  </a:lnTo>
                  <a:lnTo>
                    <a:pt x="173" y="0"/>
                  </a:lnTo>
                  <a:lnTo>
                    <a:pt x="0" y="0"/>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grpSp>
      <p:grpSp>
        <p:nvGrpSpPr>
          <p:cNvPr id="3" name="Group 7"/>
          <p:cNvGrpSpPr>
            <a:grpSpLocks/>
          </p:cNvGrpSpPr>
          <p:nvPr/>
        </p:nvGrpSpPr>
        <p:grpSpPr bwMode="auto">
          <a:xfrm>
            <a:off x="1889125" y="3651250"/>
            <a:ext cx="5421313" cy="317500"/>
            <a:chOff x="1190" y="2300"/>
            <a:chExt cx="3415" cy="200"/>
          </a:xfrm>
        </p:grpSpPr>
        <p:sp>
          <p:nvSpPr>
            <p:cNvPr id="1404936" name="Line 8"/>
            <p:cNvSpPr>
              <a:spLocks noChangeShapeType="1"/>
            </p:cNvSpPr>
            <p:nvPr/>
          </p:nvSpPr>
          <p:spPr bwMode="auto">
            <a:xfrm flipH="1">
              <a:off x="1316" y="2400"/>
              <a:ext cx="3163" cy="1"/>
            </a:xfrm>
            <a:prstGeom prst="line">
              <a:avLst/>
            </a:prstGeom>
            <a:no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4937" name="Freeform 9"/>
            <p:cNvSpPr>
              <a:spLocks/>
            </p:cNvSpPr>
            <p:nvPr/>
          </p:nvSpPr>
          <p:spPr bwMode="auto">
            <a:xfrm>
              <a:off x="4447" y="2316"/>
              <a:ext cx="158" cy="184"/>
            </a:xfrm>
            <a:custGeom>
              <a:avLst/>
              <a:gdLst/>
              <a:ahLst/>
              <a:cxnLst>
                <a:cxn ang="0">
                  <a:pos x="0" y="184"/>
                </a:cxn>
                <a:cxn ang="0">
                  <a:pos x="158" y="84"/>
                </a:cxn>
                <a:cxn ang="0">
                  <a:pos x="0" y="0"/>
                </a:cxn>
                <a:cxn ang="0">
                  <a:pos x="0" y="184"/>
                </a:cxn>
              </a:cxnLst>
              <a:rect l="0" t="0" r="r" b="b"/>
              <a:pathLst>
                <a:path w="158" h="184">
                  <a:moveTo>
                    <a:pt x="0" y="184"/>
                  </a:moveTo>
                  <a:lnTo>
                    <a:pt x="158" y="84"/>
                  </a:lnTo>
                  <a:lnTo>
                    <a:pt x="0" y="0"/>
                  </a:lnTo>
                  <a:lnTo>
                    <a:pt x="0" y="184"/>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4938" name="Freeform 10"/>
            <p:cNvSpPr>
              <a:spLocks/>
            </p:cNvSpPr>
            <p:nvPr/>
          </p:nvSpPr>
          <p:spPr bwMode="auto">
            <a:xfrm>
              <a:off x="1190" y="2300"/>
              <a:ext cx="158" cy="184"/>
            </a:xfrm>
            <a:custGeom>
              <a:avLst/>
              <a:gdLst/>
              <a:ahLst/>
              <a:cxnLst>
                <a:cxn ang="0">
                  <a:pos x="158" y="0"/>
                </a:cxn>
                <a:cxn ang="0">
                  <a:pos x="0" y="100"/>
                </a:cxn>
                <a:cxn ang="0">
                  <a:pos x="158" y="184"/>
                </a:cxn>
                <a:cxn ang="0">
                  <a:pos x="158" y="0"/>
                </a:cxn>
              </a:cxnLst>
              <a:rect l="0" t="0" r="r" b="b"/>
              <a:pathLst>
                <a:path w="158" h="184">
                  <a:moveTo>
                    <a:pt x="158" y="0"/>
                  </a:moveTo>
                  <a:lnTo>
                    <a:pt x="0" y="100"/>
                  </a:lnTo>
                  <a:lnTo>
                    <a:pt x="158" y="184"/>
                  </a:lnTo>
                  <a:lnTo>
                    <a:pt x="158" y="0"/>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grpSp>
      <p:sp>
        <p:nvSpPr>
          <p:cNvPr id="1404939" name="Rectangle 11"/>
          <p:cNvSpPr>
            <a:spLocks noChangeArrowheads="1"/>
          </p:cNvSpPr>
          <p:nvPr/>
        </p:nvSpPr>
        <p:spPr bwMode="auto">
          <a:xfrm>
            <a:off x="3883025" y="3863975"/>
            <a:ext cx="558800" cy="365125"/>
          </a:xfrm>
          <a:prstGeom prst="rect">
            <a:avLst/>
          </a:prstGeom>
          <a:noFill/>
          <a:ln w="9525">
            <a:noFill/>
            <a:miter lim="800000"/>
            <a:headEnd/>
            <a:tailEnd/>
          </a:ln>
        </p:spPr>
        <p:txBody>
          <a:bodyPr wrap="none" lIns="0" tIns="0" rIns="0" bIns="0">
            <a:spAutoFit/>
          </a:bodyPr>
          <a:lstStyle/>
          <a:p>
            <a:pPr>
              <a:defRPr/>
            </a:pPr>
            <a:r>
              <a:rPr kumimoji="0" lang="en-US">
                <a:solidFill>
                  <a:srgbClr val="000000"/>
                </a:solidFill>
                <a:latin typeface="Times New Roman" pitchFamily="18" charset="0"/>
              </a:rPr>
              <a:t>start</a:t>
            </a:r>
            <a:endParaRPr lang="en-US" i="0">
              <a:effectLst>
                <a:outerShdw blurRad="38100" dist="38100" dir="2700000" algn="tl">
                  <a:srgbClr val="000000"/>
                </a:outerShdw>
              </a:effectLst>
            </a:endParaRPr>
          </a:p>
        </p:txBody>
      </p:sp>
      <p:sp>
        <p:nvSpPr>
          <p:cNvPr id="1404940" name="Freeform 12"/>
          <p:cNvSpPr>
            <a:spLocks/>
          </p:cNvSpPr>
          <p:nvPr/>
        </p:nvSpPr>
        <p:spPr bwMode="auto">
          <a:xfrm>
            <a:off x="3937000" y="3305175"/>
            <a:ext cx="625475" cy="504825"/>
          </a:xfrm>
          <a:custGeom>
            <a:avLst/>
            <a:gdLst/>
            <a:ahLst/>
            <a:cxnLst>
              <a:cxn ang="0">
                <a:pos x="0" y="301"/>
              </a:cxn>
              <a:cxn ang="0">
                <a:pos x="32" y="318"/>
              </a:cxn>
              <a:cxn ang="0">
                <a:pos x="63" y="234"/>
              </a:cxn>
              <a:cxn ang="0">
                <a:pos x="48" y="234"/>
              </a:cxn>
              <a:cxn ang="0">
                <a:pos x="48" y="251"/>
              </a:cxn>
              <a:cxn ang="0">
                <a:pos x="95" y="184"/>
              </a:cxn>
              <a:cxn ang="0">
                <a:pos x="95" y="184"/>
              </a:cxn>
              <a:cxn ang="0">
                <a:pos x="126" y="151"/>
              </a:cxn>
              <a:cxn ang="0">
                <a:pos x="158" y="117"/>
              </a:cxn>
              <a:cxn ang="0">
                <a:pos x="252" y="67"/>
              </a:cxn>
              <a:cxn ang="0">
                <a:pos x="331" y="34"/>
              </a:cxn>
              <a:cxn ang="0">
                <a:pos x="315" y="17"/>
              </a:cxn>
              <a:cxn ang="0">
                <a:pos x="315" y="34"/>
              </a:cxn>
              <a:cxn ang="0">
                <a:pos x="394" y="34"/>
              </a:cxn>
              <a:cxn ang="0">
                <a:pos x="394" y="0"/>
              </a:cxn>
              <a:cxn ang="0">
                <a:pos x="331" y="0"/>
              </a:cxn>
              <a:cxn ang="0">
                <a:pos x="315" y="0"/>
              </a:cxn>
              <a:cxn ang="0">
                <a:pos x="236" y="34"/>
              </a:cxn>
              <a:cxn ang="0">
                <a:pos x="142" y="84"/>
              </a:cxn>
              <a:cxn ang="0">
                <a:pos x="111" y="117"/>
              </a:cxn>
              <a:cxn ang="0">
                <a:pos x="79" y="168"/>
              </a:cxn>
              <a:cxn ang="0">
                <a:pos x="79" y="168"/>
              </a:cxn>
              <a:cxn ang="0">
                <a:pos x="79" y="151"/>
              </a:cxn>
              <a:cxn ang="0">
                <a:pos x="32" y="218"/>
              </a:cxn>
              <a:cxn ang="0">
                <a:pos x="32" y="234"/>
              </a:cxn>
              <a:cxn ang="0">
                <a:pos x="32" y="234"/>
              </a:cxn>
              <a:cxn ang="0">
                <a:pos x="0" y="301"/>
              </a:cxn>
            </a:cxnLst>
            <a:rect l="0" t="0" r="r" b="b"/>
            <a:pathLst>
              <a:path w="394" h="318">
                <a:moveTo>
                  <a:pt x="0" y="301"/>
                </a:moveTo>
                <a:lnTo>
                  <a:pt x="32" y="318"/>
                </a:lnTo>
                <a:lnTo>
                  <a:pt x="63" y="234"/>
                </a:lnTo>
                <a:lnTo>
                  <a:pt x="48" y="234"/>
                </a:lnTo>
                <a:lnTo>
                  <a:pt x="48" y="251"/>
                </a:lnTo>
                <a:lnTo>
                  <a:pt x="95" y="184"/>
                </a:lnTo>
                <a:lnTo>
                  <a:pt x="95" y="184"/>
                </a:lnTo>
                <a:lnTo>
                  <a:pt x="126" y="151"/>
                </a:lnTo>
                <a:lnTo>
                  <a:pt x="158" y="117"/>
                </a:lnTo>
                <a:lnTo>
                  <a:pt x="252" y="67"/>
                </a:lnTo>
                <a:lnTo>
                  <a:pt x="331" y="34"/>
                </a:lnTo>
                <a:lnTo>
                  <a:pt x="315" y="17"/>
                </a:lnTo>
                <a:lnTo>
                  <a:pt x="315" y="34"/>
                </a:lnTo>
                <a:lnTo>
                  <a:pt x="394" y="34"/>
                </a:lnTo>
                <a:lnTo>
                  <a:pt x="394" y="0"/>
                </a:lnTo>
                <a:lnTo>
                  <a:pt x="331" y="0"/>
                </a:lnTo>
                <a:lnTo>
                  <a:pt x="315" y="0"/>
                </a:lnTo>
                <a:lnTo>
                  <a:pt x="236" y="34"/>
                </a:lnTo>
                <a:lnTo>
                  <a:pt x="142" y="84"/>
                </a:lnTo>
                <a:lnTo>
                  <a:pt x="111" y="117"/>
                </a:lnTo>
                <a:lnTo>
                  <a:pt x="79" y="168"/>
                </a:lnTo>
                <a:lnTo>
                  <a:pt x="79" y="168"/>
                </a:lnTo>
                <a:lnTo>
                  <a:pt x="79" y="151"/>
                </a:lnTo>
                <a:lnTo>
                  <a:pt x="32" y="218"/>
                </a:lnTo>
                <a:lnTo>
                  <a:pt x="32" y="234"/>
                </a:lnTo>
                <a:lnTo>
                  <a:pt x="32" y="234"/>
                </a:lnTo>
                <a:lnTo>
                  <a:pt x="0" y="301"/>
                </a:lnTo>
                <a:close/>
              </a:path>
            </a:pathLst>
          </a:custGeom>
          <a:solidFill>
            <a:srgbClr val="C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4941" name="Freeform 13"/>
          <p:cNvSpPr>
            <a:spLocks/>
          </p:cNvSpPr>
          <p:nvPr/>
        </p:nvSpPr>
        <p:spPr bwMode="auto">
          <a:xfrm>
            <a:off x="4562475" y="3279775"/>
            <a:ext cx="798513" cy="557213"/>
          </a:xfrm>
          <a:custGeom>
            <a:avLst/>
            <a:gdLst/>
            <a:ahLst/>
            <a:cxnLst>
              <a:cxn ang="0">
                <a:pos x="0" y="0"/>
              </a:cxn>
              <a:cxn ang="0">
                <a:pos x="0" y="33"/>
              </a:cxn>
              <a:cxn ang="0">
                <a:pos x="126" y="50"/>
              </a:cxn>
              <a:cxn ang="0">
                <a:pos x="252" y="83"/>
              </a:cxn>
              <a:cxn ang="0">
                <a:pos x="362" y="150"/>
              </a:cxn>
              <a:cxn ang="0">
                <a:pos x="409" y="184"/>
              </a:cxn>
              <a:cxn ang="0">
                <a:pos x="440" y="217"/>
              </a:cxn>
              <a:cxn ang="0">
                <a:pos x="456" y="250"/>
              </a:cxn>
              <a:cxn ang="0">
                <a:pos x="472" y="234"/>
              </a:cxn>
              <a:cxn ang="0">
                <a:pos x="456" y="234"/>
              </a:cxn>
              <a:cxn ang="0">
                <a:pos x="472" y="284"/>
              </a:cxn>
              <a:cxn ang="0">
                <a:pos x="472" y="351"/>
              </a:cxn>
              <a:cxn ang="0">
                <a:pos x="503" y="351"/>
              </a:cxn>
              <a:cxn ang="0">
                <a:pos x="503" y="284"/>
              </a:cxn>
              <a:cxn ang="0">
                <a:pos x="488" y="234"/>
              </a:cxn>
              <a:cxn ang="0">
                <a:pos x="472" y="217"/>
              </a:cxn>
              <a:cxn ang="0">
                <a:pos x="456" y="184"/>
              </a:cxn>
              <a:cxn ang="0">
                <a:pos x="425" y="150"/>
              </a:cxn>
              <a:cxn ang="0">
                <a:pos x="377" y="117"/>
              </a:cxn>
              <a:cxn ang="0">
                <a:pos x="267" y="50"/>
              </a:cxn>
              <a:cxn ang="0">
                <a:pos x="141" y="16"/>
              </a:cxn>
              <a:cxn ang="0">
                <a:pos x="0" y="0"/>
              </a:cxn>
            </a:cxnLst>
            <a:rect l="0" t="0" r="r" b="b"/>
            <a:pathLst>
              <a:path w="503" h="351">
                <a:moveTo>
                  <a:pt x="0" y="0"/>
                </a:moveTo>
                <a:lnTo>
                  <a:pt x="0" y="33"/>
                </a:lnTo>
                <a:lnTo>
                  <a:pt x="126" y="50"/>
                </a:lnTo>
                <a:lnTo>
                  <a:pt x="252" y="83"/>
                </a:lnTo>
                <a:lnTo>
                  <a:pt x="362" y="150"/>
                </a:lnTo>
                <a:lnTo>
                  <a:pt x="409" y="184"/>
                </a:lnTo>
                <a:lnTo>
                  <a:pt x="440" y="217"/>
                </a:lnTo>
                <a:lnTo>
                  <a:pt x="456" y="250"/>
                </a:lnTo>
                <a:lnTo>
                  <a:pt x="472" y="234"/>
                </a:lnTo>
                <a:lnTo>
                  <a:pt x="456" y="234"/>
                </a:lnTo>
                <a:lnTo>
                  <a:pt x="472" y="284"/>
                </a:lnTo>
                <a:lnTo>
                  <a:pt x="472" y="351"/>
                </a:lnTo>
                <a:lnTo>
                  <a:pt x="503" y="351"/>
                </a:lnTo>
                <a:lnTo>
                  <a:pt x="503" y="284"/>
                </a:lnTo>
                <a:lnTo>
                  <a:pt x="488" y="234"/>
                </a:lnTo>
                <a:lnTo>
                  <a:pt x="472" y="217"/>
                </a:lnTo>
                <a:lnTo>
                  <a:pt x="456" y="184"/>
                </a:lnTo>
                <a:lnTo>
                  <a:pt x="425" y="150"/>
                </a:lnTo>
                <a:lnTo>
                  <a:pt x="377" y="117"/>
                </a:lnTo>
                <a:lnTo>
                  <a:pt x="267" y="50"/>
                </a:lnTo>
                <a:lnTo>
                  <a:pt x="141" y="16"/>
                </a:lnTo>
                <a:lnTo>
                  <a:pt x="0" y="0"/>
                </a:lnTo>
                <a:close/>
              </a:path>
            </a:pathLst>
          </a:custGeom>
          <a:solidFill>
            <a:srgbClr val="C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4942" name="Freeform 14"/>
          <p:cNvSpPr>
            <a:spLocks/>
          </p:cNvSpPr>
          <p:nvPr/>
        </p:nvSpPr>
        <p:spPr bwMode="auto">
          <a:xfrm>
            <a:off x="4587875" y="3783013"/>
            <a:ext cx="798513" cy="717550"/>
          </a:xfrm>
          <a:custGeom>
            <a:avLst/>
            <a:gdLst/>
            <a:ahLst/>
            <a:cxnLst>
              <a:cxn ang="0">
                <a:pos x="0" y="418"/>
              </a:cxn>
              <a:cxn ang="0">
                <a:pos x="0" y="452"/>
              </a:cxn>
              <a:cxn ang="0">
                <a:pos x="141" y="435"/>
              </a:cxn>
              <a:cxn ang="0">
                <a:pos x="204" y="418"/>
              </a:cxn>
              <a:cxn ang="0">
                <a:pos x="267" y="385"/>
              </a:cxn>
              <a:cxn ang="0">
                <a:pos x="314" y="351"/>
              </a:cxn>
              <a:cxn ang="0">
                <a:pos x="377" y="301"/>
              </a:cxn>
              <a:cxn ang="0">
                <a:pos x="424" y="251"/>
              </a:cxn>
              <a:cxn ang="0">
                <a:pos x="424" y="234"/>
              </a:cxn>
              <a:cxn ang="0">
                <a:pos x="456" y="201"/>
              </a:cxn>
              <a:cxn ang="0">
                <a:pos x="440" y="184"/>
              </a:cxn>
              <a:cxn ang="0">
                <a:pos x="456" y="201"/>
              </a:cxn>
              <a:cxn ang="0">
                <a:pos x="472" y="168"/>
              </a:cxn>
              <a:cxn ang="0">
                <a:pos x="487" y="151"/>
              </a:cxn>
              <a:cxn ang="0">
                <a:pos x="503" y="101"/>
              </a:cxn>
              <a:cxn ang="0">
                <a:pos x="503" y="0"/>
              </a:cxn>
              <a:cxn ang="0">
                <a:pos x="472" y="0"/>
              </a:cxn>
              <a:cxn ang="0">
                <a:pos x="472" y="101"/>
              </a:cxn>
              <a:cxn ang="0">
                <a:pos x="456" y="151"/>
              </a:cxn>
              <a:cxn ang="0">
                <a:pos x="472" y="151"/>
              </a:cxn>
              <a:cxn ang="0">
                <a:pos x="456" y="134"/>
              </a:cxn>
              <a:cxn ang="0">
                <a:pos x="440" y="168"/>
              </a:cxn>
              <a:cxn ang="0">
                <a:pos x="424" y="184"/>
              </a:cxn>
              <a:cxn ang="0">
                <a:pos x="440" y="184"/>
              </a:cxn>
              <a:cxn ang="0">
                <a:pos x="393" y="234"/>
              </a:cxn>
              <a:cxn ang="0">
                <a:pos x="409" y="234"/>
              </a:cxn>
              <a:cxn ang="0">
                <a:pos x="409" y="218"/>
              </a:cxn>
              <a:cxn ang="0">
                <a:pos x="361" y="268"/>
              </a:cxn>
              <a:cxn ang="0">
                <a:pos x="298" y="318"/>
              </a:cxn>
              <a:cxn ang="0">
                <a:pos x="251" y="351"/>
              </a:cxn>
              <a:cxn ang="0">
                <a:pos x="188" y="385"/>
              </a:cxn>
              <a:cxn ang="0">
                <a:pos x="125" y="402"/>
              </a:cxn>
              <a:cxn ang="0">
                <a:pos x="0" y="418"/>
              </a:cxn>
            </a:cxnLst>
            <a:rect l="0" t="0" r="r" b="b"/>
            <a:pathLst>
              <a:path w="503" h="452">
                <a:moveTo>
                  <a:pt x="0" y="418"/>
                </a:moveTo>
                <a:lnTo>
                  <a:pt x="0" y="452"/>
                </a:lnTo>
                <a:lnTo>
                  <a:pt x="141" y="435"/>
                </a:lnTo>
                <a:lnTo>
                  <a:pt x="204" y="418"/>
                </a:lnTo>
                <a:lnTo>
                  <a:pt x="267" y="385"/>
                </a:lnTo>
                <a:lnTo>
                  <a:pt x="314" y="351"/>
                </a:lnTo>
                <a:lnTo>
                  <a:pt x="377" y="301"/>
                </a:lnTo>
                <a:lnTo>
                  <a:pt x="424" y="251"/>
                </a:lnTo>
                <a:lnTo>
                  <a:pt x="424" y="234"/>
                </a:lnTo>
                <a:lnTo>
                  <a:pt x="456" y="201"/>
                </a:lnTo>
                <a:lnTo>
                  <a:pt x="440" y="184"/>
                </a:lnTo>
                <a:lnTo>
                  <a:pt x="456" y="201"/>
                </a:lnTo>
                <a:lnTo>
                  <a:pt x="472" y="168"/>
                </a:lnTo>
                <a:lnTo>
                  <a:pt x="487" y="151"/>
                </a:lnTo>
                <a:lnTo>
                  <a:pt x="503" y="101"/>
                </a:lnTo>
                <a:lnTo>
                  <a:pt x="503" y="0"/>
                </a:lnTo>
                <a:lnTo>
                  <a:pt x="472" y="0"/>
                </a:lnTo>
                <a:lnTo>
                  <a:pt x="472" y="101"/>
                </a:lnTo>
                <a:lnTo>
                  <a:pt x="456" y="151"/>
                </a:lnTo>
                <a:lnTo>
                  <a:pt x="472" y="151"/>
                </a:lnTo>
                <a:lnTo>
                  <a:pt x="456" y="134"/>
                </a:lnTo>
                <a:lnTo>
                  <a:pt x="440" y="168"/>
                </a:lnTo>
                <a:lnTo>
                  <a:pt x="424" y="184"/>
                </a:lnTo>
                <a:lnTo>
                  <a:pt x="440" y="184"/>
                </a:lnTo>
                <a:lnTo>
                  <a:pt x="393" y="234"/>
                </a:lnTo>
                <a:lnTo>
                  <a:pt x="409" y="234"/>
                </a:lnTo>
                <a:lnTo>
                  <a:pt x="409" y="218"/>
                </a:lnTo>
                <a:lnTo>
                  <a:pt x="361" y="268"/>
                </a:lnTo>
                <a:lnTo>
                  <a:pt x="298" y="318"/>
                </a:lnTo>
                <a:lnTo>
                  <a:pt x="251" y="351"/>
                </a:lnTo>
                <a:lnTo>
                  <a:pt x="188" y="385"/>
                </a:lnTo>
                <a:lnTo>
                  <a:pt x="125" y="402"/>
                </a:lnTo>
                <a:lnTo>
                  <a:pt x="0" y="418"/>
                </a:lnTo>
                <a:close/>
              </a:path>
            </a:pathLst>
          </a:custGeom>
          <a:solidFill>
            <a:srgbClr val="FF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4943" name="Rectangle 15"/>
          <p:cNvSpPr>
            <a:spLocks noChangeArrowheads="1"/>
          </p:cNvSpPr>
          <p:nvPr/>
        </p:nvSpPr>
        <p:spPr bwMode="auto">
          <a:xfrm>
            <a:off x="341313" y="2138363"/>
            <a:ext cx="3946525" cy="1141412"/>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41994" name="Rectangle 16"/>
          <p:cNvSpPr>
            <a:spLocks noChangeArrowheads="1"/>
          </p:cNvSpPr>
          <p:nvPr/>
        </p:nvSpPr>
        <p:spPr bwMode="auto">
          <a:xfrm>
            <a:off x="854075" y="2217738"/>
            <a:ext cx="3021013" cy="365125"/>
          </a:xfrm>
          <a:prstGeom prst="rect">
            <a:avLst/>
          </a:prstGeom>
          <a:noFill/>
          <a:ln w="9525">
            <a:noFill/>
            <a:miter lim="800000"/>
            <a:headEnd/>
            <a:tailEnd/>
          </a:ln>
        </p:spPr>
        <p:txBody>
          <a:bodyPr wrap="none" lIns="0" tIns="0" rIns="0" bIns="0">
            <a:spAutoFit/>
          </a:bodyPr>
          <a:lstStyle/>
          <a:p>
            <a:r>
              <a:rPr kumimoji="0" lang="en-US" i="0">
                <a:solidFill>
                  <a:schemeClr val="tx1"/>
                </a:solidFill>
                <a:latin typeface="Arial" pitchFamily="34" charset="0"/>
              </a:rPr>
              <a:t>domain understanding</a:t>
            </a:r>
          </a:p>
        </p:txBody>
      </p:sp>
      <p:sp>
        <p:nvSpPr>
          <p:cNvPr id="1404945" name="Rectangle 17"/>
          <p:cNvSpPr>
            <a:spLocks noChangeArrowheads="1"/>
          </p:cNvSpPr>
          <p:nvPr/>
        </p:nvSpPr>
        <p:spPr bwMode="auto">
          <a:xfrm>
            <a:off x="1597025" y="2641600"/>
            <a:ext cx="1560513"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latin typeface="Arial" pitchFamily="34" charset="0"/>
              </a:rPr>
              <a:t>&amp; elicitation</a:t>
            </a:r>
            <a:endParaRPr lang="en-US" i="0">
              <a:effectLst>
                <a:outerShdw blurRad="38100" dist="38100" dir="2700000" algn="tl">
                  <a:srgbClr val="000000"/>
                </a:outerShdw>
              </a:effectLst>
            </a:endParaRPr>
          </a:p>
        </p:txBody>
      </p:sp>
      <p:sp>
        <p:nvSpPr>
          <p:cNvPr id="1404946" name="Rectangle 18"/>
          <p:cNvSpPr>
            <a:spLocks noChangeArrowheads="1"/>
          </p:cNvSpPr>
          <p:nvPr/>
        </p:nvSpPr>
        <p:spPr bwMode="auto">
          <a:xfrm>
            <a:off x="5635625" y="2163763"/>
            <a:ext cx="3248025" cy="1141412"/>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4947" name="Rectangle 19"/>
          <p:cNvSpPr>
            <a:spLocks noChangeArrowheads="1"/>
          </p:cNvSpPr>
          <p:nvPr/>
        </p:nvSpPr>
        <p:spPr bwMode="auto">
          <a:xfrm>
            <a:off x="6073775" y="2259013"/>
            <a:ext cx="1392238"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latin typeface="Arial" pitchFamily="34" charset="0"/>
              </a:rPr>
              <a:t>evaluation</a:t>
            </a:r>
            <a:endParaRPr lang="en-US" i="0">
              <a:effectLst>
                <a:outerShdw blurRad="38100" dist="38100" dir="2700000" algn="tl">
                  <a:srgbClr val="000000"/>
                </a:outerShdw>
              </a:effectLst>
            </a:endParaRPr>
          </a:p>
        </p:txBody>
      </p:sp>
      <p:sp>
        <p:nvSpPr>
          <p:cNvPr id="1404948" name="Rectangle 20"/>
          <p:cNvSpPr>
            <a:spLocks noChangeArrowheads="1"/>
          </p:cNvSpPr>
          <p:nvPr/>
        </p:nvSpPr>
        <p:spPr bwMode="auto">
          <a:xfrm>
            <a:off x="5889625" y="2682875"/>
            <a:ext cx="1746250"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latin typeface="Arial" pitchFamily="34" charset="0"/>
              </a:rPr>
              <a:t>&amp; agreement</a:t>
            </a:r>
            <a:endParaRPr lang="en-US" i="0">
              <a:effectLst>
                <a:outerShdw blurRad="38100" dist="38100" dir="2700000" algn="tl">
                  <a:srgbClr val="000000"/>
                </a:outerShdw>
              </a:effectLst>
            </a:endParaRPr>
          </a:p>
        </p:txBody>
      </p:sp>
      <p:sp>
        <p:nvSpPr>
          <p:cNvPr id="1404949" name="Rectangle 21"/>
          <p:cNvSpPr>
            <a:spLocks noChangeArrowheads="1"/>
          </p:cNvSpPr>
          <p:nvPr/>
        </p:nvSpPr>
        <p:spPr bwMode="auto">
          <a:xfrm>
            <a:off x="2738438" y="1155700"/>
            <a:ext cx="4021137" cy="742950"/>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42000" name="Rectangle 22"/>
          <p:cNvSpPr>
            <a:spLocks noChangeArrowheads="1"/>
          </p:cNvSpPr>
          <p:nvPr/>
        </p:nvSpPr>
        <p:spPr bwMode="auto">
          <a:xfrm>
            <a:off x="3124200" y="1387475"/>
            <a:ext cx="3049588" cy="365125"/>
          </a:xfrm>
          <a:prstGeom prst="rect">
            <a:avLst/>
          </a:prstGeom>
          <a:noFill/>
          <a:ln w="9525">
            <a:noFill/>
            <a:miter lim="800000"/>
            <a:headEnd/>
            <a:tailEnd/>
          </a:ln>
        </p:spPr>
        <p:txBody>
          <a:bodyPr wrap="none" lIns="0" tIns="0" rIns="0" bIns="0">
            <a:spAutoFit/>
          </a:bodyPr>
          <a:lstStyle/>
          <a:p>
            <a:r>
              <a:rPr kumimoji="0" lang="en-US">
                <a:solidFill>
                  <a:srgbClr val="0000FF"/>
                </a:solidFill>
                <a:latin typeface="Times New Roman" pitchFamily="18" charset="0"/>
              </a:rPr>
              <a:t> </a:t>
            </a:r>
            <a:r>
              <a:rPr kumimoji="0" lang="en-US">
                <a:solidFill>
                  <a:srgbClr val="009999"/>
                </a:solidFill>
                <a:latin typeface="Comic Sans MS" pitchFamily="66" charset="0"/>
              </a:rPr>
              <a:t>alternative proposals</a:t>
            </a:r>
            <a:endParaRPr lang="en-US" i="0"/>
          </a:p>
        </p:txBody>
      </p:sp>
      <p:sp>
        <p:nvSpPr>
          <p:cNvPr id="1404951" name="Rectangle 23"/>
          <p:cNvSpPr>
            <a:spLocks noChangeArrowheads="1"/>
          </p:cNvSpPr>
          <p:nvPr/>
        </p:nvSpPr>
        <p:spPr bwMode="auto">
          <a:xfrm>
            <a:off x="5910263" y="3863975"/>
            <a:ext cx="2698750" cy="1166813"/>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42002" name="Rectangle 24"/>
          <p:cNvSpPr>
            <a:spLocks noChangeArrowheads="1"/>
          </p:cNvSpPr>
          <p:nvPr/>
        </p:nvSpPr>
        <p:spPr bwMode="auto">
          <a:xfrm>
            <a:off x="6872288" y="3943350"/>
            <a:ext cx="976312" cy="365125"/>
          </a:xfrm>
          <a:prstGeom prst="rect">
            <a:avLst/>
          </a:prstGeom>
          <a:noFill/>
          <a:ln w="9525">
            <a:noFill/>
            <a:miter lim="800000"/>
            <a:headEnd/>
            <a:tailEnd/>
          </a:ln>
        </p:spPr>
        <p:txBody>
          <a:bodyPr wrap="none" lIns="0" tIns="0" rIns="0" bIns="0">
            <a:spAutoFit/>
          </a:bodyPr>
          <a:lstStyle/>
          <a:p>
            <a:r>
              <a:rPr kumimoji="0" lang="en-US">
                <a:solidFill>
                  <a:srgbClr val="009999"/>
                </a:solidFill>
                <a:latin typeface="Comic Sans MS" pitchFamily="66" charset="0"/>
              </a:rPr>
              <a:t>agreed</a:t>
            </a:r>
            <a:endParaRPr lang="en-US" i="0">
              <a:solidFill>
                <a:srgbClr val="009999"/>
              </a:solidFill>
              <a:latin typeface="Comic Sans MS" pitchFamily="66" charset="0"/>
            </a:endParaRPr>
          </a:p>
        </p:txBody>
      </p:sp>
      <p:sp>
        <p:nvSpPr>
          <p:cNvPr id="42003" name="Rectangle 25"/>
          <p:cNvSpPr>
            <a:spLocks noChangeArrowheads="1"/>
          </p:cNvSpPr>
          <p:nvPr/>
        </p:nvSpPr>
        <p:spPr bwMode="auto">
          <a:xfrm>
            <a:off x="6429375" y="4316413"/>
            <a:ext cx="1882775" cy="365125"/>
          </a:xfrm>
          <a:prstGeom prst="rect">
            <a:avLst/>
          </a:prstGeom>
          <a:noFill/>
          <a:ln w="9525">
            <a:noFill/>
            <a:miter lim="800000"/>
            <a:headEnd/>
            <a:tailEnd/>
          </a:ln>
        </p:spPr>
        <p:txBody>
          <a:bodyPr wrap="none" lIns="0" tIns="0" rIns="0" bIns="0">
            <a:spAutoFit/>
          </a:bodyPr>
          <a:lstStyle/>
          <a:p>
            <a:r>
              <a:rPr kumimoji="0" lang="en-US">
                <a:solidFill>
                  <a:srgbClr val="009999"/>
                </a:solidFill>
                <a:latin typeface="Comic Sans MS" pitchFamily="66" charset="0"/>
              </a:rPr>
              <a:t>requirements</a:t>
            </a:r>
            <a:endParaRPr lang="en-US" i="0">
              <a:latin typeface="Comic Sans MS" pitchFamily="66" charset="0"/>
            </a:endParaRPr>
          </a:p>
        </p:txBody>
      </p:sp>
      <p:sp>
        <p:nvSpPr>
          <p:cNvPr id="1404954" name="Rectangle 26"/>
          <p:cNvSpPr>
            <a:spLocks noChangeArrowheads="1"/>
          </p:cNvSpPr>
          <p:nvPr/>
        </p:nvSpPr>
        <p:spPr bwMode="auto">
          <a:xfrm>
            <a:off x="2463800" y="5959475"/>
            <a:ext cx="4321175" cy="769938"/>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4955" name="Rectangle 27"/>
          <p:cNvSpPr>
            <a:spLocks noChangeArrowheads="1"/>
          </p:cNvSpPr>
          <p:nvPr/>
        </p:nvSpPr>
        <p:spPr bwMode="auto">
          <a:xfrm>
            <a:off x="2946400" y="6019800"/>
            <a:ext cx="3681413" cy="365125"/>
          </a:xfrm>
          <a:prstGeom prst="rect">
            <a:avLst/>
          </a:prstGeom>
          <a:noFill/>
          <a:ln w="9525">
            <a:noFill/>
            <a:miter lim="800000"/>
            <a:headEnd/>
            <a:tailEnd/>
          </a:ln>
        </p:spPr>
        <p:txBody>
          <a:bodyPr wrap="none" lIns="0" tIns="0" rIns="0" bIns="0">
            <a:spAutoFit/>
          </a:bodyPr>
          <a:lstStyle/>
          <a:p>
            <a:pPr>
              <a:defRPr/>
            </a:pPr>
            <a:r>
              <a:rPr kumimoji="0" lang="en-US">
                <a:solidFill>
                  <a:srgbClr val="009999"/>
                </a:solidFill>
                <a:effectLst>
                  <a:outerShdw blurRad="38100" dist="38100" dir="2700000" algn="tl">
                    <a:srgbClr val="000000"/>
                  </a:outerShdw>
                </a:effectLst>
                <a:latin typeface="Comic Sans MS" pitchFamily="66" charset="0"/>
              </a:rPr>
              <a:t>documented requirements</a:t>
            </a:r>
            <a:endParaRPr lang="en-US" i="0">
              <a:effectLst>
                <a:outerShdw blurRad="38100" dist="38100" dir="2700000" algn="tl">
                  <a:srgbClr val="000000"/>
                </a:outerShdw>
              </a:effectLst>
              <a:latin typeface="Comic Sans MS" pitchFamily="66" charset="0"/>
            </a:endParaRPr>
          </a:p>
        </p:txBody>
      </p:sp>
      <p:sp>
        <p:nvSpPr>
          <p:cNvPr id="1404956" name="Rectangle 28"/>
          <p:cNvSpPr>
            <a:spLocks noChangeArrowheads="1"/>
          </p:cNvSpPr>
          <p:nvPr/>
        </p:nvSpPr>
        <p:spPr bwMode="auto">
          <a:xfrm>
            <a:off x="465138" y="3863975"/>
            <a:ext cx="2573337" cy="1166813"/>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4957" name="Rectangle 29"/>
          <p:cNvSpPr>
            <a:spLocks noChangeArrowheads="1"/>
          </p:cNvSpPr>
          <p:nvPr/>
        </p:nvSpPr>
        <p:spPr bwMode="auto">
          <a:xfrm>
            <a:off x="5535613" y="4951413"/>
            <a:ext cx="3248025" cy="1141412"/>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4958" name="Rectangle 30"/>
          <p:cNvSpPr>
            <a:spLocks noChangeArrowheads="1"/>
          </p:cNvSpPr>
          <p:nvPr/>
        </p:nvSpPr>
        <p:spPr bwMode="auto">
          <a:xfrm>
            <a:off x="6096000" y="4864100"/>
            <a:ext cx="1679575"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effectLst>
                  <a:outerShdw blurRad="38100" dist="38100" dir="2700000" algn="tl">
                    <a:srgbClr val="000000"/>
                  </a:outerShdw>
                </a:effectLst>
                <a:latin typeface="Arial" pitchFamily="34" charset="0"/>
              </a:rPr>
              <a:t>specification</a:t>
            </a:r>
            <a:endParaRPr lang="en-US" i="0">
              <a:solidFill>
                <a:schemeClr val="tx1"/>
              </a:solidFill>
              <a:effectLst>
                <a:outerShdw blurRad="38100" dist="38100" dir="2700000" algn="tl">
                  <a:srgbClr val="000000"/>
                </a:outerShdw>
              </a:effectLst>
            </a:endParaRPr>
          </a:p>
        </p:txBody>
      </p:sp>
      <p:sp>
        <p:nvSpPr>
          <p:cNvPr id="1404959" name="Rectangle 31"/>
          <p:cNvSpPr>
            <a:spLocks noChangeArrowheads="1"/>
          </p:cNvSpPr>
          <p:nvPr/>
        </p:nvSpPr>
        <p:spPr bwMode="auto">
          <a:xfrm>
            <a:off x="5791200" y="5273675"/>
            <a:ext cx="2289175"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effectLst>
                  <a:outerShdw blurRad="38100" dist="38100" dir="2700000" algn="tl">
                    <a:srgbClr val="000000"/>
                  </a:outerShdw>
                </a:effectLst>
                <a:latin typeface="Arial" pitchFamily="34" charset="0"/>
              </a:rPr>
              <a:t>&amp; documentation</a:t>
            </a:r>
            <a:endParaRPr lang="en-US" i="0">
              <a:effectLst>
                <a:outerShdw blurRad="38100" dist="38100" dir="2700000" algn="tl">
                  <a:srgbClr val="000000"/>
                </a:outerShdw>
              </a:effectLst>
            </a:endParaRPr>
          </a:p>
        </p:txBody>
      </p:sp>
      <p:sp>
        <p:nvSpPr>
          <p:cNvPr id="1404960" name="Oval 32"/>
          <p:cNvSpPr>
            <a:spLocks noChangeArrowheads="1"/>
          </p:cNvSpPr>
          <p:nvPr/>
        </p:nvSpPr>
        <p:spPr bwMode="auto">
          <a:xfrm>
            <a:off x="3862388" y="3651250"/>
            <a:ext cx="274637" cy="265113"/>
          </a:xfrm>
          <a:prstGeom prst="ellipse">
            <a:avLst/>
          </a:prstGeom>
          <a:solidFill>
            <a:srgbClr val="000000"/>
          </a:solid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smtClean="0"/>
              <a:t>Specification &amp; documentation</a:t>
            </a:r>
          </a:p>
        </p:txBody>
      </p:sp>
      <p:sp>
        <p:nvSpPr>
          <p:cNvPr id="1419267" name="Rectangle 3"/>
          <p:cNvSpPr>
            <a:spLocks noGrp="1" noChangeArrowheads="1"/>
          </p:cNvSpPr>
          <p:nvPr>
            <p:ph idx="1"/>
          </p:nvPr>
        </p:nvSpPr>
        <p:spPr/>
        <p:txBody>
          <a:bodyPr>
            <a:normAutofit/>
          </a:bodyPr>
          <a:lstStyle/>
          <a:p>
            <a:r>
              <a:rPr lang="fr-FR" dirty="0" err="1" smtClean="0"/>
              <a:t>Precise</a:t>
            </a:r>
            <a:r>
              <a:rPr lang="fr-FR" dirty="0" smtClean="0"/>
              <a:t> </a:t>
            </a:r>
            <a:r>
              <a:rPr lang="fr-FR" dirty="0" err="1" smtClean="0"/>
              <a:t>definition</a:t>
            </a:r>
            <a:r>
              <a:rPr lang="fr-FR" dirty="0" smtClean="0"/>
              <a:t> of all </a:t>
            </a:r>
            <a:r>
              <a:rPr lang="fr-FR" dirty="0" err="1" smtClean="0"/>
              <a:t>features</a:t>
            </a:r>
            <a:r>
              <a:rPr lang="fr-FR" dirty="0" smtClean="0"/>
              <a:t> of the </a:t>
            </a:r>
            <a:r>
              <a:rPr lang="fr-FR" dirty="0" err="1" smtClean="0"/>
              <a:t>agreed</a:t>
            </a:r>
            <a:r>
              <a:rPr lang="fr-FR" dirty="0" smtClean="0"/>
              <a:t> system</a:t>
            </a:r>
          </a:p>
          <a:p>
            <a:pPr lvl="1"/>
            <a:r>
              <a:rPr lang="fr-FR" dirty="0" smtClean="0"/>
              <a:t>Objectives, concepts, relevant </a:t>
            </a:r>
            <a:r>
              <a:rPr lang="fr-FR" dirty="0" err="1" smtClean="0"/>
              <a:t>domain</a:t>
            </a:r>
            <a:r>
              <a:rPr lang="fr-FR" dirty="0" smtClean="0"/>
              <a:t> </a:t>
            </a:r>
            <a:r>
              <a:rPr lang="fr-FR" dirty="0" err="1" smtClean="0"/>
              <a:t>properties</a:t>
            </a:r>
            <a:r>
              <a:rPr lang="fr-FR" dirty="0" smtClean="0"/>
              <a:t>, system/software </a:t>
            </a:r>
            <a:r>
              <a:rPr lang="fr-FR" dirty="0" err="1" smtClean="0"/>
              <a:t>requirements</a:t>
            </a:r>
            <a:r>
              <a:rPr lang="fr-FR" dirty="0" smtClean="0"/>
              <a:t>, </a:t>
            </a:r>
            <a:r>
              <a:rPr lang="fr-FR" dirty="0" err="1" smtClean="0"/>
              <a:t>assumptions</a:t>
            </a:r>
            <a:r>
              <a:rPr lang="fr-FR" dirty="0" smtClean="0"/>
              <a:t>, </a:t>
            </a:r>
            <a:r>
              <a:rPr lang="fr-FR" dirty="0" err="1" smtClean="0"/>
              <a:t>responsibilities</a:t>
            </a:r>
            <a:endParaRPr lang="fr-FR" dirty="0" smtClean="0"/>
          </a:p>
          <a:p>
            <a:pPr lvl="1"/>
            <a:r>
              <a:rPr lang="fr-FR" dirty="0" smtClean="0"/>
              <a:t>Satisfaction arguments, </a:t>
            </a:r>
            <a:r>
              <a:rPr lang="fr-FR" dirty="0" err="1" smtClean="0"/>
              <a:t>rationale</a:t>
            </a:r>
            <a:r>
              <a:rPr lang="fr-FR" dirty="0" smtClean="0"/>
              <a:t> for options </a:t>
            </a:r>
            <a:r>
              <a:rPr lang="fr-FR" dirty="0" err="1" smtClean="0"/>
              <a:t>taken</a:t>
            </a:r>
            <a:endParaRPr lang="fr-FR" dirty="0" smtClean="0"/>
          </a:p>
          <a:p>
            <a:pPr lvl="1"/>
            <a:r>
              <a:rPr lang="fr-FR" dirty="0" err="1" smtClean="0"/>
              <a:t>Likely</a:t>
            </a:r>
            <a:r>
              <a:rPr lang="fr-FR" dirty="0" smtClean="0"/>
              <a:t> system </a:t>
            </a:r>
            <a:r>
              <a:rPr lang="fr-FR" dirty="0" err="1" smtClean="0"/>
              <a:t>variants</a:t>
            </a:r>
            <a:r>
              <a:rPr lang="fr-FR" dirty="0" smtClean="0"/>
              <a:t> &amp; </a:t>
            </a:r>
            <a:r>
              <a:rPr lang="fr-FR" dirty="0" err="1" smtClean="0"/>
              <a:t>evolutions</a:t>
            </a:r>
            <a:endParaRPr lang="fr-FR" dirty="0" smtClean="0"/>
          </a:p>
          <a:p>
            <a:pPr lvl="1"/>
            <a:r>
              <a:rPr lang="fr-FR" dirty="0" err="1" smtClean="0"/>
              <a:t>Estimated</a:t>
            </a:r>
            <a:r>
              <a:rPr lang="fr-FR" dirty="0" smtClean="0"/>
              <a:t> </a:t>
            </a:r>
            <a:r>
              <a:rPr lang="fr-FR" dirty="0" err="1" smtClean="0"/>
              <a:t>costs</a:t>
            </a:r>
            <a:endParaRPr lang="fr-FR" dirty="0" smtClean="0"/>
          </a:p>
          <a:p>
            <a:r>
              <a:rPr lang="fr-FR" dirty="0" err="1" smtClean="0"/>
              <a:t>Organization</a:t>
            </a:r>
            <a:r>
              <a:rPr lang="fr-FR" dirty="0" smtClean="0"/>
              <a:t> of </a:t>
            </a:r>
            <a:r>
              <a:rPr lang="fr-FR" dirty="0" err="1" smtClean="0"/>
              <a:t>these</a:t>
            </a:r>
            <a:r>
              <a:rPr lang="fr-FR" dirty="0" smtClean="0"/>
              <a:t> in a </a:t>
            </a:r>
            <a:r>
              <a:rPr lang="fr-FR" dirty="0" err="1" smtClean="0"/>
              <a:t>coherent</a:t>
            </a:r>
            <a:r>
              <a:rPr lang="fr-FR" dirty="0" smtClean="0"/>
              <a:t> structure</a:t>
            </a:r>
          </a:p>
          <a:p>
            <a:r>
              <a:rPr lang="fr-FR" dirty="0" smtClean="0"/>
              <a:t>Documentation in a </a:t>
            </a:r>
            <a:r>
              <a:rPr lang="fr-FR" dirty="0" err="1" smtClean="0"/>
              <a:t>form</a:t>
            </a:r>
            <a:r>
              <a:rPr lang="fr-FR" dirty="0" smtClean="0"/>
              <a:t> </a:t>
            </a:r>
            <a:r>
              <a:rPr lang="fr-FR" dirty="0" err="1" smtClean="0"/>
              <a:t>understandable</a:t>
            </a:r>
            <a:r>
              <a:rPr lang="fr-FR" dirty="0" smtClean="0"/>
              <a:t> by all parties</a:t>
            </a:r>
          </a:p>
          <a:p>
            <a:r>
              <a:rPr lang="fr-FR" dirty="0" err="1" smtClean="0"/>
              <a:t>Resulting</a:t>
            </a:r>
            <a:r>
              <a:rPr lang="fr-FR" dirty="0" smtClean="0"/>
              <a:t> </a:t>
            </a:r>
            <a:r>
              <a:rPr lang="fr-FR" dirty="0" err="1" smtClean="0"/>
              <a:t>product</a:t>
            </a:r>
            <a:r>
              <a:rPr lang="fr-FR" dirty="0" smtClean="0"/>
              <a:t>:  </a:t>
            </a:r>
            <a:r>
              <a:rPr lang="fr-FR" b="1" dirty="0" err="1" smtClean="0"/>
              <a:t>Requirements</a:t>
            </a:r>
            <a:r>
              <a:rPr lang="fr-FR" b="1" dirty="0" smtClean="0"/>
              <a:t> Document (RD)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smtClean="0"/>
              <a:t>The RE process  </a:t>
            </a:r>
            <a:r>
              <a:rPr lang="en-US" altLang="en-US" sz="2000" smtClean="0"/>
              <a:t>(4)</a:t>
            </a:r>
          </a:p>
        </p:txBody>
      </p:sp>
      <p:grpSp>
        <p:nvGrpSpPr>
          <p:cNvPr id="2" name="Group 3"/>
          <p:cNvGrpSpPr>
            <a:grpSpLocks/>
          </p:cNvGrpSpPr>
          <p:nvPr/>
        </p:nvGrpSpPr>
        <p:grpSpPr bwMode="auto">
          <a:xfrm>
            <a:off x="4411663" y="1792288"/>
            <a:ext cx="300037" cy="4141787"/>
            <a:chOff x="2779" y="1129"/>
            <a:chExt cx="189" cy="2609"/>
          </a:xfrm>
        </p:grpSpPr>
        <p:sp>
          <p:nvSpPr>
            <p:cNvPr id="1405956" name="Line 4"/>
            <p:cNvSpPr>
              <a:spLocks noChangeShapeType="1"/>
            </p:cNvSpPr>
            <p:nvPr/>
          </p:nvSpPr>
          <p:spPr bwMode="auto">
            <a:xfrm>
              <a:off x="2874" y="1263"/>
              <a:ext cx="1" cy="2341"/>
            </a:xfrm>
            <a:prstGeom prst="line">
              <a:avLst/>
            </a:prstGeom>
            <a:no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5957" name="Freeform 5"/>
            <p:cNvSpPr>
              <a:spLocks/>
            </p:cNvSpPr>
            <p:nvPr/>
          </p:nvSpPr>
          <p:spPr bwMode="auto">
            <a:xfrm>
              <a:off x="2795" y="1129"/>
              <a:ext cx="173" cy="168"/>
            </a:xfrm>
            <a:custGeom>
              <a:avLst/>
              <a:gdLst/>
              <a:ahLst/>
              <a:cxnLst>
                <a:cxn ang="0">
                  <a:pos x="173" y="168"/>
                </a:cxn>
                <a:cxn ang="0">
                  <a:pos x="79" y="0"/>
                </a:cxn>
                <a:cxn ang="0">
                  <a:pos x="0" y="168"/>
                </a:cxn>
                <a:cxn ang="0">
                  <a:pos x="173" y="168"/>
                </a:cxn>
              </a:cxnLst>
              <a:rect l="0" t="0" r="r" b="b"/>
              <a:pathLst>
                <a:path w="173" h="168">
                  <a:moveTo>
                    <a:pt x="173" y="168"/>
                  </a:moveTo>
                  <a:lnTo>
                    <a:pt x="79" y="0"/>
                  </a:lnTo>
                  <a:lnTo>
                    <a:pt x="0" y="168"/>
                  </a:lnTo>
                  <a:lnTo>
                    <a:pt x="173" y="168"/>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5958" name="Freeform 6"/>
            <p:cNvSpPr>
              <a:spLocks/>
            </p:cNvSpPr>
            <p:nvPr/>
          </p:nvSpPr>
          <p:spPr bwMode="auto">
            <a:xfrm>
              <a:off x="2779" y="3570"/>
              <a:ext cx="173" cy="168"/>
            </a:xfrm>
            <a:custGeom>
              <a:avLst/>
              <a:gdLst/>
              <a:ahLst/>
              <a:cxnLst>
                <a:cxn ang="0">
                  <a:pos x="0" y="0"/>
                </a:cxn>
                <a:cxn ang="0">
                  <a:pos x="95" y="168"/>
                </a:cxn>
                <a:cxn ang="0">
                  <a:pos x="173" y="0"/>
                </a:cxn>
                <a:cxn ang="0">
                  <a:pos x="0" y="0"/>
                </a:cxn>
              </a:cxnLst>
              <a:rect l="0" t="0" r="r" b="b"/>
              <a:pathLst>
                <a:path w="173" h="168">
                  <a:moveTo>
                    <a:pt x="0" y="0"/>
                  </a:moveTo>
                  <a:lnTo>
                    <a:pt x="95" y="168"/>
                  </a:lnTo>
                  <a:lnTo>
                    <a:pt x="173" y="0"/>
                  </a:lnTo>
                  <a:lnTo>
                    <a:pt x="0" y="0"/>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grpSp>
      <p:grpSp>
        <p:nvGrpSpPr>
          <p:cNvPr id="3" name="Group 7"/>
          <p:cNvGrpSpPr>
            <a:grpSpLocks/>
          </p:cNvGrpSpPr>
          <p:nvPr/>
        </p:nvGrpSpPr>
        <p:grpSpPr bwMode="auto">
          <a:xfrm>
            <a:off x="1889125" y="3651250"/>
            <a:ext cx="5421313" cy="317500"/>
            <a:chOff x="1190" y="2300"/>
            <a:chExt cx="3415" cy="200"/>
          </a:xfrm>
        </p:grpSpPr>
        <p:sp>
          <p:nvSpPr>
            <p:cNvPr id="1405960" name="Line 8"/>
            <p:cNvSpPr>
              <a:spLocks noChangeShapeType="1"/>
            </p:cNvSpPr>
            <p:nvPr/>
          </p:nvSpPr>
          <p:spPr bwMode="auto">
            <a:xfrm flipH="1">
              <a:off x="1316" y="2400"/>
              <a:ext cx="3163" cy="1"/>
            </a:xfrm>
            <a:prstGeom prst="line">
              <a:avLst/>
            </a:prstGeom>
            <a:no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5961" name="Freeform 9"/>
            <p:cNvSpPr>
              <a:spLocks/>
            </p:cNvSpPr>
            <p:nvPr/>
          </p:nvSpPr>
          <p:spPr bwMode="auto">
            <a:xfrm>
              <a:off x="4447" y="2316"/>
              <a:ext cx="158" cy="184"/>
            </a:xfrm>
            <a:custGeom>
              <a:avLst/>
              <a:gdLst/>
              <a:ahLst/>
              <a:cxnLst>
                <a:cxn ang="0">
                  <a:pos x="0" y="184"/>
                </a:cxn>
                <a:cxn ang="0">
                  <a:pos x="158" y="84"/>
                </a:cxn>
                <a:cxn ang="0">
                  <a:pos x="0" y="0"/>
                </a:cxn>
                <a:cxn ang="0">
                  <a:pos x="0" y="184"/>
                </a:cxn>
              </a:cxnLst>
              <a:rect l="0" t="0" r="r" b="b"/>
              <a:pathLst>
                <a:path w="158" h="184">
                  <a:moveTo>
                    <a:pt x="0" y="184"/>
                  </a:moveTo>
                  <a:lnTo>
                    <a:pt x="158" y="84"/>
                  </a:lnTo>
                  <a:lnTo>
                    <a:pt x="0" y="0"/>
                  </a:lnTo>
                  <a:lnTo>
                    <a:pt x="0" y="184"/>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5962" name="Freeform 10"/>
            <p:cNvSpPr>
              <a:spLocks/>
            </p:cNvSpPr>
            <p:nvPr/>
          </p:nvSpPr>
          <p:spPr bwMode="auto">
            <a:xfrm>
              <a:off x="1190" y="2300"/>
              <a:ext cx="158" cy="184"/>
            </a:xfrm>
            <a:custGeom>
              <a:avLst/>
              <a:gdLst/>
              <a:ahLst/>
              <a:cxnLst>
                <a:cxn ang="0">
                  <a:pos x="158" y="0"/>
                </a:cxn>
                <a:cxn ang="0">
                  <a:pos x="0" y="100"/>
                </a:cxn>
                <a:cxn ang="0">
                  <a:pos x="158" y="184"/>
                </a:cxn>
                <a:cxn ang="0">
                  <a:pos x="158" y="0"/>
                </a:cxn>
              </a:cxnLst>
              <a:rect l="0" t="0" r="r" b="b"/>
              <a:pathLst>
                <a:path w="158" h="184">
                  <a:moveTo>
                    <a:pt x="158" y="0"/>
                  </a:moveTo>
                  <a:lnTo>
                    <a:pt x="0" y="100"/>
                  </a:lnTo>
                  <a:lnTo>
                    <a:pt x="158" y="184"/>
                  </a:lnTo>
                  <a:lnTo>
                    <a:pt x="158" y="0"/>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grpSp>
      <p:sp>
        <p:nvSpPr>
          <p:cNvPr id="1405963" name="Rectangle 11"/>
          <p:cNvSpPr>
            <a:spLocks noChangeArrowheads="1"/>
          </p:cNvSpPr>
          <p:nvPr/>
        </p:nvSpPr>
        <p:spPr bwMode="auto">
          <a:xfrm>
            <a:off x="3538538" y="3730625"/>
            <a:ext cx="1323975" cy="636588"/>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5964" name="Rectangle 12"/>
          <p:cNvSpPr>
            <a:spLocks noChangeArrowheads="1"/>
          </p:cNvSpPr>
          <p:nvPr/>
        </p:nvSpPr>
        <p:spPr bwMode="auto">
          <a:xfrm>
            <a:off x="3883025" y="3863975"/>
            <a:ext cx="558800" cy="365125"/>
          </a:xfrm>
          <a:prstGeom prst="rect">
            <a:avLst/>
          </a:prstGeom>
          <a:noFill/>
          <a:ln w="9525">
            <a:noFill/>
            <a:miter lim="800000"/>
            <a:headEnd/>
            <a:tailEnd/>
          </a:ln>
        </p:spPr>
        <p:txBody>
          <a:bodyPr wrap="none" lIns="0" tIns="0" rIns="0" bIns="0">
            <a:spAutoFit/>
          </a:bodyPr>
          <a:lstStyle/>
          <a:p>
            <a:pPr>
              <a:defRPr/>
            </a:pPr>
            <a:r>
              <a:rPr kumimoji="0" lang="en-US">
                <a:solidFill>
                  <a:srgbClr val="000000"/>
                </a:solidFill>
                <a:latin typeface="Times New Roman" pitchFamily="18" charset="0"/>
              </a:rPr>
              <a:t>start</a:t>
            </a:r>
            <a:endParaRPr lang="en-US" i="0">
              <a:effectLst>
                <a:outerShdw blurRad="38100" dist="38100" dir="2700000" algn="tl">
                  <a:srgbClr val="000000"/>
                </a:outerShdw>
              </a:effectLst>
            </a:endParaRPr>
          </a:p>
        </p:txBody>
      </p:sp>
      <p:sp>
        <p:nvSpPr>
          <p:cNvPr id="1405965" name="Freeform 13"/>
          <p:cNvSpPr>
            <a:spLocks/>
          </p:cNvSpPr>
          <p:nvPr/>
        </p:nvSpPr>
        <p:spPr bwMode="auto">
          <a:xfrm>
            <a:off x="3363913" y="3810000"/>
            <a:ext cx="1223962" cy="715963"/>
          </a:xfrm>
          <a:custGeom>
            <a:avLst/>
            <a:gdLst/>
            <a:ahLst/>
            <a:cxnLst>
              <a:cxn ang="0">
                <a:pos x="31" y="0"/>
              </a:cxn>
              <a:cxn ang="0">
                <a:pos x="0" y="17"/>
              </a:cxn>
              <a:cxn ang="0">
                <a:pos x="47" y="117"/>
              </a:cxn>
              <a:cxn ang="0">
                <a:pos x="47" y="134"/>
              </a:cxn>
              <a:cxn ang="0">
                <a:pos x="78" y="184"/>
              </a:cxn>
              <a:cxn ang="0">
                <a:pos x="141" y="234"/>
              </a:cxn>
              <a:cxn ang="0">
                <a:pos x="188" y="284"/>
              </a:cxn>
              <a:cxn ang="0">
                <a:pos x="267" y="334"/>
              </a:cxn>
              <a:cxn ang="0">
                <a:pos x="456" y="418"/>
              </a:cxn>
              <a:cxn ang="0">
                <a:pos x="597" y="451"/>
              </a:cxn>
              <a:cxn ang="0">
                <a:pos x="771" y="451"/>
              </a:cxn>
              <a:cxn ang="0">
                <a:pos x="771" y="418"/>
              </a:cxn>
              <a:cxn ang="0">
                <a:pos x="613" y="418"/>
              </a:cxn>
              <a:cxn ang="0">
                <a:pos x="472" y="385"/>
              </a:cxn>
              <a:cxn ang="0">
                <a:pos x="283" y="301"/>
              </a:cxn>
              <a:cxn ang="0">
                <a:pos x="204" y="251"/>
              </a:cxn>
              <a:cxn ang="0">
                <a:pos x="157" y="201"/>
              </a:cxn>
              <a:cxn ang="0">
                <a:pos x="94" y="151"/>
              </a:cxn>
              <a:cxn ang="0">
                <a:pos x="62" y="100"/>
              </a:cxn>
              <a:cxn ang="0">
                <a:pos x="62" y="117"/>
              </a:cxn>
              <a:cxn ang="0">
                <a:pos x="78" y="117"/>
              </a:cxn>
              <a:cxn ang="0">
                <a:pos x="31" y="0"/>
              </a:cxn>
            </a:cxnLst>
            <a:rect l="0" t="0" r="r" b="b"/>
            <a:pathLst>
              <a:path w="771" h="451">
                <a:moveTo>
                  <a:pt x="31" y="0"/>
                </a:moveTo>
                <a:lnTo>
                  <a:pt x="0" y="17"/>
                </a:lnTo>
                <a:lnTo>
                  <a:pt x="47" y="117"/>
                </a:lnTo>
                <a:lnTo>
                  <a:pt x="47" y="134"/>
                </a:lnTo>
                <a:lnTo>
                  <a:pt x="78" y="184"/>
                </a:lnTo>
                <a:lnTo>
                  <a:pt x="141" y="234"/>
                </a:lnTo>
                <a:lnTo>
                  <a:pt x="188" y="284"/>
                </a:lnTo>
                <a:lnTo>
                  <a:pt x="267" y="334"/>
                </a:lnTo>
                <a:lnTo>
                  <a:pt x="456" y="418"/>
                </a:lnTo>
                <a:lnTo>
                  <a:pt x="597" y="451"/>
                </a:lnTo>
                <a:lnTo>
                  <a:pt x="771" y="451"/>
                </a:lnTo>
                <a:lnTo>
                  <a:pt x="771" y="418"/>
                </a:lnTo>
                <a:lnTo>
                  <a:pt x="613" y="418"/>
                </a:lnTo>
                <a:lnTo>
                  <a:pt x="472" y="385"/>
                </a:lnTo>
                <a:lnTo>
                  <a:pt x="283" y="301"/>
                </a:lnTo>
                <a:lnTo>
                  <a:pt x="204" y="251"/>
                </a:lnTo>
                <a:lnTo>
                  <a:pt x="157" y="201"/>
                </a:lnTo>
                <a:lnTo>
                  <a:pt x="94" y="151"/>
                </a:lnTo>
                <a:lnTo>
                  <a:pt x="62" y="100"/>
                </a:lnTo>
                <a:lnTo>
                  <a:pt x="62" y="117"/>
                </a:lnTo>
                <a:lnTo>
                  <a:pt x="78" y="117"/>
                </a:lnTo>
                <a:lnTo>
                  <a:pt x="31" y="0"/>
                </a:lnTo>
                <a:close/>
              </a:path>
            </a:pathLst>
          </a:custGeom>
          <a:solidFill>
            <a:srgbClr val="FF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5966" name="Freeform 14"/>
          <p:cNvSpPr>
            <a:spLocks/>
          </p:cNvSpPr>
          <p:nvPr/>
        </p:nvSpPr>
        <p:spPr bwMode="auto">
          <a:xfrm>
            <a:off x="3937000" y="3305175"/>
            <a:ext cx="625475" cy="504825"/>
          </a:xfrm>
          <a:custGeom>
            <a:avLst/>
            <a:gdLst/>
            <a:ahLst/>
            <a:cxnLst>
              <a:cxn ang="0">
                <a:pos x="0" y="301"/>
              </a:cxn>
              <a:cxn ang="0">
                <a:pos x="32" y="318"/>
              </a:cxn>
              <a:cxn ang="0">
                <a:pos x="63" y="234"/>
              </a:cxn>
              <a:cxn ang="0">
                <a:pos x="48" y="234"/>
              </a:cxn>
              <a:cxn ang="0">
                <a:pos x="48" y="251"/>
              </a:cxn>
              <a:cxn ang="0">
                <a:pos x="95" y="184"/>
              </a:cxn>
              <a:cxn ang="0">
                <a:pos x="95" y="184"/>
              </a:cxn>
              <a:cxn ang="0">
                <a:pos x="126" y="151"/>
              </a:cxn>
              <a:cxn ang="0">
                <a:pos x="158" y="117"/>
              </a:cxn>
              <a:cxn ang="0">
                <a:pos x="252" y="67"/>
              </a:cxn>
              <a:cxn ang="0">
                <a:pos x="331" y="34"/>
              </a:cxn>
              <a:cxn ang="0">
                <a:pos x="315" y="17"/>
              </a:cxn>
              <a:cxn ang="0">
                <a:pos x="315" y="34"/>
              </a:cxn>
              <a:cxn ang="0">
                <a:pos x="394" y="34"/>
              </a:cxn>
              <a:cxn ang="0">
                <a:pos x="394" y="0"/>
              </a:cxn>
              <a:cxn ang="0">
                <a:pos x="331" y="0"/>
              </a:cxn>
              <a:cxn ang="0">
                <a:pos x="315" y="0"/>
              </a:cxn>
              <a:cxn ang="0">
                <a:pos x="236" y="34"/>
              </a:cxn>
              <a:cxn ang="0">
                <a:pos x="142" y="84"/>
              </a:cxn>
              <a:cxn ang="0">
                <a:pos x="111" y="117"/>
              </a:cxn>
              <a:cxn ang="0">
                <a:pos x="79" y="168"/>
              </a:cxn>
              <a:cxn ang="0">
                <a:pos x="79" y="168"/>
              </a:cxn>
              <a:cxn ang="0">
                <a:pos x="79" y="151"/>
              </a:cxn>
              <a:cxn ang="0">
                <a:pos x="32" y="218"/>
              </a:cxn>
              <a:cxn ang="0">
                <a:pos x="32" y="234"/>
              </a:cxn>
              <a:cxn ang="0">
                <a:pos x="32" y="234"/>
              </a:cxn>
              <a:cxn ang="0">
                <a:pos x="0" y="301"/>
              </a:cxn>
            </a:cxnLst>
            <a:rect l="0" t="0" r="r" b="b"/>
            <a:pathLst>
              <a:path w="394" h="318">
                <a:moveTo>
                  <a:pt x="0" y="301"/>
                </a:moveTo>
                <a:lnTo>
                  <a:pt x="32" y="318"/>
                </a:lnTo>
                <a:lnTo>
                  <a:pt x="63" y="234"/>
                </a:lnTo>
                <a:lnTo>
                  <a:pt x="48" y="234"/>
                </a:lnTo>
                <a:lnTo>
                  <a:pt x="48" y="251"/>
                </a:lnTo>
                <a:lnTo>
                  <a:pt x="95" y="184"/>
                </a:lnTo>
                <a:lnTo>
                  <a:pt x="95" y="184"/>
                </a:lnTo>
                <a:lnTo>
                  <a:pt x="126" y="151"/>
                </a:lnTo>
                <a:lnTo>
                  <a:pt x="158" y="117"/>
                </a:lnTo>
                <a:lnTo>
                  <a:pt x="252" y="67"/>
                </a:lnTo>
                <a:lnTo>
                  <a:pt x="331" y="34"/>
                </a:lnTo>
                <a:lnTo>
                  <a:pt x="315" y="17"/>
                </a:lnTo>
                <a:lnTo>
                  <a:pt x="315" y="34"/>
                </a:lnTo>
                <a:lnTo>
                  <a:pt x="394" y="34"/>
                </a:lnTo>
                <a:lnTo>
                  <a:pt x="394" y="0"/>
                </a:lnTo>
                <a:lnTo>
                  <a:pt x="331" y="0"/>
                </a:lnTo>
                <a:lnTo>
                  <a:pt x="315" y="0"/>
                </a:lnTo>
                <a:lnTo>
                  <a:pt x="236" y="34"/>
                </a:lnTo>
                <a:lnTo>
                  <a:pt x="142" y="84"/>
                </a:lnTo>
                <a:lnTo>
                  <a:pt x="111" y="117"/>
                </a:lnTo>
                <a:lnTo>
                  <a:pt x="79" y="168"/>
                </a:lnTo>
                <a:lnTo>
                  <a:pt x="79" y="168"/>
                </a:lnTo>
                <a:lnTo>
                  <a:pt x="79" y="151"/>
                </a:lnTo>
                <a:lnTo>
                  <a:pt x="32" y="218"/>
                </a:lnTo>
                <a:lnTo>
                  <a:pt x="32" y="234"/>
                </a:lnTo>
                <a:lnTo>
                  <a:pt x="32" y="234"/>
                </a:lnTo>
                <a:lnTo>
                  <a:pt x="0" y="301"/>
                </a:lnTo>
                <a:close/>
              </a:path>
            </a:pathLst>
          </a:custGeom>
          <a:solidFill>
            <a:srgbClr val="C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5967" name="Freeform 15"/>
          <p:cNvSpPr>
            <a:spLocks/>
          </p:cNvSpPr>
          <p:nvPr/>
        </p:nvSpPr>
        <p:spPr bwMode="auto">
          <a:xfrm>
            <a:off x="4562475" y="3279775"/>
            <a:ext cx="798513" cy="557213"/>
          </a:xfrm>
          <a:custGeom>
            <a:avLst/>
            <a:gdLst/>
            <a:ahLst/>
            <a:cxnLst>
              <a:cxn ang="0">
                <a:pos x="0" y="0"/>
              </a:cxn>
              <a:cxn ang="0">
                <a:pos x="0" y="33"/>
              </a:cxn>
              <a:cxn ang="0">
                <a:pos x="126" y="50"/>
              </a:cxn>
              <a:cxn ang="0">
                <a:pos x="252" y="83"/>
              </a:cxn>
              <a:cxn ang="0">
                <a:pos x="362" y="150"/>
              </a:cxn>
              <a:cxn ang="0">
                <a:pos x="409" y="184"/>
              </a:cxn>
              <a:cxn ang="0">
                <a:pos x="440" y="217"/>
              </a:cxn>
              <a:cxn ang="0">
                <a:pos x="456" y="250"/>
              </a:cxn>
              <a:cxn ang="0">
                <a:pos x="472" y="234"/>
              </a:cxn>
              <a:cxn ang="0">
                <a:pos x="456" y="234"/>
              </a:cxn>
              <a:cxn ang="0">
                <a:pos x="472" y="284"/>
              </a:cxn>
              <a:cxn ang="0">
                <a:pos x="472" y="351"/>
              </a:cxn>
              <a:cxn ang="0">
                <a:pos x="503" y="351"/>
              </a:cxn>
              <a:cxn ang="0">
                <a:pos x="503" y="284"/>
              </a:cxn>
              <a:cxn ang="0">
                <a:pos x="488" y="234"/>
              </a:cxn>
              <a:cxn ang="0">
                <a:pos x="472" y="217"/>
              </a:cxn>
              <a:cxn ang="0">
                <a:pos x="456" y="184"/>
              </a:cxn>
              <a:cxn ang="0">
                <a:pos x="425" y="150"/>
              </a:cxn>
              <a:cxn ang="0">
                <a:pos x="377" y="117"/>
              </a:cxn>
              <a:cxn ang="0">
                <a:pos x="267" y="50"/>
              </a:cxn>
              <a:cxn ang="0">
                <a:pos x="141" y="16"/>
              </a:cxn>
              <a:cxn ang="0">
                <a:pos x="0" y="0"/>
              </a:cxn>
            </a:cxnLst>
            <a:rect l="0" t="0" r="r" b="b"/>
            <a:pathLst>
              <a:path w="503" h="351">
                <a:moveTo>
                  <a:pt x="0" y="0"/>
                </a:moveTo>
                <a:lnTo>
                  <a:pt x="0" y="33"/>
                </a:lnTo>
                <a:lnTo>
                  <a:pt x="126" y="50"/>
                </a:lnTo>
                <a:lnTo>
                  <a:pt x="252" y="83"/>
                </a:lnTo>
                <a:lnTo>
                  <a:pt x="362" y="150"/>
                </a:lnTo>
                <a:lnTo>
                  <a:pt x="409" y="184"/>
                </a:lnTo>
                <a:lnTo>
                  <a:pt x="440" y="217"/>
                </a:lnTo>
                <a:lnTo>
                  <a:pt x="456" y="250"/>
                </a:lnTo>
                <a:lnTo>
                  <a:pt x="472" y="234"/>
                </a:lnTo>
                <a:lnTo>
                  <a:pt x="456" y="234"/>
                </a:lnTo>
                <a:lnTo>
                  <a:pt x="472" y="284"/>
                </a:lnTo>
                <a:lnTo>
                  <a:pt x="472" y="351"/>
                </a:lnTo>
                <a:lnTo>
                  <a:pt x="503" y="351"/>
                </a:lnTo>
                <a:lnTo>
                  <a:pt x="503" y="284"/>
                </a:lnTo>
                <a:lnTo>
                  <a:pt x="488" y="234"/>
                </a:lnTo>
                <a:lnTo>
                  <a:pt x="472" y="217"/>
                </a:lnTo>
                <a:lnTo>
                  <a:pt x="456" y="184"/>
                </a:lnTo>
                <a:lnTo>
                  <a:pt x="425" y="150"/>
                </a:lnTo>
                <a:lnTo>
                  <a:pt x="377" y="117"/>
                </a:lnTo>
                <a:lnTo>
                  <a:pt x="267" y="50"/>
                </a:lnTo>
                <a:lnTo>
                  <a:pt x="141" y="16"/>
                </a:lnTo>
                <a:lnTo>
                  <a:pt x="0" y="0"/>
                </a:lnTo>
                <a:close/>
              </a:path>
            </a:pathLst>
          </a:custGeom>
          <a:solidFill>
            <a:srgbClr val="C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5968" name="Freeform 16"/>
          <p:cNvSpPr>
            <a:spLocks/>
          </p:cNvSpPr>
          <p:nvPr/>
        </p:nvSpPr>
        <p:spPr bwMode="auto">
          <a:xfrm>
            <a:off x="4587875" y="3783013"/>
            <a:ext cx="798513" cy="717550"/>
          </a:xfrm>
          <a:custGeom>
            <a:avLst/>
            <a:gdLst/>
            <a:ahLst/>
            <a:cxnLst>
              <a:cxn ang="0">
                <a:pos x="0" y="418"/>
              </a:cxn>
              <a:cxn ang="0">
                <a:pos x="0" y="452"/>
              </a:cxn>
              <a:cxn ang="0">
                <a:pos x="141" y="435"/>
              </a:cxn>
              <a:cxn ang="0">
                <a:pos x="204" y="418"/>
              </a:cxn>
              <a:cxn ang="0">
                <a:pos x="267" y="385"/>
              </a:cxn>
              <a:cxn ang="0">
                <a:pos x="314" y="351"/>
              </a:cxn>
              <a:cxn ang="0">
                <a:pos x="377" y="301"/>
              </a:cxn>
              <a:cxn ang="0">
                <a:pos x="424" y="251"/>
              </a:cxn>
              <a:cxn ang="0">
                <a:pos x="424" y="234"/>
              </a:cxn>
              <a:cxn ang="0">
                <a:pos x="456" y="201"/>
              </a:cxn>
              <a:cxn ang="0">
                <a:pos x="440" y="184"/>
              </a:cxn>
              <a:cxn ang="0">
                <a:pos x="456" y="201"/>
              </a:cxn>
              <a:cxn ang="0">
                <a:pos x="472" y="168"/>
              </a:cxn>
              <a:cxn ang="0">
                <a:pos x="487" y="151"/>
              </a:cxn>
              <a:cxn ang="0">
                <a:pos x="503" y="101"/>
              </a:cxn>
              <a:cxn ang="0">
                <a:pos x="503" y="0"/>
              </a:cxn>
              <a:cxn ang="0">
                <a:pos x="472" y="0"/>
              </a:cxn>
              <a:cxn ang="0">
                <a:pos x="472" y="101"/>
              </a:cxn>
              <a:cxn ang="0">
                <a:pos x="456" y="151"/>
              </a:cxn>
              <a:cxn ang="0">
                <a:pos x="472" y="151"/>
              </a:cxn>
              <a:cxn ang="0">
                <a:pos x="456" y="134"/>
              </a:cxn>
              <a:cxn ang="0">
                <a:pos x="440" y="168"/>
              </a:cxn>
              <a:cxn ang="0">
                <a:pos x="424" y="184"/>
              </a:cxn>
              <a:cxn ang="0">
                <a:pos x="440" y="184"/>
              </a:cxn>
              <a:cxn ang="0">
                <a:pos x="393" y="234"/>
              </a:cxn>
              <a:cxn ang="0">
                <a:pos x="409" y="234"/>
              </a:cxn>
              <a:cxn ang="0">
                <a:pos x="409" y="218"/>
              </a:cxn>
              <a:cxn ang="0">
                <a:pos x="361" y="268"/>
              </a:cxn>
              <a:cxn ang="0">
                <a:pos x="298" y="318"/>
              </a:cxn>
              <a:cxn ang="0">
                <a:pos x="251" y="351"/>
              </a:cxn>
              <a:cxn ang="0">
                <a:pos x="188" y="385"/>
              </a:cxn>
              <a:cxn ang="0">
                <a:pos x="125" y="402"/>
              </a:cxn>
              <a:cxn ang="0">
                <a:pos x="0" y="418"/>
              </a:cxn>
            </a:cxnLst>
            <a:rect l="0" t="0" r="r" b="b"/>
            <a:pathLst>
              <a:path w="503" h="452">
                <a:moveTo>
                  <a:pt x="0" y="418"/>
                </a:moveTo>
                <a:lnTo>
                  <a:pt x="0" y="452"/>
                </a:lnTo>
                <a:lnTo>
                  <a:pt x="141" y="435"/>
                </a:lnTo>
                <a:lnTo>
                  <a:pt x="204" y="418"/>
                </a:lnTo>
                <a:lnTo>
                  <a:pt x="267" y="385"/>
                </a:lnTo>
                <a:lnTo>
                  <a:pt x="314" y="351"/>
                </a:lnTo>
                <a:lnTo>
                  <a:pt x="377" y="301"/>
                </a:lnTo>
                <a:lnTo>
                  <a:pt x="424" y="251"/>
                </a:lnTo>
                <a:lnTo>
                  <a:pt x="424" y="234"/>
                </a:lnTo>
                <a:lnTo>
                  <a:pt x="456" y="201"/>
                </a:lnTo>
                <a:lnTo>
                  <a:pt x="440" y="184"/>
                </a:lnTo>
                <a:lnTo>
                  <a:pt x="456" y="201"/>
                </a:lnTo>
                <a:lnTo>
                  <a:pt x="472" y="168"/>
                </a:lnTo>
                <a:lnTo>
                  <a:pt x="487" y="151"/>
                </a:lnTo>
                <a:lnTo>
                  <a:pt x="503" y="101"/>
                </a:lnTo>
                <a:lnTo>
                  <a:pt x="503" y="0"/>
                </a:lnTo>
                <a:lnTo>
                  <a:pt x="472" y="0"/>
                </a:lnTo>
                <a:lnTo>
                  <a:pt x="472" y="101"/>
                </a:lnTo>
                <a:lnTo>
                  <a:pt x="456" y="151"/>
                </a:lnTo>
                <a:lnTo>
                  <a:pt x="472" y="151"/>
                </a:lnTo>
                <a:lnTo>
                  <a:pt x="456" y="134"/>
                </a:lnTo>
                <a:lnTo>
                  <a:pt x="440" y="168"/>
                </a:lnTo>
                <a:lnTo>
                  <a:pt x="424" y="184"/>
                </a:lnTo>
                <a:lnTo>
                  <a:pt x="440" y="184"/>
                </a:lnTo>
                <a:lnTo>
                  <a:pt x="393" y="234"/>
                </a:lnTo>
                <a:lnTo>
                  <a:pt x="409" y="234"/>
                </a:lnTo>
                <a:lnTo>
                  <a:pt x="409" y="218"/>
                </a:lnTo>
                <a:lnTo>
                  <a:pt x="361" y="268"/>
                </a:lnTo>
                <a:lnTo>
                  <a:pt x="298" y="318"/>
                </a:lnTo>
                <a:lnTo>
                  <a:pt x="251" y="351"/>
                </a:lnTo>
                <a:lnTo>
                  <a:pt x="188" y="385"/>
                </a:lnTo>
                <a:lnTo>
                  <a:pt x="125" y="402"/>
                </a:lnTo>
                <a:lnTo>
                  <a:pt x="0" y="418"/>
                </a:lnTo>
                <a:close/>
              </a:path>
            </a:pathLst>
          </a:custGeom>
          <a:solidFill>
            <a:srgbClr val="C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5969" name="Rectangle 17"/>
          <p:cNvSpPr>
            <a:spLocks noChangeArrowheads="1"/>
          </p:cNvSpPr>
          <p:nvPr/>
        </p:nvSpPr>
        <p:spPr bwMode="auto">
          <a:xfrm>
            <a:off x="341313" y="2138363"/>
            <a:ext cx="3946525" cy="1141412"/>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44044" name="Rectangle 18"/>
          <p:cNvSpPr>
            <a:spLocks noChangeArrowheads="1"/>
          </p:cNvSpPr>
          <p:nvPr/>
        </p:nvSpPr>
        <p:spPr bwMode="auto">
          <a:xfrm>
            <a:off x="854075" y="2217738"/>
            <a:ext cx="3021013" cy="365125"/>
          </a:xfrm>
          <a:prstGeom prst="rect">
            <a:avLst/>
          </a:prstGeom>
          <a:noFill/>
          <a:ln w="9525">
            <a:noFill/>
            <a:miter lim="800000"/>
            <a:headEnd/>
            <a:tailEnd/>
          </a:ln>
        </p:spPr>
        <p:txBody>
          <a:bodyPr wrap="none" lIns="0" tIns="0" rIns="0" bIns="0">
            <a:spAutoFit/>
          </a:bodyPr>
          <a:lstStyle/>
          <a:p>
            <a:r>
              <a:rPr kumimoji="0" lang="en-US" i="0">
                <a:solidFill>
                  <a:schemeClr val="tx1"/>
                </a:solidFill>
                <a:latin typeface="Arial" pitchFamily="34" charset="0"/>
              </a:rPr>
              <a:t>domain understanding</a:t>
            </a:r>
          </a:p>
        </p:txBody>
      </p:sp>
      <p:sp>
        <p:nvSpPr>
          <p:cNvPr id="1405971" name="Rectangle 19"/>
          <p:cNvSpPr>
            <a:spLocks noChangeArrowheads="1"/>
          </p:cNvSpPr>
          <p:nvPr/>
        </p:nvSpPr>
        <p:spPr bwMode="auto">
          <a:xfrm>
            <a:off x="1597025" y="2641600"/>
            <a:ext cx="1560513"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latin typeface="Arial" pitchFamily="34" charset="0"/>
              </a:rPr>
              <a:t>&amp; elicitation</a:t>
            </a:r>
            <a:endParaRPr lang="en-US" i="0">
              <a:effectLst>
                <a:outerShdw blurRad="38100" dist="38100" dir="2700000" algn="tl">
                  <a:srgbClr val="000000"/>
                </a:outerShdw>
              </a:effectLst>
            </a:endParaRPr>
          </a:p>
        </p:txBody>
      </p:sp>
      <p:sp>
        <p:nvSpPr>
          <p:cNvPr id="1405972" name="Rectangle 20"/>
          <p:cNvSpPr>
            <a:spLocks noChangeArrowheads="1"/>
          </p:cNvSpPr>
          <p:nvPr/>
        </p:nvSpPr>
        <p:spPr bwMode="auto">
          <a:xfrm>
            <a:off x="5635625" y="2163763"/>
            <a:ext cx="3248025" cy="1141412"/>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5973" name="Rectangle 21"/>
          <p:cNvSpPr>
            <a:spLocks noChangeArrowheads="1"/>
          </p:cNvSpPr>
          <p:nvPr/>
        </p:nvSpPr>
        <p:spPr bwMode="auto">
          <a:xfrm>
            <a:off x="6378575" y="2244725"/>
            <a:ext cx="1392238"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latin typeface="Arial" pitchFamily="34" charset="0"/>
              </a:rPr>
              <a:t>evaluation</a:t>
            </a:r>
            <a:endParaRPr lang="en-US" i="0">
              <a:effectLst>
                <a:outerShdw blurRad="38100" dist="38100" dir="2700000" algn="tl">
                  <a:srgbClr val="000000"/>
                </a:outerShdw>
              </a:effectLst>
            </a:endParaRPr>
          </a:p>
        </p:txBody>
      </p:sp>
      <p:sp>
        <p:nvSpPr>
          <p:cNvPr id="44048" name="Rectangle 22"/>
          <p:cNvSpPr>
            <a:spLocks noChangeArrowheads="1"/>
          </p:cNvSpPr>
          <p:nvPr/>
        </p:nvSpPr>
        <p:spPr bwMode="auto">
          <a:xfrm>
            <a:off x="6189663" y="2668588"/>
            <a:ext cx="1746250" cy="365125"/>
          </a:xfrm>
          <a:prstGeom prst="rect">
            <a:avLst/>
          </a:prstGeom>
          <a:noFill/>
          <a:ln w="9525">
            <a:noFill/>
            <a:miter lim="800000"/>
            <a:headEnd/>
            <a:tailEnd/>
          </a:ln>
        </p:spPr>
        <p:txBody>
          <a:bodyPr wrap="none" lIns="0" tIns="0" rIns="0" bIns="0">
            <a:spAutoFit/>
          </a:bodyPr>
          <a:lstStyle/>
          <a:p>
            <a:r>
              <a:rPr kumimoji="0" lang="en-US" i="0">
                <a:solidFill>
                  <a:schemeClr val="tx1"/>
                </a:solidFill>
                <a:latin typeface="Arial" pitchFamily="34" charset="0"/>
              </a:rPr>
              <a:t>&amp; agreement</a:t>
            </a:r>
          </a:p>
        </p:txBody>
      </p:sp>
      <p:sp>
        <p:nvSpPr>
          <p:cNvPr id="1405975" name="Rectangle 23"/>
          <p:cNvSpPr>
            <a:spLocks noChangeArrowheads="1"/>
          </p:cNvSpPr>
          <p:nvPr/>
        </p:nvSpPr>
        <p:spPr bwMode="auto">
          <a:xfrm>
            <a:off x="2738438" y="1155700"/>
            <a:ext cx="4021137" cy="742950"/>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44050" name="Rectangle 24"/>
          <p:cNvSpPr>
            <a:spLocks noChangeArrowheads="1"/>
          </p:cNvSpPr>
          <p:nvPr/>
        </p:nvSpPr>
        <p:spPr bwMode="auto">
          <a:xfrm>
            <a:off x="3124200" y="1387475"/>
            <a:ext cx="3049588" cy="365125"/>
          </a:xfrm>
          <a:prstGeom prst="rect">
            <a:avLst/>
          </a:prstGeom>
          <a:noFill/>
          <a:ln w="9525">
            <a:noFill/>
            <a:miter lim="800000"/>
            <a:headEnd/>
            <a:tailEnd/>
          </a:ln>
        </p:spPr>
        <p:txBody>
          <a:bodyPr wrap="none" lIns="0" tIns="0" rIns="0" bIns="0">
            <a:spAutoFit/>
          </a:bodyPr>
          <a:lstStyle/>
          <a:p>
            <a:r>
              <a:rPr kumimoji="0" lang="en-US">
                <a:solidFill>
                  <a:srgbClr val="0000FF"/>
                </a:solidFill>
                <a:latin typeface="Times New Roman" pitchFamily="18" charset="0"/>
              </a:rPr>
              <a:t> </a:t>
            </a:r>
            <a:r>
              <a:rPr kumimoji="0" lang="en-US">
                <a:solidFill>
                  <a:srgbClr val="009999"/>
                </a:solidFill>
                <a:latin typeface="Comic Sans MS" pitchFamily="66" charset="0"/>
              </a:rPr>
              <a:t>alternative proposals</a:t>
            </a:r>
            <a:endParaRPr lang="en-US" i="0"/>
          </a:p>
        </p:txBody>
      </p:sp>
      <p:sp>
        <p:nvSpPr>
          <p:cNvPr id="1405977" name="Rectangle 25"/>
          <p:cNvSpPr>
            <a:spLocks noChangeArrowheads="1"/>
          </p:cNvSpPr>
          <p:nvPr/>
        </p:nvSpPr>
        <p:spPr bwMode="auto">
          <a:xfrm>
            <a:off x="5910263" y="3863975"/>
            <a:ext cx="2698750" cy="1166813"/>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44052" name="Rectangle 26"/>
          <p:cNvSpPr>
            <a:spLocks noChangeArrowheads="1"/>
          </p:cNvSpPr>
          <p:nvPr/>
        </p:nvSpPr>
        <p:spPr bwMode="auto">
          <a:xfrm>
            <a:off x="6872288" y="3943350"/>
            <a:ext cx="976312" cy="365125"/>
          </a:xfrm>
          <a:prstGeom prst="rect">
            <a:avLst/>
          </a:prstGeom>
          <a:noFill/>
          <a:ln w="9525">
            <a:noFill/>
            <a:miter lim="800000"/>
            <a:headEnd/>
            <a:tailEnd/>
          </a:ln>
        </p:spPr>
        <p:txBody>
          <a:bodyPr wrap="none" lIns="0" tIns="0" rIns="0" bIns="0">
            <a:spAutoFit/>
          </a:bodyPr>
          <a:lstStyle/>
          <a:p>
            <a:r>
              <a:rPr kumimoji="0" lang="en-US">
                <a:solidFill>
                  <a:srgbClr val="009999"/>
                </a:solidFill>
                <a:latin typeface="Comic Sans MS" pitchFamily="66" charset="0"/>
              </a:rPr>
              <a:t>agreed</a:t>
            </a:r>
            <a:endParaRPr lang="en-US" i="0">
              <a:solidFill>
                <a:srgbClr val="009999"/>
              </a:solidFill>
              <a:latin typeface="Comic Sans MS" pitchFamily="66" charset="0"/>
            </a:endParaRPr>
          </a:p>
        </p:txBody>
      </p:sp>
      <p:sp>
        <p:nvSpPr>
          <p:cNvPr id="44053" name="Rectangle 27"/>
          <p:cNvSpPr>
            <a:spLocks noChangeArrowheads="1"/>
          </p:cNvSpPr>
          <p:nvPr/>
        </p:nvSpPr>
        <p:spPr bwMode="auto">
          <a:xfrm>
            <a:off x="6429375" y="4316413"/>
            <a:ext cx="1882775" cy="365125"/>
          </a:xfrm>
          <a:prstGeom prst="rect">
            <a:avLst/>
          </a:prstGeom>
          <a:noFill/>
          <a:ln w="9525">
            <a:noFill/>
            <a:miter lim="800000"/>
            <a:headEnd/>
            <a:tailEnd/>
          </a:ln>
        </p:spPr>
        <p:txBody>
          <a:bodyPr wrap="none" lIns="0" tIns="0" rIns="0" bIns="0">
            <a:spAutoFit/>
          </a:bodyPr>
          <a:lstStyle/>
          <a:p>
            <a:r>
              <a:rPr kumimoji="0" lang="en-US">
                <a:solidFill>
                  <a:srgbClr val="009999"/>
                </a:solidFill>
                <a:latin typeface="Comic Sans MS" pitchFamily="66" charset="0"/>
              </a:rPr>
              <a:t>requirements</a:t>
            </a:r>
            <a:endParaRPr lang="en-US" i="0">
              <a:latin typeface="Comic Sans MS" pitchFamily="66" charset="0"/>
            </a:endParaRPr>
          </a:p>
        </p:txBody>
      </p:sp>
      <p:sp>
        <p:nvSpPr>
          <p:cNvPr id="1405980" name="Rectangle 28"/>
          <p:cNvSpPr>
            <a:spLocks noChangeArrowheads="1"/>
          </p:cNvSpPr>
          <p:nvPr/>
        </p:nvSpPr>
        <p:spPr bwMode="auto">
          <a:xfrm>
            <a:off x="2463800" y="5959475"/>
            <a:ext cx="4321175" cy="769938"/>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5981" name="Rectangle 29"/>
          <p:cNvSpPr>
            <a:spLocks noChangeArrowheads="1"/>
          </p:cNvSpPr>
          <p:nvPr/>
        </p:nvSpPr>
        <p:spPr bwMode="auto">
          <a:xfrm>
            <a:off x="2946400" y="6019800"/>
            <a:ext cx="3681413" cy="365125"/>
          </a:xfrm>
          <a:prstGeom prst="rect">
            <a:avLst/>
          </a:prstGeom>
          <a:noFill/>
          <a:ln w="9525">
            <a:noFill/>
            <a:miter lim="800000"/>
            <a:headEnd/>
            <a:tailEnd/>
          </a:ln>
        </p:spPr>
        <p:txBody>
          <a:bodyPr wrap="none" lIns="0" tIns="0" rIns="0" bIns="0">
            <a:spAutoFit/>
          </a:bodyPr>
          <a:lstStyle/>
          <a:p>
            <a:pPr>
              <a:defRPr/>
            </a:pPr>
            <a:r>
              <a:rPr kumimoji="0" lang="en-US">
                <a:solidFill>
                  <a:srgbClr val="009999"/>
                </a:solidFill>
                <a:latin typeface="Comic Sans MS" pitchFamily="66" charset="0"/>
              </a:rPr>
              <a:t>documented requirements</a:t>
            </a:r>
            <a:endParaRPr lang="en-US" i="0">
              <a:effectLst>
                <a:outerShdw blurRad="38100" dist="38100" dir="2700000" algn="tl">
                  <a:srgbClr val="000000"/>
                </a:outerShdw>
              </a:effectLst>
              <a:latin typeface="Comic Sans MS" pitchFamily="66" charset="0"/>
            </a:endParaRPr>
          </a:p>
        </p:txBody>
      </p:sp>
      <p:sp>
        <p:nvSpPr>
          <p:cNvPr id="1405982" name="Rectangle 30"/>
          <p:cNvSpPr>
            <a:spLocks noChangeArrowheads="1"/>
          </p:cNvSpPr>
          <p:nvPr/>
        </p:nvSpPr>
        <p:spPr bwMode="auto">
          <a:xfrm>
            <a:off x="465138" y="3863975"/>
            <a:ext cx="2573337" cy="1166813"/>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5983" name="Rectangle 31"/>
          <p:cNvSpPr>
            <a:spLocks noChangeArrowheads="1"/>
          </p:cNvSpPr>
          <p:nvPr/>
        </p:nvSpPr>
        <p:spPr bwMode="auto">
          <a:xfrm>
            <a:off x="552450" y="3957638"/>
            <a:ext cx="2279650" cy="365125"/>
          </a:xfrm>
          <a:prstGeom prst="rect">
            <a:avLst/>
          </a:prstGeom>
          <a:noFill/>
          <a:ln w="9525">
            <a:noFill/>
            <a:miter lim="800000"/>
            <a:headEnd/>
            <a:tailEnd/>
          </a:ln>
        </p:spPr>
        <p:txBody>
          <a:bodyPr lIns="0" tIns="0" rIns="0" bIns="0">
            <a:spAutoFit/>
          </a:bodyPr>
          <a:lstStyle/>
          <a:p>
            <a:pPr>
              <a:defRPr/>
            </a:pPr>
            <a:r>
              <a:rPr kumimoji="0" lang="en-US">
                <a:solidFill>
                  <a:srgbClr val="009999"/>
                </a:solidFill>
                <a:effectLst>
                  <a:outerShdw blurRad="38100" dist="38100" dir="2700000" algn="tl">
                    <a:srgbClr val="000000"/>
                  </a:outerShdw>
                </a:effectLst>
                <a:latin typeface="Comic Sans MS" pitchFamily="66" charset="0"/>
              </a:rPr>
              <a:t>consolidated</a:t>
            </a:r>
            <a:endParaRPr lang="en-US" i="0">
              <a:solidFill>
                <a:srgbClr val="009999"/>
              </a:solidFill>
              <a:effectLst>
                <a:outerShdw blurRad="38100" dist="38100" dir="2700000" algn="tl">
                  <a:srgbClr val="000000"/>
                </a:outerShdw>
              </a:effectLst>
            </a:endParaRPr>
          </a:p>
        </p:txBody>
      </p:sp>
      <p:sp>
        <p:nvSpPr>
          <p:cNvPr id="1405984" name="Rectangle 32"/>
          <p:cNvSpPr>
            <a:spLocks noChangeArrowheads="1"/>
          </p:cNvSpPr>
          <p:nvPr/>
        </p:nvSpPr>
        <p:spPr bwMode="auto">
          <a:xfrm>
            <a:off x="781050" y="4359275"/>
            <a:ext cx="1882775" cy="365125"/>
          </a:xfrm>
          <a:prstGeom prst="rect">
            <a:avLst/>
          </a:prstGeom>
          <a:noFill/>
          <a:ln w="9525">
            <a:noFill/>
            <a:miter lim="800000"/>
            <a:headEnd/>
            <a:tailEnd/>
          </a:ln>
        </p:spPr>
        <p:txBody>
          <a:bodyPr wrap="none" lIns="0" tIns="0" rIns="0" bIns="0">
            <a:spAutoFit/>
          </a:bodyPr>
          <a:lstStyle/>
          <a:p>
            <a:pPr>
              <a:defRPr/>
            </a:pPr>
            <a:r>
              <a:rPr kumimoji="0" lang="en-US">
                <a:solidFill>
                  <a:srgbClr val="009999"/>
                </a:solidFill>
                <a:effectLst>
                  <a:outerShdw blurRad="38100" dist="38100" dir="2700000" algn="tl">
                    <a:srgbClr val="000000"/>
                  </a:outerShdw>
                </a:effectLst>
                <a:latin typeface="Comic Sans MS" pitchFamily="66" charset="0"/>
              </a:rPr>
              <a:t>requirements</a:t>
            </a:r>
            <a:endParaRPr lang="en-US" i="0">
              <a:solidFill>
                <a:srgbClr val="009999"/>
              </a:solidFill>
              <a:effectLst>
                <a:outerShdw blurRad="38100" dist="38100" dir="2700000" algn="tl">
                  <a:srgbClr val="000000"/>
                </a:outerShdw>
              </a:effectLst>
              <a:latin typeface="Comic Sans MS" pitchFamily="66" charset="0"/>
            </a:endParaRPr>
          </a:p>
        </p:txBody>
      </p:sp>
      <p:sp>
        <p:nvSpPr>
          <p:cNvPr id="1405985" name="Rectangle 33"/>
          <p:cNvSpPr>
            <a:spLocks noChangeArrowheads="1"/>
          </p:cNvSpPr>
          <p:nvPr/>
        </p:nvSpPr>
        <p:spPr bwMode="auto">
          <a:xfrm>
            <a:off x="5535613" y="4951413"/>
            <a:ext cx="3248025" cy="1141412"/>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5986" name="Rectangle 34"/>
          <p:cNvSpPr>
            <a:spLocks noChangeArrowheads="1"/>
          </p:cNvSpPr>
          <p:nvPr/>
        </p:nvSpPr>
        <p:spPr bwMode="auto">
          <a:xfrm>
            <a:off x="6248400" y="4892675"/>
            <a:ext cx="1679575"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latin typeface="Arial" pitchFamily="34" charset="0"/>
              </a:rPr>
              <a:t>specification</a:t>
            </a:r>
            <a:endParaRPr lang="en-US" i="0">
              <a:solidFill>
                <a:schemeClr val="tx1"/>
              </a:solidFill>
              <a:effectLst>
                <a:outerShdw blurRad="38100" dist="38100" dir="2700000" algn="tl">
                  <a:srgbClr val="000000"/>
                </a:outerShdw>
              </a:effectLst>
            </a:endParaRPr>
          </a:p>
        </p:txBody>
      </p:sp>
      <p:sp>
        <p:nvSpPr>
          <p:cNvPr id="1405987" name="Rectangle 35"/>
          <p:cNvSpPr>
            <a:spLocks noChangeArrowheads="1"/>
          </p:cNvSpPr>
          <p:nvPr/>
        </p:nvSpPr>
        <p:spPr bwMode="auto">
          <a:xfrm>
            <a:off x="5943600" y="5302250"/>
            <a:ext cx="2289175"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latin typeface="Arial" pitchFamily="34" charset="0"/>
              </a:rPr>
              <a:t>&amp; documentation</a:t>
            </a:r>
            <a:endParaRPr lang="en-US" i="0">
              <a:effectLst>
                <a:outerShdw blurRad="38100" dist="38100" dir="2700000" algn="tl">
                  <a:srgbClr val="000000"/>
                </a:outerShdw>
              </a:effectLst>
            </a:endParaRPr>
          </a:p>
        </p:txBody>
      </p:sp>
      <p:sp>
        <p:nvSpPr>
          <p:cNvPr id="1405988" name="Rectangle 36"/>
          <p:cNvSpPr>
            <a:spLocks noChangeArrowheads="1"/>
          </p:cNvSpPr>
          <p:nvPr/>
        </p:nvSpPr>
        <p:spPr bwMode="auto">
          <a:xfrm>
            <a:off x="615950" y="4899025"/>
            <a:ext cx="3246438" cy="1139825"/>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5989" name="Rectangle 37"/>
          <p:cNvSpPr>
            <a:spLocks noChangeArrowheads="1"/>
          </p:cNvSpPr>
          <p:nvPr/>
        </p:nvSpPr>
        <p:spPr bwMode="auto">
          <a:xfrm>
            <a:off x="1643063" y="4926013"/>
            <a:ext cx="1290637"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effectLst>
                  <a:outerShdw blurRad="38100" dist="38100" dir="2700000" algn="tl">
                    <a:srgbClr val="000000"/>
                  </a:outerShdw>
                </a:effectLst>
                <a:latin typeface="Arial" pitchFamily="34" charset="0"/>
              </a:rPr>
              <a:t>validation</a:t>
            </a:r>
            <a:endParaRPr lang="en-US" i="0">
              <a:effectLst>
                <a:outerShdw blurRad="38100" dist="38100" dir="2700000" algn="tl">
                  <a:srgbClr val="000000"/>
                </a:outerShdw>
              </a:effectLst>
            </a:endParaRPr>
          </a:p>
        </p:txBody>
      </p:sp>
      <p:sp>
        <p:nvSpPr>
          <p:cNvPr id="1405990" name="Rectangle 38"/>
          <p:cNvSpPr>
            <a:spLocks noChangeArrowheads="1"/>
          </p:cNvSpPr>
          <p:nvPr/>
        </p:nvSpPr>
        <p:spPr bwMode="auto">
          <a:xfrm>
            <a:off x="1428750" y="5349875"/>
            <a:ext cx="1746250" cy="365125"/>
          </a:xfrm>
          <a:prstGeom prst="rect">
            <a:avLst/>
          </a:prstGeom>
          <a:noFill/>
          <a:ln w="9525">
            <a:noFill/>
            <a:miter lim="800000"/>
            <a:headEnd/>
            <a:tailEnd/>
          </a:ln>
        </p:spPr>
        <p:txBody>
          <a:bodyPr wrap="none" lIns="0" tIns="0" rIns="0" bIns="0">
            <a:spAutoFit/>
          </a:bodyPr>
          <a:lstStyle/>
          <a:p>
            <a:pPr>
              <a:defRPr/>
            </a:pPr>
            <a:r>
              <a:rPr kumimoji="0" lang="en-US" i="0">
                <a:solidFill>
                  <a:schemeClr val="tx1"/>
                </a:solidFill>
                <a:effectLst>
                  <a:outerShdw blurRad="38100" dist="38100" dir="2700000" algn="tl">
                    <a:srgbClr val="000000"/>
                  </a:outerShdw>
                </a:effectLst>
                <a:latin typeface="Arial" pitchFamily="34" charset="0"/>
              </a:rPr>
              <a:t>&amp; verification</a:t>
            </a:r>
            <a:endParaRPr lang="en-US" i="0">
              <a:effectLst>
                <a:outerShdw blurRad="38100" dist="38100" dir="2700000" algn="tl">
                  <a:srgbClr val="000000"/>
                </a:outerShdw>
              </a:effectLst>
            </a:endParaRPr>
          </a:p>
        </p:txBody>
      </p:sp>
      <p:sp>
        <p:nvSpPr>
          <p:cNvPr id="1405991" name="Oval 39"/>
          <p:cNvSpPr>
            <a:spLocks noChangeArrowheads="1"/>
          </p:cNvSpPr>
          <p:nvPr/>
        </p:nvSpPr>
        <p:spPr bwMode="auto">
          <a:xfrm>
            <a:off x="3862388" y="3651250"/>
            <a:ext cx="274637" cy="265113"/>
          </a:xfrm>
          <a:prstGeom prst="ellipse">
            <a:avLst/>
          </a:prstGeom>
          <a:solidFill>
            <a:srgbClr val="000000"/>
          </a:solid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smtClean="0"/>
              <a:t>Requirements consolidation</a:t>
            </a:r>
          </a:p>
        </p:txBody>
      </p:sp>
      <p:sp>
        <p:nvSpPr>
          <p:cNvPr id="1428483" name="Rectangle 3"/>
          <p:cNvSpPr>
            <a:spLocks noGrp="1" noChangeArrowheads="1"/>
          </p:cNvSpPr>
          <p:nvPr>
            <p:ph idx="1"/>
          </p:nvPr>
        </p:nvSpPr>
        <p:spPr/>
        <p:txBody>
          <a:bodyPr>
            <a:normAutofit/>
          </a:bodyPr>
          <a:lstStyle/>
          <a:p>
            <a:r>
              <a:rPr lang="fr-FR" dirty="0" err="1" smtClean="0"/>
              <a:t>Quality</a:t>
            </a:r>
            <a:r>
              <a:rPr lang="fr-FR" dirty="0" smtClean="0"/>
              <a:t> assurance </a:t>
            </a:r>
            <a:r>
              <a:rPr lang="fr-FR" dirty="0" err="1" smtClean="0"/>
              <a:t>activity</a:t>
            </a:r>
            <a:r>
              <a:rPr lang="fr-FR" dirty="0" smtClean="0"/>
              <a:t> on RD ...</a:t>
            </a:r>
          </a:p>
          <a:p>
            <a:pPr lvl="1"/>
            <a:r>
              <a:rPr lang="fr-FR" dirty="0" smtClean="0"/>
              <a:t>Validation:  </a:t>
            </a:r>
            <a:r>
              <a:rPr lang="fr-FR" dirty="0" err="1" smtClean="0"/>
              <a:t>adequacy</a:t>
            </a:r>
            <a:r>
              <a:rPr lang="fr-FR" dirty="0" smtClean="0"/>
              <a:t> of RD items </a:t>
            </a:r>
            <a:r>
              <a:rPr lang="fr-FR" dirty="0" err="1" smtClean="0"/>
              <a:t>wrt</a:t>
            </a:r>
            <a:r>
              <a:rPr lang="fr-FR" dirty="0" smtClean="0"/>
              <a:t> real </a:t>
            </a:r>
            <a:r>
              <a:rPr lang="fr-FR" dirty="0" err="1" smtClean="0"/>
              <a:t>needs</a:t>
            </a:r>
            <a:r>
              <a:rPr lang="fr-FR" dirty="0" smtClean="0"/>
              <a:t> ?</a:t>
            </a:r>
          </a:p>
          <a:p>
            <a:pPr lvl="1"/>
            <a:r>
              <a:rPr lang="fr-FR" dirty="0" err="1" smtClean="0"/>
              <a:t>Verification</a:t>
            </a:r>
            <a:r>
              <a:rPr lang="fr-FR" dirty="0" smtClean="0"/>
              <a:t>:  omissions, </a:t>
            </a:r>
            <a:r>
              <a:rPr lang="fr-FR" dirty="0" err="1" smtClean="0"/>
              <a:t>inconsistencies</a:t>
            </a:r>
            <a:r>
              <a:rPr lang="fr-FR" dirty="0" smtClean="0"/>
              <a:t> ?</a:t>
            </a:r>
          </a:p>
          <a:p>
            <a:pPr lvl="1"/>
            <a:r>
              <a:rPr lang="fr-FR" dirty="0" err="1" smtClean="0"/>
              <a:t>Checks</a:t>
            </a:r>
            <a:r>
              <a:rPr lang="fr-FR" dirty="0" smtClean="0"/>
              <a:t> for </a:t>
            </a:r>
            <a:r>
              <a:rPr lang="fr-FR" dirty="0" err="1" smtClean="0"/>
              <a:t>other</a:t>
            </a:r>
            <a:r>
              <a:rPr lang="fr-FR" dirty="0" smtClean="0"/>
              <a:t> </a:t>
            </a:r>
            <a:r>
              <a:rPr lang="fr-FR" dirty="0" err="1" smtClean="0"/>
              <a:t>target</a:t>
            </a:r>
            <a:r>
              <a:rPr lang="fr-FR" dirty="0" smtClean="0"/>
              <a:t> </a:t>
            </a:r>
            <a:r>
              <a:rPr lang="fr-FR" dirty="0" err="1" smtClean="0"/>
              <a:t>qualities</a:t>
            </a:r>
            <a:r>
              <a:rPr lang="fr-FR" dirty="0" smtClean="0"/>
              <a:t> (</a:t>
            </a:r>
            <a:r>
              <a:rPr lang="fr-FR" dirty="0" err="1" smtClean="0"/>
              <a:t>discussed</a:t>
            </a:r>
            <a:r>
              <a:rPr lang="fr-FR" dirty="0" smtClean="0"/>
              <a:t> </a:t>
            </a:r>
            <a:r>
              <a:rPr lang="fr-FR" dirty="0" err="1" smtClean="0"/>
              <a:t>next</a:t>
            </a:r>
            <a:r>
              <a:rPr lang="fr-FR" dirty="0" smtClean="0"/>
              <a:t>)</a:t>
            </a:r>
          </a:p>
          <a:p>
            <a:pPr lvl="1"/>
            <a:r>
              <a:rPr lang="fr-FR" dirty="0" smtClean="0"/>
              <a:t>Fixing of </a:t>
            </a:r>
            <a:r>
              <a:rPr lang="fr-FR" dirty="0" err="1" smtClean="0"/>
              <a:t>errors</a:t>
            </a:r>
            <a:r>
              <a:rPr lang="fr-FR" dirty="0" smtClean="0"/>
              <a:t> &amp; </a:t>
            </a:r>
            <a:r>
              <a:rPr lang="fr-FR" dirty="0" err="1" smtClean="0"/>
              <a:t>flaws</a:t>
            </a:r>
            <a:endParaRPr lang="fr-FR" dirty="0" smtClean="0"/>
          </a:p>
          <a:p>
            <a:r>
              <a:rPr lang="fr-FR" dirty="0" err="1" smtClean="0"/>
              <a:t>Products</a:t>
            </a:r>
            <a:endParaRPr lang="fr-FR" dirty="0" smtClean="0"/>
          </a:p>
          <a:p>
            <a:pPr lvl="1"/>
            <a:r>
              <a:rPr lang="fr-FR" dirty="0" err="1" smtClean="0"/>
              <a:t>Consolidated</a:t>
            </a:r>
            <a:r>
              <a:rPr lang="fr-FR" dirty="0" smtClean="0"/>
              <a:t> RD</a:t>
            </a:r>
          </a:p>
          <a:p>
            <a:pPr lvl="1"/>
            <a:r>
              <a:rPr lang="fr-FR" dirty="0" err="1" smtClean="0"/>
              <a:t>Acceptance</a:t>
            </a:r>
            <a:r>
              <a:rPr lang="fr-FR" dirty="0" smtClean="0"/>
              <a:t> test data, prototype</a:t>
            </a:r>
          </a:p>
          <a:p>
            <a:pPr lvl="1"/>
            <a:r>
              <a:rPr lang="fr-FR" dirty="0" err="1" smtClean="0"/>
              <a:t>Development</a:t>
            </a:r>
            <a:r>
              <a:rPr lang="fr-FR" dirty="0" smtClean="0"/>
              <a:t> plan</a:t>
            </a:r>
          </a:p>
          <a:p>
            <a:pPr lvl="1"/>
            <a:r>
              <a:rPr lang="fr-FR" dirty="0" smtClean="0"/>
              <a:t>Project </a:t>
            </a:r>
            <a:r>
              <a:rPr lang="fr-FR" dirty="0" err="1" smtClean="0"/>
              <a:t>contract</a:t>
            </a:r>
            <a:endParaRPr lang="fr-FR" dirty="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906780" y="239197"/>
            <a:ext cx="7406640" cy="1356360"/>
          </a:xfrm>
        </p:spPr>
        <p:txBody>
          <a:bodyPr/>
          <a:lstStyle/>
          <a:p>
            <a:r>
              <a:rPr lang="en-US" altLang="en-US" dirty="0" smtClean="0"/>
              <a:t>RE: an iterative process</a:t>
            </a:r>
            <a:endParaRPr lang="en-US" altLang="en-US" sz="2000" dirty="0" smtClean="0"/>
          </a:p>
        </p:txBody>
      </p:sp>
      <p:sp>
        <p:nvSpPr>
          <p:cNvPr id="1407021" name="Rectangle 45"/>
          <p:cNvSpPr>
            <a:spLocks noGrp="1" noChangeArrowheads="1"/>
          </p:cNvSpPr>
          <p:nvPr>
            <p:ph idx="1"/>
          </p:nvPr>
        </p:nvSpPr>
        <p:spPr>
          <a:xfrm>
            <a:off x="533400" y="1143000"/>
            <a:ext cx="8534400" cy="1905000"/>
          </a:xfrm>
        </p:spPr>
        <p:txBody>
          <a:bodyPr>
            <a:normAutofit/>
          </a:bodyPr>
          <a:lstStyle/>
          <a:p>
            <a:pPr>
              <a:defRPr/>
            </a:pPr>
            <a:r>
              <a:rPr lang="en-US" dirty="0" smtClean="0"/>
              <a:t>RE phases are ordered by data dependencies</a:t>
            </a:r>
          </a:p>
          <a:p>
            <a:pPr>
              <a:lnSpc>
                <a:spcPct val="100000"/>
              </a:lnSpc>
              <a:defRPr/>
            </a:pPr>
            <a:r>
              <a:rPr lang="en-US" dirty="0" smtClean="0"/>
              <a:t>No strict sequencing: intertwining, overlap, backtracking</a:t>
            </a:r>
          </a:p>
          <a:p>
            <a:pPr>
              <a:defRPr/>
            </a:pPr>
            <a:r>
              <a:rPr lang="en-US" dirty="0" smtClean="0"/>
              <a:t>Iterated cycles due to error corrections &amp; </a:t>
            </a:r>
            <a:r>
              <a:rPr lang="en-US" dirty="0" smtClean="0">
                <a:effectLst>
                  <a:outerShdw blurRad="38100" dist="38100" dir="2700000" algn="tl">
                    <a:srgbClr val="000000"/>
                  </a:outerShdw>
                </a:effectLst>
              </a:rPr>
              <a:t>evolving needs</a:t>
            </a:r>
            <a:endParaRPr lang="en-US" dirty="0" smtClean="0"/>
          </a:p>
          <a:p>
            <a:pPr lvl="1">
              <a:lnSpc>
                <a:spcPct val="90000"/>
              </a:lnSpc>
              <a:defRPr/>
            </a:pPr>
            <a:r>
              <a:rPr lang="en-US" dirty="0" smtClean="0">
                <a:solidFill>
                  <a:schemeClr val="tx1"/>
                </a:solidFill>
              </a:rPr>
              <a:t>during RE, during software development, after deployment</a:t>
            </a:r>
            <a:endParaRPr lang="en-US" dirty="0" smtClean="0"/>
          </a:p>
        </p:txBody>
      </p:sp>
      <p:sp>
        <p:nvSpPr>
          <p:cNvPr id="1407008" name="Rectangle 32"/>
          <p:cNvSpPr>
            <a:spLocks noChangeArrowheads="1"/>
          </p:cNvSpPr>
          <p:nvPr/>
        </p:nvSpPr>
        <p:spPr bwMode="auto">
          <a:xfrm>
            <a:off x="2463800" y="5808663"/>
            <a:ext cx="4321175" cy="769937"/>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grpSp>
        <p:nvGrpSpPr>
          <p:cNvPr id="2" name="Group 3"/>
          <p:cNvGrpSpPr>
            <a:grpSpLocks/>
          </p:cNvGrpSpPr>
          <p:nvPr/>
        </p:nvGrpSpPr>
        <p:grpSpPr bwMode="auto">
          <a:xfrm>
            <a:off x="4273550" y="3489325"/>
            <a:ext cx="223838" cy="2628900"/>
            <a:chOff x="2779" y="1129"/>
            <a:chExt cx="189" cy="2609"/>
          </a:xfrm>
        </p:grpSpPr>
        <p:sp>
          <p:nvSpPr>
            <p:cNvPr id="1406980" name="Line 4"/>
            <p:cNvSpPr>
              <a:spLocks noChangeShapeType="1"/>
            </p:cNvSpPr>
            <p:nvPr/>
          </p:nvSpPr>
          <p:spPr bwMode="auto">
            <a:xfrm>
              <a:off x="2874" y="1263"/>
              <a:ext cx="1" cy="2341"/>
            </a:xfrm>
            <a:prstGeom prst="line">
              <a:avLst/>
            </a:prstGeom>
            <a:no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6981" name="Freeform 5"/>
            <p:cNvSpPr>
              <a:spLocks/>
            </p:cNvSpPr>
            <p:nvPr/>
          </p:nvSpPr>
          <p:spPr bwMode="auto">
            <a:xfrm>
              <a:off x="2795" y="1129"/>
              <a:ext cx="173" cy="169"/>
            </a:xfrm>
            <a:custGeom>
              <a:avLst/>
              <a:gdLst/>
              <a:ahLst/>
              <a:cxnLst>
                <a:cxn ang="0">
                  <a:pos x="173" y="168"/>
                </a:cxn>
                <a:cxn ang="0">
                  <a:pos x="79" y="0"/>
                </a:cxn>
                <a:cxn ang="0">
                  <a:pos x="0" y="168"/>
                </a:cxn>
                <a:cxn ang="0">
                  <a:pos x="173" y="168"/>
                </a:cxn>
              </a:cxnLst>
              <a:rect l="0" t="0" r="r" b="b"/>
              <a:pathLst>
                <a:path w="173" h="168">
                  <a:moveTo>
                    <a:pt x="173" y="168"/>
                  </a:moveTo>
                  <a:lnTo>
                    <a:pt x="79" y="0"/>
                  </a:lnTo>
                  <a:lnTo>
                    <a:pt x="0" y="168"/>
                  </a:lnTo>
                  <a:lnTo>
                    <a:pt x="173" y="168"/>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6982" name="Freeform 6"/>
            <p:cNvSpPr>
              <a:spLocks/>
            </p:cNvSpPr>
            <p:nvPr/>
          </p:nvSpPr>
          <p:spPr bwMode="auto">
            <a:xfrm>
              <a:off x="2779" y="3569"/>
              <a:ext cx="173" cy="169"/>
            </a:xfrm>
            <a:custGeom>
              <a:avLst/>
              <a:gdLst/>
              <a:ahLst/>
              <a:cxnLst>
                <a:cxn ang="0">
                  <a:pos x="0" y="0"/>
                </a:cxn>
                <a:cxn ang="0">
                  <a:pos x="95" y="168"/>
                </a:cxn>
                <a:cxn ang="0">
                  <a:pos x="173" y="0"/>
                </a:cxn>
                <a:cxn ang="0">
                  <a:pos x="0" y="0"/>
                </a:cxn>
              </a:cxnLst>
              <a:rect l="0" t="0" r="r" b="b"/>
              <a:pathLst>
                <a:path w="173" h="168">
                  <a:moveTo>
                    <a:pt x="0" y="0"/>
                  </a:moveTo>
                  <a:lnTo>
                    <a:pt x="95" y="168"/>
                  </a:lnTo>
                  <a:lnTo>
                    <a:pt x="173" y="0"/>
                  </a:lnTo>
                  <a:lnTo>
                    <a:pt x="0" y="0"/>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grpSp>
      <p:grpSp>
        <p:nvGrpSpPr>
          <p:cNvPr id="3" name="Group 7"/>
          <p:cNvGrpSpPr>
            <a:grpSpLocks/>
          </p:cNvGrpSpPr>
          <p:nvPr/>
        </p:nvGrpSpPr>
        <p:grpSpPr bwMode="auto">
          <a:xfrm>
            <a:off x="2384425" y="4679950"/>
            <a:ext cx="4059238" cy="217488"/>
            <a:chOff x="1190" y="2300"/>
            <a:chExt cx="3415" cy="200"/>
          </a:xfrm>
        </p:grpSpPr>
        <p:sp>
          <p:nvSpPr>
            <p:cNvPr id="1406984" name="Line 8"/>
            <p:cNvSpPr>
              <a:spLocks noChangeShapeType="1"/>
            </p:cNvSpPr>
            <p:nvPr/>
          </p:nvSpPr>
          <p:spPr bwMode="auto">
            <a:xfrm flipH="1">
              <a:off x="1316" y="2401"/>
              <a:ext cx="3164" cy="0"/>
            </a:xfrm>
            <a:prstGeom prst="line">
              <a:avLst/>
            </a:prstGeom>
            <a:no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6985" name="Freeform 9"/>
            <p:cNvSpPr>
              <a:spLocks/>
            </p:cNvSpPr>
            <p:nvPr/>
          </p:nvSpPr>
          <p:spPr bwMode="auto">
            <a:xfrm>
              <a:off x="4447" y="2316"/>
              <a:ext cx="158" cy="184"/>
            </a:xfrm>
            <a:custGeom>
              <a:avLst/>
              <a:gdLst/>
              <a:ahLst/>
              <a:cxnLst>
                <a:cxn ang="0">
                  <a:pos x="0" y="184"/>
                </a:cxn>
                <a:cxn ang="0">
                  <a:pos x="158" y="84"/>
                </a:cxn>
                <a:cxn ang="0">
                  <a:pos x="0" y="0"/>
                </a:cxn>
                <a:cxn ang="0">
                  <a:pos x="0" y="184"/>
                </a:cxn>
              </a:cxnLst>
              <a:rect l="0" t="0" r="r" b="b"/>
              <a:pathLst>
                <a:path w="158" h="184">
                  <a:moveTo>
                    <a:pt x="0" y="184"/>
                  </a:moveTo>
                  <a:lnTo>
                    <a:pt x="158" y="84"/>
                  </a:lnTo>
                  <a:lnTo>
                    <a:pt x="0" y="0"/>
                  </a:lnTo>
                  <a:lnTo>
                    <a:pt x="0" y="184"/>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6986" name="Freeform 10"/>
            <p:cNvSpPr>
              <a:spLocks/>
            </p:cNvSpPr>
            <p:nvPr/>
          </p:nvSpPr>
          <p:spPr bwMode="auto">
            <a:xfrm>
              <a:off x="1190" y="2300"/>
              <a:ext cx="158" cy="184"/>
            </a:xfrm>
            <a:custGeom>
              <a:avLst/>
              <a:gdLst/>
              <a:ahLst/>
              <a:cxnLst>
                <a:cxn ang="0">
                  <a:pos x="158" y="0"/>
                </a:cxn>
                <a:cxn ang="0">
                  <a:pos x="0" y="100"/>
                </a:cxn>
                <a:cxn ang="0">
                  <a:pos x="158" y="184"/>
                </a:cxn>
                <a:cxn ang="0">
                  <a:pos x="158" y="0"/>
                </a:cxn>
              </a:cxnLst>
              <a:rect l="0" t="0" r="r" b="b"/>
              <a:pathLst>
                <a:path w="158" h="184">
                  <a:moveTo>
                    <a:pt x="158" y="0"/>
                  </a:moveTo>
                  <a:lnTo>
                    <a:pt x="0" y="100"/>
                  </a:lnTo>
                  <a:lnTo>
                    <a:pt x="158" y="184"/>
                  </a:lnTo>
                  <a:lnTo>
                    <a:pt x="158" y="0"/>
                  </a:lnTo>
                  <a:close/>
                </a:path>
              </a:pathLst>
            </a:custGeom>
            <a:solidFill>
              <a:srgbClr val="00000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grpSp>
      <p:sp>
        <p:nvSpPr>
          <p:cNvPr id="1406987" name="Rectangle 11"/>
          <p:cNvSpPr>
            <a:spLocks noChangeArrowheads="1"/>
          </p:cNvSpPr>
          <p:nvPr/>
        </p:nvSpPr>
        <p:spPr bwMode="auto">
          <a:xfrm>
            <a:off x="3619500" y="4733925"/>
            <a:ext cx="990600" cy="436563"/>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6988" name="Rectangle 12"/>
          <p:cNvSpPr>
            <a:spLocks noChangeArrowheads="1"/>
          </p:cNvSpPr>
          <p:nvPr/>
        </p:nvSpPr>
        <p:spPr bwMode="auto">
          <a:xfrm>
            <a:off x="3857625" y="4826000"/>
            <a:ext cx="463550" cy="304800"/>
          </a:xfrm>
          <a:prstGeom prst="rect">
            <a:avLst/>
          </a:prstGeom>
          <a:noFill/>
          <a:ln w="9525">
            <a:noFill/>
            <a:miter lim="800000"/>
            <a:headEnd/>
            <a:tailEnd/>
          </a:ln>
        </p:spPr>
        <p:txBody>
          <a:bodyPr wrap="none" lIns="0" tIns="0" rIns="0" bIns="0">
            <a:spAutoFit/>
          </a:bodyPr>
          <a:lstStyle/>
          <a:p>
            <a:pPr>
              <a:defRPr/>
            </a:pPr>
            <a:r>
              <a:rPr kumimoji="0" lang="en-US" sz="2000">
                <a:solidFill>
                  <a:srgbClr val="000000"/>
                </a:solidFill>
                <a:latin typeface="Times New Roman" pitchFamily="18" charset="0"/>
              </a:rPr>
              <a:t>start</a:t>
            </a:r>
            <a:endParaRPr lang="en-US" i="0">
              <a:effectLst>
                <a:outerShdw blurRad="38100" dist="38100" dir="2700000" algn="tl">
                  <a:srgbClr val="000000"/>
                </a:outerShdw>
              </a:effectLst>
            </a:endParaRPr>
          </a:p>
        </p:txBody>
      </p:sp>
      <p:sp>
        <p:nvSpPr>
          <p:cNvPr id="1406989" name="Freeform 13"/>
          <p:cNvSpPr>
            <a:spLocks/>
          </p:cNvSpPr>
          <p:nvPr/>
        </p:nvSpPr>
        <p:spPr bwMode="auto">
          <a:xfrm>
            <a:off x="3489325" y="4059238"/>
            <a:ext cx="877888" cy="766762"/>
          </a:xfrm>
          <a:custGeom>
            <a:avLst/>
            <a:gdLst/>
            <a:ahLst/>
            <a:cxnLst>
              <a:cxn ang="0">
                <a:pos x="0" y="686"/>
              </a:cxn>
              <a:cxn ang="0">
                <a:pos x="31" y="703"/>
              </a:cxn>
              <a:cxn ang="0">
                <a:pos x="78" y="519"/>
              </a:cxn>
              <a:cxn ang="0">
                <a:pos x="110" y="435"/>
              </a:cxn>
              <a:cxn ang="0">
                <a:pos x="94" y="435"/>
              </a:cxn>
              <a:cxn ang="0">
                <a:pos x="94" y="452"/>
              </a:cxn>
              <a:cxn ang="0">
                <a:pos x="141" y="368"/>
              </a:cxn>
              <a:cxn ang="0">
                <a:pos x="125" y="351"/>
              </a:cxn>
              <a:cxn ang="0">
                <a:pos x="141" y="368"/>
              </a:cxn>
              <a:cxn ang="0">
                <a:pos x="204" y="285"/>
              </a:cxn>
              <a:cxn ang="0">
                <a:pos x="283" y="218"/>
              </a:cxn>
              <a:cxn ang="0">
                <a:pos x="361" y="151"/>
              </a:cxn>
              <a:cxn ang="0">
                <a:pos x="440" y="101"/>
              </a:cxn>
              <a:cxn ang="0">
                <a:pos x="519" y="67"/>
              </a:cxn>
              <a:cxn ang="0">
                <a:pos x="597" y="50"/>
              </a:cxn>
              <a:cxn ang="0">
                <a:pos x="582" y="34"/>
              </a:cxn>
              <a:cxn ang="0">
                <a:pos x="582" y="50"/>
              </a:cxn>
              <a:cxn ang="0">
                <a:pos x="739" y="34"/>
              </a:cxn>
              <a:cxn ang="0">
                <a:pos x="739" y="0"/>
              </a:cxn>
              <a:cxn ang="0">
                <a:pos x="597" y="17"/>
              </a:cxn>
              <a:cxn ang="0">
                <a:pos x="582" y="17"/>
              </a:cxn>
              <a:cxn ang="0">
                <a:pos x="503" y="34"/>
              </a:cxn>
              <a:cxn ang="0">
                <a:pos x="424" y="67"/>
              </a:cxn>
              <a:cxn ang="0">
                <a:pos x="346" y="117"/>
              </a:cxn>
              <a:cxn ang="0">
                <a:pos x="267" y="184"/>
              </a:cxn>
              <a:cxn ang="0">
                <a:pos x="188" y="251"/>
              </a:cxn>
              <a:cxn ang="0">
                <a:pos x="125" y="335"/>
              </a:cxn>
              <a:cxn ang="0">
                <a:pos x="125" y="351"/>
              </a:cxn>
              <a:cxn ang="0">
                <a:pos x="78" y="418"/>
              </a:cxn>
              <a:cxn ang="0">
                <a:pos x="78" y="435"/>
              </a:cxn>
              <a:cxn ang="0">
                <a:pos x="78" y="435"/>
              </a:cxn>
              <a:cxn ang="0">
                <a:pos x="47" y="519"/>
              </a:cxn>
              <a:cxn ang="0">
                <a:pos x="0" y="686"/>
              </a:cxn>
            </a:cxnLst>
            <a:rect l="0" t="0" r="r" b="b"/>
            <a:pathLst>
              <a:path w="739" h="703">
                <a:moveTo>
                  <a:pt x="0" y="686"/>
                </a:moveTo>
                <a:lnTo>
                  <a:pt x="31" y="703"/>
                </a:lnTo>
                <a:lnTo>
                  <a:pt x="78" y="519"/>
                </a:lnTo>
                <a:lnTo>
                  <a:pt x="110" y="435"/>
                </a:lnTo>
                <a:lnTo>
                  <a:pt x="94" y="435"/>
                </a:lnTo>
                <a:lnTo>
                  <a:pt x="94" y="452"/>
                </a:lnTo>
                <a:lnTo>
                  <a:pt x="141" y="368"/>
                </a:lnTo>
                <a:lnTo>
                  <a:pt x="125" y="351"/>
                </a:lnTo>
                <a:lnTo>
                  <a:pt x="141" y="368"/>
                </a:lnTo>
                <a:lnTo>
                  <a:pt x="204" y="285"/>
                </a:lnTo>
                <a:lnTo>
                  <a:pt x="283" y="218"/>
                </a:lnTo>
                <a:lnTo>
                  <a:pt x="361" y="151"/>
                </a:lnTo>
                <a:lnTo>
                  <a:pt x="440" y="101"/>
                </a:lnTo>
                <a:lnTo>
                  <a:pt x="519" y="67"/>
                </a:lnTo>
                <a:lnTo>
                  <a:pt x="597" y="50"/>
                </a:lnTo>
                <a:lnTo>
                  <a:pt x="582" y="34"/>
                </a:lnTo>
                <a:lnTo>
                  <a:pt x="582" y="50"/>
                </a:lnTo>
                <a:lnTo>
                  <a:pt x="739" y="34"/>
                </a:lnTo>
                <a:lnTo>
                  <a:pt x="739" y="0"/>
                </a:lnTo>
                <a:lnTo>
                  <a:pt x="597" y="17"/>
                </a:lnTo>
                <a:lnTo>
                  <a:pt x="582" y="17"/>
                </a:lnTo>
                <a:lnTo>
                  <a:pt x="503" y="34"/>
                </a:lnTo>
                <a:lnTo>
                  <a:pt x="424" y="67"/>
                </a:lnTo>
                <a:lnTo>
                  <a:pt x="346" y="117"/>
                </a:lnTo>
                <a:lnTo>
                  <a:pt x="267" y="184"/>
                </a:lnTo>
                <a:lnTo>
                  <a:pt x="188" y="251"/>
                </a:lnTo>
                <a:lnTo>
                  <a:pt x="125" y="335"/>
                </a:lnTo>
                <a:lnTo>
                  <a:pt x="125" y="351"/>
                </a:lnTo>
                <a:lnTo>
                  <a:pt x="78" y="418"/>
                </a:lnTo>
                <a:lnTo>
                  <a:pt x="78" y="435"/>
                </a:lnTo>
                <a:lnTo>
                  <a:pt x="78" y="435"/>
                </a:lnTo>
                <a:lnTo>
                  <a:pt x="47" y="519"/>
                </a:lnTo>
                <a:lnTo>
                  <a:pt x="0" y="686"/>
                </a:lnTo>
                <a:close/>
              </a:path>
            </a:pathLst>
          </a:custGeom>
          <a:solidFill>
            <a:schemeClr val="hlink"/>
          </a:solidFill>
          <a:ln w="9525">
            <a:solidFill>
              <a:schemeClr val="hlink"/>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6990" name="Freeform 14"/>
          <p:cNvSpPr>
            <a:spLocks/>
          </p:cNvSpPr>
          <p:nvPr/>
        </p:nvSpPr>
        <p:spPr bwMode="auto">
          <a:xfrm>
            <a:off x="3489325" y="4787900"/>
            <a:ext cx="915988" cy="492125"/>
          </a:xfrm>
          <a:custGeom>
            <a:avLst/>
            <a:gdLst/>
            <a:ahLst/>
            <a:cxnLst>
              <a:cxn ang="0">
                <a:pos x="31" y="0"/>
              </a:cxn>
              <a:cxn ang="0">
                <a:pos x="0" y="17"/>
              </a:cxn>
              <a:cxn ang="0">
                <a:pos x="47" y="117"/>
              </a:cxn>
              <a:cxn ang="0">
                <a:pos x="47" y="134"/>
              </a:cxn>
              <a:cxn ang="0">
                <a:pos x="78" y="184"/>
              </a:cxn>
              <a:cxn ang="0">
                <a:pos x="141" y="234"/>
              </a:cxn>
              <a:cxn ang="0">
                <a:pos x="188" y="284"/>
              </a:cxn>
              <a:cxn ang="0">
                <a:pos x="267" y="334"/>
              </a:cxn>
              <a:cxn ang="0">
                <a:pos x="456" y="418"/>
              </a:cxn>
              <a:cxn ang="0">
                <a:pos x="597" y="451"/>
              </a:cxn>
              <a:cxn ang="0">
                <a:pos x="771" y="451"/>
              </a:cxn>
              <a:cxn ang="0">
                <a:pos x="771" y="418"/>
              </a:cxn>
              <a:cxn ang="0">
                <a:pos x="613" y="418"/>
              </a:cxn>
              <a:cxn ang="0">
                <a:pos x="472" y="385"/>
              </a:cxn>
              <a:cxn ang="0">
                <a:pos x="283" y="301"/>
              </a:cxn>
              <a:cxn ang="0">
                <a:pos x="204" y="251"/>
              </a:cxn>
              <a:cxn ang="0">
                <a:pos x="157" y="201"/>
              </a:cxn>
              <a:cxn ang="0">
                <a:pos x="94" y="151"/>
              </a:cxn>
              <a:cxn ang="0">
                <a:pos x="62" y="100"/>
              </a:cxn>
              <a:cxn ang="0">
                <a:pos x="62" y="117"/>
              </a:cxn>
              <a:cxn ang="0">
                <a:pos x="78" y="117"/>
              </a:cxn>
              <a:cxn ang="0">
                <a:pos x="31" y="0"/>
              </a:cxn>
            </a:cxnLst>
            <a:rect l="0" t="0" r="r" b="b"/>
            <a:pathLst>
              <a:path w="771" h="451">
                <a:moveTo>
                  <a:pt x="31" y="0"/>
                </a:moveTo>
                <a:lnTo>
                  <a:pt x="0" y="17"/>
                </a:lnTo>
                <a:lnTo>
                  <a:pt x="47" y="117"/>
                </a:lnTo>
                <a:lnTo>
                  <a:pt x="47" y="134"/>
                </a:lnTo>
                <a:lnTo>
                  <a:pt x="78" y="184"/>
                </a:lnTo>
                <a:lnTo>
                  <a:pt x="141" y="234"/>
                </a:lnTo>
                <a:lnTo>
                  <a:pt x="188" y="284"/>
                </a:lnTo>
                <a:lnTo>
                  <a:pt x="267" y="334"/>
                </a:lnTo>
                <a:lnTo>
                  <a:pt x="456" y="418"/>
                </a:lnTo>
                <a:lnTo>
                  <a:pt x="597" y="451"/>
                </a:lnTo>
                <a:lnTo>
                  <a:pt x="771" y="451"/>
                </a:lnTo>
                <a:lnTo>
                  <a:pt x="771" y="418"/>
                </a:lnTo>
                <a:lnTo>
                  <a:pt x="613" y="418"/>
                </a:lnTo>
                <a:lnTo>
                  <a:pt x="472" y="385"/>
                </a:lnTo>
                <a:lnTo>
                  <a:pt x="283" y="301"/>
                </a:lnTo>
                <a:lnTo>
                  <a:pt x="204" y="251"/>
                </a:lnTo>
                <a:lnTo>
                  <a:pt x="157" y="201"/>
                </a:lnTo>
                <a:lnTo>
                  <a:pt x="94" y="151"/>
                </a:lnTo>
                <a:lnTo>
                  <a:pt x="62" y="100"/>
                </a:lnTo>
                <a:lnTo>
                  <a:pt x="62" y="117"/>
                </a:lnTo>
                <a:lnTo>
                  <a:pt x="78" y="117"/>
                </a:lnTo>
                <a:lnTo>
                  <a:pt x="31" y="0"/>
                </a:lnTo>
                <a:close/>
              </a:path>
            </a:pathLst>
          </a:custGeom>
          <a:solidFill>
            <a:srgbClr val="80808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6991" name="Freeform 15"/>
          <p:cNvSpPr>
            <a:spLocks/>
          </p:cNvSpPr>
          <p:nvPr/>
        </p:nvSpPr>
        <p:spPr bwMode="auto">
          <a:xfrm>
            <a:off x="4348163" y="4041775"/>
            <a:ext cx="1104900" cy="728663"/>
          </a:xfrm>
          <a:custGeom>
            <a:avLst/>
            <a:gdLst/>
            <a:ahLst/>
            <a:cxnLst>
              <a:cxn ang="0">
                <a:pos x="0" y="0"/>
              </a:cxn>
              <a:cxn ang="0">
                <a:pos x="0" y="33"/>
              </a:cxn>
              <a:cxn ang="0">
                <a:pos x="236" y="66"/>
              </a:cxn>
              <a:cxn ang="0">
                <a:pos x="346" y="100"/>
              </a:cxn>
              <a:cxn ang="0">
                <a:pos x="457" y="133"/>
              </a:cxn>
              <a:cxn ang="0">
                <a:pos x="551" y="200"/>
              </a:cxn>
              <a:cxn ang="0">
                <a:pos x="661" y="267"/>
              </a:cxn>
              <a:cxn ang="0">
                <a:pos x="756" y="334"/>
              </a:cxn>
              <a:cxn ang="0">
                <a:pos x="834" y="401"/>
              </a:cxn>
              <a:cxn ang="0">
                <a:pos x="866" y="468"/>
              </a:cxn>
              <a:cxn ang="0">
                <a:pos x="881" y="451"/>
              </a:cxn>
              <a:cxn ang="0">
                <a:pos x="866" y="451"/>
              </a:cxn>
              <a:cxn ang="0">
                <a:pos x="881" y="535"/>
              </a:cxn>
              <a:cxn ang="0">
                <a:pos x="897" y="668"/>
              </a:cxn>
              <a:cxn ang="0">
                <a:pos x="929" y="668"/>
              </a:cxn>
              <a:cxn ang="0">
                <a:pos x="913" y="535"/>
              </a:cxn>
              <a:cxn ang="0">
                <a:pos x="897" y="451"/>
              </a:cxn>
              <a:cxn ang="0">
                <a:pos x="881" y="434"/>
              </a:cxn>
              <a:cxn ang="0">
                <a:pos x="850" y="367"/>
              </a:cxn>
              <a:cxn ang="0">
                <a:pos x="771" y="301"/>
              </a:cxn>
              <a:cxn ang="0">
                <a:pos x="677" y="234"/>
              </a:cxn>
              <a:cxn ang="0">
                <a:pos x="567" y="167"/>
              </a:cxn>
              <a:cxn ang="0">
                <a:pos x="472" y="100"/>
              </a:cxn>
              <a:cxn ang="0">
                <a:pos x="362" y="66"/>
              </a:cxn>
              <a:cxn ang="0">
                <a:pos x="252" y="33"/>
              </a:cxn>
              <a:cxn ang="0">
                <a:pos x="0" y="0"/>
              </a:cxn>
            </a:cxnLst>
            <a:rect l="0" t="0" r="r" b="b"/>
            <a:pathLst>
              <a:path w="929" h="668">
                <a:moveTo>
                  <a:pt x="0" y="0"/>
                </a:moveTo>
                <a:lnTo>
                  <a:pt x="0" y="33"/>
                </a:lnTo>
                <a:lnTo>
                  <a:pt x="236" y="66"/>
                </a:lnTo>
                <a:lnTo>
                  <a:pt x="346" y="100"/>
                </a:lnTo>
                <a:lnTo>
                  <a:pt x="457" y="133"/>
                </a:lnTo>
                <a:lnTo>
                  <a:pt x="551" y="200"/>
                </a:lnTo>
                <a:lnTo>
                  <a:pt x="661" y="267"/>
                </a:lnTo>
                <a:lnTo>
                  <a:pt x="756" y="334"/>
                </a:lnTo>
                <a:lnTo>
                  <a:pt x="834" y="401"/>
                </a:lnTo>
                <a:lnTo>
                  <a:pt x="866" y="468"/>
                </a:lnTo>
                <a:lnTo>
                  <a:pt x="881" y="451"/>
                </a:lnTo>
                <a:lnTo>
                  <a:pt x="866" y="451"/>
                </a:lnTo>
                <a:lnTo>
                  <a:pt x="881" y="535"/>
                </a:lnTo>
                <a:lnTo>
                  <a:pt x="897" y="668"/>
                </a:lnTo>
                <a:lnTo>
                  <a:pt x="929" y="668"/>
                </a:lnTo>
                <a:lnTo>
                  <a:pt x="913" y="535"/>
                </a:lnTo>
                <a:lnTo>
                  <a:pt x="897" y="451"/>
                </a:lnTo>
                <a:lnTo>
                  <a:pt x="881" y="434"/>
                </a:lnTo>
                <a:lnTo>
                  <a:pt x="850" y="367"/>
                </a:lnTo>
                <a:lnTo>
                  <a:pt x="771" y="301"/>
                </a:lnTo>
                <a:lnTo>
                  <a:pt x="677" y="234"/>
                </a:lnTo>
                <a:lnTo>
                  <a:pt x="567" y="167"/>
                </a:lnTo>
                <a:lnTo>
                  <a:pt x="472" y="100"/>
                </a:lnTo>
                <a:lnTo>
                  <a:pt x="362" y="66"/>
                </a:lnTo>
                <a:lnTo>
                  <a:pt x="252" y="33"/>
                </a:lnTo>
                <a:lnTo>
                  <a:pt x="0" y="0"/>
                </a:lnTo>
                <a:close/>
              </a:path>
            </a:pathLst>
          </a:custGeom>
          <a:solidFill>
            <a:schemeClr val="hlink"/>
          </a:solidFill>
          <a:ln w="9525">
            <a:solidFill>
              <a:schemeClr val="hlink"/>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6992" name="Freeform 16"/>
          <p:cNvSpPr>
            <a:spLocks/>
          </p:cNvSpPr>
          <p:nvPr/>
        </p:nvSpPr>
        <p:spPr bwMode="auto">
          <a:xfrm>
            <a:off x="3917950" y="4441825"/>
            <a:ext cx="468313" cy="346075"/>
          </a:xfrm>
          <a:custGeom>
            <a:avLst/>
            <a:gdLst/>
            <a:ahLst/>
            <a:cxnLst>
              <a:cxn ang="0">
                <a:pos x="0" y="301"/>
              </a:cxn>
              <a:cxn ang="0">
                <a:pos x="32" y="318"/>
              </a:cxn>
              <a:cxn ang="0">
                <a:pos x="63" y="234"/>
              </a:cxn>
              <a:cxn ang="0">
                <a:pos x="48" y="234"/>
              </a:cxn>
              <a:cxn ang="0">
                <a:pos x="48" y="251"/>
              </a:cxn>
              <a:cxn ang="0">
                <a:pos x="95" y="184"/>
              </a:cxn>
              <a:cxn ang="0">
                <a:pos x="95" y="184"/>
              </a:cxn>
              <a:cxn ang="0">
                <a:pos x="126" y="151"/>
              </a:cxn>
              <a:cxn ang="0">
                <a:pos x="158" y="117"/>
              </a:cxn>
              <a:cxn ang="0">
                <a:pos x="252" y="67"/>
              </a:cxn>
              <a:cxn ang="0">
                <a:pos x="331" y="34"/>
              </a:cxn>
              <a:cxn ang="0">
                <a:pos x="315" y="17"/>
              </a:cxn>
              <a:cxn ang="0">
                <a:pos x="315" y="34"/>
              </a:cxn>
              <a:cxn ang="0">
                <a:pos x="394" y="34"/>
              </a:cxn>
              <a:cxn ang="0">
                <a:pos x="394" y="0"/>
              </a:cxn>
              <a:cxn ang="0">
                <a:pos x="331" y="0"/>
              </a:cxn>
              <a:cxn ang="0">
                <a:pos x="315" y="0"/>
              </a:cxn>
              <a:cxn ang="0">
                <a:pos x="236" y="34"/>
              </a:cxn>
              <a:cxn ang="0">
                <a:pos x="142" y="84"/>
              </a:cxn>
              <a:cxn ang="0">
                <a:pos x="111" y="117"/>
              </a:cxn>
              <a:cxn ang="0">
                <a:pos x="79" y="168"/>
              </a:cxn>
              <a:cxn ang="0">
                <a:pos x="79" y="168"/>
              </a:cxn>
              <a:cxn ang="0">
                <a:pos x="79" y="151"/>
              </a:cxn>
              <a:cxn ang="0">
                <a:pos x="32" y="218"/>
              </a:cxn>
              <a:cxn ang="0">
                <a:pos x="32" y="234"/>
              </a:cxn>
              <a:cxn ang="0">
                <a:pos x="32" y="234"/>
              </a:cxn>
              <a:cxn ang="0">
                <a:pos x="0" y="301"/>
              </a:cxn>
            </a:cxnLst>
            <a:rect l="0" t="0" r="r" b="b"/>
            <a:pathLst>
              <a:path w="394" h="318">
                <a:moveTo>
                  <a:pt x="0" y="301"/>
                </a:moveTo>
                <a:lnTo>
                  <a:pt x="32" y="318"/>
                </a:lnTo>
                <a:lnTo>
                  <a:pt x="63" y="234"/>
                </a:lnTo>
                <a:lnTo>
                  <a:pt x="48" y="234"/>
                </a:lnTo>
                <a:lnTo>
                  <a:pt x="48" y="251"/>
                </a:lnTo>
                <a:lnTo>
                  <a:pt x="95" y="184"/>
                </a:lnTo>
                <a:lnTo>
                  <a:pt x="95" y="184"/>
                </a:lnTo>
                <a:lnTo>
                  <a:pt x="126" y="151"/>
                </a:lnTo>
                <a:lnTo>
                  <a:pt x="158" y="117"/>
                </a:lnTo>
                <a:lnTo>
                  <a:pt x="252" y="67"/>
                </a:lnTo>
                <a:lnTo>
                  <a:pt x="331" y="34"/>
                </a:lnTo>
                <a:lnTo>
                  <a:pt x="315" y="17"/>
                </a:lnTo>
                <a:lnTo>
                  <a:pt x="315" y="34"/>
                </a:lnTo>
                <a:lnTo>
                  <a:pt x="394" y="34"/>
                </a:lnTo>
                <a:lnTo>
                  <a:pt x="394" y="0"/>
                </a:lnTo>
                <a:lnTo>
                  <a:pt x="331" y="0"/>
                </a:lnTo>
                <a:lnTo>
                  <a:pt x="315" y="0"/>
                </a:lnTo>
                <a:lnTo>
                  <a:pt x="236" y="34"/>
                </a:lnTo>
                <a:lnTo>
                  <a:pt x="142" y="84"/>
                </a:lnTo>
                <a:lnTo>
                  <a:pt x="111" y="117"/>
                </a:lnTo>
                <a:lnTo>
                  <a:pt x="79" y="168"/>
                </a:lnTo>
                <a:lnTo>
                  <a:pt x="79" y="168"/>
                </a:lnTo>
                <a:lnTo>
                  <a:pt x="79" y="151"/>
                </a:lnTo>
                <a:lnTo>
                  <a:pt x="32" y="218"/>
                </a:lnTo>
                <a:lnTo>
                  <a:pt x="32" y="234"/>
                </a:lnTo>
                <a:lnTo>
                  <a:pt x="32" y="234"/>
                </a:lnTo>
                <a:lnTo>
                  <a:pt x="0" y="301"/>
                </a:lnTo>
                <a:close/>
              </a:path>
            </a:pathLst>
          </a:custGeom>
          <a:solidFill>
            <a:srgbClr val="80808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6993" name="Freeform 17"/>
          <p:cNvSpPr>
            <a:spLocks/>
          </p:cNvSpPr>
          <p:nvPr/>
        </p:nvSpPr>
        <p:spPr bwMode="auto">
          <a:xfrm>
            <a:off x="4386263" y="4424363"/>
            <a:ext cx="598487" cy="382587"/>
          </a:xfrm>
          <a:custGeom>
            <a:avLst/>
            <a:gdLst/>
            <a:ahLst/>
            <a:cxnLst>
              <a:cxn ang="0">
                <a:pos x="0" y="0"/>
              </a:cxn>
              <a:cxn ang="0">
                <a:pos x="0" y="33"/>
              </a:cxn>
              <a:cxn ang="0">
                <a:pos x="126" y="50"/>
              </a:cxn>
              <a:cxn ang="0">
                <a:pos x="252" y="83"/>
              </a:cxn>
              <a:cxn ang="0">
                <a:pos x="362" y="150"/>
              </a:cxn>
              <a:cxn ang="0">
                <a:pos x="409" y="184"/>
              </a:cxn>
              <a:cxn ang="0">
                <a:pos x="440" y="217"/>
              </a:cxn>
              <a:cxn ang="0">
                <a:pos x="456" y="250"/>
              </a:cxn>
              <a:cxn ang="0">
                <a:pos x="472" y="234"/>
              </a:cxn>
              <a:cxn ang="0">
                <a:pos x="456" y="234"/>
              </a:cxn>
              <a:cxn ang="0">
                <a:pos x="472" y="284"/>
              </a:cxn>
              <a:cxn ang="0">
                <a:pos x="472" y="351"/>
              </a:cxn>
              <a:cxn ang="0">
                <a:pos x="503" y="351"/>
              </a:cxn>
              <a:cxn ang="0">
                <a:pos x="503" y="284"/>
              </a:cxn>
              <a:cxn ang="0">
                <a:pos x="488" y="234"/>
              </a:cxn>
              <a:cxn ang="0">
                <a:pos x="472" y="217"/>
              </a:cxn>
              <a:cxn ang="0">
                <a:pos x="456" y="184"/>
              </a:cxn>
              <a:cxn ang="0">
                <a:pos x="425" y="150"/>
              </a:cxn>
              <a:cxn ang="0">
                <a:pos x="377" y="117"/>
              </a:cxn>
              <a:cxn ang="0">
                <a:pos x="267" y="50"/>
              </a:cxn>
              <a:cxn ang="0">
                <a:pos x="141" y="16"/>
              </a:cxn>
              <a:cxn ang="0">
                <a:pos x="0" y="0"/>
              </a:cxn>
            </a:cxnLst>
            <a:rect l="0" t="0" r="r" b="b"/>
            <a:pathLst>
              <a:path w="503" h="351">
                <a:moveTo>
                  <a:pt x="0" y="0"/>
                </a:moveTo>
                <a:lnTo>
                  <a:pt x="0" y="33"/>
                </a:lnTo>
                <a:lnTo>
                  <a:pt x="126" y="50"/>
                </a:lnTo>
                <a:lnTo>
                  <a:pt x="252" y="83"/>
                </a:lnTo>
                <a:lnTo>
                  <a:pt x="362" y="150"/>
                </a:lnTo>
                <a:lnTo>
                  <a:pt x="409" y="184"/>
                </a:lnTo>
                <a:lnTo>
                  <a:pt x="440" y="217"/>
                </a:lnTo>
                <a:lnTo>
                  <a:pt x="456" y="250"/>
                </a:lnTo>
                <a:lnTo>
                  <a:pt x="472" y="234"/>
                </a:lnTo>
                <a:lnTo>
                  <a:pt x="456" y="234"/>
                </a:lnTo>
                <a:lnTo>
                  <a:pt x="472" y="284"/>
                </a:lnTo>
                <a:lnTo>
                  <a:pt x="472" y="351"/>
                </a:lnTo>
                <a:lnTo>
                  <a:pt x="503" y="351"/>
                </a:lnTo>
                <a:lnTo>
                  <a:pt x="503" y="284"/>
                </a:lnTo>
                <a:lnTo>
                  <a:pt x="488" y="234"/>
                </a:lnTo>
                <a:lnTo>
                  <a:pt x="472" y="217"/>
                </a:lnTo>
                <a:lnTo>
                  <a:pt x="456" y="184"/>
                </a:lnTo>
                <a:lnTo>
                  <a:pt x="425" y="150"/>
                </a:lnTo>
                <a:lnTo>
                  <a:pt x="377" y="117"/>
                </a:lnTo>
                <a:lnTo>
                  <a:pt x="267" y="50"/>
                </a:lnTo>
                <a:lnTo>
                  <a:pt x="141" y="16"/>
                </a:lnTo>
                <a:lnTo>
                  <a:pt x="0" y="0"/>
                </a:lnTo>
                <a:close/>
              </a:path>
            </a:pathLst>
          </a:custGeom>
          <a:solidFill>
            <a:srgbClr val="80808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6994" name="Freeform 18"/>
          <p:cNvSpPr>
            <a:spLocks/>
          </p:cNvSpPr>
          <p:nvPr/>
        </p:nvSpPr>
        <p:spPr bwMode="auto">
          <a:xfrm>
            <a:off x="4405313" y="4770438"/>
            <a:ext cx="598487" cy="492125"/>
          </a:xfrm>
          <a:custGeom>
            <a:avLst/>
            <a:gdLst/>
            <a:ahLst/>
            <a:cxnLst>
              <a:cxn ang="0">
                <a:pos x="0" y="418"/>
              </a:cxn>
              <a:cxn ang="0">
                <a:pos x="0" y="452"/>
              </a:cxn>
              <a:cxn ang="0">
                <a:pos x="141" y="435"/>
              </a:cxn>
              <a:cxn ang="0">
                <a:pos x="204" y="418"/>
              </a:cxn>
              <a:cxn ang="0">
                <a:pos x="267" y="385"/>
              </a:cxn>
              <a:cxn ang="0">
                <a:pos x="314" y="351"/>
              </a:cxn>
              <a:cxn ang="0">
                <a:pos x="377" y="301"/>
              </a:cxn>
              <a:cxn ang="0">
                <a:pos x="424" y="251"/>
              </a:cxn>
              <a:cxn ang="0">
                <a:pos x="424" y="234"/>
              </a:cxn>
              <a:cxn ang="0">
                <a:pos x="456" y="201"/>
              </a:cxn>
              <a:cxn ang="0">
                <a:pos x="440" y="184"/>
              </a:cxn>
              <a:cxn ang="0">
                <a:pos x="456" y="201"/>
              </a:cxn>
              <a:cxn ang="0">
                <a:pos x="472" y="168"/>
              </a:cxn>
              <a:cxn ang="0">
                <a:pos x="487" y="151"/>
              </a:cxn>
              <a:cxn ang="0">
                <a:pos x="503" y="101"/>
              </a:cxn>
              <a:cxn ang="0">
                <a:pos x="503" y="0"/>
              </a:cxn>
              <a:cxn ang="0">
                <a:pos x="472" y="0"/>
              </a:cxn>
              <a:cxn ang="0">
                <a:pos x="472" y="101"/>
              </a:cxn>
              <a:cxn ang="0">
                <a:pos x="456" y="151"/>
              </a:cxn>
              <a:cxn ang="0">
                <a:pos x="472" y="151"/>
              </a:cxn>
              <a:cxn ang="0">
                <a:pos x="456" y="134"/>
              </a:cxn>
              <a:cxn ang="0">
                <a:pos x="440" y="168"/>
              </a:cxn>
              <a:cxn ang="0">
                <a:pos x="424" y="184"/>
              </a:cxn>
              <a:cxn ang="0">
                <a:pos x="440" y="184"/>
              </a:cxn>
              <a:cxn ang="0">
                <a:pos x="393" y="234"/>
              </a:cxn>
              <a:cxn ang="0">
                <a:pos x="409" y="234"/>
              </a:cxn>
              <a:cxn ang="0">
                <a:pos x="409" y="218"/>
              </a:cxn>
              <a:cxn ang="0">
                <a:pos x="361" y="268"/>
              </a:cxn>
              <a:cxn ang="0">
                <a:pos x="298" y="318"/>
              </a:cxn>
              <a:cxn ang="0">
                <a:pos x="251" y="351"/>
              </a:cxn>
              <a:cxn ang="0">
                <a:pos x="188" y="385"/>
              </a:cxn>
              <a:cxn ang="0">
                <a:pos x="125" y="402"/>
              </a:cxn>
              <a:cxn ang="0">
                <a:pos x="0" y="418"/>
              </a:cxn>
            </a:cxnLst>
            <a:rect l="0" t="0" r="r" b="b"/>
            <a:pathLst>
              <a:path w="503" h="452">
                <a:moveTo>
                  <a:pt x="0" y="418"/>
                </a:moveTo>
                <a:lnTo>
                  <a:pt x="0" y="452"/>
                </a:lnTo>
                <a:lnTo>
                  <a:pt x="141" y="435"/>
                </a:lnTo>
                <a:lnTo>
                  <a:pt x="204" y="418"/>
                </a:lnTo>
                <a:lnTo>
                  <a:pt x="267" y="385"/>
                </a:lnTo>
                <a:lnTo>
                  <a:pt x="314" y="351"/>
                </a:lnTo>
                <a:lnTo>
                  <a:pt x="377" y="301"/>
                </a:lnTo>
                <a:lnTo>
                  <a:pt x="424" y="251"/>
                </a:lnTo>
                <a:lnTo>
                  <a:pt x="424" y="234"/>
                </a:lnTo>
                <a:lnTo>
                  <a:pt x="456" y="201"/>
                </a:lnTo>
                <a:lnTo>
                  <a:pt x="440" y="184"/>
                </a:lnTo>
                <a:lnTo>
                  <a:pt x="456" y="201"/>
                </a:lnTo>
                <a:lnTo>
                  <a:pt x="472" y="168"/>
                </a:lnTo>
                <a:lnTo>
                  <a:pt x="487" y="151"/>
                </a:lnTo>
                <a:lnTo>
                  <a:pt x="503" y="101"/>
                </a:lnTo>
                <a:lnTo>
                  <a:pt x="503" y="0"/>
                </a:lnTo>
                <a:lnTo>
                  <a:pt x="472" y="0"/>
                </a:lnTo>
                <a:lnTo>
                  <a:pt x="472" y="101"/>
                </a:lnTo>
                <a:lnTo>
                  <a:pt x="456" y="151"/>
                </a:lnTo>
                <a:lnTo>
                  <a:pt x="472" y="151"/>
                </a:lnTo>
                <a:lnTo>
                  <a:pt x="456" y="134"/>
                </a:lnTo>
                <a:lnTo>
                  <a:pt x="440" y="168"/>
                </a:lnTo>
                <a:lnTo>
                  <a:pt x="424" y="184"/>
                </a:lnTo>
                <a:lnTo>
                  <a:pt x="440" y="184"/>
                </a:lnTo>
                <a:lnTo>
                  <a:pt x="393" y="234"/>
                </a:lnTo>
                <a:lnTo>
                  <a:pt x="409" y="234"/>
                </a:lnTo>
                <a:lnTo>
                  <a:pt x="409" y="218"/>
                </a:lnTo>
                <a:lnTo>
                  <a:pt x="361" y="268"/>
                </a:lnTo>
                <a:lnTo>
                  <a:pt x="298" y="318"/>
                </a:lnTo>
                <a:lnTo>
                  <a:pt x="251" y="351"/>
                </a:lnTo>
                <a:lnTo>
                  <a:pt x="188" y="385"/>
                </a:lnTo>
                <a:lnTo>
                  <a:pt x="125" y="402"/>
                </a:lnTo>
                <a:lnTo>
                  <a:pt x="0" y="418"/>
                </a:lnTo>
                <a:close/>
              </a:path>
            </a:pathLst>
          </a:custGeom>
          <a:solidFill>
            <a:srgbClr val="808080"/>
          </a:solidFill>
          <a:ln w="9525">
            <a:no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6995" name="Freeform 19"/>
          <p:cNvSpPr>
            <a:spLocks/>
          </p:cNvSpPr>
          <p:nvPr/>
        </p:nvSpPr>
        <p:spPr bwMode="auto">
          <a:xfrm>
            <a:off x="4405313" y="4770438"/>
            <a:ext cx="1047750" cy="874712"/>
          </a:xfrm>
          <a:custGeom>
            <a:avLst/>
            <a:gdLst/>
            <a:ahLst/>
            <a:cxnLst>
              <a:cxn ang="0">
                <a:pos x="0" y="769"/>
              </a:cxn>
              <a:cxn ang="0">
                <a:pos x="0" y="803"/>
              </a:cxn>
              <a:cxn ang="0">
                <a:pos x="236" y="769"/>
              </a:cxn>
              <a:cxn ang="0">
                <a:pos x="456" y="686"/>
              </a:cxn>
              <a:cxn ang="0">
                <a:pos x="550" y="619"/>
              </a:cxn>
              <a:cxn ang="0">
                <a:pos x="645" y="535"/>
              </a:cxn>
              <a:cxn ang="0">
                <a:pos x="739" y="452"/>
              </a:cxn>
              <a:cxn ang="0">
                <a:pos x="802" y="368"/>
              </a:cxn>
              <a:cxn ang="0">
                <a:pos x="833" y="285"/>
              </a:cxn>
              <a:cxn ang="0">
                <a:pos x="849" y="268"/>
              </a:cxn>
              <a:cxn ang="0">
                <a:pos x="865" y="184"/>
              </a:cxn>
              <a:cxn ang="0">
                <a:pos x="881" y="0"/>
              </a:cxn>
              <a:cxn ang="0">
                <a:pos x="849" y="0"/>
              </a:cxn>
              <a:cxn ang="0">
                <a:pos x="833" y="184"/>
              </a:cxn>
              <a:cxn ang="0">
                <a:pos x="818" y="268"/>
              </a:cxn>
              <a:cxn ang="0">
                <a:pos x="833" y="268"/>
              </a:cxn>
              <a:cxn ang="0">
                <a:pos x="818" y="251"/>
              </a:cxn>
              <a:cxn ang="0">
                <a:pos x="786" y="351"/>
              </a:cxn>
              <a:cxn ang="0">
                <a:pos x="723" y="418"/>
              </a:cxn>
              <a:cxn ang="0">
                <a:pos x="629" y="502"/>
              </a:cxn>
              <a:cxn ang="0">
                <a:pos x="534" y="586"/>
              </a:cxn>
              <a:cxn ang="0">
                <a:pos x="440" y="652"/>
              </a:cxn>
              <a:cxn ang="0">
                <a:pos x="220" y="736"/>
              </a:cxn>
              <a:cxn ang="0">
                <a:pos x="0" y="769"/>
              </a:cxn>
            </a:cxnLst>
            <a:rect l="0" t="0" r="r" b="b"/>
            <a:pathLst>
              <a:path w="881" h="803">
                <a:moveTo>
                  <a:pt x="0" y="769"/>
                </a:moveTo>
                <a:lnTo>
                  <a:pt x="0" y="803"/>
                </a:lnTo>
                <a:lnTo>
                  <a:pt x="236" y="769"/>
                </a:lnTo>
                <a:lnTo>
                  <a:pt x="456" y="686"/>
                </a:lnTo>
                <a:lnTo>
                  <a:pt x="550" y="619"/>
                </a:lnTo>
                <a:lnTo>
                  <a:pt x="645" y="535"/>
                </a:lnTo>
                <a:lnTo>
                  <a:pt x="739" y="452"/>
                </a:lnTo>
                <a:lnTo>
                  <a:pt x="802" y="368"/>
                </a:lnTo>
                <a:lnTo>
                  <a:pt x="833" y="285"/>
                </a:lnTo>
                <a:lnTo>
                  <a:pt x="849" y="268"/>
                </a:lnTo>
                <a:lnTo>
                  <a:pt x="865" y="184"/>
                </a:lnTo>
                <a:lnTo>
                  <a:pt x="881" y="0"/>
                </a:lnTo>
                <a:lnTo>
                  <a:pt x="849" y="0"/>
                </a:lnTo>
                <a:lnTo>
                  <a:pt x="833" y="184"/>
                </a:lnTo>
                <a:lnTo>
                  <a:pt x="818" y="268"/>
                </a:lnTo>
                <a:lnTo>
                  <a:pt x="833" y="268"/>
                </a:lnTo>
                <a:lnTo>
                  <a:pt x="818" y="251"/>
                </a:lnTo>
                <a:lnTo>
                  <a:pt x="786" y="351"/>
                </a:lnTo>
                <a:lnTo>
                  <a:pt x="723" y="418"/>
                </a:lnTo>
                <a:lnTo>
                  <a:pt x="629" y="502"/>
                </a:lnTo>
                <a:lnTo>
                  <a:pt x="534" y="586"/>
                </a:lnTo>
                <a:lnTo>
                  <a:pt x="440" y="652"/>
                </a:lnTo>
                <a:lnTo>
                  <a:pt x="220" y="736"/>
                </a:lnTo>
                <a:lnTo>
                  <a:pt x="0" y="769"/>
                </a:lnTo>
                <a:close/>
              </a:path>
            </a:pathLst>
          </a:custGeom>
          <a:solidFill>
            <a:schemeClr val="hlink"/>
          </a:solidFill>
          <a:ln w="9525">
            <a:solidFill>
              <a:schemeClr val="hlink"/>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6996" name="Freeform 20"/>
          <p:cNvSpPr>
            <a:spLocks/>
          </p:cNvSpPr>
          <p:nvPr/>
        </p:nvSpPr>
        <p:spPr bwMode="auto">
          <a:xfrm>
            <a:off x="3059113" y="4826000"/>
            <a:ext cx="1308100" cy="838200"/>
          </a:xfrm>
          <a:custGeom>
            <a:avLst/>
            <a:gdLst/>
            <a:ahLst/>
            <a:cxnLst>
              <a:cxn ang="0">
                <a:pos x="31" y="0"/>
              </a:cxn>
              <a:cxn ang="0">
                <a:pos x="0" y="16"/>
              </a:cxn>
              <a:cxn ang="0">
                <a:pos x="63" y="183"/>
              </a:cxn>
              <a:cxn ang="0">
                <a:pos x="94" y="284"/>
              </a:cxn>
              <a:cxn ang="0">
                <a:pos x="110" y="300"/>
              </a:cxn>
              <a:cxn ang="0">
                <a:pos x="173" y="384"/>
              </a:cxn>
              <a:cxn ang="0">
                <a:pos x="267" y="468"/>
              </a:cxn>
              <a:cxn ang="0">
                <a:pos x="377" y="568"/>
              </a:cxn>
              <a:cxn ang="0">
                <a:pos x="503" y="635"/>
              </a:cxn>
              <a:cxn ang="0">
                <a:pos x="629" y="685"/>
              </a:cxn>
              <a:cxn ang="0">
                <a:pos x="629" y="668"/>
              </a:cxn>
              <a:cxn ang="0">
                <a:pos x="629" y="685"/>
              </a:cxn>
              <a:cxn ang="0">
                <a:pos x="739" y="718"/>
              </a:cxn>
              <a:cxn ang="0">
                <a:pos x="865" y="752"/>
              </a:cxn>
              <a:cxn ang="0">
                <a:pos x="1101" y="769"/>
              </a:cxn>
              <a:cxn ang="0">
                <a:pos x="1101" y="735"/>
              </a:cxn>
              <a:cxn ang="0">
                <a:pos x="881" y="718"/>
              </a:cxn>
              <a:cxn ang="0">
                <a:pos x="755" y="685"/>
              </a:cxn>
              <a:cxn ang="0">
                <a:pos x="645" y="652"/>
              </a:cxn>
              <a:cxn ang="0">
                <a:pos x="629" y="652"/>
              </a:cxn>
              <a:cxn ang="0">
                <a:pos x="519" y="601"/>
              </a:cxn>
              <a:cxn ang="0">
                <a:pos x="393" y="535"/>
              </a:cxn>
              <a:cxn ang="0">
                <a:pos x="283" y="434"/>
              </a:cxn>
              <a:cxn ang="0">
                <a:pos x="188" y="351"/>
              </a:cxn>
              <a:cxn ang="0">
                <a:pos x="126" y="267"/>
              </a:cxn>
              <a:cxn ang="0">
                <a:pos x="110" y="284"/>
              </a:cxn>
              <a:cxn ang="0">
                <a:pos x="126" y="284"/>
              </a:cxn>
              <a:cxn ang="0">
                <a:pos x="94" y="183"/>
              </a:cxn>
              <a:cxn ang="0">
                <a:pos x="31" y="0"/>
              </a:cxn>
            </a:cxnLst>
            <a:rect l="0" t="0" r="r" b="b"/>
            <a:pathLst>
              <a:path w="1101" h="769">
                <a:moveTo>
                  <a:pt x="31" y="0"/>
                </a:moveTo>
                <a:lnTo>
                  <a:pt x="0" y="16"/>
                </a:lnTo>
                <a:lnTo>
                  <a:pt x="63" y="183"/>
                </a:lnTo>
                <a:lnTo>
                  <a:pt x="94" y="284"/>
                </a:lnTo>
                <a:lnTo>
                  <a:pt x="110" y="300"/>
                </a:lnTo>
                <a:lnTo>
                  <a:pt x="173" y="384"/>
                </a:lnTo>
                <a:lnTo>
                  <a:pt x="267" y="468"/>
                </a:lnTo>
                <a:lnTo>
                  <a:pt x="377" y="568"/>
                </a:lnTo>
                <a:lnTo>
                  <a:pt x="503" y="635"/>
                </a:lnTo>
                <a:lnTo>
                  <a:pt x="629" y="685"/>
                </a:lnTo>
                <a:lnTo>
                  <a:pt x="629" y="668"/>
                </a:lnTo>
                <a:lnTo>
                  <a:pt x="629" y="685"/>
                </a:lnTo>
                <a:lnTo>
                  <a:pt x="739" y="718"/>
                </a:lnTo>
                <a:lnTo>
                  <a:pt x="865" y="752"/>
                </a:lnTo>
                <a:lnTo>
                  <a:pt x="1101" y="769"/>
                </a:lnTo>
                <a:lnTo>
                  <a:pt x="1101" y="735"/>
                </a:lnTo>
                <a:lnTo>
                  <a:pt x="881" y="718"/>
                </a:lnTo>
                <a:lnTo>
                  <a:pt x="755" y="685"/>
                </a:lnTo>
                <a:lnTo>
                  <a:pt x="645" y="652"/>
                </a:lnTo>
                <a:lnTo>
                  <a:pt x="629" y="652"/>
                </a:lnTo>
                <a:lnTo>
                  <a:pt x="519" y="601"/>
                </a:lnTo>
                <a:lnTo>
                  <a:pt x="393" y="535"/>
                </a:lnTo>
                <a:lnTo>
                  <a:pt x="283" y="434"/>
                </a:lnTo>
                <a:lnTo>
                  <a:pt x="188" y="351"/>
                </a:lnTo>
                <a:lnTo>
                  <a:pt x="126" y="267"/>
                </a:lnTo>
                <a:lnTo>
                  <a:pt x="110" y="284"/>
                </a:lnTo>
                <a:lnTo>
                  <a:pt x="126" y="284"/>
                </a:lnTo>
                <a:lnTo>
                  <a:pt x="94" y="183"/>
                </a:lnTo>
                <a:lnTo>
                  <a:pt x="31" y="0"/>
                </a:lnTo>
                <a:close/>
              </a:path>
            </a:pathLst>
          </a:custGeom>
          <a:solidFill>
            <a:schemeClr val="hlink"/>
          </a:solidFill>
          <a:ln w="9525">
            <a:solidFill>
              <a:schemeClr val="hlink"/>
            </a:solidFill>
            <a:round/>
            <a:headEnd/>
            <a:tailEnd/>
          </a:ln>
        </p:spPr>
        <p:txBody>
          <a:bodyPr/>
          <a:lstStyle/>
          <a:p>
            <a:pPr>
              <a:defRPr/>
            </a:pPr>
            <a:endParaRPr lang="en-GB">
              <a:effectLst>
                <a:outerShdw blurRad="38100" dist="38100" dir="2700000" algn="tl">
                  <a:srgbClr val="000000">
                    <a:alpha val="43137"/>
                  </a:srgbClr>
                </a:outerShdw>
              </a:effectLst>
            </a:endParaRPr>
          </a:p>
        </p:txBody>
      </p:sp>
      <p:sp>
        <p:nvSpPr>
          <p:cNvPr id="1406997" name="Rectangle 21"/>
          <p:cNvSpPr>
            <a:spLocks noChangeArrowheads="1"/>
          </p:cNvSpPr>
          <p:nvPr/>
        </p:nvSpPr>
        <p:spPr bwMode="auto">
          <a:xfrm>
            <a:off x="1225550" y="3640138"/>
            <a:ext cx="2954338" cy="784225"/>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46097" name="Rectangle 22"/>
          <p:cNvSpPr>
            <a:spLocks noChangeArrowheads="1"/>
          </p:cNvSpPr>
          <p:nvPr/>
        </p:nvSpPr>
        <p:spPr bwMode="auto">
          <a:xfrm>
            <a:off x="1485900" y="3695700"/>
            <a:ext cx="2513013" cy="304800"/>
          </a:xfrm>
          <a:prstGeom prst="rect">
            <a:avLst/>
          </a:prstGeom>
          <a:noFill/>
          <a:ln w="9525">
            <a:noFill/>
            <a:miter lim="800000"/>
            <a:headEnd/>
            <a:tailEnd/>
          </a:ln>
        </p:spPr>
        <p:txBody>
          <a:bodyPr wrap="none" lIns="0" tIns="0" rIns="0" bIns="0">
            <a:spAutoFit/>
          </a:bodyPr>
          <a:lstStyle/>
          <a:p>
            <a:r>
              <a:rPr kumimoji="0" lang="en-US" sz="2000" i="0" dirty="0">
                <a:solidFill>
                  <a:schemeClr val="tx1"/>
                </a:solidFill>
                <a:latin typeface="Arial" pitchFamily="34" charset="0"/>
              </a:rPr>
              <a:t>domain understanding</a:t>
            </a:r>
            <a:endParaRPr kumimoji="0" lang="en-US" i="0" dirty="0">
              <a:solidFill>
                <a:schemeClr val="tx1"/>
              </a:solidFill>
              <a:latin typeface="Arial" pitchFamily="34" charset="0"/>
            </a:endParaRPr>
          </a:p>
        </p:txBody>
      </p:sp>
      <p:sp>
        <p:nvSpPr>
          <p:cNvPr id="1406999" name="Rectangle 23"/>
          <p:cNvSpPr>
            <a:spLocks noChangeArrowheads="1"/>
          </p:cNvSpPr>
          <p:nvPr/>
        </p:nvSpPr>
        <p:spPr bwMode="auto">
          <a:xfrm>
            <a:off x="2100263" y="3986213"/>
            <a:ext cx="1300162" cy="304800"/>
          </a:xfrm>
          <a:prstGeom prst="rect">
            <a:avLst/>
          </a:prstGeom>
          <a:noFill/>
          <a:ln w="9525">
            <a:noFill/>
            <a:miter lim="800000"/>
            <a:headEnd/>
            <a:tailEnd/>
          </a:ln>
        </p:spPr>
        <p:txBody>
          <a:bodyPr wrap="none" lIns="0" tIns="0" rIns="0" bIns="0">
            <a:spAutoFit/>
          </a:bodyPr>
          <a:lstStyle/>
          <a:p>
            <a:pPr>
              <a:defRPr/>
            </a:pPr>
            <a:r>
              <a:rPr kumimoji="0" lang="en-US" sz="2000" i="0">
                <a:solidFill>
                  <a:schemeClr val="tx1"/>
                </a:solidFill>
                <a:latin typeface="Arial" pitchFamily="34" charset="0"/>
              </a:rPr>
              <a:t>&amp; elicitation</a:t>
            </a:r>
            <a:endParaRPr lang="en-US" sz="2000" i="0">
              <a:effectLst>
                <a:outerShdw blurRad="38100" dist="38100" dir="2700000" algn="tl">
                  <a:srgbClr val="000000"/>
                </a:outerShdw>
              </a:effectLst>
            </a:endParaRPr>
          </a:p>
        </p:txBody>
      </p:sp>
      <p:sp>
        <p:nvSpPr>
          <p:cNvPr id="1407000" name="Rectangle 24"/>
          <p:cNvSpPr>
            <a:spLocks noChangeArrowheads="1"/>
          </p:cNvSpPr>
          <p:nvPr/>
        </p:nvSpPr>
        <p:spPr bwMode="auto">
          <a:xfrm>
            <a:off x="5189538" y="3657600"/>
            <a:ext cx="2432050" cy="784225"/>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7001" name="Rectangle 25"/>
          <p:cNvSpPr>
            <a:spLocks noChangeArrowheads="1"/>
          </p:cNvSpPr>
          <p:nvPr/>
        </p:nvSpPr>
        <p:spPr bwMode="auto">
          <a:xfrm>
            <a:off x="5667375" y="3741738"/>
            <a:ext cx="1158875" cy="304800"/>
          </a:xfrm>
          <a:prstGeom prst="rect">
            <a:avLst/>
          </a:prstGeom>
          <a:noFill/>
          <a:ln w="9525">
            <a:noFill/>
            <a:miter lim="800000"/>
            <a:headEnd/>
            <a:tailEnd/>
          </a:ln>
        </p:spPr>
        <p:txBody>
          <a:bodyPr wrap="none" lIns="0" tIns="0" rIns="0" bIns="0">
            <a:spAutoFit/>
          </a:bodyPr>
          <a:lstStyle/>
          <a:p>
            <a:pPr>
              <a:defRPr/>
            </a:pPr>
            <a:r>
              <a:rPr kumimoji="0" lang="en-US" sz="2000" i="0">
                <a:solidFill>
                  <a:schemeClr val="tx1"/>
                </a:solidFill>
                <a:latin typeface="Arial" pitchFamily="34" charset="0"/>
              </a:rPr>
              <a:t>evaluation</a:t>
            </a:r>
            <a:endParaRPr lang="en-US" i="0">
              <a:effectLst>
                <a:outerShdw blurRad="38100" dist="38100" dir="2700000" algn="tl">
                  <a:srgbClr val="000000"/>
                </a:outerShdw>
              </a:effectLst>
            </a:endParaRPr>
          </a:p>
        </p:txBody>
      </p:sp>
      <p:sp>
        <p:nvSpPr>
          <p:cNvPr id="46101" name="Rectangle 26"/>
          <p:cNvSpPr>
            <a:spLocks noChangeArrowheads="1"/>
          </p:cNvSpPr>
          <p:nvPr/>
        </p:nvSpPr>
        <p:spPr bwMode="auto">
          <a:xfrm>
            <a:off x="5510213" y="4033838"/>
            <a:ext cx="1452562" cy="304800"/>
          </a:xfrm>
          <a:prstGeom prst="rect">
            <a:avLst/>
          </a:prstGeom>
          <a:noFill/>
          <a:ln w="9525">
            <a:noFill/>
            <a:miter lim="800000"/>
            <a:headEnd/>
            <a:tailEnd/>
          </a:ln>
        </p:spPr>
        <p:txBody>
          <a:bodyPr wrap="none" lIns="0" tIns="0" rIns="0" bIns="0">
            <a:spAutoFit/>
          </a:bodyPr>
          <a:lstStyle/>
          <a:p>
            <a:r>
              <a:rPr kumimoji="0" lang="en-US" sz="2000" i="0">
                <a:solidFill>
                  <a:schemeClr val="tx1"/>
                </a:solidFill>
                <a:latin typeface="Arial" pitchFamily="34" charset="0"/>
              </a:rPr>
              <a:t>&amp; agreement</a:t>
            </a:r>
          </a:p>
        </p:txBody>
      </p:sp>
      <p:sp>
        <p:nvSpPr>
          <p:cNvPr id="46102" name="Rectangle 28"/>
          <p:cNvSpPr>
            <a:spLocks noChangeArrowheads="1"/>
          </p:cNvSpPr>
          <p:nvPr/>
        </p:nvSpPr>
        <p:spPr bwMode="auto">
          <a:xfrm>
            <a:off x="3173413" y="3124200"/>
            <a:ext cx="2566408" cy="307777"/>
          </a:xfrm>
          <a:prstGeom prst="rect">
            <a:avLst/>
          </a:prstGeom>
          <a:noFill/>
          <a:ln w="9525">
            <a:noFill/>
            <a:miter lim="800000"/>
            <a:headEnd/>
            <a:tailEnd/>
          </a:ln>
        </p:spPr>
        <p:txBody>
          <a:bodyPr wrap="none" lIns="0" tIns="0" rIns="0" bIns="0">
            <a:spAutoFit/>
          </a:bodyPr>
          <a:lstStyle/>
          <a:p>
            <a:r>
              <a:rPr kumimoji="0" lang="en-US" dirty="0">
                <a:solidFill>
                  <a:srgbClr val="C00000"/>
                </a:solidFill>
                <a:latin typeface="Times New Roman" pitchFamily="18" charset="0"/>
              </a:rPr>
              <a:t> </a:t>
            </a:r>
            <a:r>
              <a:rPr kumimoji="0" lang="en-US" sz="2000" dirty="0">
                <a:solidFill>
                  <a:srgbClr val="C00000"/>
                </a:solidFill>
                <a:latin typeface="Comic Sans MS" pitchFamily="66" charset="0"/>
              </a:rPr>
              <a:t>alternative proposals</a:t>
            </a:r>
            <a:endParaRPr lang="en-US" i="0" dirty="0">
              <a:solidFill>
                <a:srgbClr val="C00000"/>
              </a:solidFill>
            </a:endParaRPr>
          </a:p>
        </p:txBody>
      </p:sp>
      <p:sp>
        <p:nvSpPr>
          <p:cNvPr id="1407005" name="Rectangle 29"/>
          <p:cNvSpPr>
            <a:spLocks noChangeArrowheads="1"/>
          </p:cNvSpPr>
          <p:nvPr/>
        </p:nvSpPr>
        <p:spPr bwMode="auto">
          <a:xfrm>
            <a:off x="5395913" y="4826000"/>
            <a:ext cx="2019300" cy="800100"/>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46104" name="Rectangle 30"/>
          <p:cNvSpPr>
            <a:spLocks noChangeArrowheads="1"/>
          </p:cNvSpPr>
          <p:nvPr/>
        </p:nvSpPr>
        <p:spPr bwMode="auto">
          <a:xfrm>
            <a:off x="6070600" y="4879975"/>
            <a:ext cx="815975" cy="304800"/>
          </a:xfrm>
          <a:prstGeom prst="rect">
            <a:avLst/>
          </a:prstGeom>
          <a:noFill/>
          <a:ln w="9525">
            <a:noFill/>
            <a:miter lim="800000"/>
            <a:headEnd/>
            <a:tailEnd/>
          </a:ln>
        </p:spPr>
        <p:txBody>
          <a:bodyPr wrap="none" lIns="0" tIns="0" rIns="0" bIns="0">
            <a:spAutoFit/>
          </a:bodyPr>
          <a:lstStyle/>
          <a:p>
            <a:r>
              <a:rPr kumimoji="0" lang="en-US" sz="2000">
                <a:solidFill>
                  <a:srgbClr val="C00000"/>
                </a:solidFill>
                <a:latin typeface="Comic Sans MS" pitchFamily="66" charset="0"/>
              </a:rPr>
              <a:t>agreed</a:t>
            </a:r>
            <a:endParaRPr lang="en-US" sz="2000" i="0">
              <a:solidFill>
                <a:srgbClr val="C00000"/>
              </a:solidFill>
              <a:latin typeface="Comic Sans MS" pitchFamily="66" charset="0"/>
            </a:endParaRPr>
          </a:p>
        </p:txBody>
      </p:sp>
      <p:sp>
        <p:nvSpPr>
          <p:cNvPr id="46105" name="Rectangle 31"/>
          <p:cNvSpPr>
            <a:spLocks noChangeArrowheads="1"/>
          </p:cNvSpPr>
          <p:nvPr/>
        </p:nvSpPr>
        <p:spPr bwMode="auto">
          <a:xfrm>
            <a:off x="5705475" y="5137150"/>
            <a:ext cx="1571625" cy="304800"/>
          </a:xfrm>
          <a:prstGeom prst="rect">
            <a:avLst/>
          </a:prstGeom>
          <a:noFill/>
          <a:ln w="9525">
            <a:noFill/>
            <a:miter lim="800000"/>
            <a:headEnd/>
            <a:tailEnd/>
          </a:ln>
        </p:spPr>
        <p:txBody>
          <a:bodyPr wrap="none" lIns="0" tIns="0" rIns="0" bIns="0">
            <a:spAutoFit/>
          </a:bodyPr>
          <a:lstStyle/>
          <a:p>
            <a:r>
              <a:rPr kumimoji="0" lang="en-US" sz="2000">
                <a:solidFill>
                  <a:srgbClr val="C00000"/>
                </a:solidFill>
                <a:latin typeface="Comic Sans MS" pitchFamily="66" charset="0"/>
              </a:rPr>
              <a:t>requirements</a:t>
            </a:r>
            <a:endParaRPr lang="en-US" sz="2000" i="0">
              <a:solidFill>
                <a:srgbClr val="C00000"/>
              </a:solidFill>
              <a:latin typeface="Comic Sans MS" pitchFamily="66" charset="0"/>
            </a:endParaRPr>
          </a:p>
        </p:txBody>
      </p:sp>
      <p:sp>
        <p:nvSpPr>
          <p:cNvPr id="46106" name="Rectangle 33"/>
          <p:cNvSpPr>
            <a:spLocks noChangeArrowheads="1"/>
          </p:cNvSpPr>
          <p:nvPr/>
        </p:nvSpPr>
        <p:spPr bwMode="auto">
          <a:xfrm>
            <a:off x="3019425" y="6173788"/>
            <a:ext cx="3070225" cy="304800"/>
          </a:xfrm>
          <a:prstGeom prst="rect">
            <a:avLst/>
          </a:prstGeom>
          <a:noFill/>
          <a:ln w="9525">
            <a:noFill/>
            <a:miter lim="800000"/>
            <a:headEnd/>
            <a:tailEnd/>
          </a:ln>
        </p:spPr>
        <p:txBody>
          <a:bodyPr wrap="none" lIns="0" tIns="0" rIns="0" bIns="0">
            <a:spAutoFit/>
          </a:bodyPr>
          <a:lstStyle/>
          <a:p>
            <a:r>
              <a:rPr kumimoji="0" lang="en-US" sz="2000">
                <a:solidFill>
                  <a:srgbClr val="C00000"/>
                </a:solidFill>
                <a:latin typeface="Comic Sans MS" pitchFamily="66" charset="0"/>
              </a:rPr>
              <a:t>documented requirements</a:t>
            </a:r>
            <a:endParaRPr lang="en-US" sz="2000" i="0">
              <a:solidFill>
                <a:srgbClr val="C00000"/>
              </a:solidFill>
              <a:latin typeface="Comic Sans MS" pitchFamily="66" charset="0"/>
            </a:endParaRPr>
          </a:p>
        </p:txBody>
      </p:sp>
      <p:sp>
        <p:nvSpPr>
          <p:cNvPr id="1407010" name="Rectangle 34"/>
          <p:cNvSpPr>
            <a:spLocks noChangeArrowheads="1"/>
          </p:cNvSpPr>
          <p:nvPr/>
        </p:nvSpPr>
        <p:spPr bwMode="auto">
          <a:xfrm>
            <a:off x="1317625" y="4826000"/>
            <a:ext cx="1927225" cy="800100"/>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46108" name="Rectangle 35"/>
          <p:cNvSpPr>
            <a:spLocks noChangeArrowheads="1"/>
          </p:cNvSpPr>
          <p:nvPr/>
        </p:nvSpPr>
        <p:spPr bwMode="auto">
          <a:xfrm>
            <a:off x="1384300" y="4889500"/>
            <a:ext cx="1706563" cy="304800"/>
          </a:xfrm>
          <a:prstGeom prst="rect">
            <a:avLst/>
          </a:prstGeom>
          <a:noFill/>
          <a:ln w="9525">
            <a:noFill/>
            <a:miter lim="800000"/>
            <a:headEnd/>
            <a:tailEnd/>
          </a:ln>
        </p:spPr>
        <p:txBody>
          <a:bodyPr lIns="0" tIns="0" rIns="0" bIns="0">
            <a:spAutoFit/>
          </a:bodyPr>
          <a:lstStyle/>
          <a:p>
            <a:r>
              <a:rPr kumimoji="0" lang="en-US" sz="2000">
                <a:solidFill>
                  <a:srgbClr val="C00000"/>
                </a:solidFill>
                <a:latin typeface="Comic Sans MS" pitchFamily="66" charset="0"/>
              </a:rPr>
              <a:t>consolidated</a:t>
            </a:r>
            <a:endParaRPr lang="en-US" sz="2000" i="0">
              <a:solidFill>
                <a:srgbClr val="C00000"/>
              </a:solidFill>
            </a:endParaRPr>
          </a:p>
        </p:txBody>
      </p:sp>
      <p:sp>
        <p:nvSpPr>
          <p:cNvPr id="46109" name="Rectangle 36"/>
          <p:cNvSpPr>
            <a:spLocks noChangeArrowheads="1"/>
          </p:cNvSpPr>
          <p:nvPr/>
        </p:nvSpPr>
        <p:spPr bwMode="auto">
          <a:xfrm>
            <a:off x="1476375" y="5165725"/>
            <a:ext cx="1571625" cy="304800"/>
          </a:xfrm>
          <a:prstGeom prst="rect">
            <a:avLst/>
          </a:prstGeom>
          <a:noFill/>
          <a:ln w="9525">
            <a:noFill/>
            <a:miter lim="800000"/>
            <a:headEnd/>
            <a:tailEnd/>
          </a:ln>
        </p:spPr>
        <p:txBody>
          <a:bodyPr wrap="none" lIns="0" tIns="0" rIns="0" bIns="0">
            <a:spAutoFit/>
          </a:bodyPr>
          <a:lstStyle/>
          <a:p>
            <a:r>
              <a:rPr kumimoji="0" lang="en-US" sz="2000">
                <a:solidFill>
                  <a:srgbClr val="C00000"/>
                </a:solidFill>
                <a:latin typeface="Comic Sans MS" pitchFamily="66" charset="0"/>
              </a:rPr>
              <a:t>requirements</a:t>
            </a:r>
            <a:endParaRPr lang="en-US" sz="2000" i="0">
              <a:solidFill>
                <a:srgbClr val="C00000"/>
              </a:solidFill>
              <a:latin typeface="Comic Sans MS" pitchFamily="66" charset="0"/>
            </a:endParaRPr>
          </a:p>
        </p:txBody>
      </p:sp>
      <p:sp>
        <p:nvSpPr>
          <p:cNvPr id="1407013" name="Rectangle 37"/>
          <p:cNvSpPr>
            <a:spLocks noChangeArrowheads="1"/>
          </p:cNvSpPr>
          <p:nvPr/>
        </p:nvSpPr>
        <p:spPr bwMode="auto">
          <a:xfrm>
            <a:off x="5114925" y="5572125"/>
            <a:ext cx="2432050" cy="784225"/>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46111" name="Rectangle 38"/>
          <p:cNvSpPr>
            <a:spLocks noChangeArrowheads="1"/>
          </p:cNvSpPr>
          <p:nvPr/>
        </p:nvSpPr>
        <p:spPr bwMode="auto">
          <a:xfrm>
            <a:off x="5519738" y="5521325"/>
            <a:ext cx="1398587" cy="304800"/>
          </a:xfrm>
          <a:prstGeom prst="rect">
            <a:avLst/>
          </a:prstGeom>
          <a:noFill/>
          <a:ln w="9525">
            <a:noFill/>
            <a:miter lim="800000"/>
            <a:headEnd/>
            <a:tailEnd/>
          </a:ln>
        </p:spPr>
        <p:txBody>
          <a:bodyPr wrap="none" lIns="0" tIns="0" rIns="0" bIns="0">
            <a:spAutoFit/>
          </a:bodyPr>
          <a:lstStyle/>
          <a:p>
            <a:r>
              <a:rPr kumimoji="0" lang="en-US" sz="2000" i="0">
                <a:solidFill>
                  <a:schemeClr val="tx1"/>
                </a:solidFill>
                <a:latin typeface="Arial" pitchFamily="34" charset="0"/>
              </a:rPr>
              <a:t>specification</a:t>
            </a:r>
            <a:endParaRPr lang="en-US" sz="2000" i="0">
              <a:solidFill>
                <a:schemeClr val="tx1"/>
              </a:solidFill>
            </a:endParaRPr>
          </a:p>
        </p:txBody>
      </p:sp>
      <p:sp>
        <p:nvSpPr>
          <p:cNvPr id="1407015" name="Rectangle 39"/>
          <p:cNvSpPr>
            <a:spLocks noChangeArrowheads="1"/>
          </p:cNvSpPr>
          <p:nvPr/>
        </p:nvSpPr>
        <p:spPr bwMode="auto">
          <a:xfrm>
            <a:off x="5267325" y="5813425"/>
            <a:ext cx="1905000" cy="304800"/>
          </a:xfrm>
          <a:prstGeom prst="rect">
            <a:avLst/>
          </a:prstGeom>
          <a:noFill/>
          <a:ln w="9525">
            <a:noFill/>
            <a:miter lim="800000"/>
            <a:headEnd/>
            <a:tailEnd/>
          </a:ln>
        </p:spPr>
        <p:txBody>
          <a:bodyPr wrap="none" lIns="0" tIns="0" rIns="0" bIns="0">
            <a:spAutoFit/>
          </a:bodyPr>
          <a:lstStyle/>
          <a:p>
            <a:pPr>
              <a:defRPr/>
            </a:pPr>
            <a:r>
              <a:rPr kumimoji="0" lang="en-US" sz="2000" i="0">
                <a:solidFill>
                  <a:schemeClr val="tx1"/>
                </a:solidFill>
                <a:latin typeface="Arial" pitchFamily="34" charset="0"/>
              </a:rPr>
              <a:t>&amp; documentation</a:t>
            </a:r>
            <a:endParaRPr lang="en-US" sz="2000" i="0">
              <a:effectLst>
                <a:outerShdw blurRad="38100" dist="38100" dir="2700000" algn="tl">
                  <a:srgbClr val="000000"/>
                </a:outerShdw>
              </a:effectLst>
            </a:endParaRPr>
          </a:p>
        </p:txBody>
      </p:sp>
      <p:sp>
        <p:nvSpPr>
          <p:cNvPr id="1407016" name="Rectangle 40"/>
          <p:cNvSpPr>
            <a:spLocks noChangeArrowheads="1"/>
          </p:cNvSpPr>
          <p:nvPr/>
        </p:nvSpPr>
        <p:spPr bwMode="auto">
          <a:xfrm>
            <a:off x="1431925" y="5535613"/>
            <a:ext cx="2430463" cy="782637"/>
          </a:xfrm>
          <a:prstGeom prst="rect">
            <a:avLst/>
          </a:prstGeom>
          <a:noFill/>
          <a:ln w="9525">
            <a:noFill/>
            <a:miter lim="800000"/>
            <a:headEnd/>
            <a:tailEnd/>
          </a:ln>
        </p:spPr>
        <p:txBody>
          <a:bodyPr/>
          <a:lstStyle/>
          <a:p>
            <a:pPr>
              <a:defRPr/>
            </a:pPr>
            <a:endParaRPr lang="en-GB">
              <a:effectLst>
                <a:outerShdw blurRad="38100" dist="38100" dir="2700000" algn="tl">
                  <a:srgbClr val="000000">
                    <a:alpha val="43137"/>
                  </a:srgbClr>
                </a:outerShdw>
              </a:effectLst>
            </a:endParaRPr>
          </a:p>
        </p:txBody>
      </p:sp>
      <p:sp>
        <p:nvSpPr>
          <p:cNvPr id="1407017" name="Rectangle 41"/>
          <p:cNvSpPr>
            <a:spLocks noChangeArrowheads="1"/>
          </p:cNvSpPr>
          <p:nvPr/>
        </p:nvSpPr>
        <p:spPr bwMode="auto">
          <a:xfrm>
            <a:off x="2146300" y="5521325"/>
            <a:ext cx="1074738" cy="304800"/>
          </a:xfrm>
          <a:prstGeom prst="rect">
            <a:avLst/>
          </a:prstGeom>
          <a:noFill/>
          <a:ln w="9525">
            <a:noFill/>
            <a:miter lim="800000"/>
            <a:headEnd/>
            <a:tailEnd/>
          </a:ln>
        </p:spPr>
        <p:txBody>
          <a:bodyPr wrap="none" lIns="0" tIns="0" rIns="0" bIns="0">
            <a:spAutoFit/>
          </a:bodyPr>
          <a:lstStyle/>
          <a:p>
            <a:pPr>
              <a:defRPr/>
            </a:pPr>
            <a:r>
              <a:rPr kumimoji="0" lang="en-US" sz="2000" i="0">
                <a:solidFill>
                  <a:schemeClr val="tx1"/>
                </a:solidFill>
                <a:latin typeface="Arial" pitchFamily="34" charset="0"/>
              </a:rPr>
              <a:t>validation</a:t>
            </a:r>
            <a:endParaRPr lang="en-US" sz="2000" i="0">
              <a:effectLst>
                <a:outerShdw blurRad="38100" dist="38100" dir="2700000" algn="tl">
                  <a:srgbClr val="000000"/>
                </a:outerShdw>
              </a:effectLst>
            </a:endParaRPr>
          </a:p>
        </p:txBody>
      </p:sp>
      <p:sp>
        <p:nvSpPr>
          <p:cNvPr id="1407018" name="Rectangle 42"/>
          <p:cNvSpPr>
            <a:spLocks noChangeArrowheads="1"/>
          </p:cNvSpPr>
          <p:nvPr/>
        </p:nvSpPr>
        <p:spPr bwMode="auto">
          <a:xfrm>
            <a:off x="1968500" y="5813425"/>
            <a:ext cx="1454150" cy="304800"/>
          </a:xfrm>
          <a:prstGeom prst="rect">
            <a:avLst/>
          </a:prstGeom>
          <a:noFill/>
          <a:ln w="9525">
            <a:noFill/>
            <a:miter lim="800000"/>
            <a:headEnd/>
            <a:tailEnd/>
          </a:ln>
        </p:spPr>
        <p:txBody>
          <a:bodyPr wrap="none" lIns="0" tIns="0" rIns="0" bIns="0">
            <a:spAutoFit/>
          </a:bodyPr>
          <a:lstStyle/>
          <a:p>
            <a:pPr>
              <a:defRPr/>
            </a:pPr>
            <a:r>
              <a:rPr kumimoji="0" lang="en-US" sz="2000" i="0">
                <a:solidFill>
                  <a:schemeClr val="tx1"/>
                </a:solidFill>
                <a:latin typeface="Arial" pitchFamily="34" charset="0"/>
              </a:rPr>
              <a:t>&amp; verification</a:t>
            </a:r>
            <a:endParaRPr lang="en-US" sz="2000" i="0">
              <a:effectLst>
                <a:outerShdw blurRad="38100" dist="38100" dir="2700000" algn="tl">
                  <a:srgbClr val="000000"/>
                </a:outerShdw>
              </a:effectLst>
            </a:endParaRPr>
          </a:p>
        </p:txBody>
      </p:sp>
      <p:sp>
        <p:nvSpPr>
          <p:cNvPr id="1407019" name="Oval 43"/>
          <p:cNvSpPr>
            <a:spLocks noChangeArrowheads="1"/>
          </p:cNvSpPr>
          <p:nvPr/>
        </p:nvSpPr>
        <p:spPr bwMode="auto">
          <a:xfrm>
            <a:off x="3862388" y="4679950"/>
            <a:ext cx="204787" cy="180975"/>
          </a:xfrm>
          <a:prstGeom prst="ellipse">
            <a:avLst/>
          </a:prstGeom>
          <a:solidFill>
            <a:srgbClr val="000000"/>
          </a:solidFill>
          <a:ln w="25400">
            <a:solidFill>
              <a:srgbClr val="000000"/>
            </a:solidFill>
            <a:round/>
            <a:headEnd/>
            <a:tailEnd/>
          </a:ln>
        </p:spPr>
        <p:txBody>
          <a:bodyPr/>
          <a:lstStyle/>
          <a:p>
            <a:pPr>
              <a:defRPr/>
            </a:pPr>
            <a:endParaRPr lang="en-GB">
              <a:effectLst>
                <a:outerShdw blurRad="38100" dist="38100" dir="2700000" algn="tl">
                  <a:srgbClr val="000000">
                    <a:alpha val="43137"/>
                  </a:srgbClr>
                </a:outerShdw>
              </a:effectLs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r>
              <a:rPr lang="en-US"/>
              <a:t>RUP</a:t>
            </a:r>
          </a:p>
        </p:txBody>
      </p:sp>
      <p:grpSp>
        <p:nvGrpSpPr>
          <p:cNvPr id="2" name="Group 3"/>
          <p:cNvGrpSpPr>
            <a:grpSpLocks/>
          </p:cNvGrpSpPr>
          <p:nvPr/>
        </p:nvGrpSpPr>
        <p:grpSpPr bwMode="auto">
          <a:xfrm>
            <a:off x="685800" y="1295400"/>
            <a:ext cx="7964488" cy="4897438"/>
            <a:chOff x="421" y="1104"/>
            <a:chExt cx="5017" cy="3085"/>
          </a:xfrm>
        </p:grpSpPr>
        <p:sp>
          <p:nvSpPr>
            <p:cNvPr id="169988" name="Line 4"/>
            <p:cNvSpPr>
              <a:spLocks noChangeShapeType="1"/>
            </p:cNvSpPr>
            <p:nvPr/>
          </p:nvSpPr>
          <p:spPr bwMode="auto">
            <a:xfrm flipH="1" flipV="1">
              <a:off x="3501" y="1515"/>
              <a:ext cx="4" cy="2194"/>
            </a:xfrm>
            <a:prstGeom prst="line">
              <a:avLst/>
            </a:prstGeom>
            <a:noFill/>
            <a:ln w="3175">
              <a:solidFill>
                <a:schemeClr val="tx1"/>
              </a:solidFill>
              <a:prstDash val="dash"/>
              <a:round/>
              <a:headEnd type="none" w="sm" len="sm"/>
              <a:tailEnd type="none" w="med" len="lg"/>
            </a:ln>
            <a:effectLst/>
          </p:spPr>
          <p:txBody>
            <a:bodyPr anchor="ctr">
              <a:spAutoFit/>
            </a:bodyPr>
            <a:lstStyle/>
            <a:p>
              <a:endParaRPr lang="en-GB"/>
            </a:p>
          </p:txBody>
        </p:sp>
        <p:sp>
          <p:nvSpPr>
            <p:cNvPr id="169989" name="Line 5"/>
            <p:cNvSpPr>
              <a:spLocks noChangeShapeType="1"/>
            </p:cNvSpPr>
            <p:nvPr/>
          </p:nvSpPr>
          <p:spPr bwMode="auto">
            <a:xfrm flipH="1" flipV="1">
              <a:off x="4145" y="1516"/>
              <a:ext cx="0" cy="2195"/>
            </a:xfrm>
            <a:prstGeom prst="line">
              <a:avLst/>
            </a:prstGeom>
            <a:noFill/>
            <a:ln w="3175">
              <a:solidFill>
                <a:schemeClr val="tx1"/>
              </a:solidFill>
              <a:prstDash val="dash"/>
              <a:round/>
              <a:headEnd type="none" w="sm" len="sm"/>
              <a:tailEnd type="none" w="med" len="lg"/>
            </a:ln>
            <a:effectLst/>
          </p:spPr>
          <p:txBody>
            <a:bodyPr anchor="ctr">
              <a:spAutoFit/>
            </a:bodyPr>
            <a:lstStyle/>
            <a:p>
              <a:endParaRPr lang="en-GB"/>
            </a:p>
          </p:txBody>
        </p:sp>
        <p:sp>
          <p:nvSpPr>
            <p:cNvPr id="169990" name="Line 6"/>
            <p:cNvSpPr>
              <a:spLocks noChangeShapeType="1"/>
            </p:cNvSpPr>
            <p:nvPr/>
          </p:nvSpPr>
          <p:spPr bwMode="auto">
            <a:xfrm flipH="1" flipV="1">
              <a:off x="4455" y="1513"/>
              <a:ext cx="1" cy="2175"/>
            </a:xfrm>
            <a:prstGeom prst="line">
              <a:avLst/>
            </a:prstGeom>
            <a:noFill/>
            <a:ln w="3175">
              <a:solidFill>
                <a:schemeClr val="tx1"/>
              </a:solidFill>
              <a:prstDash val="dash"/>
              <a:round/>
              <a:headEnd type="none" w="sm" len="sm"/>
              <a:tailEnd type="none" w="med" len="lg"/>
            </a:ln>
            <a:effectLst/>
          </p:spPr>
          <p:txBody>
            <a:bodyPr anchor="ctr">
              <a:spAutoFit/>
            </a:bodyPr>
            <a:lstStyle/>
            <a:p>
              <a:endParaRPr lang="en-GB"/>
            </a:p>
          </p:txBody>
        </p:sp>
        <p:sp>
          <p:nvSpPr>
            <p:cNvPr id="169991" name="Line 7"/>
            <p:cNvSpPr>
              <a:spLocks noChangeShapeType="1"/>
            </p:cNvSpPr>
            <p:nvPr/>
          </p:nvSpPr>
          <p:spPr bwMode="auto">
            <a:xfrm flipH="1" flipV="1">
              <a:off x="5094" y="1516"/>
              <a:ext cx="0" cy="2188"/>
            </a:xfrm>
            <a:prstGeom prst="line">
              <a:avLst/>
            </a:prstGeom>
            <a:noFill/>
            <a:ln w="3175">
              <a:solidFill>
                <a:schemeClr val="tx1"/>
              </a:solidFill>
              <a:prstDash val="dash"/>
              <a:round/>
              <a:headEnd type="none" w="sm" len="sm"/>
              <a:tailEnd type="none" w="med" len="lg"/>
            </a:ln>
            <a:effectLst/>
          </p:spPr>
          <p:txBody>
            <a:bodyPr anchor="ctr">
              <a:spAutoFit/>
            </a:bodyPr>
            <a:lstStyle/>
            <a:p>
              <a:endParaRPr lang="en-GB"/>
            </a:p>
          </p:txBody>
        </p:sp>
        <p:sp>
          <p:nvSpPr>
            <p:cNvPr id="169992" name="Line 8"/>
            <p:cNvSpPr>
              <a:spLocks noChangeShapeType="1"/>
            </p:cNvSpPr>
            <p:nvPr/>
          </p:nvSpPr>
          <p:spPr bwMode="auto">
            <a:xfrm flipH="1" flipV="1">
              <a:off x="3207" y="1512"/>
              <a:ext cx="2" cy="2206"/>
            </a:xfrm>
            <a:prstGeom prst="line">
              <a:avLst/>
            </a:prstGeom>
            <a:noFill/>
            <a:ln w="25400">
              <a:solidFill>
                <a:schemeClr val="tx1"/>
              </a:solidFill>
              <a:prstDash val="sysDot"/>
              <a:round/>
              <a:headEnd type="none" w="sm" len="sm"/>
              <a:tailEnd type="none" w="med" len="lg"/>
            </a:ln>
            <a:effectLst/>
          </p:spPr>
          <p:txBody>
            <a:bodyPr anchor="ctr">
              <a:spAutoFit/>
            </a:bodyPr>
            <a:lstStyle/>
            <a:p>
              <a:endParaRPr lang="en-GB"/>
            </a:p>
          </p:txBody>
        </p:sp>
        <p:sp>
          <p:nvSpPr>
            <p:cNvPr id="169993" name="Line 9"/>
            <p:cNvSpPr>
              <a:spLocks noChangeShapeType="1"/>
            </p:cNvSpPr>
            <p:nvPr/>
          </p:nvSpPr>
          <p:spPr bwMode="auto">
            <a:xfrm flipH="1" flipV="1">
              <a:off x="3818" y="1512"/>
              <a:ext cx="0" cy="2206"/>
            </a:xfrm>
            <a:prstGeom prst="line">
              <a:avLst/>
            </a:prstGeom>
            <a:noFill/>
            <a:ln w="25400">
              <a:solidFill>
                <a:schemeClr val="tx1"/>
              </a:solidFill>
              <a:prstDash val="sysDot"/>
              <a:round/>
              <a:headEnd type="none" w="sm" len="sm"/>
              <a:tailEnd type="none" w="med" len="lg"/>
            </a:ln>
            <a:effectLst/>
          </p:spPr>
          <p:txBody>
            <a:bodyPr anchor="ctr">
              <a:spAutoFit/>
            </a:bodyPr>
            <a:lstStyle/>
            <a:p>
              <a:endParaRPr lang="en-GB"/>
            </a:p>
          </p:txBody>
        </p:sp>
        <p:sp>
          <p:nvSpPr>
            <p:cNvPr id="169994" name="Line 10"/>
            <p:cNvSpPr>
              <a:spLocks noChangeShapeType="1"/>
            </p:cNvSpPr>
            <p:nvPr/>
          </p:nvSpPr>
          <p:spPr bwMode="auto">
            <a:xfrm flipV="1">
              <a:off x="4739" y="1515"/>
              <a:ext cx="0" cy="2194"/>
            </a:xfrm>
            <a:prstGeom prst="line">
              <a:avLst/>
            </a:prstGeom>
            <a:noFill/>
            <a:ln w="25400">
              <a:solidFill>
                <a:schemeClr val="tx1"/>
              </a:solidFill>
              <a:prstDash val="sysDot"/>
              <a:round/>
              <a:headEnd type="none" w="sm" len="sm"/>
              <a:tailEnd type="none" w="med" len="lg"/>
            </a:ln>
            <a:effectLst/>
          </p:spPr>
          <p:txBody>
            <a:bodyPr anchor="ctr">
              <a:spAutoFit/>
            </a:bodyPr>
            <a:lstStyle/>
            <a:p>
              <a:endParaRPr lang="en-GB"/>
            </a:p>
          </p:txBody>
        </p:sp>
        <p:sp>
          <p:nvSpPr>
            <p:cNvPr id="169995" name="Rectangle 11"/>
            <p:cNvSpPr>
              <a:spLocks noChangeArrowheads="1"/>
            </p:cNvSpPr>
            <p:nvPr/>
          </p:nvSpPr>
          <p:spPr bwMode="auto">
            <a:xfrm>
              <a:off x="949" y="3390"/>
              <a:ext cx="1563" cy="156"/>
            </a:xfrm>
            <a:prstGeom prst="rect">
              <a:avLst/>
            </a:prstGeom>
            <a:noFill/>
            <a:ln w="9525">
              <a:noFill/>
              <a:miter lim="800000"/>
              <a:headEnd/>
              <a:tailEnd/>
            </a:ln>
          </p:spPr>
          <p:txBody>
            <a:bodyPr lIns="0" tIns="0" rIns="0" bIns="0">
              <a:spAutoFit/>
            </a:bodyPr>
            <a:lstStyle/>
            <a:p>
              <a:pPr algn="r" defTabSz="862013" eaLnBrk="0" hangingPunct="0">
                <a:lnSpc>
                  <a:spcPct val="90000"/>
                </a:lnSpc>
                <a:spcBef>
                  <a:spcPct val="50000"/>
                </a:spcBef>
              </a:pPr>
              <a:r>
                <a:rPr lang="en-US" b="1"/>
                <a:t>Project Management</a:t>
              </a:r>
              <a:endParaRPr lang="en-US" sz="2300" b="1"/>
            </a:p>
          </p:txBody>
        </p:sp>
        <p:sp>
          <p:nvSpPr>
            <p:cNvPr id="169996" name="Rectangle 12"/>
            <p:cNvSpPr>
              <a:spLocks noChangeArrowheads="1"/>
            </p:cNvSpPr>
            <p:nvPr/>
          </p:nvSpPr>
          <p:spPr bwMode="auto">
            <a:xfrm>
              <a:off x="1632" y="3600"/>
              <a:ext cx="880" cy="156"/>
            </a:xfrm>
            <a:prstGeom prst="rect">
              <a:avLst/>
            </a:prstGeom>
            <a:noFill/>
            <a:ln w="9525">
              <a:noFill/>
              <a:miter lim="800000"/>
              <a:headEnd/>
              <a:tailEnd/>
            </a:ln>
          </p:spPr>
          <p:txBody>
            <a:bodyPr wrap="none" lIns="0" tIns="0" rIns="0" bIns="0">
              <a:spAutoFit/>
            </a:bodyPr>
            <a:lstStyle/>
            <a:p>
              <a:pPr defTabSz="862013" eaLnBrk="0" hangingPunct="0">
                <a:lnSpc>
                  <a:spcPct val="90000"/>
                </a:lnSpc>
                <a:spcBef>
                  <a:spcPct val="50000"/>
                </a:spcBef>
              </a:pPr>
              <a:r>
                <a:rPr lang="en-US" b="1"/>
                <a:t>Environment</a:t>
              </a:r>
              <a:endParaRPr lang="en-US" sz="2300" b="1"/>
            </a:p>
          </p:txBody>
        </p:sp>
        <p:sp>
          <p:nvSpPr>
            <p:cNvPr id="169997" name="Rectangle 13"/>
            <p:cNvSpPr>
              <a:spLocks noChangeArrowheads="1"/>
            </p:cNvSpPr>
            <p:nvPr/>
          </p:nvSpPr>
          <p:spPr bwMode="auto">
            <a:xfrm>
              <a:off x="1147" y="1585"/>
              <a:ext cx="1397" cy="156"/>
            </a:xfrm>
            <a:prstGeom prst="rect">
              <a:avLst/>
            </a:prstGeom>
            <a:noFill/>
            <a:ln w="9525">
              <a:noFill/>
              <a:miter lim="800000"/>
              <a:headEnd/>
              <a:tailEnd/>
            </a:ln>
          </p:spPr>
          <p:txBody>
            <a:bodyPr lIns="0" tIns="0" rIns="0" bIns="0">
              <a:spAutoFit/>
            </a:bodyPr>
            <a:lstStyle/>
            <a:p>
              <a:pPr algn="r" defTabSz="862013" eaLnBrk="0" hangingPunct="0">
                <a:lnSpc>
                  <a:spcPct val="90000"/>
                </a:lnSpc>
                <a:spcBef>
                  <a:spcPct val="50000"/>
                </a:spcBef>
              </a:pPr>
              <a:r>
                <a:rPr lang="en-US" b="1"/>
                <a:t>Business Modeling</a:t>
              </a:r>
              <a:endParaRPr lang="en-US" sz="2300" b="1"/>
            </a:p>
          </p:txBody>
        </p:sp>
        <p:sp>
          <p:nvSpPr>
            <p:cNvPr id="169998" name="Rectangle 14"/>
            <p:cNvSpPr>
              <a:spLocks noChangeArrowheads="1"/>
            </p:cNvSpPr>
            <p:nvPr/>
          </p:nvSpPr>
          <p:spPr bwMode="auto">
            <a:xfrm>
              <a:off x="1480" y="2285"/>
              <a:ext cx="1064" cy="156"/>
            </a:xfrm>
            <a:prstGeom prst="rect">
              <a:avLst/>
            </a:prstGeom>
            <a:noFill/>
            <a:ln w="9525">
              <a:noFill/>
              <a:miter lim="800000"/>
              <a:headEnd/>
              <a:tailEnd/>
            </a:ln>
          </p:spPr>
          <p:txBody>
            <a:bodyPr wrap="none" lIns="0" tIns="0" rIns="0" bIns="0">
              <a:spAutoFit/>
            </a:bodyPr>
            <a:lstStyle/>
            <a:p>
              <a:pPr algn="r" defTabSz="862013" eaLnBrk="0" hangingPunct="0">
                <a:lnSpc>
                  <a:spcPct val="90000"/>
                </a:lnSpc>
                <a:spcBef>
                  <a:spcPct val="50000"/>
                </a:spcBef>
              </a:pPr>
              <a:r>
                <a:rPr lang="en-US" b="1"/>
                <a:t>Implementation</a:t>
              </a:r>
              <a:endParaRPr lang="en-US" sz="2300" b="1"/>
            </a:p>
          </p:txBody>
        </p:sp>
        <p:sp>
          <p:nvSpPr>
            <p:cNvPr id="169999" name="Rectangle 15"/>
            <p:cNvSpPr>
              <a:spLocks noChangeArrowheads="1"/>
            </p:cNvSpPr>
            <p:nvPr/>
          </p:nvSpPr>
          <p:spPr bwMode="auto">
            <a:xfrm>
              <a:off x="2232" y="2495"/>
              <a:ext cx="296" cy="156"/>
            </a:xfrm>
            <a:prstGeom prst="rect">
              <a:avLst/>
            </a:prstGeom>
            <a:noFill/>
            <a:ln w="9525">
              <a:noFill/>
              <a:miter lim="800000"/>
              <a:headEnd/>
              <a:tailEnd/>
            </a:ln>
          </p:spPr>
          <p:txBody>
            <a:bodyPr wrap="none" lIns="0" tIns="0" rIns="0" bIns="0">
              <a:spAutoFit/>
            </a:bodyPr>
            <a:lstStyle/>
            <a:p>
              <a:pPr algn="r" defTabSz="862013" eaLnBrk="0" hangingPunct="0">
                <a:lnSpc>
                  <a:spcPct val="90000"/>
                </a:lnSpc>
                <a:spcBef>
                  <a:spcPct val="50000"/>
                </a:spcBef>
              </a:pPr>
              <a:r>
                <a:rPr lang="en-US" b="1"/>
                <a:t>Test</a:t>
              </a:r>
              <a:endParaRPr lang="en-US" sz="2300" b="1"/>
            </a:p>
          </p:txBody>
        </p:sp>
        <p:sp>
          <p:nvSpPr>
            <p:cNvPr id="170000" name="Rectangle 16"/>
            <p:cNvSpPr>
              <a:spLocks noChangeArrowheads="1"/>
            </p:cNvSpPr>
            <p:nvPr/>
          </p:nvSpPr>
          <p:spPr bwMode="auto">
            <a:xfrm>
              <a:off x="1288" y="2038"/>
              <a:ext cx="1256" cy="156"/>
            </a:xfrm>
            <a:prstGeom prst="rect">
              <a:avLst/>
            </a:prstGeom>
            <a:noFill/>
            <a:ln w="9525">
              <a:noFill/>
              <a:miter lim="800000"/>
              <a:headEnd/>
              <a:tailEnd/>
            </a:ln>
          </p:spPr>
          <p:txBody>
            <a:bodyPr wrap="none" lIns="0" tIns="0" rIns="0" bIns="0">
              <a:spAutoFit/>
            </a:bodyPr>
            <a:lstStyle/>
            <a:p>
              <a:pPr algn="r" defTabSz="862013" eaLnBrk="0" hangingPunct="0">
                <a:lnSpc>
                  <a:spcPct val="90000"/>
                </a:lnSpc>
                <a:spcBef>
                  <a:spcPct val="50000"/>
                </a:spcBef>
              </a:pPr>
              <a:r>
                <a:rPr lang="en-US" b="1"/>
                <a:t>Analysis &amp; Design</a:t>
              </a:r>
              <a:endParaRPr lang="en-US" sz="2300" b="1"/>
            </a:p>
          </p:txBody>
        </p:sp>
        <p:sp>
          <p:nvSpPr>
            <p:cNvPr id="170001" name="Rectangle 17"/>
            <p:cNvSpPr>
              <a:spLocks noChangeArrowheads="1"/>
            </p:cNvSpPr>
            <p:nvPr/>
          </p:nvSpPr>
          <p:spPr bwMode="auto">
            <a:xfrm>
              <a:off x="2663" y="3738"/>
              <a:ext cx="550" cy="226"/>
            </a:xfrm>
            <a:prstGeom prst="rect">
              <a:avLst/>
            </a:prstGeom>
            <a:noFill/>
            <a:ln w="9525">
              <a:noFill/>
              <a:miter lim="800000"/>
              <a:headEnd/>
              <a:tailEnd/>
            </a:ln>
          </p:spPr>
          <p:txBody>
            <a:bodyPr wrap="none" lIns="0" tIns="0" rIns="0" bIns="0">
              <a:spAutoFit/>
            </a:bodyPr>
            <a:lstStyle/>
            <a:p>
              <a:pPr algn="ctr" defTabSz="862013" eaLnBrk="0" hangingPunct="0">
                <a:lnSpc>
                  <a:spcPct val="90000"/>
                </a:lnSpc>
                <a:spcBef>
                  <a:spcPct val="50000"/>
                </a:spcBef>
              </a:pPr>
              <a:r>
                <a:rPr lang="en-US" sz="1300"/>
                <a:t>Preliminary </a:t>
              </a:r>
              <a:br>
                <a:rPr lang="en-US" sz="1300"/>
              </a:br>
              <a:r>
                <a:rPr lang="en-US" sz="1300"/>
                <a:t>Iteration(s)</a:t>
              </a:r>
            </a:p>
          </p:txBody>
        </p:sp>
        <p:sp>
          <p:nvSpPr>
            <p:cNvPr id="170002" name="Rectangle 18"/>
            <p:cNvSpPr>
              <a:spLocks noChangeArrowheads="1"/>
            </p:cNvSpPr>
            <p:nvPr/>
          </p:nvSpPr>
          <p:spPr bwMode="auto">
            <a:xfrm>
              <a:off x="3267" y="3738"/>
              <a:ext cx="209" cy="226"/>
            </a:xfrm>
            <a:prstGeom prst="rect">
              <a:avLst/>
            </a:prstGeom>
            <a:noFill/>
            <a:ln w="9525">
              <a:noFill/>
              <a:miter lim="800000"/>
              <a:headEnd/>
              <a:tailEnd/>
            </a:ln>
          </p:spPr>
          <p:txBody>
            <a:bodyPr wrap="none" lIns="0" tIns="0" rIns="0" bIns="0">
              <a:spAutoFit/>
            </a:bodyPr>
            <a:lstStyle/>
            <a:p>
              <a:pPr algn="ctr" defTabSz="862013" eaLnBrk="0" hangingPunct="0">
                <a:lnSpc>
                  <a:spcPct val="90000"/>
                </a:lnSpc>
                <a:spcBef>
                  <a:spcPct val="50000"/>
                </a:spcBef>
              </a:pPr>
              <a:r>
                <a:rPr lang="en-US" sz="1300"/>
                <a:t> Iter.</a:t>
              </a:r>
              <a:br>
                <a:rPr lang="en-US" sz="1300"/>
              </a:br>
              <a:r>
                <a:rPr lang="en-US" sz="1300"/>
                <a:t>#1</a:t>
              </a:r>
            </a:p>
          </p:txBody>
        </p:sp>
        <p:sp>
          <p:nvSpPr>
            <p:cNvPr id="170003" name="Freeform 19"/>
            <p:cNvSpPr>
              <a:spLocks/>
            </p:cNvSpPr>
            <p:nvPr/>
          </p:nvSpPr>
          <p:spPr bwMode="auto">
            <a:xfrm>
              <a:off x="2676" y="3423"/>
              <a:ext cx="2736" cy="67"/>
            </a:xfrm>
            <a:custGeom>
              <a:avLst/>
              <a:gdLst/>
              <a:ahLst/>
              <a:cxnLst>
                <a:cxn ang="0">
                  <a:pos x="356" y="5"/>
                </a:cxn>
                <a:cxn ang="0">
                  <a:pos x="620" y="72"/>
                </a:cxn>
                <a:cxn ang="0">
                  <a:pos x="715" y="54"/>
                </a:cxn>
                <a:cxn ang="0">
                  <a:pos x="810" y="38"/>
                </a:cxn>
                <a:cxn ang="0">
                  <a:pos x="907" y="23"/>
                </a:cxn>
                <a:cxn ang="0">
                  <a:pos x="1002" y="5"/>
                </a:cxn>
                <a:cxn ang="0">
                  <a:pos x="1053" y="5"/>
                </a:cxn>
                <a:cxn ang="0">
                  <a:pos x="1105" y="0"/>
                </a:cxn>
                <a:cxn ang="0">
                  <a:pos x="1156" y="0"/>
                </a:cxn>
                <a:cxn ang="0">
                  <a:pos x="1207" y="5"/>
                </a:cxn>
                <a:cxn ang="0">
                  <a:pos x="1225" y="13"/>
                </a:cxn>
                <a:cxn ang="0">
                  <a:pos x="1238" y="25"/>
                </a:cxn>
                <a:cxn ang="0">
                  <a:pos x="1248" y="38"/>
                </a:cxn>
                <a:cxn ang="0">
                  <a:pos x="1261" y="51"/>
                </a:cxn>
                <a:cxn ang="0">
                  <a:pos x="1471" y="46"/>
                </a:cxn>
                <a:cxn ang="0">
                  <a:pos x="1687" y="79"/>
                </a:cxn>
                <a:cxn ang="0">
                  <a:pos x="1894" y="33"/>
                </a:cxn>
                <a:cxn ang="0">
                  <a:pos x="2053" y="74"/>
                </a:cxn>
                <a:cxn ang="0">
                  <a:pos x="2092" y="61"/>
                </a:cxn>
                <a:cxn ang="0">
                  <a:pos x="2128" y="49"/>
                </a:cxn>
                <a:cxn ang="0">
                  <a:pos x="2161" y="36"/>
                </a:cxn>
                <a:cxn ang="0">
                  <a:pos x="2194" y="25"/>
                </a:cxn>
                <a:cxn ang="0">
                  <a:pos x="2223" y="20"/>
                </a:cxn>
                <a:cxn ang="0">
                  <a:pos x="2243" y="18"/>
                </a:cxn>
                <a:cxn ang="0">
                  <a:pos x="2261" y="18"/>
                </a:cxn>
                <a:cxn ang="0">
                  <a:pos x="2276" y="20"/>
                </a:cxn>
                <a:cxn ang="0">
                  <a:pos x="2294" y="23"/>
                </a:cxn>
                <a:cxn ang="0">
                  <a:pos x="2310" y="31"/>
                </a:cxn>
                <a:cxn ang="0">
                  <a:pos x="2328" y="38"/>
                </a:cxn>
                <a:cxn ang="0">
                  <a:pos x="2340" y="46"/>
                </a:cxn>
                <a:cxn ang="0">
                  <a:pos x="2805" y="25"/>
                </a:cxn>
                <a:cxn ang="0">
                  <a:pos x="2856" y="23"/>
                </a:cxn>
                <a:cxn ang="0">
                  <a:pos x="2907" y="20"/>
                </a:cxn>
                <a:cxn ang="0">
                  <a:pos x="2956" y="18"/>
                </a:cxn>
                <a:cxn ang="0">
                  <a:pos x="2997" y="20"/>
                </a:cxn>
                <a:cxn ang="0">
                  <a:pos x="3025" y="25"/>
                </a:cxn>
                <a:cxn ang="0">
                  <a:pos x="3046" y="33"/>
                </a:cxn>
                <a:cxn ang="0">
                  <a:pos x="3063" y="43"/>
                </a:cxn>
                <a:cxn ang="0">
                  <a:pos x="3081" y="51"/>
                </a:cxn>
                <a:cxn ang="0">
                  <a:pos x="2840" y="77"/>
                </a:cxn>
                <a:cxn ang="0">
                  <a:pos x="0" y="79"/>
                </a:cxn>
              </a:cxnLst>
              <a:rect l="0" t="0" r="r" b="b"/>
              <a:pathLst>
                <a:path w="3169" h="79">
                  <a:moveTo>
                    <a:pt x="0" y="79"/>
                  </a:moveTo>
                  <a:lnTo>
                    <a:pt x="356" y="5"/>
                  </a:lnTo>
                  <a:lnTo>
                    <a:pt x="538" y="20"/>
                  </a:lnTo>
                  <a:lnTo>
                    <a:pt x="620" y="72"/>
                  </a:lnTo>
                  <a:lnTo>
                    <a:pt x="666" y="61"/>
                  </a:lnTo>
                  <a:lnTo>
                    <a:pt x="715" y="54"/>
                  </a:lnTo>
                  <a:lnTo>
                    <a:pt x="764" y="46"/>
                  </a:lnTo>
                  <a:lnTo>
                    <a:pt x="810" y="38"/>
                  </a:lnTo>
                  <a:lnTo>
                    <a:pt x="859" y="31"/>
                  </a:lnTo>
                  <a:lnTo>
                    <a:pt x="907" y="23"/>
                  </a:lnTo>
                  <a:lnTo>
                    <a:pt x="954" y="15"/>
                  </a:lnTo>
                  <a:lnTo>
                    <a:pt x="1002" y="5"/>
                  </a:lnTo>
                  <a:lnTo>
                    <a:pt x="1028" y="5"/>
                  </a:lnTo>
                  <a:lnTo>
                    <a:pt x="1053" y="5"/>
                  </a:lnTo>
                  <a:lnTo>
                    <a:pt x="1079" y="2"/>
                  </a:lnTo>
                  <a:lnTo>
                    <a:pt x="1105" y="0"/>
                  </a:lnTo>
                  <a:lnTo>
                    <a:pt x="1130" y="0"/>
                  </a:lnTo>
                  <a:lnTo>
                    <a:pt x="1156" y="0"/>
                  </a:lnTo>
                  <a:lnTo>
                    <a:pt x="1182" y="2"/>
                  </a:lnTo>
                  <a:lnTo>
                    <a:pt x="1207" y="5"/>
                  </a:lnTo>
                  <a:lnTo>
                    <a:pt x="1218" y="10"/>
                  </a:lnTo>
                  <a:lnTo>
                    <a:pt x="1225" y="13"/>
                  </a:lnTo>
                  <a:lnTo>
                    <a:pt x="1233" y="20"/>
                  </a:lnTo>
                  <a:lnTo>
                    <a:pt x="1238" y="25"/>
                  </a:lnTo>
                  <a:lnTo>
                    <a:pt x="1243" y="33"/>
                  </a:lnTo>
                  <a:lnTo>
                    <a:pt x="1248" y="38"/>
                  </a:lnTo>
                  <a:lnTo>
                    <a:pt x="1253" y="46"/>
                  </a:lnTo>
                  <a:lnTo>
                    <a:pt x="1261" y="51"/>
                  </a:lnTo>
                  <a:lnTo>
                    <a:pt x="1300" y="79"/>
                  </a:lnTo>
                  <a:lnTo>
                    <a:pt x="1471" y="46"/>
                  </a:lnTo>
                  <a:lnTo>
                    <a:pt x="1564" y="38"/>
                  </a:lnTo>
                  <a:lnTo>
                    <a:pt x="1687" y="79"/>
                  </a:lnTo>
                  <a:lnTo>
                    <a:pt x="1807" y="51"/>
                  </a:lnTo>
                  <a:lnTo>
                    <a:pt x="1894" y="33"/>
                  </a:lnTo>
                  <a:lnTo>
                    <a:pt x="1964" y="43"/>
                  </a:lnTo>
                  <a:lnTo>
                    <a:pt x="2053" y="74"/>
                  </a:lnTo>
                  <a:lnTo>
                    <a:pt x="2074" y="69"/>
                  </a:lnTo>
                  <a:lnTo>
                    <a:pt x="2092" y="61"/>
                  </a:lnTo>
                  <a:lnTo>
                    <a:pt x="2112" y="54"/>
                  </a:lnTo>
                  <a:lnTo>
                    <a:pt x="2128" y="49"/>
                  </a:lnTo>
                  <a:lnTo>
                    <a:pt x="2146" y="41"/>
                  </a:lnTo>
                  <a:lnTo>
                    <a:pt x="2161" y="36"/>
                  </a:lnTo>
                  <a:lnTo>
                    <a:pt x="2179" y="31"/>
                  </a:lnTo>
                  <a:lnTo>
                    <a:pt x="2194" y="25"/>
                  </a:lnTo>
                  <a:lnTo>
                    <a:pt x="2210" y="23"/>
                  </a:lnTo>
                  <a:lnTo>
                    <a:pt x="2223" y="20"/>
                  </a:lnTo>
                  <a:lnTo>
                    <a:pt x="2233" y="18"/>
                  </a:lnTo>
                  <a:lnTo>
                    <a:pt x="2243" y="18"/>
                  </a:lnTo>
                  <a:lnTo>
                    <a:pt x="2253" y="18"/>
                  </a:lnTo>
                  <a:lnTo>
                    <a:pt x="2261" y="18"/>
                  </a:lnTo>
                  <a:lnTo>
                    <a:pt x="2269" y="18"/>
                  </a:lnTo>
                  <a:lnTo>
                    <a:pt x="2276" y="20"/>
                  </a:lnTo>
                  <a:lnTo>
                    <a:pt x="2284" y="20"/>
                  </a:lnTo>
                  <a:lnTo>
                    <a:pt x="2294" y="23"/>
                  </a:lnTo>
                  <a:lnTo>
                    <a:pt x="2302" y="25"/>
                  </a:lnTo>
                  <a:lnTo>
                    <a:pt x="2310" y="31"/>
                  </a:lnTo>
                  <a:lnTo>
                    <a:pt x="2320" y="33"/>
                  </a:lnTo>
                  <a:lnTo>
                    <a:pt x="2328" y="38"/>
                  </a:lnTo>
                  <a:lnTo>
                    <a:pt x="2333" y="41"/>
                  </a:lnTo>
                  <a:lnTo>
                    <a:pt x="2340" y="46"/>
                  </a:lnTo>
                  <a:lnTo>
                    <a:pt x="2392" y="77"/>
                  </a:lnTo>
                  <a:lnTo>
                    <a:pt x="2805" y="25"/>
                  </a:lnTo>
                  <a:lnTo>
                    <a:pt x="2830" y="25"/>
                  </a:lnTo>
                  <a:lnTo>
                    <a:pt x="2856" y="23"/>
                  </a:lnTo>
                  <a:lnTo>
                    <a:pt x="2881" y="20"/>
                  </a:lnTo>
                  <a:lnTo>
                    <a:pt x="2907" y="20"/>
                  </a:lnTo>
                  <a:lnTo>
                    <a:pt x="2933" y="18"/>
                  </a:lnTo>
                  <a:lnTo>
                    <a:pt x="2956" y="18"/>
                  </a:lnTo>
                  <a:lnTo>
                    <a:pt x="2976" y="18"/>
                  </a:lnTo>
                  <a:lnTo>
                    <a:pt x="2997" y="20"/>
                  </a:lnTo>
                  <a:lnTo>
                    <a:pt x="3012" y="20"/>
                  </a:lnTo>
                  <a:lnTo>
                    <a:pt x="3025" y="25"/>
                  </a:lnTo>
                  <a:lnTo>
                    <a:pt x="3035" y="28"/>
                  </a:lnTo>
                  <a:lnTo>
                    <a:pt x="3046" y="33"/>
                  </a:lnTo>
                  <a:lnTo>
                    <a:pt x="3056" y="38"/>
                  </a:lnTo>
                  <a:lnTo>
                    <a:pt x="3063" y="43"/>
                  </a:lnTo>
                  <a:lnTo>
                    <a:pt x="3071" y="49"/>
                  </a:lnTo>
                  <a:lnTo>
                    <a:pt x="3081" y="51"/>
                  </a:lnTo>
                  <a:lnTo>
                    <a:pt x="3169" y="79"/>
                  </a:lnTo>
                  <a:lnTo>
                    <a:pt x="2840" y="77"/>
                  </a:lnTo>
                  <a:lnTo>
                    <a:pt x="1546" y="79"/>
                  </a:lnTo>
                  <a:lnTo>
                    <a:pt x="0" y="79"/>
                  </a:lnTo>
                  <a:close/>
                </a:path>
              </a:pathLst>
            </a:custGeom>
            <a:solidFill>
              <a:srgbClr val="A1D8FD"/>
            </a:solidFill>
            <a:ln w="0">
              <a:solidFill>
                <a:srgbClr val="000000"/>
              </a:solidFill>
              <a:round/>
              <a:headEnd/>
              <a:tailEnd/>
            </a:ln>
          </p:spPr>
          <p:txBody>
            <a:bodyPr/>
            <a:lstStyle/>
            <a:p>
              <a:endParaRPr lang="en-GB"/>
            </a:p>
          </p:txBody>
        </p:sp>
        <p:sp>
          <p:nvSpPr>
            <p:cNvPr id="170004" name="Freeform 20"/>
            <p:cNvSpPr>
              <a:spLocks/>
            </p:cNvSpPr>
            <p:nvPr/>
          </p:nvSpPr>
          <p:spPr bwMode="auto">
            <a:xfrm>
              <a:off x="2690" y="3621"/>
              <a:ext cx="2707" cy="67"/>
            </a:xfrm>
            <a:custGeom>
              <a:avLst/>
              <a:gdLst/>
              <a:ahLst/>
              <a:cxnLst>
                <a:cxn ang="0">
                  <a:pos x="185" y="10"/>
                </a:cxn>
                <a:cxn ang="0">
                  <a:pos x="239" y="0"/>
                </a:cxn>
                <a:cxn ang="0">
                  <a:pos x="282" y="7"/>
                </a:cxn>
                <a:cxn ang="0">
                  <a:pos x="328" y="13"/>
                </a:cxn>
                <a:cxn ang="0">
                  <a:pos x="382" y="25"/>
                </a:cxn>
                <a:cxn ang="0">
                  <a:pos x="431" y="33"/>
                </a:cxn>
                <a:cxn ang="0">
                  <a:pos x="587" y="56"/>
                </a:cxn>
                <a:cxn ang="0">
                  <a:pos x="623" y="56"/>
                </a:cxn>
                <a:cxn ang="0">
                  <a:pos x="649" y="56"/>
                </a:cxn>
                <a:cxn ang="0">
                  <a:pos x="700" y="59"/>
                </a:cxn>
                <a:cxn ang="0">
                  <a:pos x="741" y="61"/>
                </a:cxn>
                <a:cxn ang="0">
                  <a:pos x="774" y="64"/>
                </a:cxn>
                <a:cxn ang="0">
                  <a:pos x="803" y="66"/>
                </a:cxn>
                <a:cxn ang="0">
                  <a:pos x="862" y="66"/>
                </a:cxn>
                <a:cxn ang="0">
                  <a:pos x="923" y="66"/>
                </a:cxn>
                <a:cxn ang="0">
                  <a:pos x="951" y="66"/>
                </a:cxn>
                <a:cxn ang="0">
                  <a:pos x="1000" y="72"/>
                </a:cxn>
                <a:cxn ang="0">
                  <a:pos x="1056" y="72"/>
                </a:cxn>
                <a:cxn ang="0">
                  <a:pos x="1118" y="72"/>
                </a:cxn>
                <a:cxn ang="0">
                  <a:pos x="1162" y="72"/>
                </a:cxn>
                <a:cxn ang="0">
                  <a:pos x="1221" y="72"/>
                </a:cxn>
                <a:cxn ang="0">
                  <a:pos x="1244" y="77"/>
                </a:cxn>
                <a:cxn ang="0">
                  <a:pos x="1264" y="77"/>
                </a:cxn>
                <a:cxn ang="0">
                  <a:pos x="1326" y="77"/>
                </a:cxn>
                <a:cxn ang="0">
                  <a:pos x="1385" y="72"/>
                </a:cxn>
                <a:cxn ang="0">
                  <a:pos x="1426" y="74"/>
                </a:cxn>
                <a:cxn ang="0">
                  <a:pos x="1556" y="79"/>
                </a:cxn>
                <a:cxn ang="0">
                  <a:pos x="1687" y="74"/>
                </a:cxn>
                <a:cxn ang="0">
                  <a:pos x="1700" y="77"/>
                </a:cxn>
                <a:cxn ang="0">
                  <a:pos x="1731" y="74"/>
                </a:cxn>
                <a:cxn ang="0">
                  <a:pos x="1764" y="74"/>
                </a:cxn>
                <a:cxn ang="0">
                  <a:pos x="1836" y="74"/>
                </a:cxn>
                <a:cxn ang="0">
                  <a:pos x="1908" y="77"/>
                </a:cxn>
                <a:cxn ang="0">
                  <a:pos x="1967" y="77"/>
                </a:cxn>
                <a:cxn ang="0">
                  <a:pos x="2043" y="77"/>
                </a:cxn>
                <a:cxn ang="0">
                  <a:pos x="2115" y="74"/>
                </a:cxn>
                <a:cxn ang="0">
                  <a:pos x="2164" y="77"/>
                </a:cxn>
                <a:cxn ang="0">
                  <a:pos x="2215" y="77"/>
                </a:cxn>
                <a:cxn ang="0">
                  <a:pos x="2264" y="77"/>
                </a:cxn>
                <a:cxn ang="0">
                  <a:pos x="2259" y="77"/>
                </a:cxn>
                <a:cxn ang="0">
                  <a:pos x="2392" y="77"/>
                </a:cxn>
                <a:cxn ang="0">
                  <a:pos x="2713" y="77"/>
                </a:cxn>
                <a:cxn ang="0">
                  <a:pos x="2884" y="77"/>
                </a:cxn>
                <a:cxn ang="0">
                  <a:pos x="2982" y="77"/>
                </a:cxn>
                <a:cxn ang="0">
                  <a:pos x="3056" y="79"/>
                </a:cxn>
                <a:cxn ang="0">
                  <a:pos x="3079" y="74"/>
                </a:cxn>
                <a:cxn ang="0">
                  <a:pos x="3102" y="74"/>
                </a:cxn>
                <a:cxn ang="0">
                  <a:pos x="3133" y="77"/>
                </a:cxn>
                <a:cxn ang="0">
                  <a:pos x="3007" y="77"/>
                </a:cxn>
                <a:cxn ang="0">
                  <a:pos x="2928" y="77"/>
                </a:cxn>
                <a:cxn ang="0">
                  <a:pos x="2838" y="77"/>
                </a:cxn>
                <a:cxn ang="0">
                  <a:pos x="2748" y="77"/>
                </a:cxn>
                <a:cxn ang="0">
                  <a:pos x="2400" y="77"/>
                </a:cxn>
                <a:cxn ang="0">
                  <a:pos x="1920" y="77"/>
                </a:cxn>
                <a:cxn ang="0">
                  <a:pos x="1462" y="77"/>
                </a:cxn>
                <a:cxn ang="0">
                  <a:pos x="1180" y="77"/>
                </a:cxn>
                <a:cxn ang="0">
                  <a:pos x="992" y="77"/>
                </a:cxn>
                <a:cxn ang="0">
                  <a:pos x="928" y="77"/>
                </a:cxn>
              </a:cxnLst>
              <a:rect l="0" t="0" r="r" b="b"/>
              <a:pathLst>
                <a:path w="3136" h="79">
                  <a:moveTo>
                    <a:pt x="0" y="77"/>
                  </a:moveTo>
                  <a:lnTo>
                    <a:pt x="151" y="15"/>
                  </a:lnTo>
                  <a:lnTo>
                    <a:pt x="162" y="13"/>
                  </a:lnTo>
                  <a:lnTo>
                    <a:pt x="172" y="10"/>
                  </a:lnTo>
                  <a:lnTo>
                    <a:pt x="185" y="10"/>
                  </a:lnTo>
                  <a:lnTo>
                    <a:pt x="195" y="7"/>
                  </a:lnTo>
                  <a:lnTo>
                    <a:pt x="208" y="5"/>
                  </a:lnTo>
                  <a:lnTo>
                    <a:pt x="218" y="2"/>
                  </a:lnTo>
                  <a:lnTo>
                    <a:pt x="228" y="2"/>
                  </a:lnTo>
                  <a:lnTo>
                    <a:pt x="239" y="0"/>
                  </a:lnTo>
                  <a:lnTo>
                    <a:pt x="249" y="0"/>
                  </a:lnTo>
                  <a:lnTo>
                    <a:pt x="257" y="2"/>
                  </a:lnTo>
                  <a:lnTo>
                    <a:pt x="267" y="2"/>
                  </a:lnTo>
                  <a:lnTo>
                    <a:pt x="275" y="5"/>
                  </a:lnTo>
                  <a:lnTo>
                    <a:pt x="282" y="7"/>
                  </a:lnTo>
                  <a:lnTo>
                    <a:pt x="292" y="10"/>
                  </a:lnTo>
                  <a:lnTo>
                    <a:pt x="300" y="10"/>
                  </a:lnTo>
                  <a:lnTo>
                    <a:pt x="310" y="10"/>
                  </a:lnTo>
                  <a:lnTo>
                    <a:pt x="321" y="10"/>
                  </a:lnTo>
                  <a:lnTo>
                    <a:pt x="328" y="13"/>
                  </a:lnTo>
                  <a:lnTo>
                    <a:pt x="341" y="15"/>
                  </a:lnTo>
                  <a:lnTo>
                    <a:pt x="351" y="18"/>
                  </a:lnTo>
                  <a:lnTo>
                    <a:pt x="362" y="20"/>
                  </a:lnTo>
                  <a:lnTo>
                    <a:pt x="372" y="23"/>
                  </a:lnTo>
                  <a:lnTo>
                    <a:pt x="382" y="25"/>
                  </a:lnTo>
                  <a:lnTo>
                    <a:pt x="392" y="25"/>
                  </a:lnTo>
                  <a:lnTo>
                    <a:pt x="403" y="28"/>
                  </a:lnTo>
                  <a:lnTo>
                    <a:pt x="413" y="28"/>
                  </a:lnTo>
                  <a:lnTo>
                    <a:pt x="421" y="31"/>
                  </a:lnTo>
                  <a:lnTo>
                    <a:pt x="431" y="33"/>
                  </a:lnTo>
                  <a:lnTo>
                    <a:pt x="441" y="36"/>
                  </a:lnTo>
                  <a:lnTo>
                    <a:pt x="451" y="38"/>
                  </a:lnTo>
                  <a:lnTo>
                    <a:pt x="462" y="38"/>
                  </a:lnTo>
                  <a:lnTo>
                    <a:pt x="474" y="41"/>
                  </a:lnTo>
                  <a:lnTo>
                    <a:pt x="587" y="56"/>
                  </a:lnTo>
                  <a:lnTo>
                    <a:pt x="605" y="56"/>
                  </a:lnTo>
                  <a:lnTo>
                    <a:pt x="615" y="56"/>
                  </a:lnTo>
                  <a:lnTo>
                    <a:pt x="621" y="56"/>
                  </a:lnTo>
                  <a:lnTo>
                    <a:pt x="623" y="56"/>
                  </a:lnTo>
                  <a:lnTo>
                    <a:pt x="623" y="56"/>
                  </a:lnTo>
                  <a:lnTo>
                    <a:pt x="623" y="56"/>
                  </a:lnTo>
                  <a:lnTo>
                    <a:pt x="623" y="56"/>
                  </a:lnTo>
                  <a:lnTo>
                    <a:pt x="631" y="56"/>
                  </a:lnTo>
                  <a:lnTo>
                    <a:pt x="639" y="56"/>
                  </a:lnTo>
                  <a:lnTo>
                    <a:pt x="649" y="56"/>
                  </a:lnTo>
                  <a:lnTo>
                    <a:pt x="659" y="56"/>
                  </a:lnTo>
                  <a:lnTo>
                    <a:pt x="669" y="56"/>
                  </a:lnTo>
                  <a:lnTo>
                    <a:pt x="680" y="56"/>
                  </a:lnTo>
                  <a:lnTo>
                    <a:pt x="690" y="56"/>
                  </a:lnTo>
                  <a:lnTo>
                    <a:pt x="700" y="59"/>
                  </a:lnTo>
                  <a:lnTo>
                    <a:pt x="708" y="59"/>
                  </a:lnTo>
                  <a:lnTo>
                    <a:pt x="718" y="59"/>
                  </a:lnTo>
                  <a:lnTo>
                    <a:pt x="726" y="61"/>
                  </a:lnTo>
                  <a:lnTo>
                    <a:pt x="733" y="61"/>
                  </a:lnTo>
                  <a:lnTo>
                    <a:pt x="741" y="61"/>
                  </a:lnTo>
                  <a:lnTo>
                    <a:pt x="749" y="61"/>
                  </a:lnTo>
                  <a:lnTo>
                    <a:pt x="756" y="61"/>
                  </a:lnTo>
                  <a:lnTo>
                    <a:pt x="764" y="61"/>
                  </a:lnTo>
                  <a:lnTo>
                    <a:pt x="772" y="61"/>
                  </a:lnTo>
                  <a:lnTo>
                    <a:pt x="774" y="64"/>
                  </a:lnTo>
                  <a:lnTo>
                    <a:pt x="780" y="64"/>
                  </a:lnTo>
                  <a:lnTo>
                    <a:pt x="785" y="66"/>
                  </a:lnTo>
                  <a:lnTo>
                    <a:pt x="790" y="66"/>
                  </a:lnTo>
                  <a:lnTo>
                    <a:pt x="795" y="66"/>
                  </a:lnTo>
                  <a:lnTo>
                    <a:pt x="803" y="66"/>
                  </a:lnTo>
                  <a:lnTo>
                    <a:pt x="810" y="66"/>
                  </a:lnTo>
                  <a:lnTo>
                    <a:pt x="821" y="66"/>
                  </a:lnTo>
                  <a:lnTo>
                    <a:pt x="833" y="66"/>
                  </a:lnTo>
                  <a:lnTo>
                    <a:pt x="846" y="66"/>
                  </a:lnTo>
                  <a:lnTo>
                    <a:pt x="862" y="66"/>
                  </a:lnTo>
                  <a:lnTo>
                    <a:pt x="874" y="64"/>
                  </a:lnTo>
                  <a:lnTo>
                    <a:pt x="890" y="64"/>
                  </a:lnTo>
                  <a:lnTo>
                    <a:pt x="903" y="66"/>
                  </a:lnTo>
                  <a:lnTo>
                    <a:pt x="913" y="66"/>
                  </a:lnTo>
                  <a:lnTo>
                    <a:pt x="923" y="66"/>
                  </a:lnTo>
                  <a:lnTo>
                    <a:pt x="931" y="66"/>
                  </a:lnTo>
                  <a:lnTo>
                    <a:pt x="936" y="66"/>
                  </a:lnTo>
                  <a:lnTo>
                    <a:pt x="941" y="66"/>
                  </a:lnTo>
                  <a:lnTo>
                    <a:pt x="946" y="66"/>
                  </a:lnTo>
                  <a:lnTo>
                    <a:pt x="951" y="66"/>
                  </a:lnTo>
                  <a:lnTo>
                    <a:pt x="959" y="66"/>
                  </a:lnTo>
                  <a:lnTo>
                    <a:pt x="967" y="66"/>
                  </a:lnTo>
                  <a:lnTo>
                    <a:pt x="974" y="69"/>
                  </a:lnTo>
                  <a:lnTo>
                    <a:pt x="987" y="69"/>
                  </a:lnTo>
                  <a:lnTo>
                    <a:pt x="1000" y="72"/>
                  </a:lnTo>
                  <a:lnTo>
                    <a:pt x="1010" y="72"/>
                  </a:lnTo>
                  <a:lnTo>
                    <a:pt x="1023" y="72"/>
                  </a:lnTo>
                  <a:lnTo>
                    <a:pt x="1033" y="72"/>
                  </a:lnTo>
                  <a:lnTo>
                    <a:pt x="1046" y="72"/>
                  </a:lnTo>
                  <a:lnTo>
                    <a:pt x="1056" y="72"/>
                  </a:lnTo>
                  <a:lnTo>
                    <a:pt x="1067" y="72"/>
                  </a:lnTo>
                  <a:lnTo>
                    <a:pt x="1085" y="72"/>
                  </a:lnTo>
                  <a:lnTo>
                    <a:pt x="1097" y="72"/>
                  </a:lnTo>
                  <a:lnTo>
                    <a:pt x="1108" y="72"/>
                  </a:lnTo>
                  <a:lnTo>
                    <a:pt x="1118" y="72"/>
                  </a:lnTo>
                  <a:lnTo>
                    <a:pt x="1123" y="72"/>
                  </a:lnTo>
                  <a:lnTo>
                    <a:pt x="1131" y="72"/>
                  </a:lnTo>
                  <a:lnTo>
                    <a:pt x="1138" y="72"/>
                  </a:lnTo>
                  <a:lnTo>
                    <a:pt x="1149" y="72"/>
                  </a:lnTo>
                  <a:lnTo>
                    <a:pt x="1162" y="72"/>
                  </a:lnTo>
                  <a:lnTo>
                    <a:pt x="1172" y="72"/>
                  </a:lnTo>
                  <a:lnTo>
                    <a:pt x="1185" y="72"/>
                  </a:lnTo>
                  <a:lnTo>
                    <a:pt x="1197" y="72"/>
                  </a:lnTo>
                  <a:lnTo>
                    <a:pt x="1210" y="72"/>
                  </a:lnTo>
                  <a:lnTo>
                    <a:pt x="1221" y="72"/>
                  </a:lnTo>
                  <a:lnTo>
                    <a:pt x="1228" y="72"/>
                  </a:lnTo>
                  <a:lnTo>
                    <a:pt x="1236" y="72"/>
                  </a:lnTo>
                  <a:lnTo>
                    <a:pt x="1238" y="74"/>
                  </a:lnTo>
                  <a:lnTo>
                    <a:pt x="1241" y="74"/>
                  </a:lnTo>
                  <a:lnTo>
                    <a:pt x="1244" y="77"/>
                  </a:lnTo>
                  <a:lnTo>
                    <a:pt x="1246" y="77"/>
                  </a:lnTo>
                  <a:lnTo>
                    <a:pt x="1249" y="79"/>
                  </a:lnTo>
                  <a:lnTo>
                    <a:pt x="1251" y="79"/>
                  </a:lnTo>
                  <a:lnTo>
                    <a:pt x="1256" y="79"/>
                  </a:lnTo>
                  <a:lnTo>
                    <a:pt x="1264" y="77"/>
                  </a:lnTo>
                  <a:lnTo>
                    <a:pt x="1274" y="74"/>
                  </a:lnTo>
                  <a:lnTo>
                    <a:pt x="1285" y="74"/>
                  </a:lnTo>
                  <a:lnTo>
                    <a:pt x="1297" y="74"/>
                  </a:lnTo>
                  <a:lnTo>
                    <a:pt x="1310" y="74"/>
                  </a:lnTo>
                  <a:lnTo>
                    <a:pt x="1326" y="77"/>
                  </a:lnTo>
                  <a:lnTo>
                    <a:pt x="1338" y="77"/>
                  </a:lnTo>
                  <a:lnTo>
                    <a:pt x="1354" y="77"/>
                  </a:lnTo>
                  <a:lnTo>
                    <a:pt x="1364" y="74"/>
                  </a:lnTo>
                  <a:lnTo>
                    <a:pt x="1374" y="74"/>
                  </a:lnTo>
                  <a:lnTo>
                    <a:pt x="1385" y="72"/>
                  </a:lnTo>
                  <a:lnTo>
                    <a:pt x="1390" y="72"/>
                  </a:lnTo>
                  <a:lnTo>
                    <a:pt x="1397" y="72"/>
                  </a:lnTo>
                  <a:lnTo>
                    <a:pt x="1405" y="72"/>
                  </a:lnTo>
                  <a:lnTo>
                    <a:pt x="1413" y="74"/>
                  </a:lnTo>
                  <a:lnTo>
                    <a:pt x="1426" y="74"/>
                  </a:lnTo>
                  <a:lnTo>
                    <a:pt x="1438" y="77"/>
                  </a:lnTo>
                  <a:lnTo>
                    <a:pt x="1459" y="77"/>
                  </a:lnTo>
                  <a:lnTo>
                    <a:pt x="1487" y="79"/>
                  </a:lnTo>
                  <a:lnTo>
                    <a:pt x="1520" y="79"/>
                  </a:lnTo>
                  <a:lnTo>
                    <a:pt x="1556" y="79"/>
                  </a:lnTo>
                  <a:lnTo>
                    <a:pt x="1592" y="79"/>
                  </a:lnTo>
                  <a:lnTo>
                    <a:pt x="1626" y="77"/>
                  </a:lnTo>
                  <a:lnTo>
                    <a:pt x="1654" y="77"/>
                  </a:lnTo>
                  <a:lnTo>
                    <a:pt x="1674" y="74"/>
                  </a:lnTo>
                  <a:lnTo>
                    <a:pt x="1687" y="74"/>
                  </a:lnTo>
                  <a:lnTo>
                    <a:pt x="1695" y="74"/>
                  </a:lnTo>
                  <a:lnTo>
                    <a:pt x="1697" y="74"/>
                  </a:lnTo>
                  <a:lnTo>
                    <a:pt x="1700" y="74"/>
                  </a:lnTo>
                  <a:lnTo>
                    <a:pt x="1700" y="77"/>
                  </a:lnTo>
                  <a:lnTo>
                    <a:pt x="1700" y="77"/>
                  </a:lnTo>
                  <a:lnTo>
                    <a:pt x="1705" y="77"/>
                  </a:lnTo>
                  <a:lnTo>
                    <a:pt x="1713" y="77"/>
                  </a:lnTo>
                  <a:lnTo>
                    <a:pt x="1720" y="74"/>
                  </a:lnTo>
                  <a:lnTo>
                    <a:pt x="1726" y="74"/>
                  </a:lnTo>
                  <a:lnTo>
                    <a:pt x="1731" y="74"/>
                  </a:lnTo>
                  <a:lnTo>
                    <a:pt x="1736" y="74"/>
                  </a:lnTo>
                  <a:lnTo>
                    <a:pt x="1738" y="74"/>
                  </a:lnTo>
                  <a:lnTo>
                    <a:pt x="1746" y="74"/>
                  </a:lnTo>
                  <a:lnTo>
                    <a:pt x="1754" y="74"/>
                  </a:lnTo>
                  <a:lnTo>
                    <a:pt x="1764" y="74"/>
                  </a:lnTo>
                  <a:lnTo>
                    <a:pt x="1777" y="74"/>
                  </a:lnTo>
                  <a:lnTo>
                    <a:pt x="1790" y="77"/>
                  </a:lnTo>
                  <a:lnTo>
                    <a:pt x="1805" y="77"/>
                  </a:lnTo>
                  <a:lnTo>
                    <a:pt x="1820" y="77"/>
                  </a:lnTo>
                  <a:lnTo>
                    <a:pt x="1836" y="74"/>
                  </a:lnTo>
                  <a:lnTo>
                    <a:pt x="1851" y="74"/>
                  </a:lnTo>
                  <a:lnTo>
                    <a:pt x="1867" y="77"/>
                  </a:lnTo>
                  <a:lnTo>
                    <a:pt x="1882" y="77"/>
                  </a:lnTo>
                  <a:lnTo>
                    <a:pt x="1895" y="77"/>
                  </a:lnTo>
                  <a:lnTo>
                    <a:pt x="1908" y="77"/>
                  </a:lnTo>
                  <a:lnTo>
                    <a:pt x="1918" y="77"/>
                  </a:lnTo>
                  <a:lnTo>
                    <a:pt x="1931" y="77"/>
                  </a:lnTo>
                  <a:lnTo>
                    <a:pt x="1941" y="77"/>
                  </a:lnTo>
                  <a:lnTo>
                    <a:pt x="1954" y="77"/>
                  </a:lnTo>
                  <a:lnTo>
                    <a:pt x="1967" y="77"/>
                  </a:lnTo>
                  <a:lnTo>
                    <a:pt x="1979" y="77"/>
                  </a:lnTo>
                  <a:lnTo>
                    <a:pt x="1995" y="77"/>
                  </a:lnTo>
                  <a:lnTo>
                    <a:pt x="2010" y="77"/>
                  </a:lnTo>
                  <a:lnTo>
                    <a:pt x="2026" y="77"/>
                  </a:lnTo>
                  <a:lnTo>
                    <a:pt x="2043" y="77"/>
                  </a:lnTo>
                  <a:lnTo>
                    <a:pt x="2059" y="77"/>
                  </a:lnTo>
                  <a:lnTo>
                    <a:pt x="2074" y="77"/>
                  </a:lnTo>
                  <a:lnTo>
                    <a:pt x="2090" y="77"/>
                  </a:lnTo>
                  <a:lnTo>
                    <a:pt x="2102" y="74"/>
                  </a:lnTo>
                  <a:lnTo>
                    <a:pt x="2115" y="74"/>
                  </a:lnTo>
                  <a:lnTo>
                    <a:pt x="2126" y="74"/>
                  </a:lnTo>
                  <a:lnTo>
                    <a:pt x="2136" y="74"/>
                  </a:lnTo>
                  <a:lnTo>
                    <a:pt x="2146" y="74"/>
                  </a:lnTo>
                  <a:lnTo>
                    <a:pt x="2156" y="74"/>
                  </a:lnTo>
                  <a:lnTo>
                    <a:pt x="2164" y="77"/>
                  </a:lnTo>
                  <a:lnTo>
                    <a:pt x="2174" y="77"/>
                  </a:lnTo>
                  <a:lnTo>
                    <a:pt x="2184" y="77"/>
                  </a:lnTo>
                  <a:lnTo>
                    <a:pt x="2195" y="77"/>
                  </a:lnTo>
                  <a:lnTo>
                    <a:pt x="2205" y="77"/>
                  </a:lnTo>
                  <a:lnTo>
                    <a:pt x="2215" y="77"/>
                  </a:lnTo>
                  <a:lnTo>
                    <a:pt x="2225" y="77"/>
                  </a:lnTo>
                  <a:lnTo>
                    <a:pt x="2236" y="77"/>
                  </a:lnTo>
                  <a:lnTo>
                    <a:pt x="2246" y="77"/>
                  </a:lnTo>
                  <a:lnTo>
                    <a:pt x="2254" y="77"/>
                  </a:lnTo>
                  <a:lnTo>
                    <a:pt x="2264" y="77"/>
                  </a:lnTo>
                  <a:lnTo>
                    <a:pt x="2267" y="77"/>
                  </a:lnTo>
                  <a:lnTo>
                    <a:pt x="2267" y="77"/>
                  </a:lnTo>
                  <a:lnTo>
                    <a:pt x="2261" y="77"/>
                  </a:lnTo>
                  <a:lnTo>
                    <a:pt x="2259" y="77"/>
                  </a:lnTo>
                  <a:lnTo>
                    <a:pt x="2259" y="77"/>
                  </a:lnTo>
                  <a:lnTo>
                    <a:pt x="2264" y="74"/>
                  </a:lnTo>
                  <a:lnTo>
                    <a:pt x="2277" y="74"/>
                  </a:lnTo>
                  <a:lnTo>
                    <a:pt x="2300" y="74"/>
                  </a:lnTo>
                  <a:lnTo>
                    <a:pt x="2341" y="74"/>
                  </a:lnTo>
                  <a:lnTo>
                    <a:pt x="2392" y="77"/>
                  </a:lnTo>
                  <a:lnTo>
                    <a:pt x="2454" y="77"/>
                  </a:lnTo>
                  <a:lnTo>
                    <a:pt x="2520" y="77"/>
                  </a:lnTo>
                  <a:lnTo>
                    <a:pt x="2587" y="77"/>
                  </a:lnTo>
                  <a:lnTo>
                    <a:pt x="2654" y="77"/>
                  </a:lnTo>
                  <a:lnTo>
                    <a:pt x="2713" y="77"/>
                  </a:lnTo>
                  <a:lnTo>
                    <a:pt x="2759" y="77"/>
                  </a:lnTo>
                  <a:lnTo>
                    <a:pt x="2797" y="77"/>
                  </a:lnTo>
                  <a:lnTo>
                    <a:pt x="2831" y="77"/>
                  </a:lnTo>
                  <a:lnTo>
                    <a:pt x="2859" y="77"/>
                  </a:lnTo>
                  <a:lnTo>
                    <a:pt x="2884" y="77"/>
                  </a:lnTo>
                  <a:lnTo>
                    <a:pt x="2907" y="77"/>
                  </a:lnTo>
                  <a:lnTo>
                    <a:pt x="2925" y="77"/>
                  </a:lnTo>
                  <a:lnTo>
                    <a:pt x="2943" y="77"/>
                  </a:lnTo>
                  <a:lnTo>
                    <a:pt x="2964" y="77"/>
                  </a:lnTo>
                  <a:lnTo>
                    <a:pt x="2982" y="77"/>
                  </a:lnTo>
                  <a:lnTo>
                    <a:pt x="3002" y="79"/>
                  </a:lnTo>
                  <a:lnTo>
                    <a:pt x="3018" y="79"/>
                  </a:lnTo>
                  <a:lnTo>
                    <a:pt x="3033" y="79"/>
                  </a:lnTo>
                  <a:lnTo>
                    <a:pt x="3046" y="79"/>
                  </a:lnTo>
                  <a:lnTo>
                    <a:pt x="3056" y="79"/>
                  </a:lnTo>
                  <a:lnTo>
                    <a:pt x="3064" y="77"/>
                  </a:lnTo>
                  <a:lnTo>
                    <a:pt x="3066" y="74"/>
                  </a:lnTo>
                  <a:lnTo>
                    <a:pt x="3072" y="74"/>
                  </a:lnTo>
                  <a:lnTo>
                    <a:pt x="3077" y="74"/>
                  </a:lnTo>
                  <a:lnTo>
                    <a:pt x="3079" y="74"/>
                  </a:lnTo>
                  <a:lnTo>
                    <a:pt x="3084" y="77"/>
                  </a:lnTo>
                  <a:lnTo>
                    <a:pt x="3089" y="77"/>
                  </a:lnTo>
                  <a:lnTo>
                    <a:pt x="3092" y="77"/>
                  </a:lnTo>
                  <a:lnTo>
                    <a:pt x="3097" y="77"/>
                  </a:lnTo>
                  <a:lnTo>
                    <a:pt x="3102" y="74"/>
                  </a:lnTo>
                  <a:lnTo>
                    <a:pt x="3107" y="74"/>
                  </a:lnTo>
                  <a:lnTo>
                    <a:pt x="3113" y="74"/>
                  </a:lnTo>
                  <a:lnTo>
                    <a:pt x="3120" y="74"/>
                  </a:lnTo>
                  <a:lnTo>
                    <a:pt x="3128" y="74"/>
                  </a:lnTo>
                  <a:lnTo>
                    <a:pt x="3133" y="77"/>
                  </a:lnTo>
                  <a:lnTo>
                    <a:pt x="3136" y="77"/>
                  </a:lnTo>
                  <a:lnTo>
                    <a:pt x="3136" y="77"/>
                  </a:lnTo>
                  <a:lnTo>
                    <a:pt x="3130" y="77"/>
                  </a:lnTo>
                  <a:lnTo>
                    <a:pt x="3020" y="77"/>
                  </a:lnTo>
                  <a:lnTo>
                    <a:pt x="3007" y="77"/>
                  </a:lnTo>
                  <a:lnTo>
                    <a:pt x="2995" y="77"/>
                  </a:lnTo>
                  <a:lnTo>
                    <a:pt x="2979" y="77"/>
                  </a:lnTo>
                  <a:lnTo>
                    <a:pt x="2964" y="77"/>
                  </a:lnTo>
                  <a:lnTo>
                    <a:pt x="2946" y="77"/>
                  </a:lnTo>
                  <a:lnTo>
                    <a:pt x="2928" y="77"/>
                  </a:lnTo>
                  <a:lnTo>
                    <a:pt x="2907" y="77"/>
                  </a:lnTo>
                  <a:lnTo>
                    <a:pt x="2884" y="77"/>
                  </a:lnTo>
                  <a:lnTo>
                    <a:pt x="2869" y="77"/>
                  </a:lnTo>
                  <a:lnTo>
                    <a:pt x="2854" y="77"/>
                  </a:lnTo>
                  <a:lnTo>
                    <a:pt x="2838" y="77"/>
                  </a:lnTo>
                  <a:lnTo>
                    <a:pt x="2823" y="77"/>
                  </a:lnTo>
                  <a:lnTo>
                    <a:pt x="2805" y="77"/>
                  </a:lnTo>
                  <a:lnTo>
                    <a:pt x="2787" y="77"/>
                  </a:lnTo>
                  <a:lnTo>
                    <a:pt x="2766" y="77"/>
                  </a:lnTo>
                  <a:lnTo>
                    <a:pt x="2748" y="77"/>
                  </a:lnTo>
                  <a:lnTo>
                    <a:pt x="2692" y="77"/>
                  </a:lnTo>
                  <a:lnTo>
                    <a:pt x="2631" y="77"/>
                  </a:lnTo>
                  <a:lnTo>
                    <a:pt x="2559" y="77"/>
                  </a:lnTo>
                  <a:lnTo>
                    <a:pt x="2482" y="77"/>
                  </a:lnTo>
                  <a:lnTo>
                    <a:pt x="2400" y="77"/>
                  </a:lnTo>
                  <a:lnTo>
                    <a:pt x="2315" y="77"/>
                  </a:lnTo>
                  <a:lnTo>
                    <a:pt x="2225" y="77"/>
                  </a:lnTo>
                  <a:lnTo>
                    <a:pt x="2136" y="77"/>
                  </a:lnTo>
                  <a:lnTo>
                    <a:pt x="2028" y="77"/>
                  </a:lnTo>
                  <a:lnTo>
                    <a:pt x="1920" y="77"/>
                  </a:lnTo>
                  <a:lnTo>
                    <a:pt x="1818" y="77"/>
                  </a:lnTo>
                  <a:lnTo>
                    <a:pt x="1718" y="77"/>
                  </a:lnTo>
                  <a:lnTo>
                    <a:pt x="1623" y="77"/>
                  </a:lnTo>
                  <a:lnTo>
                    <a:pt x="1538" y="77"/>
                  </a:lnTo>
                  <a:lnTo>
                    <a:pt x="1462" y="77"/>
                  </a:lnTo>
                  <a:lnTo>
                    <a:pt x="1397" y="77"/>
                  </a:lnTo>
                  <a:lnTo>
                    <a:pt x="1305" y="77"/>
                  </a:lnTo>
                  <a:lnTo>
                    <a:pt x="1246" y="77"/>
                  </a:lnTo>
                  <a:lnTo>
                    <a:pt x="1208" y="77"/>
                  </a:lnTo>
                  <a:lnTo>
                    <a:pt x="1180" y="77"/>
                  </a:lnTo>
                  <a:lnTo>
                    <a:pt x="1156" y="77"/>
                  </a:lnTo>
                  <a:lnTo>
                    <a:pt x="1126" y="77"/>
                  </a:lnTo>
                  <a:lnTo>
                    <a:pt x="1077" y="77"/>
                  </a:lnTo>
                  <a:lnTo>
                    <a:pt x="1005" y="77"/>
                  </a:lnTo>
                  <a:lnTo>
                    <a:pt x="992" y="77"/>
                  </a:lnTo>
                  <a:lnTo>
                    <a:pt x="982" y="77"/>
                  </a:lnTo>
                  <a:lnTo>
                    <a:pt x="969" y="77"/>
                  </a:lnTo>
                  <a:lnTo>
                    <a:pt x="956" y="77"/>
                  </a:lnTo>
                  <a:lnTo>
                    <a:pt x="941" y="77"/>
                  </a:lnTo>
                  <a:lnTo>
                    <a:pt x="928" y="77"/>
                  </a:lnTo>
                  <a:lnTo>
                    <a:pt x="913" y="77"/>
                  </a:lnTo>
                  <a:lnTo>
                    <a:pt x="900" y="77"/>
                  </a:lnTo>
                  <a:lnTo>
                    <a:pt x="454" y="77"/>
                  </a:lnTo>
                  <a:lnTo>
                    <a:pt x="0" y="77"/>
                  </a:lnTo>
                  <a:close/>
                </a:path>
              </a:pathLst>
            </a:custGeom>
            <a:solidFill>
              <a:srgbClr val="DE8002"/>
            </a:solidFill>
            <a:ln w="9525">
              <a:noFill/>
              <a:round/>
              <a:headEnd/>
              <a:tailEnd/>
            </a:ln>
          </p:spPr>
          <p:txBody>
            <a:bodyPr/>
            <a:lstStyle/>
            <a:p>
              <a:endParaRPr lang="en-GB"/>
            </a:p>
          </p:txBody>
        </p:sp>
        <p:sp>
          <p:nvSpPr>
            <p:cNvPr id="170005" name="Freeform 21"/>
            <p:cNvSpPr>
              <a:spLocks/>
            </p:cNvSpPr>
            <p:nvPr/>
          </p:nvSpPr>
          <p:spPr bwMode="auto">
            <a:xfrm>
              <a:off x="2690" y="3621"/>
              <a:ext cx="2707" cy="67"/>
            </a:xfrm>
            <a:custGeom>
              <a:avLst/>
              <a:gdLst/>
              <a:ahLst/>
              <a:cxnLst>
                <a:cxn ang="0">
                  <a:pos x="185" y="10"/>
                </a:cxn>
                <a:cxn ang="0">
                  <a:pos x="239" y="0"/>
                </a:cxn>
                <a:cxn ang="0">
                  <a:pos x="282" y="7"/>
                </a:cxn>
                <a:cxn ang="0">
                  <a:pos x="328" y="13"/>
                </a:cxn>
                <a:cxn ang="0">
                  <a:pos x="382" y="25"/>
                </a:cxn>
                <a:cxn ang="0">
                  <a:pos x="431" y="33"/>
                </a:cxn>
                <a:cxn ang="0">
                  <a:pos x="587" y="56"/>
                </a:cxn>
                <a:cxn ang="0">
                  <a:pos x="631" y="56"/>
                </a:cxn>
                <a:cxn ang="0">
                  <a:pos x="680" y="56"/>
                </a:cxn>
                <a:cxn ang="0">
                  <a:pos x="726" y="61"/>
                </a:cxn>
                <a:cxn ang="0">
                  <a:pos x="764" y="61"/>
                </a:cxn>
                <a:cxn ang="0">
                  <a:pos x="790" y="66"/>
                </a:cxn>
                <a:cxn ang="0">
                  <a:pos x="833" y="66"/>
                </a:cxn>
                <a:cxn ang="0">
                  <a:pos x="903" y="66"/>
                </a:cxn>
                <a:cxn ang="0">
                  <a:pos x="941" y="66"/>
                </a:cxn>
                <a:cxn ang="0">
                  <a:pos x="974" y="69"/>
                </a:cxn>
                <a:cxn ang="0">
                  <a:pos x="1033" y="72"/>
                </a:cxn>
                <a:cxn ang="0">
                  <a:pos x="1097" y="72"/>
                </a:cxn>
                <a:cxn ang="0">
                  <a:pos x="1138" y="72"/>
                </a:cxn>
                <a:cxn ang="0">
                  <a:pos x="1197" y="72"/>
                </a:cxn>
                <a:cxn ang="0">
                  <a:pos x="1238" y="74"/>
                </a:cxn>
                <a:cxn ang="0">
                  <a:pos x="1251" y="79"/>
                </a:cxn>
                <a:cxn ang="0">
                  <a:pos x="1297" y="74"/>
                </a:cxn>
                <a:cxn ang="0">
                  <a:pos x="1364" y="74"/>
                </a:cxn>
                <a:cxn ang="0">
                  <a:pos x="1405" y="72"/>
                </a:cxn>
                <a:cxn ang="0">
                  <a:pos x="1487" y="79"/>
                </a:cxn>
                <a:cxn ang="0">
                  <a:pos x="1654" y="77"/>
                </a:cxn>
                <a:cxn ang="0">
                  <a:pos x="1700" y="74"/>
                </a:cxn>
                <a:cxn ang="0">
                  <a:pos x="1726" y="74"/>
                </a:cxn>
                <a:cxn ang="0">
                  <a:pos x="1754" y="74"/>
                </a:cxn>
                <a:cxn ang="0">
                  <a:pos x="1820" y="77"/>
                </a:cxn>
                <a:cxn ang="0">
                  <a:pos x="1895" y="77"/>
                </a:cxn>
                <a:cxn ang="0">
                  <a:pos x="1954" y="77"/>
                </a:cxn>
                <a:cxn ang="0">
                  <a:pos x="2026" y="77"/>
                </a:cxn>
                <a:cxn ang="0">
                  <a:pos x="2102" y="74"/>
                </a:cxn>
                <a:cxn ang="0">
                  <a:pos x="2156" y="74"/>
                </a:cxn>
                <a:cxn ang="0">
                  <a:pos x="2205" y="77"/>
                </a:cxn>
                <a:cxn ang="0">
                  <a:pos x="2254" y="77"/>
                </a:cxn>
                <a:cxn ang="0">
                  <a:pos x="2264" y="74"/>
                </a:cxn>
                <a:cxn ang="0">
                  <a:pos x="2454" y="77"/>
                </a:cxn>
                <a:cxn ang="0">
                  <a:pos x="2759" y="77"/>
                </a:cxn>
                <a:cxn ang="0">
                  <a:pos x="2907" y="77"/>
                </a:cxn>
                <a:cxn ang="0">
                  <a:pos x="3002" y="79"/>
                </a:cxn>
                <a:cxn ang="0">
                  <a:pos x="3064" y="77"/>
                </a:cxn>
                <a:cxn ang="0">
                  <a:pos x="3084" y="77"/>
                </a:cxn>
                <a:cxn ang="0">
                  <a:pos x="3107" y="74"/>
                </a:cxn>
                <a:cxn ang="0">
                  <a:pos x="3136" y="77"/>
                </a:cxn>
                <a:cxn ang="0">
                  <a:pos x="2979" y="77"/>
                </a:cxn>
                <a:cxn ang="0">
                  <a:pos x="2884" y="77"/>
                </a:cxn>
                <a:cxn ang="0">
                  <a:pos x="2805" y="77"/>
                </a:cxn>
                <a:cxn ang="0">
                  <a:pos x="2631" y="77"/>
                </a:cxn>
                <a:cxn ang="0">
                  <a:pos x="2225" y="77"/>
                </a:cxn>
                <a:cxn ang="0">
                  <a:pos x="1718" y="77"/>
                </a:cxn>
                <a:cxn ang="0">
                  <a:pos x="1305" y="77"/>
                </a:cxn>
                <a:cxn ang="0">
                  <a:pos x="1126" y="77"/>
                </a:cxn>
                <a:cxn ang="0">
                  <a:pos x="969" y="77"/>
                </a:cxn>
                <a:cxn ang="0">
                  <a:pos x="900" y="77"/>
                </a:cxn>
              </a:cxnLst>
              <a:rect l="0" t="0" r="r" b="b"/>
              <a:pathLst>
                <a:path w="3136" h="79">
                  <a:moveTo>
                    <a:pt x="0" y="77"/>
                  </a:moveTo>
                  <a:lnTo>
                    <a:pt x="151" y="15"/>
                  </a:lnTo>
                  <a:lnTo>
                    <a:pt x="162" y="13"/>
                  </a:lnTo>
                  <a:lnTo>
                    <a:pt x="172" y="10"/>
                  </a:lnTo>
                  <a:lnTo>
                    <a:pt x="185" y="10"/>
                  </a:lnTo>
                  <a:lnTo>
                    <a:pt x="195" y="7"/>
                  </a:lnTo>
                  <a:lnTo>
                    <a:pt x="208" y="5"/>
                  </a:lnTo>
                  <a:lnTo>
                    <a:pt x="218" y="2"/>
                  </a:lnTo>
                  <a:lnTo>
                    <a:pt x="228" y="2"/>
                  </a:lnTo>
                  <a:lnTo>
                    <a:pt x="239" y="0"/>
                  </a:lnTo>
                  <a:lnTo>
                    <a:pt x="249" y="0"/>
                  </a:lnTo>
                  <a:lnTo>
                    <a:pt x="257" y="2"/>
                  </a:lnTo>
                  <a:lnTo>
                    <a:pt x="267" y="2"/>
                  </a:lnTo>
                  <a:lnTo>
                    <a:pt x="275" y="5"/>
                  </a:lnTo>
                  <a:lnTo>
                    <a:pt x="282" y="7"/>
                  </a:lnTo>
                  <a:lnTo>
                    <a:pt x="292" y="10"/>
                  </a:lnTo>
                  <a:lnTo>
                    <a:pt x="300" y="10"/>
                  </a:lnTo>
                  <a:lnTo>
                    <a:pt x="310" y="10"/>
                  </a:lnTo>
                  <a:lnTo>
                    <a:pt x="321" y="10"/>
                  </a:lnTo>
                  <a:lnTo>
                    <a:pt x="328" y="13"/>
                  </a:lnTo>
                  <a:lnTo>
                    <a:pt x="341" y="15"/>
                  </a:lnTo>
                  <a:lnTo>
                    <a:pt x="351" y="18"/>
                  </a:lnTo>
                  <a:lnTo>
                    <a:pt x="362" y="20"/>
                  </a:lnTo>
                  <a:lnTo>
                    <a:pt x="372" y="23"/>
                  </a:lnTo>
                  <a:lnTo>
                    <a:pt x="382" y="25"/>
                  </a:lnTo>
                  <a:lnTo>
                    <a:pt x="392" y="25"/>
                  </a:lnTo>
                  <a:lnTo>
                    <a:pt x="403" y="28"/>
                  </a:lnTo>
                  <a:lnTo>
                    <a:pt x="413" y="28"/>
                  </a:lnTo>
                  <a:lnTo>
                    <a:pt x="421" y="31"/>
                  </a:lnTo>
                  <a:lnTo>
                    <a:pt x="431" y="33"/>
                  </a:lnTo>
                  <a:lnTo>
                    <a:pt x="441" y="36"/>
                  </a:lnTo>
                  <a:lnTo>
                    <a:pt x="451" y="38"/>
                  </a:lnTo>
                  <a:lnTo>
                    <a:pt x="462" y="38"/>
                  </a:lnTo>
                  <a:lnTo>
                    <a:pt x="474" y="41"/>
                  </a:lnTo>
                  <a:lnTo>
                    <a:pt x="587" y="56"/>
                  </a:lnTo>
                  <a:lnTo>
                    <a:pt x="605" y="56"/>
                  </a:lnTo>
                  <a:lnTo>
                    <a:pt x="615" y="56"/>
                  </a:lnTo>
                  <a:lnTo>
                    <a:pt x="621" y="56"/>
                  </a:lnTo>
                  <a:lnTo>
                    <a:pt x="623" y="56"/>
                  </a:lnTo>
                  <a:lnTo>
                    <a:pt x="631" y="56"/>
                  </a:lnTo>
                  <a:lnTo>
                    <a:pt x="639" y="56"/>
                  </a:lnTo>
                  <a:lnTo>
                    <a:pt x="649" y="56"/>
                  </a:lnTo>
                  <a:lnTo>
                    <a:pt x="659" y="56"/>
                  </a:lnTo>
                  <a:lnTo>
                    <a:pt x="669" y="56"/>
                  </a:lnTo>
                  <a:lnTo>
                    <a:pt x="680" y="56"/>
                  </a:lnTo>
                  <a:lnTo>
                    <a:pt x="690" y="56"/>
                  </a:lnTo>
                  <a:lnTo>
                    <a:pt x="700" y="59"/>
                  </a:lnTo>
                  <a:lnTo>
                    <a:pt x="708" y="59"/>
                  </a:lnTo>
                  <a:lnTo>
                    <a:pt x="718" y="59"/>
                  </a:lnTo>
                  <a:lnTo>
                    <a:pt x="726" y="61"/>
                  </a:lnTo>
                  <a:lnTo>
                    <a:pt x="733" y="61"/>
                  </a:lnTo>
                  <a:lnTo>
                    <a:pt x="741" y="61"/>
                  </a:lnTo>
                  <a:lnTo>
                    <a:pt x="749" y="61"/>
                  </a:lnTo>
                  <a:lnTo>
                    <a:pt x="756" y="61"/>
                  </a:lnTo>
                  <a:lnTo>
                    <a:pt x="764" y="61"/>
                  </a:lnTo>
                  <a:lnTo>
                    <a:pt x="772" y="61"/>
                  </a:lnTo>
                  <a:lnTo>
                    <a:pt x="774" y="64"/>
                  </a:lnTo>
                  <a:lnTo>
                    <a:pt x="780" y="64"/>
                  </a:lnTo>
                  <a:lnTo>
                    <a:pt x="785" y="66"/>
                  </a:lnTo>
                  <a:lnTo>
                    <a:pt x="790" y="66"/>
                  </a:lnTo>
                  <a:lnTo>
                    <a:pt x="795" y="66"/>
                  </a:lnTo>
                  <a:lnTo>
                    <a:pt x="803" y="66"/>
                  </a:lnTo>
                  <a:lnTo>
                    <a:pt x="810" y="66"/>
                  </a:lnTo>
                  <a:lnTo>
                    <a:pt x="821" y="66"/>
                  </a:lnTo>
                  <a:lnTo>
                    <a:pt x="833" y="66"/>
                  </a:lnTo>
                  <a:lnTo>
                    <a:pt x="846" y="66"/>
                  </a:lnTo>
                  <a:lnTo>
                    <a:pt x="862" y="66"/>
                  </a:lnTo>
                  <a:lnTo>
                    <a:pt x="874" y="64"/>
                  </a:lnTo>
                  <a:lnTo>
                    <a:pt x="890" y="64"/>
                  </a:lnTo>
                  <a:lnTo>
                    <a:pt x="903" y="66"/>
                  </a:lnTo>
                  <a:lnTo>
                    <a:pt x="913" y="66"/>
                  </a:lnTo>
                  <a:lnTo>
                    <a:pt x="923" y="66"/>
                  </a:lnTo>
                  <a:lnTo>
                    <a:pt x="931" y="66"/>
                  </a:lnTo>
                  <a:lnTo>
                    <a:pt x="936" y="66"/>
                  </a:lnTo>
                  <a:lnTo>
                    <a:pt x="941" y="66"/>
                  </a:lnTo>
                  <a:lnTo>
                    <a:pt x="946" y="66"/>
                  </a:lnTo>
                  <a:lnTo>
                    <a:pt x="951" y="66"/>
                  </a:lnTo>
                  <a:lnTo>
                    <a:pt x="959" y="66"/>
                  </a:lnTo>
                  <a:lnTo>
                    <a:pt x="967" y="66"/>
                  </a:lnTo>
                  <a:lnTo>
                    <a:pt x="974" y="69"/>
                  </a:lnTo>
                  <a:lnTo>
                    <a:pt x="987" y="69"/>
                  </a:lnTo>
                  <a:lnTo>
                    <a:pt x="1000" y="72"/>
                  </a:lnTo>
                  <a:lnTo>
                    <a:pt x="1010" y="72"/>
                  </a:lnTo>
                  <a:lnTo>
                    <a:pt x="1023" y="72"/>
                  </a:lnTo>
                  <a:lnTo>
                    <a:pt x="1033" y="72"/>
                  </a:lnTo>
                  <a:lnTo>
                    <a:pt x="1046" y="72"/>
                  </a:lnTo>
                  <a:lnTo>
                    <a:pt x="1056" y="72"/>
                  </a:lnTo>
                  <a:lnTo>
                    <a:pt x="1067" y="72"/>
                  </a:lnTo>
                  <a:lnTo>
                    <a:pt x="1085" y="72"/>
                  </a:lnTo>
                  <a:lnTo>
                    <a:pt x="1097" y="72"/>
                  </a:lnTo>
                  <a:lnTo>
                    <a:pt x="1108" y="72"/>
                  </a:lnTo>
                  <a:lnTo>
                    <a:pt x="1118" y="72"/>
                  </a:lnTo>
                  <a:lnTo>
                    <a:pt x="1123" y="72"/>
                  </a:lnTo>
                  <a:lnTo>
                    <a:pt x="1131" y="72"/>
                  </a:lnTo>
                  <a:lnTo>
                    <a:pt x="1138" y="72"/>
                  </a:lnTo>
                  <a:lnTo>
                    <a:pt x="1149" y="72"/>
                  </a:lnTo>
                  <a:lnTo>
                    <a:pt x="1162" y="72"/>
                  </a:lnTo>
                  <a:lnTo>
                    <a:pt x="1172" y="72"/>
                  </a:lnTo>
                  <a:lnTo>
                    <a:pt x="1185" y="72"/>
                  </a:lnTo>
                  <a:lnTo>
                    <a:pt x="1197" y="72"/>
                  </a:lnTo>
                  <a:lnTo>
                    <a:pt x="1210" y="72"/>
                  </a:lnTo>
                  <a:lnTo>
                    <a:pt x="1221" y="72"/>
                  </a:lnTo>
                  <a:lnTo>
                    <a:pt x="1228" y="72"/>
                  </a:lnTo>
                  <a:lnTo>
                    <a:pt x="1236" y="72"/>
                  </a:lnTo>
                  <a:lnTo>
                    <a:pt x="1238" y="74"/>
                  </a:lnTo>
                  <a:lnTo>
                    <a:pt x="1241" y="74"/>
                  </a:lnTo>
                  <a:lnTo>
                    <a:pt x="1244" y="77"/>
                  </a:lnTo>
                  <a:lnTo>
                    <a:pt x="1246" y="77"/>
                  </a:lnTo>
                  <a:lnTo>
                    <a:pt x="1249" y="79"/>
                  </a:lnTo>
                  <a:lnTo>
                    <a:pt x="1251" y="79"/>
                  </a:lnTo>
                  <a:lnTo>
                    <a:pt x="1256" y="79"/>
                  </a:lnTo>
                  <a:lnTo>
                    <a:pt x="1264" y="77"/>
                  </a:lnTo>
                  <a:lnTo>
                    <a:pt x="1274" y="74"/>
                  </a:lnTo>
                  <a:lnTo>
                    <a:pt x="1285" y="74"/>
                  </a:lnTo>
                  <a:lnTo>
                    <a:pt x="1297" y="74"/>
                  </a:lnTo>
                  <a:lnTo>
                    <a:pt x="1310" y="74"/>
                  </a:lnTo>
                  <a:lnTo>
                    <a:pt x="1326" y="77"/>
                  </a:lnTo>
                  <a:lnTo>
                    <a:pt x="1338" y="77"/>
                  </a:lnTo>
                  <a:lnTo>
                    <a:pt x="1354" y="77"/>
                  </a:lnTo>
                  <a:lnTo>
                    <a:pt x="1364" y="74"/>
                  </a:lnTo>
                  <a:lnTo>
                    <a:pt x="1374" y="74"/>
                  </a:lnTo>
                  <a:lnTo>
                    <a:pt x="1385" y="72"/>
                  </a:lnTo>
                  <a:lnTo>
                    <a:pt x="1390" y="72"/>
                  </a:lnTo>
                  <a:lnTo>
                    <a:pt x="1397" y="72"/>
                  </a:lnTo>
                  <a:lnTo>
                    <a:pt x="1405" y="72"/>
                  </a:lnTo>
                  <a:lnTo>
                    <a:pt x="1413" y="74"/>
                  </a:lnTo>
                  <a:lnTo>
                    <a:pt x="1426" y="74"/>
                  </a:lnTo>
                  <a:lnTo>
                    <a:pt x="1438" y="77"/>
                  </a:lnTo>
                  <a:lnTo>
                    <a:pt x="1459" y="77"/>
                  </a:lnTo>
                  <a:lnTo>
                    <a:pt x="1487" y="79"/>
                  </a:lnTo>
                  <a:lnTo>
                    <a:pt x="1520" y="79"/>
                  </a:lnTo>
                  <a:lnTo>
                    <a:pt x="1556" y="79"/>
                  </a:lnTo>
                  <a:lnTo>
                    <a:pt x="1592" y="79"/>
                  </a:lnTo>
                  <a:lnTo>
                    <a:pt x="1626" y="77"/>
                  </a:lnTo>
                  <a:lnTo>
                    <a:pt x="1654" y="77"/>
                  </a:lnTo>
                  <a:lnTo>
                    <a:pt x="1674" y="74"/>
                  </a:lnTo>
                  <a:lnTo>
                    <a:pt x="1687" y="74"/>
                  </a:lnTo>
                  <a:lnTo>
                    <a:pt x="1695" y="74"/>
                  </a:lnTo>
                  <a:lnTo>
                    <a:pt x="1697" y="74"/>
                  </a:lnTo>
                  <a:lnTo>
                    <a:pt x="1700" y="74"/>
                  </a:lnTo>
                  <a:lnTo>
                    <a:pt x="1700" y="77"/>
                  </a:lnTo>
                  <a:lnTo>
                    <a:pt x="1705" y="77"/>
                  </a:lnTo>
                  <a:lnTo>
                    <a:pt x="1713" y="77"/>
                  </a:lnTo>
                  <a:lnTo>
                    <a:pt x="1720" y="74"/>
                  </a:lnTo>
                  <a:lnTo>
                    <a:pt x="1726" y="74"/>
                  </a:lnTo>
                  <a:lnTo>
                    <a:pt x="1731" y="74"/>
                  </a:lnTo>
                  <a:lnTo>
                    <a:pt x="1736" y="74"/>
                  </a:lnTo>
                  <a:lnTo>
                    <a:pt x="1738" y="74"/>
                  </a:lnTo>
                  <a:lnTo>
                    <a:pt x="1746" y="74"/>
                  </a:lnTo>
                  <a:lnTo>
                    <a:pt x="1754" y="74"/>
                  </a:lnTo>
                  <a:lnTo>
                    <a:pt x="1764" y="74"/>
                  </a:lnTo>
                  <a:lnTo>
                    <a:pt x="1777" y="74"/>
                  </a:lnTo>
                  <a:lnTo>
                    <a:pt x="1790" y="77"/>
                  </a:lnTo>
                  <a:lnTo>
                    <a:pt x="1805" y="77"/>
                  </a:lnTo>
                  <a:lnTo>
                    <a:pt x="1820" y="77"/>
                  </a:lnTo>
                  <a:lnTo>
                    <a:pt x="1836" y="74"/>
                  </a:lnTo>
                  <a:lnTo>
                    <a:pt x="1851" y="74"/>
                  </a:lnTo>
                  <a:lnTo>
                    <a:pt x="1867" y="77"/>
                  </a:lnTo>
                  <a:lnTo>
                    <a:pt x="1882" y="77"/>
                  </a:lnTo>
                  <a:lnTo>
                    <a:pt x="1895" y="77"/>
                  </a:lnTo>
                  <a:lnTo>
                    <a:pt x="1908" y="77"/>
                  </a:lnTo>
                  <a:lnTo>
                    <a:pt x="1918" y="77"/>
                  </a:lnTo>
                  <a:lnTo>
                    <a:pt x="1931" y="77"/>
                  </a:lnTo>
                  <a:lnTo>
                    <a:pt x="1941" y="77"/>
                  </a:lnTo>
                  <a:lnTo>
                    <a:pt x="1954" y="77"/>
                  </a:lnTo>
                  <a:lnTo>
                    <a:pt x="1967" y="77"/>
                  </a:lnTo>
                  <a:lnTo>
                    <a:pt x="1979" y="77"/>
                  </a:lnTo>
                  <a:lnTo>
                    <a:pt x="1995" y="77"/>
                  </a:lnTo>
                  <a:lnTo>
                    <a:pt x="2010" y="77"/>
                  </a:lnTo>
                  <a:lnTo>
                    <a:pt x="2026" y="77"/>
                  </a:lnTo>
                  <a:lnTo>
                    <a:pt x="2043" y="77"/>
                  </a:lnTo>
                  <a:lnTo>
                    <a:pt x="2059" y="77"/>
                  </a:lnTo>
                  <a:lnTo>
                    <a:pt x="2074" y="77"/>
                  </a:lnTo>
                  <a:lnTo>
                    <a:pt x="2090" y="77"/>
                  </a:lnTo>
                  <a:lnTo>
                    <a:pt x="2102" y="74"/>
                  </a:lnTo>
                  <a:lnTo>
                    <a:pt x="2115" y="74"/>
                  </a:lnTo>
                  <a:lnTo>
                    <a:pt x="2126" y="74"/>
                  </a:lnTo>
                  <a:lnTo>
                    <a:pt x="2136" y="74"/>
                  </a:lnTo>
                  <a:lnTo>
                    <a:pt x="2146" y="74"/>
                  </a:lnTo>
                  <a:lnTo>
                    <a:pt x="2156" y="74"/>
                  </a:lnTo>
                  <a:lnTo>
                    <a:pt x="2164" y="77"/>
                  </a:lnTo>
                  <a:lnTo>
                    <a:pt x="2174" y="77"/>
                  </a:lnTo>
                  <a:lnTo>
                    <a:pt x="2184" y="77"/>
                  </a:lnTo>
                  <a:lnTo>
                    <a:pt x="2195" y="77"/>
                  </a:lnTo>
                  <a:lnTo>
                    <a:pt x="2205" y="77"/>
                  </a:lnTo>
                  <a:lnTo>
                    <a:pt x="2215" y="77"/>
                  </a:lnTo>
                  <a:lnTo>
                    <a:pt x="2225" y="77"/>
                  </a:lnTo>
                  <a:lnTo>
                    <a:pt x="2236" y="77"/>
                  </a:lnTo>
                  <a:lnTo>
                    <a:pt x="2246" y="77"/>
                  </a:lnTo>
                  <a:lnTo>
                    <a:pt x="2254" y="77"/>
                  </a:lnTo>
                  <a:lnTo>
                    <a:pt x="2264" y="77"/>
                  </a:lnTo>
                  <a:lnTo>
                    <a:pt x="2267" y="77"/>
                  </a:lnTo>
                  <a:lnTo>
                    <a:pt x="2261" y="77"/>
                  </a:lnTo>
                  <a:lnTo>
                    <a:pt x="2259" y="77"/>
                  </a:lnTo>
                  <a:lnTo>
                    <a:pt x="2264" y="74"/>
                  </a:lnTo>
                  <a:lnTo>
                    <a:pt x="2277" y="74"/>
                  </a:lnTo>
                  <a:lnTo>
                    <a:pt x="2300" y="74"/>
                  </a:lnTo>
                  <a:lnTo>
                    <a:pt x="2341" y="74"/>
                  </a:lnTo>
                  <a:lnTo>
                    <a:pt x="2392" y="77"/>
                  </a:lnTo>
                  <a:lnTo>
                    <a:pt x="2454" y="77"/>
                  </a:lnTo>
                  <a:lnTo>
                    <a:pt x="2520" y="77"/>
                  </a:lnTo>
                  <a:lnTo>
                    <a:pt x="2587" y="77"/>
                  </a:lnTo>
                  <a:lnTo>
                    <a:pt x="2654" y="77"/>
                  </a:lnTo>
                  <a:lnTo>
                    <a:pt x="2713" y="77"/>
                  </a:lnTo>
                  <a:lnTo>
                    <a:pt x="2759" y="77"/>
                  </a:lnTo>
                  <a:lnTo>
                    <a:pt x="2797" y="77"/>
                  </a:lnTo>
                  <a:lnTo>
                    <a:pt x="2831" y="77"/>
                  </a:lnTo>
                  <a:lnTo>
                    <a:pt x="2859" y="77"/>
                  </a:lnTo>
                  <a:lnTo>
                    <a:pt x="2884" y="77"/>
                  </a:lnTo>
                  <a:lnTo>
                    <a:pt x="2907" y="77"/>
                  </a:lnTo>
                  <a:lnTo>
                    <a:pt x="2925" y="77"/>
                  </a:lnTo>
                  <a:lnTo>
                    <a:pt x="2943" y="77"/>
                  </a:lnTo>
                  <a:lnTo>
                    <a:pt x="2964" y="77"/>
                  </a:lnTo>
                  <a:lnTo>
                    <a:pt x="2982" y="77"/>
                  </a:lnTo>
                  <a:lnTo>
                    <a:pt x="3002" y="79"/>
                  </a:lnTo>
                  <a:lnTo>
                    <a:pt x="3018" y="79"/>
                  </a:lnTo>
                  <a:lnTo>
                    <a:pt x="3033" y="79"/>
                  </a:lnTo>
                  <a:lnTo>
                    <a:pt x="3046" y="79"/>
                  </a:lnTo>
                  <a:lnTo>
                    <a:pt x="3056" y="79"/>
                  </a:lnTo>
                  <a:lnTo>
                    <a:pt x="3064" y="77"/>
                  </a:lnTo>
                  <a:lnTo>
                    <a:pt x="3066" y="74"/>
                  </a:lnTo>
                  <a:lnTo>
                    <a:pt x="3072" y="74"/>
                  </a:lnTo>
                  <a:lnTo>
                    <a:pt x="3077" y="74"/>
                  </a:lnTo>
                  <a:lnTo>
                    <a:pt x="3079" y="74"/>
                  </a:lnTo>
                  <a:lnTo>
                    <a:pt x="3084" y="77"/>
                  </a:lnTo>
                  <a:lnTo>
                    <a:pt x="3089" y="77"/>
                  </a:lnTo>
                  <a:lnTo>
                    <a:pt x="3092" y="77"/>
                  </a:lnTo>
                  <a:lnTo>
                    <a:pt x="3097" y="77"/>
                  </a:lnTo>
                  <a:lnTo>
                    <a:pt x="3102" y="74"/>
                  </a:lnTo>
                  <a:lnTo>
                    <a:pt x="3107" y="74"/>
                  </a:lnTo>
                  <a:lnTo>
                    <a:pt x="3113" y="74"/>
                  </a:lnTo>
                  <a:lnTo>
                    <a:pt x="3120" y="74"/>
                  </a:lnTo>
                  <a:lnTo>
                    <a:pt x="3128" y="74"/>
                  </a:lnTo>
                  <a:lnTo>
                    <a:pt x="3133" y="77"/>
                  </a:lnTo>
                  <a:lnTo>
                    <a:pt x="3136" y="77"/>
                  </a:lnTo>
                  <a:lnTo>
                    <a:pt x="3130" y="77"/>
                  </a:lnTo>
                  <a:lnTo>
                    <a:pt x="3020" y="77"/>
                  </a:lnTo>
                  <a:lnTo>
                    <a:pt x="3007" y="77"/>
                  </a:lnTo>
                  <a:lnTo>
                    <a:pt x="2995" y="77"/>
                  </a:lnTo>
                  <a:lnTo>
                    <a:pt x="2979" y="77"/>
                  </a:lnTo>
                  <a:lnTo>
                    <a:pt x="2964" y="77"/>
                  </a:lnTo>
                  <a:lnTo>
                    <a:pt x="2946" y="77"/>
                  </a:lnTo>
                  <a:lnTo>
                    <a:pt x="2928" y="77"/>
                  </a:lnTo>
                  <a:lnTo>
                    <a:pt x="2907" y="77"/>
                  </a:lnTo>
                  <a:lnTo>
                    <a:pt x="2884" y="77"/>
                  </a:lnTo>
                  <a:lnTo>
                    <a:pt x="2869" y="77"/>
                  </a:lnTo>
                  <a:lnTo>
                    <a:pt x="2854" y="77"/>
                  </a:lnTo>
                  <a:lnTo>
                    <a:pt x="2838" y="77"/>
                  </a:lnTo>
                  <a:lnTo>
                    <a:pt x="2823" y="77"/>
                  </a:lnTo>
                  <a:lnTo>
                    <a:pt x="2805" y="77"/>
                  </a:lnTo>
                  <a:lnTo>
                    <a:pt x="2787" y="77"/>
                  </a:lnTo>
                  <a:lnTo>
                    <a:pt x="2766" y="77"/>
                  </a:lnTo>
                  <a:lnTo>
                    <a:pt x="2748" y="77"/>
                  </a:lnTo>
                  <a:lnTo>
                    <a:pt x="2692" y="77"/>
                  </a:lnTo>
                  <a:lnTo>
                    <a:pt x="2631" y="77"/>
                  </a:lnTo>
                  <a:lnTo>
                    <a:pt x="2559" y="77"/>
                  </a:lnTo>
                  <a:lnTo>
                    <a:pt x="2482" y="77"/>
                  </a:lnTo>
                  <a:lnTo>
                    <a:pt x="2400" y="77"/>
                  </a:lnTo>
                  <a:lnTo>
                    <a:pt x="2315" y="77"/>
                  </a:lnTo>
                  <a:lnTo>
                    <a:pt x="2225" y="77"/>
                  </a:lnTo>
                  <a:lnTo>
                    <a:pt x="2136" y="77"/>
                  </a:lnTo>
                  <a:lnTo>
                    <a:pt x="2028" y="77"/>
                  </a:lnTo>
                  <a:lnTo>
                    <a:pt x="1920" y="77"/>
                  </a:lnTo>
                  <a:lnTo>
                    <a:pt x="1818" y="77"/>
                  </a:lnTo>
                  <a:lnTo>
                    <a:pt x="1718" y="77"/>
                  </a:lnTo>
                  <a:lnTo>
                    <a:pt x="1623" y="77"/>
                  </a:lnTo>
                  <a:lnTo>
                    <a:pt x="1538" y="77"/>
                  </a:lnTo>
                  <a:lnTo>
                    <a:pt x="1462" y="77"/>
                  </a:lnTo>
                  <a:lnTo>
                    <a:pt x="1397" y="77"/>
                  </a:lnTo>
                  <a:lnTo>
                    <a:pt x="1305" y="77"/>
                  </a:lnTo>
                  <a:lnTo>
                    <a:pt x="1246" y="77"/>
                  </a:lnTo>
                  <a:lnTo>
                    <a:pt x="1208" y="77"/>
                  </a:lnTo>
                  <a:lnTo>
                    <a:pt x="1180" y="77"/>
                  </a:lnTo>
                  <a:lnTo>
                    <a:pt x="1156" y="77"/>
                  </a:lnTo>
                  <a:lnTo>
                    <a:pt x="1126" y="77"/>
                  </a:lnTo>
                  <a:lnTo>
                    <a:pt x="1077" y="77"/>
                  </a:lnTo>
                  <a:lnTo>
                    <a:pt x="1005" y="77"/>
                  </a:lnTo>
                  <a:lnTo>
                    <a:pt x="992" y="77"/>
                  </a:lnTo>
                  <a:lnTo>
                    <a:pt x="982" y="77"/>
                  </a:lnTo>
                  <a:lnTo>
                    <a:pt x="969" y="77"/>
                  </a:lnTo>
                  <a:lnTo>
                    <a:pt x="956" y="77"/>
                  </a:lnTo>
                  <a:lnTo>
                    <a:pt x="941" y="77"/>
                  </a:lnTo>
                  <a:lnTo>
                    <a:pt x="928" y="77"/>
                  </a:lnTo>
                  <a:lnTo>
                    <a:pt x="913" y="77"/>
                  </a:lnTo>
                  <a:lnTo>
                    <a:pt x="900" y="77"/>
                  </a:lnTo>
                  <a:lnTo>
                    <a:pt x="454" y="77"/>
                  </a:lnTo>
                  <a:lnTo>
                    <a:pt x="0" y="77"/>
                  </a:lnTo>
                </a:path>
              </a:pathLst>
            </a:custGeom>
            <a:solidFill>
              <a:srgbClr val="A1D8FD"/>
            </a:solidFill>
            <a:ln w="0">
              <a:solidFill>
                <a:srgbClr val="000000"/>
              </a:solidFill>
              <a:prstDash val="solid"/>
              <a:round/>
              <a:headEnd/>
              <a:tailEnd/>
            </a:ln>
          </p:spPr>
          <p:txBody>
            <a:bodyPr/>
            <a:lstStyle/>
            <a:p>
              <a:endParaRPr lang="en-GB"/>
            </a:p>
          </p:txBody>
        </p:sp>
        <p:sp>
          <p:nvSpPr>
            <p:cNvPr id="170006" name="Freeform 22"/>
            <p:cNvSpPr>
              <a:spLocks/>
            </p:cNvSpPr>
            <p:nvPr/>
          </p:nvSpPr>
          <p:spPr bwMode="auto">
            <a:xfrm>
              <a:off x="2691" y="1802"/>
              <a:ext cx="2713" cy="116"/>
            </a:xfrm>
            <a:custGeom>
              <a:avLst/>
              <a:gdLst/>
              <a:ahLst/>
              <a:cxnLst>
                <a:cxn ang="0">
                  <a:pos x="0" y="145"/>
                </a:cxn>
                <a:cxn ang="0">
                  <a:pos x="530" y="34"/>
                </a:cxn>
                <a:cxn ang="0">
                  <a:pos x="573" y="29"/>
                </a:cxn>
                <a:cxn ang="0">
                  <a:pos x="618" y="24"/>
                </a:cxn>
                <a:cxn ang="0">
                  <a:pos x="658" y="17"/>
                </a:cxn>
                <a:cxn ang="0">
                  <a:pos x="702" y="10"/>
                </a:cxn>
                <a:cxn ang="0">
                  <a:pos x="746" y="5"/>
                </a:cxn>
                <a:cxn ang="0">
                  <a:pos x="787" y="3"/>
                </a:cxn>
                <a:cxn ang="0">
                  <a:pos x="830" y="0"/>
                </a:cxn>
                <a:cxn ang="0">
                  <a:pos x="873" y="5"/>
                </a:cxn>
                <a:cxn ang="0">
                  <a:pos x="1135" y="34"/>
                </a:cxn>
                <a:cxn ang="0">
                  <a:pos x="1220" y="60"/>
                </a:cxn>
                <a:cxn ang="0">
                  <a:pos x="1302" y="85"/>
                </a:cxn>
                <a:cxn ang="0">
                  <a:pos x="1401" y="97"/>
                </a:cxn>
                <a:cxn ang="0">
                  <a:pos x="1461" y="105"/>
                </a:cxn>
                <a:cxn ang="0">
                  <a:pos x="1931" y="107"/>
                </a:cxn>
                <a:cxn ang="0">
                  <a:pos x="2153" y="109"/>
                </a:cxn>
                <a:cxn ang="0">
                  <a:pos x="2529" y="113"/>
                </a:cxn>
                <a:cxn ang="0">
                  <a:pos x="2968" y="145"/>
                </a:cxn>
                <a:cxn ang="0">
                  <a:pos x="0" y="145"/>
                </a:cxn>
              </a:cxnLst>
              <a:rect l="0" t="0" r="r" b="b"/>
              <a:pathLst>
                <a:path w="2968" h="145">
                  <a:moveTo>
                    <a:pt x="0" y="145"/>
                  </a:moveTo>
                  <a:lnTo>
                    <a:pt x="530" y="34"/>
                  </a:lnTo>
                  <a:lnTo>
                    <a:pt x="573" y="29"/>
                  </a:lnTo>
                  <a:lnTo>
                    <a:pt x="618" y="24"/>
                  </a:lnTo>
                  <a:lnTo>
                    <a:pt x="658" y="17"/>
                  </a:lnTo>
                  <a:lnTo>
                    <a:pt x="702" y="10"/>
                  </a:lnTo>
                  <a:lnTo>
                    <a:pt x="746" y="5"/>
                  </a:lnTo>
                  <a:lnTo>
                    <a:pt x="787" y="3"/>
                  </a:lnTo>
                  <a:lnTo>
                    <a:pt x="830" y="0"/>
                  </a:lnTo>
                  <a:lnTo>
                    <a:pt x="873" y="5"/>
                  </a:lnTo>
                  <a:lnTo>
                    <a:pt x="1135" y="34"/>
                  </a:lnTo>
                  <a:lnTo>
                    <a:pt x="1220" y="60"/>
                  </a:lnTo>
                  <a:lnTo>
                    <a:pt x="1302" y="85"/>
                  </a:lnTo>
                  <a:lnTo>
                    <a:pt x="1401" y="97"/>
                  </a:lnTo>
                  <a:lnTo>
                    <a:pt x="1461" y="105"/>
                  </a:lnTo>
                  <a:lnTo>
                    <a:pt x="1931" y="107"/>
                  </a:lnTo>
                  <a:lnTo>
                    <a:pt x="2153" y="109"/>
                  </a:lnTo>
                  <a:lnTo>
                    <a:pt x="2529" y="113"/>
                  </a:lnTo>
                  <a:lnTo>
                    <a:pt x="2968" y="145"/>
                  </a:lnTo>
                  <a:lnTo>
                    <a:pt x="0" y="145"/>
                  </a:lnTo>
                  <a:close/>
                </a:path>
              </a:pathLst>
            </a:custGeom>
            <a:solidFill>
              <a:srgbClr val="A1D8FD"/>
            </a:solidFill>
            <a:ln w="0">
              <a:solidFill>
                <a:srgbClr val="000000"/>
              </a:solidFill>
              <a:round/>
              <a:headEnd/>
              <a:tailEnd/>
            </a:ln>
          </p:spPr>
          <p:txBody>
            <a:bodyPr/>
            <a:lstStyle/>
            <a:p>
              <a:endParaRPr lang="en-GB"/>
            </a:p>
          </p:txBody>
        </p:sp>
        <p:sp>
          <p:nvSpPr>
            <p:cNvPr id="170007" name="Freeform 23"/>
            <p:cNvSpPr>
              <a:spLocks/>
            </p:cNvSpPr>
            <p:nvPr/>
          </p:nvSpPr>
          <p:spPr bwMode="auto">
            <a:xfrm>
              <a:off x="2776" y="2017"/>
              <a:ext cx="2638" cy="129"/>
            </a:xfrm>
            <a:custGeom>
              <a:avLst/>
              <a:gdLst/>
              <a:ahLst/>
              <a:cxnLst>
                <a:cxn ang="0">
                  <a:pos x="0" y="154"/>
                </a:cxn>
                <a:cxn ang="0">
                  <a:pos x="374" y="141"/>
                </a:cxn>
                <a:cxn ang="0">
                  <a:pos x="500" y="113"/>
                </a:cxn>
                <a:cxn ang="0">
                  <a:pos x="600" y="28"/>
                </a:cxn>
                <a:cxn ang="0">
                  <a:pos x="718" y="0"/>
                </a:cxn>
                <a:cxn ang="0">
                  <a:pos x="1226" y="13"/>
                </a:cxn>
                <a:cxn ang="0">
                  <a:pos x="1249" y="18"/>
                </a:cxn>
                <a:cxn ang="0">
                  <a:pos x="1269" y="20"/>
                </a:cxn>
                <a:cxn ang="0">
                  <a:pos x="1290" y="26"/>
                </a:cxn>
                <a:cxn ang="0">
                  <a:pos x="1313" y="28"/>
                </a:cxn>
                <a:cxn ang="0">
                  <a:pos x="1333" y="33"/>
                </a:cxn>
                <a:cxn ang="0">
                  <a:pos x="1354" y="38"/>
                </a:cxn>
                <a:cxn ang="0">
                  <a:pos x="1374" y="43"/>
                </a:cxn>
                <a:cxn ang="0">
                  <a:pos x="1395" y="49"/>
                </a:cxn>
                <a:cxn ang="0">
                  <a:pos x="1544" y="92"/>
                </a:cxn>
                <a:cxn ang="0">
                  <a:pos x="1702" y="133"/>
                </a:cxn>
                <a:cxn ang="0">
                  <a:pos x="2243" y="143"/>
                </a:cxn>
                <a:cxn ang="0">
                  <a:pos x="2889" y="143"/>
                </a:cxn>
                <a:cxn ang="0">
                  <a:pos x="3056" y="154"/>
                </a:cxn>
                <a:cxn ang="0">
                  <a:pos x="0" y="154"/>
                </a:cxn>
              </a:cxnLst>
              <a:rect l="0" t="0" r="r" b="b"/>
              <a:pathLst>
                <a:path w="3056" h="154">
                  <a:moveTo>
                    <a:pt x="0" y="154"/>
                  </a:moveTo>
                  <a:lnTo>
                    <a:pt x="374" y="141"/>
                  </a:lnTo>
                  <a:lnTo>
                    <a:pt x="500" y="113"/>
                  </a:lnTo>
                  <a:lnTo>
                    <a:pt x="600" y="28"/>
                  </a:lnTo>
                  <a:lnTo>
                    <a:pt x="718" y="0"/>
                  </a:lnTo>
                  <a:lnTo>
                    <a:pt x="1226" y="13"/>
                  </a:lnTo>
                  <a:lnTo>
                    <a:pt x="1249" y="18"/>
                  </a:lnTo>
                  <a:lnTo>
                    <a:pt x="1269" y="20"/>
                  </a:lnTo>
                  <a:lnTo>
                    <a:pt x="1290" y="26"/>
                  </a:lnTo>
                  <a:lnTo>
                    <a:pt x="1313" y="28"/>
                  </a:lnTo>
                  <a:lnTo>
                    <a:pt x="1333" y="33"/>
                  </a:lnTo>
                  <a:lnTo>
                    <a:pt x="1354" y="38"/>
                  </a:lnTo>
                  <a:lnTo>
                    <a:pt x="1374" y="43"/>
                  </a:lnTo>
                  <a:lnTo>
                    <a:pt x="1395" y="49"/>
                  </a:lnTo>
                  <a:lnTo>
                    <a:pt x="1544" y="92"/>
                  </a:lnTo>
                  <a:lnTo>
                    <a:pt x="1702" y="133"/>
                  </a:lnTo>
                  <a:lnTo>
                    <a:pt x="2243" y="143"/>
                  </a:lnTo>
                  <a:lnTo>
                    <a:pt x="2889" y="143"/>
                  </a:lnTo>
                  <a:lnTo>
                    <a:pt x="3056" y="154"/>
                  </a:lnTo>
                  <a:lnTo>
                    <a:pt x="0" y="154"/>
                  </a:lnTo>
                </a:path>
              </a:pathLst>
            </a:custGeom>
            <a:solidFill>
              <a:srgbClr val="A1D8FD"/>
            </a:solidFill>
            <a:ln w="0">
              <a:solidFill>
                <a:srgbClr val="000000"/>
              </a:solidFill>
              <a:prstDash val="solid"/>
              <a:round/>
              <a:headEnd/>
              <a:tailEnd/>
            </a:ln>
          </p:spPr>
          <p:txBody>
            <a:bodyPr/>
            <a:lstStyle/>
            <a:p>
              <a:endParaRPr lang="en-GB"/>
            </a:p>
          </p:txBody>
        </p:sp>
        <p:sp>
          <p:nvSpPr>
            <p:cNvPr id="170008" name="Freeform 24"/>
            <p:cNvSpPr>
              <a:spLocks/>
            </p:cNvSpPr>
            <p:nvPr/>
          </p:nvSpPr>
          <p:spPr bwMode="auto">
            <a:xfrm>
              <a:off x="2756" y="2245"/>
              <a:ext cx="2656" cy="147"/>
            </a:xfrm>
            <a:custGeom>
              <a:avLst/>
              <a:gdLst/>
              <a:ahLst/>
              <a:cxnLst>
                <a:cxn ang="0">
                  <a:pos x="410" y="226"/>
                </a:cxn>
                <a:cxn ang="0">
                  <a:pos x="1044" y="113"/>
                </a:cxn>
                <a:cxn ang="0">
                  <a:pos x="1484" y="0"/>
                </a:cxn>
                <a:cxn ang="0">
                  <a:pos x="2064" y="5"/>
                </a:cxn>
                <a:cxn ang="0">
                  <a:pos x="2107" y="11"/>
                </a:cxn>
                <a:cxn ang="0">
                  <a:pos x="2154" y="21"/>
                </a:cxn>
                <a:cxn ang="0">
                  <a:pos x="2202" y="44"/>
                </a:cxn>
                <a:cxn ang="0">
                  <a:pos x="2246" y="77"/>
                </a:cxn>
                <a:cxn ang="0">
                  <a:pos x="2279" y="105"/>
                </a:cxn>
                <a:cxn ang="0">
                  <a:pos x="2313" y="134"/>
                </a:cxn>
                <a:cxn ang="0">
                  <a:pos x="2346" y="159"/>
                </a:cxn>
                <a:cxn ang="0">
                  <a:pos x="2379" y="177"/>
                </a:cxn>
                <a:cxn ang="0">
                  <a:pos x="2407" y="190"/>
                </a:cxn>
                <a:cxn ang="0">
                  <a:pos x="2438" y="198"/>
                </a:cxn>
                <a:cxn ang="0">
                  <a:pos x="2466" y="205"/>
                </a:cxn>
                <a:cxn ang="0">
                  <a:pos x="2502" y="208"/>
                </a:cxn>
                <a:cxn ang="0">
                  <a:pos x="2523" y="210"/>
                </a:cxn>
                <a:cxn ang="0">
                  <a:pos x="2536" y="210"/>
                </a:cxn>
                <a:cxn ang="0">
                  <a:pos x="2566" y="210"/>
                </a:cxn>
                <a:cxn ang="0">
                  <a:pos x="2615" y="205"/>
                </a:cxn>
                <a:cxn ang="0">
                  <a:pos x="2633" y="193"/>
                </a:cxn>
                <a:cxn ang="0">
                  <a:pos x="2643" y="175"/>
                </a:cxn>
                <a:cxn ang="0">
                  <a:pos x="2654" y="159"/>
                </a:cxn>
                <a:cxn ang="0">
                  <a:pos x="2674" y="159"/>
                </a:cxn>
                <a:cxn ang="0">
                  <a:pos x="2684" y="172"/>
                </a:cxn>
                <a:cxn ang="0">
                  <a:pos x="2689" y="187"/>
                </a:cxn>
                <a:cxn ang="0">
                  <a:pos x="2695" y="200"/>
                </a:cxn>
                <a:cxn ang="0">
                  <a:pos x="2723" y="210"/>
                </a:cxn>
                <a:cxn ang="0">
                  <a:pos x="2810" y="221"/>
                </a:cxn>
                <a:cxn ang="0">
                  <a:pos x="2925" y="228"/>
                </a:cxn>
                <a:cxn ang="0">
                  <a:pos x="3033" y="234"/>
                </a:cxn>
                <a:cxn ang="0">
                  <a:pos x="2592" y="239"/>
                </a:cxn>
                <a:cxn ang="0">
                  <a:pos x="1697" y="239"/>
                </a:cxn>
                <a:cxn ang="0">
                  <a:pos x="328" y="239"/>
                </a:cxn>
              </a:cxnLst>
              <a:rect l="0" t="0" r="r" b="b"/>
              <a:pathLst>
                <a:path w="3077" h="239">
                  <a:moveTo>
                    <a:pt x="0" y="239"/>
                  </a:moveTo>
                  <a:lnTo>
                    <a:pt x="410" y="226"/>
                  </a:lnTo>
                  <a:lnTo>
                    <a:pt x="738" y="193"/>
                  </a:lnTo>
                  <a:lnTo>
                    <a:pt x="1044" y="113"/>
                  </a:lnTo>
                  <a:lnTo>
                    <a:pt x="1338" y="21"/>
                  </a:lnTo>
                  <a:lnTo>
                    <a:pt x="1484" y="0"/>
                  </a:lnTo>
                  <a:lnTo>
                    <a:pt x="2038" y="0"/>
                  </a:lnTo>
                  <a:lnTo>
                    <a:pt x="2064" y="5"/>
                  </a:lnTo>
                  <a:lnTo>
                    <a:pt x="2084" y="8"/>
                  </a:lnTo>
                  <a:lnTo>
                    <a:pt x="2107" y="11"/>
                  </a:lnTo>
                  <a:lnTo>
                    <a:pt x="2131" y="16"/>
                  </a:lnTo>
                  <a:lnTo>
                    <a:pt x="2154" y="21"/>
                  </a:lnTo>
                  <a:lnTo>
                    <a:pt x="2179" y="31"/>
                  </a:lnTo>
                  <a:lnTo>
                    <a:pt x="2202" y="44"/>
                  </a:lnTo>
                  <a:lnTo>
                    <a:pt x="2231" y="64"/>
                  </a:lnTo>
                  <a:lnTo>
                    <a:pt x="2246" y="77"/>
                  </a:lnTo>
                  <a:lnTo>
                    <a:pt x="2264" y="93"/>
                  </a:lnTo>
                  <a:lnTo>
                    <a:pt x="2279" y="105"/>
                  </a:lnTo>
                  <a:lnTo>
                    <a:pt x="2297" y="121"/>
                  </a:lnTo>
                  <a:lnTo>
                    <a:pt x="2313" y="134"/>
                  </a:lnTo>
                  <a:lnTo>
                    <a:pt x="2331" y="146"/>
                  </a:lnTo>
                  <a:lnTo>
                    <a:pt x="2346" y="159"/>
                  </a:lnTo>
                  <a:lnTo>
                    <a:pt x="2364" y="169"/>
                  </a:lnTo>
                  <a:lnTo>
                    <a:pt x="2379" y="177"/>
                  </a:lnTo>
                  <a:lnTo>
                    <a:pt x="2392" y="182"/>
                  </a:lnTo>
                  <a:lnTo>
                    <a:pt x="2407" y="190"/>
                  </a:lnTo>
                  <a:lnTo>
                    <a:pt x="2423" y="193"/>
                  </a:lnTo>
                  <a:lnTo>
                    <a:pt x="2438" y="198"/>
                  </a:lnTo>
                  <a:lnTo>
                    <a:pt x="2454" y="203"/>
                  </a:lnTo>
                  <a:lnTo>
                    <a:pt x="2466" y="205"/>
                  </a:lnTo>
                  <a:lnTo>
                    <a:pt x="2482" y="208"/>
                  </a:lnTo>
                  <a:lnTo>
                    <a:pt x="2502" y="208"/>
                  </a:lnTo>
                  <a:lnTo>
                    <a:pt x="2515" y="210"/>
                  </a:lnTo>
                  <a:lnTo>
                    <a:pt x="2523" y="210"/>
                  </a:lnTo>
                  <a:lnTo>
                    <a:pt x="2528" y="210"/>
                  </a:lnTo>
                  <a:lnTo>
                    <a:pt x="2536" y="210"/>
                  </a:lnTo>
                  <a:lnTo>
                    <a:pt x="2548" y="210"/>
                  </a:lnTo>
                  <a:lnTo>
                    <a:pt x="2566" y="210"/>
                  </a:lnTo>
                  <a:lnTo>
                    <a:pt x="2595" y="210"/>
                  </a:lnTo>
                  <a:lnTo>
                    <a:pt x="2615" y="205"/>
                  </a:lnTo>
                  <a:lnTo>
                    <a:pt x="2625" y="200"/>
                  </a:lnTo>
                  <a:lnTo>
                    <a:pt x="2633" y="193"/>
                  </a:lnTo>
                  <a:lnTo>
                    <a:pt x="2638" y="182"/>
                  </a:lnTo>
                  <a:lnTo>
                    <a:pt x="2643" y="175"/>
                  </a:lnTo>
                  <a:lnTo>
                    <a:pt x="2646" y="167"/>
                  </a:lnTo>
                  <a:lnTo>
                    <a:pt x="2654" y="159"/>
                  </a:lnTo>
                  <a:lnTo>
                    <a:pt x="2664" y="157"/>
                  </a:lnTo>
                  <a:lnTo>
                    <a:pt x="2674" y="159"/>
                  </a:lnTo>
                  <a:lnTo>
                    <a:pt x="2682" y="164"/>
                  </a:lnTo>
                  <a:lnTo>
                    <a:pt x="2684" y="172"/>
                  </a:lnTo>
                  <a:lnTo>
                    <a:pt x="2687" y="180"/>
                  </a:lnTo>
                  <a:lnTo>
                    <a:pt x="2689" y="187"/>
                  </a:lnTo>
                  <a:lnTo>
                    <a:pt x="2689" y="195"/>
                  </a:lnTo>
                  <a:lnTo>
                    <a:pt x="2695" y="200"/>
                  </a:lnTo>
                  <a:lnTo>
                    <a:pt x="2702" y="208"/>
                  </a:lnTo>
                  <a:lnTo>
                    <a:pt x="2723" y="210"/>
                  </a:lnTo>
                  <a:lnTo>
                    <a:pt x="2761" y="216"/>
                  </a:lnTo>
                  <a:lnTo>
                    <a:pt x="2810" y="221"/>
                  </a:lnTo>
                  <a:lnTo>
                    <a:pt x="2866" y="223"/>
                  </a:lnTo>
                  <a:lnTo>
                    <a:pt x="2925" y="228"/>
                  </a:lnTo>
                  <a:lnTo>
                    <a:pt x="2982" y="231"/>
                  </a:lnTo>
                  <a:lnTo>
                    <a:pt x="3033" y="234"/>
                  </a:lnTo>
                  <a:lnTo>
                    <a:pt x="3077" y="239"/>
                  </a:lnTo>
                  <a:lnTo>
                    <a:pt x="2592" y="239"/>
                  </a:lnTo>
                  <a:lnTo>
                    <a:pt x="2295" y="239"/>
                  </a:lnTo>
                  <a:lnTo>
                    <a:pt x="1697" y="239"/>
                  </a:lnTo>
                  <a:lnTo>
                    <a:pt x="1044" y="239"/>
                  </a:lnTo>
                  <a:lnTo>
                    <a:pt x="328" y="239"/>
                  </a:lnTo>
                  <a:lnTo>
                    <a:pt x="0" y="239"/>
                  </a:lnTo>
                  <a:close/>
                </a:path>
              </a:pathLst>
            </a:custGeom>
            <a:solidFill>
              <a:srgbClr val="A1D8FD"/>
            </a:solidFill>
            <a:ln w="0">
              <a:solidFill>
                <a:srgbClr val="000000"/>
              </a:solidFill>
              <a:round/>
              <a:headEnd/>
              <a:tailEnd/>
            </a:ln>
          </p:spPr>
          <p:txBody>
            <a:bodyPr/>
            <a:lstStyle/>
            <a:p>
              <a:endParaRPr lang="en-GB"/>
            </a:p>
          </p:txBody>
        </p:sp>
        <p:sp>
          <p:nvSpPr>
            <p:cNvPr id="170009" name="Freeform 25"/>
            <p:cNvSpPr>
              <a:spLocks/>
            </p:cNvSpPr>
            <p:nvPr/>
          </p:nvSpPr>
          <p:spPr bwMode="auto">
            <a:xfrm>
              <a:off x="2782" y="2491"/>
              <a:ext cx="2630" cy="99"/>
            </a:xfrm>
            <a:custGeom>
              <a:avLst/>
              <a:gdLst/>
              <a:ahLst/>
              <a:cxnLst>
                <a:cxn ang="0">
                  <a:pos x="0" y="118"/>
                </a:cxn>
                <a:cxn ang="0">
                  <a:pos x="490" y="118"/>
                </a:cxn>
                <a:cxn ang="0">
                  <a:pos x="625" y="92"/>
                </a:cxn>
                <a:cxn ang="0">
                  <a:pos x="725" y="87"/>
                </a:cxn>
                <a:cxn ang="0">
                  <a:pos x="818" y="118"/>
                </a:cxn>
                <a:cxn ang="0">
                  <a:pos x="905" y="100"/>
                </a:cxn>
                <a:cxn ang="0">
                  <a:pos x="989" y="87"/>
                </a:cxn>
                <a:cxn ang="0">
                  <a:pos x="1074" y="87"/>
                </a:cxn>
                <a:cxn ang="0">
                  <a:pos x="1148" y="118"/>
                </a:cxn>
                <a:cxn ang="0">
                  <a:pos x="1187" y="118"/>
                </a:cxn>
                <a:cxn ang="0">
                  <a:pos x="1261" y="87"/>
                </a:cxn>
                <a:cxn ang="0">
                  <a:pos x="1366" y="66"/>
                </a:cxn>
                <a:cxn ang="0">
                  <a:pos x="1469" y="79"/>
                </a:cxn>
                <a:cxn ang="0">
                  <a:pos x="1564" y="118"/>
                </a:cxn>
                <a:cxn ang="0">
                  <a:pos x="1782" y="59"/>
                </a:cxn>
                <a:cxn ang="0">
                  <a:pos x="1866" y="54"/>
                </a:cxn>
                <a:cxn ang="0">
                  <a:pos x="1912" y="87"/>
                </a:cxn>
                <a:cxn ang="0">
                  <a:pos x="1933" y="118"/>
                </a:cxn>
                <a:cxn ang="0">
                  <a:pos x="2079" y="46"/>
                </a:cxn>
                <a:cxn ang="0">
                  <a:pos x="2092" y="41"/>
                </a:cxn>
                <a:cxn ang="0">
                  <a:pos x="2107" y="36"/>
                </a:cxn>
                <a:cxn ang="0">
                  <a:pos x="2120" y="31"/>
                </a:cxn>
                <a:cxn ang="0">
                  <a:pos x="2133" y="25"/>
                </a:cxn>
                <a:cxn ang="0">
                  <a:pos x="2146" y="20"/>
                </a:cxn>
                <a:cxn ang="0">
                  <a:pos x="2161" y="15"/>
                </a:cxn>
                <a:cxn ang="0">
                  <a:pos x="2176" y="10"/>
                </a:cxn>
                <a:cxn ang="0">
                  <a:pos x="2192" y="7"/>
                </a:cxn>
                <a:cxn ang="0">
                  <a:pos x="2205" y="5"/>
                </a:cxn>
                <a:cxn ang="0">
                  <a:pos x="2217" y="2"/>
                </a:cxn>
                <a:cxn ang="0">
                  <a:pos x="2230" y="0"/>
                </a:cxn>
                <a:cxn ang="0">
                  <a:pos x="2241" y="0"/>
                </a:cxn>
                <a:cxn ang="0">
                  <a:pos x="2253" y="0"/>
                </a:cxn>
                <a:cxn ang="0">
                  <a:pos x="2266" y="0"/>
                </a:cxn>
                <a:cxn ang="0">
                  <a:pos x="2279" y="2"/>
                </a:cxn>
                <a:cxn ang="0">
                  <a:pos x="2292" y="5"/>
                </a:cxn>
                <a:cxn ang="0">
                  <a:pos x="2441" y="54"/>
                </a:cxn>
                <a:cxn ang="0">
                  <a:pos x="2458" y="59"/>
                </a:cxn>
                <a:cxn ang="0">
                  <a:pos x="2474" y="64"/>
                </a:cxn>
                <a:cxn ang="0">
                  <a:pos x="2492" y="69"/>
                </a:cxn>
                <a:cxn ang="0">
                  <a:pos x="2507" y="74"/>
                </a:cxn>
                <a:cxn ang="0">
                  <a:pos x="2523" y="79"/>
                </a:cxn>
                <a:cxn ang="0">
                  <a:pos x="2543" y="82"/>
                </a:cxn>
                <a:cxn ang="0">
                  <a:pos x="2564" y="87"/>
                </a:cxn>
                <a:cxn ang="0">
                  <a:pos x="2589" y="89"/>
                </a:cxn>
                <a:cxn ang="0">
                  <a:pos x="2797" y="92"/>
                </a:cxn>
                <a:cxn ang="0">
                  <a:pos x="2902" y="100"/>
                </a:cxn>
                <a:cxn ang="0">
                  <a:pos x="3046" y="118"/>
                </a:cxn>
                <a:cxn ang="0">
                  <a:pos x="0" y="118"/>
                </a:cxn>
              </a:cxnLst>
              <a:rect l="0" t="0" r="r" b="b"/>
              <a:pathLst>
                <a:path w="3046" h="118">
                  <a:moveTo>
                    <a:pt x="0" y="118"/>
                  </a:moveTo>
                  <a:lnTo>
                    <a:pt x="490" y="118"/>
                  </a:lnTo>
                  <a:lnTo>
                    <a:pt x="625" y="92"/>
                  </a:lnTo>
                  <a:lnTo>
                    <a:pt x="725" y="87"/>
                  </a:lnTo>
                  <a:lnTo>
                    <a:pt x="818" y="118"/>
                  </a:lnTo>
                  <a:lnTo>
                    <a:pt x="905" y="100"/>
                  </a:lnTo>
                  <a:lnTo>
                    <a:pt x="989" y="87"/>
                  </a:lnTo>
                  <a:lnTo>
                    <a:pt x="1074" y="87"/>
                  </a:lnTo>
                  <a:lnTo>
                    <a:pt x="1148" y="118"/>
                  </a:lnTo>
                  <a:lnTo>
                    <a:pt x="1187" y="118"/>
                  </a:lnTo>
                  <a:lnTo>
                    <a:pt x="1261" y="87"/>
                  </a:lnTo>
                  <a:lnTo>
                    <a:pt x="1366" y="66"/>
                  </a:lnTo>
                  <a:lnTo>
                    <a:pt x="1469" y="79"/>
                  </a:lnTo>
                  <a:lnTo>
                    <a:pt x="1564" y="118"/>
                  </a:lnTo>
                  <a:lnTo>
                    <a:pt x="1782" y="59"/>
                  </a:lnTo>
                  <a:lnTo>
                    <a:pt x="1866" y="54"/>
                  </a:lnTo>
                  <a:lnTo>
                    <a:pt x="1912" y="87"/>
                  </a:lnTo>
                  <a:lnTo>
                    <a:pt x="1933" y="118"/>
                  </a:lnTo>
                  <a:lnTo>
                    <a:pt x="2079" y="46"/>
                  </a:lnTo>
                  <a:lnTo>
                    <a:pt x="2092" y="41"/>
                  </a:lnTo>
                  <a:lnTo>
                    <a:pt x="2107" y="36"/>
                  </a:lnTo>
                  <a:lnTo>
                    <a:pt x="2120" y="31"/>
                  </a:lnTo>
                  <a:lnTo>
                    <a:pt x="2133" y="25"/>
                  </a:lnTo>
                  <a:lnTo>
                    <a:pt x="2146" y="20"/>
                  </a:lnTo>
                  <a:lnTo>
                    <a:pt x="2161" y="15"/>
                  </a:lnTo>
                  <a:lnTo>
                    <a:pt x="2176" y="10"/>
                  </a:lnTo>
                  <a:lnTo>
                    <a:pt x="2192" y="7"/>
                  </a:lnTo>
                  <a:lnTo>
                    <a:pt x="2205" y="5"/>
                  </a:lnTo>
                  <a:lnTo>
                    <a:pt x="2217" y="2"/>
                  </a:lnTo>
                  <a:lnTo>
                    <a:pt x="2230" y="0"/>
                  </a:lnTo>
                  <a:lnTo>
                    <a:pt x="2241" y="0"/>
                  </a:lnTo>
                  <a:lnTo>
                    <a:pt x="2253" y="0"/>
                  </a:lnTo>
                  <a:lnTo>
                    <a:pt x="2266" y="0"/>
                  </a:lnTo>
                  <a:lnTo>
                    <a:pt x="2279" y="2"/>
                  </a:lnTo>
                  <a:lnTo>
                    <a:pt x="2292" y="5"/>
                  </a:lnTo>
                  <a:lnTo>
                    <a:pt x="2441" y="54"/>
                  </a:lnTo>
                  <a:lnTo>
                    <a:pt x="2458" y="59"/>
                  </a:lnTo>
                  <a:lnTo>
                    <a:pt x="2474" y="64"/>
                  </a:lnTo>
                  <a:lnTo>
                    <a:pt x="2492" y="69"/>
                  </a:lnTo>
                  <a:lnTo>
                    <a:pt x="2507" y="74"/>
                  </a:lnTo>
                  <a:lnTo>
                    <a:pt x="2523" y="79"/>
                  </a:lnTo>
                  <a:lnTo>
                    <a:pt x="2543" y="82"/>
                  </a:lnTo>
                  <a:lnTo>
                    <a:pt x="2564" y="87"/>
                  </a:lnTo>
                  <a:lnTo>
                    <a:pt x="2589" y="89"/>
                  </a:lnTo>
                  <a:lnTo>
                    <a:pt x="2797" y="92"/>
                  </a:lnTo>
                  <a:lnTo>
                    <a:pt x="2902" y="100"/>
                  </a:lnTo>
                  <a:lnTo>
                    <a:pt x="3046" y="118"/>
                  </a:lnTo>
                  <a:lnTo>
                    <a:pt x="0" y="118"/>
                  </a:lnTo>
                  <a:close/>
                </a:path>
              </a:pathLst>
            </a:custGeom>
            <a:solidFill>
              <a:srgbClr val="A1D8FD"/>
            </a:solidFill>
            <a:ln w="0">
              <a:solidFill>
                <a:srgbClr val="000000"/>
              </a:solidFill>
              <a:round/>
              <a:headEnd/>
              <a:tailEnd/>
            </a:ln>
          </p:spPr>
          <p:txBody>
            <a:bodyPr/>
            <a:lstStyle/>
            <a:p>
              <a:endParaRPr lang="en-GB"/>
            </a:p>
          </p:txBody>
        </p:sp>
        <p:sp>
          <p:nvSpPr>
            <p:cNvPr id="170010" name="Rectangle 26"/>
            <p:cNvSpPr>
              <a:spLocks noChangeArrowheads="1"/>
            </p:cNvSpPr>
            <p:nvPr/>
          </p:nvSpPr>
          <p:spPr bwMode="auto">
            <a:xfrm>
              <a:off x="3770" y="1104"/>
              <a:ext cx="587" cy="182"/>
            </a:xfrm>
            <a:prstGeom prst="rect">
              <a:avLst/>
            </a:prstGeom>
            <a:noFill/>
            <a:ln w="9525">
              <a:noFill/>
              <a:miter lim="800000"/>
              <a:headEnd/>
              <a:tailEnd/>
            </a:ln>
          </p:spPr>
          <p:txBody>
            <a:bodyPr wrap="none" lIns="0" tIns="0" rIns="0" bIns="0">
              <a:spAutoFit/>
            </a:bodyPr>
            <a:lstStyle/>
            <a:p>
              <a:pPr defTabSz="862013" eaLnBrk="0" hangingPunct="0">
                <a:lnSpc>
                  <a:spcPct val="90000"/>
                </a:lnSpc>
                <a:spcBef>
                  <a:spcPct val="50000"/>
                </a:spcBef>
              </a:pPr>
              <a:r>
                <a:rPr lang="en-US" sz="2100" b="1">
                  <a:solidFill>
                    <a:srgbClr val="FF5050"/>
                  </a:solidFill>
                </a:rPr>
                <a:t>Phases</a:t>
              </a:r>
              <a:endParaRPr lang="en-US" sz="2300" b="1">
                <a:solidFill>
                  <a:srgbClr val="FF5050"/>
                </a:solidFill>
              </a:endParaRPr>
            </a:p>
          </p:txBody>
        </p:sp>
        <p:sp>
          <p:nvSpPr>
            <p:cNvPr id="170011" name="Rectangle 27"/>
            <p:cNvSpPr>
              <a:spLocks noChangeArrowheads="1"/>
            </p:cNvSpPr>
            <p:nvPr/>
          </p:nvSpPr>
          <p:spPr bwMode="auto">
            <a:xfrm>
              <a:off x="672" y="1304"/>
              <a:ext cx="1658" cy="173"/>
            </a:xfrm>
            <a:prstGeom prst="rect">
              <a:avLst/>
            </a:prstGeom>
            <a:noFill/>
            <a:ln w="9525">
              <a:noFill/>
              <a:miter lim="800000"/>
              <a:headEnd/>
              <a:tailEnd/>
            </a:ln>
          </p:spPr>
          <p:txBody>
            <a:bodyPr lIns="0" tIns="0" rIns="0" bIns="0">
              <a:spAutoFit/>
            </a:bodyPr>
            <a:lstStyle/>
            <a:p>
              <a:pPr defTabSz="862013" eaLnBrk="0" hangingPunct="0">
                <a:lnSpc>
                  <a:spcPct val="90000"/>
                </a:lnSpc>
                <a:spcBef>
                  <a:spcPct val="50000"/>
                </a:spcBef>
              </a:pPr>
              <a:r>
                <a:rPr lang="en-US" sz="2000" b="1">
                  <a:solidFill>
                    <a:schemeClr val="accent2"/>
                  </a:solidFill>
                </a:rPr>
                <a:t>Process Workflows</a:t>
              </a:r>
            </a:p>
          </p:txBody>
        </p:sp>
        <p:sp>
          <p:nvSpPr>
            <p:cNvPr id="170012" name="Rectangle 28"/>
            <p:cNvSpPr>
              <a:spLocks noChangeArrowheads="1"/>
            </p:cNvSpPr>
            <p:nvPr/>
          </p:nvSpPr>
          <p:spPr bwMode="auto">
            <a:xfrm>
              <a:off x="3735" y="4007"/>
              <a:ext cx="756" cy="182"/>
            </a:xfrm>
            <a:prstGeom prst="rect">
              <a:avLst/>
            </a:prstGeom>
            <a:noFill/>
            <a:ln w="9525">
              <a:noFill/>
              <a:miter lim="800000"/>
              <a:headEnd/>
              <a:tailEnd/>
            </a:ln>
          </p:spPr>
          <p:txBody>
            <a:bodyPr wrap="none" lIns="0" tIns="0" rIns="0" bIns="0">
              <a:spAutoFit/>
            </a:bodyPr>
            <a:lstStyle/>
            <a:p>
              <a:pPr defTabSz="862013" eaLnBrk="0" hangingPunct="0">
                <a:lnSpc>
                  <a:spcPct val="90000"/>
                </a:lnSpc>
                <a:spcBef>
                  <a:spcPct val="50000"/>
                </a:spcBef>
              </a:pPr>
              <a:r>
                <a:rPr lang="en-US" sz="2100" b="1">
                  <a:solidFill>
                    <a:srgbClr val="FF5050"/>
                  </a:solidFill>
                </a:rPr>
                <a:t>Iterations</a:t>
              </a:r>
              <a:endParaRPr lang="en-US" sz="2300" b="1">
                <a:solidFill>
                  <a:srgbClr val="FF5050"/>
                </a:solidFill>
              </a:endParaRPr>
            </a:p>
          </p:txBody>
        </p:sp>
        <p:sp>
          <p:nvSpPr>
            <p:cNvPr id="170013" name="Freeform 29"/>
            <p:cNvSpPr>
              <a:spLocks/>
            </p:cNvSpPr>
            <p:nvPr/>
          </p:nvSpPr>
          <p:spPr bwMode="auto">
            <a:xfrm>
              <a:off x="3199" y="3731"/>
              <a:ext cx="19" cy="162"/>
            </a:xfrm>
            <a:custGeom>
              <a:avLst/>
              <a:gdLst/>
              <a:ahLst/>
              <a:cxnLst>
                <a:cxn ang="0">
                  <a:pos x="11" y="192"/>
                </a:cxn>
                <a:cxn ang="0">
                  <a:pos x="21" y="192"/>
                </a:cxn>
                <a:cxn ang="0">
                  <a:pos x="21" y="0"/>
                </a:cxn>
                <a:cxn ang="0">
                  <a:pos x="0" y="0"/>
                </a:cxn>
                <a:cxn ang="0">
                  <a:pos x="0" y="192"/>
                </a:cxn>
                <a:cxn ang="0">
                  <a:pos x="11" y="192"/>
                </a:cxn>
              </a:cxnLst>
              <a:rect l="0" t="0" r="r" b="b"/>
              <a:pathLst>
                <a:path w="21" h="192">
                  <a:moveTo>
                    <a:pt x="11" y="192"/>
                  </a:moveTo>
                  <a:lnTo>
                    <a:pt x="21" y="192"/>
                  </a:lnTo>
                  <a:lnTo>
                    <a:pt x="21" y="0"/>
                  </a:lnTo>
                  <a:lnTo>
                    <a:pt x="0" y="0"/>
                  </a:lnTo>
                  <a:lnTo>
                    <a:pt x="0" y="192"/>
                  </a:lnTo>
                  <a:lnTo>
                    <a:pt x="11" y="192"/>
                  </a:lnTo>
                  <a:close/>
                </a:path>
              </a:pathLst>
            </a:custGeom>
            <a:solidFill>
              <a:schemeClr val="tx1"/>
            </a:solidFill>
            <a:ln w="6350" cmpd="sng">
              <a:solidFill>
                <a:schemeClr val="tx1"/>
              </a:solidFill>
              <a:round/>
              <a:headEnd/>
              <a:tailEnd/>
            </a:ln>
          </p:spPr>
          <p:txBody>
            <a:bodyPr/>
            <a:lstStyle/>
            <a:p>
              <a:endParaRPr lang="en-GB"/>
            </a:p>
          </p:txBody>
        </p:sp>
        <p:sp>
          <p:nvSpPr>
            <p:cNvPr id="170014" name="Rectangle 30"/>
            <p:cNvSpPr>
              <a:spLocks noChangeArrowheads="1"/>
            </p:cNvSpPr>
            <p:nvPr/>
          </p:nvSpPr>
          <p:spPr bwMode="auto">
            <a:xfrm>
              <a:off x="672" y="2932"/>
              <a:ext cx="1717" cy="173"/>
            </a:xfrm>
            <a:prstGeom prst="rect">
              <a:avLst/>
            </a:prstGeom>
            <a:noFill/>
            <a:ln w="9525">
              <a:noFill/>
              <a:miter lim="800000"/>
              <a:headEnd/>
              <a:tailEnd/>
            </a:ln>
          </p:spPr>
          <p:txBody>
            <a:bodyPr lIns="0" tIns="0" rIns="0" bIns="0">
              <a:spAutoFit/>
            </a:bodyPr>
            <a:lstStyle/>
            <a:p>
              <a:pPr defTabSz="862013" eaLnBrk="0" hangingPunct="0">
                <a:lnSpc>
                  <a:spcPct val="90000"/>
                </a:lnSpc>
                <a:spcBef>
                  <a:spcPct val="50000"/>
                </a:spcBef>
              </a:pPr>
              <a:r>
                <a:rPr lang="en-US" sz="2000" b="1">
                  <a:solidFill>
                    <a:schemeClr val="accent2"/>
                  </a:solidFill>
                </a:rPr>
                <a:t>Supporting Workflows</a:t>
              </a:r>
            </a:p>
          </p:txBody>
        </p:sp>
        <p:sp>
          <p:nvSpPr>
            <p:cNvPr id="170015" name="Line 31"/>
            <p:cNvSpPr>
              <a:spLocks noChangeShapeType="1"/>
            </p:cNvSpPr>
            <p:nvPr/>
          </p:nvSpPr>
          <p:spPr bwMode="auto">
            <a:xfrm flipH="1">
              <a:off x="4455" y="3725"/>
              <a:ext cx="1" cy="170"/>
            </a:xfrm>
            <a:prstGeom prst="line">
              <a:avLst/>
            </a:prstGeom>
            <a:noFill/>
            <a:ln w="0">
              <a:solidFill>
                <a:schemeClr val="tx1"/>
              </a:solidFill>
              <a:round/>
              <a:headEnd/>
              <a:tailEnd/>
            </a:ln>
          </p:spPr>
          <p:txBody>
            <a:bodyPr/>
            <a:lstStyle/>
            <a:p>
              <a:endParaRPr lang="en-GB"/>
            </a:p>
          </p:txBody>
        </p:sp>
        <p:sp>
          <p:nvSpPr>
            <p:cNvPr id="170016" name="Line 32"/>
            <p:cNvSpPr>
              <a:spLocks noChangeShapeType="1"/>
            </p:cNvSpPr>
            <p:nvPr/>
          </p:nvSpPr>
          <p:spPr bwMode="auto">
            <a:xfrm>
              <a:off x="4145" y="3726"/>
              <a:ext cx="0" cy="164"/>
            </a:xfrm>
            <a:prstGeom prst="line">
              <a:avLst/>
            </a:prstGeom>
            <a:noFill/>
            <a:ln w="0">
              <a:solidFill>
                <a:schemeClr val="tx1"/>
              </a:solidFill>
              <a:round/>
              <a:headEnd/>
              <a:tailEnd/>
            </a:ln>
          </p:spPr>
          <p:txBody>
            <a:bodyPr/>
            <a:lstStyle/>
            <a:p>
              <a:endParaRPr lang="en-GB"/>
            </a:p>
          </p:txBody>
        </p:sp>
        <p:sp>
          <p:nvSpPr>
            <p:cNvPr id="170017" name="Line 33"/>
            <p:cNvSpPr>
              <a:spLocks noChangeShapeType="1"/>
            </p:cNvSpPr>
            <p:nvPr/>
          </p:nvSpPr>
          <p:spPr bwMode="auto">
            <a:xfrm>
              <a:off x="3501" y="3726"/>
              <a:ext cx="1" cy="164"/>
            </a:xfrm>
            <a:prstGeom prst="line">
              <a:avLst/>
            </a:prstGeom>
            <a:noFill/>
            <a:ln w="0">
              <a:solidFill>
                <a:schemeClr val="tx1"/>
              </a:solidFill>
              <a:round/>
              <a:headEnd/>
              <a:tailEnd/>
            </a:ln>
          </p:spPr>
          <p:txBody>
            <a:bodyPr/>
            <a:lstStyle/>
            <a:p>
              <a:endParaRPr lang="en-GB"/>
            </a:p>
          </p:txBody>
        </p:sp>
        <p:sp>
          <p:nvSpPr>
            <p:cNvPr id="170018" name="Rectangle 34"/>
            <p:cNvSpPr>
              <a:spLocks noChangeArrowheads="1"/>
            </p:cNvSpPr>
            <p:nvPr/>
          </p:nvSpPr>
          <p:spPr bwMode="auto">
            <a:xfrm>
              <a:off x="3560" y="3738"/>
              <a:ext cx="209" cy="227"/>
            </a:xfrm>
            <a:prstGeom prst="rect">
              <a:avLst/>
            </a:prstGeom>
            <a:noFill/>
            <a:ln w="9525">
              <a:noFill/>
              <a:miter lim="800000"/>
              <a:headEnd/>
              <a:tailEnd/>
            </a:ln>
          </p:spPr>
          <p:txBody>
            <a:bodyPr wrap="none" lIns="0" tIns="0" rIns="0" bIns="0">
              <a:spAutoFit/>
            </a:bodyPr>
            <a:lstStyle/>
            <a:p>
              <a:pPr algn="ctr" defTabSz="862013" eaLnBrk="0" hangingPunct="0">
                <a:lnSpc>
                  <a:spcPct val="90000"/>
                </a:lnSpc>
                <a:spcBef>
                  <a:spcPct val="50000"/>
                </a:spcBef>
              </a:pPr>
              <a:r>
                <a:rPr lang="en-US" sz="1300"/>
                <a:t> Iter.</a:t>
              </a:r>
              <a:br>
                <a:rPr lang="en-US" sz="1300"/>
              </a:br>
              <a:r>
                <a:rPr lang="en-US" sz="1300"/>
                <a:t>#2</a:t>
              </a:r>
            </a:p>
          </p:txBody>
        </p:sp>
        <p:sp>
          <p:nvSpPr>
            <p:cNvPr id="170019" name="Rectangle 35"/>
            <p:cNvSpPr>
              <a:spLocks noChangeArrowheads="1"/>
            </p:cNvSpPr>
            <p:nvPr/>
          </p:nvSpPr>
          <p:spPr bwMode="auto">
            <a:xfrm>
              <a:off x="3838" y="3738"/>
              <a:ext cx="277" cy="227"/>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300"/>
                <a:t> Iter.</a:t>
              </a:r>
              <a:br>
                <a:rPr lang="en-US" sz="1300"/>
              </a:br>
              <a:r>
                <a:rPr lang="en-US" sz="1300"/>
                <a:t>#n</a:t>
              </a:r>
            </a:p>
          </p:txBody>
        </p:sp>
        <p:sp>
          <p:nvSpPr>
            <p:cNvPr id="170020" name="Rectangle 36"/>
            <p:cNvSpPr>
              <a:spLocks noChangeArrowheads="1"/>
            </p:cNvSpPr>
            <p:nvPr/>
          </p:nvSpPr>
          <p:spPr bwMode="auto">
            <a:xfrm>
              <a:off x="4173" y="3738"/>
              <a:ext cx="253" cy="227"/>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300"/>
                <a:t> Iter.</a:t>
              </a:r>
              <a:br>
                <a:rPr lang="en-US" sz="1300"/>
              </a:br>
              <a:r>
                <a:rPr lang="en-US" sz="1300"/>
                <a:t>#n+1</a:t>
              </a:r>
            </a:p>
          </p:txBody>
        </p:sp>
        <p:sp>
          <p:nvSpPr>
            <p:cNvPr id="170021" name="Rectangle 37"/>
            <p:cNvSpPr>
              <a:spLocks noChangeArrowheads="1"/>
            </p:cNvSpPr>
            <p:nvPr/>
          </p:nvSpPr>
          <p:spPr bwMode="auto">
            <a:xfrm>
              <a:off x="4471" y="3738"/>
              <a:ext cx="242" cy="227"/>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300"/>
                <a:t> Iter.</a:t>
              </a:r>
              <a:br>
                <a:rPr lang="en-US" sz="1300"/>
              </a:br>
              <a:r>
                <a:rPr lang="en-US" sz="1300"/>
                <a:t>#n+2</a:t>
              </a:r>
            </a:p>
          </p:txBody>
        </p:sp>
        <p:sp>
          <p:nvSpPr>
            <p:cNvPr id="170022" name="Rectangle 38"/>
            <p:cNvSpPr>
              <a:spLocks noChangeArrowheads="1"/>
            </p:cNvSpPr>
            <p:nvPr/>
          </p:nvSpPr>
          <p:spPr bwMode="auto">
            <a:xfrm>
              <a:off x="4778" y="3738"/>
              <a:ext cx="313" cy="227"/>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300"/>
                <a:t> Iter.</a:t>
              </a:r>
              <a:br>
                <a:rPr lang="en-US" sz="1300"/>
              </a:br>
              <a:r>
                <a:rPr lang="en-US" sz="1300"/>
                <a:t>#m</a:t>
              </a:r>
            </a:p>
          </p:txBody>
        </p:sp>
        <p:sp>
          <p:nvSpPr>
            <p:cNvPr id="170023" name="Rectangle 39"/>
            <p:cNvSpPr>
              <a:spLocks noChangeArrowheads="1"/>
            </p:cNvSpPr>
            <p:nvPr/>
          </p:nvSpPr>
          <p:spPr bwMode="auto">
            <a:xfrm>
              <a:off x="5130" y="3738"/>
              <a:ext cx="276" cy="227"/>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300"/>
                <a:t> Iter.</a:t>
              </a:r>
              <a:br>
                <a:rPr lang="en-US" sz="1300"/>
              </a:br>
              <a:r>
                <a:rPr lang="en-US" sz="1300"/>
                <a:t>#m+1</a:t>
              </a:r>
            </a:p>
          </p:txBody>
        </p:sp>
        <p:sp>
          <p:nvSpPr>
            <p:cNvPr id="170024" name="Rectangle 40"/>
            <p:cNvSpPr>
              <a:spLocks noChangeArrowheads="1"/>
            </p:cNvSpPr>
            <p:nvPr/>
          </p:nvSpPr>
          <p:spPr bwMode="auto">
            <a:xfrm>
              <a:off x="1720" y="2707"/>
              <a:ext cx="824" cy="155"/>
            </a:xfrm>
            <a:prstGeom prst="rect">
              <a:avLst/>
            </a:prstGeom>
            <a:noFill/>
            <a:ln w="9525">
              <a:noFill/>
              <a:miter lim="800000"/>
              <a:headEnd/>
              <a:tailEnd/>
            </a:ln>
          </p:spPr>
          <p:txBody>
            <a:bodyPr wrap="none" lIns="0" tIns="0" rIns="0" bIns="0">
              <a:spAutoFit/>
            </a:bodyPr>
            <a:lstStyle/>
            <a:p>
              <a:pPr algn="r" defTabSz="862013" eaLnBrk="0" hangingPunct="0">
                <a:lnSpc>
                  <a:spcPct val="90000"/>
                </a:lnSpc>
                <a:spcBef>
                  <a:spcPct val="50000"/>
                </a:spcBef>
              </a:pPr>
              <a:r>
                <a:rPr lang="en-US" b="1"/>
                <a:t>Deployment</a:t>
              </a:r>
              <a:endParaRPr lang="en-US" sz="2300" b="1"/>
            </a:p>
          </p:txBody>
        </p:sp>
        <p:sp>
          <p:nvSpPr>
            <p:cNvPr id="170025" name="Freeform 41"/>
            <p:cNvSpPr>
              <a:spLocks/>
            </p:cNvSpPr>
            <p:nvPr/>
          </p:nvSpPr>
          <p:spPr bwMode="auto">
            <a:xfrm>
              <a:off x="3265" y="2689"/>
              <a:ext cx="2106" cy="119"/>
            </a:xfrm>
            <a:custGeom>
              <a:avLst/>
              <a:gdLst/>
              <a:ahLst/>
              <a:cxnLst>
                <a:cxn ang="0">
                  <a:pos x="0" y="141"/>
                </a:cxn>
                <a:cxn ang="0">
                  <a:pos x="169" y="139"/>
                </a:cxn>
                <a:cxn ang="0">
                  <a:pos x="254" y="141"/>
                </a:cxn>
                <a:cxn ang="0">
                  <a:pos x="343" y="141"/>
                </a:cxn>
                <a:cxn ang="0">
                  <a:pos x="430" y="139"/>
                </a:cxn>
                <a:cxn ang="0">
                  <a:pos x="520" y="139"/>
                </a:cxn>
                <a:cxn ang="0">
                  <a:pos x="607" y="136"/>
                </a:cxn>
                <a:cxn ang="0">
                  <a:pos x="671" y="141"/>
                </a:cxn>
                <a:cxn ang="0">
                  <a:pos x="712" y="141"/>
                </a:cxn>
                <a:cxn ang="0">
                  <a:pos x="802" y="139"/>
                </a:cxn>
                <a:cxn ang="0">
                  <a:pos x="905" y="141"/>
                </a:cxn>
                <a:cxn ang="0">
                  <a:pos x="1000" y="139"/>
                </a:cxn>
                <a:cxn ang="0">
                  <a:pos x="1089" y="141"/>
                </a:cxn>
                <a:cxn ang="0">
                  <a:pos x="1300" y="141"/>
                </a:cxn>
                <a:cxn ang="0">
                  <a:pos x="1389" y="134"/>
                </a:cxn>
                <a:cxn ang="0">
                  <a:pos x="1435" y="128"/>
                </a:cxn>
                <a:cxn ang="0">
                  <a:pos x="1459" y="126"/>
                </a:cxn>
                <a:cxn ang="0">
                  <a:pos x="1612" y="95"/>
                </a:cxn>
                <a:cxn ang="0">
                  <a:pos x="1733" y="59"/>
                </a:cxn>
                <a:cxn ang="0">
                  <a:pos x="1861" y="36"/>
                </a:cxn>
                <a:cxn ang="0">
                  <a:pos x="2205" y="0"/>
                </a:cxn>
                <a:cxn ang="0">
                  <a:pos x="2340" y="23"/>
                </a:cxn>
                <a:cxn ang="0">
                  <a:pos x="2412" y="75"/>
                </a:cxn>
                <a:cxn ang="0">
                  <a:pos x="2440" y="141"/>
                </a:cxn>
                <a:cxn ang="0">
                  <a:pos x="0" y="141"/>
                </a:cxn>
              </a:cxnLst>
              <a:rect l="0" t="0" r="r" b="b"/>
              <a:pathLst>
                <a:path w="2440" h="141">
                  <a:moveTo>
                    <a:pt x="0" y="141"/>
                  </a:moveTo>
                  <a:lnTo>
                    <a:pt x="169" y="139"/>
                  </a:lnTo>
                  <a:lnTo>
                    <a:pt x="254" y="141"/>
                  </a:lnTo>
                  <a:lnTo>
                    <a:pt x="343" y="141"/>
                  </a:lnTo>
                  <a:lnTo>
                    <a:pt x="430" y="139"/>
                  </a:lnTo>
                  <a:lnTo>
                    <a:pt x="520" y="139"/>
                  </a:lnTo>
                  <a:lnTo>
                    <a:pt x="607" y="136"/>
                  </a:lnTo>
                  <a:lnTo>
                    <a:pt x="671" y="141"/>
                  </a:lnTo>
                  <a:lnTo>
                    <a:pt x="712" y="141"/>
                  </a:lnTo>
                  <a:lnTo>
                    <a:pt x="802" y="139"/>
                  </a:lnTo>
                  <a:lnTo>
                    <a:pt x="905" y="141"/>
                  </a:lnTo>
                  <a:lnTo>
                    <a:pt x="1000" y="139"/>
                  </a:lnTo>
                  <a:lnTo>
                    <a:pt x="1089" y="141"/>
                  </a:lnTo>
                  <a:lnTo>
                    <a:pt x="1300" y="141"/>
                  </a:lnTo>
                  <a:lnTo>
                    <a:pt x="1389" y="134"/>
                  </a:lnTo>
                  <a:lnTo>
                    <a:pt x="1435" y="128"/>
                  </a:lnTo>
                  <a:lnTo>
                    <a:pt x="1459" y="126"/>
                  </a:lnTo>
                  <a:lnTo>
                    <a:pt x="1612" y="95"/>
                  </a:lnTo>
                  <a:lnTo>
                    <a:pt x="1733" y="59"/>
                  </a:lnTo>
                  <a:lnTo>
                    <a:pt x="1861" y="36"/>
                  </a:lnTo>
                  <a:lnTo>
                    <a:pt x="2205" y="0"/>
                  </a:lnTo>
                  <a:lnTo>
                    <a:pt x="2340" y="23"/>
                  </a:lnTo>
                  <a:lnTo>
                    <a:pt x="2412" y="75"/>
                  </a:lnTo>
                  <a:lnTo>
                    <a:pt x="2440" y="141"/>
                  </a:lnTo>
                  <a:lnTo>
                    <a:pt x="0" y="141"/>
                  </a:lnTo>
                  <a:close/>
                </a:path>
              </a:pathLst>
            </a:custGeom>
            <a:solidFill>
              <a:srgbClr val="A1D8FD"/>
            </a:solidFill>
            <a:ln w="0">
              <a:solidFill>
                <a:srgbClr val="000000"/>
              </a:solidFill>
              <a:round/>
              <a:headEnd/>
              <a:tailEnd/>
            </a:ln>
          </p:spPr>
          <p:txBody>
            <a:bodyPr/>
            <a:lstStyle/>
            <a:p>
              <a:endParaRPr lang="en-GB"/>
            </a:p>
          </p:txBody>
        </p:sp>
        <p:sp>
          <p:nvSpPr>
            <p:cNvPr id="170026" name="Freeform 42"/>
            <p:cNvSpPr>
              <a:spLocks/>
            </p:cNvSpPr>
            <p:nvPr/>
          </p:nvSpPr>
          <p:spPr bwMode="auto">
            <a:xfrm>
              <a:off x="2688" y="1609"/>
              <a:ext cx="2706" cy="94"/>
            </a:xfrm>
            <a:custGeom>
              <a:avLst/>
              <a:gdLst/>
              <a:ahLst/>
              <a:cxnLst>
                <a:cxn ang="0">
                  <a:pos x="0" y="63"/>
                </a:cxn>
                <a:cxn ang="0">
                  <a:pos x="45" y="50"/>
                </a:cxn>
                <a:cxn ang="0">
                  <a:pos x="81" y="36"/>
                </a:cxn>
                <a:cxn ang="0">
                  <a:pos x="210" y="0"/>
                </a:cxn>
                <a:cxn ang="0">
                  <a:pos x="531" y="8"/>
                </a:cxn>
                <a:cxn ang="0">
                  <a:pos x="678" y="25"/>
                </a:cxn>
                <a:cxn ang="0">
                  <a:pos x="765" y="36"/>
                </a:cxn>
                <a:cxn ang="0">
                  <a:pos x="843" y="47"/>
                </a:cxn>
                <a:cxn ang="0">
                  <a:pos x="903" y="57"/>
                </a:cxn>
                <a:cxn ang="0">
                  <a:pos x="990" y="53"/>
                </a:cxn>
                <a:cxn ang="0">
                  <a:pos x="1104" y="47"/>
                </a:cxn>
                <a:cxn ang="0">
                  <a:pos x="1377" y="53"/>
                </a:cxn>
                <a:cxn ang="0">
                  <a:pos x="1671" y="58"/>
                </a:cxn>
                <a:cxn ang="0">
                  <a:pos x="1899" y="63"/>
                </a:cxn>
                <a:cxn ang="0">
                  <a:pos x="0" y="63"/>
                </a:cxn>
              </a:cxnLst>
              <a:rect l="0" t="0" r="r" b="b"/>
              <a:pathLst>
                <a:path w="1911" h="63">
                  <a:moveTo>
                    <a:pt x="0" y="63"/>
                  </a:moveTo>
                  <a:cubicBezTo>
                    <a:pt x="16" y="61"/>
                    <a:pt x="29" y="55"/>
                    <a:pt x="45" y="50"/>
                  </a:cubicBezTo>
                  <a:cubicBezTo>
                    <a:pt x="56" y="46"/>
                    <a:pt x="70" y="40"/>
                    <a:pt x="81" y="36"/>
                  </a:cubicBezTo>
                  <a:cubicBezTo>
                    <a:pt x="123" y="23"/>
                    <a:pt x="167" y="10"/>
                    <a:pt x="210" y="0"/>
                  </a:cubicBezTo>
                  <a:cubicBezTo>
                    <a:pt x="321" y="2"/>
                    <a:pt x="425" y="4"/>
                    <a:pt x="531" y="8"/>
                  </a:cubicBezTo>
                  <a:cubicBezTo>
                    <a:pt x="609" y="17"/>
                    <a:pt x="624" y="23"/>
                    <a:pt x="678" y="25"/>
                  </a:cubicBezTo>
                  <a:cubicBezTo>
                    <a:pt x="707" y="29"/>
                    <a:pt x="737" y="30"/>
                    <a:pt x="765" y="36"/>
                  </a:cubicBezTo>
                  <a:cubicBezTo>
                    <a:pt x="788" y="41"/>
                    <a:pt x="819" y="46"/>
                    <a:pt x="843" y="47"/>
                  </a:cubicBezTo>
                  <a:cubicBezTo>
                    <a:pt x="876" y="51"/>
                    <a:pt x="879" y="56"/>
                    <a:pt x="903" y="57"/>
                  </a:cubicBezTo>
                  <a:cubicBezTo>
                    <a:pt x="909" y="55"/>
                    <a:pt x="990" y="53"/>
                    <a:pt x="990" y="53"/>
                  </a:cubicBezTo>
                  <a:cubicBezTo>
                    <a:pt x="1013" y="51"/>
                    <a:pt x="1040" y="47"/>
                    <a:pt x="1104" y="47"/>
                  </a:cubicBezTo>
                  <a:cubicBezTo>
                    <a:pt x="1200" y="50"/>
                    <a:pt x="1280" y="51"/>
                    <a:pt x="1377" y="53"/>
                  </a:cubicBezTo>
                  <a:cubicBezTo>
                    <a:pt x="1471" y="55"/>
                    <a:pt x="1569" y="57"/>
                    <a:pt x="1671" y="58"/>
                  </a:cubicBezTo>
                  <a:cubicBezTo>
                    <a:pt x="1800" y="59"/>
                    <a:pt x="1911" y="63"/>
                    <a:pt x="1899" y="63"/>
                  </a:cubicBezTo>
                  <a:cubicBezTo>
                    <a:pt x="870" y="63"/>
                    <a:pt x="0" y="63"/>
                    <a:pt x="0" y="63"/>
                  </a:cubicBezTo>
                  <a:close/>
                </a:path>
              </a:pathLst>
            </a:custGeom>
            <a:solidFill>
              <a:srgbClr val="A1D8FD"/>
            </a:solidFill>
            <a:ln w="0">
              <a:solidFill>
                <a:srgbClr val="000000"/>
              </a:solidFill>
              <a:round/>
              <a:headEnd/>
              <a:tailEnd/>
            </a:ln>
            <a:effectLst/>
          </p:spPr>
          <p:txBody>
            <a:bodyPr wrap="none" anchor="ctr"/>
            <a:lstStyle/>
            <a:p>
              <a:endParaRPr lang="en-GB"/>
            </a:p>
          </p:txBody>
        </p:sp>
        <p:sp>
          <p:nvSpPr>
            <p:cNvPr id="170027" name="Freeform 43"/>
            <p:cNvSpPr>
              <a:spLocks/>
            </p:cNvSpPr>
            <p:nvPr/>
          </p:nvSpPr>
          <p:spPr bwMode="auto">
            <a:xfrm>
              <a:off x="2659" y="3181"/>
              <a:ext cx="2747" cy="111"/>
            </a:xfrm>
            <a:custGeom>
              <a:avLst/>
              <a:gdLst/>
              <a:ahLst/>
              <a:cxnLst>
                <a:cxn ang="0">
                  <a:pos x="0" y="140"/>
                </a:cxn>
                <a:cxn ang="0">
                  <a:pos x="64" y="123"/>
                </a:cxn>
                <a:cxn ang="0">
                  <a:pos x="808" y="90"/>
                </a:cxn>
                <a:cxn ang="0">
                  <a:pos x="1171" y="42"/>
                </a:cxn>
                <a:cxn ang="0">
                  <a:pos x="1508" y="20"/>
                </a:cxn>
                <a:cxn ang="0">
                  <a:pos x="1578" y="9"/>
                </a:cxn>
                <a:cxn ang="0">
                  <a:pos x="2147" y="0"/>
                </a:cxn>
                <a:cxn ang="0">
                  <a:pos x="2789" y="86"/>
                </a:cxn>
                <a:cxn ang="0">
                  <a:pos x="3080" y="140"/>
                </a:cxn>
                <a:cxn ang="0">
                  <a:pos x="0" y="140"/>
                </a:cxn>
              </a:cxnLst>
              <a:rect l="0" t="0" r="r" b="b"/>
              <a:pathLst>
                <a:path w="3080" h="140">
                  <a:moveTo>
                    <a:pt x="0" y="140"/>
                  </a:moveTo>
                  <a:lnTo>
                    <a:pt x="64" y="123"/>
                  </a:lnTo>
                  <a:lnTo>
                    <a:pt x="808" y="90"/>
                  </a:lnTo>
                  <a:lnTo>
                    <a:pt x="1171" y="42"/>
                  </a:lnTo>
                  <a:lnTo>
                    <a:pt x="1508" y="20"/>
                  </a:lnTo>
                  <a:lnTo>
                    <a:pt x="1578" y="9"/>
                  </a:lnTo>
                  <a:lnTo>
                    <a:pt x="2147" y="0"/>
                  </a:lnTo>
                  <a:lnTo>
                    <a:pt x="2789" y="86"/>
                  </a:lnTo>
                  <a:lnTo>
                    <a:pt x="3080" y="140"/>
                  </a:lnTo>
                  <a:lnTo>
                    <a:pt x="0" y="140"/>
                  </a:lnTo>
                  <a:close/>
                </a:path>
              </a:pathLst>
            </a:custGeom>
            <a:solidFill>
              <a:srgbClr val="A1D8FD"/>
            </a:solidFill>
            <a:ln w="0">
              <a:solidFill>
                <a:srgbClr val="000000"/>
              </a:solidFill>
              <a:round/>
              <a:headEnd/>
              <a:tailEnd/>
            </a:ln>
            <a:effectLst/>
          </p:spPr>
          <p:txBody>
            <a:bodyPr wrap="none" anchor="ctr"/>
            <a:lstStyle/>
            <a:p>
              <a:endParaRPr lang="en-GB"/>
            </a:p>
          </p:txBody>
        </p:sp>
        <p:sp>
          <p:nvSpPr>
            <p:cNvPr id="170028" name="Freeform 44"/>
            <p:cNvSpPr>
              <a:spLocks/>
            </p:cNvSpPr>
            <p:nvPr/>
          </p:nvSpPr>
          <p:spPr bwMode="auto">
            <a:xfrm>
              <a:off x="3810" y="3732"/>
              <a:ext cx="18" cy="162"/>
            </a:xfrm>
            <a:custGeom>
              <a:avLst/>
              <a:gdLst/>
              <a:ahLst/>
              <a:cxnLst>
                <a:cxn ang="0">
                  <a:pos x="11" y="192"/>
                </a:cxn>
                <a:cxn ang="0">
                  <a:pos x="21" y="192"/>
                </a:cxn>
                <a:cxn ang="0">
                  <a:pos x="21" y="0"/>
                </a:cxn>
                <a:cxn ang="0">
                  <a:pos x="0" y="0"/>
                </a:cxn>
                <a:cxn ang="0">
                  <a:pos x="0" y="192"/>
                </a:cxn>
                <a:cxn ang="0">
                  <a:pos x="11" y="192"/>
                </a:cxn>
              </a:cxnLst>
              <a:rect l="0" t="0" r="r" b="b"/>
              <a:pathLst>
                <a:path w="21" h="192">
                  <a:moveTo>
                    <a:pt x="11" y="192"/>
                  </a:moveTo>
                  <a:lnTo>
                    <a:pt x="21" y="192"/>
                  </a:lnTo>
                  <a:lnTo>
                    <a:pt x="21" y="0"/>
                  </a:lnTo>
                  <a:lnTo>
                    <a:pt x="0" y="0"/>
                  </a:lnTo>
                  <a:lnTo>
                    <a:pt x="0" y="192"/>
                  </a:lnTo>
                  <a:lnTo>
                    <a:pt x="11" y="192"/>
                  </a:lnTo>
                  <a:close/>
                </a:path>
              </a:pathLst>
            </a:custGeom>
            <a:solidFill>
              <a:schemeClr val="tx1"/>
            </a:solidFill>
            <a:ln w="6350" cmpd="sng">
              <a:solidFill>
                <a:schemeClr val="tx1"/>
              </a:solidFill>
              <a:round/>
              <a:headEnd/>
              <a:tailEnd/>
            </a:ln>
          </p:spPr>
          <p:txBody>
            <a:bodyPr/>
            <a:lstStyle/>
            <a:p>
              <a:endParaRPr lang="en-GB"/>
            </a:p>
          </p:txBody>
        </p:sp>
        <p:sp>
          <p:nvSpPr>
            <p:cNvPr id="170029" name="Freeform 45"/>
            <p:cNvSpPr>
              <a:spLocks/>
            </p:cNvSpPr>
            <p:nvPr/>
          </p:nvSpPr>
          <p:spPr bwMode="auto">
            <a:xfrm>
              <a:off x="4727" y="3733"/>
              <a:ext cx="18" cy="162"/>
            </a:xfrm>
            <a:custGeom>
              <a:avLst/>
              <a:gdLst/>
              <a:ahLst/>
              <a:cxnLst>
                <a:cxn ang="0">
                  <a:pos x="11" y="192"/>
                </a:cxn>
                <a:cxn ang="0">
                  <a:pos x="21" y="192"/>
                </a:cxn>
                <a:cxn ang="0">
                  <a:pos x="21" y="0"/>
                </a:cxn>
                <a:cxn ang="0">
                  <a:pos x="0" y="0"/>
                </a:cxn>
                <a:cxn ang="0">
                  <a:pos x="0" y="192"/>
                </a:cxn>
                <a:cxn ang="0">
                  <a:pos x="11" y="192"/>
                </a:cxn>
              </a:cxnLst>
              <a:rect l="0" t="0" r="r" b="b"/>
              <a:pathLst>
                <a:path w="21" h="192">
                  <a:moveTo>
                    <a:pt x="11" y="192"/>
                  </a:moveTo>
                  <a:lnTo>
                    <a:pt x="21" y="192"/>
                  </a:lnTo>
                  <a:lnTo>
                    <a:pt x="21" y="0"/>
                  </a:lnTo>
                  <a:lnTo>
                    <a:pt x="0" y="0"/>
                  </a:lnTo>
                  <a:lnTo>
                    <a:pt x="0" y="192"/>
                  </a:lnTo>
                  <a:lnTo>
                    <a:pt x="11" y="192"/>
                  </a:lnTo>
                  <a:close/>
                </a:path>
              </a:pathLst>
            </a:custGeom>
            <a:solidFill>
              <a:schemeClr val="tx1"/>
            </a:solidFill>
            <a:ln w="6350" cmpd="sng">
              <a:solidFill>
                <a:schemeClr val="tx1"/>
              </a:solidFill>
              <a:round/>
              <a:headEnd/>
              <a:tailEnd/>
            </a:ln>
          </p:spPr>
          <p:txBody>
            <a:bodyPr/>
            <a:lstStyle/>
            <a:p>
              <a:endParaRPr lang="en-GB"/>
            </a:p>
          </p:txBody>
        </p:sp>
        <p:sp>
          <p:nvSpPr>
            <p:cNvPr id="170030" name="Rectangle 46"/>
            <p:cNvSpPr>
              <a:spLocks noChangeArrowheads="1"/>
            </p:cNvSpPr>
            <p:nvPr/>
          </p:nvSpPr>
          <p:spPr bwMode="auto">
            <a:xfrm>
              <a:off x="421" y="3175"/>
              <a:ext cx="2080" cy="156"/>
            </a:xfrm>
            <a:prstGeom prst="rect">
              <a:avLst/>
            </a:prstGeom>
            <a:noFill/>
            <a:ln w="9525">
              <a:noFill/>
              <a:miter lim="800000"/>
              <a:headEnd/>
              <a:tailEnd/>
            </a:ln>
          </p:spPr>
          <p:txBody>
            <a:bodyPr wrap="none" lIns="0" tIns="0" rIns="0" bIns="0">
              <a:spAutoFit/>
            </a:bodyPr>
            <a:lstStyle/>
            <a:p>
              <a:pPr defTabSz="862013" eaLnBrk="0" hangingPunct="0">
                <a:lnSpc>
                  <a:spcPct val="90000"/>
                </a:lnSpc>
                <a:spcBef>
                  <a:spcPct val="50000"/>
                </a:spcBef>
              </a:pPr>
              <a:r>
                <a:rPr lang="en-US" b="1"/>
                <a:t>Configuration &amp; Change Mgmt</a:t>
              </a:r>
            </a:p>
          </p:txBody>
        </p:sp>
        <p:sp>
          <p:nvSpPr>
            <p:cNvPr id="170031" name="Rectangle 47"/>
            <p:cNvSpPr>
              <a:spLocks noChangeArrowheads="1"/>
            </p:cNvSpPr>
            <p:nvPr/>
          </p:nvSpPr>
          <p:spPr bwMode="auto">
            <a:xfrm>
              <a:off x="1423" y="1816"/>
              <a:ext cx="1121" cy="155"/>
            </a:xfrm>
            <a:prstGeom prst="rect">
              <a:avLst/>
            </a:prstGeom>
            <a:noFill/>
            <a:ln w="9525">
              <a:noFill/>
              <a:miter lim="800000"/>
              <a:headEnd/>
              <a:tailEnd/>
            </a:ln>
          </p:spPr>
          <p:txBody>
            <a:bodyPr lIns="0" tIns="0" rIns="0" bIns="0">
              <a:spAutoFit/>
            </a:bodyPr>
            <a:lstStyle/>
            <a:p>
              <a:pPr algn="r" defTabSz="862013" eaLnBrk="0" hangingPunct="0">
                <a:lnSpc>
                  <a:spcPct val="90000"/>
                </a:lnSpc>
                <a:spcBef>
                  <a:spcPct val="50000"/>
                </a:spcBef>
              </a:pPr>
              <a:r>
                <a:rPr lang="en-US" b="1"/>
                <a:t>Requirements</a:t>
              </a:r>
              <a:endParaRPr lang="en-US" sz="2300" b="1"/>
            </a:p>
          </p:txBody>
        </p:sp>
        <p:sp>
          <p:nvSpPr>
            <p:cNvPr id="170032" name="Freeform 48"/>
            <p:cNvSpPr>
              <a:spLocks/>
            </p:cNvSpPr>
            <p:nvPr/>
          </p:nvSpPr>
          <p:spPr bwMode="auto">
            <a:xfrm>
              <a:off x="3243" y="1329"/>
              <a:ext cx="573" cy="184"/>
            </a:xfrm>
            <a:custGeom>
              <a:avLst/>
              <a:gdLst/>
              <a:ahLst/>
              <a:cxnLst>
                <a:cxn ang="0">
                  <a:pos x="664" y="0"/>
                </a:cxn>
                <a:cxn ang="0">
                  <a:pos x="664" y="218"/>
                </a:cxn>
                <a:cxn ang="0">
                  <a:pos x="0" y="218"/>
                </a:cxn>
              </a:cxnLst>
              <a:rect l="0" t="0" r="r" b="b"/>
              <a:pathLst>
                <a:path w="664" h="218">
                  <a:moveTo>
                    <a:pt x="664" y="0"/>
                  </a:moveTo>
                  <a:lnTo>
                    <a:pt x="664" y="218"/>
                  </a:lnTo>
                  <a:lnTo>
                    <a:pt x="0" y="218"/>
                  </a:lnTo>
                </a:path>
              </a:pathLst>
            </a:custGeom>
            <a:noFill/>
            <a:ln w="0">
              <a:noFill/>
              <a:prstDash val="solid"/>
              <a:round/>
              <a:headEnd/>
              <a:tailEnd/>
            </a:ln>
          </p:spPr>
          <p:txBody>
            <a:bodyPr/>
            <a:lstStyle/>
            <a:p>
              <a:endParaRPr lang="en-GB"/>
            </a:p>
          </p:txBody>
        </p:sp>
        <p:sp>
          <p:nvSpPr>
            <p:cNvPr id="170033" name="Freeform 49"/>
            <p:cNvSpPr>
              <a:spLocks/>
            </p:cNvSpPr>
            <p:nvPr/>
          </p:nvSpPr>
          <p:spPr bwMode="auto">
            <a:xfrm>
              <a:off x="3856" y="1329"/>
              <a:ext cx="887" cy="184"/>
            </a:xfrm>
            <a:custGeom>
              <a:avLst/>
              <a:gdLst/>
              <a:ahLst/>
              <a:cxnLst>
                <a:cxn ang="0">
                  <a:pos x="1028" y="0"/>
                </a:cxn>
                <a:cxn ang="0">
                  <a:pos x="1028" y="218"/>
                </a:cxn>
                <a:cxn ang="0">
                  <a:pos x="0" y="218"/>
                </a:cxn>
              </a:cxnLst>
              <a:rect l="0" t="0" r="r" b="b"/>
              <a:pathLst>
                <a:path w="1028" h="218">
                  <a:moveTo>
                    <a:pt x="1028" y="0"/>
                  </a:moveTo>
                  <a:lnTo>
                    <a:pt x="1028" y="218"/>
                  </a:lnTo>
                  <a:lnTo>
                    <a:pt x="0" y="218"/>
                  </a:lnTo>
                </a:path>
              </a:pathLst>
            </a:custGeom>
            <a:noFill/>
            <a:ln w="0">
              <a:noFill/>
              <a:prstDash val="solid"/>
              <a:round/>
              <a:headEnd/>
              <a:tailEnd/>
            </a:ln>
          </p:spPr>
          <p:txBody>
            <a:bodyPr/>
            <a:lstStyle/>
            <a:p>
              <a:endParaRPr lang="en-GB"/>
            </a:p>
          </p:txBody>
        </p:sp>
        <p:sp>
          <p:nvSpPr>
            <p:cNvPr id="170034" name="Freeform 50"/>
            <p:cNvSpPr>
              <a:spLocks/>
            </p:cNvSpPr>
            <p:nvPr/>
          </p:nvSpPr>
          <p:spPr bwMode="auto">
            <a:xfrm>
              <a:off x="4781" y="1329"/>
              <a:ext cx="657" cy="184"/>
            </a:xfrm>
            <a:custGeom>
              <a:avLst/>
              <a:gdLst/>
              <a:ahLst/>
              <a:cxnLst>
                <a:cxn ang="0">
                  <a:pos x="761" y="0"/>
                </a:cxn>
                <a:cxn ang="0">
                  <a:pos x="761" y="218"/>
                </a:cxn>
                <a:cxn ang="0">
                  <a:pos x="0" y="218"/>
                </a:cxn>
              </a:cxnLst>
              <a:rect l="0" t="0" r="r" b="b"/>
              <a:pathLst>
                <a:path w="761" h="218">
                  <a:moveTo>
                    <a:pt x="761" y="0"/>
                  </a:moveTo>
                  <a:lnTo>
                    <a:pt x="761" y="218"/>
                  </a:lnTo>
                  <a:lnTo>
                    <a:pt x="0" y="218"/>
                  </a:lnTo>
                </a:path>
              </a:pathLst>
            </a:custGeom>
            <a:noFill/>
            <a:ln w="0">
              <a:noFill/>
              <a:prstDash val="solid"/>
              <a:round/>
              <a:headEnd/>
              <a:tailEnd/>
            </a:ln>
          </p:spPr>
          <p:txBody>
            <a:bodyPr/>
            <a:lstStyle/>
            <a:p>
              <a:endParaRPr lang="en-GB"/>
            </a:p>
          </p:txBody>
        </p:sp>
        <p:sp>
          <p:nvSpPr>
            <p:cNvPr id="170035" name="Rectangle 51"/>
            <p:cNvSpPr>
              <a:spLocks noChangeArrowheads="1"/>
            </p:cNvSpPr>
            <p:nvPr/>
          </p:nvSpPr>
          <p:spPr bwMode="auto">
            <a:xfrm>
              <a:off x="3205" y="1351"/>
              <a:ext cx="614" cy="121"/>
            </a:xfrm>
            <a:prstGeom prst="rect">
              <a:avLst/>
            </a:prstGeom>
            <a:noFill/>
            <a:ln w="9525">
              <a:noFill/>
              <a:miter lim="800000"/>
              <a:headEnd/>
              <a:tailEnd/>
            </a:ln>
          </p:spPr>
          <p:txBody>
            <a:bodyPr wrap="none" lIns="0" tIns="0" rIns="0" bIns="0">
              <a:spAutoFit/>
            </a:bodyPr>
            <a:lstStyle/>
            <a:p>
              <a:pPr algn="ctr" defTabSz="862013" eaLnBrk="0" hangingPunct="0">
                <a:lnSpc>
                  <a:spcPct val="90000"/>
                </a:lnSpc>
                <a:spcBef>
                  <a:spcPct val="50000"/>
                </a:spcBef>
              </a:pPr>
              <a:r>
                <a:rPr lang="en-US" sz="1400" b="1"/>
                <a:t>Elaboration</a:t>
              </a:r>
            </a:p>
          </p:txBody>
        </p:sp>
        <p:sp>
          <p:nvSpPr>
            <p:cNvPr id="170036" name="Rectangle 52"/>
            <p:cNvSpPr>
              <a:spLocks noChangeArrowheads="1"/>
            </p:cNvSpPr>
            <p:nvPr/>
          </p:nvSpPr>
          <p:spPr bwMode="auto">
            <a:xfrm>
              <a:off x="4781" y="1351"/>
              <a:ext cx="657" cy="121"/>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400" b="1"/>
                <a:t>Transition</a:t>
              </a:r>
            </a:p>
          </p:txBody>
        </p:sp>
        <p:sp>
          <p:nvSpPr>
            <p:cNvPr id="170037" name="Rectangle 53"/>
            <p:cNvSpPr>
              <a:spLocks noChangeArrowheads="1"/>
            </p:cNvSpPr>
            <p:nvPr/>
          </p:nvSpPr>
          <p:spPr bwMode="auto">
            <a:xfrm>
              <a:off x="2592" y="1351"/>
              <a:ext cx="577" cy="121"/>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400" b="1"/>
                <a:t>Inception</a:t>
              </a:r>
            </a:p>
          </p:txBody>
        </p:sp>
        <p:sp>
          <p:nvSpPr>
            <p:cNvPr id="170038" name="Rectangle 54"/>
            <p:cNvSpPr>
              <a:spLocks noChangeArrowheads="1"/>
            </p:cNvSpPr>
            <p:nvPr/>
          </p:nvSpPr>
          <p:spPr bwMode="auto">
            <a:xfrm>
              <a:off x="3856" y="1351"/>
              <a:ext cx="857" cy="121"/>
            </a:xfrm>
            <a:prstGeom prst="rect">
              <a:avLst/>
            </a:prstGeom>
            <a:noFill/>
            <a:ln w="9525">
              <a:noFill/>
              <a:miter lim="800000"/>
              <a:headEnd/>
              <a:tailEnd/>
            </a:ln>
          </p:spPr>
          <p:txBody>
            <a:bodyPr lIns="0" tIns="0" rIns="0" bIns="0">
              <a:spAutoFit/>
            </a:bodyPr>
            <a:lstStyle/>
            <a:p>
              <a:pPr algn="ctr" defTabSz="862013" eaLnBrk="0" hangingPunct="0">
                <a:lnSpc>
                  <a:spcPct val="90000"/>
                </a:lnSpc>
                <a:spcBef>
                  <a:spcPct val="50000"/>
                </a:spcBef>
              </a:pPr>
              <a:r>
                <a:rPr lang="en-US" sz="1400" b="1"/>
                <a:t>Construction</a:t>
              </a:r>
            </a:p>
          </p:txBody>
        </p:sp>
        <p:sp>
          <p:nvSpPr>
            <p:cNvPr id="170039" name="Line 55"/>
            <p:cNvSpPr>
              <a:spLocks noChangeShapeType="1"/>
            </p:cNvSpPr>
            <p:nvPr/>
          </p:nvSpPr>
          <p:spPr bwMode="auto">
            <a:xfrm flipH="1">
              <a:off x="5095" y="3725"/>
              <a:ext cx="0" cy="170"/>
            </a:xfrm>
            <a:prstGeom prst="line">
              <a:avLst/>
            </a:prstGeom>
            <a:noFill/>
            <a:ln w="0">
              <a:solidFill>
                <a:schemeClr val="tx1"/>
              </a:solidFill>
              <a:round/>
              <a:headEnd/>
              <a:tailEnd/>
            </a:ln>
          </p:spPr>
          <p:txBody>
            <a:bodyPr/>
            <a:lstStyle/>
            <a:p>
              <a:endParaRPr lang="en-GB"/>
            </a:p>
          </p:txBody>
        </p:sp>
        <p:sp>
          <p:nvSpPr>
            <p:cNvPr id="170040" name="Rectangle 56"/>
            <p:cNvSpPr>
              <a:spLocks noChangeArrowheads="1"/>
            </p:cNvSpPr>
            <p:nvPr/>
          </p:nvSpPr>
          <p:spPr bwMode="ltGray">
            <a:xfrm>
              <a:off x="3488" y="1497"/>
              <a:ext cx="352" cy="2352"/>
            </a:xfrm>
            <a:prstGeom prst="rect">
              <a:avLst/>
            </a:prstGeom>
            <a:noFill/>
            <a:ln w="38100">
              <a:solidFill>
                <a:srgbClr val="0066FF"/>
              </a:solidFill>
              <a:miter lim="800000"/>
              <a:headEnd type="none" w="sm" len="sm"/>
              <a:tailEnd type="none" w="lg" len="lg"/>
            </a:ln>
            <a:effectLst/>
          </p:spPr>
          <p:txBody>
            <a:bodyPr wrap="none" anchor="ctr"/>
            <a:lstStyle/>
            <a:p>
              <a:endParaRPr lang="en-GB"/>
            </a:p>
          </p:txBody>
        </p:sp>
      </p:gr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Freeform 2"/>
          <p:cNvSpPr>
            <a:spLocks/>
          </p:cNvSpPr>
          <p:nvPr/>
        </p:nvSpPr>
        <p:spPr bwMode="auto">
          <a:xfrm>
            <a:off x="2411413" y="2933700"/>
            <a:ext cx="4518025" cy="1447800"/>
          </a:xfrm>
          <a:custGeom>
            <a:avLst/>
            <a:gdLst/>
            <a:ahLst/>
            <a:cxnLst>
              <a:cxn ang="0">
                <a:pos x="3269" y="0"/>
              </a:cxn>
              <a:cxn ang="0">
                <a:pos x="3292" y="2"/>
              </a:cxn>
              <a:cxn ang="0">
                <a:pos x="3314" y="8"/>
              </a:cxn>
              <a:cxn ang="0">
                <a:pos x="3333" y="17"/>
              </a:cxn>
              <a:cxn ang="0">
                <a:pos x="3350" y="31"/>
              </a:cxn>
              <a:cxn ang="0">
                <a:pos x="3363" y="46"/>
              </a:cxn>
              <a:cxn ang="0">
                <a:pos x="3375" y="65"/>
              </a:cxn>
              <a:cxn ang="0">
                <a:pos x="3381" y="84"/>
              </a:cxn>
              <a:cxn ang="0">
                <a:pos x="3385" y="105"/>
              </a:cxn>
              <a:cxn ang="0">
                <a:pos x="3383" y="576"/>
              </a:cxn>
              <a:cxn ang="0">
                <a:pos x="3379" y="597"/>
              </a:cxn>
              <a:cxn ang="0">
                <a:pos x="3369" y="616"/>
              </a:cxn>
              <a:cxn ang="0">
                <a:pos x="3358" y="633"/>
              </a:cxn>
              <a:cxn ang="0">
                <a:pos x="3342" y="647"/>
              </a:cxn>
              <a:cxn ang="0">
                <a:pos x="3325" y="658"/>
              </a:cxn>
              <a:cxn ang="0">
                <a:pos x="3304" y="666"/>
              </a:cxn>
              <a:cxn ang="0">
                <a:pos x="3281" y="672"/>
              </a:cxn>
              <a:cxn ang="0">
                <a:pos x="113" y="672"/>
              </a:cxn>
              <a:cxn ang="0">
                <a:pos x="90" y="670"/>
              </a:cxn>
              <a:cxn ang="0">
                <a:pos x="69" y="664"/>
              </a:cxn>
              <a:cxn ang="0">
                <a:pos x="49" y="652"/>
              </a:cxn>
              <a:cxn ang="0">
                <a:pos x="32" y="641"/>
              </a:cxn>
              <a:cxn ang="0">
                <a:pos x="19" y="624"/>
              </a:cxn>
              <a:cxn ang="0">
                <a:pos x="9" y="606"/>
              </a:cxn>
              <a:cxn ang="0">
                <a:pos x="2" y="587"/>
              </a:cxn>
              <a:cxn ang="0">
                <a:pos x="0" y="564"/>
              </a:cxn>
              <a:cxn ang="0">
                <a:pos x="0" y="94"/>
              </a:cxn>
              <a:cxn ang="0">
                <a:pos x="5" y="75"/>
              </a:cxn>
              <a:cxn ang="0">
                <a:pos x="13" y="56"/>
              </a:cxn>
              <a:cxn ang="0">
                <a:pos x="26" y="38"/>
              </a:cxn>
              <a:cxn ang="0">
                <a:pos x="42" y="23"/>
              </a:cxn>
              <a:cxn ang="0">
                <a:pos x="59" y="11"/>
              </a:cxn>
              <a:cxn ang="0">
                <a:pos x="80" y="4"/>
              </a:cxn>
              <a:cxn ang="0">
                <a:pos x="101" y="0"/>
              </a:cxn>
            </a:cxnLst>
            <a:rect l="0" t="0" r="r" b="b"/>
            <a:pathLst>
              <a:path w="3385" h="672">
                <a:moveTo>
                  <a:pt x="113" y="0"/>
                </a:moveTo>
                <a:lnTo>
                  <a:pt x="3269" y="0"/>
                </a:lnTo>
                <a:lnTo>
                  <a:pt x="3281" y="0"/>
                </a:lnTo>
                <a:lnTo>
                  <a:pt x="3292" y="2"/>
                </a:lnTo>
                <a:lnTo>
                  <a:pt x="3304" y="4"/>
                </a:lnTo>
                <a:lnTo>
                  <a:pt x="3314" y="8"/>
                </a:lnTo>
                <a:lnTo>
                  <a:pt x="3325" y="11"/>
                </a:lnTo>
                <a:lnTo>
                  <a:pt x="3333" y="17"/>
                </a:lnTo>
                <a:lnTo>
                  <a:pt x="3342" y="23"/>
                </a:lnTo>
                <a:lnTo>
                  <a:pt x="3350" y="31"/>
                </a:lnTo>
                <a:lnTo>
                  <a:pt x="3358" y="38"/>
                </a:lnTo>
                <a:lnTo>
                  <a:pt x="3363" y="46"/>
                </a:lnTo>
                <a:lnTo>
                  <a:pt x="3369" y="56"/>
                </a:lnTo>
                <a:lnTo>
                  <a:pt x="3375" y="65"/>
                </a:lnTo>
                <a:lnTo>
                  <a:pt x="3379" y="75"/>
                </a:lnTo>
                <a:lnTo>
                  <a:pt x="3381" y="84"/>
                </a:lnTo>
                <a:lnTo>
                  <a:pt x="3383" y="94"/>
                </a:lnTo>
                <a:lnTo>
                  <a:pt x="3385" y="105"/>
                </a:lnTo>
                <a:lnTo>
                  <a:pt x="3385" y="564"/>
                </a:lnTo>
                <a:lnTo>
                  <a:pt x="3383" y="576"/>
                </a:lnTo>
                <a:lnTo>
                  <a:pt x="3381" y="587"/>
                </a:lnTo>
                <a:lnTo>
                  <a:pt x="3379" y="597"/>
                </a:lnTo>
                <a:lnTo>
                  <a:pt x="3375" y="606"/>
                </a:lnTo>
                <a:lnTo>
                  <a:pt x="3369" y="616"/>
                </a:lnTo>
                <a:lnTo>
                  <a:pt x="3363" y="624"/>
                </a:lnTo>
                <a:lnTo>
                  <a:pt x="3358" y="633"/>
                </a:lnTo>
                <a:lnTo>
                  <a:pt x="3350" y="641"/>
                </a:lnTo>
                <a:lnTo>
                  <a:pt x="3342" y="647"/>
                </a:lnTo>
                <a:lnTo>
                  <a:pt x="3333" y="652"/>
                </a:lnTo>
                <a:lnTo>
                  <a:pt x="3325" y="658"/>
                </a:lnTo>
                <a:lnTo>
                  <a:pt x="3314" y="664"/>
                </a:lnTo>
                <a:lnTo>
                  <a:pt x="3304" y="666"/>
                </a:lnTo>
                <a:lnTo>
                  <a:pt x="3292" y="670"/>
                </a:lnTo>
                <a:lnTo>
                  <a:pt x="3281" y="672"/>
                </a:lnTo>
                <a:lnTo>
                  <a:pt x="3269" y="672"/>
                </a:lnTo>
                <a:lnTo>
                  <a:pt x="113" y="672"/>
                </a:lnTo>
                <a:lnTo>
                  <a:pt x="101" y="672"/>
                </a:lnTo>
                <a:lnTo>
                  <a:pt x="90" y="670"/>
                </a:lnTo>
                <a:lnTo>
                  <a:pt x="80" y="666"/>
                </a:lnTo>
                <a:lnTo>
                  <a:pt x="69" y="664"/>
                </a:lnTo>
                <a:lnTo>
                  <a:pt x="59" y="658"/>
                </a:lnTo>
                <a:lnTo>
                  <a:pt x="49" y="652"/>
                </a:lnTo>
                <a:lnTo>
                  <a:pt x="42" y="647"/>
                </a:lnTo>
                <a:lnTo>
                  <a:pt x="32" y="641"/>
                </a:lnTo>
                <a:lnTo>
                  <a:pt x="26" y="633"/>
                </a:lnTo>
                <a:lnTo>
                  <a:pt x="19" y="624"/>
                </a:lnTo>
                <a:lnTo>
                  <a:pt x="13" y="616"/>
                </a:lnTo>
                <a:lnTo>
                  <a:pt x="9" y="606"/>
                </a:lnTo>
                <a:lnTo>
                  <a:pt x="5" y="597"/>
                </a:lnTo>
                <a:lnTo>
                  <a:pt x="2" y="587"/>
                </a:lnTo>
                <a:lnTo>
                  <a:pt x="0" y="576"/>
                </a:lnTo>
                <a:lnTo>
                  <a:pt x="0" y="564"/>
                </a:lnTo>
                <a:lnTo>
                  <a:pt x="0" y="105"/>
                </a:lnTo>
                <a:lnTo>
                  <a:pt x="0" y="94"/>
                </a:lnTo>
                <a:lnTo>
                  <a:pt x="2" y="84"/>
                </a:lnTo>
                <a:lnTo>
                  <a:pt x="5" y="75"/>
                </a:lnTo>
                <a:lnTo>
                  <a:pt x="9" y="65"/>
                </a:lnTo>
                <a:lnTo>
                  <a:pt x="13" y="56"/>
                </a:lnTo>
                <a:lnTo>
                  <a:pt x="19" y="46"/>
                </a:lnTo>
                <a:lnTo>
                  <a:pt x="26" y="38"/>
                </a:lnTo>
                <a:lnTo>
                  <a:pt x="32" y="31"/>
                </a:lnTo>
                <a:lnTo>
                  <a:pt x="42" y="23"/>
                </a:lnTo>
                <a:lnTo>
                  <a:pt x="49" y="17"/>
                </a:lnTo>
                <a:lnTo>
                  <a:pt x="59" y="11"/>
                </a:lnTo>
                <a:lnTo>
                  <a:pt x="69" y="8"/>
                </a:lnTo>
                <a:lnTo>
                  <a:pt x="80" y="4"/>
                </a:lnTo>
                <a:lnTo>
                  <a:pt x="90" y="2"/>
                </a:lnTo>
                <a:lnTo>
                  <a:pt x="101" y="0"/>
                </a:lnTo>
                <a:lnTo>
                  <a:pt x="113" y="0"/>
                </a:lnTo>
                <a:close/>
              </a:path>
            </a:pathLst>
          </a:custGeom>
          <a:solidFill>
            <a:srgbClr val="FFFFCC"/>
          </a:solidFill>
          <a:ln w="9525">
            <a:noFill/>
            <a:round/>
            <a:headEnd/>
            <a:tailEnd/>
          </a:ln>
        </p:spPr>
        <p:txBody>
          <a:bodyPr/>
          <a:lstStyle/>
          <a:p>
            <a:endParaRPr lang="en-GB"/>
          </a:p>
        </p:txBody>
      </p:sp>
      <p:sp>
        <p:nvSpPr>
          <p:cNvPr id="171011" name="Rectangle 3"/>
          <p:cNvSpPr>
            <a:spLocks noGrp="1" noChangeArrowheads="1"/>
          </p:cNvSpPr>
          <p:nvPr>
            <p:ph type="title"/>
          </p:nvPr>
        </p:nvSpPr>
        <p:spPr>
          <a:xfrm>
            <a:off x="797243" y="23495"/>
            <a:ext cx="7406640" cy="1356360"/>
          </a:xfrm>
        </p:spPr>
        <p:txBody>
          <a:bodyPr/>
          <a:lstStyle/>
          <a:p>
            <a:r>
              <a:rPr lang="en-US" sz="3200" dirty="0"/>
              <a:t>Diagrams Represent Process Disciplines </a:t>
            </a:r>
          </a:p>
        </p:txBody>
      </p:sp>
      <p:sp>
        <p:nvSpPr>
          <p:cNvPr id="171012" name="Rectangle 4"/>
          <p:cNvSpPr>
            <a:spLocks noChangeArrowheads="1"/>
          </p:cNvSpPr>
          <p:nvPr/>
        </p:nvSpPr>
        <p:spPr bwMode="auto">
          <a:xfrm>
            <a:off x="1524000" y="1828800"/>
            <a:ext cx="0" cy="365125"/>
          </a:xfrm>
          <a:prstGeom prst="rect">
            <a:avLst/>
          </a:prstGeom>
          <a:noFill/>
          <a:ln w="9525">
            <a:noFill/>
            <a:miter lim="800000"/>
            <a:headEnd/>
            <a:tailEnd/>
          </a:ln>
        </p:spPr>
        <p:txBody>
          <a:bodyPr wrap="none" lIns="0" tIns="0" rIns="0" bIns="0">
            <a:spAutoFit/>
          </a:bodyPr>
          <a:lstStyle/>
          <a:p>
            <a:endParaRPr lang="fr-CA" sz="2400" b="1"/>
          </a:p>
        </p:txBody>
      </p:sp>
      <p:sp>
        <p:nvSpPr>
          <p:cNvPr id="171013" name="Rectangle 5"/>
          <p:cNvSpPr>
            <a:spLocks noChangeArrowheads="1"/>
          </p:cNvSpPr>
          <p:nvPr/>
        </p:nvSpPr>
        <p:spPr bwMode="auto">
          <a:xfrm>
            <a:off x="1747838" y="1828800"/>
            <a:ext cx="0" cy="365125"/>
          </a:xfrm>
          <a:prstGeom prst="rect">
            <a:avLst/>
          </a:prstGeom>
          <a:noFill/>
          <a:ln w="9525">
            <a:noFill/>
            <a:miter lim="800000"/>
            <a:headEnd/>
            <a:tailEnd/>
          </a:ln>
        </p:spPr>
        <p:txBody>
          <a:bodyPr wrap="none" lIns="0" tIns="0" rIns="0" bIns="0">
            <a:spAutoFit/>
          </a:bodyPr>
          <a:lstStyle/>
          <a:p>
            <a:endParaRPr lang="fr-CA" sz="2400" b="1"/>
          </a:p>
        </p:txBody>
      </p:sp>
      <p:sp>
        <p:nvSpPr>
          <p:cNvPr id="171014" name="Rectangle 6"/>
          <p:cNvSpPr>
            <a:spLocks noChangeArrowheads="1"/>
          </p:cNvSpPr>
          <p:nvPr/>
        </p:nvSpPr>
        <p:spPr bwMode="auto">
          <a:xfrm>
            <a:off x="1893888" y="1828800"/>
            <a:ext cx="0" cy="365125"/>
          </a:xfrm>
          <a:prstGeom prst="rect">
            <a:avLst/>
          </a:prstGeom>
          <a:noFill/>
          <a:ln w="9525">
            <a:noFill/>
            <a:miter lim="800000"/>
            <a:headEnd/>
            <a:tailEnd/>
          </a:ln>
        </p:spPr>
        <p:txBody>
          <a:bodyPr wrap="none" lIns="0" tIns="0" rIns="0" bIns="0">
            <a:spAutoFit/>
          </a:bodyPr>
          <a:lstStyle/>
          <a:p>
            <a:endParaRPr lang="fr-CA" sz="2400" b="1"/>
          </a:p>
        </p:txBody>
      </p:sp>
      <p:sp>
        <p:nvSpPr>
          <p:cNvPr id="171015" name="Rectangle 7"/>
          <p:cNvSpPr>
            <a:spLocks noChangeArrowheads="1"/>
          </p:cNvSpPr>
          <p:nvPr/>
        </p:nvSpPr>
        <p:spPr bwMode="auto">
          <a:xfrm>
            <a:off x="1990725" y="1828800"/>
            <a:ext cx="0" cy="365125"/>
          </a:xfrm>
          <a:prstGeom prst="rect">
            <a:avLst/>
          </a:prstGeom>
          <a:noFill/>
          <a:ln w="9525">
            <a:noFill/>
            <a:miter lim="800000"/>
            <a:headEnd/>
            <a:tailEnd/>
          </a:ln>
        </p:spPr>
        <p:txBody>
          <a:bodyPr wrap="none" lIns="0" tIns="0" rIns="0" bIns="0">
            <a:spAutoFit/>
          </a:bodyPr>
          <a:lstStyle/>
          <a:p>
            <a:endParaRPr lang="fr-CA" sz="2400" b="1"/>
          </a:p>
        </p:txBody>
      </p:sp>
      <p:sp>
        <p:nvSpPr>
          <p:cNvPr id="171016" name="Rectangle 8"/>
          <p:cNvSpPr>
            <a:spLocks noChangeArrowheads="1"/>
          </p:cNvSpPr>
          <p:nvPr/>
        </p:nvSpPr>
        <p:spPr bwMode="auto">
          <a:xfrm>
            <a:off x="2263775" y="1828800"/>
            <a:ext cx="0" cy="365125"/>
          </a:xfrm>
          <a:prstGeom prst="rect">
            <a:avLst/>
          </a:prstGeom>
          <a:noFill/>
          <a:ln w="9525">
            <a:noFill/>
            <a:miter lim="800000"/>
            <a:headEnd/>
            <a:tailEnd/>
          </a:ln>
        </p:spPr>
        <p:txBody>
          <a:bodyPr wrap="none" lIns="0" tIns="0" rIns="0" bIns="0">
            <a:spAutoFit/>
          </a:bodyPr>
          <a:lstStyle/>
          <a:p>
            <a:endParaRPr lang="fr-CA" sz="2400" b="1"/>
          </a:p>
        </p:txBody>
      </p:sp>
      <p:sp>
        <p:nvSpPr>
          <p:cNvPr id="171017" name="Rectangle 9"/>
          <p:cNvSpPr>
            <a:spLocks noChangeArrowheads="1"/>
          </p:cNvSpPr>
          <p:nvPr/>
        </p:nvSpPr>
        <p:spPr bwMode="auto">
          <a:xfrm>
            <a:off x="1471613" y="3800475"/>
            <a:ext cx="0" cy="365125"/>
          </a:xfrm>
          <a:prstGeom prst="rect">
            <a:avLst/>
          </a:prstGeom>
          <a:noFill/>
          <a:ln w="9525">
            <a:noFill/>
            <a:miter lim="800000"/>
            <a:headEnd/>
            <a:tailEnd/>
          </a:ln>
        </p:spPr>
        <p:txBody>
          <a:bodyPr wrap="none" lIns="0" tIns="0" rIns="0" bIns="0">
            <a:spAutoFit/>
          </a:bodyPr>
          <a:lstStyle/>
          <a:p>
            <a:endParaRPr lang="fr-CA" sz="2400" b="1"/>
          </a:p>
        </p:txBody>
      </p:sp>
      <p:sp>
        <p:nvSpPr>
          <p:cNvPr id="171018" name="Rectangle 10"/>
          <p:cNvSpPr>
            <a:spLocks noChangeArrowheads="1"/>
          </p:cNvSpPr>
          <p:nvPr/>
        </p:nvSpPr>
        <p:spPr bwMode="auto">
          <a:xfrm>
            <a:off x="1647825" y="3800475"/>
            <a:ext cx="0" cy="365125"/>
          </a:xfrm>
          <a:prstGeom prst="rect">
            <a:avLst/>
          </a:prstGeom>
          <a:noFill/>
          <a:ln w="9525">
            <a:noFill/>
            <a:miter lim="800000"/>
            <a:headEnd/>
            <a:tailEnd/>
          </a:ln>
        </p:spPr>
        <p:txBody>
          <a:bodyPr wrap="none" lIns="0" tIns="0" rIns="0" bIns="0">
            <a:spAutoFit/>
          </a:bodyPr>
          <a:lstStyle/>
          <a:p>
            <a:endParaRPr lang="fr-CA" sz="2400" b="1"/>
          </a:p>
        </p:txBody>
      </p:sp>
      <p:sp>
        <p:nvSpPr>
          <p:cNvPr id="171019" name="Rectangle 11"/>
          <p:cNvSpPr>
            <a:spLocks noChangeArrowheads="1"/>
          </p:cNvSpPr>
          <p:nvPr/>
        </p:nvSpPr>
        <p:spPr bwMode="auto">
          <a:xfrm>
            <a:off x="1739900" y="3800475"/>
            <a:ext cx="0" cy="365125"/>
          </a:xfrm>
          <a:prstGeom prst="rect">
            <a:avLst/>
          </a:prstGeom>
          <a:noFill/>
          <a:ln w="9525">
            <a:noFill/>
            <a:miter lim="800000"/>
            <a:headEnd/>
            <a:tailEnd/>
          </a:ln>
        </p:spPr>
        <p:txBody>
          <a:bodyPr wrap="none" lIns="0" tIns="0" rIns="0" bIns="0">
            <a:spAutoFit/>
          </a:bodyPr>
          <a:lstStyle/>
          <a:p>
            <a:endParaRPr lang="fr-CA" sz="2400" b="1"/>
          </a:p>
        </p:txBody>
      </p:sp>
      <p:sp>
        <p:nvSpPr>
          <p:cNvPr id="171020" name="Rectangle 12"/>
          <p:cNvSpPr>
            <a:spLocks noChangeArrowheads="1"/>
          </p:cNvSpPr>
          <p:nvPr/>
        </p:nvSpPr>
        <p:spPr bwMode="auto">
          <a:xfrm>
            <a:off x="1890713" y="3800475"/>
            <a:ext cx="0" cy="365125"/>
          </a:xfrm>
          <a:prstGeom prst="rect">
            <a:avLst/>
          </a:prstGeom>
          <a:noFill/>
          <a:ln w="9525">
            <a:noFill/>
            <a:miter lim="800000"/>
            <a:headEnd/>
            <a:tailEnd/>
          </a:ln>
        </p:spPr>
        <p:txBody>
          <a:bodyPr wrap="none" lIns="0" tIns="0" rIns="0" bIns="0">
            <a:spAutoFit/>
          </a:bodyPr>
          <a:lstStyle/>
          <a:p>
            <a:endParaRPr lang="fr-CA" sz="2400" b="1"/>
          </a:p>
        </p:txBody>
      </p:sp>
      <p:sp>
        <p:nvSpPr>
          <p:cNvPr id="171021" name="Rectangle 13"/>
          <p:cNvSpPr>
            <a:spLocks noChangeArrowheads="1"/>
          </p:cNvSpPr>
          <p:nvPr/>
        </p:nvSpPr>
        <p:spPr bwMode="auto">
          <a:xfrm>
            <a:off x="1968500" y="3800475"/>
            <a:ext cx="0" cy="365125"/>
          </a:xfrm>
          <a:prstGeom prst="rect">
            <a:avLst/>
          </a:prstGeom>
          <a:noFill/>
          <a:ln w="9525">
            <a:noFill/>
            <a:miter lim="800000"/>
            <a:headEnd/>
            <a:tailEnd/>
          </a:ln>
        </p:spPr>
        <p:txBody>
          <a:bodyPr wrap="none" lIns="0" tIns="0" rIns="0" bIns="0">
            <a:spAutoFit/>
          </a:bodyPr>
          <a:lstStyle/>
          <a:p>
            <a:endParaRPr lang="fr-CA" sz="2400" b="1"/>
          </a:p>
        </p:txBody>
      </p:sp>
      <p:sp>
        <p:nvSpPr>
          <p:cNvPr id="171022" name="Rectangle 14"/>
          <p:cNvSpPr>
            <a:spLocks noChangeArrowheads="1"/>
          </p:cNvSpPr>
          <p:nvPr/>
        </p:nvSpPr>
        <p:spPr bwMode="auto">
          <a:xfrm>
            <a:off x="2105025" y="3800475"/>
            <a:ext cx="0" cy="365125"/>
          </a:xfrm>
          <a:prstGeom prst="rect">
            <a:avLst/>
          </a:prstGeom>
          <a:noFill/>
          <a:ln w="9525">
            <a:noFill/>
            <a:miter lim="800000"/>
            <a:headEnd/>
            <a:tailEnd/>
          </a:ln>
        </p:spPr>
        <p:txBody>
          <a:bodyPr wrap="none" lIns="0" tIns="0" rIns="0" bIns="0">
            <a:spAutoFit/>
          </a:bodyPr>
          <a:lstStyle/>
          <a:p>
            <a:endParaRPr lang="fr-CA" sz="2400" b="1"/>
          </a:p>
        </p:txBody>
      </p:sp>
      <p:sp>
        <p:nvSpPr>
          <p:cNvPr id="171023" name="Rectangle 15"/>
          <p:cNvSpPr>
            <a:spLocks noChangeArrowheads="1"/>
          </p:cNvSpPr>
          <p:nvPr/>
        </p:nvSpPr>
        <p:spPr bwMode="auto">
          <a:xfrm>
            <a:off x="2239963" y="3800475"/>
            <a:ext cx="0" cy="365125"/>
          </a:xfrm>
          <a:prstGeom prst="rect">
            <a:avLst/>
          </a:prstGeom>
          <a:noFill/>
          <a:ln w="9525">
            <a:noFill/>
            <a:miter lim="800000"/>
            <a:headEnd/>
            <a:tailEnd/>
          </a:ln>
        </p:spPr>
        <p:txBody>
          <a:bodyPr wrap="none" lIns="0" tIns="0" rIns="0" bIns="0">
            <a:spAutoFit/>
          </a:bodyPr>
          <a:lstStyle/>
          <a:p>
            <a:endParaRPr lang="fr-CA" sz="2400" b="1"/>
          </a:p>
        </p:txBody>
      </p:sp>
      <p:sp>
        <p:nvSpPr>
          <p:cNvPr id="171024" name="Text Box 16"/>
          <p:cNvSpPr txBox="1">
            <a:spLocks noChangeArrowheads="1"/>
          </p:cNvSpPr>
          <p:nvPr/>
        </p:nvSpPr>
        <p:spPr bwMode="auto">
          <a:xfrm>
            <a:off x="955675" y="3155950"/>
            <a:ext cx="1592263" cy="457200"/>
          </a:xfrm>
          <a:prstGeom prst="rect">
            <a:avLst/>
          </a:prstGeom>
          <a:noFill/>
          <a:ln w="9525">
            <a:noFill/>
            <a:miter lim="800000"/>
            <a:headEnd type="none" w="sm" len="sm"/>
            <a:tailEnd type="none" w="sm" len="sm"/>
          </a:ln>
          <a:effectLst/>
        </p:spPr>
        <p:txBody>
          <a:bodyPr>
            <a:spAutoFit/>
          </a:bodyPr>
          <a:lstStyle/>
          <a:p>
            <a:pPr algn="ctr" eaLnBrk="0" hangingPunct="0"/>
            <a:r>
              <a:rPr lang="en-US" sz="2400" b="1"/>
              <a:t>Role</a:t>
            </a:r>
            <a:endParaRPr lang="en-US" sz="1600" b="1"/>
          </a:p>
        </p:txBody>
      </p:sp>
      <p:sp>
        <p:nvSpPr>
          <p:cNvPr id="171025" name="Text Box 17"/>
          <p:cNvSpPr txBox="1">
            <a:spLocks noChangeArrowheads="1"/>
          </p:cNvSpPr>
          <p:nvPr/>
        </p:nvSpPr>
        <p:spPr bwMode="auto">
          <a:xfrm>
            <a:off x="4600575" y="2105025"/>
            <a:ext cx="1285875" cy="457200"/>
          </a:xfrm>
          <a:prstGeom prst="rect">
            <a:avLst/>
          </a:prstGeom>
          <a:noFill/>
          <a:ln w="9525">
            <a:noFill/>
            <a:miter lim="800000"/>
            <a:headEnd type="none" w="sm" len="sm"/>
            <a:tailEnd type="none" w="sm" len="sm"/>
          </a:ln>
          <a:effectLst/>
        </p:spPr>
        <p:txBody>
          <a:bodyPr wrap="none">
            <a:spAutoFit/>
          </a:bodyPr>
          <a:lstStyle/>
          <a:p>
            <a:pPr algn="ctr" eaLnBrk="0" hangingPunct="0"/>
            <a:r>
              <a:rPr lang="en-US" sz="2400" b="1"/>
              <a:t>Activity</a:t>
            </a:r>
            <a:endParaRPr lang="en-US" sz="1600" b="1"/>
          </a:p>
        </p:txBody>
      </p:sp>
      <p:sp>
        <p:nvSpPr>
          <p:cNvPr id="171026" name="Text Box 18"/>
          <p:cNvSpPr txBox="1">
            <a:spLocks noChangeArrowheads="1"/>
          </p:cNvSpPr>
          <p:nvPr/>
        </p:nvSpPr>
        <p:spPr bwMode="auto">
          <a:xfrm>
            <a:off x="4659313" y="4411663"/>
            <a:ext cx="1252537" cy="457200"/>
          </a:xfrm>
          <a:prstGeom prst="rect">
            <a:avLst/>
          </a:prstGeom>
          <a:noFill/>
          <a:ln w="9525">
            <a:noFill/>
            <a:miter lim="800000"/>
            <a:headEnd type="none" w="sm" len="sm"/>
            <a:tailEnd type="none" w="sm" len="sm"/>
          </a:ln>
          <a:effectLst/>
        </p:spPr>
        <p:txBody>
          <a:bodyPr wrap="none">
            <a:spAutoFit/>
          </a:bodyPr>
          <a:lstStyle/>
          <a:p>
            <a:pPr algn="ctr" eaLnBrk="0" hangingPunct="0"/>
            <a:r>
              <a:rPr lang="en-US" sz="2400" b="1"/>
              <a:t>Artifact</a:t>
            </a:r>
            <a:endParaRPr lang="en-US" sz="1600" b="1"/>
          </a:p>
        </p:txBody>
      </p:sp>
      <p:sp>
        <p:nvSpPr>
          <p:cNvPr id="171027" name="Rectangle 19"/>
          <p:cNvSpPr>
            <a:spLocks noChangeArrowheads="1"/>
          </p:cNvSpPr>
          <p:nvPr/>
        </p:nvSpPr>
        <p:spPr bwMode="auto">
          <a:xfrm>
            <a:off x="5314950" y="3725863"/>
            <a:ext cx="811213" cy="182562"/>
          </a:xfrm>
          <a:prstGeom prst="rect">
            <a:avLst/>
          </a:prstGeom>
          <a:noFill/>
          <a:ln w="9525">
            <a:noFill/>
            <a:miter lim="800000"/>
            <a:headEnd/>
            <a:tailEnd/>
          </a:ln>
        </p:spPr>
        <p:txBody>
          <a:bodyPr wrap="none" lIns="0" tIns="0" rIns="0" bIns="0">
            <a:spAutoFit/>
          </a:bodyPr>
          <a:lstStyle/>
          <a:p>
            <a:pPr algn="ctr" eaLnBrk="0" hangingPunct="0"/>
            <a:r>
              <a:rPr lang="en-US" sz="1200" b="1">
                <a:solidFill>
                  <a:srgbClr val="000000"/>
                </a:solidFill>
              </a:rPr>
              <a:t>Describe</a:t>
            </a:r>
            <a:r>
              <a:rPr lang="en-US" sz="1200">
                <a:solidFill>
                  <a:srgbClr val="000000"/>
                </a:solidFill>
              </a:rPr>
              <a:t> </a:t>
            </a:r>
            <a:r>
              <a:rPr lang="en-US" sz="1200" b="1">
                <a:solidFill>
                  <a:srgbClr val="000000"/>
                </a:solidFill>
              </a:rPr>
              <a:t>a</a:t>
            </a:r>
            <a:r>
              <a:rPr lang="en-US" sz="1200">
                <a:solidFill>
                  <a:srgbClr val="000000"/>
                </a:solidFill>
              </a:rPr>
              <a:t> </a:t>
            </a:r>
            <a:endParaRPr lang="en-US" sz="1200"/>
          </a:p>
        </p:txBody>
      </p:sp>
      <p:sp>
        <p:nvSpPr>
          <p:cNvPr id="171028" name="Rectangle 20"/>
          <p:cNvSpPr>
            <a:spLocks noChangeArrowheads="1"/>
          </p:cNvSpPr>
          <p:nvPr/>
        </p:nvSpPr>
        <p:spPr bwMode="auto">
          <a:xfrm>
            <a:off x="5356225" y="3868738"/>
            <a:ext cx="682625" cy="182562"/>
          </a:xfrm>
          <a:prstGeom prst="rect">
            <a:avLst/>
          </a:prstGeom>
          <a:noFill/>
          <a:ln w="9525">
            <a:noFill/>
            <a:miter lim="800000"/>
            <a:headEnd/>
            <a:tailEnd/>
          </a:ln>
        </p:spPr>
        <p:txBody>
          <a:bodyPr wrap="none" lIns="0" tIns="0" rIns="0" bIns="0">
            <a:spAutoFit/>
          </a:bodyPr>
          <a:lstStyle/>
          <a:p>
            <a:pPr algn="ctr" eaLnBrk="0" hangingPunct="0"/>
            <a:r>
              <a:rPr lang="en-US" sz="1200" b="1">
                <a:solidFill>
                  <a:srgbClr val="000000"/>
                </a:solidFill>
              </a:rPr>
              <a:t>Use Case</a:t>
            </a:r>
            <a:endParaRPr lang="en-US" sz="1200" b="1"/>
          </a:p>
        </p:txBody>
      </p:sp>
      <p:sp>
        <p:nvSpPr>
          <p:cNvPr id="171029" name="Freeform 21"/>
          <p:cNvSpPr>
            <a:spLocks/>
          </p:cNvSpPr>
          <p:nvPr/>
        </p:nvSpPr>
        <p:spPr bwMode="auto">
          <a:xfrm>
            <a:off x="5468938" y="3454400"/>
            <a:ext cx="436562" cy="271463"/>
          </a:xfrm>
          <a:custGeom>
            <a:avLst/>
            <a:gdLst/>
            <a:ahLst/>
            <a:cxnLst>
              <a:cxn ang="0">
                <a:pos x="0" y="0"/>
              </a:cxn>
              <a:cxn ang="0">
                <a:pos x="188" y="0"/>
              </a:cxn>
              <a:cxn ang="0">
                <a:pos x="275" y="84"/>
              </a:cxn>
              <a:cxn ang="0">
                <a:pos x="188" y="171"/>
              </a:cxn>
              <a:cxn ang="0">
                <a:pos x="0" y="171"/>
              </a:cxn>
              <a:cxn ang="0">
                <a:pos x="0" y="0"/>
              </a:cxn>
            </a:cxnLst>
            <a:rect l="0" t="0" r="r" b="b"/>
            <a:pathLst>
              <a:path w="275" h="171">
                <a:moveTo>
                  <a:pt x="0" y="0"/>
                </a:moveTo>
                <a:lnTo>
                  <a:pt x="188" y="0"/>
                </a:lnTo>
                <a:lnTo>
                  <a:pt x="275" y="84"/>
                </a:lnTo>
                <a:lnTo>
                  <a:pt x="188" y="171"/>
                </a:lnTo>
                <a:lnTo>
                  <a:pt x="0" y="171"/>
                </a:lnTo>
                <a:lnTo>
                  <a:pt x="0" y="0"/>
                </a:lnTo>
                <a:close/>
              </a:path>
            </a:pathLst>
          </a:custGeom>
          <a:solidFill>
            <a:srgbClr val="CCCCCC"/>
          </a:solidFill>
          <a:ln w="9525">
            <a:noFill/>
            <a:round/>
            <a:headEnd/>
            <a:tailEnd/>
          </a:ln>
        </p:spPr>
        <p:txBody>
          <a:bodyPr/>
          <a:lstStyle/>
          <a:p>
            <a:endParaRPr lang="en-GB"/>
          </a:p>
        </p:txBody>
      </p:sp>
      <p:sp>
        <p:nvSpPr>
          <p:cNvPr id="171030" name="Freeform 22"/>
          <p:cNvSpPr>
            <a:spLocks/>
          </p:cNvSpPr>
          <p:nvPr/>
        </p:nvSpPr>
        <p:spPr bwMode="auto">
          <a:xfrm>
            <a:off x="5468938" y="3454400"/>
            <a:ext cx="436562" cy="271463"/>
          </a:xfrm>
          <a:custGeom>
            <a:avLst/>
            <a:gdLst/>
            <a:ahLst/>
            <a:cxnLst>
              <a:cxn ang="0">
                <a:pos x="0" y="0"/>
              </a:cxn>
              <a:cxn ang="0">
                <a:pos x="188" y="0"/>
              </a:cxn>
              <a:cxn ang="0">
                <a:pos x="275" y="84"/>
              </a:cxn>
              <a:cxn ang="0">
                <a:pos x="188" y="171"/>
              </a:cxn>
              <a:cxn ang="0">
                <a:pos x="0" y="171"/>
              </a:cxn>
              <a:cxn ang="0">
                <a:pos x="0" y="0"/>
              </a:cxn>
            </a:cxnLst>
            <a:rect l="0" t="0" r="r" b="b"/>
            <a:pathLst>
              <a:path w="275" h="171">
                <a:moveTo>
                  <a:pt x="0" y="0"/>
                </a:moveTo>
                <a:lnTo>
                  <a:pt x="188" y="0"/>
                </a:lnTo>
                <a:lnTo>
                  <a:pt x="275" y="84"/>
                </a:lnTo>
                <a:lnTo>
                  <a:pt x="188" y="171"/>
                </a:lnTo>
                <a:lnTo>
                  <a:pt x="0" y="171"/>
                </a:lnTo>
                <a:lnTo>
                  <a:pt x="0" y="0"/>
                </a:lnTo>
              </a:path>
            </a:pathLst>
          </a:custGeom>
          <a:noFill/>
          <a:ln w="0">
            <a:solidFill>
              <a:srgbClr val="CCCCCC"/>
            </a:solidFill>
            <a:prstDash val="solid"/>
            <a:round/>
            <a:headEnd/>
            <a:tailEnd/>
          </a:ln>
        </p:spPr>
        <p:txBody>
          <a:bodyPr/>
          <a:lstStyle/>
          <a:p>
            <a:endParaRPr lang="en-GB"/>
          </a:p>
        </p:txBody>
      </p:sp>
      <p:sp>
        <p:nvSpPr>
          <p:cNvPr id="171031" name="Freeform 23"/>
          <p:cNvSpPr>
            <a:spLocks/>
          </p:cNvSpPr>
          <p:nvPr/>
        </p:nvSpPr>
        <p:spPr bwMode="auto">
          <a:xfrm>
            <a:off x="5445125" y="3440113"/>
            <a:ext cx="461963" cy="261937"/>
          </a:xfrm>
          <a:custGeom>
            <a:avLst/>
            <a:gdLst/>
            <a:ahLst/>
            <a:cxnLst>
              <a:cxn ang="0">
                <a:pos x="0" y="0"/>
              </a:cxn>
              <a:cxn ang="0">
                <a:pos x="188" y="0"/>
              </a:cxn>
              <a:cxn ang="0">
                <a:pos x="274" y="86"/>
              </a:cxn>
              <a:cxn ang="0">
                <a:pos x="188" y="173"/>
              </a:cxn>
              <a:cxn ang="0">
                <a:pos x="0" y="173"/>
              </a:cxn>
              <a:cxn ang="0">
                <a:pos x="0" y="0"/>
              </a:cxn>
            </a:cxnLst>
            <a:rect l="0" t="0" r="r" b="b"/>
            <a:pathLst>
              <a:path w="274" h="173">
                <a:moveTo>
                  <a:pt x="0" y="0"/>
                </a:moveTo>
                <a:lnTo>
                  <a:pt x="188" y="0"/>
                </a:lnTo>
                <a:lnTo>
                  <a:pt x="274" y="86"/>
                </a:lnTo>
                <a:lnTo>
                  <a:pt x="188" y="173"/>
                </a:lnTo>
                <a:lnTo>
                  <a:pt x="0" y="173"/>
                </a:lnTo>
                <a:lnTo>
                  <a:pt x="0" y="0"/>
                </a:lnTo>
                <a:close/>
              </a:path>
            </a:pathLst>
          </a:custGeom>
          <a:solidFill>
            <a:schemeClr val="accent1"/>
          </a:solidFill>
          <a:ln w="9525">
            <a:noFill/>
            <a:round/>
            <a:headEnd/>
            <a:tailEnd/>
          </a:ln>
        </p:spPr>
        <p:txBody>
          <a:bodyPr/>
          <a:lstStyle/>
          <a:p>
            <a:endParaRPr lang="en-GB"/>
          </a:p>
        </p:txBody>
      </p:sp>
      <p:sp>
        <p:nvSpPr>
          <p:cNvPr id="171032" name="Freeform 24"/>
          <p:cNvSpPr>
            <a:spLocks/>
          </p:cNvSpPr>
          <p:nvPr/>
        </p:nvSpPr>
        <p:spPr bwMode="auto">
          <a:xfrm>
            <a:off x="5445125" y="3427413"/>
            <a:ext cx="434975" cy="274637"/>
          </a:xfrm>
          <a:custGeom>
            <a:avLst/>
            <a:gdLst/>
            <a:ahLst/>
            <a:cxnLst>
              <a:cxn ang="0">
                <a:pos x="0" y="0"/>
              </a:cxn>
              <a:cxn ang="0">
                <a:pos x="188" y="0"/>
              </a:cxn>
              <a:cxn ang="0">
                <a:pos x="274" y="86"/>
              </a:cxn>
              <a:cxn ang="0">
                <a:pos x="188" y="173"/>
              </a:cxn>
              <a:cxn ang="0">
                <a:pos x="0" y="173"/>
              </a:cxn>
              <a:cxn ang="0">
                <a:pos x="0" y="0"/>
              </a:cxn>
            </a:cxnLst>
            <a:rect l="0" t="0" r="r" b="b"/>
            <a:pathLst>
              <a:path w="274" h="173">
                <a:moveTo>
                  <a:pt x="0" y="0"/>
                </a:moveTo>
                <a:lnTo>
                  <a:pt x="188" y="0"/>
                </a:lnTo>
                <a:lnTo>
                  <a:pt x="274" y="86"/>
                </a:lnTo>
                <a:lnTo>
                  <a:pt x="188" y="173"/>
                </a:lnTo>
                <a:lnTo>
                  <a:pt x="0" y="173"/>
                </a:lnTo>
                <a:lnTo>
                  <a:pt x="0" y="0"/>
                </a:lnTo>
              </a:path>
            </a:pathLst>
          </a:custGeom>
          <a:noFill/>
          <a:ln w="0">
            <a:solidFill>
              <a:srgbClr val="000000"/>
            </a:solidFill>
            <a:prstDash val="solid"/>
            <a:round/>
            <a:headEnd/>
            <a:tailEnd/>
          </a:ln>
        </p:spPr>
        <p:txBody>
          <a:bodyPr/>
          <a:lstStyle/>
          <a:p>
            <a:endParaRPr lang="en-GB"/>
          </a:p>
        </p:txBody>
      </p:sp>
      <p:sp>
        <p:nvSpPr>
          <p:cNvPr id="171033" name="Line 25"/>
          <p:cNvSpPr>
            <a:spLocks noChangeShapeType="1"/>
          </p:cNvSpPr>
          <p:nvPr/>
        </p:nvSpPr>
        <p:spPr bwMode="auto">
          <a:xfrm flipH="1">
            <a:off x="2574925" y="4384675"/>
            <a:ext cx="409575" cy="744538"/>
          </a:xfrm>
          <a:prstGeom prst="line">
            <a:avLst/>
          </a:prstGeom>
          <a:noFill/>
          <a:ln w="38100">
            <a:solidFill>
              <a:schemeClr val="tx1"/>
            </a:solidFill>
            <a:round/>
            <a:headEnd/>
            <a:tailEnd type="triangle" w="med" len="med"/>
          </a:ln>
        </p:spPr>
        <p:txBody>
          <a:bodyPr/>
          <a:lstStyle/>
          <a:p>
            <a:endParaRPr lang="en-GB"/>
          </a:p>
        </p:txBody>
      </p:sp>
      <p:sp>
        <p:nvSpPr>
          <p:cNvPr id="171034" name="Line 26"/>
          <p:cNvSpPr>
            <a:spLocks noChangeShapeType="1"/>
          </p:cNvSpPr>
          <p:nvPr/>
        </p:nvSpPr>
        <p:spPr bwMode="auto">
          <a:xfrm>
            <a:off x="3289300" y="4383088"/>
            <a:ext cx="446088" cy="746125"/>
          </a:xfrm>
          <a:prstGeom prst="line">
            <a:avLst/>
          </a:prstGeom>
          <a:noFill/>
          <a:ln w="38100">
            <a:solidFill>
              <a:schemeClr val="tx1"/>
            </a:solidFill>
            <a:round/>
            <a:headEnd/>
            <a:tailEnd type="triangle" w="med" len="med"/>
          </a:ln>
        </p:spPr>
        <p:txBody>
          <a:bodyPr/>
          <a:lstStyle/>
          <a:p>
            <a:endParaRPr lang="en-GB"/>
          </a:p>
        </p:txBody>
      </p:sp>
      <p:grpSp>
        <p:nvGrpSpPr>
          <p:cNvPr id="2" name="Group 27"/>
          <p:cNvGrpSpPr>
            <a:grpSpLocks/>
          </p:cNvGrpSpPr>
          <p:nvPr/>
        </p:nvGrpSpPr>
        <p:grpSpPr bwMode="auto">
          <a:xfrm>
            <a:off x="1971675" y="5292725"/>
            <a:ext cx="2528888" cy="947738"/>
            <a:chOff x="897" y="3223"/>
            <a:chExt cx="1593" cy="597"/>
          </a:xfrm>
        </p:grpSpPr>
        <p:grpSp>
          <p:nvGrpSpPr>
            <p:cNvPr id="3" name="Group 28"/>
            <p:cNvGrpSpPr>
              <a:grpSpLocks/>
            </p:cNvGrpSpPr>
            <p:nvPr/>
          </p:nvGrpSpPr>
          <p:grpSpPr bwMode="auto">
            <a:xfrm>
              <a:off x="1872" y="3223"/>
              <a:ext cx="618" cy="597"/>
              <a:chOff x="1588" y="3223"/>
              <a:chExt cx="618" cy="597"/>
            </a:xfrm>
          </p:grpSpPr>
          <p:sp>
            <p:nvSpPr>
              <p:cNvPr id="171037" name="Rectangle 29"/>
              <p:cNvSpPr>
                <a:spLocks noChangeArrowheads="1"/>
              </p:cNvSpPr>
              <p:nvPr/>
            </p:nvSpPr>
            <p:spPr bwMode="auto">
              <a:xfrm>
                <a:off x="1588" y="3512"/>
                <a:ext cx="618" cy="308"/>
              </a:xfrm>
              <a:prstGeom prst="rect">
                <a:avLst/>
              </a:prstGeom>
              <a:noFill/>
              <a:ln w="9525">
                <a:noFill/>
                <a:miter lim="800000"/>
                <a:headEnd/>
                <a:tailEnd/>
              </a:ln>
            </p:spPr>
            <p:txBody>
              <a:bodyPr wrap="none" lIns="0" tIns="0" rIns="0" bIns="0">
                <a:spAutoFit/>
              </a:bodyPr>
              <a:lstStyle/>
              <a:p>
                <a:pPr algn="ctr" eaLnBrk="0" hangingPunct="0"/>
                <a:r>
                  <a:rPr lang="en-US" sz="1600" b="1"/>
                  <a:t>Use-Case </a:t>
                </a:r>
                <a:br>
                  <a:rPr lang="en-US" sz="1600" b="1"/>
                </a:br>
                <a:r>
                  <a:rPr lang="en-US" sz="1600" b="1"/>
                  <a:t>Package</a:t>
                </a:r>
              </a:p>
            </p:txBody>
          </p:sp>
          <p:grpSp>
            <p:nvGrpSpPr>
              <p:cNvPr id="4" name="Group 30"/>
              <p:cNvGrpSpPr>
                <a:grpSpLocks/>
              </p:cNvGrpSpPr>
              <p:nvPr/>
            </p:nvGrpSpPr>
            <p:grpSpPr bwMode="auto">
              <a:xfrm>
                <a:off x="1724" y="3223"/>
                <a:ext cx="347" cy="260"/>
                <a:chOff x="1816" y="3223"/>
                <a:chExt cx="347" cy="260"/>
              </a:xfrm>
            </p:grpSpPr>
            <p:sp>
              <p:nvSpPr>
                <p:cNvPr id="171039" name="Rectangle 31"/>
                <p:cNvSpPr>
                  <a:spLocks noChangeArrowheads="1"/>
                </p:cNvSpPr>
                <p:nvPr/>
              </p:nvSpPr>
              <p:spPr bwMode="auto">
                <a:xfrm>
                  <a:off x="1833" y="3240"/>
                  <a:ext cx="138" cy="39"/>
                </a:xfrm>
                <a:prstGeom prst="rect">
                  <a:avLst/>
                </a:prstGeom>
                <a:solidFill>
                  <a:srgbClr val="CCCCCC"/>
                </a:solidFill>
                <a:ln w="9525">
                  <a:noFill/>
                  <a:miter lim="800000"/>
                  <a:headEnd/>
                  <a:tailEnd/>
                </a:ln>
              </p:spPr>
              <p:txBody>
                <a:bodyPr/>
                <a:lstStyle/>
                <a:p>
                  <a:endParaRPr lang="en-GB"/>
                </a:p>
              </p:txBody>
            </p:sp>
            <p:sp>
              <p:nvSpPr>
                <p:cNvPr id="171040" name="Rectangle 32"/>
                <p:cNvSpPr>
                  <a:spLocks noChangeArrowheads="1"/>
                </p:cNvSpPr>
                <p:nvPr/>
              </p:nvSpPr>
              <p:spPr bwMode="auto">
                <a:xfrm>
                  <a:off x="1833" y="3240"/>
                  <a:ext cx="138" cy="39"/>
                </a:xfrm>
                <a:prstGeom prst="rect">
                  <a:avLst/>
                </a:prstGeom>
                <a:noFill/>
                <a:ln w="0">
                  <a:solidFill>
                    <a:srgbClr val="CCCCCC"/>
                  </a:solidFill>
                  <a:miter lim="800000"/>
                  <a:headEnd/>
                  <a:tailEnd/>
                </a:ln>
              </p:spPr>
              <p:txBody>
                <a:bodyPr/>
                <a:lstStyle/>
                <a:p>
                  <a:endParaRPr lang="en-GB"/>
                </a:p>
              </p:txBody>
            </p:sp>
            <p:sp>
              <p:nvSpPr>
                <p:cNvPr id="171041" name="Rectangle 33"/>
                <p:cNvSpPr>
                  <a:spLocks noChangeArrowheads="1"/>
                </p:cNvSpPr>
                <p:nvPr/>
              </p:nvSpPr>
              <p:spPr bwMode="auto">
                <a:xfrm>
                  <a:off x="1833" y="3279"/>
                  <a:ext cx="330" cy="204"/>
                </a:xfrm>
                <a:prstGeom prst="rect">
                  <a:avLst/>
                </a:prstGeom>
                <a:solidFill>
                  <a:srgbClr val="CCCCCC"/>
                </a:solidFill>
                <a:ln w="9525">
                  <a:noFill/>
                  <a:miter lim="800000"/>
                  <a:headEnd/>
                  <a:tailEnd/>
                </a:ln>
              </p:spPr>
              <p:txBody>
                <a:bodyPr/>
                <a:lstStyle/>
                <a:p>
                  <a:endParaRPr lang="en-GB"/>
                </a:p>
              </p:txBody>
            </p:sp>
            <p:sp>
              <p:nvSpPr>
                <p:cNvPr id="171042" name="Rectangle 34"/>
                <p:cNvSpPr>
                  <a:spLocks noChangeArrowheads="1"/>
                </p:cNvSpPr>
                <p:nvPr/>
              </p:nvSpPr>
              <p:spPr bwMode="auto">
                <a:xfrm>
                  <a:off x="1833" y="3279"/>
                  <a:ext cx="330" cy="204"/>
                </a:xfrm>
                <a:prstGeom prst="rect">
                  <a:avLst/>
                </a:prstGeom>
                <a:noFill/>
                <a:ln w="0">
                  <a:solidFill>
                    <a:srgbClr val="CCCCCC"/>
                  </a:solidFill>
                  <a:miter lim="800000"/>
                  <a:headEnd/>
                  <a:tailEnd/>
                </a:ln>
              </p:spPr>
              <p:txBody>
                <a:bodyPr/>
                <a:lstStyle/>
                <a:p>
                  <a:endParaRPr lang="en-GB"/>
                </a:p>
              </p:txBody>
            </p:sp>
            <p:sp>
              <p:nvSpPr>
                <p:cNvPr id="171043" name="Rectangle 35"/>
                <p:cNvSpPr>
                  <a:spLocks noChangeArrowheads="1"/>
                </p:cNvSpPr>
                <p:nvPr/>
              </p:nvSpPr>
              <p:spPr bwMode="auto">
                <a:xfrm>
                  <a:off x="1816" y="3223"/>
                  <a:ext cx="141" cy="39"/>
                </a:xfrm>
                <a:prstGeom prst="rect">
                  <a:avLst/>
                </a:prstGeom>
                <a:solidFill>
                  <a:srgbClr val="336666"/>
                </a:solidFill>
                <a:ln w="9525">
                  <a:noFill/>
                  <a:miter lim="800000"/>
                  <a:headEnd/>
                  <a:tailEnd/>
                </a:ln>
              </p:spPr>
              <p:txBody>
                <a:bodyPr/>
                <a:lstStyle/>
                <a:p>
                  <a:endParaRPr lang="en-GB"/>
                </a:p>
              </p:txBody>
            </p:sp>
            <p:sp>
              <p:nvSpPr>
                <p:cNvPr id="171044" name="Rectangle 36"/>
                <p:cNvSpPr>
                  <a:spLocks noChangeArrowheads="1"/>
                </p:cNvSpPr>
                <p:nvPr/>
              </p:nvSpPr>
              <p:spPr bwMode="auto">
                <a:xfrm>
                  <a:off x="1816" y="3223"/>
                  <a:ext cx="141" cy="39"/>
                </a:xfrm>
                <a:prstGeom prst="rect">
                  <a:avLst/>
                </a:prstGeom>
                <a:noFill/>
                <a:ln w="0">
                  <a:solidFill>
                    <a:srgbClr val="000000"/>
                  </a:solidFill>
                  <a:miter lim="800000"/>
                  <a:headEnd/>
                  <a:tailEnd/>
                </a:ln>
              </p:spPr>
              <p:txBody>
                <a:bodyPr/>
                <a:lstStyle/>
                <a:p>
                  <a:endParaRPr lang="en-GB"/>
                </a:p>
              </p:txBody>
            </p:sp>
            <p:sp>
              <p:nvSpPr>
                <p:cNvPr id="171045" name="Rectangle 37"/>
                <p:cNvSpPr>
                  <a:spLocks noChangeArrowheads="1"/>
                </p:cNvSpPr>
                <p:nvPr/>
              </p:nvSpPr>
              <p:spPr bwMode="auto">
                <a:xfrm>
                  <a:off x="1816" y="3262"/>
                  <a:ext cx="330" cy="204"/>
                </a:xfrm>
                <a:prstGeom prst="rect">
                  <a:avLst/>
                </a:prstGeom>
                <a:solidFill>
                  <a:srgbClr val="336666"/>
                </a:solidFill>
                <a:ln w="9525">
                  <a:noFill/>
                  <a:miter lim="800000"/>
                  <a:headEnd/>
                  <a:tailEnd/>
                </a:ln>
              </p:spPr>
              <p:txBody>
                <a:bodyPr/>
                <a:lstStyle/>
                <a:p>
                  <a:endParaRPr lang="en-GB"/>
                </a:p>
              </p:txBody>
            </p:sp>
            <p:sp>
              <p:nvSpPr>
                <p:cNvPr id="171046" name="Rectangle 38"/>
                <p:cNvSpPr>
                  <a:spLocks noChangeArrowheads="1"/>
                </p:cNvSpPr>
                <p:nvPr/>
              </p:nvSpPr>
              <p:spPr bwMode="auto">
                <a:xfrm>
                  <a:off x="1816" y="3262"/>
                  <a:ext cx="330" cy="204"/>
                </a:xfrm>
                <a:prstGeom prst="rect">
                  <a:avLst/>
                </a:prstGeom>
                <a:noFill/>
                <a:ln w="0">
                  <a:solidFill>
                    <a:srgbClr val="000000"/>
                  </a:solidFill>
                  <a:miter lim="800000"/>
                  <a:headEnd/>
                  <a:tailEnd/>
                </a:ln>
              </p:spPr>
              <p:txBody>
                <a:bodyPr/>
                <a:lstStyle/>
                <a:p>
                  <a:endParaRPr lang="en-GB"/>
                </a:p>
              </p:txBody>
            </p:sp>
            <p:sp>
              <p:nvSpPr>
                <p:cNvPr id="171047" name="Freeform 39"/>
                <p:cNvSpPr>
                  <a:spLocks/>
                </p:cNvSpPr>
                <p:nvPr/>
              </p:nvSpPr>
              <p:spPr bwMode="auto">
                <a:xfrm>
                  <a:off x="1840" y="3313"/>
                  <a:ext cx="282" cy="114"/>
                </a:xfrm>
                <a:custGeom>
                  <a:avLst/>
                  <a:gdLst/>
                  <a:ahLst/>
                  <a:cxnLst>
                    <a:cxn ang="0">
                      <a:pos x="141" y="0"/>
                    </a:cxn>
                    <a:cxn ang="0">
                      <a:pos x="170" y="0"/>
                    </a:cxn>
                    <a:cxn ang="0">
                      <a:pos x="197" y="5"/>
                    </a:cxn>
                    <a:cxn ang="0">
                      <a:pos x="218" y="9"/>
                    </a:cxn>
                    <a:cxn ang="0">
                      <a:pos x="240" y="17"/>
                    </a:cxn>
                    <a:cxn ang="0">
                      <a:pos x="257" y="24"/>
                    </a:cxn>
                    <a:cxn ang="0">
                      <a:pos x="272" y="34"/>
                    </a:cxn>
                    <a:cxn ang="0">
                      <a:pos x="277" y="39"/>
                    </a:cxn>
                    <a:cxn ang="0">
                      <a:pos x="279" y="46"/>
                    </a:cxn>
                    <a:cxn ang="0">
                      <a:pos x="282" y="51"/>
                    </a:cxn>
                    <a:cxn ang="0">
                      <a:pos x="282" y="56"/>
                    </a:cxn>
                    <a:cxn ang="0">
                      <a:pos x="282" y="63"/>
                    </a:cxn>
                    <a:cxn ang="0">
                      <a:pos x="279" y="68"/>
                    </a:cxn>
                    <a:cxn ang="0">
                      <a:pos x="277" y="73"/>
                    </a:cxn>
                    <a:cxn ang="0">
                      <a:pos x="272" y="77"/>
                    </a:cxn>
                    <a:cxn ang="0">
                      <a:pos x="257" y="87"/>
                    </a:cxn>
                    <a:cxn ang="0">
                      <a:pos x="240" y="97"/>
                    </a:cxn>
                    <a:cxn ang="0">
                      <a:pos x="218" y="104"/>
                    </a:cxn>
                    <a:cxn ang="0">
                      <a:pos x="197" y="109"/>
                    </a:cxn>
                    <a:cxn ang="0">
                      <a:pos x="170" y="111"/>
                    </a:cxn>
                    <a:cxn ang="0">
                      <a:pos x="141" y="114"/>
                    </a:cxn>
                    <a:cxn ang="0">
                      <a:pos x="112" y="111"/>
                    </a:cxn>
                    <a:cxn ang="0">
                      <a:pos x="85" y="109"/>
                    </a:cxn>
                    <a:cxn ang="0">
                      <a:pos x="61" y="104"/>
                    </a:cxn>
                    <a:cxn ang="0">
                      <a:pos x="41" y="97"/>
                    </a:cxn>
                    <a:cxn ang="0">
                      <a:pos x="24" y="87"/>
                    </a:cxn>
                    <a:cxn ang="0">
                      <a:pos x="10" y="77"/>
                    </a:cxn>
                    <a:cxn ang="0">
                      <a:pos x="5" y="73"/>
                    </a:cxn>
                    <a:cxn ang="0">
                      <a:pos x="3" y="68"/>
                    </a:cxn>
                    <a:cxn ang="0">
                      <a:pos x="0" y="63"/>
                    </a:cxn>
                    <a:cxn ang="0">
                      <a:pos x="0" y="56"/>
                    </a:cxn>
                    <a:cxn ang="0">
                      <a:pos x="0" y="51"/>
                    </a:cxn>
                    <a:cxn ang="0">
                      <a:pos x="3" y="46"/>
                    </a:cxn>
                    <a:cxn ang="0">
                      <a:pos x="5" y="39"/>
                    </a:cxn>
                    <a:cxn ang="0">
                      <a:pos x="10" y="34"/>
                    </a:cxn>
                    <a:cxn ang="0">
                      <a:pos x="24" y="24"/>
                    </a:cxn>
                    <a:cxn ang="0">
                      <a:pos x="41" y="17"/>
                    </a:cxn>
                    <a:cxn ang="0">
                      <a:pos x="61" y="9"/>
                    </a:cxn>
                    <a:cxn ang="0">
                      <a:pos x="85" y="5"/>
                    </a:cxn>
                    <a:cxn ang="0">
                      <a:pos x="112" y="0"/>
                    </a:cxn>
                    <a:cxn ang="0">
                      <a:pos x="141" y="0"/>
                    </a:cxn>
                  </a:cxnLst>
                  <a:rect l="0" t="0" r="r" b="b"/>
                  <a:pathLst>
                    <a:path w="282" h="114">
                      <a:moveTo>
                        <a:pt x="141" y="0"/>
                      </a:moveTo>
                      <a:lnTo>
                        <a:pt x="170" y="0"/>
                      </a:lnTo>
                      <a:lnTo>
                        <a:pt x="197" y="5"/>
                      </a:lnTo>
                      <a:lnTo>
                        <a:pt x="218" y="9"/>
                      </a:lnTo>
                      <a:lnTo>
                        <a:pt x="240" y="17"/>
                      </a:lnTo>
                      <a:lnTo>
                        <a:pt x="257" y="24"/>
                      </a:lnTo>
                      <a:lnTo>
                        <a:pt x="272" y="34"/>
                      </a:lnTo>
                      <a:lnTo>
                        <a:pt x="277" y="39"/>
                      </a:lnTo>
                      <a:lnTo>
                        <a:pt x="279" y="46"/>
                      </a:lnTo>
                      <a:lnTo>
                        <a:pt x="282" y="51"/>
                      </a:lnTo>
                      <a:lnTo>
                        <a:pt x="282" y="56"/>
                      </a:lnTo>
                      <a:lnTo>
                        <a:pt x="282" y="63"/>
                      </a:lnTo>
                      <a:lnTo>
                        <a:pt x="279" y="68"/>
                      </a:lnTo>
                      <a:lnTo>
                        <a:pt x="277" y="73"/>
                      </a:lnTo>
                      <a:lnTo>
                        <a:pt x="272" y="77"/>
                      </a:lnTo>
                      <a:lnTo>
                        <a:pt x="257" y="87"/>
                      </a:lnTo>
                      <a:lnTo>
                        <a:pt x="240" y="97"/>
                      </a:lnTo>
                      <a:lnTo>
                        <a:pt x="218" y="104"/>
                      </a:lnTo>
                      <a:lnTo>
                        <a:pt x="197" y="109"/>
                      </a:lnTo>
                      <a:lnTo>
                        <a:pt x="170" y="111"/>
                      </a:lnTo>
                      <a:lnTo>
                        <a:pt x="141" y="114"/>
                      </a:lnTo>
                      <a:lnTo>
                        <a:pt x="112" y="111"/>
                      </a:lnTo>
                      <a:lnTo>
                        <a:pt x="85" y="109"/>
                      </a:lnTo>
                      <a:lnTo>
                        <a:pt x="61" y="104"/>
                      </a:lnTo>
                      <a:lnTo>
                        <a:pt x="41" y="97"/>
                      </a:lnTo>
                      <a:lnTo>
                        <a:pt x="24" y="87"/>
                      </a:lnTo>
                      <a:lnTo>
                        <a:pt x="10" y="77"/>
                      </a:lnTo>
                      <a:lnTo>
                        <a:pt x="5" y="73"/>
                      </a:lnTo>
                      <a:lnTo>
                        <a:pt x="3" y="68"/>
                      </a:lnTo>
                      <a:lnTo>
                        <a:pt x="0" y="63"/>
                      </a:lnTo>
                      <a:lnTo>
                        <a:pt x="0" y="56"/>
                      </a:lnTo>
                      <a:lnTo>
                        <a:pt x="0" y="51"/>
                      </a:lnTo>
                      <a:lnTo>
                        <a:pt x="3" y="46"/>
                      </a:lnTo>
                      <a:lnTo>
                        <a:pt x="5" y="39"/>
                      </a:lnTo>
                      <a:lnTo>
                        <a:pt x="10" y="34"/>
                      </a:lnTo>
                      <a:lnTo>
                        <a:pt x="24" y="24"/>
                      </a:lnTo>
                      <a:lnTo>
                        <a:pt x="41" y="17"/>
                      </a:lnTo>
                      <a:lnTo>
                        <a:pt x="61" y="9"/>
                      </a:lnTo>
                      <a:lnTo>
                        <a:pt x="85" y="5"/>
                      </a:lnTo>
                      <a:lnTo>
                        <a:pt x="112" y="0"/>
                      </a:lnTo>
                      <a:lnTo>
                        <a:pt x="141" y="0"/>
                      </a:lnTo>
                      <a:close/>
                    </a:path>
                  </a:pathLst>
                </a:custGeom>
                <a:solidFill>
                  <a:srgbClr val="669999"/>
                </a:solidFill>
                <a:ln w="9525">
                  <a:noFill/>
                  <a:round/>
                  <a:headEnd/>
                  <a:tailEnd/>
                </a:ln>
              </p:spPr>
              <p:txBody>
                <a:bodyPr/>
                <a:lstStyle/>
                <a:p>
                  <a:endParaRPr lang="en-GB"/>
                </a:p>
              </p:txBody>
            </p:sp>
            <p:sp>
              <p:nvSpPr>
                <p:cNvPr id="171048" name="Freeform 40"/>
                <p:cNvSpPr>
                  <a:spLocks/>
                </p:cNvSpPr>
                <p:nvPr/>
              </p:nvSpPr>
              <p:spPr bwMode="auto">
                <a:xfrm>
                  <a:off x="1840" y="3313"/>
                  <a:ext cx="282" cy="114"/>
                </a:xfrm>
                <a:custGeom>
                  <a:avLst/>
                  <a:gdLst/>
                  <a:ahLst/>
                  <a:cxnLst>
                    <a:cxn ang="0">
                      <a:pos x="141" y="0"/>
                    </a:cxn>
                    <a:cxn ang="0">
                      <a:pos x="170" y="0"/>
                    </a:cxn>
                    <a:cxn ang="0">
                      <a:pos x="197" y="5"/>
                    </a:cxn>
                    <a:cxn ang="0">
                      <a:pos x="218" y="9"/>
                    </a:cxn>
                    <a:cxn ang="0">
                      <a:pos x="240" y="17"/>
                    </a:cxn>
                    <a:cxn ang="0">
                      <a:pos x="257" y="24"/>
                    </a:cxn>
                    <a:cxn ang="0">
                      <a:pos x="272" y="34"/>
                    </a:cxn>
                    <a:cxn ang="0">
                      <a:pos x="277" y="39"/>
                    </a:cxn>
                    <a:cxn ang="0">
                      <a:pos x="279" y="46"/>
                    </a:cxn>
                    <a:cxn ang="0">
                      <a:pos x="282" y="51"/>
                    </a:cxn>
                    <a:cxn ang="0">
                      <a:pos x="282" y="56"/>
                    </a:cxn>
                    <a:cxn ang="0">
                      <a:pos x="282" y="63"/>
                    </a:cxn>
                    <a:cxn ang="0">
                      <a:pos x="279" y="68"/>
                    </a:cxn>
                    <a:cxn ang="0">
                      <a:pos x="277" y="73"/>
                    </a:cxn>
                    <a:cxn ang="0">
                      <a:pos x="272" y="77"/>
                    </a:cxn>
                    <a:cxn ang="0">
                      <a:pos x="257" y="87"/>
                    </a:cxn>
                    <a:cxn ang="0">
                      <a:pos x="240" y="97"/>
                    </a:cxn>
                    <a:cxn ang="0">
                      <a:pos x="218" y="104"/>
                    </a:cxn>
                    <a:cxn ang="0">
                      <a:pos x="197" y="109"/>
                    </a:cxn>
                    <a:cxn ang="0">
                      <a:pos x="170" y="111"/>
                    </a:cxn>
                    <a:cxn ang="0">
                      <a:pos x="141" y="114"/>
                    </a:cxn>
                    <a:cxn ang="0">
                      <a:pos x="112" y="111"/>
                    </a:cxn>
                    <a:cxn ang="0">
                      <a:pos x="85" y="109"/>
                    </a:cxn>
                    <a:cxn ang="0">
                      <a:pos x="61" y="104"/>
                    </a:cxn>
                    <a:cxn ang="0">
                      <a:pos x="41" y="97"/>
                    </a:cxn>
                    <a:cxn ang="0">
                      <a:pos x="24" y="87"/>
                    </a:cxn>
                    <a:cxn ang="0">
                      <a:pos x="10" y="77"/>
                    </a:cxn>
                    <a:cxn ang="0">
                      <a:pos x="5" y="73"/>
                    </a:cxn>
                    <a:cxn ang="0">
                      <a:pos x="3" y="68"/>
                    </a:cxn>
                    <a:cxn ang="0">
                      <a:pos x="0" y="63"/>
                    </a:cxn>
                    <a:cxn ang="0">
                      <a:pos x="0" y="56"/>
                    </a:cxn>
                    <a:cxn ang="0">
                      <a:pos x="0" y="51"/>
                    </a:cxn>
                    <a:cxn ang="0">
                      <a:pos x="3" y="46"/>
                    </a:cxn>
                    <a:cxn ang="0">
                      <a:pos x="5" y="39"/>
                    </a:cxn>
                    <a:cxn ang="0">
                      <a:pos x="10" y="34"/>
                    </a:cxn>
                    <a:cxn ang="0">
                      <a:pos x="24" y="24"/>
                    </a:cxn>
                    <a:cxn ang="0">
                      <a:pos x="41" y="17"/>
                    </a:cxn>
                    <a:cxn ang="0">
                      <a:pos x="61" y="9"/>
                    </a:cxn>
                    <a:cxn ang="0">
                      <a:pos x="85" y="5"/>
                    </a:cxn>
                    <a:cxn ang="0">
                      <a:pos x="112" y="0"/>
                    </a:cxn>
                    <a:cxn ang="0">
                      <a:pos x="141" y="0"/>
                    </a:cxn>
                  </a:cxnLst>
                  <a:rect l="0" t="0" r="r" b="b"/>
                  <a:pathLst>
                    <a:path w="282" h="114">
                      <a:moveTo>
                        <a:pt x="141" y="0"/>
                      </a:moveTo>
                      <a:lnTo>
                        <a:pt x="170" y="0"/>
                      </a:lnTo>
                      <a:lnTo>
                        <a:pt x="197" y="5"/>
                      </a:lnTo>
                      <a:lnTo>
                        <a:pt x="218" y="9"/>
                      </a:lnTo>
                      <a:lnTo>
                        <a:pt x="240" y="17"/>
                      </a:lnTo>
                      <a:lnTo>
                        <a:pt x="257" y="24"/>
                      </a:lnTo>
                      <a:lnTo>
                        <a:pt x="272" y="34"/>
                      </a:lnTo>
                      <a:lnTo>
                        <a:pt x="277" y="39"/>
                      </a:lnTo>
                      <a:lnTo>
                        <a:pt x="279" y="46"/>
                      </a:lnTo>
                      <a:lnTo>
                        <a:pt x="282" y="51"/>
                      </a:lnTo>
                      <a:lnTo>
                        <a:pt x="282" y="56"/>
                      </a:lnTo>
                      <a:lnTo>
                        <a:pt x="282" y="63"/>
                      </a:lnTo>
                      <a:lnTo>
                        <a:pt x="279" y="68"/>
                      </a:lnTo>
                      <a:lnTo>
                        <a:pt x="277" y="73"/>
                      </a:lnTo>
                      <a:lnTo>
                        <a:pt x="272" y="77"/>
                      </a:lnTo>
                      <a:lnTo>
                        <a:pt x="257" y="87"/>
                      </a:lnTo>
                      <a:lnTo>
                        <a:pt x="240" y="97"/>
                      </a:lnTo>
                      <a:lnTo>
                        <a:pt x="218" y="104"/>
                      </a:lnTo>
                      <a:lnTo>
                        <a:pt x="197" y="109"/>
                      </a:lnTo>
                      <a:lnTo>
                        <a:pt x="170" y="111"/>
                      </a:lnTo>
                      <a:lnTo>
                        <a:pt x="141" y="114"/>
                      </a:lnTo>
                      <a:lnTo>
                        <a:pt x="112" y="111"/>
                      </a:lnTo>
                      <a:lnTo>
                        <a:pt x="85" y="109"/>
                      </a:lnTo>
                      <a:lnTo>
                        <a:pt x="61" y="104"/>
                      </a:lnTo>
                      <a:lnTo>
                        <a:pt x="41" y="97"/>
                      </a:lnTo>
                      <a:lnTo>
                        <a:pt x="24" y="87"/>
                      </a:lnTo>
                      <a:lnTo>
                        <a:pt x="10" y="77"/>
                      </a:lnTo>
                      <a:lnTo>
                        <a:pt x="5" y="73"/>
                      </a:lnTo>
                      <a:lnTo>
                        <a:pt x="3" y="68"/>
                      </a:lnTo>
                      <a:lnTo>
                        <a:pt x="0" y="63"/>
                      </a:lnTo>
                      <a:lnTo>
                        <a:pt x="0" y="56"/>
                      </a:lnTo>
                      <a:lnTo>
                        <a:pt x="0" y="51"/>
                      </a:lnTo>
                      <a:lnTo>
                        <a:pt x="3" y="46"/>
                      </a:lnTo>
                      <a:lnTo>
                        <a:pt x="5" y="39"/>
                      </a:lnTo>
                      <a:lnTo>
                        <a:pt x="10" y="34"/>
                      </a:lnTo>
                      <a:lnTo>
                        <a:pt x="24" y="24"/>
                      </a:lnTo>
                      <a:lnTo>
                        <a:pt x="41" y="17"/>
                      </a:lnTo>
                      <a:lnTo>
                        <a:pt x="61" y="9"/>
                      </a:lnTo>
                      <a:lnTo>
                        <a:pt x="85" y="5"/>
                      </a:lnTo>
                      <a:lnTo>
                        <a:pt x="112" y="0"/>
                      </a:lnTo>
                      <a:lnTo>
                        <a:pt x="141" y="0"/>
                      </a:lnTo>
                    </a:path>
                  </a:pathLst>
                </a:custGeom>
                <a:noFill/>
                <a:ln w="0">
                  <a:solidFill>
                    <a:srgbClr val="000000"/>
                  </a:solidFill>
                  <a:prstDash val="solid"/>
                  <a:round/>
                  <a:headEnd/>
                  <a:tailEnd/>
                </a:ln>
              </p:spPr>
              <p:txBody>
                <a:bodyPr/>
                <a:lstStyle/>
                <a:p>
                  <a:endParaRPr lang="en-GB"/>
                </a:p>
              </p:txBody>
            </p:sp>
          </p:grpSp>
        </p:grpSp>
        <p:grpSp>
          <p:nvGrpSpPr>
            <p:cNvPr id="5" name="Group 41"/>
            <p:cNvGrpSpPr>
              <a:grpSpLocks/>
            </p:cNvGrpSpPr>
            <p:nvPr/>
          </p:nvGrpSpPr>
          <p:grpSpPr bwMode="auto">
            <a:xfrm>
              <a:off x="897" y="3223"/>
              <a:ext cx="575" cy="428"/>
              <a:chOff x="791" y="3230"/>
              <a:chExt cx="575" cy="428"/>
            </a:xfrm>
          </p:grpSpPr>
          <p:sp>
            <p:nvSpPr>
              <p:cNvPr id="171050" name="Rectangle 42"/>
              <p:cNvSpPr>
                <a:spLocks noChangeArrowheads="1"/>
              </p:cNvSpPr>
              <p:nvPr/>
            </p:nvSpPr>
            <p:spPr bwMode="auto">
              <a:xfrm>
                <a:off x="791" y="3504"/>
                <a:ext cx="575" cy="154"/>
              </a:xfrm>
              <a:prstGeom prst="rect">
                <a:avLst/>
              </a:prstGeom>
              <a:noFill/>
              <a:ln w="9525">
                <a:noFill/>
                <a:miter lim="800000"/>
                <a:headEnd/>
                <a:tailEnd/>
              </a:ln>
            </p:spPr>
            <p:txBody>
              <a:bodyPr wrap="none" lIns="0" tIns="0" rIns="0" bIns="0">
                <a:spAutoFit/>
              </a:bodyPr>
              <a:lstStyle/>
              <a:p>
                <a:pPr eaLnBrk="0" hangingPunct="0"/>
                <a:r>
                  <a:rPr lang="en-US" sz="1600" b="1"/>
                  <a:t>Use Case</a:t>
                </a:r>
              </a:p>
            </p:txBody>
          </p:sp>
          <p:grpSp>
            <p:nvGrpSpPr>
              <p:cNvPr id="6" name="Group 43"/>
              <p:cNvGrpSpPr>
                <a:grpSpLocks/>
              </p:cNvGrpSpPr>
              <p:nvPr/>
            </p:nvGrpSpPr>
            <p:grpSpPr bwMode="auto">
              <a:xfrm>
                <a:off x="821" y="3230"/>
                <a:ext cx="500" cy="209"/>
                <a:chOff x="796" y="3230"/>
                <a:chExt cx="500" cy="209"/>
              </a:xfrm>
            </p:grpSpPr>
            <p:sp>
              <p:nvSpPr>
                <p:cNvPr id="171052" name="Freeform 44"/>
                <p:cNvSpPr>
                  <a:spLocks/>
                </p:cNvSpPr>
                <p:nvPr/>
              </p:nvSpPr>
              <p:spPr bwMode="auto">
                <a:xfrm>
                  <a:off x="811" y="3242"/>
                  <a:ext cx="485" cy="197"/>
                </a:xfrm>
                <a:custGeom>
                  <a:avLst/>
                  <a:gdLst/>
                  <a:ahLst/>
                  <a:cxnLst>
                    <a:cxn ang="0">
                      <a:pos x="242" y="0"/>
                    </a:cxn>
                    <a:cxn ang="0">
                      <a:pos x="291" y="3"/>
                    </a:cxn>
                    <a:cxn ang="0">
                      <a:pos x="334" y="7"/>
                    </a:cxn>
                    <a:cxn ang="0">
                      <a:pos x="376" y="17"/>
                    </a:cxn>
                    <a:cxn ang="0">
                      <a:pos x="412" y="29"/>
                    </a:cxn>
                    <a:cxn ang="0">
                      <a:pos x="429" y="37"/>
                    </a:cxn>
                    <a:cxn ang="0">
                      <a:pos x="441" y="44"/>
                    </a:cxn>
                    <a:cxn ang="0">
                      <a:pos x="453" y="51"/>
                    </a:cxn>
                    <a:cxn ang="0">
                      <a:pos x="465" y="61"/>
                    </a:cxn>
                    <a:cxn ang="0">
                      <a:pos x="473" y="68"/>
                    </a:cxn>
                    <a:cxn ang="0">
                      <a:pos x="480" y="78"/>
                    </a:cxn>
                    <a:cxn ang="0">
                      <a:pos x="482" y="88"/>
                    </a:cxn>
                    <a:cxn ang="0">
                      <a:pos x="485" y="97"/>
                    </a:cxn>
                    <a:cxn ang="0">
                      <a:pos x="482" y="109"/>
                    </a:cxn>
                    <a:cxn ang="0">
                      <a:pos x="480" y="119"/>
                    </a:cxn>
                    <a:cxn ang="0">
                      <a:pos x="473" y="126"/>
                    </a:cxn>
                    <a:cxn ang="0">
                      <a:pos x="465" y="136"/>
                    </a:cxn>
                    <a:cxn ang="0">
                      <a:pos x="453" y="146"/>
                    </a:cxn>
                    <a:cxn ang="0">
                      <a:pos x="441" y="153"/>
                    </a:cxn>
                    <a:cxn ang="0">
                      <a:pos x="429" y="160"/>
                    </a:cxn>
                    <a:cxn ang="0">
                      <a:pos x="412" y="168"/>
                    </a:cxn>
                    <a:cxn ang="0">
                      <a:pos x="376" y="180"/>
                    </a:cxn>
                    <a:cxn ang="0">
                      <a:pos x="334" y="190"/>
                    </a:cxn>
                    <a:cxn ang="0">
                      <a:pos x="291" y="194"/>
                    </a:cxn>
                    <a:cxn ang="0">
                      <a:pos x="242" y="197"/>
                    </a:cxn>
                    <a:cxn ang="0">
                      <a:pos x="191" y="194"/>
                    </a:cxn>
                    <a:cxn ang="0">
                      <a:pos x="148" y="190"/>
                    </a:cxn>
                    <a:cxn ang="0">
                      <a:pos x="106" y="180"/>
                    </a:cxn>
                    <a:cxn ang="0">
                      <a:pos x="70" y="168"/>
                    </a:cxn>
                    <a:cxn ang="0">
                      <a:pos x="53" y="160"/>
                    </a:cxn>
                    <a:cxn ang="0">
                      <a:pos x="41" y="153"/>
                    </a:cxn>
                    <a:cxn ang="0">
                      <a:pos x="29" y="146"/>
                    </a:cxn>
                    <a:cxn ang="0">
                      <a:pos x="17" y="136"/>
                    </a:cxn>
                    <a:cxn ang="0">
                      <a:pos x="9" y="126"/>
                    </a:cxn>
                    <a:cxn ang="0">
                      <a:pos x="4" y="119"/>
                    </a:cxn>
                    <a:cxn ang="0">
                      <a:pos x="0" y="109"/>
                    </a:cxn>
                    <a:cxn ang="0">
                      <a:pos x="0" y="97"/>
                    </a:cxn>
                    <a:cxn ang="0">
                      <a:pos x="0" y="88"/>
                    </a:cxn>
                    <a:cxn ang="0">
                      <a:pos x="4" y="78"/>
                    </a:cxn>
                    <a:cxn ang="0">
                      <a:pos x="9" y="68"/>
                    </a:cxn>
                    <a:cxn ang="0">
                      <a:pos x="17" y="61"/>
                    </a:cxn>
                    <a:cxn ang="0">
                      <a:pos x="29" y="51"/>
                    </a:cxn>
                    <a:cxn ang="0">
                      <a:pos x="41" y="44"/>
                    </a:cxn>
                    <a:cxn ang="0">
                      <a:pos x="53" y="37"/>
                    </a:cxn>
                    <a:cxn ang="0">
                      <a:pos x="70" y="29"/>
                    </a:cxn>
                    <a:cxn ang="0">
                      <a:pos x="106" y="17"/>
                    </a:cxn>
                    <a:cxn ang="0">
                      <a:pos x="148" y="7"/>
                    </a:cxn>
                    <a:cxn ang="0">
                      <a:pos x="191" y="3"/>
                    </a:cxn>
                    <a:cxn ang="0">
                      <a:pos x="242" y="0"/>
                    </a:cxn>
                  </a:cxnLst>
                  <a:rect l="0" t="0" r="r" b="b"/>
                  <a:pathLst>
                    <a:path w="485" h="197">
                      <a:moveTo>
                        <a:pt x="242" y="0"/>
                      </a:moveTo>
                      <a:lnTo>
                        <a:pt x="291" y="3"/>
                      </a:lnTo>
                      <a:lnTo>
                        <a:pt x="334" y="7"/>
                      </a:lnTo>
                      <a:lnTo>
                        <a:pt x="376" y="17"/>
                      </a:lnTo>
                      <a:lnTo>
                        <a:pt x="412" y="29"/>
                      </a:lnTo>
                      <a:lnTo>
                        <a:pt x="429" y="37"/>
                      </a:lnTo>
                      <a:lnTo>
                        <a:pt x="441" y="44"/>
                      </a:lnTo>
                      <a:lnTo>
                        <a:pt x="453" y="51"/>
                      </a:lnTo>
                      <a:lnTo>
                        <a:pt x="465" y="61"/>
                      </a:lnTo>
                      <a:lnTo>
                        <a:pt x="473" y="68"/>
                      </a:lnTo>
                      <a:lnTo>
                        <a:pt x="480" y="78"/>
                      </a:lnTo>
                      <a:lnTo>
                        <a:pt x="482" y="88"/>
                      </a:lnTo>
                      <a:lnTo>
                        <a:pt x="485" y="97"/>
                      </a:lnTo>
                      <a:lnTo>
                        <a:pt x="482" y="109"/>
                      </a:lnTo>
                      <a:lnTo>
                        <a:pt x="480" y="119"/>
                      </a:lnTo>
                      <a:lnTo>
                        <a:pt x="473" y="126"/>
                      </a:lnTo>
                      <a:lnTo>
                        <a:pt x="465" y="136"/>
                      </a:lnTo>
                      <a:lnTo>
                        <a:pt x="453" y="146"/>
                      </a:lnTo>
                      <a:lnTo>
                        <a:pt x="441" y="153"/>
                      </a:lnTo>
                      <a:lnTo>
                        <a:pt x="429" y="160"/>
                      </a:lnTo>
                      <a:lnTo>
                        <a:pt x="412" y="168"/>
                      </a:lnTo>
                      <a:lnTo>
                        <a:pt x="376" y="180"/>
                      </a:lnTo>
                      <a:lnTo>
                        <a:pt x="334" y="190"/>
                      </a:lnTo>
                      <a:lnTo>
                        <a:pt x="291" y="194"/>
                      </a:lnTo>
                      <a:lnTo>
                        <a:pt x="242" y="197"/>
                      </a:lnTo>
                      <a:lnTo>
                        <a:pt x="191" y="194"/>
                      </a:lnTo>
                      <a:lnTo>
                        <a:pt x="148" y="190"/>
                      </a:lnTo>
                      <a:lnTo>
                        <a:pt x="106" y="180"/>
                      </a:lnTo>
                      <a:lnTo>
                        <a:pt x="70" y="168"/>
                      </a:lnTo>
                      <a:lnTo>
                        <a:pt x="53" y="160"/>
                      </a:lnTo>
                      <a:lnTo>
                        <a:pt x="41" y="153"/>
                      </a:lnTo>
                      <a:lnTo>
                        <a:pt x="29" y="146"/>
                      </a:lnTo>
                      <a:lnTo>
                        <a:pt x="17" y="136"/>
                      </a:lnTo>
                      <a:lnTo>
                        <a:pt x="9" y="126"/>
                      </a:lnTo>
                      <a:lnTo>
                        <a:pt x="4" y="119"/>
                      </a:lnTo>
                      <a:lnTo>
                        <a:pt x="0" y="109"/>
                      </a:lnTo>
                      <a:lnTo>
                        <a:pt x="0" y="97"/>
                      </a:lnTo>
                      <a:lnTo>
                        <a:pt x="0" y="88"/>
                      </a:lnTo>
                      <a:lnTo>
                        <a:pt x="4" y="78"/>
                      </a:lnTo>
                      <a:lnTo>
                        <a:pt x="9" y="68"/>
                      </a:lnTo>
                      <a:lnTo>
                        <a:pt x="17" y="61"/>
                      </a:lnTo>
                      <a:lnTo>
                        <a:pt x="29" y="51"/>
                      </a:lnTo>
                      <a:lnTo>
                        <a:pt x="41" y="44"/>
                      </a:lnTo>
                      <a:lnTo>
                        <a:pt x="53" y="37"/>
                      </a:lnTo>
                      <a:lnTo>
                        <a:pt x="70" y="29"/>
                      </a:lnTo>
                      <a:lnTo>
                        <a:pt x="106" y="17"/>
                      </a:lnTo>
                      <a:lnTo>
                        <a:pt x="148" y="7"/>
                      </a:lnTo>
                      <a:lnTo>
                        <a:pt x="191" y="3"/>
                      </a:lnTo>
                      <a:lnTo>
                        <a:pt x="242" y="0"/>
                      </a:lnTo>
                      <a:close/>
                    </a:path>
                  </a:pathLst>
                </a:custGeom>
                <a:solidFill>
                  <a:srgbClr val="CCCCCC"/>
                </a:solidFill>
                <a:ln w="9525">
                  <a:noFill/>
                  <a:round/>
                  <a:headEnd/>
                  <a:tailEnd/>
                </a:ln>
              </p:spPr>
              <p:txBody>
                <a:bodyPr/>
                <a:lstStyle/>
                <a:p>
                  <a:endParaRPr lang="en-GB"/>
                </a:p>
              </p:txBody>
            </p:sp>
            <p:sp>
              <p:nvSpPr>
                <p:cNvPr id="171053" name="Freeform 45"/>
                <p:cNvSpPr>
                  <a:spLocks/>
                </p:cNvSpPr>
                <p:nvPr/>
              </p:nvSpPr>
              <p:spPr bwMode="auto">
                <a:xfrm>
                  <a:off x="811" y="3242"/>
                  <a:ext cx="485" cy="197"/>
                </a:xfrm>
                <a:custGeom>
                  <a:avLst/>
                  <a:gdLst/>
                  <a:ahLst/>
                  <a:cxnLst>
                    <a:cxn ang="0">
                      <a:pos x="242" y="0"/>
                    </a:cxn>
                    <a:cxn ang="0">
                      <a:pos x="291" y="3"/>
                    </a:cxn>
                    <a:cxn ang="0">
                      <a:pos x="334" y="7"/>
                    </a:cxn>
                    <a:cxn ang="0">
                      <a:pos x="376" y="17"/>
                    </a:cxn>
                    <a:cxn ang="0">
                      <a:pos x="412" y="29"/>
                    </a:cxn>
                    <a:cxn ang="0">
                      <a:pos x="429" y="37"/>
                    </a:cxn>
                    <a:cxn ang="0">
                      <a:pos x="441" y="44"/>
                    </a:cxn>
                    <a:cxn ang="0">
                      <a:pos x="453" y="51"/>
                    </a:cxn>
                    <a:cxn ang="0">
                      <a:pos x="465" y="61"/>
                    </a:cxn>
                    <a:cxn ang="0">
                      <a:pos x="473" y="68"/>
                    </a:cxn>
                    <a:cxn ang="0">
                      <a:pos x="480" y="78"/>
                    </a:cxn>
                    <a:cxn ang="0">
                      <a:pos x="482" y="88"/>
                    </a:cxn>
                    <a:cxn ang="0">
                      <a:pos x="485" y="97"/>
                    </a:cxn>
                    <a:cxn ang="0">
                      <a:pos x="482" y="109"/>
                    </a:cxn>
                    <a:cxn ang="0">
                      <a:pos x="480" y="119"/>
                    </a:cxn>
                    <a:cxn ang="0">
                      <a:pos x="473" y="126"/>
                    </a:cxn>
                    <a:cxn ang="0">
                      <a:pos x="465" y="136"/>
                    </a:cxn>
                    <a:cxn ang="0">
                      <a:pos x="453" y="146"/>
                    </a:cxn>
                    <a:cxn ang="0">
                      <a:pos x="441" y="153"/>
                    </a:cxn>
                    <a:cxn ang="0">
                      <a:pos x="429" y="160"/>
                    </a:cxn>
                    <a:cxn ang="0">
                      <a:pos x="412" y="168"/>
                    </a:cxn>
                    <a:cxn ang="0">
                      <a:pos x="376" y="180"/>
                    </a:cxn>
                    <a:cxn ang="0">
                      <a:pos x="334" y="190"/>
                    </a:cxn>
                    <a:cxn ang="0">
                      <a:pos x="291" y="194"/>
                    </a:cxn>
                    <a:cxn ang="0">
                      <a:pos x="242" y="197"/>
                    </a:cxn>
                    <a:cxn ang="0">
                      <a:pos x="191" y="194"/>
                    </a:cxn>
                    <a:cxn ang="0">
                      <a:pos x="148" y="190"/>
                    </a:cxn>
                    <a:cxn ang="0">
                      <a:pos x="106" y="180"/>
                    </a:cxn>
                    <a:cxn ang="0">
                      <a:pos x="70" y="168"/>
                    </a:cxn>
                    <a:cxn ang="0">
                      <a:pos x="53" y="160"/>
                    </a:cxn>
                    <a:cxn ang="0">
                      <a:pos x="41" y="153"/>
                    </a:cxn>
                    <a:cxn ang="0">
                      <a:pos x="29" y="146"/>
                    </a:cxn>
                    <a:cxn ang="0">
                      <a:pos x="17" y="136"/>
                    </a:cxn>
                    <a:cxn ang="0">
                      <a:pos x="9" y="126"/>
                    </a:cxn>
                    <a:cxn ang="0">
                      <a:pos x="4" y="119"/>
                    </a:cxn>
                    <a:cxn ang="0">
                      <a:pos x="0" y="109"/>
                    </a:cxn>
                    <a:cxn ang="0">
                      <a:pos x="0" y="97"/>
                    </a:cxn>
                    <a:cxn ang="0">
                      <a:pos x="0" y="88"/>
                    </a:cxn>
                    <a:cxn ang="0">
                      <a:pos x="4" y="78"/>
                    </a:cxn>
                    <a:cxn ang="0">
                      <a:pos x="9" y="68"/>
                    </a:cxn>
                    <a:cxn ang="0">
                      <a:pos x="17" y="61"/>
                    </a:cxn>
                    <a:cxn ang="0">
                      <a:pos x="29" y="51"/>
                    </a:cxn>
                    <a:cxn ang="0">
                      <a:pos x="41" y="44"/>
                    </a:cxn>
                    <a:cxn ang="0">
                      <a:pos x="53" y="37"/>
                    </a:cxn>
                    <a:cxn ang="0">
                      <a:pos x="70" y="29"/>
                    </a:cxn>
                    <a:cxn ang="0">
                      <a:pos x="106" y="17"/>
                    </a:cxn>
                    <a:cxn ang="0">
                      <a:pos x="148" y="7"/>
                    </a:cxn>
                    <a:cxn ang="0">
                      <a:pos x="191" y="3"/>
                    </a:cxn>
                    <a:cxn ang="0">
                      <a:pos x="242" y="0"/>
                    </a:cxn>
                  </a:cxnLst>
                  <a:rect l="0" t="0" r="r" b="b"/>
                  <a:pathLst>
                    <a:path w="485" h="197">
                      <a:moveTo>
                        <a:pt x="242" y="0"/>
                      </a:moveTo>
                      <a:lnTo>
                        <a:pt x="291" y="3"/>
                      </a:lnTo>
                      <a:lnTo>
                        <a:pt x="334" y="7"/>
                      </a:lnTo>
                      <a:lnTo>
                        <a:pt x="376" y="17"/>
                      </a:lnTo>
                      <a:lnTo>
                        <a:pt x="412" y="29"/>
                      </a:lnTo>
                      <a:lnTo>
                        <a:pt x="429" y="37"/>
                      </a:lnTo>
                      <a:lnTo>
                        <a:pt x="441" y="44"/>
                      </a:lnTo>
                      <a:lnTo>
                        <a:pt x="453" y="51"/>
                      </a:lnTo>
                      <a:lnTo>
                        <a:pt x="465" y="61"/>
                      </a:lnTo>
                      <a:lnTo>
                        <a:pt x="473" y="68"/>
                      </a:lnTo>
                      <a:lnTo>
                        <a:pt x="480" y="78"/>
                      </a:lnTo>
                      <a:lnTo>
                        <a:pt x="482" y="88"/>
                      </a:lnTo>
                      <a:lnTo>
                        <a:pt x="485" y="97"/>
                      </a:lnTo>
                      <a:lnTo>
                        <a:pt x="482" y="109"/>
                      </a:lnTo>
                      <a:lnTo>
                        <a:pt x="480" y="119"/>
                      </a:lnTo>
                      <a:lnTo>
                        <a:pt x="473" y="126"/>
                      </a:lnTo>
                      <a:lnTo>
                        <a:pt x="465" y="136"/>
                      </a:lnTo>
                      <a:lnTo>
                        <a:pt x="453" y="146"/>
                      </a:lnTo>
                      <a:lnTo>
                        <a:pt x="441" y="153"/>
                      </a:lnTo>
                      <a:lnTo>
                        <a:pt x="429" y="160"/>
                      </a:lnTo>
                      <a:lnTo>
                        <a:pt x="412" y="168"/>
                      </a:lnTo>
                      <a:lnTo>
                        <a:pt x="376" y="180"/>
                      </a:lnTo>
                      <a:lnTo>
                        <a:pt x="334" y="190"/>
                      </a:lnTo>
                      <a:lnTo>
                        <a:pt x="291" y="194"/>
                      </a:lnTo>
                      <a:lnTo>
                        <a:pt x="242" y="197"/>
                      </a:lnTo>
                      <a:lnTo>
                        <a:pt x="191" y="194"/>
                      </a:lnTo>
                      <a:lnTo>
                        <a:pt x="148" y="190"/>
                      </a:lnTo>
                      <a:lnTo>
                        <a:pt x="106" y="180"/>
                      </a:lnTo>
                      <a:lnTo>
                        <a:pt x="70" y="168"/>
                      </a:lnTo>
                      <a:lnTo>
                        <a:pt x="53" y="160"/>
                      </a:lnTo>
                      <a:lnTo>
                        <a:pt x="41" y="153"/>
                      </a:lnTo>
                      <a:lnTo>
                        <a:pt x="29" y="146"/>
                      </a:lnTo>
                      <a:lnTo>
                        <a:pt x="17" y="136"/>
                      </a:lnTo>
                      <a:lnTo>
                        <a:pt x="9" y="126"/>
                      </a:lnTo>
                      <a:lnTo>
                        <a:pt x="4" y="119"/>
                      </a:lnTo>
                      <a:lnTo>
                        <a:pt x="0" y="109"/>
                      </a:lnTo>
                      <a:lnTo>
                        <a:pt x="0" y="97"/>
                      </a:lnTo>
                      <a:lnTo>
                        <a:pt x="0" y="88"/>
                      </a:lnTo>
                      <a:lnTo>
                        <a:pt x="4" y="78"/>
                      </a:lnTo>
                      <a:lnTo>
                        <a:pt x="9" y="68"/>
                      </a:lnTo>
                      <a:lnTo>
                        <a:pt x="17" y="61"/>
                      </a:lnTo>
                      <a:lnTo>
                        <a:pt x="29" y="51"/>
                      </a:lnTo>
                      <a:lnTo>
                        <a:pt x="41" y="44"/>
                      </a:lnTo>
                      <a:lnTo>
                        <a:pt x="53" y="37"/>
                      </a:lnTo>
                      <a:lnTo>
                        <a:pt x="70" y="29"/>
                      </a:lnTo>
                      <a:lnTo>
                        <a:pt x="106" y="17"/>
                      </a:lnTo>
                      <a:lnTo>
                        <a:pt x="148" y="7"/>
                      </a:lnTo>
                      <a:lnTo>
                        <a:pt x="191" y="3"/>
                      </a:lnTo>
                      <a:lnTo>
                        <a:pt x="242" y="0"/>
                      </a:lnTo>
                    </a:path>
                  </a:pathLst>
                </a:custGeom>
                <a:noFill/>
                <a:ln w="0">
                  <a:solidFill>
                    <a:srgbClr val="CCCCCC"/>
                  </a:solidFill>
                  <a:prstDash val="solid"/>
                  <a:round/>
                  <a:headEnd/>
                  <a:tailEnd/>
                </a:ln>
              </p:spPr>
              <p:txBody>
                <a:bodyPr/>
                <a:lstStyle/>
                <a:p>
                  <a:endParaRPr lang="en-GB"/>
                </a:p>
              </p:txBody>
            </p:sp>
            <p:sp>
              <p:nvSpPr>
                <p:cNvPr id="171054" name="Freeform 46"/>
                <p:cNvSpPr>
                  <a:spLocks/>
                </p:cNvSpPr>
                <p:nvPr/>
              </p:nvSpPr>
              <p:spPr bwMode="auto">
                <a:xfrm>
                  <a:off x="796" y="3230"/>
                  <a:ext cx="485" cy="194"/>
                </a:xfrm>
                <a:custGeom>
                  <a:avLst/>
                  <a:gdLst/>
                  <a:ahLst/>
                  <a:cxnLst>
                    <a:cxn ang="0">
                      <a:pos x="243" y="0"/>
                    </a:cxn>
                    <a:cxn ang="0">
                      <a:pos x="291" y="2"/>
                    </a:cxn>
                    <a:cxn ang="0">
                      <a:pos x="337" y="7"/>
                    </a:cxn>
                    <a:cxn ang="0">
                      <a:pos x="378" y="17"/>
                    </a:cxn>
                    <a:cxn ang="0">
                      <a:pos x="415" y="29"/>
                    </a:cxn>
                    <a:cxn ang="0">
                      <a:pos x="429" y="34"/>
                    </a:cxn>
                    <a:cxn ang="0">
                      <a:pos x="444" y="44"/>
                    </a:cxn>
                    <a:cxn ang="0">
                      <a:pos x="456" y="51"/>
                    </a:cxn>
                    <a:cxn ang="0">
                      <a:pos x="466" y="58"/>
                    </a:cxn>
                    <a:cxn ang="0">
                      <a:pos x="476" y="68"/>
                    </a:cxn>
                    <a:cxn ang="0">
                      <a:pos x="480" y="78"/>
                    </a:cxn>
                    <a:cxn ang="0">
                      <a:pos x="485" y="87"/>
                    </a:cxn>
                    <a:cxn ang="0">
                      <a:pos x="485" y="97"/>
                    </a:cxn>
                    <a:cxn ang="0">
                      <a:pos x="485" y="107"/>
                    </a:cxn>
                    <a:cxn ang="0">
                      <a:pos x="480" y="117"/>
                    </a:cxn>
                    <a:cxn ang="0">
                      <a:pos x="476" y="126"/>
                    </a:cxn>
                    <a:cxn ang="0">
                      <a:pos x="466" y="136"/>
                    </a:cxn>
                    <a:cxn ang="0">
                      <a:pos x="456" y="143"/>
                    </a:cxn>
                    <a:cxn ang="0">
                      <a:pos x="444" y="153"/>
                    </a:cxn>
                    <a:cxn ang="0">
                      <a:pos x="429" y="160"/>
                    </a:cxn>
                    <a:cxn ang="0">
                      <a:pos x="415" y="168"/>
                    </a:cxn>
                    <a:cxn ang="0">
                      <a:pos x="378" y="180"/>
                    </a:cxn>
                    <a:cxn ang="0">
                      <a:pos x="337" y="187"/>
                    </a:cxn>
                    <a:cxn ang="0">
                      <a:pos x="291" y="194"/>
                    </a:cxn>
                    <a:cxn ang="0">
                      <a:pos x="243" y="194"/>
                    </a:cxn>
                    <a:cxn ang="0">
                      <a:pos x="194" y="194"/>
                    </a:cxn>
                    <a:cxn ang="0">
                      <a:pos x="148" y="187"/>
                    </a:cxn>
                    <a:cxn ang="0">
                      <a:pos x="107" y="180"/>
                    </a:cxn>
                    <a:cxn ang="0">
                      <a:pos x="73" y="168"/>
                    </a:cxn>
                    <a:cxn ang="0">
                      <a:pos x="56" y="160"/>
                    </a:cxn>
                    <a:cxn ang="0">
                      <a:pos x="41" y="153"/>
                    </a:cxn>
                    <a:cxn ang="0">
                      <a:pos x="29" y="143"/>
                    </a:cxn>
                    <a:cxn ang="0">
                      <a:pos x="19" y="136"/>
                    </a:cxn>
                    <a:cxn ang="0">
                      <a:pos x="12" y="126"/>
                    </a:cxn>
                    <a:cxn ang="0">
                      <a:pos x="5" y="117"/>
                    </a:cxn>
                    <a:cxn ang="0">
                      <a:pos x="2" y="107"/>
                    </a:cxn>
                    <a:cxn ang="0">
                      <a:pos x="0" y="97"/>
                    </a:cxn>
                    <a:cxn ang="0">
                      <a:pos x="2" y="87"/>
                    </a:cxn>
                    <a:cxn ang="0">
                      <a:pos x="5" y="78"/>
                    </a:cxn>
                    <a:cxn ang="0">
                      <a:pos x="12" y="68"/>
                    </a:cxn>
                    <a:cxn ang="0">
                      <a:pos x="19" y="58"/>
                    </a:cxn>
                    <a:cxn ang="0">
                      <a:pos x="29" y="51"/>
                    </a:cxn>
                    <a:cxn ang="0">
                      <a:pos x="41" y="44"/>
                    </a:cxn>
                    <a:cxn ang="0">
                      <a:pos x="56" y="34"/>
                    </a:cxn>
                    <a:cxn ang="0">
                      <a:pos x="73" y="29"/>
                    </a:cxn>
                    <a:cxn ang="0">
                      <a:pos x="107" y="17"/>
                    </a:cxn>
                    <a:cxn ang="0">
                      <a:pos x="148" y="7"/>
                    </a:cxn>
                    <a:cxn ang="0">
                      <a:pos x="194" y="2"/>
                    </a:cxn>
                    <a:cxn ang="0">
                      <a:pos x="243" y="0"/>
                    </a:cxn>
                  </a:cxnLst>
                  <a:rect l="0" t="0" r="r" b="b"/>
                  <a:pathLst>
                    <a:path w="485" h="194">
                      <a:moveTo>
                        <a:pt x="243" y="0"/>
                      </a:moveTo>
                      <a:lnTo>
                        <a:pt x="291" y="2"/>
                      </a:lnTo>
                      <a:lnTo>
                        <a:pt x="337" y="7"/>
                      </a:lnTo>
                      <a:lnTo>
                        <a:pt x="378" y="17"/>
                      </a:lnTo>
                      <a:lnTo>
                        <a:pt x="415" y="29"/>
                      </a:lnTo>
                      <a:lnTo>
                        <a:pt x="429" y="34"/>
                      </a:lnTo>
                      <a:lnTo>
                        <a:pt x="444" y="44"/>
                      </a:lnTo>
                      <a:lnTo>
                        <a:pt x="456" y="51"/>
                      </a:lnTo>
                      <a:lnTo>
                        <a:pt x="466" y="58"/>
                      </a:lnTo>
                      <a:lnTo>
                        <a:pt x="476" y="68"/>
                      </a:lnTo>
                      <a:lnTo>
                        <a:pt x="480" y="78"/>
                      </a:lnTo>
                      <a:lnTo>
                        <a:pt x="485" y="87"/>
                      </a:lnTo>
                      <a:lnTo>
                        <a:pt x="485" y="97"/>
                      </a:lnTo>
                      <a:lnTo>
                        <a:pt x="485" y="107"/>
                      </a:lnTo>
                      <a:lnTo>
                        <a:pt x="480" y="117"/>
                      </a:lnTo>
                      <a:lnTo>
                        <a:pt x="476" y="126"/>
                      </a:lnTo>
                      <a:lnTo>
                        <a:pt x="466" y="136"/>
                      </a:lnTo>
                      <a:lnTo>
                        <a:pt x="456" y="143"/>
                      </a:lnTo>
                      <a:lnTo>
                        <a:pt x="444" y="153"/>
                      </a:lnTo>
                      <a:lnTo>
                        <a:pt x="429" y="160"/>
                      </a:lnTo>
                      <a:lnTo>
                        <a:pt x="415" y="168"/>
                      </a:lnTo>
                      <a:lnTo>
                        <a:pt x="378" y="180"/>
                      </a:lnTo>
                      <a:lnTo>
                        <a:pt x="337" y="187"/>
                      </a:lnTo>
                      <a:lnTo>
                        <a:pt x="291" y="194"/>
                      </a:lnTo>
                      <a:lnTo>
                        <a:pt x="243" y="194"/>
                      </a:lnTo>
                      <a:lnTo>
                        <a:pt x="194" y="194"/>
                      </a:lnTo>
                      <a:lnTo>
                        <a:pt x="148" y="187"/>
                      </a:lnTo>
                      <a:lnTo>
                        <a:pt x="107" y="180"/>
                      </a:lnTo>
                      <a:lnTo>
                        <a:pt x="73" y="168"/>
                      </a:lnTo>
                      <a:lnTo>
                        <a:pt x="56" y="160"/>
                      </a:lnTo>
                      <a:lnTo>
                        <a:pt x="41" y="153"/>
                      </a:lnTo>
                      <a:lnTo>
                        <a:pt x="29" y="143"/>
                      </a:lnTo>
                      <a:lnTo>
                        <a:pt x="19" y="136"/>
                      </a:lnTo>
                      <a:lnTo>
                        <a:pt x="12" y="126"/>
                      </a:lnTo>
                      <a:lnTo>
                        <a:pt x="5" y="117"/>
                      </a:lnTo>
                      <a:lnTo>
                        <a:pt x="2" y="107"/>
                      </a:lnTo>
                      <a:lnTo>
                        <a:pt x="0" y="97"/>
                      </a:lnTo>
                      <a:lnTo>
                        <a:pt x="2" y="87"/>
                      </a:lnTo>
                      <a:lnTo>
                        <a:pt x="5" y="78"/>
                      </a:lnTo>
                      <a:lnTo>
                        <a:pt x="12" y="68"/>
                      </a:lnTo>
                      <a:lnTo>
                        <a:pt x="19" y="58"/>
                      </a:lnTo>
                      <a:lnTo>
                        <a:pt x="29" y="51"/>
                      </a:lnTo>
                      <a:lnTo>
                        <a:pt x="41" y="44"/>
                      </a:lnTo>
                      <a:lnTo>
                        <a:pt x="56" y="34"/>
                      </a:lnTo>
                      <a:lnTo>
                        <a:pt x="73" y="29"/>
                      </a:lnTo>
                      <a:lnTo>
                        <a:pt x="107" y="17"/>
                      </a:lnTo>
                      <a:lnTo>
                        <a:pt x="148" y="7"/>
                      </a:lnTo>
                      <a:lnTo>
                        <a:pt x="194" y="2"/>
                      </a:lnTo>
                      <a:lnTo>
                        <a:pt x="243" y="0"/>
                      </a:lnTo>
                      <a:close/>
                    </a:path>
                  </a:pathLst>
                </a:custGeom>
                <a:solidFill>
                  <a:srgbClr val="669999"/>
                </a:solidFill>
                <a:ln w="9525">
                  <a:noFill/>
                  <a:round/>
                  <a:headEnd/>
                  <a:tailEnd/>
                </a:ln>
              </p:spPr>
              <p:txBody>
                <a:bodyPr/>
                <a:lstStyle/>
                <a:p>
                  <a:endParaRPr lang="en-GB"/>
                </a:p>
              </p:txBody>
            </p:sp>
            <p:sp>
              <p:nvSpPr>
                <p:cNvPr id="171055" name="Freeform 47"/>
                <p:cNvSpPr>
                  <a:spLocks/>
                </p:cNvSpPr>
                <p:nvPr/>
              </p:nvSpPr>
              <p:spPr bwMode="auto">
                <a:xfrm>
                  <a:off x="796" y="3230"/>
                  <a:ext cx="485" cy="194"/>
                </a:xfrm>
                <a:custGeom>
                  <a:avLst/>
                  <a:gdLst/>
                  <a:ahLst/>
                  <a:cxnLst>
                    <a:cxn ang="0">
                      <a:pos x="243" y="0"/>
                    </a:cxn>
                    <a:cxn ang="0">
                      <a:pos x="291" y="2"/>
                    </a:cxn>
                    <a:cxn ang="0">
                      <a:pos x="337" y="7"/>
                    </a:cxn>
                    <a:cxn ang="0">
                      <a:pos x="378" y="17"/>
                    </a:cxn>
                    <a:cxn ang="0">
                      <a:pos x="415" y="29"/>
                    </a:cxn>
                    <a:cxn ang="0">
                      <a:pos x="429" y="34"/>
                    </a:cxn>
                    <a:cxn ang="0">
                      <a:pos x="444" y="44"/>
                    </a:cxn>
                    <a:cxn ang="0">
                      <a:pos x="456" y="51"/>
                    </a:cxn>
                    <a:cxn ang="0">
                      <a:pos x="466" y="58"/>
                    </a:cxn>
                    <a:cxn ang="0">
                      <a:pos x="476" y="68"/>
                    </a:cxn>
                    <a:cxn ang="0">
                      <a:pos x="480" y="78"/>
                    </a:cxn>
                    <a:cxn ang="0">
                      <a:pos x="485" y="87"/>
                    </a:cxn>
                    <a:cxn ang="0">
                      <a:pos x="485" y="97"/>
                    </a:cxn>
                    <a:cxn ang="0">
                      <a:pos x="485" y="107"/>
                    </a:cxn>
                    <a:cxn ang="0">
                      <a:pos x="480" y="117"/>
                    </a:cxn>
                    <a:cxn ang="0">
                      <a:pos x="476" y="126"/>
                    </a:cxn>
                    <a:cxn ang="0">
                      <a:pos x="466" y="136"/>
                    </a:cxn>
                    <a:cxn ang="0">
                      <a:pos x="456" y="143"/>
                    </a:cxn>
                    <a:cxn ang="0">
                      <a:pos x="444" y="153"/>
                    </a:cxn>
                    <a:cxn ang="0">
                      <a:pos x="429" y="160"/>
                    </a:cxn>
                    <a:cxn ang="0">
                      <a:pos x="415" y="168"/>
                    </a:cxn>
                    <a:cxn ang="0">
                      <a:pos x="378" y="180"/>
                    </a:cxn>
                    <a:cxn ang="0">
                      <a:pos x="337" y="187"/>
                    </a:cxn>
                    <a:cxn ang="0">
                      <a:pos x="291" y="194"/>
                    </a:cxn>
                    <a:cxn ang="0">
                      <a:pos x="243" y="194"/>
                    </a:cxn>
                    <a:cxn ang="0">
                      <a:pos x="194" y="194"/>
                    </a:cxn>
                    <a:cxn ang="0">
                      <a:pos x="148" y="187"/>
                    </a:cxn>
                    <a:cxn ang="0">
                      <a:pos x="107" y="180"/>
                    </a:cxn>
                    <a:cxn ang="0">
                      <a:pos x="73" y="168"/>
                    </a:cxn>
                    <a:cxn ang="0">
                      <a:pos x="56" y="160"/>
                    </a:cxn>
                    <a:cxn ang="0">
                      <a:pos x="41" y="153"/>
                    </a:cxn>
                    <a:cxn ang="0">
                      <a:pos x="29" y="143"/>
                    </a:cxn>
                    <a:cxn ang="0">
                      <a:pos x="19" y="136"/>
                    </a:cxn>
                    <a:cxn ang="0">
                      <a:pos x="12" y="126"/>
                    </a:cxn>
                    <a:cxn ang="0">
                      <a:pos x="5" y="117"/>
                    </a:cxn>
                    <a:cxn ang="0">
                      <a:pos x="2" y="107"/>
                    </a:cxn>
                    <a:cxn ang="0">
                      <a:pos x="0" y="97"/>
                    </a:cxn>
                    <a:cxn ang="0">
                      <a:pos x="2" y="87"/>
                    </a:cxn>
                    <a:cxn ang="0">
                      <a:pos x="5" y="78"/>
                    </a:cxn>
                    <a:cxn ang="0">
                      <a:pos x="12" y="68"/>
                    </a:cxn>
                    <a:cxn ang="0">
                      <a:pos x="19" y="58"/>
                    </a:cxn>
                    <a:cxn ang="0">
                      <a:pos x="29" y="51"/>
                    </a:cxn>
                    <a:cxn ang="0">
                      <a:pos x="41" y="44"/>
                    </a:cxn>
                    <a:cxn ang="0">
                      <a:pos x="56" y="34"/>
                    </a:cxn>
                    <a:cxn ang="0">
                      <a:pos x="73" y="29"/>
                    </a:cxn>
                    <a:cxn ang="0">
                      <a:pos x="107" y="17"/>
                    </a:cxn>
                    <a:cxn ang="0">
                      <a:pos x="148" y="7"/>
                    </a:cxn>
                    <a:cxn ang="0">
                      <a:pos x="194" y="2"/>
                    </a:cxn>
                    <a:cxn ang="0">
                      <a:pos x="243" y="0"/>
                    </a:cxn>
                  </a:cxnLst>
                  <a:rect l="0" t="0" r="r" b="b"/>
                  <a:pathLst>
                    <a:path w="485" h="194">
                      <a:moveTo>
                        <a:pt x="243" y="0"/>
                      </a:moveTo>
                      <a:lnTo>
                        <a:pt x="291" y="2"/>
                      </a:lnTo>
                      <a:lnTo>
                        <a:pt x="337" y="7"/>
                      </a:lnTo>
                      <a:lnTo>
                        <a:pt x="378" y="17"/>
                      </a:lnTo>
                      <a:lnTo>
                        <a:pt x="415" y="29"/>
                      </a:lnTo>
                      <a:lnTo>
                        <a:pt x="429" y="34"/>
                      </a:lnTo>
                      <a:lnTo>
                        <a:pt x="444" y="44"/>
                      </a:lnTo>
                      <a:lnTo>
                        <a:pt x="456" y="51"/>
                      </a:lnTo>
                      <a:lnTo>
                        <a:pt x="466" y="58"/>
                      </a:lnTo>
                      <a:lnTo>
                        <a:pt x="476" y="68"/>
                      </a:lnTo>
                      <a:lnTo>
                        <a:pt x="480" y="78"/>
                      </a:lnTo>
                      <a:lnTo>
                        <a:pt x="485" y="87"/>
                      </a:lnTo>
                      <a:lnTo>
                        <a:pt x="485" y="97"/>
                      </a:lnTo>
                      <a:lnTo>
                        <a:pt x="485" y="107"/>
                      </a:lnTo>
                      <a:lnTo>
                        <a:pt x="480" y="117"/>
                      </a:lnTo>
                      <a:lnTo>
                        <a:pt x="476" y="126"/>
                      </a:lnTo>
                      <a:lnTo>
                        <a:pt x="466" y="136"/>
                      </a:lnTo>
                      <a:lnTo>
                        <a:pt x="456" y="143"/>
                      </a:lnTo>
                      <a:lnTo>
                        <a:pt x="444" y="153"/>
                      </a:lnTo>
                      <a:lnTo>
                        <a:pt x="429" y="160"/>
                      </a:lnTo>
                      <a:lnTo>
                        <a:pt x="415" y="168"/>
                      </a:lnTo>
                      <a:lnTo>
                        <a:pt x="378" y="180"/>
                      </a:lnTo>
                      <a:lnTo>
                        <a:pt x="337" y="187"/>
                      </a:lnTo>
                      <a:lnTo>
                        <a:pt x="291" y="194"/>
                      </a:lnTo>
                      <a:lnTo>
                        <a:pt x="243" y="194"/>
                      </a:lnTo>
                      <a:lnTo>
                        <a:pt x="194" y="194"/>
                      </a:lnTo>
                      <a:lnTo>
                        <a:pt x="148" y="187"/>
                      </a:lnTo>
                      <a:lnTo>
                        <a:pt x="107" y="180"/>
                      </a:lnTo>
                      <a:lnTo>
                        <a:pt x="73" y="168"/>
                      </a:lnTo>
                      <a:lnTo>
                        <a:pt x="56" y="160"/>
                      </a:lnTo>
                      <a:lnTo>
                        <a:pt x="41" y="153"/>
                      </a:lnTo>
                      <a:lnTo>
                        <a:pt x="29" y="143"/>
                      </a:lnTo>
                      <a:lnTo>
                        <a:pt x="19" y="136"/>
                      </a:lnTo>
                      <a:lnTo>
                        <a:pt x="12" y="126"/>
                      </a:lnTo>
                      <a:lnTo>
                        <a:pt x="5" y="117"/>
                      </a:lnTo>
                      <a:lnTo>
                        <a:pt x="2" y="107"/>
                      </a:lnTo>
                      <a:lnTo>
                        <a:pt x="0" y="97"/>
                      </a:lnTo>
                      <a:lnTo>
                        <a:pt x="2" y="87"/>
                      </a:lnTo>
                      <a:lnTo>
                        <a:pt x="5" y="78"/>
                      </a:lnTo>
                      <a:lnTo>
                        <a:pt x="12" y="68"/>
                      </a:lnTo>
                      <a:lnTo>
                        <a:pt x="19" y="58"/>
                      </a:lnTo>
                      <a:lnTo>
                        <a:pt x="29" y="51"/>
                      </a:lnTo>
                      <a:lnTo>
                        <a:pt x="41" y="44"/>
                      </a:lnTo>
                      <a:lnTo>
                        <a:pt x="56" y="34"/>
                      </a:lnTo>
                      <a:lnTo>
                        <a:pt x="73" y="29"/>
                      </a:lnTo>
                      <a:lnTo>
                        <a:pt x="107" y="17"/>
                      </a:lnTo>
                      <a:lnTo>
                        <a:pt x="148" y="7"/>
                      </a:lnTo>
                      <a:lnTo>
                        <a:pt x="194" y="2"/>
                      </a:lnTo>
                      <a:lnTo>
                        <a:pt x="243" y="0"/>
                      </a:lnTo>
                    </a:path>
                  </a:pathLst>
                </a:custGeom>
                <a:noFill/>
                <a:ln w="0">
                  <a:solidFill>
                    <a:srgbClr val="000000"/>
                  </a:solidFill>
                  <a:prstDash val="solid"/>
                  <a:round/>
                  <a:headEnd/>
                  <a:tailEnd/>
                </a:ln>
              </p:spPr>
              <p:txBody>
                <a:bodyPr/>
                <a:lstStyle/>
                <a:p>
                  <a:endParaRPr lang="en-GB"/>
                </a:p>
              </p:txBody>
            </p:sp>
          </p:grpSp>
        </p:grpSp>
      </p:grpSp>
      <p:sp>
        <p:nvSpPr>
          <p:cNvPr id="171056" name="Rectangle 48"/>
          <p:cNvSpPr>
            <a:spLocks noChangeArrowheads="1"/>
          </p:cNvSpPr>
          <p:nvPr/>
        </p:nvSpPr>
        <p:spPr bwMode="auto">
          <a:xfrm>
            <a:off x="2744788" y="3846513"/>
            <a:ext cx="822341" cy="246221"/>
          </a:xfrm>
          <a:prstGeom prst="rect">
            <a:avLst/>
          </a:prstGeom>
          <a:noFill/>
          <a:ln w="9525">
            <a:noFill/>
            <a:miter lim="800000"/>
            <a:headEnd/>
            <a:tailEnd/>
          </a:ln>
        </p:spPr>
        <p:txBody>
          <a:bodyPr wrap="none" lIns="0" tIns="0" rIns="0" bIns="0">
            <a:spAutoFit/>
          </a:bodyPr>
          <a:lstStyle/>
          <a:p>
            <a:pPr eaLnBrk="0" hangingPunct="0"/>
            <a:r>
              <a:rPr lang="en-US" sz="1600" b="1" dirty="0">
                <a:solidFill>
                  <a:srgbClr val="C00000"/>
                </a:solidFill>
              </a:rPr>
              <a:t>Use-Case </a:t>
            </a:r>
          </a:p>
        </p:txBody>
      </p:sp>
      <p:sp>
        <p:nvSpPr>
          <p:cNvPr id="171057" name="Rectangle 49"/>
          <p:cNvSpPr>
            <a:spLocks noChangeArrowheads="1"/>
          </p:cNvSpPr>
          <p:nvPr/>
        </p:nvSpPr>
        <p:spPr bwMode="auto">
          <a:xfrm>
            <a:off x="2828925" y="4090988"/>
            <a:ext cx="738985" cy="246221"/>
          </a:xfrm>
          <a:prstGeom prst="rect">
            <a:avLst/>
          </a:prstGeom>
          <a:noFill/>
          <a:ln w="9525">
            <a:noFill/>
            <a:miter lim="800000"/>
            <a:headEnd/>
            <a:tailEnd/>
          </a:ln>
        </p:spPr>
        <p:txBody>
          <a:bodyPr wrap="none" lIns="0" tIns="0" rIns="0" bIns="0">
            <a:spAutoFit/>
          </a:bodyPr>
          <a:lstStyle/>
          <a:p>
            <a:pPr eaLnBrk="0" hangingPunct="0"/>
            <a:r>
              <a:rPr lang="en-US" sz="1600" b="1" dirty="0" err="1">
                <a:solidFill>
                  <a:srgbClr val="C00000"/>
                </a:solidFill>
              </a:rPr>
              <a:t>Specifier</a:t>
            </a:r>
            <a:endParaRPr lang="en-US" sz="1600" b="1" dirty="0">
              <a:solidFill>
                <a:srgbClr val="C00000"/>
              </a:solidFill>
            </a:endParaRPr>
          </a:p>
        </p:txBody>
      </p:sp>
      <p:sp>
        <p:nvSpPr>
          <p:cNvPr id="171058" name="Line 50"/>
          <p:cNvSpPr>
            <a:spLocks noChangeShapeType="1"/>
          </p:cNvSpPr>
          <p:nvPr/>
        </p:nvSpPr>
        <p:spPr bwMode="auto">
          <a:xfrm>
            <a:off x="2178050" y="3421063"/>
            <a:ext cx="793750" cy="198437"/>
          </a:xfrm>
          <a:prstGeom prst="line">
            <a:avLst/>
          </a:prstGeom>
          <a:noFill/>
          <a:ln w="38100" cap="rnd">
            <a:solidFill>
              <a:srgbClr val="C00000"/>
            </a:solidFill>
            <a:prstDash val="sysDot"/>
            <a:round/>
            <a:headEnd/>
            <a:tailEnd type="triangle" w="med" len="med"/>
          </a:ln>
          <a:effectLst/>
        </p:spPr>
        <p:txBody>
          <a:bodyPr wrap="none" anchor="ctr"/>
          <a:lstStyle/>
          <a:p>
            <a:endParaRPr lang="en-GB"/>
          </a:p>
        </p:txBody>
      </p:sp>
      <p:sp>
        <p:nvSpPr>
          <p:cNvPr id="171059" name="Line 51"/>
          <p:cNvSpPr>
            <a:spLocks noChangeShapeType="1"/>
          </p:cNvSpPr>
          <p:nvPr/>
        </p:nvSpPr>
        <p:spPr bwMode="auto">
          <a:xfrm>
            <a:off x="5300663" y="2597150"/>
            <a:ext cx="274637" cy="793750"/>
          </a:xfrm>
          <a:prstGeom prst="line">
            <a:avLst/>
          </a:prstGeom>
          <a:noFill/>
          <a:ln w="38100" cap="rnd">
            <a:solidFill>
              <a:srgbClr val="C00000"/>
            </a:solidFill>
            <a:prstDash val="sysDot"/>
            <a:round/>
            <a:headEnd/>
            <a:tailEnd type="triangle" w="med" len="med"/>
          </a:ln>
          <a:effectLst/>
        </p:spPr>
        <p:txBody>
          <a:bodyPr wrap="none" anchor="ctr"/>
          <a:lstStyle/>
          <a:p>
            <a:endParaRPr lang="en-GB"/>
          </a:p>
        </p:txBody>
      </p:sp>
      <p:sp>
        <p:nvSpPr>
          <p:cNvPr id="171060" name="Line 52"/>
          <p:cNvSpPr>
            <a:spLocks noChangeShapeType="1"/>
          </p:cNvSpPr>
          <p:nvPr/>
        </p:nvSpPr>
        <p:spPr bwMode="auto">
          <a:xfrm flipH="1">
            <a:off x="4432300" y="4889500"/>
            <a:ext cx="644525" cy="465138"/>
          </a:xfrm>
          <a:prstGeom prst="line">
            <a:avLst/>
          </a:prstGeom>
          <a:noFill/>
          <a:ln w="38100" cap="rnd">
            <a:solidFill>
              <a:schemeClr val="tx1"/>
            </a:solidFill>
            <a:prstDash val="sysDot"/>
            <a:round/>
            <a:headEnd/>
            <a:tailEnd type="triangle" w="med" len="med"/>
          </a:ln>
          <a:effectLst/>
        </p:spPr>
        <p:txBody>
          <a:bodyPr wrap="none" anchor="ctr"/>
          <a:lstStyle/>
          <a:p>
            <a:endParaRPr lang="en-GB"/>
          </a:p>
        </p:txBody>
      </p:sp>
      <p:sp>
        <p:nvSpPr>
          <p:cNvPr id="171061" name="Freeform 53"/>
          <p:cNvSpPr>
            <a:spLocks/>
          </p:cNvSpPr>
          <p:nvPr/>
        </p:nvSpPr>
        <p:spPr bwMode="auto">
          <a:xfrm>
            <a:off x="3205163" y="3016250"/>
            <a:ext cx="271462" cy="274638"/>
          </a:xfrm>
          <a:custGeom>
            <a:avLst/>
            <a:gdLst/>
            <a:ahLst/>
            <a:cxnLst>
              <a:cxn ang="0">
                <a:pos x="95" y="0"/>
              </a:cxn>
              <a:cxn ang="0">
                <a:pos x="107" y="3"/>
              </a:cxn>
              <a:cxn ang="0">
                <a:pos x="119" y="6"/>
              </a:cxn>
              <a:cxn ang="0">
                <a:pos x="132" y="12"/>
              </a:cxn>
              <a:cxn ang="0">
                <a:pos x="141" y="18"/>
              </a:cxn>
              <a:cxn ang="0">
                <a:pos x="150" y="27"/>
              </a:cxn>
              <a:cxn ang="0">
                <a:pos x="159" y="36"/>
              </a:cxn>
              <a:cxn ang="0">
                <a:pos x="165" y="49"/>
              </a:cxn>
              <a:cxn ang="0">
                <a:pos x="168" y="61"/>
              </a:cxn>
              <a:cxn ang="0">
                <a:pos x="171" y="73"/>
              </a:cxn>
              <a:cxn ang="0">
                <a:pos x="171" y="85"/>
              </a:cxn>
              <a:cxn ang="0">
                <a:pos x="171" y="100"/>
              </a:cxn>
              <a:cxn ang="0">
                <a:pos x="168" y="112"/>
              </a:cxn>
              <a:cxn ang="0">
                <a:pos x="165" y="121"/>
              </a:cxn>
              <a:cxn ang="0">
                <a:pos x="159" y="134"/>
              </a:cxn>
              <a:cxn ang="0">
                <a:pos x="150" y="143"/>
              </a:cxn>
              <a:cxn ang="0">
                <a:pos x="141" y="152"/>
              </a:cxn>
              <a:cxn ang="0">
                <a:pos x="132" y="158"/>
              </a:cxn>
              <a:cxn ang="0">
                <a:pos x="119" y="164"/>
              </a:cxn>
              <a:cxn ang="0">
                <a:pos x="107" y="170"/>
              </a:cxn>
              <a:cxn ang="0">
                <a:pos x="95" y="170"/>
              </a:cxn>
              <a:cxn ang="0">
                <a:pos x="83" y="170"/>
              </a:cxn>
              <a:cxn ang="0">
                <a:pos x="70" y="170"/>
              </a:cxn>
              <a:cxn ang="0">
                <a:pos x="55" y="167"/>
              </a:cxn>
              <a:cxn ang="0">
                <a:pos x="46" y="161"/>
              </a:cxn>
              <a:cxn ang="0">
                <a:pos x="34" y="155"/>
              </a:cxn>
              <a:cxn ang="0">
                <a:pos x="24" y="146"/>
              </a:cxn>
              <a:cxn ang="0">
                <a:pos x="18" y="137"/>
              </a:cxn>
              <a:cxn ang="0">
                <a:pos x="9" y="128"/>
              </a:cxn>
              <a:cxn ang="0">
                <a:pos x="6" y="115"/>
              </a:cxn>
              <a:cxn ang="0">
                <a:pos x="3" y="103"/>
              </a:cxn>
              <a:cxn ang="0">
                <a:pos x="0" y="91"/>
              </a:cxn>
              <a:cxn ang="0">
                <a:pos x="0" y="76"/>
              </a:cxn>
              <a:cxn ang="0">
                <a:pos x="3" y="64"/>
              </a:cxn>
              <a:cxn ang="0">
                <a:pos x="6" y="52"/>
              </a:cxn>
              <a:cxn ang="0">
                <a:pos x="12" y="42"/>
              </a:cxn>
              <a:cxn ang="0">
                <a:pos x="18" y="30"/>
              </a:cxn>
              <a:cxn ang="0">
                <a:pos x="27" y="21"/>
              </a:cxn>
              <a:cxn ang="0">
                <a:pos x="37" y="15"/>
              </a:cxn>
              <a:cxn ang="0">
                <a:pos x="49" y="9"/>
              </a:cxn>
              <a:cxn ang="0">
                <a:pos x="61" y="3"/>
              </a:cxn>
              <a:cxn ang="0">
                <a:pos x="73" y="0"/>
              </a:cxn>
              <a:cxn ang="0">
                <a:pos x="86" y="0"/>
              </a:cxn>
            </a:cxnLst>
            <a:rect l="0" t="0" r="r" b="b"/>
            <a:pathLst>
              <a:path w="171" h="173">
                <a:moveTo>
                  <a:pt x="86" y="0"/>
                </a:moveTo>
                <a:lnTo>
                  <a:pt x="92" y="0"/>
                </a:lnTo>
                <a:lnTo>
                  <a:pt x="95" y="0"/>
                </a:lnTo>
                <a:lnTo>
                  <a:pt x="98" y="0"/>
                </a:lnTo>
                <a:lnTo>
                  <a:pt x="104" y="3"/>
                </a:lnTo>
                <a:lnTo>
                  <a:pt x="107" y="3"/>
                </a:lnTo>
                <a:lnTo>
                  <a:pt x="113" y="3"/>
                </a:lnTo>
                <a:lnTo>
                  <a:pt x="116" y="6"/>
                </a:lnTo>
                <a:lnTo>
                  <a:pt x="119" y="6"/>
                </a:lnTo>
                <a:lnTo>
                  <a:pt x="122" y="9"/>
                </a:lnTo>
                <a:lnTo>
                  <a:pt x="129" y="9"/>
                </a:lnTo>
                <a:lnTo>
                  <a:pt x="132" y="12"/>
                </a:lnTo>
                <a:lnTo>
                  <a:pt x="135" y="15"/>
                </a:lnTo>
                <a:lnTo>
                  <a:pt x="138" y="18"/>
                </a:lnTo>
                <a:lnTo>
                  <a:pt x="141" y="18"/>
                </a:lnTo>
                <a:lnTo>
                  <a:pt x="144" y="21"/>
                </a:lnTo>
                <a:lnTo>
                  <a:pt x="147" y="24"/>
                </a:lnTo>
                <a:lnTo>
                  <a:pt x="150" y="27"/>
                </a:lnTo>
                <a:lnTo>
                  <a:pt x="153" y="30"/>
                </a:lnTo>
                <a:lnTo>
                  <a:pt x="156" y="33"/>
                </a:lnTo>
                <a:lnTo>
                  <a:pt x="159" y="36"/>
                </a:lnTo>
                <a:lnTo>
                  <a:pt x="159" y="42"/>
                </a:lnTo>
                <a:lnTo>
                  <a:pt x="162" y="45"/>
                </a:lnTo>
                <a:lnTo>
                  <a:pt x="165" y="49"/>
                </a:lnTo>
                <a:lnTo>
                  <a:pt x="165" y="52"/>
                </a:lnTo>
                <a:lnTo>
                  <a:pt x="168" y="58"/>
                </a:lnTo>
                <a:lnTo>
                  <a:pt x="168" y="61"/>
                </a:lnTo>
                <a:lnTo>
                  <a:pt x="171" y="64"/>
                </a:lnTo>
                <a:lnTo>
                  <a:pt x="171" y="70"/>
                </a:lnTo>
                <a:lnTo>
                  <a:pt x="171" y="73"/>
                </a:lnTo>
                <a:lnTo>
                  <a:pt x="171" y="76"/>
                </a:lnTo>
                <a:lnTo>
                  <a:pt x="171" y="82"/>
                </a:lnTo>
                <a:lnTo>
                  <a:pt x="171" y="85"/>
                </a:lnTo>
                <a:lnTo>
                  <a:pt x="171" y="91"/>
                </a:lnTo>
                <a:lnTo>
                  <a:pt x="171" y="94"/>
                </a:lnTo>
                <a:lnTo>
                  <a:pt x="171" y="100"/>
                </a:lnTo>
                <a:lnTo>
                  <a:pt x="171" y="103"/>
                </a:lnTo>
                <a:lnTo>
                  <a:pt x="171" y="106"/>
                </a:lnTo>
                <a:lnTo>
                  <a:pt x="168" y="112"/>
                </a:lnTo>
                <a:lnTo>
                  <a:pt x="168" y="115"/>
                </a:lnTo>
                <a:lnTo>
                  <a:pt x="165" y="118"/>
                </a:lnTo>
                <a:lnTo>
                  <a:pt x="165" y="121"/>
                </a:lnTo>
                <a:lnTo>
                  <a:pt x="162" y="128"/>
                </a:lnTo>
                <a:lnTo>
                  <a:pt x="159" y="131"/>
                </a:lnTo>
                <a:lnTo>
                  <a:pt x="159" y="134"/>
                </a:lnTo>
                <a:lnTo>
                  <a:pt x="156" y="137"/>
                </a:lnTo>
                <a:lnTo>
                  <a:pt x="153" y="140"/>
                </a:lnTo>
                <a:lnTo>
                  <a:pt x="150" y="143"/>
                </a:lnTo>
                <a:lnTo>
                  <a:pt x="147" y="146"/>
                </a:lnTo>
                <a:lnTo>
                  <a:pt x="144" y="149"/>
                </a:lnTo>
                <a:lnTo>
                  <a:pt x="141" y="152"/>
                </a:lnTo>
                <a:lnTo>
                  <a:pt x="138" y="155"/>
                </a:lnTo>
                <a:lnTo>
                  <a:pt x="135" y="158"/>
                </a:lnTo>
                <a:lnTo>
                  <a:pt x="132" y="158"/>
                </a:lnTo>
                <a:lnTo>
                  <a:pt x="129" y="161"/>
                </a:lnTo>
                <a:lnTo>
                  <a:pt x="122" y="164"/>
                </a:lnTo>
                <a:lnTo>
                  <a:pt x="119" y="164"/>
                </a:lnTo>
                <a:lnTo>
                  <a:pt x="116" y="167"/>
                </a:lnTo>
                <a:lnTo>
                  <a:pt x="113" y="167"/>
                </a:lnTo>
                <a:lnTo>
                  <a:pt x="107" y="170"/>
                </a:lnTo>
                <a:lnTo>
                  <a:pt x="104" y="170"/>
                </a:lnTo>
                <a:lnTo>
                  <a:pt x="98" y="170"/>
                </a:lnTo>
                <a:lnTo>
                  <a:pt x="95" y="170"/>
                </a:lnTo>
                <a:lnTo>
                  <a:pt x="92" y="170"/>
                </a:lnTo>
                <a:lnTo>
                  <a:pt x="86" y="173"/>
                </a:lnTo>
                <a:lnTo>
                  <a:pt x="83" y="170"/>
                </a:lnTo>
                <a:lnTo>
                  <a:pt x="76" y="170"/>
                </a:lnTo>
                <a:lnTo>
                  <a:pt x="73" y="170"/>
                </a:lnTo>
                <a:lnTo>
                  <a:pt x="70" y="170"/>
                </a:lnTo>
                <a:lnTo>
                  <a:pt x="64" y="170"/>
                </a:lnTo>
                <a:lnTo>
                  <a:pt x="61" y="167"/>
                </a:lnTo>
                <a:lnTo>
                  <a:pt x="55" y="167"/>
                </a:lnTo>
                <a:lnTo>
                  <a:pt x="52" y="164"/>
                </a:lnTo>
                <a:lnTo>
                  <a:pt x="49" y="164"/>
                </a:lnTo>
                <a:lnTo>
                  <a:pt x="46" y="161"/>
                </a:lnTo>
                <a:lnTo>
                  <a:pt x="43" y="158"/>
                </a:lnTo>
                <a:lnTo>
                  <a:pt x="37" y="158"/>
                </a:lnTo>
                <a:lnTo>
                  <a:pt x="34" y="155"/>
                </a:lnTo>
                <a:lnTo>
                  <a:pt x="31" y="152"/>
                </a:lnTo>
                <a:lnTo>
                  <a:pt x="27" y="149"/>
                </a:lnTo>
                <a:lnTo>
                  <a:pt x="24" y="146"/>
                </a:lnTo>
                <a:lnTo>
                  <a:pt x="21" y="143"/>
                </a:lnTo>
                <a:lnTo>
                  <a:pt x="18" y="140"/>
                </a:lnTo>
                <a:lnTo>
                  <a:pt x="18" y="137"/>
                </a:lnTo>
                <a:lnTo>
                  <a:pt x="15" y="134"/>
                </a:lnTo>
                <a:lnTo>
                  <a:pt x="12" y="131"/>
                </a:lnTo>
                <a:lnTo>
                  <a:pt x="9" y="128"/>
                </a:lnTo>
                <a:lnTo>
                  <a:pt x="9" y="121"/>
                </a:lnTo>
                <a:lnTo>
                  <a:pt x="6" y="118"/>
                </a:lnTo>
                <a:lnTo>
                  <a:pt x="6" y="115"/>
                </a:lnTo>
                <a:lnTo>
                  <a:pt x="3" y="112"/>
                </a:lnTo>
                <a:lnTo>
                  <a:pt x="3" y="106"/>
                </a:lnTo>
                <a:lnTo>
                  <a:pt x="3" y="103"/>
                </a:lnTo>
                <a:lnTo>
                  <a:pt x="0" y="100"/>
                </a:lnTo>
                <a:lnTo>
                  <a:pt x="0" y="94"/>
                </a:lnTo>
                <a:lnTo>
                  <a:pt x="0" y="91"/>
                </a:lnTo>
                <a:lnTo>
                  <a:pt x="0" y="85"/>
                </a:lnTo>
                <a:lnTo>
                  <a:pt x="0" y="82"/>
                </a:lnTo>
                <a:lnTo>
                  <a:pt x="0" y="76"/>
                </a:lnTo>
                <a:lnTo>
                  <a:pt x="0" y="73"/>
                </a:lnTo>
                <a:lnTo>
                  <a:pt x="3" y="70"/>
                </a:lnTo>
                <a:lnTo>
                  <a:pt x="3" y="64"/>
                </a:lnTo>
                <a:lnTo>
                  <a:pt x="3" y="61"/>
                </a:lnTo>
                <a:lnTo>
                  <a:pt x="6" y="58"/>
                </a:lnTo>
                <a:lnTo>
                  <a:pt x="6" y="52"/>
                </a:lnTo>
                <a:lnTo>
                  <a:pt x="9" y="49"/>
                </a:lnTo>
                <a:lnTo>
                  <a:pt x="9" y="45"/>
                </a:lnTo>
                <a:lnTo>
                  <a:pt x="12" y="42"/>
                </a:lnTo>
                <a:lnTo>
                  <a:pt x="15" y="36"/>
                </a:lnTo>
                <a:lnTo>
                  <a:pt x="18" y="33"/>
                </a:lnTo>
                <a:lnTo>
                  <a:pt x="18" y="30"/>
                </a:lnTo>
                <a:lnTo>
                  <a:pt x="21" y="27"/>
                </a:lnTo>
                <a:lnTo>
                  <a:pt x="24" y="24"/>
                </a:lnTo>
                <a:lnTo>
                  <a:pt x="27" y="21"/>
                </a:lnTo>
                <a:lnTo>
                  <a:pt x="31" y="18"/>
                </a:lnTo>
                <a:lnTo>
                  <a:pt x="34" y="18"/>
                </a:lnTo>
                <a:lnTo>
                  <a:pt x="37" y="15"/>
                </a:lnTo>
                <a:lnTo>
                  <a:pt x="43" y="12"/>
                </a:lnTo>
                <a:lnTo>
                  <a:pt x="46" y="9"/>
                </a:lnTo>
                <a:lnTo>
                  <a:pt x="49" y="9"/>
                </a:lnTo>
                <a:lnTo>
                  <a:pt x="52" y="6"/>
                </a:lnTo>
                <a:lnTo>
                  <a:pt x="55" y="6"/>
                </a:lnTo>
                <a:lnTo>
                  <a:pt x="61" y="3"/>
                </a:lnTo>
                <a:lnTo>
                  <a:pt x="64" y="3"/>
                </a:lnTo>
                <a:lnTo>
                  <a:pt x="70" y="3"/>
                </a:lnTo>
                <a:lnTo>
                  <a:pt x="73" y="0"/>
                </a:lnTo>
                <a:lnTo>
                  <a:pt x="76" y="0"/>
                </a:lnTo>
                <a:lnTo>
                  <a:pt x="83" y="0"/>
                </a:lnTo>
                <a:lnTo>
                  <a:pt x="86" y="0"/>
                </a:lnTo>
                <a:close/>
              </a:path>
            </a:pathLst>
          </a:custGeom>
          <a:solidFill>
            <a:srgbClr val="B2B2B2"/>
          </a:solidFill>
          <a:ln w="9525">
            <a:noFill/>
            <a:round/>
            <a:headEnd/>
            <a:tailEnd/>
          </a:ln>
        </p:spPr>
        <p:txBody>
          <a:bodyPr/>
          <a:lstStyle/>
          <a:p>
            <a:endParaRPr lang="en-GB"/>
          </a:p>
        </p:txBody>
      </p:sp>
      <p:sp>
        <p:nvSpPr>
          <p:cNvPr id="171062" name="Freeform 54"/>
          <p:cNvSpPr>
            <a:spLocks/>
          </p:cNvSpPr>
          <p:nvPr/>
        </p:nvSpPr>
        <p:spPr bwMode="auto">
          <a:xfrm>
            <a:off x="3205163" y="3016250"/>
            <a:ext cx="271462" cy="274638"/>
          </a:xfrm>
          <a:custGeom>
            <a:avLst/>
            <a:gdLst/>
            <a:ahLst/>
            <a:cxnLst>
              <a:cxn ang="0">
                <a:pos x="86" y="0"/>
              </a:cxn>
              <a:cxn ang="0">
                <a:pos x="119" y="6"/>
              </a:cxn>
              <a:cxn ang="0">
                <a:pos x="147" y="24"/>
              </a:cxn>
              <a:cxn ang="0">
                <a:pos x="165" y="52"/>
              </a:cxn>
              <a:cxn ang="0">
                <a:pos x="171" y="85"/>
              </a:cxn>
              <a:cxn ang="0">
                <a:pos x="165" y="118"/>
              </a:cxn>
              <a:cxn ang="0">
                <a:pos x="147" y="146"/>
              </a:cxn>
              <a:cxn ang="0">
                <a:pos x="119" y="164"/>
              </a:cxn>
              <a:cxn ang="0">
                <a:pos x="86" y="173"/>
              </a:cxn>
              <a:cxn ang="0">
                <a:pos x="52" y="164"/>
              </a:cxn>
              <a:cxn ang="0">
                <a:pos x="24" y="146"/>
              </a:cxn>
              <a:cxn ang="0">
                <a:pos x="6" y="118"/>
              </a:cxn>
              <a:cxn ang="0">
                <a:pos x="0" y="85"/>
              </a:cxn>
              <a:cxn ang="0">
                <a:pos x="6" y="52"/>
              </a:cxn>
              <a:cxn ang="0">
                <a:pos x="24" y="24"/>
              </a:cxn>
              <a:cxn ang="0">
                <a:pos x="52" y="6"/>
              </a:cxn>
              <a:cxn ang="0">
                <a:pos x="86" y="0"/>
              </a:cxn>
            </a:cxnLst>
            <a:rect l="0" t="0" r="r" b="b"/>
            <a:pathLst>
              <a:path w="171" h="173">
                <a:moveTo>
                  <a:pt x="86" y="0"/>
                </a:moveTo>
                <a:lnTo>
                  <a:pt x="119" y="6"/>
                </a:lnTo>
                <a:lnTo>
                  <a:pt x="147" y="24"/>
                </a:lnTo>
                <a:lnTo>
                  <a:pt x="165" y="52"/>
                </a:lnTo>
                <a:lnTo>
                  <a:pt x="171" y="85"/>
                </a:lnTo>
                <a:lnTo>
                  <a:pt x="165" y="118"/>
                </a:lnTo>
                <a:lnTo>
                  <a:pt x="147" y="146"/>
                </a:lnTo>
                <a:lnTo>
                  <a:pt x="119" y="164"/>
                </a:lnTo>
                <a:lnTo>
                  <a:pt x="86" y="173"/>
                </a:lnTo>
                <a:lnTo>
                  <a:pt x="52" y="164"/>
                </a:lnTo>
                <a:lnTo>
                  <a:pt x="24" y="146"/>
                </a:lnTo>
                <a:lnTo>
                  <a:pt x="6" y="118"/>
                </a:lnTo>
                <a:lnTo>
                  <a:pt x="0" y="85"/>
                </a:lnTo>
                <a:lnTo>
                  <a:pt x="6" y="52"/>
                </a:lnTo>
                <a:lnTo>
                  <a:pt x="24" y="24"/>
                </a:lnTo>
                <a:lnTo>
                  <a:pt x="52" y="6"/>
                </a:lnTo>
                <a:lnTo>
                  <a:pt x="86" y="0"/>
                </a:lnTo>
              </a:path>
            </a:pathLst>
          </a:custGeom>
          <a:noFill/>
          <a:ln w="0">
            <a:solidFill>
              <a:srgbClr val="CCCCCC"/>
            </a:solidFill>
            <a:prstDash val="solid"/>
            <a:round/>
            <a:headEnd/>
            <a:tailEnd/>
          </a:ln>
        </p:spPr>
        <p:txBody>
          <a:bodyPr/>
          <a:lstStyle/>
          <a:p>
            <a:endParaRPr lang="en-GB"/>
          </a:p>
        </p:txBody>
      </p:sp>
      <p:sp>
        <p:nvSpPr>
          <p:cNvPr id="171063" name="Freeform 55"/>
          <p:cNvSpPr>
            <a:spLocks/>
          </p:cNvSpPr>
          <p:nvPr/>
        </p:nvSpPr>
        <p:spPr bwMode="auto">
          <a:xfrm>
            <a:off x="3014663" y="3349625"/>
            <a:ext cx="539750" cy="419100"/>
          </a:xfrm>
          <a:custGeom>
            <a:avLst/>
            <a:gdLst/>
            <a:ahLst/>
            <a:cxnLst>
              <a:cxn ang="0">
                <a:pos x="86" y="0"/>
              </a:cxn>
              <a:cxn ang="0">
                <a:pos x="340" y="0"/>
              </a:cxn>
              <a:cxn ang="0">
                <a:pos x="255" y="264"/>
              </a:cxn>
              <a:cxn ang="0">
                <a:pos x="0" y="264"/>
              </a:cxn>
              <a:cxn ang="0">
                <a:pos x="86" y="0"/>
              </a:cxn>
            </a:cxnLst>
            <a:rect l="0" t="0" r="r" b="b"/>
            <a:pathLst>
              <a:path w="340" h="264">
                <a:moveTo>
                  <a:pt x="86" y="0"/>
                </a:moveTo>
                <a:lnTo>
                  <a:pt x="340" y="0"/>
                </a:lnTo>
                <a:lnTo>
                  <a:pt x="255" y="264"/>
                </a:lnTo>
                <a:lnTo>
                  <a:pt x="0" y="264"/>
                </a:lnTo>
                <a:lnTo>
                  <a:pt x="86" y="0"/>
                </a:lnTo>
                <a:close/>
              </a:path>
            </a:pathLst>
          </a:custGeom>
          <a:solidFill>
            <a:srgbClr val="B2B2B2"/>
          </a:solidFill>
          <a:ln w="9525">
            <a:noFill/>
            <a:round/>
            <a:headEnd/>
            <a:tailEnd/>
          </a:ln>
        </p:spPr>
        <p:txBody>
          <a:bodyPr/>
          <a:lstStyle/>
          <a:p>
            <a:endParaRPr lang="en-GB"/>
          </a:p>
        </p:txBody>
      </p:sp>
      <p:sp>
        <p:nvSpPr>
          <p:cNvPr id="171064" name="Freeform 56"/>
          <p:cNvSpPr>
            <a:spLocks/>
          </p:cNvSpPr>
          <p:nvPr/>
        </p:nvSpPr>
        <p:spPr bwMode="auto">
          <a:xfrm>
            <a:off x="3014663" y="3349625"/>
            <a:ext cx="539750" cy="419100"/>
          </a:xfrm>
          <a:custGeom>
            <a:avLst/>
            <a:gdLst/>
            <a:ahLst/>
            <a:cxnLst>
              <a:cxn ang="0">
                <a:pos x="86" y="0"/>
              </a:cxn>
              <a:cxn ang="0">
                <a:pos x="340" y="0"/>
              </a:cxn>
              <a:cxn ang="0">
                <a:pos x="255" y="264"/>
              </a:cxn>
              <a:cxn ang="0">
                <a:pos x="0" y="264"/>
              </a:cxn>
              <a:cxn ang="0">
                <a:pos x="86" y="0"/>
              </a:cxn>
            </a:cxnLst>
            <a:rect l="0" t="0" r="r" b="b"/>
            <a:pathLst>
              <a:path w="340" h="264">
                <a:moveTo>
                  <a:pt x="86" y="0"/>
                </a:moveTo>
                <a:lnTo>
                  <a:pt x="340" y="0"/>
                </a:lnTo>
                <a:lnTo>
                  <a:pt x="255" y="264"/>
                </a:lnTo>
                <a:lnTo>
                  <a:pt x="0" y="264"/>
                </a:lnTo>
                <a:lnTo>
                  <a:pt x="86" y="0"/>
                </a:lnTo>
              </a:path>
            </a:pathLst>
          </a:custGeom>
          <a:noFill/>
          <a:ln w="0">
            <a:solidFill>
              <a:srgbClr val="CCCCCC"/>
            </a:solidFill>
            <a:prstDash val="solid"/>
            <a:round/>
            <a:headEnd/>
            <a:tailEnd/>
          </a:ln>
        </p:spPr>
        <p:txBody>
          <a:bodyPr/>
          <a:lstStyle/>
          <a:p>
            <a:endParaRPr lang="en-GB"/>
          </a:p>
        </p:txBody>
      </p:sp>
      <p:sp>
        <p:nvSpPr>
          <p:cNvPr id="171065" name="Freeform 57"/>
          <p:cNvSpPr>
            <a:spLocks/>
          </p:cNvSpPr>
          <p:nvPr/>
        </p:nvSpPr>
        <p:spPr bwMode="auto">
          <a:xfrm>
            <a:off x="3155950" y="2982913"/>
            <a:ext cx="277813" cy="274637"/>
          </a:xfrm>
          <a:custGeom>
            <a:avLst/>
            <a:gdLst/>
            <a:ahLst/>
            <a:cxnLst>
              <a:cxn ang="0">
                <a:pos x="95" y="0"/>
              </a:cxn>
              <a:cxn ang="0">
                <a:pos x="111" y="3"/>
              </a:cxn>
              <a:cxn ang="0">
                <a:pos x="120" y="6"/>
              </a:cxn>
              <a:cxn ang="0">
                <a:pos x="132" y="12"/>
              </a:cxn>
              <a:cxn ang="0">
                <a:pos x="141" y="21"/>
              </a:cxn>
              <a:cxn ang="0">
                <a:pos x="150" y="27"/>
              </a:cxn>
              <a:cxn ang="0">
                <a:pos x="160" y="39"/>
              </a:cxn>
              <a:cxn ang="0">
                <a:pos x="166" y="48"/>
              </a:cxn>
              <a:cxn ang="0">
                <a:pos x="169" y="60"/>
              </a:cxn>
              <a:cxn ang="0">
                <a:pos x="172" y="73"/>
              </a:cxn>
              <a:cxn ang="0">
                <a:pos x="175" y="85"/>
              </a:cxn>
              <a:cxn ang="0">
                <a:pos x="172" y="100"/>
              </a:cxn>
              <a:cxn ang="0">
                <a:pos x="169" y="112"/>
              </a:cxn>
              <a:cxn ang="0">
                <a:pos x="166" y="124"/>
              </a:cxn>
              <a:cxn ang="0">
                <a:pos x="160" y="133"/>
              </a:cxn>
              <a:cxn ang="0">
                <a:pos x="150" y="142"/>
              </a:cxn>
              <a:cxn ang="0">
                <a:pos x="141" y="152"/>
              </a:cxn>
              <a:cxn ang="0">
                <a:pos x="132" y="161"/>
              </a:cxn>
              <a:cxn ang="0">
                <a:pos x="120" y="164"/>
              </a:cxn>
              <a:cxn ang="0">
                <a:pos x="111" y="170"/>
              </a:cxn>
              <a:cxn ang="0">
                <a:pos x="95" y="173"/>
              </a:cxn>
              <a:cxn ang="0">
                <a:pos x="83" y="173"/>
              </a:cxn>
              <a:cxn ang="0">
                <a:pos x="71" y="170"/>
              </a:cxn>
              <a:cxn ang="0">
                <a:pos x="58" y="167"/>
              </a:cxn>
              <a:cxn ang="0">
                <a:pos x="46" y="161"/>
              </a:cxn>
              <a:cxn ang="0">
                <a:pos x="37" y="155"/>
              </a:cxn>
              <a:cxn ang="0">
                <a:pos x="28" y="145"/>
              </a:cxn>
              <a:cxn ang="0">
                <a:pos x="19" y="136"/>
              </a:cxn>
              <a:cxn ang="0">
                <a:pos x="13" y="127"/>
              </a:cxn>
              <a:cxn ang="0">
                <a:pos x="6" y="115"/>
              </a:cxn>
              <a:cxn ang="0">
                <a:pos x="3" y="103"/>
              </a:cxn>
              <a:cxn ang="0">
                <a:pos x="0" y="91"/>
              </a:cxn>
              <a:cxn ang="0">
                <a:pos x="0" y="79"/>
              </a:cxn>
              <a:cxn ang="0">
                <a:pos x="3" y="63"/>
              </a:cxn>
              <a:cxn ang="0">
                <a:pos x="6" y="51"/>
              </a:cxn>
              <a:cxn ang="0">
                <a:pos x="13" y="42"/>
              </a:cxn>
              <a:cxn ang="0">
                <a:pos x="22" y="30"/>
              </a:cxn>
              <a:cxn ang="0">
                <a:pos x="34" y="21"/>
              </a:cxn>
              <a:cxn ang="0">
                <a:pos x="43" y="12"/>
              </a:cxn>
              <a:cxn ang="0">
                <a:pos x="52" y="6"/>
              </a:cxn>
              <a:cxn ang="0">
                <a:pos x="65" y="3"/>
              </a:cxn>
              <a:cxn ang="0">
                <a:pos x="80" y="0"/>
              </a:cxn>
            </a:cxnLst>
            <a:rect l="0" t="0" r="r" b="b"/>
            <a:pathLst>
              <a:path w="175" h="173">
                <a:moveTo>
                  <a:pt x="86" y="0"/>
                </a:moveTo>
                <a:lnTo>
                  <a:pt x="92" y="0"/>
                </a:lnTo>
                <a:lnTo>
                  <a:pt x="95" y="0"/>
                </a:lnTo>
                <a:lnTo>
                  <a:pt x="101" y="0"/>
                </a:lnTo>
                <a:lnTo>
                  <a:pt x="104" y="3"/>
                </a:lnTo>
                <a:lnTo>
                  <a:pt x="111" y="3"/>
                </a:lnTo>
                <a:lnTo>
                  <a:pt x="114" y="3"/>
                </a:lnTo>
                <a:lnTo>
                  <a:pt x="117" y="6"/>
                </a:lnTo>
                <a:lnTo>
                  <a:pt x="120" y="6"/>
                </a:lnTo>
                <a:lnTo>
                  <a:pt x="126" y="9"/>
                </a:lnTo>
                <a:lnTo>
                  <a:pt x="129" y="12"/>
                </a:lnTo>
                <a:lnTo>
                  <a:pt x="132" y="12"/>
                </a:lnTo>
                <a:lnTo>
                  <a:pt x="135" y="15"/>
                </a:lnTo>
                <a:lnTo>
                  <a:pt x="138" y="18"/>
                </a:lnTo>
                <a:lnTo>
                  <a:pt x="141" y="21"/>
                </a:lnTo>
                <a:lnTo>
                  <a:pt x="144" y="24"/>
                </a:lnTo>
                <a:lnTo>
                  <a:pt x="147" y="24"/>
                </a:lnTo>
                <a:lnTo>
                  <a:pt x="150" y="27"/>
                </a:lnTo>
                <a:lnTo>
                  <a:pt x="153" y="30"/>
                </a:lnTo>
                <a:lnTo>
                  <a:pt x="156" y="36"/>
                </a:lnTo>
                <a:lnTo>
                  <a:pt x="160" y="39"/>
                </a:lnTo>
                <a:lnTo>
                  <a:pt x="163" y="42"/>
                </a:lnTo>
                <a:lnTo>
                  <a:pt x="163" y="45"/>
                </a:lnTo>
                <a:lnTo>
                  <a:pt x="166" y="48"/>
                </a:lnTo>
                <a:lnTo>
                  <a:pt x="166" y="51"/>
                </a:lnTo>
                <a:lnTo>
                  <a:pt x="169" y="57"/>
                </a:lnTo>
                <a:lnTo>
                  <a:pt x="169" y="60"/>
                </a:lnTo>
                <a:lnTo>
                  <a:pt x="172" y="63"/>
                </a:lnTo>
                <a:lnTo>
                  <a:pt x="172" y="70"/>
                </a:lnTo>
                <a:lnTo>
                  <a:pt x="172" y="73"/>
                </a:lnTo>
                <a:lnTo>
                  <a:pt x="175" y="79"/>
                </a:lnTo>
                <a:lnTo>
                  <a:pt x="175" y="82"/>
                </a:lnTo>
                <a:lnTo>
                  <a:pt x="175" y="85"/>
                </a:lnTo>
                <a:lnTo>
                  <a:pt x="175" y="91"/>
                </a:lnTo>
                <a:lnTo>
                  <a:pt x="175" y="94"/>
                </a:lnTo>
                <a:lnTo>
                  <a:pt x="172" y="100"/>
                </a:lnTo>
                <a:lnTo>
                  <a:pt x="172" y="103"/>
                </a:lnTo>
                <a:lnTo>
                  <a:pt x="172" y="106"/>
                </a:lnTo>
                <a:lnTo>
                  <a:pt x="169" y="112"/>
                </a:lnTo>
                <a:lnTo>
                  <a:pt x="169" y="115"/>
                </a:lnTo>
                <a:lnTo>
                  <a:pt x="166" y="118"/>
                </a:lnTo>
                <a:lnTo>
                  <a:pt x="166" y="124"/>
                </a:lnTo>
                <a:lnTo>
                  <a:pt x="163" y="127"/>
                </a:lnTo>
                <a:lnTo>
                  <a:pt x="163" y="130"/>
                </a:lnTo>
                <a:lnTo>
                  <a:pt x="160" y="133"/>
                </a:lnTo>
                <a:lnTo>
                  <a:pt x="156" y="136"/>
                </a:lnTo>
                <a:lnTo>
                  <a:pt x="153" y="139"/>
                </a:lnTo>
                <a:lnTo>
                  <a:pt x="150" y="142"/>
                </a:lnTo>
                <a:lnTo>
                  <a:pt x="147" y="145"/>
                </a:lnTo>
                <a:lnTo>
                  <a:pt x="144" y="149"/>
                </a:lnTo>
                <a:lnTo>
                  <a:pt x="141" y="152"/>
                </a:lnTo>
                <a:lnTo>
                  <a:pt x="138" y="155"/>
                </a:lnTo>
                <a:lnTo>
                  <a:pt x="135" y="158"/>
                </a:lnTo>
                <a:lnTo>
                  <a:pt x="132" y="161"/>
                </a:lnTo>
                <a:lnTo>
                  <a:pt x="129" y="161"/>
                </a:lnTo>
                <a:lnTo>
                  <a:pt x="126" y="164"/>
                </a:lnTo>
                <a:lnTo>
                  <a:pt x="120" y="164"/>
                </a:lnTo>
                <a:lnTo>
                  <a:pt x="117" y="167"/>
                </a:lnTo>
                <a:lnTo>
                  <a:pt x="114" y="167"/>
                </a:lnTo>
                <a:lnTo>
                  <a:pt x="111" y="170"/>
                </a:lnTo>
                <a:lnTo>
                  <a:pt x="104" y="170"/>
                </a:lnTo>
                <a:lnTo>
                  <a:pt x="101" y="170"/>
                </a:lnTo>
                <a:lnTo>
                  <a:pt x="95" y="173"/>
                </a:lnTo>
                <a:lnTo>
                  <a:pt x="92" y="173"/>
                </a:lnTo>
                <a:lnTo>
                  <a:pt x="86" y="173"/>
                </a:lnTo>
                <a:lnTo>
                  <a:pt x="83" y="173"/>
                </a:lnTo>
                <a:lnTo>
                  <a:pt x="80" y="173"/>
                </a:lnTo>
                <a:lnTo>
                  <a:pt x="74" y="170"/>
                </a:lnTo>
                <a:lnTo>
                  <a:pt x="71" y="170"/>
                </a:lnTo>
                <a:lnTo>
                  <a:pt x="65" y="170"/>
                </a:lnTo>
                <a:lnTo>
                  <a:pt x="62" y="167"/>
                </a:lnTo>
                <a:lnTo>
                  <a:pt x="58" y="167"/>
                </a:lnTo>
                <a:lnTo>
                  <a:pt x="52" y="164"/>
                </a:lnTo>
                <a:lnTo>
                  <a:pt x="49" y="164"/>
                </a:lnTo>
                <a:lnTo>
                  <a:pt x="46" y="161"/>
                </a:lnTo>
                <a:lnTo>
                  <a:pt x="43" y="161"/>
                </a:lnTo>
                <a:lnTo>
                  <a:pt x="40" y="158"/>
                </a:lnTo>
                <a:lnTo>
                  <a:pt x="37" y="155"/>
                </a:lnTo>
                <a:lnTo>
                  <a:pt x="34" y="152"/>
                </a:lnTo>
                <a:lnTo>
                  <a:pt x="28" y="149"/>
                </a:lnTo>
                <a:lnTo>
                  <a:pt x="28" y="145"/>
                </a:lnTo>
                <a:lnTo>
                  <a:pt x="25" y="142"/>
                </a:lnTo>
                <a:lnTo>
                  <a:pt x="22" y="139"/>
                </a:lnTo>
                <a:lnTo>
                  <a:pt x="19" y="136"/>
                </a:lnTo>
                <a:lnTo>
                  <a:pt x="16" y="133"/>
                </a:lnTo>
                <a:lnTo>
                  <a:pt x="13" y="130"/>
                </a:lnTo>
                <a:lnTo>
                  <a:pt x="13" y="127"/>
                </a:lnTo>
                <a:lnTo>
                  <a:pt x="9" y="124"/>
                </a:lnTo>
                <a:lnTo>
                  <a:pt x="6" y="118"/>
                </a:lnTo>
                <a:lnTo>
                  <a:pt x="6" y="115"/>
                </a:lnTo>
                <a:lnTo>
                  <a:pt x="3" y="112"/>
                </a:lnTo>
                <a:lnTo>
                  <a:pt x="3" y="106"/>
                </a:lnTo>
                <a:lnTo>
                  <a:pt x="3" y="103"/>
                </a:lnTo>
                <a:lnTo>
                  <a:pt x="3" y="100"/>
                </a:lnTo>
                <a:lnTo>
                  <a:pt x="0" y="94"/>
                </a:lnTo>
                <a:lnTo>
                  <a:pt x="0" y="91"/>
                </a:lnTo>
                <a:lnTo>
                  <a:pt x="0" y="85"/>
                </a:lnTo>
                <a:lnTo>
                  <a:pt x="0" y="82"/>
                </a:lnTo>
                <a:lnTo>
                  <a:pt x="0" y="79"/>
                </a:lnTo>
                <a:lnTo>
                  <a:pt x="3" y="73"/>
                </a:lnTo>
                <a:lnTo>
                  <a:pt x="3" y="70"/>
                </a:lnTo>
                <a:lnTo>
                  <a:pt x="3" y="63"/>
                </a:lnTo>
                <a:lnTo>
                  <a:pt x="3" y="60"/>
                </a:lnTo>
                <a:lnTo>
                  <a:pt x="6" y="57"/>
                </a:lnTo>
                <a:lnTo>
                  <a:pt x="6" y="51"/>
                </a:lnTo>
                <a:lnTo>
                  <a:pt x="9" y="48"/>
                </a:lnTo>
                <a:lnTo>
                  <a:pt x="13" y="45"/>
                </a:lnTo>
                <a:lnTo>
                  <a:pt x="13" y="42"/>
                </a:lnTo>
                <a:lnTo>
                  <a:pt x="16" y="39"/>
                </a:lnTo>
                <a:lnTo>
                  <a:pt x="19" y="36"/>
                </a:lnTo>
                <a:lnTo>
                  <a:pt x="22" y="30"/>
                </a:lnTo>
                <a:lnTo>
                  <a:pt x="25" y="27"/>
                </a:lnTo>
                <a:lnTo>
                  <a:pt x="28" y="24"/>
                </a:lnTo>
                <a:lnTo>
                  <a:pt x="34" y="21"/>
                </a:lnTo>
                <a:lnTo>
                  <a:pt x="37" y="18"/>
                </a:lnTo>
                <a:lnTo>
                  <a:pt x="40" y="15"/>
                </a:lnTo>
                <a:lnTo>
                  <a:pt x="43" y="12"/>
                </a:lnTo>
                <a:lnTo>
                  <a:pt x="46" y="12"/>
                </a:lnTo>
                <a:lnTo>
                  <a:pt x="49" y="9"/>
                </a:lnTo>
                <a:lnTo>
                  <a:pt x="52" y="6"/>
                </a:lnTo>
                <a:lnTo>
                  <a:pt x="58" y="6"/>
                </a:lnTo>
                <a:lnTo>
                  <a:pt x="62" y="3"/>
                </a:lnTo>
                <a:lnTo>
                  <a:pt x="65" y="3"/>
                </a:lnTo>
                <a:lnTo>
                  <a:pt x="71" y="3"/>
                </a:lnTo>
                <a:lnTo>
                  <a:pt x="74" y="0"/>
                </a:lnTo>
                <a:lnTo>
                  <a:pt x="80" y="0"/>
                </a:lnTo>
                <a:lnTo>
                  <a:pt x="83" y="0"/>
                </a:lnTo>
                <a:lnTo>
                  <a:pt x="86" y="0"/>
                </a:lnTo>
                <a:close/>
              </a:path>
            </a:pathLst>
          </a:custGeom>
          <a:solidFill>
            <a:srgbClr val="FFCC99"/>
          </a:solidFill>
          <a:ln w="9525">
            <a:noFill/>
            <a:round/>
            <a:headEnd/>
            <a:tailEnd/>
          </a:ln>
        </p:spPr>
        <p:txBody>
          <a:bodyPr/>
          <a:lstStyle/>
          <a:p>
            <a:endParaRPr lang="en-GB"/>
          </a:p>
        </p:txBody>
      </p:sp>
      <p:sp>
        <p:nvSpPr>
          <p:cNvPr id="171066" name="Freeform 58"/>
          <p:cNvSpPr>
            <a:spLocks/>
          </p:cNvSpPr>
          <p:nvPr/>
        </p:nvSpPr>
        <p:spPr bwMode="auto">
          <a:xfrm>
            <a:off x="3155950" y="2982913"/>
            <a:ext cx="277813" cy="274637"/>
          </a:xfrm>
          <a:custGeom>
            <a:avLst/>
            <a:gdLst/>
            <a:ahLst/>
            <a:cxnLst>
              <a:cxn ang="0">
                <a:pos x="86" y="0"/>
              </a:cxn>
              <a:cxn ang="0">
                <a:pos x="120" y="6"/>
              </a:cxn>
              <a:cxn ang="0">
                <a:pos x="147" y="24"/>
              </a:cxn>
              <a:cxn ang="0">
                <a:pos x="166" y="51"/>
              </a:cxn>
              <a:cxn ang="0">
                <a:pos x="175" y="85"/>
              </a:cxn>
              <a:cxn ang="0">
                <a:pos x="166" y="118"/>
              </a:cxn>
              <a:cxn ang="0">
                <a:pos x="147" y="145"/>
              </a:cxn>
              <a:cxn ang="0">
                <a:pos x="120" y="164"/>
              </a:cxn>
              <a:cxn ang="0">
                <a:pos x="86" y="173"/>
              </a:cxn>
              <a:cxn ang="0">
                <a:pos x="52" y="164"/>
              </a:cxn>
              <a:cxn ang="0">
                <a:pos x="28" y="145"/>
              </a:cxn>
              <a:cxn ang="0">
                <a:pos x="6" y="118"/>
              </a:cxn>
              <a:cxn ang="0">
                <a:pos x="0" y="85"/>
              </a:cxn>
              <a:cxn ang="0">
                <a:pos x="6" y="51"/>
              </a:cxn>
              <a:cxn ang="0">
                <a:pos x="28" y="24"/>
              </a:cxn>
              <a:cxn ang="0">
                <a:pos x="52" y="6"/>
              </a:cxn>
              <a:cxn ang="0">
                <a:pos x="86" y="0"/>
              </a:cxn>
            </a:cxnLst>
            <a:rect l="0" t="0" r="r" b="b"/>
            <a:pathLst>
              <a:path w="175" h="173">
                <a:moveTo>
                  <a:pt x="86" y="0"/>
                </a:moveTo>
                <a:lnTo>
                  <a:pt x="120" y="6"/>
                </a:lnTo>
                <a:lnTo>
                  <a:pt x="147" y="24"/>
                </a:lnTo>
                <a:lnTo>
                  <a:pt x="166" y="51"/>
                </a:lnTo>
                <a:lnTo>
                  <a:pt x="175" y="85"/>
                </a:lnTo>
                <a:lnTo>
                  <a:pt x="166" y="118"/>
                </a:lnTo>
                <a:lnTo>
                  <a:pt x="147" y="145"/>
                </a:lnTo>
                <a:lnTo>
                  <a:pt x="120" y="164"/>
                </a:lnTo>
                <a:lnTo>
                  <a:pt x="86" y="173"/>
                </a:lnTo>
                <a:lnTo>
                  <a:pt x="52" y="164"/>
                </a:lnTo>
                <a:lnTo>
                  <a:pt x="28" y="145"/>
                </a:lnTo>
                <a:lnTo>
                  <a:pt x="6" y="118"/>
                </a:lnTo>
                <a:lnTo>
                  <a:pt x="0" y="85"/>
                </a:lnTo>
                <a:lnTo>
                  <a:pt x="6" y="51"/>
                </a:lnTo>
                <a:lnTo>
                  <a:pt x="28" y="24"/>
                </a:lnTo>
                <a:lnTo>
                  <a:pt x="52" y="6"/>
                </a:lnTo>
                <a:lnTo>
                  <a:pt x="86" y="0"/>
                </a:lnTo>
              </a:path>
            </a:pathLst>
          </a:custGeom>
          <a:noFill/>
          <a:ln w="0">
            <a:solidFill>
              <a:srgbClr val="000000"/>
            </a:solidFill>
            <a:prstDash val="solid"/>
            <a:round/>
            <a:headEnd/>
            <a:tailEnd/>
          </a:ln>
        </p:spPr>
        <p:txBody>
          <a:bodyPr/>
          <a:lstStyle/>
          <a:p>
            <a:endParaRPr lang="en-GB"/>
          </a:p>
        </p:txBody>
      </p:sp>
      <p:sp>
        <p:nvSpPr>
          <p:cNvPr id="171067" name="Freeform 59"/>
          <p:cNvSpPr>
            <a:spLocks/>
          </p:cNvSpPr>
          <p:nvPr/>
        </p:nvSpPr>
        <p:spPr bwMode="auto">
          <a:xfrm>
            <a:off x="2971800" y="3314700"/>
            <a:ext cx="534988" cy="420688"/>
          </a:xfrm>
          <a:custGeom>
            <a:avLst/>
            <a:gdLst/>
            <a:ahLst/>
            <a:cxnLst>
              <a:cxn ang="0">
                <a:pos x="86" y="0"/>
              </a:cxn>
              <a:cxn ang="0">
                <a:pos x="337" y="0"/>
              </a:cxn>
              <a:cxn ang="0">
                <a:pos x="251" y="265"/>
              </a:cxn>
              <a:cxn ang="0">
                <a:pos x="0" y="265"/>
              </a:cxn>
              <a:cxn ang="0">
                <a:pos x="86" y="0"/>
              </a:cxn>
            </a:cxnLst>
            <a:rect l="0" t="0" r="r" b="b"/>
            <a:pathLst>
              <a:path w="337" h="265">
                <a:moveTo>
                  <a:pt x="86" y="0"/>
                </a:moveTo>
                <a:lnTo>
                  <a:pt x="337" y="0"/>
                </a:lnTo>
                <a:lnTo>
                  <a:pt x="251" y="265"/>
                </a:lnTo>
                <a:lnTo>
                  <a:pt x="0" y="265"/>
                </a:lnTo>
                <a:lnTo>
                  <a:pt x="86" y="0"/>
                </a:lnTo>
                <a:close/>
              </a:path>
            </a:pathLst>
          </a:custGeom>
          <a:solidFill>
            <a:srgbClr val="FFCC99"/>
          </a:solidFill>
          <a:ln w="9525">
            <a:noFill/>
            <a:round/>
            <a:headEnd/>
            <a:tailEnd/>
          </a:ln>
        </p:spPr>
        <p:txBody>
          <a:bodyPr/>
          <a:lstStyle/>
          <a:p>
            <a:endParaRPr lang="en-GB"/>
          </a:p>
        </p:txBody>
      </p:sp>
      <p:sp>
        <p:nvSpPr>
          <p:cNvPr id="171068" name="Freeform 60"/>
          <p:cNvSpPr>
            <a:spLocks/>
          </p:cNvSpPr>
          <p:nvPr/>
        </p:nvSpPr>
        <p:spPr bwMode="auto">
          <a:xfrm>
            <a:off x="2971800" y="3314700"/>
            <a:ext cx="534988" cy="420688"/>
          </a:xfrm>
          <a:custGeom>
            <a:avLst/>
            <a:gdLst/>
            <a:ahLst/>
            <a:cxnLst>
              <a:cxn ang="0">
                <a:pos x="86" y="0"/>
              </a:cxn>
              <a:cxn ang="0">
                <a:pos x="337" y="0"/>
              </a:cxn>
              <a:cxn ang="0">
                <a:pos x="251" y="265"/>
              </a:cxn>
              <a:cxn ang="0">
                <a:pos x="0" y="265"/>
              </a:cxn>
              <a:cxn ang="0">
                <a:pos x="86" y="0"/>
              </a:cxn>
            </a:cxnLst>
            <a:rect l="0" t="0" r="r" b="b"/>
            <a:pathLst>
              <a:path w="337" h="265">
                <a:moveTo>
                  <a:pt x="86" y="0"/>
                </a:moveTo>
                <a:lnTo>
                  <a:pt x="337" y="0"/>
                </a:lnTo>
                <a:lnTo>
                  <a:pt x="251" y="265"/>
                </a:lnTo>
                <a:lnTo>
                  <a:pt x="0" y="265"/>
                </a:lnTo>
                <a:lnTo>
                  <a:pt x="86" y="0"/>
                </a:lnTo>
              </a:path>
            </a:pathLst>
          </a:custGeom>
          <a:noFill/>
          <a:ln w="0">
            <a:solidFill>
              <a:srgbClr val="000000"/>
            </a:solidFill>
            <a:prstDash val="solid"/>
            <a:round/>
            <a:headEnd/>
            <a:tailEnd/>
          </a:ln>
        </p:spPr>
        <p:txBody>
          <a:bodyPr/>
          <a:lstStyle/>
          <a:p>
            <a:endParaRPr lang="en-GB"/>
          </a:p>
        </p:txBody>
      </p:sp>
      <p:sp>
        <p:nvSpPr>
          <p:cNvPr id="171069" name="Line 61"/>
          <p:cNvSpPr>
            <a:spLocks noChangeShapeType="1"/>
          </p:cNvSpPr>
          <p:nvPr/>
        </p:nvSpPr>
        <p:spPr bwMode="auto">
          <a:xfrm>
            <a:off x="3214688" y="3489325"/>
            <a:ext cx="4762" cy="4763"/>
          </a:xfrm>
          <a:prstGeom prst="line">
            <a:avLst/>
          </a:prstGeom>
          <a:noFill/>
          <a:ln w="0">
            <a:solidFill>
              <a:srgbClr val="000000"/>
            </a:solidFill>
            <a:round/>
            <a:headEnd/>
            <a:tailEnd/>
          </a:ln>
        </p:spPr>
        <p:txBody>
          <a:bodyPr/>
          <a:lstStyle/>
          <a:p>
            <a:endParaRPr lang="en-GB"/>
          </a:p>
        </p:txBody>
      </p:sp>
      <p:grpSp>
        <p:nvGrpSpPr>
          <p:cNvPr id="7" name="Group 62"/>
          <p:cNvGrpSpPr>
            <a:grpSpLocks/>
          </p:cNvGrpSpPr>
          <p:nvPr/>
        </p:nvGrpSpPr>
        <p:grpSpPr bwMode="auto">
          <a:xfrm>
            <a:off x="6673850" y="1724025"/>
            <a:ext cx="2374900" cy="1111250"/>
            <a:chOff x="4204" y="1086"/>
            <a:chExt cx="1496" cy="700"/>
          </a:xfrm>
        </p:grpSpPr>
        <p:sp>
          <p:nvSpPr>
            <p:cNvPr id="171071" name="AutoShape 63"/>
            <p:cNvSpPr>
              <a:spLocks noChangeArrowheads="1"/>
            </p:cNvSpPr>
            <p:nvPr/>
          </p:nvSpPr>
          <p:spPr bwMode="gray">
            <a:xfrm>
              <a:off x="4204" y="1086"/>
              <a:ext cx="1413" cy="700"/>
            </a:xfrm>
            <a:prstGeom prst="wedgeRectCallout">
              <a:avLst>
                <a:gd name="adj1" fmla="val -86236"/>
                <a:gd name="adj2" fmla="val 13713"/>
              </a:avLst>
            </a:prstGeom>
            <a:gradFill rotWithShape="1">
              <a:gsLst>
                <a:gs pos="0">
                  <a:srgbClr val="FFCC00"/>
                </a:gs>
                <a:gs pos="100000">
                  <a:srgbClr val="FFFFCC"/>
                </a:gs>
              </a:gsLst>
              <a:lin ang="18900000" scaled="1"/>
            </a:gradFill>
            <a:ln w="12700">
              <a:solidFill>
                <a:srgbClr val="000000"/>
              </a:solidFill>
              <a:miter lim="800000"/>
              <a:headEnd/>
              <a:tailEnd/>
            </a:ln>
            <a:effectLst/>
          </p:spPr>
          <p:txBody>
            <a:bodyPr wrap="none" anchor="ctr"/>
            <a:lstStyle/>
            <a:p>
              <a:pPr eaLnBrk="0" hangingPunct="0"/>
              <a:endParaRPr lang="fr-CA" sz="2800" b="1">
                <a:solidFill>
                  <a:schemeClr val="accent2"/>
                </a:solidFill>
              </a:endParaRPr>
            </a:p>
          </p:txBody>
        </p:sp>
        <p:sp>
          <p:nvSpPr>
            <p:cNvPr id="171072" name="Rectangle 64"/>
            <p:cNvSpPr>
              <a:spLocks noChangeArrowheads="1"/>
            </p:cNvSpPr>
            <p:nvPr/>
          </p:nvSpPr>
          <p:spPr bwMode="gray">
            <a:xfrm>
              <a:off x="4219" y="1153"/>
              <a:ext cx="1481" cy="577"/>
            </a:xfrm>
            <a:prstGeom prst="rect">
              <a:avLst/>
            </a:prstGeom>
            <a:noFill/>
            <a:ln w="12700">
              <a:noFill/>
              <a:miter lim="800000"/>
              <a:headEnd/>
              <a:tailEnd/>
            </a:ln>
            <a:effectLst/>
          </p:spPr>
          <p:txBody>
            <a:bodyPr>
              <a:spAutoFit/>
            </a:bodyPr>
            <a:lstStyle/>
            <a:p>
              <a:pPr eaLnBrk="0" hangingPunct="0"/>
              <a:r>
                <a:rPr lang="en-US" b="1" dirty="0">
                  <a:solidFill>
                    <a:srgbClr val="002060"/>
                  </a:solidFill>
                </a:rPr>
                <a:t>A unit of work an individual may be asked to perform</a:t>
              </a:r>
              <a:endParaRPr lang="en-US" sz="1600" dirty="0">
                <a:solidFill>
                  <a:srgbClr val="002060"/>
                </a:solidFill>
              </a:endParaRPr>
            </a:p>
          </p:txBody>
        </p:sp>
      </p:grpSp>
      <p:grpSp>
        <p:nvGrpSpPr>
          <p:cNvPr id="8" name="Group 65"/>
          <p:cNvGrpSpPr>
            <a:grpSpLocks/>
          </p:cNvGrpSpPr>
          <p:nvPr/>
        </p:nvGrpSpPr>
        <p:grpSpPr bwMode="auto">
          <a:xfrm>
            <a:off x="6048375" y="5006975"/>
            <a:ext cx="2774950" cy="1300163"/>
            <a:chOff x="3810" y="3154"/>
            <a:chExt cx="1748" cy="819"/>
          </a:xfrm>
        </p:grpSpPr>
        <p:sp>
          <p:nvSpPr>
            <p:cNvPr id="171074" name="AutoShape 66"/>
            <p:cNvSpPr>
              <a:spLocks noChangeArrowheads="1"/>
            </p:cNvSpPr>
            <p:nvPr/>
          </p:nvSpPr>
          <p:spPr bwMode="gray">
            <a:xfrm>
              <a:off x="3824" y="3154"/>
              <a:ext cx="1734" cy="819"/>
            </a:xfrm>
            <a:prstGeom prst="wedgeRectCallout">
              <a:avLst>
                <a:gd name="adj1" fmla="val -55537"/>
                <a:gd name="adj2" fmla="val -71000"/>
              </a:avLst>
            </a:prstGeom>
            <a:gradFill rotWithShape="1">
              <a:gsLst>
                <a:gs pos="0">
                  <a:srgbClr val="FFCC00"/>
                </a:gs>
                <a:gs pos="100000">
                  <a:srgbClr val="FFFFCC"/>
                </a:gs>
              </a:gsLst>
              <a:lin ang="18900000" scaled="1"/>
            </a:gradFill>
            <a:ln w="12700">
              <a:solidFill>
                <a:srgbClr val="000000"/>
              </a:solidFill>
              <a:miter lim="800000"/>
              <a:headEnd/>
              <a:tailEnd/>
            </a:ln>
            <a:effectLst/>
          </p:spPr>
          <p:txBody>
            <a:bodyPr wrap="none" anchor="ctr"/>
            <a:lstStyle/>
            <a:p>
              <a:pPr eaLnBrk="0" hangingPunct="0"/>
              <a:endParaRPr lang="fr-CA" sz="2800" b="1">
                <a:solidFill>
                  <a:schemeClr val="accent2"/>
                </a:solidFill>
              </a:endParaRPr>
            </a:p>
          </p:txBody>
        </p:sp>
        <p:sp>
          <p:nvSpPr>
            <p:cNvPr id="171075" name="Rectangle 67"/>
            <p:cNvSpPr>
              <a:spLocks noChangeArrowheads="1"/>
            </p:cNvSpPr>
            <p:nvPr/>
          </p:nvSpPr>
          <p:spPr bwMode="ltGray">
            <a:xfrm>
              <a:off x="3810" y="3155"/>
              <a:ext cx="1728" cy="750"/>
            </a:xfrm>
            <a:prstGeom prst="rect">
              <a:avLst/>
            </a:prstGeom>
            <a:noFill/>
            <a:ln w="12700">
              <a:noFill/>
              <a:miter lim="800000"/>
              <a:headEnd/>
              <a:tailEnd/>
            </a:ln>
            <a:effectLst/>
          </p:spPr>
          <p:txBody>
            <a:bodyPr>
              <a:spAutoFit/>
            </a:bodyPr>
            <a:lstStyle/>
            <a:p>
              <a:pPr eaLnBrk="0" hangingPunct="0"/>
              <a:r>
                <a:rPr lang="en-US" b="1" dirty="0">
                  <a:solidFill>
                    <a:srgbClr val="002060"/>
                  </a:solidFill>
                </a:rPr>
                <a:t>A piece of information that is produced, modified, or used by a process</a:t>
              </a:r>
              <a:endParaRPr lang="en-US" sz="1600" dirty="0">
                <a:solidFill>
                  <a:srgbClr val="002060"/>
                </a:solidFill>
              </a:endParaRPr>
            </a:p>
          </p:txBody>
        </p:sp>
      </p:grpSp>
      <p:grpSp>
        <p:nvGrpSpPr>
          <p:cNvPr id="9" name="Group 68"/>
          <p:cNvGrpSpPr>
            <a:grpSpLocks/>
          </p:cNvGrpSpPr>
          <p:nvPr/>
        </p:nvGrpSpPr>
        <p:grpSpPr bwMode="auto">
          <a:xfrm>
            <a:off x="457200" y="1066800"/>
            <a:ext cx="2743200" cy="1676400"/>
            <a:chOff x="127" y="683"/>
            <a:chExt cx="1728" cy="1056"/>
          </a:xfrm>
        </p:grpSpPr>
        <p:sp>
          <p:nvSpPr>
            <p:cNvPr id="171077" name="AutoShape 69"/>
            <p:cNvSpPr>
              <a:spLocks noChangeArrowheads="1"/>
            </p:cNvSpPr>
            <p:nvPr/>
          </p:nvSpPr>
          <p:spPr bwMode="gray">
            <a:xfrm>
              <a:off x="127" y="683"/>
              <a:ext cx="1728" cy="1056"/>
            </a:xfrm>
            <a:prstGeom prst="wedgeRectCallout">
              <a:avLst>
                <a:gd name="adj1" fmla="val -926"/>
                <a:gd name="adj2" fmla="val 60134"/>
              </a:avLst>
            </a:prstGeom>
            <a:gradFill rotWithShape="1">
              <a:gsLst>
                <a:gs pos="0">
                  <a:srgbClr val="FFCC00"/>
                </a:gs>
                <a:gs pos="100000">
                  <a:srgbClr val="FFFFCC"/>
                </a:gs>
              </a:gsLst>
              <a:lin ang="18900000" scaled="1"/>
            </a:gradFill>
            <a:ln w="12700">
              <a:solidFill>
                <a:srgbClr val="000000"/>
              </a:solidFill>
              <a:miter lim="800000"/>
              <a:headEnd/>
              <a:tailEnd/>
            </a:ln>
            <a:effectLst/>
          </p:spPr>
          <p:txBody>
            <a:bodyPr wrap="none" anchor="ctr"/>
            <a:lstStyle/>
            <a:p>
              <a:pPr eaLnBrk="0" hangingPunct="0"/>
              <a:endParaRPr lang="fr-CA" sz="2800" b="1">
                <a:solidFill>
                  <a:schemeClr val="accent2"/>
                </a:solidFill>
              </a:endParaRPr>
            </a:p>
          </p:txBody>
        </p:sp>
        <p:sp>
          <p:nvSpPr>
            <p:cNvPr id="171078" name="Rectangle 70"/>
            <p:cNvSpPr>
              <a:spLocks noChangeArrowheads="1"/>
            </p:cNvSpPr>
            <p:nvPr/>
          </p:nvSpPr>
          <p:spPr bwMode="ltGray">
            <a:xfrm>
              <a:off x="169" y="744"/>
              <a:ext cx="1680" cy="756"/>
            </a:xfrm>
            <a:prstGeom prst="rect">
              <a:avLst/>
            </a:prstGeom>
            <a:noFill/>
            <a:ln w="12700">
              <a:noFill/>
              <a:miter lim="800000"/>
              <a:headEnd/>
              <a:tailEnd/>
            </a:ln>
            <a:effectLst/>
          </p:spPr>
          <p:txBody>
            <a:bodyPr>
              <a:spAutoFit/>
            </a:bodyPr>
            <a:lstStyle/>
            <a:p>
              <a:pPr eaLnBrk="0" hangingPunct="0"/>
              <a:r>
                <a:rPr lang="en-US" b="1" dirty="0">
                  <a:solidFill>
                    <a:srgbClr val="002060"/>
                  </a:solidFill>
                </a:rPr>
                <a:t>A role that may be played by an individual or a team in the development organization</a:t>
              </a:r>
              <a:endParaRPr lang="en-US" sz="1600" dirty="0">
                <a:solidFill>
                  <a:srgbClr val="00206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checkerboard(across)">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r>
              <a:rPr lang="fr-CA" sz="4000"/>
              <a:t>Fundamental Conceptual Model</a:t>
            </a:r>
            <a:endParaRPr lang="en-CA" sz="4000"/>
          </a:p>
        </p:txBody>
      </p:sp>
      <p:graphicFrame>
        <p:nvGraphicFramePr>
          <p:cNvPr id="172035" name="Object 3"/>
          <p:cNvGraphicFramePr>
            <a:graphicFrameLocks noChangeAspect="1"/>
          </p:cNvGraphicFramePr>
          <p:nvPr/>
        </p:nvGraphicFramePr>
        <p:xfrm>
          <a:off x="609600" y="1447800"/>
          <a:ext cx="7877175" cy="4805362"/>
        </p:xfrm>
        <a:graphic>
          <a:graphicData uri="http://schemas.openxmlformats.org/presentationml/2006/ole">
            <mc:AlternateContent xmlns:mc="http://schemas.openxmlformats.org/markup-compatibility/2006">
              <mc:Choice xmlns:v="urn:schemas-microsoft-com:vml" Requires="v">
                <p:oleObj spid="_x0000_s75780" name="Image" r:id="rId3" imgW="3566160" imgH="2174760" progId="Word.Picture.8">
                  <p:embed/>
                </p:oleObj>
              </mc:Choice>
              <mc:Fallback>
                <p:oleObj name="Image" r:id="rId3" imgW="3566160" imgH="2174760" progId="Word.Picture.8">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447800"/>
                        <a:ext cx="7877175" cy="4805362"/>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Freeform 2"/>
          <p:cNvSpPr>
            <a:spLocks/>
          </p:cNvSpPr>
          <p:nvPr/>
        </p:nvSpPr>
        <p:spPr bwMode="auto">
          <a:xfrm>
            <a:off x="4876800" y="1447800"/>
            <a:ext cx="3275013" cy="2589213"/>
          </a:xfrm>
          <a:custGeom>
            <a:avLst/>
            <a:gdLst/>
            <a:ahLst/>
            <a:cxnLst>
              <a:cxn ang="0">
                <a:pos x="16471" y="0"/>
              </a:cxn>
              <a:cxn ang="0">
                <a:pos x="16490" y="2"/>
              </a:cxn>
              <a:cxn ang="0">
                <a:pos x="16509" y="8"/>
              </a:cxn>
              <a:cxn ang="0">
                <a:pos x="16527" y="16"/>
              </a:cxn>
              <a:cxn ang="0">
                <a:pos x="16543" y="27"/>
              </a:cxn>
              <a:cxn ang="0">
                <a:pos x="16560" y="42"/>
              </a:cxn>
              <a:cxn ang="0">
                <a:pos x="16576" y="59"/>
              </a:cxn>
              <a:cxn ang="0">
                <a:pos x="16589" y="79"/>
              </a:cxn>
              <a:cxn ang="0">
                <a:pos x="16603" y="100"/>
              </a:cxn>
              <a:cxn ang="0">
                <a:pos x="16626" y="152"/>
              </a:cxn>
              <a:cxn ang="0">
                <a:pos x="16643" y="210"/>
              </a:cxn>
              <a:cxn ang="0">
                <a:pos x="16654" y="275"/>
              </a:cxn>
              <a:cxn ang="0">
                <a:pos x="16658" y="344"/>
              </a:cxn>
              <a:cxn ang="0">
                <a:pos x="16657" y="6216"/>
              </a:cxn>
              <a:cxn ang="0">
                <a:pos x="16649" y="6283"/>
              </a:cxn>
              <a:cxn ang="0">
                <a:pos x="16635" y="6345"/>
              </a:cxn>
              <a:cxn ang="0">
                <a:pos x="16615" y="6399"/>
              </a:cxn>
              <a:cxn ang="0">
                <a:pos x="16597" y="6436"/>
              </a:cxn>
              <a:cxn ang="0">
                <a:pos x="16583" y="6456"/>
              </a:cxn>
              <a:cxn ang="0">
                <a:pos x="16567" y="6474"/>
              </a:cxn>
              <a:cxn ang="0">
                <a:pos x="16552" y="6491"/>
              </a:cxn>
              <a:cxn ang="0">
                <a:pos x="16535" y="6503"/>
              </a:cxn>
              <a:cxn ang="0">
                <a:pos x="16517" y="6514"/>
              </a:cxn>
              <a:cxn ang="0">
                <a:pos x="16500" y="6520"/>
              </a:cxn>
              <a:cxn ang="0">
                <a:pos x="16481" y="6524"/>
              </a:cxn>
              <a:cxn ang="0">
                <a:pos x="186" y="6524"/>
              </a:cxn>
              <a:cxn ang="0">
                <a:pos x="167" y="6522"/>
              </a:cxn>
              <a:cxn ang="0">
                <a:pos x="150" y="6517"/>
              </a:cxn>
              <a:cxn ang="0">
                <a:pos x="131" y="6509"/>
              </a:cxn>
              <a:cxn ang="0">
                <a:pos x="114" y="6497"/>
              </a:cxn>
              <a:cxn ang="0">
                <a:pos x="97" y="6483"/>
              </a:cxn>
              <a:cxn ang="0">
                <a:pos x="83" y="6466"/>
              </a:cxn>
              <a:cxn ang="0">
                <a:pos x="68" y="6446"/>
              </a:cxn>
              <a:cxn ang="0">
                <a:pos x="55" y="6424"/>
              </a:cxn>
              <a:cxn ang="0">
                <a:pos x="32" y="6373"/>
              </a:cxn>
              <a:cxn ang="0">
                <a:pos x="15" y="6314"/>
              </a:cxn>
              <a:cxn ang="0">
                <a:pos x="4" y="6251"/>
              </a:cxn>
              <a:cxn ang="0">
                <a:pos x="0" y="6181"/>
              </a:cxn>
              <a:cxn ang="0">
                <a:pos x="1" y="308"/>
              </a:cxn>
              <a:cxn ang="0">
                <a:pos x="9" y="241"/>
              </a:cxn>
              <a:cxn ang="0">
                <a:pos x="23" y="180"/>
              </a:cxn>
              <a:cxn ang="0">
                <a:pos x="43" y="126"/>
              </a:cxn>
              <a:cxn ang="0">
                <a:pos x="62" y="90"/>
              </a:cxn>
              <a:cxn ang="0">
                <a:pos x="75" y="68"/>
              </a:cxn>
              <a:cxn ang="0">
                <a:pos x="90" y="50"/>
              </a:cxn>
              <a:cxn ang="0">
                <a:pos x="106" y="34"/>
              </a:cxn>
              <a:cxn ang="0">
                <a:pos x="122" y="21"/>
              </a:cxn>
              <a:cxn ang="0">
                <a:pos x="140" y="11"/>
              </a:cxn>
              <a:cxn ang="0">
                <a:pos x="158" y="4"/>
              </a:cxn>
              <a:cxn ang="0">
                <a:pos x="177" y="0"/>
              </a:cxn>
            </a:cxnLst>
            <a:rect l="0" t="0" r="r" b="b"/>
            <a:pathLst>
              <a:path w="16658" h="6524">
                <a:moveTo>
                  <a:pt x="186" y="0"/>
                </a:moveTo>
                <a:lnTo>
                  <a:pt x="16471" y="0"/>
                </a:lnTo>
                <a:lnTo>
                  <a:pt x="16481" y="0"/>
                </a:lnTo>
                <a:lnTo>
                  <a:pt x="16490" y="2"/>
                </a:lnTo>
                <a:lnTo>
                  <a:pt x="16500" y="4"/>
                </a:lnTo>
                <a:lnTo>
                  <a:pt x="16509" y="8"/>
                </a:lnTo>
                <a:lnTo>
                  <a:pt x="16517" y="11"/>
                </a:lnTo>
                <a:lnTo>
                  <a:pt x="16527" y="16"/>
                </a:lnTo>
                <a:lnTo>
                  <a:pt x="16535" y="21"/>
                </a:lnTo>
                <a:lnTo>
                  <a:pt x="16543" y="27"/>
                </a:lnTo>
                <a:lnTo>
                  <a:pt x="16552" y="34"/>
                </a:lnTo>
                <a:lnTo>
                  <a:pt x="16560" y="42"/>
                </a:lnTo>
                <a:lnTo>
                  <a:pt x="16567" y="50"/>
                </a:lnTo>
                <a:lnTo>
                  <a:pt x="16576" y="59"/>
                </a:lnTo>
                <a:lnTo>
                  <a:pt x="16583" y="68"/>
                </a:lnTo>
                <a:lnTo>
                  <a:pt x="16589" y="79"/>
                </a:lnTo>
                <a:lnTo>
                  <a:pt x="16597" y="90"/>
                </a:lnTo>
                <a:lnTo>
                  <a:pt x="16603" y="100"/>
                </a:lnTo>
                <a:lnTo>
                  <a:pt x="16615" y="126"/>
                </a:lnTo>
                <a:lnTo>
                  <a:pt x="16626" y="152"/>
                </a:lnTo>
                <a:lnTo>
                  <a:pt x="16635" y="180"/>
                </a:lnTo>
                <a:lnTo>
                  <a:pt x="16643" y="210"/>
                </a:lnTo>
                <a:lnTo>
                  <a:pt x="16649" y="241"/>
                </a:lnTo>
                <a:lnTo>
                  <a:pt x="16654" y="275"/>
                </a:lnTo>
                <a:lnTo>
                  <a:pt x="16657" y="308"/>
                </a:lnTo>
                <a:lnTo>
                  <a:pt x="16658" y="344"/>
                </a:lnTo>
                <a:lnTo>
                  <a:pt x="16658" y="6181"/>
                </a:lnTo>
                <a:lnTo>
                  <a:pt x="16657" y="6216"/>
                </a:lnTo>
                <a:lnTo>
                  <a:pt x="16654" y="6251"/>
                </a:lnTo>
                <a:lnTo>
                  <a:pt x="16649" y="6283"/>
                </a:lnTo>
                <a:lnTo>
                  <a:pt x="16643" y="6314"/>
                </a:lnTo>
                <a:lnTo>
                  <a:pt x="16635" y="6345"/>
                </a:lnTo>
                <a:lnTo>
                  <a:pt x="16626" y="6373"/>
                </a:lnTo>
                <a:lnTo>
                  <a:pt x="16615" y="6399"/>
                </a:lnTo>
                <a:lnTo>
                  <a:pt x="16603" y="6424"/>
                </a:lnTo>
                <a:lnTo>
                  <a:pt x="16597" y="6436"/>
                </a:lnTo>
                <a:lnTo>
                  <a:pt x="16589" y="6446"/>
                </a:lnTo>
                <a:lnTo>
                  <a:pt x="16583" y="6456"/>
                </a:lnTo>
                <a:lnTo>
                  <a:pt x="16576" y="6466"/>
                </a:lnTo>
                <a:lnTo>
                  <a:pt x="16567" y="6474"/>
                </a:lnTo>
                <a:lnTo>
                  <a:pt x="16560" y="6483"/>
                </a:lnTo>
                <a:lnTo>
                  <a:pt x="16552" y="6491"/>
                </a:lnTo>
                <a:lnTo>
                  <a:pt x="16543" y="6497"/>
                </a:lnTo>
                <a:lnTo>
                  <a:pt x="16535" y="6503"/>
                </a:lnTo>
                <a:lnTo>
                  <a:pt x="16527" y="6509"/>
                </a:lnTo>
                <a:lnTo>
                  <a:pt x="16517" y="6514"/>
                </a:lnTo>
                <a:lnTo>
                  <a:pt x="16509" y="6517"/>
                </a:lnTo>
                <a:lnTo>
                  <a:pt x="16500" y="6520"/>
                </a:lnTo>
                <a:lnTo>
                  <a:pt x="16490" y="6522"/>
                </a:lnTo>
                <a:lnTo>
                  <a:pt x="16481" y="6524"/>
                </a:lnTo>
                <a:lnTo>
                  <a:pt x="16471" y="6524"/>
                </a:lnTo>
                <a:lnTo>
                  <a:pt x="186" y="6524"/>
                </a:lnTo>
                <a:lnTo>
                  <a:pt x="177" y="6524"/>
                </a:lnTo>
                <a:lnTo>
                  <a:pt x="167" y="6522"/>
                </a:lnTo>
                <a:lnTo>
                  <a:pt x="158" y="6520"/>
                </a:lnTo>
                <a:lnTo>
                  <a:pt x="150" y="6517"/>
                </a:lnTo>
                <a:lnTo>
                  <a:pt x="140" y="6514"/>
                </a:lnTo>
                <a:lnTo>
                  <a:pt x="131" y="6509"/>
                </a:lnTo>
                <a:lnTo>
                  <a:pt x="122" y="6503"/>
                </a:lnTo>
                <a:lnTo>
                  <a:pt x="114" y="6497"/>
                </a:lnTo>
                <a:lnTo>
                  <a:pt x="106" y="6491"/>
                </a:lnTo>
                <a:lnTo>
                  <a:pt x="97" y="6483"/>
                </a:lnTo>
                <a:lnTo>
                  <a:pt x="90" y="6474"/>
                </a:lnTo>
                <a:lnTo>
                  <a:pt x="83" y="6466"/>
                </a:lnTo>
                <a:lnTo>
                  <a:pt x="75" y="6456"/>
                </a:lnTo>
                <a:lnTo>
                  <a:pt x="68" y="6446"/>
                </a:lnTo>
                <a:lnTo>
                  <a:pt x="62" y="6436"/>
                </a:lnTo>
                <a:lnTo>
                  <a:pt x="55" y="6424"/>
                </a:lnTo>
                <a:lnTo>
                  <a:pt x="43" y="6399"/>
                </a:lnTo>
                <a:lnTo>
                  <a:pt x="32" y="6373"/>
                </a:lnTo>
                <a:lnTo>
                  <a:pt x="23" y="6345"/>
                </a:lnTo>
                <a:lnTo>
                  <a:pt x="15" y="6314"/>
                </a:lnTo>
                <a:lnTo>
                  <a:pt x="9" y="6283"/>
                </a:lnTo>
                <a:lnTo>
                  <a:pt x="4" y="6251"/>
                </a:lnTo>
                <a:lnTo>
                  <a:pt x="1" y="6216"/>
                </a:lnTo>
                <a:lnTo>
                  <a:pt x="0" y="6181"/>
                </a:lnTo>
                <a:lnTo>
                  <a:pt x="0" y="344"/>
                </a:lnTo>
                <a:lnTo>
                  <a:pt x="1" y="308"/>
                </a:lnTo>
                <a:lnTo>
                  <a:pt x="4" y="275"/>
                </a:lnTo>
                <a:lnTo>
                  <a:pt x="9" y="241"/>
                </a:lnTo>
                <a:lnTo>
                  <a:pt x="15" y="210"/>
                </a:lnTo>
                <a:lnTo>
                  <a:pt x="23" y="180"/>
                </a:lnTo>
                <a:lnTo>
                  <a:pt x="32" y="152"/>
                </a:lnTo>
                <a:lnTo>
                  <a:pt x="43" y="126"/>
                </a:lnTo>
                <a:lnTo>
                  <a:pt x="55" y="100"/>
                </a:lnTo>
                <a:lnTo>
                  <a:pt x="62" y="90"/>
                </a:lnTo>
                <a:lnTo>
                  <a:pt x="68" y="79"/>
                </a:lnTo>
                <a:lnTo>
                  <a:pt x="75" y="68"/>
                </a:lnTo>
                <a:lnTo>
                  <a:pt x="83" y="59"/>
                </a:lnTo>
                <a:lnTo>
                  <a:pt x="90" y="50"/>
                </a:lnTo>
                <a:lnTo>
                  <a:pt x="97" y="42"/>
                </a:lnTo>
                <a:lnTo>
                  <a:pt x="106" y="34"/>
                </a:lnTo>
                <a:lnTo>
                  <a:pt x="114" y="27"/>
                </a:lnTo>
                <a:lnTo>
                  <a:pt x="122" y="21"/>
                </a:lnTo>
                <a:lnTo>
                  <a:pt x="131" y="16"/>
                </a:lnTo>
                <a:lnTo>
                  <a:pt x="140" y="11"/>
                </a:lnTo>
                <a:lnTo>
                  <a:pt x="150" y="8"/>
                </a:lnTo>
                <a:lnTo>
                  <a:pt x="158" y="4"/>
                </a:lnTo>
                <a:lnTo>
                  <a:pt x="167" y="2"/>
                </a:lnTo>
                <a:lnTo>
                  <a:pt x="177" y="0"/>
                </a:lnTo>
                <a:lnTo>
                  <a:pt x="186" y="0"/>
                </a:lnTo>
                <a:close/>
              </a:path>
            </a:pathLst>
          </a:custGeom>
          <a:solidFill>
            <a:schemeClr val="accent1"/>
          </a:solidFill>
          <a:ln w="9525">
            <a:noFill/>
            <a:round/>
            <a:headEnd/>
            <a:tailEnd/>
          </a:ln>
        </p:spPr>
        <p:txBody>
          <a:bodyPr/>
          <a:lstStyle/>
          <a:p>
            <a:endParaRPr lang="en-GB"/>
          </a:p>
        </p:txBody>
      </p:sp>
      <p:sp>
        <p:nvSpPr>
          <p:cNvPr id="173059" name="Rectangle 3"/>
          <p:cNvSpPr>
            <a:spLocks noGrp="1" noChangeArrowheads="1"/>
          </p:cNvSpPr>
          <p:nvPr>
            <p:ph type="title"/>
          </p:nvPr>
        </p:nvSpPr>
        <p:spPr/>
        <p:txBody>
          <a:bodyPr/>
          <a:lstStyle/>
          <a:p>
            <a:r>
              <a:rPr lang="fr-CA"/>
              <a:t>Requirements Activities </a:t>
            </a:r>
            <a:endParaRPr lang="en-CA"/>
          </a:p>
        </p:txBody>
      </p:sp>
      <p:sp>
        <p:nvSpPr>
          <p:cNvPr id="173061" name="Freeform 5"/>
          <p:cNvSpPr>
            <a:spLocks/>
          </p:cNvSpPr>
          <p:nvPr/>
        </p:nvSpPr>
        <p:spPr bwMode="auto">
          <a:xfrm>
            <a:off x="1220788" y="1489075"/>
            <a:ext cx="3122612" cy="2589213"/>
          </a:xfrm>
          <a:custGeom>
            <a:avLst/>
            <a:gdLst/>
            <a:ahLst/>
            <a:cxnLst>
              <a:cxn ang="0">
                <a:pos x="16471" y="0"/>
              </a:cxn>
              <a:cxn ang="0">
                <a:pos x="16490" y="2"/>
              </a:cxn>
              <a:cxn ang="0">
                <a:pos x="16509" y="8"/>
              </a:cxn>
              <a:cxn ang="0">
                <a:pos x="16527" y="16"/>
              </a:cxn>
              <a:cxn ang="0">
                <a:pos x="16543" y="27"/>
              </a:cxn>
              <a:cxn ang="0">
                <a:pos x="16560" y="42"/>
              </a:cxn>
              <a:cxn ang="0">
                <a:pos x="16576" y="59"/>
              </a:cxn>
              <a:cxn ang="0">
                <a:pos x="16589" y="79"/>
              </a:cxn>
              <a:cxn ang="0">
                <a:pos x="16603" y="100"/>
              </a:cxn>
              <a:cxn ang="0">
                <a:pos x="16626" y="152"/>
              </a:cxn>
              <a:cxn ang="0">
                <a:pos x="16643" y="210"/>
              </a:cxn>
              <a:cxn ang="0">
                <a:pos x="16654" y="275"/>
              </a:cxn>
              <a:cxn ang="0">
                <a:pos x="16658" y="344"/>
              </a:cxn>
              <a:cxn ang="0">
                <a:pos x="16657" y="6216"/>
              </a:cxn>
              <a:cxn ang="0">
                <a:pos x="16649" y="6283"/>
              </a:cxn>
              <a:cxn ang="0">
                <a:pos x="16635" y="6345"/>
              </a:cxn>
              <a:cxn ang="0">
                <a:pos x="16615" y="6399"/>
              </a:cxn>
              <a:cxn ang="0">
                <a:pos x="16597" y="6436"/>
              </a:cxn>
              <a:cxn ang="0">
                <a:pos x="16583" y="6456"/>
              </a:cxn>
              <a:cxn ang="0">
                <a:pos x="16567" y="6474"/>
              </a:cxn>
              <a:cxn ang="0">
                <a:pos x="16552" y="6491"/>
              </a:cxn>
              <a:cxn ang="0">
                <a:pos x="16535" y="6503"/>
              </a:cxn>
              <a:cxn ang="0">
                <a:pos x="16517" y="6514"/>
              </a:cxn>
              <a:cxn ang="0">
                <a:pos x="16500" y="6520"/>
              </a:cxn>
              <a:cxn ang="0">
                <a:pos x="16481" y="6524"/>
              </a:cxn>
              <a:cxn ang="0">
                <a:pos x="186" y="6524"/>
              </a:cxn>
              <a:cxn ang="0">
                <a:pos x="167" y="6522"/>
              </a:cxn>
              <a:cxn ang="0">
                <a:pos x="150" y="6517"/>
              </a:cxn>
              <a:cxn ang="0">
                <a:pos x="131" y="6509"/>
              </a:cxn>
              <a:cxn ang="0">
                <a:pos x="114" y="6497"/>
              </a:cxn>
              <a:cxn ang="0">
                <a:pos x="97" y="6483"/>
              </a:cxn>
              <a:cxn ang="0">
                <a:pos x="83" y="6466"/>
              </a:cxn>
              <a:cxn ang="0">
                <a:pos x="68" y="6446"/>
              </a:cxn>
              <a:cxn ang="0">
                <a:pos x="55" y="6424"/>
              </a:cxn>
              <a:cxn ang="0">
                <a:pos x="32" y="6373"/>
              </a:cxn>
              <a:cxn ang="0">
                <a:pos x="15" y="6314"/>
              </a:cxn>
              <a:cxn ang="0">
                <a:pos x="4" y="6251"/>
              </a:cxn>
              <a:cxn ang="0">
                <a:pos x="0" y="6181"/>
              </a:cxn>
              <a:cxn ang="0">
                <a:pos x="1" y="308"/>
              </a:cxn>
              <a:cxn ang="0">
                <a:pos x="9" y="241"/>
              </a:cxn>
              <a:cxn ang="0">
                <a:pos x="23" y="180"/>
              </a:cxn>
              <a:cxn ang="0">
                <a:pos x="43" y="126"/>
              </a:cxn>
              <a:cxn ang="0">
                <a:pos x="62" y="90"/>
              </a:cxn>
              <a:cxn ang="0">
                <a:pos x="75" y="68"/>
              </a:cxn>
              <a:cxn ang="0">
                <a:pos x="90" y="50"/>
              </a:cxn>
              <a:cxn ang="0">
                <a:pos x="106" y="34"/>
              </a:cxn>
              <a:cxn ang="0">
                <a:pos x="122" y="21"/>
              </a:cxn>
              <a:cxn ang="0">
                <a:pos x="140" y="11"/>
              </a:cxn>
              <a:cxn ang="0">
                <a:pos x="158" y="4"/>
              </a:cxn>
              <a:cxn ang="0">
                <a:pos x="177" y="0"/>
              </a:cxn>
            </a:cxnLst>
            <a:rect l="0" t="0" r="r" b="b"/>
            <a:pathLst>
              <a:path w="16658" h="6524">
                <a:moveTo>
                  <a:pt x="186" y="0"/>
                </a:moveTo>
                <a:lnTo>
                  <a:pt x="16471" y="0"/>
                </a:lnTo>
                <a:lnTo>
                  <a:pt x="16481" y="0"/>
                </a:lnTo>
                <a:lnTo>
                  <a:pt x="16490" y="2"/>
                </a:lnTo>
                <a:lnTo>
                  <a:pt x="16500" y="4"/>
                </a:lnTo>
                <a:lnTo>
                  <a:pt x="16509" y="8"/>
                </a:lnTo>
                <a:lnTo>
                  <a:pt x="16517" y="11"/>
                </a:lnTo>
                <a:lnTo>
                  <a:pt x="16527" y="16"/>
                </a:lnTo>
                <a:lnTo>
                  <a:pt x="16535" y="21"/>
                </a:lnTo>
                <a:lnTo>
                  <a:pt x="16543" y="27"/>
                </a:lnTo>
                <a:lnTo>
                  <a:pt x="16552" y="34"/>
                </a:lnTo>
                <a:lnTo>
                  <a:pt x="16560" y="42"/>
                </a:lnTo>
                <a:lnTo>
                  <a:pt x="16567" y="50"/>
                </a:lnTo>
                <a:lnTo>
                  <a:pt x="16576" y="59"/>
                </a:lnTo>
                <a:lnTo>
                  <a:pt x="16583" y="68"/>
                </a:lnTo>
                <a:lnTo>
                  <a:pt x="16589" y="79"/>
                </a:lnTo>
                <a:lnTo>
                  <a:pt x="16597" y="90"/>
                </a:lnTo>
                <a:lnTo>
                  <a:pt x="16603" y="100"/>
                </a:lnTo>
                <a:lnTo>
                  <a:pt x="16615" y="126"/>
                </a:lnTo>
                <a:lnTo>
                  <a:pt x="16626" y="152"/>
                </a:lnTo>
                <a:lnTo>
                  <a:pt x="16635" y="180"/>
                </a:lnTo>
                <a:lnTo>
                  <a:pt x="16643" y="210"/>
                </a:lnTo>
                <a:lnTo>
                  <a:pt x="16649" y="241"/>
                </a:lnTo>
                <a:lnTo>
                  <a:pt x="16654" y="275"/>
                </a:lnTo>
                <a:lnTo>
                  <a:pt x="16657" y="308"/>
                </a:lnTo>
                <a:lnTo>
                  <a:pt x="16658" y="344"/>
                </a:lnTo>
                <a:lnTo>
                  <a:pt x="16658" y="6181"/>
                </a:lnTo>
                <a:lnTo>
                  <a:pt x="16657" y="6216"/>
                </a:lnTo>
                <a:lnTo>
                  <a:pt x="16654" y="6251"/>
                </a:lnTo>
                <a:lnTo>
                  <a:pt x="16649" y="6283"/>
                </a:lnTo>
                <a:lnTo>
                  <a:pt x="16643" y="6314"/>
                </a:lnTo>
                <a:lnTo>
                  <a:pt x="16635" y="6345"/>
                </a:lnTo>
                <a:lnTo>
                  <a:pt x="16626" y="6373"/>
                </a:lnTo>
                <a:lnTo>
                  <a:pt x="16615" y="6399"/>
                </a:lnTo>
                <a:lnTo>
                  <a:pt x="16603" y="6424"/>
                </a:lnTo>
                <a:lnTo>
                  <a:pt x="16597" y="6436"/>
                </a:lnTo>
                <a:lnTo>
                  <a:pt x="16589" y="6446"/>
                </a:lnTo>
                <a:lnTo>
                  <a:pt x="16583" y="6456"/>
                </a:lnTo>
                <a:lnTo>
                  <a:pt x="16576" y="6466"/>
                </a:lnTo>
                <a:lnTo>
                  <a:pt x="16567" y="6474"/>
                </a:lnTo>
                <a:lnTo>
                  <a:pt x="16560" y="6483"/>
                </a:lnTo>
                <a:lnTo>
                  <a:pt x="16552" y="6491"/>
                </a:lnTo>
                <a:lnTo>
                  <a:pt x="16543" y="6497"/>
                </a:lnTo>
                <a:lnTo>
                  <a:pt x="16535" y="6503"/>
                </a:lnTo>
                <a:lnTo>
                  <a:pt x="16527" y="6509"/>
                </a:lnTo>
                <a:lnTo>
                  <a:pt x="16517" y="6514"/>
                </a:lnTo>
                <a:lnTo>
                  <a:pt x="16509" y="6517"/>
                </a:lnTo>
                <a:lnTo>
                  <a:pt x="16500" y="6520"/>
                </a:lnTo>
                <a:lnTo>
                  <a:pt x="16490" y="6522"/>
                </a:lnTo>
                <a:lnTo>
                  <a:pt x="16481" y="6524"/>
                </a:lnTo>
                <a:lnTo>
                  <a:pt x="16471" y="6524"/>
                </a:lnTo>
                <a:lnTo>
                  <a:pt x="186" y="6524"/>
                </a:lnTo>
                <a:lnTo>
                  <a:pt x="177" y="6524"/>
                </a:lnTo>
                <a:lnTo>
                  <a:pt x="167" y="6522"/>
                </a:lnTo>
                <a:lnTo>
                  <a:pt x="158" y="6520"/>
                </a:lnTo>
                <a:lnTo>
                  <a:pt x="150" y="6517"/>
                </a:lnTo>
                <a:lnTo>
                  <a:pt x="140" y="6514"/>
                </a:lnTo>
                <a:lnTo>
                  <a:pt x="131" y="6509"/>
                </a:lnTo>
                <a:lnTo>
                  <a:pt x="122" y="6503"/>
                </a:lnTo>
                <a:lnTo>
                  <a:pt x="114" y="6497"/>
                </a:lnTo>
                <a:lnTo>
                  <a:pt x="106" y="6491"/>
                </a:lnTo>
                <a:lnTo>
                  <a:pt x="97" y="6483"/>
                </a:lnTo>
                <a:lnTo>
                  <a:pt x="90" y="6474"/>
                </a:lnTo>
                <a:lnTo>
                  <a:pt x="83" y="6466"/>
                </a:lnTo>
                <a:lnTo>
                  <a:pt x="75" y="6456"/>
                </a:lnTo>
                <a:lnTo>
                  <a:pt x="68" y="6446"/>
                </a:lnTo>
                <a:lnTo>
                  <a:pt x="62" y="6436"/>
                </a:lnTo>
                <a:lnTo>
                  <a:pt x="55" y="6424"/>
                </a:lnTo>
                <a:lnTo>
                  <a:pt x="43" y="6399"/>
                </a:lnTo>
                <a:lnTo>
                  <a:pt x="32" y="6373"/>
                </a:lnTo>
                <a:lnTo>
                  <a:pt x="23" y="6345"/>
                </a:lnTo>
                <a:lnTo>
                  <a:pt x="15" y="6314"/>
                </a:lnTo>
                <a:lnTo>
                  <a:pt x="9" y="6283"/>
                </a:lnTo>
                <a:lnTo>
                  <a:pt x="4" y="6251"/>
                </a:lnTo>
                <a:lnTo>
                  <a:pt x="1" y="6216"/>
                </a:lnTo>
                <a:lnTo>
                  <a:pt x="0" y="6181"/>
                </a:lnTo>
                <a:lnTo>
                  <a:pt x="0" y="344"/>
                </a:lnTo>
                <a:lnTo>
                  <a:pt x="1" y="308"/>
                </a:lnTo>
                <a:lnTo>
                  <a:pt x="4" y="275"/>
                </a:lnTo>
                <a:lnTo>
                  <a:pt x="9" y="241"/>
                </a:lnTo>
                <a:lnTo>
                  <a:pt x="15" y="210"/>
                </a:lnTo>
                <a:lnTo>
                  <a:pt x="23" y="180"/>
                </a:lnTo>
                <a:lnTo>
                  <a:pt x="32" y="152"/>
                </a:lnTo>
                <a:lnTo>
                  <a:pt x="43" y="126"/>
                </a:lnTo>
                <a:lnTo>
                  <a:pt x="55" y="100"/>
                </a:lnTo>
                <a:lnTo>
                  <a:pt x="62" y="90"/>
                </a:lnTo>
                <a:lnTo>
                  <a:pt x="68" y="79"/>
                </a:lnTo>
                <a:lnTo>
                  <a:pt x="75" y="68"/>
                </a:lnTo>
                <a:lnTo>
                  <a:pt x="83" y="59"/>
                </a:lnTo>
                <a:lnTo>
                  <a:pt x="90" y="50"/>
                </a:lnTo>
                <a:lnTo>
                  <a:pt x="97" y="42"/>
                </a:lnTo>
                <a:lnTo>
                  <a:pt x="106" y="34"/>
                </a:lnTo>
                <a:lnTo>
                  <a:pt x="114" y="27"/>
                </a:lnTo>
                <a:lnTo>
                  <a:pt x="122" y="21"/>
                </a:lnTo>
                <a:lnTo>
                  <a:pt x="131" y="16"/>
                </a:lnTo>
                <a:lnTo>
                  <a:pt x="140" y="11"/>
                </a:lnTo>
                <a:lnTo>
                  <a:pt x="150" y="8"/>
                </a:lnTo>
                <a:lnTo>
                  <a:pt x="158" y="4"/>
                </a:lnTo>
                <a:lnTo>
                  <a:pt x="167" y="2"/>
                </a:lnTo>
                <a:lnTo>
                  <a:pt x="177" y="0"/>
                </a:lnTo>
                <a:lnTo>
                  <a:pt x="186" y="0"/>
                </a:lnTo>
              </a:path>
            </a:pathLst>
          </a:custGeom>
          <a:solidFill>
            <a:schemeClr val="accent1"/>
          </a:solidFill>
          <a:ln w="4763">
            <a:solidFill>
              <a:srgbClr val="FFFB9D"/>
            </a:solidFill>
            <a:prstDash val="solid"/>
            <a:round/>
            <a:headEnd/>
            <a:tailEnd/>
          </a:ln>
        </p:spPr>
        <p:txBody>
          <a:bodyPr/>
          <a:lstStyle/>
          <a:p>
            <a:endParaRPr lang="en-GB"/>
          </a:p>
        </p:txBody>
      </p:sp>
      <p:grpSp>
        <p:nvGrpSpPr>
          <p:cNvPr id="2" name="Group 6"/>
          <p:cNvGrpSpPr>
            <a:grpSpLocks/>
          </p:cNvGrpSpPr>
          <p:nvPr/>
        </p:nvGrpSpPr>
        <p:grpSpPr bwMode="auto">
          <a:xfrm>
            <a:off x="2590800" y="2895600"/>
            <a:ext cx="1357313" cy="879475"/>
            <a:chOff x="1665" y="1638"/>
            <a:chExt cx="855" cy="554"/>
          </a:xfrm>
        </p:grpSpPr>
        <p:sp>
          <p:nvSpPr>
            <p:cNvPr id="173063" name="Rectangle 7"/>
            <p:cNvSpPr>
              <a:spLocks noChangeArrowheads="1"/>
            </p:cNvSpPr>
            <p:nvPr/>
          </p:nvSpPr>
          <p:spPr bwMode="auto">
            <a:xfrm>
              <a:off x="1764" y="1929"/>
              <a:ext cx="699" cy="144"/>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Find Actors </a:t>
              </a:r>
              <a:endParaRPr lang="en-CA" sz="1200" b="1">
                <a:solidFill>
                  <a:schemeClr val="bg2"/>
                </a:solidFill>
              </a:endParaRPr>
            </a:p>
          </p:txBody>
        </p:sp>
        <p:sp>
          <p:nvSpPr>
            <p:cNvPr id="173064" name="Rectangle 8"/>
            <p:cNvSpPr>
              <a:spLocks noChangeArrowheads="1"/>
            </p:cNvSpPr>
            <p:nvPr/>
          </p:nvSpPr>
          <p:spPr bwMode="auto">
            <a:xfrm>
              <a:off x="1665" y="2048"/>
              <a:ext cx="855" cy="144"/>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and Use Cases</a:t>
              </a:r>
              <a:endParaRPr lang="en-CA" sz="1200" b="1">
                <a:solidFill>
                  <a:schemeClr val="bg2"/>
                </a:solidFill>
              </a:endParaRPr>
            </a:p>
          </p:txBody>
        </p:sp>
        <p:sp>
          <p:nvSpPr>
            <p:cNvPr id="173065" name="Freeform 9"/>
            <p:cNvSpPr>
              <a:spLocks/>
            </p:cNvSpPr>
            <p:nvPr/>
          </p:nvSpPr>
          <p:spPr bwMode="auto">
            <a:xfrm>
              <a:off x="1900" y="1661"/>
              <a:ext cx="406" cy="255"/>
            </a:xfrm>
            <a:custGeom>
              <a:avLst/>
              <a:gdLst/>
              <a:ahLst/>
              <a:cxnLst>
                <a:cxn ang="0">
                  <a:pos x="0" y="0"/>
                </a:cxn>
                <a:cxn ang="0">
                  <a:pos x="1113" y="0"/>
                </a:cxn>
                <a:cxn ang="0">
                  <a:pos x="1625" y="508"/>
                </a:cxn>
                <a:cxn ang="0">
                  <a:pos x="1114" y="1019"/>
                </a:cxn>
                <a:cxn ang="0">
                  <a:pos x="0" y="1019"/>
                </a:cxn>
                <a:cxn ang="0">
                  <a:pos x="0" y="0"/>
                </a:cxn>
              </a:cxnLst>
              <a:rect l="0" t="0" r="r" b="b"/>
              <a:pathLst>
                <a:path w="1625" h="1019">
                  <a:moveTo>
                    <a:pt x="0" y="0"/>
                  </a:moveTo>
                  <a:lnTo>
                    <a:pt x="1113" y="0"/>
                  </a:lnTo>
                  <a:lnTo>
                    <a:pt x="1625" y="508"/>
                  </a:lnTo>
                  <a:lnTo>
                    <a:pt x="1114" y="1019"/>
                  </a:lnTo>
                  <a:lnTo>
                    <a:pt x="0" y="1019"/>
                  </a:lnTo>
                  <a:lnTo>
                    <a:pt x="0" y="0"/>
                  </a:lnTo>
                  <a:close/>
                </a:path>
              </a:pathLst>
            </a:custGeom>
            <a:solidFill>
              <a:srgbClr val="C3C3C2"/>
            </a:solidFill>
            <a:ln w="9525">
              <a:noFill/>
              <a:round/>
              <a:headEnd/>
              <a:tailEnd/>
            </a:ln>
          </p:spPr>
          <p:txBody>
            <a:bodyPr/>
            <a:lstStyle/>
            <a:p>
              <a:endParaRPr lang="en-GB"/>
            </a:p>
          </p:txBody>
        </p:sp>
        <p:sp>
          <p:nvSpPr>
            <p:cNvPr id="173066" name="Freeform 10"/>
            <p:cNvSpPr>
              <a:spLocks/>
            </p:cNvSpPr>
            <p:nvPr/>
          </p:nvSpPr>
          <p:spPr bwMode="auto">
            <a:xfrm>
              <a:off x="1900" y="1661"/>
              <a:ext cx="406" cy="255"/>
            </a:xfrm>
            <a:custGeom>
              <a:avLst/>
              <a:gdLst/>
              <a:ahLst/>
              <a:cxnLst>
                <a:cxn ang="0">
                  <a:pos x="0" y="0"/>
                </a:cxn>
                <a:cxn ang="0">
                  <a:pos x="1113" y="0"/>
                </a:cxn>
                <a:cxn ang="0">
                  <a:pos x="1625" y="508"/>
                </a:cxn>
                <a:cxn ang="0">
                  <a:pos x="1114" y="1019"/>
                </a:cxn>
                <a:cxn ang="0">
                  <a:pos x="0" y="1019"/>
                </a:cxn>
                <a:cxn ang="0">
                  <a:pos x="0" y="0"/>
                </a:cxn>
              </a:cxnLst>
              <a:rect l="0" t="0" r="r" b="b"/>
              <a:pathLst>
                <a:path w="1625" h="1019">
                  <a:moveTo>
                    <a:pt x="0" y="0"/>
                  </a:moveTo>
                  <a:lnTo>
                    <a:pt x="1113" y="0"/>
                  </a:lnTo>
                  <a:lnTo>
                    <a:pt x="1625" y="508"/>
                  </a:lnTo>
                  <a:lnTo>
                    <a:pt x="1114" y="1019"/>
                  </a:lnTo>
                  <a:lnTo>
                    <a:pt x="0" y="1019"/>
                  </a:lnTo>
                  <a:lnTo>
                    <a:pt x="0" y="0"/>
                  </a:lnTo>
                  <a:close/>
                </a:path>
              </a:pathLst>
            </a:custGeom>
            <a:noFill/>
            <a:ln w="14288">
              <a:solidFill>
                <a:srgbClr val="C3C3C2"/>
              </a:solidFill>
              <a:prstDash val="solid"/>
              <a:round/>
              <a:headEnd/>
              <a:tailEnd/>
            </a:ln>
          </p:spPr>
          <p:txBody>
            <a:bodyPr/>
            <a:lstStyle/>
            <a:p>
              <a:endParaRPr lang="en-GB"/>
            </a:p>
          </p:txBody>
        </p:sp>
        <p:sp>
          <p:nvSpPr>
            <p:cNvPr id="173067" name="Freeform 11"/>
            <p:cNvSpPr>
              <a:spLocks/>
            </p:cNvSpPr>
            <p:nvPr/>
          </p:nvSpPr>
          <p:spPr bwMode="auto">
            <a:xfrm>
              <a:off x="1878" y="1638"/>
              <a:ext cx="406" cy="255"/>
            </a:xfrm>
            <a:custGeom>
              <a:avLst/>
              <a:gdLst/>
              <a:ahLst/>
              <a:cxnLst>
                <a:cxn ang="0">
                  <a:pos x="0" y="0"/>
                </a:cxn>
                <a:cxn ang="0">
                  <a:pos x="1113" y="0"/>
                </a:cxn>
                <a:cxn ang="0">
                  <a:pos x="1627" y="508"/>
                </a:cxn>
                <a:cxn ang="0">
                  <a:pos x="1114" y="1019"/>
                </a:cxn>
                <a:cxn ang="0">
                  <a:pos x="1" y="1019"/>
                </a:cxn>
                <a:cxn ang="0">
                  <a:pos x="0" y="0"/>
                </a:cxn>
              </a:cxnLst>
              <a:rect l="0" t="0" r="r" b="b"/>
              <a:pathLst>
                <a:path w="1627" h="1019">
                  <a:moveTo>
                    <a:pt x="0" y="0"/>
                  </a:moveTo>
                  <a:lnTo>
                    <a:pt x="1113" y="0"/>
                  </a:lnTo>
                  <a:lnTo>
                    <a:pt x="1627" y="508"/>
                  </a:lnTo>
                  <a:lnTo>
                    <a:pt x="1114" y="1019"/>
                  </a:lnTo>
                  <a:lnTo>
                    <a:pt x="1" y="1019"/>
                  </a:lnTo>
                  <a:lnTo>
                    <a:pt x="0" y="0"/>
                  </a:lnTo>
                  <a:close/>
                </a:path>
              </a:pathLst>
            </a:custGeom>
            <a:solidFill>
              <a:srgbClr val="3399FF"/>
            </a:solidFill>
            <a:ln w="9525">
              <a:noFill/>
              <a:round/>
              <a:headEnd/>
              <a:tailEnd/>
            </a:ln>
          </p:spPr>
          <p:txBody>
            <a:bodyPr/>
            <a:lstStyle/>
            <a:p>
              <a:endParaRPr lang="en-GB"/>
            </a:p>
          </p:txBody>
        </p:sp>
        <p:sp>
          <p:nvSpPr>
            <p:cNvPr id="173068" name="Freeform 12"/>
            <p:cNvSpPr>
              <a:spLocks/>
            </p:cNvSpPr>
            <p:nvPr/>
          </p:nvSpPr>
          <p:spPr bwMode="auto">
            <a:xfrm>
              <a:off x="1878" y="1638"/>
              <a:ext cx="406" cy="255"/>
            </a:xfrm>
            <a:custGeom>
              <a:avLst/>
              <a:gdLst/>
              <a:ahLst/>
              <a:cxnLst>
                <a:cxn ang="0">
                  <a:pos x="0" y="0"/>
                </a:cxn>
                <a:cxn ang="0">
                  <a:pos x="1113" y="0"/>
                </a:cxn>
                <a:cxn ang="0">
                  <a:pos x="1627" y="508"/>
                </a:cxn>
                <a:cxn ang="0">
                  <a:pos x="1114" y="1019"/>
                </a:cxn>
                <a:cxn ang="0">
                  <a:pos x="1" y="1019"/>
                </a:cxn>
                <a:cxn ang="0">
                  <a:pos x="0" y="0"/>
                </a:cxn>
              </a:cxnLst>
              <a:rect l="0" t="0" r="r" b="b"/>
              <a:pathLst>
                <a:path w="1627" h="1019">
                  <a:moveTo>
                    <a:pt x="0" y="0"/>
                  </a:moveTo>
                  <a:lnTo>
                    <a:pt x="1113" y="0"/>
                  </a:lnTo>
                  <a:lnTo>
                    <a:pt x="1627" y="508"/>
                  </a:lnTo>
                  <a:lnTo>
                    <a:pt x="1114" y="1019"/>
                  </a:lnTo>
                  <a:lnTo>
                    <a:pt x="1" y="1019"/>
                  </a:lnTo>
                  <a:lnTo>
                    <a:pt x="0" y="0"/>
                  </a:lnTo>
                  <a:close/>
                </a:path>
              </a:pathLst>
            </a:custGeom>
            <a:noFill/>
            <a:ln w="14288">
              <a:solidFill>
                <a:srgbClr val="1F1A17"/>
              </a:solidFill>
              <a:prstDash val="solid"/>
              <a:round/>
              <a:headEnd/>
              <a:tailEnd/>
            </a:ln>
          </p:spPr>
          <p:txBody>
            <a:bodyPr/>
            <a:lstStyle/>
            <a:p>
              <a:endParaRPr lang="en-GB"/>
            </a:p>
          </p:txBody>
        </p:sp>
      </p:grpSp>
      <p:sp>
        <p:nvSpPr>
          <p:cNvPr id="173069" name="Freeform 13"/>
          <p:cNvSpPr>
            <a:spLocks/>
          </p:cNvSpPr>
          <p:nvPr/>
        </p:nvSpPr>
        <p:spPr bwMode="auto">
          <a:xfrm>
            <a:off x="2971800" y="4648200"/>
            <a:ext cx="3311525" cy="1966913"/>
          </a:xfrm>
          <a:custGeom>
            <a:avLst/>
            <a:gdLst/>
            <a:ahLst/>
            <a:cxnLst>
              <a:cxn ang="0">
                <a:pos x="0" y="293"/>
              </a:cxn>
              <a:cxn ang="0">
                <a:pos x="7" y="248"/>
              </a:cxn>
              <a:cxn ang="0">
                <a:pos x="20" y="204"/>
              </a:cxn>
              <a:cxn ang="0">
                <a:pos x="40" y="162"/>
              </a:cxn>
              <a:cxn ang="0">
                <a:pos x="66" y="124"/>
              </a:cxn>
              <a:cxn ang="0">
                <a:pos x="97" y="91"/>
              </a:cxn>
              <a:cxn ang="0">
                <a:pos x="134" y="62"/>
              </a:cxn>
              <a:cxn ang="0">
                <a:pos x="175" y="38"/>
              </a:cxn>
              <a:cxn ang="0">
                <a:pos x="219" y="19"/>
              </a:cxn>
              <a:cxn ang="0">
                <a:pos x="267" y="6"/>
              </a:cxn>
              <a:cxn ang="0">
                <a:pos x="316" y="0"/>
              </a:cxn>
              <a:cxn ang="0">
                <a:pos x="16279" y="0"/>
              </a:cxn>
              <a:cxn ang="0">
                <a:pos x="16330" y="6"/>
              </a:cxn>
              <a:cxn ang="0">
                <a:pos x="16377" y="19"/>
              </a:cxn>
              <a:cxn ang="0">
                <a:pos x="16421" y="38"/>
              </a:cxn>
              <a:cxn ang="0">
                <a:pos x="16462" y="62"/>
              </a:cxn>
              <a:cxn ang="0">
                <a:pos x="16498" y="91"/>
              </a:cxn>
              <a:cxn ang="0">
                <a:pos x="16529" y="124"/>
              </a:cxn>
              <a:cxn ang="0">
                <a:pos x="16555" y="162"/>
              </a:cxn>
              <a:cxn ang="0">
                <a:pos x="16576" y="204"/>
              </a:cxn>
              <a:cxn ang="0">
                <a:pos x="16590" y="248"/>
              </a:cxn>
              <a:cxn ang="0">
                <a:pos x="16596" y="293"/>
              </a:cxn>
              <a:cxn ang="0">
                <a:pos x="16596" y="4663"/>
              </a:cxn>
              <a:cxn ang="0">
                <a:pos x="16590" y="4709"/>
              </a:cxn>
              <a:cxn ang="0">
                <a:pos x="16576" y="4753"/>
              </a:cxn>
              <a:cxn ang="0">
                <a:pos x="16555" y="4795"/>
              </a:cxn>
              <a:cxn ang="0">
                <a:pos x="16529" y="4833"/>
              </a:cxn>
              <a:cxn ang="0">
                <a:pos x="16498" y="4866"/>
              </a:cxn>
              <a:cxn ang="0">
                <a:pos x="16462" y="4895"/>
              </a:cxn>
              <a:cxn ang="0">
                <a:pos x="16421" y="4919"/>
              </a:cxn>
              <a:cxn ang="0">
                <a:pos x="16377" y="4938"/>
              </a:cxn>
              <a:cxn ang="0">
                <a:pos x="16330" y="4951"/>
              </a:cxn>
              <a:cxn ang="0">
                <a:pos x="16279" y="4957"/>
              </a:cxn>
              <a:cxn ang="0">
                <a:pos x="316" y="4957"/>
              </a:cxn>
              <a:cxn ang="0">
                <a:pos x="267" y="4951"/>
              </a:cxn>
              <a:cxn ang="0">
                <a:pos x="219" y="4938"/>
              </a:cxn>
              <a:cxn ang="0">
                <a:pos x="175" y="4919"/>
              </a:cxn>
              <a:cxn ang="0">
                <a:pos x="134" y="4895"/>
              </a:cxn>
              <a:cxn ang="0">
                <a:pos x="97" y="4866"/>
              </a:cxn>
              <a:cxn ang="0">
                <a:pos x="66" y="4833"/>
              </a:cxn>
              <a:cxn ang="0">
                <a:pos x="40" y="4795"/>
              </a:cxn>
              <a:cxn ang="0">
                <a:pos x="20" y="4753"/>
              </a:cxn>
              <a:cxn ang="0">
                <a:pos x="7" y="4709"/>
              </a:cxn>
              <a:cxn ang="0">
                <a:pos x="0" y="4663"/>
              </a:cxn>
            </a:cxnLst>
            <a:rect l="0" t="0" r="r" b="b"/>
            <a:pathLst>
              <a:path w="16596" h="4957">
                <a:moveTo>
                  <a:pt x="0" y="4647"/>
                </a:moveTo>
                <a:lnTo>
                  <a:pt x="0" y="309"/>
                </a:lnTo>
                <a:lnTo>
                  <a:pt x="0" y="293"/>
                </a:lnTo>
                <a:lnTo>
                  <a:pt x="1" y="278"/>
                </a:lnTo>
                <a:lnTo>
                  <a:pt x="3" y="262"/>
                </a:lnTo>
                <a:lnTo>
                  <a:pt x="7" y="248"/>
                </a:lnTo>
                <a:lnTo>
                  <a:pt x="11" y="232"/>
                </a:lnTo>
                <a:lnTo>
                  <a:pt x="15" y="217"/>
                </a:lnTo>
                <a:lnTo>
                  <a:pt x="20" y="204"/>
                </a:lnTo>
                <a:lnTo>
                  <a:pt x="26" y="189"/>
                </a:lnTo>
                <a:lnTo>
                  <a:pt x="33" y="175"/>
                </a:lnTo>
                <a:lnTo>
                  <a:pt x="40" y="162"/>
                </a:lnTo>
                <a:lnTo>
                  <a:pt x="48" y="149"/>
                </a:lnTo>
                <a:lnTo>
                  <a:pt x="57" y="137"/>
                </a:lnTo>
                <a:lnTo>
                  <a:pt x="66" y="124"/>
                </a:lnTo>
                <a:lnTo>
                  <a:pt x="77" y="113"/>
                </a:lnTo>
                <a:lnTo>
                  <a:pt x="87" y="101"/>
                </a:lnTo>
                <a:lnTo>
                  <a:pt x="97" y="91"/>
                </a:lnTo>
                <a:lnTo>
                  <a:pt x="110" y="80"/>
                </a:lnTo>
                <a:lnTo>
                  <a:pt x="121" y="71"/>
                </a:lnTo>
                <a:lnTo>
                  <a:pt x="134" y="62"/>
                </a:lnTo>
                <a:lnTo>
                  <a:pt x="148" y="52"/>
                </a:lnTo>
                <a:lnTo>
                  <a:pt x="161" y="45"/>
                </a:lnTo>
                <a:lnTo>
                  <a:pt x="175" y="38"/>
                </a:lnTo>
                <a:lnTo>
                  <a:pt x="189" y="30"/>
                </a:lnTo>
                <a:lnTo>
                  <a:pt x="204" y="24"/>
                </a:lnTo>
                <a:lnTo>
                  <a:pt x="219" y="19"/>
                </a:lnTo>
                <a:lnTo>
                  <a:pt x="234" y="14"/>
                </a:lnTo>
                <a:lnTo>
                  <a:pt x="250" y="9"/>
                </a:lnTo>
                <a:lnTo>
                  <a:pt x="267" y="6"/>
                </a:lnTo>
                <a:lnTo>
                  <a:pt x="282" y="3"/>
                </a:lnTo>
                <a:lnTo>
                  <a:pt x="299" y="1"/>
                </a:lnTo>
                <a:lnTo>
                  <a:pt x="316" y="0"/>
                </a:lnTo>
                <a:lnTo>
                  <a:pt x="333" y="0"/>
                </a:lnTo>
                <a:lnTo>
                  <a:pt x="16263" y="0"/>
                </a:lnTo>
                <a:lnTo>
                  <a:pt x="16279" y="0"/>
                </a:lnTo>
                <a:lnTo>
                  <a:pt x="16296" y="1"/>
                </a:lnTo>
                <a:lnTo>
                  <a:pt x="16313" y="3"/>
                </a:lnTo>
                <a:lnTo>
                  <a:pt x="16330" y="6"/>
                </a:lnTo>
                <a:lnTo>
                  <a:pt x="16345" y="9"/>
                </a:lnTo>
                <a:lnTo>
                  <a:pt x="16362" y="14"/>
                </a:lnTo>
                <a:lnTo>
                  <a:pt x="16377" y="19"/>
                </a:lnTo>
                <a:lnTo>
                  <a:pt x="16392" y="24"/>
                </a:lnTo>
                <a:lnTo>
                  <a:pt x="16407" y="30"/>
                </a:lnTo>
                <a:lnTo>
                  <a:pt x="16421" y="38"/>
                </a:lnTo>
                <a:lnTo>
                  <a:pt x="16435" y="45"/>
                </a:lnTo>
                <a:lnTo>
                  <a:pt x="16449" y="52"/>
                </a:lnTo>
                <a:lnTo>
                  <a:pt x="16462" y="62"/>
                </a:lnTo>
                <a:lnTo>
                  <a:pt x="16475" y="71"/>
                </a:lnTo>
                <a:lnTo>
                  <a:pt x="16486" y="80"/>
                </a:lnTo>
                <a:lnTo>
                  <a:pt x="16498" y="91"/>
                </a:lnTo>
                <a:lnTo>
                  <a:pt x="16509" y="101"/>
                </a:lnTo>
                <a:lnTo>
                  <a:pt x="16520" y="113"/>
                </a:lnTo>
                <a:lnTo>
                  <a:pt x="16529" y="124"/>
                </a:lnTo>
                <a:lnTo>
                  <a:pt x="16538" y="137"/>
                </a:lnTo>
                <a:lnTo>
                  <a:pt x="16548" y="149"/>
                </a:lnTo>
                <a:lnTo>
                  <a:pt x="16555" y="162"/>
                </a:lnTo>
                <a:lnTo>
                  <a:pt x="16562" y="175"/>
                </a:lnTo>
                <a:lnTo>
                  <a:pt x="16570" y="189"/>
                </a:lnTo>
                <a:lnTo>
                  <a:pt x="16576" y="204"/>
                </a:lnTo>
                <a:lnTo>
                  <a:pt x="16581" y="217"/>
                </a:lnTo>
                <a:lnTo>
                  <a:pt x="16585" y="232"/>
                </a:lnTo>
                <a:lnTo>
                  <a:pt x="16590" y="248"/>
                </a:lnTo>
                <a:lnTo>
                  <a:pt x="16592" y="262"/>
                </a:lnTo>
                <a:lnTo>
                  <a:pt x="16594" y="278"/>
                </a:lnTo>
                <a:lnTo>
                  <a:pt x="16596" y="293"/>
                </a:lnTo>
                <a:lnTo>
                  <a:pt x="16596" y="309"/>
                </a:lnTo>
                <a:lnTo>
                  <a:pt x="16596" y="4647"/>
                </a:lnTo>
                <a:lnTo>
                  <a:pt x="16596" y="4663"/>
                </a:lnTo>
                <a:lnTo>
                  <a:pt x="16594" y="4679"/>
                </a:lnTo>
                <a:lnTo>
                  <a:pt x="16592" y="4694"/>
                </a:lnTo>
                <a:lnTo>
                  <a:pt x="16590" y="4709"/>
                </a:lnTo>
                <a:lnTo>
                  <a:pt x="16585" y="4724"/>
                </a:lnTo>
                <a:lnTo>
                  <a:pt x="16581" y="4739"/>
                </a:lnTo>
                <a:lnTo>
                  <a:pt x="16576" y="4753"/>
                </a:lnTo>
                <a:lnTo>
                  <a:pt x="16570" y="4768"/>
                </a:lnTo>
                <a:lnTo>
                  <a:pt x="16562" y="4781"/>
                </a:lnTo>
                <a:lnTo>
                  <a:pt x="16555" y="4795"/>
                </a:lnTo>
                <a:lnTo>
                  <a:pt x="16548" y="4807"/>
                </a:lnTo>
                <a:lnTo>
                  <a:pt x="16538" y="4820"/>
                </a:lnTo>
                <a:lnTo>
                  <a:pt x="16529" y="4833"/>
                </a:lnTo>
                <a:lnTo>
                  <a:pt x="16520" y="4844"/>
                </a:lnTo>
                <a:lnTo>
                  <a:pt x="16509" y="4855"/>
                </a:lnTo>
                <a:lnTo>
                  <a:pt x="16498" y="4866"/>
                </a:lnTo>
                <a:lnTo>
                  <a:pt x="16486" y="4876"/>
                </a:lnTo>
                <a:lnTo>
                  <a:pt x="16475" y="4886"/>
                </a:lnTo>
                <a:lnTo>
                  <a:pt x="16462" y="4895"/>
                </a:lnTo>
                <a:lnTo>
                  <a:pt x="16449" y="4904"/>
                </a:lnTo>
                <a:lnTo>
                  <a:pt x="16435" y="4912"/>
                </a:lnTo>
                <a:lnTo>
                  <a:pt x="16421" y="4919"/>
                </a:lnTo>
                <a:lnTo>
                  <a:pt x="16407" y="4926"/>
                </a:lnTo>
                <a:lnTo>
                  <a:pt x="16392" y="4933"/>
                </a:lnTo>
                <a:lnTo>
                  <a:pt x="16377" y="4938"/>
                </a:lnTo>
                <a:lnTo>
                  <a:pt x="16362" y="4943"/>
                </a:lnTo>
                <a:lnTo>
                  <a:pt x="16345" y="4947"/>
                </a:lnTo>
                <a:lnTo>
                  <a:pt x="16330" y="4951"/>
                </a:lnTo>
                <a:lnTo>
                  <a:pt x="16313" y="4954"/>
                </a:lnTo>
                <a:lnTo>
                  <a:pt x="16296" y="4956"/>
                </a:lnTo>
                <a:lnTo>
                  <a:pt x="16279" y="4957"/>
                </a:lnTo>
                <a:lnTo>
                  <a:pt x="16263" y="4957"/>
                </a:lnTo>
                <a:lnTo>
                  <a:pt x="333" y="4957"/>
                </a:lnTo>
                <a:lnTo>
                  <a:pt x="316" y="4957"/>
                </a:lnTo>
                <a:lnTo>
                  <a:pt x="299" y="4956"/>
                </a:lnTo>
                <a:lnTo>
                  <a:pt x="282" y="4954"/>
                </a:lnTo>
                <a:lnTo>
                  <a:pt x="267" y="4951"/>
                </a:lnTo>
                <a:lnTo>
                  <a:pt x="250" y="4947"/>
                </a:lnTo>
                <a:lnTo>
                  <a:pt x="234" y="4943"/>
                </a:lnTo>
                <a:lnTo>
                  <a:pt x="219" y="4938"/>
                </a:lnTo>
                <a:lnTo>
                  <a:pt x="204" y="4933"/>
                </a:lnTo>
                <a:lnTo>
                  <a:pt x="189" y="4926"/>
                </a:lnTo>
                <a:lnTo>
                  <a:pt x="175" y="4919"/>
                </a:lnTo>
                <a:lnTo>
                  <a:pt x="161" y="4912"/>
                </a:lnTo>
                <a:lnTo>
                  <a:pt x="148" y="4904"/>
                </a:lnTo>
                <a:lnTo>
                  <a:pt x="134" y="4895"/>
                </a:lnTo>
                <a:lnTo>
                  <a:pt x="121" y="4886"/>
                </a:lnTo>
                <a:lnTo>
                  <a:pt x="110" y="4876"/>
                </a:lnTo>
                <a:lnTo>
                  <a:pt x="97" y="4866"/>
                </a:lnTo>
                <a:lnTo>
                  <a:pt x="87" y="4855"/>
                </a:lnTo>
                <a:lnTo>
                  <a:pt x="77" y="4844"/>
                </a:lnTo>
                <a:lnTo>
                  <a:pt x="66" y="4833"/>
                </a:lnTo>
                <a:lnTo>
                  <a:pt x="57" y="4820"/>
                </a:lnTo>
                <a:lnTo>
                  <a:pt x="48" y="4807"/>
                </a:lnTo>
                <a:lnTo>
                  <a:pt x="40" y="4795"/>
                </a:lnTo>
                <a:lnTo>
                  <a:pt x="33" y="4781"/>
                </a:lnTo>
                <a:lnTo>
                  <a:pt x="26" y="4768"/>
                </a:lnTo>
                <a:lnTo>
                  <a:pt x="20" y="4753"/>
                </a:lnTo>
                <a:lnTo>
                  <a:pt x="15" y="4739"/>
                </a:lnTo>
                <a:lnTo>
                  <a:pt x="11" y="4724"/>
                </a:lnTo>
                <a:lnTo>
                  <a:pt x="7" y="4709"/>
                </a:lnTo>
                <a:lnTo>
                  <a:pt x="3" y="4694"/>
                </a:lnTo>
                <a:lnTo>
                  <a:pt x="1" y="4679"/>
                </a:lnTo>
                <a:lnTo>
                  <a:pt x="0" y="4663"/>
                </a:lnTo>
                <a:lnTo>
                  <a:pt x="0" y="4647"/>
                </a:lnTo>
                <a:close/>
              </a:path>
            </a:pathLst>
          </a:custGeom>
          <a:solidFill>
            <a:schemeClr val="accent1"/>
          </a:solidFill>
          <a:ln w="9525">
            <a:noFill/>
            <a:round/>
            <a:headEnd/>
            <a:tailEnd/>
          </a:ln>
        </p:spPr>
        <p:txBody>
          <a:bodyPr/>
          <a:lstStyle/>
          <a:p>
            <a:endParaRPr lang="en-GB"/>
          </a:p>
        </p:txBody>
      </p:sp>
      <p:grpSp>
        <p:nvGrpSpPr>
          <p:cNvPr id="3" name="Group 14"/>
          <p:cNvGrpSpPr>
            <a:grpSpLocks/>
          </p:cNvGrpSpPr>
          <p:nvPr/>
        </p:nvGrpSpPr>
        <p:grpSpPr bwMode="auto">
          <a:xfrm>
            <a:off x="3352800" y="5257800"/>
            <a:ext cx="838200" cy="1128713"/>
            <a:chOff x="2104" y="2884"/>
            <a:chExt cx="528" cy="711"/>
          </a:xfrm>
        </p:grpSpPr>
        <p:sp>
          <p:nvSpPr>
            <p:cNvPr id="173071" name="Rectangle 15"/>
            <p:cNvSpPr>
              <a:spLocks noChangeArrowheads="1"/>
            </p:cNvSpPr>
            <p:nvPr/>
          </p:nvSpPr>
          <p:spPr bwMode="auto">
            <a:xfrm>
              <a:off x="2104" y="3451"/>
              <a:ext cx="528" cy="144"/>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Reviewer</a:t>
              </a:r>
              <a:endParaRPr lang="en-CA" sz="1200" b="1">
                <a:solidFill>
                  <a:schemeClr val="bg2"/>
                </a:solidFill>
              </a:endParaRPr>
            </a:p>
          </p:txBody>
        </p:sp>
        <p:sp>
          <p:nvSpPr>
            <p:cNvPr id="173072" name="Freeform 16"/>
            <p:cNvSpPr>
              <a:spLocks/>
            </p:cNvSpPr>
            <p:nvPr/>
          </p:nvSpPr>
          <p:spPr bwMode="auto">
            <a:xfrm>
              <a:off x="2285" y="2908"/>
              <a:ext cx="195" cy="195"/>
            </a:xfrm>
            <a:custGeom>
              <a:avLst/>
              <a:gdLst/>
              <a:ahLst/>
              <a:cxnLst>
                <a:cxn ang="0">
                  <a:pos x="429" y="777"/>
                </a:cxn>
                <a:cxn ang="0">
                  <a:pos x="486" y="767"/>
                </a:cxn>
                <a:cxn ang="0">
                  <a:pos x="540" y="748"/>
                </a:cxn>
                <a:cxn ang="0">
                  <a:pos x="591" y="722"/>
                </a:cxn>
                <a:cxn ang="0">
                  <a:pos x="636" y="690"/>
                </a:cxn>
                <a:cxn ang="0">
                  <a:pos x="677" y="651"/>
                </a:cxn>
                <a:cxn ang="0">
                  <a:pos x="712" y="607"/>
                </a:cxn>
                <a:cxn ang="0">
                  <a:pos x="740" y="558"/>
                </a:cxn>
                <a:cxn ang="0">
                  <a:pos x="761" y="505"/>
                </a:cxn>
                <a:cxn ang="0">
                  <a:pos x="774" y="449"/>
                </a:cxn>
                <a:cxn ang="0">
                  <a:pos x="778" y="389"/>
                </a:cxn>
                <a:cxn ang="0">
                  <a:pos x="774" y="331"/>
                </a:cxn>
                <a:cxn ang="0">
                  <a:pos x="761" y="273"/>
                </a:cxn>
                <a:cxn ang="0">
                  <a:pos x="740" y="221"/>
                </a:cxn>
                <a:cxn ang="0">
                  <a:pos x="712" y="172"/>
                </a:cxn>
                <a:cxn ang="0">
                  <a:pos x="677" y="128"/>
                </a:cxn>
                <a:cxn ang="0">
                  <a:pos x="636" y="88"/>
                </a:cxn>
                <a:cxn ang="0">
                  <a:pos x="591" y="56"/>
                </a:cxn>
                <a:cxn ang="0">
                  <a:pos x="540" y="30"/>
                </a:cxn>
                <a:cxn ang="0">
                  <a:pos x="486" y="12"/>
                </a:cxn>
                <a:cxn ang="0">
                  <a:pos x="429" y="2"/>
                </a:cxn>
                <a:cxn ang="0">
                  <a:pos x="369" y="0"/>
                </a:cxn>
                <a:cxn ang="0">
                  <a:pos x="311" y="8"/>
                </a:cxn>
                <a:cxn ang="0">
                  <a:pos x="255" y="24"/>
                </a:cxn>
                <a:cxn ang="0">
                  <a:pos x="203" y="46"/>
                </a:cxn>
                <a:cxn ang="0">
                  <a:pos x="156" y="77"/>
                </a:cxn>
                <a:cxn ang="0">
                  <a:pos x="113" y="114"/>
                </a:cxn>
                <a:cxn ang="0">
                  <a:pos x="77" y="156"/>
                </a:cxn>
                <a:cxn ang="0">
                  <a:pos x="47" y="204"/>
                </a:cxn>
                <a:cxn ang="0">
                  <a:pos x="23" y="255"/>
                </a:cxn>
                <a:cxn ang="0">
                  <a:pos x="7" y="311"/>
                </a:cxn>
                <a:cxn ang="0">
                  <a:pos x="0" y="369"/>
                </a:cxn>
                <a:cxn ang="0">
                  <a:pos x="2" y="429"/>
                </a:cxn>
                <a:cxn ang="0">
                  <a:pos x="11" y="486"/>
                </a:cxn>
                <a:cxn ang="0">
                  <a:pos x="30" y="540"/>
                </a:cxn>
                <a:cxn ang="0">
                  <a:pos x="56" y="592"/>
                </a:cxn>
                <a:cxn ang="0">
                  <a:pos x="88" y="637"/>
                </a:cxn>
                <a:cxn ang="0">
                  <a:pos x="127" y="677"/>
                </a:cxn>
                <a:cxn ang="0">
                  <a:pos x="171" y="713"/>
                </a:cxn>
                <a:cxn ang="0">
                  <a:pos x="220" y="741"/>
                </a:cxn>
                <a:cxn ang="0">
                  <a:pos x="273" y="762"/>
                </a:cxn>
                <a:cxn ang="0">
                  <a:pos x="330" y="774"/>
                </a:cxn>
                <a:cxn ang="0">
                  <a:pos x="389" y="780"/>
                </a:cxn>
              </a:cxnLst>
              <a:rect l="0" t="0" r="r" b="b"/>
              <a:pathLst>
                <a:path w="778" h="780">
                  <a:moveTo>
                    <a:pt x="389" y="780"/>
                  </a:moveTo>
                  <a:lnTo>
                    <a:pt x="409" y="778"/>
                  </a:lnTo>
                  <a:lnTo>
                    <a:pt x="429" y="777"/>
                  </a:lnTo>
                  <a:lnTo>
                    <a:pt x="449" y="774"/>
                  </a:lnTo>
                  <a:lnTo>
                    <a:pt x="467" y="771"/>
                  </a:lnTo>
                  <a:lnTo>
                    <a:pt x="486" y="767"/>
                  </a:lnTo>
                  <a:lnTo>
                    <a:pt x="505" y="762"/>
                  </a:lnTo>
                  <a:lnTo>
                    <a:pt x="523" y="755"/>
                  </a:lnTo>
                  <a:lnTo>
                    <a:pt x="540" y="748"/>
                  </a:lnTo>
                  <a:lnTo>
                    <a:pt x="557" y="741"/>
                  </a:lnTo>
                  <a:lnTo>
                    <a:pt x="575" y="731"/>
                  </a:lnTo>
                  <a:lnTo>
                    <a:pt x="591" y="722"/>
                  </a:lnTo>
                  <a:lnTo>
                    <a:pt x="606" y="713"/>
                  </a:lnTo>
                  <a:lnTo>
                    <a:pt x="622" y="701"/>
                  </a:lnTo>
                  <a:lnTo>
                    <a:pt x="636" y="690"/>
                  </a:lnTo>
                  <a:lnTo>
                    <a:pt x="651" y="677"/>
                  </a:lnTo>
                  <a:lnTo>
                    <a:pt x="665" y="665"/>
                  </a:lnTo>
                  <a:lnTo>
                    <a:pt x="677" y="651"/>
                  </a:lnTo>
                  <a:lnTo>
                    <a:pt x="690" y="637"/>
                  </a:lnTo>
                  <a:lnTo>
                    <a:pt x="701" y="622"/>
                  </a:lnTo>
                  <a:lnTo>
                    <a:pt x="712" y="607"/>
                  </a:lnTo>
                  <a:lnTo>
                    <a:pt x="722" y="592"/>
                  </a:lnTo>
                  <a:lnTo>
                    <a:pt x="731" y="575"/>
                  </a:lnTo>
                  <a:lnTo>
                    <a:pt x="740" y="558"/>
                  </a:lnTo>
                  <a:lnTo>
                    <a:pt x="748" y="540"/>
                  </a:lnTo>
                  <a:lnTo>
                    <a:pt x="754" y="523"/>
                  </a:lnTo>
                  <a:lnTo>
                    <a:pt x="761" y="505"/>
                  </a:lnTo>
                  <a:lnTo>
                    <a:pt x="766" y="486"/>
                  </a:lnTo>
                  <a:lnTo>
                    <a:pt x="771" y="467"/>
                  </a:lnTo>
                  <a:lnTo>
                    <a:pt x="774" y="449"/>
                  </a:lnTo>
                  <a:lnTo>
                    <a:pt x="776" y="429"/>
                  </a:lnTo>
                  <a:lnTo>
                    <a:pt x="778" y="409"/>
                  </a:lnTo>
                  <a:lnTo>
                    <a:pt x="778" y="389"/>
                  </a:lnTo>
                  <a:lnTo>
                    <a:pt x="778" y="369"/>
                  </a:lnTo>
                  <a:lnTo>
                    <a:pt x="776" y="349"/>
                  </a:lnTo>
                  <a:lnTo>
                    <a:pt x="774" y="331"/>
                  </a:lnTo>
                  <a:lnTo>
                    <a:pt x="771" y="311"/>
                  </a:lnTo>
                  <a:lnTo>
                    <a:pt x="766" y="292"/>
                  </a:lnTo>
                  <a:lnTo>
                    <a:pt x="761" y="273"/>
                  </a:lnTo>
                  <a:lnTo>
                    <a:pt x="754" y="255"/>
                  </a:lnTo>
                  <a:lnTo>
                    <a:pt x="748" y="238"/>
                  </a:lnTo>
                  <a:lnTo>
                    <a:pt x="740" y="221"/>
                  </a:lnTo>
                  <a:lnTo>
                    <a:pt x="731" y="204"/>
                  </a:lnTo>
                  <a:lnTo>
                    <a:pt x="722" y="187"/>
                  </a:lnTo>
                  <a:lnTo>
                    <a:pt x="712" y="172"/>
                  </a:lnTo>
                  <a:lnTo>
                    <a:pt x="701" y="156"/>
                  </a:lnTo>
                  <a:lnTo>
                    <a:pt x="690" y="142"/>
                  </a:lnTo>
                  <a:lnTo>
                    <a:pt x="677" y="128"/>
                  </a:lnTo>
                  <a:lnTo>
                    <a:pt x="665" y="114"/>
                  </a:lnTo>
                  <a:lnTo>
                    <a:pt x="651" y="101"/>
                  </a:lnTo>
                  <a:lnTo>
                    <a:pt x="636" y="88"/>
                  </a:lnTo>
                  <a:lnTo>
                    <a:pt x="622" y="77"/>
                  </a:lnTo>
                  <a:lnTo>
                    <a:pt x="606" y="66"/>
                  </a:lnTo>
                  <a:lnTo>
                    <a:pt x="591" y="56"/>
                  </a:lnTo>
                  <a:lnTo>
                    <a:pt x="575" y="46"/>
                  </a:lnTo>
                  <a:lnTo>
                    <a:pt x="557" y="38"/>
                  </a:lnTo>
                  <a:lnTo>
                    <a:pt x="540" y="30"/>
                  </a:lnTo>
                  <a:lnTo>
                    <a:pt x="523" y="24"/>
                  </a:lnTo>
                  <a:lnTo>
                    <a:pt x="505" y="17"/>
                  </a:lnTo>
                  <a:lnTo>
                    <a:pt x="486" y="12"/>
                  </a:lnTo>
                  <a:lnTo>
                    <a:pt x="467" y="8"/>
                  </a:lnTo>
                  <a:lnTo>
                    <a:pt x="449" y="4"/>
                  </a:lnTo>
                  <a:lnTo>
                    <a:pt x="429" y="2"/>
                  </a:lnTo>
                  <a:lnTo>
                    <a:pt x="409" y="0"/>
                  </a:lnTo>
                  <a:lnTo>
                    <a:pt x="389" y="0"/>
                  </a:lnTo>
                  <a:lnTo>
                    <a:pt x="369" y="0"/>
                  </a:lnTo>
                  <a:lnTo>
                    <a:pt x="349" y="2"/>
                  </a:lnTo>
                  <a:lnTo>
                    <a:pt x="330" y="4"/>
                  </a:lnTo>
                  <a:lnTo>
                    <a:pt x="311" y="8"/>
                  </a:lnTo>
                  <a:lnTo>
                    <a:pt x="292" y="12"/>
                  </a:lnTo>
                  <a:lnTo>
                    <a:pt x="273" y="17"/>
                  </a:lnTo>
                  <a:lnTo>
                    <a:pt x="255" y="24"/>
                  </a:lnTo>
                  <a:lnTo>
                    <a:pt x="238" y="30"/>
                  </a:lnTo>
                  <a:lnTo>
                    <a:pt x="220" y="38"/>
                  </a:lnTo>
                  <a:lnTo>
                    <a:pt x="203" y="46"/>
                  </a:lnTo>
                  <a:lnTo>
                    <a:pt x="188" y="56"/>
                  </a:lnTo>
                  <a:lnTo>
                    <a:pt x="171" y="66"/>
                  </a:lnTo>
                  <a:lnTo>
                    <a:pt x="156" y="77"/>
                  </a:lnTo>
                  <a:lnTo>
                    <a:pt x="142" y="88"/>
                  </a:lnTo>
                  <a:lnTo>
                    <a:pt x="127" y="101"/>
                  </a:lnTo>
                  <a:lnTo>
                    <a:pt x="113" y="114"/>
                  </a:lnTo>
                  <a:lnTo>
                    <a:pt x="101" y="128"/>
                  </a:lnTo>
                  <a:lnTo>
                    <a:pt x="88" y="142"/>
                  </a:lnTo>
                  <a:lnTo>
                    <a:pt x="77" y="156"/>
                  </a:lnTo>
                  <a:lnTo>
                    <a:pt x="65" y="172"/>
                  </a:lnTo>
                  <a:lnTo>
                    <a:pt x="56" y="187"/>
                  </a:lnTo>
                  <a:lnTo>
                    <a:pt x="47" y="204"/>
                  </a:lnTo>
                  <a:lnTo>
                    <a:pt x="37" y="221"/>
                  </a:lnTo>
                  <a:lnTo>
                    <a:pt x="30" y="238"/>
                  </a:lnTo>
                  <a:lnTo>
                    <a:pt x="23" y="255"/>
                  </a:lnTo>
                  <a:lnTo>
                    <a:pt x="16" y="273"/>
                  </a:lnTo>
                  <a:lnTo>
                    <a:pt x="11" y="292"/>
                  </a:lnTo>
                  <a:lnTo>
                    <a:pt x="7" y="311"/>
                  </a:lnTo>
                  <a:lnTo>
                    <a:pt x="4" y="331"/>
                  </a:lnTo>
                  <a:lnTo>
                    <a:pt x="2" y="349"/>
                  </a:lnTo>
                  <a:lnTo>
                    <a:pt x="0" y="369"/>
                  </a:lnTo>
                  <a:lnTo>
                    <a:pt x="0" y="389"/>
                  </a:lnTo>
                  <a:lnTo>
                    <a:pt x="0" y="409"/>
                  </a:lnTo>
                  <a:lnTo>
                    <a:pt x="2" y="429"/>
                  </a:lnTo>
                  <a:lnTo>
                    <a:pt x="4" y="449"/>
                  </a:lnTo>
                  <a:lnTo>
                    <a:pt x="7" y="467"/>
                  </a:lnTo>
                  <a:lnTo>
                    <a:pt x="11" y="486"/>
                  </a:lnTo>
                  <a:lnTo>
                    <a:pt x="16" y="505"/>
                  </a:lnTo>
                  <a:lnTo>
                    <a:pt x="23" y="523"/>
                  </a:lnTo>
                  <a:lnTo>
                    <a:pt x="30" y="540"/>
                  </a:lnTo>
                  <a:lnTo>
                    <a:pt x="37" y="558"/>
                  </a:lnTo>
                  <a:lnTo>
                    <a:pt x="47" y="575"/>
                  </a:lnTo>
                  <a:lnTo>
                    <a:pt x="56" y="592"/>
                  </a:lnTo>
                  <a:lnTo>
                    <a:pt x="65" y="607"/>
                  </a:lnTo>
                  <a:lnTo>
                    <a:pt x="77" y="622"/>
                  </a:lnTo>
                  <a:lnTo>
                    <a:pt x="88" y="637"/>
                  </a:lnTo>
                  <a:lnTo>
                    <a:pt x="101" y="651"/>
                  </a:lnTo>
                  <a:lnTo>
                    <a:pt x="113" y="665"/>
                  </a:lnTo>
                  <a:lnTo>
                    <a:pt x="127" y="677"/>
                  </a:lnTo>
                  <a:lnTo>
                    <a:pt x="142" y="690"/>
                  </a:lnTo>
                  <a:lnTo>
                    <a:pt x="156" y="701"/>
                  </a:lnTo>
                  <a:lnTo>
                    <a:pt x="171" y="713"/>
                  </a:lnTo>
                  <a:lnTo>
                    <a:pt x="188" y="722"/>
                  </a:lnTo>
                  <a:lnTo>
                    <a:pt x="203" y="731"/>
                  </a:lnTo>
                  <a:lnTo>
                    <a:pt x="220" y="741"/>
                  </a:lnTo>
                  <a:lnTo>
                    <a:pt x="238" y="748"/>
                  </a:lnTo>
                  <a:lnTo>
                    <a:pt x="255" y="755"/>
                  </a:lnTo>
                  <a:lnTo>
                    <a:pt x="273" y="762"/>
                  </a:lnTo>
                  <a:lnTo>
                    <a:pt x="292" y="767"/>
                  </a:lnTo>
                  <a:lnTo>
                    <a:pt x="311" y="771"/>
                  </a:lnTo>
                  <a:lnTo>
                    <a:pt x="330" y="774"/>
                  </a:lnTo>
                  <a:lnTo>
                    <a:pt x="349" y="777"/>
                  </a:lnTo>
                  <a:lnTo>
                    <a:pt x="369" y="778"/>
                  </a:lnTo>
                  <a:lnTo>
                    <a:pt x="389" y="780"/>
                  </a:lnTo>
                  <a:close/>
                </a:path>
              </a:pathLst>
            </a:custGeom>
            <a:solidFill>
              <a:srgbClr val="AAA9A9"/>
            </a:solidFill>
            <a:ln w="9525">
              <a:noFill/>
              <a:round/>
              <a:headEnd/>
              <a:tailEnd/>
            </a:ln>
          </p:spPr>
          <p:txBody>
            <a:bodyPr/>
            <a:lstStyle/>
            <a:p>
              <a:endParaRPr lang="en-GB"/>
            </a:p>
          </p:txBody>
        </p:sp>
        <p:sp>
          <p:nvSpPr>
            <p:cNvPr id="173073" name="Freeform 17"/>
            <p:cNvSpPr>
              <a:spLocks/>
            </p:cNvSpPr>
            <p:nvPr/>
          </p:nvSpPr>
          <p:spPr bwMode="auto">
            <a:xfrm>
              <a:off x="2285" y="2908"/>
              <a:ext cx="195" cy="195"/>
            </a:xfrm>
            <a:custGeom>
              <a:avLst/>
              <a:gdLst/>
              <a:ahLst/>
              <a:cxnLst>
                <a:cxn ang="0">
                  <a:pos x="429" y="777"/>
                </a:cxn>
                <a:cxn ang="0">
                  <a:pos x="486" y="767"/>
                </a:cxn>
                <a:cxn ang="0">
                  <a:pos x="540" y="748"/>
                </a:cxn>
                <a:cxn ang="0">
                  <a:pos x="591" y="722"/>
                </a:cxn>
                <a:cxn ang="0">
                  <a:pos x="636" y="690"/>
                </a:cxn>
                <a:cxn ang="0">
                  <a:pos x="677" y="651"/>
                </a:cxn>
                <a:cxn ang="0">
                  <a:pos x="712" y="607"/>
                </a:cxn>
                <a:cxn ang="0">
                  <a:pos x="740" y="558"/>
                </a:cxn>
                <a:cxn ang="0">
                  <a:pos x="761" y="505"/>
                </a:cxn>
                <a:cxn ang="0">
                  <a:pos x="774" y="449"/>
                </a:cxn>
                <a:cxn ang="0">
                  <a:pos x="778" y="389"/>
                </a:cxn>
                <a:cxn ang="0">
                  <a:pos x="774" y="331"/>
                </a:cxn>
                <a:cxn ang="0">
                  <a:pos x="761" y="273"/>
                </a:cxn>
                <a:cxn ang="0">
                  <a:pos x="740" y="221"/>
                </a:cxn>
                <a:cxn ang="0">
                  <a:pos x="712" y="172"/>
                </a:cxn>
                <a:cxn ang="0">
                  <a:pos x="677" y="128"/>
                </a:cxn>
                <a:cxn ang="0">
                  <a:pos x="636" y="88"/>
                </a:cxn>
                <a:cxn ang="0">
                  <a:pos x="591" y="56"/>
                </a:cxn>
                <a:cxn ang="0">
                  <a:pos x="540" y="30"/>
                </a:cxn>
                <a:cxn ang="0">
                  <a:pos x="486" y="12"/>
                </a:cxn>
                <a:cxn ang="0">
                  <a:pos x="429" y="2"/>
                </a:cxn>
                <a:cxn ang="0">
                  <a:pos x="369" y="0"/>
                </a:cxn>
                <a:cxn ang="0">
                  <a:pos x="311" y="8"/>
                </a:cxn>
                <a:cxn ang="0">
                  <a:pos x="255" y="24"/>
                </a:cxn>
                <a:cxn ang="0">
                  <a:pos x="203" y="46"/>
                </a:cxn>
                <a:cxn ang="0">
                  <a:pos x="156" y="77"/>
                </a:cxn>
                <a:cxn ang="0">
                  <a:pos x="113" y="114"/>
                </a:cxn>
                <a:cxn ang="0">
                  <a:pos x="77" y="156"/>
                </a:cxn>
                <a:cxn ang="0">
                  <a:pos x="47" y="204"/>
                </a:cxn>
                <a:cxn ang="0">
                  <a:pos x="23" y="255"/>
                </a:cxn>
                <a:cxn ang="0">
                  <a:pos x="7" y="311"/>
                </a:cxn>
                <a:cxn ang="0">
                  <a:pos x="0" y="369"/>
                </a:cxn>
                <a:cxn ang="0">
                  <a:pos x="2" y="429"/>
                </a:cxn>
                <a:cxn ang="0">
                  <a:pos x="11" y="486"/>
                </a:cxn>
                <a:cxn ang="0">
                  <a:pos x="30" y="540"/>
                </a:cxn>
                <a:cxn ang="0">
                  <a:pos x="56" y="592"/>
                </a:cxn>
                <a:cxn ang="0">
                  <a:pos x="88" y="637"/>
                </a:cxn>
                <a:cxn ang="0">
                  <a:pos x="127" y="677"/>
                </a:cxn>
                <a:cxn ang="0">
                  <a:pos x="171" y="713"/>
                </a:cxn>
                <a:cxn ang="0">
                  <a:pos x="220" y="741"/>
                </a:cxn>
                <a:cxn ang="0">
                  <a:pos x="273" y="762"/>
                </a:cxn>
                <a:cxn ang="0">
                  <a:pos x="330" y="774"/>
                </a:cxn>
                <a:cxn ang="0">
                  <a:pos x="389" y="780"/>
                </a:cxn>
              </a:cxnLst>
              <a:rect l="0" t="0" r="r" b="b"/>
              <a:pathLst>
                <a:path w="778" h="780">
                  <a:moveTo>
                    <a:pt x="389" y="780"/>
                  </a:moveTo>
                  <a:lnTo>
                    <a:pt x="409" y="778"/>
                  </a:lnTo>
                  <a:lnTo>
                    <a:pt x="429" y="777"/>
                  </a:lnTo>
                  <a:lnTo>
                    <a:pt x="449" y="774"/>
                  </a:lnTo>
                  <a:lnTo>
                    <a:pt x="467" y="771"/>
                  </a:lnTo>
                  <a:lnTo>
                    <a:pt x="486" y="767"/>
                  </a:lnTo>
                  <a:lnTo>
                    <a:pt x="505" y="762"/>
                  </a:lnTo>
                  <a:lnTo>
                    <a:pt x="523" y="755"/>
                  </a:lnTo>
                  <a:lnTo>
                    <a:pt x="540" y="748"/>
                  </a:lnTo>
                  <a:lnTo>
                    <a:pt x="557" y="741"/>
                  </a:lnTo>
                  <a:lnTo>
                    <a:pt x="575" y="731"/>
                  </a:lnTo>
                  <a:lnTo>
                    <a:pt x="591" y="722"/>
                  </a:lnTo>
                  <a:lnTo>
                    <a:pt x="606" y="713"/>
                  </a:lnTo>
                  <a:lnTo>
                    <a:pt x="622" y="701"/>
                  </a:lnTo>
                  <a:lnTo>
                    <a:pt x="636" y="690"/>
                  </a:lnTo>
                  <a:lnTo>
                    <a:pt x="651" y="677"/>
                  </a:lnTo>
                  <a:lnTo>
                    <a:pt x="665" y="665"/>
                  </a:lnTo>
                  <a:lnTo>
                    <a:pt x="677" y="651"/>
                  </a:lnTo>
                  <a:lnTo>
                    <a:pt x="690" y="637"/>
                  </a:lnTo>
                  <a:lnTo>
                    <a:pt x="701" y="622"/>
                  </a:lnTo>
                  <a:lnTo>
                    <a:pt x="712" y="607"/>
                  </a:lnTo>
                  <a:lnTo>
                    <a:pt x="722" y="592"/>
                  </a:lnTo>
                  <a:lnTo>
                    <a:pt x="731" y="575"/>
                  </a:lnTo>
                  <a:lnTo>
                    <a:pt x="740" y="558"/>
                  </a:lnTo>
                  <a:lnTo>
                    <a:pt x="748" y="540"/>
                  </a:lnTo>
                  <a:lnTo>
                    <a:pt x="754" y="523"/>
                  </a:lnTo>
                  <a:lnTo>
                    <a:pt x="761" y="505"/>
                  </a:lnTo>
                  <a:lnTo>
                    <a:pt x="766" y="486"/>
                  </a:lnTo>
                  <a:lnTo>
                    <a:pt x="771" y="467"/>
                  </a:lnTo>
                  <a:lnTo>
                    <a:pt x="774" y="449"/>
                  </a:lnTo>
                  <a:lnTo>
                    <a:pt x="776" y="429"/>
                  </a:lnTo>
                  <a:lnTo>
                    <a:pt x="778" y="409"/>
                  </a:lnTo>
                  <a:lnTo>
                    <a:pt x="778" y="389"/>
                  </a:lnTo>
                  <a:lnTo>
                    <a:pt x="778" y="369"/>
                  </a:lnTo>
                  <a:lnTo>
                    <a:pt x="776" y="349"/>
                  </a:lnTo>
                  <a:lnTo>
                    <a:pt x="774" y="331"/>
                  </a:lnTo>
                  <a:lnTo>
                    <a:pt x="771" y="311"/>
                  </a:lnTo>
                  <a:lnTo>
                    <a:pt x="766" y="292"/>
                  </a:lnTo>
                  <a:lnTo>
                    <a:pt x="761" y="273"/>
                  </a:lnTo>
                  <a:lnTo>
                    <a:pt x="754" y="255"/>
                  </a:lnTo>
                  <a:lnTo>
                    <a:pt x="748" y="238"/>
                  </a:lnTo>
                  <a:lnTo>
                    <a:pt x="740" y="221"/>
                  </a:lnTo>
                  <a:lnTo>
                    <a:pt x="731" y="204"/>
                  </a:lnTo>
                  <a:lnTo>
                    <a:pt x="722" y="187"/>
                  </a:lnTo>
                  <a:lnTo>
                    <a:pt x="712" y="172"/>
                  </a:lnTo>
                  <a:lnTo>
                    <a:pt x="701" y="156"/>
                  </a:lnTo>
                  <a:lnTo>
                    <a:pt x="690" y="142"/>
                  </a:lnTo>
                  <a:lnTo>
                    <a:pt x="677" y="128"/>
                  </a:lnTo>
                  <a:lnTo>
                    <a:pt x="665" y="114"/>
                  </a:lnTo>
                  <a:lnTo>
                    <a:pt x="651" y="101"/>
                  </a:lnTo>
                  <a:lnTo>
                    <a:pt x="636" y="88"/>
                  </a:lnTo>
                  <a:lnTo>
                    <a:pt x="622" y="77"/>
                  </a:lnTo>
                  <a:lnTo>
                    <a:pt x="606" y="66"/>
                  </a:lnTo>
                  <a:lnTo>
                    <a:pt x="591" y="56"/>
                  </a:lnTo>
                  <a:lnTo>
                    <a:pt x="575" y="46"/>
                  </a:lnTo>
                  <a:lnTo>
                    <a:pt x="557" y="38"/>
                  </a:lnTo>
                  <a:lnTo>
                    <a:pt x="540" y="30"/>
                  </a:lnTo>
                  <a:lnTo>
                    <a:pt x="523" y="24"/>
                  </a:lnTo>
                  <a:lnTo>
                    <a:pt x="505" y="17"/>
                  </a:lnTo>
                  <a:lnTo>
                    <a:pt x="486" y="12"/>
                  </a:lnTo>
                  <a:lnTo>
                    <a:pt x="467" y="8"/>
                  </a:lnTo>
                  <a:lnTo>
                    <a:pt x="449" y="4"/>
                  </a:lnTo>
                  <a:lnTo>
                    <a:pt x="429" y="2"/>
                  </a:lnTo>
                  <a:lnTo>
                    <a:pt x="409" y="0"/>
                  </a:lnTo>
                  <a:lnTo>
                    <a:pt x="389" y="0"/>
                  </a:lnTo>
                  <a:lnTo>
                    <a:pt x="369" y="0"/>
                  </a:lnTo>
                  <a:lnTo>
                    <a:pt x="349" y="2"/>
                  </a:lnTo>
                  <a:lnTo>
                    <a:pt x="330" y="4"/>
                  </a:lnTo>
                  <a:lnTo>
                    <a:pt x="311" y="8"/>
                  </a:lnTo>
                  <a:lnTo>
                    <a:pt x="292" y="12"/>
                  </a:lnTo>
                  <a:lnTo>
                    <a:pt x="273" y="17"/>
                  </a:lnTo>
                  <a:lnTo>
                    <a:pt x="255" y="24"/>
                  </a:lnTo>
                  <a:lnTo>
                    <a:pt x="238" y="30"/>
                  </a:lnTo>
                  <a:lnTo>
                    <a:pt x="220" y="38"/>
                  </a:lnTo>
                  <a:lnTo>
                    <a:pt x="203" y="46"/>
                  </a:lnTo>
                  <a:lnTo>
                    <a:pt x="188" y="56"/>
                  </a:lnTo>
                  <a:lnTo>
                    <a:pt x="171" y="66"/>
                  </a:lnTo>
                  <a:lnTo>
                    <a:pt x="156" y="77"/>
                  </a:lnTo>
                  <a:lnTo>
                    <a:pt x="142" y="88"/>
                  </a:lnTo>
                  <a:lnTo>
                    <a:pt x="127" y="101"/>
                  </a:lnTo>
                  <a:lnTo>
                    <a:pt x="113" y="114"/>
                  </a:lnTo>
                  <a:lnTo>
                    <a:pt x="101" y="128"/>
                  </a:lnTo>
                  <a:lnTo>
                    <a:pt x="88" y="142"/>
                  </a:lnTo>
                  <a:lnTo>
                    <a:pt x="77" y="156"/>
                  </a:lnTo>
                  <a:lnTo>
                    <a:pt x="65" y="172"/>
                  </a:lnTo>
                  <a:lnTo>
                    <a:pt x="56" y="187"/>
                  </a:lnTo>
                  <a:lnTo>
                    <a:pt x="47" y="204"/>
                  </a:lnTo>
                  <a:lnTo>
                    <a:pt x="37" y="221"/>
                  </a:lnTo>
                  <a:lnTo>
                    <a:pt x="30" y="238"/>
                  </a:lnTo>
                  <a:lnTo>
                    <a:pt x="23" y="255"/>
                  </a:lnTo>
                  <a:lnTo>
                    <a:pt x="16" y="273"/>
                  </a:lnTo>
                  <a:lnTo>
                    <a:pt x="11" y="292"/>
                  </a:lnTo>
                  <a:lnTo>
                    <a:pt x="7" y="311"/>
                  </a:lnTo>
                  <a:lnTo>
                    <a:pt x="4" y="331"/>
                  </a:lnTo>
                  <a:lnTo>
                    <a:pt x="2" y="349"/>
                  </a:lnTo>
                  <a:lnTo>
                    <a:pt x="0" y="369"/>
                  </a:lnTo>
                  <a:lnTo>
                    <a:pt x="0" y="389"/>
                  </a:lnTo>
                  <a:lnTo>
                    <a:pt x="0" y="409"/>
                  </a:lnTo>
                  <a:lnTo>
                    <a:pt x="2" y="429"/>
                  </a:lnTo>
                  <a:lnTo>
                    <a:pt x="4" y="449"/>
                  </a:lnTo>
                  <a:lnTo>
                    <a:pt x="7" y="467"/>
                  </a:lnTo>
                  <a:lnTo>
                    <a:pt x="11" y="486"/>
                  </a:lnTo>
                  <a:lnTo>
                    <a:pt x="16" y="505"/>
                  </a:lnTo>
                  <a:lnTo>
                    <a:pt x="23" y="523"/>
                  </a:lnTo>
                  <a:lnTo>
                    <a:pt x="30" y="540"/>
                  </a:lnTo>
                  <a:lnTo>
                    <a:pt x="37" y="558"/>
                  </a:lnTo>
                  <a:lnTo>
                    <a:pt x="47" y="575"/>
                  </a:lnTo>
                  <a:lnTo>
                    <a:pt x="56" y="592"/>
                  </a:lnTo>
                  <a:lnTo>
                    <a:pt x="65" y="607"/>
                  </a:lnTo>
                  <a:lnTo>
                    <a:pt x="77" y="622"/>
                  </a:lnTo>
                  <a:lnTo>
                    <a:pt x="88" y="637"/>
                  </a:lnTo>
                  <a:lnTo>
                    <a:pt x="101" y="651"/>
                  </a:lnTo>
                  <a:lnTo>
                    <a:pt x="113" y="665"/>
                  </a:lnTo>
                  <a:lnTo>
                    <a:pt x="127" y="677"/>
                  </a:lnTo>
                  <a:lnTo>
                    <a:pt x="142" y="690"/>
                  </a:lnTo>
                  <a:lnTo>
                    <a:pt x="156" y="701"/>
                  </a:lnTo>
                  <a:lnTo>
                    <a:pt x="171" y="713"/>
                  </a:lnTo>
                  <a:lnTo>
                    <a:pt x="188" y="722"/>
                  </a:lnTo>
                  <a:lnTo>
                    <a:pt x="203" y="731"/>
                  </a:lnTo>
                  <a:lnTo>
                    <a:pt x="220" y="741"/>
                  </a:lnTo>
                  <a:lnTo>
                    <a:pt x="238" y="748"/>
                  </a:lnTo>
                  <a:lnTo>
                    <a:pt x="255" y="755"/>
                  </a:lnTo>
                  <a:lnTo>
                    <a:pt x="273" y="762"/>
                  </a:lnTo>
                  <a:lnTo>
                    <a:pt x="292" y="767"/>
                  </a:lnTo>
                  <a:lnTo>
                    <a:pt x="311" y="771"/>
                  </a:lnTo>
                  <a:lnTo>
                    <a:pt x="330" y="774"/>
                  </a:lnTo>
                  <a:lnTo>
                    <a:pt x="349" y="777"/>
                  </a:lnTo>
                  <a:lnTo>
                    <a:pt x="369" y="778"/>
                  </a:lnTo>
                  <a:lnTo>
                    <a:pt x="389" y="780"/>
                  </a:lnTo>
                </a:path>
              </a:pathLst>
            </a:custGeom>
            <a:noFill/>
            <a:ln w="14288">
              <a:solidFill>
                <a:srgbClr val="C3C3C2"/>
              </a:solidFill>
              <a:prstDash val="solid"/>
              <a:round/>
              <a:headEnd/>
              <a:tailEnd/>
            </a:ln>
          </p:spPr>
          <p:txBody>
            <a:bodyPr/>
            <a:lstStyle/>
            <a:p>
              <a:endParaRPr lang="en-GB"/>
            </a:p>
          </p:txBody>
        </p:sp>
        <p:sp>
          <p:nvSpPr>
            <p:cNvPr id="173074" name="Freeform 18"/>
            <p:cNvSpPr>
              <a:spLocks/>
            </p:cNvSpPr>
            <p:nvPr/>
          </p:nvSpPr>
          <p:spPr bwMode="auto">
            <a:xfrm>
              <a:off x="2152" y="3147"/>
              <a:ext cx="382" cy="300"/>
            </a:xfrm>
            <a:custGeom>
              <a:avLst/>
              <a:gdLst/>
              <a:ahLst/>
              <a:cxnLst>
                <a:cxn ang="0">
                  <a:pos x="387" y="0"/>
                </a:cxn>
                <a:cxn ang="0">
                  <a:pos x="1526" y="0"/>
                </a:cxn>
                <a:cxn ang="0">
                  <a:pos x="1137" y="1200"/>
                </a:cxn>
                <a:cxn ang="0">
                  <a:pos x="0" y="1197"/>
                </a:cxn>
                <a:cxn ang="0">
                  <a:pos x="387" y="0"/>
                </a:cxn>
              </a:cxnLst>
              <a:rect l="0" t="0" r="r" b="b"/>
              <a:pathLst>
                <a:path w="1526" h="1200">
                  <a:moveTo>
                    <a:pt x="387" y="0"/>
                  </a:moveTo>
                  <a:lnTo>
                    <a:pt x="1526" y="0"/>
                  </a:lnTo>
                  <a:lnTo>
                    <a:pt x="1137" y="1200"/>
                  </a:lnTo>
                  <a:lnTo>
                    <a:pt x="0" y="1197"/>
                  </a:lnTo>
                  <a:lnTo>
                    <a:pt x="387" y="0"/>
                  </a:lnTo>
                  <a:close/>
                </a:path>
              </a:pathLst>
            </a:custGeom>
            <a:solidFill>
              <a:srgbClr val="AAA9A9"/>
            </a:solidFill>
            <a:ln w="9525">
              <a:noFill/>
              <a:round/>
              <a:headEnd/>
              <a:tailEnd/>
            </a:ln>
          </p:spPr>
          <p:txBody>
            <a:bodyPr/>
            <a:lstStyle/>
            <a:p>
              <a:endParaRPr lang="en-GB"/>
            </a:p>
          </p:txBody>
        </p:sp>
        <p:sp>
          <p:nvSpPr>
            <p:cNvPr id="173075" name="Freeform 19"/>
            <p:cNvSpPr>
              <a:spLocks/>
            </p:cNvSpPr>
            <p:nvPr/>
          </p:nvSpPr>
          <p:spPr bwMode="auto">
            <a:xfrm>
              <a:off x="2152" y="3147"/>
              <a:ext cx="382" cy="300"/>
            </a:xfrm>
            <a:custGeom>
              <a:avLst/>
              <a:gdLst/>
              <a:ahLst/>
              <a:cxnLst>
                <a:cxn ang="0">
                  <a:pos x="387" y="0"/>
                </a:cxn>
                <a:cxn ang="0">
                  <a:pos x="1526" y="0"/>
                </a:cxn>
                <a:cxn ang="0">
                  <a:pos x="1137" y="1200"/>
                </a:cxn>
                <a:cxn ang="0">
                  <a:pos x="0" y="1197"/>
                </a:cxn>
                <a:cxn ang="0">
                  <a:pos x="387" y="0"/>
                </a:cxn>
              </a:cxnLst>
              <a:rect l="0" t="0" r="r" b="b"/>
              <a:pathLst>
                <a:path w="1526" h="1200">
                  <a:moveTo>
                    <a:pt x="387" y="0"/>
                  </a:moveTo>
                  <a:lnTo>
                    <a:pt x="1526" y="0"/>
                  </a:lnTo>
                  <a:lnTo>
                    <a:pt x="1137" y="1200"/>
                  </a:lnTo>
                  <a:lnTo>
                    <a:pt x="0" y="1197"/>
                  </a:lnTo>
                  <a:lnTo>
                    <a:pt x="387" y="0"/>
                  </a:lnTo>
                  <a:close/>
                </a:path>
              </a:pathLst>
            </a:custGeom>
            <a:noFill/>
            <a:ln w="14288">
              <a:solidFill>
                <a:srgbClr val="C3C3C2"/>
              </a:solidFill>
              <a:prstDash val="solid"/>
              <a:round/>
              <a:headEnd/>
              <a:tailEnd/>
            </a:ln>
          </p:spPr>
          <p:txBody>
            <a:bodyPr/>
            <a:lstStyle/>
            <a:p>
              <a:endParaRPr lang="en-GB"/>
            </a:p>
          </p:txBody>
        </p:sp>
        <p:sp>
          <p:nvSpPr>
            <p:cNvPr id="173076" name="Freeform 20"/>
            <p:cNvSpPr>
              <a:spLocks/>
            </p:cNvSpPr>
            <p:nvPr/>
          </p:nvSpPr>
          <p:spPr bwMode="auto">
            <a:xfrm>
              <a:off x="2251" y="2884"/>
              <a:ext cx="195" cy="195"/>
            </a:xfrm>
            <a:custGeom>
              <a:avLst/>
              <a:gdLst/>
              <a:ahLst/>
              <a:cxnLst>
                <a:cxn ang="0">
                  <a:pos x="430" y="778"/>
                </a:cxn>
                <a:cxn ang="0">
                  <a:pos x="488" y="768"/>
                </a:cxn>
                <a:cxn ang="0">
                  <a:pos x="542" y="750"/>
                </a:cxn>
                <a:cxn ang="0">
                  <a:pos x="592" y="724"/>
                </a:cxn>
                <a:cxn ang="0">
                  <a:pos x="638" y="692"/>
                </a:cxn>
                <a:cxn ang="0">
                  <a:pos x="679" y="652"/>
                </a:cxn>
                <a:cxn ang="0">
                  <a:pos x="713" y="608"/>
                </a:cxn>
                <a:cxn ang="0">
                  <a:pos x="741" y="559"/>
                </a:cxn>
                <a:cxn ang="0">
                  <a:pos x="762" y="506"/>
                </a:cxn>
                <a:cxn ang="0">
                  <a:pos x="775" y="449"/>
                </a:cxn>
                <a:cxn ang="0">
                  <a:pos x="780" y="391"/>
                </a:cxn>
                <a:cxn ang="0">
                  <a:pos x="775" y="331"/>
                </a:cxn>
                <a:cxn ang="0">
                  <a:pos x="762" y="275"/>
                </a:cxn>
                <a:cxn ang="0">
                  <a:pos x="741" y="222"/>
                </a:cxn>
                <a:cxn ang="0">
                  <a:pos x="713" y="173"/>
                </a:cxn>
                <a:cxn ang="0">
                  <a:pos x="679" y="129"/>
                </a:cxn>
                <a:cxn ang="0">
                  <a:pos x="638" y="90"/>
                </a:cxn>
                <a:cxn ang="0">
                  <a:pos x="592" y="58"/>
                </a:cxn>
                <a:cxn ang="0">
                  <a:pos x="542" y="32"/>
                </a:cxn>
                <a:cxn ang="0">
                  <a:pos x="488" y="13"/>
                </a:cxn>
                <a:cxn ang="0">
                  <a:pos x="430" y="3"/>
                </a:cxn>
                <a:cxn ang="0">
                  <a:pos x="370" y="2"/>
                </a:cxn>
                <a:cxn ang="0">
                  <a:pos x="311" y="9"/>
                </a:cxn>
                <a:cxn ang="0">
                  <a:pos x="256" y="24"/>
                </a:cxn>
                <a:cxn ang="0">
                  <a:pos x="205" y="49"/>
                </a:cxn>
                <a:cxn ang="0">
                  <a:pos x="157" y="79"/>
                </a:cxn>
                <a:cxn ang="0">
                  <a:pos x="115" y="115"/>
                </a:cxn>
                <a:cxn ang="0">
                  <a:pos x="77" y="158"/>
                </a:cxn>
                <a:cxn ang="0">
                  <a:pos x="47" y="205"/>
                </a:cxn>
                <a:cxn ang="0">
                  <a:pos x="24" y="257"/>
                </a:cxn>
                <a:cxn ang="0">
                  <a:pos x="8" y="313"/>
                </a:cxn>
                <a:cxn ang="0">
                  <a:pos x="1" y="370"/>
                </a:cxn>
                <a:cxn ang="0">
                  <a:pos x="2" y="431"/>
                </a:cxn>
                <a:cxn ang="0">
                  <a:pos x="13" y="488"/>
                </a:cxn>
                <a:cxn ang="0">
                  <a:pos x="31" y="542"/>
                </a:cxn>
                <a:cxn ang="0">
                  <a:pos x="56" y="593"/>
                </a:cxn>
                <a:cxn ang="0">
                  <a:pos x="90" y="638"/>
                </a:cxn>
                <a:cxn ang="0">
                  <a:pos x="128" y="679"/>
                </a:cxn>
                <a:cxn ang="0">
                  <a:pos x="172" y="714"/>
                </a:cxn>
                <a:cxn ang="0">
                  <a:pos x="221" y="742"/>
                </a:cxn>
                <a:cxn ang="0">
                  <a:pos x="275" y="763"/>
                </a:cxn>
                <a:cxn ang="0">
                  <a:pos x="331" y="776"/>
                </a:cxn>
                <a:cxn ang="0">
                  <a:pos x="389" y="780"/>
                </a:cxn>
              </a:cxnLst>
              <a:rect l="0" t="0" r="r" b="b"/>
              <a:pathLst>
                <a:path w="780" h="780">
                  <a:moveTo>
                    <a:pt x="389" y="780"/>
                  </a:moveTo>
                  <a:lnTo>
                    <a:pt x="410" y="779"/>
                  </a:lnTo>
                  <a:lnTo>
                    <a:pt x="430" y="778"/>
                  </a:lnTo>
                  <a:lnTo>
                    <a:pt x="449" y="776"/>
                  </a:lnTo>
                  <a:lnTo>
                    <a:pt x="469" y="772"/>
                  </a:lnTo>
                  <a:lnTo>
                    <a:pt x="488" y="768"/>
                  </a:lnTo>
                  <a:lnTo>
                    <a:pt x="505" y="763"/>
                  </a:lnTo>
                  <a:lnTo>
                    <a:pt x="524" y="756"/>
                  </a:lnTo>
                  <a:lnTo>
                    <a:pt x="542" y="750"/>
                  </a:lnTo>
                  <a:lnTo>
                    <a:pt x="559" y="742"/>
                  </a:lnTo>
                  <a:lnTo>
                    <a:pt x="575" y="733"/>
                  </a:lnTo>
                  <a:lnTo>
                    <a:pt x="592" y="724"/>
                  </a:lnTo>
                  <a:lnTo>
                    <a:pt x="608" y="714"/>
                  </a:lnTo>
                  <a:lnTo>
                    <a:pt x="623" y="703"/>
                  </a:lnTo>
                  <a:lnTo>
                    <a:pt x="638" y="692"/>
                  </a:lnTo>
                  <a:lnTo>
                    <a:pt x="651" y="679"/>
                  </a:lnTo>
                  <a:lnTo>
                    <a:pt x="665" y="666"/>
                  </a:lnTo>
                  <a:lnTo>
                    <a:pt x="679" y="652"/>
                  </a:lnTo>
                  <a:lnTo>
                    <a:pt x="690" y="638"/>
                  </a:lnTo>
                  <a:lnTo>
                    <a:pt x="702" y="624"/>
                  </a:lnTo>
                  <a:lnTo>
                    <a:pt x="713" y="608"/>
                  </a:lnTo>
                  <a:lnTo>
                    <a:pt x="723" y="593"/>
                  </a:lnTo>
                  <a:lnTo>
                    <a:pt x="733" y="576"/>
                  </a:lnTo>
                  <a:lnTo>
                    <a:pt x="741" y="559"/>
                  </a:lnTo>
                  <a:lnTo>
                    <a:pt x="749" y="542"/>
                  </a:lnTo>
                  <a:lnTo>
                    <a:pt x="756" y="525"/>
                  </a:lnTo>
                  <a:lnTo>
                    <a:pt x="762" y="506"/>
                  </a:lnTo>
                  <a:lnTo>
                    <a:pt x="767" y="488"/>
                  </a:lnTo>
                  <a:lnTo>
                    <a:pt x="771" y="469"/>
                  </a:lnTo>
                  <a:lnTo>
                    <a:pt x="775" y="449"/>
                  </a:lnTo>
                  <a:lnTo>
                    <a:pt x="778" y="431"/>
                  </a:lnTo>
                  <a:lnTo>
                    <a:pt x="779" y="411"/>
                  </a:lnTo>
                  <a:lnTo>
                    <a:pt x="780" y="391"/>
                  </a:lnTo>
                  <a:lnTo>
                    <a:pt x="779" y="370"/>
                  </a:lnTo>
                  <a:lnTo>
                    <a:pt x="778" y="351"/>
                  </a:lnTo>
                  <a:lnTo>
                    <a:pt x="775" y="331"/>
                  </a:lnTo>
                  <a:lnTo>
                    <a:pt x="771" y="313"/>
                  </a:lnTo>
                  <a:lnTo>
                    <a:pt x="767" y="294"/>
                  </a:lnTo>
                  <a:lnTo>
                    <a:pt x="762" y="275"/>
                  </a:lnTo>
                  <a:lnTo>
                    <a:pt x="756" y="257"/>
                  </a:lnTo>
                  <a:lnTo>
                    <a:pt x="749" y="240"/>
                  </a:lnTo>
                  <a:lnTo>
                    <a:pt x="741" y="222"/>
                  </a:lnTo>
                  <a:lnTo>
                    <a:pt x="733" y="205"/>
                  </a:lnTo>
                  <a:lnTo>
                    <a:pt x="723" y="188"/>
                  </a:lnTo>
                  <a:lnTo>
                    <a:pt x="713" y="173"/>
                  </a:lnTo>
                  <a:lnTo>
                    <a:pt x="702" y="158"/>
                  </a:lnTo>
                  <a:lnTo>
                    <a:pt x="690" y="142"/>
                  </a:lnTo>
                  <a:lnTo>
                    <a:pt x="679" y="129"/>
                  </a:lnTo>
                  <a:lnTo>
                    <a:pt x="665" y="115"/>
                  </a:lnTo>
                  <a:lnTo>
                    <a:pt x="651" y="103"/>
                  </a:lnTo>
                  <a:lnTo>
                    <a:pt x="638" y="90"/>
                  </a:lnTo>
                  <a:lnTo>
                    <a:pt x="623" y="79"/>
                  </a:lnTo>
                  <a:lnTo>
                    <a:pt x="608" y="67"/>
                  </a:lnTo>
                  <a:lnTo>
                    <a:pt x="592" y="58"/>
                  </a:lnTo>
                  <a:lnTo>
                    <a:pt x="575" y="49"/>
                  </a:lnTo>
                  <a:lnTo>
                    <a:pt x="559" y="39"/>
                  </a:lnTo>
                  <a:lnTo>
                    <a:pt x="542" y="32"/>
                  </a:lnTo>
                  <a:lnTo>
                    <a:pt x="524" y="24"/>
                  </a:lnTo>
                  <a:lnTo>
                    <a:pt x="505" y="18"/>
                  </a:lnTo>
                  <a:lnTo>
                    <a:pt x="488" y="13"/>
                  </a:lnTo>
                  <a:lnTo>
                    <a:pt x="469" y="9"/>
                  </a:lnTo>
                  <a:lnTo>
                    <a:pt x="449" y="6"/>
                  </a:lnTo>
                  <a:lnTo>
                    <a:pt x="430" y="3"/>
                  </a:lnTo>
                  <a:lnTo>
                    <a:pt x="410" y="2"/>
                  </a:lnTo>
                  <a:lnTo>
                    <a:pt x="389" y="0"/>
                  </a:lnTo>
                  <a:lnTo>
                    <a:pt x="370" y="2"/>
                  </a:lnTo>
                  <a:lnTo>
                    <a:pt x="350" y="3"/>
                  </a:lnTo>
                  <a:lnTo>
                    <a:pt x="331" y="6"/>
                  </a:lnTo>
                  <a:lnTo>
                    <a:pt x="311" y="9"/>
                  </a:lnTo>
                  <a:lnTo>
                    <a:pt x="292" y="13"/>
                  </a:lnTo>
                  <a:lnTo>
                    <a:pt x="275" y="18"/>
                  </a:lnTo>
                  <a:lnTo>
                    <a:pt x="256" y="24"/>
                  </a:lnTo>
                  <a:lnTo>
                    <a:pt x="238" y="32"/>
                  </a:lnTo>
                  <a:lnTo>
                    <a:pt x="221" y="39"/>
                  </a:lnTo>
                  <a:lnTo>
                    <a:pt x="205" y="49"/>
                  </a:lnTo>
                  <a:lnTo>
                    <a:pt x="188" y="58"/>
                  </a:lnTo>
                  <a:lnTo>
                    <a:pt x="172" y="67"/>
                  </a:lnTo>
                  <a:lnTo>
                    <a:pt x="157" y="79"/>
                  </a:lnTo>
                  <a:lnTo>
                    <a:pt x="142" y="90"/>
                  </a:lnTo>
                  <a:lnTo>
                    <a:pt x="128" y="103"/>
                  </a:lnTo>
                  <a:lnTo>
                    <a:pt x="115" y="115"/>
                  </a:lnTo>
                  <a:lnTo>
                    <a:pt x="101" y="129"/>
                  </a:lnTo>
                  <a:lnTo>
                    <a:pt x="90" y="142"/>
                  </a:lnTo>
                  <a:lnTo>
                    <a:pt x="77" y="158"/>
                  </a:lnTo>
                  <a:lnTo>
                    <a:pt x="67" y="173"/>
                  </a:lnTo>
                  <a:lnTo>
                    <a:pt x="56" y="188"/>
                  </a:lnTo>
                  <a:lnTo>
                    <a:pt x="47" y="205"/>
                  </a:lnTo>
                  <a:lnTo>
                    <a:pt x="39" y="222"/>
                  </a:lnTo>
                  <a:lnTo>
                    <a:pt x="31" y="240"/>
                  </a:lnTo>
                  <a:lnTo>
                    <a:pt x="24" y="257"/>
                  </a:lnTo>
                  <a:lnTo>
                    <a:pt x="18" y="275"/>
                  </a:lnTo>
                  <a:lnTo>
                    <a:pt x="13" y="294"/>
                  </a:lnTo>
                  <a:lnTo>
                    <a:pt x="8" y="313"/>
                  </a:lnTo>
                  <a:lnTo>
                    <a:pt x="4" y="331"/>
                  </a:lnTo>
                  <a:lnTo>
                    <a:pt x="2" y="351"/>
                  </a:lnTo>
                  <a:lnTo>
                    <a:pt x="1" y="370"/>
                  </a:lnTo>
                  <a:lnTo>
                    <a:pt x="0" y="391"/>
                  </a:lnTo>
                  <a:lnTo>
                    <a:pt x="1" y="411"/>
                  </a:lnTo>
                  <a:lnTo>
                    <a:pt x="2" y="431"/>
                  </a:lnTo>
                  <a:lnTo>
                    <a:pt x="4" y="449"/>
                  </a:lnTo>
                  <a:lnTo>
                    <a:pt x="8" y="469"/>
                  </a:lnTo>
                  <a:lnTo>
                    <a:pt x="13" y="488"/>
                  </a:lnTo>
                  <a:lnTo>
                    <a:pt x="18" y="506"/>
                  </a:lnTo>
                  <a:lnTo>
                    <a:pt x="24" y="525"/>
                  </a:lnTo>
                  <a:lnTo>
                    <a:pt x="31" y="542"/>
                  </a:lnTo>
                  <a:lnTo>
                    <a:pt x="39" y="559"/>
                  </a:lnTo>
                  <a:lnTo>
                    <a:pt x="47" y="576"/>
                  </a:lnTo>
                  <a:lnTo>
                    <a:pt x="56" y="593"/>
                  </a:lnTo>
                  <a:lnTo>
                    <a:pt x="67" y="608"/>
                  </a:lnTo>
                  <a:lnTo>
                    <a:pt x="77" y="624"/>
                  </a:lnTo>
                  <a:lnTo>
                    <a:pt x="90" y="638"/>
                  </a:lnTo>
                  <a:lnTo>
                    <a:pt x="101" y="652"/>
                  </a:lnTo>
                  <a:lnTo>
                    <a:pt x="115" y="666"/>
                  </a:lnTo>
                  <a:lnTo>
                    <a:pt x="128" y="679"/>
                  </a:lnTo>
                  <a:lnTo>
                    <a:pt x="142" y="692"/>
                  </a:lnTo>
                  <a:lnTo>
                    <a:pt x="157" y="703"/>
                  </a:lnTo>
                  <a:lnTo>
                    <a:pt x="172" y="714"/>
                  </a:lnTo>
                  <a:lnTo>
                    <a:pt x="188" y="724"/>
                  </a:lnTo>
                  <a:lnTo>
                    <a:pt x="205" y="733"/>
                  </a:lnTo>
                  <a:lnTo>
                    <a:pt x="221" y="742"/>
                  </a:lnTo>
                  <a:lnTo>
                    <a:pt x="238" y="750"/>
                  </a:lnTo>
                  <a:lnTo>
                    <a:pt x="256" y="756"/>
                  </a:lnTo>
                  <a:lnTo>
                    <a:pt x="275" y="763"/>
                  </a:lnTo>
                  <a:lnTo>
                    <a:pt x="292" y="768"/>
                  </a:lnTo>
                  <a:lnTo>
                    <a:pt x="311" y="772"/>
                  </a:lnTo>
                  <a:lnTo>
                    <a:pt x="331" y="776"/>
                  </a:lnTo>
                  <a:lnTo>
                    <a:pt x="350" y="778"/>
                  </a:lnTo>
                  <a:lnTo>
                    <a:pt x="370" y="779"/>
                  </a:lnTo>
                  <a:lnTo>
                    <a:pt x="389" y="780"/>
                  </a:lnTo>
                  <a:close/>
                </a:path>
              </a:pathLst>
            </a:custGeom>
            <a:solidFill>
              <a:srgbClr val="F5C592"/>
            </a:solidFill>
            <a:ln w="9525">
              <a:noFill/>
              <a:round/>
              <a:headEnd/>
              <a:tailEnd/>
            </a:ln>
          </p:spPr>
          <p:txBody>
            <a:bodyPr/>
            <a:lstStyle/>
            <a:p>
              <a:endParaRPr lang="en-GB"/>
            </a:p>
          </p:txBody>
        </p:sp>
        <p:sp>
          <p:nvSpPr>
            <p:cNvPr id="173077" name="Freeform 21"/>
            <p:cNvSpPr>
              <a:spLocks/>
            </p:cNvSpPr>
            <p:nvPr/>
          </p:nvSpPr>
          <p:spPr bwMode="auto">
            <a:xfrm>
              <a:off x="2251" y="2884"/>
              <a:ext cx="195" cy="195"/>
            </a:xfrm>
            <a:custGeom>
              <a:avLst/>
              <a:gdLst/>
              <a:ahLst/>
              <a:cxnLst>
                <a:cxn ang="0">
                  <a:pos x="430" y="778"/>
                </a:cxn>
                <a:cxn ang="0">
                  <a:pos x="488" y="768"/>
                </a:cxn>
                <a:cxn ang="0">
                  <a:pos x="542" y="750"/>
                </a:cxn>
                <a:cxn ang="0">
                  <a:pos x="592" y="724"/>
                </a:cxn>
                <a:cxn ang="0">
                  <a:pos x="638" y="692"/>
                </a:cxn>
                <a:cxn ang="0">
                  <a:pos x="679" y="652"/>
                </a:cxn>
                <a:cxn ang="0">
                  <a:pos x="713" y="608"/>
                </a:cxn>
                <a:cxn ang="0">
                  <a:pos x="741" y="559"/>
                </a:cxn>
                <a:cxn ang="0">
                  <a:pos x="762" y="506"/>
                </a:cxn>
                <a:cxn ang="0">
                  <a:pos x="775" y="449"/>
                </a:cxn>
                <a:cxn ang="0">
                  <a:pos x="780" y="391"/>
                </a:cxn>
                <a:cxn ang="0">
                  <a:pos x="775" y="331"/>
                </a:cxn>
                <a:cxn ang="0">
                  <a:pos x="762" y="275"/>
                </a:cxn>
                <a:cxn ang="0">
                  <a:pos x="741" y="222"/>
                </a:cxn>
                <a:cxn ang="0">
                  <a:pos x="713" y="173"/>
                </a:cxn>
                <a:cxn ang="0">
                  <a:pos x="679" y="129"/>
                </a:cxn>
                <a:cxn ang="0">
                  <a:pos x="638" y="90"/>
                </a:cxn>
                <a:cxn ang="0">
                  <a:pos x="592" y="58"/>
                </a:cxn>
                <a:cxn ang="0">
                  <a:pos x="542" y="32"/>
                </a:cxn>
                <a:cxn ang="0">
                  <a:pos x="488" y="13"/>
                </a:cxn>
                <a:cxn ang="0">
                  <a:pos x="430" y="3"/>
                </a:cxn>
                <a:cxn ang="0">
                  <a:pos x="370" y="2"/>
                </a:cxn>
                <a:cxn ang="0">
                  <a:pos x="311" y="9"/>
                </a:cxn>
                <a:cxn ang="0">
                  <a:pos x="256" y="24"/>
                </a:cxn>
                <a:cxn ang="0">
                  <a:pos x="205" y="49"/>
                </a:cxn>
                <a:cxn ang="0">
                  <a:pos x="157" y="79"/>
                </a:cxn>
                <a:cxn ang="0">
                  <a:pos x="115" y="115"/>
                </a:cxn>
                <a:cxn ang="0">
                  <a:pos x="77" y="158"/>
                </a:cxn>
                <a:cxn ang="0">
                  <a:pos x="47" y="205"/>
                </a:cxn>
                <a:cxn ang="0">
                  <a:pos x="24" y="257"/>
                </a:cxn>
                <a:cxn ang="0">
                  <a:pos x="8" y="313"/>
                </a:cxn>
                <a:cxn ang="0">
                  <a:pos x="1" y="370"/>
                </a:cxn>
                <a:cxn ang="0">
                  <a:pos x="2" y="431"/>
                </a:cxn>
                <a:cxn ang="0">
                  <a:pos x="13" y="488"/>
                </a:cxn>
                <a:cxn ang="0">
                  <a:pos x="31" y="542"/>
                </a:cxn>
                <a:cxn ang="0">
                  <a:pos x="56" y="593"/>
                </a:cxn>
                <a:cxn ang="0">
                  <a:pos x="90" y="638"/>
                </a:cxn>
                <a:cxn ang="0">
                  <a:pos x="128" y="679"/>
                </a:cxn>
                <a:cxn ang="0">
                  <a:pos x="172" y="714"/>
                </a:cxn>
                <a:cxn ang="0">
                  <a:pos x="221" y="742"/>
                </a:cxn>
                <a:cxn ang="0">
                  <a:pos x="275" y="763"/>
                </a:cxn>
                <a:cxn ang="0">
                  <a:pos x="331" y="776"/>
                </a:cxn>
                <a:cxn ang="0">
                  <a:pos x="389" y="780"/>
                </a:cxn>
              </a:cxnLst>
              <a:rect l="0" t="0" r="r" b="b"/>
              <a:pathLst>
                <a:path w="780" h="780">
                  <a:moveTo>
                    <a:pt x="389" y="780"/>
                  </a:moveTo>
                  <a:lnTo>
                    <a:pt x="410" y="779"/>
                  </a:lnTo>
                  <a:lnTo>
                    <a:pt x="430" y="778"/>
                  </a:lnTo>
                  <a:lnTo>
                    <a:pt x="449" y="776"/>
                  </a:lnTo>
                  <a:lnTo>
                    <a:pt x="469" y="772"/>
                  </a:lnTo>
                  <a:lnTo>
                    <a:pt x="488" y="768"/>
                  </a:lnTo>
                  <a:lnTo>
                    <a:pt x="505" y="763"/>
                  </a:lnTo>
                  <a:lnTo>
                    <a:pt x="524" y="756"/>
                  </a:lnTo>
                  <a:lnTo>
                    <a:pt x="542" y="750"/>
                  </a:lnTo>
                  <a:lnTo>
                    <a:pt x="559" y="742"/>
                  </a:lnTo>
                  <a:lnTo>
                    <a:pt x="575" y="733"/>
                  </a:lnTo>
                  <a:lnTo>
                    <a:pt x="592" y="724"/>
                  </a:lnTo>
                  <a:lnTo>
                    <a:pt x="608" y="714"/>
                  </a:lnTo>
                  <a:lnTo>
                    <a:pt x="623" y="703"/>
                  </a:lnTo>
                  <a:lnTo>
                    <a:pt x="638" y="692"/>
                  </a:lnTo>
                  <a:lnTo>
                    <a:pt x="651" y="679"/>
                  </a:lnTo>
                  <a:lnTo>
                    <a:pt x="665" y="666"/>
                  </a:lnTo>
                  <a:lnTo>
                    <a:pt x="679" y="652"/>
                  </a:lnTo>
                  <a:lnTo>
                    <a:pt x="690" y="638"/>
                  </a:lnTo>
                  <a:lnTo>
                    <a:pt x="702" y="624"/>
                  </a:lnTo>
                  <a:lnTo>
                    <a:pt x="713" y="608"/>
                  </a:lnTo>
                  <a:lnTo>
                    <a:pt x="723" y="593"/>
                  </a:lnTo>
                  <a:lnTo>
                    <a:pt x="733" y="576"/>
                  </a:lnTo>
                  <a:lnTo>
                    <a:pt x="741" y="559"/>
                  </a:lnTo>
                  <a:lnTo>
                    <a:pt x="749" y="542"/>
                  </a:lnTo>
                  <a:lnTo>
                    <a:pt x="756" y="525"/>
                  </a:lnTo>
                  <a:lnTo>
                    <a:pt x="762" y="506"/>
                  </a:lnTo>
                  <a:lnTo>
                    <a:pt x="767" y="488"/>
                  </a:lnTo>
                  <a:lnTo>
                    <a:pt x="771" y="469"/>
                  </a:lnTo>
                  <a:lnTo>
                    <a:pt x="775" y="449"/>
                  </a:lnTo>
                  <a:lnTo>
                    <a:pt x="778" y="431"/>
                  </a:lnTo>
                  <a:lnTo>
                    <a:pt x="779" y="411"/>
                  </a:lnTo>
                  <a:lnTo>
                    <a:pt x="780" y="391"/>
                  </a:lnTo>
                  <a:lnTo>
                    <a:pt x="779" y="370"/>
                  </a:lnTo>
                  <a:lnTo>
                    <a:pt x="778" y="351"/>
                  </a:lnTo>
                  <a:lnTo>
                    <a:pt x="775" y="331"/>
                  </a:lnTo>
                  <a:lnTo>
                    <a:pt x="771" y="313"/>
                  </a:lnTo>
                  <a:lnTo>
                    <a:pt x="767" y="294"/>
                  </a:lnTo>
                  <a:lnTo>
                    <a:pt x="762" y="275"/>
                  </a:lnTo>
                  <a:lnTo>
                    <a:pt x="756" y="257"/>
                  </a:lnTo>
                  <a:lnTo>
                    <a:pt x="749" y="240"/>
                  </a:lnTo>
                  <a:lnTo>
                    <a:pt x="741" y="222"/>
                  </a:lnTo>
                  <a:lnTo>
                    <a:pt x="733" y="205"/>
                  </a:lnTo>
                  <a:lnTo>
                    <a:pt x="723" y="188"/>
                  </a:lnTo>
                  <a:lnTo>
                    <a:pt x="713" y="173"/>
                  </a:lnTo>
                  <a:lnTo>
                    <a:pt x="702" y="158"/>
                  </a:lnTo>
                  <a:lnTo>
                    <a:pt x="690" y="142"/>
                  </a:lnTo>
                  <a:lnTo>
                    <a:pt x="679" y="129"/>
                  </a:lnTo>
                  <a:lnTo>
                    <a:pt x="665" y="115"/>
                  </a:lnTo>
                  <a:lnTo>
                    <a:pt x="651" y="103"/>
                  </a:lnTo>
                  <a:lnTo>
                    <a:pt x="638" y="90"/>
                  </a:lnTo>
                  <a:lnTo>
                    <a:pt x="623" y="79"/>
                  </a:lnTo>
                  <a:lnTo>
                    <a:pt x="608" y="67"/>
                  </a:lnTo>
                  <a:lnTo>
                    <a:pt x="592" y="58"/>
                  </a:lnTo>
                  <a:lnTo>
                    <a:pt x="575" y="49"/>
                  </a:lnTo>
                  <a:lnTo>
                    <a:pt x="559" y="39"/>
                  </a:lnTo>
                  <a:lnTo>
                    <a:pt x="542" y="32"/>
                  </a:lnTo>
                  <a:lnTo>
                    <a:pt x="524" y="24"/>
                  </a:lnTo>
                  <a:lnTo>
                    <a:pt x="505" y="18"/>
                  </a:lnTo>
                  <a:lnTo>
                    <a:pt x="488" y="13"/>
                  </a:lnTo>
                  <a:lnTo>
                    <a:pt x="469" y="9"/>
                  </a:lnTo>
                  <a:lnTo>
                    <a:pt x="449" y="6"/>
                  </a:lnTo>
                  <a:lnTo>
                    <a:pt x="430" y="3"/>
                  </a:lnTo>
                  <a:lnTo>
                    <a:pt x="410" y="2"/>
                  </a:lnTo>
                  <a:lnTo>
                    <a:pt x="389" y="0"/>
                  </a:lnTo>
                  <a:lnTo>
                    <a:pt x="370" y="2"/>
                  </a:lnTo>
                  <a:lnTo>
                    <a:pt x="350" y="3"/>
                  </a:lnTo>
                  <a:lnTo>
                    <a:pt x="331" y="6"/>
                  </a:lnTo>
                  <a:lnTo>
                    <a:pt x="311" y="9"/>
                  </a:lnTo>
                  <a:lnTo>
                    <a:pt x="292" y="13"/>
                  </a:lnTo>
                  <a:lnTo>
                    <a:pt x="275" y="18"/>
                  </a:lnTo>
                  <a:lnTo>
                    <a:pt x="256" y="24"/>
                  </a:lnTo>
                  <a:lnTo>
                    <a:pt x="238" y="32"/>
                  </a:lnTo>
                  <a:lnTo>
                    <a:pt x="221" y="39"/>
                  </a:lnTo>
                  <a:lnTo>
                    <a:pt x="205" y="49"/>
                  </a:lnTo>
                  <a:lnTo>
                    <a:pt x="188" y="58"/>
                  </a:lnTo>
                  <a:lnTo>
                    <a:pt x="172" y="67"/>
                  </a:lnTo>
                  <a:lnTo>
                    <a:pt x="157" y="79"/>
                  </a:lnTo>
                  <a:lnTo>
                    <a:pt x="142" y="90"/>
                  </a:lnTo>
                  <a:lnTo>
                    <a:pt x="128" y="103"/>
                  </a:lnTo>
                  <a:lnTo>
                    <a:pt x="115" y="115"/>
                  </a:lnTo>
                  <a:lnTo>
                    <a:pt x="101" y="129"/>
                  </a:lnTo>
                  <a:lnTo>
                    <a:pt x="90" y="142"/>
                  </a:lnTo>
                  <a:lnTo>
                    <a:pt x="77" y="158"/>
                  </a:lnTo>
                  <a:lnTo>
                    <a:pt x="67" y="173"/>
                  </a:lnTo>
                  <a:lnTo>
                    <a:pt x="56" y="188"/>
                  </a:lnTo>
                  <a:lnTo>
                    <a:pt x="47" y="205"/>
                  </a:lnTo>
                  <a:lnTo>
                    <a:pt x="39" y="222"/>
                  </a:lnTo>
                  <a:lnTo>
                    <a:pt x="31" y="240"/>
                  </a:lnTo>
                  <a:lnTo>
                    <a:pt x="24" y="257"/>
                  </a:lnTo>
                  <a:lnTo>
                    <a:pt x="18" y="275"/>
                  </a:lnTo>
                  <a:lnTo>
                    <a:pt x="13" y="294"/>
                  </a:lnTo>
                  <a:lnTo>
                    <a:pt x="8" y="313"/>
                  </a:lnTo>
                  <a:lnTo>
                    <a:pt x="4" y="331"/>
                  </a:lnTo>
                  <a:lnTo>
                    <a:pt x="2" y="351"/>
                  </a:lnTo>
                  <a:lnTo>
                    <a:pt x="1" y="370"/>
                  </a:lnTo>
                  <a:lnTo>
                    <a:pt x="0" y="391"/>
                  </a:lnTo>
                  <a:lnTo>
                    <a:pt x="1" y="411"/>
                  </a:lnTo>
                  <a:lnTo>
                    <a:pt x="2" y="431"/>
                  </a:lnTo>
                  <a:lnTo>
                    <a:pt x="4" y="449"/>
                  </a:lnTo>
                  <a:lnTo>
                    <a:pt x="8" y="469"/>
                  </a:lnTo>
                  <a:lnTo>
                    <a:pt x="13" y="488"/>
                  </a:lnTo>
                  <a:lnTo>
                    <a:pt x="18" y="506"/>
                  </a:lnTo>
                  <a:lnTo>
                    <a:pt x="24" y="525"/>
                  </a:lnTo>
                  <a:lnTo>
                    <a:pt x="31" y="542"/>
                  </a:lnTo>
                  <a:lnTo>
                    <a:pt x="39" y="559"/>
                  </a:lnTo>
                  <a:lnTo>
                    <a:pt x="47" y="576"/>
                  </a:lnTo>
                  <a:lnTo>
                    <a:pt x="56" y="593"/>
                  </a:lnTo>
                  <a:lnTo>
                    <a:pt x="67" y="608"/>
                  </a:lnTo>
                  <a:lnTo>
                    <a:pt x="77" y="624"/>
                  </a:lnTo>
                  <a:lnTo>
                    <a:pt x="90" y="638"/>
                  </a:lnTo>
                  <a:lnTo>
                    <a:pt x="101" y="652"/>
                  </a:lnTo>
                  <a:lnTo>
                    <a:pt x="115" y="666"/>
                  </a:lnTo>
                  <a:lnTo>
                    <a:pt x="128" y="679"/>
                  </a:lnTo>
                  <a:lnTo>
                    <a:pt x="142" y="692"/>
                  </a:lnTo>
                  <a:lnTo>
                    <a:pt x="157" y="703"/>
                  </a:lnTo>
                  <a:lnTo>
                    <a:pt x="172" y="714"/>
                  </a:lnTo>
                  <a:lnTo>
                    <a:pt x="188" y="724"/>
                  </a:lnTo>
                  <a:lnTo>
                    <a:pt x="205" y="733"/>
                  </a:lnTo>
                  <a:lnTo>
                    <a:pt x="221" y="742"/>
                  </a:lnTo>
                  <a:lnTo>
                    <a:pt x="238" y="750"/>
                  </a:lnTo>
                  <a:lnTo>
                    <a:pt x="256" y="756"/>
                  </a:lnTo>
                  <a:lnTo>
                    <a:pt x="275" y="763"/>
                  </a:lnTo>
                  <a:lnTo>
                    <a:pt x="292" y="768"/>
                  </a:lnTo>
                  <a:lnTo>
                    <a:pt x="311" y="772"/>
                  </a:lnTo>
                  <a:lnTo>
                    <a:pt x="331" y="776"/>
                  </a:lnTo>
                  <a:lnTo>
                    <a:pt x="350" y="778"/>
                  </a:lnTo>
                  <a:lnTo>
                    <a:pt x="370" y="779"/>
                  </a:lnTo>
                  <a:lnTo>
                    <a:pt x="389" y="780"/>
                  </a:lnTo>
                </a:path>
              </a:pathLst>
            </a:custGeom>
            <a:noFill/>
            <a:ln w="14288">
              <a:solidFill>
                <a:srgbClr val="1F1A17"/>
              </a:solidFill>
              <a:prstDash val="solid"/>
              <a:round/>
              <a:headEnd/>
              <a:tailEnd/>
            </a:ln>
          </p:spPr>
          <p:txBody>
            <a:bodyPr/>
            <a:lstStyle/>
            <a:p>
              <a:endParaRPr lang="en-GB"/>
            </a:p>
          </p:txBody>
        </p:sp>
        <p:sp>
          <p:nvSpPr>
            <p:cNvPr id="173078" name="Freeform 22"/>
            <p:cNvSpPr>
              <a:spLocks/>
            </p:cNvSpPr>
            <p:nvPr/>
          </p:nvSpPr>
          <p:spPr bwMode="auto">
            <a:xfrm>
              <a:off x="2119" y="3123"/>
              <a:ext cx="381" cy="299"/>
            </a:xfrm>
            <a:custGeom>
              <a:avLst/>
              <a:gdLst/>
              <a:ahLst/>
              <a:cxnLst>
                <a:cxn ang="0">
                  <a:pos x="387" y="0"/>
                </a:cxn>
                <a:cxn ang="0">
                  <a:pos x="1525" y="0"/>
                </a:cxn>
                <a:cxn ang="0">
                  <a:pos x="1141" y="1196"/>
                </a:cxn>
                <a:cxn ang="0">
                  <a:pos x="0" y="1196"/>
                </a:cxn>
                <a:cxn ang="0">
                  <a:pos x="387" y="0"/>
                </a:cxn>
              </a:cxnLst>
              <a:rect l="0" t="0" r="r" b="b"/>
              <a:pathLst>
                <a:path w="1525" h="1196">
                  <a:moveTo>
                    <a:pt x="387" y="0"/>
                  </a:moveTo>
                  <a:lnTo>
                    <a:pt x="1525" y="0"/>
                  </a:lnTo>
                  <a:lnTo>
                    <a:pt x="1141" y="1196"/>
                  </a:lnTo>
                  <a:lnTo>
                    <a:pt x="0" y="1196"/>
                  </a:lnTo>
                  <a:lnTo>
                    <a:pt x="387" y="0"/>
                  </a:lnTo>
                  <a:close/>
                </a:path>
              </a:pathLst>
            </a:custGeom>
            <a:solidFill>
              <a:srgbClr val="F5C592"/>
            </a:solidFill>
            <a:ln w="9525">
              <a:noFill/>
              <a:round/>
              <a:headEnd/>
              <a:tailEnd/>
            </a:ln>
          </p:spPr>
          <p:txBody>
            <a:bodyPr/>
            <a:lstStyle/>
            <a:p>
              <a:endParaRPr lang="en-GB"/>
            </a:p>
          </p:txBody>
        </p:sp>
        <p:sp>
          <p:nvSpPr>
            <p:cNvPr id="173079" name="Freeform 23"/>
            <p:cNvSpPr>
              <a:spLocks/>
            </p:cNvSpPr>
            <p:nvPr/>
          </p:nvSpPr>
          <p:spPr bwMode="auto">
            <a:xfrm>
              <a:off x="2119" y="3123"/>
              <a:ext cx="381" cy="299"/>
            </a:xfrm>
            <a:custGeom>
              <a:avLst/>
              <a:gdLst/>
              <a:ahLst/>
              <a:cxnLst>
                <a:cxn ang="0">
                  <a:pos x="387" y="0"/>
                </a:cxn>
                <a:cxn ang="0">
                  <a:pos x="1525" y="0"/>
                </a:cxn>
                <a:cxn ang="0">
                  <a:pos x="1141" y="1196"/>
                </a:cxn>
                <a:cxn ang="0">
                  <a:pos x="0" y="1196"/>
                </a:cxn>
                <a:cxn ang="0">
                  <a:pos x="387" y="0"/>
                </a:cxn>
              </a:cxnLst>
              <a:rect l="0" t="0" r="r" b="b"/>
              <a:pathLst>
                <a:path w="1525" h="1196">
                  <a:moveTo>
                    <a:pt x="387" y="0"/>
                  </a:moveTo>
                  <a:lnTo>
                    <a:pt x="1525" y="0"/>
                  </a:lnTo>
                  <a:lnTo>
                    <a:pt x="1141" y="1196"/>
                  </a:lnTo>
                  <a:lnTo>
                    <a:pt x="0" y="1196"/>
                  </a:lnTo>
                  <a:lnTo>
                    <a:pt x="387" y="0"/>
                  </a:lnTo>
                  <a:close/>
                </a:path>
              </a:pathLst>
            </a:custGeom>
            <a:noFill/>
            <a:ln w="14288">
              <a:solidFill>
                <a:srgbClr val="1F1A17"/>
              </a:solidFill>
              <a:prstDash val="solid"/>
              <a:round/>
              <a:headEnd/>
              <a:tailEnd/>
            </a:ln>
          </p:spPr>
          <p:txBody>
            <a:bodyPr/>
            <a:lstStyle/>
            <a:p>
              <a:endParaRPr lang="en-GB"/>
            </a:p>
          </p:txBody>
        </p:sp>
      </p:grpSp>
      <p:grpSp>
        <p:nvGrpSpPr>
          <p:cNvPr id="4" name="Group 24"/>
          <p:cNvGrpSpPr>
            <a:grpSpLocks/>
          </p:cNvGrpSpPr>
          <p:nvPr/>
        </p:nvGrpSpPr>
        <p:grpSpPr bwMode="auto">
          <a:xfrm>
            <a:off x="4648200" y="5486400"/>
            <a:ext cx="1271588" cy="893763"/>
            <a:chOff x="1668" y="2763"/>
            <a:chExt cx="801" cy="563"/>
          </a:xfrm>
        </p:grpSpPr>
        <p:sp>
          <p:nvSpPr>
            <p:cNvPr id="173081" name="Rectangle 25"/>
            <p:cNvSpPr>
              <a:spLocks noChangeArrowheads="1"/>
            </p:cNvSpPr>
            <p:nvPr/>
          </p:nvSpPr>
          <p:spPr bwMode="auto">
            <a:xfrm>
              <a:off x="1862" y="3050"/>
              <a:ext cx="414" cy="144"/>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Review</a:t>
              </a:r>
              <a:endParaRPr lang="en-CA" sz="1200" b="1">
                <a:solidFill>
                  <a:schemeClr val="bg2"/>
                </a:solidFill>
              </a:endParaRPr>
            </a:p>
          </p:txBody>
        </p:sp>
        <p:sp>
          <p:nvSpPr>
            <p:cNvPr id="173082" name="Rectangle 26"/>
            <p:cNvSpPr>
              <a:spLocks noChangeArrowheads="1"/>
            </p:cNvSpPr>
            <p:nvPr/>
          </p:nvSpPr>
          <p:spPr bwMode="auto">
            <a:xfrm>
              <a:off x="1668" y="3182"/>
              <a:ext cx="801" cy="144"/>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Requirements</a:t>
              </a:r>
              <a:endParaRPr lang="en-CA" sz="1200" b="1">
                <a:solidFill>
                  <a:schemeClr val="bg2"/>
                </a:solidFill>
              </a:endParaRPr>
            </a:p>
          </p:txBody>
        </p:sp>
        <p:sp>
          <p:nvSpPr>
            <p:cNvPr id="173083" name="Freeform 27"/>
            <p:cNvSpPr>
              <a:spLocks/>
            </p:cNvSpPr>
            <p:nvPr/>
          </p:nvSpPr>
          <p:spPr bwMode="auto">
            <a:xfrm>
              <a:off x="1886" y="2786"/>
              <a:ext cx="406" cy="255"/>
            </a:xfrm>
            <a:custGeom>
              <a:avLst/>
              <a:gdLst/>
              <a:ahLst/>
              <a:cxnLst>
                <a:cxn ang="0">
                  <a:pos x="0" y="0"/>
                </a:cxn>
                <a:cxn ang="0">
                  <a:pos x="1114" y="0"/>
                </a:cxn>
                <a:cxn ang="0">
                  <a:pos x="1627" y="507"/>
                </a:cxn>
                <a:cxn ang="0">
                  <a:pos x="1114" y="1019"/>
                </a:cxn>
                <a:cxn ang="0">
                  <a:pos x="1" y="1019"/>
                </a:cxn>
                <a:cxn ang="0">
                  <a:pos x="0" y="0"/>
                </a:cxn>
              </a:cxnLst>
              <a:rect l="0" t="0" r="r" b="b"/>
              <a:pathLst>
                <a:path w="1627" h="1019">
                  <a:moveTo>
                    <a:pt x="0" y="0"/>
                  </a:moveTo>
                  <a:lnTo>
                    <a:pt x="1114" y="0"/>
                  </a:lnTo>
                  <a:lnTo>
                    <a:pt x="1627" y="507"/>
                  </a:lnTo>
                  <a:lnTo>
                    <a:pt x="1114" y="1019"/>
                  </a:lnTo>
                  <a:lnTo>
                    <a:pt x="1" y="1019"/>
                  </a:lnTo>
                  <a:lnTo>
                    <a:pt x="0" y="0"/>
                  </a:lnTo>
                  <a:close/>
                </a:path>
              </a:pathLst>
            </a:custGeom>
            <a:solidFill>
              <a:srgbClr val="C3C3C2"/>
            </a:solidFill>
            <a:ln w="9525">
              <a:noFill/>
              <a:round/>
              <a:headEnd/>
              <a:tailEnd/>
            </a:ln>
          </p:spPr>
          <p:txBody>
            <a:bodyPr/>
            <a:lstStyle/>
            <a:p>
              <a:endParaRPr lang="en-GB"/>
            </a:p>
          </p:txBody>
        </p:sp>
        <p:sp>
          <p:nvSpPr>
            <p:cNvPr id="173084" name="Freeform 28"/>
            <p:cNvSpPr>
              <a:spLocks/>
            </p:cNvSpPr>
            <p:nvPr/>
          </p:nvSpPr>
          <p:spPr bwMode="auto">
            <a:xfrm>
              <a:off x="1886" y="2786"/>
              <a:ext cx="406" cy="255"/>
            </a:xfrm>
            <a:custGeom>
              <a:avLst/>
              <a:gdLst/>
              <a:ahLst/>
              <a:cxnLst>
                <a:cxn ang="0">
                  <a:pos x="0" y="0"/>
                </a:cxn>
                <a:cxn ang="0">
                  <a:pos x="1114" y="0"/>
                </a:cxn>
                <a:cxn ang="0">
                  <a:pos x="1627" y="507"/>
                </a:cxn>
                <a:cxn ang="0">
                  <a:pos x="1114" y="1019"/>
                </a:cxn>
                <a:cxn ang="0">
                  <a:pos x="1" y="1019"/>
                </a:cxn>
                <a:cxn ang="0">
                  <a:pos x="0" y="0"/>
                </a:cxn>
              </a:cxnLst>
              <a:rect l="0" t="0" r="r" b="b"/>
              <a:pathLst>
                <a:path w="1627" h="1019">
                  <a:moveTo>
                    <a:pt x="0" y="0"/>
                  </a:moveTo>
                  <a:lnTo>
                    <a:pt x="1114" y="0"/>
                  </a:lnTo>
                  <a:lnTo>
                    <a:pt x="1627" y="507"/>
                  </a:lnTo>
                  <a:lnTo>
                    <a:pt x="1114" y="1019"/>
                  </a:lnTo>
                  <a:lnTo>
                    <a:pt x="1" y="1019"/>
                  </a:lnTo>
                  <a:lnTo>
                    <a:pt x="0" y="0"/>
                  </a:lnTo>
                  <a:close/>
                </a:path>
              </a:pathLst>
            </a:custGeom>
            <a:noFill/>
            <a:ln w="14288">
              <a:solidFill>
                <a:srgbClr val="C3C3C2"/>
              </a:solidFill>
              <a:prstDash val="solid"/>
              <a:round/>
              <a:headEnd/>
              <a:tailEnd/>
            </a:ln>
          </p:spPr>
          <p:txBody>
            <a:bodyPr/>
            <a:lstStyle/>
            <a:p>
              <a:endParaRPr lang="en-GB"/>
            </a:p>
          </p:txBody>
        </p:sp>
        <p:sp>
          <p:nvSpPr>
            <p:cNvPr id="173085" name="Freeform 29"/>
            <p:cNvSpPr>
              <a:spLocks/>
            </p:cNvSpPr>
            <p:nvPr/>
          </p:nvSpPr>
          <p:spPr bwMode="auto">
            <a:xfrm>
              <a:off x="1863" y="2763"/>
              <a:ext cx="407" cy="255"/>
            </a:xfrm>
            <a:custGeom>
              <a:avLst/>
              <a:gdLst/>
              <a:ahLst/>
              <a:cxnLst>
                <a:cxn ang="0">
                  <a:pos x="0" y="0"/>
                </a:cxn>
                <a:cxn ang="0">
                  <a:pos x="1113" y="0"/>
                </a:cxn>
                <a:cxn ang="0">
                  <a:pos x="1625" y="507"/>
                </a:cxn>
                <a:cxn ang="0">
                  <a:pos x="1113" y="1019"/>
                </a:cxn>
                <a:cxn ang="0">
                  <a:pos x="0" y="1019"/>
                </a:cxn>
                <a:cxn ang="0">
                  <a:pos x="0" y="0"/>
                </a:cxn>
              </a:cxnLst>
              <a:rect l="0" t="0" r="r" b="b"/>
              <a:pathLst>
                <a:path w="1625" h="1019">
                  <a:moveTo>
                    <a:pt x="0" y="0"/>
                  </a:moveTo>
                  <a:lnTo>
                    <a:pt x="1113" y="0"/>
                  </a:lnTo>
                  <a:lnTo>
                    <a:pt x="1625" y="507"/>
                  </a:lnTo>
                  <a:lnTo>
                    <a:pt x="1113" y="1019"/>
                  </a:lnTo>
                  <a:lnTo>
                    <a:pt x="0" y="1019"/>
                  </a:lnTo>
                  <a:lnTo>
                    <a:pt x="0" y="0"/>
                  </a:lnTo>
                  <a:close/>
                </a:path>
              </a:pathLst>
            </a:custGeom>
            <a:solidFill>
              <a:srgbClr val="3399FF"/>
            </a:solidFill>
            <a:ln w="9525">
              <a:noFill/>
              <a:round/>
              <a:headEnd/>
              <a:tailEnd/>
            </a:ln>
          </p:spPr>
          <p:txBody>
            <a:bodyPr/>
            <a:lstStyle/>
            <a:p>
              <a:endParaRPr lang="en-GB"/>
            </a:p>
          </p:txBody>
        </p:sp>
        <p:sp>
          <p:nvSpPr>
            <p:cNvPr id="173086" name="Freeform 30"/>
            <p:cNvSpPr>
              <a:spLocks/>
            </p:cNvSpPr>
            <p:nvPr/>
          </p:nvSpPr>
          <p:spPr bwMode="auto">
            <a:xfrm>
              <a:off x="1863" y="2763"/>
              <a:ext cx="407" cy="255"/>
            </a:xfrm>
            <a:custGeom>
              <a:avLst/>
              <a:gdLst/>
              <a:ahLst/>
              <a:cxnLst>
                <a:cxn ang="0">
                  <a:pos x="0" y="0"/>
                </a:cxn>
                <a:cxn ang="0">
                  <a:pos x="1113" y="0"/>
                </a:cxn>
                <a:cxn ang="0">
                  <a:pos x="1625" y="507"/>
                </a:cxn>
                <a:cxn ang="0">
                  <a:pos x="1113" y="1019"/>
                </a:cxn>
                <a:cxn ang="0">
                  <a:pos x="0" y="1019"/>
                </a:cxn>
                <a:cxn ang="0">
                  <a:pos x="0" y="0"/>
                </a:cxn>
              </a:cxnLst>
              <a:rect l="0" t="0" r="r" b="b"/>
              <a:pathLst>
                <a:path w="1625" h="1019">
                  <a:moveTo>
                    <a:pt x="0" y="0"/>
                  </a:moveTo>
                  <a:lnTo>
                    <a:pt x="1113" y="0"/>
                  </a:lnTo>
                  <a:lnTo>
                    <a:pt x="1625" y="507"/>
                  </a:lnTo>
                  <a:lnTo>
                    <a:pt x="1113" y="1019"/>
                  </a:lnTo>
                  <a:lnTo>
                    <a:pt x="0" y="1019"/>
                  </a:lnTo>
                  <a:lnTo>
                    <a:pt x="0" y="0"/>
                  </a:lnTo>
                  <a:close/>
                </a:path>
              </a:pathLst>
            </a:custGeom>
            <a:noFill/>
            <a:ln w="14288">
              <a:solidFill>
                <a:srgbClr val="1F1A17"/>
              </a:solidFill>
              <a:prstDash val="solid"/>
              <a:round/>
              <a:headEnd/>
              <a:tailEnd/>
            </a:ln>
          </p:spPr>
          <p:txBody>
            <a:bodyPr/>
            <a:lstStyle/>
            <a:p>
              <a:endParaRPr lang="en-GB"/>
            </a:p>
          </p:txBody>
        </p:sp>
      </p:grpSp>
      <p:grpSp>
        <p:nvGrpSpPr>
          <p:cNvPr id="5" name="Group 31"/>
          <p:cNvGrpSpPr>
            <a:grpSpLocks/>
          </p:cNvGrpSpPr>
          <p:nvPr/>
        </p:nvGrpSpPr>
        <p:grpSpPr bwMode="auto">
          <a:xfrm>
            <a:off x="6324600" y="1981200"/>
            <a:ext cx="1473200" cy="893763"/>
            <a:chOff x="3265" y="884"/>
            <a:chExt cx="928" cy="563"/>
          </a:xfrm>
        </p:grpSpPr>
        <p:sp>
          <p:nvSpPr>
            <p:cNvPr id="173088" name="Rectangle 32"/>
            <p:cNvSpPr>
              <a:spLocks noChangeArrowheads="1"/>
            </p:cNvSpPr>
            <p:nvPr/>
          </p:nvSpPr>
          <p:spPr bwMode="auto">
            <a:xfrm>
              <a:off x="3359" y="1184"/>
              <a:ext cx="780" cy="144"/>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Structure the </a:t>
              </a:r>
              <a:endParaRPr lang="en-CA" sz="1200" b="1">
                <a:solidFill>
                  <a:schemeClr val="bg2"/>
                </a:solidFill>
              </a:endParaRPr>
            </a:p>
          </p:txBody>
        </p:sp>
        <p:sp>
          <p:nvSpPr>
            <p:cNvPr id="173089" name="Rectangle 33"/>
            <p:cNvSpPr>
              <a:spLocks noChangeArrowheads="1"/>
            </p:cNvSpPr>
            <p:nvPr/>
          </p:nvSpPr>
          <p:spPr bwMode="auto">
            <a:xfrm>
              <a:off x="3265" y="1303"/>
              <a:ext cx="928" cy="144"/>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Use-Case Model</a:t>
              </a:r>
              <a:endParaRPr lang="en-CA" sz="1200" b="1">
                <a:solidFill>
                  <a:schemeClr val="bg2"/>
                </a:solidFill>
              </a:endParaRPr>
            </a:p>
          </p:txBody>
        </p:sp>
        <p:sp>
          <p:nvSpPr>
            <p:cNvPr id="173090" name="Freeform 34"/>
            <p:cNvSpPr>
              <a:spLocks/>
            </p:cNvSpPr>
            <p:nvPr/>
          </p:nvSpPr>
          <p:spPr bwMode="auto">
            <a:xfrm>
              <a:off x="3522" y="907"/>
              <a:ext cx="407" cy="255"/>
            </a:xfrm>
            <a:custGeom>
              <a:avLst/>
              <a:gdLst/>
              <a:ahLst/>
              <a:cxnLst>
                <a:cxn ang="0">
                  <a:pos x="0" y="0"/>
                </a:cxn>
                <a:cxn ang="0">
                  <a:pos x="1113" y="0"/>
                </a:cxn>
                <a:cxn ang="0">
                  <a:pos x="1626" y="508"/>
                </a:cxn>
                <a:cxn ang="0">
                  <a:pos x="1113" y="1019"/>
                </a:cxn>
                <a:cxn ang="0">
                  <a:pos x="0" y="1019"/>
                </a:cxn>
                <a:cxn ang="0">
                  <a:pos x="0" y="0"/>
                </a:cxn>
              </a:cxnLst>
              <a:rect l="0" t="0" r="r" b="b"/>
              <a:pathLst>
                <a:path w="1626" h="1019">
                  <a:moveTo>
                    <a:pt x="0" y="0"/>
                  </a:moveTo>
                  <a:lnTo>
                    <a:pt x="1113" y="0"/>
                  </a:lnTo>
                  <a:lnTo>
                    <a:pt x="1626" y="508"/>
                  </a:lnTo>
                  <a:lnTo>
                    <a:pt x="1113" y="1019"/>
                  </a:lnTo>
                  <a:lnTo>
                    <a:pt x="0" y="1019"/>
                  </a:lnTo>
                  <a:lnTo>
                    <a:pt x="0" y="0"/>
                  </a:lnTo>
                  <a:close/>
                </a:path>
              </a:pathLst>
            </a:custGeom>
            <a:solidFill>
              <a:srgbClr val="C3C3C2"/>
            </a:solidFill>
            <a:ln w="9525">
              <a:noFill/>
              <a:round/>
              <a:headEnd/>
              <a:tailEnd/>
            </a:ln>
          </p:spPr>
          <p:txBody>
            <a:bodyPr/>
            <a:lstStyle/>
            <a:p>
              <a:endParaRPr lang="en-GB"/>
            </a:p>
          </p:txBody>
        </p:sp>
        <p:sp>
          <p:nvSpPr>
            <p:cNvPr id="173091" name="Freeform 35"/>
            <p:cNvSpPr>
              <a:spLocks/>
            </p:cNvSpPr>
            <p:nvPr/>
          </p:nvSpPr>
          <p:spPr bwMode="auto">
            <a:xfrm>
              <a:off x="3522" y="907"/>
              <a:ext cx="407" cy="255"/>
            </a:xfrm>
            <a:custGeom>
              <a:avLst/>
              <a:gdLst/>
              <a:ahLst/>
              <a:cxnLst>
                <a:cxn ang="0">
                  <a:pos x="0" y="0"/>
                </a:cxn>
                <a:cxn ang="0">
                  <a:pos x="1113" y="0"/>
                </a:cxn>
                <a:cxn ang="0">
                  <a:pos x="1626" y="508"/>
                </a:cxn>
                <a:cxn ang="0">
                  <a:pos x="1113" y="1019"/>
                </a:cxn>
                <a:cxn ang="0">
                  <a:pos x="0" y="1019"/>
                </a:cxn>
                <a:cxn ang="0">
                  <a:pos x="0" y="0"/>
                </a:cxn>
              </a:cxnLst>
              <a:rect l="0" t="0" r="r" b="b"/>
              <a:pathLst>
                <a:path w="1626" h="1019">
                  <a:moveTo>
                    <a:pt x="0" y="0"/>
                  </a:moveTo>
                  <a:lnTo>
                    <a:pt x="1113" y="0"/>
                  </a:lnTo>
                  <a:lnTo>
                    <a:pt x="1626" y="508"/>
                  </a:lnTo>
                  <a:lnTo>
                    <a:pt x="1113" y="1019"/>
                  </a:lnTo>
                  <a:lnTo>
                    <a:pt x="0" y="1019"/>
                  </a:lnTo>
                  <a:lnTo>
                    <a:pt x="0" y="0"/>
                  </a:lnTo>
                  <a:close/>
                </a:path>
              </a:pathLst>
            </a:custGeom>
            <a:noFill/>
            <a:ln w="14288">
              <a:solidFill>
                <a:srgbClr val="C3C3C2"/>
              </a:solidFill>
              <a:prstDash val="solid"/>
              <a:round/>
              <a:headEnd/>
              <a:tailEnd/>
            </a:ln>
          </p:spPr>
          <p:txBody>
            <a:bodyPr/>
            <a:lstStyle/>
            <a:p>
              <a:endParaRPr lang="en-GB"/>
            </a:p>
          </p:txBody>
        </p:sp>
        <p:sp>
          <p:nvSpPr>
            <p:cNvPr id="173092" name="Freeform 36"/>
            <p:cNvSpPr>
              <a:spLocks/>
            </p:cNvSpPr>
            <p:nvPr/>
          </p:nvSpPr>
          <p:spPr bwMode="auto">
            <a:xfrm>
              <a:off x="3500" y="884"/>
              <a:ext cx="407" cy="255"/>
            </a:xfrm>
            <a:custGeom>
              <a:avLst/>
              <a:gdLst/>
              <a:ahLst/>
              <a:cxnLst>
                <a:cxn ang="0">
                  <a:pos x="0" y="0"/>
                </a:cxn>
                <a:cxn ang="0">
                  <a:pos x="1112" y="0"/>
                </a:cxn>
                <a:cxn ang="0">
                  <a:pos x="1626" y="507"/>
                </a:cxn>
                <a:cxn ang="0">
                  <a:pos x="1113" y="1019"/>
                </a:cxn>
                <a:cxn ang="0">
                  <a:pos x="0" y="1019"/>
                </a:cxn>
                <a:cxn ang="0">
                  <a:pos x="0" y="0"/>
                </a:cxn>
              </a:cxnLst>
              <a:rect l="0" t="0" r="r" b="b"/>
              <a:pathLst>
                <a:path w="1626" h="1019">
                  <a:moveTo>
                    <a:pt x="0" y="0"/>
                  </a:moveTo>
                  <a:lnTo>
                    <a:pt x="1112" y="0"/>
                  </a:lnTo>
                  <a:lnTo>
                    <a:pt x="1626" y="507"/>
                  </a:lnTo>
                  <a:lnTo>
                    <a:pt x="1113" y="1019"/>
                  </a:lnTo>
                  <a:lnTo>
                    <a:pt x="0" y="1019"/>
                  </a:lnTo>
                  <a:lnTo>
                    <a:pt x="0" y="0"/>
                  </a:lnTo>
                  <a:close/>
                </a:path>
              </a:pathLst>
            </a:custGeom>
            <a:solidFill>
              <a:srgbClr val="3399FF"/>
            </a:solidFill>
            <a:ln w="9525">
              <a:noFill/>
              <a:round/>
              <a:headEnd/>
              <a:tailEnd/>
            </a:ln>
          </p:spPr>
          <p:txBody>
            <a:bodyPr/>
            <a:lstStyle/>
            <a:p>
              <a:endParaRPr lang="en-GB"/>
            </a:p>
          </p:txBody>
        </p:sp>
        <p:sp>
          <p:nvSpPr>
            <p:cNvPr id="173093" name="Freeform 37"/>
            <p:cNvSpPr>
              <a:spLocks/>
            </p:cNvSpPr>
            <p:nvPr/>
          </p:nvSpPr>
          <p:spPr bwMode="auto">
            <a:xfrm>
              <a:off x="3500" y="884"/>
              <a:ext cx="407" cy="255"/>
            </a:xfrm>
            <a:custGeom>
              <a:avLst/>
              <a:gdLst/>
              <a:ahLst/>
              <a:cxnLst>
                <a:cxn ang="0">
                  <a:pos x="0" y="0"/>
                </a:cxn>
                <a:cxn ang="0">
                  <a:pos x="1112" y="0"/>
                </a:cxn>
                <a:cxn ang="0">
                  <a:pos x="1626" y="507"/>
                </a:cxn>
                <a:cxn ang="0">
                  <a:pos x="1113" y="1019"/>
                </a:cxn>
                <a:cxn ang="0">
                  <a:pos x="0" y="1019"/>
                </a:cxn>
                <a:cxn ang="0">
                  <a:pos x="0" y="0"/>
                </a:cxn>
              </a:cxnLst>
              <a:rect l="0" t="0" r="r" b="b"/>
              <a:pathLst>
                <a:path w="1626" h="1019">
                  <a:moveTo>
                    <a:pt x="0" y="0"/>
                  </a:moveTo>
                  <a:lnTo>
                    <a:pt x="1112" y="0"/>
                  </a:lnTo>
                  <a:lnTo>
                    <a:pt x="1626" y="507"/>
                  </a:lnTo>
                  <a:lnTo>
                    <a:pt x="1113" y="1019"/>
                  </a:lnTo>
                  <a:lnTo>
                    <a:pt x="0" y="1019"/>
                  </a:lnTo>
                  <a:lnTo>
                    <a:pt x="0" y="0"/>
                  </a:lnTo>
                  <a:close/>
                </a:path>
              </a:pathLst>
            </a:custGeom>
            <a:noFill/>
            <a:ln w="14288">
              <a:solidFill>
                <a:srgbClr val="1F1A17"/>
              </a:solidFill>
              <a:prstDash val="solid"/>
              <a:round/>
              <a:headEnd/>
              <a:tailEnd/>
            </a:ln>
          </p:spPr>
          <p:txBody>
            <a:bodyPr/>
            <a:lstStyle/>
            <a:p>
              <a:endParaRPr lang="en-GB"/>
            </a:p>
          </p:txBody>
        </p:sp>
      </p:grpSp>
      <p:grpSp>
        <p:nvGrpSpPr>
          <p:cNvPr id="6" name="Group 38"/>
          <p:cNvGrpSpPr>
            <a:grpSpLocks/>
          </p:cNvGrpSpPr>
          <p:nvPr/>
        </p:nvGrpSpPr>
        <p:grpSpPr bwMode="auto">
          <a:xfrm>
            <a:off x="6629400" y="2971800"/>
            <a:ext cx="860425" cy="947738"/>
            <a:chOff x="3500" y="1531"/>
            <a:chExt cx="542" cy="597"/>
          </a:xfrm>
        </p:grpSpPr>
        <p:sp>
          <p:nvSpPr>
            <p:cNvPr id="173095" name="Rectangle 39"/>
            <p:cNvSpPr>
              <a:spLocks noChangeArrowheads="1"/>
            </p:cNvSpPr>
            <p:nvPr/>
          </p:nvSpPr>
          <p:spPr bwMode="auto">
            <a:xfrm>
              <a:off x="3558" y="1852"/>
              <a:ext cx="460" cy="144"/>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Detail a </a:t>
              </a:r>
              <a:endParaRPr lang="en-CA" sz="1200" b="1">
                <a:solidFill>
                  <a:schemeClr val="bg2"/>
                </a:solidFill>
              </a:endParaRPr>
            </a:p>
          </p:txBody>
        </p:sp>
        <p:sp>
          <p:nvSpPr>
            <p:cNvPr id="173096" name="Rectangle 40"/>
            <p:cNvSpPr>
              <a:spLocks noChangeArrowheads="1"/>
            </p:cNvSpPr>
            <p:nvPr/>
          </p:nvSpPr>
          <p:spPr bwMode="auto">
            <a:xfrm>
              <a:off x="3500" y="1984"/>
              <a:ext cx="542" cy="144"/>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Use Case</a:t>
              </a:r>
              <a:endParaRPr lang="en-CA" sz="1200" b="1">
                <a:solidFill>
                  <a:schemeClr val="bg2"/>
                </a:solidFill>
              </a:endParaRPr>
            </a:p>
          </p:txBody>
        </p:sp>
        <p:sp>
          <p:nvSpPr>
            <p:cNvPr id="173097" name="Freeform 41"/>
            <p:cNvSpPr>
              <a:spLocks/>
            </p:cNvSpPr>
            <p:nvPr/>
          </p:nvSpPr>
          <p:spPr bwMode="auto">
            <a:xfrm>
              <a:off x="3577" y="1554"/>
              <a:ext cx="407" cy="255"/>
            </a:xfrm>
            <a:custGeom>
              <a:avLst/>
              <a:gdLst/>
              <a:ahLst/>
              <a:cxnLst>
                <a:cxn ang="0">
                  <a:pos x="0" y="0"/>
                </a:cxn>
                <a:cxn ang="0">
                  <a:pos x="1112" y="0"/>
                </a:cxn>
                <a:cxn ang="0">
                  <a:pos x="1625" y="509"/>
                </a:cxn>
                <a:cxn ang="0">
                  <a:pos x="1112" y="1019"/>
                </a:cxn>
                <a:cxn ang="0">
                  <a:pos x="0" y="1019"/>
                </a:cxn>
                <a:cxn ang="0">
                  <a:pos x="0" y="0"/>
                </a:cxn>
              </a:cxnLst>
              <a:rect l="0" t="0" r="r" b="b"/>
              <a:pathLst>
                <a:path w="1625" h="1019">
                  <a:moveTo>
                    <a:pt x="0" y="0"/>
                  </a:moveTo>
                  <a:lnTo>
                    <a:pt x="1112" y="0"/>
                  </a:lnTo>
                  <a:lnTo>
                    <a:pt x="1625" y="509"/>
                  </a:lnTo>
                  <a:lnTo>
                    <a:pt x="1112" y="1019"/>
                  </a:lnTo>
                  <a:lnTo>
                    <a:pt x="0" y="1019"/>
                  </a:lnTo>
                  <a:lnTo>
                    <a:pt x="0" y="0"/>
                  </a:lnTo>
                  <a:close/>
                </a:path>
              </a:pathLst>
            </a:custGeom>
            <a:solidFill>
              <a:srgbClr val="C3C3C2"/>
            </a:solidFill>
            <a:ln w="9525">
              <a:noFill/>
              <a:round/>
              <a:headEnd/>
              <a:tailEnd/>
            </a:ln>
          </p:spPr>
          <p:txBody>
            <a:bodyPr/>
            <a:lstStyle/>
            <a:p>
              <a:endParaRPr lang="en-GB"/>
            </a:p>
          </p:txBody>
        </p:sp>
        <p:sp>
          <p:nvSpPr>
            <p:cNvPr id="173098" name="Freeform 42"/>
            <p:cNvSpPr>
              <a:spLocks/>
            </p:cNvSpPr>
            <p:nvPr/>
          </p:nvSpPr>
          <p:spPr bwMode="auto">
            <a:xfrm>
              <a:off x="3577" y="1554"/>
              <a:ext cx="407" cy="255"/>
            </a:xfrm>
            <a:custGeom>
              <a:avLst/>
              <a:gdLst/>
              <a:ahLst/>
              <a:cxnLst>
                <a:cxn ang="0">
                  <a:pos x="0" y="0"/>
                </a:cxn>
                <a:cxn ang="0">
                  <a:pos x="1112" y="0"/>
                </a:cxn>
                <a:cxn ang="0">
                  <a:pos x="1625" y="509"/>
                </a:cxn>
                <a:cxn ang="0">
                  <a:pos x="1112" y="1019"/>
                </a:cxn>
                <a:cxn ang="0">
                  <a:pos x="0" y="1019"/>
                </a:cxn>
                <a:cxn ang="0">
                  <a:pos x="0" y="0"/>
                </a:cxn>
              </a:cxnLst>
              <a:rect l="0" t="0" r="r" b="b"/>
              <a:pathLst>
                <a:path w="1625" h="1019">
                  <a:moveTo>
                    <a:pt x="0" y="0"/>
                  </a:moveTo>
                  <a:lnTo>
                    <a:pt x="1112" y="0"/>
                  </a:lnTo>
                  <a:lnTo>
                    <a:pt x="1625" y="509"/>
                  </a:lnTo>
                  <a:lnTo>
                    <a:pt x="1112" y="1019"/>
                  </a:lnTo>
                  <a:lnTo>
                    <a:pt x="0" y="1019"/>
                  </a:lnTo>
                  <a:lnTo>
                    <a:pt x="0" y="0"/>
                  </a:lnTo>
                  <a:close/>
                </a:path>
              </a:pathLst>
            </a:custGeom>
            <a:noFill/>
            <a:ln w="14288">
              <a:solidFill>
                <a:srgbClr val="C3C3C2"/>
              </a:solidFill>
              <a:prstDash val="solid"/>
              <a:round/>
              <a:headEnd/>
              <a:tailEnd/>
            </a:ln>
          </p:spPr>
          <p:txBody>
            <a:bodyPr/>
            <a:lstStyle/>
            <a:p>
              <a:endParaRPr lang="en-GB"/>
            </a:p>
          </p:txBody>
        </p:sp>
        <p:sp>
          <p:nvSpPr>
            <p:cNvPr id="173099" name="Freeform 43"/>
            <p:cNvSpPr>
              <a:spLocks/>
            </p:cNvSpPr>
            <p:nvPr/>
          </p:nvSpPr>
          <p:spPr bwMode="auto">
            <a:xfrm>
              <a:off x="3555" y="1531"/>
              <a:ext cx="406" cy="255"/>
            </a:xfrm>
            <a:custGeom>
              <a:avLst/>
              <a:gdLst/>
              <a:ahLst/>
              <a:cxnLst>
                <a:cxn ang="0">
                  <a:pos x="0" y="0"/>
                </a:cxn>
                <a:cxn ang="0">
                  <a:pos x="1113" y="0"/>
                </a:cxn>
                <a:cxn ang="0">
                  <a:pos x="1625" y="508"/>
                </a:cxn>
                <a:cxn ang="0">
                  <a:pos x="1114" y="1019"/>
                </a:cxn>
                <a:cxn ang="0">
                  <a:pos x="0" y="1019"/>
                </a:cxn>
                <a:cxn ang="0">
                  <a:pos x="0" y="0"/>
                </a:cxn>
              </a:cxnLst>
              <a:rect l="0" t="0" r="r" b="b"/>
              <a:pathLst>
                <a:path w="1625" h="1019">
                  <a:moveTo>
                    <a:pt x="0" y="0"/>
                  </a:moveTo>
                  <a:lnTo>
                    <a:pt x="1113" y="0"/>
                  </a:lnTo>
                  <a:lnTo>
                    <a:pt x="1625" y="508"/>
                  </a:lnTo>
                  <a:lnTo>
                    <a:pt x="1114" y="1019"/>
                  </a:lnTo>
                  <a:lnTo>
                    <a:pt x="0" y="1019"/>
                  </a:lnTo>
                  <a:lnTo>
                    <a:pt x="0" y="0"/>
                  </a:lnTo>
                  <a:close/>
                </a:path>
              </a:pathLst>
            </a:custGeom>
            <a:solidFill>
              <a:srgbClr val="3399FF"/>
            </a:solidFill>
            <a:ln w="9525">
              <a:noFill/>
              <a:round/>
              <a:headEnd/>
              <a:tailEnd/>
            </a:ln>
          </p:spPr>
          <p:txBody>
            <a:bodyPr/>
            <a:lstStyle/>
            <a:p>
              <a:endParaRPr lang="en-GB"/>
            </a:p>
          </p:txBody>
        </p:sp>
        <p:sp>
          <p:nvSpPr>
            <p:cNvPr id="173100" name="Freeform 44"/>
            <p:cNvSpPr>
              <a:spLocks/>
            </p:cNvSpPr>
            <p:nvPr/>
          </p:nvSpPr>
          <p:spPr bwMode="auto">
            <a:xfrm>
              <a:off x="3555" y="1531"/>
              <a:ext cx="406" cy="255"/>
            </a:xfrm>
            <a:custGeom>
              <a:avLst/>
              <a:gdLst/>
              <a:ahLst/>
              <a:cxnLst>
                <a:cxn ang="0">
                  <a:pos x="0" y="0"/>
                </a:cxn>
                <a:cxn ang="0">
                  <a:pos x="1113" y="0"/>
                </a:cxn>
                <a:cxn ang="0">
                  <a:pos x="1625" y="508"/>
                </a:cxn>
                <a:cxn ang="0">
                  <a:pos x="1114" y="1019"/>
                </a:cxn>
                <a:cxn ang="0">
                  <a:pos x="0" y="1019"/>
                </a:cxn>
                <a:cxn ang="0">
                  <a:pos x="0" y="0"/>
                </a:cxn>
              </a:cxnLst>
              <a:rect l="0" t="0" r="r" b="b"/>
              <a:pathLst>
                <a:path w="1625" h="1019">
                  <a:moveTo>
                    <a:pt x="0" y="0"/>
                  </a:moveTo>
                  <a:lnTo>
                    <a:pt x="1113" y="0"/>
                  </a:lnTo>
                  <a:lnTo>
                    <a:pt x="1625" y="508"/>
                  </a:lnTo>
                  <a:lnTo>
                    <a:pt x="1114" y="1019"/>
                  </a:lnTo>
                  <a:lnTo>
                    <a:pt x="0" y="1019"/>
                  </a:lnTo>
                  <a:lnTo>
                    <a:pt x="0" y="0"/>
                  </a:lnTo>
                  <a:close/>
                </a:path>
              </a:pathLst>
            </a:custGeom>
            <a:noFill/>
            <a:ln w="14288">
              <a:solidFill>
                <a:srgbClr val="1F1A17"/>
              </a:solidFill>
              <a:prstDash val="solid"/>
              <a:round/>
              <a:headEnd/>
              <a:tailEnd/>
            </a:ln>
          </p:spPr>
          <p:txBody>
            <a:bodyPr/>
            <a:lstStyle/>
            <a:p>
              <a:endParaRPr lang="en-GB"/>
            </a:p>
          </p:txBody>
        </p:sp>
      </p:grpSp>
      <p:sp>
        <p:nvSpPr>
          <p:cNvPr id="173101" name="Rectangle 45"/>
          <p:cNvSpPr>
            <a:spLocks noChangeArrowheads="1"/>
          </p:cNvSpPr>
          <p:nvPr/>
        </p:nvSpPr>
        <p:spPr bwMode="auto">
          <a:xfrm>
            <a:off x="2420938" y="2332038"/>
            <a:ext cx="1649412" cy="228600"/>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Elicit Stakeholder </a:t>
            </a:r>
            <a:endParaRPr lang="en-CA" sz="1200" b="1">
              <a:solidFill>
                <a:schemeClr val="bg2"/>
              </a:solidFill>
            </a:endParaRPr>
          </a:p>
        </p:txBody>
      </p:sp>
      <p:sp>
        <p:nvSpPr>
          <p:cNvPr id="173102" name="Rectangle 46"/>
          <p:cNvSpPr>
            <a:spLocks noChangeArrowheads="1"/>
          </p:cNvSpPr>
          <p:nvPr/>
        </p:nvSpPr>
        <p:spPr bwMode="auto">
          <a:xfrm>
            <a:off x="2787650" y="2520950"/>
            <a:ext cx="858838" cy="228600"/>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Requests</a:t>
            </a:r>
            <a:endParaRPr lang="en-CA" sz="1200" b="1">
              <a:solidFill>
                <a:schemeClr val="bg2"/>
              </a:solidFill>
            </a:endParaRPr>
          </a:p>
        </p:txBody>
      </p:sp>
      <p:sp>
        <p:nvSpPr>
          <p:cNvPr id="173103" name="Freeform 47"/>
          <p:cNvSpPr>
            <a:spLocks/>
          </p:cNvSpPr>
          <p:nvPr/>
        </p:nvSpPr>
        <p:spPr bwMode="auto">
          <a:xfrm>
            <a:off x="2901950" y="1878013"/>
            <a:ext cx="646113" cy="404812"/>
          </a:xfrm>
          <a:custGeom>
            <a:avLst/>
            <a:gdLst/>
            <a:ahLst/>
            <a:cxnLst>
              <a:cxn ang="0">
                <a:pos x="0" y="0"/>
              </a:cxn>
              <a:cxn ang="0">
                <a:pos x="1113" y="0"/>
              </a:cxn>
              <a:cxn ang="0">
                <a:pos x="1626" y="507"/>
              </a:cxn>
              <a:cxn ang="0">
                <a:pos x="1114" y="1019"/>
              </a:cxn>
              <a:cxn ang="0">
                <a:pos x="1" y="1019"/>
              </a:cxn>
              <a:cxn ang="0">
                <a:pos x="0" y="0"/>
              </a:cxn>
            </a:cxnLst>
            <a:rect l="0" t="0" r="r" b="b"/>
            <a:pathLst>
              <a:path w="1626" h="1019">
                <a:moveTo>
                  <a:pt x="0" y="0"/>
                </a:moveTo>
                <a:lnTo>
                  <a:pt x="1113" y="0"/>
                </a:lnTo>
                <a:lnTo>
                  <a:pt x="1626" y="507"/>
                </a:lnTo>
                <a:lnTo>
                  <a:pt x="1114" y="1019"/>
                </a:lnTo>
                <a:lnTo>
                  <a:pt x="1" y="1019"/>
                </a:lnTo>
                <a:lnTo>
                  <a:pt x="0" y="0"/>
                </a:lnTo>
                <a:close/>
              </a:path>
            </a:pathLst>
          </a:custGeom>
          <a:solidFill>
            <a:srgbClr val="C3C3C2"/>
          </a:solidFill>
          <a:ln w="9525">
            <a:noFill/>
            <a:round/>
            <a:headEnd/>
            <a:tailEnd/>
          </a:ln>
        </p:spPr>
        <p:txBody>
          <a:bodyPr/>
          <a:lstStyle/>
          <a:p>
            <a:endParaRPr lang="en-GB"/>
          </a:p>
        </p:txBody>
      </p:sp>
      <p:sp>
        <p:nvSpPr>
          <p:cNvPr id="173104" name="Freeform 48"/>
          <p:cNvSpPr>
            <a:spLocks/>
          </p:cNvSpPr>
          <p:nvPr/>
        </p:nvSpPr>
        <p:spPr bwMode="auto">
          <a:xfrm>
            <a:off x="2901950" y="1878013"/>
            <a:ext cx="646113" cy="404812"/>
          </a:xfrm>
          <a:custGeom>
            <a:avLst/>
            <a:gdLst/>
            <a:ahLst/>
            <a:cxnLst>
              <a:cxn ang="0">
                <a:pos x="0" y="0"/>
              </a:cxn>
              <a:cxn ang="0">
                <a:pos x="1113" y="0"/>
              </a:cxn>
              <a:cxn ang="0">
                <a:pos x="1626" y="507"/>
              </a:cxn>
              <a:cxn ang="0">
                <a:pos x="1114" y="1019"/>
              </a:cxn>
              <a:cxn ang="0">
                <a:pos x="1" y="1019"/>
              </a:cxn>
              <a:cxn ang="0">
                <a:pos x="0" y="0"/>
              </a:cxn>
            </a:cxnLst>
            <a:rect l="0" t="0" r="r" b="b"/>
            <a:pathLst>
              <a:path w="1626" h="1019">
                <a:moveTo>
                  <a:pt x="0" y="0"/>
                </a:moveTo>
                <a:lnTo>
                  <a:pt x="1113" y="0"/>
                </a:lnTo>
                <a:lnTo>
                  <a:pt x="1626" y="507"/>
                </a:lnTo>
                <a:lnTo>
                  <a:pt x="1114" y="1019"/>
                </a:lnTo>
                <a:lnTo>
                  <a:pt x="1" y="1019"/>
                </a:lnTo>
                <a:lnTo>
                  <a:pt x="0" y="0"/>
                </a:lnTo>
                <a:close/>
              </a:path>
            </a:pathLst>
          </a:custGeom>
          <a:noFill/>
          <a:ln w="14288">
            <a:solidFill>
              <a:srgbClr val="C3C3C2"/>
            </a:solidFill>
            <a:prstDash val="solid"/>
            <a:round/>
            <a:headEnd/>
            <a:tailEnd/>
          </a:ln>
        </p:spPr>
        <p:txBody>
          <a:bodyPr/>
          <a:lstStyle/>
          <a:p>
            <a:endParaRPr lang="en-GB"/>
          </a:p>
        </p:txBody>
      </p:sp>
      <p:sp>
        <p:nvSpPr>
          <p:cNvPr id="173105" name="Freeform 49"/>
          <p:cNvSpPr>
            <a:spLocks/>
          </p:cNvSpPr>
          <p:nvPr/>
        </p:nvSpPr>
        <p:spPr bwMode="auto">
          <a:xfrm>
            <a:off x="2867025" y="1841500"/>
            <a:ext cx="644525" cy="404813"/>
          </a:xfrm>
          <a:custGeom>
            <a:avLst/>
            <a:gdLst/>
            <a:ahLst/>
            <a:cxnLst>
              <a:cxn ang="0">
                <a:pos x="0" y="0"/>
              </a:cxn>
              <a:cxn ang="0">
                <a:pos x="1113" y="0"/>
              </a:cxn>
              <a:cxn ang="0">
                <a:pos x="1625" y="508"/>
              </a:cxn>
              <a:cxn ang="0">
                <a:pos x="1113" y="1019"/>
              </a:cxn>
              <a:cxn ang="0">
                <a:pos x="0" y="1019"/>
              </a:cxn>
              <a:cxn ang="0">
                <a:pos x="0" y="0"/>
              </a:cxn>
            </a:cxnLst>
            <a:rect l="0" t="0" r="r" b="b"/>
            <a:pathLst>
              <a:path w="1625" h="1019">
                <a:moveTo>
                  <a:pt x="0" y="0"/>
                </a:moveTo>
                <a:lnTo>
                  <a:pt x="1113" y="0"/>
                </a:lnTo>
                <a:lnTo>
                  <a:pt x="1625" y="508"/>
                </a:lnTo>
                <a:lnTo>
                  <a:pt x="1113" y="1019"/>
                </a:lnTo>
                <a:lnTo>
                  <a:pt x="0" y="1019"/>
                </a:lnTo>
                <a:lnTo>
                  <a:pt x="0" y="0"/>
                </a:lnTo>
                <a:close/>
              </a:path>
            </a:pathLst>
          </a:custGeom>
          <a:solidFill>
            <a:srgbClr val="3399FF"/>
          </a:solidFill>
          <a:ln w="9525">
            <a:noFill/>
            <a:round/>
            <a:headEnd/>
            <a:tailEnd/>
          </a:ln>
        </p:spPr>
        <p:txBody>
          <a:bodyPr/>
          <a:lstStyle/>
          <a:p>
            <a:endParaRPr lang="en-GB"/>
          </a:p>
        </p:txBody>
      </p:sp>
      <p:sp>
        <p:nvSpPr>
          <p:cNvPr id="173106" name="Freeform 50"/>
          <p:cNvSpPr>
            <a:spLocks/>
          </p:cNvSpPr>
          <p:nvPr/>
        </p:nvSpPr>
        <p:spPr bwMode="auto">
          <a:xfrm>
            <a:off x="2867025" y="1841500"/>
            <a:ext cx="644525" cy="404813"/>
          </a:xfrm>
          <a:custGeom>
            <a:avLst/>
            <a:gdLst/>
            <a:ahLst/>
            <a:cxnLst>
              <a:cxn ang="0">
                <a:pos x="0" y="0"/>
              </a:cxn>
              <a:cxn ang="0">
                <a:pos x="1113" y="0"/>
              </a:cxn>
              <a:cxn ang="0">
                <a:pos x="1625" y="508"/>
              </a:cxn>
              <a:cxn ang="0">
                <a:pos x="1113" y="1019"/>
              </a:cxn>
              <a:cxn ang="0">
                <a:pos x="0" y="1019"/>
              </a:cxn>
              <a:cxn ang="0">
                <a:pos x="0" y="0"/>
              </a:cxn>
            </a:cxnLst>
            <a:rect l="0" t="0" r="r" b="b"/>
            <a:pathLst>
              <a:path w="1625" h="1019">
                <a:moveTo>
                  <a:pt x="0" y="0"/>
                </a:moveTo>
                <a:lnTo>
                  <a:pt x="1113" y="0"/>
                </a:lnTo>
                <a:lnTo>
                  <a:pt x="1625" y="508"/>
                </a:lnTo>
                <a:lnTo>
                  <a:pt x="1113" y="1019"/>
                </a:lnTo>
                <a:lnTo>
                  <a:pt x="0" y="1019"/>
                </a:lnTo>
                <a:lnTo>
                  <a:pt x="0" y="0"/>
                </a:lnTo>
                <a:close/>
              </a:path>
            </a:pathLst>
          </a:custGeom>
          <a:noFill/>
          <a:ln w="14288">
            <a:solidFill>
              <a:srgbClr val="1F1A17"/>
            </a:solidFill>
            <a:prstDash val="solid"/>
            <a:round/>
            <a:headEnd/>
            <a:tailEnd/>
          </a:ln>
        </p:spPr>
        <p:txBody>
          <a:bodyPr/>
          <a:lstStyle/>
          <a:p>
            <a:endParaRPr lang="en-GB"/>
          </a:p>
        </p:txBody>
      </p:sp>
      <p:grpSp>
        <p:nvGrpSpPr>
          <p:cNvPr id="7" name="Group 51"/>
          <p:cNvGrpSpPr>
            <a:grpSpLocks/>
          </p:cNvGrpSpPr>
          <p:nvPr/>
        </p:nvGrpSpPr>
        <p:grpSpPr bwMode="auto">
          <a:xfrm>
            <a:off x="1447800" y="2057400"/>
            <a:ext cx="873125" cy="1311275"/>
            <a:chOff x="912" y="1056"/>
            <a:chExt cx="550" cy="826"/>
          </a:xfrm>
        </p:grpSpPr>
        <p:sp>
          <p:nvSpPr>
            <p:cNvPr id="173108" name="Freeform 52"/>
            <p:cNvSpPr>
              <a:spLocks/>
            </p:cNvSpPr>
            <p:nvPr/>
          </p:nvSpPr>
          <p:spPr bwMode="auto">
            <a:xfrm>
              <a:off x="1126" y="1079"/>
              <a:ext cx="195" cy="195"/>
            </a:xfrm>
            <a:custGeom>
              <a:avLst/>
              <a:gdLst/>
              <a:ahLst/>
              <a:cxnLst>
                <a:cxn ang="0">
                  <a:pos x="430" y="778"/>
                </a:cxn>
                <a:cxn ang="0">
                  <a:pos x="487" y="767"/>
                </a:cxn>
                <a:cxn ang="0">
                  <a:pos x="541" y="749"/>
                </a:cxn>
                <a:cxn ang="0">
                  <a:pos x="591" y="723"/>
                </a:cxn>
                <a:cxn ang="0">
                  <a:pos x="637" y="690"/>
                </a:cxn>
                <a:cxn ang="0">
                  <a:pos x="678" y="652"/>
                </a:cxn>
                <a:cxn ang="0">
                  <a:pos x="713" y="608"/>
                </a:cxn>
                <a:cxn ang="0">
                  <a:pos x="741" y="559"/>
                </a:cxn>
                <a:cxn ang="0">
                  <a:pos x="762" y="505"/>
                </a:cxn>
                <a:cxn ang="0">
                  <a:pos x="774" y="449"/>
                </a:cxn>
                <a:cxn ang="0">
                  <a:pos x="779" y="389"/>
                </a:cxn>
                <a:cxn ang="0">
                  <a:pos x="774" y="331"/>
                </a:cxn>
                <a:cxn ang="0">
                  <a:pos x="762" y="275"/>
                </a:cxn>
                <a:cxn ang="0">
                  <a:pos x="741" y="221"/>
                </a:cxn>
                <a:cxn ang="0">
                  <a:pos x="713" y="172"/>
                </a:cxn>
                <a:cxn ang="0">
                  <a:pos x="678" y="128"/>
                </a:cxn>
                <a:cxn ang="0">
                  <a:pos x="637" y="89"/>
                </a:cxn>
                <a:cxn ang="0">
                  <a:pos x="591" y="56"/>
                </a:cxn>
                <a:cxn ang="0">
                  <a:pos x="541" y="30"/>
                </a:cxn>
                <a:cxn ang="0">
                  <a:pos x="487" y="12"/>
                </a:cxn>
                <a:cxn ang="0">
                  <a:pos x="430" y="2"/>
                </a:cxn>
                <a:cxn ang="0">
                  <a:pos x="369" y="0"/>
                </a:cxn>
                <a:cxn ang="0">
                  <a:pos x="311" y="8"/>
                </a:cxn>
                <a:cxn ang="0">
                  <a:pos x="255" y="24"/>
                </a:cxn>
                <a:cxn ang="0">
                  <a:pos x="204" y="47"/>
                </a:cxn>
                <a:cxn ang="0">
                  <a:pos x="156" y="77"/>
                </a:cxn>
                <a:cxn ang="0">
                  <a:pos x="114" y="115"/>
                </a:cxn>
                <a:cxn ang="0">
                  <a:pos x="77" y="157"/>
                </a:cxn>
                <a:cxn ang="0">
                  <a:pos x="47" y="205"/>
                </a:cxn>
                <a:cxn ang="0">
                  <a:pos x="24" y="256"/>
                </a:cxn>
                <a:cxn ang="0">
                  <a:pos x="8" y="311"/>
                </a:cxn>
                <a:cxn ang="0">
                  <a:pos x="1" y="370"/>
                </a:cxn>
                <a:cxn ang="0">
                  <a:pos x="2" y="429"/>
                </a:cxn>
                <a:cxn ang="0">
                  <a:pos x="12" y="487"/>
                </a:cxn>
                <a:cxn ang="0">
                  <a:pos x="31" y="541"/>
                </a:cxn>
                <a:cxn ang="0">
                  <a:pos x="56" y="592"/>
                </a:cxn>
                <a:cxn ang="0">
                  <a:pos x="89" y="638"/>
                </a:cxn>
                <a:cxn ang="0">
                  <a:pos x="128" y="678"/>
                </a:cxn>
                <a:cxn ang="0">
                  <a:pos x="172" y="713"/>
                </a:cxn>
                <a:cxn ang="0">
                  <a:pos x="221" y="741"/>
                </a:cxn>
                <a:cxn ang="0">
                  <a:pos x="274" y="762"/>
                </a:cxn>
                <a:cxn ang="0">
                  <a:pos x="330" y="775"/>
                </a:cxn>
                <a:cxn ang="0">
                  <a:pos x="389" y="780"/>
                </a:cxn>
              </a:cxnLst>
              <a:rect l="0" t="0" r="r" b="b"/>
              <a:pathLst>
                <a:path w="779" h="780">
                  <a:moveTo>
                    <a:pt x="389" y="780"/>
                  </a:moveTo>
                  <a:lnTo>
                    <a:pt x="410" y="779"/>
                  </a:lnTo>
                  <a:lnTo>
                    <a:pt x="430" y="778"/>
                  </a:lnTo>
                  <a:lnTo>
                    <a:pt x="448" y="775"/>
                  </a:lnTo>
                  <a:lnTo>
                    <a:pt x="468" y="772"/>
                  </a:lnTo>
                  <a:lnTo>
                    <a:pt x="487" y="767"/>
                  </a:lnTo>
                  <a:lnTo>
                    <a:pt x="505" y="762"/>
                  </a:lnTo>
                  <a:lnTo>
                    <a:pt x="524" y="756"/>
                  </a:lnTo>
                  <a:lnTo>
                    <a:pt x="541" y="749"/>
                  </a:lnTo>
                  <a:lnTo>
                    <a:pt x="558" y="741"/>
                  </a:lnTo>
                  <a:lnTo>
                    <a:pt x="575" y="732"/>
                  </a:lnTo>
                  <a:lnTo>
                    <a:pt x="591" y="723"/>
                  </a:lnTo>
                  <a:lnTo>
                    <a:pt x="607" y="713"/>
                  </a:lnTo>
                  <a:lnTo>
                    <a:pt x="623" y="702"/>
                  </a:lnTo>
                  <a:lnTo>
                    <a:pt x="637" y="690"/>
                  </a:lnTo>
                  <a:lnTo>
                    <a:pt x="651" y="678"/>
                  </a:lnTo>
                  <a:lnTo>
                    <a:pt x="665" y="665"/>
                  </a:lnTo>
                  <a:lnTo>
                    <a:pt x="678" y="652"/>
                  </a:lnTo>
                  <a:lnTo>
                    <a:pt x="690" y="638"/>
                  </a:lnTo>
                  <a:lnTo>
                    <a:pt x="701" y="622"/>
                  </a:lnTo>
                  <a:lnTo>
                    <a:pt x="713" y="608"/>
                  </a:lnTo>
                  <a:lnTo>
                    <a:pt x="723" y="592"/>
                  </a:lnTo>
                  <a:lnTo>
                    <a:pt x="732" y="575"/>
                  </a:lnTo>
                  <a:lnTo>
                    <a:pt x="741" y="559"/>
                  </a:lnTo>
                  <a:lnTo>
                    <a:pt x="748" y="541"/>
                  </a:lnTo>
                  <a:lnTo>
                    <a:pt x="755" y="523"/>
                  </a:lnTo>
                  <a:lnTo>
                    <a:pt x="762" y="505"/>
                  </a:lnTo>
                  <a:lnTo>
                    <a:pt x="767" y="487"/>
                  </a:lnTo>
                  <a:lnTo>
                    <a:pt x="771" y="468"/>
                  </a:lnTo>
                  <a:lnTo>
                    <a:pt x="774" y="449"/>
                  </a:lnTo>
                  <a:lnTo>
                    <a:pt x="777" y="429"/>
                  </a:lnTo>
                  <a:lnTo>
                    <a:pt x="778" y="409"/>
                  </a:lnTo>
                  <a:lnTo>
                    <a:pt x="779" y="389"/>
                  </a:lnTo>
                  <a:lnTo>
                    <a:pt x="778" y="370"/>
                  </a:lnTo>
                  <a:lnTo>
                    <a:pt x="777" y="350"/>
                  </a:lnTo>
                  <a:lnTo>
                    <a:pt x="774" y="331"/>
                  </a:lnTo>
                  <a:lnTo>
                    <a:pt x="771" y="311"/>
                  </a:lnTo>
                  <a:lnTo>
                    <a:pt x="767" y="292"/>
                  </a:lnTo>
                  <a:lnTo>
                    <a:pt x="762" y="275"/>
                  </a:lnTo>
                  <a:lnTo>
                    <a:pt x="755" y="256"/>
                  </a:lnTo>
                  <a:lnTo>
                    <a:pt x="748" y="238"/>
                  </a:lnTo>
                  <a:lnTo>
                    <a:pt x="741" y="221"/>
                  </a:lnTo>
                  <a:lnTo>
                    <a:pt x="732" y="205"/>
                  </a:lnTo>
                  <a:lnTo>
                    <a:pt x="723" y="188"/>
                  </a:lnTo>
                  <a:lnTo>
                    <a:pt x="713" y="172"/>
                  </a:lnTo>
                  <a:lnTo>
                    <a:pt x="701" y="157"/>
                  </a:lnTo>
                  <a:lnTo>
                    <a:pt x="690" y="142"/>
                  </a:lnTo>
                  <a:lnTo>
                    <a:pt x="678" y="128"/>
                  </a:lnTo>
                  <a:lnTo>
                    <a:pt x="665" y="115"/>
                  </a:lnTo>
                  <a:lnTo>
                    <a:pt x="651" y="101"/>
                  </a:lnTo>
                  <a:lnTo>
                    <a:pt x="637" y="89"/>
                  </a:lnTo>
                  <a:lnTo>
                    <a:pt x="623" y="77"/>
                  </a:lnTo>
                  <a:lnTo>
                    <a:pt x="607" y="67"/>
                  </a:lnTo>
                  <a:lnTo>
                    <a:pt x="591" y="56"/>
                  </a:lnTo>
                  <a:lnTo>
                    <a:pt x="575" y="47"/>
                  </a:lnTo>
                  <a:lnTo>
                    <a:pt x="558" y="39"/>
                  </a:lnTo>
                  <a:lnTo>
                    <a:pt x="541" y="30"/>
                  </a:lnTo>
                  <a:lnTo>
                    <a:pt x="524" y="24"/>
                  </a:lnTo>
                  <a:lnTo>
                    <a:pt x="505" y="18"/>
                  </a:lnTo>
                  <a:lnTo>
                    <a:pt x="487" y="12"/>
                  </a:lnTo>
                  <a:lnTo>
                    <a:pt x="468" y="8"/>
                  </a:lnTo>
                  <a:lnTo>
                    <a:pt x="448" y="4"/>
                  </a:lnTo>
                  <a:lnTo>
                    <a:pt x="430" y="2"/>
                  </a:lnTo>
                  <a:lnTo>
                    <a:pt x="410" y="0"/>
                  </a:lnTo>
                  <a:lnTo>
                    <a:pt x="389" y="0"/>
                  </a:lnTo>
                  <a:lnTo>
                    <a:pt x="369" y="0"/>
                  </a:lnTo>
                  <a:lnTo>
                    <a:pt x="349" y="2"/>
                  </a:lnTo>
                  <a:lnTo>
                    <a:pt x="330" y="4"/>
                  </a:lnTo>
                  <a:lnTo>
                    <a:pt x="311" y="8"/>
                  </a:lnTo>
                  <a:lnTo>
                    <a:pt x="292" y="12"/>
                  </a:lnTo>
                  <a:lnTo>
                    <a:pt x="274" y="18"/>
                  </a:lnTo>
                  <a:lnTo>
                    <a:pt x="255" y="24"/>
                  </a:lnTo>
                  <a:lnTo>
                    <a:pt x="238" y="30"/>
                  </a:lnTo>
                  <a:lnTo>
                    <a:pt x="221" y="39"/>
                  </a:lnTo>
                  <a:lnTo>
                    <a:pt x="204" y="47"/>
                  </a:lnTo>
                  <a:lnTo>
                    <a:pt x="187" y="56"/>
                  </a:lnTo>
                  <a:lnTo>
                    <a:pt x="172" y="67"/>
                  </a:lnTo>
                  <a:lnTo>
                    <a:pt x="156" y="77"/>
                  </a:lnTo>
                  <a:lnTo>
                    <a:pt x="142" y="89"/>
                  </a:lnTo>
                  <a:lnTo>
                    <a:pt x="128" y="101"/>
                  </a:lnTo>
                  <a:lnTo>
                    <a:pt x="114" y="115"/>
                  </a:lnTo>
                  <a:lnTo>
                    <a:pt x="101" y="128"/>
                  </a:lnTo>
                  <a:lnTo>
                    <a:pt x="89" y="142"/>
                  </a:lnTo>
                  <a:lnTo>
                    <a:pt x="77" y="157"/>
                  </a:lnTo>
                  <a:lnTo>
                    <a:pt x="66" y="172"/>
                  </a:lnTo>
                  <a:lnTo>
                    <a:pt x="56" y="188"/>
                  </a:lnTo>
                  <a:lnTo>
                    <a:pt x="47" y="205"/>
                  </a:lnTo>
                  <a:lnTo>
                    <a:pt x="38" y="221"/>
                  </a:lnTo>
                  <a:lnTo>
                    <a:pt x="31" y="238"/>
                  </a:lnTo>
                  <a:lnTo>
                    <a:pt x="24" y="256"/>
                  </a:lnTo>
                  <a:lnTo>
                    <a:pt x="17" y="275"/>
                  </a:lnTo>
                  <a:lnTo>
                    <a:pt x="12" y="292"/>
                  </a:lnTo>
                  <a:lnTo>
                    <a:pt x="8" y="311"/>
                  </a:lnTo>
                  <a:lnTo>
                    <a:pt x="4" y="331"/>
                  </a:lnTo>
                  <a:lnTo>
                    <a:pt x="2" y="350"/>
                  </a:lnTo>
                  <a:lnTo>
                    <a:pt x="1" y="370"/>
                  </a:lnTo>
                  <a:lnTo>
                    <a:pt x="0" y="389"/>
                  </a:lnTo>
                  <a:lnTo>
                    <a:pt x="1" y="409"/>
                  </a:lnTo>
                  <a:lnTo>
                    <a:pt x="2" y="429"/>
                  </a:lnTo>
                  <a:lnTo>
                    <a:pt x="4" y="449"/>
                  </a:lnTo>
                  <a:lnTo>
                    <a:pt x="8" y="468"/>
                  </a:lnTo>
                  <a:lnTo>
                    <a:pt x="12" y="487"/>
                  </a:lnTo>
                  <a:lnTo>
                    <a:pt x="17" y="505"/>
                  </a:lnTo>
                  <a:lnTo>
                    <a:pt x="24" y="523"/>
                  </a:lnTo>
                  <a:lnTo>
                    <a:pt x="31" y="541"/>
                  </a:lnTo>
                  <a:lnTo>
                    <a:pt x="38" y="559"/>
                  </a:lnTo>
                  <a:lnTo>
                    <a:pt x="47" y="575"/>
                  </a:lnTo>
                  <a:lnTo>
                    <a:pt x="56" y="592"/>
                  </a:lnTo>
                  <a:lnTo>
                    <a:pt x="66" y="608"/>
                  </a:lnTo>
                  <a:lnTo>
                    <a:pt x="77" y="622"/>
                  </a:lnTo>
                  <a:lnTo>
                    <a:pt x="89" y="638"/>
                  </a:lnTo>
                  <a:lnTo>
                    <a:pt x="101" y="652"/>
                  </a:lnTo>
                  <a:lnTo>
                    <a:pt x="114" y="665"/>
                  </a:lnTo>
                  <a:lnTo>
                    <a:pt x="128" y="678"/>
                  </a:lnTo>
                  <a:lnTo>
                    <a:pt x="142" y="690"/>
                  </a:lnTo>
                  <a:lnTo>
                    <a:pt x="156" y="702"/>
                  </a:lnTo>
                  <a:lnTo>
                    <a:pt x="172" y="713"/>
                  </a:lnTo>
                  <a:lnTo>
                    <a:pt x="187" y="723"/>
                  </a:lnTo>
                  <a:lnTo>
                    <a:pt x="204" y="732"/>
                  </a:lnTo>
                  <a:lnTo>
                    <a:pt x="221" y="741"/>
                  </a:lnTo>
                  <a:lnTo>
                    <a:pt x="238" y="749"/>
                  </a:lnTo>
                  <a:lnTo>
                    <a:pt x="255" y="756"/>
                  </a:lnTo>
                  <a:lnTo>
                    <a:pt x="274" y="762"/>
                  </a:lnTo>
                  <a:lnTo>
                    <a:pt x="292" y="767"/>
                  </a:lnTo>
                  <a:lnTo>
                    <a:pt x="311" y="772"/>
                  </a:lnTo>
                  <a:lnTo>
                    <a:pt x="330" y="775"/>
                  </a:lnTo>
                  <a:lnTo>
                    <a:pt x="349" y="778"/>
                  </a:lnTo>
                  <a:lnTo>
                    <a:pt x="369" y="779"/>
                  </a:lnTo>
                  <a:lnTo>
                    <a:pt x="389" y="780"/>
                  </a:lnTo>
                  <a:close/>
                </a:path>
              </a:pathLst>
            </a:custGeom>
            <a:solidFill>
              <a:srgbClr val="AAA9A9"/>
            </a:solidFill>
            <a:ln w="9525">
              <a:noFill/>
              <a:round/>
              <a:headEnd/>
              <a:tailEnd/>
            </a:ln>
          </p:spPr>
          <p:txBody>
            <a:bodyPr/>
            <a:lstStyle/>
            <a:p>
              <a:endParaRPr lang="en-GB"/>
            </a:p>
          </p:txBody>
        </p:sp>
        <p:sp>
          <p:nvSpPr>
            <p:cNvPr id="173109" name="Freeform 53"/>
            <p:cNvSpPr>
              <a:spLocks/>
            </p:cNvSpPr>
            <p:nvPr/>
          </p:nvSpPr>
          <p:spPr bwMode="auto">
            <a:xfrm>
              <a:off x="1126" y="1079"/>
              <a:ext cx="195" cy="195"/>
            </a:xfrm>
            <a:custGeom>
              <a:avLst/>
              <a:gdLst/>
              <a:ahLst/>
              <a:cxnLst>
                <a:cxn ang="0">
                  <a:pos x="430" y="778"/>
                </a:cxn>
                <a:cxn ang="0">
                  <a:pos x="487" y="767"/>
                </a:cxn>
                <a:cxn ang="0">
                  <a:pos x="541" y="749"/>
                </a:cxn>
                <a:cxn ang="0">
                  <a:pos x="591" y="723"/>
                </a:cxn>
                <a:cxn ang="0">
                  <a:pos x="637" y="690"/>
                </a:cxn>
                <a:cxn ang="0">
                  <a:pos x="678" y="652"/>
                </a:cxn>
                <a:cxn ang="0">
                  <a:pos x="713" y="608"/>
                </a:cxn>
                <a:cxn ang="0">
                  <a:pos x="741" y="559"/>
                </a:cxn>
                <a:cxn ang="0">
                  <a:pos x="762" y="505"/>
                </a:cxn>
                <a:cxn ang="0">
                  <a:pos x="774" y="449"/>
                </a:cxn>
                <a:cxn ang="0">
                  <a:pos x="779" y="389"/>
                </a:cxn>
                <a:cxn ang="0">
                  <a:pos x="774" y="331"/>
                </a:cxn>
                <a:cxn ang="0">
                  <a:pos x="762" y="275"/>
                </a:cxn>
                <a:cxn ang="0">
                  <a:pos x="741" y="221"/>
                </a:cxn>
                <a:cxn ang="0">
                  <a:pos x="713" y="172"/>
                </a:cxn>
                <a:cxn ang="0">
                  <a:pos x="678" y="128"/>
                </a:cxn>
                <a:cxn ang="0">
                  <a:pos x="637" y="89"/>
                </a:cxn>
                <a:cxn ang="0">
                  <a:pos x="591" y="56"/>
                </a:cxn>
                <a:cxn ang="0">
                  <a:pos x="541" y="30"/>
                </a:cxn>
                <a:cxn ang="0">
                  <a:pos x="487" y="12"/>
                </a:cxn>
                <a:cxn ang="0">
                  <a:pos x="430" y="2"/>
                </a:cxn>
                <a:cxn ang="0">
                  <a:pos x="369" y="0"/>
                </a:cxn>
                <a:cxn ang="0">
                  <a:pos x="311" y="8"/>
                </a:cxn>
                <a:cxn ang="0">
                  <a:pos x="255" y="24"/>
                </a:cxn>
                <a:cxn ang="0">
                  <a:pos x="204" y="47"/>
                </a:cxn>
                <a:cxn ang="0">
                  <a:pos x="156" y="77"/>
                </a:cxn>
                <a:cxn ang="0">
                  <a:pos x="114" y="115"/>
                </a:cxn>
                <a:cxn ang="0">
                  <a:pos x="77" y="157"/>
                </a:cxn>
                <a:cxn ang="0">
                  <a:pos x="47" y="205"/>
                </a:cxn>
                <a:cxn ang="0">
                  <a:pos x="24" y="256"/>
                </a:cxn>
                <a:cxn ang="0">
                  <a:pos x="8" y="311"/>
                </a:cxn>
                <a:cxn ang="0">
                  <a:pos x="1" y="370"/>
                </a:cxn>
                <a:cxn ang="0">
                  <a:pos x="2" y="429"/>
                </a:cxn>
                <a:cxn ang="0">
                  <a:pos x="12" y="487"/>
                </a:cxn>
                <a:cxn ang="0">
                  <a:pos x="31" y="541"/>
                </a:cxn>
                <a:cxn ang="0">
                  <a:pos x="56" y="592"/>
                </a:cxn>
                <a:cxn ang="0">
                  <a:pos x="89" y="638"/>
                </a:cxn>
                <a:cxn ang="0">
                  <a:pos x="128" y="678"/>
                </a:cxn>
                <a:cxn ang="0">
                  <a:pos x="172" y="713"/>
                </a:cxn>
                <a:cxn ang="0">
                  <a:pos x="221" y="741"/>
                </a:cxn>
                <a:cxn ang="0">
                  <a:pos x="274" y="762"/>
                </a:cxn>
                <a:cxn ang="0">
                  <a:pos x="330" y="775"/>
                </a:cxn>
                <a:cxn ang="0">
                  <a:pos x="389" y="780"/>
                </a:cxn>
              </a:cxnLst>
              <a:rect l="0" t="0" r="r" b="b"/>
              <a:pathLst>
                <a:path w="779" h="780">
                  <a:moveTo>
                    <a:pt x="389" y="780"/>
                  </a:moveTo>
                  <a:lnTo>
                    <a:pt x="410" y="779"/>
                  </a:lnTo>
                  <a:lnTo>
                    <a:pt x="430" y="778"/>
                  </a:lnTo>
                  <a:lnTo>
                    <a:pt x="448" y="775"/>
                  </a:lnTo>
                  <a:lnTo>
                    <a:pt x="468" y="772"/>
                  </a:lnTo>
                  <a:lnTo>
                    <a:pt x="487" y="767"/>
                  </a:lnTo>
                  <a:lnTo>
                    <a:pt x="505" y="762"/>
                  </a:lnTo>
                  <a:lnTo>
                    <a:pt x="524" y="756"/>
                  </a:lnTo>
                  <a:lnTo>
                    <a:pt x="541" y="749"/>
                  </a:lnTo>
                  <a:lnTo>
                    <a:pt x="558" y="741"/>
                  </a:lnTo>
                  <a:lnTo>
                    <a:pt x="575" y="732"/>
                  </a:lnTo>
                  <a:lnTo>
                    <a:pt x="591" y="723"/>
                  </a:lnTo>
                  <a:lnTo>
                    <a:pt x="607" y="713"/>
                  </a:lnTo>
                  <a:lnTo>
                    <a:pt x="623" y="702"/>
                  </a:lnTo>
                  <a:lnTo>
                    <a:pt x="637" y="690"/>
                  </a:lnTo>
                  <a:lnTo>
                    <a:pt x="651" y="678"/>
                  </a:lnTo>
                  <a:lnTo>
                    <a:pt x="665" y="665"/>
                  </a:lnTo>
                  <a:lnTo>
                    <a:pt x="678" y="652"/>
                  </a:lnTo>
                  <a:lnTo>
                    <a:pt x="690" y="638"/>
                  </a:lnTo>
                  <a:lnTo>
                    <a:pt x="701" y="622"/>
                  </a:lnTo>
                  <a:lnTo>
                    <a:pt x="713" y="608"/>
                  </a:lnTo>
                  <a:lnTo>
                    <a:pt x="723" y="592"/>
                  </a:lnTo>
                  <a:lnTo>
                    <a:pt x="732" y="575"/>
                  </a:lnTo>
                  <a:lnTo>
                    <a:pt x="741" y="559"/>
                  </a:lnTo>
                  <a:lnTo>
                    <a:pt x="748" y="541"/>
                  </a:lnTo>
                  <a:lnTo>
                    <a:pt x="755" y="523"/>
                  </a:lnTo>
                  <a:lnTo>
                    <a:pt x="762" y="505"/>
                  </a:lnTo>
                  <a:lnTo>
                    <a:pt x="767" y="487"/>
                  </a:lnTo>
                  <a:lnTo>
                    <a:pt x="771" y="468"/>
                  </a:lnTo>
                  <a:lnTo>
                    <a:pt x="774" y="449"/>
                  </a:lnTo>
                  <a:lnTo>
                    <a:pt x="777" y="429"/>
                  </a:lnTo>
                  <a:lnTo>
                    <a:pt x="778" y="409"/>
                  </a:lnTo>
                  <a:lnTo>
                    <a:pt x="779" y="389"/>
                  </a:lnTo>
                  <a:lnTo>
                    <a:pt x="778" y="370"/>
                  </a:lnTo>
                  <a:lnTo>
                    <a:pt x="777" y="350"/>
                  </a:lnTo>
                  <a:lnTo>
                    <a:pt x="774" y="331"/>
                  </a:lnTo>
                  <a:lnTo>
                    <a:pt x="771" y="311"/>
                  </a:lnTo>
                  <a:lnTo>
                    <a:pt x="767" y="292"/>
                  </a:lnTo>
                  <a:lnTo>
                    <a:pt x="762" y="275"/>
                  </a:lnTo>
                  <a:lnTo>
                    <a:pt x="755" y="256"/>
                  </a:lnTo>
                  <a:lnTo>
                    <a:pt x="748" y="238"/>
                  </a:lnTo>
                  <a:lnTo>
                    <a:pt x="741" y="221"/>
                  </a:lnTo>
                  <a:lnTo>
                    <a:pt x="732" y="205"/>
                  </a:lnTo>
                  <a:lnTo>
                    <a:pt x="723" y="188"/>
                  </a:lnTo>
                  <a:lnTo>
                    <a:pt x="713" y="172"/>
                  </a:lnTo>
                  <a:lnTo>
                    <a:pt x="701" y="157"/>
                  </a:lnTo>
                  <a:lnTo>
                    <a:pt x="690" y="142"/>
                  </a:lnTo>
                  <a:lnTo>
                    <a:pt x="678" y="128"/>
                  </a:lnTo>
                  <a:lnTo>
                    <a:pt x="665" y="115"/>
                  </a:lnTo>
                  <a:lnTo>
                    <a:pt x="651" y="101"/>
                  </a:lnTo>
                  <a:lnTo>
                    <a:pt x="637" y="89"/>
                  </a:lnTo>
                  <a:lnTo>
                    <a:pt x="623" y="77"/>
                  </a:lnTo>
                  <a:lnTo>
                    <a:pt x="607" y="67"/>
                  </a:lnTo>
                  <a:lnTo>
                    <a:pt x="591" y="56"/>
                  </a:lnTo>
                  <a:lnTo>
                    <a:pt x="575" y="47"/>
                  </a:lnTo>
                  <a:lnTo>
                    <a:pt x="558" y="39"/>
                  </a:lnTo>
                  <a:lnTo>
                    <a:pt x="541" y="30"/>
                  </a:lnTo>
                  <a:lnTo>
                    <a:pt x="524" y="24"/>
                  </a:lnTo>
                  <a:lnTo>
                    <a:pt x="505" y="18"/>
                  </a:lnTo>
                  <a:lnTo>
                    <a:pt x="487" y="12"/>
                  </a:lnTo>
                  <a:lnTo>
                    <a:pt x="468" y="8"/>
                  </a:lnTo>
                  <a:lnTo>
                    <a:pt x="448" y="4"/>
                  </a:lnTo>
                  <a:lnTo>
                    <a:pt x="430" y="2"/>
                  </a:lnTo>
                  <a:lnTo>
                    <a:pt x="410" y="0"/>
                  </a:lnTo>
                  <a:lnTo>
                    <a:pt x="389" y="0"/>
                  </a:lnTo>
                  <a:lnTo>
                    <a:pt x="369" y="0"/>
                  </a:lnTo>
                  <a:lnTo>
                    <a:pt x="349" y="2"/>
                  </a:lnTo>
                  <a:lnTo>
                    <a:pt x="330" y="4"/>
                  </a:lnTo>
                  <a:lnTo>
                    <a:pt x="311" y="8"/>
                  </a:lnTo>
                  <a:lnTo>
                    <a:pt x="292" y="12"/>
                  </a:lnTo>
                  <a:lnTo>
                    <a:pt x="274" y="18"/>
                  </a:lnTo>
                  <a:lnTo>
                    <a:pt x="255" y="24"/>
                  </a:lnTo>
                  <a:lnTo>
                    <a:pt x="238" y="30"/>
                  </a:lnTo>
                  <a:lnTo>
                    <a:pt x="221" y="39"/>
                  </a:lnTo>
                  <a:lnTo>
                    <a:pt x="204" y="47"/>
                  </a:lnTo>
                  <a:lnTo>
                    <a:pt x="187" y="56"/>
                  </a:lnTo>
                  <a:lnTo>
                    <a:pt x="172" y="67"/>
                  </a:lnTo>
                  <a:lnTo>
                    <a:pt x="156" y="77"/>
                  </a:lnTo>
                  <a:lnTo>
                    <a:pt x="142" y="89"/>
                  </a:lnTo>
                  <a:lnTo>
                    <a:pt x="128" y="101"/>
                  </a:lnTo>
                  <a:lnTo>
                    <a:pt x="114" y="115"/>
                  </a:lnTo>
                  <a:lnTo>
                    <a:pt x="101" y="128"/>
                  </a:lnTo>
                  <a:lnTo>
                    <a:pt x="89" y="142"/>
                  </a:lnTo>
                  <a:lnTo>
                    <a:pt x="77" y="157"/>
                  </a:lnTo>
                  <a:lnTo>
                    <a:pt x="66" y="172"/>
                  </a:lnTo>
                  <a:lnTo>
                    <a:pt x="56" y="188"/>
                  </a:lnTo>
                  <a:lnTo>
                    <a:pt x="47" y="205"/>
                  </a:lnTo>
                  <a:lnTo>
                    <a:pt x="38" y="221"/>
                  </a:lnTo>
                  <a:lnTo>
                    <a:pt x="31" y="238"/>
                  </a:lnTo>
                  <a:lnTo>
                    <a:pt x="24" y="256"/>
                  </a:lnTo>
                  <a:lnTo>
                    <a:pt x="17" y="275"/>
                  </a:lnTo>
                  <a:lnTo>
                    <a:pt x="12" y="292"/>
                  </a:lnTo>
                  <a:lnTo>
                    <a:pt x="8" y="311"/>
                  </a:lnTo>
                  <a:lnTo>
                    <a:pt x="4" y="331"/>
                  </a:lnTo>
                  <a:lnTo>
                    <a:pt x="2" y="350"/>
                  </a:lnTo>
                  <a:lnTo>
                    <a:pt x="1" y="370"/>
                  </a:lnTo>
                  <a:lnTo>
                    <a:pt x="0" y="389"/>
                  </a:lnTo>
                  <a:lnTo>
                    <a:pt x="1" y="409"/>
                  </a:lnTo>
                  <a:lnTo>
                    <a:pt x="2" y="429"/>
                  </a:lnTo>
                  <a:lnTo>
                    <a:pt x="4" y="449"/>
                  </a:lnTo>
                  <a:lnTo>
                    <a:pt x="8" y="468"/>
                  </a:lnTo>
                  <a:lnTo>
                    <a:pt x="12" y="487"/>
                  </a:lnTo>
                  <a:lnTo>
                    <a:pt x="17" y="505"/>
                  </a:lnTo>
                  <a:lnTo>
                    <a:pt x="24" y="523"/>
                  </a:lnTo>
                  <a:lnTo>
                    <a:pt x="31" y="541"/>
                  </a:lnTo>
                  <a:lnTo>
                    <a:pt x="38" y="559"/>
                  </a:lnTo>
                  <a:lnTo>
                    <a:pt x="47" y="575"/>
                  </a:lnTo>
                  <a:lnTo>
                    <a:pt x="56" y="592"/>
                  </a:lnTo>
                  <a:lnTo>
                    <a:pt x="66" y="608"/>
                  </a:lnTo>
                  <a:lnTo>
                    <a:pt x="77" y="622"/>
                  </a:lnTo>
                  <a:lnTo>
                    <a:pt x="89" y="638"/>
                  </a:lnTo>
                  <a:lnTo>
                    <a:pt x="101" y="652"/>
                  </a:lnTo>
                  <a:lnTo>
                    <a:pt x="114" y="665"/>
                  </a:lnTo>
                  <a:lnTo>
                    <a:pt x="128" y="678"/>
                  </a:lnTo>
                  <a:lnTo>
                    <a:pt x="142" y="690"/>
                  </a:lnTo>
                  <a:lnTo>
                    <a:pt x="156" y="702"/>
                  </a:lnTo>
                  <a:lnTo>
                    <a:pt x="172" y="713"/>
                  </a:lnTo>
                  <a:lnTo>
                    <a:pt x="187" y="723"/>
                  </a:lnTo>
                  <a:lnTo>
                    <a:pt x="204" y="732"/>
                  </a:lnTo>
                  <a:lnTo>
                    <a:pt x="221" y="741"/>
                  </a:lnTo>
                  <a:lnTo>
                    <a:pt x="238" y="749"/>
                  </a:lnTo>
                  <a:lnTo>
                    <a:pt x="255" y="756"/>
                  </a:lnTo>
                  <a:lnTo>
                    <a:pt x="274" y="762"/>
                  </a:lnTo>
                  <a:lnTo>
                    <a:pt x="292" y="767"/>
                  </a:lnTo>
                  <a:lnTo>
                    <a:pt x="311" y="772"/>
                  </a:lnTo>
                  <a:lnTo>
                    <a:pt x="330" y="775"/>
                  </a:lnTo>
                  <a:lnTo>
                    <a:pt x="349" y="778"/>
                  </a:lnTo>
                  <a:lnTo>
                    <a:pt x="369" y="779"/>
                  </a:lnTo>
                  <a:lnTo>
                    <a:pt x="389" y="780"/>
                  </a:lnTo>
                  <a:close/>
                </a:path>
              </a:pathLst>
            </a:custGeom>
            <a:noFill/>
            <a:ln w="14288">
              <a:solidFill>
                <a:srgbClr val="C3C3C2"/>
              </a:solidFill>
              <a:prstDash val="solid"/>
              <a:round/>
              <a:headEnd/>
              <a:tailEnd/>
            </a:ln>
          </p:spPr>
          <p:txBody>
            <a:bodyPr/>
            <a:lstStyle/>
            <a:p>
              <a:endParaRPr lang="en-GB"/>
            </a:p>
          </p:txBody>
        </p:sp>
        <p:sp>
          <p:nvSpPr>
            <p:cNvPr id="173110" name="Freeform 54"/>
            <p:cNvSpPr>
              <a:spLocks/>
            </p:cNvSpPr>
            <p:nvPr/>
          </p:nvSpPr>
          <p:spPr bwMode="auto">
            <a:xfrm>
              <a:off x="993" y="1318"/>
              <a:ext cx="382" cy="300"/>
            </a:xfrm>
            <a:custGeom>
              <a:avLst/>
              <a:gdLst/>
              <a:ahLst/>
              <a:cxnLst>
                <a:cxn ang="0">
                  <a:pos x="387" y="0"/>
                </a:cxn>
                <a:cxn ang="0">
                  <a:pos x="1525" y="0"/>
                </a:cxn>
                <a:cxn ang="0">
                  <a:pos x="1138" y="1200"/>
                </a:cxn>
                <a:cxn ang="0">
                  <a:pos x="0" y="1197"/>
                </a:cxn>
                <a:cxn ang="0">
                  <a:pos x="387" y="0"/>
                </a:cxn>
              </a:cxnLst>
              <a:rect l="0" t="0" r="r" b="b"/>
              <a:pathLst>
                <a:path w="1525" h="1200">
                  <a:moveTo>
                    <a:pt x="387" y="0"/>
                  </a:moveTo>
                  <a:lnTo>
                    <a:pt x="1525" y="0"/>
                  </a:lnTo>
                  <a:lnTo>
                    <a:pt x="1138" y="1200"/>
                  </a:lnTo>
                  <a:lnTo>
                    <a:pt x="0" y="1197"/>
                  </a:lnTo>
                  <a:lnTo>
                    <a:pt x="387" y="0"/>
                  </a:lnTo>
                  <a:close/>
                </a:path>
              </a:pathLst>
            </a:custGeom>
            <a:solidFill>
              <a:srgbClr val="AAA9A9"/>
            </a:solidFill>
            <a:ln w="9525">
              <a:noFill/>
              <a:round/>
              <a:headEnd/>
              <a:tailEnd/>
            </a:ln>
          </p:spPr>
          <p:txBody>
            <a:bodyPr/>
            <a:lstStyle/>
            <a:p>
              <a:endParaRPr lang="en-GB"/>
            </a:p>
          </p:txBody>
        </p:sp>
        <p:sp>
          <p:nvSpPr>
            <p:cNvPr id="173111" name="Freeform 55"/>
            <p:cNvSpPr>
              <a:spLocks/>
            </p:cNvSpPr>
            <p:nvPr/>
          </p:nvSpPr>
          <p:spPr bwMode="auto">
            <a:xfrm>
              <a:off x="993" y="1318"/>
              <a:ext cx="382" cy="300"/>
            </a:xfrm>
            <a:custGeom>
              <a:avLst/>
              <a:gdLst/>
              <a:ahLst/>
              <a:cxnLst>
                <a:cxn ang="0">
                  <a:pos x="387" y="0"/>
                </a:cxn>
                <a:cxn ang="0">
                  <a:pos x="1525" y="0"/>
                </a:cxn>
                <a:cxn ang="0">
                  <a:pos x="1138" y="1200"/>
                </a:cxn>
                <a:cxn ang="0">
                  <a:pos x="0" y="1197"/>
                </a:cxn>
                <a:cxn ang="0">
                  <a:pos x="387" y="0"/>
                </a:cxn>
              </a:cxnLst>
              <a:rect l="0" t="0" r="r" b="b"/>
              <a:pathLst>
                <a:path w="1525" h="1200">
                  <a:moveTo>
                    <a:pt x="387" y="0"/>
                  </a:moveTo>
                  <a:lnTo>
                    <a:pt x="1525" y="0"/>
                  </a:lnTo>
                  <a:lnTo>
                    <a:pt x="1138" y="1200"/>
                  </a:lnTo>
                  <a:lnTo>
                    <a:pt x="0" y="1197"/>
                  </a:lnTo>
                  <a:lnTo>
                    <a:pt x="387" y="0"/>
                  </a:lnTo>
                  <a:close/>
                </a:path>
              </a:pathLst>
            </a:custGeom>
            <a:noFill/>
            <a:ln w="14288">
              <a:solidFill>
                <a:srgbClr val="C3C3C2"/>
              </a:solidFill>
              <a:prstDash val="solid"/>
              <a:round/>
              <a:headEnd/>
              <a:tailEnd/>
            </a:ln>
          </p:spPr>
          <p:txBody>
            <a:bodyPr/>
            <a:lstStyle/>
            <a:p>
              <a:endParaRPr lang="en-GB"/>
            </a:p>
          </p:txBody>
        </p:sp>
        <p:sp>
          <p:nvSpPr>
            <p:cNvPr id="173112" name="Freeform 56"/>
            <p:cNvSpPr>
              <a:spLocks/>
            </p:cNvSpPr>
            <p:nvPr/>
          </p:nvSpPr>
          <p:spPr bwMode="auto">
            <a:xfrm>
              <a:off x="1093" y="1056"/>
              <a:ext cx="194" cy="195"/>
            </a:xfrm>
            <a:custGeom>
              <a:avLst/>
              <a:gdLst/>
              <a:ahLst/>
              <a:cxnLst>
                <a:cxn ang="0">
                  <a:pos x="429" y="778"/>
                </a:cxn>
                <a:cxn ang="0">
                  <a:pos x="486" y="767"/>
                </a:cxn>
                <a:cxn ang="0">
                  <a:pos x="541" y="750"/>
                </a:cxn>
                <a:cxn ang="0">
                  <a:pos x="591" y="724"/>
                </a:cxn>
                <a:cxn ang="0">
                  <a:pos x="637" y="691"/>
                </a:cxn>
                <a:cxn ang="0">
                  <a:pos x="677" y="651"/>
                </a:cxn>
                <a:cxn ang="0">
                  <a:pos x="712" y="608"/>
                </a:cxn>
                <a:cxn ang="0">
                  <a:pos x="740" y="559"/>
                </a:cxn>
                <a:cxn ang="0">
                  <a:pos x="761" y="505"/>
                </a:cxn>
                <a:cxn ang="0">
                  <a:pos x="775" y="449"/>
                </a:cxn>
                <a:cxn ang="0">
                  <a:pos x="779" y="390"/>
                </a:cxn>
                <a:cxn ang="0">
                  <a:pos x="775" y="331"/>
                </a:cxn>
                <a:cxn ang="0">
                  <a:pos x="761" y="275"/>
                </a:cxn>
                <a:cxn ang="0">
                  <a:pos x="740" y="221"/>
                </a:cxn>
                <a:cxn ang="0">
                  <a:pos x="712" y="172"/>
                </a:cxn>
                <a:cxn ang="0">
                  <a:pos x="677" y="128"/>
                </a:cxn>
                <a:cxn ang="0">
                  <a:pos x="637" y="90"/>
                </a:cxn>
                <a:cxn ang="0">
                  <a:pos x="591" y="57"/>
                </a:cxn>
                <a:cxn ang="0">
                  <a:pos x="541" y="31"/>
                </a:cxn>
                <a:cxn ang="0">
                  <a:pos x="486" y="12"/>
                </a:cxn>
                <a:cxn ang="0">
                  <a:pos x="429" y="2"/>
                </a:cxn>
                <a:cxn ang="0">
                  <a:pos x="369" y="1"/>
                </a:cxn>
                <a:cxn ang="0">
                  <a:pos x="311" y="8"/>
                </a:cxn>
                <a:cxn ang="0">
                  <a:pos x="256" y="24"/>
                </a:cxn>
                <a:cxn ang="0">
                  <a:pos x="203" y="48"/>
                </a:cxn>
                <a:cxn ang="0">
                  <a:pos x="157" y="78"/>
                </a:cxn>
                <a:cxn ang="0">
                  <a:pos x="114" y="115"/>
                </a:cxn>
                <a:cxn ang="0">
                  <a:pos x="77" y="158"/>
                </a:cxn>
                <a:cxn ang="0">
                  <a:pos x="47" y="205"/>
                </a:cxn>
                <a:cxn ang="0">
                  <a:pos x="23" y="257"/>
                </a:cxn>
                <a:cxn ang="0">
                  <a:pos x="7" y="312"/>
                </a:cxn>
                <a:cxn ang="0">
                  <a:pos x="0" y="370"/>
                </a:cxn>
                <a:cxn ang="0">
                  <a:pos x="2" y="430"/>
                </a:cxn>
                <a:cxn ang="0">
                  <a:pos x="11" y="488"/>
                </a:cxn>
                <a:cxn ang="0">
                  <a:pos x="30" y="542"/>
                </a:cxn>
                <a:cxn ang="0">
                  <a:pos x="56" y="592"/>
                </a:cxn>
                <a:cxn ang="0">
                  <a:pos x="89" y="638"/>
                </a:cxn>
                <a:cxn ang="0">
                  <a:pos x="127" y="679"/>
                </a:cxn>
                <a:cxn ang="0">
                  <a:pos x="171" y="713"/>
                </a:cxn>
                <a:cxn ang="0">
                  <a:pos x="220" y="741"/>
                </a:cxn>
                <a:cxn ang="0">
                  <a:pos x="273" y="762"/>
                </a:cxn>
                <a:cxn ang="0">
                  <a:pos x="330" y="776"/>
                </a:cxn>
                <a:cxn ang="0">
                  <a:pos x="389" y="780"/>
                </a:cxn>
              </a:cxnLst>
              <a:rect l="0" t="0" r="r" b="b"/>
              <a:pathLst>
                <a:path w="779" h="780">
                  <a:moveTo>
                    <a:pt x="389" y="780"/>
                  </a:moveTo>
                  <a:lnTo>
                    <a:pt x="409" y="779"/>
                  </a:lnTo>
                  <a:lnTo>
                    <a:pt x="429" y="778"/>
                  </a:lnTo>
                  <a:lnTo>
                    <a:pt x="449" y="776"/>
                  </a:lnTo>
                  <a:lnTo>
                    <a:pt x="468" y="772"/>
                  </a:lnTo>
                  <a:lnTo>
                    <a:pt x="486" y="767"/>
                  </a:lnTo>
                  <a:lnTo>
                    <a:pt x="505" y="762"/>
                  </a:lnTo>
                  <a:lnTo>
                    <a:pt x="523" y="756"/>
                  </a:lnTo>
                  <a:lnTo>
                    <a:pt x="541" y="750"/>
                  </a:lnTo>
                  <a:lnTo>
                    <a:pt x="558" y="741"/>
                  </a:lnTo>
                  <a:lnTo>
                    <a:pt x="575" y="733"/>
                  </a:lnTo>
                  <a:lnTo>
                    <a:pt x="591" y="724"/>
                  </a:lnTo>
                  <a:lnTo>
                    <a:pt x="606" y="713"/>
                  </a:lnTo>
                  <a:lnTo>
                    <a:pt x="622" y="703"/>
                  </a:lnTo>
                  <a:lnTo>
                    <a:pt x="637" y="691"/>
                  </a:lnTo>
                  <a:lnTo>
                    <a:pt x="651" y="679"/>
                  </a:lnTo>
                  <a:lnTo>
                    <a:pt x="665" y="665"/>
                  </a:lnTo>
                  <a:lnTo>
                    <a:pt x="677" y="651"/>
                  </a:lnTo>
                  <a:lnTo>
                    <a:pt x="690" y="638"/>
                  </a:lnTo>
                  <a:lnTo>
                    <a:pt x="701" y="623"/>
                  </a:lnTo>
                  <a:lnTo>
                    <a:pt x="712" y="608"/>
                  </a:lnTo>
                  <a:lnTo>
                    <a:pt x="722" y="592"/>
                  </a:lnTo>
                  <a:lnTo>
                    <a:pt x="732" y="575"/>
                  </a:lnTo>
                  <a:lnTo>
                    <a:pt x="740" y="559"/>
                  </a:lnTo>
                  <a:lnTo>
                    <a:pt x="748" y="542"/>
                  </a:lnTo>
                  <a:lnTo>
                    <a:pt x="756" y="524"/>
                  </a:lnTo>
                  <a:lnTo>
                    <a:pt x="761" y="505"/>
                  </a:lnTo>
                  <a:lnTo>
                    <a:pt x="766" y="488"/>
                  </a:lnTo>
                  <a:lnTo>
                    <a:pt x="771" y="469"/>
                  </a:lnTo>
                  <a:lnTo>
                    <a:pt x="775" y="449"/>
                  </a:lnTo>
                  <a:lnTo>
                    <a:pt x="777" y="430"/>
                  </a:lnTo>
                  <a:lnTo>
                    <a:pt x="779" y="410"/>
                  </a:lnTo>
                  <a:lnTo>
                    <a:pt x="779" y="390"/>
                  </a:lnTo>
                  <a:lnTo>
                    <a:pt x="779" y="370"/>
                  </a:lnTo>
                  <a:lnTo>
                    <a:pt x="777" y="351"/>
                  </a:lnTo>
                  <a:lnTo>
                    <a:pt x="775" y="331"/>
                  </a:lnTo>
                  <a:lnTo>
                    <a:pt x="771" y="312"/>
                  </a:lnTo>
                  <a:lnTo>
                    <a:pt x="766" y="293"/>
                  </a:lnTo>
                  <a:lnTo>
                    <a:pt x="761" y="275"/>
                  </a:lnTo>
                  <a:lnTo>
                    <a:pt x="756" y="257"/>
                  </a:lnTo>
                  <a:lnTo>
                    <a:pt x="748" y="239"/>
                  </a:lnTo>
                  <a:lnTo>
                    <a:pt x="740" y="221"/>
                  </a:lnTo>
                  <a:lnTo>
                    <a:pt x="732" y="205"/>
                  </a:lnTo>
                  <a:lnTo>
                    <a:pt x="722" y="188"/>
                  </a:lnTo>
                  <a:lnTo>
                    <a:pt x="712" y="172"/>
                  </a:lnTo>
                  <a:lnTo>
                    <a:pt x="701" y="158"/>
                  </a:lnTo>
                  <a:lnTo>
                    <a:pt x="690" y="142"/>
                  </a:lnTo>
                  <a:lnTo>
                    <a:pt x="677" y="128"/>
                  </a:lnTo>
                  <a:lnTo>
                    <a:pt x="665" y="115"/>
                  </a:lnTo>
                  <a:lnTo>
                    <a:pt x="651" y="102"/>
                  </a:lnTo>
                  <a:lnTo>
                    <a:pt x="637" y="90"/>
                  </a:lnTo>
                  <a:lnTo>
                    <a:pt x="622" y="78"/>
                  </a:lnTo>
                  <a:lnTo>
                    <a:pt x="606" y="67"/>
                  </a:lnTo>
                  <a:lnTo>
                    <a:pt x="591" y="57"/>
                  </a:lnTo>
                  <a:lnTo>
                    <a:pt x="575" y="48"/>
                  </a:lnTo>
                  <a:lnTo>
                    <a:pt x="558" y="39"/>
                  </a:lnTo>
                  <a:lnTo>
                    <a:pt x="541" y="31"/>
                  </a:lnTo>
                  <a:lnTo>
                    <a:pt x="523" y="24"/>
                  </a:lnTo>
                  <a:lnTo>
                    <a:pt x="505" y="18"/>
                  </a:lnTo>
                  <a:lnTo>
                    <a:pt x="486" y="12"/>
                  </a:lnTo>
                  <a:lnTo>
                    <a:pt x="468" y="8"/>
                  </a:lnTo>
                  <a:lnTo>
                    <a:pt x="449" y="5"/>
                  </a:lnTo>
                  <a:lnTo>
                    <a:pt x="429" y="2"/>
                  </a:lnTo>
                  <a:lnTo>
                    <a:pt x="409" y="1"/>
                  </a:lnTo>
                  <a:lnTo>
                    <a:pt x="389" y="0"/>
                  </a:lnTo>
                  <a:lnTo>
                    <a:pt x="369" y="1"/>
                  </a:lnTo>
                  <a:lnTo>
                    <a:pt x="350" y="2"/>
                  </a:lnTo>
                  <a:lnTo>
                    <a:pt x="330" y="5"/>
                  </a:lnTo>
                  <a:lnTo>
                    <a:pt x="311" y="8"/>
                  </a:lnTo>
                  <a:lnTo>
                    <a:pt x="292" y="12"/>
                  </a:lnTo>
                  <a:lnTo>
                    <a:pt x="273" y="18"/>
                  </a:lnTo>
                  <a:lnTo>
                    <a:pt x="256" y="24"/>
                  </a:lnTo>
                  <a:lnTo>
                    <a:pt x="238" y="31"/>
                  </a:lnTo>
                  <a:lnTo>
                    <a:pt x="220" y="39"/>
                  </a:lnTo>
                  <a:lnTo>
                    <a:pt x="203" y="48"/>
                  </a:lnTo>
                  <a:lnTo>
                    <a:pt x="188" y="57"/>
                  </a:lnTo>
                  <a:lnTo>
                    <a:pt x="171" y="67"/>
                  </a:lnTo>
                  <a:lnTo>
                    <a:pt x="157" y="78"/>
                  </a:lnTo>
                  <a:lnTo>
                    <a:pt x="142" y="90"/>
                  </a:lnTo>
                  <a:lnTo>
                    <a:pt x="127" y="102"/>
                  </a:lnTo>
                  <a:lnTo>
                    <a:pt x="114" y="115"/>
                  </a:lnTo>
                  <a:lnTo>
                    <a:pt x="101" y="128"/>
                  </a:lnTo>
                  <a:lnTo>
                    <a:pt x="89" y="142"/>
                  </a:lnTo>
                  <a:lnTo>
                    <a:pt x="77" y="158"/>
                  </a:lnTo>
                  <a:lnTo>
                    <a:pt x="67" y="172"/>
                  </a:lnTo>
                  <a:lnTo>
                    <a:pt x="56" y="188"/>
                  </a:lnTo>
                  <a:lnTo>
                    <a:pt x="47" y="205"/>
                  </a:lnTo>
                  <a:lnTo>
                    <a:pt x="39" y="221"/>
                  </a:lnTo>
                  <a:lnTo>
                    <a:pt x="30" y="239"/>
                  </a:lnTo>
                  <a:lnTo>
                    <a:pt x="23" y="257"/>
                  </a:lnTo>
                  <a:lnTo>
                    <a:pt x="17" y="275"/>
                  </a:lnTo>
                  <a:lnTo>
                    <a:pt x="11" y="293"/>
                  </a:lnTo>
                  <a:lnTo>
                    <a:pt x="7" y="312"/>
                  </a:lnTo>
                  <a:lnTo>
                    <a:pt x="4" y="331"/>
                  </a:lnTo>
                  <a:lnTo>
                    <a:pt x="2" y="351"/>
                  </a:lnTo>
                  <a:lnTo>
                    <a:pt x="0" y="370"/>
                  </a:lnTo>
                  <a:lnTo>
                    <a:pt x="0" y="390"/>
                  </a:lnTo>
                  <a:lnTo>
                    <a:pt x="0" y="410"/>
                  </a:lnTo>
                  <a:lnTo>
                    <a:pt x="2" y="430"/>
                  </a:lnTo>
                  <a:lnTo>
                    <a:pt x="4" y="449"/>
                  </a:lnTo>
                  <a:lnTo>
                    <a:pt x="7" y="469"/>
                  </a:lnTo>
                  <a:lnTo>
                    <a:pt x="11" y="488"/>
                  </a:lnTo>
                  <a:lnTo>
                    <a:pt x="17" y="505"/>
                  </a:lnTo>
                  <a:lnTo>
                    <a:pt x="23" y="524"/>
                  </a:lnTo>
                  <a:lnTo>
                    <a:pt x="30" y="542"/>
                  </a:lnTo>
                  <a:lnTo>
                    <a:pt x="39" y="559"/>
                  </a:lnTo>
                  <a:lnTo>
                    <a:pt x="47" y="575"/>
                  </a:lnTo>
                  <a:lnTo>
                    <a:pt x="56" y="592"/>
                  </a:lnTo>
                  <a:lnTo>
                    <a:pt x="67" y="608"/>
                  </a:lnTo>
                  <a:lnTo>
                    <a:pt x="77" y="623"/>
                  </a:lnTo>
                  <a:lnTo>
                    <a:pt x="89" y="638"/>
                  </a:lnTo>
                  <a:lnTo>
                    <a:pt x="101" y="651"/>
                  </a:lnTo>
                  <a:lnTo>
                    <a:pt x="114" y="665"/>
                  </a:lnTo>
                  <a:lnTo>
                    <a:pt x="127" y="679"/>
                  </a:lnTo>
                  <a:lnTo>
                    <a:pt x="142" y="691"/>
                  </a:lnTo>
                  <a:lnTo>
                    <a:pt x="157" y="703"/>
                  </a:lnTo>
                  <a:lnTo>
                    <a:pt x="171" y="713"/>
                  </a:lnTo>
                  <a:lnTo>
                    <a:pt x="188" y="724"/>
                  </a:lnTo>
                  <a:lnTo>
                    <a:pt x="203" y="733"/>
                  </a:lnTo>
                  <a:lnTo>
                    <a:pt x="220" y="741"/>
                  </a:lnTo>
                  <a:lnTo>
                    <a:pt x="238" y="750"/>
                  </a:lnTo>
                  <a:lnTo>
                    <a:pt x="256" y="756"/>
                  </a:lnTo>
                  <a:lnTo>
                    <a:pt x="273" y="762"/>
                  </a:lnTo>
                  <a:lnTo>
                    <a:pt x="292" y="767"/>
                  </a:lnTo>
                  <a:lnTo>
                    <a:pt x="311" y="772"/>
                  </a:lnTo>
                  <a:lnTo>
                    <a:pt x="330" y="776"/>
                  </a:lnTo>
                  <a:lnTo>
                    <a:pt x="350" y="778"/>
                  </a:lnTo>
                  <a:lnTo>
                    <a:pt x="369" y="779"/>
                  </a:lnTo>
                  <a:lnTo>
                    <a:pt x="389" y="780"/>
                  </a:lnTo>
                  <a:close/>
                </a:path>
              </a:pathLst>
            </a:custGeom>
            <a:solidFill>
              <a:srgbClr val="F5C592"/>
            </a:solidFill>
            <a:ln w="9525">
              <a:noFill/>
              <a:round/>
              <a:headEnd/>
              <a:tailEnd/>
            </a:ln>
          </p:spPr>
          <p:txBody>
            <a:bodyPr/>
            <a:lstStyle/>
            <a:p>
              <a:endParaRPr lang="en-GB"/>
            </a:p>
          </p:txBody>
        </p:sp>
        <p:sp>
          <p:nvSpPr>
            <p:cNvPr id="173113" name="Freeform 57"/>
            <p:cNvSpPr>
              <a:spLocks/>
            </p:cNvSpPr>
            <p:nvPr/>
          </p:nvSpPr>
          <p:spPr bwMode="auto">
            <a:xfrm>
              <a:off x="1093" y="1056"/>
              <a:ext cx="194" cy="195"/>
            </a:xfrm>
            <a:custGeom>
              <a:avLst/>
              <a:gdLst/>
              <a:ahLst/>
              <a:cxnLst>
                <a:cxn ang="0">
                  <a:pos x="429" y="778"/>
                </a:cxn>
                <a:cxn ang="0">
                  <a:pos x="486" y="767"/>
                </a:cxn>
                <a:cxn ang="0">
                  <a:pos x="541" y="750"/>
                </a:cxn>
                <a:cxn ang="0">
                  <a:pos x="591" y="724"/>
                </a:cxn>
                <a:cxn ang="0">
                  <a:pos x="637" y="691"/>
                </a:cxn>
                <a:cxn ang="0">
                  <a:pos x="677" y="651"/>
                </a:cxn>
                <a:cxn ang="0">
                  <a:pos x="712" y="608"/>
                </a:cxn>
                <a:cxn ang="0">
                  <a:pos x="740" y="559"/>
                </a:cxn>
                <a:cxn ang="0">
                  <a:pos x="761" y="505"/>
                </a:cxn>
                <a:cxn ang="0">
                  <a:pos x="775" y="449"/>
                </a:cxn>
                <a:cxn ang="0">
                  <a:pos x="779" y="390"/>
                </a:cxn>
                <a:cxn ang="0">
                  <a:pos x="775" y="331"/>
                </a:cxn>
                <a:cxn ang="0">
                  <a:pos x="761" y="275"/>
                </a:cxn>
                <a:cxn ang="0">
                  <a:pos x="740" y="221"/>
                </a:cxn>
                <a:cxn ang="0">
                  <a:pos x="712" y="172"/>
                </a:cxn>
                <a:cxn ang="0">
                  <a:pos x="677" y="128"/>
                </a:cxn>
                <a:cxn ang="0">
                  <a:pos x="637" y="90"/>
                </a:cxn>
                <a:cxn ang="0">
                  <a:pos x="591" y="57"/>
                </a:cxn>
                <a:cxn ang="0">
                  <a:pos x="541" y="31"/>
                </a:cxn>
                <a:cxn ang="0">
                  <a:pos x="486" y="12"/>
                </a:cxn>
                <a:cxn ang="0">
                  <a:pos x="429" y="2"/>
                </a:cxn>
                <a:cxn ang="0">
                  <a:pos x="369" y="1"/>
                </a:cxn>
                <a:cxn ang="0">
                  <a:pos x="311" y="8"/>
                </a:cxn>
                <a:cxn ang="0">
                  <a:pos x="256" y="24"/>
                </a:cxn>
                <a:cxn ang="0">
                  <a:pos x="203" y="48"/>
                </a:cxn>
                <a:cxn ang="0">
                  <a:pos x="157" y="78"/>
                </a:cxn>
                <a:cxn ang="0">
                  <a:pos x="114" y="115"/>
                </a:cxn>
                <a:cxn ang="0">
                  <a:pos x="77" y="158"/>
                </a:cxn>
                <a:cxn ang="0">
                  <a:pos x="47" y="205"/>
                </a:cxn>
                <a:cxn ang="0">
                  <a:pos x="23" y="257"/>
                </a:cxn>
                <a:cxn ang="0">
                  <a:pos x="7" y="312"/>
                </a:cxn>
                <a:cxn ang="0">
                  <a:pos x="0" y="370"/>
                </a:cxn>
                <a:cxn ang="0">
                  <a:pos x="2" y="430"/>
                </a:cxn>
                <a:cxn ang="0">
                  <a:pos x="11" y="488"/>
                </a:cxn>
                <a:cxn ang="0">
                  <a:pos x="30" y="542"/>
                </a:cxn>
                <a:cxn ang="0">
                  <a:pos x="56" y="592"/>
                </a:cxn>
                <a:cxn ang="0">
                  <a:pos x="89" y="638"/>
                </a:cxn>
                <a:cxn ang="0">
                  <a:pos x="127" y="679"/>
                </a:cxn>
                <a:cxn ang="0">
                  <a:pos x="171" y="713"/>
                </a:cxn>
                <a:cxn ang="0">
                  <a:pos x="220" y="741"/>
                </a:cxn>
                <a:cxn ang="0">
                  <a:pos x="273" y="762"/>
                </a:cxn>
                <a:cxn ang="0">
                  <a:pos x="330" y="776"/>
                </a:cxn>
                <a:cxn ang="0">
                  <a:pos x="389" y="780"/>
                </a:cxn>
              </a:cxnLst>
              <a:rect l="0" t="0" r="r" b="b"/>
              <a:pathLst>
                <a:path w="779" h="780">
                  <a:moveTo>
                    <a:pt x="389" y="780"/>
                  </a:moveTo>
                  <a:lnTo>
                    <a:pt x="409" y="779"/>
                  </a:lnTo>
                  <a:lnTo>
                    <a:pt x="429" y="778"/>
                  </a:lnTo>
                  <a:lnTo>
                    <a:pt x="449" y="776"/>
                  </a:lnTo>
                  <a:lnTo>
                    <a:pt x="468" y="772"/>
                  </a:lnTo>
                  <a:lnTo>
                    <a:pt x="486" y="767"/>
                  </a:lnTo>
                  <a:lnTo>
                    <a:pt x="505" y="762"/>
                  </a:lnTo>
                  <a:lnTo>
                    <a:pt x="523" y="756"/>
                  </a:lnTo>
                  <a:lnTo>
                    <a:pt x="541" y="750"/>
                  </a:lnTo>
                  <a:lnTo>
                    <a:pt x="558" y="741"/>
                  </a:lnTo>
                  <a:lnTo>
                    <a:pt x="575" y="733"/>
                  </a:lnTo>
                  <a:lnTo>
                    <a:pt x="591" y="724"/>
                  </a:lnTo>
                  <a:lnTo>
                    <a:pt x="606" y="713"/>
                  </a:lnTo>
                  <a:lnTo>
                    <a:pt x="622" y="703"/>
                  </a:lnTo>
                  <a:lnTo>
                    <a:pt x="637" y="691"/>
                  </a:lnTo>
                  <a:lnTo>
                    <a:pt x="651" y="679"/>
                  </a:lnTo>
                  <a:lnTo>
                    <a:pt x="665" y="665"/>
                  </a:lnTo>
                  <a:lnTo>
                    <a:pt x="677" y="651"/>
                  </a:lnTo>
                  <a:lnTo>
                    <a:pt x="690" y="638"/>
                  </a:lnTo>
                  <a:lnTo>
                    <a:pt x="701" y="623"/>
                  </a:lnTo>
                  <a:lnTo>
                    <a:pt x="712" y="608"/>
                  </a:lnTo>
                  <a:lnTo>
                    <a:pt x="722" y="592"/>
                  </a:lnTo>
                  <a:lnTo>
                    <a:pt x="732" y="575"/>
                  </a:lnTo>
                  <a:lnTo>
                    <a:pt x="740" y="559"/>
                  </a:lnTo>
                  <a:lnTo>
                    <a:pt x="748" y="542"/>
                  </a:lnTo>
                  <a:lnTo>
                    <a:pt x="756" y="524"/>
                  </a:lnTo>
                  <a:lnTo>
                    <a:pt x="761" y="505"/>
                  </a:lnTo>
                  <a:lnTo>
                    <a:pt x="766" y="488"/>
                  </a:lnTo>
                  <a:lnTo>
                    <a:pt x="771" y="469"/>
                  </a:lnTo>
                  <a:lnTo>
                    <a:pt x="775" y="449"/>
                  </a:lnTo>
                  <a:lnTo>
                    <a:pt x="777" y="430"/>
                  </a:lnTo>
                  <a:lnTo>
                    <a:pt x="779" y="410"/>
                  </a:lnTo>
                  <a:lnTo>
                    <a:pt x="779" y="390"/>
                  </a:lnTo>
                  <a:lnTo>
                    <a:pt x="779" y="370"/>
                  </a:lnTo>
                  <a:lnTo>
                    <a:pt x="777" y="351"/>
                  </a:lnTo>
                  <a:lnTo>
                    <a:pt x="775" y="331"/>
                  </a:lnTo>
                  <a:lnTo>
                    <a:pt x="771" y="312"/>
                  </a:lnTo>
                  <a:lnTo>
                    <a:pt x="766" y="293"/>
                  </a:lnTo>
                  <a:lnTo>
                    <a:pt x="761" y="275"/>
                  </a:lnTo>
                  <a:lnTo>
                    <a:pt x="756" y="257"/>
                  </a:lnTo>
                  <a:lnTo>
                    <a:pt x="748" y="239"/>
                  </a:lnTo>
                  <a:lnTo>
                    <a:pt x="740" y="221"/>
                  </a:lnTo>
                  <a:lnTo>
                    <a:pt x="732" y="205"/>
                  </a:lnTo>
                  <a:lnTo>
                    <a:pt x="722" y="188"/>
                  </a:lnTo>
                  <a:lnTo>
                    <a:pt x="712" y="172"/>
                  </a:lnTo>
                  <a:lnTo>
                    <a:pt x="701" y="158"/>
                  </a:lnTo>
                  <a:lnTo>
                    <a:pt x="690" y="142"/>
                  </a:lnTo>
                  <a:lnTo>
                    <a:pt x="677" y="128"/>
                  </a:lnTo>
                  <a:lnTo>
                    <a:pt x="665" y="115"/>
                  </a:lnTo>
                  <a:lnTo>
                    <a:pt x="651" y="102"/>
                  </a:lnTo>
                  <a:lnTo>
                    <a:pt x="637" y="90"/>
                  </a:lnTo>
                  <a:lnTo>
                    <a:pt x="622" y="78"/>
                  </a:lnTo>
                  <a:lnTo>
                    <a:pt x="606" y="67"/>
                  </a:lnTo>
                  <a:lnTo>
                    <a:pt x="591" y="57"/>
                  </a:lnTo>
                  <a:lnTo>
                    <a:pt x="575" y="48"/>
                  </a:lnTo>
                  <a:lnTo>
                    <a:pt x="558" y="39"/>
                  </a:lnTo>
                  <a:lnTo>
                    <a:pt x="541" y="31"/>
                  </a:lnTo>
                  <a:lnTo>
                    <a:pt x="523" y="24"/>
                  </a:lnTo>
                  <a:lnTo>
                    <a:pt x="505" y="18"/>
                  </a:lnTo>
                  <a:lnTo>
                    <a:pt x="486" y="12"/>
                  </a:lnTo>
                  <a:lnTo>
                    <a:pt x="468" y="8"/>
                  </a:lnTo>
                  <a:lnTo>
                    <a:pt x="449" y="5"/>
                  </a:lnTo>
                  <a:lnTo>
                    <a:pt x="429" y="2"/>
                  </a:lnTo>
                  <a:lnTo>
                    <a:pt x="409" y="1"/>
                  </a:lnTo>
                  <a:lnTo>
                    <a:pt x="389" y="0"/>
                  </a:lnTo>
                  <a:lnTo>
                    <a:pt x="369" y="1"/>
                  </a:lnTo>
                  <a:lnTo>
                    <a:pt x="350" y="2"/>
                  </a:lnTo>
                  <a:lnTo>
                    <a:pt x="330" y="5"/>
                  </a:lnTo>
                  <a:lnTo>
                    <a:pt x="311" y="8"/>
                  </a:lnTo>
                  <a:lnTo>
                    <a:pt x="292" y="12"/>
                  </a:lnTo>
                  <a:lnTo>
                    <a:pt x="273" y="18"/>
                  </a:lnTo>
                  <a:lnTo>
                    <a:pt x="256" y="24"/>
                  </a:lnTo>
                  <a:lnTo>
                    <a:pt x="238" y="31"/>
                  </a:lnTo>
                  <a:lnTo>
                    <a:pt x="220" y="39"/>
                  </a:lnTo>
                  <a:lnTo>
                    <a:pt x="203" y="48"/>
                  </a:lnTo>
                  <a:lnTo>
                    <a:pt x="188" y="57"/>
                  </a:lnTo>
                  <a:lnTo>
                    <a:pt x="171" y="67"/>
                  </a:lnTo>
                  <a:lnTo>
                    <a:pt x="157" y="78"/>
                  </a:lnTo>
                  <a:lnTo>
                    <a:pt x="142" y="90"/>
                  </a:lnTo>
                  <a:lnTo>
                    <a:pt x="127" y="102"/>
                  </a:lnTo>
                  <a:lnTo>
                    <a:pt x="114" y="115"/>
                  </a:lnTo>
                  <a:lnTo>
                    <a:pt x="101" y="128"/>
                  </a:lnTo>
                  <a:lnTo>
                    <a:pt x="89" y="142"/>
                  </a:lnTo>
                  <a:lnTo>
                    <a:pt x="77" y="158"/>
                  </a:lnTo>
                  <a:lnTo>
                    <a:pt x="67" y="172"/>
                  </a:lnTo>
                  <a:lnTo>
                    <a:pt x="56" y="188"/>
                  </a:lnTo>
                  <a:lnTo>
                    <a:pt x="47" y="205"/>
                  </a:lnTo>
                  <a:lnTo>
                    <a:pt x="39" y="221"/>
                  </a:lnTo>
                  <a:lnTo>
                    <a:pt x="30" y="239"/>
                  </a:lnTo>
                  <a:lnTo>
                    <a:pt x="23" y="257"/>
                  </a:lnTo>
                  <a:lnTo>
                    <a:pt x="17" y="275"/>
                  </a:lnTo>
                  <a:lnTo>
                    <a:pt x="11" y="293"/>
                  </a:lnTo>
                  <a:lnTo>
                    <a:pt x="7" y="312"/>
                  </a:lnTo>
                  <a:lnTo>
                    <a:pt x="4" y="331"/>
                  </a:lnTo>
                  <a:lnTo>
                    <a:pt x="2" y="351"/>
                  </a:lnTo>
                  <a:lnTo>
                    <a:pt x="0" y="370"/>
                  </a:lnTo>
                  <a:lnTo>
                    <a:pt x="0" y="390"/>
                  </a:lnTo>
                  <a:lnTo>
                    <a:pt x="0" y="410"/>
                  </a:lnTo>
                  <a:lnTo>
                    <a:pt x="2" y="430"/>
                  </a:lnTo>
                  <a:lnTo>
                    <a:pt x="4" y="449"/>
                  </a:lnTo>
                  <a:lnTo>
                    <a:pt x="7" y="469"/>
                  </a:lnTo>
                  <a:lnTo>
                    <a:pt x="11" y="488"/>
                  </a:lnTo>
                  <a:lnTo>
                    <a:pt x="17" y="505"/>
                  </a:lnTo>
                  <a:lnTo>
                    <a:pt x="23" y="524"/>
                  </a:lnTo>
                  <a:lnTo>
                    <a:pt x="30" y="542"/>
                  </a:lnTo>
                  <a:lnTo>
                    <a:pt x="39" y="559"/>
                  </a:lnTo>
                  <a:lnTo>
                    <a:pt x="47" y="575"/>
                  </a:lnTo>
                  <a:lnTo>
                    <a:pt x="56" y="592"/>
                  </a:lnTo>
                  <a:lnTo>
                    <a:pt x="67" y="608"/>
                  </a:lnTo>
                  <a:lnTo>
                    <a:pt x="77" y="623"/>
                  </a:lnTo>
                  <a:lnTo>
                    <a:pt x="89" y="638"/>
                  </a:lnTo>
                  <a:lnTo>
                    <a:pt x="101" y="651"/>
                  </a:lnTo>
                  <a:lnTo>
                    <a:pt x="114" y="665"/>
                  </a:lnTo>
                  <a:lnTo>
                    <a:pt x="127" y="679"/>
                  </a:lnTo>
                  <a:lnTo>
                    <a:pt x="142" y="691"/>
                  </a:lnTo>
                  <a:lnTo>
                    <a:pt x="157" y="703"/>
                  </a:lnTo>
                  <a:lnTo>
                    <a:pt x="171" y="713"/>
                  </a:lnTo>
                  <a:lnTo>
                    <a:pt x="188" y="724"/>
                  </a:lnTo>
                  <a:lnTo>
                    <a:pt x="203" y="733"/>
                  </a:lnTo>
                  <a:lnTo>
                    <a:pt x="220" y="741"/>
                  </a:lnTo>
                  <a:lnTo>
                    <a:pt x="238" y="750"/>
                  </a:lnTo>
                  <a:lnTo>
                    <a:pt x="256" y="756"/>
                  </a:lnTo>
                  <a:lnTo>
                    <a:pt x="273" y="762"/>
                  </a:lnTo>
                  <a:lnTo>
                    <a:pt x="292" y="767"/>
                  </a:lnTo>
                  <a:lnTo>
                    <a:pt x="311" y="772"/>
                  </a:lnTo>
                  <a:lnTo>
                    <a:pt x="330" y="776"/>
                  </a:lnTo>
                  <a:lnTo>
                    <a:pt x="350" y="778"/>
                  </a:lnTo>
                  <a:lnTo>
                    <a:pt x="369" y="779"/>
                  </a:lnTo>
                  <a:lnTo>
                    <a:pt x="389" y="780"/>
                  </a:lnTo>
                  <a:close/>
                </a:path>
              </a:pathLst>
            </a:custGeom>
            <a:noFill/>
            <a:ln w="14288">
              <a:solidFill>
                <a:srgbClr val="1F1A17"/>
              </a:solidFill>
              <a:prstDash val="solid"/>
              <a:round/>
              <a:headEnd/>
              <a:tailEnd/>
            </a:ln>
          </p:spPr>
          <p:txBody>
            <a:bodyPr/>
            <a:lstStyle/>
            <a:p>
              <a:endParaRPr lang="en-GB"/>
            </a:p>
          </p:txBody>
        </p:sp>
        <p:sp>
          <p:nvSpPr>
            <p:cNvPr id="173114" name="Freeform 58"/>
            <p:cNvSpPr>
              <a:spLocks/>
            </p:cNvSpPr>
            <p:nvPr/>
          </p:nvSpPr>
          <p:spPr bwMode="auto">
            <a:xfrm>
              <a:off x="960" y="1294"/>
              <a:ext cx="381" cy="299"/>
            </a:xfrm>
            <a:custGeom>
              <a:avLst/>
              <a:gdLst/>
              <a:ahLst/>
              <a:cxnLst>
                <a:cxn ang="0">
                  <a:pos x="386" y="0"/>
                </a:cxn>
                <a:cxn ang="0">
                  <a:pos x="1525" y="0"/>
                </a:cxn>
                <a:cxn ang="0">
                  <a:pos x="1141" y="1197"/>
                </a:cxn>
                <a:cxn ang="0">
                  <a:pos x="0" y="1197"/>
                </a:cxn>
                <a:cxn ang="0">
                  <a:pos x="386" y="0"/>
                </a:cxn>
              </a:cxnLst>
              <a:rect l="0" t="0" r="r" b="b"/>
              <a:pathLst>
                <a:path w="1525" h="1197">
                  <a:moveTo>
                    <a:pt x="386" y="0"/>
                  </a:moveTo>
                  <a:lnTo>
                    <a:pt x="1525" y="0"/>
                  </a:lnTo>
                  <a:lnTo>
                    <a:pt x="1141" y="1197"/>
                  </a:lnTo>
                  <a:lnTo>
                    <a:pt x="0" y="1197"/>
                  </a:lnTo>
                  <a:lnTo>
                    <a:pt x="386" y="0"/>
                  </a:lnTo>
                  <a:close/>
                </a:path>
              </a:pathLst>
            </a:custGeom>
            <a:solidFill>
              <a:srgbClr val="F5C592"/>
            </a:solidFill>
            <a:ln w="9525">
              <a:noFill/>
              <a:round/>
              <a:headEnd/>
              <a:tailEnd/>
            </a:ln>
          </p:spPr>
          <p:txBody>
            <a:bodyPr/>
            <a:lstStyle/>
            <a:p>
              <a:endParaRPr lang="en-GB"/>
            </a:p>
          </p:txBody>
        </p:sp>
        <p:sp>
          <p:nvSpPr>
            <p:cNvPr id="173115" name="Freeform 59"/>
            <p:cNvSpPr>
              <a:spLocks/>
            </p:cNvSpPr>
            <p:nvPr/>
          </p:nvSpPr>
          <p:spPr bwMode="auto">
            <a:xfrm>
              <a:off x="960" y="1294"/>
              <a:ext cx="381" cy="299"/>
            </a:xfrm>
            <a:custGeom>
              <a:avLst/>
              <a:gdLst/>
              <a:ahLst/>
              <a:cxnLst>
                <a:cxn ang="0">
                  <a:pos x="386" y="0"/>
                </a:cxn>
                <a:cxn ang="0">
                  <a:pos x="1525" y="0"/>
                </a:cxn>
                <a:cxn ang="0">
                  <a:pos x="1141" y="1197"/>
                </a:cxn>
                <a:cxn ang="0">
                  <a:pos x="0" y="1197"/>
                </a:cxn>
                <a:cxn ang="0">
                  <a:pos x="386" y="0"/>
                </a:cxn>
              </a:cxnLst>
              <a:rect l="0" t="0" r="r" b="b"/>
              <a:pathLst>
                <a:path w="1525" h="1197">
                  <a:moveTo>
                    <a:pt x="386" y="0"/>
                  </a:moveTo>
                  <a:lnTo>
                    <a:pt x="1525" y="0"/>
                  </a:lnTo>
                  <a:lnTo>
                    <a:pt x="1141" y="1197"/>
                  </a:lnTo>
                  <a:lnTo>
                    <a:pt x="0" y="1197"/>
                  </a:lnTo>
                  <a:lnTo>
                    <a:pt x="386" y="0"/>
                  </a:lnTo>
                  <a:close/>
                </a:path>
              </a:pathLst>
            </a:custGeom>
            <a:noFill/>
            <a:ln w="14288">
              <a:solidFill>
                <a:srgbClr val="1F1A17"/>
              </a:solidFill>
              <a:prstDash val="solid"/>
              <a:round/>
              <a:headEnd/>
              <a:tailEnd/>
            </a:ln>
          </p:spPr>
          <p:txBody>
            <a:bodyPr/>
            <a:lstStyle/>
            <a:p>
              <a:endParaRPr lang="en-GB"/>
            </a:p>
          </p:txBody>
        </p:sp>
        <p:sp>
          <p:nvSpPr>
            <p:cNvPr id="173116" name="Text Box 60"/>
            <p:cNvSpPr txBox="1">
              <a:spLocks noChangeArrowheads="1"/>
            </p:cNvSpPr>
            <p:nvPr/>
          </p:nvSpPr>
          <p:spPr bwMode="auto">
            <a:xfrm>
              <a:off x="912" y="1680"/>
              <a:ext cx="550" cy="202"/>
            </a:xfrm>
            <a:prstGeom prst="rect">
              <a:avLst/>
            </a:prstGeom>
            <a:noFill/>
            <a:ln w="9525">
              <a:noFill/>
              <a:miter lim="800000"/>
              <a:headEnd/>
              <a:tailEnd/>
            </a:ln>
            <a:effectLst/>
          </p:spPr>
          <p:txBody>
            <a:bodyPr wrap="none">
              <a:spAutoFit/>
            </a:bodyPr>
            <a:lstStyle/>
            <a:p>
              <a:pPr algn="ctr" eaLnBrk="0" hangingPunct="0"/>
              <a:r>
                <a:rPr lang="fr-CA" sz="1500" b="1"/>
                <a:t>Analyst</a:t>
              </a:r>
              <a:endParaRPr lang="en-CA" sz="1500" b="1"/>
            </a:p>
          </p:txBody>
        </p:sp>
      </p:grpSp>
      <p:grpSp>
        <p:nvGrpSpPr>
          <p:cNvPr id="8" name="Group 61"/>
          <p:cNvGrpSpPr>
            <a:grpSpLocks/>
          </p:cNvGrpSpPr>
          <p:nvPr/>
        </p:nvGrpSpPr>
        <p:grpSpPr bwMode="auto">
          <a:xfrm>
            <a:off x="5181600" y="2133600"/>
            <a:ext cx="873125" cy="1311275"/>
            <a:chOff x="912" y="1056"/>
            <a:chExt cx="550" cy="826"/>
          </a:xfrm>
        </p:grpSpPr>
        <p:sp>
          <p:nvSpPr>
            <p:cNvPr id="173118" name="Freeform 62"/>
            <p:cNvSpPr>
              <a:spLocks/>
            </p:cNvSpPr>
            <p:nvPr/>
          </p:nvSpPr>
          <p:spPr bwMode="auto">
            <a:xfrm>
              <a:off x="1126" y="1079"/>
              <a:ext cx="195" cy="195"/>
            </a:xfrm>
            <a:custGeom>
              <a:avLst/>
              <a:gdLst/>
              <a:ahLst/>
              <a:cxnLst>
                <a:cxn ang="0">
                  <a:pos x="430" y="778"/>
                </a:cxn>
                <a:cxn ang="0">
                  <a:pos x="487" y="767"/>
                </a:cxn>
                <a:cxn ang="0">
                  <a:pos x="541" y="749"/>
                </a:cxn>
                <a:cxn ang="0">
                  <a:pos x="591" y="723"/>
                </a:cxn>
                <a:cxn ang="0">
                  <a:pos x="637" y="690"/>
                </a:cxn>
                <a:cxn ang="0">
                  <a:pos x="678" y="652"/>
                </a:cxn>
                <a:cxn ang="0">
                  <a:pos x="713" y="608"/>
                </a:cxn>
                <a:cxn ang="0">
                  <a:pos x="741" y="559"/>
                </a:cxn>
                <a:cxn ang="0">
                  <a:pos x="762" y="505"/>
                </a:cxn>
                <a:cxn ang="0">
                  <a:pos x="774" y="449"/>
                </a:cxn>
                <a:cxn ang="0">
                  <a:pos x="779" y="389"/>
                </a:cxn>
                <a:cxn ang="0">
                  <a:pos x="774" y="331"/>
                </a:cxn>
                <a:cxn ang="0">
                  <a:pos x="762" y="275"/>
                </a:cxn>
                <a:cxn ang="0">
                  <a:pos x="741" y="221"/>
                </a:cxn>
                <a:cxn ang="0">
                  <a:pos x="713" y="172"/>
                </a:cxn>
                <a:cxn ang="0">
                  <a:pos x="678" y="128"/>
                </a:cxn>
                <a:cxn ang="0">
                  <a:pos x="637" y="89"/>
                </a:cxn>
                <a:cxn ang="0">
                  <a:pos x="591" y="56"/>
                </a:cxn>
                <a:cxn ang="0">
                  <a:pos x="541" y="30"/>
                </a:cxn>
                <a:cxn ang="0">
                  <a:pos x="487" y="12"/>
                </a:cxn>
                <a:cxn ang="0">
                  <a:pos x="430" y="2"/>
                </a:cxn>
                <a:cxn ang="0">
                  <a:pos x="369" y="0"/>
                </a:cxn>
                <a:cxn ang="0">
                  <a:pos x="311" y="8"/>
                </a:cxn>
                <a:cxn ang="0">
                  <a:pos x="255" y="24"/>
                </a:cxn>
                <a:cxn ang="0">
                  <a:pos x="204" y="47"/>
                </a:cxn>
                <a:cxn ang="0">
                  <a:pos x="156" y="77"/>
                </a:cxn>
                <a:cxn ang="0">
                  <a:pos x="114" y="115"/>
                </a:cxn>
                <a:cxn ang="0">
                  <a:pos x="77" y="157"/>
                </a:cxn>
                <a:cxn ang="0">
                  <a:pos x="47" y="205"/>
                </a:cxn>
                <a:cxn ang="0">
                  <a:pos x="24" y="256"/>
                </a:cxn>
                <a:cxn ang="0">
                  <a:pos x="8" y="311"/>
                </a:cxn>
                <a:cxn ang="0">
                  <a:pos x="1" y="370"/>
                </a:cxn>
                <a:cxn ang="0">
                  <a:pos x="2" y="429"/>
                </a:cxn>
                <a:cxn ang="0">
                  <a:pos x="12" y="487"/>
                </a:cxn>
                <a:cxn ang="0">
                  <a:pos x="31" y="541"/>
                </a:cxn>
                <a:cxn ang="0">
                  <a:pos x="56" y="592"/>
                </a:cxn>
                <a:cxn ang="0">
                  <a:pos x="89" y="638"/>
                </a:cxn>
                <a:cxn ang="0">
                  <a:pos x="128" y="678"/>
                </a:cxn>
                <a:cxn ang="0">
                  <a:pos x="172" y="713"/>
                </a:cxn>
                <a:cxn ang="0">
                  <a:pos x="221" y="741"/>
                </a:cxn>
                <a:cxn ang="0">
                  <a:pos x="274" y="762"/>
                </a:cxn>
                <a:cxn ang="0">
                  <a:pos x="330" y="775"/>
                </a:cxn>
                <a:cxn ang="0">
                  <a:pos x="389" y="780"/>
                </a:cxn>
              </a:cxnLst>
              <a:rect l="0" t="0" r="r" b="b"/>
              <a:pathLst>
                <a:path w="779" h="780">
                  <a:moveTo>
                    <a:pt x="389" y="780"/>
                  </a:moveTo>
                  <a:lnTo>
                    <a:pt x="410" y="779"/>
                  </a:lnTo>
                  <a:lnTo>
                    <a:pt x="430" y="778"/>
                  </a:lnTo>
                  <a:lnTo>
                    <a:pt x="448" y="775"/>
                  </a:lnTo>
                  <a:lnTo>
                    <a:pt x="468" y="772"/>
                  </a:lnTo>
                  <a:lnTo>
                    <a:pt x="487" y="767"/>
                  </a:lnTo>
                  <a:lnTo>
                    <a:pt x="505" y="762"/>
                  </a:lnTo>
                  <a:lnTo>
                    <a:pt x="524" y="756"/>
                  </a:lnTo>
                  <a:lnTo>
                    <a:pt x="541" y="749"/>
                  </a:lnTo>
                  <a:lnTo>
                    <a:pt x="558" y="741"/>
                  </a:lnTo>
                  <a:lnTo>
                    <a:pt x="575" y="732"/>
                  </a:lnTo>
                  <a:lnTo>
                    <a:pt x="591" y="723"/>
                  </a:lnTo>
                  <a:lnTo>
                    <a:pt x="607" y="713"/>
                  </a:lnTo>
                  <a:lnTo>
                    <a:pt x="623" y="702"/>
                  </a:lnTo>
                  <a:lnTo>
                    <a:pt x="637" y="690"/>
                  </a:lnTo>
                  <a:lnTo>
                    <a:pt x="651" y="678"/>
                  </a:lnTo>
                  <a:lnTo>
                    <a:pt x="665" y="665"/>
                  </a:lnTo>
                  <a:lnTo>
                    <a:pt x="678" y="652"/>
                  </a:lnTo>
                  <a:lnTo>
                    <a:pt x="690" y="638"/>
                  </a:lnTo>
                  <a:lnTo>
                    <a:pt x="701" y="622"/>
                  </a:lnTo>
                  <a:lnTo>
                    <a:pt x="713" y="608"/>
                  </a:lnTo>
                  <a:lnTo>
                    <a:pt x="723" y="592"/>
                  </a:lnTo>
                  <a:lnTo>
                    <a:pt x="732" y="575"/>
                  </a:lnTo>
                  <a:lnTo>
                    <a:pt x="741" y="559"/>
                  </a:lnTo>
                  <a:lnTo>
                    <a:pt x="748" y="541"/>
                  </a:lnTo>
                  <a:lnTo>
                    <a:pt x="755" y="523"/>
                  </a:lnTo>
                  <a:lnTo>
                    <a:pt x="762" y="505"/>
                  </a:lnTo>
                  <a:lnTo>
                    <a:pt x="767" y="487"/>
                  </a:lnTo>
                  <a:lnTo>
                    <a:pt x="771" y="468"/>
                  </a:lnTo>
                  <a:lnTo>
                    <a:pt x="774" y="449"/>
                  </a:lnTo>
                  <a:lnTo>
                    <a:pt x="777" y="429"/>
                  </a:lnTo>
                  <a:lnTo>
                    <a:pt x="778" y="409"/>
                  </a:lnTo>
                  <a:lnTo>
                    <a:pt x="779" y="389"/>
                  </a:lnTo>
                  <a:lnTo>
                    <a:pt x="778" y="370"/>
                  </a:lnTo>
                  <a:lnTo>
                    <a:pt x="777" y="350"/>
                  </a:lnTo>
                  <a:lnTo>
                    <a:pt x="774" y="331"/>
                  </a:lnTo>
                  <a:lnTo>
                    <a:pt x="771" y="311"/>
                  </a:lnTo>
                  <a:lnTo>
                    <a:pt x="767" y="292"/>
                  </a:lnTo>
                  <a:lnTo>
                    <a:pt x="762" y="275"/>
                  </a:lnTo>
                  <a:lnTo>
                    <a:pt x="755" y="256"/>
                  </a:lnTo>
                  <a:lnTo>
                    <a:pt x="748" y="238"/>
                  </a:lnTo>
                  <a:lnTo>
                    <a:pt x="741" y="221"/>
                  </a:lnTo>
                  <a:lnTo>
                    <a:pt x="732" y="205"/>
                  </a:lnTo>
                  <a:lnTo>
                    <a:pt x="723" y="188"/>
                  </a:lnTo>
                  <a:lnTo>
                    <a:pt x="713" y="172"/>
                  </a:lnTo>
                  <a:lnTo>
                    <a:pt x="701" y="157"/>
                  </a:lnTo>
                  <a:lnTo>
                    <a:pt x="690" y="142"/>
                  </a:lnTo>
                  <a:lnTo>
                    <a:pt x="678" y="128"/>
                  </a:lnTo>
                  <a:lnTo>
                    <a:pt x="665" y="115"/>
                  </a:lnTo>
                  <a:lnTo>
                    <a:pt x="651" y="101"/>
                  </a:lnTo>
                  <a:lnTo>
                    <a:pt x="637" y="89"/>
                  </a:lnTo>
                  <a:lnTo>
                    <a:pt x="623" y="77"/>
                  </a:lnTo>
                  <a:lnTo>
                    <a:pt x="607" y="67"/>
                  </a:lnTo>
                  <a:lnTo>
                    <a:pt x="591" y="56"/>
                  </a:lnTo>
                  <a:lnTo>
                    <a:pt x="575" y="47"/>
                  </a:lnTo>
                  <a:lnTo>
                    <a:pt x="558" y="39"/>
                  </a:lnTo>
                  <a:lnTo>
                    <a:pt x="541" y="30"/>
                  </a:lnTo>
                  <a:lnTo>
                    <a:pt x="524" y="24"/>
                  </a:lnTo>
                  <a:lnTo>
                    <a:pt x="505" y="18"/>
                  </a:lnTo>
                  <a:lnTo>
                    <a:pt x="487" y="12"/>
                  </a:lnTo>
                  <a:lnTo>
                    <a:pt x="468" y="8"/>
                  </a:lnTo>
                  <a:lnTo>
                    <a:pt x="448" y="4"/>
                  </a:lnTo>
                  <a:lnTo>
                    <a:pt x="430" y="2"/>
                  </a:lnTo>
                  <a:lnTo>
                    <a:pt x="410" y="0"/>
                  </a:lnTo>
                  <a:lnTo>
                    <a:pt x="389" y="0"/>
                  </a:lnTo>
                  <a:lnTo>
                    <a:pt x="369" y="0"/>
                  </a:lnTo>
                  <a:lnTo>
                    <a:pt x="349" y="2"/>
                  </a:lnTo>
                  <a:lnTo>
                    <a:pt x="330" y="4"/>
                  </a:lnTo>
                  <a:lnTo>
                    <a:pt x="311" y="8"/>
                  </a:lnTo>
                  <a:lnTo>
                    <a:pt x="292" y="12"/>
                  </a:lnTo>
                  <a:lnTo>
                    <a:pt x="274" y="18"/>
                  </a:lnTo>
                  <a:lnTo>
                    <a:pt x="255" y="24"/>
                  </a:lnTo>
                  <a:lnTo>
                    <a:pt x="238" y="30"/>
                  </a:lnTo>
                  <a:lnTo>
                    <a:pt x="221" y="39"/>
                  </a:lnTo>
                  <a:lnTo>
                    <a:pt x="204" y="47"/>
                  </a:lnTo>
                  <a:lnTo>
                    <a:pt x="187" y="56"/>
                  </a:lnTo>
                  <a:lnTo>
                    <a:pt x="172" y="67"/>
                  </a:lnTo>
                  <a:lnTo>
                    <a:pt x="156" y="77"/>
                  </a:lnTo>
                  <a:lnTo>
                    <a:pt x="142" y="89"/>
                  </a:lnTo>
                  <a:lnTo>
                    <a:pt x="128" y="101"/>
                  </a:lnTo>
                  <a:lnTo>
                    <a:pt x="114" y="115"/>
                  </a:lnTo>
                  <a:lnTo>
                    <a:pt x="101" y="128"/>
                  </a:lnTo>
                  <a:lnTo>
                    <a:pt x="89" y="142"/>
                  </a:lnTo>
                  <a:lnTo>
                    <a:pt x="77" y="157"/>
                  </a:lnTo>
                  <a:lnTo>
                    <a:pt x="66" y="172"/>
                  </a:lnTo>
                  <a:lnTo>
                    <a:pt x="56" y="188"/>
                  </a:lnTo>
                  <a:lnTo>
                    <a:pt x="47" y="205"/>
                  </a:lnTo>
                  <a:lnTo>
                    <a:pt x="38" y="221"/>
                  </a:lnTo>
                  <a:lnTo>
                    <a:pt x="31" y="238"/>
                  </a:lnTo>
                  <a:lnTo>
                    <a:pt x="24" y="256"/>
                  </a:lnTo>
                  <a:lnTo>
                    <a:pt x="17" y="275"/>
                  </a:lnTo>
                  <a:lnTo>
                    <a:pt x="12" y="292"/>
                  </a:lnTo>
                  <a:lnTo>
                    <a:pt x="8" y="311"/>
                  </a:lnTo>
                  <a:lnTo>
                    <a:pt x="4" y="331"/>
                  </a:lnTo>
                  <a:lnTo>
                    <a:pt x="2" y="350"/>
                  </a:lnTo>
                  <a:lnTo>
                    <a:pt x="1" y="370"/>
                  </a:lnTo>
                  <a:lnTo>
                    <a:pt x="0" y="389"/>
                  </a:lnTo>
                  <a:lnTo>
                    <a:pt x="1" y="409"/>
                  </a:lnTo>
                  <a:lnTo>
                    <a:pt x="2" y="429"/>
                  </a:lnTo>
                  <a:lnTo>
                    <a:pt x="4" y="449"/>
                  </a:lnTo>
                  <a:lnTo>
                    <a:pt x="8" y="468"/>
                  </a:lnTo>
                  <a:lnTo>
                    <a:pt x="12" y="487"/>
                  </a:lnTo>
                  <a:lnTo>
                    <a:pt x="17" y="505"/>
                  </a:lnTo>
                  <a:lnTo>
                    <a:pt x="24" y="523"/>
                  </a:lnTo>
                  <a:lnTo>
                    <a:pt x="31" y="541"/>
                  </a:lnTo>
                  <a:lnTo>
                    <a:pt x="38" y="559"/>
                  </a:lnTo>
                  <a:lnTo>
                    <a:pt x="47" y="575"/>
                  </a:lnTo>
                  <a:lnTo>
                    <a:pt x="56" y="592"/>
                  </a:lnTo>
                  <a:lnTo>
                    <a:pt x="66" y="608"/>
                  </a:lnTo>
                  <a:lnTo>
                    <a:pt x="77" y="622"/>
                  </a:lnTo>
                  <a:lnTo>
                    <a:pt x="89" y="638"/>
                  </a:lnTo>
                  <a:lnTo>
                    <a:pt x="101" y="652"/>
                  </a:lnTo>
                  <a:lnTo>
                    <a:pt x="114" y="665"/>
                  </a:lnTo>
                  <a:lnTo>
                    <a:pt x="128" y="678"/>
                  </a:lnTo>
                  <a:lnTo>
                    <a:pt x="142" y="690"/>
                  </a:lnTo>
                  <a:lnTo>
                    <a:pt x="156" y="702"/>
                  </a:lnTo>
                  <a:lnTo>
                    <a:pt x="172" y="713"/>
                  </a:lnTo>
                  <a:lnTo>
                    <a:pt x="187" y="723"/>
                  </a:lnTo>
                  <a:lnTo>
                    <a:pt x="204" y="732"/>
                  </a:lnTo>
                  <a:lnTo>
                    <a:pt x="221" y="741"/>
                  </a:lnTo>
                  <a:lnTo>
                    <a:pt x="238" y="749"/>
                  </a:lnTo>
                  <a:lnTo>
                    <a:pt x="255" y="756"/>
                  </a:lnTo>
                  <a:lnTo>
                    <a:pt x="274" y="762"/>
                  </a:lnTo>
                  <a:lnTo>
                    <a:pt x="292" y="767"/>
                  </a:lnTo>
                  <a:lnTo>
                    <a:pt x="311" y="772"/>
                  </a:lnTo>
                  <a:lnTo>
                    <a:pt x="330" y="775"/>
                  </a:lnTo>
                  <a:lnTo>
                    <a:pt x="349" y="778"/>
                  </a:lnTo>
                  <a:lnTo>
                    <a:pt x="369" y="779"/>
                  </a:lnTo>
                  <a:lnTo>
                    <a:pt x="389" y="780"/>
                  </a:lnTo>
                  <a:close/>
                </a:path>
              </a:pathLst>
            </a:custGeom>
            <a:solidFill>
              <a:srgbClr val="AAA9A9"/>
            </a:solidFill>
            <a:ln w="9525">
              <a:noFill/>
              <a:round/>
              <a:headEnd/>
              <a:tailEnd/>
            </a:ln>
          </p:spPr>
          <p:txBody>
            <a:bodyPr/>
            <a:lstStyle/>
            <a:p>
              <a:endParaRPr lang="en-GB"/>
            </a:p>
          </p:txBody>
        </p:sp>
        <p:sp>
          <p:nvSpPr>
            <p:cNvPr id="173119" name="Freeform 63"/>
            <p:cNvSpPr>
              <a:spLocks/>
            </p:cNvSpPr>
            <p:nvPr/>
          </p:nvSpPr>
          <p:spPr bwMode="auto">
            <a:xfrm>
              <a:off x="1126" y="1079"/>
              <a:ext cx="195" cy="195"/>
            </a:xfrm>
            <a:custGeom>
              <a:avLst/>
              <a:gdLst/>
              <a:ahLst/>
              <a:cxnLst>
                <a:cxn ang="0">
                  <a:pos x="430" y="778"/>
                </a:cxn>
                <a:cxn ang="0">
                  <a:pos x="487" y="767"/>
                </a:cxn>
                <a:cxn ang="0">
                  <a:pos x="541" y="749"/>
                </a:cxn>
                <a:cxn ang="0">
                  <a:pos x="591" y="723"/>
                </a:cxn>
                <a:cxn ang="0">
                  <a:pos x="637" y="690"/>
                </a:cxn>
                <a:cxn ang="0">
                  <a:pos x="678" y="652"/>
                </a:cxn>
                <a:cxn ang="0">
                  <a:pos x="713" y="608"/>
                </a:cxn>
                <a:cxn ang="0">
                  <a:pos x="741" y="559"/>
                </a:cxn>
                <a:cxn ang="0">
                  <a:pos x="762" y="505"/>
                </a:cxn>
                <a:cxn ang="0">
                  <a:pos x="774" y="449"/>
                </a:cxn>
                <a:cxn ang="0">
                  <a:pos x="779" y="389"/>
                </a:cxn>
                <a:cxn ang="0">
                  <a:pos x="774" y="331"/>
                </a:cxn>
                <a:cxn ang="0">
                  <a:pos x="762" y="275"/>
                </a:cxn>
                <a:cxn ang="0">
                  <a:pos x="741" y="221"/>
                </a:cxn>
                <a:cxn ang="0">
                  <a:pos x="713" y="172"/>
                </a:cxn>
                <a:cxn ang="0">
                  <a:pos x="678" y="128"/>
                </a:cxn>
                <a:cxn ang="0">
                  <a:pos x="637" y="89"/>
                </a:cxn>
                <a:cxn ang="0">
                  <a:pos x="591" y="56"/>
                </a:cxn>
                <a:cxn ang="0">
                  <a:pos x="541" y="30"/>
                </a:cxn>
                <a:cxn ang="0">
                  <a:pos x="487" y="12"/>
                </a:cxn>
                <a:cxn ang="0">
                  <a:pos x="430" y="2"/>
                </a:cxn>
                <a:cxn ang="0">
                  <a:pos x="369" y="0"/>
                </a:cxn>
                <a:cxn ang="0">
                  <a:pos x="311" y="8"/>
                </a:cxn>
                <a:cxn ang="0">
                  <a:pos x="255" y="24"/>
                </a:cxn>
                <a:cxn ang="0">
                  <a:pos x="204" y="47"/>
                </a:cxn>
                <a:cxn ang="0">
                  <a:pos x="156" y="77"/>
                </a:cxn>
                <a:cxn ang="0">
                  <a:pos x="114" y="115"/>
                </a:cxn>
                <a:cxn ang="0">
                  <a:pos x="77" y="157"/>
                </a:cxn>
                <a:cxn ang="0">
                  <a:pos x="47" y="205"/>
                </a:cxn>
                <a:cxn ang="0">
                  <a:pos x="24" y="256"/>
                </a:cxn>
                <a:cxn ang="0">
                  <a:pos x="8" y="311"/>
                </a:cxn>
                <a:cxn ang="0">
                  <a:pos x="1" y="370"/>
                </a:cxn>
                <a:cxn ang="0">
                  <a:pos x="2" y="429"/>
                </a:cxn>
                <a:cxn ang="0">
                  <a:pos x="12" y="487"/>
                </a:cxn>
                <a:cxn ang="0">
                  <a:pos x="31" y="541"/>
                </a:cxn>
                <a:cxn ang="0">
                  <a:pos x="56" y="592"/>
                </a:cxn>
                <a:cxn ang="0">
                  <a:pos x="89" y="638"/>
                </a:cxn>
                <a:cxn ang="0">
                  <a:pos x="128" y="678"/>
                </a:cxn>
                <a:cxn ang="0">
                  <a:pos x="172" y="713"/>
                </a:cxn>
                <a:cxn ang="0">
                  <a:pos x="221" y="741"/>
                </a:cxn>
                <a:cxn ang="0">
                  <a:pos x="274" y="762"/>
                </a:cxn>
                <a:cxn ang="0">
                  <a:pos x="330" y="775"/>
                </a:cxn>
                <a:cxn ang="0">
                  <a:pos x="389" y="780"/>
                </a:cxn>
              </a:cxnLst>
              <a:rect l="0" t="0" r="r" b="b"/>
              <a:pathLst>
                <a:path w="779" h="780">
                  <a:moveTo>
                    <a:pt x="389" y="780"/>
                  </a:moveTo>
                  <a:lnTo>
                    <a:pt x="410" y="779"/>
                  </a:lnTo>
                  <a:lnTo>
                    <a:pt x="430" y="778"/>
                  </a:lnTo>
                  <a:lnTo>
                    <a:pt x="448" y="775"/>
                  </a:lnTo>
                  <a:lnTo>
                    <a:pt x="468" y="772"/>
                  </a:lnTo>
                  <a:lnTo>
                    <a:pt x="487" y="767"/>
                  </a:lnTo>
                  <a:lnTo>
                    <a:pt x="505" y="762"/>
                  </a:lnTo>
                  <a:lnTo>
                    <a:pt x="524" y="756"/>
                  </a:lnTo>
                  <a:lnTo>
                    <a:pt x="541" y="749"/>
                  </a:lnTo>
                  <a:lnTo>
                    <a:pt x="558" y="741"/>
                  </a:lnTo>
                  <a:lnTo>
                    <a:pt x="575" y="732"/>
                  </a:lnTo>
                  <a:lnTo>
                    <a:pt x="591" y="723"/>
                  </a:lnTo>
                  <a:lnTo>
                    <a:pt x="607" y="713"/>
                  </a:lnTo>
                  <a:lnTo>
                    <a:pt x="623" y="702"/>
                  </a:lnTo>
                  <a:lnTo>
                    <a:pt x="637" y="690"/>
                  </a:lnTo>
                  <a:lnTo>
                    <a:pt x="651" y="678"/>
                  </a:lnTo>
                  <a:lnTo>
                    <a:pt x="665" y="665"/>
                  </a:lnTo>
                  <a:lnTo>
                    <a:pt x="678" y="652"/>
                  </a:lnTo>
                  <a:lnTo>
                    <a:pt x="690" y="638"/>
                  </a:lnTo>
                  <a:lnTo>
                    <a:pt x="701" y="622"/>
                  </a:lnTo>
                  <a:lnTo>
                    <a:pt x="713" y="608"/>
                  </a:lnTo>
                  <a:lnTo>
                    <a:pt x="723" y="592"/>
                  </a:lnTo>
                  <a:lnTo>
                    <a:pt x="732" y="575"/>
                  </a:lnTo>
                  <a:lnTo>
                    <a:pt x="741" y="559"/>
                  </a:lnTo>
                  <a:lnTo>
                    <a:pt x="748" y="541"/>
                  </a:lnTo>
                  <a:lnTo>
                    <a:pt x="755" y="523"/>
                  </a:lnTo>
                  <a:lnTo>
                    <a:pt x="762" y="505"/>
                  </a:lnTo>
                  <a:lnTo>
                    <a:pt x="767" y="487"/>
                  </a:lnTo>
                  <a:lnTo>
                    <a:pt x="771" y="468"/>
                  </a:lnTo>
                  <a:lnTo>
                    <a:pt x="774" y="449"/>
                  </a:lnTo>
                  <a:lnTo>
                    <a:pt x="777" y="429"/>
                  </a:lnTo>
                  <a:lnTo>
                    <a:pt x="778" y="409"/>
                  </a:lnTo>
                  <a:lnTo>
                    <a:pt x="779" y="389"/>
                  </a:lnTo>
                  <a:lnTo>
                    <a:pt x="778" y="370"/>
                  </a:lnTo>
                  <a:lnTo>
                    <a:pt x="777" y="350"/>
                  </a:lnTo>
                  <a:lnTo>
                    <a:pt x="774" y="331"/>
                  </a:lnTo>
                  <a:lnTo>
                    <a:pt x="771" y="311"/>
                  </a:lnTo>
                  <a:lnTo>
                    <a:pt x="767" y="292"/>
                  </a:lnTo>
                  <a:lnTo>
                    <a:pt x="762" y="275"/>
                  </a:lnTo>
                  <a:lnTo>
                    <a:pt x="755" y="256"/>
                  </a:lnTo>
                  <a:lnTo>
                    <a:pt x="748" y="238"/>
                  </a:lnTo>
                  <a:lnTo>
                    <a:pt x="741" y="221"/>
                  </a:lnTo>
                  <a:lnTo>
                    <a:pt x="732" y="205"/>
                  </a:lnTo>
                  <a:lnTo>
                    <a:pt x="723" y="188"/>
                  </a:lnTo>
                  <a:lnTo>
                    <a:pt x="713" y="172"/>
                  </a:lnTo>
                  <a:lnTo>
                    <a:pt x="701" y="157"/>
                  </a:lnTo>
                  <a:lnTo>
                    <a:pt x="690" y="142"/>
                  </a:lnTo>
                  <a:lnTo>
                    <a:pt x="678" y="128"/>
                  </a:lnTo>
                  <a:lnTo>
                    <a:pt x="665" y="115"/>
                  </a:lnTo>
                  <a:lnTo>
                    <a:pt x="651" y="101"/>
                  </a:lnTo>
                  <a:lnTo>
                    <a:pt x="637" y="89"/>
                  </a:lnTo>
                  <a:lnTo>
                    <a:pt x="623" y="77"/>
                  </a:lnTo>
                  <a:lnTo>
                    <a:pt x="607" y="67"/>
                  </a:lnTo>
                  <a:lnTo>
                    <a:pt x="591" y="56"/>
                  </a:lnTo>
                  <a:lnTo>
                    <a:pt x="575" y="47"/>
                  </a:lnTo>
                  <a:lnTo>
                    <a:pt x="558" y="39"/>
                  </a:lnTo>
                  <a:lnTo>
                    <a:pt x="541" y="30"/>
                  </a:lnTo>
                  <a:lnTo>
                    <a:pt x="524" y="24"/>
                  </a:lnTo>
                  <a:lnTo>
                    <a:pt x="505" y="18"/>
                  </a:lnTo>
                  <a:lnTo>
                    <a:pt x="487" y="12"/>
                  </a:lnTo>
                  <a:lnTo>
                    <a:pt x="468" y="8"/>
                  </a:lnTo>
                  <a:lnTo>
                    <a:pt x="448" y="4"/>
                  </a:lnTo>
                  <a:lnTo>
                    <a:pt x="430" y="2"/>
                  </a:lnTo>
                  <a:lnTo>
                    <a:pt x="410" y="0"/>
                  </a:lnTo>
                  <a:lnTo>
                    <a:pt x="389" y="0"/>
                  </a:lnTo>
                  <a:lnTo>
                    <a:pt x="369" y="0"/>
                  </a:lnTo>
                  <a:lnTo>
                    <a:pt x="349" y="2"/>
                  </a:lnTo>
                  <a:lnTo>
                    <a:pt x="330" y="4"/>
                  </a:lnTo>
                  <a:lnTo>
                    <a:pt x="311" y="8"/>
                  </a:lnTo>
                  <a:lnTo>
                    <a:pt x="292" y="12"/>
                  </a:lnTo>
                  <a:lnTo>
                    <a:pt x="274" y="18"/>
                  </a:lnTo>
                  <a:lnTo>
                    <a:pt x="255" y="24"/>
                  </a:lnTo>
                  <a:lnTo>
                    <a:pt x="238" y="30"/>
                  </a:lnTo>
                  <a:lnTo>
                    <a:pt x="221" y="39"/>
                  </a:lnTo>
                  <a:lnTo>
                    <a:pt x="204" y="47"/>
                  </a:lnTo>
                  <a:lnTo>
                    <a:pt x="187" y="56"/>
                  </a:lnTo>
                  <a:lnTo>
                    <a:pt x="172" y="67"/>
                  </a:lnTo>
                  <a:lnTo>
                    <a:pt x="156" y="77"/>
                  </a:lnTo>
                  <a:lnTo>
                    <a:pt x="142" y="89"/>
                  </a:lnTo>
                  <a:lnTo>
                    <a:pt x="128" y="101"/>
                  </a:lnTo>
                  <a:lnTo>
                    <a:pt x="114" y="115"/>
                  </a:lnTo>
                  <a:lnTo>
                    <a:pt x="101" y="128"/>
                  </a:lnTo>
                  <a:lnTo>
                    <a:pt x="89" y="142"/>
                  </a:lnTo>
                  <a:lnTo>
                    <a:pt x="77" y="157"/>
                  </a:lnTo>
                  <a:lnTo>
                    <a:pt x="66" y="172"/>
                  </a:lnTo>
                  <a:lnTo>
                    <a:pt x="56" y="188"/>
                  </a:lnTo>
                  <a:lnTo>
                    <a:pt x="47" y="205"/>
                  </a:lnTo>
                  <a:lnTo>
                    <a:pt x="38" y="221"/>
                  </a:lnTo>
                  <a:lnTo>
                    <a:pt x="31" y="238"/>
                  </a:lnTo>
                  <a:lnTo>
                    <a:pt x="24" y="256"/>
                  </a:lnTo>
                  <a:lnTo>
                    <a:pt x="17" y="275"/>
                  </a:lnTo>
                  <a:lnTo>
                    <a:pt x="12" y="292"/>
                  </a:lnTo>
                  <a:lnTo>
                    <a:pt x="8" y="311"/>
                  </a:lnTo>
                  <a:lnTo>
                    <a:pt x="4" y="331"/>
                  </a:lnTo>
                  <a:lnTo>
                    <a:pt x="2" y="350"/>
                  </a:lnTo>
                  <a:lnTo>
                    <a:pt x="1" y="370"/>
                  </a:lnTo>
                  <a:lnTo>
                    <a:pt x="0" y="389"/>
                  </a:lnTo>
                  <a:lnTo>
                    <a:pt x="1" y="409"/>
                  </a:lnTo>
                  <a:lnTo>
                    <a:pt x="2" y="429"/>
                  </a:lnTo>
                  <a:lnTo>
                    <a:pt x="4" y="449"/>
                  </a:lnTo>
                  <a:lnTo>
                    <a:pt x="8" y="468"/>
                  </a:lnTo>
                  <a:lnTo>
                    <a:pt x="12" y="487"/>
                  </a:lnTo>
                  <a:lnTo>
                    <a:pt x="17" y="505"/>
                  </a:lnTo>
                  <a:lnTo>
                    <a:pt x="24" y="523"/>
                  </a:lnTo>
                  <a:lnTo>
                    <a:pt x="31" y="541"/>
                  </a:lnTo>
                  <a:lnTo>
                    <a:pt x="38" y="559"/>
                  </a:lnTo>
                  <a:lnTo>
                    <a:pt x="47" y="575"/>
                  </a:lnTo>
                  <a:lnTo>
                    <a:pt x="56" y="592"/>
                  </a:lnTo>
                  <a:lnTo>
                    <a:pt x="66" y="608"/>
                  </a:lnTo>
                  <a:lnTo>
                    <a:pt x="77" y="622"/>
                  </a:lnTo>
                  <a:lnTo>
                    <a:pt x="89" y="638"/>
                  </a:lnTo>
                  <a:lnTo>
                    <a:pt x="101" y="652"/>
                  </a:lnTo>
                  <a:lnTo>
                    <a:pt x="114" y="665"/>
                  </a:lnTo>
                  <a:lnTo>
                    <a:pt x="128" y="678"/>
                  </a:lnTo>
                  <a:lnTo>
                    <a:pt x="142" y="690"/>
                  </a:lnTo>
                  <a:lnTo>
                    <a:pt x="156" y="702"/>
                  </a:lnTo>
                  <a:lnTo>
                    <a:pt x="172" y="713"/>
                  </a:lnTo>
                  <a:lnTo>
                    <a:pt x="187" y="723"/>
                  </a:lnTo>
                  <a:lnTo>
                    <a:pt x="204" y="732"/>
                  </a:lnTo>
                  <a:lnTo>
                    <a:pt x="221" y="741"/>
                  </a:lnTo>
                  <a:lnTo>
                    <a:pt x="238" y="749"/>
                  </a:lnTo>
                  <a:lnTo>
                    <a:pt x="255" y="756"/>
                  </a:lnTo>
                  <a:lnTo>
                    <a:pt x="274" y="762"/>
                  </a:lnTo>
                  <a:lnTo>
                    <a:pt x="292" y="767"/>
                  </a:lnTo>
                  <a:lnTo>
                    <a:pt x="311" y="772"/>
                  </a:lnTo>
                  <a:lnTo>
                    <a:pt x="330" y="775"/>
                  </a:lnTo>
                  <a:lnTo>
                    <a:pt x="349" y="778"/>
                  </a:lnTo>
                  <a:lnTo>
                    <a:pt x="369" y="779"/>
                  </a:lnTo>
                  <a:lnTo>
                    <a:pt x="389" y="780"/>
                  </a:lnTo>
                  <a:close/>
                </a:path>
              </a:pathLst>
            </a:custGeom>
            <a:noFill/>
            <a:ln w="14288">
              <a:solidFill>
                <a:srgbClr val="C3C3C2"/>
              </a:solidFill>
              <a:prstDash val="solid"/>
              <a:round/>
              <a:headEnd/>
              <a:tailEnd/>
            </a:ln>
          </p:spPr>
          <p:txBody>
            <a:bodyPr/>
            <a:lstStyle/>
            <a:p>
              <a:endParaRPr lang="en-GB"/>
            </a:p>
          </p:txBody>
        </p:sp>
        <p:sp>
          <p:nvSpPr>
            <p:cNvPr id="173120" name="Freeform 64"/>
            <p:cNvSpPr>
              <a:spLocks/>
            </p:cNvSpPr>
            <p:nvPr/>
          </p:nvSpPr>
          <p:spPr bwMode="auto">
            <a:xfrm>
              <a:off x="993" y="1318"/>
              <a:ext cx="382" cy="300"/>
            </a:xfrm>
            <a:custGeom>
              <a:avLst/>
              <a:gdLst/>
              <a:ahLst/>
              <a:cxnLst>
                <a:cxn ang="0">
                  <a:pos x="387" y="0"/>
                </a:cxn>
                <a:cxn ang="0">
                  <a:pos x="1525" y="0"/>
                </a:cxn>
                <a:cxn ang="0">
                  <a:pos x="1138" y="1200"/>
                </a:cxn>
                <a:cxn ang="0">
                  <a:pos x="0" y="1197"/>
                </a:cxn>
                <a:cxn ang="0">
                  <a:pos x="387" y="0"/>
                </a:cxn>
              </a:cxnLst>
              <a:rect l="0" t="0" r="r" b="b"/>
              <a:pathLst>
                <a:path w="1525" h="1200">
                  <a:moveTo>
                    <a:pt x="387" y="0"/>
                  </a:moveTo>
                  <a:lnTo>
                    <a:pt x="1525" y="0"/>
                  </a:lnTo>
                  <a:lnTo>
                    <a:pt x="1138" y="1200"/>
                  </a:lnTo>
                  <a:lnTo>
                    <a:pt x="0" y="1197"/>
                  </a:lnTo>
                  <a:lnTo>
                    <a:pt x="387" y="0"/>
                  </a:lnTo>
                  <a:close/>
                </a:path>
              </a:pathLst>
            </a:custGeom>
            <a:solidFill>
              <a:srgbClr val="AAA9A9"/>
            </a:solidFill>
            <a:ln w="9525">
              <a:noFill/>
              <a:round/>
              <a:headEnd/>
              <a:tailEnd/>
            </a:ln>
          </p:spPr>
          <p:txBody>
            <a:bodyPr/>
            <a:lstStyle/>
            <a:p>
              <a:endParaRPr lang="en-GB"/>
            </a:p>
          </p:txBody>
        </p:sp>
        <p:sp>
          <p:nvSpPr>
            <p:cNvPr id="173121" name="Freeform 65"/>
            <p:cNvSpPr>
              <a:spLocks/>
            </p:cNvSpPr>
            <p:nvPr/>
          </p:nvSpPr>
          <p:spPr bwMode="auto">
            <a:xfrm>
              <a:off x="993" y="1318"/>
              <a:ext cx="382" cy="300"/>
            </a:xfrm>
            <a:custGeom>
              <a:avLst/>
              <a:gdLst/>
              <a:ahLst/>
              <a:cxnLst>
                <a:cxn ang="0">
                  <a:pos x="387" y="0"/>
                </a:cxn>
                <a:cxn ang="0">
                  <a:pos x="1525" y="0"/>
                </a:cxn>
                <a:cxn ang="0">
                  <a:pos x="1138" y="1200"/>
                </a:cxn>
                <a:cxn ang="0">
                  <a:pos x="0" y="1197"/>
                </a:cxn>
                <a:cxn ang="0">
                  <a:pos x="387" y="0"/>
                </a:cxn>
              </a:cxnLst>
              <a:rect l="0" t="0" r="r" b="b"/>
              <a:pathLst>
                <a:path w="1525" h="1200">
                  <a:moveTo>
                    <a:pt x="387" y="0"/>
                  </a:moveTo>
                  <a:lnTo>
                    <a:pt x="1525" y="0"/>
                  </a:lnTo>
                  <a:lnTo>
                    <a:pt x="1138" y="1200"/>
                  </a:lnTo>
                  <a:lnTo>
                    <a:pt x="0" y="1197"/>
                  </a:lnTo>
                  <a:lnTo>
                    <a:pt x="387" y="0"/>
                  </a:lnTo>
                  <a:close/>
                </a:path>
              </a:pathLst>
            </a:custGeom>
            <a:noFill/>
            <a:ln w="14288">
              <a:solidFill>
                <a:srgbClr val="C3C3C2"/>
              </a:solidFill>
              <a:prstDash val="solid"/>
              <a:round/>
              <a:headEnd/>
              <a:tailEnd/>
            </a:ln>
          </p:spPr>
          <p:txBody>
            <a:bodyPr/>
            <a:lstStyle/>
            <a:p>
              <a:endParaRPr lang="en-GB"/>
            </a:p>
          </p:txBody>
        </p:sp>
        <p:sp>
          <p:nvSpPr>
            <p:cNvPr id="173122" name="Freeform 66"/>
            <p:cNvSpPr>
              <a:spLocks/>
            </p:cNvSpPr>
            <p:nvPr/>
          </p:nvSpPr>
          <p:spPr bwMode="auto">
            <a:xfrm>
              <a:off x="1093" y="1056"/>
              <a:ext cx="194" cy="195"/>
            </a:xfrm>
            <a:custGeom>
              <a:avLst/>
              <a:gdLst/>
              <a:ahLst/>
              <a:cxnLst>
                <a:cxn ang="0">
                  <a:pos x="429" y="778"/>
                </a:cxn>
                <a:cxn ang="0">
                  <a:pos x="486" y="767"/>
                </a:cxn>
                <a:cxn ang="0">
                  <a:pos x="541" y="750"/>
                </a:cxn>
                <a:cxn ang="0">
                  <a:pos x="591" y="724"/>
                </a:cxn>
                <a:cxn ang="0">
                  <a:pos x="637" y="691"/>
                </a:cxn>
                <a:cxn ang="0">
                  <a:pos x="677" y="651"/>
                </a:cxn>
                <a:cxn ang="0">
                  <a:pos x="712" y="608"/>
                </a:cxn>
                <a:cxn ang="0">
                  <a:pos x="740" y="559"/>
                </a:cxn>
                <a:cxn ang="0">
                  <a:pos x="761" y="505"/>
                </a:cxn>
                <a:cxn ang="0">
                  <a:pos x="775" y="449"/>
                </a:cxn>
                <a:cxn ang="0">
                  <a:pos x="779" y="390"/>
                </a:cxn>
                <a:cxn ang="0">
                  <a:pos x="775" y="331"/>
                </a:cxn>
                <a:cxn ang="0">
                  <a:pos x="761" y="275"/>
                </a:cxn>
                <a:cxn ang="0">
                  <a:pos x="740" y="221"/>
                </a:cxn>
                <a:cxn ang="0">
                  <a:pos x="712" y="172"/>
                </a:cxn>
                <a:cxn ang="0">
                  <a:pos x="677" y="128"/>
                </a:cxn>
                <a:cxn ang="0">
                  <a:pos x="637" y="90"/>
                </a:cxn>
                <a:cxn ang="0">
                  <a:pos x="591" y="57"/>
                </a:cxn>
                <a:cxn ang="0">
                  <a:pos x="541" y="31"/>
                </a:cxn>
                <a:cxn ang="0">
                  <a:pos x="486" y="12"/>
                </a:cxn>
                <a:cxn ang="0">
                  <a:pos x="429" y="2"/>
                </a:cxn>
                <a:cxn ang="0">
                  <a:pos x="369" y="1"/>
                </a:cxn>
                <a:cxn ang="0">
                  <a:pos x="311" y="8"/>
                </a:cxn>
                <a:cxn ang="0">
                  <a:pos x="256" y="24"/>
                </a:cxn>
                <a:cxn ang="0">
                  <a:pos x="203" y="48"/>
                </a:cxn>
                <a:cxn ang="0">
                  <a:pos x="157" y="78"/>
                </a:cxn>
                <a:cxn ang="0">
                  <a:pos x="114" y="115"/>
                </a:cxn>
                <a:cxn ang="0">
                  <a:pos x="77" y="158"/>
                </a:cxn>
                <a:cxn ang="0">
                  <a:pos x="47" y="205"/>
                </a:cxn>
                <a:cxn ang="0">
                  <a:pos x="23" y="257"/>
                </a:cxn>
                <a:cxn ang="0">
                  <a:pos x="7" y="312"/>
                </a:cxn>
                <a:cxn ang="0">
                  <a:pos x="0" y="370"/>
                </a:cxn>
                <a:cxn ang="0">
                  <a:pos x="2" y="430"/>
                </a:cxn>
                <a:cxn ang="0">
                  <a:pos x="11" y="488"/>
                </a:cxn>
                <a:cxn ang="0">
                  <a:pos x="30" y="542"/>
                </a:cxn>
                <a:cxn ang="0">
                  <a:pos x="56" y="592"/>
                </a:cxn>
                <a:cxn ang="0">
                  <a:pos x="89" y="638"/>
                </a:cxn>
                <a:cxn ang="0">
                  <a:pos x="127" y="679"/>
                </a:cxn>
                <a:cxn ang="0">
                  <a:pos x="171" y="713"/>
                </a:cxn>
                <a:cxn ang="0">
                  <a:pos x="220" y="741"/>
                </a:cxn>
                <a:cxn ang="0">
                  <a:pos x="273" y="762"/>
                </a:cxn>
                <a:cxn ang="0">
                  <a:pos x="330" y="776"/>
                </a:cxn>
                <a:cxn ang="0">
                  <a:pos x="389" y="780"/>
                </a:cxn>
              </a:cxnLst>
              <a:rect l="0" t="0" r="r" b="b"/>
              <a:pathLst>
                <a:path w="779" h="780">
                  <a:moveTo>
                    <a:pt x="389" y="780"/>
                  </a:moveTo>
                  <a:lnTo>
                    <a:pt x="409" y="779"/>
                  </a:lnTo>
                  <a:lnTo>
                    <a:pt x="429" y="778"/>
                  </a:lnTo>
                  <a:lnTo>
                    <a:pt x="449" y="776"/>
                  </a:lnTo>
                  <a:lnTo>
                    <a:pt x="468" y="772"/>
                  </a:lnTo>
                  <a:lnTo>
                    <a:pt x="486" y="767"/>
                  </a:lnTo>
                  <a:lnTo>
                    <a:pt x="505" y="762"/>
                  </a:lnTo>
                  <a:lnTo>
                    <a:pt x="523" y="756"/>
                  </a:lnTo>
                  <a:lnTo>
                    <a:pt x="541" y="750"/>
                  </a:lnTo>
                  <a:lnTo>
                    <a:pt x="558" y="741"/>
                  </a:lnTo>
                  <a:lnTo>
                    <a:pt x="575" y="733"/>
                  </a:lnTo>
                  <a:lnTo>
                    <a:pt x="591" y="724"/>
                  </a:lnTo>
                  <a:lnTo>
                    <a:pt x="606" y="713"/>
                  </a:lnTo>
                  <a:lnTo>
                    <a:pt x="622" y="703"/>
                  </a:lnTo>
                  <a:lnTo>
                    <a:pt x="637" y="691"/>
                  </a:lnTo>
                  <a:lnTo>
                    <a:pt x="651" y="679"/>
                  </a:lnTo>
                  <a:lnTo>
                    <a:pt x="665" y="665"/>
                  </a:lnTo>
                  <a:lnTo>
                    <a:pt x="677" y="651"/>
                  </a:lnTo>
                  <a:lnTo>
                    <a:pt x="690" y="638"/>
                  </a:lnTo>
                  <a:lnTo>
                    <a:pt x="701" y="623"/>
                  </a:lnTo>
                  <a:lnTo>
                    <a:pt x="712" y="608"/>
                  </a:lnTo>
                  <a:lnTo>
                    <a:pt x="722" y="592"/>
                  </a:lnTo>
                  <a:lnTo>
                    <a:pt x="732" y="575"/>
                  </a:lnTo>
                  <a:lnTo>
                    <a:pt x="740" y="559"/>
                  </a:lnTo>
                  <a:lnTo>
                    <a:pt x="748" y="542"/>
                  </a:lnTo>
                  <a:lnTo>
                    <a:pt x="756" y="524"/>
                  </a:lnTo>
                  <a:lnTo>
                    <a:pt x="761" y="505"/>
                  </a:lnTo>
                  <a:lnTo>
                    <a:pt x="766" y="488"/>
                  </a:lnTo>
                  <a:lnTo>
                    <a:pt x="771" y="469"/>
                  </a:lnTo>
                  <a:lnTo>
                    <a:pt x="775" y="449"/>
                  </a:lnTo>
                  <a:lnTo>
                    <a:pt x="777" y="430"/>
                  </a:lnTo>
                  <a:lnTo>
                    <a:pt x="779" y="410"/>
                  </a:lnTo>
                  <a:lnTo>
                    <a:pt x="779" y="390"/>
                  </a:lnTo>
                  <a:lnTo>
                    <a:pt x="779" y="370"/>
                  </a:lnTo>
                  <a:lnTo>
                    <a:pt x="777" y="351"/>
                  </a:lnTo>
                  <a:lnTo>
                    <a:pt x="775" y="331"/>
                  </a:lnTo>
                  <a:lnTo>
                    <a:pt x="771" y="312"/>
                  </a:lnTo>
                  <a:lnTo>
                    <a:pt x="766" y="293"/>
                  </a:lnTo>
                  <a:lnTo>
                    <a:pt x="761" y="275"/>
                  </a:lnTo>
                  <a:lnTo>
                    <a:pt x="756" y="257"/>
                  </a:lnTo>
                  <a:lnTo>
                    <a:pt x="748" y="239"/>
                  </a:lnTo>
                  <a:lnTo>
                    <a:pt x="740" y="221"/>
                  </a:lnTo>
                  <a:lnTo>
                    <a:pt x="732" y="205"/>
                  </a:lnTo>
                  <a:lnTo>
                    <a:pt x="722" y="188"/>
                  </a:lnTo>
                  <a:lnTo>
                    <a:pt x="712" y="172"/>
                  </a:lnTo>
                  <a:lnTo>
                    <a:pt x="701" y="158"/>
                  </a:lnTo>
                  <a:lnTo>
                    <a:pt x="690" y="142"/>
                  </a:lnTo>
                  <a:lnTo>
                    <a:pt x="677" y="128"/>
                  </a:lnTo>
                  <a:lnTo>
                    <a:pt x="665" y="115"/>
                  </a:lnTo>
                  <a:lnTo>
                    <a:pt x="651" y="102"/>
                  </a:lnTo>
                  <a:lnTo>
                    <a:pt x="637" y="90"/>
                  </a:lnTo>
                  <a:lnTo>
                    <a:pt x="622" y="78"/>
                  </a:lnTo>
                  <a:lnTo>
                    <a:pt x="606" y="67"/>
                  </a:lnTo>
                  <a:lnTo>
                    <a:pt x="591" y="57"/>
                  </a:lnTo>
                  <a:lnTo>
                    <a:pt x="575" y="48"/>
                  </a:lnTo>
                  <a:lnTo>
                    <a:pt x="558" y="39"/>
                  </a:lnTo>
                  <a:lnTo>
                    <a:pt x="541" y="31"/>
                  </a:lnTo>
                  <a:lnTo>
                    <a:pt x="523" y="24"/>
                  </a:lnTo>
                  <a:lnTo>
                    <a:pt x="505" y="18"/>
                  </a:lnTo>
                  <a:lnTo>
                    <a:pt x="486" y="12"/>
                  </a:lnTo>
                  <a:lnTo>
                    <a:pt x="468" y="8"/>
                  </a:lnTo>
                  <a:lnTo>
                    <a:pt x="449" y="5"/>
                  </a:lnTo>
                  <a:lnTo>
                    <a:pt x="429" y="2"/>
                  </a:lnTo>
                  <a:lnTo>
                    <a:pt x="409" y="1"/>
                  </a:lnTo>
                  <a:lnTo>
                    <a:pt x="389" y="0"/>
                  </a:lnTo>
                  <a:lnTo>
                    <a:pt x="369" y="1"/>
                  </a:lnTo>
                  <a:lnTo>
                    <a:pt x="350" y="2"/>
                  </a:lnTo>
                  <a:lnTo>
                    <a:pt x="330" y="5"/>
                  </a:lnTo>
                  <a:lnTo>
                    <a:pt x="311" y="8"/>
                  </a:lnTo>
                  <a:lnTo>
                    <a:pt x="292" y="12"/>
                  </a:lnTo>
                  <a:lnTo>
                    <a:pt x="273" y="18"/>
                  </a:lnTo>
                  <a:lnTo>
                    <a:pt x="256" y="24"/>
                  </a:lnTo>
                  <a:lnTo>
                    <a:pt x="238" y="31"/>
                  </a:lnTo>
                  <a:lnTo>
                    <a:pt x="220" y="39"/>
                  </a:lnTo>
                  <a:lnTo>
                    <a:pt x="203" y="48"/>
                  </a:lnTo>
                  <a:lnTo>
                    <a:pt x="188" y="57"/>
                  </a:lnTo>
                  <a:lnTo>
                    <a:pt x="171" y="67"/>
                  </a:lnTo>
                  <a:lnTo>
                    <a:pt x="157" y="78"/>
                  </a:lnTo>
                  <a:lnTo>
                    <a:pt x="142" y="90"/>
                  </a:lnTo>
                  <a:lnTo>
                    <a:pt x="127" y="102"/>
                  </a:lnTo>
                  <a:lnTo>
                    <a:pt x="114" y="115"/>
                  </a:lnTo>
                  <a:lnTo>
                    <a:pt x="101" y="128"/>
                  </a:lnTo>
                  <a:lnTo>
                    <a:pt x="89" y="142"/>
                  </a:lnTo>
                  <a:lnTo>
                    <a:pt x="77" y="158"/>
                  </a:lnTo>
                  <a:lnTo>
                    <a:pt x="67" y="172"/>
                  </a:lnTo>
                  <a:lnTo>
                    <a:pt x="56" y="188"/>
                  </a:lnTo>
                  <a:lnTo>
                    <a:pt x="47" y="205"/>
                  </a:lnTo>
                  <a:lnTo>
                    <a:pt x="39" y="221"/>
                  </a:lnTo>
                  <a:lnTo>
                    <a:pt x="30" y="239"/>
                  </a:lnTo>
                  <a:lnTo>
                    <a:pt x="23" y="257"/>
                  </a:lnTo>
                  <a:lnTo>
                    <a:pt x="17" y="275"/>
                  </a:lnTo>
                  <a:lnTo>
                    <a:pt x="11" y="293"/>
                  </a:lnTo>
                  <a:lnTo>
                    <a:pt x="7" y="312"/>
                  </a:lnTo>
                  <a:lnTo>
                    <a:pt x="4" y="331"/>
                  </a:lnTo>
                  <a:lnTo>
                    <a:pt x="2" y="351"/>
                  </a:lnTo>
                  <a:lnTo>
                    <a:pt x="0" y="370"/>
                  </a:lnTo>
                  <a:lnTo>
                    <a:pt x="0" y="390"/>
                  </a:lnTo>
                  <a:lnTo>
                    <a:pt x="0" y="410"/>
                  </a:lnTo>
                  <a:lnTo>
                    <a:pt x="2" y="430"/>
                  </a:lnTo>
                  <a:lnTo>
                    <a:pt x="4" y="449"/>
                  </a:lnTo>
                  <a:lnTo>
                    <a:pt x="7" y="469"/>
                  </a:lnTo>
                  <a:lnTo>
                    <a:pt x="11" y="488"/>
                  </a:lnTo>
                  <a:lnTo>
                    <a:pt x="17" y="505"/>
                  </a:lnTo>
                  <a:lnTo>
                    <a:pt x="23" y="524"/>
                  </a:lnTo>
                  <a:lnTo>
                    <a:pt x="30" y="542"/>
                  </a:lnTo>
                  <a:lnTo>
                    <a:pt x="39" y="559"/>
                  </a:lnTo>
                  <a:lnTo>
                    <a:pt x="47" y="575"/>
                  </a:lnTo>
                  <a:lnTo>
                    <a:pt x="56" y="592"/>
                  </a:lnTo>
                  <a:lnTo>
                    <a:pt x="67" y="608"/>
                  </a:lnTo>
                  <a:lnTo>
                    <a:pt x="77" y="623"/>
                  </a:lnTo>
                  <a:lnTo>
                    <a:pt x="89" y="638"/>
                  </a:lnTo>
                  <a:lnTo>
                    <a:pt x="101" y="651"/>
                  </a:lnTo>
                  <a:lnTo>
                    <a:pt x="114" y="665"/>
                  </a:lnTo>
                  <a:lnTo>
                    <a:pt x="127" y="679"/>
                  </a:lnTo>
                  <a:lnTo>
                    <a:pt x="142" y="691"/>
                  </a:lnTo>
                  <a:lnTo>
                    <a:pt x="157" y="703"/>
                  </a:lnTo>
                  <a:lnTo>
                    <a:pt x="171" y="713"/>
                  </a:lnTo>
                  <a:lnTo>
                    <a:pt x="188" y="724"/>
                  </a:lnTo>
                  <a:lnTo>
                    <a:pt x="203" y="733"/>
                  </a:lnTo>
                  <a:lnTo>
                    <a:pt x="220" y="741"/>
                  </a:lnTo>
                  <a:lnTo>
                    <a:pt x="238" y="750"/>
                  </a:lnTo>
                  <a:lnTo>
                    <a:pt x="256" y="756"/>
                  </a:lnTo>
                  <a:lnTo>
                    <a:pt x="273" y="762"/>
                  </a:lnTo>
                  <a:lnTo>
                    <a:pt x="292" y="767"/>
                  </a:lnTo>
                  <a:lnTo>
                    <a:pt x="311" y="772"/>
                  </a:lnTo>
                  <a:lnTo>
                    <a:pt x="330" y="776"/>
                  </a:lnTo>
                  <a:lnTo>
                    <a:pt x="350" y="778"/>
                  </a:lnTo>
                  <a:lnTo>
                    <a:pt x="369" y="779"/>
                  </a:lnTo>
                  <a:lnTo>
                    <a:pt x="389" y="780"/>
                  </a:lnTo>
                  <a:close/>
                </a:path>
              </a:pathLst>
            </a:custGeom>
            <a:solidFill>
              <a:srgbClr val="F5C592"/>
            </a:solidFill>
            <a:ln w="9525">
              <a:noFill/>
              <a:round/>
              <a:headEnd/>
              <a:tailEnd/>
            </a:ln>
          </p:spPr>
          <p:txBody>
            <a:bodyPr/>
            <a:lstStyle/>
            <a:p>
              <a:endParaRPr lang="en-GB"/>
            </a:p>
          </p:txBody>
        </p:sp>
        <p:sp>
          <p:nvSpPr>
            <p:cNvPr id="173123" name="Freeform 67"/>
            <p:cNvSpPr>
              <a:spLocks/>
            </p:cNvSpPr>
            <p:nvPr/>
          </p:nvSpPr>
          <p:spPr bwMode="auto">
            <a:xfrm>
              <a:off x="1093" y="1056"/>
              <a:ext cx="194" cy="195"/>
            </a:xfrm>
            <a:custGeom>
              <a:avLst/>
              <a:gdLst/>
              <a:ahLst/>
              <a:cxnLst>
                <a:cxn ang="0">
                  <a:pos x="429" y="778"/>
                </a:cxn>
                <a:cxn ang="0">
                  <a:pos x="486" y="767"/>
                </a:cxn>
                <a:cxn ang="0">
                  <a:pos x="541" y="750"/>
                </a:cxn>
                <a:cxn ang="0">
                  <a:pos x="591" y="724"/>
                </a:cxn>
                <a:cxn ang="0">
                  <a:pos x="637" y="691"/>
                </a:cxn>
                <a:cxn ang="0">
                  <a:pos x="677" y="651"/>
                </a:cxn>
                <a:cxn ang="0">
                  <a:pos x="712" y="608"/>
                </a:cxn>
                <a:cxn ang="0">
                  <a:pos x="740" y="559"/>
                </a:cxn>
                <a:cxn ang="0">
                  <a:pos x="761" y="505"/>
                </a:cxn>
                <a:cxn ang="0">
                  <a:pos x="775" y="449"/>
                </a:cxn>
                <a:cxn ang="0">
                  <a:pos x="779" y="390"/>
                </a:cxn>
                <a:cxn ang="0">
                  <a:pos x="775" y="331"/>
                </a:cxn>
                <a:cxn ang="0">
                  <a:pos x="761" y="275"/>
                </a:cxn>
                <a:cxn ang="0">
                  <a:pos x="740" y="221"/>
                </a:cxn>
                <a:cxn ang="0">
                  <a:pos x="712" y="172"/>
                </a:cxn>
                <a:cxn ang="0">
                  <a:pos x="677" y="128"/>
                </a:cxn>
                <a:cxn ang="0">
                  <a:pos x="637" y="90"/>
                </a:cxn>
                <a:cxn ang="0">
                  <a:pos x="591" y="57"/>
                </a:cxn>
                <a:cxn ang="0">
                  <a:pos x="541" y="31"/>
                </a:cxn>
                <a:cxn ang="0">
                  <a:pos x="486" y="12"/>
                </a:cxn>
                <a:cxn ang="0">
                  <a:pos x="429" y="2"/>
                </a:cxn>
                <a:cxn ang="0">
                  <a:pos x="369" y="1"/>
                </a:cxn>
                <a:cxn ang="0">
                  <a:pos x="311" y="8"/>
                </a:cxn>
                <a:cxn ang="0">
                  <a:pos x="256" y="24"/>
                </a:cxn>
                <a:cxn ang="0">
                  <a:pos x="203" y="48"/>
                </a:cxn>
                <a:cxn ang="0">
                  <a:pos x="157" y="78"/>
                </a:cxn>
                <a:cxn ang="0">
                  <a:pos x="114" y="115"/>
                </a:cxn>
                <a:cxn ang="0">
                  <a:pos x="77" y="158"/>
                </a:cxn>
                <a:cxn ang="0">
                  <a:pos x="47" y="205"/>
                </a:cxn>
                <a:cxn ang="0">
                  <a:pos x="23" y="257"/>
                </a:cxn>
                <a:cxn ang="0">
                  <a:pos x="7" y="312"/>
                </a:cxn>
                <a:cxn ang="0">
                  <a:pos x="0" y="370"/>
                </a:cxn>
                <a:cxn ang="0">
                  <a:pos x="2" y="430"/>
                </a:cxn>
                <a:cxn ang="0">
                  <a:pos x="11" y="488"/>
                </a:cxn>
                <a:cxn ang="0">
                  <a:pos x="30" y="542"/>
                </a:cxn>
                <a:cxn ang="0">
                  <a:pos x="56" y="592"/>
                </a:cxn>
                <a:cxn ang="0">
                  <a:pos x="89" y="638"/>
                </a:cxn>
                <a:cxn ang="0">
                  <a:pos x="127" y="679"/>
                </a:cxn>
                <a:cxn ang="0">
                  <a:pos x="171" y="713"/>
                </a:cxn>
                <a:cxn ang="0">
                  <a:pos x="220" y="741"/>
                </a:cxn>
                <a:cxn ang="0">
                  <a:pos x="273" y="762"/>
                </a:cxn>
                <a:cxn ang="0">
                  <a:pos x="330" y="776"/>
                </a:cxn>
                <a:cxn ang="0">
                  <a:pos x="389" y="780"/>
                </a:cxn>
              </a:cxnLst>
              <a:rect l="0" t="0" r="r" b="b"/>
              <a:pathLst>
                <a:path w="779" h="780">
                  <a:moveTo>
                    <a:pt x="389" y="780"/>
                  </a:moveTo>
                  <a:lnTo>
                    <a:pt x="409" y="779"/>
                  </a:lnTo>
                  <a:lnTo>
                    <a:pt x="429" y="778"/>
                  </a:lnTo>
                  <a:lnTo>
                    <a:pt x="449" y="776"/>
                  </a:lnTo>
                  <a:lnTo>
                    <a:pt x="468" y="772"/>
                  </a:lnTo>
                  <a:lnTo>
                    <a:pt x="486" y="767"/>
                  </a:lnTo>
                  <a:lnTo>
                    <a:pt x="505" y="762"/>
                  </a:lnTo>
                  <a:lnTo>
                    <a:pt x="523" y="756"/>
                  </a:lnTo>
                  <a:lnTo>
                    <a:pt x="541" y="750"/>
                  </a:lnTo>
                  <a:lnTo>
                    <a:pt x="558" y="741"/>
                  </a:lnTo>
                  <a:lnTo>
                    <a:pt x="575" y="733"/>
                  </a:lnTo>
                  <a:lnTo>
                    <a:pt x="591" y="724"/>
                  </a:lnTo>
                  <a:lnTo>
                    <a:pt x="606" y="713"/>
                  </a:lnTo>
                  <a:lnTo>
                    <a:pt x="622" y="703"/>
                  </a:lnTo>
                  <a:lnTo>
                    <a:pt x="637" y="691"/>
                  </a:lnTo>
                  <a:lnTo>
                    <a:pt x="651" y="679"/>
                  </a:lnTo>
                  <a:lnTo>
                    <a:pt x="665" y="665"/>
                  </a:lnTo>
                  <a:lnTo>
                    <a:pt x="677" y="651"/>
                  </a:lnTo>
                  <a:lnTo>
                    <a:pt x="690" y="638"/>
                  </a:lnTo>
                  <a:lnTo>
                    <a:pt x="701" y="623"/>
                  </a:lnTo>
                  <a:lnTo>
                    <a:pt x="712" y="608"/>
                  </a:lnTo>
                  <a:lnTo>
                    <a:pt x="722" y="592"/>
                  </a:lnTo>
                  <a:lnTo>
                    <a:pt x="732" y="575"/>
                  </a:lnTo>
                  <a:lnTo>
                    <a:pt x="740" y="559"/>
                  </a:lnTo>
                  <a:lnTo>
                    <a:pt x="748" y="542"/>
                  </a:lnTo>
                  <a:lnTo>
                    <a:pt x="756" y="524"/>
                  </a:lnTo>
                  <a:lnTo>
                    <a:pt x="761" y="505"/>
                  </a:lnTo>
                  <a:lnTo>
                    <a:pt x="766" y="488"/>
                  </a:lnTo>
                  <a:lnTo>
                    <a:pt x="771" y="469"/>
                  </a:lnTo>
                  <a:lnTo>
                    <a:pt x="775" y="449"/>
                  </a:lnTo>
                  <a:lnTo>
                    <a:pt x="777" y="430"/>
                  </a:lnTo>
                  <a:lnTo>
                    <a:pt x="779" y="410"/>
                  </a:lnTo>
                  <a:lnTo>
                    <a:pt x="779" y="390"/>
                  </a:lnTo>
                  <a:lnTo>
                    <a:pt x="779" y="370"/>
                  </a:lnTo>
                  <a:lnTo>
                    <a:pt x="777" y="351"/>
                  </a:lnTo>
                  <a:lnTo>
                    <a:pt x="775" y="331"/>
                  </a:lnTo>
                  <a:lnTo>
                    <a:pt x="771" y="312"/>
                  </a:lnTo>
                  <a:lnTo>
                    <a:pt x="766" y="293"/>
                  </a:lnTo>
                  <a:lnTo>
                    <a:pt x="761" y="275"/>
                  </a:lnTo>
                  <a:lnTo>
                    <a:pt x="756" y="257"/>
                  </a:lnTo>
                  <a:lnTo>
                    <a:pt x="748" y="239"/>
                  </a:lnTo>
                  <a:lnTo>
                    <a:pt x="740" y="221"/>
                  </a:lnTo>
                  <a:lnTo>
                    <a:pt x="732" y="205"/>
                  </a:lnTo>
                  <a:lnTo>
                    <a:pt x="722" y="188"/>
                  </a:lnTo>
                  <a:lnTo>
                    <a:pt x="712" y="172"/>
                  </a:lnTo>
                  <a:lnTo>
                    <a:pt x="701" y="158"/>
                  </a:lnTo>
                  <a:lnTo>
                    <a:pt x="690" y="142"/>
                  </a:lnTo>
                  <a:lnTo>
                    <a:pt x="677" y="128"/>
                  </a:lnTo>
                  <a:lnTo>
                    <a:pt x="665" y="115"/>
                  </a:lnTo>
                  <a:lnTo>
                    <a:pt x="651" y="102"/>
                  </a:lnTo>
                  <a:lnTo>
                    <a:pt x="637" y="90"/>
                  </a:lnTo>
                  <a:lnTo>
                    <a:pt x="622" y="78"/>
                  </a:lnTo>
                  <a:lnTo>
                    <a:pt x="606" y="67"/>
                  </a:lnTo>
                  <a:lnTo>
                    <a:pt x="591" y="57"/>
                  </a:lnTo>
                  <a:lnTo>
                    <a:pt x="575" y="48"/>
                  </a:lnTo>
                  <a:lnTo>
                    <a:pt x="558" y="39"/>
                  </a:lnTo>
                  <a:lnTo>
                    <a:pt x="541" y="31"/>
                  </a:lnTo>
                  <a:lnTo>
                    <a:pt x="523" y="24"/>
                  </a:lnTo>
                  <a:lnTo>
                    <a:pt x="505" y="18"/>
                  </a:lnTo>
                  <a:lnTo>
                    <a:pt x="486" y="12"/>
                  </a:lnTo>
                  <a:lnTo>
                    <a:pt x="468" y="8"/>
                  </a:lnTo>
                  <a:lnTo>
                    <a:pt x="449" y="5"/>
                  </a:lnTo>
                  <a:lnTo>
                    <a:pt x="429" y="2"/>
                  </a:lnTo>
                  <a:lnTo>
                    <a:pt x="409" y="1"/>
                  </a:lnTo>
                  <a:lnTo>
                    <a:pt x="389" y="0"/>
                  </a:lnTo>
                  <a:lnTo>
                    <a:pt x="369" y="1"/>
                  </a:lnTo>
                  <a:lnTo>
                    <a:pt x="350" y="2"/>
                  </a:lnTo>
                  <a:lnTo>
                    <a:pt x="330" y="5"/>
                  </a:lnTo>
                  <a:lnTo>
                    <a:pt x="311" y="8"/>
                  </a:lnTo>
                  <a:lnTo>
                    <a:pt x="292" y="12"/>
                  </a:lnTo>
                  <a:lnTo>
                    <a:pt x="273" y="18"/>
                  </a:lnTo>
                  <a:lnTo>
                    <a:pt x="256" y="24"/>
                  </a:lnTo>
                  <a:lnTo>
                    <a:pt x="238" y="31"/>
                  </a:lnTo>
                  <a:lnTo>
                    <a:pt x="220" y="39"/>
                  </a:lnTo>
                  <a:lnTo>
                    <a:pt x="203" y="48"/>
                  </a:lnTo>
                  <a:lnTo>
                    <a:pt x="188" y="57"/>
                  </a:lnTo>
                  <a:lnTo>
                    <a:pt x="171" y="67"/>
                  </a:lnTo>
                  <a:lnTo>
                    <a:pt x="157" y="78"/>
                  </a:lnTo>
                  <a:lnTo>
                    <a:pt x="142" y="90"/>
                  </a:lnTo>
                  <a:lnTo>
                    <a:pt x="127" y="102"/>
                  </a:lnTo>
                  <a:lnTo>
                    <a:pt x="114" y="115"/>
                  </a:lnTo>
                  <a:lnTo>
                    <a:pt x="101" y="128"/>
                  </a:lnTo>
                  <a:lnTo>
                    <a:pt x="89" y="142"/>
                  </a:lnTo>
                  <a:lnTo>
                    <a:pt x="77" y="158"/>
                  </a:lnTo>
                  <a:lnTo>
                    <a:pt x="67" y="172"/>
                  </a:lnTo>
                  <a:lnTo>
                    <a:pt x="56" y="188"/>
                  </a:lnTo>
                  <a:lnTo>
                    <a:pt x="47" y="205"/>
                  </a:lnTo>
                  <a:lnTo>
                    <a:pt x="39" y="221"/>
                  </a:lnTo>
                  <a:lnTo>
                    <a:pt x="30" y="239"/>
                  </a:lnTo>
                  <a:lnTo>
                    <a:pt x="23" y="257"/>
                  </a:lnTo>
                  <a:lnTo>
                    <a:pt x="17" y="275"/>
                  </a:lnTo>
                  <a:lnTo>
                    <a:pt x="11" y="293"/>
                  </a:lnTo>
                  <a:lnTo>
                    <a:pt x="7" y="312"/>
                  </a:lnTo>
                  <a:lnTo>
                    <a:pt x="4" y="331"/>
                  </a:lnTo>
                  <a:lnTo>
                    <a:pt x="2" y="351"/>
                  </a:lnTo>
                  <a:lnTo>
                    <a:pt x="0" y="370"/>
                  </a:lnTo>
                  <a:lnTo>
                    <a:pt x="0" y="390"/>
                  </a:lnTo>
                  <a:lnTo>
                    <a:pt x="0" y="410"/>
                  </a:lnTo>
                  <a:lnTo>
                    <a:pt x="2" y="430"/>
                  </a:lnTo>
                  <a:lnTo>
                    <a:pt x="4" y="449"/>
                  </a:lnTo>
                  <a:lnTo>
                    <a:pt x="7" y="469"/>
                  </a:lnTo>
                  <a:lnTo>
                    <a:pt x="11" y="488"/>
                  </a:lnTo>
                  <a:lnTo>
                    <a:pt x="17" y="505"/>
                  </a:lnTo>
                  <a:lnTo>
                    <a:pt x="23" y="524"/>
                  </a:lnTo>
                  <a:lnTo>
                    <a:pt x="30" y="542"/>
                  </a:lnTo>
                  <a:lnTo>
                    <a:pt x="39" y="559"/>
                  </a:lnTo>
                  <a:lnTo>
                    <a:pt x="47" y="575"/>
                  </a:lnTo>
                  <a:lnTo>
                    <a:pt x="56" y="592"/>
                  </a:lnTo>
                  <a:lnTo>
                    <a:pt x="67" y="608"/>
                  </a:lnTo>
                  <a:lnTo>
                    <a:pt x="77" y="623"/>
                  </a:lnTo>
                  <a:lnTo>
                    <a:pt x="89" y="638"/>
                  </a:lnTo>
                  <a:lnTo>
                    <a:pt x="101" y="651"/>
                  </a:lnTo>
                  <a:lnTo>
                    <a:pt x="114" y="665"/>
                  </a:lnTo>
                  <a:lnTo>
                    <a:pt x="127" y="679"/>
                  </a:lnTo>
                  <a:lnTo>
                    <a:pt x="142" y="691"/>
                  </a:lnTo>
                  <a:lnTo>
                    <a:pt x="157" y="703"/>
                  </a:lnTo>
                  <a:lnTo>
                    <a:pt x="171" y="713"/>
                  </a:lnTo>
                  <a:lnTo>
                    <a:pt x="188" y="724"/>
                  </a:lnTo>
                  <a:lnTo>
                    <a:pt x="203" y="733"/>
                  </a:lnTo>
                  <a:lnTo>
                    <a:pt x="220" y="741"/>
                  </a:lnTo>
                  <a:lnTo>
                    <a:pt x="238" y="750"/>
                  </a:lnTo>
                  <a:lnTo>
                    <a:pt x="256" y="756"/>
                  </a:lnTo>
                  <a:lnTo>
                    <a:pt x="273" y="762"/>
                  </a:lnTo>
                  <a:lnTo>
                    <a:pt x="292" y="767"/>
                  </a:lnTo>
                  <a:lnTo>
                    <a:pt x="311" y="772"/>
                  </a:lnTo>
                  <a:lnTo>
                    <a:pt x="330" y="776"/>
                  </a:lnTo>
                  <a:lnTo>
                    <a:pt x="350" y="778"/>
                  </a:lnTo>
                  <a:lnTo>
                    <a:pt x="369" y="779"/>
                  </a:lnTo>
                  <a:lnTo>
                    <a:pt x="389" y="780"/>
                  </a:lnTo>
                  <a:close/>
                </a:path>
              </a:pathLst>
            </a:custGeom>
            <a:noFill/>
            <a:ln w="14288">
              <a:solidFill>
                <a:srgbClr val="1F1A17"/>
              </a:solidFill>
              <a:prstDash val="solid"/>
              <a:round/>
              <a:headEnd/>
              <a:tailEnd/>
            </a:ln>
          </p:spPr>
          <p:txBody>
            <a:bodyPr/>
            <a:lstStyle/>
            <a:p>
              <a:endParaRPr lang="en-GB"/>
            </a:p>
          </p:txBody>
        </p:sp>
        <p:sp>
          <p:nvSpPr>
            <p:cNvPr id="173124" name="Freeform 68"/>
            <p:cNvSpPr>
              <a:spLocks/>
            </p:cNvSpPr>
            <p:nvPr/>
          </p:nvSpPr>
          <p:spPr bwMode="auto">
            <a:xfrm>
              <a:off x="960" y="1294"/>
              <a:ext cx="381" cy="299"/>
            </a:xfrm>
            <a:custGeom>
              <a:avLst/>
              <a:gdLst/>
              <a:ahLst/>
              <a:cxnLst>
                <a:cxn ang="0">
                  <a:pos x="386" y="0"/>
                </a:cxn>
                <a:cxn ang="0">
                  <a:pos x="1525" y="0"/>
                </a:cxn>
                <a:cxn ang="0">
                  <a:pos x="1141" y="1197"/>
                </a:cxn>
                <a:cxn ang="0">
                  <a:pos x="0" y="1197"/>
                </a:cxn>
                <a:cxn ang="0">
                  <a:pos x="386" y="0"/>
                </a:cxn>
              </a:cxnLst>
              <a:rect l="0" t="0" r="r" b="b"/>
              <a:pathLst>
                <a:path w="1525" h="1197">
                  <a:moveTo>
                    <a:pt x="386" y="0"/>
                  </a:moveTo>
                  <a:lnTo>
                    <a:pt x="1525" y="0"/>
                  </a:lnTo>
                  <a:lnTo>
                    <a:pt x="1141" y="1197"/>
                  </a:lnTo>
                  <a:lnTo>
                    <a:pt x="0" y="1197"/>
                  </a:lnTo>
                  <a:lnTo>
                    <a:pt x="386" y="0"/>
                  </a:lnTo>
                  <a:close/>
                </a:path>
              </a:pathLst>
            </a:custGeom>
            <a:solidFill>
              <a:srgbClr val="F5C592"/>
            </a:solidFill>
            <a:ln w="9525">
              <a:noFill/>
              <a:round/>
              <a:headEnd/>
              <a:tailEnd/>
            </a:ln>
          </p:spPr>
          <p:txBody>
            <a:bodyPr/>
            <a:lstStyle/>
            <a:p>
              <a:endParaRPr lang="en-GB"/>
            </a:p>
          </p:txBody>
        </p:sp>
        <p:sp>
          <p:nvSpPr>
            <p:cNvPr id="173125" name="Freeform 69"/>
            <p:cNvSpPr>
              <a:spLocks/>
            </p:cNvSpPr>
            <p:nvPr/>
          </p:nvSpPr>
          <p:spPr bwMode="auto">
            <a:xfrm>
              <a:off x="960" y="1294"/>
              <a:ext cx="381" cy="299"/>
            </a:xfrm>
            <a:custGeom>
              <a:avLst/>
              <a:gdLst/>
              <a:ahLst/>
              <a:cxnLst>
                <a:cxn ang="0">
                  <a:pos x="386" y="0"/>
                </a:cxn>
                <a:cxn ang="0">
                  <a:pos x="1525" y="0"/>
                </a:cxn>
                <a:cxn ang="0">
                  <a:pos x="1141" y="1197"/>
                </a:cxn>
                <a:cxn ang="0">
                  <a:pos x="0" y="1197"/>
                </a:cxn>
                <a:cxn ang="0">
                  <a:pos x="386" y="0"/>
                </a:cxn>
              </a:cxnLst>
              <a:rect l="0" t="0" r="r" b="b"/>
              <a:pathLst>
                <a:path w="1525" h="1197">
                  <a:moveTo>
                    <a:pt x="386" y="0"/>
                  </a:moveTo>
                  <a:lnTo>
                    <a:pt x="1525" y="0"/>
                  </a:lnTo>
                  <a:lnTo>
                    <a:pt x="1141" y="1197"/>
                  </a:lnTo>
                  <a:lnTo>
                    <a:pt x="0" y="1197"/>
                  </a:lnTo>
                  <a:lnTo>
                    <a:pt x="386" y="0"/>
                  </a:lnTo>
                  <a:close/>
                </a:path>
              </a:pathLst>
            </a:custGeom>
            <a:noFill/>
            <a:ln w="14288">
              <a:solidFill>
                <a:srgbClr val="1F1A17"/>
              </a:solidFill>
              <a:prstDash val="solid"/>
              <a:round/>
              <a:headEnd/>
              <a:tailEnd/>
            </a:ln>
          </p:spPr>
          <p:txBody>
            <a:bodyPr/>
            <a:lstStyle/>
            <a:p>
              <a:endParaRPr lang="en-GB"/>
            </a:p>
          </p:txBody>
        </p:sp>
        <p:sp>
          <p:nvSpPr>
            <p:cNvPr id="173126" name="Text Box 70"/>
            <p:cNvSpPr txBox="1">
              <a:spLocks noChangeArrowheads="1"/>
            </p:cNvSpPr>
            <p:nvPr/>
          </p:nvSpPr>
          <p:spPr bwMode="auto">
            <a:xfrm>
              <a:off x="912" y="1680"/>
              <a:ext cx="550" cy="202"/>
            </a:xfrm>
            <a:prstGeom prst="rect">
              <a:avLst/>
            </a:prstGeom>
            <a:noFill/>
            <a:ln w="9525">
              <a:noFill/>
              <a:miter lim="800000"/>
              <a:headEnd/>
              <a:tailEnd/>
            </a:ln>
            <a:effectLst/>
          </p:spPr>
          <p:txBody>
            <a:bodyPr wrap="none">
              <a:spAutoFit/>
            </a:bodyPr>
            <a:lstStyle/>
            <a:p>
              <a:pPr algn="ctr" eaLnBrk="0" hangingPunct="0"/>
              <a:r>
                <a:rPr lang="fr-CA" sz="1500" b="1"/>
                <a:t>Analyst</a:t>
              </a:r>
              <a:endParaRPr lang="en-CA" sz="1500" b="1"/>
            </a:p>
          </p:txBody>
        </p:sp>
      </p:grpSp>
      <p:sp>
        <p:nvSpPr>
          <p:cNvPr id="173127" name="Text Box 71"/>
          <p:cNvSpPr txBox="1">
            <a:spLocks noChangeArrowheads="1"/>
          </p:cNvSpPr>
          <p:nvPr/>
        </p:nvSpPr>
        <p:spPr bwMode="auto">
          <a:xfrm>
            <a:off x="1219200" y="1447800"/>
            <a:ext cx="3243263" cy="366713"/>
          </a:xfrm>
          <a:prstGeom prst="rect">
            <a:avLst/>
          </a:prstGeom>
          <a:noFill/>
          <a:ln w="9525">
            <a:noFill/>
            <a:miter lim="800000"/>
            <a:headEnd/>
            <a:tailEnd/>
          </a:ln>
          <a:effectLst/>
        </p:spPr>
        <p:txBody>
          <a:bodyPr>
            <a:spAutoFit/>
          </a:bodyPr>
          <a:lstStyle/>
          <a:p>
            <a:pPr algn="ctr" eaLnBrk="0" hangingPunct="0"/>
            <a:r>
              <a:rPr lang="fr-CA" b="1">
                <a:solidFill>
                  <a:srgbClr val="993366"/>
                </a:solidFill>
              </a:rPr>
              <a:t>Understand the problem</a:t>
            </a:r>
            <a:endParaRPr lang="en-CA" b="1">
              <a:solidFill>
                <a:srgbClr val="993366"/>
              </a:solidFill>
            </a:endParaRPr>
          </a:p>
        </p:txBody>
      </p:sp>
      <p:sp>
        <p:nvSpPr>
          <p:cNvPr id="173128" name="Text Box 72"/>
          <p:cNvSpPr txBox="1">
            <a:spLocks noChangeArrowheads="1"/>
          </p:cNvSpPr>
          <p:nvPr/>
        </p:nvSpPr>
        <p:spPr bwMode="auto">
          <a:xfrm>
            <a:off x="4876800" y="1447800"/>
            <a:ext cx="3276600" cy="366713"/>
          </a:xfrm>
          <a:prstGeom prst="rect">
            <a:avLst/>
          </a:prstGeom>
          <a:noFill/>
          <a:ln w="9525">
            <a:noFill/>
            <a:miter lim="800000"/>
            <a:headEnd/>
            <a:tailEnd/>
          </a:ln>
          <a:effectLst/>
        </p:spPr>
        <p:txBody>
          <a:bodyPr>
            <a:spAutoFit/>
          </a:bodyPr>
          <a:lstStyle/>
          <a:p>
            <a:pPr algn="ctr" eaLnBrk="0" hangingPunct="0"/>
            <a:r>
              <a:rPr lang="fr-CA" b="1">
                <a:solidFill>
                  <a:srgbClr val="993366"/>
                </a:solidFill>
              </a:rPr>
              <a:t>Define the system</a:t>
            </a:r>
            <a:endParaRPr lang="en-CA" b="1">
              <a:solidFill>
                <a:srgbClr val="993366"/>
              </a:solidFill>
            </a:endParaRPr>
          </a:p>
        </p:txBody>
      </p:sp>
      <p:sp>
        <p:nvSpPr>
          <p:cNvPr id="173129" name="Text Box 73"/>
          <p:cNvSpPr txBox="1">
            <a:spLocks noChangeArrowheads="1"/>
          </p:cNvSpPr>
          <p:nvPr/>
        </p:nvSpPr>
        <p:spPr bwMode="auto">
          <a:xfrm>
            <a:off x="2971800" y="4648200"/>
            <a:ext cx="3276600" cy="366713"/>
          </a:xfrm>
          <a:prstGeom prst="rect">
            <a:avLst/>
          </a:prstGeom>
          <a:noFill/>
          <a:ln w="9525">
            <a:noFill/>
            <a:miter lim="800000"/>
            <a:headEnd/>
            <a:tailEnd/>
          </a:ln>
          <a:effectLst/>
        </p:spPr>
        <p:txBody>
          <a:bodyPr>
            <a:spAutoFit/>
          </a:bodyPr>
          <a:lstStyle/>
          <a:p>
            <a:pPr algn="ctr" eaLnBrk="0" hangingPunct="0"/>
            <a:r>
              <a:rPr lang="fr-CA" b="1">
                <a:solidFill>
                  <a:srgbClr val="993366"/>
                </a:solidFill>
              </a:rPr>
              <a:t>Review</a:t>
            </a:r>
            <a:endParaRPr lang="en-CA" b="1">
              <a:solidFill>
                <a:srgbClr val="993366"/>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fr-CA"/>
              <a:t>Artifacts</a:t>
            </a:r>
            <a:endParaRPr lang="en-CA"/>
          </a:p>
        </p:txBody>
      </p:sp>
      <p:sp>
        <p:nvSpPr>
          <p:cNvPr id="174083" name="Freeform 3"/>
          <p:cNvSpPr>
            <a:spLocks/>
          </p:cNvSpPr>
          <p:nvPr/>
        </p:nvSpPr>
        <p:spPr bwMode="auto">
          <a:xfrm>
            <a:off x="2895600" y="1600200"/>
            <a:ext cx="4968875" cy="4608513"/>
          </a:xfrm>
          <a:custGeom>
            <a:avLst/>
            <a:gdLst/>
            <a:ahLst/>
            <a:cxnLst>
              <a:cxn ang="0">
                <a:pos x="14581" y="1"/>
              </a:cxn>
              <a:cxn ang="0">
                <a:pos x="14622" y="20"/>
              </a:cxn>
              <a:cxn ang="0">
                <a:pos x="14660" y="60"/>
              </a:cxn>
              <a:cxn ang="0">
                <a:pos x="14695" y="120"/>
              </a:cxn>
              <a:cxn ang="0">
                <a:pos x="14729" y="196"/>
              </a:cxn>
              <a:cxn ang="0">
                <a:pos x="14758" y="290"/>
              </a:cxn>
              <a:cxn ang="0">
                <a:pos x="14783" y="398"/>
              </a:cxn>
              <a:cxn ang="0">
                <a:pos x="14804" y="518"/>
              </a:cxn>
              <a:cxn ang="0">
                <a:pos x="14820" y="649"/>
              </a:cxn>
              <a:cxn ang="0">
                <a:pos x="14831" y="790"/>
              </a:cxn>
              <a:cxn ang="0">
                <a:pos x="14836" y="938"/>
              </a:cxn>
              <a:cxn ang="0">
                <a:pos x="14836" y="16808"/>
              </a:cxn>
              <a:cxn ang="0">
                <a:pos x="14831" y="16956"/>
              </a:cxn>
              <a:cxn ang="0">
                <a:pos x="14820" y="17097"/>
              </a:cxn>
              <a:cxn ang="0">
                <a:pos x="14804" y="17228"/>
              </a:cxn>
              <a:cxn ang="0">
                <a:pos x="14783" y="17349"/>
              </a:cxn>
              <a:cxn ang="0">
                <a:pos x="14758" y="17457"/>
              </a:cxn>
              <a:cxn ang="0">
                <a:pos x="14729" y="17550"/>
              </a:cxn>
              <a:cxn ang="0">
                <a:pos x="14695" y="17626"/>
              </a:cxn>
              <a:cxn ang="0">
                <a:pos x="14660" y="17686"/>
              </a:cxn>
              <a:cxn ang="0">
                <a:pos x="14622" y="17726"/>
              </a:cxn>
              <a:cxn ang="0">
                <a:pos x="14581" y="17745"/>
              </a:cxn>
              <a:cxn ang="0">
                <a:pos x="255" y="17745"/>
              </a:cxn>
              <a:cxn ang="0">
                <a:pos x="214" y="17726"/>
              </a:cxn>
              <a:cxn ang="0">
                <a:pos x="176" y="17686"/>
              </a:cxn>
              <a:cxn ang="0">
                <a:pos x="141" y="17626"/>
              </a:cxn>
              <a:cxn ang="0">
                <a:pos x="107" y="17550"/>
              </a:cxn>
              <a:cxn ang="0">
                <a:pos x="78" y="17457"/>
              </a:cxn>
              <a:cxn ang="0">
                <a:pos x="53" y="17349"/>
              </a:cxn>
              <a:cxn ang="0">
                <a:pos x="32" y="17228"/>
              </a:cxn>
              <a:cxn ang="0">
                <a:pos x="16" y="17097"/>
              </a:cxn>
              <a:cxn ang="0">
                <a:pos x="5" y="16956"/>
              </a:cxn>
              <a:cxn ang="0">
                <a:pos x="0" y="16808"/>
              </a:cxn>
              <a:cxn ang="0">
                <a:pos x="0" y="938"/>
              </a:cxn>
              <a:cxn ang="0">
                <a:pos x="5" y="790"/>
              </a:cxn>
              <a:cxn ang="0">
                <a:pos x="16" y="649"/>
              </a:cxn>
              <a:cxn ang="0">
                <a:pos x="32" y="518"/>
              </a:cxn>
              <a:cxn ang="0">
                <a:pos x="53" y="398"/>
              </a:cxn>
              <a:cxn ang="0">
                <a:pos x="78" y="290"/>
              </a:cxn>
              <a:cxn ang="0">
                <a:pos x="107" y="196"/>
              </a:cxn>
              <a:cxn ang="0">
                <a:pos x="141" y="120"/>
              </a:cxn>
              <a:cxn ang="0">
                <a:pos x="176" y="60"/>
              </a:cxn>
              <a:cxn ang="0">
                <a:pos x="214" y="20"/>
              </a:cxn>
              <a:cxn ang="0">
                <a:pos x="255" y="1"/>
              </a:cxn>
            </a:cxnLst>
            <a:rect l="0" t="0" r="r" b="b"/>
            <a:pathLst>
              <a:path w="14836" h="17746">
                <a:moveTo>
                  <a:pt x="268" y="0"/>
                </a:moveTo>
                <a:lnTo>
                  <a:pt x="14568" y="0"/>
                </a:lnTo>
                <a:lnTo>
                  <a:pt x="14581" y="1"/>
                </a:lnTo>
                <a:lnTo>
                  <a:pt x="14595" y="4"/>
                </a:lnTo>
                <a:lnTo>
                  <a:pt x="14609" y="11"/>
                </a:lnTo>
                <a:lnTo>
                  <a:pt x="14622" y="20"/>
                </a:lnTo>
                <a:lnTo>
                  <a:pt x="14634" y="31"/>
                </a:lnTo>
                <a:lnTo>
                  <a:pt x="14648" y="44"/>
                </a:lnTo>
                <a:lnTo>
                  <a:pt x="14660" y="60"/>
                </a:lnTo>
                <a:lnTo>
                  <a:pt x="14672" y="77"/>
                </a:lnTo>
                <a:lnTo>
                  <a:pt x="14684" y="97"/>
                </a:lnTo>
                <a:lnTo>
                  <a:pt x="14695" y="120"/>
                </a:lnTo>
                <a:lnTo>
                  <a:pt x="14706" y="143"/>
                </a:lnTo>
                <a:lnTo>
                  <a:pt x="14718" y="169"/>
                </a:lnTo>
                <a:lnTo>
                  <a:pt x="14729" y="196"/>
                </a:lnTo>
                <a:lnTo>
                  <a:pt x="14739" y="226"/>
                </a:lnTo>
                <a:lnTo>
                  <a:pt x="14749" y="257"/>
                </a:lnTo>
                <a:lnTo>
                  <a:pt x="14758" y="290"/>
                </a:lnTo>
                <a:lnTo>
                  <a:pt x="14766" y="325"/>
                </a:lnTo>
                <a:lnTo>
                  <a:pt x="14775" y="360"/>
                </a:lnTo>
                <a:lnTo>
                  <a:pt x="14783" y="398"/>
                </a:lnTo>
                <a:lnTo>
                  <a:pt x="14791" y="436"/>
                </a:lnTo>
                <a:lnTo>
                  <a:pt x="14797" y="477"/>
                </a:lnTo>
                <a:lnTo>
                  <a:pt x="14804" y="518"/>
                </a:lnTo>
                <a:lnTo>
                  <a:pt x="14810" y="560"/>
                </a:lnTo>
                <a:lnTo>
                  <a:pt x="14815" y="605"/>
                </a:lnTo>
                <a:lnTo>
                  <a:pt x="14820" y="649"/>
                </a:lnTo>
                <a:lnTo>
                  <a:pt x="14824" y="695"/>
                </a:lnTo>
                <a:lnTo>
                  <a:pt x="14827" y="742"/>
                </a:lnTo>
                <a:lnTo>
                  <a:pt x="14831" y="790"/>
                </a:lnTo>
                <a:lnTo>
                  <a:pt x="14833" y="838"/>
                </a:lnTo>
                <a:lnTo>
                  <a:pt x="14835" y="888"/>
                </a:lnTo>
                <a:lnTo>
                  <a:pt x="14836" y="938"/>
                </a:lnTo>
                <a:lnTo>
                  <a:pt x="14836" y="989"/>
                </a:lnTo>
                <a:lnTo>
                  <a:pt x="14836" y="16757"/>
                </a:lnTo>
                <a:lnTo>
                  <a:pt x="14836" y="16808"/>
                </a:lnTo>
                <a:lnTo>
                  <a:pt x="14835" y="16858"/>
                </a:lnTo>
                <a:lnTo>
                  <a:pt x="14833" y="16908"/>
                </a:lnTo>
                <a:lnTo>
                  <a:pt x="14831" y="16956"/>
                </a:lnTo>
                <a:lnTo>
                  <a:pt x="14827" y="17004"/>
                </a:lnTo>
                <a:lnTo>
                  <a:pt x="14824" y="17051"/>
                </a:lnTo>
                <a:lnTo>
                  <a:pt x="14820" y="17097"/>
                </a:lnTo>
                <a:lnTo>
                  <a:pt x="14815" y="17141"/>
                </a:lnTo>
                <a:lnTo>
                  <a:pt x="14810" y="17186"/>
                </a:lnTo>
                <a:lnTo>
                  <a:pt x="14804" y="17228"/>
                </a:lnTo>
                <a:lnTo>
                  <a:pt x="14797" y="17269"/>
                </a:lnTo>
                <a:lnTo>
                  <a:pt x="14791" y="17310"/>
                </a:lnTo>
                <a:lnTo>
                  <a:pt x="14783" y="17349"/>
                </a:lnTo>
                <a:lnTo>
                  <a:pt x="14775" y="17386"/>
                </a:lnTo>
                <a:lnTo>
                  <a:pt x="14766" y="17422"/>
                </a:lnTo>
                <a:lnTo>
                  <a:pt x="14758" y="17457"/>
                </a:lnTo>
                <a:lnTo>
                  <a:pt x="14749" y="17489"/>
                </a:lnTo>
                <a:lnTo>
                  <a:pt x="14739" y="17520"/>
                </a:lnTo>
                <a:lnTo>
                  <a:pt x="14729" y="17550"/>
                </a:lnTo>
                <a:lnTo>
                  <a:pt x="14718" y="17578"/>
                </a:lnTo>
                <a:lnTo>
                  <a:pt x="14706" y="17603"/>
                </a:lnTo>
                <a:lnTo>
                  <a:pt x="14695" y="17626"/>
                </a:lnTo>
                <a:lnTo>
                  <a:pt x="14684" y="17649"/>
                </a:lnTo>
                <a:lnTo>
                  <a:pt x="14672" y="17669"/>
                </a:lnTo>
                <a:lnTo>
                  <a:pt x="14660" y="17686"/>
                </a:lnTo>
                <a:lnTo>
                  <a:pt x="14648" y="17702"/>
                </a:lnTo>
                <a:lnTo>
                  <a:pt x="14634" y="17715"/>
                </a:lnTo>
                <a:lnTo>
                  <a:pt x="14622" y="17726"/>
                </a:lnTo>
                <a:lnTo>
                  <a:pt x="14609" y="17735"/>
                </a:lnTo>
                <a:lnTo>
                  <a:pt x="14595" y="17742"/>
                </a:lnTo>
                <a:lnTo>
                  <a:pt x="14581" y="17745"/>
                </a:lnTo>
                <a:lnTo>
                  <a:pt x="14568" y="17746"/>
                </a:lnTo>
                <a:lnTo>
                  <a:pt x="268" y="17746"/>
                </a:lnTo>
                <a:lnTo>
                  <a:pt x="255" y="17745"/>
                </a:lnTo>
                <a:lnTo>
                  <a:pt x="241" y="17742"/>
                </a:lnTo>
                <a:lnTo>
                  <a:pt x="227" y="17735"/>
                </a:lnTo>
                <a:lnTo>
                  <a:pt x="214" y="17726"/>
                </a:lnTo>
                <a:lnTo>
                  <a:pt x="202" y="17715"/>
                </a:lnTo>
                <a:lnTo>
                  <a:pt x="188" y="17702"/>
                </a:lnTo>
                <a:lnTo>
                  <a:pt x="176" y="17686"/>
                </a:lnTo>
                <a:lnTo>
                  <a:pt x="164" y="17669"/>
                </a:lnTo>
                <a:lnTo>
                  <a:pt x="152" y="17649"/>
                </a:lnTo>
                <a:lnTo>
                  <a:pt x="141" y="17626"/>
                </a:lnTo>
                <a:lnTo>
                  <a:pt x="130" y="17603"/>
                </a:lnTo>
                <a:lnTo>
                  <a:pt x="118" y="17578"/>
                </a:lnTo>
                <a:lnTo>
                  <a:pt x="107" y="17550"/>
                </a:lnTo>
                <a:lnTo>
                  <a:pt x="97" y="17520"/>
                </a:lnTo>
                <a:lnTo>
                  <a:pt x="87" y="17489"/>
                </a:lnTo>
                <a:lnTo>
                  <a:pt x="78" y="17457"/>
                </a:lnTo>
                <a:lnTo>
                  <a:pt x="70" y="17422"/>
                </a:lnTo>
                <a:lnTo>
                  <a:pt x="61" y="17386"/>
                </a:lnTo>
                <a:lnTo>
                  <a:pt x="53" y="17349"/>
                </a:lnTo>
                <a:lnTo>
                  <a:pt x="45" y="17310"/>
                </a:lnTo>
                <a:lnTo>
                  <a:pt x="39" y="17269"/>
                </a:lnTo>
                <a:lnTo>
                  <a:pt x="32" y="17228"/>
                </a:lnTo>
                <a:lnTo>
                  <a:pt x="26" y="17186"/>
                </a:lnTo>
                <a:lnTo>
                  <a:pt x="21" y="17141"/>
                </a:lnTo>
                <a:lnTo>
                  <a:pt x="16" y="17097"/>
                </a:lnTo>
                <a:lnTo>
                  <a:pt x="12" y="17051"/>
                </a:lnTo>
                <a:lnTo>
                  <a:pt x="7" y="17004"/>
                </a:lnTo>
                <a:lnTo>
                  <a:pt x="5" y="16956"/>
                </a:lnTo>
                <a:lnTo>
                  <a:pt x="3" y="16908"/>
                </a:lnTo>
                <a:lnTo>
                  <a:pt x="1" y="16858"/>
                </a:lnTo>
                <a:lnTo>
                  <a:pt x="0" y="16808"/>
                </a:lnTo>
                <a:lnTo>
                  <a:pt x="0" y="16757"/>
                </a:lnTo>
                <a:lnTo>
                  <a:pt x="0" y="989"/>
                </a:lnTo>
                <a:lnTo>
                  <a:pt x="0" y="938"/>
                </a:lnTo>
                <a:lnTo>
                  <a:pt x="1" y="888"/>
                </a:lnTo>
                <a:lnTo>
                  <a:pt x="3" y="838"/>
                </a:lnTo>
                <a:lnTo>
                  <a:pt x="5" y="790"/>
                </a:lnTo>
                <a:lnTo>
                  <a:pt x="7" y="742"/>
                </a:lnTo>
                <a:lnTo>
                  <a:pt x="12" y="695"/>
                </a:lnTo>
                <a:lnTo>
                  <a:pt x="16" y="649"/>
                </a:lnTo>
                <a:lnTo>
                  <a:pt x="21" y="605"/>
                </a:lnTo>
                <a:lnTo>
                  <a:pt x="26" y="560"/>
                </a:lnTo>
                <a:lnTo>
                  <a:pt x="32" y="518"/>
                </a:lnTo>
                <a:lnTo>
                  <a:pt x="39" y="477"/>
                </a:lnTo>
                <a:lnTo>
                  <a:pt x="45" y="436"/>
                </a:lnTo>
                <a:lnTo>
                  <a:pt x="53" y="398"/>
                </a:lnTo>
                <a:lnTo>
                  <a:pt x="61" y="360"/>
                </a:lnTo>
                <a:lnTo>
                  <a:pt x="70" y="325"/>
                </a:lnTo>
                <a:lnTo>
                  <a:pt x="78" y="290"/>
                </a:lnTo>
                <a:lnTo>
                  <a:pt x="87" y="257"/>
                </a:lnTo>
                <a:lnTo>
                  <a:pt x="97" y="226"/>
                </a:lnTo>
                <a:lnTo>
                  <a:pt x="107" y="196"/>
                </a:lnTo>
                <a:lnTo>
                  <a:pt x="118" y="169"/>
                </a:lnTo>
                <a:lnTo>
                  <a:pt x="130" y="143"/>
                </a:lnTo>
                <a:lnTo>
                  <a:pt x="141" y="120"/>
                </a:lnTo>
                <a:lnTo>
                  <a:pt x="152" y="97"/>
                </a:lnTo>
                <a:lnTo>
                  <a:pt x="164" y="77"/>
                </a:lnTo>
                <a:lnTo>
                  <a:pt x="176" y="60"/>
                </a:lnTo>
                <a:lnTo>
                  <a:pt x="188" y="44"/>
                </a:lnTo>
                <a:lnTo>
                  <a:pt x="202" y="31"/>
                </a:lnTo>
                <a:lnTo>
                  <a:pt x="214" y="20"/>
                </a:lnTo>
                <a:lnTo>
                  <a:pt x="227" y="11"/>
                </a:lnTo>
                <a:lnTo>
                  <a:pt x="241" y="4"/>
                </a:lnTo>
                <a:lnTo>
                  <a:pt x="255" y="1"/>
                </a:lnTo>
                <a:lnTo>
                  <a:pt x="268" y="0"/>
                </a:lnTo>
                <a:close/>
              </a:path>
            </a:pathLst>
          </a:custGeom>
          <a:solidFill>
            <a:schemeClr val="accent1"/>
          </a:solidFill>
          <a:ln w="9525">
            <a:noFill/>
            <a:round/>
            <a:headEnd/>
            <a:tailEnd/>
          </a:ln>
        </p:spPr>
        <p:txBody>
          <a:bodyPr/>
          <a:lstStyle/>
          <a:p>
            <a:endParaRPr lang="en-GB"/>
          </a:p>
        </p:txBody>
      </p:sp>
      <p:sp>
        <p:nvSpPr>
          <p:cNvPr id="174084" name="Rectangle 4"/>
          <p:cNvSpPr>
            <a:spLocks noChangeArrowheads="1"/>
          </p:cNvSpPr>
          <p:nvPr/>
        </p:nvSpPr>
        <p:spPr bwMode="auto">
          <a:xfrm>
            <a:off x="3184525" y="4048125"/>
            <a:ext cx="392112" cy="228600"/>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S</a:t>
            </a:r>
            <a:r>
              <a:rPr lang="fr-CA" sz="1500" b="1">
                <a:solidFill>
                  <a:srgbClr val="1F1A17"/>
                </a:solidFill>
              </a:rPr>
              <a:t>RS</a:t>
            </a:r>
            <a:endParaRPr lang="en-CA" sz="1200" b="1">
              <a:solidFill>
                <a:schemeClr val="bg2"/>
              </a:solidFill>
            </a:endParaRPr>
          </a:p>
        </p:txBody>
      </p:sp>
      <p:sp>
        <p:nvSpPr>
          <p:cNvPr id="174085" name="Rectangle 5"/>
          <p:cNvSpPr>
            <a:spLocks noChangeArrowheads="1"/>
          </p:cNvSpPr>
          <p:nvPr/>
        </p:nvSpPr>
        <p:spPr bwMode="auto">
          <a:xfrm>
            <a:off x="3502025" y="3987800"/>
            <a:ext cx="1587" cy="182563"/>
          </a:xfrm>
          <a:prstGeom prst="rect">
            <a:avLst/>
          </a:prstGeom>
          <a:noFill/>
          <a:ln w="9525">
            <a:noFill/>
            <a:miter lim="800000"/>
            <a:headEnd/>
            <a:tailEnd/>
          </a:ln>
        </p:spPr>
        <p:txBody>
          <a:bodyPr wrap="none" lIns="0" tIns="0" rIns="0" bIns="0">
            <a:spAutoFit/>
          </a:bodyPr>
          <a:lstStyle/>
          <a:p>
            <a:pPr algn="ctr" eaLnBrk="0" hangingPunct="0"/>
            <a:endParaRPr lang="en-CA" sz="1200" b="1">
              <a:solidFill>
                <a:schemeClr val="bg2"/>
              </a:solidFill>
            </a:endParaRPr>
          </a:p>
        </p:txBody>
      </p:sp>
      <p:sp>
        <p:nvSpPr>
          <p:cNvPr id="174086" name="Freeform 6"/>
          <p:cNvSpPr>
            <a:spLocks/>
          </p:cNvSpPr>
          <p:nvPr/>
        </p:nvSpPr>
        <p:spPr bwMode="auto">
          <a:xfrm>
            <a:off x="3209925" y="3398838"/>
            <a:ext cx="433387" cy="568325"/>
          </a:xfrm>
          <a:custGeom>
            <a:avLst/>
            <a:gdLst/>
            <a:ahLst/>
            <a:cxnLst>
              <a:cxn ang="0">
                <a:pos x="0" y="0"/>
              </a:cxn>
              <a:cxn ang="0">
                <a:pos x="0" y="1793"/>
              </a:cxn>
              <a:cxn ang="0">
                <a:pos x="1369" y="1793"/>
              </a:cxn>
              <a:cxn ang="0">
                <a:pos x="1369" y="299"/>
              </a:cxn>
              <a:cxn ang="0">
                <a:pos x="1070" y="0"/>
              </a:cxn>
              <a:cxn ang="0">
                <a:pos x="0" y="0"/>
              </a:cxn>
            </a:cxnLst>
            <a:rect l="0" t="0" r="r" b="b"/>
            <a:pathLst>
              <a:path w="1369" h="1793">
                <a:moveTo>
                  <a:pt x="0" y="0"/>
                </a:moveTo>
                <a:lnTo>
                  <a:pt x="0" y="1793"/>
                </a:lnTo>
                <a:lnTo>
                  <a:pt x="1369" y="1793"/>
                </a:lnTo>
                <a:lnTo>
                  <a:pt x="1369" y="299"/>
                </a:lnTo>
                <a:lnTo>
                  <a:pt x="1070" y="0"/>
                </a:lnTo>
                <a:lnTo>
                  <a:pt x="0" y="0"/>
                </a:lnTo>
                <a:close/>
              </a:path>
            </a:pathLst>
          </a:custGeom>
          <a:solidFill>
            <a:srgbClr val="AAA9A9"/>
          </a:solidFill>
          <a:ln w="9525">
            <a:noFill/>
            <a:round/>
            <a:headEnd/>
            <a:tailEnd/>
          </a:ln>
        </p:spPr>
        <p:txBody>
          <a:bodyPr/>
          <a:lstStyle/>
          <a:p>
            <a:endParaRPr lang="en-GB"/>
          </a:p>
        </p:txBody>
      </p:sp>
      <p:sp>
        <p:nvSpPr>
          <p:cNvPr id="174087" name="Freeform 7"/>
          <p:cNvSpPr>
            <a:spLocks/>
          </p:cNvSpPr>
          <p:nvPr/>
        </p:nvSpPr>
        <p:spPr bwMode="auto">
          <a:xfrm>
            <a:off x="3209925" y="3398838"/>
            <a:ext cx="433387" cy="568325"/>
          </a:xfrm>
          <a:custGeom>
            <a:avLst/>
            <a:gdLst/>
            <a:ahLst/>
            <a:cxnLst>
              <a:cxn ang="0">
                <a:pos x="0" y="0"/>
              </a:cxn>
              <a:cxn ang="0">
                <a:pos x="0" y="1793"/>
              </a:cxn>
              <a:cxn ang="0">
                <a:pos x="1369" y="1793"/>
              </a:cxn>
              <a:cxn ang="0">
                <a:pos x="1369" y="299"/>
              </a:cxn>
              <a:cxn ang="0">
                <a:pos x="1070" y="0"/>
              </a:cxn>
              <a:cxn ang="0">
                <a:pos x="0" y="0"/>
              </a:cxn>
            </a:cxnLst>
            <a:rect l="0" t="0" r="r" b="b"/>
            <a:pathLst>
              <a:path w="1369" h="1793">
                <a:moveTo>
                  <a:pt x="0" y="0"/>
                </a:moveTo>
                <a:lnTo>
                  <a:pt x="0" y="1793"/>
                </a:lnTo>
                <a:lnTo>
                  <a:pt x="1369" y="1793"/>
                </a:lnTo>
                <a:lnTo>
                  <a:pt x="1369" y="299"/>
                </a:lnTo>
                <a:lnTo>
                  <a:pt x="1070" y="0"/>
                </a:lnTo>
                <a:lnTo>
                  <a:pt x="0" y="0"/>
                </a:lnTo>
                <a:close/>
              </a:path>
            </a:pathLst>
          </a:custGeom>
          <a:noFill/>
          <a:ln w="4763">
            <a:solidFill>
              <a:srgbClr val="C3C3C2"/>
            </a:solidFill>
            <a:prstDash val="solid"/>
            <a:round/>
            <a:headEnd/>
            <a:tailEnd/>
          </a:ln>
        </p:spPr>
        <p:txBody>
          <a:bodyPr/>
          <a:lstStyle/>
          <a:p>
            <a:endParaRPr lang="en-GB"/>
          </a:p>
        </p:txBody>
      </p:sp>
      <p:sp>
        <p:nvSpPr>
          <p:cNvPr id="174088" name="Freeform 8"/>
          <p:cNvSpPr>
            <a:spLocks/>
          </p:cNvSpPr>
          <p:nvPr/>
        </p:nvSpPr>
        <p:spPr bwMode="auto">
          <a:xfrm>
            <a:off x="3189287" y="3378200"/>
            <a:ext cx="434975" cy="569913"/>
          </a:xfrm>
          <a:custGeom>
            <a:avLst/>
            <a:gdLst/>
            <a:ahLst/>
            <a:cxnLst>
              <a:cxn ang="0">
                <a:pos x="0" y="0"/>
              </a:cxn>
              <a:cxn ang="0">
                <a:pos x="0" y="1793"/>
              </a:cxn>
              <a:cxn ang="0">
                <a:pos x="1369" y="1793"/>
              </a:cxn>
              <a:cxn ang="0">
                <a:pos x="1369" y="299"/>
              </a:cxn>
              <a:cxn ang="0">
                <a:pos x="1070" y="0"/>
              </a:cxn>
              <a:cxn ang="0">
                <a:pos x="0" y="0"/>
              </a:cxn>
            </a:cxnLst>
            <a:rect l="0" t="0" r="r" b="b"/>
            <a:pathLst>
              <a:path w="1369" h="1793">
                <a:moveTo>
                  <a:pt x="0" y="0"/>
                </a:moveTo>
                <a:lnTo>
                  <a:pt x="0" y="1793"/>
                </a:lnTo>
                <a:lnTo>
                  <a:pt x="1369" y="1793"/>
                </a:lnTo>
                <a:lnTo>
                  <a:pt x="1369" y="299"/>
                </a:lnTo>
                <a:lnTo>
                  <a:pt x="1070" y="0"/>
                </a:lnTo>
                <a:lnTo>
                  <a:pt x="0" y="0"/>
                </a:lnTo>
                <a:close/>
              </a:path>
            </a:pathLst>
          </a:custGeom>
          <a:solidFill>
            <a:srgbClr val="EE9B86"/>
          </a:solidFill>
          <a:ln w="9525">
            <a:noFill/>
            <a:round/>
            <a:headEnd/>
            <a:tailEnd/>
          </a:ln>
        </p:spPr>
        <p:txBody>
          <a:bodyPr/>
          <a:lstStyle/>
          <a:p>
            <a:endParaRPr lang="en-GB"/>
          </a:p>
        </p:txBody>
      </p:sp>
      <p:sp>
        <p:nvSpPr>
          <p:cNvPr id="174089" name="Freeform 9"/>
          <p:cNvSpPr>
            <a:spLocks/>
          </p:cNvSpPr>
          <p:nvPr/>
        </p:nvSpPr>
        <p:spPr bwMode="auto">
          <a:xfrm>
            <a:off x="3189287" y="3378200"/>
            <a:ext cx="434975" cy="569913"/>
          </a:xfrm>
          <a:custGeom>
            <a:avLst/>
            <a:gdLst/>
            <a:ahLst/>
            <a:cxnLst>
              <a:cxn ang="0">
                <a:pos x="0" y="0"/>
              </a:cxn>
              <a:cxn ang="0">
                <a:pos x="0" y="1793"/>
              </a:cxn>
              <a:cxn ang="0">
                <a:pos x="1369" y="1793"/>
              </a:cxn>
              <a:cxn ang="0">
                <a:pos x="1369" y="299"/>
              </a:cxn>
              <a:cxn ang="0">
                <a:pos x="1070" y="0"/>
              </a:cxn>
              <a:cxn ang="0">
                <a:pos x="0" y="0"/>
              </a:cxn>
            </a:cxnLst>
            <a:rect l="0" t="0" r="r" b="b"/>
            <a:pathLst>
              <a:path w="1369" h="1793">
                <a:moveTo>
                  <a:pt x="0" y="0"/>
                </a:moveTo>
                <a:lnTo>
                  <a:pt x="0" y="1793"/>
                </a:lnTo>
                <a:lnTo>
                  <a:pt x="1369" y="1793"/>
                </a:lnTo>
                <a:lnTo>
                  <a:pt x="1369" y="299"/>
                </a:lnTo>
                <a:lnTo>
                  <a:pt x="1070" y="0"/>
                </a:lnTo>
                <a:lnTo>
                  <a:pt x="0" y="0"/>
                </a:lnTo>
                <a:close/>
              </a:path>
            </a:pathLst>
          </a:custGeom>
          <a:noFill/>
          <a:ln w="4763">
            <a:solidFill>
              <a:srgbClr val="1F1A17"/>
            </a:solidFill>
            <a:prstDash val="solid"/>
            <a:round/>
            <a:headEnd/>
            <a:tailEnd/>
          </a:ln>
        </p:spPr>
        <p:txBody>
          <a:bodyPr/>
          <a:lstStyle/>
          <a:p>
            <a:endParaRPr lang="en-GB"/>
          </a:p>
        </p:txBody>
      </p:sp>
      <p:sp>
        <p:nvSpPr>
          <p:cNvPr id="174090" name="Freeform 10"/>
          <p:cNvSpPr>
            <a:spLocks/>
          </p:cNvSpPr>
          <p:nvPr/>
        </p:nvSpPr>
        <p:spPr bwMode="auto">
          <a:xfrm>
            <a:off x="3525837" y="3376613"/>
            <a:ext cx="98425" cy="98425"/>
          </a:xfrm>
          <a:custGeom>
            <a:avLst/>
            <a:gdLst/>
            <a:ahLst/>
            <a:cxnLst>
              <a:cxn ang="0">
                <a:pos x="0" y="0"/>
              </a:cxn>
              <a:cxn ang="0">
                <a:pos x="0" y="307"/>
              </a:cxn>
              <a:cxn ang="0">
                <a:pos x="307" y="304"/>
              </a:cxn>
            </a:cxnLst>
            <a:rect l="0" t="0" r="r" b="b"/>
            <a:pathLst>
              <a:path w="307" h="307">
                <a:moveTo>
                  <a:pt x="0" y="0"/>
                </a:moveTo>
                <a:lnTo>
                  <a:pt x="0" y="307"/>
                </a:lnTo>
                <a:lnTo>
                  <a:pt x="307" y="304"/>
                </a:lnTo>
              </a:path>
            </a:pathLst>
          </a:custGeom>
          <a:noFill/>
          <a:ln w="4763">
            <a:solidFill>
              <a:srgbClr val="1F1A17"/>
            </a:solidFill>
            <a:prstDash val="solid"/>
            <a:round/>
            <a:headEnd/>
            <a:tailEnd/>
          </a:ln>
        </p:spPr>
        <p:txBody>
          <a:bodyPr/>
          <a:lstStyle/>
          <a:p>
            <a:endParaRPr lang="en-GB"/>
          </a:p>
        </p:txBody>
      </p:sp>
      <p:sp>
        <p:nvSpPr>
          <p:cNvPr id="174091" name="Line 11"/>
          <p:cNvSpPr>
            <a:spLocks noChangeShapeType="1"/>
          </p:cNvSpPr>
          <p:nvPr/>
        </p:nvSpPr>
        <p:spPr bwMode="auto">
          <a:xfrm>
            <a:off x="3292475" y="3479800"/>
            <a:ext cx="198437" cy="1588"/>
          </a:xfrm>
          <a:prstGeom prst="line">
            <a:avLst/>
          </a:prstGeom>
          <a:noFill/>
          <a:ln w="7938">
            <a:solidFill>
              <a:srgbClr val="1F1A17"/>
            </a:solidFill>
            <a:round/>
            <a:headEnd/>
            <a:tailEnd/>
          </a:ln>
        </p:spPr>
        <p:txBody>
          <a:bodyPr/>
          <a:lstStyle/>
          <a:p>
            <a:endParaRPr lang="en-GB"/>
          </a:p>
        </p:txBody>
      </p:sp>
      <p:sp>
        <p:nvSpPr>
          <p:cNvPr id="174092" name="Line 12"/>
          <p:cNvSpPr>
            <a:spLocks noChangeShapeType="1"/>
          </p:cNvSpPr>
          <p:nvPr/>
        </p:nvSpPr>
        <p:spPr bwMode="auto">
          <a:xfrm>
            <a:off x="3292475" y="3530600"/>
            <a:ext cx="269875" cy="1588"/>
          </a:xfrm>
          <a:prstGeom prst="line">
            <a:avLst/>
          </a:prstGeom>
          <a:noFill/>
          <a:ln w="7938">
            <a:solidFill>
              <a:srgbClr val="1F1A17"/>
            </a:solidFill>
            <a:round/>
            <a:headEnd/>
            <a:tailEnd/>
          </a:ln>
        </p:spPr>
        <p:txBody>
          <a:bodyPr/>
          <a:lstStyle/>
          <a:p>
            <a:endParaRPr lang="en-GB"/>
          </a:p>
        </p:txBody>
      </p:sp>
      <p:sp>
        <p:nvSpPr>
          <p:cNvPr id="174093" name="Line 13"/>
          <p:cNvSpPr>
            <a:spLocks noChangeShapeType="1"/>
          </p:cNvSpPr>
          <p:nvPr/>
        </p:nvSpPr>
        <p:spPr bwMode="auto">
          <a:xfrm>
            <a:off x="3292475" y="3563938"/>
            <a:ext cx="269875" cy="1587"/>
          </a:xfrm>
          <a:prstGeom prst="line">
            <a:avLst/>
          </a:prstGeom>
          <a:noFill/>
          <a:ln w="7938">
            <a:solidFill>
              <a:srgbClr val="1F1A17"/>
            </a:solidFill>
            <a:round/>
            <a:headEnd/>
            <a:tailEnd/>
          </a:ln>
        </p:spPr>
        <p:txBody>
          <a:bodyPr/>
          <a:lstStyle/>
          <a:p>
            <a:endParaRPr lang="en-GB"/>
          </a:p>
        </p:txBody>
      </p:sp>
      <p:sp>
        <p:nvSpPr>
          <p:cNvPr id="174094" name="Line 14"/>
          <p:cNvSpPr>
            <a:spLocks noChangeShapeType="1"/>
          </p:cNvSpPr>
          <p:nvPr/>
        </p:nvSpPr>
        <p:spPr bwMode="auto">
          <a:xfrm>
            <a:off x="3292475" y="3597275"/>
            <a:ext cx="269875" cy="1588"/>
          </a:xfrm>
          <a:prstGeom prst="line">
            <a:avLst/>
          </a:prstGeom>
          <a:noFill/>
          <a:ln w="7938">
            <a:solidFill>
              <a:srgbClr val="1F1A17"/>
            </a:solidFill>
            <a:round/>
            <a:headEnd/>
            <a:tailEnd/>
          </a:ln>
        </p:spPr>
        <p:txBody>
          <a:bodyPr/>
          <a:lstStyle/>
          <a:p>
            <a:endParaRPr lang="en-GB"/>
          </a:p>
        </p:txBody>
      </p:sp>
      <p:sp>
        <p:nvSpPr>
          <p:cNvPr id="174095" name="Line 15"/>
          <p:cNvSpPr>
            <a:spLocks noChangeShapeType="1"/>
          </p:cNvSpPr>
          <p:nvPr/>
        </p:nvSpPr>
        <p:spPr bwMode="auto">
          <a:xfrm>
            <a:off x="3292475" y="3629025"/>
            <a:ext cx="269875" cy="1588"/>
          </a:xfrm>
          <a:prstGeom prst="line">
            <a:avLst/>
          </a:prstGeom>
          <a:noFill/>
          <a:ln w="7938">
            <a:solidFill>
              <a:srgbClr val="1F1A17"/>
            </a:solidFill>
            <a:round/>
            <a:headEnd/>
            <a:tailEnd/>
          </a:ln>
        </p:spPr>
        <p:txBody>
          <a:bodyPr/>
          <a:lstStyle/>
          <a:p>
            <a:endParaRPr lang="en-GB"/>
          </a:p>
        </p:txBody>
      </p:sp>
      <p:sp>
        <p:nvSpPr>
          <p:cNvPr id="174096" name="Line 16"/>
          <p:cNvSpPr>
            <a:spLocks noChangeShapeType="1"/>
          </p:cNvSpPr>
          <p:nvPr/>
        </p:nvSpPr>
        <p:spPr bwMode="auto">
          <a:xfrm>
            <a:off x="3292475" y="3662363"/>
            <a:ext cx="269875" cy="1587"/>
          </a:xfrm>
          <a:prstGeom prst="line">
            <a:avLst/>
          </a:prstGeom>
          <a:noFill/>
          <a:ln w="7938">
            <a:solidFill>
              <a:srgbClr val="1F1A17"/>
            </a:solidFill>
            <a:round/>
            <a:headEnd/>
            <a:tailEnd/>
          </a:ln>
        </p:spPr>
        <p:txBody>
          <a:bodyPr/>
          <a:lstStyle/>
          <a:p>
            <a:endParaRPr lang="en-GB"/>
          </a:p>
        </p:txBody>
      </p:sp>
      <p:sp>
        <p:nvSpPr>
          <p:cNvPr id="174097" name="Line 17"/>
          <p:cNvSpPr>
            <a:spLocks noChangeShapeType="1"/>
          </p:cNvSpPr>
          <p:nvPr/>
        </p:nvSpPr>
        <p:spPr bwMode="auto">
          <a:xfrm>
            <a:off x="3292475" y="3694113"/>
            <a:ext cx="269875" cy="1587"/>
          </a:xfrm>
          <a:prstGeom prst="line">
            <a:avLst/>
          </a:prstGeom>
          <a:noFill/>
          <a:ln w="7938">
            <a:solidFill>
              <a:srgbClr val="1F1A17"/>
            </a:solidFill>
            <a:round/>
            <a:headEnd/>
            <a:tailEnd/>
          </a:ln>
        </p:spPr>
        <p:txBody>
          <a:bodyPr/>
          <a:lstStyle/>
          <a:p>
            <a:endParaRPr lang="en-GB"/>
          </a:p>
        </p:txBody>
      </p:sp>
      <p:sp>
        <p:nvSpPr>
          <p:cNvPr id="174098" name="Line 18"/>
          <p:cNvSpPr>
            <a:spLocks noChangeShapeType="1"/>
          </p:cNvSpPr>
          <p:nvPr/>
        </p:nvSpPr>
        <p:spPr bwMode="auto">
          <a:xfrm>
            <a:off x="3292475" y="3727450"/>
            <a:ext cx="269875" cy="1588"/>
          </a:xfrm>
          <a:prstGeom prst="line">
            <a:avLst/>
          </a:prstGeom>
          <a:noFill/>
          <a:ln w="7938">
            <a:solidFill>
              <a:srgbClr val="1F1A17"/>
            </a:solidFill>
            <a:round/>
            <a:headEnd/>
            <a:tailEnd/>
          </a:ln>
        </p:spPr>
        <p:txBody>
          <a:bodyPr/>
          <a:lstStyle/>
          <a:p>
            <a:endParaRPr lang="en-GB"/>
          </a:p>
        </p:txBody>
      </p:sp>
      <p:sp>
        <p:nvSpPr>
          <p:cNvPr id="174099" name="Line 19"/>
          <p:cNvSpPr>
            <a:spLocks noChangeShapeType="1"/>
          </p:cNvSpPr>
          <p:nvPr/>
        </p:nvSpPr>
        <p:spPr bwMode="auto">
          <a:xfrm>
            <a:off x="3292475" y="3760788"/>
            <a:ext cx="269875" cy="1587"/>
          </a:xfrm>
          <a:prstGeom prst="line">
            <a:avLst/>
          </a:prstGeom>
          <a:noFill/>
          <a:ln w="7938">
            <a:solidFill>
              <a:srgbClr val="1F1A17"/>
            </a:solidFill>
            <a:round/>
            <a:headEnd/>
            <a:tailEnd/>
          </a:ln>
        </p:spPr>
        <p:txBody>
          <a:bodyPr/>
          <a:lstStyle/>
          <a:p>
            <a:endParaRPr lang="en-GB"/>
          </a:p>
        </p:txBody>
      </p:sp>
      <p:sp>
        <p:nvSpPr>
          <p:cNvPr id="174100" name="Line 20"/>
          <p:cNvSpPr>
            <a:spLocks noChangeShapeType="1"/>
          </p:cNvSpPr>
          <p:nvPr/>
        </p:nvSpPr>
        <p:spPr bwMode="auto">
          <a:xfrm>
            <a:off x="3292475" y="3792538"/>
            <a:ext cx="269875" cy="1587"/>
          </a:xfrm>
          <a:prstGeom prst="line">
            <a:avLst/>
          </a:prstGeom>
          <a:noFill/>
          <a:ln w="7938">
            <a:solidFill>
              <a:srgbClr val="1F1A17"/>
            </a:solidFill>
            <a:round/>
            <a:headEnd/>
            <a:tailEnd/>
          </a:ln>
        </p:spPr>
        <p:txBody>
          <a:bodyPr/>
          <a:lstStyle/>
          <a:p>
            <a:endParaRPr lang="en-GB"/>
          </a:p>
        </p:txBody>
      </p:sp>
      <p:sp>
        <p:nvSpPr>
          <p:cNvPr id="174101" name="Line 21"/>
          <p:cNvSpPr>
            <a:spLocks noChangeShapeType="1"/>
          </p:cNvSpPr>
          <p:nvPr/>
        </p:nvSpPr>
        <p:spPr bwMode="auto">
          <a:xfrm>
            <a:off x="3292475" y="3825875"/>
            <a:ext cx="269875" cy="1588"/>
          </a:xfrm>
          <a:prstGeom prst="line">
            <a:avLst/>
          </a:prstGeom>
          <a:noFill/>
          <a:ln w="7938">
            <a:solidFill>
              <a:srgbClr val="1F1A17"/>
            </a:solidFill>
            <a:round/>
            <a:headEnd/>
            <a:tailEnd/>
          </a:ln>
        </p:spPr>
        <p:txBody>
          <a:bodyPr/>
          <a:lstStyle/>
          <a:p>
            <a:endParaRPr lang="en-GB"/>
          </a:p>
        </p:txBody>
      </p:sp>
      <p:sp>
        <p:nvSpPr>
          <p:cNvPr id="174102" name="Line 22"/>
          <p:cNvSpPr>
            <a:spLocks noChangeShapeType="1"/>
          </p:cNvSpPr>
          <p:nvPr/>
        </p:nvSpPr>
        <p:spPr bwMode="auto">
          <a:xfrm>
            <a:off x="3292475" y="3857625"/>
            <a:ext cx="269875" cy="1588"/>
          </a:xfrm>
          <a:prstGeom prst="line">
            <a:avLst/>
          </a:prstGeom>
          <a:noFill/>
          <a:ln w="7938">
            <a:solidFill>
              <a:srgbClr val="1F1A17"/>
            </a:solidFill>
            <a:round/>
            <a:headEnd/>
            <a:tailEnd/>
          </a:ln>
        </p:spPr>
        <p:txBody>
          <a:bodyPr/>
          <a:lstStyle/>
          <a:p>
            <a:endParaRPr lang="en-GB"/>
          </a:p>
        </p:txBody>
      </p:sp>
      <p:sp>
        <p:nvSpPr>
          <p:cNvPr id="174103" name="Line 23"/>
          <p:cNvSpPr>
            <a:spLocks noChangeShapeType="1"/>
          </p:cNvSpPr>
          <p:nvPr/>
        </p:nvSpPr>
        <p:spPr bwMode="auto">
          <a:xfrm>
            <a:off x="3292475" y="3890963"/>
            <a:ext cx="269875" cy="1587"/>
          </a:xfrm>
          <a:prstGeom prst="line">
            <a:avLst/>
          </a:prstGeom>
          <a:noFill/>
          <a:ln w="7938">
            <a:solidFill>
              <a:srgbClr val="1F1A17"/>
            </a:solidFill>
            <a:round/>
            <a:headEnd/>
            <a:tailEnd/>
          </a:ln>
        </p:spPr>
        <p:txBody>
          <a:bodyPr/>
          <a:lstStyle/>
          <a:p>
            <a:endParaRPr lang="en-GB"/>
          </a:p>
        </p:txBody>
      </p:sp>
      <p:sp>
        <p:nvSpPr>
          <p:cNvPr id="174104" name="Freeform 24"/>
          <p:cNvSpPr>
            <a:spLocks/>
          </p:cNvSpPr>
          <p:nvPr/>
        </p:nvSpPr>
        <p:spPr bwMode="auto">
          <a:xfrm>
            <a:off x="3209925" y="3716338"/>
            <a:ext cx="42862" cy="49212"/>
          </a:xfrm>
          <a:custGeom>
            <a:avLst/>
            <a:gdLst/>
            <a:ahLst/>
            <a:cxnLst>
              <a:cxn ang="0">
                <a:pos x="0" y="109"/>
              </a:cxn>
              <a:cxn ang="0">
                <a:pos x="75" y="151"/>
              </a:cxn>
              <a:cxn ang="0">
                <a:pos x="77" y="141"/>
              </a:cxn>
              <a:cxn ang="0">
                <a:pos x="83" y="120"/>
              </a:cxn>
              <a:cxn ang="0">
                <a:pos x="87" y="101"/>
              </a:cxn>
              <a:cxn ang="0">
                <a:pos x="88" y="97"/>
              </a:cxn>
              <a:cxn ang="0">
                <a:pos x="89" y="93"/>
              </a:cxn>
              <a:cxn ang="0">
                <a:pos x="94" y="77"/>
              </a:cxn>
              <a:cxn ang="0">
                <a:pos x="97" y="66"/>
              </a:cxn>
              <a:cxn ang="0">
                <a:pos x="100" y="56"/>
              </a:cxn>
              <a:cxn ang="0">
                <a:pos x="105" y="46"/>
              </a:cxn>
              <a:cxn ang="0">
                <a:pos x="108" y="39"/>
              </a:cxn>
              <a:cxn ang="0">
                <a:pos x="117" y="27"/>
              </a:cxn>
              <a:cxn ang="0">
                <a:pos x="127" y="15"/>
              </a:cxn>
              <a:cxn ang="0">
                <a:pos x="135" y="4"/>
              </a:cxn>
              <a:cxn ang="0">
                <a:pos x="139" y="0"/>
              </a:cxn>
              <a:cxn ang="0">
                <a:pos x="128" y="7"/>
              </a:cxn>
              <a:cxn ang="0">
                <a:pos x="113" y="20"/>
              </a:cxn>
              <a:cxn ang="0">
                <a:pos x="108" y="24"/>
              </a:cxn>
              <a:cxn ang="0">
                <a:pos x="103" y="28"/>
              </a:cxn>
              <a:cxn ang="0">
                <a:pos x="97" y="36"/>
              </a:cxn>
              <a:cxn ang="0">
                <a:pos x="90" y="50"/>
              </a:cxn>
              <a:cxn ang="0">
                <a:pos x="80" y="71"/>
              </a:cxn>
              <a:cxn ang="0">
                <a:pos x="71" y="93"/>
              </a:cxn>
              <a:cxn ang="0">
                <a:pos x="65" y="110"/>
              </a:cxn>
              <a:cxn ang="0">
                <a:pos x="63" y="118"/>
              </a:cxn>
              <a:cxn ang="0">
                <a:pos x="26" y="92"/>
              </a:cxn>
              <a:cxn ang="0">
                <a:pos x="0" y="109"/>
              </a:cxn>
            </a:cxnLst>
            <a:rect l="0" t="0" r="r" b="b"/>
            <a:pathLst>
              <a:path w="139" h="151">
                <a:moveTo>
                  <a:pt x="0" y="109"/>
                </a:moveTo>
                <a:lnTo>
                  <a:pt x="75" y="151"/>
                </a:lnTo>
                <a:lnTo>
                  <a:pt x="77" y="141"/>
                </a:lnTo>
                <a:lnTo>
                  <a:pt x="83" y="120"/>
                </a:lnTo>
                <a:lnTo>
                  <a:pt x="87" y="101"/>
                </a:lnTo>
                <a:lnTo>
                  <a:pt x="88" y="97"/>
                </a:lnTo>
                <a:lnTo>
                  <a:pt x="89" y="93"/>
                </a:lnTo>
                <a:lnTo>
                  <a:pt x="94" y="77"/>
                </a:lnTo>
                <a:lnTo>
                  <a:pt x="97" y="66"/>
                </a:lnTo>
                <a:lnTo>
                  <a:pt x="100" y="56"/>
                </a:lnTo>
                <a:lnTo>
                  <a:pt x="105" y="46"/>
                </a:lnTo>
                <a:lnTo>
                  <a:pt x="108" y="39"/>
                </a:lnTo>
                <a:lnTo>
                  <a:pt x="117" y="27"/>
                </a:lnTo>
                <a:lnTo>
                  <a:pt x="127" y="15"/>
                </a:lnTo>
                <a:lnTo>
                  <a:pt x="135" y="4"/>
                </a:lnTo>
                <a:lnTo>
                  <a:pt x="139" y="0"/>
                </a:lnTo>
                <a:lnTo>
                  <a:pt x="128" y="7"/>
                </a:lnTo>
                <a:lnTo>
                  <a:pt x="113" y="20"/>
                </a:lnTo>
                <a:lnTo>
                  <a:pt x="108" y="24"/>
                </a:lnTo>
                <a:lnTo>
                  <a:pt x="103" y="28"/>
                </a:lnTo>
                <a:lnTo>
                  <a:pt x="97" y="36"/>
                </a:lnTo>
                <a:lnTo>
                  <a:pt x="90" y="50"/>
                </a:lnTo>
                <a:lnTo>
                  <a:pt x="80" y="71"/>
                </a:lnTo>
                <a:lnTo>
                  <a:pt x="71" y="93"/>
                </a:lnTo>
                <a:lnTo>
                  <a:pt x="65" y="110"/>
                </a:lnTo>
                <a:lnTo>
                  <a:pt x="63" y="118"/>
                </a:lnTo>
                <a:lnTo>
                  <a:pt x="26" y="92"/>
                </a:lnTo>
                <a:lnTo>
                  <a:pt x="0" y="109"/>
                </a:lnTo>
                <a:close/>
              </a:path>
            </a:pathLst>
          </a:custGeom>
          <a:solidFill>
            <a:srgbClr val="1F1A17"/>
          </a:solidFill>
          <a:ln w="9525">
            <a:noFill/>
            <a:round/>
            <a:headEnd/>
            <a:tailEnd/>
          </a:ln>
        </p:spPr>
        <p:txBody>
          <a:bodyPr/>
          <a:lstStyle/>
          <a:p>
            <a:endParaRPr lang="en-GB"/>
          </a:p>
        </p:txBody>
      </p:sp>
      <p:sp>
        <p:nvSpPr>
          <p:cNvPr id="174105" name="Freeform 25"/>
          <p:cNvSpPr>
            <a:spLocks/>
          </p:cNvSpPr>
          <p:nvPr/>
        </p:nvSpPr>
        <p:spPr bwMode="auto">
          <a:xfrm>
            <a:off x="3209925" y="3716338"/>
            <a:ext cx="42862" cy="49212"/>
          </a:xfrm>
          <a:custGeom>
            <a:avLst/>
            <a:gdLst/>
            <a:ahLst/>
            <a:cxnLst>
              <a:cxn ang="0">
                <a:pos x="0" y="109"/>
              </a:cxn>
              <a:cxn ang="0">
                <a:pos x="75" y="151"/>
              </a:cxn>
              <a:cxn ang="0">
                <a:pos x="77" y="141"/>
              </a:cxn>
              <a:cxn ang="0">
                <a:pos x="83" y="120"/>
              </a:cxn>
              <a:cxn ang="0">
                <a:pos x="87" y="101"/>
              </a:cxn>
              <a:cxn ang="0">
                <a:pos x="88" y="97"/>
              </a:cxn>
              <a:cxn ang="0">
                <a:pos x="89" y="93"/>
              </a:cxn>
              <a:cxn ang="0">
                <a:pos x="94" y="77"/>
              </a:cxn>
              <a:cxn ang="0">
                <a:pos x="97" y="66"/>
              </a:cxn>
              <a:cxn ang="0">
                <a:pos x="100" y="56"/>
              </a:cxn>
              <a:cxn ang="0">
                <a:pos x="105" y="46"/>
              </a:cxn>
              <a:cxn ang="0">
                <a:pos x="108" y="39"/>
              </a:cxn>
              <a:cxn ang="0">
                <a:pos x="117" y="27"/>
              </a:cxn>
              <a:cxn ang="0">
                <a:pos x="127" y="15"/>
              </a:cxn>
              <a:cxn ang="0">
                <a:pos x="135" y="4"/>
              </a:cxn>
              <a:cxn ang="0">
                <a:pos x="139" y="0"/>
              </a:cxn>
              <a:cxn ang="0">
                <a:pos x="128" y="7"/>
              </a:cxn>
              <a:cxn ang="0">
                <a:pos x="113" y="20"/>
              </a:cxn>
              <a:cxn ang="0">
                <a:pos x="108" y="24"/>
              </a:cxn>
              <a:cxn ang="0">
                <a:pos x="103" y="28"/>
              </a:cxn>
              <a:cxn ang="0">
                <a:pos x="97" y="36"/>
              </a:cxn>
              <a:cxn ang="0">
                <a:pos x="90" y="50"/>
              </a:cxn>
              <a:cxn ang="0">
                <a:pos x="80" y="71"/>
              </a:cxn>
              <a:cxn ang="0">
                <a:pos x="71" y="93"/>
              </a:cxn>
              <a:cxn ang="0">
                <a:pos x="65" y="110"/>
              </a:cxn>
              <a:cxn ang="0">
                <a:pos x="63" y="118"/>
              </a:cxn>
              <a:cxn ang="0">
                <a:pos x="26" y="92"/>
              </a:cxn>
              <a:cxn ang="0">
                <a:pos x="0" y="109"/>
              </a:cxn>
            </a:cxnLst>
            <a:rect l="0" t="0" r="r" b="b"/>
            <a:pathLst>
              <a:path w="139" h="151">
                <a:moveTo>
                  <a:pt x="0" y="109"/>
                </a:moveTo>
                <a:lnTo>
                  <a:pt x="75" y="151"/>
                </a:lnTo>
                <a:lnTo>
                  <a:pt x="77" y="141"/>
                </a:lnTo>
                <a:lnTo>
                  <a:pt x="83" y="120"/>
                </a:lnTo>
                <a:lnTo>
                  <a:pt x="87" y="101"/>
                </a:lnTo>
                <a:lnTo>
                  <a:pt x="88" y="97"/>
                </a:lnTo>
                <a:lnTo>
                  <a:pt x="89" y="93"/>
                </a:lnTo>
                <a:lnTo>
                  <a:pt x="94" y="77"/>
                </a:lnTo>
                <a:lnTo>
                  <a:pt x="97" y="66"/>
                </a:lnTo>
                <a:lnTo>
                  <a:pt x="100" y="56"/>
                </a:lnTo>
                <a:lnTo>
                  <a:pt x="105" y="46"/>
                </a:lnTo>
                <a:lnTo>
                  <a:pt x="108" y="39"/>
                </a:lnTo>
                <a:lnTo>
                  <a:pt x="117" y="27"/>
                </a:lnTo>
                <a:lnTo>
                  <a:pt x="127" y="15"/>
                </a:lnTo>
                <a:lnTo>
                  <a:pt x="135" y="4"/>
                </a:lnTo>
                <a:lnTo>
                  <a:pt x="139" y="0"/>
                </a:lnTo>
                <a:lnTo>
                  <a:pt x="128" y="7"/>
                </a:lnTo>
                <a:lnTo>
                  <a:pt x="113" y="20"/>
                </a:lnTo>
                <a:lnTo>
                  <a:pt x="108" y="24"/>
                </a:lnTo>
                <a:lnTo>
                  <a:pt x="103" y="28"/>
                </a:lnTo>
                <a:lnTo>
                  <a:pt x="97" y="36"/>
                </a:lnTo>
                <a:lnTo>
                  <a:pt x="90" y="50"/>
                </a:lnTo>
                <a:lnTo>
                  <a:pt x="80" y="71"/>
                </a:lnTo>
                <a:lnTo>
                  <a:pt x="71" y="93"/>
                </a:lnTo>
                <a:lnTo>
                  <a:pt x="65" y="110"/>
                </a:lnTo>
                <a:lnTo>
                  <a:pt x="63" y="118"/>
                </a:lnTo>
                <a:lnTo>
                  <a:pt x="26" y="92"/>
                </a:lnTo>
                <a:lnTo>
                  <a:pt x="0" y="109"/>
                </a:lnTo>
                <a:close/>
              </a:path>
            </a:pathLst>
          </a:custGeom>
          <a:noFill/>
          <a:ln w="4763">
            <a:solidFill>
              <a:srgbClr val="1F1A17"/>
            </a:solidFill>
            <a:prstDash val="solid"/>
            <a:round/>
            <a:headEnd/>
            <a:tailEnd/>
          </a:ln>
        </p:spPr>
        <p:txBody>
          <a:bodyPr/>
          <a:lstStyle/>
          <a:p>
            <a:endParaRPr lang="en-GB"/>
          </a:p>
        </p:txBody>
      </p:sp>
      <p:sp>
        <p:nvSpPr>
          <p:cNvPr id="174106" name="Freeform 26"/>
          <p:cNvSpPr>
            <a:spLocks/>
          </p:cNvSpPr>
          <p:nvPr/>
        </p:nvSpPr>
        <p:spPr bwMode="auto">
          <a:xfrm>
            <a:off x="3211512" y="3808413"/>
            <a:ext cx="44450" cy="47625"/>
          </a:xfrm>
          <a:custGeom>
            <a:avLst/>
            <a:gdLst/>
            <a:ahLst/>
            <a:cxnLst>
              <a:cxn ang="0">
                <a:pos x="0" y="110"/>
              </a:cxn>
              <a:cxn ang="0">
                <a:pos x="74" y="151"/>
              </a:cxn>
              <a:cxn ang="0">
                <a:pos x="77" y="141"/>
              </a:cxn>
              <a:cxn ang="0">
                <a:pos x="82" y="120"/>
              </a:cxn>
              <a:cxn ang="0">
                <a:pos x="87" y="101"/>
              </a:cxn>
              <a:cxn ang="0">
                <a:pos x="88" y="96"/>
              </a:cxn>
              <a:cxn ang="0">
                <a:pos x="89" y="93"/>
              </a:cxn>
              <a:cxn ang="0">
                <a:pos x="93" y="76"/>
              </a:cxn>
              <a:cxn ang="0">
                <a:pos x="97" y="65"/>
              </a:cxn>
              <a:cxn ang="0">
                <a:pos x="100" y="55"/>
              </a:cxn>
              <a:cxn ang="0">
                <a:pos x="104" y="45"/>
              </a:cxn>
              <a:cxn ang="0">
                <a:pos x="108" y="39"/>
              </a:cxn>
              <a:cxn ang="0">
                <a:pos x="117" y="26"/>
              </a:cxn>
              <a:cxn ang="0">
                <a:pos x="126" y="14"/>
              </a:cxn>
              <a:cxn ang="0">
                <a:pos x="134" y="4"/>
              </a:cxn>
              <a:cxn ang="0">
                <a:pos x="139" y="0"/>
              </a:cxn>
              <a:cxn ang="0">
                <a:pos x="128" y="8"/>
              </a:cxn>
              <a:cxn ang="0">
                <a:pos x="112" y="20"/>
              </a:cxn>
              <a:cxn ang="0">
                <a:pos x="108" y="24"/>
              </a:cxn>
              <a:cxn ang="0">
                <a:pos x="102" y="29"/>
              </a:cxn>
              <a:cxn ang="0">
                <a:pos x="97" y="36"/>
              </a:cxn>
              <a:cxn ang="0">
                <a:pos x="90" y="50"/>
              </a:cxn>
              <a:cxn ang="0">
                <a:pos x="80" y="71"/>
              </a:cxn>
              <a:cxn ang="0">
                <a:pos x="71" y="93"/>
              </a:cxn>
              <a:cxn ang="0">
                <a:pos x="64" y="111"/>
              </a:cxn>
              <a:cxn ang="0">
                <a:pos x="62" y="117"/>
              </a:cxn>
              <a:cxn ang="0">
                <a:pos x="25" y="93"/>
              </a:cxn>
              <a:cxn ang="0">
                <a:pos x="0" y="110"/>
              </a:cxn>
            </a:cxnLst>
            <a:rect l="0" t="0" r="r" b="b"/>
            <a:pathLst>
              <a:path w="139" h="151">
                <a:moveTo>
                  <a:pt x="0" y="110"/>
                </a:moveTo>
                <a:lnTo>
                  <a:pt x="74" y="151"/>
                </a:lnTo>
                <a:lnTo>
                  <a:pt x="77" y="141"/>
                </a:lnTo>
                <a:lnTo>
                  <a:pt x="82" y="120"/>
                </a:lnTo>
                <a:lnTo>
                  <a:pt x="87" y="101"/>
                </a:lnTo>
                <a:lnTo>
                  <a:pt x="88" y="96"/>
                </a:lnTo>
                <a:lnTo>
                  <a:pt x="89" y="93"/>
                </a:lnTo>
                <a:lnTo>
                  <a:pt x="93" y="76"/>
                </a:lnTo>
                <a:lnTo>
                  <a:pt x="97" y="65"/>
                </a:lnTo>
                <a:lnTo>
                  <a:pt x="100" y="55"/>
                </a:lnTo>
                <a:lnTo>
                  <a:pt x="104" y="45"/>
                </a:lnTo>
                <a:lnTo>
                  <a:pt x="108" y="39"/>
                </a:lnTo>
                <a:lnTo>
                  <a:pt x="117" y="26"/>
                </a:lnTo>
                <a:lnTo>
                  <a:pt x="126" y="14"/>
                </a:lnTo>
                <a:lnTo>
                  <a:pt x="134" y="4"/>
                </a:lnTo>
                <a:lnTo>
                  <a:pt x="139" y="0"/>
                </a:lnTo>
                <a:lnTo>
                  <a:pt x="128" y="8"/>
                </a:lnTo>
                <a:lnTo>
                  <a:pt x="112" y="20"/>
                </a:lnTo>
                <a:lnTo>
                  <a:pt x="108" y="24"/>
                </a:lnTo>
                <a:lnTo>
                  <a:pt x="102" y="29"/>
                </a:lnTo>
                <a:lnTo>
                  <a:pt x="97" y="36"/>
                </a:lnTo>
                <a:lnTo>
                  <a:pt x="90" y="50"/>
                </a:lnTo>
                <a:lnTo>
                  <a:pt x="80" y="71"/>
                </a:lnTo>
                <a:lnTo>
                  <a:pt x="71" y="93"/>
                </a:lnTo>
                <a:lnTo>
                  <a:pt x="64" y="111"/>
                </a:lnTo>
                <a:lnTo>
                  <a:pt x="62" y="117"/>
                </a:lnTo>
                <a:lnTo>
                  <a:pt x="25" y="93"/>
                </a:lnTo>
                <a:lnTo>
                  <a:pt x="0" y="110"/>
                </a:lnTo>
                <a:close/>
              </a:path>
            </a:pathLst>
          </a:custGeom>
          <a:solidFill>
            <a:srgbClr val="1F1A17"/>
          </a:solidFill>
          <a:ln w="9525">
            <a:noFill/>
            <a:round/>
            <a:headEnd/>
            <a:tailEnd/>
          </a:ln>
        </p:spPr>
        <p:txBody>
          <a:bodyPr/>
          <a:lstStyle/>
          <a:p>
            <a:endParaRPr lang="en-GB"/>
          </a:p>
        </p:txBody>
      </p:sp>
      <p:sp>
        <p:nvSpPr>
          <p:cNvPr id="174107" name="Freeform 27"/>
          <p:cNvSpPr>
            <a:spLocks/>
          </p:cNvSpPr>
          <p:nvPr/>
        </p:nvSpPr>
        <p:spPr bwMode="auto">
          <a:xfrm>
            <a:off x="3211512" y="3808413"/>
            <a:ext cx="44450" cy="47625"/>
          </a:xfrm>
          <a:custGeom>
            <a:avLst/>
            <a:gdLst/>
            <a:ahLst/>
            <a:cxnLst>
              <a:cxn ang="0">
                <a:pos x="0" y="110"/>
              </a:cxn>
              <a:cxn ang="0">
                <a:pos x="74" y="151"/>
              </a:cxn>
              <a:cxn ang="0">
                <a:pos x="77" y="141"/>
              </a:cxn>
              <a:cxn ang="0">
                <a:pos x="82" y="120"/>
              </a:cxn>
              <a:cxn ang="0">
                <a:pos x="87" y="101"/>
              </a:cxn>
              <a:cxn ang="0">
                <a:pos x="88" y="96"/>
              </a:cxn>
              <a:cxn ang="0">
                <a:pos x="89" y="93"/>
              </a:cxn>
              <a:cxn ang="0">
                <a:pos x="93" y="76"/>
              </a:cxn>
              <a:cxn ang="0">
                <a:pos x="97" y="65"/>
              </a:cxn>
              <a:cxn ang="0">
                <a:pos x="100" y="55"/>
              </a:cxn>
              <a:cxn ang="0">
                <a:pos x="104" y="45"/>
              </a:cxn>
              <a:cxn ang="0">
                <a:pos x="108" y="39"/>
              </a:cxn>
              <a:cxn ang="0">
                <a:pos x="117" y="26"/>
              </a:cxn>
              <a:cxn ang="0">
                <a:pos x="126" y="14"/>
              </a:cxn>
              <a:cxn ang="0">
                <a:pos x="134" y="4"/>
              </a:cxn>
              <a:cxn ang="0">
                <a:pos x="139" y="0"/>
              </a:cxn>
              <a:cxn ang="0">
                <a:pos x="128" y="8"/>
              </a:cxn>
              <a:cxn ang="0">
                <a:pos x="112" y="20"/>
              </a:cxn>
              <a:cxn ang="0">
                <a:pos x="108" y="24"/>
              </a:cxn>
              <a:cxn ang="0">
                <a:pos x="102" y="29"/>
              </a:cxn>
              <a:cxn ang="0">
                <a:pos x="97" y="36"/>
              </a:cxn>
              <a:cxn ang="0">
                <a:pos x="90" y="50"/>
              </a:cxn>
              <a:cxn ang="0">
                <a:pos x="80" y="71"/>
              </a:cxn>
              <a:cxn ang="0">
                <a:pos x="71" y="93"/>
              </a:cxn>
              <a:cxn ang="0">
                <a:pos x="64" y="111"/>
              </a:cxn>
              <a:cxn ang="0">
                <a:pos x="62" y="117"/>
              </a:cxn>
              <a:cxn ang="0">
                <a:pos x="25" y="93"/>
              </a:cxn>
              <a:cxn ang="0">
                <a:pos x="0" y="110"/>
              </a:cxn>
            </a:cxnLst>
            <a:rect l="0" t="0" r="r" b="b"/>
            <a:pathLst>
              <a:path w="139" h="151">
                <a:moveTo>
                  <a:pt x="0" y="110"/>
                </a:moveTo>
                <a:lnTo>
                  <a:pt x="74" y="151"/>
                </a:lnTo>
                <a:lnTo>
                  <a:pt x="77" y="141"/>
                </a:lnTo>
                <a:lnTo>
                  <a:pt x="82" y="120"/>
                </a:lnTo>
                <a:lnTo>
                  <a:pt x="87" y="101"/>
                </a:lnTo>
                <a:lnTo>
                  <a:pt x="88" y="96"/>
                </a:lnTo>
                <a:lnTo>
                  <a:pt x="89" y="93"/>
                </a:lnTo>
                <a:lnTo>
                  <a:pt x="93" y="76"/>
                </a:lnTo>
                <a:lnTo>
                  <a:pt x="97" y="65"/>
                </a:lnTo>
                <a:lnTo>
                  <a:pt x="100" y="55"/>
                </a:lnTo>
                <a:lnTo>
                  <a:pt x="104" y="45"/>
                </a:lnTo>
                <a:lnTo>
                  <a:pt x="108" y="39"/>
                </a:lnTo>
                <a:lnTo>
                  <a:pt x="117" y="26"/>
                </a:lnTo>
                <a:lnTo>
                  <a:pt x="126" y="14"/>
                </a:lnTo>
                <a:lnTo>
                  <a:pt x="134" y="4"/>
                </a:lnTo>
                <a:lnTo>
                  <a:pt x="139" y="0"/>
                </a:lnTo>
                <a:lnTo>
                  <a:pt x="128" y="8"/>
                </a:lnTo>
                <a:lnTo>
                  <a:pt x="112" y="20"/>
                </a:lnTo>
                <a:lnTo>
                  <a:pt x="108" y="24"/>
                </a:lnTo>
                <a:lnTo>
                  <a:pt x="102" y="29"/>
                </a:lnTo>
                <a:lnTo>
                  <a:pt x="97" y="36"/>
                </a:lnTo>
                <a:lnTo>
                  <a:pt x="90" y="50"/>
                </a:lnTo>
                <a:lnTo>
                  <a:pt x="80" y="71"/>
                </a:lnTo>
                <a:lnTo>
                  <a:pt x="71" y="93"/>
                </a:lnTo>
                <a:lnTo>
                  <a:pt x="64" y="111"/>
                </a:lnTo>
                <a:lnTo>
                  <a:pt x="62" y="117"/>
                </a:lnTo>
                <a:lnTo>
                  <a:pt x="25" y="93"/>
                </a:lnTo>
                <a:lnTo>
                  <a:pt x="0" y="110"/>
                </a:lnTo>
                <a:close/>
              </a:path>
            </a:pathLst>
          </a:custGeom>
          <a:noFill/>
          <a:ln w="4763">
            <a:solidFill>
              <a:srgbClr val="1F1A17"/>
            </a:solidFill>
            <a:prstDash val="solid"/>
            <a:round/>
            <a:headEnd/>
            <a:tailEnd/>
          </a:ln>
        </p:spPr>
        <p:txBody>
          <a:bodyPr/>
          <a:lstStyle/>
          <a:p>
            <a:endParaRPr lang="en-GB"/>
          </a:p>
        </p:txBody>
      </p:sp>
      <p:sp>
        <p:nvSpPr>
          <p:cNvPr id="174108" name="Freeform 28"/>
          <p:cNvSpPr>
            <a:spLocks/>
          </p:cNvSpPr>
          <p:nvPr/>
        </p:nvSpPr>
        <p:spPr bwMode="auto">
          <a:xfrm>
            <a:off x="3209925" y="3625850"/>
            <a:ext cx="44450" cy="47625"/>
          </a:xfrm>
          <a:custGeom>
            <a:avLst/>
            <a:gdLst/>
            <a:ahLst/>
            <a:cxnLst>
              <a:cxn ang="0">
                <a:pos x="0" y="110"/>
              </a:cxn>
              <a:cxn ang="0">
                <a:pos x="74" y="151"/>
              </a:cxn>
              <a:cxn ang="0">
                <a:pos x="77" y="141"/>
              </a:cxn>
              <a:cxn ang="0">
                <a:pos x="82" y="121"/>
              </a:cxn>
              <a:cxn ang="0">
                <a:pos x="87" y="101"/>
              </a:cxn>
              <a:cxn ang="0">
                <a:pos x="88" y="97"/>
              </a:cxn>
              <a:cxn ang="0">
                <a:pos x="88" y="94"/>
              </a:cxn>
              <a:cxn ang="0">
                <a:pos x="94" y="77"/>
              </a:cxn>
              <a:cxn ang="0">
                <a:pos x="97" y="66"/>
              </a:cxn>
              <a:cxn ang="0">
                <a:pos x="101" y="55"/>
              </a:cxn>
              <a:cxn ang="0">
                <a:pos x="104" y="46"/>
              </a:cxn>
              <a:cxn ang="0">
                <a:pos x="107" y="40"/>
              </a:cxn>
              <a:cxn ang="0">
                <a:pos x="116" y="27"/>
              </a:cxn>
              <a:cxn ang="0">
                <a:pos x="126" y="14"/>
              </a:cxn>
              <a:cxn ang="0">
                <a:pos x="135" y="4"/>
              </a:cxn>
              <a:cxn ang="0">
                <a:pos x="138" y="0"/>
              </a:cxn>
              <a:cxn ang="0">
                <a:pos x="127" y="7"/>
              </a:cxn>
              <a:cxn ang="0">
                <a:pos x="112" y="20"/>
              </a:cxn>
              <a:cxn ang="0">
                <a:pos x="107" y="24"/>
              </a:cxn>
              <a:cxn ang="0">
                <a:pos x="103" y="29"/>
              </a:cxn>
              <a:cxn ang="0">
                <a:pos x="97" y="36"/>
              </a:cxn>
              <a:cxn ang="0">
                <a:pos x="90" y="51"/>
              </a:cxn>
              <a:cxn ang="0">
                <a:pos x="81" y="71"/>
              </a:cxn>
              <a:cxn ang="0">
                <a:pos x="72" y="93"/>
              </a:cxn>
              <a:cxn ang="0">
                <a:pos x="64" y="111"/>
              </a:cxn>
              <a:cxn ang="0">
                <a:pos x="62" y="118"/>
              </a:cxn>
              <a:cxn ang="0">
                <a:pos x="25" y="93"/>
              </a:cxn>
              <a:cxn ang="0">
                <a:pos x="0" y="110"/>
              </a:cxn>
            </a:cxnLst>
            <a:rect l="0" t="0" r="r" b="b"/>
            <a:pathLst>
              <a:path w="138" h="151">
                <a:moveTo>
                  <a:pt x="0" y="110"/>
                </a:moveTo>
                <a:lnTo>
                  <a:pt x="74" y="151"/>
                </a:lnTo>
                <a:lnTo>
                  <a:pt x="77" y="141"/>
                </a:lnTo>
                <a:lnTo>
                  <a:pt x="82" y="121"/>
                </a:lnTo>
                <a:lnTo>
                  <a:pt x="87" y="101"/>
                </a:lnTo>
                <a:lnTo>
                  <a:pt x="88" y="97"/>
                </a:lnTo>
                <a:lnTo>
                  <a:pt x="88" y="94"/>
                </a:lnTo>
                <a:lnTo>
                  <a:pt x="94" y="77"/>
                </a:lnTo>
                <a:lnTo>
                  <a:pt x="97" y="66"/>
                </a:lnTo>
                <a:lnTo>
                  <a:pt x="101" y="55"/>
                </a:lnTo>
                <a:lnTo>
                  <a:pt x="104" y="46"/>
                </a:lnTo>
                <a:lnTo>
                  <a:pt x="107" y="40"/>
                </a:lnTo>
                <a:lnTo>
                  <a:pt x="116" y="27"/>
                </a:lnTo>
                <a:lnTo>
                  <a:pt x="126" y="14"/>
                </a:lnTo>
                <a:lnTo>
                  <a:pt x="135" y="4"/>
                </a:lnTo>
                <a:lnTo>
                  <a:pt x="138" y="0"/>
                </a:lnTo>
                <a:lnTo>
                  <a:pt x="127" y="7"/>
                </a:lnTo>
                <a:lnTo>
                  <a:pt x="112" y="20"/>
                </a:lnTo>
                <a:lnTo>
                  <a:pt x="107" y="24"/>
                </a:lnTo>
                <a:lnTo>
                  <a:pt x="103" y="29"/>
                </a:lnTo>
                <a:lnTo>
                  <a:pt x="97" y="36"/>
                </a:lnTo>
                <a:lnTo>
                  <a:pt x="90" y="51"/>
                </a:lnTo>
                <a:lnTo>
                  <a:pt x="81" y="71"/>
                </a:lnTo>
                <a:lnTo>
                  <a:pt x="72" y="93"/>
                </a:lnTo>
                <a:lnTo>
                  <a:pt x="64" y="111"/>
                </a:lnTo>
                <a:lnTo>
                  <a:pt x="62" y="118"/>
                </a:lnTo>
                <a:lnTo>
                  <a:pt x="25" y="93"/>
                </a:lnTo>
                <a:lnTo>
                  <a:pt x="0" y="110"/>
                </a:lnTo>
                <a:close/>
              </a:path>
            </a:pathLst>
          </a:custGeom>
          <a:solidFill>
            <a:srgbClr val="1F1A17"/>
          </a:solidFill>
          <a:ln w="9525">
            <a:noFill/>
            <a:round/>
            <a:headEnd/>
            <a:tailEnd/>
          </a:ln>
        </p:spPr>
        <p:txBody>
          <a:bodyPr/>
          <a:lstStyle/>
          <a:p>
            <a:endParaRPr lang="en-GB"/>
          </a:p>
        </p:txBody>
      </p:sp>
      <p:sp>
        <p:nvSpPr>
          <p:cNvPr id="174109" name="Freeform 29"/>
          <p:cNvSpPr>
            <a:spLocks/>
          </p:cNvSpPr>
          <p:nvPr/>
        </p:nvSpPr>
        <p:spPr bwMode="auto">
          <a:xfrm>
            <a:off x="3209925" y="3625850"/>
            <a:ext cx="44450" cy="47625"/>
          </a:xfrm>
          <a:custGeom>
            <a:avLst/>
            <a:gdLst/>
            <a:ahLst/>
            <a:cxnLst>
              <a:cxn ang="0">
                <a:pos x="0" y="110"/>
              </a:cxn>
              <a:cxn ang="0">
                <a:pos x="74" y="151"/>
              </a:cxn>
              <a:cxn ang="0">
                <a:pos x="77" y="141"/>
              </a:cxn>
              <a:cxn ang="0">
                <a:pos x="82" y="121"/>
              </a:cxn>
              <a:cxn ang="0">
                <a:pos x="87" y="101"/>
              </a:cxn>
              <a:cxn ang="0">
                <a:pos x="88" y="97"/>
              </a:cxn>
              <a:cxn ang="0">
                <a:pos x="88" y="94"/>
              </a:cxn>
              <a:cxn ang="0">
                <a:pos x="94" y="77"/>
              </a:cxn>
              <a:cxn ang="0">
                <a:pos x="97" y="66"/>
              </a:cxn>
              <a:cxn ang="0">
                <a:pos x="101" y="55"/>
              </a:cxn>
              <a:cxn ang="0">
                <a:pos x="104" y="46"/>
              </a:cxn>
              <a:cxn ang="0">
                <a:pos x="107" y="40"/>
              </a:cxn>
              <a:cxn ang="0">
                <a:pos x="116" y="27"/>
              </a:cxn>
              <a:cxn ang="0">
                <a:pos x="126" y="14"/>
              </a:cxn>
              <a:cxn ang="0">
                <a:pos x="135" y="4"/>
              </a:cxn>
              <a:cxn ang="0">
                <a:pos x="138" y="0"/>
              </a:cxn>
              <a:cxn ang="0">
                <a:pos x="127" y="7"/>
              </a:cxn>
              <a:cxn ang="0">
                <a:pos x="112" y="20"/>
              </a:cxn>
              <a:cxn ang="0">
                <a:pos x="107" y="24"/>
              </a:cxn>
              <a:cxn ang="0">
                <a:pos x="103" y="29"/>
              </a:cxn>
              <a:cxn ang="0">
                <a:pos x="97" y="36"/>
              </a:cxn>
              <a:cxn ang="0">
                <a:pos x="90" y="51"/>
              </a:cxn>
              <a:cxn ang="0">
                <a:pos x="81" y="71"/>
              </a:cxn>
              <a:cxn ang="0">
                <a:pos x="72" y="93"/>
              </a:cxn>
              <a:cxn ang="0">
                <a:pos x="64" y="111"/>
              </a:cxn>
              <a:cxn ang="0">
                <a:pos x="62" y="118"/>
              </a:cxn>
              <a:cxn ang="0">
                <a:pos x="25" y="93"/>
              </a:cxn>
              <a:cxn ang="0">
                <a:pos x="0" y="110"/>
              </a:cxn>
            </a:cxnLst>
            <a:rect l="0" t="0" r="r" b="b"/>
            <a:pathLst>
              <a:path w="138" h="151">
                <a:moveTo>
                  <a:pt x="0" y="110"/>
                </a:moveTo>
                <a:lnTo>
                  <a:pt x="74" y="151"/>
                </a:lnTo>
                <a:lnTo>
                  <a:pt x="77" y="141"/>
                </a:lnTo>
                <a:lnTo>
                  <a:pt x="82" y="121"/>
                </a:lnTo>
                <a:lnTo>
                  <a:pt x="87" y="101"/>
                </a:lnTo>
                <a:lnTo>
                  <a:pt x="88" y="97"/>
                </a:lnTo>
                <a:lnTo>
                  <a:pt x="88" y="94"/>
                </a:lnTo>
                <a:lnTo>
                  <a:pt x="94" y="77"/>
                </a:lnTo>
                <a:lnTo>
                  <a:pt x="97" y="66"/>
                </a:lnTo>
                <a:lnTo>
                  <a:pt x="101" y="55"/>
                </a:lnTo>
                <a:lnTo>
                  <a:pt x="104" y="46"/>
                </a:lnTo>
                <a:lnTo>
                  <a:pt x="107" y="40"/>
                </a:lnTo>
                <a:lnTo>
                  <a:pt x="116" y="27"/>
                </a:lnTo>
                <a:lnTo>
                  <a:pt x="126" y="14"/>
                </a:lnTo>
                <a:lnTo>
                  <a:pt x="135" y="4"/>
                </a:lnTo>
                <a:lnTo>
                  <a:pt x="138" y="0"/>
                </a:lnTo>
                <a:lnTo>
                  <a:pt x="127" y="7"/>
                </a:lnTo>
                <a:lnTo>
                  <a:pt x="112" y="20"/>
                </a:lnTo>
                <a:lnTo>
                  <a:pt x="107" y="24"/>
                </a:lnTo>
                <a:lnTo>
                  <a:pt x="103" y="29"/>
                </a:lnTo>
                <a:lnTo>
                  <a:pt x="97" y="36"/>
                </a:lnTo>
                <a:lnTo>
                  <a:pt x="90" y="51"/>
                </a:lnTo>
                <a:lnTo>
                  <a:pt x="81" y="71"/>
                </a:lnTo>
                <a:lnTo>
                  <a:pt x="72" y="93"/>
                </a:lnTo>
                <a:lnTo>
                  <a:pt x="64" y="111"/>
                </a:lnTo>
                <a:lnTo>
                  <a:pt x="62" y="118"/>
                </a:lnTo>
                <a:lnTo>
                  <a:pt x="25" y="93"/>
                </a:lnTo>
                <a:lnTo>
                  <a:pt x="0" y="110"/>
                </a:lnTo>
                <a:close/>
              </a:path>
            </a:pathLst>
          </a:custGeom>
          <a:noFill/>
          <a:ln w="4763">
            <a:solidFill>
              <a:srgbClr val="1F1A17"/>
            </a:solidFill>
            <a:prstDash val="solid"/>
            <a:round/>
            <a:headEnd/>
            <a:tailEnd/>
          </a:ln>
        </p:spPr>
        <p:txBody>
          <a:bodyPr/>
          <a:lstStyle/>
          <a:p>
            <a:endParaRPr lang="en-GB"/>
          </a:p>
        </p:txBody>
      </p:sp>
      <p:sp>
        <p:nvSpPr>
          <p:cNvPr id="174110" name="Freeform 30"/>
          <p:cNvSpPr>
            <a:spLocks/>
          </p:cNvSpPr>
          <p:nvPr/>
        </p:nvSpPr>
        <p:spPr bwMode="auto">
          <a:xfrm>
            <a:off x="3208337" y="3532188"/>
            <a:ext cx="42863" cy="47625"/>
          </a:xfrm>
          <a:custGeom>
            <a:avLst/>
            <a:gdLst/>
            <a:ahLst/>
            <a:cxnLst>
              <a:cxn ang="0">
                <a:pos x="0" y="109"/>
              </a:cxn>
              <a:cxn ang="0">
                <a:pos x="74" y="150"/>
              </a:cxn>
              <a:cxn ang="0">
                <a:pos x="76" y="141"/>
              </a:cxn>
              <a:cxn ang="0">
                <a:pos x="82" y="120"/>
              </a:cxn>
              <a:cxn ang="0">
                <a:pos x="86" y="101"/>
              </a:cxn>
              <a:cxn ang="0">
                <a:pos x="88" y="97"/>
              </a:cxn>
              <a:cxn ang="0">
                <a:pos x="89" y="94"/>
              </a:cxn>
              <a:cxn ang="0">
                <a:pos x="93" y="77"/>
              </a:cxn>
              <a:cxn ang="0">
                <a:pos x="96" y="66"/>
              </a:cxn>
              <a:cxn ang="0">
                <a:pos x="100" y="56"/>
              </a:cxn>
              <a:cxn ang="0">
                <a:pos x="104" y="46"/>
              </a:cxn>
              <a:cxn ang="0">
                <a:pos x="108" y="39"/>
              </a:cxn>
              <a:cxn ang="0">
                <a:pos x="116" y="27"/>
              </a:cxn>
              <a:cxn ang="0">
                <a:pos x="126" y="14"/>
              </a:cxn>
              <a:cxn ang="0">
                <a:pos x="134" y="4"/>
              </a:cxn>
              <a:cxn ang="0">
                <a:pos x="139" y="0"/>
              </a:cxn>
              <a:cxn ang="0">
                <a:pos x="128" y="7"/>
              </a:cxn>
              <a:cxn ang="0">
                <a:pos x="112" y="19"/>
              </a:cxn>
              <a:cxn ang="0">
                <a:pos x="108" y="24"/>
              </a:cxn>
              <a:cxn ang="0">
                <a:pos x="102" y="28"/>
              </a:cxn>
              <a:cxn ang="0">
                <a:pos x="96" y="36"/>
              </a:cxn>
              <a:cxn ang="0">
                <a:pos x="90" y="50"/>
              </a:cxn>
              <a:cxn ang="0">
                <a:pos x="80" y="70"/>
              </a:cxn>
              <a:cxn ang="0">
                <a:pos x="71" y="93"/>
              </a:cxn>
              <a:cxn ang="0">
                <a:pos x="64" y="110"/>
              </a:cxn>
              <a:cxn ang="0">
                <a:pos x="62" y="118"/>
              </a:cxn>
              <a:cxn ang="0">
                <a:pos x="25" y="93"/>
              </a:cxn>
              <a:cxn ang="0">
                <a:pos x="0" y="109"/>
              </a:cxn>
            </a:cxnLst>
            <a:rect l="0" t="0" r="r" b="b"/>
            <a:pathLst>
              <a:path w="139" h="150">
                <a:moveTo>
                  <a:pt x="0" y="109"/>
                </a:moveTo>
                <a:lnTo>
                  <a:pt x="74" y="150"/>
                </a:lnTo>
                <a:lnTo>
                  <a:pt x="76" y="141"/>
                </a:lnTo>
                <a:lnTo>
                  <a:pt x="82" y="120"/>
                </a:lnTo>
                <a:lnTo>
                  <a:pt x="86" y="101"/>
                </a:lnTo>
                <a:lnTo>
                  <a:pt x="88" y="97"/>
                </a:lnTo>
                <a:lnTo>
                  <a:pt x="89" y="94"/>
                </a:lnTo>
                <a:lnTo>
                  <a:pt x="93" y="77"/>
                </a:lnTo>
                <a:lnTo>
                  <a:pt x="96" y="66"/>
                </a:lnTo>
                <a:lnTo>
                  <a:pt x="100" y="56"/>
                </a:lnTo>
                <a:lnTo>
                  <a:pt x="104" y="46"/>
                </a:lnTo>
                <a:lnTo>
                  <a:pt x="108" y="39"/>
                </a:lnTo>
                <a:lnTo>
                  <a:pt x="116" y="27"/>
                </a:lnTo>
                <a:lnTo>
                  <a:pt x="126" y="14"/>
                </a:lnTo>
                <a:lnTo>
                  <a:pt x="134" y="4"/>
                </a:lnTo>
                <a:lnTo>
                  <a:pt x="139" y="0"/>
                </a:lnTo>
                <a:lnTo>
                  <a:pt x="128" y="7"/>
                </a:lnTo>
                <a:lnTo>
                  <a:pt x="112" y="19"/>
                </a:lnTo>
                <a:lnTo>
                  <a:pt x="108" y="24"/>
                </a:lnTo>
                <a:lnTo>
                  <a:pt x="102" y="28"/>
                </a:lnTo>
                <a:lnTo>
                  <a:pt x="96" y="36"/>
                </a:lnTo>
                <a:lnTo>
                  <a:pt x="90" y="50"/>
                </a:lnTo>
                <a:lnTo>
                  <a:pt x="80" y="70"/>
                </a:lnTo>
                <a:lnTo>
                  <a:pt x="71" y="93"/>
                </a:lnTo>
                <a:lnTo>
                  <a:pt x="64" y="110"/>
                </a:lnTo>
                <a:lnTo>
                  <a:pt x="62" y="118"/>
                </a:lnTo>
                <a:lnTo>
                  <a:pt x="25" y="93"/>
                </a:lnTo>
                <a:lnTo>
                  <a:pt x="0" y="109"/>
                </a:lnTo>
                <a:close/>
              </a:path>
            </a:pathLst>
          </a:custGeom>
          <a:solidFill>
            <a:srgbClr val="1F1A17"/>
          </a:solidFill>
          <a:ln w="9525">
            <a:noFill/>
            <a:round/>
            <a:headEnd/>
            <a:tailEnd/>
          </a:ln>
        </p:spPr>
        <p:txBody>
          <a:bodyPr/>
          <a:lstStyle/>
          <a:p>
            <a:endParaRPr lang="en-GB"/>
          </a:p>
        </p:txBody>
      </p:sp>
      <p:sp>
        <p:nvSpPr>
          <p:cNvPr id="174111" name="Freeform 31"/>
          <p:cNvSpPr>
            <a:spLocks/>
          </p:cNvSpPr>
          <p:nvPr/>
        </p:nvSpPr>
        <p:spPr bwMode="auto">
          <a:xfrm>
            <a:off x="3208337" y="3532188"/>
            <a:ext cx="42863" cy="47625"/>
          </a:xfrm>
          <a:custGeom>
            <a:avLst/>
            <a:gdLst/>
            <a:ahLst/>
            <a:cxnLst>
              <a:cxn ang="0">
                <a:pos x="0" y="109"/>
              </a:cxn>
              <a:cxn ang="0">
                <a:pos x="74" y="150"/>
              </a:cxn>
              <a:cxn ang="0">
                <a:pos x="76" y="141"/>
              </a:cxn>
              <a:cxn ang="0">
                <a:pos x="82" y="120"/>
              </a:cxn>
              <a:cxn ang="0">
                <a:pos x="86" y="101"/>
              </a:cxn>
              <a:cxn ang="0">
                <a:pos x="88" y="97"/>
              </a:cxn>
              <a:cxn ang="0">
                <a:pos x="89" y="94"/>
              </a:cxn>
              <a:cxn ang="0">
                <a:pos x="93" y="77"/>
              </a:cxn>
              <a:cxn ang="0">
                <a:pos x="96" y="66"/>
              </a:cxn>
              <a:cxn ang="0">
                <a:pos x="100" y="56"/>
              </a:cxn>
              <a:cxn ang="0">
                <a:pos x="104" y="46"/>
              </a:cxn>
              <a:cxn ang="0">
                <a:pos x="108" y="39"/>
              </a:cxn>
              <a:cxn ang="0">
                <a:pos x="116" y="27"/>
              </a:cxn>
              <a:cxn ang="0">
                <a:pos x="126" y="14"/>
              </a:cxn>
              <a:cxn ang="0">
                <a:pos x="134" y="4"/>
              </a:cxn>
              <a:cxn ang="0">
                <a:pos x="139" y="0"/>
              </a:cxn>
              <a:cxn ang="0">
                <a:pos x="128" y="7"/>
              </a:cxn>
              <a:cxn ang="0">
                <a:pos x="112" y="19"/>
              </a:cxn>
              <a:cxn ang="0">
                <a:pos x="108" y="24"/>
              </a:cxn>
              <a:cxn ang="0">
                <a:pos x="102" y="28"/>
              </a:cxn>
              <a:cxn ang="0">
                <a:pos x="96" y="36"/>
              </a:cxn>
              <a:cxn ang="0">
                <a:pos x="90" y="50"/>
              </a:cxn>
              <a:cxn ang="0">
                <a:pos x="80" y="70"/>
              </a:cxn>
              <a:cxn ang="0">
                <a:pos x="71" y="93"/>
              </a:cxn>
              <a:cxn ang="0">
                <a:pos x="64" y="110"/>
              </a:cxn>
              <a:cxn ang="0">
                <a:pos x="62" y="118"/>
              </a:cxn>
              <a:cxn ang="0">
                <a:pos x="25" y="93"/>
              </a:cxn>
              <a:cxn ang="0">
                <a:pos x="0" y="109"/>
              </a:cxn>
            </a:cxnLst>
            <a:rect l="0" t="0" r="r" b="b"/>
            <a:pathLst>
              <a:path w="139" h="150">
                <a:moveTo>
                  <a:pt x="0" y="109"/>
                </a:moveTo>
                <a:lnTo>
                  <a:pt x="74" y="150"/>
                </a:lnTo>
                <a:lnTo>
                  <a:pt x="76" y="141"/>
                </a:lnTo>
                <a:lnTo>
                  <a:pt x="82" y="120"/>
                </a:lnTo>
                <a:lnTo>
                  <a:pt x="86" y="101"/>
                </a:lnTo>
                <a:lnTo>
                  <a:pt x="88" y="97"/>
                </a:lnTo>
                <a:lnTo>
                  <a:pt x="89" y="94"/>
                </a:lnTo>
                <a:lnTo>
                  <a:pt x="93" y="77"/>
                </a:lnTo>
                <a:lnTo>
                  <a:pt x="96" y="66"/>
                </a:lnTo>
                <a:lnTo>
                  <a:pt x="100" y="56"/>
                </a:lnTo>
                <a:lnTo>
                  <a:pt x="104" y="46"/>
                </a:lnTo>
                <a:lnTo>
                  <a:pt x="108" y="39"/>
                </a:lnTo>
                <a:lnTo>
                  <a:pt x="116" y="27"/>
                </a:lnTo>
                <a:lnTo>
                  <a:pt x="126" y="14"/>
                </a:lnTo>
                <a:lnTo>
                  <a:pt x="134" y="4"/>
                </a:lnTo>
                <a:lnTo>
                  <a:pt x="139" y="0"/>
                </a:lnTo>
                <a:lnTo>
                  <a:pt x="128" y="7"/>
                </a:lnTo>
                <a:lnTo>
                  <a:pt x="112" y="19"/>
                </a:lnTo>
                <a:lnTo>
                  <a:pt x="108" y="24"/>
                </a:lnTo>
                <a:lnTo>
                  <a:pt x="102" y="28"/>
                </a:lnTo>
                <a:lnTo>
                  <a:pt x="96" y="36"/>
                </a:lnTo>
                <a:lnTo>
                  <a:pt x="90" y="50"/>
                </a:lnTo>
                <a:lnTo>
                  <a:pt x="80" y="70"/>
                </a:lnTo>
                <a:lnTo>
                  <a:pt x="71" y="93"/>
                </a:lnTo>
                <a:lnTo>
                  <a:pt x="64" y="110"/>
                </a:lnTo>
                <a:lnTo>
                  <a:pt x="62" y="118"/>
                </a:lnTo>
                <a:lnTo>
                  <a:pt x="25" y="93"/>
                </a:lnTo>
                <a:lnTo>
                  <a:pt x="0" y="109"/>
                </a:lnTo>
              </a:path>
            </a:pathLst>
          </a:custGeom>
          <a:noFill/>
          <a:ln w="4763">
            <a:solidFill>
              <a:srgbClr val="1F1A17"/>
            </a:solidFill>
            <a:prstDash val="solid"/>
            <a:round/>
            <a:headEnd/>
            <a:tailEnd/>
          </a:ln>
        </p:spPr>
        <p:txBody>
          <a:bodyPr/>
          <a:lstStyle/>
          <a:p>
            <a:endParaRPr lang="en-GB"/>
          </a:p>
        </p:txBody>
      </p:sp>
      <p:grpSp>
        <p:nvGrpSpPr>
          <p:cNvPr id="2" name="Group 32"/>
          <p:cNvGrpSpPr>
            <a:grpSpLocks/>
          </p:cNvGrpSpPr>
          <p:nvPr/>
        </p:nvGrpSpPr>
        <p:grpSpPr bwMode="auto">
          <a:xfrm>
            <a:off x="5764212" y="4911725"/>
            <a:ext cx="1236663" cy="1046163"/>
            <a:chOff x="3224" y="2084"/>
            <a:chExt cx="779" cy="659"/>
          </a:xfrm>
        </p:grpSpPr>
        <p:sp>
          <p:nvSpPr>
            <p:cNvPr id="174113" name="Rectangle 33"/>
            <p:cNvSpPr>
              <a:spLocks noChangeArrowheads="1"/>
            </p:cNvSpPr>
            <p:nvPr/>
          </p:nvSpPr>
          <p:spPr bwMode="auto">
            <a:xfrm>
              <a:off x="3355" y="2478"/>
              <a:ext cx="582" cy="144"/>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Use-Case </a:t>
              </a:r>
              <a:endParaRPr lang="en-CA" sz="1200" b="1">
                <a:solidFill>
                  <a:schemeClr val="bg2"/>
                </a:solidFill>
              </a:endParaRPr>
            </a:p>
          </p:txBody>
        </p:sp>
        <p:sp>
          <p:nvSpPr>
            <p:cNvPr id="174114" name="Rectangle 34"/>
            <p:cNvSpPr>
              <a:spLocks noChangeArrowheads="1"/>
            </p:cNvSpPr>
            <p:nvPr/>
          </p:nvSpPr>
          <p:spPr bwMode="auto">
            <a:xfrm>
              <a:off x="3456" y="2599"/>
              <a:ext cx="346" cy="144"/>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Model</a:t>
              </a:r>
              <a:endParaRPr lang="en-CA" sz="1200" b="1">
                <a:solidFill>
                  <a:schemeClr val="bg2"/>
                </a:solidFill>
              </a:endParaRPr>
            </a:p>
          </p:txBody>
        </p:sp>
        <p:sp>
          <p:nvSpPr>
            <p:cNvPr id="174115" name="Line 35"/>
            <p:cNvSpPr>
              <a:spLocks noChangeShapeType="1"/>
            </p:cNvSpPr>
            <p:nvPr/>
          </p:nvSpPr>
          <p:spPr bwMode="auto">
            <a:xfrm>
              <a:off x="3591" y="2259"/>
              <a:ext cx="45" cy="37"/>
            </a:xfrm>
            <a:prstGeom prst="line">
              <a:avLst/>
            </a:prstGeom>
            <a:noFill/>
            <a:ln w="12700">
              <a:solidFill>
                <a:srgbClr val="C3C3C2"/>
              </a:solidFill>
              <a:round/>
              <a:headEnd/>
              <a:tailEnd/>
            </a:ln>
          </p:spPr>
          <p:txBody>
            <a:bodyPr/>
            <a:lstStyle/>
            <a:p>
              <a:endParaRPr lang="en-GB"/>
            </a:p>
          </p:txBody>
        </p:sp>
        <p:sp>
          <p:nvSpPr>
            <p:cNvPr id="174116" name="Line 36"/>
            <p:cNvSpPr>
              <a:spLocks noChangeShapeType="1"/>
            </p:cNvSpPr>
            <p:nvPr/>
          </p:nvSpPr>
          <p:spPr bwMode="auto">
            <a:xfrm flipH="1">
              <a:off x="3751" y="2257"/>
              <a:ext cx="43" cy="39"/>
            </a:xfrm>
            <a:prstGeom prst="line">
              <a:avLst/>
            </a:prstGeom>
            <a:noFill/>
            <a:ln w="12700">
              <a:solidFill>
                <a:srgbClr val="C3C3C2"/>
              </a:solidFill>
              <a:round/>
              <a:headEnd/>
              <a:tailEnd/>
            </a:ln>
          </p:spPr>
          <p:txBody>
            <a:bodyPr/>
            <a:lstStyle/>
            <a:p>
              <a:endParaRPr lang="en-GB"/>
            </a:p>
          </p:txBody>
        </p:sp>
        <p:sp>
          <p:nvSpPr>
            <p:cNvPr id="174117" name="Line 37"/>
            <p:cNvSpPr>
              <a:spLocks noChangeShapeType="1"/>
            </p:cNvSpPr>
            <p:nvPr/>
          </p:nvSpPr>
          <p:spPr bwMode="auto">
            <a:xfrm>
              <a:off x="3359" y="2181"/>
              <a:ext cx="186" cy="1"/>
            </a:xfrm>
            <a:prstGeom prst="line">
              <a:avLst/>
            </a:prstGeom>
            <a:noFill/>
            <a:ln w="7938">
              <a:solidFill>
                <a:srgbClr val="C3C3C2"/>
              </a:solidFill>
              <a:round/>
              <a:headEnd/>
              <a:tailEnd/>
            </a:ln>
          </p:spPr>
          <p:txBody>
            <a:bodyPr/>
            <a:lstStyle/>
            <a:p>
              <a:endParaRPr lang="en-GB"/>
            </a:p>
          </p:txBody>
        </p:sp>
        <p:sp>
          <p:nvSpPr>
            <p:cNvPr id="174118" name="Freeform 38"/>
            <p:cNvSpPr>
              <a:spLocks/>
            </p:cNvSpPr>
            <p:nvPr/>
          </p:nvSpPr>
          <p:spPr bwMode="auto">
            <a:xfrm>
              <a:off x="3558" y="2130"/>
              <a:ext cx="264" cy="109"/>
            </a:xfrm>
            <a:custGeom>
              <a:avLst/>
              <a:gdLst/>
              <a:ahLst/>
              <a:cxnLst>
                <a:cxn ang="0">
                  <a:pos x="728" y="543"/>
                </a:cxn>
                <a:cxn ang="0">
                  <a:pos x="826" y="537"/>
                </a:cxn>
                <a:cxn ang="0">
                  <a:pos x="918" y="523"/>
                </a:cxn>
                <a:cxn ang="0">
                  <a:pos x="1004" y="506"/>
                </a:cxn>
                <a:cxn ang="0">
                  <a:pos x="1081" y="482"/>
                </a:cxn>
                <a:cxn ang="0">
                  <a:pos x="1150" y="456"/>
                </a:cxn>
                <a:cxn ang="0">
                  <a:pos x="1209" y="425"/>
                </a:cxn>
                <a:cxn ang="0">
                  <a:pos x="1257" y="390"/>
                </a:cxn>
                <a:cxn ang="0">
                  <a:pos x="1292" y="354"/>
                </a:cxn>
                <a:cxn ang="0">
                  <a:pos x="1314" y="314"/>
                </a:cxn>
                <a:cxn ang="0">
                  <a:pos x="1322" y="273"/>
                </a:cxn>
                <a:cxn ang="0">
                  <a:pos x="1314" y="230"/>
                </a:cxn>
                <a:cxn ang="0">
                  <a:pos x="1292" y="192"/>
                </a:cxn>
                <a:cxn ang="0">
                  <a:pos x="1257" y="154"/>
                </a:cxn>
                <a:cxn ang="0">
                  <a:pos x="1209" y="119"/>
                </a:cxn>
                <a:cxn ang="0">
                  <a:pos x="1150" y="89"/>
                </a:cxn>
                <a:cxn ang="0">
                  <a:pos x="1081" y="62"/>
                </a:cxn>
                <a:cxn ang="0">
                  <a:pos x="1004" y="39"/>
                </a:cxn>
                <a:cxn ang="0">
                  <a:pos x="918" y="21"/>
                </a:cxn>
                <a:cxn ang="0">
                  <a:pos x="826" y="8"/>
                </a:cxn>
                <a:cxn ang="0">
                  <a:pos x="728" y="1"/>
                </a:cxn>
                <a:cxn ang="0">
                  <a:pos x="627" y="0"/>
                </a:cxn>
                <a:cxn ang="0">
                  <a:pos x="529" y="5"/>
                </a:cxn>
                <a:cxn ang="0">
                  <a:pos x="434" y="16"/>
                </a:cxn>
                <a:cxn ang="0">
                  <a:pos x="347" y="33"/>
                </a:cxn>
                <a:cxn ang="0">
                  <a:pos x="266" y="54"/>
                </a:cxn>
                <a:cxn ang="0">
                  <a:pos x="194" y="79"/>
                </a:cxn>
                <a:cxn ang="0">
                  <a:pos x="131" y="109"/>
                </a:cxn>
                <a:cxn ang="0">
                  <a:pos x="80" y="143"/>
                </a:cxn>
                <a:cxn ang="0">
                  <a:pos x="40" y="178"/>
                </a:cxn>
                <a:cxn ang="0">
                  <a:pos x="14" y="217"/>
                </a:cxn>
                <a:cxn ang="0">
                  <a:pos x="1" y="258"/>
                </a:cxn>
                <a:cxn ang="0">
                  <a:pos x="4" y="300"/>
                </a:cxn>
                <a:cxn ang="0">
                  <a:pos x="21" y="340"/>
                </a:cxn>
                <a:cxn ang="0">
                  <a:pos x="52" y="378"/>
                </a:cxn>
                <a:cxn ang="0">
                  <a:pos x="96" y="414"/>
                </a:cxn>
                <a:cxn ang="0">
                  <a:pos x="151" y="446"/>
                </a:cxn>
                <a:cxn ang="0">
                  <a:pos x="217" y="473"/>
                </a:cxn>
                <a:cxn ang="0">
                  <a:pos x="292" y="498"/>
                </a:cxn>
                <a:cxn ang="0">
                  <a:pos x="375" y="518"/>
                </a:cxn>
                <a:cxn ang="0">
                  <a:pos x="465" y="532"/>
                </a:cxn>
                <a:cxn ang="0">
                  <a:pos x="561" y="542"/>
                </a:cxn>
                <a:cxn ang="0">
                  <a:pos x="661" y="545"/>
                </a:cxn>
              </a:cxnLst>
              <a:rect l="0" t="0" r="r" b="b"/>
              <a:pathLst>
                <a:path w="1322" h="545">
                  <a:moveTo>
                    <a:pt x="661" y="545"/>
                  </a:moveTo>
                  <a:lnTo>
                    <a:pt x="695" y="545"/>
                  </a:lnTo>
                  <a:lnTo>
                    <a:pt x="728" y="543"/>
                  </a:lnTo>
                  <a:lnTo>
                    <a:pt x="762" y="542"/>
                  </a:lnTo>
                  <a:lnTo>
                    <a:pt x="794" y="539"/>
                  </a:lnTo>
                  <a:lnTo>
                    <a:pt x="826" y="537"/>
                  </a:lnTo>
                  <a:lnTo>
                    <a:pt x="857" y="532"/>
                  </a:lnTo>
                  <a:lnTo>
                    <a:pt x="888" y="528"/>
                  </a:lnTo>
                  <a:lnTo>
                    <a:pt x="918" y="523"/>
                  </a:lnTo>
                  <a:lnTo>
                    <a:pt x="947" y="518"/>
                  </a:lnTo>
                  <a:lnTo>
                    <a:pt x="976" y="512"/>
                  </a:lnTo>
                  <a:lnTo>
                    <a:pt x="1004" y="506"/>
                  </a:lnTo>
                  <a:lnTo>
                    <a:pt x="1030" y="498"/>
                  </a:lnTo>
                  <a:lnTo>
                    <a:pt x="1056" y="490"/>
                  </a:lnTo>
                  <a:lnTo>
                    <a:pt x="1081" y="482"/>
                  </a:lnTo>
                  <a:lnTo>
                    <a:pt x="1105" y="473"/>
                  </a:lnTo>
                  <a:lnTo>
                    <a:pt x="1128" y="465"/>
                  </a:lnTo>
                  <a:lnTo>
                    <a:pt x="1150" y="456"/>
                  </a:lnTo>
                  <a:lnTo>
                    <a:pt x="1171" y="446"/>
                  </a:lnTo>
                  <a:lnTo>
                    <a:pt x="1190" y="436"/>
                  </a:lnTo>
                  <a:lnTo>
                    <a:pt x="1209" y="425"/>
                  </a:lnTo>
                  <a:lnTo>
                    <a:pt x="1226" y="414"/>
                  </a:lnTo>
                  <a:lnTo>
                    <a:pt x="1242" y="402"/>
                  </a:lnTo>
                  <a:lnTo>
                    <a:pt x="1257" y="390"/>
                  </a:lnTo>
                  <a:lnTo>
                    <a:pt x="1270" y="378"/>
                  </a:lnTo>
                  <a:lnTo>
                    <a:pt x="1282" y="366"/>
                  </a:lnTo>
                  <a:lnTo>
                    <a:pt x="1292" y="354"/>
                  </a:lnTo>
                  <a:lnTo>
                    <a:pt x="1301" y="340"/>
                  </a:lnTo>
                  <a:lnTo>
                    <a:pt x="1309" y="327"/>
                  </a:lnTo>
                  <a:lnTo>
                    <a:pt x="1314" y="314"/>
                  </a:lnTo>
                  <a:lnTo>
                    <a:pt x="1319" y="300"/>
                  </a:lnTo>
                  <a:lnTo>
                    <a:pt x="1321" y="286"/>
                  </a:lnTo>
                  <a:lnTo>
                    <a:pt x="1322" y="273"/>
                  </a:lnTo>
                  <a:lnTo>
                    <a:pt x="1321" y="258"/>
                  </a:lnTo>
                  <a:lnTo>
                    <a:pt x="1319" y="245"/>
                  </a:lnTo>
                  <a:lnTo>
                    <a:pt x="1314" y="230"/>
                  </a:lnTo>
                  <a:lnTo>
                    <a:pt x="1309" y="217"/>
                  </a:lnTo>
                  <a:lnTo>
                    <a:pt x="1301" y="204"/>
                  </a:lnTo>
                  <a:lnTo>
                    <a:pt x="1292" y="192"/>
                  </a:lnTo>
                  <a:lnTo>
                    <a:pt x="1282" y="178"/>
                  </a:lnTo>
                  <a:lnTo>
                    <a:pt x="1270" y="166"/>
                  </a:lnTo>
                  <a:lnTo>
                    <a:pt x="1257" y="154"/>
                  </a:lnTo>
                  <a:lnTo>
                    <a:pt x="1242" y="143"/>
                  </a:lnTo>
                  <a:lnTo>
                    <a:pt x="1226" y="131"/>
                  </a:lnTo>
                  <a:lnTo>
                    <a:pt x="1209" y="119"/>
                  </a:lnTo>
                  <a:lnTo>
                    <a:pt x="1190" y="109"/>
                  </a:lnTo>
                  <a:lnTo>
                    <a:pt x="1171" y="99"/>
                  </a:lnTo>
                  <a:lnTo>
                    <a:pt x="1150" y="89"/>
                  </a:lnTo>
                  <a:lnTo>
                    <a:pt x="1128" y="79"/>
                  </a:lnTo>
                  <a:lnTo>
                    <a:pt x="1105" y="71"/>
                  </a:lnTo>
                  <a:lnTo>
                    <a:pt x="1081" y="62"/>
                  </a:lnTo>
                  <a:lnTo>
                    <a:pt x="1056" y="54"/>
                  </a:lnTo>
                  <a:lnTo>
                    <a:pt x="1030" y="46"/>
                  </a:lnTo>
                  <a:lnTo>
                    <a:pt x="1004" y="39"/>
                  </a:lnTo>
                  <a:lnTo>
                    <a:pt x="976" y="33"/>
                  </a:lnTo>
                  <a:lnTo>
                    <a:pt x="947" y="26"/>
                  </a:lnTo>
                  <a:lnTo>
                    <a:pt x="918" y="21"/>
                  </a:lnTo>
                  <a:lnTo>
                    <a:pt x="888" y="16"/>
                  </a:lnTo>
                  <a:lnTo>
                    <a:pt x="857" y="12"/>
                  </a:lnTo>
                  <a:lnTo>
                    <a:pt x="826" y="8"/>
                  </a:lnTo>
                  <a:lnTo>
                    <a:pt x="794" y="5"/>
                  </a:lnTo>
                  <a:lnTo>
                    <a:pt x="762" y="3"/>
                  </a:lnTo>
                  <a:lnTo>
                    <a:pt x="728" y="1"/>
                  </a:lnTo>
                  <a:lnTo>
                    <a:pt x="695" y="0"/>
                  </a:lnTo>
                  <a:lnTo>
                    <a:pt x="661" y="0"/>
                  </a:lnTo>
                  <a:lnTo>
                    <a:pt x="627" y="0"/>
                  </a:lnTo>
                  <a:lnTo>
                    <a:pt x="594" y="1"/>
                  </a:lnTo>
                  <a:lnTo>
                    <a:pt x="561" y="3"/>
                  </a:lnTo>
                  <a:lnTo>
                    <a:pt x="529" y="5"/>
                  </a:lnTo>
                  <a:lnTo>
                    <a:pt x="496" y="8"/>
                  </a:lnTo>
                  <a:lnTo>
                    <a:pt x="465" y="12"/>
                  </a:lnTo>
                  <a:lnTo>
                    <a:pt x="434" y="16"/>
                  </a:lnTo>
                  <a:lnTo>
                    <a:pt x="404" y="21"/>
                  </a:lnTo>
                  <a:lnTo>
                    <a:pt x="375" y="26"/>
                  </a:lnTo>
                  <a:lnTo>
                    <a:pt x="347" y="33"/>
                  </a:lnTo>
                  <a:lnTo>
                    <a:pt x="319" y="39"/>
                  </a:lnTo>
                  <a:lnTo>
                    <a:pt x="292" y="46"/>
                  </a:lnTo>
                  <a:lnTo>
                    <a:pt x="266" y="54"/>
                  </a:lnTo>
                  <a:lnTo>
                    <a:pt x="241" y="62"/>
                  </a:lnTo>
                  <a:lnTo>
                    <a:pt x="217" y="71"/>
                  </a:lnTo>
                  <a:lnTo>
                    <a:pt x="194" y="79"/>
                  </a:lnTo>
                  <a:lnTo>
                    <a:pt x="172" y="89"/>
                  </a:lnTo>
                  <a:lnTo>
                    <a:pt x="151" y="99"/>
                  </a:lnTo>
                  <a:lnTo>
                    <a:pt x="131" y="109"/>
                  </a:lnTo>
                  <a:lnTo>
                    <a:pt x="113" y="119"/>
                  </a:lnTo>
                  <a:lnTo>
                    <a:pt x="96" y="131"/>
                  </a:lnTo>
                  <a:lnTo>
                    <a:pt x="80" y="143"/>
                  </a:lnTo>
                  <a:lnTo>
                    <a:pt x="66" y="154"/>
                  </a:lnTo>
                  <a:lnTo>
                    <a:pt x="52" y="166"/>
                  </a:lnTo>
                  <a:lnTo>
                    <a:pt x="40" y="178"/>
                  </a:lnTo>
                  <a:lnTo>
                    <a:pt x="30" y="192"/>
                  </a:lnTo>
                  <a:lnTo>
                    <a:pt x="21" y="204"/>
                  </a:lnTo>
                  <a:lnTo>
                    <a:pt x="14" y="217"/>
                  </a:lnTo>
                  <a:lnTo>
                    <a:pt x="8" y="230"/>
                  </a:lnTo>
                  <a:lnTo>
                    <a:pt x="4" y="245"/>
                  </a:lnTo>
                  <a:lnTo>
                    <a:pt x="1" y="258"/>
                  </a:lnTo>
                  <a:lnTo>
                    <a:pt x="0" y="273"/>
                  </a:lnTo>
                  <a:lnTo>
                    <a:pt x="1" y="286"/>
                  </a:lnTo>
                  <a:lnTo>
                    <a:pt x="4" y="300"/>
                  </a:lnTo>
                  <a:lnTo>
                    <a:pt x="8" y="314"/>
                  </a:lnTo>
                  <a:lnTo>
                    <a:pt x="14" y="327"/>
                  </a:lnTo>
                  <a:lnTo>
                    <a:pt x="21" y="340"/>
                  </a:lnTo>
                  <a:lnTo>
                    <a:pt x="30" y="354"/>
                  </a:lnTo>
                  <a:lnTo>
                    <a:pt x="40" y="366"/>
                  </a:lnTo>
                  <a:lnTo>
                    <a:pt x="52" y="378"/>
                  </a:lnTo>
                  <a:lnTo>
                    <a:pt x="66" y="390"/>
                  </a:lnTo>
                  <a:lnTo>
                    <a:pt x="80" y="402"/>
                  </a:lnTo>
                  <a:lnTo>
                    <a:pt x="96" y="414"/>
                  </a:lnTo>
                  <a:lnTo>
                    <a:pt x="113" y="425"/>
                  </a:lnTo>
                  <a:lnTo>
                    <a:pt x="131" y="436"/>
                  </a:lnTo>
                  <a:lnTo>
                    <a:pt x="151" y="446"/>
                  </a:lnTo>
                  <a:lnTo>
                    <a:pt x="172" y="456"/>
                  </a:lnTo>
                  <a:lnTo>
                    <a:pt x="194" y="465"/>
                  </a:lnTo>
                  <a:lnTo>
                    <a:pt x="217" y="473"/>
                  </a:lnTo>
                  <a:lnTo>
                    <a:pt x="241" y="482"/>
                  </a:lnTo>
                  <a:lnTo>
                    <a:pt x="266" y="490"/>
                  </a:lnTo>
                  <a:lnTo>
                    <a:pt x="292" y="498"/>
                  </a:lnTo>
                  <a:lnTo>
                    <a:pt x="319" y="506"/>
                  </a:lnTo>
                  <a:lnTo>
                    <a:pt x="347" y="512"/>
                  </a:lnTo>
                  <a:lnTo>
                    <a:pt x="375" y="518"/>
                  </a:lnTo>
                  <a:lnTo>
                    <a:pt x="404" y="523"/>
                  </a:lnTo>
                  <a:lnTo>
                    <a:pt x="434" y="528"/>
                  </a:lnTo>
                  <a:lnTo>
                    <a:pt x="465" y="532"/>
                  </a:lnTo>
                  <a:lnTo>
                    <a:pt x="496" y="537"/>
                  </a:lnTo>
                  <a:lnTo>
                    <a:pt x="529" y="539"/>
                  </a:lnTo>
                  <a:lnTo>
                    <a:pt x="561" y="542"/>
                  </a:lnTo>
                  <a:lnTo>
                    <a:pt x="594" y="543"/>
                  </a:lnTo>
                  <a:lnTo>
                    <a:pt x="627" y="545"/>
                  </a:lnTo>
                  <a:lnTo>
                    <a:pt x="661" y="545"/>
                  </a:lnTo>
                  <a:close/>
                </a:path>
              </a:pathLst>
            </a:custGeom>
            <a:solidFill>
              <a:srgbClr val="C3C3C2"/>
            </a:solidFill>
            <a:ln w="9525">
              <a:noFill/>
              <a:round/>
              <a:headEnd/>
              <a:tailEnd/>
            </a:ln>
          </p:spPr>
          <p:txBody>
            <a:bodyPr/>
            <a:lstStyle/>
            <a:p>
              <a:endParaRPr lang="en-GB"/>
            </a:p>
          </p:txBody>
        </p:sp>
        <p:sp>
          <p:nvSpPr>
            <p:cNvPr id="174119" name="Freeform 39"/>
            <p:cNvSpPr>
              <a:spLocks/>
            </p:cNvSpPr>
            <p:nvPr/>
          </p:nvSpPr>
          <p:spPr bwMode="auto">
            <a:xfrm>
              <a:off x="3558" y="2130"/>
              <a:ext cx="264" cy="109"/>
            </a:xfrm>
            <a:custGeom>
              <a:avLst/>
              <a:gdLst/>
              <a:ahLst/>
              <a:cxnLst>
                <a:cxn ang="0">
                  <a:pos x="728" y="543"/>
                </a:cxn>
                <a:cxn ang="0">
                  <a:pos x="826" y="537"/>
                </a:cxn>
                <a:cxn ang="0">
                  <a:pos x="918" y="523"/>
                </a:cxn>
                <a:cxn ang="0">
                  <a:pos x="1004" y="506"/>
                </a:cxn>
                <a:cxn ang="0">
                  <a:pos x="1081" y="482"/>
                </a:cxn>
                <a:cxn ang="0">
                  <a:pos x="1150" y="456"/>
                </a:cxn>
                <a:cxn ang="0">
                  <a:pos x="1209" y="425"/>
                </a:cxn>
                <a:cxn ang="0">
                  <a:pos x="1257" y="390"/>
                </a:cxn>
                <a:cxn ang="0">
                  <a:pos x="1292" y="354"/>
                </a:cxn>
                <a:cxn ang="0">
                  <a:pos x="1314" y="314"/>
                </a:cxn>
                <a:cxn ang="0">
                  <a:pos x="1322" y="273"/>
                </a:cxn>
                <a:cxn ang="0">
                  <a:pos x="1314" y="230"/>
                </a:cxn>
                <a:cxn ang="0">
                  <a:pos x="1292" y="192"/>
                </a:cxn>
                <a:cxn ang="0">
                  <a:pos x="1257" y="154"/>
                </a:cxn>
                <a:cxn ang="0">
                  <a:pos x="1209" y="119"/>
                </a:cxn>
                <a:cxn ang="0">
                  <a:pos x="1150" y="89"/>
                </a:cxn>
                <a:cxn ang="0">
                  <a:pos x="1081" y="62"/>
                </a:cxn>
                <a:cxn ang="0">
                  <a:pos x="1004" y="39"/>
                </a:cxn>
                <a:cxn ang="0">
                  <a:pos x="918" y="21"/>
                </a:cxn>
                <a:cxn ang="0">
                  <a:pos x="826" y="8"/>
                </a:cxn>
                <a:cxn ang="0">
                  <a:pos x="728" y="1"/>
                </a:cxn>
                <a:cxn ang="0">
                  <a:pos x="627" y="0"/>
                </a:cxn>
                <a:cxn ang="0">
                  <a:pos x="529" y="5"/>
                </a:cxn>
                <a:cxn ang="0">
                  <a:pos x="434" y="16"/>
                </a:cxn>
                <a:cxn ang="0">
                  <a:pos x="347" y="33"/>
                </a:cxn>
                <a:cxn ang="0">
                  <a:pos x="266" y="54"/>
                </a:cxn>
                <a:cxn ang="0">
                  <a:pos x="194" y="79"/>
                </a:cxn>
                <a:cxn ang="0">
                  <a:pos x="131" y="109"/>
                </a:cxn>
                <a:cxn ang="0">
                  <a:pos x="80" y="143"/>
                </a:cxn>
                <a:cxn ang="0">
                  <a:pos x="40" y="178"/>
                </a:cxn>
                <a:cxn ang="0">
                  <a:pos x="14" y="217"/>
                </a:cxn>
                <a:cxn ang="0">
                  <a:pos x="1" y="258"/>
                </a:cxn>
                <a:cxn ang="0">
                  <a:pos x="4" y="300"/>
                </a:cxn>
                <a:cxn ang="0">
                  <a:pos x="21" y="340"/>
                </a:cxn>
                <a:cxn ang="0">
                  <a:pos x="52" y="378"/>
                </a:cxn>
                <a:cxn ang="0">
                  <a:pos x="96" y="414"/>
                </a:cxn>
                <a:cxn ang="0">
                  <a:pos x="151" y="446"/>
                </a:cxn>
                <a:cxn ang="0">
                  <a:pos x="217" y="473"/>
                </a:cxn>
                <a:cxn ang="0">
                  <a:pos x="292" y="498"/>
                </a:cxn>
                <a:cxn ang="0">
                  <a:pos x="375" y="518"/>
                </a:cxn>
                <a:cxn ang="0">
                  <a:pos x="465" y="532"/>
                </a:cxn>
                <a:cxn ang="0">
                  <a:pos x="561" y="542"/>
                </a:cxn>
                <a:cxn ang="0">
                  <a:pos x="661" y="545"/>
                </a:cxn>
              </a:cxnLst>
              <a:rect l="0" t="0" r="r" b="b"/>
              <a:pathLst>
                <a:path w="1322" h="545">
                  <a:moveTo>
                    <a:pt x="661" y="545"/>
                  </a:moveTo>
                  <a:lnTo>
                    <a:pt x="695" y="545"/>
                  </a:lnTo>
                  <a:lnTo>
                    <a:pt x="728" y="543"/>
                  </a:lnTo>
                  <a:lnTo>
                    <a:pt x="762" y="542"/>
                  </a:lnTo>
                  <a:lnTo>
                    <a:pt x="794" y="539"/>
                  </a:lnTo>
                  <a:lnTo>
                    <a:pt x="826" y="537"/>
                  </a:lnTo>
                  <a:lnTo>
                    <a:pt x="857" y="532"/>
                  </a:lnTo>
                  <a:lnTo>
                    <a:pt x="888" y="528"/>
                  </a:lnTo>
                  <a:lnTo>
                    <a:pt x="918" y="523"/>
                  </a:lnTo>
                  <a:lnTo>
                    <a:pt x="947" y="518"/>
                  </a:lnTo>
                  <a:lnTo>
                    <a:pt x="976" y="512"/>
                  </a:lnTo>
                  <a:lnTo>
                    <a:pt x="1004" y="506"/>
                  </a:lnTo>
                  <a:lnTo>
                    <a:pt x="1030" y="498"/>
                  </a:lnTo>
                  <a:lnTo>
                    <a:pt x="1056" y="490"/>
                  </a:lnTo>
                  <a:lnTo>
                    <a:pt x="1081" y="482"/>
                  </a:lnTo>
                  <a:lnTo>
                    <a:pt x="1105" y="473"/>
                  </a:lnTo>
                  <a:lnTo>
                    <a:pt x="1128" y="465"/>
                  </a:lnTo>
                  <a:lnTo>
                    <a:pt x="1150" y="456"/>
                  </a:lnTo>
                  <a:lnTo>
                    <a:pt x="1171" y="446"/>
                  </a:lnTo>
                  <a:lnTo>
                    <a:pt x="1190" y="436"/>
                  </a:lnTo>
                  <a:lnTo>
                    <a:pt x="1209" y="425"/>
                  </a:lnTo>
                  <a:lnTo>
                    <a:pt x="1226" y="414"/>
                  </a:lnTo>
                  <a:lnTo>
                    <a:pt x="1242" y="402"/>
                  </a:lnTo>
                  <a:lnTo>
                    <a:pt x="1257" y="390"/>
                  </a:lnTo>
                  <a:lnTo>
                    <a:pt x="1270" y="378"/>
                  </a:lnTo>
                  <a:lnTo>
                    <a:pt x="1282" y="366"/>
                  </a:lnTo>
                  <a:lnTo>
                    <a:pt x="1292" y="354"/>
                  </a:lnTo>
                  <a:lnTo>
                    <a:pt x="1301" y="340"/>
                  </a:lnTo>
                  <a:lnTo>
                    <a:pt x="1309" y="327"/>
                  </a:lnTo>
                  <a:lnTo>
                    <a:pt x="1314" y="314"/>
                  </a:lnTo>
                  <a:lnTo>
                    <a:pt x="1319" y="300"/>
                  </a:lnTo>
                  <a:lnTo>
                    <a:pt x="1321" y="286"/>
                  </a:lnTo>
                  <a:lnTo>
                    <a:pt x="1322" y="273"/>
                  </a:lnTo>
                  <a:lnTo>
                    <a:pt x="1321" y="258"/>
                  </a:lnTo>
                  <a:lnTo>
                    <a:pt x="1319" y="245"/>
                  </a:lnTo>
                  <a:lnTo>
                    <a:pt x="1314" y="230"/>
                  </a:lnTo>
                  <a:lnTo>
                    <a:pt x="1309" y="217"/>
                  </a:lnTo>
                  <a:lnTo>
                    <a:pt x="1301" y="204"/>
                  </a:lnTo>
                  <a:lnTo>
                    <a:pt x="1292" y="192"/>
                  </a:lnTo>
                  <a:lnTo>
                    <a:pt x="1282" y="178"/>
                  </a:lnTo>
                  <a:lnTo>
                    <a:pt x="1270" y="166"/>
                  </a:lnTo>
                  <a:lnTo>
                    <a:pt x="1257" y="154"/>
                  </a:lnTo>
                  <a:lnTo>
                    <a:pt x="1242" y="143"/>
                  </a:lnTo>
                  <a:lnTo>
                    <a:pt x="1226" y="131"/>
                  </a:lnTo>
                  <a:lnTo>
                    <a:pt x="1209" y="119"/>
                  </a:lnTo>
                  <a:lnTo>
                    <a:pt x="1190" y="109"/>
                  </a:lnTo>
                  <a:lnTo>
                    <a:pt x="1171" y="99"/>
                  </a:lnTo>
                  <a:lnTo>
                    <a:pt x="1150" y="89"/>
                  </a:lnTo>
                  <a:lnTo>
                    <a:pt x="1128" y="79"/>
                  </a:lnTo>
                  <a:lnTo>
                    <a:pt x="1105" y="71"/>
                  </a:lnTo>
                  <a:lnTo>
                    <a:pt x="1081" y="62"/>
                  </a:lnTo>
                  <a:lnTo>
                    <a:pt x="1056" y="54"/>
                  </a:lnTo>
                  <a:lnTo>
                    <a:pt x="1030" y="46"/>
                  </a:lnTo>
                  <a:lnTo>
                    <a:pt x="1004" y="39"/>
                  </a:lnTo>
                  <a:lnTo>
                    <a:pt x="976" y="33"/>
                  </a:lnTo>
                  <a:lnTo>
                    <a:pt x="947" y="26"/>
                  </a:lnTo>
                  <a:lnTo>
                    <a:pt x="918" y="21"/>
                  </a:lnTo>
                  <a:lnTo>
                    <a:pt x="888" y="16"/>
                  </a:lnTo>
                  <a:lnTo>
                    <a:pt x="857" y="12"/>
                  </a:lnTo>
                  <a:lnTo>
                    <a:pt x="826" y="8"/>
                  </a:lnTo>
                  <a:lnTo>
                    <a:pt x="794" y="5"/>
                  </a:lnTo>
                  <a:lnTo>
                    <a:pt x="762" y="3"/>
                  </a:lnTo>
                  <a:lnTo>
                    <a:pt x="728" y="1"/>
                  </a:lnTo>
                  <a:lnTo>
                    <a:pt x="695" y="0"/>
                  </a:lnTo>
                  <a:lnTo>
                    <a:pt x="661" y="0"/>
                  </a:lnTo>
                  <a:lnTo>
                    <a:pt x="627" y="0"/>
                  </a:lnTo>
                  <a:lnTo>
                    <a:pt x="594" y="1"/>
                  </a:lnTo>
                  <a:lnTo>
                    <a:pt x="561" y="3"/>
                  </a:lnTo>
                  <a:lnTo>
                    <a:pt x="529" y="5"/>
                  </a:lnTo>
                  <a:lnTo>
                    <a:pt x="496" y="8"/>
                  </a:lnTo>
                  <a:lnTo>
                    <a:pt x="465" y="12"/>
                  </a:lnTo>
                  <a:lnTo>
                    <a:pt x="434" y="16"/>
                  </a:lnTo>
                  <a:lnTo>
                    <a:pt x="404" y="21"/>
                  </a:lnTo>
                  <a:lnTo>
                    <a:pt x="375" y="26"/>
                  </a:lnTo>
                  <a:lnTo>
                    <a:pt x="347" y="33"/>
                  </a:lnTo>
                  <a:lnTo>
                    <a:pt x="319" y="39"/>
                  </a:lnTo>
                  <a:lnTo>
                    <a:pt x="292" y="46"/>
                  </a:lnTo>
                  <a:lnTo>
                    <a:pt x="266" y="54"/>
                  </a:lnTo>
                  <a:lnTo>
                    <a:pt x="241" y="62"/>
                  </a:lnTo>
                  <a:lnTo>
                    <a:pt x="217" y="71"/>
                  </a:lnTo>
                  <a:lnTo>
                    <a:pt x="194" y="79"/>
                  </a:lnTo>
                  <a:lnTo>
                    <a:pt x="172" y="89"/>
                  </a:lnTo>
                  <a:lnTo>
                    <a:pt x="151" y="99"/>
                  </a:lnTo>
                  <a:lnTo>
                    <a:pt x="131" y="109"/>
                  </a:lnTo>
                  <a:lnTo>
                    <a:pt x="113" y="119"/>
                  </a:lnTo>
                  <a:lnTo>
                    <a:pt x="96" y="131"/>
                  </a:lnTo>
                  <a:lnTo>
                    <a:pt x="80" y="143"/>
                  </a:lnTo>
                  <a:lnTo>
                    <a:pt x="66" y="154"/>
                  </a:lnTo>
                  <a:lnTo>
                    <a:pt x="52" y="166"/>
                  </a:lnTo>
                  <a:lnTo>
                    <a:pt x="40" y="178"/>
                  </a:lnTo>
                  <a:lnTo>
                    <a:pt x="30" y="192"/>
                  </a:lnTo>
                  <a:lnTo>
                    <a:pt x="21" y="204"/>
                  </a:lnTo>
                  <a:lnTo>
                    <a:pt x="14" y="217"/>
                  </a:lnTo>
                  <a:lnTo>
                    <a:pt x="8" y="230"/>
                  </a:lnTo>
                  <a:lnTo>
                    <a:pt x="4" y="245"/>
                  </a:lnTo>
                  <a:lnTo>
                    <a:pt x="1" y="258"/>
                  </a:lnTo>
                  <a:lnTo>
                    <a:pt x="0" y="273"/>
                  </a:lnTo>
                  <a:lnTo>
                    <a:pt x="1" y="286"/>
                  </a:lnTo>
                  <a:lnTo>
                    <a:pt x="4" y="300"/>
                  </a:lnTo>
                  <a:lnTo>
                    <a:pt x="8" y="314"/>
                  </a:lnTo>
                  <a:lnTo>
                    <a:pt x="14" y="327"/>
                  </a:lnTo>
                  <a:lnTo>
                    <a:pt x="21" y="340"/>
                  </a:lnTo>
                  <a:lnTo>
                    <a:pt x="30" y="354"/>
                  </a:lnTo>
                  <a:lnTo>
                    <a:pt x="40" y="366"/>
                  </a:lnTo>
                  <a:lnTo>
                    <a:pt x="52" y="378"/>
                  </a:lnTo>
                  <a:lnTo>
                    <a:pt x="66" y="390"/>
                  </a:lnTo>
                  <a:lnTo>
                    <a:pt x="80" y="402"/>
                  </a:lnTo>
                  <a:lnTo>
                    <a:pt x="96" y="414"/>
                  </a:lnTo>
                  <a:lnTo>
                    <a:pt x="113" y="425"/>
                  </a:lnTo>
                  <a:lnTo>
                    <a:pt x="131" y="436"/>
                  </a:lnTo>
                  <a:lnTo>
                    <a:pt x="151" y="446"/>
                  </a:lnTo>
                  <a:lnTo>
                    <a:pt x="172" y="456"/>
                  </a:lnTo>
                  <a:lnTo>
                    <a:pt x="194" y="465"/>
                  </a:lnTo>
                  <a:lnTo>
                    <a:pt x="217" y="473"/>
                  </a:lnTo>
                  <a:lnTo>
                    <a:pt x="241" y="482"/>
                  </a:lnTo>
                  <a:lnTo>
                    <a:pt x="266" y="490"/>
                  </a:lnTo>
                  <a:lnTo>
                    <a:pt x="292" y="498"/>
                  </a:lnTo>
                  <a:lnTo>
                    <a:pt x="319" y="506"/>
                  </a:lnTo>
                  <a:lnTo>
                    <a:pt x="347" y="512"/>
                  </a:lnTo>
                  <a:lnTo>
                    <a:pt x="375" y="518"/>
                  </a:lnTo>
                  <a:lnTo>
                    <a:pt x="404" y="523"/>
                  </a:lnTo>
                  <a:lnTo>
                    <a:pt x="434" y="528"/>
                  </a:lnTo>
                  <a:lnTo>
                    <a:pt x="465" y="532"/>
                  </a:lnTo>
                  <a:lnTo>
                    <a:pt x="496" y="537"/>
                  </a:lnTo>
                  <a:lnTo>
                    <a:pt x="529" y="539"/>
                  </a:lnTo>
                  <a:lnTo>
                    <a:pt x="561" y="542"/>
                  </a:lnTo>
                  <a:lnTo>
                    <a:pt x="594" y="543"/>
                  </a:lnTo>
                  <a:lnTo>
                    <a:pt x="627" y="545"/>
                  </a:lnTo>
                  <a:lnTo>
                    <a:pt x="661" y="545"/>
                  </a:lnTo>
                </a:path>
              </a:pathLst>
            </a:custGeom>
            <a:noFill/>
            <a:ln w="7938">
              <a:solidFill>
                <a:srgbClr val="C3C3C2"/>
              </a:solidFill>
              <a:prstDash val="solid"/>
              <a:round/>
              <a:headEnd/>
              <a:tailEnd/>
            </a:ln>
          </p:spPr>
          <p:txBody>
            <a:bodyPr/>
            <a:lstStyle/>
            <a:p>
              <a:endParaRPr lang="en-GB"/>
            </a:p>
          </p:txBody>
        </p:sp>
        <p:sp>
          <p:nvSpPr>
            <p:cNvPr id="174120" name="Line 40"/>
            <p:cNvSpPr>
              <a:spLocks noChangeShapeType="1"/>
            </p:cNvSpPr>
            <p:nvPr/>
          </p:nvSpPr>
          <p:spPr bwMode="auto">
            <a:xfrm flipV="1">
              <a:off x="3511" y="2237"/>
              <a:ext cx="137" cy="158"/>
            </a:xfrm>
            <a:prstGeom prst="line">
              <a:avLst/>
            </a:prstGeom>
            <a:noFill/>
            <a:ln w="0">
              <a:solidFill>
                <a:srgbClr val="C2C1C1"/>
              </a:solidFill>
              <a:round/>
              <a:headEnd/>
              <a:tailEnd/>
            </a:ln>
          </p:spPr>
          <p:txBody>
            <a:bodyPr/>
            <a:lstStyle/>
            <a:p>
              <a:endParaRPr lang="en-GB"/>
            </a:p>
          </p:txBody>
        </p:sp>
        <p:sp>
          <p:nvSpPr>
            <p:cNvPr id="174121" name="Freeform 41"/>
            <p:cNvSpPr>
              <a:spLocks/>
            </p:cNvSpPr>
            <p:nvPr/>
          </p:nvSpPr>
          <p:spPr bwMode="auto">
            <a:xfrm>
              <a:off x="3589" y="2242"/>
              <a:ext cx="54" cy="57"/>
            </a:xfrm>
            <a:custGeom>
              <a:avLst/>
              <a:gdLst/>
              <a:ahLst/>
              <a:cxnLst>
                <a:cxn ang="0">
                  <a:pos x="0" y="79"/>
                </a:cxn>
                <a:cxn ang="0">
                  <a:pos x="273" y="0"/>
                </a:cxn>
                <a:cxn ang="0">
                  <a:pos x="234" y="281"/>
                </a:cxn>
              </a:cxnLst>
              <a:rect l="0" t="0" r="r" b="b"/>
              <a:pathLst>
                <a:path w="273" h="281">
                  <a:moveTo>
                    <a:pt x="0" y="79"/>
                  </a:moveTo>
                  <a:lnTo>
                    <a:pt x="273" y="0"/>
                  </a:lnTo>
                  <a:lnTo>
                    <a:pt x="234" y="281"/>
                  </a:lnTo>
                </a:path>
              </a:pathLst>
            </a:custGeom>
            <a:noFill/>
            <a:ln w="0">
              <a:solidFill>
                <a:srgbClr val="C2C1C1"/>
              </a:solidFill>
              <a:prstDash val="solid"/>
              <a:round/>
              <a:headEnd/>
              <a:tailEnd/>
            </a:ln>
          </p:spPr>
          <p:txBody>
            <a:bodyPr/>
            <a:lstStyle/>
            <a:p>
              <a:endParaRPr lang="en-GB"/>
            </a:p>
          </p:txBody>
        </p:sp>
        <p:sp>
          <p:nvSpPr>
            <p:cNvPr id="174122" name="Line 42"/>
            <p:cNvSpPr>
              <a:spLocks noChangeShapeType="1"/>
            </p:cNvSpPr>
            <p:nvPr/>
          </p:nvSpPr>
          <p:spPr bwMode="auto">
            <a:xfrm flipH="1" flipV="1">
              <a:off x="3736" y="2237"/>
              <a:ext cx="150" cy="167"/>
            </a:xfrm>
            <a:prstGeom prst="line">
              <a:avLst/>
            </a:prstGeom>
            <a:noFill/>
            <a:ln w="0">
              <a:solidFill>
                <a:srgbClr val="C2C1C1"/>
              </a:solidFill>
              <a:round/>
              <a:headEnd/>
              <a:tailEnd/>
            </a:ln>
          </p:spPr>
          <p:txBody>
            <a:bodyPr/>
            <a:lstStyle/>
            <a:p>
              <a:endParaRPr lang="en-GB"/>
            </a:p>
          </p:txBody>
        </p:sp>
        <p:sp>
          <p:nvSpPr>
            <p:cNvPr id="174123" name="Freeform 43"/>
            <p:cNvSpPr>
              <a:spLocks/>
            </p:cNvSpPr>
            <p:nvPr/>
          </p:nvSpPr>
          <p:spPr bwMode="auto">
            <a:xfrm>
              <a:off x="3741" y="2242"/>
              <a:ext cx="54" cy="56"/>
            </a:xfrm>
            <a:custGeom>
              <a:avLst/>
              <a:gdLst/>
              <a:ahLst/>
              <a:cxnLst>
                <a:cxn ang="0">
                  <a:pos x="45" y="281"/>
                </a:cxn>
                <a:cxn ang="0">
                  <a:pos x="0" y="0"/>
                </a:cxn>
                <a:cxn ang="0">
                  <a:pos x="274" y="73"/>
                </a:cxn>
              </a:cxnLst>
              <a:rect l="0" t="0" r="r" b="b"/>
              <a:pathLst>
                <a:path w="274" h="281">
                  <a:moveTo>
                    <a:pt x="45" y="281"/>
                  </a:moveTo>
                  <a:lnTo>
                    <a:pt x="0" y="0"/>
                  </a:lnTo>
                  <a:lnTo>
                    <a:pt x="274" y="73"/>
                  </a:lnTo>
                </a:path>
              </a:pathLst>
            </a:custGeom>
            <a:noFill/>
            <a:ln w="0">
              <a:solidFill>
                <a:srgbClr val="C2C1C1"/>
              </a:solidFill>
              <a:prstDash val="solid"/>
              <a:round/>
              <a:headEnd/>
              <a:tailEnd/>
            </a:ln>
          </p:spPr>
          <p:txBody>
            <a:bodyPr/>
            <a:lstStyle/>
            <a:p>
              <a:endParaRPr lang="en-GB"/>
            </a:p>
          </p:txBody>
        </p:sp>
        <p:sp>
          <p:nvSpPr>
            <p:cNvPr id="174124" name="Freeform 44"/>
            <p:cNvSpPr>
              <a:spLocks/>
            </p:cNvSpPr>
            <p:nvPr/>
          </p:nvSpPr>
          <p:spPr bwMode="auto">
            <a:xfrm>
              <a:off x="3739" y="2358"/>
              <a:ext cx="264" cy="109"/>
            </a:xfrm>
            <a:custGeom>
              <a:avLst/>
              <a:gdLst/>
              <a:ahLst/>
              <a:cxnLst>
                <a:cxn ang="0">
                  <a:pos x="728" y="544"/>
                </a:cxn>
                <a:cxn ang="0">
                  <a:pos x="825" y="537"/>
                </a:cxn>
                <a:cxn ang="0">
                  <a:pos x="917" y="524"/>
                </a:cxn>
                <a:cxn ang="0">
                  <a:pos x="1002" y="506"/>
                </a:cxn>
                <a:cxn ang="0">
                  <a:pos x="1080" y="483"/>
                </a:cxn>
                <a:cxn ang="0">
                  <a:pos x="1149" y="456"/>
                </a:cxn>
                <a:cxn ang="0">
                  <a:pos x="1209" y="425"/>
                </a:cxn>
                <a:cxn ang="0">
                  <a:pos x="1256" y="390"/>
                </a:cxn>
                <a:cxn ang="0">
                  <a:pos x="1292" y="354"/>
                </a:cxn>
                <a:cxn ang="0">
                  <a:pos x="1314" y="314"/>
                </a:cxn>
                <a:cxn ang="0">
                  <a:pos x="1322" y="273"/>
                </a:cxn>
                <a:cxn ang="0">
                  <a:pos x="1314" y="231"/>
                </a:cxn>
                <a:cxn ang="0">
                  <a:pos x="1292" y="192"/>
                </a:cxn>
                <a:cxn ang="0">
                  <a:pos x="1256" y="154"/>
                </a:cxn>
                <a:cxn ang="0">
                  <a:pos x="1209" y="121"/>
                </a:cxn>
                <a:cxn ang="0">
                  <a:pos x="1149" y="90"/>
                </a:cxn>
                <a:cxn ang="0">
                  <a:pos x="1080" y="62"/>
                </a:cxn>
                <a:cxn ang="0">
                  <a:pos x="1002" y="40"/>
                </a:cxn>
                <a:cxn ang="0">
                  <a:pos x="917" y="21"/>
                </a:cxn>
                <a:cxn ang="0">
                  <a:pos x="825" y="9"/>
                </a:cxn>
                <a:cxn ang="0">
                  <a:pos x="728" y="1"/>
                </a:cxn>
                <a:cxn ang="0">
                  <a:pos x="626" y="0"/>
                </a:cxn>
                <a:cxn ang="0">
                  <a:pos x="527" y="5"/>
                </a:cxn>
                <a:cxn ang="0">
                  <a:pos x="434" y="16"/>
                </a:cxn>
                <a:cxn ang="0">
                  <a:pos x="346" y="33"/>
                </a:cxn>
                <a:cxn ang="0">
                  <a:pos x="265" y="54"/>
                </a:cxn>
                <a:cxn ang="0">
                  <a:pos x="193" y="80"/>
                </a:cxn>
                <a:cxn ang="0">
                  <a:pos x="131" y="110"/>
                </a:cxn>
                <a:cxn ang="0">
                  <a:pos x="80" y="143"/>
                </a:cxn>
                <a:cxn ang="0">
                  <a:pos x="40" y="178"/>
                </a:cxn>
                <a:cxn ang="0">
                  <a:pos x="13" y="217"/>
                </a:cxn>
                <a:cxn ang="0">
                  <a:pos x="0" y="258"/>
                </a:cxn>
                <a:cxn ang="0">
                  <a:pos x="3" y="301"/>
                </a:cxn>
                <a:cxn ang="0">
                  <a:pos x="20" y="340"/>
                </a:cxn>
                <a:cxn ang="0">
                  <a:pos x="51" y="378"/>
                </a:cxn>
                <a:cxn ang="0">
                  <a:pos x="95" y="414"/>
                </a:cxn>
                <a:cxn ang="0">
                  <a:pos x="151" y="446"/>
                </a:cxn>
                <a:cxn ang="0">
                  <a:pos x="216" y="474"/>
                </a:cxn>
                <a:cxn ang="0">
                  <a:pos x="291" y="498"/>
                </a:cxn>
                <a:cxn ang="0">
                  <a:pos x="374" y="518"/>
                </a:cxn>
                <a:cxn ang="0">
                  <a:pos x="464" y="533"/>
                </a:cxn>
                <a:cxn ang="0">
                  <a:pos x="559" y="543"/>
                </a:cxn>
                <a:cxn ang="0">
                  <a:pos x="660" y="545"/>
                </a:cxn>
              </a:cxnLst>
              <a:rect l="0" t="0" r="r" b="b"/>
              <a:pathLst>
                <a:path w="1322" h="545">
                  <a:moveTo>
                    <a:pt x="660" y="545"/>
                  </a:moveTo>
                  <a:lnTo>
                    <a:pt x="695" y="545"/>
                  </a:lnTo>
                  <a:lnTo>
                    <a:pt x="728" y="544"/>
                  </a:lnTo>
                  <a:lnTo>
                    <a:pt x="760" y="543"/>
                  </a:lnTo>
                  <a:lnTo>
                    <a:pt x="793" y="539"/>
                  </a:lnTo>
                  <a:lnTo>
                    <a:pt x="825" y="537"/>
                  </a:lnTo>
                  <a:lnTo>
                    <a:pt x="857" y="533"/>
                  </a:lnTo>
                  <a:lnTo>
                    <a:pt x="887" y="529"/>
                  </a:lnTo>
                  <a:lnTo>
                    <a:pt x="917" y="524"/>
                  </a:lnTo>
                  <a:lnTo>
                    <a:pt x="947" y="518"/>
                  </a:lnTo>
                  <a:lnTo>
                    <a:pt x="974" y="513"/>
                  </a:lnTo>
                  <a:lnTo>
                    <a:pt x="1002" y="506"/>
                  </a:lnTo>
                  <a:lnTo>
                    <a:pt x="1030" y="498"/>
                  </a:lnTo>
                  <a:lnTo>
                    <a:pt x="1055" y="491"/>
                  </a:lnTo>
                  <a:lnTo>
                    <a:pt x="1080" y="483"/>
                  </a:lnTo>
                  <a:lnTo>
                    <a:pt x="1104" y="474"/>
                  </a:lnTo>
                  <a:lnTo>
                    <a:pt x="1128" y="465"/>
                  </a:lnTo>
                  <a:lnTo>
                    <a:pt x="1149" y="456"/>
                  </a:lnTo>
                  <a:lnTo>
                    <a:pt x="1170" y="446"/>
                  </a:lnTo>
                  <a:lnTo>
                    <a:pt x="1190" y="436"/>
                  </a:lnTo>
                  <a:lnTo>
                    <a:pt x="1209" y="425"/>
                  </a:lnTo>
                  <a:lnTo>
                    <a:pt x="1225" y="414"/>
                  </a:lnTo>
                  <a:lnTo>
                    <a:pt x="1241" y="403"/>
                  </a:lnTo>
                  <a:lnTo>
                    <a:pt x="1256" y="390"/>
                  </a:lnTo>
                  <a:lnTo>
                    <a:pt x="1270" y="378"/>
                  </a:lnTo>
                  <a:lnTo>
                    <a:pt x="1281" y="366"/>
                  </a:lnTo>
                  <a:lnTo>
                    <a:pt x="1292" y="354"/>
                  </a:lnTo>
                  <a:lnTo>
                    <a:pt x="1301" y="340"/>
                  </a:lnTo>
                  <a:lnTo>
                    <a:pt x="1307" y="327"/>
                  </a:lnTo>
                  <a:lnTo>
                    <a:pt x="1314" y="314"/>
                  </a:lnTo>
                  <a:lnTo>
                    <a:pt x="1317" y="301"/>
                  </a:lnTo>
                  <a:lnTo>
                    <a:pt x="1321" y="286"/>
                  </a:lnTo>
                  <a:lnTo>
                    <a:pt x="1322" y="273"/>
                  </a:lnTo>
                  <a:lnTo>
                    <a:pt x="1321" y="258"/>
                  </a:lnTo>
                  <a:lnTo>
                    <a:pt x="1317" y="245"/>
                  </a:lnTo>
                  <a:lnTo>
                    <a:pt x="1314" y="231"/>
                  </a:lnTo>
                  <a:lnTo>
                    <a:pt x="1307" y="217"/>
                  </a:lnTo>
                  <a:lnTo>
                    <a:pt x="1301" y="205"/>
                  </a:lnTo>
                  <a:lnTo>
                    <a:pt x="1292" y="192"/>
                  </a:lnTo>
                  <a:lnTo>
                    <a:pt x="1281" y="178"/>
                  </a:lnTo>
                  <a:lnTo>
                    <a:pt x="1270" y="166"/>
                  </a:lnTo>
                  <a:lnTo>
                    <a:pt x="1256" y="154"/>
                  </a:lnTo>
                  <a:lnTo>
                    <a:pt x="1241" y="143"/>
                  </a:lnTo>
                  <a:lnTo>
                    <a:pt x="1225" y="132"/>
                  </a:lnTo>
                  <a:lnTo>
                    <a:pt x="1209" y="121"/>
                  </a:lnTo>
                  <a:lnTo>
                    <a:pt x="1190" y="110"/>
                  </a:lnTo>
                  <a:lnTo>
                    <a:pt x="1170" y="100"/>
                  </a:lnTo>
                  <a:lnTo>
                    <a:pt x="1149" y="90"/>
                  </a:lnTo>
                  <a:lnTo>
                    <a:pt x="1128" y="80"/>
                  </a:lnTo>
                  <a:lnTo>
                    <a:pt x="1104" y="71"/>
                  </a:lnTo>
                  <a:lnTo>
                    <a:pt x="1080" y="62"/>
                  </a:lnTo>
                  <a:lnTo>
                    <a:pt x="1055" y="54"/>
                  </a:lnTo>
                  <a:lnTo>
                    <a:pt x="1030" y="46"/>
                  </a:lnTo>
                  <a:lnTo>
                    <a:pt x="1002" y="40"/>
                  </a:lnTo>
                  <a:lnTo>
                    <a:pt x="974" y="33"/>
                  </a:lnTo>
                  <a:lnTo>
                    <a:pt x="947" y="26"/>
                  </a:lnTo>
                  <a:lnTo>
                    <a:pt x="917" y="21"/>
                  </a:lnTo>
                  <a:lnTo>
                    <a:pt x="887" y="16"/>
                  </a:lnTo>
                  <a:lnTo>
                    <a:pt x="857" y="12"/>
                  </a:lnTo>
                  <a:lnTo>
                    <a:pt x="825" y="9"/>
                  </a:lnTo>
                  <a:lnTo>
                    <a:pt x="793" y="5"/>
                  </a:lnTo>
                  <a:lnTo>
                    <a:pt x="760" y="3"/>
                  </a:lnTo>
                  <a:lnTo>
                    <a:pt x="728" y="1"/>
                  </a:lnTo>
                  <a:lnTo>
                    <a:pt x="695" y="0"/>
                  </a:lnTo>
                  <a:lnTo>
                    <a:pt x="660" y="0"/>
                  </a:lnTo>
                  <a:lnTo>
                    <a:pt x="626" y="0"/>
                  </a:lnTo>
                  <a:lnTo>
                    <a:pt x="593" y="1"/>
                  </a:lnTo>
                  <a:lnTo>
                    <a:pt x="559" y="3"/>
                  </a:lnTo>
                  <a:lnTo>
                    <a:pt x="527" y="5"/>
                  </a:lnTo>
                  <a:lnTo>
                    <a:pt x="495" y="9"/>
                  </a:lnTo>
                  <a:lnTo>
                    <a:pt x="464" y="12"/>
                  </a:lnTo>
                  <a:lnTo>
                    <a:pt x="434" y="16"/>
                  </a:lnTo>
                  <a:lnTo>
                    <a:pt x="404" y="21"/>
                  </a:lnTo>
                  <a:lnTo>
                    <a:pt x="374" y="26"/>
                  </a:lnTo>
                  <a:lnTo>
                    <a:pt x="346" y="33"/>
                  </a:lnTo>
                  <a:lnTo>
                    <a:pt x="318" y="40"/>
                  </a:lnTo>
                  <a:lnTo>
                    <a:pt x="291" y="46"/>
                  </a:lnTo>
                  <a:lnTo>
                    <a:pt x="265" y="54"/>
                  </a:lnTo>
                  <a:lnTo>
                    <a:pt x="241" y="62"/>
                  </a:lnTo>
                  <a:lnTo>
                    <a:pt x="216" y="71"/>
                  </a:lnTo>
                  <a:lnTo>
                    <a:pt x="193" y="80"/>
                  </a:lnTo>
                  <a:lnTo>
                    <a:pt x="171" y="90"/>
                  </a:lnTo>
                  <a:lnTo>
                    <a:pt x="151" y="100"/>
                  </a:lnTo>
                  <a:lnTo>
                    <a:pt x="131" y="110"/>
                  </a:lnTo>
                  <a:lnTo>
                    <a:pt x="112" y="121"/>
                  </a:lnTo>
                  <a:lnTo>
                    <a:pt x="95" y="132"/>
                  </a:lnTo>
                  <a:lnTo>
                    <a:pt x="80" y="143"/>
                  </a:lnTo>
                  <a:lnTo>
                    <a:pt x="64" y="154"/>
                  </a:lnTo>
                  <a:lnTo>
                    <a:pt x="51" y="166"/>
                  </a:lnTo>
                  <a:lnTo>
                    <a:pt x="40" y="178"/>
                  </a:lnTo>
                  <a:lnTo>
                    <a:pt x="29" y="192"/>
                  </a:lnTo>
                  <a:lnTo>
                    <a:pt x="20" y="205"/>
                  </a:lnTo>
                  <a:lnTo>
                    <a:pt x="13" y="217"/>
                  </a:lnTo>
                  <a:lnTo>
                    <a:pt x="7" y="231"/>
                  </a:lnTo>
                  <a:lnTo>
                    <a:pt x="3" y="245"/>
                  </a:lnTo>
                  <a:lnTo>
                    <a:pt x="0" y="258"/>
                  </a:lnTo>
                  <a:lnTo>
                    <a:pt x="0" y="273"/>
                  </a:lnTo>
                  <a:lnTo>
                    <a:pt x="0" y="286"/>
                  </a:lnTo>
                  <a:lnTo>
                    <a:pt x="3" y="301"/>
                  </a:lnTo>
                  <a:lnTo>
                    <a:pt x="7" y="314"/>
                  </a:lnTo>
                  <a:lnTo>
                    <a:pt x="13" y="327"/>
                  </a:lnTo>
                  <a:lnTo>
                    <a:pt x="20" y="340"/>
                  </a:lnTo>
                  <a:lnTo>
                    <a:pt x="29" y="354"/>
                  </a:lnTo>
                  <a:lnTo>
                    <a:pt x="40" y="366"/>
                  </a:lnTo>
                  <a:lnTo>
                    <a:pt x="51" y="378"/>
                  </a:lnTo>
                  <a:lnTo>
                    <a:pt x="64" y="390"/>
                  </a:lnTo>
                  <a:lnTo>
                    <a:pt x="80" y="403"/>
                  </a:lnTo>
                  <a:lnTo>
                    <a:pt x="95" y="414"/>
                  </a:lnTo>
                  <a:lnTo>
                    <a:pt x="112" y="425"/>
                  </a:lnTo>
                  <a:lnTo>
                    <a:pt x="131" y="436"/>
                  </a:lnTo>
                  <a:lnTo>
                    <a:pt x="151" y="446"/>
                  </a:lnTo>
                  <a:lnTo>
                    <a:pt x="171" y="456"/>
                  </a:lnTo>
                  <a:lnTo>
                    <a:pt x="193" y="465"/>
                  </a:lnTo>
                  <a:lnTo>
                    <a:pt x="216" y="474"/>
                  </a:lnTo>
                  <a:lnTo>
                    <a:pt x="241" y="483"/>
                  </a:lnTo>
                  <a:lnTo>
                    <a:pt x="265" y="491"/>
                  </a:lnTo>
                  <a:lnTo>
                    <a:pt x="291" y="498"/>
                  </a:lnTo>
                  <a:lnTo>
                    <a:pt x="318" y="506"/>
                  </a:lnTo>
                  <a:lnTo>
                    <a:pt x="346" y="513"/>
                  </a:lnTo>
                  <a:lnTo>
                    <a:pt x="374" y="518"/>
                  </a:lnTo>
                  <a:lnTo>
                    <a:pt x="404" y="524"/>
                  </a:lnTo>
                  <a:lnTo>
                    <a:pt x="434" y="529"/>
                  </a:lnTo>
                  <a:lnTo>
                    <a:pt x="464" y="533"/>
                  </a:lnTo>
                  <a:lnTo>
                    <a:pt x="495" y="537"/>
                  </a:lnTo>
                  <a:lnTo>
                    <a:pt x="527" y="539"/>
                  </a:lnTo>
                  <a:lnTo>
                    <a:pt x="559" y="543"/>
                  </a:lnTo>
                  <a:lnTo>
                    <a:pt x="593" y="544"/>
                  </a:lnTo>
                  <a:lnTo>
                    <a:pt x="626" y="545"/>
                  </a:lnTo>
                  <a:lnTo>
                    <a:pt x="660" y="545"/>
                  </a:lnTo>
                  <a:close/>
                </a:path>
              </a:pathLst>
            </a:custGeom>
            <a:solidFill>
              <a:srgbClr val="C3C3C2"/>
            </a:solidFill>
            <a:ln w="9525">
              <a:noFill/>
              <a:round/>
              <a:headEnd/>
              <a:tailEnd/>
            </a:ln>
          </p:spPr>
          <p:txBody>
            <a:bodyPr/>
            <a:lstStyle/>
            <a:p>
              <a:endParaRPr lang="en-GB"/>
            </a:p>
          </p:txBody>
        </p:sp>
        <p:sp>
          <p:nvSpPr>
            <p:cNvPr id="174125" name="Freeform 45"/>
            <p:cNvSpPr>
              <a:spLocks/>
            </p:cNvSpPr>
            <p:nvPr/>
          </p:nvSpPr>
          <p:spPr bwMode="auto">
            <a:xfrm>
              <a:off x="3739" y="2358"/>
              <a:ext cx="264" cy="109"/>
            </a:xfrm>
            <a:custGeom>
              <a:avLst/>
              <a:gdLst/>
              <a:ahLst/>
              <a:cxnLst>
                <a:cxn ang="0">
                  <a:pos x="728" y="544"/>
                </a:cxn>
                <a:cxn ang="0">
                  <a:pos x="825" y="537"/>
                </a:cxn>
                <a:cxn ang="0">
                  <a:pos x="917" y="524"/>
                </a:cxn>
                <a:cxn ang="0">
                  <a:pos x="1002" y="506"/>
                </a:cxn>
                <a:cxn ang="0">
                  <a:pos x="1080" y="483"/>
                </a:cxn>
                <a:cxn ang="0">
                  <a:pos x="1149" y="456"/>
                </a:cxn>
                <a:cxn ang="0">
                  <a:pos x="1209" y="425"/>
                </a:cxn>
                <a:cxn ang="0">
                  <a:pos x="1256" y="390"/>
                </a:cxn>
                <a:cxn ang="0">
                  <a:pos x="1292" y="354"/>
                </a:cxn>
                <a:cxn ang="0">
                  <a:pos x="1314" y="314"/>
                </a:cxn>
                <a:cxn ang="0">
                  <a:pos x="1322" y="273"/>
                </a:cxn>
                <a:cxn ang="0">
                  <a:pos x="1314" y="231"/>
                </a:cxn>
                <a:cxn ang="0">
                  <a:pos x="1292" y="192"/>
                </a:cxn>
                <a:cxn ang="0">
                  <a:pos x="1256" y="154"/>
                </a:cxn>
                <a:cxn ang="0">
                  <a:pos x="1209" y="121"/>
                </a:cxn>
                <a:cxn ang="0">
                  <a:pos x="1149" y="90"/>
                </a:cxn>
                <a:cxn ang="0">
                  <a:pos x="1080" y="62"/>
                </a:cxn>
                <a:cxn ang="0">
                  <a:pos x="1002" y="40"/>
                </a:cxn>
                <a:cxn ang="0">
                  <a:pos x="917" y="21"/>
                </a:cxn>
                <a:cxn ang="0">
                  <a:pos x="825" y="9"/>
                </a:cxn>
                <a:cxn ang="0">
                  <a:pos x="728" y="1"/>
                </a:cxn>
                <a:cxn ang="0">
                  <a:pos x="626" y="0"/>
                </a:cxn>
                <a:cxn ang="0">
                  <a:pos x="527" y="5"/>
                </a:cxn>
                <a:cxn ang="0">
                  <a:pos x="434" y="16"/>
                </a:cxn>
                <a:cxn ang="0">
                  <a:pos x="346" y="33"/>
                </a:cxn>
                <a:cxn ang="0">
                  <a:pos x="265" y="54"/>
                </a:cxn>
                <a:cxn ang="0">
                  <a:pos x="193" y="80"/>
                </a:cxn>
                <a:cxn ang="0">
                  <a:pos x="131" y="110"/>
                </a:cxn>
                <a:cxn ang="0">
                  <a:pos x="80" y="143"/>
                </a:cxn>
                <a:cxn ang="0">
                  <a:pos x="40" y="178"/>
                </a:cxn>
                <a:cxn ang="0">
                  <a:pos x="13" y="217"/>
                </a:cxn>
                <a:cxn ang="0">
                  <a:pos x="0" y="258"/>
                </a:cxn>
                <a:cxn ang="0">
                  <a:pos x="3" y="301"/>
                </a:cxn>
                <a:cxn ang="0">
                  <a:pos x="20" y="340"/>
                </a:cxn>
                <a:cxn ang="0">
                  <a:pos x="51" y="378"/>
                </a:cxn>
                <a:cxn ang="0">
                  <a:pos x="95" y="414"/>
                </a:cxn>
                <a:cxn ang="0">
                  <a:pos x="151" y="446"/>
                </a:cxn>
                <a:cxn ang="0">
                  <a:pos x="216" y="474"/>
                </a:cxn>
                <a:cxn ang="0">
                  <a:pos x="291" y="498"/>
                </a:cxn>
                <a:cxn ang="0">
                  <a:pos x="374" y="518"/>
                </a:cxn>
                <a:cxn ang="0">
                  <a:pos x="464" y="533"/>
                </a:cxn>
                <a:cxn ang="0">
                  <a:pos x="559" y="543"/>
                </a:cxn>
                <a:cxn ang="0">
                  <a:pos x="660" y="545"/>
                </a:cxn>
              </a:cxnLst>
              <a:rect l="0" t="0" r="r" b="b"/>
              <a:pathLst>
                <a:path w="1322" h="545">
                  <a:moveTo>
                    <a:pt x="660" y="545"/>
                  </a:moveTo>
                  <a:lnTo>
                    <a:pt x="695" y="545"/>
                  </a:lnTo>
                  <a:lnTo>
                    <a:pt x="728" y="544"/>
                  </a:lnTo>
                  <a:lnTo>
                    <a:pt x="760" y="543"/>
                  </a:lnTo>
                  <a:lnTo>
                    <a:pt x="793" y="539"/>
                  </a:lnTo>
                  <a:lnTo>
                    <a:pt x="825" y="537"/>
                  </a:lnTo>
                  <a:lnTo>
                    <a:pt x="857" y="533"/>
                  </a:lnTo>
                  <a:lnTo>
                    <a:pt x="887" y="529"/>
                  </a:lnTo>
                  <a:lnTo>
                    <a:pt x="917" y="524"/>
                  </a:lnTo>
                  <a:lnTo>
                    <a:pt x="947" y="518"/>
                  </a:lnTo>
                  <a:lnTo>
                    <a:pt x="974" y="513"/>
                  </a:lnTo>
                  <a:lnTo>
                    <a:pt x="1002" y="506"/>
                  </a:lnTo>
                  <a:lnTo>
                    <a:pt x="1030" y="498"/>
                  </a:lnTo>
                  <a:lnTo>
                    <a:pt x="1055" y="491"/>
                  </a:lnTo>
                  <a:lnTo>
                    <a:pt x="1080" y="483"/>
                  </a:lnTo>
                  <a:lnTo>
                    <a:pt x="1104" y="474"/>
                  </a:lnTo>
                  <a:lnTo>
                    <a:pt x="1128" y="465"/>
                  </a:lnTo>
                  <a:lnTo>
                    <a:pt x="1149" y="456"/>
                  </a:lnTo>
                  <a:lnTo>
                    <a:pt x="1170" y="446"/>
                  </a:lnTo>
                  <a:lnTo>
                    <a:pt x="1190" y="436"/>
                  </a:lnTo>
                  <a:lnTo>
                    <a:pt x="1209" y="425"/>
                  </a:lnTo>
                  <a:lnTo>
                    <a:pt x="1225" y="414"/>
                  </a:lnTo>
                  <a:lnTo>
                    <a:pt x="1241" y="403"/>
                  </a:lnTo>
                  <a:lnTo>
                    <a:pt x="1256" y="390"/>
                  </a:lnTo>
                  <a:lnTo>
                    <a:pt x="1270" y="378"/>
                  </a:lnTo>
                  <a:lnTo>
                    <a:pt x="1281" y="366"/>
                  </a:lnTo>
                  <a:lnTo>
                    <a:pt x="1292" y="354"/>
                  </a:lnTo>
                  <a:lnTo>
                    <a:pt x="1301" y="340"/>
                  </a:lnTo>
                  <a:lnTo>
                    <a:pt x="1307" y="327"/>
                  </a:lnTo>
                  <a:lnTo>
                    <a:pt x="1314" y="314"/>
                  </a:lnTo>
                  <a:lnTo>
                    <a:pt x="1317" y="301"/>
                  </a:lnTo>
                  <a:lnTo>
                    <a:pt x="1321" y="286"/>
                  </a:lnTo>
                  <a:lnTo>
                    <a:pt x="1322" y="273"/>
                  </a:lnTo>
                  <a:lnTo>
                    <a:pt x="1321" y="258"/>
                  </a:lnTo>
                  <a:lnTo>
                    <a:pt x="1317" y="245"/>
                  </a:lnTo>
                  <a:lnTo>
                    <a:pt x="1314" y="231"/>
                  </a:lnTo>
                  <a:lnTo>
                    <a:pt x="1307" y="217"/>
                  </a:lnTo>
                  <a:lnTo>
                    <a:pt x="1301" y="205"/>
                  </a:lnTo>
                  <a:lnTo>
                    <a:pt x="1292" y="192"/>
                  </a:lnTo>
                  <a:lnTo>
                    <a:pt x="1281" y="178"/>
                  </a:lnTo>
                  <a:lnTo>
                    <a:pt x="1270" y="166"/>
                  </a:lnTo>
                  <a:lnTo>
                    <a:pt x="1256" y="154"/>
                  </a:lnTo>
                  <a:lnTo>
                    <a:pt x="1241" y="143"/>
                  </a:lnTo>
                  <a:lnTo>
                    <a:pt x="1225" y="132"/>
                  </a:lnTo>
                  <a:lnTo>
                    <a:pt x="1209" y="121"/>
                  </a:lnTo>
                  <a:lnTo>
                    <a:pt x="1190" y="110"/>
                  </a:lnTo>
                  <a:lnTo>
                    <a:pt x="1170" y="100"/>
                  </a:lnTo>
                  <a:lnTo>
                    <a:pt x="1149" y="90"/>
                  </a:lnTo>
                  <a:lnTo>
                    <a:pt x="1128" y="80"/>
                  </a:lnTo>
                  <a:lnTo>
                    <a:pt x="1104" y="71"/>
                  </a:lnTo>
                  <a:lnTo>
                    <a:pt x="1080" y="62"/>
                  </a:lnTo>
                  <a:lnTo>
                    <a:pt x="1055" y="54"/>
                  </a:lnTo>
                  <a:lnTo>
                    <a:pt x="1030" y="46"/>
                  </a:lnTo>
                  <a:lnTo>
                    <a:pt x="1002" y="40"/>
                  </a:lnTo>
                  <a:lnTo>
                    <a:pt x="974" y="33"/>
                  </a:lnTo>
                  <a:lnTo>
                    <a:pt x="947" y="26"/>
                  </a:lnTo>
                  <a:lnTo>
                    <a:pt x="917" y="21"/>
                  </a:lnTo>
                  <a:lnTo>
                    <a:pt x="887" y="16"/>
                  </a:lnTo>
                  <a:lnTo>
                    <a:pt x="857" y="12"/>
                  </a:lnTo>
                  <a:lnTo>
                    <a:pt x="825" y="9"/>
                  </a:lnTo>
                  <a:lnTo>
                    <a:pt x="793" y="5"/>
                  </a:lnTo>
                  <a:lnTo>
                    <a:pt x="760" y="3"/>
                  </a:lnTo>
                  <a:lnTo>
                    <a:pt x="728" y="1"/>
                  </a:lnTo>
                  <a:lnTo>
                    <a:pt x="695" y="0"/>
                  </a:lnTo>
                  <a:lnTo>
                    <a:pt x="660" y="0"/>
                  </a:lnTo>
                  <a:lnTo>
                    <a:pt x="626" y="0"/>
                  </a:lnTo>
                  <a:lnTo>
                    <a:pt x="593" y="1"/>
                  </a:lnTo>
                  <a:lnTo>
                    <a:pt x="559" y="3"/>
                  </a:lnTo>
                  <a:lnTo>
                    <a:pt x="527" y="5"/>
                  </a:lnTo>
                  <a:lnTo>
                    <a:pt x="495" y="9"/>
                  </a:lnTo>
                  <a:lnTo>
                    <a:pt x="464" y="12"/>
                  </a:lnTo>
                  <a:lnTo>
                    <a:pt x="434" y="16"/>
                  </a:lnTo>
                  <a:lnTo>
                    <a:pt x="404" y="21"/>
                  </a:lnTo>
                  <a:lnTo>
                    <a:pt x="374" y="26"/>
                  </a:lnTo>
                  <a:lnTo>
                    <a:pt x="346" y="33"/>
                  </a:lnTo>
                  <a:lnTo>
                    <a:pt x="318" y="40"/>
                  </a:lnTo>
                  <a:lnTo>
                    <a:pt x="291" y="46"/>
                  </a:lnTo>
                  <a:lnTo>
                    <a:pt x="265" y="54"/>
                  </a:lnTo>
                  <a:lnTo>
                    <a:pt x="241" y="62"/>
                  </a:lnTo>
                  <a:lnTo>
                    <a:pt x="216" y="71"/>
                  </a:lnTo>
                  <a:lnTo>
                    <a:pt x="193" y="80"/>
                  </a:lnTo>
                  <a:lnTo>
                    <a:pt x="171" y="90"/>
                  </a:lnTo>
                  <a:lnTo>
                    <a:pt x="151" y="100"/>
                  </a:lnTo>
                  <a:lnTo>
                    <a:pt x="131" y="110"/>
                  </a:lnTo>
                  <a:lnTo>
                    <a:pt x="112" y="121"/>
                  </a:lnTo>
                  <a:lnTo>
                    <a:pt x="95" y="132"/>
                  </a:lnTo>
                  <a:lnTo>
                    <a:pt x="80" y="143"/>
                  </a:lnTo>
                  <a:lnTo>
                    <a:pt x="64" y="154"/>
                  </a:lnTo>
                  <a:lnTo>
                    <a:pt x="51" y="166"/>
                  </a:lnTo>
                  <a:lnTo>
                    <a:pt x="40" y="178"/>
                  </a:lnTo>
                  <a:lnTo>
                    <a:pt x="29" y="192"/>
                  </a:lnTo>
                  <a:lnTo>
                    <a:pt x="20" y="205"/>
                  </a:lnTo>
                  <a:lnTo>
                    <a:pt x="13" y="217"/>
                  </a:lnTo>
                  <a:lnTo>
                    <a:pt x="7" y="231"/>
                  </a:lnTo>
                  <a:lnTo>
                    <a:pt x="3" y="245"/>
                  </a:lnTo>
                  <a:lnTo>
                    <a:pt x="0" y="258"/>
                  </a:lnTo>
                  <a:lnTo>
                    <a:pt x="0" y="273"/>
                  </a:lnTo>
                  <a:lnTo>
                    <a:pt x="0" y="286"/>
                  </a:lnTo>
                  <a:lnTo>
                    <a:pt x="3" y="301"/>
                  </a:lnTo>
                  <a:lnTo>
                    <a:pt x="7" y="314"/>
                  </a:lnTo>
                  <a:lnTo>
                    <a:pt x="13" y="327"/>
                  </a:lnTo>
                  <a:lnTo>
                    <a:pt x="20" y="340"/>
                  </a:lnTo>
                  <a:lnTo>
                    <a:pt x="29" y="354"/>
                  </a:lnTo>
                  <a:lnTo>
                    <a:pt x="40" y="366"/>
                  </a:lnTo>
                  <a:lnTo>
                    <a:pt x="51" y="378"/>
                  </a:lnTo>
                  <a:lnTo>
                    <a:pt x="64" y="390"/>
                  </a:lnTo>
                  <a:lnTo>
                    <a:pt x="80" y="403"/>
                  </a:lnTo>
                  <a:lnTo>
                    <a:pt x="95" y="414"/>
                  </a:lnTo>
                  <a:lnTo>
                    <a:pt x="112" y="425"/>
                  </a:lnTo>
                  <a:lnTo>
                    <a:pt x="131" y="436"/>
                  </a:lnTo>
                  <a:lnTo>
                    <a:pt x="151" y="446"/>
                  </a:lnTo>
                  <a:lnTo>
                    <a:pt x="171" y="456"/>
                  </a:lnTo>
                  <a:lnTo>
                    <a:pt x="193" y="465"/>
                  </a:lnTo>
                  <a:lnTo>
                    <a:pt x="216" y="474"/>
                  </a:lnTo>
                  <a:lnTo>
                    <a:pt x="241" y="483"/>
                  </a:lnTo>
                  <a:lnTo>
                    <a:pt x="265" y="491"/>
                  </a:lnTo>
                  <a:lnTo>
                    <a:pt x="291" y="498"/>
                  </a:lnTo>
                  <a:lnTo>
                    <a:pt x="318" y="506"/>
                  </a:lnTo>
                  <a:lnTo>
                    <a:pt x="346" y="513"/>
                  </a:lnTo>
                  <a:lnTo>
                    <a:pt x="374" y="518"/>
                  </a:lnTo>
                  <a:lnTo>
                    <a:pt x="404" y="524"/>
                  </a:lnTo>
                  <a:lnTo>
                    <a:pt x="434" y="529"/>
                  </a:lnTo>
                  <a:lnTo>
                    <a:pt x="464" y="533"/>
                  </a:lnTo>
                  <a:lnTo>
                    <a:pt x="495" y="537"/>
                  </a:lnTo>
                  <a:lnTo>
                    <a:pt x="527" y="539"/>
                  </a:lnTo>
                  <a:lnTo>
                    <a:pt x="559" y="543"/>
                  </a:lnTo>
                  <a:lnTo>
                    <a:pt x="593" y="544"/>
                  </a:lnTo>
                  <a:lnTo>
                    <a:pt x="626" y="545"/>
                  </a:lnTo>
                  <a:lnTo>
                    <a:pt x="660" y="545"/>
                  </a:lnTo>
                </a:path>
              </a:pathLst>
            </a:custGeom>
            <a:noFill/>
            <a:ln w="7938">
              <a:solidFill>
                <a:srgbClr val="C3C3C2"/>
              </a:solidFill>
              <a:prstDash val="solid"/>
              <a:round/>
              <a:headEnd/>
              <a:tailEnd/>
            </a:ln>
          </p:spPr>
          <p:txBody>
            <a:bodyPr/>
            <a:lstStyle/>
            <a:p>
              <a:endParaRPr lang="en-GB"/>
            </a:p>
          </p:txBody>
        </p:sp>
        <p:sp>
          <p:nvSpPr>
            <p:cNvPr id="174126" name="Freeform 46"/>
            <p:cNvSpPr>
              <a:spLocks/>
            </p:cNvSpPr>
            <p:nvPr/>
          </p:nvSpPr>
          <p:spPr bwMode="auto">
            <a:xfrm>
              <a:off x="3377" y="2358"/>
              <a:ext cx="264" cy="109"/>
            </a:xfrm>
            <a:custGeom>
              <a:avLst/>
              <a:gdLst/>
              <a:ahLst/>
              <a:cxnLst>
                <a:cxn ang="0">
                  <a:pos x="729" y="544"/>
                </a:cxn>
                <a:cxn ang="0">
                  <a:pos x="825" y="537"/>
                </a:cxn>
                <a:cxn ang="0">
                  <a:pos x="918" y="524"/>
                </a:cxn>
                <a:cxn ang="0">
                  <a:pos x="1003" y="506"/>
                </a:cxn>
                <a:cxn ang="0">
                  <a:pos x="1081" y="483"/>
                </a:cxn>
                <a:cxn ang="0">
                  <a:pos x="1150" y="456"/>
                </a:cxn>
                <a:cxn ang="0">
                  <a:pos x="1208" y="425"/>
                </a:cxn>
                <a:cxn ang="0">
                  <a:pos x="1256" y="390"/>
                </a:cxn>
                <a:cxn ang="0">
                  <a:pos x="1292" y="354"/>
                </a:cxn>
                <a:cxn ang="0">
                  <a:pos x="1314" y="314"/>
                </a:cxn>
                <a:cxn ang="0">
                  <a:pos x="1322" y="273"/>
                </a:cxn>
                <a:cxn ang="0">
                  <a:pos x="1314" y="231"/>
                </a:cxn>
                <a:cxn ang="0">
                  <a:pos x="1292" y="192"/>
                </a:cxn>
                <a:cxn ang="0">
                  <a:pos x="1256" y="154"/>
                </a:cxn>
                <a:cxn ang="0">
                  <a:pos x="1208" y="121"/>
                </a:cxn>
                <a:cxn ang="0">
                  <a:pos x="1150" y="90"/>
                </a:cxn>
                <a:cxn ang="0">
                  <a:pos x="1081" y="62"/>
                </a:cxn>
                <a:cxn ang="0">
                  <a:pos x="1003" y="40"/>
                </a:cxn>
                <a:cxn ang="0">
                  <a:pos x="918" y="21"/>
                </a:cxn>
                <a:cxn ang="0">
                  <a:pos x="825" y="9"/>
                </a:cxn>
                <a:cxn ang="0">
                  <a:pos x="729" y="1"/>
                </a:cxn>
                <a:cxn ang="0">
                  <a:pos x="627" y="0"/>
                </a:cxn>
                <a:cxn ang="0">
                  <a:pos x="528" y="5"/>
                </a:cxn>
                <a:cxn ang="0">
                  <a:pos x="434" y="16"/>
                </a:cxn>
                <a:cxn ang="0">
                  <a:pos x="346" y="33"/>
                </a:cxn>
                <a:cxn ang="0">
                  <a:pos x="266" y="54"/>
                </a:cxn>
                <a:cxn ang="0">
                  <a:pos x="194" y="80"/>
                </a:cxn>
                <a:cxn ang="0">
                  <a:pos x="132" y="110"/>
                </a:cxn>
                <a:cxn ang="0">
                  <a:pos x="80" y="143"/>
                </a:cxn>
                <a:cxn ang="0">
                  <a:pos x="41" y="178"/>
                </a:cxn>
                <a:cxn ang="0">
                  <a:pos x="13" y="217"/>
                </a:cxn>
                <a:cxn ang="0">
                  <a:pos x="1" y="258"/>
                </a:cxn>
                <a:cxn ang="0">
                  <a:pos x="3" y="301"/>
                </a:cxn>
                <a:cxn ang="0">
                  <a:pos x="21" y="340"/>
                </a:cxn>
                <a:cxn ang="0">
                  <a:pos x="52" y="378"/>
                </a:cxn>
                <a:cxn ang="0">
                  <a:pos x="96" y="414"/>
                </a:cxn>
                <a:cxn ang="0">
                  <a:pos x="152" y="446"/>
                </a:cxn>
                <a:cxn ang="0">
                  <a:pos x="217" y="474"/>
                </a:cxn>
                <a:cxn ang="0">
                  <a:pos x="292" y="498"/>
                </a:cxn>
                <a:cxn ang="0">
                  <a:pos x="375" y="518"/>
                </a:cxn>
                <a:cxn ang="0">
                  <a:pos x="465" y="533"/>
                </a:cxn>
                <a:cxn ang="0">
                  <a:pos x="560" y="543"/>
                </a:cxn>
                <a:cxn ang="0">
                  <a:pos x="661" y="545"/>
                </a:cxn>
              </a:cxnLst>
              <a:rect l="0" t="0" r="r" b="b"/>
              <a:pathLst>
                <a:path w="1322" h="545">
                  <a:moveTo>
                    <a:pt x="661" y="545"/>
                  </a:moveTo>
                  <a:lnTo>
                    <a:pt x="694" y="545"/>
                  </a:lnTo>
                  <a:lnTo>
                    <a:pt x="729" y="544"/>
                  </a:lnTo>
                  <a:lnTo>
                    <a:pt x="761" y="543"/>
                  </a:lnTo>
                  <a:lnTo>
                    <a:pt x="794" y="539"/>
                  </a:lnTo>
                  <a:lnTo>
                    <a:pt x="825" y="537"/>
                  </a:lnTo>
                  <a:lnTo>
                    <a:pt x="858" y="533"/>
                  </a:lnTo>
                  <a:lnTo>
                    <a:pt x="888" y="529"/>
                  </a:lnTo>
                  <a:lnTo>
                    <a:pt x="918" y="524"/>
                  </a:lnTo>
                  <a:lnTo>
                    <a:pt x="948" y="518"/>
                  </a:lnTo>
                  <a:lnTo>
                    <a:pt x="975" y="513"/>
                  </a:lnTo>
                  <a:lnTo>
                    <a:pt x="1003" y="506"/>
                  </a:lnTo>
                  <a:lnTo>
                    <a:pt x="1030" y="498"/>
                  </a:lnTo>
                  <a:lnTo>
                    <a:pt x="1056" y="491"/>
                  </a:lnTo>
                  <a:lnTo>
                    <a:pt x="1081" y="483"/>
                  </a:lnTo>
                  <a:lnTo>
                    <a:pt x="1105" y="474"/>
                  </a:lnTo>
                  <a:lnTo>
                    <a:pt x="1128" y="465"/>
                  </a:lnTo>
                  <a:lnTo>
                    <a:pt x="1150" y="456"/>
                  </a:lnTo>
                  <a:lnTo>
                    <a:pt x="1171" y="446"/>
                  </a:lnTo>
                  <a:lnTo>
                    <a:pt x="1191" y="436"/>
                  </a:lnTo>
                  <a:lnTo>
                    <a:pt x="1208" y="425"/>
                  </a:lnTo>
                  <a:lnTo>
                    <a:pt x="1226" y="414"/>
                  </a:lnTo>
                  <a:lnTo>
                    <a:pt x="1242" y="403"/>
                  </a:lnTo>
                  <a:lnTo>
                    <a:pt x="1256" y="390"/>
                  </a:lnTo>
                  <a:lnTo>
                    <a:pt x="1269" y="378"/>
                  </a:lnTo>
                  <a:lnTo>
                    <a:pt x="1282" y="366"/>
                  </a:lnTo>
                  <a:lnTo>
                    <a:pt x="1292" y="354"/>
                  </a:lnTo>
                  <a:lnTo>
                    <a:pt x="1302" y="340"/>
                  </a:lnTo>
                  <a:lnTo>
                    <a:pt x="1308" y="327"/>
                  </a:lnTo>
                  <a:lnTo>
                    <a:pt x="1314" y="314"/>
                  </a:lnTo>
                  <a:lnTo>
                    <a:pt x="1318" y="301"/>
                  </a:lnTo>
                  <a:lnTo>
                    <a:pt x="1322" y="286"/>
                  </a:lnTo>
                  <a:lnTo>
                    <a:pt x="1322" y="273"/>
                  </a:lnTo>
                  <a:lnTo>
                    <a:pt x="1322" y="258"/>
                  </a:lnTo>
                  <a:lnTo>
                    <a:pt x="1318" y="245"/>
                  </a:lnTo>
                  <a:lnTo>
                    <a:pt x="1314" y="231"/>
                  </a:lnTo>
                  <a:lnTo>
                    <a:pt x="1308" y="217"/>
                  </a:lnTo>
                  <a:lnTo>
                    <a:pt x="1302" y="205"/>
                  </a:lnTo>
                  <a:lnTo>
                    <a:pt x="1292" y="192"/>
                  </a:lnTo>
                  <a:lnTo>
                    <a:pt x="1282" y="178"/>
                  </a:lnTo>
                  <a:lnTo>
                    <a:pt x="1269" y="166"/>
                  </a:lnTo>
                  <a:lnTo>
                    <a:pt x="1256" y="154"/>
                  </a:lnTo>
                  <a:lnTo>
                    <a:pt x="1242" y="143"/>
                  </a:lnTo>
                  <a:lnTo>
                    <a:pt x="1226" y="132"/>
                  </a:lnTo>
                  <a:lnTo>
                    <a:pt x="1208" y="121"/>
                  </a:lnTo>
                  <a:lnTo>
                    <a:pt x="1191" y="110"/>
                  </a:lnTo>
                  <a:lnTo>
                    <a:pt x="1171" y="100"/>
                  </a:lnTo>
                  <a:lnTo>
                    <a:pt x="1150" y="90"/>
                  </a:lnTo>
                  <a:lnTo>
                    <a:pt x="1128" y="80"/>
                  </a:lnTo>
                  <a:lnTo>
                    <a:pt x="1105" y="71"/>
                  </a:lnTo>
                  <a:lnTo>
                    <a:pt x="1081" y="62"/>
                  </a:lnTo>
                  <a:lnTo>
                    <a:pt x="1056" y="54"/>
                  </a:lnTo>
                  <a:lnTo>
                    <a:pt x="1030" y="46"/>
                  </a:lnTo>
                  <a:lnTo>
                    <a:pt x="1003" y="40"/>
                  </a:lnTo>
                  <a:lnTo>
                    <a:pt x="975" y="33"/>
                  </a:lnTo>
                  <a:lnTo>
                    <a:pt x="948" y="26"/>
                  </a:lnTo>
                  <a:lnTo>
                    <a:pt x="918" y="21"/>
                  </a:lnTo>
                  <a:lnTo>
                    <a:pt x="888" y="16"/>
                  </a:lnTo>
                  <a:lnTo>
                    <a:pt x="858" y="12"/>
                  </a:lnTo>
                  <a:lnTo>
                    <a:pt x="825" y="9"/>
                  </a:lnTo>
                  <a:lnTo>
                    <a:pt x="794" y="5"/>
                  </a:lnTo>
                  <a:lnTo>
                    <a:pt x="761" y="3"/>
                  </a:lnTo>
                  <a:lnTo>
                    <a:pt x="729" y="1"/>
                  </a:lnTo>
                  <a:lnTo>
                    <a:pt x="694" y="0"/>
                  </a:lnTo>
                  <a:lnTo>
                    <a:pt x="661" y="0"/>
                  </a:lnTo>
                  <a:lnTo>
                    <a:pt x="627" y="0"/>
                  </a:lnTo>
                  <a:lnTo>
                    <a:pt x="593" y="1"/>
                  </a:lnTo>
                  <a:lnTo>
                    <a:pt x="560" y="3"/>
                  </a:lnTo>
                  <a:lnTo>
                    <a:pt x="528" y="5"/>
                  </a:lnTo>
                  <a:lnTo>
                    <a:pt x="496" y="9"/>
                  </a:lnTo>
                  <a:lnTo>
                    <a:pt x="465" y="12"/>
                  </a:lnTo>
                  <a:lnTo>
                    <a:pt x="434" y="16"/>
                  </a:lnTo>
                  <a:lnTo>
                    <a:pt x="404" y="21"/>
                  </a:lnTo>
                  <a:lnTo>
                    <a:pt x="375" y="26"/>
                  </a:lnTo>
                  <a:lnTo>
                    <a:pt x="346" y="33"/>
                  </a:lnTo>
                  <a:lnTo>
                    <a:pt x="318" y="40"/>
                  </a:lnTo>
                  <a:lnTo>
                    <a:pt x="292" y="46"/>
                  </a:lnTo>
                  <a:lnTo>
                    <a:pt x="266" y="54"/>
                  </a:lnTo>
                  <a:lnTo>
                    <a:pt x="240" y="62"/>
                  </a:lnTo>
                  <a:lnTo>
                    <a:pt x="217" y="71"/>
                  </a:lnTo>
                  <a:lnTo>
                    <a:pt x="194" y="80"/>
                  </a:lnTo>
                  <a:lnTo>
                    <a:pt x="172" y="90"/>
                  </a:lnTo>
                  <a:lnTo>
                    <a:pt x="152" y="100"/>
                  </a:lnTo>
                  <a:lnTo>
                    <a:pt x="132" y="110"/>
                  </a:lnTo>
                  <a:lnTo>
                    <a:pt x="113" y="121"/>
                  </a:lnTo>
                  <a:lnTo>
                    <a:pt x="96" y="132"/>
                  </a:lnTo>
                  <a:lnTo>
                    <a:pt x="80" y="143"/>
                  </a:lnTo>
                  <a:lnTo>
                    <a:pt x="65" y="154"/>
                  </a:lnTo>
                  <a:lnTo>
                    <a:pt x="52" y="166"/>
                  </a:lnTo>
                  <a:lnTo>
                    <a:pt x="41" y="178"/>
                  </a:lnTo>
                  <a:lnTo>
                    <a:pt x="30" y="192"/>
                  </a:lnTo>
                  <a:lnTo>
                    <a:pt x="21" y="205"/>
                  </a:lnTo>
                  <a:lnTo>
                    <a:pt x="13" y="217"/>
                  </a:lnTo>
                  <a:lnTo>
                    <a:pt x="7" y="231"/>
                  </a:lnTo>
                  <a:lnTo>
                    <a:pt x="3" y="245"/>
                  </a:lnTo>
                  <a:lnTo>
                    <a:pt x="1" y="258"/>
                  </a:lnTo>
                  <a:lnTo>
                    <a:pt x="0" y="273"/>
                  </a:lnTo>
                  <a:lnTo>
                    <a:pt x="1" y="286"/>
                  </a:lnTo>
                  <a:lnTo>
                    <a:pt x="3" y="301"/>
                  </a:lnTo>
                  <a:lnTo>
                    <a:pt x="7" y="314"/>
                  </a:lnTo>
                  <a:lnTo>
                    <a:pt x="13" y="327"/>
                  </a:lnTo>
                  <a:lnTo>
                    <a:pt x="21" y="340"/>
                  </a:lnTo>
                  <a:lnTo>
                    <a:pt x="30" y="354"/>
                  </a:lnTo>
                  <a:lnTo>
                    <a:pt x="41" y="366"/>
                  </a:lnTo>
                  <a:lnTo>
                    <a:pt x="52" y="378"/>
                  </a:lnTo>
                  <a:lnTo>
                    <a:pt x="65" y="390"/>
                  </a:lnTo>
                  <a:lnTo>
                    <a:pt x="80" y="403"/>
                  </a:lnTo>
                  <a:lnTo>
                    <a:pt x="96" y="414"/>
                  </a:lnTo>
                  <a:lnTo>
                    <a:pt x="113" y="425"/>
                  </a:lnTo>
                  <a:lnTo>
                    <a:pt x="132" y="436"/>
                  </a:lnTo>
                  <a:lnTo>
                    <a:pt x="152" y="446"/>
                  </a:lnTo>
                  <a:lnTo>
                    <a:pt x="172" y="456"/>
                  </a:lnTo>
                  <a:lnTo>
                    <a:pt x="194" y="465"/>
                  </a:lnTo>
                  <a:lnTo>
                    <a:pt x="217" y="474"/>
                  </a:lnTo>
                  <a:lnTo>
                    <a:pt x="240" y="483"/>
                  </a:lnTo>
                  <a:lnTo>
                    <a:pt x="266" y="491"/>
                  </a:lnTo>
                  <a:lnTo>
                    <a:pt x="292" y="498"/>
                  </a:lnTo>
                  <a:lnTo>
                    <a:pt x="318" y="506"/>
                  </a:lnTo>
                  <a:lnTo>
                    <a:pt x="346" y="513"/>
                  </a:lnTo>
                  <a:lnTo>
                    <a:pt x="375" y="518"/>
                  </a:lnTo>
                  <a:lnTo>
                    <a:pt x="404" y="524"/>
                  </a:lnTo>
                  <a:lnTo>
                    <a:pt x="434" y="529"/>
                  </a:lnTo>
                  <a:lnTo>
                    <a:pt x="465" y="533"/>
                  </a:lnTo>
                  <a:lnTo>
                    <a:pt x="496" y="537"/>
                  </a:lnTo>
                  <a:lnTo>
                    <a:pt x="528" y="539"/>
                  </a:lnTo>
                  <a:lnTo>
                    <a:pt x="560" y="543"/>
                  </a:lnTo>
                  <a:lnTo>
                    <a:pt x="593" y="544"/>
                  </a:lnTo>
                  <a:lnTo>
                    <a:pt x="627" y="545"/>
                  </a:lnTo>
                  <a:lnTo>
                    <a:pt x="661" y="545"/>
                  </a:lnTo>
                  <a:close/>
                </a:path>
              </a:pathLst>
            </a:custGeom>
            <a:solidFill>
              <a:srgbClr val="C3C3C2"/>
            </a:solidFill>
            <a:ln w="9525">
              <a:noFill/>
              <a:round/>
              <a:headEnd/>
              <a:tailEnd/>
            </a:ln>
          </p:spPr>
          <p:txBody>
            <a:bodyPr/>
            <a:lstStyle/>
            <a:p>
              <a:endParaRPr lang="en-GB"/>
            </a:p>
          </p:txBody>
        </p:sp>
        <p:sp>
          <p:nvSpPr>
            <p:cNvPr id="174127" name="Freeform 47"/>
            <p:cNvSpPr>
              <a:spLocks/>
            </p:cNvSpPr>
            <p:nvPr/>
          </p:nvSpPr>
          <p:spPr bwMode="auto">
            <a:xfrm>
              <a:off x="3377" y="2358"/>
              <a:ext cx="264" cy="109"/>
            </a:xfrm>
            <a:custGeom>
              <a:avLst/>
              <a:gdLst/>
              <a:ahLst/>
              <a:cxnLst>
                <a:cxn ang="0">
                  <a:pos x="729" y="544"/>
                </a:cxn>
                <a:cxn ang="0">
                  <a:pos x="825" y="537"/>
                </a:cxn>
                <a:cxn ang="0">
                  <a:pos x="918" y="524"/>
                </a:cxn>
                <a:cxn ang="0">
                  <a:pos x="1003" y="506"/>
                </a:cxn>
                <a:cxn ang="0">
                  <a:pos x="1081" y="483"/>
                </a:cxn>
                <a:cxn ang="0">
                  <a:pos x="1150" y="456"/>
                </a:cxn>
                <a:cxn ang="0">
                  <a:pos x="1208" y="425"/>
                </a:cxn>
                <a:cxn ang="0">
                  <a:pos x="1256" y="390"/>
                </a:cxn>
                <a:cxn ang="0">
                  <a:pos x="1292" y="354"/>
                </a:cxn>
                <a:cxn ang="0">
                  <a:pos x="1314" y="314"/>
                </a:cxn>
                <a:cxn ang="0">
                  <a:pos x="1322" y="273"/>
                </a:cxn>
                <a:cxn ang="0">
                  <a:pos x="1314" y="231"/>
                </a:cxn>
                <a:cxn ang="0">
                  <a:pos x="1292" y="192"/>
                </a:cxn>
                <a:cxn ang="0">
                  <a:pos x="1256" y="154"/>
                </a:cxn>
                <a:cxn ang="0">
                  <a:pos x="1208" y="121"/>
                </a:cxn>
                <a:cxn ang="0">
                  <a:pos x="1150" y="90"/>
                </a:cxn>
                <a:cxn ang="0">
                  <a:pos x="1081" y="62"/>
                </a:cxn>
                <a:cxn ang="0">
                  <a:pos x="1003" y="40"/>
                </a:cxn>
                <a:cxn ang="0">
                  <a:pos x="918" y="21"/>
                </a:cxn>
                <a:cxn ang="0">
                  <a:pos x="825" y="9"/>
                </a:cxn>
                <a:cxn ang="0">
                  <a:pos x="729" y="1"/>
                </a:cxn>
                <a:cxn ang="0">
                  <a:pos x="627" y="0"/>
                </a:cxn>
                <a:cxn ang="0">
                  <a:pos x="528" y="5"/>
                </a:cxn>
                <a:cxn ang="0">
                  <a:pos x="434" y="16"/>
                </a:cxn>
                <a:cxn ang="0">
                  <a:pos x="346" y="33"/>
                </a:cxn>
                <a:cxn ang="0">
                  <a:pos x="266" y="54"/>
                </a:cxn>
                <a:cxn ang="0">
                  <a:pos x="194" y="80"/>
                </a:cxn>
                <a:cxn ang="0">
                  <a:pos x="132" y="110"/>
                </a:cxn>
                <a:cxn ang="0">
                  <a:pos x="80" y="143"/>
                </a:cxn>
                <a:cxn ang="0">
                  <a:pos x="41" y="178"/>
                </a:cxn>
                <a:cxn ang="0">
                  <a:pos x="13" y="217"/>
                </a:cxn>
                <a:cxn ang="0">
                  <a:pos x="1" y="258"/>
                </a:cxn>
                <a:cxn ang="0">
                  <a:pos x="3" y="301"/>
                </a:cxn>
                <a:cxn ang="0">
                  <a:pos x="21" y="340"/>
                </a:cxn>
                <a:cxn ang="0">
                  <a:pos x="52" y="378"/>
                </a:cxn>
                <a:cxn ang="0">
                  <a:pos x="96" y="414"/>
                </a:cxn>
                <a:cxn ang="0">
                  <a:pos x="152" y="446"/>
                </a:cxn>
                <a:cxn ang="0">
                  <a:pos x="217" y="474"/>
                </a:cxn>
                <a:cxn ang="0">
                  <a:pos x="292" y="498"/>
                </a:cxn>
                <a:cxn ang="0">
                  <a:pos x="375" y="518"/>
                </a:cxn>
                <a:cxn ang="0">
                  <a:pos x="465" y="533"/>
                </a:cxn>
                <a:cxn ang="0">
                  <a:pos x="560" y="543"/>
                </a:cxn>
                <a:cxn ang="0">
                  <a:pos x="661" y="545"/>
                </a:cxn>
              </a:cxnLst>
              <a:rect l="0" t="0" r="r" b="b"/>
              <a:pathLst>
                <a:path w="1322" h="545">
                  <a:moveTo>
                    <a:pt x="661" y="545"/>
                  </a:moveTo>
                  <a:lnTo>
                    <a:pt x="694" y="545"/>
                  </a:lnTo>
                  <a:lnTo>
                    <a:pt x="729" y="544"/>
                  </a:lnTo>
                  <a:lnTo>
                    <a:pt x="761" y="543"/>
                  </a:lnTo>
                  <a:lnTo>
                    <a:pt x="794" y="539"/>
                  </a:lnTo>
                  <a:lnTo>
                    <a:pt x="825" y="537"/>
                  </a:lnTo>
                  <a:lnTo>
                    <a:pt x="858" y="533"/>
                  </a:lnTo>
                  <a:lnTo>
                    <a:pt x="888" y="529"/>
                  </a:lnTo>
                  <a:lnTo>
                    <a:pt x="918" y="524"/>
                  </a:lnTo>
                  <a:lnTo>
                    <a:pt x="948" y="518"/>
                  </a:lnTo>
                  <a:lnTo>
                    <a:pt x="975" y="513"/>
                  </a:lnTo>
                  <a:lnTo>
                    <a:pt x="1003" y="506"/>
                  </a:lnTo>
                  <a:lnTo>
                    <a:pt x="1030" y="498"/>
                  </a:lnTo>
                  <a:lnTo>
                    <a:pt x="1056" y="491"/>
                  </a:lnTo>
                  <a:lnTo>
                    <a:pt x="1081" y="483"/>
                  </a:lnTo>
                  <a:lnTo>
                    <a:pt x="1105" y="474"/>
                  </a:lnTo>
                  <a:lnTo>
                    <a:pt x="1128" y="465"/>
                  </a:lnTo>
                  <a:lnTo>
                    <a:pt x="1150" y="456"/>
                  </a:lnTo>
                  <a:lnTo>
                    <a:pt x="1171" y="446"/>
                  </a:lnTo>
                  <a:lnTo>
                    <a:pt x="1191" y="436"/>
                  </a:lnTo>
                  <a:lnTo>
                    <a:pt x="1208" y="425"/>
                  </a:lnTo>
                  <a:lnTo>
                    <a:pt x="1226" y="414"/>
                  </a:lnTo>
                  <a:lnTo>
                    <a:pt x="1242" y="403"/>
                  </a:lnTo>
                  <a:lnTo>
                    <a:pt x="1256" y="390"/>
                  </a:lnTo>
                  <a:lnTo>
                    <a:pt x="1269" y="378"/>
                  </a:lnTo>
                  <a:lnTo>
                    <a:pt x="1282" y="366"/>
                  </a:lnTo>
                  <a:lnTo>
                    <a:pt x="1292" y="354"/>
                  </a:lnTo>
                  <a:lnTo>
                    <a:pt x="1302" y="340"/>
                  </a:lnTo>
                  <a:lnTo>
                    <a:pt x="1308" y="327"/>
                  </a:lnTo>
                  <a:lnTo>
                    <a:pt x="1314" y="314"/>
                  </a:lnTo>
                  <a:lnTo>
                    <a:pt x="1318" y="301"/>
                  </a:lnTo>
                  <a:lnTo>
                    <a:pt x="1322" y="286"/>
                  </a:lnTo>
                  <a:lnTo>
                    <a:pt x="1322" y="273"/>
                  </a:lnTo>
                  <a:lnTo>
                    <a:pt x="1322" y="258"/>
                  </a:lnTo>
                  <a:lnTo>
                    <a:pt x="1318" y="245"/>
                  </a:lnTo>
                  <a:lnTo>
                    <a:pt x="1314" y="231"/>
                  </a:lnTo>
                  <a:lnTo>
                    <a:pt x="1308" y="217"/>
                  </a:lnTo>
                  <a:lnTo>
                    <a:pt x="1302" y="205"/>
                  </a:lnTo>
                  <a:lnTo>
                    <a:pt x="1292" y="192"/>
                  </a:lnTo>
                  <a:lnTo>
                    <a:pt x="1282" y="178"/>
                  </a:lnTo>
                  <a:lnTo>
                    <a:pt x="1269" y="166"/>
                  </a:lnTo>
                  <a:lnTo>
                    <a:pt x="1256" y="154"/>
                  </a:lnTo>
                  <a:lnTo>
                    <a:pt x="1242" y="143"/>
                  </a:lnTo>
                  <a:lnTo>
                    <a:pt x="1226" y="132"/>
                  </a:lnTo>
                  <a:lnTo>
                    <a:pt x="1208" y="121"/>
                  </a:lnTo>
                  <a:lnTo>
                    <a:pt x="1191" y="110"/>
                  </a:lnTo>
                  <a:lnTo>
                    <a:pt x="1171" y="100"/>
                  </a:lnTo>
                  <a:lnTo>
                    <a:pt x="1150" y="90"/>
                  </a:lnTo>
                  <a:lnTo>
                    <a:pt x="1128" y="80"/>
                  </a:lnTo>
                  <a:lnTo>
                    <a:pt x="1105" y="71"/>
                  </a:lnTo>
                  <a:lnTo>
                    <a:pt x="1081" y="62"/>
                  </a:lnTo>
                  <a:lnTo>
                    <a:pt x="1056" y="54"/>
                  </a:lnTo>
                  <a:lnTo>
                    <a:pt x="1030" y="46"/>
                  </a:lnTo>
                  <a:lnTo>
                    <a:pt x="1003" y="40"/>
                  </a:lnTo>
                  <a:lnTo>
                    <a:pt x="975" y="33"/>
                  </a:lnTo>
                  <a:lnTo>
                    <a:pt x="948" y="26"/>
                  </a:lnTo>
                  <a:lnTo>
                    <a:pt x="918" y="21"/>
                  </a:lnTo>
                  <a:lnTo>
                    <a:pt x="888" y="16"/>
                  </a:lnTo>
                  <a:lnTo>
                    <a:pt x="858" y="12"/>
                  </a:lnTo>
                  <a:lnTo>
                    <a:pt x="825" y="9"/>
                  </a:lnTo>
                  <a:lnTo>
                    <a:pt x="794" y="5"/>
                  </a:lnTo>
                  <a:lnTo>
                    <a:pt x="761" y="3"/>
                  </a:lnTo>
                  <a:lnTo>
                    <a:pt x="729" y="1"/>
                  </a:lnTo>
                  <a:lnTo>
                    <a:pt x="694" y="0"/>
                  </a:lnTo>
                  <a:lnTo>
                    <a:pt x="661" y="0"/>
                  </a:lnTo>
                  <a:lnTo>
                    <a:pt x="627" y="0"/>
                  </a:lnTo>
                  <a:lnTo>
                    <a:pt x="593" y="1"/>
                  </a:lnTo>
                  <a:lnTo>
                    <a:pt x="560" y="3"/>
                  </a:lnTo>
                  <a:lnTo>
                    <a:pt x="528" y="5"/>
                  </a:lnTo>
                  <a:lnTo>
                    <a:pt x="496" y="9"/>
                  </a:lnTo>
                  <a:lnTo>
                    <a:pt x="465" y="12"/>
                  </a:lnTo>
                  <a:lnTo>
                    <a:pt x="434" y="16"/>
                  </a:lnTo>
                  <a:lnTo>
                    <a:pt x="404" y="21"/>
                  </a:lnTo>
                  <a:lnTo>
                    <a:pt x="375" y="26"/>
                  </a:lnTo>
                  <a:lnTo>
                    <a:pt x="346" y="33"/>
                  </a:lnTo>
                  <a:lnTo>
                    <a:pt x="318" y="40"/>
                  </a:lnTo>
                  <a:lnTo>
                    <a:pt x="292" y="46"/>
                  </a:lnTo>
                  <a:lnTo>
                    <a:pt x="266" y="54"/>
                  </a:lnTo>
                  <a:lnTo>
                    <a:pt x="240" y="62"/>
                  </a:lnTo>
                  <a:lnTo>
                    <a:pt x="217" y="71"/>
                  </a:lnTo>
                  <a:lnTo>
                    <a:pt x="194" y="80"/>
                  </a:lnTo>
                  <a:lnTo>
                    <a:pt x="172" y="90"/>
                  </a:lnTo>
                  <a:lnTo>
                    <a:pt x="152" y="100"/>
                  </a:lnTo>
                  <a:lnTo>
                    <a:pt x="132" y="110"/>
                  </a:lnTo>
                  <a:lnTo>
                    <a:pt x="113" y="121"/>
                  </a:lnTo>
                  <a:lnTo>
                    <a:pt x="96" y="132"/>
                  </a:lnTo>
                  <a:lnTo>
                    <a:pt x="80" y="143"/>
                  </a:lnTo>
                  <a:lnTo>
                    <a:pt x="65" y="154"/>
                  </a:lnTo>
                  <a:lnTo>
                    <a:pt x="52" y="166"/>
                  </a:lnTo>
                  <a:lnTo>
                    <a:pt x="41" y="178"/>
                  </a:lnTo>
                  <a:lnTo>
                    <a:pt x="30" y="192"/>
                  </a:lnTo>
                  <a:lnTo>
                    <a:pt x="21" y="205"/>
                  </a:lnTo>
                  <a:lnTo>
                    <a:pt x="13" y="217"/>
                  </a:lnTo>
                  <a:lnTo>
                    <a:pt x="7" y="231"/>
                  </a:lnTo>
                  <a:lnTo>
                    <a:pt x="3" y="245"/>
                  </a:lnTo>
                  <a:lnTo>
                    <a:pt x="1" y="258"/>
                  </a:lnTo>
                  <a:lnTo>
                    <a:pt x="0" y="273"/>
                  </a:lnTo>
                  <a:lnTo>
                    <a:pt x="1" y="286"/>
                  </a:lnTo>
                  <a:lnTo>
                    <a:pt x="3" y="301"/>
                  </a:lnTo>
                  <a:lnTo>
                    <a:pt x="7" y="314"/>
                  </a:lnTo>
                  <a:lnTo>
                    <a:pt x="13" y="327"/>
                  </a:lnTo>
                  <a:lnTo>
                    <a:pt x="21" y="340"/>
                  </a:lnTo>
                  <a:lnTo>
                    <a:pt x="30" y="354"/>
                  </a:lnTo>
                  <a:lnTo>
                    <a:pt x="41" y="366"/>
                  </a:lnTo>
                  <a:lnTo>
                    <a:pt x="52" y="378"/>
                  </a:lnTo>
                  <a:lnTo>
                    <a:pt x="65" y="390"/>
                  </a:lnTo>
                  <a:lnTo>
                    <a:pt x="80" y="403"/>
                  </a:lnTo>
                  <a:lnTo>
                    <a:pt x="96" y="414"/>
                  </a:lnTo>
                  <a:lnTo>
                    <a:pt x="113" y="425"/>
                  </a:lnTo>
                  <a:lnTo>
                    <a:pt x="132" y="436"/>
                  </a:lnTo>
                  <a:lnTo>
                    <a:pt x="152" y="446"/>
                  </a:lnTo>
                  <a:lnTo>
                    <a:pt x="172" y="456"/>
                  </a:lnTo>
                  <a:lnTo>
                    <a:pt x="194" y="465"/>
                  </a:lnTo>
                  <a:lnTo>
                    <a:pt x="217" y="474"/>
                  </a:lnTo>
                  <a:lnTo>
                    <a:pt x="240" y="483"/>
                  </a:lnTo>
                  <a:lnTo>
                    <a:pt x="266" y="491"/>
                  </a:lnTo>
                  <a:lnTo>
                    <a:pt x="292" y="498"/>
                  </a:lnTo>
                  <a:lnTo>
                    <a:pt x="318" y="506"/>
                  </a:lnTo>
                  <a:lnTo>
                    <a:pt x="346" y="513"/>
                  </a:lnTo>
                  <a:lnTo>
                    <a:pt x="375" y="518"/>
                  </a:lnTo>
                  <a:lnTo>
                    <a:pt x="404" y="524"/>
                  </a:lnTo>
                  <a:lnTo>
                    <a:pt x="434" y="529"/>
                  </a:lnTo>
                  <a:lnTo>
                    <a:pt x="465" y="533"/>
                  </a:lnTo>
                  <a:lnTo>
                    <a:pt x="496" y="537"/>
                  </a:lnTo>
                  <a:lnTo>
                    <a:pt x="528" y="539"/>
                  </a:lnTo>
                  <a:lnTo>
                    <a:pt x="560" y="543"/>
                  </a:lnTo>
                  <a:lnTo>
                    <a:pt x="593" y="544"/>
                  </a:lnTo>
                  <a:lnTo>
                    <a:pt x="627" y="545"/>
                  </a:lnTo>
                  <a:lnTo>
                    <a:pt x="661" y="545"/>
                  </a:lnTo>
                </a:path>
              </a:pathLst>
            </a:custGeom>
            <a:noFill/>
            <a:ln w="7938">
              <a:solidFill>
                <a:srgbClr val="C3C3C2"/>
              </a:solidFill>
              <a:prstDash val="solid"/>
              <a:round/>
              <a:headEnd/>
              <a:tailEnd/>
            </a:ln>
          </p:spPr>
          <p:txBody>
            <a:bodyPr/>
            <a:lstStyle/>
            <a:p>
              <a:endParaRPr lang="en-GB"/>
            </a:p>
          </p:txBody>
        </p:sp>
        <p:sp>
          <p:nvSpPr>
            <p:cNvPr id="174128" name="Freeform 48"/>
            <p:cNvSpPr>
              <a:spLocks/>
            </p:cNvSpPr>
            <p:nvPr/>
          </p:nvSpPr>
          <p:spPr bwMode="auto">
            <a:xfrm>
              <a:off x="3536" y="2108"/>
              <a:ext cx="264" cy="109"/>
            </a:xfrm>
            <a:custGeom>
              <a:avLst/>
              <a:gdLst/>
              <a:ahLst/>
              <a:cxnLst>
                <a:cxn ang="0">
                  <a:pos x="729" y="544"/>
                </a:cxn>
                <a:cxn ang="0">
                  <a:pos x="826" y="537"/>
                </a:cxn>
                <a:cxn ang="0">
                  <a:pos x="918" y="524"/>
                </a:cxn>
                <a:cxn ang="0">
                  <a:pos x="1004" y="506"/>
                </a:cxn>
                <a:cxn ang="0">
                  <a:pos x="1082" y="483"/>
                </a:cxn>
                <a:cxn ang="0">
                  <a:pos x="1150" y="456"/>
                </a:cxn>
                <a:cxn ang="0">
                  <a:pos x="1209" y="425"/>
                </a:cxn>
                <a:cxn ang="0">
                  <a:pos x="1257" y="390"/>
                </a:cxn>
                <a:cxn ang="0">
                  <a:pos x="1292" y="354"/>
                </a:cxn>
                <a:cxn ang="0">
                  <a:pos x="1315" y="314"/>
                </a:cxn>
                <a:cxn ang="0">
                  <a:pos x="1322" y="273"/>
                </a:cxn>
                <a:cxn ang="0">
                  <a:pos x="1315" y="232"/>
                </a:cxn>
                <a:cxn ang="0">
                  <a:pos x="1292" y="192"/>
                </a:cxn>
                <a:cxn ang="0">
                  <a:pos x="1257" y="155"/>
                </a:cxn>
                <a:cxn ang="0">
                  <a:pos x="1209" y="121"/>
                </a:cxn>
                <a:cxn ang="0">
                  <a:pos x="1150" y="90"/>
                </a:cxn>
                <a:cxn ang="0">
                  <a:pos x="1082" y="63"/>
                </a:cxn>
                <a:cxn ang="0">
                  <a:pos x="1004" y="40"/>
                </a:cxn>
                <a:cxn ang="0">
                  <a:pos x="918" y="22"/>
                </a:cxn>
                <a:cxn ang="0">
                  <a:pos x="826" y="9"/>
                </a:cxn>
                <a:cxn ang="0">
                  <a:pos x="729" y="2"/>
                </a:cxn>
                <a:cxn ang="0">
                  <a:pos x="628" y="1"/>
                </a:cxn>
                <a:cxn ang="0">
                  <a:pos x="529" y="5"/>
                </a:cxn>
                <a:cxn ang="0">
                  <a:pos x="434" y="16"/>
                </a:cxn>
                <a:cxn ang="0">
                  <a:pos x="347" y="33"/>
                </a:cxn>
                <a:cxn ang="0">
                  <a:pos x="267" y="54"/>
                </a:cxn>
                <a:cxn ang="0">
                  <a:pos x="195" y="80"/>
                </a:cxn>
                <a:cxn ang="0">
                  <a:pos x="133" y="110"/>
                </a:cxn>
                <a:cxn ang="0">
                  <a:pos x="80" y="143"/>
                </a:cxn>
                <a:cxn ang="0">
                  <a:pos x="40" y="180"/>
                </a:cxn>
                <a:cxn ang="0">
                  <a:pos x="14" y="218"/>
                </a:cxn>
                <a:cxn ang="0">
                  <a:pos x="2" y="258"/>
                </a:cxn>
                <a:cxn ang="0">
                  <a:pos x="4" y="301"/>
                </a:cxn>
                <a:cxn ang="0">
                  <a:pos x="22" y="341"/>
                </a:cxn>
                <a:cxn ang="0">
                  <a:pos x="53" y="378"/>
                </a:cxn>
                <a:cxn ang="0">
                  <a:pos x="97" y="414"/>
                </a:cxn>
                <a:cxn ang="0">
                  <a:pos x="153" y="446"/>
                </a:cxn>
                <a:cxn ang="0">
                  <a:pos x="218" y="475"/>
                </a:cxn>
                <a:cxn ang="0">
                  <a:pos x="292" y="499"/>
                </a:cxn>
                <a:cxn ang="0">
                  <a:pos x="376" y="518"/>
                </a:cxn>
                <a:cxn ang="0">
                  <a:pos x="466" y="534"/>
                </a:cxn>
                <a:cxn ang="0">
                  <a:pos x="561" y="543"/>
                </a:cxn>
                <a:cxn ang="0">
                  <a:pos x="662" y="546"/>
                </a:cxn>
              </a:cxnLst>
              <a:rect l="0" t="0" r="r" b="b"/>
              <a:pathLst>
                <a:path w="1322" h="546">
                  <a:moveTo>
                    <a:pt x="662" y="546"/>
                  </a:moveTo>
                  <a:lnTo>
                    <a:pt x="695" y="545"/>
                  </a:lnTo>
                  <a:lnTo>
                    <a:pt x="729" y="544"/>
                  </a:lnTo>
                  <a:lnTo>
                    <a:pt x="762" y="543"/>
                  </a:lnTo>
                  <a:lnTo>
                    <a:pt x="795" y="540"/>
                  </a:lnTo>
                  <a:lnTo>
                    <a:pt x="826" y="537"/>
                  </a:lnTo>
                  <a:lnTo>
                    <a:pt x="857" y="534"/>
                  </a:lnTo>
                  <a:lnTo>
                    <a:pt x="888" y="529"/>
                  </a:lnTo>
                  <a:lnTo>
                    <a:pt x="918" y="524"/>
                  </a:lnTo>
                  <a:lnTo>
                    <a:pt x="948" y="518"/>
                  </a:lnTo>
                  <a:lnTo>
                    <a:pt x="976" y="513"/>
                  </a:lnTo>
                  <a:lnTo>
                    <a:pt x="1004" y="506"/>
                  </a:lnTo>
                  <a:lnTo>
                    <a:pt x="1031" y="499"/>
                  </a:lnTo>
                  <a:lnTo>
                    <a:pt x="1057" y="491"/>
                  </a:lnTo>
                  <a:lnTo>
                    <a:pt x="1082" y="483"/>
                  </a:lnTo>
                  <a:lnTo>
                    <a:pt x="1106" y="475"/>
                  </a:lnTo>
                  <a:lnTo>
                    <a:pt x="1129" y="466"/>
                  </a:lnTo>
                  <a:lnTo>
                    <a:pt x="1150" y="456"/>
                  </a:lnTo>
                  <a:lnTo>
                    <a:pt x="1171" y="446"/>
                  </a:lnTo>
                  <a:lnTo>
                    <a:pt x="1191" y="436"/>
                  </a:lnTo>
                  <a:lnTo>
                    <a:pt x="1209" y="425"/>
                  </a:lnTo>
                  <a:lnTo>
                    <a:pt x="1227" y="414"/>
                  </a:lnTo>
                  <a:lnTo>
                    <a:pt x="1243" y="403"/>
                  </a:lnTo>
                  <a:lnTo>
                    <a:pt x="1257" y="390"/>
                  </a:lnTo>
                  <a:lnTo>
                    <a:pt x="1270" y="378"/>
                  </a:lnTo>
                  <a:lnTo>
                    <a:pt x="1282" y="366"/>
                  </a:lnTo>
                  <a:lnTo>
                    <a:pt x="1292" y="354"/>
                  </a:lnTo>
                  <a:lnTo>
                    <a:pt x="1301" y="341"/>
                  </a:lnTo>
                  <a:lnTo>
                    <a:pt x="1309" y="327"/>
                  </a:lnTo>
                  <a:lnTo>
                    <a:pt x="1315" y="314"/>
                  </a:lnTo>
                  <a:lnTo>
                    <a:pt x="1319" y="301"/>
                  </a:lnTo>
                  <a:lnTo>
                    <a:pt x="1321" y="287"/>
                  </a:lnTo>
                  <a:lnTo>
                    <a:pt x="1322" y="273"/>
                  </a:lnTo>
                  <a:lnTo>
                    <a:pt x="1321" y="258"/>
                  </a:lnTo>
                  <a:lnTo>
                    <a:pt x="1319" y="245"/>
                  </a:lnTo>
                  <a:lnTo>
                    <a:pt x="1315" y="232"/>
                  </a:lnTo>
                  <a:lnTo>
                    <a:pt x="1309" y="218"/>
                  </a:lnTo>
                  <a:lnTo>
                    <a:pt x="1301" y="205"/>
                  </a:lnTo>
                  <a:lnTo>
                    <a:pt x="1292" y="192"/>
                  </a:lnTo>
                  <a:lnTo>
                    <a:pt x="1282" y="180"/>
                  </a:lnTo>
                  <a:lnTo>
                    <a:pt x="1270" y="167"/>
                  </a:lnTo>
                  <a:lnTo>
                    <a:pt x="1257" y="155"/>
                  </a:lnTo>
                  <a:lnTo>
                    <a:pt x="1243" y="143"/>
                  </a:lnTo>
                  <a:lnTo>
                    <a:pt x="1227" y="132"/>
                  </a:lnTo>
                  <a:lnTo>
                    <a:pt x="1209" y="121"/>
                  </a:lnTo>
                  <a:lnTo>
                    <a:pt x="1191" y="110"/>
                  </a:lnTo>
                  <a:lnTo>
                    <a:pt x="1171" y="100"/>
                  </a:lnTo>
                  <a:lnTo>
                    <a:pt x="1150" y="90"/>
                  </a:lnTo>
                  <a:lnTo>
                    <a:pt x="1129" y="80"/>
                  </a:lnTo>
                  <a:lnTo>
                    <a:pt x="1106" y="71"/>
                  </a:lnTo>
                  <a:lnTo>
                    <a:pt x="1082" y="63"/>
                  </a:lnTo>
                  <a:lnTo>
                    <a:pt x="1057" y="54"/>
                  </a:lnTo>
                  <a:lnTo>
                    <a:pt x="1031" y="46"/>
                  </a:lnTo>
                  <a:lnTo>
                    <a:pt x="1004" y="40"/>
                  </a:lnTo>
                  <a:lnTo>
                    <a:pt x="976" y="33"/>
                  </a:lnTo>
                  <a:lnTo>
                    <a:pt x="948" y="27"/>
                  </a:lnTo>
                  <a:lnTo>
                    <a:pt x="918" y="22"/>
                  </a:lnTo>
                  <a:lnTo>
                    <a:pt x="888" y="16"/>
                  </a:lnTo>
                  <a:lnTo>
                    <a:pt x="857" y="12"/>
                  </a:lnTo>
                  <a:lnTo>
                    <a:pt x="826" y="9"/>
                  </a:lnTo>
                  <a:lnTo>
                    <a:pt x="795" y="5"/>
                  </a:lnTo>
                  <a:lnTo>
                    <a:pt x="762" y="3"/>
                  </a:lnTo>
                  <a:lnTo>
                    <a:pt x="729" y="2"/>
                  </a:lnTo>
                  <a:lnTo>
                    <a:pt x="695" y="1"/>
                  </a:lnTo>
                  <a:lnTo>
                    <a:pt x="662" y="0"/>
                  </a:lnTo>
                  <a:lnTo>
                    <a:pt x="628" y="1"/>
                  </a:lnTo>
                  <a:lnTo>
                    <a:pt x="594" y="2"/>
                  </a:lnTo>
                  <a:lnTo>
                    <a:pt x="561" y="3"/>
                  </a:lnTo>
                  <a:lnTo>
                    <a:pt x="529" y="5"/>
                  </a:lnTo>
                  <a:lnTo>
                    <a:pt x="497" y="9"/>
                  </a:lnTo>
                  <a:lnTo>
                    <a:pt x="466" y="12"/>
                  </a:lnTo>
                  <a:lnTo>
                    <a:pt x="434" y="16"/>
                  </a:lnTo>
                  <a:lnTo>
                    <a:pt x="404" y="22"/>
                  </a:lnTo>
                  <a:lnTo>
                    <a:pt x="376" y="27"/>
                  </a:lnTo>
                  <a:lnTo>
                    <a:pt x="347" y="33"/>
                  </a:lnTo>
                  <a:lnTo>
                    <a:pt x="319" y="40"/>
                  </a:lnTo>
                  <a:lnTo>
                    <a:pt x="292" y="46"/>
                  </a:lnTo>
                  <a:lnTo>
                    <a:pt x="267" y="54"/>
                  </a:lnTo>
                  <a:lnTo>
                    <a:pt x="241" y="63"/>
                  </a:lnTo>
                  <a:lnTo>
                    <a:pt x="218" y="71"/>
                  </a:lnTo>
                  <a:lnTo>
                    <a:pt x="195" y="80"/>
                  </a:lnTo>
                  <a:lnTo>
                    <a:pt x="173" y="90"/>
                  </a:lnTo>
                  <a:lnTo>
                    <a:pt x="153" y="100"/>
                  </a:lnTo>
                  <a:lnTo>
                    <a:pt x="133" y="110"/>
                  </a:lnTo>
                  <a:lnTo>
                    <a:pt x="114" y="121"/>
                  </a:lnTo>
                  <a:lnTo>
                    <a:pt x="97" y="132"/>
                  </a:lnTo>
                  <a:lnTo>
                    <a:pt x="80" y="143"/>
                  </a:lnTo>
                  <a:lnTo>
                    <a:pt x="66" y="155"/>
                  </a:lnTo>
                  <a:lnTo>
                    <a:pt x="53" y="167"/>
                  </a:lnTo>
                  <a:lnTo>
                    <a:pt x="40" y="180"/>
                  </a:lnTo>
                  <a:lnTo>
                    <a:pt x="30" y="192"/>
                  </a:lnTo>
                  <a:lnTo>
                    <a:pt x="22" y="205"/>
                  </a:lnTo>
                  <a:lnTo>
                    <a:pt x="14" y="218"/>
                  </a:lnTo>
                  <a:lnTo>
                    <a:pt x="8" y="232"/>
                  </a:lnTo>
                  <a:lnTo>
                    <a:pt x="4" y="245"/>
                  </a:lnTo>
                  <a:lnTo>
                    <a:pt x="2" y="258"/>
                  </a:lnTo>
                  <a:lnTo>
                    <a:pt x="0" y="273"/>
                  </a:lnTo>
                  <a:lnTo>
                    <a:pt x="2" y="287"/>
                  </a:lnTo>
                  <a:lnTo>
                    <a:pt x="4" y="301"/>
                  </a:lnTo>
                  <a:lnTo>
                    <a:pt x="8" y="314"/>
                  </a:lnTo>
                  <a:lnTo>
                    <a:pt x="14" y="327"/>
                  </a:lnTo>
                  <a:lnTo>
                    <a:pt x="22" y="341"/>
                  </a:lnTo>
                  <a:lnTo>
                    <a:pt x="30" y="354"/>
                  </a:lnTo>
                  <a:lnTo>
                    <a:pt x="40" y="366"/>
                  </a:lnTo>
                  <a:lnTo>
                    <a:pt x="53" y="378"/>
                  </a:lnTo>
                  <a:lnTo>
                    <a:pt x="66" y="390"/>
                  </a:lnTo>
                  <a:lnTo>
                    <a:pt x="80" y="403"/>
                  </a:lnTo>
                  <a:lnTo>
                    <a:pt x="97" y="414"/>
                  </a:lnTo>
                  <a:lnTo>
                    <a:pt x="114" y="425"/>
                  </a:lnTo>
                  <a:lnTo>
                    <a:pt x="133" y="436"/>
                  </a:lnTo>
                  <a:lnTo>
                    <a:pt x="153" y="446"/>
                  </a:lnTo>
                  <a:lnTo>
                    <a:pt x="173" y="456"/>
                  </a:lnTo>
                  <a:lnTo>
                    <a:pt x="195" y="466"/>
                  </a:lnTo>
                  <a:lnTo>
                    <a:pt x="218" y="475"/>
                  </a:lnTo>
                  <a:lnTo>
                    <a:pt x="241" y="483"/>
                  </a:lnTo>
                  <a:lnTo>
                    <a:pt x="267" y="491"/>
                  </a:lnTo>
                  <a:lnTo>
                    <a:pt x="292" y="499"/>
                  </a:lnTo>
                  <a:lnTo>
                    <a:pt x="319" y="506"/>
                  </a:lnTo>
                  <a:lnTo>
                    <a:pt x="347" y="513"/>
                  </a:lnTo>
                  <a:lnTo>
                    <a:pt x="376" y="518"/>
                  </a:lnTo>
                  <a:lnTo>
                    <a:pt x="404" y="524"/>
                  </a:lnTo>
                  <a:lnTo>
                    <a:pt x="434" y="529"/>
                  </a:lnTo>
                  <a:lnTo>
                    <a:pt x="466" y="534"/>
                  </a:lnTo>
                  <a:lnTo>
                    <a:pt x="497" y="537"/>
                  </a:lnTo>
                  <a:lnTo>
                    <a:pt x="529" y="540"/>
                  </a:lnTo>
                  <a:lnTo>
                    <a:pt x="561" y="543"/>
                  </a:lnTo>
                  <a:lnTo>
                    <a:pt x="594" y="544"/>
                  </a:lnTo>
                  <a:lnTo>
                    <a:pt x="628" y="545"/>
                  </a:lnTo>
                  <a:lnTo>
                    <a:pt x="662" y="546"/>
                  </a:lnTo>
                  <a:close/>
                </a:path>
              </a:pathLst>
            </a:custGeom>
            <a:solidFill>
              <a:srgbClr val="7A8A93"/>
            </a:solidFill>
            <a:ln w="9525">
              <a:noFill/>
              <a:round/>
              <a:headEnd/>
              <a:tailEnd/>
            </a:ln>
          </p:spPr>
          <p:txBody>
            <a:bodyPr/>
            <a:lstStyle/>
            <a:p>
              <a:endParaRPr lang="en-GB"/>
            </a:p>
          </p:txBody>
        </p:sp>
        <p:sp>
          <p:nvSpPr>
            <p:cNvPr id="174129" name="Freeform 49"/>
            <p:cNvSpPr>
              <a:spLocks/>
            </p:cNvSpPr>
            <p:nvPr/>
          </p:nvSpPr>
          <p:spPr bwMode="auto">
            <a:xfrm>
              <a:off x="3536" y="2108"/>
              <a:ext cx="264" cy="109"/>
            </a:xfrm>
            <a:custGeom>
              <a:avLst/>
              <a:gdLst/>
              <a:ahLst/>
              <a:cxnLst>
                <a:cxn ang="0">
                  <a:pos x="729" y="544"/>
                </a:cxn>
                <a:cxn ang="0">
                  <a:pos x="826" y="537"/>
                </a:cxn>
                <a:cxn ang="0">
                  <a:pos x="918" y="524"/>
                </a:cxn>
                <a:cxn ang="0">
                  <a:pos x="1004" y="506"/>
                </a:cxn>
                <a:cxn ang="0">
                  <a:pos x="1082" y="483"/>
                </a:cxn>
                <a:cxn ang="0">
                  <a:pos x="1150" y="456"/>
                </a:cxn>
                <a:cxn ang="0">
                  <a:pos x="1209" y="425"/>
                </a:cxn>
                <a:cxn ang="0">
                  <a:pos x="1257" y="390"/>
                </a:cxn>
                <a:cxn ang="0">
                  <a:pos x="1292" y="354"/>
                </a:cxn>
                <a:cxn ang="0">
                  <a:pos x="1315" y="314"/>
                </a:cxn>
                <a:cxn ang="0">
                  <a:pos x="1322" y="273"/>
                </a:cxn>
                <a:cxn ang="0">
                  <a:pos x="1315" y="232"/>
                </a:cxn>
                <a:cxn ang="0">
                  <a:pos x="1292" y="192"/>
                </a:cxn>
                <a:cxn ang="0">
                  <a:pos x="1257" y="155"/>
                </a:cxn>
                <a:cxn ang="0">
                  <a:pos x="1209" y="121"/>
                </a:cxn>
                <a:cxn ang="0">
                  <a:pos x="1150" y="90"/>
                </a:cxn>
                <a:cxn ang="0">
                  <a:pos x="1082" y="63"/>
                </a:cxn>
                <a:cxn ang="0">
                  <a:pos x="1004" y="40"/>
                </a:cxn>
                <a:cxn ang="0">
                  <a:pos x="918" y="22"/>
                </a:cxn>
                <a:cxn ang="0">
                  <a:pos x="826" y="9"/>
                </a:cxn>
                <a:cxn ang="0">
                  <a:pos x="729" y="2"/>
                </a:cxn>
                <a:cxn ang="0">
                  <a:pos x="628" y="1"/>
                </a:cxn>
                <a:cxn ang="0">
                  <a:pos x="529" y="5"/>
                </a:cxn>
                <a:cxn ang="0">
                  <a:pos x="434" y="16"/>
                </a:cxn>
                <a:cxn ang="0">
                  <a:pos x="347" y="33"/>
                </a:cxn>
                <a:cxn ang="0">
                  <a:pos x="267" y="54"/>
                </a:cxn>
                <a:cxn ang="0">
                  <a:pos x="195" y="80"/>
                </a:cxn>
                <a:cxn ang="0">
                  <a:pos x="133" y="110"/>
                </a:cxn>
                <a:cxn ang="0">
                  <a:pos x="80" y="143"/>
                </a:cxn>
                <a:cxn ang="0">
                  <a:pos x="40" y="180"/>
                </a:cxn>
                <a:cxn ang="0">
                  <a:pos x="14" y="218"/>
                </a:cxn>
                <a:cxn ang="0">
                  <a:pos x="2" y="258"/>
                </a:cxn>
                <a:cxn ang="0">
                  <a:pos x="4" y="301"/>
                </a:cxn>
                <a:cxn ang="0">
                  <a:pos x="22" y="341"/>
                </a:cxn>
                <a:cxn ang="0">
                  <a:pos x="53" y="378"/>
                </a:cxn>
                <a:cxn ang="0">
                  <a:pos x="97" y="414"/>
                </a:cxn>
                <a:cxn ang="0">
                  <a:pos x="153" y="446"/>
                </a:cxn>
                <a:cxn ang="0">
                  <a:pos x="218" y="475"/>
                </a:cxn>
                <a:cxn ang="0">
                  <a:pos x="292" y="499"/>
                </a:cxn>
                <a:cxn ang="0">
                  <a:pos x="376" y="518"/>
                </a:cxn>
                <a:cxn ang="0">
                  <a:pos x="466" y="534"/>
                </a:cxn>
                <a:cxn ang="0">
                  <a:pos x="561" y="543"/>
                </a:cxn>
                <a:cxn ang="0">
                  <a:pos x="662" y="546"/>
                </a:cxn>
              </a:cxnLst>
              <a:rect l="0" t="0" r="r" b="b"/>
              <a:pathLst>
                <a:path w="1322" h="546">
                  <a:moveTo>
                    <a:pt x="662" y="546"/>
                  </a:moveTo>
                  <a:lnTo>
                    <a:pt x="695" y="545"/>
                  </a:lnTo>
                  <a:lnTo>
                    <a:pt x="729" y="544"/>
                  </a:lnTo>
                  <a:lnTo>
                    <a:pt x="762" y="543"/>
                  </a:lnTo>
                  <a:lnTo>
                    <a:pt x="795" y="540"/>
                  </a:lnTo>
                  <a:lnTo>
                    <a:pt x="826" y="537"/>
                  </a:lnTo>
                  <a:lnTo>
                    <a:pt x="857" y="534"/>
                  </a:lnTo>
                  <a:lnTo>
                    <a:pt x="888" y="529"/>
                  </a:lnTo>
                  <a:lnTo>
                    <a:pt x="918" y="524"/>
                  </a:lnTo>
                  <a:lnTo>
                    <a:pt x="948" y="518"/>
                  </a:lnTo>
                  <a:lnTo>
                    <a:pt x="976" y="513"/>
                  </a:lnTo>
                  <a:lnTo>
                    <a:pt x="1004" y="506"/>
                  </a:lnTo>
                  <a:lnTo>
                    <a:pt x="1031" y="499"/>
                  </a:lnTo>
                  <a:lnTo>
                    <a:pt x="1057" y="491"/>
                  </a:lnTo>
                  <a:lnTo>
                    <a:pt x="1082" y="483"/>
                  </a:lnTo>
                  <a:lnTo>
                    <a:pt x="1106" y="475"/>
                  </a:lnTo>
                  <a:lnTo>
                    <a:pt x="1129" y="466"/>
                  </a:lnTo>
                  <a:lnTo>
                    <a:pt x="1150" y="456"/>
                  </a:lnTo>
                  <a:lnTo>
                    <a:pt x="1171" y="446"/>
                  </a:lnTo>
                  <a:lnTo>
                    <a:pt x="1191" y="436"/>
                  </a:lnTo>
                  <a:lnTo>
                    <a:pt x="1209" y="425"/>
                  </a:lnTo>
                  <a:lnTo>
                    <a:pt x="1227" y="414"/>
                  </a:lnTo>
                  <a:lnTo>
                    <a:pt x="1243" y="403"/>
                  </a:lnTo>
                  <a:lnTo>
                    <a:pt x="1257" y="390"/>
                  </a:lnTo>
                  <a:lnTo>
                    <a:pt x="1270" y="378"/>
                  </a:lnTo>
                  <a:lnTo>
                    <a:pt x="1282" y="366"/>
                  </a:lnTo>
                  <a:lnTo>
                    <a:pt x="1292" y="354"/>
                  </a:lnTo>
                  <a:lnTo>
                    <a:pt x="1301" y="341"/>
                  </a:lnTo>
                  <a:lnTo>
                    <a:pt x="1309" y="327"/>
                  </a:lnTo>
                  <a:lnTo>
                    <a:pt x="1315" y="314"/>
                  </a:lnTo>
                  <a:lnTo>
                    <a:pt x="1319" y="301"/>
                  </a:lnTo>
                  <a:lnTo>
                    <a:pt x="1321" y="287"/>
                  </a:lnTo>
                  <a:lnTo>
                    <a:pt x="1322" y="273"/>
                  </a:lnTo>
                  <a:lnTo>
                    <a:pt x="1321" y="258"/>
                  </a:lnTo>
                  <a:lnTo>
                    <a:pt x="1319" y="245"/>
                  </a:lnTo>
                  <a:lnTo>
                    <a:pt x="1315" y="232"/>
                  </a:lnTo>
                  <a:lnTo>
                    <a:pt x="1309" y="218"/>
                  </a:lnTo>
                  <a:lnTo>
                    <a:pt x="1301" y="205"/>
                  </a:lnTo>
                  <a:lnTo>
                    <a:pt x="1292" y="192"/>
                  </a:lnTo>
                  <a:lnTo>
                    <a:pt x="1282" y="180"/>
                  </a:lnTo>
                  <a:lnTo>
                    <a:pt x="1270" y="167"/>
                  </a:lnTo>
                  <a:lnTo>
                    <a:pt x="1257" y="155"/>
                  </a:lnTo>
                  <a:lnTo>
                    <a:pt x="1243" y="143"/>
                  </a:lnTo>
                  <a:lnTo>
                    <a:pt x="1227" y="132"/>
                  </a:lnTo>
                  <a:lnTo>
                    <a:pt x="1209" y="121"/>
                  </a:lnTo>
                  <a:lnTo>
                    <a:pt x="1191" y="110"/>
                  </a:lnTo>
                  <a:lnTo>
                    <a:pt x="1171" y="100"/>
                  </a:lnTo>
                  <a:lnTo>
                    <a:pt x="1150" y="90"/>
                  </a:lnTo>
                  <a:lnTo>
                    <a:pt x="1129" y="80"/>
                  </a:lnTo>
                  <a:lnTo>
                    <a:pt x="1106" y="71"/>
                  </a:lnTo>
                  <a:lnTo>
                    <a:pt x="1082" y="63"/>
                  </a:lnTo>
                  <a:lnTo>
                    <a:pt x="1057" y="54"/>
                  </a:lnTo>
                  <a:lnTo>
                    <a:pt x="1031" y="46"/>
                  </a:lnTo>
                  <a:lnTo>
                    <a:pt x="1004" y="40"/>
                  </a:lnTo>
                  <a:lnTo>
                    <a:pt x="976" y="33"/>
                  </a:lnTo>
                  <a:lnTo>
                    <a:pt x="948" y="27"/>
                  </a:lnTo>
                  <a:lnTo>
                    <a:pt x="918" y="22"/>
                  </a:lnTo>
                  <a:lnTo>
                    <a:pt x="888" y="16"/>
                  </a:lnTo>
                  <a:lnTo>
                    <a:pt x="857" y="12"/>
                  </a:lnTo>
                  <a:lnTo>
                    <a:pt x="826" y="9"/>
                  </a:lnTo>
                  <a:lnTo>
                    <a:pt x="795" y="5"/>
                  </a:lnTo>
                  <a:lnTo>
                    <a:pt x="762" y="3"/>
                  </a:lnTo>
                  <a:lnTo>
                    <a:pt x="729" y="2"/>
                  </a:lnTo>
                  <a:lnTo>
                    <a:pt x="695" y="1"/>
                  </a:lnTo>
                  <a:lnTo>
                    <a:pt x="662" y="0"/>
                  </a:lnTo>
                  <a:lnTo>
                    <a:pt x="628" y="1"/>
                  </a:lnTo>
                  <a:lnTo>
                    <a:pt x="594" y="2"/>
                  </a:lnTo>
                  <a:lnTo>
                    <a:pt x="561" y="3"/>
                  </a:lnTo>
                  <a:lnTo>
                    <a:pt x="529" y="5"/>
                  </a:lnTo>
                  <a:lnTo>
                    <a:pt x="497" y="9"/>
                  </a:lnTo>
                  <a:lnTo>
                    <a:pt x="466" y="12"/>
                  </a:lnTo>
                  <a:lnTo>
                    <a:pt x="434" y="16"/>
                  </a:lnTo>
                  <a:lnTo>
                    <a:pt x="404" y="22"/>
                  </a:lnTo>
                  <a:lnTo>
                    <a:pt x="376" y="27"/>
                  </a:lnTo>
                  <a:lnTo>
                    <a:pt x="347" y="33"/>
                  </a:lnTo>
                  <a:lnTo>
                    <a:pt x="319" y="40"/>
                  </a:lnTo>
                  <a:lnTo>
                    <a:pt x="292" y="46"/>
                  </a:lnTo>
                  <a:lnTo>
                    <a:pt x="267" y="54"/>
                  </a:lnTo>
                  <a:lnTo>
                    <a:pt x="241" y="63"/>
                  </a:lnTo>
                  <a:lnTo>
                    <a:pt x="218" y="71"/>
                  </a:lnTo>
                  <a:lnTo>
                    <a:pt x="195" y="80"/>
                  </a:lnTo>
                  <a:lnTo>
                    <a:pt x="173" y="90"/>
                  </a:lnTo>
                  <a:lnTo>
                    <a:pt x="153" y="100"/>
                  </a:lnTo>
                  <a:lnTo>
                    <a:pt x="133" y="110"/>
                  </a:lnTo>
                  <a:lnTo>
                    <a:pt x="114" y="121"/>
                  </a:lnTo>
                  <a:lnTo>
                    <a:pt x="97" y="132"/>
                  </a:lnTo>
                  <a:lnTo>
                    <a:pt x="80" y="143"/>
                  </a:lnTo>
                  <a:lnTo>
                    <a:pt x="66" y="155"/>
                  </a:lnTo>
                  <a:lnTo>
                    <a:pt x="53" y="167"/>
                  </a:lnTo>
                  <a:lnTo>
                    <a:pt x="40" y="180"/>
                  </a:lnTo>
                  <a:lnTo>
                    <a:pt x="30" y="192"/>
                  </a:lnTo>
                  <a:lnTo>
                    <a:pt x="22" y="205"/>
                  </a:lnTo>
                  <a:lnTo>
                    <a:pt x="14" y="218"/>
                  </a:lnTo>
                  <a:lnTo>
                    <a:pt x="8" y="232"/>
                  </a:lnTo>
                  <a:lnTo>
                    <a:pt x="4" y="245"/>
                  </a:lnTo>
                  <a:lnTo>
                    <a:pt x="2" y="258"/>
                  </a:lnTo>
                  <a:lnTo>
                    <a:pt x="0" y="273"/>
                  </a:lnTo>
                  <a:lnTo>
                    <a:pt x="2" y="287"/>
                  </a:lnTo>
                  <a:lnTo>
                    <a:pt x="4" y="301"/>
                  </a:lnTo>
                  <a:lnTo>
                    <a:pt x="8" y="314"/>
                  </a:lnTo>
                  <a:lnTo>
                    <a:pt x="14" y="327"/>
                  </a:lnTo>
                  <a:lnTo>
                    <a:pt x="22" y="341"/>
                  </a:lnTo>
                  <a:lnTo>
                    <a:pt x="30" y="354"/>
                  </a:lnTo>
                  <a:lnTo>
                    <a:pt x="40" y="366"/>
                  </a:lnTo>
                  <a:lnTo>
                    <a:pt x="53" y="378"/>
                  </a:lnTo>
                  <a:lnTo>
                    <a:pt x="66" y="390"/>
                  </a:lnTo>
                  <a:lnTo>
                    <a:pt x="80" y="403"/>
                  </a:lnTo>
                  <a:lnTo>
                    <a:pt x="97" y="414"/>
                  </a:lnTo>
                  <a:lnTo>
                    <a:pt x="114" y="425"/>
                  </a:lnTo>
                  <a:lnTo>
                    <a:pt x="133" y="436"/>
                  </a:lnTo>
                  <a:lnTo>
                    <a:pt x="153" y="446"/>
                  </a:lnTo>
                  <a:lnTo>
                    <a:pt x="173" y="456"/>
                  </a:lnTo>
                  <a:lnTo>
                    <a:pt x="195" y="466"/>
                  </a:lnTo>
                  <a:lnTo>
                    <a:pt x="218" y="475"/>
                  </a:lnTo>
                  <a:lnTo>
                    <a:pt x="241" y="483"/>
                  </a:lnTo>
                  <a:lnTo>
                    <a:pt x="267" y="491"/>
                  </a:lnTo>
                  <a:lnTo>
                    <a:pt x="292" y="499"/>
                  </a:lnTo>
                  <a:lnTo>
                    <a:pt x="319" y="506"/>
                  </a:lnTo>
                  <a:lnTo>
                    <a:pt x="347" y="513"/>
                  </a:lnTo>
                  <a:lnTo>
                    <a:pt x="376" y="518"/>
                  </a:lnTo>
                  <a:lnTo>
                    <a:pt x="404" y="524"/>
                  </a:lnTo>
                  <a:lnTo>
                    <a:pt x="434" y="529"/>
                  </a:lnTo>
                  <a:lnTo>
                    <a:pt x="466" y="534"/>
                  </a:lnTo>
                  <a:lnTo>
                    <a:pt x="497" y="537"/>
                  </a:lnTo>
                  <a:lnTo>
                    <a:pt x="529" y="540"/>
                  </a:lnTo>
                  <a:lnTo>
                    <a:pt x="561" y="543"/>
                  </a:lnTo>
                  <a:lnTo>
                    <a:pt x="594" y="544"/>
                  </a:lnTo>
                  <a:lnTo>
                    <a:pt x="628" y="545"/>
                  </a:lnTo>
                  <a:lnTo>
                    <a:pt x="662" y="546"/>
                  </a:lnTo>
                </a:path>
              </a:pathLst>
            </a:custGeom>
            <a:noFill/>
            <a:ln w="7938">
              <a:solidFill>
                <a:srgbClr val="1F1A17"/>
              </a:solidFill>
              <a:prstDash val="solid"/>
              <a:round/>
              <a:headEnd/>
              <a:tailEnd/>
            </a:ln>
          </p:spPr>
          <p:txBody>
            <a:bodyPr/>
            <a:lstStyle/>
            <a:p>
              <a:endParaRPr lang="en-GB"/>
            </a:p>
          </p:txBody>
        </p:sp>
        <p:sp>
          <p:nvSpPr>
            <p:cNvPr id="174130" name="Line 50"/>
            <p:cNvSpPr>
              <a:spLocks noChangeShapeType="1"/>
            </p:cNvSpPr>
            <p:nvPr/>
          </p:nvSpPr>
          <p:spPr bwMode="auto">
            <a:xfrm flipV="1">
              <a:off x="3489" y="2215"/>
              <a:ext cx="137" cy="159"/>
            </a:xfrm>
            <a:prstGeom prst="line">
              <a:avLst/>
            </a:prstGeom>
            <a:noFill/>
            <a:ln w="0">
              <a:solidFill>
                <a:srgbClr val="25221E"/>
              </a:solidFill>
              <a:round/>
              <a:headEnd/>
              <a:tailEnd/>
            </a:ln>
          </p:spPr>
          <p:txBody>
            <a:bodyPr/>
            <a:lstStyle/>
            <a:p>
              <a:endParaRPr lang="en-GB"/>
            </a:p>
          </p:txBody>
        </p:sp>
        <p:sp>
          <p:nvSpPr>
            <p:cNvPr id="174131" name="Freeform 51"/>
            <p:cNvSpPr>
              <a:spLocks/>
            </p:cNvSpPr>
            <p:nvPr/>
          </p:nvSpPr>
          <p:spPr bwMode="auto">
            <a:xfrm>
              <a:off x="3567" y="2221"/>
              <a:ext cx="55" cy="56"/>
            </a:xfrm>
            <a:custGeom>
              <a:avLst/>
              <a:gdLst/>
              <a:ahLst/>
              <a:cxnLst>
                <a:cxn ang="0">
                  <a:pos x="0" y="78"/>
                </a:cxn>
                <a:cxn ang="0">
                  <a:pos x="272" y="0"/>
                </a:cxn>
                <a:cxn ang="0">
                  <a:pos x="233" y="280"/>
                </a:cxn>
              </a:cxnLst>
              <a:rect l="0" t="0" r="r" b="b"/>
              <a:pathLst>
                <a:path w="272" h="280">
                  <a:moveTo>
                    <a:pt x="0" y="78"/>
                  </a:moveTo>
                  <a:lnTo>
                    <a:pt x="272" y="0"/>
                  </a:lnTo>
                  <a:lnTo>
                    <a:pt x="233" y="280"/>
                  </a:lnTo>
                </a:path>
              </a:pathLst>
            </a:custGeom>
            <a:noFill/>
            <a:ln w="0">
              <a:solidFill>
                <a:srgbClr val="25221E"/>
              </a:solidFill>
              <a:prstDash val="solid"/>
              <a:round/>
              <a:headEnd/>
              <a:tailEnd/>
            </a:ln>
          </p:spPr>
          <p:txBody>
            <a:bodyPr/>
            <a:lstStyle/>
            <a:p>
              <a:endParaRPr lang="en-GB"/>
            </a:p>
          </p:txBody>
        </p:sp>
        <p:sp>
          <p:nvSpPr>
            <p:cNvPr id="174132" name="Freeform 52"/>
            <p:cNvSpPr>
              <a:spLocks/>
            </p:cNvSpPr>
            <p:nvPr/>
          </p:nvSpPr>
          <p:spPr bwMode="auto">
            <a:xfrm>
              <a:off x="3717" y="2337"/>
              <a:ext cx="264" cy="109"/>
            </a:xfrm>
            <a:custGeom>
              <a:avLst/>
              <a:gdLst/>
              <a:ahLst/>
              <a:cxnLst>
                <a:cxn ang="0">
                  <a:pos x="728" y="545"/>
                </a:cxn>
                <a:cxn ang="0">
                  <a:pos x="826" y="537"/>
                </a:cxn>
                <a:cxn ang="0">
                  <a:pos x="918" y="524"/>
                </a:cxn>
                <a:cxn ang="0">
                  <a:pos x="1003" y="506"/>
                </a:cxn>
                <a:cxn ang="0">
                  <a:pos x="1081" y="484"/>
                </a:cxn>
                <a:cxn ang="0">
                  <a:pos x="1150" y="456"/>
                </a:cxn>
                <a:cxn ang="0">
                  <a:pos x="1209" y="425"/>
                </a:cxn>
                <a:cxn ang="0">
                  <a:pos x="1257" y="391"/>
                </a:cxn>
                <a:cxn ang="0">
                  <a:pos x="1292" y="354"/>
                </a:cxn>
                <a:cxn ang="0">
                  <a:pos x="1314" y="314"/>
                </a:cxn>
                <a:cxn ang="0">
                  <a:pos x="1322" y="273"/>
                </a:cxn>
                <a:cxn ang="0">
                  <a:pos x="1314" y="232"/>
                </a:cxn>
                <a:cxn ang="0">
                  <a:pos x="1292" y="192"/>
                </a:cxn>
                <a:cxn ang="0">
                  <a:pos x="1257" y="155"/>
                </a:cxn>
                <a:cxn ang="0">
                  <a:pos x="1209" y="121"/>
                </a:cxn>
                <a:cxn ang="0">
                  <a:pos x="1150" y="90"/>
                </a:cxn>
                <a:cxn ang="0">
                  <a:pos x="1081" y="63"/>
                </a:cxn>
                <a:cxn ang="0">
                  <a:pos x="1003" y="40"/>
                </a:cxn>
                <a:cxn ang="0">
                  <a:pos x="918" y="22"/>
                </a:cxn>
                <a:cxn ang="0">
                  <a:pos x="826" y="9"/>
                </a:cxn>
                <a:cxn ang="0">
                  <a:pos x="728" y="2"/>
                </a:cxn>
                <a:cxn ang="0">
                  <a:pos x="627" y="1"/>
                </a:cxn>
                <a:cxn ang="0">
                  <a:pos x="528" y="5"/>
                </a:cxn>
                <a:cxn ang="0">
                  <a:pos x="434" y="17"/>
                </a:cxn>
                <a:cxn ang="0">
                  <a:pos x="346" y="33"/>
                </a:cxn>
                <a:cxn ang="0">
                  <a:pos x="265" y="54"/>
                </a:cxn>
                <a:cxn ang="0">
                  <a:pos x="194" y="81"/>
                </a:cxn>
                <a:cxn ang="0">
                  <a:pos x="131" y="110"/>
                </a:cxn>
                <a:cxn ang="0">
                  <a:pos x="80" y="143"/>
                </a:cxn>
                <a:cxn ang="0">
                  <a:pos x="40" y="180"/>
                </a:cxn>
                <a:cxn ang="0">
                  <a:pos x="13" y="219"/>
                </a:cxn>
                <a:cxn ang="0">
                  <a:pos x="1" y="260"/>
                </a:cxn>
                <a:cxn ang="0">
                  <a:pos x="3" y="301"/>
                </a:cxn>
                <a:cxn ang="0">
                  <a:pos x="21" y="341"/>
                </a:cxn>
                <a:cxn ang="0">
                  <a:pos x="52" y="380"/>
                </a:cxn>
                <a:cxn ang="0">
                  <a:pos x="96" y="414"/>
                </a:cxn>
                <a:cxn ang="0">
                  <a:pos x="151" y="446"/>
                </a:cxn>
                <a:cxn ang="0">
                  <a:pos x="217" y="475"/>
                </a:cxn>
                <a:cxn ang="0">
                  <a:pos x="292" y="499"/>
                </a:cxn>
                <a:cxn ang="0">
                  <a:pos x="375" y="519"/>
                </a:cxn>
                <a:cxn ang="0">
                  <a:pos x="465" y="534"/>
                </a:cxn>
                <a:cxn ang="0">
                  <a:pos x="561" y="543"/>
                </a:cxn>
                <a:cxn ang="0">
                  <a:pos x="661" y="546"/>
                </a:cxn>
              </a:cxnLst>
              <a:rect l="0" t="0" r="r" b="b"/>
              <a:pathLst>
                <a:path w="1322" h="546">
                  <a:moveTo>
                    <a:pt x="661" y="546"/>
                  </a:moveTo>
                  <a:lnTo>
                    <a:pt x="695" y="545"/>
                  </a:lnTo>
                  <a:lnTo>
                    <a:pt x="728" y="545"/>
                  </a:lnTo>
                  <a:lnTo>
                    <a:pt x="762" y="543"/>
                  </a:lnTo>
                  <a:lnTo>
                    <a:pt x="794" y="541"/>
                  </a:lnTo>
                  <a:lnTo>
                    <a:pt x="826" y="537"/>
                  </a:lnTo>
                  <a:lnTo>
                    <a:pt x="857" y="534"/>
                  </a:lnTo>
                  <a:lnTo>
                    <a:pt x="888" y="529"/>
                  </a:lnTo>
                  <a:lnTo>
                    <a:pt x="918" y="524"/>
                  </a:lnTo>
                  <a:lnTo>
                    <a:pt x="947" y="519"/>
                  </a:lnTo>
                  <a:lnTo>
                    <a:pt x="976" y="513"/>
                  </a:lnTo>
                  <a:lnTo>
                    <a:pt x="1003" y="506"/>
                  </a:lnTo>
                  <a:lnTo>
                    <a:pt x="1030" y="499"/>
                  </a:lnTo>
                  <a:lnTo>
                    <a:pt x="1056" y="492"/>
                  </a:lnTo>
                  <a:lnTo>
                    <a:pt x="1081" y="484"/>
                  </a:lnTo>
                  <a:lnTo>
                    <a:pt x="1104" y="475"/>
                  </a:lnTo>
                  <a:lnTo>
                    <a:pt x="1128" y="466"/>
                  </a:lnTo>
                  <a:lnTo>
                    <a:pt x="1150" y="456"/>
                  </a:lnTo>
                  <a:lnTo>
                    <a:pt x="1171" y="446"/>
                  </a:lnTo>
                  <a:lnTo>
                    <a:pt x="1190" y="436"/>
                  </a:lnTo>
                  <a:lnTo>
                    <a:pt x="1209" y="425"/>
                  </a:lnTo>
                  <a:lnTo>
                    <a:pt x="1225" y="414"/>
                  </a:lnTo>
                  <a:lnTo>
                    <a:pt x="1242" y="403"/>
                  </a:lnTo>
                  <a:lnTo>
                    <a:pt x="1257" y="391"/>
                  </a:lnTo>
                  <a:lnTo>
                    <a:pt x="1270" y="380"/>
                  </a:lnTo>
                  <a:lnTo>
                    <a:pt x="1282" y="366"/>
                  </a:lnTo>
                  <a:lnTo>
                    <a:pt x="1292" y="354"/>
                  </a:lnTo>
                  <a:lnTo>
                    <a:pt x="1301" y="341"/>
                  </a:lnTo>
                  <a:lnTo>
                    <a:pt x="1309" y="328"/>
                  </a:lnTo>
                  <a:lnTo>
                    <a:pt x="1314" y="314"/>
                  </a:lnTo>
                  <a:lnTo>
                    <a:pt x="1319" y="301"/>
                  </a:lnTo>
                  <a:lnTo>
                    <a:pt x="1321" y="287"/>
                  </a:lnTo>
                  <a:lnTo>
                    <a:pt x="1322" y="273"/>
                  </a:lnTo>
                  <a:lnTo>
                    <a:pt x="1321" y="260"/>
                  </a:lnTo>
                  <a:lnTo>
                    <a:pt x="1319" y="245"/>
                  </a:lnTo>
                  <a:lnTo>
                    <a:pt x="1314" y="232"/>
                  </a:lnTo>
                  <a:lnTo>
                    <a:pt x="1309" y="219"/>
                  </a:lnTo>
                  <a:lnTo>
                    <a:pt x="1301" y="205"/>
                  </a:lnTo>
                  <a:lnTo>
                    <a:pt x="1292" y="192"/>
                  </a:lnTo>
                  <a:lnTo>
                    <a:pt x="1282" y="180"/>
                  </a:lnTo>
                  <a:lnTo>
                    <a:pt x="1270" y="168"/>
                  </a:lnTo>
                  <a:lnTo>
                    <a:pt x="1257" y="155"/>
                  </a:lnTo>
                  <a:lnTo>
                    <a:pt x="1242" y="143"/>
                  </a:lnTo>
                  <a:lnTo>
                    <a:pt x="1225" y="132"/>
                  </a:lnTo>
                  <a:lnTo>
                    <a:pt x="1209" y="121"/>
                  </a:lnTo>
                  <a:lnTo>
                    <a:pt x="1190" y="110"/>
                  </a:lnTo>
                  <a:lnTo>
                    <a:pt x="1171" y="100"/>
                  </a:lnTo>
                  <a:lnTo>
                    <a:pt x="1150" y="90"/>
                  </a:lnTo>
                  <a:lnTo>
                    <a:pt x="1128" y="81"/>
                  </a:lnTo>
                  <a:lnTo>
                    <a:pt x="1104" y="71"/>
                  </a:lnTo>
                  <a:lnTo>
                    <a:pt x="1081" y="63"/>
                  </a:lnTo>
                  <a:lnTo>
                    <a:pt x="1056" y="54"/>
                  </a:lnTo>
                  <a:lnTo>
                    <a:pt x="1030" y="47"/>
                  </a:lnTo>
                  <a:lnTo>
                    <a:pt x="1003" y="40"/>
                  </a:lnTo>
                  <a:lnTo>
                    <a:pt x="976" y="33"/>
                  </a:lnTo>
                  <a:lnTo>
                    <a:pt x="947" y="28"/>
                  </a:lnTo>
                  <a:lnTo>
                    <a:pt x="918" y="22"/>
                  </a:lnTo>
                  <a:lnTo>
                    <a:pt x="888" y="17"/>
                  </a:lnTo>
                  <a:lnTo>
                    <a:pt x="857" y="13"/>
                  </a:lnTo>
                  <a:lnTo>
                    <a:pt x="826" y="9"/>
                  </a:lnTo>
                  <a:lnTo>
                    <a:pt x="794" y="5"/>
                  </a:lnTo>
                  <a:lnTo>
                    <a:pt x="762" y="3"/>
                  </a:lnTo>
                  <a:lnTo>
                    <a:pt x="728" y="2"/>
                  </a:lnTo>
                  <a:lnTo>
                    <a:pt x="695" y="1"/>
                  </a:lnTo>
                  <a:lnTo>
                    <a:pt x="661" y="0"/>
                  </a:lnTo>
                  <a:lnTo>
                    <a:pt x="627" y="1"/>
                  </a:lnTo>
                  <a:lnTo>
                    <a:pt x="594" y="2"/>
                  </a:lnTo>
                  <a:lnTo>
                    <a:pt x="561" y="3"/>
                  </a:lnTo>
                  <a:lnTo>
                    <a:pt x="528" y="5"/>
                  </a:lnTo>
                  <a:lnTo>
                    <a:pt x="496" y="9"/>
                  </a:lnTo>
                  <a:lnTo>
                    <a:pt x="465" y="13"/>
                  </a:lnTo>
                  <a:lnTo>
                    <a:pt x="434" y="17"/>
                  </a:lnTo>
                  <a:lnTo>
                    <a:pt x="404" y="22"/>
                  </a:lnTo>
                  <a:lnTo>
                    <a:pt x="375" y="28"/>
                  </a:lnTo>
                  <a:lnTo>
                    <a:pt x="346" y="33"/>
                  </a:lnTo>
                  <a:lnTo>
                    <a:pt x="319" y="40"/>
                  </a:lnTo>
                  <a:lnTo>
                    <a:pt x="292" y="47"/>
                  </a:lnTo>
                  <a:lnTo>
                    <a:pt x="265" y="54"/>
                  </a:lnTo>
                  <a:lnTo>
                    <a:pt x="241" y="63"/>
                  </a:lnTo>
                  <a:lnTo>
                    <a:pt x="217" y="71"/>
                  </a:lnTo>
                  <a:lnTo>
                    <a:pt x="194" y="81"/>
                  </a:lnTo>
                  <a:lnTo>
                    <a:pt x="172" y="90"/>
                  </a:lnTo>
                  <a:lnTo>
                    <a:pt x="151" y="100"/>
                  </a:lnTo>
                  <a:lnTo>
                    <a:pt x="131" y="110"/>
                  </a:lnTo>
                  <a:lnTo>
                    <a:pt x="113" y="121"/>
                  </a:lnTo>
                  <a:lnTo>
                    <a:pt x="96" y="132"/>
                  </a:lnTo>
                  <a:lnTo>
                    <a:pt x="80" y="143"/>
                  </a:lnTo>
                  <a:lnTo>
                    <a:pt x="66" y="155"/>
                  </a:lnTo>
                  <a:lnTo>
                    <a:pt x="52" y="168"/>
                  </a:lnTo>
                  <a:lnTo>
                    <a:pt x="40" y="180"/>
                  </a:lnTo>
                  <a:lnTo>
                    <a:pt x="30" y="192"/>
                  </a:lnTo>
                  <a:lnTo>
                    <a:pt x="21" y="205"/>
                  </a:lnTo>
                  <a:lnTo>
                    <a:pt x="13" y="219"/>
                  </a:lnTo>
                  <a:lnTo>
                    <a:pt x="8" y="232"/>
                  </a:lnTo>
                  <a:lnTo>
                    <a:pt x="3" y="245"/>
                  </a:lnTo>
                  <a:lnTo>
                    <a:pt x="1" y="260"/>
                  </a:lnTo>
                  <a:lnTo>
                    <a:pt x="0" y="273"/>
                  </a:lnTo>
                  <a:lnTo>
                    <a:pt x="1" y="287"/>
                  </a:lnTo>
                  <a:lnTo>
                    <a:pt x="3" y="301"/>
                  </a:lnTo>
                  <a:lnTo>
                    <a:pt x="8" y="314"/>
                  </a:lnTo>
                  <a:lnTo>
                    <a:pt x="13" y="328"/>
                  </a:lnTo>
                  <a:lnTo>
                    <a:pt x="21" y="341"/>
                  </a:lnTo>
                  <a:lnTo>
                    <a:pt x="30" y="354"/>
                  </a:lnTo>
                  <a:lnTo>
                    <a:pt x="40" y="366"/>
                  </a:lnTo>
                  <a:lnTo>
                    <a:pt x="52" y="380"/>
                  </a:lnTo>
                  <a:lnTo>
                    <a:pt x="66" y="391"/>
                  </a:lnTo>
                  <a:lnTo>
                    <a:pt x="80" y="403"/>
                  </a:lnTo>
                  <a:lnTo>
                    <a:pt x="96" y="414"/>
                  </a:lnTo>
                  <a:lnTo>
                    <a:pt x="113" y="425"/>
                  </a:lnTo>
                  <a:lnTo>
                    <a:pt x="131" y="436"/>
                  </a:lnTo>
                  <a:lnTo>
                    <a:pt x="151" y="446"/>
                  </a:lnTo>
                  <a:lnTo>
                    <a:pt x="172" y="456"/>
                  </a:lnTo>
                  <a:lnTo>
                    <a:pt x="194" y="466"/>
                  </a:lnTo>
                  <a:lnTo>
                    <a:pt x="217" y="475"/>
                  </a:lnTo>
                  <a:lnTo>
                    <a:pt x="241" y="484"/>
                  </a:lnTo>
                  <a:lnTo>
                    <a:pt x="265" y="492"/>
                  </a:lnTo>
                  <a:lnTo>
                    <a:pt x="292" y="499"/>
                  </a:lnTo>
                  <a:lnTo>
                    <a:pt x="319" y="506"/>
                  </a:lnTo>
                  <a:lnTo>
                    <a:pt x="346" y="513"/>
                  </a:lnTo>
                  <a:lnTo>
                    <a:pt x="375" y="519"/>
                  </a:lnTo>
                  <a:lnTo>
                    <a:pt x="404" y="524"/>
                  </a:lnTo>
                  <a:lnTo>
                    <a:pt x="434" y="529"/>
                  </a:lnTo>
                  <a:lnTo>
                    <a:pt x="465" y="534"/>
                  </a:lnTo>
                  <a:lnTo>
                    <a:pt x="496" y="537"/>
                  </a:lnTo>
                  <a:lnTo>
                    <a:pt x="528" y="541"/>
                  </a:lnTo>
                  <a:lnTo>
                    <a:pt x="561" y="543"/>
                  </a:lnTo>
                  <a:lnTo>
                    <a:pt x="594" y="545"/>
                  </a:lnTo>
                  <a:lnTo>
                    <a:pt x="627" y="545"/>
                  </a:lnTo>
                  <a:lnTo>
                    <a:pt x="661" y="546"/>
                  </a:lnTo>
                  <a:close/>
                </a:path>
              </a:pathLst>
            </a:custGeom>
            <a:solidFill>
              <a:srgbClr val="7A8A93"/>
            </a:solidFill>
            <a:ln w="9525">
              <a:noFill/>
              <a:round/>
              <a:headEnd/>
              <a:tailEnd/>
            </a:ln>
          </p:spPr>
          <p:txBody>
            <a:bodyPr/>
            <a:lstStyle/>
            <a:p>
              <a:endParaRPr lang="en-GB"/>
            </a:p>
          </p:txBody>
        </p:sp>
        <p:sp>
          <p:nvSpPr>
            <p:cNvPr id="174133" name="Freeform 53"/>
            <p:cNvSpPr>
              <a:spLocks/>
            </p:cNvSpPr>
            <p:nvPr/>
          </p:nvSpPr>
          <p:spPr bwMode="auto">
            <a:xfrm>
              <a:off x="3717" y="2337"/>
              <a:ext cx="264" cy="109"/>
            </a:xfrm>
            <a:custGeom>
              <a:avLst/>
              <a:gdLst/>
              <a:ahLst/>
              <a:cxnLst>
                <a:cxn ang="0">
                  <a:pos x="728" y="545"/>
                </a:cxn>
                <a:cxn ang="0">
                  <a:pos x="826" y="537"/>
                </a:cxn>
                <a:cxn ang="0">
                  <a:pos x="918" y="524"/>
                </a:cxn>
                <a:cxn ang="0">
                  <a:pos x="1003" y="506"/>
                </a:cxn>
                <a:cxn ang="0">
                  <a:pos x="1081" y="484"/>
                </a:cxn>
                <a:cxn ang="0">
                  <a:pos x="1150" y="456"/>
                </a:cxn>
                <a:cxn ang="0">
                  <a:pos x="1209" y="425"/>
                </a:cxn>
                <a:cxn ang="0">
                  <a:pos x="1257" y="391"/>
                </a:cxn>
                <a:cxn ang="0">
                  <a:pos x="1292" y="354"/>
                </a:cxn>
                <a:cxn ang="0">
                  <a:pos x="1314" y="314"/>
                </a:cxn>
                <a:cxn ang="0">
                  <a:pos x="1322" y="273"/>
                </a:cxn>
                <a:cxn ang="0">
                  <a:pos x="1314" y="232"/>
                </a:cxn>
                <a:cxn ang="0">
                  <a:pos x="1292" y="192"/>
                </a:cxn>
                <a:cxn ang="0">
                  <a:pos x="1257" y="155"/>
                </a:cxn>
                <a:cxn ang="0">
                  <a:pos x="1209" y="121"/>
                </a:cxn>
                <a:cxn ang="0">
                  <a:pos x="1150" y="90"/>
                </a:cxn>
                <a:cxn ang="0">
                  <a:pos x="1081" y="63"/>
                </a:cxn>
                <a:cxn ang="0">
                  <a:pos x="1003" y="40"/>
                </a:cxn>
                <a:cxn ang="0">
                  <a:pos x="918" y="22"/>
                </a:cxn>
                <a:cxn ang="0">
                  <a:pos x="826" y="9"/>
                </a:cxn>
                <a:cxn ang="0">
                  <a:pos x="728" y="2"/>
                </a:cxn>
                <a:cxn ang="0">
                  <a:pos x="627" y="1"/>
                </a:cxn>
                <a:cxn ang="0">
                  <a:pos x="528" y="5"/>
                </a:cxn>
                <a:cxn ang="0">
                  <a:pos x="434" y="17"/>
                </a:cxn>
                <a:cxn ang="0">
                  <a:pos x="346" y="33"/>
                </a:cxn>
                <a:cxn ang="0">
                  <a:pos x="265" y="54"/>
                </a:cxn>
                <a:cxn ang="0">
                  <a:pos x="194" y="81"/>
                </a:cxn>
                <a:cxn ang="0">
                  <a:pos x="131" y="110"/>
                </a:cxn>
                <a:cxn ang="0">
                  <a:pos x="80" y="143"/>
                </a:cxn>
                <a:cxn ang="0">
                  <a:pos x="40" y="180"/>
                </a:cxn>
                <a:cxn ang="0">
                  <a:pos x="13" y="219"/>
                </a:cxn>
                <a:cxn ang="0">
                  <a:pos x="1" y="260"/>
                </a:cxn>
                <a:cxn ang="0">
                  <a:pos x="3" y="301"/>
                </a:cxn>
                <a:cxn ang="0">
                  <a:pos x="21" y="341"/>
                </a:cxn>
                <a:cxn ang="0">
                  <a:pos x="52" y="380"/>
                </a:cxn>
                <a:cxn ang="0">
                  <a:pos x="96" y="414"/>
                </a:cxn>
                <a:cxn ang="0">
                  <a:pos x="151" y="446"/>
                </a:cxn>
                <a:cxn ang="0">
                  <a:pos x="217" y="475"/>
                </a:cxn>
                <a:cxn ang="0">
                  <a:pos x="292" y="499"/>
                </a:cxn>
                <a:cxn ang="0">
                  <a:pos x="375" y="519"/>
                </a:cxn>
                <a:cxn ang="0">
                  <a:pos x="465" y="534"/>
                </a:cxn>
                <a:cxn ang="0">
                  <a:pos x="561" y="543"/>
                </a:cxn>
                <a:cxn ang="0">
                  <a:pos x="661" y="546"/>
                </a:cxn>
              </a:cxnLst>
              <a:rect l="0" t="0" r="r" b="b"/>
              <a:pathLst>
                <a:path w="1322" h="546">
                  <a:moveTo>
                    <a:pt x="661" y="546"/>
                  </a:moveTo>
                  <a:lnTo>
                    <a:pt x="695" y="545"/>
                  </a:lnTo>
                  <a:lnTo>
                    <a:pt x="728" y="545"/>
                  </a:lnTo>
                  <a:lnTo>
                    <a:pt x="762" y="543"/>
                  </a:lnTo>
                  <a:lnTo>
                    <a:pt x="794" y="541"/>
                  </a:lnTo>
                  <a:lnTo>
                    <a:pt x="826" y="537"/>
                  </a:lnTo>
                  <a:lnTo>
                    <a:pt x="857" y="534"/>
                  </a:lnTo>
                  <a:lnTo>
                    <a:pt x="888" y="529"/>
                  </a:lnTo>
                  <a:lnTo>
                    <a:pt x="918" y="524"/>
                  </a:lnTo>
                  <a:lnTo>
                    <a:pt x="947" y="519"/>
                  </a:lnTo>
                  <a:lnTo>
                    <a:pt x="976" y="513"/>
                  </a:lnTo>
                  <a:lnTo>
                    <a:pt x="1003" y="506"/>
                  </a:lnTo>
                  <a:lnTo>
                    <a:pt x="1030" y="499"/>
                  </a:lnTo>
                  <a:lnTo>
                    <a:pt x="1056" y="492"/>
                  </a:lnTo>
                  <a:lnTo>
                    <a:pt x="1081" y="484"/>
                  </a:lnTo>
                  <a:lnTo>
                    <a:pt x="1104" y="475"/>
                  </a:lnTo>
                  <a:lnTo>
                    <a:pt x="1128" y="466"/>
                  </a:lnTo>
                  <a:lnTo>
                    <a:pt x="1150" y="456"/>
                  </a:lnTo>
                  <a:lnTo>
                    <a:pt x="1171" y="446"/>
                  </a:lnTo>
                  <a:lnTo>
                    <a:pt x="1190" y="436"/>
                  </a:lnTo>
                  <a:lnTo>
                    <a:pt x="1209" y="425"/>
                  </a:lnTo>
                  <a:lnTo>
                    <a:pt x="1225" y="414"/>
                  </a:lnTo>
                  <a:lnTo>
                    <a:pt x="1242" y="403"/>
                  </a:lnTo>
                  <a:lnTo>
                    <a:pt x="1257" y="391"/>
                  </a:lnTo>
                  <a:lnTo>
                    <a:pt x="1270" y="380"/>
                  </a:lnTo>
                  <a:lnTo>
                    <a:pt x="1282" y="366"/>
                  </a:lnTo>
                  <a:lnTo>
                    <a:pt x="1292" y="354"/>
                  </a:lnTo>
                  <a:lnTo>
                    <a:pt x="1301" y="341"/>
                  </a:lnTo>
                  <a:lnTo>
                    <a:pt x="1309" y="328"/>
                  </a:lnTo>
                  <a:lnTo>
                    <a:pt x="1314" y="314"/>
                  </a:lnTo>
                  <a:lnTo>
                    <a:pt x="1319" y="301"/>
                  </a:lnTo>
                  <a:lnTo>
                    <a:pt x="1321" y="287"/>
                  </a:lnTo>
                  <a:lnTo>
                    <a:pt x="1322" y="273"/>
                  </a:lnTo>
                  <a:lnTo>
                    <a:pt x="1321" y="260"/>
                  </a:lnTo>
                  <a:lnTo>
                    <a:pt x="1319" y="245"/>
                  </a:lnTo>
                  <a:lnTo>
                    <a:pt x="1314" y="232"/>
                  </a:lnTo>
                  <a:lnTo>
                    <a:pt x="1309" y="219"/>
                  </a:lnTo>
                  <a:lnTo>
                    <a:pt x="1301" y="205"/>
                  </a:lnTo>
                  <a:lnTo>
                    <a:pt x="1292" y="192"/>
                  </a:lnTo>
                  <a:lnTo>
                    <a:pt x="1282" y="180"/>
                  </a:lnTo>
                  <a:lnTo>
                    <a:pt x="1270" y="168"/>
                  </a:lnTo>
                  <a:lnTo>
                    <a:pt x="1257" y="155"/>
                  </a:lnTo>
                  <a:lnTo>
                    <a:pt x="1242" y="143"/>
                  </a:lnTo>
                  <a:lnTo>
                    <a:pt x="1225" y="132"/>
                  </a:lnTo>
                  <a:lnTo>
                    <a:pt x="1209" y="121"/>
                  </a:lnTo>
                  <a:lnTo>
                    <a:pt x="1190" y="110"/>
                  </a:lnTo>
                  <a:lnTo>
                    <a:pt x="1171" y="100"/>
                  </a:lnTo>
                  <a:lnTo>
                    <a:pt x="1150" y="90"/>
                  </a:lnTo>
                  <a:lnTo>
                    <a:pt x="1128" y="81"/>
                  </a:lnTo>
                  <a:lnTo>
                    <a:pt x="1104" y="71"/>
                  </a:lnTo>
                  <a:lnTo>
                    <a:pt x="1081" y="63"/>
                  </a:lnTo>
                  <a:lnTo>
                    <a:pt x="1056" y="54"/>
                  </a:lnTo>
                  <a:lnTo>
                    <a:pt x="1030" y="47"/>
                  </a:lnTo>
                  <a:lnTo>
                    <a:pt x="1003" y="40"/>
                  </a:lnTo>
                  <a:lnTo>
                    <a:pt x="976" y="33"/>
                  </a:lnTo>
                  <a:lnTo>
                    <a:pt x="947" y="28"/>
                  </a:lnTo>
                  <a:lnTo>
                    <a:pt x="918" y="22"/>
                  </a:lnTo>
                  <a:lnTo>
                    <a:pt x="888" y="17"/>
                  </a:lnTo>
                  <a:lnTo>
                    <a:pt x="857" y="13"/>
                  </a:lnTo>
                  <a:lnTo>
                    <a:pt x="826" y="9"/>
                  </a:lnTo>
                  <a:lnTo>
                    <a:pt x="794" y="5"/>
                  </a:lnTo>
                  <a:lnTo>
                    <a:pt x="762" y="3"/>
                  </a:lnTo>
                  <a:lnTo>
                    <a:pt x="728" y="2"/>
                  </a:lnTo>
                  <a:lnTo>
                    <a:pt x="695" y="1"/>
                  </a:lnTo>
                  <a:lnTo>
                    <a:pt x="661" y="0"/>
                  </a:lnTo>
                  <a:lnTo>
                    <a:pt x="627" y="1"/>
                  </a:lnTo>
                  <a:lnTo>
                    <a:pt x="594" y="2"/>
                  </a:lnTo>
                  <a:lnTo>
                    <a:pt x="561" y="3"/>
                  </a:lnTo>
                  <a:lnTo>
                    <a:pt x="528" y="5"/>
                  </a:lnTo>
                  <a:lnTo>
                    <a:pt x="496" y="9"/>
                  </a:lnTo>
                  <a:lnTo>
                    <a:pt x="465" y="13"/>
                  </a:lnTo>
                  <a:lnTo>
                    <a:pt x="434" y="17"/>
                  </a:lnTo>
                  <a:lnTo>
                    <a:pt x="404" y="22"/>
                  </a:lnTo>
                  <a:lnTo>
                    <a:pt x="375" y="28"/>
                  </a:lnTo>
                  <a:lnTo>
                    <a:pt x="346" y="33"/>
                  </a:lnTo>
                  <a:lnTo>
                    <a:pt x="319" y="40"/>
                  </a:lnTo>
                  <a:lnTo>
                    <a:pt x="292" y="47"/>
                  </a:lnTo>
                  <a:lnTo>
                    <a:pt x="265" y="54"/>
                  </a:lnTo>
                  <a:lnTo>
                    <a:pt x="241" y="63"/>
                  </a:lnTo>
                  <a:lnTo>
                    <a:pt x="217" y="71"/>
                  </a:lnTo>
                  <a:lnTo>
                    <a:pt x="194" y="81"/>
                  </a:lnTo>
                  <a:lnTo>
                    <a:pt x="172" y="90"/>
                  </a:lnTo>
                  <a:lnTo>
                    <a:pt x="151" y="100"/>
                  </a:lnTo>
                  <a:lnTo>
                    <a:pt x="131" y="110"/>
                  </a:lnTo>
                  <a:lnTo>
                    <a:pt x="113" y="121"/>
                  </a:lnTo>
                  <a:lnTo>
                    <a:pt x="96" y="132"/>
                  </a:lnTo>
                  <a:lnTo>
                    <a:pt x="80" y="143"/>
                  </a:lnTo>
                  <a:lnTo>
                    <a:pt x="66" y="155"/>
                  </a:lnTo>
                  <a:lnTo>
                    <a:pt x="52" y="168"/>
                  </a:lnTo>
                  <a:lnTo>
                    <a:pt x="40" y="180"/>
                  </a:lnTo>
                  <a:lnTo>
                    <a:pt x="30" y="192"/>
                  </a:lnTo>
                  <a:lnTo>
                    <a:pt x="21" y="205"/>
                  </a:lnTo>
                  <a:lnTo>
                    <a:pt x="13" y="219"/>
                  </a:lnTo>
                  <a:lnTo>
                    <a:pt x="8" y="232"/>
                  </a:lnTo>
                  <a:lnTo>
                    <a:pt x="3" y="245"/>
                  </a:lnTo>
                  <a:lnTo>
                    <a:pt x="1" y="260"/>
                  </a:lnTo>
                  <a:lnTo>
                    <a:pt x="0" y="273"/>
                  </a:lnTo>
                  <a:lnTo>
                    <a:pt x="1" y="287"/>
                  </a:lnTo>
                  <a:lnTo>
                    <a:pt x="3" y="301"/>
                  </a:lnTo>
                  <a:lnTo>
                    <a:pt x="8" y="314"/>
                  </a:lnTo>
                  <a:lnTo>
                    <a:pt x="13" y="328"/>
                  </a:lnTo>
                  <a:lnTo>
                    <a:pt x="21" y="341"/>
                  </a:lnTo>
                  <a:lnTo>
                    <a:pt x="30" y="354"/>
                  </a:lnTo>
                  <a:lnTo>
                    <a:pt x="40" y="366"/>
                  </a:lnTo>
                  <a:lnTo>
                    <a:pt x="52" y="380"/>
                  </a:lnTo>
                  <a:lnTo>
                    <a:pt x="66" y="391"/>
                  </a:lnTo>
                  <a:lnTo>
                    <a:pt x="80" y="403"/>
                  </a:lnTo>
                  <a:lnTo>
                    <a:pt x="96" y="414"/>
                  </a:lnTo>
                  <a:lnTo>
                    <a:pt x="113" y="425"/>
                  </a:lnTo>
                  <a:lnTo>
                    <a:pt x="131" y="436"/>
                  </a:lnTo>
                  <a:lnTo>
                    <a:pt x="151" y="446"/>
                  </a:lnTo>
                  <a:lnTo>
                    <a:pt x="172" y="456"/>
                  </a:lnTo>
                  <a:lnTo>
                    <a:pt x="194" y="466"/>
                  </a:lnTo>
                  <a:lnTo>
                    <a:pt x="217" y="475"/>
                  </a:lnTo>
                  <a:lnTo>
                    <a:pt x="241" y="484"/>
                  </a:lnTo>
                  <a:lnTo>
                    <a:pt x="265" y="492"/>
                  </a:lnTo>
                  <a:lnTo>
                    <a:pt x="292" y="499"/>
                  </a:lnTo>
                  <a:lnTo>
                    <a:pt x="319" y="506"/>
                  </a:lnTo>
                  <a:lnTo>
                    <a:pt x="346" y="513"/>
                  </a:lnTo>
                  <a:lnTo>
                    <a:pt x="375" y="519"/>
                  </a:lnTo>
                  <a:lnTo>
                    <a:pt x="404" y="524"/>
                  </a:lnTo>
                  <a:lnTo>
                    <a:pt x="434" y="529"/>
                  </a:lnTo>
                  <a:lnTo>
                    <a:pt x="465" y="534"/>
                  </a:lnTo>
                  <a:lnTo>
                    <a:pt x="496" y="537"/>
                  </a:lnTo>
                  <a:lnTo>
                    <a:pt x="528" y="541"/>
                  </a:lnTo>
                  <a:lnTo>
                    <a:pt x="561" y="543"/>
                  </a:lnTo>
                  <a:lnTo>
                    <a:pt x="594" y="545"/>
                  </a:lnTo>
                  <a:lnTo>
                    <a:pt x="627" y="545"/>
                  </a:lnTo>
                  <a:lnTo>
                    <a:pt x="661" y="546"/>
                  </a:lnTo>
                </a:path>
              </a:pathLst>
            </a:custGeom>
            <a:noFill/>
            <a:ln w="7938">
              <a:solidFill>
                <a:srgbClr val="1F1A17"/>
              </a:solidFill>
              <a:prstDash val="solid"/>
              <a:round/>
              <a:headEnd/>
              <a:tailEnd/>
            </a:ln>
          </p:spPr>
          <p:txBody>
            <a:bodyPr/>
            <a:lstStyle/>
            <a:p>
              <a:endParaRPr lang="en-GB"/>
            </a:p>
          </p:txBody>
        </p:sp>
        <p:sp>
          <p:nvSpPr>
            <p:cNvPr id="174134" name="Freeform 54"/>
            <p:cNvSpPr>
              <a:spLocks/>
            </p:cNvSpPr>
            <p:nvPr/>
          </p:nvSpPr>
          <p:spPr bwMode="auto">
            <a:xfrm>
              <a:off x="3355" y="2337"/>
              <a:ext cx="265" cy="109"/>
            </a:xfrm>
            <a:custGeom>
              <a:avLst/>
              <a:gdLst/>
              <a:ahLst/>
              <a:cxnLst>
                <a:cxn ang="0">
                  <a:pos x="728" y="545"/>
                </a:cxn>
                <a:cxn ang="0">
                  <a:pos x="826" y="537"/>
                </a:cxn>
                <a:cxn ang="0">
                  <a:pos x="918" y="524"/>
                </a:cxn>
                <a:cxn ang="0">
                  <a:pos x="1003" y="506"/>
                </a:cxn>
                <a:cxn ang="0">
                  <a:pos x="1081" y="484"/>
                </a:cxn>
                <a:cxn ang="0">
                  <a:pos x="1150" y="456"/>
                </a:cxn>
                <a:cxn ang="0">
                  <a:pos x="1209" y="425"/>
                </a:cxn>
                <a:cxn ang="0">
                  <a:pos x="1256" y="391"/>
                </a:cxn>
                <a:cxn ang="0">
                  <a:pos x="1292" y="354"/>
                </a:cxn>
                <a:cxn ang="0">
                  <a:pos x="1314" y="314"/>
                </a:cxn>
                <a:cxn ang="0">
                  <a:pos x="1322" y="273"/>
                </a:cxn>
                <a:cxn ang="0">
                  <a:pos x="1314" y="232"/>
                </a:cxn>
                <a:cxn ang="0">
                  <a:pos x="1292" y="192"/>
                </a:cxn>
                <a:cxn ang="0">
                  <a:pos x="1256" y="155"/>
                </a:cxn>
                <a:cxn ang="0">
                  <a:pos x="1209" y="121"/>
                </a:cxn>
                <a:cxn ang="0">
                  <a:pos x="1150" y="90"/>
                </a:cxn>
                <a:cxn ang="0">
                  <a:pos x="1081" y="63"/>
                </a:cxn>
                <a:cxn ang="0">
                  <a:pos x="1003" y="40"/>
                </a:cxn>
                <a:cxn ang="0">
                  <a:pos x="918" y="22"/>
                </a:cxn>
                <a:cxn ang="0">
                  <a:pos x="826" y="9"/>
                </a:cxn>
                <a:cxn ang="0">
                  <a:pos x="728" y="2"/>
                </a:cxn>
                <a:cxn ang="0">
                  <a:pos x="627" y="1"/>
                </a:cxn>
                <a:cxn ang="0">
                  <a:pos x="527" y="5"/>
                </a:cxn>
                <a:cxn ang="0">
                  <a:pos x="434" y="17"/>
                </a:cxn>
                <a:cxn ang="0">
                  <a:pos x="346" y="33"/>
                </a:cxn>
                <a:cxn ang="0">
                  <a:pos x="265" y="54"/>
                </a:cxn>
                <a:cxn ang="0">
                  <a:pos x="193" y="81"/>
                </a:cxn>
                <a:cxn ang="0">
                  <a:pos x="131" y="110"/>
                </a:cxn>
                <a:cxn ang="0">
                  <a:pos x="80" y="143"/>
                </a:cxn>
                <a:cxn ang="0">
                  <a:pos x="40" y="180"/>
                </a:cxn>
                <a:cxn ang="0">
                  <a:pos x="13" y="219"/>
                </a:cxn>
                <a:cxn ang="0">
                  <a:pos x="0" y="260"/>
                </a:cxn>
                <a:cxn ang="0">
                  <a:pos x="3" y="301"/>
                </a:cxn>
                <a:cxn ang="0">
                  <a:pos x="20" y="341"/>
                </a:cxn>
                <a:cxn ang="0">
                  <a:pos x="52" y="380"/>
                </a:cxn>
                <a:cxn ang="0">
                  <a:pos x="95" y="414"/>
                </a:cxn>
                <a:cxn ang="0">
                  <a:pos x="151" y="446"/>
                </a:cxn>
                <a:cxn ang="0">
                  <a:pos x="216" y="475"/>
                </a:cxn>
                <a:cxn ang="0">
                  <a:pos x="292" y="499"/>
                </a:cxn>
                <a:cxn ang="0">
                  <a:pos x="374" y="519"/>
                </a:cxn>
                <a:cxn ang="0">
                  <a:pos x="464" y="534"/>
                </a:cxn>
                <a:cxn ang="0">
                  <a:pos x="560" y="543"/>
                </a:cxn>
                <a:cxn ang="0">
                  <a:pos x="660" y="546"/>
                </a:cxn>
              </a:cxnLst>
              <a:rect l="0" t="0" r="r" b="b"/>
              <a:pathLst>
                <a:path w="1322" h="546">
                  <a:moveTo>
                    <a:pt x="660" y="546"/>
                  </a:moveTo>
                  <a:lnTo>
                    <a:pt x="695" y="545"/>
                  </a:lnTo>
                  <a:lnTo>
                    <a:pt x="728" y="545"/>
                  </a:lnTo>
                  <a:lnTo>
                    <a:pt x="761" y="543"/>
                  </a:lnTo>
                  <a:lnTo>
                    <a:pt x="794" y="541"/>
                  </a:lnTo>
                  <a:lnTo>
                    <a:pt x="826" y="537"/>
                  </a:lnTo>
                  <a:lnTo>
                    <a:pt x="857" y="534"/>
                  </a:lnTo>
                  <a:lnTo>
                    <a:pt x="888" y="529"/>
                  </a:lnTo>
                  <a:lnTo>
                    <a:pt x="918" y="524"/>
                  </a:lnTo>
                  <a:lnTo>
                    <a:pt x="947" y="519"/>
                  </a:lnTo>
                  <a:lnTo>
                    <a:pt x="976" y="513"/>
                  </a:lnTo>
                  <a:lnTo>
                    <a:pt x="1003" y="506"/>
                  </a:lnTo>
                  <a:lnTo>
                    <a:pt x="1030" y="499"/>
                  </a:lnTo>
                  <a:lnTo>
                    <a:pt x="1056" y="492"/>
                  </a:lnTo>
                  <a:lnTo>
                    <a:pt x="1081" y="484"/>
                  </a:lnTo>
                  <a:lnTo>
                    <a:pt x="1104" y="475"/>
                  </a:lnTo>
                  <a:lnTo>
                    <a:pt x="1128" y="466"/>
                  </a:lnTo>
                  <a:lnTo>
                    <a:pt x="1150" y="456"/>
                  </a:lnTo>
                  <a:lnTo>
                    <a:pt x="1170" y="446"/>
                  </a:lnTo>
                  <a:lnTo>
                    <a:pt x="1190" y="436"/>
                  </a:lnTo>
                  <a:lnTo>
                    <a:pt x="1209" y="425"/>
                  </a:lnTo>
                  <a:lnTo>
                    <a:pt x="1225" y="414"/>
                  </a:lnTo>
                  <a:lnTo>
                    <a:pt x="1242" y="403"/>
                  </a:lnTo>
                  <a:lnTo>
                    <a:pt x="1256" y="391"/>
                  </a:lnTo>
                  <a:lnTo>
                    <a:pt x="1270" y="380"/>
                  </a:lnTo>
                  <a:lnTo>
                    <a:pt x="1281" y="366"/>
                  </a:lnTo>
                  <a:lnTo>
                    <a:pt x="1292" y="354"/>
                  </a:lnTo>
                  <a:lnTo>
                    <a:pt x="1301" y="341"/>
                  </a:lnTo>
                  <a:lnTo>
                    <a:pt x="1309" y="328"/>
                  </a:lnTo>
                  <a:lnTo>
                    <a:pt x="1314" y="314"/>
                  </a:lnTo>
                  <a:lnTo>
                    <a:pt x="1319" y="301"/>
                  </a:lnTo>
                  <a:lnTo>
                    <a:pt x="1321" y="287"/>
                  </a:lnTo>
                  <a:lnTo>
                    <a:pt x="1322" y="273"/>
                  </a:lnTo>
                  <a:lnTo>
                    <a:pt x="1321" y="260"/>
                  </a:lnTo>
                  <a:lnTo>
                    <a:pt x="1319" y="245"/>
                  </a:lnTo>
                  <a:lnTo>
                    <a:pt x="1314" y="232"/>
                  </a:lnTo>
                  <a:lnTo>
                    <a:pt x="1309" y="219"/>
                  </a:lnTo>
                  <a:lnTo>
                    <a:pt x="1301" y="205"/>
                  </a:lnTo>
                  <a:lnTo>
                    <a:pt x="1292" y="192"/>
                  </a:lnTo>
                  <a:lnTo>
                    <a:pt x="1281" y="180"/>
                  </a:lnTo>
                  <a:lnTo>
                    <a:pt x="1270" y="168"/>
                  </a:lnTo>
                  <a:lnTo>
                    <a:pt x="1256" y="155"/>
                  </a:lnTo>
                  <a:lnTo>
                    <a:pt x="1242" y="143"/>
                  </a:lnTo>
                  <a:lnTo>
                    <a:pt x="1225" y="132"/>
                  </a:lnTo>
                  <a:lnTo>
                    <a:pt x="1209" y="121"/>
                  </a:lnTo>
                  <a:lnTo>
                    <a:pt x="1190" y="110"/>
                  </a:lnTo>
                  <a:lnTo>
                    <a:pt x="1170" y="100"/>
                  </a:lnTo>
                  <a:lnTo>
                    <a:pt x="1150" y="90"/>
                  </a:lnTo>
                  <a:lnTo>
                    <a:pt x="1128" y="81"/>
                  </a:lnTo>
                  <a:lnTo>
                    <a:pt x="1104" y="71"/>
                  </a:lnTo>
                  <a:lnTo>
                    <a:pt x="1081" y="63"/>
                  </a:lnTo>
                  <a:lnTo>
                    <a:pt x="1056" y="54"/>
                  </a:lnTo>
                  <a:lnTo>
                    <a:pt x="1030" y="47"/>
                  </a:lnTo>
                  <a:lnTo>
                    <a:pt x="1003" y="40"/>
                  </a:lnTo>
                  <a:lnTo>
                    <a:pt x="976" y="33"/>
                  </a:lnTo>
                  <a:lnTo>
                    <a:pt x="947" y="28"/>
                  </a:lnTo>
                  <a:lnTo>
                    <a:pt x="918" y="22"/>
                  </a:lnTo>
                  <a:lnTo>
                    <a:pt x="888" y="17"/>
                  </a:lnTo>
                  <a:lnTo>
                    <a:pt x="857" y="13"/>
                  </a:lnTo>
                  <a:lnTo>
                    <a:pt x="826" y="9"/>
                  </a:lnTo>
                  <a:lnTo>
                    <a:pt x="794" y="5"/>
                  </a:lnTo>
                  <a:lnTo>
                    <a:pt x="761" y="3"/>
                  </a:lnTo>
                  <a:lnTo>
                    <a:pt x="728" y="2"/>
                  </a:lnTo>
                  <a:lnTo>
                    <a:pt x="695" y="1"/>
                  </a:lnTo>
                  <a:lnTo>
                    <a:pt x="660" y="0"/>
                  </a:lnTo>
                  <a:lnTo>
                    <a:pt x="627" y="1"/>
                  </a:lnTo>
                  <a:lnTo>
                    <a:pt x="593" y="2"/>
                  </a:lnTo>
                  <a:lnTo>
                    <a:pt x="560" y="3"/>
                  </a:lnTo>
                  <a:lnTo>
                    <a:pt x="527" y="5"/>
                  </a:lnTo>
                  <a:lnTo>
                    <a:pt x="496" y="9"/>
                  </a:lnTo>
                  <a:lnTo>
                    <a:pt x="464" y="13"/>
                  </a:lnTo>
                  <a:lnTo>
                    <a:pt x="434" y="17"/>
                  </a:lnTo>
                  <a:lnTo>
                    <a:pt x="404" y="22"/>
                  </a:lnTo>
                  <a:lnTo>
                    <a:pt x="374" y="28"/>
                  </a:lnTo>
                  <a:lnTo>
                    <a:pt x="346" y="33"/>
                  </a:lnTo>
                  <a:lnTo>
                    <a:pt x="319" y="40"/>
                  </a:lnTo>
                  <a:lnTo>
                    <a:pt x="292" y="47"/>
                  </a:lnTo>
                  <a:lnTo>
                    <a:pt x="265" y="54"/>
                  </a:lnTo>
                  <a:lnTo>
                    <a:pt x="241" y="63"/>
                  </a:lnTo>
                  <a:lnTo>
                    <a:pt x="216" y="71"/>
                  </a:lnTo>
                  <a:lnTo>
                    <a:pt x="193" y="81"/>
                  </a:lnTo>
                  <a:lnTo>
                    <a:pt x="172" y="90"/>
                  </a:lnTo>
                  <a:lnTo>
                    <a:pt x="151" y="100"/>
                  </a:lnTo>
                  <a:lnTo>
                    <a:pt x="131" y="110"/>
                  </a:lnTo>
                  <a:lnTo>
                    <a:pt x="113" y="121"/>
                  </a:lnTo>
                  <a:lnTo>
                    <a:pt x="95" y="132"/>
                  </a:lnTo>
                  <a:lnTo>
                    <a:pt x="80" y="143"/>
                  </a:lnTo>
                  <a:lnTo>
                    <a:pt x="65" y="155"/>
                  </a:lnTo>
                  <a:lnTo>
                    <a:pt x="52" y="168"/>
                  </a:lnTo>
                  <a:lnTo>
                    <a:pt x="40" y="180"/>
                  </a:lnTo>
                  <a:lnTo>
                    <a:pt x="30" y="192"/>
                  </a:lnTo>
                  <a:lnTo>
                    <a:pt x="20" y="205"/>
                  </a:lnTo>
                  <a:lnTo>
                    <a:pt x="13" y="219"/>
                  </a:lnTo>
                  <a:lnTo>
                    <a:pt x="8" y="232"/>
                  </a:lnTo>
                  <a:lnTo>
                    <a:pt x="3" y="245"/>
                  </a:lnTo>
                  <a:lnTo>
                    <a:pt x="0" y="260"/>
                  </a:lnTo>
                  <a:lnTo>
                    <a:pt x="0" y="273"/>
                  </a:lnTo>
                  <a:lnTo>
                    <a:pt x="0" y="287"/>
                  </a:lnTo>
                  <a:lnTo>
                    <a:pt x="3" y="301"/>
                  </a:lnTo>
                  <a:lnTo>
                    <a:pt x="8" y="314"/>
                  </a:lnTo>
                  <a:lnTo>
                    <a:pt x="13" y="328"/>
                  </a:lnTo>
                  <a:lnTo>
                    <a:pt x="20" y="341"/>
                  </a:lnTo>
                  <a:lnTo>
                    <a:pt x="30" y="354"/>
                  </a:lnTo>
                  <a:lnTo>
                    <a:pt x="40" y="366"/>
                  </a:lnTo>
                  <a:lnTo>
                    <a:pt x="52" y="380"/>
                  </a:lnTo>
                  <a:lnTo>
                    <a:pt x="65" y="391"/>
                  </a:lnTo>
                  <a:lnTo>
                    <a:pt x="80" y="403"/>
                  </a:lnTo>
                  <a:lnTo>
                    <a:pt x="95" y="414"/>
                  </a:lnTo>
                  <a:lnTo>
                    <a:pt x="113" y="425"/>
                  </a:lnTo>
                  <a:lnTo>
                    <a:pt x="131" y="436"/>
                  </a:lnTo>
                  <a:lnTo>
                    <a:pt x="151" y="446"/>
                  </a:lnTo>
                  <a:lnTo>
                    <a:pt x="172" y="456"/>
                  </a:lnTo>
                  <a:lnTo>
                    <a:pt x="193" y="466"/>
                  </a:lnTo>
                  <a:lnTo>
                    <a:pt x="216" y="475"/>
                  </a:lnTo>
                  <a:lnTo>
                    <a:pt x="241" y="484"/>
                  </a:lnTo>
                  <a:lnTo>
                    <a:pt x="265" y="492"/>
                  </a:lnTo>
                  <a:lnTo>
                    <a:pt x="292" y="499"/>
                  </a:lnTo>
                  <a:lnTo>
                    <a:pt x="319" y="506"/>
                  </a:lnTo>
                  <a:lnTo>
                    <a:pt x="346" y="513"/>
                  </a:lnTo>
                  <a:lnTo>
                    <a:pt x="374" y="519"/>
                  </a:lnTo>
                  <a:lnTo>
                    <a:pt x="404" y="524"/>
                  </a:lnTo>
                  <a:lnTo>
                    <a:pt x="434" y="529"/>
                  </a:lnTo>
                  <a:lnTo>
                    <a:pt x="464" y="534"/>
                  </a:lnTo>
                  <a:lnTo>
                    <a:pt x="496" y="537"/>
                  </a:lnTo>
                  <a:lnTo>
                    <a:pt x="527" y="541"/>
                  </a:lnTo>
                  <a:lnTo>
                    <a:pt x="560" y="543"/>
                  </a:lnTo>
                  <a:lnTo>
                    <a:pt x="593" y="545"/>
                  </a:lnTo>
                  <a:lnTo>
                    <a:pt x="627" y="545"/>
                  </a:lnTo>
                  <a:lnTo>
                    <a:pt x="660" y="546"/>
                  </a:lnTo>
                  <a:close/>
                </a:path>
              </a:pathLst>
            </a:custGeom>
            <a:solidFill>
              <a:srgbClr val="7A8A93"/>
            </a:solidFill>
            <a:ln w="9525">
              <a:noFill/>
              <a:round/>
              <a:headEnd/>
              <a:tailEnd/>
            </a:ln>
          </p:spPr>
          <p:txBody>
            <a:bodyPr/>
            <a:lstStyle/>
            <a:p>
              <a:endParaRPr lang="en-GB"/>
            </a:p>
          </p:txBody>
        </p:sp>
        <p:sp>
          <p:nvSpPr>
            <p:cNvPr id="174135" name="Freeform 55"/>
            <p:cNvSpPr>
              <a:spLocks/>
            </p:cNvSpPr>
            <p:nvPr/>
          </p:nvSpPr>
          <p:spPr bwMode="auto">
            <a:xfrm>
              <a:off x="3355" y="2337"/>
              <a:ext cx="265" cy="109"/>
            </a:xfrm>
            <a:custGeom>
              <a:avLst/>
              <a:gdLst/>
              <a:ahLst/>
              <a:cxnLst>
                <a:cxn ang="0">
                  <a:pos x="728" y="545"/>
                </a:cxn>
                <a:cxn ang="0">
                  <a:pos x="826" y="537"/>
                </a:cxn>
                <a:cxn ang="0">
                  <a:pos x="918" y="524"/>
                </a:cxn>
                <a:cxn ang="0">
                  <a:pos x="1003" y="506"/>
                </a:cxn>
                <a:cxn ang="0">
                  <a:pos x="1081" y="484"/>
                </a:cxn>
                <a:cxn ang="0">
                  <a:pos x="1150" y="456"/>
                </a:cxn>
                <a:cxn ang="0">
                  <a:pos x="1209" y="425"/>
                </a:cxn>
                <a:cxn ang="0">
                  <a:pos x="1256" y="391"/>
                </a:cxn>
                <a:cxn ang="0">
                  <a:pos x="1292" y="354"/>
                </a:cxn>
                <a:cxn ang="0">
                  <a:pos x="1314" y="314"/>
                </a:cxn>
                <a:cxn ang="0">
                  <a:pos x="1322" y="273"/>
                </a:cxn>
                <a:cxn ang="0">
                  <a:pos x="1314" y="232"/>
                </a:cxn>
                <a:cxn ang="0">
                  <a:pos x="1292" y="192"/>
                </a:cxn>
                <a:cxn ang="0">
                  <a:pos x="1256" y="155"/>
                </a:cxn>
                <a:cxn ang="0">
                  <a:pos x="1209" y="121"/>
                </a:cxn>
                <a:cxn ang="0">
                  <a:pos x="1150" y="90"/>
                </a:cxn>
                <a:cxn ang="0">
                  <a:pos x="1081" y="63"/>
                </a:cxn>
                <a:cxn ang="0">
                  <a:pos x="1003" y="40"/>
                </a:cxn>
                <a:cxn ang="0">
                  <a:pos x="918" y="22"/>
                </a:cxn>
                <a:cxn ang="0">
                  <a:pos x="826" y="9"/>
                </a:cxn>
                <a:cxn ang="0">
                  <a:pos x="728" y="2"/>
                </a:cxn>
                <a:cxn ang="0">
                  <a:pos x="627" y="1"/>
                </a:cxn>
                <a:cxn ang="0">
                  <a:pos x="527" y="5"/>
                </a:cxn>
                <a:cxn ang="0">
                  <a:pos x="434" y="17"/>
                </a:cxn>
                <a:cxn ang="0">
                  <a:pos x="346" y="33"/>
                </a:cxn>
                <a:cxn ang="0">
                  <a:pos x="265" y="54"/>
                </a:cxn>
                <a:cxn ang="0">
                  <a:pos x="193" y="81"/>
                </a:cxn>
                <a:cxn ang="0">
                  <a:pos x="131" y="110"/>
                </a:cxn>
                <a:cxn ang="0">
                  <a:pos x="80" y="143"/>
                </a:cxn>
                <a:cxn ang="0">
                  <a:pos x="40" y="180"/>
                </a:cxn>
                <a:cxn ang="0">
                  <a:pos x="13" y="219"/>
                </a:cxn>
                <a:cxn ang="0">
                  <a:pos x="0" y="260"/>
                </a:cxn>
                <a:cxn ang="0">
                  <a:pos x="3" y="301"/>
                </a:cxn>
                <a:cxn ang="0">
                  <a:pos x="20" y="341"/>
                </a:cxn>
                <a:cxn ang="0">
                  <a:pos x="52" y="380"/>
                </a:cxn>
                <a:cxn ang="0">
                  <a:pos x="95" y="414"/>
                </a:cxn>
                <a:cxn ang="0">
                  <a:pos x="151" y="446"/>
                </a:cxn>
                <a:cxn ang="0">
                  <a:pos x="216" y="475"/>
                </a:cxn>
                <a:cxn ang="0">
                  <a:pos x="292" y="499"/>
                </a:cxn>
                <a:cxn ang="0">
                  <a:pos x="374" y="519"/>
                </a:cxn>
                <a:cxn ang="0">
                  <a:pos x="464" y="534"/>
                </a:cxn>
                <a:cxn ang="0">
                  <a:pos x="560" y="543"/>
                </a:cxn>
                <a:cxn ang="0">
                  <a:pos x="660" y="546"/>
                </a:cxn>
              </a:cxnLst>
              <a:rect l="0" t="0" r="r" b="b"/>
              <a:pathLst>
                <a:path w="1322" h="546">
                  <a:moveTo>
                    <a:pt x="660" y="546"/>
                  </a:moveTo>
                  <a:lnTo>
                    <a:pt x="695" y="545"/>
                  </a:lnTo>
                  <a:lnTo>
                    <a:pt x="728" y="545"/>
                  </a:lnTo>
                  <a:lnTo>
                    <a:pt x="761" y="543"/>
                  </a:lnTo>
                  <a:lnTo>
                    <a:pt x="794" y="541"/>
                  </a:lnTo>
                  <a:lnTo>
                    <a:pt x="826" y="537"/>
                  </a:lnTo>
                  <a:lnTo>
                    <a:pt x="857" y="534"/>
                  </a:lnTo>
                  <a:lnTo>
                    <a:pt x="888" y="529"/>
                  </a:lnTo>
                  <a:lnTo>
                    <a:pt x="918" y="524"/>
                  </a:lnTo>
                  <a:lnTo>
                    <a:pt x="947" y="519"/>
                  </a:lnTo>
                  <a:lnTo>
                    <a:pt x="976" y="513"/>
                  </a:lnTo>
                  <a:lnTo>
                    <a:pt x="1003" y="506"/>
                  </a:lnTo>
                  <a:lnTo>
                    <a:pt x="1030" y="499"/>
                  </a:lnTo>
                  <a:lnTo>
                    <a:pt x="1056" y="492"/>
                  </a:lnTo>
                  <a:lnTo>
                    <a:pt x="1081" y="484"/>
                  </a:lnTo>
                  <a:lnTo>
                    <a:pt x="1104" y="475"/>
                  </a:lnTo>
                  <a:lnTo>
                    <a:pt x="1128" y="466"/>
                  </a:lnTo>
                  <a:lnTo>
                    <a:pt x="1150" y="456"/>
                  </a:lnTo>
                  <a:lnTo>
                    <a:pt x="1170" y="446"/>
                  </a:lnTo>
                  <a:lnTo>
                    <a:pt x="1190" y="436"/>
                  </a:lnTo>
                  <a:lnTo>
                    <a:pt x="1209" y="425"/>
                  </a:lnTo>
                  <a:lnTo>
                    <a:pt x="1225" y="414"/>
                  </a:lnTo>
                  <a:lnTo>
                    <a:pt x="1242" y="403"/>
                  </a:lnTo>
                  <a:lnTo>
                    <a:pt x="1256" y="391"/>
                  </a:lnTo>
                  <a:lnTo>
                    <a:pt x="1270" y="380"/>
                  </a:lnTo>
                  <a:lnTo>
                    <a:pt x="1281" y="366"/>
                  </a:lnTo>
                  <a:lnTo>
                    <a:pt x="1292" y="354"/>
                  </a:lnTo>
                  <a:lnTo>
                    <a:pt x="1301" y="341"/>
                  </a:lnTo>
                  <a:lnTo>
                    <a:pt x="1309" y="328"/>
                  </a:lnTo>
                  <a:lnTo>
                    <a:pt x="1314" y="314"/>
                  </a:lnTo>
                  <a:lnTo>
                    <a:pt x="1319" y="301"/>
                  </a:lnTo>
                  <a:lnTo>
                    <a:pt x="1321" y="287"/>
                  </a:lnTo>
                  <a:lnTo>
                    <a:pt x="1322" y="273"/>
                  </a:lnTo>
                  <a:lnTo>
                    <a:pt x="1321" y="260"/>
                  </a:lnTo>
                  <a:lnTo>
                    <a:pt x="1319" y="245"/>
                  </a:lnTo>
                  <a:lnTo>
                    <a:pt x="1314" y="232"/>
                  </a:lnTo>
                  <a:lnTo>
                    <a:pt x="1309" y="219"/>
                  </a:lnTo>
                  <a:lnTo>
                    <a:pt x="1301" y="205"/>
                  </a:lnTo>
                  <a:lnTo>
                    <a:pt x="1292" y="192"/>
                  </a:lnTo>
                  <a:lnTo>
                    <a:pt x="1281" y="180"/>
                  </a:lnTo>
                  <a:lnTo>
                    <a:pt x="1270" y="168"/>
                  </a:lnTo>
                  <a:lnTo>
                    <a:pt x="1256" y="155"/>
                  </a:lnTo>
                  <a:lnTo>
                    <a:pt x="1242" y="143"/>
                  </a:lnTo>
                  <a:lnTo>
                    <a:pt x="1225" y="132"/>
                  </a:lnTo>
                  <a:lnTo>
                    <a:pt x="1209" y="121"/>
                  </a:lnTo>
                  <a:lnTo>
                    <a:pt x="1190" y="110"/>
                  </a:lnTo>
                  <a:lnTo>
                    <a:pt x="1170" y="100"/>
                  </a:lnTo>
                  <a:lnTo>
                    <a:pt x="1150" y="90"/>
                  </a:lnTo>
                  <a:lnTo>
                    <a:pt x="1128" y="81"/>
                  </a:lnTo>
                  <a:lnTo>
                    <a:pt x="1104" y="71"/>
                  </a:lnTo>
                  <a:lnTo>
                    <a:pt x="1081" y="63"/>
                  </a:lnTo>
                  <a:lnTo>
                    <a:pt x="1056" y="54"/>
                  </a:lnTo>
                  <a:lnTo>
                    <a:pt x="1030" y="47"/>
                  </a:lnTo>
                  <a:lnTo>
                    <a:pt x="1003" y="40"/>
                  </a:lnTo>
                  <a:lnTo>
                    <a:pt x="976" y="33"/>
                  </a:lnTo>
                  <a:lnTo>
                    <a:pt x="947" y="28"/>
                  </a:lnTo>
                  <a:lnTo>
                    <a:pt x="918" y="22"/>
                  </a:lnTo>
                  <a:lnTo>
                    <a:pt x="888" y="17"/>
                  </a:lnTo>
                  <a:lnTo>
                    <a:pt x="857" y="13"/>
                  </a:lnTo>
                  <a:lnTo>
                    <a:pt x="826" y="9"/>
                  </a:lnTo>
                  <a:lnTo>
                    <a:pt x="794" y="5"/>
                  </a:lnTo>
                  <a:lnTo>
                    <a:pt x="761" y="3"/>
                  </a:lnTo>
                  <a:lnTo>
                    <a:pt x="728" y="2"/>
                  </a:lnTo>
                  <a:lnTo>
                    <a:pt x="695" y="1"/>
                  </a:lnTo>
                  <a:lnTo>
                    <a:pt x="660" y="0"/>
                  </a:lnTo>
                  <a:lnTo>
                    <a:pt x="627" y="1"/>
                  </a:lnTo>
                  <a:lnTo>
                    <a:pt x="593" y="2"/>
                  </a:lnTo>
                  <a:lnTo>
                    <a:pt x="560" y="3"/>
                  </a:lnTo>
                  <a:lnTo>
                    <a:pt x="527" y="5"/>
                  </a:lnTo>
                  <a:lnTo>
                    <a:pt x="496" y="9"/>
                  </a:lnTo>
                  <a:lnTo>
                    <a:pt x="464" y="13"/>
                  </a:lnTo>
                  <a:lnTo>
                    <a:pt x="434" y="17"/>
                  </a:lnTo>
                  <a:lnTo>
                    <a:pt x="404" y="22"/>
                  </a:lnTo>
                  <a:lnTo>
                    <a:pt x="374" y="28"/>
                  </a:lnTo>
                  <a:lnTo>
                    <a:pt x="346" y="33"/>
                  </a:lnTo>
                  <a:lnTo>
                    <a:pt x="319" y="40"/>
                  </a:lnTo>
                  <a:lnTo>
                    <a:pt x="292" y="47"/>
                  </a:lnTo>
                  <a:lnTo>
                    <a:pt x="265" y="54"/>
                  </a:lnTo>
                  <a:lnTo>
                    <a:pt x="241" y="63"/>
                  </a:lnTo>
                  <a:lnTo>
                    <a:pt x="216" y="71"/>
                  </a:lnTo>
                  <a:lnTo>
                    <a:pt x="193" y="81"/>
                  </a:lnTo>
                  <a:lnTo>
                    <a:pt x="172" y="90"/>
                  </a:lnTo>
                  <a:lnTo>
                    <a:pt x="151" y="100"/>
                  </a:lnTo>
                  <a:lnTo>
                    <a:pt x="131" y="110"/>
                  </a:lnTo>
                  <a:lnTo>
                    <a:pt x="113" y="121"/>
                  </a:lnTo>
                  <a:lnTo>
                    <a:pt x="95" y="132"/>
                  </a:lnTo>
                  <a:lnTo>
                    <a:pt x="80" y="143"/>
                  </a:lnTo>
                  <a:lnTo>
                    <a:pt x="65" y="155"/>
                  </a:lnTo>
                  <a:lnTo>
                    <a:pt x="52" y="168"/>
                  </a:lnTo>
                  <a:lnTo>
                    <a:pt x="40" y="180"/>
                  </a:lnTo>
                  <a:lnTo>
                    <a:pt x="30" y="192"/>
                  </a:lnTo>
                  <a:lnTo>
                    <a:pt x="20" y="205"/>
                  </a:lnTo>
                  <a:lnTo>
                    <a:pt x="13" y="219"/>
                  </a:lnTo>
                  <a:lnTo>
                    <a:pt x="8" y="232"/>
                  </a:lnTo>
                  <a:lnTo>
                    <a:pt x="3" y="245"/>
                  </a:lnTo>
                  <a:lnTo>
                    <a:pt x="0" y="260"/>
                  </a:lnTo>
                  <a:lnTo>
                    <a:pt x="0" y="273"/>
                  </a:lnTo>
                  <a:lnTo>
                    <a:pt x="0" y="287"/>
                  </a:lnTo>
                  <a:lnTo>
                    <a:pt x="3" y="301"/>
                  </a:lnTo>
                  <a:lnTo>
                    <a:pt x="8" y="314"/>
                  </a:lnTo>
                  <a:lnTo>
                    <a:pt x="13" y="328"/>
                  </a:lnTo>
                  <a:lnTo>
                    <a:pt x="20" y="341"/>
                  </a:lnTo>
                  <a:lnTo>
                    <a:pt x="30" y="354"/>
                  </a:lnTo>
                  <a:lnTo>
                    <a:pt x="40" y="366"/>
                  </a:lnTo>
                  <a:lnTo>
                    <a:pt x="52" y="380"/>
                  </a:lnTo>
                  <a:lnTo>
                    <a:pt x="65" y="391"/>
                  </a:lnTo>
                  <a:lnTo>
                    <a:pt x="80" y="403"/>
                  </a:lnTo>
                  <a:lnTo>
                    <a:pt x="95" y="414"/>
                  </a:lnTo>
                  <a:lnTo>
                    <a:pt x="113" y="425"/>
                  </a:lnTo>
                  <a:lnTo>
                    <a:pt x="131" y="436"/>
                  </a:lnTo>
                  <a:lnTo>
                    <a:pt x="151" y="446"/>
                  </a:lnTo>
                  <a:lnTo>
                    <a:pt x="172" y="456"/>
                  </a:lnTo>
                  <a:lnTo>
                    <a:pt x="193" y="466"/>
                  </a:lnTo>
                  <a:lnTo>
                    <a:pt x="216" y="475"/>
                  </a:lnTo>
                  <a:lnTo>
                    <a:pt x="241" y="484"/>
                  </a:lnTo>
                  <a:lnTo>
                    <a:pt x="265" y="492"/>
                  </a:lnTo>
                  <a:lnTo>
                    <a:pt x="292" y="499"/>
                  </a:lnTo>
                  <a:lnTo>
                    <a:pt x="319" y="506"/>
                  </a:lnTo>
                  <a:lnTo>
                    <a:pt x="346" y="513"/>
                  </a:lnTo>
                  <a:lnTo>
                    <a:pt x="374" y="519"/>
                  </a:lnTo>
                  <a:lnTo>
                    <a:pt x="404" y="524"/>
                  </a:lnTo>
                  <a:lnTo>
                    <a:pt x="434" y="529"/>
                  </a:lnTo>
                  <a:lnTo>
                    <a:pt x="464" y="534"/>
                  </a:lnTo>
                  <a:lnTo>
                    <a:pt x="496" y="537"/>
                  </a:lnTo>
                  <a:lnTo>
                    <a:pt x="527" y="541"/>
                  </a:lnTo>
                  <a:lnTo>
                    <a:pt x="560" y="543"/>
                  </a:lnTo>
                  <a:lnTo>
                    <a:pt x="593" y="545"/>
                  </a:lnTo>
                  <a:lnTo>
                    <a:pt x="627" y="545"/>
                  </a:lnTo>
                  <a:lnTo>
                    <a:pt x="660" y="546"/>
                  </a:lnTo>
                </a:path>
              </a:pathLst>
            </a:custGeom>
            <a:noFill/>
            <a:ln w="7938">
              <a:solidFill>
                <a:srgbClr val="1F1A17"/>
              </a:solidFill>
              <a:prstDash val="solid"/>
              <a:round/>
              <a:headEnd/>
              <a:tailEnd/>
            </a:ln>
          </p:spPr>
          <p:txBody>
            <a:bodyPr/>
            <a:lstStyle/>
            <a:p>
              <a:endParaRPr lang="en-GB"/>
            </a:p>
          </p:txBody>
        </p:sp>
        <p:sp>
          <p:nvSpPr>
            <p:cNvPr id="174136" name="Freeform 56"/>
            <p:cNvSpPr>
              <a:spLocks/>
            </p:cNvSpPr>
            <p:nvPr/>
          </p:nvSpPr>
          <p:spPr bwMode="auto">
            <a:xfrm>
              <a:off x="3275" y="2105"/>
              <a:ext cx="59" cy="59"/>
            </a:xfrm>
            <a:custGeom>
              <a:avLst/>
              <a:gdLst/>
              <a:ahLst/>
              <a:cxnLst>
                <a:cxn ang="0">
                  <a:pos x="163" y="295"/>
                </a:cxn>
                <a:cxn ang="0">
                  <a:pos x="192" y="290"/>
                </a:cxn>
                <a:cxn ang="0">
                  <a:pos x="219" y="279"/>
                </a:cxn>
                <a:cxn ang="0">
                  <a:pos x="242" y="262"/>
                </a:cxn>
                <a:cxn ang="0">
                  <a:pos x="262" y="242"/>
                </a:cxn>
                <a:cxn ang="0">
                  <a:pos x="278" y="219"/>
                </a:cxn>
                <a:cxn ang="0">
                  <a:pos x="289" y="192"/>
                </a:cxn>
                <a:cxn ang="0">
                  <a:pos x="296" y="163"/>
                </a:cxn>
                <a:cxn ang="0">
                  <a:pos x="296" y="133"/>
                </a:cxn>
                <a:cxn ang="0">
                  <a:pos x="289" y="104"/>
                </a:cxn>
                <a:cxn ang="0">
                  <a:pos x="278" y="78"/>
                </a:cxn>
                <a:cxn ang="0">
                  <a:pos x="262" y="54"/>
                </a:cxn>
                <a:cxn ang="0">
                  <a:pos x="242" y="34"/>
                </a:cxn>
                <a:cxn ang="0">
                  <a:pos x="219" y="19"/>
                </a:cxn>
                <a:cxn ang="0">
                  <a:pos x="192" y="7"/>
                </a:cxn>
                <a:cxn ang="0">
                  <a:pos x="163" y="1"/>
                </a:cxn>
                <a:cxn ang="0">
                  <a:pos x="133" y="1"/>
                </a:cxn>
                <a:cxn ang="0">
                  <a:pos x="105" y="7"/>
                </a:cxn>
                <a:cxn ang="0">
                  <a:pos x="78" y="19"/>
                </a:cxn>
                <a:cxn ang="0">
                  <a:pos x="55" y="34"/>
                </a:cxn>
                <a:cxn ang="0">
                  <a:pos x="34" y="54"/>
                </a:cxn>
                <a:cxn ang="0">
                  <a:pos x="18" y="78"/>
                </a:cxn>
                <a:cxn ang="0">
                  <a:pos x="7" y="104"/>
                </a:cxn>
                <a:cxn ang="0">
                  <a:pos x="1" y="133"/>
                </a:cxn>
                <a:cxn ang="0">
                  <a:pos x="1" y="163"/>
                </a:cxn>
                <a:cxn ang="0">
                  <a:pos x="7" y="192"/>
                </a:cxn>
                <a:cxn ang="0">
                  <a:pos x="18" y="219"/>
                </a:cxn>
                <a:cxn ang="0">
                  <a:pos x="34" y="242"/>
                </a:cxn>
                <a:cxn ang="0">
                  <a:pos x="55" y="262"/>
                </a:cxn>
                <a:cxn ang="0">
                  <a:pos x="78" y="279"/>
                </a:cxn>
                <a:cxn ang="0">
                  <a:pos x="105" y="290"/>
                </a:cxn>
                <a:cxn ang="0">
                  <a:pos x="133" y="295"/>
                </a:cxn>
              </a:cxnLst>
              <a:rect l="0" t="0" r="r" b="b"/>
              <a:pathLst>
                <a:path w="297" h="296">
                  <a:moveTo>
                    <a:pt x="148" y="296"/>
                  </a:moveTo>
                  <a:lnTo>
                    <a:pt x="163" y="295"/>
                  </a:lnTo>
                  <a:lnTo>
                    <a:pt x="178" y="293"/>
                  </a:lnTo>
                  <a:lnTo>
                    <a:pt x="192" y="290"/>
                  </a:lnTo>
                  <a:lnTo>
                    <a:pt x="206" y="284"/>
                  </a:lnTo>
                  <a:lnTo>
                    <a:pt x="219" y="279"/>
                  </a:lnTo>
                  <a:lnTo>
                    <a:pt x="231" y="271"/>
                  </a:lnTo>
                  <a:lnTo>
                    <a:pt x="242" y="262"/>
                  </a:lnTo>
                  <a:lnTo>
                    <a:pt x="252" y="253"/>
                  </a:lnTo>
                  <a:lnTo>
                    <a:pt x="262" y="242"/>
                  </a:lnTo>
                  <a:lnTo>
                    <a:pt x="271" y="231"/>
                  </a:lnTo>
                  <a:lnTo>
                    <a:pt x="278" y="219"/>
                  </a:lnTo>
                  <a:lnTo>
                    <a:pt x="284" y="205"/>
                  </a:lnTo>
                  <a:lnTo>
                    <a:pt x="289" y="192"/>
                  </a:lnTo>
                  <a:lnTo>
                    <a:pt x="293" y="179"/>
                  </a:lnTo>
                  <a:lnTo>
                    <a:pt x="296" y="163"/>
                  </a:lnTo>
                  <a:lnTo>
                    <a:pt x="297" y="149"/>
                  </a:lnTo>
                  <a:lnTo>
                    <a:pt x="296" y="133"/>
                  </a:lnTo>
                  <a:lnTo>
                    <a:pt x="293" y="119"/>
                  </a:lnTo>
                  <a:lnTo>
                    <a:pt x="289" y="104"/>
                  </a:lnTo>
                  <a:lnTo>
                    <a:pt x="284" y="91"/>
                  </a:lnTo>
                  <a:lnTo>
                    <a:pt x="278" y="78"/>
                  </a:lnTo>
                  <a:lnTo>
                    <a:pt x="271" y="65"/>
                  </a:lnTo>
                  <a:lnTo>
                    <a:pt x="262" y="54"/>
                  </a:lnTo>
                  <a:lnTo>
                    <a:pt x="252" y="44"/>
                  </a:lnTo>
                  <a:lnTo>
                    <a:pt x="242" y="34"/>
                  </a:lnTo>
                  <a:lnTo>
                    <a:pt x="231" y="26"/>
                  </a:lnTo>
                  <a:lnTo>
                    <a:pt x="219" y="19"/>
                  </a:lnTo>
                  <a:lnTo>
                    <a:pt x="206" y="12"/>
                  </a:lnTo>
                  <a:lnTo>
                    <a:pt x="192" y="7"/>
                  </a:lnTo>
                  <a:lnTo>
                    <a:pt x="178" y="3"/>
                  </a:lnTo>
                  <a:lnTo>
                    <a:pt x="163" y="1"/>
                  </a:lnTo>
                  <a:lnTo>
                    <a:pt x="148" y="0"/>
                  </a:lnTo>
                  <a:lnTo>
                    <a:pt x="133" y="1"/>
                  </a:lnTo>
                  <a:lnTo>
                    <a:pt x="118" y="3"/>
                  </a:lnTo>
                  <a:lnTo>
                    <a:pt x="105" y="7"/>
                  </a:lnTo>
                  <a:lnTo>
                    <a:pt x="90" y="12"/>
                  </a:lnTo>
                  <a:lnTo>
                    <a:pt x="78" y="19"/>
                  </a:lnTo>
                  <a:lnTo>
                    <a:pt x="66" y="26"/>
                  </a:lnTo>
                  <a:lnTo>
                    <a:pt x="55" y="34"/>
                  </a:lnTo>
                  <a:lnTo>
                    <a:pt x="44" y="44"/>
                  </a:lnTo>
                  <a:lnTo>
                    <a:pt x="34" y="54"/>
                  </a:lnTo>
                  <a:lnTo>
                    <a:pt x="26" y="65"/>
                  </a:lnTo>
                  <a:lnTo>
                    <a:pt x="18" y="78"/>
                  </a:lnTo>
                  <a:lnTo>
                    <a:pt x="11" y="91"/>
                  </a:lnTo>
                  <a:lnTo>
                    <a:pt x="7" y="104"/>
                  </a:lnTo>
                  <a:lnTo>
                    <a:pt x="4" y="119"/>
                  </a:lnTo>
                  <a:lnTo>
                    <a:pt x="1" y="133"/>
                  </a:lnTo>
                  <a:lnTo>
                    <a:pt x="0" y="149"/>
                  </a:lnTo>
                  <a:lnTo>
                    <a:pt x="1" y="163"/>
                  </a:lnTo>
                  <a:lnTo>
                    <a:pt x="4" y="179"/>
                  </a:lnTo>
                  <a:lnTo>
                    <a:pt x="7" y="192"/>
                  </a:lnTo>
                  <a:lnTo>
                    <a:pt x="11" y="205"/>
                  </a:lnTo>
                  <a:lnTo>
                    <a:pt x="18" y="219"/>
                  </a:lnTo>
                  <a:lnTo>
                    <a:pt x="26" y="231"/>
                  </a:lnTo>
                  <a:lnTo>
                    <a:pt x="34" y="242"/>
                  </a:lnTo>
                  <a:lnTo>
                    <a:pt x="44" y="253"/>
                  </a:lnTo>
                  <a:lnTo>
                    <a:pt x="55" y="262"/>
                  </a:lnTo>
                  <a:lnTo>
                    <a:pt x="66" y="271"/>
                  </a:lnTo>
                  <a:lnTo>
                    <a:pt x="78" y="279"/>
                  </a:lnTo>
                  <a:lnTo>
                    <a:pt x="90" y="284"/>
                  </a:lnTo>
                  <a:lnTo>
                    <a:pt x="105" y="290"/>
                  </a:lnTo>
                  <a:lnTo>
                    <a:pt x="118" y="293"/>
                  </a:lnTo>
                  <a:lnTo>
                    <a:pt x="133" y="295"/>
                  </a:lnTo>
                  <a:lnTo>
                    <a:pt x="148" y="296"/>
                  </a:lnTo>
                  <a:close/>
                </a:path>
              </a:pathLst>
            </a:custGeom>
            <a:solidFill>
              <a:srgbClr val="C3C3C2"/>
            </a:solidFill>
            <a:ln w="9525">
              <a:noFill/>
              <a:round/>
              <a:headEnd/>
              <a:tailEnd/>
            </a:ln>
          </p:spPr>
          <p:txBody>
            <a:bodyPr/>
            <a:lstStyle/>
            <a:p>
              <a:endParaRPr lang="en-GB"/>
            </a:p>
          </p:txBody>
        </p:sp>
        <p:sp>
          <p:nvSpPr>
            <p:cNvPr id="174137" name="Freeform 57"/>
            <p:cNvSpPr>
              <a:spLocks/>
            </p:cNvSpPr>
            <p:nvPr/>
          </p:nvSpPr>
          <p:spPr bwMode="auto">
            <a:xfrm>
              <a:off x="3275" y="2105"/>
              <a:ext cx="59" cy="59"/>
            </a:xfrm>
            <a:custGeom>
              <a:avLst/>
              <a:gdLst/>
              <a:ahLst/>
              <a:cxnLst>
                <a:cxn ang="0">
                  <a:pos x="163" y="295"/>
                </a:cxn>
                <a:cxn ang="0">
                  <a:pos x="192" y="290"/>
                </a:cxn>
                <a:cxn ang="0">
                  <a:pos x="219" y="279"/>
                </a:cxn>
                <a:cxn ang="0">
                  <a:pos x="242" y="262"/>
                </a:cxn>
                <a:cxn ang="0">
                  <a:pos x="262" y="242"/>
                </a:cxn>
                <a:cxn ang="0">
                  <a:pos x="278" y="219"/>
                </a:cxn>
                <a:cxn ang="0">
                  <a:pos x="289" y="192"/>
                </a:cxn>
                <a:cxn ang="0">
                  <a:pos x="296" y="163"/>
                </a:cxn>
                <a:cxn ang="0">
                  <a:pos x="296" y="133"/>
                </a:cxn>
                <a:cxn ang="0">
                  <a:pos x="289" y="104"/>
                </a:cxn>
                <a:cxn ang="0">
                  <a:pos x="278" y="78"/>
                </a:cxn>
                <a:cxn ang="0">
                  <a:pos x="262" y="54"/>
                </a:cxn>
                <a:cxn ang="0">
                  <a:pos x="242" y="34"/>
                </a:cxn>
                <a:cxn ang="0">
                  <a:pos x="219" y="19"/>
                </a:cxn>
                <a:cxn ang="0">
                  <a:pos x="192" y="7"/>
                </a:cxn>
                <a:cxn ang="0">
                  <a:pos x="163" y="1"/>
                </a:cxn>
                <a:cxn ang="0">
                  <a:pos x="133" y="1"/>
                </a:cxn>
                <a:cxn ang="0">
                  <a:pos x="105" y="7"/>
                </a:cxn>
                <a:cxn ang="0">
                  <a:pos x="78" y="19"/>
                </a:cxn>
                <a:cxn ang="0">
                  <a:pos x="55" y="34"/>
                </a:cxn>
                <a:cxn ang="0">
                  <a:pos x="34" y="54"/>
                </a:cxn>
                <a:cxn ang="0">
                  <a:pos x="18" y="78"/>
                </a:cxn>
                <a:cxn ang="0">
                  <a:pos x="7" y="104"/>
                </a:cxn>
                <a:cxn ang="0">
                  <a:pos x="1" y="133"/>
                </a:cxn>
                <a:cxn ang="0">
                  <a:pos x="1" y="163"/>
                </a:cxn>
                <a:cxn ang="0">
                  <a:pos x="7" y="192"/>
                </a:cxn>
                <a:cxn ang="0">
                  <a:pos x="18" y="219"/>
                </a:cxn>
                <a:cxn ang="0">
                  <a:pos x="34" y="242"/>
                </a:cxn>
                <a:cxn ang="0">
                  <a:pos x="55" y="262"/>
                </a:cxn>
                <a:cxn ang="0">
                  <a:pos x="78" y="279"/>
                </a:cxn>
                <a:cxn ang="0">
                  <a:pos x="105" y="290"/>
                </a:cxn>
                <a:cxn ang="0">
                  <a:pos x="133" y="295"/>
                </a:cxn>
              </a:cxnLst>
              <a:rect l="0" t="0" r="r" b="b"/>
              <a:pathLst>
                <a:path w="297" h="296">
                  <a:moveTo>
                    <a:pt x="148" y="296"/>
                  </a:moveTo>
                  <a:lnTo>
                    <a:pt x="163" y="295"/>
                  </a:lnTo>
                  <a:lnTo>
                    <a:pt x="178" y="293"/>
                  </a:lnTo>
                  <a:lnTo>
                    <a:pt x="192" y="290"/>
                  </a:lnTo>
                  <a:lnTo>
                    <a:pt x="206" y="284"/>
                  </a:lnTo>
                  <a:lnTo>
                    <a:pt x="219" y="279"/>
                  </a:lnTo>
                  <a:lnTo>
                    <a:pt x="231" y="271"/>
                  </a:lnTo>
                  <a:lnTo>
                    <a:pt x="242" y="262"/>
                  </a:lnTo>
                  <a:lnTo>
                    <a:pt x="252" y="253"/>
                  </a:lnTo>
                  <a:lnTo>
                    <a:pt x="262" y="242"/>
                  </a:lnTo>
                  <a:lnTo>
                    <a:pt x="271" y="231"/>
                  </a:lnTo>
                  <a:lnTo>
                    <a:pt x="278" y="219"/>
                  </a:lnTo>
                  <a:lnTo>
                    <a:pt x="284" y="205"/>
                  </a:lnTo>
                  <a:lnTo>
                    <a:pt x="289" y="192"/>
                  </a:lnTo>
                  <a:lnTo>
                    <a:pt x="293" y="179"/>
                  </a:lnTo>
                  <a:lnTo>
                    <a:pt x="296" y="163"/>
                  </a:lnTo>
                  <a:lnTo>
                    <a:pt x="297" y="149"/>
                  </a:lnTo>
                  <a:lnTo>
                    <a:pt x="296" y="133"/>
                  </a:lnTo>
                  <a:lnTo>
                    <a:pt x="293" y="119"/>
                  </a:lnTo>
                  <a:lnTo>
                    <a:pt x="289" y="104"/>
                  </a:lnTo>
                  <a:lnTo>
                    <a:pt x="284" y="91"/>
                  </a:lnTo>
                  <a:lnTo>
                    <a:pt x="278" y="78"/>
                  </a:lnTo>
                  <a:lnTo>
                    <a:pt x="271" y="65"/>
                  </a:lnTo>
                  <a:lnTo>
                    <a:pt x="262" y="54"/>
                  </a:lnTo>
                  <a:lnTo>
                    <a:pt x="252" y="44"/>
                  </a:lnTo>
                  <a:lnTo>
                    <a:pt x="242" y="34"/>
                  </a:lnTo>
                  <a:lnTo>
                    <a:pt x="231" y="26"/>
                  </a:lnTo>
                  <a:lnTo>
                    <a:pt x="219" y="19"/>
                  </a:lnTo>
                  <a:lnTo>
                    <a:pt x="206" y="12"/>
                  </a:lnTo>
                  <a:lnTo>
                    <a:pt x="192" y="7"/>
                  </a:lnTo>
                  <a:lnTo>
                    <a:pt x="178" y="3"/>
                  </a:lnTo>
                  <a:lnTo>
                    <a:pt x="163" y="1"/>
                  </a:lnTo>
                  <a:lnTo>
                    <a:pt x="148" y="0"/>
                  </a:lnTo>
                  <a:lnTo>
                    <a:pt x="133" y="1"/>
                  </a:lnTo>
                  <a:lnTo>
                    <a:pt x="118" y="3"/>
                  </a:lnTo>
                  <a:lnTo>
                    <a:pt x="105" y="7"/>
                  </a:lnTo>
                  <a:lnTo>
                    <a:pt x="90" y="12"/>
                  </a:lnTo>
                  <a:lnTo>
                    <a:pt x="78" y="19"/>
                  </a:lnTo>
                  <a:lnTo>
                    <a:pt x="66" y="26"/>
                  </a:lnTo>
                  <a:lnTo>
                    <a:pt x="55" y="34"/>
                  </a:lnTo>
                  <a:lnTo>
                    <a:pt x="44" y="44"/>
                  </a:lnTo>
                  <a:lnTo>
                    <a:pt x="34" y="54"/>
                  </a:lnTo>
                  <a:lnTo>
                    <a:pt x="26" y="65"/>
                  </a:lnTo>
                  <a:lnTo>
                    <a:pt x="18" y="78"/>
                  </a:lnTo>
                  <a:lnTo>
                    <a:pt x="11" y="91"/>
                  </a:lnTo>
                  <a:lnTo>
                    <a:pt x="7" y="104"/>
                  </a:lnTo>
                  <a:lnTo>
                    <a:pt x="4" y="119"/>
                  </a:lnTo>
                  <a:lnTo>
                    <a:pt x="1" y="133"/>
                  </a:lnTo>
                  <a:lnTo>
                    <a:pt x="0" y="149"/>
                  </a:lnTo>
                  <a:lnTo>
                    <a:pt x="1" y="163"/>
                  </a:lnTo>
                  <a:lnTo>
                    <a:pt x="4" y="179"/>
                  </a:lnTo>
                  <a:lnTo>
                    <a:pt x="7" y="192"/>
                  </a:lnTo>
                  <a:lnTo>
                    <a:pt x="11" y="205"/>
                  </a:lnTo>
                  <a:lnTo>
                    <a:pt x="18" y="219"/>
                  </a:lnTo>
                  <a:lnTo>
                    <a:pt x="26" y="231"/>
                  </a:lnTo>
                  <a:lnTo>
                    <a:pt x="34" y="242"/>
                  </a:lnTo>
                  <a:lnTo>
                    <a:pt x="44" y="253"/>
                  </a:lnTo>
                  <a:lnTo>
                    <a:pt x="55" y="262"/>
                  </a:lnTo>
                  <a:lnTo>
                    <a:pt x="66" y="271"/>
                  </a:lnTo>
                  <a:lnTo>
                    <a:pt x="78" y="279"/>
                  </a:lnTo>
                  <a:lnTo>
                    <a:pt x="90" y="284"/>
                  </a:lnTo>
                  <a:lnTo>
                    <a:pt x="105" y="290"/>
                  </a:lnTo>
                  <a:lnTo>
                    <a:pt x="118" y="293"/>
                  </a:lnTo>
                  <a:lnTo>
                    <a:pt x="133" y="295"/>
                  </a:lnTo>
                  <a:lnTo>
                    <a:pt x="148" y="296"/>
                  </a:lnTo>
                </a:path>
              </a:pathLst>
            </a:custGeom>
            <a:noFill/>
            <a:ln w="14288">
              <a:solidFill>
                <a:srgbClr val="C3C3C2"/>
              </a:solidFill>
              <a:prstDash val="solid"/>
              <a:round/>
              <a:headEnd/>
              <a:tailEnd/>
            </a:ln>
          </p:spPr>
          <p:txBody>
            <a:bodyPr/>
            <a:lstStyle/>
            <a:p>
              <a:endParaRPr lang="en-GB"/>
            </a:p>
          </p:txBody>
        </p:sp>
        <p:sp>
          <p:nvSpPr>
            <p:cNvPr id="174138" name="Line 58"/>
            <p:cNvSpPr>
              <a:spLocks noChangeShapeType="1"/>
            </p:cNvSpPr>
            <p:nvPr/>
          </p:nvSpPr>
          <p:spPr bwMode="auto">
            <a:xfrm>
              <a:off x="3264" y="2180"/>
              <a:ext cx="82" cy="1"/>
            </a:xfrm>
            <a:prstGeom prst="line">
              <a:avLst/>
            </a:prstGeom>
            <a:noFill/>
            <a:ln w="14288">
              <a:solidFill>
                <a:srgbClr val="C3C3C2"/>
              </a:solidFill>
              <a:round/>
              <a:headEnd/>
              <a:tailEnd/>
            </a:ln>
          </p:spPr>
          <p:txBody>
            <a:bodyPr/>
            <a:lstStyle/>
            <a:p>
              <a:endParaRPr lang="en-GB"/>
            </a:p>
          </p:txBody>
        </p:sp>
        <p:sp>
          <p:nvSpPr>
            <p:cNvPr id="174139" name="Freeform 59"/>
            <p:cNvSpPr>
              <a:spLocks/>
            </p:cNvSpPr>
            <p:nvPr/>
          </p:nvSpPr>
          <p:spPr bwMode="auto">
            <a:xfrm>
              <a:off x="3241" y="2165"/>
              <a:ext cx="63" cy="114"/>
            </a:xfrm>
            <a:custGeom>
              <a:avLst/>
              <a:gdLst/>
              <a:ahLst/>
              <a:cxnLst>
                <a:cxn ang="0">
                  <a:pos x="316" y="0"/>
                </a:cxn>
                <a:cxn ang="0">
                  <a:pos x="316" y="263"/>
                </a:cxn>
                <a:cxn ang="0">
                  <a:pos x="0" y="570"/>
                </a:cxn>
              </a:cxnLst>
              <a:rect l="0" t="0" r="r" b="b"/>
              <a:pathLst>
                <a:path w="316" h="570">
                  <a:moveTo>
                    <a:pt x="316" y="0"/>
                  </a:moveTo>
                  <a:lnTo>
                    <a:pt x="316" y="263"/>
                  </a:lnTo>
                  <a:lnTo>
                    <a:pt x="0" y="570"/>
                  </a:lnTo>
                </a:path>
              </a:pathLst>
            </a:custGeom>
            <a:noFill/>
            <a:ln w="14288">
              <a:solidFill>
                <a:srgbClr val="C3C3C2"/>
              </a:solidFill>
              <a:prstDash val="solid"/>
              <a:round/>
              <a:headEnd/>
              <a:tailEnd/>
            </a:ln>
          </p:spPr>
          <p:txBody>
            <a:bodyPr/>
            <a:lstStyle/>
            <a:p>
              <a:endParaRPr lang="en-GB"/>
            </a:p>
          </p:txBody>
        </p:sp>
        <p:sp>
          <p:nvSpPr>
            <p:cNvPr id="174140" name="Line 60"/>
            <p:cNvSpPr>
              <a:spLocks noChangeShapeType="1"/>
            </p:cNvSpPr>
            <p:nvPr/>
          </p:nvSpPr>
          <p:spPr bwMode="auto">
            <a:xfrm>
              <a:off x="3304" y="2216"/>
              <a:ext cx="63" cy="63"/>
            </a:xfrm>
            <a:prstGeom prst="line">
              <a:avLst/>
            </a:prstGeom>
            <a:noFill/>
            <a:ln w="14288">
              <a:solidFill>
                <a:srgbClr val="C3C3C2"/>
              </a:solidFill>
              <a:round/>
              <a:headEnd/>
              <a:tailEnd/>
            </a:ln>
          </p:spPr>
          <p:txBody>
            <a:bodyPr/>
            <a:lstStyle/>
            <a:p>
              <a:endParaRPr lang="en-GB"/>
            </a:p>
          </p:txBody>
        </p:sp>
        <p:sp>
          <p:nvSpPr>
            <p:cNvPr id="174141" name="Freeform 61"/>
            <p:cNvSpPr>
              <a:spLocks/>
            </p:cNvSpPr>
            <p:nvPr/>
          </p:nvSpPr>
          <p:spPr bwMode="auto">
            <a:xfrm>
              <a:off x="3257" y="2084"/>
              <a:ext cx="60" cy="59"/>
            </a:xfrm>
            <a:custGeom>
              <a:avLst/>
              <a:gdLst/>
              <a:ahLst/>
              <a:cxnLst>
                <a:cxn ang="0">
                  <a:pos x="164" y="295"/>
                </a:cxn>
                <a:cxn ang="0">
                  <a:pos x="193" y="290"/>
                </a:cxn>
                <a:cxn ang="0">
                  <a:pos x="219" y="278"/>
                </a:cxn>
                <a:cxn ang="0">
                  <a:pos x="242" y="262"/>
                </a:cxn>
                <a:cxn ang="0">
                  <a:pos x="262" y="242"/>
                </a:cxn>
                <a:cxn ang="0">
                  <a:pos x="279" y="219"/>
                </a:cxn>
                <a:cxn ang="0">
                  <a:pos x="290" y="192"/>
                </a:cxn>
                <a:cxn ang="0">
                  <a:pos x="296" y="163"/>
                </a:cxn>
                <a:cxn ang="0">
                  <a:pos x="296" y="133"/>
                </a:cxn>
                <a:cxn ang="0">
                  <a:pos x="290" y="104"/>
                </a:cxn>
                <a:cxn ang="0">
                  <a:pos x="279" y="78"/>
                </a:cxn>
                <a:cxn ang="0">
                  <a:pos x="262" y="54"/>
                </a:cxn>
                <a:cxn ang="0">
                  <a:pos x="242" y="34"/>
                </a:cxn>
                <a:cxn ang="0">
                  <a:pos x="219" y="18"/>
                </a:cxn>
                <a:cxn ang="0">
                  <a:pos x="193" y="7"/>
                </a:cxn>
                <a:cxn ang="0">
                  <a:pos x="164" y="1"/>
                </a:cxn>
                <a:cxn ang="0">
                  <a:pos x="134" y="1"/>
                </a:cxn>
                <a:cxn ang="0">
                  <a:pos x="105" y="7"/>
                </a:cxn>
                <a:cxn ang="0">
                  <a:pos x="78" y="18"/>
                </a:cxn>
                <a:cxn ang="0">
                  <a:pos x="55" y="34"/>
                </a:cxn>
                <a:cxn ang="0">
                  <a:pos x="35" y="54"/>
                </a:cxn>
                <a:cxn ang="0">
                  <a:pos x="18" y="78"/>
                </a:cxn>
                <a:cxn ang="0">
                  <a:pos x="7" y="104"/>
                </a:cxn>
                <a:cxn ang="0">
                  <a:pos x="2" y="133"/>
                </a:cxn>
                <a:cxn ang="0">
                  <a:pos x="2" y="163"/>
                </a:cxn>
                <a:cxn ang="0">
                  <a:pos x="7" y="192"/>
                </a:cxn>
                <a:cxn ang="0">
                  <a:pos x="18" y="219"/>
                </a:cxn>
                <a:cxn ang="0">
                  <a:pos x="35" y="242"/>
                </a:cxn>
                <a:cxn ang="0">
                  <a:pos x="55" y="262"/>
                </a:cxn>
                <a:cxn ang="0">
                  <a:pos x="78" y="278"/>
                </a:cxn>
                <a:cxn ang="0">
                  <a:pos x="105" y="290"/>
                </a:cxn>
                <a:cxn ang="0">
                  <a:pos x="134" y="295"/>
                </a:cxn>
              </a:cxnLst>
              <a:rect l="0" t="0" r="r" b="b"/>
              <a:pathLst>
                <a:path w="297" h="296">
                  <a:moveTo>
                    <a:pt x="148" y="296"/>
                  </a:moveTo>
                  <a:lnTo>
                    <a:pt x="164" y="295"/>
                  </a:lnTo>
                  <a:lnTo>
                    <a:pt x="178" y="293"/>
                  </a:lnTo>
                  <a:lnTo>
                    <a:pt x="193" y="290"/>
                  </a:lnTo>
                  <a:lnTo>
                    <a:pt x="206" y="284"/>
                  </a:lnTo>
                  <a:lnTo>
                    <a:pt x="219" y="278"/>
                  </a:lnTo>
                  <a:lnTo>
                    <a:pt x="231" y="271"/>
                  </a:lnTo>
                  <a:lnTo>
                    <a:pt x="242" y="262"/>
                  </a:lnTo>
                  <a:lnTo>
                    <a:pt x="254" y="253"/>
                  </a:lnTo>
                  <a:lnTo>
                    <a:pt x="262" y="242"/>
                  </a:lnTo>
                  <a:lnTo>
                    <a:pt x="271" y="231"/>
                  </a:lnTo>
                  <a:lnTo>
                    <a:pt x="279" y="219"/>
                  </a:lnTo>
                  <a:lnTo>
                    <a:pt x="285" y="205"/>
                  </a:lnTo>
                  <a:lnTo>
                    <a:pt x="290" y="192"/>
                  </a:lnTo>
                  <a:lnTo>
                    <a:pt x="294" y="177"/>
                  </a:lnTo>
                  <a:lnTo>
                    <a:pt x="296" y="163"/>
                  </a:lnTo>
                  <a:lnTo>
                    <a:pt x="297" y="147"/>
                  </a:lnTo>
                  <a:lnTo>
                    <a:pt x="296" y="133"/>
                  </a:lnTo>
                  <a:lnTo>
                    <a:pt x="294" y="119"/>
                  </a:lnTo>
                  <a:lnTo>
                    <a:pt x="290" y="104"/>
                  </a:lnTo>
                  <a:lnTo>
                    <a:pt x="285" y="91"/>
                  </a:lnTo>
                  <a:lnTo>
                    <a:pt x="279" y="78"/>
                  </a:lnTo>
                  <a:lnTo>
                    <a:pt x="271" y="65"/>
                  </a:lnTo>
                  <a:lnTo>
                    <a:pt x="262" y="54"/>
                  </a:lnTo>
                  <a:lnTo>
                    <a:pt x="254" y="43"/>
                  </a:lnTo>
                  <a:lnTo>
                    <a:pt x="242" y="34"/>
                  </a:lnTo>
                  <a:lnTo>
                    <a:pt x="231" y="25"/>
                  </a:lnTo>
                  <a:lnTo>
                    <a:pt x="219" y="18"/>
                  </a:lnTo>
                  <a:lnTo>
                    <a:pt x="206" y="12"/>
                  </a:lnTo>
                  <a:lnTo>
                    <a:pt x="193" y="7"/>
                  </a:lnTo>
                  <a:lnTo>
                    <a:pt x="178" y="3"/>
                  </a:lnTo>
                  <a:lnTo>
                    <a:pt x="164" y="1"/>
                  </a:lnTo>
                  <a:lnTo>
                    <a:pt x="148" y="0"/>
                  </a:lnTo>
                  <a:lnTo>
                    <a:pt x="134" y="1"/>
                  </a:lnTo>
                  <a:lnTo>
                    <a:pt x="119" y="3"/>
                  </a:lnTo>
                  <a:lnTo>
                    <a:pt x="105" y="7"/>
                  </a:lnTo>
                  <a:lnTo>
                    <a:pt x="92" y="12"/>
                  </a:lnTo>
                  <a:lnTo>
                    <a:pt x="78" y="18"/>
                  </a:lnTo>
                  <a:lnTo>
                    <a:pt x="66" y="25"/>
                  </a:lnTo>
                  <a:lnTo>
                    <a:pt x="55" y="34"/>
                  </a:lnTo>
                  <a:lnTo>
                    <a:pt x="44" y="43"/>
                  </a:lnTo>
                  <a:lnTo>
                    <a:pt x="35" y="54"/>
                  </a:lnTo>
                  <a:lnTo>
                    <a:pt x="26" y="65"/>
                  </a:lnTo>
                  <a:lnTo>
                    <a:pt x="18" y="78"/>
                  </a:lnTo>
                  <a:lnTo>
                    <a:pt x="13" y="91"/>
                  </a:lnTo>
                  <a:lnTo>
                    <a:pt x="7" y="104"/>
                  </a:lnTo>
                  <a:lnTo>
                    <a:pt x="4" y="119"/>
                  </a:lnTo>
                  <a:lnTo>
                    <a:pt x="2" y="133"/>
                  </a:lnTo>
                  <a:lnTo>
                    <a:pt x="0" y="147"/>
                  </a:lnTo>
                  <a:lnTo>
                    <a:pt x="2" y="163"/>
                  </a:lnTo>
                  <a:lnTo>
                    <a:pt x="4" y="177"/>
                  </a:lnTo>
                  <a:lnTo>
                    <a:pt x="7" y="192"/>
                  </a:lnTo>
                  <a:lnTo>
                    <a:pt x="13" y="205"/>
                  </a:lnTo>
                  <a:lnTo>
                    <a:pt x="18" y="219"/>
                  </a:lnTo>
                  <a:lnTo>
                    <a:pt x="26" y="231"/>
                  </a:lnTo>
                  <a:lnTo>
                    <a:pt x="35" y="242"/>
                  </a:lnTo>
                  <a:lnTo>
                    <a:pt x="44" y="253"/>
                  </a:lnTo>
                  <a:lnTo>
                    <a:pt x="55" y="262"/>
                  </a:lnTo>
                  <a:lnTo>
                    <a:pt x="66" y="271"/>
                  </a:lnTo>
                  <a:lnTo>
                    <a:pt x="78" y="278"/>
                  </a:lnTo>
                  <a:lnTo>
                    <a:pt x="92" y="284"/>
                  </a:lnTo>
                  <a:lnTo>
                    <a:pt x="105" y="290"/>
                  </a:lnTo>
                  <a:lnTo>
                    <a:pt x="119" y="293"/>
                  </a:lnTo>
                  <a:lnTo>
                    <a:pt x="134" y="295"/>
                  </a:lnTo>
                  <a:lnTo>
                    <a:pt x="148" y="296"/>
                  </a:lnTo>
                  <a:close/>
                </a:path>
              </a:pathLst>
            </a:custGeom>
            <a:solidFill>
              <a:srgbClr val="7A8A93"/>
            </a:solidFill>
            <a:ln w="9525">
              <a:noFill/>
              <a:round/>
              <a:headEnd/>
              <a:tailEnd/>
            </a:ln>
          </p:spPr>
          <p:txBody>
            <a:bodyPr/>
            <a:lstStyle/>
            <a:p>
              <a:endParaRPr lang="en-GB"/>
            </a:p>
          </p:txBody>
        </p:sp>
        <p:sp>
          <p:nvSpPr>
            <p:cNvPr id="174142" name="Freeform 62"/>
            <p:cNvSpPr>
              <a:spLocks/>
            </p:cNvSpPr>
            <p:nvPr/>
          </p:nvSpPr>
          <p:spPr bwMode="auto">
            <a:xfrm>
              <a:off x="3257" y="2084"/>
              <a:ext cx="60" cy="59"/>
            </a:xfrm>
            <a:custGeom>
              <a:avLst/>
              <a:gdLst/>
              <a:ahLst/>
              <a:cxnLst>
                <a:cxn ang="0">
                  <a:pos x="164" y="295"/>
                </a:cxn>
                <a:cxn ang="0">
                  <a:pos x="193" y="290"/>
                </a:cxn>
                <a:cxn ang="0">
                  <a:pos x="219" y="278"/>
                </a:cxn>
                <a:cxn ang="0">
                  <a:pos x="242" y="262"/>
                </a:cxn>
                <a:cxn ang="0">
                  <a:pos x="262" y="242"/>
                </a:cxn>
                <a:cxn ang="0">
                  <a:pos x="279" y="219"/>
                </a:cxn>
                <a:cxn ang="0">
                  <a:pos x="290" y="192"/>
                </a:cxn>
                <a:cxn ang="0">
                  <a:pos x="296" y="163"/>
                </a:cxn>
                <a:cxn ang="0">
                  <a:pos x="296" y="133"/>
                </a:cxn>
                <a:cxn ang="0">
                  <a:pos x="290" y="104"/>
                </a:cxn>
                <a:cxn ang="0">
                  <a:pos x="279" y="78"/>
                </a:cxn>
                <a:cxn ang="0">
                  <a:pos x="262" y="54"/>
                </a:cxn>
                <a:cxn ang="0">
                  <a:pos x="242" y="34"/>
                </a:cxn>
                <a:cxn ang="0">
                  <a:pos x="219" y="18"/>
                </a:cxn>
                <a:cxn ang="0">
                  <a:pos x="193" y="7"/>
                </a:cxn>
                <a:cxn ang="0">
                  <a:pos x="164" y="1"/>
                </a:cxn>
                <a:cxn ang="0">
                  <a:pos x="134" y="1"/>
                </a:cxn>
                <a:cxn ang="0">
                  <a:pos x="105" y="7"/>
                </a:cxn>
                <a:cxn ang="0">
                  <a:pos x="78" y="18"/>
                </a:cxn>
                <a:cxn ang="0">
                  <a:pos x="55" y="34"/>
                </a:cxn>
                <a:cxn ang="0">
                  <a:pos x="35" y="54"/>
                </a:cxn>
                <a:cxn ang="0">
                  <a:pos x="18" y="78"/>
                </a:cxn>
                <a:cxn ang="0">
                  <a:pos x="7" y="104"/>
                </a:cxn>
                <a:cxn ang="0">
                  <a:pos x="2" y="133"/>
                </a:cxn>
                <a:cxn ang="0">
                  <a:pos x="2" y="163"/>
                </a:cxn>
                <a:cxn ang="0">
                  <a:pos x="7" y="192"/>
                </a:cxn>
                <a:cxn ang="0">
                  <a:pos x="18" y="219"/>
                </a:cxn>
                <a:cxn ang="0">
                  <a:pos x="35" y="242"/>
                </a:cxn>
                <a:cxn ang="0">
                  <a:pos x="55" y="262"/>
                </a:cxn>
                <a:cxn ang="0">
                  <a:pos x="78" y="278"/>
                </a:cxn>
                <a:cxn ang="0">
                  <a:pos x="105" y="290"/>
                </a:cxn>
                <a:cxn ang="0">
                  <a:pos x="134" y="295"/>
                </a:cxn>
              </a:cxnLst>
              <a:rect l="0" t="0" r="r" b="b"/>
              <a:pathLst>
                <a:path w="297" h="296">
                  <a:moveTo>
                    <a:pt x="148" y="296"/>
                  </a:moveTo>
                  <a:lnTo>
                    <a:pt x="164" y="295"/>
                  </a:lnTo>
                  <a:lnTo>
                    <a:pt x="178" y="293"/>
                  </a:lnTo>
                  <a:lnTo>
                    <a:pt x="193" y="290"/>
                  </a:lnTo>
                  <a:lnTo>
                    <a:pt x="206" y="284"/>
                  </a:lnTo>
                  <a:lnTo>
                    <a:pt x="219" y="278"/>
                  </a:lnTo>
                  <a:lnTo>
                    <a:pt x="231" y="271"/>
                  </a:lnTo>
                  <a:lnTo>
                    <a:pt x="242" y="262"/>
                  </a:lnTo>
                  <a:lnTo>
                    <a:pt x="254" y="253"/>
                  </a:lnTo>
                  <a:lnTo>
                    <a:pt x="262" y="242"/>
                  </a:lnTo>
                  <a:lnTo>
                    <a:pt x="271" y="231"/>
                  </a:lnTo>
                  <a:lnTo>
                    <a:pt x="279" y="219"/>
                  </a:lnTo>
                  <a:lnTo>
                    <a:pt x="285" y="205"/>
                  </a:lnTo>
                  <a:lnTo>
                    <a:pt x="290" y="192"/>
                  </a:lnTo>
                  <a:lnTo>
                    <a:pt x="294" y="177"/>
                  </a:lnTo>
                  <a:lnTo>
                    <a:pt x="296" y="163"/>
                  </a:lnTo>
                  <a:lnTo>
                    <a:pt x="297" y="147"/>
                  </a:lnTo>
                  <a:lnTo>
                    <a:pt x="296" y="133"/>
                  </a:lnTo>
                  <a:lnTo>
                    <a:pt x="294" y="119"/>
                  </a:lnTo>
                  <a:lnTo>
                    <a:pt x="290" y="104"/>
                  </a:lnTo>
                  <a:lnTo>
                    <a:pt x="285" y="91"/>
                  </a:lnTo>
                  <a:lnTo>
                    <a:pt x="279" y="78"/>
                  </a:lnTo>
                  <a:lnTo>
                    <a:pt x="271" y="65"/>
                  </a:lnTo>
                  <a:lnTo>
                    <a:pt x="262" y="54"/>
                  </a:lnTo>
                  <a:lnTo>
                    <a:pt x="254" y="43"/>
                  </a:lnTo>
                  <a:lnTo>
                    <a:pt x="242" y="34"/>
                  </a:lnTo>
                  <a:lnTo>
                    <a:pt x="231" y="25"/>
                  </a:lnTo>
                  <a:lnTo>
                    <a:pt x="219" y="18"/>
                  </a:lnTo>
                  <a:lnTo>
                    <a:pt x="206" y="12"/>
                  </a:lnTo>
                  <a:lnTo>
                    <a:pt x="193" y="7"/>
                  </a:lnTo>
                  <a:lnTo>
                    <a:pt x="178" y="3"/>
                  </a:lnTo>
                  <a:lnTo>
                    <a:pt x="164" y="1"/>
                  </a:lnTo>
                  <a:lnTo>
                    <a:pt x="148" y="0"/>
                  </a:lnTo>
                  <a:lnTo>
                    <a:pt x="134" y="1"/>
                  </a:lnTo>
                  <a:lnTo>
                    <a:pt x="119" y="3"/>
                  </a:lnTo>
                  <a:lnTo>
                    <a:pt x="105" y="7"/>
                  </a:lnTo>
                  <a:lnTo>
                    <a:pt x="92" y="12"/>
                  </a:lnTo>
                  <a:lnTo>
                    <a:pt x="78" y="18"/>
                  </a:lnTo>
                  <a:lnTo>
                    <a:pt x="66" y="25"/>
                  </a:lnTo>
                  <a:lnTo>
                    <a:pt x="55" y="34"/>
                  </a:lnTo>
                  <a:lnTo>
                    <a:pt x="44" y="43"/>
                  </a:lnTo>
                  <a:lnTo>
                    <a:pt x="35" y="54"/>
                  </a:lnTo>
                  <a:lnTo>
                    <a:pt x="26" y="65"/>
                  </a:lnTo>
                  <a:lnTo>
                    <a:pt x="18" y="78"/>
                  </a:lnTo>
                  <a:lnTo>
                    <a:pt x="13" y="91"/>
                  </a:lnTo>
                  <a:lnTo>
                    <a:pt x="7" y="104"/>
                  </a:lnTo>
                  <a:lnTo>
                    <a:pt x="4" y="119"/>
                  </a:lnTo>
                  <a:lnTo>
                    <a:pt x="2" y="133"/>
                  </a:lnTo>
                  <a:lnTo>
                    <a:pt x="0" y="147"/>
                  </a:lnTo>
                  <a:lnTo>
                    <a:pt x="2" y="163"/>
                  </a:lnTo>
                  <a:lnTo>
                    <a:pt x="4" y="177"/>
                  </a:lnTo>
                  <a:lnTo>
                    <a:pt x="7" y="192"/>
                  </a:lnTo>
                  <a:lnTo>
                    <a:pt x="13" y="205"/>
                  </a:lnTo>
                  <a:lnTo>
                    <a:pt x="18" y="219"/>
                  </a:lnTo>
                  <a:lnTo>
                    <a:pt x="26" y="231"/>
                  </a:lnTo>
                  <a:lnTo>
                    <a:pt x="35" y="242"/>
                  </a:lnTo>
                  <a:lnTo>
                    <a:pt x="44" y="253"/>
                  </a:lnTo>
                  <a:lnTo>
                    <a:pt x="55" y="262"/>
                  </a:lnTo>
                  <a:lnTo>
                    <a:pt x="66" y="271"/>
                  </a:lnTo>
                  <a:lnTo>
                    <a:pt x="78" y="278"/>
                  </a:lnTo>
                  <a:lnTo>
                    <a:pt x="92" y="284"/>
                  </a:lnTo>
                  <a:lnTo>
                    <a:pt x="105" y="290"/>
                  </a:lnTo>
                  <a:lnTo>
                    <a:pt x="119" y="293"/>
                  </a:lnTo>
                  <a:lnTo>
                    <a:pt x="134" y="295"/>
                  </a:lnTo>
                  <a:lnTo>
                    <a:pt x="148" y="296"/>
                  </a:lnTo>
                </a:path>
              </a:pathLst>
            </a:custGeom>
            <a:noFill/>
            <a:ln w="14288">
              <a:solidFill>
                <a:srgbClr val="1F1A17"/>
              </a:solidFill>
              <a:prstDash val="solid"/>
              <a:round/>
              <a:headEnd/>
              <a:tailEnd/>
            </a:ln>
          </p:spPr>
          <p:txBody>
            <a:bodyPr/>
            <a:lstStyle/>
            <a:p>
              <a:endParaRPr lang="en-GB"/>
            </a:p>
          </p:txBody>
        </p:sp>
        <p:sp>
          <p:nvSpPr>
            <p:cNvPr id="174143" name="Line 63"/>
            <p:cNvSpPr>
              <a:spLocks noChangeShapeType="1"/>
            </p:cNvSpPr>
            <p:nvPr/>
          </p:nvSpPr>
          <p:spPr bwMode="auto">
            <a:xfrm>
              <a:off x="3246" y="2159"/>
              <a:ext cx="82" cy="1"/>
            </a:xfrm>
            <a:prstGeom prst="line">
              <a:avLst/>
            </a:prstGeom>
            <a:noFill/>
            <a:ln w="14288">
              <a:solidFill>
                <a:srgbClr val="1F1A17"/>
              </a:solidFill>
              <a:round/>
              <a:headEnd/>
              <a:tailEnd/>
            </a:ln>
          </p:spPr>
          <p:txBody>
            <a:bodyPr/>
            <a:lstStyle/>
            <a:p>
              <a:endParaRPr lang="en-GB"/>
            </a:p>
          </p:txBody>
        </p:sp>
        <p:sp>
          <p:nvSpPr>
            <p:cNvPr id="174144" name="Freeform 64"/>
            <p:cNvSpPr>
              <a:spLocks/>
            </p:cNvSpPr>
            <p:nvPr/>
          </p:nvSpPr>
          <p:spPr bwMode="auto">
            <a:xfrm>
              <a:off x="3224" y="2144"/>
              <a:ext cx="63" cy="114"/>
            </a:xfrm>
            <a:custGeom>
              <a:avLst/>
              <a:gdLst/>
              <a:ahLst/>
              <a:cxnLst>
                <a:cxn ang="0">
                  <a:pos x="315" y="0"/>
                </a:cxn>
                <a:cxn ang="0">
                  <a:pos x="315" y="262"/>
                </a:cxn>
                <a:cxn ang="0">
                  <a:pos x="0" y="570"/>
                </a:cxn>
              </a:cxnLst>
              <a:rect l="0" t="0" r="r" b="b"/>
              <a:pathLst>
                <a:path w="315" h="570">
                  <a:moveTo>
                    <a:pt x="315" y="0"/>
                  </a:moveTo>
                  <a:lnTo>
                    <a:pt x="315" y="262"/>
                  </a:lnTo>
                  <a:lnTo>
                    <a:pt x="0" y="570"/>
                  </a:lnTo>
                </a:path>
              </a:pathLst>
            </a:custGeom>
            <a:noFill/>
            <a:ln w="14288">
              <a:solidFill>
                <a:srgbClr val="1F1A17"/>
              </a:solidFill>
              <a:prstDash val="solid"/>
              <a:round/>
              <a:headEnd/>
              <a:tailEnd/>
            </a:ln>
          </p:spPr>
          <p:txBody>
            <a:bodyPr/>
            <a:lstStyle/>
            <a:p>
              <a:endParaRPr lang="en-GB"/>
            </a:p>
          </p:txBody>
        </p:sp>
        <p:sp>
          <p:nvSpPr>
            <p:cNvPr id="174145" name="Line 65"/>
            <p:cNvSpPr>
              <a:spLocks noChangeShapeType="1"/>
            </p:cNvSpPr>
            <p:nvPr/>
          </p:nvSpPr>
          <p:spPr bwMode="auto">
            <a:xfrm>
              <a:off x="3286" y="2196"/>
              <a:ext cx="63" cy="63"/>
            </a:xfrm>
            <a:prstGeom prst="line">
              <a:avLst/>
            </a:prstGeom>
            <a:noFill/>
            <a:ln w="14288">
              <a:solidFill>
                <a:srgbClr val="1F1A17"/>
              </a:solidFill>
              <a:round/>
              <a:headEnd/>
              <a:tailEnd/>
            </a:ln>
          </p:spPr>
          <p:txBody>
            <a:bodyPr/>
            <a:lstStyle/>
            <a:p>
              <a:endParaRPr lang="en-GB"/>
            </a:p>
          </p:txBody>
        </p:sp>
        <p:sp>
          <p:nvSpPr>
            <p:cNvPr id="174146" name="Line 66"/>
            <p:cNvSpPr>
              <a:spLocks noChangeShapeType="1"/>
            </p:cNvSpPr>
            <p:nvPr/>
          </p:nvSpPr>
          <p:spPr bwMode="auto">
            <a:xfrm>
              <a:off x="3341" y="2164"/>
              <a:ext cx="186" cy="1"/>
            </a:xfrm>
            <a:prstGeom prst="line">
              <a:avLst/>
            </a:prstGeom>
            <a:noFill/>
            <a:ln w="7938">
              <a:solidFill>
                <a:srgbClr val="1F1A17"/>
              </a:solidFill>
              <a:round/>
              <a:headEnd/>
              <a:tailEnd/>
            </a:ln>
          </p:spPr>
          <p:txBody>
            <a:bodyPr/>
            <a:lstStyle/>
            <a:p>
              <a:endParaRPr lang="en-GB"/>
            </a:p>
          </p:txBody>
        </p:sp>
        <p:sp>
          <p:nvSpPr>
            <p:cNvPr id="174147" name="Line 67"/>
            <p:cNvSpPr>
              <a:spLocks noChangeShapeType="1"/>
            </p:cNvSpPr>
            <p:nvPr/>
          </p:nvSpPr>
          <p:spPr bwMode="auto">
            <a:xfrm>
              <a:off x="3569" y="2235"/>
              <a:ext cx="45" cy="41"/>
            </a:xfrm>
            <a:prstGeom prst="line">
              <a:avLst/>
            </a:prstGeom>
            <a:noFill/>
            <a:ln w="12700">
              <a:solidFill>
                <a:srgbClr val="1F1A17"/>
              </a:solidFill>
              <a:round/>
              <a:headEnd/>
              <a:tailEnd/>
            </a:ln>
          </p:spPr>
          <p:txBody>
            <a:bodyPr/>
            <a:lstStyle/>
            <a:p>
              <a:endParaRPr lang="en-GB"/>
            </a:p>
          </p:txBody>
        </p:sp>
        <p:sp>
          <p:nvSpPr>
            <p:cNvPr id="174148" name="Line 68"/>
            <p:cNvSpPr>
              <a:spLocks noChangeShapeType="1"/>
            </p:cNvSpPr>
            <p:nvPr/>
          </p:nvSpPr>
          <p:spPr bwMode="auto">
            <a:xfrm flipH="1">
              <a:off x="3726" y="2234"/>
              <a:ext cx="46" cy="40"/>
            </a:xfrm>
            <a:prstGeom prst="line">
              <a:avLst/>
            </a:prstGeom>
            <a:noFill/>
            <a:ln w="12700">
              <a:solidFill>
                <a:srgbClr val="1F1A17"/>
              </a:solidFill>
              <a:round/>
              <a:headEnd/>
              <a:tailEnd/>
            </a:ln>
          </p:spPr>
          <p:txBody>
            <a:bodyPr/>
            <a:lstStyle/>
            <a:p>
              <a:endParaRPr lang="en-GB"/>
            </a:p>
          </p:txBody>
        </p:sp>
        <p:sp>
          <p:nvSpPr>
            <p:cNvPr id="174149" name="Freeform 69"/>
            <p:cNvSpPr>
              <a:spLocks/>
            </p:cNvSpPr>
            <p:nvPr/>
          </p:nvSpPr>
          <p:spPr bwMode="auto">
            <a:xfrm>
              <a:off x="3580" y="2230"/>
              <a:ext cx="33" cy="32"/>
            </a:xfrm>
            <a:custGeom>
              <a:avLst/>
              <a:gdLst/>
              <a:ahLst/>
              <a:cxnLst>
                <a:cxn ang="0">
                  <a:pos x="0" y="49"/>
                </a:cxn>
                <a:cxn ang="0">
                  <a:pos x="167" y="0"/>
                </a:cxn>
                <a:cxn ang="0">
                  <a:pos x="143" y="160"/>
                </a:cxn>
                <a:cxn ang="0">
                  <a:pos x="0" y="49"/>
                </a:cxn>
              </a:cxnLst>
              <a:rect l="0" t="0" r="r" b="b"/>
              <a:pathLst>
                <a:path w="167" h="160">
                  <a:moveTo>
                    <a:pt x="0" y="49"/>
                  </a:moveTo>
                  <a:lnTo>
                    <a:pt x="167" y="0"/>
                  </a:lnTo>
                  <a:lnTo>
                    <a:pt x="143" y="160"/>
                  </a:lnTo>
                  <a:lnTo>
                    <a:pt x="0" y="49"/>
                  </a:lnTo>
                  <a:close/>
                </a:path>
              </a:pathLst>
            </a:custGeom>
            <a:solidFill>
              <a:srgbClr val="FFFFFF"/>
            </a:solidFill>
            <a:ln w="9525">
              <a:noFill/>
              <a:round/>
              <a:headEnd/>
              <a:tailEnd/>
            </a:ln>
          </p:spPr>
          <p:txBody>
            <a:bodyPr/>
            <a:lstStyle/>
            <a:p>
              <a:endParaRPr lang="en-GB"/>
            </a:p>
          </p:txBody>
        </p:sp>
        <p:sp>
          <p:nvSpPr>
            <p:cNvPr id="174150" name="Freeform 70"/>
            <p:cNvSpPr>
              <a:spLocks/>
            </p:cNvSpPr>
            <p:nvPr/>
          </p:nvSpPr>
          <p:spPr bwMode="auto">
            <a:xfrm>
              <a:off x="3580" y="2230"/>
              <a:ext cx="33" cy="32"/>
            </a:xfrm>
            <a:custGeom>
              <a:avLst/>
              <a:gdLst/>
              <a:ahLst/>
              <a:cxnLst>
                <a:cxn ang="0">
                  <a:pos x="0" y="49"/>
                </a:cxn>
                <a:cxn ang="0">
                  <a:pos x="167" y="0"/>
                </a:cxn>
                <a:cxn ang="0">
                  <a:pos x="143" y="160"/>
                </a:cxn>
                <a:cxn ang="0">
                  <a:pos x="0" y="49"/>
                </a:cxn>
              </a:cxnLst>
              <a:rect l="0" t="0" r="r" b="b"/>
              <a:pathLst>
                <a:path w="167" h="160">
                  <a:moveTo>
                    <a:pt x="0" y="49"/>
                  </a:moveTo>
                  <a:lnTo>
                    <a:pt x="167" y="0"/>
                  </a:lnTo>
                  <a:lnTo>
                    <a:pt x="143" y="160"/>
                  </a:lnTo>
                  <a:lnTo>
                    <a:pt x="0" y="49"/>
                  </a:lnTo>
                  <a:close/>
                </a:path>
              </a:pathLst>
            </a:custGeom>
            <a:noFill/>
            <a:ln w="4763">
              <a:solidFill>
                <a:srgbClr val="FFFFFF"/>
              </a:solidFill>
              <a:prstDash val="solid"/>
              <a:round/>
              <a:headEnd/>
              <a:tailEnd/>
            </a:ln>
          </p:spPr>
          <p:txBody>
            <a:bodyPr/>
            <a:lstStyle/>
            <a:p>
              <a:endParaRPr lang="en-GB"/>
            </a:p>
          </p:txBody>
        </p:sp>
        <p:sp>
          <p:nvSpPr>
            <p:cNvPr id="174151" name="Freeform 71"/>
            <p:cNvSpPr>
              <a:spLocks/>
            </p:cNvSpPr>
            <p:nvPr/>
          </p:nvSpPr>
          <p:spPr bwMode="auto">
            <a:xfrm>
              <a:off x="3620" y="2248"/>
              <a:ext cx="22" cy="44"/>
            </a:xfrm>
            <a:custGeom>
              <a:avLst/>
              <a:gdLst/>
              <a:ahLst/>
              <a:cxnLst>
                <a:cxn ang="0">
                  <a:pos x="20" y="19"/>
                </a:cxn>
                <a:cxn ang="0">
                  <a:pos x="108" y="0"/>
                </a:cxn>
                <a:cxn ang="0">
                  <a:pos x="78" y="224"/>
                </a:cxn>
                <a:cxn ang="0">
                  <a:pos x="0" y="175"/>
                </a:cxn>
                <a:cxn ang="0">
                  <a:pos x="20" y="19"/>
                </a:cxn>
              </a:cxnLst>
              <a:rect l="0" t="0" r="r" b="b"/>
              <a:pathLst>
                <a:path w="108" h="224">
                  <a:moveTo>
                    <a:pt x="20" y="19"/>
                  </a:moveTo>
                  <a:lnTo>
                    <a:pt x="108" y="0"/>
                  </a:lnTo>
                  <a:lnTo>
                    <a:pt x="78" y="224"/>
                  </a:lnTo>
                  <a:lnTo>
                    <a:pt x="0" y="175"/>
                  </a:lnTo>
                  <a:lnTo>
                    <a:pt x="20" y="19"/>
                  </a:lnTo>
                  <a:close/>
                </a:path>
              </a:pathLst>
            </a:custGeom>
            <a:solidFill>
              <a:srgbClr val="C3C3C2"/>
            </a:solidFill>
            <a:ln w="9525">
              <a:noFill/>
              <a:round/>
              <a:headEnd/>
              <a:tailEnd/>
            </a:ln>
          </p:spPr>
          <p:txBody>
            <a:bodyPr/>
            <a:lstStyle/>
            <a:p>
              <a:endParaRPr lang="en-GB"/>
            </a:p>
          </p:txBody>
        </p:sp>
        <p:sp>
          <p:nvSpPr>
            <p:cNvPr id="174152" name="Freeform 72"/>
            <p:cNvSpPr>
              <a:spLocks/>
            </p:cNvSpPr>
            <p:nvPr/>
          </p:nvSpPr>
          <p:spPr bwMode="auto">
            <a:xfrm>
              <a:off x="3620" y="2248"/>
              <a:ext cx="22" cy="44"/>
            </a:xfrm>
            <a:custGeom>
              <a:avLst/>
              <a:gdLst/>
              <a:ahLst/>
              <a:cxnLst>
                <a:cxn ang="0">
                  <a:pos x="20" y="19"/>
                </a:cxn>
                <a:cxn ang="0">
                  <a:pos x="108" y="0"/>
                </a:cxn>
                <a:cxn ang="0">
                  <a:pos x="78" y="224"/>
                </a:cxn>
                <a:cxn ang="0">
                  <a:pos x="0" y="175"/>
                </a:cxn>
                <a:cxn ang="0">
                  <a:pos x="20" y="19"/>
                </a:cxn>
              </a:cxnLst>
              <a:rect l="0" t="0" r="r" b="b"/>
              <a:pathLst>
                <a:path w="108" h="224">
                  <a:moveTo>
                    <a:pt x="20" y="19"/>
                  </a:moveTo>
                  <a:lnTo>
                    <a:pt x="108" y="0"/>
                  </a:lnTo>
                  <a:lnTo>
                    <a:pt x="78" y="224"/>
                  </a:lnTo>
                  <a:lnTo>
                    <a:pt x="0" y="175"/>
                  </a:lnTo>
                  <a:lnTo>
                    <a:pt x="20" y="19"/>
                  </a:lnTo>
                  <a:close/>
                </a:path>
              </a:pathLst>
            </a:custGeom>
            <a:noFill/>
            <a:ln w="4763">
              <a:solidFill>
                <a:srgbClr val="C3C3C2"/>
              </a:solidFill>
              <a:prstDash val="solid"/>
              <a:round/>
              <a:headEnd/>
              <a:tailEnd/>
            </a:ln>
          </p:spPr>
          <p:txBody>
            <a:bodyPr/>
            <a:lstStyle/>
            <a:p>
              <a:endParaRPr lang="en-GB"/>
            </a:p>
          </p:txBody>
        </p:sp>
        <p:sp>
          <p:nvSpPr>
            <p:cNvPr id="174153" name="Freeform 73"/>
            <p:cNvSpPr>
              <a:spLocks/>
            </p:cNvSpPr>
            <p:nvPr/>
          </p:nvSpPr>
          <p:spPr bwMode="auto">
            <a:xfrm>
              <a:off x="3742" y="2250"/>
              <a:ext cx="50" cy="44"/>
            </a:xfrm>
            <a:custGeom>
              <a:avLst/>
              <a:gdLst/>
              <a:ahLst/>
              <a:cxnLst>
                <a:cxn ang="0">
                  <a:pos x="98" y="0"/>
                </a:cxn>
                <a:cxn ang="0">
                  <a:pos x="0" y="79"/>
                </a:cxn>
                <a:cxn ang="0">
                  <a:pos x="33" y="219"/>
                </a:cxn>
                <a:cxn ang="0">
                  <a:pos x="251" y="30"/>
                </a:cxn>
                <a:cxn ang="0">
                  <a:pos x="98" y="0"/>
                </a:cxn>
              </a:cxnLst>
              <a:rect l="0" t="0" r="r" b="b"/>
              <a:pathLst>
                <a:path w="251" h="219">
                  <a:moveTo>
                    <a:pt x="98" y="0"/>
                  </a:moveTo>
                  <a:lnTo>
                    <a:pt x="0" y="79"/>
                  </a:lnTo>
                  <a:lnTo>
                    <a:pt x="33" y="219"/>
                  </a:lnTo>
                  <a:lnTo>
                    <a:pt x="251" y="30"/>
                  </a:lnTo>
                  <a:lnTo>
                    <a:pt x="98" y="0"/>
                  </a:lnTo>
                  <a:close/>
                </a:path>
              </a:pathLst>
            </a:custGeom>
            <a:solidFill>
              <a:srgbClr val="C3C3C2"/>
            </a:solidFill>
            <a:ln w="9525">
              <a:noFill/>
              <a:round/>
              <a:headEnd/>
              <a:tailEnd/>
            </a:ln>
          </p:spPr>
          <p:txBody>
            <a:bodyPr/>
            <a:lstStyle/>
            <a:p>
              <a:endParaRPr lang="en-GB"/>
            </a:p>
          </p:txBody>
        </p:sp>
        <p:sp>
          <p:nvSpPr>
            <p:cNvPr id="174154" name="Freeform 74"/>
            <p:cNvSpPr>
              <a:spLocks/>
            </p:cNvSpPr>
            <p:nvPr/>
          </p:nvSpPr>
          <p:spPr bwMode="auto">
            <a:xfrm>
              <a:off x="3742" y="2250"/>
              <a:ext cx="50" cy="44"/>
            </a:xfrm>
            <a:custGeom>
              <a:avLst/>
              <a:gdLst/>
              <a:ahLst/>
              <a:cxnLst>
                <a:cxn ang="0">
                  <a:pos x="98" y="0"/>
                </a:cxn>
                <a:cxn ang="0">
                  <a:pos x="0" y="79"/>
                </a:cxn>
                <a:cxn ang="0">
                  <a:pos x="33" y="219"/>
                </a:cxn>
                <a:cxn ang="0">
                  <a:pos x="251" y="30"/>
                </a:cxn>
                <a:cxn ang="0">
                  <a:pos x="98" y="0"/>
                </a:cxn>
              </a:cxnLst>
              <a:rect l="0" t="0" r="r" b="b"/>
              <a:pathLst>
                <a:path w="251" h="219">
                  <a:moveTo>
                    <a:pt x="98" y="0"/>
                  </a:moveTo>
                  <a:lnTo>
                    <a:pt x="0" y="79"/>
                  </a:lnTo>
                  <a:lnTo>
                    <a:pt x="33" y="219"/>
                  </a:lnTo>
                  <a:lnTo>
                    <a:pt x="251" y="30"/>
                  </a:lnTo>
                  <a:lnTo>
                    <a:pt x="98" y="0"/>
                  </a:lnTo>
                  <a:close/>
                </a:path>
              </a:pathLst>
            </a:custGeom>
            <a:noFill/>
            <a:ln w="4763">
              <a:solidFill>
                <a:srgbClr val="C3C3C2"/>
              </a:solidFill>
              <a:prstDash val="solid"/>
              <a:round/>
              <a:headEnd/>
              <a:tailEnd/>
            </a:ln>
          </p:spPr>
          <p:txBody>
            <a:bodyPr/>
            <a:lstStyle/>
            <a:p>
              <a:endParaRPr lang="en-GB"/>
            </a:p>
          </p:txBody>
        </p:sp>
        <p:sp>
          <p:nvSpPr>
            <p:cNvPr id="174155" name="Line 75"/>
            <p:cNvSpPr>
              <a:spLocks noChangeShapeType="1"/>
            </p:cNvSpPr>
            <p:nvPr/>
          </p:nvSpPr>
          <p:spPr bwMode="auto">
            <a:xfrm flipH="1" flipV="1">
              <a:off x="3714" y="2215"/>
              <a:ext cx="106" cy="120"/>
            </a:xfrm>
            <a:prstGeom prst="line">
              <a:avLst/>
            </a:prstGeom>
            <a:noFill/>
            <a:ln w="0">
              <a:solidFill>
                <a:srgbClr val="25221E"/>
              </a:solidFill>
              <a:round/>
              <a:headEnd/>
              <a:tailEnd/>
            </a:ln>
          </p:spPr>
          <p:txBody>
            <a:bodyPr/>
            <a:lstStyle/>
            <a:p>
              <a:endParaRPr lang="en-GB"/>
            </a:p>
          </p:txBody>
        </p:sp>
        <p:sp>
          <p:nvSpPr>
            <p:cNvPr id="174156" name="Freeform 76"/>
            <p:cNvSpPr>
              <a:spLocks/>
            </p:cNvSpPr>
            <p:nvPr/>
          </p:nvSpPr>
          <p:spPr bwMode="auto">
            <a:xfrm>
              <a:off x="3719" y="2221"/>
              <a:ext cx="54" cy="56"/>
            </a:xfrm>
            <a:custGeom>
              <a:avLst/>
              <a:gdLst/>
              <a:ahLst/>
              <a:cxnLst>
                <a:cxn ang="0">
                  <a:pos x="42" y="280"/>
                </a:cxn>
                <a:cxn ang="0">
                  <a:pos x="0" y="0"/>
                </a:cxn>
                <a:cxn ang="0">
                  <a:pos x="273" y="75"/>
                </a:cxn>
              </a:cxnLst>
              <a:rect l="0" t="0" r="r" b="b"/>
              <a:pathLst>
                <a:path w="273" h="280">
                  <a:moveTo>
                    <a:pt x="42" y="280"/>
                  </a:moveTo>
                  <a:lnTo>
                    <a:pt x="0" y="0"/>
                  </a:lnTo>
                  <a:lnTo>
                    <a:pt x="273" y="75"/>
                  </a:lnTo>
                </a:path>
              </a:pathLst>
            </a:custGeom>
            <a:noFill/>
            <a:ln w="0">
              <a:solidFill>
                <a:srgbClr val="25221E"/>
              </a:solidFill>
              <a:prstDash val="solid"/>
              <a:round/>
              <a:headEnd/>
              <a:tailEnd/>
            </a:ln>
          </p:spPr>
          <p:txBody>
            <a:bodyPr/>
            <a:lstStyle/>
            <a:p>
              <a:endParaRPr lang="en-GB"/>
            </a:p>
          </p:txBody>
        </p:sp>
        <p:sp>
          <p:nvSpPr>
            <p:cNvPr id="174157" name="Freeform 77"/>
            <p:cNvSpPr>
              <a:spLocks/>
            </p:cNvSpPr>
            <p:nvPr/>
          </p:nvSpPr>
          <p:spPr bwMode="auto">
            <a:xfrm>
              <a:off x="3727" y="2230"/>
              <a:ext cx="30" cy="31"/>
            </a:xfrm>
            <a:custGeom>
              <a:avLst/>
              <a:gdLst/>
              <a:ahLst/>
              <a:cxnLst>
                <a:cxn ang="0">
                  <a:pos x="0" y="0"/>
                </a:cxn>
                <a:cxn ang="0">
                  <a:pos x="22" y="154"/>
                </a:cxn>
                <a:cxn ang="0">
                  <a:pos x="149" y="43"/>
                </a:cxn>
                <a:cxn ang="0">
                  <a:pos x="0" y="0"/>
                </a:cxn>
              </a:cxnLst>
              <a:rect l="0" t="0" r="r" b="b"/>
              <a:pathLst>
                <a:path w="149" h="154">
                  <a:moveTo>
                    <a:pt x="0" y="0"/>
                  </a:moveTo>
                  <a:lnTo>
                    <a:pt x="22" y="154"/>
                  </a:lnTo>
                  <a:lnTo>
                    <a:pt x="149" y="43"/>
                  </a:lnTo>
                  <a:lnTo>
                    <a:pt x="0" y="0"/>
                  </a:lnTo>
                  <a:close/>
                </a:path>
              </a:pathLst>
            </a:custGeom>
            <a:solidFill>
              <a:srgbClr val="FFFFFF"/>
            </a:solidFill>
            <a:ln w="9525">
              <a:noFill/>
              <a:round/>
              <a:headEnd/>
              <a:tailEnd/>
            </a:ln>
          </p:spPr>
          <p:txBody>
            <a:bodyPr/>
            <a:lstStyle/>
            <a:p>
              <a:endParaRPr lang="en-GB"/>
            </a:p>
          </p:txBody>
        </p:sp>
        <p:sp>
          <p:nvSpPr>
            <p:cNvPr id="174158" name="Freeform 78"/>
            <p:cNvSpPr>
              <a:spLocks/>
            </p:cNvSpPr>
            <p:nvPr/>
          </p:nvSpPr>
          <p:spPr bwMode="auto">
            <a:xfrm>
              <a:off x="3727" y="2230"/>
              <a:ext cx="30" cy="31"/>
            </a:xfrm>
            <a:custGeom>
              <a:avLst/>
              <a:gdLst/>
              <a:ahLst/>
              <a:cxnLst>
                <a:cxn ang="0">
                  <a:pos x="0" y="0"/>
                </a:cxn>
                <a:cxn ang="0">
                  <a:pos x="22" y="154"/>
                </a:cxn>
                <a:cxn ang="0">
                  <a:pos x="149" y="43"/>
                </a:cxn>
                <a:cxn ang="0">
                  <a:pos x="0" y="0"/>
                </a:cxn>
              </a:cxnLst>
              <a:rect l="0" t="0" r="r" b="b"/>
              <a:pathLst>
                <a:path w="149" h="154">
                  <a:moveTo>
                    <a:pt x="0" y="0"/>
                  </a:moveTo>
                  <a:lnTo>
                    <a:pt x="22" y="154"/>
                  </a:lnTo>
                  <a:lnTo>
                    <a:pt x="149" y="43"/>
                  </a:lnTo>
                  <a:lnTo>
                    <a:pt x="0" y="0"/>
                  </a:lnTo>
                  <a:close/>
                </a:path>
              </a:pathLst>
            </a:custGeom>
            <a:noFill/>
            <a:ln w="4763">
              <a:solidFill>
                <a:srgbClr val="FFFFFF"/>
              </a:solidFill>
              <a:prstDash val="solid"/>
              <a:round/>
              <a:headEnd/>
              <a:tailEnd/>
            </a:ln>
          </p:spPr>
          <p:txBody>
            <a:bodyPr/>
            <a:lstStyle/>
            <a:p>
              <a:endParaRPr lang="en-GB"/>
            </a:p>
          </p:txBody>
        </p:sp>
      </p:grpSp>
      <p:sp>
        <p:nvSpPr>
          <p:cNvPr id="174159" name="Rectangle 79"/>
          <p:cNvSpPr>
            <a:spLocks noChangeArrowheads="1"/>
          </p:cNvSpPr>
          <p:nvPr/>
        </p:nvSpPr>
        <p:spPr bwMode="auto">
          <a:xfrm>
            <a:off x="4640262" y="3979863"/>
            <a:ext cx="1281113" cy="212725"/>
          </a:xfrm>
          <a:prstGeom prst="rect">
            <a:avLst/>
          </a:prstGeom>
          <a:noFill/>
          <a:ln w="9525">
            <a:noFill/>
            <a:miter lim="800000"/>
            <a:headEnd/>
            <a:tailEnd/>
          </a:ln>
        </p:spPr>
        <p:txBody>
          <a:bodyPr wrap="none" lIns="0" tIns="0" rIns="0" bIns="0">
            <a:spAutoFit/>
          </a:bodyPr>
          <a:lstStyle/>
          <a:p>
            <a:pPr algn="ctr" eaLnBrk="0" hangingPunct="0"/>
            <a:r>
              <a:rPr lang="en-CA" sz="1400" b="1">
                <a:solidFill>
                  <a:srgbClr val="1F1A17"/>
                </a:solidFill>
              </a:rPr>
              <a:t>Supplementary</a:t>
            </a:r>
            <a:endParaRPr lang="en-CA" sz="1400" b="1">
              <a:solidFill>
                <a:schemeClr val="bg2"/>
              </a:solidFill>
            </a:endParaRPr>
          </a:p>
        </p:txBody>
      </p:sp>
      <p:sp>
        <p:nvSpPr>
          <p:cNvPr id="174160" name="Rectangle 80"/>
          <p:cNvSpPr>
            <a:spLocks noChangeArrowheads="1"/>
          </p:cNvSpPr>
          <p:nvPr/>
        </p:nvSpPr>
        <p:spPr bwMode="auto">
          <a:xfrm>
            <a:off x="4732337" y="4195763"/>
            <a:ext cx="1101725" cy="212725"/>
          </a:xfrm>
          <a:prstGeom prst="rect">
            <a:avLst/>
          </a:prstGeom>
          <a:noFill/>
          <a:ln w="9525">
            <a:noFill/>
            <a:miter lim="800000"/>
            <a:headEnd/>
            <a:tailEnd/>
          </a:ln>
        </p:spPr>
        <p:txBody>
          <a:bodyPr wrap="none" lIns="0" tIns="0" rIns="0" bIns="0">
            <a:spAutoFit/>
          </a:bodyPr>
          <a:lstStyle/>
          <a:p>
            <a:pPr algn="ctr" eaLnBrk="0" hangingPunct="0"/>
            <a:r>
              <a:rPr lang="en-CA" sz="1400" b="1">
                <a:solidFill>
                  <a:srgbClr val="1F1A17"/>
                </a:solidFill>
              </a:rPr>
              <a:t>Specification</a:t>
            </a:r>
            <a:endParaRPr lang="en-CA" sz="1400" b="1">
              <a:solidFill>
                <a:schemeClr val="bg2"/>
              </a:solidFill>
            </a:endParaRPr>
          </a:p>
        </p:txBody>
      </p:sp>
      <p:grpSp>
        <p:nvGrpSpPr>
          <p:cNvPr id="3" name="Group 81"/>
          <p:cNvGrpSpPr>
            <a:grpSpLocks/>
          </p:cNvGrpSpPr>
          <p:nvPr/>
        </p:nvGrpSpPr>
        <p:grpSpPr bwMode="auto">
          <a:xfrm>
            <a:off x="5060950" y="3341688"/>
            <a:ext cx="427037" cy="612775"/>
            <a:chOff x="2410" y="3004"/>
            <a:chExt cx="286" cy="372"/>
          </a:xfrm>
        </p:grpSpPr>
        <p:sp>
          <p:nvSpPr>
            <p:cNvPr id="174162" name="Freeform 82"/>
            <p:cNvSpPr>
              <a:spLocks/>
            </p:cNvSpPr>
            <p:nvPr/>
          </p:nvSpPr>
          <p:spPr bwMode="auto">
            <a:xfrm>
              <a:off x="2423" y="3017"/>
              <a:ext cx="273" cy="359"/>
            </a:xfrm>
            <a:custGeom>
              <a:avLst/>
              <a:gdLst/>
              <a:ahLst/>
              <a:cxnLst>
                <a:cxn ang="0">
                  <a:pos x="0" y="0"/>
                </a:cxn>
                <a:cxn ang="0">
                  <a:pos x="0" y="1794"/>
                </a:cxn>
                <a:cxn ang="0">
                  <a:pos x="1369" y="1794"/>
                </a:cxn>
                <a:cxn ang="0">
                  <a:pos x="1369" y="300"/>
                </a:cxn>
                <a:cxn ang="0">
                  <a:pos x="1070" y="0"/>
                </a:cxn>
                <a:cxn ang="0">
                  <a:pos x="0" y="0"/>
                </a:cxn>
              </a:cxnLst>
              <a:rect l="0" t="0" r="r" b="b"/>
              <a:pathLst>
                <a:path w="1369" h="1794">
                  <a:moveTo>
                    <a:pt x="0" y="0"/>
                  </a:moveTo>
                  <a:lnTo>
                    <a:pt x="0" y="1794"/>
                  </a:lnTo>
                  <a:lnTo>
                    <a:pt x="1369" y="1794"/>
                  </a:lnTo>
                  <a:lnTo>
                    <a:pt x="1369" y="300"/>
                  </a:lnTo>
                  <a:lnTo>
                    <a:pt x="1070" y="0"/>
                  </a:lnTo>
                  <a:lnTo>
                    <a:pt x="0" y="0"/>
                  </a:lnTo>
                  <a:close/>
                </a:path>
              </a:pathLst>
            </a:custGeom>
            <a:solidFill>
              <a:srgbClr val="AAA9A9"/>
            </a:solidFill>
            <a:ln w="9525">
              <a:noFill/>
              <a:round/>
              <a:headEnd/>
              <a:tailEnd/>
            </a:ln>
          </p:spPr>
          <p:txBody>
            <a:bodyPr/>
            <a:lstStyle/>
            <a:p>
              <a:endParaRPr lang="en-GB"/>
            </a:p>
          </p:txBody>
        </p:sp>
        <p:sp>
          <p:nvSpPr>
            <p:cNvPr id="174163" name="Freeform 83"/>
            <p:cNvSpPr>
              <a:spLocks/>
            </p:cNvSpPr>
            <p:nvPr/>
          </p:nvSpPr>
          <p:spPr bwMode="auto">
            <a:xfrm>
              <a:off x="2423" y="3017"/>
              <a:ext cx="273" cy="359"/>
            </a:xfrm>
            <a:custGeom>
              <a:avLst/>
              <a:gdLst/>
              <a:ahLst/>
              <a:cxnLst>
                <a:cxn ang="0">
                  <a:pos x="0" y="0"/>
                </a:cxn>
                <a:cxn ang="0">
                  <a:pos x="0" y="1794"/>
                </a:cxn>
                <a:cxn ang="0">
                  <a:pos x="1369" y="1794"/>
                </a:cxn>
                <a:cxn ang="0">
                  <a:pos x="1369" y="300"/>
                </a:cxn>
                <a:cxn ang="0">
                  <a:pos x="1070" y="0"/>
                </a:cxn>
                <a:cxn ang="0">
                  <a:pos x="0" y="0"/>
                </a:cxn>
              </a:cxnLst>
              <a:rect l="0" t="0" r="r" b="b"/>
              <a:pathLst>
                <a:path w="1369" h="1794">
                  <a:moveTo>
                    <a:pt x="0" y="0"/>
                  </a:moveTo>
                  <a:lnTo>
                    <a:pt x="0" y="1794"/>
                  </a:lnTo>
                  <a:lnTo>
                    <a:pt x="1369" y="1794"/>
                  </a:lnTo>
                  <a:lnTo>
                    <a:pt x="1369" y="300"/>
                  </a:lnTo>
                  <a:lnTo>
                    <a:pt x="1070" y="0"/>
                  </a:lnTo>
                  <a:lnTo>
                    <a:pt x="0" y="0"/>
                  </a:lnTo>
                  <a:close/>
                </a:path>
              </a:pathLst>
            </a:custGeom>
            <a:noFill/>
            <a:ln w="4763">
              <a:solidFill>
                <a:srgbClr val="C3C3C2"/>
              </a:solidFill>
              <a:prstDash val="solid"/>
              <a:round/>
              <a:headEnd/>
              <a:tailEnd/>
            </a:ln>
          </p:spPr>
          <p:txBody>
            <a:bodyPr/>
            <a:lstStyle/>
            <a:p>
              <a:endParaRPr lang="en-GB"/>
            </a:p>
          </p:txBody>
        </p:sp>
        <p:sp>
          <p:nvSpPr>
            <p:cNvPr id="174164" name="Freeform 84"/>
            <p:cNvSpPr>
              <a:spLocks/>
            </p:cNvSpPr>
            <p:nvPr/>
          </p:nvSpPr>
          <p:spPr bwMode="auto">
            <a:xfrm>
              <a:off x="2410" y="3005"/>
              <a:ext cx="273" cy="358"/>
            </a:xfrm>
            <a:custGeom>
              <a:avLst/>
              <a:gdLst/>
              <a:ahLst/>
              <a:cxnLst>
                <a:cxn ang="0">
                  <a:pos x="0" y="0"/>
                </a:cxn>
                <a:cxn ang="0">
                  <a:pos x="0" y="1794"/>
                </a:cxn>
                <a:cxn ang="0">
                  <a:pos x="1368" y="1794"/>
                </a:cxn>
                <a:cxn ang="0">
                  <a:pos x="1368" y="300"/>
                </a:cxn>
                <a:cxn ang="0">
                  <a:pos x="1070" y="0"/>
                </a:cxn>
                <a:cxn ang="0">
                  <a:pos x="0" y="0"/>
                </a:cxn>
              </a:cxnLst>
              <a:rect l="0" t="0" r="r" b="b"/>
              <a:pathLst>
                <a:path w="1368" h="1794">
                  <a:moveTo>
                    <a:pt x="0" y="0"/>
                  </a:moveTo>
                  <a:lnTo>
                    <a:pt x="0" y="1794"/>
                  </a:lnTo>
                  <a:lnTo>
                    <a:pt x="1368" y="1794"/>
                  </a:lnTo>
                  <a:lnTo>
                    <a:pt x="1368" y="300"/>
                  </a:lnTo>
                  <a:lnTo>
                    <a:pt x="1070" y="0"/>
                  </a:lnTo>
                  <a:lnTo>
                    <a:pt x="0" y="0"/>
                  </a:lnTo>
                  <a:close/>
                </a:path>
              </a:pathLst>
            </a:custGeom>
            <a:solidFill>
              <a:srgbClr val="EE9B86"/>
            </a:solidFill>
            <a:ln w="9525">
              <a:noFill/>
              <a:round/>
              <a:headEnd/>
              <a:tailEnd/>
            </a:ln>
          </p:spPr>
          <p:txBody>
            <a:bodyPr/>
            <a:lstStyle/>
            <a:p>
              <a:endParaRPr lang="en-GB"/>
            </a:p>
          </p:txBody>
        </p:sp>
        <p:sp>
          <p:nvSpPr>
            <p:cNvPr id="174165" name="Freeform 85"/>
            <p:cNvSpPr>
              <a:spLocks/>
            </p:cNvSpPr>
            <p:nvPr/>
          </p:nvSpPr>
          <p:spPr bwMode="auto">
            <a:xfrm>
              <a:off x="2410" y="3005"/>
              <a:ext cx="273" cy="358"/>
            </a:xfrm>
            <a:custGeom>
              <a:avLst/>
              <a:gdLst/>
              <a:ahLst/>
              <a:cxnLst>
                <a:cxn ang="0">
                  <a:pos x="0" y="0"/>
                </a:cxn>
                <a:cxn ang="0">
                  <a:pos x="0" y="1794"/>
                </a:cxn>
                <a:cxn ang="0">
                  <a:pos x="1368" y="1794"/>
                </a:cxn>
                <a:cxn ang="0">
                  <a:pos x="1368" y="300"/>
                </a:cxn>
                <a:cxn ang="0">
                  <a:pos x="1070" y="0"/>
                </a:cxn>
                <a:cxn ang="0">
                  <a:pos x="0" y="0"/>
                </a:cxn>
              </a:cxnLst>
              <a:rect l="0" t="0" r="r" b="b"/>
              <a:pathLst>
                <a:path w="1368" h="1794">
                  <a:moveTo>
                    <a:pt x="0" y="0"/>
                  </a:moveTo>
                  <a:lnTo>
                    <a:pt x="0" y="1794"/>
                  </a:lnTo>
                  <a:lnTo>
                    <a:pt x="1368" y="1794"/>
                  </a:lnTo>
                  <a:lnTo>
                    <a:pt x="1368" y="300"/>
                  </a:lnTo>
                  <a:lnTo>
                    <a:pt x="1070" y="0"/>
                  </a:lnTo>
                  <a:lnTo>
                    <a:pt x="0" y="0"/>
                  </a:lnTo>
                  <a:close/>
                </a:path>
              </a:pathLst>
            </a:custGeom>
            <a:noFill/>
            <a:ln w="4763">
              <a:solidFill>
                <a:srgbClr val="1F1A17"/>
              </a:solidFill>
              <a:prstDash val="solid"/>
              <a:round/>
              <a:headEnd/>
              <a:tailEnd/>
            </a:ln>
          </p:spPr>
          <p:txBody>
            <a:bodyPr/>
            <a:lstStyle/>
            <a:p>
              <a:endParaRPr lang="en-GB"/>
            </a:p>
          </p:txBody>
        </p:sp>
        <p:sp>
          <p:nvSpPr>
            <p:cNvPr id="174166" name="Freeform 86"/>
            <p:cNvSpPr>
              <a:spLocks/>
            </p:cNvSpPr>
            <p:nvPr/>
          </p:nvSpPr>
          <p:spPr bwMode="auto">
            <a:xfrm>
              <a:off x="2622" y="3004"/>
              <a:ext cx="61" cy="61"/>
            </a:xfrm>
            <a:custGeom>
              <a:avLst/>
              <a:gdLst/>
              <a:ahLst/>
              <a:cxnLst>
                <a:cxn ang="0">
                  <a:pos x="0" y="0"/>
                </a:cxn>
                <a:cxn ang="0">
                  <a:pos x="0" y="307"/>
                </a:cxn>
                <a:cxn ang="0">
                  <a:pos x="307" y="305"/>
                </a:cxn>
              </a:cxnLst>
              <a:rect l="0" t="0" r="r" b="b"/>
              <a:pathLst>
                <a:path w="307" h="307">
                  <a:moveTo>
                    <a:pt x="0" y="0"/>
                  </a:moveTo>
                  <a:lnTo>
                    <a:pt x="0" y="307"/>
                  </a:lnTo>
                  <a:lnTo>
                    <a:pt x="307" y="305"/>
                  </a:lnTo>
                </a:path>
              </a:pathLst>
            </a:custGeom>
            <a:noFill/>
            <a:ln w="4763">
              <a:solidFill>
                <a:srgbClr val="1F1A17"/>
              </a:solidFill>
              <a:prstDash val="solid"/>
              <a:round/>
              <a:headEnd/>
              <a:tailEnd/>
            </a:ln>
          </p:spPr>
          <p:txBody>
            <a:bodyPr/>
            <a:lstStyle/>
            <a:p>
              <a:endParaRPr lang="en-GB"/>
            </a:p>
          </p:txBody>
        </p:sp>
        <p:sp>
          <p:nvSpPr>
            <p:cNvPr id="174167" name="Line 87"/>
            <p:cNvSpPr>
              <a:spLocks noChangeShapeType="1"/>
            </p:cNvSpPr>
            <p:nvPr/>
          </p:nvSpPr>
          <p:spPr bwMode="auto">
            <a:xfrm>
              <a:off x="2475" y="3068"/>
              <a:ext cx="125" cy="1"/>
            </a:xfrm>
            <a:prstGeom prst="line">
              <a:avLst/>
            </a:prstGeom>
            <a:noFill/>
            <a:ln w="7938">
              <a:solidFill>
                <a:srgbClr val="1F1A17"/>
              </a:solidFill>
              <a:round/>
              <a:headEnd/>
              <a:tailEnd/>
            </a:ln>
          </p:spPr>
          <p:txBody>
            <a:bodyPr/>
            <a:lstStyle/>
            <a:p>
              <a:endParaRPr lang="en-GB"/>
            </a:p>
          </p:txBody>
        </p:sp>
        <p:sp>
          <p:nvSpPr>
            <p:cNvPr id="174168" name="Line 88"/>
            <p:cNvSpPr>
              <a:spLocks noChangeShapeType="1"/>
            </p:cNvSpPr>
            <p:nvPr/>
          </p:nvSpPr>
          <p:spPr bwMode="auto">
            <a:xfrm>
              <a:off x="2475" y="3101"/>
              <a:ext cx="170" cy="1"/>
            </a:xfrm>
            <a:prstGeom prst="line">
              <a:avLst/>
            </a:prstGeom>
            <a:noFill/>
            <a:ln w="7938">
              <a:solidFill>
                <a:srgbClr val="1F1A17"/>
              </a:solidFill>
              <a:round/>
              <a:headEnd/>
              <a:tailEnd/>
            </a:ln>
          </p:spPr>
          <p:txBody>
            <a:bodyPr/>
            <a:lstStyle/>
            <a:p>
              <a:endParaRPr lang="en-GB"/>
            </a:p>
          </p:txBody>
        </p:sp>
        <p:sp>
          <p:nvSpPr>
            <p:cNvPr id="174169" name="Line 89"/>
            <p:cNvSpPr>
              <a:spLocks noChangeShapeType="1"/>
            </p:cNvSpPr>
            <p:nvPr/>
          </p:nvSpPr>
          <p:spPr bwMode="auto">
            <a:xfrm>
              <a:off x="2475" y="3121"/>
              <a:ext cx="170" cy="1"/>
            </a:xfrm>
            <a:prstGeom prst="line">
              <a:avLst/>
            </a:prstGeom>
            <a:noFill/>
            <a:ln w="7938">
              <a:solidFill>
                <a:srgbClr val="1F1A17"/>
              </a:solidFill>
              <a:round/>
              <a:headEnd/>
              <a:tailEnd/>
            </a:ln>
          </p:spPr>
          <p:txBody>
            <a:bodyPr/>
            <a:lstStyle/>
            <a:p>
              <a:endParaRPr lang="en-GB"/>
            </a:p>
          </p:txBody>
        </p:sp>
        <p:sp>
          <p:nvSpPr>
            <p:cNvPr id="174170" name="Line 90"/>
            <p:cNvSpPr>
              <a:spLocks noChangeShapeType="1"/>
            </p:cNvSpPr>
            <p:nvPr/>
          </p:nvSpPr>
          <p:spPr bwMode="auto">
            <a:xfrm>
              <a:off x="2475" y="3142"/>
              <a:ext cx="170" cy="1"/>
            </a:xfrm>
            <a:prstGeom prst="line">
              <a:avLst/>
            </a:prstGeom>
            <a:noFill/>
            <a:ln w="7938">
              <a:solidFill>
                <a:srgbClr val="1F1A17"/>
              </a:solidFill>
              <a:round/>
              <a:headEnd/>
              <a:tailEnd/>
            </a:ln>
          </p:spPr>
          <p:txBody>
            <a:bodyPr/>
            <a:lstStyle/>
            <a:p>
              <a:endParaRPr lang="en-GB"/>
            </a:p>
          </p:txBody>
        </p:sp>
        <p:sp>
          <p:nvSpPr>
            <p:cNvPr id="174171" name="Line 91"/>
            <p:cNvSpPr>
              <a:spLocks noChangeShapeType="1"/>
            </p:cNvSpPr>
            <p:nvPr/>
          </p:nvSpPr>
          <p:spPr bwMode="auto">
            <a:xfrm>
              <a:off x="2475" y="3162"/>
              <a:ext cx="170" cy="1"/>
            </a:xfrm>
            <a:prstGeom prst="line">
              <a:avLst/>
            </a:prstGeom>
            <a:noFill/>
            <a:ln w="7938">
              <a:solidFill>
                <a:srgbClr val="1F1A17"/>
              </a:solidFill>
              <a:round/>
              <a:headEnd/>
              <a:tailEnd/>
            </a:ln>
          </p:spPr>
          <p:txBody>
            <a:bodyPr/>
            <a:lstStyle/>
            <a:p>
              <a:endParaRPr lang="en-GB"/>
            </a:p>
          </p:txBody>
        </p:sp>
        <p:sp>
          <p:nvSpPr>
            <p:cNvPr id="174172" name="Line 92"/>
            <p:cNvSpPr>
              <a:spLocks noChangeShapeType="1"/>
            </p:cNvSpPr>
            <p:nvPr/>
          </p:nvSpPr>
          <p:spPr bwMode="auto">
            <a:xfrm>
              <a:off x="2475" y="3183"/>
              <a:ext cx="170" cy="1"/>
            </a:xfrm>
            <a:prstGeom prst="line">
              <a:avLst/>
            </a:prstGeom>
            <a:noFill/>
            <a:ln w="7938">
              <a:solidFill>
                <a:srgbClr val="1F1A17"/>
              </a:solidFill>
              <a:round/>
              <a:headEnd/>
              <a:tailEnd/>
            </a:ln>
          </p:spPr>
          <p:txBody>
            <a:bodyPr/>
            <a:lstStyle/>
            <a:p>
              <a:endParaRPr lang="en-GB"/>
            </a:p>
          </p:txBody>
        </p:sp>
        <p:sp>
          <p:nvSpPr>
            <p:cNvPr id="174173" name="Line 93"/>
            <p:cNvSpPr>
              <a:spLocks noChangeShapeType="1"/>
            </p:cNvSpPr>
            <p:nvPr/>
          </p:nvSpPr>
          <p:spPr bwMode="auto">
            <a:xfrm>
              <a:off x="2475" y="3204"/>
              <a:ext cx="170" cy="1"/>
            </a:xfrm>
            <a:prstGeom prst="line">
              <a:avLst/>
            </a:prstGeom>
            <a:noFill/>
            <a:ln w="7938">
              <a:solidFill>
                <a:srgbClr val="1F1A17"/>
              </a:solidFill>
              <a:round/>
              <a:headEnd/>
              <a:tailEnd/>
            </a:ln>
          </p:spPr>
          <p:txBody>
            <a:bodyPr/>
            <a:lstStyle/>
            <a:p>
              <a:endParaRPr lang="en-GB"/>
            </a:p>
          </p:txBody>
        </p:sp>
        <p:sp>
          <p:nvSpPr>
            <p:cNvPr id="174174" name="Line 94"/>
            <p:cNvSpPr>
              <a:spLocks noChangeShapeType="1"/>
            </p:cNvSpPr>
            <p:nvPr/>
          </p:nvSpPr>
          <p:spPr bwMode="auto">
            <a:xfrm>
              <a:off x="2475" y="3224"/>
              <a:ext cx="170" cy="1"/>
            </a:xfrm>
            <a:prstGeom prst="line">
              <a:avLst/>
            </a:prstGeom>
            <a:noFill/>
            <a:ln w="7938">
              <a:solidFill>
                <a:srgbClr val="1F1A17"/>
              </a:solidFill>
              <a:round/>
              <a:headEnd/>
              <a:tailEnd/>
            </a:ln>
          </p:spPr>
          <p:txBody>
            <a:bodyPr/>
            <a:lstStyle/>
            <a:p>
              <a:endParaRPr lang="en-GB"/>
            </a:p>
          </p:txBody>
        </p:sp>
        <p:sp>
          <p:nvSpPr>
            <p:cNvPr id="174175" name="Line 95"/>
            <p:cNvSpPr>
              <a:spLocks noChangeShapeType="1"/>
            </p:cNvSpPr>
            <p:nvPr/>
          </p:nvSpPr>
          <p:spPr bwMode="auto">
            <a:xfrm>
              <a:off x="2475" y="3245"/>
              <a:ext cx="170" cy="1"/>
            </a:xfrm>
            <a:prstGeom prst="line">
              <a:avLst/>
            </a:prstGeom>
            <a:noFill/>
            <a:ln w="7938">
              <a:solidFill>
                <a:srgbClr val="1F1A17"/>
              </a:solidFill>
              <a:round/>
              <a:headEnd/>
              <a:tailEnd/>
            </a:ln>
          </p:spPr>
          <p:txBody>
            <a:bodyPr/>
            <a:lstStyle/>
            <a:p>
              <a:endParaRPr lang="en-GB"/>
            </a:p>
          </p:txBody>
        </p:sp>
        <p:sp>
          <p:nvSpPr>
            <p:cNvPr id="174176" name="Line 96"/>
            <p:cNvSpPr>
              <a:spLocks noChangeShapeType="1"/>
            </p:cNvSpPr>
            <p:nvPr/>
          </p:nvSpPr>
          <p:spPr bwMode="auto">
            <a:xfrm>
              <a:off x="2475" y="3265"/>
              <a:ext cx="170" cy="1"/>
            </a:xfrm>
            <a:prstGeom prst="line">
              <a:avLst/>
            </a:prstGeom>
            <a:noFill/>
            <a:ln w="7938">
              <a:solidFill>
                <a:srgbClr val="1F1A17"/>
              </a:solidFill>
              <a:round/>
              <a:headEnd/>
              <a:tailEnd/>
            </a:ln>
          </p:spPr>
          <p:txBody>
            <a:bodyPr/>
            <a:lstStyle/>
            <a:p>
              <a:endParaRPr lang="en-GB"/>
            </a:p>
          </p:txBody>
        </p:sp>
        <p:sp>
          <p:nvSpPr>
            <p:cNvPr id="174177" name="Line 97"/>
            <p:cNvSpPr>
              <a:spLocks noChangeShapeType="1"/>
            </p:cNvSpPr>
            <p:nvPr/>
          </p:nvSpPr>
          <p:spPr bwMode="auto">
            <a:xfrm>
              <a:off x="2475" y="3286"/>
              <a:ext cx="170" cy="1"/>
            </a:xfrm>
            <a:prstGeom prst="line">
              <a:avLst/>
            </a:prstGeom>
            <a:noFill/>
            <a:ln w="7938">
              <a:solidFill>
                <a:srgbClr val="1F1A17"/>
              </a:solidFill>
              <a:round/>
              <a:headEnd/>
              <a:tailEnd/>
            </a:ln>
          </p:spPr>
          <p:txBody>
            <a:bodyPr/>
            <a:lstStyle/>
            <a:p>
              <a:endParaRPr lang="en-GB"/>
            </a:p>
          </p:txBody>
        </p:sp>
        <p:sp>
          <p:nvSpPr>
            <p:cNvPr id="174178" name="Line 98"/>
            <p:cNvSpPr>
              <a:spLocks noChangeShapeType="1"/>
            </p:cNvSpPr>
            <p:nvPr/>
          </p:nvSpPr>
          <p:spPr bwMode="auto">
            <a:xfrm>
              <a:off x="2475" y="3307"/>
              <a:ext cx="170" cy="1"/>
            </a:xfrm>
            <a:prstGeom prst="line">
              <a:avLst/>
            </a:prstGeom>
            <a:noFill/>
            <a:ln w="7938">
              <a:solidFill>
                <a:srgbClr val="1F1A17"/>
              </a:solidFill>
              <a:round/>
              <a:headEnd/>
              <a:tailEnd/>
            </a:ln>
          </p:spPr>
          <p:txBody>
            <a:bodyPr/>
            <a:lstStyle/>
            <a:p>
              <a:endParaRPr lang="en-GB"/>
            </a:p>
          </p:txBody>
        </p:sp>
        <p:sp>
          <p:nvSpPr>
            <p:cNvPr id="174179" name="Line 99"/>
            <p:cNvSpPr>
              <a:spLocks noChangeShapeType="1"/>
            </p:cNvSpPr>
            <p:nvPr/>
          </p:nvSpPr>
          <p:spPr bwMode="auto">
            <a:xfrm>
              <a:off x="2475" y="3327"/>
              <a:ext cx="170" cy="1"/>
            </a:xfrm>
            <a:prstGeom prst="line">
              <a:avLst/>
            </a:prstGeom>
            <a:noFill/>
            <a:ln w="7938">
              <a:solidFill>
                <a:srgbClr val="1F1A17"/>
              </a:solidFill>
              <a:round/>
              <a:headEnd/>
              <a:tailEnd/>
            </a:ln>
          </p:spPr>
          <p:txBody>
            <a:bodyPr/>
            <a:lstStyle/>
            <a:p>
              <a:endParaRPr lang="en-GB"/>
            </a:p>
          </p:txBody>
        </p:sp>
        <p:sp>
          <p:nvSpPr>
            <p:cNvPr id="174180" name="Freeform 100"/>
            <p:cNvSpPr>
              <a:spLocks/>
            </p:cNvSpPr>
            <p:nvPr/>
          </p:nvSpPr>
          <p:spPr bwMode="auto">
            <a:xfrm>
              <a:off x="2422" y="3218"/>
              <a:ext cx="28" cy="30"/>
            </a:xfrm>
            <a:custGeom>
              <a:avLst/>
              <a:gdLst/>
              <a:ahLst/>
              <a:cxnLst>
                <a:cxn ang="0">
                  <a:pos x="0" y="108"/>
                </a:cxn>
                <a:cxn ang="0">
                  <a:pos x="74" y="150"/>
                </a:cxn>
                <a:cxn ang="0">
                  <a:pos x="78" y="140"/>
                </a:cxn>
                <a:cxn ang="0">
                  <a:pos x="82" y="119"/>
                </a:cxn>
                <a:cxn ang="0">
                  <a:pos x="88" y="101"/>
                </a:cxn>
                <a:cxn ang="0">
                  <a:pos x="89" y="96"/>
                </a:cxn>
                <a:cxn ang="0">
                  <a:pos x="89" y="93"/>
                </a:cxn>
                <a:cxn ang="0">
                  <a:pos x="94" y="76"/>
                </a:cxn>
                <a:cxn ang="0">
                  <a:pos x="98" y="65"/>
                </a:cxn>
                <a:cxn ang="0">
                  <a:pos x="101" y="55"/>
                </a:cxn>
                <a:cxn ang="0">
                  <a:pos x="104" y="45"/>
                </a:cxn>
                <a:cxn ang="0">
                  <a:pos x="109" y="38"/>
                </a:cxn>
                <a:cxn ang="0">
                  <a:pos x="117" y="26"/>
                </a:cxn>
                <a:cxn ang="0">
                  <a:pos x="127" y="13"/>
                </a:cxn>
                <a:cxn ang="0">
                  <a:pos x="135" y="3"/>
                </a:cxn>
                <a:cxn ang="0">
                  <a:pos x="139" y="0"/>
                </a:cxn>
                <a:cxn ang="0">
                  <a:pos x="128" y="6"/>
                </a:cxn>
                <a:cxn ang="0">
                  <a:pos x="112" y="20"/>
                </a:cxn>
                <a:cxn ang="0">
                  <a:pos x="108" y="23"/>
                </a:cxn>
                <a:cxn ang="0">
                  <a:pos x="103" y="27"/>
                </a:cxn>
                <a:cxn ang="0">
                  <a:pos x="98" y="35"/>
                </a:cxn>
                <a:cxn ang="0">
                  <a:pos x="90" y="49"/>
                </a:cxn>
                <a:cxn ang="0">
                  <a:pos x="81" y="69"/>
                </a:cxn>
                <a:cxn ang="0">
                  <a:pos x="72" y="92"/>
                </a:cxn>
                <a:cxn ang="0">
                  <a:pos x="65" y="109"/>
                </a:cxn>
                <a:cxn ang="0">
                  <a:pos x="62" y="117"/>
                </a:cxn>
                <a:cxn ang="0">
                  <a:pos x="26" y="92"/>
                </a:cxn>
                <a:cxn ang="0">
                  <a:pos x="0" y="108"/>
                </a:cxn>
              </a:cxnLst>
              <a:rect l="0" t="0" r="r" b="b"/>
              <a:pathLst>
                <a:path w="139" h="150">
                  <a:moveTo>
                    <a:pt x="0" y="108"/>
                  </a:moveTo>
                  <a:lnTo>
                    <a:pt x="74" y="150"/>
                  </a:lnTo>
                  <a:lnTo>
                    <a:pt x="78" y="140"/>
                  </a:lnTo>
                  <a:lnTo>
                    <a:pt x="82" y="119"/>
                  </a:lnTo>
                  <a:lnTo>
                    <a:pt x="88" y="101"/>
                  </a:lnTo>
                  <a:lnTo>
                    <a:pt x="89" y="96"/>
                  </a:lnTo>
                  <a:lnTo>
                    <a:pt x="89" y="93"/>
                  </a:lnTo>
                  <a:lnTo>
                    <a:pt x="94" y="76"/>
                  </a:lnTo>
                  <a:lnTo>
                    <a:pt x="98" y="65"/>
                  </a:lnTo>
                  <a:lnTo>
                    <a:pt x="101" y="55"/>
                  </a:lnTo>
                  <a:lnTo>
                    <a:pt x="104" y="45"/>
                  </a:lnTo>
                  <a:lnTo>
                    <a:pt x="109" y="38"/>
                  </a:lnTo>
                  <a:lnTo>
                    <a:pt x="117" y="26"/>
                  </a:lnTo>
                  <a:lnTo>
                    <a:pt x="127" y="13"/>
                  </a:lnTo>
                  <a:lnTo>
                    <a:pt x="135" y="3"/>
                  </a:lnTo>
                  <a:lnTo>
                    <a:pt x="139" y="0"/>
                  </a:lnTo>
                  <a:lnTo>
                    <a:pt x="128" y="6"/>
                  </a:lnTo>
                  <a:lnTo>
                    <a:pt x="112" y="20"/>
                  </a:lnTo>
                  <a:lnTo>
                    <a:pt x="108" y="23"/>
                  </a:lnTo>
                  <a:lnTo>
                    <a:pt x="103" y="27"/>
                  </a:lnTo>
                  <a:lnTo>
                    <a:pt x="98" y="35"/>
                  </a:lnTo>
                  <a:lnTo>
                    <a:pt x="90" y="49"/>
                  </a:lnTo>
                  <a:lnTo>
                    <a:pt x="81" y="69"/>
                  </a:lnTo>
                  <a:lnTo>
                    <a:pt x="72" y="92"/>
                  </a:lnTo>
                  <a:lnTo>
                    <a:pt x="65" y="109"/>
                  </a:lnTo>
                  <a:lnTo>
                    <a:pt x="62" y="117"/>
                  </a:lnTo>
                  <a:lnTo>
                    <a:pt x="26" y="92"/>
                  </a:lnTo>
                  <a:lnTo>
                    <a:pt x="0" y="108"/>
                  </a:lnTo>
                  <a:close/>
                </a:path>
              </a:pathLst>
            </a:custGeom>
            <a:solidFill>
              <a:srgbClr val="1F1A17"/>
            </a:solidFill>
            <a:ln w="9525">
              <a:noFill/>
              <a:round/>
              <a:headEnd/>
              <a:tailEnd/>
            </a:ln>
          </p:spPr>
          <p:txBody>
            <a:bodyPr/>
            <a:lstStyle/>
            <a:p>
              <a:endParaRPr lang="en-GB"/>
            </a:p>
          </p:txBody>
        </p:sp>
        <p:sp>
          <p:nvSpPr>
            <p:cNvPr id="174181" name="Freeform 101"/>
            <p:cNvSpPr>
              <a:spLocks/>
            </p:cNvSpPr>
            <p:nvPr/>
          </p:nvSpPr>
          <p:spPr bwMode="auto">
            <a:xfrm>
              <a:off x="2422" y="3218"/>
              <a:ext cx="28" cy="30"/>
            </a:xfrm>
            <a:custGeom>
              <a:avLst/>
              <a:gdLst/>
              <a:ahLst/>
              <a:cxnLst>
                <a:cxn ang="0">
                  <a:pos x="0" y="108"/>
                </a:cxn>
                <a:cxn ang="0">
                  <a:pos x="74" y="150"/>
                </a:cxn>
                <a:cxn ang="0">
                  <a:pos x="78" y="140"/>
                </a:cxn>
                <a:cxn ang="0">
                  <a:pos x="82" y="119"/>
                </a:cxn>
                <a:cxn ang="0">
                  <a:pos x="88" y="101"/>
                </a:cxn>
                <a:cxn ang="0">
                  <a:pos x="89" y="96"/>
                </a:cxn>
                <a:cxn ang="0">
                  <a:pos x="89" y="93"/>
                </a:cxn>
                <a:cxn ang="0">
                  <a:pos x="94" y="76"/>
                </a:cxn>
                <a:cxn ang="0">
                  <a:pos x="98" y="65"/>
                </a:cxn>
                <a:cxn ang="0">
                  <a:pos x="101" y="55"/>
                </a:cxn>
                <a:cxn ang="0">
                  <a:pos x="104" y="45"/>
                </a:cxn>
                <a:cxn ang="0">
                  <a:pos x="109" y="38"/>
                </a:cxn>
                <a:cxn ang="0">
                  <a:pos x="117" y="26"/>
                </a:cxn>
                <a:cxn ang="0">
                  <a:pos x="127" y="13"/>
                </a:cxn>
                <a:cxn ang="0">
                  <a:pos x="135" y="3"/>
                </a:cxn>
                <a:cxn ang="0">
                  <a:pos x="139" y="0"/>
                </a:cxn>
                <a:cxn ang="0">
                  <a:pos x="128" y="6"/>
                </a:cxn>
                <a:cxn ang="0">
                  <a:pos x="112" y="20"/>
                </a:cxn>
                <a:cxn ang="0">
                  <a:pos x="108" y="23"/>
                </a:cxn>
                <a:cxn ang="0">
                  <a:pos x="103" y="27"/>
                </a:cxn>
                <a:cxn ang="0">
                  <a:pos x="98" y="35"/>
                </a:cxn>
                <a:cxn ang="0">
                  <a:pos x="90" y="49"/>
                </a:cxn>
                <a:cxn ang="0">
                  <a:pos x="81" y="69"/>
                </a:cxn>
                <a:cxn ang="0">
                  <a:pos x="72" y="92"/>
                </a:cxn>
                <a:cxn ang="0">
                  <a:pos x="65" y="109"/>
                </a:cxn>
                <a:cxn ang="0">
                  <a:pos x="62" y="117"/>
                </a:cxn>
                <a:cxn ang="0">
                  <a:pos x="26" y="92"/>
                </a:cxn>
                <a:cxn ang="0">
                  <a:pos x="0" y="108"/>
                </a:cxn>
              </a:cxnLst>
              <a:rect l="0" t="0" r="r" b="b"/>
              <a:pathLst>
                <a:path w="139" h="150">
                  <a:moveTo>
                    <a:pt x="0" y="108"/>
                  </a:moveTo>
                  <a:lnTo>
                    <a:pt x="74" y="150"/>
                  </a:lnTo>
                  <a:lnTo>
                    <a:pt x="78" y="140"/>
                  </a:lnTo>
                  <a:lnTo>
                    <a:pt x="82" y="119"/>
                  </a:lnTo>
                  <a:lnTo>
                    <a:pt x="88" y="101"/>
                  </a:lnTo>
                  <a:lnTo>
                    <a:pt x="89" y="96"/>
                  </a:lnTo>
                  <a:lnTo>
                    <a:pt x="89" y="93"/>
                  </a:lnTo>
                  <a:lnTo>
                    <a:pt x="94" y="76"/>
                  </a:lnTo>
                  <a:lnTo>
                    <a:pt x="98" y="65"/>
                  </a:lnTo>
                  <a:lnTo>
                    <a:pt x="101" y="55"/>
                  </a:lnTo>
                  <a:lnTo>
                    <a:pt x="104" y="45"/>
                  </a:lnTo>
                  <a:lnTo>
                    <a:pt x="109" y="38"/>
                  </a:lnTo>
                  <a:lnTo>
                    <a:pt x="117" y="26"/>
                  </a:lnTo>
                  <a:lnTo>
                    <a:pt x="127" y="13"/>
                  </a:lnTo>
                  <a:lnTo>
                    <a:pt x="135" y="3"/>
                  </a:lnTo>
                  <a:lnTo>
                    <a:pt x="139" y="0"/>
                  </a:lnTo>
                  <a:lnTo>
                    <a:pt x="128" y="6"/>
                  </a:lnTo>
                  <a:lnTo>
                    <a:pt x="112" y="20"/>
                  </a:lnTo>
                  <a:lnTo>
                    <a:pt x="108" y="23"/>
                  </a:lnTo>
                  <a:lnTo>
                    <a:pt x="103" y="27"/>
                  </a:lnTo>
                  <a:lnTo>
                    <a:pt x="98" y="35"/>
                  </a:lnTo>
                  <a:lnTo>
                    <a:pt x="90" y="49"/>
                  </a:lnTo>
                  <a:lnTo>
                    <a:pt x="81" y="69"/>
                  </a:lnTo>
                  <a:lnTo>
                    <a:pt x="72" y="92"/>
                  </a:lnTo>
                  <a:lnTo>
                    <a:pt x="65" y="109"/>
                  </a:lnTo>
                  <a:lnTo>
                    <a:pt x="62" y="117"/>
                  </a:lnTo>
                  <a:lnTo>
                    <a:pt x="26" y="92"/>
                  </a:lnTo>
                  <a:lnTo>
                    <a:pt x="0" y="108"/>
                  </a:lnTo>
                  <a:close/>
                </a:path>
              </a:pathLst>
            </a:custGeom>
            <a:noFill/>
            <a:ln w="4763">
              <a:solidFill>
                <a:srgbClr val="1F1A17"/>
              </a:solidFill>
              <a:prstDash val="solid"/>
              <a:round/>
              <a:headEnd/>
              <a:tailEnd/>
            </a:ln>
          </p:spPr>
          <p:txBody>
            <a:bodyPr/>
            <a:lstStyle/>
            <a:p>
              <a:endParaRPr lang="en-GB"/>
            </a:p>
          </p:txBody>
        </p:sp>
        <p:sp>
          <p:nvSpPr>
            <p:cNvPr id="174182" name="Freeform 102"/>
            <p:cNvSpPr>
              <a:spLocks/>
            </p:cNvSpPr>
            <p:nvPr/>
          </p:nvSpPr>
          <p:spPr bwMode="auto">
            <a:xfrm>
              <a:off x="2424" y="3275"/>
              <a:ext cx="27" cy="30"/>
            </a:xfrm>
            <a:custGeom>
              <a:avLst/>
              <a:gdLst/>
              <a:ahLst/>
              <a:cxnLst>
                <a:cxn ang="0">
                  <a:pos x="0" y="110"/>
                </a:cxn>
                <a:cxn ang="0">
                  <a:pos x="74" y="151"/>
                </a:cxn>
                <a:cxn ang="0">
                  <a:pos x="77" y="141"/>
                </a:cxn>
                <a:cxn ang="0">
                  <a:pos x="82" y="120"/>
                </a:cxn>
                <a:cxn ang="0">
                  <a:pos x="87" y="101"/>
                </a:cxn>
                <a:cxn ang="0">
                  <a:pos x="88" y="97"/>
                </a:cxn>
                <a:cxn ang="0">
                  <a:pos x="88" y="93"/>
                </a:cxn>
                <a:cxn ang="0">
                  <a:pos x="94" y="77"/>
                </a:cxn>
                <a:cxn ang="0">
                  <a:pos x="97" y="66"/>
                </a:cxn>
                <a:cxn ang="0">
                  <a:pos x="101" y="56"/>
                </a:cxn>
                <a:cxn ang="0">
                  <a:pos x="104" y="46"/>
                </a:cxn>
                <a:cxn ang="0">
                  <a:pos x="108" y="39"/>
                </a:cxn>
                <a:cxn ang="0">
                  <a:pos x="116" y="27"/>
                </a:cxn>
                <a:cxn ang="0">
                  <a:pos x="126" y="14"/>
                </a:cxn>
                <a:cxn ang="0">
                  <a:pos x="135" y="4"/>
                </a:cxn>
                <a:cxn ang="0">
                  <a:pos x="138" y="0"/>
                </a:cxn>
                <a:cxn ang="0">
                  <a:pos x="127" y="8"/>
                </a:cxn>
                <a:cxn ang="0">
                  <a:pos x="112" y="20"/>
                </a:cxn>
                <a:cxn ang="0">
                  <a:pos x="107" y="23"/>
                </a:cxn>
                <a:cxn ang="0">
                  <a:pos x="103" y="29"/>
                </a:cxn>
                <a:cxn ang="0">
                  <a:pos x="97" y="37"/>
                </a:cxn>
                <a:cxn ang="0">
                  <a:pos x="89" y="50"/>
                </a:cxn>
                <a:cxn ang="0">
                  <a:pos x="81" y="71"/>
                </a:cxn>
                <a:cxn ang="0">
                  <a:pos x="72" y="93"/>
                </a:cxn>
                <a:cxn ang="0">
                  <a:pos x="65" y="111"/>
                </a:cxn>
                <a:cxn ang="0">
                  <a:pos x="62" y="118"/>
                </a:cxn>
                <a:cxn ang="0">
                  <a:pos x="26" y="93"/>
                </a:cxn>
                <a:cxn ang="0">
                  <a:pos x="0" y="110"/>
                </a:cxn>
              </a:cxnLst>
              <a:rect l="0" t="0" r="r" b="b"/>
              <a:pathLst>
                <a:path w="138" h="151">
                  <a:moveTo>
                    <a:pt x="0" y="110"/>
                  </a:moveTo>
                  <a:lnTo>
                    <a:pt x="74" y="151"/>
                  </a:lnTo>
                  <a:lnTo>
                    <a:pt x="77" y="141"/>
                  </a:lnTo>
                  <a:lnTo>
                    <a:pt x="82" y="120"/>
                  </a:lnTo>
                  <a:lnTo>
                    <a:pt x="87" y="101"/>
                  </a:lnTo>
                  <a:lnTo>
                    <a:pt x="88" y="97"/>
                  </a:lnTo>
                  <a:lnTo>
                    <a:pt x="88" y="93"/>
                  </a:lnTo>
                  <a:lnTo>
                    <a:pt x="94" y="77"/>
                  </a:lnTo>
                  <a:lnTo>
                    <a:pt x="97" y="66"/>
                  </a:lnTo>
                  <a:lnTo>
                    <a:pt x="101" y="56"/>
                  </a:lnTo>
                  <a:lnTo>
                    <a:pt x="104" y="46"/>
                  </a:lnTo>
                  <a:lnTo>
                    <a:pt x="108" y="39"/>
                  </a:lnTo>
                  <a:lnTo>
                    <a:pt x="116" y="27"/>
                  </a:lnTo>
                  <a:lnTo>
                    <a:pt x="126" y="14"/>
                  </a:lnTo>
                  <a:lnTo>
                    <a:pt x="135" y="4"/>
                  </a:lnTo>
                  <a:lnTo>
                    <a:pt x="138" y="0"/>
                  </a:lnTo>
                  <a:lnTo>
                    <a:pt x="127" y="8"/>
                  </a:lnTo>
                  <a:lnTo>
                    <a:pt x="112" y="20"/>
                  </a:lnTo>
                  <a:lnTo>
                    <a:pt x="107" y="23"/>
                  </a:lnTo>
                  <a:lnTo>
                    <a:pt x="103" y="29"/>
                  </a:lnTo>
                  <a:lnTo>
                    <a:pt x="97" y="37"/>
                  </a:lnTo>
                  <a:lnTo>
                    <a:pt x="89" y="50"/>
                  </a:lnTo>
                  <a:lnTo>
                    <a:pt x="81" y="71"/>
                  </a:lnTo>
                  <a:lnTo>
                    <a:pt x="72" y="93"/>
                  </a:lnTo>
                  <a:lnTo>
                    <a:pt x="65" y="111"/>
                  </a:lnTo>
                  <a:lnTo>
                    <a:pt x="62" y="118"/>
                  </a:lnTo>
                  <a:lnTo>
                    <a:pt x="26" y="93"/>
                  </a:lnTo>
                  <a:lnTo>
                    <a:pt x="0" y="110"/>
                  </a:lnTo>
                  <a:close/>
                </a:path>
              </a:pathLst>
            </a:custGeom>
            <a:solidFill>
              <a:srgbClr val="1F1A17"/>
            </a:solidFill>
            <a:ln w="9525">
              <a:noFill/>
              <a:round/>
              <a:headEnd/>
              <a:tailEnd/>
            </a:ln>
          </p:spPr>
          <p:txBody>
            <a:bodyPr/>
            <a:lstStyle/>
            <a:p>
              <a:endParaRPr lang="en-GB"/>
            </a:p>
          </p:txBody>
        </p:sp>
        <p:sp>
          <p:nvSpPr>
            <p:cNvPr id="174183" name="Freeform 103"/>
            <p:cNvSpPr>
              <a:spLocks/>
            </p:cNvSpPr>
            <p:nvPr/>
          </p:nvSpPr>
          <p:spPr bwMode="auto">
            <a:xfrm>
              <a:off x="2424" y="3275"/>
              <a:ext cx="27" cy="30"/>
            </a:xfrm>
            <a:custGeom>
              <a:avLst/>
              <a:gdLst/>
              <a:ahLst/>
              <a:cxnLst>
                <a:cxn ang="0">
                  <a:pos x="0" y="110"/>
                </a:cxn>
                <a:cxn ang="0">
                  <a:pos x="74" y="151"/>
                </a:cxn>
                <a:cxn ang="0">
                  <a:pos x="77" y="141"/>
                </a:cxn>
                <a:cxn ang="0">
                  <a:pos x="82" y="120"/>
                </a:cxn>
                <a:cxn ang="0">
                  <a:pos x="87" y="101"/>
                </a:cxn>
                <a:cxn ang="0">
                  <a:pos x="88" y="97"/>
                </a:cxn>
                <a:cxn ang="0">
                  <a:pos x="88" y="93"/>
                </a:cxn>
                <a:cxn ang="0">
                  <a:pos x="94" y="77"/>
                </a:cxn>
                <a:cxn ang="0">
                  <a:pos x="97" y="66"/>
                </a:cxn>
                <a:cxn ang="0">
                  <a:pos x="101" y="56"/>
                </a:cxn>
                <a:cxn ang="0">
                  <a:pos x="104" y="46"/>
                </a:cxn>
                <a:cxn ang="0">
                  <a:pos x="108" y="39"/>
                </a:cxn>
                <a:cxn ang="0">
                  <a:pos x="116" y="27"/>
                </a:cxn>
                <a:cxn ang="0">
                  <a:pos x="126" y="14"/>
                </a:cxn>
                <a:cxn ang="0">
                  <a:pos x="135" y="4"/>
                </a:cxn>
                <a:cxn ang="0">
                  <a:pos x="138" y="0"/>
                </a:cxn>
                <a:cxn ang="0">
                  <a:pos x="127" y="8"/>
                </a:cxn>
                <a:cxn ang="0">
                  <a:pos x="112" y="20"/>
                </a:cxn>
                <a:cxn ang="0">
                  <a:pos x="107" y="23"/>
                </a:cxn>
                <a:cxn ang="0">
                  <a:pos x="103" y="29"/>
                </a:cxn>
                <a:cxn ang="0">
                  <a:pos x="97" y="37"/>
                </a:cxn>
                <a:cxn ang="0">
                  <a:pos x="89" y="50"/>
                </a:cxn>
                <a:cxn ang="0">
                  <a:pos x="81" y="71"/>
                </a:cxn>
                <a:cxn ang="0">
                  <a:pos x="72" y="93"/>
                </a:cxn>
                <a:cxn ang="0">
                  <a:pos x="65" y="111"/>
                </a:cxn>
                <a:cxn ang="0">
                  <a:pos x="62" y="118"/>
                </a:cxn>
                <a:cxn ang="0">
                  <a:pos x="26" y="93"/>
                </a:cxn>
                <a:cxn ang="0">
                  <a:pos x="0" y="110"/>
                </a:cxn>
              </a:cxnLst>
              <a:rect l="0" t="0" r="r" b="b"/>
              <a:pathLst>
                <a:path w="138" h="151">
                  <a:moveTo>
                    <a:pt x="0" y="110"/>
                  </a:moveTo>
                  <a:lnTo>
                    <a:pt x="74" y="151"/>
                  </a:lnTo>
                  <a:lnTo>
                    <a:pt x="77" y="141"/>
                  </a:lnTo>
                  <a:lnTo>
                    <a:pt x="82" y="120"/>
                  </a:lnTo>
                  <a:lnTo>
                    <a:pt x="87" y="101"/>
                  </a:lnTo>
                  <a:lnTo>
                    <a:pt x="88" y="97"/>
                  </a:lnTo>
                  <a:lnTo>
                    <a:pt x="88" y="93"/>
                  </a:lnTo>
                  <a:lnTo>
                    <a:pt x="94" y="77"/>
                  </a:lnTo>
                  <a:lnTo>
                    <a:pt x="97" y="66"/>
                  </a:lnTo>
                  <a:lnTo>
                    <a:pt x="101" y="56"/>
                  </a:lnTo>
                  <a:lnTo>
                    <a:pt x="104" y="46"/>
                  </a:lnTo>
                  <a:lnTo>
                    <a:pt x="108" y="39"/>
                  </a:lnTo>
                  <a:lnTo>
                    <a:pt x="116" y="27"/>
                  </a:lnTo>
                  <a:lnTo>
                    <a:pt x="126" y="14"/>
                  </a:lnTo>
                  <a:lnTo>
                    <a:pt x="135" y="4"/>
                  </a:lnTo>
                  <a:lnTo>
                    <a:pt x="138" y="0"/>
                  </a:lnTo>
                  <a:lnTo>
                    <a:pt x="127" y="8"/>
                  </a:lnTo>
                  <a:lnTo>
                    <a:pt x="112" y="20"/>
                  </a:lnTo>
                  <a:lnTo>
                    <a:pt x="107" y="23"/>
                  </a:lnTo>
                  <a:lnTo>
                    <a:pt x="103" y="29"/>
                  </a:lnTo>
                  <a:lnTo>
                    <a:pt x="97" y="37"/>
                  </a:lnTo>
                  <a:lnTo>
                    <a:pt x="89" y="50"/>
                  </a:lnTo>
                  <a:lnTo>
                    <a:pt x="81" y="71"/>
                  </a:lnTo>
                  <a:lnTo>
                    <a:pt x="72" y="93"/>
                  </a:lnTo>
                  <a:lnTo>
                    <a:pt x="65" y="111"/>
                  </a:lnTo>
                  <a:lnTo>
                    <a:pt x="62" y="118"/>
                  </a:lnTo>
                  <a:lnTo>
                    <a:pt x="26" y="93"/>
                  </a:lnTo>
                  <a:lnTo>
                    <a:pt x="0" y="110"/>
                  </a:lnTo>
                  <a:close/>
                </a:path>
              </a:pathLst>
            </a:custGeom>
            <a:noFill/>
            <a:ln w="4763">
              <a:solidFill>
                <a:srgbClr val="1F1A17"/>
              </a:solidFill>
              <a:prstDash val="solid"/>
              <a:round/>
              <a:headEnd/>
              <a:tailEnd/>
            </a:ln>
          </p:spPr>
          <p:txBody>
            <a:bodyPr/>
            <a:lstStyle/>
            <a:p>
              <a:endParaRPr lang="en-GB"/>
            </a:p>
          </p:txBody>
        </p:sp>
        <p:sp>
          <p:nvSpPr>
            <p:cNvPr id="174184" name="Freeform 104"/>
            <p:cNvSpPr>
              <a:spLocks/>
            </p:cNvSpPr>
            <p:nvPr/>
          </p:nvSpPr>
          <p:spPr bwMode="auto">
            <a:xfrm>
              <a:off x="2423" y="3160"/>
              <a:ext cx="28" cy="30"/>
            </a:xfrm>
            <a:custGeom>
              <a:avLst/>
              <a:gdLst/>
              <a:ahLst/>
              <a:cxnLst>
                <a:cxn ang="0">
                  <a:pos x="0" y="110"/>
                </a:cxn>
                <a:cxn ang="0">
                  <a:pos x="75" y="151"/>
                </a:cxn>
                <a:cxn ang="0">
                  <a:pos x="77" y="141"/>
                </a:cxn>
                <a:cxn ang="0">
                  <a:pos x="82" y="121"/>
                </a:cxn>
                <a:cxn ang="0">
                  <a:pos x="87" y="101"/>
                </a:cxn>
                <a:cxn ang="0">
                  <a:pos x="88" y="96"/>
                </a:cxn>
                <a:cxn ang="0">
                  <a:pos x="89" y="94"/>
                </a:cxn>
                <a:cxn ang="0">
                  <a:pos x="94" y="78"/>
                </a:cxn>
                <a:cxn ang="0">
                  <a:pos x="97" y="67"/>
                </a:cxn>
                <a:cxn ang="0">
                  <a:pos x="100" y="55"/>
                </a:cxn>
                <a:cxn ang="0">
                  <a:pos x="105" y="47"/>
                </a:cxn>
                <a:cxn ang="0">
                  <a:pos x="108" y="40"/>
                </a:cxn>
                <a:cxn ang="0">
                  <a:pos x="117" y="28"/>
                </a:cxn>
                <a:cxn ang="0">
                  <a:pos x="127" y="14"/>
                </a:cxn>
                <a:cxn ang="0">
                  <a:pos x="136" y="4"/>
                </a:cxn>
                <a:cxn ang="0">
                  <a:pos x="139" y="0"/>
                </a:cxn>
                <a:cxn ang="0">
                  <a:pos x="128" y="8"/>
                </a:cxn>
                <a:cxn ang="0">
                  <a:pos x="112" y="20"/>
                </a:cxn>
                <a:cxn ang="0">
                  <a:pos x="108" y="24"/>
                </a:cxn>
                <a:cxn ang="0">
                  <a:pos x="102" y="29"/>
                </a:cxn>
                <a:cxn ang="0">
                  <a:pos x="97" y="37"/>
                </a:cxn>
                <a:cxn ang="0">
                  <a:pos x="90" y="51"/>
                </a:cxn>
                <a:cxn ang="0">
                  <a:pos x="80" y="71"/>
                </a:cxn>
                <a:cxn ang="0">
                  <a:pos x="71" y="93"/>
                </a:cxn>
                <a:cxn ang="0">
                  <a:pos x="65" y="111"/>
                </a:cxn>
                <a:cxn ang="0">
                  <a:pos x="62" y="119"/>
                </a:cxn>
                <a:cxn ang="0">
                  <a:pos x="26" y="93"/>
                </a:cxn>
                <a:cxn ang="0">
                  <a:pos x="0" y="110"/>
                </a:cxn>
              </a:cxnLst>
              <a:rect l="0" t="0" r="r" b="b"/>
              <a:pathLst>
                <a:path w="139" h="151">
                  <a:moveTo>
                    <a:pt x="0" y="110"/>
                  </a:moveTo>
                  <a:lnTo>
                    <a:pt x="75" y="151"/>
                  </a:lnTo>
                  <a:lnTo>
                    <a:pt x="77" y="141"/>
                  </a:lnTo>
                  <a:lnTo>
                    <a:pt x="82" y="121"/>
                  </a:lnTo>
                  <a:lnTo>
                    <a:pt x="87" y="101"/>
                  </a:lnTo>
                  <a:lnTo>
                    <a:pt x="88" y="96"/>
                  </a:lnTo>
                  <a:lnTo>
                    <a:pt x="89" y="94"/>
                  </a:lnTo>
                  <a:lnTo>
                    <a:pt x="94" y="78"/>
                  </a:lnTo>
                  <a:lnTo>
                    <a:pt x="97" y="67"/>
                  </a:lnTo>
                  <a:lnTo>
                    <a:pt x="100" y="55"/>
                  </a:lnTo>
                  <a:lnTo>
                    <a:pt x="105" y="47"/>
                  </a:lnTo>
                  <a:lnTo>
                    <a:pt x="108" y="40"/>
                  </a:lnTo>
                  <a:lnTo>
                    <a:pt x="117" y="28"/>
                  </a:lnTo>
                  <a:lnTo>
                    <a:pt x="127" y="14"/>
                  </a:lnTo>
                  <a:lnTo>
                    <a:pt x="136" y="4"/>
                  </a:lnTo>
                  <a:lnTo>
                    <a:pt x="139" y="0"/>
                  </a:lnTo>
                  <a:lnTo>
                    <a:pt x="128" y="8"/>
                  </a:lnTo>
                  <a:lnTo>
                    <a:pt x="112" y="20"/>
                  </a:lnTo>
                  <a:lnTo>
                    <a:pt x="108" y="24"/>
                  </a:lnTo>
                  <a:lnTo>
                    <a:pt x="102" y="29"/>
                  </a:lnTo>
                  <a:lnTo>
                    <a:pt x="97" y="37"/>
                  </a:lnTo>
                  <a:lnTo>
                    <a:pt x="90" y="51"/>
                  </a:lnTo>
                  <a:lnTo>
                    <a:pt x="80" y="71"/>
                  </a:lnTo>
                  <a:lnTo>
                    <a:pt x="71" y="93"/>
                  </a:lnTo>
                  <a:lnTo>
                    <a:pt x="65" y="111"/>
                  </a:lnTo>
                  <a:lnTo>
                    <a:pt x="62" y="119"/>
                  </a:lnTo>
                  <a:lnTo>
                    <a:pt x="26" y="93"/>
                  </a:lnTo>
                  <a:lnTo>
                    <a:pt x="0" y="110"/>
                  </a:lnTo>
                  <a:close/>
                </a:path>
              </a:pathLst>
            </a:custGeom>
            <a:solidFill>
              <a:srgbClr val="1F1A17"/>
            </a:solidFill>
            <a:ln w="9525">
              <a:noFill/>
              <a:round/>
              <a:headEnd/>
              <a:tailEnd/>
            </a:ln>
          </p:spPr>
          <p:txBody>
            <a:bodyPr/>
            <a:lstStyle/>
            <a:p>
              <a:endParaRPr lang="en-GB"/>
            </a:p>
          </p:txBody>
        </p:sp>
        <p:sp>
          <p:nvSpPr>
            <p:cNvPr id="174185" name="Freeform 105"/>
            <p:cNvSpPr>
              <a:spLocks/>
            </p:cNvSpPr>
            <p:nvPr/>
          </p:nvSpPr>
          <p:spPr bwMode="auto">
            <a:xfrm>
              <a:off x="2423" y="3160"/>
              <a:ext cx="28" cy="30"/>
            </a:xfrm>
            <a:custGeom>
              <a:avLst/>
              <a:gdLst/>
              <a:ahLst/>
              <a:cxnLst>
                <a:cxn ang="0">
                  <a:pos x="0" y="110"/>
                </a:cxn>
                <a:cxn ang="0">
                  <a:pos x="75" y="151"/>
                </a:cxn>
                <a:cxn ang="0">
                  <a:pos x="77" y="141"/>
                </a:cxn>
                <a:cxn ang="0">
                  <a:pos x="82" y="121"/>
                </a:cxn>
                <a:cxn ang="0">
                  <a:pos x="87" y="101"/>
                </a:cxn>
                <a:cxn ang="0">
                  <a:pos x="88" y="96"/>
                </a:cxn>
                <a:cxn ang="0">
                  <a:pos x="89" y="94"/>
                </a:cxn>
                <a:cxn ang="0">
                  <a:pos x="94" y="78"/>
                </a:cxn>
                <a:cxn ang="0">
                  <a:pos x="97" y="67"/>
                </a:cxn>
                <a:cxn ang="0">
                  <a:pos x="100" y="55"/>
                </a:cxn>
                <a:cxn ang="0">
                  <a:pos x="105" y="47"/>
                </a:cxn>
                <a:cxn ang="0">
                  <a:pos x="108" y="40"/>
                </a:cxn>
                <a:cxn ang="0">
                  <a:pos x="117" y="28"/>
                </a:cxn>
                <a:cxn ang="0">
                  <a:pos x="127" y="14"/>
                </a:cxn>
                <a:cxn ang="0">
                  <a:pos x="136" y="4"/>
                </a:cxn>
                <a:cxn ang="0">
                  <a:pos x="139" y="0"/>
                </a:cxn>
                <a:cxn ang="0">
                  <a:pos x="128" y="8"/>
                </a:cxn>
                <a:cxn ang="0">
                  <a:pos x="112" y="20"/>
                </a:cxn>
                <a:cxn ang="0">
                  <a:pos x="108" y="24"/>
                </a:cxn>
                <a:cxn ang="0">
                  <a:pos x="102" y="29"/>
                </a:cxn>
                <a:cxn ang="0">
                  <a:pos x="97" y="37"/>
                </a:cxn>
                <a:cxn ang="0">
                  <a:pos x="90" y="51"/>
                </a:cxn>
                <a:cxn ang="0">
                  <a:pos x="80" y="71"/>
                </a:cxn>
                <a:cxn ang="0">
                  <a:pos x="71" y="93"/>
                </a:cxn>
                <a:cxn ang="0">
                  <a:pos x="65" y="111"/>
                </a:cxn>
                <a:cxn ang="0">
                  <a:pos x="62" y="119"/>
                </a:cxn>
                <a:cxn ang="0">
                  <a:pos x="26" y="93"/>
                </a:cxn>
                <a:cxn ang="0">
                  <a:pos x="0" y="110"/>
                </a:cxn>
              </a:cxnLst>
              <a:rect l="0" t="0" r="r" b="b"/>
              <a:pathLst>
                <a:path w="139" h="151">
                  <a:moveTo>
                    <a:pt x="0" y="110"/>
                  </a:moveTo>
                  <a:lnTo>
                    <a:pt x="75" y="151"/>
                  </a:lnTo>
                  <a:lnTo>
                    <a:pt x="77" y="141"/>
                  </a:lnTo>
                  <a:lnTo>
                    <a:pt x="82" y="121"/>
                  </a:lnTo>
                  <a:lnTo>
                    <a:pt x="87" y="101"/>
                  </a:lnTo>
                  <a:lnTo>
                    <a:pt x="88" y="96"/>
                  </a:lnTo>
                  <a:lnTo>
                    <a:pt x="89" y="94"/>
                  </a:lnTo>
                  <a:lnTo>
                    <a:pt x="94" y="78"/>
                  </a:lnTo>
                  <a:lnTo>
                    <a:pt x="97" y="67"/>
                  </a:lnTo>
                  <a:lnTo>
                    <a:pt x="100" y="55"/>
                  </a:lnTo>
                  <a:lnTo>
                    <a:pt x="105" y="47"/>
                  </a:lnTo>
                  <a:lnTo>
                    <a:pt x="108" y="40"/>
                  </a:lnTo>
                  <a:lnTo>
                    <a:pt x="117" y="28"/>
                  </a:lnTo>
                  <a:lnTo>
                    <a:pt x="127" y="14"/>
                  </a:lnTo>
                  <a:lnTo>
                    <a:pt x="136" y="4"/>
                  </a:lnTo>
                  <a:lnTo>
                    <a:pt x="139" y="0"/>
                  </a:lnTo>
                  <a:lnTo>
                    <a:pt x="128" y="8"/>
                  </a:lnTo>
                  <a:lnTo>
                    <a:pt x="112" y="20"/>
                  </a:lnTo>
                  <a:lnTo>
                    <a:pt x="108" y="24"/>
                  </a:lnTo>
                  <a:lnTo>
                    <a:pt x="102" y="29"/>
                  </a:lnTo>
                  <a:lnTo>
                    <a:pt x="97" y="37"/>
                  </a:lnTo>
                  <a:lnTo>
                    <a:pt x="90" y="51"/>
                  </a:lnTo>
                  <a:lnTo>
                    <a:pt x="80" y="71"/>
                  </a:lnTo>
                  <a:lnTo>
                    <a:pt x="71" y="93"/>
                  </a:lnTo>
                  <a:lnTo>
                    <a:pt x="65" y="111"/>
                  </a:lnTo>
                  <a:lnTo>
                    <a:pt x="62" y="119"/>
                  </a:lnTo>
                  <a:lnTo>
                    <a:pt x="26" y="93"/>
                  </a:lnTo>
                  <a:lnTo>
                    <a:pt x="0" y="110"/>
                  </a:lnTo>
                  <a:close/>
                </a:path>
              </a:pathLst>
            </a:custGeom>
            <a:noFill/>
            <a:ln w="4763">
              <a:solidFill>
                <a:srgbClr val="1F1A17"/>
              </a:solidFill>
              <a:prstDash val="solid"/>
              <a:round/>
              <a:headEnd/>
              <a:tailEnd/>
            </a:ln>
          </p:spPr>
          <p:txBody>
            <a:bodyPr/>
            <a:lstStyle/>
            <a:p>
              <a:endParaRPr lang="en-GB"/>
            </a:p>
          </p:txBody>
        </p:sp>
        <p:sp>
          <p:nvSpPr>
            <p:cNvPr id="174186" name="Freeform 106"/>
            <p:cNvSpPr>
              <a:spLocks/>
            </p:cNvSpPr>
            <p:nvPr/>
          </p:nvSpPr>
          <p:spPr bwMode="auto">
            <a:xfrm>
              <a:off x="2421" y="3101"/>
              <a:ext cx="28" cy="30"/>
            </a:xfrm>
            <a:custGeom>
              <a:avLst/>
              <a:gdLst/>
              <a:ahLst/>
              <a:cxnLst>
                <a:cxn ang="0">
                  <a:pos x="0" y="108"/>
                </a:cxn>
                <a:cxn ang="0">
                  <a:pos x="75" y="150"/>
                </a:cxn>
                <a:cxn ang="0">
                  <a:pos x="78" y="141"/>
                </a:cxn>
                <a:cxn ang="0">
                  <a:pos x="83" y="120"/>
                </a:cxn>
                <a:cxn ang="0">
                  <a:pos x="88" y="101"/>
                </a:cxn>
                <a:cxn ang="0">
                  <a:pos x="89" y="96"/>
                </a:cxn>
                <a:cxn ang="0">
                  <a:pos x="89" y="93"/>
                </a:cxn>
                <a:cxn ang="0">
                  <a:pos x="95" y="76"/>
                </a:cxn>
                <a:cxn ang="0">
                  <a:pos x="98" y="65"/>
                </a:cxn>
                <a:cxn ang="0">
                  <a:pos x="101" y="54"/>
                </a:cxn>
                <a:cxn ang="0">
                  <a:pos x="105" y="45"/>
                </a:cxn>
                <a:cxn ang="0">
                  <a:pos x="109" y="39"/>
                </a:cxn>
                <a:cxn ang="0">
                  <a:pos x="117" y="26"/>
                </a:cxn>
                <a:cxn ang="0">
                  <a:pos x="127" y="13"/>
                </a:cxn>
                <a:cxn ang="0">
                  <a:pos x="136" y="3"/>
                </a:cxn>
                <a:cxn ang="0">
                  <a:pos x="139" y="0"/>
                </a:cxn>
                <a:cxn ang="0">
                  <a:pos x="128" y="6"/>
                </a:cxn>
                <a:cxn ang="0">
                  <a:pos x="113" y="19"/>
                </a:cxn>
                <a:cxn ang="0">
                  <a:pos x="108" y="23"/>
                </a:cxn>
                <a:cxn ang="0">
                  <a:pos x="104" y="27"/>
                </a:cxn>
                <a:cxn ang="0">
                  <a:pos x="98" y="35"/>
                </a:cxn>
                <a:cxn ang="0">
                  <a:pos x="90" y="50"/>
                </a:cxn>
                <a:cxn ang="0">
                  <a:pos x="81" y="70"/>
                </a:cxn>
                <a:cxn ang="0">
                  <a:pos x="73" y="92"/>
                </a:cxn>
                <a:cxn ang="0">
                  <a:pos x="66" y="110"/>
                </a:cxn>
                <a:cxn ang="0">
                  <a:pos x="63" y="117"/>
                </a:cxn>
                <a:cxn ang="0">
                  <a:pos x="26" y="92"/>
                </a:cxn>
                <a:cxn ang="0">
                  <a:pos x="0" y="108"/>
                </a:cxn>
              </a:cxnLst>
              <a:rect l="0" t="0" r="r" b="b"/>
              <a:pathLst>
                <a:path w="139" h="150">
                  <a:moveTo>
                    <a:pt x="0" y="108"/>
                  </a:moveTo>
                  <a:lnTo>
                    <a:pt x="75" y="150"/>
                  </a:lnTo>
                  <a:lnTo>
                    <a:pt x="78" y="141"/>
                  </a:lnTo>
                  <a:lnTo>
                    <a:pt x="83" y="120"/>
                  </a:lnTo>
                  <a:lnTo>
                    <a:pt x="88" y="101"/>
                  </a:lnTo>
                  <a:lnTo>
                    <a:pt x="89" y="96"/>
                  </a:lnTo>
                  <a:lnTo>
                    <a:pt x="89" y="93"/>
                  </a:lnTo>
                  <a:lnTo>
                    <a:pt x="95" y="76"/>
                  </a:lnTo>
                  <a:lnTo>
                    <a:pt x="98" y="65"/>
                  </a:lnTo>
                  <a:lnTo>
                    <a:pt x="101" y="54"/>
                  </a:lnTo>
                  <a:lnTo>
                    <a:pt x="105" y="45"/>
                  </a:lnTo>
                  <a:lnTo>
                    <a:pt x="109" y="39"/>
                  </a:lnTo>
                  <a:lnTo>
                    <a:pt x="117" y="26"/>
                  </a:lnTo>
                  <a:lnTo>
                    <a:pt x="127" y="13"/>
                  </a:lnTo>
                  <a:lnTo>
                    <a:pt x="136" y="3"/>
                  </a:lnTo>
                  <a:lnTo>
                    <a:pt x="139" y="0"/>
                  </a:lnTo>
                  <a:lnTo>
                    <a:pt x="128" y="6"/>
                  </a:lnTo>
                  <a:lnTo>
                    <a:pt x="113" y="19"/>
                  </a:lnTo>
                  <a:lnTo>
                    <a:pt x="108" y="23"/>
                  </a:lnTo>
                  <a:lnTo>
                    <a:pt x="104" y="27"/>
                  </a:lnTo>
                  <a:lnTo>
                    <a:pt x="98" y="35"/>
                  </a:lnTo>
                  <a:lnTo>
                    <a:pt x="90" y="50"/>
                  </a:lnTo>
                  <a:lnTo>
                    <a:pt x="81" y="70"/>
                  </a:lnTo>
                  <a:lnTo>
                    <a:pt x="73" y="92"/>
                  </a:lnTo>
                  <a:lnTo>
                    <a:pt x="66" y="110"/>
                  </a:lnTo>
                  <a:lnTo>
                    <a:pt x="63" y="117"/>
                  </a:lnTo>
                  <a:lnTo>
                    <a:pt x="26" y="92"/>
                  </a:lnTo>
                  <a:lnTo>
                    <a:pt x="0" y="108"/>
                  </a:lnTo>
                  <a:close/>
                </a:path>
              </a:pathLst>
            </a:custGeom>
            <a:solidFill>
              <a:srgbClr val="1F1A17"/>
            </a:solidFill>
            <a:ln w="9525">
              <a:noFill/>
              <a:round/>
              <a:headEnd/>
              <a:tailEnd/>
            </a:ln>
          </p:spPr>
          <p:txBody>
            <a:bodyPr/>
            <a:lstStyle/>
            <a:p>
              <a:endParaRPr lang="en-GB"/>
            </a:p>
          </p:txBody>
        </p:sp>
        <p:sp>
          <p:nvSpPr>
            <p:cNvPr id="174187" name="Freeform 107"/>
            <p:cNvSpPr>
              <a:spLocks/>
            </p:cNvSpPr>
            <p:nvPr/>
          </p:nvSpPr>
          <p:spPr bwMode="auto">
            <a:xfrm>
              <a:off x="2421" y="3101"/>
              <a:ext cx="28" cy="30"/>
            </a:xfrm>
            <a:custGeom>
              <a:avLst/>
              <a:gdLst/>
              <a:ahLst/>
              <a:cxnLst>
                <a:cxn ang="0">
                  <a:pos x="0" y="108"/>
                </a:cxn>
                <a:cxn ang="0">
                  <a:pos x="75" y="150"/>
                </a:cxn>
                <a:cxn ang="0">
                  <a:pos x="78" y="141"/>
                </a:cxn>
                <a:cxn ang="0">
                  <a:pos x="83" y="120"/>
                </a:cxn>
                <a:cxn ang="0">
                  <a:pos x="88" y="101"/>
                </a:cxn>
                <a:cxn ang="0">
                  <a:pos x="89" y="96"/>
                </a:cxn>
                <a:cxn ang="0">
                  <a:pos x="89" y="93"/>
                </a:cxn>
                <a:cxn ang="0">
                  <a:pos x="95" y="76"/>
                </a:cxn>
                <a:cxn ang="0">
                  <a:pos x="98" y="65"/>
                </a:cxn>
                <a:cxn ang="0">
                  <a:pos x="101" y="54"/>
                </a:cxn>
                <a:cxn ang="0">
                  <a:pos x="105" y="45"/>
                </a:cxn>
                <a:cxn ang="0">
                  <a:pos x="109" y="39"/>
                </a:cxn>
                <a:cxn ang="0">
                  <a:pos x="117" y="26"/>
                </a:cxn>
                <a:cxn ang="0">
                  <a:pos x="127" y="13"/>
                </a:cxn>
                <a:cxn ang="0">
                  <a:pos x="136" y="3"/>
                </a:cxn>
                <a:cxn ang="0">
                  <a:pos x="139" y="0"/>
                </a:cxn>
                <a:cxn ang="0">
                  <a:pos x="128" y="6"/>
                </a:cxn>
                <a:cxn ang="0">
                  <a:pos x="113" y="19"/>
                </a:cxn>
                <a:cxn ang="0">
                  <a:pos x="108" y="23"/>
                </a:cxn>
                <a:cxn ang="0">
                  <a:pos x="104" y="27"/>
                </a:cxn>
                <a:cxn ang="0">
                  <a:pos x="98" y="35"/>
                </a:cxn>
                <a:cxn ang="0">
                  <a:pos x="90" y="50"/>
                </a:cxn>
                <a:cxn ang="0">
                  <a:pos x="81" y="70"/>
                </a:cxn>
                <a:cxn ang="0">
                  <a:pos x="73" y="92"/>
                </a:cxn>
                <a:cxn ang="0">
                  <a:pos x="66" y="110"/>
                </a:cxn>
                <a:cxn ang="0">
                  <a:pos x="63" y="117"/>
                </a:cxn>
                <a:cxn ang="0">
                  <a:pos x="26" y="92"/>
                </a:cxn>
                <a:cxn ang="0">
                  <a:pos x="0" y="108"/>
                </a:cxn>
              </a:cxnLst>
              <a:rect l="0" t="0" r="r" b="b"/>
              <a:pathLst>
                <a:path w="139" h="150">
                  <a:moveTo>
                    <a:pt x="0" y="108"/>
                  </a:moveTo>
                  <a:lnTo>
                    <a:pt x="75" y="150"/>
                  </a:lnTo>
                  <a:lnTo>
                    <a:pt x="78" y="141"/>
                  </a:lnTo>
                  <a:lnTo>
                    <a:pt x="83" y="120"/>
                  </a:lnTo>
                  <a:lnTo>
                    <a:pt x="88" y="101"/>
                  </a:lnTo>
                  <a:lnTo>
                    <a:pt x="89" y="96"/>
                  </a:lnTo>
                  <a:lnTo>
                    <a:pt x="89" y="93"/>
                  </a:lnTo>
                  <a:lnTo>
                    <a:pt x="95" y="76"/>
                  </a:lnTo>
                  <a:lnTo>
                    <a:pt x="98" y="65"/>
                  </a:lnTo>
                  <a:lnTo>
                    <a:pt x="101" y="54"/>
                  </a:lnTo>
                  <a:lnTo>
                    <a:pt x="105" y="45"/>
                  </a:lnTo>
                  <a:lnTo>
                    <a:pt x="109" y="39"/>
                  </a:lnTo>
                  <a:lnTo>
                    <a:pt x="117" y="26"/>
                  </a:lnTo>
                  <a:lnTo>
                    <a:pt x="127" y="13"/>
                  </a:lnTo>
                  <a:lnTo>
                    <a:pt x="136" y="3"/>
                  </a:lnTo>
                  <a:lnTo>
                    <a:pt x="139" y="0"/>
                  </a:lnTo>
                  <a:lnTo>
                    <a:pt x="128" y="6"/>
                  </a:lnTo>
                  <a:lnTo>
                    <a:pt x="113" y="19"/>
                  </a:lnTo>
                  <a:lnTo>
                    <a:pt x="108" y="23"/>
                  </a:lnTo>
                  <a:lnTo>
                    <a:pt x="104" y="27"/>
                  </a:lnTo>
                  <a:lnTo>
                    <a:pt x="98" y="35"/>
                  </a:lnTo>
                  <a:lnTo>
                    <a:pt x="90" y="50"/>
                  </a:lnTo>
                  <a:lnTo>
                    <a:pt x="81" y="70"/>
                  </a:lnTo>
                  <a:lnTo>
                    <a:pt x="73" y="92"/>
                  </a:lnTo>
                  <a:lnTo>
                    <a:pt x="66" y="110"/>
                  </a:lnTo>
                  <a:lnTo>
                    <a:pt x="63" y="117"/>
                  </a:lnTo>
                  <a:lnTo>
                    <a:pt x="26" y="92"/>
                  </a:lnTo>
                  <a:lnTo>
                    <a:pt x="0" y="108"/>
                  </a:lnTo>
                </a:path>
              </a:pathLst>
            </a:custGeom>
            <a:noFill/>
            <a:ln w="4763">
              <a:solidFill>
                <a:srgbClr val="1F1A17"/>
              </a:solidFill>
              <a:prstDash val="solid"/>
              <a:round/>
              <a:headEnd/>
              <a:tailEnd/>
            </a:ln>
          </p:spPr>
          <p:txBody>
            <a:bodyPr/>
            <a:lstStyle/>
            <a:p>
              <a:endParaRPr lang="en-GB"/>
            </a:p>
          </p:txBody>
        </p:sp>
      </p:grpSp>
      <p:sp>
        <p:nvSpPr>
          <p:cNvPr id="174188" name="Freeform 108"/>
          <p:cNvSpPr>
            <a:spLocks/>
          </p:cNvSpPr>
          <p:nvPr/>
        </p:nvSpPr>
        <p:spPr bwMode="auto">
          <a:xfrm>
            <a:off x="6884987" y="3373438"/>
            <a:ext cx="481013" cy="625475"/>
          </a:xfrm>
          <a:custGeom>
            <a:avLst/>
            <a:gdLst/>
            <a:ahLst/>
            <a:cxnLst>
              <a:cxn ang="0">
                <a:pos x="190" y="0"/>
              </a:cxn>
              <a:cxn ang="0">
                <a:pos x="1513" y="136"/>
              </a:cxn>
              <a:cxn ang="0">
                <a:pos x="1323" y="1969"/>
              </a:cxn>
              <a:cxn ang="0">
                <a:pos x="0" y="1831"/>
              </a:cxn>
              <a:cxn ang="0">
                <a:pos x="190" y="0"/>
              </a:cxn>
            </a:cxnLst>
            <a:rect l="0" t="0" r="r" b="b"/>
            <a:pathLst>
              <a:path w="1513" h="1969">
                <a:moveTo>
                  <a:pt x="190" y="0"/>
                </a:moveTo>
                <a:lnTo>
                  <a:pt x="1513" y="136"/>
                </a:lnTo>
                <a:lnTo>
                  <a:pt x="1323" y="1969"/>
                </a:lnTo>
                <a:lnTo>
                  <a:pt x="0" y="1831"/>
                </a:lnTo>
                <a:lnTo>
                  <a:pt x="190" y="0"/>
                </a:lnTo>
                <a:close/>
              </a:path>
            </a:pathLst>
          </a:custGeom>
          <a:solidFill>
            <a:srgbClr val="C3C3C2"/>
          </a:solidFill>
          <a:ln w="9525">
            <a:solidFill>
              <a:schemeClr val="bg2"/>
            </a:solidFill>
            <a:round/>
            <a:headEnd/>
            <a:tailEnd/>
          </a:ln>
        </p:spPr>
        <p:txBody>
          <a:bodyPr/>
          <a:lstStyle/>
          <a:p>
            <a:endParaRPr lang="en-GB"/>
          </a:p>
        </p:txBody>
      </p:sp>
      <p:sp>
        <p:nvSpPr>
          <p:cNvPr id="174189" name="Freeform 109"/>
          <p:cNvSpPr>
            <a:spLocks/>
          </p:cNvSpPr>
          <p:nvPr/>
        </p:nvSpPr>
        <p:spPr bwMode="auto">
          <a:xfrm>
            <a:off x="6884987" y="3373438"/>
            <a:ext cx="481013" cy="625475"/>
          </a:xfrm>
          <a:custGeom>
            <a:avLst/>
            <a:gdLst/>
            <a:ahLst/>
            <a:cxnLst>
              <a:cxn ang="0">
                <a:pos x="190" y="0"/>
              </a:cxn>
              <a:cxn ang="0">
                <a:pos x="1513" y="136"/>
              </a:cxn>
              <a:cxn ang="0">
                <a:pos x="1323" y="1969"/>
              </a:cxn>
              <a:cxn ang="0">
                <a:pos x="0" y="1831"/>
              </a:cxn>
              <a:cxn ang="0">
                <a:pos x="190" y="0"/>
              </a:cxn>
            </a:cxnLst>
            <a:rect l="0" t="0" r="r" b="b"/>
            <a:pathLst>
              <a:path w="1513" h="1969">
                <a:moveTo>
                  <a:pt x="190" y="0"/>
                </a:moveTo>
                <a:lnTo>
                  <a:pt x="1513" y="136"/>
                </a:lnTo>
                <a:lnTo>
                  <a:pt x="1323" y="1969"/>
                </a:lnTo>
                <a:lnTo>
                  <a:pt x="0" y="1831"/>
                </a:lnTo>
                <a:lnTo>
                  <a:pt x="190" y="0"/>
                </a:lnTo>
                <a:close/>
              </a:path>
            </a:pathLst>
          </a:custGeom>
          <a:noFill/>
          <a:ln w="4763">
            <a:solidFill>
              <a:schemeClr val="bg2"/>
            </a:solidFill>
            <a:prstDash val="solid"/>
            <a:round/>
            <a:headEnd/>
            <a:tailEnd/>
          </a:ln>
        </p:spPr>
        <p:txBody>
          <a:bodyPr/>
          <a:lstStyle/>
          <a:p>
            <a:endParaRPr lang="en-GB"/>
          </a:p>
        </p:txBody>
      </p:sp>
      <p:sp>
        <p:nvSpPr>
          <p:cNvPr id="174190" name="Freeform 110"/>
          <p:cNvSpPr>
            <a:spLocks/>
          </p:cNvSpPr>
          <p:nvPr/>
        </p:nvSpPr>
        <p:spPr bwMode="auto">
          <a:xfrm>
            <a:off x="6905625" y="3379788"/>
            <a:ext cx="454025" cy="606425"/>
          </a:xfrm>
          <a:custGeom>
            <a:avLst/>
            <a:gdLst/>
            <a:ahLst/>
            <a:cxnLst>
              <a:cxn ang="0">
                <a:pos x="100" y="0"/>
              </a:cxn>
              <a:cxn ang="0">
                <a:pos x="1428" y="71"/>
              </a:cxn>
              <a:cxn ang="0">
                <a:pos x="1329" y="1910"/>
              </a:cxn>
              <a:cxn ang="0">
                <a:pos x="0" y="1839"/>
              </a:cxn>
              <a:cxn ang="0">
                <a:pos x="100" y="0"/>
              </a:cxn>
            </a:cxnLst>
            <a:rect l="0" t="0" r="r" b="b"/>
            <a:pathLst>
              <a:path w="1428" h="1910">
                <a:moveTo>
                  <a:pt x="100" y="0"/>
                </a:moveTo>
                <a:lnTo>
                  <a:pt x="1428" y="71"/>
                </a:lnTo>
                <a:lnTo>
                  <a:pt x="1329" y="1910"/>
                </a:lnTo>
                <a:lnTo>
                  <a:pt x="0" y="1839"/>
                </a:lnTo>
                <a:lnTo>
                  <a:pt x="100" y="0"/>
                </a:lnTo>
                <a:close/>
              </a:path>
            </a:pathLst>
          </a:custGeom>
          <a:solidFill>
            <a:srgbClr val="C3C3C2"/>
          </a:solidFill>
          <a:ln w="9525">
            <a:solidFill>
              <a:schemeClr val="bg2"/>
            </a:solidFill>
            <a:round/>
            <a:headEnd/>
            <a:tailEnd/>
          </a:ln>
        </p:spPr>
        <p:txBody>
          <a:bodyPr/>
          <a:lstStyle/>
          <a:p>
            <a:endParaRPr lang="en-GB"/>
          </a:p>
        </p:txBody>
      </p:sp>
      <p:sp>
        <p:nvSpPr>
          <p:cNvPr id="174191" name="Freeform 111"/>
          <p:cNvSpPr>
            <a:spLocks/>
          </p:cNvSpPr>
          <p:nvPr/>
        </p:nvSpPr>
        <p:spPr bwMode="auto">
          <a:xfrm>
            <a:off x="6905625" y="3379788"/>
            <a:ext cx="454025" cy="606425"/>
          </a:xfrm>
          <a:custGeom>
            <a:avLst/>
            <a:gdLst/>
            <a:ahLst/>
            <a:cxnLst>
              <a:cxn ang="0">
                <a:pos x="100" y="0"/>
              </a:cxn>
              <a:cxn ang="0">
                <a:pos x="1428" y="71"/>
              </a:cxn>
              <a:cxn ang="0">
                <a:pos x="1329" y="1910"/>
              </a:cxn>
              <a:cxn ang="0">
                <a:pos x="0" y="1839"/>
              </a:cxn>
              <a:cxn ang="0">
                <a:pos x="100" y="0"/>
              </a:cxn>
            </a:cxnLst>
            <a:rect l="0" t="0" r="r" b="b"/>
            <a:pathLst>
              <a:path w="1428" h="1910">
                <a:moveTo>
                  <a:pt x="100" y="0"/>
                </a:moveTo>
                <a:lnTo>
                  <a:pt x="1428" y="71"/>
                </a:lnTo>
                <a:lnTo>
                  <a:pt x="1329" y="1910"/>
                </a:lnTo>
                <a:lnTo>
                  <a:pt x="0" y="1839"/>
                </a:lnTo>
                <a:lnTo>
                  <a:pt x="100" y="0"/>
                </a:lnTo>
                <a:close/>
              </a:path>
            </a:pathLst>
          </a:custGeom>
          <a:noFill/>
          <a:ln w="4763">
            <a:solidFill>
              <a:schemeClr val="bg2"/>
            </a:solidFill>
            <a:prstDash val="solid"/>
            <a:round/>
            <a:headEnd/>
            <a:tailEnd/>
          </a:ln>
        </p:spPr>
        <p:txBody>
          <a:bodyPr/>
          <a:lstStyle/>
          <a:p>
            <a:endParaRPr lang="en-GB"/>
          </a:p>
        </p:txBody>
      </p:sp>
      <p:sp>
        <p:nvSpPr>
          <p:cNvPr id="174192" name="Rectangle 112"/>
          <p:cNvSpPr>
            <a:spLocks noChangeArrowheads="1"/>
          </p:cNvSpPr>
          <p:nvPr/>
        </p:nvSpPr>
        <p:spPr bwMode="auto">
          <a:xfrm>
            <a:off x="6926262" y="3384550"/>
            <a:ext cx="422275" cy="584200"/>
          </a:xfrm>
          <a:prstGeom prst="rect">
            <a:avLst/>
          </a:prstGeom>
          <a:solidFill>
            <a:srgbClr val="C3C3C2"/>
          </a:solidFill>
          <a:ln w="9525">
            <a:solidFill>
              <a:schemeClr val="bg2"/>
            </a:solidFill>
            <a:miter lim="800000"/>
            <a:headEnd/>
            <a:tailEnd/>
          </a:ln>
        </p:spPr>
        <p:txBody>
          <a:bodyPr/>
          <a:lstStyle/>
          <a:p>
            <a:endParaRPr lang="en-GB"/>
          </a:p>
        </p:txBody>
      </p:sp>
      <p:sp>
        <p:nvSpPr>
          <p:cNvPr id="174193" name="Rectangle 113"/>
          <p:cNvSpPr>
            <a:spLocks noChangeArrowheads="1"/>
          </p:cNvSpPr>
          <p:nvPr/>
        </p:nvSpPr>
        <p:spPr bwMode="auto">
          <a:xfrm>
            <a:off x="6926262" y="3384550"/>
            <a:ext cx="422275" cy="584200"/>
          </a:xfrm>
          <a:prstGeom prst="rect">
            <a:avLst/>
          </a:prstGeom>
          <a:noFill/>
          <a:ln w="4763">
            <a:solidFill>
              <a:schemeClr val="bg2"/>
            </a:solidFill>
            <a:miter lim="800000"/>
            <a:headEnd/>
            <a:tailEnd/>
          </a:ln>
        </p:spPr>
        <p:txBody>
          <a:bodyPr/>
          <a:lstStyle/>
          <a:p>
            <a:endParaRPr lang="en-GB"/>
          </a:p>
        </p:txBody>
      </p:sp>
      <p:sp>
        <p:nvSpPr>
          <p:cNvPr id="174194" name="Freeform 114"/>
          <p:cNvSpPr>
            <a:spLocks/>
          </p:cNvSpPr>
          <p:nvPr/>
        </p:nvSpPr>
        <p:spPr bwMode="auto">
          <a:xfrm>
            <a:off x="6870700" y="3351213"/>
            <a:ext cx="479425" cy="625475"/>
          </a:xfrm>
          <a:custGeom>
            <a:avLst/>
            <a:gdLst/>
            <a:ahLst/>
            <a:cxnLst>
              <a:cxn ang="0">
                <a:pos x="189" y="0"/>
              </a:cxn>
              <a:cxn ang="0">
                <a:pos x="1512" y="136"/>
              </a:cxn>
              <a:cxn ang="0">
                <a:pos x="1323" y="1969"/>
              </a:cxn>
              <a:cxn ang="0">
                <a:pos x="0" y="1832"/>
              </a:cxn>
              <a:cxn ang="0">
                <a:pos x="189" y="0"/>
              </a:cxn>
            </a:cxnLst>
            <a:rect l="0" t="0" r="r" b="b"/>
            <a:pathLst>
              <a:path w="1512" h="1969">
                <a:moveTo>
                  <a:pt x="189" y="0"/>
                </a:moveTo>
                <a:lnTo>
                  <a:pt x="1512" y="136"/>
                </a:lnTo>
                <a:lnTo>
                  <a:pt x="1323" y="1969"/>
                </a:lnTo>
                <a:lnTo>
                  <a:pt x="0" y="1832"/>
                </a:lnTo>
                <a:lnTo>
                  <a:pt x="189" y="0"/>
                </a:lnTo>
                <a:close/>
              </a:path>
            </a:pathLst>
          </a:custGeom>
          <a:solidFill>
            <a:srgbClr val="969595"/>
          </a:solidFill>
          <a:ln w="9525">
            <a:solidFill>
              <a:schemeClr val="bg2"/>
            </a:solidFill>
            <a:round/>
            <a:headEnd/>
            <a:tailEnd/>
          </a:ln>
        </p:spPr>
        <p:txBody>
          <a:bodyPr/>
          <a:lstStyle/>
          <a:p>
            <a:endParaRPr lang="en-GB"/>
          </a:p>
        </p:txBody>
      </p:sp>
      <p:sp>
        <p:nvSpPr>
          <p:cNvPr id="174195" name="Freeform 115"/>
          <p:cNvSpPr>
            <a:spLocks/>
          </p:cNvSpPr>
          <p:nvPr/>
        </p:nvSpPr>
        <p:spPr bwMode="auto">
          <a:xfrm>
            <a:off x="6870700" y="3351213"/>
            <a:ext cx="479425" cy="625475"/>
          </a:xfrm>
          <a:custGeom>
            <a:avLst/>
            <a:gdLst/>
            <a:ahLst/>
            <a:cxnLst>
              <a:cxn ang="0">
                <a:pos x="189" y="0"/>
              </a:cxn>
              <a:cxn ang="0">
                <a:pos x="1512" y="136"/>
              </a:cxn>
              <a:cxn ang="0">
                <a:pos x="1323" y="1969"/>
              </a:cxn>
              <a:cxn ang="0">
                <a:pos x="0" y="1832"/>
              </a:cxn>
              <a:cxn ang="0">
                <a:pos x="189" y="0"/>
              </a:cxn>
            </a:cxnLst>
            <a:rect l="0" t="0" r="r" b="b"/>
            <a:pathLst>
              <a:path w="1512" h="1969">
                <a:moveTo>
                  <a:pt x="189" y="0"/>
                </a:moveTo>
                <a:lnTo>
                  <a:pt x="1512" y="136"/>
                </a:lnTo>
                <a:lnTo>
                  <a:pt x="1323" y="1969"/>
                </a:lnTo>
                <a:lnTo>
                  <a:pt x="0" y="1832"/>
                </a:lnTo>
                <a:lnTo>
                  <a:pt x="189" y="0"/>
                </a:lnTo>
                <a:close/>
              </a:path>
            </a:pathLst>
          </a:custGeom>
          <a:noFill/>
          <a:ln w="4763">
            <a:solidFill>
              <a:schemeClr val="bg2"/>
            </a:solidFill>
            <a:prstDash val="solid"/>
            <a:round/>
            <a:headEnd/>
            <a:tailEnd/>
          </a:ln>
        </p:spPr>
        <p:txBody>
          <a:bodyPr/>
          <a:lstStyle/>
          <a:p>
            <a:endParaRPr lang="en-GB"/>
          </a:p>
        </p:txBody>
      </p:sp>
      <p:sp>
        <p:nvSpPr>
          <p:cNvPr id="174196" name="Freeform 116"/>
          <p:cNvSpPr>
            <a:spLocks/>
          </p:cNvSpPr>
          <p:nvPr/>
        </p:nvSpPr>
        <p:spPr bwMode="auto">
          <a:xfrm>
            <a:off x="6891337" y="3357563"/>
            <a:ext cx="452438" cy="606425"/>
          </a:xfrm>
          <a:custGeom>
            <a:avLst/>
            <a:gdLst/>
            <a:ahLst/>
            <a:cxnLst>
              <a:cxn ang="0">
                <a:pos x="100" y="0"/>
              </a:cxn>
              <a:cxn ang="0">
                <a:pos x="1428" y="72"/>
              </a:cxn>
              <a:cxn ang="0">
                <a:pos x="1328" y="1911"/>
              </a:cxn>
              <a:cxn ang="0">
                <a:pos x="0" y="1839"/>
              </a:cxn>
              <a:cxn ang="0">
                <a:pos x="100" y="0"/>
              </a:cxn>
            </a:cxnLst>
            <a:rect l="0" t="0" r="r" b="b"/>
            <a:pathLst>
              <a:path w="1428" h="1911">
                <a:moveTo>
                  <a:pt x="100" y="0"/>
                </a:moveTo>
                <a:lnTo>
                  <a:pt x="1428" y="72"/>
                </a:lnTo>
                <a:lnTo>
                  <a:pt x="1328" y="1911"/>
                </a:lnTo>
                <a:lnTo>
                  <a:pt x="0" y="1839"/>
                </a:lnTo>
                <a:lnTo>
                  <a:pt x="100" y="0"/>
                </a:lnTo>
                <a:close/>
              </a:path>
            </a:pathLst>
          </a:custGeom>
          <a:solidFill>
            <a:srgbClr val="C3C3C2"/>
          </a:solidFill>
          <a:ln w="9525">
            <a:solidFill>
              <a:schemeClr val="bg2"/>
            </a:solidFill>
            <a:round/>
            <a:headEnd/>
            <a:tailEnd/>
          </a:ln>
        </p:spPr>
        <p:txBody>
          <a:bodyPr/>
          <a:lstStyle/>
          <a:p>
            <a:endParaRPr lang="en-GB"/>
          </a:p>
        </p:txBody>
      </p:sp>
      <p:sp>
        <p:nvSpPr>
          <p:cNvPr id="174197" name="Freeform 117"/>
          <p:cNvSpPr>
            <a:spLocks/>
          </p:cNvSpPr>
          <p:nvPr/>
        </p:nvSpPr>
        <p:spPr bwMode="auto">
          <a:xfrm>
            <a:off x="6891337" y="3357563"/>
            <a:ext cx="452438" cy="606425"/>
          </a:xfrm>
          <a:custGeom>
            <a:avLst/>
            <a:gdLst/>
            <a:ahLst/>
            <a:cxnLst>
              <a:cxn ang="0">
                <a:pos x="100" y="0"/>
              </a:cxn>
              <a:cxn ang="0">
                <a:pos x="1428" y="72"/>
              </a:cxn>
              <a:cxn ang="0">
                <a:pos x="1328" y="1911"/>
              </a:cxn>
              <a:cxn ang="0">
                <a:pos x="0" y="1839"/>
              </a:cxn>
              <a:cxn ang="0">
                <a:pos x="100" y="0"/>
              </a:cxn>
            </a:cxnLst>
            <a:rect l="0" t="0" r="r" b="b"/>
            <a:pathLst>
              <a:path w="1428" h="1911">
                <a:moveTo>
                  <a:pt x="100" y="0"/>
                </a:moveTo>
                <a:lnTo>
                  <a:pt x="1428" y="72"/>
                </a:lnTo>
                <a:lnTo>
                  <a:pt x="1328" y="1911"/>
                </a:lnTo>
                <a:lnTo>
                  <a:pt x="0" y="1839"/>
                </a:lnTo>
                <a:lnTo>
                  <a:pt x="100" y="0"/>
                </a:lnTo>
                <a:close/>
              </a:path>
            </a:pathLst>
          </a:custGeom>
          <a:noFill/>
          <a:ln w="4763">
            <a:solidFill>
              <a:schemeClr val="bg2"/>
            </a:solidFill>
            <a:prstDash val="solid"/>
            <a:round/>
            <a:headEnd/>
            <a:tailEnd/>
          </a:ln>
        </p:spPr>
        <p:txBody>
          <a:bodyPr/>
          <a:lstStyle/>
          <a:p>
            <a:endParaRPr lang="en-GB"/>
          </a:p>
        </p:txBody>
      </p:sp>
      <p:sp>
        <p:nvSpPr>
          <p:cNvPr id="174198" name="Rectangle 118"/>
          <p:cNvSpPr>
            <a:spLocks noChangeArrowheads="1"/>
          </p:cNvSpPr>
          <p:nvPr/>
        </p:nvSpPr>
        <p:spPr bwMode="auto">
          <a:xfrm>
            <a:off x="6913562" y="3341688"/>
            <a:ext cx="422275" cy="585787"/>
          </a:xfrm>
          <a:prstGeom prst="rect">
            <a:avLst/>
          </a:prstGeom>
          <a:solidFill>
            <a:srgbClr val="EE9B86"/>
          </a:solidFill>
          <a:ln w="9525">
            <a:solidFill>
              <a:schemeClr val="bg2"/>
            </a:solidFill>
            <a:miter lim="800000"/>
            <a:headEnd/>
            <a:tailEnd/>
          </a:ln>
        </p:spPr>
        <p:txBody>
          <a:bodyPr/>
          <a:lstStyle/>
          <a:p>
            <a:endParaRPr lang="en-GB"/>
          </a:p>
        </p:txBody>
      </p:sp>
      <p:sp>
        <p:nvSpPr>
          <p:cNvPr id="174199" name="Rectangle 119"/>
          <p:cNvSpPr>
            <a:spLocks noChangeArrowheads="1"/>
          </p:cNvSpPr>
          <p:nvPr/>
        </p:nvSpPr>
        <p:spPr bwMode="auto">
          <a:xfrm>
            <a:off x="6910387" y="3362325"/>
            <a:ext cx="422275" cy="585788"/>
          </a:xfrm>
          <a:prstGeom prst="rect">
            <a:avLst/>
          </a:prstGeom>
          <a:noFill/>
          <a:ln w="4763">
            <a:solidFill>
              <a:schemeClr val="bg2"/>
            </a:solidFill>
            <a:miter lim="800000"/>
            <a:headEnd/>
            <a:tailEnd/>
          </a:ln>
        </p:spPr>
        <p:txBody>
          <a:bodyPr/>
          <a:lstStyle/>
          <a:p>
            <a:endParaRPr lang="en-GB"/>
          </a:p>
        </p:txBody>
      </p:sp>
      <p:grpSp>
        <p:nvGrpSpPr>
          <p:cNvPr id="4" name="Group 120"/>
          <p:cNvGrpSpPr>
            <a:grpSpLocks/>
          </p:cNvGrpSpPr>
          <p:nvPr/>
        </p:nvGrpSpPr>
        <p:grpSpPr bwMode="auto">
          <a:xfrm>
            <a:off x="6961187" y="3341688"/>
            <a:ext cx="322263" cy="531812"/>
            <a:chOff x="3918" y="1440"/>
            <a:chExt cx="203" cy="335"/>
          </a:xfrm>
        </p:grpSpPr>
        <p:sp>
          <p:nvSpPr>
            <p:cNvPr id="174201" name="Freeform 121"/>
            <p:cNvSpPr>
              <a:spLocks/>
            </p:cNvSpPr>
            <p:nvPr/>
          </p:nvSpPr>
          <p:spPr bwMode="auto">
            <a:xfrm>
              <a:off x="3941" y="1454"/>
              <a:ext cx="17" cy="50"/>
            </a:xfrm>
            <a:custGeom>
              <a:avLst/>
              <a:gdLst/>
              <a:ahLst/>
              <a:cxnLst>
                <a:cxn ang="0">
                  <a:pos x="75" y="54"/>
                </a:cxn>
                <a:cxn ang="0">
                  <a:pos x="74" y="34"/>
                </a:cxn>
                <a:cxn ang="0">
                  <a:pos x="69" y="22"/>
                </a:cxn>
                <a:cxn ang="0">
                  <a:pos x="60" y="13"/>
                </a:cxn>
                <a:cxn ang="0">
                  <a:pos x="48" y="10"/>
                </a:cxn>
                <a:cxn ang="0">
                  <a:pos x="35" y="10"/>
                </a:cxn>
                <a:cxn ang="0">
                  <a:pos x="24" y="13"/>
                </a:cxn>
                <a:cxn ang="0">
                  <a:pos x="15" y="22"/>
                </a:cxn>
                <a:cxn ang="0">
                  <a:pos x="10" y="34"/>
                </a:cxn>
                <a:cxn ang="0">
                  <a:pos x="9" y="221"/>
                </a:cxn>
                <a:cxn ang="0">
                  <a:pos x="12" y="232"/>
                </a:cxn>
                <a:cxn ang="0">
                  <a:pos x="18" y="240"/>
                </a:cxn>
                <a:cxn ang="0">
                  <a:pos x="25" y="244"/>
                </a:cxn>
                <a:cxn ang="0">
                  <a:pos x="34" y="245"/>
                </a:cxn>
                <a:cxn ang="0">
                  <a:pos x="43" y="243"/>
                </a:cxn>
                <a:cxn ang="0">
                  <a:pos x="50" y="238"/>
                </a:cxn>
                <a:cxn ang="0">
                  <a:pos x="55" y="231"/>
                </a:cxn>
                <a:cxn ang="0">
                  <a:pos x="58" y="221"/>
                </a:cxn>
                <a:cxn ang="0">
                  <a:pos x="68" y="100"/>
                </a:cxn>
                <a:cxn ang="0">
                  <a:pos x="66" y="228"/>
                </a:cxn>
                <a:cxn ang="0">
                  <a:pos x="62" y="241"/>
                </a:cxn>
                <a:cxn ang="0">
                  <a:pos x="53" y="248"/>
                </a:cxn>
                <a:cxn ang="0">
                  <a:pos x="41" y="253"/>
                </a:cxn>
                <a:cxn ang="0">
                  <a:pos x="29" y="253"/>
                </a:cxn>
                <a:cxn ang="0">
                  <a:pos x="16" y="248"/>
                </a:cxn>
                <a:cxn ang="0">
                  <a:pos x="6" y="241"/>
                </a:cxn>
                <a:cxn ang="0">
                  <a:pos x="1" y="228"/>
                </a:cxn>
                <a:cxn ang="0">
                  <a:pos x="0" y="41"/>
                </a:cxn>
                <a:cxn ang="0">
                  <a:pos x="4" y="23"/>
                </a:cxn>
                <a:cxn ang="0">
                  <a:pos x="13" y="11"/>
                </a:cxn>
                <a:cxn ang="0">
                  <a:pos x="28" y="2"/>
                </a:cxn>
                <a:cxn ang="0">
                  <a:pos x="43" y="0"/>
                </a:cxn>
                <a:cxn ang="0">
                  <a:pos x="59" y="2"/>
                </a:cxn>
                <a:cxn ang="0">
                  <a:pos x="72" y="10"/>
                </a:cxn>
                <a:cxn ang="0">
                  <a:pos x="82" y="23"/>
                </a:cxn>
                <a:cxn ang="0">
                  <a:pos x="85" y="42"/>
                </a:cxn>
              </a:cxnLst>
              <a:rect l="0" t="0" r="r" b="b"/>
              <a:pathLst>
                <a:path w="85" h="253">
                  <a:moveTo>
                    <a:pt x="85" y="55"/>
                  </a:moveTo>
                  <a:lnTo>
                    <a:pt x="75" y="54"/>
                  </a:lnTo>
                  <a:lnTo>
                    <a:pt x="75" y="42"/>
                  </a:lnTo>
                  <a:lnTo>
                    <a:pt x="74" y="34"/>
                  </a:lnTo>
                  <a:lnTo>
                    <a:pt x="72" y="28"/>
                  </a:lnTo>
                  <a:lnTo>
                    <a:pt x="69" y="22"/>
                  </a:lnTo>
                  <a:lnTo>
                    <a:pt x="64" y="18"/>
                  </a:lnTo>
                  <a:lnTo>
                    <a:pt x="60" y="13"/>
                  </a:lnTo>
                  <a:lnTo>
                    <a:pt x="54" y="11"/>
                  </a:lnTo>
                  <a:lnTo>
                    <a:pt x="48" y="10"/>
                  </a:lnTo>
                  <a:lnTo>
                    <a:pt x="42" y="9"/>
                  </a:lnTo>
                  <a:lnTo>
                    <a:pt x="35" y="10"/>
                  </a:lnTo>
                  <a:lnTo>
                    <a:pt x="30" y="11"/>
                  </a:lnTo>
                  <a:lnTo>
                    <a:pt x="24" y="13"/>
                  </a:lnTo>
                  <a:lnTo>
                    <a:pt x="19" y="18"/>
                  </a:lnTo>
                  <a:lnTo>
                    <a:pt x="15" y="22"/>
                  </a:lnTo>
                  <a:lnTo>
                    <a:pt x="12" y="28"/>
                  </a:lnTo>
                  <a:lnTo>
                    <a:pt x="10" y="34"/>
                  </a:lnTo>
                  <a:lnTo>
                    <a:pt x="9" y="42"/>
                  </a:lnTo>
                  <a:lnTo>
                    <a:pt x="9" y="221"/>
                  </a:lnTo>
                  <a:lnTo>
                    <a:pt x="10" y="226"/>
                  </a:lnTo>
                  <a:lnTo>
                    <a:pt x="12" y="232"/>
                  </a:lnTo>
                  <a:lnTo>
                    <a:pt x="14" y="236"/>
                  </a:lnTo>
                  <a:lnTo>
                    <a:pt x="18" y="240"/>
                  </a:lnTo>
                  <a:lnTo>
                    <a:pt x="22" y="242"/>
                  </a:lnTo>
                  <a:lnTo>
                    <a:pt x="25" y="244"/>
                  </a:lnTo>
                  <a:lnTo>
                    <a:pt x="30" y="245"/>
                  </a:lnTo>
                  <a:lnTo>
                    <a:pt x="34" y="245"/>
                  </a:lnTo>
                  <a:lnTo>
                    <a:pt x="39" y="244"/>
                  </a:lnTo>
                  <a:lnTo>
                    <a:pt x="43" y="243"/>
                  </a:lnTo>
                  <a:lnTo>
                    <a:pt x="46" y="241"/>
                  </a:lnTo>
                  <a:lnTo>
                    <a:pt x="50" y="238"/>
                  </a:lnTo>
                  <a:lnTo>
                    <a:pt x="53" y="235"/>
                  </a:lnTo>
                  <a:lnTo>
                    <a:pt x="55" y="231"/>
                  </a:lnTo>
                  <a:lnTo>
                    <a:pt x="58" y="226"/>
                  </a:lnTo>
                  <a:lnTo>
                    <a:pt x="58" y="221"/>
                  </a:lnTo>
                  <a:lnTo>
                    <a:pt x="58" y="100"/>
                  </a:lnTo>
                  <a:lnTo>
                    <a:pt x="68" y="100"/>
                  </a:lnTo>
                  <a:lnTo>
                    <a:pt x="68" y="221"/>
                  </a:lnTo>
                  <a:lnTo>
                    <a:pt x="66" y="228"/>
                  </a:lnTo>
                  <a:lnTo>
                    <a:pt x="65" y="235"/>
                  </a:lnTo>
                  <a:lnTo>
                    <a:pt x="62" y="241"/>
                  </a:lnTo>
                  <a:lnTo>
                    <a:pt x="58" y="245"/>
                  </a:lnTo>
                  <a:lnTo>
                    <a:pt x="53" y="248"/>
                  </a:lnTo>
                  <a:lnTo>
                    <a:pt x="46" y="252"/>
                  </a:lnTo>
                  <a:lnTo>
                    <a:pt x="41" y="253"/>
                  </a:lnTo>
                  <a:lnTo>
                    <a:pt x="34" y="253"/>
                  </a:lnTo>
                  <a:lnTo>
                    <a:pt x="29" y="253"/>
                  </a:lnTo>
                  <a:lnTo>
                    <a:pt x="22" y="251"/>
                  </a:lnTo>
                  <a:lnTo>
                    <a:pt x="16" y="248"/>
                  </a:lnTo>
                  <a:lnTo>
                    <a:pt x="11" y="245"/>
                  </a:lnTo>
                  <a:lnTo>
                    <a:pt x="6" y="241"/>
                  </a:lnTo>
                  <a:lnTo>
                    <a:pt x="3" y="235"/>
                  </a:lnTo>
                  <a:lnTo>
                    <a:pt x="1" y="228"/>
                  </a:lnTo>
                  <a:lnTo>
                    <a:pt x="0" y="221"/>
                  </a:lnTo>
                  <a:lnTo>
                    <a:pt x="0" y="41"/>
                  </a:lnTo>
                  <a:lnTo>
                    <a:pt x="1" y="32"/>
                  </a:lnTo>
                  <a:lnTo>
                    <a:pt x="4" y="23"/>
                  </a:lnTo>
                  <a:lnTo>
                    <a:pt x="8" y="16"/>
                  </a:lnTo>
                  <a:lnTo>
                    <a:pt x="13" y="11"/>
                  </a:lnTo>
                  <a:lnTo>
                    <a:pt x="20" y="5"/>
                  </a:lnTo>
                  <a:lnTo>
                    <a:pt x="28" y="2"/>
                  </a:lnTo>
                  <a:lnTo>
                    <a:pt x="35" y="0"/>
                  </a:lnTo>
                  <a:lnTo>
                    <a:pt x="43" y="0"/>
                  </a:lnTo>
                  <a:lnTo>
                    <a:pt x="51" y="0"/>
                  </a:lnTo>
                  <a:lnTo>
                    <a:pt x="59" y="2"/>
                  </a:lnTo>
                  <a:lnTo>
                    <a:pt x="65" y="5"/>
                  </a:lnTo>
                  <a:lnTo>
                    <a:pt x="72" y="10"/>
                  </a:lnTo>
                  <a:lnTo>
                    <a:pt x="78" y="15"/>
                  </a:lnTo>
                  <a:lnTo>
                    <a:pt x="82" y="23"/>
                  </a:lnTo>
                  <a:lnTo>
                    <a:pt x="84" y="32"/>
                  </a:lnTo>
                  <a:lnTo>
                    <a:pt x="85" y="42"/>
                  </a:lnTo>
                  <a:lnTo>
                    <a:pt x="85" y="55"/>
                  </a:lnTo>
                  <a:close/>
                </a:path>
              </a:pathLst>
            </a:custGeom>
            <a:solidFill>
              <a:srgbClr val="C3C3C2"/>
            </a:solidFill>
            <a:ln w="9525">
              <a:solidFill>
                <a:schemeClr val="bg2"/>
              </a:solidFill>
              <a:round/>
              <a:headEnd/>
              <a:tailEnd/>
            </a:ln>
          </p:spPr>
          <p:txBody>
            <a:bodyPr/>
            <a:lstStyle/>
            <a:p>
              <a:endParaRPr lang="en-GB"/>
            </a:p>
          </p:txBody>
        </p:sp>
        <p:sp>
          <p:nvSpPr>
            <p:cNvPr id="174202" name="Freeform 122"/>
            <p:cNvSpPr>
              <a:spLocks/>
            </p:cNvSpPr>
            <p:nvPr/>
          </p:nvSpPr>
          <p:spPr bwMode="auto">
            <a:xfrm>
              <a:off x="3941" y="1454"/>
              <a:ext cx="17" cy="50"/>
            </a:xfrm>
            <a:custGeom>
              <a:avLst/>
              <a:gdLst/>
              <a:ahLst/>
              <a:cxnLst>
                <a:cxn ang="0">
                  <a:pos x="75" y="54"/>
                </a:cxn>
                <a:cxn ang="0">
                  <a:pos x="74" y="34"/>
                </a:cxn>
                <a:cxn ang="0">
                  <a:pos x="69" y="22"/>
                </a:cxn>
                <a:cxn ang="0">
                  <a:pos x="60" y="13"/>
                </a:cxn>
                <a:cxn ang="0">
                  <a:pos x="48" y="10"/>
                </a:cxn>
                <a:cxn ang="0">
                  <a:pos x="35" y="10"/>
                </a:cxn>
                <a:cxn ang="0">
                  <a:pos x="24" y="13"/>
                </a:cxn>
                <a:cxn ang="0">
                  <a:pos x="15" y="22"/>
                </a:cxn>
                <a:cxn ang="0">
                  <a:pos x="10" y="34"/>
                </a:cxn>
                <a:cxn ang="0">
                  <a:pos x="9" y="221"/>
                </a:cxn>
                <a:cxn ang="0">
                  <a:pos x="12" y="232"/>
                </a:cxn>
                <a:cxn ang="0">
                  <a:pos x="18" y="240"/>
                </a:cxn>
                <a:cxn ang="0">
                  <a:pos x="25" y="244"/>
                </a:cxn>
                <a:cxn ang="0">
                  <a:pos x="34" y="245"/>
                </a:cxn>
                <a:cxn ang="0">
                  <a:pos x="43" y="243"/>
                </a:cxn>
                <a:cxn ang="0">
                  <a:pos x="50" y="238"/>
                </a:cxn>
                <a:cxn ang="0">
                  <a:pos x="55" y="231"/>
                </a:cxn>
                <a:cxn ang="0">
                  <a:pos x="58" y="221"/>
                </a:cxn>
                <a:cxn ang="0">
                  <a:pos x="68" y="100"/>
                </a:cxn>
                <a:cxn ang="0">
                  <a:pos x="66" y="228"/>
                </a:cxn>
                <a:cxn ang="0">
                  <a:pos x="62" y="241"/>
                </a:cxn>
                <a:cxn ang="0">
                  <a:pos x="53" y="248"/>
                </a:cxn>
                <a:cxn ang="0">
                  <a:pos x="41" y="253"/>
                </a:cxn>
                <a:cxn ang="0">
                  <a:pos x="29" y="253"/>
                </a:cxn>
                <a:cxn ang="0">
                  <a:pos x="16" y="248"/>
                </a:cxn>
                <a:cxn ang="0">
                  <a:pos x="6" y="241"/>
                </a:cxn>
                <a:cxn ang="0">
                  <a:pos x="1" y="228"/>
                </a:cxn>
                <a:cxn ang="0">
                  <a:pos x="0" y="41"/>
                </a:cxn>
                <a:cxn ang="0">
                  <a:pos x="4" y="23"/>
                </a:cxn>
                <a:cxn ang="0">
                  <a:pos x="13" y="11"/>
                </a:cxn>
                <a:cxn ang="0">
                  <a:pos x="28" y="2"/>
                </a:cxn>
                <a:cxn ang="0">
                  <a:pos x="43" y="0"/>
                </a:cxn>
                <a:cxn ang="0">
                  <a:pos x="59" y="2"/>
                </a:cxn>
                <a:cxn ang="0">
                  <a:pos x="72" y="10"/>
                </a:cxn>
                <a:cxn ang="0">
                  <a:pos x="82" y="23"/>
                </a:cxn>
                <a:cxn ang="0">
                  <a:pos x="85" y="42"/>
                </a:cxn>
              </a:cxnLst>
              <a:rect l="0" t="0" r="r" b="b"/>
              <a:pathLst>
                <a:path w="85" h="253">
                  <a:moveTo>
                    <a:pt x="85" y="55"/>
                  </a:moveTo>
                  <a:lnTo>
                    <a:pt x="75" y="54"/>
                  </a:lnTo>
                  <a:lnTo>
                    <a:pt x="75" y="42"/>
                  </a:lnTo>
                  <a:lnTo>
                    <a:pt x="74" y="34"/>
                  </a:lnTo>
                  <a:lnTo>
                    <a:pt x="72" y="28"/>
                  </a:lnTo>
                  <a:lnTo>
                    <a:pt x="69" y="22"/>
                  </a:lnTo>
                  <a:lnTo>
                    <a:pt x="64" y="18"/>
                  </a:lnTo>
                  <a:lnTo>
                    <a:pt x="60" y="13"/>
                  </a:lnTo>
                  <a:lnTo>
                    <a:pt x="54" y="11"/>
                  </a:lnTo>
                  <a:lnTo>
                    <a:pt x="48" y="10"/>
                  </a:lnTo>
                  <a:lnTo>
                    <a:pt x="42" y="9"/>
                  </a:lnTo>
                  <a:lnTo>
                    <a:pt x="35" y="10"/>
                  </a:lnTo>
                  <a:lnTo>
                    <a:pt x="30" y="11"/>
                  </a:lnTo>
                  <a:lnTo>
                    <a:pt x="24" y="13"/>
                  </a:lnTo>
                  <a:lnTo>
                    <a:pt x="19" y="18"/>
                  </a:lnTo>
                  <a:lnTo>
                    <a:pt x="15" y="22"/>
                  </a:lnTo>
                  <a:lnTo>
                    <a:pt x="12" y="28"/>
                  </a:lnTo>
                  <a:lnTo>
                    <a:pt x="10" y="34"/>
                  </a:lnTo>
                  <a:lnTo>
                    <a:pt x="9" y="42"/>
                  </a:lnTo>
                  <a:lnTo>
                    <a:pt x="9" y="221"/>
                  </a:lnTo>
                  <a:lnTo>
                    <a:pt x="10" y="226"/>
                  </a:lnTo>
                  <a:lnTo>
                    <a:pt x="12" y="232"/>
                  </a:lnTo>
                  <a:lnTo>
                    <a:pt x="14" y="236"/>
                  </a:lnTo>
                  <a:lnTo>
                    <a:pt x="18" y="240"/>
                  </a:lnTo>
                  <a:lnTo>
                    <a:pt x="22" y="242"/>
                  </a:lnTo>
                  <a:lnTo>
                    <a:pt x="25" y="244"/>
                  </a:lnTo>
                  <a:lnTo>
                    <a:pt x="30" y="245"/>
                  </a:lnTo>
                  <a:lnTo>
                    <a:pt x="34" y="245"/>
                  </a:lnTo>
                  <a:lnTo>
                    <a:pt x="39" y="244"/>
                  </a:lnTo>
                  <a:lnTo>
                    <a:pt x="43" y="243"/>
                  </a:lnTo>
                  <a:lnTo>
                    <a:pt x="46" y="241"/>
                  </a:lnTo>
                  <a:lnTo>
                    <a:pt x="50" y="238"/>
                  </a:lnTo>
                  <a:lnTo>
                    <a:pt x="53" y="235"/>
                  </a:lnTo>
                  <a:lnTo>
                    <a:pt x="55" y="231"/>
                  </a:lnTo>
                  <a:lnTo>
                    <a:pt x="58" y="226"/>
                  </a:lnTo>
                  <a:lnTo>
                    <a:pt x="58" y="221"/>
                  </a:lnTo>
                  <a:lnTo>
                    <a:pt x="58" y="100"/>
                  </a:lnTo>
                  <a:lnTo>
                    <a:pt x="68" y="100"/>
                  </a:lnTo>
                  <a:lnTo>
                    <a:pt x="68" y="221"/>
                  </a:lnTo>
                  <a:lnTo>
                    <a:pt x="66" y="228"/>
                  </a:lnTo>
                  <a:lnTo>
                    <a:pt x="65" y="235"/>
                  </a:lnTo>
                  <a:lnTo>
                    <a:pt x="62" y="241"/>
                  </a:lnTo>
                  <a:lnTo>
                    <a:pt x="58" y="245"/>
                  </a:lnTo>
                  <a:lnTo>
                    <a:pt x="53" y="248"/>
                  </a:lnTo>
                  <a:lnTo>
                    <a:pt x="46" y="252"/>
                  </a:lnTo>
                  <a:lnTo>
                    <a:pt x="41" y="253"/>
                  </a:lnTo>
                  <a:lnTo>
                    <a:pt x="34" y="253"/>
                  </a:lnTo>
                  <a:lnTo>
                    <a:pt x="29" y="253"/>
                  </a:lnTo>
                  <a:lnTo>
                    <a:pt x="22" y="251"/>
                  </a:lnTo>
                  <a:lnTo>
                    <a:pt x="16" y="248"/>
                  </a:lnTo>
                  <a:lnTo>
                    <a:pt x="11" y="245"/>
                  </a:lnTo>
                  <a:lnTo>
                    <a:pt x="6" y="241"/>
                  </a:lnTo>
                  <a:lnTo>
                    <a:pt x="3" y="235"/>
                  </a:lnTo>
                  <a:lnTo>
                    <a:pt x="1" y="228"/>
                  </a:lnTo>
                  <a:lnTo>
                    <a:pt x="0" y="221"/>
                  </a:lnTo>
                  <a:lnTo>
                    <a:pt x="0" y="41"/>
                  </a:lnTo>
                  <a:lnTo>
                    <a:pt x="1" y="32"/>
                  </a:lnTo>
                  <a:lnTo>
                    <a:pt x="4" y="23"/>
                  </a:lnTo>
                  <a:lnTo>
                    <a:pt x="8" y="16"/>
                  </a:lnTo>
                  <a:lnTo>
                    <a:pt x="13" y="11"/>
                  </a:lnTo>
                  <a:lnTo>
                    <a:pt x="20" y="5"/>
                  </a:lnTo>
                  <a:lnTo>
                    <a:pt x="28" y="2"/>
                  </a:lnTo>
                  <a:lnTo>
                    <a:pt x="35" y="0"/>
                  </a:lnTo>
                  <a:lnTo>
                    <a:pt x="43" y="0"/>
                  </a:lnTo>
                  <a:lnTo>
                    <a:pt x="51" y="0"/>
                  </a:lnTo>
                  <a:lnTo>
                    <a:pt x="59" y="2"/>
                  </a:lnTo>
                  <a:lnTo>
                    <a:pt x="65" y="5"/>
                  </a:lnTo>
                  <a:lnTo>
                    <a:pt x="72" y="10"/>
                  </a:lnTo>
                  <a:lnTo>
                    <a:pt x="78" y="15"/>
                  </a:lnTo>
                  <a:lnTo>
                    <a:pt x="82" y="23"/>
                  </a:lnTo>
                  <a:lnTo>
                    <a:pt x="84" y="32"/>
                  </a:lnTo>
                  <a:lnTo>
                    <a:pt x="85" y="42"/>
                  </a:lnTo>
                  <a:lnTo>
                    <a:pt x="85" y="55"/>
                  </a:lnTo>
                  <a:close/>
                </a:path>
              </a:pathLst>
            </a:custGeom>
            <a:noFill/>
            <a:ln w="4763">
              <a:solidFill>
                <a:schemeClr val="bg2"/>
              </a:solidFill>
              <a:prstDash val="solid"/>
              <a:round/>
              <a:headEnd/>
              <a:tailEnd/>
            </a:ln>
          </p:spPr>
          <p:txBody>
            <a:bodyPr/>
            <a:lstStyle/>
            <a:p>
              <a:endParaRPr lang="en-GB"/>
            </a:p>
          </p:txBody>
        </p:sp>
        <p:sp>
          <p:nvSpPr>
            <p:cNvPr id="174203" name="Freeform 123"/>
            <p:cNvSpPr>
              <a:spLocks/>
            </p:cNvSpPr>
            <p:nvPr/>
          </p:nvSpPr>
          <p:spPr bwMode="auto">
            <a:xfrm>
              <a:off x="3941" y="1455"/>
              <a:ext cx="16" cy="48"/>
            </a:xfrm>
            <a:custGeom>
              <a:avLst/>
              <a:gdLst/>
              <a:ahLst/>
              <a:cxnLst>
                <a:cxn ang="0">
                  <a:pos x="77" y="48"/>
                </a:cxn>
                <a:cxn ang="0">
                  <a:pos x="77" y="37"/>
                </a:cxn>
                <a:cxn ang="0">
                  <a:pos x="76" y="28"/>
                </a:cxn>
                <a:cxn ang="0">
                  <a:pos x="73" y="20"/>
                </a:cxn>
                <a:cxn ang="0">
                  <a:pos x="69" y="14"/>
                </a:cxn>
                <a:cxn ang="0">
                  <a:pos x="65" y="9"/>
                </a:cxn>
                <a:cxn ang="0">
                  <a:pos x="58" y="5"/>
                </a:cxn>
                <a:cxn ang="0">
                  <a:pos x="52" y="2"/>
                </a:cxn>
                <a:cxn ang="0">
                  <a:pos x="45" y="1"/>
                </a:cxn>
                <a:cxn ang="0">
                  <a:pos x="38" y="0"/>
                </a:cxn>
                <a:cxn ang="0">
                  <a:pos x="31" y="1"/>
                </a:cxn>
                <a:cxn ang="0">
                  <a:pos x="25" y="4"/>
                </a:cxn>
                <a:cxn ang="0">
                  <a:pos x="18" y="7"/>
                </a:cxn>
                <a:cxn ang="0">
                  <a:pos x="12" y="10"/>
                </a:cxn>
                <a:cxn ang="0">
                  <a:pos x="8" y="16"/>
                </a:cxn>
                <a:cxn ang="0">
                  <a:pos x="3" y="21"/>
                </a:cxn>
                <a:cxn ang="0">
                  <a:pos x="1" y="28"/>
                </a:cxn>
                <a:cxn ang="0">
                  <a:pos x="0" y="36"/>
                </a:cxn>
                <a:cxn ang="0">
                  <a:pos x="0" y="218"/>
                </a:cxn>
                <a:cxn ang="0">
                  <a:pos x="1" y="223"/>
                </a:cxn>
                <a:cxn ang="0">
                  <a:pos x="3" y="229"/>
                </a:cxn>
                <a:cxn ang="0">
                  <a:pos x="6" y="234"/>
                </a:cxn>
                <a:cxn ang="0">
                  <a:pos x="10" y="238"/>
                </a:cxn>
                <a:cxn ang="0">
                  <a:pos x="13" y="241"/>
                </a:cxn>
                <a:cxn ang="0">
                  <a:pos x="19" y="243"/>
                </a:cxn>
                <a:cxn ang="0">
                  <a:pos x="25" y="244"/>
                </a:cxn>
                <a:cxn ang="0">
                  <a:pos x="30" y="244"/>
                </a:cxn>
                <a:cxn ang="0">
                  <a:pos x="35" y="244"/>
                </a:cxn>
                <a:cxn ang="0">
                  <a:pos x="40" y="243"/>
                </a:cxn>
                <a:cxn ang="0">
                  <a:pos x="46" y="241"/>
                </a:cxn>
                <a:cxn ang="0">
                  <a:pos x="50" y="238"/>
                </a:cxn>
                <a:cxn ang="0">
                  <a:pos x="53" y="233"/>
                </a:cxn>
                <a:cxn ang="0">
                  <a:pos x="56" y="229"/>
                </a:cxn>
                <a:cxn ang="0">
                  <a:pos x="58" y="223"/>
                </a:cxn>
                <a:cxn ang="0">
                  <a:pos x="59" y="218"/>
                </a:cxn>
                <a:cxn ang="0">
                  <a:pos x="59" y="98"/>
                </a:cxn>
              </a:cxnLst>
              <a:rect l="0" t="0" r="r" b="b"/>
              <a:pathLst>
                <a:path w="77" h="244">
                  <a:moveTo>
                    <a:pt x="77" y="48"/>
                  </a:moveTo>
                  <a:lnTo>
                    <a:pt x="77" y="37"/>
                  </a:lnTo>
                  <a:lnTo>
                    <a:pt x="76" y="28"/>
                  </a:lnTo>
                  <a:lnTo>
                    <a:pt x="73" y="20"/>
                  </a:lnTo>
                  <a:lnTo>
                    <a:pt x="69" y="14"/>
                  </a:lnTo>
                  <a:lnTo>
                    <a:pt x="65" y="9"/>
                  </a:lnTo>
                  <a:lnTo>
                    <a:pt x="58" y="5"/>
                  </a:lnTo>
                  <a:lnTo>
                    <a:pt x="52" y="2"/>
                  </a:lnTo>
                  <a:lnTo>
                    <a:pt x="45" y="1"/>
                  </a:lnTo>
                  <a:lnTo>
                    <a:pt x="38" y="0"/>
                  </a:lnTo>
                  <a:lnTo>
                    <a:pt x="31" y="1"/>
                  </a:lnTo>
                  <a:lnTo>
                    <a:pt x="25" y="4"/>
                  </a:lnTo>
                  <a:lnTo>
                    <a:pt x="18" y="7"/>
                  </a:lnTo>
                  <a:lnTo>
                    <a:pt x="12" y="10"/>
                  </a:lnTo>
                  <a:lnTo>
                    <a:pt x="8" y="16"/>
                  </a:lnTo>
                  <a:lnTo>
                    <a:pt x="3" y="21"/>
                  </a:lnTo>
                  <a:lnTo>
                    <a:pt x="1" y="28"/>
                  </a:lnTo>
                  <a:lnTo>
                    <a:pt x="0" y="36"/>
                  </a:lnTo>
                  <a:lnTo>
                    <a:pt x="0" y="218"/>
                  </a:lnTo>
                  <a:lnTo>
                    <a:pt x="1" y="223"/>
                  </a:lnTo>
                  <a:lnTo>
                    <a:pt x="3" y="229"/>
                  </a:lnTo>
                  <a:lnTo>
                    <a:pt x="6" y="234"/>
                  </a:lnTo>
                  <a:lnTo>
                    <a:pt x="10" y="238"/>
                  </a:lnTo>
                  <a:lnTo>
                    <a:pt x="13" y="241"/>
                  </a:lnTo>
                  <a:lnTo>
                    <a:pt x="19" y="243"/>
                  </a:lnTo>
                  <a:lnTo>
                    <a:pt x="25" y="244"/>
                  </a:lnTo>
                  <a:lnTo>
                    <a:pt x="30" y="244"/>
                  </a:lnTo>
                  <a:lnTo>
                    <a:pt x="35" y="244"/>
                  </a:lnTo>
                  <a:lnTo>
                    <a:pt x="40" y="243"/>
                  </a:lnTo>
                  <a:lnTo>
                    <a:pt x="46" y="241"/>
                  </a:lnTo>
                  <a:lnTo>
                    <a:pt x="50" y="238"/>
                  </a:lnTo>
                  <a:lnTo>
                    <a:pt x="53" y="233"/>
                  </a:lnTo>
                  <a:lnTo>
                    <a:pt x="56" y="229"/>
                  </a:lnTo>
                  <a:lnTo>
                    <a:pt x="58" y="223"/>
                  </a:lnTo>
                  <a:lnTo>
                    <a:pt x="59" y="218"/>
                  </a:lnTo>
                  <a:lnTo>
                    <a:pt x="59" y="98"/>
                  </a:lnTo>
                </a:path>
              </a:pathLst>
            </a:custGeom>
            <a:noFill/>
            <a:ln w="0">
              <a:solidFill>
                <a:schemeClr val="bg2"/>
              </a:solidFill>
              <a:prstDash val="solid"/>
              <a:round/>
              <a:headEnd/>
              <a:tailEnd/>
            </a:ln>
          </p:spPr>
          <p:txBody>
            <a:bodyPr/>
            <a:lstStyle/>
            <a:p>
              <a:endParaRPr lang="en-GB"/>
            </a:p>
          </p:txBody>
        </p:sp>
        <p:sp>
          <p:nvSpPr>
            <p:cNvPr id="174204" name="Freeform 124"/>
            <p:cNvSpPr>
              <a:spLocks/>
            </p:cNvSpPr>
            <p:nvPr/>
          </p:nvSpPr>
          <p:spPr bwMode="auto">
            <a:xfrm>
              <a:off x="3931" y="1440"/>
              <a:ext cx="17" cy="51"/>
            </a:xfrm>
            <a:custGeom>
              <a:avLst/>
              <a:gdLst/>
              <a:ahLst/>
              <a:cxnLst>
                <a:cxn ang="0">
                  <a:pos x="76" y="55"/>
                </a:cxn>
                <a:cxn ang="0">
                  <a:pos x="75" y="34"/>
                </a:cxn>
                <a:cxn ang="0">
                  <a:pos x="69" y="22"/>
                </a:cxn>
                <a:cxn ang="0">
                  <a:pos x="59" y="14"/>
                </a:cxn>
                <a:cxn ang="0">
                  <a:pos x="48" y="10"/>
                </a:cxn>
                <a:cxn ang="0">
                  <a:pos x="36" y="10"/>
                </a:cxn>
                <a:cxn ang="0">
                  <a:pos x="24" y="14"/>
                </a:cxn>
                <a:cxn ang="0">
                  <a:pos x="15" y="22"/>
                </a:cxn>
                <a:cxn ang="0">
                  <a:pos x="9" y="34"/>
                </a:cxn>
                <a:cxn ang="0">
                  <a:pos x="9" y="221"/>
                </a:cxn>
                <a:cxn ang="0">
                  <a:pos x="11" y="232"/>
                </a:cxn>
                <a:cxn ang="0">
                  <a:pos x="17" y="240"/>
                </a:cxn>
                <a:cxn ang="0">
                  <a:pos x="25" y="244"/>
                </a:cxn>
                <a:cxn ang="0">
                  <a:pos x="34" y="245"/>
                </a:cxn>
                <a:cxn ang="0">
                  <a:pos x="42" y="244"/>
                </a:cxn>
                <a:cxn ang="0">
                  <a:pos x="50" y="240"/>
                </a:cxn>
                <a:cxn ang="0">
                  <a:pos x="56" y="232"/>
                </a:cxn>
                <a:cxn ang="0">
                  <a:pos x="57" y="221"/>
                </a:cxn>
                <a:cxn ang="0">
                  <a:pos x="67" y="101"/>
                </a:cxn>
                <a:cxn ang="0">
                  <a:pos x="67" y="230"/>
                </a:cxn>
                <a:cxn ang="0">
                  <a:pos x="61" y="242"/>
                </a:cxn>
                <a:cxn ang="0">
                  <a:pos x="52" y="250"/>
                </a:cxn>
                <a:cxn ang="0">
                  <a:pos x="40" y="254"/>
                </a:cxn>
                <a:cxn ang="0">
                  <a:pos x="28" y="253"/>
                </a:cxn>
                <a:cxn ang="0">
                  <a:pos x="16" y="250"/>
                </a:cxn>
                <a:cxn ang="0">
                  <a:pos x="6" y="241"/>
                </a:cxn>
                <a:cxn ang="0">
                  <a:pos x="0" y="230"/>
                </a:cxn>
                <a:cxn ang="0">
                  <a:pos x="0" y="42"/>
                </a:cxn>
                <a:cxn ang="0">
                  <a:pos x="4" y="24"/>
                </a:cxn>
                <a:cxn ang="0">
                  <a:pos x="14" y="11"/>
                </a:cxn>
                <a:cxn ang="0">
                  <a:pos x="27" y="3"/>
                </a:cxn>
                <a:cxn ang="0">
                  <a:pos x="42" y="0"/>
                </a:cxn>
                <a:cxn ang="0">
                  <a:pos x="58" y="3"/>
                </a:cxn>
                <a:cxn ang="0">
                  <a:pos x="72" y="11"/>
                </a:cxn>
                <a:cxn ang="0">
                  <a:pos x="81" y="23"/>
                </a:cxn>
                <a:cxn ang="0">
                  <a:pos x="86" y="42"/>
                </a:cxn>
              </a:cxnLst>
              <a:rect l="0" t="0" r="r" b="b"/>
              <a:pathLst>
                <a:path w="86" h="254">
                  <a:moveTo>
                    <a:pt x="86" y="56"/>
                  </a:moveTo>
                  <a:lnTo>
                    <a:pt x="76" y="55"/>
                  </a:lnTo>
                  <a:lnTo>
                    <a:pt x="76" y="42"/>
                  </a:lnTo>
                  <a:lnTo>
                    <a:pt x="75" y="34"/>
                  </a:lnTo>
                  <a:lnTo>
                    <a:pt x="72" y="28"/>
                  </a:lnTo>
                  <a:lnTo>
                    <a:pt x="69" y="22"/>
                  </a:lnTo>
                  <a:lnTo>
                    <a:pt x="65" y="18"/>
                  </a:lnTo>
                  <a:lnTo>
                    <a:pt x="59" y="14"/>
                  </a:lnTo>
                  <a:lnTo>
                    <a:pt x="53" y="12"/>
                  </a:lnTo>
                  <a:lnTo>
                    <a:pt x="48" y="10"/>
                  </a:lnTo>
                  <a:lnTo>
                    <a:pt x="41" y="10"/>
                  </a:lnTo>
                  <a:lnTo>
                    <a:pt x="36" y="10"/>
                  </a:lnTo>
                  <a:lnTo>
                    <a:pt x="29" y="12"/>
                  </a:lnTo>
                  <a:lnTo>
                    <a:pt x="24" y="14"/>
                  </a:lnTo>
                  <a:lnTo>
                    <a:pt x="19" y="18"/>
                  </a:lnTo>
                  <a:lnTo>
                    <a:pt x="15" y="22"/>
                  </a:lnTo>
                  <a:lnTo>
                    <a:pt x="11" y="29"/>
                  </a:lnTo>
                  <a:lnTo>
                    <a:pt x="9" y="34"/>
                  </a:lnTo>
                  <a:lnTo>
                    <a:pt x="9" y="42"/>
                  </a:lnTo>
                  <a:lnTo>
                    <a:pt x="9" y="221"/>
                  </a:lnTo>
                  <a:lnTo>
                    <a:pt x="10" y="227"/>
                  </a:lnTo>
                  <a:lnTo>
                    <a:pt x="11" y="232"/>
                  </a:lnTo>
                  <a:lnTo>
                    <a:pt x="15" y="236"/>
                  </a:lnTo>
                  <a:lnTo>
                    <a:pt x="17" y="240"/>
                  </a:lnTo>
                  <a:lnTo>
                    <a:pt x="21" y="243"/>
                  </a:lnTo>
                  <a:lnTo>
                    <a:pt x="25" y="244"/>
                  </a:lnTo>
                  <a:lnTo>
                    <a:pt x="29" y="245"/>
                  </a:lnTo>
                  <a:lnTo>
                    <a:pt x="34" y="245"/>
                  </a:lnTo>
                  <a:lnTo>
                    <a:pt x="38" y="245"/>
                  </a:lnTo>
                  <a:lnTo>
                    <a:pt x="42" y="244"/>
                  </a:lnTo>
                  <a:lnTo>
                    <a:pt x="47" y="242"/>
                  </a:lnTo>
                  <a:lnTo>
                    <a:pt x="50" y="240"/>
                  </a:lnTo>
                  <a:lnTo>
                    <a:pt x="52" y="236"/>
                  </a:lnTo>
                  <a:lnTo>
                    <a:pt x="56" y="232"/>
                  </a:lnTo>
                  <a:lnTo>
                    <a:pt x="57" y="226"/>
                  </a:lnTo>
                  <a:lnTo>
                    <a:pt x="57" y="221"/>
                  </a:lnTo>
                  <a:lnTo>
                    <a:pt x="57" y="101"/>
                  </a:lnTo>
                  <a:lnTo>
                    <a:pt x="67" y="101"/>
                  </a:lnTo>
                  <a:lnTo>
                    <a:pt x="67" y="222"/>
                  </a:lnTo>
                  <a:lnTo>
                    <a:pt x="67" y="230"/>
                  </a:lnTo>
                  <a:lnTo>
                    <a:pt x="65" y="236"/>
                  </a:lnTo>
                  <a:lnTo>
                    <a:pt x="61" y="242"/>
                  </a:lnTo>
                  <a:lnTo>
                    <a:pt x="57" y="246"/>
                  </a:lnTo>
                  <a:lnTo>
                    <a:pt x="52" y="250"/>
                  </a:lnTo>
                  <a:lnTo>
                    <a:pt x="47" y="252"/>
                  </a:lnTo>
                  <a:lnTo>
                    <a:pt x="40" y="254"/>
                  </a:lnTo>
                  <a:lnTo>
                    <a:pt x="35" y="254"/>
                  </a:lnTo>
                  <a:lnTo>
                    <a:pt x="28" y="253"/>
                  </a:lnTo>
                  <a:lnTo>
                    <a:pt x="21" y="252"/>
                  </a:lnTo>
                  <a:lnTo>
                    <a:pt x="16" y="250"/>
                  </a:lnTo>
                  <a:lnTo>
                    <a:pt x="10" y="245"/>
                  </a:lnTo>
                  <a:lnTo>
                    <a:pt x="6" y="241"/>
                  </a:lnTo>
                  <a:lnTo>
                    <a:pt x="2" y="235"/>
                  </a:lnTo>
                  <a:lnTo>
                    <a:pt x="0" y="230"/>
                  </a:lnTo>
                  <a:lnTo>
                    <a:pt x="0" y="222"/>
                  </a:lnTo>
                  <a:lnTo>
                    <a:pt x="0" y="42"/>
                  </a:lnTo>
                  <a:lnTo>
                    <a:pt x="0" y="32"/>
                  </a:lnTo>
                  <a:lnTo>
                    <a:pt x="4" y="24"/>
                  </a:lnTo>
                  <a:lnTo>
                    <a:pt x="8" y="16"/>
                  </a:lnTo>
                  <a:lnTo>
                    <a:pt x="14" y="11"/>
                  </a:lnTo>
                  <a:lnTo>
                    <a:pt x="19" y="6"/>
                  </a:lnTo>
                  <a:lnTo>
                    <a:pt x="27" y="3"/>
                  </a:lnTo>
                  <a:lnTo>
                    <a:pt x="35" y="1"/>
                  </a:lnTo>
                  <a:lnTo>
                    <a:pt x="42" y="0"/>
                  </a:lnTo>
                  <a:lnTo>
                    <a:pt x="50" y="1"/>
                  </a:lnTo>
                  <a:lnTo>
                    <a:pt x="58" y="3"/>
                  </a:lnTo>
                  <a:lnTo>
                    <a:pt x="66" y="5"/>
                  </a:lnTo>
                  <a:lnTo>
                    <a:pt x="72" y="11"/>
                  </a:lnTo>
                  <a:lnTo>
                    <a:pt x="77" y="16"/>
                  </a:lnTo>
                  <a:lnTo>
                    <a:pt x="81" y="23"/>
                  </a:lnTo>
                  <a:lnTo>
                    <a:pt x="85" y="32"/>
                  </a:lnTo>
                  <a:lnTo>
                    <a:pt x="86" y="42"/>
                  </a:lnTo>
                  <a:lnTo>
                    <a:pt x="86" y="56"/>
                  </a:lnTo>
                  <a:close/>
                </a:path>
              </a:pathLst>
            </a:custGeom>
            <a:solidFill>
              <a:srgbClr val="DFDFDE"/>
            </a:solidFill>
            <a:ln w="9525">
              <a:solidFill>
                <a:schemeClr val="bg2"/>
              </a:solidFill>
              <a:round/>
              <a:headEnd/>
              <a:tailEnd/>
            </a:ln>
          </p:spPr>
          <p:txBody>
            <a:bodyPr/>
            <a:lstStyle/>
            <a:p>
              <a:endParaRPr lang="en-GB"/>
            </a:p>
          </p:txBody>
        </p:sp>
        <p:sp>
          <p:nvSpPr>
            <p:cNvPr id="174205" name="Freeform 125"/>
            <p:cNvSpPr>
              <a:spLocks/>
            </p:cNvSpPr>
            <p:nvPr/>
          </p:nvSpPr>
          <p:spPr bwMode="auto">
            <a:xfrm>
              <a:off x="3931" y="1440"/>
              <a:ext cx="17" cy="51"/>
            </a:xfrm>
            <a:custGeom>
              <a:avLst/>
              <a:gdLst/>
              <a:ahLst/>
              <a:cxnLst>
                <a:cxn ang="0">
                  <a:pos x="76" y="55"/>
                </a:cxn>
                <a:cxn ang="0">
                  <a:pos x="75" y="34"/>
                </a:cxn>
                <a:cxn ang="0">
                  <a:pos x="69" y="22"/>
                </a:cxn>
                <a:cxn ang="0">
                  <a:pos x="59" y="14"/>
                </a:cxn>
                <a:cxn ang="0">
                  <a:pos x="48" y="10"/>
                </a:cxn>
                <a:cxn ang="0">
                  <a:pos x="36" y="10"/>
                </a:cxn>
                <a:cxn ang="0">
                  <a:pos x="24" y="14"/>
                </a:cxn>
                <a:cxn ang="0">
                  <a:pos x="15" y="22"/>
                </a:cxn>
                <a:cxn ang="0">
                  <a:pos x="9" y="34"/>
                </a:cxn>
                <a:cxn ang="0">
                  <a:pos x="9" y="221"/>
                </a:cxn>
                <a:cxn ang="0">
                  <a:pos x="11" y="232"/>
                </a:cxn>
                <a:cxn ang="0">
                  <a:pos x="17" y="240"/>
                </a:cxn>
                <a:cxn ang="0">
                  <a:pos x="25" y="244"/>
                </a:cxn>
                <a:cxn ang="0">
                  <a:pos x="34" y="245"/>
                </a:cxn>
                <a:cxn ang="0">
                  <a:pos x="42" y="244"/>
                </a:cxn>
                <a:cxn ang="0">
                  <a:pos x="50" y="240"/>
                </a:cxn>
                <a:cxn ang="0">
                  <a:pos x="56" y="232"/>
                </a:cxn>
                <a:cxn ang="0">
                  <a:pos x="57" y="221"/>
                </a:cxn>
                <a:cxn ang="0">
                  <a:pos x="67" y="101"/>
                </a:cxn>
                <a:cxn ang="0">
                  <a:pos x="67" y="230"/>
                </a:cxn>
                <a:cxn ang="0">
                  <a:pos x="61" y="242"/>
                </a:cxn>
                <a:cxn ang="0">
                  <a:pos x="52" y="250"/>
                </a:cxn>
                <a:cxn ang="0">
                  <a:pos x="40" y="254"/>
                </a:cxn>
                <a:cxn ang="0">
                  <a:pos x="28" y="253"/>
                </a:cxn>
                <a:cxn ang="0">
                  <a:pos x="16" y="250"/>
                </a:cxn>
                <a:cxn ang="0">
                  <a:pos x="6" y="241"/>
                </a:cxn>
                <a:cxn ang="0">
                  <a:pos x="0" y="230"/>
                </a:cxn>
                <a:cxn ang="0">
                  <a:pos x="0" y="42"/>
                </a:cxn>
                <a:cxn ang="0">
                  <a:pos x="4" y="24"/>
                </a:cxn>
                <a:cxn ang="0">
                  <a:pos x="14" y="11"/>
                </a:cxn>
                <a:cxn ang="0">
                  <a:pos x="27" y="3"/>
                </a:cxn>
                <a:cxn ang="0">
                  <a:pos x="42" y="0"/>
                </a:cxn>
                <a:cxn ang="0">
                  <a:pos x="58" y="3"/>
                </a:cxn>
                <a:cxn ang="0">
                  <a:pos x="72" y="11"/>
                </a:cxn>
                <a:cxn ang="0">
                  <a:pos x="81" y="23"/>
                </a:cxn>
                <a:cxn ang="0">
                  <a:pos x="86" y="42"/>
                </a:cxn>
              </a:cxnLst>
              <a:rect l="0" t="0" r="r" b="b"/>
              <a:pathLst>
                <a:path w="86" h="254">
                  <a:moveTo>
                    <a:pt x="86" y="56"/>
                  </a:moveTo>
                  <a:lnTo>
                    <a:pt x="76" y="55"/>
                  </a:lnTo>
                  <a:lnTo>
                    <a:pt x="76" y="42"/>
                  </a:lnTo>
                  <a:lnTo>
                    <a:pt x="75" y="34"/>
                  </a:lnTo>
                  <a:lnTo>
                    <a:pt x="72" y="28"/>
                  </a:lnTo>
                  <a:lnTo>
                    <a:pt x="69" y="22"/>
                  </a:lnTo>
                  <a:lnTo>
                    <a:pt x="65" y="18"/>
                  </a:lnTo>
                  <a:lnTo>
                    <a:pt x="59" y="14"/>
                  </a:lnTo>
                  <a:lnTo>
                    <a:pt x="53" y="12"/>
                  </a:lnTo>
                  <a:lnTo>
                    <a:pt x="48" y="10"/>
                  </a:lnTo>
                  <a:lnTo>
                    <a:pt x="41" y="10"/>
                  </a:lnTo>
                  <a:lnTo>
                    <a:pt x="36" y="10"/>
                  </a:lnTo>
                  <a:lnTo>
                    <a:pt x="29" y="12"/>
                  </a:lnTo>
                  <a:lnTo>
                    <a:pt x="24" y="14"/>
                  </a:lnTo>
                  <a:lnTo>
                    <a:pt x="19" y="18"/>
                  </a:lnTo>
                  <a:lnTo>
                    <a:pt x="15" y="22"/>
                  </a:lnTo>
                  <a:lnTo>
                    <a:pt x="11" y="29"/>
                  </a:lnTo>
                  <a:lnTo>
                    <a:pt x="9" y="34"/>
                  </a:lnTo>
                  <a:lnTo>
                    <a:pt x="9" y="42"/>
                  </a:lnTo>
                  <a:lnTo>
                    <a:pt x="9" y="221"/>
                  </a:lnTo>
                  <a:lnTo>
                    <a:pt x="10" y="227"/>
                  </a:lnTo>
                  <a:lnTo>
                    <a:pt x="11" y="232"/>
                  </a:lnTo>
                  <a:lnTo>
                    <a:pt x="15" y="236"/>
                  </a:lnTo>
                  <a:lnTo>
                    <a:pt x="17" y="240"/>
                  </a:lnTo>
                  <a:lnTo>
                    <a:pt x="21" y="243"/>
                  </a:lnTo>
                  <a:lnTo>
                    <a:pt x="25" y="244"/>
                  </a:lnTo>
                  <a:lnTo>
                    <a:pt x="29" y="245"/>
                  </a:lnTo>
                  <a:lnTo>
                    <a:pt x="34" y="245"/>
                  </a:lnTo>
                  <a:lnTo>
                    <a:pt x="38" y="245"/>
                  </a:lnTo>
                  <a:lnTo>
                    <a:pt x="42" y="244"/>
                  </a:lnTo>
                  <a:lnTo>
                    <a:pt x="47" y="242"/>
                  </a:lnTo>
                  <a:lnTo>
                    <a:pt x="50" y="240"/>
                  </a:lnTo>
                  <a:lnTo>
                    <a:pt x="52" y="236"/>
                  </a:lnTo>
                  <a:lnTo>
                    <a:pt x="56" y="232"/>
                  </a:lnTo>
                  <a:lnTo>
                    <a:pt x="57" y="226"/>
                  </a:lnTo>
                  <a:lnTo>
                    <a:pt x="57" y="221"/>
                  </a:lnTo>
                  <a:lnTo>
                    <a:pt x="57" y="101"/>
                  </a:lnTo>
                  <a:lnTo>
                    <a:pt x="67" y="101"/>
                  </a:lnTo>
                  <a:lnTo>
                    <a:pt x="67" y="222"/>
                  </a:lnTo>
                  <a:lnTo>
                    <a:pt x="67" y="230"/>
                  </a:lnTo>
                  <a:lnTo>
                    <a:pt x="65" y="236"/>
                  </a:lnTo>
                  <a:lnTo>
                    <a:pt x="61" y="242"/>
                  </a:lnTo>
                  <a:lnTo>
                    <a:pt x="57" y="246"/>
                  </a:lnTo>
                  <a:lnTo>
                    <a:pt x="52" y="250"/>
                  </a:lnTo>
                  <a:lnTo>
                    <a:pt x="47" y="252"/>
                  </a:lnTo>
                  <a:lnTo>
                    <a:pt x="40" y="254"/>
                  </a:lnTo>
                  <a:lnTo>
                    <a:pt x="35" y="254"/>
                  </a:lnTo>
                  <a:lnTo>
                    <a:pt x="28" y="253"/>
                  </a:lnTo>
                  <a:lnTo>
                    <a:pt x="21" y="252"/>
                  </a:lnTo>
                  <a:lnTo>
                    <a:pt x="16" y="250"/>
                  </a:lnTo>
                  <a:lnTo>
                    <a:pt x="10" y="245"/>
                  </a:lnTo>
                  <a:lnTo>
                    <a:pt x="6" y="241"/>
                  </a:lnTo>
                  <a:lnTo>
                    <a:pt x="2" y="235"/>
                  </a:lnTo>
                  <a:lnTo>
                    <a:pt x="0" y="230"/>
                  </a:lnTo>
                  <a:lnTo>
                    <a:pt x="0" y="222"/>
                  </a:lnTo>
                  <a:lnTo>
                    <a:pt x="0" y="42"/>
                  </a:lnTo>
                  <a:lnTo>
                    <a:pt x="0" y="32"/>
                  </a:lnTo>
                  <a:lnTo>
                    <a:pt x="4" y="24"/>
                  </a:lnTo>
                  <a:lnTo>
                    <a:pt x="8" y="16"/>
                  </a:lnTo>
                  <a:lnTo>
                    <a:pt x="14" y="11"/>
                  </a:lnTo>
                  <a:lnTo>
                    <a:pt x="19" y="6"/>
                  </a:lnTo>
                  <a:lnTo>
                    <a:pt x="27" y="3"/>
                  </a:lnTo>
                  <a:lnTo>
                    <a:pt x="35" y="1"/>
                  </a:lnTo>
                  <a:lnTo>
                    <a:pt x="42" y="0"/>
                  </a:lnTo>
                  <a:lnTo>
                    <a:pt x="50" y="1"/>
                  </a:lnTo>
                  <a:lnTo>
                    <a:pt x="58" y="3"/>
                  </a:lnTo>
                  <a:lnTo>
                    <a:pt x="66" y="5"/>
                  </a:lnTo>
                  <a:lnTo>
                    <a:pt x="72" y="11"/>
                  </a:lnTo>
                  <a:lnTo>
                    <a:pt x="77" y="16"/>
                  </a:lnTo>
                  <a:lnTo>
                    <a:pt x="81" y="23"/>
                  </a:lnTo>
                  <a:lnTo>
                    <a:pt x="85" y="32"/>
                  </a:lnTo>
                  <a:lnTo>
                    <a:pt x="86" y="42"/>
                  </a:lnTo>
                  <a:lnTo>
                    <a:pt x="86" y="56"/>
                  </a:lnTo>
                  <a:close/>
                </a:path>
              </a:pathLst>
            </a:custGeom>
            <a:noFill/>
            <a:ln w="4763">
              <a:solidFill>
                <a:schemeClr val="bg2"/>
              </a:solidFill>
              <a:prstDash val="solid"/>
              <a:round/>
              <a:headEnd/>
              <a:tailEnd/>
            </a:ln>
          </p:spPr>
          <p:txBody>
            <a:bodyPr/>
            <a:lstStyle/>
            <a:p>
              <a:endParaRPr lang="en-GB"/>
            </a:p>
          </p:txBody>
        </p:sp>
        <p:sp>
          <p:nvSpPr>
            <p:cNvPr id="174206" name="Freeform 126"/>
            <p:cNvSpPr>
              <a:spLocks/>
            </p:cNvSpPr>
            <p:nvPr/>
          </p:nvSpPr>
          <p:spPr bwMode="auto">
            <a:xfrm>
              <a:off x="3932" y="1441"/>
              <a:ext cx="15" cy="49"/>
            </a:xfrm>
            <a:custGeom>
              <a:avLst/>
              <a:gdLst/>
              <a:ahLst/>
              <a:cxnLst>
                <a:cxn ang="0">
                  <a:pos x="75" y="48"/>
                </a:cxn>
                <a:cxn ang="0">
                  <a:pos x="75" y="36"/>
                </a:cxn>
                <a:cxn ang="0">
                  <a:pos x="74" y="27"/>
                </a:cxn>
                <a:cxn ang="0">
                  <a:pos x="72" y="20"/>
                </a:cxn>
                <a:cxn ang="0">
                  <a:pos x="67" y="14"/>
                </a:cxn>
                <a:cxn ang="0">
                  <a:pos x="63" y="8"/>
                </a:cxn>
                <a:cxn ang="0">
                  <a:pos x="57" y="5"/>
                </a:cxn>
                <a:cxn ang="0">
                  <a:pos x="51" y="3"/>
                </a:cxn>
                <a:cxn ang="0">
                  <a:pos x="44" y="0"/>
                </a:cxn>
                <a:cxn ang="0">
                  <a:pos x="36" y="0"/>
                </a:cxn>
                <a:cxn ang="0">
                  <a:pos x="30" y="1"/>
                </a:cxn>
                <a:cxn ang="0">
                  <a:pos x="23" y="3"/>
                </a:cxn>
                <a:cxn ang="0">
                  <a:pos x="16" y="6"/>
                </a:cxn>
                <a:cxn ang="0">
                  <a:pos x="11" y="10"/>
                </a:cxn>
                <a:cxn ang="0">
                  <a:pos x="6" y="15"/>
                </a:cxn>
                <a:cxn ang="0">
                  <a:pos x="3" y="21"/>
                </a:cxn>
                <a:cxn ang="0">
                  <a:pos x="0" y="28"/>
                </a:cxn>
                <a:cxn ang="0">
                  <a:pos x="0" y="36"/>
                </a:cxn>
                <a:cxn ang="0">
                  <a:pos x="0" y="217"/>
                </a:cxn>
                <a:cxn ang="0">
                  <a:pos x="0" y="223"/>
                </a:cxn>
                <a:cxn ang="0">
                  <a:pos x="2" y="229"/>
                </a:cxn>
                <a:cxn ang="0">
                  <a:pos x="4" y="233"/>
                </a:cxn>
                <a:cxn ang="0">
                  <a:pos x="8" y="238"/>
                </a:cxn>
                <a:cxn ang="0">
                  <a:pos x="13" y="240"/>
                </a:cxn>
                <a:cxn ang="0">
                  <a:pos x="17" y="242"/>
                </a:cxn>
                <a:cxn ang="0">
                  <a:pos x="23" y="243"/>
                </a:cxn>
                <a:cxn ang="0">
                  <a:pos x="28" y="245"/>
                </a:cxn>
                <a:cxn ang="0">
                  <a:pos x="34" y="243"/>
                </a:cxn>
                <a:cxn ang="0">
                  <a:pos x="38" y="242"/>
                </a:cxn>
                <a:cxn ang="0">
                  <a:pos x="44" y="240"/>
                </a:cxn>
                <a:cxn ang="0">
                  <a:pos x="48" y="238"/>
                </a:cxn>
                <a:cxn ang="0">
                  <a:pos x="52" y="233"/>
                </a:cxn>
                <a:cxn ang="0">
                  <a:pos x="55" y="229"/>
                </a:cxn>
                <a:cxn ang="0">
                  <a:pos x="56" y="223"/>
                </a:cxn>
                <a:cxn ang="0">
                  <a:pos x="57" y="217"/>
                </a:cxn>
                <a:cxn ang="0">
                  <a:pos x="57" y="97"/>
                </a:cxn>
              </a:cxnLst>
              <a:rect l="0" t="0" r="r" b="b"/>
              <a:pathLst>
                <a:path w="75" h="245">
                  <a:moveTo>
                    <a:pt x="75" y="48"/>
                  </a:moveTo>
                  <a:lnTo>
                    <a:pt x="75" y="36"/>
                  </a:lnTo>
                  <a:lnTo>
                    <a:pt x="74" y="27"/>
                  </a:lnTo>
                  <a:lnTo>
                    <a:pt x="72" y="20"/>
                  </a:lnTo>
                  <a:lnTo>
                    <a:pt x="67" y="14"/>
                  </a:lnTo>
                  <a:lnTo>
                    <a:pt x="63" y="8"/>
                  </a:lnTo>
                  <a:lnTo>
                    <a:pt x="57" y="5"/>
                  </a:lnTo>
                  <a:lnTo>
                    <a:pt x="51" y="3"/>
                  </a:lnTo>
                  <a:lnTo>
                    <a:pt x="44" y="0"/>
                  </a:lnTo>
                  <a:lnTo>
                    <a:pt x="36" y="0"/>
                  </a:lnTo>
                  <a:lnTo>
                    <a:pt x="30" y="1"/>
                  </a:lnTo>
                  <a:lnTo>
                    <a:pt x="23" y="3"/>
                  </a:lnTo>
                  <a:lnTo>
                    <a:pt x="16" y="6"/>
                  </a:lnTo>
                  <a:lnTo>
                    <a:pt x="11" y="10"/>
                  </a:lnTo>
                  <a:lnTo>
                    <a:pt x="6" y="15"/>
                  </a:lnTo>
                  <a:lnTo>
                    <a:pt x="3" y="21"/>
                  </a:lnTo>
                  <a:lnTo>
                    <a:pt x="0" y="28"/>
                  </a:lnTo>
                  <a:lnTo>
                    <a:pt x="0" y="36"/>
                  </a:lnTo>
                  <a:lnTo>
                    <a:pt x="0" y="217"/>
                  </a:lnTo>
                  <a:lnTo>
                    <a:pt x="0" y="223"/>
                  </a:lnTo>
                  <a:lnTo>
                    <a:pt x="2" y="229"/>
                  </a:lnTo>
                  <a:lnTo>
                    <a:pt x="4" y="233"/>
                  </a:lnTo>
                  <a:lnTo>
                    <a:pt x="8" y="238"/>
                  </a:lnTo>
                  <a:lnTo>
                    <a:pt x="13" y="240"/>
                  </a:lnTo>
                  <a:lnTo>
                    <a:pt x="17" y="242"/>
                  </a:lnTo>
                  <a:lnTo>
                    <a:pt x="23" y="243"/>
                  </a:lnTo>
                  <a:lnTo>
                    <a:pt x="28" y="245"/>
                  </a:lnTo>
                  <a:lnTo>
                    <a:pt x="34" y="243"/>
                  </a:lnTo>
                  <a:lnTo>
                    <a:pt x="38" y="242"/>
                  </a:lnTo>
                  <a:lnTo>
                    <a:pt x="44" y="240"/>
                  </a:lnTo>
                  <a:lnTo>
                    <a:pt x="48" y="238"/>
                  </a:lnTo>
                  <a:lnTo>
                    <a:pt x="52" y="233"/>
                  </a:lnTo>
                  <a:lnTo>
                    <a:pt x="55" y="229"/>
                  </a:lnTo>
                  <a:lnTo>
                    <a:pt x="56" y="223"/>
                  </a:lnTo>
                  <a:lnTo>
                    <a:pt x="57" y="217"/>
                  </a:lnTo>
                  <a:lnTo>
                    <a:pt x="57" y="97"/>
                  </a:lnTo>
                </a:path>
              </a:pathLst>
            </a:custGeom>
            <a:noFill/>
            <a:ln w="0">
              <a:solidFill>
                <a:schemeClr val="bg2"/>
              </a:solidFill>
              <a:prstDash val="solid"/>
              <a:round/>
              <a:headEnd/>
              <a:tailEnd/>
            </a:ln>
          </p:spPr>
          <p:txBody>
            <a:bodyPr/>
            <a:lstStyle/>
            <a:p>
              <a:endParaRPr lang="en-GB"/>
            </a:p>
          </p:txBody>
        </p:sp>
        <p:sp>
          <p:nvSpPr>
            <p:cNvPr id="174207" name="Line 127"/>
            <p:cNvSpPr>
              <a:spLocks noChangeShapeType="1"/>
            </p:cNvSpPr>
            <p:nvPr/>
          </p:nvSpPr>
          <p:spPr bwMode="auto">
            <a:xfrm>
              <a:off x="3919" y="1515"/>
              <a:ext cx="41" cy="1"/>
            </a:xfrm>
            <a:prstGeom prst="line">
              <a:avLst/>
            </a:prstGeom>
            <a:noFill/>
            <a:ln w="4763">
              <a:solidFill>
                <a:schemeClr val="bg2"/>
              </a:solidFill>
              <a:round/>
              <a:headEnd/>
              <a:tailEnd/>
            </a:ln>
          </p:spPr>
          <p:txBody>
            <a:bodyPr/>
            <a:lstStyle/>
            <a:p>
              <a:endParaRPr lang="en-GB"/>
            </a:p>
          </p:txBody>
        </p:sp>
        <p:sp>
          <p:nvSpPr>
            <p:cNvPr id="174208" name="Line 128"/>
            <p:cNvSpPr>
              <a:spLocks noChangeShapeType="1"/>
            </p:cNvSpPr>
            <p:nvPr/>
          </p:nvSpPr>
          <p:spPr bwMode="auto">
            <a:xfrm>
              <a:off x="3919" y="1568"/>
              <a:ext cx="42" cy="1"/>
            </a:xfrm>
            <a:prstGeom prst="line">
              <a:avLst/>
            </a:prstGeom>
            <a:noFill/>
            <a:ln w="4763">
              <a:solidFill>
                <a:schemeClr val="bg2"/>
              </a:solidFill>
              <a:round/>
              <a:headEnd/>
              <a:tailEnd/>
            </a:ln>
          </p:spPr>
          <p:txBody>
            <a:bodyPr/>
            <a:lstStyle/>
            <a:p>
              <a:endParaRPr lang="en-GB"/>
            </a:p>
          </p:txBody>
        </p:sp>
        <p:sp>
          <p:nvSpPr>
            <p:cNvPr id="174209" name="Line 129"/>
            <p:cNvSpPr>
              <a:spLocks noChangeShapeType="1"/>
            </p:cNvSpPr>
            <p:nvPr/>
          </p:nvSpPr>
          <p:spPr bwMode="auto">
            <a:xfrm>
              <a:off x="3919" y="1625"/>
              <a:ext cx="31" cy="1"/>
            </a:xfrm>
            <a:prstGeom prst="line">
              <a:avLst/>
            </a:prstGeom>
            <a:noFill/>
            <a:ln w="4763">
              <a:solidFill>
                <a:schemeClr val="bg2"/>
              </a:solidFill>
              <a:round/>
              <a:headEnd/>
              <a:tailEnd/>
            </a:ln>
          </p:spPr>
          <p:txBody>
            <a:bodyPr/>
            <a:lstStyle/>
            <a:p>
              <a:endParaRPr lang="en-GB"/>
            </a:p>
          </p:txBody>
        </p:sp>
        <p:sp>
          <p:nvSpPr>
            <p:cNvPr id="174210" name="Line 130"/>
            <p:cNvSpPr>
              <a:spLocks noChangeShapeType="1"/>
            </p:cNvSpPr>
            <p:nvPr/>
          </p:nvSpPr>
          <p:spPr bwMode="auto">
            <a:xfrm>
              <a:off x="3919" y="1681"/>
              <a:ext cx="32" cy="1"/>
            </a:xfrm>
            <a:prstGeom prst="line">
              <a:avLst/>
            </a:prstGeom>
            <a:noFill/>
            <a:ln w="4763">
              <a:solidFill>
                <a:schemeClr val="bg2"/>
              </a:solidFill>
              <a:round/>
              <a:headEnd/>
              <a:tailEnd/>
            </a:ln>
          </p:spPr>
          <p:txBody>
            <a:bodyPr/>
            <a:lstStyle/>
            <a:p>
              <a:endParaRPr lang="en-GB"/>
            </a:p>
          </p:txBody>
        </p:sp>
        <p:sp>
          <p:nvSpPr>
            <p:cNvPr id="174211" name="Line 131"/>
            <p:cNvSpPr>
              <a:spLocks noChangeShapeType="1"/>
            </p:cNvSpPr>
            <p:nvPr/>
          </p:nvSpPr>
          <p:spPr bwMode="auto">
            <a:xfrm>
              <a:off x="3963" y="1681"/>
              <a:ext cx="30" cy="1"/>
            </a:xfrm>
            <a:prstGeom prst="line">
              <a:avLst/>
            </a:prstGeom>
            <a:noFill/>
            <a:ln w="4763">
              <a:solidFill>
                <a:schemeClr val="bg2"/>
              </a:solidFill>
              <a:round/>
              <a:headEnd/>
              <a:tailEnd/>
            </a:ln>
          </p:spPr>
          <p:txBody>
            <a:bodyPr/>
            <a:lstStyle/>
            <a:p>
              <a:endParaRPr lang="en-GB"/>
            </a:p>
          </p:txBody>
        </p:sp>
        <p:sp>
          <p:nvSpPr>
            <p:cNvPr id="174212" name="Line 132"/>
            <p:cNvSpPr>
              <a:spLocks noChangeShapeType="1"/>
            </p:cNvSpPr>
            <p:nvPr/>
          </p:nvSpPr>
          <p:spPr bwMode="auto">
            <a:xfrm>
              <a:off x="3918" y="1741"/>
              <a:ext cx="38" cy="1"/>
            </a:xfrm>
            <a:prstGeom prst="line">
              <a:avLst/>
            </a:prstGeom>
            <a:noFill/>
            <a:ln w="4763">
              <a:solidFill>
                <a:schemeClr val="bg2"/>
              </a:solidFill>
              <a:round/>
              <a:headEnd/>
              <a:tailEnd/>
            </a:ln>
          </p:spPr>
          <p:txBody>
            <a:bodyPr/>
            <a:lstStyle/>
            <a:p>
              <a:endParaRPr lang="en-GB"/>
            </a:p>
          </p:txBody>
        </p:sp>
        <p:sp>
          <p:nvSpPr>
            <p:cNvPr id="174213" name="Line 133"/>
            <p:cNvSpPr>
              <a:spLocks noChangeShapeType="1"/>
            </p:cNvSpPr>
            <p:nvPr/>
          </p:nvSpPr>
          <p:spPr bwMode="auto">
            <a:xfrm>
              <a:off x="3994" y="1513"/>
              <a:ext cx="114" cy="1"/>
            </a:xfrm>
            <a:prstGeom prst="line">
              <a:avLst/>
            </a:prstGeom>
            <a:noFill/>
            <a:ln w="4763">
              <a:solidFill>
                <a:schemeClr val="bg2"/>
              </a:solidFill>
              <a:round/>
              <a:headEnd/>
              <a:tailEnd/>
            </a:ln>
          </p:spPr>
          <p:txBody>
            <a:bodyPr/>
            <a:lstStyle/>
            <a:p>
              <a:endParaRPr lang="en-GB"/>
            </a:p>
          </p:txBody>
        </p:sp>
        <p:sp>
          <p:nvSpPr>
            <p:cNvPr id="174214" name="Line 134"/>
            <p:cNvSpPr>
              <a:spLocks noChangeShapeType="1"/>
            </p:cNvSpPr>
            <p:nvPr/>
          </p:nvSpPr>
          <p:spPr bwMode="auto">
            <a:xfrm>
              <a:off x="3994" y="1529"/>
              <a:ext cx="114" cy="1"/>
            </a:xfrm>
            <a:prstGeom prst="line">
              <a:avLst/>
            </a:prstGeom>
            <a:noFill/>
            <a:ln w="4763">
              <a:solidFill>
                <a:schemeClr val="bg2"/>
              </a:solidFill>
              <a:round/>
              <a:headEnd/>
              <a:tailEnd/>
            </a:ln>
          </p:spPr>
          <p:txBody>
            <a:bodyPr/>
            <a:lstStyle/>
            <a:p>
              <a:endParaRPr lang="en-GB"/>
            </a:p>
          </p:txBody>
        </p:sp>
        <p:sp>
          <p:nvSpPr>
            <p:cNvPr id="174215" name="Line 135"/>
            <p:cNvSpPr>
              <a:spLocks noChangeShapeType="1"/>
            </p:cNvSpPr>
            <p:nvPr/>
          </p:nvSpPr>
          <p:spPr bwMode="auto">
            <a:xfrm>
              <a:off x="3994" y="1545"/>
              <a:ext cx="114" cy="1"/>
            </a:xfrm>
            <a:prstGeom prst="line">
              <a:avLst/>
            </a:prstGeom>
            <a:noFill/>
            <a:ln w="4763">
              <a:solidFill>
                <a:schemeClr val="bg2"/>
              </a:solidFill>
              <a:round/>
              <a:headEnd/>
              <a:tailEnd/>
            </a:ln>
          </p:spPr>
          <p:txBody>
            <a:bodyPr/>
            <a:lstStyle/>
            <a:p>
              <a:endParaRPr lang="en-GB"/>
            </a:p>
          </p:txBody>
        </p:sp>
        <p:sp>
          <p:nvSpPr>
            <p:cNvPr id="174216" name="Line 136"/>
            <p:cNvSpPr>
              <a:spLocks noChangeShapeType="1"/>
            </p:cNvSpPr>
            <p:nvPr/>
          </p:nvSpPr>
          <p:spPr bwMode="auto">
            <a:xfrm>
              <a:off x="3994" y="1568"/>
              <a:ext cx="118" cy="1"/>
            </a:xfrm>
            <a:prstGeom prst="line">
              <a:avLst/>
            </a:prstGeom>
            <a:noFill/>
            <a:ln w="4763">
              <a:solidFill>
                <a:schemeClr val="bg2"/>
              </a:solidFill>
              <a:round/>
              <a:headEnd/>
              <a:tailEnd/>
            </a:ln>
          </p:spPr>
          <p:txBody>
            <a:bodyPr/>
            <a:lstStyle/>
            <a:p>
              <a:endParaRPr lang="en-GB"/>
            </a:p>
          </p:txBody>
        </p:sp>
        <p:sp>
          <p:nvSpPr>
            <p:cNvPr id="174217" name="Line 137"/>
            <p:cNvSpPr>
              <a:spLocks noChangeShapeType="1"/>
            </p:cNvSpPr>
            <p:nvPr/>
          </p:nvSpPr>
          <p:spPr bwMode="auto">
            <a:xfrm>
              <a:off x="3994" y="1585"/>
              <a:ext cx="121" cy="1"/>
            </a:xfrm>
            <a:prstGeom prst="line">
              <a:avLst/>
            </a:prstGeom>
            <a:noFill/>
            <a:ln w="4763">
              <a:solidFill>
                <a:schemeClr val="bg2"/>
              </a:solidFill>
              <a:round/>
              <a:headEnd/>
              <a:tailEnd/>
            </a:ln>
          </p:spPr>
          <p:txBody>
            <a:bodyPr/>
            <a:lstStyle/>
            <a:p>
              <a:endParaRPr lang="en-GB"/>
            </a:p>
          </p:txBody>
        </p:sp>
        <p:sp>
          <p:nvSpPr>
            <p:cNvPr id="174218" name="Line 138"/>
            <p:cNvSpPr>
              <a:spLocks noChangeShapeType="1"/>
            </p:cNvSpPr>
            <p:nvPr/>
          </p:nvSpPr>
          <p:spPr bwMode="auto">
            <a:xfrm>
              <a:off x="3994" y="1598"/>
              <a:ext cx="121" cy="1"/>
            </a:xfrm>
            <a:prstGeom prst="line">
              <a:avLst/>
            </a:prstGeom>
            <a:noFill/>
            <a:ln w="4763">
              <a:solidFill>
                <a:schemeClr val="bg2"/>
              </a:solidFill>
              <a:round/>
              <a:headEnd/>
              <a:tailEnd/>
            </a:ln>
          </p:spPr>
          <p:txBody>
            <a:bodyPr/>
            <a:lstStyle/>
            <a:p>
              <a:endParaRPr lang="en-GB"/>
            </a:p>
          </p:txBody>
        </p:sp>
        <p:sp>
          <p:nvSpPr>
            <p:cNvPr id="174219" name="Line 139"/>
            <p:cNvSpPr>
              <a:spLocks noChangeShapeType="1"/>
            </p:cNvSpPr>
            <p:nvPr/>
          </p:nvSpPr>
          <p:spPr bwMode="auto">
            <a:xfrm>
              <a:off x="3994" y="1625"/>
              <a:ext cx="115" cy="1"/>
            </a:xfrm>
            <a:prstGeom prst="line">
              <a:avLst/>
            </a:prstGeom>
            <a:noFill/>
            <a:ln w="4763">
              <a:solidFill>
                <a:schemeClr val="bg2"/>
              </a:solidFill>
              <a:round/>
              <a:headEnd/>
              <a:tailEnd/>
            </a:ln>
          </p:spPr>
          <p:txBody>
            <a:bodyPr/>
            <a:lstStyle/>
            <a:p>
              <a:endParaRPr lang="en-GB"/>
            </a:p>
          </p:txBody>
        </p:sp>
        <p:sp>
          <p:nvSpPr>
            <p:cNvPr id="174220" name="Line 140"/>
            <p:cNvSpPr>
              <a:spLocks noChangeShapeType="1"/>
            </p:cNvSpPr>
            <p:nvPr/>
          </p:nvSpPr>
          <p:spPr bwMode="auto">
            <a:xfrm>
              <a:off x="3994" y="1640"/>
              <a:ext cx="113" cy="1"/>
            </a:xfrm>
            <a:prstGeom prst="line">
              <a:avLst/>
            </a:prstGeom>
            <a:noFill/>
            <a:ln w="4763">
              <a:solidFill>
                <a:schemeClr val="bg2"/>
              </a:solidFill>
              <a:round/>
              <a:headEnd/>
              <a:tailEnd/>
            </a:ln>
          </p:spPr>
          <p:txBody>
            <a:bodyPr/>
            <a:lstStyle/>
            <a:p>
              <a:endParaRPr lang="en-GB"/>
            </a:p>
          </p:txBody>
        </p:sp>
        <p:sp>
          <p:nvSpPr>
            <p:cNvPr id="174221" name="Line 141"/>
            <p:cNvSpPr>
              <a:spLocks noChangeShapeType="1"/>
            </p:cNvSpPr>
            <p:nvPr/>
          </p:nvSpPr>
          <p:spPr bwMode="auto">
            <a:xfrm>
              <a:off x="3994" y="1656"/>
              <a:ext cx="115" cy="1"/>
            </a:xfrm>
            <a:prstGeom prst="line">
              <a:avLst/>
            </a:prstGeom>
            <a:noFill/>
            <a:ln w="4763">
              <a:solidFill>
                <a:schemeClr val="bg2"/>
              </a:solidFill>
              <a:round/>
              <a:headEnd/>
              <a:tailEnd/>
            </a:ln>
          </p:spPr>
          <p:txBody>
            <a:bodyPr/>
            <a:lstStyle/>
            <a:p>
              <a:endParaRPr lang="en-GB"/>
            </a:p>
          </p:txBody>
        </p:sp>
        <p:sp>
          <p:nvSpPr>
            <p:cNvPr id="174222" name="Line 142"/>
            <p:cNvSpPr>
              <a:spLocks noChangeShapeType="1"/>
            </p:cNvSpPr>
            <p:nvPr/>
          </p:nvSpPr>
          <p:spPr bwMode="auto">
            <a:xfrm>
              <a:off x="3994" y="1698"/>
              <a:ext cx="121" cy="1"/>
            </a:xfrm>
            <a:prstGeom prst="line">
              <a:avLst/>
            </a:prstGeom>
            <a:noFill/>
            <a:ln w="4763">
              <a:solidFill>
                <a:schemeClr val="bg2"/>
              </a:solidFill>
              <a:round/>
              <a:headEnd/>
              <a:tailEnd/>
            </a:ln>
          </p:spPr>
          <p:txBody>
            <a:bodyPr/>
            <a:lstStyle/>
            <a:p>
              <a:endParaRPr lang="en-GB"/>
            </a:p>
          </p:txBody>
        </p:sp>
        <p:sp>
          <p:nvSpPr>
            <p:cNvPr id="174223" name="Line 143"/>
            <p:cNvSpPr>
              <a:spLocks noChangeShapeType="1"/>
            </p:cNvSpPr>
            <p:nvPr/>
          </p:nvSpPr>
          <p:spPr bwMode="auto">
            <a:xfrm>
              <a:off x="3994" y="1712"/>
              <a:ext cx="117" cy="1"/>
            </a:xfrm>
            <a:prstGeom prst="line">
              <a:avLst/>
            </a:prstGeom>
            <a:noFill/>
            <a:ln w="4763">
              <a:solidFill>
                <a:schemeClr val="bg2"/>
              </a:solidFill>
              <a:round/>
              <a:headEnd/>
              <a:tailEnd/>
            </a:ln>
          </p:spPr>
          <p:txBody>
            <a:bodyPr/>
            <a:lstStyle/>
            <a:p>
              <a:endParaRPr lang="en-GB"/>
            </a:p>
          </p:txBody>
        </p:sp>
        <p:sp>
          <p:nvSpPr>
            <p:cNvPr id="174224" name="Line 144"/>
            <p:cNvSpPr>
              <a:spLocks noChangeShapeType="1"/>
            </p:cNvSpPr>
            <p:nvPr/>
          </p:nvSpPr>
          <p:spPr bwMode="auto">
            <a:xfrm>
              <a:off x="3994" y="1741"/>
              <a:ext cx="119" cy="1"/>
            </a:xfrm>
            <a:prstGeom prst="line">
              <a:avLst/>
            </a:prstGeom>
            <a:noFill/>
            <a:ln w="4763">
              <a:solidFill>
                <a:schemeClr val="bg2"/>
              </a:solidFill>
              <a:round/>
              <a:headEnd/>
              <a:tailEnd/>
            </a:ln>
          </p:spPr>
          <p:txBody>
            <a:bodyPr/>
            <a:lstStyle/>
            <a:p>
              <a:endParaRPr lang="en-GB"/>
            </a:p>
          </p:txBody>
        </p:sp>
        <p:sp>
          <p:nvSpPr>
            <p:cNvPr id="174225" name="Line 145"/>
            <p:cNvSpPr>
              <a:spLocks noChangeShapeType="1"/>
            </p:cNvSpPr>
            <p:nvPr/>
          </p:nvSpPr>
          <p:spPr bwMode="auto">
            <a:xfrm>
              <a:off x="3994" y="1757"/>
              <a:ext cx="124" cy="1"/>
            </a:xfrm>
            <a:prstGeom prst="line">
              <a:avLst/>
            </a:prstGeom>
            <a:noFill/>
            <a:ln w="4763">
              <a:solidFill>
                <a:schemeClr val="bg2"/>
              </a:solidFill>
              <a:round/>
              <a:headEnd/>
              <a:tailEnd/>
            </a:ln>
          </p:spPr>
          <p:txBody>
            <a:bodyPr/>
            <a:lstStyle/>
            <a:p>
              <a:endParaRPr lang="en-GB"/>
            </a:p>
          </p:txBody>
        </p:sp>
        <p:sp>
          <p:nvSpPr>
            <p:cNvPr id="174226" name="Line 146"/>
            <p:cNvSpPr>
              <a:spLocks noChangeShapeType="1"/>
            </p:cNvSpPr>
            <p:nvPr/>
          </p:nvSpPr>
          <p:spPr bwMode="auto">
            <a:xfrm>
              <a:off x="3994" y="1774"/>
              <a:ext cx="127" cy="1"/>
            </a:xfrm>
            <a:prstGeom prst="line">
              <a:avLst/>
            </a:prstGeom>
            <a:noFill/>
            <a:ln w="4763">
              <a:solidFill>
                <a:schemeClr val="bg2"/>
              </a:solidFill>
              <a:round/>
              <a:headEnd/>
              <a:tailEnd/>
            </a:ln>
          </p:spPr>
          <p:txBody>
            <a:bodyPr/>
            <a:lstStyle/>
            <a:p>
              <a:endParaRPr lang="en-GB"/>
            </a:p>
          </p:txBody>
        </p:sp>
      </p:grpSp>
      <p:sp>
        <p:nvSpPr>
          <p:cNvPr id="174227" name="Rectangle 147"/>
          <p:cNvSpPr>
            <a:spLocks noChangeArrowheads="1"/>
          </p:cNvSpPr>
          <p:nvPr/>
        </p:nvSpPr>
        <p:spPr bwMode="auto">
          <a:xfrm>
            <a:off x="6761162" y="4035425"/>
            <a:ext cx="815975" cy="228600"/>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Glossary</a:t>
            </a:r>
            <a:endParaRPr lang="en-CA" sz="1200" b="1">
              <a:solidFill>
                <a:schemeClr val="bg2"/>
              </a:solidFill>
            </a:endParaRPr>
          </a:p>
        </p:txBody>
      </p:sp>
      <p:grpSp>
        <p:nvGrpSpPr>
          <p:cNvPr id="5" name="Group 148"/>
          <p:cNvGrpSpPr>
            <a:grpSpLocks/>
          </p:cNvGrpSpPr>
          <p:nvPr/>
        </p:nvGrpSpPr>
        <p:grpSpPr bwMode="auto">
          <a:xfrm>
            <a:off x="3830637" y="5127625"/>
            <a:ext cx="938213" cy="752475"/>
            <a:chOff x="2211" y="2002"/>
            <a:chExt cx="591" cy="474"/>
          </a:xfrm>
        </p:grpSpPr>
        <p:sp>
          <p:nvSpPr>
            <p:cNvPr id="174229" name="Rectangle 149"/>
            <p:cNvSpPr>
              <a:spLocks noChangeArrowheads="1"/>
            </p:cNvSpPr>
            <p:nvPr/>
          </p:nvSpPr>
          <p:spPr bwMode="auto">
            <a:xfrm>
              <a:off x="2232" y="2332"/>
              <a:ext cx="542" cy="144"/>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Use Case</a:t>
              </a:r>
              <a:endParaRPr lang="en-CA" sz="1200" b="1">
                <a:solidFill>
                  <a:schemeClr val="bg2"/>
                </a:solidFill>
              </a:endParaRPr>
            </a:p>
          </p:txBody>
        </p:sp>
        <p:sp>
          <p:nvSpPr>
            <p:cNvPr id="174230" name="Freeform 150"/>
            <p:cNvSpPr>
              <a:spLocks/>
            </p:cNvSpPr>
            <p:nvPr/>
          </p:nvSpPr>
          <p:spPr bwMode="auto">
            <a:xfrm>
              <a:off x="2227" y="2018"/>
              <a:ext cx="575" cy="232"/>
            </a:xfrm>
            <a:custGeom>
              <a:avLst/>
              <a:gdLst/>
              <a:ahLst/>
              <a:cxnLst>
                <a:cxn ang="0">
                  <a:pos x="1585" y="1158"/>
                </a:cxn>
                <a:cxn ang="0">
                  <a:pos x="1797" y="1142"/>
                </a:cxn>
                <a:cxn ang="0">
                  <a:pos x="1997" y="1116"/>
                </a:cxn>
                <a:cxn ang="0">
                  <a:pos x="2182" y="1077"/>
                </a:cxn>
                <a:cxn ang="0">
                  <a:pos x="2352" y="1028"/>
                </a:cxn>
                <a:cxn ang="0">
                  <a:pos x="2501" y="970"/>
                </a:cxn>
                <a:cxn ang="0">
                  <a:pos x="2629" y="905"/>
                </a:cxn>
                <a:cxn ang="0">
                  <a:pos x="2734" y="831"/>
                </a:cxn>
                <a:cxn ang="0">
                  <a:pos x="2810" y="753"/>
                </a:cxn>
                <a:cxn ang="0">
                  <a:pos x="2859" y="669"/>
                </a:cxn>
                <a:cxn ang="0">
                  <a:pos x="2876" y="581"/>
                </a:cxn>
                <a:cxn ang="0">
                  <a:pos x="2859" y="493"/>
                </a:cxn>
                <a:cxn ang="0">
                  <a:pos x="2810" y="409"/>
                </a:cxn>
                <a:cxn ang="0">
                  <a:pos x="2734" y="330"/>
                </a:cxn>
                <a:cxn ang="0">
                  <a:pos x="2629" y="256"/>
                </a:cxn>
                <a:cxn ang="0">
                  <a:pos x="2501" y="191"/>
                </a:cxn>
                <a:cxn ang="0">
                  <a:pos x="2352" y="133"/>
                </a:cxn>
                <a:cxn ang="0">
                  <a:pos x="2182" y="84"/>
                </a:cxn>
                <a:cxn ang="0">
                  <a:pos x="1997" y="46"/>
                </a:cxn>
                <a:cxn ang="0">
                  <a:pos x="1797" y="19"/>
                </a:cxn>
                <a:cxn ang="0">
                  <a:pos x="1585" y="3"/>
                </a:cxn>
                <a:cxn ang="0">
                  <a:pos x="1364" y="1"/>
                </a:cxn>
                <a:cxn ang="0">
                  <a:pos x="1149" y="12"/>
                </a:cxn>
                <a:cxn ang="0">
                  <a:pos x="945" y="36"/>
                </a:cxn>
                <a:cxn ang="0">
                  <a:pos x="754" y="70"/>
                </a:cxn>
                <a:cxn ang="0">
                  <a:pos x="578" y="116"/>
                </a:cxn>
                <a:cxn ang="0">
                  <a:pos x="423" y="171"/>
                </a:cxn>
                <a:cxn ang="0">
                  <a:pos x="286" y="234"/>
                </a:cxn>
                <a:cxn ang="0">
                  <a:pos x="174" y="304"/>
                </a:cxn>
                <a:cxn ang="0">
                  <a:pos x="88" y="382"/>
                </a:cxn>
                <a:cxn ang="0">
                  <a:pos x="30" y="464"/>
                </a:cxn>
                <a:cxn ang="0">
                  <a:pos x="2" y="551"/>
                </a:cxn>
                <a:cxn ang="0">
                  <a:pos x="8" y="639"/>
                </a:cxn>
                <a:cxn ang="0">
                  <a:pos x="46" y="726"/>
                </a:cxn>
                <a:cxn ang="0">
                  <a:pos x="113" y="806"/>
                </a:cxn>
                <a:cxn ang="0">
                  <a:pos x="209" y="881"/>
                </a:cxn>
                <a:cxn ang="0">
                  <a:pos x="330" y="949"/>
                </a:cxn>
                <a:cxn ang="0">
                  <a:pos x="472" y="1010"/>
                </a:cxn>
                <a:cxn ang="0">
                  <a:pos x="635" y="1061"/>
                </a:cxn>
                <a:cxn ang="0">
                  <a:pos x="816" y="1103"/>
                </a:cxn>
                <a:cxn ang="0">
                  <a:pos x="1011" y="1135"/>
                </a:cxn>
                <a:cxn ang="0">
                  <a:pos x="1220" y="1154"/>
                </a:cxn>
                <a:cxn ang="0">
                  <a:pos x="1438" y="1161"/>
                </a:cxn>
              </a:cxnLst>
              <a:rect l="0" t="0" r="r" b="b"/>
              <a:pathLst>
                <a:path w="2876" h="1161">
                  <a:moveTo>
                    <a:pt x="1438" y="1161"/>
                  </a:moveTo>
                  <a:lnTo>
                    <a:pt x="1512" y="1160"/>
                  </a:lnTo>
                  <a:lnTo>
                    <a:pt x="1585" y="1158"/>
                  </a:lnTo>
                  <a:lnTo>
                    <a:pt x="1656" y="1154"/>
                  </a:lnTo>
                  <a:lnTo>
                    <a:pt x="1727" y="1149"/>
                  </a:lnTo>
                  <a:lnTo>
                    <a:pt x="1797" y="1142"/>
                  </a:lnTo>
                  <a:lnTo>
                    <a:pt x="1865" y="1135"/>
                  </a:lnTo>
                  <a:lnTo>
                    <a:pt x="1931" y="1126"/>
                  </a:lnTo>
                  <a:lnTo>
                    <a:pt x="1997" y="1116"/>
                  </a:lnTo>
                  <a:lnTo>
                    <a:pt x="2060" y="1103"/>
                  </a:lnTo>
                  <a:lnTo>
                    <a:pt x="2122" y="1091"/>
                  </a:lnTo>
                  <a:lnTo>
                    <a:pt x="2182" y="1077"/>
                  </a:lnTo>
                  <a:lnTo>
                    <a:pt x="2241" y="1061"/>
                  </a:lnTo>
                  <a:lnTo>
                    <a:pt x="2298" y="1046"/>
                  </a:lnTo>
                  <a:lnTo>
                    <a:pt x="2352" y="1028"/>
                  </a:lnTo>
                  <a:lnTo>
                    <a:pt x="2404" y="1010"/>
                  </a:lnTo>
                  <a:lnTo>
                    <a:pt x="2454" y="990"/>
                  </a:lnTo>
                  <a:lnTo>
                    <a:pt x="2501" y="970"/>
                  </a:lnTo>
                  <a:lnTo>
                    <a:pt x="2546" y="949"/>
                  </a:lnTo>
                  <a:lnTo>
                    <a:pt x="2590" y="928"/>
                  </a:lnTo>
                  <a:lnTo>
                    <a:pt x="2629" y="905"/>
                  </a:lnTo>
                  <a:lnTo>
                    <a:pt x="2667" y="881"/>
                  </a:lnTo>
                  <a:lnTo>
                    <a:pt x="2702" y="857"/>
                  </a:lnTo>
                  <a:lnTo>
                    <a:pt x="2734" y="831"/>
                  </a:lnTo>
                  <a:lnTo>
                    <a:pt x="2763" y="806"/>
                  </a:lnTo>
                  <a:lnTo>
                    <a:pt x="2788" y="780"/>
                  </a:lnTo>
                  <a:lnTo>
                    <a:pt x="2810" y="753"/>
                  </a:lnTo>
                  <a:lnTo>
                    <a:pt x="2830" y="726"/>
                  </a:lnTo>
                  <a:lnTo>
                    <a:pt x="2846" y="697"/>
                  </a:lnTo>
                  <a:lnTo>
                    <a:pt x="2859" y="669"/>
                  </a:lnTo>
                  <a:lnTo>
                    <a:pt x="2868" y="639"/>
                  </a:lnTo>
                  <a:lnTo>
                    <a:pt x="2874" y="611"/>
                  </a:lnTo>
                  <a:lnTo>
                    <a:pt x="2876" y="581"/>
                  </a:lnTo>
                  <a:lnTo>
                    <a:pt x="2874" y="551"/>
                  </a:lnTo>
                  <a:lnTo>
                    <a:pt x="2868" y="522"/>
                  </a:lnTo>
                  <a:lnTo>
                    <a:pt x="2859" y="493"/>
                  </a:lnTo>
                  <a:lnTo>
                    <a:pt x="2846" y="464"/>
                  </a:lnTo>
                  <a:lnTo>
                    <a:pt x="2830" y="436"/>
                  </a:lnTo>
                  <a:lnTo>
                    <a:pt x="2810" y="409"/>
                  </a:lnTo>
                  <a:lnTo>
                    <a:pt x="2788" y="382"/>
                  </a:lnTo>
                  <a:lnTo>
                    <a:pt x="2763" y="355"/>
                  </a:lnTo>
                  <a:lnTo>
                    <a:pt x="2734" y="330"/>
                  </a:lnTo>
                  <a:lnTo>
                    <a:pt x="2702" y="304"/>
                  </a:lnTo>
                  <a:lnTo>
                    <a:pt x="2667" y="280"/>
                  </a:lnTo>
                  <a:lnTo>
                    <a:pt x="2629" y="256"/>
                  </a:lnTo>
                  <a:lnTo>
                    <a:pt x="2590" y="234"/>
                  </a:lnTo>
                  <a:lnTo>
                    <a:pt x="2546" y="212"/>
                  </a:lnTo>
                  <a:lnTo>
                    <a:pt x="2501" y="191"/>
                  </a:lnTo>
                  <a:lnTo>
                    <a:pt x="2454" y="171"/>
                  </a:lnTo>
                  <a:lnTo>
                    <a:pt x="2404" y="151"/>
                  </a:lnTo>
                  <a:lnTo>
                    <a:pt x="2352" y="133"/>
                  </a:lnTo>
                  <a:lnTo>
                    <a:pt x="2298" y="116"/>
                  </a:lnTo>
                  <a:lnTo>
                    <a:pt x="2241" y="100"/>
                  </a:lnTo>
                  <a:lnTo>
                    <a:pt x="2182" y="84"/>
                  </a:lnTo>
                  <a:lnTo>
                    <a:pt x="2122" y="70"/>
                  </a:lnTo>
                  <a:lnTo>
                    <a:pt x="2060" y="58"/>
                  </a:lnTo>
                  <a:lnTo>
                    <a:pt x="1997" y="46"/>
                  </a:lnTo>
                  <a:lnTo>
                    <a:pt x="1931" y="36"/>
                  </a:lnTo>
                  <a:lnTo>
                    <a:pt x="1865" y="27"/>
                  </a:lnTo>
                  <a:lnTo>
                    <a:pt x="1797" y="19"/>
                  </a:lnTo>
                  <a:lnTo>
                    <a:pt x="1727" y="12"/>
                  </a:lnTo>
                  <a:lnTo>
                    <a:pt x="1656" y="7"/>
                  </a:lnTo>
                  <a:lnTo>
                    <a:pt x="1585" y="3"/>
                  </a:lnTo>
                  <a:lnTo>
                    <a:pt x="1512" y="1"/>
                  </a:lnTo>
                  <a:lnTo>
                    <a:pt x="1438" y="0"/>
                  </a:lnTo>
                  <a:lnTo>
                    <a:pt x="1364" y="1"/>
                  </a:lnTo>
                  <a:lnTo>
                    <a:pt x="1291" y="3"/>
                  </a:lnTo>
                  <a:lnTo>
                    <a:pt x="1220" y="7"/>
                  </a:lnTo>
                  <a:lnTo>
                    <a:pt x="1149" y="12"/>
                  </a:lnTo>
                  <a:lnTo>
                    <a:pt x="1079" y="19"/>
                  </a:lnTo>
                  <a:lnTo>
                    <a:pt x="1011" y="27"/>
                  </a:lnTo>
                  <a:lnTo>
                    <a:pt x="945" y="36"/>
                  </a:lnTo>
                  <a:lnTo>
                    <a:pt x="879" y="46"/>
                  </a:lnTo>
                  <a:lnTo>
                    <a:pt x="816" y="58"/>
                  </a:lnTo>
                  <a:lnTo>
                    <a:pt x="754" y="70"/>
                  </a:lnTo>
                  <a:lnTo>
                    <a:pt x="694" y="84"/>
                  </a:lnTo>
                  <a:lnTo>
                    <a:pt x="635" y="100"/>
                  </a:lnTo>
                  <a:lnTo>
                    <a:pt x="578" y="116"/>
                  </a:lnTo>
                  <a:lnTo>
                    <a:pt x="525" y="133"/>
                  </a:lnTo>
                  <a:lnTo>
                    <a:pt x="472" y="151"/>
                  </a:lnTo>
                  <a:lnTo>
                    <a:pt x="423" y="171"/>
                  </a:lnTo>
                  <a:lnTo>
                    <a:pt x="375" y="191"/>
                  </a:lnTo>
                  <a:lnTo>
                    <a:pt x="330" y="212"/>
                  </a:lnTo>
                  <a:lnTo>
                    <a:pt x="286" y="234"/>
                  </a:lnTo>
                  <a:lnTo>
                    <a:pt x="246" y="256"/>
                  </a:lnTo>
                  <a:lnTo>
                    <a:pt x="209" y="280"/>
                  </a:lnTo>
                  <a:lnTo>
                    <a:pt x="174" y="304"/>
                  </a:lnTo>
                  <a:lnTo>
                    <a:pt x="142" y="330"/>
                  </a:lnTo>
                  <a:lnTo>
                    <a:pt x="113" y="355"/>
                  </a:lnTo>
                  <a:lnTo>
                    <a:pt x="88" y="382"/>
                  </a:lnTo>
                  <a:lnTo>
                    <a:pt x="65" y="409"/>
                  </a:lnTo>
                  <a:lnTo>
                    <a:pt x="46" y="436"/>
                  </a:lnTo>
                  <a:lnTo>
                    <a:pt x="30" y="464"/>
                  </a:lnTo>
                  <a:lnTo>
                    <a:pt x="17" y="493"/>
                  </a:lnTo>
                  <a:lnTo>
                    <a:pt x="8" y="522"/>
                  </a:lnTo>
                  <a:lnTo>
                    <a:pt x="2" y="551"/>
                  </a:lnTo>
                  <a:lnTo>
                    <a:pt x="0" y="581"/>
                  </a:lnTo>
                  <a:lnTo>
                    <a:pt x="2" y="611"/>
                  </a:lnTo>
                  <a:lnTo>
                    <a:pt x="8" y="639"/>
                  </a:lnTo>
                  <a:lnTo>
                    <a:pt x="17" y="669"/>
                  </a:lnTo>
                  <a:lnTo>
                    <a:pt x="30" y="697"/>
                  </a:lnTo>
                  <a:lnTo>
                    <a:pt x="46" y="726"/>
                  </a:lnTo>
                  <a:lnTo>
                    <a:pt x="65" y="753"/>
                  </a:lnTo>
                  <a:lnTo>
                    <a:pt x="88" y="780"/>
                  </a:lnTo>
                  <a:lnTo>
                    <a:pt x="113" y="806"/>
                  </a:lnTo>
                  <a:lnTo>
                    <a:pt x="142" y="831"/>
                  </a:lnTo>
                  <a:lnTo>
                    <a:pt x="174" y="857"/>
                  </a:lnTo>
                  <a:lnTo>
                    <a:pt x="209" y="881"/>
                  </a:lnTo>
                  <a:lnTo>
                    <a:pt x="246" y="905"/>
                  </a:lnTo>
                  <a:lnTo>
                    <a:pt x="286" y="928"/>
                  </a:lnTo>
                  <a:lnTo>
                    <a:pt x="330" y="949"/>
                  </a:lnTo>
                  <a:lnTo>
                    <a:pt x="375" y="970"/>
                  </a:lnTo>
                  <a:lnTo>
                    <a:pt x="423" y="990"/>
                  </a:lnTo>
                  <a:lnTo>
                    <a:pt x="472" y="1010"/>
                  </a:lnTo>
                  <a:lnTo>
                    <a:pt x="525" y="1028"/>
                  </a:lnTo>
                  <a:lnTo>
                    <a:pt x="578" y="1046"/>
                  </a:lnTo>
                  <a:lnTo>
                    <a:pt x="635" y="1061"/>
                  </a:lnTo>
                  <a:lnTo>
                    <a:pt x="694" y="1077"/>
                  </a:lnTo>
                  <a:lnTo>
                    <a:pt x="754" y="1091"/>
                  </a:lnTo>
                  <a:lnTo>
                    <a:pt x="816" y="1103"/>
                  </a:lnTo>
                  <a:lnTo>
                    <a:pt x="879" y="1116"/>
                  </a:lnTo>
                  <a:lnTo>
                    <a:pt x="945" y="1126"/>
                  </a:lnTo>
                  <a:lnTo>
                    <a:pt x="1011" y="1135"/>
                  </a:lnTo>
                  <a:lnTo>
                    <a:pt x="1079" y="1142"/>
                  </a:lnTo>
                  <a:lnTo>
                    <a:pt x="1149" y="1149"/>
                  </a:lnTo>
                  <a:lnTo>
                    <a:pt x="1220" y="1154"/>
                  </a:lnTo>
                  <a:lnTo>
                    <a:pt x="1291" y="1158"/>
                  </a:lnTo>
                  <a:lnTo>
                    <a:pt x="1364" y="1160"/>
                  </a:lnTo>
                  <a:lnTo>
                    <a:pt x="1438" y="1161"/>
                  </a:lnTo>
                  <a:close/>
                </a:path>
              </a:pathLst>
            </a:custGeom>
            <a:solidFill>
              <a:srgbClr val="C3C3C2"/>
            </a:solidFill>
            <a:ln w="9525">
              <a:noFill/>
              <a:round/>
              <a:headEnd/>
              <a:tailEnd/>
            </a:ln>
          </p:spPr>
          <p:txBody>
            <a:bodyPr/>
            <a:lstStyle/>
            <a:p>
              <a:endParaRPr lang="en-GB"/>
            </a:p>
          </p:txBody>
        </p:sp>
        <p:sp>
          <p:nvSpPr>
            <p:cNvPr id="174231" name="Freeform 151"/>
            <p:cNvSpPr>
              <a:spLocks/>
            </p:cNvSpPr>
            <p:nvPr/>
          </p:nvSpPr>
          <p:spPr bwMode="auto">
            <a:xfrm>
              <a:off x="2227" y="2018"/>
              <a:ext cx="575" cy="232"/>
            </a:xfrm>
            <a:custGeom>
              <a:avLst/>
              <a:gdLst/>
              <a:ahLst/>
              <a:cxnLst>
                <a:cxn ang="0">
                  <a:pos x="1585" y="1158"/>
                </a:cxn>
                <a:cxn ang="0">
                  <a:pos x="1797" y="1142"/>
                </a:cxn>
                <a:cxn ang="0">
                  <a:pos x="1997" y="1116"/>
                </a:cxn>
                <a:cxn ang="0">
                  <a:pos x="2182" y="1077"/>
                </a:cxn>
                <a:cxn ang="0">
                  <a:pos x="2352" y="1028"/>
                </a:cxn>
                <a:cxn ang="0">
                  <a:pos x="2501" y="970"/>
                </a:cxn>
                <a:cxn ang="0">
                  <a:pos x="2629" y="905"/>
                </a:cxn>
                <a:cxn ang="0">
                  <a:pos x="2734" y="831"/>
                </a:cxn>
                <a:cxn ang="0">
                  <a:pos x="2810" y="753"/>
                </a:cxn>
                <a:cxn ang="0">
                  <a:pos x="2859" y="669"/>
                </a:cxn>
                <a:cxn ang="0">
                  <a:pos x="2876" y="581"/>
                </a:cxn>
                <a:cxn ang="0">
                  <a:pos x="2859" y="493"/>
                </a:cxn>
                <a:cxn ang="0">
                  <a:pos x="2810" y="409"/>
                </a:cxn>
                <a:cxn ang="0">
                  <a:pos x="2734" y="330"/>
                </a:cxn>
                <a:cxn ang="0">
                  <a:pos x="2629" y="256"/>
                </a:cxn>
                <a:cxn ang="0">
                  <a:pos x="2501" y="191"/>
                </a:cxn>
                <a:cxn ang="0">
                  <a:pos x="2352" y="133"/>
                </a:cxn>
                <a:cxn ang="0">
                  <a:pos x="2182" y="84"/>
                </a:cxn>
                <a:cxn ang="0">
                  <a:pos x="1997" y="46"/>
                </a:cxn>
                <a:cxn ang="0">
                  <a:pos x="1797" y="19"/>
                </a:cxn>
                <a:cxn ang="0">
                  <a:pos x="1585" y="3"/>
                </a:cxn>
                <a:cxn ang="0">
                  <a:pos x="1364" y="1"/>
                </a:cxn>
                <a:cxn ang="0">
                  <a:pos x="1149" y="12"/>
                </a:cxn>
                <a:cxn ang="0">
                  <a:pos x="945" y="36"/>
                </a:cxn>
                <a:cxn ang="0">
                  <a:pos x="754" y="70"/>
                </a:cxn>
                <a:cxn ang="0">
                  <a:pos x="578" y="116"/>
                </a:cxn>
                <a:cxn ang="0">
                  <a:pos x="423" y="171"/>
                </a:cxn>
                <a:cxn ang="0">
                  <a:pos x="286" y="234"/>
                </a:cxn>
                <a:cxn ang="0">
                  <a:pos x="174" y="304"/>
                </a:cxn>
                <a:cxn ang="0">
                  <a:pos x="88" y="382"/>
                </a:cxn>
                <a:cxn ang="0">
                  <a:pos x="30" y="464"/>
                </a:cxn>
                <a:cxn ang="0">
                  <a:pos x="2" y="551"/>
                </a:cxn>
                <a:cxn ang="0">
                  <a:pos x="8" y="639"/>
                </a:cxn>
                <a:cxn ang="0">
                  <a:pos x="46" y="726"/>
                </a:cxn>
                <a:cxn ang="0">
                  <a:pos x="113" y="806"/>
                </a:cxn>
                <a:cxn ang="0">
                  <a:pos x="209" y="881"/>
                </a:cxn>
                <a:cxn ang="0">
                  <a:pos x="330" y="949"/>
                </a:cxn>
                <a:cxn ang="0">
                  <a:pos x="472" y="1010"/>
                </a:cxn>
                <a:cxn ang="0">
                  <a:pos x="635" y="1061"/>
                </a:cxn>
                <a:cxn ang="0">
                  <a:pos x="816" y="1103"/>
                </a:cxn>
                <a:cxn ang="0">
                  <a:pos x="1011" y="1135"/>
                </a:cxn>
                <a:cxn ang="0">
                  <a:pos x="1220" y="1154"/>
                </a:cxn>
                <a:cxn ang="0">
                  <a:pos x="1438" y="1161"/>
                </a:cxn>
              </a:cxnLst>
              <a:rect l="0" t="0" r="r" b="b"/>
              <a:pathLst>
                <a:path w="2876" h="1161">
                  <a:moveTo>
                    <a:pt x="1438" y="1161"/>
                  </a:moveTo>
                  <a:lnTo>
                    <a:pt x="1512" y="1160"/>
                  </a:lnTo>
                  <a:lnTo>
                    <a:pt x="1585" y="1158"/>
                  </a:lnTo>
                  <a:lnTo>
                    <a:pt x="1656" y="1154"/>
                  </a:lnTo>
                  <a:lnTo>
                    <a:pt x="1727" y="1149"/>
                  </a:lnTo>
                  <a:lnTo>
                    <a:pt x="1797" y="1142"/>
                  </a:lnTo>
                  <a:lnTo>
                    <a:pt x="1865" y="1135"/>
                  </a:lnTo>
                  <a:lnTo>
                    <a:pt x="1931" y="1126"/>
                  </a:lnTo>
                  <a:lnTo>
                    <a:pt x="1997" y="1116"/>
                  </a:lnTo>
                  <a:lnTo>
                    <a:pt x="2060" y="1103"/>
                  </a:lnTo>
                  <a:lnTo>
                    <a:pt x="2122" y="1091"/>
                  </a:lnTo>
                  <a:lnTo>
                    <a:pt x="2182" y="1077"/>
                  </a:lnTo>
                  <a:lnTo>
                    <a:pt x="2241" y="1061"/>
                  </a:lnTo>
                  <a:lnTo>
                    <a:pt x="2298" y="1046"/>
                  </a:lnTo>
                  <a:lnTo>
                    <a:pt x="2352" y="1028"/>
                  </a:lnTo>
                  <a:lnTo>
                    <a:pt x="2404" y="1010"/>
                  </a:lnTo>
                  <a:lnTo>
                    <a:pt x="2454" y="990"/>
                  </a:lnTo>
                  <a:lnTo>
                    <a:pt x="2501" y="970"/>
                  </a:lnTo>
                  <a:lnTo>
                    <a:pt x="2546" y="949"/>
                  </a:lnTo>
                  <a:lnTo>
                    <a:pt x="2590" y="928"/>
                  </a:lnTo>
                  <a:lnTo>
                    <a:pt x="2629" y="905"/>
                  </a:lnTo>
                  <a:lnTo>
                    <a:pt x="2667" y="881"/>
                  </a:lnTo>
                  <a:lnTo>
                    <a:pt x="2702" y="857"/>
                  </a:lnTo>
                  <a:lnTo>
                    <a:pt x="2734" y="831"/>
                  </a:lnTo>
                  <a:lnTo>
                    <a:pt x="2763" y="806"/>
                  </a:lnTo>
                  <a:lnTo>
                    <a:pt x="2788" y="780"/>
                  </a:lnTo>
                  <a:lnTo>
                    <a:pt x="2810" y="753"/>
                  </a:lnTo>
                  <a:lnTo>
                    <a:pt x="2830" y="726"/>
                  </a:lnTo>
                  <a:lnTo>
                    <a:pt x="2846" y="697"/>
                  </a:lnTo>
                  <a:lnTo>
                    <a:pt x="2859" y="669"/>
                  </a:lnTo>
                  <a:lnTo>
                    <a:pt x="2868" y="639"/>
                  </a:lnTo>
                  <a:lnTo>
                    <a:pt x="2874" y="611"/>
                  </a:lnTo>
                  <a:lnTo>
                    <a:pt x="2876" y="581"/>
                  </a:lnTo>
                  <a:lnTo>
                    <a:pt x="2874" y="551"/>
                  </a:lnTo>
                  <a:lnTo>
                    <a:pt x="2868" y="522"/>
                  </a:lnTo>
                  <a:lnTo>
                    <a:pt x="2859" y="493"/>
                  </a:lnTo>
                  <a:lnTo>
                    <a:pt x="2846" y="464"/>
                  </a:lnTo>
                  <a:lnTo>
                    <a:pt x="2830" y="436"/>
                  </a:lnTo>
                  <a:lnTo>
                    <a:pt x="2810" y="409"/>
                  </a:lnTo>
                  <a:lnTo>
                    <a:pt x="2788" y="382"/>
                  </a:lnTo>
                  <a:lnTo>
                    <a:pt x="2763" y="355"/>
                  </a:lnTo>
                  <a:lnTo>
                    <a:pt x="2734" y="330"/>
                  </a:lnTo>
                  <a:lnTo>
                    <a:pt x="2702" y="304"/>
                  </a:lnTo>
                  <a:lnTo>
                    <a:pt x="2667" y="280"/>
                  </a:lnTo>
                  <a:lnTo>
                    <a:pt x="2629" y="256"/>
                  </a:lnTo>
                  <a:lnTo>
                    <a:pt x="2590" y="234"/>
                  </a:lnTo>
                  <a:lnTo>
                    <a:pt x="2546" y="212"/>
                  </a:lnTo>
                  <a:lnTo>
                    <a:pt x="2501" y="191"/>
                  </a:lnTo>
                  <a:lnTo>
                    <a:pt x="2454" y="171"/>
                  </a:lnTo>
                  <a:lnTo>
                    <a:pt x="2404" y="151"/>
                  </a:lnTo>
                  <a:lnTo>
                    <a:pt x="2352" y="133"/>
                  </a:lnTo>
                  <a:lnTo>
                    <a:pt x="2298" y="116"/>
                  </a:lnTo>
                  <a:lnTo>
                    <a:pt x="2241" y="100"/>
                  </a:lnTo>
                  <a:lnTo>
                    <a:pt x="2182" y="84"/>
                  </a:lnTo>
                  <a:lnTo>
                    <a:pt x="2122" y="70"/>
                  </a:lnTo>
                  <a:lnTo>
                    <a:pt x="2060" y="58"/>
                  </a:lnTo>
                  <a:lnTo>
                    <a:pt x="1997" y="46"/>
                  </a:lnTo>
                  <a:lnTo>
                    <a:pt x="1931" y="36"/>
                  </a:lnTo>
                  <a:lnTo>
                    <a:pt x="1865" y="27"/>
                  </a:lnTo>
                  <a:lnTo>
                    <a:pt x="1797" y="19"/>
                  </a:lnTo>
                  <a:lnTo>
                    <a:pt x="1727" y="12"/>
                  </a:lnTo>
                  <a:lnTo>
                    <a:pt x="1656" y="7"/>
                  </a:lnTo>
                  <a:lnTo>
                    <a:pt x="1585" y="3"/>
                  </a:lnTo>
                  <a:lnTo>
                    <a:pt x="1512" y="1"/>
                  </a:lnTo>
                  <a:lnTo>
                    <a:pt x="1438" y="0"/>
                  </a:lnTo>
                  <a:lnTo>
                    <a:pt x="1364" y="1"/>
                  </a:lnTo>
                  <a:lnTo>
                    <a:pt x="1291" y="3"/>
                  </a:lnTo>
                  <a:lnTo>
                    <a:pt x="1220" y="7"/>
                  </a:lnTo>
                  <a:lnTo>
                    <a:pt x="1149" y="12"/>
                  </a:lnTo>
                  <a:lnTo>
                    <a:pt x="1079" y="19"/>
                  </a:lnTo>
                  <a:lnTo>
                    <a:pt x="1011" y="27"/>
                  </a:lnTo>
                  <a:lnTo>
                    <a:pt x="945" y="36"/>
                  </a:lnTo>
                  <a:lnTo>
                    <a:pt x="879" y="46"/>
                  </a:lnTo>
                  <a:lnTo>
                    <a:pt x="816" y="58"/>
                  </a:lnTo>
                  <a:lnTo>
                    <a:pt x="754" y="70"/>
                  </a:lnTo>
                  <a:lnTo>
                    <a:pt x="694" y="84"/>
                  </a:lnTo>
                  <a:lnTo>
                    <a:pt x="635" y="100"/>
                  </a:lnTo>
                  <a:lnTo>
                    <a:pt x="578" y="116"/>
                  </a:lnTo>
                  <a:lnTo>
                    <a:pt x="525" y="133"/>
                  </a:lnTo>
                  <a:lnTo>
                    <a:pt x="472" y="151"/>
                  </a:lnTo>
                  <a:lnTo>
                    <a:pt x="423" y="171"/>
                  </a:lnTo>
                  <a:lnTo>
                    <a:pt x="375" y="191"/>
                  </a:lnTo>
                  <a:lnTo>
                    <a:pt x="330" y="212"/>
                  </a:lnTo>
                  <a:lnTo>
                    <a:pt x="286" y="234"/>
                  </a:lnTo>
                  <a:lnTo>
                    <a:pt x="246" y="256"/>
                  </a:lnTo>
                  <a:lnTo>
                    <a:pt x="209" y="280"/>
                  </a:lnTo>
                  <a:lnTo>
                    <a:pt x="174" y="304"/>
                  </a:lnTo>
                  <a:lnTo>
                    <a:pt x="142" y="330"/>
                  </a:lnTo>
                  <a:lnTo>
                    <a:pt x="113" y="355"/>
                  </a:lnTo>
                  <a:lnTo>
                    <a:pt x="88" y="382"/>
                  </a:lnTo>
                  <a:lnTo>
                    <a:pt x="65" y="409"/>
                  </a:lnTo>
                  <a:lnTo>
                    <a:pt x="46" y="436"/>
                  </a:lnTo>
                  <a:lnTo>
                    <a:pt x="30" y="464"/>
                  </a:lnTo>
                  <a:lnTo>
                    <a:pt x="17" y="493"/>
                  </a:lnTo>
                  <a:lnTo>
                    <a:pt x="8" y="522"/>
                  </a:lnTo>
                  <a:lnTo>
                    <a:pt x="2" y="551"/>
                  </a:lnTo>
                  <a:lnTo>
                    <a:pt x="0" y="581"/>
                  </a:lnTo>
                  <a:lnTo>
                    <a:pt x="2" y="611"/>
                  </a:lnTo>
                  <a:lnTo>
                    <a:pt x="8" y="639"/>
                  </a:lnTo>
                  <a:lnTo>
                    <a:pt x="17" y="669"/>
                  </a:lnTo>
                  <a:lnTo>
                    <a:pt x="30" y="697"/>
                  </a:lnTo>
                  <a:lnTo>
                    <a:pt x="46" y="726"/>
                  </a:lnTo>
                  <a:lnTo>
                    <a:pt x="65" y="753"/>
                  </a:lnTo>
                  <a:lnTo>
                    <a:pt x="88" y="780"/>
                  </a:lnTo>
                  <a:lnTo>
                    <a:pt x="113" y="806"/>
                  </a:lnTo>
                  <a:lnTo>
                    <a:pt x="142" y="831"/>
                  </a:lnTo>
                  <a:lnTo>
                    <a:pt x="174" y="857"/>
                  </a:lnTo>
                  <a:lnTo>
                    <a:pt x="209" y="881"/>
                  </a:lnTo>
                  <a:lnTo>
                    <a:pt x="246" y="905"/>
                  </a:lnTo>
                  <a:lnTo>
                    <a:pt x="286" y="928"/>
                  </a:lnTo>
                  <a:lnTo>
                    <a:pt x="330" y="949"/>
                  </a:lnTo>
                  <a:lnTo>
                    <a:pt x="375" y="970"/>
                  </a:lnTo>
                  <a:lnTo>
                    <a:pt x="423" y="990"/>
                  </a:lnTo>
                  <a:lnTo>
                    <a:pt x="472" y="1010"/>
                  </a:lnTo>
                  <a:lnTo>
                    <a:pt x="525" y="1028"/>
                  </a:lnTo>
                  <a:lnTo>
                    <a:pt x="578" y="1046"/>
                  </a:lnTo>
                  <a:lnTo>
                    <a:pt x="635" y="1061"/>
                  </a:lnTo>
                  <a:lnTo>
                    <a:pt x="694" y="1077"/>
                  </a:lnTo>
                  <a:lnTo>
                    <a:pt x="754" y="1091"/>
                  </a:lnTo>
                  <a:lnTo>
                    <a:pt x="816" y="1103"/>
                  </a:lnTo>
                  <a:lnTo>
                    <a:pt x="879" y="1116"/>
                  </a:lnTo>
                  <a:lnTo>
                    <a:pt x="945" y="1126"/>
                  </a:lnTo>
                  <a:lnTo>
                    <a:pt x="1011" y="1135"/>
                  </a:lnTo>
                  <a:lnTo>
                    <a:pt x="1079" y="1142"/>
                  </a:lnTo>
                  <a:lnTo>
                    <a:pt x="1149" y="1149"/>
                  </a:lnTo>
                  <a:lnTo>
                    <a:pt x="1220" y="1154"/>
                  </a:lnTo>
                  <a:lnTo>
                    <a:pt x="1291" y="1158"/>
                  </a:lnTo>
                  <a:lnTo>
                    <a:pt x="1364" y="1160"/>
                  </a:lnTo>
                  <a:lnTo>
                    <a:pt x="1438" y="1161"/>
                  </a:lnTo>
                </a:path>
              </a:pathLst>
            </a:custGeom>
            <a:noFill/>
            <a:ln w="4763">
              <a:solidFill>
                <a:srgbClr val="C3C3C2"/>
              </a:solidFill>
              <a:prstDash val="solid"/>
              <a:round/>
              <a:headEnd/>
              <a:tailEnd/>
            </a:ln>
          </p:spPr>
          <p:txBody>
            <a:bodyPr/>
            <a:lstStyle/>
            <a:p>
              <a:endParaRPr lang="en-GB"/>
            </a:p>
          </p:txBody>
        </p:sp>
        <p:sp>
          <p:nvSpPr>
            <p:cNvPr id="174232" name="Freeform 152"/>
            <p:cNvSpPr>
              <a:spLocks/>
            </p:cNvSpPr>
            <p:nvPr/>
          </p:nvSpPr>
          <p:spPr bwMode="auto">
            <a:xfrm>
              <a:off x="2211" y="2002"/>
              <a:ext cx="575" cy="233"/>
            </a:xfrm>
            <a:custGeom>
              <a:avLst/>
              <a:gdLst/>
              <a:ahLst/>
              <a:cxnLst>
                <a:cxn ang="0">
                  <a:pos x="1584" y="1158"/>
                </a:cxn>
                <a:cxn ang="0">
                  <a:pos x="1796" y="1144"/>
                </a:cxn>
                <a:cxn ang="0">
                  <a:pos x="1996" y="1116"/>
                </a:cxn>
                <a:cxn ang="0">
                  <a:pos x="2181" y="1077"/>
                </a:cxn>
                <a:cxn ang="0">
                  <a:pos x="2351" y="1028"/>
                </a:cxn>
                <a:cxn ang="0">
                  <a:pos x="2501" y="972"/>
                </a:cxn>
                <a:cxn ang="0">
                  <a:pos x="2629" y="905"/>
                </a:cxn>
                <a:cxn ang="0">
                  <a:pos x="2733" y="833"/>
                </a:cxn>
                <a:cxn ang="0">
                  <a:pos x="2810" y="753"/>
                </a:cxn>
                <a:cxn ang="0">
                  <a:pos x="2859" y="670"/>
                </a:cxn>
                <a:cxn ang="0">
                  <a:pos x="2875" y="581"/>
                </a:cxn>
                <a:cxn ang="0">
                  <a:pos x="2859" y="493"/>
                </a:cxn>
                <a:cxn ang="0">
                  <a:pos x="2810" y="409"/>
                </a:cxn>
                <a:cxn ang="0">
                  <a:pos x="2733" y="330"/>
                </a:cxn>
                <a:cxn ang="0">
                  <a:pos x="2629" y="257"/>
                </a:cxn>
                <a:cxn ang="0">
                  <a:pos x="2501" y="191"/>
                </a:cxn>
                <a:cxn ang="0">
                  <a:pos x="2351" y="134"/>
                </a:cxn>
                <a:cxn ang="0">
                  <a:pos x="2181" y="85"/>
                </a:cxn>
                <a:cxn ang="0">
                  <a:pos x="1996" y="47"/>
                </a:cxn>
                <a:cxn ang="0">
                  <a:pos x="1796" y="19"/>
                </a:cxn>
                <a:cxn ang="0">
                  <a:pos x="1584" y="4"/>
                </a:cxn>
                <a:cxn ang="0">
                  <a:pos x="1363" y="1"/>
                </a:cxn>
                <a:cxn ang="0">
                  <a:pos x="1148" y="13"/>
                </a:cxn>
                <a:cxn ang="0">
                  <a:pos x="944" y="36"/>
                </a:cxn>
                <a:cxn ang="0">
                  <a:pos x="753" y="71"/>
                </a:cxn>
                <a:cxn ang="0">
                  <a:pos x="579" y="117"/>
                </a:cxn>
                <a:cxn ang="0">
                  <a:pos x="422" y="171"/>
                </a:cxn>
                <a:cxn ang="0">
                  <a:pos x="286" y="235"/>
                </a:cxn>
                <a:cxn ang="0">
                  <a:pos x="174" y="305"/>
                </a:cxn>
                <a:cxn ang="0">
                  <a:pos x="87" y="382"/>
                </a:cxn>
                <a:cxn ang="0">
                  <a:pos x="29" y="464"/>
                </a:cxn>
                <a:cxn ang="0">
                  <a:pos x="2" y="551"/>
                </a:cxn>
                <a:cxn ang="0">
                  <a:pos x="7" y="641"/>
                </a:cxn>
                <a:cxn ang="0">
                  <a:pos x="45" y="726"/>
                </a:cxn>
                <a:cxn ang="0">
                  <a:pos x="114" y="806"/>
                </a:cxn>
                <a:cxn ang="0">
                  <a:pos x="209" y="882"/>
                </a:cxn>
                <a:cxn ang="0">
                  <a:pos x="329" y="951"/>
                </a:cxn>
                <a:cxn ang="0">
                  <a:pos x="472" y="1010"/>
                </a:cxn>
                <a:cxn ang="0">
                  <a:pos x="634" y="1063"/>
                </a:cxn>
                <a:cxn ang="0">
                  <a:pos x="815" y="1104"/>
                </a:cxn>
                <a:cxn ang="0">
                  <a:pos x="1010" y="1136"/>
                </a:cxn>
                <a:cxn ang="0">
                  <a:pos x="1219" y="1155"/>
                </a:cxn>
                <a:cxn ang="0">
                  <a:pos x="1438" y="1161"/>
                </a:cxn>
              </a:cxnLst>
              <a:rect l="0" t="0" r="r" b="b"/>
              <a:pathLst>
                <a:path w="2875" h="1161">
                  <a:moveTo>
                    <a:pt x="1438" y="1161"/>
                  </a:moveTo>
                  <a:lnTo>
                    <a:pt x="1511" y="1160"/>
                  </a:lnTo>
                  <a:lnTo>
                    <a:pt x="1584" y="1158"/>
                  </a:lnTo>
                  <a:lnTo>
                    <a:pt x="1655" y="1155"/>
                  </a:lnTo>
                  <a:lnTo>
                    <a:pt x="1726" y="1149"/>
                  </a:lnTo>
                  <a:lnTo>
                    <a:pt x="1796" y="1144"/>
                  </a:lnTo>
                  <a:lnTo>
                    <a:pt x="1864" y="1136"/>
                  </a:lnTo>
                  <a:lnTo>
                    <a:pt x="1931" y="1126"/>
                  </a:lnTo>
                  <a:lnTo>
                    <a:pt x="1996" y="1116"/>
                  </a:lnTo>
                  <a:lnTo>
                    <a:pt x="2059" y="1104"/>
                  </a:lnTo>
                  <a:lnTo>
                    <a:pt x="2122" y="1092"/>
                  </a:lnTo>
                  <a:lnTo>
                    <a:pt x="2181" y="1077"/>
                  </a:lnTo>
                  <a:lnTo>
                    <a:pt x="2240" y="1063"/>
                  </a:lnTo>
                  <a:lnTo>
                    <a:pt x="2297" y="1046"/>
                  </a:lnTo>
                  <a:lnTo>
                    <a:pt x="2351" y="1028"/>
                  </a:lnTo>
                  <a:lnTo>
                    <a:pt x="2403" y="1010"/>
                  </a:lnTo>
                  <a:lnTo>
                    <a:pt x="2453" y="992"/>
                  </a:lnTo>
                  <a:lnTo>
                    <a:pt x="2501" y="972"/>
                  </a:lnTo>
                  <a:lnTo>
                    <a:pt x="2546" y="951"/>
                  </a:lnTo>
                  <a:lnTo>
                    <a:pt x="2589" y="928"/>
                  </a:lnTo>
                  <a:lnTo>
                    <a:pt x="2629" y="905"/>
                  </a:lnTo>
                  <a:lnTo>
                    <a:pt x="2667" y="882"/>
                  </a:lnTo>
                  <a:lnTo>
                    <a:pt x="2701" y="857"/>
                  </a:lnTo>
                  <a:lnTo>
                    <a:pt x="2733" y="833"/>
                  </a:lnTo>
                  <a:lnTo>
                    <a:pt x="2762" y="806"/>
                  </a:lnTo>
                  <a:lnTo>
                    <a:pt x="2787" y="781"/>
                  </a:lnTo>
                  <a:lnTo>
                    <a:pt x="2810" y="753"/>
                  </a:lnTo>
                  <a:lnTo>
                    <a:pt x="2830" y="726"/>
                  </a:lnTo>
                  <a:lnTo>
                    <a:pt x="2845" y="697"/>
                  </a:lnTo>
                  <a:lnTo>
                    <a:pt x="2859" y="670"/>
                  </a:lnTo>
                  <a:lnTo>
                    <a:pt x="2867" y="641"/>
                  </a:lnTo>
                  <a:lnTo>
                    <a:pt x="2873" y="611"/>
                  </a:lnTo>
                  <a:lnTo>
                    <a:pt x="2875" y="581"/>
                  </a:lnTo>
                  <a:lnTo>
                    <a:pt x="2873" y="551"/>
                  </a:lnTo>
                  <a:lnTo>
                    <a:pt x="2867" y="522"/>
                  </a:lnTo>
                  <a:lnTo>
                    <a:pt x="2859" y="493"/>
                  </a:lnTo>
                  <a:lnTo>
                    <a:pt x="2845" y="464"/>
                  </a:lnTo>
                  <a:lnTo>
                    <a:pt x="2830" y="437"/>
                  </a:lnTo>
                  <a:lnTo>
                    <a:pt x="2810" y="409"/>
                  </a:lnTo>
                  <a:lnTo>
                    <a:pt x="2787" y="382"/>
                  </a:lnTo>
                  <a:lnTo>
                    <a:pt x="2762" y="356"/>
                  </a:lnTo>
                  <a:lnTo>
                    <a:pt x="2733" y="330"/>
                  </a:lnTo>
                  <a:lnTo>
                    <a:pt x="2701" y="305"/>
                  </a:lnTo>
                  <a:lnTo>
                    <a:pt x="2667" y="280"/>
                  </a:lnTo>
                  <a:lnTo>
                    <a:pt x="2629" y="257"/>
                  </a:lnTo>
                  <a:lnTo>
                    <a:pt x="2589" y="235"/>
                  </a:lnTo>
                  <a:lnTo>
                    <a:pt x="2546" y="212"/>
                  </a:lnTo>
                  <a:lnTo>
                    <a:pt x="2501" y="191"/>
                  </a:lnTo>
                  <a:lnTo>
                    <a:pt x="2453" y="171"/>
                  </a:lnTo>
                  <a:lnTo>
                    <a:pt x="2403" y="152"/>
                  </a:lnTo>
                  <a:lnTo>
                    <a:pt x="2351" y="134"/>
                  </a:lnTo>
                  <a:lnTo>
                    <a:pt x="2297" y="117"/>
                  </a:lnTo>
                  <a:lnTo>
                    <a:pt x="2240" y="100"/>
                  </a:lnTo>
                  <a:lnTo>
                    <a:pt x="2181" y="85"/>
                  </a:lnTo>
                  <a:lnTo>
                    <a:pt x="2122" y="71"/>
                  </a:lnTo>
                  <a:lnTo>
                    <a:pt x="2059" y="58"/>
                  </a:lnTo>
                  <a:lnTo>
                    <a:pt x="1996" y="47"/>
                  </a:lnTo>
                  <a:lnTo>
                    <a:pt x="1931" y="36"/>
                  </a:lnTo>
                  <a:lnTo>
                    <a:pt x="1864" y="27"/>
                  </a:lnTo>
                  <a:lnTo>
                    <a:pt x="1796" y="19"/>
                  </a:lnTo>
                  <a:lnTo>
                    <a:pt x="1726" y="13"/>
                  </a:lnTo>
                  <a:lnTo>
                    <a:pt x="1655" y="7"/>
                  </a:lnTo>
                  <a:lnTo>
                    <a:pt x="1584" y="4"/>
                  </a:lnTo>
                  <a:lnTo>
                    <a:pt x="1511" y="1"/>
                  </a:lnTo>
                  <a:lnTo>
                    <a:pt x="1438" y="0"/>
                  </a:lnTo>
                  <a:lnTo>
                    <a:pt x="1363" y="1"/>
                  </a:lnTo>
                  <a:lnTo>
                    <a:pt x="1291" y="4"/>
                  </a:lnTo>
                  <a:lnTo>
                    <a:pt x="1219" y="7"/>
                  </a:lnTo>
                  <a:lnTo>
                    <a:pt x="1148" y="13"/>
                  </a:lnTo>
                  <a:lnTo>
                    <a:pt x="1079" y="19"/>
                  </a:lnTo>
                  <a:lnTo>
                    <a:pt x="1010" y="27"/>
                  </a:lnTo>
                  <a:lnTo>
                    <a:pt x="944" y="36"/>
                  </a:lnTo>
                  <a:lnTo>
                    <a:pt x="878" y="47"/>
                  </a:lnTo>
                  <a:lnTo>
                    <a:pt x="815" y="58"/>
                  </a:lnTo>
                  <a:lnTo>
                    <a:pt x="753" y="71"/>
                  </a:lnTo>
                  <a:lnTo>
                    <a:pt x="693" y="85"/>
                  </a:lnTo>
                  <a:lnTo>
                    <a:pt x="634" y="100"/>
                  </a:lnTo>
                  <a:lnTo>
                    <a:pt x="579" y="117"/>
                  </a:lnTo>
                  <a:lnTo>
                    <a:pt x="524" y="134"/>
                  </a:lnTo>
                  <a:lnTo>
                    <a:pt x="472" y="152"/>
                  </a:lnTo>
                  <a:lnTo>
                    <a:pt x="422" y="171"/>
                  </a:lnTo>
                  <a:lnTo>
                    <a:pt x="374" y="191"/>
                  </a:lnTo>
                  <a:lnTo>
                    <a:pt x="329" y="212"/>
                  </a:lnTo>
                  <a:lnTo>
                    <a:pt x="286" y="235"/>
                  </a:lnTo>
                  <a:lnTo>
                    <a:pt x="246" y="257"/>
                  </a:lnTo>
                  <a:lnTo>
                    <a:pt x="209" y="280"/>
                  </a:lnTo>
                  <a:lnTo>
                    <a:pt x="174" y="305"/>
                  </a:lnTo>
                  <a:lnTo>
                    <a:pt x="142" y="330"/>
                  </a:lnTo>
                  <a:lnTo>
                    <a:pt x="114" y="356"/>
                  </a:lnTo>
                  <a:lnTo>
                    <a:pt x="87" y="382"/>
                  </a:lnTo>
                  <a:lnTo>
                    <a:pt x="65" y="409"/>
                  </a:lnTo>
                  <a:lnTo>
                    <a:pt x="45" y="437"/>
                  </a:lnTo>
                  <a:lnTo>
                    <a:pt x="29" y="464"/>
                  </a:lnTo>
                  <a:lnTo>
                    <a:pt x="17" y="493"/>
                  </a:lnTo>
                  <a:lnTo>
                    <a:pt x="7" y="522"/>
                  </a:lnTo>
                  <a:lnTo>
                    <a:pt x="2" y="551"/>
                  </a:lnTo>
                  <a:lnTo>
                    <a:pt x="0" y="581"/>
                  </a:lnTo>
                  <a:lnTo>
                    <a:pt x="2" y="611"/>
                  </a:lnTo>
                  <a:lnTo>
                    <a:pt x="7" y="641"/>
                  </a:lnTo>
                  <a:lnTo>
                    <a:pt x="17" y="670"/>
                  </a:lnTo>
                  <a:lnTo>
                    <a:pt x="29" y="697"/>
                  </a:lnTo>
                  <a:lnTo>
                    <a:pt x="45" y="726"/>
                  </a:lnTo>
                  <a:lnTo>
                    <a:pt x="65" y="753"/>
                  </a:lnTo>
                  <a:lnTo>
                    <a:pt x="87" y="781"/>
                  </a:lnTo>
                  <a:lnTo>
                    <a:pt x="114" y="806"/>
                  </a:lnTo>
                  <a:lnTo>
                    <a:pt x="142" y="833"/>
                  </a:lnTo>
                  <a:lnTo>
                    <a:pt x="174" y="857"/>
                  </a:lnTo>
                  <a:lnTo>
                    <a:pt x="209" y="882"/>
                  </a:lnTo>
                  <a:lnTo>
                    <a:pt x="246" y="905"/>
                  </a:lnTo>
                  <a:lnTo>
                    <a:pt x="286" y="928"/>
                  </a:lnTo>
                  <a:lnTo>
                    <a:pt x="329" y="951"/>
                  </a:lnTo>
                  <a:lnTo>
                    <a:pt x="374" y="972"/>
                  </a:lnTo>
                  <a:lnTo>
                    <a:pt x="422" y="992"/>
                  </a:lnTo>
                  <a:lnTo>
                    <a:pt x="472" y="1010"/>
                  </a:lnTo>
                  <a:lnTo>
                    <a:pt x="524" y="1028"/>
                  </a:lnTo>
                  <a:lnTo>
                    <a:pt x="579" y="1046"/>
                  </a:lnTo>
                  <a:lnTo>
                    <a:pt x="634" y="1063"/>
                  </a:lnTo>
                  <a:lnTo>
                    <a:pt x="693" y="1077"/>
                  </a:lnTo>
                  <a:lnTo>
                    <a:pt x="753" y="1092"/>
                  </a:lnTo>
                  <a:lnTo>
                    <a:pt x="815" y="1104"/>
                  </a:lnTo>
                  <a:lnTo>
                    <a:pt x="878" y="1116"/>
                  </a:lnTo>
                  <a:lnTo>
                    <a:pt x="944" y="1126"/>
                  </a:lnTo>
                  <a:lnTo>
                    <a:pt x="1010" y="1136"/>
                  </a:lnTo>
                  <a:lnTo>
                    <a:pt x="1079" y="1144"/>
                  </a:lnTo>
                  <a:lnTo>
                    <a:pt x="1148" y="1149"/>
                  </a:lnTo>
                  <a:lnTo>
                    <a:pt x="1219" y="1155"/>
                  </a:lnTo>
                  <a:lnTo>
                    <a:pt x="1291" y="1158"/>
                  </a:lnTo>
                  <a:lnTo>
                    <a:pt x="1363" y="1160"/>
                  </a:lnTo>
                  <a:lnTo>
                    <a:pt x="1438" y="1161"/>
                  </a:lnTo>
                  <a:close/>
                </a:path>
              </a:pathLst>
            </a:custGeom>
            <a:solidFill>
              <a:srgbClr val="7A8A93"/>
            </a:solidFill>
            <a:ln w="9525">
              <a:noFill/>
              <a:round/>
              <a:headEnd/>
              <a:tailEnd/>
            </a:ln>
          </p:spPr>
          <p:txBody>
            <a:bodyPr/>
            <a:lstStyle/>
            <a:p>
              <a:endParaRPr lang="en-GB"/>
            </a:p>
          </p:txBody>
        </p:sp>
        <p:sp>
          <p:nvSpPr>
            <p:cNvPr id="174233" name="Freeform 153"/>
            <p:cNvSpPr>
              <a:spLocks/>
            </p:cNvSpPr>
            <p:nvPr/>
          </p:nvSpPr>
          <p:spPr bwMode="auto">
            <a:xfrm>
              <a:off x="2211" y="2002"/>
              <a:ext cx="575" cy="233"/>
            </a:xfrm>
            <a:custGeom>
              <a:avLst/>
              <a:gdLst/>
              <a:ahLst/>
              <a:cxnLst>
                <a:cxn ang="0">
                  <a:pos x="1584" y="1158"/>
                </a:cxn>
                <a:cxn ang="0">
                  <a:pos x="1796" y="1144"/>
                </a:cxn>
                <a:cxn ang="0">
                  <a:pos x="1996" y="1116"/>
                </a:cxn>
                <a:cxn ang="0">
                  <a:pos x="2181" y="1077"/>
                </a:cxn>
                <a:cxn ang="0">
                  <a:pos x="2351" y="1028"/>
                </a:cxn>
                <a:cxn ang="0">
                  <a:pos x="2501" y="972"/>
                </a:cxn>
                <a:cxn ang="0">
                  <a:pos x="2629" y="905"/>
                </a:cxn>
                <a:cxn ang="0">
                  <a:pos x="2733" y="833"/>
                </a:cxn>
                <a:cxn ang="0">
                  <a:pos x="2810" y="753"/>
                </a:cxn>
                <a:cxn ang="0">
                  <a:pos x="2859" y="670"/>
                </a:cxn>
                <a:cxn ang="0">
                  <a:pos x="2875" y="581"/>
                </a:cxn>
                <a:cxn ang="0">
                  <a:pos x="2859" y="493"/>
                </a:cxn>
                <a:cxn ang="0">
                  <a:pos x="2810" y="409"/>
                </a:cxn>
                <a:cxn ang="0">
                  <a:pos x="2733" y="330"/>
                </a:cxn>
                <a:cxn ang="0">
                  <a:pos x="2629" y="257"/>
                </a:cxn>
                <a:cxn ang="0">
                  <a:pos x="2501" y="191"/>
                </a:cxn>
                <a:cxn ang="0">
                  <a:pos x="2351" y="134"/>
                </a:cxn>
                <a:cxn ang="0">
                  <a:pos x="2181" y="85"/>
                </a:cxn>
                <a:cxn ang="0">
                  <a:pos x="1996" y="47"/>
                </a:cxn>
                <a:cxn ang="0">
                  <a:pos x="1796" y="19"/>
                </a:cxn>
                <a:cxn ang="0">
                  <a:pos x="1584" y="4"/>
                </a:cxn>
                <a:cxn ang="0">
                  <a:pos x="1363" y="1"/>
                </a:cxn>
                <a:cxn ang="0">
                  <a:pos x="1148" y="13"/>
                </a:cxn>
                <a:cxn ang="0">
                  <a:pos x="944" y="36"/>
                </a:cxn>
                <a:cxn ang="0">
                  <a:pos x="753" y="71"/>
                </a:cxn>
                <a:cxn ang="0">
                  <a:pos x="579" y="117"/>
                </a:cxn>
                <a:cxn ang="0">
                  <a:pos x="422" y="171"/>
                </a:cxn>
                <a:cxn ang="0">
                  <a:pos x="286" y="235"/>
                </a:cxn>
                <a:cxn ang="0">
                  <a:pos x="174" y="305"/>
                </a:cxn>
                <a:cxn ang="0">
                  <a:pos x="87" y="382"/>
                </a:cxn>
                <a:cxn ang="0">
                  <a:pos x="29" y="464"/>
                </a:cxn>
                <a:cxn ang="0">
                  <a:pos x="2" y="551"/>
                </a:cxn>
                <a:cxn ang="0">
                  <a:pos x="7" y="641"/>
                </a:cxn>
                <a:cxn ang="0">
                  <a:pos x="45" y="726"/>
                </a:cxn>
                <a:cxn ang="0">
                  <a:pos x="114" y="806"/>
                </a:cxn>
                <a:cxn ang="0">
                  <a:pos x="209" y="882"/>
                </a:cxn>
                <a:cxn ang="0">
                  <a:pos x="329" y="951"/>
                </a:cxn>
                <a:cxn ang="0">
                  <a:pos x="472" y="1010"/>
                </a:cxn>
                <a:cxn ang="0">
                  <a:pos x="634" y="1063"/>
                </a:cxn>
                <a:cxn ang="0">
                  <a:pos x="815" y="1104"/>
                </a:cxn>
                <a:cxn ang="0">
                  <a:pos x="1010" y="1136"/>
                </a:cxn>
                <a:cxn ang="0">
                  <a:pos x="1219" y="1155"/>
                </a:cxn>
                <a:cxn ang="0">
                  <a:pos x="1438" y="1161"/>
                </a:cxn>
              </a:cxnLst>
              <a:rect l="0" t="0" r="r" b="b"/>
              <a:pathLst>
                <a:path w="2875" h="1161">
                  <a:moveTo>
                    <a:pt x="1438" y="1161"/>
                  </a:moveTo>
                  <a:lnTo>
                    <a:pt x="1511" y="1160"/>
                  </a:lnTo>
                  <a:lnTo>
                    <a:pt x="1584" y="1158"/>
                  </a:lnTo>
                  <a:lnTo>
                    <a:pt x="1655" y="1155"/>
                  </a:lnTo>
                  <a:lnTo>
                    <a:pt x="1726" y="1149"/>
                  </a:lnTo>
                  <a:lnTo>
                    <a:pt x="1796" y="1144"/>
                  </a:lnTo>
                  <a:lnTo>
                    <a:pt x="1864" y="1136"/>
                  </a:lnTo>
                  <a:lnTo>
                    <a:pt x="1931" y="1126"/>
                  </a:lnTo>
                  <a:lnTo>
                    <a:pt x="1996" y="1116"/>
                  </a:lnTo>
                  <a:lnTo>
                    <a:pt x="2059" y="1104"/>
                  </a:lnTo>
                  <a:lnTo>
                    <a:pt x="2122" y="1092"/>
                  </a:lnTo>
                  <a:lnTo>
                    <a:pt x="2181" y="1077"/>
                  </a:lnTo>
                  <a:lnTo>
                    <a:pt x="2240" y="1063"/>
                  </a:lnTo>
                  <a:lnTo>
                    <a:pt x="2297" y="1046"/>
                  </a:lnTo>
                  <a:lnTo>
                    <a:pt x="2351" y="1028"/>
                  </a:lnTo>
                  <a:lnTo>
                    <a:pt x="2403" y="1010"/>
                  </a:lnTo>
                  <a:lnTo>
                    <a:pt x="2453" y="992"/>
                  </a:lnTo>
                  <a:lnTo>
                    <a:pt x="2501" y="972"/>
                  </a:lnTo>
                  <a:lnTo>
                    <a:pt x="2546" y="951"/>
                  </a:lnTo>
                  <a:lnTo>
                    <a:pt x="2589" y="928"/>
                  </a:lnTo>
                  <a:lnTo>
                    <a:pt x="2629" y="905"/>
                  </a:lnTo>
                  <a:lnTo>
                    <a:pt x="2667" y="882"/>
                  </a:lnTo>
                  <a:lnTo>
                    <a:pt x="2701" y="857"/>
                  </a:lnTo>
                  <a:lnTo>
                    <a:pt x="2733" y="833"/>
                  </a:lnTo>
                  <a:lnTo>
                    <a:pt x="2762" y="806"/>
                  </a:lnTo>
                  <a:lnTo>
                    <a:pt x="2787" y="781"/>
                  </a:lnTo>
                  <a:lnTo>
                    <a:pt x="2810" y="753"/>
                  </a:lnTo>
                  <a:lnTo>
                    <a:pt x="2830" y="726"/>
                  </a:lnTo>
                  <a:lnTo>
                    <a:pt x="2845" y="697"/>
                  </a:lnTo>
                  <a:lnTo>
                    <a:pt x="2859" y="670"/>
                  </a:lnTo>
                  <a:lnTo>
                    <a:pt x="2867" y="641"/>
                  </a:lnTo>
                  <a:lnTo>
                    <a:pt x="2873" y="611"/>
                  </a:lnTo>
                  <a:lnTo>
                    <a:pt x="2875" y="581"/>
                  </a:lnTo>
                  <a:lnTo>
                    <a:pt x="2873" y="551"/>
                  </a:lnTo>
                  <a:lnTo>
                    <a:pt x="2867" y="522"/>
                  </a:lnTo>
                  <a:lnTo>
                    <a:pt x="2859" y="493"/>
                  </a:lnTo>
                  <a:lnTo>
                    <a:pt x="2845" y="464"/>
                  </a:lnTo>
                  <a:lnTo>
                    <a:pt x="2830" y="437"/>
                  </a:lnTo>
                  <a:lnTo>
                    <a:pt x="2810" y="409"/>
                  </a:lnTo>
                  <a:lnTo>
                    <a:pt x="2787" y="382"/>
                  </a:lnTo>
                  <a:lnTo>
                    <a:pt x="2762" y="356"/>
                  </a:lnTo>
                  <a:lnTo>
                    <a:pt x="2733" y="330"/>
                  </a:lnTo>
                  <a:lnTo>
                    <a:pt x="2701" y="305"/>
                  </a:lnTo>
                  <a:lnTo>
                    <a:pt x="2667" y="280"/>
                  </a:lnTo>
                  <a:lnTo>
                    <a:pt x="2629" y="257"/>
                  </a:lnTo>
                  <a:lnTo>
                    <a:pt x="2589" y="235"/>
                  </a:lnTo>
                  <a:lnTo>
                    <a:pt x="2546" y="212"/>
                  </a:lnTo>
                  <a:lnTo>
                    <a:pt x="2501" y="191"/>
                  </a:lnTo>
                  <a:lnTo>
                    <a:pt x="2453" y="171"/>
                  </a:lnTo>
                  <a:lnTo>
                    <a:pt x="2403" y="152"/>
                  </a:lnTo>
                  <a:lnTo>
                    <a:pt x="2351" y="134"/>
                  </a:lnTo>
                  <a:lnTo>
                    <a:pt x="2297" y="117"/>
                  </a:lnTo>
                  <a:lnTo>
                    <a:pt x="2240" y="100"/>
                  </a:lnTo>
                  <a:lnTo>
                    <a:pt x="2181" y="85"/>
                  </a:lnTo>
                  <a:lnTo>
                    <a:pt x="2122" y="71"/>
                  </a:lnTo>
                  <a:lnTo>
                    <a:pt x="2059" y="58"/>
                  </a:lnTo>
                  <a:lnTo>
                    <a:pt x="1996" y="47"/>
                  </a:lnTo>
                  <a:lnTo>
                    <a:pt x="1931" y="36"/>
                  </a:lnTo>
                  <a:lnTo>
                    <a:pt x="1864" y="27"/>
                  </a:lnTo>
                  <a:lnTo>
                    <a:pt x="1796" y="19"/>
                  </a:lnTo>
                  <a:lnTo>
                    <a:pt x="1726" y="13"/>
                  </a:lnTo>
                  <a:lnTo>
                    <a:pt x="1655" y="7"/>
                  </a:lnTo>
                  <a:lnTo>
                    <a:pt x="1584" y="4"/>
                  </a:lnTo>
                  <a:lnTo>
                    <a:pt x="1511" y="1"/>
                  </a:lnTo>
                  <a:lnTo>
                    <a:pt x="1438" y="0"/>
                  </a:lnTo>
                  <a:lnTo>
                    <a:pt x="1363" y="1"/>
                  </a:lnTo>
                  <a:lnTo>
                    <a:pt x="1291" y="4"/>
                  </a:lnTo>
                  <a:lnTo>
                    <a:pt x="1219" y="7"/>
                  </a:lnTo>
                  <a:lnTo>
                    <a:pt x="1148" y="13"/>
                  </a:lnTo>
                  <a:lnTo>
                    <a:pt x="1079" y="19"/>
                  </a:lnTo>
                  <a:lnTo>
                    <a:pt x="1010" y="27"/>
                  </a:lnTo>
                  <a:lnTo>
                    <a:pt x="944" y="36"/>
                  </a:lnTo>
                  <a:lnTo>
                    <a:pt x="878" y="47"/>
                  </a:lnTo>
                  <a:lnTo>
                    <a:pt x="815" y="58"/>
                  </a:lnTo>
                  <a:lnTo>
                    <a:pt x="753" y="71"/>
                  </a:lnTo>
                  <a:lnTo>
                    <a:pt x="693" y="85"/>
                  </a:lnTo>
                  <a:lnTo>
                    <a:pt x="634" y="100"/>
                  </a:lnTo>
                  <a:lnTo>
                    <a:pt x="579" y="117"/>
                  </a:lnTo>
                  <a:lnTo>
                    <a:pt x="524" y="134"/>
                  </a:lnTo>
                  <a:lnTo>
                    <a:pt x="472" y="152"/>
                  </a:lnTo>
                  <a:lnTo>
                    <a:pt x="422" y="171"/>
                  </a:lnTo>
                  <a:lnTo>
                    <a:pt x="374" y="191"/>
                  </a:lnTo>
                  <a:lnTo>
                    <a:pt x="329" y="212"/>
                  </a:lnTo>
                  <a:lnTo>
                    <a:pt x="286" y="235"/>
                  </a:lnTo>
                  <a:lnTo>
                    <a:pt x="246" y="257"/>
                  </a:lnTo>
                  <a:lnTo>
                    <a:pt x="209" y="280"/>
                  </a:lnTo>
                  <a:lnTo>
                    <a:pt x="174" y="305"/>
                  </a:lnTo>
                  <a:lnTo>
                    <a:pt x="142" y="330"/>
                  </a:lnTo>
                  <a:lnTo>
                    <a:pt x="114" y="356"/>
                  </a:lnTo>
                  <a:lnTo>
                    <a:pt x="87" y="382"/>
                  </a:lnTo>
                  <a:lnTo>
                    <a:pt x="65" y="409"/>
                  </a:lnTo>
                  <a:lnTo>
                    <a:pt x="45" y="437"/>
                  </a:lnTo>
                  <a:lnTo>
                    <a:pt x="29" y="464"/>
                  </a:lnTo>
                  <a:lnTo>
                    <a:pt x="17" y="493"/>
                  </a:lnTo>
                  <a:lnTo>
                    <a:pt x="7" y="522"/>
                  </a:lnTo>
                  <a:lnTo>
                    <a:pt x="2" y="551"/>
                  </a:lnTo>
                  <a:lnTo>
                    <a:pt x="0" y="581"/>
                  </a:lnTo>
                  <a:lnTo>
                    <a:pt x="2" y="611"/>
                  </a:lnTo>
                  <a:lnTo>
                    <a:pt x="7" y="641"/>
                  </a:lnTo>
                  <a:lnTo>
                    <a:pt x="17" y="670"/>
                  </a:lnTo>
                  <a:lnTo>
                    <a:pt x="29" y="697"/>
                  </a:lnTo>
                  <a:lnTo>
                    <a:pt x="45" y="726"/>
                  </a:lnTo>
                  <a:lnTo>
                    <a:pt x="65" y="753"/>
                  </a:lnTo>
                  <a:lnTo>
                    <a:pt x="87" y="781"/>
                  </a:lnTo>
                  <a:lnTo>
                    <a:pt x="114" y="806"/>
                  </a:lnTo>
                  <a:lnTo>
                    <a:pt x="142" y="833"/>
                  </a:lnTo>
                  <a:lnTo>
                    <a:pt x="174" y="857"/>
                  </a:lnTo>
                  <a:lnTo>
                    <a:pt x="209" y="882"/>
                  </a:lnTo>
                  <a:lnTo>
                    <a:pt x="246" y="905"/>
                  </a:lnTo>
                  <a:lnTo>
                    <a:pt x="286" y="928"/>
                  </a:lnTo>
                  <a:lnTo>
                    <a:pt x="329" y="951"/>
                  </a:lnTo>
                  <a:lnTo>
                    <a:pt x="374" y="972"/>
                  </a:lnTo>
                  <a:lnTo>
                    <a:pt x="422" y="992"/>
                  </a:lnTo>
                  <a:lnTo>
                    <a:pt x="472" y="1010"/>
                  </a:lnTo>
                  <a:lnTo>
                    <a:pt x="524" y="1028"/>
                  </a:lnTo>
                  <a:lnTo>
                    <a:pt x="579" y="1046"/>
                  </a:lnTo>
                  <a:lnTo>
                    <a:pt x="634" y="1063"/>
                  </a:lnTo>
                  <a:lnTo>
                    <a:pt x="693" y="1077"/>
                  </a:lnTo>
                  <a:lnTo>
                    <a:pt x="753" y="1092"/>
                  </a:lnTo>
                  <a:lnTo>
                    <a:pt x="815" y="1104"/>
                  </a:lnTo>
                  <a:lnTo>
                    <a:pt x="878" y="1116"/>
                  </a:lnTo>
                  <a:lnTo>
                    <a:pt x="944" y="1126"/>
                  </a:lnTo>
                  <a:lnTo>
                    <a:pt x="1010" y="1136"/>
                  </a:lnTo>
                  <a:lnTo>
                    <a:pt x="1079" y="1144"/>
                  </a:lnTo>
                  <a:lnTo>
                    <a:pt x="1148" y="1149"/>
                  </a:lnTo>
                  <a:lnTo>
                    <a:pt x="1219" y="1155"/>
                  </a:lnTo>
                  <a:lnTo>
                    <a:pt x="1291" y="1158"/>
                  </a:lnTo>
                  <a:lnTo>
                    <a:pt x="1363" y="1160"/>
                  </a:lnTo>
                  <a:lnTo>
                    <a:pt x="1438" y="1161"/>
                  </a:lnTo>
                </a:path>
              </a:pathLst>
            </a:custGeom>
            <a:noFill/>
            <a:ln w="7938">
              <a:solidFill>
                <a:srgbClr val="1F1A17"/>
              </a:solidFill>
              <a:prstDash val="solid"/>
              <a:round/>
              <a:headEnd/>
              <a:tailEnd/>
            </a:ln>
          </p:spPr>
          <p:txBody>
            <a:bodyPr/>
            <a:lstStyle/>
            <a:p>
              <a:endParaRPr lang="en-GB"/>
            </a:p>
          </p:txBody>
        </p:sp>
      </p:grpSp>
      <p:sp>
        <p:nvSpPr>
          <p:cNvPr id="174234" name="Rectangle 154"/>
          <p:cNvSpPr>
            <a:spLocks noChangeArrowheads="1"/>
          </p:cNvSpPr>
          <p:nvPr/>
        </p:nvSpPr>
        <p:spPr bwMode="auto">
          <a:xfrm>
            <a:off x="3983037" y="2573338"/>
            <a:ext cx="569913" cy="228600"/>
          </a:xfrm>
          <a:prstGeom prst="rect">
            <a:avLst/>
          </a:prstGeom>
          <a:noFill/>
          <a:ln w="9525">
            <a:noFill/>
            <a:miter lim="800000"/>
            <a:headEnd/>
            <a:tailEnd/>
          </a:ln>
        </p:spPr>
        <p:txBody>
          <a:bodyPr wrap="none" lIns="0" tIns="0" rIns="0" bIns="0">
            <a:spAutoFit/>
          </a:bodyPr>
          <a:lstStyle/>
          <a:p>
            <a:pPr algn="ctr" eaLnBrk="0" hangingPunct="0"/>
            <a:r>
              <a:rPr lang="fr-CA" sz="1500" b="1">
                <a:solidFill>
                  <a:srgbClr val="1F1A17"/>
                </a:solidFill>
              </a:rPr>
              <a:t>Vision</a:t>
            </a:r>
            <a:endParaRPr lang="en-CA" sz="1200" b="1">
              <a:solidFill>
                <a:schemeClr val="bg2"/>
              </a:solidFill>
            </a:endParaRPr>
          </a:p>
        </p:txBody>
      </p:sp>
      <p:grpSp>
        <p:nvGrpSpPr>
          <p:cNvPr id="6" name="Group 155"/>
          <p:cNvGrpSpPr>
            <a:grpSpLocks/>
          </p:cNvGrpSpPr>
          <p:nvPr/>
        </p:nvGrpSpPr>
        <p:grpSpPr bwMode="auto">
          <a:xfrm>
            <a:off x="4017962" y="1887538"/>
            <a:ext cx="454025" cy="590550"/>
            <a:chOff x="2410" y="3004"/>
            <a:chExt cx="286" cy="372"/>
          </a:xfrm>
        </p:grpSpPr>
        <p:sp>
          <p:nvSpPr>
            <p:cNvPr id="174236" name="Freeform 156"/>
            <p:cNvSpPr>
              <a:spLocks/>
            </p:cNvSpPr>
            <p:nvPr/>
          </p:nvSpPr>
          <p:spPr bwMode="auto">
            <a:xfrm>
              <a:off x="2423" y="3017"/>
              <a:ext cx="273" cy="359"/>
            </a:xfrm>
            <a:custGeom>
              <a:avLst/>
              <a:gdLst/>
              <a:ahLst/>
              <a:cxnLst>
                <a:cxn ang="0">
                  <a:pos x="0" y="0"/>
                </a:cxn>
                <a:cxn ang="0">
                  <a:pos x="0" y="1794"/>
                </a:cxn>
                <a:cxn ang="0">
                  <a:pos x="1369" y="1794"/>
                </a:cxn>
                <a:cxn ang="0">
                  <a:pos x="1369" y="300"/>
                </a:cxn>
                <a:cxn ang="0">
                  <a:pos x="1070" y="0"/>
                </a:cxn>
                <a:cxn ang="0">
                  <a:pos x="0" y="0"/>
                </a:cxn>
              </a:cxnLst>
              <a:rect l="0" t="0" r="r" b="b"/>
              <a:pathLst>
                <a:path w="1369" h="1794">
                  <a:moveTo>
                    <a:pt x="0" y="0"/>
                  </a:moveTo>
                  <a:lnTo>
                    <a:pt x="0" y="1794"/>
                  </a:lnTo>
                  <a:lnTo>
                    <a:pt x="1369" y="1794"/>
                  </a:lnTo>
                  <a:lnTo>
                    <a:pt x="1369" y="300"/>
                  </a:lnTo>
                  <a:lnTo>
                    <a:pt x="1070" y="0"/>
                  </a:lnTo>
                  <a:lnTo>
                    <a:pt x="0" y="0"/>
                  </a:lnTo>
                  <a:close/>
                </a:path>
              </a:pathLst>
            </a:custGeom>
            <a:solidFill>
              <a:srgbClr val="237CFF"/>
            </a:solidFill>
            <a:ln w="9525">
              <a:noFill/>
              <a:round/>
              <a:headEnd/>
              <a:tailEnd/>
            </a:ln>
          </p:spPr>
          <p:txBody>
            <a:bodyPr/>
            <a:lstStyle/>
            <a:p>
              <a:endParaRPr lang="en-GB"/>
            </a:p>
          </p:txBody>
        </p:sp>
        <p:sp>
          <p:nvSpPr>
            <p:cNvPr id="174237" name="Freeform 157"/>
            <p:cNvSpPr>
              <a:spLocks/>
            </p:cNvSpPr>
            <p:nvPr/>
          </p:nvSpPr>
          <p:spPr bwMode="auto">
            <a:xfrm>
              <a:off x="2423" y="3017"/>
              <a:ext cx="273" cy="359"/>
            </a:xfrm>
            <a:custGeom>
              <a:avLst/>
              <a:gdLst/>
              <a:ahLst/>
              <a:cxnLst>
                <a:cxn ang="0">
                  <a:pos x="0" y="0"/>
                </a:cxn>
                <a:cxn ang="0">
                  <a:pos x="0" y="1794"/>
                </a:cxn>
                <a:cxn ang="0">
                  <a:pos x="1369" y="1794"/>
                </a:cxn>
                <a:cxn ang="0">
                  <a:pos x="1369" y="300"/>
                </a:cxn>
                <a:cxn ang="0">
                  <a:pos x="1070" y="0"/>
                </a:cxn>
                <a:cxn ang="0">
                  <a:pos x="0" y="0"/>
                </a:cxn>
              </a:cxnLst>
              <a:rect l="0" t="0" r="r" b="b"/>
              <a:pathLst>
                <a:path w="1369" h="1794">
                  <a:moveTo>
                    <a:pt x="0" y="0"/>
                  </a:moveTo>
                  <a:lnTo>
                    <a:pt x="0" y="1794"/>
                  </a:lnTo>
                  <a:lnTo>
                    <a:pt x="1369" y="1794"/>
                  </a:lnTo>
                  <a:lnTo>
                    <a:pt x="1369" y="300"/>
                  </a:lnTo>
                  <a:lnTo>
                    <a:pt x="1070" y="0"/>
                  </a:lnTo>
                  <a:lnTo>
                    <a:pt x="0" y="0"/>
                  </a:lnTo>
                  <a:close/>
                </a:path>
              </a:pathLst>
            </a:custGeom>
            <a:solidFill>
              <a:srgbClr val="237CFF"/>
            </a:solidFill>
            <a:ln w="4763">
              <a:solidFill>
                <a:srgbClr val="C3C3C2"/>
              </a:solidFill>
              <a:prstDash val="solid"/>
              <a:round/>
              <a:headEnd/>
              <a:tailEnd/>
            </a:ln>
          </p:spPr>
          <p:txBody>
            <a:bodyPr/>
            <a:lstStyle/>
            <a:p>
              <a:endParaRPr lang="en-GB"/>
            </a:p>
          </p:txBody>
        </p:sp>
        <p:sp>
          <p:nvSpPr>
            <p:cNvPr id="174238" name="Freeform 158"/>
            <p:cNvSpPr>
              <a:spLocks/>
            </p:cNvSpPr>
            <p:nvPr/>
          </p:nvSpPr>
          <p:spPr bwMode="auto">
            <a:xfrm>
              <a:off x="2410" y="3005"/>
              <a:ext cx="273" cy="358"/>
            </a:xfrm>
            <a:custGeom>
              <a:avLst/>
              <a:gdLst/>
              <a:ahLst/>
              <a:cxnLst>
                <a:cxn ang="0">
                  <a:pos x="0" y="0"/>
                </a:cxn>
                <a:cxn ang="0">
                  <a:pos x="0" y="1794"/>
                </a:cxn>
                <a:cxn ang="0">
                  <a:pos x="1368" y="1794"/>
                </a:cxn>
                <a:cxn ang="0">
                  <a:pos x="1368" y="300"/>
                </a:cxn>
                <a:cxn ang="0">
                  <a:pos x="1070" y="0"/>
                </a:cxn>
                <a:cxn ang="0">
                  <a:pos x="0" y="0"/>
                </a:cxn>
              </a:cxnLst>
              <a:rect l="0" t="0" r="r" b="b"/>
              <a:pathLst>
                <a:path w="1368" h="1794">
                  <a:moveTo>
                    <a:pt x="0" y="0"/>
                  </a:moveTo>
                  <a:lnTo>
                    <a:pt x="0" y="1794"/>
                  </a:lnTo>
                  <a:lnTo>
                    <a:pt x="1368" y="1794"/>
                  </a:lnTo>
                  <a:lnTo>
                    <a:pt x="1368" y="300"/>
                  </a:lnTo>
                  <a:lnTo>
                    <a:pt x="1070" y="0"/>
                  </a:lnTo>
                  <a:lnTo>
                    <a:pt x="0" y="0"/>
                  </a:lnTo>
                  <a:close/>
                </a:path>
              </a:pathLst>
            </a:custGeom>
            <a:solidFill>
              <a:srgbClr val="237CFF"/>
            </a:solidFill>
            <a:ln w="9525">
              <a:noFill/>
              <a:round/>
              <a:headEnd/>
              <a:tailEnd/>
            </a:ln>
          </p:spPr>
          <p:txBody>
            <a:bodyPr/>
            <a:lstStyle/>
            <a:p>
              <a:endParaRPr lang="en-GB"/>
            </a:p>
          </p:txBody>
        </p:sp>
        <p:sp>
          <p:nvSpPr>
            <p:cNvPr id="174239" name="Freeform 159"/>
            <p:cNvSpPr>
              <a:spLocks/>
            </p:cNvSpPr>
            <p:nvPr/>
          </p:nvSpPr>
          <p:spPr bwMode="auto">
            <a:xfrm>
              <a:off x="2410" y="3005"/>
              <a:ext cx="273" cy="358"/>
            </a:xfrm>
            <a:custGeom>
              <a:avLst/>
              <a:gdLst/>
              <a:ahLst/>
              <a:cxnLst>
                <a:cxn ang="0">
                  <a:pos x="0" y="0"/>
                </a:cxn>
                <a:cxn ang="0">
                  <a:pos x="0" y="1794"/>
                </a:cxn>
                <a:cxn ang="0">
                  <a:pos x="1368" y="1794"/>
                </a:cxn>
                <a:cxn ang="0">
                  <a:pos x="1368" y="300"/>
                </a:cxn>
                <a:cxn ang="0">
                  <a:pos x="1070" y="0"/>
                </a:cxn>
                <a:cxn ang="0">
                  <a:pos x="0" y="0"/>
                </a:cxn>
              </a:cxnLst>
              <a:rect l="0" t="0" r="r" b="b"/>
              <a:pathLst>
                <a:path w="1368" h="1794">
                  <a:moveTo>
                    <a:pt x="0" y="0"/>
                  </a:moveTo>
                  <a:lnTo>
                    <a:pt x="0" y="1794"/>
                  </a:lnTo>
                  <a:lnTo>
                    <a:pt x="1368" y="1794"/>
                  </a:lnTo>
                  <a:lnTo>
                    <a:pt x="1368" y="300"/>
                  </a:lnTo>
                  <a:lnTo>
                    <a:pt x="1070" y="0"/>
                  </a:lnTo>
                  <a:lnTo>
                    <a:pt x="0" y="0"/>
                  </a:lnTo>
                  <a:close/>
                </a:path>
              </a:pathLst>
            </a:custGeom>
            <a:solidFill>
              <a:srgbClr val="237CFF"/>
            </a:solidFill>
            <a:ln w="4763">
              <a:solidFill>
                <a:srgbClr val="1F1A17"/>
              </a:solidFill>
              <a:prstDash val="solid"/>
              <a:round/>
              <a:headEnd/>
              <a:tailEnd/>
            </a:ln>
          </p:spPr>
          <p:txBody>
            <a:bodyPr/>
            <a:lstStyle/>
            <a:p>
              <a:endParaRPr lang="en-GB"/>
            </a:p>
          </p:txBody>
        </p:sp>
        <p:sp>
          <p:nvSpPr>
            <p:cNvPr id="174240" name="Freeform 160"/>
            <p:cNvSpPr>
              <a:spLocks/>
            </p:cNvSpPr>
            <p:nvPr/>
          </p:nvSpPr>
          <p:spPr bwMode="auto">
            <a:xfrm>
              <a:off x="2622" y="3004"/>
              <a:ext cx="61" cy="61"/>
            </a:xfrm>
            <a:custGeom>
              <a:avLst/>
              <a:gdLst/>
              <a:ahLst/>
              <a:cxnLst>
                <a:cxn ang="0">
                  <a:pos x="0" y="0"/>
                </a:cxn>
                <a:cxn ang="0">
                  <a:pos x="0" y="307"/>
                </a:cxn>
                <a:cxn ang="0">
                  <a:pos x="307" y="305"/>
                </a:cxn>
              </a:cxnLst>
              <a:rect l="0" t="0" r="r" b="b"/>
              <a:pathLst>
                <a:path w="307" h="307">
                  <a:moveTo>
                    <a:pt x="0" y="0"/>
                  </a:moveTo>
                  <a:lnTo>
                    <a:pt x="0" y="307"/>
                  </a:lnTo>
                  <a:lnTo>
                    <a:pt x="307" y="305"/>
                  </a:lnTo>
                </a:path>
              </a:pathLst>
            </a:custGeom>
            <a:solidFill>
              <a:srgbClr val="237CFF"/>
            </a:solidFill>
            <a:ln w="4763">
              <a:solidFill>
                <a:srgbClr val="1F1A17"/>
              </a:solidFill>
              <a:prstDash val="solid"/>
              <a:round/>
              <a:headEnd/>
              <a:tailEnd/>
            </a:ln>
          </p:spPr>
          <p:txBody>
            <a:bodyPr/>
            <a:lstStyle/>
            <a:p>
              <a:endParaRPr lang="en-GB"/>
            </a:p>
          </p:txBody>
        </p:sp>
        <p:sp>
          <p:nvSpPr>
            <p:cNvPr id="174241" name="Line 161"/>
            <p:cNvSpPr>
              <a:spLocks noChangeShapeType="1"/>
            </p:cNvSpPr>
            <p:nvPr/>
          </p:nvSpPr>
          <p:spPr bwMode="auto">
            <a:xfrm>
              <a:off x="2475" y="3068"/>
              <a:ext cx="125" cy="1"/>
            </a:xfrm>
            <a:prstGeom prst="line">
              <a:avLst/>
            </a:prstGeom>
            <a:noFill/>
            <a:ln w="7938">
              <a:solidFill>
                <a:srgbClr val="1F1A17"/>
              </a:solidFill>
              <a:round/>
              <a:headEnd/>
              <a:tailEnd/>
            </a:ln>
          </p:spPr>
          <p:txBody>
            <a:bodyPr/>
            <a:lstStyle/>
            <a:p>
              <a:endParaRPr lang="en-GB"/>
            </a:p>
          </p:txBody>
        </p:sp>
        <p:sp>
          <p:nvSpPr>
            <p:cNvPr id="174242" name="Line 162"/>
            <p:cNvSpPr>
              <a:spLocks noChangeShapeType="1"/>
            </p:cNvSpPr>
            <p:nvPr/>
          </p:nvSpPr>
          <p:spPr bwMode="auto">
            <a:xfrm>
              <a:off x="2475" y="3101"/>
              <a:ext cx="170" cy="1"/>
            </a:xfrm>
            <a:prstGeom prst="line">
              <a:avLst/>
            </a:prstGeom>
            <a:noFill/>
            <a:ln w="7938">
              <a:solidFill>
                <a:srgbClr val="1F1A17"/>
              </a:solidFill>
              <a:round/>
              <a:headEnd/>
              <a:tailEnd/>
            </a:ln>
          </p:spPr>
          <p:txBody>
            <a:bodyPr/>
            <a:lstStyle/>
            <a:p>
              <a:endParaRPr lang="en-GB"/>
            </a:p>
          </p:txBody>
        </p:sp>
        <p:sp>
          <p:nvSpPr>
            <p:cNvPr id="174243" name="Line 163"/>
            <p:cNvSpPr>
              <a:spLocks noChangeShapeType="1"/>
            </p:cNvSpPr>
            <p:nvPr/>
          </p:nvSpPr>
          <p:spPr bwMode="auto">
            <a:xfrm>
              <a:off x="2475" y="3121"/>
              <a:ext cx="170" cy="1"/>
            </a:xfrm>
            <a:prstGeom prst="line">
              <a:avLst/>
            </a:prstGeom>
            <a:noFill/>
            <a:ln w="7938">
              <a:solidFill>
                <a:srgbClr val="1F1A17"/>
              </a:solidFill>
              <a:round/>
              <a:headEnd/>
              <a:tailEnd/>
            </a:ln>
          </p:spPr>
          <p:txBody>
            <a:bodyPr/>
            <a:lstStyle/>
            <a:p>
              <a:endParaRPr lang="en-GB"/>
            </a:p>
          </p:txBody>
        </p:sp>
        <p:sp>
          <p:nvSpPr>
            <p:cNvPr id="174244" name="Line 164"/>
            <p:cNvSpPr>
              <a:spLocks noChangeShapeType="1"/>
            </p:cNvSpPr>
            <p:nvPr/>
          </p:nvSpPr>
          <p:spPr bwMode="auto">
            <a:xfrm>
              <a:off x="2475" y="3142"/>
              <a:ext cx="170" cy="1"/>
            </a:xfrm>
            <a:prstGeom prst="line">
              <a:avLst/>
            </a:prstGeom>
            <a:noFill/>
            <a:ln w="7938">
              <a:solidFill>
                <a:srgbClr val="1F1A17"/>
              </a:solidFill>
              <a:round/>
              <a:headEnd/>
              <a:tailEnd/>
            </a:ln>
          </p:spPr>
          <p:txBody>
            <a:bodyPr/>
            <a:lstStyle/>
            <a:p>
              <a:endParaRPr lang="en-GB"/>
            </a:p>
          </p:txBody>
        </p:sp>
        <p:sp>
          <p:nvSpPr>
            <p:cNvPr id="174245" name="Line 165"/>
            <p:cNvSpPr>
              <a:spLocks noChangeShapeType="1"/>
            </p:cNvSpPr>
            <p:nvPr/>
          </p:nvSpPr>
          <p:spPr bwMode="auto">
            <a:xfrm>
              <a:off x="2475" y="3162"/>
              <a:ext cx="170" cy="1"/>
            </a:xfrm>
            <a:prstGeom prst="line">
              <a:avLst/>
            </a:prstGeom>
            <a:noFill/>
            <a:ln w="7938">
              <a:solidFill>
                <a:srgbClr val="1F1A17"/>
              </a:solidFill>
              <a:round/>
              <a:headEnd/>
              <a:tailEnd/>
            </a:ln>
          </p:spPr>
          <p:txBody>
            <a:bodyPr/>
            <a:lstStyle/>
            <a:p>
              <a:endParaRPr lang="en-GB"/>
            </a:p>
          </p:txBody>
        </p:sp>
        <p:sp>
          <p:nvSpPr>
            <p:cNvPr id="174246" name="Line 166"/>
            <p:cNvSpPr>
              <a:spLocks noChangeShapeType="1"/>
            </p:cNvSpPr>
            <p:nvPr/>
          </p:nvSpPr>
          <p:spPr bwMode="auto">
            <a:xfrm>
              <a:off x="2475" y="3183"/>
              <a:ext cx="170" cy="1"/>
            </a:xfrm>
            <a:prstGeom prst="line">
              <a:avLst/>
            </a:prstGeom>
            <a:noFill/>
            <a:ln w="7938">
              <a:solidFill>
                <a:srgbClr val="1F1A17"/>
              </a:solidFill>
              <a:round/>
              <a:headEnd/>
              <a:tailEnd/>
            </a:ln>
          </p:spPr>
          <p:txBody>
            <a:bodyPr/>
            <a:lstStyle/>
            <a:p>
              <a:endParaRPr lang="en-GB"/>
            </a:p>
          </p:txBody>
        </p:sp>
        <p:sp>
          <p:nvSpPr>
            <p:cNvPr id="174247" name="Line 167"/>
            <p:cNvSpPr>
              <a:spLocks noChangeShapeType="1"/>
            </p:cNvSpPr>
            <p:nvPr/>
          </p:nvSpPr>
          <p:spPr bwMode="auto">
            <a:xfrm>
              <a:off x="2475" y="3204"/>
              <a:ext cx="170" cy="1"/>
            </a:xfrm>
            <a:prstGeom prst="line">
              <a:avLst/>
            </a:prstGeom>
            <a:noFill/>
            <a:ln w="7938">
              <a:solidFill>
                <a:srgbClr val="1F1A17"/>
              </a:solidFill>
              <a:round/>
              <a:headEnd/>
              <a:tailEnd/>
            </a:ln>
          </p:spPr>
          <p:txBody>
            <a:bodyPr/>
            <a:lstStyle/>
            <a:p>
              <a:endParaRPr lang="en-GB"/>
            </a:p>
          </p:txBody>
        </p:sp>
        <p:sp>
          <p:nvSpPr>
            <p:cNvPr id="174248" name="Line 168"/>
            <p:cNvSpPr>
              <a:spLocks noChangeShapeType="1"/>
            </p:cNvSpPr>
            <p:nvPr/>
          </p:nvSpPr>
          <p:spPr bwMode="auto">
            <a:xfrm>
              <a:off x="2475" y="3224"/>
              <a:ext cx="170" cy="1"/>
            </a:xfrm>
            <a:prstGeom prst="line">
              <a:avLst/>
            </a:prstGeom>
            <a:noFill/>
            <a:ln w="7938">
              <a:solidFill>
                <a:srgbClr val="1F1A17"/>
              </a:solidFill>
              <a:round/>
              <a:headEnd/>
              <a:tailEnd/>
            </a:ln>
          </p:spPr>
          <p:txBody>
            <a:bodyPr/>
            <a:lstStyle/>
            <a:p>
              <a:endParaRPr lang="en-GB"/>
            </a:p>
          </p:txBody>
        </p:sp>
        <p:sp>
          <p:nvSpPr>
            <p:cNvPr id="174249" name="Line 169"/>
            <p:cNvSpPr>
              <a:spLocks noChangeShapeType="1"/>
            </p:cNvSpPr>
            <p:nvPr/>
          </p:nvSpPr>
          <p:spPr bwMode="auto">
            <a:xfrm>
              <a:off x="2475" y="3245"/>
              <a:ext cx="170" cy="1"/>
            </a:xfrm>
            <a:prstGeom prst="line">
              <a:avLst/>
            </a:prstGeom>
            <a:noFill/>
            <a:ln w="7938">
              <a:solidFill>
                <a:srgbClr val="1F1A17"/>
              </a:solidFill>
              <a:round/>
              <a:headEnd/>
              <a:tailEnd/>
            </a:ln>
          </p:spPr>
          <p:txBody>
            <a:bodyPr/>
            <a:lstStyle/>
            <a:p>
              <a:endParaRPr lang="en-GB"/>
            </a:p>
          </p:txBody>
        </p:sp>
        <p:sp>
          <p:nvSpPr>
            <p:cNvPr id="174250" name="Line 170"/>
            <p:cNvSpPr>
              <a:spLocks noChangeShapeType="1"/>
            </p:cNvSpPr>
            <p:nvPr/>
          </p:nvSpPr>
          <p:spPr bwMode="auto">
            <a:xfrm>
              <a:off x="2475" y="3265"/>
              <a:ext cx="170" cy="1"/>
            </a:xfrm>
            <a:prstGeom prst="line">
              <a:avLst/>
            </a:prstGeom>
            <a:noFill/>
            <a:ln w="7938">
              <a:solidFill>
                <a:srgbClr val="1F1A17"/>
              </a:solidFill>
              <a:round/>
              <a:headEnd/>
              <a:tailEnd/>
            </a:ln>
          </p:spPr>
          <p:txBody>
            <a:bodyPr/>
            <a:lstStyle/>
            <a:p>
              <a:endParaRPr lang="en-GB"/>
            </a:p>
          </p:txBody>
        </p:sp>
        <p:sp>
          <p:nvSpPr>
            <p:cNvPr id="174251" name="Line 171"/>
            <p:cNvSpPr>
              <a:spLocks noChangeShapeType="1"/>
            </p:cNvSpPr>
            <p:nvPr/>
          </p:nvSpPr>
          <p:spPr bwMode="auto">
            <a:xfrm>
              <a:off x="2475" y="3286"/>
              <a:ext cx="170" cy="1"/>
            </a:xfrm>
            <a:prstGeom prst="line">
              <a:avLst/>
            </a:prstGeom>
            <a:noFill/>
            <a:ln w="7938">
              <a:solidFill>
                <a:srgbClr val="1F1A17"/>
              </a:solidFill>
              <a:round/>
              <a:headEnd/>
              <a:tailEnd/>
            </a:ln>
          </p:spPr>
          <p:txBody>
            <a:bodyPr/>
            <a:lstStyle/>
            <a:p>
              <a:endParaRPr lang="en-GB"/>
            </a:p>
          </p:txBody>
        </p:sp>
        <p:sp>
          <p:nvSpPr>
            <p:cNvPr id="174252" name="Line 172"/>
            <p:cNvSpPr>
              <a:spLocks noChangeShapeType="1"/>
            </p:cNvSpPr>
            <p:nvPr/>
          </p:nvSpPr>
          <p:spPr bwMode="auto">
            <a:xfrm>
              <a:off x="2475" y="3307"/>
              <a:ext cx="170" cy="1"/>
            </a:xfrm>
            <a:prstGeom prst="line">
              <a:avLst/>
            </a:prstGeom>
            <a:noFill/>
            <a:ln w="7938">
              <a:solidFill>
                <a:srgbClr val="1F1A17"/>
              </a:solidFill>
              <a:round/>
              <a:headEnd/>
              <a:tailEnd/>
            </a:ln>
          </p:spPr>
          <p:txBody>
            <a:bodyPr/>
            <a:lstStyle/>
            <a:p>
              <a:endParaRPr lang="en-GB"/>
            </a:p>
          </p:txBody>
        </p:sp>
        <p:sp>
          <p:nvSpPr>
            <p:cNvPr id="174253" name="Line 173"/>
            <p:cNvSpPr>
              <a:spLocks noChangeShapeType="1"/>
            </p:cNvSpPr>
            <p:nvPr/>
          </p:nvSpPr>
          <p:spPr bwMode="auto">
            <a:xfrm>
              <a:off x="2475" y="3327"/>
              <a:ext cx="170" cy="1"/>
            </a:xfrm>
            <a:prstGeom prst="line">
              <a:avLst/>
            </a:prstGeom>
            <a:noFill/>
            <a:ln w="7938">
              <a:solidFill>
                <a:srgbClr val="1F1A17"/>
              </a:solidFill>
              <a:round/>
              <a:headEnd/>
              <a:tailEnd/>
            </a:ln>
          </p:spPr>
          <p:txBody>
            <a:bodyPr/>
            <a:lstStyle/>
            <a:p>
              <a:endParaRPr lang="en-GB"/>
            </a:p>
          </p:txBody>
        </p:sp>
        <p:sp>
          <p:nvSpPr>
            <p:cNvPr id="174254" name="Freeform 174"/>
            <p:cNvSpPr>
              <a:spLocks/>
            </p:cNvSpPr>
            <p:nvPr/>
          </p:nvSpPr>
          <p:spPr bwMode="auto">
            <a:xfrm>
              <a:off x="2422" y="3218"/>
              <a:ext cx="28" cy="30"/>
            </a:xfrm>
            <a:custGeom>
              <a:avLst/>
              <a:gdLst/>
              <a:ahLst/>
              <a:cxnLst>
                <a:cxn ang="0">
                  <a:pos x="0" y="108"/>
                </a:cxn>
                <a:cxn ang="0">
                  <a:pos x="74" y="150"/>
                </a:cxn>
                <a:cxn ang="0">
                  <a:pos x="78" y="140"/>
                </a:cxn>
                <a:cxn ang="0">
                  <a:pos x="82" y="119"/>
                </a:cxn>
                <a:cxn ang="0">
                  <a:pos x="88" y="101"/>
                </a:cxn>
                <a:cxn ang="0">
                  <a:pos x="89" y="96"/>
                </a:cxn>
                <a:cxn ang="0">
                  <a:pos x="89" y="93"/>
                </a:cxn>
                <a:cxn ang="0">
                  <a:pos x="94" y="76"/>
                </a:cxn>
                <a:cxn ang="0">
                  <a:pos x="98" y="65"/>
                </a:cxn>
                <a:cxn ang="0">
                  <a:pos x="101" y="55"/>
                </a:cxn>
                <a:cxn ang="0">
                  <a:pos x="104" y="45"/>
                </a:cxn>
                <a:cxn ang="0">
                  <a:pos x="109" y="38"/>
                </a:cxn>
                <a:cxn ang="0">
                  <a:pos x="117" y="26"/>
                </a:cxn>
                <a:cxn ang="0">
                  <a:pos x="127" y="13"/>
                </a:cxn>
                <a:cxn ang="0">
                  <a:pos x="135" y="3"/>
                </a:cxn>
                <a:cxn ang="0">
                  <a:pos x="139" y="0"/>
                </a:cxn>
                <a:cxn ang="0">
                  <a:pos x="128" y="6"/>
                </a:cxn>
                <a:cxn ang="0">
                  <a:pos x="112" y="20"/>
                </a:cxn>
                <a:cxn ang="0">
                  <a:pos x="108" y="23"/>
                </a:cxn>
                <a:cxn ang="0">
                  <a:pos x="103" y="27"/>
                </a:cxn>
                <a:cxn ang="0">
                  <a:pos x="98" y="35"/>
                </a:cxn>
                <a:cxn ang="0">
                  <a:pos x="90" y="49"/>
                </a:cxn>
                <a:cxn ang="0">
                  <a:pos x="81" y="69"/>
                </a:cxn>
                <a:cxn ang="0">
                  <a:pos x="72" y="92"/>
                </a:cxn>
                <a:cxn ang="0">
                  <a:pos x="65" y="109"/>
                </a:cxn>
                <a:cxn ang="0">
                  <a:pos x="62" y="117"/>
                </a:cxn>
                <a:cxn ang="0">
                  <a:pos x="26" y="92"/>
                </a:cxn>
                <a:cxn ang="0">
                  <a:pos x="0" y="108"/>
                </a:cxn>
              </a:cxnLst>
              <a:rect l="0" t="0" r="r" b="b"/>
              <a:pathLst>
                <a:path w="139" h="150">
                  <a:moveTo>
                    <a:pt x="0" y="108"/>
                  </a:moveTo>
                  <a:lnTo>
                    <a:pt x="74" y="150"/>
                  </a:lnTo>
                  <a:lnTo>
                    <a:pt x="78" y="140"/>
                  </a:lnTo>
                  <a:lnTo>
                    <a:pt x="82" y="119"/>
                  </a:lnTo>
                  <a:lnTo>
                    <a:pt x="88" y="101"/>
                  </a:lnTo>
                  <a:lnTo>
                    <a:pt x="89" y="96"/>
                  </a:lnTo>
                  <a:lnTo>
                    <a:pt x="89" y="93"/>
                  </a:lnTo>
                  <a:lnTo>
                    <a:pt x="94" y="76"/>
                  </a:lnTo>
                  <a:lnTo>
                    <a:pt x="98" y="65"/>
                  </a:lnTo>
                  <a:lnTo>
                    <a:pt x="101" y="55"/>
                  </a:lnTo>
                  <a:lnTo>
                    <a:pt x="104" y="45"/>
                  </a:lnTo>
                  <a:lnTo>
                    <a:pt x="109" y="38"/>
                  </a:lnTo>
                  <a:lnTo>
                    <a:pt x="117" y="26"/>
                  </a:lnTo>
                  <a:lnTo>
                    <a:pt x="127" y="13"/>
                  </a:lnTo>
                  <a:lnTo>
                    <a:pt x="135" y="3"/>
                  </a:lnTo>
                  <a:lnTo>
                    <a:pt x="139" y="0"/>
                  </a:lnTo>
                  <a:lnTo>
                    <a:pt x="128" y="6"/>
                  </a:lnTo>
                  <a:lnTo>
                    <a:pt x="112" y="20"/>
                  </a:lnTo>
                  <a:lnTo>
                    <a:pt x="108" y="23"/>
                  </a:lnTo>
                  <a:lnTo>
                    <a:pt x="103" y="27"/>
                  </a:lnTo>
                  <a:lnTo>
                    <a:pt x="98" y="35"/>
                  </a:lnTo>
                  <a:lnTo>
                    <a:pt x="90" y="49"/>
                  </a:lnTo>
                  <a:lnTo>
                    <a:pt x="81" y="69"/>
                  </a:lnTo>
                  <a:lnTo>
                    <a:pt x="72" y="92"/>
                  </a:lnTo>
                  <a:lnTo>
                    <a:pt x="65" y="109"/>
                  </a:lnTo>
                  <a:lnTo>
                    <a:pt x="62" y="117"/>
                  </a:lnTo>
                  <a:lnTo>
                    <a:pt x="26" y="92"/>
                  </a:lnTo>
                  <a:lnTo>
                    <a:pt x="0" y="108"/>
                  </a:lnTo>
                  <a:close/>
                </a:path>
              </a:pathLst>
            </a:custGeom>
            <a:solidFill>
              <a:srgbClr val="237CFF"/>
            </a:solidFill>
            <a:ln w="9525">
              <a:noFill/>
              <a:round/>
              <a:headEnd/>
              <a:tailEnd/>
            </a:ln>
          </p:spPr>
          <p:txBody>
            <a:bodyPr/>
            <a:lstStyle/>
            <a:p>
              <a:endParaRPr lang="en-GB"/>
            </a:p>
          </p:txBody>
        </p:sp>
        <p:sp>
          <p:nvSpPr>
            <p:cNvPr id="174255" name="Freeform 175"/>
            <p:cNvSpPr>
              <a:spLocks/>
            </p:cNvSpPr>
            <p:nvPr/>
          </p:nvSpPr>
          <p:spPr bwMode="auto">
            <a:xfrm>
              <a:off x="2422" y="3218"/>
              <a:ext cx="28" cy="30"/>
            </a:xfrm>
            <a:custGeom>
              <a:avLst/>
              <a:gdLst/>
              <a:ahLst/>
              <a:cxnLst>
                <a:cxn ang="0">
                  <a:pos x="0" y="108"/>
                </a:cxn>
                <a:cxn ang="0">
                  <a:pos x="74" y="150"/>
                </a:cxn>
                <a:cxn ang="0">
                  <a:pos x="78" y="140"/>
                </a:cxn>
                <a:cxn ang="0">
                  <a:pos x="82" y="119"/>
                </a:cxn>
                <a:cxn ang="0">
                  <a:pos x="88" y="101"/>
                </a:cxn>
                <a:cxn ang="0">
                  <a:pos x="89" y="96"/>
                </a:cxn>
                <a:cxn ang="0">
                  <a:pos x="89" y="93"/>
                </a:cxn>
                <a:cxn ang="0">
                  <a:pos x="94" y="76"/>
                </a:cxn>
                <a:cxn ang="0">
                  <a:pos x="98" y="65"/>
                </a:cxn>
                <a:cxn ang="0">
                  <a:pos x="101" y="55"/>
                </a:cxn>
                <a:cxn ang="0">
                  <a:pos x="104" y="45"/>
                </a:cxn>
                <a:cxn ang="0">
                  <a:pos x="109" y="38"/>
                </a:cxn>
                <a:cxn ang="0">
                  <a:pos x="117" y="26"/>
                </a:cxn>
                <a:cxn ang="0">
                  <a:pos x="127" y="13"/>
                </a:cxn>
                <a:cxn ang="0">
                  <a:pos x="135" y="3"/>
                </a:cxn>
                <a:cxn ang="0">
                  <a:pos x="139" y="0"/>
                </a:cxn>
                <a:cxn ang="0">
                  <a:pos x="128" y="6"/>
                </a:cxn>
                <a:cxn ang="0">
                  <a:pos x="112" y="20"/>
                </a:cxn>
                <a:cxn ang="0">
                  <a:pos x="108" y="23"/>
                </a:cxn>
                <a:cxn ang="0">
                  <a:pos x="103" y="27"/>
                </a:cxn>
                <a:cxn ang="0">
                  <a:pos x="98" y="35"/>
                </a:cxn>
                <a:cxn ang="0">
                  <a:pos x="90" y="49"/>
                </a:cxn>
                <a:cxn ang="0">
                  <a:pos x="81" y="69"/>
                </a:cxn>
                <a:cxn ang="0">
                  <a:pos x="72" y="92"/>
                </a:cxn>
                <a:cxn ang="0">
                  <a:pos x="65" y="109"/>
                </a:cxn>
                <a:cxn ang="0">
                  <a:pos x="62" y="117"/>
                </a:cxn>
                <a:cxn ang="0">
                  <a:pos x="26" y="92"/>
                </a:cxn>
                <a:cxn ang="0">
                  <a:pos x="0" y="108"/>
                </a:cxn>
              </a:cxnLst>
              <a:rect l="0" t="0" r="r" b="b"/>
              <a:pathLst>
                <a:path w="139" h="150">
                  <a:moveTo>
                    <a:pt x="0" y="108"/>
                  </a:moveTo>
                  <a:lnTo>
                    <a:pt x="74" y="150"/>
                  </a:lnTo>
                  <a:lnTo>
                    <a:pt x="78" y="140"/>
                  </a:lnTo>
                  <a:lnTo>
                    <a:pt x="82" y="119"/>
                  </a:lnTo>
                  <a:lnTo>
                    <a:pt x="88" y="101"/>
                  </a:lnTo>
                  <a:lnTo>
                    <a:pt x="89" y="96"/>
                  </a:lnTo>
                  <a:lnTo>
                    <a:pt x="89" y="93"/>
                  </a:lnTo>
                  <a:lnTo>
                    <a:pt x="94" y="76"/>
                  </a:lnTo>
                  <a:lnTo>
                    <a:pt x="98" y="65"/>
                  </a:lnTo>
                  <a:lnTo>
                    <a:pt x="101" y="55"/>
                  </a:lnTo>
                  <a:lnTo>
                    <a:pt x="104" y="45"/>
                  </a:lnTo>
                  <a:lnTo>
                    <a:pt x="109" y="38"/>
                  </a:lnTo>
                  <a:lnTo>
                    <a:pt x="117" y="26"/>
                  </a:lnTo>
                  <a:lnTo>
                    <a:pt x="127" y="13"/>
                  </a:lnTo>
                  <a:lnTo>
                    <a:pt x="135" y="3"/>
                  </a:lnTo>
                  <a:lnTo>
                    <a:pt x="139" y="0"/>
                  </a:lnTo>
                  <a:lnTo>
                    <a:pt x="128" y="6"/>
                  </a:lnTo>
                  <a:lnTo>
                    <a:pt x="112" y="20"/>
                  </a:lnTo>
                  <a:lnTo>
                    <a:pt x="108" y="23"/>
                  </a:lnTo>
                  <a:lnTo>
                    <a:pt x="103" y="27"/>
                  </a:lnTo>
                  <a:lnTo>
                    <a:pt x="98" y="35"/>
                  </a:lnTo>
                  <a:lnTo>
                    <a:pt x="90" y="49"/>
                  </a:lnTo>
                  <a:lnTo>
                    <a:pt x="81" y="69"/>
                  </a:lnTo>
                  <a:lnTo>
                    <a:pt x="72" y="92"/>
                  </a:lnTo>
                  <a:lnTo>
                    <a:pt x="65" y="109"/>
                  </a:lnTo>
                  <a:lnTo>
                    <a:pt x="62" y="117"/>
                  </a:lnTo>
                  <a:lnTo>
                    <a:pt x="26" y="92"/>
                  </a:lnTo>
                  <a:lnTo>
                    <a:pt x="0" y="108"/>
                  </a:lnTo>
                  <a:close/>
                </a:path>
              </a:pathLst>
            </a:custGeom>
            <a:solidFill>
              <a:srgbClr val="237CFF"/>
            </a:solidFill>
            <a:ln w="4763">
              <a:solidFill>
                <a:srgbClr val="1F1A17"/>
              </a:solidFill>
              <a:prstDash val="solid"/>
              <a:round/>
              <a:headEnd/>
              <a:tailEnd/>
            </a:ln>
          </p:spPr>
          <p:txBody>
            <a:bodyPr/>
            <a:lstStyle/>
            <a:p>
              <a:endParaRPr lang="en-GB"/>
            </a:p>
          </p:txBody>
        </p:sp>
        <p:sp>
          <p:nvSpPr>
            <p:cNvPr id="174256" name="Freeform 176"/>
            <p:cNvSpPr>
              <a:spLocks/>
            </p:cNvSpPr>
            <p:nvPr/>
          </p:nvSpPr>
          <p:spPr bwMode="auto">
            <a:xfrm>
              <a:off x="2424" y="3275"/>
              <a:ext cx="27" cy="30"/>
            </a:xfrm>
            <a:custGeom>
              <a:avLst/>
              <a:gdLst/>
              <a:ahLst/>
              <a:cxnLst>
                <a:cxn ang="0">
                  <a:pos x="0" y="110"/>
                </a:cxn>
                <a:cxn ang="0">
                  <a:pos x="74" y="151"/>
                </a:cxn>
                <a:cxn ang="0">
                  <a:pos x="77" y="141"/>
                </a:cxn>
                <a:cxn ang="0">
                  <a:pos x="82" y="120"/>
                </a:cxn>
                <a:cxn ang="0">
                  <a:pos x="87" y="101"/>
                </a:cxn>
                <a:cxn ang="0">
                  <a:pos x="88" y="97"/>
                </a:cxn>
                <a:cxn ang="0">
                  <a:pos x="88" y="93"/>
                </a:cxn>
                <a:cxn ang="0">
                  <a:pos x="94" y="77"/>
                </a:cxn>
                <a:cxn ang="0">
                  <a:pos x="97" y="66"/>
                </a:cxn>
                <a:cxn ang="0">
                  <a:pos x="101" y="56"/>
                </a:cxn>
                <a:cxn ang="0">
                  <a:pos x="104" y="46"/>
                </a:cxn>
                <a:cxn ang="0">
                  <a:pos x="108" y="39"/>
                </a:cxn>
                <a:cxn ang="0">
                  <a:pos x="116" y="27"/>
                </a:cxn>
                <a:cxn ang="0">
                  <a:pos x="126" y="14"/>
                </a:cxn>
                <a:cxn ang="0">
                  <a:pos x="135" y="4"/>
                </a:cxn>
                <a:cxn ang="0">
                  <a:pos x="138" y="0"/>
                </a:cxn>
                <a:cxn ang="0">
                  <a:pos x="127" y="8"/>
                </a:cxn>
                <a:cxn ang="0">
                  <a:pos x="112" y="20"/>
                </a:cxn>
                <a:cxn ang="0">
                  <a:pos x="107" y="23"/>
                </a:cxn>
                <a:cxn ang="0">
                  <a:pos x="103" y="29"/>
                </a:cxn>
                <a:cxn ang="0">
                  <a:pos x="97" y="37"/>
                </a:cxn>
                <a:cxn ang="0">
                  <a:pos x="89" y="50"/>
                </a:cxn>
                <a:cxn ang="0">
                  <a:pos x="81" y="71"/>
                </a:cxn>
                <a:cxn ang="0">
                  <a:pos x="72" y="93"/>
                </a:cxn>
                <a:cxn ang="0">
                  <a:pos x="65" y="111"/>
                </a:cxn>
                <a:cxn ang="0">
                  <a:pos x="62" y="118"/>
                </a:cxn>
                <a:cxn ang="0">
                  <a:pos x="26" y="93"/>
                </a:cxn>
                <a:cxn ang="0">
                  <a:pos x="0" y="110"/>
                </a:cxn>
              </a:cxnLst>
              <a:rect l="0" t="0" r="r" b="b"/>
              <a:pathLst>
                <a:path w="138" h="151">
                  <a:moveTo>
                    <a:pt x="0" y="110"/>
                  </a:moveTo>
                  <a:lnTo>
                    <a:pt x="74" y="151"/>
                  </a:lnTo>
                  <a:lnTo>
                    <a:pt x="77" y="141"/>
                  </a:lnTo>
                  <a:lnTo>
                    <a:pt x="82" y="120"/>
                  </a:lnTo>
                  <a:lnTo>
                    <a:pt x="87" y="101"/>
                  </a:lnTo>
                  <a:lnTo>
                    <a:pt x="88" y="97"/>
                  </a:lnTo>
                  <a:lnTo>
                    <a:pt x="88" y="93"/>
                  </a:lnTo>
                  <a:lnTo>
                    <a:pt x="94" y="77"/>
                  </a:lnTo>
                  <a:lnTo>
                    <a:pt x="97" y="66"/>
                  </a:lnTo>
                  <a:lnTo>
                    <a:pt x="101" y="56"/>
                  </a:lnTo>
                  <a:lnTo>
                    <a:pt x="104" y="46"/>
                  </a:lnTo>
                  <a:lnTo>
                    <a:pt x="108" y="39"/>
                  </a:lnTo>
                  <a:lnTo>
                    <a:pt x="116" y="27"/>
                  </a:lnTo>
                  <a:lnTo>
                    <a:pt x="126" y="14"/>
                  </a:lnTo>
                  <a:lnTo>
                    <a:pt x="135" y="4"/>
                  </a:lnTo>
                  <a:lnTo>
                    <a:pt x="138" y="0"/>
                  </a:lnTo>
                  <a:lnTo>
                    <a:pt x="127" y="8"/>
                  </a:lnTo>
                  <a:lnTo>
                    <a:pt x="112" y="20"/>
                  </a:lnTo>
                  <a:lnTo>
                    <a:pt x="107" y="23"/>
                  </a:lnTo>
                  <a:lnTo>
                    <a:pt x="103" y="29"/>
                  </a:lnTo>
                  <a:lnTo>
                    <a:pt x="97" y="37"/>
                  </a:lnTo>
                  <a:lnTo>
                    <a:pt x="89" y="50"/>
                  </a:lnTo>
                  <a:lnTo>
                    <a:pt x="81" y="71"/>
                  </a:lnTo>
                  <a:lnTo>
                    <a:pt x="72" y="93"/>
                  </a:lnTo>
                  <a:lnTo>
                    <a:pt x="65" y="111"/>
                  </a:lnTo>
                  <a:lnTo>
                    <a:pt x="62" y="118"/>
                  </a:lnTo>
                  <a:lnTo>
                    <a:pt x="26" y="93"/>
                  </a:lnTo>
                  <a:lnTo>
                    <a:pt x="0" y="110"/>
                  </a:lnTo>
                  <a:close/>
                </a:path>
              </a:pathLst>
            </a:custGeom>
            <a:solidFill>
              <a:srgbClr val="237CFF"/>
            </a:solidFill>
            <a:ln w="9525">
              <a:noFill/>
              <a:round/>
              <a:headEnd/>
              <a:tailEnd/>
            </a:ln>
          </p:spPr>
          <p:txBody>
            <a:bodyPr/>
            <a:lstStyle/>
            <a:p>
              <a:endParaRPr lang="en-GB"/>
            </a:p>
          </p:txBody>
        </p:sp>
        <p:sp>
          <p:nvSpPr>
            <p:cNvPr id="174257" name="Freeform 177"/>
            <p:cNvSpPr>
              <a:spLocks/>
            </p:cNvSpPr>
            <p:nvPr/>
          </p:nvSpPr>
          <p:spPr bwMode="auto">
            <a:xfrm>
              <a:off x="2424" y="3275"/>
              <a:ext cx="27" cy="30"/>
            </a:xfrm>
            <a:custGeom>
              <a:avLst/>
              <a:gdLst/>
              <a:ahLst/>
              <a:cxnLst>
                <a:cxn ang="0">
                  <a:pos x="0" y="110"/>
                </a:cxn>
                <a:cxn ang="0">
                  <a:pos x="74" y="151"/>
                </a:cxn>
                <a:cxn ang="0">
                  <a:pos x="77" y="141"/>
                </a:cxn>
                <a:cxn ang="0">
                  <a:pos x="82" y="120"/>
                </a:cxn>
                <a:cxn ang="0">
                  <a:pos x="87" y="101"/>
                </a:cxn>
                <a:cxn ang="0">
                  <a:pos x="88" y="97"/>
                </a:cxn>
                <a:cxn ang="0">
                  <a:pos x="88" y="93"/>
                </a:cxn>
                <a:cxn ang="0">
                  <a:pos x="94" y="77"/>
                </a:cxn>
                <a:cxn ang="0">
                  <a:pos x="97" y="66"/>
                </a:cxn>
                <a:cxn ang="0">
                  <a:pos x="101" y="56"/>
                </a:cxn>
                <a:cxn ang="0">
                  <a:pos x="104" y="46"/>
                </a:cxn>
                <a:cxn ang="0">
                  <a:pos x="108" y="39"/>
                </a:cxn>
                <a:cxn ang="0">
                  <a:pos x="116" y="27"/>
                </a:cxn>
                <a:cxn ang="0">
                  <a:pos x="126" y="14"/>
                </a:cxn>
                <a:cxn ang="0">
                  <a:pos x="135" y="4"/>
                </a:cxn>
                <a:cxn ang="0">
                  <a:pos x="138" y="0"/>
                </a:cxn>
                <a:cxn ang="0">
                  <a:pos x="127" y="8"/>
                </a:cxn>
                <a:cxn ang="0">
                  <a:pos x="112" y="20"/>
                </a:cxn>
                <a:cxn ang="0">
                  <a:pos x="107" y="23"/>
                </a:cxn>
                <a:cxn ang="0">
                  <a:pos x="103" y="29"/>
                </a:cxn>
                <a:cxn ang="0">
                  <a:pos x="97" y="37"/>
                </a:cxn>
                <a:cxn ang="0">
                  <a:pos x="89" y="50"/>
                </a:cxn>
                <a:cxn ang="0">
                  <a:pos x="81" y="71"/>
                </a:cxn>
                <a:cxn ang="0">
                  <a:pos x="72" y="93"/>
                </a:cxn>
                <a:cxn ang="0">
                  <a:pos x="65" y="111"/>
                </a:cxn>
                <a:cxn ang="0">
                  <a:pos x="62" y="118"/>
                </a:cxn>
                <a:cxn ang="0">
                  <a:pos x="26" y="93"/>
                </a:cxn>
                <a:cxn ang="0">
                  <a:pos x="0" y="110"/>
                </a:cxn>
              </a:cxnLst>
              <a:rect l="0" t="0" r="r" b="b"/>
              <a:pathLst>
                <a:path w="138" h="151">
                  <a:moveTo>
                    <a:pt x="0" y="110"/>
                  </a:moveTo>
                  <a:lnTo>
                    <a:pt x="74" y="151"/>
                  </a:lnTo>
                  <a:lnTo>
                    <a:pt x="77" y="141"/>
                  </a:lnTo>
                  <a:lnTo>
                    <a:pt x="82" y="120"/>
                  </a:lnTo>
                  <a:lnTo>
                    <a:pt x="87" y="101"/>
                  </a:lnTo>
                  <a:lnTo>
                    <a:pt x="88" y="97"/>
                  </a:lnTo>
                  <a:lnTo>
                    <a:pt x="88" y="93"/>
                  </a:lnTo>
                  <a:lnTo>
                    <a:pt x="94" y="77"/>
                  </a:lnTo>
                  <a:lnTo>
                    <a:pt x="97" y="66"/>
                  </a:lnTo>
                  <a:lnTo>
                    <a:pt x="101" y="56"/>
                  </a:lnTo>
                  <a:lnTo>
                    <a:pt x="104" y="46"/>
                  </a:lnTo>
                  <a:lnTo>
                    <a:pt x="108" y="39"/>
                  </a:lnTo>
                  <a:lnTo>
                    <a:pt x="116" y="27"/>
                  </a:lnTo>
                  <a:lnTo>
                    <a:pt x="126" y="14"/>
                  </a:lnTo>
                  <a:lnTo>
                    <a:pt x="135" y="4"/>
                  </a:lnTo>
                  <a:lnTo>
                    <a:pt x="138" y="0"/>
                  </a:lnTo>
                  <a:lnTo>
                    <a:pt x="127" y="8"/>
                  </a:lnTo>
                  <a:lnTo>
                    <a:pt x="112" y="20"/>
                  </a:lnTo>
                  <a:lnTo>
                    <a:pt x="107" y="23"/>
                  </a:lnTo>
                  <a:lnTo>
                    <a:pt x="103" y="29"/>
                  </a:lnTo>
                  <a:lnTo>
                    <a:pt x="97" y="37"/>
                  </a:lnTo>
                  <a:lnTo>
                    <a:pt x="89" y="50"/>
                  </a:lnTo>
                  <a:lnTo>
                    <a:pt x="81" y="71"/>
                  </a:lnTo>
                  <a:lnTo>
                    <a:pt x="72" y="93"/>
                  </a:lnTo>
                  <a:lnTo>
                    <a:pt x="65" y="111"/>
                  </a:lnTo>
                  <a:lnTo>
                    <a:pt x="62" y="118"/>
                  </a:lnTo>
                  <a:lnTo>
                    <a:pt x="26" y="93"/>
                  </a:lnTo>
                  <a:lnTo>
                    <a:pt x="0" y="110"/>
                  </a:lnTo>
                  <a:close/>
                </a:path>
              </a:pathLst>
            </a:custGeom>
            <a:solidFill>
              <a:srgbClr val="237CFF"/>
            </a:solidFill>
            <a:ln w="4763">
              <a:solidFill>
                <a:srgbClr val="1F1A17"/>
              </a:solidFill>
              <a:prstDash val="solid"/>
              <a:round/>
              <a:headEnd/>
              <a:tailEnd/>
            </a:ln>
          </p:spPr>
          <p:txBody>
            <a:bodyPr/>
            <a:lstStyle/>
            <a:p>
              <a:endParaRPr lang="en-GB"/>
            </a:p>
          </p:txBody>
        </p:sp>
        <p:sp>
          <p:nvSpPr>
            <p:cNvPr id="174258" name="Freeform 178"/>
            <p:cNvSpPr>
              <a:spLocks/>
            </p:cNvSpPr>
            <p:nvPr/>
          </p:nvSpPr>
          <p:spPr bwMode="auto">
            <a:xfrm>
              <a:off x="2423" y="3160"/>
              <a:ext cx="28" cy="30"/>
            </a:xfrm>
            <a:custGeom>
              <a:avLst/>
              <a:gdLst/>
              <a:ahLst/>
              <a:cxnLst>
                <a:cxn ang="0">
                  <a:pos x="0" y="110"/>
                </a:cxn>
                <a:cxn ang="0">
                  <a:pos x="75" y="151"/>
                </a:cxn>
                <a:cxn ang="0">
                  <a:pos x="77" y="141"/>
                </a:cxn>
                <a:cxn ang="0">
                  <a:pos x="82" y="121"/>
                </a:cxn>
                <a:cxn ang="0">
                  <a:pos x="87" y="101"/>
                </a:cxn>
                <a:cxn ang="0">
                  <a:pos x="88" y="96"/>
                </a:cxn>
                <a:cxn ang="0">
                  <a:pos x="89" y="94"/>
                </a:cxn>
                <a:cxn ang="0">
                  <a:pos x="94" y="78"/>
                </a:cxn>
                <a:cxn ang="0">
                  <a:pos x="97" y="67"/>
                </a:cxn>
                <a:cxn ang="0">
                  <a:pos x="100" y="55"/>
                </a:cxn>
                <a:cxn ang="0">
                  <a:pos x="105" y="47"/>
                </a:cxn>
                <a:cxn ang="0">
                  <a:pos x="108" y="40"/>
                </a:cxn>
                <a:cxn ang="0">
                  <a:pos x="117" y="28"/>
                </a:cxn>
                <a:cxn ang="0">
                  <a:pos x="127" y="14"/>
                </a:cxn>
                <a:cxn ang="0">
                  <a:pos x="136" y="4"/>
                </a:cxn>
                <a:cxn ang="0">
                  <a:pos x="139" y="0"/>
                </a:cxn>
                <a:cxn ang="0">
                  <a:pos x="128" y="8"/>
                </a:cxn>
                <a:cxn ang="0">
                  <a:pos x="112" y="20"/>
                </a:cxn>
                <a:cxn ang="0">
                  <a:pos x="108" y="24"/>
                </a:cxn>
                <a:cxn ang="0">
                  <a:pos x="102" y="29"/>
                </a:cxn>
                <a:cxn ang="0">
                  <a:pos x="97" y="37"/>
                </a:cxn>
                <a:cxn ang="0">
                  <a:pos x="90" y="51"/>
                </a:cxn>
                <a:cxn ang="0">
                  <a:pos x="80" y="71"/>
                </a:cxn>
                <a:cxn ang="0">
                  <a:pos x="71" y="93"/>
                </a:cxn>
                <a:cxn ang="0">
                  <a:pos x="65" y="111"/>
                </a:cxn>
                <a:cxn ang="0">
                  <a:pos x="62" y="119"/>
                </a:cxn>
                <a:cxn ang="0">
                  <a:pos x="26" y="93"/>
                </a:cxn>
                <a:cxn ang="0">
                  <a:pos x="0" y="110"/>
                </a:cxn>
              </a:cxnLst>
              <a:rect l="0" t="0" r="r" b="b"/>
              <a:pathLst>
                <a:path w="139" h="151">
                  <a:moveTo>
                    <a:pt x="0" y="110"/>
                  </a:moveTo>
                  <a:lnTo>
                    <a:pt x="75" y="151"/>
                  </a:lnTo>
                  <a:lnTo>
                    <a:pt x="77" y="141"/>
                  </a:lnTo>
                  <a:lnTo>
                    <a:pt x="82" y="121"/>
                  </a:lnTo>
                  <a:lnTo>
                    <a:pt x="87" y="101"/>
                  </a:lnTo>
                  <a:lnTo>
                    <a:pt x="88" y="96"/>
                  </a:lnTo>
                  <a:lnTo>
                    <a:pt x="89" y="94"/>
                  </a:lnTo>
                  <a:lnTo>
                    <a:pt x="94" y="78"/>
                  </a:lnTo>
                  <a:lnTo>
                    <a:pt x="97" y="67"/>
                  </a:lnTo>
                  <a:lnTo>
                    <a:pt x="100" y="55"/>
                  </a:lnTo>
                  <a:lnTo>
                    <a:pt x="105" y="47"/>
                  </a:lnTo>
                  <a:lnTo>
                    <a:pt x="108" y="40"/>
                  </a:lnTo>
                  <a:lnTo>
                    <a:pt x="117" y="28"/>
                  </a:lnTo>
                  <a:lnTo>
                    <a:pt x="127" y="14"/>
                  </a:lnTo>
                  <a:lnTo>
                    <a:pt x="136" y="4"/>
                  </a:lnTo>
                  <a:lnTo>
                    <a:pt x="139" y="0"/>
                  </a:lnTo>
                  <a:lnTo>
                    <a:pt x="128" y="8"/>
                  </a:lnTo>
                  <a:lnTo>
                    <a:pt x="112" y="20"/>
                  </a:lnTo>
                  <a:lnTo>
                    <a:pt x="108" y="24"/>
                  </a:lnTo>
                  <a:lnTo>
                    <a:pt x="102" y="29"/>
                  </a:lnTo>
                  <a:lnTo>
                    <a:pt x="97" y="37"/>
                  </a:lnTo>
                  <a:lnTo>
                    <a:pt x="90" y="51"/>
                  </a:lnTo>
                  <a:lnTo>
                    <a:pt x="80" y="71"/>
                  </a:lnTo>
                  <a:lnTo>
                    <a:pt x="71" y="93"/>
                  </a:lnTo>
                  <a:lnTo>
                    <a:pt x="65" y="111"/>
                  </a:lnTo>
                  <a:lnTo>
                    <a:pt x="62" y="119"/>
                  </a:lnTo>
                  <a:lnTo>
                    <a:pt x="26" y="93"/>
                  </a:lnTo>
                  <a:lnTo>
                    <a:pt x="0" y="110"/>
                  </a:lnTo>
                  <a:close/>
                </a:path>
              </a:pathLst>
            </a:custGeom>
            <a:solidFill>
              <a:srgbClr val="237CFF"/>
            </a:solidFill>
            <a:ln w="9525">
              <a:noFill/>
              <a:round/>
              <a:headEnd/>
              <a:tailEnd/>
            </a:ln>
          </p:spPr>
          <p:txBody>
            <a:bodyPr/>
            <a:lstStyle/>
            <a:p>
              <a:endParaRPr lang="en-GB"/>
            </a:p>
          </p:txBody>
        </p:sp>
        <p:sp>
          <p:nvSpPr>
            <p:cNvPr id="174259" name="Freeform 179"/>
            <p:cNvSpPr>
              <a:spLocks/>
            </p:cNvSpPr>
            <p:nvPr/>
          </p:nvSpPr>
          <p:spPr bwMode="auto">
            <a:xfrm>
              <a:off x="2423" y="3160"/>
              <a:ext cx="28" cy="30"/>
            </a:xfrm>
            <a:custGeom>
              <a:avLst/>
              <a:gdLst/>
              <a:ahLst/>
              <a:cxnLst>
                <a:cxn ang="0">
                  <a:pos x="0" y="110"/>
                </a:cxn>
                <a:cxn ang="0">
                  <a:pos x="75" y="151"/>
                </a:cxn>
                <a:cxn ang="0">
                  <a:pos x="77" y="141"/>
                </a:cxn>
                <a:cxn ang="0">
                  <a:pos x="82" y="121"/>
                </a:cxn>
                <a:cxn ang="0">
                  <a:pos x="87" y="101"/>
                </a:cxn>
                <a:cxn ang="0">
                  <a:pos x="88" y="96"/>
                </a:cxn>
                <a:cxn ang="0">
                  <a:pos x="89" y="94"/>
                </a:cxn>
                <a:cxn ang="0">
                  <a:pos x="94" y="78"/>
                </a:cxn>
                <a:cxn ang="0">
                  <a:pos x="97" y="67"/>
                </a:cxn>
                <a:cxn ang="0">
                  <a:pos x="100" y="55"/>
                </a:cxn>
                <a:cxn ang="0">
                  <a:pos x="105" y="47"/>
                </a:cxn>
                <a:cxn ang="0">
                  <a:pos x="108" y="40"/>
                </a:cxn>
                <a:cxn ang="0">
                  <a:pos x="117" y="28"/>
                </a:cxn>
                <a:cxn ang="0">
                  <a:pos x="127" y="14"/>
                </a:cxn>
                <a:cxn ang="0">
                  <a:pos x="136" y="4"/>
                </a:cxn>
                <a:cxn ang="0">
                  <a:pos x="139" y="0"/>
                </a:cxn>
                <a:cxn ang="0">
                  <a:pos x="128" y="8"/>
                </a:cxn>
                <a:cxn ang="0">
                  <a:pos x="112" y="20"/>
                </a:cxn>
                <a:cxn ang="0">
                  <a:pos x="108" y="24"/>
                </a:cxn>
                <a:cxn ang="0">
                  <a:pos x="102" y="29"/>
                </a:cxn>
                <a:cxn ang="0">
                  <a:pos x="97" y="37"/>
                </a:cxn>
                <a:cxn ang="0">
                  <a:pos x="90" y="51"/>
                </a:cxn>
                <a:cxn ang="0">
                  <a:pos x="80" y="71"/>
                </a:cxn>
                <a:cxn ang="0">
                  <a:pos x="71" y="93"/>
                </a:cxn>
                <a:cxn ang="0">
                  <a:pos x="65" y="111"/>
                </a:cxn>
                <a:cxn ang="0">
                  <a:pos x="62" y="119"/>
                </a:cxn>
                <a:cxn ang="0">
                  <a:pos x="26" y="93"/>
                </a:cxn>
                <a:cxn ang="0">
                  <a:pos x="0" y="110"/>
                </a:cxn>
              </a:cxnLst>
              <a:rect l="0" t="0" r="r" b="b"/>
              <a:pathLst>
                <a:path w="139" h="151">
                  <a:moveTo>
                    <a:pt x="0" y="110"/>
                  </a:moveTo>
                  <a:lnTo>
                    <a:pt x="75" y="151"/>
                  </a:lnTo>
                  <a:lnTo>
                    <a:pt x="77" y="141"/>
                  </a:lnTo>
                  <a:lnTo>
                    <a:pt x="82" y="121"/>
                  </a:lnTo>
                  <a:lnTo>
                    <a:pt x="87" y="101"/>
                  </a:lnTo>
                  <a:lnTo>
                    <a:pt x="88" y="96"/>
                  </a:lnTo>
                  <a:lnTo>
                    <a:pt x="89" y="94"/>
                  </a:lnTo>
                  <a:lnTo>
                    <a:pt x="94" y="78"/>
                  </a:lnTo>
                  <a:lnTo>
                    <a:pt x="97" y="67"/>
                  </a:lnTo>
                  <a:lnTo>
                    <a:pt x="100" y="55"/>
                  </a:lnTo>
                  <a:lnTo>
                    <a:pt x="105" y="47"/>
                  </a:lnTo>
                  <a:lnTo>
                    <a:pt x="108" y="40"/>
                  </a:lnTo>
                  <a:lnTo>
                    <a:pt x="117" y="28"/>
                  </a:lnTo>
                  <a:lnTo>
                    <a:pt x="127" y="14"/>
                  </a:lnTo>
                  <a:lnTo>
                    <a:pt x="136" y="4"/>
                  </a:lnTo>
                  <a:lnTo>
                    <a:pt x="139" y="0"/>
                  </a:lnTo>
                  <a:lnTo>
                    <a:pt x="128" y="8"/>
                  </a:lnTo>
                  <a:lnTo>
                    <a:pt x="112" y="20"/>
                  </a:lnTo>
                  <a:lnTo>
                    <a:pt x="108" y="24"/>
                  </a:lnTo>
                  <a:lnTo>
                    <a:pt x="102" y="29"/>
                  </a:lnTo>
                  <a:lnTo>
                    <a:pt x="97" y="37"/>
                  </a:lnTo>
                  <a:lnTo>
                    <a:pt x="90" y="51"/>
                  </a:lnTo>
                  <a:lnTo>
                    <a:pt x="80" y="71"/>
                  </a:lnTo>
                  <a:lnTo>
                    <a:pt x="71" y="93"/>
                  </a:lnTo>
                  <a:lnTo>
                    <a:pt x="65" y="111"/>
                  </a:lnTo>
                  <a:lnTo>
                    <a:pt x="62" y="119"/>
                  </a:lnTo>
                  <a:lnTo>
                    <a:pt x="26" y="93"/>
                  </a:lnTo>
                  <a:lnTo>
                    <a:pt x="0" y="110"/>
                  </a:lnTo>
                  <a:close/>
                </a:path>
              </a:pathLst>
            </a:custGeom>
            <a:solidFill>
              <a:srgbClr val="237CFF"/>
            </a:solidFill>
            <a:ln w="4763">
              <a:solidFill>
                <a:srgbClr val="1F1A17"/>
              </a:solidFill>
              <a:prstDash val="solid"/>
              <a:round/>
              <a:headEnd/>
              <a:tailEnd/>
            </a:ln>
          </p:spPr>
          <p:txBody>
            <a:bodyPr/>
            <a:lstStyle/>
            <a:p>
              <a:endParaRPr lang="en-GB"/>
            </a:p>
          </p:txBody>
        </p:sp>
        <p:sp>
          <p:nvSpPr>
            <p:cNvPr id="174260" name="Freeform 180"/>
            <p:cNvSpPr>
              <a:spLocks/>
            </p:cNvSpPr>
            <p:nvPr/>
          </p:nvSpPr>
          <p:spPr bwMode="auto">
            <a:xfrm>
              <a:off x="2421" y="3101"/>
              <a:ext cx="28" cy="30"/>
            </a:xfrm>
            <a:custGeom>
              <a:avLst/>
              <a:gdLst/>
              <a:ahLst/>
              <a:cxnLst>
                <a:cxn ang="0">
                  <a:pos x="0" y="108"/>
                </a:cxn>
                <a:cxn ang="0">
                  <a:pos x="75" y="150"/>
                </a:cxn>
                <a:cxn ang="0">
                  <a:pos x="78" y="141"/>
                </a:cxn>
                <a:cxn ang="0">
                  <a:pos x="83" y="120"/>
                </a:cxn>
                <a:cxn ang="0">
                  <a:pos x="88" y="101"/>
                </a:cxn>
                <a:cxn ang="0">
                  <a:pos x="89" y="96"/>
                </a:cxn>
                <a:cxn ang="0">
                  <a:pos x="89" y="93"/>
                </a:cxn>
                <a:cxn ang="0">
                  <a:pos x="95" y="76"/>
                </a:cxn>
                <a:cxn ang="0">
                  <a:pos x="98" y="65"/>
                </a:cxn>
                <a:cxn ang="0">
                  <a:pos x="101" y="54"/>
                </a:cxn>
                <a:cxn ang="0">
                  <a:pos x="105" y="45"/>
                </a:cxn>
                <a:cxn ang="0">
                  <a:pos x="109" y="39"/>
                </a:cxn>
                <a:cxn ang="0">
                  <a:pos x="117" y="26"/>
                </a:cxn>
                <a:cxn ang="0">
                  <a:pos x="127" y="13"/>
                </a:cxn>
                <a:cxn ang="0">
                  <a:pos x="136" y="3"/>
                </a:cxn>
                <a:cxn ang="0">
                  <a:pos x="139" y="0"/>
                </a:cxn>
                <a:cxn ang="0">
                  <a:pos x="128" y="6"/>
                </a:cxn>
                <a:cxn ang="0">
                  <a:pos x="113" y="19"/>
                </a:cxn>
                <a:cxn ang="0">
                  <a:pos x="108" y="23"/>
                </a:cxn>
                <a:cxn ang="0">
                  <a:pos x="104" y="27"/>
                </a:cxn>
                <a:cxn ang="0">
                  <a:pos x="98" y="35"/>
                </a:cxn>
                <a:cxn ang="0">
                  <a:pos x="90" y="50"/>
                </a:cxn>
                <a:cxn ang="0">
                  <a:pos x="81" y="70"/>
                </a:cxn>
                <a:cxn ang="0">
                  <a:pos x="73" y="92"/>
                </a:cxn>
                <a:cxn ang="0">
                  <a:pos x="66" y="110"/>
                </a:cxn>
                <a:cxn ang="0">
                  <a:pos x="63" y="117"/>
                </a:cxn>
                <a:cxn ang="0">
                  <a:pos x="26" y="92"/>
                </a:cxn>
                <a:cxn ang="0">
                  <a:pos x="0" y="108"/>
                </a:cxn>
              </a:cxnLst>
              <a:rect l="0" t="0" r="r" b="b"/>
              <a:pathLst>
                <a:path w="139" h="150">
                  <a:moveTo>
                    <a:pt x="0" y="108"/>
                  </a:moveTo>
                  <a:lnTo>
                    <a:pt x="75" y="150"/>
                  </a:lnTo>
                  <a:lnTo>
                    <a:pt x="78" y="141"/>
                  </a:lnTo>
                  <a:lnTo>
                    <a:pt x="83" y="120"/>
                  </a:lnTo>
                  <a:lnTo>
                    <a:pt x="88" y="101"/>
                  </a:lnTo>
                  <a:lnTo>
                    <a:pt x="89" y="96"/>
                  </a:lnTo>
                  <a:lnTo>
                    <a:pt x="89" y="93"/>
                  </a:lnTo>
                  <a:lnTo>
                    <a:pt x="95" y="76"/>
                  </a:lnTo>
                  <a:lnTo>
                    <a:pt x="98" y="65"/>
                  </a:lnTo>
                  <a:lnTo>
                    <a:pt x="101" y="54"/>
                  </a:lnTo>
                  <a:lnTo>
                    <a:pt x="105" y="45"/>
                  </a:lnTo>
                  <a:lnTo>
                    <a:pt x="109" y="39"/>
                  </a:lnTo>
                  <a:lnTo>
                    <a:pt x="117" y="26"/>
                  </a:lnTo>
                  <a:lnTo>
                    <a:pt x="127" y="13"/>
                  </a:lnTo>
                  <a:lnTo>
                    <a:pt x="136" y="3"/>
                  </a:lnTo>
                  <a:lnTo>
                    <a:pt x="139" y="0"/>
                  </a:lnTo>
                  <a:lnTo>
                    <a:pt x="128" y="6"/>
                  </a:lnTo>
                  <a:lnTo>
                    <a:pt x="113" y="19"/>
                  </a:lnTo>
                  <a:lnTo>
                    <a:pt x="108" y="23"/>
                  </a:lnTo>
                  <a:lnTo>
                    <a:pt x="104" y="27"/>
                  </a:lnTo>
                  <a:lnTo>
                    <a:pt x="98" y="35"/>
                  </a:lnTo>
                  <a:lnTo>
                    <a:pt x="90" y="50"/>
                  </a:lnTo>
                  <a:lnTo>
                    <a:pt x="81" y="70"/>
                  </a:lnTo>
                  <a:lnTo>
                    <a:pt x="73" y="92"/>
                  </a:lnTo>
                  <a:lnTo>
                    <a:pt x="66" y="110"/>
                  </a:lnTo>
                  <a:lnTo>
                    <a:pt x="63" y="117"/>
                  </a:lnTo>
                  <a:lnTo>
                    <a:pt x="26" y="92"/>
                  </a:lnTo>
                  <a:lnTo>
                    <a:pt x="0" y="108"/>
                  </a:lnTo>
                  <a:close/>
                </a:path>
              </a:pathLst>
            </a:custGeom>
            <a:solidFill>
              <a:srgbClr val="237CFF"/>
            </a:solidFill>
            <a:ln w="9525">
              <a:noFill/>
              <a:round/>
              <a:headEnd/>
              <a:tailEnd/>
            </a:ln>
          </p:spPr>
          <p:txBody>
            <a:bodyPr/>
            <a:lstStyle/>
            <a:p>
              <a:endParaRPr lang="en-GB"/>
            </a:p>
          </p:txBody>
        </p:sp>
        <p:sp>
          <p:nvSpPr>
            <p:cNvPr id="174261" name="Freeform 181"/>
            <p:cNvSpPr>
              <a:spLocks/>
            </p:cNvSpPr>
            <p:nvPr/>
          </p:nvSpPr>
          <p:spPr bwMode="auto">
            <a:xfrm>
              <a:off x="2421" y="3101"/>
              <a:ext cx="28" cy="30"/>
            </a:xfrm>
            <a:custGeom>
              <a:avLst/>
              <a:gdLst/>
              <a:ahLst/>
              <a:cxnLst>
                <a:cxn ang="0">
                  <a:pos x="0" y="108"/>
                </a:cxn>
                <a:cxn ang="0">
                  <a:pos x="75" y="150"/>
                </a:cxn>
                <a:cxn ang="0">
                  <a:pos x="78" y="141"/>
                </a:cxn>
                <a:cxn ang="0">
                  <a:pos x="83" y="120"/>
                </a:cxn>
                <a:cxn ang="0">
                  <a:pos x="88" y="101"/>
                </a:cxn>
                <a:cxn ang="0">
                  <a:pos x="89" y="96"/>
                </a:cxn>
                <a:cxn ang="0">
                  <a:pos x="89" y="93"/>
                </a:cxn>
                <a:cxn ang="0">
                  <a:pos x="95" y="76"/>
                </a:cxn>
                <a:cxn ang="0">
                  <a:pos x="98" y="65"/>
                </a:cxn>
                <a:cxn ang="0">
                  <a:pos x="101" y="54"/>
                </a:cxn>
                <a:cxn ang="0">
                  <a:pos x="105" y="45"/>
                </a:cxn>
                <a:cxn ang="0">
                  <a:pos x="109" y="39"/>
                </a:cxn>
                <a:cxn ang="0">
                  <a:pos x="117" y="26"/>
                </a:cxn>
                <a:cxn ang="0">
                  <a:pos x="127" y="13"/>
                </a:cxn>
                <a:cxn ang="0">
                  <a:pos x="136" y="3"/>
                </a:cxn>
                <a:cxn ang="0">
                  <a:pos x="139" y="0"/>
                </a:cxn>
                <a:cxn ang="0">
                  <a:pos x="128" y="6"/>
                </a:cxn>
                <a:cxn ang="0">
                  <a:pos x="113" y="19"/>
                </a:cxn>
                <a:cxn ang="0">
                  <a:pos x="108" y="23"/>
                </a:cxn>
                <a:cxn ang="0">
                  <a:pos x="104" y="27"/>
                </a:cxn>
                <a:cxn ang="0">
                  <a:pos x="98" y="35"/>
                </a:cxn>
                <a:cxn ang="0">
                  <a:pos x="90" y="50"/>
                </a:cxn>
                <a:cxn ang="0">
                  <a:pos x="81" y="70"/>
                </a:cxn>
                <a:cxn ang="0">
                  <a:pos x="73" y="92"/>
                </a:cxn>
                <a:cxn ang="0">
                  <a:pos x="66" y="110"/>
                </a:cxn>
                <a:cxn ang="0">
                  <a:pos x="63" y="117"/>
                </a:cxn>
                <a:cxn ang="0">
                  <a:pos x="26" y="92"/>
                </a:cxn>
                <a:cxn ang="0">
                  <a:pos x="0" y="108"/>
                </a:cxn>
              </a:cxnLst>
              <a:rect l="0" t="0" r="r" b="b"/>
              <a:pathLst>
                <a:path w="139" h="150">
                  <a:moveTo>
                    <a:pt x="0" y="108"/>
                  </a:moveTo>
                  <a:lnTo>
                    <a:pt x="75" y="150"/>
                  </a:lnTo>
                  <a:lnTo>
                    <a:pt x="78" y="141"/>
                  </a:lnTo>
                  <a:lnTo>
                    <a:pt x="83" y="120"/>
                  </a:lnTo>
                  <a:lnTo>
                    <a:pt x="88" y="101"/>
                  </a:lnTo>
                  <a:lnTo>
                    <a:pt x="89" y="96"/>
                  </a:lnTo>
                  <a:lnTo>
                    <a:pt x="89" y="93"/>
                  </a:lnTo>
                  <a:lnTo>
                    <a:pt x="95" y="76"/>
                  </a:lnTo>
                  <a:lnTo>
                    <a:pt x="98" y="65"/>
                  </a:lnTo>
                  <a:lnTo>
                    <a:pt x="101" y="54"/>
                  </a:lnTo>
                  <a:lnTo>
                    <a:pt x="105" y="45"/>
                  </a:lnTo>
                  <a:lnTo>
                    <a:pt x="109" y="39"/>
                  </a:lnTo>
                  <a:lnTo>
                    <a:pt x="117" y="26"/>
                  </a:lnTo>
                  <a:lnTo>
                    <a:pt x="127" y="13"/>
                  </a:lnTo>
                  <a:lnTo>
                    <a:pt x="136" y="3"/>
                  </a:lnTo>
                  <a:lnTo>
                    <a:pt x="139" y="0"/>
                  </a:lnTo>
                  <a:lnTo>
                    <a:pt x="128" y="6"/>
                  </a:lnTo>
                  <a:lnTo>
                    <a:pt x="113" y="19"/>
                  </a:lnTo>
                  <a:lnTo>
                    <a:pt x="108" y="23"/>
                  </a:lnTo>
                  <a:lnTo>
                    <a:pt x="104" y="27"/>
                  </a:lnTo>
                  <a:lnTo>
                    <a:pt x="98" y="35"/>
                  </a:lnTo>
                  <a:lnTo>
                    <a:pt x="90" y="50"/>
                  </a:lnTo>
                  <a:lnTo>
                    <a:pt x="81" y="70"/>
                  </a:lnTo>
                  <a:lnTo>
                    <a:pt x="73" y="92"/>
                  </a:lnTo>
                  <a:lnTo>
                    <a:pt x="66" y="110"/>
                  </a:lnTo>
                  <a:lnTo>
                    <a:pt x="63" y="117"/>
                  </a:lnTo>
                  <a:lnTo>
                    <a:pt x="26" y="92"/>
                  </a:lnTo>
                  <a:lnTo>
                    <a:pt x="0" y="108"/>
                  </a:lnTo>
                </a:path>
              </a:pathLst>
            </a:custGeom>
            <a:solidFill>
              <a:srgbClr val="237CFF"/>
            </a:solidFill>
            <a:ln w="4763">
              <a:solidFill>
                <a:srgbClr val="1F1A17"/>
              </a:solidFill>
              <a:prstDash val="solid"/>
              <a:round/>
              <a:headEnd/>
              <a:tailEnd/>
            </a:ln>
          </p:spPr>
          <p:txBody>
            <a:bodyPr/>
            <a:lstStyle/>
            <a:p>
              <a:endParaRPr lang="en-GB"/>
            </a:p>
          </p:txBody>
        </p:sp>
      </p:grpSp>
      <p:sp>
        <p:nvSpPr>
          <p:cNvPr id="174262" name="Text Box 182"/>
          <p:cNvSpPr txBox="1">
            <a:spLocks noChangeArrowheads="1"/>
          </p:cNvSpPr>
          <p:nvPr/>
        </p:nvSpPr>
        <p:spPr bwMode="auto">
          <a:xfrm>
            <a:off x="1517650" y="2171700"/>
            <a:ext cx="730250" cy="365125"/>
          </a:xfrm>
          <a:prstGeom prst="rect">
            <a:avLst/>
          </a:prstGeom>
          <a:noFill/>
          <a:ln w="38100">
            <a:noFill/>
            <a:miter lim="800000"/>
            <a:headEnd/>
            <a:tailEnd/>
          </a:ln>
          <a:effectLst/>
        </p:spPr>
        <p:txBody>
          <a:bodyPr wrap="none" lIns="0" tIns="0" rIns="0" bIns="0" anchor="ctr">
            <a:spAutoFit/>
          </a:bodyPr>
          <a:lstStyle/>
          <a:p>
            <a:pPr algn="ctr" eaLnBrk="0" hangingPunct="0"/>
            <a:r>
              <a:rPr lang="en-US" sz="2400" b="1">
                <a:solidFill>
                  <a:srgbClr val="3366FF"/>
                </a:solidFill>
                <a:latin typeface="Times New Roman" pitchFamily="18" charset="0"/>
              </a:rPr>
              <a:t>Input</a:t>
            </a:r>
            <a:endParaRPr lang="en-US" sz="1200" b="1">
              <a:solidFill>
                <a:srgbClr val="3366FF"/>
              </a:solidFill>
              <a:latin typeface="Times New Roman" pitchFamily="18" charset="0"/>
            </a:endParaRPr>
          </a:p>
        </p:txBody>
      </p:sp>
      <p:sp>
        <p:nvSpPr>
          <p:cNvPr id="174263" name="Text Box 183"/>
          <p:cNvSpPr txBox="1">
            <a:spLocks noChangeArrowheads="1"/>
          </p:cNvSpPr>
          <p:nvPr/>
        </p:nvSpPr>
        <p:spPr bwMode="auto">
          <a:xfrm>
            <a:off x="849312" y="3527425"/>
            <a:ext cx="1471613" cy="365125"/>
          </a:xfrm>
          <a:prstGeom prst="rect">
            <a:avLst/>
          </a:prstGeom>
          <a:noFill/>
          <a:ln w="38100">
            <a:noFill/>
            <a:miter lim="800000"/>
            <a:headEnd/>
            <a:tailEnd/>
          </a:ln>
          <a:effectLst/>
        </p:spPr>
        <p:txBody>
          <a:bodyPr wrap="none" lIns="0" tIns="0" rIns="0" bIns="0" anchor="ctr">
            <a:spAutoFit/>
          </a:bodyPr>
          <a:lstStyle/>
          <a:p>
            <a:pPr algn="ctr" eaLnBrk="0" hangingPunct="0"/>
            <a:r>
              <a:rPr lang="en-US" sz="2400" b="1">
                <a:solidFill>
                  <a:srgbClr val="FF7C80"/>
                </a:solidFill>
                <a:latin typeface="Times New Roman" pitchFamily="18" charset="0"/>
              </a:rPr>
              <a:t>Descriptive</a:t>
            </a:r>
            <a:endParaRPr lang="en-US" sz="2400" b="1">
              <a:solidFill>
                <a:schemeClr val="bg2"/>
              </a:solidFill>
              <a:latin typeface="Times New Roman" pitchFamily="18" charset="0"/>
            </a:endParaRPr>
          </a:p>
        </p:txBody>
      </p:sp>
      <p:sp>
        <p:nvSpPr>
          <p:cNvPr id="174264" name="Text Box 184"/>
          <p:cNvSpPr txBox="1">
            <a:spLocks noChangeArrowheads="1"/>
          </p:cNvSpPr>
          <p:nvPr/>
        </p:nvSpPr>
        <p:spPr bwMode="auto">
          <a:xfrm>
            <a:off x="1085850" y="5127625"/>
            <a:ext cx="1235075" cy="365125"/>
          </a:xfrm>
          <a:prstGeom prst="rect">
            <a:avLst/>
          </a:prstGeom>
          <a:noFill/>
          <a:ln w="38100">
            <a:noFill/>
            <a:miter lim="800000"/>
            <a:headEnd/>
            <a:tailEnd/>
          </a:ln>
          <a:effectLst/>
        </p:spPr>
        <p:txBody>
          <a:bodyPr wrap="none" lIns="0" tIns="0" rIns="0" bIns="0" anchor="ctr">
            <a:spAutoFit/>
          </a:bodyPr>
          <a:lstStyle/>
          <a:p>
            <a:pPr algn="ctr" eaLnBrk="0" hangingPunct="0"/>
            <a:r>
              <a:rPr lang="en-US" sz="2400" b="1">
                <a:solidFill>
                  <a:srgbClr val="4D4D4D"/>
                </a:solidFill>
                <a:latin typeface="Times New Roman" pitchFamily="18" charset="0"/>
              </a:rPr>
              <a:t>Modeling</a:t>
            </a:r>
            <a:endParaRPr lang="en-US" sz="1200" b="1">
              <a:solidFill>
                <a:schemeClr val="bg2"/>
              </a:solidFill>
              <a:latin typeface="Times New Roman" pitchFamily="18" charset="0"/>
            </a:endParaRPr>
          </a:p>
        </p:txBody>
      </p:sp>
      <p:sp>
        <p:nvSpPr>
          <p:cNvPr id="174265" name="Freeform 185"/>
          <p:cNvSpPr>
            <a:spLocks/>
          </p:cNvSpPr>
          <p:nvPr/>
        </p:nvSpPr>
        <p:spPr bwMode="auto">
          <a:xfrm>
            <a:off x="5948362" y="1919288"/>
            <a:ext cx="481013" cy="625475"/>
          </a:xfrm>
          <a:custGeom>
            <a:avLst/>
            <a:gdLst/>
            <a:ahLst/>
            <a:cxnLst>
              <a:cxn ang="0">
                <a:pos x="190" y="0"/>
              </a:cxn>
              <a:cxn ang="0">
                <a:pos x="1513" y="136"/>
              </a:cxn>
              <a:cxn ang="0">
                <a:pos x="1323" y="1969"/>
              </a:cxn>
              <a:cxn ang="0">
                <a:pos x="0" y="1831"/>
              </a:cxn>
              <a:cxn ang="0">
                <a:pos x="190" y="0"/>
              </a:cxn>
            </a:cxnLst>
            <a:rect l="0" t="0" r="r" b="b"/>
            <a:pathLst>
              <a:path w="1513" h="1969">
                <a:moveTo>
                  <a:pt x="190" y="0"/>
                </a:moveTo>
                <a:lnTo>
                  <a:pt x="1513" y="136"/>
                </a:lnTo>
                <a:lnTo>
                  <a:pt x="1323" y="1969"/>
                </a:lnTo>
                <a:lnTo>
                  <a:pt x="0" y="1831"/>
                </a:lnTo>
                <a:lnTo>
                  <a:pt x="190" y="0"/>
                </a:lnTo>
                <a:close/>
              </a:path>
            </a:pathLst>
          </a:custGeom>
          <a:solidFill>
            <a:srgbClr val="237CFF"/>
          </a:solidFill>
          <a:ln w="9525">
            <a:solidFill>
              <a:schemeClr val="bg2"/>
            </a:solidFill>
            <a:round/>
            <a:headEnd/>
            <a:tailEnd/>
          </a:ln>
        </p:spPr>
        <p:txBody>
          <a:bodyPr/>
          <a:lstStyle/>
          <a:p>
            <a:endParaRPr lang="en-GB"/>
          </a:p>
        </p:txBody>
      </p:sp>
      <p:sp>
        <p:nvSpPr>
          <p:cNvPr id="174266" name="Freeform 186"/>
          <p:cNvSpPr>
            <a:spLocks/>
          </p:cNvSpPr>
          <p:nvPr/>
        </p:nvSpPr>
        <p:spPr bwMode="auto">
          <a:xfrm>
            <a:off x="5948362" y="1919288"/>
            <a:ext cx="481013" cy="625475"/>
          </a:xfrm>
          <a:custGeom>
            <a:avLst/>
            <a:gdLst/>
            <a:ahLst/>
            <a:cxnLst>
              <a:cxn ang="0">
                <a:pos x="190" y="0"/>
              </a:cxn>
              <a:cxn ang="0">
                <a:pos x="1513" y="136"/>
              </a:cxn>
              <a:cxn ang="0">
                <a:pos x="1323" y="1969"/>
              </a:cxn>
              <a:cxn ang="0">
                <a:pos x="0" y="1831"/>
              </a:cxn>
              <a:cxn ang="0">
                <a:pos x="190" y="0"/>
              </a:cxn>
            </a:cxnLst>
            <a:rect l="0" t="0" r="r" b="b"/>
            <a:pathLst>
              <a:path w="1513" h="1969">
                <a:moveTo>
                  <a:pt x="190" y="0"/>
                </a:moveTo>
                <a:lnTo>
                  <a:pt x="1513" y="136"/>
                </a:lnTo>
                <a:lnTo>
                  <a:pt x="1323" y="1969"/>
                </a:lnTo>
                <a:lnTo>
                  <a:pt x="0" y="1831"/>
                </a:lnTo>
                <a:lnTo>
                  <a:pt x="190" y="0"/>
                </a:lnTo>
                <a:close/>
              </a:path>
            </a:pathLst>
          </a:custGeom>
          <a:solidFill>
            <a:srgbClr val="237CFF"/>
          </a:solidFill>
          <a:ln w="4763">
            <a:solidFill>
              <a:schemeClr val="bg2"/>
            </a:solidFill>
            <a:prstDash val="solid"/>
            <a:round/>
            <a:headEnd/>
            <a:tailEnd/>
          </a:ln>
        </p:spPr>
        <p:txBody>
          <a:bodyPr/>
          <a:lstStyle/>
          <a:p>
            <a:endParaRPr lang="en-GB"/>
          </a:p>
        </p:txBody>
      </p:sp>
      <p:sp>
        <p:nvSpPr>
          <p:cNvPr id="174267" name="Freeform 187"/>
          <p:cNvSpPr>
            <a:spLocks/>
          </p:cNvSpPr>
          <p:nvPr/>
        </p:nvSpPr>
        <p:spPr bwMode="auto">
          <a:xfrm>
            <a:off x="5969000" y="1925638"/>
            <a:ext cx="454025" cy="606425"/>
          </a:xfrm>
          <a:custGeom>
            <a:avLst/>
            <a:gdLst/>
            <a:ahLst/>
            <a:cxnLst>
              <a:cxn ang="0">
                <a:pos x="100" y="0"/>
              </a:cxn>
              <a:cxn ang="0">
                <a:pos x="1428" y="71"/>
              </a:cxn>
              <a:cxn ang="0">
                <a:pos x="1329" y="1910"/>
              </a:cxn>
              <a:cxn ang="0">
                <a:pos x="0" y="1839"/>
              </a:cxn>
              <a:cxn ang="0">
                <a:pos x="100" y="0"/>
              </a:cxn>
            </a:cxnLst>
            <a:rect l="0" t="0" r="r" b="b"/>
            <a:pathLst>
              <a:path w="1428" h="1910">
                <a:moveTo>
                  <a:pt x="100" y="0"/>
                </a:moveTo>
                <a:lnTo>
                  <a:pt x="1428" y="71"/>
                </a:lnTo>
                <a:lnTo>
                  <a:pt x="1329" y="1910"/>
                </a:lnTo>
                <a:lnTo>
                  <a:pt x="0" y="1839"/>
                </a:lnTo>
                <a:lnTo>
                  <a:pt x="100" y="0"/>
                </a:lnTo>
                <a:close/>
              </a:path>
            </a:pathLst>
          </a:custGeom>
          <a:solidFill>
            <a:srgbClr val="237CFF"/>
          </a:solidFill>
          <a:ln w="9525">
            <a:solidFill>
              <a:schemeClr val="bg2"/>
            </a:solidFill>
            <a:round/>
            <a:headEnd/>
            <a:tailEnd/>
          </a:ln>
        </p:spPr>
        <p:txBody>
          <a:bodyPr/>
          <a:lstStyle/>
          <a:p>
            <a:endParaRPr lang="en-GB"/>
          </a:p>
        </p:txBody>
      </p:sp>
      <p:sp>
        <p:nvSpPr>
          <p:cNvPr id="174268" name="Freeform 188"/>
          <p:cNvSpPr>
            <a:spLocks/>
          </p:cNvSpPr>
          <p:nvPr/>
        </p:nvSpPr>
        <p:spPr bwMode="auto">
          <a:xfrm>
            <a:off x="5969000" y="1925638"/>
            <a:ext cx="454025" cy="606425"/>
          </a:xfrm>
          <a:custGeom>
            <a:avLst/>
            <a:gdLst/>
            <a:ahLst/>
            <a:cxnLst>
              <a:cxn ang="0">
                <a:pos x="100" y="0"/>
              </a:cxn>
              <a:cxn ang="0">
                <a:pos x="1428" y="71"/>
              </a:cxn>
              <a:cxn ang="0">
                <a:pos x="1329" y="1910"/>
              </a:cxn>
              <a:cxn ang="0">
                <a:pos x="0" y="1839"/>
              </a:cxn>
              <a:cxn ang="0">
                <a:pos x="100" y="0"/>
              </a:cxn>
            </a:cxnLst>
            <a:rect l="0" t="0" r="r" b="b"/>
            <a:pathLst>
              <a:path w="1428" h="1910">
                <a:moveTo>
                  <a:pt x="100" y="0"/>
                </a:moveTo>
                <a:lnTo>
                  <a:pt x="1428" y="71"/>
                </a:lnTo>
                <a:lnTo>
                  <a:pt x="1329" y="1910"/>
                </a:lnTo>
                <a:lnTo>
                  <a:pt x="0" y="1839"/>
                </a:lnTo>
                <a:lnTo>
                  <a:pt x="100" y="0"/>
                </a:lnTo>
                <a:close/>
              </a:path>
            </a:pathLst>
          </a:custGeom>
          <a:solidFill>
            <a:srgbClr val="237CFF"/>
          </a:solidFill>
          <a:ln w="4763">
            <a:solidFill>
              <a:schemeClr val="bg2"/>
            </a:solidFill>
            <a:prstDash val="solid"/>
            <a:round/>
            <a:headEnd/>
            <a:tailEnd/>
          </a:ln>
        </p:spPr>
        <p:txBody>
          <a:bodyPr/>
          <a:lstStyle/>
          <a:p>
            <a:endParaRPr lang="en-GB"/>
          </a:p>
        </p:txBody>
      </p:sp>
      <p:sp>
        <p:nvSpPr>
          <p:cNvPr id="174269" name="Rectangle 189"/>
          <p:cNvSpPr>
            <a:spLocks noChangeArrowheads="1"/>
          </p:cNvSpPr>
          <p:nvPr/>
        </p:nvSpPr>
        <p:spPr bwMode="auto">
          <a:xfrm>
            <a:off x="5989637" y="1930400"/>
            <a:ext cx="422275" cy="584200"/>
          </a:xfrm>
          <a:prstGeom prst="rect">
            <a:avLst/>
          </a:prstGeom>
          <a:solidFill>
            <a:srgbClr val="237CFF"/>
          </a:solidFill>
          <a:ln w="9525">
            <a:solidFill>
              <a:schemeClr val="bg2"/>
            </a:solidFill>
            <a:miter lim="800000"/>
            <a:headEnd/>
            <a:tailEnd/>
          </a:ln>
        </p:spPr>
        <p:txBody>
          <a:bodyPr/>
          <a:lstStyle/>
          <a:p>
            <a:endParaRPr lang="en-GB"/>
          </a:p>
        </p:txBody>
      </p:sp>
      <p:sp>
        <p:nvSpPr>
          <p:cNvPr id="174270" name="Rectangle 190"/>
          <p:cNvSpPr>
            <a:spLocks noChangeArrowheads="1"/>
          </p:cNvSpPr>
          <p:nvPr/>
        </p:nvSpPr>
        <p:spPr bwMode="auto">
          <a:xfrm>
            <a:off x="5989637" y="1930400"/>
            <a:ext cx="422275" cy="584200"/>
          </a:xfrm>
          <a:prstGeom prst="rect">
            <a:avLst/>
          </a:prstGeom>
          <a:solidFill>
            <a:srgbClr val="237CFF"/>
          </a:solidFill>
          <a:ln w="4763">
            <a:solidFill>
              <a:schemeClr val="bg2"/>
            </a:solidFill>
            <a:miter lim="800000"/>
            <a:headEnd/>
            <a:tailEnd/>
          </a:ln>
        </p:spPr>
        <p:txBody>
          <a:bodyPr/>
          <a:lstStyle/>
          <a:p>
            <a:endParaRPr lang="en-GB"/>
          </a:p>
        </p:txBody>
      </p:sp>
      <p:sp>
        <p:nvSpPr>
          <p:cNvPr id="174271" name="Freeform 191"/>
          <p:cNvSpPr>
            <a:spLocks/>
          </p:cNvSpPr>
          <p:nvPr/>
        </p:nvSpPr>
        <p:spPr bwMode="auto">
          <a:xfrm>
            <a:off x="6061075" y="1909763"/>
            <a:ext cx="26987" cy="79375"/>
          </a:xfrm>
          <a:custGeom>
            <a:avLst/>
            <a:gdLst/>
            <a:ahLst/>
            <a:cxnLst>
              <a:cxn ang="0">
                <a:pos x="75" y="54"/>
              </a:cxn>
              <a:cxn ang="0">
                <a:pos x="74" y="34"/>
              </a:cxn>
              <a:cxn ang="0">
                <a:pos x="69" y="22"/>
              </a:cxn>
              <a:cxn ang="0">
                <a:pos x="60" y="13"/>
              </a:cxn>
              <a:cxn ang="0">
                <a:pos x="48" y="10"/>
              </a:cxn>
              <a:cxn ang="0">
                <a:pos x="35" y="10"/>
              </a:cxn>
              <a:cxn ang="0">
                <a:pos x="24" y="13"/>
              </a:cxn>
              <a:cxn ang="0">
                <a:pos x="15" y="22"/>
              </a:cxn>
              <a:cxn ang="0">
                <a:pos x="10" y="34"/>
              </a:cxn>
              <a:cxn ang="0">
                <a:pos x="9" y="221"/>
              </a:cxn>
              <a:cxn ang="0">
                <a:pos x="12" y="232"/>
              </a:cxn>
              <a:cxn ang="0">
                <a:pos x="18" y="240"/>
              </a:cxn>
              <a:cxn ang="0">
                <a:pos x="25" y="244"/>
              </a:cxn>
              <a:cxn ang="0">
                <a:pos x="34" y="245"/>
              </a:cxn>
              <a:cxn ang="0">
                <a:pos x="43" y="243"/>
              </a:cxn>
              <a:cxn ang="0">
                <a:pos x="50" y="238"/>
              </a:cxn>
              <a:cxn ang="0">
                <a:pos x="55" y="231"/>
              </a:cxn>
              <a:cxn ang="0">
                <a:pos x="58" y="221"/>
              </a:cxn>
              <a:cxn ang="0">
                <a:pos x="68" y="100"/>
              </a:cxn>
              <a:cxn ang="0">
                <a:pos x="66" y="228"/>
              </a:cxn>
              <a:cxn ang="0">
                <a:pos x="62" y="241"/>
              </a:cxn>
              <a:cxn ang="0">
                <a:pos x="53" y="248"/>
              </a:cxn>
              <a:cxn ang="0">
                <a:pos x="41" y="253"/>
              </a:cxn>
              <a:cxn ang="0">
                <a:pos x="29" y="253"/>
              </a:cxn>
              <a:cxn ang="0">
                <a:pos x="16" y="248"/>
              </a:cxn>
              <a:cxn ang="0">
                <a:pos x="6" y="241"/>
              </a:cxn>
              <a:cxn ang="0">
                <a:pos x="1" y="228"/>
              </a:cxn>
              <a:cxn ang="0">
                <a:pos x="0" y="41"/>
              </a:cxn>
              <a:cxn ang="0">
                <a:pos x="4" y="23"/>
              </a:cxn>
              <a:cxn ang="0">
                <a:pos x="13" y="11"/>
              </a:cxn>
              <a:cxn ang="0">
                <a:pos x="28" y="2"/>
              </a:cxn>
              <a:cxn ang="0">
                <a:pos x="43" y="0"/>
              </a:cxn>
              <a:cxn ang="0">
                <a:pos x="59" y="2"/>
              </a:cxn>
              <a:cxn ang="0">
                <a:pos x="72" y="10"/>
              </a:cxn>
              <a:cxn ang="0">
                <a:pos x="82" y="23"/>
              </a:cxn>
              <a:cxn ang="0">
                <a:pos x="85" y="42"/>
              </a:cxn>
            </a:cxnLst>
            <a:rect l="0" t="0" r="r" b="b"/>
            <a:pathLst>
              <a:path w="85" h="253">
                <a:moveTo>
                  <a:pt x="85" y="55"/>
                </a:moveTo>
                <a:lnTo>
                  <a:pt x="75" y="54"/>
                </a:lnTo>
                <a:lnTo>
                  <a:pt x="75" y="42"/>
                </a:lnTo>
                <a:lnTo>
                  <a:pt x="74" y="34"/>
                </a:lnTo>
                <a:lnTo>
                  <a:pt x="72" y="28"/>
                </a:lnTo>
                <a:lnTo>
                  <a:pt x="69" y="22"/>
                </a:lnTo>
                <a:lnTo>
                  <a:pt x="64" y="18"/>
                </a:lnTo>
                <a:lnTo>
                  <a:pt x="60" y="13"/>
                </a:lnTo>
                <a:lnTo>
                  <a:pt x="54" y="11"/>
                </a:lnTo>
                <a:lnTo>
                  <a:pt x="48" y="10"/>
                </a:lnTo>
                <a:lnTo>
                  <a:pt x="42" y="9"/>
                </a:lnTo>
                <a:lnTo>
                  <a:pt x="35" y="10"/>
                </a:lnTo>
                <a:lnTo>
                  <a:pt x="30" y="11"/>
                </a:lnTo>
                <a:lnTo>
                  <a:pt x="24" y="13"/>
                </a:lnTo>
                <a:lnTo>
                  <a:pt x="19" y="18"/>
                </a:lnTo>
                <a:lnTo>
                  <a:pt x="15" y="22"/>
                </a:lnTo>
                <a:lnTo>
                  <a:pt x="12" y="28"/>
                </a:lnTo>
                <a:lnTo>
                  <a:pt x="10" y="34"/>
                </a:lnTo>
                <a:lnTo>
                  <a:pt x="9" y="42"/>
                </a:lnTo>
                <a:lnTo>
                  <a:pt x="9" y="221"/>
                </a:lnTo>
                <a:lnTo>
                  <a:pt x="10" y="226"/>
                </a:lnTo>
                <a:lnTo>
                  <a:pt x="12" y="232"/>
                </a:lnTo>
                <a:lnTo>
                  <a:pt x="14" y="236"/>
                </a:lnTo>
                <a:lnTo>
                  <a:pt x="18" y="240"/>
                </a:lnTo>
                <a:lnTo>
                  <a:pt x="22" y="242"/>
                </a:lnTo>
                <a:lnTo>
                  <a:pt x="25" y="244"/>
                </a:lnTo>
                <a:lnTo>
                  <a:pt x="30" y="245"/>
                </a:lnTo>
                <a:lnTo>
                  <a:pt x="34" y="245"/>
                </a:lnTo>
                <a:lnTo>
                  <a:pt x="39" y="244"/>
                </a:lnTo>
                <a:lnTo>
                  <a:pt x="43" y="243"/>
                </a:lnTo>
                <a:lnTo>
                  <a:pt x="46" y="241"/>
                </a:lnTo>
                <a:lnTo>
                  <a:pt x="50" y="238"/>
                </a:lnTo>
                <a:lnTo>
                  <a:pt x="53" y="235"/>
                </a:lnTo>
                <a:lnTo>
                  <a:pt x="55" y="231"/>
                </a:lnTo>
                <a:lnTo>
                  <a:pt x="58" y="226"/>
                </a:lnTo>
                <a:lnTo>
                  <a:pt x="58" y="221"/>
                </a:lnTo>
                <a:lnTo>
                  <a:pt x="58" y="100"/>
                </a:lnTo>
                <a:lnTo>
                  <a:pt x="68" y="100"/>
                </a:lnTo>
                <a:lnTo>
                  <a:pt x="68" y="221"/>
                </a:lnTo>
                <a:lnTo>
                  <a:pt x="66" y="228"/>
                </a:lnTo>
                <a:lnTo>
                  <a:pt x="65" y="235"/>
                </a:lnTo>
                <a:lnTo>
                  <a:pt x="62" y="241"/>
                </a:lnTo>
                <a:lnTo>
                  <a:pt x="58" y="245"/>
                </a:lnTo>
                <a:lnTo>
                  <a:pt x="53" y="248"/>
                </a:lnTo>
                <a:lnTo>
                  <a:pt x="46" y="252"/>
                </a:lnTo>
                <a:lnTo>
                  <a:pt x="41" y="253"/>
                </a:lnTo>
                <a:lnTo>
                  <a:pt x="34" y="253"/>
                </a:lnTo>
                <a:lnTo>
                  <a:pt x="29" y="253"/>
                </a:lnTo>
                <a:lnTo>
                  <a:pt x="22" y="251"/>
                </a:lnTo>
                <a:lnTo>
                  <a:pt x="16" y="248"/>
                </a:lnTo>
                <a:lnTo>
                  <a:pt x="11" y="245"/>
                </a:lnTo>
                <a:lnTo>
                  <a:pt x="6" y="241"/>
                </a:lnTo>
                <a:lnTo>
                  <a:pt x="3" y="235"/>
                </a:lnTo>
                <a:lnTo>
                  <a:pt x="1" y="228"/>
                </a:lnTo>
                <a:lnTo>
                  <a:pt x="0" y="221"/>
                </a:lnTo>
                <a:lnTo>
                  <a:pt x="0" y="41"/>
                </a:lnTo>
                <a:lnTo>
                  <a:pt x="1" y="32"/>
                </a:lnTo>
                <a:lnTo>
                  <a:pt x="4" y="23"/>
                </a:lnTo>
                <a:lnTo>
                  <a:pt x="8" y="16"/>
                </a:lnTo>
                <a:lnTo>
                  <a:pt x="13" y="11"/>
                </a:lnTo>
                <a:lnTo>
                  <a:pt x="20" y="5"/>
                </a:lnTo>
                <a:lnTo>
                  <a:pt x="28" y="2"/>
                </a:lnTo>
                <a:lnTo>
                  <a:pt x="35" y="0"/>
                </a:lnTo>
                <a:lnTo>
                  <a:pt x="43" y="0"/>
                </a:lnTo>
                <a:lnTo>
                  <a:pt x="51" y="0"/>
                </a:lnTo>
                <a:lnTo>
                  <a:pt x="59" y="2"/>
                </a:lnTo>
                <a:lnTo>
                  <a:pt x="65" y="5"/>
                </a:lnTo>
                <a:lnTo>
                  <a:pt x="72" y="10"/>
                </a:lnTo>
                <a:lnTo>
                  <a:pt x="78" y="15"/>
                </a:lnTo>
                <a:lnTo>
                  <a:pt x="82" y="23"/>
                </a:lnTo>
                <a:lnTo>
                  <a:pt x="84" y="32"/>
                </a:lnTo>
                <a:lnTo>
                  <a:pt x="85" y="42"/>
                </a:lnTo>
                <a:lnTo>
                  <a:pt x="85" y="55"/>
                </a:lnTo>
                <a:close/>
              </a:path>
            </a:pathLst>
          </a:custGeom>
          <a:solidFill>
            <a:srgbClr val="237CFF"/>
          </a:solidFill>
          <a:ln w="9525">
            <a:solidFill>
              <a:schemeClr val="bg2"/>
            </a:solidFill>
            <a:round/>
            <a:headEnd/>
            <a:tailEnd/>
          </a:ln>
        </p:spPr>
        <p:txBody>
          <a:bodyPr/>
          <a:lstStyle/>
          <a:p>
            <a:endParaRPr lang="en-GB"/>
          </a:p>
        </p:txBody>
      </p:sp>
      <p:sp>
        <p:nvSpPr>
          <p:cNvPr id="174272" name="Freeform 192"/>
          <p:cNvSpPr>
            <a:spLocks/>
          </p:cNvSpPr>
          <p:nvPr/>
        </p:nvSpPr>
        <p:spPr bwMode="auto">
          <a:xfrm>
            <a:off x="6061075" y="1909763"/>
            <a:ext cx="26987" cy="79375"/>
          </a:xfrm>
          <a:custGeom>
            <a:avLst/>
            <a:gdLst/>
            <a:ahLst/>
            <a:cxnLst>
              <a:cxn ang="0">
                <a:pos x="75" y="54"/>
              </a:cxn>
              <a:cxn ang="0">
                <a:pos x="74" y="34"/>
              </a:cxn>
              <a:cxn ang="0">
                <a:pos x="69" y="22"/>
              </a:cxn>
              <a:cxn ang="0">
                <a:pos x="60" y="13"/>
              </a:cxn>
              <a:cxn ang="0">
                <a:pos x="48" y="10"/>
              </a:cxn>
              <a:cxn ang="0">
                <a:pos x="35" y="10"/>
              </a:cxn>
              <a:cxn ang="0">
                <a:pos x="24" y="13"/>
              </a:cxn>
              <a:cxn ang="0">
                <a:pos x="15" y="22"/>
              </a:cxn>
              <a:cxn ang="0">
                <a:pos x="10" y="34"/>
              </a:cxn>
              <a:cxn ang="0">
                <a:pos x="9" y="221"/>
              </a:cxn>
              <a:cxn ang="0">
                <a:pos x="12" y="232"/>
              </a:cxn>
              <a:cxn ang="0">
                <a:pos x="18" y="240"/>
              </a:cxn>
              <a:cxn ang="0">
                <a:pos x="25" y="244"/>
              </a:cxn>
              <a:cxn ang="0">
                <a:pos x="34" y="245"/>
              </a:cxn>
              <a:cxn ang="0">
                <a:pos x="43" y="243"/>
              </a:cxn>
              <a:cxn ang="0">
                <a:pos x="50" y="238"/>
              </a:cxn>
              <a:cxn ang="0">
                <a:pos x="55" y="231"/>
              </a:cxn>
              <a:cxn ang="0">
                <a:pos x="58" y="221"/>
              </a:cxn>
              <a:cxn ang="0">
                <a:pos x="68" y="100"/>
              </a:cxn>
              <a:cxn ang="0">
                <a:pos x="66" y="228"/>
              </a:cxn>
              <a:cxn ang="0">
                <a:pos x="62" y="241"/>
              </a:cxn>
              <a:cxn ang="0">
                <a:pos x="53" y="248"/>
              </a:cxn>
              <a:cxn ang="0">
                <a:pos x="41" y="253"/>
              </a:cxn>
              <a:cxn ang="0">
                <a:pos x="29" y="253"/>
              </a:cxn>
              <a:cxn ang="0">
                <a:pos x="16" y="248"/>
              </a:cxn>
              <a:cxn ang="0">
                <a:pos x="6" y="241"/>
              </a:cxn>
              <a:cxn ang="0">
                <a:pos x="1" y="228"/>
              </a:cxn>
              <a:cxn ang="0">
                <a:pos x="0" y="41"/>
              </a:cxn>
              <a:cxn ang="0">
                <a:pos x="4" y="23"/>
              </a:cxn>
              <a:cxn ang="0">
                <a:pos x="13" y="11"/>
              </a:cxn>
              <a:cxn ang="0">
                <a:pos x="28" y="2"/>
              </a:cxn>
              <a:cxn ang="0">
                <a:pos x="43" y="0"/>
              </a:cxn>
              <a:cxn ang="0">
                <a:pos x="59" y="2"/>
              </a:cxn>
              <a:cxn ang="0">
                <a:pos x="72" y="10"/>
              </a:cxn>
              <a:cxn ang="0">
                <a:pos x="82" y="23"/>
              </a:cxn>
              <a:cxn ang="0">
                <a:pos x="85" y="42"/>
              </a:cxn>
            </a:cxnLst>
            <a:rect l="0" t="0" r="r" b="b"/>
            <a:pathLst>
              <a:path w="85" h="253">
                <a:moveTo>
                  <a:pt x="85" y="55"/>
                </a:moveTo>
                <a:lnTo>
                  <a:pt x="75" y="54"/>
                </a:lnTo>
                <a:lnTo>
                  <a:pt x="75" y="42"/>
                </a:lnTo>
                <a:lnTo>
                  <a:pt x="74" y="34"/>
                </a:lnTo>
                <a:lnTo>
                  <a:pt x="72" y="28"/>
                </a:lnTo>
                <a:lnTo>
                  <a:pt x="69" y="22"/>
                </a:lnTo>
                <a:lnTo>
                  <a:pt x="64" y="18"/>
                </a:lnTo>
                <a:lnTo>
                  <a:pt x="60" y="13"/>
                </a:lnTo>
                <a:lnTo>
                  <a:pt x="54" y="11"/>
                </a:lnTo>
                <a:lnTo>
                  <a:pt x="48" y="10"/>
                </a:lnTo>
                <a:lnTo>
                  <a:pt x="42" y="9"/>
                </a:lnTo>
                <a:lnTo>
                  <a:pt x="35" y="10"/>
                </a:lnTo>
                <a:lnTo>
                  <a:pt x="30" y="11"/>
                </a:lnTo>
                <a:lnTo>
                  <a:pt x="24" y="13"/>
                </a:lnTo>
                <a:lnTo>
                  <a:pt x="19" y="18"/>
                </a:lnTo>
                <a:lnTo>
                  <a:pt x="15" y="22"/>
                </a:lnTo>
                <a:lnTo>
                  <a:pt x="12" y="28"/>
                </a:lnTo>
                <a:lnTo>
                  <a:pt x="10" y="34"/>
                </a:lnTo>
                <a:lnTo>
                  <a:pt x="9" y="42"/>
                </a:lnTo>
                <a:lnTo>
                  <a:pt x="9" y="221"/>
                </a:lnTo>
                <a:lnTo>
                  <a:pt x="10" y="226"/>
                </a:lnTo>
                <a:lnTo>
                  <a:pt x="12" y="232"/>
                </a:lnTo>
                <a:lnTo>
                  <a:pt x="14" y="236"/>
                </a:lnTo>
                <a:lnTo>
                  <a:pt x="18" y="240"/>
                </a:lnTo>
                <a:lnTo>
                  <a:pt x="22" y="242"/>
                </a:lnTo>
                <a:lnTo>
                  <a:pt x="25" y="244"/>
                </a:lnTo>
                <a:lnTo>
                  <a:pt x="30" y="245"/>
                </a:lnTo>
                <a:lnTo>
                  <a:pt x="34" y="245"/>
                </a:lnTo>
                <a:lnTo>
                  <a:pt x="39" y="244"/>
                </a:lnTo>
                <a:lnTo>
                  <a:pt x="43" y="243"/>
                </a:lnTo>
                <a:lnTo>
                  <a:pt x="46" y="241"/>
                </a:lnTo>
                <a:lnTo>
                  <a:pt x="50" y="238"/>
                </a:lnTo>
                <a:lnTo>
                  <a:pt x="53" y="235"/>
                </a:lnTo>
                <a:lnTo>
                  <a:pt x="55" y="231"/>
                </a:lnTo>
                <a:lnTo>
                  <a:pt x="58" y="226"/>
                </a:lnTo>
                <a:lnTo>
                  <a:pt x="58" y="221"/>
                </a:lnTo>
                <a:lnTo>
                  <a:pt x="58" y="100"/>
                </a:lnTo>
                <a:lnTo>
                  <a:pt x="68" y="100"/>
                </a:lnTo>
                <a:lnTo>
                  <a:pt x="68" y="221"/>
                </a:lnTo>
                <a:lnTo>
                  <a:pt x="66" y="228"/>
                </a:lnTo>
                <a:lnTo>
                  <a:pt x="65" y="235"/>
                </a:lnTo>
                <a:lnTo>
                  <a:pt x="62" y="241"/>
                </a:lnTo>
                <a:lnTo>
                  <a:pt x="58" y="245"/>
                </a:lnTo>
                <a:lnTo>
                  <a:pt x="53" y="248"/>
                </a:lnTo>
                <a:lnTo>
                  <a:pt x="46" y="252"/>
                </a:lnTo>
                <a:lnTo>
                  <a:pt x="41" y="253"/>
                </a:lnTo>
                <a:lnTo>
                  <a:pt x="34" y="253"/>
                </a:lnTo>
                <a:lnTo>
                  <a:pt x="29" y="253"/>
                </a:lnTo>
                <a:lnTo>
                  <a:pt x="22" y="251"/>
                </a:lnTo>
                <a:lnTo>
                  <a:pt x="16" y="248"/>
                </a:lnTo>
                <a:lnTo>
                  <a:pt x="11" y="245"/>
                </a:lnTo>
                <a:lnTo>
                  <a:pt x="6" y="241"/>
                </a:lnTo>
                <a:lnTo>
                  <a:pt x="3" y="235"/>
                </a:lnTo>
                <a:lnTo>
                  <a:pt x="1" y="228"/>
                </a:lnTo>
                <a:lnTo>
                  <a:pt x="0" y="221"/>
                </a:lnTo>
                <a:lnTo>
                  <a:pt x="0" y="41"/>
                </a:lnTo>
                <a:lnTo>
                  <a:pt x="1" y="32"/>
                </a:lnTo>
                <a:lnTo>
                  <a:pt x="4" y="23"/>
                </a:lnTo>
                <a:lnTo>
                  <a:pt x="8" y="16"/>
                </a:lnTo>
                <a:lnTo>
                  <a:pt x="13" y="11"/>
                </a:lnTo>
                <a:lnTo>
                  <a:pt x="20" y="5"/>
                </a:lnTo>
                <a:lnTo>
                  <a:pt x="28" y="2"/>
                </a:lnTo>
                <a:lnTo>
                  <a:pt x="35" y="0"/>
                </a:lnTo>
                <a:lnTo>
                  <a:pt x="43" y="0"/>
                </a:lnTo>
                <a:lnTo>
                  <a:pt x="51" y="0"/>
                </a:lnTo>
                <a:lnTo>
                  <a:pt x="59" y="2"/>
                </a:lnTo>
                <a:lnTo>
                  <a:pt x="65" y="5"/>
                </a:lnTo>
                <a:lnTo>
                  <a:pt x="72" y="10"/>
                </a:lnTo>
                <a:lnTo>
                  <a:pt x="78" y="15"/>
                </a:lnTo>
                <a:lnTo>
                  <a:pt x="82" y="23"/>
                </a:lnTo>
                <a:lnTo>
                  <a:pt x="84" y="32"/>
                </a:lnTo>
                <a:lnTo>
                  <a:pt x="85" y="42"/>
                </a:lnTo>
                <a:lnTo>
                  <a:pt x="85" y="55"/>
                </a:lnTo>
                <a:close/>
              </a:path>
            </a:pathLst>
          </a:custGeom>
          <a:solidFill>
            <a:srgbClr val="237CFF"/>
          </a:solidFill>
          <a:ln w="4763">
            <a:solidFill>
              <a:schemeClr val="bg2"/>
            </a:solidFill>
            <a:prstDash val="solid"/>
            <a:round/>
            <a:headEnd/>
            <a:tailEnd/>
          </a:ln>
        </p:spPr>
        <p:txBody>
          <a:bodyPr/>
          <a:lstStyle/>
          <a:p>
            <a:endParaRPr lang="en-GB"/>
          </a:p>
        </p:txBody>
      </p:sp>
      <p:sp>
        <p:nvSpPr>
          <p:cNvPr id="174273" name="Freeform 193"/>
          <p:cNvSpPr>
            <a:spLocks/>
          </p:cNvSpPr>
          <p:nvPr/>
        </p:nvSpPr>
        <p:spPr bwMode="auto">
          <a:xfrm>
            <a:off x="6061075" y="1911350"/>
            <a:ext cx="25400" cy="76200"/>
          </a:xfrm>
          <a:custGeom>
            <a:avLst/>
            <a:gdLst/>
            <a:ahLst/>
            <a:cxnLst>
              <a:cxn ang="0">
                <a:pos x="77" y="48"/>
              </a:cxn>
              <a:cxn ang="0">
                <a:pos x="77" y="37"/>
              </a:cxn>
              <a:cxn ang="0">
                <a:pos x="76" y="28"/>
              </a:cxn>
              <a:cxn ang="0">
                <a:pos x="73" y="20"/>
              </a:cxn>
              <a:cxn ang="0">
                <a:pos x="69" y="14"/>
              </a:cxn>
              <a:cxn ang="0">
                <a:pos x="65" y="9"/>
              </a:cxn>
              <a:cxn ang="0">
                <a:pos x="58" y="5"/>
              </a:cxn>
              <a:cxn ang="0">
                <a:pos x="52" y="2"/>
              </a:cxn>
              <a:cxn ang="0">
                <a:pos x="45" y="1"/>
              </a:cxn>
              <a:cxn ang="0">
                <a:pos x="38" y="0"/>
              </a:cxn>
              <a:cxn ang="0">
                <a:pos x="31" y="1"/>
              </a:cxn>
              <a:cxn ang="0">
                <a:pos x="25" y="4"/>
              </a:cxn>
              <a:cxn ang="0">
                <a:pos x="18" y="7"/>
              </a:cxn>
              <a:cxn ang="0">
                <a:pos x="12" y="10"/>
              </a:cxn>
              <a:cxn ang="0">
                <a:pos x="8" y="16"/>
              </a:cxn>
              <a:cxn ang="0">
                <a:pos x="3" y="21"/>
              </a:cxn>
              <a:cxn ang="0">
                <a:pos x="1" y="28"/>
              </a:cxn>
              <a:cxn ang="0">
                <a:pos x="0" y="36"/>
              </a:cxn>
              <a:cxn ang="0">
                <a:pos x="0" y="218"/>
              </a:cxn>
              <a:cxn ang="0">
                <a:pos x="1" y="223"/>
              </a:cxn>
              <a:cxn ang="0">
                <a:pos x="3" y="229"/>
              </a:cxn>
              <a:cxn ang="0">
                <a:pos x="6" y="234"/>
              </a:cxn>
              <a:cxn ang="0">
                <a:pos x="10" y="238"/>
              </a:cxn>
              <a:cxn ang="0">
                <a:pos x="13" y="241"/>
              </a:cxn>
              <a:cxn ang="0">
                <a:pos x="19" y="243"/>
              </a:cxn>
              <a:cxn ang="0">
                <a:pos x="25" y="244"/>
              </a:cxn>
              <a:cxn ang="0">
                <a:pos x="30" y="244"/>
              </a:cxn>
              <a:cxn ang="0">
                <a:pos x="35" y="244"/>
              </a:cxn>
              <a:cxn ang="0">
                <a:pos x="40" y="243"/>
              </a:cxn>
              <a:cxn ang="0">
                <a:pos x="46" y="241"/>
              </a:cxn>
              <a:cxn ang="0">
                <a:pos x="50" y="238"/>
              </a:cxn>
              <a:cxn ang="0">
                <a:pos x="53" y="233"/>
              </a:cxn>
              <a:cxn ang="0">
                <a:pos x="56" y="229"/>
              </a:cxn>
              <a:cxn ang="0">
                <a:pos x="58" y="223"/>
              </a:cxn>
              <a:cxn ang="0">
                <a:pos x="59" y="218"/>
              </a:cxn>
              <a:cxn ang="0">
                <a:pos x="59" y="98"/>
              </a:cxn>
            </a:cxnLst>
            <a:rect l="0" t="0" r="r" b="b"/>
            <a:pathLst>
              <a:path w="77" h="244">
                <a:moveTo>
                  <a:pt x="77" y="48"/>
                </a:moveTo>
                <a:lnTo>
                  <a:pt x="77" y="37"/>
                </a:lnTo>
                <a:lnTo>
                  <a:pt x="76" y="28"/>
                </a:lnTo>
                <a:lnTo>
                  <a:pt x="73" y="20"/>
                </a:lnTo>
                <a:lnTo>
                  <a:pt x="69" y="14"/>
                </a:lnTo>
                <a:lnTo>
                  <a:pt x="65" y="9"/>
                </a:lnTo>
                <a:lnTo>
                  <a:pt x="58" y="5"/>
                </a:lnTo>
                <a:lnTo>
                  <a:pt x="52" y="2"/>
                </a:lnTo>
                <a:lnTo>
                  <a:pt x="45" y="1"/>
                </a:lnTo>
                <a:lnTo>
                  <a:pt x="38" y="0"/>
                </a:lnTo>
                <a:lnTo>
                  <a:pt x="31" y="1"/>
                </a:lnTo>
                <a:lnTo>
                  <a:pt x="25" y="4"/>
                </a:lnTo>
                <a:lnTo>
                  <a:pt x="18" y="7"/>
                </a:lnTo>
                <a:lnTo>
                  <a:pt x="12" y="10"/>
                </a:lnTo>
                <a:lnTo>
                  <a:pt x="8" y="16"/>
                </a:lnTo>
                <a:lnTo>
                  <a:pt x="3" y="21"/>
                </a:lnTo>
                <a:lnTo>
                  <a:pt x="1" y="28"/>
                </a:lnTo>
                <a:lnTo>
                  <a:pt x="0" y="36"/>
                </a:lnTo>
                <a:lnTo>
                  <a:pt x="0" y="218"/>
                </a:lnTo>
                <a:lnTo>
                  <a:pt x="1" y="223"/>
                </a:lnTo>
                <a:lnTo>
                  <a:pt x="3" y="229"/>
                </a:lnTo>
                <a:lnTo>
                  <a:pt x="6" y="234"/>
                </a:lnTo>
                <a:lnTo>
                  <a:pt x="10" y="238"/>
                </a:lnTo>
                <a:lnTo>
                  <a:pt x="13" y="241"/>
                </a:lnTo>
                <a:lnTo>
                  <a:pt x="19" y="243"/>
                </a:lnTo>
                <a:lnTo>
                  <a:pt x="25" y="244"/>
                </a:lnTo>
                <a:lnTo>
                  <a:pt x="30" y="244"/>
                </a:lnTo>
                <a:lnTo>
                  <a:pt x="35" y="244"/>
                </a:lnTo>
                <a:lnTo>
                  <a:pt x="40" y="243"/>
                </a:lnTo>
                <a:lnTo>
                  <a:pt x="46" y="241"/>
                </a:lnTo>
                <a:lnTo>
                  <a:pt x="50" y="238"/>
                </a:lnTo>
                <a:lnTo>
                  <a:pt x="53" y="233"/>
                </a:lnTo>
                <a:lnTo>
                  <a:pt x="56" y="229"/>
                </a:lnTo>
                <a:lnTo>
                  <a:pt x="58" y="223"/>
                </a:lnTo>
                <a:lnTo>
                  <a:pt x="59" y="218"/>
                </a:lnTo>
                <a:lnTo>
                  <a:pt x="59" y="98"/>
                </a:lnTo>
              </a:path>
            </a:pathLst>
          </a:custGeom>
          <a:solidFill>
            <a:srgbClr val="237CFF"/>
          </a:solidFill>
          <a:ln w="0">
            <a:solidFill>
              <a:schemeClr val="bg2"/>
            </a:solidFill>
            <a:prstDash val="solid"/>
            <a:round/>
            <a:headEnd/>
            <a:tailEnd/>
          </a:ln>
        </p:spPr>
        <p:txBody>
          <a:bodyPr/>
          <a:lstStyle/>
          <a:p>
            <a:endParaRPr lang="en-GB"/>
          </a:p>
        </p:txBody>
      </p:sp>
      <p:sp>
        <p:nvSpPr>
          <p:cNvPr id="174274" name="Freeform 194"/>
          <p:cNvSpPr>
            <a:spLocks/>
          </p:cNvSpPr>
          <p:nvPr/>
        </p:nvSpPr>
        <p:spPr bwMode="auto">
          <a:xfrm>
            <a:off x="5934075" y="1897063"/>
            <a:ext cx="479425" cy="625475"/>
          </a:xfrm>
          <a:custGeom>
            <a:avLst/>
            <a:gdLst/>
            <a:ahLst/>
            <a:cxnLst>
              <a:cxn ang="0">
                <a:pos x="189" y="0"/>
              </a:cxn>
              <a:cxn ang="0">
                <a:pos x="1512" y="136"/>
              </a:cxn>
              <a:cxn ang="0">
                <a:pos x="1323" y="1969"/>
              </a:cxn>
              <a:cxn ang="0">
                <a:pos x="0" y="1832"/>
              </a:cxn>
              <a:cxn ang="0">
                <a:pos x="189" y="0"/>
              </a:cxn>
            </a:cxnLst>
            <a:rect l="0" t="0" r="r" b="b"/>
            <a:pathLst>
              <a:path w="1512" h="1969">
                <a:moveTo>
                  <a:pt x="189" y="0"/>
                </a:moveTo>
                <a:lnTo>
                  <a:pt x="1512" y="136"/>
                </a:lnTo>
                <a:lnTo>
                  <a:pt x="1323" y="1969"/>
                </a:lnTo>
                <a:lnTo>
                  <a:pt x="0" y="1832"/>
                </a:lnTo>
                <a:lnTo>
                  <a:pt x="189" y="0"/>
                </a:lnTo>
                <a:close/>
              </a:path>
            </a:pathLst>
          </a:custGeom>
          <a:solidFill>
            <a:srgbClr val="237CFF"/>
          </a:solidFill>
          <a:ln w="9525">
            <a:solidFill>
              <a:schemeClr val="bg2"/>
            </a:solidFill>
            <a:round/>
            <a:headEnd/>
            <a:tailEnd/>
          </a:ln>
        </p:spPr>
        <p:txBody>
          <a:bodyPr/>
          <a:lstStyle/>
          <a:p>
            <a:endParaRPr lang="en-GB"/>
          </a:p>
        </p:txBody>
      </p:sp>
      <p:sp>
        <p:nvSpPr>
          <p:cNvPr id="174275" name="Freeform 195"/>
          <p:cNvSpPr>
            <a:spLocks/>
          </p:cNvSpPr>
          <p:nvPr/>
        </p:nvSpPr>
        <p:spPr bwMode="auto">
          <a:xfrm>
            <a:off x="5934075" y="1897063"/>
            <a:ext cx="479425" cy="625475"/>
          </a:xfrm>
          <a:custGeom>
            <a:avLst/>
            <a:gdLst/>
            <a:ahLst/>
            <a:cxnLst>
              <a:cxn ang="0">
                <a:pos x="189" y="0"/>
              </a:cxn>
              <a:cxn ang="0">
                <a:pos x="1512" y="136"/>
              </a:cxn>
              <a:cxn ang="0">
                <a:pos x="1323" y="1969"/>
              </a:cxn>
              <a:cxn ang="0">
                <a:pos x="0" y="1832"/>
              </a:cxn>
              <a:cxn ang="0">
                <a:pos x="189" y="0"/>
              </a:cxn>
            </a:cxnLst>
            <a:rect l="0" t="0" r="r" b="b"/>
            <a:pathLst>
              <a:path w="1512" h="1969">
                <a:moveTo>
                  <a:pt x="189" y="0"/>
                </a:moveTo>
                <a:lnTo>
                  <a:pt x="1512" y="136"/>
                </a:lnTo>
                <a:lnTo>
                  <a:pt x="1323" y="1969"/>
                </a:lnTo>
                <a:lnTo>
                  <a:pt x="0" y="1832"/>
                </a:lnTo>
                <a:lnTo>
                  <a:pt x="189" y="0"/>
                </a:lnTo>
                <a:close/>
              </a:path>
            </a:pathLst>
          </a:custGeom>
          <a:solidFill>
            <a:srgbClr val="237CFF"/>
          </a:solidFill>
          <a:ln w="4763">
            <a:solidFill>
              <a:schemeClr val="bg2"/>
            </a:solidFill>
            <a:prstDash val="solid"/>
            <a:round/>
            <a:headEnd/>
            <a:tailEnd/>
          </a:ln>
        </p:spPr>
        <p:txBody>
          <a:bodyPr/>
          <a:lstStyle/>
          <a:p>
            <a:endParaRPr lang="en-GB"/>
          </a:p>
        </p:txBody>
      </p:sp>
      <p:sp>
        <p:nvSpPr>
          <p:cNvPr id="174276" name="Freeform 196"/>
          <p:cNvSpPr>
            <a:spLocks/>
          </p:cNvSpPr>
          <p:nvPr/>
        </p:nvSpPr>
        <p:spPr bwMode="auto">
          <a:xfrm>
            <a:off x="5954712" y="1903413"/>
            <a:ext cx="452438" cy="606425"/>
          </a:xfrm>
          <a:custGeom>
            <a:avLst/>
            <a:gdLst/>
            <a:ahLst/>
            <a:cxnLst>
              <a:cxn ang="0">
                <a:pos x="100" y="0"/>
              </a:cxn>
              <a:cxn ang="0">
                <a:pos x="1428" y="72"/>
              </a:cxn>
              <a:cxn ang="0">
                <a:pos x="1328" y="1911"/>
              </a:cxn>
              <a:cxn ang="0">
                <a:pos x="0" y="1839"/>
              </a:cxn>
              <a:cxn ang="0">
                <a:pos x="100" y="0"/>
              </a:cxn>
            </a:cxnLst>
            <a:rect l="0" t="0" r="r" b="b"/>
            <a:pathLst>
              <a:path w="1428" h="1911">
                <a:moveTo>
                  <a:pt x="100" y="0"/>
                </a:moveTo>
                <a:lnTo>
                  <a:pt x="1428" y="72"/>
                </a:lnTo>
                <a:lnTo>
                  <a:pt x="1328" y="1911"/>
                </a:lnTo>
                <a:lnTo>
                  <a:pt x="0" y="1839"/>
                </a:lnTo>
                <a:lnTo>
                  <a:pt x="100" y="0"/>
                </a:lnTo>
                <a:close/>
              </a:path>
            </a:pathLst>
          </a:custGeom>
          <a:solidFill>
            <a:srgbClr val="237CFF"/>
          </a:solidFill>
          <a:ln w="9525">
            <a:solidFill>
              <a:schemeClr val="bg2"/>
            </a:solidFill>
            <a:round/>
            <a:headEnd/>
            <a:tailEnd/>
          </a:ln>
        </p:spPr>
        <p:txBody>
          <a:bodyPr/>
          <a:lstStyle/>
          <a:p>
            <a:endParaRPr lang="en-GB"/>
          </a:p>
        </p:txBody>
      </p:sp>
      <p:sp>
        <p:nvSpPr>
          <p:cNvPr id="174277" name="Freeform 197"/>
          <p:cNvSpPr>
            <a:spLocks/>
          </p:cNvSpPr>
          <p:nvPr/>
        </p:nvSpPr>
        <p:spPr bwMode="auto">
          <a:xfrm>
            <a:off x="5954712" y="1903413"/>
            <a:ext cx="452438" cy="606425"/>
          </a:xfrm>
          <a:custGeom>
            <a:avLst/>
            <a:gdLst/>
            <a:ahLst/>
            <a:cxnLst>
              <a:cxn ang="0">
                <a:pos x="100" y="0"/>
              </a:cxn>
              <a:cxn ang="0">
                <a:pos x="1428" y="72"/>
              </a:cxn>
              <a:cxn ang="0">
                <a:pos x="1328" y="1911"/>
              </a:cxn>
              <a:cxn ang="0">
                <a:pos x="0" y="1839"/>
              </a:cxn>
              <a:cxn ang="0">
                <a:pos x="100" y="0"/>
              </a:cxn>
            </a:cxnLst>
            <a:rect l="0" t="0" r="r" b="b"/>
            <a:pathLst>
              <a:path w="1428" h="1911">
                <a:moveTo>
                  <a:pt x="100" y="0"/>
                </a:moveTo>
                <a:lnTo>
                  <a:pt x="1428" y="72"/>
                </a:lnTo>
                <a:lnTo>
                  <a:pt x="1328" y="1911"/>
                </a:lnTo>
                <a:lnTo>
                  <a:pt x="0" y="1839"/>
                </a:lnTo>
                <a:lnTo>
                  <a:pt x="100" y="0"/>
                </a:lnTo>
                <a:close/>
              </a:path>
            </a:pathLst>
          </a:custGeom>
          <a:solidFill>
            <a:srgbClr val="237CFF"/>
          </a:solidFill>
          <a:ln w="4763">
            <a:solidFill>
              <a:schemeClr val="bg2"/>
            </a:solidFill>
            <a:prstDash val="solid"/>
            <a:round/>
            <a:headEnd/>
            <a:tailEnd/>
          </a:ln>
        </p:spPr>
        <p:txBody>
          <a:bodyPr/>
          <a:lstStyle/>
          <a:p>
            <a:endParaRPr lang="en-GB"/>
          </a:p>
        </p:txBody>
      </p:sp>
      <p:sp>
        <p:nvSpPr>
          <p:cNvPr id="174278" name="Rectangle 198"/>
          <p:cNvSpPr>
            <a:spLocks noChangeArrowheads="1"/>
          </p:cNvSpPr>
          <p:nvPr/>
        </p:nvSpPr>
        <p:spPr bwMode="auto">
          <a:xfrm>
            <a:off x="5973762" y="1908175"/>
            <a:ext cx="422275" cy="585788"/>
          </a:xfrm>
          <a:prstGeom prst="rect">
            <a:avLst/>
          </a:prstGeom>
          <a:solidFill>
            <a:srgbClr val="237CFF"/>
          </a:solidFill>
          <a:ln w="9525">
            <a:solidFill>
              <a:schemeClr val="bg2"/>
            </a:solidFill>
            <a:miter lim="800000"/>
            <a:headEnd/>
            <a:tailEnd/>
          </a:ln>
        </p:spPr>
        <p:txBody>
          <a:bodyPr/>
          <a:lstStyle/>
          <a:p>
            <a:endParaRPr lang="en-GB"/>
          </a:p>
        </p:txBody>
      </p:sp>
      <p:sp>
        <p:nvSpPr>
          <p:cNvPr id="174279" name="Rectangle 199"/>
          <p:cNvSpPr>
            <a:spLocks noChangeArrowheads="1"/>
          </p:cNvSpPr>
          <p:nvPr/>
        </p:nvSpPr>
        <p:spPr bwMode="auto">
          <a:xfrm>
            <a:off x="5973762" y="1908175"/>
            <a:ext cx="422275" cy="585788"/>
          </a:xfrm>
          <a:prstGeom prst="rect">
            <a:avLst/>
          </a:prstGeom>
          <a:solidFill>
            <a:srgbClr val="237CFF"/>
          </a:solidFill>
          <a:ln w="4763">
            <a:solidFill>
              <a:schemeClr val="bg2"/>
            </a:solidFill>
            <a:miter lim="800000"/>
            <a:headEnd/>
            <a:tailEnd/>
          </a:ln>
        </p:spPr>
        <p:txBody>
          <a:bodyPr/>
          <a:lstStyle/>
          <a:p>
            <a:endParaRPr lang="en-GB"/>
          </a:p>
        </p:txBody>
      </p:sp>
      <p:sp>
        <p:nvSpPr>
          <p:cNvPr id="174280" name="Freeform 200"/>
          <p:cNvSpPr>
            <a:spLocks/>
          </p:cNvSpPr>
          <p:nvPr/>
        </p:nvSpPr>
        <p:spPr bwMode="auto">
          <a:xfrm>
            <a:off x="6045200" y="1887538"/>
            <a:ext cx="26987" cy="80962"/>
          </a:xfrm>
          <a:custGeom>
            <a:avLst/>
            <a:gdLst/>
            <a:ahLst/>
            <a:cxnLst>
              <a:cxn ang="0">
                <a:pos x="76" y="55"/>
              </a:cxn>
              <a:cxn ang="0">
                <a:pos x="75" y="34"/>
              </a:cxn>
              <a:cxn ang="0">
                <a:pos x="69" y="22"/>
              </a:cxn>
              <a:cxn ang="0">
                <a:pos x="59" y="14"/>
              </a:cxn>
              <a:cxn ang="0">
                <a:pos x="48" y="10"/>
              </a:cxn>
              <a:cxn ang="0">
                <a:pos x="36" y="10"/>
              </a:cxn>
              <a:cxn ang="0">
                <a:pos x="24" y="14"/>
              </a:cxn>
              <a:cxn ang="0">
                <a:pos x="15" y="22"/>
              </a:cxn>
              <a:cxn ang="0">
                <a:pos x="9" y="34"/>
              </a:cxn>
              <a:cxn ang="0">
                <a:pos x="9" y="221"/>
              </a:cxn>
              <a:cxn ang="0">
                <a:pos x="11" y="232"/>
              </a:cxn>
              <a:cxn ang="0">
                <a:pos x="17" y="240"/>
              </a:cxn>
              <a:cxn ang="0">
                <a:pos x="25" y="244"/>
              </a:cxn>
              <a:cxn ang="0">
                <a:pos x="34" y="245"/>
              </a:cxn>
              <a:cxn ang="0">
                <a:pos x="42" y="244"/>
              </a:cxn>
              <a:cxn ang="0">
                <a:pos x="50" y="240"/>
              </a:cxn>
              <a:cxn ang="0">
                <a:pos x="56" y="232"/>
              </a:cxn>
              <a:cxn ang="0">
                <a:pos x="57" y="221"/>
              </a:cxn>
              <a:cxn ang="0">
                <a:pos x="67" y="101"/>
              </a:cxn>
              <a:cxn ang="0">
                <a:pos x="67" y="230"/>
              </a:cxn>
              <a:cxn ang="0">
                <a:pos x="61" y="242"/>
              </a:cxn>
              <a:cxn ang="0">
                <a:pos x="52" y="250"/>
              </a:cxn>
              <a:cxn ang="0">
                <a:pos x="40" y="254"/>
              </a:cxn>
              <a:cxn ang="0">
                <a:pos x="28" y="253"/>
              </a:cxn>
              <a:cxn ang="0">
                <a:pos x="16" y="250"/>
              </a:cxn>
              <a:cxn ang="0">
                <a:pos x="6" y="241"/>
              </a:cxn>
              <a:cxn ang="0">
                <a:pos x="0" y="230"/>
              </a:cxn>
              <a:cxn ang="0">
                <a:pos x="0" y="42"/>
              </a:cxn>
              <a:cxn ang="0">
                <a:pos x="4" y="24"/>
              </a:cxn>
              <a:cxn ang="0">
                <a:pos x="14" y="11"/>
              </a:cxn>
              <a:cxn ang="0">
                <a:pos x="27" y="3"/>
              </a:cxn>
              <a:cxn ang="0">
                <a:pos x="42" y="0"/>
              </a:cxn>
              <a:cxn ang="0">
                <a:pos x="58" y="3"/>
              </a:cxn>
              <a:cxn ang="0">
                <a:pos x="72" y="11"/>
              </a:cxn>
              <a:cxn ang="0">
                <a:pos x="81" y="23"/>
              </a:cxn>
              <a:cxn ang="0">
                <a:pos x="86" y="42"/>
              </a:cxn>
            </a:cxnLst>
            <a:rect l="0" t="0" r="r" b="b"/>
            <a:pathLst>
              <a:path w="86" h="254">
                <a:moveTo>
                  <a:pt x="86" y="56"/>
                </a:moveTo>
                <a:lnTo>
                  <a:pt x="76" y="55"/>
                </a:lnTo>
                <a:lnTo>
                  <a:pt x="76" y="42"/>
                </a:lnTo>
                <a:lnTo>
                  <a:pt x="75" y="34"/>
                </a:lnTo>
                <a:lnTo>
                  <a:pt x="72" y="28"/>
                </a:lnTo>
                <a:lnTo>
                  <a:pt x="69" y="22"/>
                </a:lnTo>
                <a:lnTo>
                  <a:pt x="65" y="18"/>
                </a:lnTo>
                <a:lnTo>
                  <a:pt x="59" y="14"/>
                </a:lnTo>
                <a:lnTo>
                  <a:pt x="53" y="12"/>
                </a:lnTo>
                <a:lnTo>
                  <a:pt x="48" y="10"/>
                </a:lnTo>
                <a:lnTo>
                  <a:pt x="41" y="10"/>
                </a:lnTo>
                <a:lnTo>
                  <a:pt x="36" y="10"/>
                </a:lnTo>
                <a:lnTo>
                  <a:pt x="29" y="12"/>
                </a:lnTo>
                <a:lnTo>
                  <a:pt x="24" y="14"/>
                </a:lnTo>
                <a:lnTo>
                  <a:pt x="19" y="18"/>
                </a:lnTo>
                <a:lnTo>
                  <a:pt x="15" y="22"/>
                </a:lnTo>
                <a:lnTo>
                  <a:pt x="11" y="29"/>
                </a:lnTo>
                <a:lnTo>
                  <a:pt x="9" y="34"/>
                </a:lnTo>
                <a:lnTo>
                  <a:pt x="9" y="42"/>
                </a:lnTo>
                <a:lnTo>
                  <a:pt x="9" y="221"/>
                </a:lnTo>
                <a:lnTo>
                  <a:pt x="10" y="227"/>
                </a:lnTo>
                <a:lnTo>
                  <a:pt x="11" y="232"/>
                </a:lnTo>
                <a:lnTo>
                  <a:pt x="15" y="236"/>
                </a:lnTo>
                <a:lnTo>
                  <a:pt x="17" y="240"/>
                </a:lnTo>
                <a:lnTo>
                  <a:pt x="21" y="243"/>
                </a:lnTo>
                <a:lnTo>
                  <a:pt x="25" y="244"/>
                </a:lnTo>
                <a:lnTo>
                  <a:pt x="29" y="245"/>
                </a:lnTo>
                <a:lnTo>
                  <a:pt x="34" y="245"/>
                </a:lnTo>
                <a:lnTo>
                  <a:pt x="38" y="245"/>
                </a:lnTo>
                <a:lnTo>
                  <a:pt x="42" y="244"/>
                </a:lnTo>
                <a:lnTo>
                  <a:pt x="47" y="242"/>
                </a:lnTo>
                <a:lnTo>
                  <a:pt x="50" y="240"/>
                </a:lnTo>
                <a:lnTo>
                  <a:pt x="52" y="236"/>
                </a:lnTo>
                <a:lnTo>
                  <a:pt x="56" y="232"/>
                </a:lnTo>
                <a:lnTo>
                  <a:pt x="57" y="226"/>
                </a:lnTo>
                <a:lnTo>
                  <a:pt x="57" y="221"/>
                </a:lnTo>
                <a:lnTo>
                  <a:pt x="57" y="101"/>
                </a:lnTo>
                <a:lnTo>
                  <a:pt x="67" y="101"/>
                </a:lnTo>
                <a:lnTo>
                  <a:pt x="67" y="222"/>
                </a:lnTo>
                <a:lnTo>
                  <a:pt x="67" y="230"/>
                </a:lnTo>
                <a:lnTo>
                  <a:pt x="65" y="236"/>
                </a:lnTo>
                <a:lnTo>
                  <a:pt x="61" y="242"/>
                </a:lnTo>
                <a:lnTo>
                  <a:pt x="57" y="246"/>
                </a:lnTo>
                <a:lnTo>
                  <a:pt x="52" y="250"/>
                </a:lnTo>
                <a:lnTo>
                  <a:pt x="47" y="252"/>
                </a:lnTo>
                <a:lnTo>
                  <a:pt x="40" y="254"/>
                </a:lnTo>
                <a:lnTo>
                  <a:pt x="35" y="254"/>
                </a:lnTo>
                <a:lnTo>
                  <a:pt x="28" y="253"/>
                </a:lnTo>
                <a:lnTo>
                  <a:pt x="21" y="252"/>
                </a:lnTo>
                <a:lnTo>
                  <a:pt x="16" y="250"/>
                </a:lnTo>
                <a:lnTo>
                  <a:pt x="10" y="245"/>
                </a:lnTo>
                <a:lnTo>
                  <a:pt x="6" y="241"/>
                </a:lnTo>
                <a:lnTo>
                  <a:pt x="2" y="235"/>
                </a:lnTo>
                <a:lnTo>
                  <a:pt x="0" y="230"/>
                </a:lnTo>
                <a:lnTo>
                  <a:pt x="0" y="222"/>
                </a:lnTo>
                <a:lnTo>
                  <a:pt x="0" y="42"/>
                </a:lnTo>
                <a:lnTo>
                  <a:pt x="0" y="32"/>
                </a:lnTo>
                <a:lnTo>
                  <a:pt x="4" y="24"/>
                </a:lnTo>
                <a:lnTo>
                  <a:pt x="8" y="16"/>
                </a:lnTo>
                <a:lnTo>
                  <a:pt x="14" y="11"/>
                </a:lnTo>
                <a:lnTo>
                  <a:pt x="19" y="6"/>
                </a:lnTo>
                <a:lnTo>
                  <a:pt x="27" y="3"/>
                </a:lnTo>
                <a:lnTo>
                  <a:pt x="35" y="1"/>
                </a:lnTo>
                <a:lnTo>
                  <a:pt x="42" y="0"/>
                </a:lnTo>
                <a:lnTo>
                  <a:pt x="50" y="1"/>
                </a:lnTo>
                <a:lnTo>
                  <a:pt x="58" y="3"/>
                </a:lnTo>
                <a:lnTo>
                  <a:pt x="66" y="5"/>
                </a:lnTo>
                <a:lnTo>
                  <a:pt x="72" y="11"/>
                </a:lnTo>
                <a:lnTo>
                  <a:pt x="77" y="16"/>
                </a:lnTo>
                <a:lnTo>
                  <a:pt x="81" y="23"/>
                </a:lnTo>
                <a:lnTo>
                  <a:pt x="85" y="32"/>
                </a:lnTo>
                <a:lnTo>
                  <a:pt x="86" y="42"/>
                </a:lnTo>
                <a:lnTo>
                  <a:pt x="86" y="56"/>
                </a:lnTo>
                <a:close/>
              </a:path>
            </a:pathLst>
          </a:custGeom>
          <a:solidFill>
            <a:srgbClr val="237CFF"/>
          </a:solidFill>
          <a:ln w="9525">
            <a:solidFill>
              <a:schemeClr val="bg2"/>
            </a:solidFill>
            <a:round/>
            <a:headEnd/>
            <a:tailEnd/>
          </a:ln>
        </p:spPr>
        <p:txBody>
          <a:bodyPr/>
          <a:lstStyle/>
          <a:p>
            <a:endParaRPr lang="en-GB"/>
          </a:p>
        </p:txBody>
      </p:sp>
      <p:sp>
        <p:nvSpPr>
          <p:cNvPr id="174281" name="Freeform 201"/>
          <p:cNvSpPr>
            <a:spLocks/>
          </p:cNvSpPr>
          <p:nvPr/>
        </p:nvSpPr>
        <p:spPr bwMode="auto">
          <a:xfrm>
            <a:off x="6045200" y="1887538"/>
            <a:ext cx="26987" cy="80962"/>
          </a:xfrm>
          <a:custGeom>
            <a:avLst/>
            <a:gdLst/>
            <a:ahLst/>
            <a:cxnLst>
              <a:cxn ang="0">
                <a:pos x="76" y="55"/>
              </a:cxn>
              <a:cxn ang="0">
                <a:pos x="75" y="34"/>
              </a:cxn>
              <a:cxn ang="0">
                <a:pos x="69" y="22"/>
              </a:cxn>
              <a:cxn ang="0">
                <a:pos x="59" y="14"/>
              </a:cxn>
              <a:cxn ang="0">
                <a:pos x="48" y="10"/>
              </a:cxn>
              <a:cxn ang="0">
                <a:pos x="36" y="10"/>
              </a:cxn>
              <a:cxn ang="0">
                <a:pos x="24" y="14"/>
              </a:cxn>
              <a:cxn ang="0">
                <a:pos x="15" y="22"/>
              </a:cxn>
              <a:cxn ang="0">
                <a:pos x="9" y="34"/>
              </a:cxn>
              <a:cxn ang="0">
                <a:pos x="9" y="221"/>
              </a:cxn>
              <a:cxn ang="0">
                <a:pos x="11" y="232"/>
              </a:cxn>
              <a:cxn ang="0">
                <a:pos x="17" y="240"/>
              </a:cxn>
              <a:cxn ang="0">
                <a:pos x="25" y="244"/>
              </a:cxn>
              <a:cxn ang="0">
                <a:pos x="34" y="245"/>
              </a:cxn>
              <a:cxn ang="0">
                <a:pos x="42" y="244"/>
              </a:cxn>
              <a:cxn ang="0">
                <a:pos x="50" y="240"/>
              </a:cxn>
              <a:cxn ang="0">
                <a:pos x="56" y="232"/>
              </a:cxn>
              <a:cxn ang="0">
                <a:pos x="57" y="221"/>
              </a:cxn>
              <a:cxn ang="0">
                <a:pos x="67" y="101"/>
              </a:cxn>
              <a:cxn ang="0">
                <a:pos x="67" y="230"/>
              </a:cxn>
              <a:cxn ang="0">
                <a:pos x="61" y="242"/>
              </a:cxn>
              <a:cxn ang="0">
                <a:pos x="52" y="250"/>
              </a:cxn>
              <a:cxn ang="0">
                <a:pos x="40" y="254"/>
              </a:cxn>
              <a:cxn ang="0">
                <a:pos x="28" y="253"/>
              </a:cxn>
              <a:cxn ang="0">
                <a:pos x="16" y="250"/>
              </a:cxn>
              <a:cxn ang="0">
                <a:pos x="6" y="241"/>
              </a:cxn>
              <a:cxn ang="0">
                <a:pos x="0" y="230"/>
              </a:cxn>
              <a:cxn ang="0">
                <a:pos x="0" y="42"/>
              </a:cxn>
              <a:cxn ang="0">
                <a:pos x="4" y="24"/>
              </a:cxn>
              <a:cxn ang="0">
                <a:pos x="14" y="11"/>
              </a:cxn>
              <a:cxn ang="0">
                <a:pos x="27" y="3"/>
              </a:cxn>
              <a:cxn ang="0">
                <a:pos x="42" y="0"/>
              </a:cxn>
              <a:cxn ang="0">
                <a:pos x="58" y="3"/>
              </a:cxn>
              <a:cxn ang="0">
                <a:pos x="72" y="11"/>
              </a:cxn>
              <a:cxn ang="0">
                <a:pos x="81" y="23"/>
              </a:cxn>
              <a:cxn ang="0">
                <a:pos x="86" y="42"/>
              </a:cxn>
            </a:cxnLst>
            <a:rect l="0" t="0" r="r" b="b"/>
            <a:pathLst>
              <a:path w="86" h="254">
                <a:moveTo>
                  <a:pt x="86" y="56"/>
                </a:moveTo>
                <a:lnTo>
                  <a:pt x="76" y="55"/>
                </a:lnTo>
                <a:lnTo>
                  <a:pt x="76" y="42"/>
                </a:lnTo>
                <a:lnTo>
                  <a:pt x="75" y="34"/>
                </a:lnTo>
                <a:lnTo>
                  <a:pt x="72" y="28"/>
                </a:lnTo>
                <a:lnTo>
                  <a:pt x="69" y="22"/>
                </a:lnTo>
                <a:lnTo>
                  <a:pt x="65" y="18"/>
                </a:lnTo>
                <a:lnTo>
                  <a:pt x="59" y="14"/>
                </a:lnTo>
                <a:lnTo>
                  <a:pt x="53" y="12"/>
                </a:lnTo>
                <a:lnTo>
                  <a:pt x="48" y="10"/>
                </a:lnTo>
                <a:lnTo>
                  <a:pt x="41" y="10"/>
                </a:lnTo>
                <a:lnTo>
                  <a:pt x="36" y="10"/>
                </a:lnTo>
                <a:lnTo>
                  <a:pt x="29" y="12"/>
                </a:lnTo>
                <a:lnTo>
                  <a:pt x="24" y="14"/>
                </a:lnTo>
                <a:lnTo>
                  <a:pt x="19" y="18"/>
                </a:lnTo>
                <a:lnTo>
                  <a:pt x="15" y="22"/>
                </a:lnTo>
                <a:lnTo>
                  <a:pt x="11" y="29"/>
                </a:lnTo>
                <a:lnTo>
                  <a:pt x="9" y="34"/>
                </a:lnTo>
                <a:lnTo>
                  <a:pt x="9" y="42"/>
                </a:lnTo>
                <a:lnTo>
                  <a:pt x="9" y="221"/>
                </a:lnTo>
                <a:lnTo>
                  <a:pt x="10" y="227"/>
                </a:lnTo>
                <a:lnTo>
                  <a:pt x="11" y="232"/>
                </a:lnTo>
                <a:lnTo>
                  <a:pt x="15" y="236"/>
                </a:lnTo>
                <a:lnTo>
                  <a:pt x="17" y="240"/>
                </a:lnTo>
                <a:lnTo>
                  <a:pt x="21" y="243"/>
                </a:lnTo>
                <a:lnTo>
                  <a:pt x="25" y="244"/>
                </a:lnTo>
                <a:lnTo>
                  <a:pt x="29" y="245"/>
                </a:lnTo>
                <a:lnTo>
                  <a:pt x="34" y="245"/>
                </a:lnTo>
                <a:lnTo>
                  <a:pt x="38" y="245"/>
                </a:lnTo>
                <a:lnTo>
                  <a:pt x="42" y="244"/>
                </a:lnTo>
                <a:lnTo>
                  <a:pt x="47" y="242"/>
                </a:lnTo>
                <a:lnTo>
                  <a:pt x="50" y="240"/>
                </a:lnTo>
                <a:lnTo>
                  <a:pt x="52" y="236"/>
                </a:lnTo>
                <a:lnTo>
                  <a:pt x="56" y="232"/>
                </a:lnTo>
                <a:lnTo>
                  <a:pt x="57" y="226"/>
                </a:lnTo>
                <a:lnTo>
                  <a:pt x="57" y="221"/>
                </a:lnTo>
                <a:lnTo>
                  <a:pt x="57" y="101"/>
                </a:lnTo>
                <a:lnTo>
                  <a:pt x="67" y="101"/>
                </a:lnTo>
                <a:lnTo>
                  <a:pt x="67" y="222"/>
                </a:lnTo>
                <a:lnTo>
                  <a:pt x="67" y="230"/>
                </a:lnTo>
                <a:lnTo>
                  <a:pt x="65" y="236"/>
                </a:lnTo>
                <a:lnTo>
                  <a:pt x="61" y="242"/>
                </a:lnTo>
                <a:lnTo>
                  <a:pt x="57" y="246"/>
                </a:lnTo>
                <a:lnTo>
                  <a:pt x="52" y="250"/>
                </a:lnTo>
                <a:lnTo>
                  <a:pt x="47" y="252"/>
                </a:lnTo>
                <a:lnTo>
                  <a:pt x="40" y="254"/>
                </a:lnTo>
                <a:lnTo>
                  <a:pt x="35" y="254"/>
                </a:lnTo>
                <a:lnTo>
                  <a:pt x="28" y="253"/>
                </a:lnTo>
                <a:lnTo>
                  <a:pt x="21" y="252"/>
                </a:lnTo>
                <a:lnTo>
                  <a:pt x="16" y="250"/>
                </a:lnTo>
                <a:lnTo>
                  <a:pt x="10" y="245"/>
                </a:lnTo>
                <a:lnTo>
                  <a:pt x="6" y="241"/>
                </a:lnTo>
                <a:lnTo>
                  <a:pt x="2" y="235"/>
                </a:lnTo>
                <a:lnTo>
                  <a:pt x="0" y="230"/>
                </a:lnTo>
                <a:lnTo>
                  <a:pt x="0" y="222"/>
                </a:lnTo>
                <a:lnTo>
                  <a:pt x="0" y="42"/>
                </a:lnTo>
                <a:lnTo>
                  <a:pt x="0" y="32"/>
                </a:lnTo>
                <a:lnTo>
                  <a:pt x="4" y="24"/>
                </a:lnTo>
                <a:lnTo>
                  <a:pt x="8" y="16"/>
                </a:lnTo>
                <a:lnTo>
                  <a:pt x="14" y="11"/>
                </a:lnTo>
                <a:lnTo>
                  <a:pt x="19" y="6"/>
                </a:lnTo>
                <a:lnTo>
                  <a:pt x="27" y="3"/>
                </a:lnTo>
                <a:lnTo>
                  <a:pt x="35" y="1"/>
                </a:lnTo>
                <a:lnTo>
                  <a:pt x="42" y="0"/>
                </a:lnTo>
                <a:lnTo>
                  <a:pt x="50" y="1"/>
                </a:lnTo>
                <a:lnTo>
                  <a:pt x="58" y="3"/>
                </a:lnTo>
                <a:lnTo>
                  <a:pt x="66" y="5"/>
                </a:lnTo>
                <a:lnTo>
                  <a:pt x="72" y="11"/>
                </a:lnTo>
                <a:lnTo>
                  <a:pt x="77" y="16"/>
                </a:lnTo>
                <a:lnTo>
                  <a:pt x="81" y="23"/>
                </a:lnTo>
                <a:lnTo>
                  <a:pt x="85" y="32"/>
                </a:lnTo>
                <a:lnTo>
                  <a:pt x="86" y="42"/>
                </a:lnTo>
                <a:lnTo>
                  <a:pt x="86" y="56"/>
                </a:lnTo>
                <a:close/>
              </a:path>
            </a:pathLst>
          </a:custGeom>
          <a:solidFill>
            <a:srgbClr val="237CFF"/>
          </a:solidFill>
          <a:ln w="4763">
            <a:solidFill>
              <a:schemeClr val="bg2"/>
            </a:solidFill>
            <a:prstDash val="solid"/>
            <a:round/>
            <a:headEnd/>
            <a:tailEnd/>
          </a:ln>
        </p:spPr>
        <p:txBody>
          <a:bodyPr/>
          <a:lstStyle/>
          <a:p>
            <a:endParaRPr lang="en-GB"/>
          </a:p>
        </p:txBody>
      </p:sp>
      <p:sp>
        <p:nvSpPr>
          <p:cNvPr id="174282" name="Freeform 202"/>
          <p:cNvSpPr>
            <a:spLocks/>
          </p:cNvSpPr>
          <p:nvPr/>
        </p:nvSpPr>
        <p:spPr bwMode="auto">
          <a:xfrm>
            <a:off x="6046787" y="1889125"/>
            <a:ext cx="23813" cy="77788"/>
          </a:xfrm>
          <a:custGeom>
            <a:avLst/>
            <a:gdLst/>
            <a:ahLst/>
            <a:cxnLst>
              <a:cxn ang="0">
                <a:pos x="75" y="48"/>
              </a:cxn>
              <a:cxn ang="0">
                <a:pos x="75" y="36"/>
              </a:cxn>
              <a:cxn ang="0">
                <a:pos x="74" y="27"/>
              </a:cxn>
              <a:cxn ang="0">
                <a:pos x="72" y="20"/>
              </a:cxn>
              <a:cxn ang="0">
                <a:pos x="67" y="14"/>
              </a:cxn>
              <a:cxn ang="0">
                <a:pos x="63" y="8"/>
              </a:cxn>
              <a:cxn ang="0">
                <a:pos x="57" y="5"/>
              </a:cxn>
              <a:cxn ang="0">
                <a:pos x="51" y="3"/>
              </a:cxn>
              <a:cxn ang="0">
                <a:pos x="44" y="0"/>
              </a:cxn>
              <a:cxn ang="0">
                <a:pos x="36" y="0"/>
              </a:cxn>
              <a:cxn ang="0">
                <a:pos x="30" y="1"/>
              </a:cxn>
              <a:cxn ang="0">
                <a:pos x="23" y="3"/>
              </a:cxn>
              <a:cxn ang="0">
                <a:pos x="16" y="6"/>
              </a:cxn>
              <a:cxn ang="0">
                <a:pos x="11" y="10"/>
              </a:cxn>
              <a:cxn ang="0">
                <a:pos x="6" y="15"/>
              </a:cxn>
              <a:cxn ang="0">
                <a:pos x="3" y="21"/>
              </a:cxn>
              <a:cxn ang="0">
                <a:pos x="0" y="28"/>
              </a:cxn>
              <a:cxn ang="0">
                <a:pos x="0" y="36"/>
              </a:cxn>
              <a:cxn ang="0">
                <a:pos x="0" y="217"/>
              </a:cxn>
              <a:cxn ang="0">
                <a:pos x="0" y="223"/>
              </a:cxn>
              <a:cxn ang="0">
                <a:pos x="2" y="229"/>
              </a:cxn>
              <a:cxn ang="0">
                <a:pos x="4" y="233"/>
              </a:cxn>
              <a:cxn ang="0">
                <a:pos x="8" y="238"/>
              </a:cxn>
              <a:cxn ang="0">
                <a:pos x="13" y="240"/>
              </a:cxn>
              <a:cxn ang="0">
                <a:pos x="17" y="242"/>
              </a:cxn>
              <a:cxn ang="0">
                <a:pos x="23" y="243"/>
              </a:cxn>
              <a:cxn ang="0">
                <a:pos x="28" y="245"/>
              </a:cxn>
              <a:cxn ang="0">
                <a:pos x="34" y="243"/>
              </a:cxn>
              <a:cxn ang="0">
                <a:pos x="38" y="242"/>
              </a:cxn>
              <a:cxn ang="0">
                <a:pos x="44" y="240"/>
              </a:cxn>
              <a:cxn ang="0">
                <a:pos x="48" y="238"/>
              </a:cxn>
              <a:cxn ang="0">
                <a:pos x="52" y="233"/>
              </a:cxn>
              <a:cxn ang="0">
                <a:pos x="55" y="229"/>
              </a:cxn>
              <a:cxn ang="0">
                <a:pos x="56" y="223"/>
              </a:cxn>
              <a:cxn ang="0">
                <a:pos x="57" y="217"/>
              </a:cxn>
              <a:cxn ang="0">
                <a:pos x="57" y="97"/>
              </a:cxn>
            </a:cxnLst>
            <a:rect l="0" t="0" r="r" b="b"/>
            <a:pathLst>
              <a:path w="75" h="245">
                <a:moveTo>
                  <a:pt x="75" y="48"/>
                </a:moveTo>
                <a:lnTo>
                  <a:pt x="75" y="36"/>
                </a:lnTo>
                <a:lnTo>
                  <a:pt x="74" y="27"/>
                </a:lnTo>
                <a:lnTo>
                  <a:pt x="72" y="20"/>
                </a:lnTo>
                <a:lnTo>
                  <a:pt x="67" y="14"/>
                </a:lnTo>
                <a:lnTo>
                  <a:pt x="63" y="8"/>
                </a:lnTo>
                <a:lnTo>
                  <a:pt x="57" y="5"/>
                </a:lnTo>
                <a:lnTo>
                  <a:pt x="51" y="3"/>
                </a:lnTo>
                <a:lnTo>
                  <a:pt x="44" y="0"/>
                </a:lnTo>
                <a:lnTo>
                  <a:pt x="36" y="0"/>
                </a:lnTo>
                <a:lnTo>
                  <a:pt x="30" y="1"/>
                </a:lnTo>
                <a:lnTo>
                  <a:pt x="23" y="3"/>
                </a:lnTo>
                <a:lnTo>
                  <a:pt x="16" y="6"/>
                </a:lnTo>
                <a:lnTo>
                  <a:pt x="11" y="10"/>
                </a:lnTo>
                <a:lnTo>
                  <a:pt x="6" y="15"/>
                </a:lnTo>
                <a:lnTo>
                  <a:pt x="3" y="21"/>
                </a:lnTo>
                <a:lnTo>
                  <a:pt x="0" y="28"/>
                </a:lnTo>
                <a:lnTo>
                  <a:pt x="0" y="36"/>
                </a:lnTo>
                <a:lnTo>
                  <a:pt x="0" y="217"/>
                </a:lnTo>
                <a:lnTo>
                  <a:pt x="0" y="223"/>
                </a:lnTo>
                <a:lnTo>
                  <a:pt x="2" y="229"/>
                </a:lnTo>
                <a:lnTo>
                  <a:pt x="4" y="233"/>
                </a:lnTo>
                <a:lnTo>
                  <a:pt x="8" y="238"/>
                </a:lnTo>
                <a:lnTo>
                  <a:pt x="13" y="240"/>
                </a:lnTo>
                <a:lnTo>
                  <a:pt x="17" y="242"/>
                </a:lnTo>
                <a:lnTo>
                  <a:pt x="23" y="243"/>
                </a:lnTo>
                <a:lnTo>
                  <a:pt x="28" y="245"/>
                </a:lnTo>
                <a:lnTo>
                  <a:pt x="34" y="243"/>
                </a:lnTo>
                <a:lnTo>
                  <a:pt x="38" y="242"/>
                </a:lnTo>
                <a:lnTo>
                  <a:pt x="44" y="240"/>
                </a:lnTo>
                <a:lnTo>
                  <a:pt x="48" y="238"/>
                </a:lnTo>
                <a:lnTo>
                  <a:pt x="52" y="233"/>
                </a:lnTo>
                <a:lnTo>
                  <a:pt x="55" y="229"/>
                </a:lnTo>
                <a:lnTo>
                  <a:pt x="56" y="223"/>
                </a:lnTo>
                <a:lnTo>
                  <a:pt x="57" y="217"/>
                </a:lnTo>
                <a:lnTo>
                  <a:pt x="57" y="97"/>
                </a:lnTo>
              </a:path>
            </a:pathLst>
          </a:custGeom>
          <a:solidFill>
            <a:srgbClr val="237CFF"/>
          </a:solidFill>
          <a:ln w="0">
            <a:solidFill>
              <a:schemeClr val="bg2"/>
            </a:solidFill>
            <a:prstDash val="solid"/>
            <a:round/>
            <a:headEnd/>
            <a:tailEnd/>
          </a:ln>
        </p:spPr>
        <p:txBody>
          <a:bodyPr/>
          <a:lstStyle/>
          <a:p>
            <a:endParaRPr lang="en-GB"/>
          </a:p>
        </p:txBody>
      </p:sp>
      <p:sp>
        <p:nvSpPr>
          <p:cNvPr id="174283" name="Line 203"/>
          <p:cNvSpPr>
            <a:spLocks noChangeShapeType="1"/>
          </p:cNvSpPr>
          <p:nvPr/>
        </p:nvSpPr>
        <p:spPr bwMode="auto">
          <a:xfrm>
            <a:off x="6026150" y="2006600"/>
            <a:ext cx="65087" cy="1588"/>
          </a:xfrm>
          <a:prstGeom prst="line">
            <a:avLst/>
          </a:prstGeom>
          <a:noFill/>
          <a:ln w="4763">
            <a:solidFill>
              <a:schemeClr val="bg2"/>
            </a:solidFill>
            <a:round/>
            <a:headEnd/>
            <a:tailEnd/>
          </a:ln>
        </p:spPr>
        <p:txBody>
          <a:bodyPr/>
          <a:lstStyle/>
          <a:p>
            <a:endParaRPr lang="en-GB"/>
          </a:p>
        </p:txBody>
      </p:sp>
      <p:sp>
        <p:nvSpPr>
          <p:cNvPr id="174284" name="Line 204"/>
          <p:cNvSpPr>
            <a:spLocks noChangeShapeType="1"/>
          </p:cNvSpPr>
          <p:nvPr/>
        </p:nvSpPr>
        <p:spPr bwMode="auto">
          <a:xfrm>
            <a:off x="6026150" y="2090738"/>
            <a:ext cx="66675" cy="1587"/>
          </a:xfrm>
          <a:prstGeom prst="line">
            <a:avLst/>
          </a:prstGeom>
          <a:noFill/>
          <a:ln w="4763">
            <a:solidFill>
              <a:schemeClr val="bg2"/>
            </a:solidFill>
            <a:round/>
            <a:headEnd/>
            <a:tailEnd/>
          </a:ln>
        </p:spPr>
        <p:txBody>
          <a:bodyPr/>
          <a:lstStyle/>
          <a:p>
            <a:endParaRPr lang="en-GB"/>
          </a:p>
        </p:txBody>
      </p:sp>
      <p:sp>
        <p:nvSpPr>
          <p:cNvPr id="174285" name="Line 205"/>
          <p:cNvSpPr>
            <a:spLocks noChangeShapeType="1"/>
          </p:cNvSpPr>
          <p:nvPr/>
        </p:nvSpPr>
        <p:spPr bwMode="auto">
          <a:xfrm>
            <a:off x="6026150" y="2181225"/>
            <a:ext cx="49212" cy="1588"/>
          </a:xfrm>
          <a:prstGeom prst="line">
            <a:avLst/>
          </a:prstGeom>
          <a:noFill/>
          <a:ln w="4763">
            <a:solidFill>
              <a:schemeClr val="bg2"/>
            </a:solidFill>
            <a:round/>
            <a:headEnd/>
            <a:tailEnd/>
          </a:ln>
        </p:spPr>
        <p:txBody>
          <a:bodyPr/>
          <a:lstStyle/>
          <a:p>
            <a:endParaRPr lang="en-GB"/>
          </a:p>
        </p:txBody>
      </p:sp>
      <p:sp>
        <p:nvSpPr>
          <p:cNvPr id="174286" name="Line 206"/>
          <p:cNvSpPr>
            <a:spLocks noChangeShapeType="1"/>
          </p:cNvSpPr>
          <p:nvPr/>
        </p:nvSpPr>
        <p:spPr bwMode="auto">
          <a:xfrm>
            <a:off x="6026150" y="2270125"/>
            <a:ext cx="50800" cy="1588"/>
          </a:xfrm>
          <a:prstGeom prst="line">
            <a:avLst/>
          </a:prstGeom>
          <a:noFill/>
          <a:ln w="4763">
            <a:solidFill>
              <a:schemeClr val="bg2"/>
            </a:solidFill>
            <a:round/>
            <a:headEnd/>
            <a:tailEnd/>
          </a:ln>
        </p:spPr>
        <p:txBody>
          <a:bodyPr/>
          <a:lstStyle/>
          <a:p>
            <a:endParaRPr lang="en-GB"/>
          </a:p>
        </p:txBody>
      </p:sp>
      <p:sp>
        <p:nvSpPr>
          <p:cNvPr id="174287" name="Line 207"/>
          <p:cNvSpPr>
            <a:spLocks noChangeShapeType="1"/>
          </p:cNvSpPr>
          <p:nvPr/>
        </p:nvSpPr>
        <p:spPr bwMode="auto">
          <a:xfrm>
            <a:off x="6096000" y="2270125"/>
            <a:ext cx="47625" cy="1588"/>
          </a:xfrm>
          <a:prstGeom prst="line">
            <a:avLst/>
          </a:prstGeom>
          <a:noFill/>
          <a:ln w="4763">
            <a:solidFill>
              <a:schemeClr val="bg2"/>
            </a:solidFill>
            <a:round/>
            <a:headEnd/>
            <a:tailEnd/>
          </a:ln>
        </p:spPr>
        <p:txBody>
          <a:bodyPr/>
          <a:lstStyle/>
          <a:p>
            <a:endParaRPr lang="en-GB"/>
          </a:p>
        </p:txBody>
      </p:sp>
      <p:sp>
        <p:nvSpPr>
          <p:cNvPr id="174288" name="Line 208"/>
          <p:cNvSpPr>
            <a:spLocks noChangeShapeType="1"/>
          </p:cNvSpPr>
          <p:nvPr/>
        </p:nvSpPr>
        <p:spPr bwMode="auto">
          <a:xfrm>
            <a:off x="6024562" y="2365375"/>
            <a:ext cx="60325" cy="1588"/>
          </a:xfrm>
          <a:prstGeom prst="line">
            <a:avLst/>
          </a:prstGeom>
          <a:noFill/>
          <a:ln w="4763">
            <a:solidFill>
              <a:schemeClr val="bg2"/>
            </a:solidFill>
            <a:round/>
            <a:headEnd/>
            <a:tailEnd/>
          </a:ln>
        </p:spPr>
        <p:txBody>
          <a:bodyPr/>
          <a:lstStyle/>
          <a:p>
            <a:endParaRPr lang="en-GB"/>
          </a:p>
        </p:txBody>
      </p:sp>
      <p:sp>
        <p:nvSpPr>
          <p:cNvPr id="174289" name="Line 209"/>
          <p:cNvSpPr>
            <a:spLocks noChangeShapeType="1"/>
          </p:cNvSpPr>
          <p:nvPr/>
        </p:nvSpPr>
        <p:spPr bwMode="auto">
          <a:xfrm>
            <a:off x="6145212" y="2003425"/>
            <a:ext cx="180975" cy="1588"/>
          </a:xfrm>
          <a:prstGeom prst="line">
            <a:avLst/>
          </a:prstGeom>
          <a:noFill/>
          <a:ln w="4763">
            <a:solidFill>
              <a:schemeClr val="bg2"/>
            </a:solidFill>
            <a:round/>
            <a:headEnd/>
            <a:tailEnd/>
          </a:ln>
        </p:spPr>
        <p:txBody>
          <a:bodyPr/>
          <a:lstStyle/>
          <a:p>
            <a:endParaRPr lang="en-GB"/>
          </a:p>
        </p:txBody>
      </p:sp>
      <p:sp>
        <p:nvSpPr>
          <p:cNvPr id="174290" name="Line 210"/>
          <p:cNvSpPr>
            <a:spLocks noChangeShapeType="1"/>
          </p:cNvSpPr>
          <p:nvPr/>
        </p:nvSpPr>
        <p:spPr bwMode="auto">
          <a:xfrm>
            <a:off x="6145212" y="2028825"/>
            <a:ext cx="180975" cy="1588"/>
          </a:xfrm>
          <a:prstGeom prst="line">
            <a:avLst/>
          </a:prstGeom>
          <a:noFill/>
          <a:ln w="4763">
            <a:solidFill>
              <a:schemeClr val="bg2"/>
            </a:solidFill>
            <a:round/>
            <a:headEnd/>
            <a:tailEnd/>
          </a:ln>
        </p:spPr>
        <p:txBody>
          <a:bodyPr/>
          <a:lstStyle/>
          <a:p>
            <a:endParaRPr lang="en-GB"/>
          </a:p>
        </p:txBody>
      </p:sp>
      <p:sp>
        <p:nvSpPr>
          <p:cNvPr id="174291" name="Line 211"/>
          <p:cNvSpPr>
            <a:spLocks noChangeShapeType="1"/>
          </p:cNvSpPr>
          <p:nvPr/>
        </p:nvSpPr>
        <p:spPr bwMode="auto">
          <a:xfrm>
            <a:off x="6145212" y="2054225"/>
            <a:ext cx="180975" cy="1588"/>
          </a:xfrm>
          <a:prstGeom prst="line">
            <a:avLst/>
          </a:prstGeom>
          <a:noFill/>
          <a:ln w="4763">
            <a:solidFill>
              <a:schemeClr val="bg2"/>
            </a:solidFill>
            <a:round/>
            <a:headEnd/>
            <a:tailEnd/>
          </a:ln>
        </p:spPr>
        <p:txBody>
          <a:bodyPr/>
          <a:lstStyle/>
          <a:p>
            <a:endParaRPr lang="en-GB"/>
          </a:p>
        </p:txBody>
      </p:sp>
      <p:sp>
        <p:nvSpPr>
          <p:cNvPr id="174292" name="Line 212"/>
          <p:cNvSpPr>
            <a:spLocks noChangeShapeType="1"/>
          </p:cNvSpPr>
          <p:nvPr/>
        </p:nvSpPr>
        <p:spPr bwMode="auto">
          <a:xfrm>
            <a:off x="6145212" y="2090738"/>
            <a:ext cx="187325" cy="1587"/>
          </a:xfrm>
          <a:prstGeom prst="line">
            <a:avLst/>
          </a:prstGeom>
          <a:noFill/>
          <a:ln w="4763">
            <a:solidFill>
              <a:schemeClr val="bg2"/>
            </a:solidFill>
            <a:round/>
            <a:headEnd/>
            <a:tailEnd/>
          </a:ln>
        </p:spPr>
        <p:txBody>
          <a:bodyPr/>
          <a:lstStyle/>
          <a:p>
            <a:endParaRPr lang="en-GB"/>
          </a:p>
        </p:txBody>
      </p:sp>
      <p:sp>
        <p:nvSpPr>
          <p:cNvPr id="174293" name="Line 213"/>
          <p:cNvSpPr>
            <a:spLocks noChangeShapeType="1"/>
          </p:cNvSpPr>
          <p:nvPr/>
        </p:nvSpPr>
        <p:spPr bwMode="auto">
          <a:xfrm>
            <a:off x="6145212" y="2117725"/>
            <a:ext cx="192088" cy="1588"/>
          </a:xfrm>
          <a:prstGeom prst="line">
            <a:avLst/>
          </a:prstGeom>
          <a:noFill/>
          <a:ln w="4763">
            <a:solidFill>
              <a:schemeClr val="bg2"/>
            </a:solidFill>
            <a:round/>
            <a:headEnd/>
            <a:tailEnd/>
          </a:ln>
        </p:spPr>
        <p:txBody>
          <a:bodyPr/>
          <a:lstStyle/>
          <a:p>
            <a:endParaRPr lang="en-GB"/>
          </a:p>
        </p:txBody>
      </p:sp>
      <p:sp>
        <p:nvSpPr>
          <p:cNvPr id="174294" name="Line 214"/>
          <p:cNvSpPr>
            <a:spLocks noChangeShapeType="1"/>
          </p:cNvSpPr>
          <p:nvPr/>
        </p:nvSpPr>
        <p:spPr bwMode="auto">
          <a:xfrm>
            <a:off x="6145212" y="2138363"/>
            <a:ext cx="192088" cy="1587"/>
          </a:xfrm>
          <a:prstGeom prst="line">
            <a:avLst/>
          </a:prstGeom>
          <a:noFill/>
          <a:ln w="4763">
            <a:solidFill>
              <a:schemeClr val="bg2"/>
            </a:solidFill>
            <a:round/>
            <a:headEnd/>
            <a:tailEnd/>
          </a:ln>
        </p:spPr>
        <p:txBody>
          <a:bodyPr/>
          <a:lstStyle/>
          <a:p>
            <a:endParaRPr lang="en-GB"/>
          </a:p>
        </p:txBody>
      </p:sp>
      <p:sp>
        <p:nvSpPr>
          <p:cNvPr id="174295" name="Line 215"/>
          <p:cNvSpPr>
            <a:spLocks noChangeShapeType="1"/>
          </p:cNvSpPr>
          <p:nvPr/>
        </p:nvSpPr>
        <p:spPr bwMode="auto">
          <a:xfrm>
            <a:off x="6145212" y="2181225"/>
            <a:ext cx="182563" cy="1588"/>
          </a:xfrm>
          <a:prstGeom prst="line">
            <a:avLst/>
          </a:prstGeom>
          <a:noFill/>
          <a:ln w="4763">
            <a:solidFill>
              <a:schemeClr val="bg2"/>
            </a:solidFill>
            <a:round/>
            <a:headEnd/>
            <a:tailEnd/>
          </a:ln>
        </p:spPr>
        <p:txBody>
          <a:bodyPr/>
          <a:lstStyle/>
          <a:p>
            <a:endParaRPr lang="en-GB"/>
          </a:p>
        </p:txBody>
      </p:sp>
      <p:sp>
        <p:nvSpPr>
          <p:cNvPr id="174296" name="Line 216"/>
          <p:cNvSpPr>
            <a:spLocks noChangeShapeType="1"/>
          </p:cNvSpPr>
          <p:nvPr/>
        </p:nvSpPr>
        <p:spPr bwMode="auto">
          <a:xfrm>
            <a:off x="6145212" y="2205038"/>
            <a:ext cx="179388" cy="1587"/>
          </a:xfrm>
          <a:prstGeom prst="line">
            <a:avLst/>
          </a:prstGeom>
          <a:noFill/>
          <a:ln w="4763">
            <a:solidFill>
              <a:schemeClr val="bg2"/>
            </a:solidFill>
            <a:round/>
            <a:headEnd/>
            <a:tailEnd/>
          </a:ln>
        </p:spPr>
        <p:txBody>
          <a:bodyPr/>
          <a:lstStyle/>
          <a:p>
            <a:endParaRPr lang="en-GB"/>
          </a:p>
        </p:txBody>
      </p:sp>
      <p:sp>
        <p:nvSpPr>
          <p:cNvPr id="174297" name="Line 217"/>
          <p:cNvSpPr>
            <a:spLocks noChangeShapeType="1"/>
          </p:cNvSpPr>
          <p:nvPr/>
        </p:nvSpPr>
        <p:spPr bwMode="auto">
          <a:xfrm>
            <a:off x="6145212" y="2230438"/>
            <a:ext cx="182563" cy="1587"/>
          </a:xfrm>
          <a:prstGeom prst="line">
            <a:avLst/>
          </a:prstGeom>
          <a:noFill/>
          <a:ln w="4763">
            <a:solidFill>
              <a:schemeClr val="bg2"/>
            </a:solidFill>
            <a:round/>
            <a:headEnd/>
            <a:tailEnd/>
          </a:ln>
        </p:spPr>
        <p:txBody>
          <a:bodyPr/>
          <a:lstStyle/>
          <a:p>
            <a:endParaRPr lang="en-GB"/>
          </a:p>
        </p:txBody>
      </p:sp>
      <p:sp>
        <p:nvSpPr>
          <p:cNvPr id="174298" name="Line 218"/>
          <p:cNvSpPr>
            <a:spLocks noChangeShapeType="1"/>
          </p:cNvSpPr>
          <p:nvPr/>
        </p:nvSpPr>
        <p:spPr bwMode="auto">
          <a:xfrm>
            <a:off x="6145212" y="2297113"/>
            <a:ext cx="192088" cy="1587"/>
          </a:xfrm>
          <a:prstGeom prst="line">
            <a:avLst/>
          </a:prstGeom>
          <a:noFill/>
          <a:ln w="4763">
            <a:solidFill>
              <a:schemeClr val="bg2"/>
            </a:solidFill>
            <a:round/>
            <a:headEnd/>
            <a:tailEnd/>
          </a:ln>
        </p:spPr>
        <p:txBody>
          <a:bodyPr/>
          <a:lstStyle/>
          <a:p>
            <a:endParaRPr lang="en-GB"/>
          </a:p>
        </p:txBody>
      </p:sp>
      <p:sp>
        <p:nvSpPr>
          <p:cNvPr id="174299" name="Line 219"/>
          <p:cNvSpPr>
            <a:spLocks noChangeShapeType="1"/>
          </p:cNvSpPr>
          <p:nvPr/>
        </p:nvSpPr>
        <p:spPr bwMode="auto">
          <a:xfrm>
            <a:off x="6145212" y="2319338"/>
            <a:ext cx="185738" cy="1587"/>
          </a:xfrm>
          <a:prstGeom prst="line">
            <a:avLst/>
          </a:prstGeom>
          <a:noFill/>
          <a:ln w="4763">
            <a:solidFill>
              <a:schemeClr val="bg2"/>
            </a:solidFill>
            <a:round/>
            <a:headEnd/>
            <a:tailEnd/>
          </a:ln>
        </p:spPr>
        <p:txBody>
          <a:bodyPr/>
          <a:lstStyle/>
          <a:p>
            <a:endParaRPr lang="en-GB"/>
          </a:p>
        </p:txBody>
      </p:sp>
      <p:sp>
        <p:nvSpPr>
          <p:cNvPr id="174300" name="Line 220"/>
          <p:cNvSpPr>
            <a:spLocks noChangeShapeType="1"/>
          </p:cNvSpPr>
          <p:nvPr/>
        </p:nvSpPr>
        <p:spPr bwMode="auto">
          <a:xfrm>
            <a:off x="6145212" y="2365375"/>
            <a:ext cx="188913" cy="1588"/>
          </a:xfrm>
          <a:prstGeom prst="line">
            <a:avLst/>
          </a:prstGeom>
          <a:noFill/>
          <a:ln w="4763">
            <a:solidFill>
              <a:schemeClr val="bg2"/>
            </a:solidFill>
            <a:round/>
            <a:headEnd/>
            <a:tailEnd/>
          </a:ln>
        </p:spPr>
        <p:txBody>
          <a:bodyPr/>
          <a:lstStyle/>
          <a:p>
            <a:endParaRPr lang="en-GB"/>
          </a:p>
        </p:txBody>
      </p:sp>
      <p:sp>
        <p:nvSpPr>
          <p:cNvPr id="174301" name="Line 221"/>
          <p:cNvSpPr>
            <a:spLocks noChangeShapeType="1"/>
          </p:cNvSpPr>
          <p:nvPr/>
        </p:nvSpPr>
        <p:spPr bwMode="auto">
          <a:xfrm>
            <a:off x="6145212" y="2390775"/>
            <a:ext cx="196850" cy="1588"/>
          </a:xfrm>
          <a:prstGeom prst="line">
            <a:avLst/>
          </a:prstGeom>
          <a:noFill/>
          <a:ln w="4763">
            <a:solidFill>
              <a:schemeClr val="bg2"/>
            </a:solidFill>
            <a:round/>
            <a:headEnd/>
            <a:tailEnd/>
          </a:ln>
        </p:spPr>
        <p:txBody>
          <a:bodyPr/>
          <a:lstStyle/>
          <a:p>
            <a:endParaRPr lang="en-GB"/>
          </a:p>
        </p:txBody>
      </p:sp>
      <p:sp>
        <p:nvSpPr>
          <p:cNvPr id="174302" name="Line 222"/>
          <p:cNvSpPr>
            <a:spLocks noChangeShapeType="1"/>
          </p:cNvSpPr>
          <p:nvPr/>
        </p:nvSpPr>
        <p:spPr bwMode="auto">
          <a:xfrm>
            <a:off x="6145212" y="2417763"/>
            <a:ext cx="201613" cy="1587"/>
          </a:xfrm>
          <a:prstGeom prst="line">
            <a:avLst/>
          </a:prstGeom>
          <a:noFill/>
          <a:ln w="4763">
            <a:solidFill>
              <a:schemeClr val="bg2"/>
            </a:solidFill>
            <a:round/>
            <a:headEnd/>
            <a:tailEnd/>
          </a:ln>
        </p:spPr>
        <p:txBody>
          <a:bodyPr/>
          <a:lstStyle/>
          <a:p>
            <a:endParaRPr lang="en-GB"/>
          </a:p>
        </p:txBody>
      </p:sp>
      <p:sp>
        <p:nvSpPr>
          <p:cNvPr id="174303" name="Rectangle 223"/>
          <p:cNvSpPr>
            <a:spLocks noChangeArrowheads="1"/>
          </p:cNvSpPr>
          <p:nvPr/>
        </p:nvSpPr>
        <p:spPr bwMode="auto">
          <a:xfrm>
            <a:off x="5824537" y="2581275"/>
            <a:ext cx="815975" cy="228600"/>
          </a:xfrm>
          <a:prstGeom prst="rect">
            <a:avLst/>
          </a:prstGeom>
          <a:noFill/>
          <a:ln w="9525">
            <a:noFill/>
            <a:miter lim="800000"/>
            <a:headEnd/>
            <a:tailEnd/>
          </a:ln>
        </p:spPr>
        <p:txBody>
          <a:bodyPr wrap="none" lIns="0" tIns="0" rIns="0" bIns="0">
            <a:spAutoFit/>
          </a:bodyPr>
          <a:lstStyle/>
          <a:p>
            <a:pPr algn="ctr" eaLnBrk="0" hangingPunct="0"/>
            <a:r>
              <a:rPr lang="en-CA" sz="1500" b="1">
                <a:solidFill>
                  <a:srgbClr val="1F1A17"/>
                </a:solidFill>
              </a:rPr>
              <a:t>Glossary</a:t>
            </a:r>
            <a:endParaRPr lang="en-CA" sz="1200" b="1">
              <a:solidFill>
                <a:schemeClr val="bg2"/>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6553200" y="2286000"/>
            <a:ext cx="2209800" cy="2514600"/>
            <a:chOff x="3623" y="1227"/>
            <a:chExt cx="1813" cy="2335"/>
          </a:xfrm>
        </p:grpSpPr>
        <p:sp>
          <p:nvSpPr>
            <p:cNvPr id="175107" name="Freeform 3"/>
            <p:cNvSpPr>
              <a:spLocks/>
            </p:cNvSpPr>
            <p:nvPr/>
          </p:nvSpPr>
          <p:spPr bwMode="auto">
            <a:xfrm>
              <a:off x="4093" y="1798"/>
              <a:ext cx="1343" cy="1764"/>
            </a:xfrm>
            <a:custGeom>
              <a:avLst/>
              <a:gdLst/>
              <a:ahLst/>
              <a:cxnLst>
                <a:cxn ang="0">
                  <a:pos x="1308" y="1758"/>
                </a:cxn>
                <a:cxn ang="0">
                  <a:pos x="1246" y="1742"/>
                </a:cxn>
                <a:cxn ang="0">
                  <a:pos x="1188" y="1723"/>
                </a:cxn>
                <a:cxn ang="0">
                  <a:pos x="1129" y="1701"/>
                </a:cxn>
                <a:cxn ang="0">
                  <a:pos x="1067" y="1682"/>
                </a:cxn>
                <a:cxn ang="0">
                  <a:pos x="1001" y="1672"/>
                </a:cxn>
                <a:cxn ang="0">
                  <a:pos x="925" y="1669"/>
                </a:cxn>
                <a:cxn ang="0">
                  <a:pos x="835" y="1682"/>
                </a:cxn>
                <a:cxn ang="0">
                  <a:pos x="728" y="1713"/>
                </a:cxn>
                <a:cxn ang="0">
                  <a:pos x="618" y="1729"/>
                </a:cxn>
                <a:cxn ang="0">
                  <a:pos x="514" y="1726"/>
                </a:cxn>
                <a:cxn ang="0">
                  <a:pos x="418" y="1710"/>
                </a:cxn>
                <a:cxn ang="0">
                  <a:pos x="324" y="1685"/>
                </a:cxn>
                <a:cxn ang="0">
                  <a:pos x="234" y="1656"/>
                </a:cxn>
                <a:cxn ang="0">
                  <a:pos x="141" y="1628"/>
                </a:cxn>
                <a:cxn ang="0">
                  <a:pos x="48" y="1602"/>
                </a:cxn>
                <a:cxn ang="0">
                  <a:pos x="0" y="0"/>
                </a:cxn>
                <a:cxn ang="0">
                  <a:pos x="96" y="19"/>
                </a:cxn>
                <a:cxn ang="0">
                  <a:pos x="190" y="44"/>
                </a:cxn>
                <a:cxn ang="0">
                  <a:pos x="279" y="73"/>
                </a:cxn>
                <a:cxn ang="0">
                  <a:pos x="373" y="102"/>
                </a:cxn>
                <a:cxn ang="0">
                  <a:pos x="466" y="124"/>
                </a:cxn>
                <a:cxn ang="0">
                  <a:pos x="566" y="133"/>
                </a:cxn>
                <a:cxn ang="0">
                  <a:pos x="673" y="127"/>
                </a:cxn>
                <a:cxn ang="0">
                  <a:pos x="787" y="98"/>
                </a:cxn>
                <a:cxn ang="0">
                  <a:pos x="884" y="79"/>
                </a:cxn>
                <a:cxn ang="0">
                  <a:pos x="963" y="73"/>
                </a:cxn>
                <a:cxn ang="0">
                  <a:pos x="1036" y="83"/>
                </a:cxn>
                <a:cxn ang="0">
                  <a:pos x="1098" y="95"/>
                </a:cxn>
                <a:cxn ang="0">
                  <a:pos x="1157" y="117"/>
                </a:cxn>
                <a:cxn ang="0">
                  <a:pos x="1215" y="140"/>
                </a:cxn>
                <a:cxn ang="0">
                  <a:pos x="1277" y="159"/>
                </a:cxn>
                <a:cxn ang="0">
                  <a:pos x="1343" y="171"/>
                </a:cxn>
              </a:cxnLst>
              <a:rect l="0" t="0" r="r" b="b"/>
              <a:pathLst>
                <a:path w="1343" h="1764">
                  <a:moveTo>
                    <a:pt x="1343" y="1764"/>
                  </a:moveTo>
                  <a:lnTo>
                    <a:pt x="1308" y="1758"/>
                  </a:lnTo>
                  <a:lnTo>
                    <a:pt x="1277" y="1751"/>
                  </a:lnTo>
                  <a:lnTo>
                    <a:pt x="1246" y="1742"/>
                  </a:lnTo>
                  <a:lnTo>
                    <a:pt x="1215" y="1732"/>
                  </a:lnTo>
                  <a:lnTo>
                    <a:pt x="1188" y="1723"/>
                  </a:lnTo>
                  <a:lnTo>
                    <a:pt x="1157" y="1710"/>
                  </a:lnTo>
                  <a:lnTo>
                    <a:pt x="1129" y="1701"/>
                  </a:lnTo>
                  <a:lnTo>
                    <a:pt x="1098" y="1691"/>
                  </a:lnTo>
                  <a:lnTo>
                    <a:pt x="1067" y="1682"/>
                  </a:lnTo>
                  <a:lnTo>
                    <a:pt x="1036" y="1675"/>
                  </a:lnTo>
                  <a:lnTo>
                    <a:pt x="1001" y="1672"/>
                  </a:lnTo>
                  <a:lnTo>
                    <a:pt x="963" y="1669"/>
                  </a:lnTo>
                  <a:lnTo>
                    <a:pt x="925" y="1669"/>
                  </a:lnTo>
                  <a:lnTo>
                    <a:pt x="884" y="1672"/>
                  </a:lnTo>
                  <a:lnTo>
                    <a:pt x="835" y="1682"/>
                  </a:lnTo>
                  <a:lnTo>
                    <a:pt x="787" y="1694"/>
                  </a:lnTo>
                  <a:lnTo>
                    <a:pt x="728" y="1713"/>
                  </a:lnTo>
                  <a:lnTo>
                    <a:pt x="673" y="1723"/>
                  </a:lnTo>
                  <a:lnTo>
                    <a:pt x="618" y="1729"/>
                  </a:lnTo>
                  <a:lnTo>
                    <a:pt x="566" y="1729"/>
                  </a:lnTo>
                  <a:lnTo>
                    <a:pt x="514" y="1726"/>
                  </a:lnTo>
                  <a:lnTo>
                    <a:pt x="466" y="1720"/>
                  </a:lnTo>
                  <a:lnTo>
                    <a:pt x="418" y="1710"/>
                  </a:lnTo>
                  <a:lnTo>
                    <a:pt x="373" y="1697"/>
                  </a:lnTo>
                  <a:lnTo>
                    <a:pt x="324" y="1685"/>
                  </a:lnTo>
                  <a:lnTo>
                    <a:pt x="279" y="1669"/>
                  </a:lnTo>
                  <a:lnTo>
                    <a:pt x="234" y="1656"/>
                  </a:lnTo>
                  <a:lnTo>
                    <a:pt x="190" y="1640"/>
                  </a:lnTo>
                  <a:lnTo>
                    <a:pt x="141" y="1628"/>
                  </a:lnTo>
                  <a:lnTo>
                    <a:pt x="96" y="1615"/>
                  </a:lnTo>
                  <a:lnTo>
                    <a:pt x="48" y="1602"/>
                  </a:lnTo>
                  <a:lnTo>
                    <a:pt x="0" y="1596"/>
                  </a:lnTo>
                  <a:lnTo>
                    <a:pt x="0" y="0"/>
                  </a:lnTo>
                  <a:lnTo>
                    <a:pt x="48" y="6"/>
                  </a:lnTo>
                  <a:lnTo>
                    <a:pt x="96" y="19"/>
                  </a:lnTo>
                  <a:lnTo>
                    <a:pt x="141" y="32"/>
                  </a:lnTo>
                  <a:lnTo>
                    <a:pt x="190" y="44"/>
                  </a:lnTo>
                  <a:lnTo>
                    <a:pt x="234" y="60"/>
                  </a:lnTo>
                  <a:lnTo>
                    <a:pt x="279" y="73"/>
                  </a:lnTo>
                  <a:lnTo>
                    <a:pt x="324" y="89"/>
                  </a:lnTo>
                  <a:lnTo>
                    <a:pt x="373" y="102"/>
                  </a:lnTo>
                  <a:lnTo>
                    <a:pt x="418" y="114"/>
                  </a:lnTo>
                  <a:lnTo>
                    <a:pt x="466" y="124"/>
                  </a:lnTo>
                  <a:lnTo>
                    <a:pt x="514" y="130"/>
                  </a:lnTo>
                  <a:lnTo>
                    <a:pt x="566" y="133"/>
                  </a:lnTo>
                  <a:lnTo>
                    <a:pt x="618" y="133"/>
                  </a:lnTo>
                  <a:lnTo>
                    <a:pt x="673" y="127"/>
                  </a:lnTo>
                  <a:lnTo>
                    <a:pt x="728" y="117"/>
                  </a:lnTo>
                  <a:lnTo>
                    <a:pt x="787" y="98"/>
                  </a:lnTo>
                  <a:lnTo>
                    <a:pt x="835" y="86"/>
                  </a:lnTo>
                  <a:lnTo>
                    <a:pt x="884" y="79"/>
                  </a:lnTo>
                  <a:lnTo>
                    <a:pt x="925" y="76"/>
                  </a:lnTo>
                  <a:lnTo>
                    <a:pt x="963" y="73"/>
                  </a:lnTo>
                  <a:lnTo>
                    <a:pt x="1001" y="76"/>
                  </a:lnTo>
                  <a:lnTo>
                    <a:pt x="1036" y="83"/>
                  </a:lnTo>
                  <a:lnTo>
                    <a:pt x="1067" y="89"/>
                  </a:lnTo>
                  <a:lnTo>
                    <a:pt x="1098" y="95"/>
                  </a:lnTo>
                  <a:lnTo>
                    <a:pt x="1129" y="108"/>
                  </a:lnTo>
                  <a:lnTo>
                    <a:pt x="1157" y="117"/>
                  </a:lnTo>
                  <a:lnTo>
                    <a:pt x="1188" y="127"/>
                  </a:lnTo>
                  <a:lnTo>
                    <a:pt x="1215" y="140"/>
                  </a:lnTo>
                  <a:lnTo>
                    <a:pt x="1246" y="149"/>
                  </a:lnTo>
                  <a:lnTo>
                    <a:pt x="1277" y="159"/>
                  </a:lnTo>
                  <a:lnTo>
                    <a:pt x="1308" y="165"/>
                  </a:lnTo>
                  <a:lnTo>
                    <a:pt x="1343" y="171"/>
                  </a:lnTo>
                  <a:lnTo>
                    <a:pt x="1343" y="1764"/>
                  </a:lnTo>
                  <a:close/>
                </a:path>
              </a:pathLst>
            </a:custGeom>
            <a:solidFill>
              <a:srgbClr val="C8C8CA"/>
            </a:solidFill>
            <a:ln w="9525">
              <a:noFill/>
              <a:round/>
              <a:headEnd/>
              <a:tailEnd/>
            </a:ln>
          </p:spPr>
          <p:txBody>
            <a:bodyPr/>
            <a:lstStyle/>
            <a:p>
              <a:endParaRPr lang="en-GB"/>
            </a:p>
          </p:txBody>
        </p:sp>
        <p:sp>
          <p:nvSpPr>
            <p:cNvPr id="175108" name="Freeform 4"/>
            <p:cNvSpPr>
              <a:spLocks/>
            </p:cNvSpPr>
            <p:nvPr/>
          </p:nvSpPr>
          <p:spPr bwMode="auto">
            <a:xfrm>
              <a:off x="3934" y="1608"/>
              <a:ext cx="1343" cy="1767"/>
            </a:xfrm>
            <a:custGeom>
              <a:avLst/>
              <a:gdLst/>
              <a:ahLst/>
              <a:cxnLst>
                <a:cxn ang="0">
                  <a:pos x="1309" y="1760"/>
                </a:cxn>
                <a:cxn ang="0">
                  <a:pos x="1246" y="1745"/>
                </a:cxn>
                <a:cxn ang="0">
                  <a:pos x="1188" y="1722"/>
                </a:cxn>
                <a:cxn ang="0">
                  <a:pos x="1129" y="1703"/>
                </a:cxn>
                <a:cxn ang="0">
                  <a:pos x="1070" y="1684"/>
                </a:cxn>
                <a:cxn ang="0">
                  <a:pos x="1005" y="1672"/>
                </a:cxn>
                <a:cxn ang="0">
                  <a:pos x="929" y="1672"/>
                </a:cxn>
                <a:cxn ang="0">
                  <a:pos x="839" y="1681"/>
                </a:cxn>
                <a:cxn ang="0">
                  <a:pos x="732" y="1713"/>
                </a:cxn>
                <a:cxn ang="0">
                  <a:pos x="621" y="1729"/>
                </a:cxn>
                <a:cxn ang="0">
                  <a:pos x="518" y="1726"/>
                </a:cxn>
                <a:cxn ang="0">
                  <a:pos x="421" y="1710"/>
                </a:cxn>
                <a:cxn ang="0">
                  <a:pos x="328" y="1684"/>
                </a:cxn>
                <a:cxn ang="0">
                  <a:pos x="238" y="1656"/>
                </a:cxn>
                <a:cxn ang="0">
                  <a:pos x="145" y="1627"/>
                </a:cxn>
                <a:cxn ang="0">
                  <a:pos x="48" y="1602"/>
                </a:cxn>
                <a:cxn ang="0">
                  <a:pos x="0" y="0"/>
                </a:cxn>
                <a:cxn ang="0">
                  <a:pos x="96" y="19"/>
                </a:cxn>
                <a:cxn ang="0">
                  <a:pos x="190" y="44"/>
                </a:cxn>
                <a:cxn ang="0">
                  <a:pos x="283" y="73"/>
                </a:cxn>
                <a:cxn ang="0">
                  <a:pos x="376" y="101"/>
                </a:cxn>
                <a:cxn ang="0">
                  <a:pos x="469" y="123"/>
                </a:cxn>
                <a:cxn ang="0">
                  <a:pos x="570" y="136"/>
                </a:cxn>
                <a:cxn ang="0">
                  <a:pos x="677" y="130"/>
                </a:cxn>
                <a:cxn ang="0">
                  <a:pos x="791" y="101"/>
                </a:cxn>
                <a:cxn ang="0">
                  <a:pos x="887" y="79"/>
                </a:cxn>
                <a:cxn ang="0">
                  <a:pos x="967" y="76"/>
                </a:cxn>
                <a:cxn ang="0">
                  <a:pos x="1039" y="82"/>
                </a:cxn>
                <a:cxn ang="0">
                  <a:pos x="1101" y="98"/>
                </a:cxn>
                <a:cxn ang="0">
                  <a:pos x="1160" y="117"/>
                </a:cxn>
                <a:cxn ang="0">
                  <a:pos x="1215" y="139"/>
                </a:cxn>
                <a:cxn ang="0">
                  <a:pos x="1278" y="158"/>
                </a:cxn>
                <a:cxn ang="0">
                  <a:pos x="1343" y="171"/>
                </a:cxn>
              </a:cxnLst>
              <a:rect l="0" t="0" r="r" b="b"/>
              <a:pathLst>
                <a:path w="1343" h="1767">
                  <a:moveTo>
                    <a:pt x="1343" y="1767"/>
                  </a:moveTo>
                  <a:lnTo>
                    <a:pt x="1309" y="1760"/>
                  </a:lnTo>
                  <a:lnTo>
                    <a:pt x="1278" y="1754"/>
                  </a:lnTo>
                  <a:lnTo>
                    <a:pt x="1246" y="1745"/>
                  </a:lnTo>
                  <a:lnTo>
                    <a:pt x="1215" y="1735"/>
                  </a:lnTo>
                  <a:lnTo>
                    <a:pt x="1188" y="1722"/>
                  </a:lnTo>
                  <a:lnTo>
                    <a:pt x="1160" y="1713"/>
                  </a:lnTo>
                  <a:lnTo>
                    <a:pt x="1129" y="1703"/>
                  </a:lnTo>
                  <a:lnTo>
                    <a:pt x="1101" y="1691"/>
                  </a:lnTo>
                  <a:lnTo>
                    <a:pt x="1070" y="1684"/>
                  </a:lnTo>
                  <a:lnTo>
                    <a:pt x="1039" y="1678"/>
                  </a:lnTo>
                  <a:lnTo>
                    <a:pt x="1005" y="1672"/>
                  </a:lnTo>
                  <a:lnTo>
                    <a:pt x="967" y="1668"/>
                  </a:lnTo>
                  <a:lnTo>
                    <a:pt x="929" y="1672"/>
                  </a:lnTo>
                  <a:lnTo>
                    <a:pt x="887" y="1675"/>
                  </a:lnTo>
                  <a:lnTo>
                    <a:pt x="839" y="1681"/>
                  </a:lnTo>
                  <a:lnTo>
                    <a:pt x="791" y="1694"/>
                  </a:lnTo>
                  <a:lnTo>
                    <a:pt x="732" y="1713"/>
                  </a:lnTo>
                  <a:lnTo>
                    <a:pt x="677" y="1722"/>
                  </a:lnTo>
                  <a:lnTo>
                    <a:pt x="621" y="1729"/>
                  </a:lnTo>
                  <a:lnTo>
                    <a:pt x="570" y="1729"/>
                  </a:lnTo>
                  <a:lnTo>
                    <a:pt x="518" y="1726"/>
                  </a:lnTo>
                  <a:lnTo>
                    <a:pt x="469" y="1719"/>
                  </a:lnTo>
                  <a:lnTo>
                    <a:pt x="421" y="1710"/>
                  </a:lnTo>
                  <a:lnTo>
                    <a:pt x="376" y="1697"/>
                  </a:lnTo>
                  <a:lnTo>
                    <a:pt x="328" y="1684"/>
                  </a:lnTo>
                  <a:lnTo>
                    <a:pt x="283" y="1668"/>
                  </a:lnTo>
                  <a:lnTo>
                    <a:pt x="238" y="1656"/>
                  </a:lnTo>
                  <a:lnTo>
                    <a:pt x="190" y="1640"/>
                  </a:lnTo>
                  <a:lnTo>
                    <a:pt x="145" y="1627"/>
                  </a:lnTo>
                  <a:lnTo>
                    <a:pt x="96" y="1615"/>
                  </a:lnTo>
                  <a:lnTo>
                    <a:pt x="48" y="1602"/>
                  </a:lnTo>
                  <a:lnTo>
                    <a:pt x="0" y="1596"/>
                  </a:lnTo>
                  <a:lnTo>
                    <a:pt x="0" y="0"/>
                  </a:lnTo>
                  <a:lnTo>
                    <a:pt x="48" y="6"/>
                  </a:lnTo>
                  <a:lnTo>
                    <a:pt x="96" y="19"/>
                  </a:lnTo>
                  <a:lnTo>
                    <a:pt x="145" y="31"/>
                  </a:lnTo>
                  <a:lnTo>
                    <a:pt x="190" y="44"/>
                  </a:lnTo>
                  <a:lnTo>
                    <a:pt x="238" y="60"/>
                  </a:lnTo>
                  <a:lnTo>
                    <a:pt x="283" y="73"/>
                  </a:lnTo>
                  <a:lnTo>
                    <a:pt x="328" y="89"/>
                  </a:lnTo>
                  <a:lnTo>
                    <a:pt x="376" y="101"/>
                  </a:lnTo>
                  <a:lnTo>
                    <a:pt x="421" y="114"/>
                  </a:lnTo>
                  <a:lnTo>
                    <a:pt x="469" y="123"/>
                  </a:lnTo>
                  <a:lnTo>
                    <a:pt x="518" y="133"/>
                  </a:lnTo>
                  <a:lnTo>
                    <a:pt x="570" y="136"/>
                  </a:lnTo>
                  <a:lnTo>
                    <a:pt x="621" y="136"/>
                  </a:lnTo>
                  <a:lnTo>
                    <a:pt x="677" y="130"/>
                  </a:lnTo>
                  <a:lnTo>
                    <a:pt x="732" y="117"/>
                  </a:lnTo>
                  <a:lnTo>
                    <a:pt x="791" y="101"/>
                  </a:lnTo>
                  <a:lnTo>
                    <a:pt x="839" y="89"/>
                  </a:lnTo>
                  <a:lnTo>
                    <a:pt x="887" y="79"/>
                  </a:lnTo>
                  <a:lnTo>
                    <a:pt x="929" y="76"/>
                  </a:lnTo>
                  <a:lnTo>
                    <a:pt x="967" y="76"/>
                  </a:lnTo>
                  <a:lnTo>
                    <a:pt x="1005" y="76"/>
                  </a:lnTo>
                  <a:lnTo>
                    <a:pt x="1039" y="82"/>
                  </a:lnTo>
                  <a:lnTo>
                    <a:pt x="1070" y="89"/>
                  </a:lnTo>
                  <a:lnTo>
                    <a:pt x="1101" y="98"/>
                  </a:lnTo>
                  <a:lnTo>
                    <a:pt x="1129" y="108"/>
                  </a:lnTo>
                  <a:lnTo>
                    <a:pt x="1160" y="117"/>
                  </a:lnTo>
                  <a:lnTo>
                    <a:pt x="1188" y="127"/>
                  </a:lnTo>
                  <a:lnTo>
                    <a:pt x="1215" y="139"/>
                  </a:lnTo>
                  <a:lnTo>
                    <a:pt x="1246" y="149"/>
                  </a:lnTo>
                  <a:lnTo>
                    <a:pt x="1278" y="158"/>
                  </a:lnTo>
                  <a:lnTo>
                    <a:pt x="1309" y="165"/>
                  </a:lnTo>
                  <a:lnTo>
                    <a:pt x="1343" y="171"/>
                  </a:lnTo>
                  <a:lnTo>
                    <a:pt x="1343" y="1767"/>
                  </a:lnTo>
                  <a:close/>
                </a:path>
              </a:pathLst>
            </a:custGeom>
            <a:solidFill>
              <a:srgbClr val="FFFFFF"/>
            </a:solidFill>
            <a:ln w="9525">
              <a:noFill/>
              <a:round/>
              <a:headEnd/>
              <a:tailEnd/>
            </a:ln>
          </p:spPr>
          <p:txBody>
            <a:bodyPr/>
            <a:lstStyle/>
            <a:p>
              <a:endParaRPr lang="en-GB"/>
            </a:p>
          </p:txBody>
        </p:sp>
        <p:sp>
          <p:nvSpPr>
            <p:cNvPr id="175109" name="Freeform 5"/>
            <p:cNvSpPr>
              <a:spLocks/>
            </p:cNvSpPr>
            <p:nvPr/>
          </p:nvSpPr>
          <p:spPr bwMode="auto">
            <a:xfrm>
              <a:off x="3934" y="1608"/>
              <a:ext cx="1343" cy="1767"/>
            </a:xfrm>
            <a:custGeom>
              <a:avLst/>
              <a:gdLst/>
              <a:ahLst/>
              <a:cxnLst>
                <a:cxn ang="0">
                  <a:pos x="1343" y="1767"/>
                </a:cxn>
                <a:cxn ang="0">
                  <a:pos x="1278" y="1754"/>
                </a:cxn>
                <a:cxn ang="0">
                  <a:pos x="1215" y="1735"/>
                </a:cxn>
                <a:cxn ang="0">
                  <a:pos x="1160" y="1713"/>
                </a:cxn>
                <a:cxn ang="0">
                  <a:pos x="1101" y="1691"/>
                </a:cxn>
                <a:cxn ang="0">
                  <a:pos x="1039" y="1678"/>
                </a:cxn>
                <a:cxn ang="0">
                  <a:pos x="967" y="1668"/>
                </a:cxn>
                <a:cxn ang="0">
                  <a:pos x="887" y="1675"/>
                </a:cxn>
                <a:cxn ang="0">
                  <a:pos x="791" y="1694"/>
                </a:cxn>
                <a:cxn ang="0">
                  <a:pos x="732" y="1713"/>
                </a:cxn>
                <a:cxn ang="0">
                  <a:pos x="621" y="1729"/>
                </a:cxn>
                <a:cxn ang="0">
                  <a:pos x="518" y="1726"/>
                </a:cxn>
                <a:cxn ang="0">
                  <a:pos x="421" y="1710"/>
                </a:cxn>
                <a:cxn ang="0">
                  <a:pos x="328" y="1684"/>
                </a:cxn>
                <a:cxn ang="0">
                  <a:pos x="238" y="1656"/>
                </a:cxn>
                <a:cxn ang="0">
                  <a:pos x="145" y="1627"/>
                </a:cxn>
                <a:cxn ang="0">
                  <a:pos x="48" y="1602"/>
                </a:cxn>
                <a:cxn ang="0">
                  <a:pos x="0" y="0"/>
                </a:cxn>
                <a:cxn ang="0">
                  <a:pos x="48" y="6"/>
                </a:cxn>
                <a:cxn ang="0">
                  <a:pos x="145" y="31"/>
                </a:cxn>
                <a:cxn ang="0">
                  <a:pos x="238" y="60"/>
                </a:cxn>
                <a:cxn ang="0">
                  <a:pos x="328" y="89"/>
                </a:cxn>
                <a:cxn ang="0">
                  <a:pos x="421" y="114"/>
                </a:cxn>
                <a:cxn ang="0">
                  <a:pos x="518" y="133"/>
                </a:cxn>
                <a:cxn ang="0">
                  <a:pos x="621" y="136"/>
                </a:cxn>
                <a:cxn ang="0">
                  <a:pos x="732" y="117"/>
                </a:cxn>
                <a:cxn ang="0">
                  <a:pos x="791" y="101"/>
                </a:cxn>
                <a:cxn ang="0">
                  <a:pos x="887" y="79"/>
                </a:cxn>
                <a:cxn ang="0">
                  <a:pos x="967" y="76"/>
                </a:cxn>
                <a:cxn ang="0">
                  <a:pos x="1039" y="82"/>
                </a:cxn>
                <a:cxn ang="0">
                  <a:pos x="1101" y="98"/>
                </a:cxn>
                <a:cxn ang="0">
                  <a:pos x="1160" y="117"/>
                </a:cxn>
                <a:cxn ang="0">
                  <a:pos x="1215" y="139"/>
                </a:cxn>
                <a:cxn ang="0">
                  <a:pos x="1278" y="158"/>
                </a:cxn>
                <a:cxn ang="0">
                  <a:pos x="1343" y="171"/>
                </a:cxn>
              </a:cxnLst>
              <a:rect l="0" t="0" r="r" b="b"/>
              <a:pathLst>
                <a:path w="1343" h="1767">
                  <a:moveTo>
                    <a:pt x="1343" y="1767"/>
                  </a:moveTo>
                  <a:lnTo>
                    <a:pt x="1343" y="1767"/>
                  </a:lnTo>
                  <a:lnTo>
                    <a:pt x="1309" y="1760"/>
                  </a:lnTo>
                  <a:lnTo>
                    <a:pt x="1278" y="1754"/>
                  </a:lnTo>
                  <a:lnTo>
                    <a:pt x="1246" y="1745"/>
                  </a:lnTo>
                  <a:lnTo>
                    <a:pt x="1215" y="1735"/>
                  </a:lnTo>
                  <a:lnTo>
                    <a:pt x="1188" y="1722"/>
                  </a:lnTo>
                  <a:lnTo>
                    <a:pt x="1160" y="1713"/>
                  </a:lnTo>
                  <a:lnTo>
                    <a:pt x="1129" y="1703"/>
                  </a:lnTo>
                  <a:lnTo>
                    <a:pt x="1101" y="1691"/>
                  </a:lnTo>
                  <a:lnTo>
                    <a:pt x="1070" y="1684"/>
                  </a:lnTo>
                  <a:lnTo>
                    <a:pt x="1039" y="1678"/>
                  </a:lnTo>
                  <a:lnTo>
                    <a:pt x="1005" y="1672"/>
                  </a:lnTo>
                  <a:lnTo>
                    <a:pt x="967" y="1668"/>
                  </a:lnTo>
                  <a:lnTo>
                    <a:pt x="929" y="1672"/>
                  </a:lnTo>
                  <a:lnTo>
                    <a:pt x="887" y="1675"/>
                  </a:lnTo>
                  <a:lnTo>
                    <a:pt x="839" y="1681"/>
                  </a:lnTo>
                  <a:lnTo>
                    <a:pt x="791" y="1694"/>
                  </a:lnTo>
                  <a:lnTo>
                    <a:pt x="791" y="1694"/>
                  </a:lnTo>
                  <a:lnTo>
                    <a:pt x="732" y="1713"/>
                  </a:lnTo>
                  <a:lnTo>
                    <a:pt x="677" y="1722"/>
                  </a:lnTo>
                  <a:lnTo>
                    <a:pt x="621" y="1729"/>
                  </a:lnTo>
                  <a:lnTo>
                    <a:pt x="570" y="1729"/>
                  </a:lnTo>
                  <a:lnTo>
                    <a:pt x="518" y="1726"/>
                  </a:lnTo>
                  <a:lnTo>
                    <a:pt x="469" y="1719"/>
                  </a:lnTo>
                  <a:lnTo>
                    <a:pt x="421" y="1710"/>
                  </a:lnTo>
                  <a:lnTo>
                    <a:pt x="376" y="1697"/>
                  </a:lnTo>
                  <a:lnTo>
                    <a:pt x="328" y="1684"/>
                  </a:lnTo>
                  <a:lnTo>
                    <a:pt x="283" y="1668"/>
                  </a:lnTo>
                  <a:lnTo>
                    <a:pt x="238" y="1656"/>
                  </a:lnTo>
                  <a:lnTo>
                    <a:pt x="190" y="1640"/>
                  </a:lnTo>
                  <a:lnTo>
                    <a:pt x="145" y="1627"/>
                  </a:lnTo>
                  <a:lnTo>
                    <a:pt x="96" y="1615"/>
                  </a:lnTo>
                  <a:lnTo>
                    <a:pt x="48" y="1602"/>
                  </a:lnTo>
                  <a:lnTo>
                    <a:pt x="0" y="1596"/>
                  </a:lnTo>
                  <a:lnTo>
                    <a:pt x="0" y="0"/>
                  </a:lnTo>
                  <a:lnTo>
                    <a:pt x="0" y="0"/>
                  </a:lnTo>
                  <a:lnTo>
                    <a:pt x="48" y="6"/>
                  </a:lnTo>
                  <a:lnTo>
                    <a:pt x="96" y="19"/>
                  </a:lnTo>
                  <a:lnTo>
                    <a:pt x="145" y="31"/>
                  </a:lnTo>
                  <a:lnTo>
                    <a:pt x="190" y="44"/>
                  </a:lnTo>
                  <a:lnTo>
                    <a:pt x="238" y="60"/>
                  </a:lnTo>
                  <a:lnTo>
                    <a:pt x="283" y="73"/>
                  </a:lnTo>
                  <a:lnTo>
                    <a:pt x="328" y="89"/>
                  </a:lnTo>
                  <a:lnTo>
                    <a:pt x="376" y="101"/>
                  </a:lnTo>
                  <a:lnTo>
                    <a:pt x="421" y="114"/>
                  </a:lnTo>
                  <a:lnTo>
                    <a:pt x="469" y="123"/>
                  </a:lnTo>
                  <a:lnTo>
                    <a:pt x="518" y="133"/>
                  </a:lnTo>
                  <a:lnTo>
                    <a:pt x="570" y="136"/>
                  </a:lnTo>
                  <a:lnTo>
                    <a:pt x="621" y="136"/>
                  </a:lnTo>
                  <a:lnTo>
                    <a:pt x="677" y="130"/>
                  </a:lnTo>
                  <a:lnTo>
                    <a:pt x="732" y="117"/>
                  </a:lnTo>
                  <a:lnTo>
                    <a:pt x="791" y="101"/>
                  </a:lnTo>
                  <a:lnTo>
                    <a:pt x="791" y="101"/>
                  </a:lnTo>
                  <a:lnTo>
                    <a:pt x="839" y="89"/>
                  </a:lnTo>
                  <a:lnTo>
                    <a:pt x="887" y="79"/>
                  </a:lnTo>
                  <a:lnTo>
                    <a:pt x="929" y="76"/>
                  </a:lnTo>
                  <a:lnTo>
                    <a:pt x="967" y="76"/>
                  </a:lnTo>
                  <a:lnTo>
                    <a:pt x="1005" y="76"/>
                  </a:lnTo>
                  <a:lnTo>
                    <a:pt x="1039" y="82"/>
                  </a:lnTo>
                  <a:lnTo>
                    <a:pt x="1070" y="89"/>
                  </a:lnTo>
                  <a:lnTo>
                    <a:pt x="1101" y="98"/>
                  </a:lnTo>
                  <a:lnTo>
                    <a:pt x="1129" y="108"/>
                  </a:lnTo>
                  <a:lnTo>
                    <a:pt x="1160" y="117"/>
                  </a:lnTo>
                  <a:lnTo>
                    <a:pt x="1188" y="127"/>
                  </a:lnTo>
                  <a:lnTo>
                    <a:pt x="1215" y="139"/>
                  </a:lnTo>
                  <a:lnTo>
                    <a:pt x="1246" y="149"/>
                  </a:lnTo>
                  <a:lnTo>
                    <a:pt x="1278" y="158"/>
                  </a:lnTo>
                  <a:lnTo>
                    <a:pt x="1309" y="165"/>
                  </a:lnTo>
                  <a:lnTo>
                    <a:pt x="1343" y="171"/>
                  </a:lnTo>
                  <a:lnTo>
                    <a:pt x="1343" y="1767"/>
                  </a:lnTo>
                </a:path>
              </a:pathLst>
            </a:custGeom>
            <a:noFill/>
            <a:ln w="0">
              <a:noFill/>
              <a:prstDash val="solid"/>
              <a:round/>
              <a:headEnd/>
              <a:tailEnd/>
            </a:ln>
          </p:spPr>
          <p:txBody>
            <a:bodyPr/>
            <a:lstStyle/>
            <a:p>
              <a:endParaRPr lang="en-GB"/>
            </a:p>
          </p:txBody>
        </p:sp>
        <p:sp>
          <p:nvSpPr>
            <p:cNvPr id="175110" name="Freeform 6"/>
            <p:cNvSpPr>
              <a:spLocks/>
            </p:cNvSpPr>
            <p:nvPr/>
          </p:nvSpPr>
          <p:spPr bwMode="auto">
            <a:xfrm>
              <a:off x="3830" y="1481"/>
              <a:ext cx="1344" cy="1767"/>
            </a:xfrm>
            <a:custGeom>
              <a:avLst/>
              <a:gdLst/>
              <a:ahLst/>
              <a:cxnLst>
                <a:cxn ang="0">
                  <a:pos x="1309" y="1761"/>
                </a:cxn>
                <a:cxn ang="0">
                  <a:pos x="1247" y="1745"/>
                </a:cxn>
                <a:cxn ang="0">
                  <a:pos x="1188" y="1723"/>
                </a:cxn>
                <a:cxn ang="0">
                  <a:pos x="1129" y="1703"/>
                </a:cxn>
                <a:cxn ang="0">
                  <a:pos x="1071" y="1684"/>
                </a:cxn>
                <a:cxn ang="0">
                  <a:pos x="1005" y="1672"/>
                </a:cxn>
                <a:cxn ang="0">
                  <a:pos x="929" y="1672"/>
                </a:cxn>
                <a:cxn ang="0">
                  <a:pos x="839" y="1681"/>
                </a:cxn>
                <a:cxn ang="0">
                  <a:pos x="732" y="1713"/>
                </a:cxn>
                <a:cxn ang="0">
                  <a:pos x="622" y="1729"/>
                </a:cxn>
                <a:cxn ang="0">
                  <a:pos x="518" y="1726"/>
                </a:cxn>
                <a:cxn ang="0">
                  <a:pos x="422" y="1710"/>
                </a:cxn>
                <a:cxn ang="0">
                  <a:pos x="328" y="1684"/>
                </a:cxn>
                <a:cxn ang="0">
                  <a:pos x="238" y="1656"/>
                </a:cxn>
                <a:cxn ang="0">
                  <a:pos x="145" y="1627"/>
                </a:cxn>
                <a:cxn ang="0">
                  <a:pos x="49" y="1602"/>
                </a:cxn>
                <a:cxn ang="0">
                  <a:pos x="0" y="0"/>
                </a:cxn>
                <a:cxn ang="0">
                  <a:pos x="97" y="19"/>
                </a:cxn>
                <a:cxn ang="0">
                  <a:pos x="190" y="44"/>
                </a:cxn>
                <a:cxn ang="0">
                  <a:pos x="283" y="73"/>
                </a:cxn>
                <a:cxn ang="0">
                  <a:pos x="377" y="101"/>
                </a:cxn>
                <a:cxn ang="0">
                  <a:pos x="470" y="124"/>
                </a:cxn>
                <a:cxn ang="0">
                  <a:pos x="570" y="136"/>
                </a:cxn>
                <a:cxn ang="0">
                  <a:pos x="677" y="130"/>
                </a:cxn>
                <a:cxn ang="0">
                  <a:pos x="791" y="101"/>
                </a:cxn>
                <a:cxn ang="0">
                  <a:pos x="888" y="79"/>
                </a:cxn>
                <a:cxn ang="0">
                  <a:pos x="967" y="76"/>
                </a:cxn>
                <a:cxn ang="0">
                  <a:pos x="1040" y="82"/>
                </a:cxn>
                <a:cxn ang="0">
                  <a:pos x="1102" y="98"/>
                </a:cxn>
                <a:cxn ang="0">
                  <a:pos x="1161" y="117"/>
                </a:cxn>
                <a:cxn ang="0">
                  <a:pos x="1216" y="139"/>
                </a:cxn>
                <a:cxn ang="0">
                  <a:pos x="1278" y="158"/>
                </a:cxn>
                <a:cxn ang="0">
                  <a:pos x="1344" y="171"/>
                </a:cxn>
              </a:cxnLst>
              <a:rect l="0" t="0" r="r" b="b"/>
              <a:pathLst>
                <a:path w="1344" h="1767">
                  <a:moveTo>
                    <a:pt x="1344" y="1767"/>
                  </a:moveTo>
                  <a:lnTo>
                    <a:pt x="1309" y="1761"/>
                  </a:lnTo>
                  <a:lnTo>
                    <a:pt x="1278" y="1754"/>
                  </a:lnTo>
                  <a:lnTo>
                    <a:pt x="1247" y="1745"/>
                  </a:lnTo>
                  <a:lnTo>
                    <a:pt x="1216" y="1735"/>
                  </a:lnTo>
                  <a:lnTo>
                    <a:pt x="1188" y="1723"/>
                  </a:lnTo>
                  <a:lnTo>
                    <a:pt x="1161" y="1713"/>
                  </a:lnTo>
                  <a:lnTo>
                    <a:pt x="1129" y="1703"/>
                  </a:lnTo>
                  <a:lnTo>
                    <a:pt x="1102" y="1691"/>
                  </a:lnTo>
                  <a:lnTo>
                    <a:pt x="1071" y="1684"/>
                  </a:lnTo>
                  <a:lnTo>
                    <a:pt x="1040" y="1678"/>
                  </a:lnTo>
                  <a:lnTo>
                    <a:pt x="1005" y="1672"/>
                  </a:lnTo>
                  <a:lnTo>
                    <a:pt x="967" y="1669"/>
                  </a:lnTo>
                  <a:lnTo>
                    <a:pt x="929" y="1672"/>
                  </a:lnTo>
                  <a:lnTo>
                    <a:pt x="888" y="1675"/>
                  </a:lnTo>
                  <a:lnTo>
                    <a:pt x="839" y="1681"/>
                  </a:lnTo>
                  <a:lnTo>
                    <a:pt x="791" y="1694"/>
                  </a:lnTo>
                  <a:lnTo>
                    <a:pt x="732" y="1713"/>
                  </a:lnTo>
                  <a:lnTo>
                    <a:pt x="677" y="1723"/>
                  </a:lnTo>
                  <a:lnTo>
                    <a:pt x="622" y="1729"/>
                  </a:lnTo>
                  <a:lnTo>
                    <a:pt x="570" y="1729"/>
                  </a:lnTo>
                  <a:lnTo>
                    <a:pt x="518" y="1726"/>
                  </a:lnTo>
                  <a:lnTo>
                    <a:pt x="470" y="1719"/>
                  </a:lnTo>
                  <a:lnTo>
                    <a:pt x="422" y="1710"/>
                  </a:lnTo>
                  <a:lnTo>
                    <a:pt x="377" y="1697"/>
                  </a:lnTo>
                  <a:lnTo>
                    <a:pt x="328" y="1684"/>
                  </a:lnTo>
                  <a:lnTo>
                    <a:pt x="283" y="1669"/>
                  </a:lnTo>
                  <a:lnTo>
                    <a:pt x="238" y="1656"/>
                  </a:lnTo>
                  <a:lnTo>
                    <a:pt x="190" y="1640"/>
                  </a:lnTo>
                  <a:lnTo>
                    <a:pt x="145" y="1627"/>
                  </a:lnTo>
                  <a:lnTo>
                    <a:pt x="97" y="1615"/>
                  </a:lnTo>
                  <a:lnTo>
                    <a:pt x="49" y="1602"/>
                  </a:lnTo>
                  <a:lnTo>
                    <a:pt x="0" y="1596"/>
                  </a:lnTo>
                  <a:lnTo>
                    <a:pt x="0" y="0"/>
                  </a:lnTo>
                  <a:lnTo>
                    <a:pt x="49" y="6"/>
                  </a:lnTo>
                  <a:lnTo>
                    <a:pt x="97" y="19"/>
                  </a:lnTo>
                  <a:lnTo>
                    <a:pt x="145" y="32"/>
                  </a:lnTo>
                  <a:lnTo>
                    <a:pt x="190" y="44"/>
                  </a:lnTo>
                  <a:lnTo>
                    <a:pt x="238" y="60"/>
                  </a:lnTo>
                  <a:lnTo>
                    <a:pt x="283" y="73"/>
                  </a:lnTo>
                  <a:lnTo>
                    <a:pt x="328" y="89"/>
                  </a:lnTo>
                  <a:lnTo>
                    <a:pt x="377" y="101"/>
                  </a:lnTo>
                  <a:lnTo>
                    <a:pt x="422" y="114"/>
                  </a:lnTo>
                  <a:lnTo>
                    <a:pt x="470" y="124"/>
                  </a:lnTo>
                  <a:lnTo>
                    <a:pt x="518" y="133"/>
                  </a:lnTo>
                  <a:lnTo>
                    <a:pt x="570" y="136"/>
                  </a:lnTo>
                  <a:lnTo>
                    <a:pt x="622" y="136"/>
                  </a:lnTo>
                  <a:lnTo>
                    <a:pt x="677" y="130"/>
                  </a:lnTo>
                  <a:lnTo>
                    <a:pt x="732" y="117"/>
                  </a:lnTo>
                  <a:lnTo>
                    <a:pt x="791" y="101"/>
                  </a:lnTo>
                  <a:lnTo>
                    <a:pt x="839" y="89"/>
                  </a:lnTo>
                  <a:lnTo>
                    <a:pt x="888" y="79"/>
                  </a:lnTo>
                  <a:lnTo>
                    <a:pt x="929" y="76"/>
                  </a:lnTo>
                  <a:lnTo>
                    <a:pt x="967" y="76"/>
                  </a:lnTo>
                  <a:lnTo>
                    <a:pt x="1005" y="76"/>
                  </a:lnTo>
                  <a:lnTo>
                    <a:pt x="1040" y="82"/>
                  </a:lnTo>
                  <a:lnTo>
                    <a:pt x="1071" y="89"/>
                  </a:lnTo>
                  <a:lnTo>
                    <a:pt x="1102" y="98"/>
                  </a:lnTo>
                  <a:lnTo>
                    <a:pt x="1129" y="108"/>
                  </a:lnTo>
                  <a:lnTo>
                    <a:pt x="1161" y="117"/>
                  </a:lnTo>
                  <a:lnTo>
                    <a:pt x="1188" y="127"/>
                  </a:lnTo>
                  <a:lnTo>
                    <a:pt x="1216" y="139"/>
                  </a:lnTo>
                  <a:lnTo>
                    <a:pt x="1247" y="149"/>
                  </a:lnTo>
                  <a:lnTo>
                    <a:pt x="1278" y="158"/>
                  </a:lnTo>
                  <a:lnTo>
                    <a:pt x="1309" y="165"/>
                  </a:lnTo>
                  <a:lnTo>
                    <a:pt x="1344" y="171"/>
                  </a:lnTo>
                  <a:lnTo>
                    <a:pt x="1344" y="1767"/>
                  </a:lnTo>
                  <a:close/>
                </a:path>
              </a:pathLst>
            </a:custGeom>
            <a:solidFill>
              <a:srgbClr val="FFFFFF"/>
            </a:solidFill>
            <a:ln w="9525">
              <a:noFill/>
              <a:round/>
              <a:headEnd/>
              <a:tailEnd/>
            </a:ln>
          </p:spPr>
          <p:txBody>
            <a:bodyPr/>
            <a:lstStyle/>
            <a:p>
              <a:endParaRPr lang="en-GB"/>
            </a:p>
          </p:txBody>
        </p:sp>
        <p:sp>
          <p:nvSpPr>
            <p:cNvPr id="175111" name="Freeform 7"/>
            <p:cNvSpPr>
              <a:spLocks/>
            </p:cNvSpPr>
            <p:nvPr/>
          </p:nvSpPr>
          <p:spPr bwMode="auto">
            <a:xfrm>
              <a:off x="3830" y="1481"/>
              <a:ext cx="1344" cy="1767"/>
            </a:xfrm>
            <a:custGeom>
              <a:avLst/>
              <a:gdLst/>
              <a:ahLst/>
              <a:cxnLst>
                <a:cxn ang="0">
                  <a:pos x="1344" y="1767"/>
                </a:cxn>
                <a:cxn ang="0">
                  <a:pos x="1278" y="1754"/>
                </a:cxn>
                <a:cxn ang="0">
                  <a:pos x="1216" y="1735"/>
                </a:cxn>
                <a:cxn ang="0">
                  <a:pos x="1161" y="1713"/>
                </a:cxn>
                <a:cxn ang="0">
                  <a:pos x="1102" y="1691"/>
                </a:cxn>
                <a:cxn ang="0">
                  <a:pos x="1040" y="1678"/>
                </a:cxn>
                <a:cxn ang="0">
                  <a:pos x="967" y="1669"/>
                </a:cxn>
                <a:cxn ang="0">
                  <a:pos x="888" y="1675"/>
                </a:cxn>
                <a:cxn ang="0">
                  <a:pos x="791" y="1694"/>
                </a:cxn>
                <a:cxn ang="0">
                  <a:pos x="732" y="1713"/>
                </a:cxn>
                <a:cxn ang="0">
                  <a:pos x="622" y="1729"/>
                </a:cxn>
                <a:cxn ang="0">
                  <a:pos x="518" y="1726"/>
                </a:cxn>
                <a:cxn ang="0">
                  <a:pos x="422" y="1710"/>
                </a:cxn>
                <a:cxn ang="0">
                  <a:pos x="328" y="1684"/>
                </a:cxn>
                <a:cxn ang="0">
                  <a:pos x="238" y="1656"/>
                </a:cxn>
                <a:cxn ang="0">
                  <a:pos x="145" y="1627"/>
                </a:cxn>
                <a:cxn ang="0">
                  <a:pos x="49" y="1602"/>
                </a:cxn>
                <a:cxn ang="0">
                  <a:pos x="0" y="0"/>
                </a:cxn>
                <a:cxn ang="0">
                  <a:pos x="49" y="6"/>
                </a:cxn>
                <a:cxn ang="0">
                  <a:pos x="145" y="32"/>
                </a:cxn>
                <a:cxn ang="0">
                  <a:pos x="238" y="60"/>
                </a:cxn>
                <a:cxn ang="0">
                  <a:pos x="328" y="89"/>
                </a:cxn>
                <a:cxn ang="0">
                  <a:pos x="422" y="114"/>
                </a:cxn>
                <a:cxn ang="0">
                  <a:pos x="518" y="133"/>
                </a:cxn>
                <a:cxn ang="0">
                  <a:pos x="622" y="136"/>
                </a:cxn>
                <a:cxn ang="0">
                  <a:pos x="732" y="117"/>
                </a:cxn>
                <a:cxn ang="0">
                  <a:pos x="791" y="101"/>
                </a:cxn>
                <a:cxn ang="0">
                  <a:pos x="888" y="79"/>
                </a:cxn>
                <a:cxn ang="0">
                  <a:pos x="967" y="76"/>
                </a:cxn>
                <a:cxn ang="0">
                  <a:pos x="1040" y="82"/>
                </a:cxn>
                <a:cxn ang="0">
                  <a:pos x="1102" y="98"/>
                </a:cxn>
                <a:cxn ang="0">
                  <a:pos x="1161" y="117"/>
                </a:cxn>
                <a:cxn ang="0">
                  <a:pos x="1216" y="139"/>
                </a:cxn>
                <a:cxn ang="0">
                  <a:pos x="1278" y="158"/>
                </a:cxn>
                <a:cxn ang="0">
                  <a:pos x="1344" y="171"/>
                </a:cxn>
              </a:cxnLst>
              <a:rect l="0" t="0" r="r" b="b"/>
              <a:pathLst>
                <a:path w="1344" h="1767">
                  <a:moveTo>
                    <a:pt x="1344" y="1767"/>
                  </a:moveTo>
                  <a:lnTo>
                    <a:pt x="1344" y="1767"/>
                  </a:lnTo>
                  <a:lnTo>
                    <a:pt x="1309" y="1761"/>
                  </a:lnTo>
                  <a:lnTo>
                    <a:pt x="1278" y="1754"/>
                  </a:lnTo>
                  <a:lnTo>
                    <a:pt x="1247" y="1745"/>
                  </a:lnTo>
                  <a:lnTo>
                    <a:pt x="1216" y="1735"/>
                  </a:lnTo>
                  <a:lnTo>
                    <a:pt x="1188" y="1723"/>
                  </a:lnTo>
                  <a:lnTo>
                    <a:pt x="1161" y="1713"/>
                  </a:lnTo>
                  <a:lnTo>
                    <a:pt x="1129" y="1703"/>
                  </a:lnTo>
                  <a:lnTo>
                    <a:pt x="1102" y="1691"/>
                  </a:lnTo>
                  <a:lnTo>
                    <a:pt x="1071" y="1684"/>
                  </a:lnTo>
                  <a:lnTo>
                    <a:pt x="1040" y="1678"/>
                  </a:lnTo>
                  <a:lnTo>
                    <a:pt x="1005" y="1672"/>
                  </a:lnTo>
                  <a:lnTo>
                    <a:pt x="967" y="1669"/>
                  </a:lnTo>
                  <a:lnTo>
                    <a:pt x="929" y="1672"/>
                  </a:lnTo>
                  <a:lnTo>
                    <a:pt x="888" y="1675"/>
                  </a:lnTo>
                  <a:lnTo>
                    <a:pt x="839" y="1681"/>
                  </a:lnTo>
                  <a:lnTo>
                    <a:pt x="791" y="1694"/>
                  </a:lnTo>
                  <a:lnTo>
                    <a:pt x="791" y="1694"/>
                  </a:lnTo>
                  <a:lnTo>
                    <a:pt x="732" y="1713"/>
                  </a:lnTo>
                  <a:lnTo>
                    <a:pt x="677" y="1723"/>
                  </a:lnTo>
                  <a:lnTo>
                    <a:pt x="622" y="1729"/>
                  </a:lnTo>
                  <a:lnTo>
                    <a:pt x="570" y="1729"/>
                  </a:lnTo>
                  <a:lnTo>
                    <a:pt x="518" y="1726"/>
                  </a:lnTo>
                  <a:lnTo>
                    <a:pt x="470" y="1719"/>
                  </a:lnTo>
                  <a:lnTo>
                    <a:pt x="422" y="1710"/>
                  </a:lnTo>
                  <a:lnTo>
                    <a:pt x="377" y="1697"/>
                  </a:lnTo>
                  <a:lnTo>
                    <a:pt x="328" y="1684"/>
                  </a:lnTo>
                  <a:lnTo>
                    <a:pt x="283" y="1669"/>
                  </a:lnTo>
                  <a:lnTo>
                    <a:pt x="238" y="1656"/>
                  </a:lnTo>
                  <a:lnTo>
                    <a:pt x="190" y="1640"/>
                  </a:lnTo>
                  <a:lnTo>
                    <a:pt x="145" y="1627"/>
                  </a:lnTo>
                  <a:lnTo>
                    <a:pt x="97" y="1615"/>
                  </a:lnTo>
                  <a:lnTo>
                    <a:pt x="49" y="1602"/>
                  </a:lnTo>
                  <a:lnTo>
                    <a:pt x="0" y="1596"/>
                  </a:lnTo>
                  <a:lnTo>
                    <a:pt x="0" y="0"/>
                  </a:lnTo>
                  <a:lnTo>
                    <a:pt x="0" y="0"/>
                  </a:lnTo>
                  <a:lnTo>
                    <a:pt x="49" y="6"/>
                  </a:lnTo>
                  <a:lnTo>
                    <a:pt x="97" y="19"/>
                  </a:lnTo>
                  <a:lnTo>
                    <a:pt x="145" y="32"/>
                  </a:lnTo>
                  <a:lnTo>
                    <a:pt x="190" y="44"/>
                  </a:lnTo>
                  <a:lnTo>
                    <a:pt x="238" y="60"/>
                  </a:lnTo>
                  <a:lnTo>
                    <a:pt x="283" y="73"/>
                  </a:lnTo>
                  <a:lnTo>
                    <a:pt x="328" y="89"/>
                  </a:lnTo>
                  <a:lnTo>
                    <a:pt x="377" y="101"/>
                  </a:lnTo>
                  <a:lnTo>
                    <a:pt x="422" y="114"/>
                  </a:lnTo>
                  <a:lnTo>
                    <a:pt x="470" y="124"/>
                  </a:lnTo>
                  <a:lnTo>
                    <a:pt x="518" y="133"/>
                  </a:lnTo>
                  <a:lnTo>
                    <a:pt x="570" y="136"/>
                  </a:lnTo>
                  <a:lnTo>
                    <a:pt x="622" y="136"/>
                  </a:lnTo>
                  <a:lnTo>
                    <a:pt x="677" y="130"/>
                  </a:lnTo>
                  <a:lnTo>
                    <a:pt x="732" y="117"/>
                  </a:lnTo>
                  <a:lnTo>
                    <a:pt x="791" y="101"/>
                  </a:lnTo>
                  <a:lnTo>
                    <a:pt x="791" y="101"/>
                  </a:lnTo>
                  <a:lnTo>
                    <a:pt x="839" y="89"/>
                  </a:lnTo>
                  <a:lnTo>
                    <a:pt x="888" y="79"/>
                  </a:lnTo>
                  <a:lnTo>
                    <a:pt x="929" y="76"/>
                  </a:lnTo>
                  <a:lnTo>
                    <a:pt x="967" y="76"/>
                  </a:lnTo>
                  <a:lnTo>
                    <a:pt x="1005" y="76"/>
                  </a:lnTo>
                  <a:lnTo>
                    <a:pt x="1040" y="82"/>
                  </a:lnTo>
                  <a:lnTo>
                    <a:pt x="1071" y="89"/>
                  </a:lnTo>
                  <a:lnTo>
                    <a:pt x="1102" y="98"/>
                  </a:lnTo>
                  <a:lnTo>
                    <a:pt x="1129" y="108"/>
                  </a:lnTo>
                  <a:lnTo>
                    <a:pt x="1161" y="117"/>
                  </a:lnTo>
                  <a:lnTo>
                    <a:pt x="1188" y="127"/>
                  </a:lnTo>
                  <a:lnTo>
                    <a:pt x="1216" y="139"/>
                  </a:lnTo>
                  <a:lnTo>
                    <a:pt x="1247" y="149"/>
                  </a:lnTo>
                  <a:lnTo>
                    <a:pt x="1278" y="158"/>
                  </a:lnTo>
                  <a:lnTo>
                    <a:pt x="1309" y="165"/>
                  </a:lnTo>
                  <a:lnTo>
                    <a:pt x="1344" y="171"/>
                  </a:lnTo>
                  <a:lnTo>
                    <a:pt x="1344" y="1767"/>
                  </a:lnTo>
                </a:path>
              </a:pathLst>
            </a:custGeom>
            <a:noFill/>
            <a:ln w="0">
              <a:noFill/>
              <a:prstDash val="solid"/>
              <a:round/>
              <a:headEnd/>
              <a:tailEnd/>
            </a:ln>
          </p:spPr>
          <p:txBody>
            <a:bodyPr/>
            <a:lstStyle/>
            <a:p>
              <a:endParaRPr lang="en-GB"/>
            </a:p>
          </p:txBody>
        </p:sp>
        <p:sp>
          <p:nvSpPr>
            <p:cNvPr id="175112" name="Freeform 8"/>
            <p:cNvSpPr>
              <a:spLocks/>
            </p:cNvSpPr>
            <p:nvPr/>
          </p:nvSpPr>
          <p:spPr bwMode="auto">
            <a:xfrm>
              <a:off x="3727" y="1354"/>
              <a:ext cx="1343" cy="1767"/>
            </a:xfrm>
            <a:custGeom>
              <a:avLst/>
              <a:gdLst/>
              <a:ahLst/>
              <a:cxnLst>
                <a:cxn ang="0">
                  <a:pos x="1308" y="1761"/>
                </a:cxn>
                <a:cxn ang="0">
                  <a:pos x="1246" y="1745"/>
                </a:cxn>
                <a:cxn ang="0">
                  <a:pos x="1188" y="1723"/>
                </a:cxn>
                <a:cxn ang="0">
                  <a:pos x="1129" y="1704"/>
                </a:cxn>
                <a:cxn ang="0">
                  <a:pos x="1070" y="1685"/>
                </a:cxn>
                <a:cxn ang="0">
                  <a:pos x="1005" y="1672"/>
                </a:cxn>
                <a:cxn ang="0">
                  <a:pos x="929" y="1672"/>
                </a:cxn>
                <a:cxn ang="0">
                  <a:pos x="839" y="1681"/>
                </a:cxn>
                <a:cxn ang="0">
                  <a:pos x="732" y="1713"/>
                </a:cxn>
                <a:cxn ang="0">
                  <a:pos x="621" y="1729"/>
                </a:cxn>
                <a:cxn ang="0">
                  <a:pos x="518" y="1726"/>
                </a:cxn>
                <a:cxn ang="0">
                  <a:pos x="421" y="1710"/>
                </a:cxn>
                <a:cxn ang="0">
                  <a:pos x="328" y="1685"/>
                </a:cxn>
                <a:cxn ang="0">
                  <a:pos x="238" y="1656"/>
                </a:cxn>
                <a:cxn ang="0">
                  <a:pos x="145" y="1627"/>
                </a:cxn>
                <a:cxn ang="0">
                  <a:pos x="48" y="1602"/>
                </a:cxn>
                <a:cxn ang="0">
                  <a:pos x="0" y="0"/>
                </a:cxn>
                <a:cxn ang="0">
                  <a:pos x="96" y="19"/>
                </a:cxn>
                <a:cxn ang="0">
                  <a:pos x="190" y="44"/>
                </a:cxn>
                <a:cxn ang="0">
                  <a:pos x="283" y="73"/>
                </a:cxn>
                <a:cxn ang="0">
                  <a:pos x="376" y="101"/>
                </a:cxn>
                <a:cxn ang="0">
                  <a:pos x="469" y="124"/>
                </a:cxn>
                <a:cxn ang="0">
                  <a:pos x="569" y="136"/>
                </a:cxn>
                <a:cxn ang="0">
                  <a:pos x="676" y="130"/>
                </a:cxn>
                <a:cxn ang="0">
                  <a:pos x="790" y="101"/>
                </a:cxn>
                <a:cxn ang="0">
                  <a:pos x="887" y="79"/>
                </a:cxn>
                <a:cxn ang="0">
                  <a:pos x="967" y="76"/>
                </a:cxn>
                <a:cxn ang="0">
                  <a:pos x="1039" y="82"/>
                </a:cxn>
                <a:cxn ang="0">
                  <a:pos x="1101" y="98"/>
                </a:cxn>
                <a:cxn ang="0">
                  <a:pos x="1160" y="117"/>
                </a:cxn>
                <a:cxn ang="0">
                  <a:pos x="1215" y="139"/>
                </a:cxn>
                <a:cxn ang="0">
                  <a:pos x="1277" y="159"/>
                </a:cxn>
                <a:cxn ang="0">
                  <a:pos x="1343" y="171"/>
                </a:cxn>
              </a:cxnLst>
              <a:rect l="0" t="0" r="r" b="b"/>
              <a:pathLst>
                <a:path w="1343" h="1767">
                  <a:moveTo>
                    <a:pt x="1343" y="1767"/>
                  </a:moveTo>
                  <a:lnTo>
                    <a:pt x="1308" y="1761"/>
                  </a:lnTo>
                  <a:lnTo>
                    <a:pt x="1277" y="1754"/>
                  </a:lnTo>
                  <a:lnTo>
                    <a:pt x="1246" y="1745"/>
                  </a:lnTo>
                  <a:lnTo>
                    <a:pt x="1215" y="1735"/>
                  </a:lnTo>
                  <a:lnTo>
                    <a:pt x="1188" y="1723"/>
                  </a:lnTo>
                  <a:lnTo>
                    <a:pt x="1160" y="1713"/>
                  </a:lnTo>
                  <a:lnTo>
                    <a:pt x="1129" y="1704"/>
                  </a:lnTo>
                  <a:lnTo>
                    <a:pt x="1101" y="1691"/>
                  </a:lnTo>
                  <a:lnTo>
                    <a:pt x="1070" y="1685"/>
                  </a:lnTo>
                  <a:lnTo>
                    <a:pt x="1039" y="1678"/>
                  </a:lnTo>
                  <a:lnTo>
                    <a:pt x="1005" y="1672"/>
                  </a:lnTo>
                  <a:lnTo>
                    <a:pt x="967" y="1669"/>
                  </a:lnTo>
                  <a:lnTo>
                    <a:pt x="929" y="1672"/>
                  </a:lnTo>
                  <a:lnTo>
                    <a:pt x="887" y="1675"/>
                  </a:lnTo>
                  <a:lnTo>
                    <a:pt x="839" y="1681"/>
                  </a:lnTo>
                  <a:lnTo>
                    <a:pt x="790" y="1694"/>
                  </a:lnTo>
                  <a:lnTo>
                    <a:pt x="732" y="1713"/>
                  </a:lnTo>
                  <a:lnTo>
                    <a:pt x="676" y="1723"/>
                  </a:lnTo>
                  <a:lnTo>
                    <a:pt x="621" y="1729"/>
                  </a:lnTo>
                  <a:lnTo>
                    <a:pt x="569" y="1729"/>
                  </a:lnTo>
                  <a:lnTo>
                    <a:pt x="518" y="1726"/>
                  </a:lnTo>
                  <a:lnTo>
                    <a:pt x="469" y="1719"/>
                  </a:lnTo>
                  <a:lnTo>
                    <a:pt x="421" y="1710"/>
                  </a:lnTo>
                  <a:lnTo>
                    <a:pt x="376" y="1697"/>
                  </a:lnTo>
                  <a:lnTo>
                    <a:pt x="328" y="1685"/>
                  </a:lnTo>
                  <a:lnTo>
                    <a:pt x="283" y="1669"/>
                  </a:lnTo>
                  <a:lnTo>
                    <a:pt x="238" y="1656"/>
                  </a:lnTo>
                  <a:lnTo>
                    <a:pt x="190" y="1640"/>
                  </a:lnTo>
                  <a:lnTo>
                    <a:pt x="145" y="1627"/>
                  </a:lnTo>
                  <a:lnTo>
                    <a:pt x="96" y="1615"/>
                  </a:lnTo>
                  <a:lnTo>
                    <a:pt x="48" y="1602"/>
                  </a:lnTo>
                  <a:lnTo>
                    <a:pt x="0" y="1596"/>
                  </a:lnTo>
                  <a:lnTo>
                    <a:pt x="0" y="0"/>
                  </a:lnTo>
                  <a:lnTo>
                    <a:pt x="48" y="6"/>
                  </a:lnTo>
                  <a:lnTo>
                    <a:pt x="96" y="19"/>
                  </a:lnTo>
                  <a:lnTo>
                    <a:pt x="145" y="32"/>
                  </a:lnTo>
                  <a:lnTo>
                    <a:pt x="190" y="44"/>
                  </a:lnTo>
                  <a:lnTo>
                    <a:pt x="238" y="60"/>
                  </a:lnTo>
                  <a:lnTo>
                    <a:pt x="283" y="73"/>
                  </a:lnTo>
                  <a:lnTo>
                    <a:pt x="328" y="89"/>
                  </a:lnTo>
                  <a:lnTo>
                    <a:pt x="376" y="101"/>
                  </a:lnTo>
                  <a:lnTo>
                    <a:pt x="421" y="114"/>
                  </a:lnTo>
                  <a:lnTo>
                    <a:pt x="469" y="124"/>
                  </a:lnTo>
                  <a:lnTo>
                    <a:pt x="518" y="133"/>
                  </a:lnTo>
                  <a:lnTo>
                    <a:pt x="569" y="136"/>
                  </a:lnTo>
                  <a:lnTo>
                    <a:pt x="621" y="136"/>
                  </a:lnTo>
                  <a:lnTo>
                    <a:pt x="676" y="130"/>
                  </a:lnTo>
                  <a:lnTo>
                    <a:pt x="732" y="117"/>
                  </a:lnTo>
                  <a:lnTo>
                    <a:pt x="790" y="101"/>
                  </a:lnTo>
                  <a:lnTo>
                    <a:pt x="839" y="89"/>
                  </a:lnTo>
                  <a:lnTo>
                    <a:pt x="887" y="79"/>
                  </a:lnTo>
                  <a:lnTo>
                    <a:pt x="929" y="76"/>
                  </a:lnTo>
                  <a:lnTo>
                    <a:pt x="967" y="76"/>
                  </a:lnTo>
                  <a:lnTo>
                    <a:pt x="1005" y="76"/>
                  </a:lnTo>
                  <a:lnTo>
                    <a:pt x="1039" y="82"/>
                  </a:lnTo>
                  <a:lnTo>
                    <a:pt x="1070" y="89"/>
                  </a:lnTo>
                  <a:lnTo>
                    <a:pt x="1101" y="98"/>
                  </a:lnTo>
                  <a:lnTo>
                    <a:pt x="1129" y="108"/>
                  </a:lnTo>
                  <a:lnTo>
                    <a:pt x="1160" y="117"/>
                  </a:lnTo>
                  <a:lnTo>
                    <a:pt x="1188" y="127"/>
                  </a:lnTo>
                  <a:lnTo>
                    <a:pt x="1215" y="139"/>
                  </a:lnTo>
                  <a:lnTo>
                    <a:pt x="1246" y="149"/>
                  </a:lnTo>
                  <a:lnTo>
                    <a:pt x="1277" y="159"/>
                  </a:lnTo>
                  <a:lnTo>
                    <a:pt x="1308" y="165"/>
                  </a:lnTo>
                  <a:lnTo>
                    <a:pt x="1343" y="171"/>
                  </a:lnTo>
                  <a:lnTo>
                    <a:pt x="1343" y="1767"/>
                  </a:lnTo>
                  <a:close/>
                </a:path>
              </a:pathLst>
            </a:custGeom>
            <a:solidFill>
              <a:srgbClr val="FFFFFF"/>
            </a:solidFill>
            <a:ln w="9525">
              <a:noFill/>
              <a:round/>
              <a:headEnd/>
              <a:tailEnd/>
            </a:ln>
          </p:spPr>
          <p:txBody>
            <a:bodyPr/>
            <a:lstStyle/>
            <a:p>
              <a:endParaRPr lang="en-GB"/>
            </a:p>
          </p:txBody>
        </p:sp>
        <p:sp>
          <p:nvSpPr>
            <p:cNvPr id="175113" name="Freeform 9"/>
            <p:cNvSpPr>
              <a:spLocks/>
            </p:cNvSpPr>
            <p:nvPr/>
          </p:nvSpPr>
          <p:spPr bwMode="auto">
            <a:xfrm>
              <a:off x="3727" y="1354"/>
              <a:ext cx="1343" cy="1767"/>
            </a:xfrm>
            <a:custGeom>
              <a:avLst/>
              <a:gdLst/>
              <a:ahLst/>
              <a:cxnLst>
                <a:cxn ang="0">
                  <a:pos x="1343" y="1767"/>
                </a:cxn>
                <a:cxn ang="0">
                  <a:pos x="1277" y="1754"/>
                </a:cxn>
                <a:cxn ang="0">
                  <a:pos x="1215" y="1735"/>
                </a:cxn>
                <a:cxn ang="0">
                  <a:pos x="1160" y="1713"/>
                </a:cxn>
                <a:cxn ang="0">
                  <a:pos x="1101" y="1691"/>
                </a:cxn>
                <a:cxn ang="0">
                  <a:pos x="1039" y="1678"/>
                </a:cxn>
                <a:cxn ang="0">
                  <a:pos x="967" y="1669"/>
                </a:cxn>
                <a:cxn ang="0">
                  <a:pos x="887" y="1675"/>
                </a:cxn>
                <a:cxn ang="0">
                  <a:pos x="790" y="1694"/>
                </a:cxn>
                <a:cxn ang="0">
                  <a:pos x="732" y="1713"/>
                </a:cxn>
                <a:cxn ang="0">
                  <a:pos x="621" y="1729"/>
                </a:cxn>
                <a:cxn ang="0">
                  <a:pos x="518" y="1726"/>
                </a:cxn>
                <a:cxn ang="0">
                  <a:pos x="421" y="1710"/>
                </a:cxn>
                <a:cxn ang="0">
                  <a:pos x="328" y="1685"/>
                </a:cxn>
                <a:cxn ang="0">
                  <a:pos x="238" y="1656"/>
                </a:cxn>
                <a:cxn ang="0">
                  <a:pos x="145" y="1627"/>
                </a:cxn>
                <a:cxn ang="0">
                  <a:pos x="48" y="1602"/>
                </a:cxn>
                <a:cxn ang="0">
                  <a:pos x="0" y="0"/>
                </a:cxn>
                <a:cxn ang="0">
                  <a:pos x="48" y="6"/>
                </a:cxn>
                <a:cxn ang="0">
                  <a:pos x="145" y="32"/>
                </a:cxn>
                <a:cxn ang="0">
                  <a:pos x="238" y="60"/>
                </a:cxn>
                <a:cxn ang="0">
                  <a:pos x="328" y="89"/>
                </a:cxn>
                <a:cxn ang="0">
                  <a:pos x="421" y="114"/>
                </a:cxn>
                <a:cxn ang="0">
                  <a:pos x="518" y="133"/>
                </a:cxn>
                <a:cxn ang="0">
                  <a:pos x="621" y="136"/>
                </a:cxn>
                <a:cxn ang="0">
                  <a:pos x="732" y="117"/>
                </a:cxn>
                <a:cxn ang="0">
                  <a:pos x="790" y="101"/>
                </a:cxn>
                <a:cxn ang="0">
                  <a:pos x="887" y="79"/>
                </a:cxn>
                <a:cxn ang="0">
                  <a:pos x="967" y="76"/>
                </a:cxn>
                <a:cxn ang="0">
                  <a:pos x="1039" y="82"/>
                </a:cxn>
                <a:cxn ang="0">
                  <a:pos x="1101" y="98"/>
                </a:cxn>
                <a:cxn ang="0">
                  <a:pos x="1160" y="117"/>
                </a:cxn>
                <a:cxn ang="0">
                  <a:pos x="1215" y="139"/>
                </a:cxn>
                <a:cxn ang="0">
                  <a:pos x="1277" y="159"/>
                </a:cxn>
                <a:cxn ang="0">
                  <a:pos x="1343" y="171"/>
                </a:cxn>
              </a:cxnLst>
              <a:rect l="0" t="0" r="r" b="b"/>
              <a:pathLst>
                <a:path w="1343" h="1767">
                  <a:moveTo>
                    <a:pt x="1343" y="1767"/>
                  </a:moveTo>
                  <a:lnTo>
                    <a:pt x="1343" y="1767"/>
                  </a:lnTo>
                  <a:lnTo>
                    <a:pt x="1308" y="1761"/>
                  </a:lnTo>
                  <a:lnTo>
                    <a:pt x="1277" y="1754"/>
                  </a:lnTo>
                  <a:lnTo>
                    <a:pt x="1246" y="1745"/>
                  </a:lnTo>
                  <a:lnTo>
                    <a:pt x="1215" y="1735"/>
                  </a:lnTo>
                  <a:lnTo>
                    <a:pt x="1188" y="1723"/>
                  </a:lnTo>
                  <a:lnTo>
                    <a:pt x="1160" y="1713"/>
                  </a:lnTo>
                  <a:lnTo>
                    <a:pt x="1129" y="1704"/>
                  </a:lnTo>
                  <a:lnTo>
                    <a:pt x="1101" y="1691"/>
                  </a:lnTo>
                  <a:lnTo>
                    <a:pt x="1070" y="1685"/>
                  </a:lnTo>
                  <a:lnTo>
                    <a:pt x="1039" y="1678"/>
                  </a:lnTo>
                  <a:lnTo>
                    <a:pt x="1005" y="1672"/>
                  </a:lnTo>
                  <a:lnTo>
                    <a:pt x="967" y="1669"/>
                  </a:lnTo>
                  <a:lnTo>
                    <a:pt x="929" y="1672"/>
                  </a:lnTo>
                  <a:lnTo>
                    <a:pt x="887" y="1675"/>
                  </a:lnTo>
                  <a:lnTo>
                    <a:pt x="839" y="1681"/>
                  </a:lnTo>
                  <a:lnTo>
                    <a:pt x="790" y="1694"/>
                  </a:lnTo>
                  <a:lnTo>
                    <a:pt x="790" y="1694"/>
                  </a:lnTo>
                  <a:lnTo>
                    <a:pt x="732" y="1713"/>
                  </a:lnTo>
                  <a:lnTo>
                    <a:pt x="676" y="1723"/>
                  </a:lnTo>
                  <a:lnTo>
                    <a:pt x="621" y="1729"/>
                  </a:lnTo>
                  <a:lnTo>
                    <a:pt x="569" y="1729"/>
                  </a:lnTo>
                  <a:lnTo>
                    <a:pt x="518" y="1726"/>
                  </a:lnTo>
                  <a:lnTo>
                    <a:pt x="469" y="1719"/>
                  </a:lnTo>
                  <a:lnTo>
                    <a:pt x="421" y="1710"/>
                  </a:lnTo>
                  <a:lnTo>
                    <a:pt x="376" y="1697"/>
                  </a:lnTo>
                  <a:lnTo>
                    <a:pt x="328" y="1685"/>
                  </a:lnTo>
                  <a:lnTo>
                    <a:pt x="283" y="1669"/>
                  </a:lnTo>
                  <a:lnTo>
                    <a:pt x="238" y="1656"/>
                  </a:lnTo>
                  <a:lnTo>
                    <a:pt x="190" y="1640"/>
                  </a:lnTo>
                  <a:lnTo>
                    <a:pt x="145" y="1627"/>
                  </a:lnTo>
                  <a:lnTo>
                    <a:pt x="96" y="1615"/>
                  </a:lnTo>
                  <a:lnTo>
                    <a:pt x="48" y="1602"/>
                  </a:lnTo>
                  <a:lnTo>
                    <a:pt x="0" y="1596"/>
                  </a:lnTo>
                  <a:lnTo>
                    <a:pt x="0" y="0"/>
                  </a:lnTo>
                  <a:lnTo>
                    <a:pt x="0" y="0"/>
                  </a:lnTo>
                  <a:lnTo>
                    <a:pt x="48" y="6"/>
                  </a:lnTo>
                  <a:lnTo>
                    <a:pt x="96" y="19"/>
                  </a:lnTo>
                  <a:lnTo>
                    <a:pt x="145" y="32"/>
                  </a:lnTo>
                  <a:lnTo>
                    <a:pt x="190" y="44"/>
                  </a:lnTo>
                  <a:lnTo>
                    <a:pt x="238" y="60"/>
                  </a:lnTo>
                  <a:lnTo>
                    <a:pt x="283" y="73"/>
                  </a:lnTo>
                  <a:lnTo>
                    <a:pt x="328" y="89"/>
                  </a:lnTo>
                  <a:lnTo>
                    <a:pt x="376" y="101"/>
                  </a:lnTo>
                  <a:lnTo>
                    <a:pt x="421" y="114"/>
                  </a:lnTo>
                  <a:lnTo>
                    <a:pt x="469" y="124"/>
                  </a:lnTo>
                  <a:lnTo>
                    <a:pt x="518" y="133"/>
                  </a:lnTo>
                  <a:lnTo>
                    <a:pt x="569" y="136"/>
                  </a:lnTo>
                  <a:lnTo>
                    <a:pt x="621" y="136"/>
                  </a:lnTo>
                  <a:lnTo>
                    <a:pt x="676" y="130"/>
                  </a:lnTo>
                  <a:lnTo>
                    <a:pt x="732" y="117"/>
                  </a:lnTo>
                  <a:lnTo>
                    <a:pt x="790" y="101"/>
                  </a:lnTo>
                  <a:lnTo>
                    <a:pt x="790" y="101"/>
                  </a:lnTo>
                  <a:lnTo>
                    <a:pt x="839" y="89"/>
                  </a:lnTo>
                  <a:lnTo>
                    <a:pt x="887" y="79"/>
                  </a:lnTo>
                  <a:lnTo>
                    <a:pt x="929" y="76"/>
                  </a:lnTo>
                  <a:lnTo>
                    <a:pt x="967" y="76"/>
                  </a:lnTo>
                  <a:lnTo>
                    <a:pt x="1005" y="76"/>
                  </a:lnTo>
                  <a:lnTo>
                    <a:pt x="1039" y="82"/>
                  </a:lnTo>
                  <a:lnTo>
                    <a:pt x="1070" y="89"/>
                  </a:lnTo>
                  <a:lnTo>
                    <a:pt x="1101" y="98"/>
                  </a:lnTo>
                  <a:lnTo>
                    <a:pt x="1129" y="108"/>
                  </a:lnTo>
                  <a:lnTo>
                    <a:pt x="1160" y="117"/>
                  </a:lnTo>
                  <a:lnTo>
                    <a:pt x="1188" y="127"/>
                  </a:lnTo>
                  <a:lnTo>
                    <a:pt x="1215" y="139"/>
                  </a:lnTo>
                  <a:lnTo>
                    <a:pt x="1246" y="149"/>
                  </a:lnTo>
                  <a:lnTo>
                    <a:pt x="1277" y="159"/>
                  </a:lnTo>
                  <a:lnTo>
                    <a:pt x="1308" y="165"/>
                  </a:lnTo>
                  <a:lnTo>
                    <a:pt x="1343" y="171"/>
                  </a:lnTo>
                  <a:lnTo>
                    <a:pt x="1343" y="1767"/>
                  </a:lnTo>
                </a:path>
              </a:pathLst>
            </a:custGeom>
            <a:noFill/>
            <a:ln w="0">
              <a:noFill/>
              <a:prstDash val="solid"/>
              <a:round/>
              <a:headEnd/>
              <a:tailEnd/>
            </a:ln>
          </p:spPr>
          <p:txBody>
            <a:bodyPr/>
            <a:lstStyle/>
            <a:p>
              <a:endParaRPr lang="en-GB"/>
            </a:p>
          </p:txBody>
        </p:sp>
        <p:sp>
          <p:nvSpPr>
            <p:cNvPr id="175114" name="Freeform 10"/>
            <p:cNvSpPr>
              <a:spLocks/>
            </p:cNvSpPr>
            <p:nvPr/>
          </p:nvSpPr>
          <p:spPr bwMode="auto">
            <a:xfrm>
              <a:off x="3623" y="1227"/>
              <a:ext cx="1343" cy="1767"/>
            </a:xfrm>
            <a:custGeom>
              <a:avLst/>
              <a:gdLst/>
              <a:ahLst/>
              <a:cxnLst>
                <a:cxn ang="0">
                  <a:pos x="1309" y="1761"/>
                </a:cxn>
                <a:cxn ang="0">
                  <a:pos x="1247" y="1745"/>
                </a:cxn>
                <a:cxn ang="0">
                  <a:pos x="1188" y="1723"/>
                </a:cxn>
                <a:cxn ang="0">
                  <a:pos x="1129" y="1704"/>
                </a:cxn>
                <a:cxn ang="0">
                  <a:pos x="1071" y="1685"/>
                </a:cxn>
                <a:cxn ang="0">
                  <a:pos x="1005" y="1672"/>
                </a:cxn>
                <a:cxn ang="0">
                  <a:pos x="929" y="1672"/>
                </a:cxn>
                <a:cxn ang="0">
                  <a:pos x="839" y="1681"/>
                </a:cxn>
                <a:cxn ang="0">
                  <a:pos x="732" y="1713"/>
                </a:cxn>
                <a:cxn ang="0">
                  <a:pos x="622" y="1729"/>
                </a:cxn>
                <a:cxn ang="0">
                  <a:pos x="518" y="1726"/>
                </a:cxn>
                <a:cxn ang="0">
                  <a:pos x="421" y="1710"/>
                </a:cxn>
                <a:cxn ang="0">
                  <a:pos x="328" y="1685"/>
                </a:cxn>
                <a:cxn ang="0">
                  <a:pos x="238" y="1656"/>
                </a:cxn>
                <a:cxn ang="0">
                  <a:pos x="145" y="1628"/>
                </a:cxn>
                <a:cxn ang="0">
                  <a:pos x="48" y="1602"/>
                </a:cxn>
                <a:cxn ang="0">
                  <a:pos x="0" y="0"/>
                </a:cxn>
                <a:cxn ang="0">
                  <a:pos x="97" y="19"/>
                </a:cxn>
                <a:cxn ang="0">
                  <a:pos x="190" y="44"/>
                </a:cxn>
                <a:cxn ang="0">
                  <a:pos x="283" y="73"/>
                </a:cxn>
                <a:cxn ang="0">
                  <a:pos x="376" y="102"/>
                </a:cxn>
                <a:cxn ang="0">
                  <a:pos x="470" y="124"/>
                </a:cxn>
                <a:cxn ang="0">
                  <a:pos x="570" y="136"/>
                </a:cxn>
                <a:cxn ang="0">
                  <a:pos x="677" y="130"/>
                </a:cxn>
                <a:cxn ang="0">
                  <a:pos x="791" y="102"/>
                </a:cxn>
                <a:cxn ang="0">
                  <a:pos x="888" y="79"/>
                </a:cxn>
                <a:cxn ang="0">
                  <a:pos x="967" y="76"/>
                </a:cxn>
                <a:cxn ang="0">
                  <a:pos x="1039" y="82"/>
                </a:cxn>
                <a:cxn ang="0">
                  <a:pos x="1102" y="98"/>
                </a:cxn>
                <a:cxn ang="0">
                  <a:pos x="1160" y="117"/>
                </a:cxn>
                <a:cxn ang="0">
                  <a:pos x="1216" y="140"/>
                </a:cxn>
                <a:cxn ang="0">
                  <a:pos x="1278" y="159"/>
                </a:cxn>
                <a:cxn ang="0">
                  <a:pos x="1343" y="171"/>
                </a:cxn>
              </a:cxnLst>
              <a:rect l="0" t="0" r="r" b="b"/>
              <a:pathLst>
                <a:path w="1343" h="1767">
                  <a:moveTo>
                    <a:pt x="1343" y="1767"/>
                  </a:moveTo>
                  <a:lnTo>
                    <a:pt x="1309" y="1761"/>
                  </a:lnTo>
                  <a:lnTo>
                    <a:pt x="1278" y="1754"/>
                  </a:lnTo>
                  <a:lnTo>
                    <a:pt x="1247" y="1745"/>
                  </a:lnTo>
                  <a:lnTo>
                    <a:pt x="1216" y="1735"/>
                  </a:lnTo>
                  <a:lnTo>
                    <a:pt x="1188" y="1723"/>
                  </a:lnTo>
                  <a:lnTo>
                    <a:pt x="1160" y="1713"/>
                  </a:lnTo>
                  <a:lnTo>
                    <a:pt x="1129" y="1704"/>
                  </a:lnTo>
                  <a:lnTo>
                    <a:pt x="1102" y="1691"/>
                  </a:lnTo>
                  <a:lnTo>
                    <a:pt x="1071" y="1685"/>
                  </a:lnTo>
                  <a:lnTo>
                    <a:pt x="1039" y="1678"/>
                  </a:lnTo>
                  <a:lnTo>
                    <a:pt x="1005" y="1672"/>
                  </a:lnTo>
                  <a:lnTo>
                    <a:pt x="967" y="1669"/>
                  </a:lnTo>
                  <a:lnTo>
                    <a:pt x="929" y="1672"/>
                  </a:lnTo>
                  <a:lnTo>
                    <a:pt x="888" y="1675"/>
                  </a:lnTo>
                  <a:lnTo>
                    <a:pt x="839" y="1681"/>
                  </a:lnTo>
                  <a:lnTo>
                    <a:pt x="791" y="1694"/>
                  </a:lnTo>
                  <a:lnTo>
                    <a:pt x="732" y="1713"/>
                  </a:lnTo>
                  <a:lnTo>
                    <a:pt x="677" y="1723"/>
                  </a:lnTo>
                  <a:lnTo>
                    <a:pt x="622" y="1729"/>
                  </a:lnTo>
                  <a:lnTo>
                    <a:pt x="570" y="1729"/>
                  </a:lnTo>
                  <a:lnTo>
                    <a:pt x="518" y="1726"/>
                  </a:lnTo>
                  <a:lnTo>
                    <a:pt x="470" y="1720"/>
                  </a:lnTo>
                  <a:lnTo>
                    <a:pt x="421" y="1710"/>
                  </a:lnTo>
                  <a:lnTo>
                    <a:pt x="376" y="1697"/>
                  </a:lnTo>
                  <a:lnTo>
                    <a:pt x="328" y="1685"/>
                  </a:lnTo>
                  <a:lnTo>
                    <a:pt x="283" y="1669"/>
                  </a:lnTo>
                  <a:lnTo>
                    <a:pt x="238" y="1656"/>
                  </a:lnTo>
                  <a:lnTo>
                    <a:pt x="190" y="1640"/>
                  </a:lnTo>
                  <a:lnTo>
                    <a:pt x="145" y="1628"/>
                  </a:lnTo>
                  <a:lnTo>
                    <a:pt x="97" y="1615"/>
                  </a:lnTo>
                  <a:lnTo>
                    <a:pt x="48" y="1602"/>
                  </a:lnTo>
                  <a:lnTo>
                    <a:pt x="0" y="1596"/>
                  </a:lnTo>
                  <a:lnTo>
                    <a:pt x="0" y="0"/>
                  </a:lnTo>
                  <a:lnTo>
                    <a:pt x="48" y="6"/>
                  </a:lnTo>
                  <a:lnTo>
                    <a:pt x="97" y="19"/>
                  </a:lnTo>
                  <a:lnTo>
                    <a:pt x="145" y="32"/>
                  </a:lnTo>
                  <a:lnTo>
                    <a:pt x="190" y="44"/>
                  </a:lnTo>
                  <a:lnTo>
                    <a:pt x="238" y="60"/>
                  </a:lnTo>
                  <a:lnTo>
                    <a:pt x="283" y="73"/>
                  </a:lnTo>
                  <a:lnTo>
                    <a:pt x="328" y="89"/>
                  </a:lnTo>
                  <a:lnTo>
                    <a:pt x="376" y="102"/>
                  </a:lnTo>
                  <a:lnTo>
                    <a:pt x="421" y="114"/>
                  </a:lnTo>
                  <a:lnTo>
                    <a:pt x="470" y="124"/>
                  </a:lnTo>
                  <a:lnTo>
                    <a:pt x="518" y="133"/>
                  </a:lnTo>
                  <a:lnTo>
                    <a:pt x="570" y="136"/>
                  </a:lnTo>
                  <a:lnTo>
                    <a:pt x="622" y="136"/>
                  </a:lnTo>
                  <a:lnTo>
                    <a:pt x="677" y="130"/>
                  </a:lnTo>
                  <a:lnTo>
                    <a:pt x="732" y="117"/>
                  </a:lnTo>
                  <a:lnTo>
                    <a:pt x="791" y="102"/>
                  </a:lnTo>
                  <a:lnTo>
                    <a:pt x="839" y="89"/>
                  </a:lnTo>
                  <a:lnTo>
                    <a:pt x="888" y="79"/>
                  </a:lnTo>
                  <a:lnTo>
                    <a:pt x="929" y="76"/>
                  </a:lnTo>
                  <a:lnTo>
                    <a:pt x="967" y="76"/>
                  </a:lnTo>
                  <a:lnTo>
                    <a:pt x="1005" y="76"/>
                  </a:lnTo>
                  <a:lnTo>
                    <a:pt x="1039" y="82"/>
                  </a:lnTo>
                  <a:lnTo>
                    <a:pt x="1071" y="89"/>
                  </a:lnTo>
                  <a:lnTo>
                    <a:pt x="1102" y="98"/>
                  </a:lnTo>
                  <a:lnTo>
                    <a:pt x="1129" y="108"/>
                  </a:lnTo>
                  <a:lnTo>
                    <a:pt x="1160" y="117"/>
                  </a:lnTo>
                  <a:lnTo>
                    <a:pt x="1188" y="127"/>
                  </a:lnTo>
                  <a:lnTo>
                    <a:pt x="1216" y="140"/>
                  </a:lnTo>
                  <a:lnTo>
                    <a:pt x="1247" y="149"/>
                  </a:lnTo>
                  <a:lnTo>
                    <a:pt x="1278" y="159"/>
                  </a:lnTo>
                  <a:lnTo>
                    <a:pt x="1309" y="165"/>
                  </a:lnTo>
                  <a:lnTo>
                    <a:pt x="1343" y="171"/>
                  </a:lnTo>
                  <a:lnTo>
                    <a:pt x="1343" y="1767"/>
                  </a:lnTo>
                  <a:close/>
                </a:path>
              </a:pathLst>
            </a:custGeom>
            <a:solidFill>
              <a:srgbClr val="CECECE"/>
            </a:solidFill>
            <a:ln w="9525">
              <a:noFill/>
              <a:round/>
              <a:headEnd/>
              <a:tailEnd/>
            </a:ln>
          </p:spPr>
          <p:txBody>
            <a:bodyPr/>
            <a:lstStyle/>
            <a:p>
              <a:endParaRPr lang="en-GB"/>
            </a:p>
          </p:txBody>
        </p:sp>
        <p:sp>
          <p:nvSpPr>
            <p:cNvPr id="175115" name="Freeform 11"/>
            <p:cNvSpPr>
              <a:spLocks/>
            </p:cNvSpPr>
            <p:nvPr/>
          </p:nvSpPr>
          <p:spPr bwMode="auto">
            <a:xfrm>
              <a:off x="3623" y="1227"/>
              <a:ext cx="1343" cy="1767"/>
            </a:xfrm>
            <a:custGeom>
              <a:avLst/>
              <a:gdLst/>
              <a:ahLst/>
              <a:cxnLst>
                <a:cxn ang="0">
                  <a:pos x="1343" y="1767"/>
                </a:cxn>
                <a:cxn ang="0">
                  <a:pos x="1278" y="1754"/>
                </a:cxn>
                <a:cxn ang="0">
                  <a:pos x="1216" y="1735"/>
                </a:cxn>
                <a:cxn ang="0">
                  <a:pos x="1160" y="1713"/>
                </a:cxn>
                <a:cxn ang="0">
                  <a:pos x="1102" y="1691"/>
                </a:cxn>
                <a:cxn ang="0">
                  <a:pos x="1039" y="1678"/>
                </a:cxn>
                <a:cxn ang="0">
                  <a:pos x="967" y="1669"/>
                </a:cxn>
                <a:cxn ang="0">
                  <a:pos x="888" y="1675"/>
                </a:cxn>
                <a:cxn ang="0">
                  <a:pos x="791" y="1694"/>
                </a:cxn>
                <a:cxn ang="0">
                  <a:pos x="732" y="1713"/>
                </a:cxn>
                <a:cxn ang="0">
                  <a:pos x="622" y="1729"/>
                </a:cxn>
                <a:cxn ang="0">
                  <a:pos x="518" y="1726"/>
                </a:cxn>
                <a:cxn ang="0">
                  <a:pos x="421" y="1710"/>
                </a:cxn>
                <a:cxn ang="0">
                  <a:pos x="328" y="1685"/>
                </a:cxn>
                <a:cxn ang="0">
                  <a:pos x="238" y="1656"/>
                </a:cxn>
                <a:cxn ang="0">
                  <a:pos x="145" y="1628"/>
                </a:cxn>
                <a:cxn ang="0">
                  <a:pos x="48" y="1602"/>
                </a:cxn>
                <a:cxn ang="0">
                  <a:pos x="0" y="0"/>
                </a:cxn>
                <a:cxn ang="0">
                  <a:pos x="48" y="6"/>
                </a:cxn>
                <a:cxn ang="0">
                  <a:pos x="145" y="32"/>
                </a:cxn>
                <a:cxn ang="0">
                  <a:pos x="238" y="60"/>
                </a:cxn>
                <a:cxn ang="0">
                  <a:pos x="328" y="89"/>
                </a:cxn>
                <a:cxn ang="0">
                  <a:pos x="421" y="114"/>
                </a:cxn>
                <a:cxn ang="0">
                  <a:pos x="518" y="133"/>
                </a:cxn>
                <a:cxn ang="0">
                  <a:pos x="622" y="136"/>
                </a:cxn>
                <a:cxn ang="0">
                  <a:pos x="732" y="117"/>
                </a:cxn>
                <a:cxn ang="0">
                  <a:pos x="791" y="102"/>
                </a:cxn>
                <a:cxn ang="0">
                  <a:pos x="888" y="79"/>
                </a:cxn>
                <a:cxn ang="0">
                  <a:pos x="967" y="76"/>
                </a:cxn>
                <a:cxn ang="0">
                  <a:pos x="1039" y="82"/>
                </a:cxn>
                <a:cxn ang="0">
                  <a:pos x="1102" y="98"/>
                </a:cxn>
                <a:cxn ang="0">
                  <a:pos x="1160" y="117"/>
                </a:cxn>
                <a:cxn ang="0">
                  <a:pos x="1216" y="140"/>
                </a:cxn>
                <a:cxn ang="0">
                  <a:pos x="1278" y="159"/>
                </a:cxn>
                <a:cxn ang="0">
                  <a:pos x="1343" y="171"/>
                </a:cxn>
              </a:cxnLst>
              <a:rect l="0" t="0" r="r" b="b"/>
              <a:pathLst>
                <a:path w="1343" h="1767">
                  <a:moveTo>
                    <a:pt x="1343" y="1767"/>
                  </a:moveTo>
                  <a:lnTo>
                    <a:pt x="1343" y="1767"/>
                  </a:lnTo>
                  <a:lnTo>
                    <a:pt x="1309" y="1761"/>
                  </a:lnTo>
                  <a:lnTo>
                    <a:pt x="1278" y="1754"/>
                  </a:lnTo>
                  <a:lnTo>
                    <a:pt x="1247" y="1745"/>
                  </a:lnTo>
                  <a:lnTo>
                    <a:pt x="1216" y="1735"/>
                  </a:lnTo>
                  <a:lnTo>
                    <a:pt x="1188" y="1723"/>
                  </a:lnTo>
                  <a:lnTo>
                    <a:pt x="1160" y="1713"/>
                  </a:lnTo>
                  <a:lnTo>
                    <a:pt x="1129" y="1704"/>
                  </a:lnTo>
                  <a:lnTo>
                    <a:pt x="1102" y="1691"/>
                  </a:lnTo>
                  <a:lnTo>
                    <a:pt x="1071" y="1685"/>
                  </a:lnTo>
                  <a:lnTo>
                    <a:pt x="1039" y="1678"/>
                  </a:lnTo>
                  <a:lnTo>
                    <a:pt x="1005" y="1672"/>
                  </a:lnTo>
                  <a:lnTo>
                    <a:pt x="967" y="1669"/>
                  </a:lnTo>
                  <a:lnTo>
                    <a:pt x="929" y="1672"/>
                  </a:lnTo>
                  <a:lnTo>
                    <a:pt x="888" y="1675"/>
                  </a:lnTo>
                  <a:lnTo>
                    <a:pt x="839" y="1681"/>
                  </a:lnTo>
                  <a:lnTo>
                    <a:pt x="791" y="1694"/>
                  </a:lnTo>
                  <a:lnTo>
                    <a:pt x="791" y="1694"/>
                  </a:lnTo>
                  <a:lnTo>
                    <a:pt x="732" y="1713"/>
                  </a:lnTo>
                  <a:lnTo>
                    <a:pt x="677" y="1723"/>
                  </a:lnTo>
                  <a:lnTo>
                    <a:pt x="622" y="1729"/>
                  </a:lnTo>
                  <a:lnTo>
                    <a:pt x="570" y="1729"/>
                  </a:lnTo>
                  <a:lnTo>
                    <a:pt x="518" y="1726"/>
                  </a:lnTo>
                  <a:lnTo>
                    <a:pt x="470" y="1720"/>
                  </a:lnTo>
                  <a:lnTo>
                    <a:pt x="421" y="1710"/>
                  </a:lnTo>
                  <a:lnTo>
                    <a:pt x="376" y="1697"/>
                  </a:lnTo>
                  <a:lnTo>
                    <a:pt x="328" y="1685"/>
                  </a:lnTo>
                  <a:lnTo>
                    <a:pt x="283" y="1669"/>
                  </a:lnTo>
                  <a:lnTo>
                    <a:pt x="238" y="1656"/>
                  </a:lnTo>
                  <a:lnTo>
                    <a:pt x="190" y="1640"/>
                  </a:lnTo>
                  <a:lnTo>
                    <a:pt x="145" y="1628"/>
                  </a:lnTo>
                  <a:lnTo>
                    <a:pt x="97" y="1615"/>
                  </a:lnTo>
                  <a:lnTo>
                    <a:pt x="48" y="1602"/>
                  </a:lnTo>
                  <a:lnTo>
                    <a:pt x="0" y="1596"/>
                  </a:lnTo>
                  <a:lnTo>
                    <a:pt x="0" y="0"/>
                  </a:lnTo>
                  <a:lnTo>
                    <a:pt x="0" y="0"/>
                  </a:lnTo>
                  <a:lnTo>
                    <a:pt x="48" y="6"/>
                  </a:lnTo>
                  <a:lnTo>
                    <a:pt x="97" y="19"/>
                  </a:lnTo>
                  <a:lnTo>
                    <a:pt x="145" y="32"/>
                  </a:lnTo>
                  <a:lnTo>
                    <a:pt x="190" y="44"/>
                  </a:lnTo>
                  <a:lnTo>
                    <a:pt x="238" y="60"/>
                  </a:lnTo>
                  <a:lnTo>
                    <a:pt x="283" y="73"/>
                  </a:lnTo>
                  <a:lnTo>
                    <a:pt x="328" y="89"/>
                  </a:lnTo>
                  <a:lnTo>
                    <a:pt x="376" y="102"/>
                  </a:lnTo>
                  <a:lnTo>
                    <a:pt x="421" y="114"/>
                  </a:lnTo>
                  <a:lnTo>
                    <a:pt x="470" y="124"/>
                  </a:lnTo>
                  <a:lnTo>
                    <a:pt x="518" y="133"/>
                  </a:lnTo>
                  <a:lnTo>
                    <a:pt x="570" y="136"/>
                  </a:lnTo>
                  <a:lnTo>
                    <a:pt x="622" y="136"/>
                  </a:lnTo>
                  <a:lnTo>
                    <a:pt x="677" y="130"/>
                  </a:lnTo>
                  <a:lnTo>
                    <a:pt x="732" y="117"/>
                  </a:lnTo>
                  <a:lnTo>
                    <a:pt x="791" y="102"/>
                  </a:lnTo>
                  <a:lnTo>
                    <a:pt x="791" y="102"/>
                  </a:lnTo>
                  <a:lnTo>
                    <a:pt x="839" y="89"/>
                  </a:lnTo>
                  <a:lnTo>
                    <a:pt x="888" y="79"/>
                  </a:lnTo>
                  <a:lnTo>
                    <a:pt x="929" y="76"/>
                  </a:lnTo>
                  <a:lnTo>
                    <a:pt x="967" y="76"/>
                  </a:lnTo>
                  <a:lnTo>
                    <a:pt x="1005" y="76"/>
                  </a:lnTo>
                  <a:lnTo>
                    <a:pt x="1039" y="82"/>
                  </a:lnTo>
                  <a:lnTo>
                    <a:pt x="1071" y="89"/>
                  </a:lnTo>
                  <a:lnTo>
                    <a:pt x="1102" y="98"/>
                  </a:lnTo>
                  <a:lnTo>
                    <a:pt x="1129" y="108"/>
                  </a:lnTo>
                  <a:lnTo>
                    <a:pt x="1160" y="117"/>
                  </a:lnTo>
                  <a:lnTo>
                    <a:pt x="1188" y="127"/>
                  </a:lnTo>
                  <a:lnTo>
                    <a:pt x="1216" y="140"/>
                  </a:lnTo>
                  <a:lnTo>
                    <a:pt x="1247" y="149"/>
                  </a:lnTo>
                  <a:lnTo>
                    <a:pt x="1278" y="159"/>
                  </a:lnTo>
                  <a:lnTo>
                    <a:pt x="1309" y="165"/>
                  </a:lnTo>
                  <a:lnTo>
                    <a:pt x="1343" y="171"/>
                  </a:lnTo>
                  <a:lnTo>
                    <a:pt x="1343" y="1767"/>
                  </a:lnTo>
                </a:path>
              </a:pathLst>
            </a:custGeom>
            <a:solidFill>
              <a:schemeClr val="accent3">
                <a:lumMod val="50000"/>
              </a:schemeClr>
            </a:solidFill>
            <a:ln w="0">
              <a:noFill/>
              <a:prstDash val="solid"/>
              <a:round/>
              <a:headEnd/>
              <a:tailEnd/>
            </a:ln>
          </p:spPr>
          <p:txBody>
            <a:bodyPr/>
            <a:lstStyle/>
            <a:p>
              <a:endParaRPr lang="en-GB"/>
            </a:p>
          </p:txBody>
        </p:sp>
        <p:sp>
          <p:nvSpPr>
            <p:cNvPr id="175116" name="Text Box 12"/>
            <p:cNvSpPr txBox="1">
              <a:spLocks noChangeArrowheads="1"/>
            </p:cNvSpPr>
            <p:nvPr/>
          </p:nvSpPr>
          <p:spPr bwMode="auto">
            <a:xfrm>
              <a:off x="3726" y="1607"/>
              <a:ext cx="1019" cy="886"/>
            </a:xfrm>
            <a:prstGeom prst="rect">
              <a:avLst/>
            </a:prstGeom>
            <a:noFill/>
            <a:ln w="12700">
              <a:noFill/>
              <a:miter lim="800000"/>
              <a:headEnd type="none" w="sm" len="sm"/>
              <a:tailEnd type="none" w="sm" len="sm"/>
            </a:ln>
            <a:effectLst/>
          </p:spPr>
          <p:txBody>
            <a:bodyPr>
              <a:spAutoFit/>
            </a:bodyPr>
            <a:lstStyle/>
            <a:p>
              <a:pPr algn="ctr" eaLnBrk="0" hangingPunct="0"/>
              <a:r>
                <a:rPr lang="en-US" sz="1400" b="1" dirty="0">
                  <a:solidFill>
                    <a:schemeClr val="bg1"/>
                  </a:solidFill>
                </a:rPr>
                <a:t>Software Requirements Specification (SRS)</a:t>
              </a:r>
            </a:p>
          </p:txBody>
        </p:sp>
      </p:grpSp>
      <p:sp>
        <p:nvSpPr>
          <p:cNvPr id="175117" name="Rectangle 13"/>
          <p:cNvSpPr>
            <a:spLocks noGrp="1" noChangeArrowheads="1"/>
          </p:cNvSpPr>
          <p:nvPr>
            <p:ph type="title"/>
          </p:nvPr>
        </p:nvSpPr>
        <p:spPr/>
        <p:txBody>
          <a:bodyPr/>
          <a:lstStyle/>
          <a:p>
            <a:r>
              <a:rPr lang="en-US" sz="3600"/>
              <a:t>Purpose of Requirements Discipline</a:t>
            </a:r>
          </a:p>
        </p:txBody>
      </p:sp>
      <p:sp>
        <p:nvSpPr>
          <p:cNvPr id="175118" name="Rectangle 14"/>
          <p:cNvSpPr>
            <a:spLocks noGrp="1" noChangeArrowheads="1"/>
          </p:cNvSpPr>
          <p:nvPr>
            <p:ph idx="1"/>
          </p:nvPr>
        </p:nvSpPr>
        <p:spPr>
          <a:xfrm>
            <a:off x="457200" y="1600200"/>
            <a:ext cx="8382000" cy="4525963"/>
          </a:xfrm>
        </p:spPr>
        <p:txBody>
          <a:bodyPr>
            <a:normAutofit lnSpcReduction="10000"/>
          </a:bodyPr>
          <a:lstStyle/>
          <a:p>
            <a:pPr>
              <a:lnSpc>
                <a:spcPct val="80000"/>
              </a:lnSpc>
            </a:pPr>
            <a:r>
              <a:rPr lang="en-US" sz="2000" dirty="0"/>
              <a:t>Requirement captures the basic understanding of the stakeholders.  It must be expressed in a way that facilitates communication, enables validation and supports change</a:t>
            </a:r>
          </a:p>
          <a:p>
            <a:pPr>
              <a:lnSpc>
                <a:spcPct val="80000"/>
              </a:lnSpc>
            </a:pPr>
            <a:r>
              <a:rPr lang="en-US" sz="2000" dirty="0"/>
              <a:t>Basis of communication between all parties</a:t>
            </a:r>
          </a:p>
          <a:p>
            <a:pPr>
              <a:lnSpc>
                <a:spcPct val="80000"/>
              </a:lnSpc>
            </a:pPr>
            <a:r>
              <a:rPr lang="en-US" sz="2000" dirty="0"/>
              <a:t>Contractual agreement between parties</a:t>
            </a:r>
          </a:p>
          <a:p>
            <a:pPr>
              <a:lnSpc>
                <a:spcPct val="80000"/>
              </a:lnSpc>
            </a:pPr>
            <a:r>
              <a:rPr lang="en-US" sz="2000" dirty="0"/>
              <a:t>Input </a:t>
            </a:r>
          </a:p>
          <a:p>
            <a:pPr lvl="1">
              <a:lnSpc>
                <a:spcPct val="80000"/>
              </a:lnSpc>
            </a:pPr>
            <a:r>
              <a:rPr lang="en-US" sz="1800" dirty="0"/>
              <a:t>to design team</a:t>
            </a:r>
          </a:p>
          <a:p>
            <a:pPr lvl="1">
              <a:lnSpc>
                <a:spcPct val="80000"/>
              </a:lnSpc>
            </a:pPr>
            <a:r>
              <a:rPr lang="en-US" sz="1800" dirty="0"/>
              <a:t>to software test</a:t>
            </a:r>
          </a:p>
          <a:p>
            <a:pPr lvl="1">
              <a:lnSpc>
                <a:spcPct val="80000"/>
              </a:lnSpc>
            </a:pPr>
            <a:r>
              <a:rPr lang="en-US" sz="1800" dirty="0"/>
              <a:t>to quality assurance</a:t>
            </a:r>
          </a:p>
          <a:p>
            <a:pPr lvl="1">
              <a:lnSpc>
                <a:spcPct val="80000"/>
              </a:lnSpc>
            </a:pPr>
            <a:r>
              <a:rPr lang="en-US" sz="1800" dirty="0"/>
              <a:t>to user documentation</a:t>
            </a:r>
          </a:p>
          <a:p>
            <a:pPr>
              <a:lnSpc>
                <a:spcPct val="80000"/>
              </a:lnSpc>
            </a:pPr>
            <a:r>
              <a:rPr lang="en-US" sz="2000" dirty="0"/>
              <a:t>The software manager’s reference</a:t>
            </a:r>
          </a:p>
          <a:p>
            <a:pPr>
              <a:lnSpc>
                <a:spcPct val="80000"/>
              </a:lnSpc>
            </a:pPr>
            <a:r>
              <a:rPr lang="en-US" sz="2000" dirty="0"/>
              <a:t>Controls the system’s evolution</a:t>
            </a:r>
          </a:p>
          <a:p>
            <a:pPr>
              <a:lnSpc>
                <a:spcPct val="80000"/>
              </a:lnSpc>
            </a:pPr>
            <a:r>
              <a:rPr lang="en-US" sz="2000" dirty="0"/>
              <a:t>SRS captures the complete software requirements for the system, or a portion of the system</a:t>
            </a:r>
          </a:p>
          <a:p>
            <a:pPr lvl="1">
              <a:lnSpc>
                <a:spcPct val="80000"/>
              </a:lnSpc>
            </a:pPr>
            <a:r>
              <a:rPr lang="en-US" sz="1800" dirty="0"/>
              <a:t>Relies on use case modeling</a:t>
            </a: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r>
              <a:rPr lang="en-US" smtClean="0"/>
              <a:t>Which RE Process Model?</a:t>
            </a:r>
            <a:endParaRPr lang="en-US" dirty="0"/>
          </a:p>
        </p:txBody>
      </p:sp>
      <p:sp>
        <p:nvSpPr>
          <p:cNvPr id="162819" name="Rectangle 3"/>
          <p:cNvSpPr>
            <a:spLocks noGrp="1" noChangeArrowheads="1"/>
          </p:cNvSpPr>
          <p:nvPr>
            <p:ph idx="1"/>
          </p:nvPr>
        </p:nvSpPr>
        <p:spPr/>
        <p:txBody>
          <a:bodyPr>
            <a:normAutofit/>
          </a:bodyPr>
          <a:lstStyle/>
          <a:p>
            <a:r>
              <a:rPr lang="en-US" dirty="0" smtClean="0"/>
              <a:t>RE processes  vary radically from one organization to another</a:t>
            </a:r>
          </a:p>
          <a:p>
            <a:r>
              <a:rPr lang="en-US" dirty="0" smtClean="0"/>
              <a:t>Factors contributing to this variability include</a:t>
            </a:r>
          </a:p>
          <a:p>
            <a:pPr lvl="1"/>
            <a:r>
              <a:rPr lang="en-US" dirty="0" smtClean="0"/>
              <a:t>Technical maturity</a:t>
            </a:r>
          </a:p>
          <a:p>
            <a:pPr lvl="1"/>
            <a:r>
              <a:rPr lang="en-US" dirty="0" smtClean="0"/>
              <a:t>Disciplinary involvement</a:t>
            </a:r>
          </a:p>
          <a:p>
            <a:pPr lvl="1"/>
            <a:r>
              <a:rPr lang="en-US" dirty="0" smtClean="0"/>
              <a:t>Organizational culture</a:t>
            </a:r>
          </a:p>
          <a:p>
            <a:pPr lvl="1"/>
            <a:r>
              <a:rPr lang="en-US" dirty="0" smtClean="0"/>
              <a:t>Application domain</a:t>
            </a:r>
          </a:p>
          <a:p>
            <a:r>
              <a:rPr lang="en-US" dirty="0" smtClean="0"/>
              <a:t>There is therefore no ‘ideal’ requirements engineering process</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anim calcmode="lin" valueType="num">
                                      <p:cBhvr additive="base">
                                        <p:cTn id="7" dur="500" fill="hold"/>
                                        <p:tgtEl>
                                          <p:spTgt spid="1628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28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2819">
                                            <p:txEl>
                                              <p:pRg st="1" end="1"/>
                                            </p:txEl>
                                          </p:spTgt>
                                        </p:tgtEl>
                                        <p:attrNameLst>
                                          <p:attrName>style.visibility</p:attrName>
                                        </p:attrNameLst>
                                      </p:cBhvr>
                                      <p:to>
                                        <p:strVal val="visible"/>
                                      </p:to>
                                    </p:set>
                                    <p:anim calcmode="lin" valueType="num">
                                      <p:cBhvr additive="base">
                                        <p:cTn id="13" dur="500" fill="hold"/>
                                        <p:tgtEl>
                                          <p:spTgt spid="1628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281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62819">
                                            <p:txEl>
                                              <p:pRg st="2" end="2"/>
                                            </p:txEl>
                                          </p:spTgt>
                                        </p:tgtEl>
                                        <p:attrNameLst>
                                          <p:attrName>style.visibility</p:attrName>
                                        </p:attrNameLst>
                                      </p:cBhvr>
                                      <p:to>
                                        <p:strVal val="visible"/>
                                      </p:to>
                                    </p:set>
                                    <p:anim calcmode="lin" valueType="num">
                                      <p:cBhvr additive="base">
                                        <p:cTn id="17" dur="500" fill="hold"/>
                                        <p:tgtEl>
                                          <p:spTgt spid="16281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281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62819">
                                            <p:txEl>
                                              <p:pRg st="3" end="3"/>
                                            </p:txEl>
                                          </p:spTgt>
                                        </p:tgtEl>
                                        <p:attrNameLst>
                                          <p:attrName>style.visibility</p:attrName>
                                        </p:attrNameLst>
                                      </p:cBhvr>
                                      <p:to>
                                        <p:strVal val="visible"/>
                                      </p:to>
                                    </p:set>
                                    <p:anim calcmode="lin" valueType="num">
                                      <p:cBhvr additive="base">
                                        <p:cTn id="21" dur="500" fill="hold"/>
                                        <p:tgtEl>
                                          <p:spTgt spid="16281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281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62819">
                                            <p:txEl>
                                              <p:pRg st="4" end="4"/>
                                            </p:txEl>
                                          </p:spTgt>
                                        </p:tgtEl>
                                        <p:attrNameLst>
                                          <p:attrName>style.visibility</p:attrName>
                                        </p:attrNameLst>
                                      </p:cBhvr>
                                      <p:to>
                                        <p:strVal val="visible"/>
                                      </p:to>
                                    </p:set>
                                    <p:anim calcmode="lin" valueType="num">
                                      <p:cBhvr additive="base">
                                        <p:cTn id="25" dur="500" fill="hold"/>
                                        <p:tgtEl>
                                          <p:spTgt spid="16281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2819">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62819">
                                            <p:txEl>
                                              <p:pRg st="5" end="5"/>
                                            </p:txEl>
                                          </p:spTgt>
                                        </p:tgtEl>
                                        <p:attrNameLst>
                                          <p:attrName>style.visibility</p:attrName>
                                        </p:attrNameLst>
                                      </p:cBhvr>
                                      <p:to>
                                        <p:strVal val="visible"/>
                                      </p:to>
                                    </p:set>
                                    <p:anim calcmode="lin" valueType="num">
                                      <p:cBhvr additive="base">
                                        <p:cTn id="29" dur="500" fill="hold"/>
                                        <p:tgtEl>
                                          <p:spTgt spid="16281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6281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62819">
                                            <p:txEl>
                                              <p:pRg st="6" end="6"/>
                                            </p:txEl>
                                          </p:spTgt>
                                        </p:tgtEl>
                                        <p:attrNameLst>
                                          <p:attrName>style.visibility</p:attrName>
                                        </p:attrNameLst>
                                      </p:cBhvr>
                                      <p:to>
                                        <p:strVal val="visible"/>
                                      </p:to>
                                    </p:set>
                                    <p:anim calcmode="lin" valueType="num">
                                      <p:cBhvr additive="base">
                                        <p:cTn id="35" dur="500" fill="hold"/>
                                        <p:tgtEl>
                                          <p:spTgt spid="162819">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281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r>
              <a:rPr lang="en-US"/>
              <a:t>RE process problems</a:t>
            </a:r>
          </a:p>
        </p:txBody>
      </p:sp>
      <p:sp>
        <p:nvSpPr>
          <p:cNvPr id="188419" name="Rectangle 3"/>
          <p:cNvSpPr>
            <a:spLocks noGrp="1" noChangeArrowheads="1"/>
          </p:cNvSpPr>
          <p:nvPr>
            <p:ph idx="1"/>
          </p:nvPr>
        </p:nvSpPr>
        <p:spPr/>
        <p:txBody>
          <a:bodyPr/>
          <a:lstStyle/>
          <a:p>
            <a:r>
              <a:rPr lang="en-US"/>
              <a:t>Lack of stakeholder involvement</a:t>
            </a:r>
          </a:p>
          <a:p>
            <a:r>
              <a:rPr lang="en-US"/>
              <a:t>Business needs not considered</a:t>
            </a:r>
          </a:p>
          <a:p>
            <a:r>
              <a:rPr lang="en-US"/>
              <a:t>Lack of requirements management</a:t>
            </a:r>
          </a:p>
          <a:p>
            <a:r>
              <a:rPr lang="en-US"/>
              <a:t>Lack of defined responsibilities</a:t>
            </a:r>
          </a:p>
          <a:p>
            <a:r>
              <a:rPr lang="en-US"/>
              <a:t>Stakeholder communication problems</a:t>
            </a:r>
          </a:p>
          <a:p>
            <a:r>
              <a:rPr lang="en-US"/>
              <a:t>Over-long schedules and poor quality requirements documents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8419">
                                            <p:txEl>
                                              <p:pRg st="0" end="0"/>
                                            </p:txEl>
                                          </p:spTgt>
                                        </p:tgtEl>
                                        <p:attrNameLst>
                                          <p:attrName>style.visibility</p:attrName>
                                        </p:attrNameLst>
                                      </p:cBhvr>
                                      <p:to>
                                        <p:strVal val="visible"/>
                                      </p:to>
                                    </p:set>
                                    <p:anim calcmode="lin" valueType="num">
                                      <p:cBhvr additive="base">
                                        <p:cTn id="7" dur="500" fill="hold"/>
                                        <p:tgtEl>
                                          <p:spTgt spid="1884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84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8419">
                                            <p:txEl>
                                              <p:pRg st="1" end="1"/>
                                            </p:txEl>
                                          </p:spTgt>
                                        </p:tgtEl>
                                        <p:attrNameLst>
                                          <p:attrName>style.visibility</p:attrName>
                                        </p:attrNameLst>
                                      </p:cBhvr>
                                      <p:to>
                                        <p:strVal val="visible"/>
                                      </p:to>
                                    </p:set>
                                    <p:anim calcmode="lin" valueType="num">
                                      <p:cBhvr additive="base">
                                        <p:cTn id="13" dur="500" fill="hold"/>
                                        <p:tgtEl>
                                          <p:spTgt spid="1884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84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8419">
                                            <p:txEl>
                                              <p:pRg st="2" end="2"/>
                                            </p:txEl>
                                          </p:spTgt>
                                        </p:tgtEl>
                                        <p:attrNameLst>
                                          <p:attrName>style.visibility</p:attrName>
                                        </p:attrNameLst>
                                      </p:cBhvr>
                                      <p:to>
                                        <p:strVal val="visible"/>
                                      </p:to>
                                    </p:set>
                                    <p:anim calcmode="lin" valueType="num">
                                      <p:cBhvr additive="base">
                                        <p:cTn id="19" dur="500" fill="hold"/>
                                        <p:tgtEl>
                                          <p:spTgt spid="1884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84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8419">
                                            <p:txEl>
                                              <p:pRg st="3" end="3"/>
                                            </p:txEl>
                                          </p:spTgt>
                                        </p:tgtEl>
                                        <p:attrNameLst>
                                          <p:attrName>style.visibility</p:attrName>
                                        </p:attrNameLst>
                                      </p:cBhvr>
                                      <p:to>
                                        <p:strVal val="visible"/>
                                      </p:to>
                                    </p:set>
                                    <p:anim calcmode="lin" valueType="num">
                                      <p:cBhvr additive="base">
                                        <p:cTn id="25" dur="500" fill="hold"/>
                                        <p:tgtEl>
                                          <p:spTgt spid="18841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84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88419">
                                            <p:txEl>
                                              <p:pRg st="4" end="4"/>
                                            </p:txEl>
                                          </p:spTgt>
                                        </p:tgtEl>
                                        <p:attrNameLst>
                                          <p:attrName>style.visibility</p:attrName>
                                        </p:attrNameLst>
                                      </p:cBhvr>
                                      <p:to>
                                        <p:strVal val="visible"/>
                                      </p:to>
                                    </p:set>
                                    <p:anim calcmode="lin" valueType="num">
                                      <p:cBhvr additive="base">
                                        <p:cTn id="31" dur="500" fill="hold"/>
                                        <p:tgtEl>
                                          <p:spTgt spid="18841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84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88419">
                                            <p:txEl>
                                              <p:pRg st="5" end="5"/>
                                            </p:txEl>
                                          </p:spTgt>
                                        </p:tgtEl>
                                        <p:attrNameLst>
                                          <p:attrName>style.visibility</p:attrName>
                                        </p:attrNameLst>
                                      </p:cBhvr>
                                      <p:to>
                                        <p:strVal val="visible"/>
                                      </p:to>
                                    </p:set>
                                    <p:anim calcmode="lin" valueType="num">
                                      <p:cBhvr additive="base">
                                        <p:cTn id="37" dur="500" fill="hold"/>
                                        <p:tgtEl>
                                          <p:spTgt spid="18841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8841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GB" sz="8800" dirty="0" smtClean="0">
                <a:solidFill>
                  <a:srgbClr val="008000"/>
                </a:solidFill>
              </a:rPr>
              <a:t>Q</a:t>
            </a:r>
            <a:r>
              <a:rPr lang="en-GB" sz="6600" dirty="0" smtClean="0">
                <a:solidFill>
                  <a:srgbClr val="008000"/>
                </a:solidFill>
              </a:rPr>
              <a:t>&amp;</a:t>
            </a:r>
            <a:r>
              <a:rPr lang="en-GB" sz="8800" dirty="0" smtClean="0">
                <a:solidFill>
                  <a:srgbClr val="008000"/>
                </a:solidFill>
              </a:rPr>
              <a:t>A</a:t>
            </a:r>
            <a:endParaRPr lang="en-GB" sz="8800" dirty="0">
              <a:solidFill>
                <a:srgbClr val="008000"/>
              </a:solidFill>
            </a:endParaRPr>
          </a:p>
        </p:txBody>
      </p:sp>
      <p:sp>
        <p:nvSpPr>
          <p:cNvPr id="4" name="Text Placeholder 3"/>
          <p:cNvSpPr>
            <a:spLocks noGrp="1"/>
          </p:cNvSpPr>
          <p:nvPr>
            <p:ph type="body" idx="1"/>
          </p:nvPr>
        </p:nvSpPr>
        <p:spPr/>
        <p:txBody>
          <a:bodyPr/>
          <a:lstStyle/>
          <a:p>
            <a:endParaRPr lang="en-GB"/>
          </a:p>
        </p:txBody>
      </p:sp>
    </p:spTree>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TM03457444[[fn=Basis]]</Template>
  <TotalTime>190</TotalTime>
  <Words>1843</Words>
  <Application>Microsoft Office PowerPoint</Application>
  <PresentationFormat>On-screen Show (4:3)</PresentationFormat>
  <Paragraphs>414</Paragraphs>
  <Slides>46</Slides>
  <Notes>1</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3</vt:i4>
      </vt:variant>
      <vt:variant>
        <vt:lpstr>Slide Titles</vt:lpstr>
      </vt:variant>
      <vt:variant>
        <vt:i4>46</vt:i4>
      </vt:variant>
    </vt:vector>
  </HeadingPairs>
  <TitlesOfParts>
    <vt:vector size="61" baseType="lpstr">
      <vt:lpstr>Arial</vt:lpstr>
      <vt:lpstr>Arial Black</vt:lpstr>
      <vt:lpstr>Calibri</vt:lpstr>
      <vt:lpstr>Comic Sans MS</vt:lpstr>
      <vt:lpstr>Corbel</vt:lpstr>
      <vt:lpstr>Franklin Gothic Book</vt:lpstr>
      <vt:lpstr>Garamond</vt:lpstr>
      <vt:lpstr>Helvetica</vt:lpstr>
      <vt:lpstr>Times New Roman</vt:lpstr>
      <vt:lpstr>Wingdings</vt:lpstr>
      <vt:lpstr>ZapfHumnst BT</vt:lpstr>
      <vt:lpstr>Basis</vt:lpstr>
      <vt:lpstr>Clip</vt:lpstr>
      <vt:lpstr>Document</vt:lpstr>
      <vt:lpstr>Image</vt:lpstr>
      <vt:lpstr>Requirements Engineering</vt:lpstr>
      <vt:lpstr>Requirements Engineering</vt:lpstr>
      <vt:lpstr>The scope of RE: WHY, WHAT, WHO</vt:lpstr>
      <vt:lpstr>The hardest single part of building a software system</vt:lpstr>
      <vt:lpstr>Re and software development process models</vt:lpstr>
      <vt:lpstr>Process and Process Models</vt:lpstr>
      <vt:lpstr>Waterfall Model</vt:lpstr>
      <vt:lpstr>PowerPoint Presentation</vt:lpstr>
      <vt:lpstr>Prototyping</vt:lpstr>
      <vt:lpstr>PowerPoint Presentation</vt:lpstr>
      <vt:lpstr>The RAD Model</vt:lpstr>
      <vt:lpstr>The Incremental Model</vt:lpstr>
      <vt:lpstr>Win-Win Spiral Model</vt:lpstr>
      <vt:lpstr>RUP</vt:lpstr>
      <vt:lpstr>Re process activities and re process models</vt:lpstr>
      <vt:lpstr>RE Process activities</vt:lpstr>
      <vt:lpstr>RE Process Activities</vt:lpstr>
      <vt:lpstr>RE process - inputs and outputs</vt:lpstr>
      <vt:lpstr>Input/output description</vt:lpstr>
      <vt:lpstr>Example stakeholders</vt:lpstr>
      <vt:lpstr>Actors in the RE process</vt:lpstr>
      <vt:lpstr>Linear RE process Model</vt:lpstr>
      <vt:lpstr>Linear Iterative RE Process Model</vt:lpstr>
      <vt:lpstr>Iterative RE Process Model</vt:lpstr>
      <vt:lpstr>Iterative RE Process Model</vt:lpstr>
      <vt:lpstr>Spiral model of the RE process</vt:lpstr>
      <vt:lpstr>Spiral</vt:lpstr>
      <vt:lpstr>The RE process  (1)</vt:lpstr>
      <vt:lpstr>Domain understanding</vt:lpstr>
      <vt:lpstr>Requirements elicitation</vt:lpstr>
      <vt:lpstr>The RE process  (2)</vt:lpstr>
      <vt:lpstr>Evaluation &amp; agreement</vt:lpstr>
      <vt:lpstr>The RE process  (3)</vt:lpstr>
      <vt:lpstr>Specification &amp; documentation</vt:lpstr>
      <vt:lpstr>The RE process  (4)</vt:lpstr>
      <vt:lpstr>Requirements consolidation</vt:lpstr>
      <vt:lpstr>RE: an iterative process</vt:lpstr>
      <vt:lpstr>RUP</vt:lpstr>
      <vt:lpstr>Diagrams Represent Process Disciplines </vt:lpstr>
      <vt:lpstr>Fundamental Conceptual Model</vt:lpstr>
      <vt:lpstr>Requirements Activities </vt:lpstr>
      <vt:lpstr>Artifacts</vt:lpstr>
      <vt:lpstr>Purpose of Requirements Discipline</vt:lpstr>
      <vt:lpstr>Which RE Process Model?</vt:lpstr>
      <vt:lpstr>RE process problems</vt:lpstr>
      <vt:lpstr>Q&amp;A</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naveed</dc:creator>
  <cp:lastModifiedBy>Pc Planet</cp:lastModifiedBy>
  <cp:revision>47</cp:revision>
  <dcterms:created xsi:type="dcterms:W3CDTF">2006-08-16T00:00:00Z</dcterms:created>
  <dcterms:modified xsi:type="dcterms:W3CDTF">2023-02-22T04:07:08Z</dcterms:modified>
</cp:coreProperties>
</file>